
<file path=[Content_Types].xml><?xml version="1.0" encoding="utf-8"?>
<Types xmlns="http://schemas.openxmlformats.org/package/2006/content-types">
  <Default Extension="xml" ContentType="application/vnd.openxmlformats-package.core-properties+xml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9.xml" ContentType="application/vnd.openxmlformats-officedocument.presentationml.notesSlide+xml"/>
  <Override PartName="/ppt/slides/slide10.xml" ContentType="application/vnd.openxmlformats-officedocument.presentationml.slide+xml"/>
  <Override PartName="/ppt/notesSlides/notesSlide10.xml" ContentType="application/vnd.openxmlformats-officedocument.presentationml.notesSlide+xml"/>
  <Override PartName="/ppt/slides/slide11.xml" ContentType="application/vnd.openxmlformats-officedocument.presentationml.slide+xml"/>
  <Override PartName="/ppt/notesSlides/notesSlide11.xml" ContentType="application/vnd.openxmlformats-officedocument.presentationml.notesSlide+xml"/>
  <Override PartName="/ppt/slides/slide12.xml" ContentType="application/vnd.openxmlformats-officedocument.presentationml.slide+xml"/>
  <Override PartName="/ppt/notesSlides/notesSlide12.xml" ContentType="application/vnd.openxmlformats-officedocument.presentationml.notesSlide+xml"/>
  <Override PartName="/ppt/slides/slide13.xml" ContentType="application/vnd.openxmlformats-officedocument.presentationml.slide+xml"/>
  <Override PartName="/ppt/notesSlides/notesSlide13.xml" ContentType="application/vnd.openxmlformats-officedocument.presentationml.notesSlide+xml"/>
  <Override PartName="/ppt/slides/slide14.xml" ContentType="application/vnd.openxmlformats-officedocument.presentationml.slide+xml"/>
  <Override PartName="/ppt/notesSlides/notesSlide14.xml" ContentType="application/vnd.openxmlformats-officedocument.presentationml.notesSlide+xml"/>
  <Override PartName="/ppt/slides/slide15.xml" ContentType="application/vnd.openxmlformats-officedocument.presentationml.slide+xml"/>
  <Override PartName="/ppt/notesSlides/notesSlide15.xml" ContentType="application/vnd.openxmlformats-officedocument.presentationml.notesSlide+xml"/>
  <Override PartName="/ppt/slides/slide16.xml" ContentType="application/vnd.openxmlformats-officedocument.presentationml.slide+xml"/>
  <Override PartName="/ppt/notesSlides/notesSlide16.xml" ContentType="application/vnd.openxmlformats-officedocument.presentationml.notesSlide+xml"/>
  <Override PartName="/ppt/slides/slide17.xml" ContentType="application/vnd.openxmlformats-officedocument.presentationml.slide+xml"/>
  <Override PartName="/ppt/notesSlides/notesSlide17.xml" ContentType="application/vnd.openxmlformats-officedocument.presentationml.notesSlide+xml"/>
  <Override PartName="/ppt/slides/slide18.xml" ContentType="application/vnd.openxmlformats-officedocument.presentationml.slide+xml"/>
  <Override PartName="/ppt/notesSlides/notesSlide18.xml" ContentType="application/vnd.openxmlformats-officedocument.presentationml.notesSlide+xml"/>
  <Override PartName="/ppt/slides/slide19.xml" ContentType="application/vnd.openxmlformats-officedocument.presentationml.slide+xml"/>
  <Override PartName="/ppt/notesSlides/notesSlide19.xml" ContentType="application/vnd.openxmlformats-officedocument.presentationml.notesSlide+xml"/>
  <Override PartName="/ppt/slides/slide20.xml" ContentType="application/vnd.openxmlformats-officedocument.presentationml.slide+xml"/>
  <Override PartName="/ppt/notesSlides/notesSlide20.xml" ContentType="application/vnd.openxmlformats-officedocument.presentationml.notesSlide+xml"/>
  <Override PartName="/ppt/slides/slide21.xml" ContentType="application/vnd.openxmlformats-officedocument.presentationml.slide+xml"/>
  <Override PartName="/ppt/notesSlides/notesSlide21.xml" ContentType="application/vnd.openxmlformats-officedocument.presentationml.notesSlide+xml"/>
  <Override PartName="/ppt/slides/slide22.xml" ContentType="application/vnd.openxmlformats-officedocument.presentationml.slide+xml"/>
  <Override PartName="/ppt/notesSlides/notesSlide22.xml" ContentType="application/vnd.openxmlformats-officedocument.presentationml.notesSlide+xml"/>
  <Override PartName="/ppt/slides/slide23.xml" ContentType="application/vnd.openxmlformats-officedocument.presentationml.slide+xml"/>
  <Override PartName="/ppt/notesSlides/notesSlide23.xml" ContentType="application/vnd.openxmlformats-officedocument.presentationml.notesSlide+xml"/>
  <Override PartName="/ppt/slides/slide24.xml" ContentType="application/vnd.openxmlformats-officedocument.presentationml.slide+xml"/>
  <Override PartName="/ppt/notesSlides/notesSlide24.xml" ContentType="application/vnd.openxmlformats-officedocument.presentationml.notesSlide+xml"/>
  <Override PartName="/ppt/slides/slide25.xml" ContentType="application/vnd.openxmlformats-officedocument.presentationml.slide+xml"/>
  <Override PartName="/ppt/notesSlides/notesSlide25.xml" ContentType="application/vnd.openxmlformats-officedocument.presentationml.notesSlide+xml"/>
  <Override PartName="/ppt/slides/slide26.xml" ContentType="application/vnd.openxmlformats-officedocument.presentationml.slide+xml"/>
  <Override PartName="/ppt/notesSlides/notesSlide26.xml" ContentType="application/vnd.openxmlformats-officedocument.presentationml.notesSlide+xml"/>
  <Override PartName="/ppt/slides/slide27.xml" ContentType="application/vnd.openxmlformats-officedocument.presentationml.slide+xml"/>
  <Override PartName="/ppt/notesSlides/notesSlide27.xml" ContentType="application/vnd.openxmlformats-officedocument.presentationml.notesSlide+xml"/>
  <Override PartName="/ppt/slides/slide28.xml" ContentType="application/vnd.openxmlformats-officedocument.presentationml.slide+xml"/>
  <Override PartName="/ppt/notesSlides/notesSlide28.xml" ContentType="application/vnd.openxmlformats-officedocument.presentationml.notesSlide+xml"/>
  <Override PartName="/ppt/slides/slide29.xml" ContentType="application/vnd.openxmlformats-officedocument.presentationml.slide+xml"/>
  <Override PartName="/ppt/notesSlides/notesSlide29.xml" ContentType="application/vnd.openxmlformats-officedocument.presentationml.notesSlide+xml"/>
  <Override PartName="/ppt/slides/slide30.xml" ContentType="application/vnd.openxmlformats-officedocument.presentationml.slide+xml"/>
  <Override PartName="/ppt/notesSlides/notesSlide30.xml" ContentType="application/vnd.openxmlformats-officedocument.presentationml.notesSlide+xml"/>
  <Override PartName="/ppt/slides/slide31.xml" ContentType="application/vnd.openxmlformats-officedocument.presentationml.slide+xml"/>
  <Override PartName="/ppt/notesSlides/notesSlide31.xml" ContentType="application/vnd.openxmlformats-officedocument.presentationml.notesSlide+xml"/>
  <Override PartName="/ppt/slides/slide32.xml" ContentType="application/vnd.openxmlformats-officedocument.presentationml.slide+xml"/>
  <Override PartName="/ppt/notesSlides/notesSlide32.xml" ContentType="application/vnd.openxmlformats-officedocument.presentationml.notesSlide+xml"/>
  <Override PartName="/ppt/slides/slide33.xml" ContentType="application/vnd.openxmlformats-officedocument.presentationml.slide+xml"/>
  <Override PartName="/ppt/notesSlides/notesSlide33.xml" ContentType="application/vnd.openxmlformats-officedocument.presentationml.notesSlide+xml"/>
  <Override PartName="/ppt/slides/slide34.xml" ContentType="application/vnd.openxmlformats-officedocument.presentationml.slide+xml"/>
  <Override PartName="/ppt/notesSlides/notesSlide34.xml" ContentType="application/vnd.openxmlformats-officedocument.presentationml.notesSlide+xml"/>
  <Override PartName="/ppt/slides/slide35.xml" ContentType="application/vnd.openxmlformats-officedocument.presentationml.slide+xml"/>
  <Override PartName="/ppt/notesSlides/notesSlide35.xml" ContentType="application/vnd.openxmlformats-officedocument.presentationml.notesSlide+xml"/>
  <Override PartName="/ppt/slides/slide36.xml" ContentType="application/vnd.openxmlformats-officedocument.presentationml.slide+xml"/>
  <Override PartName="/ppt/notesSlides/notesSlide36.xml" ContentType="application/vnd.openxmlformats-officedocument.presentationml.notesSlide+xml"/>
  <Override PartName="/ppt/slides/slide37.xml" ContentType="application/vnd.openxmlformats-officedocument.presentationml.slide+xml"/>
  <Override PartName="/ppt/notesSlides/notesSlide37.xml" ContentType="application/vnd.openxmlformats-officedocument.presentationml.notesSlide+xml"/>
  <Override PartName="/ppt/slides/slide38.xml" ContentType="application/vnd.openxmlformats-officedocument.presentationml.slide+xml"/>
  <Override PartName="/ppt/notesSlides/notesSlide38.xml" ContentType="application/vnd.openxmlformats-officedocument.presentationml.notesSlide+xml"/>
  <Override PartName="/ppt/slides/slide39.xml" ContentType="application/vnd.openxmlformats-officedocument.presentationml.slide+xml"/>
  <Override PartName="/ppt/notesSlides/notesSlide39.xml" ContentType="application/vnd.openxmlformats-officedocument.presentationml.notesSlide+xml"/>
  <Override PartName="/ppt/slides/slide40.xml" ContentType="application/vnd.openxmlformats-officedocument.presentationml.slide+xml"/>
  <Override PartName="/ppt/notesSlides/notesSlide40.xml" ContentType="application/vnd.openxmlformats-officedocument.presentationml.notesSlide+xml"/>
  <Override PartName="/ppt/slides/slide41.xml" ContentType="application/vnd.openxmlformats-officedocument.presentationml.slide+xml"/>
  <Override PartName="/ppt/notesSlides/notesSlide41.xml" ContentType="application/vnd.openxmlformats-officedocument.presentationml.notesSlide+xml"/>
  <Override PartName="/ppt/slides/slide42.xml" ContentType="application/vnd.openxmlformats-officedocument.presentationml.slide+xml"/>
  <Override PartName="/ppt/notesSlides/notesSlide42.xml" ContentType="application/vnd.openxmlformats-officedocument.presentationml.notesSlide+xml"/>
  <Override PartName="/ppt/slides/slide43.xml" ContentType="application/vnd.openxmlformats-officedocument.presentationml.slide+xml"/>
  <Override PartName="/ppt/notesSlides/notesSlide43.xml" ContentType="application/vnd.openxmlformats-officedocument.presentationml.notesSlide+xml"/>
  <Override PartName="/ppt/slides/slide44.xml" ContentType="application/vnd.openxmlformats-officedocument.presentationml.slide+xml"/>
  <Override PartName="/ppt/notesSlides/notesSlide44.xml" ContentType="application/vnd.openxmlformats-officedocument.presentationml.notesSlide+xml"/>
  <Override PartName="/ppt/slides/slide45.xml" ContentType="application/vnd.openxmlformats-officedocument.presentationml.slide+xml"/>
  <Override PartName="/ppt/notesSlides/notesSlide45.xml" ContentType="application/vnd.openxmlformats-officedocument.presentationml.notesSlide+xml"/>
  <Override PartName="/ppt/slides/slide46.xml" ContentType="application/vnd.openxmlformats-officedocument.presentationml.slide+xml"/>
  <Override PartName="/ppt/notesSlides/notesSlide46.xml" ContentType="application/vnd.openxmlformats-officedocument.presentationml.notesSlide+xml"/>
  <Override PartName="/ppt/slides/slide47.xml" ContentType="application/vnd.openxmlformats-officedocument.presentationml.slide+xml"/>
  <Override PartName="/ppt/notesSlides/notesSlide47.xml" ContentType="application/vnd.openxmlformats-officedocument.presentationml.notesSlide+xml"/>
  <Override PartName="/ppt/slides/slide48.xml" ContentType="application/vnd.openxmlformats-officedocument.presentationml.slide+xml"/>
  <Override PartName="/ppt/notesSlides/notesSlide48.xml" ContentType="application/vnd.openxmlformats-officedocument.presentationml.notesSlide+xml"/>
  <Override PartName="/ppt/slides/slide49.xml" ContentType="application/vnd.openxmlformats-officedocument.presentationml.slide+xml"/>
  <Override PartName="/ppt/notesSlides/notesSlide49.xml" ContentType="application/vnd.openxmlformats-officedocument.presentationml.notesSlide+xml"/>
  <Override PartName="/ppt/slides/slide50.xml" ContentType="application/vnd.openxmlformats-officedocument.presentationml.slide+xml"/>
  <Override PartName="/ppt/notesSlides/notesSlide50.xml" ContentType="application/vnd.openxmlformats-officedocument.presentationml.notesSlide+xml"/>
  <Override PartName="/ppt/slides/slide51.xml" ContentType="application/vnd.openxmlformats-officedocument.presentationml.slide+xml"/>
  <Override PartName="/ppt/notesSlides/notesSlide51.xml" ContentType="application/vnd.openxmlformats-officedocument.presentationml.notesSlide+xml"/>
  <Override PartName="/ppt/slides/slide52.xml" ContentType="application/vnd.openxmlformats-officedocument.presentationml.slide+xml"/>
  <Override PartName="/ppt/notesSlides/notesSlide52.xml" ContentType="application/vnd.openxmlformats-officedocument.presentationml.notesSlide+xml"/>
  <Override PartName="/ppt/slides/slide53.xml" ContentType="application/vnd.openxmlformats-officedocument.presentationml.slide+xml"/>
  <Override PartName="/ppt/notesSlides/notesSlide53.xml" ContentType="application/vnd.openxmlformats-officedocument.presentationml.notesSlide+xml"/>
  <Override PartName="/ppt/slides/slide54.xml" ContentType="application/vnd.openxmlformats-officedocument.presentationml.slide+xml"/>
  <Override PartName="/ppt/notesSlides/notesSlide54.xml" ContentType="application/vnd.openxmlformats-officedocument.presentationml.notesSlide+xml"/>
  <Override PartName="/ppt/slides/slide55.xml" ContentType="application/vnd.openxmlformats-officedocument.presentationml.slide+xml"/>
  <Override PartName="/ppt/notesSlides/notesSlide55.xml" ContentType="application/vnd.openxmlformats-officedocument.presentationml.notesSlide+xml"/>
  <Override PartName="/ppt/slides/slide56.xml" ContentType="application/vnd.openxmlformats-officedocument.presentationml.slide+xml"/>
  <Override PartName="/ppt/notesSlides/notesSlide56.xml" ContentType="application/vnd.openxmlformats-officedocument.presentationml.notesSlide+xml"/>
  <Override PartName="/ppt/slides/slide57.xml" ContentType="application/vnd.openxmlformats-officedocument.presentationml.slide+xml"/>
  <Override PartName="/ppt/notesSlides/notesSlide57.xml" ContentType="application/vnd.openxmlformats-officedocument.presentationml.notesSlide+xml"/>
  <Override PartName="/ppt/slides/slide58.xml" ContentType="application/vnd.openxmlformats-officedocument.presentationml.slide+xml"/>
  <Override PartName="/ppt/notesSlides/notesSlide58.xml" ContentType="application/vnd.openxmlformats-officedocument.presentationml.notesSlide+xml"/>
  <Override PartName="/ppt/slides/slide59.xml" ContentType="application/vnd.openxmlformats-officedocument.presentationml.slide+xml"/>
  <Override PartName="/ppt/notesSlides/notesSlide59.xml" ContentType="application/vnd.openxmlformats-officedocument.presentationml.notesSlide+xml"/>
  <Override PartName="/ppt/slides/slide60.xml" ContentType="application/vnd.openxmlformats-officedocument.presentationml.slide+xml"/>
  <Override PartName="/ppt/notesSlides/notesSlide60.xml" ContentType="application/vnd.openxmlformats-officedocument.presentationml.notesSlide+xml"/>
  <Override PartName="/ppt/slides/slide61.xml" ContentType="application/vnd.openxmlformats-officedocument.presentationml.slide+xml"/>
  <Override PartName="/ppt/notesSlides/notesSlide61.xml" ContentType="application/vnd.openxmlformats-officedocument.presentationml.notesSlide+xml"/>
  <Override PartName="/ppt/slides/slide62.xml" ContentType="application/vnd.openxmlformats-officedocument.presentationml.slide+xml"/>
  <Override PartName="/ppt/notesSlides/notesSlide62.xml" ContentType="application/vnd.openxmlformats-officedocument.presentationml.notesSlide+xml"/>
  <Override PartName="/ppt/slides/slide63.xml" ContentType="application/vnd.openxmlformats-officedocument.presentationml.slide+xml"/>
  <Override PartName="/ppt/notesSlides/notesSlide63.xml" ContentType="application/vnd.openxmlformats-officedocument.presentationml.notesSlide+xml"/>
  <Override PartName="/ppt/slides/slide64.xml" ContentType="application/vnd.openxmlformats-officedocument.presentationml.slide+xml"/>
  <Override PartName="/ppt/notesSlides/notesSlide64.xml" ContentType="application/vnd.openxmlformats-officedocument.presentationml.notesSlide+xml"/>
  <Override PartName="/ppt/slides/slide65.xml" ContentType="application/vnd.openxmlformats-officedocument.presentationml.slide+xml"/>
  <Override PartName="/ppt/notesSlides/notesSlide65.xml" ContentType="application/vnd.openxmlformats-officedocument.presentationml.notesSlide+xml"/>
  <Override PartName="/ppt/slides/slide66.xml" ContentType="application/vnd.openxmlformats-officedocument.presentationml.slide+xml"/>
  <Override PartName="/ppt/notesSlides/notesSlide66.xml" ContentType="application/vnd.openxmlformats-officedocument.presentationml.notesSlide+xml"/>
  <Override PartName="/ppt/slides/slide67.xml" ContentType="application/vnd.openxmlformats-officedocument.presentationml.slide+xml"/>
  <Override PartName="/ppt/notesSlides/notesSlide67.xml" ContentType="application/vnd.openxmlformats-officedocument.presentationml.notesSlide+xml"/>
  <Override PartName="/ppt/slides/slide68.xml" ContentType="application/vnd.openxmlformats-officedocument.presentationml.slide+xml"/>
  <Override PartName="/ppt/notesSlides/notesSlide68.xml" ContentType="application/vnd.openxmlformats-officedocument.presentationml.notesSlide+xml"/>
  <Override PartName="/ppt/slides/slide69.xml" ContentType="application/vnd.openxmlformats-officedocument.presentationml.slide+xml"/>
  <Override PartName="/ppt/notesSlides/notesSlide69.xml" ContentType="application/vnd.openxmlformats-officedocument.presentationml.notesSlide+xml"/>
  <Override PartName="/ppt/slides/slide70.xml" ContentType="application/vnd.openxmlformats-officedocument.presentationml.slide+xml"/>
  <Override PartName="/ppt/notesSlides/notesSlide70.xml" ContentType="application/vnd.openxmlformats-officedocument.presentationml.notesSlide+xml"/>
  <Override PartName="/ppt/slides/slide71.xml" ContentType="application/vnd.openxmlformats-officedocument.presentationml.slide+xml"/>
  <Override PartName="/ppt/notesSlides/notesSlide71.xml" ContentType="application/vnd.openxmlformats-officedocument.presentationml.notesSlide+xml"/>
  <Override PartName="/ppt/slides/slide72.xml" ContentType="application/vnd.openxmlformats-officedocument.presentationml.slide+xml"/>
  <Override PartName="/ppt/notesSlides/notesSlide72.xml" ContentType="application/vnd.openxmlformats-officedocument.presentationml.notesSlide+xml"/>
  <Override PartName="/ppt/slides/slide73.xml" ContentType="application/vnd.openxmlformats-officedocument.presentationml.slide+xml"/>
  <Override PartName="/ppt/notesSlides/notesSlide73.xml" ContentType="application/vnd.openxmlformats-officedocument.presentationml.notesSlide+xml"/>
  <Override PartName="/ppt/slides/slide74.xml" ContentType="application/vnd.openxmlformats-officedocument.presentationml.slide+xml"/>
  <Override PartName="/ppt/notesSlides/notesSlide74.xml" ContentType="application/vnd.openxmlformats-officedocument.presentationml.notesSlide+xml"/>
  <Override PartName="/ppt/slides/slide75.xml" ContentType="application/vnd.openxmlformats-officedocument.presentationml.slide+xml"/>
  <Override PartName="/ppt/notesSlides/notesSlide75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21d6a5395ccb496c" /><Relationship Type="http://schemas.openxmlformats.org/officeDocument/2006/relationships/extended-properties" Target="/docProps/app.xml" Id="R087ad38fc9b34604" /><Relationship Type="http://schemas.openxmlformats.org/officeDocument/2006/relationships/officeDocument" Target="/ppt/presentation.xml" Id="Rbf6c9d3b09684fd5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de664a03f5064c43"/>
  </p:sldMasterIdLst>
  <p:notesMasterIdLst>
    <p:notesMasterId xmlns:r="http://schemas.openxmlformats.org/officeDocument/2006/relationships" r:id="R81ccc46a55ad4fd9"/>
  </p:notesMasterIdLst>
  <p:sldIdLst>
    <p:sldId xmlns:r="http://schemas.openxmlformats.org/officeDocument/2006/relationships" id="256" r:id="R016aeddfa620431c"/>
    <p:sldId xmlns:r="http://schemas.openxmlformats.org/officeDocument/2006/relationships" id="257" r:id="Rb313b400091b439b"/>
    <p:sldId xmlns:r="http://schemas.openxmlformats.org/officeDocument/2006/relationships" id="258" r:id="R1e0fc434d750406a"/>
    <p:sldId xmlns:r="http://schemas.openxmlformats.org/officeDocument/2006/relationships" id="259" r:id="R52f89235ca134564"/>
    <p:sldId xmlns:r="http://schemas.openxmlformats.org/officeDocument/2006/relationships" id="260" r:id="R134468d3a74f490d"/>
    <p:sldId xmlns:r="http://schemas.openxmlformats.org/officeDocument/2006/relationships" id="261" r:id="R3178a3e67940473f"/>
    <p:sldId xmlns:r="http://schemas.openxmlformats.org/officeDocument/2006/relationships" id="262" r:id="Rbe887079425b4347"/>
    <p:sldId xmlns:r="http://schemas.openxmlformats.org/officeDocument/2006/relationships" id="263" r:id="Ra379a31a76564c4d"/>
    <p:sldId xmlns:r="http://schemas.openxmlformats.org/officeDocument/2006/relationships" id="264" r:id="Rbf37bd55000e46b7"/>
    <p:sldId xmlns:r="http://schemas.openxmlformats.org/officeDocument/2006/relationships" id="265" r:id="R7b6cad9a53634b60"/>
    <p:sldId xmlns:r="http://schemas.openxmlformats.org/officeDocument/2006/relationships" id="266" r:id="R2b740e63d3d64582"/>
    <p:sldId xmlns:r="http://schemas.openxmlformats.org/officeDocument/2006/relationships" id="267" r:id="Rd9eec3be43264835"/>
    <p:sldId xmlns:r="http://schemas.openxmlformats.org/officeDocument/2006/relationships" id="268" r:id="R1cd88507d4524b6b"/>
    <p:sldId xmlns:r="http://schemas.openxmlformats.org/officeDocument/2006/relationships" id="269" r:id="Re2b3d0a1d2064282"/>
    <p:sldId xmlns:r="http://schemas.openxmlformats.org/officeDocument/2006/relationships" id="270" r:id="Ra9a0696b333441fe"/>
    <p:sldId xmlns:r="http://schemas.openxmlformats.org/officeDocument/2006/relationships" id="271" r:id="R4e808d93fd5b47af"/>
    <p:sldId xmlns:r="http://schemas.openxmlformats.org/officeDocument/2006/relationships" id="272" r:id="Rb5d5447458ad4673"/>
    <p:sldId xmlns:r="http://schemas.openxmlformats.org/officeDocument/2006/relationships" id="273" r:id="Raee9fa931060419e"/>
    <p:sldId xmlns:r="http://schemas.openxmlformats.org/officeDocument/2006/relationships" id="274" r:id="R80791c14a2814230"/>
    <p:sldId xmlns:r="http://schemas.openxmlformats.org/officeDocument/2006/relationships" id="275" r:id="Ree8a85a849b34022"/>
    <p:sldId xmlns:r="http://schemas.openxmlformats.org/officeDocument/2006/relationships" id="276" r:id="R4a94a0372fb547c6"/>
    <p:sldId xmlns:r="http://schemas.openxmlformats.org/officeDocument/2006/relationships" id="277" r:id="Rf6b5c8afbd9f44cf"/>
    <p:sldId xmlns:r="http://schemas.openxmlformats.org/officeDocument/2006/relationships" id="278" r:id="R213fd9a5c0dd42f7"/>
    <p:sldId xmlns:r="http://schemas.openxmlformats.org/officeDocument/2006/relationships" id="279" r:id="R2b4d7ba499a64e42"/>
    <p:sldId xmlns:r="http://schemas.openxmlformats.org/officeDocument/2006/relationships" id="280" r:id="R421f8eb1bfd8444f"/>
    <p:sldId xmlns:r="http://schemas.openxmlformats.org/officeDocument/2006/relationships" id="281" r:id="R49485b8d3c0c4413"/>
    <p:sldId xmlns:r="http://schemas.openxmlformats.org/officeDocument/2006/relationships" id="282" r:id="R919fdf20ee914251"/>
    <p:sldId xmlns:r="http://schemas.openxmlformats.org/officeDocument/2006/relationships" id="283" r:id="R773713ecb241435d"/>
    <p:sldId xmlns:r="http://schemas.openxmlformats.org/officeDocument/2006/relationships" id="284" r:id="R056857466f8d4104"/>
    <p:sldId xmlns:r="http://schemas.openxmlformats.org/officeDocument/2006/relationships" id="285" r:id="R4e345f5455f84d53"/>
    <p:sldId xmlns:r="http://schemas.openxmlformats.org/officeDocument/2006/relationships" id="286" r:id="Rafc7aa86480e4f42"/>
    <p:sldId xmlns:r="http://schemas.openxmlformats.org/officeDocument/2006/relationships" id="287" r:id="R3a9337304b8449b9"/>
    <p:sldId xmlns:r="http://schemas.openxmlformats.org/officeDocument/2006/relationships" id="288" r:id="R94a609677347479f"/>
    <p:sldId xmlns:r="http://schemas.openxmlformats.org/officeDocument/2006/relationships" id="289" r:id="R53e73c81af6e4ea6"/>
    <p:sldId xmlns:r="http://schemas.openxmlformats.org/officeDocument/2006/relationships" id="290" r:id="R946d186070b9423e"/>
    <p:sldId xmlns:r="http://schemas.openxmlformats.org/officeDocument/2006/relationships" id="291" r:id="Rf058236bf5454f78"/>
    <p:sldId xmlns:r="http://schemas.openxmlformats.org/officeDocument/2006/relationships" id="292" r:id="R5852974e5b454f62"/>
    <p:sldId xmlns:r="http://schemas.openxmlformats.org/officeDocument/2006/relationships" id="293" r:id="R904081f157724022"/>
    <p:sldId xmlns:r="http://schemas.openxmlformats.org/officeDocument/2006/relationships" id="294" r:id="Re8e6eab71e074f3a"/>
    <p:sldId xmlns:r="http://schemas.openxmlformats.org/officeDocument/2006/relationships" id="295" r:id="R428a32a83e874080"/>
    <p:sldId xmlns:r="http://schemas.openxmlformats.org/officeDocument/2006/relationships" id="296" r:id="R2174ca6156264ce3"/>
    <p:sldId xmlns:r="http://schemas.openxmlformats.org/officeDocument/2006/relationships" id="297" r:id="R407782f8a4e1498a"/>
    <p:sldId xmlns:r="http://schemas.openxmlformats.org/officeDocument/2006/relationships" id="298" r:id="R7c2db96996b54697"/>
    <p:sldId xmlns:r="http://schemas.openxmlformats.org/officeDocument/2006/relationships" id="299" r:id="R01b5d3134be045d9"/>
    <p:sldId xmlns:r="http://schemas.openxmlformats.org/officeDocument/2006/relationships" id="300" r:id="R2c66fb86120a4255"/>
    <p:sldId xmlns:r="http://schemas.openxmlformats.org/officeDocument/2006/relationships" id="301" r:id="R259570b2235e4b51"/>
    <p:sldId xmlns:r="http://schemas.openxmlformats.org/officeDocument/2006/relationships" id="302" r:id="R62faa6835e984d16"/>
    <p:sldId xmlns:r="http://schemas.openxmlformats.org/officeDocument/2006/relationships" id="303" r:id="Rd03054934c574e9e"/>
    <p:sldId xmlns:r="http://schemas.openxmlformats.org/officeDocument/2006/relationships" id="304" r:id="R591f51f6fe7e45d0"/>
    <p:sldId xmlns:r="http://schemas.openxmlformats.org/officeDocument/2006/relationships" id="305" r:id="R71d16fd3f55841d1"/>
    <p:sldId xmlns:r="http://schemas.openxmlformats.org/officeDocument/2006/relationships" id="306" r:id="R176578629a5c4510"/>
    <p:sldId xmlns:r="http://schemas.openxmlformats.org/officeDocument/2006/relationships" id="307" r:id="R2b2e9a4536334c15"/>
    <p:sldId xmlns:r="http://schemas.openxmlformats.org/officeDocument/2006/relationships" id="308" r:id="R6a002c1c0a2048c9"/>
    <p:sldId xmlns:r="http://schemas.openxmlformats.org/officeDocument/2006/relationships" id="309" r:id="R48a316e525074270"/>
    <p:sldId xmlns:r="http://schemas.openxmlformats.org/officeDocument/2006/relationships" id="310" r:id="R9d9085eeb4554858"/>
    <p:sldId xmlns:r="http://schemas.openxmlformats.org/officeDocument/2006/relationships" id="311" r:id="R0b5e60c318bb44df"/>
    <p:sldId xmlns:r="http://schemas.openxmlformats.org/officeDocument/2006/relationships" id="312" r:id="R87748eca9d5a47ae"/>
    <p:sldId xmlns:r="http://schemas.openxmlformats.org/officeDocument/2006/relationships" id="313" r:id="R639035a98f554c2f"/>
    <p:sldId xmlns:r="http://schemas.openxmlformats.org/officeDocument/2006/relationships" id="314" r:id="Rf5bf8577452e4218"/>
    <p:sldId xmlns:r="http://schemas.openxmlformats.org/officeDocument/2006/relationships" id="315" r:id="Rce474e560fe64f1c"/>
    <p:sldId xmlns:r="http://schemas.openxmlformats.org/officeDocument/2006/relationships" id="316" r:id="R90d61a1021f64f05"/>
    <p:sldId xmlns:r="http://schemas.openxmlformats.org/officeDocument/2006/relationships" id="317" r:id="Re3148684eedc4f46"/>
    <p:sldId xmlns:r="http://schemas.openxmlformats.org/officeDocument/2006/relationships" id="318" r:id="R588444eeb8874cad"/>
    <p:sldId xmlns:r="http://schemas.openxmlformats.org/officeDocument/2006/relationships" id="319" r:id="R7676f673b9cc4103"/>
    <p:sldId xmlns:r="http://schemas.openxmlformats.org/officeDocument/2006/relationships" id="320" r:id="R4f852e557a3c4fa7"/>
    <p:sldId xmlns:r="http://schemas.openxmlformats.org/officeDocument/2006/relationships" id="321" r:id="Raca290622aa84cd9"/>
    <p:sldId xmlns:r="http://schemas.openxmlformats.org/officeDocument/2006/relationships" id="322" r:id="R411c3dcc2304464c"/>
    <p:sldId xmlns:r="http://schemas.openxmlformats.org/officeDocument/2006/relationships" id="323" r:id="R342670ccaa41498c"/>
    <p:sldId xmlns:r="http://schemas.openxmlformats.org/officeDocument/2006/relationships" id="324" r:id="R574a9c0b7990409b"/>
    <p:sldId xmlns:r="http://schemas.openxmlformats.org/officeDocument/2006/relationships" id="325" r:id="Re5ef6372494541c0"/>
    <p:sldId xmlns:r="http://schemas.openxmlformats.org/officeDocument/2006/relationships" id="326" r:id="R8535f05658ab4fc9"/>
    <p:sldId xmlns:r="http://schemas.openxmlformats.org/officeDocument/2006/relationships" id="327" r:id="R23d41922a8f347c8"/>
    <p:sldId xmlns:r="http://schemas.openxmlformats.org/officeDocument/2006/relationships" id="328" r:id="R8ca5fe7e93624548"/>
    <p:sldId xmlns:r="http://schemas.openxmlformats.org/officeDocument/2006/relationships" id="329" r:id="R32ab8a8daef54837"/>
    <p:sldId xmlns:r="http://schemas.openxmlformats.org/officeDocument/2006/relationships" id="330" r:id="Rf4e2bce40c1d4135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0e98c52b7a694896" /><Relationship Type="http://schemas.openxmlformats.org/officeDocument/2006/relationships/slideMaster" Target="/ppt/slideMasters/slideMaster1.xml" Id="Rde664a03f5064c43" /><Relationship Type="http://schemas.openxmlformats.org/officeDocument/2006/relationships/notesMaster" Target="/ppt/notesMasters/notesMaster1.xml" Id="R81ccc46a55ad4fd9" /><Relationship Type="http://schemas.openxmlformats.org/officeDocument/2006/relationships/presProps" Target="/ppt/presProps.xml" Id="R8e31e04d716e429f" /><Relationship Type="http://schemas.openxmlformats.org/officeDocument/2006/relationships/tableStyles" Target="/ppt/tableStyles.xml" Id="R4be0a9faf83a4c08" /><Relationship Type="http://schemas.openxmlformats.org/officeDocument/2006/relationships/slide" Target="/ppt/slides/slide1.xml" Id="R016aeddfa620431c" /><Relationship Type="http://schemas.openxmlformats.org/officeDocument/2006/relationships/slide" Target="/ppt/slides/slide2.xml" Id="Rb313b400091b439b" /><Relationship Type="http://schemas.openxmlformats.org/officeDocument/2006/relationships/slide" Target="/ppt/slides/slide3.xml" Id="R1e0fc434d750406a" /><Relationship Type="http://schemas.openxmlformats.org/officeDocument/2006/relationships/slide" Target="/ppt/slides/slide4.xml" Id="R52f89235ca134564" /><Relationship Type="http://schemas.openxmlformats.org/officeDocument/2006/relationships/slide" Target="/ppt/slides/slide5.xml" Id="R134468d3a74f490d" /><Relationship Type="http://schemas.openxmlformats.org/officeDocument/2006/relationships/slide" Target="/ppt/slides/slide6.xml" Id="R3178a3e67940473f" /><Relationship Type="http://schemas.openxmlformats.org/officeDocument/2006/relationships/slide" Target="/ppt/slides/slide7.xml" Id="Rbe887079425b4347" /><Relationship Type="http://schemas.openxmlformats.org/officeDocument/2006/relationships/slide" Target="/ppt/slides/slide8.xml" Id="Ra379a31a76564c4d" /><Relationship Type="http://schemas.openxmlformats.org/officeDocument/2006/relationships/slide" Target="/ppt/slides/slide9.xml" Id="Rbf37bd55000e46b7" /><Relationship Type="http://schemas.openxmlformats.org/officeDocument/2006/relationships/slide" Target="/ppt/slides/slide10.xml" Id="R7b6cad9a53634b60" /><Relationship Type="http://schemas.openxmlformats.org/officeDocument/2006/relationships/slide" Target="/ppt/slides/slide11.xml" Id="R2b740e63d3d64582" /><Relationship Type="http://schemas.openxmlformats.org/officeDocument/2006/relationships/slide" Target="/ppt/slides/slide12.xml" Id="Rd9eec3be43264835" /><Relationship Type="http://schemas.openxmlformats.org/officeDocument/2006/relationships/slide" Target="/ppt/slides/slide13.xml" Id="R1cd88507d4524b6b" /><Relationship Type="http://schemas.openxmlformats.org/officeDocument/2006/relationships/slide" Target="/ppt/slides/slide14.xml" Id="Re2b3d0a1d2064282" /><Relationship Type="http://schemas.openxmlformats.org/officeDocument/2006/relationships/slide" Target="/ppt/slides/slide15.xml" Id="Ra9a0696b333441fe" /><Relationship Type="http://schemas.openxmlformats.org/officeDocument/2006/relationships/slide" Target="/ppt/slides/slide16.xml" Id="R4e808d93fd5b47af" /><Relationship Type="http://schemas.openxmlformats.org/officeDocument/2006/relationships/slide" Target="/ppt/slides/slide17.xml" Id="Rb5d5447458ad4673" /><Relationship Type="http://schemas.openxmlformats.org/officeDocument/2006/relationships/slide" Target="/ppt/slides/slide18.xml" Id="Raee9fa931060419e" /><Relationship Type="http://schemas.openxmlformats.org/officeDocument/2006/relationships/slide" Target="/ppt/slides/slide19.xml" Id="R80791c14a2814230" /><Relationship Type="http://schemas.openxmlformats.org/officeDocument/2006/relationships/slide" Target="/ppt/slides/slide20.xml" Id="Ree8a85a849b34022" /><Relationship Type="http://schemas.openxmlformats.org/officeDocument/2006/relationships/slide" Target="/ppt/slides/slide21.xml" Id="R4a94a0372fb547c6" /><Relationship Type="http://schemas.openxmlformats.org/officeDocument/2006/relationships/slide" Target="/ppt/slides/slide22.xml" Id="Rf6b5c8afbd9f44cf" /><Relationship Type="http://schemas.openxmlformats.org/officeDocument/2006/relationships/slide" Target="/ppt/slides/slide23.xml" Id="R213fd9a5c0dd42f7" /><Relationship Type="http://schemas.openxmlformats.org/officeDocument/2006/relationships/slide" Target="/ppt/slides/slide24.xml" Id="R2b4d7ba499a64e42" /><Relationship Type="http://schemas.openxmlformats.org/officeDocument/2006/relationships/slide" Target="/ppt/slides/slide25.xml" Id="R421f8eb1bfd8444f" /><Relationship Type="http://schemas.openxmlformats.org/officeDocument/2006/relationships/slide" Target="/ppt/slides/slide26.xml" Id="R49485b8d3c0c4413" /><Relationship Type="http://schemas.openxmlformats.org/officeDocument/2006/relationships/slide" Target="/ppt/slides/slide27.xml" Id="R919fdf20ee914251" /><Relationship Type="http://schemas.openxmlformats.org/officeDocument/2006/relationships/slide" Target="/ppt/slides/slide28.xml" Id="R773713ecb241435d" /><Relationship Type="http://schemas.openxmlformats.org/officeDocument/2006/relationships/slide" Target="/ppt/slides/slide29.xml" Id="R056857466f8d4104" /><Relationship Type="http://schemas.openxmlformats.org/officeDocument/2006/relationships/slide" Target="/ppt/slides/slide30.xml" Id="R4e345f5455f84d53" /><Relationship Type="http://schemas.openxmlformats.org/officeDocument/2006/relationships/slide" Target="/ppt/slides/slide31.xml" Id="Rafc7aa86480e4f42" /><Relationship Type="http://schemas.openxmlformats.org/officeDocument/2006/relationships/slide" Target="/ppt/slides/slide32.xml" Id="R3a9337304b8449b9" /><Relationship Type="http://schemas.openxmlformats.org/officeDocument/2006/relationships/slide" Target="/ppt/slides/slide33.xml" Id="R94a609677347479f" /><Relationship Type="http://schemas.openxmlformats.org/officeDocument/2006/relationships/slide" Target="/ppt/slides/slide34.xml" Id="R53e73c81af6e4ea6" /><Relationship Type="http://schemas.openxmlformats.org/officeDocument/2006/relationships/slide" Target="/ppt/slides/slide35.xml" Id="R946d186070b9423e" /><Relationship Type="http://schemas.openxmlformats.org/officeDocument/2006/relationships/slide" Target="/ppt/slides/slide36.xml" Id="Rf058236bf5454f78" /><Relationship Type="http://schemas.openxmlformats.org/officeDocument/2006/relationships/slide" Target="/ppt/slides/slide37.xml" Id="R5852974e5b454f62" /><Relationship Type="http://schemas.openxmlformats.org/officeDocument/2006/relationships/slide" Target="/ppt/slides/slide38.xml" Id="R904081f157724022" /><Relationship Type="http://schemas.openxmlformats.org/officeDocument/2006/relationships/slide" Target="/ppt/slides/slide39.xml" Id="Re8e6eab71e074f3a" /><Relationship Type="http://schemas.openxmlformats.org/officeDocument/2006/relationships/slide" Target="/ppt/slides/slide40.xml" Id="R428a32a83e874080" /><Relationship Type="http://schemas.openxmlformats.org/officeDocument/2006/relationships/slide" Target="/ppt/slides/slide41.xml" Id="R2174ca6156264ce3" /><Relationship Type="http://schemas.openxmlformats.org/officeDocument/2006/relationships/slide" Target="/ppt/slides/slide42.xml" Id="R407782f8a4e1498a" /><Relationship Type="http://schemas.openxmlformats.org/officeDocument/2006/relationships/slide" Target="/ppt/slides/slide43.xml" Id="R7c2db96996b54697" /><Relationship Type="http://schemas.openxmlformats.org/officeDocument/2006/relationships/slide" Target="/ppt/slides/slide44.xml" Id="R01b5d3134be045d9" /><Relationship Type="http://schemas.openxmlformats.org/officeDocument/2006/relationships/slide" Target="/ppt/slides/slide45.xml" Id="R2c66fb86120a4255" /><Relationship Type="http://schemas.openxmlformats.org/officeDocument/2006/relationships/slide" Target="/ppt/slides/slide46.xml" Id="R259570b2235e4b51" /><Relationship Type="http://schemas.openxmlformats.org/officeDocument/2006/relationships/slide" Target="/ppt/slides/slide47.xml" Id="R62faa6835e984d16" /><Relationship Type="http://schemas.openxmlformats.org/officeDocument/2006/relationships/slide" Target="/ppt/slides/slide48.xml" Id="Rd03054934c574e9e" /><Relationship Type="http://schemas.openxmlformats.org/officeDocument/2006/relationships/slide" Target="/ppt/slides/slide49.xml" Id="R591f51f6fe7e45d0" /><Relationship Type="http://schemas.openxmlformats.org/officeDocument/2006/relationships/slide" Target="/ppt/slides/slide50.xml" Id="R71d16fd3f55841d1" /><Relationship Type="http://schemas.openxmlformats.org/officeDocument/2006/relationships/slide" Target="/ppt/slides/slide51.xml" Id="R176578629a5c4510" /><Relationship Type="http://schemas.openxmlformats.org/officeDocument/2006/relationships/slide" Target="/ppt/slides/slide52.xml" Id="R2b2e9a4536334c15" /><Relationship Type="http://schemas.openxmlformats.org/officeDocument/2006/relationships/slide" Target="/ppt/slides/slide53.xml" Id="R6a002c1c0a2048c9" /><Relationship Type="http://schemas.openxmlformats.org/officeDocument/2006/relationships/slide" Target="/ppt/slides/slide54.xml" Id="R48a316e525074270" /><Relationship Type="http://schemas.openxmlformats.org/officeDocument/2006/relationships/slide" Target="/ppt/slides/slide55.xml" Id="R9d9085eeb4554858" /><Relationship Type="http://schemas.openxmlformats.org/officeDocument/2006/relationships/slide" Target="/ppt/slides/slide56.xml" Id="R0b5e60c318bb44df" /><Relationship Type="http://schemas.openxmlformats.org/officeDocument/2006/relationships/slide" Target="/ppt/slides/slide57.xml" Id="R87748eca9d5a47ae" /><Relationship Type="http://schemas.openxmlformats.org/officeDocument/2006/relationships/slide" Target="/ppt/slides/slide58.xml" Id="R639035a98f554c2f" /><Relationship Type="http://schemas.openxmlformats.org/officeDocument/2006/relationships/slide" Target="/ppt/slides/slide59.xml" Id="Rf5bf8577452e4218" /><Relationship Type="http://schemas.openxmlformats.org/officeDocument/2006/relationships/slide" Target="/ppt/slides/slide60.xml" Id="Rce474e560fe64f1c" /><Relationship Type="http://schemas.openxmlformats.org/officeDocument/2006/relationships/slide" Target="/ppt/slides/slide61.xml" Id="R90d61a1021f64f05" /><Relationship Type="http://schemas.openxmlformats.org/officeDocument/2006/relationships/slide" Target="/ppt/slides/slide62.xml" Id="Re3148684eedc4f46" /><Relationship Type="http://schemas.openxmlformats.org/officeDocument/2006/relationships/slide" Target="/ppt/slides/slide63.xml" Id="R588444eeb8874cad" /><Relationship Type="http://schemas.openxmlformats.org/officeDocument/2006/relationships/slide" Target="/ppt/slides/slide64.xml" Id="R7676f673b9cc4103" /><Relationship Type="http://schemas.openxmlformats.org/officeDocument/2006/relationships/slide" Target="/ppt/slides/slide65.xml" Id="R4f852e557a3c4fa7" /><Relationship Type="http://schemas.openxmlformats.org/officeDocument/2006/relationships/slide" Target="/ppt/slides/slide66.xml" Id="Raca290622aa84cd9" /><Relationship Type="http://schemas.openxmlformats.org/officeDocument/2006/relationships/slide" Target="/ppt/slides/slide67.xml" Id="R411c3dcc2304464c" /><Relationship Type="http://schemas.openxmlformats.org/officeDocument/2006/relationships/slide" Target="/ppt/slides/slide68.xml" Id="R342670ccaa41498c" /><Relationship Type="http://schemas.openxmlformats.org/officeDocument/2006/relationships/slide" Target="/ppt/slides/slide69.xml" Id="R574a9c0b7990409b" /><Relationship Type="http://schemas.openxmlformats.org/officeDocument/2006/relationships/slide" Target="/ppt/slides/slide70.xml" Id="Re5ef6372494541c0" /><Relationship Type="http://schemas.openxmlformats.org/officeDocument/2006/relationships/slide" Target="/ppt/slides/slide71.xml" Id="R8535f05658ab4fc9" /><Relationship Type="http://schemas.openxmlformats.org/officeDocument/2006/relationships/slide" Target="/ppt/slides/slide72.xml" Id="R23d41922a8f347c8" /><Relationship Type="http://schemas.openxmlformats.org/officeDocument/2006/relationships/slide" Target="/ppt/slides/slide73.xml" Id="R8ca5fe7e93624548" /><Relationship Type="http://schemas.openxmlformats.org/officeDocument/2006/relationships/slide" Target="/ppt/slides/slide74.xml" Id="R32ab8a8daef54837" /><Relationship Type="http://schemas.openxmlformats.org/officeDocument/2006/relationships/slide" Target="/ppt/slides/slide75.xml" Id="Rf4e2bce40c1d4135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7fed969898ea443c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7272f65e0bd64a09" /><Relationship Type="http://schemas.openxmlformats.org/officeDocument/2006/relationships/notesMaster" Target="/ppt/notesMasters/notesMaster1.xml" Id="Ra7f93ab821fc44a9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7f1de1eb1255430f" /><Relationship Type="http://schemas.openxmlformats.org/officeDocument/2006/relationships/notesMaster" Target="/ppt/notesMasters/notesMaster1.xml" Id="R7374d2b0a7bf47f9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4d1e2a78bd1b4015" /><Relationship Type="http://schemas.openxmlformats.org/officeDocument/2006/relationships/notesMaster" Target="/ppt/notesMasters/notesMaster1.xml" Id="Reb671d5e585e4c34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022621e603794263" /><Relationship Type="http://schemas.openxmlformats.org/officeDocument/2006/relationships/notesMaster" Target="/ppt/notesMasters/notesMaster1.xml" Id="Rf68a3513b1414246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c9a1b9a5cdd2414f" /><Relationship Type="http://schemas.openxmlformats.org/officeDocument/2006/relationships/notesMaster" Target="/ppt/notesMasters/notesMaster1.xml" Id="Rc3bcfb49fcfb4e0c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55c03e03579f4a6a" /><Relationship Type="http://schemas.openxmlformats.org/officeDocument/2006/relationships/notesMaster" Target="/ppt/notesMasters/notesMaster1.xml" Id="R83749d8118564194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d1fcb234b9ea41bc" /><Relationship Type="http://schemas.openxmlformats.org/officeDocument/2006/relationships/notesMaster" Target="/ppt/notesMasters/notesMaster1.xml" Id="Re092694f5507432e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258e94b4ad7847f2" /><Relationship Type="http://schemas.openxmlformats.org/officeDocument/2006/relationships/notesMaster" Target="/ppt/notesMasters/notesMaster1.xml" Id="R206b5028efb346e7" /></Relationships>
</file>

<file path=ppt/notesSlides/_rels/notesSlide9.xml.rels>&#65279;<?xml version="1.0" encoding="utf-8"?><Relationships xmlns="http://schemas.openxmlformats.org/package/2006/relationships"><Relationship Type="http://schemas.openxmlformats.org/officeDocument/2006/relationships/slide" Target="/ppt/slides/slide9.xml" Id="R137f2a376c33410a" /><Relationship Type="http://schemas.openxmlformats.org/officeDocument/2006/relationships/notesMaster" Target="/ppt/notesMasters/notesMaster1.xml" Id="R8c5531e636be4f89" /></Relationships>
</file>

<file path=ppt/notesSlides/_rels/notesSlide10.xml.rels>&#65279;<?xml version="1.0" encoding="utf-8"?><Relationships xmlns="http://schemas.openxmlformats.org/package/2006/relationships"><Relationship Type="http://schemas.openxmlformats.org/officeDocument/2006/relationships/slide" Target="/ppt/slides/slide10.xml" Id="R9816305594ec422e" /><Relationship Type="http://schemas.openxmlformats.org/officeDocument/2006/relationships/notesMaster" Target="/ppt/notesMasters/notesMaster1.xml" Id="R7dc5f6ef305044d3" /></Relationships>
</file>

<file path=ppt/notesSlides/_rels/notesSlide11.xml.rels>&#65279;<?xml version="1.0" encoding="utf-8"?><Relationships xmlns="http://schemas.openxmlformats.org/package/2006/relationships"><Relationship Type="http://schemas.openxmlformats.org/officeDocument/2006/relationships/slide" Target="/ppt/slides/slide11.xml" Id="Rb0fce42bbedd4c47" /><Relationship Type="http://schemas.openxmlformats.org/officeDocument/2006/relationships/notesMaster" Target="/ppt/notesMasters/notesMaster1.xml" Id="R6bb1f5ffaf1d4285" /></Relationships>
</file>

<file path=ppt/notesSlides/_rels/notesSlide12.xml.rels>&#65279;<?xml version="1.0" encoding="utf-8"?><Relationships xmlns="http://schemas.openxmlformats.org/package/2006/relationships"><Relationship Type="http://schemas.openxmlformats.org/officeDocument/2006/relationships/slide" Target="/ppt/slides/slide12.xml" Id="Re4e0e805f52840b9" /><Relationship Type="http://schemas.openxmlformats.org/officeDocument/2006/relationships/notesMaster" Target="/ppt/notesMasters/notesMaster1.xml" Id="R728f5bd901a24b37" /></Relationships>
</file>

<file path=ppt/notesSlides/_rels/notesSlide13.xml.rels>&#65279;<?xml version="1.0" encoding="utf-8"?><Relationships xmlns="http://schemas.openxmlformats.org/package/2006/relationships"><Relationship Type="http://schemas.openxmlformats.org/officeDocument/2006/relationships/slide" Target="/ppt/slides/slide13.xml" Id="Rd3868ac3604f40f4" /><Relationship Type="http://schemas.openxmlformats.org/officeDocument/2006/relationships/notesMaster" Target="/ppt/notesMasters/notesMaster1.xml" Id="R69f8b7f75251466a" /></Relationships>
</file>

<file path=ppt/notesSlides/_rels/notesSlide14.xml.rels>&#65279;<?xml version="1.0" encoding="utf-8"?><Relationships xmlns="http://schemas.openxmlformats.org/package/2006/relationships"><Relationship Type="http://schemas.openxmlformats.org/officeDocument/2006/relationships/slide" Target="/ppt/slides/slide14.xml" Id="R8e91d922a34c4d57" /><Relationship Type="http://schemas.openxmlformats.org/officeDocument/2006/relationships/notesMaster" Target="/ppt/notesMasters/notesMaster1.xml" Id="R51ef37edf8b3430a" /></Relationships>
</file>

<file path=ppt/notesSlides/_rels/notesSlide15.xml.rels>&#65279;<?xml version="1.0" encoding="utf-8"?><Relationships xmlns="http://schemas.openxmlformats.org/package/2006/relationships"><Relationship Type="http://schemas.openxmlformats.org/officeDocument/2006/relationships/slide" Target="/ppt/slides/slide15.xml" Id="Rb81648861b54411f" /><Relationship Type="http://schemas.openxmlformats.org/officeDocument/2006/relationships/notesMaster" Target="/ppt/notesMasters/notesMaster1.xml" Id="Rae17bdce68054940" /></Relationships>
</file>

<file path=ppt/notesSlides/_rels/notesSlide16.xml.rels>&#65279;<?xml version="1.0" encoding="utf-8"?><Relationships xmlns="http://schemas.openxmlformats.org/package/2006/relationships"><Relationship Type="http://schemas.openxmlformats.org/officeDocument/2006/relationships/slide" Target="/ppt/slides/slide16.xml" Id="R473f83ec406e495a" /><Relationship Type="http://schemas.openxmlformats.org/officeDocument/2006/relationships/notesMaster" Target="/ppt/notesMasters/notesMaster1.xml" Id="R744b6ea2966e4596" /></Relationships>
</file>

<file path=ppt/notesSlides/_rels/notesSlide17.xml.rels>&#65279;<?xml version="1.0" encoding="utf-8"?><Relationships xmlns="http://schemas.openxmlformats.org/package/2006/relationships"><Relationship Type="http://schemas.openxmlformats.org/officeDocument/2006/relationships/slide" Target="/ppt/slides/slide17.xml" Id="Red55700cd79d449b" /><Relationship Type="http://schemas.openxmlformats.org/officeDocument/2006/relationships/notesMaster" Target="/ppt/notesMasters/notesMaster1.xml" Id="R50c87bb5d76c47bb" /></Relationships>
</file>

<file path=ppt/notesSlides/_rels/notesSlide18.xml.rels>&#65279;<?xml version="1.0" encoding="utf-8"?><Relationships xmlns="http://schemas.openxmlformats.org/package/2006/relationships"><Relationship Type="http://schemas.openxmlformats.org/officeDocument/2006/relationships/slide" Target="/ppt/slides/slide18.xml" Id="R3d24c0a9d9824048" /><Relationship Type="http://schemas.openxmlformats.org/officeDocument/2006/relationships/notesMaster" Target="/ppt/notesMasters/notesMaster1.xml" Id="Rd7c1a1bab019401e" /></Relationships>
</file>

<file path=ppt/notesSlides/_rels/notesSlide19.xml.rels>&#65279;<?xml version="1.0" encoding="utf-8"?><Relationships xmlns="http://schemas.openxmlformats.org/package/2006/relationships"><Relationship Type="http://schemas.openxmlformats.org/officeDocument/2006/relationships/slide" Target="/ppt/slides/slide19.xml" Id="Rbb521479c9fa4b10" /><Relationship Type="http://schemas.openxmlformats.org/officeDocument/2006/relationships/notesMaster" Target="/ppt/notesMasters/notesMaster1.xml" Id="R4342cc36304c40e1" /></Relationships>
</file>

<file path=ppt/notesSlides/_rels/notesSlide20.xml.rels>&#65279;<?xml version="1.0" encoding="utf-8"?><Relationships xmlns="http://schemas.openxmlformats.org/package/2006/relationships"><Relationship Type="http://schemas.openxmlformats.org/officeDocument/2006/relationships/slide" Target="/ppt/slides/slide20.xml" Id="Rfe493d1c12c54ad6" /><Relationship Type="http://schemas.openxmlformats.org/officeDocument/2006/relationships/notesMaster" Target="/ppt/notesMasters/notesMaster1.xml" Id="Rcd13b61a6bc744cf" /></Relationships>
</file>

<file path=ppt/notesSlides/_rels/notesSlide21.xml.rels>&#65279;<?xml version="1.0" encoding="utf-8"?><Relationships xmlns="http://schemas.openxmlformats.org/package/2006/relationships"><Relationship Type="http://schemas.openxmlformats.org/officeDocument/2006/relationships/slide" Target="/ppt/slides/slide21.xml" Id="Ra074031e3be04c88" /><Relationship Type="http://schemas.openxmlformats.org/officeDocument/2006/relationships/notesMaster" Target="/ppt/notesMasters/notesMaster1.xml" Id="Rb8b985c0ac394408" /></Relationships>
</file>

<file path=ppt/notesSlides/_rels/notesSlide22.xml.rels>&#65279;<?xml version="1.0" encoding="utf-8"?><Relationships xmlns="http://schemas.openxmlformats.org/package/2006/relationships"><Relationship Type="http://schemas.openxmlformats.org/officeDocument/2006/relationships/slide" Target="/ppt/slides/slide22.xml" Id="R0c1af1eb5e9d4440" /><Relationship Type="http://schemas.openxmlformats.org/officeDocument/2006/relationships/notesMaster" Target="/ppt/notesMasters/notesMaster1.xml" Id="Rb476e3fc43314778" /></Relationships>
</file>

<file path=ppt/notesSlides/_rels/notesSlide23.xml.rels>&#65279;<?xml version="1.0" encoding="utf-8"?><Relationships xmlns="http://schemas.openxmlformats.org/package/2006/relationships"><Relationship Type="http://schemas.openxmlformats.org/officeDocument/2006/relationships/slide" Target="/ppt/slides/slide23.xml" Id="Rd25214926bb14118" /><Relationship Type="http://schemas.openxmlformats.org/officeDocument/2006/relationships/notesMaster" Target="/ppt/notesMasters/notesMaster1.xml" Id="R5da10042a7384fb1" /></Relationships>
</file>

<file path=ppt/notesSlides/_rels/notesSlide24.xml.rels>&#65279;<?xml version="1.0" encoding="utf-8"?><Relationships xmlns="http://schemas.openxmlformats.org/package/2006/relationships"><Relationship Type="http://schemas.openxmlformats.org/officeDocument/2006/relationships/slide" Target="/ppt/slides/slide24.xml" Id="Re2e837f9b1a3498e" /><Relationship Type="http://schemas.openxmlformats.org/officeDocument/2006/relationships/notesMaster" Target="/ppt/notesMasters/notesMaster1.xml" Id="R745ab17ea1a64421" /></Relationships>
</file>

<file path=ppt/notesSlides/_rels/notesSlide25.xml.rels>&#65279;<?xml version="1.0" encoding="utf-8"?><Relationships xmlns="http://schemas.openxmlformats.org/package/2006/relationships"><Relationship Type="http://schemas.openxmlformats.org/officeDocument/2006/relationships/slide" Target="/ppt/slides/slide25.xml" Id="R74331debb3ca4135" /><Relationship Type="http://schemas.openxmlformats.org/officeDocument/2006/relationships/notesMaster" Target="/ppt/notesMasters/notesMaster1.xml" Id="Rddf1a97291254457" /></Relationships>
</file>

<file path=ppt/notesSlides/_rels/notesSlide26.xml.rels>&#65279;<?xml version="1.0" encoding="utf-8"?><Relationships xmlns="http://schemas.openxmlformats.org/package/2006/relationships"><Relationship Type="http://schemas.openxmlformats.org/officeDocument/2006/relationships/slide" Target="/ppt/slides/slide26.xml" Id="R8265550841824caa" /><Relationship Type="http://schemas.openxmlformats.org/officeDocument/2006/relationships/notesMaster" Target="/ppt/notesMasters/notesMaster1.xml" Id="Rbf691d763aaf4970" /></Relationships>
</file>

<file path=ppt/notesSlides/_rels/notesSlide27.xml.rels>&#65279;<?xml version="1.0" encoding="utf-8"?><Relationships xmlns="http://schemas.openxmlformats.org/package/2006/relationships"><Relationship Type="http://schemas.openxmlformats.org/officeDocument/2006/relationships/slide" Target="/ppt/slides/slide27.xml" Id="R2b5cba9dce854dea" /><Relationship Type="http://schemas.openxmlformats.org/officeDocument/2006/relationships/notesMaster" Target="/ppt/notesMasters/notesMaster1.xml" Id="R022e66dbd9874c13" /></Relationships>
</file>

<file path=ppt/notesSlides/_rels/notesSlide28.xml.rels>&#65279;<?xml version="1.0" encoding="utf-8"?><Relationships xmlns="http://schemas.openxmlformats.org/package/2006/relationships"><Relationship Type="http://schemas.openxmlformats.org/officeDocument/2006/relationships/slide" Target="/ppt/slides/slide28.xml" Id="R26df6d7fca4f4b02" /><Relationship Type="http://schemas.openxmlformats.org/officeDocument/2006/relationships/notesMaster" Target="/ppt/notesMasters/notesMaster1.xml" Id="R70d5585be5f24f5c" /></Relationships>
</file>

<file path=ppt/notesSlides/_rels/notesSlide29.xml.rels>&#65279;<?xml version="1.0" encoding="utf-8"?><Relationships xmlns="http://schemas.openxmlformats.org/package/2006/relationships"><Relationship Type="http://schemas.openxmlformats.org/officeDocument/2006/relationships/slide" Target="/ppt/slides/slide29.xml" Id="Reb5afc0f0af04b4b" /><Relationship Type="http://schemas.openxmlformats.org/officeDocument/2006/relationships/notesMaster" Target="/ppt/notesMasters/notesMaster1.xml" Id="R89cef14f68f14b28" /></Relationships>
</file>

<file path=ppt/notesSlides/_rels/notesSlide30.xml.rels>&#65279;<?xml version="1.0" encoding="utf-8"?><Relationships xmlns="http://schemas.openxmlformats.org/package/2006/relationships"><Relationship Type="http://schemas.openxmlformats.org/officeDocument/2006/relationships/slide" Target="/ppt/slides/slide30.xml" Id="Rddd7bc578b9d4d30" /><Relationship Type="http://schemas.openxmlformats.org/officeDocument/2006/relationships/notesMaster" Target="/ppt/notesMasters/notesMaster1.xml" Id="R472c0d4fdf2a47be" /></Relationships>
</file>

<file path=ppt/notesSlides/_rels/notesSlide31.xml.rels>&#65279;<?xml version="1.0" encoding="utf-8"?><Relationships xmlns="http://schemas.openxmlformats.org/package/2006/relationships"><Relationship Type="http://schemas.openxmlformats.org/officeDocument/2006/relationships/slide" Target="/ppt/slides/slide31.xml" Id="R33bef3da9d394457" /><Relationship Type="http://schemas.openxmlformats.org/officeDocument/2006/relationships/notesMaster" Target="/ppt/notesMasters/notesMaster1.xml" Id="R2bf12b4a002a4fed" /></Relationships>
</file>

<file path=ppt/notesSlides/_rels/notesSlide32.xml.rels>&#65279;<?xml version="1.0" encoding="utf-8"?><Relationships xmlns="http://schemas.openxmlformats.org/package/2006/relationships"><Relationship Type="http://schemas.openxmlformats.org/officeDocument/2006/relationships/slide" Target="/ppt/slides/slide32.xml" Id="R2ced172374b04cf3" /><Relationship Type="http://schemas.openxmlformats.org/officeDocument/2006/relationships/notesMaster" Target="/ppt/notesMasters/notesMaster1.xml" Id="R5aa5baed328847eb" /></Relationships>
</file>

<file path=ppt/notesSlides/_rels/notesSlide33.xml.rels>&#65279;<?xml version="1.0" encoding="utf-8"?><Relationships xmlns="http://schemas.openxmlformats.org/package/2006/relationships"><Relationship Type="http://schemas.openxmlformats.org/officeDocument/2006/relationships/slide" Target="/ppt/slides/slide33.xml" Id="R90534a6e96834ad8" /><Relationship Type="http://schemas.openxmlformats.org/officeDocument/2006/relationships/notesMaster" Target="/ppt/notesMasters/notesMaster1.xml" Id="Rb2adbabe6b6647c4" /></Relationships>
</file>

<file path=ppt/notesSlides/_rels/notesSlide34.xml.rels>&#65279;<?xml version="1.0" encoding="utf-8"?><Relationships xmlns="http://schemas.openxmlformats.org/package/2006/relationships"><Relationship Type="http://schemas.openxmlformats.org/officeDocument/2006/relationships/slide" Target="/ppt/slides/slide34.xml" Id="R2dcc2155460b42aa" /><Relationship Type="http://schemas.openxmlformats.org/officeDocument/2006/relationships/notesMaster" Target="/ppt/notesMasters/notesMaster1.xml" Id="Rb12b72de05f54cf0" /></Relationships>
</file>

<file path=ppt/notesSlides/_rels/notesSlide35.xml.rels>&#65279;<?xml version="1.0" encoding="utf-8"?><Relationships xmlns="http://schemas.openxmlformats.org/package/2006/relationships"><Relationship Type="http://schemas.openxmlformats.org/officeDocument/2006/relationships/slide" Target="/ppt/slides/slide35.xml" Id="R88d48a7ef3054f16" /><Relationship Type="http://schemas.openxmlformats.org/officeDocument/2006/relationships/notesMaster" Target="/ppt/notesMasters/notesMaster1.xml" Id="R21c46d5dda334880" /></Relationships>
</file>

<file path=ppt/notesSlides/_rels/notesSlide36.xml.rels>&#65279;<?xml version="1.0" encoding="utf-8"?><Relationships xmlns="http://schemas.openxmlformats.org/package/2006/relationships"><Relationship Type="http://schemas.openxmlformats.org/officeDocument/2006/relationships/slide" Target="/ppt/slides/slide36.xml" Id="R57f7108d23834363" /><Relationship Type="http://schemas.openxmlformats.org/officeDocument/2006/relationships/notesMaster" Target="/ppt/notesMasters/notesMaster1.xml" Id="R6144cf76c7cf4772" /></Relationships>
</file>

<file path=ppt/notesSlides/_rels/notesSlide37.xml.rels>&#65279;<?xml version="1.0" encoding="utf-8"?><Relationships xmlns="http://schemas.openxmlformats.org/package/2006/relationships"><Relationship Type="http://schemas.openxmlformats.org/officeDocument/2006/relationships/slide" Target="/ppt/slides/slide37.xml" Id="Rd8c219d0d4d84c71" /><Relationship Type="http://schemas.openxmlformats.org/officeDocument/2006/relationships/notesMaster" Target="/ppt/notesMasters/notesMaster1.xml" Id="R23748f405ed648fa" /></Relationships>
</file>

<file path=ppt/notesSlides/_rels/notesSlide38.xml.rels>&#65279;<?xml version="1.0" encoding="utf-8"?><Relationships xmlns="http://schemas.openxmlformats.org/package/2006/relationships"><Relationship Type="http://schemas.openxmlformats.org/officeDocument/2006/relationships/slide" Target="/ppt/slides/slide38.xml" Id="R862e1dc1a5994374" /><Relationship Type="http://schemas.openxmlformats.org/officeDocument/2006/relationships/notesMaster" Target="/ppt/notesMasters/notesMaster1.xml" Id="R36d5fda3f8d049e7" /></Relationships>
</file>

<file path=ppt/notesSlides/_rels/notesSlide39.xml.rels>&#65279;<?xml version="1.0" encoding="utf-8"?><Relationships xmlns="http://schemas.openxmlformats.org/package/2006/relationships"><Relationship Type="http://schemas.openxmlformats.org/officeDocument/2006/relationships/slide" Target="/ppt/slides/slide39.xml" Id="R985378b86f524524" /><Relationship Type="http://schemas.openxmlformats.org/officeDocument/2006/relationships/notesMaster" Target="/ppt/notesMasters/notesMaster1.xml" Id="R1f0376a5fae14601" /></Relationships>
</file>

<file path=ppt/notesSlides/_rels/notesSlide40.xml.rels>&#65279;<?xml version="1.0" encoding="utf-8"?><Relationships xmlns="http://schemas.openxmlformats.org/package/2006/relationships"><Relationship Type="http://schemas.openxmlformats.org/officeDocument/2006/relationships/slide" Target="/ppt/slides/slide40.xml" Id="R11feb68893874d5b" /><Relationship Type="http://schemas.openxmlformats.org/officeDocument/2006/relationships/notesMaster" Target="/ppt/notesMasters/notesMaster1.xml" Id="R8777275148034e86" /></Relationships>
</file>

<file path=ppt/notesSlides/_rels/notesSlide41.xml.rels>&#65279;<?xml version="1.0" encoding="utf-8"?><Relationships xmlns="http://schemas.openxmlformats.org/package/2006/relationships"><Relationship Type="http://schemas.openxmlformats.org/officeDocument/2006/relationships/slide" Target="/ppt/slides/slide41.xml" Id="Rd8231933f9f3444b" /><Relationship Type="http://schemas.openxmlformats.org/officeDocument/2006/relationships/notesMaster" Target="/ppt/notesMasters/notesMaster1.xml" Id="R4530357c3b5147b4" /></Relationships>
</file>

<file path=ppt/notesSlides/_rels/notesSlide42.xml.rels>&#65279;<?xml version="1.0" encoding="utf-8"?><Relationships xmlns="http://schemas.openxmlformats.org/package/2006/relationships"><Relationship Type="http://schemas.openxmlformats.org/officeDocument/2006/relationships/slide" Target="/ppt/slides/slide42.xml" Id="R11e2e0bb96874d9c" /><Relationship Type="http://schemas.openxmlformats.org/officeDocument/2006/relationships/notesMaster" Target="/ppt/notesMasters/notesMaster1.xml" Id="Rcb0003ef283c4aab" /></Relationships>
</file>

<file path=ppt/notesSlides/_rels/notesSlide43.xml.rels>&#65279;<?xml version="1.0" encoding="utf-8"?><Relationships xmlns="http://schemas.openxmlformats.org/package/2006/relationships"><Relationship Type="http://schemas.openxmlformats.org/officeDocument/2006/relationships/slide" Target="/ppt/slides/slide43.xml" Id="Ra4ad7c5ebfd74906" /><Relationship Type="http://schemas.openxmlformats.org/officeDocument/2006/relationships/notesMaster" Target="/ppt/notesMasters/notesMaster1.xml" Id="R2b1588f109ef4c83" /></Relationships>
</file>

<file path=ppt/notesSlides/_rels/notesSlide44.xml.rels>&#65279;<?xml version="1.0" encoding="utf-8"?><Relationships xmlns="http://schemas.openxmlformats.org/package/2006/relationships"><Relationship Type="http://schemas.openxmlformats.org/officeDocument/2006/relationships/slide" Target="/ppt/slides/slide44.xml" Id="R87ea1c6582794781" /><Relationship Type="http://schemas.openxmlformats.org/officeDocument/2006/relationships/notesMaster" Target="/ppt/notesMasters/notesMaster1.xml" Id="Ra986d2fb5624427e" /></Relationships>
</file>

<file path=ppt/notesSlides/_rels/notesSlide45.xml.rels>&#65279;<?xml version="1.0" encoding="utf-8"?><Relationships xmlns="http://schemas.openxmlformats.org/package/2006/relationships"><Relationship Type="http://schemas.openxmlformats.org/officeDocument/2006/relationships/slide" Target="/ppt/slides/slide45.xml" Id="R9efeeda0e50e49f4" /><Relationship Type="http://schemas.openxmlformats.org/officeDocument/2006/relationships/notesMaster" Target="/ppt/notesMasters/notesMaster1.xml" Id="R9476d2b7308e4400" /></Relationships>
</file>

<file path=ppt/notesSlides/_rels/notesSlide46.xml.rels>&#65279;<?xml version="1.0" encoding="utf-8"?><Relationships xmlns="http://schemas.openxmlformats.org/package/2006/relationships"><Relationship Type="http://schemas.openxmlformats.org/officeDocument/2006/relationships/slide" Target="/ppt/slides/slide46.xml" Id="Rffcd8460beab4458" /><Relationship Type="http://schemas.openxmlformats.org/officeDocument/2006/relationships/notesMaster" Target="/ppt/notesMasters/notesMaster1.xml" Id="R2cbe349518554fb2" /></Relationships>
</file>

<file path=ppt/notesSlides/_rels/notesSlide47.xml.rels>&#65279;<?xml version="1.0" encoding="utf-8"?><Relationships xmlns="http://schemas.openxmlformats.org/package/2006/relationships"><Relationship Type="http://schemas.openxmlformats.org/officeDocument/2006/relationships/slide" Target="/ppt/slides/slide47.xml" Id="R6a104566609d49fc" /><Relationship Type="http://schemas.openxmlformats.org/officeDocument/2006/relationships/notesMaster" Target="/ppt/notesMasters/notesMaster1.xml" Id="R41e2cbbc69864b3d" /></Relationships>
</file>

<file path=ppt/notesSlides/_rels/notesSlide48.xml.rels>&#65279;<?xml version="1.0" encoding="utf-8"?><Relationships xmlns="http://schemas.openxmlformats.org/package/2006/relationships"><Relationship Type="http://schemas.openxmlformats.org/officeDocument/2006/relationships/slide" Target="/ppt/slides/slide48.xml" Id="Rdb3ae8686ec94add" /><Relationship Type="http://schemas.openxmlformats.org/officeDocument/2006/relationships/notesMaster" Target="/ppt/notesMasters/notesMaster1.xml" Id="R18ce46074127486c" /></Relationships>
</file>

<file path=ppt/notesSlides/_rels/notesSlide49.xml.rels>&#65279;<?xml version="1.0" encoding="utf-8"?><Relationships xmlns="http://schemas.openxmlformats.org/package/2006/relationships"><Relationship Type="http://schemas.openxmlformats.org/officeDocument/2006/relationships/slide" Target="/ppt/slides/slide49.xml" Id="R763f7c7ae24940cc" /><Relationship Type="http://schemas.openxmlformats.org/officeDocument/2006/relationships/notesMaster" Target="/ppt/notesMasters/notesMaster1.xml" Id="R15e4e0dc98834f03" /></Relationships>
</file>

<file path=ppt/notesSlides/_rels/notesSlide50.xml.rels>&#65279;<?xml version="1.0" encoding="utf-8"?><Relationships xmlns="http://schemas.openxmlformats.org/package/2006/relationships"><Relationship Type="http://schemas.openxmlformats.org/officeDocument/2006/relationships/slide" Target="/ppt/slides/slide50.xml" Id="R02ac4ab4e2274bec" /><Relationship Type="http://schemas.openxmlformats.org/officeDocument/2006/relationships/notesMaster" Target="/ppt/notesMasters/notesMaster1.xml" Id="R42a819f09a744429" /></Relationships>
</file>

<file path=ppt/notesSlides/_rels/notesSlide51.xml.rels>&#65279;<?xml version="1.0" encoding="utf-8"?><Relationships xmlns="http://schemas.openxmlformats.org/package/2006/relationships"><Relationship Type="http://schemas.openxmlformats.org/officeDocument/2006/relationships/slide" Target="/ppt/slides/slide51.xml" Id="R9a8f8a42a5174432" /><Relationship Type="http://schemas.openxmlformats.org/officeDocument/2006/relationships/notesMaster" Target="/ppt/notesMasters/notesMaster1.xml" Id="R0a05c61dd032448d" /></Relationships>
</file>

<file path=ppt/notesSlides/_rels/notesSlide52.xml.rels>&#65279;<?xml version="1.0" encoding="utf-8"?><Relationships xmlns="http://schemas.openxmlformats.org/package/2006/relationships"><Relationship Type="http://schemas.openxmlformats.org/officeDocument/2006/relationships/slide" Target="/ppt/slides/slide52.xml" Id="Rd309e5a172104e35" /><Relationship Type="http://schemas.openxmlformats.org/officeDocument/2006/relationships/notesMaster" Target="/ppt/notesMasters/notesMaster1.xml" Id="R3a2ec36b8c874e12" /></Relationships>
</file>

<file path=ppt/notesSlides/_rels/notesSlide53.xml.rels>&#65279;<?xml version="1.0" encoding="utf-8"?><Relationships xmlns="http://schemas.openxmlformats.org/package/2006/relationships"><Relationship Type="http://schemas.openxmlformats.org/officeDocument/2006/relationships/slide" Target="/ppt/slides/slide53.xml" Id="R916c1eb06e044806" /><Relationship Type="http://schemas.openxmlformats.org/officeDocument/2006/relationships/notesMaster" Target="/ppt/notesMasters/notesMaster1.xml" Id="R485f3662186c4ddc" /></Relationships>
</file>

<file path=ppt/notesSlides/_rels/notesSlide54.xml.rels>&#65279;<?xml version="1.0" encoding="utf-8"?><Relationships xmlns="http://schemas.openxmlformats.org/package/2006/relationships"><Relationship Type="http://schemas.openxmlformats.org/officeDocument/2006/relationships/slide" Target="/ppt/slides/slide54.xml" Id="R8b3bf9c0760342b8" /><Relationship Type="http://schemas.openxmlformats.org/officeDocument/2006/relationships/notesMaster" Target="/ppt/notesMasters/notesMaster1.xml" Id="R119f53c85ae34ee8" /></Relationships>
</file>

<file path=ppt/notesSlides/_rels/notesSlide55.xml.rels>&#65279;<?xml version="1.0" encoding="utf-8"?><Relationships xmlns="http://schemas.openxmlformats.org/package/2006/relationships"><Relationship Type="http://schemas.openxmlformats.org/officeDocument/2006/relationships/slide" Target="/ppt/slides/slide55.xml" Id="R101e12dc4b9c41ae" /><Relationship Type="http://schemas.openxmlformats.org/officeDocument/2006/relationships/notesMaster" Target="/ppt/notesMasters/notesMaster1.xml" Id="Rad0f37b73e694460" /></Relationships>
</file>

<file path=ppt/notesSlides/_rels/notesSlide56.xml.rels>&#65279;<?xml version="1.0" encoding="utf-8"?><Relationships xmlns="http://schemas.openxmlformats.org/package/2006/relationships"><Relationship Type="http://schemas.openxmlformats.org/officeDocument/2006/relationships/slide" Target="/ppt/slides/slide56.xml" Id="R6ae75d2e1f724ac0" /><Relationship Type="http://schemas.openxmlformats.org/officeDocument/2006/relationships/notesMaster" Target="/ppt/notesMasters/notesMaster1.xml" Id="R80947933572b4bc8" /></Relationships>
</file>

<file path=ppt/notesSlides/_rels/notesSlide57.xml.rels>&#65279;<?xml version="1.0" encoding="utf-8"?><Relationships xmlns="http://schemas.openxmlformats.org/package/2006/relationships"><Relationship Type="http://schemas.openxmlformats.org/officeDocument/2006/relationships/slide" Target="/ppt/slides/slide57.xml" Id="R5b610024914b4145" /><Relationship Type="http://schemas.openxmlformats.org/officeDocument/2006/relationships/notesMaster" Target="/ppt/notesMasters/notesMaster1.xml" Id="R2f00d85472bc43ff" /></Relationships>
</file>

<file path=ppt/notesSlides/_rels/notesSlide58.xml.rels>&#65279;<?xml version="1.0" encoding="utf-8"?><Relationships xmlns="http://schemas.openxmlformats.org/package/2006/relationships"><Relationship Type="http://schemas.openxmlformats.org/officeDocument/2006/relationships/slide" Target="/ppt/slides/slide58.xml" Id="R70a08222d6154f4f" /><Relationship Type="http://schemas.openxmlformats.org/officeDocument/2006/relationships/notesMaster" Target="/ppt/notesMasters/notesMaster1.xml" Id="R0efb48dcf2b04fc9" /></Relationships>
</file>

<file path=ppt/notesSlides/_rels/notesSlide59.xml.rels>&#65279;<?xml version="1.0" encoding="utf-8"?><Relationships xmlns="http://schemas.openxmlformats.org/package/2006/relationships"><Relationship Type="http://schemas.openxmlformats.org/officeDocument/2006/relationships/slide" Target="/ppt/slides/slide59.xml" Id="Ra9751feb52ad4a61" /><Relationship Type="http://schemas.openxmlformats.org/officeDocument/2006/relationships/notesMaster" Target="/ppt/notesMasters/notesMaster1.xml" Id="Ra0139bf5e1df45d0" /></Relationships>
</file>

<file path=ppt/notesSlides/_rels/notesSlide60.xml.rels>&#65279;<?xml version="1.0" encoding="utf-8"?><Relationships xmlns="http://schemas.openxmlformats.org/package/2006/relationships"><Relationship Type="http://schemas.openxmlformats.org/officeDocument/2006/relationships/slide" Target="/ppt/slides/slide60.xml" Id="Rb446442f0cc34c4d" /><Relationship Type="http://schemas.openxmlformats.org/officeDocument/2006/relationships/notesMaster" Target="/ppt/notesMasters/notesMaster1.xml" Id="R9ddf7bd091c74b57" /></Relationships>
</file>

<file path=ppt/notesSlides/_rels/notesSlide61.xml.rels>&#65279;<?xml version="1.0" encoding="utf-8"?><Relationships xmlns="http://schemas.openxmlformats.org/package/2006/relationships"><Relationship Type="http://schemas.openxmlformats.org/officeDocument/2006/relationships/slide" Target="/ppt/slides/slide61.xml" Id="R572ecd8ffcdd4847" /><Relationship Type="http://schemas.openxmlformats.org/officeDocument/2006/relationships/notesMaster" Target="/ppt/notesMasters/notesMaster1.xml" Id="Re9e732ccc9ba4122" /></Relationships>
</file>

<file path=ppt/notesSlides/_rels/notesSlide62.xml.rels>&#65279;<?xml version="1.0" encoding="utf-8"?><Relationships xmlns="http://schemas.openxmlformats.org/package/2006/relationships"><Relationship Type="http://schemas.openxmlformats.org/officeDocument/2006/relationships/slide" Target="/ppt/slides/slide62.xml" Id="Ra58c19367841428f" /><Relationship Type="http://schemas.openxmlformats.org/officeDocument/2006/relationships/notesMaster" Target="/ppt/notesMasters/notesMaster1.xml" Id="Rd089370f7a7c4c11" /></Relationships>
</file>

<file path=ppt/notesSlides/_rels/notesSlide63.xml.rels>&#65279;<?xml version="1.0" encoding="utf-8"?><Relationships xmlns="http://schemas.openxmlformats.org/package/2006/relationships"><Relationship Type="http://schemas.openxmlformats.org/officeDocument/2006/relationships/slide" Target="/ppt/slides/slide63.xml" Id="R304782e3ed1a43ee" /><Relationship Type="http://schemas.openxmlformats.org/officeDocument/2006/relationships/notesMaster" Target="/ppt/notesMasters/notesMaster1.xml" Id="Redcad66be04145e5" /></Relationships>
</file>

<file path=ppt/notesSlides/_rels/notesSlide64.xml.rels>&#65279;<?xml version="1.0" encoding="utf-8"?><Relationships xmlns="http://schemas.openxmlformats.org/package/2006/relationships"><Relationship Type="http://schemas.openxmlformats.org/officeDocument/2006/relationships/slide" Target="/ppt/slides/slide64.xml" Id="Rfbf083b37cfc4283" /><Relationship Type="http://schemas.openxmlformats.org/officeDocument/2006/relationships/notesMaster" Target="/ppt/notesMasters/notesMaster1.xml" Id="R50d87dd3ed4b45a6" /></Relationships>
</file>

<file path=ppt/notesSlides/_rels/notesSlide65.xml.rels>&#65279;<?xml version="1.0" encoding="utf-8"?><Relationships xmlns="http://schemas.openxmlformats.org/package/2006/relationships"><Relationship Type="http://schemas.openxmlformats.org/officeDocument/2006/relationships/slide" Target="/ppt/slides/slide65.xml" Id="R4d3f59fd53654d0d" /><Relationship Type="http://schemas.openxmlformats.org/officeDocument/2006/relationships/notesMaster" Target="/ppt/notesMasters/notesMaster1.xml" Id="R3f0f5fc135b642f4" /></Relationships>
</file>

<file path=ppt/notesSlides/_rels/notesSlide66.xml.rels>&#65279;<?xml version="1.0" encoding="utf-8"?><Relationships xmlns="http://schemas.openxmlformats.org/package/2006/relationships"><Relationship Type="http://schemas.openxmlformats.org/officeDocument/2006/relationships/slide" Target="/ppt/slides/slide66.xml" Id="R11126e85127546b6" /><Relationship Type="http://schemas.openxmlformats.org/officeDocument/2006/relationships/notesMaster" Target="/ppt/notesMasters/notesMaster1.xml" Id="R3f62a6e4b8f34177" /></Relationships>
</file>

<file path=ppt/notesSlides/_rels/notesSlide67.xml.rels>&#65279;<?xml version="1.0" encoding="utf-8"?><Relationships xmlns="http://schemas.openxmlformats.org/package/2006/relationships"><Relationship Type="http://schemas.openxmlformats.org/officeDocument/2006/relationships/slide" Target="/ppt/slides/slide67.xml" Id="Re94fb9493d824b16" /><Relationship Type="http://schemas.openxmlformats.org/officeDocument/2006/relationships/notesMaster" Target="/ppt/notesMasters/notesMaster1.xml" Id="R676d2180e5ff4bb1" /></Relationships>
</file>

<file path=ppt/notesSlides/_rels/notesSlide68.xml.rels>&#65279;<?xml version="1.0" encoding="utf-8"?><Relationships xmlns="http://schemas.openxmlformats.org/package/2006/relationships"><Relationship Type="http://schemas.openxmlformats.org/officeDocument/2006/relationships/slide" Target="/ppt/slides/slide68.xml" Id="Rd8ee686103a44cac" /><Relationship Type="http://schemas.openxmlformats.org/officeDocument/2006/relationships/notesMaster" Target="/ppt/notesMasters/notesMaster1.xml" Id="Rec360f2d0ceb4770" /></Relationships>
</file>

<file path=ppt/notesSlides/_rels/notesSlide69.xml.rels>&#65279;<?xml version="1.0" encoding="utf-8"?><Relationships xmlns="http://schemas.openxmlformats.org/package/2006/relationships"><Relationship Type="http://schemas.openxmlformats.org/officeDocument/2006/relationships/slide" Target="/ppt/slides/slide69.xml" Id="Re08040dfccaa49a9" /><Relationship Type="http://schemas.openxmlformats.org/officeDocument/2006/relationships/notesMaster" Target="/ppt/notesMasters/notesMaster1.xml" Id="R547b914925704262" /></Relationships>
</file>

<file path=ppt/notesSlides/_rels/notesSlide70.xml.rels>&#65279;<?xml version="1.0" encoding="utf-8"?><Relationships xmlns="http://schemas.openxmlformats.org/package/2006/relationships"><Relationship Type="http://schemas.openxmlformats.org/officeDocument/2006/relationships/slide" Target="/ppt/slides/slide70.xml" Id="R9a21169564464847" /><Relationship Type="http://schemas.openxmlformats.org/officeDocument/2006/relationships/notesMaster" Target="/ppt/notesMasters/notesMaster1.xml" Id="R0ee5b487bdb84978" /></Relationships>
</file>

<file path=ppt/notesSlides/_rels/notesSlide71.xml.rels>&#65279;<?xml version="1.0" encoding="utf-8"?><Relationships xmlns="http://schemas.openxmlformats.org/package/2006/relationships"><Relationship Type="http://schemas.openxmlformats.org/officeDocument/2006/relationships/slide" Target="/ppt/slides/slide71.xml" Id="R0c2c14384f494c41" /><Relationship Type="http://schemas.openxmlformats.org/officeDocument/2006/relationships/notesMaster" Target="/ppt/notesMasters/notesMaster1.xml" Id="R7e15043066aa45ef" /></Relationships>
</file>

<file path=ppt/notesSlides/_rels/notesSlide72.xml.rels>&#65279;<?xml version="1.0" encoding="utf-8"?><Relationships xmlns="http://schemas.openxmlformats.org/package/2006/relationships"><Relationship Type="http://schemas.openxmlformats.org/officeDocument/2006/relationships/slide" Target="/ppt/slides/slide72.xml" Id="Ref754c024f144908" /><Relationship Type="http://schemas.openxmlformats.org/officeDocument/2006/relationships/notesMaster" Target="/ppt/notesMasters/notesMaster1.xml" Id="Rfcea15100a604f03" /></Relationships>
</file>

<file path=ppt/notesSlides/_rels/notesSlide73.xml.rels>&#65279;<?xml version="1.0" encoding="utf-8"?><Relationships xmlns="http://schemas.openxmlformats.org/package/2006/relationships"><Relationship Type="http://schemas.openxmlformats.org/officeDocument/2006/relationships/slide" Target="/ppt/slides/slide73.xml" Id="R76c77db4576544ed" /><Relationship Type="http://schemas.openxmlformats.org/officeDocument/2006/relationships/notesMaster" Target="/ppt/notesMasters/notesMaster1.xml" Id="Raf1ee8cf39de48ea" /></Relationships>
</file>

<file path=ppt/notesSlides/_rels/notesSlide74.xml.rels>&#65279;<?xml version="1.0" encoding="utf-8"?><Relationships xmlns="http://schemas.openxmlformats.org/package/2006/relationships"><Relationship Type="http://schemas.openxmlformats.org/officeDocument/2006/relationships/slide" Target="/ppt/slides/slide74.xml" Id="R6fb40e50ca744803" /><Relationship Type="http://schemas.openxmlformats.org/officeDocument/2006/relationships/notesMaster" Target="/ppt/notesMasters/notesMaster1.xml" Id="Ra17efaf681f14d5c" /></Relationships>
</file>

<file path=ppt/notesSlides/_rels/notesSlide75.xml.rels>&#65279;<?xml version="1.0" encoding="utf-8"?><Relationships xmlns="http://schemas.openxmlformats.org/package/2006/relationships"><Relationship Type="http://schemas.openxmlformats.org/officeDocument/2006/relationships/slide" Target="/ppt/slides/slide75.xml" Id="R32a16d1e9d7a4713" /><Relationship Type="http://schemas.openxmlformats.org/officeDocument/2006/relationships/notesMaster" Target="/ppt/notesMasters/notesMaster1.xml" Id="Red2a1c47c63743fc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Sources: Supplied Basic Intravenous Therapy Certification manual, pages 51; BMHI IVT 030 course content. </a:t>
            </a:r>
          </a:p>
          <a:p xmlns:a="http://schemas.openxmlformats.org/drawingml/2006/main">
            <a:r>
              <a:t>Current legal reference: Florida Administrative Code Rule 64B9-12.005, effective July 20, 2023; Florida Statutes section 464.003 (2026). Instructor must verify current institutional policy and current drug/device guidance before use.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Sources: Supplied Basic Intravenous Therapy Certification manual, pages 51; BMHI IVT 030 course content. </a:t>
            </a:r>
          </a:p>
          <a:p xmlns:a="http://schemas.openxmlformats.org/drawingml/2006/main">
            <a:r>
              <a:t>Current legal reference: Florida Administrative Code Rule 64B9-12.005, effective July 20, 2023; Florida Statutes section 464.003 (2026). Instructor must verify current institutional policy and current drug/device guidance before use.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Sources: Supplied Basic Intravenous Therapy Certification manual, pages 51-63; BMHI IVT 030 course content. </a:t>
            </a:r>
          </a:p>
          <a:p xmlns:a="http://schemas.openxmlformats.org/drawingml/2006/main">
            <a:r>
              <a:t>Current legal reference: Florida Administrative Code Rule 64B9-12.005, effective July 20, 2023; Florida Statutes section 464.003 (2026). Instructor must verify current institutional policy and current drug/device guidance before use.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Sources: Supplied Basic Intravenous Therapy Certification manual, pages 51-63; BMHI IVT 030 course content. </a:t>
            </a:r>
          </a:p>
          <a:p xmlns:a="http://schemas.openxmlformats.org/drawingml/2006/main">
            <a:r>
              <a:t>Current legal reference: Florida Administrative Code Rule 64B9-12.005, effective July 20, 2023; Florida Statutes section 464.003 (2026). Instructor must verify current institutional policy and current drug/device guidance before use.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Sources: Supplied Basic Intravenous Therapy Certification manual, pages 51-63; BMHI IVT 030 course content. </a:t>
            </a:r>
          </a:p>
          <a:p xmlns:a="http://schemas.openxmlformats.org/drawingml/2006/main">
            <a:r>
              <a:t>Current legal reference: Florida Administrative Code Rule 64B9-12.005, effective July 20, 2023; Florida Statutes section 464.003 (2026). Instructor must verify current institutional policy and current drug/device guidance before use.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Sources: Supplied Basic Intravenous Therapy Certification manual, pages 51-63; BMHI IVT 030 course content. </a:t>
            </a:r>
          </a:p>
          <a:p xmlns:a="http://schemas.openxmlformats.org/drawingml/2006/main">
            <a:r>
              <a:t>Current legal reference: Florida Administrative Code Rule 64B9-12.005, effective July 20, 2023; Florida Statutes section 464.003 (2026). Instructor must verify current institutional policy and current drug/device guidance before use.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Sources: Supplied Basic Intravenous Therapy Certification manual, pages 51-63; BMHI IVT 030 course content. </a:t>
            </a:r>
          </a:p>
          <a:p xmlns:a="http://schemas.openxmlformats.org/drawingml/2006/main">
            <a:r>
              <a:t>Current legal reference: Florida Administrative Code Rule 64B9-12.005, effective July 20, 2023; Florida Statutes section 464.003 (2026). Instructor must verify current institutional policy and current drug/device guidance before use.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Sources: Supplied Basic Intravenous Therapy Certification manual, pages 51-63; BMHI IVT 030 course content. </a:t>
            </a:r>
          </a:p>
          <a:p xmlns:a="http://schemas.openxmlformats.org/drawingml/2006/main">
            <a:r>
              <a:t>Current legal reference: Florida Administrative Code Rule 64B9-12.005, effective July 20, 2023; Florida Statutes section 464.003 (2026). Instructor must verify current institutional policy and current drug/device guidance before use.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Sources: Supplied Basic Intravenous Therapy Certification manual, pages 51-63; BMHI IVT 030 course content. </a:t>
            </a:r>
          </a:p>
          <a:p xmlns:a="http://schemas.openxmlformats.org/drawingml/2006/main">
            <a:r>
              <a:t>Current legal reference: Florida Administrative Code Rule 64B9-12.005, effective July 20, 2023; Florida Statutes section 464.003 (2026). Instructor must verify current institutional policy and current drug/device guidance before use.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Sources: Supplied Basic Intravenous Therapy Certification manual, pages 51-63; BMHI IVT 030 course content. </a:t>
            </a:r>
          </a:p>
          <a:p xmlns:a="http://schemas.openxmlformats.org/drawingml/2006/main">
            <a:r>
              <a:t>Current legal reference: Florida Administrative Code Rule 64B9-12.005, effective July 20, 2023; Florida Statutes section 464.003 (2026). Instructor must verify current institutional policy and current drug/device guidance before use.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Sources: Supplied Basic Intravenous Therapy Certification manual, pages 51-63; BMHI IVT 030 course content. </a:t>
            </a:r>
          </a:p>
          <a:p xmlns:a="http://schemas.openxmlformats.org/drawingml/2006/main">
            <a:r>
              <a:t>Current legal reference: Florida Administrative Code Rule 64B9-12.005, effective July 20, 2023; Florida Statutes section 464.003 (2026). Instructor must verify current institutional policy and current drug/device guidance before use.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Sources: Supplied Basic Intravenous Therapy Certification manual, pages 51; BMHI IVT 030 course content. </a:t>
            </a:r>
          </a:p>
          <a:p xmlns:a="http://schemas.openxmlformats.org/drawingml/2006/main">
            <a:r>
              <a:t>Current legal reference: Florida Administrative Code Rule 64B9-12.005, effective July 20, 2023; Florida Statutes section 464.003 (2026). Instructor must verify current institutional policy and current drug/device guidance before use.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Sources: Supplied Basic Intravenous Therapy Certification manual, pages 51; BMHI IVT 030 course content. </a:t>
            </a:r>
          </a:p>
          <a:p xmlns:a="http://schemas.openxmlformats.org/drawingml/2006/main">
            <a:r>
              <a:t>Current legal reference: Florida Administrative Code Rule 64B9-12.005, effective July 20, 2023; Florida Statutes section 464.003 (2026). Instructor must verify current institutional policy and current drug/device guidance before use.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Sources: Supplied Basic Intravenous Therapy Certification manual, pages 52; BMHI IVT 030 course content. </a:t>
            </a:r>
          </a:p>
          <a:p xmlns:a="http://schemas.openxmlformats.org/drawingml/2006/main">
            <a:r>
              <a:t>Current legal reference: Florida Administrative Code Rule 64B9-12.005, effective July 20, 2023; Florida Statutes section 464.003 (2026). Instructor must verify current institutional policy and current drug/device guidance before use.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Sources: Supplied Basic Intravenous Therapy Certification manual, pages 52; BMHI IVT 030 course content. </a:t>
            </a:r>
          </a:p>
          <a:p xmlns:a="http://schemas.openxmlformats.org/drawingml/2006/main">
            <a:r>
              <a:t>Current legal reference: Florida Administrative Code Rule 64B9-12.005, effective July 20, 2023; Florida Statutes section 464.003 (2026). Instructor must verify current institutional policy and current drug/device guidance before use.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Sources: Supplied Basic Intravenous Therapy Certification manual, pages 53; BMHI IVT 030 course content. </a:t>
            </a:r>
          </a:p>
          <a:p xmlns:a="http://schemas.openxmlformats.org/drawingml/2006/main">
            <a:r>
              <a:t>Current legal reference: Florida Administrative Code Rule 64B9-12.005, effective July 20, 2023; Florida Statutes section 464.003 (2026). Instructor must verify current institutional policy and current drug/device guidance before use.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Sources: Supplied Basic Intravenous Therapy Certification manual, pages 53; BMHI IVT 030 course content. </a:t>
            </a:r>
          </a:p>
          <a:p xmlns:a="http://schemas.openxmlformats.org/drawingml/2006/main">
            <a:r>
              <a:t>Current legal reference: Florida Administrative Code Rule 64B9-12.005, effective July 20, 2023; Florida Statutes section 464.003 (2026). Instructor must verify current institutional policy and current drug/device guidance before use.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Sources: Supplied Basic Intravenous Therapy Certification manual, pages 53; BMHI IVT 030 course content. </a:t>
            </a:r>
          </a:p>
          <a:p xmlns:a="http://schemas.openxmlformats.org/drawingml/2006/main">
            <a:r>
              <a:t>Current legal reference: Florida Administrative Code Rule 64B9-12.005, effective July 20, 2023; Florida Statutes section 464.003 (2026). Instructor must verify current institutional policy and current drug/device guidance before use.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Sources: Supplied Basic Intravenous Therapy Certification manual, pages 53; BMHI IVT 030 course content. </a:t>
            </a:r>
          </a:p>
          <a:p xmlns:a="http://schemas.openxmlformats.org/drawingml/2006/main">
            <a:r>
              <a:t>Current legal reference: Florida Administrative Code Rule 64B9-12.005, effective July 20, 2023; Florida Statutes section 464.003 (2026). Instructor must verify current institutional policy and current drug/device guidance before use.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Sources: Supplied Basic Intravenous Therapy Certification manual, pages 53; BMHI IVT 030 course content. </a:t>
            </a:r>
          </a:p>
          <a:p xmlns:a="http://schemas.openxmlformats.org/drawingml/2006/main">
            <a:r>
              <a:t>Current legal reference: Florida Administrative Code Rule 64B9-12.005, effective July 20, 2023; Florida Statutes section 464.003 (2026). Instructor must verify current institutional policy and current drug/device guidance before use.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Sources: Supplied Basic Intravenous Therapy Certification manual, pages 53; BMHI IVT 030 course content. </a:t>
            </a:r>
          </a:p>
          <a:p xmlns:a="http://schemas.openxmlformats.org/drawingml/2006/main">
            <a:r>
              <a:t>Current legal reference: Florida Administrative Code Rule 64B9-12.005, effective July 20, 2023; Florida Statutes section 464.003 (2026). Instructor must verify current institutional policy and current drug/device guidance before use.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Sources: Supplied Basic Intravenous Therapy Certification manual, pages 54; BMHI IVT 030 course content. </a:t>
            </a:r>
          </a:p>
          <a:p xmlns:a="http://schemas.openxmlformats.org/drawingml/2006/main">
            <a:r>
              <a:t>Current legal reference: Florida Administrative Code Rule 64B9-12.005, effective July 20, 2023; Florida Statutes section 464.003 (2026). Instructor must verify current institutional policy and current drug/device guidance before use.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Sources: Supplied Basic Intravenous Therapy Certification manual, pages 54; BMHI IVT 030 course content. </a:t>
            </a:r>
          </a:p>
          <a:p xmlns:a="http://schemas.openxmlformats.org/drawingml/2006/main">
            <a:r>
              <a:t>Current legal reference: Florida Administrative Code Rule 64B9-12.005, effective July 20, 2023; Florida Statutes section 464.003 (2026). Instructor must verify current institutional policy and current drug/device guidance before use.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Sources: Supplied Basic Intravenous Therapy Certification manual, pages 54; BMHI IVT 030 course content. </a:t>
            </a:r>
          </a:p>
          <a:p xmlns:a="http://schemas.openxmlformats.org/drawingml/2006/main">
            <a:r>
              <a:t>Current legal reference: Florida Administrative Code Rule 64B9-12.005, effective July 20, 2023; Florida Statutes section 464.003 (2026). Instructor must verify current institutional policy and current drug/device guidance before use.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Sources: Supplied Basic Intravenous Therapy Certification manual, pages 54; BMHI IVT 030 course content. </a:t>
            </a:r>
          </a:p>
          <a:p xmlns:a="http://schemas.openxmlformats.org/drawingml/2006/main">
            <a:r>
              <a:t>Current legal reference: Florida Administrative Code Rule 64B9-12.005, effective July 20, 2023; Florida Statutes section 464.003 (2026). Instructor must verify current institutional policy and current drug/device guidance before use.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Sources: Supplied Basic Intravenous Therapy Certification manual, pages 54; BMHI IVT 030 course content. </a:t>
            </a:r>
          </a:p>
          <a:p xmlns:a="http://schemas.openxmlformats.org/drawingml/2006/main">
            <a:r>
              <a:t>Current legal reference: Florida Administrative Code Rule 64B9-12.005, effective July 20, 2023; Florida Statutes section 464.003 (2026). Instructor must verify current institutional policy and current drug/device guidance before use.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Sources: Supplied Basic Intravenous Therapy Certification manual, pages 54; BMHI IVT 030 course content. </a:t>
            </a:r>
          </a:p>
          <a:p xmlns:a="http://schemas.openxmlformats.org/drawingml/2006/main">
            <a:r>
              <a:t>Current legal reference: Florida Administrative Code Rule 64B9-12.005, effective July 20, 2023; Florida Statutes section 464.003 (2026). Instructor must verify current institutional policy and current drug/device guidance before use.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Sources: Supplied Basic Intravenous Therapy Certification manual, pages 55; BMHI IVT 030 course content. </a:t>
            </a:r>
          </a:p>
          <a:p xmlns:a="http://schemas.openxmlformats.org/drawingml/2006/main">
            <a:r>
              <a:t>Current legal reference: Florida Administrative Code Rule 64B9-12.005, effective July 20, 2023; Florida Statutes section 464.003 (2026). Instructor must verify current institutional policy and current drug/device guidance before use.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Sources: Supplied Basic Intravenous Therapy Certification manual, pages 55; BMHI IVT 030 course content. </a:t>
            </a:r>
          </a:p>
          <a:p xmlns:a="http://schemas.openxmlformats.org/drawingml/2006/main">
            <a:r>
              <a:t>Current legal reference: Florida Administrative Code Rule 64B9-12.005, effective July 20, 2023; Florida Statutes section 464.003 (2026). Instructor must verify current institutional policy and current drug/device guidance before use.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Sources: Supplied Basic Intravenous Therapy Certification manual, pages 55; BMHI IVT 030 course content. </a:t>
            </a:r>
          </a:p>
          <a:p xmlns:a="http://schemas.openxmlformats.org/drawingml/2006/main">
            <a:r>
              <a:t>Current legal reference: Florida Administrative Code Rule 64B9-12.005, effective July 20, 2023; Florida Statutes section 464.003 (2026). Instructor must verify current institutional policy and current drug/device guidance before use.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Sources: Supplied Basic Intravenous Therapy Certification manual, pages 55; BMHI IVT 030 course content. </a:t>
            </a:r>
          </a:p>
          <a:p xmlns:a="http://schemas.openxmlformats.org/drawingml/2006/main">
            <a:r>
              <a:t>Current legal reference: Florida Administrative Code Rule 64B9-12.005, effective July 20, 2023; Florida Statutes section 464.003 (2026). Instructor must verify current institutional policy and current drug/device guidance before use.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Sources: Supplied Basic Intravenous Therapy Certification manual, pages 55; BMHI IVT 030 course content. </a:t>
            </a:r>
          </a:p>
          <a:p xmlns:a="http://schemas.openxmlformats.org/drawingml/2006/main">
            <a:r>
              <a:t>Current legal reference: Florida Administrative Code Rule 64B9-12.005, effective July 20, 2023; Florida Statutes section 464.003 (2026). Instructor must verify current institutional policy and current drug/device guidance before use.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Sources: Supplied Basic Intravenous Therapy Certification manual, pages 55; BMHI IVT 030 course content. </a:t>
            </a:r>
          </a:p>
          <a:p xmlns:a="http://schemas.openxmlformats.org/drawingml/2006/main">
            <a:r>
              <a:t>Current legal reference: Florida Administrative Code Rule 64B9-12.005, effective July 20, 2023; Florida Statutes section 464.003 (2026). Instructor must verify current institutional policy and current drug/device guidance before use.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Sources: Supplied Basic Intravenous Therapy Certification manual, pages 55; BMHI IVT 030 course content. </a:t>
            </a:r>
          </a:p>
          <a:p xmlns:a="http://schemas.openxmlformats.org/drawingml/2006/main">
            <a:r>
              <a:t>Current legal reference: Florida Administrative Code Rule 64B9-12.005, effective July 20, 2023; Florida Statutes section 464.003 (2026). Instructor must verify current institutional policy and current drug/device guidance before use.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Sources: Supplied Basic Intravenous Therapy Certification manual, pages 55; BMHI IVT 030 course content. </a:t>
            </a:r>
          </a:p>
          <a:p xmlns:a="http://schemas.openxmlformats.org/drawingml/2006/main">
            <a:r>
              <a:t>Current legal reference: Florida Administrative Code Rule 64B9-12.005, effective July 20, 2023; Florida Statutes section 464.003 (2026). Instructor must verify current institutional policy and current drug/device guidance before use.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Sources: Supplied Basic Intravenous Therapy Certification manual, pages 55; BMHI IVT 030 course content. </a:t>
            </a:r>
          </a:p>
          <a:p xmlns:a="http://schemas.openxmlformats.org/drawingml/2006/main">
            <a:r>
              <a:t>Current legal reference: Florida Administrative Code Rule 64B9-12.005, effective July 20, 2023; Florida Statutes section 464.003 (2026). Instructor must verify current institutional policy and current drug/device guidance before use.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Sources: Supplied Basic Intravenous Therapy Certification manual, pages 56; BMHI IVT 030 course content. </a:t>
            </a:r>
          </a:p>
          <a:p xmlns:a="http://schemas.openxmlformats.org/drawingml/2006/main">
            <a:r>
              <a:t>Current legal reference: Florida Administrative Code Rule 64B9-12.005, effective July 20, 2023; Florida Statutes section 464.003 (2026). Instructor must verify current institutional policy and current drug/device guidance before use.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Sources: Supplied Basic Intravenous Therapy Certification manual, pages 56; BMHI IVT 030 course content. </a:t>
            </a:r>
          </a:p>
          <a:p xmlns:a="http://schemas.openxmlformats.org/drawingml/2006/main">
            <a:r>
              <a:t>Current legal reference: Florida Administrative Code Rule 64B9-12.005, effective July 20, 2023; Florida Statutes section 464.003 (2026). Instructor must verify current institutional policy and current drug/device guidance before use.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Sources: Supplied Basic Intravenous Therapy Certification manual, pages 56; BMHI IVT 030 course content. </a:t>
            </a:r>
          </a:p>
          <a:p xmlns:a="http://schemas.openxmlformats.org/drawingml/2006/main">
            <a:r>
              <a:t>Current legal reference: Florida Administrative Code Rule 64B9-12.005, effective July 20, 2023; Florida Statutes section 464.003 (2026). Instructor must verify current institutional policy and current drug/device guidance before use.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Sources: Supplied Basic Intravenous Therapy Certification manual, pages 56; BMHI IVT 030 course content. </a:t>
            </a:r>
          </a:p>
          <a:p xmlns:a="http://schemas.openxmlformats.org/drawingml/2006/main">
            <a:r>
              <a:t>Current legal reference: Florida Administrative Code Rule 64B9-12.005, effective July 20, 2023; Florida Statutes section 464.003 (2026). Instructor must verify current institutional policy and current drug/device guidance before use.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Sources: Supplied Basic Intravenous Therapy Certification manual, pages 56; BMHI IVT 030 course content. </a:t>
            </a:r>
          </a:p>
          <a:p xmlns:a="http://schemas.openxmlformats.org/drawingml/2006/main">
            <a:r>
              <a:t>Current legal reference: Florida Administrative Code Rule 64B9-12.005, effective July 20, 2023; Florida Statutes section 464.003 (2026). Instructor must verify current institutional policy and current drug/device guidance before use.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Sources: Supplied Basic Intravenous Therapy Certification manual, pages 56; BMHI IVT 030 course content. </a:t>
            </a:r>
          </a:p>
          <a:p xmlns:a="http://schemas.openxmlformats.org/drawingml/2006/main">
            <a:r>
              <a:t>Current legal reference: Florida Administrative Code Rule 64B9-12.005, effective July 20, 2023; Florida Statutes section 464.003 (2026). Instructor must verify current institutional policy and current drug/device guidance before use.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Sources: Supplied Basic Intravenous Therapy Certification manual, pages 56; BMHI IVT 030 course content. </a:t>
            </a:r>
          </a:p>
          <a:p xmlns:a="http://schemas.openxmlformats.org/drawingml/2006/main">
            <a:r>
              <a:t>Current legal reference: Florida Administrative Code Rule 64B9-12.005, effective July 20, 2023; Florida Statutes section 464.003 (2026). Instructor must verify current institutional policy and current drug/device guidance before use.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Sources: Supplied Basic Intravenous Therapy Certification manual, pages 56; BMHI IVT 030 course content. </a:t>
            </a:r>
          </a:p>
          <a:p xmlns:a="http://schemas.openxmlformats.org/drawingml/2006/main">
            <a:r>
              <a:t>Current legal reference: Florida Administrative Code Rule 64B9-12.005, effective July 20, 2023; Florida Statutes section 464.003 (2026). Instructor must verify current institutional policy and current drug/device guidance before use.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Sources: Supplied Basic Intravenous Therapy Certification manual, pages 57; BMHI IVT 030 course content. </a:t>
            </a:r>
          </a:p>
          <a:p xmlns:a="http://schemas.openxmlformats.org/drawingml/2006/main">
            <a:r>
              <a:t>Current legal reference: Florida Administrative Code Rule 64B9-12.005, effective July 20, 2023; Florida Statutes section 464.003 (2026). Instructor must verify current institutional policy and current drug/device guidance before use.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Sources: Supplied Basic Intravenous Therapy Certification manual, pages 57; BMHI IVT 030 course content. </a:t>
            </a:r>
          </a:p>
          <a:p xmlns:a="http://schemas.openxmlformats.org/drawingml/2006/main">
            <a:r>
              <a:t>Current legal reference: Florida Administrative Code Rule 64B9-12.005, effective July 20, 2023; Florida Statutes section 464.003 (2026). Instructor must verify current institutional policy and current drug/device guidance before use.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Sources: Supplied Basic Intravenous Therapy Certification manual, pages 57; BMHI IVT 030 course content. </a:t>
            </a:r>
          </a:p>
          <a:p xmlns:a="http://schemas.openxmlformats.org/drawingml/2006/main">
            <a:r>
              <a:t>Current legal reference: Florida Administrative Code Rule 64B9-12.005, effective July 20, 2023; Florida Statutes section 464.003 (2026). Instructor must verify current institutional policy and current drug/device guidance before use.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Sources: Supplied Basic Intravenous Therapy Certification manual, pages 57; BMHI IVT 030 course content. </a:t>
            </a:r>
          </a:p>
          <a:p xmlns:a="http://schemas.openxmlformats.org/drawingml/2006/main">
            <a:r>
              <a:t>Current legal reference: Florida Administrative Code Rule 64B9-12.005, effective July 20, 2023; Florida Statutes section 464.003 (2026). Instructor must verify current institutional policy and current drug/device guidance before use.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Sources: Supplied Basic Intravenous Therapy Certification manual, pages 57; BMHI IVT 030 course content. </a:t>
            </a:r>
          </a:p>
          <a:p xmlns:a="http://schemas.openxmlformats.org/drawingml/2006/main">
            <a:r>
              <a:t>Current legal reference: Florida Administrative Code Rule 64B9-12.005, effective July 20, 2023; Florida Statutes section 464.003 (2026). Instructor must verify current institutional policy and current drug/device guidance before use.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Sources: Supplied Basic Intravenous Therapy Certification manual, pages 57; BMHI IVT 030 course content. </a:t>
            </a:r>
          </a:p>
          <a:p xmlns:a="http://schemas.openxmlformats.org/drawingml/2006/main">
            <a:r>
              <a:t>Current legal reference: Florida Administrative Code Rule 64B9-12.005, effective July 20, 2023; Florida Statutes section 464.003 (2026). Instructor must verify current institutional policy and current drug/device guidance before use.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Sources: Supplied Basic Intravenous Therapy Certification manual, pages 57; BMHI IVT 030 course content. </a:t>
            </a:r>
          </a:p>
          <a:p xmlns:a="http://schemas.openxmlformats.org/drawingml/2006/main">
            <a:r>
              <a:t>Current legal reference: Florida Administrative Code Rule 64B9-12.005, effective July 20, 2023; Florida Statutes section 464.003 (2026). Instructor must verify current institutional policy and current drug/device guidance before use.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Sources: Supplied Basic Intravenous Therapy Certification manual, pages 58; BMHI IVT 030 course content. </a:t>
            </a:r>
          </a:p>
          <a:p xmlns:a="http://schemas.openxmlformats.org/drawingml/2006/main">
            <a:r>
              <a:t>Current legal reference: Florida Administrative Code Rule 64B9-12.005, effective July 20, 2023; Florida Statutes section 464.003 (2026). Instructor must verify current institutional policy and current drug/device guidance before use.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Sources: Supplied Basic Intravenous Therapy Certification manual, pages 58; BMHI IVT 030 course content. </a:t>
            </a:r>
          </a:p>
          <a:p xmlns:a="http://schemas.openxmlformats.org/drawingml/2006/main">
            <a:r>
              <a:t>Current legal reference: Florida Administrative Code Rule 64B9-12.005, effective July 20, 2023; Florida Statutes section 464.003 (2026). Instructor must verify current institutional policy and current drug/device guidance before use.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Sources: Supplied Basic Intravenous Therapy Certification manual, pages 58; BMHI IVT 030 course content. </a:t>
            </a:r>
          </a:p>
          <a:p xmlns:a="http://schemas.openxmlformats.org/drawingml/2006/main">
            <a:r>
              <a:t>Current legal reference: Florida Administrative Code Rule 64B9-12.005, effective July 20, 2023; Florida Statutes section 464.003 (2026). Instructor must verify current institutional policy and current drug/device guidance before use.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Sources: Supplied Basic Intravenous Therapy Certification manual, pages 58; BMHI IVT 030 course content. </a:t>
            </a:r>
          </a:p>
          <a:p xmlns:a="http://schemas.openxmlformats.org/drawingml/2006/main">
            <a:r>
              <a:t>Current legal reference: Florida Administrative Code Rule 64B9-12.005, effective July 20, 2023; Florida Statutes section 464.003 (2026). Instructor must verify current institutional policy and current drug/device guidance before use.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Sources: Supplied Basic Intravenous Therapy Certification manual, pages 58; BMHI IVT 030 course content. </a:t>
            </a:r>
          </a:p>
          <a:p xmlns:a="http://schemas.openxmlformats.org/drawingml/2006/main">
            <a:r>
              <a:t>Current legal reference: Florida Administrative Code Rule 64B9-12.005, effective July 20, 2023; Florida Statutes section 464.003 (2026). Instructor must verify current institutional policy and current drug/device guidance before use.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Sources: Supplied Basic Intravenous Therapy Certification manual, pages 58; BMHI IVT 030 course content. </a:t>
            </a:r>
          </a:p>
          <a:p xmlns:a="http://schemas.openxmlformats.org/drawingml/2006/main">
            <a:r>
              <a:t>Current legal reference: Florida Administrative Code Rule 64B9-12.005, effective July 20, 2023; Florida Statutes section 464.003 (2026). Instructor must verify current institutional policy and current drug/device guidance before use.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Sources: Supplied Basic Intravenous Therapy Certification manual, pages 58; BMHI IVT 030 course content. </a:t>
            </a:r>
          </a:p>
          <a:p xmlns:a="http://schemas.openxmlformats.org/drawingml/2006/main">
            <a:r>
              <a:t>Current legal reference: Florida Administrative Code Rule 64B9-12.005, effective July 20, 2023; Florida Statutes section 464.003 (2026). Instructor must verify current institutional policy and current drug/device guidance before use.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Sources: Supplied Basic Intravenous Therapy Certification manual, pages 59; BMHI IVT 030 course content. </a:t>
            </a:r>
          </a:p>
          <a:p xmlns:a="http://schemas.openxmlformats.org/drawingml/2006/main">
            <a:r>
              <a:t>Current legal reference: Florida Administrative Code Rule 64B9-12.005, effective July 20, 2023; Florida Statutes section 464.003 (2026). Instructor must verify current institutional policy and current drug/device guidance before use.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Sources: Supplied Basic Intravenous Therapy Certification manual, pages 59; BMHI IVT 030 course content. </a:t>
            </a:r>
          </a:p>
          <a:p xmlns:a="http://schemas.openxmlformats.org/drawingml/2006/main">
            <a:r>
              <a:t>Current legal reference: Florida Administrative Code Rule 64B9-12.005, effective July 20, 2023; Florida Statutes section 464.003 (2026). Instructor must verify current institutional policy and current drug/device guidance before use.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Sources: Supplied Basic Intravenous Therapy Certification manual, pages 59; BMHI IVT 030 course content. </a:t>
            </a:r>
          </a:p>
          <a:p xmlns:a="http://schemas.openxmlformats.org/drawingml/2006/main">
            <a:r>
              <a:t>Current legal reference: Florida Administrative Code Rule 64B9-12.005, effective July 20, 2023; Florida Statutes section 464.003 (2026). Instructor must verify current institutional policy and current drug/device guidance before use.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Sources: Supplied Basic Intravenous Therapy Certification manual, pages 59; BMHI IVT 030 course content. </a:t>
            </a:r>
          </a:p>
          <a:p xmlns:a="http://schemas.openxmlformats.org/drawingml/2006/main">
            <a:r>
              <a:t>Current legal reference: Florida Administrative Code Rule 64B9-12.005, effective July 20, 2023; Florida Statutes section 464.003 (2026). Instructor must verify current institutional policy and current drug/device guidance before use.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Sources: Supplied Basic Intravenous Therapy Certification manual, pages 59; BMHI IVT 030 course content. </a:t>
            </a:r>
          </a:p>
          <a:p xmlns:a="http://schemas.openxmlformats.org/drawingml/2006/main">
            <a:r>
              <a:t>Current legal reference: Florida Administrative Code Rule 64B9-12.005, effective July 20, 2023; Florida Statutes section 464.003 (2026). Instructor must verify current institutional policy and current drug/device guidance before use.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Sources: Supplied Basic Intravenous Therapy Certification manual, pages 59; BMHI IVT 030 course content. </a:t>
            </a:r>
          </a:p>
          <a:p xmlns:a="http://schemas.openxmlformats.org/drawingml/2006/main">
            <a:r>
              <a:t>Current legal reference: Florida Administrative Code Rule 64B9-12.005, effective July 20, 2023; Florida Statutes section 464.003 (2026). Instructor must verify current institutional policy and current drug/device guidance before use.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Sources: Supplied Basic Intravenous Therapy Certification manual, pages 60; BMHI IVT 030 course content. </a:t>
            </a:r>
          </a:p>
          <a:p xmlns:a="http://schemas.openxmlformats.org/drawingml/2006/main">
            <a:r>
              <a:t>Current legal reference: Florida Administrative Code Rule 64B9-12.005, effective July 20, 2023; Florida Statutes section 464.003 (2026). Instructor must verify current institutional policy and current drug/device guidance before use.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Sources: Supplied Basic Intravenous Therapy Certification manual, pages 60; BMHI IVT 030 course content. </a:t>
            </a:r>
          </a:p>
          <a:p xmlns:a="http://schemas.openxmlformats.org/drawingml/2006/main">
            <a:r>
              <a:t>Current legal reference: Florida Administrative Code Rule 64B9-12.005, effective July 20, 2023; Florida Statutes section 464.003 (2026). Instructor must verify current institutional policy and current drug/device guidance before use.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Sources: Supplied Basic Intravenous Therapy Certification manual, pages 60; BMHI IVT 030 course content. </a:t>
            </a:r>
          </a:p>
          <a:p xmlns:a="http://schemas.openxmlformats.org/drawingml/2006/main">
            <a:r>
              <a:t>Current legal reference: Florida Administrative Code Rule 64B9-12.005, effective July 20, 2023; Florida Statutes section 464.003 (2026). Instructor must verify current institutional policy and current drug/device guidance before use.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Sources: Supplied Basic Intravenous Therapy Certification manual, pages 60; BMHI IVT 030 course content. </a:t>
            </a:r>
          </a:p>
          <a:p xmlns:a="http://schemas.openxmlformats.org/drawingml/2006/main">
            <a:r>
              <a:t>Current legal reference: Florida Administrative Code Rule 64B9-12.005, effective July 20, 2023; Florida Statutes section 464.003 (2026). Instructor must verify current institutional policy and current drug/device guidance before use.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Sources: Supplied Basic Intravenous Therapy Certification manual, pages 60; BMHI IVT 030 course content. </a:t>
            </a:r>
          </a:p>
          <a:p xmlns:a="http://schemas.openxmlformats.org/drawingml/2006/main">
            <a:r>
              <a:t>Current legal reference: Florida Administrative Code Rule 64B9-12.005, effective July 20, 2023; Florida Statutes section 464.003 (2026). Instructor must verify current institutional policy and current drug/device guidance before use.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Sources: Supplied Basic Intravenous Therapy Certification manual, pages 61; BMHI IVT 030 course content. </a:t>
            </a:r>
          </a:p>
          <a:p xmlns:a="http://schemas.openxmlformats.org/drawingml/2006/main">
            <a:r>
              <a:t>Current legal reference: Florida Administrative Code Rule 64B9-12.005, effective July 20, 2023; Florida Statutes section 464.003 (2026). Instructor must verify current institutional policy and current drug/device guidance before use.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Sources: Supplied Basic Intravenous Therapy Certification manual, pages 61; BMHI IVT 030 course content. </a:t>
            </a:r>
          </a:p>
          <a:p xmlns:a="http://schemas.openxmlformats.org/drawingml/2006/main">
            <a:r>
              <a:t>Current legal reference: Florida Administrative Code Rule 64B9-12.005, effective July 20, 2023; Florida Statutes section 464.003 (2026). Instructor must verify current institutional policy and current drug/device guidance before use.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Sources: Supplied Basic Intravenous Therapy Certification manual, pages 61; BMHI IVT 030 course content. </a:t>
            </a:r>
          </a:p>
          <a:p xmlns:a="http://schemas.openxmlformats.org/drawingml/2006/main">
            <a:r>
              <a:t>Current legal reference: Florida Administrative Code Rule 64B9-12.005, effective July 20, 2023; Florida Statutes section 464.003 (2026). Instructor must verify current institutional policy and current drug/device guidance before use.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Sources: Supplied Basic Intravenous Therapy Certification manual, pages 61; BMHI IVT 030 course content. </a:t>
            </a:r>
          </a:p>
          <a:p xmlns:a="http://schemas.openxmlformats.org/drawingml/2006/main">
            <a:r>
              <a:t>Current legal reference: Florida Administrative Code Rule 64B9-12.005, effective July 20, 2023; Florida Statutes section 464.003 (2026). Instructor must verify current institutional policy and current drug/device guidance before use.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Sources: Supplied Basic Intravenous Therapy Certification manual, pages 51; BMHI IVT 030 course content. Online preparation precedes live practice.</a:t>
            </a:r>
          </a:p>
          <a:p xmlns:a="http://schemas.openxmlformats.org/drawingml/2006/main">
            <a:r>
              <a:t>Current legal reference: Florida Administrative Code Rule 64B9-12.005, effective July 20, 2023; Florida Statutes section 464.003 (2026). Instructor must verify current institutional policy and current drug/device guidance before use.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Sources: Supplied Basic Intravenous Therapy Certification manual, pages 51; BMHI IVT 030 course content. </a:t>
            </a:r>
          </a:p>
          <a:p xmlns:a="http://schemas.openxmlformats.org/drawingml/2006/main">
            <a:r>
              <a:t>Current legal reference: Florida Administrative Code Rule 64B9-12.005, effective July 20, 2023; Florida Statutes section 464.003 (2026). Instructor must verify current institutional policy and current drug/device guidance before use.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e55b407a27f94a56" /></Relationships>
</file>

<file path=ppt/slideLayouts/_rels/slideLayout2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21e73dafda54405a" /></Relationships>
</file>

<file path=ppt/slideLayouts/_rels/slideLayout3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22f9f9122cf94ef3" /></Relationships>
</file>

<file path=ppt/slideLayouts/_rels/slideLayout4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ff0bc002fde04a35" /></Relationships>
</file>

<file path=ppt/slideLayouts/_rels/slideLayout5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ac4b378bc80a457c" /></Relationships>
</file>

<file path=ppt/slideLayouts/_rels/slideLayout6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b01f1d0c6c764e68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F4BE9E8E-8347-4618-B35C-A536D4B8E0A2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1219200" y="2590800"/>
            <a:ext cx="9753600" cy="990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>
            <a:defPPr algn="ctr"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1pPr>
            <a:lvl2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2pPr>
            <a:lvl3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3pPr>
            <a:lvl4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4pPr>
            <a:lvl5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5pPr>
            <a:lvl6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6pPr>
            <a:lvl7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7pPr>
            <a:lvl8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8pPr>
            <a:lvl9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9pPr>
          </a:lstStyle>
          <a:p xmlns:a="http://schemas.openxmlformats.org/drawingml/2006/main"/>
        </p:txBody>
      </p:sp>
      <p:sp>
        <p:nvSpPr>
          <p:cNvPr id="2" name="Subtitle">
            <a:extLst xmlns:a="http://schemas.openxmlformats.org/drawingml/2006/main">
              <a:ext uri="{FF2B5EF4-FFF2-40B4-BE49-F238E27FC236}">
                <a16:creationId xmlns:a16="http://schemas.microsoft.com/office/drawing/2014/main" id="{82E46AB3-4165-48EF-8ADF-E74066B30729}"/>
              </a:ext>
            </a:extLst>
          </p:cNvPr>
          <p:cNvSpPr>
            <a:spLocks xmlns:a="http://schemas.openxmlformats.org/drawingml/2006/main" noGrp="1"/>
          </p:cNvSpPr>
          <p:nvPr>
            <p:ph type="subTitle" idx="1"/>
          </p:nvPr>
        </p:nvSpPr>
        <p:spPr>
          <a:xfrm xmlns:a="http://schemas.openxmlformats.org/drawingml/2006/main">
            <a:off x="1828800" y="3771900"/>
            <a:ext cx="85344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>
            <a:defPPr algn="ctr"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/>
        </p:txBody>
      </p:sp>
    </p:spTree>
  </p:cSld>
</p:sldLayout>
</file>

<file path=ppt/slideLayouts/slideLayout2.xml><?xml version="1.0" encoding="utf-8"?>
<p:sldLayout xmlns:p="http://schemas.openxmlformats.org/presentationml/2006/main">
  <p:cSld name="Section Header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ection title">
            <a:extLst xmlns:a="http://schemas.openxmlformats.org/drawingml/2006/main">
              <a:ext uri="{FF2B5EF4-FFF2-40B4-BE49-F238E27FC236}">
                <a16:creationId xmlns:a16="http://schemas.microsoft.com/office/drawing/2014/main" id="{6BF7C585-9871-467B-B5E5-CBA21515CFB0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1219200" y="2857500"/>
            <a:ext cx="9753600" cy="1143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>
            <a:defPPr algn="ctr"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1pPr>
            <a:lvl2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2pPr>
            <a:lvl3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3pPr>
            <a:lvl4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4pPr>
            <a:lvl5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5pPr>
            <a:lvl6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6pPr>
            <a:lvl7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7pPr>
            <a:lvl8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8pPr>
            <a:lvl9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9pPr>
          </a:lstStyle>
          <a:p xmlns:a="http://schemas.openxmlformats.org/drawingml/2006/main"/>
        </p:txBody>
      </p:sp>
    </p:spTree>
  </p:cSld>
</p:sldLayout>
</file>

<file path=ppt/slideLayouts/slideLayout3.xml><?xml version="1.0" encoding="utf-8"?>
<p:sldLayout xmlns:p="http://schemas.openxmlformats.org/presentationml/2006/main">
  <p:cSld name="Title and Body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754E582F-1B6F-4AB7-9865-AD7F828D2C12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85800" y="533400"/>
            <a:ext cx="108204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1pPr>
            <a:lvl2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2pPr>
            <a:lvl3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3pPr>
            <a:lvl4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4pPr>
            <a:lvl5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5pPr>
            <a:lvl6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6pPr>
            <a:lvl7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7pPr>
            <a:lvl8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8pPr>
            <a:lvl9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9pPr>
          </a:lstStyle>
          <a:p xmlns:a="http://schemas.openxmlformats.org/drawingml/2006/main"/>
        </p:txBody>
      </p:sp>
      <p:sp>
        <p:nvSpPr>
          <p:cNvPr id="2" name="Body">
            <a:extLst xmlns:a="http://schemas.openxmlformats.org/drawingml/2006/main">
              <a:ext uri="{FF2B5EF4-FFF2-40B4-BE49-F238E27FC236}">
                <a16:creationId xmlns:a16="http://schemas.microsoft.com/office/drawing/2014/main" id="{B11D3FD9-7A5C-4B76-B08B-2D794B2BA38C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685800" y="1905000"/>
            <a:ext cx="108204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533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838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143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14478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1752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057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2362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2667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/>
        </p:txBody>
      </p:sp>
    </p:spTree>
  </p:cSld>
</p:sldLayout>
</file>

<file path=ppt/slideLayouts/slideLayout4.xml><?xml version="1.0" encoding="utf-8"?>
<p:sldLayout xmlns:p="http://schemas.openxmlformats.org/presentationml/2006/main">
  <p:cSld name="Title and Two Column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" name="Title">
            <a:extLst xmlns:a="http://schemas.openxmlformats.org/drawingml/2006/main">
              <a:ext uri="{FF2B5EF4-FFF2-40B4-BE49-F238E27FC236}">
                <a16:creationId xmlns:a16="http://schemas.microsoft.com/office/drawing/2014/main" id="{A888AC9A-A8EA-4541-83E5-505FE5D1D7CF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85800" y="533400"/>
            <a:ext cx="108204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1pPr>
            <a:lvl2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2pPr>
            <a:lvl3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3pPr>
            <a:lvl4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4pPr>
            <a:lvl5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5pPr>
            <a:lvl6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6pPr>
            <a:lvl7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7pPr>
            <a:lvl8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8pPr>
            <a:lvl9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9pPr>
          </a:lstStyle>
          <a:p xmlns:a="http://schemas.openxmlformats.org/drawingml/2006/main"/>
        </p:txBody>
      </p:sp>
      <p:sp>
        <p:nvSpPr>
          <p:cNvPr id="2" name="Left column">
            <a:extLst xmlns:a="http://schemas.openxmlformats.org/drawingml/2006/main">
              <a:ext uri="{FF2B5EF4-FFF2-40B4-BE49-F238E27FC236}">
                <a16:creationId xmlns:a16="http://schemas.microsoft.com/office/drawing/2014/main" id="{937DDEA7-888D-4EB0-B287-292951084A06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685800" y="1905000"/>
            <a:ext cx="50292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533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838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143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14478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1752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057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2362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2667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/>
        </p:txBody>
      </p:sp>
      <p:sp>
        <p:nvSpPr>
          <p:cNvPr id="3" name="Right column">
            <a:extLst xmlns:a="http://schemas.openxmlformats.org/drawingml/2006/main">
              <a:ext uri="{FF2B5EF4-FFF2-40B4-BE49-F238E27FC236}">
                <a16:creationId xmlns:a16="http://schemas.microsoft.com/office/drawing/2014/main" id="{017A3A3D-6C42-4663-AF24-8EFA4E164432}"/>
              </a:ext>
            </a:extLst>
          </p:cNvPr>
          <p:cNvSpPr>
            <a:spLocks xmlns:a="http://schemas.openxmlformats.org/drawingml/2006/main" noGrp="1"/>
          </p:cNvSpPr>
          <p:nvPr>
            <p:ph type="body" idx="2"/>
          </p:nvPr>
        </p:nvSpPr>
        <p:spPr>
          <a:xfrm xmlns:a="http://schemas.openxmlformats.org/drawingml/2006/main">
            <a:off x="6477000" y="1905000"/>
            <a:ext cx="50292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533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838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143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14478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1752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057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2362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2667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/>
        </p:txBody>
      </p:sp>
    </p:spTree>
  </p:cSld>
</p:sldLayout>
</file>

<file path=ppt/slideLayouts/slideLayout5.xml><?xml version="1.0" encoding="utf-8"?>
<p:sldLayout xmlns:p="http://schemas.openxmlformats.org/presentationml/2006/main">
  <p:cSld name="Title and One Column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6420149D-B1DB-4665-8D81-6355A214FC2B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85800" y="533400"/>
            <a:ext cx="108204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1pPr>
            <a:lvl2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2pPr>
            <a:lvl3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3pPr>
            <a:lvl4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4pPr>
            <a:lvl5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5pPr>
            <a:lvl6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6pPr>
            <a:lvl7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7pPr>
            <a:lvl8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8pPr>
            <a:lvl9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9pPr>
          </a:lstStyle>
          <a:p xmlns:a="http://schemas.openxmlformats.org/drawingml/2006/main"/>
        </p:txBody>
      </p:sp>
      <p:sp>
        <p:nvSpPr>
          <p:cNvPr id="2" name="Left column">
            <a:extLst xmlns:a="http://schemas.openxmlformats.org/drawingml/2006/main">
              <a:ext uri="{FF2B5EF4-FFF2-40B4-BE49-F238E27FC236}">
                <a16:creationId xmlns:a16="http://schemas.microsoft.com/office/drawing/2014/main" id="{0D431902-8E77-443A-9E86-9212800B9A98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685800" y="1905000"/>
            <a:ext cx="50292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533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838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143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14478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1752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057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2362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2667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/>
        </p:txBody>
      </p:sp>
    </p:spTree>
  </p:cSld>
</p:sldLayout>
</file>

<file path=ppt/slideLayouts/slideLayout6.xml><?xml version="1.0" encoding="utf-8"?>
<p:sldLayout xmlns:p="http://schemas.openxmlformats.org/presentationml/2006/main" type="blank">
  <p:cSld name="Blank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e455fe7262cd4eb2" /><Relationship Type="http://schemas.openxmlformats.org/officeDocument/2006/relationships/slideLayout" Target="/ppt/slideLayouts/slideLayout1.xml" Id="R1245f4dc4f8d4d3f" /><Relationship Type="http://schemas.openxmlformats.org/officeDocument/2006/relationships/slideLayout" Target="/ppt/slideLayouts/slideLayout2.xml" Id="Rc961819a0b754086" /><Relationship Type="http://schemas.openxmlformats.org/officeDocument/2006/relationships/slideLayout" Target="/ppt/slideLayouts/slideLayout3.xml" Id="Rab3ab7a7be924952" /><Relationship Type="http://schemas.openxmlformats.org/officeDocument/2006/relationships/slideLayout" Target="/ppt/slideLayouts/slideLayout4.xml" Id="R95742e7e6ede483c" /><Relationship Type="http://schemas.openxmlformats.org/officeDocument/2006/relationships/slideLayout" Target="/ppt/slideLayouts/slideLayout5.xml" Id="Ra823801d48224691" /><Relationship Type="http://schemas.openxmlformats.org/officeDocument/2006/relationships/slideLayout" Target="/ppt/slideLayouts/slideLayout6.xml" Id="R84d8f405e74943e9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1245f4dc4f8d4d3f"/>
    <p:sldLayoutId xmlns:r="http://schemas.openxmlformats.org/officeDocument/2006/relationships" id="2147483650" r:id="Rc961819a0b754086"/>
    <p:sldLayoutId xmlns:r="http://schemas.openxmlformats.org/officeDocument/2006/relationships" id="2147483651" r:id="Rab3ab7a7be924952"/>
    <p:sldLayoutId xmlns:r="http://schemas.openxmlformats.org/officeDocument/2006/relationships" id="2147483652" r:id="R95742e7e6ede483c"/>
    <p:sldLayoutId xmlns:r="http://schemas.openxmlformats.org/officeDocument/2006/relationships" id="2147483653" r:id="Ra823801d48224691"/>
    <p:sldLayoutId xmlns:r="http://schemas.openxmlformats.org/officeDocument/2006/relationships" id="2147483654" r:id="R84d8f405e74943e9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6f5f8d8062fd4f36" /><Relationship Type="http://schemas.openxmlformats.org/officeDocument/2006/relationships/notesSlide" Target="/ppt/notesSlides/notesSlide1.xml" Id="R01d7d9a8d55f4d18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cb8674a29ebd407e" /><Relationship Type="http://schemas.openxmlformats.org/officeDocument/2006/relationships/notesSlide" Target="/ppt/notesSlides/notesSlide2.xml" Id="R21b9f7398f424f28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62b31077ab3245cc" /><Relationship Type="http://schemas.openxmlformats.org/officeDocument/2006/relationships/notesSlide" Target="/ppt/notesSlides/notesSlide3.xml" Id="R87297167c1494d24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5cbbd8e82a7a4bd4" /><Relationship Type="http://schemas.openxmlformats.org/officeDocument/2006/relationships/notesSlide" Target="/ppt/notesSlides/notesSlide4.xml" Id="R89e251c37b88495b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1815f9b043724b77" /><Relationship Type="http://schemas.openxmlformats.org/officeDocument/2006/relationships/notesSlide" Target="/ppt/notesSlides/notesSlide5.xml" Id="Rb45d8e9f11ff4d07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ceddc322c6ca4b6b" /><Relationship Type="http://schemas.openxmlformats.org/officeDocument/2006/relationships/notesSlide" Target="/ppt/notesSlides/notesSlide6.xml" Id="R8ab18ce5c08a4ed3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8e7d149a4c1343fb" /><Relationship Type="http://schemas.openxmlformats.org/officeDocument/2006/relationships/notesSlide" Target="/ppt/notesSlides/notesSlide7.xml" Id="Rc3553502b23f48e1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ca7b302e96bd41bf" /><Relationship Type="http://schemas.openxmlformats.org/officeDocument/2006/relationships/notesSlide" Target="/ppt/notesSlides/notesSlide8.xml" Id="R2b59c72e28664ad0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d877f0a2c3cb400f" /><Relationship Type="http://schemas.openxmlformats.org/officeDocument/2006/relationships/notesSlide" Target="/ppt/notesSlides/notesSlide9.xml" Id="R507822c6beae4536" /></Relationships>
</file>

<file path=ppt/slides/_rels/slide10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907b9162e9664cd6" /><Relationship Type="http://schemas.openxmlformats.org/officeDocument/2006/relationships/notesSlide" Target="/ppt/notesSlides/notesSlide10.xml" Id="R3181973ee43c474f" /></Relationships>
</file>

<file path=ppt/slides/_rels/slide11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ab62c738277c4972" /><Relationship Type="http://schemas.openxmlformats.org/officeDocument/2006/relationships/notesSlide" Target="/ppt/notesSlides/notesSlide11.xml" Id="Racb33dab2b9941b9" /></Relationships>
</file>

<file path=ppt/slides/_rels/slide12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3f0c4ccbf8044fd7" /><Relationship Type="http://schemas.openxmlformats.org/officeDocument/2006/relationships/notesSlide" Target="/ppt/notesSlides/notesSlide12.xml" Id="R051d391ed69845ac" /></Relationships>
</file>

<file path=ppt/slides/_rels/slide13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1127baeb9f934486" /><Relationship Type="http://schemas.openxmlformats.org/officeDocument/2006/relationships/notesSlide" Target="/ppt/notesSlides/notesSlide13.xml" Id="R92f1d7b53c68461d" /></Relationships>
</file>

<file path=ppt/slides/_rels/slide14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7819b4c52d4b475f" /><Relationship Type="http://schemas.openxmlformats.org/officeDocument/2006/relationships/notesSlide" Target="/ppt/notesSlides/notesSlide14.xml" Id="Rf53ea1afe8e94688" /></Relationships>
</file>

<file path=ppt/slides/_rels/slide15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938418871b254dc3" /><Relationship Type="http://schemas.openxmlformats.org/officeDocument/2006/relationships/notesSlide" Target="/ppt/notesSlides/notesSlide15.xml" Id="Rcdddcdf3034e4f56" /></Relationships>
</file>

<file path=ppt/slides/_rels/slide16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849b9900d0d54107" /><Relationship Type="http://schemas.openxmlformats.org/officeDocument/2006/relationships/notesSlide" Target="/ppt/notesSlides/notesSlide16.xml" Id="R2b53b89535654f95" /></Relationships>
</file>

<file path=ppt/slides/_rels/slide17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c624f5f71ea24a22" /><Relationship Type="http://schemas.openxmlformats.org/officeDocument/2006/relationships/notesSlide" Target="/ppt/notesSlides/notesSlide17.xml" Id="Rf05353d80cc9449c" /></Relationships>
</file>

<file path=ppt/slides/_rels/slide18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ebc1ab535a9d42c6" /><Relationship Type="http://schemas.openxmlformats.org/officeDocument/2006/relationships/notesSlide" Target="/ppt/notesSlides/notesSlide18.xml" Id="R9126bf5e6fff4163" /></Relationships>
</file>

<file path=ppt/slides/_rels/slide19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d2724f2344754a79" /><Relationship Type="http://schemas.openxmlformats.org/officeDocument/2006/relationships/notesSlide" Target="/ppt/notesSlides/notesSlide19.xml" Id="Rb1f7026808024858" /></Relationships>
</file>

<file path=ppt/slides/_rels/slide20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e1c031b0a42243c9" /><Relationship Type="http://schemas.openxmlformats.org/officeDocument/2006/relationships/notesSlide" Target="/ppt/notesSlides/notesSlide20.xml" Id="Rdfa70c6f13aa417b" /></Relationships>
</file>

<file path=ppt/slides/_rels/slide21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9edf96d976944af0" /><Relationship Type="http://schemas.openxmlformats.org/officeDocument/2006/relationships/notesSlide" Target="/ppt/notesSlides/notesSlide21.xml" Id="R7ecb9f1e064f4aff" /></Relationships>
</file>

<file path=ppt/slides/_rels/slide22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fb7d6138e28b4d4c" /><Relationship Type="http://schemas.openxmlformats.org/officeDocument/2006/relationships/notesSlide" Target="/ppt/notesSlides/notesSlide22.xml" Id="R021c156056404676" /></Relationships>
</file>

<file path=ppt/slides/_rels/slide23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89cee3a460634be6" /><Relationship Type="http://schemas.openxmlformats.org/officeDocument/2006/relationships/notesSlide" Target="/ppt/notesSlides/notesSlide23.xml" Id="Rab40dd16884b4280" /></Relationships>
</file>

<file path=ppt/slides/_rels/slide24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01681bd11daf4dc6" /><Relationship Type="http://schemas.openxmlformats.org/officeDocument/2006/relationships/notesSlide" Target="/ppt/notesSlides/notesSlide24.xml" Id="Rfe2ee81277b842e4" /></Relationships>
</file>

<file path=ppt/slides/_rels/slide25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d9299c4c96a542fd" /><Relationship Type="http://schemas.openxmlformats.org/officeDocument/2006/relationships/notesSlide" Target="/ppt/notesSlides/notesSlide25.xml" Id="R92b2acbcbdb24cc1" /></Relationships>
</file>

<file path=ppt/slides/_rels/slide26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19cdb6ba4a5d4c25" /><Relationship Type="http://schemas.openxmlformats.org/officeDocument/2006/relationships/notesSlide" Target="/ppt/notesSlides/notesSlide26.xml" Id="Rc606f4f5d77d453f" /></Relationships>
</file>

<file path=ppt/slides/_rels/slide27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a54726ecfaf84cff" /><Relationship Type="http://schemas.openxmlformats.org/officeDocument/2006/relationships/notesSlide" Target="/ppt/notesSlides/notesSlide27.xml" Id="R8f2a941edd5c4dab" /></Relationships>
</file>

<file path=ppt/slides/_rels/slide28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8af3b7101ee94b1d" /><Relationship Type="http://schemas.openxmlformats.org/officeDocument/2006/relationships/notesSlide" Target="/ppt/notesSlides/notesSlide28.xml" Id="R478b964fdc2b4a6b" /></Relationships>
</file>

<file path=ppt/slides/_rels/slide29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bf845136c930401a" /><Relationship Type="http://schemas.openxmlformats.org/officeDocument/2006/relationships/notesSlide" Target="/ppt/notesSlides/notesSlide29.xml" Id="R8fa04b350a564032" /></Relationships>
</file>

<file path=ppt/slides/_rels/slide30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4e34e87853c04ad2" /><Relationship Type="http://schemas.openxmlformats.org/officeDocument/2006/relationships/notesSlide" Target="/ppt/notesSlides/notesSlide30.xml" Id="R958b579e79b24759" /></Relationships>
</file>

<file path=ppt/slides/_rels/slide31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f922416a8dfe4a9a" /><Relationship Type="http://schemas.openxmlformats.org/officeDocument/2006/relationships/notesSlide" Target="/ppt/notesSlides/notesSlide31.xml" Id="R6ab7f3fffb5d469b" /></Relationships>
</file>

<file path=ppt/slides/_rels/slide32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2e3c730e7da94131" /><Relationship Type="http://schemas.openxmlformats.org/officeDocument/2006/relationships/notesSlide" Target="/ppt/notesSlides/notesSlide32.xml" Id="R6ce020d0f0ef4700" /></Relationships>
</file>

<file path=ppt/slides/_rels/slide33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e2133e8d5d03400e" /><Relationship Type="http://schemas.openxmlformats.org/officeDocument/2006/relationships/notesSlide" Target="/ppt/notesSlides/notesSlide33.xml" Id="Rce5abe5fedd842f8" /></Relationships>
</file>

<file path=ppt/slides/_rels/slide34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a6f6f6bca28d4dcc" /><Relationship Type="http://schemas.openxmlformats.org/officeDocument/2006/relationships/notesSlide" Target="/ppt/notesSlides/notesSlide34.xml" Id="R6d761d795cad45d5" /></Relationships>
</file>

<file path=ppt/slides/_rels/slide35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b0f228549d2c4403" /><Relationship Type="http://schemas.openxmlformats.org/officeDocument/2006/relationships/notesSlide" Target="/ppt/notesSlides/notesSlide35.xml" Id="Rde3e6e12de234bdf" /></Relationships>
</file>

<file path=ppt/slides/_rels/slide36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a432ebfc0f8b4c5b" /><Relationship Type="http://schemas.openxmlformats.org/officeDocument/2006/relationships/notesSlide" Target="/ppt/notesSlides/notesSlide36.xml" Id="R3613ad02b1dc4544" /></Relationships>
</file>

<file path=ppt/slides/_rels/slide37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b1c05e5134cd4828" /><Relationship Type="http://schemas.openxmlformats.org/officeDocument/2006/relationships/notesSlide" Target="/ppt/notesSlides/notesSlide37.xml" Id="R35c0eab55bed441c" /></Relationships>
</file>

<file path=ppt/slides/_rels/slide38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6a4639d9330e42e3" /><Relationship Type="http://schemas.openxmlformats.org/officeDocument/2006/relationships/notesSlide" Target="/ppt/notesSlides/notesSlide38.xml" Id="R0432d591bbc64b88" /></Relationships>
</file>

<file path=ppt/slides/_rels/slide39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2013ba65cb49496a" /><Relationship Type="http://schemas.openxmlformats.org/officeDocument/2006/relationships/notesSlide" Target="/ppt/notesSlides/notesSlide39.xml" Id="R831f5e6287d94c40" /></Relationships>
</file>

<file path=ppt/slides/_rels/slide40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fcdbbc5f18e44953" /><Relationship Type="http://schemas.openxmlformats.org/officeDocument/2006/relationships/notesSlide" Target="/ppt/notesSlides/notesSlide40.xml" Id="R23863e3e17c84c10" /></Relationships>
</file>

<file path=ppt/slides/_rels/slide41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e2fa31fa7ca94169" /><Relationship Type="http://schemas.openxmlformats.org/officeDocument/2006/relationships/notesSlide" Target="/ppt/notesSlides/notesSlide41.xml" Id="Re6bfad64bf7e4023" /></Relationships>
</file>

<file path=ppt/slides/_rels/slide42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b79702e7804d41a0" /><Relationship Type="http://schemas.openxmlformats.org/officeDocument/2006/relationships/notesSlide" Target="/ppt/notesSlides/notesSlide42.xml" Id="R400077f3252b48e7" /></Relationships>
</file>

<file path=ppt/slides/_rels/slide43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c70340172ff849ed" /><Relationship Type="http://schemas.openxmlformats.org/officeDocument/2006/relationships/notesSlide" Target="/ppt/notesSlides/notesSlide43.xml" Id="R622f61f2eb604b6a" /></Relationships>
</file>

<file path=ppt/slides/_rels/slide44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19368d375e904448" /><Relationship Type="http://schemas.openxmlformats.org/officeDocument/2006/relationships/notesSlide" Target="/ppt/notesSlides/notesSlide44.xml" Id="Re608011288c34437" /></Relationships>
</file>

<file path=ppt/slides/_rels/slide45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060ed1447fd74707" /><Relationship Type="http://schemas.openxmlformats.org/officeDocument/2006/relationships/notesSlide" Target="/ppt/notesSlides/notesSlide45.xml" Id="R624920aa9276470c" /></Relationships>
</file>

<file path=ppt/slides/_rels/slide46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5c2646b822bf4646" /><Relationship Type="http://schemas.openxmlformats.org/officeDocument/2006/relationships/notesSlide" Target="/ppt/notesSlides/notesSlide46.xml" Id="R038b294883fd44c4" /></Relationships>
</file>

<file path=ppt/slides/_rels/slide47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3ebdaa9533524492" /><Relationship Type="http://schemas.openxmlformats.org/officeDocument/2006/relationships/notesSlide" Target="/ppt/notesSlides/notesSlide47.xml" Id="R8b882bf303d249b9" /></Relationships>
</file>

<file path=ppt/slides/_rels/slide48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8c96663fc8444fb3" /><Relationship Type="http://schemas.openxmlformats.org/officeDocument/2006/relationships/notesSlide" Target="/ppt/notesSlides/notesSlide48.xml" Id="Rf91f60ab41eb4bdd" /></Relationships>
</file>

<file path=ppt/slides/_rels/slide49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cfe34a273b4c4a30" /><Relationship Type="http://schemas.openxmlformats.org/officeDocument/2006/relationships/notesSlide" Target="/ppt/notesSlides/notesSlide49.xml" Id="R03a8f04efb48426c" /></Relationships>
</file>

<file path=ppt/slides/_rels/slide50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7555baee5ce74de6" /><Relationship Type="http://schemas.openxmlformats.org/officeDocument/2006/relationships/notesSlide" Target="/ppt/notesSlides/notesSlide50.xml" Id="R154d4018165f4043" /></Relationships>
</file>

<file path=ppt/slides/_rels/slide51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79faa8da4c1840f5" /><Relationship Type="http://schemas.openxmlformats.org/officeDocument/2006/relationships/notesSlide" Target="/ppt/notesSlides/notesSlide51.xml" Id="R34119dacb1744e41" /></Relationships>
</file>

<file path=ppt/slides/_rels/slide52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7942a3ff3a534ea5" /><Relationship Type="http://schemas.openxmlformats.org/officeDocument/2006/relationships/notesSlide" Target="/ppt/notesSlides/notesSlide52.xml" Id="R3fb568d441814025" /></Relationships>
</file>

<file path=ppt/slides/_rels/slide53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e8693627ee8041a2" /><Relationship Type="http://schemas.openxmlformats.org/officeDocument/2006/relationships/notesSlide" Target="/ppt/notesSlides/notesSlide53.xml" Id="R4f7ce8cd314e43cd" /></Relationships>
</file>

<file path=ppt/slides/_rels/slide54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81f1f48494fe41f6" /><Relationship Type="http://schemas.openxmlformats.org/officeDocument/2006/relationships/notesSlide" Target="/ppt/notesSlides/notesSlide54.xml" Id="R28e47e3d027e4488" /></Relationships>
</file>

<file path=ppt/slides/_rels/slide55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40d7afc860534cec" /><Relationship Type="http://schemas.openxmlformats.org/officeDocument/2006/relationships/notesSlide" Target="/ppt/notesSlides/notesSlide55.xml" Id="Rc7f13bc7ad814465" /></Relationships>
</file>

<file path=ppt/slides/_rels/slide56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c412a3087a024535" /><Relationship Type="http://schemas.openxmlformats.org/officeDocument/2006/relationships/notesSlide" Target="/ppt/notesSlides/notesSlide56.xml" Id="R268794ed147543b9" /></Relationships>
</file>

<file path=ppt/slides/_rels/slide57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826c79d4b5af404d" /><Relationship Type="http://schemas.openxmlformats.org/officeDocument/2006/relationships/notesSlide" Target="/ppt/notesSlides/notesSlide57.xml" Id="R33bd4c302b044f98" /></Relationships>
</file>

<file path=ppt/slides/_rels/slide58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62f66b42502b4ed9" /><Relationship Type="http://schemas.openxmlformats.org/officeDocument/2006/relationships/notesSlide" Target="/ppt/notesSlides/notesSlide58.xml" Id="Rf2d84dc98705440c" /></Relationships>
</file>

<file path=ppt/slides/_rels/slide59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d3a2908403344d77" /><Relationship Type="http://schemas.openxmlformats.org/officeDocument/2006/relationships/notesSlide" Target="/ppt/notesSlides/notesSlide59.xml" Id="R961fd247eeee4f9d" /></Relationships>
</file>

<file path=ppt/slides/_rels/slide60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e87c4f305635438d" /><Relationship Type="http://schemas.openxmlformats.org/officeDocument/2006/relationships/notesSlide" Target="/ppt/notesSlides/notesSlide60.xml" Id="Rfff73d3f2f584113" /></Relationships>
</file>

<file path=ppt/slides/_rels/slide61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e183d5cc3afc4b97" /><Relationship Type="http://schemas.openxmlformats.org/officeDocument/2006/relationships/notesSlide" Target="/ppt/notesSlides/notesSlide61.xml" Id="R2d79535ad40c44cb" /></Relationships>
</file>

<file path=ppt/slides/_rels/slide62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5891332dee5a4500" /><Relationship Type="http://schemas.openxmlformats.org/officeDocument/2006/relationships/notesSlide" Target="/ppt/notesSlides/notesSlide62.xml" Id="R0b3dcd16089743b7" /></Relationships>
</file>

<file path=ppt/slides/_rels/slide63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f6e81a79d32f468f" /><Relationship Type="http://schemas.openxmlformats.org/officeDocument/2006/relationships/notesSlide" Target="/ppt/notesSlides/notesSlide63.xml" Id="R8b791b4fcf0f4005" /></Relationships>
</file>

<file path=ppt/slides/_rels/slide64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fbaa63cc998f4444" /><Relationship Type="http://schemas.openxmlformats.org/officeDocument/2006/relationships/notesSlide" Target="/ppt/notesSlides/notesSlide64.xml" Id="Rc7f9b4c17785452d" /></Relationships>
</file>

<file path=ppt/slides/_rels/slide65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b30ba52064024246" /><Relationship Type="http://schemas.openxmlformats.org/officeDocument/2006/relationships/notesSlide" Target="/ppt/notesSlides/notesSlide65.xml" Id="R7db9d78adfd643a1" /></Relationships>
</file>

<file path=ppt/slides/_rels/slide66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ac5b02abdbe24411" /><Relationship Type="http://schemas.openxmlformats.org/officeDocument/2006/relationships/notesSlide" Target="/ppt/notesSlides/notesSlide66.xml" Id="R73f2242e4d7546d0" /></Relationships>
</file>

<file path=ppt/slides/_rels/slide67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c52cbeef96834e9f" /><Relationship Type="http://schemas.openxmlformats.org/officeDocument/2006/relationships/notesSlide" Target="/ppt/notesSlides/notesSlide67.xml" Id="R3d14b37426fc4df0" /></Relationships>
</file>

<file path=ppt/slides/_rels/slide68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7b2b7c053547451d" /><Relationship Type="http://schemas.openxmlformats.org/officeDocument/2006/relationships/notesSlide" Target="/ppt/notesSlides/notesSlide68.xml" Id="Ra4849f2b20814ce8" /></Relationships>
</file>

<file path=ppt/slides/_rels/slide69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f1ec129d89be4497" /><Relationship Type="http://schemas.openxmlformats.org/officeDocument/2006/relationships/notesSlide" Target="/ppt/notesSlides/notesSlide69.xml" Id="R7ffaf53653194c2d" /></Relationships>
</file>

<file path=ppt/slides/_rels/slide70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6f5bff044f4048a5" /><Relationship Type="http://schemas.openxmlformats.org/officeDocument/2006/relationships/notesSlide" Target="/ppt/notesSlides/notesSlide70.xml" Id="R4b19b74b56144ef4" /></Relationships>
</file>

<file path=ppt/slides/_rels/slide71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94e7f7ababfe45b8" /><Relationship Type="http://schemas.openxmlformats.org/officeDocument/2006/relationships/notesSlide" Target="/ppt/notesSlides/notesSlide71.xml" Id="R8377a6892942404b" /></Relationships>
</file>

<file path=ppt/slides/_rels/slide72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063031fe9c574e83" /><Relationship Type="http://schemas.openxmlformats.org/officeDocument/2006/relationships/notesSlide" Target="/ppt/notesSlides/notesSlide72.xml" Id="Re9eaa6594aea42ef" /></Relationships>
</file>

<file path=ppt/slides/_rels/slide73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87fbb029328b44e9" /><Relationship Type="http://schemas.openxmlformats.org/officeDocument/2006/relationships/notesSlide" Target="/ppt/notesSlides/notesSlide73.xml" Id="R7e6583318da54012" /></Relationships>
</file>

<file path=ppt/slides/_rels/slide74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b68dc4777ec84058" /><Relationship Type="http://schemas.openxmlformats.org/officeDocument/2006/relationships/notesSlide" Target="/ppt/notesSlides/notesSlide74.xml" Id="R7f16fbba2e304442" /></Relationships>
</file>

<file path=ppt/slides/_rels/slide75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577f59724c814c73" /><Relationship Type="http://schemas.openxmlformats.org/officeDocument/2006/relationships/notesSlide" Target="/ppt/notesSlides/notesSlide75.xml" Id="R658df6ea1e0d4a32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15324A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BC3D37FF-6C78-41D2-8D93-D0DDDB824B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2667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37B82"/>
          </a:solidFill>
          <a:ln xmlns:a="http://schemas.openxmlformats.org/drawingml/2006/main" w="0">
            <a:solidFill>
              <a:srgbClr val="237B82"/>
            </a:solidFill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A136F382-828C-4818-A2AA-35B41B6BA5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628650"/>
            <a:ext cx="76200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>
            <a:defPPr>
              <a:defRPr sz="1275" b="1">
                <a:solidFill>
                  <a:srgbClr val="CFEDEF"/>
                </a:solidFill>
                <a:latin typeface="Helvetica Neue"/>
                <a:ea typeface="Helvetica Neue"/>
                <a:cs typeface="Helvetica Neue"/>
              </a:defRPr>
            </a:defPPr>
            <a:lvl1pPr>
              <a:defRPr sz="1275" b="1">
                <a:solidFill>
                  <a:srgbClr val="CFEDEF"/>
                </a:solidFill>
                <a:latin typeface="Helvetica Neue"/>
                <a:ea typeface="Helvetica Neue"/>
                <a:cs typeface="Helvetica Neue"/>
              </a:defRPr>
            </a:lvl1pPr>
            <a:lvl2pPr>
              <a:defRPr sz="1275" b="1">
                <a:solidFill>
                  <a:srgbClr val="CFEDEF"/>
                </a:solidFill>
                <a:latin typeface="Helvetica Neue"/>
                <a:ea typeface="Helvetica Neue"/>
                <a:cs typeface="Helvetica Neue"/>
              </a:defRPr>
            </a:lvl2pPr>
            <a:lvl3pPr>
              <a:defRPr sz="1275" b="1">
                <a:solidFill>
                  <a:srgbClr val="CFEDEF"/>
                </a:solidFill>
                <a:latin typeface="Helvetica Neue"/>
                <a:ea typeface="Helvetica Neue"/>
                <a:cs typeface="Helvetica Neue"/>
              </a:defRPr>
            </a:lvl3pPr>
            <a:lvl4pPr>
              <a:defRPr sz="1275" b="1">
                <a:solidFill>
                  <a:srgbClr val="CFEDEF"/>
                </a:solidFill>
                <a:latin typeface="Helvetica Neue"/>
                <a:ea typeface="Helvetica Neue"/>
                <a:cs typeface="Helvetica Neue"/>
              </a:defRPr>
            </a:lvl4pPr>
            <a:lvl5pPr>
              <a:defRPr sz="1275" b="1">
                <a:solidFill>
                  <a:srgbClr val="CFEDEF"/>
                </a:solidFill>
                <a:latin typeface="Helvetica Neue"/>
                <a:ea typeface="Helvetica Neue"/>
                <a:cs typeface="Helvetica Neue"/>
              </a:defRPr>
            </a:lvl5pPr>
            <a:lvl6pPr>
              <a:defRPr sz="1275" b="1">
                <a:solidFill>
                  <a:srgbClr val="CFEDEF"/>
                </a:solidFill>
                <a:latin typeface="Helvetica Neue"/>
                <a:ea typeface="Helvetica Neue"/>
                <a:cs typeface="Helvetica Neue"/>
              </a:defRPr>
            </a:lvl6pPr>
            <a:lvl7pPr>
              <a:defRPr sz="1275" b="1">
                <a:solidFill>
                  <a:srgbClr val="CFEDEF"/>
                </a:solidFill>
                <a:latin typeface="Helvetica Neue"/>
                <a:ea typeface="Helvetica Neue"/>
                <a:cs typeface="Helvetica Neue"/>
              </a:defRPr>
            </a:lvl7pPr>
            <a:lvl8pPr>
              <a:defRPr sz="1275" b="1">
                <a:solidFill>
                  <a:srgbClr val="CFEDEF"/>
                </a:solidFill>
                <a:latin typeface="Helvetica Neue"/>
                <a:ea typeface="Helvetica Neue"/>
                <a:cs typeface="Helvetica Neue"/>
              </a:defRPr>
            </a:lvl8pPr>
            <a:lvl9pPr>
              <a:defRPr sz="1275" b="1">
                <a:solidFill>
                  <a:srgbClr val="CFEDEF"/>
                </a:solidFill>
                <a:latin typeface="Helvetica Neue"/>
                <a:ea typeface="Helvetica Neue"/>
                <a:cs typeface="Helvetica Neue"/>
              </a:defRPr>
            </a:lvl9pPr>
          </a:lstStyle>
          <a:p xmlns:a="http://schemas.openxmlformats.org/drawingml/2006/main">
            <a:pPr>
              <a:defRPr sz="1275" b="1">
                <a:solidFill>
                  <a:srgbClr val="CFEDE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75" b="1">
                <a:solidFill>
                  <a:srgbClr val="CFEDEF"/>
                </a:solidFill>
                <a:latin typeface="Helvetica Neue"/>
                <a:ea typeface="Helvetica Neue"/>
                <a:cs typeface="Helvetica Neue"/>
              </a:rPr>
              <a:t>BROWARD-MIAMI HEALTH INSTITUTE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45F499EE-9D23-4872-AD07-5218A440BA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1809750"/>
            <a:ext cx="9906000" cy="1619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>
            <a:defPPr>
              <a:defRPr sz="3900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defPPr>
            <a:lvl1pPr>
              <a:defRPr sz="3900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lvl1pPr>
            <a:lvl2pPr>
              <a:defRPr sz="3900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lvl2pPr>
            <a:lvl3pPr>
              <a:defRPr sz="3900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lvl3pPr>
            <a:lvl4pPr>
              <a:defRPr sz="3900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lvl4pPr>
            <a:lvl5pPr>
              <a:defRPr sz="3900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lvl5pPr>
            <a:lvl6pPr>
              <a:defRPr sz="3900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lvl6pPr>
            <a:lvl7pPr>
              <a:defRPr sz="3900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lvl7pPr>
            <a:lvl8pPr>
              <a:defRPr sz="3900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lvl8pPr>
            <a:lvl9pPr>
              <a:defRPr sz="3900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lvl9pPr>
          </a:lstStyle>
          <a:p xmlns:a="http://schemas.openxmlformats.org/drawingml/2006/main">
            <a:pPr>
              <a:defRPr sz="3900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3900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rPr>
              <a:t>Transfusion Therapy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BF44C7F5-AD92-44E7-9DDD-4C1995AC6E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3943350"/>
            <a:ext cx="87630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>
            <a:defPPr>
              <a:defRPr sz="1875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defPPr>
            <a:lvl1pPr>
              <a:defRPr sz="1875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lvl1pPr>
            <a:lvl2pPr>
              <a:defRPr sz="1875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lvl2pPr>
            <a:lvl3pPr>
              <a:defRPr sz="1875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lvl3pPr>
            <a:lvl4pPr>
              <a:defRPr sz="1875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lvl4pPr>
            <a:lvl5pPr>
              <a:defRPr sz="1875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lvl5pPr>
            <a:lvl6pPr>
              <a:defRPr sz="1875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lvl6pPr>
            <a:lvl7pPr>
              <a:defRPr sz="1875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lvl7pPr>
            <a:lvl8pPr>
              <a:defRPr sz="1875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lvl8pPr>
            <a:lvl9pPr>
              <a:defRPr sz="1875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lvl9pPr>
          </a:lstStyle>
          <a:p xmlns:a="http://schemas.openxmlformats.org/drawingml/2006/main">
            <a:pPr>
              <a:defRPr sz="1875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75">
                <a:solidFill>
                  <a:srgbClr val="FFFFFF"/>
                </a:solidFill>
                <a:latin typeface="Helvetica Neue"/>
                <a:ea typeface="Helvetica Neue"/>
                <a:cs typeface="Helvetica Neue"/>
              </a:rPr>
              <a:t>Module 4  |  30-Hour Basic Intravenous Therapy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0E6C65FB-27C0-46BE-9034-3DAEF41468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4762500"/>
            <a:ext cx="89535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>
            <a:defPPr>
              <a:defRPr sz="1500" b="1">
                <a:solidFill>
                  <a:srgbClr val="CFEDEF"/>
                </a:solidFill>
                <a:latin typeface="Helvetica Neue"/>
                <a:ea typeface="Helvetica Neue"/>
                <a:cs typeface="Helvetica Neue"/>
              </a:defRPr>
            </a:defPPr>
            <a:lvl1pPr>
              <a:defRPr sz="1500" b="1">
                <a:solidFill>
                  <a:srgbClr val="CFEDEF"/>
                </a:solidFill>
                <a:latin typeface="Helvetica Neue"/>
                <a:ea typeface="Helvetica Neue"/>
                <a:cs typeface="Helvetica Neue"/>
              </a:defRPr>
            </a:lvl1pPr>
            <a:lvl2pPr>
              <a:defRPr sz="1500" b="1">
                <a:solidFill>
                  <a:srgbClr val="CFEDEF"/>
                </a:solidFill>
                <a:latin typeface="Helvetica Neue"/>
                <a:ea typeface="Helvetica Neue"/>
                <a:cs typeface="Helvetica Neue"/>
              </a:defRPr>
            </a:lvl2pPr>
            <a:lvl3pPr>
              <a:defRPr sz="1500" b="1">
                <a:solidFill>
                  <a:srgbClr val="CFEDEF"/>
                </a:solidFill>
                <a:latin typeface="Helvetica Neue"/>
                <a:ea typeface="Helvetica Neue"/>
                <a:cs typeface="Helvetica Neue"/>
              </a:defRPr>
            </a:lvl3pPr>
            <a:lvl4pPr>
              <a:defRPr sz="1500" b="1">
                <a:solidFill>
                  <a:srgbClr val="CFEDEF"/>
                </a:solidFill>
                <a:latin typeface="Helvetica Neue"/>
                <a:ea typeface="Helvetica Neue"/>
                <a:cs typeface="Helvetica Neue"/>
              </a:defRPr>
            </a:lvl4pPr>
            <a:lvl5pPr>
              <a:defRPr sz="1500" b="1">
                <a:solidFill>
                  <a:srgbClr val="CFEDEF"/>
                </a:solidFill>
                <a:latin typeface="Helvetica Neue"/>
                <a:ea typeface="Helvetica Neue"/>
                <a:cs typeface="Helvetica Neue"/>
              </a:defRPr>
            </a:lvl5pPr>
            <a:lvl6pPr>
              <a:defRPr sz="1500" b="1">
                <a:solidFill>
                  <a:srgbClr val="CFEDEF"/>
                </a:solidFill>
                <a:latin typeface="Helvetica Neue"/>
                <a:ea typeface="Helvetica Neue"/>
                <a:cs typeface="Helvetica Neue"/>
              </a:defRPr>
            </a:lvl6pPr>
            <a:lvl7pPr>
              <a:defRPr sz="1500" b="1">
                <a:solidFill>
                  <a:srgbClr val="CFEDEF"/>
                </a:solidFill>
                <a:latin typeface="Helvetica Neue"/>
                <a:ea typeface="Helvetica Neue"/>
                <a:cs typeface="Helvetica Neue"/>
              </a:defRPr>
            </a:lvl7pPr>
            <a:lvl8pPr>
              <a:defRPr sz="1500" b="1">
                <a:solidFill>
                  <a:srgbClr val="CFEDEF"/>
                </a:solidFill>
                <a:latin typeface="Helvetica Neue"/>
                <a:ea typeface="Helvetica Neue"/>
                <a:cs typeface="Helvetica Neue"/>
              </a:defRPr>
            </a:lvl8pPr>
            <a:lvl9pPr>
              <a:defRPr sz="1500" b="1">
                <a:solidFill>
                  <a:srgbClr val="CFEDEF"/>
                </a:solidFill>
                <a:latin typeface="Helvetica Neue"/>
                <a:ea typeface="Helvetica Neue"/>
                <a:cs typeface="Helvetica Neue"/>
              </a:defRPr>
            </a:lvl9pPr>
          </a:lstStyle>
          <a:p xmlns:a="http://schemas.openxmlformats.org/drawingml/2006/main">
            <a:pPr>
              <a:defRPr sz="1500" b="1">
                <a:solidFill>
                  <a:srgbClr val="CFEDE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00" b="1">
                <a:solidFill>
                  <a:srgbClr val="CFEDEF"/>
                </a:solidFill>
                <a:latin typeface="Helvetica Neue"/>
                <a:ea typeface="Helvetica Neue"/>
                <a:cs typeface="Helvetica Neue"/>
              </a:rPr>
              <a:t>Comprehensive instructor presentation • full manual coverage</a:t>
            </a:r>
          </a:p>
        </p:txBody>
      </p:sp>
    </p:spTree>
    <p:extLst>
      <p:ext uri="{BB962C8B-B14F-4D97-AF65-F5344CB8AC3E}">
        <p14:creationId xmlns:p14="http://schemas.microsoft.com/office/powerpoint/2010/main" val="1145075614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7F4EE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54D19D4B-F8E5-4ACE-B28F-55367E4537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2095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37B82"/>
          </a:solidFill>
          <a:ln xmlns:a="http://schemas.openxmlformats.org/drawingml/2006/main" w="0">
            <a:solidFill>
              <a:srgbClr val="237B82"/>
            </a:solidFill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73EBC7E8-9304-46BC-AA45-9CF0B56429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00050"/>
            <a:ext cx="10001250" cy="819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>
            <a:defPPr>
              <a:defRPr sz="2700" b="1">
                <a:solidFill>
                  <a:srgbClr val="15324A"/>
                </a:solidFill>
                <a:latin typeface="Helvetica Neue"/>
                <a:ea typeface="Helvetica Neue"/>
                <a:cs typeface="Helvetica Neue"/>
              </a:defRPr>
            </a:defPPr>
            <a:lvl1pPr>
              <a:defRPr sz="2700" b="1">
                <a:solidFill>
                  <a:srgbClr val="15324A"/>
                </a:solidFill>
                <a:latin typeface="Helvetica Neue"/>
                <a:ea typeface="Helvetica Neue"/>
                <a:cs typeface="Helvetica Neue"/>
              </a:defRPr>
            </a:lvl1pPr>
            <a:lvl2pPr>
              <a:defRPr sz="2700" b="1">
                <a:solidFill>
                  <a:srgbClr val="15324A"/>
                </a:solidFill>
                <a:latin typeface="Helvetica Neue"/>
                <a:ea typeface="Helvetica Neue"/>
                <a:cs typeface="Helvetica Neue"/>
              </a:defRPr>
            </a:lvl2pPr>
            <a:lvl3pPr>
              <a:defRPr sz="2700" b="1">
                <a:solidFill>
                  <a:srgbClr val="15324A"/>
                </a:solidFill>
                <a:latin typeface="Helvetica Neue"/>
                <a:ea typeface="Helvetica Neue"/>
                <a:cs typeface="Helvetica Neue"/>
              </a:defRPr>
            </a:lvl3pPr>
            <a:lvl4pPr>
              <a:defRPr sz="2700" b="1">
                <a:solidFill>
                  <a:srgbClr val="15324A"/>
                </a:solidFill>
                <a:latin typeface="Helvetica Neue"/>
                <a:ea typeface="Helvetica Neue"/>
                <a:cs typeface="Helvetica Neue"/>
              </a:defRPr>
            </a:lvl4pPr>
            <a:lvl5pPr>
              <a:defRPr sz="2700" b="1">
                <a:solidFill>
                  <a:srgbClr val="15324A"/>
                </a:solidFill>
                <a:latin typeface="Helvetica Neue"/>
                <a:ea typeface="Helvetica Neue"/>
                <a:cs typeface="Helvetica Neue"/>
              </a:defRPr>
            </a:lvl5pPr>
            <a:lvl6pPr>
              <a:defRPr sz="2700" b="1">
                <a:solidFill>
                  <a:srgbClr val="15324A"/>
                </a:solidFill>
                <a:latin typeface="Helvetica Neue"/>
                <a:ea typeface="Helvetica Neue"/>
                <a:cs typeface="Helvetica Neue"/>
              </a:defRPr>
            </a:lvl6pPr>
            <a:lvl7pPr>
              <a:defRPr sz="2700" b="1">
                <a:solidFill>
                  <a:srgbClr val="15324A"/>
                </a:solidFill>
                <a:latin typeface="Helvetica Neue"/>
                <a:ea typeface="Helvetica Neue"/>
                <a:cs typeface="Helvetica Neue"/>
              </a:defRPr>
            </a:lvl7pPr>
            <a:lvl8pPr>
              <a:defRPr sz="2700" b="1">
                <a:solidFill>
                  <a:srgbClr val="15324A"/>
                </a:solidFill>
                <a:latin typeface="Helvetica Neue"/>
                <a:ea typeface="Helvetica Neue"/>
                <a:cs typeface="Helvetica Neue"/>
              </a:defRPr>
            </a:lvl8pPr>
            <a:lvl9pPr>
              <a:defRPr sz="2700" b="1">
                <a:solidFill>
                  <a:srgbClr val="15324A"/>
                </a:solidFill>
                <a:latin typeface="Helvetica Neue"/>
                <a:ea typeface="Helvetica Neue"/>
                <a:cs typeface="Helvetica Neue"/>
              </a:defRPr>
            </a:lvl9pPr>
          </a:lstStyle>
          <a:p xmlns:a="http://schemas.openxmlformats.org/drawingml/2006/main">
            <a:pPr>
              <a:defRPr sz="2700" b="1">
                <a:solidFill>
                  <a:srgbClr val="15324A"/>
                </a:solidFill>
                <a:latin typeface="Helvetica Neue"/>
                <a:ea typeface="Helvetica Neue"/>
                <a:cs typeface="Helvetica Neue"/>
              </a:defRPr>
            </a:pPr>
            <a:r>
              <a:rPr sz="2700" b="1">
                <a:solidFill>
                  <a:srgbClr val="15324A"/>
                </a:solidFill>
                <a:latin typeface="Helvetica Neue"/>
                <a:ea typeface="Helvetica Neue"/>
                <a:cs typeface="Helvetica Neue"/>
              </a:rPr>
              <a:t>Learning objectives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91028E92-FB38-4EEB-9BDA-BDDF37BC8F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1257300"/>
            <a:ext cx="88582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91111"/>
          </a:bodyPr>
          <a:lstStyle xmlns:a="http://schemas.openxmlformats.org/drawingml/2006/main">
            <a:defPPr>
              <a:defRPr sz="1125" b="1">
                <a:solidFill>
                  <a:srgbClr val="237B82"/>
                </a:solidFill>
                <a:latin typeface="Helvetica Neue"/>
                <a:ea typeface="Helvetica Neue"/>
                <a:cs typeface="Helvetica Neue"/>
              </a:defRPr>
            </a:defPPr>
            <a:lvl1pPr>
              <a:defRPr sz="1125" b="1">
                <a:solidFill>
                  <a:srgbClr val="237B82"/>
                </a:solidFill>
                <a:latin typeface="Helvetica Neue"/>
                <a:ea typeface="Helvetica Neue"/>
                <a:cs typeface="Helvetica Neue"/>
              </a:defRPr>
            </a:lvl1pPr>
            <a:lvl2pPr>
              <a:defRPr sz="1125" b="1">
                <a:solidFill>
                  <a:srgbClr val="237B82"/>
                </a:solidFill>
                <a:latin typeface="Helvetica Neue"/>
                <a:ea typeface="Helvetica Neue"/>
                <a:cs typeface="Helvetica Neue"/>
              </a:defRPr>
            </a:lvl2pPr>
            <a:lvl3pPr>
              <a:defRPr sz="1125" b="1">
                <a:solidFill>
                  <a:srgbClr val="237B82"/>
                </a:solidFill>
                <a:latin typeface="Helvetica Neue"/>
                <a:ea typeface="Helvetica Neue"/>
                <a:cs typeface="Helvetica Neue"/>
              </a:defRPr>
            </a:lvl3pPr>
            <a:lvl4pPr>
              <a:defRPr sz="1125" b="1">
                <a:solidFill>
                  <a:srgbClr val="237B82"/>
                </a:solidFill>
                <a:latin typeface="Helvetica Neue"/>
                <a:ea typeface="Helvetica Neue"/>
                <a:cs typeface="Helvetica Neue"/>
              </a:defRPr>
            </a:lvl4pPr>
            <a:lvl5pPr>
              <a:defRPr sz="1125" b="1">
                <a:solidFill>
                  <a:srgbClr val="237B82"/>
                </a:solidFill>
                <a:latin typeface="Helvetica Neue"/>
                <a:ea typeface="Helvetica Neue"/>
                <a:cs typeface="Helvetica Neue"/>
              </a:defRPr>
            </a:lvl5pPr>
            <a:lvl6pPr>
              <a:defRPr sz="1125" b="1">
                <a:solidFill>
                  <a:srgbClr val="237B82"/>
                </a:solidFill>
                <a:latin typeface="Helvetica Neue"/>
                <a:ea typeface="Helvetica Neue"/>
                <a:cs typeface="Helvetica Neue"/>
              </a:defRPr>
            </a:lvl6pPr>
            <a:lvl7pPr>
              <a:defRPr sz="1125" b="1">
                <a:solidFill>
                  <a:srgbClr val="237B82"/>
                </a:solidFill>
                <a:latin typeface="Helvetica Neue"/>
                <a:ea typeface="Helvetica Neue"/>
                <a:cs typeface="Helvetica Neue"/>
              </a:defRPr>
            </a:lvl7pPr>
            <a:lvl8pPr>
              <a:defRPr sz="1125" b="1">
                <a:solidFill>
                  <a:srgbClr val="237B82"/>
                </a:solidFill>
                <a:latin typeface="Helvetica Neue"/>
                <a:ea typeface="Helvetica Neue"/>
                <a:cs typeface="Helvetica Neue"/>
              </a:defRPr>
            </a:lvl8pPr>
            <a:lvl9pPr>
              <a:defRPr sz="1125" b="1">
                <a:solidFill>
                  <a:srgbClr val="237B82"/>
                </a:solidFill>
                <a:latin typeface="Helvetica Neue"/>
                <a:ea typeface="Helvetica Neue"/>
                <a:cs typeface="Helvetica Neue"/>
              </a:defRPr>
            </a:lvl9pPr>
          </a:lstStyle>
          <a:p xmlns:a="http://schemas.openxmlformats.org/drawingml/2006/main">
            <a:pPr>
              <a:defRPr sz="1125" b="1">
                <a:solidFill>
                  <a:srgbClr val="237B82"/>
                </a:solidFill>
                <a:latin typeface="Helvetica Neue"/>
                <a:ea typeface="Helvetica Neue"/>
                <a:cs typeface="Helvetica Neue"/>
              </a:defRPr>
            </a:pPr>
            <a:r>
              <a:rPr sz="1125" b="1">
                <a:solidFill>
                  <a:srgbClr val="237B82"/>
                </a:solidFill>
                <a:latin typeface="Helvetica Neue"/>
                <a:ea typeface="Helvetica Neue"/>
                <a:cs typeface="Helvetica Neue"/>
              </a:rPr>
              <a:t>MODULE 4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FB081C93-6823-4C52-B10B-E26E6E3897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457200"/>
            <a:ext cx="5334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>
            <a:defPPr>
              <a:defRPr sz="1200" b="1">
                <a:solidFill>
                  <a:srgbClr val="237B82"/>
                </a:solidFill>
                <a:latin typeface="Helvetica Neue"/>
                <a:ea typeface="Helvetica Neue"/>
                <a:cs typeface="Helvetica Neue"/>
              </a:defRPr>
            </a:defPPr>
            <a:lvl1pPr>
              <a:defRPr sz="1200" b="1">
                <a:solidFill>
                  <a:srgbClr val="237B82"/>
                </a:solidFill>
                <a:latin typeface="Helvetica Neue"/>
                <a:ea typeface="Helvetica Neue"/>
                <a:cs typeface="Helvetica Neue"/>
              </a:defRPr>
            </a:lvl1pPr>
            <a:lvl2pPr>
              <a:defRPr sz="1200" b="1">
                <a:solidFill>
                  <a:srgbClr val="237B82"/>
                </a:solidFill>
                <a:latin typeface="Helvetica Neue"/>
                <a:ea typeface="Helvetica Neue"/>
                <a:cs typeface="Helvetica Neue"/>
              </a:defRPr>
            </a:lvl2pPr>
            <a:lvl3pPr>
              <a:defRPr sz="1200" b="1">
                <a:solidFill>
                  <a:srgbClr val="237B82"/>
                </a:solidFill>
                <a:latin typeface="Helvetica Neue"/>
                <a:ea typeface="Helvetica Neue"/>
                <a:cs typeface="Helvetica Neue"/>
              </a:defRPr>
            </a:lvl3pPr>
            <a:lvl4pPr>
              <a:defRPr sz="1200" b="1">
                <a:solidFill>
                  <a:srgbClr val="237B82"/>
                </a:solidFill>
                <a:latin typeface="Helvetica Neue"/>
                <a:ea typeface="Helvetica Neue"/>
                <a:cs typeface="Helvetica Neue"/>
              </a:defRPr>
            </a:lvl4pPr>
            <a:lvl5pPr>
              <a:defRPr sz="1200" b="1">
                <a:solidFill>
                  <a:srgbClr val="237B82"/>
                </a:solidFill>
                <a:latin typeface="Helvetica Neue"/>
                <a:ea typeface="Helvetica Neue"/>
                <a:cs typeface="Helvetica Neue"/>
              </a:defRPr>
            </a:lvl5pPr>
            <a:lvl6pPr>
              <a:defRPr sz="1200" b="1">
                <a:solidFill>
                  <a:srgbClr val="237B82"/>
                </a:solidFill>
                <a:latin typeface="Helvetica Neue"/>
                <a:ea typeface="Helvetica Neue"/>
                <a:cs typeface="Helvetica Neue"/>
              </a:defRPr>
            </a:lvl6pPr>
            <a:lvl7pPr>
              <a:defRPr sz="1200" b="1">
                <a:solidFill>
                  <a:srgbClr val="237B82"/>
                </a:solidFill>
                <a:latin typeface="Helvetica Neue"/>
                <a:ea typeface="Helvetica Neue"/>
                <a:cs typeface="Helvetica Neue"/>
              </a:defRPr>
            </a:lvl7pPr>
            <a:lvl8pPr>
              <a:defRPr sz="1200" b="1">
                <a:solidFill>
                  <a:srgbClr val="237B82"/>
                </a:solidFill>
                <a:latin typeface="Helvetica Neue"/>
                <a:ea typeface="Helvetica Neue"/>
                <a:cs typeface="Helvetica Neue"/>
              </a:defRPr>
            </a:lvl8pPr>
            <a:lvl9pPr>
              <a:defRPr sz="1200" b="1">
                <a:solidFill>
                  <a:srgbClr val="237B82"/>
                </a:solidFill>
                <a:latin typeface="Helvetica Neue"/>
                <a:ea typeface="Helvetica Neue"/>
                <a:cs typeface="Helvetica Neue"/>
              </a:defRPr>
            </a:lvl9pPr>
          </a:lstStyle>
          <a:p xmlns:a="http://schemas.openxmlformats.org/drawingml/2006/main">
            <a:pPr>
              <a:defRPr sz="1200" b="1">
                <a:solidFill>
                  <a:srgbClr val="237B82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00" b="1">
                <a:solidFill>
                  <a:srgbClr val="237B82"/>
                </a:solidFill>
                <a:latin typeface="Helvetica Neue"/>
                <a:ea typeface="Helvetica Neue"/>
                <a:cs typeface="Helvetica Neue"/>
              </a:rPr>
              <a:t>02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8F8D79D3-6750-49A1-966F-93C4789B15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1809750"/>
            <a:ext cx="10191750" cy="3714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>
            <a:defPPr>
              <a:defRPr sz="2175">
                <a:solidFill>
                  <a:srgbClr val="13212D"/>
                </a:solidFill>
                <a:latin typeface="Helvetica Neue"/>
                <a:ea typeface="Helvetica Neue"/>
                <a:cs typeface="Helvetica Neue"/>
              </a:defRPr>
            </a:defPPr>
            <a:lvl1pPr>
              <a:defRPr sz="2175">
                <a:solidFill>
                  <a:srgbClr val="13212D"/>
                </a:solidFill>
                <a:latin typeface="Helvetica Neue"/>
                <a:ea typeface="Helvetica Neue"/>
                <a:cs typeface="Helvetica Neue"/>
              </a:defRPr>
            </a:lvl1pPr>
            <a:lvl2pPr>
              <a:defRPr sz="2175">
                <a:solidFill>
                  <a:srgbClr val="13212D"/>
                </a:solidFill>
                <a:latin typeface="Helvetica Neue"/>
                <a:ea typeface="Helvetica Neue"/>
                <a:cs typeface="Helvetica Neue"/>
              </a:defRPr>
            </a:lvl2pPr>
            <a:lvl3pPr>
              <a:defRPr sz="2175">
                <a:solidFill>
                  <a:srgbClr val="13212D"/>
                </a:solidFill>
                <a:latin typeface="Helvetica Neue"/>
                <a:ea typeface="Helvetica Neue"/>
                <a:cs typeface="Helvetica Neue"/>
              </a:defRPr>
            </a:lvl3pPr>
            <a:lvl4pPr>
              <a:defRPr sz="2175">
                <a:solidFill>
                  <a:srgbClr val="13212D"/>
                </a:solidFill>
                <a:latin typeface="Helvetica Neue"/>
                <a:ea typeface="Helvetica Neue"/>
                <a:cs typeface="Helvetica Neue"/>
              </a:defRPr>
            </a:lvl4pPr>
            <a:lvl5pPr>
              <a:defRPr sz="2175">
                <a:solidFill>
                  <a:srgbClr val="13212D"/>
                </a:solidFill>
                <a:latin typeface="Helvetica Neue"/>
                <a:ea typeface="Helvetica Neue"/>
                <a:cs typeface="Helvetica Neue"/>
              </a:defRPr>
            </a:lvl5pPr>
            <a:lvl6pPr>
              <a:defRPr sz="2175">
                <a:solidFill>
                  <a:srgbClr val="13212D"/>
                </a:solidFill>
                <a:latin typeface="Helvetica Neue"/>
                <a:ea typeface="Helvetica Neue"/>
                <a:cs typeface="Helvetica Neue"/>
              </a:defRPr>
            </a:lvl6pPr>
            <a:lvl7pPr>
              <a:defRPr sz="2175">
                <a:solidFill>
                  <a:srgbClr val="13212D"/>
                </a:solidFill>
                <a:latin typeface="Helvetica Neue"/>
                <a:ea typeface="Helvetica Neue"/>
                <a:cs typeface="Helvetica Neue"/>
              </a:defRPr>
            </a:lvl7pPr>
            <a:lvl8pPr>
              <a:defRPr sz="2175">
                <a:solidFill>
                  <a:srgbClr val="13212D"/>
                </a:solidFill>
                <a:latin typeface="Helvetica Neue"/>
                <a:ea typeface="Helvetica Neue"/>
                <a:cs typeface="Helvetica Neue"/>
              </a:defRPr>
            </a:lvl8pPr>
            <a:lvl9pPr>
              <a:defRPr sz="2175">
                <a:solidFill>
                  <a:srgbClr val="13212D"/>
                </a:solidFill>
                <a:latin typeface="Helvetica Neue"/>
                <a:ea typeface="Helvetica Neue"/>
                <a:cs typeface="Helvetica Neue"/>
              </a:defRPr>
            </a:lvl9pPr>
          </a:lstStyle>
          <a:p xmlns:a="http://schemas.openxmlformats.org/drawingml/2006/main">
            <a:pPr marL="279400" indent="-127000">
              <a:spcAft>
                <a:spcPts val="1300"/>
              </a:spcAft>
              <a:buChar char="•"/>
              <a:defRPr sz="2175">
                <a:solidFill>
                  <a:srgbClr val="13212D"/>
                </a:solidFill>
                <a:latin typeface="Helvetica Neue"/>
                <a:ea typeface="Helvetica Neue"/>
                <a:cs typeface="Helvetica Neue"/>
              </a:defRPr>
            </a:pPr>
            <a:r>
              <a:rPr sz="2175">
                <a:solidFill>
                  <a:srgbClr val="13212D"/>
                </a:solidFill>
                <a:latin typeface="Helvetica Neue"/>
                <a:ea typeface="Helvetica Neue"/>
                <a:cs typeface="Helvetica Neue"/>
              </a:rPr>
              <a:t>Identify common blood components and indications</a:t>
            </a:r>
          </a:p>
          <a:p xmlns:a="http://schemas.openxmlformats.org/drawingml/2006/main">
            <a:pPr marL="279400" indent="-127000">
              <a:spcAft>
                <a:spcPts val="1300"/>
              </a:spcAft>
              <a:buChar char="•"/>
              <a:defRPr sz="2175">
                <a:solidFill>
                  <a:srgbClr val="13212D"/>
                </a:solidFill>
                <a:latin typeface="Helvetica Neue"/>
                <a:ea typeface="Helvetica Neue"/>
                <a:cs typeface="Helvetica Neue"/>
              </a:defRPr>
            </a:pPr>
            <a:r>
              <a:rPr sz="2175">
                <a:solidFill>
                  <a:srgbClr val="13212D"/>
                </a:solidFill>
                <a:latin typeface="Helvetica Neue"/>
                <a:ea typeface="Helvetica Neue"/>
                <a:cs typeface="Helvetica Neue"/>
              </a:rPr>
              <a:t>Apply patient and product verification safeguards</a:t>
            </a:r>
          </a:p>
          <a:p xmlns:a="http://schemas.openxmlformats.org/drawingml/2006/main">
            <a:pPr marL="279400" indent="-127000">
              <a:spcAft>
                <a:spcPts val="1300"/>
              </a:spcAft>
              <a:buChar char="•"/>
              <a:defRPr sz="2175">
                <a:solidFill>
                  <a:srgbClr val="13212D"/>
                </a:solidFill>
                <a:latin typeface="Helvetica Neue"/>
                <a:ea typeface="Helvetica Neue"/>
                <a:cs typeface="Helvetica Neue"/>
              </a:defRPr>
            </a:pPr>
            <a:r>
              <a:rPr sz="2175">
                <a:solidFill>
                  <a:srgbClr val="13212D"/>
                </a:solidFill>
                <a:latin typeface="Helvetica Neue"/>
                <a:ea typeface="Helvetica Neue"/>
                <a:cs typeface="Helvetica Neue"/>
              </a:rPr>
              <a:t>Recognize transfusion reactions and initiate the correct response</a:t>
            </a:r>
          </a:p>
        </p:txBody>
      </p:sp>
    </p:spTree>
    <p:extLst>
      <p:ext uri="{BB962C8B-B14F-4D97-AF65-F5344CB8AC3E}">
        <p14:creationId xmlns:p14="http://schemas.microsoft.com/office/powerpoint/2010/main" val="722670107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7F4EE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C4D1601B-A241-4819-9D68-CE10961409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2095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37B82"/>
          </a:solidFill>
          <a:ln xmlns:a="http://schemas.openxmlformats.org/drawingml/2006/main" w="0">
            <a:solidFill>
              <a:srgbClr val="237B82"/>
            </a:solidFill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A4508295-DB2C-4F60-AF6E-BD2E7311E8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00050"/>
            <a:ext cx="10001250" cy="819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>
            <a:defPPr>
              <a:defRPr sz="2700" b="1">
                <a:solidFill>
                  <a:srgbClr val="15324A"/>
                </a:solidFill>
                <a:latin typeface="Helvetica Neue"/>
                <a:ea typeface="Helvetica Neue"/>
                <a:cs typeface="Helvetica Neue"/>
              </a:defRPr>
            </a:defPPr>
            <a:lvl1pPr>
              <a:defRPr sz="2700" b="1">
                <a:solidFill>
                  <a:srgbClr val="15324A"/>
                </a:solidFill>
                <a:latin typeface="Helvetica Neue"/>
                <a:ea typeface="Helvetica Neue"/>
                <a:cs typeface="Helvetica Neue"/>
              </a:defRPr>
            </a:lvl1pPr>
            <a:lvl2pPr>
              <a:defRPr sz="2700" b="1">
                <a:solidFill>
                  <a:srgbClr val="15324A"/>
                </a:solidFill>
                <a:latin typeface="Helvetica Neue"/>
                <a:ea typeface="Helvetica Neue"/>
                <a:cs typeface="Helvetica Neue"/>
              </a:defRPr>
            </a:lvl2pPr>
            <a:lvl3pPr>
              <a:defRPr sz="2700" b="1">
                <a:solidFill>
                  <a:srgbClr val="15324A"/>
                </a:solidFill>
                <a:latin typeface="Helvetica Neue"/>
                <a:ea typeface="Helvetica Neue"/>
                <a:cs typeface="Helvetica Neue"/>
              </a:defRPr>
            </a:lvl3pPr>
            <a:lvl4pPr>
              <a:defRPr sz="2700" b="1">
                <a:solidFill>
                  <a:srgbClr val="15324A"/>
                </a:solidFill>
                <a:latin typeface="Helvetica Neue"/>
                <a:ea typeface="Helvetica Neue"/>
                <a:cs typeface="Helvetica Neue"/>
              </a:defRPr>
            </a:lvl4pPr>
            <a:lvl5pPr>
              <a:defRPr sz="2700" b="1">
                <a:solidFill>
                  <a:srgbClr val="15324A"/>
                </a:solidFill>
                <a:latin typeface="Helvetica Neue"/>
                <a:ea typeface="Helvetica Neue"/>
                <a:cs typeface="Helvetica Neue"/>
              </a:defRPr>
            </a:lvl5pPr>
            <a:lvl6pPr>
              <a:defRPr sz="2700" b="1">
                <a:solidFill>
                  <a:srgbClr val="15324A"/>
                </a:solidFill>
                <a:latin typeface="Helvetica Neue"/>
                <a:ea typeface="Helvetica Neue"/>
                <a:cs typeface="Helvetica Neue"/>
              </a:defRPr>
            </a:lvl6pPr>
            <a:lvl7pPr>
              <a:defRPr sz="2700" b="1">
                <a:solidFill>
                  <a:srgbClr val="15324A"/>
                </a:solidFill>
                <a:latin typeface="Helvetica Neue"/>
                <a:ea typeface="Helvetica Neue"/>
                <a:cs typeface="Helvetica Neue"/>
              </a:defRPr>
            </a:lvl7pPr>
            <a:lvl8pPr>
              <a:defRPr sz="2700" b="1">
                <a:solidFill>
                  <a:srgbClr val="15324A"/>
                </a:solidFill>
                <a:latin typeface="Helvetica Neue"/>
                <a:ea typeface="Helvetica Neue"/>
                <a:cs typeface="Helvetica Neue"/>
              </a:defRPr>
            </a:lvl8pPr>
            <a:lvl9pPr>
              <a:defRPr sz="2700" b="1">
                <a:solidFill>
                  <a:srgbClr val="15324A"/>
                </a:solidFill>
                <a:latin typeface="Helvetica Neue"/>
                <a:ea typeface="Helvetica Neue"/>
                <a:cs typeface="Helvetica Neue"/>
              </a:defRPr>
            </a:lvl9pPr>
          </a:lstStyle>
          <a:p xmlns:a="http://schemas.openxmlformats.org/drawingml/2006/main">
            <a:pPr>
              <a:defRPr sz="2700" b="1">
                <a:solidFill>
                  <a:srgbClr val="15324A"/>
                </a:solidFill>
                <a:latin typeface="Helvetica Neue"/>
                <a:ea typeface="Helvetica Neue"/>
                <a:cs typeface="Helvetica Neue"/>
              </a:defRPr>
            </a:pPr>
            <a:r>
              <a:rPr sz="2700" b="1">
                <a:solidFill>
                  <a:srgbClr val="15324A"/>
                </a:solidFill>
                <a:latin typeface="Helvetica Neue"/>
                <a:ea typeface="Helvetica Neue"/>
                <a:cs typeface="Helvetica Neue"/>
              </a:rPr>
              <a:t>Therapeutic goals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ABB6EA09-0592-4F4C-B22B-10008857B6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1257300"/>
            <a:ext cx="88582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91111"/>
          </a:bodyPr>
          <a:lstStyle xmlns:a="http://schemas.openxmlformats.org/drawingml/2006/main">
            <a:defPPr>
              <a:defRPr sz="1125" b="1">
                <a:solidFill>
                  <a:srgbClr val="237B82"/>
                </a:solidFill>
                <a:latin typeface="Helvetica Neue"/>
                <a:ea typeface="Helvetica Neue"/>
                <a:cs typeface="Helvetica Neue"/>
              </a:defRPr>
            </a:defPPr>
            <a:lvl1pPr>
              <a:defRPr sz="1125" b="1">
                <a:solidFill>
                  <a:srgbClr val="237B82"/>
                </a:solidFill>
                <a:latin typeface="Helvetica Neue"/>
                <a:ea typeface="Helvetica Neue"/>
                <a:cs typeface="Helvetica Neue"/>
              </a:defRPr>
            </a:lvl1pPr>
            <a:lvl2pPr>
              <a:defRPr sz="1125" b="1">
                <a:solidFill>
                  <a:srgbClr val="237B82"/>
                </a:solidFill>
                <a:latin typeface="Helvetica Neue"/>
                <a:ea typeface="Helvetica Neue"/>
                <a:cs typeface="Helvetica Neue"/>
              </a:defRPr>
            </a:lvl2pPr>
            <a:lvl3pPr>
              <a:defRPr sz="1125" b="1">
                <a:solidFill>
                  <a:srgbClr val="237B82"/>
                </a:solidFill>
                <a:latin typeface="Helvetica Neue"/>
                <a:ea typeface="Helvetica Neue"/>
                <a:cs typeface="Helvetica Neue"/>
              </a:defRPr>
            </a:lvl3pPr>
            <a:lvl4pPr>
              <a:defRPr sz="1125" b="1">
                <a:solidFill>
                  <a:srgbClr val="237B82"/>
                </a:solidFill>
                <a:latin typeface="Helvetica Neue"/>
                <a:ea typeface="Helvetica Neue"/>
                <a:cs typeface="Helvetica Neue"/>
              </a:defRPr>
            </a:lvl4pPr>
            <a:lvl5pPr>
              <a:defRPr sz="1125" b="1">
                <a:solidFill>
                  <a:srgbClr val="237B82"/>
                </a:solidFill>
                <a:latin typeface="Helvetica Neue"/>
                <a:ea typeface="Helvetica Neue"/>
                <a:cs typeface="Helvetica Neue"/>
              </a:defRPr>
            </a:lvl5pPr>
            <a:lvl6pPr>
              <a:defRPr sz="1125" b="1">
                <a:solidFill>
                  <a:srgbClr val="237B82"/>
                </a:solidFill>
                <a:latin typeface="Helvetica Neue"/>
                <a:ea typeface="Helvetica Neue"/>
                <a:cs typeface="Helvetica Neue"/>
              </a:defRPr>
            </a:lvl6pPr>
            <a:lvl7pPr>
              <a:defRPr sz="1125" b="1">
                <a:solidFill>
                  <a:srgbClr val="237B82"/>
                </a:solidFill>
                <a:latin typeface="Helvetica Neue"/>
                <a:ea typeface="Helvetica Neue"/>
                <a:cs typeface="Helvetica Neue"/>
              </a:defRPr>
            </a:lvl7pPr>
            <a:lvl8pPr>
              <a:defRPr sz="1125" b="1">
                <a:solidFill>
                  <a:srgbClr val="237B82"/>
                </a:solidFill>
                <a:latin typeface="Helvetica Neue"/>
                <a:ea typeface="Helvetica Neue"/>
                <a:cs typeface="Helvetica Neue"/>
              </a:defRPr>
            </a:lvl8pPr>
            <a:lvl9pPr>
              <a:defRPr sz="1125" b="1">
                <a:solidFill>
                  <a:srgbClr val="237B82"/>
                </a:solidFill>
                <a:latin typeface="Helvetica Neue"/>
                <a:ea typeface="Helvetica Neue"/>
                <a:cs typeface="Helvetica Neue"/>
              </a:defRPr>
            </a:lvl9pPr>
          </a:lstStyle>
          <a:p xmlns:a="http://schemas.openxmlformats.org/drawingml/2006/main">
            <a:pPr>
              <a:defRPr sz="1125" b="1">
                <a:solidFill>
                  <a:srgbClr val="237B82"/>
                </a:solidFill>
                <a:latin typeface="Helvetica Neue"/>
                <a:ea typeface="Helvetica Neue"/>
                <a:cs typeface="Helvetica Neue"/>
              </a:defRPr>
            </a:pPr>
            <a:r>
              <a:rPr sz="1125" b="1">
                <a:solidFill>
                  <a:srgbClr val="237B82"/>
                </a:solidFill>
                <a:latin typeface="Helvetica Neue"/>
                <a:ea typeface="Helvetica Neue"/>
                <a:cs typeface="Helvetica Neue"/>
              </a:rPr>
              <a:t>MODULE 4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9490D631-682C-4E13-AB58-1DD88DFA1F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457200"/>
            <a:ext cx="5334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>
            <a:defPPr>
              <a:defRPr sz="1200" b="1">
                <a:solidFill>
                  <a:srgbClr val="237B82"/>
                </a:solidFill>
                <a:latin typeface="Helvetica Neue"/>
                <a:ea typeface="Helvetica Neue"/>
                <a:cs typeface="Helvetica Neue"/>
              </a:defRPr>
            </a:defPPr>
            <a:lvl1pPr>
              <a:defRPr sz="1200" b="1">
                <a:solidFill>
                  <a:srgbClr val="237B82"/>
                </a:solidFill>
                <a:latin typeface="Helvetica Neue"/>
                <a:ea typeface="Helvetica Neue"/>
                <a:cs typeface="Helvetica Neue"/>
              </a:defRPr>
            </a:lvl1pPr>
            <a:lvl2pPr>
              <a:defRPr sz="1200" b="1">
                <a:solidFill>
                  <a:srgbClr val="237B82"/>
                </a:solidFill>
                <a:latin typeface="Helvetica Neue"/>
                <a:ea typeface="Helvetica Neue"/>
                <a:cs typeface="Helvetica Neue"/>
              </a:defRPr>
            </a:lvl2pPr>
            <a:lvl3pPr>
              <a:defRPr sz="1200" b="1">
                <a:solidFill>
                  <a:srgbClr val="237B82"/>
                </a:solidFill>
                <a:latin typeface="Helvetica Neue"/>
                <a:ea typeface="Helvetica Neue"/>
                <a:cs typeface="Helvetica Neue"/>
              </a:defRPr>
            </a:lvl3pPr>
            <a:lvl4pPr>
              <a:defRPr sz="1200" b="1">
                <a:solidFill>
                  <a:srgbClr val="237B82"/>
                </a:solidFill>
                <a:latin typeface="Helvetica Neue"/>
                <a:ea typeface="Helvetica Neue"/>
                <a:cs typeface="Helvetica Neue"/>
              </a:defRPr>
            </a:lvl4pPr>
            <a:lvl5pPr>
              <a:defRPr sz="1200" b="1">
                <a:solidFill>
                  <a:srgbClr val="237B82"/>
                </a:solidFill>
                <a:latin typeface="Helvetica Neue"/>
                <a:ea typeface="Helvetica Neue"/>
                <a:cs typeface="Helvetica Neue"/>
              </a:defRPr>
            </a:lvl5pPr>
            <a:lvl6pPr>
              <a:defRPr sz="1200" b="1">
                <a:solidFill>
                  <a:srgbClr val="237B82"/>
                </a:solidFill>
                <a:latin typeface="Helvetica Neue"/>
                <a:ea typeface="Helvetica Neue"/>
                <a:cs typeface="Helvetica Neue"/>
              </a:defRPr>
            </a:lvl6pPr>
            <a:lvl7pPr>
              <a:defRPr sz="1200" b="1">
                <a:solidFill>
                  <a:srgbClr val="237B82"/>
                </a:solidFill>
                <a:latin typeface="Helvetica Neue"/>
                <a:ea typeface="Helvetica Neue"/>
                <a:cs typeface="Helvetica Neue"/>
              </a:defRPr>
            </a:lvl7pPr>
            <a:lvl8pPr>
              <a:defRPr sz="1200" b="1">
                <a:solidFill>
                  <a:srgbClr val="237B82"/>
                </a:solidFill>
                <a:latin typeface="Helvetica Neue"/>
                <a:ea typeface="Helvetica Neue"/>
                <a:cs typeface="Helvetica Neue"/>
              </a:defRPr>
            </a:lvl8pPr>
            <a:lvl9pPr>
              <a:defRPr sz="1200" b="1">
                <a:solidFill>
                  <a:srgbClr val="237B82"/>
                </a:solidFill>
                <a:latin typeface="Helvetica Neue"/>
                <a:ea typeface="Helvetica Neue"/>
                <a:cs typeface="Helvetica Neue"/>
              </a:defRPr>
            </a:lvl9pPr>
          </a:lstStyle>
          <a:p xmlns:a="http://schemas.openxmlformats.org/drawingml/2006/main">
            <a:pPr>
              <a:defRPr sz="1200" b="1">
                <a:solidFill>
                  <a:srgbClr val="237B82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00" b="1">
                <a:solidFill>
                  <a:srgbClr val="237B82"/>
                </a:solidFill>
                <a:latin typeface="Helvetica Neue"/>
                <a:ea typeface="Helvetica Neue"/>
                <a:cs typeface="Helvetica Neue"/>
              </a:rPr>
              <a:t>03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ECFA6180-39FC-40A4-977D-2547226825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1762125"/>
            <a:ext cx="10287000" cy="409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>
            <a:defPPr>
              <a:defRPr sz="2100">
                <a:solidFill>
                  <a:srgbClr val="13212D"/>
                </a:solidFill>
                <a:latin typeface="Helvetica Neue"/>
                <a:ea typeface="Helvetica Neue"/>
                <a:cs typeface="Helvetica Neue"/>
              </a:defRPr>
            </a:defPPr>
            <a:lvl1pPr>
              <a:defRPr sz="2100">
                <a:solidFill>
                  <a:srgbClr val="13212D"/>
                </a:solidFill>
                <a:latin typeface="Helvetica Neue"/>
                <a:ea typeface="Helvetica Neue"/>
                <a:cs typeface="Helvetica Neue"/>
              </a:defRPr>
            </a:lvl1pPr>
            <a:lvl2pPr>
              <a:defRPr sz="2100">
                <a:solidFill>
                  <a:srgbClr val="13212D"/>
                </a:solidFill>
                <a:latin typeface="Helvetica Neue"/>
                <a:ea typeface="Helvetica Neue"/>
                <a:cs typeface="Helvetica Neue"/>
              </a:defRPr>
            </a:lvl2pPr>
            <a:lvl3pPr>
              <a:defRPr sz="2100">
                <a:solidFill>
                  <a:srgbClr val="13212D"/>
                </a:solidFill>
                <a:latin typeface="Helvetica Neue"/>
                <a:ea typeface="Helvetica Neue"/>
                <a:cs typeface="Helvetica Neue"/>
              </a:defRPr>
            </a:lvl3pPr>
            <a:lvl4pPr>
              <a:defRPr sz="2100">
                <a:solidFill>
                  <a:srgbClr val="13212D"/>
                </a:solidFill>
                <a:latin typeface="Helvetica Neue"/>
                <a:ea typeface="Helvetica Neue"/>
                <a:cs typeface="Helvetica Neue"/>
              </a:defRPr>
            </a:lvl4pPr>
            <a:lvl5pPr>
              <a:defRPr sz="2100">
                <a:solidFill>
                  <a:srgbClr val="13212D"/>
                </a:solidFill>
                <a:latin typeface="Helvetica Neue"/>
                <a:ea typeface="Helvetica Neue"/>
                <a:cs typeface="Helvetica Neue"/>
              </a:defRPr>
            </a:lvl5pPr>
            <a:lvl6pPr>
              <a:defRPr sz="2100">
                <a:solidFill>
                  <a:srgbClr val="13212D"/>
                </a:solidFill>
                <a:latin typeface="Helvetica Neue"/>
                <a:ea typeface="Helvetica Neue"/>
                <a:cs typeface="Helvetica Neue"/>
              </a:defRPr>
            </a:lvl6pPr>
            <a:lvl7pPr>
              <a:defRPr sz="2100">
                <a:solidFill>
                  <a:srgbClr val="13212D"/>
                </a:solidFill>
                <a:latin typeface="Helvetica Neue"/>
                <a:ea typeface="Helvetica Neue"/>
                <a:cs typeface="Helvetica Neue"/>
              </a:defRPr>
            </a:lvl7pPr>
            <a:lvl8pPr>
              <a:defRPr sz="2100">
                <a:solidFill>
                  <a:srgbClr val="13212D"/>
                </a:solidFill>
                <a:latin typeface="Helvetica Neue"/>
                <a:ea typeface="Helvetica Neue"/>
                <a:cs typeface="Helvetica Neue"/>
              </a:defRPr>
            </a:lvl8pPr>
            <a:lvl9pPr>
              <a:defRPr sz="2100">
                <a:solidFill>
                  <a:srgbClr val="13212D"/>
                </a:solidFill>
                <a:latin typeface="Helvetica Neue"/>
                <a:ea typeface="Helvetica Neue"/>
                <a:cs typeface="Helvetica Neue"/>
              </a:defRPr>
            </a:lvl9pPr>
          </a:lstStyle>
          <a:p xmlns:a="http://schemas.openxmlformats.org/drawingml/2006/main">
            <a:pPr marL="279400" indent="-127000">
              <a:spcAft>
                <a:spcPts val="1300"/>
              </a:spcAft>
              <a:buChar char="•"/>
              <a:defRPr sz="2100">
                <a:solidFill>
                  <a:srgbClr val="13212D"/>
                </a:solidFill>
                <a:latin typeface="Helvetica Neue"/>
                <a:ea typeface="Helvetica Neue"/>
                <a:cs typeface="Helvetica Neue"/>
              </a:defRPr>
            </a:pPr>
            <a:r>
              <a:rPr sz="2100">
                <a:solidFill>
                  <a:srgbClr val="13212D"/>
                </a:solidFill>
                <a:latin typeface="Helvetica Neue"/>
                <a:ea typeface="Helvetica Neue"/>
                <a:cs typeface="Helvetica Neue"/>
              </a:rPr>
              <a:t>Blood components may restore oxygen-carrying capacity, circulating volume, platelets, or coagulation factors.</a:t>
            </a:r>
          </a:p>
          <a:p xmlns:a="http://schemas.openxmlformats.org/drawingml/2006/main">
            <a:pPr marL="279400" indent="-127000">
              <a:spcAft>
                <a:spcPts val="1300"/>
              </a:spcAft>
              <a:buChar char="•"/>
              <a:defRPr sz="2100">
                <a:solidFill>
                  <a:srgbClr val="13212D"/>
                </a:solidFill>
                <a:latin typeface="Helvetica Neue"/>
                <a:ea typeface="Helvetica Neue"/>
                <a:cs typeface="Helvetica Neue"/>
              </a:defRPr>
            </a:pPr>
            <a:r>
              <a:rPr sz="2100">
                <a:solidFill>
                  <a:srgbClr val="13212D"/>
                </a:solidFill>
                <a:latin typeface="Helvetica Neue"/>
                <a:ea typeface="Helvetica Neue"/>
                <a:cs typeface="Helvetica Neue"/>
              </a:rPr>
              <a:t>Verify the current indication and prescriber order for the specific component.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9DCC252B-D448-42E8-9F87-D3C4D1AE7D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6115050"/>
            <a:ext cx="101917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>
            <a:defPPr>
              <a:defRPr sz="1125" b="1">
                <a:solidFill>
                  <a:srgbClr val="B94F3D"/>
                </a:solidFill>
                <a:latin typeface="Helvetica Neue"/>
                <a:ea typeface="Helvetica Neue"/>
                <a:cs typeface="Helvetica Neue"/>
              </a:defRPr>
            </a:defPPr>
            <a:lvl1pPr>
              <a:defRPr sz="1125" b="1">
                <a:solidFill>
                  <a:srgbClr val="B94F3D"/>
                </a:solidFill>
                <a:latin typeface="Helvetica Neue"/>
                <a:ea typeface="Helvetica Neue"/>
                <a:cs typeface="Helvetica Neue"/>
              </a:defRPr>
            </a:lvl1pPr>
            <a:lvl2pPr>
              <a:defRPr sz="1125" b="1">
                <a:solidFill>
                  <a:srgbClr val="B94F3D"/>
                </a:solidFill>
                <a:latin typeface="Helvetica Neue"/>
                <a:ea typeface="Helvetica Neue"/>
                <a:cs typeface="Helvetica Neue"/>
              </a:defRPr>
            </a:lvl2pPr>
            <a:lvl3pPr>
              <a:defRPr sz="1125" b="1">
                <a:solidFill>
                  <a:srgbClr val="B94F3D"/>
                </a:solidFill>
                <a:latin typeface="Helvetica Neue"/>
                <a:ea typeface="Helvetica Neue"/>
                <a:cs typeface="Helvetica Neue"/>
              </a:defRPr>
            </a:lvl3pPr>
            <a:lvl4pPr>
              <a:defRPr sz="1125" b="1">
                <a:solidFill>
                  <a:srgbClr val="B94F3D"/>
                </a:solidFill>
                <a:latin typeface="Helvetica Neue"/>
                <a:ea typeface="Helvetica Neue"/>
                <a:cs typeface="Helvetica Neue"/>
              </a:defRPr>
            </a:lvl4pPr>
            <a:lvl5pPr>
              <a:defRPr sz="1125" b="1">
                <a:solidFill>
                  <a:srgbClr val="B94F3D"/>
                </a:solidFill>
                <a:latin typeface="Helvetica Neue"/>
                <a:ea typeface="Helvetica Neue"/>
                <a:cs typeface="Helvetica Neue"/>
              </a:defRPr>
            </a:lvl5pPr>
            <a:lvl6pPr>
              <a:defRPr sz="1125" b="1">
                <a:solidFill>
                  <a:srgbClr val="B94F3D"/>
                </a:solidFill>
                <a:latin typeface="Helvetica Neue"/>
                <a:ea typeface="Helvetica Neue"/>
                <a:cs typeface="Helvetica Neue"/>
              </a:defRPr>
            </a:lvl6pPr>
            <a:lvl7pPr>
              <a:defRPr sz="1125" b="1">
                <a:solidFill>
                  <a:srgbClr val="B94F3D"/>
                </a:solidFill>
                <a:latin typeface="Helvetica Neue"/>
                <a:ea typeface="Helvetica Neue"/>
                <a:cs typeface="Helvetica Neue"/>
              </a:defRPr>
            </a:lvl7pPr>
            <a:lvl8pPr>
              <a:defRPr sz="1125" b="1">
                <a:solidFill>
                  <a:srgbClr val="B94F3D"/>
                </a:solidFill>
                <a:latin typeface="Helvetica Neue"/>
                <a:ea typeface="Helvetica Neue"/>
                <a:cs typeface="Helvetica Neue"/>
              </a:defRPr>
            </a:lvl8pPr>
            <a:lvl9pPr>
              <a:defRPr sz="1125" b="1">
                <a:solidFill>
                  <a:srgbClr val="B94F3D"/>
                </a:solidFill>
                <a:latin typeface="Helvetica Neue"/>
                <a:ea typeface="Helvetica Neue"/>
                <a:cs typeface="Helvetica Neue"/>
              </a:defRPr>
            </a:lvl9pPr>
          </a:lstStyle>
          <a:p xmlns:a="http://schemas.openxmlformats.org/drawingml/2006/main">
            <a:pPr>
              <a:defRPr sz="1125" b="1">
                <a:solidFill>
                  <a:srgbClr val="B94F3D"/>
                </a:solidFill>
                <a:latin typeface="Helvetica Neue"/>
                <a:ea typeface="Helvetica Neue"/>
                <a:cs typeface="Helvetica Neue"/>
              </a:defRPr>
            </a:pPr>
            <a:r>
              <a:rPr sz="1125" b="1">
                <a:solidFill>
                  <a:srgbClr val="B94F3D"/>
                </a:solidFill>
                <a:latin typeface="Helvetica Neue"/>
                <a:ea typeface="Helvetica Neue"/>
                <a:cs typeface="Helvetica Neue"/>
              </a:rPr>
              <a:t>Use current orders, facility policy, and authorized scope when applying this information.</a:t>
            </a:r>
          </a:p>
        </p:txBody>
      </p:sp>
    </p:spTree>
    <p:extLst>
      <p:ext uri="{BB962C8B-B14F-4D97-AF65-F5344CB8AC3E}">
        <p14:creationId xmlns:p14="http://schemas.microsoft.com/office/powerpoint/2010/main" val="933467057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F7F4EE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D48FC12D-D9D0-4DAB-BEF6-09ACB7BB32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2095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37B82"/>
          </a:solidFill>
          <a:ln xmlns:a="http://schemas.openxmlformats.org/drawingml/2006/main" w="0">
            <a:solidFill>
              <a:srgbClr val="237B82"/>
            </a:solidFill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1F15B82C-8F39-4742-89E0-E86C7FC353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00050"/>
            <a:ext cx="10001250" cy="819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>
            <a:defPPr>
              <a:defRPr sz="2700" b="1">
                <a:solidFill>
                  <a:srgbClr val="15324A"/>
                </a:solidFill>
                <a:latin typeface="Helvetica Neue"/>
                <a:ea typeface="Helvetica Neue"/>
                <a:cs typeface="Helvetica Neue"/>
              </a:defRPr>
            </a:defPPr>
            <a:lvl1pPr>
              <a:defRPr sz="2700" b="1">
                <a:solidFill>
                  <a:srgbClr val="15324A"/>
                </a:solidFill>
                <a:latin typeface="Helvetica Neue"/>
                <a:ea typeface="Helvetica Neue"/>
                <a:cs typeface="Helvetica Neue"/>
              </a:defRPr>
            </a:lvl1pPr>
            <a:lvl2pPr>
              <a:defRPr sz="2700" b="1">
                <a:solidFill>
                  <a:srgbClr val="15324A"/>
                </a:solidFill>
                <a:latin typeface="Helvetica Neue"/>
                <a:ea typeface="Helvetica Neue"/>
                <a:cs typeface="Helvetica Neue"/>
              </a:defRPr>
            </a:lvl2pPr>
            <a:lvl3pPr>
              <a:defRPr sz="2700" b="1">
                <a:solidFill>
                  <a:srgbClr val="15324A"/>
                </a:solidFill>
                <a:latin typeface="Helvetica Neue"/>
                <a:ea typeface="Helvetica Neue"/>
                <a:cs typeface="Helvetica Neue"/>
              </a:defRPr>
            </a:lvl3pPr>
            <a:lvl4pPr>
              <a:defRPr sz="2700" b="1">
                <a:solidFill>
                  <a:srgbClr val="15324A"/>
                </a:solidFill>
                <a:latin typeface="Helvetica Neue"/>
                <a:ea typeface="Helvetica Neue"/>
                <a:cs typeface="Helvetica Neue"/>
              </a:defRPr>
            </a:lvl4pPr>
            <a:lvl5pPr>
              <a:defRPr sz="2700" b="1">
                <a:solidFill>
                  <a:srgbClr val="15324A"/>
                </a:solidFill>
                <a:latin typeface="Helvetica Neue"/>
                <a:ea typeface="Helvetica Neue"/>
                <a:cs typeface="Helvetica Neue"/>
              </a:defRPr>
            </a:lvl5pPr>
            <a:lvl6pPr>
              <a:defRPr sz="2700" b="1">
                <a:solidFill>
                  <a:srgbClr val="15324A"/>
                </a:solidFill>
                <a:latin typeface="Helvetica Neue"/>
                <a:ea typeface="Helvetica Neue"/>
                <a:cs typeface="Helvetica Neue"/>
              </a:defRPr>
            </a:lvl6pPr>
            <a:lvl7pPr>
              <a:defRPr sz="2700" b="1">
                <a:solidFill>
                  <a:srgbClr val="15324A"/>
                </a:solidFill>
                <a:latin typeface="Helvetica Neue"/>
                <a:ea typeface="Helvetica Neue"/>
                <a:cs typeface="Helvetica Neue"/>
              </a:defRPr>
            </a:lvl7pPr>
            <a:lvl8pPr>
              <a:defRPr sz="2700" b="1">
                <a:solidFill>
                  <a:srgbClr val="15324A"/>
                </a:solidFill>
                <a:latin typeface="Helvetica Neue"/>
                <a:ea typeface="Helvetica Neue"/>
                <a:cs typeface="Helvetica Neue"/>
              </a:defRPr>
            </a:lvl8pPr>
            <a:lvl9pPr>
              <a:defRPr sz="2700" b="1">
                <a:solidFill>
                  <a:srgbClr val="15324A"/>
                </a:solidFill>
                <a:latin typeface="Helvetica Neue"/>
                <a:ea typeface="Helvetica Neue"/>
                <a:cs typeface="Helvetica Neue"/>
              </a:defRPr>
            </a:lvl9pPr>
          </a:lstStyle>
          <a:p xmlns:a="http://schemas.openxmlformats.org/drawingml/2006/main">
            <a:pPr>
              <a:defRPr sz="2700" b="1">
                <a:solidFill>
                  <a:srgbClr val="15324A"/>
                </a:solidFill>
                <a:latin typeface="Helvetica Neue"/>
                <a:ea typeface="Helvetica Neue"/>
                <a:cs typeface="Helvetica Neue"/>
              </a:defRPr>
            </a:pPr>
            <a:r>
              <a:rPr sz="2700" b="1">
                <a:solidFill>
                  <a:srgbClr val="15324A"/>
                </a:solidFill>
                <a:latin typeface="Helvetica Neue"/>
                <a:ea typeface="Helvetica Neue"/>
                <a:cs typeface="Helvetica Neue"/>
              </a:rPr>
              <a:t>Verification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E43DD2D0-EC59-41AC-A648-11BEDD3D71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1257300"/>
            <a:ext cx="88582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91111"/>
          </a:bodyPr>
          <a:lstStyle xmlns:a="http://schemas.openxmlformats.org/drawingml/2006/main">
            <a:defPPr>
              <a:defRPr sz="1125" b="1">
                <a:solidFill>
                  <a:srgbClr val="237B82"/>
                </a:solidFill>
                <a:latin typeface="Helvetica Neue"/>
                <a:ea typeface="Helvetica Neue"/>
                <a:cs typeface="Helvetica Neue"/>
              </a:defRPr>
            </a:defPPr>
            <a:lvl1pPr>
              <a:defRPr sz="1125" b="1">
                <a:solidFill>
                  <a:srgbClr val="237B82"/>
                </a:solidFill>
                <a:latin typeface="Helvetica Neue"/>
                <a:ea typeface="Helvetica Neue"/>
                <a:cs typeface="Helvetica Neue"/>
              </a:defRPr>
            </a:lvl1pPr>
            <a:lvl2pPr>
              <a:defRPr sz="1125" b="1">
                <a:solidFill>
                  <a:srgbClr val="237B82"/>
                </a:solidFill>
                <a:latin typeface="Helvetica Neue"/>
                <a:ea typeface="Helvetica Neue"/>
                <a:cs typeface="Helvetica Neue"/>
              </a:defRPr>
            </a:lvl2pPr>
            <a:lvl3pPr>
              <a:defRPr sz="1125" b="1">
                <a:solidFill>
                  <a:srgbClr val="237B82"/>
                </a:solidFill>
                <a:latin typeface="Helvetica Neue"/>
                <a:ea typeface="Helvetica Neue"/>
                <a:cs typeface="Helvetica Neue"/>
              </a:defRPr>
            </a:lvl3pPr>
            <a:lvl4pPr>
              <a:defRPr sz="1125" b="1">
                <a:solidFill>
                  <a:srgbClr val="237B82"/>
                </a:solidFill>
                <a:latin typeface="Helvetica Neue"/>
                <a:ea typeface="Helvetica Neue"/>
                <a:cs typeface="Helvetica Neue"/>
              </a:defRPr>
            </a:lvl4pPr>
            <a:lvl5pPr>
              <a:defRPr sz="1125" b="1">
                <a:solidFill>
                  <a:srgbClr val="237B82"/>
                </a:solidFill>
                <a:latin typeface="Helvetica Neue"/>
                <a:ea typeface="Helvetica Neue"/>
                <a:cs typeface="Helvetica Neue"/>
              </a:defRPr>
            </a:lvl5pPr>
            <a:lvl6pPr>
              <a:defRPr sz="1125" b="1">
                <a:solidFill>
                  <a:srgbClr val="237B82"/>
                </a:solidFill>
                <a:latin typeface="Helvetica Neue"/>
                <a:ea typeface="Helvetica Neue"/>
                <a:cs typeface="Helvetica Neue"/>
              </a:defRPr>
            </a:lvl6pPr>
            <a:lvl7pPr>
              <a:defRPr sz="1125" b="1">
                <a:solidFill>
                  <a:srgbClr val="237B82"/>
                </a:solidFill>
                <a:latin typeface="Helvetica Neue"/>
                <a:ea typeface="Helvetica Neue"/>
                <a:cs typeface="Helvetica Neue"/>
              </a:defRPr>
            </a:lvl7pPr>
            <a:lvl8pPr>
              <a:defRPr sz="1125" b="1">
                <a:solidFill>
                  <a:srgbClr val="237B82"/>
                </a:solidFill>
                <a:latin typeface="Helvetica Neue"/>
                <a:ea typeface="Helvetica Neue"/>
                <a:cs typeface="Helvetica Neue"/>
              </a:defRPr>
            </a:lvl8pPr>
            <a:lvl9pPr>
              <a:defRPr sz="1125" b="1">
                <a:solidFill>
                  <a:srgbClr val="237B82"/>
                </a:solidFill>
                <a:latin typeface="Helvetica Neue"/>
                <a:ea typeface="Helvetica Neue"/>
                <a:cs typeface="Helvetica Neue"/>
              </a:defRPr>
            </a:lvl9pPr>
          </a:lstStyle>
          <a:p xmlns:a="http://schemas.openxmlformats.org/drawingml/2006/main">
            <a:pPr>
              <a:defRPr sz="1125" b="1">
                <a:solidFill>
                  <a:srgbClr val="237B82"/>
                </a:solidFill>
                <a:latin typeface="Helvetica Neue"/>
                <a:ea typeface="Helvetica Neue"/>
                <a:cs typeface="Helvetica Neue"/>
              </a:defRPr>
            </a:pPr>
            <a:r>
              <a:rPr sz="1125" b="1">
                <a:solidFill>
                  <a:srgbClr val="237B82"/>
                </a:solidFill>
                <a:latin typeface="Helvetica Neue"/>
                <a:ea typeface="Helvetica Neue"/>
                <a:cs typeface="Helvetica Neue"/>
              </a:rPr>
              <a:t>MODULE 4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2F01F90C-17D5-4881-A589-CB5C566F2E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457200"/>
            <a:ext cx="5334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>
            <a:defPPr>
              <a:defRPr sz="1200" b="1">
                <a:solidFill>
                  <a:srgbClr val="237B82"/>
                </a:solidFill>
                <a:latin typeface="Helvetica Neue"/>
                <a:ea typeface="Helvetica Neue"/>
                <a:cs typeface="Helvetica Neue"/>
              </a:defRPr>
            </a:defPPr>
            <a:lvl1pPr>
              <a:defRPr sz="1200" b="1">
                <a:solidFill>
                  <a:srgbClr val="237B82"/>
                </a:solidFill>
                <a:latin typeface="Helvetica Neue"/>
                <a:ea typeface="Helvetica Neue"/>
                <a:cs typeface="Helvetica Neue"/>
              </a:defRPr>
            </a:lvl1pPr>
            <a:lvl2pPr>
              <a:defRPr sz="1200" b="1">
                <a:solidFill>
                  <a:srgbClr val="237B82"/>
                </a:solidFill>
                <a:latin typeface="Helvetica Neue"/>
                <a:ea typeface="Helvetica Neue"/>
                <a:cs typeface="Helvetica Neue"/>
              </a:defRPr>
            </a:lvl2pPr>
            <a:lvl3pPr>
              <a:defRPr sz="1200" b="1">
                <a:solidFill>
                  <a:srgbClr val="237B82"/>
                </a:solidFill>
                <a:latin typeface="Helvetica Neue"/>
                <a:ea typeface="Helvetica Neue"/>
                <a:cs typeface="Helvetica Neue"/>
              </a:defRPr>
            </a:lvl3pPr>
            <a:lvl4pPr>
              <a:defRPr sz="1200" b="1">
                <a:solidFill>
                  <a:srgbClr val="237B82"/>
                </a:solidFill>
                <a:latin typeface="Helvetica Neue"/>
                <a:ea typeface="Helvetica Neue"/>
                <a:cs typeface="Helvetica Neue"/>
              </a:defRPr>
            </a:lvl4pPr>
            <a:lvl5pPr>
              <a:defRPr sz="1200" b="1">
                <a:solidFill>
                  <a:srgbClr val="237B82"/>
                </a:solidFill>
                <a:latin typeface="Helvetica Neue"/>
                <a:ea typeface="Helvetica Neue"/>
                <a:cs typeface="Helvetica Neue"/>
              </a:defRPr>
            </a:lvl5pPr>
            <a:lvl6pPr>
              <a:defRPr sz="1200" b="1">
                <a:solidFill>
                  <a:srgbClr val="237B82"/>
                </a:solidFill>
                <a:latin typeface="Helvetica Neue"/>
                <a:ea typeface="Helvetica Neue"/>
                <a:cs typeface="Helvetica Neue"/>
              </a:defRPr>
            </a:lvl6pPr>
            <a:lvl7pPr>
              <a:defRPr sz="1200" b="1">
                <a:solidFill>
                  <a:srgbClr val="237B82"/>
                </a:solidFill>
                <a:latin typeface="Helvetica Neue"/>
                <a:ea typeface="Helvetica Neue"/>
                <a:cs typeface="Helvetica Neue"/>
              </a:defRPr>
            </a:lvl7pPr>
            <a:lvl8pPr>
              <a:defRPr sz="1200" b="1">
                <a:solidFill>
                  <a:srgbClr val="237B82"/>
                </a:solidFill>
                <a:latin typeface="Helvetica Neue"/>
                <a:ea typeface="Helvetica Neue"/>
                <a:cs typeface="Helvetica Neue"/>
              </a:defRPr>
            </a:lvl8pPr>
            <a:lvl9pPr>
              <a:defRPr sz="1200" b="1">
                <a:solidFill>
                  <a:srgbClr val="237B82"/>
                </a:solidFill>
                <a:latin typeface="Helvetica Neue"/>
                <a:ea typeface="Helvetica Neue"/>
                <a:cs typeface="Helvetica Neue"/>
              </a:defRPr>
            </a:lvl9pPr>
          </a:lstStyle>
          <a:p xmlns:a="http://schemas.openxmlformats.org/drawingml/2006/main">
            <a:pPr>
              <a:defRPr sz="1200" b="1">
                <a:solidFill>
                  <a:srgbClr val="237B82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00" b="1">
                <a:solidFill>
                  <a:srgbClr val="237B82"/>
                </a:solidFill>
                <a:latin typeface="Helvetica Neue"/>
                <a:ea typeface="Helvetica Neue"/>
                <a:cs typeface="Helvetica Neue"/>
              </a:rPr>
              <a:t>04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15CE7A32-2C7B-4D3F-BE9B-CACE1D3130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1762125"/>
            <a:ext cx="10287000" cy="409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>
            <a:defPPr>
              <a:defRPr sz="2100">
                <a:solidFill>
                  <a:srgbClr val="13212D"/>
                </a:solidFill>
                <a:latin typeface="Helvetica Neue"/>
                <a:ea typeface="Helvetica Neue"/>
                <a:cs typeface="Helvetica Neue"/>
              </a:defRPr>
            </a:defPPr>
            <a:lvl1pPr>
              <a:defRPr sz="2100">
                <a:solidFill>
                  <a:srgbClr val="13212D"/>
                </a:solidFill>
                <a:latin typeface="Helvetica Neue"/>
                <a:ea typeface="Helvetica Neue"/>
                <a:cs typeface="Helvetica Neue"/>
              </a:defRPr>
            </a:lvl1pPr>
            <a:lvl2pPr>
              <a:defRPr sz="2100">
                <a:solidFill>
                  <a:srgbClr val="13212D"/>
                </a:solidFill>
                <a:latin typeface="Helvetica Neue"/>
                <a:ea typeface="Helvetica Neue"/>
                <a:cs typeface="Helvetica Neue"/>
              </a:defRPr>
            </a:lvl2pPr>
            <a:lvl3pPr>
              <a:defRPr sz="2100">
                <a:solidFill>
                  <a:srgbClr val="13212D"/>
                </a:solidFill>
                <a:latin typeface="Helvetica Neue"/>
                <a:ea typeface="Helvetica Neue"/>
                <a:cs typeface="Helvetica Neue"/>
              </a:defRPr>
            </a:lvl3pPr>
            <a:lvl4pPr>
              <a:defRPr sz="2100">
                <a:solidFill>
                  <a:srgbClr val="13212D"/>
                </a:solidFill>
                <a:latin typeface="Helvetica Neue"/>
                <a:ea typeface="Helvetica Neue"/>
                <a:cs typeface="Helvetica Neue"/>
              </a:defRPr>
            </a:lvl4pPr>
            <a:lvl5pPr>
              <a:defRPr sz="2100">
                <a:solidFill>
                  <a:srgbClr val="13212D"/>
                </a:solidFill>
                <a:latin typeface="Helvetica Neue"/>
                <a:ea typeface="Helvetica Neue"/>
                <a:cs typeface="Helvetica Neue"/>
              </a:defRPr>
            </a:lvl5pPr>
            <a:lvl6pPr>
              <a:defRPr sz="2100">
                <a:solidFill>
                  <a:srgbClr val="13212D"/>
                </a:solidFill>
                <a:latin typeface="Helvetica Neue"/>
                <a:ea typeface="Helvetica Neue"/>
                <a:cs typeface="Helvetica Neue"/>
              </a:defRPr>
            </a:lvl6pPr>
            <a:lvl7pPr>
              <a:defRPr sz="2100">
                <a:solidFill>
                  <a:srgbClr val="13212D"/>
                </a:solidFill>
                <a:latin typeface="Helvetica Neue"/>
                <a:ea typeface="Helvetica Neue"/>
                <a:cs typeface="Helvetica Neue"/>
              </a:defRPr>
            </a:lvl7pPr>
            <a:lvl8pPr>
              <a:defRPr sz="2100">
                <a:solidFill>
                  <a:srgbClr val="13212D"/>
                </a:solidFill>
                <a:latin typeface="Helvetica Neue"/>
                <a:ea typeface="Helvetica Neue"/>
                <a:cs typeface="Helvetica Neue"/>
              </a:defRPr>
            </a:lvl8pPr>
            <a:lvl9pPr>
              <a:defRPr sz="2100">
                <a:solidFill>
                  <a:srgbClr val="13212D"/>
                </a:solidFill>
                <a:latin typeface="Helvetica Neue"/>
                <a:ea typeface="Helvetica Neue"/>
                <a:cs typeface="Helvetica Neue"/>
              </a:defRPr>
            </a:lvl9pPr>
          </a:lstStyle>
          <a:p xmlns:a="http://schemas.openxmlformats.org/drawingml/2006/main">
            <a:pPr marL="279400" indent="-127000">
              <a:spcAft>
                <a:spcPts val="1300"/>
              </a:spcAft>
              <a:buChar char="•"/>
              <a:defRPr sz="2100">
                <a:solidFill>
                  <a:srgbClr val="13212D"/>
                </a:solidFill>
                <a:latin typeface="Helvetica Neue"/>
                <a:ea typeface="Helvetica Neue"/>
                <a:cs typeface="Helvetica Neue"/>
              </a:defRPr>
            </a:pPr>
            <a:r>
              <a:rPr sz="2100">
                <a:solidFill>
                  <a:srgbClr val="13212D"/>
                </a:solidFill>
                <a:latin typeface="Helvetica Neue"/>
                <a:ea typeface="Helvetica Neue"/>
                <a:cs typeface="Helvetica Neue"/>
              </a:rPr>
              <a:t>Use the institution's approved two-person or electronic verification process.</a:t>
            </a:r>
          </a:p>
          <a:p xmlns:a="http://schemas.openxmlformats.org/drawingml/2006/main">
            <a:pPr marL="279400" indent="-127000">
              <a:spcAft>
                <a:spcPts val="1300"/>
              </a:spcAft>
              <a:buChar char="•"/>
              <a:defRPr sz="2100">
                <a:solidFill>
                  <a:srgbClr val="13212D"/>
                </a:solidFill>
                <a:latin typeface="Helvetica Neue"/>
                <a:ea typeface="Helvetica Neue"/>
                <a:cs typeface="Helvetica Neue"/>
              </a:defRPr>
            </a:pPr>
            <a:r>
              <a:rPr sz="2100">
                <a:solidFill>
                  <a:srgbClr val="13212D"/>
                </a:solidFill>
                <a:latin typeface="Helvetica Neue"/>
                <a:ea typeface="Helvetica Neue"/>
                <a:cs typeface="Helvetica Neue"/>
              </a:rPr>
              <a:t>Match the patient, order, compatibility record, unit identifiers, expiration, and product appearance before connection.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3577EA0A-F276-488B-99B4-69490F575B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6115050"/>
            <a:ext cx="101917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>
            <a:defPPr>
              <a:defRPr sz="1125" b="1">
                <a:solidFill>
                  <a:srgbClr val="B94F3D"/>
                </a:solidFill>
                <a:latin typeface="Helvetica Neue"/>
                <a:ea typeface="Helvetica Neue"/>
                <a:cs typeface="Helvetica Neue"/>
              </a:defRPr>
            </a:defPPr>
            <a:lvl1pPr>
              <a:defRPr sz="1125" b="1">
                <a:solidFill>
                  <a:srgbClr val="B94F3D"/>
                </a:solidFill>
                <a:latin typeface="Helvetica Neue"/>
                <a:ea typeface="Helvetica Neue"/>
                <a:cs typeface="Helvetica Neue"/>
              </a:defRPr>
            </a:lvl1pPr>
            <a:lvl2pPr>
              <a:defRPr sz="1125" b="1">
                <a:solidFill>
                  <a:srgbClr val="B94F3D"/>
                </a:solidFill>
                <a:latin typeface="Helvetica Neue"/>
                <a:ea typeface="Helvetica Neue"/>
                <a:cs typeface="Helvetica Neue"/>
              </a:defRPr>
            </a:lvl2pPr>
            <a:lvl3pPr>
              <a:defRPr sz="1125" b="1">
                <a:solidFill>
                  <a:srgbClr val="B94F3D"/>
                </a:solidFill>
                <a:latin typeface="Helvetica Neue"/>
                <a:ea typeface="Helvetica Neue"/>
                <a:cs typeface="Helvetica Neue"/>
              </a:defRPr>
            </a:lvl3pPr>
            <a:lvl4pPr>
              <a:defRPr sz="1125" b="1">
                <a:solidFill>
                  <a:srgbClr val="B94F3D"/>
                </a:solidFill>
                <a:latin typeface="Helvetica Neue"/>
                <a:ea typeface="Helvetica Neue"/>
                <a:cs typeface="Helvetica Neue"/>
              </a:defRPr>
            </a:lvl4pPr>
            <a:lvl5pPr>
              <a:defRPr sz="1125" b="1">
                <a:solidFill>
                  <a:srgbClr val="B94F3D"/>
                </a:solidFill>
                <a:latin typeface="Helvetica Neue"/>
                <a:ea typeface="Helvetica Neue"/>
                <a:cs typeface="Helvetica Neue"/>
              </a:defRPr>
            </a:lvl5pPr>
            <a:lvl6pPr>
              <a:defRPr sz="1125" b="1">
                <a:solidFill>
                  <a:srgbClr val="B94F3D"/>
                </a:solidFill>
                <a:latin typeface="Helvetica Neue"/>
                <a:ea typeface="Helvetica Neue"/>
                <a:cs typeface="Helvetica Neue"/>
              </a:defRPr>
            </a:lvl6pPr>
            <a:lvl7pPr>
              <a:defRPr sz="1125" b="1">
                <a:solidFill>
                  <a:srgbClr val="B94F3D"/>
                </a:solidFill>
                <a:latin typeface="Helvetica Neue"/>
                <a:ea typeface="Helvetica Neue"/>
                <a:cs typeface="Helvetica Neue"/>
              </a:defRPr>
            </a:lvl7pPr>
            <a:lvl8pPr>
              <a:defRPr sz="1125" b="1">
                <a:solidFill>
                  <a:srgbClr val="B94F3D"/>
                </a:solidFill>
                <a:latin typeface="Helvetica Neue"/>
                <a:ea typeface="Helvetica Neue"/>
                <a:cs typeface="Helvetica Neue"/>
              </a:defRPr>
            </a:lvl8pPr>
            <a:lvl9pPr>
              <a:defRPr sz="1125" b="1">
                <a:solidFill>
                  <a:srgbClr val="B94F3D"/>
                </a:solidFill>
                <a:latin typeface="Helvetica Neue"/>
                <a:ea typeface="Helvetica Neue"/>
                <a:cs typeface="Helvetica Neue"/>
              </a:defRPr>
            </a:lvl9pPr>
          </a:lstStyle>
          <a:p xmlns:a="http://schemas.openxmlformats.org/drawingml/2006/main">
            <a:pPr>
              <a:defRPr sz="1125" b="1">
                <a:solidFill>
                  <a:srgbClr val="B94F3D"/>
                </a:solidFill>
                <a:latin typeface="Helvetica Neue"/>
                <a:ea typeface="Helvetica Neue"/>
                <a:cs typeface="Helvetica Neue"/>
              </a:defRPr>
            </a:pPr>
            <a:r>
              <a:rPr sz="1125" b="1">
                <a:solidFill>
                  <a:srgbClr val="B94F3D"/>
                </a:solidFill>
                <a:latin typeface="Helvetica Neue"/>
                <a:ea typeface="Helvetica Neue"/>
                <a:cs typeface="Helvetica Neue"/>
              </a:rPr>
              <a:t>Use current orders, facility policy, and authorized scope when applying this information.</a:t>
            </a:r>
          </a:p>
        </p:txBody>
      </p:sp>
    </p:spTree>
    <p:extLst>
      <p:ext uri="{BB962C8B-B14F-4D97-AF65-F5344CB8AC3E}">
        <p14:creationId xmlns:p14="http://schemas.microsoft.com/office/powerpoint/2010/main" val="1141542576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F7F4EE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44D0D149-7D72-4955-9F44-AD4510F530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2095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37B82"/>
          </a:solidFill>
          <a:ln xmlns:a="http://schemas.openxmlformats.org/drawingml/2006/main" w="0">
            <a:solidFill>
              <a:srgbClr val="237B82"/>
            </a:solidFill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F6458CC7-6F0D-49DE-8445-69F2F5AD39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00050"/>
            <a:ext cx="10001250" cy="819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>
            <a:defPPr>
              <a:defRPr sz="2700" b="1">
                <a:solidFill>
                  <a:srgbClr val="15324A"/>
                </a:solidFill>
                <a:latin typeface="Helvetica Neue"/>
                <a:ea typeface="Helvetica Neue"/>
                <a:cs typeface="Helvetica Neue"/>
              </a:defRPr>
            </a:defPPr>
            <a:lvl1pPr>
              <a:defRPr sz="2700" b="1">
                <a:solidFill>
                  <a:srgbClr val="15324A"/>
                </a:solidFill>
                <a:latin typeface="Helvetica Neue"/>
                <a:ea typeface="Helvetica Neue"/>
                <a:cs typeface="Helvetica Neue"/>
              </a:defRPr>
            </a:lvl1pPr>
            <a:lvl2pPr>
              <a:defRPr sz="2700" b="1">
                <a:solidFill>
                  <a:srgbClr val="15324A"/>
                </a:solidFill>
                <a:latin typeface="Helvetica Neue"/>
                <a:ea typeface="Helvetica Neue"/>
                <a:cs typeface="Helvetica Neue"/>
              </a:defRPr>
            </a:lvl2pPr>
            <a:lvl3pPr>
              <a:defRPr sz="2700" b="1">
                <a:solidFill>
                  <a:srgbClr val="15324A"/>
                </a:solidFill>
                <a:latin typeface="Helvetica Neue"/>
                <a:ea typeface="Helvetica Neue"/>
                <a:cs typeface="Helvetica Neue"/>
              </a:defRPr>
            </a:lvl3pPr>
            <a:lvl4pPr>
              <a:defRPr sz="2700" b="1">
                <a:solidFill>
                  <a:srgbClr val="15324A"/>
                </a:solidFill>
                <a:latin typeface="Helvetica Neue"/>
                <a:ea typeface="Helvetica Neue"/>
                <a:cs typeface="Helvetica Neue"/>
              </a:defRPr>
            </a:lvl4pPr>
            <a:lvl5pPr>
              <a:defRPr sz="2700" b="1">
                <a:solidFill>
                  <a:srgbClr val="15324A"/>
                </a:solidFill>
                <a:latin typeface="Helvetica Neue"/>
                <a:ea typeface="Helvetica Neue"/>
                <a:cs typeface="Helvetica Neue"/>
              </a:defRPr>
            </a:lvl5pPr>
            <a:lvl6pPr>
              <a:defRPr sz="2700" b="1">
                <a:solidFill>
                  <a:srgbClr val="15324A"/>
                </a:solidFill>
                <a:latin typeface="Helvetica Neue"/>
                <a:ea typeface="Helvetica Neue"/>
                <a:cs typeface="Helvetica Neue"/>
              </a:defRPr>
            </a:lvl6pPr>
            <a:lvl7pPr>
              <a:defRPr sz="2700" b="1">
                <a:solidFill>
                  <a:srgbClr val="15324A"/>
                </a:solidFill>
                <a:latin typeface="Helvetica Neue"/>
                <a:ea typeface="Helvetica Neue"/>
                <a:cs typeface="Helvetica Neue"/>
              </a:defRPr>
            </a:lvl7pPr>
            <a:lvl8pPr>
              <a:defRPr sz="2700" b="1">
                <a:solidFill>
                  <a:srgbClr val="15324A"/>
                </a:solidFill>
                <a:latin typeface="Helvetica Neue"/>
                <a:ea typeface="Helvetica Neue"/>
                <a:cs typeface="Helvetica Neue"/>
              </a:defRPr>
            </a:lvl8pPr>
            <a:lvl9pPr>
              <a:defRPr sz="2700" b="1">
                <a:solidFill>
                  <a:srgbClr val="15324A"/>
                </a:solidFill>
                <a:latin typeface="Helvetica Neue"/>
                <a:ea typeface="Helvetica Neue"/>
                <a:cs typeface="Helvetica Neue"/>
              </a:defRPr>
            </a:lvl9pPr>
          </a:lstStyle>
          <a:p xmlns:a="http://schemas.openxmlformats.org/drawingml/2006/main">
            <a:pPr>
              <a:defRPr sz="2700" b="1">
                <a:solidFill>
                  <a:srgbClr val="15324A"/>
                </a:solidFill>
                <a:latin typeface="Helvetica Neue"/>
                <a:ea typeface="Helvetica Neue"/>
                <a:cs typeface="Helvetica Neue"/>
              </a:defRPr>
            </a:pPr>
            <a:r>
              <a:rPr sz="2700" b="1">
                <a:solidFill>
                  <a:srgbClr val="15324A"/>
                </a:solidFill>
                <a:latin typeface="Helvetica Neue"/>
                <a:ea typeface="Helvetica Neue"/>
                <a:cs typeface="Helvetica Neue"/>
              </a:rPr>
              <a:t>Administration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989ED5AF-34F7-43CC-8742-A6BAA95092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1257300"/>
            <a:ext cx="88582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91111"/>
          </a:bodyPr>
          <a:lstStyle xmlns:a="http://schemas.openxmlformats.org/drawingml/2006/main">
            <a:defPPr>
              <a:defRPr sz="1125" b="1">
                <a:solidFill>
                  <a:srgbClr val="237B82"/>
                </a:solidFill>
                <a:latin typeface="Helvetica Neue"/>
                <a:ea typeface="Helvetica Neue"/>
                <a:cs typeface="Helvetica Neue"/>
              </a:defRPr>
            </a:defPPr>
            <a:lvl1pPr>
              <a:defRPr sz="1125" b="1">
                <a:solidFill>
                  <a:srgbClr val="237B82"/>
                </a:solidFill>
                <a:latin typeface="Helvetica Neue"/>
                <a:ea typeface="Helvetica Neue"/>
                <a:cs typeface="Helvetica Neue"/>
              </a:defRPr>
            </a:lvl1pPr>
            <a:lvl2pPr>
              <a:defRPr sz="1125" b="1">
                <a:solidFill>
                  <a:srgbClr val="237B82"/>
                </a:solidFill>
                <a:latin typeface="Helvetica Neue"/>
                <a:ea typeface="Helvetica Neue"/>
                <a:cs typeface="Helvetica Neue"/>
              </a:defRPr>
            </a:lvl2pPr>
            <a:lvl3pPr>
              <a:defRPr sz="1125" b="1">
                <a:solidFill>
                  <a:srgbClr val="237B82"/>
                </a:solidFill>
                <a:latin typeface="Helvetica Neue"/>
                <a:ea typeface="Helvetica Neue"/>
                <a:cs typeface="Helvetica Neue"/>
              </a:defRPr>
            </a:lvl3pPr>
            <a:lvl4pPr>
              <a:defRPr sz="1125" b="1">
                <a:solidFill>
                  <a:srgbClr val="237B82"/>
                </a:solidFill>
                <a:latin typeface="Helvetica Neue"/>
                <a:ea typeface="Helvetica Neue"/>
                <a:cs typeface="Helvetica Neue"/>
              </a:defRPr>
            </a:lvl4pPr>
            <a:lvl5pPr>
              <a:defRPr sz="1125" b="1">
                <a:solidFill>
                  <a:srgbClr val="237B82"/>
                </a:solidFill>
                <a:latin typeface="Helvetica Neue"/>
                <a:ea typeface="Helvetica Neue"/>
                <a:cs typeface="Helvetica Neue"/>
              </a:defRPr>
            </a:lvl5pPr>
            <a:lvl6pPr>
              <a:defRPr sz="1125" b="1">
                <a:solidFill>
                  <a:srgbClr val="237B82"/>
                </a:solidFill>
                <a:latin typeface="Helvetica Neue"/>
                <a:ea typeface="Helvetica Neue"/>
                <a:cs typeface="Helvetica Neue"/>
              </a:defRPr>
            </a:lvl6pPr>
            <a:lvl7pPr>
              <a:defRPr sz="1125" b="1">
                <a:solidFill>
                  <a:srgbClr val="237B82"/>
                </a:solidFill>
                <a:latin typeface="Helvetica Neue"/>
                <a:ea typeface="Helvetica Neue"/>
                <a:cs typeface="Helvetica Neue"/>
              </a:defRPr>
            </a:lvl7pPr>
            <a:lvl8pPr>
              <a:defRPr sz="1125" b="1">
                <a:solidFill>
                  <a:srgbClr val="237B82"/>
                </a:solidFill>
                <a:latin typeface="Helvetica Neue"/>
                <a:ea typeface="Helvetica Neue"/>
                <a:cs typeface="Helvetica Neue"/>
              </a:defRPr>
            </a:lvl8pPr>
            <a:lvl9pPr>
              <a:defRPr sz="1125" b="1">
                <a:solidFill>
                  <a:srgbClr val="237B82"/>
                </a:solidFill>
                <a:latin typeface="Helvetica Neue"/>
                <a:ea typeface="Helvetica Neue"/>
                <a:cs typeface="Helvetica Neue"/>
              </a:defRPr>
            </a:lvl9pPr>
          </a:lstStyle>
          <a:p xmlns:a="http://schemas.openxmlformats.org/drawingml/2006/main">
            <a:pPr>
              <a:defRPr sz="1125" b="1">
                <a:solidFill>
                  <a:srgbClr val="237B82"/>
                </a:solidFill>
                <a:latin typeface="Helvetica Neue"/>
                <a:ea typeface="Helvetica Neue"/>
                <a:cs typeface="Helvetica Neue"/>
              </a:defRPr>
            </a:pPr>
            <a:r>
              <a:rPr sz="1125" b="1">
                <a:solidFill>
                  <a:srgbClr val="237B82"/>
                </a:solidFill>
                <a:latin typeface="Helvetica Neue"/>
                <a:ea typeface="Helvetica Neue"/>
                <a:cs typeface="Helvetica Neue"/>
              </a:rPr>
              <a:t>MODULE 4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8BDCB94C-BBCC-48A0-8920-CB401825FF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457200"/>
            <a:ext cx="5334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>
            <a:defPPr>
              <a:defRPr sz="1200" b="1">
                <a:solidFill>
                  <a:srgbClr val="237B82"/>
                </a:solidFill>
                <a:latin typeface="Helvetica Neue"/>
                <a:ea typeface="Helvetica Neue"/>
                <a:cs typeface="Helvetica Neue"/>
              </a:defRPr>
            </a:defPPr>
            <a:lvl1pPr>
              <a:defRPr sz="1200" b="1">
                <a:solidFill>
                  <a:srgbClr val="237B82"/>
                </a:solidFill>
                <a:latin typeface="Helvetica Neue"/>
                <a:ea typeface="Helvetica Neue"/>
                <a:cs typeface="Helvetica Neue"/>
              </a:defRPr>
            </a:lvl1pPr>
            <a:lvl2pPr>
              <a:defRPr sz="1200" b="1">
                <a:solidFill>
                  <a:srgbClr val="237B82"/>
                </a:solidFill>
                <a:latin typeface="Helvetica Neue"/>
                <a:ea typeface="Helvetica Neue"/>
                <a:cs typeface="Helvetica Neue"/>
              </a:defRPr>
            </a:lvl2pPr>
            <a:lvl3pPr>
              <a:defRPr sz="1200" b="1">
                <a:solidFill>
                  <a:srgbClr val="237B82"/>
                </a:solidFill>
                <a:latin typeface="Helvetica Neue"/>
                <a:ea typeface="Helvetica Neue"/>
                <a:cs typeface="Helvetica Neue"/>
              </a:defRPr>
            </a:lvl3pPr>
            <a:lvl4pPr>
              <a:defRPr sz="1200" b="1">
                <a:solidFill>
                  <a:srgbClr val="237B82"/>
                </a:solidFill>
                <a:latin typeface="Helvetica Neue"/>
                <a:ea typeface="Helvetica Neue"/>
                <a:cs typeface="Helvetica Neue"/>
              </a:defRPr>
            </a:lvl4pPr>
            <a:lvl5pPr>
              <a:defRPr sz="1200" b="1">
                <a:solidFill>
                  <a:srgbClr val="237B82"/>
                </a:solidFill>
                <a:latin typeface="Helvetica Neue"/>
                <a:ea typeface="Helvetica Neue"/>
                <a:cs typeface="Helvetica Neue"/>
              </a:defRPr>
            </a:lvl5pPr>
            <a:lvl6pPr>
              <a:defRPr sz="1200" b="1">
                <a:solidFill>
                  <a:srgbClr val="237B82"/>
                </a:solidFill>
                <a:latin typeface="Helvetica Neue"/>
                <a:ea typeface="Helvetica Neue"/>
                <a:cs typeface="Helvetica Neue"/>
              </a:defRPr>
            </a:lvl6pPr>
            <a:lvl7pPr>
              <a:defRPr sz="1200" b="1">
                <a:solidFill>
                  <a:srgbClr val="237B82"/>
                </a:solidFill>
                <a:latin typeface="Helvetica Neue"/>
                <a:ea typeface="Helvetica Neue"/>
                <a:cs typeface="Helvetica Neue"/>
              </a:defRPr>
            </a:lvl7pPr>
            <a:lvl8pPr>
              <a:defRPr sz="1200" b="1">
                <a:solidFill>
                  <a:srgbClr val="237B82"/>
                </a:solidFill>
                <a:latin typeface="Helvetica Neue"/>
                <a:ea typeface="Helvetica Neue"/>
                <a:cs typeface="Helvetica Neue"/>
              </a:defRPr>
            </a:lvl8pPr>
            <a:lvl9pPr>
              <a:defRPr sz="1200" b="1">
                <a:solidFill>
                  <a:srgbClr val="237B82"/>
                </a:solidFill>
                <a:latin typeface="Helvetica Neue"/>
                <a:ea typeface="Helvetica Neue"/>
                <a:cs typeface="Helvetica Neue"/>
              </a:defRPr>
            </a:lvl9pPr>
          </a:lstStyle>
          <a:p xmlns:a="http://schemas.openxmlformats.org/drawingml/2006/main">
            <a:pPr>
              <a:defRPr sz="1200" b="1">
                <a:solidFill>
                  <a:srgbClr val="237B82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00" b="1">
                <a:solidFill>
                  <a:srgbClr val="237B82"/>
                </a:solidFill>
                <a:latin typeface="Helvetica Neue"/>
                <a:ea typeface="Helvetica Neue"/>
                <a:cs typeface="Helvetica Neue"/>
              </a:rPr>
              <a:t>05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34384B29-3461-4668-9C96-75A1932D00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1762125"/>
            <a:ext cx="10287000" cy="409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>
            <a:defPPr>
              <a:defRPr sz="2100">
                <a:solidFill>
                  <a:srgbClr val="13212D"/>
                </a:solidFill>
                <a:latin typeface="Helvetica Neue"/>
                <a:ea typeface="Helvetica Neue"/>
                <a:cs typeface="Helvetica Neue"/>
              </a:defRPr>
            </a:defPPr>
            <a:lvl1pPr>
              <a:defRPr sz="2100">
                <a:solidFill>
                  <a:srgbClr val="13212D"/>
                </a:solidFill>
                <a:latin typeface="Helvetica Neue"/>
                <a:ea typeface="Helvetica Neue"/>
                <a:cs typeface="Helvetica Neue"/>
              </a:defRPr>
            </a:lvl1pPr>
            <a:lvl2pPr>
              <a:defRPr sz="2100">
                <a:solidFill>
                  <a:srgbClr val="13212D"/>
                </a:solidFill>
                <a:latin typeface="Helvetica Neue"/>
                <a:ea typeface="Helvetica Neue"/>
                <a:cs typeface="Helvetica Neue"/>
              </a:defRPr>
            </a:lvl2pPr>
            <a:lvl3pPr>
              <a:defRPr sz="2100">
                <a:solidFill>
                  <a:srgbClr val="13212D"/>
                </a:solidFill>
                <a:latin typeface="Helvetica Neue"/>
                <a:ea typeface="Helvetica Neue"/>
                <a:cs typeface="Helvetica Neue"/>
              </a:defRPr>
            </a:lvl3pPr>
            <a:lvl4pPr>
              <a:defRPr sz="2100">
                <a:solidFill>
                  <a:srgbClr val="13212D"/>
                </a:solidFill>
                <a:latin typeface="Helvetica Neue"/>
                <a:ea typeface="Helvetica Neue"/>
                <a:cs typeface="Helvetica Neue"/>
              </a:defRPr>
            </a:lvl4pPr>
            <a:lvl5pPr>
              <a:defRPr sz="2100">
                <a:solidFill>
                  <a:srgbClr val="13212D"/>
                </a:solidFill>
                <a:latin typeface="Helvetica Neue"/>
                <a:ea typeface="Helvetica Neue"/>
                <a:cs typeface="Helvetica Neue"/>
              </a:defRPr>
            </a:lvl5pPr>
            <a:lvl6pPr>
              <a:defRPr sz="2100">
                <a:solidFill>
                  <a:srgbClr val="13212D"/>
                </a:solidFill>
                <a:latin typeface="Helvetica Neue"/>
                <a:ea typeface="Helvetica Neue"/>
                <a:cs typeface="Helvetica Neue"/>
              </a:defRPr>
            </a:lvl6pPr>
            <a:lvl7pPr>
              <a:defRPr sz="2100">
                <a:solidFill>
                  <a:srgbClr val="13212D"/>
                </a:solidFill>
                <a:latin typeface="Helvetica Neue"/>
                <a:ea typeface="Helvetica Neue"/>
                <a:cs typeface="Helvetica Neue"/>
              </a:defRPr>
            </a:lvl7pPr>
            <a:lvl8pPr>
              <a:defRPr sz="2100">
                <a:solidFill>
                  <a:srgbClr val="13212D"/>
                </a:solidFill>
                <a:latin typeface="Helvetica Neue"/>
                <a:ea typeface="Helvetica Neue"/>
                <a:cs typeface="Helvetica Neue"/>
              </a:defRPr>
            </a:lvl8pPr>
            <a:lvl9pPr>
              <a:defRPr sz="2100">
                <a:solidFill>
                  <a:srgbClr val="13212D"/>
                </a:solidFill>
                <a:latin typeface="Helvetica Neue"/>
                <a:ea typeface="Helvetica Neue"/>
                <a:cs typeface="Helvetica Neue"/>
              </a:defRPr>
            </a:lvl9pPr>
          </a:lstStyle>
          <a:p xmlns:a="http://schemas.openxmlformats.org/drawingml/2006/main">
            <a:pPr marL="279400" indent="-127000">
              <a:spcAft>
                <a:spcPts val="1300"/>
              </a:spcAft>
              <a:buChar char="•"/>
              <a:defRPr sz="2100">
                <a:solidFill>
                  <a:srgbClr val="13212D"/>
                </a:solidFill>
                <a:latin typeface="Helvetica Neue"/>
                <a:ea typeface="Helvetica Neue"/>
                <a:cs typeface="Helvetica Neue"/>
              </a:defRPr>
            </a:pPr>
            <a:r>
              <a:rPr sz="2100">
                <a:solidFill>
                  <a:srgbClr val="13212D"/>
                </a:solidFill>
                <a:latin typeface="Helvetica Neue"/>
                <a:ea typeface="Helvetica Neue"/>
                <a:cs typeface="Helvetica Neue"/>
              </a:rPr>
              <a:t>Obtain baseline assessment, use approved blood tubing and compatible solution, begin within the required time, remain available during the early period, and monitor at policy-defined intervals.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17CAD146-A23A-41A1-A936-E29D1DF97A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6115050"/>
            <a:ext cx="101917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>
            <a:defPPr>
              <a:defRPr sz="1125" b="1">
                <a:solidFill>
                  <a:srgbClr val="B94F3D"/>
                </a:solidFill>
                <a:latin typeface="Helvetica Neue"/>
                <a:ea typeface="Helvetica Neue"/>
                <a:cs typeface="Helvetica Neue"/>
              </a:defRPr>
            </a:defPPr>
            <a:lvl1pPr>
              <a:defRPr sz="1125" b="1">
                <a:solidFill>
                  <a:srgbClr val="B94F3D"/>
                </a:solidFill>
                <a:latin typeface="Helvetica Neue"/>
                <a:ea typeface="Helvetica Neue"/>
                <a:cs typeface="Helvetica Neue"/>
              </a:defRPr>
            </a:lvl1pPr>
            <a:lvl2pPr>
              <a:defRPr sz="1125" b="1">
                <a:solidFill>
                  <a:srgbClr val="B94F3D"/>
                </a:solidFill>
                <a:latin typeface="Helvetica Neue"/>
                <a:ea typeface="Helvetica Neue"/>
                <a:cs typeface="Helvetica Neue"/>
              </a:defRPr>
            </a:lvl2pPr>
            <a:lvl3pPr>
              <a:defRPr sz="1125" b="1">
                <a:solidFill>
                  <a:srgbClr val="B94F3D"/>
                </a:solidFill>
                <a:latin typeface="Helvetica Neue"/>
                <a:ea typeface="Helvetica Neue"/>
                <a:cs typeface="Helvetica Neue"/>
              </a:defRPr>
            </a:lvl3pPr>
            <a:lvl4pPr>
              <a:defRPr sz="1125" b="1">
                <a:solidFill>
                  <a:srgbClr val="B94F3D"/>
                </a:solidFill>
                <a:latin typeface="Helvetica Neue"/>
                <a:ea typeface="Helvetica Neue"/>
                <a:cs typeface="Helvetica Neue"/>
              </a:defRPr>
            </a:lvl4pPr>
            <a:lvl5pPr>
              <a:defRPr sz="1125" b="1">
                <a:solidFill>
                  <a:srgbClr val="B94F3D"/>
                </a:solidFill>
                <a:latin typeface="Helvetica Neue"/>
                <a:ea typeface="Helvetica Neue"/>
                <a:cs typeface="Helvetica Neue"/>
              </a:defRPr>
            </a:lvl5pPr>
            <a:lvl6pPr>
              <a:defRPr sz="1125" b="1">
                <a:solidFill>
                  <a:srgbClr val="B94F3D"/>
                </a:solidFill>
                <a:latin typeface="Helvetica Neue"/>
                <a:ea typeface="Helvetica Neue"/>
                <a:cs typeface="Helvetica Neue"/>
              </a:defRPr>
            </a:lvl6pPr>
            <a:lvl7pPr>
              <a:defRPr sz="1125" b="1">
                <a:solidFill>
                  <a:srgbClr val="B94F3D"/>
                </a:solidFill>
                <a:latin typeface="Helvetica Neue"/>
                <a:ea typeface="Helvetica Neue"/>
                <a:cs typeface="Helvetica Neue"/>
              </a:defRPr>
            </a:lvl7pPr>
            <a:lvl8pPr>
              <a:defRPr sz="1125" b="1">
                <a:solidFill>
                  <a:srgbClr val="B94F3D"/>
                </a:solidFill>
                <a:latin typeface="Helvetica Neue"/>
                <a:ea typeface="Helvetica Neue"/>
                <a:cs typeface="Helvetica Neue"/>
              </a:defRPr>
            </a:lvl8pPr>
            <a:lvl9pPr>
              <a:defRPr sz="1125" b="1">
                <a:solidFill>
                  <a:srgbClr val="B94F3D"/>
                </a:solidFill>
                <a:latin typeface="Helvetica Neue"/>
                <a:ea typeface="Helvetica Neue"/>
                <a:cs typeface="Helvetica Neue"/>
              </a:defRPr>
            </a:lvl9pPr>
          </a:lstStyle>
          <a:p xmlns:a="http://schemas.openxmlformats.org/drawingml/2006/main">
            <a:pPr>
              <a:defRPr sz="1125" b="1">
                <a:solidFill>
                  <a:srgbClr val="B94F3D"/>
                </a:solidFill>
                <a:latin typeface="Helvetica Neue"/>
                <a:ea typeface="Helvetica Neue"/>
                <a:cs typeface="Helvetica Neue"/>
              </a:defRPr>
            </a:pPr>
            <a:r>
              <a:rPr sz="1125" b="1">
                <a:solidFill>
                  <a:srgbClr val="B94F3D"/>
                </a:solidFill>
                <a:latin typeface="Helvetica Neue"/>
                <a:ea typeface="Helvetica Neue"/>
                <a:cs typeface="Helvetica Neue"/>
              </a:rPr>
              <a:t>Use current orders, facility policy, and authorized scope when applying this information.</a:t>
            </a:r>
          </a:p>
        </p:txBody>
      </p:sp>
    </p:spTree>
    <p:extLst>
      <p:ext uri="{BB962C8B-B14F-4D97-AF65-F5344CB8AC3E}">
        <p14:creationId xmlns:p14="http://schemas.microsoft.com/office/powerpoint/2010/main" val="920429706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F7F4EE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D6237EF5-BF70-406E-941D-5A00CC8762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2095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37B82"/>
          </a:solidFill>
          <a:ln xmlns:a="http://schemas.openxmlformats.org/drawingml/2006/main" w="0">
            <a:solidFill>
              <a:srgbClr val="237B82"/>
            </a:solidFill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CB6DBED5-BD51-4AB3-A59A-4B71CA7D8B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00050"/>
            <a:ext cx="10001250" cy="819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>
            <a:defPPr>
              <a:defRPr sz="2700" b="1">
                <a:solidFill>
                  <a:srgbClr val="15324A"/>
                </a:solidFill>
                <a:latin typeface="Helvetica Neue"/>
                <a:ea typeface="Helvetica Neue"/>
                <a:cs typeface="Helvetica Neue"/>
              </a:defRPr>
            </a:defPPr>
            <a:lvl1pPr>
              <a:defRPr sz="2700" b="1">
                <a:solidFill>
                  <a:srgbClr val="15324A"/>
                </a:solidFill>
                <a:latin typeface="Helvetica Neue"/>
                <a:ea typeface="Helvetica Neue"/>
                <a:cs typeface="Helvetica Neue"/>
              </a:defRPr>
            </a:lvl1pPr>
            <a:lvl2pPr>
              <a:defRPr sz="2700" b="1">
                <a:solidFill>
                  <a:srgbClr val="15324A"/>
                </a:solidFill>
                <a:latin typeface="Helvetica Neue"/>
                <a:ea typeface="Helvetica Neue"/>
                <a:cs typeface="Helvetica Neue"/>
              </a:defRPr>
            </a:lvl2pPr>
            <a:lvl3pPr>
              <a:defRPr sz="2700" b="1">
                <a:solidFill>
                  <a:srgbClr val="15324A"/>
                </a:solidFill>
                <a:latin typeface="Helvetica Neue"/>
                <a:ea typeface="Helvetica Neue"/>
                <a:cs typeface="Helvetica Neue"/>
              </a:defRPr>
            </a:lvl3pPr>
            <a:lvl4pPr>
              <a:defRPr sz="2700" b="1">
                <a:solidFill>
                  <a:srgbClr val="15324A"/>
                </a:solidFill>
                <a:latin typeface="Helvetica Neue"/>
                <a:ea typeface="Helvetica Neue"/>
                <a:cs typeface="Helvetica Neue"/>
              </a:defRPr>
            </a:lvl4pPr>
            <a:lvl5pPr>
              <a:defRPr sz="2700" b="1">
                <a:solidFill>
                  <a:srgbClr val="15324A"/>
                </a:solidFill>
                <a:latin typeface="Helvetica Neue"/>
                <a:ea typeface="Helvetica Neue"/>
                <a:cs typeface="Helvetica Neue"/>
              </a:defRPr>
            </a:lvl5pPr>
            <a:lvl6pPr>
              <a:defRPr sz="2700" b="1">
                <a:solidFill>
                  <a:srgbClr val="15324A"/>
                </a:solidFill>
                <a:latin typeface="Helvetica Neue"/>
                <a:ea typeface="Helvetica Neue"/>
                <a:cs typeface="Helvetica Neue"/>
              </a:defRPr>
            </a:lvl6pPr>
            <a:lvl7pPr>
              <a:defRPr sz="2700" b="1">
                <a:solidFill>
                  <a:srgbClr val="15324A"/>
                </a:solidFill>
                <a:latin typeface="Helvetica Neue"/>
                <a:ea typeface="Helvetica Neue"/>
                <a:cs typeface="Helvetica Neue"/>
              </a:defRPr>
            </a:lvl7pPr>
            <a:lvl8pPr>
              <a:defRPr sz="2700" b="1">
                <a:solidFill>
                  <a:srgbClr val="15324A"/>
                </a:solidFill>
                <a:latin typeface="Helvetica Neue"/>
                <a:ea typeface="Helvetica Neue"/>
                <a:cs typeface="Helvetica Neue"/>
              </a:defRPr>
            </a:lvl8pPr>
            <a:lvl9pPr>
              <a:defRPr sz="2700" b="1">
                <a:solidFill>
                  <a:srgbClr val="15324A"/>
                </a:solidFill>
                <a:latin typeface="Helvetica Neue"/>
                <a:ea typeface="Helvetica Neue"/>
                <a:cs typeface="Helvetica Neue"/>
              </a:defRPr>
            </a:lvl9pPr>
          </a:lstStyle>
          <a:p xmlns:a="http://schemas.openxmlformats.org/drawingml/2006/main">
            <a:pPr>
              <a:defRPr sz="2700" b="1">
                <a:solidFill>
                  <a:srgbClr val="15324A"/>
                </a:solidFill>
                <a:latin typeface="Helvetica Neue"/>
                <a:ea typeface="Helvetica Neue"/>
                <a:cs typeface="Helvetica Neue"/>
              </a:defRPr>
            </a:pPr>
            <a:r>
              <a:rPr sz="2700" b="1">
                <a:solidFill>
                  <a:srgbClr val="15324A"/>
                </a:solidFill>
                <a:latin typeface="Helvetica Neue"/>
                <a:ea typeface="Helvetica Neue"/>
                <a:cs typeface="Helvetica Neue"/>
              </a:rPr>
              <a:t>Suspected reaction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64E7208A-44B9-48D8-A252-C244C37F92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1257300"/>
            <a:ext cx="88582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91111"/>
          </a:bodyPr>
          <a:lstStyle xmlns:a="http://schemas.openxmlformats.org/drawingml/2006/main">
            <a:defPPr>
              <a:defRPr sz="1125" b="1">
                <a:solidFill>
                  <a:srgbClr val="237B82"/>
                </a:solidFill>
                <a:latin typeface="Helvetica Neue"/>
                <a:ea typeface="Helvetica Neue"/>
                <a:cs typeface="Helvetica Neue"/>
              </a:defRPr>
            </a:defPPr>
            <a:lvl1pPr>
              <a:defRPr sz="1125" b="1">
                <a:solidFill>
                  <a:srgbClr val="237B82"/>
                </a:solidFill>
                <a:latin typeface="Helvetica Neue"/>
                <a:ea typeface="Helvetica Neue"/>
                <a:cs typeface="Helvetica Neue"/>
              </a:defRPr>
            </a:lvl1pPr>
            <a:lvl2pPr>
              <a:defRPr sz="1125" b="1">
                <a:solidFill>
                  <a:srgbClr val="237B82"/>
                </a:solidFill>
                <a:latin typeface="Helvetica Neue"/>
                <a:ea typeface="Helvetica Neue"/>
                <a:cs typeface="Helvetica Neue"/>
              </a:defRPr>
            </a:lvl2pPr>
            <a:lvl3pPr>
              <a:defRPr sz="1125" b="1">
                <a:solidFill>
                  <a:srgbClr val="237B82"/>
                </a:solidFill>
                <a:latin typeface="Helvetica Neue"/>
                <a:ea typeface="Helvetica Neue"/>
                <a:cs typeface="Helvetica Neue"/>
              </a:defRPr>
            </a:lvl3pPr>
            <a:lvl4pPr>
              <a:defRPr sz="1125" b="1">
                <a:solidFill>
                  <a:srgbClr val="237B82"/>
                </a:solidFill>
                <a:latin typeface="Helvetica Neue"/>
                <a:ea typeface="Helvetica Neue"/>
                <a:cs typeface="Helvetica Neue"/>
              </a:defRPr>
            </a:lvl4pPr>
            <a:lvl5pPr>
              <a:defRPr sz="1125" b="1">
                <a:solidFill>
                  <a:srgbClr val="237B82"/>
                </a:solidFill>
                <a:latin typeface="Helvetica Neue"/>
                <a:ea typeface="Helvetica Neue"/>
                <a:cs typeface="Helvetica Neue"/>
              </a:defRPr>
            </a:lvl5pPr>
            <a:lvl6pPr>
              <a:defRPr sz="1125" b="1">
                <a:solidFill>
                  <a:srgbClr val="237B82"/>
                </a:solidFill>
                <a:latin typeface="Helvetica Neue"/>
                <a:ea typeface="Helvetica Neue"/>
                <a:cs typeface="Helvetica Neue"/>
              </a:defRPr>
            </a:lvl6pPr>
            <a:lvl7pPr>
              <a:defRPr sz="1125" b="1">
                <a:solidFill>
                  <a:srgbClr val="237B82"/>
                </a:solidFill>
                <a:latin typeface="Helvetica Neue"/>
                <a:ea typeface="Helvetica Neue"/>
                <a:cs typeface="Helvetica Neue"/>
              </a:defRPr>
            </a:lvl7pPr>
            <a:lvl8pPr>
              <a:defRPr sz="1125" b="1">
                <a:solidFill>
                  <a:srgbClr val="237B82"/>
                </a:solidFill>
                <a:latin typeface="Helvetica Neue"/>
                <a:ea typeface="Helvetica Neue"/>
                <a:cs typeface="Helvetica Neue"/>
              </a:defRPr>
            </a:lvl8pPr>
            <a:lvl9pPr>
              <a:defRPr sz="1125" b="1">
                <a:solidFill>
                  <a:srgbClr val="237B82"/>
                </a:solidFill>
                <a:latin typeface="Helvetica Neue"/>
                <a:ea typeface="Helvetica Neue"/>
                <a:cs typeface="Helvetica Neue"/>
              </a:defRPr>
            </a:lvl9pPr>
          </a:lstStyle>
          <a:p xmlns:a="http://schemas.openxmlformats.org/drawingml/2006/main">
            <a:pPr>
              <a:defRPr sz="1125" b="1">
                <a:solidFill>
                  <a:srgbClr val="237B82"/>
                </a:solidFill>
                <a:latin typeface="Helvetica Neue"/>
                <a:ea typeface="Helvetica Neue"/>
                <a:cs typeface="Helvetica Neue"/>
              </a:defRPr>
            </a:pPr>
            <a:r>
              <a:rPr sz="1125" b="1">
                <a:solidFill>
                  <a:srgbClr val="237B82"/>
                </a:solidFill>
                <a:latin typeface="Helvetica Neue"/>
                <a:ea typeface="Helvetica Neue"/>
                <a:cs typeface="Helvetica Neue"/>
              </a:rPr>
              <a:t>MODULE 4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01793AA6-D69F-4693-BF0E-01F7D3CD2B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457200"/>
            <a:ext cx="5334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>
            <a:defPPr>
              <a:defRPr sz="1200" b="1">
                <a:solidFill>
                  <a:srgbClr val="237B82"/>
                </a:solidFill>
                <a:latin typeface="Helvetica Neue"/>
                <a:ea typeface="Helvetica Neue"/>
                <a:cs typeface="Helvetica Neue"/>
              </a:defRPr>
            </a:defPPr>
            <a:lvl1pPr>
              <a:defRPr sz="1200" b="1">
                <a:solidFill>
                  <a:srgbClr val="237B82"/>
                </a:solidFill>
                <a:latin typeface="Helvetica Neue"/>
                <a:ea typeface="Helvetica Neue"/>
                <a:cs typeface="Helvetica Neue"/>
              </a:defRPr>
            </a:lvl1pPr>
            <a:lvl2pPr>
              <a:defRPr sz="1200" b="1">
                <a:solidFill>
                  <a:srgbClr val="237B82"/>
                </a:solidFill>
                <a:latin typeface="Helvetica Neue"/>
                <a:ea typeface="Helvetica Neue"/>
                <a:cs typeface="Helvetica Neue"/>
              </a:defRPr>
            </a:lvl2pPr>
            <a:lvl3pPr>
              <a:defRPr sz="1200" b="1">
                <a:solidFill>
                  <a:srgbClr val="237B82"/>
                </a:solidFill>
                <a:latin typeface="Helvetica Neue"/>
                <a:ea typeface="Helvetica Neue"/>
                <a:cs typeface="Helvetica Neue"/>
              </a:defRPr>
            </a:lvl3pPr>
            <a:lvl4pPr>
              <a:defRPr sz="1200" b="1">
                <a:solidFill>
                  <a:srgbClr val="237B82"/>
                </a:solidFill>
                <a:latin typeface="Helvetica Neue"/>
                <a:ea typeface="Helvetica Neue"/>
                <a:cs typeface="Helvetica Neue"/>
              </a:defRPr>
            </a:lvl4pPr>
            <a:lvl5pPr>
              <a:defRPr sz="1200" b="1">
                <a:solidFill>
                  <a:srgbClr val="237B82"/>
                </a:solidFill>
                <a:latin typeface="Helvetica Neue"/>
                <a:ea typeface="Helvetica Neue"/>
                <a:cs typeface="Helvetica Neue"/>
              </a:defRPr>
            </a:lvl5pPr>
            <a:lvl6pPr>
              <a:defRPr sz="1200" b="1">
                <a:solidFill>
                  <a:srgbClr val="237B82"/>
                </a:solidFill>
                <a:latin typeface="Helvetica Neue"/>
                <a:ea typeface="Helvetica Neue"/>
                <a:cs typeface="Helvetica Neue"/>
              </a:defRPr>
            </a:lvl6pPr>
            <a:lvl7pPr>
              <a:defRPr sz="1200" b="1">
                <a:solidFill>
                  <a:srgbClr val="237B82"/>
                </a:solidFill>
                <a:latin typeface="Helvetica Neue"/>
                <a:ea typeface="Helvetica Neue"/>
                <a:cs typeface="Helvetica Neue"/>
              </a:defRPr>
            </a:lvl7pPr>
            <a:lvl8pPr>
              <a:defRPr sz="1200" b="1">
                <a:solidFill>
                  <a:srgbClr val="237B82"/>
                </a:solidFill>
                <a:latin typeface="Helvetica Neue"/>
                <a:ea typeface="Helvetica Neue"/>
                <a:cs typeface="Helvetica Neue"/>
              </a:defRPr>
            </a:lvl8pPr>
            <a:lvl9pPr>
              <a:defRPr sz="1200" b="1">
                <a:solidFill>
                  <a:srgbClr val="237B82"/>
                </a:solidFill>
                <a:latin typeface="Helvetica Neue"/>
                <a:ea typeface="Helvetica Neue"/>
                <a:cs typeface="Helvetica Neue"/>
              </a:defRPr>
            </a:lvl9pPr>
          </a:lstStyle>
          <a:p xmlns:a="http://schemas.openxmlformats.org/drawingml/2006/main">
            <a:pPr>
              <a:defRPr sz="1200" b="1">
                <a:solidFill>
                  <a:srgbClr val="237B82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00" b="1">
                <a:solidFill>
                  <a:srgbClr val="237B82"/>
                </a:solidFill>
                <a:latin typeface="Helvetica Neue"/>
                <a:ea typeface="Helvetica Neue"/>
                <a:cs typeface="Helvetica Neue"/>
              </a:rPr>
              <a:t>06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3FB43D61-1C29-46A8-9CD6-88A5E5F7F2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1762125"/>
            <a:ext cx="10287000" cy="409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>
            <a:defPPr>
              <a:defRPr sz="2100">
                <a:solidFill>
                  <a:srgbClr val="13212D"/>
                </a:solidFill>
                <a:latin typeface="Helvetica Neue"/>
                <a:ea typeface="Helvetica Neue"/>
                <a:cs typeface="Helvetica Neue"/>
              </a:defRPr>
            </a:defPPr>
            <a:lvl1pPr>
              <a:defRPr sz="2100">
                <a:solidFill>
                  <a:srgbClr val="13212D"/>
                </a:solidFill>
                <a:latin typeface="Helvetica Neue"/>
                <a:ea typeface="Helvetica Neue"/>
                <a:cs typeface="Helvetica Neue"/>
              </a:defRPr>
            </a:lvl1pPr>
            <a:lvl2pPr>
              <a:defRPr sz="2100">
                <a:solidFill>
                  <a:srgbClr val="13212D"/>
                </a:solidFill>
                <a:latin typeface="Helvetica Neue"/>
                <a:ea typeface="Helvetica Neue"/>
                <a:cs typeface="Helvetica Neue"/>
              </a:defRPr>
            </a:lvl2pPr>
            <a:lvl3pPr>
              <a:defRPr sz="2100">
                <a:solidFill>
                  <a:srgbClr val="13212D"/>
                </a:solidFill>
                <a:latin typeface="Helvetica Neue"/>
                <a:ea typeface="Helvetica Neue"/>
                <a:cs typeface="Helvetica Neue"/>
              </a:defRPr>
            </a:lvl3pPr>
            <a:lvl4pPr>
              <a:defRPr sz="2100">
                <a:solidFill>
                  <a:srgbClr val="13212D"/>
                </a:solidFill>
                <a:latin typeface="Helvetica Neue"/>
                <a:ea typeface="Helvetica Neue"/>
                <a:cs typeface="Helvetica Neue"/>
              </a:defRPr>
            </a:lvl4pPr>
            <a:lvl5pPr>
              <a:defRPr sz="2100">
                <a:solidFill>
                  <a:srgbClr val="13212D"/>
                </a:solidFill>
                <a:latin typeface="Helvetica Neue"/>
                <a:ea typeface="Helvetica Neue"/>
                <a:cs typeface="Helvetica Neue"/>
              </a:defRPr>
            </a:lvl5pPr>
            <a:lvl6pPr>
              <a:defRPr sz="2100">
                <a:solidFill>
                  <a:srgbClr val="13212D"/>
                </a:solidFill>
                <a:latin typeface="Helvetica Neue"/>
                <a:ea typeface="Helvetica Neue"/>
                <a:cs typeface="Helvetica Neue"/>
              </a:defRPr>
            </a:lvl6pPr>
            <a:lvl7pPr>
              <a:defRPr sz="2100">
                <a:solidFill>
                  <a:srgbClr val="13212D"/>
                </a:solidFill>
                <a:latin typeface="Helvetica Neue"/>
                <a:ea typeface="Helvetica Neue"/>
                <a:cs typeface="Helvetica Neue"/>
              </a:defRPr>
            </a:lvl7pPr>
            <a:lvl8pPr>
              <a:defRPr sz="2100">
                <a:solidFill>
                  <a:srgbClr val="13212D"/>
                </a:solidFill>
                <a:latin typeface="Helvetica Neue"/>
                <a:ea typeface="Helvetica Neue"/>
                <a:cs typeface="Helvetica Neue"/>
              </a:defRPr>
            </a:lvl8pPr>
            <a:lvl9pPr>
              <a:defRPr sz="2100">
                <a:solidFill>
                  <a:srgbClr val="13212D"/>
                </a:solidFill>
                <a:latin typeface="Helvetica Neue"/>
                <a:ea typeface="Helvetica Neue"/>
                <a:cs typeface="Helvetica Neue"/>
              </a:defRPr>
            </a:lvl9pPr>
          </a:lstStyle>
          <a:p xmlns:a="http://schemas.openxmlformats.org/drawingml/2006/main">
            <a:pPr marL="279400" indent="-127000">
              <a:spcAft>
                <a:spcPts val="1300"/>
              </a:spcAft>
              <a:buChar char="•"/>
              <a:defRPr sz="2100">
                <a:solidFill>
                  <a:srgbClr val="13212D"/>
                </a:solidFill>
                <a:latin typeface="Helvetica Neue"/>
                <a:ea typeface="Helvetica Neue"/>
                <a:cs typeface="Helvetica Neue"/>
              </a:defRPr>
            </a:pPr>
            <a:r>
              <a:rPr sz="2100">
                <a:solidFill>
                  <a:srgbClr val="13212D"/>
                </a:solidFill>
                <a:latin typeface="Helvetica Neue"/>
                <a:ea typeface="Helvetica Neue"/>
                <a:cs typeface="Helvetica Neue"/>
              </a:rPr>
              <a:t>Stop the transfusion immediately.</a:t>
            </a:r>
          </a:p>
          <a:p xmlns:a="http://schemas.openxmlformats.org/drawingml/2006/main">
            <a:pPr marL="279400" indent="-127000">
              <a:spcAft>
                <a:spcPts val="1300"/>
              </a:spcAft>
              <a:buChar char="•"/>
              <a:defRPr sz="2100">
                <a:solidFill>
                  <a:srgbClr val="13212D"/>
                </a:solidFill>
                <a:latin typeface="Helvetica Neue"/>
                <a:ea typeface="Helvetica Neue"/>
                <a:cs typeface="Helvetica Neue"/>
              </a:defRPr>
            </a:pPr>
            <a:r>
              <a:rPr sz="2100">
                <a:solidFill>
                  <a:srgbClr val="13212D"/>
                </a:solidFill>
                <a:latin typeface="Helvetica Neue"/>
                <a:ea typeface="Helvetica Neue"/>
                <a:cs typeface="Helvetica Neue"/>
              </a:rPr>
              <a:t>Maintain access as policy directs, assess airway and circulation, obtain vital signs, notify the RN and prescriber, recheck identification, and complete required specimens and documentation.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6C5192EE-38EB-49B9-9A18-6B16EF1AD3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6115050"/>
            <a:ext cx="101917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>
            <a:defPPr>
              <a:defRPr sz="1125" b="1">
                <a:solidFill>
                  <a:srgbClr val="B94F3D"/>
                </a:solidFill>
                <a:latin typeface="Helvetica Neue"/>
                <a:ea typeface="Helvetica Neue"/>
                <a:cs typeface="Helvetica Neue"/>
              </a:defRPr>
            </a:defPPr>
            <a:lvl1pPr>
              <a:defRPr sz="1125" b="1">
                <a:solidFill>
                  <a:srgbClr val="B94F3D"/>
                </a:solidFill>
                <a:latin typeface="Helvetica Neue"/>
                <a:ea typeface="Helvetica Neue"/>
                <a:cs typeface="Helvetica Neue"/>
              </a:defRPr>
            </a:lvl1pPr>
            <a:lvl2pPr>
              <a:defRPr sz="1125" b="1">
                <a:solidFill>
                  <a:srgbClr val="B94F3D"/>
                </a:solidFill>
                <a:latin typeface="Helvetica Neue"/>
                <a:ea typeface="Helvetica Neue"/>
                <a:cs typeface="Helvetica Neue"/>
              </a:defRPr>
            </a:lvl2pPr>
            <a:lvl3pPr>
              <a:defRPr sz="1125" b="1">
                <a:solidFill>
                  <a:srgbClr val="B94F3D"/>
                </a:solidFill>
                <a:latin typeface="Helvetica Neue"/>
                <a:ea typeface="Helvetica Neue"/>
                <a:cs typeface="Helvetica Neue"/>
              </a:defRPr>
            </a:lvl3pPr>
            <a:lvl4pPr>
              <a:defRPr sz="1125" b="1">
                <a:solidFill>
                  <a:srgbClr val="B94F3D"/>
                </a:solidFill>
                <a:latin typeface="Helvetica Neue"/>
                <a:ea typeface="Helvetica Neue"/>
                <a:cs typeface="Helvetica Neue"/>
              </a:defRPr>
            </a:lvl4pPr>
            <a:lvl5pPr>
              <a:defRPr sz="1125" b="1">
                <a:solidFill>
                  <a:srgbClr val="B94F3D"/>
                </a:solidFill>
                <a:latin typeface="Helvetica Neue"/>
                <a:ea typeface="Helvetica Neue"/>
                <a:cs typeface="Helvetica Neue"/>
              </a:defRPr>
            </a:lvl5pPr>
            <a:lvl6pPr>
              <a:defRPr sz="1125" b="1">
                <a:solidFill>
                  <a:srgbClr val="B94F3D"/>
                </a:solidFill>
                <a:latin typeface="Helvetica Neue"/>
                <a:ea typeface="Helvetica Neue"/>
                <a:cs typeface="Helvetica Neue"/>
              </a:defRPr>
            </a:lvl6pPr>
            <a:lvl7pPr>
              <a:defRPr sz="1125" b="1">
                <a:solidFill>
                  <a:srgbClr val="B94F3D"/>
                </a:solidFill>
                <a:latin typeface="Helvetica Neue"/>
                <a:ea typeface="Helvetica Neue"/>
                <a:cs typeface="Helvetica Neue"/>
              </a:defRPr>
            </a:lvl7pPr>
            <a:lvl8pPr>
              <a:defRPr sz="1125" b="1">
                <a:solidFill>
                  <a:srgbClr val="B94F3D"/>
                </a:solidFill>
                <a:latin typeface="Helvetica Neue"/>
                <a:ea typeface="Helvetica Neue"/>
                <a:cs typeface="Helvetica Neue"/>
              </a:defRPr>
            </a:lvl8pPr>
            <a:lvl9pPr>
              <a:defRPr sz="1125" b="1">
                <a:solidFill>
                  <a:srgbClr val="B94F3D"/>
                </a:solidFill>
                <a:latin typeface="Helvetica Neue"/>
                <a:ea typeface="Helvetica Neue"/>
                <a:cs typeface="Helvetica Neue"/>
              </a:defRPr>
            </a:lvl9pPr>
          </a:lstStyle>
          <a:p xmlns:a="http://schemas.openxmlformats.org/drawingml/2006/main">
            <a:pPr>
              <a:defRPr sz="1125" b="1">
                <a:solidFill>
                  <a:srgbClr val="B94F3D"/>
                </a:solidFill>
                <a:latin typeface="Helvetica Neue"/>
                <a:ea typeface="Helvetica Neue"/>
                <a:cs typeface="Helvetica Neue"/>
              </a:defRPr>
            </a:pPr>
            <a:r>
              <a:rPr sz="1125" b="1">
                <a:solidFill>
                  <a:srgbClr val="B94F3D"/>
                </a:solidFill>
                <a:latin typeface="Helvetica Neue"/>
                <a:ea typeface="Helvetica Neue"/>
                <a:cs typeface="Helvetica Neue"/>
              </a:rPr>
              <a:t>Use current orders, facility policy, and authorized scope when applying this information.</a:t>
            </a:r>
          </a:p>
        </p:txBody>
      </p:sp>
    </p:spTree>
    <p:extLst>
      <p:ext uri="{BB962C8B-B14F-4D97-AF65-F5344CB8AC3E}">
        <p14:creationId xmlns:p14="http://schemas.microsoft.com/office/powerpoint/2010/main" val="806171013"/>
      </p:ext>
    </p:extLst>
  </p:cSld>
</p:sld>
</file>

<file path=ppt/slides/slide7.xml><?xml version="1.0" encoding="utf-8"?>
<p:sld xmlns:p="http://schemas.openxmlformats.org/presentationml/2006/main">
  <p:cSld>
    <p:bg>
      <p:bgPr>
        <a:solidFill xmlns:a="http://schemas.openxmlformats.org/drawingml/2006/main">
          <a:srgbClr val="F7F4EE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3FCDA71B-4398-4EC5-A5C5-FE1B475AA4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2095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37B82"/>
          </a:solidFill>
          <a:ln xmlns:a="http://schemas.openxmlformats.org/drawingml/2006/main" w="0">
            <a:solidFill>
              <a:srgbClr val="237B82"/>
            </a:solidFill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A1A7B12A-FC85-4677-89DC-22011BAE1F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00050"/>
            <a:ext cx="10001250" cy="819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91085"/>
          </a:bodyPr>
          <a:lstStyle xmlns:a="http://schemas.openxmlformats.org/drawingml/2006/main">
            <a:defPPr>
              <a:defRPr sz="2700" b="1">
                <a:solidFill>
                  <a:srgbClr val="15324A"/>
                </a:solidFill>
                <a:latin typeface="Helvetica Neue"/>
                <a:ea typeface="Helvetica Neue"/>
                <a:cs typeface="Helvetica Neue"/>
              </a:defRPr>
            </a:defPPr>
            <a:lvl1pPr>
              <a:defRPr sz="2700" b="1">
                <a:solidFill>
                  <a:srgbClr val="15324A"/>
                </a:solidFill>
                <a:latin typeface="Helvetica Neue"/>
                <a:ea typeface="Helvetica Neue"/>
                <a:cs typeface="Helvetica Neue"/>
              </a:defRPr>
            </a:lvl1pPr>
            <a:lvl2pPr>
              <a:defRPr sz="2700" b="1">
                <a:solidFill>
                  <a:srgbClr val="15324A"/>
                </a:solidFill>
                <a:latin typeface="Helvetica Neue"/>
                <a:ea typeface="Helvetica Neue"/>
                <a:cs typeface="Helvetica Neue"/>
              </a:defRPr>
            </a:lvl2pPr>
            <a:lvl3pPr>
              <a:defRPr sz="2700" b="1">
                <a:solidFill>
                  <a:srgbClr val="15324A"/>
                </a:solidFill>
                <a:latin typeface="Helvetica Neue"/>
                <a:ea typeface="Helvetica Neue"/>
                <a:cs typeface="Helvetica Neue"/>
              </a:defRPr>
            </a:lvl3pPr>
            <a:lvl4pPr>
              <a:defRPr sz="2700" b="1">
                <a:solidFill>
                  <a:srgbClr val="15324A"/>
                </a:solidFill>
                <a:latin typeface="Helvetica Neue"/>
                <a:ea typeface="Helvetica Neue"/>
                <a:cs typeface="Helvetica Neue"/>
              </a:defRPr>
            </a:lvl4pPr>
            <a:lvl5pPr>
              <a:defRPr sz="2700" b="1">
                <a:solidFill>
                  <a:srgbClr val="15324A"/>
                </a:solidFill>
                <a:latin typeface="Helvetica Neue"/>
                <a:ea typeface="Helvetica Neue"/>
                <a:cs typeface="Helvetica Neue"/>
              </a:defRPr>
            </a:lvl5pPr>
            <a:lvl6pPr>
              <a:defRPr sz="2700" b="1">
                <a:solidFill>
                  <a:srgbClr val="15324A"/>
                </a:solidFill>
                <a:latin typeface="Helvetica Neue"/>
                <a:ea typeface="Helvetica Neue"/>
                <a:cs typeface="Helvetica Neue"/>
              </a:defRPr>
            </a:lvl6pPr>
            <a:lvl7pPr>
              <a:defRPr sz="2700" b="1">
                <a:solidFill>
                  <a:srgbClr val="15324A"/>
                </a:solidFill>
                <a:latin typeface="Helvetica Neue"/>
                <a:ea typeface="Helvetica Neue"/>
                <a:cs typeface="Helvetica Neue"/>
              </a:defRPr>
            </a:lvl7pPr>
            <a:lvl8pPr>
              <a:defRPr sz="2700" b="1">
                <a:solidFill>
                  <a:srgbClr val="15324A"/>
                </a:solidFill>
                <a:latin typeface="Helvetica Neue"/>
                <a:ea typeface="Helvetica Neue"/>
                <a:cs typeface="Helvetica Neue"/>
              </a:defRPr>
            </a:lvl8pPr>
            <a:lvl9pPr>
              <a:defRPr sz="2700" b="1">
                <a:solidFill>
                  <a:srgbClr val="15324A"/>
                </a:solidFill>
                <a:latin typeface="Helvetica Neue"/>
                <a:ea typeface="Helvetica Neue"/>
                <a:cs typeface="Helvetica Neue"/>
              </a:defRPr>
            </a:lvl9pPr>
          </a:lstStyle>
          <a:p xmlns:a="http://schemas.openxmlformats.org/drawingml/2006/main">
            <a:pPr>
              <a:defRPr sz="2700" b="1">
                <a:solidFill>
                  <a:srgbClr val="15324A"/>
                </a:solidFill>
                <a:latin typeface="Helvetica Neue"/>
                <a:ea typeface="Helvetica Neue"/>
                <a:cs typeface="Helvetica Neue"/>
              </a:defRPr>
            </a:pPr>
            <a:r>
              <a:rPr sz="2700" b="1">
                <a:solidFill>
                  <a:srgbClr val="15324A"/>
                </a:solidFill>
                <a:latin typeface="Helvetica Neue"/>
                <a:ea typeface="Helvetica Neue"/>
                <a:cs typeface="Helvetica Neue"/>
              </a:rPr>
              <a:t>Blood Components, Parenteral Nutrition, and High-Risk Therapy 1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329423C9-9083-4948-9684-6AE6C6F5A5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1257300"/>
            <a:ext cx="88582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91111"/>
          </a:bodyPr>
          <a:lstStyle xmlns:a="http://schemas.openxmlformats.org/drawingml/2006/main">
            <a:defPPr>
              <a:defRPr sz="1125" b="1">
                <a:solidFill>
                  <a:srgbClr val="237B82"/>
                </a:solidFill>
                <a:latin typeface="Helvetica Neue"/>
                <a:ea typeface="Helvetica Neue"/>
                <a:cs typeface="Helvetica Neue"/>
              </a:defRPr>
            </a:defPPr>
            <a:lvl1pPr>
              <a:defRPr sz="1125" b="1">
                <a:solidFill>
                  <a:srgbClr val="237B82"/>
                </a:solidFill>
                <a:latin typeface="Helvetica Neue"/>
                <a:ea typeface="Helvetica Neue"/>
                <a:cs typeface="Helvetica Neue"/>
              </a:defRPr>
            </a:lvl1pPr>
            <a:lvl2pPr>
              <a:defRPr sz="1125" b="1">
                <a:solidFill>
                  <a:srgbClr val="237B82"/>
                </a:solidFill>
                <a:latin typeface="Helvetica Neue"/>
                <a:ea typeface="Helvetica Neue"/>
                <a:cs typeface="Helvetica Neue"/>
              </a:defRPr>
            </a:lvl2pPr>
            <a:lvl3pPr>
              <a:defRPr sz="1125" b="1">
                <a:solidFill>
                  <a:srgbClr val="237B82"/>
                </a:solidFill>
                <a:latin typeface="Helvetica Neue"/>
                <a:ea typeface="Helvetica Neue"/>
                <a:cs typeface="Helvetica Neue"/>
              </a:defRPr>
            </a:lvl3pPr>
            <a:lvl4pPr>
              <a:defRPr sz="1125" b="1">
                <a:solidFill>
                  <a:srgbClr val="237B82"/>
                </a:solidFill>
                <a:latin typeface="Helvetica Neue"/>
                <a:ea typeface="Helvetica Neue"/>
                <a:cs typeface="Helvetica Neue"/>
              </a:defRPr>
            </a:lvl4pPr>
            <a:lvl5pPr>
              <a:defRPr sz="1125" b="1">
                <a:solidFill>
                  <a:srgbClr val="237B82"/>
                </a:solidFill>
                <a:latin typeface="Helvetica Neue"/>
                <a:ea typeface="Helvetica Neue"/>
                <a:cs typeface="Helvetica Neue"/>
              </a:defRPr>
            </a:lvl5pPr>
            <a:lvl6pPr>
              <a:defRPr sz="1125" b="1">
                <a:solidFill>
                  <a:srgbClr val="237B82"/>
                </a:solidFill>
                <a:latin typeface="Helvetica Neue"/>
                <a:ea typeface="Helvetica Neue"/>
                <a:cs typeface="Helvetica Neue"/>
              </a:defRPr>
            </a:lvl6pPr>
            <a:lvl7pPr>
              <a:defRPr sz="1125" b="1">
                <a:solidFill>
                  <a:srgbClr val="237B82"/>
                </a:solidFill>
                <a:latin typeface="Helvetica Neue"/>
                <a:ea typeface="Helvetica Neue"/>
                <a:cs typeface="Helvetica Neue"/>
              </a:defRPr>
            </a:lvl7pPr>
            <a:lvl8pPr>
              <a:defRPr sz="1125" b="1">
                <a:solidFill>
                  <a:srgbClr val="237B82"/>
                </a:solidFill>
                <a:latin typeface="Helvetica Neue"/>
                <a:ea typeface="Helvetica Neue"/>
                <a:cs typeface="Helvetica Neue"/>
              </a:defRPr>
            </a:lvl8pPr>
            <a:lvl9pPr>
              <a:defRPr sz="1125" b="1">
                <a:solidFill>
                  <a:srgbClr val="237B82"/>
                </a:solidFill>
                <a:latin typeface="Helvetica Neue"/>
                <a:ea typeface="Helvetica Neue"/>
                <a:cs typeface="Helvetica Neue"/>
              </a:defRPr>
            </a:lvl9pPr>
          </a:lstStyle>
          <a:p xmlns:a="http://schemas.openxmlformats.org/drawingml/2006/main">
            <a:pPr>
              <a:defRPr sz="1125" b="1">
                <a:solidFill>
                  <a:srgbClr val="237B82"/>
                </a:solidFill>
                <a:latin typeface="Helvetica Neue"/>
                <a:ea typeface="Helvetica Neue"/>
                <a:cs typeface="Helvetica Neue"/>
              </a:defRPr>
            </a:pPr>
            <a:r>
              <a:rPr sz="1125" b="1">
                <a:solidFill>
                  <a:srgbClr val="237B82"/>
                </a:solidFill>
                <a:latin typeface="Helvetica Neue"/>
                <a:ea typeface="Helvetica Neue"/>
                <a:cs typeface="Helvetica Neue"/>
              </a:rPr>
              <a:t>MODULE 4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4CE39AB7-1103-4BF4-8124-DA1DF594BF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457200"/>
            <a:ext cx="5334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>
            <a:defPPr>
              <a:defRPr sz="1200" b="1">
                <a:solidFill>
                  <a:srgbClr val="237B82"/>
                </a:solidFill>
                <a:latin typeface="Helvetica Neue"/>
                <a:ea typeface="Helvetica Neue"/>
                <a:cs typeface="Helvetica Neue"/>
              </a:defRPr>
            </a:defPPr>
            <a:lvl1pPr>
              <a:defRPr sz="1200" b="1">
                <a:solidFill>
                  <a:srgbClr val="237B82"/>
                </a:solidFill>
                <a:latin typeface="Helvetica Neue"/>
                <a:ea typeface="Helvetica Neue"/>
                <a:cs typeface="Helvetica Neue"/>
              </a:defRPr>
            </a:lvl1pPr>
            <a:lvl2pPr>
              <a:defRPr sz="1200" b="1">
                <a:solidFill>
                  <a:srgbClr val="237B82"/>
                </a:solidFill>
                <a:latin typeface="Helvetica Neue"/>
                <a:ea typeface="Helvetica Neue"/>
                <a:cs typeface="Helvetica Neue"/>
              </a:defRPr>
            </a:lvl2pPr>
            <a:lvl3pPr>
              <a:defRPr sz="1200" b="1">
                <a:solidFill>
                  <a:srgbClr val="237B82"/>
                </a:solidFill>
                <a:latin typeface="Helvetica Neue"/>
                <a:ea typeface="Helvetica Neue"/>
                <a:cs typeface="Helvetica Neue"/>
              </a:defRPr>
            </a:lvl3pPr>
            <a:lvl4pPr>
              <a:defRPr sz="1200" b="1">
                <a:solidFill>
                  <a:srgbClr val="237B82"/>
                </a:solidFill>
                <a:latin typeface="Helvetica Neue"/>
                <a:ea typeface="Helvetica Neue"/>
                <a:cs typeface="Helvetica Neue"/>
              </a:defRPr>
            </a:lvl4pPr>
            <a:lvl5pPr>
              <a:defRPr sz="1200" b="1">
                <a:solidFill>
                  <a:srgbClr val="237B82"/>
                </a:solidFill>
                <a:latin typeface="Helvetica Neue"/>
                <a:ea typeface="Helvetica Neue"/>
                <a:cs typeface="Helvetica Neue"/>
              </a:defRPr>
            </a:lvl5pPr>
            <a:lvl6pPr>
              <a:defRPr sz="1200" b="1">
                <a:solidFill>
                  <a:srgbClr val="237B82"/>
                </a:solidFill>
                <a:latin typeface="Helvetica Neue"/>
                <a:ea typeface="Helvetica Neue"/>
                <a:cs typeface="Helvetica Neue"/>
              </a:defRPr>
            </a:lvl6pPr>
            <a:lvl7pPr>
              <a:defRPr sz="1200" b="1">
                <a:solidFill>
                  <a:srgbClr val="237B82"/>
                </a:solidFill>
                <a:latin typeface="Helvetica Neue"/>
                <a:ea typeface="Helvetica Neue"/>
                <a:cs typeface="Helvetica Neue"/>
              </a:defRPr>
            </a:lvl7pPr>
            <a:lvl8pPr>
              <a:defRPr sz="1200" b="1">
                <a:solidFill>
                  <a:srgbClr val="237B82"/>
                </a:solidFill>
                <a:latin typeface="Helvetica Neue"/>
                <a:ea typeface="Helvetica Neue"/>
                <a:cs typeface="Helvetica Neue"/>
              </a:defRPr>
            </a:lvl8pPr>
            <a:lvl9pPr>
              <a:defRPr sz="1200" b="1">
                <a:solidFill>
                  <a:srgbClr val="237B82"/>
                </a:solidFill>
                <a:latin typeface="Helvetica Neue"/>
                <a:ea typeface="Helvetica Neue"/>
                <a:cs typeface="Helvetica Neue"/>
              </a:defRPr>
            </a:lvl9pPr>
          </a:lstStyle>
          <a:p xmlns:a="http://schemas.openxmlformats.org/drawingml/2006/main">
            <a:pPr>
              <a:defRPr sz="1200" b="1">
                <a:solidFill>
                  <a:srgbClr val="237B82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00" b="1">
                <a:solidFill>
                  <a:srgbClr val="237B82"/>
                </a:solidFill>
                <a:latin typeface="Helvetica Neue"/>
                <a:ea typeface="Helvetica Neue"/>
                <a:cs typeface="Helvetica Neue"/>
              </a:rPr>
              <a:t>07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F6232CA6-C5DA-4197-89BC-A154E867D5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1762125"/>
            <a:ext cx="10287000" cy="409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>
            <a:defPPr>
              <a:defRPr sz="2100">
                <a:solidFill>
                  <a:srgbClr val="13212D"/>
                </a:solidFill>
                <a:latin typeface="Helvetica Neue"/>
                <a:ea typeface="Helvetica Neue"/>
                <a:cs typeface="Helvetica Neue"/>
              </a:defRPr>
            </a:defPPr>
            <a:lvl1pPr>
              <a:defRPr sz="2100">
                <a:solidFill>
                  <a:srgbClr val="13212D"/>
                </a:solidFill>
                <a:latin typeface="Helvetica Neue"/>
                <a:ea typeface="Helvetica Neue"/>
                <a:cs typeface="Helvetica Neue"/>
              </a:defRPr>
            </a:lvl1pPr>
            <a:lvl2pPr>
              <a:defRPr sz="2100">
                <a:solidFill>
                  <a:srgbClr val="13212D"/>
                </a:solidFill>
                <a:latin typeface="Helvetica Neue"/>
                <a:ea typeface="Helvetica Neue"/>
                <a:cs typeface="Helvetica Neue"/>
              </a:defRPr>
            </a:lvl2pPr>
            <a:lvl3pPr>
              <a:defRPr sz="2100">
                <a:solidFill>
                  <a:srgbClr val="13212D"/>
                </a:solidFill>
                <a:latin typeface="Helvetica Neue"/>
                <a:ea typeface="Helvetica Neue"/>
                <a:cs typeface="Helvetica Neue"/>
              </a:defRPr>
            </a:lvl3pPr>
            <a:lvl4pPr>
              <a:defRPr sz="2100">
                <a:solidFill>
                  <a:srgbClr val="13212D"/>
                </a:solidFill>
                <a:latin typeface="Helvetica Neue"/>
                <a:ea typeface="Helvetica Neue"/>
                <a:cs typeface="Helvetica Neue"/>
              </a:defRPr>
            </a:lvl4pPr>
            <a:lvl5pPr>
              <a:defRPr sz="2100">
                <a:solidFill>
                  <a:srgbClr val="13212D"/>
                </a:solidFill>
                <a:latin typeface="Helvetica Neue"/>
                <a:ea typeface="Helvetica Neue"/>
                <a:cs typeface="Helvetica Neue"/>
              </a:defRPr>
            </a:lvl5pPr>
            <a:lvl6pPr>
              <a:defRPr sz="2100">
                <a:solidFill>
                  <a:srgbClr val="13212D"/>
                </a:solidFill>
                <a:latin typeface="Helvetica Neue"/>
                <a:ea typeface="Helvetica Neue"/>
                <a:cs typeface="Helvetica Neue"/>
              </a:defRPr>
            </a:lvl6pPr>
            <a:lvl7pPr>
              <a:defRPr sz="2100">
                <a:solidFill>
                  <a:srgbClr val="13212D"/>
                </a:solidFill>
                <a:latin typeface="Helvetica Neue"/>
                <a:ea typeface="Helvetica Neue"/>
                <a:cs typeface="Helvetica Neue"/>
              </a:defRPr>
            </a:lvl7pPr>
            <a:lvl8pPr>
              <a:defRPr sz="2100">
                <a:solidFill>
                  <a:srgbClr val="13212D"/>
                </a:solidFill>
                <a:latin typeface="Helvetica Neue"/>
                <a:ea typeface="Helvetica Neue"/>
                <a:cs typeface="Helvetica Neue"/>
              </a:defRPr>
            </a:lvl8pPr>
            <a:lvl9pPr>
              <a:defRPr sz="2100">
                <a:solidFill>
                  <a:srgbClr val="13212D"/>
                </a:solidFill>
                <a:latin typeface="Helvetica Neue"/>
                <a:ea typeface="Helvetica Neue"/>
                <a:cs typeface="Helvetica Neue"/>
              </a:defRPr>
            </a:lvl9pPr>
          </a:lstStyle>
          <a:p xmlns:a="http://schemas.openxmlformats.org/drawingml/2006/main">
            <a:pPr marL="279400" indent="-127000">
              <a:spcAft>
                <a:spcPts val="1300"/>
              </a:spcAft>
              <a:buChar char="•"/>
              <a:defRPr sz="2100">
                <a:solidFill>
                  <a:srgbClr val="13212D"/>
                </a:solidFill>
                <a:latin typeface="Helvetica Neue"/>
                <a:ea typeface="Helvetica Neue"/>
                <a:cs typeface="Helvetica Neue"/>
              </a:defRPr>
            </a:pPr>
            <a:r>
              <a:rPr sz="2100">
                <a:solidFill>
                  <a:srgbClr val="13212D"/>
                </a:solidFill>
                <a:latin typeface="Helvetica Neue"/>
                <a:ea typeface="Helvetica Neue"/>
                <a:cs typeface="Helvetica Neue"/>
              </a:rPr>
              <a:t>Blood administration requires specific authorization, patient identification, consent verification, baseline assessment, product verification by qualified staff, dedicated compatible tubing/solution, close early monitoring, and prompt response to reactions.</a:t>
            </a:r>
          </a:p>
          <a:p xmlns:a="http://schemas.openxmlformats.org/drawingml/2006/main">
            <a:pPr marL="279400" indent="-127000">
              <a:spcAft>
                <a:spcPts val="1300"/>
              </a:spcAft>
              <a:buChar char="•"/>
              <a:defRPr sz="2100">
                <a:solidFill>
                  <a:srgbClr val="13212D"/>
                </a:solidFill>
                <a:latin typeface="Helvetica Neue"/>
                <a:ea typeface="Helvetica Neue"/>
                <a:cs typeface="Helvetica Neue"/>
              </a:defRPr>
            </a:pPr>
            <a:r>
              <a:rPr sz="2100">
                <a:solidFill>
                  <a:srgbClr val="13212D"/>
                </a:solidFill>
                <a:latin typeface="Helvetica Neue"/>
                <a:ea typeface="Helvetica Neue"/>
                <a:cs typeface="Helvetica Neue"/>
              </a:rPr>
              <a:t>If a reaction is suspected, stop the transfusion, maintain access as policy directs with compatible solution/new tubing, assess and support the patient, notify required personnel, recheck identification, and complete ordered specimens/documentation.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2DDD5C68-EFFC-45BC-9202-FB9350E2A9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6115050"/>
            <a:ext cx="101917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>
            <a:defPPr>
              <a:defRPr sz="1125" b="1">
                <a:solidFill>
                  <a:srgbClr val="B94F3D"/>
                </a:solidFill>
                <a:latin typeface="Helvetica Neue"/>
                <a:ea typeface="Helvetica Neue"/>
                <a:cs typeface="Helvetica Neue"/>
              </a:defRPr>
            </a:defPPr>
            <a:lvl1pPr>
              <a:defRPr sz="1125" b="1">
                <a:solidFill>
                  <a:srgbClr val="B94F3D"/>
                </a:solidFill>
                <a:latin typeface="Helvetica Neue"/>
                <a:ea typeface="Helvetica Neue"/>
                <a:cs typeface="Helvetica Neue"/>
              </a:defRPr>
            </a:lvl1pPr>
            <a:lvl2pPr>
              <a:defRPr sz="1125" b="1">
                <a:solidFill>
                  <a:srgbClr val="B94F3D"/>
                </a:solidFill>
                <a:latin typeface="Helvetica Neue"/>
                <a:ea typeface="Helvetica Neue"/>
                <a:cs typeface="Helvetica Neue"/>
              </a:defRPr>
            </a:lvl2pPr>
            <a:lvl3pPr>
              <a:defRPr sz="1125" b="1">
                <a:solidFill>
                  <a:srgbClr val="B94F3D"/>
                </a:solidFill>
                <a:latin typeface="Helvetica Neue"/>
                <a:ea typeface="Helvetica Neue"/>
                <a:cs typeface="Helvetica Neue"/>
              </a:defRPr>
            </a:lvl3pPr>
            <a:lvl4pPr>
              <a:defRPr sz="1125" b="1">
                <a:solidFill>
                  <a:srgbClr val="B94F3D"/>
                </a:solidFill>
                <a:latin typeface="Helvetica Neue"/>
                <a:ea typeface="Helvetica Neue"/>
                <a:cs typeface="Helvetica Neue"/>
              </a:defRPr>
            </a:lvl4pPr>
            <a:lvl5pPr>
              <a:defRPr sz="1125" b="1">
                <a:solidFill>
                  <a:srgbClr val="B94F3D"/>
                </a:solidFill>
                <a:latin typeface="Helvetica Neue"/>
                <a:ea typeface="Helvetica Neue"/>
                <a:cs typeface="Helvetica Neue"/>
              </a:defRPr>
            </a:lvl5pPr>
            <a:lvl6pPr>
              <a:defRPr sz="1125" b="1">
                <a:solidFill>
                  <a:srgbClr val="B94F3D"/>
                </a:solidFill>
                <a:latin typeface="Helvetica Neue"/>
                <a:ea typeface="Helvetica Neue"/>
                <a:cs typeface="Helvetica Neue"/>
              </a:defRPr>
            </a:lvl6pPr>
            <a:lvl7pPr>
              <a:defRPr sz="1125" b="1">
                <a:solidFill>
                  <a:srgbClr val="B94F3D"/>
                </a:solidFill>
                <a:latin typeface="Helvetica Neue"/>
                <a:ea typeface="Helvetica Neue"/>
                <a:cs typeface="Helvetica Neue"/>
              </a:defRPr>
            </a:lvl7pPr>
            <a:lvl8pPr>
              <a:defRPr sz="1125" b="1">
                <a:solidFill>
                  <a:srgbClr val="B94F3D"/>
                </a:solidFill>
                <a:latin typeface="Helvetica Neue"/>
                <a:ea typeface="Helvetica Neue"/>
                <a:cs typeface="Helvetica Neue"/>
              </a:defRPr>
            </a:lvl8pPr>
            <a:lvl9pPr>
              <a:defRPr sz="1125" b="1">
                <a:solidFill>
                  <a:srgbClr val="B94F3D"/>
                </a:solidFill>
                <a:latin typeface="Helvetica Neue"/>
                <a:ea typeface="Helvetica Neue"/>
                <a:cs typeface="Helvetica Neue"/>
              </a:defRPr>
            </a:lvl9pPr>
          </a:lstStyle>
          <a:p xmlns:a="http://schemas.openxmlformats.org/drawingml/2006/main">
            <a:pPr>
              <a:defRPr sz="1125" b="1">
                <a:solidFill>
                  <a:srgbClr val="B94F3D"/>
                </a:solidFill>
                <a:latin typeface="Helvetica Neue"/>
                <a:ea typeface="Helvetica Neue"/>
                <a:cs typeface="Helvetica Neue"/>
              </a:defRPr>
            </a:pPr>
            <a:r>
              <a:rPr sz="1125" b="1">
                <a:solidFill>
                  <a:srgbClr val="B94F3D"/>
                </a:solidFill>
                <a:latin typeface="Helvetica Neue"/>
                <a:ea typeface="Helvetica Neue"/>
                <a:cs typeface="Helvetica Neue"/>
              </a:rPr>
              <a:t>Use current orders, facility policy, and authorized scope when applying this information.</a:t>
            </a:r>
          </a:p>
        </p:txBody>
      </p:sp>
    </p:spTree>
    <p:extLst>
      <p:ext uri="{BB962C8B-B14F-4D97-AF65-F5344CB8AC3E}">
        <p14:creationId xmlns:p14="http://schemas.microsoft.com/office/powerpoint/2010/main" val="307963944"/>
      </p:ext>
    </p:extLst>
  </p:cSld>
</p:sld>
</file>

<file path=ppt/slides/slide8.xml><?xml version="1.0" encoding="utf-8"?>
<p:sld xmlns:p="http://schemas.openxmlformats.org/presentationml/2006/main">
  <p:cSld>
    <p:bg>
      <p:bgPr>
        <a:solidFill xmlns:a="http://schemas.openxmlformats.org/drawingml/2006/main">
          <a:srgbClr val="F7F4EE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1B68412F-6554-46F8-AF6D-CCE62A091D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2095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37B82"/>
          </a:solidFill>
          <a:ln xmlns:a="http://schemas.openxmlformats.org/drawingml/2006/main" w="0">
            <a:solidFill>
              <a:srgbClr val="237B82"/>
            </a:solidFill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5D46C9D1-3BB5-4B30-845C-6A098944EE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00050"/>
            <a:ext cx="10001250" cy="819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91085"/>
          </a:bodyPr>
          <a:lstStyle xmlns:a="http://schemas.openxmlformats.org/drawingml/2006/main">
            <a:defPPr>
              <a:defRPr sz="2700" b="1">
                <a:solidFill>
                  <a:srgbClr val="15324A"/>
                </a:solidFill>
                <a:latin typeface="Helvetica Neue"/>
                <a:ea typeface="Helvetica Neue"/>
                <a:cs typeface="Helvetica Neue"/>
              </a:defRPr>
            </a:defPPr>
            <a:lvl1pPr>
              <a:defRPr sz="2700" b="1">
                <a:solidFill>
                  <a:srgbClr val="15324A"/>
                </a:solidFill>
                <a:latin typeface="Helvetica Neue"/>
                <a:ea typeface="Helvetica Neue"/>
                <a:cs typeface="Helvetica Neue"/>
              </a:defRPr>
            </a:lvl1pPr>
            <a:lvl2pPr>
              <a:defRPr sz="2700" b="1">
                <a:solidFill>
                  <a:srgbClr val="15324A"/>
                </a:solidFill>
                <a:latin typeface="Helvetica Neue"/>
                <a:ea typeface="Helvetica Neue"/>
                <a:cs typeface="Helvetica Neue"/>
              </a:defRPr>
            </a:lvl2pPr>
            <a:lvl3pPr>
              <a:defRPr sz="2700" b="1">
                <a:solidFill>
                  <a:srgbClr val="15324A"/>
                </a:solidFill>
                <a:latin typeface="Helvetica Neue"/>
                <a:ea typeface="Helvetica Neue"/>
                <a:cs typeface="Helvetica Neue"/>
              </a:defRPr>
            </a:lvl3pPr>
            <a:lvl4pPr>
              <a:defRPr sz="2700" b="1">
                <a:solidFill>
                  <a:srgbClr val="15324A"/>
                </a:solidFill>
                <a:latin typeface="Helvetica Neue"/>
                <a:ea typeface="Helvetica Neue"/>
                <a:cs typeface="Helvetica Neue"/>
              </a:defRPr>
            </a:lvl4pPr>
            <a:lvl5pPr>
              <a:defRPr sz="2700" b="1">
                <a:solidFill>
                  <a:srgbClr val="15324A"/>
                </a:solidFill>
                <a:latin typeface="Helvetica Neue"/>
                <a:ea typeface="Helvetica Neue"/>
                <a:cs typeface="Helvetica Neue"/>
              </a:defRPr>
            </a:lvl5pPr>
            <a:lvl6pPr>
              <a:defRPr sz="2700" b="1">
                <a:solidFill>
                  <a:srgbClr val="15324A"/>
                </a:solidFill>
                <a:latin typeface="Helvetica Neue"/>
                <a:ea typeface="Helvetica Neue"/>
                <a:cs typeface="Helvetica Neue"/>
              </a:defRPr>
            </a:lvl6pPr>
            <a:lvl7pPr>
              <a:defRPr sz="2700" b="1">
                <a:solidFill>
                  <a:srgbClr val="15324A"/>
                </a:solidFill>
                <a:latin typeface="Helvetica Neue"/>
                <a:ea typeface="Helvetica Neue"/>
                <a:cs typeface="Helvetica Neue"/>
              </a:defRPr>
            </a:lvl7pPr>
            <a:lvl8pPr>
              <a:defRPr sz="2700" b="1">
                <a:solidFill>
                  <a:srgbClr val="15324A"/>
                </a:solidFill>
                <a:latin typeface="Helvetica Neue"/>
                <a:ea typeface="Helvetica Neue"/>
                <a:cs typeface="Helvetica Neue"/>
              </a:defRPr>
            </a:lvl8pPr>
            <a:lvl9pPr>
              <a:defRPr sz="2700" b="1">
                <a:solidFill>
                  <a:srgbClr val="15324A"/>
                </a:solidFill>
                <a:latin typeface="Helvetica Neue"/>
                <a:ea typeface="Helvetica Neue"/>
                <a:cs typeface="Helvetica Neue"/>
              </a:defRPr>
            </a:lvl9pPr>
          </a:lstStyle>
          <a:p xmlns:a="http://schemas.openxmlformats.org/drawingml/2006/main">
            <a:pPr>
              <a:defRPr sz="2700" b="1">
                <a:solidFill>
                  <a:srgbClr val="15324A"/>
                </a:solidFill>
                <a:latin typeface="Helvetica Neue"/>
                <a:ea typeface="Helvetica Neue"/>
                <a:cs typeface="Helvetica Neue"/>
              </a:defRPr>
            </a:pPr>
            <a:r>
              <a:rPr sz="2700" b="1">
                <a:solidFill>
                  <a:srgbClr val="15324A"/>
                </a:solidFill>
                <a:latin typeface="Helvetica Neue"/>
                <a:ea typeface="Helvetica Neue"/>
                <a:cs typeface="Helvetica Neue"/>
              </a:rPr>
              <a:t>Blood Components, Parenteral Nutrition, and High-Risk Therapy 2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EED0BC52-6BEA-4D2F-97B0-39F3C4F9FD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1257300"/>
            <a:ext cx="88582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91111"/>
          </a:bodyPr>
          <a:lstStyle xmlns:a="http://schemas.openxmlformats.org/drawingml/2006/main">
            <a:defPPr>
              <a:defRPr sz="1125" b="1">
                <a:solidFill>
                  <a:srgbClr val="237B82"/>
                </a:solidFill>
                <a:latin typeface="Helvetica Neue"/>
                <a:ea typeface="Helvetica Neue"/>
                <a:cs typeface="Helvetica Neue"/>
              </a:defRPr>
            </a:defPPr>
            <a:lvl1pPr>
              <a:defRPr sz="1125" b="1">
                <a:solidFill>
                  <a:srgbClr val="237B82"/>
                </a:solidFill>
                <a:latin typeface="Helvetica Neue"/>
                <a:ea typeface="Helvetica Neue"/>
                <a:cs typeface="Helvetica Neue"/>
              </a:defRPr>
            </a:lvl1pPr>
            <a:lvl2pPr>
              <a:defRPr sz="1125" b="1">
                <a:solidFill>
                  <a:srgbClr val="237B82"/>
                </a:solidFill>
                <a:latin typeface="Helvetica Neue"/>
                <a:ea typeface="Helvetica Neue"/>
                <a:cs typeface="Helvetica Neue"/>
              </a:defRPr>
            </a:lvl2pPr>
            <a:lvl3pPr>
              <a:defRPr sz="1125" b="1">
                <a:solidFill>
                  <a:srgbClr val="237B82"/>
                </a:solidFill>
                <a:latin typeface="Helvetica Neue"/>
                <a:ea typeface="Helvetica Neue"/>
                <a:cs typeface="Helvetica Neue"/>
              </a:defRPr>
            </a:lvl3pPr>
            <a:lvl4pPr>
              <a:defRPr sz="1125" b="1">
                <a:solidFill>
                  <a:srgbClr val="237B82"/>
                </a:solidFill>
                <a:latin typeface="Helvetica Neue"/>
                <a:ea typeface="Helvetica Neue"/>
                <a:cs typeface="Helvetica Neue"/>
              </a:defRPr>
            </a:lvl4pPr>
            <a:lvl5pPr>
              <a:defRPr sz="1125" b="1">
                <a:solidFill>
                  <a:srgbClr val="237B82"/>
                </a:solidFill>
                <a:latin typeface="Helvetica Neue"/>
                <a:ea typeface="Helvetica Neue"/>
                <a:cs typeface="Helvetica Neue"/>
              </a:defRPr>
            </a:lvl5pPr>
            <a:lvl6pPr>
              <a:defRPr sz="1125" b="1">
                <a:solidFill>
                  <a:srgbClr val="237B82"/>
                </a:solidFill>
                <a:latin typeface="Helvetica Neue"/>
                <a:ea typeface="Helvetica Neue"/>
                <a:cs typeface="Helvetica Neue"/>
              </a:defRPr>
            </a:lvl6pPr>
            <a:lvl7pPr>
              <a:defRPr sz="1125" b="1">
                <a:solidFill>
                  <a:srgbClr val="237B82"/>
                </a:solidFill>
                <a:latin typeface="Helvetica Neue"/>
                <a:ea typeface="Helvetica Neue"/>
                <a:cs typeface="Helvetica Neue"/>
              </a:defRPr>
            </a:lvl7pPr>
            <a:lvl8pPr>
              <a:defRPr sz="1125" b="1">
                <a:solidFill>
                  <a:srgbClr val="237B82"/>
                </a:solidFill>
                <a:latin typeface="Helvetica Neue"/>
                <a:ea typeface="Helvetica Neue"/>
                <a:cs typeface="Helvetica Neue"/>
              </a:defRPr>
            </a:lvl8pPr>
            <a:lvl9pPr>
              <a:defRPr sz="1125" b="1">
                <a:solidFill>
                  <a:srgbClr val="237B82"/>
                </a:solidFill>
                <a:latin typeface="Helvetica Neue"/>
                <a:ea typeface="Helvetica Neue"/>
                <a:cs typeface="Helvetica Neue"/>
              </a:defRPr>
            </a:lvl9pPr>
          </a:lstStyle>
          <a:p xmlns:a="http://schemas.openxmlformats.org/drawingml/2006/main">
            <a:pPr>
              <a:defRPr sz="1125" b="1">
                <a:solidFill>
                  <a:srgbClr val="237B82"/>
                </a:solidFill>
                <a:latin typeface="Helvetica Neue"/>
                <a:ea typeface="Helvetica Neue"/>
                <a:cs typeface="Helvetica Neue"/>
              </a:defRPr>
            </a:pPr>
            <a:r>
              <a:rPr sz="1125" b="1">
                <a:solidFill>
                  <a:srgbClr val="237B82"/>
                </a:solidFill>
                <a:latin typeface="Helvetica Neue"/>
                <a:ea typeface="Helvetica Neue"/>
                <a:cs typeface="Helvetica Neue"/>
              </a:rPr>
              <a:t>MODULE 4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70E7F013-DF0E-48FE-8675-DDB6EF3EA6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457200"/>
            <a:ext cx="5334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>
            <a:defPPr>
              <a:defRPr sz="1200" b="1">
                <a:solidFill>
                  <a:srgbClr val="237B82"/>
                </a:solidFill>
                <a:latin typeface="Helvetica Neue"/>
                <a:ea typeface="Helvetica Neue"/>
                <a:cs typeface="Helvetica Neue"/>
              </a:defRPr>
            </a:defPPr>
            <a:lvl1pPr>
              <a:defRPr sz="1200" b="1">
                <a:solidFill>
                  <a:srgbClr val="237B82"/>
                </a:solidFill>
                <a:latin typeface="Helvetica Neue"/>
                <a:ea typeface="Helvetica Neue"/>
                <a:cs typeface="Helvetica Neue"/>
              </a:defRPr>
            </a:lvl1pPr>
            <a:lvl2pPr>
              <a:defRPr sz="1200" b="1">
                <a:solidFill>
                  <a:srgbClr val="237B82"/>
                </a:solidFill>
                <a:latin typeface="Helvetica Neue"/>
                <a:ea typeface="Helvetica Neue"/>
                <a:cs typeface="Helvetica Neue"/>
              </a:defRPr>
            </a:lvl2pPr>
            <a:lvl3pPr>
              <a:defRPr sz="1200" b="1">
                <a:solidFill>
                  <a:srgbClr val="237B82"/>
                </a:solidFill>
                <a:latin typeface="Helvetica Neue"/>
                <a:ea typeface="Helvetica Neue"/>
                <a:cs typeface="Helvetica Neue"/>
              </a:defRPr>
            </a:lvl3pPr>
            <a:lvl4pPr>
              <a:defRPr sz="1200" b="1">
                <a:solidFill>
                  <a:srgbClr val="237B82"/>
                </a:solidFill>
                <a:latin typeface="Helvetica Neue"/>
                <a:ea typeface="Helvetica Neue"/>
                <a:cs typeface="Helvetica Neue"/>
              </a:defRPr>
            </a:lvl4pPr>
            <a:lvl5pPr>
              <a:defRPr sz="1200" b="1">
                <a:solidFill>
                  <a:srgbClr val="237B82"/>
                </a:solidFill>
                <a:latin typeface="Helvetica Neue"/>
                <a:ea typeface="Helvetica Neue"/>
                <a:cs typeface="Helvetica Neue"/>
              </a:defRPr>
            </a:lvl5pPr>
            <a:lvl6pPr>
              <a:defRPr sz="1200" b="1">
                <a:solidFill>
                  <a:srgbClr val="237B82"/>
                </a:solidFill>
                <a:latin typeface="Helvetica Neue"/>
                <a:ea typeface="Helvetica Neue"/>
                <a:cs typeface="Helvetica Neue"/>
              </a:defRPr>
            </a:lvl6pPr>
            <a:lvl7pPr>
              <a:defRPr sz="1200" b="1">
                <a:solidFill>
                  <a:srgbClr val="237B82"/>
                </a:solidFill>
                <a:latin typeface="Helvetica Neue"/>
                <a:ea typeface="Helvetica Neue"/>
                <a:cs typeface="Helvetica Neue"/>
              </a:defRPr>
            </a:lvl7pPr>
            <a:lvl8pPr>
              <a:defRPr sz="1200" b="1">
                <a:solidFill>
                  <a:srgbClr val="237B82"/>
                </a:solidFill>
                <a:latin typeface="Helvetica Neue"/>
                <a:ea typeface="Helvetica Neue"/>
                <a:cs typeface="Helvetica Neue"/>
              </a:defRPr>
            </a:lvl8pPr>
            <a:lvl9pPr>
              <a:defRPr sz="1200" b="1">
                <a:solidFill>
                  <a:srgbClr val="237B82"/>
                </a:solidFill>
                <a:latin typeface="Helvetica Neue"/>
                <a:ea typeface="Helvetica Neue"/>
                <a:cs typeface="Helvetica Neue"/>
              </a:defRPr>
            </a:lvl9pPr>
          </a:lstStyle>
          <a:p xmlns:a="http://schemas.openxmlformats.org/drawingml/2006/main">
            <a:pPr>
              <a:defRPr sz="1200" b="1">
                <a:solidFill>
                  <a:srgbClr val="237B82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00" b="1">
                <a:solidFill>
                  <a:srgbClr val="237B82"/>
                </a:solidFill>
                <a:latin typeface="Helvetica Neue"/>
                <a:ea typeface="Helvetica Neue"/>
                <a:cs typeface="Helvetica Neue"/>
              </a:rPr>
              <a:t>08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C16A8D9C-BEC0-4371-A527-146675147C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1762125"/>
            <a:ext cx="10287000" cy="409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>
            <a:defPPr>
              <a:defRPr sz="2100">
                <a:solidFill>
                  <a:srgbClr val="13212D"/>
                </a:solidFill>
                <a:latin typeface="Helvetica Neue"/>
                <a:ea typeface="Helvetica Neue"/>
                <a:cs typeface="Helvetica Neue"/>
              </a:defRPr>
            </a:defPPr>
            <a:lvl1pPr>
              <a:defRPr sz="2100">
                <a:solidFill>
                  <a:srgbClr val="13212D"/>
                </a:solidFill>
                <a:latin typeface="Helvetica Neue"/>
                <a:ea typeface="Helvetica Neue"/>
                <a:cs typeface="Helvetica Neue"/>
              </a:defRPr>
            </a:lvl1pPr>
            <a:lvl2pPr>
              <a:defRPr sz="2100">
                <a:solidFill>
                  <a:srgbClr val="13212D"/>
                </a:solidFill>
                <a:latin typeface="Helvetica Neue"/>
                <a:ea typeface="Helvetica Neue"/>
                <a:cs typeface="Helvetica Neue"/>
              </a:defRPr>
            </a:lvl2pPr>
            <a:lvl3pPr>
              <a:defRPr sz="2100">
                <a:solidFill>
                  <a:srgbClr val="13212D"/>
                </a:solidFill>
                <a:latin typeface="Helvetica Neue"/>
                <a:ea typeface="Helvetica Neue"/>
                <a:cs typeface="Helvetica Neue"/>
              </a:defRPr>
            </a:lvl3pPr>
            <a:lvl4pPr>
              <a:defRPr sz="2100">
                <a:solidFill>
                  <a:srgbClr val="13212D"/>
                </a:solidFill>
                <a:latin typeface="Helvetica Neue"/>
                <a:ea typeface="Helvetica Neue"/>
                <a:cs typeface="Helvetica Neue"/>
              </a:defRPr>
            </a:lvl4pPr>
            <a:lvl5pPr>
              <a:defRPr sz="2100">
                <a:solidFill>
                  <a:srgbClr val="13212D"/>
                </a:solidFill>
                <a:latin typeface="Helvetica Neue"/>
                <a:ea typeface="Helvetica Neue"/>
                <a:cs typeface="Helvetica Neue"/>
              </a:defRPr>
            </a:lvl5pPr>
            <a:lvl6pPr>
              <a:defRPr sz="2100">
                <a:solidFill>
                  <a:srgbClr val="13212D"/>
                </a:solidFill>
                <a:latin typeface="Helvetica Neue"/>
                <a:ea typeface="Helvetica Neue"/>
                <a:cs typeface="Helvetica Neue"/>
              </a:defRPr>
            </a:lvl6pPr>
            <a:lvl7pPr>
              <a:defRPr sz="2100">
                <a:solidFill>
                  <a:srgbClr val="13212D"/>
                </a:solidFill>
                <a:latin typeface="Helvetica Neue"/>
                <a:ea typeface="Helvetica Neue"/>
                <a:cs typeface="Helvetica Neue"/>
              </a:defRPr>
            </a:lvl7pPr>
            <a:lvl8pPr>
              <a:defRPr sz="2100">
                <a:solidFill>
                  <a:srgbClr val="13212D"/>
                </a:solidFill>
                <a:latin typeface="Helvetica Neue"/>
                <a:ea typeface="Helvetica Neue"/>
                <a:cs typeface="Helvetica Neue"/>
              </a:defRPr>
            </a:lvl8pPr>
            <a:lvl9pPr>
              <a:defRPr sz="2100">
                <a:solidFill>
                  <a:srgbClr val="13212D"/>
                </a:solidFill>
                <a:latin typeface="Helvetica Neue"/>
                <a:ea typeface="Helvetica Neue"/>
                <a:cs typeface="Helvetica Neue"/>
              </a:defRPr>
            </a:lvl9pPr>
          </a:lstStyle>
          <a:p xmlns:a="http://schemas.openxmlformats.org/drawingml/2006/main">
            <a:pPr marL="279400" indent="-127000">
              <a:spcAft>
                <a:spcPts val="1300"/>
              </a:spcAft>
              <a:buChar char="•"/>
              <a:defRPr sz="2100">
                <a:solidFill>
                  <a:srgbClr val="13212D"/>
                </a:solidFill>
                <a:latin typeface="Helvetica Neue"/>
                <a:ea typeface="Helvetica Neue"/>
                <a:cs typeface="Helvetica Neue"/>
              </a:defRPr>
            </a:pPr>
            <a:r>
              <a:rPr sz="2100">
                <a:solidFill>
                  <a:srgbClr val="13212D"/>
                </a:solidFill>
                <a:latin typeface="Helvetica Neue"/>
                <a:ea typeface="Helvetica Neue"/>
                <a:cs typeface="Helvetica Neue"/>
              </a:rPr>
              <a:t>Parenteral nutrition contains concentrated nutrients and carries metabolic, infection, and line risks.</a:t>
            </a:r>
          </a:p>
          <a:p xmlns:a="http://schemas.openxmlformats.org/drawingml/2006/main">
            <a:pPr marL="279400" indent="-127000">
              <a:spcAft>
                <a:spcPts val="1300"/>
              </a:spcAft>
              <a:buChar char="•"/>
              <a:defRPr sz="2100">
                <a:solidFill>
                  <a:srgbClr val="13212D"/>
                </a:solidFill>
                <a:latin typeface="Helvetica Neue"/>
                <a:ea typeface="Helvetica Neue"/>
                <a:cs typeface="Helvetica Neue"/>
              </a:defRPr>
            </a:pPr>
            <a:r>
              <a:rPr sz="2100">
                <a:solidFill>
                  <a:srgbClr val="13212D"/>
                </a:solidFill>
                <a:latin typeface="Helvetica Neue"/>
                <a:ea typeface="Helvetica Neue"/>
                <a:cs typeface="Helvetica Neue"/>
              </a:rPr>
              <a:t>Verify the formulation and rate, use the required central or peripheral route, dedicated lumen and filter when ordered, strict asepsis, glucose/electrolyte monitoring, and never abruptly change therapy without direction.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46ECF5F3-9990-4989-B85E-02F37EE6F8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6115050"/>
            <a:ext cx="101917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>
            <a:defPPr>
              <a:defRPr sz="1125" b="1">
                <a:solidFill>
                  <a:srgbClr val="B94F3D"/>
                </a:solidFill>
                <a:latin typeface="Helvetica Neue"/>
                <a:ea typeface="Helvetica Neue"/>
                <a:cs typeface="Helvetica Neue"/>
              </a:defRPr>
            </a:defPPr>
            <a:lvl1pPr>
              <a:defRPr sz="1125" b="1">
                <a:solidFill>
                  <a:srgbClr val="B94F3D"/>
                </a:solidFill>
                <a:latin typeface="Helvetica Neue"/>
                <a:ea typeface="Helvetica Neue"/>
                <a:cs typeface="Helvetica Neue"/>
              </a:defRPr>
            </a:lvl1pPr>
            <a:lvl2pPr>
              <a:defRPr sz="1125" b="1">
                <a:solidFill>
                  <a:srgbClr val="B94F3D"/>
                </a:solidFill>
                <a:latin typeface="Helvetica Neue"/>
                <a:ea typeface="Helvetica Neue"/>
                <a:cs typeface="Helvetica Neue"/>
              </a:defRPr>
            </a:lvl2pPr>
            <a:lvl3pPr>
              <a:defRPr sz="1125" b="1">
                <a:solidFill>
                  <a:srgbClr val="B94F3D"/>
                </a:solidFill>
                <a:latin typeface="Helvetica Neue"/>
                <a:ea typeface="Helvetica Neue"/>
                <a:cs typeface="Helvetica Neue"/>
              </a:defRPr>
            </a:lvl3pPr>
            <a:lvl4pPr>
              <a:defRPr sz="1125" b="1">
                <a:solidFill>
                  <a:srgbClr val="B94F3D"/>
                </a:solidFill>
                <a:latin typeface="Helvetica Neue"/>
                <a:ea typeface="Helvetica Neue"/>
                <a:cs typeface="Helvetica Neue"/>
              </a:defRPr>
            </a:lvl4pPr>
            <a:lvl5pPr>
              <a:defRPr sz="1125" b="1">
                <a:solidFill>
                  <a:srgbClr val="B94F3D"/>
                </a:solidFill>
                <a:latin typeface="Helvetica Neue"/>
                <a:ea typeface="Helvetica Neue"/>
                <a:cs typeface="Helvetica Neue"/>
              </a:defRPr>
            </a:lvl5pPr>
            <a:lvl6pPr>
              <a:defRPr sz="1125" b="1">
                <a:solidFill>
                  <a:srgbClr val="B94F3D"/>
                </a:solidFill>
                <a:latin typeface="Helvetica Neue"/>
                <a:ea typeface="Helvetica Neue"/>
                <a:cs typeface="Helvetica Neue"/>
              </a:defRPr>
            </a:lvl6pPr>
            <a:lvl7pPr>
              <a:defRPr sz="1125" b="1">
                <a:solidFill>
                  <a:srgbClr val="B94F3D"/>
                </a:solidFill>
                <a:latin typeface="Helvetica Neue"/>
                <a:ea typeface="Helvetica Neue"/>
                <a:cs typeface="Helvetica Neue"/>
              </a:defRPr>
            </a:lvl7pPr>
            <a:lvl8pPr>
              <a:defRPr sz="1125" b="1">
                <a:solidFill>
                  <a:srgbClr val="B94F3D"/>
                </a:solidFill>
                <a:latin typeface="Helvetica Neue"/>
                <a:ea typeface="Helvetica Neue"/>
                <a:cs typeface="Helvetica Neue"/>
              </a:defRPr>
            </a:lvl8pPr>
            <a:lvl9pPr>
              <a:defRPr sz="1125" b="1">
                <a:solidFill>
                  <a:srgbClr val="B94F3D"/>
                </a:solidFill>
                <a:latin typeface="Helvetica Neue"/>
                <a:ea typeface="Helvetica Neue"/>
                <a:cs typeface="Helvetica Neue"/>
              </a:defRPr>
            </a:lvl9pPr>
          </a:lstStyle>
          <a:p xmlns:a="http://schemas.openxmlformats.org/drawingml/2006/main">
            <a:pPr>
              <a:defRPr sz="1125" b="1">
                <a:solidFill>
                  <a:srgbClr val="B94F3D"/>
                </a:solidFill>
                <a:latin typeface="Helvetica Neue"/>
                <a:ea typeface="Helvetica Neue"/>
                <a:cs typeface="Helvetica Neue"/>
              </a:defRPr>
            </a:pPr>
            <a:r>
              <a:rPr sz="1125" b="1">
                <a:solidFill>
                  <a:srgbClr val="B94F3D"/>
                </a:solidFill>
                <a:latin typeface="Helvetica Neue"/>
                <a:ea typeface="Helvetica Neue"/>
                <a:cs typeface="Helvetica Neue"/>
              </a:rPr>
              <a:t>Use current orders, facility policy, and authorized scope when applying this information.</a:t>
            </a:r>
          </a:p>
        </p:txBody>
      </p:sp>
    </p:spTree>
    <p:extLst>
      <p:ext uri="{BB962C8B-B14F-4D97-AF65-F5344CB8AC3E}">
        <p14:creationId xmlns:p14="http://schemas.microsoft.com/office/powerpoint/2010/main" val="1247941071"/>
      </p:ext>
    </p:extLst>
  </p:cSld>
</p:sld>
</file>

<file path=ppt/slides/slide9.xml><?xml version="1.0" encoding="utf-8"?>
<p:sld xmlns:p="http://schemas.openxmlformats.org/presentationml/2006/main">
  <p:cSld>
    <p:bg>
      <p:bgPr>
        <a:solidFill xmlns:a="http://schemas.openxmlformats.org/drawingml/2006/main">
          <a:srgbClr val="F7F4EE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0A4351AE-4200-438A-A175-8C3DBCE605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2095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37B82"/>
          </a:solidFill>
          <a:ln xmlns:a="http://schemas.openxmlformats.org/drawingml/2006/main" w="0">
            <a:solidFill>
              <a:srgbClr val="237B82"/>
            </a:solidFill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28A625B6-B57E-4E4B-871A-D641EFE8B5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00050"/>
            <a:ext cx="10001250" cy="819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91085"/>
          </a:bodyPr>
          <a:lstStyle xmlns:a="http://schemas.openxmlformats.org/drawingml/2006/main">
            <a:defPPr>
              <a:defRPr sz="2700" b="1">
                <a:solidFill>
                  <a:srgbClr val="15324A"/>
                </a:solidFill>
                <a:latin typeface="Helvetica Neue"/>
                <a:ea typeface="Helvetica Neue"/>
                <a:cs typeface="Helvetica Neue"/>
              </a:defRPr>
            </a:defPPr>
            <a:lvl1pPr>
              <a:defRPr sz="2700" b="1">
                <a:solidFill>
                  <a:srgbClr val="15324A"/>
                </a:solidFill>
                <a:latin typeface="Helvetica Neue"/>
                <a:ea typeface="Helvetica Neue"/>
                <a:cs typeface="Helvetica Neue"/>
              </a:defRPr>
            </a:lvl1pPr>
            <a:lvl2pPr>
              <a:defRPr sz="2700" b="1">
                <a:solidFill>
                  <a:srgbClr val="15324A"/>
                </a:solidFill>
                <a:latin typeface="Helvetica Neue"/>
                <a:ea typeface="Helvetica Neue"/>
                <a:cs typeface="Helvetica Neue"/>
              </a:defRPr>
            </a:lvl2pPr>
            <a:lvl3pPr>
              <a:defRPr sz="2700" b="1">
                <a:solidFill>
                  <a:srgbClr val="15324A"/>
                </a:solidFill>
                <a:latin typeface="Helvetica Neue"/>
                <a:ea typeface="Helvetica Neue"/>
                <a:cs typeface="Helvetica Neue"/>
              </a:defRPr>
            </a:lvl3pPr>
            <a:lvl4pPr>
              <a:defRPr sz="2700" b="1">
                <a:solidFill>
                  <a:srgbClr val="15324A"/>
                </a:solidFill>
                <a:latin typeface="Helvetica Neue"/>
                <a:ea typeface="Helvetica Neue"/>
                <a:cs typeface="Helvetica Neue"/>
              </a:defRPr>
            </a:lvl4pPr>
            <a:lvl5pPr>
              <a:defRPr sz="2700" b="1">
                <a:solidFill>
                  <a:srgbClr val="15324A"/>
                </a:solidFill>
                <a:latin typeface="Helvetica Neue"/>
                <a:ea typeface="Helvetica Neue"/>
                <a:cs typeface="Helvetica Neue"/>
              </a:defRPr>
            </a:lvl5pPr>
            <a:lvl6pPr>
              <a:defRPr sz="2700" b="1">
                <a:solidFill>
                  <a:srgbClr val="15324A"/>
                </a:solidFill>
                <a:latin typeface="Helvetica Neue"/>
                <a:ea typeface="Helvetica Neue"/>
                <a:cs typeface="Helvetica Neue"/>
              </a:defRPr>
            </a:lvl6pPr>
            <a:lvl7pPr>
              <a:defRPr sz="2700" b="1">
                <a:solidFill>
                  <a:srgbClr val="15324A"/>
                </a:solidFill>
                <a:latin typeface="Helvetica Neue"/>
                <a:ea typeface="Helvetica Neue"/>
                <a:cs typeface="Helvetica Neue"/>
              </a:defRPr>
            </a:lvl7pPr>
            <a:lvl8pPr>
              <a:defRPr sz="2700" b="1">
                <a:solidFill>
                  <a:srgbClr val="15324A"/>
                </a:solidFill>
                <a:latin typeface="Helvetica Neue"/>
                <a:ea typeface="Helvetica Neue"/>
                <a:cs typeface="Helvetica Neue"/>
              </a:defRPr>
            </a:lvl8pPr>
            <a:lvl9pPr>
              <a:defRPr sz="2700" b="1">
                <a:solidFill>
                  <a:srgbClr val="15324A"/>
                </a:solidFill>
                <a:latin typeface="Helvetica Neue"/>
                <a:ea typeface="Helvetica Neue"/>
                <a:cs typeface="Helvetica Neue"/>
              </a:defRPr>
            </a:lvl9pPr>
          </a:lstStyle>
          <a:p xmlns:a="http://schemas.openxmlformats.org/drawingml/2006/main">
            <a:pPr>
              <a:defRPr sz="2700" b="1">
                <a:solidFill>
                  <a:srgbClr val="15324A"/>
                </a:solidFill>
                <a:latin typeface="Helvetica Neue"/>
                <a:ea typeface="Helvetica Neue"/>
                <a:cs typeface="Helvetica Neue"/>
              </a:defRPr>
            </a:pPr>
            <a:r>
              <a:rPr sz="2700" b="1">
                <a:solidFill>
                  <a:srgbClr val="15324A"/>
                </a:solidFill>
                <a:latin typeface="Helvetica Neue"/>
                <a:ea typeface="Helvetica Neue"/>
                <a:cs typeface="Helvetica Neue"/>
              </a:rPr>
              <a:t>Blood Components, Parenteral Nutrition, and High-Risk Therapy 3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BE4C02CD-F269-4BAD-8BEA-A93C02B8EA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1257300"/>
            <a:ext cx="88582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91111"/>
          </a:bodyPr>
          <a:lstStyle xmlns:a="http://schemas.openxmlformats.org/drawingml/2006/main">
            <a:defPPr>
              <a:defRPr sz="1125" b="1">
                <a:solidFill>
                  <a:srgbClr val="237B82"/>
                </a:solidFill>
                <a:latin typeface="Helvetica Neue"/>
                <a:ea typeface="Helvetica Neue"/>
                <a:cs typeface="Helvetica Neue"/>
              </a:defRPr>
            </a:defPPr>
            <a:lvl1pPr>
              <a:defRPr sz="1125" b="1">
                <a:solidFill>
                  <a:srgbClr val="237B82"/>
                </a:solidFill>
                <a:latin typeface="Helvetica Neue"/>
                <a:ea typeface="Helvetica Neue"/>
                <a:cs typeface="Helvetica Neue"/>
              </a:defRPr>
            </a:lvl1pPr>
            <a:lvl2pPr>
              <a:defRPr sz="1125" b="1">
                <a:solidFill>
                  <a:srgbClr val="237B82"/>
                </a:solidFill>
                <a:latin typeface="Helvetica Neue"/>
                <a:ea typeface="Helvetica Neue"/>
                <a:cs typeface="Helvetica Neue"/>
              </a:defRPr>
            </a:lvl2pPr>
            <a:lvl3pPr>
              <a:defRPr sz="1125" b="1">
                <a:solidFill>
                  <a:srgbClr val="237B82"/>
                </a:solidFill>
                <a:latin typeface="Helvetica Neue"/>
                <a:ea typeface="Helvetica Neue"/>
                <a:cs typeface="Helvetica Neue"/>
              </a:defRPr>
            </a:lvl3pPr>
            <a:lvl4pPr>
              <a:defRPr sz="1125" b="1">
                <a:solidFill>
                  <a:srgbClr val="237B82"/>
                </a:solidFill>
                <a:latin typeface="Helvetica Neue"/>
                <a:ea typeface="Helvetica Neue"/>
                <a:cs typeface="Helvetica Neue"/>
              </a:defRPr>
            </a:lvl4pPr>
            <a:lvl5pPr>
              <a:defRPr sz="1125" b="1">
                <a:solidFill>
                  <a:srgbClr val="237B82"/>
                </a:solidFill>
                <a:latin typeface="Helvetica Neue"/>
                <a:ea typeface="Helvetica Neue"/>
                <a:cs typeface="Helvetica Neue"/>
              </a:defRPr>
            </a:lvl5pPr>
            <a:lvl6pPr>
              <a:defRPr sz="1125" b="1">
                <a:solidFill>
                  <a:srgbClr val="237B82"/>
                </a:solidFill>
                <a:latin typeface="Helvetica Neue"/>
                <a:ea typeface="Helvetica Neue"/>
                <a:cs typeface="Helvetica Neue"/>
              </a:defRPr>
            </a:lvl6pPr>
            <a:lvl7pPr>
              <a:defRPr sz="1125" b="1">
                <a:solidFill>
                  <a:srgbClr val="237B82"/>
                </a:solidFill>
                <a:latin typeface="Helvetica Neue"/>
                <a:ea typeface="Helvetica Neue"/>
                <a:cs typeface="Helvetica Neue"/>
              </a:defRPr>
            </a:lvl7pPr>
            <a:lvl8pPr>
              <a:defRPr sz="1125" b="1">
                <a:solidFill>
                  <a:srgbClr val="237B82"/>
                </a:solidFill>
                <a:latin typeface="Helvetica Neue"/>
                <a:ea typeface="Helvetica Neue"/>
                <a:cs typeface="Helvetica Neue"/>
              </a:defRPr>
            </a:lvl8pPr>
            <a:lvl9pPr>
              <a:defRPr sz="1125" b="1">
                <a:solidFill>
                  <a:srgbClr val="237B82"/>
                </a:solidFill>
                <a:latin typeface="Helvetica Neue"/>
                <a:ea typeface="Helvetica Neue"/>
                <a:cs typeface="Helvetica Neue"/>
              </a:defRPr>
            </a:lvl9pPr>
          </a:lstStyle>
          <a:p xmlns:a="http://schemas.openxmlformats.org/drawingml/2006/main">
            <a:pPr>
              <a:defRPr sz="1125" b="1">
                <a:solidFill>
                  <a:srgbClr val="237B82"/>
                </a:solidFill>
                <a:latin typeface="Helvetica Neue"/>
                <a:ea typeface="Helvetica Neue"/>
                <a:cs typeface="Helvetica Neue"/>
              </a:defRPr>
            </a:pPr>
            <a:r>
              <a:rPr sz="1125" b="1">
                <a:solidFill>
                  <a:srgbClr val="237B82"/>
                </a:solidFill>
                <a:latin typeface="Helvetica Neue"/>
                <a:ea typeface="Helvetica Neue"/>
                <a:cs typeface="Helvetica Neue"/>
              </a:rPr>
              <a:t>MODULE 4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2B8985BD-675A-4DF0-AF3A-97B3420443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457200"/>
            <a:ext cx="5334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>
            <a:defPPr>
              <a:defRPr sz="1200" b="1">
                <a:solidFill>
                  <a:srgbClr val="237B82"/>
                </a:solidFill>
                <a:latin typeface="Helvetica Neue"/>
                <a:ea typeface="Helvetica Neue"/>
                <a:cs typeface="Helvetica Neue"/>
              </a:defRPr>
            </a:defPPr>
            <a:lvl1pPr>
              <a:defRPr sz="1200" b="1">
                <a:solidFill>
                  <a:srgbClr val="237B82"/>
                </a:solidFill>
                <a:latin typeface="Helvetica Neue"/>
                <a:ea typeface="Helvetica Neue"/>
                <a:cs typeface="Helvetica Neue"/>
              </a:defRPr>
            </a:lvl1pPr>
            <a:lvl2pPr>
              <a:defRPr sz="1200" b="1">
                <a:solidFill>
                  <a:srgbClr val="237B82"/>
                </a:solidFill>
                <a:latin typeface="Helvetica Neue"/>
                <a:ea typeface="Helvetica Neue"/>
                <a:cs typeface="Helvetica Neue"/>
              </a:defRPr>
            </a:lvl2pPr>
            <a:lvl3pPr>
              <a:defRPr sz="1200" b="1">
                <a:solidFill>
                  <a:srgbClr val="237B82"/>
                </a:solidFill>
                <a:latin typeface="Helvetica Neue"/>
                <a:ea typeface="Helvetica Neue"/>
                <a:cs typeface="Helvetica Neue"/>
              </a:defRPr>
            </a:lvl3pPr>
            <a:lvl4pPr>
              <a:defRPr sz="1200" b="1">
                <a:solidFill>
                  <a:srgbClr val="237B82"/>
                </a:solidFill>
                <a:latin typeface="Helvetica Neue"/>
                <a:ea typeface="Helvetica Neue"/>
                <a:cs typeface="Helvetica Neue"/>
              </a:defRPr>
            </a:lvl4pPr>
            <a:lvl5pPr>
              <a:defRPr sz="1200" b="1">
                <a:solidFill>
                  <a:srgbClr val="237B82"/>
                </a:solidFill>
                <a:latin typeface="Helvetica Neue"/>
                <a:ea typeface="Helvetica Neue"/>
                <a:cs typeface="Helvetica Neue"/>
              </a:defRPr>
            </a:lvl5pPr>
            <a:lvl6pPr>
              <a:defRPr sz="1200" b="1">
                <a:solidFill>
                  <a:srgbClr val="237B82"/>
                </a:solidFill>
                <a:latin typeface="Helvetica Neue"/>
                <a:ea typeface="Helvetica Neue"/>
                <a:cs typeface="Helvetica Neue"/>
              </a:defRPr>
            </a:lvl6pPr>
            <a:lvl7pPr>
              <a:defRPr sz="1200" b="1">
                <a:solidFill>
                  <a:srgbClr val="237B82"/>
                </a:solidFill>
                <a:latin typeface="Helvetica Neue"/>
                <a:ea typeface="Helvetica Neue"/>
                <a:cs typeface="Helvetica Neue"/>
              </a:defRPr>
            </a:lvl7pPr>
            <a:lvl8pPr>
              <a:defRPr sz="1200" b="1">
                <a:solidFill>
                  <a:srgbClr val="237B82"/>
                </a:solidFill>
                <a:latin typeface="Helvetica Neue"/>
                <a:ea typeface="Helvetica Neue"/>
                <a:cs typeface="Helvetica Neue"/>
              </a:defRPr>
            </a:lvl8pPr>
            <a:lvl9pPr>
              <a:defRPr sz="1200" b="1">
                <a:solidFill>
                  <a:srgbClr val="237B82"/>
                </a:solidFill>
                <a:latin typeface="Helvetica Neue"/>
                <a:ea typeface="Helvetica Neue"/>
                <a:cs typeface="Helvetica Neue"/>
              </a:defRPr>
            </a:lvl9pPr>
          </a:lstStyle>
          <a:p xmlns:a="http://schemas.openxmlformats.org/drawingml/2006/main">
            <a:pPr>
              <a:defRPr sz="1200" b="1">
                <a:solidFill>
                  <a:srgbClr val="237B82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00" b="1">
                <a:solidFill>
                  <a:srgbClr val="237B82"/>
                </a:solidFill>
                <a:latin typeface="Helvetica Neue"/>
                <a:ea typeface="Helvetica Neue"/>
                <a:cs typeface="Helvetica Neue"/>
              </a:rPr>
              <a:t>09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D6467515-D6E1-4906-8224-0769A37BAC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1762125"/>
            <a:ext cx="10287000" cy="409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>
            <a:defPPr>
              <a:defRPr sz="2100">
                <a:solidFill>
                  <a:srgbClr val="13212D"/>
                </a:solidFill>
                <a:latin typeface="Helvetica Neue"/>
                <a:ea typeface="Helvetica Neue"/>
                <a:cs typeface="Helvetica Neue"/>
              </a:defRPr>
            </a:defPPr>
            <a:lvl1pPr>
              <a:defRPr sz="2100">
                <a:solidFill>
                  <a:srgbClr val="13212D"/>
                </a:solidFill>
                <a:latin typeface="Helvetica Neue"/>
                <a:ea typeface="Helvetica Neue"/>
                <a:cs typeface="Helvetica Neue"/>
              </a:defRPr>
            </a:lvl1pPr>
            <a:lvl2pPr>
              <a:defRPr sz="2100">
                <a:solidFill>
                  <a:srgbClr val="13212D"/>
                </a:solidFill>
                <a:latin typeface="Helvetica Neue"/>
                <a:ea typeface="Helvetica Neue"/>
                <a:cs typeface="Helvetica Neue"/>
              </a:defRPr>
            </a:lvl2pPr>
            <a:lvl3pPr>
              <a:defRPr sz="2100">
                <a:solidFill>
                  <a:srgbClr val="13212D"/>
                </a:solidFill>
                <a:latin typeface="Helvetica Neue"/>
                <a:ea typeface="Helvetica Neue"/>
                <a:cs typeface="Helvetica Neue"/>
              </a:defRPr>
            </a:lvl3pPr>
            <a:lvl4pPr>
              <a:defRPr sz="2100">
                <a:solidFill>
                  <a:srgbClr val="13212D"/>
                </a:solidFill>
                <a:latin typeface="Helvetica Neue"/>
                <a:ea typeface="Helvetica Neue"/>
                <a:cs typeface="Helvetica Neue"/>
              </a:defRPr>
            </a:lvl4pPr>
            <a:lvl5pPr>
              <a:defRPr sz="2100">
                <a:solidFill>
                  <a:srgbClr val="13212D"/>
                </a:solidFill>
                <a:latin typeface="Helvetica Neue"/>
                <a:ea typeface="Helvetica Neue"/>
                <a:cs typeface="Helvetica Neue"/>
              </a:defRPr>
            </a:lvl5pPr>
            <a:lvl6pPr>
              <a:defRPr sz="2100">
                <a:solidFill>
                  <a:srgbClr val="13212D"/>
                </a:solidFill>
                <a:latin typeface="Helvetica Neue"/>
                <a:ea typeface="Helvetica Neue"/>
                <a:cs typeface="Helvetica Neue"/>
              </a:defRPr>
            </a:lvl6pPr>
            <a:lvl7pPr>
              <a:defRPr sz="2100">
                <a:solidFill>
                  <a:srgbClr val="13212D"/>
                </a:solidFill>
                <a:latin typeface="Helvetica Neue"/>
                <a:ea typeface="Helvetica Neue"/>
                <a:cs typeface="Helvetica Neue"/>
              </a:defRPr>
            </a:lvl7pPr>
            <a:lvl8pPr>
              <a:defRPr sz="2100">
                <a:solidFill>
                  <a:srgbClr val="13212D"/>
                </a:solidFill>
                <a:latin typeface="Helvetica Neue"/>
                <a:ea typeface="Helvetica Neue"/>
                <a:cs typeface="Helvetica Neue"/>
              </a:defRPr>
            </a:lvl8pPr>
            <a:lvl9pPr>
              <a:defRPr sz="2100">
                <a:solidFill>
                  <a:srgbClr val="13212D"/>
                </a:solidFill>
                <a:latin typeface="Helvetica Neue"/>
                <a:ea typeface="Helvetica Neue"/>
                <a:cs typeface="Helvetica Neue"/>
              </a:defRPr>
            </a:lvl9pPr>
          </a:lstStyle>
          <a:p xmlns:a="http://schemas.openxmlformats.org/drawingml/2006/main">
            <a:pPr marL="279400" indent="-127000">
              <a:spcAft>
                <a:spcPts val="1300"/>
              </a:spcAft>
              <a:buChar char="•"/>
              <a:defRPr sz="2100">
                <a:solidFill>
                  <a:srgbClr val="13212D"/>
                </a:solidFill>
                <a:latin typeface="Helvetica Neue"/>
                <a:ea typeface="Helvetica Neue"/>
                <a:cs typeface="Helvetica Neue"/>
              </a:defRPr>
            </a:pPr>
            <a:r>
              <a:rPr sz="2100">
                <a:solidFill>
                  <a:srgbClr val="13212D"/>
                </a:solidFill>
                <a:latin typeface="Helvetica Neue"/>
                <a:ea typeface="Helvetica Neue"/>
                <a:cs typeface="Helvetica Neue"/>
              </a:rPr>
              <a:t>High-alert and vesicant medications require current drug-specific guidance, appropriate access, blood return/patency checks when indicated, close monitoring, and immediate use of the facility extravasation or emergency protocol.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131F0371-A27F-4EDE-B8D8-EBD5680266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6115050"/>
            <a:ext cx="101917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>
            <a:defPPr>
              <a:defRPr sz="1125" b="1">
                <a:solidFill>
                  <a:srgbClr val="B94F3D"/>
                </a:solidFill>
                <a:latin typeface="Helvetica Neue"/>
                <a:ea typeface="Helvetica Neue"/>
                <a:cs typeface="Helvetica Neue"/>
              </a:defRPr>
            </a:defPPr>
            <a:lvl1pPr>
              <a:defRPr sz="1125" b="1">
                <a:solidFill>
                  <a:srgbClr val="B94F3D"/>
                </a:solidFill>
                <a:latin typeface="Helvetica Neue"/>
                <a:ea typeface="Helvetica Neue"/>
                <a:cs typeface="Helvetica Neue"/>
              </a:defRPr>
            </a:lvl1pPr>
            <a:lvl2pPr>
              <a:defRPr sz="1125" b="1">
                <a:solidFill>
                  <a:srgbClr val="B94F3D"/>
                </a:solidFill>
                <a:latin typeface="Helvetica Neue"/>
                <a:ea typeface="Helvetica Neue"/>
                <a:cs typeface="Helvetica Neue"/>
              </a:defRPr>
            </a:lvl2pPr>
            <a:lvl3pPr>
              <a:defRPr sz="1125" b="1">
                <a:solidFill>
                  <a:srgbClr val="B94F3D"/>
                </a:solidFill>
                <a:latin typeface="Helvetica Neue"/>
                <a:ea typeface="Helvetica Neue"/>
                <a:cs typeface="Helvetica Neue"/>
              </a:defRPr>
            </a:lvl3pPr>
            <a:lvl4pPr>
              <a:defRPr sz="1125" b="1">
                <a:solidFill>
                  <a:srgbClr val="B94F3D"/>
                </a:solidFill>
                <a:latin typeface="Helvetica Neue"/>
                <a:ea typeface="Helvetica Neue"/>
                <a:cs typeface="Helvetica Neue"/>
              </a:defRPr>
            </a:lvl4pPr>
            <a:lvl5pPr>
              <a:defRPr sz="1125" b="1">
                <a:solidFill>
                  <a:srgbClr val="B94F3D"/>
                </a:solidFill>
                <a:latin typeface="Helvetica Neue"/>
                <a:ea typeface="Helvetica Neue"/>
                <a:cs typeface="Helvetica Neue"/>
              </a:defRPr>
            </a:lvl5pPr>
            <a:lvl6pPr>
              <a:defRPr sz="1125" b="1">
                <a:solidFill>
                  <a:srgbClr val="B94F3D"/>
                </a:solidFill>
                <a:latin typeface="Helvetica Neue"/>
                <a:ea typeface="Helvetica Neue"/>
                <a:cs typeface="Helvetica Neue"/>
              </a:defRPr>
            </a:lvl6pPr>
            <a:lvl7pPr>
              <a:defRPr sz="1125" b="1">
                <a:solidFill>
                  <a:srgbClr val="B94F3D"/>
                </a:solidFill>
                <a:latin typeface="Helvetica Neue"/>
                <a:ea typeface="Helvetica Neue"/>
                <a:cs typeface="Helvetica Neue"/>
              </a:defRPr>
            </a:lvl7pPr>
            <a:lvl8pPr>
              <a:defRPr sz="1125" b="1">
                <a:solidFill>
                  <a:srgbClr val="B94F3D"/>
                </a:solidFill>
                <a:latin typeface="Helvetica Neue"/>
                <a:ea typeface="Helvetica Neue"/>
                <a:cs typeface="Helvetica Neue"/>
              </a:defRPr>
            </a:lvl8pPr>
            <a:lvl9pPr>
              <a:defRPr sz="1125" b="1">
                <a:solidFill>
                  <a:srgbClr val="B94F3D"/>
                </a:solidFill>
                <a:latin typeface="Helvetica Neue"/>
                <a:ea typeface="Helvetica Neue"/>
                <a:cs typeface="Helvetica Neue"/>
              </a:defRPr>
            </a:lvl9pPr>
          </a:lstStyle>
          <a:p xmlns:a="http://schemas.openxmlformats.org/drawingml/2006/main">
            <a:pPr>
              <a:defRPr sz="1125" b="1">
                <a:solidFill>
                  <a:srgbClr val="B94F3D"/>
                </a:solidFill>
                <a:latin typeface="Helvetica Neue"/>
                <a:ea typeface="Helvetica Neue"/>
                <a:cs typeface="Helvetica Neue"/>
              </a:defRPr>
            </a:pPr>
            <a:r>
              <a:rPr sz="1125" b="1">
                <a:solidFill>
                  <a:srgbClr val="B94F3D"/>
                </a:solidFill>
                <a:latin typeface="Helvetica Neue"/>
                <a:ea typeface="Helvetica Neue"/>
                <a:cs typeface="Helvetica Neue"/>
              </a:rPr>
              <a:t>Use current orders, facility policy, and authorized scope when applying this information.</a:t>
            </a:r>
          </a:p>
        </p:txBody>
      </p:sp>
    </p:spTree>
    <p:extLst>
      <p:ext uri="{BB962C8B-B14F-4D97-AF65-F5344CB8AC3E}">
        <p14:creationId xmlns:p14="http://schemas.microsoft.com/office/powerpoint/2010/main" val="1535298822"/>
      </p:ext>
    </p:extLst>
  </p:cSld>
</p:sld>
</file>

<file path=ppt/slides/slide10.xml><?xml version="1.0" encoding="utf-8"?>
<p:sld xmlns:p="http://schemas.openxmlformats.org/presentationml/2006/main">
  <p:cSld>
    <p:bg>
      <p:bgPr>
        <a:solidFill xmlns:a="http://schemas.openxmlformats.org/drawingml/2006/main">
          <a:srgbClr val="F7F4EE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AC199B19-A74B-4360-9126-B2F8561C94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2095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37B82"/>
          </a:solidFill>
          <a:ln xmlns:a="http://schemas.openxmlformats.org/drawingml/2006/main" w="0">
            <a:solidFill>
              <a:srgbClr val="237B82"/>
            </a:solidFill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4806198F-B2BC-490F-B392-96710F2201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00050"/>
            <a:ext cx="10001250" cy="819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88426"/>
          </a:bodyPr>
          <a:lstStyle xmlns:a="http://schemas.openxmlformats.org/drawingml/2006/main">
            <a:defPPr>
              <a:defRPr sz="2700" b="1">
                <a:solidFill>
                  <a:srgbClr val="15324A"/>
                </a:solidFill>
                <a:latin typeface="Helvetica Neue"/>
                <a:ea typeface="Helvetica Neue"/>
                <a:cs typeface="Helvetica Neue"/>
              </a:defRPr>
            </a:defPPr>
            <a:lvl1pPr>
              <a:defRPr sz="2700" b="1">
                <a:solidFill>
                  <a:srgbClr val="15324A"/>
                </a:solidFill>
                <a:latin typeface="Helvetica Neue"/>
                <a:ea typeface="Helvetica Neue"/>
                <a:cs typeface="Helvetica Neue"/>
              </a:defRPr>
            </a:lvl1pPr>
            <a:lvl2pPr>
              <a:defRPr sz="2700" b="1">
                <a:solidFill>
                  <a:srgbClr val="15324A"/>
                </a:solidFill>
                <a:latin typeface="Helvetica Neue"/>
                <a:ea typeface="Helvetica Neue"/>
                <a:cs typeface="Helvetica Neue"/>
              </a:defRPr>
            </a:lvl2pPr>
            <a:lvl3pPr>
              <a:defRPr sz="2700" b="1">
                <a:solidFill>
                  <a:srgbClr val="15324A"/>
                </a:solidFill>
                <a:latin typeface="Helvetica Neue"/>
                <a:ea typeface="Helvetica Neue"/>
                <a:cs typeface="Helvetica Neue"/>
              </a:defRPr>
            </a:lvl3pPr>
            <a:lvl4pPr>
              <a:defRPr sz="2700" b="1">
                <a:solidFill>
                  <a:srgbClr val="15324A"/>
                </a:solidFill>
                <a:latin typeface="Helvetica Neue"/>
                <a:ea typeface="Helvetica Neue"/>
                <a:cs typeface="Helvetica Neue"/>
              </a:defRPr>
            </a:lvl4pPr>
            <a:lvl5pPr>
              <a:defRPr sz="2700" b="1">
                <a:solidFill>
                  <a:srgbClr val="15324A"/>
                </a:solidFill>
                <a:latin typeface="Helvetica Neue"/>
                <a:ea typeface="Helvetica Neue"/>
                <a:cs typeface="Helvetica Neue"/>
              </a:defRPr>
            </a:lvl5pPr>
            <a:lvl6pPr>
              <a:defRPr sz="2700" b="1">
                <a:solidFill>
                  <a:srgbClr val="15324A"/>
                </a:solidFill>
                <a:latin typeface="Helvetica Neue"/>
                <a:ea typeface="Helvetica Neue"/>
                <a:cs typeface="Helvetica Neue"/>
              </a:defRPr>
            </a:lvl6pPr>
            <a:lvl7pPr>
              <a:defRPr sz="2700" b="1">
                <a:solidFill>
                  <a:srgbClr val="15324A"/>
                </a:solidFill>
                <a:latin typeface="Helvetica Neue"/>
                <a:ea typeface="Helvetica Neue"/>
                <a:cs typeface="Helvetica Neue"/>
              </a:defRPr>
            </a:lvl7pPr>
            <a:lvl8pPr>
              <a:defRPr sz="2700" b="1">
                <a:solidFill>
                  <a:srgbClr val="15324A"/>
                </a:solidFill>
                <a:latin typeface="Helvetica Neue"/>
                <a:ea typeface="Helvetica Neue"/>
                <a:cs typeface="Helvetica Neue"/>
              </a:defRPr>
            </a:lvl8pPr>
            <a:lvl9pPr>
              <a:defRPr sz="2700" b="1">
                <a:solidFill>
                  <a:srgbClr val="15324A"/>
                </a:solidFill>
                <a:latin typeface="Helvetica Neue"/>
                <a:ea typeface="Helvetica Neue"/>
                <a:cs typeface="Helvetica Neue"/>
              </a:defRPr>
            </a:lvl9pPr>
          </a:lstStyle>
          <a:p xmlns:a="http://schemas.openxmlformats.org/drawingml/2006/main">
            <a:pPr>
              <a:defRPr sz="2700" b="1">
                <a:solidFill>
                  <a:srgbClr val="15324A"/>
                </a:solidFill>
                <a:latin typeface="Helvetica Neue"/>
                <a:ea typeface="Helvetica Neue"/>
                <a:cs typeface="Helvetica Neue"/>
              </a:defRPr>
            </a:pPr>
            <a:r>
              <a:rPr sz="2700" b="1">
                <a:solidFill>
                  <a:srgbClr val="15324A"/>
                </a:solidFill>
                <a:latin typeface="Helvetica Neue"/>
                <a:ea typeface="Helvetica Neue"/>
                <a:cs typeface="Helvetica Neue"/>
              </a:rPr>
              <a:t>Live Review: Infection Control, Access Devices, Blood, and Nutrition 1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F1470102-5A4B-48DE-8F7A-3ECFD16007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1257300"/>
            <a:ext cx="88582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91111"/>
          </a:bodyPr>
          <a:lstStyle xmlns:a="http://schemas.openxmlformats.org/drawingml/2006/main">
            <a:defPPr>
              <a:defRPr sz="1125" b="1">
                <a:solidFill>
                  <a:srgbClr val="237B82"/>
                </a:solidFill>
                <a:latin typeface="Helvetica Neue"/>
                <a:ea typeface="Helvetica Neue"/>
                <a:cs typeface="Helvetica Neue"/>
              </a:defRPr>
            </a:defPPr>
            <a:lvl1pPr>
              <a:defRPr sz="1125" b="1">
                <a:solidFill>
                  <a:srgbClr val="237B82"/>
                </a:solidFill>
                <a:latin typeface="Helvetica Neue"/>
                <a:ea typeface="Helvetica Neue"/>
                <a:cs typeface="Helvetica Neue"/>
              </a:defRPr>
            </a:lvl1pPr>
            <a:lvl2pPr>
              <a:defRPr sz="1125" b="1">
                <a:solidFill>
                  <a:srgbClr val="237B82"/>
                </a:solidFill>
                <a:latin typeface="Helvetica Neue"/>
                <a:ea typeface="Helvetica Neue"/>
                <a:cs typeface="Helvetica Neue"/>
              </a:defRPr>
            </a:lvl2pPr>
            <a:lvl3pPr>
              <a:defRPr sz="1125" b="1">
                <a:solidFill>
                  <a:srgbClr val="237B82"/>
                </a:solidFill>
                <a:latin typeface="Helvetica Neue"/>
                <a:ea typeface="Helvetica Neue"/>
                <a:cs typeface="Helvetica Neue"/>
              </a:defRPr>
            </a:lvl3pPr>
            <a:lvl4pPr>
              <a:defRPr sz="1125" b="1">
                <a:solidFill>
                  <a:srgbClr val="237B82"/>
                </a:solidFill>
                <a:latin typeface="Helvetica Neue"/>
                <a:ea typeface="Helvetica Neue"/>
                <a:cs typeface="Helvetica Neue"/>
              </a:defRPr>
            </a:lvl4pPr>
            <a:lvl5pPr>
              <a:defRPr sz="1125" b="1">
                <a:solidFill>
                  <a:srgbClr val="237B82"/>
                </a:solidFill>
                <a:latin typeface="Helvetica Neue"/>
                <a:ea typeface="Helvetica Neue"/>
                <a:cs typeface="Helvetica Neue"/>
              </a:defRPr>
            </a:lvl5pPr>
            <a:lvl6pPr>
              <a:defRPr sz="1125" b="1">
                <a:solidFill>
                  <a:srgbClr val="237B82"/>
                </a:solidFill>
                <a:latin typeface="Helvetica Neue"/>
                <a:ea typeface="Helvetica Neue"/>
                <a:cs typeface="Helvetica Neue"/>
              </a:defRPr>
            </a:lvl6pPr>
            <a:lvl7pPr>
              <a:defRPr sz="1125" b="1">
                <a:solidFill>
                  <a:srgbClr val="237B82"/>
                </a:solidFill>
                <a:latin typeface="Helvetica Neue"/>
                <a:ea typeface="Helvetica Neue"/>
                <a:cs typeface="Helvetica Neue"/>
              </a:defRPr>
            </a:lvl7pPr>
            <a:lvl8pPr>
              <a:defRPr sz="1125" b="1">
                <a:solidFill>
                  <a:srgbClr val="237B82"/>
                </a:solidFill>
                <a:latin typeface="Helvetica Neue"/>
                <a:ea typeface="Helvetica Neue"/>
                <a:cs typeface="Helvetica Neue"/>
              </a:defRPr>
            </a:lvl8pPr>
            <a:lvl9pPr>
              <a:defRPr sz="1125" b="1">
                <a:solidFill>
                  <a:srgbClr val="237B82"/>
                </a:solidFill>
                <a:latin typeface="Helvetica Neue"/>
                <a:ea typeface="Helvetica Neue"/>
                <a:cs typeface="Helvetica Neue"/>
              </a:defRPr>
            </a:lvl9pPr>
          </a:lstStyle>
          <a:p xmlns:a="http://schemas.openxmlformats.org/drawingml/2006/main">
            <a:pPr>
              <a:defRPr sz="1125" b="1">
                <a:solidFill>
                  <a:srgbClr val="237B82"/>
                </a:solidFill>
                <a:latin typeface="Helvetica Neue"/>
                <a:ea typeface="Helvetica Neue"/>
                <a:cs typeface="Helvetica Neue"/>
              </a:defRPr>
            </a:pPr>
            <a:r>
              <a:rPr sz="1125" b="1">
                <a:solidFill>
                  <a:srgbClr val="237B82"/>
                </a:solidFill>
                <a:latin typeface="Helvetica Neue"/>
                <a:ea typeface="Helvetica Neue"/>
                <a:cs typeface="Helvetica Neue"/>
              </a:rPr>
              <a:t>MODULE 4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8ADA03A5-79FD-4F09-88F3-E4295EE02A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457200"/>
            <a:ext cx="5334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>
            <a:defPPr>
              <a:defRPr sz="1200" b="1">
                <a:solidFill>
                  <a:srgbClr val="237B82"/>
                </a:solidFill>
                <a:latin typeface="Helvetica Neue"/>
                <a:ea typeface="Helvetica Neue"/>
                <a:cs typeface="Helvetica Neue"/>
              </a:defRPr>
            </a:defPPr>
            <a:lvl1pPr>
              <a:defRPr sz="1200" b="1">
                <a:solidFill>
                  <a:srgbClr val="237B82"/>
                </a:solidFill>
                <a:latin typeface="Helvetica Neue"/>
                <a:ea typeface="Helvetica Neue"/>
                <a:cs typeface="Helvetica Neue"/>
              </a:defRPr>
            </a:lvl1pPr>
            <a:lvl2pPr>
              <a:defRPr sz="1200" b="1">
                <a:solidFill>
                  <a:srgbClr val="237B82"/>
                </a:solidFill>
                <a:latin typeface="Helvetica Neue"/>
                <a:ea typeface="Helvetica Neue"/>
                <a:cs typeface="Helvetica Neue"/>
              </a:defRPr>
            </a:lvl2pPr>
            <a:lvl3pPr>
              <a:defRPr sz="1200" b="1">
                <a:solidFill>
                  <a:srgbClr val="237B82"/>
                </a:solidFill>
                <a:latin typeface="Helvetica Neue"/>
                <a:ea typeface="Helvetica Neue"/>
                <a:cs typeface="Helvetica Neue"/>
              </a:defRPr>
            </a:lvl3pPr>
            <a:lvl4pPr>
              <a:defRPr sz="1200" b="1">
                <a:solidFill>
                  <a:srgbClr val="237B82"/>
                </a:solidFill>
                <a:latin typeface="Helvetica Neue"/>
                <a:ea typeface="Helvetica Neue"/>
                <a:cs typeface="Helvetica Neue"/>
              </a:defRPr>
            </a:lvl4pPr>
            <a:lvl5pPr>
              <a:defRPr sz="1200" b="1">
                <a:solidFill>
                  <a:srgbClr val="237B82"/>
                </a:solidFill>
                <a:latin typeface="Helvetica Neue"/>
                <a:ea typeface="Helvetica Neue"/>
                <a:cs typeface="Helvetica Neue"/>
              </a:defRPr>
            </a:lvl5pPr>
            <a:lvl6pPr>
              <a:defRPr sz="1200" b="1">
                <a:solidFill>
                  <a:srgbClr val="237B82"/>
                </a:solidFill>
                <a:latin typeface="Helvetica Neue"/>
                <a:ea typeface="Helvetica Neue"/>
                <a:cs typeface="Helvetica Neue"/>
              </a:defRPr>
            </a:lvl6pPr>
            <a:lvl7pPr>
              <a:defRPr sz="1200" b="1">
                <a:solidFill>
                  <a:srgbClr val="237B82"/>
                </a:solidFill>
                <a:latin typeface="Helvetica Neue"/>
                <a:ea typeface="Helvetica Neue"/>
                <a:cs typeface="Helvetica Neue"/>
              </a:defRPr>
            </a:lvl7pPr>
            <a:lvl8pPr>
              <a:defRPr sz="1200" b="1">
                <a:solidFill>
                  <a:srgbClr val="237B82"/>
                </a:solidFill>
                <a:latin typeface="Helvetica Neue"/>
                <a:ea typeface="Helvetica Neue"/>
                <a:cs typeface="Helvetica Neue"/>
              </a:defRPr>
            </a:lvl8pPr>
            <a:lvl9pPr>
              <a:defRPr sz="1200" b="1">
                <a:solidFill>
                  <a:srgbClr val="237B82"/>
                </a:solidFill>
                <a:latin typeface="Helvetica Neue"/>
                <a:ea typeface="Helvetica Neue"/>
                <a:cs typeface="Helvetica Neue"/>
              </a:defRPr>
            </a:lvl9pPr>
          </a:lstStyle>
          <a:p xmlns:a="http://schemas.openxmlformats.org/drawingml/2006/main">
            <a:pPr>
              <a:defRPr sz="1200" b="1">
                <a:solidFill>
                  <a:srgbClr val="237B82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00" b="1">
                <a:solidFill>
                  <a:srgbClr val="237B82"/>
                </a:solidFill>
                <a:latin typeface="Helvetica Neue"/>
                <a:ea typeface="Helvetica Neue"/>
                <a:cs typeface="Helvetica Neue"/>
              </a:rPr>
              <a:t>10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6161D6C7-0B7D-4B6C-9CB6-72776C0BBD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1762125"/>
            <a:ext cx="10287000" cy="409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>
            <a:defPPr>
              <a:defRPr sz="2100">
                <a:solidFill>
                  <a:srgbClr val="13212D"/>
                </a:solidFill>
                <a:latin typeface="Helvetica Neue"/>
                <a:ea typeface="Helvetica Neue"/>
                <a:cs typeface="Helvetica Neue"/>
              </a:defRPr>
            </a:defPPr>
            <a:lvl1pPr>
              <a:defRPr sz="2100">
                <a:solidFill>
                  <a:srgbClr val="13212D"/>
                </a:solidFill>
                <a:latin typeface="Helvetica Neue"/>
                <a:ea typeface="Helvetica Neue"/>
                <a:cs typeface="Helvetica Neue"/>
              </a:defRPr>
            </a:lvl1pPr>
            <a:lvl2pPr>
              <a:defRPr sz="2100">
                <a:solidFill>
                  <a:srgbClr val="13212D"/>
                </a:solidFill>
                <a:latin typeface="Helvetica Neue"/>
                <a:ea typeface="Helvetica Neue"/>
                <a:cs typeface="Helvetica Neue"/>
              </a:defRPr>
            </a:lvl2pPr>
            <a:lvl3pPr>
              <a:defRPr sz="2100">
                <a:solidFill>
                  <a:srgbClr val="13212D"/>
                </a:solidFill>
                <a:latin typeface="Helvetica Neue"/>
                <a:ea typeface="Helvetica Neue"/>
                <a:cs typeface="Helvetica Neue"/>
              </a:defRPr>
            </a:lvl3pPr>
            <a:lvl4pPr>
              <a:defRPr sz="2100">
                <a:solidFill>
                  <a:srgbClr val="13212D"/>
                </a:solidFill>
                <a:latin typeface="Helvetica Neue"/>
                <a:ea typeface="Helvetica Neue"/>
                <a:cs typeface="Helvetica Neue"/>
              </a:defRPr>
            </a:lvl4pPr>
            <a:lvl5pPr>
              <a:defRPr sz="2100">
                <a:solidFill>
                  <a:srgbClr val="13212D"/>
                </a:solidFill>
                <a:latin typeface="Helvetica Neue"/>
                <a:ea typeface="Helvetica Neue"/>
                <a:cs typeface="Helvetica Neue"/>
              </a:defRPr>
            </a:lvl5pPr>
            <a:lvl6pPr>
              <a:defRPr sz="2100">
                <a:solidFill>
                  <a:srgbClr val="13212D"/>
                </a:solidFill>
                <a:latin typeface="Helvetica Neue"/>
                <a:ea typeface="Helvetica Neue"/>
                <a:cs typeface="Helvetica Neue"/>
              </a:defRPr>
            </a:lvl6pPr>
            <a:lvl7pPr>
              <a:defRPr sz="2100">
                <a:solidFill>
                  <a:srgbClr val="13212D"/>
                </a:solidFill>
                <a:latin typeface="Helvetica Neue"/>
                <a:ea typeface="Helvetica Neue"/>
                <a:cs typeface="Helvetica Neue"/>
              </a:defRPr>
            </a:lvl7pPr>
            <a:lvl8pPr>
              <a:defRPr sz="2100">
                <a:solidFill>
                  <a:srgbClr val="13212D"/>
                </a:solidFill>
                <a:latin typeface="Helvetica Neue"/>
                <a:ea typeface="Helvetica Neue"/>
                <a:cs typeface="Helvetica Neue"/>
              </a:defRPr>
            </a:lvl8pPr>
            <a:lvl9pPr>
              <a:defRPr sz="2100">
                <a:solidFill>
                  <a:srgbClr val="13212D"/>
                </a:solidFill>
                <a:latin typeface="Helvetica Neue"/>
                <a:ea typeface="Helvetica Neue"/>
                <a:cs typeface="Helvetica Neue"/>
              </a:defRPr>
            </a:lvl9pPr>
          </a:lstStyle>
          <a:p xmlns:a="http://schemas.openxmlformats.org/drawingml/2006/main">
            <a:pPr marL="279400" indent="-127000">
              <a:spcAft>
                <a:spcPts val="1300"/>
              </a:spcAft>
              <a:buChar char="•"/>
              <a:defRPr sz="2100">
                <a:solidFill>
                  <a:srgbClr val="13212D"/>
                </a:solidFill>
                <a:latin typeface="Helvetica Neue"/>
                <a:ea typeface="Helvetica Neue"/>
                <a:cs typeface="Helvetica Neue"/>
              </a:defRPr>
            </a:pPr>
            <a:r>
              <a:rPr sz="2100">
                <a:solidFill>
                  <a:srgbClr val="13212D"/>
                </a:solidFill>
                <a:latin typeface="Helvetica Neue"/>
                <a:ea typeface="Helvetica Neue"/>
                <a:cs typeface="Helvetica Neue"/>
              </a:rPr>
              <a:t>Instructor demonstrations and guided discussion cover hand hygiene, PPE, aseptic non-touch technique, skin preparation, connector disinfection, dressing assessment, peripheral versus central access, device restrictions, blood components and reactions, parenteral nutrition, high-alert therapy, and emergency readiness.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EB615833-7DB7-4922-990D-43A0B7BC8C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6115050"/>
            <a:ext cx="101917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>
            <a:defPPr>
              <a:defRPr sz="1125" b="1">
                <a:solidFill>
                  <a:srgbClr val="B94F3D"/>
                </a:solidFill>
                <a:latin typeface="Helvetica Neue"/>
                <a:ea typeface="Helvetica Neue"/>
                <a:cs typeface="Helvetica Neue"/>
              </a:defRPr>
            </a:defPPr>
            <a:lvl1pPr>
              <a:defRPr sz="1125" b="1">
                <a:solidFill>
                  <a:srgbClr val="B94F3D"/>
                </a:solidFill>
                <a:latin typeface="Helvetica Neue"/>
                <a:ea typeface="Helvetica Neue"/>
                <a:cs typeface="Helvetica Neue"/>
              </a:defRPr>
            </a:lvl1pPr>
            <a:lvl2pPr>
              <a:defRPr sz="1125" b="1">
                <a:solidFill>
                  <a:srgbClr val="B94F3D"/>
                </a:solidFill>
                <a:latin typeface="Helvetica Neue"/>
                <a:ea typeface="Helvetica Neue"/>
                <a:cs typeface="Helvetica Neue"/>
              </a:defRPr>
            </a:lvl2pPr>
            <a:lvl3pPr>
              <a:defRPr sz="1125" b="1">
                <a:solidFill>
                  <a:srgbClr val="B94F3D"/>
                </a:solidFill>
                <a:latin typeface="Helvetica Neue"/>
                <a:ea typeface="Helvetica Neue"/>
                <a:cs typeface="Helvetica Neue"/>
              </a:defRPr>
            </a:lvl3pPr>
            <a:lvl4pPr>
              <a:defRPr sz="1125" b="1">
                <a:solidFill>
                  <a:srgbClr val="B94F3D"/>
                </a:solidFill>
                <a:latin typeface="Helvetica Neue"/>
                <a:ea typeface="Helvetica Neue"/>
                <a:cs typeface="Helvetica Neue"/>
              </a:defRPr>
            </a:lvl4pPr>
            <a:lvl5pPr>
              <a:defRPr sz="1125" b="1">
                <a:solidFill>
                  <a:srgbClr val="B94F3D"/>
                </a:solidFill>
                <a:latin typeface="Helvetica Neue"/>
                <a:ea typeface="Helvetica Neue"/>
                <a:cs typeface="Helvetica Neue"/>
              </a:defRPr>
            </a:lvl5pPr>
            <a:lvl6pPr>
              <a:defRPr sz="1125" b="1">
                <a:solidFill>
                  <a:srgbClr val="B94F3D"/>
                </a:solidFill>
                <a:latin typeface="Helvetica Neue"/>
                <a:ea typeface="Helvetica Neue"/>
                <a:cs typeface="Helvetica Neue"/>
              </a:defRPr>
            </a:lvl6pPr>
            <a:lvl7pPr>
              <a:defRPr sz="1125" b="1">
                <a:solidFill>
                  <a:srgbClr val="B94F3D"/>
                </a:solidFill>
                <a:latin typeface="Helvetica Neue"/>
                <a:ea typeface="Helvetica Neue"/>
                <a:cs typeface="Helvetica Neue"/>
              </a:defRPr>
            </a:lvl7pPr>
            <a:lvl8pPr>
              <a:defRPr sz="1125" b="1">
                <a:solidFill>
                  <a:srgbClr val="B94F3D"/>
                </a:solidFill>
                <a:latin typeface="Helvetica Neue"/>
                <a:ea typeface="Helvetica Neue"/>
                <a:cs typeface="Helvetica Neue"/>
              </a:defRPr>
            </a:lvl8pPr>
            <a:lvl9pPr>
              <a:defRPr sz="1125" b="1">
                <a:solidFill>
                  <a:srgbClr val="B94F3D"/>
                </a:solidFill>
                <a:latin typeface="Helvetica Neue"/>
                <a:ea typeface="Helvetica Neue"/>
                <a:cs typeface="Helvetica Neue"/>
              </a:defRPr>
            </a:lvl9pPr>
          </a:lstStyle>
          <a:p xmlns:a="http://schemas.openxmlformats.org/drawingml/2006/main">
            <a:pPr>
              <a:defRPr sz="1125" b="1">
                <a:solidFill>
                  <a:srgbClr val="B94F3D"/>
                </a:solidFill>
                <a:latin typeface="Helvetica Neue"/>
                <a:ea typeface="Helvetica Neue"/>
                <a:cs typeface="Helvetica Neue"/>
              </a:defRPr>
            </a:pPr>
            <a:r>
              <a:rPr sz="1125" b="1">
                <a:solidFill>
                  <a:srgbClr val="B94F3D"/>
                </a:solidFill>
                <a:latin typeface="Helvetica Neue"/>
                <a:ea typeface="Helvetica Neue"/>
                <a:cs typeface="Helvetica Neue"/>
              </a:rPr>
              <a:t>Use current orders, facility policy, and authorized scope when applying this information.</a:t>
            </a:r>
          </a:p>
        </p:txBody>
      </p:sp>
    </p:spTree>
    <p:extLst>
      <p:ext uri="{BB962C8B-B14F-4D97-AF65-F5344CB8AC3E}">
        <p14:creationId xmlns:p14="http://schemas.microsoft.com/office/powerpoint/2010/main" val="978886742"/>
      </p:ext>
    </p:extLst>
  </p:cSld>
</p:sld>
</file>

<file path=ppt/slides/slide11.xml><?xml version="1.0" encoding="utf-8"?>
<p:sld xmlns:p="http://schemas.openxmlformats.org/presentationml/2006/main">
  <p:cSld>
    <p:bg>
      <p:bgPr>
        <a:solidFill xmlns:a="http://schemas.openxmlformats.org/drawingml/2006/main">
          <a:srgbClr val="F7F4EE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CA29E183-887E-42E6-8328-C96D4F5DB5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2095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37B82"/>
          </a:solidFill>
          <a:ln xmlns:a="http://schemas.openxmlformats.org/drawingml/2006/main" w="0">
            <a:solidFill>
              <a:srgbClr val="237B82"/>
            </a:solidFill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380885F5-D704-40D6-96B6-4F58C92E2B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00050"/>
            <a:ext cx="10001250" cy="819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88426"/>
          </a:bodyPr>
          <a:lstStyle xmlns:a="http://schemas.openxmlformats.org/drawingml/2006/main">
            <a:defPPr>
              <a:defRPr sz="2700" b="1">
                <a:solidFill>
                  <a:srgbClr val="15324A"/>
                </a:solidFill>
                <a:latin typeface="Helvetica Neue"/>
                <a:ea typeface="Helvetica Neue"/>
                <a:cs typeface="Helvetica Neue"/>
              </a:defRPr>
            </a:defPPr>
            <a:lvl1pPr>
              <a:defRPr sz="2700" b="1">
                <a:solidFill>
                  <a:srgbClr val="15324A"/>
                </a:solidFill>
                <a:latin typeface="Helvetica Neue"/>
                <a:ea typeface="Helvetica Neue"/>
                <a:cs typeface="Helvetica Neue"/>
              </a:defRPr>
            </a:lvl1pPr>
            <a:lvl2pPr>
              <a:defRPr sz="2700" b="1">
                <a:solidFill>
                  <a:srgbClr val="15324A"/>
                </a:solidFill>
                <a:latin typeface="Helvetica Neue"/>
                <a:ea typeface="Helvetica Neue"/>
                <a:cs typeface="Helvetica Neue"/>
              </a:defRPr>
            </a:lvl2pPr>
            <a:lvl3pPr>
              <a:defRPr sz="2700" b="1">
                <a:solidFill>
                  <a:srgbClr val="15324A"/>
                </a:solidFill>
                <a:latin typeface="Helvetica Neue"/>
                <a:ea typeface="Helvetica Neue"/>
                <a:cs typeface="Helvetica Neue"/>
              </a:defRPr>
            </a:lvl3pPr>
            <a:lvl4pPr>
              <a:defRPr sz="2700" b="1">
                <a:solidFill>
                  <a:srgbClr val="15324A"/>
                </a:solidFill>
                <a:latin typeface="Helvetica Neue"/>
                <a:ea typeface="Helvetica Neue"/>
                <a:cs typeface="Helvetica Neue"/>
              </a:defRPr>
            </a:lvl4pPr>
            <a:lvl5pPr>
              <a:defRPr sz="2700" b="1">
                <a:solidFill>
                  <a:srgbClr val="15324A"/>
                </a:solidFill>
                <a:latin typeface="Helvetica Neue"/>
                <a:ea typeface="Helvetica Neue"/>
                <a:cs typeface="Helvetica Neue"/>
              </a:defRPr>
            </a:lvl5pPr>
            <a:lvl6pPr>
              <a:defRPr sz="2700" b="1">
                <a:solidFill>
                  <a:srgbClr val="15324A"/>
                </a:solidFill>
                <a:latin typeface="Helvetica Neue"/>
                <a:ea typeface="Helvetica Neue"/>
                <a:cs typeface="Helvetica Neue"/>
              </a:defRPr>
            </a:lvl6pPr>
            <a:lvl7pPr>
              <a:defRPr sz="2700" b="1">
                <a:solidFill>
                  <a:srgbClr val="15324A"/>
                </a:solidFill>
                <a:latin typeface="Helvetica Neue"/>
                <a:ea typeface="Helvetica Neue"/>
                <a:cs typeface="Helvetica Neue"/>
              </a:defRPr>
            </a:lvl7pPr>
            <a:lvl8pPr>
              <a:defRPr sz="2700" b="1">
                <a:solidFill>
                  <a:srgbClr val="15324A"/>
                </a:solidFill>
                <a:latin typeface="Helvetica Neue"/>
                <a:ea typeface="Helvetica Neue"/>
                <a:cs typeface="Helvetica Neue"/>
              </a:defRPr>
            </a:lvl8pPr>
            <a:lvl9pPr>
              <a:defRPr sz="2700" b="1">
                <a:solidFill>
                  <a:srgbClr val="15324A"/>
                </a:solidFill>
                <a:latin typeface="Helvetica Neue"/>
                <a:ea typeface="Helvetica Neue"/>
                <a:cs typeface="Helvetica Neue"/>
              </a:defRPr>
            </a:lvl9pPr>
          </a:lstStyle>
          <a:p xmlns:a="http://schemas.openxmlformats.org/drawingml/2006/main">
            <a:pPr>
              <a:defRPr sz="2700" b="1">
                <a:solidFill>
                  <a:srgbClr val="15324A"/>
                </a:solidFill>
                <a:latin typeface="Helvetica Neue"/>
                <a:ea typeface="Helvetica Neue"/>
                <a:cs typeface="Helvetica Neue"/>
              </a:defRPr>
            </a:pPr>
            <a:r>
              <a:rPr sz="2700" b="1">
                <a:solidFill>
                  <a:srgbClr val="15324A"/>
                </a:solidFill>
                <a:latin typeface="Helvetica Neue"/>
                <a:ea typeface="Helvetica Neue"/>
                <a:cs typeface="Helvetica Neue"/>
              </a:rPr>
              <a:t>Live Review: Infection Control, Access Devices, Blood, and Nutrition 2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2D43E6F7-3990-45F4-B02D-5089000610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1257300"/>
            <a:ext cx="88582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91111"/>
          </a:bodyPr>
          <a:lstStyle xmlns:a="http://schemas.openxmlformats.org/drawingml/2006/main">
            <a:defPPr>
              <a:defRPr sz="1125" b="1">
                <a:solidFill>
                  <a:srgbClr val="237B82"/>
                </a:solidFill>
                <a:latin typeface="Helvetica Neue"/>
                <a:ea typeface="Helvetica Neue"/>
                <a:cs typeface="Helvetica Neue"/>
              </a:defRPr>
            </a:defPPr>
            <a:lvl1pPr>
              <a:defRPr sz="1125" b="1">
                <a:solidFill>
                  <a:srgbClr val="237B82"/>
                </a:solidFill>
                <a:latin typeface="Helvetica Neue"/>
                <a:ea typeface="Helvetica Neue"/>
                <a:cs typeface="Helvetica Neue"/>
              </a:defRPr>
            </a:lvl1pPr>
            <a:lvl2pPr>
              <a:defRPr sz="1125" b="1">
                <a:solidFill>
                  <a:srgbClr val="237B82"/>
                </a:solidFill>
                <a:latin typeface="Helvetica Neue"/>
                <a:ea typeface="Helvetica Neue"/>
                <a:cs typeface="Helvetica Neue"/>
              </a:defRPr>
            </a:lvl2pPr>
            <a:lvl3pPr>
              <a:defRPr sz="1125" b="1">
                <a:solidFill>
                  <a:srgbClr val="237B82"/>
                </a:solidFill>
                <a:latin typeface="Helvetica Neue"/>
                <a:ea typeface="Helvetica Neue"/>
                <a:cs typeface="Helvetica Neue"/>
              </a:defRPr>
            </a:lvl3pPr>
            <a:lvl4pPr>
              <a:defRPr sz="1125" b="1">
                <a:solidFill>
                  <a:srgbClr val="237B82"/>
                </a:solidFill>
                <a:latin typeface="Helvetica Neue"/>
                <a:ea typeface="Helvetica Neue"/>
                <a:cs typeface="Helvetica Neue"/>
              </a:defRPr>
            </a:lvl4pPr>
            <a:lvl5pPr>
              <a:defRPr sz="1125" b="1">
                <a:solidFill>
                  <a:srgbClr val="237B82"/>
                </a:solidFill>
                <a:latin typeface="Helvetica Neue"/>
                <a:ea typeface="Helvetica Neue"/>
                <a:cs typeface="Helvetica Neue"/>
              </a:defRPr>
            </a:lvl5pPr>
            <a:lvl6pPr>
              <a:defRPr sz="1125" b="1">
                <a:solidFill>
                  <a:srgbClr val="237B82"/>
                </a:solidFill>
                <a:latin typeface="Helvetica Neue"/>
                <a:ea typeface="Helvetica Neue"/>
                <a:cs typeface="Helvetica Neue"/>
              </a:defRPr>
            </a:lvl6pPr>
            <a:lvl7pPr>
              <a:defRPr sz="1125" b="1">
                <a:solidFill>
                  <a:srgbClr val="237B82"/>
                </a:solidFill>
                <a:latin typeface="Helvetica Neue"/>
                <a:ea typeface="Helvetica Neue"/>
                <a:cs typeface="Helvetica Neue"/>
              </a:defRPr>
            </a:lvl7pPr>
            <a:lvl8pPr>
              <a:defRPr sz="1125" b="1">
                <a:solidFill>
                  <a:srgbClr val="237B82"/>
                </a:solidFill>
                <a:latin typeface="Helvetica Neue"/>
                <a:ea typeface="Helvetica Neue"/>
                <a:cs typeface="Helvetica Neue"/>
              </a:defRPr>
            </a:lvl8pPr>
            <a:lvl9pPr>
              <a:defRPr sz="1125" b="1">
                <a:solidFill>
                  <a:srgbClr val="237B82"/>
                </a:solidFill>
                <a:latin typeface="Helvetica Neue"/>
                <a:ea typeface="Helvetica Neue"/>
                <a:cs typeface="Helvetica Neue"/>
              </a:defRPr>
            </a:lvl9pPr>
          </a:lstStyle>
          <a:p xmlns:a="http://schemas.openxmlformats.org/drawingml/2006/main">
            <a:pPr>
              <a:defRPr sz="1125" b="1">
                <a:solidFill>
                  <a:srgbClr val="237B82"/>
                </a:solidFill>
                <a:latin typeface="Helvetica Neue"/>
                <a:ea typeface="Helvetica Neue"/>
                <a:cs typeface="Helvetica Neue"/>
              </a:defRPr>
            </a:pPr>
            <a:r>
              <a:rPr sz="1125" b="1">
                <a:solidFill>
                  <a:srgbClr val="237B82"/>
                </a:solidFill>
                <a:latin typeface="Helvetica Neue"/>
                <a:ea typeface="Helvetica Neue"/>
                <a:cs typeface="Helvetica Neue"/>
              </a:rPr>
              <a:t>MODULE 4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3B95DF51-9158-40C4-9B5A-43D2086FEC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457200"/>
            <a:ext cx="5334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>
            <a:defPPr>
              <a:defRPr sz="1200" b="1">
                <a:solidFill>
                  <a:srgbClr val="237B82"/>
                </a:solidFill>
                <a:latin typeface="Helvetica Neue"/>
                <a:ea typeface="Helvetica Neue"/>
                <a:cs typeface="Helvetica Neue"/>
              </a:defRPr>
            </a:defPPr>
            <a:lvl1pPr>
              <a:defRPr sz="1200" b="1">
                <a:solidFill>
                  <a:srgbClr val="237B82"/>
                </a:solidFill>
                <a:latin typeface="Helvetica Neue"/>
                <a:ea typeface="Helvetica Neue"/>
                <a:cs typeface="Helvetica Neue"/>
              </a:defRPr>
            </a:lvl1pPr>
            <a:lvl2pPr>
              <a:defRPr sz="1200" b="1">
                <a:solidFill>
                  <a:srgbClr val="237B82"/>
                </a:solidFill>
                <a:latin typeface="Helvetica Neue"/>
                <a:ea typeface="Helvetica Neue"/>
                <a:cs typeface="Helvetica Neue"/>
              </a:defRPr>
            </a:lvl2pPr>
            <a:lvl3pPr>
              <a:defRPr sz="1200" b="1">
                <a:solidFill>
                  <a:srgbClr val="237B82"/>
                </a:solidFill>
                <a:latin typeface="Helvetica Neue"/>
                <a:ea typeface="Helvetica Neue"/>
                <a:cs typeface="Helvetica Neue"/>
              </a:defRPr>
            </a:lvl3pPr>
            <a:lvl4pPr>
              <a:defRPr sz="1200" b="1">
                <a:solidFill>
                  <a:srgbClr val="237B82"/>
                </a:solidFill>
                <a:latin typeface="Helvetica Neue"/>
                <a:ea typeface="Helvetica Neue"/>
                <a:cs typeface="Helvetica Neue"/>
              </a:defRPr>
            </a:lvl4pPr>
            <a:lvl5pPr>
              <a:defRPr sz="1200" b="1">
                <a:solidFill>
                  <a:srgbClr val="237B82"/>
                </a:solidFill>
                <a:latin typeface="Helvetica Neue"/>
                <a:ea typeface="Helvetica Neue"/>
                <a:cs typeface="Helvetica Neue"/>
              </a:defRPr>
            </a:lvl5pPr>
            <a:lvl6pPr>
              <a:defRPr sz="1200" b="1">
                <a:solidFill>
                  <a:srgbClr val="237B82"/>
                </a:solidFill>
                <a:latin typeface="Helvetica Neue"/>
                <a:ea typeface="Helvetica Neue"/>
                <a:cs typeface="Helvetica Neue"/>
              </a:defRPr>
            </a:lvl6pPr>
            <a:lvl7pPr>
              <a:defRPr sz="1200" b="1">
                <a:solidFill>
                  <a:srgbClr val="237B82"/>
                </a:solidFill>
                <a:latin typeface="Helvetica Neue"/>
                <a:ea typeface="Helvetica Neue"/>
                <a:cs typeface="Helvetica Neue"/>
              </a:defRPr>
            </a:lvl7pPr>
            <a:lvl8pPr>
              <a:defRPr sz="1200" b="1">
                <a:solidFill>
                  <a:srgbClr val="237B82"/>
                </a:solidFill>
                <a:latin typeface="Helvetica Neue"/>
                <a:ea typeface="Helvetica Neue"/>
                <a:cs typeface="Helvetica Neue"/>
              </a:defRPr>
            </a:lvl8pPr>
            <a:lvl9pPr>
              <a:defRPr sz="1200" b="1">
                <a:solidFill>
                  <a:srgbClr val="237B82"/>
                </a:solidFill>
                <a:latin typeface="Helvetica Neue"/>
                <a:ea typeface="Helvetica Neue"/>
                <a:cs typeface="Helvetica Neue"/>
              </a:defRPr>
            </a:lvl9pPr>
          </a:lstStyle>
          <a:p xmlns:a="http://schemas.openxmlformats.org/drawingml/2006/main">
            <a:pPr>
              <a:defRPr sz="1200" b="1">
                <a:solidFill>
                  <a:srgbClr val="237B82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00" b="1">
                <a:solidFill>
                  <a:srgbClr val="237B82"/>
                </a:solidFill>
                <a:latin typeface="Helvetica Neue"/>
                <a:ea typeface="Helvetica Neue"/>
                <a:cs typeface="Helvetica Neue"/>
              </a:rPr>
              <a:t>11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9CE57BFE-6D9E-4E00-8E5D-55C5C1F59C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1762125"/>
            <a:ext cx="10287000" cy="409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>
            <a:defPPr>
              <a:defRPr sz="2100">
                <a:solidFill>
                  <a:srgbClr val="13212D"/>
                </a:solidFill>
                <a:latin typeface="Helvetica Neue"/>
                <a:ea typeface="Helvetica Neue"/>
                <a:cs typeface="Helvetica Neue"/>
              </a:defRPr>
            </a:defPPr>
            <a:lvl1pPr>
              <a:defRPr sz="2100">
                <a:solidFill>
                  <a:srgbClr val="13212D"/>
                </a:solidFill>
                <a:latin typeface="Helvetica Neue"/>
                <a:ea typeface="Helvetica Neue"/>
                <a:cs typeface="Helvetica Neue"/>
              </a:defRPr>
            </a:lvl1pPr>
            <a:lvl2pPr>
              <a:defRPr sz="2100">
                <a:solidFill>
                  <a:srgbClr val="13212D"/>
                </a:solidFill>
                <a:latin typeface="Helvetica Neue"/>
                <a:ea typeface="Helvetica Neue"/>
                <a:cs typeface="Helvetica Neue"/>
              </a:defRPr>
            </a:lvl2pPr>
            <a:lvl3pPr>
              <a:defRPr sz="2100">
                <a:solidFill>
                  <a:srgbClr val="13212D"/>
                </a:solidFill>
                <a:latin typeface="Helvetica Neue"/>
                <a:ea typeface="Helvetica Neue"/>
                <a:cs typeface="Helvetica Neue"/>
              </a:defRPr>
            </a:lvl3pPr>
            <a:lvl4pPr>
              <a:defRPr sz="2100">
                <a:solidFill>
                  <a:srgbClr val="13212D"/>
                </a:solidFill>
                <a:latin typeface="Helvetica Neue"/>
                <a:ea typeface="Helvetica Neue"/>
                <a:cs typeface="Helvetica Neue"/>
              </a:defRPr>
            </a:lvl4pPr>
            <a:lvl5pPr>
              <a:defRPr sz="2100">
                <a:solidFill>
                  <a:srgbClr val="13212D"/>
                </a:solidFill>
                <a:latin typeface="Helvetica Neue"/>
                <a:ea typeface="Helvetica Neue"/>
                <a:cs typeface="Helvetica Neue"/>
              </a:defRPr>
            </a:lvl5pPr>
            <a:lvl6pPr>
              <a:defRPr sz="2100">
                <a:solidFill>
                  <a:srgbClr val="13212D"/>
                </a:solidFill>
                <a:latin typeface="Helvetica Neue"/>
                <a:ea typeface="Helvetica Neue"/>
                <a:cs typeface="Helvetica Neue"/>
              </a:defRPr>
            </a:lvl6pPr>
            <a:lvl7pPr>
              <a:defRPr sz="2100">
                <a:solidFill>
                  <a:srgbClr val="13212D"/>
                </a:solidFill>
                <a:latin typeface="Helvetica Neue"/>
                <a:ea typeface="Helvetica Neue"/>
                <a:cs typeface="Helvetica Neue"/>
              </a:defRPr>
            </a:lvl7pPr>
            <a:lvl8pPr>
              <a:defRPr sz="2100">
                <a:solidFill>
                  <a:srgbClr val="13212D"/>
                </a:solidFill>
                <a:latin typeface="Helvetica Neue"/>
                <a:ea typeface="Helvetica Neue"/>
                <a:cs typeface="Helvetica Neue"/>
              </a:defRPr>
            </a:lvl8pPr>
            <a:lvl9pPr>
              <a:defRPr sz="2100">
                <a:solidFill>
                  <a:srgbClr val="13212D"/>
                </a:solidFill>
                <a:latin typeface="Helvetica Neue"/>
                <a:ea typeface="Helvetica Neue"/>
                <a:cs typeface="Helvetica Neue"/>
              </a:defRPr>
            </a:lvl9pPr>
          </a:lstStyle>
          <a:p xmlns:a="http://schemas.openxmlformats.org/drawingml/2006/main">
            <a:pPr marL="279400" indent="-127000">
              <a:spcAft>
                <a:spcPts val="1300"/>
              </a:spcAft>
              <a:buChar char="•"/>
              <a:defRPr sz="2100">
                <a:solidFill>
                  <a:srgbClr val="13212D"/>
                </a:solidFill>
                <a:latin typeface="Helvetica Neue"/>
                <a:ea typeface="Helvetica Neue"/>
                <a:cs typeface="Helvetica Neue"/>
              </a:defRPr>
            </a:pPr>
            <a:r>
              <a:rPr sz="2100">
                <a:solidFill>
                  <a:srgbClr val="13212D"/>
                </a:solidFill>
                <a:latin typeface="Helvetica Neue"/>
                <a:ea typeface="Helvetica Neue"/>
                <a:cs typeface="Helvetica Neue"/>
              </a:rPr>
              <a:t>Students complete verbal teach-back for suspected infection, transfusion reaction, and central-line complication scenarios.</a:t>
            </a:r>
          </a:p>
          <a:p xmlns:a="http://schemas.openxmlformats.org/drawingml/2006/main">
            <a:pPr marL="279400" indent="-127000">
              <a:spcAft>
                <a:spcPts val="1300"/>
              </a:spcAft>
              <a:buChar char="•"/>
              <a:defRPr sz="2100">
                <a:solidFill>
                  <a:srgbClr val="13212D"/>
                </a:solidFill>
                <a:latin typeface="Helvetica Neue"/>
                <a:ea typeface="Helvetica Neue"/>
                <a:cs typeface="Helvetica Neue"/>
              </a:defRPr>
            </a:pPr>
            <a:r>
              <a:rPr sz="2100">
                <a:solidFill>
                  <a:srgbClr val="13212D"/>
                </a:solidFill>
                <a:latin typeface="Helvetica Neue"/>
                <a:ea typeface="Helvetica Neue"/>
                <a:cs typeface="Helvetica Neue"/>
              </a:rPr>
              <a:t>The instructor documents attendance and provides remediation before lab participation when a learner cannot state the immediate safety action.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AC77AD04-5C92-4A16-B259-6CA527E642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6115050"/>
            <a:ext cx="101917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>
            <a:defPPr>
              <a:defRPr sz="1125" b="1">
                <a:solidFill>
                  <a:srgbClr val="B94F3D"/>
                </a:solidFill>
                <a:latin typeface="Helvetica Neue"/>
                <a:ea typeface="Helvetica Neue"/>
                <a:cs typeface="Helvetica Neue"/>
              </a:defRPr>
            </a:defPPr>
            <a:lvl1pPr>
              <a:defRPr sz="1125" b="1">
                <a:solidFill>
                  <a:srgbClr val="B94F3D"/>
                </a:solidFill>
                <a:latin typeface="Helvetica Neue"/>
                <a:ea typeface="Helvetica Neue"/>
                <a:cs typeface="Helvetica Neue"/>
              </a:defRPr>
            </a:lvl1pPr>
            <a:lvl2pPr>
              <a:defRPr sz="1125" b="1">
                <a:solidFill>
                  <a:srgbClr val="B94F3D"/>
                </a:solidFill>
                <a:latin typeface="Helvetica Neue"/>
                <a:ea typeface="Helvetica Neue"/>
                <a:cs typeface="Helvetica Neue"/>
              </a:defRPr>
            </a:lvl2pPr>
            <a:lvl3pPr>
              <a:defRPr sz="1125" b="1">
                <a:solidFill>
                  <a:srgbClr val="B94F3D"/>
                </a:solidFill>
                <a:latin typeface="Helvetica Neue"/>
                <a:ea typeface="Helvetica Neue"/>
                <a:cs typeface="Helvetica Neue"/>
              </a:defRPr>
            </a:lvl3pPr>
            <a:lvl4pPr>
              <a:defRPr sz="1125" b="1">
                <a:solidFill>
                  <a:srgbClr val="B94F3D"/>
                </a:solidFill>
                <a:latin typeface="Helvetica Neue"/>
                <a:ea typeface="Helvetica Neue"/>
                <a:cs typeface="Helvetica Neue"/>
              </a:defRPr>
            </a:lvl4pPr>
            <a:lvl5pPr>
              <a:defRPr sz="1125" b="1">
                <a:solidFill>
                  <a:srgbClr val="B94F3D"/>
                </a:solidFill>
                <a:latin typeface="Helvetica Neue"/>
                <a:ea typeface="Helvetica Neue"/>
                <a:cs typeface="Helvetica Neue"/>
              </a:defRPr>
            </a:lvl5pPr>
            <a:lvl6pPr>
              <a:defRPr sz="1125" b="1">
                <a:solidFill>
                  <a:srgbClr val="B94F3D"/>
                </a:solidFill>
                <a:latin typeface="Helvetica Neue"/>
                <a:ea typeface="Helvetica Neue"/>
                <a:cs typeface="Helvetica Neue"/>
              </a:defRPr>
            </a:lvl6pPr>
            <a:lvl7pPr>
              <a:defRPr sz="1125" b="1">
                <a:solidFill>
                  <a:srgbClr val="B94F3D"/>
                </a:solidFill>
                <a:latin typeface="Helvetica Neue"/>
                <a:ea typeface="Helvetica Neue"/>
                <a:cs typeface="Helvetica Neue"/>
              </a:defRPr>
            </a:lvl7pPr>
            <a:lvl8pPr>
              <a:defRPr sz="1125" b="1">
                <a:solidFill>
                  <a:srgbClr val="B94F3D"/>
                </a:solidFill>
                <a:latin typeface="Helvetica Neue"/>
                <a:ea typeface="Helvetica Neue"/>
                <a:cs typeface="Helvetica Neue"/>
              </a:defRPr>
            </a:lvl8pPr>
            <a:lvl9pPr>
              <a:defRPr sz="1125" b="1">
                <a:solidFill>
                  <a:srgbClr val="B94F3D"/>
                </a:solidFill>
                <a:latin typeface="Helvetica Neue"/>
                <a:ea typeface="Helvetica Neue"/>
                <a:cs typeface="Helvetica Neue"/>
              </a:defRPr>
            </a:lvl9pPr>
          </a:lstStyle>
          <a:p xmlns:a="http://schemas.openxmlformats.org/drawingml/2006/main">
            <a:pPr>
              <a:defRPr sz="1125" b="1">
                <a:solidFill>
                  <a:srgbClr val="B94F3D"/>
                </a:solidFill>
                <a:latin typeface="Helvetica Neue"/>
                <a:ea typeface="Helvetica Neue"/>
                <a:cs typeface="Helvetica Neue"/>
              </a:defRPr>
            </a:pPr>
            <a:r>
              <a:rPr sz="1125" b="1">
                <a:solidFill>
                  <a:srgbClr val="B94F3D"/>
                </a:solidFill>
                <a:latin typeface="Helvetica Neue"/>
                <a:ea typeface="Helvetica Neue"/>
                <a:cs typeface="Helvetica Neue"/>
              </a:rPr>
              <a:t>Use current orders, facility policy, and authorized scope when applying this information.</a:t>
            </a:r>
          </a:p>
        </p:txBody>
      </p:sp>
    </p:spTree>
    <p:extLst>
      <p:ext uri="{BB962C8B-B14F-4D97-AF65-F5344CB8AC3E}">
        <p14:creationId xmlns:p14="http://schemas.microsoft.com/office/powerpoint/2010/main" val="33106368"/>
      </p:ext>
    </p:extLst>
  </p:cSld>
</p:sld>
</file>

<file path=ppt/slides/slide12.xml><?xml version="1.0" encoding="utf-8"?>
<p:sld xmlns:p="http://schemas.openxmlformats.org/presentationml/2006/main">
  <p:cSld>
    <p:bg>
      <p:bgPr>
        <a:solidFill xmlns:a="http://schemas.openxmlformats.org/drawingml/2006/main">
          <a:srgbClr val="F7F4EE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974BB8D1-5BE7-47AA-B9C2-7F193E0A1C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2095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37B82"/>
          </a:solidFill>
          <a:ln xmlns:a="http://schemas.openxmlformats.org/drawingml/2006/main" w="0">
            <a:solidFill>
              <a:srgbClr val="237B82"/>
            </a:solidFill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A512185B-F76B-4712-8432-C9B5569F9E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00050"/>
            <a:ext cx="10001250" cy="819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>
            <a:defPPr>
              <a:defRPr sz="2700" b="1">
                <a:solidFill>
                  <a:srgbClr val="15324A"/>
                </a:solidFill>
                <a:latin typeface="Helvetica Neue"/>
                <a:ea typeface="Helvetica Neue"/>
                <a:cs typeface="Helvetica Neue"/>
              </a:defRPr>
            </a:defPPr>
            <a:lvl1pPr>
              <a:defRPr sz="2700" b="1">
                <a:solidFill>
                  <a:srgbClr val="15324A"/>
                </a:solidFill>
                <a:latin typeface="Helvetica Neue"/>
                <a:ea typeface="Helvetica Neue"/>
                <a:cs typeface="Helvetica Neue"/>
              </a:defRPr>
            </a:lvl1pPr>
            <a:lvl2pPr>
              <a:defRPr sz="2700" b="1">
                <a:solidFill>
                  <a:srgbClr val="15324A"/>
                </a:solidFill>
                <a:latin typeface="Helvetica Neue"/>
                <a:ea typeface="Helvetica Neue"/>
                <a:cs typeface="Helvetica Neue"/>
              </a:defRPr>
            </a:lvl2pPr>
            <a:lvl3pPr>
              <a:defRPr sz="2700" b="1">
                <a:solidFill>
                  <a:srgbClr val="15324A"/>
                </a:solidFill>
                <a:latin typeface="Helvetica Neue"/>
                <a:ea typeface="Helvetica Neue"/>
                <a:cs typeface="Helvetica Neue"/>
              </a:defRPr>
            </a:lvl3pPr>
            <a:lvl4pPr>
              <a:defRPr sz="2700" b="1">
                <a:solidFill>
                  <a:srgbClr val="15324A"/>
                </a:solidFill>
                <a:latin typeface="Helvetica Neue"/>
                <a:ea typeface="Helvetica Neue"/>
                <a:cs typeface="Helvetica Neue"/>
              </a:defRPr>
            </a:lvl4pPr>
            <a:lvl5pPr>
              <a:defRPr sz="2700" b="1">
                <a:solidFill>
                  <a:srgbClr val="15324A"/>
                </a:solidFill>
                <a:latin typeface="Helvetica Neue"/>
                <a:ea typeface="Helvetica Neue"/>
                <a:cs typeface="Helvetica Neue"/>
              </a:defRPr>
            </a:lvl5pPr>
            <a:lvl6pPr>
              <a:defRPr sz="2700" b="1">
                <a:solidFill>
                  <a:srgbClr val="15324A"/>
                </a:solidFill>
                <a:latin typeface="Helvetica Neue"/>
                <a:ea typeface="Helvetica Neue"/>
                <a:cs typeface="Helvetica Neue"/>
              </a:defRPr>
            </a:lvl6pPr>
            <a:lvl7pPr>
              <a:defRPr sz="2700" b="1">
                <a:solidFill>
                  <a:srgbClr val="15324A"/>
                </a:solidFill>
                <a:latin typeface="Helvetica Neue"/>
                <a:ea typeface="Helvetica Neue"/>
                <a:cs typeface="Helvetica Neue"/>
              </a:defRPr>
            </a:lvl7pPr>
            <a:lvl8pPr>
              <a:defRPr sz="2700" b="1">
                <a:solidFill>
                  <a:srgbClr val="15324A"/>
                </a:solidFill>
                <a:latin typeface="Helvetica Neue"/>
                <a:ea typeface="Helvetica Neue"/>
                <a:cs typeface="Helvetica Neue"/>
              </a:defRPr>
            </a:lvl8pPr>
            <a:lvl9pPr>
              <a:defRPr sz="2700" b="1">
                <a:solidFill>
                  <a:srgbClr val="15324A"/>
                </a:solidFill>
                <a:latin typeface="Helvetica Neue"/>
                <a:ea typeface="Helvetica Neue"/>
                <a:cs typeface="Helvetica Neue"/>
              </a:defRPr>
            </a:lvl9pPr>
          </a:lstStyle>
          <a:p xmlns:a="http://schemas.openxmlformats.org/drawingml/2006/main">
            <a:pPr>
              <a:defRPr sz="2700" b="1">
                <a:solidFill>
                  <a:srgbClr val="15324A"/>
                </a:solidFill>
                <a:latin typeface="Helvetica Neue"/>
                <a:ea typeface="Helvetica Neue"/>
                <a:cs typeface="Helvetica Neue"/>
              </a:defRPr>
            </a:pPr>
            <a:r>
              <a:rPr sz="2700" b="1">
                <a:solidFill>
                  <a:srgbClr val="15324A"/>
                </a:solidFill>
                <a:latin typeface="Helvetica Neue"/>
                <a:ea typeface="Helvetica Neue"/>
                <a:cs typeface="Helvetica Neue"/>
              </a:rPr>
              <a:t>Transfusion Therapy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816D6228-DD8A-4D51-95B2-4A76CF8001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1257300"/>
            <a:ext cx="88582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91111"/>
          </a:bodyPr>
          <a:lstStyle xmlns:a="http://schemas.openxmlformats.org/drawingml/2006/main">
            <a:defPPr>
              <a:defRPr sz="1125" b="1">
                <a:solidFill>
                  <a:srgbClr val="237B82"/>
                </a:solidFill>
                <a:latin typeface="Helvetica Neue"/>
                <a:ea typeface="Helvetica Neue"/>
                <a:cs typeface="Helvetica Neue"/>
              </a:defRPr>
            </a:defPPr>
            <a:lvl1pPr>
              <a:defRPr sz="1125" b="1">
                <a:solidFill>
                  <a:srgbClr val="237B82"/>
                </a:solidFill>
                <a:latin typeface="Helvetica Neue"/>
                <a:ea typeface="Helvetica Neue"/>
                <a:cs typeface="Helvetica Neue"/>
              </a:defRPr>
            </a:lvl1pPr>
            <a:lvl2pPr>
              <a:defRPr sz="1125" b="1">
                <a:solidFill>
                  <a:srgbClr val="237B82"/>
                </a:solidFill>
                <a:latin typeface="Helvetica Neue"/>
                <a:ea typeface="Helvetica Neue"/>
                <a:cs typeface="Helvetica Neue"/>
              </a:defRPr>
            </a:lvl2pPr>
            <a:lvl3pPr>
              <a:defRPr sz="1125" b="1">
                <a:solidFill>
                  <a:srgbClr val="237B82"/>
                </a:solidFill>
                <a:latin typeface="Helvetica Neue"/>
                <a:ea typeface="Helvetica Neue"/>
                <a:cs typeface="Helvetica Neue"/>
              </a:defRPr>
            </a:lvl3pPr>
            <a:lvl4pPr>
              <a:defRPr sz="1125" b="1">
                <a:solidFill>
                  <a:srgbClr val="237B82"/>
                </a:solidFill>
                <a:latin typeface="Helvetica Neue"/>
                <a:ea typeface="Helvetica Neue"/>
                <a:cs typeface="Helvetica Neue"/>
              </a:defRPr>
            </a:lvl4pPr>
            <a:lvl5pPr>
              <a:defRPr sz="1125" b="1">
                <a:solidFill>
                  <a:srgbClr val="237B82"/>
                </a:solidFill>
                <a:latin typeface="Helvetica Neue"/>
                <a:ea typeface="Helvetica Neue"/>
                <a:cs typeface="Helvetica Neue"/>
              </a:defRPr>
            </a:lvl5pPr>
            <a:lvl6pPr>
              <a:defRPr sz="1125" b="1">
                <a:solidFill>
                  <a:srgbClr val="237B82"/>
                </a:solidFill>
                <a:latin typeface="Helvetica Neue"/>
                <a:ea typeface="Helvetica Neue"/>
                <a:cs typeface="Helvetica Neue"/>
              </a:defRPr>
            </a:lvl6pPr>
            <a:lvl7pPr>
              <a:defRPr sz="1125" b="1">
                <a:solidFill>
                  <a:srgbClr val="237B82"/>
                </a:solidFill>
                <a:latin typeface="Helvetica Neue"/>
                <a:ea typeface="Helvetica Neue"/>
                <a:cs typeface="Helvetica Neue"/>
              </a:defRPr>
            </a:lvl7pPr>
            <a:lvl8pPr>
              <a:defRPr sz="1125" b="1">
                <a:solidFill>
                  <a:srgbClr val="237B82"/>
                </a:solidFill>
                <a:latin typeface="Helvetica Neue"/>
                <a:ea typeface="Helvetica Neue"/>
                <a:cs typeface="Helvetica Neue"/>
              </a:defRPr>
            </a:lvl8pPr>
            <a:lvl9pPr>
              <a:defRPr sz="1125" b="1">
                <a:solidFill>
                  <a:srgbClr val="237B82"/>
                </a:solidFill>
                <a:latin typeface="Helvetica Neue"/>
                <a:ea typeface="Helvetica Neue"/>
                <a:cs typeface="Helvetica Neue"/>
              </a:defRPr>
            </a:lvl9pPr>
          </a:lstStyle>
          <a:p xmlns:a="http://schemas.openxmlformats.org/drawingml/2006/main">
            <a:pPr>
              <a:defRPr sz="1125" b="1">
                <a:solidFill>
                  <a:srgbClr val="237B82"/>
                </a:solidFill>
                <a:latin typeface="Helvetica Neue"/>
                <a:ea typeface="Helvetica Neue"/>
                <a:cs typeface="Helvetica Neue"/>
              </a:defRPr>
            </a:pPr>
            <a:r>
              <a:rPr sz="1125" b="1">
                <a:solidFill>
                  <a:srgbClr val="237B82"/>
                </a:solidFill>
                <a:latin typeface="Helvetica Neue"/>
                <a:ea typeface="Helvetica Neue"/>
                <a:cs typeface="Helvetica Neue"/>
              </a:rPr>
              <a:t>MODULE 4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A71760F8-D872-449D-A36A-7BFC7D9D65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457200"/>
            <a:ext cx="5334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>
            <a:defPPr>
              <a:defRPr sz="1200" b="1">
                <a:solidFill>
                  <a:srgbClr val="237B82"/>
                </a:solidFill>
                <a:latin typeface="Helvetica Neue"/>
                <a:ea typeface="Helvetica Neue"/>
                <a:cs typeface="Helvetica Neue"/>
              </a:defRPr>
            </a:defPPr>
            <a:lvl1pPr>
              <a:defRPr sz="1200" b="1">
                <a:solidFill>
                  <a:srgbClr val="237B82"/>
                </a:solidFill>
                <a:latin typeface="Helvetica Neue"/>
                <a:ea typeface="Helvetica Neue"/>
                <a:cs typeface="Helvetica Neue"/>
              </a:defRPr>
            </a:lvl1pPr>
            <a:lvl2pPr>
              <a:defRPr sz="1200" b="1">
                <a:solidFill>
                  <a:srgbClr val="237B82"/>
                </a:solidFill>
                <a:latin typeface="Helvetica Neue"/>
                <a:ea typeface="Helvetica Neue"/>
                <a:cs typeface="Helvetica Neue"/>
              </a:defRPr>
            </a:lvl2pPr>
            <a:lvl3pPr>
              <a:defRPr sz="1200" b="1">
                <a:solidFill>
                  <a:srgbClr val="237B82"/>
                </a:solidFill>
                <a:latin typeface="Helvetica Neue"/>
                <a:ea typeface="Helvetica Neue"/>
                <a:cs typeface="Helvetica Neue"/>
              </a:defRPr>
            </a:lvl3pPr>
            <a:lvl4pPr>
              <a:defRPr sz="1200" b="1">
                <a:solidFill>
                  <a:srgbClr val="237B82"/>
                </a:solidFill>
                <a:latin typeface="Helvetica Neue"/>
                <a:ea typeface="Helvetica Neue"/>
                <a:cs typeface="Helvetica Neue"/>
              </a:defRPr>
            </a:lvl4pPr>
            <a:lvl5pPr>
              <a:defRPr sz="1200" b="1">
                <a:solidFill>
                  <a:srgbClr val="237B82"/>
                </a:solidFill>
                <a:latin typeface="Helvetica Neue"/>
                <a:ea typeface="Helvetica Neue"/>
                <a:cs typeface="Helvetica Neue"/>
              </a:defRPr>
            </a:lvl5pPr>
            <a:lvl6pPr>
              <a:defRPr sz="1200" b="1">
                <a:solidFill>
                  <a:srgbClr val="237B82"/>
                </a:solidFill>
                <a:latin typeface="Helvetica Neue"/>
                <a:ea typeface="Helvetica Neue"/>
                <a:cs typeface="Helvetica Neue"/>
              </a:defRPr>
            </a:lvl6pPr>
            <a:lvl7pPr>
              <a:defRPr sz="1200" b="1">
                <a:solidFill>
                  <a:srgbClr val="237B82"/>
                </a:solidFill>
                <a:latin typeface="Helvetica Neue"/>
                <a:ea typeface="Helvetica Neue"/>
                <a:cs typeface="Helvetica Neue"/>
              </a:defRPr>
            </a:lvl7pPr>
            <a:lvl8pPr>
              <a:defRPr sz="1200" b="1">
                <a:solidFill>
                  <a:srgbClr val="237B82"/>
                </a:solidFill>
                <a:latin typeface="Helvetica Neue"/>
                <a:ea typeface="Helvetica Neue"/>
                <a:cs typeface="Helvetica Neue"/>
              </a:defRPr>
            </a:lvl8pPr>
            <a:lvl9pPr>
              <a:defRPr sz="1200" b="1">
                <a:solidFill>
                  <a:srgbClr val="237B82"/>
                </a:solidFill>
                <a:latin typeface="Helvetica Neue"/>
                <a:ea typeface="Helvetica Neue"/>
                <a:cs typeface="Helvetica Neue"/>
              </a:defRPr>
            </a:lvl9pPr>
          </a:lstStyle>
          <a:p xmlns:a="http://schemas.openxmlformats.org/drawingml/2006/main">
            <a:pPr>
              <a:defRPr sz="1200" b="1">
                <a:solidFill>
                  <a:srgbClr val="237B82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00" b="1">
                <a:solidFill>
                  <a:srgbClr val="237B82"/>
                </a:solidFill>
                <a:latin typeface="Helvetica Neue"/>
                <a:ea typeface="Helvetica Neue"/>
                <a:cs typeface="Helvetica Neue"/>
              </a:rPr>
              <a:t>12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1FC07060-E431-4FB2-BBB0-554DE50B91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1762125"/>
            <a:ext cx="10287000" cy="409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>
            <a:defPPr>
              <a:defRPr sz="1875">
                <a:solidFill>
                  <a:srgbClr val="13212D"/>
                </a:solidFill>
                <a:latin typeface="Helvetica Neue"/>
                <a:ea typeface="Helvetica Neue"/>
                <a:cs typeface="Helvetica Neue"/>
              </a:defRPr>
            </a:defPPr>
            <a:lvl1pPr>
              <a:defRPr sz="1875">
                <a:solidFill>
                  <a:srgbClr val="13212D"/>
                </a:solidFill>
                <a:latin typeface="Helvetica Neue"/>
                <a:ea typeface="Helvetica Neue"/>
                <a:cs typeface="Helvetica Neue"/>
              </a:defRPr>
            </a:lvl1pPr>
            <a:lvl2pPr>
              <a:defRPr sz="1875">
                <a:solidFill>
                  <a:srgbClr val="13212D"/>
                </a:solidFill>
                <a:latin typeface="Helvetica Neue"/>
                <a:ea typeface="Helvetica Neue"/>
                <a:cs typeface="Helvetica Neue"/>
              </a:defRPr>
            </a:lvl2pPr>
            <a:lvl3pPr>
              <a:defRPr sz="1875">
                <a:solidFill>
                  <a:srgbClr val="13212D"/>
                </a:solidFill>
                <a:latin typeface="Helvetica Neue"/>
                <a:ea typeface="Helvetica Neue"/>
                <a:cs typeface="Helvetica Neue"/>
              </a:defRPr>
            </a:lvl3pPr>
            <a:lvl4pPr>
              <a:defRPr sz="1875">
                <a:solidFill>
                  <a:srgbClr val="13212D"/>
                </a:solidFill>
                <a:latin typeface="Helvetica Neue"/>
                <a:ea typeface="Helvetica Neue"/>
                <a:cs typeface="Helvetica Neue"/>
              </a:defRPr>
            </a:lvl4pPr>
            <a:lvl5pPr>
              <a:defRPr sz="1875">
                <a:solidFill>
                  <a:srgbClr val="13212D"/>
                </a:solidFill>
                <a:latin typeface="Helvetica Neue"/>
                <a:ea typeface="Helvetica Neue"/>
                <a:cs typeface="Helvetica Neue"/>
              </a:defRPr>
            </a:lvl5pPr>
            <a:lvl6pPr>
              <a:defRPr sz="1875">
                <a:solidFill>
                  <a:srgbClr val="13212D"/>
                </a:solidFill>
                <a:latin typeface="Helvetica Neue"/>
                <a:ea typeface="Helvetica Neue"/>
                <a:cs typeface="Helvetica Neue"/>
              </a:defRPr>
            </a:lvl6pPr>
            <a:lvl7pPr>
              <a:defRPr sz="1875">
                <a:solidFill>
                  <a:srgbClr val="13212D"/>
                </a:solidFill>
                <a:latin typeface="Helvetica Neue"/>
                <a:ea typeface="Helvetica Neue"/>
                <a:cs typeface="Helvetica Neue"/>
              </a:defRPr>
            </a:lvl7pPr>
            <a:lvl8pPr>
              <a:defRPr sz="1875">
                <a:solidFill>
                  <a:srgbClr val="13212D"/>
                </a:solidFill>
                <a:latin typeface="Helvetica Neue"/>
                <a:ea typeface="Helvetica Neue"/>
                <a:cs typeface="Helvetica Neue"/>
              </a:defRPr>
            </a:lvl8pPr>
            <a:lvl9pPr>
              <a:defRPr sz="1875">
                <a:solidFill>
                  <a:srgbClr val="13212D"/>
                </a:solidFill>
                <a:latin typeface="Helvetica Neue"/>
                <a:ea typeface="Helvetica Neue"/>
                <a:cs typeface="Helvetica Neue"/>
              </a:defRPr>
            </a:lvl9pPr>
          </a:lstStyle>
          <a:p xmlns:a="http://schemas.openxmlformats.org/drawingml/2006/main">
            <a:pPr marL="279400" indent="-127000">
              <a:spcAft>
                <a:spcPts val="1300"/>
              </a:spcAft>
              <a:buChar char="•"/>
              <a:defRPr sz="1875">
                <a:solidFill>
                  <a:srgbClr val="13212D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75">
                <a:solidFill>
                  <a:srgbClr val="13212D"/>
                </a:solidFill>
                <a:latin typeface="Helvetica Neue"/>
                <a:ea typeface="Helvetica Neue"/>
                <a:cs typeface="Helvetica Neue"/>
              </a:rPr>
              <a:t>Module Four Module Objectives At the conclusion of this self-learning module, the learner will be able to: 1.</a:t>
            </a:r>
          </a:p>
          <a:p xmlns:a="http://schemas.openxmlformats.org/drawingml/2006/main">
            <a:pPr marL="279400" indent="-127000">
              <a:spcAft>
                <a:spcPts val="1300"/>
              </a:spcAft>
              <a:buChar char="•"/>
              <a:defRPr sz="1875">
                <a:solidFill>
                  <a:srgbClr val="13212D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75">
                <a:solidFill>
                  <a:srgbClr val="13212D"/>
                </a:solidFill>
                <a:latin typeface="Helvetica Neue"/>
                <a:ea typeface="Helvetica Neue"/>
                <a:cs typeface="Helvetica Neue"/>
              </a:rPr>
              <a:t>List indications for the transfusion of blood or blood products.</a:t>
            </a:r>
          </a:p>
          <a:p xmlns:a="http://schemas.openxmlformats.org/drawingml/2006/main">
            <a:pPr marL="279400" indent="-127000">
              <a:spcAft>
                <a:spcPts val="1300"/>
              </a:spcAft>
              <a:buChar char="•"/>
              <a:defRPr sz="1875">
                <a:solidFill>
                  <a:srgbClr val="13212D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75">
                <a:solidFill>
                  <a:srgbClr val="13212D"/>
                </a:solidFill>
                <a:latin typeface="Helvetica Neue"/>
                <a:ea typeface="Helvetica Neue"/>
                <a:cs typeface="Helvetica Neue"/>
              </a:rPr>
              <a:t>State the procedure for the proper identification of the patient requiring transfusion of blood or blood products.</a:t>
            </a:r>
          </a:p>
          <a:p xmlns:a="http://schemas.openxmlformats.org/drawingml/2006/main">
            <a:pPr marL="279400" indent="-127000">
              <a:spcAft>
                <a:spcPts val="1300"/>
              </a:spcAft>
              <a:buChar char="•"/>
              <a:defRPr sz="1875">
                <a:solidFill>
                  <a:srgbClr val="13212D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75">
                <a:solidFill>
                  <a:srgbClr val="13212D"/>
                </a:solidFill>
                <a:latin typeface="Helvetica Neue"/>
                <a:ea typeface="Helvetica Neue"/>
                <a:cs typeface="Helvetica Neue"/>
              </a:rPr>
              <a:t>List the different blood components indications for use, and equipment required for administration.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674910ED-C1BA-4105-AF2E-A7401A952A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6115050"/>
            <a:ext cx="101917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>
            <a:defPPr>
              <a:defRPr sz="1125" b="1">
                <a:solidFill>
                  <a:srgbClr val="B94F3D"/>
                </a:solidFill>
                <a:latin typeface="Helvetica Neue"/>
                <a:ea typeface="Helvetica Neue"/>
                <a:cs typeface="Helvetica Neue"/>
              </a:defRPr>
            </a:defPPr>
            <a:lvl1pPr>
              <a:defRPr sz="1125" b="1">
                <a:solidFill>
                  <a:srgbClr val="B94F3D"/>
                </a:solidFill>
                <a:latin typeface="Helvetica Neue"/>
                <a:ea typeface="Helvetica Neue"/>
                <a:cs typeface="Helvetica Neue"/>
              </a:defRPr>
            </a:lvl1pPr>
            <a:lvl2pPr>
              <a:defRPr sz="1125" b="1">
                <a:solidFill>
                  <a:srgbClr val="B94F3D"/>
                </a:solidFill>
                <a:latin typeface="Helvetica Neue"/>
                <a:ea typeface="Helvetica Neue"/>
                <a:cs typeface="Helvetica Neue"/>
              </a:defRPr>
            </a:lvl2pPr>
            <a:lvl3pPr>
              <a:defRPr sz="1125" b="1">
                <a:solidFill>
                  <a:srgbClr val="B94F3D"/>
                </a:solidFill>
                <a:latin typeface="Helvetica Neue"/>
                <a:ea typeface="Helvetica Neue"/>
                <a:cs typeface="Helvetica Neue"/>
              </a:defRPr>
            </a:lvl3pPr>
            <a:lvl4pPr>
              <a:defRPr sz="1125" b="1">
                <a:solidFill>
                  <a:srgbClr val="B94F3D"/>
                </a:solidFill>
                <a:latin typeface="Helvetica Neue"/>
                <a:ea typeface="Helvetica Neue"/>
                <a:cs typeface="Helvetica Neue"/>
              </a:defRPr>
            </a:lvl4pPr>
            <a:lvl5pPr>
              <a:defRPr sz="1125" b="1">
                <a:solidFill>
                  <a:srgbClr val="B94F3D"/>
                </a:solidFill>
                <a:latin typeface="Helvetica Neue"/>
                <a:ea typeface="Helvetica Neue"/>
                <a:cs typeface="Helvetica Neue"/>
              </a:defRPr>
            </a:lvl5pPr>
            <a:lvl6pPr>
              <a:defRPr sz="1125" b="1">
                <a:solidFill>
                  <a:srgbClr val="B94F3D"/>
                </a:solidFill>
                <a:latin typeface="Helvetica Neue"/>
                <a:ea typeface="Helvetica Neue"/>
                <a:cs typeface="Helvetica Neue"/>
              </a:defRPr>
            </a:lvl6pPr>
            <a:lvl7pPr>
              <a:defRPr sz="1125" b="1">
                <a:solidFill>
                  <a:srgbClr val="B94F3D"/>
                </a:solidFill>
                <a:latin typeface="Helvetica Neue"/>
                <a:ea typeface="Helvetica Neue"/>
                <a:cs typeface="Helvetica Neue"/>
              </a:defRPr>
            </a:lvl7pPr>
            <a:lvl8pPr>
              <a:defRPr sz="1125" b="1">
                <a:solidFill>
                  <a:srgbClr val="B94F3D"/>
                </a:solidFill>
                <a:latin typeface="Helvetica Neue"/>
                <a:ea typeface="Helvetica Neue"/>
                <a:cs typeface="Helvetica Neue"/>
              </a:defRPr>
            </a:lvl8pPr>
            <a:lvl9pPr>
              <a:defRPr sz="1125" b="1">
                <a:solidFill>
                  <a:srgbClr val="B94F3D"/>
                </a:solidFill>
                <a:latin typeface="Helvetica Neue"/>
                <a:ea typeface="Helvetica Neue"/>
                <a:cs typeface="Helvetica Neue"/>
              </a:defRPr>
            </a:lvl9pPr>
          </a:lstStyle>
          <a:p xmlns:a="http://schemas.openxmlformats.org/drawingml/2006/main">
            <a:pPr>
              <a:defRPr sz="1125" b="1">
                <a:solidFill>
                  <a:srgbClr val="B94F3D"/>
                </a:solidFill>
                <a:latin typeface="Helvetica Neue"/>
                <a:ea typeface="Helvetica Neue"/>
                <a:cs typeface="Helvetica Neue"/>
              </a:defRPr>
            </a:pPr>
            <a:r>
              <a:rPr sz="1125" b="1">
                <a:solidFill>
                  <a:srgbClr val="B94F3D"/>
                </a:solidFill>
                <a:latin typeface="Helvetica Neue"/>
                <a:ea typeface="Helvetica Neue"/>
                <a:cs typeface="Helvetica Neue"/>
              </a:rPr>
              <a:t>Use current orders, facility policy, and authorized scope when applying this information.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D3F13909-ECFD-4F49-AB58-E4D7A26F58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5772150"/>
            <a:ext cx="101917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97619"/>
          </a:bodyPr>
          <a:lstStyle xmlns:a="http://schemas.openxmlformats.org/drawingml/2006/main">
            <a:defPPr>
              <a:defRPr sz="1050" b="1">
                <a:solidFill>
                  <a:srgbClr val="237B82"/>
                </a:solidFill>
                <a:latin typeface="Helvetica Neue"/>
                <a:ea typeface="Helvetica Neue"/>
                <a:cs typeface="Helvetica Neue"/>
              </a:defRPr>
            </a:defPPr>
            <a:lvl1pPr>
              <a:defRPr sz="1050" b="1">
                <a:solidFill>
                  <a:srgbClr val="237B82"/>
                </a:solidFill>
                <a:latin typeface="Helvetica Neue"/>
                <a:ea typeface="Helvetica Neue"/>
                <a:cs typeface="Helvetica Neue"/>
              </a:defRPr>
            </a:lvl1pPr>
            <a:lvl2pPr>
              <a:defRPr sz="1050" b="1">
                <a:solidFill>
                  <a:srgbClr val="237B82"/>
                </a:solidFill>
                <a:latin typeface="Helvetica Neue"/>
                <a:ea typeface="Helvetica Neue"/>
                <a:cs typeface="Helvetica Neue"/>
              </a:defRPr>
            </a:lvl2pPr>
            <a:lvl3pPr>
              <a:defRPr sz="1050" b="1">
                <a:solidFill>
                  <a:srgbClr val="237B82"/>
                </a:solidFill>
                <a:latin typeface="Helvetica Neue"/>
                <a:ea typeface="Helvetica Neue"/>
                <a:cs typeface="Helvetica Neue"/>
              </a:defRPr>
            </a:lvl3pPr>
            <a:lvl4pPr>
              <a:defRPr sz="1050" b="1">
                <a:solidFill>
                  <a:srgbClr val="237B82"/>
                </a:solidFill>
                <a:latin typeface="Helvetica Neue"/>
                <a:ea typeface="Helvetica Neue"/>
                <a:cs typeface="Helvetica Neue"/>
              </a:defRPr>
            </a:lvl4pPr>
            <a:lvl5pPr>
              <a:defRPr sz="1050" b="1">
                <a:solidFill>
                  <a:srgbClr val="237B82"/>
                </a:solidFill>
                <a:latin typeface="Helvetica Neue"/>
                <a:ea typeface="Helvetica Neue"/>
                <a:cs typeface="Helvetica Neue"/>
              </a:defRPr>
            </a:lvl5pPr>
            <a:lvl6pPr>
              <a:defRPr sz="1050" b="1">
                <a:solidFill>
                  <a:srgbClr val="237B82"/>
                </a:solidFill>
                <a:latin typeface="Helvetica Neue"/>
                <a:ea typeface="Helvetica Neue"/>
                <a:cs typeface="Helvetica Neue"/>
              </a:defRPr>
            </a:lvl6pPr>
            <a:lvl7pPr>
              <a:defRPr sz="1050" b="1">
                <a:solidFill>
                  <a:srgbClr val="237B82"/>
                </a:solidFill>
                <a:latin typeface="Helvetica Neue"/>
                <a:ea typeface="Helvetica Neue"/>
                <a:cs typeface="Helvetica Neue"/>
              </a:defRPr>
            </a:lvl7pPr>
            <a:lvl8pPr>
              <a:defRPr sz="1050" b="1">
                <a:solidFill>
                  <a:srgbClr val="237B82"/>
                </a:solidFill>
                <a:latin typeface="Helvetica Neue"/>
                <a:ea typeface="Helvetica Neue"/>
                <a:cs typeface="Helvetica Neue"/>
              </a:defRPr>
            </a:lvl8pPr>
            <a:lvl9pPr>
              <a:defRPr sz="1050" b="1">
                <a:solidFill>
                  <a:srgbClr val="237B82"/>
                </a:solidFill>
                <a:latin typeface="Helvetica Neue"/>
                <a:ea typeface="Helvetica Neue"/>
                <a:cs typeface="Helvetica Neue"/>
              </a:defRPr>
            </a:lvl9pPr>
          </a:lstStyle>
          <a:p xmlns:a="http://schemas.openxmlformats.org/drawingml/2006/main">
            <a:pPr>
              <a:defRPr sz="1050" b="1">
                <a:solidFill>
                  <a:srgbClr val="237B82"/>
                </a:solidFill>
                <a:latin typeface="Helvetica Neue"/>
                <a:ea typeface="Helvetica Neue"/>
                <a:cs typeface="Helvetica Neue"/>
              </a:defRPr>
            </a:pPr>
            <a:r>
              <a:rPr sz="1050" b="1">
                <a:solidFill>
                  <a:srgbClr val="237B82"/>
                </a:solidFill>
                <a:latin typeface="Helvetica Neue"/>
                <a:ea typeface="Helvetica Neue"/>
                <a:cs typeface="Helvetica Neue"/>
              </a:rPr>
              <a:t>Manual page 51</a:t>
            </a:r>
          </a:p>
        </p:txBody>
      </p:sp>
    </p:spTree>
    <p:extLst>
      <p:ext uri="{BB962C8B-B14F-4D97-AF65-F5344CB8AC3E}">
        <p14:creationId xmlns:p14="http://schemas.microsoft.com/office/powerpoint/2010/main" val="2124914825"/>
      </p:ext>
    </p:extLst>
  </p:cSld>
</p:sld>
</file>

<file path=ppt/slides/slide13.xml><?xml version="1.0" encoding="utf-8"?>
<p:sld xmlns:p="http://schemas.openxmlformats.org/presentationml/2006/main">
  <p:cSld>
    <p:bg>
      <p:bgPr>
        <a:solidFill xmlns:a="http://schemas.openxmlformats.org/drawingml/2006/main">
          <a:srgbClr val="F7F4EE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3D3129EE-0978-4212-9A06-64A9230913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2095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37B82"/>
          </a:solidFill>
          <a:ln xmlns:a="http://schemas.openxmlformats.org/drawingml/2006/main" w="0">
            <a:solidFill>
              <a:srgbClr val="237B82"/>
            </a:solidFill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6263B00D-D62D-4E36-859C-CE8BEF3513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00050"/>
            <a:ext cx="10001250" cy="819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>
            <a:defPPr>
              <a:defRPr sz="2700" b="1">
                <a:solidFill>
                  <a:srgbClr val="15324A"/>
                </a:solidFill>
                <a:latin typeface="Helvetica Neue"/>
                <a:ea typeface="Helvetica Neue"/>
                <a:cs typeface="Helvetica Neue"/>
              </a:defRPr>
            </a:defPPr>
            <a:lvl1pPr>
              <a:defRPr sz="2700" b="1">
                <a:solidFill>
                  <a:srgbClr val="15324A"/>
                </a:solidFill>
                <a:latin typeface="Helvetica Neue"/>
                <a:ea typeface="Helvetica Neue"/>
                <a:cs typeface="Helvetica Neue"/>
              </a:defRPr>
            </a:lvl1pPr>
            <a:lvl2pPr>
              <a:defRPr sz="2700" b="1">
                <a:solidFill>
                  <a:srgbClr val="15324A"/>
                </a:solidFill>
                <a:latin typeface="Helvetica Neue"/>
                <a:ea typeface="Helvetica Neue"/>
                <a:cs typeface="Helvetica Neue"/>
              </a:defRPr>
            </a:lvl2pPr>
            <a:lvl3pPr>
              <a:defRPr sz="2700" b="1">
                <a:solidFill>
                  <a:srgbClr val="15324A"/>
                </a:solidFill>
                <a:latin typeface="Helvetica Neue"/>
                <a:ea typeface="Helvetica Neue"/>
                <a:cs typeface="Helvetica Neue"/>
              </a:defRPr>
            </a:lvl3pPr>
            <a:lvl4pPr>
              <a:defRPr sz="2700" b="1">
                <a:solidFill>
                  <a:srgbClr val="15324A"/>
                </a:solidFill>
                <a:latin typeface="Helvetica Neue"/>
                <a:ea typeface="Helvetica Neue"/>
                <a:cs typeface="Helvetica Neue"/>
              </a:defRPr>
            </a:lvl4pPr>
            <a:lvl5pPr>
              <a:defRPr sz="2700" b="1">
                <a:solidFill>
                  <a:srgbClr val="15324A"/>
                </a:solidFill>
                <a:latin typeface="Helvetica Neue"/>
                <a:ea typeface="Helvetica Neue"/>
                <a:cs typeface="Helvetica Neue"/>
              </a:defRPr>
            </a:lvl5pPr>
            <a:lvl6pPr>
              <a:defRPr sz="2700" b="1">
                <a:solidFill>
                  <a:srgbClr val="15324A"/>
                </a:solidFill>
                <a:latin typeface="Helvetica Neue"/>
                <a:ea typeface="Helvetica Neue"/>
                <a:cs typeface="Helvetica Neue"/>
              </a:defRPr>
            </a:lvl6pPr>
            <a:lvl7pPr>
              <a:defRPr sz="2700" b="1">
                <a:solidFill>
                  <a:srgbClr val="15324A"/>
                </a:solidFill>
                <a:latin typeface="Helvetica Neue"/>
                <a:ea typeface="Helvetica Neue"/>
                <a:cs typeface="Helvetica Neue"/>
              </a:defRPr>
            </a:lvl7pPr>
            <a:lvl8pPr>
              <a:defRPr sz="2700" b="1">
                <a:solidFill>
                  <a:srgbClr val="15324A"/>
                </a:solidFill>
                <a:latin typeface="Helvetica Neue"/>
                <a:ea typeface="Helvetica Neue"/>
                <a:cs typeface="Helvetica Neue"/>
              </a:defRPr>
            </a:lvl8pPr>
            <a:lvl9pPr>
              <a:defRPr sz="2700" b="1">
                <a:solidFill>
                  <a:srgbClr val="15324A"/>
                </a:solidFill>
                <a:latin typeface="Helvetica Neue"/>
                <a:ea typeface="Helvetica Neue"/>
                <a:cs typeface="Helvetica Neue"/>
              </a:defRPr>
            </a:lvl9pPr>
          </a:lstStyle>
          <a:p xmlns:a="http://schemas.openxmlformats.org/drawingml/2006/main">
            <a:pPr>
              <a:defRPr sz="2700" b="1">
                <a:solidFill>
                  <a:srgbClr val="15324A"/>
                </a:solidFill>
                <a:latin typeface="Helvetica Neue"/>
                <a:ea typeface="Helvetica Neue"/>
                <a:cs typeface="Helvetica Neue"/>
              </a:defRPr>
            </a:pPr>
            <a:r>
              <a:rPr sz="2700" b="1">
                <a:solidFill>
                  <a:srgbClr val="15324A"/>
                </a:solidFill>
                <a:latin typeface="Helvetica Neue"/>
                <a:ea typeface="Helvetica Neue"/>
                <a:cs typeface="Helvetica Neue"/>
              </a:rPr>
              <a:t>Transfusion Therapy — continued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DCCD4AA3-CCD7-4F7D-8FFA-19EBD985B3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1257300"/>
            <a:ext cx="88582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91111"/>
          </a:bodyPr>
          <a:lstStyle xmlns:a="http://schemas.openxmlformats.org/drawingml/2006/main">
            <a:defPPr>
              <a:defRPr sz="1125" b="1">
                <a:solidFill>
                  <a:srgbClr val="237B82"/>
                </a:solidFill>
                <a:latin typeface="Helvetica Neue"/>
                <a:ea typeface="Helvetica Neue"/>
                <a:cs typeface="Helvetica Neue"/>
              </a:defRPr>
            </a:defPPr>
            <a:lvl1pPr>
              <a:defRPr sz="1125" b="1">
                <a:solidFill>
                  <a:srgbClr val="237B82"/>
                </a:solidFill>
                <a:latin typeface="Helvetica Neue"/>
                <a:ea typeface="Helvetica Neue"/>
                <a:cs typeface="Helvetica Neue"/>
              </a:defRPr>
            </a:lvl1pPr>
            <a:lvl2pPr>
              <a:defRPr sz="1125" b="1">
                <a:solidFill>
                  <a:srgbClr val="237B82"/>
                </a:solidFill>
                <a:latin typeface="Helvetica Neue"/>
                <a:ea typeface="Helvetica Neue"/>
                <a:cs typeface="Helvetica Neue"/>
              </a:defRPr>
            </a:lvl2pPr>
            <a:lvl3pPr>
              <a:defRPr sz="1125" b="1">
                <a:solidFill>
                  <a:srgbClr val="237B82"/>
                </a:solidFill>
                <a:latin typeface="Helvetica Neue"/>
                <a:ea typeface="Helvetica Neue"/>
                <a:cs typeface="Helvetica Neue"/>
              </a:defRPr>
            </a:lvl3pPr>
            <a:lvl4pPr>
              <a:defRPr sz="1125" b="1">
                <a:solidFill>
                  <a:srgbClr val="237B82"/>
                </a:solidFill>
                <a:latin typeface="Helvetica Neue"/>
                <a:ea typeface="Helvetica Neue"/>
                <a:cs typeface="Helvetica Neue"/>
              </a:defRPr>
            </a:lvl4pPr>
            <a:lvl5pPr>
              <a:defRPr sz="1125" b="1">
                <a:solidFill>
                  <a:srgbClr val="237B82"/>
                </a:solidFill>
                <a:latin typeface="Helvetica Neue"/>
                <a:ea typeface="Helvetica Neue"/>
                <a:cs typeface="Helvetica Neue"/>
              </a:defRPr>
            </a:lvl5pPr>
            <a:lvl6pPr>
              <a:defRPr sz="1125" b="1">
                <a:solidFill>
                  <a:srgbClr val="237B82"/>
                </a:solidFill>
                <a:latin typeface="Helvetica Neue"/>
                <a:ea typeface="Helvetica Neue"/>
                <a:cs typeface="Helvetica Neue"/>
              </a:defRPr>
            </a:lvl6pPr>
            <a:lvl7pPr>
              <a:defRPr sz="1125" b="1">
                <a:solidFill>
                  <a:srgbClr val="237B82"/>
                </a:solidFill>
                <a:latin typeface="Helvetica Neue"/>
                <a:ea typeface="Helvetica Neue"/>
                <a:cs typeface="Helvetica Neue"/>
              </a:defRPr>
            </a:lvl7pPr>
            <a:lvl8pPr>
              <a:defRPr sz="1125" b="1">
                <a:solidFill>
                  <a:srgbClr val="237B82"/>
                </a:solidFill>
                <a:latin typeface="Helvetica Neue"/>
                <a:ea typeface="Helvetica Neue"/>
                <a:cs typeface="Helvetica Neue"/>
              </a:defRPr>
            </a:lvl8pPr>
            <a:lvl9pPr>
              <a:defRPr sz="1125" b="1">
                <a:solidFill>
                  <a:srgbClr val="237B82"/>
                </a:solidFill>
                <a:latin typeface="Helvetica Neue"/>
                <a:ea typeface="Helvetica Neue"/>
                <a:cs typeface="Helvetica Neue"/>
              </a:defRPr>
            </a:lvl9pPr>
          </a:lstStyle>
          <a:p xmlns:a="http://schemas.openxmlformats.org/drawingml/2006/main">
            <a:pPr>
              <a:defRPr sz="1125" b="1">
                <a:solidFill>
                  <a:srgbClr val="237B82"/>
                </a:solidFill>
                <a:latin typeface="Helvetica Neue"/>
                <a:ea typeface="Helvetica Neue"/>
                <a:cs typeface="Helvetica Neue"/>
              </a:defRPr>
            </a:pPr>
            <a:r>
              <a:rPr sz="1125" b="1">
                <a:solidFill>
                  <a:srgbClr val="237B82"/>
                </a:solidFill>
                <a:latin typeface="Helvetica Neue"/>
                <a:ea typeface="Helvetica Neue"/>
                <a:cs typeface="Helvetica Neue"/>
              </a:rPr>
              <a:t>MODULE 4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47D25EEB-985A-451E-BDAB-ADCD754338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457200"/>
            <a:ext cx="5334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>
            <a:defPPr>
              <a:defRPr sz="1200" b="1">
                <a:solidFill>
                  <a:srgbClr val="237B82"/>
                </a:solidFill>
                <a:latin typeface="Helvetica Neue"/>
                <a:ea typeface="Helvetica Neue"/>
                <a:cs typeface="Helvetica Neue"/>
              </a:defRPr>
            </a:defPPr>
            <a:lvl1pPr>
              <a:defRPr sz="1200" b="1">
                <a:solidFill>
                  <a:srgbClr val="237B82"/>
                </a:solidFill>
                <a:latin typeface="Helvetica Neue"/>
                <a:ea typeface="Helvetica Neue"/>
                <a:cs typeface="Helvetica Neue"/>
              </a:defRPr>
            </a:lvl1pPr>
            <a:lvl2pPr>
              <a:defRPr sz="1200" b="1">
                <a:solidFill>
                  <a:srgbClr val="237B82"/>
                </a:solidFill>
                <a:latin typeface="Helvetica Neue"/>
                <a:ea typeface="Helvetica Neue"/>
                <a:cs typeface="Helvetica Neue"/>
              </a:defRPr>
            </a:lvl2pPr>
            <a:lvl3pPr>
              <a:defRPr sz="1200" b="1">
                <a:solidFill>
                  <a:srgbClr val="237B82"/>
                </a:solidFill>
                <a:latin typeface="Helvetica Neue"/>
                <a:ea typeface="Helvetica Neue"/>
                <a:cs typeface="Helvetica Neue"/>
              </a:defRPr>
            </a:lvl3pPr>
            <a:lvl4pPr>
              <a:defRPr sz="1200" b="1">
                <a:solidFill>
                  <a:srgbClr val="237B82"/>
                </a:solidFill>
                <a:latin typeface="Helvetica Neue"/>
                <a:ea typeface="Helvetica Neue"/>
                <a:cs typeface="Helvetica Neue"/>
              </a:defRPr>
            </a:lvl4pPr>
            <a:lvl5pPr>
              <a:defRPr sz="1200" b="1">
                <a:solidFill>
                  <a:srgbClr val="237B82"/>
                </a:solidFill>
                <a:latin typeface="Helvetica Neue"/>
                <a:ea typeface="Helvetica Neue"/>
                <a:cs typeface="Helvetica Neue"/>
              </a:defRPr>
            </a:lvl5pPr>
            <a:lvl6pPr>
              <a:defRPr sz="1200" b="1">
                <a:solidFill>
                  <a:srgbClr val="237B82"/>
                </a:solidFill>
                <a:latin typeface="Helvetica Neue"/>
                <a:ea typeface="Helvetica Neue"/>
                <a:cs typeface="Helvetica Neue"/>
              </a:defRPr>
            </a:lvl6pPr>
            <a:lvl7pPr>
              <a:defRPr sz="1200" b="1">
                <a:solidFill>
                  <a:srgbClr val="237B82"/>
                </a:solidFill>
                <a:latin typeface="Helvetica Neue"/>
                <a:ea typeface="Helvetica Neue"/>
                <a:cs typeface="Helvetica Neue"/>
              </a:defRPr>
            </a:lvl7pPr>
            <a:lvl8pPr>
              <a:defRPr sz="1200" b="1">
                <a:solidFill>
                  <a:srgbClr val="237B82"/>
                </a:solidFill>
                <a:latin typeface="Helvetica Neue"/>
                <a:ea typeface="Helvetica Neue"/>
                <a:cs typeface="Helvetica Neue"/>
              </a:defRPr>
            </a:lvl8pPr>
            <a:lvl9pPr>
              <a:defRPr sz="1200" b="1">
                <a:solidFill>
                  <a:srgbClr val="237B82"/>
                </a:solidFill>
                <a:latin typeface="Helvetica Neue"/>
                <a:ea typeface="Helvetica Neue"/>
                <a:cs typeface="Helvetica Neue"/>
              </a:defRPr>
            </a:lvl9pPr>
          </a:lstStyle>
          <a:p xmlns:a="http://schemas.openxmlformats.org/drawingml/2006/main">
            <a:pPr>
              <a:defRPr sz="1200" b="1">
                <a:solidFill>
                  <a:srgbClr val="237B82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00" b="1">
                <a:solidFill>
                  <a:srgbClr val="237B82"/>
                </a:solidFill>
                <a:latin typeface="Helvetica Neue"/>
                <a:ea typeface="Helvetica Neue"/>
                <a:cs typeface="Helvetica Neue"/>
              </a:rPr>
              <a:t>13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14C477BF-3C03-4098-BCAC-7F968DAA10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1762125"/>
            <a:ext cx="10287000" cy="409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>
            <a:defPPr>
              <a:defRPr sz="1875">
                <a:solidFill>
                  <a:srgbClr val="13212D"/>
                </a:solidFill>
                <a:latin typeface="Helvetica Neue"/>
                <a:ea typeface="Helvetica Neue"/>
                <a:cs typeface="Helvetica Neue"/>
              </a:defRPr>
            </a:defPPr>
            <a:lvl1pPr>
              <a:defRPr sz="1875">
                <a:solidFill>
                  <a:srgbClr val="13212D"/>
                </a:solidFill>
                <a:latin typeface="Helvetica Neue"/>
                <a:ea typeface="Helvetica Neue"/>
                <a:cs typeface="Helvetica Neue"/>
              </a:defRPr>
            </a:lvl1pPr>
            <a:lvl2pPr>
              <a:defRPr sz="1875">
                <a:solidFill>
                  <a:srgbClr val="13212D"/>
                </a:solidFill>
                <a:latin typeface="Helvetica Neue"/>
                <a:ea typeface="Helvetica Neue"/>
                <a:cs typeface="Helvetica Neue"/>
              </a:defRPr>
            </a:lvl2pPr>
            <a:lvl3pPr>
              <a:defRPr sz="1875">
                <a:solidFill>
                  <a:srgbClr val="13212D"/>
                </a:solidFill>
                <a:latin typeface="Helvetica Neue"/>
                <a:ea typeface="Helvetica Neue"/>
                <a:cs typeface="Helvetica Neue"/>
              </a:defRPr>
            </a:lvl3pPr>
            <a:lvl4pPr>
              <a:defRPr sz="1875">
                <a:solidFill>
                  <a:srgbClr val="13212D"/>
                </a:solidFill>
                <a:latin typeface="Helvetica Neue"/>
                <a:ea typeface="Helvetica Neue"/>
                <a:cs typeface="Helvetica Neue"/>
              </a:defRPr>
            </a:lvl4pPr>
            <a:lvl5pPr>
              <a:defRPr sz="1875">
                <a:solidFill>
                  <a:srgbClr val="13212D"/>
                </a:solidFill>
                <a:latin typeface="Helvetica Neue"/>
                <a:ea typeface="Helvetica Neue"/>
                <a:cs typeface="Helvetica Neue"/>
              </a:defRPr>
            </a:lvl5pPr>
            <a:lvl6pPr>
              <a:defRPr sz="1875">
                <a:solidFill>
                  <a:srgbClr val="13212D"/>
                </a:solidFill>
                <a:latin typeface="Helvetica Neue"/>
                <a:ea typeface="Helvetica Neue"/>
                <a:cs typeface="Helvetica Neue"/>
              </a:defRPr>
            </a:lvl6pPr>
            <a:lvl7pPr>
              <a:defRPr sz="1875">
                <a:solidFill>
                  <a:srgbClr val="13212D"/>
                </a:solidFill>
                <a:latin typeface="Helvetica Neue"/>
                <a:ea typeface="Helvetica Neue"/>
                <a:cs typeface="Helvetica Neue"/>
              </a:defRPr>
            </a:lvl7pPr>
            <a:lvl8pPr>
              <a:defRPr sz="1875">
                <a:solidFill>
                  <a:srgbClr val="13212D"/>
                </a:solidFill>
                <a:latin typeface="Helvetica Neue"/>
                <a:ea typeface="Helvetica Neue"/>
                <a:cs typeface="Helvetica Neue"/>
              </a:defRPr>
            </a:lvl8pPr>
            <a:lvl9pPr>
              <a:defRPr sz="1875">
                <a:solidFill>
                  <a:srgbClr val="13212D"/>
                </a:solidFill>
                <a:latin typeface="Helvetica Neue"/>
                <a:ea typeface="Helvetica Neue"/>
                <a:cs typeface="Helvetica Neue"/>
              </a:defRPr>
            </a:lvl9pPr>
          </a:lstStyle>
          <a:p xmlns:a="http://schemas.openxmlformats.org/drawingml/2006/main">
            <a:pPr marL="279400" indent="-127000">
              <a:spcAft>
                <a:spcPts val="1300"/>
              </a:spcAft>
              <a:buChar char="•"/>
              <a:defRPr sz="1875">
                <a:solidFill>
                  <a:srgbClr val="13212D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75">
                <a:solidFill>
                  <a:srgbClr val="13212D"/>
                </a:solidFill>
                <a:latin typeface="Helvetica Neue"/>
                <a:ea typeface="Helvetica Neue"/>
                <a:cs typeface="Helvetica Neue"/>
              </a:rPr>
              <a:t>Describe transfusion reactions and appropriate nursing interventions.</a:t>
            </a:r>
          </a:p>
          <a:p xmlns:a="http://schemas.openxmlformats.org/drawingml/2006/main">
            <a:pPr marL="279400" indent="-127000">
              <a:spcAft>
                <a:spcPts val="1300"/>
              </a:spcAft>
              <a:buChar char="•"/>
              <a:defRPr sz="1875">
                <a:solidFill>
                  <a:srgbClr val="13212D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75">
                <a:solidFill>
                  <a:srgbClr val="13212D"/>
                </a:solidFill>
                <a:latin typeface="Helvetica Neue"/>
                <a:ea typeface="Helvetica Neue"/>
                <a:cs typeface="Helvetica Neue"/>
              </a:rPr>
              <a:t>Unit Outline Transfusion Therapy Indications for blood or blood products Safety measures in the administration of infusion products Blood Grouping Blood typing and cross matching The</a:t>
            </a:r>
          </a:p>
          <a:p xmlns:a="http://schemas.openxmlformats.org/drawingml/2006/main">
            <a:pPr marL="279400" indent="-127000">
              <a:spcAft>
                <a:spcPts val="1300"/>
              </a:spcAft>
              <a:buChar char="•"/>
              <a:defRPr sz="1875">
                <a:solidFill>
                  <a:srgbClr val="13212D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75">
                <a:solidFill>
                  <a:srgbClr val="13212D"/>
                </a:solidFill>
                <a:latin typeface="Helvetica Neue"/>
                <a:ea typeface="Helvetica Neue"/>
                <a:cs typeface="Helvetica Neue"/>
              </a:rPr>
              <a:t>ABO blood grouping system Compatibility and incompatibility Objectives of Transfusion Therapy Increase circulating blood volume Increase oxygen carrying capacity Replace specific blood</a:t>
            </a:r>
          </a:p>
          <a:p xmlns:a="http://schemas.openxmlformats.org/drawingml/2006/main">
            <a:pPr marL="279400" indent="-127000">
              <a:spcAft>
                <a:spcPts val="1300"/>
              </a:spcAft>
              <a:buChar char="•"/>
              <a:defRPr sz="1875">
                <a:solidFill>
                  <a:srgbClr val="13212D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75">
                <a:solidFill>
                  <a:srgbClr val="13212D"/>
                </a:solidFill>
                <a:latin typeface="Helvetica Neue"/>
                <a:ea typeface="Helvetica Neue"/>
                <a:cs typeface="Helvetica Neue"/>
              </a:rPr>
              <a:t>components Contraindications for Transfusion Therapy Need must be documented Need must be immediate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99AE1141-7A2A-4CC6-87CD-B94430F367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6115050"/>
            <a:ext cx="101917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>
            <a:defPPr>
              <a:defRPr sz="1125" b="1">
                <a:solidFill>
                  <a:srgbClr val="B94F3D"/>
                </a:solidFill>
                <a:latin typeface="Helvetica Neue"/>
                <a:ea typeface="Helvetica Neue"/>
                <a:cs typeface="Helvetica Neue"/>
              </a:defRPr>
            </a:defPPr>
            <a:lvl1pPr>
              <a:defRPr sz="1125" b="1">
                <a:solidFill>
                  <a:srgbClr val="B94F3D"/>
                </a:solidFill>
                <a:latin typeface="Helvetica Neue"/>
                <a:ea typeface="Helvetica Neue"/>
                <a:cs typeface="Helvetica Neue"/>
              </a:defRPr>
            </a:lvl1pPr>
            <a:lvl2pPr>
              <a:defRPr sz="1125" b="1">
                <a:solidFill>
                  <a:srgbClr val="B94F3D"/>
                </a:solidFill>
                <a:latin typeface="Helvetica Neue"/>
                <a:ea typeface="Helvetica Neue"/>
                <a:cs typeface="Helvetica Neue"/>
              </a:defRPr>
            </a:lvl2pPr>
            <a:lvl3pPr>
              <a:defRPr sz="1125" b="1">
                <a:solidFill>
                  <a:srgbClr val="B94F3D"/>
                </a:solidFill>
                <a:latin typeface="Helvetica Neue"/>
                <a:ea typeface="Helvetica Neue"/>
                <a:cs typeface="Helvetica Neue"/>
              </a:defRPr>
            </a:lvl3pPr>
            <a:lvl4pPr>
              <a:defRPr sz="1125" b="1">
                <a:solidFill>
                  <a:srgbClr val="B94F3D"/>
                </a:solidFill>
                <a:latin typeface="Helvetica Neue"/>
                <a:ea typeface="Helvetica Neue"/>
                <a:cs typeface="Helvetica Neue"/>
              </a:defRPr>
            </a:lvl4pPr>
            <a:lvl5pPr>
              <a:defRPr sz="1125" b="1">
                <a:solidFill>
                  <a:srgbClr val="B94F3D"/>
                </a:solidFill>
                <a:latin typeface="Helvetica Neue"/>
                <a:ea typeface="Helvetica Neue"/>
                <a:cs typeface="Helvetica Neue"/>
              </a:defRPr>
            </a:lvl5pPr>
            <a:lvl6pPr>
              <a:defRPr sz="1125" b="1">
                <a:solidFill>
                  <a:srgbClr val="B94F3D"/>
                </a:solidFill>
                <a:latin typeface="Helvetica Neue"/>
                <a:ea typeface="Helvetica Neue"/>
                <a:cs typeface="Helvetica Neue"/>
              </a:defRPr>
            </a:lvl6pPr>
            <a:lvl7pPr>
              <a:defRPr sz="1125" b="1">
                <a:solidFill>
                  <a:srgbClr val="B94F3D"/>
                </a:solidFill>
                <a:latin typeface="Helvetica Neue"/>
                <a:ea typeface="Helvetica Neue"/>
                <a:cs typeface="Helvetica Neue"/>
              </a:defRPr>
            </a:lvl7pPr>
            <a:lvl8pPr>
              <a:defRPr sz="1125" b="1">
                <a:solidFill>
                  <a:srgbClr val="B94F3D"/>
                </a:solidFill>
                <a:latin typeface="Helvetica Neue"/>
                <a:ea typeface="Helvetica Neue"/>
                <a:cs typeface="Helvetica Neue"/>
              </a:defRPr>
            </a:lvl8pPr>
            <a:lvl9pPr>
              <a:defRPr sz="1125" b="1">
                <a:solidFill>
                  <a:srgbClr val="B94F3D"/>
                </a:solidFill>
                <a:latin typeface="Helvetica Neue"/>
                <a:ea typeface="Helvetica Neue"/>
                <a:cs typeface="Helvetica Neue"/>
              </a:defRPr>
            </a:lvl9pPr>
          </a:lstStyle>
          <a:p xmlns:a="http://schemas.openxmlformats.org/drawingml/2006/main">
            <a:pPr>
              <a:defRPr sz="1125" b="1">
                <a:solidFill>
                  <a:srgbClr val="B94F3D"/>
                </a:solidFill>
                <a:latin typeface="Helvetica Neue"/>
                <a:ea typeface="Helvetica Neue"/>
                <a:cs typeface="Helvetica Neue"/>
              </a:defRPr>
            </a:pPr>
            <a:r>
              <a:rPr sz="1125" b="1">
                <a:solidFill>
                  <a:srgbClr val="B94F3D"/>
                </a:solidFill>
                <a:latin typeface="Helvetica Neue"/>
                <a:ea typeface="Helvetica Neue"/>
                <a:cs typeface="Helvetica Neue"/>
              </a:rPr>
              <a:t>Use current orders, facility policy, and authorized scope when applying this information.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E8834A7E-D025-45E7-A839-D4366F30FA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5772150"/>
            <a:ext cx="101917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97619"/>
          </a:bodyPr>
          <a:lstStyle xmlns:a="http://schemas.openxmlformats.org/drawingml/2006/main">
            <a:defPPr>
              <a:defRPr sz="1050" b="1">
                <a:solidFill>
                  <a:srgbClr val="237B82"/>
                </a:solidFill>
                <a:latin typeface="Helvetica Neue"/>
                <a:ea typeface="Helvetica Neue"/>
                <a:cs typeface="Helvetica Neue"/>
              </a:defRPr>
            </a:defPPr>
            <a:lvl1pPr>
              <a:defRPr sz="1050" b="1">
                <a:solidFill>
                  <a:srgbClr val="237B82"/>
                </a:solidFill>
                <a:latin typeface="Helvetica Neue"/>
                <a:ea typeface="Helvetica Neue"/>
                <a:cs typeface="Helvetica Neue"/>
              </a:defRPr>
            </a:lvl1pPr>
            <a:lvl2pPr>
              <a:defRPr sz="1050" b="1">
                <a:solidFill>
                  <a:srgbClr val="237B82"/>
                </a:solidFill>
                <a:latin typeface="Helvetica Neue"/>
                <a:ea typeface="Helvetica Neue"/>
                <a:cs typeface="Helvetica Neue"/>
              </a:defRPr>
            </a:lvl2pPr>
            <a:lvl3pPr>
              <a:defRPr sz="1050" b="1">
                <a:solidFill>
                  <a:srgbClr val="237B82"/>
                </a:solidFill>
                <a:latin typeface="Helvetica Neue"/>
                <a:ea typeface="Helvetica Neue"/>
                <a:cs typeface="Helvetica Neue"/>
              </a:defRPr>
            </a:lvl3pPr>
            <a:lvl4pPr>
              <a:defRPr sz="1050" b="1">
                <a:solidFill>
                  <a:srgbClr val="237B82"/>
                </a:solidFill>
                <a:latin typeface="Helvetica Neue"/>
                <a:ea typeface="Helvetica Neue"/>
                <a:cs typeface="Helvetica Neue"/>
              </a:defRPr>
            </a:lvl4pPr>
            <a:lvl5pPr>
              <a:defRPr sz="1050" b="1">
                <a:solidFill>
                  <a:srgbClr val="237B82"/>
                </a:solidFill>
                <a:latin typeface="Helvetica Neue"/>
                <a:ea typeface="Helvetica Neue"/>
                <a:cs typeface="Helvetica Neue"/>
              </a:defRPr>
            </a:lvl5pPr>
            <a:lvl6pPr>
              <a:defRPr sz="1050" b="1">
                <a:solidFill>
                  <a:srgbClr val="237B82"/>
                </a:solidFill>
                <a:latin typeface="Helvetica Neue"/>
                <a:ea typeface="Helvetica Neue"/>
                <a:cs typeface="Helvetica Neue"/>
              </a:defRPr>
            </a:lvl6pPr>
            <a:lvl7pPr>
              <a:defRPr sz="1050" b="1">
                <a:solidFill>
                  <a:srgbClr val="237B82"/>
                </a:solidFill>
                <a:latin typeface="Helvetica Neue"/>
                <a:ea typeface="Helvetica Neue"/>
                <a:cs typeface="Helvetica Neue"/>
              </a:defRPr>
            </a:lvl7pPr>
            <a:lvl8pPr>
              <a:defRPr sz="1050" b="1">
                <a:solidFill>
                  <a:srgbClr val="237B82"/>
                </a:solidFill>
                <a:latin typeface="Helvetica Neue"/>
                <a:ea typeface="Helvetica Neue"/>
                <a:cs typeface="Helvetica Neue"/>
              </a:defRPr>
            </a:lvl8pPr>
            <a:lvl9pPr>
              <a:defRPr sz="1050" b="1">
                <a:solidFill>
                  <a:srgbClr val="237B82"/>
                </a:solidFill>
                <a:latin typeface="Helvetica Neue"/>
                <a:ea typeface="Helvetica Neue"/>
                <a:cs typeface="Helvetica Neue"/>
              </a:defRPr>
            </a:lvl9pPr>
          </a:lstStyle>
          <a:p xmlns:a="http://schemas.openxmlformats.org/drawingml/2006/main">
            <a:pPr>
              <a:defRPr sz="1050" b="1">
                <a:solidFill>
                  <a:srgbClr val="237B82"/>
                </a:solidFill>
                <a:latin typeface="Helvetica Neue"/>
                <a:ea typeface="Helvetica Neue"/>
                <a:cs typeface="Helvetica Neue"/>
              </a:defRPr>
            </a:pPr>
            <a:r>
              <a:rPr sz="1050" b="1">
                <a:solidFill>
                  <a:srgbClr val="237B82"/>
                </a:solidFill>
                <a:latin typeface="Helvetica Neue"/>
                <a:ea typeface="Helvetica Neue"/>
                <a:cs typeface="Helvetica Neue"/>
              </a:rPr>
              <a:t>Manual page 51</a:t>
            </a:r>
          </a:p>
        </p:txBody>
      </p:sp>
    </p:spTree>
    <p:extLst>
      <p:ext uri="{BB962C8B-B14F-4D97-AF65-F5344CB8AC3E}">
        <p14:creationId xmlns:p14="http://schemas.microsoft.com/office/powerpoint/2010/main" val="43736315"/>
      </p:ext>
    </p:extLst>
  </p:cSld>
</p:sld>
</file>

<file path=ppt/slides/slide14.xml><?xml version="1.0" encoding="utf-8"?>
<p:sld xmlns:p="http://schemas.openxmlformats.org/presentationml/2006/main">
  <p:cSld>
    <p:bg>
      <p:bgPr>
        <a:solidFill xmlns:a="http://schemas.openxmlformats.org/drawingml/2006/main">
          <a:srgbClr val="F7F4EE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2915DEF0-7DA7-4FDD-9A76-D9667236F5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2095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37B82"/>
          </a:solidFill>
          <a:ln xmlns:a="http://schemas.openxmlformats.org/drawingml/2006/main" w="0">
            <a:solidFill>
              <a:srgbClr val="237B82"/>
            </a:solidFill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DA0B1735-0D67-49F2-8461-B350A4276E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00050"/>
            <a:ext cx="10001250" cy="819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>
            <a:defPPr>
              <a:defRPr sz="2700" b="1">
                <a:solidFill>
                  <a:srgbClr val="15324A"/>
                </a:solidFill>
                <a:latin typeface="Helvetica Neue"/>
                <a:ea typeface="Helvetica Neue"/>
                <a:cs typeface="Helvetica Neue"/>
              </a:defRPr>
            </a:defPPr>
            <a:lvl1pPr>
              <a:defRPr sz="2700" b="1">
                <a:solidFill>
                  <a:srgbClr val="15324A"/>
                </a:solidFill>
                <a:latin typeface="Helvetica Neue"/>
                <a:ea typeface="Helvetica Neue"/>
                <a:cs typeface="Helvetica Neue"/>
              </a:defRPr>
            </a:lvl1pPr>
            <a:lvl2pPr>
              <a:defRPr sz="2700" b="1">
                <a:solidFill>
                  <a:srgbClr val="15324A"/>
                </a:solidFill>
                <a:latin typeface="Helvetica Neue"/>
                <a:ea typeface="Helvetica Neue"/>
                <a:cs typeface="Helvetica Neue"/>
              </a:defRPr>
            </a:lvl2pPr>
            <a:lvl3pPr>
              <a:defRPr sz="2700" b="1">
                <a:solidFill>
                  <a:srgbClr val="15324A"/>
                </a:solidFill>
                <a:latin typeface="Helvetica Neue"/>
                <a:ea typeface="Helvetica Neue"/>
                <a:cs typeface="Helvetica Neue"/>
              </a:defRPr>
            </a:lvl3pPr>
            <a:lvl4pPr>
              <a:defRPr sz="2700" b="1">
                <a:solidFill>
                  <a:srgbClr val="15324A"/>
                </a:solidFill>
                <a:latin typeface="Helvetica Neue"/>
                <a:ea typeface="Helvetica Neue"/>
                <a:cs typeface="Helvetica Neue"/>
              </a:defRPr>
            </a:lvl4pPr>
            <a:lvl5pPr>
              <a:defRPr sz="2700" b="1">
                <a:solidFill>
                  <a:srgbClr val="15324A"/>
                </a:solidFill>
                <a:latin typeface="Helvetica Neue"/>
                <a:ea typeface="Helvetica Neue"/>
                <a:cs typeface="Helvetica Neue"/>
              </a:defRPr>
            </a:lvl5pPr>
            <a:lvl6pPr>
              <a:defRPr sz="2700" b="1">
                <a:solidFill>
                  <a:srgbClr val="15324A"/>
                </a:solidFill>
                <a:latin typeface="Helvetica Neue"/>
                <a:ea typeface="Helvetica Neue"/>
                <a:cs typeface="Helvetica Neue"/>
              </a:defRPr>
            </a:lvl6pPr>
            <a:lvl7pPr>
              <a:defRPr sz="2700" b="1">
                <a:solidFill>
                  <a:srgbClr val="15324A"/>
                </a:solidFill>
                <a:latin typeface="Helvetica Neue"/>
                <a:ea typeface="Helvetica Neue"/>
                <a:cs typeface="Helvetica Neue"/>
              </a:defRPr>
            </a:lvl7pPr>
            <a:lvl8pPr>
              <a:defRPr sz="2700" b="1">
                <a:solidFill>
                  <a:srgbClr val="15324A"/>
                </a:solidFill>
                <a:latin typeface="Helvetica Neue"/>
                <a:ea typeface="Helvetica Neue"/>
                <a:cs typeface="Helvetica Neue"/>
              </a:defRPr>
            </a:lvl8pPr>
            <a:lvl9pPr>
              <a:defRPr sz="2700" b="1">
                <a:solidFill>
                  <a:srgbClr val="15324A"/>
                </a:solidFill>
                <a:latin typeface="Helvetica Neue"/>
                <a:ea typeface="Helvetica Neue"/>
                <a:cs typeface="Helvetica Neue"/>
              </a:defRPr>
            </a:lvl9pPr>
          </a:lstStyle>
          <a:p xmlns:a="http://schemas.openxmlformats.org/drawingml/2006/main">
            <a:pPr>
              <a:defRPr sz="2700" b="1">
                <a:solidFill>
                  <a:srgbClr val="15324A"/>
                </a:solidFill>
                <a:latin typeface="Helvetica Neue"/>
                <a:ea typeface="Helvetica Neue"/>
                <a:cs typeface="Helvetica Neue"/>
              </a:defRPr>
            </a:pPr>
            <a:r>
              <a:rPr sz="2700" b="1">
                <a:solidFill>
                  <a:srgbClr val="15324A"/>
                </a:solidFill>
                <a:latin typeface="Helvetica Neue"/>
                <a:ea typeface="Helvetica Neue"/>
                <a:cs typeface="Helvetica Neue"/>
              </a:rPr>
              <a:t>Blood Cell Preparations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E0E3ADE7-3975-49A7-9710-221743D80F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1257300"/>
            <a:ext cx="88582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91111"/>
          </a:bodyPr>
          <a:lstStyle xmlns:a="http://schemas.openxmlformats.org/drawingml/2006/main">
            <a:defPPr>
              <a:defRPr sz="1125" b="1">
                <a:solidFill>
                  <a:srgbClr val="237B82"/>
                </a:solidFill>
                <a:latin typeface="Helvetica Neue"/>
                <a:ea typeface="Helvetica Neue"/>
                <a:cs typeface="Helvetica Neue"/>
              </a:defRPr>
            </a:defPPr>
            <a:lvl1pPr>
              <a:defRPr sz="1125" b="1">
                <a:solidFill>
                  <a:srgbClr val="237B82"/>
                </a:solidFill>
                <a:latin typeface="Helvetica Neue"/>
                <a:ea typeface="Helvetica Neue"/>
                <a:cs typeface="Helvetica Neue"/>
              </a:defRPr>
            </a:lvl1pPr>
            <a:lvl2pPr>
              <a:defRPr sz="1125" b="1">
                <a:solidFill>
                  <a:srgbClr val="237B82"/>
                </a:solidFill>
                <a:latin typeface="Helvetica Neue"/>
                <a:ea typeface="Helvetica Neue"/>
                <a:cs typeface="Helvetica Neue"/>
              </a:defRPr>
            </a:lvl2pPr>
            <a:lvl3pPr>
              <a:defRPr sz="1125" b="1">
                <a:solidFill>
                  <a:srgbClr val="237B82"/>
                </a:solidFill>
                <a:latin typeface="Helvetica Neue"/>
                <a:ea typeface="Helvetica Neue"/>
                <a:cs typeface="Helvetica Neue"/>
              </a:defRPr>
            </a:lvl3pPr>
            <a:lvl4pPr>
              <a:defRPr sz="1125" b="1">
                <a:solidFill>
                  <a:srgbClr val="237B82"/>
                </a:solidFill>
                <a:latin typeface="Helvetica Neue"/>
                <a:ea typeface="Helvetica Neue"/>
                <a:cs typeface="Helvetica Neue"/>
              </a:defRPr>
            </a:lvl4pPr>
            <a:lvl5pPr>
              <a:defRPr sz="1125" b="1">
                <a:solidFill>
                  <a:srgbClr val="237B82"/>
                </a:solidFill>
                <a:latin typeface="Helvetica Neue"/>
                <a:ea typeface="Helvetica Neue"/>
                <a:cs typeface="Helvetica Neue"/>
              </a:defRPr>
            </a:lvl5pPr>
            <a:lvl6pPr>
              <a:defRPr sz="1125" b="1">
                <a:solidFill>
                  <a:srgbClr val="237B82"/>
                </a:solidFill>
                <a:latin typeface="Helvetica Neue"/>
                <a:ea typeface="Helvetica Neue"/>
                <a:cs typeface="Helvetica Neue"/>
              </a:defRPr>
            </a:lvl6pPr>
            <a:lvl7pPr>
              <a:defRPr sz="1125" b="1">
                <a:solidFill>
                  <a:srgbClr val="237B82"/>
                </a:solidFill>
                <a:latin typeface="Helvetica Neue"/>
                <a:ea typeface="Helvetica Neue"/>
                <a:cs typeface="Helvetica Neue"/>
              </a:defRPr>
            </a:lvl7pPr>
            <a:lvl8pPr>
              <a:defRPr sz="1125" b="1">
                <a:solidFill>
                  <a:srgbClr val="237B82"/>
                </a:solidFill>
                <a:latin typeface="Helvetica Neue"/>
                <a:ea typeface="Helvetica Neue"/>
                <a:cs typeface="Helvetica Neue"/>
              </a:defRPr>
            </a:lvl8pPr>
            <a:lvl9pPr>
              <a:defRPr sz="1125" b="1">
                <a:solidFill>
                  <a:srgbClr val="237B82"/>
                </a:solidFill>
                <a:latin typeface="Helvetica Neue"/>
                <a:ea typeface="Helvetica Neue"/>
                <a:cs typeface="Helvetica Neue"/>
              </a:defRPr>
            </a:lvl9pPr>
          </a:lstStyle>
          <a:p xmlns:a="http://schemas.openxmlformats.org/drawingml/2006/main">
            <a:pPr>
              <a:defRPr sz="1125" b="1">
                <a:solidFill>
                  <a:srgbClr val="237B82"/>
                </a:solidFill>
                <a:latin typeface="Helvetica Neue"/>
                <a:ea typeface="Helvetica Neue"/>
                <a:cs typeface="Helvetica Neue"/>
              </a:defRPr>
            </a:pPr>
            <a:r>
              <a:rPr sz="1125" b="1">
                <a:solidFill>
                  <a:srgbClr val="237B82"/>
                </a:solidFill>
                <a:latin typeface="Helvetica Neue"/>
                <a:ea typeface="Helvetica Neue"/>
                <a:cs typeface="Helvetica Neue"/>
              </a:rPr>
              <a:t>MODULE 4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41450139-10B2-4632-91A1-53A3B850CC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457200"/>
            <a:ext cx="5334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>
            <a:defPPr>
              <a:defRPr sz="1200" b="1">
                <a:solidFill>
                  <a:srgbClr val="237B82"/>
                </a:solidFill>
                <a:latin typeface="Helvetica Neue"/>
                <a:ea typeface="Helvetica Neue"/>
                <a:cs typeface="Helvetica Neue"/>
              </a:defRPr>
            </a:defPPr>
            <a:lvl1pPr>
              <a:defRPr sz="1200" b="1">
                <a:solidFill>
                  <a:srgbClr val="237B82"/>
                </a:solidFill>
                <a:latin typeface="Helvetica Neue"/>
                <a:ea typeface="Helvetica Neue"/>
                <a:cs typeface="Helvetica Neue"/>
              </a:defRPr>
            </a:lvl1pPr>
            <a:lvl2pPr>
              <a:defRPr sz="1200" b="1">
                <a:solidFill>
                  <a:srgbClr val="237B82"/>
                </a:solidFill>
                <a:latin typeface="Helvetica Neue"/>
                <a:ea typeface="Helvetica Neue"/>
                <a:cs typeface="Helvetica Neue"/>
              </a:defRPr>
            </a:lvl2pPr>
            <a:lvl3pPr>
              <a:defRPr sz="1200" b="1">
                <a:solidFill>
                  <a:srgbClr val="237B82"/>
                </a:solidFill>
                <a:latin typeface="Helvetica Neue"/>
                <a:ea typeface="Helvetica Neue"/>
                <a:cs typeface="Helvetica Neue"/>
              </a:defRPr>
            </a:lvl3pPr>
            <a:lvl4pPr>
              <a:defRPr sz="1200" b="1">
                <a:solidFill>
                  <a:srgbClr val="237B82"/>
                </a:solidFill>
                <a:latin typeface="Helvetica Neue"/>
                <a:ea typeface="Helvetica Neue"/>
                <a:cs typeface="Helvetica Neue"/>
              </a:defRPr>
            </a:lvl4pPr>
            <a:lvl5pPr>
              <a:defRPr sz="1200" b="1">
                <a:solidFill>
                  <a:srgbClr val="237B82"/>
                </a:solidFill>
                <a:latin typeface="Helvetica Neue"/>
                <a:ea typeface="Helvetica Neue"/>
                <a:cs typeface="Helvetica Neue"/>
              </a:defRPr>
            </a:lvl5pPr>
            <a:lvl6pPr>
              <a:defRPr sz="1200" b="1">
                <a:solidFill>
                  <a:srgbClr val="237B82"/>
                </a:solidFill>
                <a:latin typeface="Helvetica Neue"/>
                <a:ea typeface="Helvetica Neue"/>
                <a:cs typeface="Helvetica Neue"/>
              </a:defRPr>
            </a:lvl6pPr>
            <a:lvl7pPr>
              <a:defRPr sz="1200" b="1">
                <a:solidFill>
                  <a:srgbClr val="237B82"/>
                </a:solidFill>
                <a:latin typeface="Helvetica Neue"/>
                <a:ea typeface="Helvetica Neue"/>
                <a:cs typeface="Helvetica Neue"/>
              </a:defRPr>
            </a:lvl7pPr>
            <a:lvl8pPr>
              <a:defRPr sz="1200" b="1">
                <a:solidFill>
                  <a:srgbClr val="237B82"/>
                </a:solidFill>
                <a:latin typeface="Helvetica Neue"/>
                <a:ea typeface="Helvetica Neue"/>
                <a:cs typeface="Helvetica Neue"/>
              </a:defRPr>
            </a:lvl8pPr>
            <a:lvl9pPr>
              <a:defRPr sz="1200" b="1">
                <a:solidFill>
                  <a:srgbClr val="237B82"/>
                </a:solidFill>
                <a:latin typeface="Helvetica Neue"/>
                <a:ea typeface="Helvetica Neue"/>
                <a:cs typeface="Helvetica Neue"/>
              </a:defRPr>
            </a:lvl9pPr>
          </a:lstStyle>
          <a:p xmlns:a="http://schemas.openxmlformats.org/drawingml/2006/main">
            <a:pPr>
              <a:defRPr sz="1200" b="1">
                <a:solidFill>
                  <a:srgbClr val="237B82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00" b="1">
                <a:solidFill>
                  <a:srgbClr val="237B82"/>
                </a:solidFill>
                <a:latin typeface="Helvetica Neue"/>
                <a:ea typeface="Helvetica Neue"/>
                <a:cs typeface="Helvetica Neue"/>
              </a:rPr>
              <a:t>14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ADA159EA-6C7E-45B2-8E27-31DC5AB822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1762125"/>
            <a:ext cx="10287000" cy="409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>
            <a:defPPr>
              <a:defRPr sz="1875">
                <a:solidFill>
                  <a:srgbClr val="13212D"/>
                </a:solidFill>
                <a:latin typeface="Helvetica Neue"/>
                <a:ea typeface="Helvetica Neue"/>
                <a:cs typeface="Helvetica Neue"/>
              </a:defRPr>
            </a:defPPr>
            <a:lvl1pPr>
              <a:defRPr sz="1875">
                <a:solidFill>
                  <a:srgbClr val="13212D"/>
                </a:solidFill>
                <a:latin typeface="Helvetica Neue"/>
                <a:ea typeface="Helvetica Neue"/>
                <a:cs typeface="Helvetica Neue"/>
              </a:defRPr>
            </a:lvl1pPr>
            <a:lvl2pPr>
              <a:defRPr sz="1875">
                <a:solidFill>
                  <a:srgbClr val="13212D"/>
                </a:solidFill>
                <a:latin typeface="Helvetica Neue"/>
                <a:ea typeface="Helvetica Neue"/>
                <a:cs typeface="Helvetica Neue"/>
              </a:defRPr>
            </a:lvl2pPr>
            <a:lvl3pPr>
              <a:defRPr sz="1875">
                <a:solidFill>
                  <a:srgbClr val="13212D"/>
                </a:solidFill>
                <a:latin typeface="Helvetica Neue"/>
                <a:ea typeface="Helvetica Neue"/>
                <a:cs typeface="Helvetica Neue"/>
              </a:defRPr>
            </a:lvl3pPr>
            <a:lvl4pPr>
              <a:defRPr sz="1875">
                <a:solidFill>
                  <a:srgbClr val="13212D"/>
                </a:solidFill>
                <a:latin typeface="Helvetica Neue"/>
                <a:ea typeface="Helvetica Neue"/>
                <a:cs typeface="Helvetica Neue"/>
              </a:defRPr>
            </a:lvl4pPr>
            <a:lvl5pPr>
              <a:defRPr sz="1875">
                <a:solidFill>
                  <a:srgbClr val="13212D"/>
                </a:solidFill>
                <a:latin typeface="Helvetica Neue"/>
                <a:ea typeface="Helvetica Neue"/>
                <a:cs typeface="Helvetica Neue"/>
              </a:defRPr>
            </a:lvl5pPr>
            <a:lvl6pPr>
              <a:defRPr sz="1875">
                <a:solidFill>
                  <a:srgbClr val="13212D"/>
                </a:solidFill>
                <a:latin typeface="Helvetica Neue"/>
                <a:ea typeface="Helvetica Neue"/>
                <a:cs typeface="Helvetica Neue"/>
              </a:defRPr>
            </a:lvl6pPr>
            <a:lvl7pPr>
              <a:defRPr sz="1875">
                <a:solidFill>
                  <a:srgbClr val="13212D"/>
                </a:solidFill>
                <a:latin typeface="Helvetica Neue"/>
                <a:ea typeface="Helvetica Neue"/>
                <a:cs typeface="Helvetica Neue"/>
              </a:defRPr>
            </a:lvl7pPr>
            <a:lvl8pPr>
              <a:defRPr sz="1875">
                <a:solidFill>
                  <a:srgbClr val="13212D"/>
                </a:solidFill>
                <a:latin typeface="Helvetica Neue"/>
                <a:ea typeface="Helvetica Neue"/>
                <a:cs typeface="Helvetica Neue"/>
              </a:defRPr>
            </a:lvl8pPr>
            <a:lvl9pPr>
              <a:defRPr sz="1875">
                <a:solidFill>
                  <a:srgbClr val="13212D"/>
                </a:solidFill>
                <a:latin typeface="Helvetica Neue"/>
                <a:ea typeface="Helvetica Neue"/>
                <a:cs typeface="Helvetica Neue"/>
              </a:defRPr>
            </a:lvl9pPr>
          </a:lstStyle>
          <a:p xmlns:a="http://schemas.openxmlformats.org/drawingml/2006/main">
            <a:pPr marL="279400" indent="-127000">
              <a:spcAft>
                <a:spcPts val="1300"/>
              </a:spcAft>
              <a:buChar char="•"/>
              <a:defRPr sz="1875">
                <a:solidFill>
                  <a:srgbClr val="13212D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75">
                <a:solidFill>
                  <a:srgbClr val="13212D"/>
                </a:solidFill>
                <a:latin typeface="Helvetica Neue"/>
                <a:ea typeface="Helvetica Neue"/>
                <a:cs typeface="Helvetica Neue"/>
              </a:rPr>
              <a:t>Whole Blood Packed Red Blood Cells Frozen Red Cells - Leukocyte Depleted Packed Red Cells Plasma components Plasma Cryoprecipitate Platelets Granulocytes Human Serum Albumin Transfusion</a:t>
            </a:r>
          </a:p>
          <a:p xmlns:a="http://schemas.openxmlformats.org/drawingml/2006/main">
            <a:pPr marL="279400" indent="-127000">
              <a:spcAft>
                <a:spcPts val="1300"/>
              </a:spcAft>
              <a:buChar char="•"/>
              <a:defRPr sz="1875">
                <a:solidFill>
                  <a:srgbClr val="13212D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75">
                <a:solidFill>
                  <a:srgbClr val="13212D"/>
                </a:solidFill>
                <a:latin typeface="Helvetica Neue"/>
                <a:ea typeface="Helvetica Neue"/>
                <a:cs typeface="Helvetica Neue"/>
              </a:rPr>
              <a:t>Initiation Procedure Obtaining blood from the blood bank Blood slips/compatibility check Patient identification Blood filters Venipuncture Standards of administration Documentation</a:t>
            </a:r>
          </a:p>
          <a:p xmlns:a="http://schemas.openxmlformats.org/drawingml/2006/main">
            <a:pPr marL="279400" indent="-127000">
              <a:spcAft>
                <a:spcPts val="1300"/>
              </a:spcAft>
              <a:buChar char="•"/>
              <a:defRPr sz="1875">
                <a:solidFill>
                  <a:srgbClr val="13212D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75">
                <a:solidFill>
                  <a:srgbClr val="13212D"/>
                </a:solidFill>
                <a:latin typeface="Helvetica Neue"/>
                <a:ea typeface="Helvetica Neue"/>
                <a:cs typeface="Helvetica Neue"/>
              </a:rPr>
              <a:t>Transfusion Reactions Nursing interventions Hemolytic reaction Allergic reaction Febrile reaction Circulatory overload Air embolism Transfusion Therapy The ultimate responsibility of</a:t>
            </a:r>
          </a:p>
          <a:p xmlns:a="http://schemas.openxmlformats.org/drawingml/2006/main">
            <a:pPr marL="279400" indent="-127000">
              <a:spcAft>
                <a:spcPts val="1300"/>
              </a:spcAft>
              <a:buChar char="•"/>
              <a:defRPr sz="1875">
                <a:solidFill>
                  <a:srgbClr val="13212D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75">
                <a:solidFill>
                  <a:srgbClr val="13212D"/>
                </a:solidFill>
                <a:latin typeface="Helvetica Neue"/>
                <a:ea typeface="Helvetica Neue"/>
                <a:cs typeface="Helvetica Neue"/>
              </a:rPr>
              <a:t>the safe administration of blood and blood products is that of the nurse.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53FD428B-5461-43A5-A36D-985BF4FBF3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6115050"/>
            <a:ext cx="101917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>
            <a:defPPr>
              <a:defRPr sz="1125" b="1">
                <a:solidFill>
                  <a:srgbClr val="B94F3D"/>
                </a:solidFill>
                <a:latin typeface="Helvetica Neue"/>
                <a:ea typeface="Helvetica Neue"/>
                <a:cs typeface="Helvetica Neue"/>
              </a:defRPr>
            </a:defPPr>
            <a:lvl1pPr>
              <a:defRPr sz="1125" b="1">
                <a:solidFill>
                  <a:srgbClr val="B94F3D"/>
                </a:solidFill>
                <a:latin typeface="Helvetica Neue"/>
                <a:ea typeface="Helvetica Neue"/>
                <a:cs typeface="Helvetica Neue"/>
              </a:defRPr>
            </a:lvl1pPr>
            <a:lvl2pPr>
              <a:defRPr sz="1125" b="1">
                <a:solidFill>
                  <a:srgbClr val="B94F3D"/>
                </a:solidFill>
                <a:latin typeface="Helvetica Neue"/>
                <a:ea typeface="Helvetica Neue"/>
                <a:cs typeface="Helvetica Neue"/>
              </a:defRPr>
            </a:lvl2pPr>
            <a:lvl3pPr>
              <a:defRPr sz="1125" b="1">
                <a:solidFill>
                  <a:srgbClr val="B94F3D"/>
                </a:solidFill>
                <a:latin typeface="Helvetica Neue"/>
                <a:ea typeface="Helvetica Neue"/>
                <a:cs typeface="Helvetica Neue"/>
              </a:defRPr>
            </a:lvl3pPr>
            <a:lvl4pPr>
              <a:defRPr sz="1125" b="1">
                <a:solidFill>
                  <a:srgbClr val="B94F3D"/>
                </a:solidFill>
                <a:latin typeface="Helvetica Neue"/>
                <a:ea typeface="Helvetica Neue"/>
                <a:cs typeface="Helvetica Neue"/>
              </a:defRPr>
            </a:lvl4pPr>
            <a:lvl5pPr>
              <a:defRPr sz="1125" b="1">
                <a:solidFill>
                  <a:srgbClr val="B94F3D"/>
                </a:solidFill>
                <a:latin typeface="Helvetica Neue"/>
                <a:ea typeface="Helvetica Neue"/>
                <a:cs typeface="Helvetica Neue"/>
              </a:defRPr>
            </a:lvl5pPr>
            <a:lvl6pPr>
              <a:defRPr sz="1125" b="1">
                <a:solidFill>
                  <a:srgbClr val="B94F3D"/>
                </a:solidFill>
                <a:latin typeface="Helvetica Neue"/>
                <a:ea typeface="Helvetica Neue"/>
                <a:cs typeface="Helvetica Neue"/>
              </a:defRPr>
            </a:lvl6pPr>
            <a:lvl7pPr>
              <a:defRPr sz="1125" b="1">
                <a:solidFill>
                  <a:srgbClr val="B94F3D"/>
                </a:solidFill>
                <a:latin typeface="Helvetica Neue"/>
                <a:ea typeface="Helvetica Neue"/>
                <a:cs typeface="Helvetica Neue"/>
              </a:defRPr>
            </a:lvl7pPr>
            <a:lvl8pPr>
              <a:defRPr sz="1125" b="1">
                <a:solidFill>
                  <a:srgbClr val="B94F3D"/>
                </a:solidFill>
                <a:latin typeface="Helvetica Neue"/>
                <a:ea typeface="Helvetica Neue"/>
                <a:cs typeface="Helvetica Neue"/>
              </a:defRPr>
            </a:lvl8pPr>
            <a:lvl9pPr>
              <a:defRPr sz="1125" b="1">
                <a:solidFill>
                  <a:srgbClr val="B94F3D"/>
                </a:solidFill>
                <a:latin typeface="Helvetica Neue"/>
                <a:ea typeface="Helvetica Neue"/>
                <a:cs typeface="Helvetica Neue"/>
              </a:defRPr>
            </a:lvl9pPr>
          </a:lstStyle>
          <a:p xmlns:a="http://schemas.openxmlformats.org/drawingml/2006/main">
            <a:pPr>
              <a:defRPr sz="1125" b="1">
                <a:solidFill>
                  <a:srgbClr val="B94F3D"/>
                </a:solidFill>
                <a:latin typeface="Helvetica Neue"/>
                <a:ea typeface="Helvetica Neue"/>
                <a:cs typeface="Helvetica Neue"/>
              </a:defRPr>
            </a:pPr>
            <a:r>
              <a:rPr sz="1125" b="1">
                <a:solidFill>
                  <a:srgbClr val="B94F3D"/>
                </a:solidFill>
                <a:latin typeface="Helvetica Neue"/>
                <a:ea typeface="Helvetica Neue"/>
                <a:cs typeface="Helvetica Neue"/>
              </a:rPr>
              <a:t>Use current orders, facility policy, and authorized scope when applying this information.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FC17367E-5FA3-4C87-B457-587883A236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5772150"/>
            <a:ext cx="101917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97619"/>
          </a:bodyPr>
          <a:lstStyle xmlns:a="http://schemas.openxmlformats.org/drawingml/2006/main">
            <a:defPPr>
              <a:defRPr sz="1050" b="1">
                <a:solidFill>
                  <a:srgbClr val="237B82"/>
                </a:solidFill>
                <a:latin typeface="Helvetica Neue"/>
                <a:ea typeface="Helvetica Neue"/>
                <a:cs typeface="Helvetica Neue"/>
              </a:defRPr>
            </a:defPPr>
            <a:lvl1pPr>
              <a:defRPr sz="1050" b="1">
                <a:solidFill>
                  <a:srgbClr val="237B82"/>
                </a:solidFill>
                <a:latin typeface="Helvetica Neue"/>
                <a:ea typeface="Helvetica Neue"/>
                <a:cs typeface="Helvetica Neue"/>
              </a:defRPr>
            </a:lvl1pPr>
            <a:lvl2pPr>
              <a:defRPr sz="1050" b="1">
                <a:solidFill>
                  <a:srgbClr val="237B82"/>
                </a:solidFill>
                <a:latin typeface="Helvetica Neue"/>
                <a:ea typeface="Helvetica Neue"/>
                <a:cs typeface="Helvetica Neue"/>
              </a:defRPr>
            </a:lvl2pPr>
            <a:lvl3pPr>
              <a:defRPr sz="1050" b="1">
                <a:solidFill>
                  <a:srgbClr val="237B82"/>
                </a:solidFill>
                <a:latin typeface="Helvetica Neue"/>
                <a:ea typeface="Helvetica Neue"/>
                <a:cs typeface="Helvetica Neue"/>
              </a:defRPr>
            </a:lvl3pPr>
            <a:lvl4pPr>
              <a:defRPr sz="1050" b="1">
                <a:solidFill>
                  <a:srgbClr val="237B82"/>
                </a:solidFill>
                <a:latin typeface="Helvetica Neue"/>
                <a:ea typeface="Helvetica Neue"/>
                <a:cs typeface="Helvetica Neue"/>
              </a:defRPr>
            </a:lvl4pPr>
            <a:lvl5pPr>
              <a:defRPr sz="1050" b="1">
                <a:solidFill>
                  <a:srgbClr val="237B82"/>
                </a:solidFill>
                <a:latin typeface="Helvetica Neue"/>
                <a:ea typeface="Helvetica Neue"/>
                <a:cs typeface="Helvetica Neue"/>
              </a:defRPr>
            </a:lvl5pPr>
            <a:lvl6pPr>
              <a:defRPr sz="1050" b="1">
                <a:solidFill>
                  <a:srgbClr val="237B82"/>
                </a:solidFill>
                <a:latin typeface="Helvetica Neue"/>
                <a:ea typeface="Helvetica Neue"/>
                <a:cs typeface="Helvetica Neue"/>
              </a:defRPr>
            </a:lvl6pPr>
            <a:lvl7pPr>
              <a:defRPr sz="1050" b="1">
                <a:solidFill>
                  <a:srgbClr val="237B82"/>
                </a:solidFill>
                <a:latin typeface="Helvetica Neue"/>
                <a:ea typeface="Helvetica Neue"/>
                <a:cs typeface="Helvetica Neue"/>
              </a:defRPr>
            </a:lvl7pPr>
            <a:lvl8pPr>
              <a:defRPr sz="1050" b="1">
                <a:solidFill>
                  <a:srgbClr val="237B82"/>
                </a:solidFill>
                <a:latin typeface="Helvetica Neue"/>
                <a:ea typeface="Helvetica Neue"/>
                <a:cs typeface="Helvetica Neue"/>
              </a:defRPr>
            </a:lvl8pPr>
            <a:lvl9pPr>
              <a:defRPr sz="1050" b="1">
                <a:solidFill>
                  <a:srgbClr val="237B82"/>
                </a:solidFill>
                <a:latin typeface="Helvetica Neue"/>
                <a:ea typeface="Helvetica Neue"/>
                <a:cs typeface="Helvetica Neue"/>
              </a:defRPr>
            </a:lvl9pPr>
          </a:lstStyle>
          <a:p xmlns:a="http://schemas.openxmlformats.org/drawingml/2006/main">
            <a:pPr>
              <a:defRPr sz="1050" b="1">
                <a:solidFill>
                  <a:srgbClr val="237B82"/>
                </a:solidFill>
                <a:latin typeface="Helvetica Neue"/>
                <a:ea typeface="Helvetica Neue"/>
                <a:cs typeface="Helvetica Neue"/>
              </a:defRPr>
            </a:pPr>
            <a:r>
              <a:rPr sz="1050" b="1">
                <a:solidFill>
                  <a:srgbClr val="237B82"/>
                </a:solidFill>
                <a:latin typeface="Helvetica Neue"/>
                <a:ea typeface="Helvetica Neue"/>
                <a:cs typeface="Helvetica Neue"/>
              </a:rPr>
              <a:t>Manual page 52</a:t>
            </a:r>
          </a:p>
        </p:txBody>
      </p:sp>
    </p:spTree>
    <p:extLst>
      <p:ext uri="{BB962C8B-B14F-4D97-AF65-F5344CB8AC3E}">
        <p14:creationId xmlns:p14="http://schemas.microsoft.com/office/powerpoint/2010/main" val="175181036"/>
      </p:ext>
    </p:extLst>
  </p:cSld>
</p:sld>
</file>

<file path=ppt/slides/slide15.xml><?xml version="1.0" encoding="utf-8"?>
<p:sld xmlns:p="http://schemas.openxmlformats.org/presentationml/2006/main">
  <p:cSld>
    <p:bg>
      <p:bgPr>
        <a:solidFill xmlns:a="http://schemas.openxmlformats.org/drawingml/2006/main">
          <a:srgbClr val="F7F4EE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2480D62D-BC72-41A8-B191-AF1C6BCDC3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2095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37B82"/>
          </a:solidFill>
          <a:ln xmlns:a="http://schemas.openxmlformats.org/drawingml/2006/main" w="0">
            <a:solidFill>
              <a:srgbClr val="237B82"/>
            </a:solidFill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302A80D9-59E8-4C0B-A1EE-DB3E5541A5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00050"/>
            <a:ext cx="10001250" cy="819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>
            <a:defPPr>
              <a:defRPr sz="2700" b="1">
                <a:solidFill>
                  <a:srgbClr val="15324A"/>
                </a:solidFill>
                <a:latin typeface="Helvetica Neue"/>
                <a:ea typeface="Helvetica Neue"/>
                <a:cs typeface="Helvetica Neue"/>
              </a:defRPr>
            </a:defPPr>
            <a:lvl1pPr>
              <a:defRPr sz="2700" b="1">
                <a:solidFill>
                  <a:srgbClr val="15324A"/>
                </a:solidFill>
                <a:latin typeface="Helvetica Neue"/>
                <a:ea typeface="Helvetica Neue"/>
                <a:cs typeface="Helvetica Neue"/>
              </a:defRPr>
            </a:lvl1pPr>
            <a:lvl2pPr>
              <a:defRPr sz="2700" b="1">
                <a:solidFill>
                  <a:srgbClr val="15324A"/>
                </a:solidFill>
                <a:latin typeface="Helvetica Neue"/>
                <a:ea typeface="Helvetica Neue"/>
                <a:cs typeface="Helvetica Neue"/>
              </a:defRPr>
            </a:lvl2pPr>
            <a:lvl3pPr>
              <a:defRPr sz="2700" b="1">
                <a:solidFill>
                  <a:srgbClr val="15324A"/>
                </a:solidFill>
                <a:latin typeface="Helvetica Neue"/>
                <a:ea typeface="Helvetica Neue"/>
                <a:cs typeface="Helvetica Neue"/>
              </a:defRPr>
            </a:lvl3pPr>
            <a:lvl4pPr>
              <a:defRPr sz="2700" b="1">
                <a:solidFill>
                  <a:srgbClr val="15324A"/>
                </a:solidFill>
                <a:latin typeface="Helvetica Neue"/>
                <a:ea typeface="Helvetica Neue"/>
                <a:cs typeface="Helvetica Neue"/>
              </a:defRPr>
            </a:lvl4pPr>
            <a:lvl5pPr>
              <a:defRPr sz="2700" b="1">
                <a:solidFill>
                  <a:srgbClr val="15324A"/>
                </a:solidFill>
                <a:latin typeface="Helvetica Neue"/>
                <a:ea typeface="Helvetica Neue"/>
                <a:cs typeface="Helvetica Neue"/>
              </a:defRPr>
            </a:lvl5pPr>
            <a:lvl6pPr>
              <a:defRPr sz="2700" b="1">
                <a:solidFill>
                  <a:srgbClr val="15324A"/>
                </a:solidFill>
                <a:latin typeface="Helvetica Neue"/>
                <a:ea typeface="Helvetica Neue"/>
                <a:cs typeface="Helvetica Neue"/>
              </a:defRPr>
            </a:lvl6pPr>
            <a:lvl7pPr>
              <a:defRPr sz="2700" b="1">
                <a:solidFill>
                  <a:srgbClr val="15324A"/>
                </a:solidFill>
                <a:latin typeface="Helvetica Neue"/>
                <a:ea typeface="Helvetica Neue"/>
                <a:cs typeface="Helvetica Neue"/>
              </a:defRPr>
            </a:lvl7pPr>
            <a:lvl8pPr>
              <a:defRPr sz="2700" b="1">
                <a:solidFill>
                  <a:srgbClr val="15324A"/>
                </a:solidFill>
                <a:latin typeface="Helvetica Neue"/>
                <a:ea typeface="Helvetica Neue"/>
                <a:cs typeface="Helvetica Neue"/>
              </a:defRPr>
            </a:lvl8pPr>
            <a:lvl9pPr>
              <a:defRPr sz="2700" b="1">
                <a:solidFill>
                  <a:srgbClr val="15324A"/>
                </a:solidFill>
                <a:latin typeface="Helvetica Neue"/>
                <a:ea typeface="Helvetica Neue"/>
                <a:cs typeface="Helvetica Neue"/>
              </a:defRPr>
            </a:lvl9pPr>
          </a:lstStyle>
          <a:p xmlns:a="http://schemas.openxmlformats.org/drawingml/2006/main">
            <a:pPr>
              <a:defRPr sz="2700" b="1">
                <a:solidFill>
                  <a:srgbClr val="15324A"/>
                </a:solidFill>
                <a:latin typeface="Helvetica Neue"/>
                <a:ea typeface="Helvetica Neue"/>
                <a:cs typeface="Helvetica Neue"/>
              </a:defRPr>
            </a:pPr>
            <a:r>
              <a:rPr sz="2700" b="1">
                <a:solidFill>
                  <a:srgbClr val="15324A"/>
                </a:solidFill>
                <a:latin typeface="Helvetica Neue"/>
                <a:ea typeface="Helvetica Neue"/>
                <a:cs typeface="Helvetica Neue"/>
              </a:rPr>
              <a:t>Blood Cell Preparations — continued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F2509EC1-9D45-4936-9753-E243B4EE7D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1257300"/>
            <a:ext cx="88582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91111"/>
          </a:bodyPr>
          <a:lstStyle xmlns:a="http://schemas.openxmlformats.org/drawingml/2006/main">
            <a:defPPr>
              <a:defRPr sz="1125" b="1">
                <a:solidFill>
                  <a:srgbClr val="237B82"/>
                </a:solidFill>
                <a:latin typeface="Helvetica Neue"/>
                <a:ea typeface="Helvetica Neue"/>
                <a:cs typeface="Helvetica Neue"/>
              </a:defRPr>
            </a:defPPr>
            <a:lvl1pPr>
              <a:defRPr sz="1125" b="1">
                <a:solidFill>
                  <a:srgbClr val="237B82"/>
                </a:solidFill>
                <a:latin typeface="Helvetica Neue"/>
                <a:ea typeface="Helvetica Neue"/>
                <a:cs typeface="Helvetica Neue"/>
              </a:defRPr>
            </a:lvl1pPr>
            <a:lvl2pPr>
              <a:defRPr sz="1125" b="1">
                <a:solidFill>
                  <a:srgbClr val="237B82"/>
                </a:solidFill>
                <a:latin typeface="Helvetica Neue"/>
                <a:ea typeface="Helvetica Neue"/>
                <a:cs typeface="Helvetica Neue"/>
              </a:defRPr>
            </a:lvl2pPr>
            <a:lvl3pPr>
              <a:defRPr sz="1125" b="1">
                <a:solidFill>
                  <a:srgbClr val="237B82"/>
                </a:solidFill>
                <a:latin typeface="Helvetica Neue"/>
                <a:ea typeface="Helvetica Neue"/>
                <a:cs typeface="Helvetica Neue"/>
              </a:defRPr>
            </a:lvl3pPr>
            <a:lvl4pPr>
              <a:defRPr sz="1125" b="1">
                <a:solidFill>
                  <a:srgbClr val="237B82"/>
                </a:solidFill>
                <a:latin typeface="Helvetica Neue"/>
                <a:ea typeface="Helvetica Neue"/>
                <a:cs typeface="Helvetica Neue"/>
              </a:defRPr>
            </a:lvl4pPr>
            <a:lvl5pPr>
              <a:defRPr sz="1125" b="1">
                <a:solidFill>
                  <a:srgbClr val="237B82"/>
                </a:solidFill>
                <a:latin typeface="Helvetica Neue"/>
                <a:ea typeface="Helvetica Neue"/>
                <a:cs typeface="Helvetica Neue"/>
              </a:defRPr>
            </a:lvl5pPr>
            <a:lvl6pPr>
              <a:defRPr sz="1125" b="1">
                <a:solidFill>
                  <a:srgbClr val="237B82"/>
                </a:solidFill>
                <a:latin typeface="Helvetica Neue"/>
                <a:ea typeface="Helvetica Neue"/>
                <a:cs typeface="Helvetica Neue"/>
              </a:defRPr>
            </a:lvl6pPr>
            <a:lvl7pPr>
              <a:defRPr sz="1125" b="1">
                <a:solidFill>
                  <a:srgbClr val="237B82"/>
                </a:solidFill>
                <a:latin typeface="Helvetica Neue"/>
                <a:ea typeface="Helvetica Neue"/>
                <a:cs typeface="Helvetica Neue"/>
              </a:defRPr>
            </a:lvl7pPr>
            <a:lvl8pPr>
              <a:defRPr sz="1125" b="1">
                <a:solidFill>
                  <a:srgbClr val="237B82"/>
                </a:solidFill>
                <a:latin typeface="Helvetica Neue"/>
                <a:ea typeface="Helvetica Neue"/>
                <a:cs typeface="Helvetica Neue"/>
              </a:defRPr>
            </a:lvl8pPr>
            <a:lvl9pPr>
              <a:defRPr sz="1125" b="1">
                <a:solidFill>
                  <a:srgbClr val="237B82"/>
                </a:solidFill>
                <a:latin typeface="Helvetica Neue"/>
                <a:ea typeface="Helvetica Neue"/>
                <a:cs typeface="Helvetica Neue"/>
              </a:defRPr>
            </a:lvl9pPr>
          </a:lstStyle>
          <a:p xmlns:a="http://schemas.openxmlformats.org/drawingml/2006/main">
            <a:pPr>
              <a:defRPr sz="1125" b="1">
                <a:solidFill>
                  <a:srgbClr val="237B82"/>
                </a:solidFill>
                <a:latin typeface="Helvetica Neue"/>
                <a:ea typeface="Helvetica Neue"/>
                <a:cs typeface="Helvetica Neue"/>
              </a:defRPr>
            </a:pPr>
            <a:r>
              <a:rPr sz="1125" b="1">
                <a:solidFill>
                  <a:srgbClr val="237B82"/>
                </a:solidFill>
                <a:latin typeface="Helvetica Neue"/>
                <a:ea typeface="Helvetica Neue"/>
                <a:cs typeface="Helvetica Neue"/>
              </a:rPr>
              <a:t>MODULE 4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6722B091-F257-4B38-9081-9C8EDEAC1F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457200"/>
            <a:ext cx="5334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>
            <a:defPPr>
              <a:defRPr sz="1200" b="1">
                <a:solidFill>
                  <a:srgbClr val="237B82"/>
                </a:solidFill>
                <a:latin typeface="Helvetica Neue"/>
                <a:ea typeface="Helvetica Neue"/>
                <a:cs typeface="Helvetica Neue"/>
              </a:defRPr>
            </a:defPPr>
            <a:lvl1pPr>
              <a:defRPr sz="1200" b="1">
                <a:solidFill>
                  <a:srgbClr val="237B82"/>
                </a:solidFill>
                <a:latin typeface="Helvetica Neue"/>
                <a:ea typeface="Helvetica Neue"/>
                <a:cs typeface="Helvetica Neue"/>
              </a:defRPr>
            </a:lvl1pPr>
            <a:lvl2pPr>
              <a:defRPr sz="1200" b="1">
                <a:solidFill>
                  <a:srgbClr val="237B82"/>
                </a:solidFill>
                <a:latin typeface="Helvetica Neue"/>
                <a:ea typeface="Helvetica Neue"/>
                <a:cs typeface="Helvetica Neue"/>
              </a:defRPr>
            </a:lvl2pPr>
            <a:lvl3pPr>
              <a:defRPr sz="1200" b="1">
                <a:solidFill>
                  <a:srgbClr val="237B82"/>
                </a:solidFill>
                <a:latin typeface="Helvetica Neue"/>
                <a:ea typeface="Helvetica Neue"/>
                <a:cs typeface="Helvetica Neue"/>
              </a:defRPr>
            </a:lvl3pPr>
            <a:lvl4pPr>
              <a:defRPr sz="1200" b="1">
                <a:solidFill>
                  <a:srgbClr val="237B82"/>
                </a:solidFill>
                <a:latin typeface="Helvetica Neue"/>
                <a:ea typeface="Helvetica Neue"/>
                <a:cs typeface="Helvetica Neue"/>
              </a:defRPr>
            </a:lvl4pPr>
            <a:lvl5pPr>
              <a:defRPr sz="1200" b="1">
                <a:solidFill>
                  <a:srgbClr val="237B82"/>
                </a:solidFill>
                <a:latin typeface="Helvetica Neue"/>
                <a:ea typeface="Helvetica Neue"/>
                <a:cs typeface="Helvetica Neue"/>
              </a:defRPr>
            </a:lvl5pPr>
            <a:lvl6pPr>
              <a:defRPr sz="1200" b="1">
                <a:solidFill>
                  <a:srgbClr val="237B82"/>
                </a:solidFill>
                <a:latin typeface="Helvetica Neue"/>
                <a:ea typeface="Helvetica Neue"/>
                <a:cs typeface="Helvetica Neue"/>
              </a:defRPr>
            </a:lvl6pPr>
            <a:lvl7pPr>
              <a:defRPr sz="1200" b="1">
                <a:solidFill>
                  <a:srgbClr val="237B82"/>
                </a:solidFill>
                <a:latin typeface="Helvetica Neue"/>
                <a:ea typeface="Helvetica Neue"/>
                <a:cs typeface="Helvetica Neue"/>
              </a:defRPr>
            </a:lvl7pPr>
            <a:lvl8pPr>
              <a:defRPr sz="1200" b="1">
                <a:solidFill>
                  <a:srgbClr val="237B82"/>
                </a:solidFill>
                <a:latin typeface="Helvetica Neue"/>
                <a:ea typeface="Helvetica Neue"/>
                <a:cs typeface="Helvetica Neue"/>
              </a:defRPr>
            </a:lvl8pPr>
            <a:lvl9pPr>
              <a:defRPr sz="1200" b="1">
                <a:solidFill>
                  <a:srgbClr val="237B82"/>
                </a:solidFill>
                <a:latin typeface="Helvetica Neue"/>
                <a:ea typeface="Helvetica Neue"/>
                <a:cs typeface="Helvetica Neue"/>
              </a:defRPr>
            </a:lvl9pPr>
          </a:lstStyle>
          <a:p xmlns:a="http://schemas.openxmlformats.org/drawingml/2006/main">
            <a:pPr>
              <a:defRPr sz="1200" b="1">
                <a:solidFill>
                  <a:srgbClr val="237B82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00" b="1">
                <a:solidFill>
                  <a:srgbClr val="237B82"/>
                </a:solidFill>
                <a:latin typeface="Helvetica Neue"/>
                <a:ea typeface="Helvetica Neue"/>
                <a:cs typeface="Helvetica Neue"/>
              </a:rPr>
              <a:t>15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4A934EE4-2A07-444B-9A0E-D2ADBDE931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1762125"/>
            <a:ext cx="10287000" cy="409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>
            <a:defPPr>
              <a:defRPr sz="1875">
                <a:solidFill>
                  <a:srgbClr val="13212D"/>
                </a:solidFill>
                <a:latin typeface="Helvetica Neue"/>
                <a:ea typeface="Helvetica Neue"/>
                <a:cs typeface="Helvetica Neue"/>
              </a:defRPr>
            </a:defPPr>
            <a:lvl1pPr>
              <a:defRPr sz="1875">
                <a:solidFill>
                  <a:srgbClr val="13212D"/>
                </a:solidFill>
                <a:latin typeface="Helvetica Neue"/>
                <a:ea typeface="Helvetica Neue"/>
                <a:cs typeface="Helvetica Neue"/>
              </a:defRPr>
            </a:lvl1pPr>
            <a:lvl2pPr>
              <a:defRPr sz="1875">
                <a:solidFill>
                  <a:srgbClr val="13212D"/>
                </a:solidFill>
                <a:latin typeface="Helvetica Neue"/>
                <a:ea typeface="Helvetica Neue"/>
                <a:cs typeface="Helvetica Neue"/>
              </a:defRPr>
            </a:lvl2pPr>
            <a:lvl3pPr>
              <a:defRPr sz="1875">
                <a:solidFill>
                  <a:srgbClr val="13212D"/>
                </a:solidFill>
                <a:latin typeface="Helvetica Neue"/>
                <a:ea typeface="Helvetica Neue"/>
                <a:cs typeface="Helvetica Neue"/>
              </a:defRPr>
            </a:lvl3pPr>
            <a:lvl4pPr>
              <a:defRPr sz="1875">
                <a:solidFill>
                  <a:srgbClr val="13212D"/>
                </a:solidFill>
                <a:latin typeface="Helvetica Neue"/>
                <a:ea typeface="Helvetica Neue"/>
                <a:cs typeface="Helvetica Neue"/>
              </a:defRPr>
            </a:lvl4pPr>
            <a:lvl5pPr>
              <a:defRPr sz="1875">
                <a:solidFill>
                  <a:srgbClr val="13212D"/>
                </a:solidFill>
                <a:latin typeface="Helvetica Neue"/>
                <a:ea typeface="Helvetica Neue"/>
                <a:cs typeface="Helvetica Neue"/>
              </a:defRPr>
            </a:lvl5pPr>
            <a:lvl6pPr>
              <a:defRPr sz="1875">
                <a:solidFill>
                  <a:srgbClr val="13212D"/>
                </a:solidFill>
                <a:latin typeface="Helvetica Neue"/>
                <a:ea typeface="Helvetica Neue"/>
                <a:cs typeface="Helvetica Neue"/>
              </a:defRPr>
            </a:lvl6pPr>
            <a:lvl7pPr>
              <a:defRPr sz="1875">
                <a:solidFill>
                  <a:srgbClr val="13212D"/>
                </a:solidFill>
                <a:latin typeface="Helvetica Neue"/>
                <a:ea typeface="Helvetica Neue"/>
                <a:cs typeface="Helvetica Neue"/>
              </a:defRPr>
            </a:lvl7pPr>
            <a:lvl8pPr>
              <a:defRPr sz="1875">
                <a:solidFill>
                  <a:srgbClr val="13212D"/>
                </a:solidFill>
                <a:latin typeface="Helvetica Neue"/>
                <a:ea typeface="Helvetica Neue"/>
                <a:cs typeface="Helvetica Neue"/>
              </a:defRPr>
            </a:lvl8pPr>
            <a:lvl9pPr>
              <a:defRPr sz="1875">
                <a:solidFill>
                  <a:srgbClr val="13212D"/>
                </a:solidFill>
                <a:latin typeface="Helvetica Neue"/>
                <a:ea typeface="Helvetica Neue"/>
                <a:cs typeface="Helvetica Neue"/>
              </a:defRPr>
            </a:lvl9pPr>
          </a:lstStyle>
          <a:p xmlns:a="http://schemas.openxmlformats.org/drawingml/2006/main">
            <a:pPr marL="279400" indent="-127000">
              <a:spcAft>
                <a:spcPts val="1300"/>
              </a:spcAft>
              <a:buChar char="•"/>
              <a:defRPr sz="1875">
                <a:solidFill>
                  <a:srgbClr val="13212D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75">
                <a:solidFill>
                  <a:srgbClr val="13212D"/>
                </a:solidFill>
                <a:latin typeface="Helvetica Neue"/>
                <a:ea typeface="Helvetica Neue"/>
                <a:cs typeface="Helvetica Neue"/>
              </a:rPr>
              <a:t>From the comparison of donor and recipient blood type to the proper identification of the patient, safe transfusion of blood requires a basic knowledge of the various blood components</a:t>
            </a:r>
          </a:p>
          <a:p xmlns:a="http://schemas.openxmlformats.org/drawingml/2006/main">
            <a:pPr marL="279400" indent="-127000">
              <a:spcAft>
                <a:spcPts val="1300"/>
              </a:spcAft>
              <a:buChar char="•"/>
              <a:defRPr sz="1875">
                <a:solidFill>
                  <a:srgbClr val="13212D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75">
                <a:solidFill>
                  <a:srgbClr val="13212D"/>
                </a:solidFill>
                <a:latin typeface="Helvetica Neue"/>
                <a:ea typeface="Helvetica Neue"/>
                <a:cs typeface="Helvetica Neue"/>
              </a:rPr>
              <a:t>available, indications for their use, and recognition of complications.</a:t>
            </a:r>
          </a:p>
          <a:p xmlns:a="http://schemas.openxmlformats.org/drawingml/2006/main">
            <a:pPr marL="279400" indent="-127000">
              <a:spcAft>
                <a:spcPts val="1300"/>
              </a:spcAft>
              <a:buChar char="•"/>
              <a:defRPr sz="1875">
                <a:solidFill>
                  <a:srgbClr val="13212D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75">
                <a:solidFill>
                  <a:srgbClr val="13212D"/>
                </a:solidFill>
                <a:latin typeface="Helvetica Neue"/>
                <a:ea typeface="Helvetica Neue"/>
                <a:cs typeface="Helvetica Neue"/>
              </a:rPr>
              <a:t>The administration of blood and blood products has become a vital part of patient care.</a:t>
            </a:r>
          </a:p>
          <a:p xmlns:a="http://schemas.openxmlformats.org/drawingml/2006/main">
            <a:pPr marL="279400" indent="-127000">
              <a:spcAft>
                <a:spcPts val="1300"/>
              </a:spcAft>
              <a:buChar char="•"/>
              <a:defRPr sz="1875">
                <a:solidFill>
                  <a:srgbClr val="13212D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75">
                <a:solidFill>
                  <a:srgbClr val="13212D"/>
                </a:solidFill>
                <a:latin typeface="Helvetica Neue"/>
                <a:ea typeface="Helvetica Neue"/>
                <a:cs typeface="Helvetica Neue"/>
              </a:rPr>
              <a:t>Transfusion therapy demands a qualified and competent staff with the experience to safely administer these products without untoward effects.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7BCCFE2E-F36F-464A-9CCD-EC092D4C69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6115050"/>
            <a:ext cx="101917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>
            <a:defPPr>
              <a:defRPr sz="1125" b="1">
                <a:solidFill>
                  <a:srgbClr val="B94F3D"/>
                </a:solidFill>
                <a:latin typeface="Helvetica Neue"/>
                <a:ea typeface="Helvetica Neue"/>
                <a:cs typeface="Helvetica Neue"/>
              </a:defRPr>
            </a:defPPr>
            <a:lvl1pPr>
              <a:defRPr sz="1125" b="1">
                <a:solidFill>
                  <a:srgbClr val="B94F3D"/>
                </a:solidFill>
                <a:latin typeface="Helvetica Neue"/>
                <a:ea typeface="Helvetica Neue"/>
                <a:cs typeface="Helvetica Neue"/>
              </a:defRPr>
            </a:lvl1pPr>
            <a:lvl2pPr>
              <a:defRPr sz="1125" b="1">
                <a:solidFill>
                  <a:srgbClr val="B94F3D"/>
                </a:solidFill>
                <a:latin typeface="Helvetica Neue"/>
                <a:ea typeface="Helvetica Neue"/>
                <a:cs typeface="Helvetica Neue"/>
              </a:defRPr>
            </a:lvl2pPr>
            <a:lvl3pPr>
              <a:defRPr sz="1125" b="1">
                <a:solidFill>
                  <a:srgbClr val="B94F3D"/>
                </a:solidFill>
                <a:latin typeface="Helvetica Neue"/>
                <a:ea typeface="Helvetica Neue"/>
                <a:cs typeface="Helvetica Neue"/>
              </a:defRPr>
            </a:lvl3pPr>
            <a:lvl4pPr>
              <a:defRPr sz="1125" b="1">
                <a:solidFill>
                  <a:srgbClr val="B94F3D"/>
                </a:solidFill>
                <a:latin typeface="Helvetica Neue"/>
                <a:ea typeface="Helvetica Neue"/>
                <a:cs typeface="Helvetica Neue"/>
              </a:defRPr>
            </a:lvl4pPr>
            <a:lvl5pPr>
              <a:defRPr sz="1125" b="1">
                <a:solidFill>
                  <a:srgbClr val="B94F3D"/>
                </a:solidFill>
                <a:latin typeface="Helvetica Neue"/>
                <a:ea typeface="Helvetica Neue"/>
                <a:cs typeface="Helvetica Neue"/>
              </a:defRPr>
            </a:lvl5pPr>
            <a:lvl6pPr>
              <a:defRPr sz="1125" b="1">
                <a:solidFill>
                  <a:srgbClr val="B94F3D"/>
                </a:solidFill>
                <a:latin typeface="Helvetica Neue"/>
                <a:ea typeface="Helvetica Neue"/>
                <a:cs typeface="Helvetica Neue"/>
              </a:defRPr>
            </a:lvl6pPr>
            <a:lvl7pPr>
              <a:defRPr sz="1125" b="1">
                <a:solidFill>
                  <a:srgbClr val="B94F3D"/>
                </a:solidFill>
                <a:latin typeface="Helvetica Neue"/>
                <a:ea typeface="Helvetica Neue"/>
                <a:cs typeface="Helvetica Neue"/>
              </a:defRPr>
            </a:lvl7pPr>
            <a:lvl8pPr>
              <a:defRPr sz="1125" b="1">
                <a:solidFill>
                  <a:srgbClr val="B94F3D"/>
                </a:solidFill>
                <a:latin typeface="Helvetica Neue"/>
                <a:ea typeface="Helvetica Neue"/>
                <a:cs typeface="Helvetica Neue"/>
              </a:defRPr>
            </a:lvl8pPr>
            <a:lvl9pPr>
              <a:defRPr sz="1125" b="1">
                <a:solidFill>
                  <a:srgbClr val="B94F3D"/>
                </a:solidFill>
                <a:latin typeface="Helvetica Neue"/>
                <a:ea typeface="Helvetica Neue"/>
                <a:cs typeface="Helvetica Neue"/>
              </a:defRPr>
            </a:lvl9pPr>
          </a:lstStyle>
          <a:p xmlns:a="http://schemas.openxmlformats.org/drawingml/2006/main">
            <a:pPr>
              <a:defRPr sz="1125" b="1">
                <a:solidFill>
                  <a:srgbClr val="B94F3D"/>
                </a:solidFill>
                <a:latin typeface="Helvetica Neue"/>
                <a:ea typeface="Helvetica Neue"/>
                <a:cs typeface="Helvetica Neue"/>
              </a:defRPr>
            </a:pPr>
            <a:r>
              <a:rPr sz="1125" b="1">
                <a:solidFill>
                  <a:srgbClr val="B94F3D"/>
                </a:solidFill>
                <a:latin typeface="Helvetica Neue"/>
                <a:ea typeface="Helvetica Neue"/>
                <a:cs typeface="Helvetica Neue"/>
              </a:rPr>
              <a:t>Use current orders, facility policy, and authorized scope when applying this information.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65F7C303-FC17-4C19-813B-0611DBA4BE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5772150"/>
            <a:ext cx="101917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97619"/>
          </a:bodyPr>
          <a:lstStyle xmlns:a="http://schemas.openxmlformats.org/drawingml/2006/main">
            <a:defPPr>
              <a:defRPr sz="1050" b="1">
                <a:solidFill>
                  <a:srgbClr val="237B82"/>
                </a:solidFill>
                <a:latin typeface="Helvetica Neue"/>
                <a:ea typeface="Helvetica Neue"/>
                <a:cs typeface="Helvetica Neue"/>
              </a:defRPr>
            </a:defPPr>
            <a:lvl1pPr>
              <a:defRPr sz="1050" b="1">
                <a:solidFill>
                  <a:srgbClr val="237B82"/>
                </a:solidFill>
                <a:latin typeface="Helvetica Neue"/>
                <a:ea typeface="Helvetica Neue"/>
                <a:cs typeface="Helvetica Neue"/>
              </a:defRPr>
            </a:lvl1pPr>
            <a:lvl2pPr>
              <a:defRPr sz="1050" b="1">
                <a:solidFill>
                  <a:srgbClr val="237B82"/>
                </a:solidFill>
                <a:latin typeface="Helvetica Neue"/>
                <a:ea typeface="Helvetica Neue"/>
                <a:cs typeface="Helvetica Neue"/>
              </a:defRPr>
            </a:lvl2pPr>
            <a:lvl3pPr>
              <a:defRPr sz="1050" b="1">
                <a:solidFill>
                  <a:srgbClr val="237B82"/>
                </a:solidFill>
                <a:latin typeface="Helvetica Neue"/>
                <a:ea typeface="Helvetica Neue"/>
                <a:cs typeface="Helvetica Neue"/>
              </a:defRPr>
            </a:lvl3pPr>
            <a:lvl4pPr>
              <a:defRPr sz="1050" b="1">
                <a:solidFill>
                  <a:srgbClr val="237B82"/>
                </a:solidFill>
                <a:latin typeface="Helvetica Neue"/>
                <a:ea typeface="Helvetica Neue"/>
                <a:cs typeface="Helvetica Neue"/>
              </a:defRPr>
            </a:lvl4pPr>
            <a:lvl5pPr>
              <a:defRPr sz="1050" b="1">
                <a:solidFill>
                  <a:srgbClr val="237B82"/>
                </a:solidFill>
                <a:latin typeface="Helvetica Neue"/>
                <a:ea typeface="Helvetica Neue"/>
                <a:cs typeface="Helvetica Neue"/>
              </a:defRPr>
            </a:lvl5pPr>
            <a:lvl6pPr>
              <a:defRPr sz="1050" b="1">
                <a:solidFill>
                  <a:srgbClr val="237B82"/>
                </a:solidFill>
                <a:latin typeface="Helvetica Neue"/>
                <a:ea typeface="Helvetica Neue"/>
                <a:cs typeface="Helvetica Neue"/>
              </a:defRPr>
            </a:lvl6pPr>
            <a:lvl7pPr>
              <a:defRPr sz="1050" b="1">
                <a:solidFill>
                  <a:srgbClr val="237B82"/>
                </a:solidFill>
                <a:latin typeface="Helvetica Neue"/>
                <a:ea typeface="Helvetica Neue"/>
                <a:cs typeface="Helvetica Neue"/>
              </a:defRPr>
            </a:lvl7pPr>
            <a:lvl8pPr>
              <a:defRPr sz="1050" b="1">
                <a:solidFill>
                  <a:srgbClr val="237B82"/>
                </a:solidFill>
                <a:latin typeface="Helvetica Neue"/>
                <a:ea typeface="Helvetica Neue"/>
                <a:cs typeface="Helvetica Neue"/>
              </a:defRPr>
            </a:lvl8pPr>
            <a:lvl9pPr>
              <a:defRPr sz="1050" b="1">
                <a:solidFill>
                  <a:srgbClr val="237B82"/>
                </a:solidFill>
                <a:latin typeface="Helvetica Neue"/>
                <a:ea typeface="Helvetica Neue"/>
                <a:cs typeface="Helvetica Neue"/>
              </a:defRPr>
            </a:lvl9pPr>
          </a:lstStyle>
          <a:p xmlns:a="http://schemas.openxmlformats.org/drawingml/2006/main">
            <a:pPr>
              <a:defRPr sz="1050" b="1">
                <a:solidFill>
                  <a:srgbClr val="237B82"/>
                </a:solidFill>
                <a:latin typeface="Helvetica Neue"/>
                <a:ea typeface="Helvetica Neue"/>
                <a:cs typeface="Helvetica Neue"/>
              </a:defRPr>
            </a:pPr>
            <a:r>
              <a:rPr sz="1050" b="1">
                <a:solidFill>
                  <a:srgbClr val="237B82"/>
                </a:solidFill>
                <a:latin typeface="Helvetica Neue"/>
                <a:ea typeface="Helvetica Neue"/>
                <a:cs typeface="Helvetica Neue"/>
              </a:rPr>
              <a:t>Manual page 52</a:t>
            </a:r>
          </a:p>
        </p:txBody>
      </p:sp>
    </p:spTree>
    <p:extLst>
      <p:ext uri="{BB962C8B-B14F-4D97-AF65-F5344CB8AC3E}">
        <p14:creationId xmlns:p14="http://schemas.microsoft.com/office/powerpoint/2010/main" val="600025430"/>
      </p:ext>
    </p:extLst>
  </p:cSld>
</p:sld>
</file>

<file path=ppt/slides/slide16.xml><?xml version="1.0" encoding="utf-8"?>
<p:sld xmlns:p="http://schemas.openxmlformats.org/presentationml/2006/main">
  <p:cSld>
    <p:bg>
      <p:bgPr>
        <a:solidFill xmlns:a="http://schemas.openxmlformats.org/drawingml/2006/main">
          <a:srgbClr val="F7F4EE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BE268412-DDBB-454B-A3C4-FECDFE5C99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2095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37B82"/>
          </a:solidFill>
          <a:ln xmlns:a="http://schemas.openxmlformats.org/drawingml/2006/main" w="0">
            <a:solidFill>
              <a:srgbClr val="237B82"/>
            </a:solidFill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CACD9725-AD12-43E9-8DF4-68AE1C3F78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00050"/>
            <a:ext cx="10001250" cy="819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>
            <a:defPPr>
              <a:defRPr sz="2700" b="1">
                <a:solidFill>
                  <a:srgbClr val="15324A"/>
                </a:solidFill>
                <a:latin typeface="Helvetica Neue"/>
                <a:ea typeface="Helvetica Neue"/>
                <a:cs typeface="Helvetica Neue"/>
              </a:defRPr>
            </a:defPPr>
            <a:lvl1pPr>
              <a:defRPr sz="2700" b="1">
                <a:solidFill>
                  <a:srgbClr val="15324A"/>
                </a:solidFill>
                <a:latin typeface="Helvetica Neue"/>
                <a:ea typeface="Helvetica Neue"/>
                <a:cs typeface="Helvetica Neue"/>
              </a:defRPr>
            </a:lvl1pPr>
            <a:lvl2pPr>
              <a:defRPr sz="2700" b="1">
                <a:solidFill>
                  <a:srgbClr val="15324A"/>
                </a:solidFill>
                <a:latin typeface="Helvetica Neue"/>
                <a:ea typeface="Helvetica Neue"/>
                <a:cs typeface="Helvetica Neue"/>
              </a:defRPr>
            </a:lvl2pPr>
            <a:lvl3pPr>
              <a:defRPr sz="2700" b="1">
                <a:solidFill>
                  <a:srgbClr val="15324A"/>
                </a:solidFill>
                <a:latin typeface="Helvetica Neue"/>
                <a:ea typeface="Helvetica Neue"/>
                <a:cs typeface="Helvetica Neue"/>
              </a:defRPr>
            </a:lvl3pPr>
            <a:lvl4pPr>
              <a:defRPr sz="2700" b="1">
                <a:solidFill>
                  <a:srgbClr val="15324A"/>
                </a:solidFill>
                <a:latin typeface="Helvetica Neue"/>
                <a:ea typeface="Helvetica Neue"/>
                <a:cs typeface="Helvetica Neue"/>
              </a:defRPr>
            </a:lvl4pPr>
            <a:lvl5pPr>
              <a:defRPr sz="2700" b="1">
                <a:solidFill>
                  <a:srgbClr val="15324A"/>
                </a:solidFill>
                <a:latin typeface="Helvetica Neue"/>
                <a:ea typeface="Helvetica Neue"/>
                <a:cs typeface="Helvetica Neue"/>
              </a:defRPr>
            </a:lvl5pPr>
            <a:lvl6pPr>
              <a:defRPr sz="2700" b="1">
                <a:solidFill>
                  <a:srgbClr val="15324A"/>
                </a:solidFill>
                <a:latin typeface="Helvetica Neue"/>
                <a:ea typeface="Helvetica Neue"/>
                <a:cs typeface="Helvetica Neue"/>
              </a:defRPr>
            </a:lvl6pPr>
            <a:lvl7pPr>
              <a:defRPr sz="2700" b="1">
                <a:solidFill>
                  <a:srgbClr val="15324A"/>
                </a:solidFill>
                <a:latin typeface="Helvetica Neue"/>
                <a:ea typeface="Helvetica Neue"/>
                <a:cs typeface="Helvetica Neue"/>
              </a:defRPr>
            </a:lvl7pPr>
            <a:lvl8pPr>
              <a:defRPr sz="2700" b="1">
                <a:solidFill>
                  <a:srgbClr val="15324A"/>
                </a:solidFill>
                <a:latin typeface="Helvetica Neue"/>
                <a:ea typeface="Helvetica Neue"/>
                <a:cs typeface="Helvetica Neue"/>
              </a:defRPr>
            </a:lvl8pPr>
            <a:lvl9pPr>
              <a:defRPr sz="2700" b="1">
                <a:solidFill>
                  <a:srgbClr val="15324A"/>
                </a:solidFill>
                <a:latin typeface="Helvetica Neue"/>
                <a:ea typeface="Helvetica Neue"/>
                <a:cs typeface="Helvetica Neue"/>
              </a:defRPr>
            </a:lvl9pPr>
          </a:lstStyle>
          <a:p xmlns:a="http://schemas.openxmlformats.org/drawingml/2006/main">
            <a:pPr>
              <a:defRPr sz="2700" b="1">
                <a:solidFill>
                  <a:srgbClr val="15324A"/>
                </a:solidFill>
                <a:latin typeface="Helvetica Neue"/>
                <a:ea typeface="Helvetica Neue"/>
                <a:cs typeface="Helvetica Neue"/>
              </a:defRPr>
            </a:pPr>
            <a:r>
              <a:rPr sz="2700" b="1">
                <a:solidFill>
                  <a:srgbClr val="15324A"/>
                </a:solidFill>
                <a:latin typeface="Helvetica Neue"/>
                <a:ea typeface="Helvetica Neue"/>
                <a:cs typeface="Helvetica Neue"/>
              </a:rPr>
              <a:t>Objectives of Transfusion Therapy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F0DFB516-FB73-4F64-8503-3EF85B364C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1257300"/>
            <a:ext cx="88582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91111"/>
          </a:bodyPr>
          <a:lstStyle xmlns:a="http://schemas.openxmlformats.org/drawingml/2006/main">
            <a:defPPr>
              <a:defRPr sz="1125" b="1">
                <a:solidFill>
                  <a:srgbClr val="237B82"/>
                </a:solidFill>
                <a:latin typeface="Helvetica Neue"/>
                <a:ea typeface="Helvetica Neue"/>
                <a:cs typeface="Helvetica Neue"/>
              </a:defRPr>
            </a:defPPr>
            <a:lvl1pPr>
              <a:defRPr sz="1125" b="1">
                <a:solidFill>
                  <a:srgbClr val="237B82"/>
                </a:solidFill>
                <a:latin typeface="Helvetica Neue"/>
                <a:ea typeface="Helvetica Neue"/>
                <a:cs typeface="Helvetica Neue"/>
              </a:defRPr>
            </a:lvl1pPr>
            <a:lvl2pPr>
              <a:defRPr sz="1125" b="1">
                <a:solidFill>
                  <a:srgbClr val="237B82"/>
                </a:solidFill>
                <a:latin typeface="Helvetica Neue"/>
                <a:ea typeface="Helvetica Neue"/>
                <a:cs typeface="Helvetica Neue"/>
              </a:defRPr>
            </a:lvl2pPr>
            <a:lvl3pPr>
              <a:defRPr sz="1125" b="1">
                <a:solidFill>
                  <a:srgbClr val="237B82"/>
                </a:solidFill>
                <a:latin typeface="Helvetica Neue"/>
                <a:ea typeface="Helvetica Neue"/>
                <a:cs typeface="Helvetica Neue"/>
              </a:defRPr>
            </a:lvl3pPr>
            <a:lvl4pPr>
              <a:defRPr sz="1125" b="1">
                <a:solidFill>
                  <a:srgbClr val="237B82"/>
                </a:solidFill>
                <a:latin typeface="Helvetica Neue"/>
                <a:ea typeface="Helvetica Neue"/>
                <a:cs typeface="Helvetica Neue"/>
              </a:defRPr>
            </a:lvl4pPr>
            <a:lvl5pPr>
              <a:defRPr sz="1125" b="1">
                <a:solidFill>
                  <a:srgbClr val="237B82"/>
                </a:solidFill>
                <a:latin typeface="Helvetica Neue"/>
                <a:ea typeface="Helvetica Neue"/>
                <a:cs typeface="Helvetica Neue"/>
              </a:defRPr>
            </a:lvl5pPr>
            <a:lvl6pPr>
              <a:defRPr sz="1125" b="1">
                <a:solidFill>
                  <a:srgbClr val="237B82"/>
                </a:solidFill>
                <a:latin typeface="Helvetica Neue"/>
                <a:ea typeface="Helvetica Neue"/>
                <a:cs typeface="Helvetica Neue"/>
              </a:defRPr>
            </a:lvl6pPr>
            <a:lvl7pPr>
              <a:defRPr sz="1125" b="1">
                <a:solidFill>
                  <a:srgbClr val="237B82"/>
                </a:solidFill>
                <a:latin typeface="Helvetica Neue"/>
                <a:ea typeface="Helvetica Neue"/>
                <a:cs typeface="Helvetica Neue"/>
              </a:defRPr>
            </a:lvl7pPr>
            <a:lvl8pPr>
              <a:defRPr sz="1125" b="1">
                <a:solidFill>
                  <a:srgbClr val="237B82"/>
                </a:solidFill>
                <a:latin typeface="Helvetica Neue"/>
                <a:ea typeface="Helvetica Neue"/>
                <a:cs typeface="Helvetica Neue"/>
              </a:defRPr>
            </a:lvl8pPr>
            <a:lvl9pPr>
              <a:defRPr sz="1125" b="1">
                <a:solidFill>
                  <a:srgbClr val="237B82"/>
                </a:solidFill>
                <a:latin typeface="Helvetica Neue"/>
                <a:ea typeface="Helvetica Neue"/>
                <a:cs typeface="Helvetica Neue"/>
              </a:defRPr>
            </a:lvl9pPr>
          </a:lstStyle>
          <a:p xmlns:a="http://schemas.openxmlformats.org/drawingml/2006/main">
            <a:pPr>
              <a:defRPr sz="1125" b="1">
                <a:solidFill>
                  <a:srgbClr val="237B82"/>
                </a:solidFill>
                <a:latin typeface="Helvetica Neue"/>
                <a:ea typeface="Helvetica Neue"/>
                <a:cs typeface="Helvetica Neue"/>
              </a:defRPr>
            </a:pPr>
            <a:r>
              <a:rPr sz="1125" b="1">
                <a:solidFill>
                  <a:srgbClr val="237B82"/>
                </a:solidFill>
                <a:latin typeface="Helvetica Neue"/>
                <a:ea typeface="Helvetica Neue"/>
                <a:cs typeface="Helvetica Neue"/>
              </a:rPr>
              <a:t>MODULE 4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9C52C59F-A16C-462E-8BE0-64D292E0B8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457200"/>
            <a:ext cx="5334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>
            <a:defPPr>
              <a:defRPr sz="1200" b="1">
                <a:solidFill>
                  <a:srgbClr val="237B82"/>
                </a:solidFill>
                <a:latin typeface="Helvetica Neue"/>
                <a:ea typeface="Helvetica Neue"/>
                <a:cs typeface="Helvetica Neue"/>
              </a:defRPr>
            </a:defPPr>
            <a:lvl1pPr>
              <a:defRPr sz="1200" b="1">
                <a:solidFill>
                  <a:srgbClr val="237B82"/>
                </a:solidFill>
                <a:latin typeface="Helvetica Neue"/>
                <a:ea typeface="Helvetica Neue"/>
                <a:cs typeface="Helvetica Neue"/>
              </a:defRPr>
            </a:lvl1pPr>
            <a:lvl2pPr>
              <a:defRPr sz="1200" b="1">
                <a:solidFill>
                  <a:srgbClr val="237B82"/>
                </a:solidFill>
                <a:latin typeface="Helvetica Neue"/>
                <a:ea typeface="Helvetica Neue"/>
                <a:cs typeface="Helvetica Neue"/>
              </a:defRPr>
            </a:lvl2pPr>
            <a:lvl3pPr>
              <a:defRPr sz="1200" b="1">
                <a:solidFill>
                  <a:srgbClr val="237B82"/>
                </a:solidFill>
                <a:latin typeface="Helvetica Neue"/>
                <a:ea typeface="Helvetica Neue"/>
                <a:cs typeface="Helvetica Neue"/>
              </a:defRPr>
            </a:lvl3pPr>
            <a:lvl4pPr>
              <a:defRPr sz="1200" b="1">
                <a:solidFill>
                  <a:srgbClr val="237B82"/>
                </a:solidFill>
                <a:latin typeface="Helvetica Neue"/>
                <a:ea typeface="Helvetica Neue"/>
                <a:cs typeface="Helvetica Neue"/>
              </a:defRPr>
            </a:lvl4pPr>
            <a:lvl5pPr>
              <a:defRPr sz="1200" b="1">
                <a:solidFill>
                  <a:srgbClr val="237B82"/>
                </a:solidFill>
                <a:latin typeface="Helvetica Neue"/>
                <a:ea typeface="Helvetica Neue"/>
                <a:cs typeface="Helvetica Neue"/>
              </a:defRPr>
            </a:lvl5pPr>
            <a:lvl6pPr>
              <a:defRPr sz="1200" b="1">
                <a:solidFill>
                  <a:srgbClr val="237B82"/>
                </a:solidFill>
                <a:latin typeface="Helvetica Neue"/>
                <a:ea typeface="Helvetica Neue"/>
                <a:cs typeface="Helvetica Neue"/>
              </a:defRPr>
            </a:lvl6pPr>
            <a:lvl7pPr>
              <a:defRPr sz="1200" b="1">
                <a:solidFill>
                  <a:srgbClr val="237B82"/>
                </a:solidFill>
                <a:latin typeface="Helvetica Neue"/>
                <a:ea typeface="Helvetica Neue"/>
                <a:cs typeface="Helvetica Neue"/>
              </a:defRPr>
            </a:lvl7pPr>
            <a:lvl8pPr>
              <a:defRPr sz="1200" b="1">
                <a:solidFill>
                  <a:srgbClr val="237B82"/>
                </a:solidFill>
                <a:latin typeface="Helvetica Neue"/>
                <a:ea typeface="Helvetica Neue"/>
                <a:cs typeface="Helvetica Neue"/>
              </a:defRPr>
            </a:lvl8pPr>
            <a:lvl9pPr>
              <a:defRPr sz="1200" b="1">
                <a:solidFill>
                  <a:srgbClr val="237B82"/>
                </a:solidFill>
                <a:latin typeface="Helvetica Neue"/>
                <a:ea typeface="Helvetica Neue"/>
                <a:cs typeface="Helvetica Neue"/>
              </a:defRPr>
            </a:lvl9pPr>
          </a:lstStyle>
          <a:p xmlns:a="http://schemas.openxmlformats.org/drawingml/2006/main">
            <a:pPr>
              <a:defRPr sz="1200" b="1">
                <a:solidFill>
                  <a:srgbClr val="237B82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00" b="1">
                <a:solidFill>
                  <a:srgbClr val="237B82"/>
                </a:solidFill>
                <a:latin typeface="Helvetica Neue"/>
                <a:ea typeface="Helvetica Neue"/>
                <a:cs typeface="Helvetica Neue"/>
              </a:rPr>
              <a:t>16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B64C2C1F-4EF3-48DD-A3D5-F046233D91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1762125"/>
            <a:ext cx="10287000" cy="409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>
            <a:defPPr>
              <a:defRPr sz="1875">
                <a:solidFill>
                  <a:srgbClr val="13212D"/>
                </a:solidFill>
                <a:latin typeface="Helvetica Neue"/>
                <a:ea typeface="Helvetica Neue"/>
                <a:cs typeface="Helvetica Neue"/>
              </a:defRPr>
            </a:defPPr>
            <a:lvl1pPr>
              <a:defRPr sz="1875">
                <a:solidFill>
                  <a:srgbClr val="13212D"/>
                </a:solidFill>
                <a:latin typeface="Helvetica Neue"/>
                <a:ea typeface="Helvetica Neue"/>
                <a:cs typeface="Helvetica Neue"/>
              </a:defRPr>
            </a:lvl1pPr>
            <a:lvl2pPr>
              <a:defRPr sz="1875">
                <a:solidFill>
                  <a:srgbClr val="13212D"/>
                </a:solidFill>
                <a:latin typeface="Helvetica Neue"/>
                <a:ea typeface="Helvetica Neue"/>
                <a:cs typeface="Helvetica Neue"/>
              </a:defRPr>
            </a:lvl2pPr>
            <a:lvl3pPr>
              <a:defRPr sz="1875">
                <a:solidFill>
                  <a:srgbClr val="13212D"/>
                </a:solidFill>
                <a:latin typeface="Helvetica Neue"/>
                <a:ea typeface="Helvetica Neue"/>
                <a:cs typeface="Helvetica Neue"/>
              </a:defRPr>
            </a:lvl3pPr>
            <a:lvl4pPr>
              <a:defRPr sz="1875">
                <a:solidFill>
                  <a:srgbClr val="13212D"/>
                </a:solidFill>
                <a:latin typeface="Helvetica Neue"/>
                <a:ea typeface="Helvetica Neue"/>
                <a:cs typeface="Helvetica Neue"/>
              </a:defRPr>
            </a:lvl4pPr>
            <a:lvl5pPr>
              <a:defRPr sz="1875">
                <a:solidFill>
                  <a:srgbClr val="13212D"/>
                </a:solidFill>
                <a:latin typeface="Helvetica Neue"/>
                <a:ea typeface="Helvetica Neue"/>
                <a:cs typeface="Helvetica Neue"/>
              </a:defRPr>
            </a:lvl5pPr>
            <a:lvl6pPr>
              <a:defRPr sz="1875">
                <a:solidFill>
                  <a:srgbClr val="13212D"/>
                </a:solidFill>
                <a:latin typeface="Helvetica Neue"/>
                <a:ea typeface="Helvetica Neue"/>
                <a:cs typeface="Helvetica Neue"/>
              </a:defRPr>
            </a:lvl6pPr>
            <a:lvl7pPr>
              <a:defRPr sz="1875">
                <a:solidFill>
                  <a:srgbClr val="13212D"/>
                </a:solidFill>
                <a:latin typeface="Helvetica Neue"/>
                <a:ea typeface="Helvetica Neue"/>
                <a:cs typeface="Helvetica Neue"/>
              </a:defRPr>
            </a:lvl7pPr>
            <a:lvl8pPr>
              <a:defRPr sz="1875">
                <a:solidFill>
                  <a:srgbClr val="13212D"/>
                </a:solidFill>
                <a:latin typeface="Helvetica Neue"/>
                <a:ea typeface="Helvetica Neue"/>
                <a:cs typeface="Helvetica Neue"/>
              </a:defRPr>
            </a:lvl8pPr>
            <a:lvl9pPr>
              <a:defRPr sz="1875">
                <a:solidFill>
                  <a:srgbClr val="13212D"/>
                </a:solidFill>
                <a:latin typeface="Helvetica Neue"/>
                <a:ea typeface="Helvetica Neue"/>
                <a:cs typeface="Helvetica Neue"/>
              </a:defRPr>
            </a:lvl9pPr>
          </a:lstStyle>
          <a:p xmlns:a="http://schemas.openxmlformats.org/drawingml/2006/main">
            <a:pPr marL="279400" indent="-127000">
              <a:spcAft>
                <a:spcPts val="1300"/>
              </a:spcAft>
              <a:buChar char="•"/>
              <a:defRPr sz="1875">
                <a:solidFill>
                  <a:srgbClr val="13212D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75">
                <a:solidFill>
                  <a:srgbClr val="13212D"/>
                </a:solidFill>
                <a:latin typeface="Helvetica Neue"/>
                <a:ea typeface="Helvetica Neue"/>
                <a:cs typeface="Helvetica Neue"/>
              </a:rPr>
              <a:t>Replacement of Blood Components (platelets, coagulation factors) The occurrence of a bleeding disorder warrants the administration of a plasma concentrate.</a:t>
            </a:r>
          </a:p>
          <a:p xmlns:a="http://schemas.openxmlformats.org/drawingml/2006/main">
            <a:pPr marL="279400" indent="-127000">
              <a:spcAft>
                <a:spcPts val="1300"/>
              </a:spcAft>
              <a:buChar char="•"/>
              <a:defRPr sz="1875">
                <a:solidFill>
                  <a:srgbClr val="13212D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75">
                <a:solidFill>
                  <a:srgbClr val="13212D"/>
                </a:solidFill>
                <a:latin typeface="Helvetica Neue"/>
                <a:ea typeface="Helvetica Neue"/>
                <a:cs typeface="Helvetica Neue"/>
              </a:rPr>
              <a:t>If all the factors need replacement, fresh frozen plasma is given.</a:t>
            </a:r>
          </a:p>
          <a:p xmlns:a="http://schemas.openxmlformats.org/drawingml/2006/main">
            <a:pPr marL="279400" indent="-127000">
              <a:spcAft>
                <a:spcPts val="1300"/>
              </a:spcAft>
              <a:buChar char="•"/>
              <a:defRPr sz="1875">
                <a:solidFill>
                  <a:srgbClr val="13212D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75">
                <a:solidFill>
                  <a:srgbClr val="13212D"/>
                </a:solidFill>
                <a:latin typeface="Helvetica Neue"/>
                <a:ea typeface="Helvetica Neue"/>
                <a:cs typeface="Helvetica Neue"/>
              </a:rPr>
              <a:t>Replacement of Oxygen Carrying Capacity The erythrocyte (RBC) is the only blood component capable of carrying oxygen in the body.</a:t>
            </a:r>
          </a:p>
          <a:p xmlns:a="http://schemas.openxmlformats.org/drawingml/2006/main">
            <a:pPr marL="279400" indent="-127000">
              <a:spcAft>
                <a:spcPts val="1300"/>
              </a:spcAft>
              <a:buChar char="•"/>
              <a:defRPr sz="1875">
                <a:solidFill>
                  <a:srgbClr val="13212D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75">
                <a:solidFill>
                  <a:srgbClr val="13212D"/>
                </a:solidFill>
                <a:latin typeface="Helvetica Neue"/>
                <a:ea typeface="Helvetica Neue"/>
                <a:cs typeface="Helvetica Neue"/>
              </a:rPr>
              <a:t>When there is depletion in the number of circulating RBCs, either by loss or excessive destruction, replacement is necessary to maintain an adequate oxygen supply to the tissues of the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8A93287C-6010-4C8B-821F-9AD669A7C1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6115050"/>
            <a:ext cx="101917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>
            <a:defPPr>
              <a:defRPr sz="1125" b="1">
                <a:solidFill>
                  <a:srgbClr val="B94F3D"/>
                </a:solidFill>
                <a:latin typeface="Helvetica Neue"/>
                <a:ea typeface="Helvetica Neue"/>
                <a:cs typeface="Helvetica Neue"/>
              </a:defRPr>
            </a:defPPr>
            <a:lvl1pPr>
              <a:defRPr sz="1125" b="1">
                <a:solidFill>
                  <a:srgbClr val="B94F3D"/>
                </a:solidFill>
                <a:latin typeface="Helvetica Neue"/>
                <a:ea typeface="Helvetica Neue"/>
                <a:cs typeface="Helvetica Neue"/>
              </a:defRPr>
            </a:lvl1pPr>
            <a:lvl2pPr>
              <a:defRPr sz="1125" b="1">
                <a:solidFill>
                  <a:srgbClr val="B94F3D"/>
                </a:solidFill>
                <a:latin typeface="Helvetica Neue"/>
                <a:ea typeface="Helvetica Neue"/>
                <a:cs typeface="Helvetica Neue"/>
              </a:defRPr>
            </a:lvl2pPr>
            <a:lvl3pPr>
              <a:defRPr sz="1125" b="1">
                <a:solidFill>
                  <a:srgbClr val="B94F3D"/>
                </a:solidFill>
                <a:latin typeface="Helvetica Neue"/>
                <a:ea typeface="Helvetica Neue"/>
                <a:cs typeface="Helvetica Neue"/>
              </a:defRPr>
            </a:lvl3pPr>
            <a:lvl4pPr>
              <a:defRPr sz="1125" b="1">
                <a:solidFill>
                  <a:srgbClr val="B94F3D"/>
                </a:solidFill>
                <a:latin typeface="Helvetica Neue"/>
                <a:ea typeface="Helvetica Neue"/>
                <a:cs typeface="Helvetica Neue"/>
              </a:defRPr>
            </a:lvl4pPr>
            <a:lvl5pPr>
              <a:defRPr sz="1125" b="1">
                <a:solidFill>
                  <a:srgbClr val="B94F3D"/>
                </a:solidFill>
                <a:latin typeface="Helvetica Neue"/>
                <a:ea typeface="Helvetica Neue"/>
                <a:cs typeface="Helvetica Neue"/>
              </a:defRPr>
            </a:lvl5pPr>
            <a:lvl6pPr>
              <a:defRPr sz="1125" b="1">
                <a:solidFill>
                  <a:srgbClr val="B94F3D"/>
                </a:solidFill>
                <a:latin typeface="Helvetica Neue"/>
                <a:ea typeface="Helvetica Neue"/>
                <a:cs typeface="Helvetica Neue"/>
              </a:defRPr>
            </a:lvl6pPr>
            <a:lvl7pPr>
              <a:defRPr sz="1125" b="1">
                <a:solidFill>
                  <a:srgbClr val="B94F3D"/>
                </a:solidFill>
                <a:latin typeface="Helvetica Neue"/>
                <a:ea typeface="Helvetica Neue"/>
                <a:cs typeface="Helvetica Neue"/>
              </a:defRPr>
            </a:lvl7pPr>
            <a:lvl8pPr>
              <a:defRPr sz="1125" b="1">
                <a:solidFill>
                  <a:srgbClr val="B94F3D"/>
                </a:solidFill>
                <a:latin typeface="Helvetica Neue"/>
                <a:ea typeface="Helvetica Neue"/>
                <a:cs typeface="Helvetica Neue"/>
              </a:defRPr>
            </a:lvl8pPr>
            <a:lvl9pPr>
              <a:defRPr sz="1125" b="1">
                <a:solidFill>
                  <a:srgbClr val="B94F3D"/>
                </a:solidFill>
                <a:latin typeface="Helvetica Neue"/>
                <a:ea typeface="Helvetica Neue"/>
                <a:cs typeface="Helvetica Neue"/>
              </a:defRPr>
            </a:lvl9pPr>
          </a:lstStyle>
          <a:p xmlns:a="http://schemas.openxmlformats.org/drawingml/2006/main">
            <a:pPr>
              <a:defRPr sz="1125" b="1">
                <a:solidFill>
                  <a:srgbClr val="B94F3D"/>
                </a:solidFill>
                <a:latin typeface="Helvetica Neue"/>
                <a:ea typeface="Helvetica Neue"/>
                <a:cs typeface="Helvetica Neue"/>
              </a:defRPr>
            </a:pPr>
            <a:r>
              <a:rPr sz="1125" b="1">
                <a:solidFill>
                  <a:srgbClr val="B94F3D"/>
                </a:solidFill>
                <a:latin typeface="Helvetica Neue"/>
                <a:ea typeface="Helvetica Neue"/>
                <a:cs typeface="Helvetica Neue"/>
              </a:rPr>
              <a:t>Use current orders, facility policy, and authorized scope when applying this information.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C4176D5B-F3C0-4E45-87CE-ECFD0C44B0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5772150"/>
            <a:ext cx="101917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97619"/>
          </a:bodyPr>
          <a:lstStyle xmlns:a="http://schemas.openxmlformats.org/drawingml/2006/main">
            <a:defPPr>
              <a:defRPr sz="1050" b="1">
                <a:solidFill>
                  <a:srgbClr val="237B82"/>
                </a:solidFill>
                <a:latin typeface="Helvetica Neue"/>
                <a:ea typeface="Helvetica Neue"/>
                <a:cs typeface="Helvetica Neue"/>
              </a:defRPr>
            </a:defPPr>
            <a:lvl1pPr>
              <a:defRPr sz="1050" b="1">
                <a:solidFill>
                  <a:srgbClr val="237B82"/>
                </a:solidFill>
                <a:latin typeface="Helvetica Neue"/>
                <a:ea typeface="Helvetica Neue"/>
                <a:cs typeface="Helvetica Neue"/>
              </a:defRPr>
            </a:lvl1pPr>
            <a:lvl2pPr>
              <a:defRPr sz="1050" b="1">
                <a:solidFill>
                  <a:srgbClr val="237B82"/>
                </a:solidFill>
                <a:latin typeface="Helvetica Neue"/>
                <a:ea typeface="Helvetica Neue"/>
                <a:cs typeface="Helvetica Neue"/>
              </a:defRPr>
            </a:lvl2pPr>
            <a:lvl3pPr>
              <a:defRPr sz="1050" b="1">
                <a:solidFill>
                  <a:srgbClr val="237B82"/>
                </a:solidFill>
                <a:latin typeface="Helvetica Neue"/>
                <a:ea typeface="Helvetica Neue"/>
                <a:cs typeface="Helvetica Neue"/>
              </a:defRPr>
            </a:lvl3pPr>
            <a:lvl4pPr>
              <a:defRPr sz="1050" b="1">
                <a:solidFill>
                  <a:srgbClr val="237B82"/>
                </a:solidFill>
                <a:latin typeface="Helvetica Neue"/>
                <a:ea typeface="Helvetica Neue"/>
                <a:cs typeface="Helvetica Neue"/>
              </a:defRPr>
            </a:lvl4pPr>
            <a:lvl5pPr>
              <a:defRPr sz="1050" b="1">
                <a:solidFill>
                  <a:srgbClr val="237B82"/>
                </a:solidFill>
                <a:latin typeface="Helvetica Neue"/>
                <a:ea typeface="Helvetica Neue"/>
                <a:cs typeface="Helvetica Neue"/>
              </a:defRPr>
            </a:lvl5pPr>
            <a:lvl6pPr>
              <a:defRPr sz="1050" b="1">
                <a:solidFill>
                  <a:srgbClr val="237B82"/>
                </a:solidFill>
                <a:latin typeface="Helvetica Neue"/>
                <a:ea typeface="Helvetica Neue"/>
                <a:cs typeface="Helvetica Neue"/>
              </a:defRPr>
            </a:lvl6pPr>
            <a:lvl7pPr>
              <a:defRPr sz="1050" b="1">
                <a:solidFill>
                  <a:srgbClr val="237B82"/>
                </a:solidFill>
                <a:latin typeface="Helvetica Neue"/>
                <a:ea typeface="Helvetica Neue"/>
                <a:cs typeface="Helvetica Neue"/>
              </a:defRPr>
            </a:lvl7pPr>
            <a:lvl8pPr>
              <a:defRPr sz="1050" b="1">
                <a:solidFill>
                  <a:srgbClr val="237B82"/>
                </a:solidFill>
                <a:latin typeface="Helvetica Neue"/>
                <a:ea typeface="Helvetica Neue"/>
                <a:cs typeface="Helvetica Neue"/>
              </a:defRPr>
            </a:lvl8pPr>
            <a:lvl9pPr>
              <a:defRPr sz="1050" b="1">
                <a:solidFill>
                  <a:srgbClr val="237B82"/>
                </a:solidFill>
                <a:latin typeface="Helvetica Neue"/>
                <a:ea typeface="Helvetica Neue"/>
                <a:cs typeface="Helvetica Neue"/>
              </a:defRPr>
            </a:lvl9pPr>
          </a:lstStyle>
          <a:p xmlns:a="http://schemas.openxmlformats.org/drawingml/2006/main">
            <a:pPr>
              <a:defRPr sz="1050" b="1">
                <a:solidFill>
                  <a:srgbClr val="237B82"/>
                </a:solidFill>
                <a:latin typeface="Helvetica Neue"/>
                <a:ea typeface="Helvetica Neue"/>
                <a:cs typeface="Helvetica Neue"/>
              </a:defRPr>
            </a:pPr>
            <a:r>
              <a:rPr sz="1050" b="1">
                <a:solidFill>
                  <a:srgbClr val="237B82"/>
                </a:solidFill>
                <a:latin typeface="Helvetica Neue"/>
                <a:ea typeface="Helvetica Neue"/>
                <a:cs typeface="Helvetica Neue"/>
              </a:rPr>
              <a:t>Manual page 53</a:t>
            </a:r>
          </a:p>
        </p:txBody>
      </p:sp>
    </p:spTree>
    <p:extLst>
      <p:ext uri="{BB962C8B-B14F-4D97-AF65-F5344CB8AC3E}">
        <p14:creationId xmlns:p14="http://schemas.microsoft.com/office/powerpoint/2010/main" val="1073188140"/>
      </p:ext>
    </p:extLst>
  </p:cSld>
</p:sld>
</file>

<file path=ppt/slides/slide17.xml><?xml version="1.0" encoding="utf-8"?>
<p:sld xmlns:p="http://schemas.openxmlformats.org/presentationml/2006/main">
  <p:cSld>
    <p:bg>
      <p:bgPr>
        <a:solidFill xmlns:a="http://schemas.openxmlformats.org/drawingml/2006/main">
          <a:srgbClr val="F7F4EE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971E9135-E31B-4027-9047-B92CF21C3C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2095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37B82"/>
          </a:solidFill>
          <a:ln xmlns:a="http://schemas.openxmlformats.org/drawingml/2006/main" w="0">
            <a:solidFill>
              <a:srgbClr val="237B82"/>
            </a:solidFill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CD350E60-6D0B-4FF7-9649-9558AA0FA7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00050"/>
            <a:ext cx="10001250" cy="819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>
            <a:defPPr>
              <a:defRPr sz="2700" b="1">
                <a:solidFill>
                  <a:srgbClr val="15324A"/>
                </a:solidFill>
                <a:latin typeface="Helvetica Neue"/>
                <a:ea typeface="Helvetica Neue"/>
                <a:cs typeface="Helvetica Neue"/>
              </a:defRPr>
            </a:defPPr>
            <a:lvl1pPr>
              <a:defRPr sz="2700" b="1">
                <a:solidFill>
                  <a:srgbClr val="15324A"/>
                </a:solidFill>
                <a:latin typeface="Helvetica Neue"/>
                <a:ea typeface="Helvetica Neue"/>
                <a:cs typeface="Helvetica Neue"/>
              </a:defRPr>
            </a:lvl1pPr>
            <a:lvl2pPr>
              <a:defRPr sz="2700" b="1">
                <a:solidFill>
                  <a:srgbClr val="15324A"/>
                </a:solidFill>
                <a:latin typeface="Helvetica Neue"/>
                <a:ea typeface="Helvetica Neue"/>
                <a:cs typeface="Helvetica Neue"/>
              </a:defRPr>
            </a:lvl2pPr>
            <a:lvl3pPr>
              <a:defRPr sz="2700" b="1">
                <a:solidFill>
                  <a:srgbClr val="15324A"/>
                </a:solidFill>
                <a:latin typeface="Helvetica Neue"/>
                <a:ea typeface="Helvetica Neue"/>
                <a:cs typeface="Helvetica Neue"/>
              </a:defRPr>
            </a:lvl3pPr>
            <a:lvl4pPr>
              <a:defRPr sz="2700" b="1">
                <a:solidFill>
                  <a:srgbClr val="15324A"/>
                </a:solidFill>
                <a:latin typeface="Helvetica Neue"/>
                <a:ea typeface="Helvetica Neue"/>
                <a:cs typeface="Helvetica Neue"/>
              </a:defRPr>
            </a:lvl4pPr>
            <a:lvl5pPr>
              <a:defRPr sz="2700" b="1">
                <a:solidFill>
                  <a:srgbClr val="15324A"/>
                </a:solidFill>
                <a:latin typeface="Helvetica Neue"/>
                <a:ea typeface="Helvetica Neue"/>
                <a:cs typeface="Helvetica Neue"/>
              </a:defRPr>
            </a:lvl5pPr>
            <a:lvl6pPr>
              <a:defRPr sz="2700" b="1">
                <a:solidFill>
                  <a:srgbClr val="15324A"/>
                </a:solidFill>
                <a:latin typeface="Helvetica Neue"/>
                <a:ea typeface="Helvetica Neue"/>
                <a:cs typeface="Helvetica Neue"/>
              </a:defRPr>
            </a:lvl6pPr>
            <a:lvl7pPr>
              <a:defRPr sz="2700" b="1">
                <a:solidFill>
                  <a:srgbClr val="15324A"/>
                </a:solidFill>
                <a:latin typeface="Helvetica Neue"/>
                <a:ea typeface="Helvetica Neue"/>
                <a:cs typeface="Helvetica Neue"/>
              </a:defRPr>
            </a:lvl7pPr>
            <a:lvl8pPr>
              <a:defRPr sz="2700" b="1">
                <a:solidFill>
                  <a:srgbClr val="15324A"/>
                </a:solidFill>
                <a:latin typeface="Helvetica Neue"/>
                <a:ea typeface="Helvetica Neue"/>
                <a:cs typeface="Helvetica Neue"/>
              </a:defRPr>
            </a:lvl8pPr>
            <a:lvl9pPr>
              <a:defRPr sz="2700" b="1">
                <a:solidFill>
                  <a:srgbClr val="15324A"/>
                </a:solidFill>
                <a:latin typeface="Helvetica Neue"/>
                <a:ea typeface="Helvetica Neue"/>
                <a:cs typeface="Helvetica Neue"/>
              </a:defRPr>
            </a:lvl9pPr>
          </a:lstStyle>
          <a:p xmlns:a="http://schemas.openxmlformats.org/drawingml/2006/main">
            <a:pPr>
              <a:defRPr sz="2700" b="1">
                <a:solidFill>
                  <a:srgbClr val="15324A"/>
                </a:solidFill>
                <a:latin typeface="Helvetica Neue"/>
                <a:ea typeface="Helvetica Neue"/>
                <a:cs typeface="Helvetica Neue"/>
              </a:defRPr>
            </a:pPr>
            <a:r>
              <a:rPr sz="2700" b="1">
                <a:solidFill>
                  <a:srgbClr val="15324A"/>
                </a:solidFill>
                <a:latin typeface="Helvetica Neue"/>
                <a:ea typeface="Helvetica Neue"/>
                <a:cs typeface="Helvetica Neue"/>
              </a:rPr>
              <a:t>Objectives of Transfusion Therapy — continued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6D40A1B3-AC52-43AD-A6FF-169141BB92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1257300"/>
            <a:ext cx="88582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91111"/>
          </a:bodyPr>
          <a:lstStyle xmlns:a="http://schemas.openxmlformats.org/drawingml/2006/main">
            <a:defPPr>
              <a:defRPr sz="1125" b="1">
                <a:solidFill>
                  <a:srgbClr val="237B82"/>
                </a:solidFill>
                <a:latin typeface="Helvetica Neue"/>
                <a:ea typeface="Helvetica Neue"/>
                <a:cs typeface="Helvetica Neue"/>
              </a:defRPr>
            </a:defPPr>
            <a:lvl1pPr>
              <a:defRPr sz="1125" b="1">
                <a:solidFill>
                  <a:srgbClr val="237B82"/>
                </a:solidFill>
                <a:latin typeface="Helvetica Neue"/>
                <a:ea typeface="Helvetica Neue"/>
                <a:cs typeface="Helvetica Neue"/>
              </a:defRPr>
            </a:lvl1pPr>
            <a:lvl2pPr>
              <a:defRPr sz="1125" b="1">
                <a:solidFill>
                  <a:srgbClr val="237B82"/>
                </a:solidFill>
                <a:latin typeface="Helvetica Neue"/>
                <a:ea typeface="Helvetica Neue"/>
                <a:cs typeface="Helvetica Neue"/>
              </a:defRPr>
            </a:lvl2pPr>
            <a:lvl3pPr>
              <a:defRPr sz="1125" b="1">
                <a:solidFill>
                  <a:srgbClr val="237B82"/>
                </a:solidFill>
                <a:latin typeface="Helvetica Neue"/>
                <a:ea typeface="Helvetica Neue"/>
                <a:cs typeface="Helvetica Neue"/>
              </a:defRPr>
            </a:lvl3pPr>
            <a:lvl4pPr>
              <a:defRPr sz="1125" b="1">
                <a:solidFill>
                  <a:srgbClr val="237B82"/>
                </a:solidFill>
                <a:latin typeface="Helvetica Neue"/>
                <a:ea typeface="Helvetica Neue"/>
                <a:cs typeface="Helvetica Neue"/>
              </a:defRPr>
            </a:lvl4pPr>
            <a:lvl5pPr>
              <a:defRPr sz="1125" b="1">
                <a:solidFill>
                  <a:srgbClr val="237B82"/>
                </a:solidFill>
                <a:latin typeface="Helvetica Neue"/>
                <a:ea typeface="Helvetica Neue"/>
                <a:cs typeface="Helvetica Neue"/>
              </a:defRPr>
            </a:lvl5pPr>
            <a:lvl6pPr>
              <a:defRPr sz="1125" b="1">
                <a:solidFill>
                  <a:srgbClr val="237B82"/>
                </a:solidFill>
                <a:latin typeface="Helvetica Neue"/>
                <a:ea typeface="Helvetica Neue"/>
                <a:cs typeface="Helvetica Neue"/>
              </a:defRPr>
            </a:lvl6pPr>
            <a:lvl7pPr>
              <a:defRPr sz="1125" b="1">
                <a:solidFill>
                  <a:srgbClr val="237B82"/>
                </a:solidFill>
                <a:latin typeface="Helvetica Neue"/>
                <a:ea typeface="Helvetica Neue"/>
                <a:cs typeface="Helvetica Neue"/>
              </a:defRPr>
            </a:lvl7pPr>
            <a:lvl8pPr>
              <a:defRPr sz="1125" b="1">
                <a:solidFill>
                  <a:srgbClr val="237B82"/>
                </a:solidFill>
                <a:latin typeface="Helvetica Neue"/>
                <a:ea typeface="Helvetica Neue"/>
                <a:cs typeface="Helvetica Neue"/>
              </a:defRPr>
            </a:lvl8pPr>
            <a:lvl9pPr>
              <a:defRPr sz="1125" b="1">
                <a:solidFill>
                  <a:srgbClr val="237B82"/>
                </a:solidFill>
                <a:latin typeface="Helvetica Neue"/>
                <a:ea typeface="Helvetica Neue"/>
                <a:cs typeface="Helvetica Neue"/>
              </a:defRPr>
            </a:lvl9pPr>
          </a:lstStyle>
          <a:p xmlns:a="http://schemas.openxmlformats.org/drawingml/2006/main">
            <a:pPr>
              <a:defRPr sz="1125" b="1">
                <a:solidFill>
                  <a:srgbClr val="237B82"/>
                </a:solidFill>
                <a:latin typeface="Helvetica Neue"/>
                <a:ea typeface="Helvetica Neue"/>
                <a:cs typeface="Helvetica Neue"/>
              </a:defRPr>
            </a:pPr>
            <a:r>
              <a:rPr sz="1125" b="1">
                <a:solidFill>
                  <a:srgbClr val="237B82"/>
                </a:solidFill>
                <a:latin typeface="Helvetica Neue"/>
                <a:ea typeface="Helvetica Neue"/>
                <a:cs typeface="Helvetica Neue"/>
              </a:rPr>
              <a:t>MODULE 4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3A1B8936-17B5-4777-A26E-9AD78A2301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457200"/>
            <a:ext cx="5334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>
            <a:defPPr>
              <a:defRPr sz="1200" b="1">
                <a:solidFill>
                  <a:srgbClr val="237B82"/>
                </a:solidFill>
                <a:latin typeface="Helvetica Neue"/>
                <a:ea typeface="Helvetica Neue"/>
                <a:cs typeface="Helvetica Neue"/>
              </a:defRPr>
            </a:defPPr>
            <a:lvl1pPr>
              <a:defRPr sz="1200" b="1">
                <a:solidFill>
                  <a:srgbClr val="237B82"/>
                </a:solidFill>
                <a:latin typeface="Helvetica Neue"/>
                <a:ea typeface="Helvetica Neue"/>
                <a:cs typeface="Helvetica Neue"/>
              </a:defRPr>
            </a:lvl1pPr>
            <a:lvl2pPr>
              <a:defRPr sz="1200" b="1">
                <a:solidFill>
                  <a:srgbClr val="237B82"/>
                </a:solidFill>
                <a:latin typeface="Helvetica Neue"/>
                <a:ea typeface="Helvetica Neue"/>
                <a:cs typeface="Helvetica Neue"/>
              </a:defRPr>
            </a:lvl2pPr>
            <a:lvl3pPr>
              <a:defRPr sz="1200" b="1">
                <a:solidFill>
                  <a:srgbClr val="237B82"/>
                </a:solidFill>
                <a:latin typeface="Helvetica Neue"/>
                <a:ea typeface="Helvetica Neue"/>
                <a:cs typeface="Helvetica Neue"/>
              </a:defRPr>
            </a:lvl3pPr>
            <a:lvl4pPr>
              <a:defRPr sz="1200" b="1">
                <a:solidFill>
                  <a:srgbClr val="237B82"/>
                </a:solidFill>
                <a:latin typeface="Helvetica Neue"/>
                <a:ea typeface="Helvetica Neue"/>
                <a:cs typeface="Helvetica Neue"/>
              </a:defRPr>
            </a:lvl4pPr>
            <a:lvl5pPr>
              <a:defRPr sz="1200" b="1">
                <a:solidFill>
                  <a:srgbClr val="237B82"/>
                </a:solidFill>
                <a:latin typeface="Helvetica Neue"/>
                <a:ea typeface="Helvetica Neue"/>
                <a:cs typeface="Helvetica Neue"/>
              </a:defRPr>
            </a:lvl5pPr>
            <a:lvl6pPr>
              <a:defRPr sz="1200" b="1">
                <a:solidFill>
                  <a:srgbClr val="237B82"/>
                </a:solidFill>
                <a:latin typeface="Helvetica Neue"/>
                <a:ea typeface="Helvetica Neue"/>
                <a:cs typeface="Helvetica Neue"/>
              </a:defRPr>
            </a:lvl6pPr>
            <a:lvl7pPr>
              <a:defRPr sz="1200" b="1">
                <a:solidFill>
                  <a:srgbClr val="237B82"/>
                </a:solidFill>
                <a:latin typeface="Helvetica Neue"/>
                <a:ea typeface="Helvetica Neue"/>
                <a:cs typeface="Helvetica Neue"/>
              </a:defRPr>
            </a:lvl7pPr>
            <a:lvl8pPr>
              <a:defRPr sz="1200" b="1">
                <a:solidFill>
                  <a:srgbClr val="237B82"/>
                </a:solidFill>
                <a:latin typeface="Helvetica Neue"/>
                <a:ea typeface="Helvetica Neue"/>
                <a:cs typeface="Helvetica Neue"/>
              </a:defRPr>
            </a:lvl8pPr>
            <a:lvl9pPr>
              <a:defRPr sz="1200" b="1">
                <a:solidFill>
                  <a:srgbClr val="237B82"/>
                </a:solidFill>
                <a:latin typeface="Helvetica Neue"/>
                <a:ea typeface="Helvetica Neue"/>
                <a:cs typeface="Helvetica Neue"/>
              </a:defRPr>
            </a:lvl9pPr>
          </a:lstStyle>
          <a:p xmlns:a="http://schemas.openxmlformats.org/drawingml/2006/main">
            <a:pPr>
              <a:defRPr sz="1200" b="1">
                <a:solidFill>
                  <a:srgbClr val="237B82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00" b="1">
                <a:solidFill>
                  <a:srgbClr val="237B82"/>
                </a:solidFill>
                <a:latin typeface="Helvetica Neue"/>
                <a:ea typeface="Helvetica Neue"/>
                <a:cs typeface="Helvetica Neue"/>
              </a:rPr>
              <a:t>17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2799995F-B75F-4894-941D-E65E644683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1762125"/>
            <a:ext cx="10287000" cy="409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>
            <a:defPPr>
              <a:defRPr sz="1875">
                <a:solidFill>
                  <a:srgbClr val="13212D"/>
                </a:solidFill>
                <a:latin typeface="Helvetica Neue"/>
                <a:ea typeface="Helvetica Neue"/>
                <a:cs typeface="Helvetica Neue"/>
              </a:defRPr>
            </a:defPPr>
            <a:lvl1pPr>
              <a:defRPr sz="1875">
                <a:solidFill>
                  <a:srgbClr val="13212D"/>
                </a:solidFill>
                <a:latin typeface="Helvetica Neue"/>
                <a:ea typeface="Helvetica Neue"/>
                <a:cs typeface="Helvetica Neue"/>
              </a:defRPr>
            </a:lvl1pPr>
            <a:lvl2pPr>
              <a:defRPr sz="1875">
                <a:solidFill>
                  <a:srgbClr val="13212D"/>
                </a:solidFill>
                <a:latin typeface="Helvetica Neue"/>
                <a:ea typeface="Helvetica Neue"/>
                <a:cs typeface="Helvetica Neue"/>
              </a:defRPr>
            </a:lvl2pPr>
            <a:lvl3pPr>
              <a:defRPr sz="1875">
                <a:solidFill>
                  <a:srgbClr val="13212D"/>
                </a:solidFill>
                <a:latin typeface="Helvetica Neue"/>
                <a:ea typeface="Helvetica Neue"/>
                <a:cs typeface="Helvetica Neue"/>
              </a:defRPr>
            </a:lvl3pPr>
            <a:lvl4pPr>
              <a:defRPr sz="1875">
                <a:solidFill>
                  <a:srgbClr val="13212D"/>
                </a:solidFill>
                <a:latin typeface="Helvetica Neue"/>
                <a:ea typeface="Helvetica Neue"/>
                <a:cs typeface="Helvetica Neue"/>
              </a:defRPr>
            </a:lvl4pPr>
            <a:lvl5pPr>
              <a:defRPr sz="1875">
                <a:solidFill>
                  <a:srgbClr val="13212D"/>
                </a:solidFill>
                <a:latin typeface="Helvetica Neue"/>
                <a:ea typeface="Helvetica Neue"/>
                <a:cs typeface="Helvetica Neue"/>
              </a:defRPr>
            </a:lvl5pPr>
            <a:lvl6pPr>
              <a:defRPr sz="1875">
                <a:solidFill>
                  <a:srgbClr val="13212D"/>
                </a:solidFill>
                <a:latin typeface="Helvetica Neue"/>
                <a:ea typeface="Helvetica Neue"/>
                <a:cs typeface="Helvetica Neue"/>
              </a:defRPr>
            </a:lvl6pPr>
            <a:lvl7pPr>
              <a:defRPr sz="1875">
                <a:solidFill>
                  <a:srgbClr val="13212D"/>
                </a:solidFill>
                <a:latin typeface="Helvetica Neue"/>
                <a:ea typeface="Helvetica Neue"/>
                <a:cs typeface="Helvetica Neue"/>
              </a:defRPr>
            </a:lvl7pPr>
            <a:lvl8pPr>
              <a:defRPr sz="1875">
                <a:solidFill>
                  <a:srgbClr val="13212D"/>
                </a:solidFill>
                <a:latin typeface="Helvetica Neue"/>
                <a:ea typeface="Helvetica Neue"/>
                <a:cs typeface="Helvetica Neue"/>
              </a:defRPr>
            </a:lvl8pPr>
            <a:lvl9pPr>
              <a:defRPr sz="1875">
                <a:solidFill>
                  <a:srgbClr val="13212D"/>
                </a:solidFill>
                <a:latin typeface="Helvetica Neue"/>
                <a:ea typeface="Helvetica Neue"/>
                <a:cs typeface="Helvetica Neue"/>
              </a:defRPr>
            </a:lvl9pPr>
          </a:lstStyle>
          <a:p xmlns:a="http://schemas.openxmlformats.org/drawingml/2006/main">
            <a:pPr marL="279400" indent="-127000">
              <a:spcAft>
                <a:spcPts val="1300"/>
              </a:spcAft>
              <a:buChar char="•"/>
              <a:defRPr sz="1875">
                <a:solidFill>
                  <a:srgbClr val="13212D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75">
                <a:solidFill>
                  <a:srgbClr val="13212D"/>
                </a:solidFill>
                <a:latin typeface="Helvetica Neue"/>
                <a:ea typeface="Helvetica Neue"/>
                <a:cs typeface="Helvetica Neue"/>
              </a:rPr>
              <a:t>body.</a:t>
            </a:r>
          </a:p>
          <a:p xmlns:a="http://schemas.openxmlformats.org/drawingml/2006/main">
            <a:pPr marL="279400" indent="-127000">
              <a:spcAft>
                <a:spcPts val="1300"/>
              </a:spcAft>
              <a:buChar char="•"/>
              <a:defRPr sz="1875">
                <a:solidFill>
                  <a:srgbClr val="13212D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75">
                <a:solidFill>
                  <a:srgbClr val="13212D"/>
                </a:solidFill>
                <a:latin typeface="Helvetica Neue"/>
                <a:ea typeface="Helvetica Neue"/>
                <a:cs typeface="Helvetica Neue"/>
              </a:rPr>
              <a:t>Replacement of Circulating Blood Volume To maintain adequate tissue oxygenation an adequate volume of circulating blood is necessary.</a:t>
            </a:r>
          </a:p>
          <a:p xmlns:a="http://schemas.openxmlformats.org/drawingml/2006/main">
            <a:pPr marL="279400" indent="-127000">
              <a:spcAft>
                <a:spcPts val="1300"/>
              </a:spcAft>
              <a:buChar char="•"/>
              <a:defRPr sz="1875">
                <a:solidFill>
                  <a:srgbClr val="13212D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75">
                <a:solidFill>
                  <a:srgbClr val="13212D"/>
                </a:solidFill>
                <a:latin typeface="Helvetica Neue"/>
                <a:ea typeface="Helvetica Neue"/>
                <a:cs typeface="Helvetica Neue"/>
              </a:rPr>
              <a:t>Should volume decrease due to a loss of blood, the body can compensate by constricting the vessels of the venous system.</a:t>
            </a:r>
          </a:p>
          <a:p xmlns:a="http://schemas.openxmlformats.org/drawingml/2006/main">
            <a:pPr marL="279400" indent="-127000">
              <a:spcAft>
                <a:spcPts val="1300"/>
              </a:spcAft>
              <a:buChar char="•"/>
              <a:defRPr sz="1875">
                <a:solidFill>
                  <a:srgbClr val="13212D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75">
                <a:solidFill>
                  <a:srgbClr val="13212D"/>
                </a:solidFill>
                <a:latin typeface="Helvetica Neue"/>
                <a:ea typeface="Helvetica Neue"/>
                <a:cs typeface="Helvetica Neue"/>
              </a:rPr>
              <a:t>When the loss is rapid or excessive, the venous system may be unable to compensate effectively.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4394E12C-CD30-4B7A-8999-E169C2469A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6115050"/>
            <a:ext cx="101917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>
            <a:defPPr>
              <a:defRPr sz="1125" b="1">
                <a:solidFill>
                  <a:srgbClr val="B94F3D"/>
                </a:solidFill>
                <a:latin typeface="Helvetica Neue"/>
                <a:ea typeface="Helvetica Neue"/>
                <a:cs typeface="Helvetica Neue"/>
              </a:defRPr>
            </a:defPPr>
            <a:lvl1pPr>
              <a:defRPr sz="1125" b="1">
                <a:solidFill>
                  <a:srgbClr val="B94F3D"/>
                </a:solidFill>
                <a:latin typeface="Helvetica Neue"/>
                <a:ea typeface="Helvetica Neue"/>
                <a:cs typeface="Helvetica Neue"/>
              </a:defRPr>
            </a:lvl1pPr>
            <a:lvl2pPr>
              <a:defRPr sz="1125" b="1">
                <a:solidFill>
                  <a:srgbClr val="B94F3D"/>
                </a:solidFill>
                <a:latin typeface="Helvetica Neue"/>
                <a:ea typeface="Helvetica Neue"/>
                <a:cs typeface="Helvetica Neue"/>
              </a:defRPr>
            </a:lvl2pPr>
            <a:lvl3pPr>
              <a:defRPr sz="1125" b="1">
                <a:solidFill>
                  <a:srgbClr val="B94F3D"/>
                </a:solidFill>
                <a:latin typeface="Helvetica Neue"/>
                <a:ea typeface="Helvetica Neue"/>
                <a:cs typeface="Helvetica Neue"/>
              </a:defRPr>
            </a:lvl3pPr>
            <a:lvl4pPr>
              <a:defRPr sz="1125" b="1">
                <a:solidFill>
                  <a:srgbClr val="B94F3D"/>
                </a:solidFill>
                <a:latin typeface="Helvetica Neue"/>
                <a:ea typeface="Helvetica Neue"/>
                <a:cs typeface="Helvetica Neue"/>
              </a:defRPr>
            </a:lvl4pPr>
            <a:lvl5pPr>
              <a:defRPr sz="1125" b="1">
                <a:solidFill>
                  <a:srgbClr val="B94F3D"/>
                </a:solidFill>
                <a:latin typeface="Helvetica Neue"/>
                <a:ea typeface="Helvetica Neue"/>
                <a:cs typeface="Helvetica Neue"/>
              </a:defRPr>
            </a:lvl5pPr>
            <a:lvl6pPr>
              <a:defRPr sz="1125" b="1">
                <a:solidFill>
                  <a:srgbClr val="B94F3D"/>
                </a:solidFill>
                <a:latin typeface="Helvetica Neue"/>
                <a:ea typeface="Helvetica Neue"/>
                <a:cs typeface="Helvetica Neue"/>
              </a:defRPr>
            </a:lvl6pPr>
            <a:lvl7pPr>
              <a:defRPr sz="1125" b="1">
                <a:solidFill>
                  <a:srgbClr val="B94F3D"/>
                </a:solidFill>
                <a:latin typeface="Helvetica Neue"/>
                <a:ea typeface="Helvetica Neue"/>
                <a:cs typeface="Helvetica Neue"/>
              </a:defRPr>
            </a:lvl7pPr>
            <a:lvl8pPr>
              <a:defRPr sz="1125" b="1">
                <a:solidFill>
                  <a:srgbClr val="B94F3D"/>
                </a:solidFill>
                <a:latin typeface="Helvetica Neue"/>
                <a:ea typeface="Helvetica Neue"/>
                <a:cs typeface="Helvetica Neue"/>
              </a:defRPr>
            </a:lvl8pPr>
            <a:lvl9pPr>
              <a:defRPr sz="1125" b="1">
                <a:solidFill>
                  <a:srgbClr val="B94F3D"/>
                </a:solidFill>
                <a:latin typeface="Helvetica Neue"/>
                <a:ea typeface="Helvetica Neue"/>
                <a:cs typeface="Helvetica Neue"/>
              </a:defRPr>
            </a:lvl9pPr>
          </a:lstStyle>
          <a:p xmlns:a="http://schemas.openxmlformats.org/drawingml/2006/main">
            <a:pPr>
              <a:defRPr sz="1125" b="1">
                <a:solidFill>
                  <a:srgbClr val="B94F3D"/>
                </a:solidFill>
                <a:latin typeface="Helvetica Neue"/>
                <a:ea typeface="Helvetica Neue"/>
                <a:cs typeface="Helvetica Neue"/>
              </a:defRPr>
            </a:pPr>
            <a:r>
              <a:rPr sz="1125" b="1">
                <a:solidFill>
                  <a:srgbClr val="B94F3D"/>
                </a:solidFill>
                <a:latin typeface="Helvetica Neue"/>
                <a:ea typeface="Helvetica Neue"/>
                <a:cs typeface="Helvetica Neue"/>
              </a:rPr>
              <a:t>Use current orders, facility policy, and authorized scope when applying this information.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F98976D3-1FA7-4E87-9517-7D6E7D5898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5772150"/>
            <a:ext cx="101917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97619"/>
          </a:bodyPr>
          <a:lstStyle xmlns:a="http://schemas.openxmlformats.org/drawingml/2006/main">
            <a:defPPr>
              <a:defRPr sz="1050" b="1">
                <a:solidFill>
                  <a:srgbClr val="237B82"/>
                </a:solidFill>
                <a:latin typeface="Helvetica Neue"/>
                <a:ea typeface="Helvetica Neue"/>
                <a:cs typeface="Helvetica Neue"/>
              </a:defRPr>
            </a:defPPr>
            <a:lvl1pPr>
              <a:defRPr sz="1050" b="1">
                <a:solidFill>
                  <a:srgbClr val="237B82"/>
                </a:solidFill>
                <a:latin typeface="Helvetica Neue"/>
                <a:ea typeface="Helvetica Neue"/>
                <a:cs typeface="Helvetica Neue"/>
              </a:defRPr>
            </a:lvl1pPr>
            <a:lvl2pPr>
              <a:defRPr sz="1050" b="1">
                <a:solidFill>
                  <a:srgbClr val="237B82"/>
                </a:solidFill>
                <a:latin typeface="Helvetica Neue"/>
                <a:ea typeface="Helvetica Neue"/>
                <a:cs typeface="Helvetica Neue"/>
              </a:defRPr>
            </a:lvl2pPr>
            <a:lvl3pPr>
              <a:defRPr sz="1050" b="1">
                <a:solidFill>
                  <a:srgbClr val="237B82"/>
                </a:solidFill>
                <a:latin typeface="Helvetica Neue"/>
                <a:ea typeface="Helvetica Neue"/>
                <a:cs typeface="Helvetica Neue"/>
              </a:defRPr>
            </a:lvl3pPr>
            <a:lvl4pPr>
              <a:defRPr sz="1050" b="1">
                <a:solidFill>
                  <a:srgbClr val="237B82"/>
                </a:solidFill>
                <a:latin typeface="Helvetica Neue"/>
                <a:ea typeface="Helvetica Neue"/>
                <a:cs typeface="Helvetica Neue"/>
              </a:defRPr>
            </a:lvl4pPr>
            <a:lvl5pPr>
              <a:defRPr sz="1050" b="1">
                <a:solidFill>
                  <a:srgbClr val="237B82"/>
                </a:solidFill>
                <a:latin typeface="Helvetica Neue"/>
                <a:ea typeface="Helvetica Neue"/>
                <a:cs typeface="Helvetica Neue"/>
              </a:defRPr>
            </a:lvl5pPr>
            <a:lvl6pPr>
              <a:defRPr sz="1050" b="1">
                <a:solidFill>
                  <a:srgbClr val="237B82"/>
                </a:solidFill>
                <a:latin typeface="Helvetica Neue"/>
                <a:ea typeface="Helvetica Neue"/>
                <a:cs typeface="Helvetica Neue"/>
              </a:defRPr>
            </a:lvl6pPr>
            <a:lvl7pPr>
              <a:defRPr sz="1050" b="1">
                <a:solidFill>
                  <a:srgbClr val="237B82"/>
                </a:solidFill>
                <a:latin typeface="Helvetica Neue"/>
                <a:ea typeface="Helvetica Neue"/>
                <a:cs typeface="Helvetica Neue"/>
              </a:defRPr>
            </a:lvl7pPr>
            <a:lvl8pPr>
              <a:defRPr sz="1050" b="1">
                <a:solidFill>
                  <a:srgbClr val="237B82"/>
                </a:solidFill>
                <a:latin typeface="Helvetica Neue"/>
                <a:ea typeface="Helvetica Neue"/>
                <a:cs typeface="Helvetica Neue"/>
              </a:defRPr>
            </a:lvl8pPr>
            <a:lvl9pPr>
              <a:defRPr sz="1050" b="1">
                <a:solidFill>
                  <a:srgbClr val="237B82"/>
                </a:solidFill>
                <a:latin typeface="Helvetica Neue"/>
                <a:ea typeface="Helvetica Neue"/>
                <a:cs typeface="Helvetica Neue"/>
              </a:defRPr>
            </a:lvl9pPr>
          </a:lstStyle>
          <a:p xmlns:a="http://schemas.openxmlformats.org/drawingml/2006/main">
            <a:pPr>
              <a:defRPr sz="1050" b="1">
                <a:solidFill>
                  <a:srgbClr val="237B82"/>
                </a:solidFill>
                <a:latin typeface="Helvetica Neue"/>
                <a:ea typeface="Helvetica Neue"/>
                <a:cs typeface="Helvetica Neue"/>
              </a:defRPr>
            </a:pPr>
            <a:r>
              <a:rPr sz="1050" b="1">
                <a:solidFill>
                  <a:srgbClr val="237B82"/>
                </a:solidFill>
                <a:latin typeface="Helvetica Neue"/>
                <a:ea typeface="Helvetica Neue"/>
                <a:cs typeface="Helvetica Neue"/>
              </a:rPr>
              <a:t>Manual page 53</a:t>
            </a:r>
          </a:p>
        </p:txBody>
      </p:sp>
    </p:spTree>
    <p:extLst>
      <p:ext uri="{BB962C8B-B14F-4D97-AF65-F5344CB8AC3E}">
        <p14:creationId xmlns:p14="http://schemas.microsoft.com/office/powerpoint/2010/main" val="666968439"/>
      </p:ext>
    </p:extLst>
  </p:cSld>
</p:sld>
</file>

<file path=ppt/slides/slide18.xml><?xml version="1.0" encoding="utf-8"?>
<p:sld xmlns:p="http://schemas.openxmlformats.org/presentationml/2006/main">
  <p:cSld>
    <p:bg>
      <p:bgPr>
        <a:solidFill xmlns:a="http://schemas.openxmlformats.org/drawingml/2006/main">
          <a:srgbClr val="F7F4EE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CC98C0FB-79EC-4FD2-81D7-10BDDCD5FE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2095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37B82"/>
          </a:solidFill>
          <a:ln xmlns:a="http://schemas.openxmlformats.org/drawingml/2006/main" w="0">
            <a:solidFill>
              <a:srgbClr val="237B82"/>
            </a:solidFill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EA142128-96A5-4233-801A-0A47F51094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00050"/>
            <a:ext cx="10001250" cy="819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>
            <a:defPPr>
              <a:defRPr sz="2700" b="1">
                <a:solidFill>
                  <a:srgbClr val="15324A"/>
                </a:solidFill>
                <a:latin typeface="Helvetica Neue"/>
                <a:ea typeface="Helvetica Neue"/>
                <a:cs typeface="Helvetica Neue"/>
              </a:defRPr>
            </a:defPPr>
            <a:lvl1pPr>
              <a:defRPr sz="2700" b="1">
                <a:solidFill>
                  <a:srgbClr val="15324A"/>
                </a:solidFill>
                <a:latin typeface="Helvetica Neue"/>
                <a:ea typeface="Helvetica Neue"/>
                <a:cs typeface="Helvetica Neue"/>
              </a:defRPr>
            </a:lvl1pPr>
            <a:lvl2pPr>
              <a:defRPr sz="2700" b="1">
                <a:solidFill>
                  <a:srgbClr val="15324A"/>
                </a:solidFill>
                <a:latin typeface="Helvetica Neue"/>
                <a:ea typeface="Helvetica Neue"/>
                <a:cs typeface="Helvetica Neue"/>
              </a:defRPr>
            </a:lvl2pPr>
            <a:lvl3pPr>
              <a:defRPr sz="2700" b="1">
                <a:solidFill>
                  <a:srgbClr val="15324A"/>
                </a:solidFill>
                <a:latin typeface="Helvetica Neue"/>
                <a:ea typeface="Helvetica Neue"/>
                <a:cs typeface="Helvetica Neue"/>
              </a:defRPr>
            </a:lvl3pPr>
            <a:lvl4pPr>
              <a:defRPr sz="2700" b="1">
                <a:solidFill>
                  <a:srgbClr val="15324A"/>
                </a:solidFill>
                <a:latin typeface="Helvetica Neue"/>
                <a:ea typeface="Helvetica Neue"/>
                <a:cs typeface="Helvetica Neue"/>
              </a:defRPr>
            </a:lvl4pPr>
            <a:lvl5pPr>
              <a:defRPr sz="2700" b="1">
                <a:solidFill>
                  <a:srgbClr val="15324A"/>
                </a:solidFill>
                <a:latin typeface="Helvetica Neue"/>
                <a:ea typeface="Helvetica Neue"/>
                <a:cs typeface="Helvetica Neue"/>
              </a:defRPr>
            </a:lvl5pPr>
            <a:lvl6pPr>
              <a:defRPr sz="2700" b="1">
                <a:solidFill>
                  <a:srgbClr val="15324A"/>
                </a:solidFill>
                <a:latin typeface="Helvetica Neue"/>
                <a:ea typeface="Helvetica Neue"/>
                <a:cs typeface="Helvetica Neue"/>
              </a:defRPr>
            </a:lvl6pPr>
            <a:lvl7pPr>
              <a:defRPr sz="2700" b="1">
                <a:solidFill>
                  <a:srgbClr val="15324A"/>
                </a:solidFill>
                <a:latin typeface="Helvetica Neue"/>
                <a:ea typeface="Helvetica Neue"/>
                <a:cs typeface="Helvetica Neue"/>
              </a:defRPr>
            </a:lvl7pPr>
            <a:lvl8pPr>
              <a:defRPr sz="2700" b="1">
                <a:solidFill>
                  <a:srgbClr val="15324A"/>
                </a:solidFill>
                <a:latin typeface="Helvetica Neue"/>
                <a:ea typeface="Helvetica Neue"/>
                <a:cs typeface="Helvetica Neue"/>
              </a:defRPr>
            </a:lvl8pPr>
            <a:lvl9pPr>
              <a:defRPr sz="2700" b="1">
                <a:solidFill>
                  <a:srgbClr val="15324A"/>
                </a:solidFill>
                <a:latin typeface="Helvetica Neue"/>
                <a:ea typeface="Helvetica Neue"/>
                <a:cs typeface="Helvetica Neue"/>
              </a:defRPr>
            </a:lvl9pPr>
          </a:lstStyle>
          <a:p xmlns:a="http://schemas.openxmlformats.org/drawingml/2006/main">
            <a:pPr>
              <a:defRPr sz="2700" b="1">
                <a:solidFill>
                  <a:srgbClr val="15324A"/>
                </a:solidFill>
                <a:latin typeface="Helvetica Neue"/>
                <a:ea typeface="Helvetica Neue"/>
                <a:cs typeface="Helvetica Neue"/>
              </a:defRPr>
            </a:pPr>
            <a:r>
              <a:rPr sz="2700" b="1">
                <a:solidFill>
                  <a:srgbClr val="15324A"/>
                </a:solidFill>
                <a:latin typeface="Helvetica Neue"/>
                <a:ea typeface="Helvetica Neue"/>
                <a:cs typeface="Helvetica Neue"/>
              </a:rPr>
              <a:t>Objectives of Transfusion Therapy — continued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3043518C-8909-41DA-A7D6-845113D1EC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1257300"/>
            <a:ext cx="88582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91111"/>
          </a:bodyPr>
          <a:lstStyle xmlns:a="http://schemas.openxmlformats.org/drawingml/2006/main">
            <a:defPPr>
              <a:defRPr sz="1125" b="1">
                <a:solidFill>
                  <a:srgbClr val="237B82"/>
                </a:solidFill>
                <a:latin typeface="Helvetica Neue"/>
                <a:ea typeface="Helvetica Neue"/>
                <a:cs typeface="Helvetica Neue"/>
              </a:defRPr>
            </a:defPPr>
            <a:lvl1pPr>
              <a:defRPr sz="1125" b="1">
                <a:solidFill>
                  <a:srgbClr val="237B82"/>
                </a:solidFill>
                <a:latin typeface="Helvetica Neue"/>
                <a:ea typeface="Helvetica Neue"/>
                <a:cs typeface="Helvetica Neue"/>
              </a:defRPr>
            </a:lvl1pPr>
            <a:lvl2pPr>
              <a:defRPr sz="1125" b="1">
                <a:solidFill>
                  <a:srgbClr val="237B82"/>
                </a:solidFill>
                <a:latin typeface="Helvetica Neue"/>
                <a:ea typeface="Helvetica Neue"/>
                <a:cs typeface="Helvetica Neue"/>
              </a:defRPr>
            </a:lvl2pPr>
            <a:lvl3pPr>
              <a:defRPr sz="1125" b="1">
                <a:solidFill>
                  <a:srgbClr val="237B82"/>
                </a:solidFill>
                <a:latin typeface="Helvetica Neue"/>
                <a:ea typeface="Helvetica Neue"/>
                <a:cs typeface="Helvetica Neue"/>
              </a:defRPr>
            </a:lvl3pPr>
            <a:lvl4pPr>
              <a:defRPr sz="1125" b="1">
                <a:solidFill>
                  <a:srgbClr val="237B82"/>
                </a:solidFill>
                <a:latin typeface="Helvetica Neue"/>
                <a:ea typeface="Helvetica Neue"/>
                <a:cs typeface="Helvetica Neue"/>
              </a:defRPr>
            </a:lvl4pPr>
            <a:lvl5pPr>
              <a:defRPr sz="1125" b="1">
                <a:solidFill>
                  <a:srgbClr val="237B82"/>
                </a:solidFill>
                <a:latin typeface="Helvetica Neue"/>
                <a:ea typeface="Helvetica Neue"/>
                <a:cs typeface="Helvetica Neue"/>
              </a:defRPr>
            </a:lvl5pPr>
            <a:lvl6pPr>
              <a:defRPr sz="1125" b="1">
                <a:solidFill>
                  <a:srgbClr val="237B82"/>
                </a:solidFill>
                <a:latin typeface="Helvetica Neue"/>
                <a:ea typeface="Helvetica Neue"/>
                <a:cs typeface="Helvetica Neue"/>
              </a:defRPr>
            </a:lvl6pPr>
            <a:lvl7pPr>
              <a:defRPr sz="1125" b="1">
                <a:solidFill>
                  <a:srgbClr val="237B82"/>
                </a:solidFill>
                <a:latin typeface="Helvetica Neue"/>
                <a:ea typeface="Helvetica Neue"/>
                <a:cs typeface="Helvetica Neue"/>
              </a:defRPr>
            </a:lvl7pPr>
            <a:lvl8pPr>
              <a:defRPr sz="1125" b="1">
                <a:solidFill>
                  <a:srgbClr val="237B82"/>
                </a:solidFill>
                <a:latin typeface="Helvetica Neue"/>
                <a:ea typeface="Helvetica Neue"/>
                <a:cs typeface="Helvetica Neue"/>
              </a:defRPr>
            </a:lvl8pPr>
            <a:lvl9pPr>
              <a:defRPr sz="1125" b="1">
                <a:solidFill>
                  <a:srgbClr val="237B82"/>
                </a:solidFill>
                <a:latin typeface="Helvetica Neue"/>
                <a:ea typeface="Helvetica Neue"/>
                <a:cs typeface="Helvetica Neue"/>
              </a:defRPr>
            </a:lvl9pPr>
          </a:lstStyle>
          <a:p xmlns:a="http://schemas.openxmlformats.org/drawingml/2006/main">
            <a:pPr>
              <a:defRPr sz="1125" b="1">
                <a:solidFill>
                  <a:srgbClr val="237B82"/>
                </a:solidFill>
                <a:latin typeface="Helvetica Neue"/>
                <a:ea typeface="Helvetica Neue"/>
                <a:cs typeface="Helvetica Neue"/>
              </a:defRPr>
            </a:pPr>
            <a:r>
              <a:rPr sz="1125" b="1">
                <a:solidFill>
                  <a:srgbClr val="237B82"/>
                </a:solidFill>
                <a:latin typeface="Helvetica Neue"/>
                <a:ea typeface="Helvetica Neue"/>
                <a:cs typeface="Helvetica Neue"/>
              </a:rPr>
              <a:t>MODULE 4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D152A1A2-E36B-495C-8B9F-576FA4B1EB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457200"/>
            <a:ext cx="5334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>
            <a:defPPr>
              <a:defRPr sz="1200" b="1">
                <a:solidFill>
                  <a:srgbClr val="237B82"/>
                </a:solidFill>
                <a:latin typeface="Helvetica Neue"/>
                <a:ea typeface="Helvetica Neue"/>
                <a:cs typeface="Helvetica Neue"/>
              </a:defRPr>
            </a:defPPr>
            <a:lvl1pPr>
              <a:defRPr sz="1200" b="1">
                <a:solidFill>
                  <a:srgbClr val="237B82"/>
                </a:solidFill>
                <a:latin typeface="Helvetica Neue"/>
                <a:ea typeface="Helvetica Neue"/>
                <a:cs typeface="Helvetica Neue"/>
              </a:defRPr>
            </a:lvl1pPr>
            <a:lvl2pPr>
              <a:defRPr sz="1200" b="1">
                <a:solidFill>
                  <a:srgbClr val="237B82"/>
                </a:solidFill>
                <a:latin typeface="Helvetica Neue"/>
                <a:ea typeface="Helvetica Neue"/>
                <a:cs typeface="Helvetica Neue"/>
              </a:defRPr>
            </a:lvl2pPr>
            <a:lvl3pPr>
              <a:defRPr sz="1200" b="1">
                <a:solidFill>
                  <a:srgbClr val="237B82"/>
                </a:solidFill>
                <a:latin typeface="Helvetica Neue"/>
                <a:ea typeface="Helvetica Neue"/>
                <a:cs typeface="Helvetica Neue"/>
              </a:defRPr>
            </a:lvl3pPr>
            <a:lvl4pPr>
              <a:defRPr sz="1200" b="1">
                <a:solidFill>
                  <a:srgbClr val="237B82"/>
                </a:solidFill>
                <a:latin typeface="Helvetica Neue"/>
                <a:ea typeface="Helvetica Neue"/>
                <a:cs typeface="Helvetica Neue"/>
              </a:defRPr>
            </a:lvl4pPr>
            <a:lvl5pPr>
              <a:defRPr sz="1200" b="1">
                <a:solidFill>
                  <a:srgbClr val="237B82"/>
                </a:solidFill>
                <a:latin typeface="Helvetica Neue"/>
                <a:ea typeface="Helvetica Neue"/>
                <a:cs typeface="Helvetica Neue"/>
              </a:defRPr>
            </a:lvl5pPr>
            <a:lvl6pPr>
              <a:defRPr sz="1200" b="1">
                <a:solidFill>
                  <a:srgbClr val="237B82"/>
                </a:solidFill>
                <a:latin typeface="Helvetica Neue"/>
                <a:ea typeface="Helvetica Neue"/>
                <a:cs typeface="Helvetica Neue"/>
              </a:defRPr>
            </a:lvl6pPr>
            <a:lvl7pPr>
              <a:defRPr sz="1200" b="1">
                <a:solidFill>
                  <a:srgbClr val="237B82"/>
                </a:solidFill>
                <a:latin typeface="Helvetica Neue"/>
                <a:ea typeface="Helvetica Neue"/>
                <a:cs typeface="Helvetica Neue"/>
              </a:defRPr>
            </a:lvl7pPr>
            <a:lvl8pPr>
              <a:defRPr sz="1200" b="1">
                <a:solidFill>
                  <a:srgbClr val="237B82"/>
                </a:solidFill>
                <a:latin typeface="Helvetica Neue"/>
                <a:ea typeface="Helvetica Neue"/>
                <a:cs typeface="Helvetica Neue"/>
              </a:defRPr>
            </a:lvl8pPr>
            <a:lvl9pPr>
              <a:defRPr sz="1200" b="1">
                <a:solidFill>
                  <a:srgbClr val="237B82"/>
                </a:solidFill>
                <a:latin typeface="Helvetica Neue"/>
                <a:ea typeface="Helvetica Neue"/>
                <a:cs typeface="Helvetica Neue"/>
              </a:defRPr>
            </a:lvl9pPr>
          </a:lstStyle>
          <a:p xmlns:a="http://schemas.openxmlformats.org/drawingml/2006/main">
            <a:pPr>
              <a:defRPr sz="1200" b="1">
                <a:solidFill>
                  <a:srgbClr val="237B82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00" b="1">
                <a:solidFill>
                  <a:srgbClr val="237B82"/>
                </a:solidFill>
                <a:latin typeface="Helvetica Neue"/>
                <a:ea typeface="Helvetica Neue"/>
                <a:cs typeface="Helvetica Neue"/>
              </a:rPr>
              <a:t>18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16CFE9F7-51A4-4BA1-8B23-01F38B4A03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1762125"/>
            <a:ext cx="10287000" cy="409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>
            <a:defPPr>
              <a:defRPr sz="1875">
                <a:solidFill>
                  <a:srgbClr val="13212D"/>
                </a:solidFill>
                <a:latin typeface="Helvetica Neue"/>
                <a:ea typeface="Helvetica Neue"/>
                <a:cs typeface="Helvetica Neue"/>
              </a:defRPr>
            </a:defPPr>
            <a:lvl1pPr>
              <a:defRPr sz="1875">
                <a:solidFill>
                  <a:srgbClr val="13212D"/>
                </a:solidFill>
                <a:latin typeface="Helvetica Neue"/>
                <a:ea typeface="Helvetica Neue"/>
                <a:cs typeface="Helvetica Neue"/>
              </a:defRPr>
            </a:lvl1pPr>
            <a:lvl2pPr>
              <a:defRPr sz="1875">
                <a:solidFill>
                  <a:srgbClr val="13212D"/>
                </a:solidFill>
                <a:latin typeface="Helvetica Neue"/>
                <a:ea typeface="Helvetica Neue"/>
                <a:cs typeface="Helvetica Neue"/>
              </a:defRPr>
            </a:lvl2pPr>
            <a:lvl3pPr>
              <a:defRPr sz="1875">
                <a:solidFill>
                  <a:srgbClr val="13212D"/>
                </a:solidFill>
                <a:latin typeface="Helvetica Neue"/>
                <a:ea typeface="Helvetica Neue"/>
                <a:cs typeface="Helvetica Neue"/>
              </a:defRPr>
            </a:lvl3pPr>
            <a:lvl4pPr>
              <a:defRPr sz="1875">
                <a:solidFill>
                  <a:srgbClr val="13212D"/>
                </a:solidFill>
                <a:latin typeface="Helvetica Neue"/>
                <a:ea typeface="Helvetica Neue"/>
                <a:cs typeface="Helvetica Neue"/>
              </a:defRPr>
            </a:lvl4pPr>
            <a:lvl5pPr>
              <a:defRPr sz="1875">
                <a:solidFill>
                  <a:srgbClr val="13212D"/>
                </a:solidFill>
                <a:latin typeface="Helvetica Neue"/>
                <a:ea typeface="Helvetica Neue"/>
                <a:cs typeface="Helvetica Neue"/>
              </a:defRPr>
            </a:lvl5pPr>
            <a:lvl6pPr>
              <a:defRPr sz="1875">
                <a:solidFill>
                  <a:srgbClr val="13212D"/>
                </a:solidFill>
                <a:latin typeface="Helvetica Neue"/>
                <a:ea typeface="Helvetica Neue"/>
                <a:cs typeface="Helvetica Neue"/>
              </a:defRPr>
            </a:lvl6pPr>
            <a:lvl7pPr>
              <a:defRPr sz="1875">
                <a:solidFill>
                  <a:srgbClr val="13212D"/>
                </a:solidFill>
                <a:latin typeface="Helvetica Neue"/>
                <a:ea typeface="Helvetica Neue"/>
                <a:cs typeface="Helvetica Neue"/>
              </a:defRPr>
            </a:lvl7pPr>
            <a:lvl8pPr>
              <a:defRPr sz="1875">
                <a:solidFill>
                  <a:srgbClr val="13212D"/>
                </a:solidFill>
                <a:latin typeface="Helvetica Neue"/>
                <a:ea typeface="Helvetica Neue"/>
                <a:cs typeface="Helvetica Neue"/>
              </a:defRPr>
            </a:lvl8pPr>
            <a:lvl9pPr>
              <a:defRPr sz="1875">
                <a:solidFill>
                  <a:srgbClr val="13212D"/>
                </a:solidFill>
                <a:latin typeface="Helvetica Neue"/>
                <a:ea typeface="Helvetica Neue"/>
                <a:cs typeface="Helvetica Neue"/>
              </a:defRPr>
            </a:lvl9pPr>
          </a:lstStyle>
          <a:p xmlns:a="http://schemas.openxmlformats.org/drawingml/2006/main">
            <a:pPr marL="279400" indent="-127000">
              <a:spcAft>
                <a:spcPts val="1300"/>
              </a:spcAft>
              <a:buChar char="•"/>
              <a:defRPr sz="1875">
                <a:solidFill>
                  <a:srgbClr val="13212D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75">
                <a:solidFill>
                  <a:srgbClr val="13212D"/>
                </a:solidFill>
                <a:latin typeface="Helvetica Neue"/>
                <a:ea typeface="Helvetica Neue"/>
                <a:cs typeface="Helvetica Neue"/>
              </a:rPr>
              <a:t>When the hematocrit is below normal, tissue oxygenation is not adequate.</a:t>
            </a:r>
          </a:p>
          <a:p xmlns:a="http://schemas.openxmlformats.org/drawingml/2006/main">
            <a:pPr marL="279400" indent="-127000">
              <a:spcAft>
                <a:spcPts val="1300"/>
              </a:spcAft>
              <a:buChar char="•"/>
              <a:defRPr sz="1875">
                <a:solidFill>
                  <a:srgbClr val="13212D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75">
                <a:solidFill>
                  <a:srgbClr val="13212D"/>
                </a:solidFill>
                <a:latin typeface="Helvetica Neue"/>
                <a:ea typeface="Helvetica Neue"/>
                <a:cs typeface="Helvetica Neue"/>
              </a:rPr>
              <a:t>Requirements There must be a documented need for the transfusion of blood or blood products The patient must have clinical symptoms warranting the need for the transfusion.</a:t>
            </a:r>
          </a:p>
          <a:p xmlns:a="http://schemas.openxmlformats.org/drawingml/2006/main">
            <a:pPr marL="279400" indent="-127000">
              <a:spcAft>
                <a:spcPts val="1300"/>
              </a:spcAft>
              <a:buChar char="•"/>
              <a:defRPr sz="1875">
                <a:solidFill>
                  <a:srgbClr val="13212D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75">
                <a:solidFill>
                  <a:srgbClr val="13212D"/>
                </a:solidFill>
                <a:latin typeface="Helvetica Neue"/>
                <a:ea typeface="Helvetica Neue"/>
                <a:cs typeface="Helvetica Neue"/>
              </a:rPr>
              <a:t>The rapid volume depletion cannot be corrected by the administration of crystalloid replacement solutions.</a:t>
            </a:r>
          </a:p>
          <a:p xmlns:a="http://schemas.openxmlformats.org/drawingml/2006/main">
            <a:pPr marL="279400" indent="-127000">
              <a:spcAft>
                <a:spcPts val="1300"/>
              </a:spcAft>
              <a:buChar char="•"/>
              <a:defRPr sz="1875">
                <a:solidFill>
                  <a:srgbClr val="13212D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75">
                <a:solidFill>
                  <a:srgbClr val="13212D"/>
                </a:solidFill>
                <a:latin typeface="Helvetica Neue"/>
                <a:ea typeface="Helvetica Neue"/>
                <a:cs typeface="Helvetica Neue"/>
              </a:rPr>
              <a:t>Blood Groups The best known blood grouping system is the ABO system.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F072FEED-F142-4DE7-A999-FEB4E0C58F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6115050"/>
            <a:ext cx="101917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>
            <a:defPPr>
              <a:defRPr sz="1125" b="1">
                <a:solidFill>
                  <a:srgbClr val="B94F3D"/>
                </a:solidFill>
                <a:latin typeface="Helvetica Neue"/>
                <a:ea typeface="Helvetica Neue"/>
                <a:cs typeface="Helvetica Neue"/>
              </a:defRPr>
            </a:defPPr>
            <a:lvl1pPr>
              <a:defRPr sz="1125" b="1">
                <a:solidFill>
                  <a:srgbClr val="B94F3D"/>
                </a:solidFill>
                <a:latin typeface="Helvetica Neue"/>
                <a:ea typeface="Helvetica Neue"/>
                <a:cs typeface="Helvetica Neue"/>
              </a:defRPr>
            </a:lvl1pPr>
            <a:lvl2pPr>
              <a:defRPr sz="1125" b="1">
                <a:solidFill>
                  <a:srgbClr val="B94F3D"/>
                </a:solidFill>
                <a:latin typeface="Helvetica Neue"/>
                <a:ea typeface="Helvetica Neue"/>
                <a:cs typeface="Helvetica Neue"/>
              </a:defRPr>
            </a:lvl2pPr>
            <a:lvl3pPr>
              <a:defRPr sz="1125" b="1">
                <a:solidFill>
                  <a:srgbClr val="B94F3D"/>
                </a:solidFill>
                <a:latin typeface="Helvetica Neue"/>
                <a:ea typeface="Helvetica Neue"/>
                <a:cs typeface="Helvetica Neue"/>
              </a:defRPr>
            </a:lvl3pPr>
            <a:lvl4pPr>
              <a:defRPr sz="1125" b="1">
                <a:solidFill>
                  <a:srgbClr val="B94F3D"/>
                </a:solidFill>
                <a:latin typeface="Helvetica Neue"/>
                <a:ea typeface="Helvetica Neue"/>
                <a:cs typeface="Helvetica Neue"/>
              </a:defRPr>
            </a:lvl4pPr>
            <a:lvl5pPr>
              <a:defRPr sz="1125" b="1">
                <a:solidFill>
                  <a:srgbClr val="B94F3D"/>
                </a:solidFill>
                <a:latin typeface="Helvetica Neue"/>
                <a:ea typeface="Helvetica Neue"/>
                <a:cs typeface="Helvetica Neue"/>
              </a:defRPr>
            </a:lvl5pPr>
            <a:lvl6pPr>
              <a:defRPr sz="1125" b="1">
                <a:solidFill>
                  <a:srgbClr val="B94F3D"/>
                </a:solidFill>
                <a:latin typeface="Helvetica Neue"/>
                <a:ea typeface="Helvetica Neue"/>
                <a:cs typeface="Helvetica Neue"/>
              </a:defRPr>
            </a:lvl6pPr>
            <a:lvl7pPr>
              <a:defRPr sz="1125" b="1">
                <a:solidFill>
                  <a:srgbClr val="B94F3D"/>
                </a:solidFill>
                <a:latin typeface="Helvetica Neue"/>
                <a:ea typeface="Helvetica Neue"/>
                <a:cs typeface="Helvetica Neue"/>
              </a:defRPr>
            </a:lvl7pPr>
            <a:lvl8pPr>
              <a:defRPr sz="1125" b="1">
                <a:solidFill>
                  <a:srgbClr val="B94F3D"/>
                </a:solidFill>
                <a:latin typeface="Helvetica Neue"/>
                <a:ea typeface="Helvetica Neue"/>
                <a:cs typeface="Helvetica Neue"/>
              </a:defRPr>
            </a:lvl8pPr>
            <a:lvl9pPr>
              <a:defRPr sz="1125" b="1">
                <a:solidFill>
                  <a:srgbClr val="B94F3D"/>
                </a:solidFill>
                <a:latin typeface="Helvetica Neue"/>
                <a:ea typeface="Helvetica Neue"/>
                <a:cs typeface="Helvetica Neue"/>
              </a:defRPr>
            </a:lvl9pPr>
          </a:lstStyle>
          <a:p xmlns:a="http://schemas.openxmlformats.org/drawingml/2006/main">
            <a:pPr>
              <a:defRPr sz="1125" b="1">
                <a:solidFill>
                  <a:srgbClr val="B94F3D"/>
                </a:solidFill>
                <a:latin typeface="Helvetica Neue"/>
                <a:ea typeface="Helvetica Neue"/>
                <a:cs typeface="Helvetica Neue"/>
              </a:defRPr>
            </a:pPr>
            <a:r>
              <a:rPr sz="1125" b="1">
                <a:solidFill>
                  <a:srgbClr val="B94F3D"/>
                </a:solidFill>
                <a:latin typeface="Helvetica Neue"/>
                <a:ea typeface="Helvetica Neue"/>
                <a:cs typeface="Helvetica Neue"/>
              </a:rPr>
              <a:t>Use current orders, facility policy, and authorized scope when applying this information.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DEA3304C-560D-4368-9568-06063942ED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5772150"/>
            <a:ext cx="101917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97619"/>
          </a:bodyPr>
          <a:lstStyle xmlns:a="http://schemas.openxmlformats.org/drawingml/2006/main">
            <a:defPPr>
              <a:defRPr sz="1050" b="1">
                <a:solidFill>
                  <a:srgbClr val="237B82"/>
                </a:solidFill>
                <a:latin typeface="Helvetica Neue"/>
                <a:ea typeface="Helvetica Neue"/>
                <a:cs typeface="Helvetica Neue"/>
              </a:defRPr>
            </a:defPPr>
            <a:lvl1pPr>
              <a:defRPr sz="1050" b="1">
                <a:solidFill>
                  <a:srgbClr val="237B82"/>
                </a:solidFill>
                <a:latin typeface="Helvetica Neue"/>
                <a:ea typeface="Helvetica Neue"/>
                <a:cs typeface="Helvetica Neue"/>
              </a:defRPr>
            </a:lvl1pPr>
            <a:lvl2pPr>
              <a:defRPr sz="1050" b="1">
                <a:solidFill>
                  <a:srgbClr val="237B82"/>
                </a:solidFill>
                <a:latin typeface="Helvetica Neue"/>
                <a:ea typeface="Helvetica Neue"/>
                <a:cs typeface="Helvetica Neue"/>
              </a:defRPr>
            </a:lvl2pPr>
            <a:lvl3pPr>
              <a:defRPr sz="1050" b="1">
                <a:solidFill>
                  <a:srgbClr val="237B82"/>
                </a:solidFill>
                <a:latin typeface="Helvetica Neue"/>
                <a:ea typeface="Helvetica Neue"/>
                <a:cs typeface="Helvetica Neue"/>
              </a:defRPr>
            </a:lvl3pPr>
            <a:lvl4pPr>
              <a:defRPr sz="1050" b="1">
                <a:solidFill>
                  <a:srgbClr val="237B82"/>
                </a:solidFill>
                <a:latin typeface="Helvetica Neue"/>
                <a:ea typeface="Helvetica Neue"/>
                <a:cs typeface="Helvetica Neue"/>
              </a:defRPr>
            </a:lvl4pPr>
            <a:lvl5pPr>
              <a:defRPr sz="1050" b="1">
                <a:solidFill>
                  <a:srgbClr val="237B82"/>
                </a:solidFill>
                <a:latin typeface="Helvetica Neue"/>
                <a:ea typeface="Helvetica Neue"/>
                <a:cs typeface="Helvetica Neue"/>
              </a:defRPr>
            </a:lvl5pPr>
            <a:lvl6pPr>
              <a:defRPr sz="1050" b="1">
                <a:solidFill>
                  <a:srgbClr val="237B82"/>
                </a:solidFill>
                <a:latin typeface="Helvetica Neue"/>
                <a:ea typeface="Helvetica Neue"/>
                <a:cs typeface="Helvetica Neue"/>
              </a:defRPr>
            </a:lvl6pPr>
            <a:lvl7pPr>
              <a:defRPr sz="1050" b="1">
                <a:solidFill>
                  <a:srgbClr val="237B82"/>
                </a:solidFill>
                <a:latin typeface="Helvetica Neue"/>
                <a:ea typeface="Helvetica Neue"/>
                <a:cs typeface="Helvetica Neue"/>
              </a:defRPr>
            </a:lvl7pPr>
            <a:lvl8pPr>
              <a:defRPr sz="1050" b="1">
                <a:solidFill>
                  <a:srgbClr val="237B82"/>
                </a:solidFill>
                <a:latin typeface="Helvetica Neue"/>
                <a:ea typeface="Helvetica Neue"/>
                <a:cs typeface="Helvetica Neue"/>
              </a:defRPr>
            </a:lvl8pPr>
            <a:lvl9pPr>
              <a:defRPr sz="1050" b="1">
                <a:solidFill>
                  <a:srgbClr val="237B82"/>
                </a:solidFill>
                <a:latin typeface="Helvetica Neue"/>
                <a:ea typeface="Helvetica Neue"/>
                <a:cs typeface="Helvetica Neue"/>
              </a:defRPr>
            </a:lvl9pPr>
          </a:lstStyle>
          <a:p xmlns:a="http://schemas.openxmlformats.org/drawingml/2006/main">
            <a:pPr>
              <a:defRPr sz="1050" b="1">
                <a:solidFill>
                  <a:srgbClr val="237B82"/>
                </a:solidFill>
                <a:latin typeface="Helvetica Neue"/>
                <a:ea typeface="Helvetica Neue"/>
                <a:cs typeface="Helvetica Neue"/>
              </a:defRPr>
            </a:pPr>
            <a:r>
              <a:rPr sz="1050" b="1">
                <a:solidFill>
                  <a:srgbClr val="237B82"/>
                </a:solidFill>
                <a:latin typeface="Helvetica Neue"/>
                <a:ea typeface="Helvetica Neue"/>
                <a:cs typeface="Helvetica Neue"/>
              </a:rPr>
              <a:t>Manual page 53</a:t>
            </a:r>
          </a:p>
        </p:txBody>
      </p:sp>
    </p:spTree>
    <p:extLst>
      <p:ext uri="{BB962C8B-B14F-4D97-AF65-F5344CB8AC3E}">
        <p14:creationId xmlns:p14="http://schemas.microsoft.com/office/powerpoint/2010/main" val="1009828167"/>
      </p:ext>
    </p:extLst>
  </p:cSld>
</p:sld>
</file>

<file path=ppt/slides/slide19.xml><?xml version="1.0" encoding="utf-8"?>
<p:sld xmlns:p="http://schemas.openxmlformats.org/presentationml/2006/main">
  <p:cSld>
    <p:bg>
      <p:bgPr>
        <a:solidFill xmlns:a="http://schemas.openxmlformats.org/drawingml/2006/main">
          <a:srgbClr val="F7F4EE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0318232F-77F6-449E-8B74-0A5CFD8F37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2095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37B82"/>
          </a:solidFill>
          <a:ln xmlns:a="http://schemas.openxmlformats.org/drawingml/2006/main" w="0">
            <a:solidFill>
              <a:srgbClr val="237B82"/>
            </a:solidFill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7BF1B528-E963-4C8C-95FF-BFBA66AA29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00050"/>
            <a:ext cx="10001250" cy="819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>
            <a:defPPr>
              <a:defRPr sz="2700" b="1">
                <a:solidFill>
                  <a:srgbClr val="15324A"/>
                </a:solidFill>
                <a:latin typeface="Helvetica Neue"/>
                <a:ea typeface="Helvetica Neue"/>
                <a:cs typeface="Helvetica Neue"/>
              </a:defRPr>
            </a:defPPr>
            <a:lvl1pPr>
              <a:defRPr sz="2700" b="1">
                <a:solidFill>
                  <a:srgbClr val="15324A"/>
                </a:solidFill>
                <a:latin typeface="Helvetica Neue"/>
                <a:ea typeface="Helvetica Neue"/>
                <a:cs typeface="Helvetica Neue"/>
              </a:defRPr>
            </a:lvl1pPr>
            <a:lvl2pPr>
              <a:defRPr sz="2700" b="1">
                <a:solidFill>
                  <a:srgbClr val="15324A"/>
                </a:solidFill>
                <a:latin typeface="Helvetica Neue"/>
                <a:ea typeface="Helvetica Neue"/>
                <a:cs typeface="Helvetica Neue"/>
              </a:defRPr>
            </a:lvl2pPr>
            <a:lvl3pPr>
              <a:defRPr sz="2700" b="1">
                <a:solidFill>
                  <a:srgbClr val="15324A"/>
                </a:solidFill>
                <a:latin typeface="Helvetica Neue"/>
                <a:ea typeface="Helvetica Neue"/>
                <a:cs typeface="Helvetica Neue"/>
              </a:defRPr>
            </a:lvl3pPr>
            <a:lvl4pPr>
              <a:defRPr sz="2700" b="1">
                <a:solidFill>
                  <a:srgbClr val="15324A"/>
                </a:solidFill>
                <a:latin typeface="Helvetica Neue"/>
                <a:ea typeface="Helvetica Neue"/>
                <a:cs typeface="Helvetica Neue"/>
              </a:defRPr>
            </a:lvl4pPr>
            <a:lvl5pPr>
              <a:defRPr sz="2700" b="1">
                <a:solidFill>
                  <a:srgbClr val="15324A"/>
                </a:solidFill>
                <a:latin typeface="Helvetica Neue"/>
                <a:ea typeface="Helvetica Neue"/>
                <a:cs typeface="Helvetica Neue"/>
              </a:defRPr>
            </a:lvl5pPr>
            <a:lvl6pPr>
              <a:defRPr sz="2700" b="1">
                <a:solidFill>
                  <a:srgbClr val="15324A"/>
                </a:solidFill>
                <a:latin typeface="Helvetica Neue"/>
                <a:ea typeface="Helvetica Neue"/>
                <a:cs typeface="Helvetica Neue"/>
              </a:defRPr>
            </a:lvl6pPr>
            <a:lvl7pPr>
              <a:defRPr sz="2700" b="1">
                <a:solidFill>
                  <a:srgbClr val="15324A"/>
                </a:solidFill>
                <a:latin typeface="Helvetica Neue"/>
                <a:ea typeface="Helvetica Neue"/>
                <a:cs typeface="Helvetica Neue"/>
              </a:defRPr>
            </a:lvl7pPr>
            <a:lvl8pPr>
              <a:defRPr sz="2700" b="1">
                <a:solidFill>
                  <a:srgbClr val="15324A"/>
                </a:solidFill>
                <a:latin typeface="Helvetica Neue"/>
                <a:ea typeface="Helvetica Neue"/>
                <a:cs typeface="Helvetica Neue"/>
              </a:defRPr>
            </a:lvl8pPr>
            <a:lvl9pPr>
              <a:defRPr sz="2700" b="1">
                <a:solidFill>
                  <a:srgbClr val="15324A"/>
                </a:solidFill>
                <a:latin typeface="Helvetica Neue"/>
                <a:ea typeface="Helvetica Neue"/>
                <a:cs typeface="Helvetica Neue"/>
              </a:defRPr>
            </a:lvl9pPr>
          </a:lstStyle>
          <a:p xmlns:a="http://schemas.openxmlformats.org/drawingml/2006/main">
            <a:pPr>
              <a:defRPr sz="2700" b="1">
                <a:solidFill>
                  <a:srgbClr val="15324A"/>
                </a:solidFill>
                <a:latin typeface="Helvetica Neue"/>
                <a:ea typeface="Helvetica Neue"/>
                <a:cs typeface="Helvetica Neue"/>
              </a:defRPr>
            </a:pPr>
            <a:r>
              <a:rPr sz="2700" b="1">
                <a:solidFill>
                  <a:srgbClr val="15324A"/>
                </a:solidFill>
                <a:latin typeface="Helvetica Neue"/>
                <a:ea typeface="Helvetica Neue"/>
                <a:cs typeface="Helvetica Neue"/>
              </a:rPr>
              <a:t>Objectives of Transfusion Therapy — continued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CBB58A05-0122-4595-AA70-AD9C0660EF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1257300"/>
            <a:ext cx="88582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91111"/>
          </a:bodyPr>
          <a:lstStyle xmlns:a="http://schemas.openxmlformats.org/drawingml/2006/main">
            <a:defPPr>
              <a:defRPr sz="1125" b="1">
                <a:solidFill>
                  <a:srgbClr val="237B82"/>
                </a:solidFill>
                <a:latin typeface="Helvetica Neue"/>
                <a:ea typeface="Helvetica Neue"/>
                <a:cs typeface="Helvetica Neue"/>
              </a:defRPr>
            </a:defPPr>
            <a:lvl1pPr>
              <a:defRPr sz="1125" b="1">
                <a:solidFill>
                  <a:srgbClr val="237B82"/>
                </a:solidFill>
                <a:latin typeface="Helvetica Neue"/>
                <a:ea typeface="Helvetica Neue"/>
                <a:cs typeface="Helvetica Neue"/>
              </a:defRPr>
            </a:lvl1pPr>
            <a:lvl2pPr>
              <a:defRPr sz="1125" b="1">
                <a:solidFill>
                  <a:srgbClr val="237B82"/>
                </a:solidFill>
                <a:latin typeface="Helvetica Neue"/>
                <a:ea typeface="Helvetica Neue"/>
                <a:cs typeface="Helvetica Neue"/>
              </a:defRPr>
            </a:lvl2pPr>
            <a:lvl3pPr>
              <a:defRPr sz="1125" b="1">
                <a:solidFill>
                  <a:srgbClr val="237B82"/>
                </a:solidFill>
                <a:latin typeface="Helvetica Neue"/>
                <a:ea typeface="Helvetica Neue"/>
                <a:cs typeface="Helvetica Neue"/>
              </a:defRPr>
            </a:lvl3pPr>
            <a:lvl4pPr>
              <a:defRPr sz="1125" b="1">
                <a:solidFill>
                  <a:srgbClr val="237B82"/>
                </a:solidFill>
                <a:latin typeface="Helvetica Neue"/>
                <a:ea typeface="Helvetica Neue"/>
                <a:cs typeface="Helvetica Neue"/>
              </a:defRPr>
            </a:lvl4pPr>
            <a:lvl5pPr>
              <a:defRPr sz="1125" b="1">
                <a:solidFill>
                  <a:srgbClr val="237B82"/>
                </a:solidFill>
                <a:latin typeface="Helvetica Neue"/>
                <a:ea typeface="Helvetica Neue"/>
                <a:cs typeface="Helvetica Neue"/>
              </a:defRPr>
            </a:lvl5pPr>
            <a:lvl6pPr>
              <a:defRPr sz="1125" b="1">
                <a:solidFill>
                  <a:srgbClr val="237B82"/>
                </a:solidFill>
                <a:latin typeface="Helvetica Neue"/>
                <a:ea typeface="Helvetica Neue"/>
                <a:cs typeface="Helvetica Neue"/>
              </a:defRPr>
            </a:lvl6pPr>
            <a:lvl7pPr>
              <a:defRPr sz="1125" b="1">
                <a:solidFill>
                  <a:srgbClr val="237B82"/>
                </a:solidFill>
                <a:latin typeface="Helvetica Neue"/>
                <a:ea typeface="Helvetica Neue"/>
                <a:cs typeface="Helvetica Neue"/>
              </a:defRPr>
            </a:lvl7pPr>
            <a:lvl8pPr>
              <a:defRPr sz="1125" b="1">
                <a:solidFill>
                  <a:srgbClr val="237B82"/>
                </a:solidFill>
                <a:latin typeface="Helvetica Neue"/>
                <a:ea typeface="Helvetica Neue"/>
                <a:cs typeface="Helvetica Neue"/>
              </a:defRPr>
            </a:lvl8pPr>
            <a:lvl9pPr>
              <a:defRPr sz="1125" b="1">
                <a:solidFill>
                  <a:srgbClr val="237B82"/>
                </a:solidFill>
                <a:latin typeface="Helvetica Neue"/>
                <a:ea typeface="Helvetica Neue"/>
                <a:cs typeface="Helvetica Neue"/>
              </a:defRPr>
            </a:lvl9pPr>
          </a:lstStyle>
          <a:p xmlns:a="http://schemas.openxmlformats.org/drawingml/2006/main">
            <a:pPr>
              <a:defRPr sz="1125" b="1">
                <a:solidFill>
                  <a:srgbClr val="237B82"/>
                </a:solidFill>
                <a:latin typeface="Helvetica Neue"/>
                <a:ea typeface="Helvetica Neue"/>
                <a:cs typeface="Helvetica Neue"/>
              </a:defRPr>
            </a:pPr>
            <a:r>
              <a:rPr sz="1125" b="1">
                <a:solidFill>
                  <a:srgbClr val="237B82"/>
                </a:solidFill>
                <a:latin typeface="Helvetica Neue"/>
                <a:ea typeface="Helvetica Neue"/>
                <a:cs typeface="Helvetica Neue"/>
              </a:rPr>
              <a:t>MODULE 4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B3EE1DB0-32CB-4A34-81FE-86B7F8B3F8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457200"/>
            <a:ext cx="5334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>
            <a:defPPr>
              <a:defRPr sz="1200" b="1">
                <a:solidFill>
                  <a:srgbClr val="237B82"/>
                </a:solidFill>
                <a:latin typeface="Helvetica Neue"/>
                <a:ea typeface="Helvetica Neue"/>
                <a:cs typeface="Helvetica Neue"/>
              </a:defRPr>
            </a:defPPr>
            <a:lvl1pPr>
              <a:defRPr sz="1200" b="1">
                <a:solidFill>
                  <a:srgbClr val="237B82"/>
                </a:solidFill>
                <a:latin typeface="Helvetica Neue"/>
                <a:ea typeface="Helvetica Neue"/>
                <a:cs typeface="Helvetica Neue"/>
              </a:defRPr>
            </a:lvl1pPr>
            <a:lvl2pPr>
              <a:defRPr sz="1200" b="1">
                <a:solidFill>
                  <a:srgbClr val="237B82"/>
                </a:solidFill>
                <a:latin typeface="Helvetica Neue"/>
                <a:ea typeface="Helvetica Neue"/>
                <a:cs typeface="Helvetica Neue"/>
              </a:defRPr>
            </a:lvl2pPr>
            <a:lvl3pPr>
              <a:defRPr sz="1200" b="1">
                <a:solidFill>
                  <a:srgbClr val="237B82"/>
                </a:solidFill>
                <a:latin typeface="Helvetica Neue"/>
                <a:ea typeface="Helvetica Neue"/>
                <a:cs typeface="Helvetica Neue"/>
              </a:defRPr>
            </a:lvl3pPr>
            <a:lvl4pPr>
              <a:defRPr sz="1200" b="1">
                <a:solidFill>
                  <a:srgbClr val="237B82"/>
                </a:solidFill>
                <a:latin typeface="Helvetica Neue"/>
                <a:ea typeface="Helvetica Neue"/>
                <a:cs typeface="Helvetica Neue"/>
              </a:defRPr>
            </a:lvl4pPr>
            <a:lvl5pPr>
              <a:defRPr sz="1200" b="1">
                <a:solidFill>
                  <a:srgbClr val="237B82"/>
                </a:solidFill>
                <a:latin typeface="Helvetica Neue"/>
                <a:ea typeface="Helvetica Neue"/>
                <a:cs typeface="Helvetica Neue"/>
              </a:defRPr>
            </a:lvl5pPr>
            <a:lvl6pPr>
              <a:defRPr sz="1200" b="1">
                <a:solidFill>
                  <a:srgbClr val="237B82"/>
                </a:solidFill>
                <a:latin typeface="Helvetica Neue"/>
                <a:ea typeface="Helvetica Neue"/>
                <a:cs typeface="Helvetica Neue"/>
              </a:defRPr>
            </a:lvl6pPr>
            <a:lvl7pPr>
              <a:defRPr sz="1200" b="1">
                <a:solidFill>
                  <a:srgbClr val="237B82"/>
                </a:solidFill>
                <a:latin typeface="Helvetica Neue"/>
                <a:ea typeface="Helvetica Neue"/>
                <a:cs typeface="Helvetica Neue"/>
              </a:defRPr>
            </a:lvl7pPr>
            <a:lvl8pPr>
              <a:defRPr sz="1200" b="1">
                <a:solidFill>
                  <a:srgbClr val="237B82"/>
                </a:solidFill>
                <a:latin typeface="Helvetica Neue"/>
                <a:ea typeface="Helvetica Neue"/>
                <a:cs typeface="Helvetica Neue"/>
              </a:defRPr>
            </a:lvl8pPr>
            <a:lvl9pPr>
              <a:defRPr sz="1200" b="1">
                <a:solidFill>
                  <a:srgbClr val="237B82"/>
                </a:solidFill>
                <a:latin typeface="Helvetica Neue"/>
                <a:ea typeface="Helvetica Neue"/>
                <a:cs typeface="Helvetica Neue"/>
              </a:defRPr>
            </a:lvl9pPr>
          </a:lstStyle>
          <a:p xmlns:a="http://schemas.openxmlformats.org/drawingml/2006/main">
            <a:pPr>
              <a:defRPr sz="1200" b="1">
                <a:solidFill>
                  <a:srgbClr val="237B82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00" b="1">
                <a:solidFill>
                  <a:srgbClr val="237B82"/>
                </a:solidFill>
                <a:latin typeface="Helvetica Neue"/>
                <a:ea typeface="Helvetica Neue"/>
                <a:cs typeface="Helvetica Neue"/>
              </a:rPr>
              <a:t>19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C6162B59-D1A0-4571-964A-94B5AC2430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1762125"/>
            <a:ext cx="10287000" cy="409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>
            <a:defPPr>
              <a:defRPr sz="1875">
                <a:solidFill>
                  <a:srgbClr val="13212D"/>
                </a:solidFill>
                <a:latin typeface="Helvetica Neue"/>
                <a:ea typeface="Helvetica Neue"/>
                <a:cs typeface="Helvetica Neue"/>
              </a:defRPr>
            </a:defPPr>
            <a:lvl1pPr>
              <a:defRPr sz="1875">
                <a:solidFill>
                  <a:srgbClr val="13212D"/>
                </a:solidFill>
                <a:latin typeface="Helvetica Neue"/>
                <a:ea typeface="Helvetica Neue"/>
                <a:cs typeface="Helvetica Neue"/>
              </a:defRPr>
            </a:lvl1pPr>
            <a:lvl2pPr>
              <a:defRPr sz="1875">
                <a:solidFill>
                  <a:srgbClr val="13212D"/>
                </a:solidFill>
                <a:latin typeface="Helvetica Neue"/>
                <a:ea typeface="Helvetica Neue"/>
                <a:cs typeface="Helvetica Neue"/>
              </a:defRPr>
            </a:lvl2pPr>
            <a:lvl3pPr>
              <a:defRPr sz="1875">
                <a:solidFill>
                  <a:srgbClr val="13212D"/>
                </a:solidFill>
                <a:latin typeface="Helvetica Neue"/>
                <a:ea typeface="Helvetica Neue"/>
                <a:cs typeface="Helvetica Neue"/>
              </a:defRPr>
            </a:lvl3pPr>
            <a:lvl4pPr>
              <a:defRPr sz="1875">
                <a:solidFill>
                  <a:srgbClr val="13212D"/>
                </a:solidFill>
                <a:latin typeface="Helvetica Neue"/>
                <a:ea typeface="Helvetica Neue"/>
                <a:cs typeface="Helvetica Neue"/>
              </a:defRPr>
            </a:lvl4pPr>
            <a:lvl5pPr>
              <a:defRPr sz="1875">
                <a:solidFill>
                  <a:srgbClr val="13212D"/>
                </a:solidFill>
                <a:latin typeface="Helvetica Neue"/>
                <a:ea typeface="Helvetica Neue"/>
                <a:cs typeface="Helvetica Neue"/>
              </a:defRPr>
            </a:lvl5pPr>
            <a:lvl6pPr>
              <a:defRPr sz="1875">
                <a:solidFill>
                  <a:srgbClr val="13212D"/>
                </a:solidFill>
                <a:latin typeface="Helvetica Neue"/>
                <a:ea typeface="Helvetica Neue"/>
                <a:cs typeface="Helvetica Neue"/>
              </a:defRPr>
            </a:lvl6pPr>
            <a:lvl7pPr>
              <a:defRPr sz="1875">
                <a:solidFill>
                  <a:srgbClr val="13212D"/>
                </a:solidFill>
                <a:latin typeface="Helvetica Neue"/>
                <a:ea typeface="Helvetica Neue"/>
                <a:cs typeface="Helvetica Neue"/>
              </a:defRPr>
            </a:lvl7pPr>
            <a:lvl8pPr>
              <a:defRPr sz="1875">
                <a:solidFill>
                  <a:srgbClr val="13212D"/>
                </a:solidFill>
                <a:latin typeface="Helvetica Neue"/>
                <a:ea typeface="Helvetica Neue"/>
                <a:cs typeface="Helvetica Neue"/>
              </a:defRPr>
            </a:lvl8pPr>
            <a:lvl9pPr>
              <a:defRPr sz="1875">
                <a:solidFill>
                  <a:srgbClr val="13212D"/>
                </a:solidFill>
                <a:latin typeface="Helvetica Neue"/>
                <a:ea typeface="Helvetica Neue"/>
                <a:cs typeface="Helvetica Neue"/>
              </a:defRPr>
            </a:lvl9pPr>
          </a:lstStyle>
          <a:p xmlns:a="http://schemas.openxmlformats.org/drawingml/2006/main">
            <a:pPr marL="279400" indent="-127000">
              <a:spcAft>
                <a:spcPts val="1300"/>
              </a:spcAft>
              <a:buChar char="•"/>
              <a:defRPr sz="1875">
                <a:solidFill>
                  <a:srgbClr val="13212D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75">
                <a:solidFill>
                  <a:srgbClr val="13212D"/>
                </a:solidFill>
                <a:latin typeface="Helvetica Neue"/>
                <a:ea typeface="Helvetica Neue"/>
                <a:cs typeface="Helvetica Neue"/>
              </a:rPr>
              <a:t>The A antigen and B antigen are the most important antigens.</a:t>
            </a:r>
          </a:p>
          <a:p xmlns:a="http://schemas.openxmlformats.org/drawingml/2006/main">
            <a:pPr marL="279400" indent="-127000">
              <a:spcAft>
                <a:spcPts val="1300"/>
              </a:spcAft>
              <a:buChar char="•"/>
              <a:defRPr sz="1875">
                <a:solidFill>
                  <a:srgbClr val="13212D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75">
                <a:solidFill>
                  <a:srgbClr val="13212D"/>
                </a:solidFill>
                <a:latin typeface="Helvetica Neue"/>
                <a:ea typeface="Helvetica Neue"/>
                <a:cs typeface="Helvetica Neue"/>
              </a:rPr>
              <a:t>They are located on the surface of the RBC.</a:t>
            </a:r>
          </a:p>
          <a:p xmlns:a="http://schemas.openxmlformats.org/drawingml/2006/main">
            <a:pPr marL="279400" indent="-127000">
              <a:spcAft>
                <a:spcPts val="1300"/>
              </a:spcAft>
              <a:buChar char="•"/>
              <a:defRPr sz="1875">
                <a:solidFill>
                  <a:srgbClr val="13212D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75">
                <a:solidFill>
                  <a:srgbClr val="13212D"/>
                </a:solidFill>
                <a:latin typeface="Helvetica Neue"/>
                <a:ea typeface="Helvetica Neue"/>
                <a:cs typeface="Helvetica Neue"/>
              </a:rPr>
              <a:t>The RBC is tested to determine what specific blood group it belongs to.</a:t>
            </a:r>
          </a:p>
          <a:p xmlns:a="http://schemas.openxmlformats.org/drawingml/2006/main">
            <a:pPr marL="279400" indent="-127000">
              <a:spcAft>
                <a:spcPts val="1300"/>
              </a:spcAft>
              <a:buChar char="•"/>
              <a:defRPr sz="1875">
                <a:solidFill>
                  <a:srgbClr val="13212D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75">
                <a:solidFill>
                  <a:srgbClr val="13212D"/>
                </a:solidFill>
                <a:latin typeface="Helvetica Neue"/>
                <a:ea typeface="Helvetica Neue"/>
                <a:cs typeface="Helvetica Neue"/>
              </a:rPr>
              <a:t>Those patients who test positive for the A antigen are classified as group A, B antigen as group B, and AB as group AB.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87FCFEE8-4877-44DF-A146-EF2C6B65C8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6115050"/>
            <a:ext cx="101917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>
            <a:defPPr>
              <a:defRPr sz="1125" b="1">
                <a:solidFill>
                  <a:srgbClr val="B94F3D"/>
                </a:solidFill>
                <a:latin typeface="Helvetica Neue"/>
                <a:ea typeface="Helvetica Neue"/>
                <a:cs typeface="Helvetica Neue"/>
              </a:defRPr>
            </a:defPPr>
            <a:lvl1pPr>
              <a:defRPr sz="1125" b="1">
                <a:solidFill>
                  <a:srgbClr val="B94F3D"/>
                </a:solidFill>
                <a:latin typeface="Helvetica Neue"/>
                <a:ea typeface="Helvetica Neue"/>
                <a:cs typeface="Helvetica Neue"/>
              </a:defRPr>
            </a:lvl1pPr>
            <a:lvl2pPr>
              <a:defRPr sz="1125" b="1">
                <a:solidFill>
                  <a:srgbClr val="B94F3D"/>
                </a:solidFill>
                <a:latin typeface="Helvetica Neue"/>
                <a:ea typeface="Helvetica Neue"/>
                <a:cs typeface="Helvetica Neue"/>
              </a:defRPr>
            </a:lvl2pPr>
            <a:lvl3pPr>
              <a:defRPr sz="1125" b="1">
                <a:solidFill>
                  <a:srgbClr val="B94F3D"/>
                </a:solidFill>
                <a:latin typeface="Helvetica Neue"/>
                <a:ea typeface="Helvetica Neue"/>
                <a:cs typeface="Helvetica Neue"/>
              </a:defRPr>
            </a:lvl3pPr>
            <a:lvl4pPr>
              <a:defRPr sz="1125" b="1">
                <a:solidFill>
                  <a:srgbClr val="B94F3D"/>
                </a:solidFill>
                <a:latin typeface="Helvetica Neue"/>
                <a:ea typeface="Helvetica Neue"/>
                <a:cs typeface="Helvetica Neue"/>
              </a:defRPr>
            </a:lvl4pPr>
            <a:lvl5pPr>
              <a:defRPr sz="1125" b="1">
                <a:solidFill>
                  <a:srgbClr val="B94F3D"/>
                </a:solidFill>
                <a:latin typeface="Helvetica Neue"/>
                <a:ea typeface="Helvetica Neue"/>
                <a:cs typeface="Helvetica Neue"/>
              </a:defRPr>
            </a:lvl5pPr>
            <a:lvl6pPr>
              <a:defRPr sz="1125" b="1">
                <a:solidFill>
                  <a:srgbClr val="B94F3D"/>
                </a:solidFill>
                <a:latin typeface="Helvetica Neue"/>
                <a:ea typeface="Helvetica Neue"/>
                <a:cs typeface="Helvetica Neue"/>
              </a:defRPr>
            </a:lvl6pPr>
            <a:lvl7pPr>
              <a:defRPr sz="1125" b="1">
                <a:solidFill>
                  <a:srgbClr val="B94F3D"/>
                </a:solidFill>
                <a:latin typeface="Helvetica Neue"/>
                <a:ea typeface="Helvetica Neue"/>
                <a:cs typeface="Helvetica Neue"/>
              </a:defRPr>
            </a:lvl7pPr>
            <a:lvl8pPr>
              <a:defRPr sz="1125" b="1">
                <a:solidFill>
                  <a:srgbClr val="B94F3D"/>
                </a:solidFill>
                <a:latin typeface="Helvetica Neue"/>
                <a:ea typeface="Helvetica Neue"/>
                <a:cs typeface="Helvetica Neue"/>
              </a:defRPr>
            </a:lvl8pPr>
            <a:lvl9pPr>
              <a:defRPr sz="1125" b="1">
                <a:solidFill>
                  <a:srgbClr val="B94F3D"/>
                </a:solidFill>
                <a:latin typeface="Helvetica Neue"/>
                <a:ea typeface="Helvetica Neue"/>
                <a:cs typeface="Helvetica Neue"/>
              </a:defRPr>
            </a:lvl9pPr>
          </a:lstStyle>
          <a:p xmlns:a="http://schemas.openxmlformats.org/drawingml/2006/main">
            <a:pPr>
              <a:defRPr sz="1125" b="1">
                <a:solidFill>
                  <a:srgbClr val="B94F3D"/>
                </a:solidFill>
                <a:latin typeface="Helvetica Neue"/>
                <a:ea typeface="Helvetica Neue"/>
                <a:cs typeface="Helvetica Neue"/>
              </a:defRPr>
            </a:pPr>
            <a:r>
              <a:rPr sz="1125" b="1">
                <a:solidFill>
                  <a:srgbClr val="B94F3D"/>
                </a:solidFill>
                <a:latin typeface="Helvetica Neue"/>
                <a:ea typeface="Helvetica Neue"/>
                <a:cs typeface="Helvetica Neue"/>
              </a:rPr>
              <a:t>Use current orders, facility policy, and authorized scope when applying this information.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1BA6FB3F-A543-42BB-B85D-4FEA2C937F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5772150"/>
            <a:ext cx="101917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97619"/>
          </a:bodyPr>
          <a:lstStyle xmlns:a="http://schemas.openxmlformats.org/drawingml/2006/main">
            <a:defPPr>
              <a:defRPr sz="1050" b="1">
                <a:solidFill>
                  <a:srgbClr val="237B82"/>
                </a:solidFill>
                <a:latin typeface="Helvetica Neue"/>
                <a:ea typeface="Helvetica Neue"/>
                <a:cs typeface="Helvetica Neue"/>
              </a:defRPr>
            </a:defPPr>
            <a:lvl1pPr>
              <a:defRPr sz="1050" b="1">
                <a:solidFill>
                  <a:srgbClr val="237B82"/>
                </a:solidFill>
                <a:latin typeface="Helvetica Neue"/>
                <a:ea typeface="Helvetica Neue"/>
                <a:cs typeface="Helvetica Neue"/>
              </a:defRPr>
            </a:lvl1pPr>
            <a:lvl2pPr>
              <a:defRPr sz="1050" b="1">
                <a:solidFill>
                  <a:srgbClr val="237B82"/>
                </a:solidFill>
                <a:latin typeface="Helvetica Neue"/>
                <a:ea typeface="Helvetica Neue"/>
                <a:cs typeface="Helvetica Neue"/>
              </a:defRPr>
            </a:lvl2pPr>
            <a:lvl3pPr>
              <a:defRPr sz="1050" b="1">
                <a:solidFill>
                  <a:srgbClr val="237B82"/>
                </a:solidFill>
                <a:latin typeface="Helvetica Neue"/>
                <a:ea typeface="Helvetica Neue"/>
                <a:cs typeface="Helvetica Neue"/>
              </a:defRPr>
            </a:lvl3pPr>
            <a:lvl4pPr>
              <a:defRPr sz="1050" b="1">
                <a:solidFill>
                  <a:srgbClr val="237B82"/>
                </a:solidFill>
                <a:latin typeface="Helvetica Neue"/>
                <a:ea typeface="Helvetica Neue"/>
                <a:cs typeface="Helvetica Neue"/>
              </a:defRPr>
            </a:lvl4pPr>
            <a:lvl5pPr>
              <a:defRPr sz="1050" b="1">
                <a:solidFill>
                  <a:srgbClr val="237B82"/>
                </a:solidFill>
                <a:latin typeface="Helvetica Neue"/>
                <a:ea typeface="Helvetica Neue"/>
                <a:cs typeface="Helvetica Neue"/>
              </a:defRPr>
            </a:lvl5pPr>
            <a:lvl6pPr>
              <a:defRPr sz="1050" b="1">
                <a:solidFill>
                  <a:srgbClr val="237B82"/>
                </a:solidFill>
                <a:latin typeface="Helvetica Neue"/>
                <a:ea typeface="Helvetica Neue"/>
                <a:cs typeface="Helvetica Neue"/>
              </a:defRPr>
            </a:lvl6pPr>
            <a:lvl7pPr>
              <a:defRPr sz="1050" b="1">
                <a:solidFill>
                  <a:srgbClr val="237B82"/>
                </a:solidFill>
                <a:latin typeface="Helvetica Neue"/>
                <a:ea typeface="Helvetica Neue"/>
                <a:cs typeface="Helvetica Neue"/>
              </a:defRPr>
            </a:lvl7pPr>
            <a:lvl8pPr>
              <a:defRPr sz="1050" b="1">
                <a:solidFill>
                  <a:srgbClr val="237B82"/>
                </a:solidFill>
                <a:latin typeface="Helvetica Neue"/>
                <a:ea typeface="Helvetica Neue"/>
                <a:cs typeface="Helvetica Neue"/>
              </a:defRPr>
            </a:lvl8pPr>
            <a:lvl9pPr>
              <a:defRPr sz="1050" b="1">
                <a:solidFill>
                  <a:srgbClr val="237B82"/>
                </a:solidFill>
                <a:latin typeface="Helvetica Neue"/>
                <a:ea typeface="Helvetica Neue"/>
                <a:cs typeface="Helvetica Neue"/>
              </a:defRPr>
            </a:lvl9pPr>
          </a:lstStyle>
          <a:p xmlns:a="http://schemas.openxmlformats.org/drawingml/2006/main">
            <a:pPr>
              <a:defRPr sz="1050" b="1">
                <a:solidFill>
                  <a:srgbClr val="237B82"/>
                </a:solidFill>
                <a:latin typeface="Helvetica Neue"/>
                <a:ea typeface="Helvetica Neue"/>
                <a:cs typeface="Helvetica Neue"/>
              </a:defRPr>
            </a:pPr>
            <a:r>
              <a:rPr sz="1050" b="1">
                <a:solidFill>
                  <a:srgbClr val="237B82"/>
                </a:solidFill>
                <a:latin typeface="Helvetica Neue"/>
                <a:ea typeface="Helvetica Neue"/>
                <a:cs typeface="Helvetica Neue"/>
              </a:rPr>
              <a:t>Manual page 53</a:t>
            </a:r>
          </a:p>
        </p:txBody>
      </p:sp>
    </p:spTree>
    <p:extLst>
      <p:ext uri="{BB962C8B-B14F-4D97-AF65-F5344CB8AC3E}">
        <p14:creationId xmlns:p14="http://schemas.microsoft.com/office/powerpoint/2010/main" val="1685384702"/>
      </p:ext>
    </p:extLst>
  </p:cSld>
</p:sld>
</file>

<file path=ppt/slides/slide20.xml><?xml version="1.0" encoding="utf-8"?>
<p:sld xmlns:p="http://schemas.openxmlformats.org/presentationml/2006/main">
  <p:cSld>
    <p:bg>
      <p:bgPr>
        <a:solidFill xmlns:a="http://schemas.openxmlformats.org/drawingml/2006/main">
          <a:srgbClr val="F7F4EE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7F33BBA5-9CFA-44C7-B3E4-1BD28BADDF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2095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37B82"/>
          </a:solidFill>
          <a:ln xmlns:a="http://schemas.openxmlformats.org/drawingml/2006/main" w="0">
            <a:solidFill>
              <a:srgbClr val="237B82"/>
            </a:solidFill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8601E780-9F61-4C3A-8B39-295F9C112D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00050"/>
            <a:ext cx="10001250" cy="819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>
            <a:defPPr>
              <a:defRPr sz="2700" b="1">
                <a:solidFill>
                  <a:srgbClr val="15324A"/>
                </a:solidFill>
                <a:latin typeface="Helvetica Neue"/>
                <a:ea typeface="Helvetica Neue"/>
                <a:cs typeface="Helvetica Neue"/>
              </a:defRPr>
            </a:defPPr>
            <a:lvl1pPr>
              <a:defRPr sz="2700" b="1">
                <a:solidFill>
                  <a:srgbClr val="15324A"/>
                </a:solidFill>
                <a:latin typeface="Helvetica Neue"/>
                <a:ea typeface="Helvetica Neue"/>
                <a:cs typeface="Helvetica Neue"/>
              </a:defRPr>
            </a:lvl1pPr>
            <a:lvl2pPr>
              <a:defRPr sz="2700" b="1">
                <a:solidFill>
                  <a:srgbClr val="15324A"/>
                </a:solidFill>
                <a:latin typeface="Helvetica Neue"/>
                <a:ea typeface="Helvetica Neue"/>
                <a:cs typeface="Helvetica Neue"/>
              </a:defRPr>
            </a:lvl2pPr>
            <a:lvl3pPr>
              <a:defRPr sz="2700" b="1">
                <a:solidFill>
                  <a:srgbClr val="15324A"/>
                </a:solidFill>
                <a:latin typeface="Helvetica Neue"/>
                <a:ea typeface="Helvetica Neue"/>
                <a:cs typeface="Helvetica Neue"/>
              </a:defRPr>
            </a:lvl3pPr>
            <a:lvl4pPr>
              <a:defRPr sz="2700" b="1">
                <a:solidFill>
                  <a:srgbClr val="15324A"/>
                </a:solidFill>
                <a:latin typeface="Helvetica Neue"/>
                <a:ea typeface="Helvetica Neue"/>
                <a:cs typeface="Helvetica Neue"/>
              </a:defRPr>
            </a:lvl4pPr>
            <a:lvl5pPr>
              <a:defRPr sz="2700" b="1">
                <a:solidFill>
                  <a:srgbClr val="15324A"/>
                </a:solidFill>
                <a:latin typeface="Helvetica Neue"/>
                <a:ea typeface="Helvetica Neue"/>
                <a:cs typeface="Helvetica Neue"/>
              </a:defRPr>
            </a:lvl5pPr>
            <a:lvl6pPr>
              <a:defRPr sz="2700" b="1">
                <a:solidFill>
                  <a:srgbClr val="15324A"/>
                </a:solidFill>
                <a:latin typeface="Helvetica Neue"/>
                <a:ea typeface="Helvetica Neue"/>
                <a:cs typeface="Helvetica Neue"/>
              </a:defRPr>
            </a:lvl6pPr>
            <a:lvl7pPr>
              <a:defRPr sz="2700" b="1">
                <a:solidFill>
                  <a:srgbClr val="15324A"/>
                </a:solidFill>
                <a:latin typeface="Helvetica Neue"/>
                <a:ea typeface="Helvetica Neue"/>
                <a:cs typeface="Helvetica Neue"/>
              </a:defRPr>
            </a:lvl7pPr>
            <a:lvl8pPr>
              <a:defRPr sz="2700" b="1">
                <a:solidFill>
                  <a:srgbClr val="15324A"/>
                </a:solidFill>
                <a:latin typeface="Helvetica Neue"/>
                <a:ea typeface="Helvetica Neue"/>
                <a:cs typeface="Helvetica Neue"/>
              </a:defRPr>
            </a:lvl8pPr>
            <a:lvl9pPr>
              <a:defRPr sz="2700" b="1">
                <a:solidFill>
                  <a:srgbClr val="15324A"/>
                </a:solidFill>
                <a:latin typeface="Helvetica Neue"/>
                <a:ea typeface="Helvetica Neue"/>
                <a:cs typeface="Helvetica Neue"/>
              </a:defRPr>
            </a:lvl9pPr>
          </a:lstStyle>
          <a:p xmlns:a="http://schemas.openxmlformats.org/drawingml/2006/main">
            <a:pPr>
              <a:defRPr sz="2700" b="1">
                <a:solidFill>
                  <a:srgbClr val="15324A"/>
                </a:solidFill>
                <a:latin typeface="Helvetica Neue"/>
                <a:ea typeface="Helvetica Neue"/>
                <a:cs typeface="Helvetica Neue"/>
              </a:defRPr>
            </a:pPr>
            <a:r>
              <a:rPr sz="2700" b="1">
                <a:solidFill>
                  <a:srgbClr val="15324A"/>
                </a:solidFill>
                <a:latin typeface="Helvetica Neue"/>
                <a:ea typeface="Helvetica Neue"/>
                <a:cs typeface="Helvetica Neue"/>
              </a:rPr>
              <a:t>Objectives of Transfusion Therapy — continued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A9E50E5A-FE1F-4B3D-A794-C7AB0C56E0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1257300"/>
            <a:ext cx="88582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91111"/>
          </a:bodyPr>
          <a:lstStyle xmlns:a="http://schemas.openxmlformats.org/drawingml/2006/main">
            <a:defPPr>
              <a:defRPr sz="1125" b="1">
                <a:solidFill>
                  <a:srgbClr val="237B82"/>
                </a:solidFill>
                <a:latin typeface="Helvetica Neue"/>
                <a:ea typeface="Helvetica Neue"/>
                <a:cs typeface="Helvetica Neue"/>
              </a:defRPr>
            </a:defPPr>
            <a:lvl1pPr>
              <a:defRPr sz="1125" b="1">
                <a:solidFill>
                  <a:srgbClr val="237B82"/>
                </a:solidFill>
                <a:latin typeface="Helvetica Neue"/>
                <a:ea typeface="Helvetica Neue"/>
                <a:cs typeface="Helvetica Neue"/>
              </a:defRPr>
            </a:lvl1pPr>
            <a:lvl2pPr>
              <a:defRPr sz="1125" b="1">
                <a:solidFill>
                  <a:srgbClr val="237B82"/>
                </a:solidFill>
                <a:latin typeface="Helvetica Neue"/>
                <a:ea typeface="Helvetica Neue"/>
                <a:cs typeface="Helvetica Neue"/>
              </a:defRPr>
            </a:lvl2pPr>
            <a:lvl3pPr>
              <a:defRPr sz="1125" b="1">
                <a:solidFill>
                  <a:srgbClr val="237B82"/>
                </a:solidFill>
                <a:latin typeface="Helvetica Neue"/>
                <a:ea typeface="Helvetica Neue"/>
                <a:cs typeface="Helvetica Neue"/>
              </a:defRPr>
            </a:lvl3pPr>
            <a:lvl4pPr>
              <a:defRPr sz="1125" b="1">
                <a:solidFill>
                  <a:srgbClr val="237B82"/>
                </a:solidFill>
                <a:latin typeface="Helvetica Neue"/>
                <a:ea typeface="Helvetica Neue"/>
                <a:cs typeface="Helvetica Neue"/>
              </a:defRPr>
            </a:lvl4pPr>
            <a:lvl5pPr>
              <a:defRPr sz="1125" b="1">
                <a:solidFill>
                  <a:srgbClr val="237B82"/>
                </a:solidFill>
                <a:latin typeface="Helvetica Neue"/>
                <a:ea typeface="Helvetica Neue"/>
                <a:cs typeface="Helvetica Neue"/>
              </a:defRPr>
            </a:lvl5pPr>
            <a:lvl6pPr>
              <a:defRPr sz="1125" b="1">
                <a:solidFill>
                  <a:srgbClr val="237B82"/>
                </a:solidFill>
                <a:latin typeface="Helvetica Neue"/>
                <a:ea typeface="Helvetica Neue"/>
                <a:cs typeface="Helvetica Neue"/>
              </a:defRPr>
            </a:lvl6pPr>
            <a:lvl7pPr>
              <a:defRPr sz="1125" b="1">
                <a:solidFill>
                  <a:srgbClr val="237B82"/>
                </a:solidFill>
                <a:latin typeface="Helvetica Neue"/>
                <a:ea typeface="Helvetica Neue"/>
                <a:cs typeface="Helvetica Neue"/>
              </a:defRPr>
            </a:lvl7pPr>
            <a:lvl8pPr>
              <a:defRPr sz="1125" b="1">
                <a:solidFill>
                  <a:srgbClr val="237B82"/>
                </a:solidFill>
                <a:latin typeface="Helvetica Neue"/>
                <a:ea typeface="Helvetica Neue"/>
                <a:cs typeface="Helvetica Neue"/>
              </a:defRPr>
            </a:lvl8pPr>
            <a:lvl9pPr>
              <a:defRPr sz="1125" b="1">
                <a:solidFill>
                  <a:srgbClr val="237B82"/>
                </a:solidFill>
                <a:latin typeface="Helvetica Neue"/>
                <a:ea typeface="Helvetica Neue"/>
                <a:cs typeface="Helvetica Neue"/>
              </a:defRPr>
            </a:lvl9pPr>
          </a:lstStyle>
          <a:p xmlns:a="http://schemas.openxmlformats.org/drawingml/2006/main">
            <a:pPr>
              <a:defRPr sz="1125" b="1">
                <a:solidFill>
                  <a:srgbClr val="237B82"/>
                </a:solidFill>
                <a:latin typeface="Helvetica Neue"/>
                <a:ea typeface="Helvetica Neue"/>
                <a:cs typeface="Helvetica Neue"/>
              </a:defRPr>
            </a:pPr>
            <a:r>
              <a:rPr sz="1125" b="1">
                <a:solidFill>
                  <a:srgbClr val="237B82"/>
                </a:solidFill>
                <a:latin typeface="Helvetica Neue"/>
                <a:ea typeface="Helvetica Neue"/>
                <a:cs typeface="Helvetica Neue"/>
              </a:rPr>
              <a:t>MODULE 4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A4A6E995-CC46-4699-B071-5323ED022B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457200"/>
            <a:ext cx="5334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>
            <a:defPPr>
              <a:defRPr sz="1200" b="1">
                <a:solidFill>
                  <a:srgbClr val="237B82"/>
                </a:solidFill>
                <a:latin typeface="Helvetica Neue"/>
                <a:ea typeface="Helvetica Neue"/>
                <a:cs typeface="Helvetica Neue"/>
              </a:defRPr>
            </a:defPPr>
            <a:lvl1pPr>
              <a:defRPr sz="1200" b="1">
                <a:solidFill>
                  <a:srgbClr val="237B82"/>
                </a:solidFill>
                <a:latin typeface="Helvetica Neue"/>
                <a:ea typeface="Helvetica Neue"/>
                <a:cs typeface="Helvetica Neue"/>
              </a:defRPr>
            </a:lvl1pPr>
            <a:lvl2pPr>
              <a:defRPr sz="1200" b="1">
                <a:solidFill>
                  <a:srgbClr val="237B82"/>
                </a:solidFill>
                <a:latin typeface="Helvetica Neue"/>
                <a:ea typeface="Helvetica Neue"/>
                <a:cs typeface="Helvetica Neue"/>
              </a:defRPr>
            </a:lvl2pPr>
            <a:lvl3pPr>
              <a:defRPr sz="1200" b="1">
                <a:solidFill>
                  <a:srgbClr val="237B82"/>
                </a:solidFill>
                <a:latin typeface="Helvetica Neue"/>
                <a:ea typeface="Helvetica Neue"/>
                <a:cs typeface="Helvetica Neue"/>
              </a:defRPr>
            </a:lvl3pPr>
            <a:lvl4pPr>
              <a:defRPr sz="1200" b="1">
                <a:solidFill>
                  <a:srgbClr val="237B82"/>
                </a:solidFill>
                <a:latin typeface="Helvetica Neue"/>
                <a:ea typeface="Helvetica Neue"/>
                <a:cs typeface="Helvetica Neue"/>
              </a:defRPr>
            </a:lvl4pPr>
            <a:lvl5pPr>
              <a:defRPr sz="1200" b="1">
                <a:solidFill>
                  <a:srgbClr val="237B82"/>
                </a:solidFill>
                <a:latin typeface="Helvetica Neue"/>
                <a:ea typeface="Helvetica Neue"/>
                <a:cs typeface="Helvetica Neue"/>
              </a:defRPr>
            </a:lvl5pPr>
            <a:lvl6pPr>
              <a:defRPr sz="1200" b="1">
                <a:solidFill>
                  <a:srgbClr val="237B82"/>
                </a:solidFill>
                <a:latin typeface="Helvetica Neue"/>
                <a:ea typeface="Helvetica Neue"/>
                <a:cs typeface="Helvetica Neue"/>
              </a:defRPr>
            </a:lvl6pPr>
            <a:lvl7pPr>
              <a:defRPr sz="1200" b="1">
                <a:solidFill>
                  <a:srgbClr val="237B82"/>
                </a:solidFill>
                <a:latin typeface="Helvetica Neue"/>
                <a:ea typeface="Helvetica Neue"/>
                <a:cs typeface="Helvetica Neue"/>
              </a:defRPr>
            </a:lvl7pPr>
            <a:lvl8pPr>
              <a:defRPr sz="1200" b="1">
                <a:solidFill>
                  <a:srgbClr val="237B82"/>
                </a:solidFill>
                <a:latin typeface="Helvetica Neue"/>
                <a:ea typeface="Helvetica Neue"/>
                <a:cs typeface="Helvetica Neue"/>
              </a:defRPr>
            </a:lvl8pPr>
            <a:lvl9pPr>
              <a:defRPr sz="1200" b="1">
                <a:solidFill>
                  <a:srgbClr val="237B82"/>
                </a:solidFill>
                <a:latin typeface="Helvetica Neue"/>
                <a:ea typeface="Helvetica Neue"/>
                <a:cs typeface="Helvetica Neue"/>
              </a:defRPr>
            </a:lvl9pPr>
          </a:lstStyle>
          <a:p xmlns:a="http://schemas.openxmlformats.org/drawingml/2006/main">
            <a:pPr>
              <a:defRPr sz="1200" b="1">
                <a:solidFill>
                  <a:srgbClr val="237B82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00" b="1">
                <a:solidFill>
                  <a:srgbClr val="237B82"/>
                </a:solidFill>
                <a:latin typeface="Helvetica Neue"/>
                <a:ea typeface="Helvetica Neue"/>
                <a:cs typeface="Helvetica Neue"/>
              </a:rPr>
              <a:t>20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11FCE897-1371-4FBB-846A-FD02E1077D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1762125"/>
            <a:ext cx="10287000" cy="409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>
            <a:defPPr>
              <a:defRPr sz="1875">
                <a:solidFill>
                  <a:srgbClr val="13212D"/>
                </a:solidFill>
                <a:latin typeface="Helvetica Neue"/>
                <a:ea typeface="Helvetica Neue"/>
                <a:cs typeface="Helvetica Neue"/>
              </a:defRPr>
            </a:defPPr>
            <a:lvl1pPr>
              <a:defRPr sz="1875">
                <a:solidFill>
                  <a:srgbClr val="13212D"/>
                </a:solidFill>
                <a:latin typeface="Helvetica Neue"/>
                <a:ea typeface="Helvetica Neue"/>
                <a:cs typeface="Helvetica Neue"/>
              </a:defRPr>
            </a:lvl1pPr>
            <a:lvl2pPr>
              <a:defRPr sz="1875">
                <a:solidFill>
                  <a:srgbClr val="13212D"/>
                </a:solidFill>
                <a:latin typeface="Helvetica Neue"/>
                <a:ea typeface="Helvetica Neue"/>
                <a:cs typeface="Helvetica Neue"/>
              </a:defRPr>
            </a:lvl2pPr>
            <a:lvl3pPr>
              <a:defRPr sz="1875">
                <a:solidFill>
                  <a:srgbClr val="13212D"/>
                </a:solidFill>
                <a:latin typeface="Helvetica Neue"/>
                <a:ea typeface="Helvetica Neue"/>
                <a:cs typeface="Helvetica Neue"/>
              </a:defRPr>
            </a:lvl3pPr>
            <a:lvl4pPr>
              <a:defRPr sz="1875">
                <a:solidFill>
                  <a:srgbClr val="13212D"/>
                </a:solidFill>
                <a:latin typeface="Helvetica Neue"/>
                <a:ea typeface="Helvetica Neue"/>
                <a:cs typeface="Helvetica Neue"/>
              </a:defRPr>
            </a:lvl4pPr>
            <a:lvl5pPr>
              <a:defRPr sz="1875">
                <a:solidFill>
                  <a:srgbClr val="13212D"/>
                </a:solidFill>
                <a:latin typeface="Helvetica Neue"/>
                <a:ea typeface="Helvetica Neue"/>
                <a:cs typeface="Helvetica Neue"/>
              </a:defRPr>
            </a:lvl5pPr>
            <a:lvl6pPr>
              <a:defRPr sz="1875">
                <a:solidFill>
                  <a:srgbClr val="13212D"/>
                </a:solidFill>
                <a:latin typeface="Helvetica Neue"/>
                <a:ea typeface="Helvetica Neue"/>
                <a:cs typeface="Helvetica Neue"/>
              </a:defRPr>
            </a:lvl6pPr>
            <a:lvl7pPr>
              <a:defRPr sz="1875">
                <a:solidFill>
                  <a:srgbClr val="13212D"/>
                </a:solidFill>
                <a:latin typeface="Helvetica Neue"/>
                <a:ea typeface="Helvetica Neue"/>
                <a:cs typeface="Helvetica Neue"/>
              </a:defRPr>
            </a:lvl7pPr>
            <a:lvl8pPr>
              <a:defRPr sz="1875">
                <a:solidFill>
                  <a:srgbClr val="13212D"/>
                </a:solidFill>
                <a:latin typeface="Helvetica Neue"/>
                <a:ea typeface="Helvetica Neue"/>
                <a:cs typeface="Helvetica Neue"/>
              </a:defRPr>
            </a:lvl8pPr>
            <a:lvl9pPr>
              <a:defRPr sz="1875">
                <a:solidFill>
                  <a:srgbClr val="13212D"/>
                </a:solidFill>
                <a:latin typeface="Helvetica Neue"/>
                <a:ea typeface="Helvetica Neue"/>
                <a:cs typeface="Helvetica Neue"/>
              </a:defRPr>
            </a:lvl9pPr>
          </a:lstStyle>
          <a:p xmlns:a="http://schemas.openxmlformats.org/drawingml/2006/main">
            <a:pPr marL="279400" indent="-127000">
              <a:spcAft>
                <a:spcPts val="1300"/>
              </a:spcAft>
              <a:buChar char="•"/>
              <a:defRPr sz="1875">
                <a:solidFill>
                  <a:srgbClr val="13212D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75">
                <a:solidFill>
                  <a:srgbClr val="13212D"/>
                </a:solidFill>
                <a:latin typeface="Helvetica Neue"/>
                <a:ea typeface="Helvetica Neue"/>
                <a:cs typeface="Helvetica Neue"/>
              </a:rPr>
              <a:t>The absence of an antigen is classified as group O.</a:t>
            </a:r>
          </a:p>
          <a:p xmlns:a="http://schemas.openxmlformats.org/drawingml/2006/main">
            <a:pPr marL="279400" indent="-127000">
              <a:spcAft>
                <a:spcPts val="1300"/>
              </a:spcAft>
              <a:buChar char="•"/>
              <a:defRPr sz="1875">
                <a:solidFill>
                  <a:srgbClr val="13212D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75">
                <a:solidFill>
                  <a:srgbClr val="13212D"/>
                </a:solidFill>
                <a:latin typeface="Helvetica Neue"/>
                <a:ea typeface="Helvetica Neue"/>
                <a:cs typeface="Helvetica Neue"/>
              </a:rPr>
              <a:t>Blood typing also checks for the D antigen also known as the Rh factor.</a:t>
            </a:r>
          </a:p>
          <a:p xmlns:a="http://schemas.openxmlformats.org/drawingml/2006/main">
            <a:pPr marL="279400" indent="-127000">
              <a:spcAft>
                <a:spcPts val="1300"/>
              </a:spcAft>
              <a:buChar char="•"/>
              <a:defRPr sz="1875">
                <a:solidFill>
                  <a:srgbClr val="13212D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75">
                <a:solidFill>
                  <a:srgbClr val="13212D"/>
                </a:solidFill>
                <a:latin typeface="Helvetica Neue"/>
                <a:ea typeface="Helvetica Neue"/>
                <a:cs typeface="Helvetica Neue"/>
              </a:rPr>
              <a:t>The presence of the D antigen designated Rh positive blood and the absence designates Rh negative blood.</a:t>
            </a:r>
          </a:p>
          <a:p xmlns:a="http://schemas.openxmlformats.org/drawingml/2006/main">
            <a:pPr marL="279400" indent="-127000">
              <a:spcAft>
                <a:spcPts val="1300"/>
              </a:spcAft>
              <a:buChar char="•"/>
              <a:defRPr sz="1875">
                <a:solidFill>
                  <a:srgbClr val="13212D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75">
                <a:solidFill>
                  <a:srgbClr val="13212D"/>
                </a:solidFill>
                <a:latin typeface="Helvetica Neue"/>
                <a:ea typeface="Helvetica Neue"/>
                <a:cs typeface="Helvetica Neue"/>
              </a:rPr>
              <a:t>Accurate blood typing should include both the group and the Rh factor.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31E382E4-28AB-48A3-917A-52C45B2F9B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6115050"/>
            <a:ext cx="101917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>
            <a:defPPr>
              <a:defRPr sz="1125" b="1">
                <a:solidFill>
                  <a:srgbClr val="B94F3D"/>
                </a:solidFill>
                <a:latin typeface="Helvetica Neue"/>
                <a:ea typeface="Helvetica Neue"/>
                <a:cs typeface="Helvetica Neue"/>
              </a:defRPr>
            </a:defPPr>
            <a:lvl1pPr>
              <a:defRPr sz="1125" b="1">
                <a:solidFill>
                  <a:srgbClr val="B94F3D"/>
                </a:solidFill>
                <a:latin typeface="Helvetica Neue"/>
                <a:ea typeface="Helvetica Neue"/>
                <a:cs typeface="Helvetica Neue"/>
              </a:defRPr>
            </a:lvl1pPr>
            <a:lvl2pPr>
              <a:defRPr sz="1125" b="1">
                <a:solidFill>
                  <a:srgbClr val="B94F3D"/>
                </a:solidFill>
                <a:latin typeface="Helvetica Neue"/>
                <a:ea typeface="Helvetica Neue"/>
                <a:cs typeface="Helvetica Neue"/>
              </a:defRPr>
            </a:lvl2pPr>
            <a:lvl3pPr>
              <a:defRPr sz="1125" b="1">
                <a:solidFill>
                  <a:srgbClr val="B94F3D"/>
                </a:solidFill>
                <a:latin typeface="Helvetica Neue"/>
                <a:ea typeface="Helvetica Neue"/>
                <a:cs typeface="Helvetica Neue"/>
              </a:defRPr>
            </a:lvl3pPr>
            <a:lvl4pPr>
              <a:defRPr sz="1125" b="1">
                <a:solidFill>
                  <a:srgbClr val="B94F3D"/>
                </a:solidFill>
                <a:latin typeface="Helvetica Neue"/>
                <a:ea typeface="Helvetica Neue"/>
                <a:cs typeface="Helvetica Neue"/>
              </a:defRPr>
            </a:lvl4pPr>
            <a:lvl5pPr>
              <a:defRPr sz="1125" b="1">
                <a:solidFill>
                  <a:srgbClr val="B94F3D"/>
                </a:solidFill>
                <a:latin typeface="Helvetica Neue"/>
                <a:ea typeface="Helvetica Neue"/>
                <a:cs typeface="Helvetica Neue"/>
              </a:defRPr>
            </a:lvl5pPr>
            <a:lvl6pPr>
              <a:defRPr sz="1125" b="1">
                <a:solidFill>
                  <a:srgbClr val="B94F3D"/>
                </a:solidFill>
                <a:latin typeface="Helvetica Neue"/>
                <a:ea typeface="Helvetica Neue"/>
                <a:cs typeface="Helvetica Neue"/>
              </a:defRPr>
            </a:lvl6pPr>
            <a:lvl7pPr>
              <a:defRPr sz="1125" b="1">
                <a:solidFill>
                  <a:srgbClr val="B94F3D"/>
                </a:solidFill>
                <a:latin typeface="Helvetica Neue"/>
                <a:ea typeface="Helvetica Neue"/>
                <a:cs typeface="Helvetica Neue"/>
              </a:defRPr>
            </a:lvl7pPr>
            <a:lvl8pPr>
              <a:defRPr sz="1125" b="1">
                <a:solidFill>
                  <a:srgbClr val="B94F3D"/>
                </a:solidFill>
                <a:latin typeface="Helvetica Neue"/>
                <a:ea typeface="Helvetica Neue"/>
                <a:cs typeface="Helvetica Neue"/>
              </a:defRPr>
            </a:lvl8pPr>
            <a:lvl9pPr>
              <a:defRPr sz="1125" b="1">
                <a:solidFill>
                  <a:srgbClr val="B94F3D"/>
                </a:solidFill>
                <a:latin typeface="Helvetica Neue"/>
                <a:ea typeface="Helvetica Neue"/>
                <a:cs typeface="Helvetica Neue"/>
              </a:defRPr>
            </a:lvl9pPr>
          </a:lstStyle>
          <a:p xmlns:a="http://schemas.openxmlformats.org/drawingml/2006/main">
            <a:pPr>
              <a:defRPr sz="1125" b="1">
                <a:solidFill>
                  <a:srgbClr val="B94F3D"/>
                </a:solidFill>
                <a:latin typeface="Helvetica Neue"/>
                <a:ea typeface="Helvetica Neue"/>
                <a:cs typeface="Helvetica Neue"/>
              </a:defRPr>
            </a:pPr>
            <a:r>
              <a:rPr sz="1125" b="1">
                <a:solidFill>
                  <a:srgbClr val="B94F3D"/>
                </a:solidFill>
                <a:latin typeface="Helvetica Neue"/>
                <a:ea typeface="Helvetica Neue"/>
                <a:cs typeface="Helvetica Neue"/>
              </a:rPr>
              <a:t>Use current orders, facility policy, and authorized scope when applying this information.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4CC1362A-8868-4D8E-A325-3562FC74B7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5772150"/>
            <a:ext cx="101917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97619"/>
          </a:bodyPr>
          <a:lstStyle xmlns:a="http://schemas.openxmlformats.org/drawingml/2006/main">
            <a:defPPr>
              <a:defRPr sz="1050" b="1">
                <a:solidFill>
                  <a:srgbClr val="237B82"/>
                </a:solidFill>
                <a:latin typeface="Helvetica Neue"/>
                <a:ea typeface="Helvetica Neue"/>
                <a:cs typeface="Helvetica Neue"/>
              </a:defRPr>
            </a:defPPr>
            <a:lvl1pPr>
              <a:defRPr sz="1050" b="1">
                <a:solidFill>
                  <a:srgbClr val="237B82"/>
                </a:solidFill>
                <a:latin typeface="Helvetica Neue"/>
                <a:ea typeface="Helvetica Neue"/>
                <a:cs typeface="Helvetica Neue"/>
              </a:defRPr>
            </a:lvl1pPr>
            <a:lvl2pPr>
              <a:defRPr sz="1050" b="1">
                <a:solidFill>
                  <a:srgbClr val="237B82"/>
                </a:solidFill>
                <a:latin typeface="Helvetica Neue"/>
                <a:ea typeface="Helvetica Neue"/>
                <a:cs typeface="Helvetica Neue"/>
              </a:defRPr>
            </a:lvl2pPr>
            <a:lvl3pPr>
              <a:defRPr sz="1050" b="1">
                <a:solidFill>
                  <a:srgbClr val="237B82"/>
                </a:solidFill>
                <a:latin typeface="Helvetica Neue"/>
                <a:ea typeface="Helvetica Neue"/>
                <a:cs typeface="Helvetica Neue"/>
              </a:defRPr>
            </a:lvl3pPr>
            <a:lvl4pPr>
              <a:defRPr sz="1050" b="1">
                <a:solidFill>
                  <a:srgbClr val="237B82"/>
                </a:solidFill>
                <a:latin typeface="Helvetica Neue"/>
                <a:ea typeface="Helvetica Neue"/>
                <a:cs typeface="Helvetica Neue"/>
              </a:defRPr>
            </a:lvl4pPr>
            <a:lvl5pPr>
              <a:defRPr sz="1050" b="1">
                <a:solidFill>
                  <a:srgbClr val="237B82"/>
                </a:solidFill>
                <a:latin typeface="Helvetica Neue"/>
                <a:ea typeface="Helvetica Neue"/>
                <a:cs typeface="Helvetica Neue"/>
              </a:defRPr>
            </a:lvl5pPr>
            <a:lvl6pPr>
              <a:defRPr sz="1050" b="1">
                <a:solidFill>
                  <a:srgbClr val="237B82"/>
                </a:solidFill>
                <a:latin typeface="Helvetica Neue"/>
                <a:ea typeface="Helvetica Neue"/>
                <a:cs typeface="Helvetica Neue"/>
              </a:defRPr>
            </a:lvl6pPr>
            <a:lvl7pPr>
              <a:defRPr sz="1050" b="1">
                <a:solidFill>
                  <a:srgbClr val="237B82"/>
                </a:solidFill>
                <a:latin typeface="Helvetica Neue"/>
                <a:ea typeface="Helvetica Neue"/>
                <a:cs typeface="Helvetica Neue"/>
              </a:defRPr>
            </a:lvl7pPr>
            <a:lvl8pPr>
              <a:defRPr sz="1050" b="1">
                <a:solidFill>
                  <a:srgbClr val="237B82"/>
                </a:solidFill>
                <a:latin typeface="Helvetica Neue"/>
                <a:ea typeface="Helvetica Neue"/>
                <a:cs typeface="Helvetica Neue"/>
              </a:defRPr>
            </a:lvl8pPr>
            <a:lvl9pPr>
              <a:defRPr sz="1050" b="1">
                <a:solidFill>
                  <a:srgbClr val="237B82"/>
                </a:solidFill>
                <a:latin typeface="Helvetica Neue"/>
                <a:ea typeface="Helvetica Neue"/>
                <a:cs typeface="Helvetica Neue"/>
              </a:defRPr>
            </a:lvl9pPr>
          </a:lstStyle>
          <a:p xmlns:a="http://schemas.openxmlformats.org/drawingml/2006/main">
            <a:pPr>
              <a:defRPr sz="1050" b="1">
                <a:solidFill>
                  <a:srgbClr val="237B82"/>
                </a:solidFill>
                <a:latin typeface="Helvetica Neue"/>
                <a:ea typeface="Helvetica Neue"/>
                <a:cs typeface="Helvetica Neue"/>
              </a:defRPr>
            </a:pPr>
            <a:r>
              <a:rPr sz="1050" b="1">
                <a:solidFill>
                  <a:srgbClr val="237B82"/>
                </a:solidFill>
                <a:latin typeface="Helvetica Neue"/>
                <a:ea typeface="Helvetica Neue"/>
                <a:cs typeface="Helvetica Neue"/>
              </a:rPr>
              <a:t>Manual page 53</a:t>
            </a:r>
          </a:p>
        </p:txBody>
      </p:sp>
    </p:spTree>
    <p:extLst>
      <p:ext uri="{BB962C8B-B14F-4D97-AF65-F5344CB8AC3E}">
        <p14:creationId xmlns:p14="http://schemas.microsoft.com/office/powerpoint/2010/main" val="1503919875"/>
      </p:ext>
    </p:extLst>
  </p:cSld>
</p:sld>
</file>

<file path=ppt/slides/slide21.xml><?xml version="1.0" encoding="utf-8"?>
<p:sld xmlns:p="http://schemas.openxmlformats.org/presentationml/2006/main">
  <p:cSld>
    <p:bg>
      <p:bgPr>
        <a:solidFill xmlns:a="http://schemas.openxmlformats.org/drawingml/2006/main">
          <a:srgbClr val="F7F4EE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56EF4336-1FE9-4E81-BFFA-3240777B9F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2095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37B82"/>
          </a:solidFill>
          <a:ln xmlns:a="http://schemas.openxmlformats.org/drawingml/2006/main" w="0">
            <a:solidFill>
              <a:srgbClr val="237B82"/>
            </a:solidFill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746543D5-1EC2-45F9-B447-FCBC2AD23B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00050"/>
            <a:ext cx="10001250" cy="819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>
            <a:defPPr>
              <a:defRPr sz="2700" b="1">
                <a:solidFill>
                  <a:srgbClr val="15324A"/>
                </a:solidFill>
                <a:latin typeface="Helvetica Neue"/>
                <a:ea typeface="Helvetica Neue"/>
                <a:cs typeface="Helvetica Neue"/>
              </a:defRPr>
            </a:defPPr>
            <a:lvl1pPr>
              <a:defRPr sz="2700" b="1">
                <a:solidFill>
                  <a:srgbClr val="15324A"/>
                </a:solidFill>
                <a:latin typeface="Helvetica Neue"/>
                <a:ea typeface="Helvetica Neue"/>
                <a:cs typeface="Helvetica Neue"/>
              </a:defRPr>
            </a:lvl1pPr>
            <a:lvl2pPr>
              <a:defRPr sz="2700" b="1">
                <a:solidFill>
                  <a:srgbClr val="15324A"/>
                </a:solidFill>
                <a:latin typeface="Helvetica Neue"/>
                <a:ea typeface="Helvetica Neue"/>
                <a:cs typeface="Helvetica Neue"/>
              </a:defRPr>
            </a:lvl2pPr>
            <a:lvl3pPr>
              <a:defRPr sz="2700" b="1">
                <a:solidFill>
                  <a:srgbClr val="15324A"/>
                </a:solidFill>
                <a:latin typeface="Helvetica Neue"/>
                <a:ea typeface="Helvetica Neue"/>
                <a:cs typeface="Helvetica Neue"/>
              </a:defRPr>
            </a:lvl3pPr>
            <a:lvl4pPr>
              <a:defRPr sz="2700" b="1">
                <a:solidFill>
                  <a:srgbClr val="15324A"/>
                </a:solidFill>
                <a:latin typeface="Helvetica Neue"/>
                <a:ea typeface="Helvetica Neue"/>
                <a:cs typeface="Helvetica Neue"/>
              </a:defRPr>
            </a:lvl4pPr>
            <a:lvl5pPr>
              <a:defRPr sz="2700" b="1">
                <a:solidFill>
                  <a:srgbClr val="15324A"/>
                </a:solidFill>
                <a:latin typeface="Helvetica Neue"/>
                <a:ea typeface="Helvetica Neue"/>
                <a:cs typeface="Helvetica Neue"/>
              </a:defRPr>
            </a:lvl5pPr>
            <a:lvl6pPr>
              <a:defRPr sz="2700" b="1">
                <a:solidFill>
                  <a:srgbClr val="15324A"/>
                </a:solidFill>
                <a:latin typeface="Helvetica Neue"/>
                <a:ea typeface="Helvetica Neue"/>
                <a:cs typeface="Helvetica Neue"/>
              </a:defRPr>
            </a:lvl6pPr>
            <a:lvl7pPr>
              <a:defRPr sz="2700" b="1">
                <a:solidFill>
                  <a:srgbClr val="15324A"/>
                </a:solidFill>
                <a:latin typeface="Helvetica Neue"/>
                <a:ea typeface="Helvetica Neue"/>
                <a:cs typeface="Helvetica Neue"/>
              </a:defRPr>
            </a:lvl7pPr>
            <a:lvl8pPr>
              <a:defRPr sz="2700" b="1">
                <a:solidFill>
                  <a:srgbClr val="15324A"/>
                </a:solidFill>
                <a:latin typeface="Helvetica Neue"/>
                <a:ea typeface="Helvetica Neue"/>
                <a:cs typeface="Helvetica Neue"/>
              </a:defRPr>
            </a:lvl8pPr>
            <a:lvl9pPr>
              <a:defRPr sz="2700" b="1">
                <a:solidFill>
                  <a:srgbClr val="15324A"/>
                </a:solidFill>
                <a:latin typeface="Helvetica Neue"/>
                <a:ea typeface="Helvetica Neue"/>
                <a:cs typeface="Helvetica Neue"/>
              </a:defRPr>
            </a:lvl9pPr>
          </a:lstStyle>
          <a:p xmlns:a="http://schemas.openxmlformats.org/drawingml/2006/main">
            <a:pPr>
              <a:defRPr sz="2700" b="1">
                <a:solidFill>
                  <a:srgbClr val="15324A"/>
                </a:solidFill>
                <a:latin typeface="Helvetica Neue"/>
                <a:ea typeface="Helvetica Neue"/>
                <a:cs typeface="Helvetica Neue"/>
              </a:defRPr>
            </a:pPr>
            <a:r>
              <a:rPr sz="2700" b="1">
                <a:solidFill>
                  <a:srgbClr val="15324A"/>
                </a:solidFill>
                <a:latin typeface="Helvetica Neue"/>
                <a:ea typeface="Helvetica Neue"/>
                <a:cs typeface="Helvetica Neue"/>
              </a:rPr>
              <a:t>Objectives of Transfusion Therapy — continued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9BD3BCFA-8B51-4469-AAC6-3FB6E19C85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1257300"/>
            <a:ext cx="88582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91111"/>
          </a:bodyPr>
          <a:lstStyle xmlns:a="http://schemas.openxmlformats.org/drawingml/2006/main">
            <a:defPPr>
              <a:defRPr sz="1125" b="1">
                <a:solidFill>
                  <a:srgbClr val="237B82"/>
                </a:solidFill>
                <a:latin typeface="Helvetica Neue"/>
                <a:ea typeface="Helvetica Neue"/>
                <a:cs typeface="Helvetica Neue"/>
              </a:defRPr>
            </a:defPPr>
            <a:lvl1pPr>
              <a:defRPr sz="1125" b="1">
                <a:solidFill>
                  <a:srgbClr val="237B82"/>
                </a:solidFill>
                <a:latin typeface="Helvetica Neue"/>
                <a:ea typeface="Helvetica Neue"/>
                <a:cs typeface="Helvetica Neue"/>
              </a:defRPr>
            </a:lvl1pPr>
            <a:lvl2pPr>
              <a:defRPr sz="1125" b="1">
                <a:solidFill>
                  <a:srgbClr val="237B82"/>
                </a:solidFill>
                <a:latin typeface="Helvetica Neue"/>
                <a:ea typeface="Helvetica Neue"/>
                <a:cs typeface="Helvetica Neue"/>
              </a:defRPr>
            </a:lvl2pPr>
            <a:lvl3pPr>
              <a:defRPr sz="1125" b="1">
                <a:solidFill>
                  <a:srgbClr val="237B82"/>
                </a:solidFill>
                <a:latin typeface="Helvetica Neue"/>
                <a:ea typeface="Helvetica Neue"/>
                <a:cs typeface="Helvetica Neue"/>
              </a:defRPr>
            </a:lvl3pPr>
            <a:lvl4pPr>
              <a:defRPr sz="1125" b="1">
                <a:solidFill>
                  <a:srgbClr val="237B82"/>
                </a:solidFill>
                <a:latin typeface="Helvetica Neue"/>
                <a:ea typeface="Helvetica Neue"/>
                <a:cs typeface="Helvetica Neue"/>
              </a:defRPr>
            </a:lvl4pPr>
            <a:lvl5pPr>
              <a:defRPr sz="1125" b="1">
                <a:solidFill>
                  <a:srgbClr val="237B82"/>
                </a:solidFill>
                <a:latin typeface="Helvetica Neue"/>
                <a:ea typeface="Helvetica Neue"/>
                <a:cs typeface="Helvetica Neue"/>
              </a:defRPr>
            </a:lvl5pPr>
            <a:lvl6pPr>
              <a:defRPr sz="1125" b="1">
                <a:solidFill>
                  <a:srgbClr val="237B82"/>
                </a:solidFill>
                <a:latin typeface="Helvetica Neue"/>
                <a:ea typeface="Helvetica Neue"/>
                <a:cs typeface="Helvetica Neue"/>
              </a:defRPr>
            </a:lvl6pPr>
            <a:lvl7pPr>
              <a:defRPr sz="1125" b="1">
                <a:solidFill>
                  <a:srgbClr val="237B82"/>
                </a:solidFill>
                <a:latin typeface="Helvetica Neue"/>
                <a:ea typeface="Helvetica Neue"/>
                <a:cs typeface="Helvetica Neue"/>
              </a:defRPr>
            </a:lvl7pPr>
            <a:lvl8pPr>
              <a:defRPr sz="1125" b="1">
                <a:solidFill>
                  <a:srgbClr val="237B82"/>
                </a:solidFill>
                <a:latin typeface="Helvetica Neue"/>
                <a:ea typeface="Helvetica Neue"/>
                <a:cs typeface="Helvetica Neue"/>
              </a:defRPr>
            </a:lvl8pPr>
            <a:lvl9pPr>
              <a:defRPr sz="1125" b="1">
                <a:solidFill>
                  <a:srgbClr val="237B82"/>
                </a:solidFill>
                <a:latin typeface="Helvetica Neue"/>
                <a:ea typeface="Helvetica Neue"/>
                <a:cs typeface="Helvetica Neue"/>
              </a:defRPr>
            </a:lvl9pPr>
          </a:lstStyle>
          <a:p xmlns:a="http://schemas.openxmlformats.org/drawingml/2006/main">
            <a:pPr>
              <a:defRPr sz="1125" b="1">
                <a:solidFill>
                  <a:srgbClr val="237B82"/>
                </a:solidFill>
                <a:latin typeface="Helvetica Neue"/>
                <a:ea typeface="Helvetica Neue"/>
                <a:cs typeface="Helvetica Neue"/>
              </a:defRPr>
            </a:pPr>
            <a:r>
              <a:rPr sz="1125" b="1">
                <a:solidFill>
                  <a:srgbClr val="237B82"/>
                </a:solidFill>
                <a:latin typeface="Helvetica Neue"/>
                <a:ea typeface="Helvetica Neue"/>
                <a:cs typeface="Helvetica Neue"/>
              </a:rPr>
              <a:t>MODULE 4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452796B3-AFB4-4359-948A-5FC37CF053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457200"/>
            <a:ext cx="5334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>
            <a:defPPr>
              <a:defRPr sz="1200" b="1">
                <a:solidFill>
                  <a:srgbClr val="237B82"/>
                </a:solidFill>
                <a:latin typeface="Helvetica Neue"/>
                <a:ea typeface="Helvetica Neue"/>
                <a:cs typeface="Helvetica Neue"/>
              </a:defRPr>
            </a:defPPr>
            <a:lvl1pPr>
              <a:defRPr sz="1200" b="1">
                <a:solidFill>
                  <a:srgbClr val="237B82"/>
                </a:solidFill>
                <a:latin typeface="Helvetica Neue"/>
                <a:ea typeface="Helvetica Neue"/>
                <a:cs typeface="Helvetica Neue"/>
              </a:defRPr>
            </a:lvl1pPr>
            <a:lvl2pPr>
              <a:defRPr sz="1200" b="1">
                <a:solidFill>
                  <a:srgbClr val="237B82"/>
                </a:solidFill>
                <a:latin typeface="Helvetica Neue"/>
                <a:ea typeface="Helvetica Neue"/>
                <a:cs typeface="Helvetica Neue"/>
              </a:defRPr>
            </a:lvl2pPr>
            <a:lvl3pPr>
              <a:defRPr sz="1200" b="1">
                <a:solidFill>
                  <a:srgbClr val="237B82"/>
                </a:solidFill>
                <a:latin typeface="Helvetica Neue"/>
                <a:ea typeface="Helvetica Neue"/>
                <a:cs typeface="Helvetica Neue"/>
              </a:defRPr>
            </a:lvl3pPr>
            <a:lvl4pPr>
              <a:defRPr sz="1200" b="1">
                <a:solidFill>
                  <a:srgbClr val="237B82"/>
                </a:solidFill>
                <a:latin typeface="Helvetica Neue"/>
                <a:ea typeface="Helvetica Neue"/>
                <a:cs typeface="Helvetica Neue"/>
              </a:defRPr>
            </a:lvl4pPr>
            <a:lvl5pPr>
              <a:defRPr sz="1200" b="1">
                <a:solidFill>
                  <a:srgbClr val="237B82"/>
                </a:solidFill>
                <a:latin typeface="Helvetica Neue"/>
                <a:ea typeface="Helvetica Neue"/>
                <a:cs typeface="Helvetica Neue"/>
              </a:defRPr>
            </a:lvl5pPr>
            <a:lvl6pPr>
              <a:defRPr sz="1200" b="1">
                <a:solidFill>
                  <a:srgbClr val="237B82"/>
                </a:solidFill>
                <a:latin typeface="Helvetica Neue"/>
                <a:ea typeface="Helvetica Neue"/>
                <a:cs typeface="Helvetica Neue"/>
              </a:defRPr>
            </a:lvl6pPr>
            <a:lvl7pPr>
              <a:defRPr sz="1200" b="1">
                <a:solidFill>
                  <a:srgbClr val="237B82"/>
                </a:solidFill>
                <a:latin typeface="Helvetica Neue"/>
                <a:ea typeface="Helvetica Neue"/>
                <a:cs typeface="Helvetica Neue"/>
              </a:defRPr>
            </a:lvl7pPr>
            <a:lvl8pPr>
              <a:defRPr sz="1200" b="1">
                <a:solidFill>
                  <a:srgbClr val="237B82"/>
                </a:solidFill>
                <a:latin typeface="Helvetica Neue"/>
                <a:ea typeface="Helvetica Neue"/>
                <a:cs typeface="Helvetica Neue"/>
              </a:defRPr>
            </a:lvl8pPr>
            <a:lvl9pPr>
              <a:defRPr sz="1200" b="1">
                <a:solidFill>
                  <a:srgbClr val="237B82"/>
                </a:solidFill>
                <a:latin typeface="Helvetica Neue"/>
                <a:ea typeface="Helvetica Neue"/>
                <a:cs typeface="Helvetica Neue"/>
              </a:defRPr>
            </a:lvl9pPr>
          </a:lstStyle>
          <a:p xmlns:a="http://schemas.openxmlformats.org/drawingml/2006/main">
            <a:pPr>
              <a:defRPr sz="1200" b="1">
                <a:solidFill>
                  <a:srgbClr val="237B82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00" b="1">
                <a:solidFill>
                  <a:srgbClr val="237B82"/>
                </a:solidFill>
                <a:latin typeface="Helvetica Neue"/>
                <a:ea typeface="Helvetica Neue"/>
                <a:cs typeface="Helvetica Neue"/>
              </a:rPr>
              <a:t>21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54C40B29-238D-4BCF-90D2-07980D8C16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1762125"/>
            <a:ext cx="10287000" cy="409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>
            <a:defPPr>
              <a:defRPr sz="2100">
                <a:solidFill>
                  <a:srgbClr val="13212D"/>
                </a:solidFill>
                <a:latin typeface="Helvetica Neue"/>
                <a:ea typeface="Helvetica Neue"/>
                <a:cs typeface="Helvetica Neue"/>
              </a:defRPr>
            </a:defPPr>
            <a:lvl1pPr>
              <a:defRPr sz="2100">
                <a:solidFill>
                  <a:srgbClr val="13212D"/>
                </a:solidFill>
                <a:latin typeface="Helvetica Neue"/>
                <a:ea typeface="Helvetica Neue"/>
                <a:cs typeface="Helvetica Neue"/>
              </a:defRPr>
            </a:lvl1pPr>
            <a:lvl2pPr>
              <a:defRPr sz="2100">
                <a:solidFill>
                  <a:srgbClr val="13212D"/>
                </a:solidFill>
                <a:latin typeface="Helvetica Neue"/>
                <a:ea typeface="Helvetica Neue"/>
                <a:cs typeface="Helvetica Neue"/>
              </a:defRPr>
            </a:lvl2pPr>
            <a:lvl3pPr>
              <a:defRPr sz="2100">
                <a:solidFill>
                  <a:srgbClr val="13212D"/>
                </a:solidFill>
                <a:latin typeface="Helvetica Neue"/>
                <a:ea typeface="Helvetica Neue"/>
                <a:cs typeface="Helvetica Neue"/>
              </a:defRPr>
            </a:lvl3pPr>
            <a:lvl4pPr>
              <a:defRPr sz="2100">
                <a:solidFill>
                  <a:srgbClr val="13212D"/>
                </a:solidFill>
                <a:latin typeface="Helvetica Neue"/>
                <a:ea typeface="Helvetica Neue"/>
                <a:cs typeface="Helvetica Neue"/>
              </a:defRPr>
            </a:lvl4pPr>
            <a:lvl5pPr>
              <a:defRPr sz="2100">
                <a:solidFill>
                  <a:srgbClr val="13212D"/>
                </a:solidFill>
                <a:latin typeface="Helvetica Neue"/>
                <a:ea typeface="Helvetica Neue"/>
                <a:cs typeface="Helvetica Neue"/>
              </a:defRPr>
            </a:lvl5pPr>
            <a:lvl6pPr>
              <a:defRPr sz="2100">
                <a:solidFill>
                  <a:srgbClr val="13212D"/>
                </a:solidFill>
                <a:latin typeface="Helvetica Neue"/>
                <a:ea typeface="Helvetica Neue"/>
                <a:cs typeface="Helvetica Neue"/>
              </a:defRPr>
            </a:lvl6pPr>
            <a:lvl7pPr>
              <a:defRPr sz="2100">
                <a:solidFill>
                  <a:srgbClr val="13212D"/>
                </a:solidFill>
                <a:latin typeface="Helvetica Neue"/>
                <a:ea typeface="Helvetica Neue"/>
                <a:cs typeface="Helvetica Neue"/>
              </a:defRPr>
            </a:lvl7pPr>
            <a:lvl8pPr>
              <a:defRPr sz="2100">
                <a:solidFill>
                  <a:srgbClr val="13212D"/>
                </a:solidFill>
                <a:latin typeface="Helvetica Neue"/>
                <a:ea typeface="Helvetica Neue"/>
                <a:cs typeface="Helvetica Neue"/>
              </a:defRPr>
            </a:lvl8pPr>
            <a:lvl9pPr>
              <a:defRPr sz="2100">
                <a:solidFill>
                  <a:srgbClr val="13212D"/>
                </a:solidFill>
                <a:latin typeface="Helvetica Neue"/>
                <a:ea typeface="Helvetica Neue"/>
                <a:cs typeface="Helvetica Neue"/>
              </a:defRPr>
            </a:lvl9pPr>
          </a:lstStyle>
          <a:p xmlns:a="http://schemas.openxmlformats.org/drawingml/2006/main">
            <a:pPr marL="279400" indent="-127000">
              <a:spcAft>
                <a:spcPts val="1300"/>
              </a:spcAft>
              <a:buChar char="•"/>
              <a:defRPr sz="2100">
                <a:solidFill>
                  <a:srgbClr val="13212D"/>
                </a:solidFill>
                <a:latin typeface="Helvetica Neue"/>
                <a:ea typeface="Helvetica Neue"/>
                <a:cs typeface="Helvetica Neue"/>
              </a:defRPr>
            </a:pPr>
            <a:r>
              <a:rPr sz="2100">
                <a:solidFill>
                  <a:srgbClr val="13212D"/>
                </a:solidFill>
                <a:latin typeface="Helvetica Neue"/>
                <a:ea typeface="Helvetica Neue"/>
                <a:cs typeface="Helvetica Neue"/>
              </a:rPr>
              <a:t>The compatibility of the ABO blood group and the Rh factor between the donor and the recipient is of major importance to avoid complications associated with transfusion reactions.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BA3F539B-ACDF-4825-A89B-B0E5233C29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6115050"/>
            <a:ext cx="101917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>
            <a:defPPr>
              <a:defRPr sz="1125" b="1">
                <a:solidFill>
                  <a:srgbClr val="B94F3D"/>
                </a:solidFill>
                <a:latin typeface="Helvetica Neue"/>
                <a:ea typeface="Helvetica Neue"/>
                <a:cs typeface="Helvetica Neue"/>
              </a:defRPr>
            </a:defPPr>
            <a:lvl1pPr>
              <a:defRPr sz="1125" b="1">
                <a:solidFill>
                  <a:srgbClr val="B94F3D"/>
                </a:solidFill>
                <a:latin typeface="Helvetica Neue"/>
                <a:ea typeface="Helvetica Neue"/>
                <a:cs typeface="Helvetica Neue"/>
              </a:defRPr>
            </a:lvl1pPr>
            <a:lvl2pPr>
              <a:defRPr sz="1125" b="1">
                <a:solidFill>
                  <a:srgbClr val="B94F3D"/>
                </a:solidFill>
                <a:latin typeface="Helvetica Neue"/>
                <a:ea typeface="Helvetica Neue"/>
                <a:cs typeface="Helvetica Neue"/>
              </a:defRPr>
            </a:lvl2pPr>
            <a:lvl3pPr>
              <a:defRPr sz="1125" b="1">
                <a:solidFill>
                  <a:srgbClr val="B94F3D"/>
                </a:solidFill>
                <a:latin typeface="Helvetica Neue"/>
                <a:ea typeface="Helvetica Neue"/>
                <a:cs typeface="Helvetica Neue"/>
              </a:defRPr>
            </a:lvl3pPr>
            <a:lvl4pPr>
              <a:defRPr sz="1125" b="1">
                <a:solidFill>
                  <a:srgbClr val="B94F3D"/>
                </a:solidFill>
                <a:latin typeface="Helvetica Neue"/>
                <a:ea typeface="Helvetica Neue"/>
                <a:cs typeface="Helvetica Neue"/>
              </a:defRPr>
            </a:lvl4pPr>
            <a:lvl5pPr>
              <a:defRPr sz="1125" b="1">
                <a:solidFill>
                  <a:srgbClr val="B94F3D"/>
                </a:solidFill>
                <a:latin typeface="Helvetica Neue"/>
                <a:ea typeface="Helvetica Neue"/>
                <a:cs typeface="Helvetica Neue"/>
              </a:defRPr>
            </a:lvl5pPr>
            <a:lvl6pPr>
              <a:defRPr sz="1125" b="1">
                <a:solidFill>
                  <a:srgbClr val="B94F3D"/>
                </a:solidFill>
                <a:latin typeface="Helvetica Neue"/>
                <a:ea typeface="Helvetica Neue"/>
                <a:cs typeface="Helvetica Neue"/>
              </a:defRPr>
            </a:lvl6pPr>
            <a:lvl7pPr>
              <a:defRPr sz="1125" b="1">
                <a:solidFill>
                  <a:srgbClr val="B94F3D"/>
                </a:solidFill>
                <a:latin typeface="Helvetica Neue"/>
                <a:ea typeface="Helvetica Neue"/>
                <a:cs typeface="Helvetica Neue"/>
              </a:defRPr>
            </a:lvl7pPr>
            <a:lvl8pPr>
              <a:defRPr sz="1125" b="1">
                <a:solidFill>
                  <a:srgbClr val="B94F3D"/>
                </a:solidFill>
                <a:latin typeface="Helvetica Neue"/>
                <a:ea typeface="Helvetica Neue"/>
                <a:cs typeface="Helvetica Neue"/>
              </a:defRPr>
            </a:lvl8pPr>
            <a:lvl9pPr>
              <a:defRPr sz="1125" b="1">
                <a:solidFill>
                  <a:srgbClr val="B94F3D"/>
                </a:solidFill>
                <a:latin typeface="Helvetica Neue"/>
                <a:ea typeface="Helvetica Neue"/>
                <a:cs typeface="Helvetica Neue"/>
              </a:defRPr>
            </a:lvl9pPr>
          </a:lstStyle>
          <a:p xmlns:a="http://schemas.openxmlformats.org/drawingml/2006/main">
            <a:pPr>
              <a:defRPr sz="1125" b="1">
                <a:solidFill>
                  <a:srgbClr val="B94F3D"/>
                </a:solidFill>
                <a:latin typeface="Helvetica Neue"/>
                <a:ea typeface="Helvetica Neue"/>
                <a:cs typeface="Helvetica Neue"/>
              </a:defRPr>
            </a:pPr>
            <a:r>
              <a:rPr sz="1125" b="1">
                <a:solidFill>
                  <a:srgbClr val="B94F3D"/>
                </a:solidFill>
                <a:latin typeface="Helvetica Neue"/>
                <a:ea typeface="Helvetica Neue"/>
                <a:cs typeface="Helvetica Neue"/>
              </a:rPr>
              <a:t>Use current orders, facility policy, and authorized scope when applying this information.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280EF641-3FD2-4B6E-A638-18156466AF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5772150"/>
            <a:ext cx="101917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97619"/>
          </a:bodyPr>
          <a:lstStyle xmlns:a="http://schemas.openxmlformats.org/drawingml/2006/main">
            <a:defPPr>
              <a:defRPr sz="1050" b="1">
                <a:solidFill>
                  <a:srgbClr val="237B82"/>
                </a:solidFill>
                <a:latin typeface="Helvetica Neue"/>
                <a:ea typeface="Helvetica Neue"/>
                <a:cs typeface="Helvetica Neue"/>
              </a:defRPr>
            </a:defPPr>
            <a:lvl1pPr>
              <a:defRPr sz="1050" b="1">
                <a:solidFill>
                  <a:srgbClr val="237B82"/>
                </a:solidFill>
                <a:latin typeface="Helvetica Neue"/>
                <a:ea typeface="Helvetica Neue"/>
                <a:cs typeface="Helvetica Neue"/>
              </a:defRPr>
            </a:lvl1pPr>
            <a:lvl2pPr>
              <a:defRPr sz="1050" b="1">
                <a:solidFill>
                  <a:srgbClr val="237B82"/>
                </a:solidFill>
                <a:latin typeface="Helvetica Neue"/>
                <a:ea typeface="Helvetica Neue"/>
                <a:cs typeface="Helvetica Neue"/>
              </a:defRPr>
            </a:lvl2pPr>
            <a:lvl3pPr>
              <a:defRPr sz="1050" b="1">
                <a:solidFill>
                  <a:srgbClr val="237B82"/>
                </a:solidFill>
                <a:latin typeface="Helvetica Neue"/>
                <a:ea typeface="Helvetica Neue"/>
                <a:cs typeface="Helvetica Neue"/>
              </a:defRPr>
            </a:lvl3pPr>
            <a:lvl4pPr>
              <a:defRPr sz="1050" b="1">
                <a:solidFill>
                  <a:srgbClr val="237B82"/>
                </a:solidFill>
                <a:latin typeface="Helvetica Neue"/>
                <a:ea typeface="Helvetica Neue"/>
                <a:cs typeface="Helvetica Neue"/>
              </a:defRPr>
            </a:lvl4pPr>
            <a:lvl5pPr>
              <a:defRPr sz="1050" b="1">
                <a:solidFill>
                  <a:srgbClr val="237B82"/>
                </a:solidFill>
                <a:latin typeface="Helvetica Neue"/>
                <a:ea typeface="Helvetica Neue"/>
                <a:cs typeface="Helvetica Neue"/>
              </a:defRPr>
            </a:lvl5pPr>
            <a:lvl6pPr>
              <a:defRPr sz="1050" b="1">
                <a:solidFill>
                  <a:srgbClr val="237B82"/>
                </a:solidFill>
                <a:latin typeface="Helvetica Neue"/>
                <a:ea typeface="Helvetica Neue"/>
                <a:cs typeface="Helvetica Neue"/>
              </a:defRPr>
            </a:lvl6pPr>
            <a:lvl7pPr>
              <a:defRPr sz="1050" b="1">
                <a:solidFill>
                  <a:srgbClr val="237B82"/>
                </a:solidFill>
                <a:latin typeface="Helvetica Neue"/>
                <a:ea typeface="Helvetica Neue"/>
                <a:cs typeface="Helvetica Neue"/>
              </a:defRPr>
            </a:lvl7pPr>
            <a:lvl8pPr>
              <a:defRPr sz="1050" b="1">
                <a:solidFill>
                  <a:srgbClr val="237B82"/>
                </a:solidFill>
                <a:latin typeface="Helvetica Neue"/>
                <a:ea typeface="Helvetica Neue"/>
                <a:cs typeface="Helvetica Neue"/>
              </a:defRPr>
            </a:lvl8pPr>
            <a:lvl9pPr>
              <a:defRPr sz="1050" b="1">
                <a:solidFill>
                  <a:srgbClr val="237B82"/>
                </a:solidFill>
                <a:latin typeface="Helvetica Neue"/>
                <a:ea typeface="Helvetica Neue"/>
                <a:cs typeface="Helvetica Neue"/>
              </a:defRPr>
            </a:lvl9pPr>
          </a:lstStyle>
          <a:p xmlns:a="http://schemas.openxmlformats.org/drawingml/2006/main">
            <a:pPr>
              <a:defRPr sz="1050" b="1">
                <a:solidFill>
                  <a:srgbClr val="237B82"/>
                </a:solidFill>
                <a:latin typeface="Helvetica Neue"/>
                <a:ea typeface="Helvetica Neue"/>
                <a:cs typeface="Helvetica Neue"/>
              </a:defRPr>
            </a:pPr>
            <a:r>
              <a:rPr sz="1050" b="1">
                <a:solidFill>
                  <a:srgbClr val="237B82"/>
                </a:solidFill>
                <a:latin typeface="Helvetica Neue"/>
                <a:ea typeface="Helvetica Neue"/>
                <a:cs typeface="Helvetica Neue"/>
              </a:rPr>
              <a:t>Manual page 53</a:t>
            </a:r>
          </a:p>
        </p:txBody>
      </p:sp>
    </p:spTree>
    <p:extLst>
      <p:ext uri="{BB962C8B-B14F-4D97-AF65-F5344CB8AC3E}">
        <p14:creationId xmlns:p14="http://schemas.microsoft.com/office/powerpoint/2010/main" val="880757778"/>
      </p:ext>
    </p:extLst>
  </p:cSld>
</p:sld>
</file>

<file path=ppt/slides/slide22.xml><?xml version="1.0" encoding="utf-8"?>
<p:sld xmlns:p="http://schemas.openxmlformats.org/presentationml/2006/main">
  <p:cSld>
    <p:bg>
      <p:bgPr>
        <a:solidFill xmlns:a="http://schemas.openxmlformats.org/drawingml/2006/main">
          <a:srgbClr val="F7F4EE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D17CC69A-1FA4-438D-977A-C4C90FD53E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2095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37B82"/>
          </a:solidFill>
          <a:ln xmlns:a="http://schemas.openxmlformats.org/drawingml/2006/main" w="0">
            <a:solidFill>
              <a:srgbClr val="237B82"/>
            </a:solidFill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CB9291F0-0829-4652-850B-7403A179C2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00050"/>
            <a:ext cx="10001250" cy="819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>
            <a:defPPr>
              <a:defRPr sz="2700" b="1">
                <a:solidFill>
                  <a:srgbClr val="15324A"/>
                </a:solidFill>
                <a:latin typeface="Helvetica Neue"/>
                <a:ea typeface="Helvetica Neue"/>
                <a:cs typeface="Helvetica Neue"/>
              </a:defRPr>
            </a:defPPr>
            <a:lvl1pPr>
              <a:defRPr sz="2700" b="1">
                <a:solidFill>
                  <a:srgbClr val="15324A"/>
                </a:solidFill>
                <a:latin typeface="Helvetica Neue"/>
                <a:ea typeface="Helvetica Neue"/>
                <a:cs typeface="Helvetica Neue"/>
              </a:defRPr>
            </a:lvl1pPr>
            <a:lvl2pPr>
              <a:defRPr sz="2700" b="1">
                <a:solidFill>
                  <a:srgbClr val="15324A"/>
                </a:solidFill>
                <a:latin typeface="Helvetica Neue"/>
                <a:ea typeface="Helvetica Neue"/>
                <a:cs typeface="Helvetica Neue"/>
              </a:defRPr>
            </a:lvl2pPr>
            <a:lvl3pPr>
              <a:defRPr sz="2700" b="1">
                <a:solidFill>
                  <a:srgbClr val="15324A"/>
                </a:solidFill>
                <a:latin typeface="Helvetica Neue"/>
                <a:ea typeface="Helvetica Neue"/>
                <a:cs typeface="Helvetica Neue"/>
              </a:defRPr>
            </a:lvl3pPr>
            <a:lvl4pPr>
              <a:defRPr sz="2700" b="1">
                <a:solidFill>
                  <a:srgbClr val="15324A"/>
                </a:solidFill>
                <a:latin typeface="Helvetica Neue"/>
                <a:ea typeface="Helvetica Neue"/>
                <a:cs typeface="Helvetica Neue"/>
              </a:defRPr>
            </a:lvl4pPr>
            <a:lvl5pPr>
              <a:defRPr sz="2700" b="1">
                <a:solidFill>
                  <a:srgbClr val="15324A"/>
                </a:solidFill>
                <a:latin typeface="Helvetica Neue"/>
                <a:ea typeface="Helvetica Neue"/>
                <a:cs typeface="Helvetica Neue"/>
              </a:defRPr>
            </a:lvl5pPr>
            <a:lvl6pPr>
              <a:defRPr sz="2700" b="1">
                <a:solidFill>
                  <a:srgbClr val="15324A"/>
                </a:solidFill>
                <a:latin typeface="Helvetica Neue"/>
                <a:ea typeface="Helvetica Neue"/>
                <a:cs typeface="Helvetica Neue"/>
              </a:defRPr>
            </a:lvl6pPr>
            <a:lvl7pPr>
              <a:defRPr sz="2700" b="1">
                <a:solidFill>
                  <a:srgbClr val="15324A"/>
                </a:solidFill>
                <a:latin typeface="Helvetica Neue"/>
                <a:ea typeface="Helvetica Neue"/>
                <a:cs typeface="Helvetica Neue"/>
              </a:defRPr>
            </a:lvl7pPr>
            <a:lvl8pPr>
              <a:defRPr sz="2700" b="1">
                <a:solidFill>
                  <a:srgbClr val="15324A"/>
                </a:solidFill>
                <a:latin typeface="Helvetica Neue"/>
                <a:ea typeface="Helvetica Neue"/>
                <a:cs typeface="Helvetica Neue"/>
              </a:defRPr>
            </a:lvl8pPr>
            <a:lvl9pPr>
              <a:defRPr sz="2700" b="1">
                <a:solidFill>
                  <a:srgbClr val="15324A"/>
                </a:solidFill>
                <a:latin typeface="Helvetica Neue"/>
                <a:ea typeface="Helvetica Neue"/>
                <a:cs typeface="Helvetica Neue"/>
              </a:defRPr>
            </a:lvl9pPr>
          </a:lstStyle>
          <a:p xmlns:a="http://schemas.openxmlformats.org/drawingml/2006/main">
            <a:pPr>
              <a:defRPr sz="2700" b="1">
                <a:solidFill>
                  <a:srgbClr val="15324A"/>
                </a:solidFill>
                <a:latin typeface="Helvetica Neue"/>
                <a:ea typeface="Helvetica Neue"/>
                <a:cs typeface="Helvetica Neue"/>
              </a:defRPr>
            </a:pPr>
            <a:r>
              <a:rPr sz="2700" b="1">
                <a:solidFill>
                  <a:srgbClr val="15324A"/>
                </a:solidFill>
                <a:latin typeface="Helvetica Neue"/>
                <a:ea typeface="Helvetica Neue"/>
                <a:cs typeface="Helvetica Neue"/>
              </a:rPr>
              <a:t>Blood Cell Preparations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982AEA14-A001-4DA9-B933-80952E8354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1257300"/>
            <a:ext cx="88582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91111"/>
          </a:bodyPr>
          <a:lstStyle xmlns:a="http://schemas.openxmlformats.org/drawingml/2006/main">
            <a:defPPr>
              <a:defRPr sz="1125" b="1">
                <a:solidFill>
                  <a:srgbClr val="237B82"/>
                </a:solidFill>
                <a:latin typeface="Helvetica Neue"/>
                <a:ea typeface="Helvetica Neue"/>
                <a:cs typeface="Helvetica Neue"/>
              </a:defRPr>
            </a:defPPr>
            <a:lvl1pPr>
              <a:defRPr sz="1125" b="1">
                <a:solidFill>
                  <a:srgbClr val="237B82"/>
                </a:solidFill>
                <a:latin typeface="Helvetica Neue"/>
                <a:ea typeface="Helvetica Neue"/>
                <a:cs typeface="Helvetica Neue"/>
              </a:defRPr>
            </a:lvl1pPr>
            <a:lvl2pPr>
              <a:defRPr sz="1125" b="1">
                <a:solidFill>
                  <a:srgbClr val="237B82"/>
                </a:solidFill>
                <a:latin typeface="Helvetica Neue"/>
                <a:ea typeface="Helvetica Neue"/>
                <a:cs typeface="Helvetica Neue"/>
              </a:defRPr>
            </a:lvl2pPr>
            <a:lvl3pPr>
              <a:defRPr sz="1125" b="1">
                <a:solidFill>
                  <a:srgbClr val="237B82"/>
                </a:solidFill>
                <a:latin typeface="Helvetica Neue"/>
                <a:ea typeface="Helvetica Neue"/>
                <a:cs typeface="Helvetica Neue"/>
              </a:defRPr>
            </a:lvl3pPr>
            <a:lvl4pPr>
              <a:defRPr sz="1125" b="1">
                <a:solidFill>
                  <a:srgbClr val="237B82"/>
                </a:solidFill>
                <a:latin typeface="Helvetica Neue"/>
                <a:ea typeface="Helvetica Neue"/>
                <a:cs typeface="Helvetica Neue"/>
              </a:defRPr>
            </a:lvl4pPr>
            <a:lvl5pPr>
              <a:defRPr sz="1125" b="1">
                <a:solidFill>
                  <a:srgbClr val="237B82"/>
                </a:solidFill>
                <a:latin typeface="Helvetica Neue"/>
                <a:ea typeface="Helvetica Neue"/>
                <a:cs typeface="Helvetica Neue"/>
              </a:defRPr>
            </a:lvl5pPr>
            <a:lvl6pPr>
              <a:defRPr sz="1125" b="1">
                <a:solidFill>
                  <a:srgbClr val="237B82"/>
                </a:solidFill>
                <a:latin typeface="Helvetica Neue"/>
                <a:ea typeface="Helvetica Neue"/>
                <a:cs typeface="Helvetica Neue"/>
              </a:defRPr>
            </a:lvl6pPr>
            <a:lvl7pPr>
              <a:defRPr sz="1125" b="1">
                <a:solidFill>
                  <a:srgbClr val="237B82"/>
                </a:solidFill>
                <a:latin typeface="Helvetica Neue"/>
                <a:ea typeface="Helvetica Neue"/>
                <a:cs typeface="Helvetica Neue"/>
              </a:defRPr>
            </a:lvl7pPr>
            <a:lvl8pPr>
              <a:defRPr sz="1125" b="1">
                <a:solidFill>
                  <a:srgbClr val="237B82"/>
                </a:solidFill>
                <a:latin typeface="Helvetica Neue"/>
                <a:ea typeface="Helvetica Neue"/>
                <a:cs typeface="Helvetica Neue"/>
              </a:defRPr>
            </a:lvl8pPr>
            <a:lvl9pPr>
              <a:defRPr sz="1125" b="1">
                <a:solidFill>
                  <a:srgbClr val="237B82"/>
                </a:solidFill>
                <a:latin typeface="Helvetica Neue"/>
                <a:ea typeface="Helvetica Neue"/>
                <a:cs typeface="Helvetica Neue"/>
              </a:defRPr>
            </a:lvl9pPr>
          </a:lstStyle>
          <a:p xmlns:a="http://schemas.openxmlformats.org/drawingml/2006/main">
            <a:pPr>
              <a:defRPr sz="1125" b="1">
                <a:solidFill>
                  <a:srgbClr val="237B82"/>
                </a:solidFill>
                <a:latin typeface="Helvetica Neue"/>
                <a:ea typeface="Helvetica Neue"/>
                <a:cs typeface="Helvetica Neue"/>
              </a:defRPr>
            </a:pPr>
            <a:r>
              <a:rPr sz="1125" b="1">
                <a:solidFill>
                  <a:srgbClr val="237B82"/>
                </a:solidFill>
                <a:latin typeface="Helvetica Neue"/>
                <a:ea typeface="Helvetica Neue"/>
                <a:cs typeface="Helvetica Neue"/>
              </a:rPr>
              <a:t>MODULE 4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D063DB78-A087-433E-A206-42F963C9EE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457200"/>
            <a:ext cx="5334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>
            <a:defPPr>
              <a:defRPr sz="1200" b="1">
                <a:solidFill>
                  <a:srgbClr val="237B82"/>
                </a:solidFill>
                <a:latin typeface="Helvetica Neue"/>
                <a:ea typeface="Helvetica Neue"/>
                <a:cs typeface="Helvetica Neue"/>
              </a:defRPr>
            </a:defPPr>
            <a:lvl1pPr>
              <a:defRPr sz="1200" b="1">
                <a:solidFill>
                  <a:srgbClr val="237B82"/>
                </a:solidFill>
                <a:latin typeface="Helvetica Neue"/>
                <a:ea typeface="Helvetica Neue"/>
                <a:cs typeface="Helvetica Neue"/>
              </a:defRPr>
            </a:lvl1pPr>
            <a:lvl2pPr>
              <a:defRPr sz="1200" b="1">
                <a:solidFill>
                  <a:srgbClr val="237B82"/>
                </a:solidFill>
                <a:latin typeface="Helvetica Neue"/>
                <a:ea typeface="Helvetica Neue"/>
                <a:cs typeface="Helvetica Neue"/>
              </a:defRPr>
            </a:lvl2pPr>
            <a:lvl3pPr>
              <a:defRPr sz="1200" b="1">
                <a:solidFill>
                  <a:srgbClr val="237B82"/>
                </a:solidFill>
                <a:latin typeface="Helvetica Neue"/>
                <a:ea typeface="Helvetica Neue"/>
                <a:cs typeface="Helvetica Neue"/>
              </a:defRPr>
            </a:lvl3pPr>
            <a:lvl4pPr>
              <a:defRPr sz="1200" b="1">
                <a:solidFill>
                  <a:srgbClr val="237B82"/>
                </a:solidFill>
                <a:latin typeface="Helvetica Neue"/>
                <a:ea typeface="Helvetica Neue"/>
                <a:cs typeface="Helvetica Neue"/>
              </a:defRPr>
            </a:lvl4pPr>
            <a:lvl5pPr>
              <a:defRPr sz="1200" b="1">
                <a:solidFill>
                  <a:srgbClr val="237B82"/>
                </a:solidFill>
                <a:latin typeface="Helvetica Neue"/>
                <a:ea typeface="Helvetica Neue"/>
                <a:cs typeface="Helvetica Neue"/>
              </a:defRPr>
            </a:lvl5pPr>
            <a:lvl6pPr>
              <a:defRPr sz="1200" b="1">
                <a:solidFill>
                  <a:srgbClr val="237B82"/>
                </a:solidFill>
                <a:latin typeface="Helvetica Neue"/>
                <a:ea typeface="Helvetica Neue"/>
                <a:cs typeface="Helvetica Neue"/>
              </a:defRPr>
            </a:lvl6pPr>
            <a:lvl7pPr>
              <a:defRPr sz="1200" b="1">
                <a:solidFill>
                  <a:srgbClr val="237B82"/>
                </a:solidFill>
                <a:latin typeface="Helvetica Neue"/>
                <a:ea typeface="Helvetica Neue"/>
                <a:cs typeface="Helvetica Neue"/>
              </a:defRPr>
            </a:lvl7pPr>
            <a:lvl8pPr>
              <a:defRPr sz="1200" b="1">
                <a:solidFill>
                  <a:srgbClr val="237B82"/>
                </a:solidFill>
                <a:latin typeface="Helvetica Neue"/>
                <a:ea typeface="Helvetica Neue"/>
                <a:cs typeface="Helvetica Neue"/>
              </a:defRPr>
            </a:lvl8pPr>
            <a:lvl9pPr>
              <a:defRPr sz="1200" b="1">
                <a:solidFill>
                  <a:srgbClr val="237B82"/>
                </a:solidFill>
                <a:latin typeface="Helvetica Neue"/>
                <a:ea typeface="Helvetica Neue"/>
                <a:cs typeface="Helvetica Neue"/>
              </a:defRPr>
            </a:lvl9pPr>
          </a:lstStyle>
          <a:p xmlns:a="http://schemas.openxmlformats.org/drawingml/2006/main">
            <a:pPr>
              <a:defRPr sz="1200" b="1">
                <a:solidFill>
                  <a:srgbClr val="237B82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00" b="1">
                <a:solidFill>
                  <a:srgbClr val="237B82"/>
                </a:solidFill>
                <a:latin typeface="Helvetica Neue"/>
                <a:ea typeface="Helvetica Neue"/>
                <a:cs typeface="Helvetica Neue"/>
              </a:rPr>
              <a:t>22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0FEC6625-2E4F-44C7-B988-CC737A6C98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1762125"/>
            <a:ext cx="10287000" cy="409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>
            <a:defPPr>
              <a:defRPr sz="1875">
                <a:solidFill>
                  <a:srgbClr val="13212D"/>
                </a:solidFill>
                <a:latin typeface="Helvetica Neue"/>
                <a:ea typeface="Helvetica Neue"/>
                <a:cs typeface="Helvetica Neue"/>
              </a:defRPr>
            </a:defPPr>
            <a:lvl1pPr>
              <a:defRPr sz="1875">
                <a:solidFill>
                  <a:srgbClr val="13212D"/>
                </a:solidFill>
                <a:latin typeface="Helvetica Neue"/>
                <a:ea typeface="Helvetica Neue"/>
                <a:cs typeface="Helvetica Neue"/>
              </a:defRPr>
            </a:lvl1pPr>
            <a:lvl2pPr>
              <a:defRPr sz="1875">
                <a:solidFill>
                  <a:srgbClr val="13212D"/>
                </a:solidFill>
                <a:latin typeface="Helvetica Neue"/>
                <a:ea typeface="Helvetica Neue"/>
                <a:cs typeface="Helvetica Neue"/>
              </a:defRPr>
            </a:lvl2pPr>
            <a:lvl3pPr>
              <a:defRPr sz="1875">
                <a:solidFill>
                  <a:srgbClr val="13212D"/>
                </a:solidFill>
                <a:latin typeface="Helvetica Neue"/>
                <a:ea typeface="Helvetica Neue"/>
                <a:cs typeface="Helvetica Neue"/>
              </a:defRPr>
            </a:lvl3pPr>
            <a:lvl4pPr>
              <a:defRPr sz="1875">
                <a:solidFill>
                  <a:srgbClr val="13212D"/>
                </a:solidFill>
                <a:latin typeface="Helvetica Neue"/>
                <a:ea typeface="Helvetica Neue"/>
                <a:cs typeface="Helvetica Neue"/>
              </a:defRPr>
            </a:lvl4pPr>
            <a:lvl5pPr>
              <a:defRPr sz="1875">
                <a:solidFill>
                  <a:srgbClr val="13212D"/>
                </a:solidFill>
                <a:latin typeface="Helvetica Neue"/>
                <a:ea typeface="Helvetica Neue"/>
                <a:cs typeface="Helvetica Neue"/>
              </a:defRPr>
            </a:lvl5pPr>
            <a:lvl6pPr>
              <a:defRPr sz="1875">
                <a:solidFill>
                  <a:srgbClr val="13212D"/>
                </a:solidFill>
                <a:latin typeface="Helvetica Neue"/>
                <a:ea typeface="Helvetica Neue"/>
                <a:cs typeface="Helvetica Neue"/>
              </a:defRPr>
            </a:lvl6pPr>
            <a:lvl7pPr>
              <a:defRPr sz="1875">
                <a:solidFill>
                  <a:srgbClr val="13212D"/>
                </a:solidFill>
                <a:latin typeface="Helvetica Neue"/>
                <a:ea typeface="Helvetica Neue"/>
                <a:cs typeface="Helvetica Neue"/>
              </a:defRPr>
            </a:lvl7pPr>
            <a:lvl8pPr>
              <a:defRPr sz="1875">
                <a:solidFill>
                  <a:srgbClr val="13212D"/>
                </a:solidFill>
                <a:latin typeface="Helvetica Neue"/>
                <a:ea typeface="Helvetica Neue"/>
                <a:cs typeface="Helvetica Neue"/>
              </a:defRPr>
            </a:lvl8pPr>
            <a:lvl9pPr>
              <a:defRPr sz="1875">
                <a:solidFill>
                  <a:srgbClr val="13212D"/>
                </a:solidFill>
                <a:latin typeface="Helvetica Neue"/>
                <a:ea typeface="Helvetica Neue"/>
                <a:cs typeface="Helvetica Neue"/>
              </a:defRPr>
            </a:lvl9pPr>
          </a:lstStyle>
          <a:p xmlns:a="http://schemas.openxmlformats.org/drawingml/2006/main">
            <a:pPr marL="279400" indent="-127000">
              <a:spcAft>
                <a:spcPts val="1300"/>
              </a:spcAft>
              <a:buChar char="•"/>
              <a:defRPr sz="1875">
                <a:solidFill>
                  <a:srgbClr val="13212D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75">
                <a:solidFill>
                  <a:srgbClr val="13212D"/>
                </a:solidFill>
                <a:latin typeface="Helvetica Neue"/>
                <a:ea typeface="Helvetica Neue"/>
                <a:cs typeface="Helvetica Neue"/>
              </a:rPr>
              <a:t>The following is an overview of the various replacement therapies available and indications for use:</a:t>
            </a:r>
          </a:p>
          <a:p xmlns:a="http://schemas.openxmlformats.org/drawingml/2006/main">
            <a:pPr marL="279400" indent="-127000">
              <a:spcAft>
                <a:spcPts val="1300"/>
              </a:spcAft>
              <a:buChar char="•"/>
              <a:defRPr sz="1875">
                <a:solidFill>
                  <a:srgbClr val="13212D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75">
                <a:solidFill>
                  <a:srgbClr val="13212D"/>
                </a:solidFill>
                <a:latin typeface="Helvetica Neue"/>
                <a:ea typeface="Helvetica Neue"/>
                <a:cs typeface="Helvetica Neue"/>
              </a:rPr>
              <a:t>Whole Blood - Whole blood restores circulating blood volume and increases oxygen carrying capacity.</a:t>
            </a:r>
          </a:p>
          <a:p xmlns:a="http://schemas.openxmlformats.org/drawingml/2006/main">
            <a:pPr marL="279400" indent="-127000">
              <a:spcAft>
                <a:spcPts val="1300"/>
              </a:spcAft>
              <a:buChar char="•"/>
              <a:defRPr sz="1875">
                <a:solidFill>
                  <a:srgbClr val="13212D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75">
                <a:solidFill>
                  <a:srgbClr val="13212D"/>
                </a:solidFill>
                <a:latin typeface="Helvetica Neue"/>
                <a:ea typeface="Helvetica Neue"/>
                <a:cs typeface="Helvetica Neue"/>
              </a:rPr>
              <a:t>Indications for whole blood administration include; massive blood loss, hypovolemic shock(necessitating multiple units of blood), and cardiac surgery.</a:t>
            </a:r>
          </a:p>
          <a:p xmlns:a="http://schemas.openxmlformats.org/drawingml/2006/main">
            <a:pPr marL="279400" indent="-127000">
              <a:spcAft>
                <a:spcPts val="1300"/>
              </a:spcAft>
              <a:buChar char="•"/>
              <a:defRPr sz="1875">
                <a:solidFill>
                  <a:srgbClr val="13212D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75">
                <a:solidFill>
                  <a:srgbClr val="13212D"/>
                </a:solidFill>
                <a:latin typeface="Helvetica Neue"/>
                <a:ea typeface="Helvetica Neue"/>
                <a:cs typeface="Helvetica Neue"/>
              </a:rPr>
              <a:t>Multiple transfusions of whole blood may cause a need for platelet and clotting factor replacement, due to the loss of these constituents during the storage period.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CF92EFEE-C715-4C87-A5D6-96756F4677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6115050"/>
            <a:ext cx="101917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>
            <a:defPPr>
              <a:defRPr sz="1125" b="1">
                <a:solidFill>
                  <a:srgbClr val="B94F3D"/>
                </a:solidFill>
                <a:latin typeface="Helvetica Neue"/>
                <a:ea typeface="Helvetica Neue"/>
                <a:cs typeface="Helvetica Neue"/>
              </a:defRPr>
            </a:defPPr>
            <a:lvl1pPr>
              <a:defRPr sz="1125" b="1">
                <a:solidFill>
                  <a:srgbClr val="B94F3D"/>
                </a:solidFill>
                <a:latin typeface="Helvetica Neue"/>
                <a:ea typeface="Helvetica Neue"/>
                <a:cs typeface="Helvetica Neue"/>
              </a:defRPr>
            </a:lvl1pPr>
            <a:lvl2pPr>
              <a:defRPr sz="1125" b="1">
                <a:solidFill>
                  <a:srgbClr val="B94F3D"/>
                </a:solidFill>
                <a:latin typeface="Helvetica Neue"/>
                <a:ea typeface="Helvetica Neue"/>
                <a:cs typeface="Helvetica Neue"/>
              </a:defRPr>
            </a:lvl2pPr>
            <a:lvl3pPr>
              <a:defRPr sz="1125" b="1">
                <a:solidFill>
                  <a:srgbClr val="B94F3D"/>
                </a:solidFill>
                <a:latin typeface="Helvetica Neue"/>
                <a:ea typeface="Helvetica Neue"/>
                <a:cs typeface="Helvetica Neue"/>
              </a:defRPr>
            </a:lvl3pPr>
            <a:lvl4pPr>
              <a:defRPr sz="1125" b="1">
                <a:solidFill>
                  <a:srgbClr val="B94F3D"/>
                </a:solidFill>
                <a:latin typeface="Helvetica Neue"/>
                <a:ea typeface="Helvetica Neue"/>
                <a:cs typeface="Helvetica Neue"/>
              </a:defRPr>
            </a:lvl4pPr>
            <a:lvl5pPr>
              <a:defRPr sz="1125" b="1">
                <a:solidFill>
                  <a:srgbClr val="B94F3D"/>
                </a:solidFill>
                <a:latin typeface="Helvetica Neue"/>
                <a:ea typeface="Helvetica Neue"/>
                <a:cs typeface="Helvetica Neue"/>
              </a:defRPr>
            </a:lvl5pPr>
            <a:lvl6pPr>
              <a:defRPr sz="1125" b="1">
                <a:solidFill>
                  <a:srgbClr val="B94F3D"/>
                </a:solidFill>
                <a:latin typeface="Helvetica Neue"/>
                <a:ea typeface="Helvetica Neue"/>
                <a:cs typeface="Helvetica Neue"/>
              </a:defRPr>
            </a:lvl6pPr>
            <a:lvl7pPr>
              <a:defRPr sz="1125" b="1">
                <a:solidFill>
                  <a:srgbClr val="B94F3D"/>
                </a:solidFill>
                <a:latin typeface="Helvetica Neue"/>
                <a:ea typeface="Helvetica Neue"/>
                <a:cs typeface="Helvetica Neue"/>
              </a:defRPr>
            </a:lvl7pPr>
            <a:lvl8pPr>
              <a:defRPr sz="1125" b="1">
                <a:solidFill>
                  <a:srgbClr val="B94F3D"/>
                </a:solidFill>
                <a:latin typeface="Helvetica Neue"/>
                <a:ea typeface="Helvetica Neue"/>
                <a:cs typeface="Helvetica Neue"/>
              </a:defRPr>
            </a:lvl8pPr>
            <a:lvl9pPr>
              <a:defRPr sz="1125" b="1">
                <a:solidFill>
                  <a:srgbClr val="B94F3D"/>
                </a:solidFill>
                <a:latin typeface="Helvetica Neue"/>
                <a:ea typeface="Helvetica Neue"/>
                <a:cs typeface="Helvetica Neue"/>
              </a:defRPr>
            </a:lvl9pPr>
          </a:lstStyle>
          <a:p xmlns:a="http://schemas.openxmlformats.org/drawingml/2006/main">
            <a:pPr>
              <a:defRPr sz="1125" b="1">
                <a:solidFill>
                  <a:srgbClr val="B94F3D"/>
                </a:solidFill>
                <a:latin typeface="Helvetica Neue"/>
                <a:ea typeface="Helvetica Neue"/>
                <a:cs typeface="Helvetica Neue"/>
              </a:defRPr>
            </a:pPr>
            <a:r>
              <a:rPr sz="1125" b="1">
                <a:solidFill>
                  <a:srgbClr val="B94F3D"/>
                </a:solidFill>
                <a:latin typeface="Helvetica Neue"/>
                <a:ea typeface="Helvetica Neue"/>
                <a:cs typeface="Helvetica Neue"/>
              </a:rPr>
              <a:t>Use current orders, facility policy, and authorized scope when applying this information.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EA7BC960-6961-43D6-B552-1155E19D48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5772150"/>
            <a:ext cx="101917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97619"/>
          </a:bodyPr>
          <a:lstStyle xmlns:a="http://schemas.openxmlformats.org/drawingml/2006/main">
            <a:defPPr>
              <a:defRPr sz="1050" b="1">
                <a:solidFill>
                  <a:srgbClr val="237B82"/>
                </a:solidFill>
                <a:latin typeface="Helvetica Neue"/>
                <a:ea typeface="Helvetica Neue"/>
                <a:cs typeface="Helvetica Neue"/>
              </a:defRPr>
            </a:defPPr>
            <a:lvl1pPr>
              <a:defRPr sz="1050" b="1">
                <a:solidFill>
                  <a:srgbClr val="237B82"/>
                </a:solidFill>
                <a:latin typeface="Helvetica Neue"/>
                <a:ea typeface="Helvetica Neue"/>
                <a:cs typeface="Helvetica Neue"/>
              </a:defRPr>
            </a:lvl1pPr>
            <a:lvl2pPr>
              <a:defRPr sz="1050" b="1">
                <a:solidFill>
                  <a:srgbClr val="237B82"/>
                </a:solidFill>
                <a:latin typeface="Helvetica Neue"/>
                <a:ea typeface="Helvetica Neue"/>
                <a:cs typeface="Helvetica Neue"/>
              </a:defRPr>
            </a:lvl2pPr>
            <a:lvl3pPr>
              <a:defRPr sz="1050" b="1">
                <a:solidFill>
                  <a:srgbClr val="237B82"/>
                </a:solidFill>
                <a:latin typeface="Helvetica Neue"/>
                <a:ea typeface="Helvetica Neue"/>
                <a:cs typeface="Helvetica Neue"/>
              </a:defRPr>
            </a:lvl3pPr>
            <a:lvl4pPr>
              <a:defRPr sz="1050" b="1">
                <a:solidFill>
                  <a:srgbClr val="237B82"/>
                </a:solidFill>
                <a:latin typeface="Helvetica Neue"/>
                <a:ea typeface="Helvetica Neue"/>
                <a:cs typeface="Helvetica Neue"/>
              </a:defRPr>
            </a:lvl4pPr>
            <a:lvl5pPr>
              <a:defRPr sz="1050" b="1">
                <a:solidFill>
                  <a:srgbClr val="237B82"/>
                </a:solidFill>
                <a:latin typeface="Helvetica Neue"/>
                <a:ea typeface="Helvetica Neue"/>
                <a:cs typeface="Helvetica Neue"/>
              </a:defRPr>
            </a:lvl5pPr>
            <a:lvl6pPr>
              <a:defRPr sz="1050" b="1">
                <a:solidFill>
                  <a:srgbClr val="237B82"/>
                </a:solidFill>
                <a:latin typeface="Helvetica Neue"/>
                <a:ea typeface="Helvetica Neue"/>
                <a:cs typeface="Helvetica Neue"/>
              </a:defRPr>
            </a:lvl6pPr>
            <a:lvl7pPr>
              <a:defRPr sz="1050" b="1">
                <a:solidFill>
                  <a:srgbClr val="237B82"/>
                </a:solidFill>
                <a:latin typeface="Helvetica Neue"/>
                <a:ea typeface="Helvetica Neue"/>
                <a:cs typeface="Helvetica Neue"/>
              </a:defRPr>
            </a:lvl7pPr>
            <a:lvl8pPr>
              <a:defRPr sz="1050" b="1">
                <a:solidFill>
                  <a:srgbClr val="237B82"/>
                </a:solidFill>
                <a:latin typeface="Helvetica Neue"/>
                <a:ea typeface="Helvetica Neue"/>
                <a:cs typeface="Helvetica Neue"/>
              </a:defRPr>
            </a:lvl8pPr>
            <a:lvl9pPr>
              <a:defRPr sz="1050" b="1">
                <a:solidFill>
                  <a:srgbClr val="237B82"/>
                </a:solidFill>
                <a:latin typeface="Helvetica Neue"/>
                <a:ea typeface="Helvetica Neue"/>
                <a:cs typeface="Helvetica Neue"/>
              </a:defRPr>
            </a:lvl9pPr>
          </a:lstStyle>
          <a:p xmlns:a="http://schemas.openxmlformats.org/drawingml/2006/main">
            <a:pPr>
              <a:defRPr sz="1050" b="1">
                <a:solidFill>
                  <a:srgbClr val="237B82"/>
                </a:solidFill>
                <a:latin typeface="Helvetica Neue"/>
                <a:ea typeface="Helvetica Neue"/>
                <a:cs typeface="Helvetica Neue"/>
              </a:defRPr>
            </a:pPr>
            <a:r>
              <a:rPr sz="1050" b="1">
                <a:solidFill>
                  <a:srgbClr val="237B82"/>
                </a:solidFill>
                <a:latin typeface="Helvetica Neue"/>
                <a:ea typeface="Helvetica Neue"/>
                <a:cs typeface="Helvetica Neue"/>
              </a:rPr>
              <a:t>Manual page 54</a:t>
            </a:r>
          </a:p>
        </p:txBody>
      </p:sp>
    </p:spTree>
    <p:extLst>
      <p:ext uri="{BB962C8B-B14F-4D97-AF65-F5344CB8AC3E}">
        <p14:creationId xmlns:p14="http://schemas.microsoft.com/office/powerpoint/2010/main" val="1670770459"/>
      </p:ext>
    </p:extLst>
  </p:cSld>
</p:sld>
</file>

<file path=ppt/slides/slide23.xml><?xml version="1.0" encoding="utf-8"?>
<p:sld xmlns:p="http://schemas.openxmlformats.org/presentationml/2006/main">
  <p:cSld>
    <p:bg>
      <p:bgPr>
        <a:solidFill xmlns:a="http://schemas.openxmlformats.org/drawingml/2006/main">
          <a:srgbClr val="F7F4EE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E72D2C49-0E66-4497-B78C-7BB5F942AC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2095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37B82"/>
          </a:solidFill>
          <a:ln xmlns:a="http://schemas.openxmlformats.org/drawingml/2006/main" w="0">
            <a:solidFill>
              <a:srgbClr val="237B82"/>
            </a:solidFill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E09B5D87-FC32-406A-A076-3CE290BFEC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00050"/>
            <a:ext cx="10001250" cy="819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>
            <a:defPPr>
              <a:defRPr sz="2700" b="1">
                <a:solidFill>
                  <a:srgbClr val="15324A"/>
                </a:solidFill>
                <a:latin typeface="Helvetica Neue"/>
                <a:ea typeface="Helvetica Neue"/>
                <a:cs typeface="Helvetica Neue"/>
              </a:defRPr>
            </a:defPPr>
            <a:lvl1pPr>
              <a:defRPr sz="2700" b="1">
                <a:solidFill>
                  <a:srgbClr val="15324A"/>
                </a:solidFill>
                <a:latin typeface="Helvetica Neue"/>
                <a:ea typeface="Helvetica Neue"/>
                <a:cs typeface="Helvetica Neue"/>
              </a:defRPr>
            </a:lvl1pPr>
            <a:lvl2pPr>
              <a:defRPr sz="2700" b="1">
                <a:solidFill>
                  <a:srgbClr val="15324A"/>
                </a:solidFill>
                <a:latin typeface="Helvetica Neue"/>
                <a:ea typeface="Helvetica Neue"/>
                <a:cs typeface="Helvetica Neue"/>
              </a:defRPr>
            </a:lvl2pPr>
            <a:lvl3pPr>
              <a:defRPr sz="2700" b="1">
                <a:solidFill>
                  <a:srgbClr val="15324A"/>
                </a:solidFill>
                <a:latin typeface="Helvetica Neue"/>
                <a:ea typeface="Helvetica Neue"/>
                <a:cs typeface="Helvetica Neue"/>
              </a:defRPr>
            </a:lvl3pPr>
            <a:lvl4pPr>
              <a:defRPr sz="2700" b="1">
                <a:solidFill>
                  <a:srgbClr val="15324A"/>
                </a:solidFill>
                <a:latin typeface="Helvetica Neue"/>
                <a:ea typeface="Helvetica Neue"/>
                <a:cs typeface="Helvetica Neue"/>
              </a:defRPr>
            </a:lvl4pPr>
            <a:lvl5pPr>
              <a:defRPr sz="2700" b="1">
                <a:solidFill>
                  <a:srgbClr val="15324A"/>
                </a:solidFill>
                <a:latin typeface="Helvetica Neue"/>
                <a:ea typeface="Helvetica Neue"/>
                <a:cs typeface="Helvetica Neue"/>
              </a:defRPr>
            </a:lvl5pPr>
            <a:lvl6pPr>
              <a:defRPr sz="2700" b="1">
                <a:solidFill>
                  <a:srgbClr val="15324A"/>
                </a:solidFill>
                <a:latin typeface="Helvetica Neue"/>
                <a:ea typeface="Helvetica Neue"/>
                <a:cs typeface="Helvetica Neue"/>
              </a:defRPr>
            </a:lvl6pPr>
            <a:lvl7pPr>
              <a:defRPr sz="2700" b="1">
                <a:solidFill>
                  <a:srgbClr val="15324A"/>
                </a:solidFill>
                <a:latin typeface="Helvetica Neue"/>
                <a:ea typeface="Helvetica Neue"/>
                <a:cs typeface="Helvetica Neue"/>
              </a:defRPr>
            </a:lvl7pPr>
            <a:lvl8pPr>
              <a:defRPr sz="2700" b="1">
                <a:solidFill>
                  <a:srgbClr val="15324A"/>
                </a:solidFill>
                <a:latin typeface="Helvetica Neue"/>
                <a:ea typeface="Helvetica Neue"/>
                <a:cs typeface="Helvetica Neue"/>
              </a:defRPr>
            </a:lvl8pPr>
            <a:lvl9pPr>
              <a:defRPr sz="2700" b="1">
                <a:solidFill>
                  <a:srgbClr val="15324A"/>
                </a:solidFill>
                <a:latin typeface="Helvetica Neue"/>
                <a:ea typeface="Helvetica Neue"/>
                <a:cs typeface="Helvetica Neue"/>
              </a:defRPr>
            </a:lvl9pPr>
          </a:lstStyle>
          <a:p xmlns:a="http://schemas.openxmlformats.org/drawingml/2006/main">
            <a:pPr>
              <a:defRPr sz="2700" b="1">
                <a:solidFill>
                  <a:srgbClr val="15324A"/>
                </a:solidFill>
                <a:latin typeface="Helvetica Neue"/>
                <a:ea typeface="Helvetica Neue"/>
                <a:cs typeface="Helvetica Neue"/>
              </a:defRPr>
            </a:pPr>
            <a:r>
              <a:rPr sz="2700" b="1">
                <a:solidFill>
                  <a:srgbClr val="15324A"/>
                </a:solidFill>
                <a:latin typeface="Helvetica Neue"/>
                <a:ea typeface="Helvetica Neue"/>
                <a:cs typeface="Helvetica Neue"/>
              </a:rPr>
              <a:t>Blood Cell Preparations — continued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2C539B7F-FC72-4BF9-A819-D82C8E2E5A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1257300"/>
            <a:ext cx="88582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91111"/>
          </a:bodyPr>
          <a:lstStyle xmlns:a="http://schemas.openxmlformats.org/drawingml/2006/main">
            <a:defPPr>
              <a:defRPr sz="1125" b="1">
                <a:solidFill>
                  <a:srgbClr val="237B82"/>
                </a:solidFill>
                <a:latin typeface="Helvetica Neue"/>
                <a:ea typeface="Helvetica Neue"/>
                <a:cs typeface="Helvetica Neue"/>
              </a:defRPr>
            </a:defPPr>
            <a:lvl1pPr>
              <a:defRPr sz="1125" b="1">
                <a:solidFill>
                  <a:srgbClr val="237B82"/>
                </a:solidFill>
                <a:latin typeface="Helvetica Neue"/>
                <a:ea typeface="Helvetica Neue"/>
                <a:cs typeface="Helvetica Neue"/>
              </a:defRPr>
            </a:lvl1pPr>
            <a:lvl2pPr>
              <a:defRPr sz="1125" b="1">
                <a:solidFill>
                  <a:srgbClr val="237B82"/>
                </a:solidFill>
                <a:latin typeface="Helvetica Neue"/>
                <a:ea typeface="Helvetica Neue"/>
                <a:cs typeface="Helvetica Neue"/>
              </a:defRPr>
            </a:lvl2pPr>
            <a:lvl3pPr>
              <a:defRPr sz="1125" b="1">
                <a:solidFill>
                  <a:srgbClr val="237B82"/>
                </a:solidFill>
                <a:latin typeface="Helvetica Neue"/>
                <a:ea typeface="Helvetica Neue"/>
                <a:cs typeface="Helvetica Neue"/>
              </a:defRPr>
            </a:lvl3pPr>
            <a:lvl4pPr>
              <a:defRPr sz="1125" b="1">
                <a:solidFill>
                  <a:srgbClr val="237B82"/>
                </a:solidFill>
                <a:latin typeface="Helvetica Neue"/>
                <a:ea typeface="Helvetica Neue"/>
                <a:cs typeface="Helvetica Neue"/>
              </a:defRPr>
            </a:lvl4pPr>
            <a:lvl5pPr>
              <a:defRPr sz="1125" b="1">
                <a:solidFill>
                  <a:srgbClr val="237B82"/>
                </a:solidFill>
                <a:latin typeface="Helvetica Neue"/>
                <a:ea typeface="Helvetica Neue"/>
                <a:cs typeface="Helvetica Neue"/>
              </a:defRPr>
            </a:lvl5pPr>
            <a:lvl6pPr>
              <a:defRPr sz="1125" b="1">
                <a:solidFill>
                  <a:srgbClr val="237B82"/>
                </a:solidFill>
                <a:latin typeface="Helvetica Neue"/>
                <a:ea typeface="Helvetica Neue"/>
                <a:cs typeface="Helvetica Neue"/>
              </a:defRPr>
            </a:lvl6pPr>
            <a:lvl7pPr>
              <a:defRPr sz="1125" b="1">
                <a:solidFill>
                  <a:srgbClr val="237B82"/>
                </a:solidFill>
                <a:latin typeface="Helvetica Neue"/>
                <a:ea typeface="Helvetica Neue"/>
                <a:cs typeface="Helvetica Neue"/>
              </a:defRPr>
            </a:lvl7pPr>
            <a:lvl8pPr>
              <a:defRPr sz="1125" b="1">
                <a:solidFill>
                  <a:srgbClr val="237B82"/>
                </a:solidFill>
                <a:latin typeface="Helvetica Neue"/>
                <a:ea typeface="Helvetica Neue"/>
                <a:cs typeface="Helvetica Neue"/>
              </a:defRPr>
            </a:lvl8pPr>
            <a:lvl9pPr>
              <a:defRPr sz="1125" b="1">
                <a:solidFill>
                  <a:srgbClr val="237B82"/>
                </a:solidFill>
                <a:latin typeface="Helvetica Neue"/>
                <a:ea typeface="Helvetica Neue"/>
                <a:cs typeface="Helvetica Neue"/>
              </a:defRPr>
            </a:lvl9pPr>
          </a:lstStyle>
          <a:p xmlns:a="http://schemas.openxmlformats.org/drawingml/2006/main">
            <a:pPr>
              <a:defRPr sz="1125" b="1">
                <a:solidFill>
                  <a:srgbClr val="237B82"/>
                </a:solidFill>
                <a:latin typeface="Helvetica Neue"/>
                <a:ea typeface="Helvetica Neue"/>
                <a:cs typeface="Helvetica Neue"/>
              </a:defRPr>
            </a:pPr>
            <a:r>
              <a:rPr sz="1125" b="1">
                <a:solidFill>
                  <a:srgbClr val="237B82"/>
                </a:solidFill>
                <a:latin typeface="Helvetica Neue"/>
                <a:ea typeface="Helvetica Neue"/>
                <a:cs typeface="Helvetica Neue"/>
              </a:rPr>
              <a:t>MODULE 4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04E20124-308B-4277-AC52-4FCCD3D8CC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457200"/>
            <a:ext cx="5334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>
            <a:defPPr>
              <a:defRPr sz="1200" b="1">
                <a:solidFill>
                  <a:srgbClr val="237B82"/>
                </a:solidFill>
                <a:latin typeface="Helvetica Neue"/>
                <a:ea typeface="Helvetica Neue"/>
                <a:cs typeface="Helvetica Neue"/>
              </a:defRPr>
            </a:defPPr>
            <a:lvl1pPr>
              <a:defRPr sz="1200" b="1">
                <a:solidFill>
                  <a:srgbClr val="237B82"/>
                </a:solidFill>
                <a:latin typeface="Helvetica Neue"/>
                <a:ea typeface="Helvetica Neue"/>
                <a:cs typeface="Helvetica Neue"/>
              </a:defRPr>
            </a:lvl1pPr>
            <a:lvl2pPr>
              <a:defRPr sz="1200" b="1">
                <a:solidFill>
                  <a:srgbClr val="237B82"/>
                </a:solidFill>
                <a:latin typeface="Helvetica Neue"/>
                <a:ea typeface="Helvetica Neue"/>
                <a:cs typeface="Helvetica Neue"/>
              </a:defRPr>
            </a:lvl2pPr>
            <a:lvl3pPr>
              <a:defRPr sz="1200" b="1">
                <a:solidFill>
                  <a:srgbClr val="237B82"/>
                </a:solidFill>
                <a:latin typeface="Helvetica Neue"/>
                <a:ea typeface="Helvetica Neue"/>
                <a:cs typeface="Helvetica Neue"/>
              </a:defRPr>
            </a:lvl3pPr>
            <a:lvl4pPr>
              <a:defRPr sz="1200" b="1">
                <a:solidFill>
                  <a:srgbClr val="237B82"/>
                </a:solidFill>
                <a:latin typeface="Helvetica Neue"/>
                <a:ea typeface="Helvetica Neue"/>
                <a:cs typeface="Helvetica Neue"/>
              </a:defRPr>
            </a:lvl4pPr>
            <a:lvl5pPr>
              <a:defRPr sz="1200" b="1">
                <a:solidFill>
                  <a:srgbClr val="237B82"/>
                </a:solidFill>
                <a:latin typeface="Helvetica Neue"/>
                <a:ea typeface="Helvetica Neue"/>
                <a:cs typeface="Helvetica Neue"/>
              </a:defRPr>
            </a:lvl5pPr>
            <a:lvl6pPr>
              <a:defRPr sz="1200" b="1">
                <a:solidFill>
                  <a:srgbClr val="237B82"/>
                </a:solidFill>
                <a:latin typeface="Helvetica Neue"/>
                <a:ea typeface="Helvetica Neue"/>
                <a:cs typeface="Helvetica Neue"/>
              </a:defRPr>
            </a:lvl6pPr>
            <a:lvl7pPr>
              <a:defRPr sz="1200" b="1">
                <a:solidFill>
                  <a:srgbClr val="237B82"/>
                </a:solidFill>
                <a:latin typeface="Helvetica Neue"/>
                <a:ea typeface="Helvetica Neue"/>
                <a:cs typeface="Helvetica Neue"/>
              </a:defRPr>
            </a:lvl7pPr>
            <a:lvl8pPr>
              <a:defRPr sz="1200" b="1">
                <a:solidFill>
                  <a:srgbClr val="237B82"/>
                </a:solidFill>
                <a:latin typeface="Helvetica Neue"/>
                <a:ea typeface="Helvetica Neue"/>
                <a:cs typeface="Helvetica Neue"/>
              </a:defRPr>
            </a:lvl8pPr>
            <a:lvl9pPr>
              <a:defRPr sz="1200" b="1">
                <a:solidFill>
                  <a:srgbClr val="237B82"/>
                </a:solidFill>
                <a:latin typeface="Helvetica Neue"/>
                <a:ea typeface="Helvetica Neue"/>
                <a:cs typeface="Helvetica Neue"/>
              </a:defRPr>
            </a:lvl9pPr>
          </a:lstStyle>
          <a:p xmlns:a="http://schemas.openxmlformats.org/drawingml/2006/main">
            <a:pPr>
              <a:defRPr sz="1200" b="1">
                <a:solidFill>
                  <a:srgbClr val="237B82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00" b="1">
                <a:solidFill>
                  <a:srgbClr val="237B82"/>
                </a:solidFill>
                <a:latin typeface="Helvetica Neue"/>
                <a:ea typeface="Helvetica Neue"/>
                <a:cs typeface="Helvetica Neue"/>
              </a:rPr>
              <a:t>23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E9EBADBC-97BD-4F45-A576-E166189D5C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1762125"/>
            <a:ext cx="10287000" cy="409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>
            <a:defPPr>
              <a:defRPr sz="1875">
                <a:solidFill>
                  <a:srgbClr val="13212D"/>
                </a:solidFill>
                <a:latin typeface="Helvetica Neue"/>
                <a:ea typeface="Helvetica Neue"/>
                <a:cs typeface="Helvetica Neue"/>
              </a:defRPr>
            </a:defPPr>
            <a:lvl1pPr>
              <a:defRPr sz="1875">
                <a:solidFill>
                  <a:srgbClr val="13212D"/>
                </a:solidFill>
                <a:latin typeface="Helvetica Neue"/>
                <a:ea typeface="Helvetica Neue"/>
                <a:cs typeface="Helvetica Neue"/>
              </a:defRPr>
            </a:lvl1pPr>
            <a:lvl2pPr>
              <a:defRPr sz="1875">
                <a:solidFill>
                  <a:srgbClr val="13212D"/>
                </a:solidFill>
                <a:latin typeface="Helvetica Neue"/>
                <a:ea typeface="Helvetica Neue"/>
                <a:cs typeface="Helvetica Neue"/>
              </a:defRPr>
            </a:lvl2pPr>
            <a:lvl3pPr>
              <a:defRPr sz="1875">
                <a:solidFill>
                  <a:srgbClr val="13212D"/>
                </a:solidFill>
                <a:latin typeface="Helvetica Neue"/>
                <a:ea typeface="Helvetica Neue"/>
                <a:cs typeface="Helvetica Neue"/>
              </a:defRPr>
            </a:lvl3pPr>
            <a:lvl4pPr>
              <a:defRPr sz="1875">
                <a:solidFill>
                  <a:srgbClr val="13212D"/>
                </a:solidFill>
                <a:latin typeface="Helvetica Neue"/>
                <a:ea typeface="Helvetica Neue"/>
                <a:cs typeface="Helvetica Neue"/>
              </a:defRPr>
            </a:lvl4pPr>
            <a:lvl5pPr>
              <a:defRPr sz="1875">
                <a:solidFill>
                  <a:srgbClr val="13212D"/>
                </a:solidFill>
                <a:latin typeface="Helvetica Neue"/>
                <a:ea typeface="Helvetica Neue"/>
                <a:cs typeface="Helvetica Neue"/>
              </a:defRPr>
            </a:lvl5pPr>
            <a:lvl6pPr>
              <a:defRPr sz="1875">
                <a:solidFill>
                  <a:srgbClr val="13212D"/>
                </a:solidFill>
                <a:latin typeface="Helvetica Neue"/>
                <a:ea typeface="Helvetica Neue"/>
                <a:cs typeface="Helvetica Neue"/>
              </a:defRPr>
            </a:lvl6pPr>
            <a:lvl7pPr>
              <a:defRPr sz="1875">
                <a:solidFill>
                  <a:srgbClr val="13212D"/>
                </a:solidFill>
                <a:latin typeface="Helvetica Neue"/>
                <a:ea typeface="Helvetica Neue"/>
                <a:cs typeface="Helvetica Neue"/>
              </a:defRPr>
            </a:lvl7pPr>
            <a:lvl8pPr>
              <a:defRPr sz="1875">
                <a:solidFill>
                  <a:srgbClr val="13212D"/>
                </a:solidFill>
                <a:latin typeface="Helvetica Neue"/>
                <a:ea typeface="Helvetica Neue"/>
                <a:cs typeface="Helvetica Neue"/>
              </a:defRPr>
            </a:lvl8pPr>
            <a:lvl9pPr>
              <a:defRPr sz="1875">
                <a:solidFill>
                  <a:srgbClr val="13212D"/>
                </a:solidFill>
                <a:latin typeface="Helvetica Neue"/>
                <a:ea typeface="Helvetica Neue"/>
                <a:cs typeface="Helvetica Neue"/>
              </a:defRPr>
            </a:lvl9pPr>
          </a:lstStyle>
          <a:p xmlns:a="http://schemas.openxmlformats.org/drawingml/2006/main">
            <a:pPr marL="279400" indent="-127000">
              <a:spcAft>
                <a:spcPts val="1300"/>
              </a:spcAft>
              <a:buChar char="•"/>
              <a:defRPr sz="1875">
                <a:solidFill>
                  <a:srgbClr val="13212D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75">
                <a:solidFill>
                  <a:srgbClr val="13212D"/>
                </a:solidFill>
                <a:latin typeface="Helvetica Neue"/>
                <a:ea typeface="Helvetica Neue"/>
                <a:cs typeface="Helvetica Neue"/>
              </a:rPr>
              <a:t>The incidence of transfusion reactions is higher in the administration of whole blood because of the many substances constituting the plasma portion of whole blood.</a:t>
            </a:r>
          </a:p>
          <a:p xmlns:a="http://schemas.openxmlformats.org/drawingml/2006/main">
            <a:pPr marL="279400" indent="-127000">
              <a:spcAft>
                <a:spcPts val="1300"/>
              </a:spcAft>
              <a:buChar char="•"/>
              <a:defRPr sz="1875">
                <a:solidFill>
                  <a:srgbClr val="13212D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75">
                <a:solidFill>
                  <a:srgbClr val="13212D"/>
                </a:solidFill>
                <a:latin typeface="Helvetica Neue"/>
                <a:ea typeface="Helvetica Neue"/>
                <a:cs typeface="Helvetica Neue"/>
              </a:rPr>
              <a:t>Packed Red Blood Cells - This product is preferred when the oxygen carrying capacity of the patient needs improvement without extensive volume restoration.</a:t>
            </a:r>
          </a:p>
          <a:p xmlns:a="http://schemas.openxmlformats.org/drawingml/2006/main">
            <a:pPr marL="279400" indent="-127000">
              <a:spcAft>
                <a:spcPts val="1300"/>
              </a:spcAft>
              <a:buChar char="•"/>
              <a:defRPr sz="1875">
                <a:solidFill>
                  <a:srgbClr val="13212D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75">
                <a:solidFill>
                  <a:srgbClr val="13212D"/>
                </a:solidFill>
                <a:latin typeface="Helvetica Neue"/>
                <a:ea typeface="Helvetica Neue"/>
                <a:cs typeface="Helvetica Neue"/>
              </a:rPr>
              <a:t>A unit of packed cells has a hematocrit (percent red blood cells) of 80%, and provides the necessary replacement of oxygen carrying red cells without the risk of circulatory overload.</a:t>
            </a:r>
          </a:p>
          <a:p xmlns:a="http://schemas.openxmlformats.org/drawingml/2006/main">
            <a:pPr marL="279400" indent="-127000">
              <a:spcAft>
                <a:spcPts val="1300"/>
              </a:spcAft>
              <a:buChar char="•"/>
              <a:defRPr sz="1875">
                <a:solidFill>
                  <a:srgbClr val="13212D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75">
                <a:solidFill>
                  <a:srgbClr val="13212D"/>
                </a:solidFill>
                <a:latin typeface="Helvetica Neue"/>
                <a:ea typeface="Helvetica Neue"/>
                <a:cs typeface="Helvetica Neue"/>
              </a:rPr>
              <a:t>There is less citrate in packed cells than whole blood therefore, the risk of toxicity is reduced.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29480CF9-AEB2-4494-89CC-0803234B29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6115050"/>
            <a:ext cx="101917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>
            <a:defPPr>
              <a:defRPr sz="1125" b="1">
                <a:solidFill>
                  <a:srgbClr val="B94F3D"/>
                </a:solidFill>
                <a:latin typeface="Helvetica Neue"/>
                <a:ea typeface="Helvetica Neue"/>
                <a:cs typeface="Helvetica Neue"/>
              </a:defRPr>
            </a:defPPr>
            <a:lvl1pPr>
              <a:defRPr sz="1125" b="1">
                <a:solidFill>
                  <a:srgbClr val="B94F3D"/>
                </a:solidFill>
                <a:latin typeface="Helvetica Neue"/>
                <a:ea typeface="Helvetica Neue"/>
                <a:cs typeface="Helvetica Neue"/>
              </a:defRPr>
            </a:lvl1pPr>
            <a:lvl2pPr>
              <a:defRPr sz="1125" b="1">
                <a:solidFill>
                  <a:srgbClr val="B94F3D"/>
                </a:solidFill>
                <a:latin typeface="Helvetica Neue"/>
                <a:ea typeface="Helvetica Neue"/>
                <a:cs typeface="Helvetica Neue"/>
              </a:defRPr>
            </a:lvl2pPr>
            <a:lvl3pPr>
              <a:defRPr sz="1125" b="1">
                <a:solidFill>
                  <a:srgbClr val="B94F3D"/>
                </a:solidFill>
                <a:latin typeface="Helvetica Neue"/>
                <a:ea typeface="Helvetica Neue"/>
                <a:cs typeface="Helvetica Neue"/>
              </a:defRPr>
            </a:lvl3pPr>
            <a:lvl4pPr>
              <a:defRPr sz="1125" b="1">
                <a:solidFill>
                  <a:srgbClr val="B94F3D"/>
                </a:solidFill>
                <a:latin typeface="Helvetica Neue"/>
                <a:ea typeface="Helvetica Neue"/>
                <a:cs typeface="Helvetica Neue"/>
              </a:defRPr>
            </a:lvl4pPr>
            <a:lvl5pPr>
              <a:defRPr sz="1125" b="1">
                <a:solidFill>
                  <a:srgbClr val="B94F3D"/>
                </a:solidFill>
                <a:latin typeface="Helvetica Neue"/>
                <a:ea typeface="Helvetica Neue"/>
                <a:cs typeface="Helvetica Neue"/>
              </a:defRPr>
            </a:lvl5pPr>
            <a:lvl6pPr>
              <a:defRPr sz="1125" b="1">
                <a:solidFill>
                  <a:srgbClr val="B94F3D"/>
                </a:solidFill>
                <a:latin typeface="Helvetica Neue"/>
                <a:ea typeface="Helvetica Neue"/>
                <a:cs typeface="Helvetica Neue"/>
              </a:defRPr>
            </a:lvl6pPr>
            <a:lvl7pPr>
              <a:defRPr sz="1125" b="1">
                <a:solidFill>
                  <a:srgbClr val="B94F3D"/>
                </a:solidFill>
                <a:latin typeface="Helvetica Neue"/>
                <a:ea typeface="Helvetica Neue"/>
                <a:cs typeface="Helvetica Neue"/>
              </a:defRPr>
            </a:lvl7pPr>
            <a:lvl8pPr>
              <a:defRPr sz="1125" b="1">
                <a:solidFill>
                  <a:srgbClr val="B94F3D"/>
                </a:solidFill>
                <a:latin typeface="Helvetica Neue"/>
                <a:ea typeface="Helvetica Neue"/>
                <a:cs typeface="Helvetica Neue"/>
              </a:defRPr>
            </a:lvl8pPr>
            <a:lvl9pPr>
              <a:defRPr sz="1125" b="1">
                <a:solidFill>
                  <a:srgbClr val="B94F3D"/>
                </a:solidFill>
                <a:latin typeface="Helvetica Neue"/>
                <a:ea typeface="Helvetica Neue"/>
                <a:cs typeface="Helvetica Neue"/>
              </a:defRPr>
            </a:lvl9pPr>
          </a:lstStyle>
          <a:p xmlns:a="http://schemas.openxmlformats.org/drawingml/2006/main">
            <a:pPr>
              <a:defRPr sz="1125" b="1">
                <a:solidFill>
                  <a:srgbClr val="B94F3D"/>
                </a:solidFill>
                <a:latin typeface="Helvetica Neue"/>
                <a:ea typeface="Helvetica Neue"/>
                <a:cs typeface="Helvetica Neue"/>
              </a:defRPr>
            </a:pPr>
            <a:r>
              <a:rPr sz="1125" b="1">
                <a:solidFill>
                  <a:srgbClr val="B94F3D"/>
                </a:solidFill>
                <a:latin typeface="Helvetica Neue"/>
                <a:ea typeface="Helvetica Neue"/>
                <a:cs typeface="Helvetica Neue"/>
              </a:rPr>
              <a:t>Use current orders, facility policy, and authorized scope when applying this information.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17CBE450-3E8B-41BE-AFBA-C0C4CF9D18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5772150"/>
            <a:ext cx="101917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97619"/>
          </a:bodyPr>
          <a:lstStyle xmlns:a="http://schemas.openxmlformats.org/drawingml/2006/main">
            <a:defPPr>
              <a:defRPr sz="1050" b="1">
                <a:solidFill>
                  <a:srgbClr val="237B82"/>
                </a:solidFill>
                <a:latin typeface="Helvetica Neue"/>
                <a:ea typeface="Helvetica Neue"/>
                <a:cs typeface="Helvetica Neue"/>
              </a:defRPr>
            </a:defPPr>
            <a:lvl1pPr>
              <a:defRPr sz="1050" b="1">
                <a:solidFill>
                  <a:srgbClr val="237B82"/>
                </a:solidFill>
                <a:latin typeface="Helvetica Neue"/>
                <a:ea typeface="Helvetica Neue"/>
                <a:cs typeface="Helvetica Neue"/>
              </a:defRPr>
            </a:lvl1pPr>
            <a:lvl2pPr>
              <a:defRPr sz="1050" b="1">
                <a:solidFill>
                  <a:srgbClr val="237B82"/>
                </a:solidFill>
                <a:latin typeface="Helvetica Neue"/>
                <a:ea typeface="Helvetica Neue"/>
                <a:cs typeface="Helvetica Neue"/>
              </a:defRPr>
            </a:lvl2pPr>
            <a:lvl3pPr>
              <a:defRPr sz="1050" b="1">
                <a:solidFill>
                  <a:srgbClr val="237B82"/>
                </a:solidFill>
                <a:latin typeface="Helvetica Neue"/>
                <a:ea typeface="Helvetica Neue"/>
                <a:cs typeface="Helvetica Neue"/>
              </a:defRPr>
            </a:lvl3pPr>
            <a:lvl4pPr>
              <a:defRPr sz="1050" b="1">
                <a:solidFill>
                  <a:srgbClr val="237B82"/>
                </a:solidFill>
                <a:latin typeface="Helvetica Neue"/>
                <a:ea typeface="Helvetica Neue"/>
                <a:cs typeface="Helvetica Neue"/>
              </a:defRPr>
            </a:lvl4pPr>
            <a:lvl5pPr>
              <a:defRPr sz="1050" b="1">
                <a:solidFill>
                  <a:srgbClr val="237B82"/>
                </a:solidFill>
                <a:latin typeface="Helvetica Neue"/>
                <a:ea typeface="Helvetica Neue"/>
                <a:cs typeface="Helvetica Neue"/>
              </a:defRPr>
            </a:lvl5pPr>
            <a:lvl6pPr>
              <a:defRPr sz="1050" b="1">
                <a:solidFill>
                  <a:srgbClr val="237B82"/>
                </a:solidFill>
                <a:latin typeface="Helvetica Neue"/>
                <a:ea typeface="Helvetica Neue"/>
                <a:cs typeface="Helvetica Neue"/>
              </a:defRPr>
            </a:lvl6pPr>
            <a:lvl7pPr>
              <a:defRPr sz="1050" b="1">
                <a:solidFill>
                  <a:srgbClr val="237B82"/>
                </a:solidFill>
                <a:latin typeface="Helvetica Neue"/>
                <a:ea typeface="Helvetica Neue"/>
                <a:cs typeface="Helvetica Neue"/>
              </a:defRPr>
            </a:lvl7pPr>
            <a:lvl8pPr>
              <a:defRPr sz="1050" b="1">
                <a:solidFill>
                  <a:srgbClr val="237B82"/>
                </a:solidFill>
                <a:latin typeface="Helvetica Neue"/>
                <a:ea typeface="Helvetica Neue"/>
                <a:cs typeface="Helvetica Neue"/>
              </a:defRPr>
            </a:lvl8pPr>
            <a:lvl9pPr>
              <a:defRPr sz="1050" b="1">
                <a:solidFill>
                  <a:srgbClr val="237B82"/>
                </a:solidFill>
                <a:latin typeface="Helvetica Neue"/>
                <a:ea typeface="Helvetica Neue"/>
                <a:cs typeface="Helvetica Neue"/>
              </a:defRPr>
            </a:lvl9pPr>
          </a:lstStyle>
          <a:p xmlns:a="http://schemas.openxmlformats.org/drawingml/2006/main">
            <a:pPr>
              <a:defRPr sz="1050" b="1">
                <a:solidFill>
                  <a:srgbClr val="237B82"/>
                </a:solidFill>
                <a:latin typeface="Helvetica Neue"/>
                <a:ea typeface="Helvetica Neue"/>
                <a:cs typeface="Helvetica Neue"/>
              </a:defRPr>
            </a:pPr>
            <a:r>
              <a:rPr sz="1050" b="1">
                <a:solidFill>
                  <a:srgbClr val="237B82"/>
                </a:solidFill>
                <a:latin typeface="Helvetica Neue"/>
                <a:ea typeface="Helvetica Neue"/>
                <a:cs typeface="Helvetica Neue"/>
              </a:rPr>
              <a:t>Manual page 54</a:t>
            </a:r>
          </a:p>
        </p:txBody>
      </p:sp>
    </p:spTree>
    <p:extLst>
      <p:ext uri="{BB962C8B-B14F-4D97-AF65-F5344CB8AC3E}">
        <p14:creationId xmlns:p14="http://schemas.microsoft.com/office/powerpoint/2010/main" val="1709991779"/>
      </p:ext>
    </p:extLst>
  </p:cSld>
</p:sld>
</file>

<file path=ppt/slides/slide24.xml><?xml version="1.0" encoding="utf-8"?>
<p:sld xmlns:p="http://schemas.openxmlformats.org/presentationml/2006/main">
  <p:cSld>
    <p:bg>
      <p:bgPr>
        <a:solidFill xmlns:a="http://schemas.openxmlformats.org/drawingml/2006/main">
          <a:srgbClr val="F7F4EE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3D395DD3-6A14-4852-AF71-6FAD6367BC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2095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37B82"/>
          </a:solidFill>
          <a:ln xmlns:a="http://schemas.openxmlformats.org/drawingml/2006/main" w="0">
            <a:solidFill>
              <a:srgbClr val="237B82"/>
            </a:solidFill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CC23A86D-BAAF-4007-A39B-2B6FD89AF9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00050"/>
            <a:ext cx="10001250" cy="819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>
            <a:defPPr>
              <a:defRPr sz="2700" b="1">
                <a:solidFill>
                  <a:srgbClr val="15324A"/>
                </a:solidFill>
                <a:latin typeface="Helvetica Neue"/>
                <a:ea typeface="Helvetica Neue"/>
                <a:cs typeface="Helvetica Neue"/>
              </a:defRPr>
            </a:defPPr>
            <a:lvl1pPr>
              <a:defRPr sz="2700" b="1">
                <a:solidFill>
                  <a:srgbClr val="15324A"/>
                </a:solidFill>
                <a:latin typeface="Helvetica Neue"/>
                <a:ea typeface="Helvetica Neue"/>
                <a:cs typeface="Helvetica Neue"/>
              </a:defRPr>
            </a:lvl1pPr>
            <a:lvl2pPr>
              <a:defRPr sz="2700" b="1">
                <a:solidFill>
                  <a:srgbClr val="15324A"/>
                </a:solidFill>
                <a:latin typeface="Helvetica Neue"/>
                <a:ea typeface="Helvetica Neue"/>
                <a:cs typeface="Helvetica Neue"/>
              </a:defRPr>
            </a:lvl2pPr>
            <a:lvl3pPr>
              <a:defRPr sz="2700" b="1">
                <a:solidFill>
                  <a:srgbClr val="15324A"/>
                </a:solidFill>
                <a:latin typeface="Helvetica Neue"/>
                <a:ea typeface="Helvetica Neue"/>
                <a:cs typeface="Helvetica Neue"/>
              </a:defRPr>
            </a:lvl3pPr>
            <a:lvl4pPr>
              <a:defRPr sz="2700" b="1">
                <a:solidFill>
                  <a:srgbClr val="15324A"/>
                </a:solidFill>
                <a:latin typeface="Helvetica Neue"/>
                <a:ea typeface="Helvetica Neue"/>
                <a:cs typeface="Helvetica Neue"/>
              </a:defRPr>
            </a:lvl4pPr>
            <a:lvl5pPr>
              <a:defRPr sz="2700" b="1">
                <a:solidFill>
                  <a:srgbClr val="15324A"/>
                </a:solidFill>
                <a:latin typeface="Helvetica Neue"/>
                <a:ea typeface="Helvetica Neue"/>
                <a:cs typeface="Helvetica Neue"/>
              </a:defRPr>
            </a:lvl5pPr>
            <a:lvl6pPr>
              <a:defRPr sz="2700" b="1">
                <a:solidFill>
                  <a:srgbClr val="15324A"/>
                </a:solidFill>
                <a:latin typeface="Helvetica Neue"/>
                <a:ea typeface="Helvetica Neue"/>
                <a:cs typeface="Helvetica Neue"/>
              </a:defRPr>
            </a:lvl6pPr>
            <a:lvl7pPr>
              <a:defRPr sz="2700" b="1">
                <a:solidFill>
                  <a:srgbClr val="15324A"/>
                </a:solidFill>
                <a:latin typeface="Helvetica Neue"/>
                <a:ea typeface="Helvetica Neue"/>
                <a:cs typeface="Helvetica Neue"/>
              </a:defRPr>
            </a:lvl7pPr>
            <a:lvl8pPr>
              <a:defRPr sz="2700" b="1">
                <a:solidFill>
                  <a:srgbClr val="15324A"/>
                </a:solidFill>
                <a:latin typeface="Helvetica Neue"/>
                <a:ea typeface="Helvetica Neue"/>
                <a:cs typeface="Helvetica Neue"/>
              </a:defRPr>
            </a:lvl8pPr>
            <a:lvl9pPr>
              <a:defRPr sz="2700" b="1">
                <a:solidFill>
                  <a:srgbClr val="15324A"/>
                </a:solidFill>
                <a:latin typeface="Helvetica Neue"/>
                <a:ea typeface="Helvetica Neue"/>
                <a:cs typeface="Helvetica Neue"/>
              </a:defRPr>
            </a:lvl9pPr>
          </a:lstStyle>
          <a:p xmlns:a="http://schemas.openxmlformats.org/drawingml/2006/main">
            <a:pPr>
              <a:defRPr sz="2700" b="1">
                <a:solidFill>
                  <a:srgbClr val="15324A"/>
                </a:solidFill>
                <a:latin typeface="Helvetica Neue"/>
                <a:ea typeface="Helvetica Neue"/>
                <a:cs typeface="Helvetica Neue"/>
              </a:defRPr>
            </a:pPr>
            <a:r>
              <a:rPr sz="2700" b="1">
                <a:solidFill>
                  <a:srgbClr val="15324A"/>
                </a:solidFill>
                <a:latin typeface="Helvetica Neue"/>
                <a:ea typeface="Helvetica Neue"/>
                <a:cs typeface="Helvetica Neue"/>
              </a:rPr>
              <a:t>Blood Cell Preparations — continued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CB014FC7-6EFF-4F24-823B-F2A81A46C2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1257300"/>
            <a:ext cx="88582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91111"/>
          </a:bodyPr>
          <a:lstStyle xmlns:a="http://schemas.openxmlformats.org/drawingml/2006/main">
            <a:defPPr>
              <a:defRPr sz="1125" b="1">
                <a:solidFill>
                  <a:srgbClr val="237B82"/>
                </a:solidFill>
                <a:latin typeface="Helvetica Neue"/>
                <a:ea typeface="Helvetica Neue"/>
                <a:cs typeface="Helvetica Neue"/>
              </a:defRPr>
            </a:defPPr>
            <a:lvl1pPr>
              <a:defRPr sz="1125" b="1">
                <a:solidFill>
                  <a:srgbClr val="237B82"/>
                </a:solidFill>
                <a:latin typeface="Helvetica Neue"/>
                <a:ea typeface="Helvetica Neue"/>
                <a:cs typeface="Helvetica Neue"/>
              </a:defRPr>
            </a:lvl1pPr>
            <a:lvl2pPr>
              <a:defRPr sz="1125" b="1">
                <a:solidFill>
                  <a:srgbClr val="237B82"/>
                </a:solidFill>
                <a:latin typeface="Helvetica Neue"/>
                <a:ea typeface="Helvetica Neue"/>
                <a:cs typeface="Helvetica Neue"/>
              </a:defRPr>
            </a:lvl2pPr>
            <a:lvl3pPr>
              <a:defRPr sz="1125" b="1">
                <a:solidFill>
                  <a:srgbClr val="237B82"/>
                </a:solidFill>
                <a:latin typeface="Helvetica Neue"/>
                <a:ea typeface="Helvetica Neue"/>
                <a:cs typeface="Helvetica Neue"/>
              </a:defRPr>
            </a:lvl3pPr>
            <a:lvl4pPr>
              <a:defRPr sz="1125" b="1">
                <a:solidFill>
                  <a:srgbClr val="237B82"/>
                </a:solidFill>
                <a:latin typeface="Helvetica Neue"/>
                <a:ea typeface="Helvetica Neue"/>
                <a:cs typeface="Helvetica Neue"/>
              </a:defRPr>
            </a:lvl4pPr>
            <a:lvl5pPr>
              <a:defRPr sz="1125" b="1">
                <a:solidFill>
                  <a:srgbClr val="237B82"/>
                </a:solidFill>
                <a:latin typeface="Helvetica Neue"/>
                <a:ea typeface="Helvetica Neue"/>
                <a:cs typeface="Helvetica Neue"/>
              </a:defRPr>
            </a:lvl5pPr>
            <a:lvl6pPr>
              <a:defRPr sz="1125" b="1">
                <a:solidFill>
                  <a:srgbClr val="237B82"/>
                </a:solidFill>
                <a:latin typeface="Helvetica Neue"/>
                <a:ea typeface="Helvetica Neue"/>
                <a:cs typeface="Helvetica Neue"/>
              </a:defRPr>
            </a:lvl6pPr>
            <a:lvl7pPr>
              <a:defRPr sz="1125" b="1">
                <a:solidFill>
                  <a:srgbClr val="237B82"/>
                </a:solidFill>
                <a:latin typeface="Helvetica Neue"/>
                <a:ea typeface="Helvetica Neue"/>
                <a:cs typeface="Helvetica Neue"/>
              </a:defRPr>
            </a:lvl7pPr>
            <a:lvl8pPr>
              <a:defRPr sz="1125" b="1">
                <a:solidFill>
                  <a:srgbClr val="237B82"/>
                </a:solidFill>
                <a:latin typeface="Helvetica Neue"/>
                <a:ea typeface="Helvetica Neue"/>
                <a:cs typeface="Helvetica Neue"/>
              </a:defRPr>
            </a:lvl8pPr>
            <a:lvl9pPr>
              <a:defRPr sz="1125" b="1">
                <a:solidFill>
                  <a:srgbClr val="237B82"/>
                </a:solidFill>
                <a:latin typeface="Helvetica Neue"/>
                <a:ea typeface="Helvetica Neue"/>
                <a:cs typeface="Helvetica Neue"/>
              </a:defRPr>
            </a:lvl9pPr>
          </a:lstStyle>
          <a:p xmlns:a="http://schemas.openxmlformats.org/drawingml/2006/main">
            <a:pPr>
              <a:defRPr sz="1125" b="1">
                <a:solidFill>
                  <a:srgbClr val="237B82"/>
                </a:solidFill>
                <a:latin typeface="Helvetica Neue"/>
                <a:ea typeface="Helvetica Neue"/>
                <a:cs typeface="Helvetica Neue"/>
              </a:defRPr>
            </a:pPr>
            <a:r>
              <a:rPr sz="1125" b="1">
                <a:solidFill>
                  <a:srgbClr val="237B82"/>
                </a:solidFill>
                <a:latin typeface="Helvetica Neue"/>
                <a:ea typeface="Helvetica Neue"/>
                <a:cs typeface="Helvetica Neue"/>
              </a:rPr>
              <a:t>MODULE 4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1C84593A-4D4A-499E-B3F3-8637880124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457200"/>
            <a:ext cx="5334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>
            <a:defPPr>
              <a:defRPr sz="1200" b="1">
                <a:solidFill>
                  <a:srgbClr val="237B82"/>
                </a:solidFill>
                <a:latin typeface="Helvetica Neue"/>
                <a:ea typeface="Helvetica Neue"/>
                <a:cs typeface="Helvetica Neue"/>
              </a:defRPr>
            </a:defPPr>
            <a:lvl1pPr>
              <a:defRPr sz="1200" b="1">
                <a:solidFill>
                  <a:srgbClr val="237B82"/>
                </a:solidFill>
                <a:latin typeface="Helvetica Neue"/>
                <a:ea typeface="Helvetica Neue"/>
                <a:cs typeface="Helvetica Neue"/>
              </a:defRPr>
            </a:lvl1pPr>
            <a:lvl2pPr>
              <a:defRPr sz="1200" b="1">
                <a:solidFill>
                  <a:srgbClr val="237B82"/>
                </a:solidFill>
                <a:latin typeface="Helvetica Neue"/>
                <a:ea typeface="Helvetica Neue"/>
                <a:cs typeface="Helvetica Neue"/>
              </a:defRPr>
            </a:lvl2pPr>
            <a:lvl3pPr>
              <a:defRPr sz="1200" b="1">
                <a:solidFill>
                  <a:srgbClr val="237B82"/>
                </a:solidFill>
                <a:latin typeface="Helvetica Neue"/>
                <a:ea typeface="Helvetica Neue"/>
                <a:cs typeface="Helvetica Neue"/>
              </a:defRPr>
            </a:lvl3pPr>
            <a:lvl4pPr>
              <a:defRPr sz="1200" b="1">
                <a:solidFill>
                  <a:srgbClr val="237B82"/>
                </a:solidFill>
                <a:latin typeface="Helvetica Neue"/>
                <a:ea typeface="Helvetica Neue"/>
                <a:cs typeface="Helvetica Neue"/>
              </a:defRPr>
            </a:lvl4pPr>
            <a:lvl5pPr>
              <a:defRPr sz="1200" b="1">
                <a:solidFill>
                  <a:srgbClr val="237B82"/>
                </a:solidFill>
                <a:latin typeface="Helvetica Neue"/>
                <a:ea typeface="Helvetica Neue"/>
                <a:cs typeface="Helvetica Neue"/>
              </a:defRPr>
            </a:lvl5pPr>
            <a:lvl6pPr>
              <a:defRPr sz="1200" b="1">
                <a:solidFill>
                  <a:srgbClr val="237B82"/>
                </a:solidFill>
                <a:latin typeface="Helvetica Neue"/>
                <a:ea typeface="Helvetica Neue"/>
                <a:cs typeface="Helvetica Neue"/>
              </a:defRPr>
            </a:lvl6pPr>
            <a:lvl7pPr>
              <a:defRPr sz="1200" b="1">
                <a:solidFill>
                  <a:srgbClr val="237B82"/>
                </a:solidFill>
                <a:latin typeface="Helvetica Neue"/>
                <a:ea typeface="Helvetica Neue"/>
                <a:cs typeface="Helvetica Neue"/>
              </a:defRPr>
            </a:lvl7pPr>
            <a:lvl8pPr>
              <a:defRPr sz="1200" b="1">
                <a:solidFill>
                  <a:srgbClr val="237B82"/>
                </a:solidFill>
                <a:latin typeface="Helvetica Neue"/>
                <a:ea typeface="Helvetica Neue"/>
                <a:cs typeface="Helvetica Neue"/>
              </a:defRPr>
            </a:lvl8pPr>
            <a:lvl9pPr>
              <a:defRPr sz="1200" b="1">
                <a:solidFill>
                  <a:srgbClr val="237B82"/>
                </a:solidFill>
                <a:latin typeface="Helvetica Neue"/>
                <a:ea typeface="Helvetica Neue"/>
                <a:cs typeface="Helvetica Neue"/>
              </a:defRPr>
            </a:lvl9pPr>
          </a:lstStyle>
          <a:p xmlns:a="http://schemas.openxmlformats.org/drawingml/2006/main">
            <a:pPr>
              <a:defRPr sz="1200" b="1">
                <a:solidFill>
                  <a:srgbClr val="237B82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00" b="1">
                <a:solidFill>
                  <a:srgbClr val="237B82"/>
                </a:solidFill>
                <a:latin typeface="Helvetica Neue"/>
                <a:ea typeface="Helvetica Neue"/>
                <a:cs typeface="Helvetica Neue"/>
              </a:rPr>
              <a:t>24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CA48D247-003C-4D65-929F-52272BB04B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1762125"/>
            <a:ext cx="10287000" cy="409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>
            <a:defPPr>
              <a:defRPr sz="1875">
                <a:solidFill>
                  <a:srgbClr val="13212D"/>
                </a:solidFill>
                <a:latin typeface="Helvetica Neue"/>
                <a:ea typeface="Helvetica Neue"/>
                <a:cs typeface="Helvetica Neue"/>
              </a:defRPr>
            </a:defPPr>
            <a:lvl1pPr>
              <a:defRPr sz="1875">
                <a:solidFill>
                  <a:srgbClr val="13212D"/>
                </a:solidFill>
                <a:latin typeface="Helvetica Neue"/>
                <a:ea typeface="Helvetica Neue"/>
                <a:cs typeface="Helvetica Neue"/>
              </a:defRPr>
            </a:lvl1pPr>
            <a:lvl2pPr>
              <a:defRPr sz="1875">
                <a:solidFill>
                  <a:srgbClr val="13212D"/>
                </a:solidFill>
                <a:latin typeface="Helvetica Neue"/>
                <a:ea typeface="Helvetica Neue"/>
                <a:cs typeface="Helvetica Neue"/>
              </a:defRPr>
            </a:lvl2pPr>
            <a:lvl3pPr>
              <a:defRPr sz="1875">
                <a:solidFill>
                  <a:srgbClr val="13212D"/>
                </a:solidFill>
                <a:latin typeface="Helvetica Neue"/>
                <a:ea typeface="Helvetica Neue"/>
                <a:cs typeface="Helvetica Neue"/>
              </a:defRPr>
            </a:lvl3pPr>
            <a:lvl4pPr>
              <a:defRPr sz="1875">
                <a:solidFill>
                  <a:srgbClr val="13212D"/>
                </a:solidFill>
                <a:latin typeface="Helvetica Neue"/>
                <a:ea typeface="Helvetica Neue"/>
                <a:cs typeface="Helvetica Neue"/>
              </a:defRPr>
            </a:lvl4pPr>
            <a:lvl5pPr>
              <a:defRPr sz="1875">
                <a:solidFill>
                  <a:srgbClr val="13212D"/>
                </a:solidFill>
                <a:latin typeface="Helvetica Neue"/>
                <a:ea typeface="Helvetica Neue"/>
                <a:cs typeface="Helvetica Neue"/>
              </a:defRPr>
            </a:lvl5pPr>
            <a:lvl6pPr>
              <a:defRPr sz="1875">
                <a:solidFill>
                  <a:srgbClr val="13212D"/>
                </a:solidFill>
                <a:latin typeface="Helvetica Neue"/>
                <a:ea typeface="Helvetica Neue"/>
                <a:cs typeface="Helvetica Neue"/>
              </a:defRPr>
            </a:lvl6pPr>
            <a:lvl7pPr>
              <a:defRPr sz="1875">
                <a:solidFill>
                  <a:srgbClr val="13212D"/>
                </a:solidFill>
                <a:latin typeface="Helvetica Neue"/>
                <a:ea typeface="Helvetica Neue"/>
                <a:cs typeface="Helvetica Neue"/>
              </a:defRPr>
            </a:lvl7pPr>
            <a:lvl8pPr>
              <a:defRPr sz="1875">
                <a:solidFill>
                  <a:srgbClr val="13212D"/>
                </a:solidFill>
                <a:latin typeface="Helvetica Neue"/>
                <a:ea typeface="Helvetica Neue"/>
                <a:cs typeface="Helvetica Neue"/>
              </a:defRPr>
            </a:lvl8pPr>
            <a:lvl9pPr>
              <a:defRPr sz="1875">
                <a:solidFill>
                  <a:srgbClr val="13212D"/>
                </a:solidFill>
                <a:latin typeface="Helvetica Neue"/>
                <a:ea typeface="Helvetica Neue"/>
                <a:cs typeface="Helvetica Neue"/>
              </a:defRPr>
            </a:lvl9pPr>
          </a:lstStyle>
          <a:p xmlns:a="http://schemas.openxmlformats.org/drawingml/2006/main">
            <a:pPr marL="279400" indent="-127000">
              <a:spcAft>
                <a:spcPts val="1300"/>
              </a:spcAft>
              <a:buChar char="•"/>
              <a:defRPr sz="1875">
                <a:solidFill>
                  <a:srgbClr val="13212D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75">
                <a:solidFill>
                  <a:srgbClr val="13212D"/>
                </a:solidFill>
                <a:latin typeface="Helvetica Neue"/>
                <a:ea typeface="Helvetica Neue"/>
                <a:cs typeface="Helvetica Neue"/>
              </a:rPr>
              <a:t>Frozen Red Cells - The technique of long-term preservation of red blood cells is accomplished through freezing the cells in glycerol.</a:t>
            </a:r>
          </a:p>
          <a:p xmlns:a="http://schemas.openxmlformats.org/drawingml/2006/main">
            <a:pPr marL="279400" indent="-127000">
              <a:spcAft>
                <a:spcPts val="1300"/>
              </a:spcAft>
              <a:buChar char="•"/>
              <a:defRPr sz="1875">
                <a:solidFill>
                  <a:srgbClr val="13212D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75">
                <a:solidFill>
                  <a:srgbClr val="13212D"/>
                </a:solidFill>
                <a:latin typeface="Helvetica Neue"/>
                <a:ea typeface="Helvetica Neue"/>
                <a:cs typeface="Helvetica Neue"/>
              </a:rPr>
              <a:t>This process has enabled blood banks to store frozen blood for as long as three years.</a:t>
            </a:r>
          </a:p>
          <a:p xmlns:a="http://schemas.openxmlformats.org/drawingml/2006/main">
            <a:pPr marL="279400" indent="-127000">
              <a:spcAft>
                <a:spcPts val="1300"/>
              </a:spcAft>
              <a:buChar char="•"/>
              <a:defRPr sz="1875">
                <a:solidFill>
                  <a:srgbClr val="13212D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75">
                <a:solidFill>
                  <a:srgbClr val="13212D"/>
                </a:solidFill>
                <a:latin typeface="Helvetica Neue"/>
                <a:ea typeface="Helvetica Neue"/>
                <a:cs typeface="Helvetica Neue"/>
              </a:rPr>
              <a:t>This technique is extremely valuable in the preservation of rare and atypical blood types.</a:t>
            </a:r>
          </a:p>
          <a:p xmlns:a="http://schemas.openxmlformats.org/drawingml/2006/main">
            <a:pPr marL="279400" indent="-127000">
              <a:spcAft>
                <a:spcPts val="1300"/>
              </a:spcAft>
              <a:buChar char="•"/>
              <a:defRPr sz="1875">
                <a:solidFill>
                  <a:srgbClr val="13212D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75">
                <a:solidFill>
                  <a:srgbClr val="13212D"/>
                </a:solidFill>
                <a:latin typeface="Helvetica Neue"/>
                <a:ea typeface="Helvetica Neue"/>
                <a:cs typeface="Helvetica Neue"/>
              </a:rPr>
              <a:t>Aside from the latter advantage, it has been found that hepatitis transmission is decreased when frozen cells are administered.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B1E3E56C-1DFA-42D9-8579-A5943B2C85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6115050"/>
            <a:ext cx="101917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>
            <a:defPPr>
              <a:defRPr sz="1125" b="1">
                <a:solidFill>
                  <a:srgbClr val="B94F3D"/>
                </a:solidFill>
                <a:latin typeface="Helvetica Neue"/>
                <a:ea typeface="Helvetica Neue"/>
                <a:cs typeface="Helvetica Neue"/>
              </a:defRPr>
            </a:defPPr>
            <a:lvl1pPr>
              <a:defRPr sz="1125" b="1">
                <a:solidFill>
                  <a:srgbClr val="B94F3D"/>
                </a:solidFill>
                <a:latin typeface="Helvetica Neue"/>
                <a:ea typeface="Helvetica Neue"/>
                <a:cs typeface="Helvetica Neue"/>
              </a:defRPr>
            </a:lvl1pPr>
            <a:lvl2pPr>
              <a:defRPr sz="1125" b="1">
                <a:solidFill>
                  <a:srgbClr val="B94F3D"/>
                </a:solidFill>
                <a:latin typeface="Helvetica Neue"/>
                <a:ea typeface="Helvetica Neue"/>
                <a:cs typeface="Helvetica Neue"/>
              </a:defRPr>
            </a:lvl2pPr>
            <a:lvl3pPr>
              <a:defRPr sz="1125" b="1">
                <a:solidFill>
                  <a:srgbClr val="B94F3D"/>
                </a:solidFill>
                <a:latin typeface="Helvetica Neue"/>
                <a:ea typeface="Helvetica Neue"/>
                <a:cs typeface="Helvetica Neue"/>
              </a:defRPr>
            </a:lvl3pPr>
            <a:lvl4pPr>
              <a:defRPr sz="1125" b="1">
                <a:solidFill>
                  <a:srgbClr val="B94F3D"/>
                </a:solidFill>
                <a:latin typeface="Helvetica Neue"/>
                <a:ea typeface="Helvetica Neue"/>
                <a:cs typeface="Helvetica Neue"/>
              </a:defRPr>
            </a:lvl4pPr>
            <a:lvl5pPr>
              <a:defRPr sz="1125" b="1">
                <a:solidFill>
                  <a:srgbClr val="B94F3D"/>
                </a:solidFill>
                <a:latin typeface="Helvetica Neue"/>
                <a:ea typeface="Helvetica Neue"/>
                <a:cs typeface="Helvetica Neue"/>
              </a:defRPr>
            </a:lvl5pPr>
            <a:lvl6pPr>
              <a:defRPr sz="1125" b="1">
                <a:solidFill>
                  <a:srgbClr val="B94F3D"/>
                </a:solidFill>
                <a:latin typeface="Helvetica Neue"/>
                <a:ea typeface="Helvetica Neue"/>
                <a:cs typeface="Helvetica Neue"/>
              </a:defRPr>
            </a:lvl6pPr>
            <a:lvl7pPr>
              <a:defRPr sz="1125" b="1">
                <a:solidFill>
                  <a:srgbClr val="B94F3D"/>
                </a:solidFill>
                <a:latin typeface="Helvetica Neue"/>
                <a:ea typeface="Helvetica Neue"/>
                <a:cs typeface="Helvetica Neue"/>
              </a:defRPr>
            </a:lvl7pPr>
            <a:lvl8pPr>
              <a:defRPr sz="1125" b="1">
                <a:solidFill>
                  <a:srgbClr val="B94F3D"/>
                </a:solidFill>
                <a:latin typeface="Helvetica Neue"/>
                <a:ea typeface="Helvetica Neue"/>
                <a:cs typeface="Helvetica Neue"/>
              </a:defRPr>
            </a:lvl8pPr>
            <a:lvl9pPr>
              <a:defRPr sz="1125" b="1">
                <a:solidFill>
                  <a:srgbClr val="B94F3D"/>
                </a:solidFill>
                <a:latin typeface="Helvetica Neue"/>
                <a:ea typeface="Helvetica Neue"/>
                <a:cs typeface="Helvetica Neue"/>
              </a:defRPr>
            </a:lvl9pPr>
          </a:lstStyle>
          <a:p xmlns:a="http://schemas.openxmlformats.org/drawingml/2006/main">
            <a:pPr>
              <a:defRPr sz="1125" b="1">
                <a:solidFill>
                  <a:srgbClr val="B94F3D"/>
                </a:solidFill>
                <a:latin typeface="Helvetica Neue"/>
                <a:ea typeface="Helvetica Neue"/>
                <a:cs typeface="Helvetica Neue"/>
              </a:defRPr>
            </a:pPr>
            <a:r>
              <a:rPr sz="1125" b="1">
                <a:solidFill>
                  <a:srgbClr val="B94F3D"/>
                </a:solidFill>
                <a:latin typeface="Helvetica Neue"/>
                <a:ea typeface="Helvetica Neue"/>
                <a:cs typeface="Helvetica Neue"/>
              </a:rPr>
              <a:t>Use current orders, facility policy, and authorized scope when applying this information.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10056F12-8029-4DBA-BAA1-2CA0E36111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5772150"/>
            <a:ext cx="101917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97619"/>
          </a:bodyPr>
          <a:lstStyle xmlns:a="http://schemas.openxmlformats.org/drawingml/2006/main">
            <a:defPPr>
              <a:defRPr sz="1050" b="1">
                <a:solidFill>
                  <a:srgbClr val="237B82"/>
                </a:solidFill>
                <a:latin typeface="Helvetica Neue"/>
                <a:ea typeface="Helvetica Neue"/>
                <a:cs typeface="Helvetica Neue"/>
              </a:defRPr>
            </a:defPPr>
            <a:lvl1pPr>
              <a:defRPr sz="1050" b="1">
                <a:solidFill>
                  <a:srgbClr val="237B82"/>
                </a:solidFill>
                <a:latin typeface="Helvetica Neue"/>
                <a:ea typeface="Helvetica Neue"/>
                <a:cs typeface="Helvetica Neue"/>
              </a:defRPr>
            </a:lvl1pPr>
            <a:lvl2pPr>
              <a:defRPr sz="1050" b="1">
                <a:solidFill>
                  <a:srgbClr val="237B82"/>
                </a:solidFill>
                <a:latin typeface="Helvetica Neue"/>
                <a:ea typeface="Helvetica Neue"/>
                <a:cs typeface="Helvetica Neue"/>
              </a:defRPr>
            </a:lvl2pPr>
            <a:lvl3pPr>
              <a:defRPr sz="1050" b="1">
                <a:solidFill>
                  <a:srgbClr val="237B82"/>
                </a:solidFill>
                <a:latin typeface="Helvetica Neue"/>
                <a:ea typeface="Helvetica Neue"/>
                <a:cs typeface="Helvetica Neue"/>
              </a:defRPr>
            </a:lvl3pPr>
            <a:lvl4pPr>
              <a:defRPr sz="1050" b="1">
                <a:solidFill>
                  <a:srgbClr val="237B82"/>
                </a:solidFill>
                <a:latin typeface="Helvetica Neue"/>
                <a:ea typeface="Helvetica Neue"/>
                <a:cs typeface="Helvetica Neue"/>
              </a:defRPr>
            </a:lvl4pPr>
            <a:lvl5pPr>
              <a:defRPr sz="1050" b="1">
                <a:solidFill>
                  <a:srgbClr val="237B82"/>
                </a:solidFill>
                <a:latin typeface="Helvetica Neue"/>
                <a:ea typeface="Helvetica Neue"/>
                <a:cs typeface="Helvetica Neue"/>
              </a:defRPr>
            </a:lvl5pPr>
            <a:lvl6pPr>
              <a:defRPr sz="1050" b="1">
                <a:solidFill>
                  <a:srgbClr val="237B82"/>
                </a:solidFill>
                <a:latin typeface="Helvetica Neue"/>
                <a:ea typeface="Helvetica Neue"/>
                <a:cs typeface="Helvetica Neue"/>
              </a:defRPr>
            </a:lvl6pPr>
            <a:lvl7pPr>
              <a:defRPr sz="1050" b="1">
                <a:solidFill>
                  <a:srgbClr val="237B82"/>
                </a:solidFill>
                <a:latin typeface="Helvetica Neue"/>
                <a:ea typeface="Helvetica Neue"/>
                <a:cs typeface="Helvetica Neue"/>
              </a:defRPr>
            </a:lvl7pPr>
            <a:lvl8pPr>
              <a:defRPr sz="1050" b="1">
                <a:solidFill>
                  <a:srgbClr val="237B82"/>
                </a:solidFill>
                <a:latin typeface="Helvetica Neue"/>
                <a:ea typeface="Helvetica Neue"/>
                <a:cs typeface="Helvetica Neue"/>
              </a:defRPr>
            </a:lvl8pPr>
            <a:lvl9pPr>
              <a:defRPr sz="1050" b="1">
                <a:solidFill>
                  <a:srgbClr val="237B82"/>
                </a:solidFill>
                <a:latin typeface="Helvetica Neue"/>
                <a:ea typeface="Helvetica Neue"/>
                <a:cs typeface="Helvetica Neue"/>
              </a:defRPr>
            </a:lvl9pPr>
          </a:lstStyle>
          <a:p xmlns:a="http://schemas.openxmlformats.org/drawingml/2006/main">
            <a:pPr>
              <a:defRPr sz="1050" b="1">
                <a:solidFill>
                  <a:srgbClr val="237B82"/>
                </a:solidFill>
                <a:latin typeface="Helvetica Neue"/>
                <a:ea typeface="Helvetica Neue"/>
                <a:cs typeface="Helvetica Neue"/>
              </a:defRPr>
            </a:pPr>
            <a:r>
              <a:rPr sz="1050" b="1">
                <a:solidFill>
                  <a:srgbClr val="237B82"/>
                </a:solidFill>
                <a:latin typeface="Helvetica Neue"/>
                <a:ea typeface="Helvetica Neue"/>
                <a:cs typeface="Helvetica Neue"/>
              </a:rPr>
              <a:t>Manual page 54</a:t>
            </a:r>
          </a:p>
        </p:txBody>
      </p:sp>
    </p:spTree>
    <p:extLst>
      <p:ext uri="{BB962C8B-B14F-4D97-AF65-F5344CB8AC3E}">
        <p14:creationId xmlns:p14="http://schemas.microsoft.com/office/powerpoint/2010/main" val="1308702096"/>
      </p:ext>
    </p:extLst>
  </p:cSld>
</p:sld>
</file>

<file path=ppt/slides/slide25.xml><?xml version="1.0" encoding="utf-8"?>
<p:sld xmlns:p="http://schemas.openxmlformats.org/presentationml/2006/main">
  <p:cSld>
    <p:bg>
      <p:bgPr>
        <a:solidFill xmlns:a="http://schemas.openxmlformats.org/drawingml/2006/main">
          <a:srgbClr val="F7F4EE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4244E19B-1861-44D5-A131-2D23934F90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2095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37B82"/>
          </a:solidFill>
          <a:ln xmlns:a="http://schemas.openxmlformats.org/drawingml/2006/main" w="0">
            <a:solidFill>
              <a:srgbClr val="237B82"/>
            </a:solidFill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4295F429-8E4F-4466-942D-8D10B4C117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00050"/>
            <a:ext cx="10001250" cy="819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>
            <a:defPPr>
              <a:defRPr sz="2700" b="1">
                <a:solidFill>
                  <a:srgbClr val="15324A"/>
                </a:solidFill>
                <a:latin typeface="Helvetica Neue"/>
                <a:ea typeface="Helvetica Neue"/>
                <a:cs typeface="Helvetica Neue"/>
              </a:defRPr>
            </a:defPPr>
            <a:lvl1pPr>
              <a:defRPr sz="2700" b="1">
                <a:solidFill>
                  <a:srgbClr val="15324A"/>
                </a:solidFill>
                <a:latin typeface="Helvetica Neue"/>
                <a:ea typeface="Helvetica Neue"/>
                <a:cs typeface="Helvetica Neue"/>
              </a:defRPr>
            </a:lvl1pPr>
            <a:lvl2pPr>
              <a:defRPr sz="2700" b="1">
                <a:solidFill>
                  <a:srgbClr val="15324A"/>
                </a:solidFill>
                <a:latin typeface="Helvetica Neue"/>
                <a:ea typeface="Helvetica Neue"/>
                <a:cs typeface="Helvetica Neue"/>
              </a:defRPr>
            </a:lvl2pPr>
            <a:lvl3pPr>
              <a:defRPr sz="2700" b="1">
                <a:solidFill>
                  <a:srgbClr val="15324A"/>
                </a:solidFill>
                <a:latin typeface="Helvetica Neue"/>
                <a:ea typeface="Helvetica Neue"/>
                <a:cs typeface="Helvetica Neue"/>
              </a:defRPr>
            </a:lvl3pPr>
            <a:lvl4pPr>
              <a:defRPr sz="2700" b="1">
                <a:solidFill>
                  <a:srgbClr val="15324A"/>
                </a:solidFill>
                <a:latin typeface="Helvetica Neue"/>
                <a:ea typeface="Helvetica Neue"/>
                <a:cs typeface="Helvetica Neue"/>
              </a:defRPr>
            </a:lvl4pPr>
            <a:lvl5pPr>
              <a:defRPr sz="2700" b="1">
                <a:solidFill>
                  <a:srgbClr val="15324A"/>
                </a:solidFill>
                <a:latin typeface="Helvetica Neue"/>
                <a:ea typeface="Helvetica Neue"/>
                <a:cs typeface="Helvetica Neue"/>
              </a:defRPr>
            </a:lvl5pPr>
            <a:lvl6pPr>
              <a:defRPr sz="2700" b="1">
                <a:solidFill>
                  <a:srgbClr val="15324A"/>
                </a:solidFill>
                <a:latin typeface="Helvetica Neue"/>
                <a:ea typeface="Helvetica Neue"/>
                <a:cs typeface="Helvetica Neue"/>
              </a:defRPr>
            </a:lvl6pPr>
            <a:lvl7pPr>
              <a:defRPr sz="2700" b="1">
                <a:solidFill>
                  <a:srgbClr val="15324A"/>
                </a:solidFill>
                <a:latin typeface="Helvetica Neue"/>
                <a:ea typeface="Helvetica Neue"/>
                <a:cs typeface="Helvetica Neue"/>
              </a:defRPr>
            </a:lvl7pPr>
            <a:lvl8pPr>
              <a:defRPr sz="2700" b="1">
                <a:solidFill>
                  <a:srgbClr val="15324A"/>
                </a:solidFill>
                <a:latin typeface="Helvetica Neue"/>
                <a:ea typeface="Helvetica Neue"/>
                <a:cs typeface="Helvetica Neue"/>
              </a:defRPr>
            </a:lvl8pPr>
            <a:lvl9pPr>
              <a:defRPr sz="2700" b="1">
                <a:solidFill>
                  <a:srgbClr val="15324A"/>
                </a:solidFill>
                <a:latin typeface="Helvetica Neue"/>
                <a:ea typeface="Helvetica Neue"/>
                <a:cs typeface="Helvetica Neue"/>
              </a:defRPr>
            </a:lvl9pPr>
          </a:lstStyle>
          <a:p xmlns:a="http://schemas.openxmlformats.org/drawingml/2006/main">
            <a:pPr>
              <a:defRPr sz="2700" b="1">
                <a:solidFill>
                  <a:srgbClr val="15324A"/>
                </a:solidFill>
                <a:latin typeface="Helvetica Neue"/>
                <a:ea typeface="Helvetica Neue"/>
                <a:cs typeface="Helvetica Neue"/>
              </a:defRPr>
            </a:pPr>
            <a:r>
              <a:rPr sz="2700" b="1">
                <a:solidFill>
                  <a:srgbClr val="15324A"/>
                </a:solidFill>
                <a:latin typeface="Helvetica Neue"/>
                <a:ea typeface="Helvetica Neue"/>
                <a:cs typeface="Helvetica Neue"/>
              </a:rPr>
              <a:t>Blood Cell Preparations — continued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B6A4EBFE-A15D-40EA-B7D1-8EB391BFDD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1257300"/>
            <a:ext cx="88582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91111"/>
          </a:bodyPr>
          <a:lstStyle xmlns:a="http://schemas.openxmlformats.org/drawingml/2006/main">
            <a:defPPr>
              <a:defRPr sz="1125" b="1">
                <a:solidFill>
                  <a:srgbClr val="237B82"/>
                </a:solidFill>
                <a:latin typeface="Helvetica Neue"/>
                <a:ea typeface="Helvetica Neue"/>
                <a:cs typeface="Helvetica Neue"/>
              </a:defRPr>
            </a:defPPr>
            <a:lvl1pPr>
              <a:defRPr sz="1125" b="1">
                <a:solidFill>
                  <a:srgbClr val="237B82"/>
                </a:solidFill>
                <a:latin typeface="Helvetica Neue"/>
                <a:ea typeface="Helvetica Neue"/>
                <a:cs typeface="Helvetica Neue"/>
              </a:defRPr>
            </a:lvl1pPr>
            <a:lvl2pPr>
              <a:defRPr sz="1125" b="1">
                <a:solidFill>
                  <a:srgbClr val="237B82"/>
                </a:solidFill>
                <a:latin typeface="Helvetica Neue"/>
                <a:ea typeface="Helvetica Neue"/>
                <a:cs typeface="Helvetica Neue"/>
              </a:defRPr>
            </a:lvl2pPr>
            <a:lvl3pPr>
              <a:defRPr sz="1125" b="1">
                <a:solidFill>
                  <a:srgbClr val="237B82"/>
                </a:solidFill>
                <a:latin typeface="Helvetica Neue"/>
                <a:ea typeface="Helvetica Neue"/>
                <a:cs typeface="Helvetica Neue"/>
              </a:defRPr>
            </a:lvl3pPr>
            <a:lvl4pPr>
              <a:defRPr sz="1125" b="1">
                <a:solidFill>
                  <a:srgbClr val="237B82"/>
                </a:solidFill>
                <a:latin typeface="Helvetica Neue"/>
                <a:ea typeface="Helvetica Neue"/>
                <a:cs typeface="Helvetica Neue"/>
              </a:defRPr>
            </a:lvl4pPr>
            <a:lvl5pPr>
              <a:defRPr sz="1125" b="1">
                <a:solidFill>
                  <a:srgbClr val="237B82"/>
                </a:solidFill>
                <a:latin typeface="Helvetica Neue"/>
                <a:ea typeface="Helvetica Neue"/>
                <a:cs typeface="Helvetica Neue"/>
              </a:defRPr>
            </a:lvl5pPr>
            <a:lvl6pPr>
              <a:defRPr sz="1125" b="1">
                <a:solidFill>
                  <a:srgbClr val="237B82"/>
                </a:solidFill>
                <a:latin typeface="Helvetica Neue"/>
                <a:ea typeface="Helvetica Neue"/>
                <a:cs typeface="Helvetica Neue"/>
              </a:defRPr>
            </a:lvl6pPr>
            <a:lvl7pPr>
              <a:defRPr sz="1125" b="1">
                <a:solidFill>
                  <a:srgbClr val="237B82"/>
                </a:solidFill>
                <a:latin typeface="Helvetica Neue"/>
                <a:ea typeface="Helvetica Neue"/>
                <a:cs typeface="Helvetica Neue"/>
              </a:defRPr>
            </a:lvl7pPr>
            <a:lvl8pPr>
              <a:defRPr sz="1125" b="1">
                <a:solidFill>
                  <a:srgbClr val="237B82"/>
                </a:solidFill>
                <a:latin typeface="Helvetica Neue"/>
                <a:ea typeface="Helvetica Neue"/>
                <a:cs typeface="Helvetica Neue"/>
              </a:defRPr>
            </a:lvl8pPr>
            <a:lvl9pPr>
              <a:defRPr sz="1125" b="1">
                <a:solidFill>
                  <a:srgbClr val="237B82"/>
                </a:solidFill>
                <a:latin typeface="Helvetica Neue"/>
                <a:ea typeface="Helvetica Neue"/>
                <a:cs typeface="Helvetica Neue"/>
              </a:defRPr>
            </a:lvl9pPr>
          </a:lstStyle>
          <a:p xmlns:a="http://schemas.openxmlformats.org/drawingml/2006/main">
            <a:pPr>
              <a:defRPr sz="1125" b="1">
                <a:solidFill>
                  <a:srgbClr val="237B82"/>
                </a:solidFill>
                <a:latin typeface="Helvetica Neue"/>
                <a:ea typeface="Helvetica Neue"/>
                <a:cs typeface="Helvetica Neue"/>
              </a:defRPr>
            </a:pPr>
            <a:r>
              <a:rPr sz="1125" b="1">
                <a:solidFill>
                  <a:srgbClr val="237B82"/>
                </a:solidFill>
                <a:latin typeface="Helvetica Neue"/>
                <a:ea typeface="Helvetica Neue"/>
                <a:cs typeface="Helvetica Neue"/>
              </a:rPr>
              <a:t>MODULE 4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196B7CB3-E912-4140-8EA5-AF0BAD1733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457200"/>
            <a:ext cx="5334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>
            <a:defPPr>
              <a:defRPr sz="1200" b="1">
                <a:solidFill>
                  <a:srgbClr val="237B82"/>
                </a:solidFill>
                <a:latin typeface="Helvetica Neue"/>
                <a:ea typeface="Helvetica Neue"/>
                <a:cs typeface="Helvetica Neue"/>
              </a:defRPr>
            </a:defPPr>
            <a:lvl1pPr>
              <a:defRPr sz="1200" b="1">
                <a:solidFill>
                  <a:srgbClr val="237B82"/>
                </a:solidFill>
                <a:latin typeface="Helvetica Neue"/>
                <a:ea typeface="Helvetica Neue"/>
                <a:cs typeface="Helvetica Neue"/>
              </a:defRPr>
            </a:lvl1pPr>
            <a:lvl2pPr>
              <a:defRPr sz="1200" b="1">
                <a:solidFill>
                  <a:srgbClr val="237B82"/>
                </a:solidFill>
                <a:latin typeface="Helvetica Neue"/>
                <a:ea typeface="Helvetica Neue"/>
                <a:cs typeface="Helvetica Neue"/>
              </a:defRPr>
            </a:lvl2pPr>
            <a:lvl3pPr>
              <a:defRPr sz="1200" b="1">
                <a:solidFill>
                  <a:srgbClr val="237B82"/>
                </a:solidFill>
                <a:latin typeface="Helvetica Neue"/>
                <a:ea typeface="Helvetica Neue"/>
                <a:cs typeface="Helvetica Neue"/>
              </a:defRPr>
            </a:lvl3pPr>
            <a:lvl4pPr>
              <a:defRPr sz="1200" b="1">
                <a:solidFill>
                  <a:srgbClr val="237B82"/>
                </a:solidFill>
                <a:latin typeface="Helvetica Neue"/>
                <a:ea typeface="Helvetica Neue"/>
                <a:cs typeface="Helvetica Neue"/>
              </a:defRPr>
            </a:lvl4pPr>
            <a:lvl5pPr>
              <a:defRPr sz="1200" b="1">
                <a:solidFill>
                  <a:srgbClr val="237B82"/>
                </a:solidFill>
                <a:latin typeface="Helvetica Neue"/>
                <a:ea typeface="Helvetica Neue"/>
                <a:cs typeface="Helvetica Neue"/>
              </a:defRPr>
            </a:lvl5pPr>
            <a:lvl6pPr>
              <a:defRPr sz="1200" b="1">
                <a:solidFill>
                  <a:srgbClr val="237B82"/>
                </a:solidFill>
                <a:latin typeface="Helvetica Neue"/>
                <a:ea typeface="Helvetica Neue"/>
                <a:cs typeface="Helvetica Neue"/>
              </a:defRPr>
            </a:lvl6pPr>
            <a:lvl7pPr>
              <a:defRPr sz="1200" b="1">
                <a:solidFill>
                  <a:srgbClr val="237B82"/>
                </a:solidFill>
                <a:latin typeface="Helvetica Neue"/>
                <a:ea typeface="Helvetica Neue"/>
                <a:cs typeface="Helvetica Neue"/>
              </a:defRPr>
            </a:lvl7pPr>
            <a:lvl8pPr>
              <a:defRPr sz="1200" b="1">
                <a:solidFill>
                  <a:srgbClr val="237B82"/>
                </a:solidFill>
                <a:latin typeface="Helvetica Neue"/>
                <a:ea typeface="Helvetica Neue"/>
                <a:cs typeface="Helvetica Neue"/>
              </a:defRPr>
            </a:lvl8pPr>
            <a:lvl9pPr>
              <a:defRPr sz="1200" b="1">
                <a:solidFill>
                  <a:srgbClr val="237B82"/>
                </a:solidFill>
                <a:latin typeface="Helvetica Neue"/>
                <a:ea typeface="Helvetica Neue"/>
                <a:cs typeface="Helvetica Neue"/>
              </a:defRPr>
            </a:lvl9pPr>
          </a:lstStyle>
          <a:p xmlns:a="http://schemas.openxmlformats.org/drawingml/2006/main">
            <a:pPr>
              <a:defRPr sz="1200" b="1">
                <a:solidFill>
                  <a:srgbClr val="237B82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00" b="1">
                <a:solidFill>
                  <a:srgbClr val="237B82"/>
                </a:solidFill>
                <a:latin typeface="Helvetica Neue"/>
                <a:ea typeface="Helvetica Neue"/>
                <a:cs typeface="Helvetica Neue"/>
              </a:rPr>
              <a:t>25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95041F63-0192-40E5-AD46-C5C883C2FB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1762125"/>
            <a:ext cx="10287000" cy="409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>
            <a:defPPr>
              <a:defRPr sz="1875">
                <a:solidFill>
                  <a:srgbClr val="13212D"/>
                </a:solidFill>
                <a:latin typeface="Helvetica Neue"/>
                <a:ea typeface="Helvetica Neue"/>
                <a:cs typeface="Helvetica Neue"/>
              </a:defRPr>
            </a:defPPr>
            <a:lvl1pPr>
              <a:defRPr sz="1875">
                <a:solidFill>
                  <a:srgbClr val="13212D"/>
                </a:solidFill>
                <a:latin typeface="Helvetica Neue"/>
                <a:ea typeface="Helvetica Neue"/>
                <a:cs typeface="Helvetica Neue"/>
              </a:defRPr>
            </a:lvl1pPr>
            <a:lvl2pPr>
              <a:defRPr sz="1875">
                <a:solidFill>
                  <a:srgbClr val="13212D"/>
                </a:solidFill>
                <a:latin typeface="Helvetica Neue"/>
                <a:ea typeface="Helvetica Neue"/>
                <a:cs typeface="Helvetica Neue"/>
              </a:defRPr>
            </a:lvl2pPr>
            <a:lvl3pPr>
              <a:defRPr sz="1875">
                <a:solidFill>
                  <a:srgbClr val="13212D"/>
                </a:solidFill>
                <a:latin typeface="Helvetica Neue"/>
                <a:ea typeface="Helvetica Neue"/>
                <a:cs typeface="Helvetica Neue"/>
              </a:defRPr>
            </a:lvl3pPr>
            <a:lvl4pPr>
              <a:defRPr sz="1875">
                <a:solidFill>
                  <a:srgbClr val="13212D"/>
                </a:solidFill>
                <a:latin typeface="Helvetica Neue"/>
                <a:ea typeface="Helvetica Neue"/>
                <a:cs typeface="Helvetica Neue"/>
              </a:defRPr>
            </a:lvl4pPr>
            <a:lvl5pPr>
              <a:defRPr sz="1875">
                <a:solidFill>
                  <a:srgbClr val="13212D"/>
                </a:solidFill>
                <a:latin typeface="Helvetica Neue"/>
                <a:ea typeface="Helvetica Neue"/>
                <a:cs typeface="Helvetica Neue"/>
              </a:defRPr>
            </a:lvl5pPr>
            <a:lvl6pPr>
              <a:defRPr sz="1875">
                <a:solidFill>
                  <a:srgbClr val="13212D"/>
                </a:solidFill>
                <a:latin typeface="Helvetica Neue"/>
                <a:ea typeface="Helvetica Neue"/>
                <a:cs typeface="Helvetica Neue"/>
              </a:defRPr>
            </a:lvl6pPr>
            <a:lvl7pPr>
              <a:defRPr sz="1875">
                <a:solidFill>
                  <a:srgbClr val="13212D"/>
                </a:solidFill>
                <a:latin typeface="Helvetica Neue"/>
                <a:ea typeface="Helvetica Neue"/>
                <a:cs typeface="Helvetica Neue"/>
              </a:defRPr>
            </a:lvl7pPr>
            <a:lvl8pPr>
              <a:defRPr sz="1875">
                <a:solidFill>
                  <a:srgbClr val="13212D"/>
                </a:solidFill>
                <a:latin typeface="Helvetica Neue"/>
                <a:ea typeface="Helvetica Neue"/>
                <a:cs typeface="Helvetica Neue"/>
              </a:defRPr>
            </a:lvl8pPr>
            <a:lvl9pPr>
              <a:defRPr sz="1875">
                <a:solidFill>
                  <a:srgbClr val="13212D"/>
                </a:solidFill>
                <a:latin typeface="Helvetica Neue"/>
                <a:ea typeface="Helvetica Neue"/>
                <a:cs typeface="Helvetica Neue"/>
              </a:defRPr>
            </a:lvl9pPr>
          </a:lstStyle>
          <a:p xmlns:a="http://schemas.openxmlformats.org/drawingml/2006/main">
            <a:pPr marL="279400" indent="-127000">
              <a:spcAft>
                <a:spcPts val="1300"/>
              </a:spcAft>
              <a:buChar char="•"/>
              <a:defRPr sz="1875">
                <a:solidFill>
                  <a:srgbClr val="13212D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75">
                <a:solidFill>
                  <a:srgbClr val="13212D"/>
                </a:solidFill>
                <a:latin typeface="Helvetica Neue"/>
                <a:ea typeface="Helvetica Neue"/>
                <a:cs typeface="Helvetica Neue"/>
              </a:rPr>
              <a:t>The process involves removing the red blood cells from a unit of whole blood, coating them with glycerol to prevent damage from freezing, and freezing them at 85 degrees centigrade.</a:t>
            </a:r>
          </a:p>
          <a:p xmlns:a="http://schemas.openxmlformats.org/drawingml/2006/main">
            <a:pPr marL="279400" indent="-127000">
              <a:spcAft>
                <a:spcPts val="1300"/>
              </a:spcAft>
              <a:buChar char="•"/>
              <a:defRPr sz="1875">
                <a:solidFill>
                  <a:srgbClr val="13212D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75">
                <a:solidFill>
                  <a:srgbClr val="13212D"/>
                </a:solidFill>
                <a:latin typeface="Helvetica Neue"/>
                <a:ea typeface="Helvetica Neue"/>
                <a:cs typeface="Helvetica Neue"/>
              </a:rPr>
              <a:t>The cells are then prepared for administration by thawing for 30 minutes in a water bath at 40 degrees centigrade.</a:t>
            </a:r>
          </a:p>
          <a:p xmlns:a="http://schemas.openxmlformats.org/drawingml/2006/main">
            <a:pPr marL="279400" indent="-127000">
              <a:spcAft>
                <a:spcPts val="1300"/>
              </a:spcAft>
              <a:buChar char="•"/>
              <a:defRPr sz="1875">
                <a:solidFill>
                  <a:srgbClr val="13212D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75">
                <a:solidFill>
                  <a:srgbClr val="13212D"/>
                </a:solidFill>
                <a:latin typeface="Helvetica Neue"/>
                <a:ea typeface="Helvetica Neue"/>
                <a:cs typeface="Helvetica Neue"/>
              </a:rPr>
              <a:t>The cells are then washed to remove the glycerol.</a:t>
            </a:r>
          </a:p>
          <a:p xmlns:a="http://schemas.openxmlformats.org/drawingml/2006/main">
            <a:pPr marL="279400" indent="-127000">
              <a:spcAft>
                <a:spcPts val="1300"/>
              </a:spcAft>
              <a:buChar char="•"/>
              <a:defRPr sz="1875">
                <a:solidFill>
                  <a:srgbClr val="13212D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75">
                <a:solidFill>
                  <a:srgbClr val="13212D"/>
                </a:solidFill>
                <a:latin typeface="Helvetica Neue"/>
                <a:ea typeface="Helvetica Neue"/>
                <a:cs typeface="Helvetica Neue"/>
              </a:rPr>
              <a:t>The process of washing the cells markedly decreased the number of leukocytes and plasma in the donor unit, thus decreasing the incidence of transfusion reaction.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0134E453-9E62-47DE-8222-71A8AFCD24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6115050"/>
            <a:ext cx="101917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>
            <a:defPPr>
              <a:defRPr sz="1125" b="1">
                <a:solidFill>
                  <a:srgbClr val="B94F3D"/>
                </a:solidFill>
                <a:latin typeface="Helvetica Neue"/>
                <a:ea typeface="Helvetica Neue"/>
                <a:cs typeface="Helvetica Neue"/>
              </a:defRPr>
            </a:defPPr>
            <a:lvl1pPr>
              <a:defRPr sz="1125" b="1">
                <a:solidFill>
                  <a:srgbClr val="B94F3D"/>
                </a:solidFill>
                <a:latin typeface="Helvetica Neue"/>
                <a:ea typeface="Helvetica Neue"/>
                <a:cs typeface="Helvetica Neue"/>
              </a:defRPr>
            </a:lvl1pPr>
            <a:lvl2pPr>
              <a:defRPr sz="1125" b="1">
                <a:solidFill>
                  <a:srgbClr val="B94F3D"/>
                </a:solidFill>
                <a:latin typeface="Helvetica Neue"/>
                <a:ea typeface="Helvetica Neue"/>
                <a:cs typeface="Helvetica Neue"/>
              </a:defRPr>
            </a:lvl2pPr>
            <a:lvl3pPr>
              <a:defRPr sz="1125" b="1">
                <a:solidFill>
                  <a:srgbClr val="B94F3D"/>
                </a:solidFill>
                <a:latin typeface="Helvetica Neue"/>
                <a:ea typeface="Helvetica Neue"/>
                <a:cs typeface="Helvetica Neue"/>
              </a:defRPr>
            </a:lvl3pPr>
            <a:lvl4pPr>
              <a:defRPr sz="1125" b="1">
                <a:solidFill>
                  <a:srgbClr val="B94F3D"/>
                </a:solidFill>
                <a:latin typeface="Helvetica Neue"/>
                <a:ea typeface="Helvetica Neue"/>
                <a:cs typeface="Helvetica Neue"/>
              </a:defRPr>
            </a:lvl4pPr>
            <a:lvl5pPr>
              <a:defRPr sz="1125" b="1">
                <a:solidFill>
                  <a:srgbClr val="B94F3D"/>
                </a:solidFill>
                <a:latin typeface="Helvetica Neue"/>
                <a:ea typeface="Helvetica Neue"/>
                <a:cs typeface="Helvetica Neue"/>
              </a:defRPr>
            </a:lvl5pPr>
            <a:lvl6pPr>
              <a:defRPr sz="1125" b="1">
                <a:solidFill>
                  <a:srgbClr val="B94F3D"/>
                </a:solidFill>
                <a:latin typeface="Helvetica Neue"/>
                <a:ea typeface="Helvetica Neue"/>
                <a:cs typeface="Helvetica Neue"/>
              </a:defRPr>
            </a:lvl6pPr>
            <a:lvl7pPr>
              <a:defRPr sz="1125" b="1">
                <a:solidFill>
                  <a:srgbClr val="B94F3D"/>
                </a:solidFill>
                <a:latin typeface="Helvetica Neue"/>
                <a:ea typeface="Helvetica Neue"/>
                <a:cs typeface="Helvetica Neue"/>
              </a:defRPr>
            </a:lvl7pPr>
            <a:lvl8pPr>
              <a:defRPr sz="1125" b="1">
                <a:solidFill>
                  <a:srgbClr val="B94F3D"/>
                </a:solidFill>
                <a:latin typeface="Helvetica Neue"/>
                <a:ea typeface="Helvetica Neue"/>
                <a:cs typeface="Helvetica Neue"/>
              </a:defRPr>
            </a:lvl8pPr>
            <a:lvl9pPr>
              <a:defRPr sz="1125" b="1">
                <a:solidFill>
                  <a:srgbClr val="B94F3D"/>
                </a:solidFill>
                <a:latin typeface="Helvetica Neue"/>
                <a:ea typeface="Helvetica Neue"/>
                <a:cs typeface="Helvetica Neue"/>
              </a:defRPr>
            </a:lvl9pPr>
          </a:lstStyle>
          <a:p xmlns:a="http://schemas.openxmlformats.org/drawingml/2006/main">
            <a:pPr>
              <a:defRPr sz="1125" b="1">
                <a:solidFill>
                  <a:srgbClr val="B94F3D"/>
                </a:solidFill>
                <a:latin typeface="Helvetica Neue"/>
                <a:ea typeface="Helvetica Neue"/>
                <a:cs typeface="Helvetica Neue"/>
              </a:defRPr>
            </a:pPr>
            <a:r>
              <a:rPr sz="1125" b="1">
                <a:solidFill>
                  <a:srgbClr val="B94F3D"/>
                </a:solidFill>
                <a:latin typeface="Helvetica Neue"/>
                <a:ea typeface="Helvetica Neue"/>
                <a:cs typeface="Helvetica Neue"/>
              </a:rPr>
              <a:t>Use current orders, facility policy, and authorized scope when applying this information.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0BA205B5-85A5-48D0-BE71-2C8D96FD41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5772150"/>
            <a:ext cx="101917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97619"/>
          </a:bodyPr>
          <a:lstStyle xmlns:a="http://schemas.openxmlformats.org/drawingml/2006/main">
            <a:defPPr>
              <a:defRPr sz="1050" b="1">
                <a:solidFill>
                  <a:srgbClr val="237B82"/>
                </a:solidFill>
                <a:latin typeface="Helvetica Neue"/>
                <a:ea typeface="Helvetica Neue"/>
                <a:cs typeface="Helvetica Neue"/>
              </a:defRPr>
            </a:defPPr>
            <a:lvl1pPr>
              <a:defRPr sz="1050" b="1">
                <a:solidFill>
                  <a:srgbClr val="237B82"/>
                </a:solidFill>
                <a:latin typeface="Helvetica Neue"/>
                <a:ea typeface="Helvetica Neue"/>
                <a:cs typeface="Helvetica Neue"/>
              </a:defRPr>
            </a:lvl1pPr>
            <a:lvl2pPr>
              <a:defRPr sz="1050" b="1">
                <a:solidFill>
                  <a:srgbClr val="237B82"/>
                </a:solidFill>
                <a:latin typeface="Helvetica Neue"/>
                <a:ea typeface="Helvetica Neue"/>
                <a:cs typeface="Helvetica Neue"/>
              </a:defRPr>
            </a:lvl2pPr>
            <a:lvl3pPr>
              <a:defRPr sz="1050" b="1">
                <a:solidFill>
                  <a:srgbClr val="237B82"/>
                </a:solidFill>
                <a:latin typeface="Helvetica Neue"/>
                <a:ea typeface="Helvetica Neue"/>
                <a:cs typeface="Helvetica Neue"/>
              </a:defRPr>
            </a:lvl3pPr>
            <a:lvl4pPr>
              <a:defRPr sz="1050" b="1">
                <a:solidFill>
                  <a:srgbClr val="237B82"/>
                </a:solidFill>
                <a:latin typeface="Helvetica Neue"/>
                <a:ea typeface="Helvetica Neue"/>
                <a:cs typeface="Helvetica Neue"/>
              </a:defRPr>
            </a:lvl4pPr>
            <a:lvl5pPr>
              <a:defRPr sz="1050" b="1">
                <a:solidFill>
                  <a:srgbClr val="237B82"/>
                </a:solidFill>
                <a:latin typeface="Helvetica Neue"/>
                <a:ea typeface="Helvetica Neue"/>
                <a:cs typeface="Helvetica Neue"/>
              </a:defRPr>
            </a:lvl5pPr>
            <a:lvl6pPr>
              <a:defRPr sz="1050" b="1">
                <a:solidFill>
                  <a:srgbClr val="237B82"/>
                </a:solidFill>
                <a:latin typeface="Helvetica Neue"/>
                <a:ea typeface="Helvetica Neue"/>
                <a:cs typeface="Helvetica Neue"/>
              </a:defRPr>
            </a:lvl6pPr>
            <a:lvl7pPr>
              <a:defRPr sz="1050" b="1">
                <a:solidFill>
                  <a:srgbClr val="237B82"/>
                </a:solidFill>
                <a:latin typeface="Helvetica Neue"/>
                <a:ea typeface="Helvetica Neue"/>
                <a:cs typeface="Helvetica Neue"/>
              </a:defRPr>
            </a:lvl7pPr>
            <a:lvl8pPr>
              <a:defRPr sz="1050" b="1">
                <a:solidFill>
                  <a:srgbClr val="237B82"/>
                </a:solidFill>
                <a:latin typeface="Helvetica Neue"/>
                <a:ea typeface="Helvetica Neue"/>
                <a:cs typeface="Helvetica Neue"/>
              </a:defRPr>
            </a:lvl8pPr>
            <a:lvl9pPr>
              <a:defRPr sz="1050" b="1">
                <a:solidFill>
                  <a:srgbClr val="237B82"/>
                </a:solidFill>
                <a:latin typeface="Helvetica Neue"/>
                <a:ea typeface="Helvetica Neue"/>
                <a:cs typeface="Helvetica Neue"/>
              </a:defRPr>
            </a:lvl9pPr>
          </a:lstStyle>
          <a:p xmlns:a="http://schemas.openxmlformats.org/drawingml/2006/main">
            <a:pPr>
              <a:defRPr sz="1050" b="1">
                <a:solidFill>
                  <a:srgbClr val="237B82"/>
                </a:solidFill>
                <a:latin typeface="Helvetica Neue"/>
                <a:ea typeface="Helvetica Neue"/>
                <a:cs typeface="Helvetica Neue"/>
              </a:defRPr>
            </a:pPr>
            <a:r>
              <a:rPr sz="1050" b="1">
                <a:solidFill>
                  <a:srgbClr val="237B82"/>
                </a:solidFill>
                <a:latin typeface="Helvetica Neue"/>
                <a:ea typeface="Helvetica Neue"/>
                <a:cs typeface="Helvetica Neue"/>
              </a:rPr>
              <a:t>Manual page 54</a:t>
            </a:r>
          </a:p>
        </p:txBody>
      </p:sp>
    </p:spTree>
    <p:extLst>
      <p:ext uri="{BB962C8B-B14F-4D97-AF65-F5344CB8AC3E}">
        <p14:creationId xmlns:p14="http://schemas.microsoft.com/office/powerpoint/2010/main" val="1681798302"/>
      </p:ext>
    </p:extLst>
  </p:cSld>
</p:sld>
</file>

<file path=ppt/slides/slide26.xml><?xml version="1.0" encoding="utf-8"?>
<p:sld xmlns:p="http://schemas.openxmlformats.org/presentationml/2006/main">
  <p:cSld>
    <p:bg>
      <p:bgPr>
        <a:solidFill xmlns:a="http://schemas.openxmlformats.org/drawingml/2006/main">
          <a:srgbClr val="F7F4EE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3B3BB74E-E924-48C2-8685-4FB1B7805D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2095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37B82"/>
          </a:solidFill>
          <a:ln xmlns:a="http://schemas.openxmlformats.org/drawingml/2006/main" w="0">
            <a:solidFill>
              <a:srgbClr val="237B82"/>
            </a:solidFill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29A6C8DC-EBEA-4494-A82E-2A67F0BA97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00050"/>
            <a:ext cx="10001250" cy="819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>
            <a:defPPr>
              <a:defRPr sz="2700" b="1">
                <a:solidFill>
                  <a:srgbClr val="15324A"/>
                </a:solidFill>
                <a:latin typeface="Helvetica Neue"/>
                <a:ea typeface="Helvetica Neue"/>
                <a:cs typeface="Helvetica Neue"/>
              </a:defRPr>
            </a:defPPr>
            <a:lvl1pPr>
              <a:defRPr sz="2700" b="1">
                <a:solidFill>
                  <a:srgbClr val="15324A"/>
                </a:solidFill>
                <a:latin typeface="Helvetica Neue"/>
                <a:ea typeface="Helvetica Neue"/>
                <a:cs typeface="Helvetica Neue"/>
              </a:defRPr>
            </a:lvl1pPr>
            <a:lvl2pPr>
              <a:defRPr sz="2700" b="1">
                <a:solidFill>
                  <a:srgbClr val="15324A"/>
                </a:solidFill>
                <a:latin typeface="Helvetica Neue"/>
                <a:ea typeface="Helvetica Neue"/>
                <a:cs typeface="Helvetica Neue"/>
              </a:defRPr>
            </a:lvl2pPr>
            <a:lvl3pPr>
              <a:defRPr sz="2700" b="1">
                <a:solidFill>
                  <a:srgbClr val="15324A"/>
                </a:solidFill>
                <a:latin typeface="Helvetica Neue"/>
                <a:ea typeface="Helvetica Neue"/>
                <a:cs typeface="Helvetica Neue"/>
              </a:defRPr>
            </a:lvl3pPr>
            <a:lvl4pPr>
              <a:defRPr sz="2700" b="1">
                <a:solidFill>
                  <a:srgbClr val="15324A"/>
                </a:solidFill>
                <a:latin typeface="Helvetica Neue"/>
                <a:ea typeface="Helvetica Neue"/>
                <a:cs typeface="Helvetica Neue"/>
              </a:defRPr>
            </a:lvl4pPr>
            <a:lvl5pPr>
              <a:defRPr sz="2700" b="1">
                <a:solidFill>
                  <a:srgbClr val="15324A"/>
                </a:solidFill>
                <a:latin typeface="Helvetica Neue"/>
                <a:ea typeface="Helvetica Neue"/>
                <a:cs typeface="Helvetica Neue"/>
              </a:defRPr>
            </a:lvl5pPr>
            <a:lvl6pPr>
              <a:defRPr sz="2700" b="1">
                <a:solidFill>
                  <a:srgbClr val="15324A"/>
                </a:solidFill>
                <a:latin typeface="Helvetica Neue"/>
                <a:ea typeface="Helvetica Neue"/>
                <a:cs typeface="Helvetica Neue"/>
              </a:defRPr>
            </a:lvl6pPr>
            <a:lvl7pPr>
              <a:defRPr sz="2700" b="1">
                <a:solidFill>
                  <a:srgbClr val="15324A"/>
                </a:solidFill>
                <a:latin typeface="Helvetica Neue"/>
                <a:ea typeface="Helvetica Neue"/>
                <a:cs typeface="Helvetica Neue"/>
              </a:defRPr>
            </a:lvl7pPr>
            <a:lvl8pPr>
              <a:defRPr sz="2700" b="1">
                <a:solidFill>
                  <a:srgbClr val="15324A"/>
                </a:solidFill>
                <a:latin typeface="Helvetica Neue"/>
                <a:ea typeface="Helvetica Neue"/>
                <a:cs typeface="Helvetica Neue"/>
              </a:defRPr>
            </a:lvl8pPr>
            <a:lvl9pPr>
              <a:defRPr sz="2700" b="1">
                <a:solidFill>
                  <a:srgbClr val="15324A"/>
                </a:solidFill>
                <a:latin typeface="Helvetica Neue"/>
                <a:ea typeface="Helvetica Neue"/>
                <a:cs typeface="Helvetica Neue"/>
              </a:defRPr>
            </a:lvl9pPr>
          </a:lstStyle>
          <a:p xmlns:a="http://schemas.openxmlformats.org/drawingml/2006/main">
            <a:pPr>
              <a:defRPr sz="2700" b="1">
                <a:solidFill>
                  <a:srgbClr val="15324A"/>
                </a:solidFill>
                <a:latin typeface="Helvetica Neue"/>
                <a:ea typeface="Helvetica Neue"/>
                <a:cs typeface="Helvetica Neue"/>
              </a:defRPr>
            </a:pPr>
            <a:r>
              <a:rPr sz="2700" b="1">
                <a:solidFill>
                  <a:srgbClr val="15324A"/>
                </a:solidFill>
                <a:latin typeface="Helvetica Neue"/>
                <a:ea typeface="Helvetica Neue"/>
                <a:cs typeface="Helvetica Neue"/>
              </a:rPr>
              <a:t>Blood Cell Preparations — continued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3AC95BA2-410B-43F9-8E00-5ED0D837B2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1257300"/>
            <a:ext cx="88582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91111"/>
          </a:bodyPr>
          <a:lstStyle xmlns:a="http://schemas.openxmlformats.org/drawingml/2006/main">
            <a:defPPr>
              <a:defRPr sz="1125" b="1">
                <a:solidFill>
                  <a:srgbClr val="237B82"/>
                </a:solidFill>
                <a:latin typeface="Helvetica Neue"/>
                <a:ea typeface="Helvetica Neue"/>
                <a:cs typeface="Helvetica Neue"/>
              </a:defRPr>
            </a:defPPr>
            <a:lvl1pPr>
              <a:defRPr sz="1125" b="1">
                <a:solidFill>
                  <a:srgbClr val="237B82"/>
                </a:solidFill>
                <a:latin typeface="Helvetica Neue"/>
                <a:ea typeface="Helvetica Neue"/>
                <a:cs typeface="Helvetica Neue"/>
              </a:defRPr>
            </a:lvl1pPr>
            <a:lvl2pPr>
              <a:defRPr sz="1125" b="1">
                <a:solidFill>
                  <a:srgbClr val="237B82"/>
                </a:solidFill>
                <a:latin typeface="Helvetica Neue"/>
                <a:ea typeface="Helvetica Neue"/>
                <a:cs typeface="Helvetica Neue"/>
              </a:defRPr>
            </a:lvl2pPr>
            <a:lvl3pPr>
              <a:defRPr sz="1125" b="1">
                <a:solidFill>
                  <a:srgbClr val="237B82"/>
                </a:solidFill>
                <a:latin typeface="Helvetica Neue"/>
                <a:ea typeface="Helvetica Neue"/>
                <a:cs typeface="Helvetica Neue"/>
              </a:defRPr>
            </a:lvl3pPr>
            <a:lvl4pPr>
              <a:defRPr sz="1125" b="1">
                <a:solidFill>
                  <a:srgbClr val="237B82"/>
                </a:solidFill>
                <a:latin typeface="Helvetica Neue"/>
                <a:ea typeface="Helvetica Neue"/>
                <a:cs typeface="Helvetica Neue"/>
              </a:defRPr>
            </a:lvl4pPr>
            <a:lvl5pPr>
              <a:defRPr sz="1125" b="1">
                <a:solidFill>
                  <a:srgbClr val="237B82"/>
                </a:solidFill>
                <a:latin typeface="Helvetica Neue"/>
                <a:ea typeface="Helvetica Neue"/>
                <a:cs typeface="Helvetica Neue"/>
              </a:defRPr>
            </a:lvl5pPr>
            <a:lvl6pPr>
              <a:defRPr sz="1125" b="1">
                <a:solidFill>
                  <a:srgbClr val="237B82"/>
                </a:solidFill>
                <a:latin typeface="Helvetica Neue"/>
                <a:ea typeface="Helvetica Neue"/>
                <a:cs typeface="Helvetica Neue"/>
              </a:defRPr>
            </a:lvl6pPr>
            <a:lvl7pPr>
              <a:defRPr sz="1125" b="1">
                <a:solidFill>
                  <a:srgbClr val="237B82"/>
                </a:solidFill>
                <a:latin typeface="Helvetica Neue"/>
                <a:ea typeface="Helvetica Neue"/>
                <a:cs typeface="Helvetica Neue"/>
              </a:defRPr>
            </a:lvl7pPr>
            <a:lvl8pPr>
              <a:defRPr sz="1125" b="1">
                <a:solidFill>
                  <a:srgbClr val="237B82"/>
                </a:solidFill>
                <a:latin typeface="Helvetica Neue"/>
                <a:ea typeface="Helvetica Neue"/>
                <a:cs typeface="Helvetica Neue"/>
              </a:defRPr>
            </a:lvl8pPr>
            <a:lvl9pPr>
              <a:defRPr sz="1125" b="1">
                <a:solidFill>
                  <a:srgbClr val="237B82"/>
                </a:solidFill>
                <a:latin typeface="Helvetica Neue"/>
                <a:ea typeface="Helvetica Neue"/>
                <a:cs typeface="Helvetica Neue"/>
              </a:defRPr>
            </a:lvl9pPr>
          </a:lstStyle>
          <a:p xmlns:a="http://schemas.openxmlformats.org/drawingml/2006/main">
            <a:pPr>
              <a:defRPr sz="1125" b="1">
                <a:solidFill>
                  <a:srgbClr val="237B82"/>
                </a:solidFill>
                <a:latin typeface="Helvetica Neue"/>
                <a:ea typeface="Helvetica Neue"/>
                <a:cs typeface="Helvetica Neue"/>
              </a:defRPr>
            </a:pPr>
            <a:r>
              <a:rPr sz="1125" b="1">
                <a:solidFill>
                  <a:srgbClr val="237B82"/>
                </a:solidFill>
                <a:latin typeface="Helvetica Neue"/>
                <a:ea typeface="Helvetica Neue"/>
                <a:cs typeface="Helvetica Neue"/>
              </a:rPr>
              <a:t>MODULE 4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62E1B8AF-ACB3-443D-84D7-07C0F7B74A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457200"/>
            <a:ext cx="5334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>
            <a:defPPr>
              <a:defRPr sz="1200" b="1">
                <a:solidFill>
                  <a:srgbClr val="237B82"/>
                </a:solidFill>
                <a:latin typeface="Helvetica Neue"/>
                <a:ea typeface="Helvetica Neue"/>
                <a:cs typeface="Helvetica Neue"/>
              </a:defRPr>
            </a:defPPr>
            <a:lvl1pPr>
              <a:defRPr sz="1200" b="1">
                <a:solidFill>
                  <a:srgbClr val="237B82"/>
                </a:solidFill>
                <a:latin typeface="Helvetica Neue"/>
                <a:ea typeface="Helvetica Neue"/>
                <a:cs typeface="Helvetica Neue"/>
              </a:defRPr>
            </a:lvl1pPr>
            <a:lvl2pPr>
              <a:defRPr sz="1200" b="1">
                <a:solidFill>
                  <a:srgbClr val="237B82"/>
                </a:solidFill>
                <a:latin typeface="Helvetica Neue"/>
                <a:ea typeface="Helvetica Neue"/>
                <a:cs typeface="Helvetica Neue"/>
              </a:defRPr>
            </a:lvl2pPr>
            <a:lvl3pPr>
              <a:defRPr sz="1200" b="1">
                <a:solidFill>
                  <a:srgbClr val="237B82"/>
                </a:solidFill>
                <a:latin typeface="Helvetica Neue"/>
                <a:ea typeface="Helvetica Neue"/>
                <a:cs typeface="Helvetica Neue"/>
              </a:defRPr>
            </a:lvl3pPr>
            <a:lvl4pPr>
              <a:defRPr sz="1200" b="1">
                <a:solidFill>
                  <a:srgbClr val="237B82"/>
                </a:solidFill>
                <a:latin typeface="Helvetica Neue"/>
                <a:ea typeface="Helvetica Neue"/>
                <a:cs typeface="Helvetica Neue"/>
              </a:defRPr>
            </a:lvl4pPr>
            <a:lvl5pPr>
              <a:defRPr sz="1200" b="1">
                <a:solidFill>
                  <a:srgbClr val="237B82"/>
                </a:solidFill>
                <a:latin typeface="Helvetica Neue"/>
                <a:ea typeface="Helvetica Neue"/>
                <a:cs typeface="Helvetica Neue"/>
              </a:defRPr>
            </a:lvl5pPr>
            <a:lvl6pPr>
              <a:defRPr sz="1200" b="1">
                <a:solidFill>
                  <a:srgbClr val="237B82"/>
                </a:solidFill>
                <a:latin typeface="Helvetica Neue"/>
                <a:ea typeface="Helvetica Neue"/>
                <a:cs typeface="Helvetica Neue"/>
              </a:defRPr>
            </a:lvl6pPr>
            <a:lvl7pPr>
              <a:defRPr sz="1200" b="1">
                <a:solidFill>
                  <a:srgbClr val="237B82"/>
                </a:solidFill>
                <a:latin typeface="Helvetica Neue"/>
                <a:ea typeface="Helvetica Neue"/>
                <a:cs typeface="Helvetica Neue"/>
              </a:defRPr>
            </a:lvl7pPr>
            <a:lvl8pPr>
              <a:defRPr sz="1200" b="1">
                <a:solidFill>
                  <a:srgbClr val="237B82"/>
                </a:solidFill>
                <a:latin typeface="Helvetica Neue"/>
                <a:ea typeface="Helvetica Neue"/>
                <a:cs typeface="Helvetica Neue"/>
              </a:defRPr>
            </a:lvl8pPr>
            <a:lvl9pPr>
              <a:defRPr sz="1200" b="1">
                <a:solidFill>
                  <a:srgbClr val="237B82"/>
                </a:solidFill>
                <a:latin typeface="Helvetica Neue"/>
                <a:ea typeface="Helvetica Neue"/>
                <a:cs typeface="Helvetica Neue"/>
              </a:defRPr>
            </a:lvl9pPr>
          </a:lstStyle>
          <a:p xmlns:a="http://schemas.openxmlformats.org/drawingml/2006/main">
            <a:pPr>
              <a:defRPr sz="1200" b="1">
                <a:solidFill>
                  <a:srgbClr val="237B82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00" b="1">
                <a:solidFill>
                  <a:srgbClr val="237B82"/>
                </a:solidFill>
                <a:latin typeface="Helvetica Neue"/>
                <a:ea typeface="Helvetica Neue"/>
                <a:cs typeface="Helvetica Neue"/>
              </a:rPr>
              <a:t>26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780598D8-8837-4A4F-A412-DA138D7816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1762125"/>
            <a:ext cx="10287000" cy="409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>
            <a:defPPr>
              <a:defRPr sz="1875">
                <a:solidFill>
                  <a:srgbClr val="13212D"/>
                </a:solidFill>
                <a:latin typeface="Helvetica Neue"/>
                <a:ea typeface="Helvetica Neue"/>
                <a:cs typeface="Helvetica Neue"/>
              </a:defRPr>
            </a:defPPr>
            <a:lvl1pPr>
              <a:defRPr sz="1875">
                <a:solidFill>
                  <a:srgbClr val="13212D"/>
                </a:solidFill>
                <a:latin typeface="Helvetica Neue"/>
                <a:ea typeface="Helvetica Neue"/>
                <a:cs typeface="Helvetica Neue"/>
              </a:defRPr>
            </a:lvl1pPr>
            <a:lvl2pPr>
              <a:defRPr sz="1875">
                <a:solidFill>
                  <a:srgbClr val="13212D"/>
                </a:solidFill>
                <a:latin typeface="Helvetica Neue"/>
                <a:ea typeface="Helvetica Neue"/>
                <a:cs typeface="Helvetica Neue"/>
              </a:defRPr>
            </a:lvl2pPr>
            <a:lvl3pPr>
              <a:defRPr sz="1875">
                <a:solidFill>
                  <a:srgbClr val="13212D"/>
                </a:solidFill>
                <a:latin typeface="Helvetica Neue"/>
                <a:ea typeface="Helvetica Neue"/>
                <a:cs typeface="Helvetica Neue"/>
              </a:defRPr>
            </a:lvl3pPr>
            <a:lvl4pPr>
              <a:defRPr sz="1875">
                <a:solidFill>
                  <a:srgbClr val="13212D"/>
                </a:solidFill>
                <a:latin typeface="Helvetica Neue"/>
                <a:ea typeface="Helvetica Neue"/>
                <a:cs typeface="Helvetica Neue"/>
              </a:defRPr>
            </a:lvl4pPr>
            <a:lvl5pPr>
              <a:defRPr sz="1875">
                <a:solidFill>
                  <a:srgbClr val="13212D"/>
                </a:solidFill>
                <a:latin typeface="Helvetica Neue"/>
                <a:ea typeface="Helvetica Neue"/>
                <a:cs typeface="Helvetica Neue"/>
              </a:defRPr>
            </a:lvl5pPr>
            <a:lvl6pPr>
              <a:defRPr sz="1875">
                <a:solidFill>
                  <a:srgbClr val="13212D"/>
                </a:solidFill>
                <a:latin typeface="Helvetica Neue"/>
                <a:ea typeface="Helvetica Neue"/>
                <a:cs typeface="Helvetica Neue"/>
              </a:defRPr>
            </a:lvl6pPr>
            <a:lvl7pPr>
              <a:defRPr sz="1875">
                <a:solidFill>
                  <a:srgbClr val="13212D"/>
                </a:solidFill>
                <a:latin typeface="Helvetica Neue"/>
                <a:ea typeface="Helvetica Neue"/>
                <a:cs typeface="Helvetica Neue"/>
              </a:defRPr>
            </a:lvl7pPr>
            <a:lvl8pPr>
              <a:defRPr sz="1875">
                <a:solidFill>
                  <a:srgbClr val="13212D"/>
                </a:solidFill>
                <a:latin typeface="Helvetica Neue"/>
                <a:ea typeface="Helvetica Neue"/>
                <a:cs typeface="Helvetica Neue"/>
              </a:defRPr>
            </a:lvl8pPr>
            <a:lvl9pPr>
              <a:defRPr sz="1875">
                <a:solidFill>
                  <a:srgbClr val="13212D"/>
                </a:solidFill>
                <a:latin typeface="Helvetica Neue"/>
                <a:ea typeface="Helvetica Neue"/>
                <a:cs typeface="Helvetica Neue"/>
              </a:defRPr>
            </a:lvl9pPr>
          </a:lstStyle>
          <a:p xmlns:a="http://schemas.openxmlformats.org/drawingml/2006/main">
            <a:pPr marL="279400" indent="-127000">
              <a:spcAft>
                <a:spcPts val="1300"/>
              </a:spcAft>
              <a:buChar char="•"/>
              <a:defRPr sz="1875">
                <a:solidFill>
                  <a:srgbClr val="13212D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75">
                <a:solidFill>
                  <a:srgbClr val="13212D"/>
                </a:solidFill>
                <a:latin typeface="Helvetica Neue"/>
                <a:ea typeface="Helvetica Neue"/>
                <a:cs typeface="Helvetica Neue"/>
              </a:rPr>
              <a:t>This is significant for the patient who has been sensitized from previous transfusions.</a:t>
            </a:r>
          </a:p>
          <a:p xmlns:a="http://schemas.openxmlformats.org/drawingml/2006/main">
            <a:pPr marL="279400" indent="-127000">
              <a:spcAft>
                <a:spcPts val="1300"/>
              </a:spcAft>
              <a:buChar char="•"/>
              <a:defRPr sz="1875">
                <a:solidFill>
                  <a:srgbClr val="13212D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75">
                <a:solidFill>
                  <a:srgbClr val="13212D"/>
                </a:solidFill>
                <a:latin typeface="Helvetica Neue"/>
                <a:ea typeface="Helvetica Neue"/>
                <a:cs typeface="Helvetica Neue"/>
              </a:rPr>
              <a:t>Leukocyte (poor) depleted washed cells - packed cells that are mostly free of white blood cells, are indicated for the patient who has had previous severe transfusions reactions.</a:t>
            </a:r>
          </a:p>
          <a:p xmlns:a="http://schemas.openxmlformats.org/drawingml/2006/main">
            <a:pPr marL="279400" indent="-127000">
              <a:spcAft>
                <a:spcPts val="1300"/>
              </a:spcAft>
              <a:buChar char="•"/>
              <a:defRPr sz="1875">
                <a:solidFill>
                  <a:srgbClr val="13212D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75">
                <a:solidFill>
                  <a:srgbClr val="13212D"/>
                </a:solidFill>
                <a:latin typeface="Helvetica Neue"/>
                <a:ea typeface="Helvetica Neue"/>
                <a:cs typeface="Helvetica Neue"/>
              </a:rPr>
              <a:t>The unit is prepared in one of three ways.</a:t>
            </a:r>
          </a:p>
          <a:p xmlns:a="http://schemas.openxmlformats.org/drawingml/2006/main">
            <a:pPr marL="279400" indent="-127000">
              <a:spcAft>
                <a:spcPts val="1300"/>
              </a:spcAft>
              <a:buChar char="•"/>
              <a:defRPr sz="1875">
                <a:solidFill>
                  <a:srgbClr val="13212D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75">
                <a:solidFill>
                  <a:srgbClr val="13212D"/>
                </a:solidFill>
                <a:latin typeface="Helvetica Neue"/>
                <a:ea typeface="Helvetica Neue"/>
                <a:cs typeface="Helvetica Neue"/>
              </a:rPr>
              <a:t>The blood can be centrifuged, saline washed, or administered through a special nylon filter to remove the white cell constituents of the blood.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8250EA66-D19A-43FC-A3EA-1AFEA85D82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6115050"/>
            <a:ext cx="101917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>
            <a:defPPr>
              <a:defRPr sz="1125" b="1">
                <a:solidFill>
                  <a:srgbClr val="B94F3D"/>
                </a:solidFill>
                <a:latin typeface="Helvetica Neue"/>
                <a:ea typeface="Helvetica Neue"/>
                <a:cs typeface="Helvetica Neue"/>
              </a:defRPr>
            </a:defPPr>
            <a:lvl1pPr>
              <a:defRPr sz="1125" b="1">
                <a:solidFill>
                  <a:srgbClr val="B94F3D"/>
                </a:solidFill>
                <a:latin typeface="Helvetica Neue"/>
                <a:ea typeface="Helvetica Neue"/>
                <a:cs typeface="Helvetica Neue"/>
              </a:defRPr>
            </a:lvl1pPr>
            <a:lvl2pPr>
              <a:defRPr sz="1125" b="1">
                <a:solidFill>
                  <a:srgbClr val="B94F3D"/>
                </a:solidFill>
                <a:latin typeface="Helvetica Neue"/>
                <a:ea typeface="Helvetica Neue"/>
                <a:cs typeface="Helvetica Neue"/>
              </a:defRPr>
            </a:lvl2pPr>
            <a:lvl3pPr>
              <a:defRPr sz="1125" b="1">
                <a:solidFill>
                  <a:srgbClr val="B94F3D"/>
                </a:solidFill>
                <a:latin typeface="Helvetica Neue"/>
                <a:ea typeface="Helvetica Neue"/>
                <a:cs typeface="Helvetica Neue"/>
              </a:defRPr>
            </a:lvl3pPr>
            <a:lvl4pPr>
              <a:defRPr sz="1125" b="1">
                <a:solidFill>
                  <a:srgbClr val="B94F3D"/>
                </a:solidFill>
                <a:latin typeface="Helvetica Neue"/>
                <a:ea typeface="Helvetica Neue"/>
                <a:cs typeface="Helvetica Neue"/>
              </a:defRPr>
            </a:lvl4pPr>
            <a:lvl5pPr>
              <a:defRPr sz="1125" b="1">
                <a:solidFill>
                  <a:srgbClr val="B94F3D"/>
                </a:solidFill>
                <a:latin typeface="Helvetica Neue"/>
                <a:ea typeface="Helvetica Neue"/>
                <a:cs typeface="Helvetica Neue"/>
              </a:defRPr>
            </a:lvl5pPr>
            <a:lvl6pPr>
              <a:defRPr sz="1125" b="1">
                <a:solidFill>
                  <a:srgbClr val="B94F3D"/>
                </a:solidFill>
                <a:latin typeface="Helvetica Neue"/>
                <a:ea typeface="Helvetica Neue"/>
                <a:cs typeface="Helvetica Neue"/>
              </a:defRPr>
            </a:lvl6pPr>
            <a:lvl7pPr>
              <a:defRPr sz="1125" b="1">
                <a:solidFill>
                  <a:srgbClr val="B94F3D"/>
                </a:solidFill>
                <a:latin typeface="Helvetica Neue"/>
                <a:ea typeface="Helvetica Neue"/>
                <a:cs typeface="Helvetica Neue"/>
              </a:defRPr>
            </a:lvl7pPr>
            <a:lvl8pPr>
              <a:defRPr sz="1125" b="1">
                <a:solidFill>
                  <a:srgbClr val="B94F3D"/>
                </a:solidFill>
                <a:latin typeface="Helvetica Neue"/>
                <a:ea typeface="Helvetica Neue"/>
                <a:cs typeface="Helvetica Neue"/>
              </a:defRPr>
            </a:lvl8pPr>
            <a:lvl9pPr>
              <a:defRPr sz="1125" b="1">
                <a:solidFill>
                  <a:srgbClr val="B94F3D"/>
                </a:solidFill>
                <a:latin typeface="Helvetica Neue"/>
                <a:ea typeface="Helvetica Neue"/>
                <a:cs typeface="Helvetica Neue"/>
              </a:defRPr>
            </a:lvl9pPr>
          </a:lstStyle>
          <a:p xmlns:a="http://schemas.openxmlformats.org/drawingml/2006/main">
            <a:pPr>
              <a:defRPr sz="1125" b="1">
                <a:solidFill>
                  <a:srgbClr val="B94F3D"/>
                </a:solidFill>
                <a:latin typeface="Helvetica Neue"/>
                <a:ea typeface="Helvetica Neue"/>
                <a:cs typeface="Helvetica Neue"/>
              </a:defRPr>
            </a:pPr>
            <a:r>
              <a:rPr sz="1125" b="1">
                <a:solidFill>
                  <a:srgbClr val="B94F3D"/>
                </a:solidFill>
                <a:latin typeface="Helvetica Neue"/>
                <a:ea typeface="Helvetica Neue"/>
                <a:cs typeface="Helvetica Neue"/>
              </a:rPr>
              <a:t>Use current orders, facility policy, and authorized scope when applying this information.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0556ABA3-4875-46B9-9DB7-0AFAA118B9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5772150"/>
            <a:ext cx="101917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97619"/>
          </a:bodyPr>
          <a:lstStyle xmlns:a="http://schemas.openxmlformats.org/drawingml/2006/main">
            <a:defPPr>
              <a:defRPr sz="1050" b="1">
                <a:solidFill>
                  <a:srgbClr val="237B82"/>
                </a:solidFill>
                <a:latin typeface="Helvetica Neue"/>
                <a:ea typeface="Helvetica Neue"/>
                <a:cs typeface="Helvetica Neue"/>
              </a:defRPr>
            </a:defPPr>
            <a:lvl1pPr>
              <a:defRPr sz="1050" b="1">
                <a:solidFill>
                  <a:srgbClr val="237B82"/>
                </a:solidFill>
                <a:latin typeface="Helvetica Neue"/>
                <a:ea typeface="Helvetica Neue"/>
                <a:cs typeface="Helvetica Neue"/>
              </a:defRPr>
            </a:lvl1pPr>
            <a:lvl2pPr>
              <a:defRPr sz="1050" b="1">
                <a:solidFill>
                  <a:srgbClr val="237B82"/>
                </a:solidFill>
                <a:latin typeface="Helvetica Neue"/>
                <a:ea typeface="Helvetica Neue"/>
                <a:cs typeface="Helvetica Neue"/>
              </a:defRPr>
            </a:lvl2pPr>
            <a:lvl3pPr>
              <a:defRPr sz="1050" b="1">
                <a:solidFill>
                  <a:srgbClr val="237B82"/>
                </a:solidFill>
                <a:latin typeface="Helvetica Neue"/>
                <a:ea typeface="Helvetica Neue"/>
                <a:cs typeface="Helvetica Neue"/>
              </a:defRPr>
            </a:lvl3pPr>
            <a:lvl4pPr>
              <a:defRPr sz="1050" b="1">
                <a:solidFill>
                  <a:srgbClr val="237B82"/>
                </a:solidFill>
                <a:latin typeface="Helvetica Neue"/>
                <a:ea typeface="Helvetica Neue"/>
                <a:cs typeface="Helvetica Neue"/>
              </a:defRPr>
            </a:lvl4pPr>
            <a:lvl5pPr>
              <a:defRPr sz="1050" b="1">
                <a:solidFill>
                  <a:srgbClr val="237B82"/>
                </a:solidFill>
                <a:latin typeface="Helvetica Neue"/>
                <a:ea typeface="Helvetica Neue"/>
                <a:cs typeface="Helvetica Neue"/>
              </a:defRPr>
            </a:lvl5pPr>
            <a:lvl6pPr>
              <a:defRPr sz="1050" b="1">
                <a:solidFill>
                  <a:srgbClr val="237B82"/>
                </a:solidFill>
                <a:latin typeface="Helvetica Neue"/>
                <a:ea typeface="Helvetica Neue"/>
                <a:cs typeface="Helvetica Neue"/>
              </a:defRPr>
            </a:lvl6pPr>
            <a:lvl7pPr>
              <a:defRPr sz="1050" b="1">
                <a:solidFill>
                  <a:srgbClr val="237B82"/>
                </a:solidFill>
                <a:latin typeface="Helvetica Neue"/>
                <a:ea typeface="Helvetica Neue"/>
                <a:cs typeface="Helvetica Neue"/>
              </a:defRPr>
            </a:lvl7pPr>
            <a:lvl8pPr>
              <a:defRPr sz="1050" b="1">
                <a:solidFill>
                  <a:srgbClr val="237B82"/>
                </a:solidFill>
                <a:latin typeface="Helvetica Neue"/>
                <a:ea typeface="Helvetica Neue"/>
                <a:cs typeface="Helvetica Neue"/>
              </a:defRPr>
            </a:lvl8pPr>
            <a:lvl9pPr>
              <a:defRPr sz="1050" b="1">
                <a:solidFill>
                  <a:srgbClr val="237B82"/>
                </a:solidFill>
                <a:latin typeface="Helvetica Neue"/>
                <a:ea typeface="Helvetica Neue"/>
                <a:cs typeface="Helvetica Neue"/>
              </a:defRPr>
            </a:lvl9pPr>
          </a:lstStyle>
          <a:p xmlns:a="http://schemas.openxmlformats.org/drawingml/2006/main">
            <a:pPr>
              <a:defRPr sz="1050" b="1">
                <a:solidFill>
                  <a:srgbClr val="237B82"/>
                </a:solidFill>
                <a:latin typeface="Helvetica Neue"/>
                <a:ea typeface="Helvetica Neue"/>
                <a:cs typeface="Helvetica Neue"/>
              </a:defRPr>
            </a:pPr>
            <a:r>
              <a:rPr sz="1050" b="1">
                <a:solidFill>
                  <a:srgbClr val="237B82"/>
                </a:solidFill>
                <a:latin typeface="Helvetica Neue"/>
                <a:ea typeface="Helvetica Neue"/>
                <a:cs typeface="Helvetica Neue"/>
              </a:rPr>
              <a:t>Manual page 54</a:t>
            </a:r>
          </a:p>
        </p:txBody>
      </p:sp>
    </p:spTree>
    <p:extLst>
      <p:ext uri="{BB962C8B-B14F-4D97-AF65-F5344CB8AC3E}">
        <p14:creationId xmlns:p14="http://schemas.microsoft.com/office/powerpoint/2010/main" val="2092613036"/>
      </p:ext>
    </p:extLst>
  </p:cSld>
</p:sld>
</file>

<file path=ppt/slides/slide27.xml><?xml version="1.0" encoding="utf-8"?>
<p:sld xmlns:p="http://schemas.openxmlformats.org/presentationml/2006/main">
  <p:cSld>
    <p:bg>
      <p:bgPr>
        <a:solidFill xmlns:a="http://schemas.openxmlformats.org/drawingml/2006/main">
          <a:srgbClr val="F7F4EE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620CEDF0-A9F6-414D-9195-8F1F488643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2095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37B82"/>
          </a:solidFill>
          <a:ln xmlns:a="http://schemas.openxmlformats.org/drawingml/2006/main" w="0">
            <a:solidFill>
              <a:srgbClr val="237B82"/>
            </a:solidFill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AA379478-58A6-43B0-BD1F-2AEBE80E18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00050"/>
            <a:ext cx="10001250" cy="819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>
            <a:defPPr>
              <a:defRPr sz="2700" b="1">
                <a:solidFill>
                  <a:srgbClr val="15324A"/>
                </a:solidFill>
                <a:latin typeface="Helvetica Neue"/>
                <a:ea typeface="Helvetica Neue"/>
                <a:cs typeface="Helvetica Neue"/>
              </a:defRPr>
            </a:defPPr>
            <a:lvl1pPr>
              <a:defRPr sz="2700" b="1">
                <a:solidFill>
                  <a:srgbClr val="15324A"/>
                </a:solidFill>
                <a:latin typeface="Helvetica Neue"/>
                <a:ea typeface="Helvetica Neue"/>
                <a:cs typeface="Helvetica Neue"/>
              </a:defRPr>
            </a:lvl1pPr>
            <a:lvl2pPr>
              <a:defRPr sz="2700" b="1">
                <a:solidFill>
                  <a:srgbClr val="15324A"/>
                </a:solidFill>
                <a:latin typeface="Helvetica Neue"/>
                <a:ea typeface="Helvetica Neue"/>
                <a:cs typeface="Helvetica Neue"/>
              </a:defRPr>
            </a:lvl2pPr>
            <a:lvl3pPr>
              <a:defRPr sz="2700" b="1">
                <a:solidFill>
                  <a:srgbClr val="15324A"/>
                </a:solidFill>
                <a:latin typeface="Helvetica Neue"/>
                <a:ea typeface="Helvetica Neue"/>
                <a:cs typeface="Helvetica Neue"/>
              </a:defRPr>
            </a:lvl3pPr>
            <a:lvl4pPr>
              <a:defRPr sz="2700" b="1">
                <a:solidFill>
                  <a:srgbClr val="15324A"/>
                </a:solidFill>
                <a:latin typeface="Helvetica Neue"/>
                <a:ea typeface="Helvetica Neue"/>
                <a:cs typeface="Helvetica Neue"/>
              </a:defRPr>
            </a:lvl4pPr>
            <a:lvl5pPr>
              <a:defRPr sz="2700" b="1">
                <a:solidFill>
                  <a:srgbClr val="15324A"/>
                </a:solidFill>
                <a:latin typeface="Helvetica Neue"/>
                <a:ea typeface="Helvetica Neue"/>
                <a:cs typeface="Helvetica Neue"/>
              </a:defRPr>
            </a:lvl5pPr>
            <a:lvl6pPr>
              <a:defRPr sz="2700" b="1">
                <a:solidFill>
                  <a:srgbClr val="15324A"/>
                </a:solidFill>
                <a:latin typeface="Helvetica Neue"/>
                <a:ea typeface="Helvetica Neue"/>
                <a:cs typeface="Helvetica Neue"/>
              </a:defRPr>
            </a:lvl6pPr>
            <a:lvl7pPr>
              <a:defRPr sz="2700" b="1">
                <a:solidFill>
                  <a:srgbClr val="15324A"/>
                </a:solidFill>
                <a:latin typeface="Helvetica Neue"/>
                <a:ea typeface="Helvetica Neue"/>
                <a:cs typeface="Helvetica Neue"/>
              </a:defRPr>
            </a:lvl7pPr>
            <a:lvl8pPr>
              <a:defRPr sz="2700" b="1">
                <a:solidFill>
                  <a:srgbClr val="15324A"/>
                </a:solidFill>
                <a:latin typeface="Helvetica Neue"/>
                <a:ea typeface="Helvetica Neue"/>
                <a:cs typeface="Helvetica Neue"/>
              </a:defRPr>
            </a:lvl8pPr>
            <a:lvl9pPr>
              <a:defRPr sz="2700" b="1">
                <a:solidFill>
                  <a:srgbClr val="15324A"/>
                </a:solidFill>
                <a:latin typeface="Helvetica Neue"/>
                <a:ea typeface="Helvetica Neue"/>
                <a:cs typeface="Helvetica Neue"/>
              </a:defRPr>
            </a:lvl9pPr>
          </a:lstStyle>
          <a:p xmlns:a="http://schemas.openxmlformats.org/drawingml/2006/main">
            <a:pPr>
              <a:defRPr sz="2700" b="1">
                <a:solidFill>
                  <a:srgbClr val="15324A"/>
                </a:solidFill>
                <a:latin typeface="Helvetica Neue"/>
                <a:ea typeface="Helvetica Neue"/>
                <a:cs typeface="Helvetica Neue"/>
              </a:defRPr>
            </a:pPr>
            <a:r>
              <a:rPr sz="2700" b="1">
                <a:solidFill>
                  <a:srgbClr val="15324A"/>
                </a:solidFill>
                <a:latin typeface="Helvetica Neue"/>
                <a:ea typeface="Helvetica Neue"/>
                <a:cs typeface="Helvetica Neue"/>
              </a:rPr>
              <a:t>Blood Cell Preparations — continued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2D8157F2-0E92-4D6C-B6C6-36572E3253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1257300"/>
            <a:ext cx="88582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91111"/>
          </a:bodyPr>
          <a:lstStyle xmlns:a="http://schemas.openxmlformats.org/drawingml/2006/main">
            <a:defPPr>
              <a:defRPr sz="1125" b="1">
                <a:solidFill>
                  <a:srgbClr val="237B82"/>
                </a:solidFill>
                <a:latin typeface="Helvetica Neue"/>
                <a:ea typeface="Helvetica Neue"/>
                <a:cs typeface="Helvetica Neue"/>
              </a:defRPr>
            </a:defPPr>
            <a:lvl1pPr>
              <a:defRPr sz="1125" b="1">
                <a:solidFill>
                  <a:srgbClr val="237B82"/>
                </a:solidFill>
                <a:latin typeface="Helvetica Neue"/>
                <a:ea typeface="Helvetica Neue"/>
                <a:cs typeface="Helvetica Neue"/>
              </a:defRPr>
            </a:lvl1pPr>
            <a:lvl2pPr>
              <a:defRPr sz="1125" b="1">
                <a:solidFill>
                  <a:srgbClr val="237B82"/>
                </a:solidFill>
                <a:latin typeface="Helvetica Neue"/>
                <a:ea typeface="Helvetica Neue"/>
                <a:cs typeface="Helvetica Neue"/>
              </a:defRPr>
            </a:lvl2pPr>
            <a:lvl3pPr>
              <a:defRPr sz="1125" b="1">
                <a:solidFill>
                  <a:srgbClr val="237B82"/>
                </a:solidFill>
                <a:latin typeface="Helvetica Neue"/>
                <a:ea typeface="Helvetica Neue"/>
                <a:cs typeface="Helvetica Neue"/>
              </a:defRPr>
            </a:lvl3pPr>
            <a:lvl4pPr>
              <a:defRPr sz="1125" b="1">
                <a:solidFill>
                  <a:srgbClr val="237B82"/>
                </a:solidFill>
                <a:latin typeface="Helvetica Neue"/>
                <a:ea typeface="Helvetica Neue"/>
                <a:cs typeface="Helvetica Neue"/>
              </a:defRPr>
            </a:lvl4pPr>
            <a:lvl5pPr>
              <a:defRPr sz="1125" b="1">
                <a:solidFill>
                  <a:srgbClr val="237B82"/>
                </a:solidFill>
                <a:latin typeface="Helvetica Neue"/>
                <a:ea typeface="Helvetica Neue"/>
                <a:cs typeface="Helvetica Neue"/>
              </a:defRPr>
            </a:lvl5pPr>
            <a:lvl6pPr>
              <a:defRPr sz="1125" b="1">
                <a:solidFill>
                  <a:srgbClr val="237B82"/>
                </a:solidFill>
                <a:latin typeface="Helvetica Neue"/>
                <a:ea typeface="Helvetica Neue"/>
                <a:cs typeface="Helvetica Neue"/>
              </a:defRPr>
            </a:lvl6pPr>
            <a:lvl7pPr>
              <a:defRPr sz="1125" b="1">
                <a:solidFill>
                  <a:srgbClr val="237B82"/>
                </a:solidFill>
                <a:latin typeface="Helvetica Neue"/>
                <a:ea typeface="Helvetica Neue"/>
                <a:cs typeface="Helvetica Neue"/>
              </a:defRPr>
            </a:lvl7pPr>
            <a:lvl8pPr>
              <a:defRPr sz="1125" b="1">
                <a:solidFill>
                  <a:srgbClr val="237B82"/>
                </a:solidFill>
                <a:latin typeface="Helvetica Neue"/>
                <a:ea typeface="Helvetica Neue"/>
                <a:cs typeface="Helvetica Neue"/>
              </a:defRPr>
            </a:lvl8pPr>
            <a:lvl9pPr>
              <a:defRPr sz="1125" b="1">
                <a:solidFill>
                  <a:srgbClr val="237B82"/>
                </a:solidFill>
                <a:latin typeface="Helvetica Neue"/>
                <a:ea typeface="Helvetica Neue"/>
                <a:cs typeface="Helvetica Neue"/>
              </a:defRPr>
            </a:lvl9pPr>
          </a:lstStyle>
          <a:p xmlns:a="http://schemas.openxmlformats.org/drawingml/2006/main">
            <a:pPr>
              <a:defRPr sz="1125" b="1">
                <a:solidFill>
                  <a:srgbClr val="237B82"/>
                </a:solidFill>
                <a:latin typeface="Helvetica Neue"/>
                <a:ea typeface="Helvetica Neue"/>
                <a:cs typeface="Helvetica Neue"/>
              </a:defRPr>
            </a:pPr>
            <a:r>
              <a:rPr sz="1125" b="1">
                <a:solidFill>
                  <a:srgbClr val="237B82"/>
                </a:solidFill>
                <a:latin typeface="Helvetica Neue"/>
                <a:ea typeface="Helvetica Neue"/>
                <a:cs typeface="Helvetica Neue"/>
              </a:rPr>
              <a:t>MODULE 4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790C7AC5-E125-4DD3-97D3-FAF9766E85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457200"/>
            <a:ext cx="5334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>
            <a:defPPr>
              <a:defRPr sz="1200" b="1">
                <a:solidFill>
                  <a:srgbClr val="237B82"/>
                </a:solidFill>
                <a:latin typeface="Helvetica Neue"/>
                <a:ea typeface="Helvetica Neue"/>
                <a:cs typeface="Helvetica Neue"/>
              </a:defRPr>
            </a:defPPr>
            <a:lvl1pPr>
              <a:defRPr sz="1200" b="1">
                <a:solidFill>
                  <a:srgbClr val="237B82"/>
                </a:solidFill>
                <a:latin typeface="Helvetica Neue"/>
                <a:ea typeface="Helvetica Neue"/>
                <a:cs typeface="Helvetica Neue"/>
              </a:defRPr>
            </a:lvl1pPr>
            <a:lvl2pPr>
              <a:defRPr sz="1200" b="1">
                <a:solidFill>
                  <a:srgbClr val="237B82"/>
                </a:solidFill>
                <a:latin typeface="Helvetica Neue"/>
                <a:ea typeface="Helvetica Neue"/>
                <a:cs typeface="Helvetica Neue"/>
              </a:defRPr>
            </a:lvl2pPr>
            <a:lvl3pPr>
              <a:defRPr sz="1200" b="1">
                <a:solidFill>
                  <a:srgbClr val="237B82"/>
                </a:solidFill>
                <a:latin typeface="Helvetica Neue"/>
                <a:ea typeface="Helvetica Neue"/>
                <a:cs typeface="Helvetica Neue"/>
              </a:defRPr>
            </a:lvl3pPr>
            <a:lvl4pPr>
              <a:defRPr sz="1200" b="1">
                <a:solidFill>
                  <a:srgbClr val="237B82"/>
                </a:solidFill>
                <a:latin typeface="Helvetica Neue"/>
                <a:ea typeface="Helvetica Neue"/>
                <a:cs typeface="Helvetica Neue"/>
              </a:defRPr>
            </a:lvl4pPr>
            <a:lvl5pPr>
              <a:defRPr sz="1200" b="1">
                <a:solidFill>
                  <a:srgbClr val="237B82"/>
                </a:solidFill>
                <a:latin typeface="Helvetica Neue"/>
                <a:ea typeface="Helvetica Neue"/>
                <a:cs typeface="Helvetica Neue"/>
              </a:defRPr>
            </a:lvl5pPr>
            <a:lvl6pPr>
              <a:defRPr sz="1200" b="1">
                <a:solidFill>
                  <a:srgbClr val="237B82"/>
                </a:solidFill>
                <a:latin typeface="Helvetica Neue"/>
                <a:ea typeface="Helvetica Neue"/>
                <a:cs typeface="Helvetica Neue"/>
              </a:defRPr>
            </a:lvl6pPr>
            <a:lvl7pPr>
              <a:defRPr sz="1200" b="1">
                <a:solidFill>
                  <a:srgbClr val="237B82"/>
                </a:solidFill>
                <a:latin typeface="Helvetica Neue"/>
                <a:ea typeface="Helvetica Neue"/>
                <a:cs typeface="Helvetica Neue"/>
              </a:defRPr>
            </a:lvl7pPr>
            <a:lvl8pPr>
              <a:defRPr sz="1200" b="1">
                <a:solidFill>
                  <a:srgbClr val="237B82"/>
                </a:solidFill>
                <a:latin typeface="Helvetica Neue"/>
                <a:ea typeface="Helvetica Neue"/>
                <a:cs typeface="Helvetica Neue"/>
              </a:defRPr>
            </a:lvl8pPr>
            <a:lvl9pPr>
              <a:defRPr sz="1200" b="1">
                <a:solidFill>
                  <a:srgbClr val="237B82"/>
                </a:solidFill>
                <a:latin typeface="Helvetica Neue"/>
                <a:ea typeface="Helvetica Neue"/>
                <a:cs typeface="Helvetica Neue"/>
              </a:defRPr>
            </a:lvl9pPr>
          </a:lstStyle>
          <a:p xmlns:a="http://schemas.openxmlformats.org/drawingml/2006/main">
            <a:pPr>
              <a:defRPr sz="1200" b="1">
                <a:solidFill>
                  <a:srgbClr val="237B82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00" b="1">
                <a:solidFill>
                  <a:srgbClr val="237B82"/>
                </a:solidFill>
                <a:latin typeface="Helvetica Neue"/>
                <a:ea typeface="Helvetica Neue"/>
                <a:cs typeface="Helvetica Neue"/>
              </a:rPr>
              <a:t>27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95D69CB6-F181-43A3-ABEB-026F88E799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1762125"/>
            <a:ext cx="10287000" cy="409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>
            <a:defPPr>
              <a:defRPr sz="1875">
                <a:solidFill>
                  <a:srgbClr val="13212D"/>
                </a:solidFill>
                <a:latin typeface="Helvetica Neue"/>
                <a:ea typeface="Helvetica Neue"/>
                <a:cs typeface="Helvetica Neue"/>
              </a:defRPr>
            </a:defPPr>
            <a:lvl1pPr>
              <a:defRPr sz="1875">
                <a:solidFill>
                  <a:srgbClr val="13212D"/>
                </a:solidFill>
                <a:latin typeface="Helvetica Neue"/>
                <a:ea typeface="Helvetica Neue"/>
                <a:cs typeface="Helvetica Neue"/>
              </a:defRPr>
            </a:lvl1pPr>
            <a:lvl2pPr>
              <a:defRPr sz="1875">
                <a:solidFill>
                  <a:srgbClr val="13212D"/>
                </a:solidFill>
                <a:latin typeface="Helvetica Neue"/>
                <a:ea typeface="Helvetica Neue"/>
                <a:cs typeface="Helvetica Neue"/>
              </a:defRPr>
            </a:lvl2pPr>
            <a:lvl3pPr>
              <a:defRPr sz="1875">
                <a:solidFill>
                  <a:srgbClr val="13212D"/>
                </a:solidFill>
                <a:latin typeface="Helvetica Neue"/>
                <a:ea typeface="Helvetica Neue"/>
                <a:cs typeface="Helvetica Neue"/>
              </a:defRPr>
            </a:lvl3pPr>
            <a:lvl4pPr>
              <a:defRPr sz="1875">
                <a:solidFill>
                  <a:srgbClr val="13212D"/>
                </a:solidFill>
                <a:latin typeface="Helvetica Neue"/>
                <a:ea typeface="Helvetica Neue"/>
                <a:cs typeface="Helvetica Neue"/>
              </a:defRPr>
            </a:lvl4pPr>
            <a:lvl5pPr>
              <a:defRPr sz="1875">
                <a:solidFill>
                  <a:srgbClr val="13212D"/>
                </a:solidFill>
                <a:latin typeface="Helvetica Neue"/>
                <a:ea typeface="Helvetica Neue"/>
                <a:cs typeface="Helvetica Neue"/>
              </a:defRPr>
            </a:lvl5pPr>
            <a:lvl6pPr>
              <a:defRPr sz="1875">
                <a:solidFill>
                  <a:srgbClr val="13212D"/>
                </a:solidFill>
                <a:latin typeface="Helvetica Neue"/>
                <a:ea typeface="Helvetica Neue"/>
                <a:cs typeface="Helvetica Neue"/>
              </a:defRPr>
            </a:lvl6pPr>
            <a:lvl7pPr>
              <a:defRPr sz="1875">
                <a:solidFill>
                  <a:srgbClr val="13212D"/>
                </a:solidFill>
                <a:latin typeface="Helvetica Neue"/>
                <a:ea typeface="Helvetica Neue"/>
                <a:cs typeface="Helvetica Neue"/>
              </a:defRPr>
            </a:lvl7pPr>
            <a:lvl8pPr>
              <a:defRPr sz="1875">
                <a:solidFill>
                  <a:srgbClr val="13212D"/>
                </a:solidFill>
                <a:latin typeface="Helvetica Neue"/>
                <a:ea typeface="Helvetica Neue"/>
                <a:cs typeface="Helvetica Neue"/>
              </a:defRPr>
            </a:lvl8pPr>
            <a:lvl9pPr>
              <a:defRPr sz="1875">
                <a:solidFill>
                  <a:srgbClr val="13212D"/>
                </a:solidFill>
                <a:latin typeface="Helvetica Neue"/>
                <a:ea typeface="Helvetica Neue"/>
                <a:cs typeface="Helvetica Neue"/>
              </a:defRPr>
            </a:lvl9pPr>
          </a:lstStyle>
          <a:p xmlns:a="http://schemas.openxmlformats.org/drawingml/2006/main">
            <a:pPr marL="279400" indent="-127000">
              <a:spcAft>
                <a:spcPts val="1300"/>
              </a:spcAft>
              <a:buChar char="•"/>
              <a:defRPr sz="1875">
                <a:solidFill>
                  <a:srgbClr val="13212D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75">
                <a:solidFill>
                  <a:srgbClr val="13212D"/>
                </a:solidFill>
                <a:latin typeface="Helvetica Neue"/>
                <a:ea typeface="Helvetica Neue"/>
                <a:cs typeface="Helvetica Neue"/>
              </a:rPr>
              <a:t>In order to be considered leukocyte poor at least 75% of the leukocytes have to be removed.</a:t>
            </a:r>
          </a:p>
          <a:p xmlns:a="http://schemas.openxmlformats.org/drawingml/2006/main">
            <a:pPr marL="279400" indent="-127000">
              <a:spcAft>
                <a:spcPts val="1300"/>
              </a:spcAft>
              <a:buChar char="•"/>
              <a:defRPr sz="1875">
                <a:solidFill>
                  <a:srgbClr val="13212D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75">
                <a:solidFill>
                  <a:srgbClr val="13212D"/>
                </a:solidFill>
                <a:latin typeface="Helvetica Neue"/>
                <a:ea typeface="Helvetica Neue"/>
                <a:cs typeface="Helvetica Neue"/>
              </a:rPr>
              <a:t>There are also special filters available to remove leukocytes form a unit of packed cells during administration.</a:t>
            </a:r>
          </a:p>
          <a:p xmlns:a="http://schemas.openxmlformats.org/drawingml/2006/main">
            <a:pPr marL="279400" indent="-127000">
              <a:spcAft>
                <a:spcPts val="1300"/>
              </a:spcAft>
              <a:buChar char="•"/>
              <a:defRPr sz="1875">
                <a:solidFill>
                  <a:srgbClr val="13212D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75">
                <a:solidFill>
                  <a:srgbClr val="13212D"/>
                </a:solidFill>
                <a:latin typeface="Helvetica Neue"/>
                <a:ea typeface="Helvetica Neue"/>
                <a:cs typeface="Helvetica Neue"/>
              </a:rPr>
              <a:t>Plasma Components One objective of transfusion therapy is replacement of coagulation properties in the patient.</a:t>
            </a:r>
          </a:p>
          <a:p xmlns:a="http://schemas.openxmlformats.org/drawingml/2006/main">
            <a:pPr marL="279400" indent="-127000">
              <a:spcAft>
                <a:spcPts val="1300"/>
              </a:spcAft>
              <a:buChar char="•"/>
              <a:defRPr sz="1875">
                <a:solidFill>
                  <a:srgbClr val="13212D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75">
                <a:solidFill>
                  <a:srgbClr val="13212D"/>
                </a:solidFill>
                <a:latin typeface="Helvetica Neue"/>
                <a:ea typeface="Helvetica Neue"/>
                <a:cs typeface="Helvetica Neue"/>
              </a:rPr>
              <a:t>This is accomplished through the transfusion of clotting factors found in plasma.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4B49CA8E-2291-41E0-85AE-EB02EEC707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6115050"/>
            <a:ext cx="101917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>
            <a:defPPr>
              <a:defRPr sz="1125" b="1">
                <a:solidFill>
                  <a:srgbClr val="B94F3D"/>
                </a:solidFill>
                <a:latin typeface="Helvetica Neue"/>
                <a:ea typeface="Helvetica Neue"/>
                <a:cs typeface="Helvetica Neue"/>
              </a:defRPr>
            </a:defPPr>
            <a:lvl1pPr>
              <a:defRPr sz="1125" b="1">
                <a:solidFill>
                  <a:srgbClr val="B94F3D"/>
                </a:solidFill>
                <a:latin typeface="Helvetica Neue"/>
                <a:ea typeface="Helvetica Neue"/>
                <a:cs typeface="Helvetica Neue"/>
              </a:defRPr>
            </a:lvl1pPr>
            <a:lvl2pPr>
              <a:defRPr sz="1125" b="1">
                <a:solidFill>
                  <a:srgbClr val="B94F3D"/>
                </a:solidFill>
                <a:latin typeface="Helvetica Neue"/>
                <a:ea typeface="Helvetica Neue"/>
                <a:cs typeface="Helvetica Neue"/>
              </a:defRPr>
            </a:lvl2pPr>
            <a:lvl3pPr>
              <a:defRPr sz="1125" b="1">
                <a:solidFill>
                  <a:srgbClr val="B94F3D"/>
                </a:solidFill>
                <a:latin typeface="Helvetica Neue"/>
                <a:ea typeface="Helvetica Neue"/>
                <a:cs typeface="Helvetica Neue"/>
              </a:defRPr>
            </a:lvl3pPr>
            <a:lvl4pPr>
              <a:defRPr sz="1125" b="1">
                <a:solidFill>
                  <a:srgbClr val="B94F3D"/>
                </a:solidFill>
                <a:latin typeface="Helvetica Neue"/>
                <a:ea typeface="Helvetica Neue"/>
                <a:cs typeface="Helvetica Neue"/>
              </a:defRPr>
            </a:lvl4pPr>
            <a:lvl5pPr>
              <a:defRPr sz="1125" b="1">
                <a:solidFill>
                  <a:srgbClr val="B94F3D"/>
                </a:solidFill>
                <a:latin typeface="Helvetica Neue"/>
                <a:ea typeface="Helvetica Neue"/>
                <a:cs typeface="Helvetica Neue"/>
              </a:defRPr>
            </a:lvl5pPr>
            <a:lvl6pPr>
              <a:defRPr sz="1125" b="1">
                <a:solidFill>
                  <a:srgbClr val="B94F3D"/>
                </a:solidFill>
                <a:latin typeface="Helvetica Neue"/>
                <a:ea typeface="Helvetica Neue"/>
                <a:cs typeface="Helvetica Neue"/>
              </a:defRPr>
            </a:lvl6pPr>
            <a:lvl7pPr>
              <a:defRPr sz="1125" b="1">
                <a:solidFill>
                  <a:srgbClr val="B94F3D"/>
                </a:solidFill>
                <a:latin typeface="Helvetica Neue"/>
                <a:ea typeface="Helvetica Neue"/>
                <a:cs typeface="Helvetica Neue"/>
              </a:defRPr>
            </a:lvl7pPr>
            <a:lvl8pPr>
              <a:defRPr sz="1125" b="1">
                <a:solidFill>
                  <a:srgbClr val="B94F3D"/>
                </a:solidFill>
                <a:latin typeface="Helvetica Neue"/>
                <a:ea typeface="Helvetica Neue"/>
                <a:cs typeface="Helvetica Neue"/>
              </a:defRPr>
            </a:lvl8pPr>
            <a:lvl9pPr>
              <a:defRPr sz="1125" b="1">
                <a:solidFill>
                  <a:srgbClr val="B94F3D"/>
                </a:solidFill>
                <a:latin typeface="Helvetica Neue"/>
                <a:ea typeface="Helvetica Neue"/>
                <a:cs typeface="Helvetica Neue"/>
              </a:defRPr>
            </a:lvl9pPr>
          </a:lstStyle>
          <a:p xmlns:a="http://schemas.openxmlformats.org/drawingml/2006/main">
            <a:pPr>
              <a:defRPr sz="1125" b="1">
                <a:solidFill>
                  <a:srgbClr val="B94F3D"/>
                </a:solidFill>
                <a:latin typeface="Helvetica Neue"/>
                <a:ea typeface="Helvetica Neue"/>
                <a:cs typeface="Helvetica Neue"/>
              </a:defRPr>
            </a:pPr>
            <a:r>
              <a:rPr sz="1125" b="1">
                <a:solidFill>
                  <a:srgbClr val="B94F3D"/>
                </a:solidFill>
                <a:latin typeface="Helvetica Neue"/>
                <a:ea typeface="Helvetica Neue"/>
                <a:cs typeface="Helvetica Neue"/>
              </a:rPr>
              <a:t>Use current orders, facility policy, and authorized scope when applying this information.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2AEF5C13-EC7C-49B9-820A-E3ED8E005D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5772150"/>
            <a:ext cx="101917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97619"/>
          </a:bodyPr>
          <a:lstStyle xmlns:a="http://schemas.openxmlformats.org/drawingml/2006/main">
            <a:defPPr>
              <a:defRPr sz="1050" b="1">
                <a:solidFill>
                  <a:srgbClr val="237B82"/>
                </a:solidFill>
                <a:latin typeface="Helvetica Neue"/>
                <a:ea typeface="Helvetica Neue"/>
                <a:cs typeface="Helvetica Neue"/>
              </a:defRPr>
            </a:defPPr>
            <a:lvl1pPr>
              <a:defRPr sz="1050" b="1">
                <a:solidFill>
                  <a:srgbClr val="237B82"/>
                </a:solidFill>
                <a:latin typeface="Helvetica Neue"/>
                <a:ea typeface="Helvetica Neue"/>
                <a:cs typeface="Helvetica Neue"/>
              </a:defRPr>
            </a:lvl1pPr>
            <a:lvl2pPr>
              <a:defRPr sz="1050" b="1">
                <a:solidFill>
                  <a:srgbClr val="237B82"/>
                </a:solidFill>
                <a:latin typeface="Helvetica Neue"/>
                <a:ea typeface="Helvetica Neue"/>
                <a:cs typeface="Helvetica Neue"/>
              </a:defRPr>
            </a:lvl2pPr>
            <a:lvl3pPr>
              <a:defRPr sz="1050" b="1">
                <a:solidFill>
                  <a:srgbClr val="237B82"/>
                </a:solidFill>
                <a:latin typeface="Helvetica Neue"/>
                <a:ea typeface="Helvetica Neue"/>
                <a:cs typeface="Helvetica Neue"/>
              </a:defRPr>
            </a:lvl3pPr>
            <a:lvl4pPr>
              <a:defRPr sz="1050" b="1">
                <a:solidFill>
                  <a:srgbClr val="237B82"/>
                </a:solidFill>
                <a:latin typeface="Helvetica Neue"/>
                <a:ea typeface="Helvetica Neue"/>
                <a:cs typeface="Helvetica Neue"/>
              </a:defRPr>
            </a:lvl4pPr>
            <a:lvl5pPr>
              <a:defRPr sz="1050" b="1">
                <a:solidFill>
                  <a:srgbClr val="237B82"/>
                </a:solidFill>
                <a:latin typeface="Helvetica Neue"/>
                <a:ea typeface="Helvetica Neue"/>
                <a:cs typeface="Helvetica Neue"/>
              </a:defRPr>
            </a:lvl5pPr>
            <a:lvl6pPr>
              <a:defRPr sz="1050" b="1">
                <a:solidFill>
                  <a:srgbClr val="237B82"/>
                </a:solidFill>
                <a:latin typeface="Helvetica Neue"/>
                <a:ea typeface="Helvetica Neue"/>
                <a:cs typeface="Helvetica Neue"/>
              </a:defRPr>
            </a:lvl6pPr>
            <a:lvl7pPr>
              <a:defRPr sz="1050" b="1">
                <a:solidFill>
                  <a:srgbClr val="237B82"/>
                </a:solidFill>
                <a:latin typeface="Helvetica Neue"/>
                <a:ea typeface="Helvetica Neue"/>
                <a:cs typeface="Helvetica Neue"/>
              </a:defRPr>
            </a:lvl7pPr>
            <a:lvl8pPr>
              <a:defRPr sz="1050" b="1">
                <a:solidFill>
                  <a:srgbClr val="237B82"/>
                </a:solidFill>
                <a:latin typeface="Helvetica Neue"/>
                <a:ea typeface="Helvetica Neue"/>
                <a:cs typeface="Helvetica Neue"/>
              </a:defRPr>
            </a:lvl8pPr>
            <a:lvl9pPr>
              <a:defRPr sz="1050" b="1">
                <a:solidFill>
                  <a:srgbClr val="237B82"/>
                </a:solidFill>
                <a:latin typeface="Helvetica Neue"/>
                <a:ea typeface="Helvetica Neue"/>
                <a:cs typeface="Helvetica Neue"/>
              </a:defRPr>
            </a:lvl9pPr>
          </a:lstStyle>
          <a:p xmlns:a="http://schemas.openxmlformats.org/drawingml/2006/main">
            <a:pPr>
              <a:defRPr sz="1050" b="1">
                <a:solidFill>
                  <a:srgbClr val="237B82"/>
                </a:solidFill>
                <a:latin typeface="Helvetica Neue"/>
                <a:ea typeface="Helvetica Neue"/>
                <a:cs typeface="Helvetica Neue"/>
              </a:defRPr>
            </a:pPr>
            <a:r>
              <a:rPr sz="1050" b="1">
                <a:solidFill>
                  <a:srgbClr val="237B82"/>
                </a:solidFill>
                <a:latin typeface="Helvetica Neue"/>
                <a:ea typeface="Helvetica Neue"/>
                <a:cs typeface="Helvetica Neue"/>
              </a:rPr>
              <a:t>Manual page 54</a:t>
            </a:r>
          </a:p>
        </p:txBody>
      </p:sp>
    </p:spTree>
    <p:extLst>
      <p:ext uri="{BB962C8B-B14F-4D97-AF65-F5344CB8AC3E}">
        <p14:creationId xmlns:p14="http://schemas.microsoft.com/office/powerpoint/2010/main" val="416355072"/>
      </p:ext>
    </p:extLst>
  </p:cSld>
</p:sld>
</file>

<file path=ppt/slides/slide28.xml><?xml version="1.0" encoding="utf-8"?>
<p:sld xmlns:p="http://schemas.openxmlformats.org/presentationml/2006/main">
  <p:cSld>
    <p:bg>
      <p:bgPr>
        <a:solidFill xmlns:a="http://schemas.openxmlformats.org/drawingml/2006/main">
          <a:srgbClr val="F7F4EE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CBB1AF47-C740-4744-BA2C-ED04514428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2095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37B82"/>
          </a:solidFill>
          <a:ln xmlns:a="http://schemas.openxmlformats.org/drawingml/2006/main" w="0">
            <a:solidFill>
              <a:srgbClr val="237B82"/>
            </a:solidFill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08489403-8230-4B94-BADB-7BE7F1129D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00050"/>
            <a:ext cx="10001250" cy="819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88426"/>
          </a:bodyPr>
          <a:lstStyle xmlns:a="http://schemas.openxmlformats.org/drawingml/2006/main">
            <a:defPPr>
              <a:defRPr sz="2700" b="1">
                <a:solidFill>
                  <a:srgbClr val="15324A"/>
                </a:solidFill>
                <a:latin typeface="Helvetica Neue"/>
                <a:ea typeface="Helvetica Neue"/>
                <a:cs typeface="Helvetica Neue"/>
              </a:defRPr>
            </a:defPPr>
            <a:lvl1pPr>
              <a:defRPr sz="2700" b="1">
                <a:solidFill>
                  <a:srgbClr val="15324A"/>
                </a:solidFill>
                <a:latin typeface="Helvetica Neue"/>
                <a:ea typeface="Helvetica Neue"/>
                <a:cs typeface="Helvetica Neue"/>
              </a:defRPr>
            </a:lvl1pPr>
            <a:lvl2pPr>
              <a:defRPr sz="2700" b="1">
                <a:solidFill>
                  <a:srgbClr val="15324A"/>
                </a:solidFill>
                <a:latin typeface="Helvetica Neue"/>
                <a:ea typeface="Helvetica Neue"/>
                <a:cs typeface="Helvetica Neue"/>
              </a:defRPr>
            </a:lvl2pPr>
            <a:lvl3pPr>
              <a:defRPr sz="2700" b="1">
                <a:solidFill>
                  <a:srgbClr val="15324A"/>
                </a:solidFill>
                <a:latin typeface="Helvetica Neue"/>
                <a:ea typeface="Helvetica Neue"/>
                <a:cs typeface="Helvetica Neue"/>
              </a:defRPr>
            </a:lvl3pPr>
            <a:lvl4pPr>
              <a:defRPr sz="2700" b="1">
                <a:solidFill>
                  <a:srgbClr val="15324A"/>
                </a:solidFill>
                <a:latin typeface="Helvetica Neue"/>
                <a:ea typeface="Helvetica Neue"/>
                <a:cs typeface="Helvetica Neue"/>
              </a:defRPr>
            </a:lvl4pPr>
            <a:lvl5pPr>
              <a:defRPr sz="2700" b="1">
                <a:solidFill>
                  <a:srgbClr val="15324A"/>
                </a:solidFill>
                <a:latin typeface="Helvetica Neue"/>
                <a:ea typeface="Helvetica Neue"/>
                <a:cs typeface="Helvetica Neue"/>
              </a:defRPr>
            </a:lvl5pPr>
            <a:lvl6pPr>
              <a:defRPr sz="2700" b="1">
                <a:solidFill>
                  <a:srgbClr val="15324A"/>
                </a:solidFill>
                <a:latin typeface="Helvetica Neue"/>
                <a:ea typeface="Helvetica Neue"/>
                <a:cs typeface="Helvetica Neue"/>
              </a:defRPr>
            </a:lvl6pPr>
            <a:lvl7pPr>
              <a:defRPr sz="2700" b="1">
                <a:solidFill>
                  <a:srgbClr val="15324A"/>
                </a:solidFill>
                <a:latin typeface="Helvetica Neue"/>
                <a:ea typeface="Helvetica Neue"/>
                <a:cs typeface="Helvetica Neue"/>
              </a:defRPr>
            </a:lvl7pPr>
            <a:lvl8pPr>
              <a:defRPr sz="2700" b="1">
                <a:solidFill>
                  <a:srgbClr val="15324A"/>
                </a:solidFill>
                <a:latin typeface="Helvetica Neue"/>
                <a:ea typeface="Helvetica Neue"/>
                <a:cs typeface="Helvetica Neue"/>
              </a:defRPr>
            </a:lvl8pPr>
            <a:lvl9pPr>
              <a:defRPr sz="2700" b="1">
                <a:solidFill>
                  <a:srgbClr val="15324A"/>
                </a:solidFill>
                <a:latin typeface="Helvetica Neue"/>
                <a:ea typeface="Helvetica Neue"/>
                <a:cs typeface="Helvetica Neue"/>
              </a:defRPr>
            </a:lvl9pPr>
          </a:lstStyle>
          <a:p xmlns:a="http://schemas.openxmlformats.org/drawingml/2006/main">
            <a:pPr>
              <a:defRPr sz="2700" b="1">
                <a:solidFill>
                  <a:srgbClr val="15324A"/>
                </a:solidFill>
                <a:latin typeface="Helvetica Neue"/>
                <a:ea typeface="Helvetica Neue"/>
                <a:cs typeface="Helvetica Neue"/>
              </a:defRPr>
            </a:pPr>
            <a:r>
              <a:rPr sz="2700" b="1">
                <a:solidFill>
                  <a:srgbClr val="15324A"/>
                </a:solidFill>
                <a:latin typeface="Helvetica Neue"/>
                <a:ea typeface="Helvetica Neue"/>
                <a:cs typeface="Helvetica Neue"/>
              </a:rPr>
              <a:t>Fresh Frozen Plasma - This product is indicated for the patient with inherited or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505F8FD3-5441-46AA-AD2F-D91937FB42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1257300"/>
            <a:ext cx="88582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91111"/>
          </a:bodyPr>
          <a:lstStyle xmlns:a="http://schemas.openxmlformats.org/drawingml/2006/main">
            <a:defPPr>
              <a:defRPr sz="1125" b="1">
                <a:solidFill>
                  <a:srgbClr val="237B82"/>
                </a:solidFill>
                <a:latin typeface="Helvetica Neue"/>
                <a:ea typeface="Helvetica Neue"/>
                <a:cs typeface="Helvetica Neue"/>
              </a:defRPr>
            </a:defPPr>
            <a:lvl1pPr>
              <a:defRPr sz="1125" b="1">
                <a:solidFill>
                  <a:srgbClr val="237B82"/>
                </a:solidFill>
                <a:latin typeface="Helvetica Neue"/>
                <a:ea typeface="Helvetica Neue"/>
                <a:cs typeface="Helvetica Neue"/>
              </a:defRPr>
            </a:lvl1pPr>
            <a:lvl2pPr>
              <a:defRPr sz="1125" b="1">
                <a:solidFill>
                  <a:srgbClr val="237B82"/>
                </a:solidFill>
                <a:latin typeface="Helvetica Neue"/>
                <a:ea typeface="Helvetica Neue"/>
                <a:cs typeface="Helvetica Neue"/>
              </a:defRPr>
            </a:lvl2pPr>
            <a:lvl3pPr>
              <a:defRPr sz="1125" b="1">
                <a:solidFill>
                  <a:srgbClr val="237B82"/>
                </a:solidFill>
                <a:latin typeface="Helvetica Neue"/>
                <a:ea typeface="Helvetica Neue"/>
                <a:cs typeface="Helvetica Neue"/>
              </a:defRPr>
            </a:lvl3pPr>
            <a:lvl4pPr>
              <a:defRPr sz="1125" b="1">
                <a:solidFill>
                  <a:srgbClr val="237B82"/>
                </a:solidFill>
                <a:latin typeface="Helvetica Neue"/>
                <a:ea typeface="Helvetica Neue"/>
                <a:cs typeface="Helvetica Neue"/>
              </a:defRPr>
            </a:lvl4pPr>
            <a:lvl5pPr>
              <a:defRPr sz="1125" b="1">
                <a:solidFill>
                  <a:srgbClr val="237B82"/>
                </a:solidFill>
                <a:latin typeface="Helvetica Neue"/>
                <a:ea typeface="Helvetica Neue"/>
                <a:cs typeface="Helvetica Neue"/>
              </a:defRPr>
            </a:lvl5pPr>
            <a:lvl6pPr>
              <a:defRPr sz="1125" b="1">
                <a:solidFill>
                  <a:srgbClr val="237B82"/>
                </a:solidFill>
                <a:latin typeface="Helvetica Neue"/>
                <a:ea typeface="Helvetica Neue"/>
                <a:cs typeface="Helvetica Neue"/>
              </a:defRPr>
            </a:lvl6pPr>
            <a:lvl7pPr>
              <a:defRPr sz="1125" b="1">
                <a:solidFill>
                  <a:srgbClr val="237B82"/>
                </a:solidFill>
                <a:latin typeface="Helvetica Neue"/>
                <a:ea typeface="Helvetica Neue"/>
                <a:cs typeface="Helvetica Neue"/>
              </a:defRPr>
            </a:lvl7pPr>
            <a:lvl8pPr>
              <a:defRPr sz="1125" b="1">
                <a:solidFill>
                  <a:srgbClr val="237B82"/>
                </a:solidFill>
                <a:latin typeface="Helvetica Neue"/>
                <a:ea typeface="Helvetica Neue"/>
                <a:cs typeface="Helvetica Neue"/>
              </a:defRPr>
            </a:lvl8pPr>
            <a:lvl9pPr>
              <a:defRPr sz="1125" b="1">
                <a:solidFill>
                  <a:srgbClr val="237B82"/>
                </a:solidFill>
                <a:latin typeface="Helvetica Neue"/>
                <a:ea typeface="Helvetica Neue"/>
                <a:cs typeface="Helvetica Neue"/>
              </a:defRPr>
            </a:lvl9pPr>
          </a:lstStyle>
          <a:p xmlns:a="http://schemas.openxmlformats.org/drawingml/2006/main">
            <a:pPr>
              <a:defRPr sz="1125" b="1">
                <a:solidFill>
                  <a:srgbClr val="237B82"/>
                </a:solidFill>
                <a:latin typeface="Helvetica Neue"/>
                <a:ea typeface="Helvetica Neue"/>
                <a:cs typeface="Helvetica Neue"/>
              </a:defRPr>
            </a:pPr>
            <a:r>
              <a:rPr sz="1125" b="1">
                <a:solidFill>
                  <a:srgbClr val="237B82"/>
                </a:solidFill>
                <a:latin typeface="Helvetica Neue"/>
                <a:ea typeface="Helvetica Neue"/>
                <a:cs typeface="Helvetica Neue"/>
              </a:rPr>
              <a:t>MODULE 4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325E1B64-8EAB-449A-8B8E-79E2C506FE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457200"/>
            <a:ext cx="5334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>
            <a:defPPr>
              <a:defRPr sz="1200" b="1">
                <a:solidFill>
                  <a:srgbClr val="237B82"/>
                </a:solidFill>
                <a:latin typeface="Helvetica Neue"/>
                <a:ea typeface="Helvetica Neue"/>
                <a:cs typeface="Helvetica Neue"/>
              </a:defRPr>
            </a:defPPr>
            <a:lvl1pPr>
              <a:defRPr sz="1200" b="1">
                <a:solidFill>
                  <a:srgbClr val="237B82"/>
                </a:solidFill>
                <a:latin typeface="Helvetica Neue"/>
                <a:ea typeface="Helvetica Neue"/>
                <a:cs typeface="Helvetica Neue"/>
              </a:defRPr>
            </a:lvl1pPr>
            <a:lvl2pPr>
              <a:defRPr sz="1200" b="1">
                <a:solidFill>
                  <a:srgbClr val="237B82"/>
                </a:solidFill>
                <a:latin typeface="Helvetica Neue"/>
                <a:ea typeface="Helvetica Neue"/>
                <a:cs typeface="Helvetica Neue"/>
              </a:defRPr>
            </a:lvl2pPr>
            <a:lvl3pPr>
              <a:defRPr sz="1200" b="1">
                <a:solidFill>
                  <a:srgbClr val="237B82"/>
                </a:solidFill>
                <a:latin typeface="Helvetica Neue"/>
                <a:ea typeface="Helvetica Neue"/>
                <a:cs typeface="Helvetica Neue"/>
              </a:defRPr>
            </a:lvl3pPr>
            <a:lvl4pPr>
              <a:defRPr sz="1200" b="1">
                <a:solidFill>
                  <a:srgbClr val="237B82"/>
                </a:solidFill>
                <a:latin typeface="Helvetica Neue"/>
                <a:ea typeface="Helvetica Neue"/>
                <a:cs typeface="Helvetica Neue"/>
              </a:defRPr>
            </a:lvl4pPr>
            <a:lvl5pPr>
              <a:defRPr sz="1200" b="1">
                <a:solidFill>
                  <a:srgbClr val="237B82"/>
                </a:solidFill>
                <a:latin typeface="Helvetica Neue"/>
                <a:ea typeface="Helvetica Neue"/>
                <a:cs typeface="Helvetica Neue"/>
              </a:defRPr>
            </a:lvl5pPr>
            <a:lvl6pPr>
              <a:defRPr sz="1200" b="1">
                <a:solidFill>
                  <a:srgbClr val="237B82"/>
                </a:solidFill>
                <a:latin typeface="Helvetica Neue"/>
                <a:ea typeface="Helvetica Neue"/>
                <a:cs typeface="Helvetica Neue"/>
              </a:defRPr>
            </a:lvl6pPr>
            <a:lvl7pPr>
              <a:defRPr sz="1200" b="1">
                <a:solidFill>
                  <a:srgbClr val="237B82"/>
                </a:solidFill>
                <a:latin typeface="Helvetica Neue"/>
                <a:ea typeface="Helvetica Neue"/>
                <a:cs typeface="Helvetica Neue"/>
              </a:defRPr>
            </a:lvl7pPr>
            <a:lvl8pPr>
              <a:defRPr sz="1200" b="1">
                <a:solidFill>
                  <a:srgbClr val="237B82"/>
                </a:solidFill>
                <a:latin typeface="Helvetica Neue"/>
                <a:ea typeface="Helvetica Neue"/>
                <a:cs typeface="Helvetica Neue"/>
              </a:defRPr>
            </a:lvl8pPr>
            <a:lvl9pPr>
              <a:defRPr sz="1200" b="1">
                <a:solidFill>
                  <a:srgbClr val="237B82"/>
                </a:solidFill>
                <a:latin typeface="Helvetica Neue"/>
                <a:ea typeface="Helvetica Neue"/>
                <a:cs typeface="Helvetica Neue"/>
              </a:defRPr>
            </a:lvl9pPr>
          </a:lstStyle>
          <a:p xmlns:a="http://schemas.openxmlformats.org/drawingml/2006/main">
            <a:pPr>
              <a:defRPr sz="1200" b="1">
                <a:solidFill>
                  <a:srgbClr val="237B82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00" b="1">
                <a:solidFill>
                  <a:srgbClr val="237B82"/>
                </a:solidFill>
                <a:latin typeface="Helvetica Neue"/>
                <a:ea typeface="Helvetica Neue"/>
                <a:cs typeface="Helvetica Neue"/>
              </a:rPr>
              <a:t>28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008796A1-EB03-40C0-8E10-0D3E1FFA90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1762125"/>
            <a:ext cx="10287000" cy="409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>
            <a:defPPr>
              <a:defRPr sz="1875">
                <a:solidFill>
                  <a:srgbClr val="13212D"/>
                </a:solidFill>
                <a:latin typeface="Helvetica Neue"/>
                <a:ea typeface="Helvetica Neue"/>
                <a:cs typeface="Helvetica Neue"/>
              </a:defRPr>
            </a:defPPr>
            <a:lvl1pPr>
              <a:defRPr sz="1875">
                <a:solidFill>
                  <a:srgbClr val="13212D"/>
                </a:solidFill>
                <a:latin typeface="Helvetica Neue"/>
                <a:ea typeface="Helvetica Neue"/>
                <a:cs typeface="Helvetica Neue"/>
              </a:defRPr>
            </a:lvl1pPr>
            <a:lvl2pPr>
              <a:defRPr sz="1875">
                <a:solidFill>
                  <a:srgbClr val="13212D"/>
                </a:solidFill>
                <a:latin typeface="Helvetica Neue"/>
                <a:ea typeface="Helvetica Neue"/>
                <a:cs typeface="Helvetica Neue"/>
              </a:defRPr>
            </a:lvl2pPr>
            <a:lvl3pPr>
              <a:defRPr sz="1875">
                <a:solidFill>
                  <a:srgbClr val="13212D"/>
                </a:solidFill>
                <a:latin typeface="Helvetica Neue"/>
                <a:ea typeface="Helvetica Neue"/>
                <a:cs typeface="Helvetica Neue"/>
              </a:defRPr>
            </a:lvl3pPr>
            <a:lvl4pPr>
              <a:defRPr sz="1875">
                <a:solidFill>
                  <a:srgbClr val="13212D"/>
                </a:solidFill>
                <a:latin typeface="Helvetica Neue"/>
                <a:ea typeface="Helvetica Neue"/>
                <a:cs typeface="Helvetica Neue"/>
              </a:defRPr>
            </a:lvl4pPr>
            <a:lvl5pPr>
              <a:defRPr sz="1875">
                <a:solidFill>
                  <a:srgbClr val="13212D"/>
                </a:solidFill>
                <a:latin typeface="Helvetica Neue"/>
                <a:ea typeface="Helvetica Neue"/>
                <a:cs typeface="Helvetica Neue"/>
              </a:defRPr>
            </a:lvl5pPr>
            <a:lvl6pPr>
              <a:defRPr sz="1875">
                <a:solidFill>
                  <a:srgbClr val="13212D"/>
                </a:solidFill>
                <a:latin typeface="Helvetica Neue"/>
                <a:ea typeface="Helvetica Neue"/>
                <a:cs typeface="Helvetica Neue"/>
              </a:defRPr>
            </a:lvl6pPr>
            <a:lvl7pPr>
              <a:defRPr sz="1875">
                <a:solidFill>
                  <a:srgbClr val="13212D"/>
                </a:solidFill>
                <a:latin typeface="Helvetica Neue"/>
                <a:ea typeface="Helvetica Neue"/>
                <a:cs typeface="Helvetica Neue"/>
              </a:defRPr>
            </a:lvl7pPr>
            <a:lvl8pPr>
              <a:defRPr sz="1875">
                <a:solidFill>
                  <a:srgbClr val="13212D"/>
                </a:solidFill>
                <a:latin typeface="Helvetica Neue"/>
                <a:ea typeface="Helvetica Neue"/>
                <a:cs typeface="Helvetica Neue"/>
              </a:defRPr>
            </a:lvl8pPr>
            <a:lvl9pPr>
              <a:defRPr sz="1875">
                <a:solidFill>
                  <a:srgbClr val="13212D"/>
                </a:solidFill>
                <a:latin typeface="Helvetica Neue"/>
                <a:ea typeface="Helvetica Neue"/>
                <a:cs typeface="Helvetica Neue"/>
              </a:defRPr>
            </a:lvl9pPr>
          </a:lstStyle>
          <a:p xmlns:a="http://schemas.openxmlformats.org/drawingml/2006/main">
            <a:pPr marL="279400" indent="-127000">
              <a:spcAft>
                <a:spcPts val="1300"/>
              </a:spcAft>
              <a:buChar char="•"/>
              <a:defRPr sz="1875">
                <a:solidFill>
                  <a:srgbClr val="13212D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75">
                <a:solidFill>
                  <a:srgbClr val="13212D"/>
                </a:solidFill>
                <a:latin typeface="Helvetica Neue"/>
                <a:ea typeface="Helvetica Neue"/>
                <a:cs typeface="Helvetica Neue"/>
              </a:rPr>
              <a:t>Plasma - The liquid portion of the whole blood that remains after the removal of red blood cells is plasma.</a:t>
            </a:r>
          </a:p>
          <a:p xmlns:a="http://schemas.openxmlformats.org/drawingml/2006/main">
            <a:pPr marL="279400" indent="-127000">
              <a:spcAft>
                <a:spcPts val="1300"/>
              </a:spcAft>
              <a:buChar char="•"/>
              <a:defRPr sz="1875">
                <a:solidFill>
                  <a:srgbClr val="13212D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75">
                <a:solidFill>
                  <a:srgbClr val="13212D"/>
                </a:solidFill>
                <a:latin typeface="Helvetica Neue"/>
                <a:ea typeface="Helvetica Neue"/>
                <a:cs typeface="Helvetica Neue"/>
              </a:rPr>
              <a:t>Plasma is separated from whole blood utilizing a closed system, culture and visual inspection is performed to assure sterility.</a:t>
            </a:r>
          </a:p>
          <a:p xmlns:a="http://schemas.openxmlformats.org/drawingml/2006/main">
            <a:pPr marL="279400" indent="-127000">
              <a:spcAft>
                <a:spcPts val="1300"/>
              </a:spcAft>
              <a:buChar char="•"/>
              <a:defRPr sz="1875">
                <a:solidFill>
                  <a:srgbClr val="13212D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75">
                <a:solidFill>
                  <a:srgbClr val="13212D"/>
                </a:solidFill>
                <a:latin typeface="Helvetica Neue"/>
                <a:ea typeface="Helvetica Neue"/>
                <a:cs typeface="Helvetica Neue"/>
              </a:rPr>
              <a:t>Liquid stored plasma provides the patient with plasma proteins, important in the treatment of burn patients, it prevents shock while not overloading the circulation volumetrically.</a:t>
            </a:r>
          </a:p>
          <a:p xmlns:a="http://schemas.openxmlformats.org/drawingml/2006/main">
            <a:pPr marL="279400" indent="-127000">
              <a:spcAft>
                <a:spcPts val="1300"/>
              </a:spcAft>
              <a:buChar char="•"/>
              <a:defRPr sz="1875">
                <a:solidFill>
                  <a:srgbClr val="13212D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75">
                <a:solidFill>
                  <a:srgbClr val="13212D"/>
                </a:solidFill>
                <a:latin typeface="Helvetica Neue"/>
                <a:ea typeface="Helvetica Neue"/>
                <a:cs typeface="Helvetica Neue"/>
              </a:rPr>
              <a:t>Plasma can transmit the Hepatitis virus, therefore, single donor plasma is preferred.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847EA072-3973-4578-A654-C845B06214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6115050"/>
            <a:ext cx="101917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>
            <a:defPPr>
              <a:defRPr sz="1125" b="1">
                <a:solidFill>
                  <a:srgbClr val="B94F3D"/>
                </a:solidFill>
                <a:latin typeface="Helvetica Neue"/>
                <a:ea typeface="Helvetica Neue"/>
                <a:cs typeface="Helvetica Neue"/>
              </a:defRPr>
            </a:defPPr>
            <a:lvl1pPr>
              <a:defRPr sz="1125" b="1">
                <a:solidFill>
                  <a:srgbClr val="B94F3D"/>
                </a:solidFill>
                <a:latin typeface="Helvetica Neue"/>
                <a:ea typeface="Helvetica Neue"/>
                <a:cs typeface="Helvetica Neue"/>
              </a:defRPr>
            </a:lvl1pPr>
            <a:lvl2pPr>
              <a:defRPr sz="1125" b="1">
                <a:solidFill>
                  <a:srgbClr val="B94F3D"/>
                </a:solidFill>
                <a:latin typeface="Helvetica Neue"/>
                <a:ea typeface="Helvetica Neue"/>
                <a:cs typeface="Helvetica Neue"/>
              </a:defRPr>
            </a:lvl2pPr>
            <a:lvl3pPr>
              <a:defRPr sz="1125" b="1">
                <a:solidFill>
                  <a:srgbClr val="B94F3D"/>
                </a:solidFill>
                <a:latin typeface="Helvetica Neue"/>
                <a:ea typeface="Helvetica Neue"/>
                <a:cs typeface="Helvetica Neue"/>
              </a:defRPr>
            </a:lvl3pPr>
            <a:lvl4pPr>
              <a:defRPr sz="1125" b="1">
                <a:solidFill>
                  <a:srgbClr val="B94F3D"/>
                </a:solidFill>
                <a:latin typeface="Helvetica Neue"/>
                <a:ea typeface="Helvetica Neue"/>
                <a:cs typeface="Helvetica Neue"/>
              </a:defRPr>
            </a:lvl4pPr>
            <a:lvl5pPr>
              <a:defRPr sz="1125" b="1">
                <a:solidFill>
                  <a:srgbClr val="B94F3D"/>
                </a:solidFill>
                <a:latin typeface="Helvetica Neue"/>
                <a:ea typeface="Helvetica Neue"/>
                <a:cs typeface="Helvetica Neue"/>
              </a:defRPr>
            </a:lvl5pPr>
            <a:lvl6pPr>
              <a:defRPr sz="1125" b="1">
                <a:solidFill>
                  <a:srgbClr val="B94F3D"/>
                </a:solidFill>
                <a:latin typeface="Helvetica Neue"/>
                <a:ea typeface="Helvetica Neue"/>
                <a:cs typeface="Helvetica Neue"/>
              </a:defRPr>
            </a:lvl6pPr>
            <a:lvl7pPr>
              <a:defRPr sz="1125" b="1">
                <a:solidFill>
                  <a:srgbClr val="B94F3D"/>
                </a:solidFill>
                <a:latin typeface="Helvetica Neue"/>
                <a:ea typeface="Helvetica Neue"/>
                <a:cs typeface="Helvetica Neue"/>
              </a:defRPr>
            </a:lvl7pPr>
            <a:lvl8pPr>
              <a:defRPr sz="1125" b="1">
                <a:solidFill>
                  <a:srgbClr val="B94F3D"/>
                </a:solidFill>
                <a:latin typeface="Helvetica Neue"/>
                <a:ea typeface="Helvetica Neue"/>
                <a:cs typeface="Helvetica Neue"/>
              </a:defRPr>
            </a:lvl8pPr>
            <a:lvl9pPr>
              <a:defRPr sz="1125" b="1">
                <a:solidFill>
                  <a:srgbClr val="B94F3D"/>
                </a:solidFill>
                <a:latin typeface="Helvetica Neue"/>
                <a:ea typeface="Helvetica Neue"/>
                <a:cs typeface="Helvetica Neue"/>
              </a:defRPr>
            </a:lvl9pPr>
          </a:lstStyle>
          <a:p xmlns:a="http://schemas.openxmlformats.org/drawingml/2006/main">
            <a:pPr>
              <a:defRPr sz="1125" b="1">
                <a:solidFill>
                  <a:srgbClr val="B94F3D"/>
                </a:solidFill>
                <a:latin typeface="Helvetica Neue"/>
                <a:ea typeface="Helvetica Neue"/>
                <a:cs typeface="Helvetica Neue"/>
              </a:defRPr>
            </a:pPr>
            <a:r>
              <a:rPr sz="1125" b="1">
                <a:solidFill>
                  <a:srgbClr val="B94F3D"/>
                </a:solidFill>
                <a:latin typeface="Helvetica Neue"/>
                <a:ea typeface="Helvetica Neue"/>
                <a:cs typeface="Helvetica Neue"/>
              </a:rPr>
              <a:t>Use current orders, facility policy, and authorized scope when applying this information.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D5CCE223-E397-4F5D-B70D-64E70649CD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5772150"/>
            <a:ext cx="101917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97619"/>
          </a:bodyPr>
          <a:lstStyle xmlns:a="http://schemas.openxmlformats.org/drawingml/2006/main">
            <a:defPPr>
              <a:defRPr sz="1050" b="1">
                <a:solidFill>
                  <a:srgbClr val="237B82"/>
                </a:solidFill>
                <a:latin typeface="Helvetica Neue"/>
                <a:ea typeface="Helvetica Neue"/>
                <a:cs typeface="Helvetica Neue"/>
              </a:defRPr>
            </a:defPPr>
            <a:lvl1pPr>
              <a:defRPr sz="1050" b="1">
                <a:solidFill>
                  <a:srgbClr val="237B82"/>
                </a:solidFill>
                <a:latin typeface="Helvetica Neue"/>
                <a:ea typeface="Helvetica Neue"/>
                <a:cs typeface="Helvetica Neue"/>
              </a:defRPr>
            </a:lvl1pPr>
            <a:lvl2pPr>
              <a:defRPr sz="1050" b="1">
                <a:solidFill>
                  <a:srgbClr val="237B82"/>
                </a:solidFill>
                <a:latin typeface="Helvetica Neue"/>
                <a:ea typeface="Helvetica Neue"/>
                <a:cs typeface="Helvetica Neue"/>
              </a:defRPr>
            </a:lvl2pPr>
            <a:lvl3pPr>
              <a:defRPr sz="1050" b="1">
                <a:solidFill>
                  <a:srgbClr val="237B82"/>
                </a:solidFill>
                <a:latin typeface="Helvetica Neue"/>
                <a:ea typeface="Helvetica Neue"/>
                <a:cs typeface="Helvetica Neue"/>
              </a:defRPr>
            </a:lvl3pPr>
            <a:lvl4pPr>
              <a:defRPr sz="1050" b="1">
                <a:solidFill>
                  <a:srgbClr val="237B82"/>
                </a:solidFill>
                <a:latin typeface="Helvetica Neue"/>
                <a:ea typeface="Helvetica Neue"/>
                <a:cs typeface="Helvetica Neue"/>
              </a:defRPr>
            </a:lvl4pPr>
            <a:lvl5pPr>
              <a:defRPr sz="1050" b="1">
                <a:solidFill>
                  <a:srgbClr val="237B82"/>
                </a:solidFill>
                <a:latin typeface="Helvetica Neue"/>
                <a:ea typeface="Helvetica Neue"/>
                <a:cs typeface="Helvetica Neue"/>
              </a:defRPr>
            </a:lvl5pPr>
            <a:lvl6pPr>
              <a:defRPr sz="1050" b="1">
                <a:solidFill>
                  <a:srgbClr val="237B82"/>
                </a:solidFill>
                <a:latin typeface="Helvetica Neue"/>
                <a:ea typeface="Helvetica Neue"/>
                <a:cs typeface="Helvetica Neue"/>
              </a:defRPr>
            </a:lvl6pPr>
            <a:lvl7pPr>
              <a:defRPr sz="1050" b="1">
                <a:solidFill>
                  <a:srgbClr val="237B82"/>
                </a:solidFill>
                <a:latin typeface="Helvetica Neue"/>
                <a:ea typeface="Helvetica Neue"/>
                <a:cs typeface="Helvetica Neue"/>
              </a:defRPr>
            </a:lvl7pPr>
            <a:lvl8pPr>
              <a:defRPr sz="1050" b="1">
                <a:solidFill>
                  <a:srgbClr val="237B82"/>
                </a:solidFill>
                <a:latin typeface="Helvetica Neue"/>
                <a:ea typeface="Helvetica Neue"/>
                <a:cs typeface="Helvetica Neue"/>
              </a:defRPr>
            </a:lvl8pPr>
            <a:lvl9pPr>
              <a:defRPr sz="1050" b="1">
                <a:solidFill>
                  <a:srgbClr val="237B82"/>
                </a:solidFill>
                <a:latin typeface="Helvetica Neue"/>
                <a:ea typeface="Helvetica Neue"/>
                <a:cs typeface="Helvetica Neue"/>
              </a:defRPr>
            </a:lvl9pPr>
          </a:lstStyle>
          <a:p xmlns:a="http://schemas.openxmlformats.org/drawingml/2006/main">
            <a:pPr>
              <a:defRPr sz="1050" b="1">
                <a:solidFill>
                  <a:srgbClr val="237B82"/>
                </a:solidFill>
                <a:latin typeface="Helvetica Neue"/>
                <a:ea typeface="Helvetica Neue"/>
                <a:cs typeface="Helvetica Neue"/>
              </a:defRPr>
            </a:pPr>
            <a:r>
              <a:rPr sz="1050" b="1">
                <a:solidFill>
                  <a:srgbClr val="237B82"/>
                </a:solidFill>
                <a:latin typeface="Helvetica Neue"/>
                <a:ea typeface="Helvetica Neue"/>
                <a:cs typeface="Helvetica Neue"/>
              </a:rPr>
              <a:t>Manual page 55</a:t>
            </a:r>
          </a:p>
        </p:txBody>
      </p:sp>
    </p:spTree>
    <p:extLst>
      <p:ext uri="{BB962C8B-B14F-4D97-AF65-F5344CB8AC3E}">
        <p14:creationId xmlns:p14="http://schemas.microsoft.com/office/powerpoint/2010/main" val="903571106"/>
      </p:ext>
    </p:extLst>
  </p:cSld>
</p:sld>
</file>

<file path=ppt/slides/slide29.xml><?xml version="1.0" encoding="utf-8"?>
<p:sld xmlns:p="http://schemas.openxmlformats.org/presentationml/2006/main">
  <p:cSld>
    <p:bg>
      <p:bgPr>
        <a:solidFill xmlns:a="http://schemas.openxmlformats.org/drawingml/2006/main">
          <a:srgbClr val="F7F4EE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11035C34-26F2-4D6C-8D25-D3D5F0ECBE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2095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37B82"/>
          </a:solidFill>
          <a:ln xmlns:a="http://schemas.openxmlformats.org/drawingml/2006/main" w="0">
            <a:solidFill>
              <a:srgbClr val="237B82"/>
            </a:solidFill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B32F8F57-42FB-4835-8BC5-8FAE39642B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00050"/>
            <a:ext cx="10001250" cy="819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88426"/>
          </a:bodyPr>
          <a:lstStyle xmlns:a="http://schemas.openxmlformats.org/drawingml/2006/main">
            <a:defPPr>
              <a:defRPr sz="2700" b="1">
                <a:solidFill>
                  <a:srgbClr val="15324A"/>
                </a:solidFill>
                <a:latin typeface="Helvetica Neue"/>
                <a:ea typeface="Helvetica Neue"/>
                <a:cs typeface="Helvetica Neue"/>
              </a:defRPr>
            </a:defPPr>
            <a:lvl1pPr>
              <a:defRPr sz="2700" b="1">
                <a:solidFill>
                  <a:srgbClr val="15324A"/>
                </a:solidFill>
                <a:latin typeface="Helvetica Neue"/>
                <a:ea typeface="Helvetica Neue"/>
                <a:cs typeface="Helvetica Neue"/>
              </a:defRPr>
            </a:lvl1pPr>
            <a:lvl2pPr>
              <a:defRPr sz="2700" b="1">
                <a:solidFill>
                  <a:srgbClr val="15324A"/>
                </a:solidFill>
                <a:latin typeface="Helvetica Neue"/>
                <a:ea typeface="Helvetica Neue"/>
                <a:cs typeface="Helvetica Neue"/>
              </a:defRPr>
            </a:lvl2pPr>
            <a:lvl3pPr>
              <a:defRPr sz="2700" b="1">
                <a:solidFill>
                  <a:srgbClr val="15324A"/>
                </a:solidFill>
                <a:latin typeface="Helvetica Neue"/>
                <a:ea typeface="Helvetica Neue"/>
                <a:cs typeface="Helvetica Neue"/>
              </a:defRPr>
            </a:lvl3pPr>
            <a:lvl4pPr>
              <a:defRPr sz="2700" b="1">
                <a:solidFill>
                  <a:srgbClr val="15324A"/>
                </a:solidFill>
                <a:latin typeface="Helvetica Neue"/>
                <a:ea typeface="Helvetica Neue"/>
                <a:cs typeface="Helvetica Neue"/>
              </a:defRPr>
            </a:lvl4pPr>
            <a:lvl5pPr>
              <a:defRPr sz="2700" b="1">
                <a:solidFill>
                  <a:srgbClr val="15324A"/>
                </a:solidFill>
                <a:latin typeface="Helvetica Neue"/>
                <a:ea typeface="Helvetica Neue"/>
                <a:cs typeface="Helvetica Neue"/>
              </a:defRPr>
            </a:lvl5pPr>
            <a:lvl6pPr>
              <a:defRPr sz="2700" b="1">
                <a:solidFill>
                  <a:srgbClr val="15324A"/>
                </a:solidFill>
                <a:latin typeface="Helvetica Neue"/>
                <a:ea typeface="Helvetica Neue"/>
                <a:cs typeface="Helvetica Neue"/>
              </a:defRPr>
            </a:lvl6pPr>
            <a:lvl7pPr>
              <a:defRPr sz="2700" b="1">
                <a:solidFill>
                  <a:srgbClr val="15324A"/>
                </a:solidFill>
                <a:latin typeface="Helvetica Neue"/>
                <a:ea typeface="Helvetica Neue"/>
                <a:cs typeface="Helvetica Neue"/>
              </a:defRPr>
            </a:lvl7pPr>
            <a:lvl8pPr>
              <a:defRPr sz="2700" b="1">
                <a:solidFill>
                  <a:srgbClr val="15324A"/>
                </a:solidFill>
                <a:latin typeface="Helvetica Neue"/>
                <a:ea typeface="Helvetica Neue"/>
                <a:cs typeface="Helvetica Neue"/>
              </a:defRPr>
            </a:lvl8pPr>
            <a:lvl9pPr>
              <a:defRPr sz="2700" b="1">
                <a:solidFill>
                  <a:srgbClr val="15324A"/>
                </a:solidFill>
                <a:latin typeface="Helvetica Neue"/>
                <a:ea typeface="Helvetica Neue"/>
                <a:cs typeface="Helvetica Neue"/>
              </a:defRPr>
            </a:lvl9pPr>
          </a:lstStyle>
          <a:p xmlns:a="http://schemas.openxmlformats.org/drawingml/2006/main">
            <a:pPr>
              <a:defRPr sz="2700" b="1">
                <a:solidFill>
                  <a:srgbClr val="15324A"/>
                </a:solidFill>
                <a:latin typeface="Helvetica Neue"/>
                <a:ea typeface="Helvetica Neue"/>
                <a:cs typeface="Helvetica Neue"/>
              </a:defRPr>
            </a:pPr>
            <a:r>
              <a:rPr sz="2700" b="1">
                <a:solidFill>
                  <a:srgbClr val="15324A"/>
                </a:solidFill>
                <a:latin typeface="Helvetica Neue"/>
                <a:ea typeface="Helvetica Neue"/>
                <a:cs typeface="Helvetica Neue"/>
              </a:rPr>
              <a:t>Fresh Frozen Plasma - This product is indicated for the patient with inherited or — continued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A8DE8374-5383-4A66-8ADE-709763CFBB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1257300"/>
            <a:ext cx="88582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91111"/>
          </a:bodyPr>
          <a:lstStyle xmlns:a="http://schemas.openxmlformats.org/drawingml/2006/main">
            <a:defPPr>
              <a:defRPr sz="1125" b="1">
                <a:solidFill>
                  <a:srgbClr val="237B82"/>
                </a:solidFill>
                <a:latin typeface="Helvetica Neue"/>
                <a:ea typeface="Helvetica Neue"/>
                <a:cs typeface="Helvetica Neue"/>
              </a:defRPr>
            </a:defPPr>
            <a:lvl1pPr>
              <a:defRPr sz="1125" b="1">
                <a:solidFill>
                  <a:srgbClr val="237B82"/>
                </a:solidFill>
                <a:latin typeface="Helvetica Neue"/>
                <a:ea typeface="Helvetica Neue"/>
                <a:cs typeface="Helvetica Neue"/>
              </a:defRPr>
            </a:lvl1pPr>
            <a:lvl2pPr>
              <a:defRPr sz="1125" b="1">
                <a:solidFill>
                  <a:srgbClr val="237B82"/>
                </a:solidFill>
                <a:latin typeface="Helvetica Neue"/>
                <a:ea typeface="Helvetica Neue"/>
                <a:cs typeface="Helvetica Neue"/>
              </a:defRPr>
            </a:lvl2pPr>
            <a:lvl3pPr>
              <a:defRPr sz="1125" b="1">
                <a:solidFill>
                  <a:srgbClr val="237B82"/>
                </a:solidFill>
                <a:latin typeface="Helvetica Neue"/>
                <a:ea typeface="Helvetica Neue"/>
                <a:cs typeface="Helvetica Neue"/>
              </a:defRPr>
            </a:lvl3pPr>
            <a:lvl4pPr>
              <a:defRPr sz="1125" b="1">
                <a:solidFill>
                  <a:srgbClr val="237B82"/>
                </a:solidFill>
                <a:latin typeface="Helvetica Neue"/>
                <a:ea typeface="Helvetica Neue"/>
                <a:cs typeface="Helvetica Neue"/>
              </a:defRPr>
            </a:lvl4pPr>
            <a:lvl5pPr>
              <a:defRPr sz="1125" b="1">
                <a:solidFill>
                  <a:srgbClr val="237B82"/>
                </a:solidFill>
                <a:latin typeface="Helvetica Neue"/>
                <a:ea typeface="Helvetica Neue"/>
                <a:cs typeface="Helvetica Neue"/>
              </a:defRPr>
            </a:lvl5pPr>
            <a:lvl6pPr>
              <a:defRPr sz="1125" b="1">
                <a:solidFill>
                  <a:srgbClr val="237B82"/>
                </a:solidFill>
                <a:latin typeface="Helvetica Neue"/>
                <a:ea typeface="Helvetica Neue"/>
                <a:cs typeface="Helvetica Neue"/>
              </a:defRPr>
            </a:lvl6pPr>
            <a:lvl7pPr>
              <a:defRPr sz="1125" b="1">
                <a:solidFill>
                  <a:srgbClr val="237B82"/>
                </a:solidFill>
                <a:latin typeface="Helvetica Neue"/>
                <a:ea typeface="Helvetica Neue"/>
                <a:cs typeface="Helvetica Neue"/>
              </a:defRPr>
            </a:lvl7pPr>
            <a:lvl8pPr>
              <a:defRPr sz="1125" b="1">
                <a:solidFill>
                  <a:srgbClr val="237B82"/>
                </a:solidFill>
                <a:latin typeface="Helvetica Neue"/>
                <a:ea typeface="Helvetica Neue"/>
                <a:cs typeface="Helvetica Neue"/>
              </a:defRPr>
            </a:lvl8pPr>
            <a:lvl9pPr>
              <a:defRPr sz="1125" b="1">
                <a:solidFill>
                  <a:srgbClr val="237B82"/>
                </a:solidFill>
                <a:latin typeface="Helvetica Neue"/>
                <a:ea typeface="Helvetica Neue"/>
                <a:cs typeface="Helvetica Neue"/>
              </a:defRPr>
            </a:lvl9pPr>
          </a:lstStyle>
          <a:p xmlns:a="http://schemas.openxmlformats.org/drawingml/2006/main">
            <a:pPr>
              <a:defRPr sz="1125" b="1">
                <a:solidFill>
                  <a:srgbClr val="237B82"/>
                </a:solidFill>
                <a:latin typeface="Helvetica Neue"/>
                <a:ea typeface="Helvetica Neue"/>
                <a:cs typeface="Helvetica Neue"/>
              </a:defRPr>
            </a:pPr>
            <a:r>
              <a:rPr sz="1125" b="1">
                <a:solidFill>
                  <a:srgbClr val="237B82"/>
                </a:solidFill>
                <a:latin typeface="Helvetica Neue"/>
                <a:ea typeface="Helvetica Neue"/>
                <a:cs typeface="Helvetica Neue"/>
              </a:rPr>
              <a:t>MODULE 4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55F464B5-C9DF-400B-9306-F1B5EC3579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457200"/>
            <a:ext cx="5334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>
            <a:defPPr>
              <a:defRPr sz="1200" b="1">
                <a:solidFill>
                  <a:srgbClr val="237B82"/>
                </a:solidFill>
                <a:latin typeface="Helvetica Neue"/>
                <a:ea typeface="Helvetica Neue"/>
                <a:cs typeface="Helvetica Neue"/>
              </a:defRPr>
            </a:defPPr>
            <a:lvl1pPr>
              <a:defRPr sz="1200" b="1">
                <a:solidFill>
                  <a:srgbClr val="237B82"/>
                </a:solidFill>
                <a:latin typeface="Helvetica Neue"/>
                <a:ea typeface="Helvetica Neue"/>
                <a:cs typeface="Helvetica Neue"/>
              </a:defRPr>
            </a:lvl1pPr>
            <a:lvl2pPr>
              <a:defRPr sz="1200" b="1">
                <a:solidFill>
                  <a:srgbClr val="237B82"/>
                </a:solidFill>
                <a:latin typeface="Helvetica Neue"/>
                <a:ea typeface="Helvetica Neue"/>
                <a:cs typeface="Helvetica Neue"/>
              </a:defRPr>
            </a:lvl2pPr>
            <a:lvl3pPr>
              <a:defRPr sz="1200" b="1">
                <a:solidFill>
                  <a:srgbClr val="237B82"/>
                </a:solidFill>
                <a:latin typeface="Helvetica Neue"/>
                <a:ea typeface="Helvetica Neue"/>
                <a:cs typeface="Helvetica Neue"/>
              </a:defRPr>
            </a:lvl3pPr>
            <a:lvl4pPr>
              <a:defRPr sz="1200" b="1">
                <a:solidFill>
                  <a:srgbClr val="237B82"/>
                </a:solidFill>
                <a:latin typeface="Helvetica Neue"/>
                <a:ea typeface="Helvetica Neue"/>
                <a:cs typeface="Helvetica Neue"/>
              </a:defRPr>
            </a:lvl4pPr>
            <a:lvl5pPr>
              <a:defRPr sz="1200" b="1">
                <a:solidFill>
                  <a:srgbClr val="237B82"/>
                </a:solidFill>
                <a:latin typeface="Helvetica Neue"/>
                <a:ea typeface="Helvetica Neue"/>
                <a:cs typeface="Helvetica Neue"/>
              </a:defRPr>
            </a:lvl5pPr>
            <a:lvl6pPr>
              <a:defRPr sz="1200" b="1">
                <a:solidFill>
                  <a:srgbClr val="237B82"/>
                </a:solidFill>
                <a:latin typeface="Helvetica Neue"/>
                <a:ea typeface="Helvetica Neue"/>
                <a:cs typeface="Helvetica Neue"/>
              </a:defRPr>
            </a:lvl6pPr>
            <a:lvl7pPr>
              <a:defRPr sz="1200" b="1">
                <a:solidFill>
                  <a:srgbClr val="237B82"/>
                </a:solidFill>
                <a:latin typeface="Helvetica Neue"/>
                <a:ea typeface="Helvetica Neue"/>
                <a:cs typeface="Helvetica Neue"/>
              </a:defRPr>
            </a:lvl7pPr>
            <a:lvl8pPr>
              <a:defRPr sz="1200" b="1">
                <a:solidFill>
                  <a:srgbClr val="237B82"/>
                </a:solidFill>
                <a:latin typeface="Helvetica Neue"/>
                <a:ea typeface="Helvetica Neue"/>
                <a:cs typeface="Helvetica Neue"/>
              </a:defRPr>
            </a:lvl8pPr>
            <a:lvl9pPr>
              <a:defRPr sz="1200" b="1">
                <a:solidFill>
                  <a:srgbClr val="237B82"/>
                </a:solidFill>
                <a:latin typeface="Helvetica Neue"/>
                <a:ea typeface="Helvetica Neue"/>
                <a:cs typeface="Helvetica Neue"/>
              </a:defRPr>
            </a:lvl9pPr>
          </a:lstStyle>
          <a:p xmlns:a="http://schemas.openxmlformats.org/drawingml/2006/main">
            <a:pPr>
              <a:defRPr sz="1200" b="1">
                <a:solidFill>
                  <a:srgbClr val="237B82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00" b="1">
                <a:solidFill>
                  <a:srgbClr val="237B82"/>
                </a:solidFill>
                <a:latin typeface="Helvetica Neue"/>
                <a:ea typeface="Helvetica Neue"/>
                <a:cs typeface="Helvetica Neue"/>
              </a:rPr>
              <a:t>29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72C15678-BE54-4A74-867B-46250806A4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1762125"/>
            <a:ext cx="10287000" cy="409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>
            <a:defPPr>
              <a:defRPr sz="1875">
                <a:solidFill>
                  <a:srgbClr val="13212D"/>
                </a:solidFill>
                <a:latin typeface="Helvetica Neue"/>
                <a:ea typeface="Helvetica Neue"/>
                <a:cs typeface="Helvetica Neue"/>
              </a:defRPr>
            </a:defPPr>
            <a:lvl1pPr>
              <a:defRPr sz="1875">
                <a:solidFill>
                  <a:srgbClr val="13212D"/>
                </a:solidFill>
                <a:latin typeface="Helvetica Neue"/>
                <a:ea typeface="Helvetica Neue"/>
                <a:cs typeface="Helvetica Neue"/>
              </a:defRPr>
            </a:lvl1pPr>
            <a:lvl2pPr>
              <a:defRPr sz="1875">
                <a:solidFill>
                  <a:srgbClr val="13212D"/>
                </a:solidFill>
                <a:latin typeface="Helvetica Neue"/>
                <a:ea typeface="Helvetica Neue"/>
                <a:cs typeface="Helvetica Neue"/>
              </a:defRPr>
            </a:lvl2pPr>
            <a:lvl3pPr>
              <a:defRPr sz="1875">
                <a:solidFill>
                  <a:srgbClr val="13212D"/>
                </a:solidFill>
                <a:latin typeface="Helvetica Neue"/>
                <a:ea typeface="Helvetica Neue"/>
                <a:cs typeface="Helvetica Neue"/>
              </a:defRPr>
            </a:lvl3pPr>
            <a:lvl4pPr>
              <a:defRPr sz="1875">
                <a:solidFill>
                  <a:srgbClr val="13212D"/>
                </a:solidFill>
                <a:latin typeface="Helvetica Neue"/>
                <a:ea typeface="Helvetica Neue"/>
                <a:cs typeface="Helvetica Neue"/>
              </a:defRPr>
            </a:lvl4pPr>
            <a:lvl5pPr>
              <a:defRPr sz="1875">
                <a:solidFill>
                  <a:srgbClr val="13212D"/>
                </a:solidFill>
                <a:latin typeface="Helvetica Neue"/>
                <a:ea typeface="Helvetica Neue"/>
                <a:cs typeface="Helvetica Neue"/>
              </a:defRPr>
            </a:lvl5pPr>
            <a:lvl6pPr>
              <a:defRPr sz="1875">
                <a:solidFill>
                  <a:srgbClr val="13212D"/>
                </a:solidFill>
                <a:latin typeface="Helvetica Neue"/>
                <a:ea typeface="Helvetica Neue"/>
                <a:cs typeface="Helvetica Neue"/>
              </a:defRPr>
            </a:lvl6pPr>
            <a:lvl7pPr>
              <a:defRPr sz="1875">
                <a:solidFill>
                  <a:srgbClr val="13212D"/>
                </a:solidFill>
                <a:latin typeface="Helvetica Neue"/>
                <a:ea typeface="Helvetica Neue"/>
                <a:cs typeface="Helvetica Neue"/>
              </a:defRPr>
            </a:lvl7pPr>
            <a:lvl8pPr>
              <a:defRPr sz="1875">
                <a:solidFill>
                  <a:srgbClr val="13212D"/>
                </a:solidFill>
                <a:latin typeface="Helvetica Neue"/>
                <a:ea typeface="Helvetica Neue"/>
                <a:cs typeface="Helvetica Neue"/>
              </a:defRPr>
            </a:lvl8pPr>
            <a:lvl9pPr>
              <a:defRPr sz="1875">
                <a:solidFill>
                  <a:srgbClr val="13212D"/>
                </a:solidFill>
                <a:latin typeface="Helvetica Neue"/>
                <a:ea typeface="Helvetica Neue"/>
                <a:cs typeface="Helvetica Neue"/>
              </a:defRPr>
            </a:lvl9pPr>
          </a:lstStyle>
          <a:p xmlns:a="http://schemas.openxmlformats.org/drawingml/2006/main">
            <a:pPr marL="279400" indent="-127000">
              <a:spcAft>
                <a:spcPts val="1300"/>
              </a:spcAft>
              <a:buChar char="•"/>
              <a:defRPr sz="1875">
                <a:solidFill>
                  <a:srgbClr val="13212D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75">
                <a:solidFill>
                  <a:srgbClr val="13212D"/>
                </a:solidFill>
                <a:latin typeface="Helvetica Neue"/>
                <a:ea typeface="Helvetica Neue"/>
                <a:cs typeface="Helvetica Neue"/>
              </a:rPr>
              <a:t>Fresh Frozen Plasma - This product is indicated for the patient with inherited or acquired coagulation disorders.</a:t>
            </a:r>
          </a:p>
          <a:p xmlns:a="http://schemas.openxmlformats.org/drawingml/2006/main">
            <a:pPr marL="279400" indent="-127000">
              <a:spcAft>
                <a:spcPts val="1300"/>
              </a:spcAft>
              <a:buChar char="•"/>
              <a:defRPr sz="1875">
                <a:solidFill>
                  <a:srgbClr val="13212D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75">
                <a:solidFill>
                  <a:srgbClr val="13212D"/>
                </a:solidFill>
                <a:latin typeface="Helvetica Neue"/>
                <a:ea typeface="Helvetica Neue"/>
                <a:cs typeface="Helvetica Neue"/>
              </a:rPr>
              <a:t>The plasma is separated from the red cells and frozen, preserving the clotting factors.</a:t>
            </a:r>
          </a:p>
          <a:p xmlns:a="http://schemas.openxmlformats.org/drawingml/2006/main">
            <a:pPr marL="279400" indent="-127000">
              <a:spcAft>
                <a:spcPts val="1300"/>
              </a:spcAft>
              <a:buChar char="•"/>
              <a:defRPr sz="1875">
                <a:solidFill>
                  <a:srgbClr val="13212D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75">
                <a:solidFill>
                  <a:srgbClr val="13212D"/>
                </a:solidFill>
                <a:latin typeface="Helvetica Neue"/>
                <a:ea typeface="Helvetica Neue"/>
                <a:cs typeface="Helvetica Neue"/>
              </a:rPr>
              <a:t>Fresh frozen plasma must be stored at -18 degrees to -30 degrees centigrade and kept frozen until it is needed.</a:t>
            </a:r>
          </a:p>
          <a:p xmlns:a="http://schemas.openxmlformats.org/drawingml/2006/main">
            <a:pPr marL="279400" indent="-127000">
              <a:spcAft>
                <a:spcPts val="1300"/>
              </a:spcAft>
              <a:buChar char="•"/>
              <a:defRPr sz="1875">
                <a:solidFill>
                  <a:srgbClr val="13212D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75">
                <a:solidFill>
                  <a:srgbClr val="13212D"/>
                </a:solidFill>
                <a:latin typeface="Helvetica Neue"/>
                <a:ea typeface="Helvetica Neue"/>
                <a:cs typeface="Helvetica Neue"/>
              </a:rPr>
              <a:t>After thawing the plasma, it must be administered within six (6) hours to avoid the loss of Factor VIII (anti-hemophiliac factor).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7CD49299-5BAF-4152-9955-BFB62328B0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6115050"/>
            <a:ext cx="101917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>
            <a:defPPr>
              <a:defRPr sz="1125" b="1">
                <a:solidFill>
                  <a:srgbClr val="B94F3D"/>
                </a:solidFill>
                <a:latin typeface="Helvetica Neue"/>
                <a:ea typeface="Helvetica Neue"/>
                <a:cs typeface="Helvetica Neue"/>
              </a:defRPr>
            </a:defPPr>
            <a:lvl1pPr>
              <a:defRPr sz="1125" b="1">
                <a:solidFill>
                  <a:srgbClr val="B94F3D"/>
                </a:solidFill>
                <a:latin typeface="Helvetica Neue"/>
                <a:ea typeface="Helvetica Neue"/>
                <a:cs typeface="Helvetica Neue"/>
              </a:defRPr>
            </a:lvl1pPr>
            <a:lvl2pPr>
              <a:defRPr sz="1125" b="1">
                <a:solidFill>
                  <a:srgbClr val="B94F3D"/>
                </a:solidFill>
                <a:latin typeface="Helvetica Neue"/>
                <a:ea typeface="Helvetica Neue"/>
                <a:cs typeface="Helvetica Neue"/>
              </a:defRPr>
            </a:lvl2pPr>
            <a:lvl3pPr>
              <a:defRPr sz="1125" b="1">
                <a:solidFill>
                  <a:srgbClr val="B94F3D"/>
                </a:solidFill>
                <a:latin typeface="Helvetica Neue"/>
                <a:ea typeface="Helvetica Neue"/>
                <a:cs typeface="Helvetica Neue"/>
              </a:defRPr>
            </a:lvl3pPr>
            <a:lvl4pPr>
              <a:defRPr sz="1125" b="1">
                <a:solidFill>
                  <a:srgbClr val="B94F3D"/>
                </a:solidFill>
                <a:latin typeface="Helvetica Neue"/>
                <a:ea typeface="Helvetica Neue"/>
                <a:cs typeface="Helvetica Neue"/>
              </a:defRPr>
            </a:lvl4pPr>
            <a:lvl5pPr>
              <a:defRPr sz="1125" b="1">
                <a:solidFill>
                  <a:srgbClr val="B94F3D"/>
                </a:solidFill>
                <a:latin typeface="Helvetica Neue"/>
                <a:ea typeface="Helvetica Neue"/>
                <a:cs typeface="Helvetica Neue"/>
              </a:defRPr>
            </a:lvl5pPr>
            <a:lvl6pPr>
              <a:defRPr sz="1125" b="1">
                <a:solidFill>
                  <a:srgbClr val="B94F3D"/>
                </a:solidFill>
                <a:latin typeface="Helvetica Neue"/>
                <a:ea typeface="Helvetica Neue"/>
                <a:cs typeface="Helvetica Neue"/>
              </a:defRPr>
            </a:lvl6pPr>
            <a:lvl7pPr>
              <a:defRPr sz="1125" b="1">
                <a:solidFill>
                  <a:srgbClr val="B94F3D"/>
                </a:solidFill>
                <a:latin typeface="Helvetica Neue"/>
                <a:ea typeface="Helvetica Neue"/>
                <a:cs typeface="Helvetica Neue"/>
              </a:defRPr>
            </a:lvl7pPr>
            <a:lvl8pPr>
              <a:defRPr sz="1125" b="1">
                <a:solidFill>
                  <a:srgbClr val="B94F3D"/>
                </a:solidFill>
                <a:latin typeface="Helvetica Neue"/>
                <a:ea typeface="Helvetica Neue"/>
                <a:cs typeface="Helvetica Neue"/>
              </a:defRPr>
            </a:lvl8pPr>
            <a:lvl9pPr>
              <a:defRPr sz="1125" b="1">
                <a:solidFill>
                  <a:srgbClr val="B94F3D"/>
                </a:solidFill>
                <a:latin typeface="Helvetica Neue"/>
                <a:ea typeface="Helvetica Neue"/>
                <a:cs typeface="Helvetica Neue"/>
              </a:defRPr>
            </a:lvl9pPr>
          </a:lstStyle>
          <a:p xmlns:a="http://schemas.openxmlformats.org/drawingml/2006/main">
            <a:pPr>
              <a:defRPr sz="1125" b="1">
                <a:solidFill>
                  <a:srgbClr val="B94F3D"/>
                </a:solidFill>
                <a:latin typeface="Helvetica Neue"/>
                <a:ea typeface="Helvetica Neue"/>
                <a:cs typeface="Helvetica Neue"/>
              </a:defRPr>
            </a:pPr>
            <a:r>
              <a:rPr sz="1125" b="1">
                <a:solidFill>
                  <a:srgbClr val="B94F3D"/>
                </a:solidFill>
                <a:latin typeface="Helvetica Neue"/>
                <a:ea typeface="Helvetica Neue"/>
                <a:cs typeface="Helvetica Neue"/>
              </a:rPr>
              <a:t>Use current orders, facility policy, and authorized scope when applying this information.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91DEC0E1-4462-4FA9-A88D-9A12845A97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5772150"/>
            <a:ext cx="101917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97619"/>
          </a:bodyPr>
          <a:lstStyle xmlns:a="http://schemas.openxmlformats.org/drawingml/2006/main">
            <a:defPPr>
              <a:defRPr sz="1050" b="1">
                <a:solidFill>
                  <a:srgbClr val="237B82"/>
                </a:solidFill>
                <a:latin typeface="Helvetica Neue"/>
                <a:ea typeface="Helvetica Neue"/>
                <a:cs typeface="Helvetica Neue"/>
              </a:defRPr>
            </a:defPPr>
            <a:lvl1pPr>
              <a:defRPr sz="1050" b="1">
                <a:solidFill>
                  <a:srgbClr val="237B82"/>
                </a:solidFill>
                <a:latin typeface="Helvetica Neue"/>
                <a:ea typeface="Helvetica Neue"/>
                <a:cs typeface="Helvetica Neue"/>
              </a:defRPr>
            </a:lvl1pPr>
            <a:lvl2pPr>
              <a:defRPr sz="1050" b="1">
                <a:solidFill>
                  <a:srgbClr val="237B82"/>
                </a:solidFill>
                <a:latin typeface="Helvetica Neue"/>
                <a:ea typeface="Helvetica Neue"/>
                <a:cs typeface="Helvetica Neue"/>
              </a:defRPr>
            </a:lvl2pPr>
            <a:lvl3pPr>
              <a:defRPr sz="1050" b="1">
                <a:solidFill>
                  <a:srgbClr val="237B82"/>
                </a:solidFill>
                <a:latin typeface="Helvetica Neue"/>
                <a:ea typeface="Helvetica Neue"/>
                <a:cs typeface="Helvetica Neue"/>
              </a:defRPr>
            </a:lvl3pPr>
            <a:lvl4pPr>
              <a:defRPr sz="1050" b="1">
                <a:solidFill>
                  <a:srgbClr val="237B82"/>
                </a:solidFill>
                <a:latin typeface="Helvetica Neue"/>
                <a:ea typeface="Helvetica Neue"/>
                <a:cs typeface="Helvetica Neue"/>
              </a:defRPr>
            </a:lvl4pPr>
            <a:lvl5pPr>
              <a:defRPr sz="1050" b="1">
                <a:solidFill>
                  <a:srgbClr val="237B82"/>
                </a:solidFill>
                <a:latin typeface="Helvetica Neue"/>
                <a:ea typeface="Helvetica Neue"/>
                <a:cs typeface="Helvetica Neue"/>
              </a:defRPr>
            </a:lvl5pPr>
            <a:lvl6pPr>
              <a:defRPr sz="1050" b="1">
                <a:solidFill>
                  <a:srgbClr val="237B82"/>
                </a:solidFill>
                <a:latin typeface="Helvetica Neue"/>
                <a:ea typeface="Helvetica Neue"/>
                <a:cs typeface="Helvetica Neue"/>
              </a:defRPr>
            </a:lvl6pPr>
            <a:lvl7pPr>
              <a:defRPr sz="1050" b="1">
                <a:solidFill>
                  <a:srgbClr val="237B82"/>
                </a:solidFill>
                <a:latin typeface="Helvetica Neue"/>
                <a:ea typeface="Helvetica Neue"/>
                <a:cs typeface="Helvetica Neue"/>
              </a:defRPr>
            </a:lvl7pPr>
            <a:lvl8pPr>
              <a:defRPr sz="1050" b="1">
                <a:solidFill>
                  <a:srgbClr val="237B82"/>
                </a:solidFill>
                <a:latin typeface="Helvetica Neue"/>
                <a:ea typeface="Helvetica Neue"/>
                <a:cs typeface="Helvetica Neue"/>
              </a:defRPr>
            </a:lvl8pPr>
            <a:lvl9pPr>
              <a:defRPr sz="1050" b="1">
                <a:solidFill>
                  <a:srgbClr val="237B82"/>
                </a:solidFill>
                <a:latin typeface="Helvetica Neue"/>
                <a:ea typeface="Helvetica Neue"/>
                <a:cs typeface="Helvetica Neue"/>
              </a:defRPr>
            </a:lvl9pPr>
          </a:lstStyle>
          <a:p xmlns:a="http://schemas.openxmlformats.org/drawingml/2006/main">
            <a:pPr>
              <a:defRPr sz="1050" b="1">
                <a:solidFill>
                  <a:srgbClr val="237B82"/>
                </a:solidFill>
                <a:latin typeface="Helvetica Neue"/>
                <a:ea typeface="Helvetica Neue"/>
                <a:cs typeface="Helvetica Neue"/>
              </a:defRPr>
            </a:pPr>
            <a:r>
              <a:rPr sz="1050" b="1">
                <a:solidFill>
                  <a:srgbClr val="237B82"/>
                </a:solidFill>
                <a:latin typeface="Helvetica Neue"/>
                <a:ea typeface="Helvetica Neue"/>
                <a:cs typeface="Helvetica Neue"/>
              </a:rPr>
              <a:t>Manual page 55</a:t>
            </a:r>
          </a:p>
        </p:txBody>
      </p:sp>
    </p:spTree>
    <p:extLst>
      <p:ext uri="{BB962C8B-B14F-4D97-AF65-F5344CB8AC3E}">
        <p14:creationId xmlns:p14="http://schemas.microsoft.com/office/powerpoint/2010/main" val="174106958"/>
      </p:ext>
    </p:extLst>
  </p:cSld>
</p:sld>
</file>

<file path=ppt/slides/slide30.xml><?xml version="1.0" encoding="utf-8"?>
<p:sld xmlns:p="http://schemas.openxmlformats.org/presentationml/2006/main">
  <p:cSld>
    <p:bg>
      <p:bgPr>
        <a:solidFill xmlns:a="http://schemas.openxmlformats.org/drawingml/2006/main">
          <a:srgbClr val="F7F4EE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D018BAA9-0C00-492C-AC3D-D78249EB3A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2095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37B82"/>
          </a:solidFill>
          <a:ln xmlns:a="http://schemas.openxmlformats.org/drawingml/2006/main" w="0">
            <a:solidFill>
              <a:srgbClr val="237B82"/>
            </a:solidFill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FB216D99-9791-4159-91D6-5AD432399F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00050"/>
            <a:ext cx="10001250" cy="819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88426"/>
          </a:bodyPr>
          <a:lstStyle xmlns:a="http://schemas.openxmlformats.org/drawingml/2006/main">
            <a:defPPr>
              <a:defRPr sz="2700" b="1">
                <a:solidFill>
                  <a:srgbClr val="15324A"/>
                </a:solidFill>
                <a:latin typeface="Helvetica Neue"/>
                <a:ea typeface="Helvetica Neue"/>
                <a:cs typeface="Helvetica Neue"/>
              </a:defRPr>
            </a:defPPr>
            <a:lvl1pPr>
              <a:defRPr sz="2700" b="1">
                <a:solidFill>
                  <a:srgbClr val="15324A"/>
                </a:solidFill>
                <a:latin typeface="Helvetica Neue"/>
                <a:ea typeface="Helvetica Neue"/>
                <a:cs typeface="Helvetica Neue"/>
              </a:defRPr>
            </a:lvl1pPr>
            <a:lvl2pPr>
              <a:defRPr sz="2700" b="1">
                <a:solidFill>
                  <a:srgbClr val="15324A"/>
                </a:solidFill>
                <a:latin typeface="Helvetica Neue"/>
                <a:ea typeface="Helvetica Neue"/>
                <a:cs typeface="Helvetica Neue"/>
              </a:defRPr>
            </a:lvl2pPr>
            <a:lvl3pPr>
              <a:defRPr sz="2700" b="1">
                <a:solidFill>
                  <a:srgbClr val="15324A"/>
                </a:solidFill>
                <a:latin typeface="Helvetica Neue"/>
                <a:ea typeface="Helvetica Neue"/>
                <a:cs typeface="Helvetica Neue"/>
              </a:defRPr>
            </a:lvl3pPr>
            <a:lvl4pPr>
              <a:defRPr sz="2700" b="1">
                <a:solidFill>
                  <a:srgbClr val="15324A"/>
                </a:solidFill>
                <a:latin typeface="Helvetica Neue"/>
                <a:ea typeface="Helvetica Neue"/>
                <a:cs typeface="Helvetica Neue"/>
              </a:defRPr>
            </a:lvl4pPr>
            <a:lvl5pPr>
              <a:defRPr sz="2700" b="1">
                <a:solidFill>
                  <a:srgbClr val="15324A"/>
                </a:solidFill>
                <a:latin typeface="Helvetica Neue"/>
                <a:ea typeface="Helvetica Neue"/>
                <a:cs typeface="Helvetica Neue"/>
              </a:defRPr>
            </a:lvl5pPr>
            <a:lvl6pPr>
              <a:defRPr sz="2700" b="1">
                <a:solidFill>
                  <a:srgbClr val="15324A"/>
                </a:solidFill>
                <a:latin typeface="Helvetica Neue"/>
                <a:ea typeface="Helvetica Neue"/>
                <a:cs typeface="Helvetica Neue"/>
              </a:defRPr>
            </a:lvl6pPr>
            <a:lvl7pPr>
              <a:defRPr sz="2700" b="1">
                <a:solidFill>
                  <a:srgbClr val="15324A"/>
                </a:solidFill>
                <a:latin typeface="Helvetica Neue"/>
                <a:ea typeface="Helvetica Neue"/>
                <a:cs typeface="Helvetica Neue"/>
              </a:defRPr>
            </a:lvl7pPr>
            <a:lvl8pPr>
              <a:defRPr sz="2700" b="1">
                <a:solidFill>
                  <a:srgbClr val="15324A"/>
                </a:solidFill>
                <a:latin typeface="Helvetica Neue"/>
                <a:ea typeface="Helvetica Neue"/>
                <a:cs typeface="Helvetica Neue"/>
              </a:defRPr>
            </a:lvl8pPr>
            <a:lvl9pPr>
              <a:defRPr sz="2700" b="1">
                <a:solidFill>
                  <a:srgbClr val="15324A"/>
                </a:solidFill>
                <a:latin typeface="Helvetica Neue"/>
                <a:ea typeface="Helvetica Neue"/>
                <a:cs typeface="Helvetica Neue"/>
              </a:defRPr>
            </a:lvl9pPr>
          </a:lstStyle>
          <a:p xmlns:a="http://schemas.openxmlformats.org/drawingml/2006/main">
            <a:pPr>
              <a:defRPr sz="2700" b="1">
                <a:solidFill>
                  <a:srgbClr val="15324A"/>
                </a:solidFill>
                <a:latin typeface="Helvetica Neue"/>
                <a:ea typeface="Helvetica Neue"/>
                <a:cs typeface="Helvetica Neue"/>
              </a:defRPr>
            </a:pPr>
            <a:r>
              <a:rPr sz="2700" b="1">
                <a:solidFill>
                  <a:srgbClr val="15324A"/>
                </a:solidFill>
                <a:latin typeface="Helvetica Neue"/>
                <a:ea typeface="Helvetica Neue"/>
                <a:cs typeface="Helvetica Neue"/>
              </a:rPr>
              <a:t>Fresh Frozen Plasma - This product is indicated for the patient with inherited or — continued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781F70A7-470F-4757-AEF7-F99D75CD8C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1257300"/>
            <a:ext cx="88582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91111"/>
          </a:bodyPr>
          <a:lstStyle xmlns:a="http://schemas.openxmlformats.org/drawingml/2006/main">
            <a:defPPr>
              <a:defRPr sz="1125" b="1">
                <a:solidFill>
                  <a:srgbClr val="237B82"/>
                </a:solidFill>
                <a:latin typeface="Helvetica Neue"/>
                <a:ea typeface="Helvetica Neue"/>
                <a:cs typeface="Helvetica Neue"/>
              </a:defRPr>
            </a:defPPr>
            <a:lvl1pPr>
              <a:defRPr sz="1125" b="1">
                <a:solidFill>
                  <a:srgbClr val="237B82"/>
                </a:solidFill>
                <a:latin typeface="Helvetica Neue"/>
                <a:ea typeface="Helvetica Neue"/>
                <a:cs typeface="Helvetica Neue"/>
              </a:defRPr>
            </a:lvl1pPr>
            <a:lvl2pPr>
              <a:defRPr sz="1125" b="1">
                <a:solidFill>
                  <a:srgbClr val="237B82"/>
                </a:solidFill>
                <a:latin typeface="Helvetica Neue"/>
                <a:ea typeface="Helvetica Neue"/>
                <a:cs typeface="Helvetica Neue"/>
              </a:defRPr>
            </a:lvl2pPr>
            <a:lvl3pPr>
              <a:defRPr sz="1125" b="1">
                <a:solidFill>
                  <a:srgbClr val="237B82"/>
                </a:solidFill>
                <a:latin typeface="Helvetica Neue"/>
                <a:ea typeface="Helvetica Neue"/>
                <a:cs typeface="Helvetica Neue"/>
              </a:defRPr>
            </a:lvl3pPr>
            <a:lvl4pPr>
              <a:defRPr sz="1125" b="1">
                <a:solidFill>
                  <a:srgbClr val="237B82"/>
                </a:solidFill>
                <a:latin typeface="Helvetica Neue"/>
                <a:ea typeface="Helvetica Neue"/>
                <a:cs typeface="Helvetica Neue"/>
              </a:defRPr>
            </a:lvl4pPr>
            <a:lvl5pPr>
              <a:defRPr sz="1125" b="1">
                <a:solidFill>
                  <a:srgbClr val="237B82"/>
                </a:solidFill>
                <a:latin typeface="Helvetica Neue"/>
                <a:ea typeface="Helvetica Neue"/>
                <a:cs typeface="Helvetica Neue"/>
              </a:defRPr>
            </a:lvl5pPr>
            <a:lvl6pPr>
              <a:defRPr sz="1125" b="1">
                <a:solidFill>
                  <a:srgbClr val="237B82"/>
                </a:solidFill>
                <a:latin typeface="Helvetica Neue"/>
                <a:ea typeface="Helvetica Neue"/>
                <a:cs typeface="Helvetica Neue"/>
              </a:defRPr>
            </a:lvl6pPr>
            <a:lvl7pPr>
              <a:defRPr sz="1125" b="1">
                <a:solidFill>
                  <a:srgbClr val="237B82"/>
                </a:solidFill>
                <a:latin typeface="Helvetica Neue"/>
                <a:ea typeface="Helvetica Neue"/>
                <a:cs typeface="Helvetica Neue"/>
              </a:defRPr>
            </a:lvl7pPr>
            <a:lvl8pPr>
              <a:defRPr sz="1125" b="1">
                <a:solidFill>
                  <a:srgbClr val="237B82"/>
                </a:solidFill>
                <a:latin typeface="Helvetica Neue"/>
                <a:ea typeface="Helvetica Neue"/>
                <a:cs typeface="Helvetica Neue"/>
              </a:defRPr>
            </a:lvl8pPr>
            <a:lvl9pPr>
              <a:defRPr sz="1125" b="1">
                <a:solidFill>
                  <a:srgbClr val="237B82"/>
                </a:solidFill>
                <a:latin typeface="Helvetica Neue"/>
                <a:ea typeface="Helvetica Neue"/>
                <a:cs typeface="Helvetica Neue"/>
              </a:defRPr>
            </a:lvl9pPr>
          </a:lstStyle>
          <a:p xmlns:a="http://schemas.openxmlformats.org/drawingml/2006/main">
            <a:pPr>
              <a:defRPr sz="1125" b="1">
                <a:solidFill>
                  <a:srgbClr val="237B82"/>
                </a:solidFill>
                <a:latin typeface="Helvetica Neue"/>
                <a:ea typeface="Helvetica Neue"/>
                <a:cs typeface="Helvetica Neue"/>
              </a:defRPr>
            </a:pPr>
            <a:r>
              <a:rPr sz="1125" b="1">
                <a:solidFill>
                  <a:srgbClr val="237B82"/>
                </a:solidFill>
                <a:latin typeface="Helvetica Neue"/>
                <a:ea typeface="Helvetica Neue"/>
                <a:cs typeface="Helvetica Neue"/>
              </a:rPr>
              <a:t>MODULE 4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093F286F-F3DB-405F-ACE1-F7120441D5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457200"/>
            <a:ext cx="5334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>
            <a:defPPr>
              <a:defRPr sz="1200" b="1">
                <a:solidFill>
                  <a:srgbClr val="237B82"/>
                </a:solidFill>
                <a:latin typeface="Helvetica Neue"/>
                <a:ea typeface="Helvetica Neue"/>
                <a:cs typeface="Helvetica Neue"/>
              </a:defRPr>
            </a:defPPr>
            <a:lvl1pPr>
              <a:defRPr sz="1200" b="1">
                <a:solidFill>
                  <a:srgbClr val="237B82"/>
                </a:solidFill>
                <a:latin typeface="Helvetica Neue"/>
                <a:ea typeface="Helvetica Neue"/>
                <a:cs typeface="Helvetica Neue"/>
              </a:defRPr>
            </a:lvl1pPr>
            <a:lvl2pPr>
              <a:defRPr sz="1200" b="1">
                <a:solidFill>
                  <a:srgbClr val="237B82"/>
                </a:solidFill>
                <a:latin typeface="Helvetica Neue"/>
                <a:ea typeface="Helvetica Neue"/>
                <a:cs typeface="Helvetica Neue"/>
              </a:defRPr>
            </a:lvl2pPr>
            <a:lvl3pPr>
              <a:defRPr sz="1200" b="1">
                <a:solidFill>
                  <a:srgbClr val="237B82"/>
                </a:solidFill>
                <a:latin typeface="Helvetica Neue"/>
                <a:ea typeface="Helvetica Neue"/>
                <a:cs typeface="Helvetica Neue"/>
              </a:defRPr>
            </a:lvl3pPr>
            <a:lvl4pPr>
              <a:defRPr sz="1200" b="1">
                <a:solidFill>
                  <a:srgbClr val="237B82"/>
                </a:solidFill>
                <a:latin typeface="Helvetica Neue"/>
                <a:ea typeface="Helvetica Neue"/>
                <a:cs typeface="Helvetica Neue"/>
              </a:defRPr>
            </a:lvl4pPr>
            <a:lvl5pPr>
              <a:defRPr sz="1200" b="1">
                <a:solidFill>
                  <a:srgbClr val="237B82"/>
                </a:solidFill>
                <a:latin typeface="Helvetica Neue"/>
                <a:ea typeface="Helvetica Neue"/>
                <a:cs typeface="Helvetica Neue"/>
              </a:defRPr>
            </a:lvl5pPr>
            <a:lvl6pPr>
              <a:defRPr sz="1200" b="1">
                <a:solidFill>
                  <a:srgbClr val="237B82"/>
                </a:solidFill>
                <a:latin typeface="Helvetica Neue"/>
                <a:ea typeface="Helvetica Neue"/>
                <a:cs typeface="Helvetica Neue"/>
              </a:defRPr>
            </a:lvl6pPr>
            <a:lvl7pPr>
              <a:defRPr sz="1200" b="1">
                <a:solidFill>
                  <a:srgbClr val="237B82"/>
                </a:solidFill>
                <a:latin typeface="Helvetica Neue"/>
                <a:ea typeface="Helvetica Neue"/>
                <a:cs typeface="Helvetica Neue"/>
              </a:defRPr>
            </a:lvl7pPr>
            <a:lvl8pPr>
              <a:defRPr sz="1200" b="1">
                <a:solidFill>
                  <a:srgbClr val="237B82"/>
                </a:solidFill>
                <a:latin typeface="Helvetica Neue"/>
                <a:ea typeface="Helvetica Neue"/>
                <a:cs typeface="Helvetica Neue"/>
              </a:defRPr>
            </a:lvl8pPr>
            <a:lvl9pPr>
              <a:defRPr sz="1200" b="1">
                <a:solidFill>
                  <a:srgbClr val="237B82"/>
                </a:solidFill>
                <a:latin typeface="Helvetica Neue"/>
                <a:ea typeface="Helvetica Neue"/>
                <a:cs typeface="Helvetica Neue"/>
              </a:defRPr>
            </a:lvl9pPr>
          </a:lstStyle>
          <a:p xmlns:a="http://schemas.openxmlformats.org/drawingml/2006/main">
            <a:pPr>
              <a:defRPr sz="1200" b="1">
                <a:solidFill>
                  <a:srgbClr val="237B82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00" b="1">
                <a:solidFill>
                  <a:srgbClr val="237B82"/>
                </a:solidFill>
                <a:latin typeface="Helvetica Neue"/>
                <a:ea typeface="Helvetica Neue"/>
                <a:cs typeface="Helvetica Neue"/>
              </a:rPr>
              <a:t>30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55AEB214-9AF2-4753-A603-D9C2810310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1762125"/>
            <a:ext cx="10287000" cy="409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>
            <a:defPPr>
              <a:defRPr sz="1875">
                <a:solidFill>
                  <a:srgbClr val="13212D"/>
                </a:solidFill>
                <a:latin typeface="Helvetica Neue"/>
                <a:ea typeface="Helvetica Neue"/>
                <a:cs typeface="Helvetica Neue"/>
              </a:defRPr>
            </a:defPPr>
            <a:lvl1pPr>
              <a:defRPr sz="1875">
                <a:solidFill>
                  <a:srgbClr val="13212D"/>
                </a:solidFill>
                <a:latin typeface="Helvetica Neue"/>
                <a:ea typeface="Helvetica Neue"/>
                <a:cs typeface="Helvetica Neue"/>
              </a:defRPr>
            </a:lvl1pPr>
            <a:lvl2pPr>
              <a:defRPr sz="1875">
                <a:solidFill>
                  <a:srgbClr val="13212D"/>
                </a:solidFill>
                <a:latin typeface="Helvetica Neue"/>
                <a:ea typeface="Helvetica Neue"/>
                <a:cs typeface="Helvetica Neue"/>
              </a:defRPr>
            </a:lvl2pPr>
            <a:lvl3pPr>
              <a:defRPr sz="1875">
                <a:solidFill>
                  <a:srgbClr val="13212D"/>
                </a:solidFill>
                <a:latin typeface="Helvetica Neue"/>
                <a:ea typeface="Helvetica Neue"/>
                <a:cs typeface="Helvetica Neue"/>
              </a:defRPr>
            </a:lvl3pPr>
            <a:lvl4pPr>
              <a:defRPr sz="1875">
                <a:solidFill>
                  <a:srgbClr val="13212D"/>
                </a:solidFill>
                <a:latin typeface="Helvetica Neue"/>
                <a:ea typeface="Helvetica Neue"/>
                <a:cs typeface="Helvetica Neue"/>
              </a:defRPr>
            </a:lvl4pPr>
            <a:lvl5pPr>
              <a:defRPr sz="1875">
                <a:solidFill>
                  <a:srgbClr val="13212D"/>
                </a:solidFill>
                <a:latin typeface="Helvetica Neue"/>
                <a:ea typeface="Helvetica Neue"/>
                <a:cs typeface="Helvetica Neue"/>
              </a:defRPr>
            </a:lvl5pPr>
            <a:lvl6pPr>
              <a:defRPr sz="1875">
                <a:solidFill>
                  <a:srgbClr val="13212D"/>
                </a:solidFill>
                <a:latin typeface="Helvetica Neue"/>
                <a:ea typeface="Helvetica Neue"/>
                <a:cs typeface="Helvetica Neue"/>
              </a:defRPr>
            </a:lvl6pPr>
            <a:lvl7pPr>
              <a:defRPr sz="1875">
                <a:solidFill>
                  <a:srgbClr val="13212D"/>
                </a:solidFill>
                <a:latin typeface="Helvetica Neue"/>
                <a:ea typeface="Helvetica Neue"/>
                <a:cs typeface="Helvetica Neue"/>
              </a:defRPr>
            </a:lvl7pPr>
            <a:lvl8pPr>
              <a:defRPr sz="1875">
                <a:solidFill>
                  <a:srgbClr val="13212D"/>
                </a:solidFill>
                <a:latin typeface="Helvetica Neue"/>
                <a:ea typeface="Helvetica Neue"/>
                <a:cs typeface="Helvetica Neue"/>
              </a:defRPr>
            </a:lvl8pPr>
            <a:lvl9pPr>
              <a:defRPr sz="1875">
                <a:solidFill>
                  <a:srgbClr val="13212D"/>
                </a:solidFill>
                <a:latin typeface="Helvetica Neue"/>
                <a:ea typeface="Helvetica Neue"/>
                <a:cs typeface="Helvetica Neue"/>
              </a:defRPr>
            </a:lvl9pPr>
          </a:lstStyle>
          <a:p xmlns:a="http://schemas.openxmlformats.org/drawingml/2006/main">
            <a:pPr marL="279400" indent="-127000">
              <a:spcAft>
                <a:spcPts val="1300"/>
              </a:spcAft>
              <a:buChar char="•"/>
              <a:defRPr sz="1875">
                <a:solidFill>
                  <a:srgbClr val="13212D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75">
                <a:solidFill>
                  <a:srgbClr val="13212D"/>
                </a:solidFill>
                <a:latin typeface="Helvetica Neue"/>
                <a:ea typeface="Helvetica Neue"/>
                <a:cs typeface="Helvetica Neue"/>
              </a:rPr>
              <a:t>Donor plasma should be compatible with the recipient's red cells.</a:t>
            </a:r>
          </a:p>
          <a:p xmlns:a="http://schemas.openxmlformats.org/drawingml/2006/main">
            <a:pPr marL="279400" indent="-127000">
              <a:spcAft>
                <a:spcPts val="1300"/>
              </a:spcAft>
              <a:buChar char="•"/>
              <a:defRPr sz="1875">
                <a:solidFill>
                  <a:srgbClr val="13212D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75">
                <a:solidFill>
                  <a:srgbClr val="13212D"/>
                </a:solidFill>
                <a:latin typeface="Helvetica Neue"/>
                <a:ea typeface="Helvetica Neue"/>
                <a:cs typeface="Helvetica Neue"/>
              </a:rPr>
              <a:t>The patient with blood group AB positive is the universal recipient.</a:t>
            </a:r>
          </a:p>
          <a:p xmlns:a="http://schemas.openxmlformats.org/drawingml/2006/main">
            <a:pPr marL="279400" indent="-127000">
              <a:spcAft>
                <a:spcPts val="1300"/>
              </a:spcAft>
              <a:buChar char="•"/>
              <a:defRPr sz="1875">
                <a:solidFill>
                  <a:srgbClr val="13212D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75">
                <a:solidFill>
                  <a:srgbClr val="13212D"/>
                </a:solidFill>
                <a:latin typeface="Helvetica Neue"/>
                <a:ea typeface="Helvetica Neue"/>
                <a:cs typeface="Helvetica Neue"/>
              </a:rPr>
              <a:t>O negative may give plasma to other groups.</a:t>
            </a:r>
          </a:p>
          <a:p xmlns:a="http://schemas.openxmlformats.org/drawingml/2006/main">
            <a:pPr marL="279400" indent="-127000">
              <a:spcAft>
                <a:spcPts val="1300"/>
              </a:spcAft>
              <a:buChar char="•"/>
              <a:defRPr sz="1875">
                <a:solidFill>
                  <a:srgbClr val="13212D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75">
                <a:solidFill>
                  <a:srgbClr val="13212D"/>
                </a:solidFill>
                <a:latin typeface="Helvetica Neue"/>
                <a:ea typeface="Helvetica Neue"/>
                <a:cs typeface="Helvetica Neue"/>
              </a:rPr>
              <a:t>O plasma may be used for all ABO blood groups.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C733BF07-6BB6-4558-8E1D-37654654F9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6115050"/>
            <a:ext cx="101917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>
            <a:defPPr>
              <a:defRPr sz="1125" b="1">
                <a:solidFill>
                  <a:srgbClr val="B94F3D"/>
                </a:solidFill>
                <a:latin typeface="Helvetica Neue"/>
                <a:ea typeface="Helvetica Neue"/>
                <a:cs typeface="Helvetica Neue"/>
              </a:defRPr>
            </a:defPPr>
            <a:lvl1pPr>
              <a:defRPr sz="1125" b="1">
                <a:solidFill>
                  <a:srgbClr val="B94F3D"/>
                </a:solidFill>
                <a:latin typeface="Helvetica Neue"/>
                <a:ea typeface="Helvetica Neue"/>
                <a:cs typeface="Helvetica Neue"/>
              </a:defRPr>
            </a:lvl1pPr>
            <a:lvl2pPr>
              <a:defRPr sz="1125" b="1">
                <a:solidFill>
                  <a:srgbClr val="B94F3D"/>
                </a:solidFill>
                <a:latin typeface="Helvetica Neue"/>
                <a:ea typeface="Helvetica Neue"/>
                <a:cs typeface="Helvetica Neue"/>
              </a:defRPr>
            </a:lvl2pPr>
            <a:lvl3pPr>
              <a:defRPr sz="1125" b="1">
                <a:solidFill>
                  <a:srgbClr val="B94F3D"/>
                </a:solidFill>
                <a:latin typeface="Helvetica Neue"/>
                <a:ea typeface="Helvetica Neue"/>
                <a:cs typeface="Helvetica Neue"/>
              </a:defRPr>
            </a:lvl3pPr>
            <a:lvl4pPr>
              <a:defRPr sz="1125" b="1">
                <a:solidFill>
                  <a:srgbClr val="B94F3D"/>
                </a:solidFill>
                <a:latin typeface="Helvetica Neue"/>
                <a:ea typeface="Helvetica Neue"/>
                <a:cs typeface="Helvetica Neue"/>
              </a:defRPr>
            </a:lvl4pPr>
            <a:lvl5pPr>
              <a:defRPr sz="1125" b="1">
                <a:solidFill>
                  <a:srgbClr val="B94F3D"/>
                </a:solidFill>
                <a:latin typeface="Helvetica Neue"/>
                <a:ea typeface="Helvetica Neue"/>
                <a:cs typeface="Helvetica Neue"/>
              </a:defRPr>
            </a:lvl5pPr>
            <a:lvl6pPr>
              <a:defRPr sz="1125" b="1">
                <a:solidFill>
                  <a:srgbClr val="B94F3D"/>
                </a:solidFill>
                <a:latin typeface="Helvetica Neue"/>
                <a:ea typeface="Helvetica Neue"/>
                <a:cs typeface="Helvetica Neue"/>
              </a:defRPr>
            </a:lvl6pPr>
            <a:lvl7pPr>
              <a:defRPr sz="1125" b="1">
                <a:solidFill>
                  <a:srgbClr val="B94F3D"/>
                </a:solidFill>
                <a:latin typeface="Helvetica Neue"/>
                <a:ea typeface="Helvetica Neue"/>
                <a:cs typeface="Helvetica Neue"/>
              </a:defRPr>
            </a:lvl7pPr>
            <a:lvl8pPr>
              <a:defRPr sz="1125" b="1">
                <a:solidFill>
                  <a:srgbClr val="B94F3D"/>
                </a:solidFill>
                <a:latin typeface="Helvetica Neue"/>
                <a:ea typeface="Helvetica Neue"/>
                <a:cs typeface="Helvetica Neue"/>
              </a:defRPr>
            </a:lvl8pPr>
            <a:lvl9pPr>
              <a:defRPr sz="1125" b="1">
                <a:solidFill>
                  <a:srgbClr val="B94F3D"/>
                </a:solidFill>
                <a:latin typeface="Helvetica Neue"/>
                <a:ea typeface="Helvetica Neue"/>
                <a:cs typeface="Helvetica Neue"/>
              </a:defRPr>
            </a:lvl9pPr>
          </a:lstStyle>
          <a:p xmlns:a="http://schemas.openxmlformats.org/drawingml/2006/main">
            <a:pPr>
              <a:defRPr sz="1125" b="1">
                <a:solidFill>
                  <a:srgbClr val="B94F3D"/>
                </a:solidFill>
                <a:latin typeface="Helvetica Neue"/>
                <a:ea typeface="Helvetica Neue"/>
                <a:cs typeface="Helvetica Neue"/>
              </a:defRPr>
            </a:pPr>
            <a:r>
              <a:rPr sz="1125" b="1">
                <a:solidFill>
                  <a:srgbClr val="B94F3D"/>
                </a:solidFill>
                <a:latin typeface="Helvetica Neue"/>
                <a:ea typeface="Helvetica Neue"/>
                <a:cs typeface="Helvetica Neue"/>
              </a:rPr>
              <a:t>Use current orders, facility policy, and authorized scope when applying this information.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76916D50-D399-4E70-975A-342C126095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5772150"/>
            <a:ext cx="101917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97619"/>
          </a:bodyPr>
          <a:lstStyle xmlns:a="http://schemas.openxmlformats.org/drawingml/2006/main">
            <a:defPPr>
              <a:defRPr sz="1050" b="1">
                <a:solidFill>
                  <a:srgbClr val="237B82"/>
                </a:solidFill>
                <a:latin typeface="Helvetica Neue"/>
                <a:ea typeface="Helvetica Neue"/>
                <a:cs typeface="Helvetica Neue"/>
              </a:defRPr>
            </a:defPPr>
            <a:lvl1pPr>
              <a:defRPr sz="1050" b="1">
                <a:solidFill>
                  <a:srgbClr val="237B82"/>
                </a:solidFill>
                <a:latin typeface="Helvetica Neue"/>
                <a:ea typeface="Helvetica Neue"/>
                <a:cs typeface="Helvetica Neue"/>
              </a:defRPr>
            </a:lvl1pPr>
            <a:lvl2pPr>
              <a:defRPr sz="1050" b="1">
                <a:solidFill>
                  <a:srgbClr val="237B82"/>
                </a:solidFill>
                <a:latin typeface="Helvetica Neue"/>
                <a:ea typeface="Helvetica Neue"/>
                <a:cs typeface="Helvetica Neue"/>
              </a:defRPr>
            </a:lvl2pPr>
            <a:lvl3pPr>
              <a:defRPr sz="1050" b="1">
                <a:solidFill>
                  <a:srgbClr val="237B82"/>
                </a:solidFill>
                <a:latin typeface="Helvetica Neue"/>
                <a:ea typeface="Helvetica Neue"/>
                <a:cs typeface="Helvetica Neue"/>
              </a:defRPr>
            </a:lvl3pPr>
            <a:lvl4pPr>
              <a:defRPr sz="1050" b="1">
                <a:solidFill>
                  <a:srgbClr val="237B82"/>
                </a:solidFill>
                <a:latin typeface="Helvetica Neue"/>
                <a:ea typeface="Helvetica Neue"/>
                <a:cs typeface="Helvetica Neue"/>
              </a:defRPr>
            </a:lvl4pPr>
            <a:lvl5pPr>
              <a:defRPr sz="1050" b="1">
                <a:solidFill>
                  <a:srgbClr val="237B82"/>
                </a:solidFill>
                <a:latin typeface="Helvetica Neue"/>
                <a:ea typeface="Helvetica Neue"/>
                <a:cs typeface="Helvetica Neue"/>
              </a:defRPr>
            </a:lvl5pPr>
            <a:lvl6pPr>
              <a:defRPr sz="1050" b="1">
                <a:solidFill>
                  <a:srgbClr val="237B82"/>
                </a:solidFill>
                <a:latin typeface="Helvetica Neue"/>
                <a:ea typeface="Helvetica Neue"/>
                <a:cs typeface="Helvetica Neue"/>
              </a:defRPr>
            </a:lvl6pPr>
            <a:lvl7pPr>
              <a:defRPr sz="1050" b="1">
                <a:solidFill>
                  <a:srgbClr val="237B82"/>
                </a:solidFill>
                <a:latin typeface="Helvetica Neue"/>
                <a:ea typeface="Helvetica Neue"/>
                <a:cs typeface="Helvetica Neue"/>
              </a:defRPr>
            </a:lvl7pPr>
            <a:lvl8pPr>
              <a:defRPr sz="1050" b="1">
                <a:solidFill>
                  <a:srgbClr val="237B82"/>
                </a:solidFill>
                <a:latin typeface="Helvetica Neue"/>
                <a:ea typeface="Helvetica Neue"/>
                <a:cs typeface="Helvetica Neue"/>
              </a:defRPr>
            </a:lvl8pPr>
            <a:lvl9pPr>
              <a:defRPr sz="1050" b="1">
                <a:solidFill>
                  <a:srgbClr val="237B82"/>
                </a:solidFill>
                <a:latin typeface="Helvetica Neue"/>
                <a:ea typeface="Helvetica Neue"/>
                <a:cs typeface="Helvetica Neue"/>
              </a:defRPr>
            </a:lvl9pPr>
          </a:lstStyle>
          <a:p xmlns:a="http://schemas.openxmlformats.org/drawingml/2006/main">
            <a:pPr>
              <a:defRPr sz="1050" b="1">
                <a:solidFill>
                  <a:srgbClr val="237B82"/>
                </a:solidFill>
                <a:latin typeface="Helvetica Neue"/>
                <a:ea typeface="Helvetica Neue"/>
                <a:cs typeface="Helvetica Neue"/>
              </a:defRPr>
            </a:pPr>
            <a:r>
              <a:rPr sz="1050" b="1">
                <a:solidFill>
                  <a:srgbClr val="237B82"/>
                </a:solidFill>
                <a:latin typeface="Helvetica Neue"/>
                <a:ea typeface="Helvetica Neue"/>
                <a:cs typeface="Helvetica Neue"/>
              </a:rPr>
              <a:t>Manual page 55</a:t>
            </a:r>
          </a:p>
        </p:txBody>
      </p:sp>
    </p:spTree>
    <p:extLst>
      <p:ext uri="{BB962C8B-B14F-4D97-AF65-F5344CB8AC3E}">
        <p14:creationId xmlns:p14="http://schemas.microsoft.com/office/powerpoint/2010/main" val="1183783409"/>
      </p:ext>
    </p:extLst>
  </p:cSld>
</p:sld>
</file>

<file path=ppt/slides/slide31.xml><?xml version="1.0" encoding="utf-8"?>
<p:sld xmlns:p="http://schemas.openxmlformats.org/presentationml/2006/main">
  <p:cSld>
    <p:bg>
      <p:bgPr>
        <a:solidFill xmlns:a="http://schemas.openxmlformats.org/drawingml/2006/main">
          <a:srgbClr val="F7F4EE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C65836CA-13CD-4FD4-BDEF-ACDBD01695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2095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37B82"/>
          </a:solidFill>
          <a:ln xmlns:a="http://schemas.openxmlformats.org/drawingml/2006/main" w="0">
            <a:solidFill>
              <a:srgbClr val="237B82"/>
            </a:solidFill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BA50C776-829A-49E6-8961-78CE6EFDAF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00050"/>
            <a:ext cx="10001250" cy="819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88426"/>
          </a:bodyPr>
          <a:lstStyle xmlns:a="http://schemas.openxmlformats.org/drawingml/2006/main">
            <a:defPPr>
              <a:defRPr sz="2700" b="1">
                <a:solidFill>
                  <a:srgbClr val="15324A"/>
                </a:solidFill>
                <a:latin typeface="Helvetica Neue"/>
                <a:ea typeface="Helvetica Neue"/>
                <a:cs typeface="Helvetica Neue"/>
              </a:defRPr>
            </a:defPPr>
            <a:lvl1pPr>
              <a:defRPr sz="2700" b="1">
                <a:solidFill>
                  <a:srgbClr val="15324A"/>
                </a:solidFill>
                <a:latin typeface="Helvetica Neue"/>
                <a:ea typeface="Helvetica Neue"/>
                <a:cs typeface="Helvetica Neue"/>
              </a:defRPr>
            </a:lvl1pPr>
            <a:lvl2pPr>
              <a:defRPr sz="2700" b="1">
                <a:solidFill>
                  <a:srgbClr val="15324A"/>
                </a:solidFill>
                <a:latin typeface="Helvetica Neue"/>
                <a:ea typeface="Helvetica Neue"/>
                <a:cs typeface="Helvetica Neue"/>
              </a:defRPr>
            </a:lvl2pPr>
            <a:lvl3pPr>
              <a:defRPr sz="2700" b="1">
                <a:solidFill>
                  <a:srgbClr val="15324A"/>
                </a:solidFill>
                <a:latin typeface="Helvetica Neue"/>
                <a:ea typeface="Helvetica Neue"/>
                <a:cs typeface="Helvetica Neue"/>
              </a:defRPr>
            </a:lvl3pPr>
            <a:lvl4pPr>
              <a:defRPr sz="2700" b="1">
                <a:solidFill>
                  <a:srgbClr val="15324A"/>
                </a:solidFill>
                <a:latin typeface="Helvetica Neue"/>
                <a:ea typeface="Helvetica Neue"/>
                <a:cs typeface="Helvetica Neue"/>
              </a:defRPr>
            </a:lvl4pPr>
            <a:lvl5pPr>
              <a:defRPr sz="2700" b="1">
                <a:solidFill>
                  <a:srgbClr val="15324A"/>
                </a:solidFill>
                <a:latin typeface="Helvetica Neue"/>
                <a:ea typeface="Helvetica Neue"/>
                <a:cs typeface="Helvetica Neue"/>
              </a:defRPr>
            </a:lvl5pPr>
            <a:lvl6pPr>
              <a:defRPr sz="2700" b="1">
                <a:solidFill>
                  <a:srgbClr val="15324A"/>
                </a:solidFill>
                <a:latin typeface="Helvetica Neue"/>
                <a:ea typeface="Helvetica Neue"/>
                <a:cs typeface="Helvetica Neue"/>
              </a:defRPr>
            </a:lvl6pPr>
            <a:lvl7pPr>
              <a:defRPr sz="2700" b="1">
                <a:solidFill>
                  <a:srgbClr val="15324A"/>
                </a:solidFill>
                <a:latin typeface="Helvetica Neue"/>
                <a:ea typeface="Helvetica Neue"/>
                <a:cs typeface="Helvetica Neue"/>
              </a:defRPr>
            </a:lvl7pPr>
            <a:lvl8pPr>
              <a:defRPr sz="2700" b="1">
                <a:solidFill>
                  <a:srgbClr val="15324A"/>
                </a:solidFill>
                <a:latin typeface="Helvetica Neue"/>
                <a:ea typeface="Helvetica Neue"/>
                <a:cs typeface="Helvetica Neue"/>
              </a:defRPr>
            </a:lvl8pPr>
            <a:lvl9pPr>
              <a:defRPr sz="2700" b="1">
                <a:solidFill>
                  <a:srgbClr val="15324A"/>
                </a:solidFill>
                <a:latin typeface="Helvetica Neue"/>
                <a:ea typeface="Helvetica Neue"/>
                <a:cs typeface="Helvetica Neue"/>
              </a:defRPr>
            </a:lvl9pPr>
          </a:lstStyle>
          <a:p xmlns:a="http://schemas.openxmlformats.org/drawingml/2006/main">
            <a:pPr>
              <a:defRPr sz="2700" b="1">
                <a:solidFill>
                  <a:srgbClr val="15324A"/>
                </a:solidFill>
                <a:latin typeface="Helvetica Neue"/>
                <a:ea typeface="Helvetica Neue"/>
                <a:cs typeface="Helvetica Neue"/>
              </a:defRPr>
            </a:pPr>
            <a:r>
              <a:rPr sz="2700" b="1">
                <a:solidFill>
                  <a:srgbClr val="15324A"/>
                </a:solidFill>
                <a:latin typeface="Helvetica Neue"/>
                <a:ea typeface="Helvetica Neue"/>
                <a:cs typeface="Helvetica Neue"/>
              </a:rPr>
              <a:t>Fresh Frozen Plasma - This product is indicated for the patient with inherited or — continued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5115AF46-0A79-4EE7-8AE3-0F915A37B8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1257300"/>
            <a:ext cx="88582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91111"/>
          </a:bodyPr>
          <a:lstStyle xmlns:a="http://schemas.openxmlformats.org/drawingml/2006/main">
            <a:defPPr>
              <a:defRPr sz="1125" b="1">
                <a:solidFill>
                  <a:srgbClr val="237B82"/>
                </a:solidFill>
                <a:latin typeface="Helvetica Neue"/>
                <a:ea typeface="Helvetica Neue"/>
                <a:cs typeface="Helvetica Neue"/>
              </a:defRPr>
            </a:defPPr>
            <a:lvl1pPr>
              <a:defRPr sz="1125" b="1">
                <a:solidFill>
                  <a:srgbClr val="237B82"/>
                </a:solidFill>
                <a:latin typeface="Helvetica Neue"/>
                <a:ea typeface="Helvetica Neue"/>
                <a:cs typeface="Helvetica Neue"/>
              </a:defRPr>
            </a:lvl1pPr>
            <a:lvl2pPr>
              <a:defRPr sz="1125" b="1">
                <a:solidFill>
                  <a:srgbClr val="237B82"/>
                </a:solidFill>
                <a:latin typeface="Helvetica Neue"/>
                <a:ea typeface="Helvetica Neue"/>
                <a:cs typeface="Helvetica Neue"/>
              </a:defRPr>
            </a:lvl2pPr>
            <a:lvl3pPr>
              <a:defRPr sz="1125" b="1">
                <a:solidFill>
                  <a:srgbClr val="237B82"/>
                </a:solidFill>
                <a:latin typeface="Helvetica Neue"/>
                <a:ea typeface="Helvetica Neue"/>
                <a:cs typeface="Helvetica Neue"/>
              </a:defRPr>
            </a:lvl3pPr>
            <a:lvl4pPr>
              <a:defRPr sz="1125" b="1">
                <a:solidFill>
                  <a:srgbClr val="237B82"/>
                </a:solidFill>
                <a:latin typeface="Helvetica Neue"/>
                <a:ea typeface="Helvetica Neue"/>
                <a:cs typeface="Helvetica Neue"/>
              </a:defRPr>
            </a:lvl4pPr>
            <a:lvl5pPr>
              <a:defRPr sz="1125" b="1">
                <a:solidFill>
                  <a:srgbClr val="237B82"/>
                </a:solidFill>
                <a:latin typeface="Helvetica Neue"/>
                <a:ea typeface="Helvetica Neue"/>
                <a:cs typeface="Helvetica Neue"/>
              </a:defRPr>
            </a:lvl5pPr>
            <a:lvl6pPr>
              <a:defRPr sz="1125" b="1">
                <a:solidFill>
                  <a:srgbClr val="237B82"/>
                </a:solidFill>
                <a:latin typeface="Helvetica Neue"/>
                <a:ea typeface="Helvetica Neue"/>
                <a:cs typeface="Helvetica Neue"/>
              </a:defRPr>
            </a:lvl6pPr>
            <a:lvl7pPr>
              <a:defRPr sz="1125" b="1">
                <a:solidFill>
                  <a:srgbClr val="237B82"/>
                </a:solidFill>
                <a:latin typeface="Helvetica Neue"/>
                <a:ea typeface="Helvetica Neue"/>
                <a:cs typeface="Helvetica Neue"/>
              </a:defRPr>
            </a:lvl7pPr>
            <a:lvl8pPr>
              <a:defRPr sz="1125" b="1">
                <a:solidFill>
                  <a:srgbClr val="237B82"/>
                </a:solidFill>
                <a:latin typeface="Helvetica Neue"/>
                <a:ea typeface="Helvetica Neue"/>
                <a:cs typeface="Helvetica Neue"/>
              </a:defRPr>
            </a:lvl8pPr>
            <a:lvl9pPr>
              <a:defRPr sz="1125" b="1">
                <a:solidFill>
                  <a:srgbClr val="237B82"/>
                </a:solidFill>
                <a:latin typeface="Helvetica Neue"/>
                <a:ea typeface="Helvetica Neue"/>
                <a:cs typeface="Helvetica Neue"/>
              </a:defRPr>
            </a:lvl9pPr>
          </a:lstStyle>
          <a:p xmlns:a="http://schemas.openxmlformats.org/drawingml/2006/main">
            <a:pPr>
              <a:defRPr sz="1125" b="1">
                <a:solidFill>
                  <a:srgbClr val="237B82"/>
                </a:solidFill>
                <a:latin typeface="Helvetica Neue"/>
                <a:ea typeface="Helvetica Neue"/>
                <a:cs typeface="Helvetica Neue"/>
              </a:defRPr>
            </a:pPr>
            <a:r>
              <a:rPr sz="1125" b="1">
                <a:solidFill>
                  <a:srgbClr val="237B82"/>
                </a:solidFill>
                <a:latin typeface="Helvetica Neue"/>
                <a:ea typeface="Helvetica Neue"/>
                <a:cs typeface="Helvetica Neue"/>
              </a:rPr>
              <a:t>MODULE 4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29B07FA2-C894-4A35-A165-CC65C5768D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457200"/>
            <a:ext cx="5334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>
            <a:defPPr>
              <a:defRPr sz="1200" b="1">
                <a:solidFill>
                  <a:srgbClr val="237B82"/>
                </a:solidFill>
                <a:latin typeface="Helvetica Neue"/>
                <a:ea typeface="Helvetica Neue"/>
                <a:cs typeface="Helvetica Neue"/>
              </a:defRPr>
            </a:defPPr>
            <a:lvl1pPr>
              <a:defRPr sz="1200" b="1">
                <a:solidFill>
                  <a:srgbClr val="237B82"/>
                </a:solidFill>
                <a:latin typeface="Helvetica Neue"/>
                <a:ea typeface="Helvetica Neue"/>
                <a:cs typeface="Helvetica Neue"/>
              </a:defRPr>
            </a:lvl1pPr>
            <a:lvl2pPr>
              <a:defRPr sz="1200" b="1">
                <a:solidFill>
                  <a:srgbClr val="237B82"/>
                </a:solidFill>
                <a:latin typeface="Helvetica Neue"/>
                <a:ea typeface="Helvetica Neue"/>
                <a:cs typeface="Helvetica Neue"/>
              </a:defRPr>
            </a:lvl2pPr>
            <a:lvl3pPr>
              <a:defRPr sz="1200" b="1">
                <a:solidFill>
                  <a:srgbClr val="237B82"/>
                </a:solidFill>
                <a:latin typeface="Helvetica Neue"/>
                <a:ea typeface="Helvetica Neue"/>
                <a:cs typeface="Helvetica Neue"/>
              </a:defRPr>
            </a:lvl3pPr>
            <a:lvl4pPr>
              <a:defRPr sz="1200" b="1">
                <a:solidFill>
                  <a:srgbClr val="237B82"/>
                </a:solidFill>
                <a:latin typeface="Helvetica Neue"/>
                <a:ea typeface="Helvetica Neue"/>
                <a:cs typeface="Helvetica Neue"/>
              </a:defRPr>
            </a:lvl4pPr>
            <a:lvl5pPr>
              <a:defRPr sz="1200" b="1">
                <a:solidFill>
                  <a:srgbClr val="237B82"/>
                </a:solidFill>
                <a:latin typeface="Helvetica Neue"/>
                <a:ea typeface="Helvetica Neue"/>
                <a:cs typeface="Helvetica Neue"/>
              </a:defRPr>
            </a:lvl5pPr>
            <a:lvl6pPr>
              <a:defRPr sz="1200" b="1">
                <a:solidFill>
                  <a:srgbClr val="237B82"/>
                </a:solidFill>
                <a:latin typeface="Helvetica Neue"/>
                <a:ea typeface="Helvetica Neue"/>
                <a:cs typeface="Helvetica Neue"/>
              </a:defRPr>
            </a:lvl6pPr>
            <a:lvl7pPr>
              <a:defRPr sz="1200" b="1">
                <a:solidFill>
                  <a:srgbClr val="237B82"/>
                </a:solidFill>
                <a:latin typeface="Helvetica Neue"/>
                <a:ea typeface="Helvetica Neue"/>
                <a:cs typeface="Helvetica Neue"/>
              </a:defRPr>
            </a:lvl7pPr>
            <a:lvl8pPr>
              <a:defRPr sz="1200" b="1">
                <a:solidFill>
                  <a:srgbClr val="237B82"/>
                </a:solidFill>
                <a:latin typeface="Helvetica Neue"/>
                <a:ea typeface="Helvetica Neue"/>
                <a:cs typeface="Helvetica Neue"/>
              </a:defRPr>
            </a:lvl8pPr>
            <a:lvl9pPr>
              <a:defRPr sz="1200" b="1">
                <a:solidFill>
                  <a:srgbClr val="237B82"/>
                </a:solidFill>
                <a:latin typeface="Helvetica Neue"/>
                <a:ea typeface="Helvetica Neue"/>
                <a:cs typeface="Helvetica Neue"/>
              </a:defRPr>
            </a:lvl9pPr>
          </a:lstStyle>
          <a:p xmlns:a="http://schemas.openxmlformats.org/drawingml/2006/main">
            <a:pPr>
              <a:defRPr sz="1200" b="1">
                <a:solidFill>
                  <a:srgbClr val="237B82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00" b="1">
                <a:solidFill>
                  <a:srgbClr val="237B82"/>
                </a:solidFill>
                <a:latin typeface="Helvetica Neue"/>
                <a:ea typeface="Helvetica Neue"/>
                <a:cs typeface="Helvetica Neue"/>
              </a:rPr>
              <a:t>31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F135A2D8-4BD8-412C-8DBE-F7266DF3A5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1762125"/>
            <a:ext cx="10287000" cy="409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>
            <a:defPPr>
              <a:defRPr sz="1875">
                <a:solidFill>
                  <a:srgbClr val="13212D"/>
                </a:solidFill>
                <a:latin typeface="Helvetica Neue"/>
                <a:ea typeface="Helvetica Neue"/>
                <a:cs typeface="Helvetica Neue"/>
              </a:defRPr>
            </a:defPPr>
            <a:lvl1pPr>
              <a:defRPr sz="1875">
                <a:solidFill>
                  <a:srgbClr val="13212D"/>
                </a:solidFill>
                <a:latin typeface="Helvetica Neue"/>
                <a:ea typeface="Helvetica Neue"/>
                <a:cs typeface="Helvetica Neue"/>
              </a:defRPr>
            </a:lvl1pPr>
            <a:lvl2pPr>
              <a:defRPr sz="1875">
                <a:solidFill>
                  <a:srgbClr val="13212D"/>
                </a:solidFill>
                <a:latin typeface="Helvetica Neue"/>
                <a:ea typeface="Helvetica Neue"/>
                <a:cs typeface="Helvetica Neue"/>
              </a:defRPr>
            </a:lvl2pPr>
            <a:lvl3pPr>
              <a:defRPr sz="1875">
                <a:solidFill>
                  <a:srgbClr val="13212D"/>
                </a:solidFill>
                <a:latin typeface="Helvetica Neue"/>
                <a:ea typeface="Helvetica Neue"/>
                <a:cs typeface="Helvetica Neue"/>
              </a:defRPr>
            </a:lvl3pPr>
            <a:lvl4pPr>
              <a:defRPr sz="1875">
                <a:solidFill>
                  <a:srgbClr val="13212D"/>
                </a:solidFill>
                <a:latin typeface="Helvetica Neue"/>
                <a:ea typeface="Helvetica Neue"/>
                <a:cs typeface="Helvetica Neue"/>
              </a:defRPr>
            </a:lvl4pPr>
            <a:lvl5pPr>
              <a:defRPr sz="1875">
                <a:solidFill>
                  <a:srgbClr val="13212D"/>
                </a:solidFill>
                <a:latin typeface="Helvetica Neue"/>
                <a:ea typeface="Helvetica Neue"/>
                <a:cs typeface="Helvetica Neue"/>
              </a:defRPr>
            </a:lvl5pPr>
            <a:lvl6pPr>
              <a:defRPr sz="1875">
                <a:solidFill>
                  <a:srgbClr val="13212D"/>
                </a:solidFill>
                <a:latin typeface="Helvetica Neue"/>
                <a:ea typeface="Helvetica Neue"/>
                <a:cs typeface="Helvetica Neue"/>
              </a:defRPr>
            </a:lvl6pPr>
            <a:lvl7pPr>
              <a:defRPr sz="1875">
                <a:solidFill>
                  <a:srgbClr val="13212D"/>
                </a:solidFill>
                <a:latin typeface="Helvetica Neue"/>
                <a:ea typeface="Helvetica Neue"/>
                <a:cs typeface="Helvetica Neue"/>
              </a:defRPr>
            </a:lvl7pPr>
            <a:lvl8pPr>
              <a:defRPr sz="1875">
                <a:solidFill>
                  <a:srgbClr val="13212D"/>
                </a:solidFill>
                <a:latin typeface="Helvetica Neue"/>
                <a:ea typeface="Helvetica Neue"/>
                <a:cs typeface="Helvetica Neue"/>
              </a:defRPr>
            </a:lvl8pPr>
            <a:lvl9pPr>
              <a:defRPr sz="1875">
                <a:solidFill>
                  <a:srgbClr val="13212D"/>
                </a:solidFill>
                <a:latin typeface="Helvetica Neue"/>
                <a:ea typeface="Helvetica Neue"/>
                <a:cs typeface="Helvetica Neue"/>
              </a:defRPr>
            </a:lvl9pPr>
          </a:lstStyle>
          <a:p xmlns:a="http://schemas.openxmlformats.org/drawingml/2006/main">
            <a:pPr marL="279400" indent="-127000">
              <a:spcAft>
                <a:spcPts val="1300"/>
              </a:spcAft>
              <a:buChar char="•"/>
              <a:defRPr sz="1875">
                <a:solidFill>
                  <a:srgbClr val="13212D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75">
                <a:solidFill>
                  <a:srgbClr val="13212D"/>
                </a:solidFill>
                <a:latin typeface="Helvetica Neue"/>
                <a:ea typeface="Helvetica Neue"/>
                <a:cs typeface="Helvetica Neue"/>
              </a:rPr>
              <a:t>When the blood group is unknown, as in an emergency, O negative plasma is given.</a:t>
            </a:r>
          </a:p>
          <a:p xmlns:a="http://schemas.openxmlformats.org/drawingml/2006/main">
            <a:pPr marL="279400" indent="-127000">
              <a:spcAft>
                <a:spcPts val="1300"/>
              </a:spcAft>
              <a:buChar char="•"/>
              <a:defRPr sz="1875">
                <a:solidFill>
                  <a:srgbClr val="13212D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75">
                <a:solidFill>
                  <a:srgbClr val="13212D"/>
                </a:solidFill>
                <a:latin typeface="Helvetica Neue"/>
                <a:ea typeface="Helvetica Neue"/>
                <a:cs typeface="Helvetica Neue"/>
              </a:rPr>
              <a:t>Cryoprecipitate - This concentrate contains factor VIII the hemophiliac factor.</a:t>
            </a:r>
          </a:p>
          <a:p xmlns:a="http://schemas.openxmlformats.org/drawingml/2006/main">
            <a:pPr marL="279400" indent="-127000">
              <a:spcAft>
                <a:spcPts val="1300"/>
              </a:spcAft>
              <a:buChar char="•"/>
              <a:defRPr sz="1875">
                <a:solidFill>
                  <a:srgbClr val="13212D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75">
                <a:solidFill>
                  <a:srgbClr val="13212D"/>
                </a:solidFill>
                <a:latin typeface="Helvetica Neue"/>
                <a:ea typeface="Helvetica Neue"/>
                <a:cs typeface="Helvetica Neue"/>
              </a:rPr>
              <a:t>It is extracted from quick frozen plasma that is thawed over a 24-hour period.</a:t>
            </a:r>
          </a:p>
          <a:p xmlns:a="http://schemas.openxmlformats.org/drawingml/2006/main">
            <a:pPr marL="279400" indent="-127000">
              <a:spcAft>
                <a:spcPts val="1300"/>
              </a:spcAft>
              <a:buChar char="•"/>
              <a:defRPr sz="1875">
                <a:solidFill>
                  <a:srgbClr val="13212D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75">
                <a:solidFill>
                  <a:srgbClr val="13212D"/>
                </a:solidFill>
                <a:latin typeface="Helvetica Neue"/>
                <a:ea typeface="Helvetica Neue"/>
                <a:cs typeface="Helvetica Neue"/>
              </a:rPr>
              <a:t>The cryoprecipitate is then removed from the frozen plasma.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9AF8640E-59D3-43BF-A6A3-C194F9E418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6115050"/>
            <a:ext cx="101917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>
            <a:defPPr>
              <a:defRPr sz="1125" b="1">
                <a:solidFill>
                  <a:srgbClr val="B94F3D"/>
                </a:solidFill>
                <a:latin typeface="Helvetica Neue"/>
                <a:ea typeface="Helvetica Neue"/>
                <a:cs typeface="Helvetica Neue"/>
              </a:defRPr>
            </a:defPPr>
            <a:lvl1pPr>
              <a:defRPr sz="1125" b="1">
                <a:solidFill>
                  <a:srgbClr val="B94F3D"/>
                </a:solidFill>
                <a:latin typeface="Helvetica Neue"/>
                <a:ea typeface="Helvetica Neue"/>
                <a:cs typeface="Helvetica Neue"/>
              </a:defRPr>
            </a:lvl1pPr>
            <a:lvl2pPr>
              <a:defRPr sz="1125" b="1">
                <a:solidFill>
                  <a:srgbClr val="B94F3D"/>
                </a:solidFill>
                <a:latin typeface="Helvetica Neue"/>
                <a:ea typeface="Helvetica Neue"/>
                <a:cs typeface="Helvetica Neue"/>
              </a:defRPr>
            </a:lvl2pPr>
            <a:lvl3pPr>
              <a:defRPr sz="1125" b="1">
                <a:solidFill>
                  <a:srgbClr val="B94F3D"/>
                </a:solidFill>
                <a:latin typeface="Helvetica Neue"/>
                <a:ea typeface="Helvetica Neue"/>
                <a:cs typeface="Helvetica Neue"/>
              </a:defRPr>
            </a:lvl3pPr>
            <a:lvl4pPr>
              <a:defRPr sz="1125" b="1">
                <a:solidFill>
                  <a:srgbClr val="B94F3D"/>
                </a:solidFill>
                <a:latin typeface="Helvetica Neue"/>
                <a:ea typeface="Helvetica Neue"/>
                <a:cs typeface="Helvetica Neue"/>
              </a:defRPr>
            </a:lvl4pPr>
            <a:lvl5pPr>
              <a:defRPr sz="1125" b="1">
                <a:solidFill>
                  <a:srgbClr val="B94F3D"/>
                </a:solidFill>
                <a:latin typeface="Helvetica Neue"/>
                <a:ea typeface="Helvetica Neue"/>
                <a:cs typeface="Helvetica Neue"/>
              </a:defRPr>
            </a:lvl5pPr>
            <a:lvl6pPr>
              <a:defRPr sz="1125" b="1">
                <a:solidFill>
                  <a:srgbClr val="B94F3D"/>
                </a:solidFill>
                <a:latin typeface="Helvetica Neue"/>
                <a:ea typeface="Helvetica Neue"/>
                <a:cs typeface="Helvetica Neue"/>
              </a:defRPr>
            </a:lvl6pPr>
            <a:lvl7pPr>
              <a:defRPr sz="1125" b="1">
                <a:solidFill>
                  <a:srgbClr val="B94F3D"/>
                </a:solidFill>
                <a:latin typeface="Helvetica Neue"/>
                <a:ea typeface="Helvetica Neue"/>
                <a:cs typeface="Helvetica Neue"/>
              </a:defRPr>
            </a:lvl7pPr>
            <a:lvl8pPr>
              <a:defRPr sz="1125" b="1">
                <a:solidFill>
                  <a:srgbClr val="B94F3D"/>
                </a:solidFill>
                <a:latin typeface="Helvetica Neue"/>
                <a:ea typeface="Helvetica Neue"/>
                <a:cs typeface="Helvetica Neue"/>
              </a:defRPr>
            </a:lvl8pPr>
            <a:lvl9pPr>
              <a:defRPr sz="1125" b="1">
                <a:solidFill>
                  <a:srgbClr val="B94F3D"/>
                </a:solidFill>
                <a:latin typeface="Helvetica Neue"/>
                <a:ea typeface="Helvetica Neue"/>
                <a:cs typeface="Helvetica Neue"/>
              </a:defRPr>
            </a:lvl9pPr>
          </a:lstStyle>
          <a:p xmlns:a="http://schemas.openxmlformats.org/drawingml/2006/main">
            <a:pPr>
              <a:defRPr sz="1125" b="1">
                <a:solidFill>
                  <a:srgbClr val="B94F3D"/>
                </a:solidFill>
                <a:latin typeface="Helvetica Neue"/>
                <a:ea typeface="Helvetica Neue"/>
                <a:cs typeface="Helvetica Neue"/>
              </a:defRPr>
            </a:pPr>
            <a:r>
              <a:rPr sz="1125" b="1">
                <a:solidFill>
                  <a:srgbClr val="B94F3D"/>
                </a:solidFill>
                <a:latin typeface="Helvetica Neue"/>
                <a:ea typeface="Helvetica Neue"/>
                <a:cs typeface="Helvetica Neue"/>
              </a:rPr>
              <a:t>Use current orders, facility policy, and authorized scope when applying this information.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3EB97442-9AD0-4154-9C78-736454C008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5772150"/>
            <a:ext cx="101917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97619"/>
          </a:bodyPr>
          <a:lstStyle xmlns:a="http://schemas.openxmlformats.org/drawingml/2006/main">
            <a:defPPr>
              <a:defRPr sz="1050" b="1">
                <a:solidFill>
                  <a:srgbClr val="237B82"/>
                </a:solidFill>
                <a:latin typeface="Helvetica Neue"/>
                <a:ea typeface="Helvetica Neue"/>
                <a:cs typeface="Helvetica Neue"/>
              </a:defRPr>
            </a:defPPr>
            <a:lvl1pPr>
              <a:defRPr sz="1050" b="1">
                <a:solidFill>
                  <a:srgbClr val="237B82"/>
                </a:solidFill>
                <a:latin typeface="Helvetica Neue"/>
                <a:ea typeface="Helvetica Neue"/>
                <a:cs typeface="Helvetica Neue"/>
              </a:defRPr>
            </a:lvl1pPr>
            <a:lvl2pPr>
              <a:defRPr sz="1050" b="1">
                <a:solidFill>
                  <a:srgbClr val="237B82"/>
                </a:solidFill>
                <a:latin typeface="Helvetica Neue"/>
                <a:ea typeface="Helvetica Neue"/>
                <a:cs typeface="Helvetica Neue"/>
              </a:defRPr>
            </a:lvl2pPr>
            <a:lvl3pPr>
              <a:defRPr sz="1050" b="1">
                <a:solidFill>
                  <a:srgbClr val="237B82"/>
                </a:solidFill>
                <a:latin typeface="Helvetica Neue"/>
                <a:ea typeface="Helvetica Neue"/>
                <a:cs typeface="Helvetica Neue"/>
              </a:defRPr>
            </a:lvl3pPr>
            <a:lvl4pPr>
              <a:defRPr sz="1050" b="1">
                <a:solidFill>
                  <a:srgbClr val="237B82"/>
                </a:solidFill>
                <a:latin typeface="Helvetica Neue"/>
                <a:ea typeface="Helvetica Neue"/>
                <a:cs typeface="Helvetica Neue"/>
              </a:defRPr>
            </a:lvl4pPr>
            <a:lvl5pPr>
              <a:defRPr sz="1050" b="1">
                <a:solidFill>
                  <a:srgbClr val="237B82"/>
                </a:solidFill>
                <a:latin typeface="Helvetica Neue"/>
                <a:ea typeface="Helvetica Neue"/>
                <a:cs typeface="Helvetica Neue"/>
              </a:defRPr>
            </a:lvl5pPr>
            <a:lvl6pPr>
              <a:defRPr sz="1050" b="1">
                <a:solidFill>
                  <a:srgbClr val="237B82"/>
                </a:solidFill>
                <a:latin typeface="Helvetica Neue"/>
                <a:ea typeface="Helvetica Neue"/>
                <a:cs typeface="Helvetica Neue"/>
              </a:defRPr>
            </a:lvl6pPr>
            <a:lvl7pPr>
              <a:defRPr sz="1050" b="1">
                <a:solidFill>
                  <a:srgbClr val="237B82"/>
                </a:solidFill>
                <a:latin typeface="Helvetica Neue"/>
                <a:ea typeface="Helvetica Neue"/>
                <a:cs typeface="Helvetica Neue"/>
              </a:defRPr>
            </a:lvl7pPr>
            <a:lvl8pPr>
              <a:defRPr sz="1050" b="1">
                <a:solidFill>
                  <a:srgbClr val="237B82"/>
                </a:solidFill>
                <a:latin typeface="Helvetica Neue"/>
                <a:ea typeface="Helvetica Neue"/>
                <a:cs typeface="Helvetica Neue"/>
              </a:defRPr>
            </a:lvl8pPr>
            <a:lvl9pPr>
              <a:defRPr sz="1050" b="1">
                <a:solidFill>
                  <a:srgbClr val="237B82"/>
                </a:solidFill>
                <a:latin typeface="Helvetica Neue"/>
                <a:ea typeface="Helvetica Neue"/>
                <a:cs typeface="Helvetica Neue"/>
              </a:defRPr>
            </a:lvl9pPr>
          </a:lstStyle>
          <a:p xmlns:a="http://schemas.openxmlformats.org/drawingml/2006/main">
            <a:pPr>
              <a:defRPr sz="1050" b="1">
                <a:solidFill>
                  <a:srgbClr val="237B82"/>
                </a:solidFill>
                <a:latin typeface="Helvetica Neue"/>
                <a:ea typeface="Helvetica Neue"/>
                <a:cs typeface="Helvetica Neue"/>
              </a:defRPr>
            </a:pPr>
            <a:r>
              <a:rPr sz="1050" b="1">
                <a:solidFill>
                  <a:srgbClr val="237B82"/>
                </a:solidFill>
                <a:latin typeface="Helvetica Neue"/>
                <a:ea typeface="Helvetica Neue"/>
                <a:cs typeface="Helvetica Neue"/>
              </a:rPr>
              <a:t>Manual page 55</a:t>
            </a:r>
          </a:p>
        </p:txBody>
      </p:sp>
    </p:spTree>
    <p:extLst>
      <p:ext uri="{BB962C8B-B14F-4D97-AF65-F5344CB8AC3E}">
        <p14:creationId xmlns:p14="http://schemas.microsoft.com/office/powerpoint/2010/main" val="919347443"/>
      </p:ext>
    </p:extLst>
  </p:cSld>
</p:sld>
</file>

<file path=ppt/slides/slide32.xml><?xml version="1.0" encoding="utf-8"?>
<p:sld xmlns:p="http://schemas.openxmlformats.org/presentationml/2006/main">
  <p:cSld>
    <p:bg>
      <p:bgPr>
        <a:solidFill xmlns:a="http://schemas.openxmlformats.org/drawingml/2006/main">
          <a:srgbClr val="F7F4EE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12398427-D053-4864-9143-A5F2F6B7B9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2095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37B82"/>
          </a:solidFill>
          <a:ln xmlns:a="http://schemas.openxmlformats.org/drawingml/2006/main" w="0">
            <a:solidFill>
              <a:srgbClr val="237B82"/>
            </a:solidFill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FAF20D76-EA23-45CD-B2EE-B8FB0A7429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00050"/>
            <a:ext cx="10001250" cy="819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88426"/>
          </a:bodyPr>
          <a:lstStyle xmlns:a="http://schemas.openxmlformats.org/drawingml/2006/main">
            <a:defPPr>
              <a:defRPr sz="2700" b="1">
                <a:solidFill>
                  <a:srgbClr val="15324A"/>
                </a:solidFill>
                <a:latin typeface="Helvetica Neue"/>
                <a:ea typeface="Helvetica Neue"/>
                <a:cs typeface="Helvetica Neue"/>
              </a:defRPr>
            </a:defPPr>
            <a:lvl1pPr>
              <a:defRPr sz="2700" b="1">
                <a:solidFill>
                  <a:srgbClr val="15324A"/>
                </a:solidFill>
                <a:latin typeface="Helvetica Neue"/>
                <a:ea typeface="Helvetica Neue"/>
                <a:cs typeface="Helvetica Neue"/>
              </a:defRPr>
            </a:lvl1pPr>
            <a:lvl2pPr>
              <a:defRPr sz="2700" b="1">
                <a:solidFill>
                  <a:srgbClr val="15324A"/>
                </a:solidFill>
                <a:latin typeface="Helvetica Neue"/>
                <a:ea typeface="Helvetica Neue"/>
                <a:cs typeface="Helvetica Neue"/>
              </a:defRPr>
            </a:lvl2pPr>
            <a:lvl3pPr>
              <a:defRPr sz="2700" b="1">
                <a:solidFill>
                  <a:srgbClr val="15324A"/>
                </a:solidFill>
                <a:latin typeface="Helvetica Neue"/>
                <a:ea typeface="Helvetica Neue"/>
                <a:cs typeface="Helvetica Neue"/>
              </a:defRPr>
            </a:lvl3pPr>
            <a:lvl4pPr>
              <a:defRPr sz="2700" b="1">
                <a:solidFill>
                  <a:srgbClr val="15324A"/>
                </a:solidFill>
                <a:latin typeface="Helvetica Neue"/>
                <a:ea typeface="Helvetica Neue"/>
                <a:cs typeface="Helvetica Neue"/>
              </a:defRPr>
            </a:lvl4pPr>
            <a:lvl5pPr>
              <a:defRPr sz="2700" b="1">
                <a:solidFill>
                  <a:srgbClr val="15324A"/>
                </a:solidFill>
                <a:latin typeface="Helvetica Neue"/>
                <a:ea typeface="Helvetica Neue"/>
                <a:cs typeface="Helvetica Neue"/>
              </a:defRPr>
            </a:lvl5pPr>
            <a:lvl6pPr>
              <a:defRPr sz="2700" b="1">
                <a:solidFill>
                  <a:srgbClr val="15324A"/>
                </a:solidFill>
                <a:latin typeface="Helvetica Neue"/>
                <a:ea typeface="Helvetica Neue"/>
                <a:cs typeface="Helvetica Neue"/>
              </a:defRPr>
            </a:lvl6pPr>
            <a:lvl7pPr>
              <a:defRPr sz="2700" b="1">
                <a:solidFill>
                  <a:srgbClr val="15324A"/>
                </a:solidFill>
                <a:latin typeface="Helvetica Neue"/>
                <a:ea typeface="Helvetica Neue"/>
                <a:cs typeface="Helvetica Neue"/>
              </a:defRPr>
            </a:lvl7pPr>
            <a:lvl8pPr>
              <a:defRPr sz="2700" b="1">
                <a:solidFill>
                  <a:srgbClr val="15324A"/>
                </a:solidFill>
                <a:latin typeface="Helvetica Neue"/>
                <a:ea typeface="Helvetica Neue"/>
                <a:cs typeface="Helvetica Neue"/>
              </a:defRPr>
            </a:lvl8pPr>
            <a:lvl9pPr>
              <a:defRPr sz="2700" b="1">
                <a:solidFill>
                  <a:srgbClr val="15324A"/>
                </a:solidFill>
                <a:latin typeface="Helvetica Neue"/>
                <a:ea typeface="Helvetica Neue"/>
                <a:cs typeface="Helvetica Neue"/>
              </a:defRPr>
            </a:lvl9pPr>
          </a:lstStyle>
          <a:p xmlns:a="http://schemas.openxmlformats.org/drawingml/2006/main">
            <a:pPr>
              <a:defRPr sz="2700" b="1">
                <a:solidFill>
                  <a:srgbClr val="15324A"/>
                </a:solidFill>
                <a:latin typeface="Helvetica Neue"/>
                <a:ea typeface="Helvetica Neue"/>
                <a:cs typeface="Helvetica Neue"/>
              </a:defRPr>
            </a:pPr>
            <a:r>
              <a:rPr sz="2700" b="1">
                <a:solidFill>
                  <a:srgbClr val="15324A"/>
                </a:solidFill>
                <a:latin typeface="Helvetica Neue"/>
                <a:ea typeface="Helvetica Neue"/>
                <a:cs typeface="Helvetica Neue"/>
              </a:rPr>
              <a:t>Fresh Frozen Plasma - This product is indicated for the patient with inherited or — continued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37953298-F6D1-43B3-8DCB-B9C234404E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1257300"/>
            <a:ext cx="88582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91111"/>
          </a:bodyPr>
          <a:lstStyle xmlns:a="http://schemas.openxmlformats.org/drawingml/2006/main">
            <a:defPPr>
              <a:defRPr sz="1125" b="1">
                <a:solidFill>
                  <a:srgbClr val="237B82"/>
                </a:solidFill>
                <a:latin typeface="Helvetica Neue"/>
                <a:ea typeface="Helvetica Neue"/>
                <a:cs typeface="Helvetica Neue"/>
              </a:defRPr>
            </a:defPPr>
            <a:lvl1pPr>
              <a:defRPr sz="1125" b="1">
                <a:solidFill>
                  <a:srgbClr val="237B82"/>
                </a:solidFill>
                <a:latin typeface="Helvetica Neue"/>
                <a:ea typeface="Helvetica Neue"/>
                <a:cs typeface="Helvetica Neue"/>
              </a:defRPr>
            </a:lvl1pPr>
            <a:lvl2pPr>
              <a:defRPr sz="1125" b="1">
                <a:solidFill>
                  <a:srgbClr val="237B82"/>
                </a:solidFill>
                <a:latin typeface="Helvetica Neue"/>
                <a:ea typeface="Helvetica Neue"/>
                <a:cs typeface="Helvetica Neue"/>
              </a:defRPr>
            </a:lvl2pPr>
            <a:lvl3pPr>
              <a:defRPr sz="1125" b="1">
                <a:solidFill>
                  <a:srgbClr val="237B82"/>
                </a:solidFill>
                <a:latin typeface="Helvetica Neue"/>
                <a:ea typeface="Helvetica Neue"/>
                <a:cs typeface="Helvetica Neue"/>
              </a:defRPr>
            </a:lvl3pPr>
            <a:lvl4pPr>
              <a:defRPr sz="1125" b="1">
                <a:solidFill>
                  <a:srgbClr val="237B82"/>
                </a:solidFill>
                <a:latin typeface="Helvetica Neue"/>
                <a:ea typeface="Helvetica Neue"/>
                <a:cs typeface="Helvetica Neue"/>
              </a:defRPr>
            </a:lvl4pPr>
            <a:lvl5pPr>
              <a:defRPr sz="1125" b="1">
                <a:solidFill>
                  <a:srgbClr val="237B82"/>
                </a:solidFill>
                <a:latin typeface="Helvetica Neue"/>
                <a:ea typeface="Helvetica Neue"/>
                <a:cs typeface="Helvetica Neue"/>
              </a:defRPr>
            </a:lvl5pPr>
            <a:lvl6pPr>
              <a:defRPr sz="1125" b="1">
                <a:solidFill>
                  <a:srgbClr val="237B82"/>
                </a:solidFill>
                <a:latin typeface="Helvetica Neue"/>
                <a:ea typeface="Helvetica Neue"/>
                <a:cs typeface="Helvetica Neue"/>
              </a:defRPr>
            </a:lvl6pPr>
            <a:lvl7pPr>
              <a:defRPr sz="1125" b="1">
                <a:solidFill>
                  <a:srgbClr val="237B82"/>
                </a:solidFill>
                <a:latin typeface="Helvetica Neue"/>
                <a:ea typeface="Helvetica Neue"/>
                <a:cs typeface="Helvetica Neue"/>
              </a:defRPr>
            </a:lvl7pPr>
            <a:lvl8pPr>
              <a:defRPr sz="1125" b="1">
                <a:solidFill>
                  <a:srgbClr val="237B82"/>
                </a:solidFill>
                <a:latin typeface="Helvetica Neue"/>
                <a:ea typeface="Helvetica Neue"/>
                <a:cs typeface="Helvetica Neue"/>
              </a:defRPr>
            </a:lvl8pPr>
            <a:lvl9pPr>
              <a:defRPr sz="1125" b="1">
                <a:solidFill>
                  <a:srgbClr val="237B82"/>
                </a:solidFill>
                <a:latin typeface="Helvetica Neue"/>
                <a:ea typeface="Helvetica Neue"/>
                <a:cs typeface="Helvetica Neue"/>
              </a:defRPr>
            </a:lvl9pPr>
          </a:lstStyle>
          <a:p xmlns:a="http://schemas.openxmlformats.org/drawingml/2006/main">
            <a:pPr>
              <a:defRPr sz="1125" b="1">
                <a:solidFill>
                  <a:srgbClr val="237B82"/>
                </a:solidFill>
                <a:latin typeface="Helvetica Neue"/>
                <a:ea typeface="Helvetica Neue"/>
                <a:cs typeface="Helvetica Neue"/>
              </a:defRPr>
            </a:pPr>
            <a:r>
              <a:rPr sz="1125" b="1">
                <a:solidFill>
                  <a:srgbClr val="237B82"/>
                </a:solidFill>
                <a:latin typeface="Helvetica Neue"/>
                <a:ea typeface="Helvetica Neue"/>
                <a:cs typeface="Helvetica Neue"/>
              </a:rPr>
              <a:t>MODULE 4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44D58E6F-7284-4D72-B822-2AE73315AD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457200"/>
            <a:ext cx="5334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>
            <a:defPPr>
              <a:defRPr sz="1200" b="1">
                <a:solidFill>
                  <a:srgbClr val="237B82"/>
                </a:solidFill>
                <a:latin typeface="Helvetica Neue"/>
                <a:ea typeface="Helvetica Neue"/>
                <a:cs typeface="Helvetica Neue"/>
              </a:defRPr>
            </a:defPPr>
            <a:lvl1pPr>
              <a:defRPr sz="1200" b="1">
                <a:solidFill>
                  <a:srgbClr val="237B82"/>
                </a:solidFill>
                <a:latin typeface="Helvetica Neue"/>
                <a:ea typeface="Helvetica Neue"/>
                <a:cs typeface="Helvetica Neue"/>
              </a:defRPr>
            </a:lvl1pPr>
            <a:lvl2pPr>
              <a:defRPr sz="1200" b="1">
                <a:solidFill>
                  <a:srgbClr val="237B82"/>
                </a:solidFill>
                <a:latin typeface="Helvetica Neue"/>
                <a:ea typeface="Helvetica Neue"/>
                <a:cs typeface="Helvetica Neue"/>
              </a:defRPr>
            </a:lvl2pPr>
            <a:lvl3pPr>
              <a:defRPr sz="1200" b="1">
                <a:solidFill>
                  <a:srgbClr val="237B82"/>
                </a:solidFill>
                <a:latin typeface="Helvetica Neue"/>
                <a:ea typeface="Helvetica Neue"/>
                <a:cs typeface="Helvetica Neue"/>
              </a:defRPr>
            </a:lvl3pPr>
            <a:lvl4pPr>
              <a:defRPr sz="1200" b="1">
                <a:solidFill>
                  <a:srgbClr val="237B82"/>
                </a:solidFill>
                <a:latin typeface="Helvetica Neue"/>
                <a:ea typeface="Helvetica Neue"/>
                <a:cs typeface="Helvetica Neue"/>
              </a:defRPr>
            </a:lvl4pPr>
            <a:lvl5pPr>
              <a:defRPr sz="1200" b="1">
                <a:solidFill>
                  <a:srgbClr val="237B82"/>
                </a:solidFill>
                <a:latin typeface="Helvetica Neue"/>
                <a:ea typeface="Helvetica Neue"/>
                <a:cs typeface="Helvetica Neue"/>
              </a:defRPr>
            </a:lvl5pPr>
            <a:lvl6pPr>
              <a:defRPr sz="1200" b="1">
                <a:solidFill>
                  <a:srgbClr val="237B82"/>
                </a:solidFill>
                <a:latin typeface="Helvetica Neue"/>
                <a:ea typeface="Helvetica Neue"/>
                <a:cs typeface="Helvetica Neue"/>
              </a:defRPr>
            </a:lvl6pPr>
            <a:lvl7pPr>
              <a:defRPr sz="1200" b="1">
                <a:solidFill>
                  <a:srgbClr val="237B82"/>
                </a:solidFill>
                <a:latin typeface="Helvetica Neue"/>
                <a:ea typeface="Helvetica Neue"/>
                <a:cs typeface="Helvetica Neue"/>
              </a:defRPr>
            </a:lvl7pPr>
            <a:lvl8pPr>
              <a:defRPr sz="1200" b="1">
                <a:solidFill>
                  <a:srgbClr val="237B82"/>
                </a:solidFill>
                <a:latin typeface="Helvetica Neue"/>
                <a:ea typeface="Helvetica Neue"/>
                <a:cs typeface="Helvetica Neue"/>
              </a:defRPr>
            </a:lvl8pPr>
            <a:lvl9pPr>
              <a:defRPr sz="1200" b="1">
                <a:solidFill>
                  <a:srgbClr val="237B82"/>
                </a:solidFill>
                <a:latin typeface="Helvetica Neue"/>
                <a:ea typeface="Helvetica Neue"/>
                <a:cs typeface="Helvetica Neue"/>
              </a:defRPr>
            </a:lvl9pPr>
          </a:lstStyle>
          <a:p xmlns:a="http://schemas.openxmlformats.org/drawingml/2006/main">
            <a:pPr>
              <a:defRPr sz="1200" b="1">
                <a:solidFill>
                  <a:srgbClr val="237B82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00" b="1">
                <a:solidFill>
                  <a:srgbClr val="237B82"/>
                </a:solidFill>
                <a:latin typeface="Helvetica Neue"/>
                <a:ea typeface="Helvetica Neue"/>
                <a:cs typeface="Helvetica Neue"/>
              </a:rPr>
              <a:t>32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52D8A456-80F1-4D3F-A9BB-32FF7A71C7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1762125"/>
            <a:ext cx="10287000" cy="409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>
            <a:defPPr>
              <a:defRPr sz="1875">
                <a:solidFill>
                  <a:srgbClr val="13212D"/>
                </a:solidFill>
                <a:latin typeface="Helvetica Neue"/>
                <a:ea typeface="Helvetica Neue"/>
                <a:cs typeface="Helvetica Neue"/>
              </a:defRPr>
            </a:defPPr>
            <a:lvl1pPr>
              <a:defRPr sz="1875">
                <a:solidFill>
                  <a:srgbClr val="13212D"/>
                </a:solidFill>
                <a:latin typeface="Helvetica Neue"/>
                <a:ea typeface="Helvetica Neue"/>
                <a:cs typeface="Helvetica Neue"/>
              </a:defRPr>
            </a:lvl1pPr>
            <a:lvl2pPr>
              <a:defRPr sz="1875">
                <a:solidFill>
                  <a:srgbClr val="13212D"/>
                </a:solidFill>
                <a:latin typeface="Helvetica Neue"/>
                <a:ea typeface="Helvetica Neue"/>
                <a:cs typeface="Helvetica Neue"/>
              </a:defRPr>
            </a:lvl2pPr>
            <a:lvl3pPr>
              <a:defRPr sz="1875">
                <a:solidFill>
                  <a:srgbClr val="13212D"/>
                </a:solidFill>
                <a:latin typeface="Helvetica Neue"/>
                <a:ea typeface="Helvetica Neue"/>
                <a:cs typeface="Helvetica Neue"/>
              </a:defRPr>
            </a:lvl3pPr>
            <a:lvl4pPr>
              <a:defRPr sz="1875">
                <a:solidFill>
                  <a:srgbClr val="13212D"/>
                </a:solidFill>
                <a:latin typeface="Helvetica Neue"/>
                <a:ea typeface="Helvetica Neue"/>
                <a:cs typeface="Helvetica Neue"/>
              </a:defRPr>
            </a:lvl4pPr>
            <a:lvl5pPr>
              <a:defRPr sz="1875">
                <a:solidFill>
                  <a:srgbClr val="13212D"/>
                </a:solidFill>
                <a:latin typeface="Helvetica Neue"/>
                <a:ea typeface="Helvetica Neue"/>
                <a:cs typeface="Helvetica Neue"/>
              </a:defRPr>
            </a:lvl5pPr>
            <a:lvl6pPr>
              <a:defRPr sz="1875">
                <a:solidFill>
                  <a:srgbClr val="13212D"/>
                </a:solidFill>
                <a:latin typeface="Helvetica Neue"/>
                <a:ea typeface="Helvetica Neue"/>
                <a:cs typeface="Helvetica Neue"/>
              </a:defRPr>
            </a:lvl6pPr>
            <a:lvl7pPr>
              <a:defRPr sz="1875">
                <a:solidFill>
                  <a:srgbClr val="13212D"/>
                </a:solidFill>
                <a:latin typeface="Helvetica Neue"/>
                <a:ea typeface="Helvetica Neue"/>
                <a:cs typeface="Helvetica Neue"/>
              </a:defRPr>
            </a:lvl7pPr>
            <a:lvl8pPr>
              <a:defRPr sz="1875">
                <a:solidFill>
                  <a:srgbClr val="13212D"/>
                </a:solidFill>
                <a:latin typeface="Helvetica Neue"/>
                <a:ea typeface="Helvetica Neue"/>
                <a:cs typeface="Helvetica Neue"/>
              </a:defRPr>
            </a:lvl8pPr>
            <a:lvl9pPr>
              <a:defRPr sz="1875">
                <a:solidFill>
                  <a:srgbClr val="13212D"/>
                </a:solidFill>
                <a:latin typeface="Helvetica Neue"/>
                <a:ea typeface="Helvetica Neue"/>
                <a:cs typeface="Helvetica Neue"/>
              </a:defRPr>
            </a:lvl9pPr>
          </a:lstStyle>
          <a:p xmlns:a="http://schemas.openxmlformats.org/drawingml/2006/main">
            <a:pPr marL="279400" indent="-127000">
              <a:spcAft>
                <a:spcPts val="1300"/>
              </a:spcAft>
              <a:buChar char="•"/>
              <a:defRPr sz="1875">
                <a:solidFill>
                  <a:srgbClr val="13212D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75">
                <a:solidFill>
                  <a:srgbClr val="13212D"/>
                </a:solidFill>
                <a:latin typeface="Helvetica Neue"/>
                <a:ea typeface="Helvetica Neue"/>
                <a:cs typeface="Helvetica Neue"/>
              </a:rPr>
              <a:t>The small amount collected form this process contains 75% of the hemophiliac factor.</a:t>
            </a:r>
          </a:p>
          <a:p xmlns:a="http://schemas.openxmlformats.org/drawingml/2006/main">
            <a:pPr marL="279400" indent="-127000">
              <a:spcAft>
                <a:spcPts val="1300"/>
              </a:spcAft>
              <a:buChar char="•"/>
              <a:defRPr sz="1875">
                <a:solidFill>
                  <a:srgbClr val="13212D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75">
                <a:solidFill>
                  <a:srgbClr val="13212D"/>
                </a:solidFill>
                <a:latin typeface="Helvetica Neue"/>
                <a:ea typeface="Helvetica Neue"/>
                <a:cs typeface="Helvetica Neue"/>
              </a:rPr>
              <a:t>The only use for this factor is in the treatment of hemophilia, a coagulation deficiency.</a:t>
            </a:r>
          </a:p>
          <a:p xmlns:a="http://schemas.openxmlformats.org/drawingml/2006/main">
            <a:pPr marL="279400" indent="-127000">
              <a:spcAft>
                <a:spcPts val="1300"/>
              </a:spcAft>
              <a:buChar char="•"/>
              <a:defRPr sz="1875">
                <a:solidFill>
                  <a:srgbClr val="13212D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75">
                <a:solidFill>
                  <a:srgbClr val="13212D"/>
                </a:solidFill>
                <a:latin typeface="Helvetica Neue"/>
                <a:ea typeface="Helvetica Neue"/>
                <a:cs typeface="Helvetica Neue"/>
              </a:rPr>
              <a:t>It remains frozen until use.</a:t>
            </a:r>
          </a:p>
          <a:p xmlns:a="http://schemas.openxmlformats.org/drawingml/2006/main">
            <a:pPr marL="279400" indent="-127000">
              <a:spcAft>
                <a:spcPts val="1300"/>
              </a:spcAft>
              <a:buChar char="•"/>
              <a:defRPr sz="1875">
                <a:solidFill>
                  <a:srgbClr val="13212D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75">
                <a:solidFill>
                  <a:srgbClr val="13212D"/>
                </a:solidFill>
                <a:latin typeface="Helvetica Neue"/>
                <a:ea typeface="Helvetica Neue"/>
                <a:cs typeface="Helvetica Neue"/>
              </a:rPr>
              <a:t>Once thawed it must be given with six (6) hours.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E9335881-F96F-4D5B-8D4A-86255FD9ED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6115050"/>
            <a:ext cx="101917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>
            <a:defPPr>
              <a:defRPr sz="1125" b="1">
                <a:solidFill>
                  <a:srgbClr val="B94F3D"/>
                </a:solidFill>
                <a:latin typeface="Helvetica Neue"/>
                <a:ea typeface="Helvetica Neue"/>
                <a:cs typeface="Helvetica Neue"/>
              </a:defRPr>
            </a:defPPr>
            <a:lvl1pPr>
              <a:defRPr sz="1125" b="1">
                <a:solidFill>
                  <a:srgbClr val="B94F3D"/>
                </a:solidFill>
                <a:latin typeface="Helvetica Neue"/>
                <a:ea typeface="Helvetica Neue"/>
                <a:cs typeface="Helvetica Neue"/>
              </a:defRPr>
            </a:lvl1pPr>
            <a:lvl2pPr>
              <a:defRPr sz="1125" b="1">
                <a:solidFill>
                  <a:srgbClr val="B94F3D"/>
                </a:solidFill>
                <a:latin typeface="Helvetica Neue"/>
                <a:ea typeface="Helvetica Neue"/>
                <a:cs typeface="Helvetica Neue"/>
              </a:defRPr>
            </a:lvl2pPr>
            <a:lvl3pPr>
              <a:defRPr sz="1125" b="1">
                <a:solidFill>
                  <a:srgbClr val="B94F3D"/>
                </a:solidFill>
                <a:latin typeface="Helvetica Neue"/>
                <a:ea typeface="Helvetica Neue"/>
                <a:cs typeface="Helvetica Neue"/>
              </a:defRPr>
            </a:lvl3pPr>
            <a:lvl4pPr>
              <a:defRPr sz="1125" b="1">
                <a:solidFill>
                  <a:srgbClr val="B94F3D"/>
                </a:solidFill>
                <a:latin typeface="Helvetica Neue"/>
                <a:ea typeface="Helvetica Neue"/>
                <a:cs typeface="Helvetica Neue"/>
              </a:defRPr>
            </a:lvl4pPr>
            <a:lvl5pPr>
              <a:defRPr sz="1125" b="1">
                <a:solidFill>
                  <a:srgbClr val="B94F3D"/>
                </a:solidFill>
                <a:latin typeface="Helvetica Neue"/>
                <a:ea typeface="Helvetica Neue"/>
                <a:cs typeface="Helvetica Neue"/>
              </a:defRPr>
            </a:lvl5pPr>
            <a:lvl6pPr>
              <a:defRPr sz="1125" b="1">
                <a:solidFill>
                  <a:srgbClr val="B94F3D"/>
                </a:solidFill>
                <a:latin typeface="Helvetica Neue"/>
                <a:ea typeface="Helvetica Neue"/>
                <a:cs typeface="Helvetica Neue"/>
              </a:defRPr>
            </a:lvl6pPr>
            <a:lvl7pPr>
              <a:defRPr sz="1125" b="1">
                <a:solidFill>
                  <a:srgbClr val="B94F3D"/>
                </a:solidFill>
                <a:latin typeface="Helvetica Neue"/>
                <a:ea typeface="Helvetica Neue"/>
                <a:cs typeface="Helvetica Neue"/>
              </a:defRPr>
            </a:lvl7pPr>
            <a:lvl8pPr>
              <a:defRPr sz="1125" b="1">
                <a:solidFill>
                  <a:srgbClr val="B94F3D"/>
                </a:solidFill>
                <a:latin typeface="Helvetica Neue"/>
                <a:ea typeface="Helvetica Neue"/>
                <a:cs typeface="Helvetica Neue"/>
              </a:defRPr>
            </a:lvl8pPr>
            <a:lvl9pPr>
              <a:defRPr sz="1125" b="1">
                <a:solidFill>
                  <a:srgbClr val="B94F3D"/>
                </a:solidFill>
                <a:latin typeface="Helvetica Neue"/>
                <a:ea typeface="Helvetica Neue"/>
                <a:cs typeface="Helvetica Neue"/>
              </a:defRPr>
            </a:lvl9pPr>
          </a:lstStyle>
          <a:p xmlns:a="http://schemas.openxmlformats.org/drawingml/2006/main">
            <a:pPr>
              <a:defRPr sz="1125" b="1">
                <a:solidFill>
                  <a:srgbClr val="B94F3D"/>
                </a:solidFill>
                <a:latin typeface="Helvetica Neue"/>
                <a:ea typeface="Helvetica Neue"/>
                <a:cs typeface="Helvetica Neue"/>
              </a:defRPr>
            </a:pPr>
            <a:r>
              <a:rPr sz="1125" b="1">
                <a:solidFill>
                  <a:srgbClr val="B94F3D"/>
                </a:solidFill>
                <a:latin typeface="Helvetica Neue"/>
                <a:ea typeface="Helvetica Neue"/>
                <a:cs typeface="Helvetica Neue"/>
              </a:rPr>
              <a:t>Use current orders, facility policy, and authorized scope when applying this information.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2D614512-21BD-4674-9B55-B802A31AAA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5772150"/>
            <a:ext cx="101917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97619"/>
          </a:bodyPr>
          <a:lstStyle xmlns:a="http://schemas.openxmlformats.org/drawingml/2006/main">
            <a:defPPr>
              <a:defRPr sz="1050" b="1">
                <a:solidFill>
                  <a:srgbClr val="237B82"/>
                </a:solidFill>
                <a:latin typeface="Helvetica Neue"/>
                <a:ea typeface="Helvetica Neue"/>
                <a:cs typeface="Helvetica Neue"/>
              </a:defRPr>
            </a:defPPr>
            <a:lvl1pPr>
              <a:defRPr sz="1050" b="1">
                <a:solidFill>
                  <a:srgbClr val="237B82"/>
                </a:solidFill>
                <a:latin typeface="Helvetica Neue"/>
                <a:ea typeface="Helvetica Neue"/>
                <a:cs typeface="Helvetica Neue"/>
              </a:defRPr>
            </a:lvl1pPr>
            <a:lvl2pPr>
              <a:defRPr sz="1050" b="1">
                <a:solidFill>
                  <a:srgbClr val="237B82"/>
                </a:solidFill>
                <a:latin typeface="Helvetica Neue"/>
                <a:ea typeface="Helvetica Neue"/>
                <a:cs typeface="Helvetica Neue"/>
              </a:defRPr>
            </a:lvl2pPr>
            <a:lvl3pPr>
              <a:defRPr sz="1050" b="1">
                <a:solidFill>
                  <a:srgbClr val="237B82"/>
                </a:solidFill>
                <a:latin typeface="Helvetica Neue"/>
                <a:ea typeface="Helvetica Neue"/>
                <a:cs typeface="Helvetica Neue"/>
              </a:defRPr>
            </a:lvl3pPr>
            <a:lvl4pPr>
              <a:defRPr sz="1050" b="1">
                <a:solidFill>
                  <a:srgbClr val="237B82"/>
                </a:solidFill>
                <a:latin typeface="Helvetica Neue"/>
                <a:ea typeface="Helvetica Neue"/>
                <a:cs typeface="Helvetica Neue"/>
              </a:defRPr>
            </a:lvl4pPr>
            <a:lvl5pPr>
              <a:defRPr sz="1050" b="1">
                <a:solidFill>
                  <a:srgbClr val="237B82"/>
                </a:solidFill>
                <a:latin typeface="Helvetica Neue"/>
                <a:ea typeface="Helvetica Neue"/>
                <a:cs typeface="Helvetica Neue"/>
              </a:defRPr>
            </a:lvl5pPr>
            <a:lvl6pPr>
              <a:defRPr sz="1050" b="1">
                <a:solidFill>
                  <a:srgbClr val="237B82"/>
                </a:solidFill>
                <a:latin typeface="Helvetica Neue"/>
                <a:ea typeface="Helvetica Neue"/>
                <a:cs typeface="Helvetica Neue"/>
              </a:defRPr>
            </a:lvl6pPr>
            <a:lvl7pPr>
              <a:defRPr sz="1050" b="1">
                <a:solidFill>
                  <a:srgbClr val="237B82"/>
                </a:solidFill>
                <a:latin typeface="Helvetica Neue"/>
                <a:ea typeface="Helvetica Neue"/>
                <a:cs typeface="Helvetica Neue"/>
              </a:defRPr>
            </a:lvl7pPr>
            <a:lvl8pPr>
              <a:defRPr sz="1050" b="1">
                <a:solidFill>
                  <a:srgbClr val="237B82"/>
                </a:solidFill>
                <a:latin typeface="Helvetica Neue"/>
                <a:ea typeface="Helvetica Neue"/>
                <a:cs typeface="Helvetica Neue"/>
              </a:defRPr>
            </a:lvl8pPr>
            <a:lvl9pPr>
              <a:defRPr sz="1050" b="1">
                <a:solidFill>
                  <a:srgbClr val="237B82"/>
                </a:solidFill>
                <a:latin typeface="Helvetica Neue"/>
                <a:ea typeface="Helvetica Neue"/>
                <a:cs typeface="Helvetica Neue"/>
              </a:defRPr>
            </a:lvl9pPr>
          </a:lstStyle>
          <a:p xmlns:a="http://schemas.openxmlformats.org/drawingml/2006/main">
            <a:pPr>
              <a:defRPr sz="1050" b="1">
                <a:solidFill>
                  <a:srgbClr val="237B82"/>
                </a:solidFill>
                <a:latin typeface="Helvetica Neue"/>
                <a:ea typeface="Helvetica Neue"/>
                <a:cs typeface="Helvetica Neue"/>
              </a:defRPr>
            </a:pPr>
            <a:r>
              <a:rPr sz="1050" b="1">
                <a:solidFill>
                  <a:srgbClr val="237B82"/>
                </a:solidFill>
                <a:latin typeface="Helvetica Neue"/>
                <a:ea typeface="Helvetica Neue"/>
                <a:cs typeface="Helvetica Neue"/>
              </a:rPr>
              <a:t>Manual page 55</a:t>
            </a:r>
          </a:p>
        </p:txBody>
      </p:sp>
    </p:spTree>
    <p:extLst>
      <p:ext uri="{BB962C8B-B14F-4D97-AF65-F5344CB8AC3E}">
        <p14:creationId xmlns:p14="http://schemas.microsoft.com/office/powerpoint/2010/main" val="1589284957"/>
      </p:ext>
    </p:extLst>
  </p:cSld>
</p:sld>
</file>

<file path=ppt/slides/slide33.xml><?xml version="1.0" encoding="utf-8"?>
<p:sld xmlns:p="http://schemas.openxmlformats.org/presentationml/2006/main">
  <p:cSld>
    <p:bg>
      <p:bgPr>
        <a:solidFill xmlns:a="http://schemas.openxmlformats.org/drawingml/2006/main">
          <a:srgbClr val="F7F4EE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724CFE2E-B7BA-4C91-A4D7-EAE368B1FA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2095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37B82"/>
          </a:solidFill>
          <a:ln xmlns:a="http://schemas.openxmlformats.org/drawingml/2006/main" w="0">
            <a:solidFill>
              <a:srgbClr val="237B82"/>
            </a:solidFill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78E46EDD-38D8-4851-8BD9-0FF6C81AFE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00050"/>
            <a:ext cx="10001250" cy="819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88426"/>
          </a:bodyPr>
          <a:lstStyle xmlns:a="http://schemas.openxmlformats.org/drawingml/2006/main">
            <a:defPPr>
              <a:defRPr sz="2700" b="1">
                <a:solidFill>
                  <a:srgbClr val="15324A"/>
                </a:solidFill>
                <a:latin typeface="Helvetica Neue"/>
                <a:ea typeface="Helvetica Neue"/>
                <a:cs typeface="Helvetica Neue"/>
              </a:defRPr>
            </a:defPPr>
            <a:lvl1pPr>
              <a:defRPr sz="2700" b="1">
                <a:solidFill>
                  <a:srgbClr val="15324A"/>
                </a:solidFill>
                <a:latin typeface="Helvetica Neue"/>
                <a:ea typeface="Helvetica Neue"/>
                <a:cs typeface="Helvetica Neue"/>
              </a:defRPr>
            </a:lvl1pPr>
            <a:lvl2pPr>
              <a:defRPr sz="2700" b="1">
                <a:solidFill>
                  <a:srgbClr val="15324A"/>
                </a:solidFill>
                <a:latin typeface="Helvetica Neue"/>
                <a:ea typeface="Helvetica Neue"/>
                <a:cs typeface="Helvetica Neue"/>
              </a:defRPr>
            </a:lvl2pPr>
            <a:lvl3pPr>
              <a:defRPr sz="2700" b="1">
                <a:solidFill>
                  <a:srgbClr val="15324A"/>
                </a:solidFill>
                <a:latin typeface="Helvetica Neue"/>
                <a:ea typeface="Helvetica Neue"/>
                <a:cs typeface="Helvetica Neue"/>
              </a:defRPr>
            </a:lvl3pPr>
            <a:lvl4pPr>
              <a:defRPr sz="2700" b="1">
                <a:solidFill>
                  <a:srgbClr val="15324A"/>
                </a:solidFill>
                <a:latin typeface="Helvetica Neue"/>
                <a:ea typeface="Helvetica Neue"/>
                <a:cs typeface="Helvetica Neue"/>
              </a:defRPr>
            </a:lvl4pPr>
            <a:lvl5pPr>
              <a:defRPr sz="2700" b="1">
                <a:solidFill>
                  <a:srgbClr val="15324A"/>
                </a:solidFill>
                <a:latin typeface="Helvetica Neue"/>
                <a:ea typeface="Helvetica Neue"/>
                <a:cs typeface="Helvetica Neue"/>
              </a:defRPr>
            </a:lvl5pPr>
            <a:lvl6pPr>
              <a:defRPr sz="2700" b="1">
                <a:solidFill>
                  <a:srgbClr val="15324A"/>
                </a:solidFill>
                <a:latin typeface="Helvetica Neue"/>
                <a:ea typeface="Helvetica Neue"/>
                <a:cs typeface="Helvetica Neue"/>
              </a:defRPr>
            </a:lvl6pPr>
            <a:lvl7pPr>
              <a:defRPr sz="2700" b="1">
                <a:solidFill>
                  <a:srgbClr val="15324A"/>
                </a:solidFill>
                <a:latin typeface="Helvetica Neue"/>
                <a:ea typeface="Helvetica Neue"/>
                <a:cs typeface="Helvetica Neue"/>
              </a:defRPr>
            </a:lvl7pPr>
            <a:lvl8pPr>
              <a:defRPr sz="2700" b="1">
                <a:solidFill>
                  <a:srgbClr val="15324A"/>
                </a:solidFill>
                <a:latin typeface="Helvetica Neue"/>
                <a:ea typeface="Helvetica Neue"/>
                <a:cs typeface="Helvetica Neue"/>
              </a:defRPr>
            </a:lvl8pPr>
            <a:lvl9pPr>
              <a:defRPr sz="2700" b="1">
                <a:solidFill>
                  <a:srgbClr val="15324A"/>
                </a:solidFill>
                <a:latin typeface="Helvetica Neue"/>
                <a:ea typeface="Helvetica Neue"/>
                <a:cs typeface="Helvetica Neue"/>
              </a:defRPr>
            </a:lvl9pPr>
          </a:lstStyle>
          <a:p xmlns:a="http://schemas.openxmlformats.org/drawingml/2006/main">
            <a:pPr>
              <a:defRPr sz="2700" b="1">
                <a:solidFill>
                  <a:srgbClr val="15324A"/>
                </a:solidFill>
                <a:latin typeface="Helvetica Neue"/>
                <a:ea typeface="Helvetica Neue"/>
                <a:cs typeface="Helvetica Neue"/>
              </a:defRPr>
            </a:pPr>
            <a:r>
              <a:rPr sz="2700" b="1">
                <a:solidFill>
                  <a:srgbClr val="15324A"/>
                </a:solidFill>
                <a:latin typeface="Helvetica Neue"/>
                <a:ea typeface="Helvetica Neue"/>
                <a:cs typeface="Helvetica Neue"/>
              </a:rPr>
              <a:t>Fresh Frozen Plasma - This product is indicated for the patient with inherited or — continued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94F79751-F7FC-4CA5-AAFC-D19A74B12C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1257300"/>
            <a:ext cx="88582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91111"/>
          </a:bodyPr>
          <a:lstStyle xmlns:a="http://schemas.openxmlformats.org/drawingml/2006/main">
            <a:defPPr>
              <a:defRPr sz="1125" b="1">
                <a:solidFill>
                  <a:srgbClr val="237B82"/>
                </a:solidFill>
                <a:latin typeface="Helvetica Neue"/>
                <a:ea typeface="Helvetica Neue"/>
                <a:cs typeface="Helvetica Neue"/>
              </a:defRPr>
            </a:defPPr>
            <a:lvl1pPr>
              <a:defRPr sz="1125" b="1">
                <a:solidFill>
                  <a:srgbClr val="237B82"/>
                </a:solidFill>
                <a:latin typeface="Helvetica Neue"/>
                <a:ea typeface="Helvetica Neue"/>
                <a:cs typeface="Helvetica Neue"/>
              </a:defRPr>
            </a:lvl1pPr>
            <a:lvl2pPr>
              <a:defRPr sz="1125" b="1">
                <a:solidFill>
                  <a:srgbClr val="237B82"/>
                </a:solidFill>
                <a:latin typeface="Helvetica Neue"/>
                <a:ea typeface="Helvetica Neue"/>
                <a:cs typeface="Helvetica Neue"/>
              </a:defRPr>
            </a:lvl2pPr>
            <a:lvl3pPr>
              <a:defRPr sz="1125" b="1">
                <a:solidFill>
                  <a:srgbClr val="237B82"/>
                </a:solidFill>
                <a:latin typeface="Helvetica Neue"/>
                <a:ea typeface="Helvetica Neue"/>
                <a:cs typeface="Helvetica Neue"/>
              </a:defRPr>
            </a:lvl3pPr>
            <a:lvl4pPr>
              <a:defRPr sz="1125" b="1">
                <a:solidFill>
                  <a:srgbClr val="237B82"/>
                </a:solidFill>
                <a:latin typeface="Helvetica Neue"/>
                <a:ea typeface="Helvetica Neue"/>
                <a:cs typeface="Helvetica Neue"/>
              </a:defRPr>
            </a:lvl4pPr>
            <a:lvl5pPr>
              <a:defRPr sz="1125" b="1">
                <a:solidFill>
                  <a:srgbClr val="237B82"/>
                </a:solidFill>
                <a:latin typeface="Helvetica Neue"/>
                <a:ea typeface="Helvetica Neue"/>
                <a:cs typeface="Helvetica Neue"/>
              </a:defRPr>
            </a:lvl5pPr>
            <a:lvl6pPr>
              <a:defRPr sz="1125" b="1">
                <a:solidFill>
                  <a:srgbClr val="237B82"/>
                </a:solidFill>
                <a:latin typeface="Helvetica Neue"/>
                <a:ea typeface="Helvetica Neue"/>
                <a:cs typeface="Helvetica Neue"/>
              </a:defRPr>
            </a:lvl6pPr>
            <a:lvl7pPr>
              <a:defRPr sz="1125" b="1">
                <a:solidFill>
                  <a:srgbClr val="237B82"/>
                </a:solidFill>
                <a:latin typeface="Helvetica Neue"/>
                <a:ea typeface="Helvetica Neue"/>
                <a:cs typeface="Helvetica Neue"/>
              </a:defRPr>
            </a:lvl7pPr>
            <a:lvl8pPr>
              <a:defRPr sz="1125" b="1">
                <a:solidFill>
                  <a:srgbClr val="237B82"/>
                </a:solidFill>
                <a:latin typeface="Helvetica Neue"/>
                <a:ea typeface="Helvetica Neue"/>
                <a:cs typeface="Helvetica Neue"/>
              </a:defRPr>
            </a:lvl8pPr>
            <a:lvl9pPr>
              <a:defRPr sz="1125" b="1">
                <a:solidFill>
                  <a:srgbClr val="237B82"/>
                </a:solidFill>
                <a:latin typeface="Helvetica Neue"/>
                <a:ea typeface="Helvetica Neue"/>
                <a:cs typeface="Helvetica Neue"/>
              </a:defRPr>
            </a:lvl9pPr>
          </a:lstStyle>
          <a:p xmlns:a="http://schemas.openxmlformats.org/drawingml/2006/main">
            <a:pPr>
              <a:defRPr sz="1125" b="1">
                <a:solidFill>
                  <a:srgbClr val="237B82"/>
                </a:solidFill>
                <a:latin typeface="Helvetica Neue"/>
                <a:ea typeface="Helvetica Neue"/>
                <a:cs typeface="Helvetica Neue"/>
              </a:defRPr>
            </a:pPr>
            <a:r>
              <a:rPr sz="1125" b="1">
                <a:solidFill>
                  <a:srgbClr val="237B82"/>
                </a:solidFill>
                <a:latin typeface="Helvetica Neue"/>
                <a:ea typeface="Helvetica Neue"/>
                <a:cs typeface="Helvetica Neue"/>
              </a:rPr>
              <a:t>MODULE 4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FA8563E2-FBC6-450A-87E9-77E620FE85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457200"/>
            <a:ext cx="5334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>
            <a:defPPr>
              <a:defRPr sz="1200" b="1">
                <a:solidFill>
                  <a:srgbClr val="237B82"/>
                </a:solidFill>
                <a:latin typeface="Helvetica Neue"/>
                <a:ea typeface="Helvetica Neue"/>
                <a:cs typeface="Helvetica Neue"/>
              </a:defRPr>
            </a:defPPr>
            <a:lvl1pPr>
              <a:defRPr sz="1200" b="1">
                <a:solidFill>
                  <a:srgbClr val="237B82"/>
                </a:solidFill>
                <a:latin typeface="Helvetica Neue"/>
                <a:ea typeface="Helvetica Neue"/>
                <a:cs typeface="Helvetica Neue"/>
              </a:defRPr>
            </a:lvl1pPr>
            <a:lvl2pPr>
              <a:defRPr sz="1200" b="1">
                <a:solidFill>
                  <a:srgbClr val="237B82"/>
                </a:solidFill>
                <a:latin typeface="Helvetica Neue"/>
                <a:ea typeface="Helvetica Neue"/>
                <a:cs typeface="Helvetica Neue"/>
              </a:defRPr>
            </a:lvl2pPr>
            <a:lvl3pPr>
              <a:defRPr sz="1200" b="1">
                <a:solidFill>
                  <a:srgbClr val="237B82"/>
                </a:solidFill>
                <a:latin typeface="Helvetica Neue"/>
                <a:ea typeface="Helvetica Neue"/>
                <a:cs typeface="Helvetica Neue"/>
              </a:defRPr>
            </a:lvl3pPr>
            <a:lvl4pPr>
              <a:defRPr sz="1200" b="1">
                <a:solidFill>
                  <a:srgbClr val="237B82"/>
                </a:solidFill>
                <a:latin typeface="Helvetica Neue"/>
                <a:ea typeface="Helvetica Neue"/>
                <a:cs typeface="Helvetica Neue"/>
              </a:defRPr>
            </a:lvl4pPr>
            <a:lvl5pPr>
              <a:defRPr sz="1200" b="1">
                <a:solidFill>
                  <a:srgbClr val="237B82"/>
                </a:solidFill>
                <a:latin typeface="Helvetica Neue"/>
                <a:ea typeface="Helvetica Neue"/>
                <a:cs typeface="Helvetica Neue"/>
              </a:defRPr>
            </a:lvl5pPr>
            <a:lvl6pPr>
              <a:defRPr sz="1200" b="1">
                <a:solidFill>
                  <a:srgbClr val="237B82"/>
                </a:solidFill>
                <a:latin typeface="Helvetica Neue"/>
                <a:ea typeface="Helvetica Neue"/>
                <a:cs typeface="Helvetica Neue"/>
              </a:defRPr>
            </a:lvl6pPr>
            <a:lvl7pPr>
              <a:defRPr sz="1200" b="1">
                <a:solidFill>
                  <a:srgbClr val="237B82"/>
                </a:solidFill>
                <a:latin typeface="Helvetica Neue"/>
                <a:ea typeface="Helvetica Neue"/>
                <a:cs typeface="Helvetica Neue"/>
              </a:defRPr>
            </a:lvl7pPr>
            <a:lvl8pPr>
              <a:defRPr sz="1200" b="1">
                <a:solidFill>
                  <a:srgbClr val="237B82"/>
                </a:solidFill>
                <a:latin typeface="Helvetica Neue"/>
                <a:ea typeface="Helvetica Neue"/>
                <a:cs typeface="Helvetica Neue"/>
              </a:defRPr>
            </a:lvl8pPr>
            <a:lvl9pPr>
              <a:defRPr sz="1200" b="1">
                <a:solidFill>
                  <a:srgbClr val="237B82"/>
                </a:solidFill>
                <a:latin typeface="Helvetica Neue"/>
                <a:ea typeface="Helvetica Neue"/>
                <a:cs typeface="Helvetica Neue"/>
              </a:defRPr>
            </a:lvl9pPr>
          </a:lstStyle>
          <a:p xmlns:a="http://schemas.openxmlformats.org/drawingml/2006/main">
            <a:pPr>
              <a:defRPr sz="1200" b="1">
                <a:solidFill>
                  <a:srgbClr val="237B82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00" b="1">
                <a:solidFill>
                  <a:srgbClr val="237B82"/>
                </a:solidFill>
                <a:latin typeface="Helvetica Neue"/>
                <a:ea typeface="Helvetica Neue"/>
                <a:cs typeface="Helvetica Neue"/>
              </a:rPr>
              <a:t>33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4A894035-E8A1-4EAD-9626-2BAE72C23D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1762125"/>
            <a:ext cx="10287000" cy="409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>
            <a:defPPr>
              <a:defRPr sz="1875">
                <a:solidFill>
                  <a:srgbClr val="13212D"/>
                </a:solidFill>
                <a:latin typeface="Helvetica Neue"/>
                <a:ea typeface="Helvetica Neue"/>
                <a:cs typeface="Helvetica Neue"/>
              </a:defRPr>
            </a:defPPr>
            <a:lvl1pPr>
              <a:defRPr sz="1875">
                <a:solidFill>
                  <a:srgbClr val="13212D"/>
                </a:solidFill>
                <a:latin typeface="Helvetica Neue"/>
                <a:ea typeface="Helvetica Neue"/>
                <a:cs typeface="Helvetica Neue"/>
              </a:defRPr>
            </a:lvl1pPr>
            <a:lvl2pPr>
              <a:defRPr sz="1875">
                <a:solidFill>
                  <a:srgbClr val="13212D"/>
                </a:solidFill>
                <a:latin typeface="Helvetica Neue"/>
                <a:ea typeface="Helvetica Neue"/>
                <a:cs typeface="Helvetica Neue"/>
              </a:defRPr>
            </a:lvl2pPr>
            <a:lvl3pPr>
              <a:defRPr sz="1875">
                <a:solidFill>
                  <a:srgbClr val="13212D"/>
                </a:solidFill>
                <a:latin typeface="Helvetica Neue"/>
                <a:ea typeface="Helvetica Neue"/>
                <a:cs typeface="Helvetica Neue"/>
              </a:defRPr>
            </a:lvl3pPr>
            <a:lvl4pPr>
              <a:defRPr sz="1875">
                <a:solidFill>
                  <a:srgbClr val="13212D"/>
                </a:solidFill>
                <a:latin typeface="Helvetica Neue"/>
                <a:ea typeface="Helvetica Neue"/>
                <a:cs typeface="Helvetica Neue"/>
              </a:defRPr>
            </a:lvl4pPr>
            <a:lvl5pPr>
              <a:defRPr sz="1875">
                <a:solidFill>
                  <a:srgbClr val="13212D"/>
                </a:solidFill>
                <a:latin typeface="Helvetica Neue"/>
                <a:ea typeface="Helvetica Neue"/>
                <a:cs typeface="Helvetica Neue"/>
              </a:defRPr>
            </a:lvl5pPr>
            <a:lvl6pPr>
              <a:defRPr sz="1875">
                <a:solidFill>
                  <a:srgbClr val="13212D"/>
                </a:solidFill>
                <a:latin typeface="Helvetica Neue"/>
                <a:ea typeface="Helvetica Neue"/>
                <a:cs typeface="Helvetica Neue"/>
              </a:defRPr>
            </a:lvl6pPr>
            <a:lvl7pPr>
              <a:defRPr sz="1875">
                <a:solidFill>
                  <a:srgbClr val="13212D"/>
                </a:solidFill>
                <a:latin typeface="Helvetica Neue"/>
                <a:ea typeface="Helvetica Neue"/>
                <a:cs typeface="Helvetica Neue"/>
              </a:defRPr>
            </a:lvl7pPr>
            <a:lvl8pPr>
              <a:defRPr sz="1875">
                <a:solidFill>
                  <a:srgbClr val="13212D"/>
                </a:solidFill>
                <a:latin typeface="Helvetica Neue"/>
                <a:ea typeface="Helvetica Neue"/>
                <a:cs typeface="Helvetica Neue"/>
              </a:defRPr>
            </a:lvl8pPr>
            <a:lvl9pPr>
              <a:defRPr sz="1875">
                <a:solidFill>
                  <a:srgbClr val="13212D"/>
                </a:solidFill>
                <a:latin typeface="Helvetica Neue"/>
                <a:ea typeface="Helvetica Neue"/>
                <a:cs typeface="Helvetica Neue"/>
              </a:defRPr>
            </a:lvl9pPr>
          </a:lstStyle>
          <a:p xmlns:a="http://schemas.openxmlformats.org/drawingml/2006/main">
            <a:pPr marL="279400" indent="-127000">
              <a:spcAft>
                <a:spcPts val="1300"/>
              </a:spcAft>
              <a:buChar char="•"/>
              <a:defRPr sz="1875">
                <a:solidFill>
                  <a:srgbClr val="13212D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75">
                <a:solidFill>
                  <a:srgbClr val="13212D"/>
                </a:solidFill>
                <a:latin typeface="Helvetica Neue"/>
                <a:ea typeface="Helvetica Neue"/>
                <a:cs typeface="Helvetica Neue"/>
              </a:rPr>
              <a:t>Platelets - Platelets are a constituent of the plasma portion of the blood.</a:t>
            </a:r>
          </a:p>
          <a:p xmlns:a="http://schemas.openxmlformats.org/drawingml/2006/main">
            <a:pPr marL="279400" indent="-127000">
              <a:spcAft>
                <a:spcPts val="1300"/>
              </a:spcAft>
              <a:buChar char="•"/>
              <a:defRPr sz="1875">
                <a:solidFill>
                  <a:srgbClr val="13212D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75">
                <a:solidFill>
                  <a:srgbClr val="13212D"/>
                </a:solidFill>
                <a:latin typeface="Helvetica Neue"/>
                <a:ea typeface="Helvetica Neue"/>
                <a:cs typeface="Helvetica Neue"/>
              </a:rPr>
              <a:t>Normal adult platelet counts range form 150,000 to 350,000 per cubic millimeter.</a:t>
            </a:r>
          </a:p>
          <a:p xmlns:a="http://schemas.openxmlformats.org/drawingml/2006/main">
            <a:pPr marL="279400" indent="-127000">
              <a:spcAft>
                <a:spcPts val="1300"/>
              </a:spcAft>
              <a:buChar char="•"/>
              <a:defRPr sz="1875">
                <a:solidFill>
                  <a:srgbClr val="13212D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75">
                <a:solidFill>
                  <a:srgbClr val="13212D"/>
                </a:solidFill>
                <a:latin typeface="Helvetica Neue"/>
                <a:ea typeface="Helvetica Neue"/>
                <a:cs typeface="Helvetica Neue"/>
              </a:rPr>
              <a:t>Replacement of this plasma component is therapeutically indicated for counts under 10,000.</a:t>
            </a:r>
          </a:p>
          <a:p xmlns:a="http://schemas.openxmlformats.org/drawingml/2006/main">
            <a:pPr marL="279400" indent="-127000">
              <a:spcAft>
                <a:spcPts val="1300"/>
              </a:spcAft>
              <a:buChar char="•"/>
              <a:defRPr sz="1875">
                <a:solidFill>
                  <a:srgbClr val="13212D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75">
                <a:solidFill>
                  <a:srgbClr val="13212D"/>
                </a:solidFill>
                <a:latin typeface="Helvetica Neue"/>
                <a:ea typeface="Helvetica Neue"/>
                <a:cs typeface="Helvetica Neue"/>
              </a:rPr>
              <a:t>They are generally stored at room temperature and infused within six (6) hours of donation.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CA3C3173-B44D-40A6-B9C4-53F3349738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6115050"/>
            <a:ext cx="101917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>
            <a:defPPr>
              <a:defRPr sz="1125" b="1">
                <a:solidFill>
                  <a:srgbClr val="B94F3D"/>
                </a:solidFill>
                <a:latin typeface="Helvetica Neue"/>
                <a:ea typeface="Helvetica Neue"/>
                <a:cs typeface="Helvetica Neue"/>
              </a:defRPr>
            </a:defPPr>
            <a:lvl1pPr>
              <a:defRPr sz="1125" b="1">
                <a:solidFill>
                  <a:srgbClr val="B94F3D"/>
                </a:solidFill>
                <a:latin typeface="Helvetica Neue"/>
                <a:ea typeface="Helvetica Neue"/>
                <a:cs typeface="Helvetica Neue"/>
              </a:defRPr>
            </a:lvl1pPr>
            <a:lvl2pPr>
              <a:defRPr sz="1125" b="1">
                <a:solidFill>
                  <a:srgbClr val="B94F3D"/>
                </a:solidFill>
                <a:latin typeface="Helvetica Neue"/>
                <a:ea typeface="Helvetica Neue"/>
                <a:cs typeface="Helvetica Neue"/>
              </a:defRPr>
            </a:lvl2pPr>
            <a:lvl3pPr>
              <a:defRPr sz="1125" b="1">
                <a:solidFill>
                  <a:srgbClr val="B94F3D"/>
                </a:solidFill>
                <a:latin typeface="Helvetica Neue"/>
                <a:ea typeface="Helvetica Neue"/>
                <a:cs typeface="Helvetica Neue"/>
              </a:defRPr>
            </a:lvl3pPr>
            <a:lvl4pPr>
              <a:defRPr sz="1125" b="1">
                <a:solidFill>
                  <a:srgbClr val="B94F3D"/>
                </a:solidFill>
                <a:latin typeface="Helvetica Neue"/>
                <a:ea typeface="Helvetica Neue"/>
                <a:cs typeface="Helvetica Neue"/>
              </a:defRPr>
            </a:lvl4pPr>
            <a:lvl5pPr>
              <a:defRPr sz="1125" b="1">
                <a:solidFill>
                  <a:srgbClr val="B94F3D"/>
                </a:solidFill>
                <a:latin typeface="Helvetica Neue"/>
                <a:ea typeface="Helvetica Neue"/>
                <a:cs typeface="Helvetica Neue"/>
              </a:defRPr>
            </a:lvl5pPr>
            <a:lvl6pPr>
              <a:defRPr sz="1125" b="1">
                <a:solidFill>
                  <a:srgbClr val="B94F3D"/>
                </a:solidFill>
                <a:latin typeface="Helvetica Neue"/>
                <a:ea typeface="Helvetica Neue"/>
                <a:cs typeface="Helvetica Neue"/>
              </a:defRPr>
            </a:lvl6pPr>
            <a:lvl7pPr>
              <a:defRPr sz="1125" b="1">
                <a:solidFill>
                  <a:srgbClr val="B94F3D"/>
                </a:solidFill>
                <a:latin typeface="Helvetica Neue"/>
                <a:ea typeface="Helvetica Neue"/>
                <a:cs typeface="Helvetica Neue"/>
              </a:defRPr>
            </a:lvl7pPr>
            <a:lvl8pPr>
              <a:defRPr sz="1125" b="1">
                <a:solidFill>
                  <a:srgbClr val="B94F3D"/>
                </a:solidFill>
                <a:latin typeface="Helvetica Neue"/>
                <a:ea typeface="Helvetica Neue"/>
                <a:cs typeface="Helvetica Neue"/>
              </a:defRPr>
            </a:lvl8pPr>
            <a:lvl9pPr>
              <a:defRPr sz="1125" b="1">
                <a:solidFill>
                  <a:srgbClr val="B94F3D"/>
                </a:solidFill>
                <a:latin typeface="Helvetica Neue"/>
                <a:ea typeface="Helvetica Neue"/>
                <a:cs typeface="Helvetica Neue"/>
              </a:defRPr>
            </a:lvl9pPr>
          </a:lstStyle>
          <a:p xmlns:a="http://schemas.openxmlformats.org/drawingml/2006/main">
            <a:pPr>
              <a:defRPr sz="1125" b="1">
                <a:solidFill>
                  <a:srgbClr val="B94F3D"/>
                </a:solidFill>
                <a:latin typeface="Helvetica Neue"/>
                <a:ea typeface="Helvetica Neue"/>
                <a:cs typeface="Helvetica Neue"/>
              </a:defRPr>
            </a:pPr>
            <a:r>
              <a:rPr sz="1125" b="1">
                <a:solidFill>
                  <a:srgbClr val="B94F3D"/>
                </a:solidFill>
                <a:latin typeface="Helvetica Neue"/>
                <a:ea typeface="Helvetica Neue"/>
                <a:cs typeface="Helvetica Neue"/>
              </a:rPr>
              <a:t>Use current orders, facility policy, and authorized scope when applying this information.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3C763E8F-A1D8-44FB-81E5-3A665CF61A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5772150"/>
            <a:ext cx="101917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97619"/>
          </a:bodyPr>
          <a:lstStyle xmlns:a="http://schemas.openxmlformats.org/drawingml/2006/main">
            <a:defPPr>
              <a:defRPr sz="1050" b="1">
                <a:solidFill>
                  <a:srgbClr val="237B82"/>
                </a:solidFill>
                <a:latin typeface="Helvetica Neue"/>
                <a:ea typeface="Helvetica Neue"/>
                <a:cs typeface="Helvetica Neue"/>
              </a:defRPr>
            </a:defPPr>
            <a:lvl1pPr>
              <a:defRPr sz="1050" b="1">
                <a:solidFill>
                  <a:srgbClr val="237B82"/>
                </a:solidFill>
                <a:latin typeface="Helvetica Neue"/>
                <a:ea typeface="Helvetica Neue"/>
                <a:cs typeface="Helvetica Neue"/>
              </a:defRPr>
            </a:lvl1pPr>
            <a:lvl2pPr>
              <a:defRPr sz="1050" b="1">
                <a:solidFill>
                  <a:srgbClr val="237B82"/>
                </a:solidFill>
                <a:latin typeface="Helvetica Neue"/>
                <a:ea typeface="Helvetica Neue"/>
                <a:cs typeface="Helvetica Neue"/>
              </a:defRPr>
            </a:lvl2pPr>
            <a:lvl3pPr>
              <a:defRPr sz="1050" b="1">
                <a:solidFill>
                  <a:srgbClr val="237B82"/>
                </a:solidFill>
                <a:latin typeface="Helvetica Neue"/>
                <a:ea typeface="Helvetica Neue"/>
                <a:cs typeface="Helvetica Neue"/>
              </a:defRPr>
            </a:lvl3pPr>
            <a:lvl4pPr>
              <a:defRPr sz="1050" b="1">
                <a:solidFill>
                  <a:srgbClr val="237B82"/>
                </a:solidFill>
                <a:latin typeface="Helvetica Neue"/>
                <a:ea typeface="Helvetica Neue"/>
                <a:cs typeface="Helvetica Neue"/>
              </a:defRPr>
            </a:lvl4pPr>
            <a:lvl5pPr>
              <a:defRPr sz="1050" b="1">
                <a:solidFill>
                  <a:srgbClr val="237B82"/>
                </a:solidFill>
                <a:latin typeface="Helvetica Neue"/>
                <a:ea typeface="Helvetica Neue"/>
                <a:cs typeface="Helvetica Neue"/>
              </a:defRPr>
            </a:lvl5pPr>
            <a:lvl6pPr>
              <a:defRPr sz="1050" b="1">
                <a:solidFill>
                  <a:srgbClr val="237B82"/>
                </a:solidFill>
                <a:latin typeface="Helvetica Neue"/>
                <a:ea typeface="Helvetica Neue"/>
                <a:cs typeface="Helvetica Neue"/>
              </a:defRPr>
            </a:lvl6pPr>
            <a:lvl7pPr>
              <a:defRPr sz="1050" b="1">
                <a:solidFill>
                  <a:srgbClr val="237B82"/>
                </a:solidFill>
                <a:latin typeface="Helvetica Neue"/>
                <a:ea typeface="Helvetica Neue"/>
                <a:cs typeface="Helvetica Neue"/>
              </a:defRPr>
            </a:lvl7pPr>
            <a:lvl8pPr>
              <a:defRPr sz="1050" b="1">
                <a:solidFill>
                  <a:srgbClr val="237B82"/>
                </a:solidFill>
                <a:latin typeface="Helvetica Neue"/>
                <a:ea typeface="Helvetica Neue"/>
                <a:cs typeface="Helvetica Neue"/>
              </a:defRPr>
            </a:lvl8pPr>
            <a:lvl9pPr>
              <a:defRPr sz="1050" b="1">
                <a:solidFill>
                  <a:srgbClr val="237B82"/>
                </a:solidFill>
                <a:latin typeface="Helvetica Neue"/>
                <a:ea typeface="Helvetica Neue"/>
                <a:cs typeface="Helvetica Neue"/>
              </a:defRPr>
            </a:lvl9pPr>
          </a:lstStyle>
          <a:p xmlns:a="http://schemas.openxmlformats.org/drawingml/2006/main">
            <a:pPr>
              <a:defRPr sz="1050" b="1">
                <a:solidFill>
                  <a:srgbClr val="237B82"/>
                </a:solidFill>
                <a:latin typeface="Helvetica Neue"/>
                <a:ea typeface="Helvetica Neue"/>
                <a:cs typeface="Helvetica Neue"/>
              </a:defRPr>
            </a:pPr>
            <a:r>
              <a:rPr sz="1050" b="1">
                <a:solidFill>
                  <a:srgbClr val="237B82"/>
                </a:solidFill>
                <a:latin typeface="Helvetica Neue"/>
                <a:ea typeface="Helvetica Neue"/>
                <a:cs typeface="Helvetica Neue"/>
              </a:rPr>
              <a:t>Manual page 55</a:t>
            </a:r>
          </a:p>
        </p:txBody>
      </p:sp>
    </p:spTree>
    <p:extLst>
      <p:ext uri="{BB962C8B-B14F-4D97-AF65-F5344CB8AC3E}">
        <p14:creationId xmlns:p14="http://schemas.microsoft.com/office/powerpoint/2010/main" val="682504321"/>
      </p:ext>
    </p:extLst>
  </p:cSld>
</p:sld>
</file>

<file path=ppt/slides/slide34.xml><?xml version="1.0" encoding="utf-8"?>
<p:sld xmlns:p="http://schemas.openxmlformats.org/presentationml/2006/main">
  <p:cSld>
    <p:bg>
      <p:bgPr>
        <a:solidFill xmlns:a="http://schemas.openxmlformats.org/drawingml/2006/main">
          <a:srgbClr val="F7F4EE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15BF1861-59DB-44CE-A6FE-8D6A3FDC6B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2095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37B82"/>
          </a:solidFill>
          <a:ln xmlns:a="http://schemas.openxmlformats.org/drawingml/2006/main" w="0">
            <a:solidFill>
              <a:srgbClr val="237B82"/>
            </a:solidFill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76BEC87D-F4D8-4047-9378-1F8FD65928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00050"/>
            <a:ext cx="10001250" cy="819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88426"/>
          </a:bodyPr>
          <a:lstStyle xmlns:a="http://schemas.openxmlformats.org/drawingml/2006/main">
            <a:defPPr>
              <a:defRPr sz="2700" b="1">
                <a:solidFill>
                  <a:srgbClr val="15324A"/>
                </a:solidFill>
                <a:latin typeface="Helvetica Neue"/>
                <a:ea typeface="Helvetica Neue"/>
                <a:cs typeface="Helvetica Neue"/>
              </a:defRPr>
            </a:defPPr>
            <a:lvl1pPr>
              <a:defRPr sz="2700" b="1">
                <a:solidFill>
                  <a:srgbClr val="15324A"/>
                </a:solidFill>
                <a:latin typeface="Helvetica Neue"/>
                <a:ea typeface="Helvetica Neue"/>
                <a:cs typeface="Helvetica Neue"/>
              </a:defRPr>
            </a:lvl1pPr>
            <a:lvl2pPr>
              <a:defRPr sz="2700" b="1">
                <a:solidFill>
                  <a:srgbClr val="15324A"/>
                </a:solidFill>
                <a:latin typeface="Helvetica Neue"/>
                <a:ea typeface="Helvetica Neue"/>
                <a:cs typeface="Helvetica Neue"/>
              </a:defRPr>
            </a:lvl2pPr>
            <a:lvl3pPr>
              <a:defRPr sz="2700" b="1">
                <a:solidFill>
                  <a:srgbClr val="15324A"/>
                </a:solidFill>
                <a:latin typeface="Helvetica Neue"/>
                <a:ea typeface="Helvetica Neue"/>
                <a:cs typeface="Helvetica Neue"/>
              </a:defRPr>
            </a:lvl3pPr>
            <a:lvl4pPr>
              <a:defRPr sz="2700" b="1">
                <a:solidFill>
                  <a:srgbClr val="15324A"/>
                </a:solidFill>
                <a:latin typeface="Helvetica Neue"/>
                <a:ea typeface="Helvetica Neue"/>
                <a:cs typeface="Helvetica Neue"/>
              </a:defRPr>
            </a:lvl4pPr>
            <a:lvl5pPr>
              <a:defRPr sz="2700" b="1">
                <a:solidFill>
                  <a:srgbClr val="15324A"/>
                </a:solidFill>
                <a:latin typeface="Helvetica Neue"/>
                <a:ea typeface="Helvetica Neue"/>
                <a:cs typeface="Helvetica Neue"/>
              </a:defRPr>
            </a:lvl5pPr>
            <a:lvl6pPr>
              <a:defRPr sz="2700" b="1">
                <a:solidFill>
                  <a:srgbClr val="15324A"/>
                </a:solidFill>
                <a:latin typeface="Helvetica Neue"/>
                <a:ea typeface="Helvetica Neue"/>
                <a:cs typeface="Helvetica Neue"/>
              </a:defRPr>
            </a:lvl6pPr>
            <a:lvl7pPr>
              <a:defRPr sz="2700" b="1">
                <a:solidFill>
                  <a:srgbClr val="15324A"/>
                </a:solidFill>
                <a:latin typeface="Helvetica Neue"/>
                <a:ea typeface="Helvetica Neue"/>
                <a:cs typeface="Helvetica Neue"/>
              </a:defRPr>
            </a:lvl7pPr>
            <a:lvl8pPr>
              <a:defRPr sz="2700" b="1">
                <a:solidFill>
                  <a:srgbClr val="15324A"/>
                </a:solidFill>
                <a:latin typeface="Helvetica Neue"/>
                <a:ea typeface="Helvetica Neue"/>
                <a:cs typeface="Helvetica Neue"/>
              </a:defRPr>
            </a:lvl8pPr>
            <a:lvl9pPr>
              <a:defRPr sz="2700" b="1">
                <a:solidFill>
                  <a:srgbClr val="15324A"/>
                </a:solidFill>
                <a:latin typeface="Helvetica Neue"/>
                <a:ea typeface="Helvetica Neue"/>
                <a:cs typeface="Helvetica Neue"/>
              </a:defRPr>
            </a:lvl9pPr>
          </a:lstStyle>
          <a:p xmlns:a="http://schemas.openxmlformats.org/drawingml/2006/main">
            <a:pPr>
              <a:defRPr sz="2700" b="1">
                <a:solidFill>
                  <a:srgbClr val="15324A"/>
                </a:solidFill>
                <a:latin typeface="Helvetica Neue"/>
                <a:ea typeface="Helvetica Neue"/>
                <a:cs typeface="Helvetica Neue"/>
              </a:defRPr>
            </a:pPr>
            <a:r>
              <a:rPr sz="2700" b="1">
                <a:solidFill>
                  <a:srgbClr val="15324A"/>
                </a:solidFill>
                <a:latin typeface="Helvetica Neue"/>
                <a:ea typeface="Helvetica Neue"/>
                <a:cs typeface="Helvetica Neue"/>
              </a:rPr>
              <a:t>Fresh Frozen Plasma - This product is indicated for the patient with inherited or — continued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242CB9E6-3AE2-48BC-8F89-CC02EC61A0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1257300"/>
            <a:ext cx="88582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91111"/>
          </a:bodyPr>
          <a:lstStyle xmlns:a="http://schemas.openxmlformats.org/drawingml/2006/main">
            <a:defPPr>
              <a:defRPr sz="1125" b="1">
                <a:solidFill>
                  <a:srgbClr val="237B82"/>
                </a:solidFill>
                <a:latin typeface="Helvetica Neue"/>
                <a:ea typeface="Helvetica Neue"/>
                <a:cs typeface="Helvetica Neue"/>
              </a:defRPr>
            </a:defPPr>
            <a:lvl1pPr>
              <a:defRPr sz="1125" b="1">
                <a:solidFill>
                  <a:srgbClr val="237B82"/>
                </a:solidFill>
                <a:latin typeface="Helvetica Neue"/>
                <a:ea typeface="Helvetica Neue"/>
                <a:cs typeface="Helvetica Neue"/>
              </a:defRPr>
            </a:lvl1pPr>
            <a:lvl2pPr>
              <a:defRPr sz="1125" b="1">
                <a:solidFill>
                  <a:srgbClr val="237B82"/>
                </a:solidFill>
                <a:latin typeface="Helvetica Neue"/>
                <a:ea typeface="Helvetica Neue"/>
                <a:cs typeface="Helvetica Neue"/>
              </a:defRPr>
            </a:lvl2pPr>
            <a:lvl3pPr>
              <a:defRPr sz="1125" b="1">
                <a:solidFill>
                  <a:srgbClr val="237B82"/>
                </a:solidFill>
                <a:latin typeface="Helvetica Neue"/>
                <a:ea typeface="Helvetica Neue"/>
                <a:cs typeface="Helvetica Neue"/>
              </a:defRPr>
            </a:lvl3pPr>
            <a:lvl4pPr>
              <a:defRPr sz="1125" b="1">
                <a:solidFill>
                  <a:srgbClr val="237B82"/>
                </a:solidFill>
                <a:latin typeface="Helvetica Neue"/>
                <a:ea typeface="Helvetica Neue"/>
                <a:cs typeface="Helvetica Neue"/>
              </a:defRPr>
            </a:lvl4pPr>
            <a:lvl5pPr>
              <a:defRPr sz="1125" b="1">
                <a:solidFill>
                  <a:srgbClr val="237B82"/>
                </a:solidFill>
                <a:latin typeface="Helvetica Neue"/>
                <a:ea typeface="Helvetica Neue"/>
                <a:cs typeface="Helvetica Neue"/>
              </a:defRPr>
            </a:lvl5pPr>
            <a:lvl6pPr>
              <a:defRPr sz="1125" b="1">
                <a:solidFill>
                  <a:srgbClr val="237B82"/>
                </a:solidFill>
                <a:latin typeface="Helvetica Neue"/>
                <a:ea typeface="Helvetica Neue"/>
                <a:cs typeface="Helvetica Neue"/>
              </a:defRPr>
            </a:lvl6pPr>
            <a:lvl7pPr>
              <a:defRPr sz="1125" b="1">
                <a:solidFill>
                  <a:srgbClr val="237B82"/>
                </a:solidFill>
                <a:latin typeface="Helvetica Neue"/>
                <a:ea typeface="Helvetica Neue"/>
                <a:cs typeface="Helvetica Neue"/>
              </a:defRPr>
            </a:lvl7pPr>
            <a:lvl8pPr>
              <a:defRPr sz="1125" b="1">
                <a:solidFill>
                  <a:srgbClr val="237B82"/>
                </a:solidFill>
                <a:latin typeface="Helvetica Neue"/>
                <a:ea typeface="Helvetica Neue"/>
                <a:cs typeface="Helvetica Neue"/>
              </a:defRPr>
            </a:lvl8pPr>
            <a:lvl9pPr>
              <a:defRPr sz="1125" b="1">
                <a:solidFill>
                  <a:srgbClr val="237B82"/>
                </a:solidFill>
                <a:latin typeface="Helvetica Neue"/>
                <a:ea typeface="Helvetica Neue"/>
                <a:cs typeface="Helvetica Neue"/>
              </a:defRPr>
            </a:lvl9pPr>
          </a:lstStyle>
          <a:p xmlns:a="http://schemas.openxmlformats.org/drawingml/2006/main">
            <a:pPr>
              <a:defRPr sz="1125" b="1">
                <a:solidFill>
                  <a:srgbClr val="237B82"/>
                </a:solidFill>
                <a:latin typeface="Helvetica Neue"/>
                <a:ea typeface="Helvetica Neue"/>
                <a:cs typeface="Helvetica Neue"/>
              </a:defRPr>
            </a:pPr>
            <a:r>
              <a:rPr sz="1125" b="1">
                <a:solidFill>
                  <a:srgbClr val="237B82"/>
                </a:solidFill>
                <a:latin typeface="Helvetica Neue"/>
                <a:ea typeface="Helvetica Neue"/>
                <a:cs typeface="Helvetica Neue"/>
              </a:rPr>
              <a:t>MODULE 4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4D38EC77-0269-45B3-9552-010BB0695E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457200"/>
            <a:ext cx="5334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>
            <a:defPPr>
              <a:defRPr sz="1200" b="1">
                <a:solidFill>
                  <a:srgbClr val="237B82"/>
                </a:solidFill>
                <a:latin typeface="Helvetica Neue"/>
                <a:ea typeface="Helvetica Neue"/>
                <a:cs typeface="Helvetica Neue"/>
              </a:defRPr>
            </a:defPPr>
            <a:lvl1pPr>
              <a:defRPr sz="1200" b="1">
                <a:solidFill>
                  <a:srgbClr val="237B82"/>
                </a:solidFill>
                <a:latin typeface="Helvetica Neue"/>
                <a:ea typeface="Helvetica Neue"/>
                <a:cs typeface="Helvetica Neue"/>
              </a:defRPr>
            </a:lvl1pPr>
            <a:lvl2pPr>
              <a:defRPr sz="1200" b="1">
                <a:solidFill>
                  <a:srgbClr val="237B82"/>
                </a:solidFill>
                <a:latin typeface="Helvetica Neue"/>
                <a:ea typeface="Helvetica Neue"/>
                <a:cs typeface="Helvetica Neue"/>
              </a:defRPr>
            </a:lvl2pPr>
            <a:lvl3pPr>
              <a:defRPr sz="1200" b="1">
                <a:solidFill>
                  <a:srgbClr val="237B82"/>
                </a:solidFill>
                <a:latin typeface="Helvetica Neue"/>
                <a:ea typeface="Helvetica Neue"/>
                <a:cs typeface="Helvetica Neue"/>
              </a:defRPr>
            </a:lvl3pPr>
            <a:lvl4pPr>
              <a:defRPr sz="1200" b="1">
                <a:solidFill>
                  <a:srgbClr val="237B82"/>
                </a:solidFill>
                <a:latin typeface="Helvetica Neue"/>
                <a:ea typeface="Helvetica Neue"/>
                <a:cs typeface="Helvetica Neue"/>
              </a:defRPr>
            </a:lvl4pPr>
            <a:lvl5pPr>
              <a:defRPr sz="1200" b="1">
                <a:solidFill>
                  <a:srgbClr val="237B82"/>
                </a:solidFill>
                <a:latin typeface="Helvetica Neue"/>
                <a:ea typeface="Helvetica Neue"/>
                <a:cs typeface="Helvetica Neue"/>
              </a:defRPr>
            </a:lvl5pPr>
            <a:lvl6pPr>
              <a:defRPr sz="1200" b="1">
                <a:solidFill>
                  <a:srgbClr val="237B82"/>
                </a:solidFill>
                <a:latin typeface="Helvetica Neue"/>
                <a:ea typeface="Helvetica Neue"/>
                <a:cs typeface="Helvetica Neue"/>
              </a:defRPr>
            </a:lvl6pPr>
            <a:lvl7pPr>
              <a:defRPr sz="1200" b="1">
                <a:solidFill>
                  <a:srgbClr val="237B82"/>
                </a:solidFill>
                <a:latin typeface="Helvetica Neue"/>
                <a:ea typeface="Helvetica Neue"/>
                <a:cs typeface="Helvetica Neue"/>
              </a:defRPr>
            </a:lvl7pPr>
            <a:lvl8pPr>
              <a:defRPr sz="1200" b="1">
                <a:solidFill>
                  <a:srgbClr val="237B82"/>
                </a:solidFill>
                <a:latin typeface="Helvetica Neue"/>
                <a:ea typeface="Helvetica Neue"/>
                <a:cs typeface="Helvetica Neue"/>
              </a:defRPr>
            </a:lvl8pPr>
            <a:lvl9pPr>
              <a:defRPr sz="1200" b="1">
                <a:solidFill>
                  <a:srgbClr val="237B82"/>
                </a:solidFill>
                <a:latin typeface="Helvetica Neue"/>
                <a:ea typeface="Helvetica Neue"/>
                <a:cs typeface="Helvetica Neue"/>
              </a:defRPr>
            </a:lvl9pPr>
          </a:lstStyle>
          <a:p xmlns:a="http://schemas.openxmlformats.org/drawingml/2006/main">
            <a:pPr>
              <a:defRPr sz="1200" b="1">
                <a:solidFill>
                  <a:srgbClr val="237B82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00" b="1">
                <a:solidFill>
                  <a:srgbClr val="237B82"/>
                </a:solidFill>
                <a:latin typeface="Helvetica Neue"/>
                <a:ea typeface="Helvetica Neue"/>
                <a:cs typeface="Helvetica Neue"/>
              </a:rPr>
              <a:t>34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84D64809-2EC3-405C-B818-CFA9265621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1762125"/>
            <a:ext cx="10287000" cy="409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>
            <a:defPPr>
              <a:defRPr sz="1875">
                <a:solidFill>
                  <a:srgbClr val="13212D"/>
                </a:solidFill>
                <a:latin typeface="Helvetica Neue"/>
                <a:ea typeface="Helvetica Neue"/>
                <a:cs typeface="Helvetica Neue"/>
              </a:defRPr>
            </a:defPPr>
            <a:lvl1pPr>
              <a:defRPr sz="1875">
                <a:solidFill>
                  <a:srgbClr val="13212D"/>
                </a:solidFill>
                <a:latin typeface="Helvetica Neue"/>
                <a:ea typeface="Helvetica Neue"/>
                <a:cs typeface="Helvetica Neue"/>
              </a:defRPr>
            </a:lvl1pPr>
            <a:lvl2pPr>
              <a:defRPr sz="1875">
                <a:solidFill>
                  <a:srgbClr val="13212D"/>
                </a:solidFill>
                <a:latin typeface="Helvetica Neue"/>
                <a:ea typeface="Helvetica Neue"/>
                <a:cs typeface="Helvetica Neue"/>
              </a:defRPr>
            </a:lvl2pPr>
            <a:lvl3pPr>
              <a:defRPr sz="1875">
                <a:solidFill>
                  <a:srgbClr val="13212D"/>
                </a:solidFill>
                <a:latin typeface="Helvetica Neue"/>
                <a:ea typeface="Helvetica Neue"/>
                <a:cs typeface="Helvetica Neue"/>
              </a:defRPr>
            </a:lvl3pPr>
            <a:lvl4pPr>
              <a:defRPr sz="1875">
                <a:solidFill>
                  <a:srgbClr val="13212D"/>
                </a:solidFill>
                <a:latin typeface="Helvetica Neue"/>
                <a:ea typeface="Helvetica Neue"/>
                <a:cs typeface="Helvetica Neue"/>
              </a:defRPr>
            </a:lvl4pPr>
            <a:lvl5pPr>
              <a:defRPr sz="1875">
                <a:solidFill>
                  <a:srgbClr val="13212D"/>
                </a:solidFill>
                <a:latin typeface="Helvetica Neue"/>
                <a:ea typeface="Helvetica Neue"/>
                <a:cs typeface="Helvetica Neue"/>
              </a:defRPr>
            </a:lvl5pPr>
            <a:lvl6pPr>
              <a:defRPr sz="1875">
                <a:solidFill>
                  <a:srgbClr val="13212D"/>
                </a:solidFill>
                <a:latin typeface="Helvetica Neue"/>
                <a:ea typeface="Helvetica Neue"/>
                <a:cs typeface="Helvetica Neue"/>
              </a:defRPr>
            </a:lvl6pPr>
            <a:lvl7pPr>
              <a:defRPr sz="1875">
                <a:solidFill>
                  <a:srgbClr val="13212D"/>
                </a:solidFill>
                <a:latin typeface="Helvetica Neue"/>
                <a:ea typeface="Helvetica Neue"/>
                <a:cs typeface="Helvetica Neue"/>
              </a:defRPr>
            </a:lvl7pPr>
            <a:lvl8pPr>
              <a:defRPr sz="1875">
                <a:solidFill>
                  <a:srgbClr val="13212D"/>
                </a:solidFill>
                <a:latin typeface="Helvetica Neue"/>
                <a:ea typeface="Helvetica Neue"/>
                <a:cs typeface="Helvetica Neue"/>
              </a:defRPr>
            </a:lvl8pPr>
            <a:lvl9pPr>
              <a:defRPr sz="1875">
                <a:solidFill>
                  <a:srgbClr val="13212D"/>
                </a:solidFill>
                <a:latin typeface="Helvetica Neue"/>
                <a:ea typeface="Helvetica Neue"/>
                <a:cs typeface="Helvetica Neue"/>
              </a:defRPr>
            </a:lvl9pPr>
          </a:lstStyle>
          <a:p xmlns:a="http://schemas.openxmlformats.org/drawingml/2006/main">
            <a:pPr marL="279400" indent="-127000">
              <a:spcAft>
                <a:spcPts val="1300"/>
              </a:spcAft>
              <a:buChar char="•"/>
              <a:defRPr sz="1875">
                <a:solidFill>
                  <a:srgbClr val="13212D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75">
                <a:solidFill>
                  <a:srgbClr val="13212D"/>
                </a:solidFill>
                <a:latin typeface="Helvetica Neue"/>
                <a:ea typeface="Helvetica Neue"/>
                <a:cs typeface="Helvetica Neue"/>
              </a:rPr>
              <a:t>Platelets are bolused through a standard blood Y administration set or a small filter set.</a:t>
            </a:r>
          </a:p>
          <a:p xmlns:a="http://schemas.openxmlformats.org/drawingml/2006/main">
            <a:pPr marL="279400" indent="-127000">
              <a:spcAft>
                <a:spcPts val="1300"/>
              </a:spcAft>
              <a:buChar char="•"/>
              <a:defRPr sz="1875">
                <a:solidFill>
                  <a:srgbClr val="13212D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75">
                <a:solidFill>
                  <a:srgbClr val="13212D"/>
                </a:solidFill>
                <a:latin typeface="Helvetica Neue"/>
                <a:ea typeface="Helvetica Neue"/>
                <a:cs typeface="Helvetica Neue"/>
              </a:rPr>
              <a:t>It is preferable for the donor plasma and the recipient's red cells to be ABO compatible and Rh match as well, to prevent Rh sensitization.</a:t>
            </a:r>
          </a:p>
          <a:p xmlns:a="http://schemas.openxmlformats.org/drawingml/2006/main">
            <a:pPr marL="279400" indent="-127000">
              <a:spcAft>
                <a:spcPts val="1300"/>
              </a:spcAft>
              <a:buChar char="•"/>
              <a:defRPr sz="1875">
                <a:solidFill>
                  <a:srgbClr val="13212D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75">
                <a:solidFill>
                  <a:srgbClr val="13212D"/>
                </a:solidFill>
                <a:latin typeface="Helvetica Neue"/>
                <a:ea typeface="Helvetica Neue"/>
                <a:cs typeface="Helvetica Neue"/>
              </a:rPr>
              <a:t>Granulocytes - White blood corpuscles or leukocytes, consist of 60% granulocytes.</a:t>
            </a:r>
          </a:p>
          <a:p xmlns:a="http://schemas.openxmlformats.org/drawingml/2006/main">
            <a:pPr marL="279400" indent="-127000">
              <a:spcAft>
                <a:spcPts val="1300"/>
              </a:spcAft>
              <a:buChar char="•"/>
              <a:defRPr sz="1875">
                <a:solidFill>
                  <a:srgbClr val="13212D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75">
                <a:solidFill>
                  <a:srgbClr val="13212D"/>
                </a:solidFill>
                <a:latin typeface="Helvetica Neue"/>
                <a:ea typeface="Helvetica Neue"/>
                <a:cs typeface="Helvetica Neue"/>
              </a:rPr>
              <a:t>They are administered in the presence of a serious bacterial infection in a patient who is immuno-compromised either form chemotherapy, leukemia, or toxic drugs, and are only used after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9C3C2038-C0A7-4576-A470-C752C48E3E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6115050"/>
            <a:ext cx="101917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>
            <a:defPPr>
              <a:defRPr sz="1125" b="1">
                <a:solidFill>
                  <a:srgbClr val="B94F3D"/>
                </a:solidFill>
                <a:latin typeface="Helvetica Neue"/>
                <a:ea typeface="Helvetica Neue"/>
                <a:cs typeface="Helvetica Neue"/>
              </a:defRPr>
            </a:defPPr>
            <a:lvl1pPr>
              <a:defRPr sz="1125" b="1">
                <a:solidFill>
                  <a:srgbClr val="B94F3D"/>
                </a:solidFill>
                <a:latin typeface="Helvetica Neue"/>
                <a:ea typeface="Helvetica Neue"/>
                <a:cs typeface="Helvetica Neue"/>
              </a:defRPr>
            </a:lvl1pPr>
            <a:lvl2pPr>
              <a:defRPr sz="1125" b="1">
                <a:solidFill>
                  <a:srgbClr val="B94F3D"/>
                </a:solidFill>
                <a:latin typeface="Helvetica Neue"/>
                <a:ea typeface="Helvetica Neue"/>
                <a:cs typeface="Helvetica Neue"/>
              </a:defRPr>
            </a:lvl2pPr>
            <a:lvl3pPr>
              <a:defRPr sz="1125" b="1">
                <a:solidFill>
                  <a:srgbClr val="B94F3D"/>
                </a:solidFill>
                <a:latin typeface="Helvetica Neue"/>
                <a:ea typeface="Helvetica Neue"/>
                <a:cs typeface="Helvetica Neue"/>
              </a:defRPr>
            </a:lvl3pPr>
            <a:lvl4pPr>
              <a:defRPr sz="1125" b="1">
                <a:solidFill>
                  <a:srgbClr val="B94F3D"/>
                </a:solidFill>
                <a:latin typeface="Helvetica Neue"/>
                <a:ea typeface="Helvetica Neue"/>
                <a:cs typeface="Helvetica Neue"/>
              </a:defRPr>
            </a:lvl4pPr>
            <a:lvl5pPr>
              <a:defRPr sz="1125" b="1">
                <a:solidFill>
                  <a:srgbClr val="B94F3D"/>
                </a:solidFill>
                <a:latin typeface="Helvetica Neue"/>
                <a:ea typeface="Helvetica Neue"/>
                <a:cs typeface="Helvetica Neue"/>
              </a:defRPr>
            </a:lvl5pPr>
            <a:lvl6pPr>
              <a:defRPr sz="1125" b="1">
                <a:solidFill>
                  <a:srgbClr val="B94F3D"/>
                </a:solidFill>
                <a:latin typeface="Helvetica Neue"/>
                <a:ea typeface="Helvetica Neue"/>
                <a:cs typeface="Helvetica Neue"/>
              </a:defRPr>
            </a:lvl6pPr>
            <a:lvl7pPr>
              <a:defRPr sz="1125" b="1">
                <a:solidFill>
                  <a:srgbClr val="B94F3D"/>
                </a:solidFill>
                <a:latin typeface="Helvetica Neue"/>
                <a:ea typeface="Helvetica Neue"/>
                <a:cs typeface="Helvetica Neue"/>
              </a:defRPr>
            </a:lvl7pPr>
            <a:lvl8pPr>
              <a:defRPr sz="1125" b="1">
                <a:solidFill>
                  <a:srgbClr val="B94F3D"/>
                </a:solidFill>
                <a:latin typeface="Helvetica Neue"/>
                <a:ea typeface="Helvetica Neue"/>
                <a:cs typeface="Helvetica Neue"/>
              </a:defRPr>
            </a:lvl8pPr>
            <a:lvl9pPr>
              <a:defRPr sz="1125" b="1">
                <a:solidFill>
                  <a:srgbClr val="B94F3D"/>
                </a:solidFill>
                <a:latin typeface="Helvetica Neue"/>
                <a:ea typeface="Helvetica Neue"/>
                <a:cs typeface="Helvetica Neue"/>
              </a:defRPr>
            </a:lvl9pPr>
          </a:lstStyle>
          <a:p xmlns:a="http://schemas.openxmlformats.org/drawingml/2006/main">
            <a:pPr>
              <a:defRPr sz="1125" b="1">
                <a:solidFill>
                  <a:srgbClr val="B94F3D"/>
                </a:solidFill>
                <a:latin typeface="Helvetica Neue"/>
                <a:ea typeface="Helvetica Neue"/>
                <a:cs typeface="Helvetica Neue"/>
              </a:defRPr>
            </a:pPr>
            <a:r>
              <a:rPr sz="1125" b="1">
                <a:solidFill>
                  <a:srgbClr val="B94F3D"/>
                </a:solidFill>
                <a:latin typeface="Helvetica Neue"/>
                <a:ea typeface="Helvetica Neue"/>
                <a:cs typeface="Helvetica Neue"/>
              </a:rPr>
              <a:t>Use current orders, facility policy, and authorized scope when applying this information.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EF1CB8EB-C818-4D96-ABEC-5C2CAB8CB6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5772150"/>
            <a:ext cx="101917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97619"/>
          </a:bodyPr>
          <a:lstStyle xmlns:a="http://schemas.openxmlformats.org/drawingml/2006/main">
            <a:defPPr>
              <a:defRPr sz="1050" b="1">
                <a:solidFill>
                  <a:srgbClr val="237B82"/>
                </a:solidFill>
                <a:latin typeface="Helvetica Neue"/>
                <a:ea typeface="Helvetica Neue"/>
                <a:cs typeface="Helvetica Neue"/>
              </a:defRPr>
            </a:defPPr>
            <a:lvl1pPr>
              <a:defRPr sz="1050" b="1">
                <a:solidFill>
                  <a:srgbClr val="237B82"/>
                </a:solidFill>
                <a:latin typeface="Helvetica Neue"/>
                <a:ea typeface="Helvetica Neue"/>
                <a:cs typeface="Helvetica Neue"/>
              </a:defRPr>
            </a:lvl1pPr>
            <a:lvl2pPr>
              <a:defRPr sz="1050" b="1">
                <a:solidFill>
                  <a:srgbClr val="237B82"/>
                </a:solidFill>
                <a:latin typeface="Helvetica Neue"/>
                <a:ea typeface="Helvetica Neue"/>
                <a:cs typeface="Helvetica Neue"/>
              </a:defRPr>
            </a:lvl2pPr>
            <a:lvl3pPr>
              <a:defRPr sz="1050" b="1">
                <a:solidFill>
                  <a:srgbClr val="237B82"/>
                </a:solidFill>
                <a:latin typeface="Helvetica Neue"/>
                <a:ea typeface="Helvetica Neue"/>
                <a:cs typeface="Helvetica Neue"/>
              </a:defRPr>
            </a:lvl3pPr>
            <a:lvl4pPr>
              <a:defRPr sz="1050" b="1">
                <a:solidFill>
                  <a:srgbClr val="237B82"/>
                </a:solidFill>
                <a:latin typeface="Helvetica Neue"/>
                <a:ea typeface="Helvetica Neue"/>
                <a:cs typeface="Helvetica Neue"/>
              </a:defRPr>
            </a:lvl4pPr>
            <a:lvl5pPr>
              <a:defRPr sz="1050" b="1">
                <a:solidFill>
                  <a:srgbClr val="237B82"/>
                </a:solidFill>
                <a:latin typeface="Helvetica Neue"/>
                <a:ea typeface="Helvetica Neue"/>
                <a:cs typeface="Helvetica Neue"/>
              </a:defRPr>
            </a:lvl5pPr>
            <a:lvl6pPr>
              <a:defRPr sz="1050" b="1">
                <a:solidFill>
                  <a:srgbClr val="237B82"/>
                </a:solidFill>
                <a:latin typeface="Helvetica Neue"/>
                <a:ea typeface="Helvetica Neue"/>
                <a:cs typeface="Helvetica Neue"/>
              </a:defRPr>
            </a:lvl6pPr>
            <a:lvl7pPr>
              <a:defRPr sz="1050" b="1">
                <a:solidFill>
                  <a:srgbClr val="237B82"/>
                </a:solidFill>
                <a:latin typeface="Helvetica Neue"/>
                <a:ea typeface="Helvetica Neue"/>
                <a:cs typeface="Helvetica Neue"/>
              </a:defRPr>
            </a:lvl7pPr>
            <a:lvl8pPr>
              <a:defRPr sz="1050" b="1">
                <a:solidFill>
                  <a:srgbClr val="237B82"/>
                </a:solidFill>
                <a:latin typeface="Helvetica Neue"/>
                <a:ea typeface="Helvetica Neue"/>
                <a:cs typeface="Helvetica Neue"/>
              </a:defRPr>
            </a:lvl8pPr>
            <a:lvl9pPr>
              <a:defRPr sz="1050" b="1">
                <a:solidFill>
                  <a:srgbClr val="237B82"/>
                </a:solidFill>
                <a:latin typeface="Helvetica Neue"/>
                <a:ea typeface="Helvetica Neue"/>
                <a:cs typeface="Helvetica Neue"/>
              </a:defRPr>
            </a:lvl9pPr>
          </a:lstStyle>
          <a:p xmlns:a="http://schemas.openxmlformats.org/drawingml/2006/main">
            <a:pPr>
              <a:defRPr sz="1050" b="1">
                <a:solidFill>
                  <a:srgbClr val="237B82"/>
                </a:solidFill>
                <a:latin typeface="Helvetica Neue"/>
                <a:ea typeface="Helvetica Neue"/>
                <a:cs typeface="Helvetica Neue"/>
              </a:defRPr>
            </a:pPr>
            <a:r>
              <a:rPr sz="1050" b="1">
                <a:solidFill>
                  <a:srgbClr val="237B82"/>
                </a:solidFill>
                <a:latin typeface="Helvetica Neue"/>
                <a:ea typeface="Helvetica Neue"/>
                <a:cs typeface="Helvetica Neue"/>
              </a:rPr>
              <a:t>Manual page 55</a:t>
            </a:r>
          </a:p>
        </p:txBody>
      </p:sp>
    </p:spTree>
    <p:extLst>
      <p:ext uri="{BB962C8B-B14F-4D97-AF65-F5344CB8AC3E}">
        <p14:creationId xmlns:p14="http://schemas.microsoft.com/office/powerpoint/2010/main" val="756764597"/>
      </p:ext>
    </p:extLst>
  </p:cSld>
</p:sld>
</file>

<file path=ppt/slides/slide35.xml><?xml version="1.0" encoding="utf-8"?>
<p:sld xmlns:p="http://schemas.openxmlformats.org/presentationml/2006/main">
  <p:cSld>
    <p:bg>
      <p:bgPr>
        <a:solidFill xmlns:a="http://schemas.openxmlformats.org/drawingml/2006/main">
          <a:srgbClr val="F7F4EE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CAD273CA-B1C8-4C22-82CA-DC6B2D7C6F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2095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37B82"/>
          </a:solidFill>
          <a:ln xmlns:a="http://schemas.openxmlformats.org/drawingml/2006/main" w="0">
            <a:solidFill>
              <a:srgbClr val="237B82"/>
            </a:solidFill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34CB41B7-C933-4C82-A461-6C4B4BF876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00050"/>
            <a:ext cx="10001250" cy="819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88426"/>
          </a:bodyPr>
          <a:lstStyle xmlns:a="http://schemas.openxmlformats.org/drawingml/2006/main">
            <a:defPPr>
              <a:defRPr sz="2700" b="1">
                <a:solidFill>
                  <a:srgbClr val="15324A"/>
                </a:solidFill>
                <a:latin typeface="Helvetica Neue"/>
                <a:ea typeface="Helvetica Neue"/>
                <a:cs typeface="Helvetica Neue"/>
              </a:defRPr>
            </a:defPPr>
            <a:lvl1pPr>
              <a:defRPr sz="2700" b="1">
                <a:solidFill>
                  <a:srgbClr val="15324A"/>
                </a:solidFill>
                <a:latin typeface="Helvetica Neue"/>
                <a:ea typeface="Helvetica Neue"/>
                <a:cs typeface="Helvetica Neue"/>
              </a:defRPr>
            </a:lvl1pPr>
            <a:lvl2pPr>
              <a:defRPr sz="2700" b="1">
                <a:solidFill>
                  <a:srgbClr val="15324A"/>
                </a:solidFill>
                <a:latin typeface="Helvetica Neue"/>
                <a:ea typeface="Helvetica Neue"/>
                <a:cs typeface="Helvetica Neue"/>
              </a:defRPr>
            </a:lvl2pPr>
            <a:lvl3pPr>
              <a:defRPr sz="2700" b="1">
                <a:solidFill>
                  <a:srgbClr val="15324A"/>
                </a:solidFill>
                <a:latin typeface="Helvetica Neue"/>
                <a:ea typeface="Helvetica Neue"/>
                <a:cs typeface="Helvetica Neue"/>
              </a:defRPr>
            </a:lvl3pPr>
            <a:lvl4pPr>
              <a:defRPr sz="2700" b="1">
                <a:solidFill>
                  <a:srgbClr val="15324A"/>
                </a:solidFill>
                <a:latin typeface="Helvetica Neue"/>
                <a:ea typeface="Helvetica Neue"/>
                <a:cs typeface="Helvetica Neue"/>
              </a:defRPr>
            </a:lvl4pPr>
            <a:lvl5pPr>
              <a:defRPr sz="2700" b="1">
                <a:solidFill>
                  <a:srgbClr val="15324A"/>
                </a:solidFill>
                <a:latin typeface="Helvetica Neue"/>
                <a:ea typeface="Helvetica Neue"/>
                <a:cs typeface="Helvetica Neue"/>
              </a:defRPr>
            </a:lvl5pPr>
            <a:lvl6pPr>
              <a:defRPr sz="2700" b="1">
                <a:solidFill>
                  <a:srgbClr val="15324A"/>
                </a:solidFill>
                <a:latin typeface="Helvetica Neue"/>
                <a:ea typeface="Helvetica Neue"/>
                <a:cs typeface="Helvetica Neue"/>
              </a:defRPr>
            </a:lvl6pPr>
            <a:lvl7pPr>
              <a:defRPr sz="2700" b="1">
                <a:solidFill>
                  <a:srgbClr val="15324A"/>
                </a:solidFill>
                <a:latin typeface="Helvetica Neue"/>
                <a:ea typeface="Helvetica Neue"/>
                <a:cs typeface="Helvetica Neue"/>
              </a:defRPr>
            </a:lvl7pPr>
            <a:lvl8pPr>
              <a:defRPr sz="2700" b="1">
                <a:solidFill>
                  <a:srgbClr val="15324A"/>
                </a:solidFill>
                <a:latin typeface="Helvetica Neue"/>
                <a:ea typeface="Helvetica Neue"/>
                <a:cs typeface="Helvetica Neue"/>
              </a:defRPr>
            </a:lvl8pPr>
            <a:lvl9pPr>
              <a:defRPr sz="2700" b="1">
                <a:solidFill>
                  <a:srgbClr val="15324A"/>
                </a:solidFill>
                <a:latin typeface="Helvetica Neue"/>
                <a:ea typeface="Helvetica Neue"/>
                <a:cs typeface="Helvetica Neue"/>
              </a:defRPr>
            </a:lvl9pPr>
          </a:lstStyle>
          <a:p xmlns:a="http://schemas.openxmlformats.org/drawingml/2006/main">
            <a:pPr>
              <a:defRPr sz="2700" b="1">
                <a:solidFill>
                  <a:srgbClr val="15324A"/>
                </a:solidFill>
                <a:latin typeface="Helvetica Neue"/>
                <a:ea typeface="Helvetica Neue"/>
                <a:cs typeface="Helvetica Neue"/>
              </a:defRPr>
            </a:pPr>
            <a:r>
              <a:rPr sz="2700" b="1">
                <a:solidFill>
                  <a:srgbClr val="15324A"/>
                </a:solidFill>
                <a:latin typeface="Helvetica Neue"/>
                <a:ea typeface="Helvetica Neue"/>
                <a:cs typeface="Helvetica Neue"/>
              </a:rPr>
              <a:t>Fresh Frozen Plasma - This product is indicated for the patient with inherited or — continued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981F2779-F20C-4692-A2EB-AE88D46AC3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1257300"/>
            <a:ext cx="88582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91111"/>
          </a:bodyPr>
          <a:lstStyle xmlns:a="http://schemas.openxmlformats.org/drawingml/2006/main">
            <a:defPPr>
              <a:defRPr sz="1125" b="1">
                <a:solidFill>
                  <a:srgbClr val="237B82"/>
                </a:solidFill>
                <a:latin typeface="Helvetica Neue"/>
                <a:ea typeface="Helvetica Neue"/>
                <a:cs typeface="Helvetica Neue"/>
              </a:defRPr>
            </a:defPPr>
            <a:lvl1pPr>
              <a:defRPr sz="1125" b="1">
                <a:solidFill>
                  <a:srgbClr val="237B82"/>
                </a:solidFill>
                <a:latin typeface="Helvetica Neue"/>
                <a:ea typeface="Helvetica Neue"/>
                <a:cs typeface="Helvetica Neue"/>
              </a:defRPr>
            </a:lvl1pPr>
            <a:lvl2pPr>
              <a:defRPr sz="1125" b="1">
                <a:solidFill>
                  <a:srgbClr val="237B82"/>
                </a:solidFill>
                <a:latin typeface="Helvetica Neue"/>
                <a:ea typeface="Helvetica Neue"/>
                <a:cs typeface="Helvetica Neue"/>
              </a:defRPr>
            </a:lvl2pPr>
            <a:lvl3pPr>
              <a:defRPr sz="1125" b="1">
                <a:solidFill>
                  <a:srgbClr val="237B82"/>
                </a:solidFill>
                <a:latin typeface="Helvetica Neue"/>
                <a:ea typeface="Helvetica Neue"/>
                <a:cs typeface="Helvetica Neue"/>
              </a:defRPr>
            </a:lvl3pPr>
            <a:lvl4pPr>
              <a:defRPr sz="1125" b="1">
                <a:solidFill>
                  <a:srgbClr val="237B82"/>
                </a:solidFill>
                <a:latin typeface="Helvetica Neue"/>
                <a:ea typeface="Helvetica Neue"/>
                <a:cs typeface="Helvetica Neue"/>
              </a:defRPr>
            </a:lvl4pPr>
            <a:lvl5pPr>
              <a:defRPr sz="1125" b="1">
                <a:solidFill>
                  <a:srgbClr val="237B82"/>
                </a:solidFill>
                <a:latin typeface="Helvetica Neue"/>
                <a:ea typeface="Helvetica Neue"/>
                <a:cs typeface="Helvetica Neue"/>
              </a:defRPr>
            </a:lvl5pPr>
            <a:lvl6pPr>
              <a:defRPr sz="1125" b="1">
                <a:solidFill>
                  <a:srgbClr val="237B82"/>
                </a:solidFill>
                <a:latin typeface="Helvetica Neue"/>
                <a:ea typeface="Helvetica Neue"/>
                <a:cs typeface="Helvetica Neue"/>
              </a:defRPr>
            </a:lvl6pPr>
            <a:lvl7pPr>
              <a:defRPr sz="1125" b="1">
                <a:solidFill>
                  <a:srgbClr val="237B82"/>
                </a:solidFill>
                <a:latin typeface="Helvetica Neue"/>
                <a:ea typeface="Helvetica Neue"/>
                <a:cs typeface="Helvetica Neue"/>
              </a:defRPr>
            </a:lvl7pPr>
            <a:lvl8pPr>
              <a:defRPr sz="1125" b="1">
                <a:solidFill>
                  <a:srgbClr val="237B82"/>
                </a:solidFill>
                <a:latin typeface="Helvetica Neue"/>
                <a:ea typeface="Helvetica Neue"/>
                <a:cs typeface="Helvetica Neue"/>
              </a:defRPr>
            </a:lvl8pPr>
            <a:lvl9pPr>
              <a:defRPr sz="1125" b="1">
                <a:solidFill>
                  <a:srgbClr val="237B82"/>
                </a:solidFill>
                <a:latin typeface="Helvetica Neue"/>
                <a:ea typeface="Helvetica Neue"/>
                <a:cs typeface="Helvetica Neue"/>
              </a:defRPr>
            </a:lvl9pPr>
          </a:lstStyle>
          <a:p xmlns:a="http://schemas.openxmlformats.org/drawingml/2006/main">
            <a:pPr>
              <a:defRPr sz="1125" b="1">
                <a:solidFill>
                  <a:srgbClr val="237B82"/>
                </a:solidFill>
                <a:latin typeface="Helvetica Neue"/>
                <a:ea typeface="Helvetica Neue"/>
                <a:cs typeface="Helvetica Neue"/>
              </a:defRPr>
            </a:pPr>
            <a:r>
              <a:rPr sz="1125" b="1">
                <a:solidFill>
                  <a:srgbClr val="237B82"/>
                </a:solidFill>
                <a:latin typeface="Helvetica Neue"/>
                <a:ea typeface="Helvetica Neue"/>
                <a:cs typeface="Helvetica Neue"/>
              </a:rPr>
              <a:t>MODULE 4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EA46ECCF-4C9E-4E61-9778-1AB4BEB0DF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457200"/>
            <a:ext cx="5334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>
            <a:defPPr>
              <a:defRPr sz="1200" b="1">
                <a:solidFill>
                  <a:srgbClr val="237B82"/>
                </a:solidFill>
                <a:latin typeface="Helvetica Neue"/>
                <a:ea typeface="Helvetica Neue"/>
                <a:cs typeface="Helvetica Neue"/>
              </a:defRPr>
            </a:defPPr>
            <a:lvl1pPr>
              <a:defRPr sz="1200" b="1">
                <a:solidFill>
                  <a:srgbClr val="237B82"/>
                </a:solidFill>
                <a:latin typeface="Helvetica Neue"/>
                <a:ea typeface="Helvetica Neue"/>
                <a:cs typeface="Helvetica Neue"/>
              </a:defRPr>
            </a:lvl1pPr>
            <a:lvl2pPr>
              <a:defRPr sz="1200" b="1">
                <a:solidFill>
                  <a:srgbClr val="237B82"/>
                </a:solidFill>
                <a:latin typeface="Helvetica Neue"/>
                <a:ea typeface="Helvetica Neue"/>
                <a:cs typeface="Helvetica Neue"/>
              </a:defRPr>
            </a:lvl2pPr>
            <a:lvl3pPr>
              <a:defRPr sz="1200" b="1">
                <a:solidFill>
                  <a:srgbClr val="237B82"/>
                </a:solidFill>
                <a:latin typeface="Helvetica Neue"/>
                <a:ea typeface="Helvetica Neue"/>
                <a:cs typeface="Helvetica Neue"/>
              </a:defRPr>
            </a:lvl3pPr>
            <a:lvl4pPr>
              <a:defRPr sz="1200" b="1">
                <a:solidFill>
                  <a:srgbClr val="237B82"/>
                </a:solidFill>
                <a:latin typeface="Helvetica Neue"/>
                <a:ea typeface="Helvetica Neue"/>
                <a:cs typeface="Helvetica Neue"/>
              </a:defRPr>
            </a:lvl4pPr>
            <a:lvl5pPr>
              <a:defRPr sz="1200" b="1">
                <a:solidFill>
                  <a:srgbClr val="237B82"/>
                </a:solidFill>
                <a:latin typeface="Helvetica Neue"/>
                <a:ea typeface="Helvetica Neue"/>
                <a:cs typeface="Helvetica Neue"/>
              </a:defRPr>
            </a:lvl5pPr>
            <a:lvl6pPr>
              <a:defRPr sz="1200" b="1">
                <a:solidFill>
                  <a:srgbClr val="237B82"/>
                </a:solidFill>
                <a:latin typeface="Helvetica Neue"/>
                <a:ea typeface="Helvetica Neue"/>
                <a:cs typeface="Helvetica Neue"/>
              </a:defRPr>
            </a:lvl6pPr>
            <a:lvl7pPr>
              <a:defRPr sz="1200" b="1">
                <a:solidFill>
                  <a:srgbClr val="237B82"/>
                </a:solidFill>
                <a:latin typeface="Helvetica Neue"/>
                <a:ea typeface="Helvetica Neue"/>
                <a:cs typeface="Helvetica Neue"/>
              </a:defRPr>
            </a:lvl7pPr>
            <a:lvl8pPr>
              <a:defRPr sz="1200" b="1">
                <a:solidFill>
                  <a:srgbClr val="237B82"/>
                </a:solidFill>
                <a:latin typeface="Helvetica Neue"/>
                <a:ea typeface="Helvetica Neue"/>
                <a:cs typeface="Helvetica Neue"/>
              </a:defRPr>
            </a:lvl8pPr>
            <a:lvl9pPr>
              <a:defRPr sz="1200" b="1">
                <a:solidFill>
                  <a:srgbClr val="237B82"/>
                </a:solidFill>
                <a:latin typeface="Helvetica Neue"/>
                <a:ea typeface="Helvetica Neue"/>
                <a:cs typeface="Helvetica Neue"/>
              </a:defRPr>
            </a:lvl9pPr>
          </a:lstStyle>
          <a:p xmlns:a="http://schemas.openxmlformats.org/drawingml/2006/main">
            <a:pPr>
              <a:defRPr sz="1200" b="1">
                <a:solidFill>
                  <a:srgbClr val="237B82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00" b="1">
                <a:solidFill>
                  <a:srgbClr val="237B82"/>
                </a:solidFill>
                <a:latin typeface="Helvetica Neue"/>
                <a:ea typeface="Helvetica Neue"/>
                <a:cs typeface="Helvetica Neue"/>
              </a:rPr>
              <a:t>35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82A4940C-723B-4EF2-A7BB-827EEB46D2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1762125"/>
            <a:ext cx="10287000" cy="409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>
            <a:defPPr>
              <a:defRPr sz="1875">
                <a:solidFill>
                  <a:srgbClr val="13212D"/>
                </a:solidFill>
                <a:latin typeface="Helvetica Neue"/>
                <a:ea typeface="Helvetica Neue"/>
                <a:cs typeface="Helvetica Neue"/>
              </a:defRPr>
            </a:defPPr>
            <a:lvl1pPr>
              <a:defRPr sz="1875">
                <a:solidFill>
                  <a:srgbClr val="13212D"/>
                </a:solidFill>
                <a:latin typeface="Helvetica Neue"/>
                <a:ea typeface="Helvetica Neue"/>
                <a:cs typeface="Helvetica Neue"/>
              </a:defRPr>
            </a:lvl1pPr>
            <a:lvl2pPr>
              <a:defRPr sz="1875">
                <a:solidFill>
                  <a:srgbClr val="13212D"/>
                </a:solidFill>
                <a:latin typeface="Helvetica Neue"/>
                <a:ea typeface="Helvetica Neue"/>
                <a:cs typeface="Helvetica Neue"/>
              </a:defRPr>
            </a:lvl2pPr>
            <a:lvl3pPr>
              <a:defRPr sz="1875">
                <a:solidFill>
                  <a:srgbClr val="13212D"/>
                </a:solidFill>
                <a:latin typeface="Helvetica Neue"/>
                <a:ea typeface="Helvetica Neue"/>
                <a:cs typeface="Helvetica Neue"/>
              </a:defRPr>
            </a:lvl3pPr>
            <a:lvl4pPr>
              <a:defRPr sz="1875">
                <a:solidFill>
                  <a:srgbClr val="13212D"/>
                </a:solidFill>
                <a:latin typeface="Helvetica Neue"/>
                <a:ea typeface="Helvetica Neue"/>
                <a:cs typeface="Helvetica Neue"/>
              </a:defRPr>
            </a:lvl4pPr>
            <a:lvl5pPr>
              <a:defRPr sz="1875">
                <a:solidFill>
                  <a:srgbClr val="13212D"/>
                </a:solidFill>
                <a:latin typeface="Helvetica Neue"/>
                <a:ea typeface="Helvetica Neue"/>
                <a:cs typeface="Helvetica Neue"/>
              </a:defRPr>
            </a:lvl5pPr>
            <a:lvl6pPr>
              <a:defRPr sz="1875">
                <a:solidFill>
                  <a:srgbClr val="13212D"/>
                </a:solidFill>
                <a:latin typeface="Helvetica Neue"/>
                <a:ea typeface="Helvetica Neue"/>
                <a:cs typeface="Helvetica Neue"/>
              </a:defRPr>
            </a:lvl6pPr>
            <a:lvl7pPr>
              <a:defRPr sz="1875">
                <a:solidFill>
                  <a:srgbClr val="13212D"/>
                </a:solidFill>
                <a:latin typeface="Helvetica Neue"/>
                <a:ea typeface="Helvetica Neue"/>
                <a:cs typeface="Helvetica Neue"/>
              </a:defRPr>
            </a:lvl7pPr>
            <a:lvl8pPr>
              <a:defRPr sz="1875">
                <a:solidFill>
                  <a:srgbClr val="13212D"/>
                </a:solidFill>
                <a:latin typeface="Helvetica Neue"/>
                <a:ea typeface="Helvetica Neue"/>
                <a:cs typeface="Helvetica Neue"/>
              </a:defRPr>
            </a:lvl8pPr>
            <a:lvl9pPr>
              <a:defRPr sz="1875">
                <a:solidFill>
                  <a:srgbClr val="13212D"/>
                </a:solidFill>
                <a:latin typeface="Helvetica Neue"/>
                <a:ea typeface="Helvetica Neue"/>
                <a:cs typeface="Helvetica Neue"/>
              </a:defRPr>
            </a:lvl9pPr>
          </a:lstStyle>
          <a:p xmlns:a="http://schemas.openxmlformats.org/drawingml/2006/main">
            <a:pPr marL="279400" indent="-127000">
              <a:spcAft>
                <a:spcPts val="1300"/>
              </a:spcAft>
              <a:buChar char="•"/>
              <a:defRPr sz="1875">
                <a:solidFill>
                  <a:srgbClr val="13212D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75">
                <a:solidFill>
                  <a:srgbClr val="13212D"/>
                </a:solidFill>
                <a:latin typeface="Helvetica Neue"/>
                <a:ea typeface="Helvetica Neue"/>
                <a:cs typeface="Helvetica Neue"/>
              </a:rPr>
              <a:t>all other treatments have failed.</a:t>
            </a:r>
          </a:p>
          <a:p xmlns:a="http://schemas.openxmlformats.org/drawingml/2006/main">
            <a:pPr marL="279400" indent="-127000">
              <a:spcAft>
                <a:spcPts val="1300"/>
              </a:spcAft>
              <a:buChar char="•"/>
              <a:defRPr sz="1875">
                <a:solidFill>
                  <a:srgbClr val="13212D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75">
                <a:solidFill>
                  <a:srgbClr val="13212D"/>
                </a:solidFill>
                <a:latin typeface="Helvetica Neue"/>
                <a:ea typeface="Helvetica Neue"/>
                <a:cs typeface="Helvetica Neue"/>
              </a:rPr>
              <a:t>The treatment consists of a daily transfusion of granulocytes for three to five days, or until the granulocyte count increases, the infection decreased, or the patient cannot tolerate</a:t>
            </a:r>
          </a:p>
          <a:p xmlns:a="http://schemas.openxmlformats.org/drawingml/2006/main">
            <a:pPr marL="279400" indent="-127000">
              <a:spcAft>
                <a:spcPts val="1300"/>
              </a:spcAft>
              <a:buChar char="•"/>
              <a:defRPr sz="1875">
                <a:solidFill>
                  <a:srgbClr val="13212D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75">
                <a:solidFill>
                  <a:srgbClr val="13212D"/>
                </a:solidFill>
                <a:latin typeface="Helvetica Neue"/>
                <a:ea typeface="Helvetica Neue"/>
                <a:cs typeface="Helvetica Neue"/>
              </a:rPr>
              <a:t>the transfusion.</a:t>
            </a:r>
          </a:p>
          <a:p xmlns:a="http://schemas.openxmlformats.org/drawingml/2006/main">
            <a:pPr marL="279400" indent="-127000">
              <a:spcAft>
                <a:spcPts val="1300"/>
              </a:spcAft>
              <a:buChar char="•"/>
              <a:defRPr sz="1875">
                <a:solidFill>
                  <a:srgbClr val="13212D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75">
                <a:solidFill>
                  <a:srgbClr val="13212D"/>
                </a:solidFill>
                <a:latin typeface="Helvetica Neue"/>
                <a:ea typeface="Helvetica Neue"/>
                <a:cs typeface="Helvetica Neue"/>
              </a:rPr>
              <a:t>A cross-match (usually for four units) is obtained to ensure that the donor and the recipient have compatible blood types since these cells are contaminated with donor red cells.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BA8430CC-88EF-400B-BF90-40907A6EC1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6115050"/>
            <a:ext cx="101917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>
            <a:defPPr>
              <a:defRPr sz="1125" b="1">
                <a:solidFill>
                  <a:srgbClr val="B94F3D"/>
                </a:solidFill>
                <a:latin typeface="Helvetica Neue"/>
                <a:ea typeface="Helvetica Neue"/>
                <a:cs typeface="Helvetica Neue"/>
              </a:defRPr>
            </a:defPPr>
            <a:lvl1pPr>
              <a:defRPr sz="1125" b="1">
                <a:solidFill>
                  <a:srgbClr val="B94F3D"/>
                </a:solidFill>
                <a:latin typeface="Helvetica Neue"/>
                <a:ea typeface="Helvetica Neue"/>
                <a:cs typeface="Helvetica Neue"/>
              </a:defRPr>
            </a:lvl1pPr>
            <a:lvl2pPr>
              <a:defRPr sz="1125" b="1">
                <a:solidFill>
                  <a:srgbClr val="B94F3D"/>
                </a:solidFill>
                <a:latin typeface="Helvetica Neue"/>
                <a:ea typeface="Helvetica Neue"/>
                <a:cs typeface="Helvetica Neue"/>
              </a:defRPr>
            </a:lvl2pPr>
            <a:lvl3pPr>
              <a:defRPr sz="1125" b="1">
                <a:solidFill>
                  <a:srgbClr val="B94F3D"/>
                </a:solidFill>
                <a:latin typeface="Helvetica Neue"/>
                <a:ea typeface="Helvetica Neue"/>
                <a:cs typeface="Helvetica Neue"/>
              </a:defRPr>
            </a:lvl3pPr>
            <a:lvl4pPr>
              <a:defRPr sz="1125" b="1">
                <a:solidFill>
                  <a:srgbClr val="B94F3D"/>
                </a:solidFill>
                <a:latin typeface="Helvetica Neue"/>
                <a:ea typeface="Helvetica Neue"/>
                <a:cs typeface="Helvetica Neue"/>
              </a:defRPr>
            </a:lvl4pPr>
            <a:lvl5pPr>
              <a:defRPr sz="1125" b="1">
                <a:solidFill>
                  <a:srgbClr val="B94F3D"/>
                </a:solidFill>
                <a:latin typeface="Helvetica Neue"/>
                <a:ea typeface="Helvetica Neue"/>
                <a:cs typeface="Helvetica Neue"/>
              </a:defRPr>
            </a:lvl5pPr>
            <a:lvl6pPr>
              <a:defRPr sz="1125" b="1">
                <a:solidFill>
                  <a:srgbClr val="B94F3D"/>
                </a:solidFill>
                <a:latin typeface="Helvetica Neue"/>
                <a:ea typeface="Helvetica Neue"/>
                <a:cs typeface="Helvetica Neue"/>
              </a:defRPr>
            </a:lvl6pPr>
            <a:lvl7pPr>
              <a:defRPr sz="1125" b="1">
                <a:solidFill>
                  <a:srgbClr val="B94F3D"/>
                </a:solidFill>
                <a:latin typeface="Helvetica Neue"/>
                <a:ea typeface="Helvetica Neue"/>
                <a:cs typeface="Helvetica Neue"/>
              </a:defRPr>
            </a:lvl7pPr>
            <a:lvl8pPr>
              <a:defRPr sz="1125" b="1">
                <a:solidFill>
                  <a:srgbClr val="B94F3D"/>
                </a:solidFill>
                <a:latin typeface="Helvetica Neue"/>
                <a:ea typeface="Helvetica Neue"/>
                <a:cs typeface="Helvetica Neue"/>
              </a:defRPr>
            </a:lvl8pPr>
            <a:lvl9pPr>
              <a:defRPr sz="1125" b="1">
                <a:solidFill>
                  <a:srgbClr val="B94F3D"/>
                </a:solidFill>
                <a:latin typeface="Helvetica Neue"/>
                <a:ea typeface="Helvetica Neue"/>
                <a:cs typeface="Helvetica Neue"/>
              </a:defRPr>
            </a:lvl9pPr>
          </a:lstStyle>
          <a:p xmlns:a="http://schemas.openxmlformats.org/drawingml/2006/main">
            <a:pPr>
              <a:defRPr sz="1125" b="1">
                <a:solidFill>
                  <a:srgbClr val="B94F3D"/>
                </a:solidFill>
                <a:latin typeface="Helvetica Neue"/>
                <a:ea typeface="Helvetica Neue"/>
                <a:cs typeface="Helvetica Neue"/>
              </a:defRPr>
            </a:pPr>
            <a:r>
              <a:rPr sz="1125" b="1">
                <a:solidFill>
                  <a:srgbClr val="B94F3D"/>
                </a:solidFill>
                <a:latin typeface="Helvetica Neue"/>
                <a:ea typeface="Helvetica Neue"/>
                <a:cs typeface="Helvetica Neue"/>
              </a:rPr>
              <a:t>Use current orders, facility policy, and authorized scope when applying this information.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5B0BFFAC-9D17-4763-84E4-AE63678B9A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5772150"/>
            <a:ext cx="101917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97619"/>
          </a:bodyPr>
          <a:lstStyle xmlns:a="http://schemas.openxmlformats.org/drawingml/2006/main">
            <a:defPPr>
              <a:defRPr sz="1050" b="1">
                <a:solidFill>
                  <a:srgbClr val="237B82"/>
                </a:solidFill>
                <a:latin typeface="Helvetica Neue"/>
                <a:ea typeface="Helvetica Neue"/>
                <a:cs typeface="Helvetica Neue"/>
              </a:defRPr>
            </a:defPPr>
            <a:lvl1pPr>
              <a:defRPr sz="1050" b="1">
                <a:solidFill>
                  <a:srgbClr val="237B82"/>
                </a:solidFill>
                <a:latin typeface="Helvetica Neue"/>
                <a:ea typeface="Helvetica Neue"/>
                <a:cs typeface="Helvetica Neue"/>
              </a:defRPr>
            </a:lvl1pPr>
            <a:lvl2pPr>
              <a:defRPr sz="1050" b="1">
                <a:solidFill>
                  <a:srgbClr val="237B82"/>
                </a:solidFill>
                <a:latin typeface="Helvetica Neue"/>
                <a:ea typeface="Helvetica Neue"/>
                <a:cs typeface="Helvetica Neue"/>
              </a:defRPr>
            </a:lvl2pPr>
            <a:lvl3pPr>
              <a:defRPr sz="1050" b="1">
                <a:solidFill>
                  <a:srgbClr val="237B82"/>
                </a:solidFill>
                <a:latin typeface="Helvetica Neue"/>
                <a:ea typeface="Helvetica Neue"/>
                <a:cs typeface="Helvetica Neue"/>
              </a:defRPr>
            </a:lvl3pPr>
            <a:lvl4pPr>
              <a:defRPr sz="1050" b="1">
                <a:solidFill>
                  <a:srgbClr val="237B82"/>
                </a:solidFill>
                <a:latin typeface="Helvetica Neue"/>
                <a:ea typeface="Helvetica Neue"/>
                <a:cs typeface="Helvetica Neue"/>
              </a:defRPr>
            </a:lvl4pPr>
            <a:lvl5pPr>
              <a:defRPr sz="1050" b="1">
                <a:solidFill>
                  <a:srgbClr val="237B82"/>
                </a:solidFill>
                <a:latin typeface="Helvetica Neue"/>
                <a:ea typeface="Helvetica Neue"/>
                <a:cs typeface="Helvetica Neue"/>
              </a:defRPr>
            </a:lvl5pPr>
            <a:lvl6pPr>
              <a:defRPr sz="1050" b="1">
                <a:solidFill>
                  <a:srgbClr val="237B82"/>
                </a:solidFill>
                <a:latin typeface="Helvetica Neue"/>
                <a:ea typeface="Helvetica Neue"/>
                <a:cs typeface="Helvetica Neue"/>
              </a:defRPr>
            </a:lvl6pPr>
            <a:lvl7pPr>
              <a:defRPr sz="1050" b="1">
                <a:solidFill>
                  <a:srgbClr val="237B82"/>
                </a:solidFill>
                <a:latin typeface="Helvetica Neue"/>
                <a:ea typeface="Helvetica Neue"/>
                <a:cs typeface="Helvetica Neue"/>
              </a:defRPr>
            </a:lvl7pPr>
            <a:lvl8pPr>
              <a:defRPr sz="1050" b="1">
                <a:solidFill>
                  <a:srgbClr val="237B82"/>
                </a:solidFill>
                <a:latin typeface="Helvetica Neue"/>
                <a:ea typeface="Helvetica Neue"/>
                <a:cs typeface="Helvetica Neue"/>
              </a:defRPr>
            </a:lvl8pPr>
            <a:lvl9pPr>
              <a:defRPr sz="1050" b="1">
                <a:solidFill>
                  <a:srgbClr val="237B82"/>
                </a:solidFill>
                <a:latin typeface="Helvetica Neue"/>
                <a:ea typeface="Helvetica Neue"/>
                <a:cs typeface="Helvetica Neue"/>
              </a:defRPr>
            </a:lvl9pPr>
          </a:lstStyle>
          <a:p xmlns:a="http://schemas.openxmlformats.org/drawingml/2006/main">
            <a:pPr>
              <a:defRPr sz="1050" b="1">
                <a:solidFill>
                  <a:srgbClr val="237B82"/>
                </a:solidFill>
                <a:latin typeface="Helvetica Neue"/>
                <a:ea typeface="Helvetica Neue"/>
                <a:cs typeface="Helvetica Neue"/>
              </a:defRPr>
            </a:pPr>
            <a:r>
              <a:rPr sz="1050" b="1">
                <a:solidFill>
                  <a:srgbClr val="237B82"/>
                </a:solidFill>
                <a:latin typeface="Helvetica Neue"/>
                <a:ea typeface="Helvetica Neue"/>
                <a:cs typeface="Helvetica Neue"/>
              </a:rPr>
              <a:t>Manual page 55</a:t>
            </a:r>
          </a:p>
        </p:txBody>
      </p:sp>
    </p:spTree>
    <p:extLst>
      <p:ext uri="{BB962C8B-B14F-4D97-AF65-F5344CB8AC3E}">
        <p14:creationId xmlns:p14="http://schemas.microsoft.com/office/powerpoint/2010/main" val="1883950571"/>
      </p:ext>
    </p:extLst>
  </p:cSld>
</p:sld>
</file>

<file path=ppt/slides/slide36.xml><?xml version="1.0" encoding="utf-8"?>
<p:sld xmlns:p="http://schemas.openxmlformats.org/presentationml/2006/main">
  <p:cSld>
    <p:bg>
      <p:bgPr>
        <a:solidFill xmlns:a="http://schemas.openxmlformats.org/drawingml/2006/main">
          <a:srgbClr val="F7F4EE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2141399A-9ED7-4F5A-9D11-768B3D2BC9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2095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37B82"/>
          </a:solidFill>
          <a:ln xmlns:a="http://schemas.openxmlformats.org/drawingml/2006/main" w="0">
            <a:solidFill>
              <a:srgbClr val="237B82"/>
            </a:solidFill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B1BF91A0-1AF1-41B9-9995-CA8864DCD3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00050"/>
            <a:ext cx="10001250" cy="819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88426"/>
          </a:bodyPr>
          <a:lstStyle xmlns:a="http://schemas.openxmlformats.org/drawingml/2006/main">
            <a:defPPr>
              <a:defRPr sz="2700" b="1">
                <a:solidFill>
                  <a:srgbClr val="15324A"/>
                </a:solidFill>
                <a:latin typeface="Helvetica Neue"/>
                <a:ea typeface="Helvetica Neue"/>
                <a:cs typeface="Helvetica Neue"/>
              </a:defRPr>
            </a:defPPr>
            <a:lvl1pPr>
              <a:defRPr sz="2700" b="1">
                <a:solidFill>
                  <a:srgbClr val="15324A"/>
                </a:solidFill>
                <a:latin typeface="Helvetica Neue"/>
                <a:ea typeface="Helvetica Neue"/>
                <a:cs typeface="Helvetica Neue"/>
              </a:defRPr>
            </a:lvl1pPr>
            <a:lvl2pPr>
              <a:defRPr sz="2700" b="1">
                <a:solidFill>
                  <a:srgbClr val="15324A"/>
                </a:solidFill>
                <a:latin typeface="Helvetica Neue"/>
                <a:ea typeface="Helvetica Neue"/>
                <a:cs typeface="Helvetica Neue"/>
              </a:defRPr>
            </a:lvl2pPr>
            <a:lvl3pPr>
              <a:defRPr sz="2700" b="1">
                <a:solidFill>
                  <a:srgbClr val="15324A"/>
                </a:solidFill>
                <a:latin typeface="Helvetica Neue"/>
                <a:ea typeface="Helvetica Neue"/>
                <a:cs typeface="Helvetica Neue"/>
              </a:defRPr>
            </a:lvl3pPr>
            <a:lvl4pPr>
              <a:defRPr sz="2700" b="1">
                <a:solidFill>
                  <a:srgbClr val="15324A"/>
                </a:solidFill>
                <a:latin typeface="Helvetica Neue"/>
                <a:ea typeface="Helvetica Neue"/>
                <a:cs typeface="Helvetica Neue"/>
              </a:defRPr>
            </a:lvl4pPr>
            <a:lvl5pPr>
              <a:defRPr sz="2700" b="1">
                <a:solidFill>
                  <a:srgbClr val="15324A"/>
                </a:solidFill>
                <a:latin typeface="Helvetica Neue"/>
                <a:ea typeface="Helvetica Neue"/>
                <a:cs typeface="Helvetica Neue"/>
              </a:defRPr>
            </a:lvl5pPr>
            <a:lvl6pPr>
              <a:defRPr sz="2700" b="1">
                <a:solidFill>
                  <a:srgbClr val="15324A"/>
                </a:solidFill>
                <a:latin typeface="Helvetica Neue"/>
                <a:ea typeface="Helvetica Neue"/>
                <a:cs typeface="Helvetica Neue"/>
              </a:defRPr>
            </a:lvl6pPr>
            <a:lvl7pPr>
              <a:defRPr sz="2700" b="1">
                <a:solidFill>
                  <a:srgbClr val="15324A"/>
                </a:solidFill>
                <a:latin typeface="Helvetica Neue"/>
                <a:ea typeface="Helvetica Neue"/>
                <a:cs typeface="Helvetica Neue"/>
              </a:defRPr>
            </a:lvl7pPr>
            <a:lvl8pPr>
              <a:defRPr sz="2700" b="1">
                <a:solidFill>
                  <a:srgbClr val="15324A"/>
                </a:solidFill>
                <a:latin typeface="Helvetica Neue"/>
                <a:ea typeface="Helvetica Neue"/>
                <a:cs typeface="Helvetica Neue"/>
              </a:defRPr>
            </a:lvl8pPr>
            <a:lvl9pPr>
              <a:defRPr sz="2700" b="1">
                <a:solidFill>
                  <a:srgbClr val="15324A"/>
                </a:solidFill>
                <a:latin typeface="Helvetica Neue"/>
                <a:ea typeface="Helvetica Neue"/>
                <a:cs typeface="Helvetica Neue"/>
              </a:defRPr>
            </a:lvl9pPr>
          </a:lstStyle>
          <a:p xmlns:a="http://schemas.openxmlformats.org/drawingml/2006/main">
            <a:pPr>
              <a:defRPr sz="2700" b="1">
                <a:solidFill>
                  <a:srgbClr val="15324A"/>
                </a:solidFill>
                <a:latin typeface="Helvetica Neue"/>
                <a:ea typeface="Helvetica Neue"/>
                <a:cs typeface="Helvetica Neue"/>
              </a:defRPr>
            </a:pPr>
            <a:r>
              <a:rPr sz="2700" b="1">
                <a:solidFill>
                  <a:srgbClr val="15324A"/>
                </a:solidFill>
                <a:latin typeface="Helvetica Neue"/>
                <a:ea typeface="Helvetica Neue"/>
                <a:cs typeface="Helvetica Neue"/>
              </a:rPr>
              <a:t>Fresh Frozen Plasma - This product is indicated for the patient with inherited or — continued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045147F3-4250-4870-B700-BBD41AFF05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1257300"/>
            <a:ext cx="88582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91111"/>
          </a:bodyPr>
          <a:lstStyle xmlns:a="http://schemas.openxmlformats.org/drawingml/2006/main">
            <a:defPPr>
              <a:defRPr sz="1125" b="1">
                <a:solidFill>
                  <a:srgbClr val="237B82"/>
                </a:solidFill>
                <a:latin typeface="Helvetica Neue"/>
                <a:ea typeface="Helvetica Neue"/>
                <a:cs typeface="Helvetica Neue"/>
              </a:defRPr>
            </a:defPPr>
            <a:lvl1pPr>
              <a:defRPr sz="1125" b="1">
                <a:solidFill>
                  <a:srgbClr val="237B82"/>
                </a:solidFill>
                <a:latin typeface="Helvetica Neue"/>
                <a:ea typeface="Helvetica Neue"/>
                <a:cs typeface="Helvetica Neue"/>
              </a:defRPr>
            </a:lvl1pPr>
            <a:lvl2pPr>
              <a:defRPr sz="1125" b="1">
                <a:solidFill>
                  <a:srgbClr val="237B82"/>
                </a:solidFill>
                <a:latin typeface="Helvetica Neue"/>
                <a:ea typeface="Helvetica Neue"/>
                <a:cs typeface="Helvetica Neue"/>
              </a:defRPr>
            </a:lvl2pPr>
            <a:lvl3pPr>
              <a:defRPr sz="1125" b="1">
                <a:solidFill>
                  <a:srgbClr val="237B82"/>
                </a:solidFill>
                <a:latin typeface="Helvetica Neue"/>
                <a:ea typeface="Helvetica Neue"/>
                <a:cs typeface="Helvetica Neue"/>
              </a:defRPr>
            </a:lvl3pPr>
            <a:lvl4pPr>
              <a:defRPr sz="1125" b="1">
                <a:solidFill>
                  <a:srgbClr val="237B82"/>
                </a:solidFill>
                <a:latin typeface="Helvetica Neue"/>
                <a:ea typeface="Helvetica Neue"/>
                <a:cs typeface="Helvetica Neue"/>
              </a:defRPr>
            </a:lvl4pPr>
            <a:lvl5pPr>
              <a:defRPr sz="1125" b="1">
                <a:solidFill>
                  <a:srgbClr val="237B82"/>
                </a:solidFill>
                <a:latin typeface="Helvetica Neue"/>
                <a:ea typeface="Helvetica Neue"/>
                <a:cs typeface="Helvetica Neue"/>
              </a:defRPr>
            </a:lvl5pPr>
            <a:lvl6pPr>
              <a:defRPr sz="1125" b="1">
                <a:solidFill>
                  <a:srgbClr val="237B82"/>
                </a:solidFill>
                <a:latin typeface="Helvetica Neue"/>
                <a:ea typeface="Helvetica Neue"/>
                <a:cs typeface="Helvetica Neue"/>
              </a:defRPr>
            </a:lvl6pPr>
            <a:lvl7pPr>
              <a:defRPr sz="1125" b="1">
                <a:solidFill>
                  <a:srgbClr val="237B82"/>
                </a:solidFill>
                <a:latin typeface="Helvetica Neue"/>
                <a:ea typeface="Helvetica Neue"/>
                <a:cs typeface="Helvetica Neue"/>
              </a:defRPr>
            </a:lvl7pPr>
            <a:lvl8pPr>
              <a:defRPr sz="1125" b="1">
                <a:solidFill>
                  <a:srgbClr val="237B82"/>
                </a:solidFill>
                <a:latin typeface="Helvetica Neue"/>
                <a:ea typeface="Helvetica Neue"/>
                <a:cs typeface="Helvetica Neue"/>
              </a:defRPr>
            </a:lvl8pPr>
            <a:lvl9pPr>
              <a:defRPr sz="1125" b="1">
                <a:solidFill>
                  <a:srgbClr val="237B82"/>
                </a:solidFill>
                <a:latin typeface="Helvetica Neue"/>
                <a:ea typeface="Helvetica Neue"/>
                <a:cs typeface="Helvetica Neue"/>
              </a:defRPr>
            </a:lvl9pPr>
          </a:lstStyle>
          <a:p xmlns:a="http://schemas.openxmlformats.org/drawingml/2006/main">
            <a:pPr>
              <a:defRPr sz="1125" b="1">
                <a:solidFill>
                  <a:srgbClr val="237B82"/>
                </a:solidFill>
                <a:latin typeface="Helvetica Neue"/>
                <a:ea typeface="Helvetica Neue"/>
                <a:cs typeface="Helvetica Neue"/>
              </a:defRPr>
            </a:pPr>
            <a:r>
              <a:rPr sz="1125" b="1">
                <a:solidFill>
                  <a:srgbClr val="237B82"/>
                </a:solidFill>
                <a:latin typeface="Helvetica Neue"/>
                <a:ea typeface="Helvetica Neue"/>
                <a:cs typeface="Helvetica Neue"/>
              </a:rPr>
              <a:t>MODULE 4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CD40DD5C-5EB0-451C-A740-4B10364E0D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457200"/>
            <a:ext cx="5334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>
            <a:defPPr>
              <a:defRPr sz="1200" b="1">
                <a:solidFill>
                  <a:srgbClr val="237B82"/>
                </a:solidFill>
                <a:latin typeface="Helvetica Neue"/>
                <a:ea typeface="Helvetica Neue"/>
                <a:cs typeface="Helvetica Neue"/>
              </a:defRPr>
            </a:defPPr>
            <a:lvl1pPr>
              <a:defRPr sz="1200" b="1">
                <a:solidFill>
                  <a:srgbClr val="237B82"/>
                </a:solidFill>
                <a:latin typeface="Helvetica Neue"/>
                <a:ea typeface="Helvetica Neue"/>
                <a:cs typeface="Helvetica Neue"/>
              </a:defRPr>
            </a:lvl1pPr>
            <a:lvl2pPr>
              <a:defRPr sz="1200" b="1">
                <a:solidFill>
                  <a:srgbClr val="237B82"/>
                </a:solidFill>
                <a:latin typeface="Helvetica Neue"/>
                <a:ea typeface="Helvetica Neue"/>
                <a:cs typeface="Helvetica Neue"/>
              </a:defRPr>
            </a:lvl2pPr>
            <a:lvl3pPr>
              <a:defRPr sz="1200" b="1">
                <a:solidFill>
                  <a:srgbClr val="237B82"/>
                </a:solidFill>
                <a:latin typeface="Helvetica Neue"/>
                <a:ea typeface="Helvetica Neue"/>
                <a:cs typeface="Helvetica Neue"/>
              </a:defRPr>
            </a:lvl3pPr>
            <a:lvl4pPr>
              <a:defRPr sz="1200" b="1">
                <a:solidFill>
                  <a:srgbClr val="237B82"/>
                </a:solidFill>
                <a:latin typeface="Helvetica Neue"/>
                <a:ea typeface="Helvetica Neue"/>
                <a:cs typeface="Helvetica Neue"/>
              </a:defRPr>
            </a:lvl4pPr>
            <a:lvl5pPr>
              <a:defRPr sz="1200" b="1">
                <a:solidFill>
                  <a:srgbClr val="237B82"/>
                </a:solidFill>
                <a:latin typeface="Helvetica Neue"/>
                <a:ea typeface="Helvetica Neue"/>
                <a:cs typeface="Helvetica Neue"/>
              </a:defRPr>
            </a:lvl5pPr>
            <a:lvl6pPr>
              <a:defRPr sz="1200" b="1">
                <a:solidFill>
                  <a:srgbClr val="237B82"/>
                </a:solidFill>
                <a:latin typeface="Helvetica Neue"/>
                <a:ea typeface="Helvetica Neue"/>
                <a:cs typeface="Helvetica Neue"/>
              </a:defRPr>
            </a:lvl6pPr>
            <a:lvl7pPr>
              <a:defRPr sz="1200" b="1">
                <a:solidFill>
                  <a:srgbClr val="237B82"/>
                </a:solidFill>
                <a:latin typeface="Helvetica Neue"/>
                <a:ea typeface="Helvetica Neue"/>
                <a:cs typeface="Helvetica Neue"/>
              </a:defRPr>
            </a:lvl7pPr>
            <a:lvl8pPr>
              <a:defRPr sz="1200" b="1">
                <a:solidFill>
                  <a:srgbClr val="237B82"/>
                </a:solidFill>
                <a:latin typeface="Helvetica Neue"/>
                <a:ea typeface="Helvetica Neue"/>
                <a:cs typeface="Helvetica Neue"/>
              </a:defRPr>
            </a:lvl8pPr>
            <a:lvl9pPr>
              <a:defRPr sz="1200" b="1">
                <a:solidFill>
                  <a:srgbClr val="237B82"/>
                </a:solidFill>
                <a:latin typeface="Helvetica Neue"/>
                <a:ea typeface="Helvetica Neue"/>
                <a:cs typeface="Helvetica Neue"/>
              </a:defRPr>
            </a:lvl9pPr>
          </a:lstStyle>
          <a:p xmlns:a="http://schemas.openxmlformats.org/drawingml/2006/main">
            <a:pPr>
              <a:defRPr sz="1200" b="1">
                <a:solidFill>
                  <a:srgbClr val="237B82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00" b="1">
                <a:solidFill>
                  <a:srgbClr val="237B82"/>
                </a:solidFill>
                <a:latin typeface="Helvetica Neue"/>
                <a:ea typeface="Helvetica Neue"/>
                <a:cs typeface="Helvetica Neue"/>
              </a:rPr>
              <a:t>36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805FE77D-627A-43B4-886C-59AF96A959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1762125"/>
            <a:ext cx="10287000" cy="409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>
            <a:defPPr>
              <a:defRPr sz="2100">
                <a:solidFill>
                  <a:srgbClr val="13212D"/>
                </a:solidFill>
                <a:latin typeface="Helvetica Neue"/>
                <a:ea typeface="Helvetica Neue"/>
                <a:cs typeface="Helvetica Neue"/>
              </a:defRPr>
            </a:defPPr>
            <a:lvl1pPr>
              <a:defRPr sz="2100">
                <a:solidFill>
                  <a:srgbClr val="13212D"/>
                </a:solidFill>
                <a:latin typeface="Helvetica Neue"/>
                <a:ea typeface="Helvetica Neue"/>
                <a:cs typeface="Helvetica Neue"/>
              </a:defRPr>
            </a:lvl1pPr>
            <a:lvl2pPr>
              <a:defRPr sz="2100">
                <a:solidFill>
                  <a:srgbClr val="13212D"/>
                </a:solidFill>
                <a:latin typeface="Helvetica Neue"/>
                <a:ea typeface="Helvetica Neue"/>
                <a:cs typeface="Helvetica Neue"/>
              </a:defRPr>
            </a:lvl2pPr>
            <a:lvl3pPr>
              <a:defRPr sz="2100">
                <a:solidFill>
                  <a:srgbClr val="13212D"/>
                </a:solidFill>
                <a:latin typeface="Helvetica Neue"/>
                <a:ea typeface="Helvetica Neue"/>
                <a:cs typeface="Helvetica Neue"/>
              </a:defRPr>
            </a:lvl3pPr>
            <a:lvl4pPr>
              <a:defRPr sz="2100">
                <a:solidFill>
                  <a:srgbClr val="13212D"/>
                </a:solidFill>
                <a:latin typeface="Helvetica Neue"/>
                <a:ea typeface="Helvetica Neue"/>
                <a:cs typeface="Helvetica Neue"/>
              </a:defRPr>
            </a:lvl4pPr>
            <a:lvl5pPr>
              <a:defRPr sz="2100">
                <a:solidFill>
                  <a:srgbClr val="13212D"/>
                </a:solidFill>
                <a:latin typeface="Helvetica Neue"/>
                <a:ea typeface="Helvetica Neue"/>
                <a:cs typeface="Helvetica Neue"/>
              </a:defRPr>
            </a:lvl5pPr>
            <a:lvl6pPr>
              <a:defRPr sz="2100">
                <a:solidFill>
                  <a:srgbClr val="13212D"/>
                </a:solidFill>
                <a:latin typeface="Helvetica Neue"/>
                <a:ea typeface="Helvetica Neue"/>
                <a:cs typeface="Helvetica Neue"/>
              </a:defRPr>
            </a:lvl6pPr>
            <a:lvl7pPr>
              <a:defRPr sz="2100">
                <a:solidFill>
                  <a:srgbClr val="13212D"/>
                </a:solidFill>
                <a:latin typeface="Helvetica Neue"/>
                <a:ea typeface="Helvetica Neue"/>
                <a:cs typeface="Helvetica Neue"/>
              </a:defRPr>
            </a:lvl7pPr>
            <a:lvl8pPr>
              <a:defRPr sz="2100">
                <a:solidFill>
                  <a:srgbClr val="13212D"/>
                </a:solidFill>
                <a:latin typeface="Helvetica Neue"/>
                <a:ea typeface="Helvetica Neue"/>
                <a:cs typeface="Helvetica Neue"/>
              </a:defRPr>
            </a:lvl8pPr>
            <a:lvl9pPr>
              <a:defRPr sz="2100">
                <a:solidFill>
                  <a:srgbClr val="13212D"/>
                </a:solidFill>
                <a:latin typeface="Helvetica Neue"/>
                <a:ea typeface="Helvetica Neue"/>
                <a:cs typeface="Helvetica Neue"/>
              </a:defRPr>
            </a:lvl9pPr>
          </a:lstStyle>
          <a:p xmlns:a="http://schemas.openxmlformats.org/drawingml/2006/main">
            <a:pPr marL="279400" indent="-127000">
              <a:spcAft>
                <a:spcPts val="1300"/>
              </a:spcAft>
              <a:buChar char="•"/>
              <a:defRPr sz="2100">
                <a:solidFill>
                  <a:srgbClr val="13212D"/>
                </a:solidFill>
                <a:latin typeface="Helvetica Neue"/>
                <a:ea typeface="Helvetica Neue"/>
                <a:cs typeface="Helvetica Neue"/>
              </a:defRPr>
            </a:pPr>
            <a:r>
              <a:rPr sz="2100">
                <a:solidFill>
                  <a:srgbClr val="13212D"/>
                </a:solidFill>
                <a:latin typeface="Helvetica Neue"/>
                <a:ea typeface="Helvetica Neue"/>
                <a:cs typeface="Helvetica Neue"/>
              </a:rPr>
              <a:t>A standard blood filter (17 microns) is used and the transfusion is given over a four-hour period.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B44878CF-2A9E-4778-A331-2AED62F01C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6115050"/>
            <a:ext cx="101917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>
            <a:defPPr>
              <a:defRPr sz="1125" b="1">
                <a:solidFill>
                  <a:srgbClr val="B94F3D"/>
                </a:solidFill>
                <a:latin typeface="Helvetica Neue"/>
                <a:ea typeface="Helvetica Neue"/>
                <a:cs typeface="Helvetica Neue"/>
              </a:defRPr>
            </a:defPPr>
            <a:lvl1pPr>
              <a:defRPr sz="1125" b="1">
                <a:solidFill>
                  <a:srgbClr val="B94F3D"/>
                </a:solidFill>
                <a:latin typeface="Helvetica Neue"/>
                <a:ea typeface="Helvetica Neue"/>
                <a:cs typeface="Helvetica Neue"/>
              </a:defRPr>
            </a:lvl1pPr>
            <a:lvl2pPr>
              <a:defRPr sz="1125" b="1">
                <a:solidFill>
                  <a:srgbClr val="B94F3D"/>
                </a:solidFill>
                <a:latin typeface="Helvetica Neue"/>
                <a:ea typeface="Helvetica Neue"/>
                <a:cs typeface="Helvetica Neue"/>
              </a:defRPr>
            </a:lvl2pPr>
            <a:lvl3pPr>
              <a:defRPr sz="1125" b="1">
                <a:solidFill>
                  <a:srgbClr val="B94F3D"/>
                </a:solidFill>
                <a:latin typeface="Helvetica Neue"/>
                <a:ea typeface="Helvetica Neue"/>
                <a:cs typeface="Helvetica Neue"/>
              </a:defRPr>
            </a:lvl3pPr>
            <a:lvl4pPr>
              <a:defRPr sz="1125" b="1">
                <a:solidFill>
                  <a:srgbClr val="B94F3D"/>
                </a:solidFill>
                <a:latin typeface="Helvetica Neue"/>
                <a:ea typeface="Helvetica Neue"/>
                <a:cs typeface="Helvetica Neue"/>
              </a:defRPr>
            </a:lvl4pPr>
            <a:lvl5pPr>
              <a:defRPr sz="1125" b="1">
                <a:solidFill>
                  <a:srgbClr val="B94F3D"/>
                </a:solidFill>
                <a:latin typeface="Helvetica Neue"/>
                <a:ea typeface="Helvetica Neue"/>
                <a:cs typeface="Helvetica Neue"/>
              </a:defRPr>
            </a:lvl5pPr>
            <a:lvl6pPr>
              <a:defRPr sz="1125" b="1">
                <a:solidFill>
                  <a:srgbClr val="B94F3D"/>
                </a:solidFill>
                <a:latin typeface="Helvetica Neue"/>
                <a:ea typeface="Helvetica Neue"/>
                <a:cs typeface="Helvetica Neue"/>
              </a:defRPr>
            </a:lvl6pPr>
            <a:lvl7pPr>
              <a:defRPr sz="1125" b="1">
                <a:solidFill>
                  <a:srgbClr val="B94F3D"/>
                </a:solidFill>
                <a:latin typeface="Helvetica Neue"/>
                <a:ea typeface="Helvetica Neue"/>
                <a:cs typeface="Helvetica Neue"/>
              </a:defRPr>
            </a:lvl7pPr>
            <a:lvl8pPr>
              <a:defRPr sz="1125" b="1">
                <a:solidFill>
                  <a:srgbClr val="B94F3D"/>
                </a:solidFill>
                <a:latin typeface="Helvetica Neue"/>
                <a:ea typeface="Helvetica Neue"/>
                <a:cs typeface="Helvetica Neue"/>
              </a:defRPr>
            </a:lvl8pPr>
            <a:lvl9pPr>
              <a:defRPr sz="1125" b="1">
                <a:solidFill>
                  <a:srgbClr val="B94F3D"/>
                </a:solidFill>
                <a:latin typeface="Helvetica Neue"/>
                <a:ea typeface="Helvetica Neue"/>
                <a:cs typeface="Helvetica Neue"/>
              </a:defRPr>
            </a:lvl9pPr>
          </a:lstStyle>
          <a:p xmlns:a="http://schemas.openxmlformats.org/drawingml/2006/main">
            <a:pPr>
              <a:defRPr sz="1125" b="1">
                <a:solidFill>
                  <a:srgbClr val="B94F3D"/>
                </a:solidFill>
                <a:latin typeface="Helvetica Neue"/>
                <a:ea typeface="Helvetica Neue"/>
                <a:cs typeface="Helvetica Neue"/>
              </a:defRPr>
            </a:pPr>
            <a:r>
              <a:rPr sz="1125" b="1">
                <a:solidFill>
                  <a:srgbClr val="B94F3D"/>
                </a:solidFill>
                <a:latin typeface="Helvetica Neue"/>
                <a:ea typeface="Helvetica Neue"/>
                <a:cs typeface="Helvetica Neue"/>
              </a:rPr>
              <a:t>Use current orders, facility policy, and authorized scope when applying this information.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4E34A2EE-BC35-40D5-8D45-17744C3447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5772150"/>
            <a:ext cx="101917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97619"/>
          </a:bodyPr>
          <a:lstStyle xmlns:a="http://schemas.openxmlformats.org/drawingml/2006/main">
            <a:defPPr>
              <a:defRPr sz="1050" b="1">
                <a:solidFill>
                  <a:srgbClr val="237B82"/>
                </a:solidFill>
                <a:latin typeface="Helvetica Neue"/>
                <a:ea typeface="Helvetica Neue"/>
                <a:cs typeface="Helvetica Neue"/>
              </a:defRPr>
            </a:defPPr>
            <a:lvl1pPr>
              <a:defRPr sz="1050" b="1">
                <a:solidFill>
                  <a:srgbClr val="237B82"/>
                </a:solidFill>
                <a:latin typeface="Helvetica Neue"/>
                <a:ea typeface="Helvetica Neue"/>
                <a:cs typeface="Helvetica Neue"/>
              </a:defRPr>
            </a:lvl1pPr>
            <a:lvl2pPr>
              <a:defRPr sz="1050" b="1">
                <a:solidFill>
                  <a:srgbClr val="237B82"/>
                </a:solidFill>
                <a:latin typeface="Helvetica Neue"/>
                <a:ea typeface="Helvetica Neue"/>
                <a:cs typeface="Helvetica Neue"/>
              </a:defRPr>
            </a:lvl2pPr>
            <a:lvl3pPr>
              <a:defRPr sz="1050" b="1">
                <a:solidFill>
                  <a:srgbClr val="237B82"/>
                </a:solidFill>
                <a:latin typeface="Helvetica Neue"/>
                <a:ea typeface="Helvetica Neue"/>
                <a:cs typeface="Helvetica Neue"/>
              </a:defRPr>
            </a:lvl3pPr>
            <a:lvl4pPr>
              <a:defRPr sz="1050" b="1">
                <a:solidFill>
                  <a:srgbClr val="237B82"/>
                </a:solidFill>
                <a:latin typeface="Helvetica Neue"/>
                <a:ea typeface="Helvetica Neue"/>
                <a:cs typeface="Helvetica Neue"/>
              </a:defRPr>
            </a:lvl4pPr>
            <a:lvl5pPr>
              <a:defRPr sz="1050" b="1">
                <a:solidFill>
                  <a:srgbClr val="237B82"/>
                </a:solidFill>
                <a:latin typeface="Helvetica Neue"/>
                <a:ea typeface="Helvetica Neue"/>
                <a:cs typeface="Helvetica Neue"/>
              </a:defRPr>
            </a:lvl5pPr>
            <a:lvl6pPr>
              <a:defRPr sz="1050" b="1">
                <a:solidFill>
                  <a:srgbClr val="237B82"/>
                </a:solidFill>
                <a:latin typeface="Helvetica Neue"/>
                <a:ea typeface="Helvetica Neue"/>
                <a:cs typeface="Helvetica Neue"/>
              </a:defRPr>
            </a:lvl6pPr>
            <a:lvl7pPr>
              <a:defRPr sz="1050" b="1">
                <a:solidFill>
                  <a:srgbClr val="237B82"/>
                </a:solidFill>
                <a:latin typeface="Helvetica Neue"/>
                <a:ea typeface="Helvetica Neue"/>
                <a:cs typeface="Helvetica Neue"/>
              </a:defRPr>
            </a:lvl7pPr>
            <a:lvl8pPr>
              <a:defRPr sz="1050" b="1">
                <a:solidFill>
                  <a:srgbClr val="237B82"/>
                </a:solidFill>
                <a:latin typeface="Helvetica Neue"/>
                <a:ea typeface="Helvetica Neue"/>
                <a:cs typeface="Helvetica Neue"/>
              </a:defRPr>
            </a:lvl8pPr>
            <a:lvl9pPr>
              <a:defRPr sz="1050" b="1">
                <a:solidFill>
                  <a:srgbClr val="237B82"/>
                </a:solidFill>
                <a:latin typeface="Helvetica Neue"/>
                <a:ea typeface="Helvetica Neue"/>
                <a:cs typeface="Helvetica Neue"/>
              </a:defRPr>
            </a:lvl9pPr>
          </a:lstStyle>
          <a:p xmlns:a="http://schemas.openxmlformats.org/drawingml/2006/main">
            <a:pPr>
              <a:defRPr sz="1050" b="1">
                <a:solidFill>
                  <a:srgbClr val="237B82"/>
                </a:solidFill>
                <a:latin typeface="Helvetica Neue"/>
                <a:ea typeface="Helvetica Neue"/>
                <a:cs typeface="Helvetica Neue"/>
              </a:defRPr>
            </a:pPr>
            <a:r>
              <a:rPr sz="1050" b="1">
                <a:solidFill>
                  <a:srgbClr val="237B82"/>
                </a:solidFill>
                <a:latin typeface="Helvetica Neue"/>
                <a:ea typeface="Helvetica Neue"/>
                <a:cs typeface="Helvetica Neue"/>
              </a:rPr>
              <a:t>Manual page 55</a:t>
            </a:r>
          </a:p>
        </p:txBody>
      </p:sp>
    </p:spTree>
    <p:extLst>
      <p:ext uri="{BB962C8B-B14F-4D97-AF65-F5344CB8AC3E}">
        <p14:creationId xmlns:p14="http://schemas.microsoft.com/office/powerpoint/2010/main" val="1614064506"/>
      </p:ext>
    </p:extLst>
  </p:cSld>
</p:sld>
</file>

<file path=ppt/slides/slide37.xml><?xml version="1.0" encoding="utf-8"?>
<p:sld xmlns:p="http://schemas.openxmlformats.org/presentationml/2006/main">
  <p:cSld>
    <p:bg>
      <p:bgPr>
        <a:solidFill xmlns:a="http://schemas.openxmlformats.org/drawingml/2006/main">
          <a:srgbClr val="F7F4EE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4C2E56CE-D7BB-49CA-8BC7-1545D0323E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2095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37B82"/>
          </a:solidFill>
          <a:ln xmlns:a="http://schemas.openxmlformats.org/drawingml/2006/main" w="0">
            <a:solidFill>
              <a:srgbClr val="237B82"/>
            </a:solidFill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8F6E9D2B-11CF-413E-B4C5-A1F7B73D17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00050"/>
            <a:ext cx="10001250" cy="819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>
            <a:defPPr>
              <a:defRPr sz="2700" b="1">
                <a:solidFill>
                  <a:srgbClr val="15324A"/>
                </a:solidFill>
                <a:latin typeface="Helvetica Neue"/>
                <a:ea typeface="Helvetica Neue"/>
                <a:cs typeface="Helvetica Neue"/>
              </a:defRPr>
            </a:defPPr>
            <a:lvl1pPr>
              <a:defRPr sz="2700" b="1">
                <a:solidFill>
                  <a:srgbClr val="15324A"/>
                </a:solidFill>
                <a:latin typeface="Helvetica Neue"/>
                <a:ea typeface="Helvetica Neue"/>
                <a:cs typeface="Helvetica Neue"/>
              </a:defRPr>
            </a:lvl1pPr>
            <a:lvl2pPr>
              <a:defRPr sz="2700" b="1">
                <a:solidFill>
                  <a:srgbClr val="15324A"/>
                </a:solidFill>
                <a:latin typeface="Helvetica Neue"/>
                <a:ea typeface="Helvetica Neue"/>
                <a:cs typeface="Helvetica Neue"/>
              </a:defRPr>
            </a:lvl2pPr>
            <a:lvl3pPr>
              <a:defRPr sz="2700" b="1">
                <a:solidFill>
                  <a:srgbClr val="15324A"/>
                </a:solidFill>
                <a:latin typeface="Helvetica Neue"/>
                <a:ea typeface="Helvetica Neue"/>
                <a:cs typeface="Helvetica Neue"/>
              </a:defRPr>
            </a:lvl3pPr>
            <a:lvl4pPr>
              <a:defRPr sz="2700" b="1">
                <a:solidFill>
                  <a:srgbClr val="15324A"/>
                </a:solidFill>
                <a:latin typeface="Helvetica Neue"/>
                <a:ea typeface="Helvetica Neue"/>
                <a:cs typeface="Helvetica Neue"/>
              </a:defRPr>
            </a:lvl4pPr>
            <a:lvl5pPr>
              <a:defRPr sz="2700" b="1">
                <a:solidFill>
                  <a:srgbClr val="15324A"/>
                </a:solidFill>
                <a:latin typeface="Helvetica Neue"/>
                <a:ea typeface="Helvetica Neue"/>
                <a:cs typeface="Helvetica Neue"/>
              </a:defRPr>
            </a:lvl5pPr>
            <a:lvl6pPr>
              <a:defRPr sz="2700" b="1">
                <a:solidFill>
                  <a:srgbClr val="15324A"/>
                </a:solidFill>
                <a:latin typeface="Helvetica Neue"/>
                <a:ea typeface="Helvetica Neue"/>
                <a:cs typeface="Helvetica Neue"/>
              </a:defRPr>
            </a:lvl6pPr>
            <a:lvl7pPr>
              <a:defRPr sz="2700" b="1">
                <a:solidFill>
                  <a:srgbClr val="15324A"/>
                </a:solidFill>
                <a:latin typeface="Helvetica Neue"/>
                <a:ea typeface="Helvetica Neue"/>
                <a:cs typeface="Helvetica Neue"/>
              </a:defRPr>
            </a:lvl7pPr>
            <a:lvl8pPr>
              <a:defRPr sz="2700" b="1">
                <a:solidFill>
                  <a:srgbClr val="15324A"/>
                </a:solidFill>
                <a:latin typeface="Helvetica Neue"/>
                <a:ea typeface="Helvetica Neue"/>
                <a:cs typeface="Helvetica Neue"/>
              </a:defRPr>
            </a:lvl8pPr>
            <a:lvl9pPr>
              <a:defRPr sz="2700" b="1">
                <a:solidFill>
                  <a:srgbClr val="15324A"/>
                </a:solidFill>
                <a:latin typeface="Helvetica Neue"/>
                <a:ea typeface="Helvetica Neue"/>
                <a:cs typeface="Helvetica Neue"/>
              </a:defRPr>
            </a:lvl9pPr>
          </a:lstStyle>
          <a:p xmlns:a="http://schemas.openxmlformats.org/drawingml/2006/main">
            <a:pPr>
              <a:defRPr sz="2700" b="1">
                <a:solidFill>
                  <a:srgbClr val="15324A"/>
                </a:solidFill>
                <a:latin typeface="Helvetica Neue"/>
                <a:ea typeface="Helvetica Neue"/>
                <a:cs typeface="Helvetica Neue"/>
              </a:defRPr>
            </a:pPr>
            <a:r>
              <a:rPr sz="2700" b="1">
                <a:solidFill>
                  <a:srgbClr val="15324A"/>
                </a:solidFill>
                <a:latin typeface="Helvetica Neue"/>
                <a:ea typeface="Helvetica Neue"/>
                <a:cs typeface="Helvetica Neue"/>
              </a:rPr>
              <a:t>Initiating Transfusion Therapy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CC5E6F64-291B-4CF2-95A2-845156A9EA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1257300"/>
            <a:ext cx="88582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91111"/>
          </a:bodyPr>
          <a:lstStyle xmlns:a="http://schemas.openxmlformats.org/drawingml/2006/main">
            <a:defPPr>
              <a:defRPr sz="1125" b="1">
                <a:solidFill>
                  <a:srgbClr val="237B82"/>
                </a:solidFill>
                <a:latin typeface="Helvetica Neue"/>
                <a:ea typeface="Helvetica Neue"/>
                <a:cs typeface="Helvetica Neue"/>
              </a:defRPr>
            </a:defPPr>
            <a:lvl1pPr>
              <a:defRPr sz="1125" b="1">
                <a:solidFill>
                  <a:srgbClr val="237B82"/>
                </a:solidFill>
                <a:latin typeface="Helvetica Neue"/>
                <a:ea typeface="Helvetica Neue"/>
                <a:cs typeface="Helvetica Neue"/>
              </a:defRPr>
            </a:lvl1pPr>
            <a:lvl2pPr>
              <a:defRPr sz="1125" b="1">
                <a:solidFill>
                  <a:srgbClr val="237B82"/>
                </a:solidFill>
                <a:latin typeface="Helvetica Neue"/>
                <a:ea typeface="Helvetica Neue"/>
                <a:cs typeface="Helvetica Neue"/>
              </a:defRPr>
            </a:lvl2pPr>
            <a:lvl3pPr>
              <a:defRPr sz="1125" b="1">
                <a:solidFill>
                  <a:srgbClr val="237B82"/>
                </a:solidFill>
                <a:latin typeface="Helvetica Neue"/>
                <a:ea typeface="Helvetica Neue"/>
                <a:cs typeface="Helvetica Neue"/>
              </a:defRPr>
            </a:lvl3pPr>
            <a:lvl4pPr>
              <a:defRPr sz="1125" b="1">
                <a:solidFill>
                  <a:srgbClr val="237B82"/>
                </a:solidFill>
                <a:latin typeface="Helvetica Neue"/>
                <a:ea typeface="Helvetica Neue"/>
                <a:cs typeface="Helvetica Neue"/>
              </a:defRPr>
            </a:lvl4pPr>
            <a:lvl5pPr>
              <a:defRPr sz="1125" b="1">
                <a:solidFill>
                  <a:srgbClr val="237B82"/>
                </a:solidFill>
                <a:latin typeface="Helvetica Neue"/>
                <a:ea typeface="Helvetica Neue"/>
                <a:cs typeface="Helvetica Neue"/>
              </a:defRPr>
            </a:lvl5pPr>
            <a:lvl6pPr>
              <a:defRPr sz="1125" b="1">
                <a:solidFill>
                  <a:srgbClr val="237B82"/>
                </a:solidFill>
                <a:latin typeface="Helvetica Neue"/>
                <a:ea typeface="Helvetica Neue"/>
                <a:cs typeface="Helvetica Neue"/>
              </a:defRPr>
            </a:lvl6pPr>
            <a:lvl7pPr>
              <a:defRPr sz="1125" b="1">
                <a:solidFill>
                  <a:srgbClr val="237B82"/>
                </a:solidFill>
                <a:latin typeface="Helvetica Neue"/>
                <a:ea typeface="Helvetica Neue"/>
                <a:cs typeface="Helvetica Neue"/>
              </a:defRPr>
            </a:lvl7pPr>
            <a:lvl8pPr>
              <a:defRPr sz="1125" b="1">
                <a:solidFill>
                  <a:srgbClr val="237B82"/>
                </a:solidFill>
                <a:latin typeface="Helvetica Neue"/>
                <a:ea typeface="Helvetica Neue"/>
                <a:cs typeface="Helvetica Neue"/>
              </a:defRPr>
            </a:lvl8pPr>
            <a:lvl9pPr>
              <a:defRPr sz="1125" b="1">
                <a:solidFill>
                  <a:srgbClr val="237B82"/>
                </a:solidFill>
                <a:latin typeface="Helvetica Neue"/>
                <a:ea typeface="Helvetica Neue"/>
                <a:cs typeface="Helvetica Neue"/>
              </a:defRPr>
            </a:lvl9pPr>
          </a:lstStyle>
          <a:p xmlns:a="http://schemas.openxmlformats.org/drawingml/2006/main">
            <a:pPr>
              <a:defRPr sz="1125" b="1">
                <a:solidFill>
                  <a:srgbClr val="237B82"/>
                </a:solidFill>
                <a:latin typeface="Helvetica Neue"/>
                <a:ea typeface="Helvetica Neue"/>
                <a:cs typeface="Helvetica Neue"/>
              </a:defRPr>
            </a:pPr>
            <a:r>
              <a:rPr sz="1125" b="1">
                <a:solidFill>
                  <a:srgbClr val="237B82"/>
                </a:solidFill>
                <a:latin typeface="Helvetica Neue"/>
                <a:ea typeface="Helvetica Neue"/>
                <a:cs typeface="Helvetica Neue"/>
              </a:rPr>
              <a:t>MODULE 4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B99F53D4-3B06-4E80-8441-637C804DCB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457200"/>
            <a:ext cx="5334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>
            <a:defPPr>
              <a:defRPr sz="1200" b="1">
                <a:solidFill>
                  <a:srgbClr val="237B82"/>
                </a:solidFill>
                <a:latin typeface="Helvetica Neue"/>
                <a:ea typeface="Helvetica Neue"/>
                <a:cs typeface="Helvetica Neue"/>
              </a:defRPr>
            </a:defPPr>
            <a:lvl1pPr>
              <a:defRPr sz="1200" b="1">
                <a:solidFill>
                  <a:srgbClr val="237B82"/>
                </a:solidFill>
                <a:latin typeface="Helvetica Neue"/>
                <a:ea typeface="Helvetica Neue"/>
                <a:cs typeface="Helvetica Neue"/>
              </a:defRPr>
            </a:lvl1pPr>
            <a:lvl2pPr>
              <a:defRPr sz="1200" b="1">
                <a:solidFill>
                  <a:srgbClr val="237B82"/>
                </a:solidFill>
                <a:latin typeface="Helvetica Neue"/>
                <a:ea typeface="Helvetica Neue"/>
                <a:cs typeface="Helvetica Neue"/>
              </a:defRPr>
            </a:lvl2pPr>
            <a:lvl3pPr>
              <a:defRPr sz="1200" b="1">
                <a:solidFill>
                  <a:srgbClr val="237B82"/>
                </a:solidFill>
                <a:latin typeface="Helvetica Neue"/>
                <a:ea typeface="Helvetica Neue"/>
                <a:cs typeface="Helvetica Neue"/>
              </a:defRPr>
            </a:lvl3pPr>
            <a:lvl4pPr>
              <a:defRPr sz="1200" b="1">
                <a:solidFill>
                  <a:srgbClr val="237B82"/>
                </a:solidFill>
                <a:latin typeface="Helvetica Neue"/>
                <a:ea typeface="Helvetica Neue"/>
                <a:cs typeface="Helvetica Neue"/>
              </a:defRPr>
            </a:lvl4pPr>
            <a:lvl5pPr>
              <a:defRPr sz="1200" b="1">
                <a:solidFill>
                  <a:srgbClr val="237B82"/>
                </a:solidFill>
                <a:latin typeface="Helvetica Neue"/>
                <a:ea typeface="Helvetica Neue"/>
                <a:cs typeface="Helvetica Neue"/>
              </a:defRPr>
            </a:lvl5pPr>
            <a:lvl6pPr>
              <a:defRPr sz="1200" b="1">
                <a:solidFill>
                  <a:srgbClr val="237B82"/>
                </a:solidFill>
                <a:latin typeface="Helvetica Neue"/>
                <a:ea typeface="Helvetica Neue"/>
                <a:cs typeface="Helvetica Neue"/>
              </a:defRPr>
            </a:lvl6pPr>
            <a:lvl7pPr>
              <a:defRPr sz="1200" b="1">
                <a:solidFill>
                  <a:srgbClr val="237B82"/>
                </a:solidFill>
                <a:latin typeface="Helvetica Neue"/>
                <a:ea typeface="Helvetica Neue"/>
                <a:cs typeface="Helvetica Neue"/>
              </a:defRPr>
            </a:lvl7pPr>
            <a:lvl8pPr>
              <a:defRPr sz="1200" b="1">
                <a:solidFill>
                  <a:srgbClr val="237B82"/>
                </a:solidFill>
                <a:latin typeface="Helvetica Neue"/>
                <a:ea typeface="Helvetica Neue"/>
                <a:cs typeface="Helvetica Neue"/>
              </a:defRPr>
            </a:lvl8pPr>
            <a:lvl9pPr>
              <a:defRPr sz="1200" b="1">
                <a:solidFill>
                  <a:srgbClr val="237B82"/>
                </a:solidFill>
                <a:latin typeface="Helvetica Neue"/>
                <a:ea typeface="Helvetica Neue"/>
                <a:cs typeface="Helvetica Neue"/>
              </a:defRPr>
            </a:lvl9pPr>
          </a:lstStyle>
          <a:p xmlns:a="http://schemas.openxmlformats.org/drawingml/2006/main">
            <a:pPr>
              <a:defRPr sz="1200" b="1">
                <a:solidFill>
                  <a:srgbClr val="237B82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00" b="1">
                <a:solidFill>
                  <a:srgbClr val="237B82"/>
                </a:solidFill>
                <a:latin typeface="Helvetica Neue"/>
                <a:ea typeface="Helvetica Neue"/>
                <a:cs typeface="Helvetica Neue"/>
              </a:rPr>
              <a:t>37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E1235743-C7E2-48DB-BA47-7951B31D79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1762125"/>
            <a:ext cx="10287000" cy="409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>
            <a:defPPr>
              <a:defRPr sz="1875">
                <a:solidFill>
                  <a:srgbClr val="13212D"/>
                </a:solidFill>
                <a:latin typeface="Helvetica Neue"/>
                <a:ea typeface="Helvetica Neue"/>
                <a:cs typeface="Helvetica Neue"/>
              </a:defRPr>
            </a:defPPr>
            <a:lvl1pPr>
              <a:defRPr sz="1875">
                <a:solidFill>
                  <a:srgbClr val="13212D"/>
                </a:solidFill>
                <a:latin typeface="Helvetica Neue"/>
                <a:ea typeface="Helvetica Neue"/>
                <a:cs typeface="Helvetica Neue"/>
              </a:defRPr>
            </a:lvl1pPr>
            <a:lvl2pPr>
              <a:defRPr sz="1875">
                <a:solidFill>
                  <a:srgbClr val="13212D"/>
                </a:solidFill>
                <a:latin typeface="Helvetica Neue"/>
                <a:ea typeface="Helvetica Neue"/>
                <a:cs typeface="Helvetica Neue"/>
              </a:defRPr>
            </a:lvl2pPr>
            <a:lvl3pPr>
              <a:defRPr sz="1875">
                <a:solidFill>
                  <a:srgbClr val="13212D"/>
                </a:solidFill>
                <a:latin typeface="Helvetica Neue"/>
                <a:ea typeface="Helvetica Neue"/>
                <a:cs typeface="Helvetica Neue"/>
              </a:defRPr>
            </a:lvl3pPr>
            <a:lvl4pPr>
              <a:defRPr sz="1875">
                <a:solidFill>
                  <a:srgbClr val="13212D"/>
                </a:solidFill>
                <a:latin typeface="Helvetica Neue"/>
                <a:ea typeface="Helvetica Neue"/>
                <a:cs typeface="Helvetica Neue"/>
              </a:defRPr>
            </a:lvl4pPr>
            <a:lvl5pPr>
              <a:defRPr sz="1875">
                <a:solidFill>
                  <a:srgbClr val="13212D"/>
                </a:solidFill>
                <a:latin typeface="Helvetica Neue"/>
                <a:ea typeface="Helvetica Neue"/>
                <a:cs typeface="Helvetica Neue"/>
              </a:defRPr>
            </a:lvl5pPr>
            <a:lvl6pPr>
              <a:defRPr sz="1875">
                <a:solidFill>
                  <a:srgbClr val="13212D"/>
                </a:solidFill>
                <a:latin typeface="Helvetica Neue"/>
                <a:ea typeface="Helvetica Neue"/>
                <a:cs typeface="Helvetica Neue"/>
              </a:defRPr>
            </a:lvl6pPr>
            <a:lvl7pPr>
              <a:defRPr sz="1875">
                <a:solidFill>
                  <a:srgbClr val="13212D"/>
                </a:solidFill>
                <a:latin typeface="Helvetica Neue"/>
                <a:ea typeface="Helvetica Neue"/>
                <a:cs typeface="Helvetica Neue"/>
              </a:defRPr>
            </a:lvl7pPr>
            <a:lvl8pPr>
              <a:defRPr sz="1875">
                <a:solidFill>
                  <a:srgbClr val="13212D"/>
                </a:solidFill>
                <a:latin typeface="Helvetica Neue"/>
                <a:ea typeface="Helvetica Neue"/>
                <a:cs typeface="Helvetica Neue"/>
              </a:defRPr>
            </a:lvl8pPr>
            <a:lvl9pPr>
              <a:defRPr sz="1875">
                <a:solidFill>
                  <a:srgbClr val="13212D"/>
                </a:solidFill>
                <a:latin typeface="Helvetica Neue"/>
                <a:ea typeface="Helvetica Neue"/>
                <a:cs typeface="Helvetica Neue"/>
              </a:defRPr>
            </a:lvl9pPr>
          </a:lstStyle>
          <a:p xmlns:a="http://schemas.openxmlformats.org/drawingml/2006/main">
            <a:pPr marL="279400" indent="-127000">
              <a:spcAft>
                <a:spcPts val="1300"/>
              </a:spcAft>
              <a:buChar char="•"/>
              <a:defRPr sz="1875">
                <a:solidFill>
                  <a:srgbClr val="13212D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75">
                <a:solidFill>
                  <a:srgbClr val="13212D"/>
                </a:solidFill>
                <a:latin typeface="Helvetica Neue"/>
                <a:ea typeface="Helvetica Neue"/>
                <a:cs typeface="Helvetica Neue"/>
              </a:rPr>
              <a:t>Human Serum Albumin - The primary therapeutic use for the administration of albumin is to replace protein in the seriously depleted patient.</a:t>
            </a:r>
          </a:p>
          <a:p xmlns:a="http://schemas.openxmlformats.org/drawingml/2006/main">
            <a:pPr marL="279400" indent="-127000">
              <a:spcAft>
                <a:spcPts val="1300"/>
              </a:spcAft>
              <a:buChar char="•"/>
              <a:defRPr sz="1875">
                <a:solidFill>
                  <a:srgbClr val="13212D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75">
                <a:solidFill>
                  <a:srgbClr val="13212D"/>
                </a:solidFill>
                <a:latin typeface="Helvetica Neue"/>
                <a:ea typeface="Helvetica Neue"/>
                <a:cs typeface="Helvetica Neue"/>
              </a:rPr>
              <a:t>Infusion is a T A rate of 2-3 cc/min.</a:t>
            </a:r>
          </a:p>
          <a:p xmlns:a="http://schemas.openxmlformats.org/drawingml/2006/main">
            <a:pPr marL="279400" indent="-127000">
              <a:spcAft>
                <a:spcPts val="1300"/>
              </a:spcAft>
              <a:buChar char="•"/>
              <a:defRPr sz="1875">
                <a:solidFill>
                  <a:srgbClr val="13212D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75">
                <a:solidFill>
                  <a:srgbClr val="13212D"/>
                </a:solidFill>
                <a:latin typeface="Helvetica Neue"/>
                <a:ea typeface="Helvetica Neue"/>
                <a:cs typeface="Helvetica Neue"/>
              </a:rPr>
              <a:t>depending on the circulatory status of the patient.</a:t>
            </a:r>
          </a:p>
          <a:p xmlns:a="http://schemas.openxmlformats.org/drawingml/2006/main">
            <a:pPr marL="279400" indent="-127000">
              <a:spcAft>
                <a:spcPts val="1300"/>
              </a:spcAft>
              <a:buChar char="•"/>
              <a:defRPr sz="1875">
                <a:solidFill>
                  <a:srgbClr val="13212D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75">
                <a:solidFill>
                  <a:srgbClr val="13212D"/>
                </a:solidFill>
                <a:latin typeface="Helvetica Neue"/>
                <a:ea typeface="Helvetica Neue"/>
                <a:cs typeface="Helvetica Neue"/>
              </a:rPr>
              <a:t>Circulatory overload can occur if infused too rapidly.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2D31EF49-2824-4C4E-9546-5991768C9A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6115050"/>
            <a:ext cx="101917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>
            <a:defPPr>
              <a:defRPr sz="1125" b="1">
                <a:solidFill>
                  <a:srgbClr val="B94F3D"/>
                </a:solidFill>
                <a:latin typeface="Helvetica Neue"/>
                <a:ea typeface="Helvetica Neue"/>
                <a:cs typeface="Helvetica Neue"/>
              </a:defRPr>
            </a:defPPr>
            <a:lvl1pPr>
              <a:defRPr sz="1125" b="1">
                <a:solidFill>
                  <a:srgbClr val="B94F3D"/>
                </a:solidFill>
                <a:latin typeface="Helvetica Neue"/>
                <a:ea typeface="Helvetica Neue"/>
                <a:cs typeface="Helvetica Neue"/>
              </a:defRPr>
            </a:lvl1pPr>
            <a:lvl2pPr>
              <a:defRPr sz="1125" b="1">
                <a:solidFill>
                  <a:srgbClr val="B94F3D"/>
                </a:solidFill>
                <a:latin typeface="Helvetica Neue"/>
                <a:ea typeface="Helvetica Neue"/>
                <a:cs typeface="Helvetica Neue"/>
              </a:defRPr>
            </a:lvl2pPr>
            <a:lvl3pPr>
              <a:defRPr sz="1125" b="1">
                <a:solidFill>
                  <a:srgbClr val="B94F3D"/>
                </a:solidFill>
                <a:latin typeface="Helvetica Neue"/>
                <a:ea typeface="Helvetica Neue"/>
                <a:cs typeface="Helvetica Neue"/>
              </a:defRPr>
            </a:lvl3pPr>
            <a:lvl4pPr>
              <a:defRPr sz="1125" b="1">
                <a:solidFill>
                  <a:srgbClr val="B94F3D"/>
                </a:solidFill>
                <a:latin typeface="Helvetica Neue"/>
                <a:ea typeface="Helvetica Neue"/>
                <a:cs typeface="Helvetica Neue"/>
              </a:defRPr>
            </a:lvl4pPr>
            <a:lvl5pPr>
              <a:defRPr sz="1125" b="1">
                <a:solidFill>
                  <a:srgbClr val="B94F3D"/>
                </a:solidFill>
                <a:latin typeface="Helvetica Neue"/>
                <a:ea typeface="Helvetica Neue"/>
                <a:cs typeface="Helvetica Neue"/>
              </a:defRPr>
            </a:lvl5pPr>
            <a:lvl6pPr>
              <a:defRPr sz="1125" b="1">
                <a:solidFill>
                  <a:srgbClr val="B94F3D"/>
                </a:solidFill>
                <a:latin typeface="Helvetica Neue"/>
                <a:ea typeface="Helvetica Neue"/>
                <a:cs typeface="Helvetica Neue"/>
              </a:defRPr>
            </a:lvl6pPr>
            <a:lvl7pPr>
              <a:defRPr sz="1125" b="1">
                <a:solidFill>
                  <a:srgbClr val="B94F3D"/>
                </a:solidFill>
                <a:latin typeface="Helvetica Neue"/>
                <a:ea typeface="Helvetica Neue"/>
                <a:cs typeface="Helvetica Neue"/>
              </a:defRPr>
            </a:lvl7pPr>
            <a:lvl8pPr>
              <a:defRPr sz="1125" b="1">
                <a:solidFill>
                  <a:srgbClr val="B94F3D"/>
                </a:solidFill>
                <a:latin typeface="Helvetica Neue"/>
                <a:ea typeface="Helvetica Neue"/>
                <a:cs typeface="Helvetica Neue"/>
              </a:defRPr>
            </a:lvl8pPr>
            <a:lvl9pPr>
              <a:defRPr sz="1125" b="1">
                <a:solidFill>
                  <a:srgbClr val="B94F3D"/>
                </a:solidFill>
                <a:latin typeface="Helvetica Neue"/>
                <a:ea typeface="Helvetica Neue"/>
                <a:cs typeface="Helvetica Neue"/>
              </a:defRPr>
            </a:lvl9pPr>
          </a:lstStyle>
          <a:p xmlns:a="http://schemas.openxmlformats.org/drawingml/2006/main">
            <a:pPr>
              <a:defRPr sz="1125" b="1">
                <a:solidFill>
                  <a:srgbClr val="B94F3D"/>
                </a:solidFill>
                <a:latin typeface="Helvetica Neue"/>
                <a:ea typeface="Helvetica Neue"/>
                <a:cs typeface="Helvetica Neue"/>
              </a:defRPr>
            </a:pPr>
            <a:r>
              <a:rPr sz="1125" b="1">
                <a:solidFill>
                  <a:srgbClr val="B94F3D"/>
                </a:solidFill>
                <a:latin typeface="Helvetica Neue"/>
                <a:ea typeface="Helvetica Neue"/>
                <a:cs typeface="Helvetica Neue"/>
              </a:rPr>
              <a:t>Use current orders, facility policy, and authorized scope when applying this information.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0F0EFEDF-426C-4707-BC52-C3EBC2BC27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5772150"/>
            <a:ext cx="101917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97619"/>
          </a:bodyPr>
          <a:lstStyle xmlns:a="http://schemas.openxmlformats.org/drawingml/2006/main">
            <a:defPPr>
              <a:defRPr sz="1050" b="1">
                <a:solidFill>
                  <a:srgbClr val="237B82"/>
                </a:solidFill>
                <a:latin typeface="Helvetica Neue"/>
                <a:ea typeface="Helvetica Neue"/>
                <a:cs typeface="Helvetica Neue"/>
              </a:defRPr>
            </a:defPPr>
            <a:lvl1pPr>
              <a:defRPr sz="1050" b="1">
                <a:solidFill>
                  <a:srgbClr val="237B82"/>
                </a:solidFill>
                <a:latin typeface="Helvetica Neue"/>
                <a:ea typeface="Helvetica Neue"/>
                <a:cs typeface="Helvetica Neue"/>
              </a:defRPr>
            </a:lvl1pPr>
            <a:lvl2pPr>
              <a:defRPr sz="1050" b="1">
                <a:solidFill>
                  <a:srgbClr val="237B82"/>
                </a:solidFill>
                <a:latin typeface="Helvetica Neue"/>
                <a:ea typeface="Helvetica Neue"/>
                <a:cs typeface="Helvetica Neue"/>
              </a:defRPr>
            </a:lvl2pPr>
            <a:lvl3pPr>
              <a:defRPr sz="1050" b="1">
                <a:solidFill>
                  <a:srgbClr val="237B82"/>
                </a:solidFill>
                <a:latin typeface="Helvetica Neue"/>
                <a:ea typeface="Helvetica Neue"/>
                <a:cs typeface="Helvetica Neue"/>
              </a:defRPr>
            </a:lvl3pPr>
            <a:lvl4pPr>
              <a:defRPr sz="1050" b="1">
                <a:solidFill>
                  <a:srgbClr val="237B82"/>
                </a:solidFill>
                <a:latin typeface="Helvetica Neue"/>
                <a:ea typeface="Helvetica Neue"/>
                <a:cs typeface="Helvetica Neue"/>
              </a:defRPr>
            </a:lvl4pPr>
            <a:lvl5pPr>
              <a:defRPr sz="1050" b="1">
                <a:solidFill>
                  <a:srgbClr val="237B82"/>
                </a:solidFill>
                <a:latin typeface="Helvetica Neue"/>
                <a:ea typeface="Helvetica Neue"/>
                <a:cs typeface="Helvetica Neue"/>
              </a:defRPr>
            </a:lvl5pPr>
            <a:lvl6pPr>
              <a:defRPr sz="1050" b="1">
                <a:solidFill>
                  <a:srgbClr val="237B82"/>
                </a:solidFill>
                <a:latin typeface="Helvetica Neue"/>
                <a:ea typeface="Helvetica Neue"/>
                <a:cs typeface="Helvetica Neue"/>
              </a:defRPr>
            </a:lvl6pPr>
            <a:lvl7pPr>
              <a:defRPr sz="1050" b="1">
                <a:solidFill>
                  <a:srgbClr val="237B82"/>
                </a:solidFill>
                <a:latin typeface="Helvetica Neue"/>
                <a:ea typeface="Helvetica Neue"/>
                <a:cs typeface="Helvetica Neue"/>
              </a:defRPr>
            </a:lvl7pPr>
            <a:lvl8pPr>
              <a:defRPr sz="1050" b="1">
                <a:solidFill>
                  <a:srgbClr val="237B82"/>
                </a:solidFill>
                <a:latin typeface="Helvetica Neue"/>
                <a:ea typeface="Helvetica Neue"/>
                <a:cs typeface="Helvetica Neue"/>
              </a:defRPr>
            </a:lvl8pPr>
            <a:lvl9pPr>
              <a:defRPr sz="1050" b="1">
                <a:solidFill>
                  <a:srgbClr val="237B82"/>
                </a:solidFill>
                <a:latin typeface="Helvetica Neue"/>
                <a:ea typeface="Helvetica Neue"/>
                <a:cs typeface="Helvetica Neue"/>
              </a:defRPr>
            </a:lvl9pPr>
          </a:lstStyle>
          <a:p xmlns:a="http://schemas.openxmlformats.org/drawingml/2006/main">
            <a:pPr>
              <a:defRPr sz="1050" b="1">
                <a:solidFill>
                  <a:srgbClr val="237B82"/>
                </a:solidFill>
                <a:latin typeface="Helvetica Neue"/>
                <a:ea typeface="Helvetica Neue"/>
                <a:cs typeface="Helvetica Neue"/>
              </a:defRPr>
            </a:pPr>
            <a:r>
              <a:rPr sz="1050" b="1">
                <a:solidFill>
                  <a:srgbClr val="237B82"/>
                </a:solidFill>
                <a:latin typeface="Helvetica Neue"/>
                <a:ea typeface="Helvetica Neue"/>
                <a:cs typeface="Helvetica Neue"/>
              </a:rPr>
              <a:t>Manual page 56</a:t>
            </a:r>
          </a:p>
        </p:txBody>
      </p:sp>
    </p:spTree>
    <p:extLst>
      <p:ext uri="{BB962C8B-B14F-4D97-AF65-F5344CB8AC3E}">
        <p14:creationId xmlns:p14="http://schemas.microsoft.com/office/powerpoint/2010/main" val="1913995715"/>
      </p:ext>
    </p:extLst>
  </p:cSld>
</p:sld>
</file>

<file path=ppt/slides/slide38.xml><?xml version="1.0" encoding="utf-8"?>
<p:sld xmlns:p="http://schemas.openxmlformats.org/presentationml/2006/main">
  <p:cSld>
    <p:bg>
      <p:bgPr>
        <a:solidFill xmlns:a="http://schemas.openxmlformats.org/drawingml/2006/main">
          <a:srgbClr val="F7F4EE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BA4CE3A7-5C4E-4068-82E3-5A3E7D3083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2095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37B82"/>
          </a:solidFill>
          <a:ln xmlns:a="http://schemas.openxmlformats.org/drawingml/2006/main" w="0">
            <a:solidFill>
              <a:srgbClr val="237B82"/>
            </a:solidFill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528D6790-D7D0-4298-910E-0D036355AA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00050"/>
            <a:ext cx="10001250" cy="819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>
            <a:defPPr>
              <a:defRPr sz="2700" b="1">
                <a:solidFill>
                  <a:srgbClr val="15324A"/>
                </a:solidFill>
                <a:latin typeface="Helvetica Neue"/>
                <a:ea typeface="Helvetica Neue"/>
                <a:cs typeface="Helvetica Neue"/>
              </a:defRPr>
            </a:defPPr>
            <a:lvl1pPr>
              <a:defRPr sz="2700" b="1">
                <a:solidFill>
                  <a:srgbClr val="15324A"/>
                </a:solidFill>
                <a:latin typeface="Helvetica Neue"/>
                <a:ea typeface="Helvetica Neue"/>
                <a:cs typeface="Helvetica Neue"/>
              </a:defRPr>
            </a:lvl1pPr>
            <a:lvl2pPr>
              <a:defRPr sz="2700" b="1">
                <a:solidFill>
                  <a:srgbClr val="15324A"/>
                </a:solidFill>
                <a:latin typeface="Helvetica Neue"/>
                <a:ea typeface="Helvetica Neue"/>
                <a:cs typeface="Helvetica Neue"/>
              </a:defRPr>
            </a:lvl2pPr>
            <a:lvl3pPr>
              <a:defRPr sz="2700" b="1">
                <a:solidFill>
                  <a:srgbClr val="15324A"/>
                </a:solidFill>
                <a:latin typeface="Helvetica Neue"/>
                <a:ea typeface="Helvetica Neue"/>
                <a:cs typeface="Helvetica Neue"/>
              </a:defRPr>
            </a:lvl3pPr>
            <a:lvl4pPr>
              <a:defRPr sz="2700" b="1">
                <a:solidFill>
                  <a:srgbClr val="15324A"/>
                </a:solidFill>
                <a:latin typeface="Helvetica Neue"/>
                <a:ea typeface="Helvetica Neue"/>
                <a:cs typeface="Helvetica Neue"/>
              </a:defRPr>
            </a:lvl4pPr>
            <a:lvl5pPr>
              <a:defRPr sz="2700" b="1">
                <a:solidFill>
                  <a:srgbClr val="15324A"/>
                </a:solidFill>
                <a:latin typeface="Helvetica Neue"/>
                <a:ea typeface="Helvetica Neue"/>
                <a:cs typeface="Helvetica Neue"/>
              </a:defRPr>
            </a:lvl5pPr>
            <a:lvl6pPr>
              <a:defRPr sz="2700" b="1">
                <a:solidFill>
                  <a:srgbClr val="15324A"/>
                </a:solidFill>
                <a:latin typeface="Helvetica Neue"/>
                <a:ea typeface="Helvetica Neue"/>
                <a:cs typeface="Helvetica Neue"/>
              </a:defRPr>
            </a:lvl6pPr>
            <a:lvl7pPr>
              <a:defRPr sz="2700" b="1">
                <a:solidFill>
                  <a:srgbClr val="15324A"/>
                </a:solidFill>
                <a:latin typeface="Helvetica Neue"/>
                <a:ea typeface="Helvetica Neue"/>
                <a:cs typeface="Helvetica Neue"/>
              </a:defRPr>
            </a:lvl7pPr>
            <a:lvl8pPr>
              <a:defRPr sz="2700" b="1">
                <a:solidFill>
                  <a:srgbClr val="15324A"/>
                </a:solidFill>
                <a:latin typeface="Helvetica Neue"/>
                <a:ea typeface="Helvetica Neue"/>
                <a:cs typeface="Helvetica Neue"/>
              </a:defRPr>
            </a:lvl8pPr>
            <a:lvl9pPr>
              <a:defRPr sz="2700" b="1">
                <a:solidFill>
                  <a:srgbClr val="15324A"/>
                </a:solidFill>
                <a:latin typeface="Helvetica Neue"/>
                <a:ea typeface="Helvetica Neue"/>
                <a:cs typeface="Helvetica Neue"/>
              </a:defRPr>
            </a:lvl9pPr>
          </a:lstStyle>
          <a:p xmlns:a="http://schemas.openxmlformats.org/drawingml/2006/main">
            <a:pPr>
              <a:defRPr sz="2700" b="1">
                <a:solidFill>
                  <a:srgbClr val="15324A"/>
                </a:solidFill>
                <a:latin typeface="Helvetica Neue"/>
                <a:ea typeface="Helvetica Neue"/>
                <a:cs typeface="Helvetica Neue"/>
              </a:defRPr>
            </a:pPr>
            <a:r>
              <a:rPr sz="2700" b="1">
                <a:solidFill>
                  <a:srgbClr val="15324A"/>
                </a:solidFill>
                <a:latin typeface="Helvetica Neue"/>
                <a:ea typeface="Helvetica Neue"/>
                <a:cs typeface="Helvetica Neue"/>
              </a:rPr>
              <a:t>Initiating Transfusion Therapy — continued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12C4BC7D-AC8A-46C7-A4D7-448ACC8103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1257300"/>
            <a:ext cx="88582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91111"/>
          </a:bodyPr>
          <a:lstStyle xmlns:a="http://schemas.openxmlformats.org/drawingml/2006/main">
            <a:defPPr>
              <a:defRPr sz="1125" b="1">
                <a:solidFill>
                  <a:srgbClr val="237B82"/>
                </a:solidFill>
                <a:latin typeface="Helvetica Neue"/>
                <a:ea typeface="Helvetica Neue"/>
                <a:cs typeface="Helvetica Neue"/>
              </a:defRPr>
            </a:defPPr>
            <a:lvl1pPr>
              <a:defRPr sz="1125" b="1">
                <a:solidFill>
                  <a:srgbClr val="237B82"/>
                </a:solidFill>
                <a:latin typeface="Helvetica Neue"/>
                <a:ea typeface="Helvetica Neue"/>
                <a:cs typeface="Helvetica Neue"/>
              </a:defRPr>
            </a:lvl1pPr>
            <a:lvl2pPr>
              <a:defRPr sz="1125" b="1">
                <a:solidFill>
                  <a:srgbClr val="237B82"/>
                </a:solidFill>
                <a:latin typeface="Helvetica Neue"/>
                <a:ea typeface="Helvetica Neue"/>
                <a:cs typeface="Helvetica Neue"/>
              </a:defRPr>
            </a:lvl2pPr>
            <a:lvl3pPr>
              <a:defRPr sz="1125" b="1">
                <a:solidFill>
                  <a:srgbClr val="237B82"/>
                </a:solidFill>
                <a:latin typeface="Helvetica Neue"/>
                <a:ea typeface="Helvetica Neue"/>
                <a:cs typeface="Helvetica Neue"/>
              </a:defRPr>
            </a:lvl3pPr>
            <a:lvl4pPr>
              <a:defRPr sz="1125" b="1">
                <a:solidFill>
                  <a:srgbClr val="237B82"/>
                </a:solidFill>
                <a:latin typeface="Helvetica Neue"/>
                <a:ea typeface="Helvetica Neue"/>
                <a:cs typeface="Helvetica Neue"/>
              </a:defRPr>
            </a:lvl4pPr>
            <a:lvl5pPr>
              <a:defRPr sz="1125" b="1">
                <a:solidFill>
                  <a:srgbClr val="237B82"/>
                </a:solidFill>
                <a:latin typeface="Helvetica Neue"/>
                <a:ea typeface="Helvetica Neue"/>
                <a:cs typeface="Helvetica Neue"/>
              </a:defRPr>
            </a:lvl5pPr>
            <a:lvl6pPr>
              <a:defRPr sz="1125" b="1">
                <a:solidFill>
                  <a:srgbClr val="237B82"/>
                </a:solidFill>
                <a:latin typeface="Helvetica Neue"/>
                <a:ea typeface="Helvetica Neue"/>
                <a:cs typeface="Helvetica Neue"/>
              </a:defRPr>
            </a:lvl6pPr>
            <a:lvl7pPr>
              <a:defRPr sz="1125" b="1">
                <a:solidFill>
                  <a:srgbClr val="237B82"/>
                </a:solidFill>
                <a:latin typeface="Helvetica Neue"/>
                <a:ea typeface="Helvetica Neue"/>
                <a:cs typeface="Helvetica Neue"/>
              </a:defRPr>
            </a:lvl7pPr>
            <a:lvl8pPr>
              <a:defRPr sz="1125" b="1">
                <a:solidFill>
                  <a:srgbClr val="237B82"/>
                </a:solidFill>
                <a:latin typeface="Helvetica Neue"/>
                <a:ea typeface="Helvetica Neue"/>
                <a:cs typeface="Helvetica Neue"/>
              </a:defRPr>
            </a:lvl8pPr>
            <a:lvl9pPr>
              <a:defRPr sz="1125" b="1">
                <a:solidFill>
                  <a:srgbClr val="237B82"/>
                </a:solidFill>
                <a:latin typeface="Helvetica Neue"/>
                <a:ea typeface="Helvetica Neue"/>
                <a:cs typeface="Helvetica Neue"/>
              </a:defRPr>
            </a:lvl9pPr>
          </a:lstStyle>
          <a:p xmlns:a="http://schemas.openxmlformats.org/drawingml/2006/main">
            <a:pPr>
              <a:defRPr sz="1125" b="1">
                <a:solidFill>
                  <a:srgbClr val="237B82"/>
                </a:solidFill>
                <a:latin typeface="Helvetica Neue"/>
                <a:ea typeface="Helvetica Neue"/>
                <a:cs typeface="Helvetica Neue"/>
              </a:defRPr>
            </a:pPr>
            <a:r>
              <a:rPr sz="1125" b="1">
                <a:solidFill>
                  <a:srgbClr val="237B82"/>
                </a:solidFill>
                <a:latin typeface="Helvetica Neue"/>
                <a:ea typeface="Helvetica Neue"/>
                <a:cs typeface="Helvetica Neue"/>
              </a:rPr>
              <a:t>MODULE 4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16549451-199B-44AF-826C-12F868BC0A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457200"/>
            <a:ext cx="5334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>
            <a:defPPr>
              <a:defRPr sz="1200" b="1">
                <a:solidFill>
                  <a:srgbClr val="237B82"/>
                </a:solidFill>
                <a:latin typeface="Helvetica Neue"/>
                <a:ea typeface="Helvetica Neue"/>
                <a:cs typeface="Helvetica Neue"/>
              </a:defRPr>
            </a:defPPr>
            <a:lvl1pPr>
              <a:defRPr sz="1200" b="1">
                <a:solidFill>
                  <a:srgbClr val="237B82"/>
                </a:solidFill>
                <a:latin typeface="Helvetica Neue"/>
                <a:ea typeface="Helvetica Neue"/>
                <a:cs typeface="Helvetica Neue"/>
              </a:defRPr>
            </a:lvl1pPr>
            <a:lvl2pPr>
              <a:defRPr sz="1200" b="1">
                <a:solidFill>
                  <a:srgbClr val="237B82"/>
                </a:solidFill>
                <a:latin typeface="Helvetica Neue"/>
                <a:ea typeface="Helvetica Neue"/>
                <a:cs typeface="Helvetica Neue"/>
              </a:defRPr>
            </a:lvl2pPr>
            <a:lvl3pPr>
              <a:defRPr sz="1200" b="1">
                <a:solidFill>
                  <a:srgbClr val="237B82"/>
                </a:solidFill>
                <a:latin typeface="Helvetica Neue"/>
                <a:ea typeface="Helvetica Neue"/>
                <a:cs typeface="Helvetica Neue"/>
              </a:defRPr>
            </a:lvl3pPr>
            <a:lvl4pPr>
              <a:defRPr sz="1200" b="1">
                <a:solidFill>
                  <a:srgbClr val="237B82"/>
                </a:solidFill>
                <a:latin typeface="Helvetica Neue"/>
                <a:ea typeface="Helvetica Neue"/>
                <a:cs typeface="Helvetica Neue"/>
              </a:defRPr>
            </a:lvl4pPr>
            <a:lvl5pPr>
              <a:defRPr sz="1200" b="1">
                <a:solidFill>
                  <a:srgbClr val="237B82"/>
                </a:solidFill>
                <a:latin typeface="Helvetica Neue"/>
                <a:ea typeface="Helvetica Neue"/>
                <a:cs typeface="Helvetica Neue"/>
              </a:defRPr>
            </a:lvl5pPr>
            <a:lvl6pPr>
              <a:defRPr sz="1200" b="1">
                <a:solidFill>
                  <a:srgbClr val="237B82"/>
                </a:solidFill>
                <a:latin typeface="Helvetica Neue"/>
                <a:ea typeface="Helvetica Neue"/>
                <a:cs typeface="Helvetica Neue"/>
              </a:defRPr>
            </a:lvl6pPr>
            <a:lvl7pPr>
              <a:defRPr sz="1200" b="1">
                <a:solidFill>
                  <a:srgbClr val="237B82"/>
                </a:solidFill>
                <a:latin typeface="Helvetica Neue"/>
                <a:ea typeface="Helvetica Neue"/>
                <a:cs typeface="Helvetica Neue"/>
              </a:defRPr>
            </a:lvl7pPr>
            <a:lvl8pPr>
              <a:defRPr sz="1200" b="1">
                <a:solidFill>
                  <a:srgbClr val="237B82"/>
                </a:solidFill>
                <a:latin typeface="Helvetica Neue"/>
                <a:ea typeface="Helvetica Neue"/>
                <a:cs typeface="Helvetica Neue"/>
              </a:defRPr>
            </a:lvl8pPr>
            <a:lvl9pPr>
              <a:defRPr sz="1200" b="1">
                <a:solidFill>
                  <a:srgbClr val="237B82"/>
                </a:solidFill>
                <a:latin typeface="Helvetica Neue"/>
                <a:ea typeface="Helvetica Neue"/>
                <a:cs typeface="Helvetica Neue"/>
              </a:defRPr>
            </a:lvl9pPr>
          </a:lstStyle>
          <a:p xmlns:a="http://schemas.openxmlformats.org/drawingml/2006/main">
            <a:pPr>
              <a:defRPr sz="1200" b="1">
                <a:solidFill>
                  <a:srgbClr val="237B82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00" b="1">
                <a:solidFill>
                  <a:srgbClr val="237B82"/>
                </a:solidFill>
                <a:latin typeface="Helvetica Neue"/>
                <a:ea typeface="Helvetica Neue"/>
                <a:cs typeface="Helvetica Neue"/>
              </a:rPr>
              <a:t>38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78234D2F-F10E-4FCF-8A7A-61846D7A5B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1762125"/>
            <a:ext cx="10287000" cy="409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>
            <a:defPPr>
              <a:defRPr sz="1875">
                <a:solidFill>
                  <a:srgbClr val="13212D"/>
                </a:solidFill>
                <a:latin typeface="Helvetica Neue"/>
                <a:ea typeface="Helvetica Neue"/>
                <a:cs typeface="Helvetica Neue"/>
              </a:defRPr>
            </a:defPPr>
            <a:lvl1pPr>
              <a:defRPr sz="1875">
                <a:solidFill>
                  <a:srgbClr val="13212D"/>
                </a:solidFill>
                <a:latin typeface="Helvetica Neue"/>
                <a:ea typeface="Helvetica Neue"/>
                <a:cs typeface="Helvetica Neue"/>
              </a:defRPr>
            </a:lvl1pPr>
            <a:lvl2pPr>
              <a:defRPr sz="1875">
                <a:solidFill>
                  <a:srgbClr val="13212D"/>
                </a:solidFill>
                <a:latin typeface="Helvetica Neue"/>
                <a:ea typeface="Helvetica Neue"/>
                <a:cs typeface="Helvetica Neue"/>
              </a:defRPr>
            </a:lvl2pPr>
            <a:lvl3pPr>
              <a:defRPr sz="1875">
                <a:solidFill>
                  <a:srgbClr val="13212D"/>
                </a:solidFill>
                <a:latin typeface="Helvetica Neue"/>
                <a:ea typeface="Helvetica Neue"/>
                <a:cs typeface="Helvetica Neue"/>
              </a:defRPr>
            </a:lvl3pPr>
            <a:lvl4pPr>
              <a:defRPr sz="1875">
                <a:solidFill>
                  <a:srgbClr val="13212D"/>
                </a:solidFill>
                <a:latin typeface="Helvetica Neue"/>
                <a:ea typeface="Helvetica Neue"/>
                <a:cs typeface="Helvetica Neue"/>
              </a:defRPr>
            </a:lvl4pPr>
            <a:lvl5pPr>
              <a:defRPr sz="1875">
                <a:solidFill>
                  <a:srgbClr val="13212D"/>
                </a:solidFill>
                <a:latin typeface="Helvetica Neue"/>
                <a:ea typeface="Helvetica Neue"/>
                <a:cs typeface="Helvetica Neue"/>
              </a:defRPr>
            </a:lvl5pPr>
            <a:lvl6pPr>
              <a:defRPr sz="1875">
                <a:solidFill>
                  <a:srgbClr val="13212D"/>
                </a:solidFill>
                <a:latin typeface="Helvetica Neue"/>
                <a:ea typeface="Helvetica Neue"/>
                <a:cs typeface="Helvetica Neue"/>
              </a:defRPr>
            </a:lvl6pPr>
            <a:lvl7pPr>
              <a:defRPr sz="1875">
                <a:solidFill>
                  <a:srgbClr val="13212D"/>
                </a:solidFill>
                <a:latin typeface="Helvetica Neue"/>
                <a:ea typeface="Helvetica Neue"/>
                <a:cs typeface="Helvetica Neue"/>
              </a:defRPr>
            </a:lvl7pPr>
            <a:lvl8pPr>
              <a:defRPr sz="1875">
                <a:solidFill>
                  <a:srgbClr val="13212D"/>
                </a:solidFill>
                <a:latin typeface="Helvetica Neue"/>
                <a:ea typeface="Helvetica Neue"/>
                <a:cs typeface="Helvetica Neue"/>
              </a:defRPr>
            </a:lvl8pPr>
            <a:lvl9pPr>
              <a:defRPr sz="1875">
                <a:solidFill>
                  <a:srgbClr val="13212D"/>
                </a:solidFill>
                <a:latin typeface="Helvetica Neue"/>
                <a:ea typeface="Helvetica Neue"/>
                <a:cs typeface="Helvetica Neue"/>
              </a:defRPr>
            </a:lvl9pPr>
          </a:lstStyle>
          <a:p xmlns:a="http://schemas.openxmlformats.org/drawingml/2006/main">
            <a:pPr marL="279400" indent="-127000">
              <a:spcAft>
                <a:spcPts val="1300"/>
              </a:spcAft>
              <a:buChar char="•"/>
              <a:defRPr sz="1875">
                <a:solidFill>
                  <a:srgbClr val="13212D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75">
                <a:solidFill>
                  <a:srgbClr val="13212D"/>
                </a:solidFill>
                <a:latin typeface="Helvetica Neue"/>
                <a:ea typeface="Helvetica Neue"/>
                <a:cs typeface="Helvetica Neue"/>
              </a:rPr>
              <a:t>5% albumin is equivalent to an equal amount of plasma and may b substituted.</a:t>
            </a:r>
          </a:p>
          <a:p xmlns:a="http://schemas.openxmlformats.org/drawingml/2006/main">
            <a:pPr marL="279400" indent="-127000">
              <a:spcAft>
                <a:spcPts val="1300"/>
              </a:spcAft>
              <a:buChar char="•"/>
              <a:defRPr sz="1875">
                <a:solidFill>
                  <a:srgbClr val="13212D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75">
                <a:solidFill>
                  <a:srgbClr val="13212D"/>
                </a:solidFill>
                <a:latin typeface="Helvetica Neue"/>
                <a:ea typeface="Helvetica Neue"/>
                <a:cs typeface="Helvetica Neue"/>
              </a:rPr>
              <a:t>Albumin is also used in the treatment of shock and burns.</a:t>
            </a:r>
          </a:p>
          <a:p xmlns:a="http://schemas.openxmlformats.org/drawingml/2006/main">
            <a:pPr marL="279400" indent="-127000">
              <a:spcAft>
                <a:spcPts val="1300"/>
              </a:spcAft>
              <a:buChar char="•"/>
              <a:defRPr sz="1875">
                <a:solidFill>
                  <a:srgbClr val="13212D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75">
                <a:solidFill>
                  <a:srgbClr val="13212D"/>
                </a:solidFill>
                <a:latin typeface="Helvetica Neue"/>
                <a:ea typeface="Helvetica Neue"/>
                <a:cs typeface="Helvetica Neue"/>
              </a:rPr>
              <a:t>There is no risk of transmitting the hepatitis virus as the heating process used in the preparation destroys the virus.</a:t>
            </a:r>
          </a:p>
          <a:p xmlns:a="http://schemas.openxmlformats.org/drawingml/2006/main">
            <a:pPr marL="279400" indent="-127000">
              <a:spcAft>
                <a:spcPts val="1300"/>
              </a:spcAft>
              <a:buChar char="•"/>
              <a:defRPr sz="1875">
                <a:solidFill>
                  <a:srgbClr val="13212D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75">
                <a:solidFill>
                  <a:srgbClr val="13212D"/>
                </a:solidFill>
                <a:latin typeface="Helvetica Neue"/>
                <a:ea typeface="Helvetica Neue"/>
                <a:cs typeface="Helvetica Neue"/>
              </a:rPr>
              <a:t>Initiating Transfusion Therapy Obtaining blood that has been prepared for the patient is governed by individual hospital policy.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0BDFC303-709F-4033-BECC-5EE85B3868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6115050"/>
            <a:ext cx="101917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>
            <a:defPPr>
              <a:defRPr sz="1125" b="1">
                <a:solidFill>
                  <a:srgbClr val="B94F3D"/>
                </a:solidFill>
                <a:latin typeface="Helvetica Neue"/>
                <a:ea typeface="Helvetica Neue"/>
                <a:cs typeface="Helvetica Neue"/>
              </a:defRPr>
            </a:defPPr>
            <a:lvl1pPr>
              <a:defRPr sz="1125" b="1">
                <a:solidFill>
                  <a:srgbClr val="B94F3D"/>
                </a:solidFill>
                <a:latin typeface="Helvetica Neue"/>
                <a:ea typeface="Helvetica Neue"/>
                <a:cs typeface="Helvetica Neue"/>
              </a:defRPr>
            </a:lvl1pPr>
            <a:lvl2pPr>
              <a:defRPr sz="1125" b="1">
                <a:solidFill>
                  <a:srgbClr val="B94F3D"/>
                </a:solidFill>
                <a:latin typeface="Helvetica Neue"/>
                <a:ea typeface="Helvetica Neue"/>
                <a:cs typeface="Helvetica Neue"/>
              </a:defRPr>
            </a:lvl2pPr>
            <a:lvl3pPr>
              <a:defRPr sz="1125" b="1">
                <a:solidFill>
                  <a:srgbClr val="B94F3D"/>
                </a:solidFill>
                <a:latin typeface="Helvetica Neue"/>
                <a:ea typeface="Helvetica Neue"/>
                <a:cs typeface="Helvetica Neue"/>
              </a:defRPr>
            </a:lvl3pPr>
            <a:lvl4pPr>
              <a:defRPr sz="1125" b="1">
                <a:solidFill>
                  <a:srgbClr val="B94F3D"/>
                </a:solidFill>
                <a:latin typeface="Helvetica Neue"/>
                <a:ea typeface="Helvetica Neue"/>
                <a:cs typeface="Helvetica Neue"/>
              </a:defRPr>
            </a:lvl4pPr>
            <a:lvl5pPr>
              <a:defRPr sz="1125" b="1">
                <a:solidFill>
                  <a:srgbClr val="B94F3D"/>
                </a:solidFill>
                <a:latin typeface="Helvetica Neue"/>
                <a:ea typeface="Helvetica Neue"/>
                <a:cs typeface="Helvetica Neue"/>
              </a:defRPr>
            </a:lvl5pPr>
            <a:lvl6pPr>
              <a:defRPr sz="1125" b="1">
                <a:solidFill>
                  <a:srgbClr val="B94F3D"/>
                </a:solidFill>
                <a:latin typeface="Helvetica Neue"/>
                <a:ea typeface="Helvetica Neue"/>
                <a:cs typeface="Helvetica Neue"/>
              </a:defRPr>
            </a:lvl6pPr>
            <a:lvl7pPr>
              <a:defRPr sz="1125" b="1">
                <a:solidFill>
                  <a:srgbClr val="B94F3D"/>
                </a:solidFill>
                <a:latin typeface="Helvetica Neue"/>
                <a:ea typeface="Helvetica Neue"/>
                <a:cs typeface="Helvetica Neue"/>
              </a:defRPr>
            </a:lvl7pPr>
            <a:lvl8pPr>
              <a:defRPr sz="1125" b="1">
                <a:solidFill>
                  <a:srgbClr val="B94F3D"/>
                </a:solidFill>
                <a:latin typeface="Helvetica Neue"/>
                <a:ea typeface="Helvetica Neue"/>
                <a:cs typeface="Helvetica Neue"/>
              </a:defRPr>
            </a:lvl8pPr>
            <a:lvl9pPr>
              <a:defRPr sz="1125" b="1">
                <a:solidFill>
                  <a:srgbClr val="B94F3D"/>
                </a:solidFill>
                <a:latin typeface="Helvetica Neue"/>
                <a:ea typeface="Helvetica Neue"/>
                <a:cs typeface="Helvetica Neue"/>
              </a:defRPr>
            </a:lvl9pPr>
          </a:lstStyle>
          <a:p xmlns:a="http://schemas.openxmlformats.org/drawingml/2006/main">
            <a:pPr>
              <a:defRPr sz="1125" b="1">
                <a:solidFill>
                  <a:srgbClr val="B94F3D"/>
                </a:solidFill>
                <a:latin typeface="Helvetica Neue"/>
                <a:ea typeface="Helvetica Neue"/>
                <a:cs typeface="Helvetica Neue"/>
              </a:defRPr>
            </a:pPr>
            <a:r>
              <a:rPr sz="1125" b="1">
                <a:solidFill>
                  <a:srgbClr val="B94F3D"/>
                </a:solidFill>
                <a:latin typeface="Helvetica Neue"/>
                <a:ea typeface="Helvetica Neue"/>
                <a:cs typeface="Helvetica Neue"/>
              </a:rPr>
              <a:t>Use current orders, facility policy, and authorized scope when applying this information.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32149779-3FDE-4DE1-AC1D-DDDCD69934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5772150"/>
            <a:ext cx="101917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97619"/>
          </a:bodyPr>
          <a:lstStyle xmlns:a="http://schemas.openxmlformats.org/drawingml/2006/main">
            <a:defPPr>
              <a:defRPr sz="1050" b="1">
                <a:solidFill>
                  <a:srgbClr val="237B82"/>
                </a:solidFill>
                <a:latin typeface="Helvetica Neue"/>
                <a:ea typeface="Helvetica Neue"/>
                <a:cs typeface="Helvetica Neue"/>
              </a:defRPr>
            </a:defPPr>
            <a:lvl1pPr>
              <a:defRPr sz="1050" b="1">
                <a:solidFill>
                  <a:srgbClr val="237B82"/>
                </a:solidFill>
                <a:latin typeface="Helvetica Neue"/>
                <a:ea typeface="Helvetica Neue"/>
                <a:cs typeface="Helvetica Neue"/>
              </a:defRPr>
            </a:lvl1pPr>
            <a:lvl2pPr>
              <a:defRPr sz="1050" b="1">
                <a:solidFill>
                  <a:srgbClr val="237B82"/>
                </a:solidFill>
                <a:latin typeface="Helvetica Neue"/>
                <a:ea typeface="Helvetica Neue"/>
                <a:cs typeface="Helvetica Neue"/>
              </a:defRPr>
            </a:lvl2pPr>
            <a:lvl3pPr>
              <a:defRPr sz="1050" b="1">
                <a:solidFill>
                  <a:srgbClr val="237B82"/>
                </a:solidFill>
                <a:latin typeface="Helvetica Neue"/>
                <a:ea typeface="Helvetica Neue"/>
                <a:cs typeface="Helvetica Neue"/>
              </a:defRPr>
            </a:lvl3pPr>
            <a:lvl4pPr>
              <a:defRPr sz="1050" b="1">
                <a:solidFill>
                  <a:srgbClr val="237B82"/>
                </a:solidFill>
                <a:latin typeface="Helvetica Neue"/>
                <a:ea typeface="Helvetica Neue"/>
                <a:cs typeface="Helvetica Neue"/>
              </a:defRPr>
            </a:lvl4pPr>
            <a:lvl5pPr>
              <a:defRPr sz="1050" b="1">
                <a:solidFill>
                  <a:srgbClr val="237B82"/>
                </a:solidFill>
                <a:latin typeface="Helvetica Neue"/>
                <a:ea typeface="Helvetica Neue"/>
                <a:cs typeface="Helvetica Neue"/>
              </a:defRPr>
            </a:lvl5pPr>
            <a:lvl6pPr>
              <a:defRPr sz="1050" b="1">
                <a:solidFill>
                  <a:srgbClr val="237B82"/>
                </a:solidFill>
                <a:latin typeface="Helvetica Neue"/>
                <a:ea typeface="Helvetica Neue"/>
                <a:cs typeface="Helvetica Neue"/>
              </a:defRPr>
            </a:lvl6pPr>
            <a:lvl7pPr>
              <a:defRPr sz="1050" b="1">
                <a:solidFill>
                  <a:srgbClr val="237B82"/>
                </a:solidFill>
                <a:latin typeface="Helvetica Neue"/>
                <a:ea typeface="Helvetica Neue"/>
                <a:cs typeface="Helvetica Neue"/>
              </a:defRPr>
            </a:lvl7pPr>
            <a:lvl8pPr>
              <a:defRPr sz="1050" b="1">
                <a:solidFill>
                  <a:srgbClr val="237B82"/>
                </a:solidFill>
                <a:latin typeface="Helvetica Neue"/>
                <a:ea typeface="Helvetica Neue"/>
                <a:cs typeface="Helvetica Neue"/>
              </a:defRPr>
            </a:lvl8pPr>
            <a:lvl9pPr>
              <a:defRPr sz="1050" b="1">
                <a:solidFill>
                  <a:srgbClr val="237B82"/>
                </a:solidFill>
                <a:latin typeface="Helvetica Neue"/>
                <a:ea typeface="Helvetica Neue"/>
                <a:cs typeface="Helvetica Neue"/>
              </a:defRPr>
            </a:lvl9pPr>
          </a:lstStyle>
          <a:p xmlns:a="http://schemas.openxmlformats.org/drawingml/2006/main">
            <a:pPr>
              <a:defRPr sz="1050" b="1">
                <a:solidFill>
                  <a:srgbClr val="237B82"/>
                </a:solidFill>
                <a:latin typeface="Helvetica Neue"/>
                <a:ea typeface="Helvetica Neue"/>
                <a:cs typeface="Helvetica Neue"/>
              </a:defRPr>
            </a:pPr>
            <a:r>
              <a:rPr sz="1050" b="1">
                <a:solidFill>
                  <a:srgbClr val="237B82"/>
                </a:solidFill>
                <a:latin typeface="Helvetica Neue"/>
                <a:ea typeface="Helvetica Neue"/>
                <a:cs typeface="Helvetica Neue"/>
              </a:rPr>
              <a:t>Manual page 56</a:t>
            </a:r>
          </a:p>
        </p:txBody>
      </p:sp>
    </p:spTree>
    <p:extLst>
      <p:ext uri="{BB962C8B-B14F-4D97-AF65-F5344CB8AC3E}">
        <p14:creationId xmlns:p14="http://schemas.microsoft.com/office/powerpoint/2010/main" val="1792561137"/>
      </p:ext>
    </p:extLst>
  </p:cSld>
</p:sld>
</file>

<file path=ppt/slides/slide39.xml><?xml version="1.0" encoding="utf-8"?>
<p:sld xmlns:p="http://schemas.openxmlformats.org/presentationml/2006/main">
  <p:cSld>
    <p:bg>
      <p:bgPr>
        <a:solidFill xmlns:a="http://schemas.openxmlformats.org/drawingml/2006/main">
          <a:srgbClr val="F7F4EE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5541FFFA-0CC4-43C2-A91C-A4F079B58A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2095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37B82"/>
          </a:solidFill>
          <a:ln xmlns:a="http://schemas.openxmlformats.org/drawingml/2006/main" w="0">
            <a:solidFill>
              <a:srgbClr val="237B82"/>
            </a:solidFill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FAACD4AC-CE5C-4F7F-B557-0658BFDACB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00050"/>
            <a:ext cx="10001250" cy="819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>
            <a:defPPr>
              <a:defRPr sz="2700" b="1">
                <a:solidFill>
                  <a:srgbClr val="15324A"/>
                </a:solidFill>
                <a:latin typeface="Helvetica Neue"/>
                <a:ea typeface="Helvetica Neue"/>
                <a:cs typeface="Helvetica Neue"/>
              </a:defRPr>
            </a:defPPr>
            <a:lvl1pPr>
              <a:defRPr sz="2700" b="1">
                <a:solidFill>
                  <a:srgbClr val="15324A"/>
                </a:solidFill>
                <a:latin typeface="Helvetica Neue"/>
                <a:ea typeface="Helvetica Neue"/>
                <a:cs typeface="Helvetica Neue"/>
              </a:defRPr>
            </a:lvl1pPr>
            <a:lvl2pPr>
              <a:defRPr sz="2700" b="1">
                <a:solidFill>
                  <a:srgbClr val="15324A"/>
                </a:solidFill>
                <a:latin typeface="Helvetica Neue"/>
                <a:ea typeface="Helvetica Neue"/>
                <a:cs typeface="Helvetica Neue"/>
              </a:defRPr>
            </a:lvl2pPr>
            <a:lvl3pPr>
              <a:defRPr sz="2700" b="1">
                <a:solidFill>
                  <a:srgbClr val="15324A"/>
                </a:solidFill>
                <a:latin typeface="Helvetica Neue"/>
                <a:ea typeface="Helvetica Neue"/>
                <a:cs typeface="Helvetica Neue"/>
              </a:defRPr>
            </a:lvl3pPr>
            <a:lvl4pPr>
              <a:defRPr sz="2700" b="1">
                <a:solidFill>
                  <a:srgbClr val="15324A"/>
                </a:solidFill>
                <a:latin typeface="Helvetica Neue"/>
                <a:ea typeface="Helvetica Neue"/>
                <a:cs typeface="Helvetica Neue"/>
              </a:defRPr>
            </a:lvl4pPr>
            <a:lvl5pPr>
              <a:defRPr sz="2700" b="1">
                <a:solidFill>
                  <a:srgbClr val="15324A"/>
                </a:solidFill>
                <a:latin typeface="Helvetica Neue"/>
                <a:ea typeface="Helvetica Neue"/>
                <a:cs typeface="Helvetica Neue"/>
              </a:defRPr>
            </a:lvl5pPr>
            <a:lvl6pPr>
              <a:defRPr sz="2700" b="1">
                <a:solidFill>
                  <a:srgbClr val="15324A"/>
                </a:solidFill>
                <a:latin typeface="Helvetica Neue"/>
                <a:ea typeface="Helvetica Neue"/>
                <a:cs typeface="Helvetica Neue"/>
              </a:defRPr>
            </a:lvl6pPr>
            <a:lvl7pPr>
              <a:defRPr sz="2700" b="1">
                <a:solidFill>
                  <a:srgbClr val="15324A"/>
                </a:solidFill>
                <a:latin typeface="Helvetica Neue"/>
                <a:ea typeface="Helvetica Neue"/>
                <a:cs typeface="Helvetica Neue"/>
              </a:defRPr>
            </a:lvl7pPr>
            <a:lvl8pPr>
              <a:defRPr sz="2700" b="1">
                <a:solidFill>
                  <a:srgbClr val="15324A"/>
                </a:solidFill>
                <a:latin typeface="Helvetica Neue"/>
                <a:ea typeface="Helvetica Neue"/>
                <a:cs typeface="Helvetica Neue"/>
              </a:defRPr>
            </a:lvl8pPr>
            <a:lvl9pPr>
              <a:defRPr sz="2700" b="1">
                <a:solidFill>
                  <a:srgbClr val="15324A"/>
                </a:solidFill>
                <a:latin typeface="Helvetica Neue"/>
                <a:ea typeface="Helvetica Neue"/>
                <a:cs typeface="Helvetica Neue"/>
              </a:defRPr>
            </a:lvl9pPr>
          </a:lstStyle>
          <a:p xmlns:a="http://schemas.openxmlformats.org/drawingml/2006/main">
            <a:pPr>
              <a:defRPr sz="2700" b="1">
                <a:solidFill>
                  <a:srgbClr val="15324A"/>
                </a:solidFill>
                <a:latin typeface="Helvetica Neue"/>
                <a:ea typeface="Helvetica Neue"/>
                <a:cs typeface="Helvetica Neue"/>
              </a:defRPr>
            </a:pPr>
            <a:r>
              <a:rPr sz="2700" b="1">
                <a:solidFill>
                  <a:srgbClr val="15324A"/>
                </a:solidFill>
                <a:latin typeface="Helvetica Neue"/>
                <a:ea typeface="Helvetica Neue"/>
                <a:cs typeface="Helvetica Neue"/>
              </a:rPr>
              <a:t>Initiating Transfusion Therapy — continued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4456AC8E-55B5-43D7-9F1D-3072BF1E6A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1257300"/>
            <a:ext cx="88582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91111"/>
          </a:bodyPr>
          <a:lstStyle xmlns:a="http://schemas.openxmlformats.org/drawingml/2006/main">
            <a:defPPr>
              <a:defRPr sz="1125" b="1">
                <a:solidFill>
                  <a:srgbClr val="237B82"/>
                </a:solidFill>
                <a:latin typeface="Helvetica Neue"/>
                <a:ea typeface="Helvetica Neue"/>
                <a:cs typeface="Helvetica Neue"/>
              </a:defRPr>
            </a:defPPr>
            <a:lvl1pPr>
              <a:defRPr sz="1125" b="1">
                <a:solidFill>
                  <a:srgbClr val="237B82"/>
                </a:solidFill>
                <a:latin typeface="Helvetica Neue"/>
                <a:ea typeface="Helvetica Neue"/>
                <a:cs typeface="Helvetica Neue"/>
              </a:defRPr>
            </a:lvl1pPr>
            <a:lvl2pPr>
              <a:defRPr sz="1125" b="1">
                <a:solidFill>
                  <a:srgbClr val="237B82"/>
                </a:solidFill>
                <a:latin typeface="Helvetica Neue"/>
                <a:ea typeface="Helvetica Neue"/>
                <a:cs typeface="Helvetica Neue"/>
              </a:defRPr>
            </a:lvl2pPr>
            <a:lvl3pPr>
              <a:defRPr sz="1125" b="1">
                <a:solidFill>
                  <a:srgbClr val="237B82"/>
                </a:solidFill>
                <a:latin typeface="Helvetica Neue"/>
                <a:ea typeface="Helvetica Neue"/>
                <a:cs typeface="Helvetica Neue"/>
              </a:defRPr>
            </a:lvl3pPr>
            <a:lvl4pPr>
              <a:defRPr sz="1125" b="1">
                <a:solidFill>
                  <a:srgbClr val="237B82"/>
                </a:solidFill>
                <a:latin typeface="Helvetica Neue"/>
                <a:ea typeface="Helvetica Neue"/>
                <a:cs typeface="Helvetica Neue"/>
              </a:defRPr>
            </a:lvl4pPr>
            <a:lvl5pPr>
              <a:defRPr sz="1125" b="1">
                <a:solidFill>
                  <a:srgbClr val="237B82"/>
                </a:solidFill>
                <a:latin typeface="Helvetica Neue"/>
                <a:ea typeface="Helvetica Neue"/>
                <a:cs typeface="Helvetica Neue"/>
              </a:defRPr>
            </a:lvl5pPr>
            <a:lvl6pPr>
              <a:defRPr sz="1125" b="1">
                <a:solidFill>
                  <a:srgbClr val="237B82"/>
                </a:solidFill>
                <a:latin typeface="Helvetica Neue"/>
                <a:ea typeface="Helvetica Neue"/>
                <a:cs typeface="Helvetica Neue"/>
              </a:defRPr>
            </a:lvl6pPr>
            <a:lvl7pPr>
              <a:defRPr sz="1125" b="1">
                <a:solidFill>
                  <a:srgbClr val="237B82"/>
                </a:solidFill>
                <a:latin typeface="Helvetica Neue"/>
                <a:ea typeface="Helvetica Neue"/>
                <a:cs typeface="Helvetica Neue"/>
              </a:defRPr>
            </a:lvl7pPr>
            <a:lvl8pPr>
              <a:defRPr sz="1125" b="1">
                <a:solidFill>
                  <a:srgbClr val="237B82"/>
                </a:solidFill>
                <a:latin typeface="Helvetica Neue"/>
                <a:ea typeface="Helvetica Neue"/>
                <a:cs typeface="Helvetica Neue"/>
              </a:defRPr>
            </a:lvl8pPr>
            <a:lvl9pPr>
              <a:defRPr sz="1125" b="1">
                <a:solidFill>
                  <a:srgbClr val="237B82"/>
                </a:solidFill>
                <a:latin typeface="Helvetica Neue"/>
                <a:ea typeface="Helvetica Neue"/>
                <a:cs typeface="Helvetica Neue"/>
              </a:defRPr>
            </a:lvl9pPr>
          </a:lstStyle>
          <a:p xmlns:a="http://schemas.openxmlformats.org/drawingml/2006/main">
            <a:pPr>
              <a:defRPr sz="1125" b="1">
                <a:solidFill>
                  <a:srgbClr val="237B82"/>
                </a:solidFill>
                <a:latin typeface="Helvetica Neue"/>
                <a:ea typeface="Helvetica Neue"/>
                <a:cs typeface="Helvetica Neue"/>
              </a:defRPr>
            </a:pPr>
            <a:r>
              <a:rPr sz="1125" b="1">
                <a:solidFill>
                  <a:srgbClr val="237B82"/>
                </a:solidFill>
                <a:latin typeface="Helvetica Neue"/>
                <a:ea typeface="Helvetica Neue"/>
                <a:cs typeface="Helvetica Neue"/>
              </a:rPr>
              <a:t>MODULE 4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F13A04AB-65B8-4B9C-BE25-7D8A547F53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457200"/>
            <a:ext cx="5334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>
            <a:defPPr>
              <a:defRPr sz="1200" b="1">
                <a:solidFill>
                  <a:srgbClr val="237B82"/>
                </a:solidFill>
                <a:latin typeface="Helvetica Neue"/>
                <a:ea typeface="Helvetica Neue"/>
                <a:cs typeface="Helvetica Neue"/>
              </a:defRPr>
            </a:defPPr>
            <a:lvl1pPr>
              <a:defRPr sz="1200" b="1">
                <a:solidFill>
                  <a:srgbClr val="237B82"/>
                </a:solidFill>
                <a:latin typeface="Helvetica Neue"/>
                <a:ea typeface="Helvetica Neue"/>
                <a:cs typeface="Helvetica Neue"/>
              </a:defRPr>
            </a:lvl1pPr>
            <a:lvl2pPr>
              <a:defRPr sz="1200" b="1">
                <a:solidFill>
                  <a:srgbClr val="237B82"/>
                </a:solidFill>
                <a:latin typeface="Helvetica Neue"/>
                <a:ea typeface="Helvetica Neue"/>
                <a:cs typeface="Helvetica Neue"/>
              </a:defRPr>
            </a:lvl2pPr>
            <a:lvl3pPr>
              <a:defRPr sz="1200" b="1">
                <a:solidFill>
                  <a:srgbClr val="237B82"/>
                </a:solidFill>
                <a:latin typeface="Helvetica Neue"/>
                <a:ea typeface="Helvetica Neue"/>
                <a:cs typeface="Helvetica Neue"/>
              </a:defRPr>
            </a:lvl3pPr>
            <a:lvl4pPr>
              <a:defRPr sz="1200" b="1">
                <a:solidFill>
                  <a:srgbClr val="237B82"/>
                </a:solidFill>
                <a:latin typeface="Helvetica Neue"/>
                <a:ea typeface="Helvetica Neue"/>
                <a:cs typeface="Helvetica Neue"/>
              </a:defRPr>
            </a:lvl4pPr>
            <a:lvl5pPr>
              <a:defRPr sz="1200" b="1">
                <a:solidFill>
                  <a:srgbClr val="237B82"/>
                </a:solidFill>
                <a:latin typeface="Helvetica Neue"/>
                <a:ea typeface="Helvetica Neue"/>
                <a:cs typeface="Helvetica Neue"/>
              </a:defRPr>
            </a:lvl5pPr>
            <a:lvl6pPr>
              <a:defRPr sz="1200" b="1">
                <a:solidFill>
                  <a:srgbClr val="237B82"/>
                </a:solidFill>
                <a:latin typeface="Helvetica Neue"/>
                <a:ea typeface="Helvetica Neue"/>
                <a:cs typeface="Helvetica Neue"/>
              </a:defRPr>
            </a:lvl6pPr>
            <a:lvl7pPr>
              <a:defRPr sz="1200" b="1">
                <a:solidFill>
                  <a:srgbClr val="237B82"/>
                </a:solidFill>
                <a:latin typeface="Helvetica Neue"/>
                <a:ea typeface="Helvetica Neue"/>
                <a:cs typeface="Helvetica Neue"/>
              </a:defRPr>
            </a:lvl7pPr>
            <a:lvl8pPr>
              <a:defRPr sz="1200" b="1">
                <a:solidFill>
                  <a:srgbClr val="237B82"/>
                </a:solidFill>
                <a:latin typeface="Helvetica Neue"/>
                <a:ea typeface="Helvetica Neue"/>
                <a:cs typeface="Helvetica Neue"/>
              </a:defRPr>
            </a:lvl8pPr>
            <a:lvl9pPr>
              <a:defRPr sz="1200" b="1">
                <a:solidFill>
                  <a:srgbClr val="237B82"/>
                </a:solidFill>
                <a:latin typeface="Helvetica Neue"/>
                <a:ea typeface="Helvetica Neue"/>
                <a:cs typeface="Helvetica Neue"/>
              </a:defRPr>
            </a:lvl9pPr>
          </a:lstStyle>
          <a:p xmlns:a="http://schemas.openxmlformats.org/drawingml/2006/main">
            <a:pPr>
              <a:defRPr sz="1200" b="1">
                <a:solidFill>
                  <a:srgbClr val="237B82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00" b="1">
                <a:solidFill>
                  <a:srgbClr val="237B82"/>
                </a:solidFill>
                <a:latin typeface="Helvetica Neue"/>
                <a:ea typeface="Helvetica Neue"/>
                <a:cs typeface="Helvetica Neue"/>
              </a:rPr>
              <a:t>39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9A45D246-2C34-4CB1-84E5-31E68BAC25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1762125"/>
            <a:ext cx="10287000" cy="409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>
            <a:defPPr>
              <a:defRPr sz="1875">
                <a:solidFill>
                  <a:srgbClr val="13212D"/>
                </a:solidFill>
                <a:latin typeface="Helvetica Neue"/>
                <a:ea typeface="Helvetica Neue"/>
                <a:cs typeface="Helvetica Neue"/>
              </a:defRPr>
            </a:defPPr>
            <a:lvl1pPr>
              <a:defRPr sz="1875">
                <a:solidFill>
                  <a:srgbClr val="13212D"/>
                </a:solidFill>
                <a:latin typeface="Helvetica Neue"/>
                <a:ea typeface="Helvetica Neue"/>
                <a:cs typeface="Helvetica Neue"/>
              </a:defRPr>
            </a:lvl1pPr>
            <a:lvl2pPr>
              <a:defRPr sz="1875">
                <a:solidFill>
                  <a:srgbClr val="13212D"/>
                </a:solidFill>
                <a:latin typeface="Helvetica Neue"/>
                <a:ea typeface="Helvetica Neue"/>
                <a:cs typeface="Helvetica Neue"/>
              </a:defRPr>
            </a:lvl2pPr>
            <a:lvl3pPr>
              <a:defRPr sz="1875">
                <a:solidFill>
                  <a:srgbClr val="13212D"/>
                </a:solidFill>
                <a:latin typeface="Helvetica Neue"/>
                <a:ea typeface="Helvetica Neue"/>
                <a:cs typeface="Helvetica Neue"/>
              </a:defRPr>
            </a:lvl3pPr>
            <a:lvl4pPr>
              <a:defRPr sz="1875">
                <a:solidFill>
                  <a:srgbClr val="13212D"/>
                </a:solidFill>
                <a:latin typeface="Helvetica Neue"/>
                <a:ea typeface="Helvetica Neue"/>
                <a:cs typeface="Helvetica Neue"/>
              </a:defRPr>
            </a:lvl4pPr>
            <a:lvl5pPr>
              <a:defRPr sz="1875">
                <a:solidFill>
                  <a:srgbClr val="13212D"/>
                </a:solidFill>
                <a:latin typeface="Helvetica Neue"/>
                <a:ea typeface="Helvetica Neue"/>
                <a:cs typeface="Helvetica Neue"/>
              </a:defRPr>
            </a:lvl5pPr>
            <a:lvl6pPr>
              <a:defRPr sz="1875">
                <a:solidFill>
                  <a:srgbClr val="13212D"/>
                </a:solidFill>
                <a:latin typeface="Helvetica Neue"/>
                <a:ea typeface="Helvetica Neue"/>
                <a:cs typeface="Helvetica Neue"/>
              </a:defRPr>
            </a:lvl6pPr>
            <a:lvl7pPr>
              <a:defRPr sz="1875">
                <a:solidFill>
                  <a:srgbClr val="13212D"/>
                </a:solidFill>
                <a:latin typeface="Helvetica Neue"/>
                <a:ea typeface="Helvetica Neue"/>
                <a:cs typeface="Helvetica Neue"/>
              </a:defRPr>
            </a:lvl7pPr>
            <a:lvl8pPr>
              <a:defRPr sz="1875">
                <a:solidFill>
                  <a:srgbClr val="13212D"/>
                </a:solidFill>
                <a:latin typeface="Helvetica Neue"/>
                <a:ea typeface="Helvetica Neue"/>
                <a:cs typeface="Helvetica Neue"/>
              </a:defRPr>
            </a:lvl8pPr>
            <a:lvl9pPr>
              <a:defRPr sz="1875">
                <a:solidFill>
                  <a:srgbClr val="13212D"/>
                </a:solidFill>
                <a:latin typeface="Helvetica Neue"/>
                <a:ea typeface="Helvetica Neue"/>
                <a:cs typeface="Helvetica Neue"/>
              </a:defRPr>
            </a:lvl9pPr>
          </a:lstStyle>
          <a:p xmlns:a="http://schemas.openxmlformats.org/drawingml/2006/main">
            <a:pPr marL="279400" indent="-127000">
              <a:spcAft>
                <a:spcPts val="1300"/>
              </a:spcAft>
              <a:buChar char="•"/>
              <a:defRPr sz="1875">
                <a:solidFill>
                  <a:srgbClr val="13212D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75">
                <a:solidFill>
                  <a:srgbClr val="13212D"/>
                </a:solidFill>
                <a:latin typeface="Helvetica Neue"/>
                <a:ea typeface="Helvetica Neue"/>
                <a:cs typeface="Helvetica Neue"/>
              </a:rPr>
              <a:t>The nurse should be aware of the specific policy.</a:t>
            </a:r>
          </a:p>
          <a:p xmlns:a="http://schemas.openxmlformats.org/drawingml/2006/main">
            <a:pPr marL="279400" indent="-127000">
              <a:spcAft>
                <a:spcPts val="1300"/>
              </a:spcAft>
              <a:buChar char="•"/>
              <a:defRPr sz="1875">
                <a:solidFill>
                  <a:srgbClr val="13212D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75">
                <a:solidFill>
                  <a:srgbClr val="13212D"/>
                </a:solidFill>
                <a:latin typeface="Helvetica Neue"/>
                <a:ea typeface="Helvetica Neue"/>
                <a:cs typeface="Helvetica Neue"/>
              </a:rPr>
              <a:t>Blood administration should begin within 30 minutes from the time the blood is signed out of the blood bank to prevent excessive warming.</a:t>
            </a:r>
          </a:p>
          <a:p xmlns:a="http://schemas.openxmlformats.org/drawingml/2006/main">
            <a:pPr marL="279400" indent="-127000">
              <a:spcAft>
                <a:spcPts val="1300"/>
              </a:spcAft>
              <a:buChar char="•"/>
              <a:defRPr sz="1875">
                <a:solidFill>
                  <a:srgbClr val="13212D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75">
                <a:solidFill>
                  <a:srgbClr val="13212D"/>
                </a:solidFill>
                <a:latin typeface="Helvetica Neue"/>
                <a:ea typeface="Helvetica Neue"/>
                <a:cs typeface="Helvetica Neue"/>
              </a:rPr>
              <a:t>Red cells begin to deteriorate, and bacterial growth begins as the unit warms to room temperature.</a:t>
            </a:r>
          </a:p>
          <a:p xmlns:a="http://schemas.openxmlformats.org/drawingml/2006/main">
            <a:pPr marL="279400" indent="-127000">
              <a:spcAft>
                <a:spcPts val="1300"/>
              </a:spcAft>
              <a:buChar char="•"/>
              <a:defRPr sz="1875">
                <a:solidFill>
                  <a:srgbClr val="13212D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75">
                <a:solidFill>
                  <a:srgbClr val="13212D"/>
                </a:solidFill>
                <a:latin typeface="Helvetica Neue"/>
                <a:ea typeface="Helvetica Neue"/>
                <a:cs typeface="Helvetica Neue"/>
              </a:rPr>
              <a:t>It should be within this time frame.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EE263350-B635-47CB-9F9A-91BD147C43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6115050"/>
            <a:ext cx="101917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>
            <a:defPPr>
              <a:defRPr sz="1125" b="1">
                <a:solidFill>
                  <a:srgbClr val="B94F3D"/>
                </a:solidFill>
                <a:latin typeface="Helvetica Neue"/>
                <a:ea typeface="Helvetica Neue"/>
                <a:cs typeface="Helvetica Neue"/>
              </a:defRPr>
            </a:defPPr>
            <a:lvl1pPr>
              <a:defRPr sz="1125" b="1">
                <a:solidFill>
                  <a:srgbClr val="B94F3D"/>
                </a:solidFill>
                <a:latin typeface="Helvetica Neue"/>
                <a:ea typeface="Helvetica Neue"/>
                <a:cs typeface="Helvetica Neue"/>
              </a:defRPr>
            </a:lvl1pPr>
            <a:lvl2pPr>
              <a:defRPr sz="1125" b="1">
                <a:solidFill>
                  <a:srgbClr val="B94F3D"/>
                </a:solidFill>
                <a:latin typeface="Helvetica Neue"/>
                <a:ea typeface="Helvetica Neue"/>
                <a:cs typeface="Helvetica Neue"/>
              </a:defRPr>
            </a:lvl2pPr>
            <a:lvl3pPr>
              <a:defRPr sz="1125" b="1">
                <a:solidFill>
                  <a:srgbClr val="B94F3D"/>
                </a:solidFill>
                <a:latin typeface="Helvetica Neue"/>
                <a:ea typeface="Helvetica Neue"/>
                <a:cs typeface="Helvetica Neue"/>
              </a:defRPr>
            </a:lvl3pPr>
            <a:lvl4pPr>
              <a:defRPr sz="1125" b="1">
                <a:solidFill>
                  <a:srgbClr val="B94F3D"/>
                </a:solidFill>
                <a:latin typeface="Helvetica Neue"/>
                <a:ea typeface="Helvetica Neue"/>
                <a:cs typeface="Helvetica Neue"/>
              </a:defRPr>
            </a:lvl4pPr>
            <a:lvl5pPr>
              <a:defRPr sz="1125" b="1">
                <a:solidFill>
                  <a:srgbClr val="B94F3D"/>
                </a:solidFill>
                <a:latin typeface="Helvetica Neue"/>
                <a:ea typeface="Helvetica Neue"/>
                <a:cs typeface="Helvetica Neue"/>
              </a:defRPr>
            </a:lvl5pPr>
            <a:lvl6pPr>
              <a:defRPr sz="1125" b="1">
                <a:solidFill>
                  <a:srgbClr val="B94F3D"/>
                </a:solidFill>
                <a:latin typeface="Helvetica Neue"/>
                <a:ea typeface="Helvetica Neue"/>
                <a:cs typeface="Helvetica Neue"/>
              </a:defRPr>
            </a:lvl6pPr>
            <a:lvl7pPr>
              <a:defRPr sz="1125" b="1">
                <a:solidFill>
                  <a:srgbClr val="B94F3D"/>
                </a:solidFill>
                <a:latin typeface="Helvetica Neue"/>
                <a:ea typeface="Helvetica Neue"/>
                <a:cs typeface="Helvetica Neue"/>
              </a:defRPr>
            </a:lvl7pPr>
            <a:lvl8pPr>
              <a:defRPr sz="1125" b="1">
                <a:solidFill>
                  <a:srgbClr val="B94F3D"/>
                </a:solidFill>
                <a:latin typeface="Helvetica Neue"/>
                <a:ea typeface="Helvetica Neue"/>
                <a:cs typeface="Helvetica Neue"/>
              </a:defRPr>
            </a:lvl8pPr>
            <a:lvl9pPr>
              <a:defRPr sz="1125" b="1">
                <a:solidFill>
                  <a:srgbClr val="B94F3D"/>
                </a:solidFill>
                <a:latin typeface="Helvetica Neue"/>
                <a:ea typeface="Helvetica Neue"/>
                <a:cs typeface="Helvetica Neue"/>
              </a:defRPr>
            </a:lvl9pPr>
          </a:lstStyle>
          <a:p xmlns:a="http://schemas.openxmlformats.org/drawingml/2006/main">
            <a:pPr>
              <a:defRPr sz="1125" b="1">
                <a:solidFill>
                  <a:srgbClr val="B94F3D"/>
                </a:solidFill>
                <a:latin typeface="Helvetica Neue"/>
                <a:ea typeface="Helvetica Neue"/>
                <a:cs typeface="Helvetica Neue"/>
              </a:defRPr>
            </a:pPr>
            <a:r>
              <a:rPr sz="1125" b="1">
                <a:solidFill>
                  <a:srgbClr val="B94F3D"/>
                </a:solidFill>
                <a:latin typeface="Helvetica Neue"/>
                <a:ea typeface="Helvetica Neue"/>
                <a:cs typeface="Helvetica Neue"/>
              </a:rPr>
              <a:t>Use current orders, facility policy, and authorized scope when applying this information.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C926736F-C60F-4A09-A051-2F1AEBBA8A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5772150"/>
            <a:ext cx="101917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97619"/>
          </a:bodyPr>
          <a:lstStyle xmlns:a="http://schemas.openxmlformats.org/drawingml/2006/main">
            <a:defPPr>
              <a:defRPr sz="1050" b="1">
                <a:solidFill>
                  <a:srgbClr val="237B82"/>
                </a:solidFill>
                <a:latin typeface="Helvetica Neue"/>
                <a:ea typeface="Helvetica Neue"/>
                <a:cs typeface="Helvetica Neue"/>
              </a:defRPr>
            </a:defPPr>
            <a:lvl1pPr>
              <a:defRPr sz="1050" b="1">
                <a:solidFill>
                  <a:srgbClr val="237B82"/>
                </a:solidFill>
                <a:latin typeface="Helvetica Neue"/>
                <a:ea typeface="Helvetica Neue"/>
                <a:cs typeface="Helvetica Neue"/>
              </a:defRPr>
            </a:lvl1pPr>
            <a:lvl2pPr>
              <a:defRPr sz="1050" b="1">
                <a:solidFill>
                  <a:srgbClr val="237B82"/>
                </a:solidFill>
                <a:latin typeface="Helvetica Neue"/>
                <a:ea typeface="Helvetica Neue"/>
                <a:cs typeface="Helvetica Neue"/>
              </a:defRPr>
            </a:lvl2pPr>
            <a:lvl3pPr>
              <a:defRPr sz="1050" b="1">
                <a:solidFill>
                  <a:srgbClr val="237B82"/>
                </a:solidFill>
                <a:latin typeface="Helvetica Neue"/>
                <a:ea typeface="Helvetica Neue"/>
                <a:cs typeface="Helvetica Neue"/>
              </a:defRPr>
            </a:lvl3pPr>
            <a:lvl4pPr>
              <a:defRPr sz="1050" b="1">
                <a:solidFill>
                  <a:srgbClr val="237B82"/>
                </a:solidFill>
                <a:latin typeface="Helvetica Neue"/>
                <a:ea typeface="Helvetica Neue"/>
                <a:cs typeface="Helvetica Neue"/>
              </a:defRPr>
            </a:lvl4pPr>
            <a:lvl5pPr>
              <a:defRPr sz="1050" b="1">
                <a:solidFill>
                  <a:srgbClr val="237B82"/>
                </a:solidFill>
                <a:latin typeface="Helvetica Neue"/>
                <a:ea typeface="Helvetica Neue"/>
                <a:cs typeface="Helvetica Neue"/>
              </a:defRPr>
            </a:lvl5pPr>
            <a:lvl6pPr>
              <a:defRPr sz="1050" b="1">
                <a:solidFill>
                  <a:srgbClr val="237B82"/>
                </a:solidFill>
                <a:latin typeface="Helvetica Neue"/>
                <a:ea typeface="Helvetica Neue"/>
                <a:cs typeface="Helvetica Neue"/>
              </a:defRPr>
            </a:lvl6pPr>
            <a:lvl7pPr>
              <a:defRPr sz="1050" b="1">
                <a:solidFill>
                  <a:srgbClr val="237B82"/>
                </a:solidFill>
                <a:latin typeface="Helvetica Neue"/>
                <a:ea typeface="Helvetica Neue"/>
                <a:cs typeface="Helvetica Neue"/>
              </a:defRPr>
            </a:lvl7pPr>
            <a:lvl8pPr>
              <a:defRPr sz="1050" b="1">
                <a:solidFill>
                  <a:srgbClr val="237B82"/>
                </a:solidFill>
                <a:latin typeface="Helvetica Neue"/>
                <a:ea typeface="Helvetica Neue"/>
                <a:cs typeface="Helvetica Neue"/>
              </a:defRPr>
            </a:lvl8pPr>
            <a:lvl9pPr>
              <a:defRPr sz="1050" b="1">
                <a:solidFill>
                  <a:srgbClr val="237B82"/>
                </a:solidFill>
                <a:latin typeface="Helvetica Neue"/>
                <a:ea typeface="Helvetica Neue"/>
                <a:cs typeface="Helvetica Neue"/>
              </a:defRPr>
            </a:lvl9pPr>
          </a:lstStyle>
          <a:p xmlns:a="http://schemas.openxmlformats.org/drawingml/2006/main">
            <a:pPr>
              <a:defRPr sz="1050" b="1">
                <a:solidFill>
                  <a:srgbClr val="237B82"/>
                </a:solidFill>
                <a:latin typeface="Helvetica Neue"/>
                <a:ea typeface="Helvetica Neue"/>
                <a:cs typeface="Helvetica Neue"/>
              </a:defRPr>
            </a:pPr>
            <a:r>
              <a:rPr sz="1050" b="1">
                <a:solidFill>
                  <a:srgbClr val="237B82"/>
                </a:solidFill>
                <a:latin typeface="Helvetica Neue"/>
                <a:ea typeface="Helvetica Neue"/>
                <a:cs typeface="Helvetica Neue"/>
              </a:rPr>
              <a:t>Manual page 56</a:t>
            </a:r>
          </a:p>
        </p:txBody>
      </p:sp>
    </p:spTree>
    <p:extLst>
      <p:ext uri="{BB962C8B-B14F-4D97-AF65-F5344CB8AC3E}">
        <p14:creationId xmlns:p14="http://schemas.microsoft.com/office/powerpoint/2010/main" val="2042395329"/>
      </p:ext>
    </p:extLst>
  </p:cSld>
</p:sld>
</file>

<file path=ppt/slides/slide40.xml><?xml version="1.0" encoding="utf-8"?>
<p:sld xmlns:p="http://schemas.openxmlformats.org/presentationml/2006/main">
  <p:cSld>
    <p:bg>
      <p:bgPr>
        <a:solidFill xmlns:a="http://schemas.openxmlformats.org/drawingml/2006/main">
          <a:srgbClr val="F7F4EE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B3A911FF-0A4A-4879-B854-E2878D48A0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2095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37B82"/>
          </a:solidFill>
          <a:ln xmlns:a="http://schemas.openxmlformats.org/drawingml/2006/main" w="0">
            <a:solidFill>
              <a:srgbClr val="237B82"/>
            </a:solidFill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5A857007-AE56-405C-A92A-7E03D04AF0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00050"/>
            <a:ext cx="10001250" cy="819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>
            <a:defPPr>
              <a:defRPr sz="2700" b="1">
                <a:solidFill>
                  <a:srgbClr val="15324A"/>
                </a:solidFill>
                <a:latin typeface="Helvetica Neue"/>
                <a:ea typeface="Helvetica Neue"/>
                <a:cs typeface="Helvetica Neue"/>
              </a:defRPr>
            </a:defPPr>
            <a:lvl1pPr>
              <a:defRPr sz="2700" b="1">
                <a:solidFill>
                  <a:srgbClr val="15324A"/>
                </a:solidFill>
                <a:latin typeface="Helvetica Neue"/>
                <a:ea typeface="Helvetica Neue"/>
                <a:cs typeface="Helvetica Neue"/>
              </a:defRPr>
            </a:lvl1pPr>
            <a:lvl2pPr>
              <a:defRPr sz="2700" b="1">
                <a:solidFill>
                  <a:srgbClr val="15324A"/>
                </a:solidFill>
                <a:latin typeface="Helvetica Neue"/>
                <a:ea typeface="Helvetica Neue"/>
                <a:cs typeface="Helvetica Neue"/>
              </a:defRPr>
            </a:lvl2pPr>
            <a:lvl3pPr>
              <a:defRPr sz="2700" b="1">
                <a:solidFill>
                  <a:srgbClr val="15324A"/>
                </a:solidFill>
                <a:latin typeface="Helvetica Neue"/>
                <a:ea typeface="Helvetica Neue"/>
                <a:cs typeface="Helvetica Neue"/>
              </a:defRPr>
            </a:lvl3pPr>
            <a:lvl4pPr>
              <a:defRPr sz="2700" b="1">
                <a:solidFill>
                  <a:srgbClr val="15324A"/>
                </a:solidFill>
                <a:latin typeface="Helvetica Neue"/>
                <a:ea typeface="Helvetica Neue"/>
                <a:cs typeface="Helvetica Neue"/>
              </a:defRPr>
            </a:lvl4pPr>
            <a:lvl5pPr>
              <a:defRPr sz="2700" b="1">
                <a:solidFill>
                  <a:srgbClr val="15324A"/>
                </a:solidFill>
                <a:latin typeface="Helvetica Neue"/>
                <a:ea typeface="Helvetica Neue"/>
                <a:cs typeface="Helvetica Neue"/>
              </a:defRPr>
            </a:lvl5pPr>
            <a:lvl6pPr>
              <a:defRPr sz="2700" b="1">
                <a:solidFill>
                  <a:srgbClr val="15324A"/>
                </a:solidFill>
                <a:latin typeface="Helvetica Neue"/>
                <a:ea typeface="Helvetica Neue"/>
                <a:cs typeface="Helvetica Neue"/>
              </a:defRPr>
            </a:lvl6pPr>
            <a:lvl7pPr>
              <a:defRPr sz="2700" b="1">
                <a:solidFill>
                  <a:srgbClr val="15324A"/>
                </a:solidFill>
                <a:latin typeface="Helvetica Neue"/>
                <a:ea typeface="Helvetica Neue"/>
                <a:cs typeface="Helvetica Neue"/>
              </a:defRPr>
            </a:lvl7pPr>
            <a:lvl8pPr>
              <a:defRPr sz="2700" b="1">
                <a:solidFill>
                  <a:srgbClr val="15324A"/>
                </a:solidFill>
                <a:latin typeface="Helvetica Neue"/>
                <a:ea typeface="Helvetica Neue"/>
                <a:cs typeface="Helvetica Neue"/>
              </a:defRPr>
            </a:lvl8pPr>
            <a:lvl9pPr>
              <a:defRPr sz="2700" b="1">
                <a:solidFill>
                  <a:srgbClr val="15324A"/>
                </a:solidFill>
                <a:latin typeface="Helvetica Neue"/>
                <a:ea typeface="Helvetica Neue"/>
                <a:cs typeface="Helvetica Neue"/>
              </a:defRPr>
            </a:lvl9pPr>
          </a:lstStyle>
          <a:p xmlns:a="http://schemas.openxmlformats.org/drawingml/2006/main">
            <a:pPr>
              <a:defRPr sz="2700" b="1">
                <a:solidFill>
                  <a:srgbClr val="15324A"/>
                </a:solidFill>
                <a:latin typeface="Helvetica Neue"/>
                <a:ea typeface="Helvetica Neue"/>
                <a:cs typeface="Helvetica Neue"/>
              </a:defRPr>
            </a:pPr>
            <a:r>
              <a:rPr sz="2700" b="1">
                <a:solidFill>
                  <a:srgbClr val="15324A"/>
                </a:solidFill>
                <a:latin typeface="Helvetica Neue"/>
                <a:ea typeface="Helvetica Neue"/>
                <a:cs typeface="Helvetica Neue"/>
              </a:rPr>
              <a:t>Initiating Transfusion Therapy — continued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89DDD6B7-8B20-4FB2-8506-A3DF5F5BB7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1257300"/>
            <a:ext cx="88582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91111"/>
          </a:bodyPr>
          <a:lstStyle xmlns:a="http://schemas.openxmlformats.org/drawingml/2006/main">
            <a:defPPr>
              <a:defRPr sz="1125" b="1">
                <a:solidFill>
                  <a:srgbClr val="237B82"/>
                </a:solidFill>
                <a:latin typeface="Helvetica Neue"/>
                <a:ea typeface="Helvetica Neue"/>
                <a:cs typeface="Helvetica Neue"/>
              </a:defRPr>
            </a:defPPr>
            <a:lvl1pPr>
              <a:defRPr sz="1125" b="1">
                <a:solidFill>
                  <a:srgbClr val="237B82"/>
                </a:solidFill>
                <a:latin typeface="Helvetica Neue"/>
                <a:ea typeface="Helvetica Neue"/>
                <a:cs typeface="Helvetica Neue"/>
              </a:defRPr>
            </a:lvl1pPr>
            <a:lvl2pPr>
              <a:defRPr sz="1125" b="1">
                <a:solidFill>
                  <a:srgbClr val="237B82"/>
                </a:solidFill>
                <a:latin typeface="Helvetica Neue"/>
                <a:ea typeface="Helvetica Neue"/>
                <a:cs typeface="Helvetica Neue"/>
              </a:defRPr>
            </a:lvl2pPr>
            <a:lvl3pPr>
              <a:defRPr sz="1125" b="1">
                <a:solidFill>
                  <a:srgbClr val="237B82"/>
                </a:solidFill>
                <a:latin typeface="Helvetica Neue"/>
                <a:ea typeface="Helvetica Neue"/>
                <a:cs typeface="Helvetica Neue"/>
              </a:defRPr>
            </a:lvl3pPr>
            <a:lvl4pPr>
              <a:defRPr sz="1125" b="1">
                <a:solidFill>
                  <a:srgbClr val="237B82"/>
                </a:solidFill>
                <a:latin typeface="Helvetica Neue"/>
                <a:ea typeface="Helvetica Neue"/>
                <a:cs typeface="Helvetica Neue"/>
              </a:defRPr>
            </a:lvl4pPr>
            <a:lvl5pPr>
              <a:defRPr sz="1125" b="1">
                <a:solidFill>
                  <a:srgbClr val="237B82"/>
                </a:solidFill>
                <a:latin typeface="Helvetica Neue"/>
                <a:ea typeface="Helvetica Neue"/>
                <a:cs typeface="Helvetica Neue"/>
              </a:defRPr>
            </a:lvl5pPr>
            <a:lvl6pPr>
              <a:defRPr sz="1125" b="1">
                <a:solidFill>
                  <a:srgbClr val="237B82"/>
                </a:solidFill>
                <a:latin typeface="Helvetica Neue"/>
                <a:ea typeface="Helvetica Neue"/>
                <a:cs typeface="Helvetica Neue"/>
              </a:defRPr>
            </a:lvl6pPr>
            <a:lvl7pPr>
              <a:defRPr sz="1125" b="1">
                <a:solidFill>
                  <a:srgbClr val="237B82"/>
                </a:solidFill>
                <a:latin typeface="Helvetica Neue"/>
                <a:ea typeface="Helvetica Neue"/>
                <a:cs typeface="Helvetica Neue"/>
              </a:defRPr>
            </a:lvl7pPr>
            <a:lvl8pPr>
              <a:defRPr sz="1125" b="1">
                <a:solidFill>
                  <a:srgbClr val="237B82"/>
                </a:solidFill>
                <a:latin typeface="Helvetica Neue"/>
                <a:ea typeface="Helvetica Neue"/>
                <a:cs typeface="Helvetica Neue"/>
              </a:defRPr>
            </a:lvl8pPr>
            <a:lvl9pPr>
              <a:defRPr sz="1125" b="1">
                <a:solidFill>
                  <a:srgbClr val="237B82"/>
                </a:solidFill>
                <a:latin typeface="Helvetica Neue"/>
                <a:ea typeface="Helvetica Neue"/>
                <a:cs typeface="Helvetica Neue"/>
              </a:defRPr>
            </a:lvl9pPr>
          </a:lstStyle>
          <a:p xmlns:a="http://schemas.openxmlformats.org/drawingml/2006/main">
            <a:pPr>
              <a:defRPr sz="1125" b="1">
                <a:solidFill>
                  <a:srgbClr val="237B82"/>
                </a:solidFill>
                <a:latin typeface="Helvetica Neue"/>
                <a:ea typeface="Helvetica Neue"/>
                <a:cs typeface="Helvetica Neue"/>
              </a:defRPr>
            </a:pPr>
            <a:r>
              <a:rPr sz="1125" b="1">
                <a:solidFill>
                  <a:srgbClr val="237B82"/>
                </a:solidFill>
                <a:latin typeface="Helvetica Neue"/>
                <a:ea typeface="Helvetica Neue"/>
                <a:cs typeface="Helvetica Neue"/>
              </a:rPr>
              <a:t>MODULE 4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F656B4DB-6470-447A-8369-199FE8A0ED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457200"/>
            <a:ext cx="5334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>
            <a:defPPr>
              <a:defRPr sz="1200" b="1">
                <a:solidFill>
                  <a:srgbClr val="237B82"/>
                </a:solidFill>
                <a:latin typeface="Helvetica Neue"/>
                <a:ea typeface="Helvetica Neue"/>
                <a:cs typeface="Helvetica Neue"/>
              </a:defRPr>
            </a:defPPr>
            <a:lvl1pPr>
              <a:defRPr sz="1200" b="1">
                <a:solidFill>
                  <a:srgbClr val="237B82"/>
                </a:solidFill>
                <a:latin typeface="Helvetica Neue"/>
                <a:ea typeface="Helvetica Neue"/>
                <a:cs typeface="Helvetica Neue"/>
              </a:defRPr>
            </a:lvl1pPr>
            <a:lvl2pPr>
              <a:defRPr sz="1200" b="1">
                <a:solidFill>
                  <a:srgbClr val="237B82"/>
                </a:solidFill>
                <a:latin typeface="Helvetica Neue"/>
                <a:ea typeface="Helvetica Neue"/>
                <a:cs typeface="Helvetica Neue"/>
              </a:defRPr>
            </a:lvl2pPr>
            <a:lvl3pPr>
              <a:defRPr sz="1200" b="1">
                <a:solidFill>
                  <a:srgbClr val="237B82"/>
                </a:solidFill>
                <a:latin typeface="Helvetica Neue"/>
                <a:ea typeface="Helvetica Neue"/>
                <a:cs typeface="Helvetica Neue"/>
              </a:defRPr>
            </a:lvl3pPr>
            <a:lvl4pPr>
              <a:defRPr sz="1200" b="1">
                <a:solidFill>
                  <a:srgbClr val="237B82"/>
                </a:solidFill>
                <a:latin typeface="Helvetica Neue"/>
                <a:ea typeface="Helvetica Neue"/>
                <a:cs typeface="Helvetica Neue"/>
              </a:defRPr>
            </a:lvl4pPr>
            <a:lvl5pPr>
              <a:defRPr sz="1200" b="1">
                <a:solidFill>
                  <a:srgbClr val="237B82"/>
                </a:solidFill>
                <a:latin typeface="Helvetica Neue"/>
                <a:ea typeface="Helvetica Neue"/>
                <a:cs typeface="Helvetica Neue"/>
              </a:defRPr>
            </a:lvl5pPr>
            <a:lvl6pPr>
              <a:defRPr sz="1200" b="1">
                <a:solidFill>
                  <a:srgbClr val="237B82"/>
                </a:solidFill>
                <a:latin typeface="Helvetica Neue"/>
                <a:ea typeface="Helvetica Neue"/>
                <a:cs typeface="Helvetica Neue"/>
              </a:defRPr>
            </a:lvl6pPr>
            <a:lvl7pPr>
              <a:defRPr sz="1200" b="1">
                <a:solidFill>
                  <a:srgbClr val="237B82"/>
                </a:solidFill>
                <a:latin typeface="Helvetica Neue"/>
                <a:ea typeface="Helvetica Neue"/>
                <a:cs typeface="Helvetica Neue"/>
              </a:defRPr>
            </a:lvl7pPr>
            <a:lvl8pPr>
              <a:defRPr sz="1200" b="1">
                <a:solidFill>
                  <a:srgbClr val="237B82"/>
                </a:solidFill>
                <a:latin typeface="Helvetica Neue"/>
                <a:ea typeface="Helvetica Neue"/>
                <a:cs typeface="Helvetica Neue"/>
              </a:defRPr>
            </a:lvl8pPr>
            <a:lvl9pPr>
              <a:defRPr sz="1200" b="1">
                <a:solidFill>
                  <a:srgbClr val="237B82"/>
                </a:solidFill>
                <a:latin typeface="Helvetica Neue"/>
                <a:ea typeface="Helvetica Neue"/>
                <a:cs typeface="Helvetica Neue"/>
              </a:defRPr>
            </a:lvl9pPr>
          </a:lstStyle>
          <a:p xmlns:a="http://schemas.openxmlformats.org/drawingml/2006/main">
            <a:pPr>
              <a:defRPr sz="1200" b="1">
                <a:solidFill>
                  <a:srgbClr val="237B82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00" b="1">
                <a:solidFill>
                  <a:srgbClr val="237B82"/>
                </a:solidFill>
                <a:latin typeface="Helvetica Neue"/>
                <a:ea typeface="Helvetica Neue"/>
                <a:cs typeface="Helvetica Neue"/>
              </a:rPr>
              <a:t>40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70535735-0ADD-4A07-BCA4-68D90DE36A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1762125"/>
            <a:ext cx="10287000" cy="409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>
            <a:defPPr>
              <a:defRPr sz="1875">
                <a:solidFill>
                  <a:srgbClr val="13212D"/>
                </a:solidFill>
                <a:latin typeface="Helvetica Neue"/>
                <a:ea typeface="Helvetica Neue"/>
                <a:cs typeface="Helvetica Neue"/>
              </a:defRPr>
            </a:defPPr>
            <a:lvl1pPr>
              <a:defRPr sz="1875">
                <a:solidFill>
                  <a:srgbClr val="13212D"/>
                </a:solidFill>
                <a:latin typeface="Helvetica Neue"/>
                <a:ea typeface="Helvetica Neue"/>
                <a:cs typeface="Helvetica Neue"/>
              </a:defRPr>
            </a:lvl1pPr>
            <a:lvl2pPr>
              <a:defRPr sz="1875">
                <a:solidFill>
                  <a:srgbClr val="13212D"/>
                </a:solidFill>
                <a:latin typeface="Helvetica Neue"/>
                <a:ea typeface="Helvetica Neue"/>
                <a:cs typeface="Helvetica Neue"/>
              </a:defRPr>
            </a:lvl2pPr>
            <a:lvl3pPr>
              <a:defRPr sz="1875">
                <a:solidFill>
                  <a:srgbClr val="13212D"/>
                </a:solidFill>
                <a:latin typeface="Helvetica Neue"/>
                <a:ea typeface="Helvetica Neue"/>
                <a:cs typeface="Helvetica Neue"/>
              </a:defRPr>
            </a:lvl3pPr>
            <a:lvl4pPr>
              <a:defRPr sz="1875">
                <a:solidFill>
                  <a:srgbClr val="13212D"/>
                </a:solidFill>
                <a:latin typeface="Helvetica Neue"/>
                <a:ea typeface="Helvetica Neue"/>
                <a:cs typeface="Helvetica Neue"/>
              </a:defRPr>
            </a:lvl4pPr>
            <a:lvl5pPr>
              <a:defRPr sz="1875">
                <a:solidFill>
                  <a:srgbClr val="13212D"/>
                </a:solidFill>
                <a:latin typeface="Helvetica Neue"/>
                <a:ea typeface="Helvetica Neue"/>
                <a:cs typeface="Helvetica Neue"/>
              </a:defRPr>
            </a:lvl5pPr>
            <a:lvl6pPr>
              <a:defRPr sz="1875">
                <a:solidFill>
                  <a:srgbClr val="13212D"/>
                </a:solidFill>
                <a:latin typeface="Helvetica Neue"/>
                <a:ea typeface="Helvetica Neue"/>
                <a:cs typeface="Helvetica Neue"/>
              </a:defRPr>
            </a:lvl6pPr>
            <a:lvl7pPr>
              <a:defRPr sz="1875">
                <a:solidFill>
                  <a:srgbClr val="13212D"/>
                </a:solidFill>
                <a:latin typeface="Helvetica Neue"/>
                <a:ea typeface="Helvetica Neue"/>
                <a:cs typeface="Helvetica Neue"/>
              </a:defRPr>
            </a:lvl7pPr>
            <a:lvl8pPr>
              <a:defRPr sz="1875">
                <a:solidFill>
                  <a:srgbClr val="13212D"/>
                </a:solidFill>
                <a:latin typeface="Helvetica Neue"/>
                <a:ea typeface="Helvetica Neue"/>
                <a:cs typeface="Helvetica Neue"/>
              </a:defRPr>
            </a:lvl8pPr>
            <a:lvl9pPr>
              <a:defRPr sz="1875">
                <a:solidFill>
                  <a:srgbClr val="13212D"/>
                </a:solidFill>
                <a:latin typeface="Helvetica Neue"/>
                <a:ea typeface="Helvetica Neue"/>
                <a:cs typeface="Helvetica Neue"/>
              </a:defRPr>
            </a:lvl9pPr>
          </a:lstStyle>
          <a:p xmlns:a="http://schemas.openxmlformats.org/drawingml/2006/main">
            <a:pPr marL="279400" indent="-127000">
              <a:spcAft>
                <a:spcPts val="1300"/>
              </a:spcAft>
              <a:buChar char="•"/>
              <a:defRPr sz="1875">
                <a:solidFill>
                  <a:srgbClr val="13212D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75">
                <a:solidFill>
                  <a:srgbClr val="13212D"/>
                </a:solidFill>
                <a:latin typeface="Helvetica Neue"/>
                <a:ea typeface="Helvetica Neue"/>
                <a:cs typeface="Helvetica Neue"/>
              </a:rPr>
              <a:t>Blood cannot be placed in the refrigerator on the nursing unit because the temperature control is not as precise as blood bank refrigerators.</a:t>
            </a:r>
          </a:p>
          <a:p xmlns:a="http://schemas.openxmlformats.org/drawingml/2006/main">
            <a:pPr marL="279400" indent="-127000">
              <a:spcAft>
                <a:spcPts val="1300"/>
              </a:spcAft>
              <a:buChar char="•"/>
              <a:defRPr sz="1875">
                <a:solidFill>
                  <a:srgbClr val="13212D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75">
                <a:solidFill>
                  <a:srgbClr val="13212D"/>
                </a:solidFill>
                <a:latin typeface="Helvetica Neue"/>
                <a:ea typeface="Helvetica Neue"/>
                <a:cs typeface="Helvetica Neue"/>
              </a:rPr>
              <a:t>Patient Identification - Proper identification, labeling, and testing of blood is essential in the prevention of transfusion reactions.</a:t>
            </a:r>
          </a:p>
          <a:p xmlns:a="http://schemas.openxmlformats.org/drawingml/2006/main">
            <a:pPr marL="279400" indent="-127000">
              <a:spcAft>
                <a:spcPts val="1300"/>
              </a:spcAft>
              <a:buChar char="•"/>
              <a:defRPr sz="1875">
                <a:solidFill>
                  <a:srgbClr val="13212D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75">
                <a:solidFill>
                  <a:srgbClr val="13212D"/>
                </a:solidFill>
                <a:latin typeface="Helvetica Neue"/>
                <a:ea typeface="Helvetica Neue"/>
                <a:cs typeface="Helvetica Neue"/>
              </a:rPr>
              <a:t>Failure to properly perform the donor client identification is the cause of 90% of transfusion reactions.</a:t>
            </a:r>
          </a:p>
          <a:p xmlns:a="http://schemas.openxmlformats.org/drawingml/2006/main">
            <a:pPr marL="279400" indent="-127000">
              <a:spcAft>
                <a:spcPts val="1300"/>
              </a:spcAft>
              <a:buChar char="•"/>
              <a:defRPr sz="1875">
                <a:solidFill>
                  <a:srgbClr val="13212D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75">
                <a:solidFill>
                  <a:srgbClr val="13212D"/>
                </a:solidFill>
                <a:latin typeface="Helvetica Neue"/>
                <a:ea typeface="Helvetica Neue"/>
                <a:cs typeface="Helvetica Neue"/>
              </a:rPr>
              <a:t>The nurse makes the final determination whether to administer the unit of blood or question the compatibility.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480AC843-5759-472C-8247-4D19B2B0AC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6115050"/>
            <a:ext cx="101917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>
            <a:defPPr>
              <a:defRPr sz="1125" b="1">
                <a:solidFill>
                  <a:srgbClr val="B94F3D"/>
                </a:solidFill>
                <a:latin typeface="Helvetica Neue"/>
                <a:ea typeface="Helvetica Neue"/>
                <a:cs typeface="Helvetica Neue"/>
              </a:defRPr>
            </a:defPPr>
            <a:lvl1pPr>
              <a:defRPr sz="1125" b="1">
                <a:solidFill>
                  <a:srgbClr val="B94F3D"/>
                </a:solidFill>
                <a:latin typeface="Helvetica Neue"/>
                <a:ea typeface="Helvetica Neue"/>
                <a:cs typeface="Helvetica Neue"/>
              </a:defRPr>
            </a:lvl1pPr>
            <a:lvl2pPr>
              <a:defRPr sz="1125" b="1">
                <a:solidFill>
                  <a:srgbClr val="B94F3D"/>
                </a:solidFill>
                <a:latin typeface="Helvetica Neue"/>
                <a:ea typeface="Helvetica Neue"/>
                <a:cs typeface="Helvetica Neue"/>
              </a:defRPr>
            </a:lvl2pPr>
            <a:lvl3pPr>
              <a:defRPr sz="1125" b="1">
                <a:solidFill>
                  <a:srgbClr val="B94F3D"/>
                </a:solidFill>
                <a:latin typeface="Helvetica Neue"/>
                <a:ea typeface="Helvetica Neue"/>
                <a:cs typeface="Helvetica Neue"/>
              </a:defRPr>
            </a:lvl3pPr>
            <a:lvl4pPr>
              <a:defRPr sz="1125" b="1">
                <a:solidFill>
                  <a:srgbClr val="B94F3D"/>
                </a:solidFill>
                <a:latin typeface="Helvetica Neue"/>
                <a:ea typeface="Helvetica Neue"/>
                <a:cs typeface="Helvetica Neue"/>
              </a:defRPr>
            </a:lvl4pPr>
            <a:lvl5pPr>
              <a:defRPr sz="1125" b="1">
                <a:solidFill>
                  <a:srgbClr val="B94F3D"/>
                </a:solidFill>
                <a:latin typeface="Helvetica Neue"/>
                <a:ea typeface="Helvetica Neue"/>
                <a:cs typeface="Helvetica Neue"/>
              </a:defRPr>
            </a:lvl5pPr>
            <a:lvl6pPr>
              <a:defRPr sz="1125" b="1">
                <a:solidFill>
                  <a:srgbClr val="B94F3D"/>
                </a:solidFill>
                <a:latin typeface="Helvetica Neue"/>
                <a:ea typeface="Helvetica Neue"/>
                <a:cs typeface="Helvetica Neue"/>
              </a:defRPr>
            </a:lvl6pPr>
            <a:lvl7pPr>
              <a:defRPr sz="1125" b="1">
                <a:solidFill>
                  <a:srgbClr val="B94F3D"/>
                </a:solidFill>
                <a:latin typeface="Helvetica Neue"/>
                <a:ea typeface="Helvetica Neue"/>
                <a:cs typeface="Helvetica Neue"/>
              </a:defRPr>
            </a:lvl7pPr>
            <a:lvl8pPr>
              <a:defRPr sz="1125" b="1">
                <a:solidFill>
                  <a:srgbClr val="B94F3D"/>
                </a:solidFill>
                <a:latin typeface="Helvetica Neue"/>
                <a:ea typeface="Helvetica Neue"/>
                <a:cs typeface="Helvetica Neue"/>
              </a:defRPr>
            </a:lvl8pPr>
            <a:lvl9pPr>
              <a:defRPr sz="1125" b="1">
                <a:solidFill>
                  <a:srgbClr val="B94F3D"/>
                </a:solidFill>
                <a:latin typeface="Helvetica Neue"/>
                <a:ea typeface="Helvetica Neue"/>
                <a:cs typeface="Helvetica Neue"/>
              </a:defRPr>
            </a:lvl9pPr>
          </a:lstStyle>
          <a:p xmlns:a="http://schemas.openxmlformats.org/drawingml/2006/main">
            <a:pPr>
              <a:defRPr sz="1125" b="1">
                <a:solidFill>
                  <a:srgbClr val="B94F3D"/>
                </a:solidFill>
                <a:latin typeface="Helvetica Neue"/>
                <a:ea typeface="Helvetica Neue"/>
                <a:cs typeface="Helvetica Neue"/>
              </a:defRPr>
            </a:pPr>
            <a:r>
              <a:rPr sz="1125" b="1">
                <a:solidFill>
                  <a:srgbClr val="B94F3D"/>
                </a:solidFill>
                <a:latin typeface="Helvetica Neue"/>
                <a:ea typeface="Helvetica Neue"/>
                <a:cs typeface="Helvetica Neue"/>
              </a:rPr>
              <a:t>Use current orders, facility policy, and authorized scope when applying this information.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403B7826-8168-4932-9491-2CDC7BFD88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5772150"/>
            <a:ext cx="101917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97619"/>
          </a:bodyPr>
          <a:lstStyle xmlns:a="http://schemas.openxmlformats.org/drawingml/2006/main">
            <a:defPPr>
              <a:defRPr sz="1050" b="1">
                <a:solidFill>
                  <a:srgbClr val="237B82"/>
                </a:solidFill>
                <a:latin typeface="Helvetica Neue"/>
                <a:ea typeface="Helvetica Neue"/>
                <a:cs typeface="Helvetica Neue"/>
              </a:defRPr>
            </a:defPPr>
            <a:lvl1pPr>
              <a:defRPr sz="1050" b="1">
                <a:solidFill>
                  <a:srgbClr val="237B82"/>
                </a:solidFill>
                <a:latin typeface="Helvetica Neue"/>
                <a:ea typeface="Helvetica Neue"/>
                <a:cs typeface="Helvetica Neue"/>
              </a:defRPr>
            </a:lvl1pPr>
            <a:lvl2pPr>
              <a:defRPr sz="1050" b="1">
                <a:solidFill>
                  <a:srgbClr val="237B82"/>
                </a:solidFill>
                <a:latin typeface="Helvetica Neue"/>
                <a:ea typeface="Helvetica Neue"/>
                <a:cs typeface="Helvetica Neue"/>
              </a:defRPr>
            </a:lvl2pPr>
            <a:lvl3pPr>
              <a:defRPr sz="1050" b="1">
                <a:solidFill>
                  <a:srgbClr val="237B82"/>
                </a:solidFill>
                <a:latin typeface="Helvetica Neue"/>
                <a:ea typeface="Helvetica Neue"/>
                <a:cs typeface="Helvetica Neue"/>
              </a:defRPr>
            </a:lvl3pPr>
            <a:lvl4pPr>
              <a:defRPr sz="1050" b="1">
                <a:solidFill>
                  <a:srgbClr val="237B82"/>
                </a:solidFill>
                <a:latin typeface="Helvetica Neue"/>
                <a:ea typeface="Helvetica Neue"/>
                <a:cs typeface="Helvetica Neue"/>
              </a:defRPr>
            </a:lvl4pPr>
            <a:lvl5pPr>
              <a:defRPr sz="1050" b="1">
                <a:solidFill>
                  <a:srgbClr val="237B82"/>
                </a:solidFill>
                <a:latin typeface="Helvetica Neue"/>
                <a:ea typeface="Helvetica Neue"/>
                <a:cs typeface="Helvetica Neue"/>
              </a:defRPr>
            </a:lvl5pPr>
            <a:lvl6pPr>
              <a:defRPr sz="1050" b="1">
                <a:solidFill>
                  <a:srgbClr val="237B82"/>
                </a:solidFill>
                <a:latin typeface="Helvetica Neue"/>
                <a:ea typeface="Helvetica Neue"/>
                <a:cs typeface="Helvetica Neue"/>
              </a:defRPr>
            </a:lvl6pPr>
            <a:lvl7pPr>
              <a:defRPr sz="1050" b="1">
                <a:solidFill>
                  <a:srgbClr val="237B82"/>
                </a:solidFill>
                <a:latin typeface="Helvetica Neue"/>
                <a:ea typeface="Helvetica Neue"/>
                <a:cs typeface="Helvetica Neue"/>
              </a:defRPr>
            </a:lvl7pPr>
            <a:lvl8pPr>
              <a:defRPr sz="1050" b="1">
                <a:solidFill>
                  <a:srgbClr val="237B82"/>
                </a:solidFill>
                <a:latin typeface="Helvetica Neue"/>
                <a:ea typeface="Helvetica Neue"/>
                <a:cs typeface="Helvetica Neue"/>
              </a:defRPr>
            </a:lvl8pPr>
            <a:lvl9pPr>
              <a:defRPr sz="1050" b="1">
                <a:solidFill>
                  <a:srgbClr val="237B82"/>
                </a:solidFill>
                <a:latin typeface="Helvetica Neue"/>
                <a:ea typeface="Helvetica Neue"/>
                <a:cs typeface="Helvetica Neue"/>
              </a:defRPr>
            </a:lvl9pPr>
          </a:lstStyle>
          <a:p xmlns:a="http://schemas.openxmlformats.org/drawingml/2006/main">
            <a:pPr>
              <a:defRPr sz="1050" b="1">
                <a:solidFill>
                  <a:srgbClr val="237B82"/>
                </a:solidFill>
                <a:latin typeface="Helvetica Neue"/>
                <a:ea typeface="Helvetica Neue"/>
                <a:cs typeface="Helvetica Neue"/>
              </a:defRPr>
            </a:pPr>
            <a:r>
              <a:rPr sz="1050" b="1">
                <a:solidFill>
                  <a:srgbClr val="237B82"/>
                </a:solidFill>
                <a:latin typeface="Helvetica Neue"/>
                <a:ea typeface="Helvetica Neue"/>
                <a:cs typeface="Helvetica Neue"/>
              </a:rPr>
              <a:t>Manual page 56</a:t>
            </a:r>
          </a:p>
        </p:txBody>
      </p:sp>
    </p:spTree>
    <p:extLst>
      <p:ext uri="{BB962C8B-B14F-4D97-AF65-F5344CB8AC3E}">
        <p14:creationId xmlns:p14="http://schemas.microsoft.com/office/powerpoint/2010/main" val="2026946774"/>
      </p:ext>
    </p:extLst>
  </p:cSld>
</p:sld>
</file>

<file path=ppt/slides/slide41.xml><?xml version="1.0" encoding="utf-8"?>
<p:sld xmlns:p="http://schemas.openxmlformats.org/presentationml/2006/main">
  <p:cSld>
    <p:bg>
      <p:bgPr>
        <a:solidFill xmlns:a="http://schemas.openxmlformats.org/drawingml/2006/main">
          <a:srgbClr val="F7F4EE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BBB8A180-D6E3-4D48-B816-BE84020F15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2095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37B82"/>
          </a:solidFill>
          <a:ln xmlns:a="http://schemas.openxmlformats.org/drawingml/2006/main" w="0">
            <a:solidFill>
              <a:srgbClr val="237B82"/>
            </a:solidFill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AD31F5B8-3EEC-4801-B42B-F4ACE01996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00050"/>
            <a:ext cx="10001250" cy="819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>
            <a:defPPr>
              <a:defRPr sz="2700" b="1">
                <a:solidFill>
                  <a:srgbClr val="15324A"/>
                </a:solidFill>
                <a:latin typeface="Helvetica Neue"/>
                <a:ea typeface="Helvetica Neue"/>
                <a:cs typeface="Helvetica Neue"/>
              </a:defRPr>
            </a:defPPr>
            <a:lvl1pPr>
              <a:defRPr sz="2700" b="1">
                <a:solidFill>
                  <a:srgbClr val="15324A"/>
                </a:solidFill>
                <a:latin typeface="Helvetica Neue"/>
                <a:ea typeface="Helvetica Neue"/>
                <a:cs typeface="Helvetica Neue"/>
              </a:defRPr>
            </a:lvl1pPr>
            <a:lvl2pPr>
              <a:defRPr sz="2700" b="1">
                <a:solidFill>
                  <a:srgbClr val="15324A"/>
                </a:solidFill>
                <a:latin typeface="Helvetica Neue"/>
                <a:ea typeface="Helvetica Neue"/>
                <a:cs typeface="Helvetica Neue"/>
              </a:defRPr>
            </a:lvl2pPr>
            <a:lvl3pPr>
              <a:defRPr sz="2700" b="1">
                <a:solidFill>
                  <a:srgbClr val="15324A"/>
                </a:solidFill>
                <a:latin typeface="Helvetica Neue"/>
                <a:ea typeface="Helvetica Neue"/>
                <a:cs typeface="Helvetica Neue"/>
              </a:defRPr>
            </a:lvl3pPr>
            <a:lvl4pPr>
              <a:defRPr sz="2700" b="1">
                <a:solidFill>
                  <a:srgbClr val="15324A"/>
                </a:solidFill>
                <a:latin typeface="Helvetica Neue"/>
                <a:ea typeface="Helvetica Neue"/>
                <a:cs typeface="Helvetica Neue"/>
              </a:defRPr>
            </a:lvl4pPr>
            <a:lvl5pPr>
              <a:defRPr sz="2700" b="1">
                <a:solidFill>
                  <a:srgbClr val="15324A"/>
                </a:solidFill>
                <a:latin typeface="Helvetica Neue"/>
                <a:ea typeface="Helvetica Neue"/>
                <a:cs typeface="Helvetica Neue"/>
              </a:defRPr>
            </a:lvl5pPr>
            <a:lvl6pPr>
              <a:defRPr sz="2700" b="1">
                <a:solidFill>
                  <a:srgbClr val="15324A"/>
                </a:solidFill>
                <a:latin typeface="Helvetica Neue"/>
                <a:ea typeface="Helvetica Neue"/>
                <a:cs typeface="Helvetica Neue"/>
              </a:defRPr>
            </a:lvl6pPr>
            <a:lvl7pPr>
              <a:defRPr sz="2700" b="1">
                <a:solidFill>
                  <a:srgbClr val="15324A"/>
                </a:solidFill>
                <a:latin typeface="Helvetica Neue"/>
                <a:ea typeface="Helvetica Neue"/>
                <a:cs typeface="Helvetica Neue"/>
              </a:defRPr>
            </a:lvl7pPr>
            <a:lvl8pPr>
              <a:defRPr sz="2700" b="1">
                <a:solidFill>
                  <a:srgbClr val="15324A"/>
                </a:solidFill>
                <a:latin typeface="Helvetica Neue"/>
                <a:ea typeface="Helvetica Neue"/>
                <a:cs typeface="Helvetica Neue"/>
              </a:defRPr>
            </a:lvl8pPr>
            <a:lvl9pPr>
              <a:defRPr sz="2700" b="1">
                <a:solidFill>
                  <a:srgbClr val="15324A"/>
                </a:solidFill>
                <a:latin typeface="Helvetica Neue"/>
                <a:ea typeface="Helvetica Neue"/>
                <a:cs typeface="Helvetica Neue"/>
              </a:defRPr>
            </a:lvl9pPr>
          </a:lstStyle>
          <a:p xmlns:a="http://schemas.openxmlformats.org/drawingml/2006/main">
            <a:pPr>
              <a:defRPr sz="2700" b="1">
                <a:solidFill>
                  <a:srgbClr val="15324A"/>
                </a:solidFill>
                <a:latin typeface="Helvetica Neue"/>
                <a:ea typeface="Helvetica Neue"/>
                <a:cs typeface="Helvetica Neue"/>
              </a:defRPr>
            </a:pPr>
            <a:r>
              <a:rPr sz="2700" b="1">
                <a:solidFill>
                  <a:srgbClr val="15324A"/>
                </a:solidFill>
                <a:latin typeface="Helvetica Neue"/>
                <a:ea typeface="Helvetica Neue"/>
                <a:cs typeface="Helvetica Neue"/>
              </a:rPr>
              <a:t>Initiating Transfusion Therapy — continued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01A2D231-91C7-4424-A498-9865C523E8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1257300"/>
            <a:ext cx="88582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91111"/>
          </a:bodyPr>
          <a:lstStyle xmlns:a="http://schemas.openxmlformats.org/drawingml/2006/main">
            <a:defPPr>
              <a:defRPr sz="1125" b="1">
                <a:solidFill>
                  <a:srgbClr val="237B82"/>
                </a:solidFill>
                <a:latin typeface="Helvetica Neue"/>
                <a:ea typeface="Helvetica Neue"/>
                <a:cs typeface="Helvetica Neue"/>
              </a:defRPr>
            </a:defPPr>
            <a:lvl1pPr>
              <a:defRPr sz="1125" b="1">
                <a:solidFill>
                  <a:srgbClr val="237B82"/>
                </a:solidFill>
                <a:latin typeface="Helvetica Neue"/>
                <a:ea typeface="Helvetica Neue"/>
                <a:cs typeface="Helvetica Neue"/>
              </a:defRPr>
            </a:lvl1pPr>
            <a:lvl2pPr>
              <a:defRPr sz="1125" b="1">
                <a:solidFill>
                  <a:srgbClr val="237B82"/>
                </a:solidFill>
                <a:latin typeface="Helvetica Neue"/>
                <a:ea typeface="Helvetica Neue"/>
                <a:cs typeface="Helvetica Neue"/>
              </a:defRPr>
            </a:lvl2pPr>
            <a:lvl3pPr>
              <a:defRPr sz="1125" b="1">
                <a:solidFill>
                  <a:srgbClr val="237B82"/>
                </a:solidFill>
                <a:latin typeface="Helvetica Neue"/>
                <a:ea typeface="Helvetica Neue"/>
                <a:cs typeface="Helvetica Neue"/>
              </a:defRPr>
            </a:lvl3pPr>
            <a:lvl4pPr>
              <a:defRPr sz="1125" b="1">
                <a:solidFill>
                  <a:srgbClr val="237B82"/>
                </a:solidFill>
                <a:latin typeface="Helvetica Neue"/>
                <a:ea typeface="Helvetica Neue"/>
                <a:cs typeface="Helvetica Neue"/>
              </a:defRPr>
            </a:lvl4pPr>
            <a:lvl5pPr>
              <a:defRPr sz="1125" b="1">
                <a:solidFill>
                  <a:srgbClr val="237B82"/>
                </a:solidFill>
                <a:latin typeface="Helvetica Neue"/>
                <a:ea typeface="Helvetica Neue"/>
                <a:cs typeface="Helvetica Neue"/>
              </a:defRPr>
            </a:lvl5pPr>
            <a:lvl6pPr>
              <a:defRPr sz="1125" b="1">
                <a:solidFill>
                  <a:srgbClr val="237B82"/>
                </a:solidFill>
                <a:latin typeface="Helvetica Neue"/>
                <a:ea typeface="Helvetica Neue"/>
                <a:cs typeface="Helvetica Neue"/>
              </a:defRPr>
            </a:lvl6pPr>
            <a:lvl7pPr>
              <a:defRPr sz="1125" b="1">
                <a:solidFill>
                  <a:srgbClr val="237B82"/>
                </a:solidFill>
                <a:latin typeface="Helvetica Neue"/>
                <a:ea typeface="Helvetica Neue"/>
                <a:cs typeface="Helvetica Neue"/>
              </a:defRPr>
            </a:lvl7pPr>
            <a:lvl8pPr>
              <a:defRPr sz="1125" b="1">
                <a:solidFill>
                  <a:srgbClr val="237B82"/>
                </a:solidFill>
                <a:latin typeface="Helvetica Neue"/>
                <a:ea typeface="Helvetica Neue"/>
                <a:cs typeface="Helvetica Neue"/>
              </a:defRPr>
            </a:lvl8pPr>
            <a:lvl9pPr>
              <a:defRPr sz="1125" b="1">
                <a:solidFill>
                  <a:srgbClr val="237B82"/>
                </a:solidFill>
                <a:latin typeface="Helvetica Neue"/>
                <a:ea typeface="Helvetica Neue"/>
                <a:cs typeface="Helvetica Neue"/>
              </a:defRPr>
            </a:lvl9pPr>
          </a:lstStyle>
          <a:p xmlns:a="http://schemas.openxmlformats.org/drawingml/2006/main">
            <a:pPr>
              <a:defRPr sz="1125" b="1">
                <a:solidFill>
                  <a:srgbClr val="237B82"/>
                </a:solidFill>
                <a:latin typeface="Helvetica Neue"/>
                <a:ea typeface="Helvetica Neue"/>
                <a:cs typeface="Helvetica Neue"/>
              </a:defRPr>
            </a:pPr>
            <a:r>
              <a:rPr sz="1125" b="1">
                <a:solidFill>
                  <a:srgbClr val="237B82"/>
                </a:solidFill>
                <a:latin typeface="Helvetica Neue"/>
                <a:ea typeface="Helvetica Neue"/>
                <a:cs typeface="Helvetica Neue"/>
              </a:rPr>
              <a:t>MODULE 4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BB66C737-076D-4598-A2A7-F59FE8DF0F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457200"/>
            <a:ext cx="5334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>
            <a:defPPr>
              <a:defRPr sz="1200" b="1">
                <a:solidFill>
                  <a:srgbClr val="237B82"/>
                </a:solidFill>
                <a:latin typeface="Helvetica Neue"/>
                <a:ea typeface="Helvetica Neue"/>
                <a:cs typeface="Helvetica Neue"/>
              </a:defRPr>
            </a:defPPr>
            <a:lvl1pPr>
              <a:defRPr sz="1200" b="1">
                <a:solidFill>
                  <a:srgbClr val="237B82"/>
                </a:solidFill>
                <a:latin typeface="Helvetica Neue"/>
                <a:ea typeface="Helvetica Neue"/>
                <a:cs typeface="Helvetica Neue"/>
              </a:defRPr>
            </a:lvl1pPr>
            <a:lvl2pPr>
              <a:defRPr sz="1200" b="1">
                <a:solidFill>
                  <a:srgbClr val="237B82"/>
                </a:solidFill>
                <a:latin typeface="Helvetica Neue"/>
                <a:ea typeface="Helvetica Neue"/>
                <a:cs typeface="Helvetica Neue"/>
              </a:defRPr>
            </a:lvl2pPr>
            <a:lvl3pPr>
              <a:defRPr sz="1200" b="1">
                <a:solidFill>
                  <a:srgbClr val="237B82"/>
                </a:solidFill>
                <a:latin typeface="Helvetica Neue"/>
                <a:ea typeface="Helvetica Neue"/>
                <a:cs typeface="Helvetica Neue"/>
              </a:defRPr>
            </a:lvl3pPr>
            <a:lvl4pPr>
              <a:defRPr sz="1200" b="1">
                <a:solidFill>
                  <a:srgbClr val="237B82"/>
                </a:solidFill>
                <a:latin typeface="Helvetica Neue"/>
                <a:ea typeface="Helvetica Neue"/>
                <a:cs typeface="Helvetica Neue"/>
              </a:defRPr>
            </a:lvl4pPr>
            <a:lvl5pPr>
              <a:defRPr sz="1200" b="1">
                <a:solidFill>
                  <a:srgbClr val="237B82"/>
                </a:solidFill>
                <a:latin typeface="Helvetica Neue"/>
                <a:ea typeface="Helvetica Neue"/>
                <a:cs typeface="Helvetica Neue"/>
              </a:defRPr>
            </a:lvl5pPr>
            <a:lvl6pPr>
              <a:defRPr sz="1200" b="1">
                <a:solidFill>
                  <a:srgbClr val="237B82"/>
                </a:solidFill>
                <a:latin typeface="Helvetica Neue"/>
                <a:ea typeface="Helvetica Neue"/>
                <a:cs typeface="Helvetica Neue"/>
              </a:defRPr>
            </a:lvl6pPr>
            <a:lvl7pPr>
              <a:defRPr sz="1200" b="1">
                <a:solidFill>
                  <a:srgbClr val="237B82"/>
                </a:solidFill>
                <a:latin typeface="Helvetica Neue"/>
                <a:ea typeface="Helvetica Neue"/>
                <a:cs typeface="Helvetica Neue"/>
              </a:defRPr>
            </a:lvl7pPr>
            <a:lvl8pPr>
              <a:defRPr sz="1200" b="1">
                <a:solidFill>
                  <a:srgbClr val="237B82"/>
                </a:solidFill>
                <a:latin typeface="Helvetica Neue"/>
                <a:ea typeface="Helvetica Neue"/>
                <a:cs typeface="Helvetica Neue"/>
              </a:defRPr>
            </a:lvl8pPr>
            <a:lvl9pPr>
              <a:defRPr sz="1200" b="1">
                <a:solidFill>
                  <a:srgbClr val="237B82"/>
                </a:solidFill>
                <a:latin typeface="Helvetica Neue"/>
                <a:ea typeface="Helvetica Neue"/>
                <a:cs typeface="Helvetica Neue"/>
              </a:defRPr>
            </a:lvl9pPr>
          </a:lstStyle>
          <a:p xmlns:a="http://schemas.openxmlformats.org/drawingml/2006/main">
            <a:pPr>
              <a:defRPr sz="1200" b="1">
                <a:solidFill>
                  <a:srgbClr val="237B82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00" b="1">
                <a:solidFill>
                  <a:srgbClr val="237B82"/>
                </a:solidFill>
                <a:latin typeface="Helvetica Neue"/>
                <a:ea typeface="Helvetica Neue"/>
                <a:cs typeface="Helvetica Neue"/>
              </a:rPr>
              <a:t>41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1A14FB5D-2D98-47DC-8E95-9E7EB468DC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1762125"/>
            <a:ext cx="10287000" cy="409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>
            <a:defPPr>
              <a:defRPr sz="1875">
                <a:solidFill>
                  <a:srgbClr val="13212D"/>
                </a:solidFill>
                <a:latin typeface="Helvetica Neue"/>
                <a:ea typeface="Helvetica Neue"/>
                <a:cs typeface="Helvetica Neue"/>
              </a:defRPr>
            </a:defPPr>
            <a:lvl1pPr>
              <a:defRPr sz="1875">
                <a:solidFill>
                  <a:srgbClr val="13212D"/>
                </a:solidFill>
                <a:latin typeface="Helvetica Neue"/>
                <a:ea typeface="Helvetica Neue"/>
                <a:cs typeface="Helvetica Neue"/>
              </a:defRPr>
            </a:lvl1pPr>
            <a:lvl2pPr>
              <a:defRPr sz="1875">
                <a:solidFill>
                  <a:srgbClr val="13212D"/>
                </a:solidFill>
                <a:latin typeface="Helvetica Neue"/>
                <a:ea typeface="Helvetica Neue"/>
                <a:cs typeface="Helvetica Neue"/>
              </a:defRPr>
            </a:lvl2pPr>
            <a:lvl3pPr>
              <a:defRPr sz="1875">
                <a:solidFill>
                  <a:srgbClr val="13212D"/>
                </a:solidFill>
                <a:latin typeface="Helvetica Neue"/>
                <a:ea typeface="Helvetica Neue"/>
                <a:cs typeface="Helvetica Neue"/>
              </a:defRPr>
            </a:lvl3pPr>
            <a:lvl4pPr>
              <a:defRPr sz="1875">
                <a:solidFill>
                  <a:srgbClr val="13212D"/>
                </a:solidFill>
                <a:latin typeface="Helvetica Neue"/>
                <a:ea typeface="Helvetica Neue"/>
                <a:cs typeface="Helvetica Neue"/>
              </a:defRPr>
            </a:lvl4pPr>
            <a:lvl5pPr>
              <a:defRPr sz="1875">
                <a:solidFill>
                  <a:srgbClr val="13212D"/>
                </a:solidFill>
                <a:latin typeface="Helvetica Neue"/>
                <a:ea typeface="Helvetica Neue"/>
                <a:cs typeface="Helvetica Neue"/>
              </a:defRPr>
            </a:lvl5pPr>
            <a:lvl6pPr>
              <a:defRPr sz="1875">
                <a:solidFill>
                  <a:srgbClr val="13212D"/>
                </a:solidFill>
                <a:latin typeface="Helvetica Neue"/>
                <a:ea typeface="Helvetica Neue"/>
                <a:cs typeface="Helvetica Neue"/>
              </a:defRPr>
            </a:lvl6pPr>
            <a:lvl7pPr>
              <a:defRPr sz="1875">
                <a:solidFill>
                  <a:srgbClr val="13212D"/>
                </a:solidFill>
                <a:latin typeface="Helvetica Neue"/>
                <a:ea typeface="Helvetica Neue"/>
                <a:cs typeface="Helvetica Neue"/>
              </a:defRPr>
            </a:lvl7pPr>
            <a:lvl8pPr>
              <a:defRPr sz="1875">
                <a:solidFill>
                  <a:srgbClr val="13212D"/>
                </a:solidFill>
                <a:latin typeface="Helvetica Neue"/>
                <a:ea typeface="Helvetica Neue"/>
                <a:cs typeface="Helvetica Neue"/>
              </a:defRPr>
            </a:lvl8pPr>
            <a:lvl9pPr>
              <a:defRPr sz="1875">
                <a:solidFill>
                  <a:srgbClr val="13212D"/>
                </a:solidFill>
                <a:latin typeface="Helvetica Neue"/>
                <a:ea typeface="Helvetica Neue"/>
                <a:cs typeface="Helvetica Neue"/>
              </a:defRPr>
            </a:lvl9pPr>
          </a:lstStyle>
          <a:p xmlns:a="http://schemas.openxmlformats.org/drawingml/2006/main">
            <a:pPr marL="279400" indent="-127000">
              <a:spcAft>
                <a:spcPts val="1300"/>
              </a:spcAft>
              <a:buChar char="•"/>
              <a:defRPr sz="1875">
                <a:solidFill>
                  <a:srgbClr val="13212D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75">
                <a:solidFill>
                  <a:srgbClr val="13212D"/>
                </a:solidFill>
                <a:latin typeface="Helvetica Neue"/>
                <a:ea typeface="Helvetica Neue"/>
                <a:cs typeface="Helvetica Neue"/>
              </a:rPr>
              <a:t>Two nurses should verify the following information: 1.</a:t>
            </a:r>
          </a:p>
          <a:p xmlns:a="http://schemas.openxmlformats.org/drawingml/2006/main">
            <a:pPr marL="279400" indent="-127000">
              <a:spcAft>
                <a:spcPts val="1300"/>
              </a:spcAft>
              <a:buChar char="•"/>
              <a:defRPr sz="1875">
                <a:solidFill>
                  <a:srgbClr val="13212D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75">
                <a:solidFill>
                  <a:srgbClr val="13212D"/>
                </a:solidFill>
                <a:latin typeface="Helvetica Neue"/>
                <a:ea typeface="Helvetica Neue"/>
                <a:cs typeface="Helvetica Neue"/>
              </a:rPr>
              <a:t>Check the patient's ABO and Rh factor with the donor ABO and Rh on the blood compatibility tag.</a:t>
            </a:r>
          </a:p>
          <a:p xmlns:a="http://schemas.openxmlformats.org/drawingml/2006/main">
            <a:pPr marL="279400" indent="-127000">
              <a:spcAft>
                <a:spcPts val="1300"/>
              </a:spcAft>
              <a:buChar char="•"/>
              <a:defRPr sz="1875">
                <a:solidFill>
                  <a:srgbClr val="13212D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75">
                <a:solidFill>
                  <a:srgbClr val="13212D"/>
                </a:solidFill>
                <a:latin typeface="Helvetica Neue"/>
                <a:ea typeface="Helvetica Neue"/>
                <a:cs typeface="Helvetica Neue"/>
              </a:rPr>
              <a:t>Verify the blood identification number on the unit of blood with the blood tag.</a:t>
            </a:r>
          </a:p>
          <a:p xmlns:a="http://schemas.openxmlformats.org/drawingml/2006/main">
            <a:pPr marL="279400" indent="-127000">
              <a:spcAft>
                <a:spcPts val="1300"/>
              </a:spcAft>
              <a:buChar char="•"/>
              <a:defRPr sz="1875">
                <a:solidFill>
                  <a:srgbClr val="13212D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75">
                <a:solidFill>
                  <a:srgbClr val="13212D"/>
                </a:solidFill>
                <a:latin typeface="Helvetica Neue"/>
                <a:ea typeface="Helvetica Neue"/>
                <a:cs typeface="Helvetica Neue"/>
              </a:rPr>
              <a:t>Check the name and unit number on the blood tag with the patient's chart.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88006C3E-D2CE-4EA6-B9F5-E30FF1A3C1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6115050"/>
            <a:ext cx="101917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>
            <a:defPPr>
              <a:defRPr sz="1125" b="1">
                <a:solidFill>
                  <a:srgbClr val="B94F3D"/>
                </a:solidFill>
                <a:latin typeface="Helvetica Neue"/>
                <a:ea typeface="Helvetica Neue"/>
                <a:cs typeface="Helvetica Neue"/>
              </a:defRPr>
            </a:defPPr>
            <a:lvl1pPr>
              <a:defRPr sz="1125" b="1">
                <a:solidFill>
                  <a:srgbClr val="B94F3D"/>
                </a:solidFill>
                <a:latin typeface="Helvetica Neue"/>
                <a:ea typeface="Helvetica Neue"/>
                <a:cs typeface="Helvetica Neue"/>
              </a:defRPr>
            </a:lvl1pPr>
            <a:lvl2pPr>
              <a:defRPr sz="1125" b="1">
                <a:solidFill>
                  <a:srgbClr val="B94F3D"/>
                </a:solidFill>
                <a:latin typeface="Helvetica Neue"/>
                <a:ea typeface="Helvetica Neue"/>
                <a:cs typeface="Helvetica Neue"/>
              </a:defRPr>
            </a:lvl2pPr>
            <a:lvl3pPr>
              <a:defRPr sz="1125" b="1">
                <a:solidFill>
                  <a:srgbClr val="B94F3D"/>
                </a:solidFill>
                <a:latin typeface="Helvetica Neue"/>
                <a:ea typeface="Helvetica Neue"/>
                <a:cs typeface="Helvetica Neue"/>
              </a:defRPr>
            </a:lvl3pPr>
            <a:lvl4pPr>
              <a:defRPr sz="1125" b="1">
                <a:solidFill>
                  <a:srgbClr val="B94F3D"/>
                </a:solidFill>
                <a:latin typeface="Helvetica Neue"/>
                <a:ea typeface="Helvetica Neue"/>
                <a:cs typeface="Helvetica Neue"/>
              </a:defRPr>
            </a:lvl4pPr>
            <a:lvl5pPr>
              <a:defRPr sz="1125" b="1">
                <a:solidFill>
                  <a:srgbClr val="B94F3D"/>
                </a:solidFill>
                <a:latin typeface="Helvetica Neue"/>
                <a:ea typeface="Helvetica Neue"/>
                <a:cs typeface="Helvetica Neue"/>
              </a:defRPr>
            </a:lvl5pPr>
            <a:lvl6pPr>
              <a:defRPr sz="1125" b="1">
                <a:solidFill>
                  <a:srgbClr val="B94F3D"/>
                </a:solidFill>
                <a:latin typeface="Helvetica Neue"/>
                <a:ea typeface="Helvetica Neue"/>
                <a:cs typeface="Helvetica Neue"/>
              </a:defRPr>
            </a:lvl6pPr>
            <a:lvl7pPr>
              <a:defRPr sz="1125" b="1">
                <a:solidFill>
                  <a:srgbClr val="B94F3D"/>
                </a:solidFill>
                <a:latin typeface="Helvetica Neue"/>
                <a:ea typeface="Helvetica Neue"/>
                <a:cs typeface="Helvetica Neue"/>
              </a:defRPr>
            </a:lvl7pPr>
            <a:lvl8pPr>
              <a:defRPr sz="1125" b="1">
                <a:solidFill>
                  <a:srgbClr val="B94F3D"/>
                </a:solidFill>
                <a:latin typeface="Helvetica Neue"/>
                <a:ea typeface="Helvetica Neue"/>
                <a:cs typeface="Helvetica Neue"/>
              </a:defRPr>
            </a:lvl8pPr>
            <a:lvl9pPr>
              <a:defRPr sz="1125" b="1">
                <a:solidFill>
                  <a:srgbClr val="B94F3D"/>
                </a:solidFill>
                <a:latin typeface="Helvetica Neue"/>
                <a:ea typeface="Helvetica Neue"/>
                <a:cs typeface="Helvetica Neue"/>
              </a:defRPr>
            </a:lvl9pPr>
          </a:lstStyle>
          <a:p xmlns:a="http://schemas.openxmlformats.org/drawingml/2006/main">
            <a:pPr>
              <a:defRPr sz="1125" b="1">
                <a:solidFill>
                  <a:srgbClr val="B94F3D"/>
                </a:solidFill>
                <a:latin typeface="Helvetica Neue"/>
                <a:ea typeface="Helvetica Neue"/>
                <a:cs typeface="Helvetica Neue"/>
              </a:defRPr>
            </a:pPr>
            <a:r>
              <a:rPr sz="1125" b="1">
                <a:solidFill>
                  <a:srgbClr val="B94F3D"/>
                </a:solidFill>
                <a:latin typeface="Helvetica Neue"/>
                <a:ea typeface="Helvetica Neue"/>
                <a:cs typeface="Helvetica Neue"/>
              </a:rPr>
              <a:t>Use current orders, facility policy, and authorized scope when applying this information.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3D6DC0AD-4B23-4F6B-B71B-CFFD7A3BAE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5772150"/>
            <a:ext cx="101917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97619"/>
          </a:bodyPr>
          <a:lstStyle xmlns:a="http://schemas.openxmlformats.org/drawingml/2006/main">
            <a:defPPr>
              <a:defRPr sz="1050" b="1">
                <a:solidFill>
                  <a:srgbClr val="237B82"/>
                </a:solidFill>
                <a:latin typeface="Helvetica Neue"/>
                <a:ea typeface="Helvetica Neue"/>
                <a:cs typeface="Helvetica Neue"/>
              </a:defRPr>
            </a:defPPr>
            <a:lvl1pPr>
              <a:defRPr sz="1050" b="1">
                <a:solidFill>
                  <a:srgbClr val="237B82"/>
                </a:solidFill>
                <a:latin typeface="Helvetica Neue"/>
                <a:ea typeface="Helvetica Neue"/>
                <a:cs typeface="Helvetica Neue"/>
              </a:defRPr>
            </a:lvl1pPr>
            <a:lvl2pPr>
              <a:defRPr sz="1050" b="1">
                <a:solidFill>
                  <a:srgbClr val="237B82"/>
                </a:solidFill>
                <a:latin typeface="Helvetica Neue"/>
                <a:ea typeface="Helvetica Neue"/>
                <a:cs typeface="Helvetica Neue"/>
              </a:defRPr>
            </a:lvl2pPr>
            <a:lvl3pPr>
              <a:defRPr sz="1050" b="1">
                <a:solidFill>
                  <a:srgbClr val="237B82"/>
                </a:solidFill>
                <a:latin typeface="Helvetica Neue"/>
                <a:ea typeface="Helvetica Neue"/>
                <a:cs typeface="Helvetica Neue"/>
              </a:defRPr>
            </a:lvl3pPr>
            <a:lvl4pPr>
              <a:defRPr sz="1050" b="1">
                <a:solidFill>
                  <a:srgbClr val="237B82"/>
                </a:solidFill>
                <a:latin typeface="Helvetica Neue"/>
                <a:ea typeface="Helvetica Neue"/>
                <a:cs typeface="Helvetica Neue"/>
              </a:defRPr>
            </a:lvl4pPr>
            <a:lvl5pPr>
              <a:defRPr sz="1050" b="1">
                <a:solidFill>
                  <a:srgbClr val="237B82"/>
                </a:solidFill>
                <a:latin typeface="Helvetica Neue"/>
                <a:ea typeface="Helvetica Neue"/>
                <a:cs typeface="Helvetica Neue"/>
              </a:defRPr>
            </a:lvl5pPr>
            <a:lvl6pPr>
              <a:defRPr sz="1050" b="1">
                <a:solidFill>
                  <a:srgbClr val="237B82"/>
                </a:solidFill>
                <a:latin typeface="Helvetica Neue"/>
                <a:ea typeface="Helvetica Neue"/>
                <a:cs typeface="Helvetica Neue"/>
              </a:defRPr>
            </a:lvl6pPr>
            <a:lvl7pPr>
              <a:defRPr sz="1050" b="1">
                <a:solidFill>
                  <a:srgbClr val="237B82"/>
                </a:solidFill>
                <a:latin typeface="Helvetica Neue"/>
                <a:ea typeface="Helvetica Neue"/>
                <a:cs typeface="Helvetica Neue"/>
              </a:defRPr>
            </a:lvl7pPr>
            <a:lvl8pPr>
              <a:defRPr sz="1050" b="1">
                <a:solidFill>
                  <a:srgbClr val="237B82"/>
                </a:solidFill>
                <a:latin typeface="Helvetica Neue"/>
                <a:ea typeface="Helvetica Neue"/>
                <a:cs typeface="Helvetica Neue"/>
              </a:defRPr>
            </a:lvl8pPr>
            <a:lvl9pPr>
              <a:defRPr sz="1050" b="1">
                <a:solidFill>
                  <a:srgbClr val="237B82"/>
                </a:solidFill>
                <a:latin typeface="Helvetica Neue"/>
                <a:ea typeface="Helvetica Neue"/>
                <a:cs typeface="Helvetica Neue"/>
              </a:defRPr>
            </a:lvl9pPr>
          </a:lstStyle>
          <a:p xmlns:a="http://schemas.openxmlformats.org/drawingml/2006/main">
            <a:pPr>
              <a:defRPr sz="1050" b="1">
                <a:solidFill>
                  <a:srgbClr val="237B82"/>
                </a:solidFill>
                <a:latin typeface="Helvetica Neue"/>
                <a:ea typeface="Helvetica Neue"/>
                <a:cs typeface="Helvetica Neue"/>
              </a:defRPr>
            </a:pPr>
            <a:r>
              <a:rPr sz="1050" b="1">
                <a:solidFill>
                  <a:srgbClr val="237B82"/>
                </a:solidFill>
                <a:latin typeface="Helvetica Neue"/>
                <a:ea typeface="Helvetica Neue"/>
                <a:cs typeface="Helvetica Neue"/>
              </a:rPr>
              <a:t>Manual page 56</a:t>
            </a:r>
          </a:p>
        </p:txBody>
      </p:sp>
    </p:spTree>
    <p:extLst>
      <p:ext uri="{BB962C8B-B14F-4D97-AF65-F5344CB8AC3E}">
        <p14:creationId xmlns:p14="http://schemas.microsoft.com/office/powerpoint/2010/main" val="257624348"/>
      </p:ext>
    </p:extLst>
  </p:cSld>
</p:sld>
</file>

<file path=ppt/slides/slide42.xml><?xml version="1.0" encoding="utf-8"?>
<p:sld xmlns:p="http://schemas.openxmlformats.org/presentationml/2006/main">
  <p:cSld>
    <p:bg>
      <p:bgPr>
        <a:solidFill xmlns:a="http://schemas.openxmlformats.org/drawingml/2006/main">
          <a:srgbClr val="F7F4EE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A3D41E1A-D0F4-4BFD-A7F6-863030FC84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2095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37B82"/>
          </a:solidFill>
          <a:ln xmlns:a="http://schemas.openxmlformats.org/drawingml/2006/main" w="0">
            <a:solidFill>
              <a:srgbClr val="237B82"/>
            </a:solidFill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E6DD6042-F0B5-422A-B1A7-DF501ED980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00050"/>
            <a:ext cx="10001250" cy="819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>
            <a:defPPr>
              <a:defRPr sz="2700" b="1">
                <a:solidFill>
                  <a:srgbClr val="15324A"/>
                </a:solidFill>
                <a:latin typeface="Helvetica Neue"/>
                <a:ea typeface="Helvetica Neue"/>
                <a:cs typeface="Helvetica Neue"/>
              </a:defRPr>
            </a:defPPr>
            <a:lvl1pPr>
              <a:defRPr sz="2700" b="1">
                <a:solidFill>
                  <a:srgbClr val="15324A"/>
                </a:solidFill>
                <a:latin typeface="Helvetica Neue"/>
                <a:ea typeface="Helvetica Neue"/>
                <a:cs typeface="Helvetica Neue"/>
              </a:defRPr>
            </a:lvl1pPr>
            <a:lvl2pPr>
              <a:defRPr sz="2700" b="1">
                <a:solidFill>
                  <a:srgbClr val="15324A"/>
                </a:solidFill>
                <a:latin typeface="Helvetica Neue"/>
                <a:ea typeface="Helvetica Neue"/>
                <a:cs typeface="Helvetica Neue"/>
              </a:defRPr>
            </a:lvl2pPr>
            <a:lvl3pPr>
              <a:defRPr sz="2700" b="1">
                <a:solidFill>
                  <a:srgbClr val="15324A"/>
                </a:solidFill>
                <a:latin typeface="Helvetica Neue"/>
                <a:ea typeface="Helvetica Neue"/>
                <a:cs typeface="Helvetica Neue"/>
              </a:defRPr>
            </a:lvl3pPr>
            <a:lvl4pPr>
              <a:defRPr sz="2700" b="1">
                <a:solidFill>
                  <a:srgbClr val="15324A"/>
                </a:solidFill>
                <a:latin typeface="Helvetica Neue"/>
                <a:ea typeface="Helvetica Neue"/>
                <a:cs typeface="Helvetica Neue"/>
              </a:defRPr>
            </a:lvl4pPr>
            <a:lvl5pPr>
              <a:defRPr sz="2700" b="1">
                <a:solidFill>
                  <a:srgbClr val="15324A"/>
                </a:solidFill>
                <a:latin typeface="Helvetica Neue"/>
                <a:ea typeface="Helvetica Neue"/>
                <a:cs typeface="Helvetica Neue"/>
              </a:defRPr>
            </a:lvl5pPr>
            <a:lvl6pPr>
              <a:defRPr sz="2700" b="1">
                <a:solidFill>
                  <a:srgbClr val="15324A"/>
                </a:solidFill>
                <a:latin typeface="Helvetica Neue"/>
                <a:ea typeface="Helvetica Neue"/>
                <a:cs typeface="Helvetica Neue"/>
              </a:defRPr>
            </a:lvl6pPr>
            <a:lvl7pPr>
              <a:defRPr sz="2700" b="1">
                <a:solidFill>
                  <a:srgbClr val="15324A"/>
                </a:solidFill>
                <a:latin typeface="Helvetica Neue"/>
                <a:ea typeface="Helvetica Neue"/>
                <a:cs typeface="Helvetica Neue"/>
              </a:defRPr>
            </a:lvl7pPr>
            <a:lvl8pPr>
              <a:defRPr sz="2700" b="1">
                <a:solidFill>
                  <a:srgbClr val="15324A"/>
                </a:solidFill>
                <a:latin typeface="Helvetica Neue"/>
                <a:ea typeface="Helvetica Neue"/>
                <a:cs typeface="Helvetica Neue"/>
              </a:defRPr>
            </a:lvl8pPr>
            <a:lvl9pPr>
              <a:defRPr sz="2700" b="1">
                <a:solidFill>
                  <a:srgbClr val="15324A"/>
                </a:solidFill>
                <a:latin typeface="Helvetica Neue"/>
                <a:ea typeface="Helvetica Neue"/>
                <a:cs typeface="Helvetica Neue"/>
              </a:defRPr>
            </a:lvl9pPr>
          </a:lstStyle>
          <a:p xmlns:a="http://schemas.openxmlformats.org/drawingml/2006/main">
            <a:pPr>
              <a:defRPr sz="2700" b="1">
                <a:solidFill>
                  <a:srgbClr val="15324A"/>
                </a:solidFill>
                <a:latin typeface="Helvetica Neue"/>
                <a:ea typeface="Helvetica Neue"/>
                <a:cs typeface="Helvetica Neue"/>
              </a:defRPr>
            </a:pPr>
            <a:r>
              <a:rPr sz="2700" b="1">
                <a:solidFill>
                  <a:srgbClr val="15324A"/>
                </a:solidFill>
                <a:latin typeface="Helvetica Neue"/>
                <a:ea typeface="Helvetica Neue"/>
                <a:cs typeface="Helvetica Neue"/>
              </a:rPr>
              <a:t>Initiating Transfusion Therapy — continued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6C75DBB2-8597-41CE-A24D-5BFCF2D0BD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1257300"/>
            <a:ext cx="88582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91111"/>
          </a:bodyPr>
          <a:lstStyle xmlns:a="http://schemas.openxmlformats.org/drawingml/2006/main">
            <a:defPPr>
              <a:defRPr sz="1125" b="1">
                <a:solidFill>
                  <a:srgbClr val="237B82"/>
                </a:solidFill>
                <a:latin typeface="Helvetica Neue"/>
                <a:ea typeface="Helvetica Neue"/>
                <a:cs typeface="Helvetica Neue"/>
              </a:defRPr>
            </a:defPPr>
            <a:lvl1pPr>
              <a:defRPr sz="1125" b="1">
                <a:solidFill>
                  <a:srgbClr val="237B82"/>
                </a:solidFill>
                <a:latin typeface="Helvetica Neue"/>
                <a:ea typeface="Helvetica Neue"/>
                <a:cs typeface="Helvetica Neue"/>
              </a:defRPr>
            </a:lvl1pPr>
            <a:lvl2pPr>
              <a:defRPr sz="1125" b="1">
                <a:solidFill>
                  <a:srgbClr val="237B82"/>
                </a:solidFill>
                <a:latin typeface="Helvetica Neue"/>
                <a:ea typeface="Helvetica Neue"/>
                <a:cs typeface="Helvetica Neue"/>
              </a:defRPr>
            </a:lvl2pPr>
            <a:lvl3pPr>
              <a:defRPr sz="1125" b="1">
                <a:solidFill>
                  <a:srgbClr val="237B82"/>
                </a:solidFill>
                <a:latin typeface="Helvetica Neue"/>
                <a:ea typeface="Helvetica Neue"/>
                <a:cs typeface="Helvetica Neue"/>
              </a:defRPr>
            </a:lvl3pPr>
            <a:lvl4pPr>
              <a:defRPr sz="1125" b="1">
                <a:solidFill>
                  <a:srgbClr val="237B82"/>
                </a:solidFill>
                <a:latin typeface="Helvetica Neue"/>
                <a:ea typeface="Helvetica Neue"/>
                <a:cs typeface="Helvetica Neue"/>
              </a:defRPr>
            </a:lvl4pPr>
            <a:lvl5pPr>
              <a:defRPr sz="1125" b="1">
                <a:solidFill>
                  <a:srgbClr val="237B82"/>
                </a:solidFill>
                <a:latin typeface="Helvetica Neue"/>
                <a:ea typeface="Helvetica Neue"/>
                <a:cs typeface="Helvetica Neue"/>
              </a:defRPr>
            </a:lvl5pPr>
            <a:lvl6pPr>
              <a:defRPr sz="1125" b="1">
                <a:solidFill>
                  <a:srgbClr val="237B82"/>
                </a:solidFill>
                <a:latin typeface="Helvetica Neue"/>
                <a:ea typeface="Helvetica Neue"/>
                <a:cs typeface="Helvetica Neue"/>
              </a:defRPr>
            </a:lvl6pPr>
            <a:lvl7pPr>
              <a:defRPr sz="1125" b="1">
                <a:solidFill>
                  <a:srgbClr val="237B82"/>
                </a:solidFill>
                <a:latin typeface="Helvetica Neue"/>
                <a:ea typeface="Helvetica Neue"/>
                <a:cs typeface="Helvetica Neue"/>
              </a:defRPr>
            </a:lvl7pPr>
            <a:lvl8pPr>
              <a:defRPr sz="1125" b="1">
                <a:solidFill>
                  <a:srgbClr val="237B82"/>
                </a:solidFill>
                <a:latin typeface="Helvetica Neue"/>
                <a:ea typeface="Helvetica Neue"/>
                <a:cs typeface="Helvetica Neue"/>
              </a:defRPr>
            </a:lvl8pPr>
            <a:lvl9pPr>
              <a:defRPr sz="1125" b="1">
                <a:solidFill>
                  <a:srgbClr val="237B82"/>
                </a:solidFill>
                <a:latin typeface="Helvetica Neue"/>
                <a:ea typeface="Helvetica Neue"/>
                <a:cs typeface="Helvetica Neue"/>
              </a:defRPr>
            </a:lvl9pPr>
          </a:lstStyle>
          <a:p xmlns:a="http://schemas.openxmlformats.org/drawingml/2006/main">
            <a:pPr>
              <a:defRPr sz="1125" b="1">
                <a:solidFill>
                  <a:srgbClr val="237B82"/>
                </a:solidFill>
                <a:latin typeface="Helvetica Neue"/>
                <a:ea typeface="Helvetica Neue"/>
                <a:cs typeface="Helvetica Neue"/>
              </a:defRPr>
            </a:pPr>
            <a:r>
              <a:rPr sz="1125" b="1">
                <a:solidFill>
                  <a:srgbClr val="237B82"/>
                </a:solidFill>
                <a:latin typeface="Helvetica Neue"/>
                <a:ea typeface="Helvetica Neue"/>
                <a:cs typeface="Helvetica Neue"/>
              </a:rPr>
              <a:t>MODULE 4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011498F7-8829-49A1-94BC-5AC2D71DB3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457200"/>
            <a:ext cx="5334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>
            <a:defPPr>
              <a:defRPr sz="1200" b="1">
                <a:solidFill>
                  <a:srgbClr val="237B82"/>
                </a:solidFill>
                <a:latin typeface="Helvetica Neue"/>
                <a:ea typeface="Helvetica Neue"/>
                <a:cs typeface="Helvetica Neue"/>
              </a:defRPr>
            </a:defPPr>
            <a:lvl1pPr>
              <a:defRPr sz="1200" b="1">
                <a:solidFill>
                  <a:srgbClr val="237B82"/>
                </a:solidFill>
                <a:latin typeface="Helvetica Neue"/>
                <a:ea typeface="Helvetica Neue"/>
                <a:cs typeface="Helvetica Neue"/>
              </a:defRPr>
            </a:lvl1pPr>
            <a:lvl2pPr>
              <a:defRPr sz="1200" b="1">
                <a:solidFill>
                  <a:srgbClr val="237B82"/>
                </a:solidFill>
                <a:latin typeface="Helvetica Neue"/>
                <a:ea typeface="Helvetica Neue"/>
                <a:cs typeface="Helvetica Neue"/>
              </a:defRPr>
            </a:lvl2pPr>
            <a:lvl3pPr>
              <a:defRPr sz="1200" b="1">
                <a:solidFill>
                  <a:srgbClr val="237B82"/>
                </a:solidFill>
                <a:latin typeface="Helvetica Neue"/>
                <a:ea typeface="Helvetica Neue"/>
                <a:cs typeface="Helvetica Neue"/>
              </a:defRPr>
            </a:lvl3pPr>
            <a:lvl4pPr>
              <a:defRPr sz="1200" b="1">
                <a:solidFill>
                  <a:srgbClr val="237B82"/>
                </a:solidFill>
                <a:latin typeface="Helvetica Neue"/>
                <a:ea typeface="Helvetica Neue"/>
                <a:cs typeface="Helvetica Neue"/>
              </a:defRPr>
            </a:lvl4pPr>
            <a:lvl5pPr>
              <a:defRPr sz="1200" b="1">
                <a:solidFill>
                  <a:srgbClr val="237B82"/>
                </a:solidFill>
                <a:latin typeface="Helvetica Neue"/>
                <a:ea typeface="Helvetica Neue"/>
                <a:cs typeface="Helvetica Neue"/>
              </a:defRPr>
            </a:lvl5pPr>
            <a:lvl6pPr>
              <a:defRPr sz="1200" b="1">
                <a:solidFill>
                  <a:srgbClr val="237B82"/>
                </a:solidFill>
                <a:latin typeface="Helvetica Neue"/>
                <a:ea typeface="Helvetica Neue"/>
                <a:cs typeface="Helvetica Neue"/>
              </a:defRPr>
            </a:lvl6pPr>
            <a:lvl7pPr>
              <a:defRPr sz="1200" b="1">
                <a:solidFill>
                  <a:srgbClr val="237B82"/>
                </a:solidFill>
                <a:latin typeface="Helvetica Neue"/>
                <a:ea typeface="Helvetica Neue"/>
                <a:cs typeface="Helvetica Neue"/>
              </a:defRPr>
            </a:lvl7pPr>
            <a:lvl8pPr>
              <a:defRPr sz="1200" b="1">
                <a:solidFill>
                  <a:srgbClr val="237B82"/>
                </a:solidFill>
                <a:latin typeface="Helvetica Neue"/>
                <a:ea typeface="Helvetica Neue"/>
                <a:cs typeface="Helvetica Neue"/>
              </a:defRPr>
            </a:lvl8pPr>
            <a:lvl9pPr>
              <a:defRPr sz="1200" b="1">
                <a:solidFill>
                  <a:srgbClr val="237B82"/>
                </a:solidFill>
                <a:latin typeface="Helvetica Neue"/>
                <a:ea typeface="Helvetica Neue"/>
                <a:cs typeface="Helvetica Neue"/>
              </a:defRPr>
            </a:lvl9pPr>
          </a:lstStyle>
          <a:p xmlns:a="http://schemas.openxmlformats.org/drawingml/2006/main">
            <a:pPr>
              <a:defRPr sz="1200" b="1">
                <a:solidFill>
                  <a:srgbClr val="237B82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00" b="1">
                <a:solidFill>
                  <a:srgbClr val="237B82"/>
                </a:solidFill>
                <a:latin typeface="Helvetica Neue"/>
                <a:ea typeface="Helvetica Neue"/>
                <a:cs typeface="Helvetica Neue"/>
              </a:rPr>
              <a:t>42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F2D3FFE2-36C8-4C76-8B0B-97F6DE0E15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1762125"/>
            <a:ext cx="10287000" cy="409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>
            <a:defPPr>
              <a:defRPr sz="1875">
                <a:solidFill>
                  <a:srgbClr val="13212D"/>
                </a:solidFill>
                <a:latin typeface="Helvetica Neue"/>
                <a:ea typeface="Helvetica Neue"/>
                <a:cs typeface="Helvetica Neue"/>
              </a:defRPr>
            </a:defPPr>
            <a:lvl1pPr>
              <a:defRPr sz="1875">
                <a:solidFill>
                  <a:srgbClr val="13212D"/>
                </a:solidFill>
                <a:latin typeface="Helvetica Neue"/>
                <a:ea typeface="Helvetica Neue"/>
                <a:cs typeface="Helvetica Neue"/>
              </a:defRPr>
            </a:lvl1pPr>
            <a:lvl2pPr>
              <a:defRPr sz="1875">
                <a:solidFill>
                  <a:srgbClr val="13212D"/>
                </a:solidFill>
                <a:latin typeface="Helvetica Neue"/>
                <a:ea typeface="Helvetica Neue"/>
                <a:cs typeface="Helvetica Neue"/>
              </a:defRPr>
            </a:lvl2pPr>
            <a:lvl3pPr>
              <a:defRPr sz="1875">
                <a:solidFill>
                  <a:srgbClr val="13212D"/>
                </a:solidFill>
                <a:latin typeface="Helvetica Neue"/>
                <a:ea typeface="Helvetica Neue"/>
                <a:cs typeface="Helvetica Neue"/>
              </a:defRPr>
            </a:lvl3pPr>
            <a:lvl4pPr>
              <a:defRPr sz="1875">
                <a:solidFill>
                  <a:srgbClr val="13212D"/>
                </a:solidFill>
                <a:latin typeface="Helvetica Neue"/>
                <a:ea typeface="Helvetica Neue"/>
                <a:cs typeface="Helvetica Neue"/>
              </a:defRPr>
            </a:lvl4pPr>
            <a:lvl5pPr>
              <a:defRPr sz="1875">
                <a:solidFill>
                  <a:srgbClr val="13212D"/>
                </a:solidFill>
                <a:latin typeface="Helvetica Neue"/>
                <a:ea typeface="Helvetica Neue"/>
                <a:cs typeface="Helvetica Neue"/>
              </a:defRPr>
            </a:lvl5pPr>
            <a:lvl6pPr>
              <a:defRPr sz="1875">
                <a:solidFill>
                  <a:srgbClr val="13212D"/>
                </a:solidFill>
                <a:latin typeface="Helvetica Neue"/>
                <a:ea typeface="Helvetica Neue"/>
                <a:cs typeface="Helvetica Neue"/>
              </a:defRPr>
            </a:lvl6pPr>
            <a:lvl7pPr>
              <a:defRPr sz="1875">
                <a:solidFill>
                  <a:srgbClr val="13212D"/>
                </a:solidFill>
                <a:latin typeface="Helvetica Neue"/>
                <a:ea typeface="Helvetica Neue"/>
                <a:cs typeface="Helvetica Neue"/>
              </a:defRPr>
            </a:lvl7pPr>
            <a:lvl8pPr>
              <a:defRPr sz="1875">
                <a:solidFill>
                  <a:srgbClr val="13212D"/>
                </a:solidFill>
                <a:latin typeface="Helvetica Neue"/>
                <a:ea typeface="Helvetica Neue"/>
                <a:cs typeface="Helvetica Neue"/>
              </a:defRPr>
            </a:lvl8pPr>
            <a:lvl9pPr>
              <a:defRPr sz="1875">
                <a:solidFill>
                  <a:srgbClr val="13212D"/>
                </a:solidFill>
                <a:latin typeface="Helvetica Neue"/>
                <a:ea typeface="Helvetica Neue"/>
                <a:cs typeface="Helvetica Neue"/>
              </a:defRPr>
            </a:lvl9pPr>
          </a:lstStyle>
          <a:p xmlns:a="http://schemas.openxmlformats.org/drawingml/2006/main">
            <a:pPr marL="279400" indent="-127000">
              <a:spcAft>
                <a:spcPts val="1300"/>
              </a:spcAft>
              <a:buChar char="•"/>
              <a:defRPr sz="1875">
                <a:solidFill>
                  <a:srgbClr val="13212D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75">
                <a:solidFill>
                  <a:srgbClr val="13212D"/>
                </a:solidFill>
                <a:latin typeface="Helvetica Neue"/>
                <a:ea typeface="Helvetica Neue"/>
                <a:cs typeface="Helvetica Neue"/>
              </a:rPr>
              <a:t>The unit of blood is then brought to the patient's bedside.</a:t>
            </a:r>
          </a:p>
          <a:p xmlns:a="http://schemas.openxmlformats.org/drawingml/2006/main">
            <a:pPr marL="279400" indent="-127000">
              <a:spcAft>
                <a:spcPts val="1300"/>
              </a:spcAft>
              <a:buChar char="•"/>
              <a:defRPr sz="1875">
                <a:solidFill>
                  <a:srgbClr val="13212D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75">
                <a:solidFill>
                  <a:srgbClr val="13212D"/>
                </a:solidFill>
                <a:latin typeface="Helvetica Neue"/>
                <a:ea typeface="Helvetica Neue"/>
                <a:cs typeface="Helvetica Neue"/>
              </a:rPr>
              <a:t>The patient is asked to identify himself by stating his full name.</a:t>
            </a:r>
          </a:p>
          <a:p xmlns:a="http://schemas.openxmlformats.org/drawingml/2006/main">
            <a:pPr marL="279400" indent="-127000">
              <a:spcAft>
                <a:spcPts val="1300"/>
              </a:spcAft>
              <a:buChar char="•"/>
              <a:defRPr sz="1875">
                <a:solidFill>
                  <a:srgbClr val="13212D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75">
                <a:solidFill>
                  <a:srgbClr val="13212D"/>
                </a:solidFill>
                <a:latin typeface="Helvetica Neue"/>
                <a:ea typeface="Helvetica Neue"/>
                <a:cs typeface="Helvetica Neue"/>
              </a:rPr>
              <a:t>The hospital number on the unit of blood tag must match the hospital numbers on the patient's identification bracelet.</a:t>
            </a:r>
          </a:p>
          <a:p xmlns:a="http://schemas.openxmlformats.org/drawingml/2006/main">
            <a:pPr marL="279400" indent="-127000">
              <a:spcAft>
                <a:spcPts val="1300"/>
              </a:spcAft>
              <a:buChar char="•"/>
              <a:defRPr sz="1875">
                <a:solidFill>
                  <a:srgbClr val="13212D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75">
                <a:solidFill>
                  <a:srgbClr val="13212D"/>
                </a:solidFill>
                <a:latin typeface="Helvetica Neue"/>
                <a:ea typeface="Helvetica Neue"/>
                <a:cs typeface="Helvetica Neue"/>
              </a:rPr>
              <a:t>Some institutions use crossmatch bracelets to identify type and Rh of patients prepared to receive blood.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35C67976-C425-42EF-B2FE-2F4E9D5E6C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6115050"/>
            <a:ext cx="101917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>
            <a:defPPr>
              <a:defRPr sz="1125" b="1">
                <a:solidFill>
                  <a:srgbClr val="B94F3D"/>
                </a:solidFill>
                <a:latin typeface="Helvetica Neue"/>
                <a:ea typeface="Helvetica Neue"/>
                <a:cs typeface="Helvetica Neue"/>
              </a:defRPr>
            </a:defPPr>
            <a:lvl1pPr>
              <a:defRPr sz="1125" b="1">
                <a:solidFill>
                  <a:srgbClr val="B94F3D"/>
                </a:solidFill>
                <a:latin typeface="Helvetica Neue"/>
                <a:ea typeface="Helvetica Neue"/>
                <a:cs typeface="Helvetica Neue"/>
              </a:defRPr>
            </a:lvl1pPr>
            <a:lvl2pPr>
              <a:defRPr sz="1125" b="1">
                <a:solidFill>
                  <a:srgbClr val="B94F3D"/>
                </a:solidFill>
                <a:latin typeface="Helvetica Neue"/>
                <a:ea typeface="Helvetica Neue"/>
                <a:cs typeface="Helvetica Neue"/>
              </a:defRPr>
            </a:lvl2pPr>
            <a:lvl3pPr>
              <a:defRPr sz="1125" b="1">
                <a:solidFill>
                  <a:srgbClr val="B94F3D"/>
                </a:solidFill>
                <a:latin typeface="Helvetica Neue"/>
                <a:ea typeface="Helvetica Neue"/>
                <a:cs typeface="Helvetica Neue"/>
              </a:defRPr>
            </a:lvl3pPr>
            <a:lvl4pPr>
              <a:defRPr sz="1125" b="1">
                <a:solidFill>
                  <a:srgbClr val="B94F3D"/>
                </a:solidFill>
                <a:latin typeface="Helvetica Neue"/>
                <a:ea typeface="Helvetica Neue"/>
                <a:cs typeface="Helvetica Neue"/>
              </a:defRPr>
            </a:lvl4pPr>
            <a:lvl5pPr>
              <a:defRPr sz="1125" b="1">
                <a:solidFill>
                  <a:srgbClr val="B94F3D"/>
                </a:solidFill>
                <a:latin typeface="Helvetica Neue"/>
                <a:ea typeface="Helvetica Neue"/>
                <a:cs typeface="Helvetica Neue"/>
              </a:defRPr>
            </a:lvl5pPr>
            <a:lvl6pPr>
              <a:defRPr sz="1125" b="1">
                <a:solidFill>
                  <a:srgbClr val="B94F3D"/>
                </a:solidFill>
                <a:latin typeface="Helvetica Neue"/>
                <a:ea typeface="Helvetica Neue"/>
                <a:cs typeface="Helvetica Neue"/>
              </a:defRPr>
            </a:lvl6pPr>
            <a:lvl7pPr>
              <a:defRPr sz="1125" b="1">
                <a:solidFill>
                  <a:srgbClr val="B94F3D"/>
                </a:solidFill>
                <a:latin typeface="Helvetica Neue"/>
                <a:ea typeface="Helvetica Neue"/>
                <a:cs typeface="Helvetica Neue"/>
              </a:defRPr>
            </a:lvl7pPr>
            <a:lvl8pPr>
              <a:defRPr sz="1125" b="1">
                <a:solidFill>
                  <a:srgbClr val="B94F3D"/>
                </a:solidFill>
                <a:latin typeface="Helvetica Neue"/>
                <a:ea typeface="Helvetica Neue"/>
                <a:cs typeface="Helvetica Neue"/>
              </a:defRPr>
            </a:lvl8pPr>
            <a:lvl9pPr>
              <a:defRPr sz="1125" b="1">
                <a:solidFill>
                  <a:srgbClr val="B94F3D"/>
                </a:solidFill>
                <a:latin typeface="Helvetica Neue"/>
                <a:ea typeface="Helvetica Neue"/>
                <a:cs typeface="Helvetica Neue"/>
              </a:defRPr>
            </a:lvl9pPr>
          </a:lstStyle>
          <a:p xmlns:a="http://schemas.openxmlformats.org/drawingml/2006/main">
            <a:pPr>
              <a:defRPr sz="1125" b="1">
                <a:solidFill>
                  <a:srgbClr val="B94F3D"/>
                </a:solidFill>
                <a:latin typeface="Helvetica Neue"/>
                <a:ea typeface="Helvetica Neue"/>
                <a:cs typeface="Helvetica Neue"/>
              </a:defRPr>
            </a:pPr>
            <a:r>
              <a:rPr sz="1125" b="1">
                <a:solidFill>
                  <a:srgbClr val="B94F3D"/>
                </a:solidFill>
                <a:latin typeface="Helvetica Neue"/>
                <a:ea typeface="Helvetica Neue"/>
                <a:cs typeface="Helvetica Neue"/>
              </a:rPr>
              <a:t>Use current orders, facility policy, and authorized scope when applying this information.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4040620C-AF4D-426B-9393-AB7CD638BC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5772150"/>
            <a:ext cx="101917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97619"/>
          </a:bodyPr>
          <a:lstStyle xmlns:a="http://schemas.openxmlformats.org/drawingml/2006/main">
            <a:defPPr>
              <a:defRPr sz="1050" b="1">
                <a:solidFill>
                  <a:srgbClr val="237B82"/>
                </a:solidFill>
                <a:latin typeface="Helvetica Neue"/>
                <a:ea typeface="Helvetica Neue"/>
                <a:cs typeface="Helvetica Neue"/>
              </a:defRPr>
            </a:defPPr>
            <a:lvl1pPr>
              <a:defRPr sz="1050" b="1">
                <a:solidFill>
                  <a:srgbClr val="237B82"/>
                </a:solidFill>
                <a:latin typeface="Helvetica Neue"/>
                <a:ea typeface="Helvetica Neue"/>
                <a:cs typeface="Helvetica Neue"/>
              </a:defRPr>
            </a:lvl1pPr>
            <a:lvl2pPr>
              <a:defRPr sz="1050" b="1">
                <a:solidFill>
                  <a:srgbClr val="237B82"/>
                </a:solidFill>
                <a:latin typeface="Helvetica Neue"/>
                <a:ea typeface="Helvetica Neue"/>
                <a:cs typeface="Helvetica Neue"/>
              </a:defRPr>
            </a:lvl2pPr>
            <a:lvl3pPr>
              <a:defRPr sz="1050" b="1">
                <a:solidFill>
                  <a:srgbClr val="237B82"/>
                </a:solidFill>
                <a:latin typeface="Helvetica Neue"/>
                <a:ea typeface="Helvetica Neue"/>
                <a:cs typeface="Helvetica Neue"/>
              </a:defRPr>
            </a:lvl3pPr>
            <a:lvl4pPr>
              <a:defRPr sz="1050" b="1">
                <a:solidFill>
                  <a:srgbClr val="237B82"/>
                </a:solidFill>
                <a:latin typeface="Helvetica Neue"/>
                <a:ea typeface="Helvetica Neue"/>
                <a:cs typeface="Helvetica Neue"/>
              </a:defRPr>
            </a:lvl4pPr>
            <a:lvl5pPr>
              <a:defRPr sz="1050" b="1">
                <a:solidFill>
                  <a:srgbClr val="237B82"/>
                </a:solidFill>
                <a:latin typeface="Helvetica Neue"/>
                <a:ea typeface="Helvetica Neue"/>
                <a:cs typeface="Helvetica Neue"/>
              </a:defRPr>
            </a:lvl5pPr>
            <a:lvl6pPr>
              <a:defRPr sz="1050" b="1">
                <a:solidFill>
                  <a:srgbClr val="237B82"/>
                </a:solidFill>
                <a:latin typeface="Helvetica Neue"/>
                <a:ea typeface="Helvetica Neue"/>
                <a:cs typeface="Helvetica Neue"/>
              </a:defRPr>
            </a:lvl6pPr>
            <a:lvl7pPr>
              <a:defRPr sz="1050" b="1">
                <a:solidFill>
                  <a:srgbClr val="237B82"/>
                </a:solidFill>
                <a:latin typeface="Helvetica Neue"/>
                <a:ea typeface="Helvetica Neue"/>
                <a:cs typeface="Helvetica Neue"/>
              </a:defRPr>
            </a:lvl7pPr>
            <a:lvl8pPr>
              <a:defRPr sz="1050" b="1">
                <a:solidFill>
                  <a:srgbClr val="237B82"/>
                </a:solidFill>
                <a:latin typeface="Helvetica Neue"/>
                <a:ea typeface="Helvetica Neue"/>
                <a:cs typeface="Helvetica Neue"/>
              </a:defRPr>
            </a:lvl8pPr>
            <a:lvl9pPr>
              <a:defRPr sz="1050" b="1">
                <a:solidFill>
                  <a:srgbClr val="237B82"/>
                </a:solidFill>
                <a:latin typeface="Helvetica Neue"/>
                <a:ea typeface="Helvetica Neue"/>
                <a:cs typeface="Helvetica Neue"/>
              </a:defRPr>
            </a:lvl9pPr>
          </a:lstStyle>
          <a:p xmlns:a="http://schemas.openxmlformats.org/drawingml/2006/main">
            <a:pPr>
              <a:defRPr sz="1050" b="1">
                <a:solidFill>
                  <a:srgbClr val="237B82"/>
                </a:solidFill>
                <a:latin typeface="Helvetica Neue"/>
                <a:ea typeface="Helvetica Neue"/>
                <a:cs typeface="Helvetica Neue"/>
              </a:defRPr>
            </a:pPr>
            <a:r>
              <a:rPr sz="1050" b="1">
                <a:solidFill>
                  <a:srgbClr val="237B82"/>
                </a:solidFill>
                <a:latin typeface="Helvetica Neue"/>
                <a:ea typeface="Helvetica Neue"/>
                <a:cs typeface="Helvetica Neue"/>
              </a:rPr>
              <a:t>Manual page 56</a:t>
            </a:r>
          </a:p>
        </p:txBody>
      </p:sp>
    </p:spTree>
    <p:extLst>
      <p:ext uri="{BB962C8B-B14F-4D97-AF65-F5344CB8AC3E}">
        <p14:creationId xmlns:p14="http://schemas.microsoft.com/office/powerpoint/2010/main" val="825286541"/>
      </p:ext>
    </p:extLst>
  </p:cSld>
</p:sld>
</file>

<file path=ppt/slides/slide43.xml><?xml version="1.0" encoding="utf-8"?>
<p:sld xmlns:p="http://schemas.openxmlformats.org/presentationml/2006/main">
  <p:cSld>
    <p:bg>
      <p:bgPr>
        <a:solidFill xmlns:a="http://schemas.openxmlformats.org/drawingml/2006/main">
          <a:srgbClr val="F7F4EE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05FFD2BF-BD04-483F-AE16-A986E5DCF3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2095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37B82"/>
          </a:solidFill>
          <a:ln xmlns:a="http://schemas.openxmlformats.org/drawingml/2006/main" w="0">
            <a:solidFill>
              <a:srgbClr val="237B82"/>
            </a:solidFill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75FF4139-355C-4CAD-BC46-B3F7FF021C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00050"/>
            <a:ext cx="10001250" cy="819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>
            <a:defPPr>
              <a:defRPr sz="2700" b="1">
                <a:solidFill>
                  <a:srgbClr val="15324A"/>
                </a:solidFill>
                <a:latin typeface="Helvetica Neue"/>
                <a:ea typeface="Helvetica Neue"/>
                <a:cs typeface="Helvetica Neue"/>
              </a:defRPr>
            </a:defPPr>
            <a:lvl1pPr>
              <a:defRPr sz="2700" b="1">
                <a:solidFill>
                  <a:srgbClr val="15324A"/>
                </a:solidFill>
                <a:latin typeface="Helvetica Neue"/>
                <a:ea typeface="Helvetica Neue"/>
                <a:cs typeface="Helvetica Neue"/>
              </a:defRPr>
            </a:lvl1pPr>
            <a:lvl2pPr>
              <a:defRPr sz="2700" b="1">
                <a:solidFill>
                  <a:srgbClr val="15324A"/>
                </a:solidFill>
                <a:latin typeface="Helvetica Neue"/>
                <a:ea typeface="Helvetica Neue"/>
                <a:cs typeface="Helvetica Neue"/>
              </a:defRPr>
            </a:lvl2pPr>
            <a:lvl3pPr>
              <a:defRPr sz="2700" b="1">
                <a:solidFill>
                  <a:srgbClr val="15324A"/>
                </a:solidFill>
                <a:latin typeface="Helvetica Neue"/>
                <a:ea typeface="Helvetica Neue"/>
                <a:cs typeface="Helvetica Neue"/>
              </a:defRPr>
            </a:lvl3pPr>
            <a:lvl4pPr>
              <a:defRPr sz="2700" b="1">
                <a:solidFill>
                  <a:srgbClr val="15324A"/>
                </a:solidFill>
                <a:latin typeface="Helvetica Neue"/>
                <a:ea typeface="Helvetica Neue"/>
                <a:cs typeface="Helvetica Neue"/>
              </a:defRPr>
            </a:lvl4pPr>
            <a:lvl5pPr>
              <a:defRPr sz="2700" b="1">
                <a:solidFill>
                  <a:srgbClr val="15324A"/>
                </a:solidFill>
                <a:latin typeface="Helvetica Neue"/>
                <a:ea typeface="Helvetica Neue"/>
                <a:cs typeface="Helvetica Neue"/>
              </a:defRPr>
            </a:lvl5pPr>
            <a:lvl6pPr>
              <a:defRPr sz="2700" b="1">
                <a:solidFill>
                  <a:srgbClr val="15324A"/>
                </a:solidFill>
                <a:latin typeface="Helvetica Neue"/>
                <a:ea typeface="Helvetica Neue"/>
                <a:cs typeface="Helvetica Neue"/>
              </a:defRPr>
            </a:lvl6pPr>
            <a:lvl7pPr>
              <a:defRPr sz="2700" b="1">
                <a:solidFill>
                  <a:srgbClr val="15324A"/>
                </a:solidFill>
                <a:latin typeface="Helvetica Neue"/>
                <a:ea typeface="Helvetica Neue"/>
                <a:cs typeface="Helvetica Neue"/>
              </a:defRPr>
            </a:lvl7pPr>
            <a:lvl8pPr>
              <a:defRPr sz="2700" b="1">
                <a:solidFill>
                  <a:srgbClr val="15324A"/>
                </a:solidFill>
                <a:latin typeface="Helvetica Neue"/>
                <a:ea typeface="Helvetica Neue"/>
                <a:cs typeface="Helvetica Neue"/>
              </a:defRPr>
            </a:lvl8pPr>
            <a:lvl9pPr>
              <a:defRPr sz="2700" b="1">
                <a:solidFill>
                  <a:srgbClr val="15324A"/>
                </a:solidFill>
                <a:latin typeface="Helvetica Neue"/>
                <a:ea typeface="Helvetica Neue"/>
                <a:cs typeface="Helvetica Neue"/>
              </a:defRPr>
            </a:lvl9pPr>
          </a:lstStyle>
          <a:p xmlns:a="http://schemas.openxmlformats.org/drawingml/2006/main">
            <a:pPr>
              <a:defRPr sz="2700" b="1">
                <a:solidFill>
                  <a:srgbClr val="15324A"/>
                </a:solidFill>
                <a:latin typeface="Helvetica Neue"/>
                <a:ea typeface="Helvetica Neue"/>
                <a:cs typeface="Helvetica Neue"/>
              </a:defRPr>
            </a:pPr>
            <a:r>
              <a:rPr sz="2700" b="1">
                <a:solidFill>
                  <a:srgbClr val="15324A"/>
                </a:solidFill>
                <a:latin typeface="Helvetica Neue"/>
                <a:ea typeface="Helvetica Neue"/>
                <a:cs typeface="Helvetica Neue"/>
              </a:rPr>
              <a:t>Initiating Transfusion Therapy — continued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49BC8264-7D52-4836-8469-ADC4653849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1257300"/>
            <a:ext cx="88582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91111"/>
          </a:bodyPr>
          <a:lstStyle xmlns:a="http://schemas.openxmlformats.org/drawingml/2006/main">
            <a:defPPr>
              <a:defRPr sz="1125" b="1">
                <a:solidFill>
                  <a:srgbClr val="237B82"/>
                </a:solidFill>
                <a:latin typeface="Helvetica Neue"/>
                <a:ea typeface="Helvetica Neue"/>
                <a:cs typeface="Helvetica Neue"/>
              </a:defRPr>
            </a:defPPr>
            <a:lvl1pPr>
              <a:defRPr sz="1125" b="1">
                <a:solidFill>
                  <a:srgbClr val="237B82"/>
                </a:solidFill>
                <a:latin typeface="Helvetica Neue"/>
                <a:ea typeface="Helvetica Neue"/>
                <a:cs typeface="Helvetica Neue"/>
              </a:defRPr>
            </a:lvl1pPr>
            <a:lvl2pPr>
              <a:defRPr sz="1125" b="1">
                <a:solidFill>
                  <a:srgbClr val="237B82"/>
                </a:solidFill>
                <a:latin typeface="Helvetica Neue"/>
                <a:ea typeface="Helvetica Neue"/>
                <a:cs typeface="Helvetica Neue"/>
              </a:defRPr>
            </a:lvl2pPr>
            <a:lvl3pPr>
              <a:defRPr sz="1125" b="1">
                <a:solidFill>
                  <a:srgbClr val="237B82"/>
                </a:solidFill>
                <a:latin typeface="Helvetica Neue"/>
                <a:ea typeface="Helvetica Neue"/>
                <a:cs typeface="Helvetica Neue"/>
              </a:defRPr>
            </a:lvl3pPr>
            <a:lvl4pPr>
              <a:defRPr sz="1125" b="1">
                <a:solidFill>
                  <a:srgbClr val="237B82"/>
                </a:solidFill>
                <a:latin typeface="Helvetica Neue"/>
                <a:ea typeface="Helvetica Neue"/>
                <a:cs typeface="Helvetica Neue"/>
              </a:defRPr>
            </a:lvl4pPr>
            <a:lvl5pPr>
              <a:defRPr sz="1125" b="1">
                <a:solidFill>
                  <a:srgbClr val="237B82"/>
                </a:solidFill>
                <a:latin typeface="Helvetica Neue"/>
                <a:ea typeface="Helvetica Neue"/>
                <a:cs typeface="Helvetica Neue"/>
              </a:defRPr>
            </a:lvl5pPr>
            <a:lvl6pPr>
              <a:defRPr sz="1125" b="1">
                <a:solidFill>
                  <a:srgbClr val="237B82"/>
                </a:solidFill>
                <a:latin typeface="Helvetica Neue"/>
                <a:ea typeface="Helvetica Neue"/>
                <a:cs typeface="Helvetica Neue"/>
              </a:defRPr>
            </a:lvl6pPr>
            <a:lvl7pPr>
              <a:defRPr sz="1125" b="1">
                <a:solidFill>
                  <a:srgbClr val="237B82"/>
                </a:solidFill>
                <a:latin typeface="Helvetica Neue"/>
                <a:ea typeface="Helvetica Neue"/>
                <a:cs typeface="Helvetica Neue"/>
              </a:defRPr>
            </a:lvl7pPr>
            <a:lvl8pPr>
              <a:defRPr sz="1125" b="1">
                <a:solidFill>
                  <a:srgbClr val="237B82"/>
                </a:solidFill>
                <a:latin typeface="Helvetica Neue"/>
                <a:ea typeface="Helvetica Neue"/>
                <a:cs typeface="Helvetica Neue"/>
              </a:defRPr>
            </a:lvl8pPr>
            <a:lvl9pPr>
              <a:defRPr sz="1125" b="1">
                <a:solidFill>
                  <a:srgbClr val="237B82"/>
                </a:solidFill>
                <a:latin typeface="Helvetica Neue"/>
                <a:ea typeface="Helvetica Neue"/>
                <a:cs typeface="Helvetica Neue"/>
              </a:defRPr>
            </a:lvl9pPr>
          </a:lstStyle>
          <a:p xmlns:a="http://schemas.openxmlformats.org/drawingml/2006/main">
            <a:pPr>
              <a:defRPr sz="1125" b="1">
                <a:solidFill>
                  <a:srgbClr val="237B82"/>
                </a:solidFill>
                <a:latin typeface="Helvetica Neue"/>
                <a:ea typeface="Helvetica Neue"/>
                <a:cs typeface="Helvetica Neue"/>
              </a:defRPr>
            </a:pPr>
            <a:r>
              <a:rPr sz="1125" b="1">
                <a:solidFill>
                  <a:srgbClr val="237B82"/>
                </a:solidFill>
                <a:latin typeface="Helvetica Neue"/>
                <a:ea typeface="Helvetica Neue"/>
                <a:cs typeface="Helvetica Neue"/>
              </a:rPr>
              <a:t>MODULE 4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ED42A3DC-B488-485E-B837-D9CE490C29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457200"/>
            <a:ext cx="5334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>
            <a:defPPr>
              <a:defRPr sz="1200" b="1">
                <a:solidFill>
                  <a:srgbClr val="237B82"/>
                </a:solidFill>
                <a:latin typeface="Helvetica Neue"/>
                <a:ea typeface="Helvetica Neue"/>
                <a:cs typeface="Helvetica Neue"/>
              </a:defRPr>
            </a:defPPr>
            <a:lvl1pPr>
              <a:defRPr sz="1200" b="1">
                <a:solidFill>
                  <a:srgbClr val="237B82"/>
                </a:solidFill>
                <a:latin typeface="Helvetica Neue"/>
                <a:ea typeface="Helvetica Neue"/>
                <a:cs typeface="Helvetica Neue"/>
              </a:defRPr>
            </a:lvl1pPr>
            <a:lvl2pPr>
              <a:defRPr sz="1200" b="1">
                <a:solidFill>
                  <a:srgbClr val="237B82"/>
                </a:solidFill>
                <a:latin typeface="Helvetica Neue"/>
                <a:ea typeface="Helvetica Neue"/>
                <a:cs typeface="Helvetica Neue"/>
              </a:defRPr>
            </a:lvl2pPr>
            <a:lvl3pPr>
              <a:defRPr sz="1200" b="1">
                <a:solidFill>
                  <a:srgbClr val="237B82"/>
                </a:solidFill>
                <a:latin typeface="Helvetica Neue"/>
                <a:ea typeface="Helvetica Neue"/>
                <a:cs typeface="Helvetica Neue"/>
              </a:defRPr>
            </a:lvl3pPr>
            <a:lvl4pPr>
              <a:defRPr sz="1200" b="1">
                <a:solidFill>
                  <a:srgbClr val="237B82"/>
                </a:solidFill>
                <a:latin typeface="Helvetica Neue"/>
                <a:ea typeface="Helvetica Neue"/>
                <a:cs typeface="Helvetica Neue"/>
              </a:defRPr>
            </a:lvl4pPr>
            <a:lvl5pPr>
              <a:defRPr sz="1200" b="1">
                <a:solidFill>
                  <a:srgbClr val="237B82"/>
                </a:solidFill>
                <a:latin typeface="Helvetica Neue"/>
                <a:ea typeface="Helvetica Neue"/>
                <a:cs typeface="Helvetica Neue"/>
              </a:defRPr>
            </a:lvl5pPr>
            <a:lvl6pPr>
              <a:defRPr sz="1200" b="1">
                <a:solidFill>
                  <a:srgbClr val="237B82"/>
                </a:solidFill>
                <a:latin typeface="Helvetica Neue"/>
                <a:ea typeface="Helvetica Neue"/>
                <a:cs typeface="Helvetica Neue"/>
              </a:defRPr>
            </a:lvl6pPr>
            <a:lvl7pPr>
              <a:defRPr sz="1200" b="1">
                <a:solidFill>
                  <a:srgbClr val="237B82"/>
                </a:solidFill>
                <a:latin typeface="Helvetica Neue"/>
                <a:ea typeface="Helvetica Neue"/>
                <a:cs typeface="Helvetica Neue"/>
              </a:defRPr>
            </a:lvl7pPr>
            <a:lvl8pPr>
              <a:defRPr sz="1200" b="1">
                <a:solidFill>
                  <a:srgbClr val="237B82"/>
                </a:solidFill>
                <a:latin typeface="Helvetica Neue"/>
                <a:ea typeface="Helvetica Neue"/>
                <a:cs typeface="Helvetica Neue"/>
              </a:defRPr>
            </a:lvl8pPr>
            <a:lvl9pPr>
              <a:defRPr sz="1200" b="1">
                <a:solidFill>
                  <a:srgbClr val="237B82"/>
                </a:solidFill>
                <a:latin typeface="Helvetica Neue"/>
                <a:ea typeface="Helvetica Neue"/>
                <a:cs typeface="Helvetica Neue"/>
              </a:defRPr>
            </a:lvl9pPr>
          </a:lstStyle>
          <a:p xmlns:a="http://schemas.openxmlformats.org/drawingml/2006/main">
            <a:pPr>
              <a:defRPr sz="1200" b="1">
                <a:solidFill>
                  <a:srgbClr val="237B82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00" b="1">
                <a:solidFill>
                  <a:srgbClr val="237B82"/>
                </a:solidFill>
                <a:latin typeface="Helvetica Neue"/>
                <a:ea typeface="Helvetica Neue"/>
                <a:cs typeface="Helvetica Neue"/>
              </a:rPr>
              <a:t>43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5CBBFB78-F586-4597-9903-852EFFD1A8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1762125"/>
            <a:ext cx="10287000" cy="409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>
            <a:defPPr>
              <a:defRPr sz="1875">
                <a:solidFill>
                  <a:srgbClr val="13212D"/>
                </a:solidFill>
                <a:latin typeface="Helvetica Neue"/>
                <a:ea typeface="Helvetica Neue"/>
                <a:cs typeface="Helvetica Neue"/>
              </a:defRPr>
            </a:defPPr>
            <a:lvl1pPr>
              <a:defRPr sz="1875">
                <a:solidFill>
                  <a:srgbClr val="13212D"/>
                </a:solidFill>
                <a:latin typeface="Helvetica Neue"/>
                <a:ea typeface="Helvetica Neue"/>
                <a:cs typeface="Helvetica Neue"/>
              </a:defRPr>
            </a:lvl1pPr>
            <a:lvl2pPr>
              <a:defRPr sz="1875">
                <a:solidFill>
                  <a:srgbClr val="13212D"/>
                </a:solidFill>
                <a:latin typeface="Helvetica Neue"/>
                <a:ea typeface="Helvetica Neue"/>
                <a:cs typeface="Helvetica Neue"/>
              </a:defRPr>
            </a:lvl2pPr>
            <a:lvl3pPr>
              <a:defRPr sz="1875">
                <a:solidFill>
                  <a:srgbClr val="13212D"/>
                </a:solidFill>
                <a:latin typeface="Helvetica Neue"/>
                <a:ea typeface="Helvetica Neue"/>
                <a:cs typeface="Helvetica Neue"/>
              </a:defRPr>
            </a:lvl3pPr>
            <a:lvl4pPr>
              <a:defRPr sz="1875">
                <a:solidFill>
                  <a:srgbClr val="13212D"/>
                </a:solidFill>
                <a:latin typeface="Helvetica Neue"/>
                <a:ea typeface="Helvetica Neue"/>
                <a:cs typeface="Helvetica Neue"/>
              </a:defRPr>
            </a:lvl4pPr>
            <a:lvl5pPr>
              <a:defRPr sz="1875">
                <a:solidFill>
                  <a:srgbClr val="13212D"/>
                </a:solidFill>
                <a:latin typeface="Helvetica Neue"/>
                <a:ea typeface="Helvetica Neue"/>
                <a:cs typeface="Helvetica Neue"/>
              </a:defRPr>
            </a:lvl5pPr>
            <a:lvl6pPr>
              <a:defRPr sz="1875">
                <a:solidFill>
                  <a:srgbClr val="13212D"/>
                </a:solidFill>
                <a:latin typeface="Helvetica Neue"/>
                <a:ea typeface="Helvetica Neue"/>
                <a:cs typeface="Helvetica Neue"/>
              </a:defRPr>
            </a:lvl6pPr>
            <a:lvl7pPr>
              <a:defRPr sz="1875">
                <a:solidFill>
                  <a:srgbClr val="13212D"/>
                </a:solidFill>
                <a:latin typeface="Helvetica Neue"/>
                <a:ea typeface="Helvetica Neue"/>
                <a:cs typeface="Helvetica Neue"/>
              </a:defRPr>
            </a:lvl7pPr>
            <a:lvl8pPr>
              <a:defRPr sz="1875">
                <a:solidFill>
                  <a:srgbClr val="13212D"/>
                </a:solidFill>
                <a:latin typeface="Helvetica Neue"/>
                <a:ea typeface="Helvetica Neue"/>
                <a:cs typeface="Helvetica Neue"/>
              </a:defRPr>
            </a:lvl8pPr>
            <a:lvl9pPr>
              <a:defRPr sz="1875">
                <a:solidFill>
                  <a:srgbClr val="13212D"/>
                </a:solidFill>
                <a:latin typeface="Helvetica Neue"/>
                <a:ea typeface="Helvetica Neue"/>
                <a:cs typeface="Helvetica Neue"/>
              </a:defRPr>
            </a:lvl9pPr>
          </a:lstStyle>
          <a:p xmlns:a="http://schemas.openxmlformats.org/drawingml/2006/main">
            <a:pPr marL="279400" indent="-127000">
              <a:spcAft>
                <a:spcPts val="1300"/>
              </a:spcAft>
              <a:buChar char="•"/>
              <a:defRPr sz="1875">
                <a:solidFill>
                  <a:srgbClr val="13212D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75">
                <a:solidFill>
                  <a:srgbClr val="13212D"/>
                </a:solidFill>
                <a:latin typeface="Helvetica Neue"/>
                <a:ea typeface="Helvetica Neue"/>
                <a:cs typeface="Helvetica Neue"/>
              </a:rPr>
              <a:t>If there is any discrepancy, it must be investigated and corrected prior to administration.</a:t>
            </a:r>
          </a:p>
          <a:p xmlns:a="http://schemas.openxmlformats.org/drawingml/2006/main">
            <a:pPr marL="279400" indent="-127000">
              <a:spcAft>
                <a:spcPts val="1300"/>
              </a:spcAft>
              <a:buChar char="•"/>
              <a:defRPr sz="1875">
                <a:solidFill>
                  <a:srgbClr val="13212D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75">
                <a:solidFill>
                  <a:srgbClr val="13212D"/>
                </a:solidFill>
                <a:latin typeface="Helvetica Neue"/>
                <a:ea typeface="Helvetica Neue"/>
                <a:cs typeface="Helvetica Neue"/>
              </a:rPr>
              <a:t>Blood Filters - Stored blood contain particles of fibrin, degenerated platelets, and leukocytes.</a:t>
            </a:r>
          </a:p>
          <a:p xmlns:a="http://schemas.openxmlformats.org/drawingml/2006/main">
            <a:pPr marL="279400" indent="-127000">
              <a:spcAft>
                <a:spcPts val="1300"/>
              </a:spcAft>
              <a:buChar char="•"/>
              <a:defRPr sz="1875">
                <a:solidFill>
                  <a:srgbClr val="13212D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75">
                <a:solidFill>
                  <a:srgbClr val="13212D"/>
                </a:solidFill>
                <a:latin typeface="Helvetica Neue"/>
                <a:ea typeface="Helvetica Neue"/>
                <a:cs typeface="Helvetica Neue"/>
              </a:rPr>
              <a:t>These particles begin to collect as early as 2 to 24 hours after collection.</a:t>
            </a:r>
          </a:p>
          <a:p xmlns:a="http://schemas.openxmlformats.org/drawingml/2006/main">
            <a:pPr marL="279400" indent="-127000">
              <a:spcAft>
                <a:spcPts val="1300"/>
              </a:spcAft>
              <a:buChar char="•"/>
              <a:defRPr sz="1875">
                <a:solidFill>
                  <a:srgbClr val="13212D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75">
                <a:solidFill>
                  <a:srgbClr val="13212D"/>
                </a:solidFill>
                <a:latin typeface="Helvetica Neue"/>
                <a:ea typeface="Helvetica Neue"/>
                <a:cs typeface="Helvetica Neue"/>
              </a:rPr>
              <a:t>For this reason blood is administered through a filter.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6ECF0B0E-2303-418F-82D5-8521D115C5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6115050"/>
            <a:ext cx="101917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>
            <a:defPPr>
              <a:defRPr sz="1125" b="1">
                <a:solidFill>
                  <a:srgbClr val="B94F3D"/>
                </a:solidFill>
                <a:latin typeface="Helvetica Neue"/>
                <a:ea typeface="Helvetica Neue"/>
                <a:cs typeface="Helvetica Neue"/>
              </a:defRPr>
            </a:defPPr>
            <a:lvl1pPr>
              <a:defRPr sz="1125" b="1">
                <a:solidFill>
                  <a:srgbClr val="B94F3D"/>
                </a:solidFill>
                <a:latin typeface="Helvetica Neue"/>
                <a:ea typeface="Helvetica Neue"/>
                <a:cs typeface="Helvetica Neue"/>
              </a:defRPr>
            </a:lvl1pPr>
            <a:lvl2pPr>
              <a:defRPr sz="1125" b="1">
                <a:solidFill>
                  <a:srgbClr val="B94F3D"/>
                </a:solidFill>
                <a:latin typeface="Helvetica Neue"/>
                <a:ea typeface="Helvetica Neue"/>
                <a:cs typeface="Helvetica Neue"/>
              </a:defRPr>
            </a:lvl2pPr>
            <a:lvl3pPr>
              <a:defRPr sz="1125" b="1">
                <a:solidFill>
                  <a:srgbClr val="B94F3D"/>
                </a:solidFill>
                <a:latin typeface="Helvetica Neue"/>
                <a:ea typeface="Helvetica Neue"/>
                <a:cs typeface="Helvetica Neue"/>
              </a:defRPr>
            </a:lvl3pPr>
            <a:lvl4pPr>
              <a:defRPr sz="1125" b="1">
                <a:solidFill>
                  <a:srgbClr val="B94F3D"/>
                </a:solidFill>
                <a:latin typeface="Helvetica Neue"/>
                <a:ea typeface="Helvetica Neue"/>
                <a:cs typeface="Helvetica Neue"/>
              </a:defRPr>
            </a:lvl4pPr>
            <a:lvl5pPr>
              <a:defRPr sz="1125" b="1">
                <a:solidFill>
                  <a:srgbClr val="B94F3D"/>
                </a:solidFill>
                <a:latin typeface="Helvetica Neue"/>
                <a:ea typeface="Helvetica Neue"/>
                <a:cs typeface="Helvetica Neue"/>
              </a:defRPr>
            </a:lvl5pPr>
            <a:lvl6pPr>
              <a:defRPr sz="1125" b="1">
                <a:solidFill>
                  <a:srgbClr val="B94F3D"/>
                </a:solidFill>
                <a:latin typeface="Helvetica Neue"/>
                <a:ea typeface="Helvetica Neue"/>
                <a:cs typeface="Helvetica Neue"/>
              </a:defRPr>
            </a:lvl6pPr>
            <a:lvl7pPr>
              <a:defRPr sz="1125" b="1">
                <a:solidFill>
                  <a:srgbClr val="B94F3D"/>
                </a:solidFill>
                <a:latin typeface="Helvetica Neue"/>
                <a:ea typeface="Helvetica Neue"/>
                <a:cs typeface="Helvetica Neue"/>
              </a:defRPr>
            </a:lvl7pPr>
            <a:lvl8pPr>
              <a:defRPr sz="1125" b="1">
                <a:solidFill>
                  <a:srgbClr val="B94F3D"/>
                </a:solidFill>
                <a:latin typeface="Helvetica Neue"/>
                <a:ea typeface="Helvetica Neue"/>
                <a:cs typeface="Helvetica Neue"/>
              </a:defRPr>
            </a:lvl8pPr>
            <a:lvl9pPr>
              <a:defRPr sz="1125" b="1">
                <a:solidFill>
                  <a:srgbClr val="B94F3D"/>
                </a:solidFill>
                <a:latin typeface="Helvetica Neue"/>
                <a:ea typeface="Helvetica Neue"/>
                <a:cs typeface="Helvetica Neue"/>
              </a:defRPr>
            </a:lvl9pPr>
          </a:lstStyle>
          <a:p xmlns:a="http://schemas.openxmlformats.org/drawingml/2006/main">
            <a:pPr>
              <a:defRPr sz="1125" b="1">
                <a:solidFill>
                  <a:srgbClr val="B94F3D"/>
                </a:solidFill>
                <a:latin typeface="Helvetica Neue"/>
                <a:ea typeface="Helvetica Neue"/>
                <a:cs typeface="Helvetica Neue"/>
              </a:defRPr>
            </a:pPr>
            <a:r>
              <a:rPr sz="1125" b="1">
                <a:solidFill>
                  <a:srgbClr val="B94F3D"/>
                </a:solidFill>
                <a:latin typeface="Helvetica Neue"/>
                <a:ea typeface="Helvetica Neue"/>
                <a:cs typeface="Helvetica Neue"/>
              </a:rPr>
              <a:t>Use current orders, facility policy, and authorized scope when applying this information.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E94BDFEE-067C-4867-AE91-65C63D4552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5772150"/>
            <a:ext cx="101917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97619"/>
          </a:bodyPr>
          <a:lstStyle xmlns:a="http://schemas.openxmlformats.org/drawingml/2006/main">
            <a:defPPr>
              <a:defRPr sz="1050" b="1">
                <a:solidFill>
                  <a:srgbClr val="237B82"/>
                </a:solidFill>
                <a:latin typeface="Helvetica Neue"/>
                <a:ea typeface="Helvetica Neue"/>
                <a:cs typeface="Helvetica Neue"/>
              </a:defRPr>
            </a:defPPr>
            <a:lvl1pPr>
              <a:defRPr sz="1050" b="1">
                <a:solidFill>
                  <a:srgbClr val="237B82"/>
                </a:solidFill>
                <a:latin typeface="Helvetica Neue"/>
                <a:ea typeface="Helvetica Neue"/>
                <a:cs typeface="Helvetica Neue"/>
              </a:defRPr>
            </a:lvl1pPr>
            <a:lvl2pPr>
              <a:defRPr sz="1050" b="1">
                <a:solidFill>
                  <a:srgbClr val="237B82"/>
                </a:solidFill>
                <a:latin typeface="Helvetica Neue"/>
                <a:ea typeface="Helvetica Neue"/>
                <a:cs typeface="Helvetica Neue"/>
              </a:defRPr>
            </a:lvl2pPr>
            <a:lvl3pPr>
              <a:defRPr sz="1050" b="1">
                <a:solidFill>
                  <a:srgbClr val="237B82"/>
                </a:solidFill>
                <a:latin typeface="Helvetica Neue"/>
                <a:ea typeface="Helvetica Neue"/>
                <a:cs typeface="Helvetica Neue"/>
              </a:defRPr>
            </a:lvl3pPr>
            <a:lvl4pPr>
              <a:defRPr sz="1050" b="1">
                <a:solidFill>
                  <a:srgbClr val="237B82"/>
                </a:solidFill>
                <a:latin typeface="Helvetica Neue"/>
                <a:ea typeface="Helvetica Neue"/>
                <a:cs typeface="Helvetica Neue"/>
              </a:defRPr>
            </a:lvl4pPr>
            <a:lvl5pPr>
              <a:defRPr sz="1050" b="1">
                <a:solidFill>
                  <a:srgbClr val="237B82"/>
                </a:solidFill>
                <a:latin typeface="Helvetica Neue"/>
                <a:ea typeface="Helvetica Neue"/>
                <a:cs typeface="Helvetica Neue"/>
              </a:defRPr>
            </a:lvl5pPr>
            <a:lvl6pPr>
              <a:defRPr sz="1050" b="1">
                <a:solidFill>
                  <a:srgbClr val="237B82"/>
                </a:solidFill>
                <a:latin typeface="Helvetica Neue"/>
                <a:ea typeface="Helvetica Neue"/>
                <a:cs typeface="Helvetica Neue"/>
              </a:defRPr>
            </a:lvl6pPr>
            <a:lvl7pPr>
              <a:defRPr sz="1050" b="1">
                <a:solidFill>
                  <a:srgbClr val="237B82"/>
                </a:solidFill>
                <a:latin typeface="Helvetica Neue"/>
                <a:ea typeface="Helvetica Neue"/>
                <a:cs typeface="Helvetica Neue"/>
              </a:defRPr>
            </a:lvl7pPr>
            <a:lvl8pPr>
              <a:defRPr sz="1050" b="1">
                <a:solidFill>
                  <a:srgbClr val="237B82"/>
                </a:solidFill>
                <a:latin typeface="Helvetica Neue"/>
                <a:ea typeface="Helvetica Neue"/>
                <a:cs typeface="Helvetica Neue"/>
              </a:defRPr>
            </a:lvl8pPr>
            <a:lvl9pPr>
              <a:defRPr sz="1050" b="1">
                <a:solidFill>
                  <a:srgbClr val="237B82"/>
                </a:solidFill>
                <a:latin typeface="Helvetica Neue"/>
                <a:ea typeface="Helvetica Neue"/>
                <a:cs typeface="Helvetica Neue"/>
              </a:defRPr>
            </a:lvl9pPr>
          </a:lstStyle>
          <a:p xmlns:a="http://schemas.openxmlformats.org/drawingml/2006/main">
            <a:pPr>
              <a:defRPr sz="1050" b="1">
                <a:solidFill>
                  <a:srgbClr val="237B82"/>
                </a:solidFill>
                <a:latin typeface="Helvetica Neue"/>
                <a:ea typeface="Helvetica Neue"/>
                <a:cs typeface="Helvetica Neue"/>
              </a:defRPr>
            </a:pPr>
            <a:r>
              <a:rPr sz="1050" b="1">
                <a:solidFill>
                  <a:srgbClr val="237B82"/>
                </a:solidFill>
                <a:latin typeface="Helvetica Neue"/>
                <a:ea typeface="Helvetica Neue"/>
                <a:cs typeface="Helvetica Neue"/>
              </a:rPr>
              <a:t>Manual page 56</a:t>
            </a:r>
          </a:p>
        </p:txBody>
      </p:sp>
    </p:spTree>
    <p:extLst>
      <p:ext uri="{BB962C8B-B14F-4D97-AF65-F5344CB8AC3E}">
        <p14:creationId xmlns:p14="http://schemas.microsoft.com/office/powerpoint/2010/main" val="620696218"/>
      </p:ext>
    </p:extLst>
  </p:cSld>
</p:sld>
</file>

<file path=ppt/slides/slide44.xml><?xml version="1.0" encoding="utf-8"?>
<p:sld xmlns:p="http://schemas.openxmlformats.org/presentationml/2006/main">
  <p:cSld>
    <p:bg>
      <p:bgPr>
        <a:solidFill xmlns:a="http://schemas.openxmlformats.org/drawingml/2006/main">
          <a:srgbClr val="F7F4EE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3D1FAE57-7509-46A3-B903-6D9ADD27D1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2095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37B82"/>
          </a:solidFill>
          <a:ln xmlns:a="http://schemas.openxmlformats.org/drawingml/2006/main" w="0">
            <a:solidFill>
              <a:srgbClr val="237B82"/>
            </a:solidFill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77FA52B9-9817-4C54-93DD-8649912173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00050"/>
            <a:ext cx="10001250" cy="819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>
            <a:defPPr>
              <a:defRPr sz="2700" b="1">
                <a:solidFill>
                  <a:srgbClr val="15324A"/>
                </a:solidFill>
                <a:latin typeface="Helvetica Neue"/>
                <a:ea typeface="Helvetica Neue"/>
                <a:cs typeface="Helvetica Neue"/>
              </a:defRPr>
            </a:defPPr>
            <a:lvl1pPr>
              <a:defRPr sz="2700" b="1">
                <a:solidFill>
                  <a:srgbClr val="15324A"/>
                </a:solidFill>
                <a:latin typeface="Helvetica Neue"/>
                <a:ea typeface="Helvetica Neue"/>
                <a:cs typeface="Helvetica Neue"/>
              </a:defRPr>
            </a:lvl1pPr>
            <a:lvl2pPr>
              <a:defRPr sz="2700" b="1">
                <a:solidFill>
                  <a:srgbClr val="15324A"/>
                </a:solidFill>
                <a:latin typeface="Helvetica Neue"/>
                <a:ea typeface="Helvetica Neue"/>
                <a:cs typeface="Helvetica Neue"/>
              </a:defRPr>
            </a:lvl2pPr>
            <a:lvl3pPr>
              <a:defRPr sz="2700" b="1">
                <a:solidFill>
                  <a:srgbClr val="15324A"/>
                </a:solidFill>
                <a:latin typeface="Helvetica Neue"/>
                <a:ea typeface="Helvetica Neue"/>
                <a:cs typeface="Helvetica Neue"/>
              </a:defRPr>
            </a:lvl3pPr>
            <a:lvl4pPr>
              <a:defRPr sz="2700" b="1">
                <a:solidFill>
                  <a:srgbClr val="15324A"/>
                </a:solidFill>
                <a:latin typeface="Helvetica Neue"/>
                <a:ea typeface="Helvetica Neue"/>
                <a:cs typeface="Helvetica Neue"/>
              </a:defRPr>
            </a:lvl4pPr>
            <a:lvl5pPr>
              <a:defRPr sz="2700" b="1">
                <a:solidFill>
                  <a:srgbClr val="15324A"/>
                </a:solidFill>
                <a:latin typeface="Helvetica Neue"/>
                <a:ea typeface="Helvetica Neue"/>
                <a:cs typeface="Helvetica Neue"/>
              </a:defRPr>
            </a:lvl5pPr>
            <a:lvl6pPr>
              <a:defRPr sz="2700" b="1">
                <a:solidFill>
                  <a:srgbClr val="15324A"/>
                </a:solidFill>
                <a:latin typeface="Helvetica Neue"/>
                <a:ea typeface="Helvetica Neue"/>
                <a:cs typeface="Helvetica Neue"/>
              </a:defRPr>
            </a:lvl6pPr>
            <a:lvl7pPr>
              <a:defRPr sz="2700" b="1">
                <a:solidFill>
                  <a:srgbClr val="15324A"/>
                </a:solidFill>
                <a:latin typeface="Helvetica Neue"/>
                <a:ea typeface="Helvetica Neue"/>
                <a:cs typeface="Helvetica Neue"/>
              </a:defRPr>
            </a:lvl7pPr>
            <a:lvl8pPr>
              <a:defRPr sz="2700" b="1">
                <a:solidFill>
                  <a:srgbClr val="15324A"/>
                </a:solidFill>
                <a:latin typeface="Helvetica Neue"/>
                <a:ea typeface="Helvetica Neue"/>
                <a:cs typeface="Helvetica Neue"/>
              </a:defRPr>
            </a:lvl8pPr>
            <a:lvl9pPr>
              <a:defRPr sz="2700" b="1">
                <a:solidFill>
                  <a:srgbClr val="15324A"/>
                </a:solidFill>
                <a:latin typeface="Helvetica Neue"/>
                <a:ea typeface="Helvetica Neue"/>
                <a:cs typeface="Helvetica Neue"/>
              </a:defRPr>
            </a:lvl9pPr>
          </a:lstStyle>
          <a:p xmlns:a="http://schemas.openxmlformats.org/drawingml/2006/main">
            <a:pPr>
              <a:defRPr sz="2700" b="1">
                <a:solidFill>
                  <a:srgbClr val="15324A"/>
                </a:solidFill>
                <a:latin typeface="Helvetica Neue"/>
                <a:ea typeface="Helvetica Neue"/>
                <a:cs typeface="Helvetica Neue"/>
              </a:defRPr>
            </a:pPr>
            <a:r>
              <a:rPr sz="2700" b="1">
                <a:solidFill>
                  <a:srgbClr val="15324A"/>
                </a:solidFill>
                <a:latin typeface="Helvetica Neue"/>
                <a:ea typeface="Helvetica Neue"/>
                <a:cs typeface="Helvetica Neue"/>
              </a:rPr>
              <a:t>Initiating Transfusion Therapy — continued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26DD89DF-4B2D-476C-B8CD-6DEB57C78F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1257300"/>
            <a:ext cx="88582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91111"/>
          </a:bodyPr>
          <a:lstStyle xmlns:a="http://schemas.openxmlformats.org/drawingml/2006/main">
            <a:defPPr>
              <a:defRPr sz="1125" b="1">
                <a:solidFill>
                  <a:srgbClr val="237B82"/>
                </a:solidFill>
                <a:latin typeface="Helvetica Neue"/>
                <a:ea typeface="Helvetica Neue"/>
                <a:cs typeface="Helvetica Neue"/>
              </a:defRPr>
            </a:defPPr>
            <a:lvl1pPr>
              <a:defRPr sz="1125" b="1">
                <a:solidFill>
                  <a:srgbClr val="237B82"/>
                </a:solidFill>
                <a:latin typeface="Helvetica Neue"/>
                <a:ea typeface="Helvetica Neue"/>
                <a:cs typeface="Helvetica Neue"/>
              </a:defRPr>
            </a:lvl1pPr>
            <a:lvl2pPr>
              <a:defRPr sz="1125" b="1">
                <a:solidFill>
                  <a:srgbClr val="237B82"/>
                </a:solidFill>
                <a:latin typeface="Helvetica Neue"/>
                <a:ea typeface="Helvetica Neue"/>
                <a:cs typeface="Helvetica Neue"/>
              </a:defRPr>
            </a:lvl2pPr>
            <a:lvl3pPr>
              <a:defRPr sz="1125" b="1">
                <a:solidFill>
                  <a:srgbClr val="237B82"/>
                </a:solidFill>
                <a:latin typeface="Helvetica Neue"/>
                <a:ea typeface="Helvetica Neue"/>
                <a:cs typeface="Helvetica Neue"/>
              </a:defRPr>
            </a:lvl3pPr>
            <a:lvl4pPr>
              <a:defRPr sz="1125" b="1">
                <a:solidFill>
                  <a:srgbClr val="237B82"/>
                </a:solidFill>
                <a:latin typeface="Helvetica Neue"/>
                <a:ea typeface="Helvetica Neue"/>
                <a:cs typeface="Helvetica Neue"/>
              </a:defRPr>
            </a:lvl4pPr>
            <a:lvl5pPr>
              <a:defRPr sz="1125" b="1">
                <a:solidFill>
                  <a:srgbClr val="237B82"/>
                </a:solidFill>
                <a:latin typeface="Helvetica Neue"/>
                <a:ea typeface="Helvetica Neue"/>
                <a:cs typeface="Helvetica Neue"/>
              </a:defRPr>
            </a:lvl5pPr>
            <a:lvl6pPr>
              <a:defRPr sz="1125" b="1">
                <a:solidFill>
                  <a:srgbClr val="237B82"/>
                </a:solidFill>
                <a:latin typeface="Helvetica Neue"/>
                <a:ea typeface="Helvetica Neue"/>
                <a:cs typeface="Helvetica Neue"/>
              </a:defRPr>
            </a:lvl6pPr>
            <a:lvl7pPr>
              <a:defRPr sz="1125" b="1">
                <a:solidFill>
                  <a:srgbClr val="237B82"/>
                </a:solidFill>
                <a:latin typeface="Helvetica Neue"/>
                <a:ea typeface="Helvetica Neue"/>
                <a:cs typeface="Helvetica Neue"/>
              </a:defRPr>
            </a:lvl7pPr>
            <a:lvl8pPr>
              <a:defRPr sz="1125" b="1">
                <a:solidFill>
                  <a:srgbClr val="237B82"/>
                </a:solidFill>
                <a:latin typeface="Helvetica Neue"/>
                <a:ea typeface="Helvetica Neue"/>
                <a:cs typeface="Helvetica Neue"/>
              </a:defRPr>
            </a:lvl8pPr>
            <a:lvl9pPr>
              <a:defRPr sz="1125" b="1">
                <a:solidFill>
                  <a:srgbClr val="237B82"/>
                </a:solidFill>
                <a:latin typeface="Helvetica Neue"/>
                <a:ea typeface="Helvetica Neue"/>
                <a:cs typeface="Helvetica Neue"/>
              </a:defRPr>
            </a:lvl9pPr>
          </a:lstStyle>
          <a:p xmlns:a="http://schemas.openxmlformats.org/drawingml/2006/main">
            <a:pPr>
              <a:defRPr sz="1125" b="1">
                <a:solidFill>
                  <a:srgbClr val="237B82"/>
                </a:solidFill>
                <a:latin typeface="Helvetica Neue"/>
                <a:ea typeface="Helvetica Neue"/>
                <a:cs typeface="Helvetica Neue"/>
              </a:defRPr>
            </a:pPr>
            <a:r>
              <a:rPr sz="1125" b="1">
                <a:solidFill>
                  <a:srgbClr val="237B82"/>
                </a:solidFill>
                <a:latin typeface="Helvetica Neue"/>
                <a:ea typeface="Helvetica Neue"/>
                <a:cs typeface="Helvetica Neue"/>
              </a:rPr>
              <a:t>MODULE 4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B695B5AC-56FA-4913-93CF-A6C66B9DA6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457200"/>
            <a:ext cx="5334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>
            <a:defPPr>
              <a:defRPr sz="1200" b="1">
                <a:solidFill>
                  <a:srgbClr val="237B82"/>
                </a:solidFill>
                <a:latin typeface="Helvetica Neue"/>
                <a:ea typeface="Helvetica Neue"/>
                <a:cs typeface="Helvetica Neue"/>
              </a:defRPr>
            </a:defPPr>
            <a:lvl1pPr>
              <a:defRPr sz="1200" b="1">
                <a:solidFill>
                  <a:srgbClr val="237B82"/>
                </a:solidFill>
                <a:latin typeface="Helvetica Neue"/>
                <a:ea typeface="Helvetica Neue"/>
                <a:cs typeface="Helvetica Neue"/>
              </a:defRPr>
            </a:lvl1pPr>
            <a:lvl2pPr>
              <a:defRPr sz="1200" b="1">
                <a:solidFill>
                  <a:srgbClr val="237B82"/>
                </a:solidFill>
                <a:latin typeface="Helvetica Neue"/>
                <a:ea typeface="Helvetica Neue"/>
                <a:cs typeface="Helvetica Neue"/>
              </a:defRPr>
            </a:lvl2pPr>
            <a:lvl3pPr>
              <a:defRPr sz="1200" b="1">
                <a:solidFill>
                  <a:srgbClr val="237B82"/>
                </a:solidFill>
                <a:latin typeface="Helvetica Neue"/>
                <a:ea typeface="Helvetica Neue"/>
                <a:cs typeface="Helvetica Neue"/>
              </a:defRPr>
            </a:lvl3pPr>
            <a:lvl4pPr>
              <a:defRPr sz="1200" b="1">
                <a:solidFill>
                  <a:srgbClr val="237B82"/>
                </a:solidFill>
                <a:latin typeface="Helvetica Neue"/>
                <a:ea typeface="Helvetica Neue"/>
                <a:cs typeface="Helvetica Neue"/>
              </a:defRPr>
            </a:lvl4pPr>
            <a:lvl5pPr>
              <a:defRPr sz="1200" b="1">
                <a:solidFill>
                  <a:srgbClr val="237B82"/>
                </a:solidFill>
                <a:latin typeface="Helvetica Neue"/>
                <a:ea typeface="Helvetica Neue"/>
                <a:cs typeface="Helvetica Neue"/>
              </a:defRPr>
            </a:lvl5pPr>
            <a:lvl6pPr>
              <a:defRPr sz="1200" b="1">
                <a:solidFill>
                  <a:srgbClr val="237B82"/>
                </a:solidFill>
                <a:latin typeface="Helvetica Neue"/>
                <a:ea typeface="Helvetica Neue"/>
                <a:cs typeface="Helvetica Neue"/>
              </a:defRPr>
            </a:lvl6pPr>
            <a:lvl7pPr>
              <a:defRPr sz="1200" b="1">
                <a:solidFill>
                  <a:srgbClr val="237B82"/>
                </a:solidFill>
                <a:latin typeface="Helvetica Neue"/>
                <a:ea typeface="Helvetica Neue"/>
                <a:cs typeface="Helvetica Neue"/>
              </a:defRPr>
            </a:lvl7pPr>
            <a:lvl8pPr>
              <a:defRPr sz="1200" b="1">
                <a:solidFill>
                  <a:srgbClr val="237B82"/>
                </a:solidFill>
                <a:latin typeface="Helvetica Neue"/>
                <a:ea typeface="Helvetica Neue"/>
                <a:cs typeface="Helvetica Neue"/>
              </a:defRPr>
            </a:lvl8pPr>
            <a:lvl9pPr>
              <a:defRPr sz="1200" b="1">
                <a:solidFill>
                  <a:srgbClr val="237B82"/>
                </a:solidFill>
                <a:latin typeface="Helvetica Neue"/>
                <a:ea typeface="Helvetica Neue"/>
                <a:cs typeface="Helvetica Neue"/>
              </a:defRPr>
            </a:lvl9pPr>
          </a:lstStyle>
          <a:p xmlns:a="http://schemas.openxmlformats.org/drawingml/2006/main">
            <a:pPr>
              <a:defRPr sz="1200" b="1">
                <a:solidFill>
                  <a:srgbClr val="237B82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00" b="1">
                <a:solidFill>
                  <a:srgbClr val="237B82"/>
                </a:solidFill>
                <a:latin typeface="Helvetica Neue"/>
                <a:ea typeface="Helvetica Neue"/>
                <a:cs typeface="Helvetica Neue"/>
              </a:rPr>
              <a:t>44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83F32FBE-327B-4AC8-A0B8-10EA305F90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1762125"/>
            <a:ext cx="10287000" cy="409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>
            <a:defPPr>
              <a:defRPr sz="2100">
                <a:solidFill>
                  <a:srgbClr val="13212D"/>
                </a:solidFill>
                <a:latin typeface="Helvetica Neue"/>
                <a:ea typeface="Helvetica Neue"/>
                <a:cs typeface="Helvetica Neue"/>
              </a:defRPr>
            </a:defPPr>
            <a:lvl1pPr>
              <a:defRPr sz="2100">
                <a:solidFill>
                  <a:srgbClr val="13212D"/>
                </a:solidFill>
                <a:latin typeface="Helvetica Neue"/>
                <a:ea typeface="Helvetica Neue"/>
                <a:cs typeface="Helvetica Neue"/>
              </a:defRPr>
            </a:lvl1pPr>
            <a:lvl2pPr>
              <a:defRPr sz="2100">
                <a:solidFill>
                  <a:srgbClr val="13212D"/>
                </a:solidFill>
                <a:latin typeface="Helvetica Neue"/>
                <a:ea typeface="Helvetica Neue"/>
                <a:cs typeface="Helvetica Neue"/>
              </a:defRPr>
            </a:lvl2pPr>
            <a:lvl3pPr>
              <a:defRPr sz="2100">
                <a:solidFill>
                  <a:srgbClr val="13212D"/>
                </a:solidFill>
                <a:latin typeface="Helvetica Neue"/>
                <a:ea typeface="Helvetica Neue"/>
                <a:cs typeface="Helvetica Neue"/>
              </a:defRPr>
            </a:lvl3pPr>
            <a:lvl4pPr>
              <a:defRPr sz="2100">
                <a:solidFill>
                  <a:srgbClr val="13212D"/>
                </a:solidFill>
                <a:latin typeface="Helvetica Neue"/>
                <a:ea typeface="Helvetica Neue"/>
                <a:cs typeface="Helvetica Neue"/>
              </a:defRPr>
            </a:lvl4pPr>
            <a:lvl5pPr>
              <a:defRPr sz="2100">
                <a:solidFill>
                  <a:srgbClr val="13212D"/>
                </a:solidFill>
                <a:latin typeface="Helvetica Neue"/>
                <a:ea typeface="Helvetica Neue"/>
                <a:cs typeface="Helvetica Neue"/>
              </a:defRPr>
            </a:lvl5pPr>
            <a:lvl6pPr>
              <a:defRPr sz="2100">
                <a:solidFill>
                  <a:srgbClr val="13212D"/>
                </a:solidFill>
                <a:latin typeface="Helvetica Neue"/>
                <a:ea typeface="Helvetica Neue"/>
                <a:cs typeface="Helvetica Neue"/>
              </a:defRPr>
            </a:lvl6pPr>
            <a:lvl7pPr>
              <a:defRPr sz="2100">
                <a:solidFill>
                  <a:srgbClr val="13212D"/>
                </a:solidFill>
                <a:latin typeface="Helvetica Neue"/>
                <a:ea typeface="Helvetica Neue"/>
                <a:cs typeface="Helvetica Neue"/>
              </a:defRPr>
            </a:lvl7pPr>
            <a:lvl8pPr>
              <a:defRPr sz="2100">
                <a:solidFill>
                  <a:srgbClr val="13212D"/>
                </a:solidFill>
                <a:latin typeface="Helvetica Neue"/>
                <a:ea typeface="Helvetica Neue"/>
                <a:cs typeface="Helvetica Neue"/>
              </a:defRPr>
            </a:lvl8pPr>
            <a:lvl9pPr>
              <a:defRPr sz="2100">
                <a:solidFill>
                  <a:srgbClr val="13212D"/>
                </a:solidFill>
                <a:latin typeface="Helvetica Neue"/>
                <a:ea typeface="Helvetica Neue"/>
                <a:cs typeface="Helvetica Neue"/>
              </a:defRPr>
            </a:lvl9pPr>
          </a:lstStyle>
          <a:p xmlns:a="http://schemas.openxmlformats.org/drawingml/2006/main">
            <a:pPr marL="279400" indent="-127000">
              <a:spcAft>
                <a:spcPts val="1300"/>
              </a:spcAft>
              <a:buChar char="•"/>
              <a:defRPr sz="2100">
                <a:solidFill>
                  <a:srgbClr val="13212D"/>
                </a:solidFill>
                <a:latin typeface="Helvetica Neue"/>
                <a:ea typeface="Helvetica Neue"/>
                <a:cs typeface="Helvetica Neue"/>
              </a:defRPr>
            </a:pPr>
            <a:r>
              <a:rPr sz="2100">
                <a:solidFill>
                  <a:srgbClr val="13212D"/>
                </a:solidFill>
                <a:latin typeface="Helvetica Neue"/>
                <a:ea typeface="Helvetica Neue"/>
                <a:cs typeface="Helvetica Neue"/>
              </a:rPr>
              <a:t>Transfusion filters provide a mesh like screen with a surface area large enough to efficiently remove particles.</a:t>
            </a:r>
          </a:p>
          <a:p xmlns:a="http://schemas.openxmlformats.org/drawingml/2006/main">
            <a:pPr marL="279400" indent="-127000">
              <a:spcAft>
                <a:spcPts val="1300"/>
              </a:spcAft>
              <a:buChar char="•"/>
              <a:defRPr sz="2100">
                <a:solidFill>
                  <a:srgbClr val="13212D"/>
                </a:solidFill>
                <a:latin typeface="Helvetica Neue"/>
                <a:ea typeface="Helvetica Neue"/>
                <a:cs typeface="Helvetica Neue"/>
              </a:defRPr>
            </a:pPr>
            <a:r>
              <a:rPr sz="2100">
                <a:solidFill>
                  <a:srgbClr val="13212D"/>
                </a:solidFill>
                <a:latin typeface="Helvetica Neue"/>
                <a:ea typeface="Helvetica Neue"/>
                <a:cs typeface="Helvetica Neue"/>
              </a:rPr>
              <a:t>Most filters can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CFC36BDE-8F87-46F4-A030-8FEE5F4757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6115050"/>
            <a:ext cx="101917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>
            <a:defPPr>
              <a:defRPr sz="1125" b="1">
                <a:solidFill>
                  <a:srgbClr val="B94F3D"/>
                </a:solidFill>
                <a:latin typeface="Helvetica Neue"/>
                <a:ea typeface="Helvetica Neue"/>
                <a:cs typeface="Helvetica Neue"/>
              </a:defRPr>
            </a:defPPr>
            <a:lvl1pPr>
              <a:defRPr sz="1125" b="1">
                <a:solidFill>
                  <a:srgbClr val="B94F3D"/>
                </a:solidFill>
                <a:latin typeface="Helvetica Neue"/>
                <a:ea typeface="Helvetica Neue"/>
                <a:cs typeface="Helvetica Neue"/>
              </a:defRPr>
            </a:lvl1pPr>
            <a:lvl2pPr>
              <a:defRPr sz="1125" b="1">
                <a:solidFill>
                  <a:srgbClr val="B94F3D"/>
                </a:solidFill>
                <a:latin typeface="Helvetica Neue"/>
                <a:ea typeface="Helvetica Neue"/>
                <a:cs typeface="Helvetica Neue"/>
              </a:defRPr>
            </a:lvl2pPr>
            <a:lvl3pPr>
              <a:defRPr sz="1125" b="1">
                <a:solidFill>
                  <a:srgbClr val="B94F3D"/>
                </a:solidFill>
                <a:latin typeface="Helvetica Neue"/>
                <a:ea typeface="Helvetica Neue"/>
                <a:cs typeface="Helvetica Neue"/>
              </a:defRPr>
            </a:lvl3pPr>
            <a:lvl4pPr>
              <a:defRPr sz="1125" b="1">
                <a:solidFill>
                  <a:srgbClr val="B94F3D"/>
                </a:solidFill>
                <a:latin typeface="Helvetica Neue"/>
                <a:ea typeface="Helvetica Neue"/>
                <a:cs typeface="Helvetica Neue"/>
              </a:defRPr>
            </a:lvl4pPr>
            <a:lvl5pPr>
              <a:defRPr sz="1125" b="1">
                <a:solidFill>
                  <a:srgbClr val="B94F3D"/>
                </a:solidFill>
                <a:latin typeface="Helvetica Neue"/>
                <a:ea typeface="Helvetica Neue"/>
                <a:cs typeface="Helvetica Neue"/>
              </a:defRPr>
            </a:lvl5pPr>
            <a:lvl6pPr>
              <a:defRPr sz="1125" b="1">
                <a:solidFill>
                  <a:srgbClr val="B94F3D"/>
                </a:solidFill>
                <a:latin typeface="Helvetica Neue"/>
                <a:ea typeface="Helvetica Neue"/>
                <a:cs typeface="Helvetica Neue"/>
              </a:defRPr>
            </a:lvl6pPr>
            <a:lvl7pPr>
              <a:defRPr sz="1125" b="1">
                <a:solidFill>
                  <a:srgbClr val="B94F3D"/>
                </a:solidFill>
                <a:latin typeface="Helvetica Neue"/>
                <a:ea typeface="Helvetica Neue"/>
                <a:cs typeface="Helvetica Neue"/>
              </a:defRPr>
            </a:lvl7pPr>
            <a:lvl8pPr>
              <a:defRPr sz="1125" b="1">
                <a:solidFill>
                  <a:srgbClr val="B94F3D"/>
                </a:solidFill>
                <a:latin typeface="Helvetica Neue"/>
                <a:ea typeface="Helvetica Neue"/>
                <a:cs typeface="Helvetica Neue"/>
              </a:defRPr>
            </a:lvl8pPr>
            <a:lvl9pPr>
              <a:defRPr sz="1125" b="1">
                <a:solidFill>
                  <a:srgbClr val="B94F3D"/>
                </a:solidFill>
                <a:latin typeface="Helvetica Neue"/>
                <a:ea typeface="Helvetica Neue"/>
                <a:cs typeface="Helvetica Neue"/>
              </a:defRPr>
            </a:lvl9pPr>
          </a:lstStyle>
          <a:p xmlns:a="http://schemas.openxmlformats.org/drawingml/2006/main">
            <a:pPr>
              <a:defRPr sz="1125" b="1">
                <a:solidFill>
                  <a:srgbClr val="B94F3D"/>
                </a:solidFill>
                <a:latin typeface="Helvetica Neue"/>
                <a:ea typeface="Helvetica Neue"/>
                <a:cs typeface="Helvetica Neue"/>
              </a:defRPr>
            </a:pPr>
            <a:r>
              <a:rPr sz="1125" b="1">
                <a:solidFill>
                  <a:srgbClr val="B94F3D"/>
                </a:solidFill>
                <a:latin typeface="Helvetica Neue"/>
                <a:ea typeface="Helvetica Neue"/>
                <a:cs typeface="Helvetica Neue"/>
              </a:rPr>
              <a:t>Use current orders, facility policy, and authorized scope when applying this information.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2954D6B6-EEC4-469C-A921-613763CC06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5772150"/>
            <a:ext cx="101917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97619"/>
          </a:bodyPr>
          <a:lstStyle xmlns:a="http://schemas.openxmlformats.org/drawingml/2006/main">
            <a:defPPr>
              <a:defRPr sz="1050" b="1">
                <a:solidFill>
                  <a:srgbClr val="237B82"/>
                </a:solidFill>
                <a:latin typeface="Helvetica Neue"/>
                <a:ea typeface="Helvetica Neue"/>
                <a:cs typeface="Helvetica Neue"/>
              </a:defRPr>
            </a:defPPr>
            <a:lvl1pPr>
              <a:defRPr sz="1050" b="1">
                <a:solidFill>
                  <a:srgbClr val="237B82"/>
                </a:solidFill>
                <a:latin typeface="Helvetica Neue"/>
                <a:ea typeface="Helvetica Neue"/>
                <a:cs typeface="Helvetica Neue"/>
              </a:defRPr>
            </a:lvl1pPr>
            <a:lvl2pPr>
              <a:defRPr sz="1050" b="1">
                <a:solidFill>
                  <a:srgbClr val="237B82"/>
                </a:solidFill>
                <a:latin typeface="Helvetica Neue"/>
                <a:ea typeface="Helvetica Neue"/>
                <a:cs typeface="Helvetica Neue"/>
              </a:defRPr>
            </a:lvl2pPr>
            <a:lvl3pPr>
              <a:defRPr sz="1050" b="1">
                <a:solidFill>
                  <a:srgbClr val="237B82"/>
                </a:solidFill>
                <a:latin typeface="Helvetica Neue"/>
                <a:ea typeface="Helvetica Neue"/>
                <a:cs typeface="Helvetica Neue"/>
              </a:defRPr>
            </a:lvl3pPr>
            <a:lvl4pPr>
              <a:defRPr sz="1050" b="1">
                <a:solidFill>
                  <a:srgbClr val="237B82"/>
                </a:solidFill>
                <a:latin typeface="Helvetica Neue"/>
                <a:ea typeface="Helvetica Neue"/>
                <a:cs typeface="Helvetica Neue"/>
              </a:defRPr>
            </a:lvl4pPr>
            <a:lvl5pPr>
              <a:defRPr sz="1050" b="1">
                <a:solidFill>
                  <a:srgbClr val="237B82"/>
                </a:solidFill>
                <a:latin typeface="Helvetica Neue"/>
                <a:ea typeface="Helvetica Neue"/>
                <a:cs typeface="Helvetica Neue"/>
              </a:defRPr>
            </a:lvl5pPr>
            <a:lvl6pPr>
              <a:defRPr sz="1050" b="1">
                <a:solidFill>
                  <a:srgbClr val="237B82"/>
                </a:solidFill>
                <a:latin typeface="Helvetica Neue"/>
                <a:ea typeface="Helvetica Neue"/>
                <a:cs typeface="Helvetica Neue"/>
              </a:defRPr>
            </a:lvl6pPr>
            <a:lvl7pPr>
              <a:defRPr sz="1050" b="1">
                <a:solidFill>
                  <a:srgbClr val="237B82"/>
                </a:solidFill>
                <a:latin typeface="Helvetica Neue"/>
                <a:ea typeface="Helvetica Neue"/>
                <a:cs typeface="Helvetica Neue"/>
              </a:defRPr>
            </a:lvl7pPr>
            <a:lvl8pPr>
              <a:defRPr sz="1050" b="1">
                <a:solidFill>
                  <a:srgbClr val="237B82"/>
                </a:solidFill>
                <a:latin typeface="Helvetica Neue"/>
                <a:ea typeface="Helvetica Neue"/>
                <a:cs typeface="Helvetica Neue"/>
              </a:defRPr>
            </a:lvl8pPr>
            <a:lvl9pPr>
              <a:defRPr sz="1050" b="1">
                <a:solidFill>
                  <a:srgbClr val="237B82"/>
                </a:solidFill>
                <a:latin typeface="Helvetica Neue"/>
                <a:ea typeface="Helvetica Neue"/>
                <a:cs typeface="Helvetica Neue"/>
              </a:defRPr>
            </a:lvl9pPr>
          </a:lstStyle>
          <a:p xmlns:a="http://schemas.openxmlformats.org/drawingml/2006/main">
            <a:pPr>
              <a:defRPr sz="1050" b="1">
                <a:solidFill>
                  <a:srgbClr val="237B82"/>
                </a:solidFill>
                <a:latin typeface="Helvetica Neue"/>
                <a:ea typeface="Helvetica Neue"/>
                <a:cs typeface="Helvetica Neue"/>
              </a:defRPr>
            </a:pPr>
            <a:r>
              <a:rPr sz="1050" b="1">
                <a:solidFill>
                  <a:srgbClr val="237B82"/>
                </a:solidFill>
                <a:latin typeface="Helvetica Neue"/>
                <a:ea typeface="Helvetica Neue"/>
                <a:cs typeface="Helvetica Neue"/>
              </a:rPr>
              <a:t>Manual page 56</a:t>
            </a:r>
          </a:p>
        </p:txBody>
      </p:sp>
    </p:spTree>
    <p:extLst>
      <p:ext uri="{BB962C8B-B14F-4D97-AF65-F5344CB8AC3E}">
        <p14:creationId xmlns:p14="http://schemas.microsoft.com/office/powerpoint/2010/main" val="2006702093"/>
      </p:ext>
    </p:extLst>
  </p:cSld>
</p:sld>
</file>

<file path=ppt/slides/slide45.xml><?xml version="1.0" encoding="utf-8"?>
<p:sld xmlns:p="http://schemas.openxmlformats.org/presentationml/2006/main">
  <p:cSld>
    <p:bg>
      <p:bgPr>
        <a:solidFill xmlns:a="http://schemas.openxmlformats.org/drawingml/2006/main">
          <a:srgbClr val="F7F4EE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FD4F60A0-C63D-46D8-BA64-A1ACCB1A96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2095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37B82"/>
          </a:solidFill>
          <a:ln xmlns:a="http://schemas.openxmlformats.org/drawingml/2006/main" w="0">
            <a:solidFill>
              <a:srgbClr val="237B82"/>
            </a:solidFill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86FC4B07-2C12-40EC-A61E-676EBA978D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00050"/>
            <a:ext cx="10001250" cy="819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>
            <a:defPPr>
              <a:defRPr sz="2700" b="1">
                <a:solidFill>
                  <a:srgbClr val="15324A"/>
                </a:solidFill>
                <a:latin typeface="Helvetica Neue"/>
                <a:ea typeface="Helvetica Neue"/>
                <a:cs typeface="Helvetica Neue"/>
              </a:defRPr>
            </a:defPPr>
            <a:lvl1pPr>
              <a:defRPr sz="2700" b="1">
                <a:solidFill>
                  <a:srgbClr val="15324A"/>
                </a:solidFill>
                <a:latin typeface="Helvetica Neue"/>
                <a:ea typeface="Helvetica Neue"/>
                <a:cs typeface="Helvetica Neue"/>
              </a:defRPr>
            </a:lvl1pPr>
            <a:lvl2pPr>
              <a:defRPr sz="2700" b="1">
                <a:solidFill>
                  <a:srgbClr val="15324A"/>
                </a:solidFill>
                <a:latin typeface="Helvetica Neue"/>
                <a:ea typeface="Helvetica Neue"/>
                <a:cs typeface="Helvetica Neue"/>
              </a:defRPr>
            </a:lvl2pPr>
            <a:lvl3pPr>
              <a:defRPr sz="2700" b="1">
                <a:solidFill>
                  <a:srgbClr val="15324A"/>
                </a:solidFill>
                <a:latin typeface="Helvetica Neue"/>
                <a:ea typeface="Helvetica Neue"/>
                <a:cs typeface="Helvetica Neue"/>
              </a:defRPr>
            </a:lvl3pPr>
            <a:lvl4pPr>
              <a:defRPr sz="2700" b="1">
                <a:solidFill>
                  <a:srgbClr val="15324A"/>
                </a:solidFill>
                <a:latin typeface="Helvetica Neue"/>
                <a:ea typeface="Helvetica Neue"/>
                <a:cs typeface="Helvetica Neue"/>
              </a:defRPr>
            </a:lvl4pPr>
            <a:lvl5pPr>
              <a:defRPr sz="2700" b="1">
                <a:solidFill>
                  <a:srgbClr val="15324A"/>
                </a:solidFill>
                <a:latin typeface="Helvetica Neue"/>
                <a:ea typeface="Helvetica Neue"/>
                <a:cs typeface="Helvetica Neue"/>
              </a:defRPr>
            </a:lvl5pPr>
            <a:lvl6pPr>
              <a:defRPr sz="2700" b="1">
                <a:solidFill>
                  <a:srgbClr val="15324A"/>
                </a:solidFill>
                <a:latin typeface="Helvetica Neue"/>
                <a:ea typeface="Helvetica Neue"/>
                <a:cs typeface="Helvetica Neue"/>
              </a:defRPr>
            </a:lvl6pPr>
            <a:lvl7pPr>
              <a:defRPr sz="2700" b="1">
                <a:solidFill>
                  <a:srgbClr val="15324A"/>
                </a:solidFill>
                <a:latin typeface="Helvetica Neue"/>
                <a:ea typeface="Helvetica Neue"/>
                <a:cs typeface="Helvetica Neue"/>
              </a:defRPr>
            </a:lvl7pPr>
            <a:lvl8pPr>
              <a:defRPr sz="2700" b="1">
                <a:solidFill>
                  <a:srgbClr val="15324A"/>
                </a:solidFill>
                <a:latin typeface="Helvetica Neue"/>
                <a:ea typeface="Helvetica Neue"/>
                <a:cs typeface="Helvetica Neue"/>
              </a:defRPr>
            </a:lvl8pPr>
            <a:lvl9pPr>
              <a:defRPr sz="2700" b="1">
                <a:solidFill>
                  <a:srgbClr val="15324A"/>
                </a:solidFill>
                <a:latin typeface="Helvetica Neue"/>
                <a:ea typeface="Helvetica Neue"/>
                <a:cs typeface="Helvetica Neue"/>
              </a:defRPr>
            </a:lvl9pPr>
          </a:lstStyle>
          <a:p xmlns:a="http://schemas.openxmlformats.org/drawingml/2006/main">
            <a:pPr>
              <a:defRPr sz="2700" b="1">
                <a:solidFill>
                  <a:srgbClr val="15324A"/>
                </a:solidFill>
                <a:latin typeface="Helvetica Neue"/>
                <a:ea typeface="Helvetica Neue"/>
                <a:cs typeface="Helvetica Neue"/>
              </a:defRPr>
            </a:pPr>
            <a:r>
              <a:rPr sz="2700" b="1">
                <a:solidFill>
                  <a:srgbClr val="15324A"/>
                </a:solidFill>
                <a:latin typeface="Helvetica Neue"/>
                <a:ea typeface="Helvetica Neue"/>
                <a:cs typeface="Helvetica Neue"/>
              </a:rPr>
              <a:t>from 170 to 220 microns.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320F00AC-5FB7-4742-A108-F5170186EF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1257300"/>
            <a:ext cx="88582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91111"/>
          </a:bodyPr>
          <a:lstStyle xmlns:a="http://schemas.openxmlformats.org/drawingml/2006/main">
            <a:defPPr>
              <a:defRPr sz="1125" b="1">
                <a:solidFill>
                  <a:srgbClr val="237B82"/>
                </a:solidFill>
                <a:latin typeface="Helvetica Neue"/>
                <a:ea typeface="Helvetica Neue"/>
                <a:cs typeface="Helvetica Neue"/>
              </a:defRPr>
            </a:defPPr>
            <a:lvl1pPr>
              <a:defRPr sz="1125" b="1">
                <a:solidFill>
                  <a:srgbClr val="237B82"/>
                </a:solidFill>
                <a:latin typeface="Helvetica Neue"/>
                <a:ea typeface="Helvetica Neue"/>
                <a:cs typeface="Helvetica Neue"/>
              </a:defRPr>
            </a:lvl1pPr>
            <a:lvl2pPr>
              <a:defRPr sz="1125" b="1">
                <a:solidFill>
                  <a:srgbClr val="237B82"/>
                </a:solidFill>
                <a:latin typeface="Helvetica Neue"/>
                <a:ea typeface="Helvetica Neue"/>
                <a:cs typeface="Helvetica Neue"/>
              </a:defRPr>
            </a:lvl2pPr>
            <a:lvl3pPr>
              <a:defRPr sz="1125" b="1">
                <a:solidFill>
                  <a:srgbClr val="237B82"/>
                </a:solidFill>
                <a:latin typeface="Helvetica Neue"/>
                <a:ea typeface="Helvetica Neue"/>
                <a:cs typeface="Helvetica Neue"/>
              </a:defRPr>
            </a:lvl3pPr>
            <a:lvl4pPr>
              <a:defRPr sz="1125" b="1">
                <a:solidFill>
                  <a:srgbClr val="237B82"/>
                </a:solidFill>
                <a:latin typeface="Helvetica Neue"/>
                <a:ea typeface="Helvetica Neue"/>
                <a:cs typeface="Helvetica Neue"/>
              </a:defRPr>
            </a:lvl4pPr>
            <a:lvl5pPr>
              <a:defRPr sz="1125" b="1">
                <a:solidFill>
                  <a:srgbClr val="237B82"/>
                </a:solidFill>
                <a:latin typeface="Helvetica Neue"/>
                <a:ea typeface="Helvetica Neue"/>
                <a:cs typeface="Helvetica Neue"/>
              </a:defRPr>
            </a:lvl5pPr>
            <a:lvl6pPr>
              <a:defRPr sz="1125" b="1">
                <a:solidFill>
                  <a:srgbClr val="237B82"/>
                </a:solidFill>
                <a:latin typeface="Helvetica Neue"/>
                <a:ea typeface="Helvetica Neue"/>
                <a:cs typeface="Helvetica Neue"/>
              </a:defRPr>
            </a:lvl6pPr>
            <a:lvl7pPr>
              <a:defRPr sz="1125" b="1">
                <a:solidFill>
                  <a:srgbClr val="237B82"/>
                </a:solidFill>
                <a:latin typeface="Helvetica Neue"/>
                <a:ea typeface="Helvetica Neue"/>
                <a:cs typeface="Helvetica Neue"/>
              </a:defRPr>
            </a:lvl7pPr>
            <a:lvl8pPr>
              <a:defRPr sz="1125" b="1">
                <a:solidFill>
                  <a:srgbClr val="237B82"/>
                </a:solidFill>
                <a:latin typeface="Helvetica Neue"/>
                <a:ea typeface="Helvetica Neue"/>
                <a:cs typeface="Helvetica Neue"/>
              </a:defRPr>
            </a:lvl8pPr>
            <a:lvl9pPr>
              <a:defRPr sz="1125" b="1">
                <a:solidFill>
                  <a:srgbClr val="237B82"/>
                </a:solidFill>
                <a:latin typeface="Helvetica Neue"/>
                <a:ea typeface="Helvetica Neue"/>
                <a:cs typeface="Helvetica Neue"/>
              </a:defRPr>
            </a:lvl9pPr>
          </a:lstStyle>
          <a:p xmlns:a="http://schemas.openxmlformats.org/drawingml/2006/main">
            <a:pPr>
              <a:defRPr sz="1125" b="1">
                <a:solidFill>
                  <a:srgbClr val="237B82"/>
                </a:solidFill>
                <a:latin typeface="Helvetica Neue"/>
                <a:ea typeface="Helvetica Neue"/>
                <a:cs typeface="Helvetica Neue"/>
              </a:defRPr>
            </a:pPr>
            <a:r>
              <a:rPr sz="1125" b="1">
                <a:solidFill>
                  <a:srgbClr val="237B82"/>
                </a:solidFill>
                <a:latin typeface="Helvetica Neue"/>
                <a:ea typeface="Helvetica Neue"/>
                <a:cs typeface="Helvetica Neue"/>
              </a:rPr>
              <a:t>MODULE 4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146AA9AD-21FD-4B90-A5D6-90D755BEE0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457200"/>
            <a:ext cx="5334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>
            <a:defPPr>
              <a:defRPr sz="1200" b="1">
                <a:solidFill>
                  <a:srgbClr val="237B82"/>
                </a:solidFill>
                <a:latin typeface="Helvetica Neue"/>
                <a:ea typeface="Helvetica Neue"/>
                <a:cs typeface="Helvetica Neue"/>
              </a:defRPr>
            </a:defPPr>
            <a:lvl1pPr>
              <a:defRPr sz="1200" b="1">
                <a:solidFill>
                  <a:srgbClr val="237B82"/>
                </a:solidFill>
                <a:latin typeface="Helvetica Neue"/>
                <a:ea typeface="Helvetica Neue"/>
                <a:cs typeface="Helvetica Neue"/>
              </a:defRPr>
            </a:lvl1pPr>
            <a:lvl2pPr>
              <a:defRPr sz="1200" b="1">
                <a:solidFill>
                  <a:srgbClr val="237B82"/>
                </a:solidFill>
                <a:latin typeface="Helvetica Neue"/>
                <a:ea typeface="Helvetica Neue"/>
                <a:cs typeface="Helvetica Neue"/>
              </a:defRPr>
            </a:lvl2pPr>
            <a:lvl3pPr>
              <a:defRPr sz="1200" b="1">
                <a:solidFill>
                  <a:srgbClr val="237B82"/>
                </a:solidFill>
                <a:latin typeface="Helvetica Neue"/>
                <a:ea typeface="Helvetica Neue"/>
                <a:cs typeface="Helvetica Neue"/>
              </a:defRPr>
            </a:lvl3pPr>
            <a:lvl4pPr>
              <a:defRPr sz="1200" b="1">
                <a:solidFill>
                  <a:srgbClr val="237B82"/>
                </a:solidFill>
                <a:latin typeface="Helvetica Neue"/>
                <a:ea typeface="Helvetica Neue"/>
                <a:cs typeface="Helvetica Neue"/>
              </a:defRPr>
            </a:lvl4pPr>
            <a:lvl5pPr>
              <a:defRPr sz="1200" b="1">
                <a:solidFill>
                  <a:srgbClr val="237B82"/>
                </a:solidFill>
                <a:latin typeface="Helvetica Neue"/>
                <a:ea typeface="Helvetica Neue"/>
                <a:cs typeface="Helvetica Neue"/>
              </a:defRPr>
            </a:lvl5pPr>
            <a:lvl6pPr>
              <a:defRPr sz="1200" b="1">
                <a:solidFill>
                  <a:srgbClr val="237B82"/>
                </a:solidFill>
                <a:latin typeface="Helvetica Neue"/>
                <a:ea typeface="Helvetica Neue"/>
                <a:cs typeface="Helvetica Neue"/>
              </a:defRPr>
            </a:lvl6pPr>
            <a:lvl7pPr>
              <a:defRPr sz="1200" b="1">
                <a:solidFill>
                  <a:srgbClr val="237B82"/>
                </a:solidFill>
                <a:latin typeface="Helvetica Neue"/>
                <a:ea typeface="Helvetica Neue"/>
                <a:cs typeface="Helvetica Neue"/>
              </a:defRPr>
            </a:lvl7pPr>
            <a:lvl8pPr>
              <a:defRPr sz="1200" b="1">
                <a:solidFill>
                  <a:srgbClr val="237B82"/>
                </a:solidFill>
                <a:latin typeface="Helvetica Neue"/>
                <a:ea typeface="Helvetica Neue"/>
                <a:cs typeface="Helvetica Neue"/>
              </a:defRPr>
            </a:lvl8pPr>
            <a:lvl9pPr>
              <a:defRPr sz="1200" b="1">
                <a:solidFill>
                  <a:srgbClr val="237B82"/>
                </a:solidFill>
                <a:latin typeface="Helvetica Neue"/>
                <a:ea typeface="Helvetica Neue"/>
                <a:cs typeface="Helvetica Neue"/>
              </a:defRPr>
            </a:lvl9pPr>
          </a:lstStyle>
          <a:p xmlns:a="http://schemas.openxmlformats.org/drawingml/2006/main">
            <a:pPr>
              <a:defRPr sz="1200" b="1">
                <a:solidFill>
                  <a:srgbClr val="237B82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00" b="1">
                <a:solidFill>
                  <a:srgbClr val="237B82"/>
                </a:solidFill>
                <a:latin typeface="Helvetica Neue"/>
                <a:ea typeface="Helvetica Neue"/>
                <a:cs typeface="Helvetica Neue"/>
              </a:rPr>
              <a:t>45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FA1556FD-07FB-45F0-85B8-B41482C8A3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1762125"/>
            <a:ext cx="10287000" cy="409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>
            <a:defPPr>
              <a:defRPr sz="1875">
                <a:solidFill>
                  <a:srgbClr val="13212D"/>
                </a:solidFill>
                <a:latin typeface="Helvetica Neue"/>
                <a:ea typeface="Helvetica Neue"/>
                <a:cs typeface="Helvetica Neue"/>
              </a:defRPr>
            </a:defPPr>
            <a:lvl1pPr>
              <a:defRPr sz="1875">
                <a:solidFill>
                  <a:srgbClr val="13212D"/>
                </a:solidFill>
                <a:latin typeface="Helvetica Neue"/>
                <a:ea typeface="Helvetica Neue"/>
                <a:cs typeface="Helvetica Neue"/>
              </a:defRPr>
            </a:lvl1pPr>
            <a:lvl2pPr>
              <a:defRPr sz="1875">
                <a:solidFill>
                  <a:srgbClr val="13212D"/>
                </a:solidFill>
                <a:latin typeface="Helvetica Neue"/>
                <a:ea typeface="Helvetica Neue"/>
                <a:cs typeface="Helvetica Neue"/>
              </a:defRPr>
            </a:lvl2pPr>
            <a:lvl3pPr>
              <a:defRPr sz="1875">
                <a:solidFill>
                  <a:srgbClr val="13212D"/>
                </a:solidFill>
                <a:latin typeface="Helvetica Neue"/>
                <a:ea typeface="Helvetica Neue"/>
                <a:cs typeface="Helvetica Neue"/>
              </a:defRPr>
            </a:lvl3pPr>
            <a:lvl4pPr>
              <a:defRPr sz="1875">
                <a:solidFill>
                  <a:srgbClr val="13212D"/>
                </a:solidFill>
                <a:latin typeface="Helvetica Neue"/>
                <a:ea typeface="Helvetica Neue"/>
                <a:cs typeface="Helvetica Neue"/>
              </a:defRPr>
            </a:lvl4pPr>
            <a:lvl5pPr>
              <a:defRPr sz="1875">
                <a:solidFill>
                  <a:srgbClr val="13212D"/>
                </a:solidFill>
                <a:latin typeface="Helvetica Neue"/>
                <a:ea typeface="Helvetica Neue"/>
                <a:cs typeface="Helvetica Neue"/>
              </a:defRPr>
            </a:lvl5pPr>
            <a:lvl6pPr>
              <a:defRPr sz="1875">
                <a:solidFill>
                  <a:srgbClr val="13212D"/>
                </a:solidFill>
                <a:latin typeface="Helvetica Neue"/>
                <a:ea typeface="Helvetica Neue"/>
                <a:cs typeface="Helvetica Neue"/>
              </a:defRPr>
            </a:lvl6pPr>
            <a:lvl7pPr>
              <a:defRPr sz="1875">
                <a:solidFill>
                  <a:srgbClr val="13212D"/>
                </a:solidFill>
                <a:latin typeface="Helvetica Neue"/>
                <a:ea typeface="Helvetica Neue"/>
                <a:cs typeface="Helvetica Neue"/>
              </a:defRPr>
            </a:lvl7pPr>
            <a:lvl8pPr>
              <a:defRPr sz="1875">
                <a:solidFill>
                  <a:srgbClr val="13212D"/>
                </a:solidFill>
                <a:latin typeface="Helvetica Neue"/>
                <a:ea typeface="Helvetica Neue"/>
                <a:cs typeface="Helvetica Neue"/>
              </a:defRPr>
            </a:lvl8pPr>
            <a:lvl9pPr>
              <a:defRPr sz="1875">
                <a:solidFill>
                  <a:srgbClr val="13212D"/>
                </a:solidFill>
                <a:latin typeface="Helvetica Neue"/>
                <a:ea typeface="Helvetica Neue"/>
                <a:cs typeface="Helvetica Neue"/>
              </a:defRPr>
            </a:lvl9pPr>
          </a:lstStyle>
          <a:p xmlns:a="http://schemas.openxmlformats.org/drawingml/2006/main">
            <a:pPr marL="279400" indent="-127000">
              <a:spcAft>
                <a:spcPts val="1300"/>
              </a:spcAft>
              <a:buChar char="•"/>
              <a:defRPr sz="1875">
                <a:solidFill>
                  <a:srgbClr val="13212D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75">
                <a:solidFill>
                  <a:srgbClr val="13212D"/>
                </a:solidFill>
                <a:latin typeface="Helvetica Neue"/>
                <a:ea typeface="Helvetica Neue"/>
                <a:cs typeface="Helvetica Neue"/>
              </a:rPr>
              <a:t>be used for up to 4 units of blood depending on the type of anticoagulant used in the blood container and the age of the unit of blood.</a:t>
            </a:r>
          </a:p>
          <a:p xmlns:a="http://schemas.openxmlformats.org/drawingml/2006/main">
            <a:pPr marL="279400" indent="-127000">
              <a:spcAft>
                <a:spcPts val="1300"/>
              </a:spcAft>
              <a:buChar char="•"/>
              <a:defRPr sz="1875">
                <a:solidFill>
                  <a:srgbClr val="13212D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75">
                <a:solidFill>
                  <a:srgbClr val="13212D"/>
                </a:solidFill>
                <a:latin typeface="Helvetica Neue"/>
                <a:ea typeface="Helvetica Neue"/>
                <a:cs typeface="Helvetica Neue"/>
              </a:rPr>
              <a:t>Average pore size of the filter ranges Platelets and cryoprecipitate are infused through a filter similar to the blood filter, but.</a:t>
            </a:r>
          </a:p>
          <a:p xmlns:a="http://schemas.openxmlformats.org/drawingml/2006/main">
            <a:pPr marL="279400" indent="-127000">
              <a:spcAft>
                <a:spcPts val="1300"/>
              </a:spcAft>
              <a:buChar char="•"/>
              <a:defRPr sz="1875">
                <a:solidFill>
                  <a:srgbClr val="13212D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75">
                <a:solidFill>
                  <a:srgbClr val="13212D"/>
                </a:solidFill>
                <a:latin typeface="Helvetica Neue"/>
                <a:ea typeface="Helvetica Neue"/>
                <a:cs typeface="Helvetica Neue"/>
              </a:rPr>
              <a:t>with a smaller drip chamber.</a:t>
            </a:r>
          </a:p>
          <a:p xmlns:a="http://schemas.openxmlformats.org/drawingml/2006/main">
            <a:pPr marL="279400" indent="-127000">
              <a:spcAft>
                <a:spcPts val="1300"/>
              </a:spcAft>
              <a:buChar char="•"/>
              <a:defRPr sz="1875">
                <a:solidFill>
                  <a:srgbClr val="13212D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75">
                <a:solidFill>
                  <a:srgbClr val="13212D"/>
                </a:solidFill>
                <a:latin typeface="Helvetica Neue"/>
                <a:ea typeface="Helvetica Neue"/>
                <a:cs typeface="Helvetica Neue"/>
              </a:rPr>
              <a:t>It requires less volume to prime and also contains no rubber in the tubing that would cause platelet aggregation.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D7C941BC-76E3-47FA-94B2-3A807C2205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6115050"/>
            <a:ext cx="101917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>
            <a:defPPr>
              <a:defRPr sz="1125" b="1">
                <a:solidFill>
                  <a:srgbClr val="B94F3D"/>
                </a:solidFill>
                <a:latin typeface="Helvetica Neue"/>
                <a:ea typeface="Helvetica Neue"/>
                <a:cs typeface="Helvetica Neue"/>
              </a:defRPr>
            </a:defPPr>
            <a:lvl1pPr>
              <a:defRPr sz="1125" b="1">
                <a:solidFill>
                  <a:srgbClr val="B94F3D"/>
                </a:solidFill>
                <a:latin typeface="Helvetica Neue"/>
                <a:ea typeface="Helvetica Neue"/>
                <a:cs typeface="Helvetica Neue"/>
              </a:defRPr>
            </a:lvl1pPr>
            <a:lvl2pPr>
              <a:defRPr sz="1125" b="1">
                <a:solidFill>
                  <a:srgbClr val="B94F3D"/>
                </a:solidFill>
                <a:latin typeface="Helvetica Neue"/>
                <a:ea typeface="Helvetica Neue"/>
                <a:cs typeface="Helvetica Neue"/>
              </a:defRPr>
            </a:lvl2pPr>
            <a:lvl3pPr>
              <a:defRPr sz="1125" b="1">
                <a:solidFill>
                  <a:srgbClr val="B94F3D"/>
                </a:solidFill>
                <a:latin typeface="Helvetica Neue"/>
                <a:ea typeface="Helvetica Neue"/>
                <a:cs typeface="Helvetica Neue"/>
              </a:defRPr>
            </a:lvl3pPr>
            <a:lvl4pPr>
              <a:defRPr sz="1125" b="1">
                <a:solidFill>
                  <a:srgbClr val="B94F3D"/>
                </a:solidFill>
                <a:latin typeface="Helvetica Neue"/>
                <a:ea typeface="Helvetica Neue"/>
                <a:cs typeface="Helvetica Neue"/>
              </a:defRPr>
            </a:lvl4pPr>
            <a:lvl5pPr>
              <a:defRPr sz="1125" b="1">
                <a:solidFill>
                  <a:srgbClr val="B94F3D"/>
                </a:solidFill>
                <a:latin typeface="Helvetica Neue"/>
                <a:ea typeface="Helvetica Neue"/>
                <a:cs typeface="Helvetica Neue"/>
              </a:defRPr>
            </a:lvl5pPr>
            <a:lvl6pPr>
              <a:defRPr sz="1125" b="1">
                <a:solidFill>
                  <a:srgbClr val="B94F3D"/>
                </a:solidFill>
                <a:latin typeface="Helvetica Neue"/>
                <a:ea typeface="Helvetica Neue"/>
                <a:cs typeface="Helvetica Neue"/>
              </a:defRPr>
            </a:lvl6pPr>
            <a:lvl7pPr>
              <a:defRPr sz="1125" b="1">
                <a:solidFill>
                  <a:srgbClr val="B94F3D"/>
                </a:solidFill>
                <a:latin typeface="Helvetica Neue"/>
                <a:ea typeface="Helvetica Neue"/>
                <a:cs typeface="Helvetica Neue"/>
              </a:defRPr>
            </a:lvl7pPr>
            <a:lvl8pPr>
              <a:defRPr sz="1125" b="1">
                <a:solidFill>
                  <a:srgbClr val="B94F3D"/>
                </a:solidFill>
                <a:latin typeface="Helvetica Neue"/>
                <a:ea typeface="Helvetica Neue"/>
                <a:cs typeface="Helvetica Neue"/>
              </a:defRPr>
            </a:lvl8pPr>
            <a:lvl9pPr>
              <a:defRPr sz="1125" b="1">
                <a:solidFill>
                  <a:srgbClr val="B94F3D"/>
                </a:solidFill>
                <a:latin typeface="Helvetica Neue"/>
                <a:ea typeface="Helvetica Neue"/>
                <a:cs typeface="Helvetica Neue"/>
              </a:defRPr>
            </a:lvl9pPr>
          </a:lstStyle>
          <a:p xmlns:a="http://schemas.openxmlformats.org/drawingml/2006/main">
            <a:pPr>
              <a:defRPr sz="1125" b="1">
                <a:solidFill>
                  <a:srgbClr val="B94F3D"/>
                </a:solidFill>
                <a:latin typeface="Helvetica Neue"/>
                <a:ea typeface="Helvetica Neue"/>
                <a:cs typeface="Helvetica Neue"/>
              </a:defRPr>
            </a:pPr>
            <a:r>
              <a:rPr sz="1125" b="1">
                <a:solidFill>
                  <a:srgbClr val="B94F3D"/>
                </a:solidFill>
                <a:latin typeface="Helvetica Neue"/>
                <a:ea typeface="Helvetica Neue"/>
                <a:cs typeface="Helvetica Neue"/>
              </a:rPr>
              <a:t>Use current orders, facility policy, and authorized scope when applying this information.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7CFBE768-5883-4390-8185-EAFCD3E668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5772150"/>
            <a:ext cx="101917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97619"/>
          </a:bodyPr>
          <a:lstStyle xmlns:a="http://schemas.openxmlformats.org/drawingml/2006/main">
            <a:defPPr>
              <a:defRPr sz="1050" b="1">
                <a:solidFill>
                  <a:srgbClr val="237B82"/>
                </a:solidFill>
                <a:latin typeface="Helvetica Neue"/>
                <a:ea typeface="Helvetica Neue"/>
                <a:cs typeface="Helvetica Neue"/>
              </a:defRPr>
            </a:defPPr>
            <a:lvl1pPr>
              <a:defRPr sz="1050" b="1">
                <a:solidFill>
                  <a:srgbClr val="237B82"/>
                </a:solidFill>
                <a:latin typeface="Helvetica Neue"/>
                <a:ea typeface="Helvetica Neue"/>
                <a:cs typeface="Helvetica Neue"/>
              </a:defRPr>
            </a:lvl1pPr>
            <a:lvl2pPr>
              <a:defRPr sz="1050" b="1">
                <a:solidFill>
                  <a:srgbClr val="237B82"/>
                </a:solidFill>
                <a:latin typeface="Helvetica Neue"/>
                <a:ea typeface="Helvetica Neue"/>
                <a:cs typeface="Helvetica Neue"/>
              </a:defRPr>
            </a:lvl2pPr>
            <a:lvl3pPr>
              <a:defRPr sz="1050" b="1">
                <a:solidFill>
                  <a:srgbClr val="237B82"/>
                </a:solidFill>
                <a:latin typeface="Helvetica Neue"/>
                <a:ea typeface="Helvetica Neue"/>
                <a:cs typeface="Helvetica Neue"/>
              </a:defRPr>
            </a:lvl3pPr>
            <a:lvl4pPr>
              <a:defRPr sz="1050" b="1">
                <a:solidFill>
                  <a:srgbClr val="237B82"/>
                </a:solidFill>
                <a:latin typeface="Helvetica Neue"/>
                <a:ea typeface="Helvetica Neue"/>
                <a:cs typeface="Helvetica Neue"/>
              </a:defRPr>
            </a:lvl4pPr>
            <a:lvl5pPr>
              <a:defRPr sz="1050" b="1">
                <a:solidFill>
                  <a:srgbClr val="237B82"/>
                </a:solidFill>
                <a:latin typeface="Helvetica Neue"/>
                <a:ea typeface="Helvetica Neue"/>
                <a:cs typeface="Helvetica Neue"/>
              </a:defRPr>
            </a:lvl5pPr>
            <a:lvl6pPr>
              <a:defRPr sz="1050" b="1">
                <a:solidFill>
                  <a:srgbClr val="237B82"/>
                </a:solidFill>
                <a:latin typeface="Helvetica Neue"/>
                <a:ea typeface="Helvetica Neue"/>
                <a:cs typeface="Helvetica Neue"/>
              </a:defRPr>
            </a:lvl6pPr>
            <a:lvl7pPr>
              <a:defRPr sz="1050" b="1">
                <a:solidFill>
                  <a:srgbClr val="237B82"/>
                </a:solidFill>
                <a:latin typeface="Helvetica Neue"/>
                <a:ea typeface="Helvetica Neue"/>
                <a:cs typeface="Helvetica Neue"/>
              </a:defRPr>
            </a:lvl7pPr>
            <a:lvl8pPr>
              <a:defRPr sz="1050" b="1">
                <a:solidFill>
                  <a:srgbClr val="237B82"/>
                </a:solidFill>
                <a:latin typeface="Helvetica Neue"/>
                <a:ea typeface="Helvetica Neue"/>
                <a:cs typeface="Helvetica Neue"/>
              </a:defRPr>
            </a:lvl8pPr>
            <a:lvl9pPr>
              <a:defRPr sz="1050" b="1">
                <a:solidFill>
                  <a:srgbClr val="237B82"/>
                </a:solidFill>
                <a:latin typeface="Helvetica Neue"/>
                <a:ea typeface="Helvetica Neue"/>
                <a:cs typeface="Helvetica Neue"/>
              </a:defRPr>
            </a:lvl9pPr>
          </a:lstStyle>
          <a:p xmlns:a="http://schemas.openxmlformats.org/drawingml/2006/main">
            <a:pPr>
              <a:defRPr sz="1050" b="1">
                <a:solidFill>
                  <a:srgbClr val="237B82"/>
                </a:solidFill>
                <a:latin typeface="Helvetica Neue"/>
                <a:ea typeface="Helvetica Neue"/>
                <a:cs typeface="Helvetica Neue"/>
              </a:defRPr>
            </a:pPr>
            <a:r>
              <a:rPr sz="1050" b="1">
                <a:solidFill>
                  <a:srgbClr val="237B82"/>
                </a:solidFill>
                <a:latin typeface="Helvetica Neue"/>
                <a:ea typeface="Helvetica Neue"/>
                <a:cs typeface="Helvetica Neue"/>
              </a:rPr>
              <a:t>Manual page 57</a:t>
            </a:r>
          </a:p>
        </p:txBody>
      </p:sp>
    </p:spTree>
    <p:extLst>
      <p:ext uri="{BB962C8B-B14F-4D97-AF65-F5344CB8AC3E}">
        <p14:creationId xmlns:p14="http://schemas.microsoft.com/office/powerpoint/2010/main" val="947286485"/>
      </p:ext>
    </p:extLst>
  </p:cSld>
</p:sld>
</file>

<file path=ppt/slides/slide46.xml><?xml version="1.0" encoding="utf-8"?>
<p:sld xmlns:p="http://schemas.openxmlformats.org/presentationml/2006/main">
  <p:cSld>
    <p:bg>
      <p:bgPr>
        <a:solidFill xmlns:a="http://schemas.openxmlformats.org/drawingml/2006/main">
          <a:srgbClr val="F7F4EE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7E21C2C7-85C2-4182-A4A9-3D6A5DCDD8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2095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37B82"/>
          </a:solidFill>
          <a:ln xmlns:a="http://schemas.openxmlformats.org/drawingml/2006/main" w="0">
            <a:solidFill>
              <a:srgbClr val="237B82"/>
            </a:solidFill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9CAE8F64-C732-41C4-A2C1-A3D7F29A5E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00050"/>
            <a:ext cx="10001250" cy="819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>
            <a:defPPr>
              <a:defRPr sz="2700" b="1">
                <a:solidFill>
                  <a:srgbClr val="15324A"/>
                </a:solidFill>
                <a:latin typeface="Helvetica Neue"/>
                <a:ea typeface="Helvetica Neue"/>
                <a:cs typeface="Helvetica Neue"/>
              </a:defRPr>
            </a:defPPr>
            <a:lvl1pPr>
              <a:defRPr sz="2700" b="1">
                <a:solidFill>
                  <a:srgbClr val="15324A"/>
                </a:solidFill>
                <a:latin typeface="Helvetica Neue"/>
                <a:ea typeface="Helvetica Neue"/>
                <a:cs typeface="Helvetica Neue"/>
              </a:defRPr>
            </a:lvl1pPr>
            <a:lvl2pPr>
              <a:defRPr sz="2700" b="1">
                <a:solidFill>
                  <a:srgbClr val="15324A"/>
                </a:solidFill>
                <a:latin typeface="Helvetica Neue"/>
                <a:ea typeface="Helvetica Neue"/>
                <a:cs typeface="Helvetica Neue"/>
              </a:defRPr>
            </a:lvl2pPr>
            <a:lvl3pPr>
              <a:defRPr sz="2700" b="1">
                <a:solidFill>
                  <a:srgbClr val="15324A"/>
                </a:solidFill>
                <a:latin typeface="Helvetica Neue"/>
                <a:ea typeface="Helvetica Neue"/>
                <a:cs typeface="Helvetica Neue"/>
              </a:defRPr>
            </a:lvl3pPr>
            <a:lvl4pPr>
              <a:defRPr sz="2700" b="1">
                <a:solidFill>
                  <a:srgbClr val="15324A"/>
                </a:solidFill>
                <a:latin typeface="Helvetica Neue"/>
                <a:ea typeface="Helvetica Neue"/>
                <a:cs typeface="Helvetica Neue"/>
              </a:defRPr>
            </a:lvl4pPr>
            <a:lvl5pPr>
              <a:defRPr sz="2700" b="1">
                <a:solidFill>
                  <a:srgbClr val="15324A"/>
                </a:solidFill>
                <a:latin typeface="Helvetica Neue"/>
                <a:ea typeface="Helvetica Neue"/>
                <a:cs typeface="Helvetica Neue"/>
              </a:defRPr>
            </a:lvl5pPr>
            <a:lvl6pPr>
              <a:defRPr sz="2700" b="1">
                <a:solidFill>
                  <a:srgbClr val="15324A"/>
                </a:solidFill>
                <a:latin typeface="Helvetica Neue"/>
                <a:ea typeface="Helvetica Neue"/>
                <a:cs typeface="Helvetica Neue"/>
              </a:defRPr>
            </a:lvl6pPr>
            <a:lvl7pPr>
              <a:defRPr sz="2700" b="1">
                <a:solidFill>
                  <a:srgbClr val="15324A"/>
                </a:solidFill>
                <a:latin typeface="Helvetica Neue"/>
                <a:ea typeface="Helvetica Neue"/>
                <a:cs typeface="Helvetica Neue"/>
              </a:defRPr>
            </a:lvl7pPr>
            <a:lvl8pPr>
              <a:defRPr sz="2700" b="1">
                <a:solidFill>
                  <a:srgbClr val="15324A"/>
                </a:solidFill>
                <a:latin typeface="Helvetica Neue"/>
                <a:ea typeface="Helvetica Neue"/>
                <a:cs typeface="Helvetica Neue"/>
              </a:defRPr>
            </a:lvl8pPr>
            <a:lvl9pPr>
              <a:defRPr sz="2700" b="1">
                <a:solidFill>
                  <a:srgbClr val="15324A"/>
                </a:solidFill>
                <a:latin typeface="Helvetica Neue"/>
                <a:ea typeface="Helvetica Neue"/>
                <a:cs typeface="Helvetica Neue"/>
              </a:defRPr>
            </a:lvl9pPr>
          </a:lstStyle>
          <a:p xmlns:a="http://schemas.openxmlformats.org/drawingml/2006/main">
            <a:pPr>
              <a:defRPr sz="2700" b="1">
                <a:solidFill>
                  <a:srgbClr val="15324A"/>
                </a:solidFill>
                <a:latin typeface="Helvetica Neue"/>
                <a:ea typeface="Helvetica Neue"/>
                <a:cs typeface="Helvetica Neue"/>
              </a:defRPr>
            </a:pPr>
            <a:r>
              <a:rPr sz="2700" b="1">
                <a:solidFill>
                  <a:srgbClr val="15324A"/>
                </a:solidFill>
                <a:latin typeface="Helvetica Neue"/>
                <a:ea typeface="Helvetica Neue"/>
                <a:cs typeface="Helvetica Neue"/>
              </a:rPr>
              <a:t>from 170 to 220 microns. — continued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DC9D97B7-B43A-46B0-A684-B1DCA32587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1257300"/>
            <a:ext cx="88582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91111"/>
          </a:bodyPr>
          <a:lstStyle xmlns:a="http://schemas.openxmlformats.org/drawingml/2006/main">
            <a:defPPr>
              <a:defRPr sz="1125" b="1">
                <a:solidFill>
                  <a:srgbClr val="237B82"/>
                </a:solidFill>
                <a:latin typeface="Helvetica Neue"/>
                <a:ea typeface="Helvetica Neue"/>
                <a:cs typeface="Helvetica Neue"/>
              </a:defRPr>
            </a:defPPr>
            <a:lvl1pPr>
              <a:defRPr sz="1125" b="1">
                <a:solidFill>
                  <a:srgbClr val="237B82"/>
                </a:solidFill>
                <a:latin typeface="Helvetica Neue"/>
                <a:ea typeface="Helvetica Neue"/>
                <a:cs typeface="Helvetica Neue"/>
              </a:defRPr>
            </a:lvl1pPr>
            <a:lvl2pPr>
              <a:defRPr sz="1125" b="1">
                <a:solidFill>
                  <a:srgbClr val="237B82"/>
                </a:solidFill>
                <a:latin typeface="Helvetica Neue"/>
                <a:ea typeface="Helvetica Neue"/>
                <a:cs typeface="Helvetica Neue"/>
              </a:defRPr>
            </a:lvl2pPr>
            <a:lvl3pPr>
              <a:defRPr sz="1125" b="1">
                <a:solidFill>
                  <a:srgbClr val="237B82"/>
                </a:solidFill>
                <a:latin typeface="Helvetica Neue"/>
                <a:ea typeface="Helvetica Neue"/>
                <a:cs typeface="Helvetica Neue"/>
              </a:defRPr>
            </a:lvl3pPr>
            <a:lvl4pPr>
              <a:defRPr sz="1125" b="1">
                <a:solidFill>
                  <a:srgbClr val="237B82"/>
                </a:solidFill>
                <a:latin typeface="Helvetica Neue"/>
                <a:ea typeface="Helvetica Neue"/>
                <a:cs typeface="Helvetica Neue"/>
              </a:defRPr>
            </a:lvl4pPr>
            <a:lvl5pPr>
              <a:defRPr sz="1125" b="1">
                <a:solidFill>
                  <a:srgbClr val="237B82"/>
                </a:solidFill>
                <a:latin typeface="Helvetica Neue"/>
                <a:ea typeface="Helvetica Neue"/>
                <a:cs typeface="Helvetica Neue"/>
              </a:defRPr>
            </a:lvl5pPr>
            <a:lvl6pPr>
              <a:defRPr sz="1125" b="1">
                <a:solidFill>
                  <a:srgbClr val="237B82"/>
                </a:solidFill>
                <a:latin typeface="Helvetica Neue"/>
                <a:ea typeface="Helvetica Neue"/>
                <a:cs typeface="Helvetica Neue"/>
              </a:defRPr>
            </a:lvl6pPr>
            <a:lvl7pPr>
              <a:defRPr sz="1125" b="1">
                <a:solidFill>
                  <a:srgbClr val="237B82"/>
                </a:solidFill>
                <a:latin typeface="Helvetica Neue"/>
                <a:ea typeface="Helvetica Neue"/>
                <a:cs typeface="Helvetica Neue"/>
              </a:defRPr>
            </a:lvl7pPr>
            <a:lvl8pPr>
              <a:defRPr sz="1125" b="1">
                <a:solidFill>
                  <a:srgbClr val="237B82"/>
                </a:solidFill>
                <a:latin typeface="Helvetica Neue"/>
                <a:ea typeface="Helvetica Neue"/>
                <a:cs typeface="Helvetica Neue"/>
              </a:defRPr>
            </a:lvl8pPr>
            <a:lvl9pPr>
              <a:defRPr sz="1125" b="1">
                <a:solidFill>
                  <a:srgbClr val="237B82"/>
                </a:solidFill>
                <a:latin typeface="Helvetica Neue"/>
                <a:ea typeface="Helvetica Neue"/>
                <a:cs typeface="Helvetica Neue"/>
              </a:defRPr>
            </a:lvl9pPr>
          </a:lstStyle>
          <a:p xmlns:a="http://schemas.openxmlformats.org/drawingml/2006/main">
            <a:pPr>
              <a:defRPr sz="1125" b="1">
                <a:solidFill>
                  <a:srgbClr val="237B82"/>
                </a:solidFill>
                <a:latin typeface="Helvetica Neue"/>
                <a:ea typeface="Helvetica Neue"/>
                <a:cs typeface="Helvetica Neue"/>
              </a:defRPr>
            </a:pPr>
            <a:r>
              <a:rPr sz="1125" b="1">
                <a:solidFill>
                  <a:srgbClr val="237B82"/>
                </a:solidFill>
                <a:latin typeface="Helvetica Neue"/>
                <a:ea typeface="Helvetica Neue"/>
                <a:cs typeface="Helvetica Neue"/>
              </a:rPr>
              <a:t>MODULE 4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A22724DC-76FC-43BA-BCDE-44F3A3A60E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457200"/>
            <a:ext cx="5334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>
            <a:defPPr>
              <a:defRPr sz="1200" b="1">
                <a:solidFill>
                  <a:srgbClr val="237B82"/>
                </a:solidFill>
                <a:latin typeface="Helvetica Neue"/>
                <a:ea typeface="Helvetica Neue"/>
                <a:cs typeface="Helvetica Neue"/>
              </a:defRPr>
            </a:defPPr>
            <a:lvl1pPr>
              <a:defRPr sz="1200" b="1">
                <a:solidFill>
                  <a:srgbClr val="237B82"/>
                </a:solidFill>
                <a:latin typeface="Helvetica Neue"/>
                <a:ea typeface="Helvetica Neue"/>
                <a:cs typeface="Helvetica Neue"/>
              </a:defRPr>
            </a:lvl1pPr>
            <a:lvl2pPr>
              <a:defRPr sz="1200" b="1">
                <a:solidFill>
                  <a:srgbClr val="237B82"/>
                </a:solidFill>
                <a:latin typeface="Helvetica Neue"/>
                <a:ea typeface="Helvetica Neue"/>
                <a:cs typeface="Helvetica Neue"/>
              </a:defRPr>
            </a:lvl2pPr>
            <a:lvl3pPr>
              <a:defRPr sz="1200" b="1">
                <a:solidFill>
                  <a:srgbClr val="237B82"/>
                </a:solidFill>
                <a:latin typeface="Helvetica Neue"/>
                <a:ea typeface="Helvetica Neue"/>
                <a:cs typeface="Helvetica Neue"/>
              </a:defRPr>
            </a:lvl3pPr>
            <a:lvl4pPr>
              <a:defRPr sz="1200" b="1">
                <a:solidFill>
                  <a:srgbClr val="237B82"/>
                </a:solidFill>
                <a:latin typeface="Helvetica Neue"/>
                <a:ea typeface="Helvetica Neue"/>
                <a:cs typeface="Helvetica Neue"/>
              </a:defRPr>
            </a:lvl4pPr>
            <a:lvl5pPr>
              <a:defRPr sz="1200" b="1">
                <a:solidFill>
                  <a:srgbClr val="237B82"/>
                </a:solidFill>
                <a:latin typeface="Helvetica Neue"/>
                <a:ea typeface="Helvetica Neue"/>
                <a:cs typeface="Helvetica Neue"/>
              </a:defRPr>
            </a:lvl5pPr>
            <a:lvl6pPr>
              <a:defRPr sz="1200" b="1">
                <a:solidFill>
                  <a:srgbClr val="237B82"/>
                </a:solidFill>
                <a:latin typeface="Helvetica Neue"/>
                <a:ea typeface="Helvetica Neue"/>
                <a:cs typeface="Helvetica Neue"/>
              </a:defRPr>
            </a:lvl6pPr>
            <a:lvl7pPr>
              <a:defRPr sz="1200" b="1">
                <a:solidFill>
                  <a:srgbClr val="237B82"/>
                </a:solidFill>
                <a:latin typeface="Helvetica Neue"/>
                <a:ea typeface="Helvetica Neue"/>
                <a:cs typeface="Helvetica Neue"/>
              </a:defRPr>
            </a:lvl7pPr>
            <a:lvl8pPr>
              <a:defRPr sz="1200" b="1">
                <a:solidFill>
                  <a:srgbClr val="237B82"/>
                </a:solidFill>
                <a:latin typeface="Helvetica Neue"/>
                <a:ea typeface="Helvetica Neue"/>
                <a:cs typeface="Helvetica Neue"/>
              </a:defRPr>
            </a:lvl8pPr>
            <a:lvl9pPr>
              <a:defRPr sz="1200" b="1">
                <a:solidFill>
                  <a:srgbClr val="237B82"/>
                </a:solidFill>
                <a:latin typeface="Helvetica Neue"/>
                <a:ea typeface="Helvetica Neue"/>
                <a:cs typeface="Helvetica Neue"/>
              </a:defRPr>
            </a:lvl9pPr>
          </a:lstStyle>
          <a:p xmlns:a="http://schemas.openxmlformats.org/drawingml/2006/main">
            <a:pPr>
              <a:defRPr sz="1200" b="1">
                <a:solidFill>
                  <a:srgbClr val="237B82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00" b="1">
                <a:solidFill>
                  <a:srgbClr val="237B82"/>
                </a:solidFill>
                <a:latin typeface="Helvetica Neue"/>
                <a:ea typeface="Helvetica Neue"/>
                <a:cs typeface="Helvetica Neue"/>
              </a:rPr>
              <a:t>46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25E71290-72E8-45EF-B5BD-5FDFCD9304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1762125"/>
            <a:ext cx="10287000" cy="409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>
            <a:defPPr>
              <a:defRPr sz="1875">
                <a:solidFill>
                  <a:srgbClr val="13212D"/>
                </a:solidFill>
                <a:latin typeface="Helvetica Neue"/>
                <a:ea typeface="Helvetica Neue"/>
                <a:cs typeface="Helvetica Neue"/>
              </a:defRPr>
            </a:defPPr>
            <a:lvl1pPr>
              <a:defRPr sz="1875">
                <a:solidFill>
                  <a:srgbClr val="13212D"/>
                </a:solidFill>
                <a:latin typeface="Helvetica Neue"/>
                <a:ea typeface="Helvetica Neue"/>
                <a:cs typeface="Helvetica Neue"/>
              </a:defRPr>
            </a:lvl1pPr>
            <a:lvl2pPr>
              <a:defRPr sz="1875">
                <a:solidFill>
                  <a:srgbClr val="13212D"/>
                </a:solidFill>
                <a:latin typeface="Helvetica Neue"/>
                <a:ea typeface="Helvetica Neue"/>
                <a:cs typeface="Helvetica Neue"/>
              </a:defRPr>
            </a:lvl2pPr>
            <a:lvl3pPr>
              <a:defRPr sz="1875">
                <a:solidFill>
                  <a:srgbClr val="13212D"/>
                </a:solidFill>
                <a:latin typeface="Helvetica Neue"/>
                <a:ea typeface="Helvetica Neue"/>
                <a:cs typeface="Helvetica Neue"/>
              </a:defRPr>
            </a:lvl3pPr>
            <a:lvl4pPr>
              <a:defRPr sz="1875">
                <a:solidFill>
                  <a:srgbClr val="13212D"/>
                </a:solidFill>
                <a:latin typeface="Helvetica Neue"/>
                <a:ea typeface="Helvetica Neue"/>
                <a:cs typeface="Helvetica Neue"/>
              </a:defRPr>
            </a:lvl4pPr>
            <a:lvl5pPr>
              <a:defRPr sz="1875">
                <a:solidFill>
                  <a:srgbClr val="13212D"/>
                </a:solidFill>
                <a:latin typeface="Helvetica Neue"/>
                <a:ea typeface="Helvetica Neue"/>
                <a:cs typeface="Helvetica Neue"/>
              </a:defRPr>
            </a:lvl5pPr>
            <a:lvl6pPr>
              <a:defRPr sz="1875">
                <a:solidFill>
                  <a:srgbClr val="13212D"/>
                </a:solidFill>
                <a:latin typeface="Helvetica Neue"/>
                <a:ea typeface="Helvetica Neue"/>
                <a:cs typeface="Helvetica Neue"/>
              </a:defRPr>
            </a:lvl6pPr>
            <a:lvl7pPr>
              <a:defRPr sz="1875">
                <a:solidFill>
                  <a:srgbClr val="13212D"/>
                </a:solidFill>
                <a:latin typeface="Helvetica Neue"/>
                <a:ea typeface="Helvetica Neue"/>
                <a:cs typeface="Helvetica Neue"/>
              </a:defRPr>
            </a:lvl7pPr>
            <a:lvl8pPr>
              <a:defRPr sz="1875">
                <a:solidFill>
                  <a:srgbClr val="13212D"/>
                </a:solidFill>
                <a:latin typeface="Helvetica Neue"/>
                <a:ea typeface="Helvetica Neue"/>
                <a:cs typeface="Helvetica Neue"/>
              </a:defRPr>
            </a:lvl8pPr>
            <a:lvl9pPr>
              <a:defRPr sz="1875">
                <a:solidFill>
                  <a:srgbClr val="13212D"/>
                </a:solidFill>
                <a:latin typeface="Helvetica Neue"/>
                <a:ea typeface="Helvetica Neue"/>
                <a:cs typeface="Helvetica Neue"/>
              </a:defRPr>
            </a:lvl9pPr>
          </a:lstStyle>
          <a:p xmlns:a="http://schemas.openxmlformats.org/drawingml/2006/main">
            <a:pPr marL="279400" indent="-127000">
              <a:spcAft>
                <a:spcPts val="1300"/>
              </a:spcAft>
              <a:buChar char="•"/>
              <a:defRPr sz="1875">
                <a:solidFill>
                  <a:srgbClr val="13212D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75">
                <a:solidFill>
                  <a:srgbClr val="13212D"/>
                </a:solidFill>
                <a:latin typeface="Helvetica Neue"/>
                <a:ea typeface="Helvetica Neue"/>
                <a:cs typeface="Helvetica Neue"/>
              </a:rPr>
              <a:t>Micro aggregate filters are often preferred for patients with compromised pulmonary function or those with a history of febrile reactions.</a:t>
            </a:r>
          </a:p>
          <a:p xmlns:a="http://schemas.openxmlformats.org/drawingml/2006/main">
            <a:pPr marL="279400" indent="-127000">
              <a:spcAft>
                <a:spcPts val="1300"/>
              </a:spcAft>
              <a:buChar char="•"/>
              <a:defRPr sz="1875">
                <a:solidFill>
                  <a:srgbClr val="13212D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75">
                <a:solidFill>
                  <a:srgbClr val="13212D"/>
                </a:solidFill>
                <a:latin typeface="Helvetica Neue"/>
                <a:ea typeface="Helvetica Neue"/>
                <a:cs typeface="Helvetica Neue"/>
              </a:rPr>
              <a:t>These filters range in size from 20 to 40 microns.</a:t>
            </a:r>
          </a:p>
          <a:p xmlns:a="http://schemas.openxmlformats.org/drawingml/2006/main">
            <a:pPr marL="279400" indent="-127000">
              <a:spcAft>
                <a:spcPts val="1300"/>
              </a:spcAft>
              <a:buChar char="•"/>
              <a:defRPr sz="1875">
                <a:solidFill>
                  <a:srgbClr val="13212D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75">
                <a:solidFill>
                  <a:srgbClr val="13212D"/>
                </a:solidFill>
                <a:latin typeface="Helvetica Neue"/>
                <a:ea typeface="Helvetica Neue"/>
                <a:cs typeface="Helvetica Neue"/>
              </a:rPr>
              <a:t>They have proven to be the most effective in the removal of leukocytes during transfusion thus reducing transfusion reactions.</a:t>
            </a:r>
          </a:p>
          <a:p xmlns:a="http://schemas.openxmlformats.org/drawingml/2006/main">
            <a:pPr marL="279400" indent="-127000">
              <a:spcAft>
                <a:spcPts val="1300"/>
              </a:spcAft>
              <a:buChar char="•"/>
              <a:defRPr sz="1875">
                <a:solidFill>
                  <a:srgbClr val="13212D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75">
                <a:solidFill>
                  <a:srgbClr val="13212D"/>
                </a:solidFill>
                <a:latin typeface="Helvetica Neue"/>
                <a:ea typeface="Helvetica Neue"/>
                <a:cs typeface="Helvetica Neue"/>
              </a:rPr>
              <a:t>The "Y" type infusion set allows for normal saline to be attached to one side of the blood administration set.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11EB03E2-C284-4D36-AD87-CF49B98E0D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6115050"/>
            <a:ext cx="101917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>
            <a:defPPr>
              <a:defRPr sz="1125" b="1">
                <a:solidFill>
                  <a:srgbClr val="B94F3D"/>
                </a:solidFill>
                <a:latin typeface="Helvetica Neue"/>
                <a:ea typeface="Helvetica Neue"/>
                <a:cs typeface="Helvetica Neue"/>
              </a:defRPr>
            </a:defPPr>
            <a:lvl1pPr>
              <a:defRPr sz="1125" b="1">
                <a:solidFill>
                  <a:srgbClr val="B94F3D"/>
                </a:solidFill>
                <a:latin typeface="Helvetica Neue"/>
                <a:ea typeface="Helvetica Neue"/>
                <a:cs typeface="Helvetica Neue"/>
              </a:defRPr>
            </a:lvl1pPr>
            <a:lvl2pPr>
              <a:defRPr sz="1125" b="1">
                <a:solidFill>
                  <a:srgbClr val="B94F3D"/>
                </a:solidFill>
                <a:latin typeface="Helvetica Neue"/>
                <a:ea typeface="Helvetica Neue"/>
                <a:cs typeface="Helvetica Neue"/>
              </a:defRPr>
            </a:lvl2pPr>
            <a:lvl3pPr>
              <a:defRPr sz="1125" b="1">
                <a:solidFill>
                  <a:srgbClr val="B94F3D"/>
                </a:solidFill>
                <a:latin typeface="Helvetica Neue"/>
                <a:ea typeface="Helvetica Neue"/>
                <a:cs typeface="Helvetica Neue"/>
              </a:defRPr>
            </a:lvl3pPr>
            <a:lvl4pPr>
              <a:defRPr sz="1125" b="1">
                <a:solidFill>
                  <a:srgbClr val="B94F3D"/>
                </a:solidFill>
                <a:latin typeface="Helvetica Neue"/>
                <a:ea typeface="Helvetica Neue"/>
                <a:cs typeface="Helvetica Neue"/>
              </a:defRPr>
            </a:lvl4pPr>
            <a:lvl5pPr>
              <a:defRPr sz="1125" b="1">
                <a:solidFill>
                  <a:srgbClr val="B94F3D"/>
                </a:solidFill>
                <a:latin typeface="Helvetica Neue"/>
                <a:ea typeface="Helvetica Neue"/>
                <a:cs typeface="Helvetica Neue"/>
              </a:defRPr>
            </a:lvl5pPr>
            <a:lvl6pPr>
              <a:defRPr sz="1125" b="1">
                <a:solidFill>
                  <a:srgbClr val="B94F3D"/>
                </a:solidFill>
                <a:latin typeface="Helvetica Neue"/>
                <a:ea typeface="Helvetica Neue"/>
                <a:cs typeface="Helvetica Neue"/>
              </a:defRPr>
            </a:lvl6pPr>
            <a:lvl7pPr>
              <a:defRPr sz="1125" b="1">
                <a:solidFill>
                  <a:srgbClr val="B94F3D"/>
                </a:solidFill>
                <a:latin typeface="Helvetica Neue"/>
                <a:ea typeface="Helvetica Neue"/>
                <a:cs typeface="Helvetica Neue"/>
              </a:defRPr>
            </a:lvl7pPr>
            <a:lvl8pPr>
              <a:defRPr sz="1125" b="1">
                <a:solidFill>
                  <a:srgbClr val="B94F3D"/>
                </a:solidFill>
                <a:latin typeface="Helvetica Neue"/>
                <a:ea typeface="Helvetica Neue"/>
                <a:cs typeface="Helvetica Neue"/>
              </a:defRPr>
            </a:lvl8pPr>
            <a:lvl9pPr>
              <a:defRPr sz="1125" b="1">
                <a:solidFill>
                  <a:srgbClr val="B94F3D"/>
                </a:solidFill>
                <a:latin typeface="Helvetica Neue"/>
                <a:ea typeface="Helvetica Neue"/>
                <a:cs typeface="Helvetica Neue"/>
              </a:defRPr>
            </a:lvl9pPr>
          </a:lstStyle>
          <a:p xmlns:a="http://schemas.openxmlformats.org/drawingml/2006/main">
            <a:pPr>
              <a:defRPr sz="1125" b="1">
                <a:solidFill>
                  <a:srgbClr val="B94F3D"/>
                </a:solidFill>
                <a:latin typeface="Helvetica Neue"/>
                <a:ea typeface="Helvetica Neue"/>
                <a:cs typeface="Helvetica Neue"/>
              </a:defRPr>
            </a:pPr>
            <a:r>
              <a:rPr sz="1125" b="1">
                <a:solidFill>
                  <a:srgbClr val="B94F3D"/>
                </a:solidFill>
                <a:latin typeface="Helvetica Neue"/>
                <a:ea typeface="Helvetica Neue"/>
                <a:cs typeface="Helvetica Neue"/>
              </a:rPr>
              <a:t>Use current orders, facility policy, and authorized scope when applying this information.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CA9EF938-AF6E-4B24-81B8-47CB906025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5772150"/>
            <a:ext cx="101917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97619"/>
          </a:bodyPr>
          <a:lstStyle xmlns:a="http://schemas.openxmlformats.org/drawingml/2006/main">
            <a:defPPr>
              <a:defRPr sz="1050" b="1">
                <a:solidFill>
                  <a:srgbClr val="237B82"/>
                </a:solidFill>
                <a:latin typeface="Helvetica Neue"/>
                <a:ea typeface="Helvetica Neue"/>
                <a:cs typeface="Helvetica Neue"/>
              </a:defRPr>
            </a:defPPr>
            <a:lvl1pPr>
              <a:defRPr sz="1050" b="1">
                <a:solidFill>
                  <a:srgbClr val="237B82"/>
                </a:solidFill>
                <a:latin typeface="Helvetica Neue"/>
                <a:ea typeface="Helvetica Neue"/>
                <a:cs typeface="Helvetica Neue"/>
              </a:defRPr>
            </a:lvl1pPr>
            <a:lvl2pPr>
              <a:defRPr sz="1050" b="1">
                <a:solidFill>
                  <a:srgbClr val="237B82"/>
                </a:solidFill>
                <a:latin typeface="Helvetica Neue"/>
                <a:ea typeface="Helvetica Neue"/>
                <a:cs typeface="Helvetica Neue"/>
              </a:defRPr>
            </a:lvl2pPr>
            <a:lvl3pPr>
              <a:defRPr sz="1050" b="1">
                <a:solidFill>
                  <a:srgbClr val="237B82"/>
                </a:solidFill>
                <a:latin typeface="Helvetica Neue"/>
                <a:ea typeface="Helvetica Neue"/>
                <a:cs typeface="Helvetica Neue"/>
              </a:defRPr>
            </a:lvl3pPr>
            <a:lvl4pPr>
              <a:defRPr sz="1050" b="1">
                <a:solidFill>
                  <a:srgbClr val="237B82"/>
                </a:solidFill>
                <a:latin typeface="Helvetica Neue"/>
                <a:ea typeface="Helvetica Neue"/>
                <a:cs typeface="Helvetica Neue"/>
              </a:defRPr>
            </a:lvl4pPr>
            <a:lvl5pPr>
              <a:defRPr sz="1050" b="1">
                <a:solidFill>
                  <a:srgbClr val="237B82"/>
                </a:solidFill>
                <a:latin typeface="Helvetica Neue"/>
                <a:ea typeface="Helvetica Neue"/>
                <a:cs typeface="Helvetica Neue"/>
              </a:defRPr>
            </a:lvl5pPr>
            <a:lvl6pPr>
              <a:defRPr sz="1050" b="1">
                <a:solidFill>
                  <a:srgbClr val="237B82"/>
                </a:solidFill>
                <a:latin typeface="Helvetica Neue"/>
                <a:ea typeface="Helvetica Neue"/>
                <a:cs typeface="Helvetica Neue"/>
              </a:defRPr>
            </a:lvl6pPr>
            <a:lvl7pPr>
              <a:defRPr sz="1050" b="1">
                <a:solidFill>
                  <a:srgbClr val="237B82"/>
                </a:solidFill>
                <a:latin typeface="Helvetica Neue"/>
                <a:ea typeface="Helvetica Neue"/>
                <a:cs typeface="Helvetica Neue"/>
              </a:defRPr>
            </a:lvl7pPr>
            <a:lvl8pPr>
              <a:defRPr sz="1050" b="1">
                <a:solidFill>
                  <a:srgbClr val="237B82"/>
                </a:solidFill>
                <a:latin typeface="Helvetica Neue"/>
                <a:ea typeface="Helvetica Neue"/>
                <a:cs typeface="Helvetica Neue"/>
              </a:defRPr>
            </a:lvl8pPr>
            <a:lvl9pPr>
              <a:defRPr sz="1050" b="1">
                <a:solidFill>
                  <a:srgbClr val="237B82"/>
                </a:solidFill>
                <a:latin typeface="Helvetica Neue"/>
                <a:ea typeface="Helvetica Neue"/>
                <a:cs typeface="Helvetica Neue"/>
              </a:defRPr>
            </a:lvl9pPr>
          </a:lstStyle>
          <a:p xmlns:a="http://schemas.openxmlformats.org/drawingml/2006/main">
            <a:pPr>
              <a:defRPr sz="1050" b="1">
                <a:solidFill>
                  <a:srgbClr val="237B82"/>
                </a:solidFill>
                <a:latin typeface="Helvetica Neue"/>
                <a:ea typeface="Helvetica Neue"/>
                <a:cs typeface="Helvetica Neue"/>
              </a:defRPr>
            </a:pPr>
            <a:r>
              <a:rPr sz="1050" b="1">
                <a:solidFill>
                  <a:srgbClr val="237B82"/>
                </a:solidFill>
                <a:latin typeface="Helvetica Neue"/>
                <a:ea typeface="Helvetica Neue"/>
                <a:cs typeface="Helvetica Neue"/>
              </a:rPr>
              <a:t>Manual page 57</a:t>
            </a:r>
          </a:p>
        </p:txBody>
      </p:sp>
    </p:spTree>
    <p:extLst>
      <p:ext uri="{BB962C8B-B14F-4D97-AF65-F5344CB8AC3E}">
        <p14:creationId xmlns:p14="http://schemas.microsoft.com/office/powerpoint/2010/main" val="120831633"/>
      </p:ext>
    </p:extLst>
  </p:cSld>
</p:sld>
</file>

<file path=ppt/slides/slide47.xml><?xml version="1.0" encoding="utf-8"?>
<p:sld xmlns:p="http://schemas.openxmlformats.org/presentationml/2006/main">
  <p:cSld>
    <p:bg>
      <p:bgPr>
        <a:solidFill xmlns:a="http://schemas.openxmlformats.org/drawingml/2006/main">
          <a:srgbClr val="F7F4EE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88A78641-57D2-4212-A8EB-71AB7B440F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2095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37B82"/>
          </a:solidFill>
          <a:ln xmlns:a="http://schemas.openxmlformats.org/drawingml/2006/main" w="0">
            <a:solidFill>
              <a:srgbClr val="237B82"/>
            </a:solidFill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42D430ED-2AF4-4CA4-AB08-46272A2DE7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00050"/>
            <a:ext cx="10001250" cy="819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>
            <a:defPPr>
              <a:defRPr sz="2700" b="1">
                <a:solidFill>
                  <a:srgbClr val="15324A"/>
                </a:solidFill>
                <a:latin typeface="Helvetica Neue"/>
                <a:ea typeface="Helvetica Neue"/>
                <a:cs typeface="Helvetica Neue"/>
              </a:defRPr>
            </a:defPPr>
            <a:lvl1pPr>
              <a:defRPr sz="2700" b="1">
                <a:solidFill>
                  <a:srgbClr val="15324A"/>
                </a:solidFill>
                <a:latin typeface="Helvetica Neue"/>
                <a:ea typeface="Helvetica Neue"/>
                <a:cs typeface="Helvetica Neue"/>
              </a:defRPr>
            </a:lvl1pPr>
            <a:lvl2pPr>
              <a:defRPr sz="2700" b="1">
                <a:solidFill>
                  <a:srgbClr val="15324A"/>
                </a:solidFill>
                <a:latin typeface="Helvetica Neue"/>
                <a:ea typeface="Helvetica Neue"/>
                <a:cs typeface="Helvetica Neue"/>
              </a:defRPr>
            </a:lvl2pPr>
            <a:lvl3pPr>
              <a:defRPr sz="2700" b="1">
                <a:solidFill>
                  <a:srgbClr val="15324A"/>
                </a:solidFill>
                <a:latin typeface="Helvetica Neue"/>
                <a:ea typeface="Helvetica Neue"/>
                <a:cs typeface="Helvetica Neue"/>
              </a:defRPr>
            </a:lvl3pPr>
            <a:lvl4pPr>
              <a:defRPr sz="2700" b="1">
                <a:solidFill>
                  <a:srgbClr val="15324A"/>
                </a:solidFill>
                <a:latin typeface="Helvetica Neue"/>
                <a:ea typeface="Helvetica Neue"/>
                <a:cs typeface="Helvetica Neue"/>
              </a:defRPr>
            </a:lvl4pPr>
            <a:lvl5pPr>
              <a:defRPr sz="2700" b="1">
                <a:solidFill>
                  <a:srgbClr val="15324A"/>
                </a:solidFill>
                <a:latin typeface="Helvetica Neue"/>
                <a:ea typeface="Helvetica Neue"/>
                <a:cs typeface="Helvetica Neue"/>
              </a:defRPr>
            </a:lvl5pPr>
            <a:lvl6pPr>
              <a:defRPr sz="2700" b="1">
                <a:solidFill>
                  <a:srgbClr val="15324A"/>
                </a:solidFill>
                <a:latin typeface="Helvetica Neue"/>
                <a:ea typeface="Helvetica Neue"/>
                <a:cs typeface="Helvetica Neue"/>
              </a:defRPr>
            </a:lvl6pPr>
            <a:lvl7pPr>
              <a:defRPr sz="2700" b="1">
                <a:solidFill>
                  <a:srgbClr val="15324A"/>
                </a:solidFill>
                <a:latin typeface="Helvetica Neue"/>
                <a:ea typeface="Helvetica Neue"/>
                <a:cs typeface="Helvetica Neue"/>
              </a:defRPr>
            </a:lvl7pPr>
            <a:lvl8pPr>
              <a:defRPr sz="2700" b="1">
                <a:solidFill>
                  <a:srgbClr val="15324A"/>
                </a:solidFill>
                <a:latin typeface="Helvetica Neue"/>
                <a:ea typeface="Helvetica Neue"/>
                <a:cs typeface="Helvetica Neue"/>
              </a:defRPr>
            </a:lvl8pPr>
            <a:lvl9pPr>
              <a:defRPr sz="2700" b="1">
                <a:solidFill>
                  <a:srgbClr val="15324A"/>
                </a:solidFill>
                <a:latin typeface="Helvetica Neue"/>
                <a:ea typeface="Helvetica Neue"/>
                <a:cs typeface="Helvetica Neue"/>
              </a:defRPr>
            </a:lvl9pPr>
          </a:lstStyle>
          <a:p xmlns:a="http://schemas.openxmlformats.org/drawingml/2006/main">
            <a:pPr>
              <a:defRPr sz="2700" b="1">
                <a:solidFill>
                  <a:srgbClr val="15324A"/>
                </a:solidFill>
                <a:latin typeface="Helvetica Neue"/>
                <a:ea typeface="Helvetica Neue"/>
                <a:cs typeface="Helvetica Neue"/>
              </a:defRPr>
            </a:pPr>
            <a:r>
              <a:rPr sz="2700" b="1">
                <a:solidFill>
                  <a:srgbClr val="15324A"/>
                </a:solidFill>
                <a:latin typeface="Helvetica Neue"/>
                <a:ea typeface="Helvetica Neue"/>
                <a:cs typeface="Helvetica Neue"/>
              </a:rPr>
              <a:t>from 170 to 220 microns. — continued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89B92917-F73C-4866-81F5-A711B6DCAC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1257300"/>
            <a:ext cx="88582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91111"/>
          </a:bodyPr>
          <a:lstStyle xmlns:a="http://schemas.openxmlformats.org/drawingml/2006/main">
            <a:defPPr>
              <a:defRPr sz="1125" b="1">
                <a:solidFill>
                  <a:srgbClr val="237B82"/>
                </a:solidFill>
                <a:latin typeface="Helvetica Neue"/>
                <a:ea typeface="Helvetica Neue"/>
                <a:cs typeface="Helvetica Neue"/>
              </a:defRPr>
            </a:defPPr>
            <a:lvl1pPr>
              <a:defRPr sz="1125" b="1">
                <a:solidFill>
                  <a:srgbClr val="237B82"/>
                </a:solidFill>
                <a:latin typeface="Helvetica Neue"/>
                <a:ea typeface="Helvetica Neue"/>
                <a:cs typeface="Helvetica Neue"/>
              </a:defRPr>
            </a:lvl1pPr>
            <a:lvl2pPr>
              <a:defRPr sz="1125" b="1">
                <a:solidFill>
                  <a:srgbClr val="237B82"/>
                </a:solidFill>
                <a:latin typeface="Helvetica Neue"/>
                <a:ea typeface="Helvetica Neue"/>
                <a:cs typeface="Helvetica Neue"/>
              </a:defRPr>
            </a:lvl2pPr>
            <a:lvl3pPr>
              <a:defRPr sz="1125" b="1">
                <a:solidFill>
                  <a:srgbClr val="237B82"/>
                </a:solidFill>
                <a:latin typeface="Helvetica Neue"/>
                <a:ea typeface="Helvetica Neue"/>
                <a:cs typeface="Helvetica Neue"/>
              </a:defRPr>
            </a:lvl3pPr>
            <a:lvl4pPr>
              <a:defRPr sz="1125" b="1">
                <a:solidFill>
                  <a:srgbClr val="237B82"/>
                </a:solidFill>
                <a:latin typeface="Helvetica Neue"/>
                <a:ea typeface="Helvetica Neue"/>
                <a:cs typeface="Helvetica Neue"/>
              </a:defRPr>
            </a:lvl4pPr>
            <a:lvl5pPr>
              <a:defRPr sz="1125" b="1">
                <a:solidFill>
                  <a:srgbClr val="237B82"/>
                </a:solidFill>
                <a:latin typeface="Helvetica Neue"/>
                <a:ea typeface="Helvetica Neue"/>
                <a:cs typeface="Helvetica Neue"/>
              </a:defRPr>
            </a:lvl5pPr>
            <a:lvl6pPr>
              <a:defRPr sz="1125" b="1">
                <a:solidFill>
                  <a:srgbClr val="237B82"/>
                </a:solidFill>
                <a:latin typeface="Helvetica Neue"/>
                <a:ea typeface="Helvetica Neue"/>
                <a:cs typeface="Helvetica Neue"/>
              </a:defRPr>
            </a:lvl6pPr>
            <a:lvl7pPr>
              <a:defRPr sz="1125" b="1">
                <a:solidFill>
                  <a:srgbClr val="237B82"/>
                </a:solidFill>
                <a:latin typeface="Helvetica Neue"/>
                <a:ea typeface="Helvetica Neue"/>
                <a:cs typeface="Helvetica Neue"/>
              </a:defRPr>
            </a:lvl7pPr>
            <a:lvl8pPr>
              <a:defRPr sz="1125" b="1">
                <a:solidFill>
                  <a:srgbClr val="237B82"/>
                </a:solidFill>
                <a:latin typeface="Helvetica Neue"/>
                <a:ea typeface="Helvetica Neue"/>
                <a:cs typeface="Helvetica Neue"/>
              </a:defRPr>
            </a:lvl8pPr>
            <a:lvl9pPr>
              <a:defRPr sz="1125" b="1">
                <a:solidFill>
                  <a:srgbClr val="237B82"/>
                </a:solidFill>
                <a:latin typeface="Helvetica Neue"/>
                <a:ea typeface="Helvetica Neue"/>
                <a:cs typeface="Helvetica Neue"/>
              </a:defRPr>
            </a:lvl9pPr>
          </a:lstStyle>
          <a:p xmlns:a="http://schemas.openxmlformats.org/drawingml/2006/main">
            <a:pPr>
              <a:defRPr sz="1125" b="1">
                <a:solidFill>
                  <a:srgbClr val="237B82"/>
                </a:solidFill>
                <a:latin typeface="Helvetica Neue"/>
                <a:ea typeface="Helvetica Neue"/>
                <a:cs typeface="Helvetica Neue"/>
              </a:defRPr>
            </a:pPr>
            <a:r>
              <a:rPr sz="1125" b="1">
                <a:solidFill>
                  <a:srgbClr val="237B82"/>
                </a:solidFill>
                <a:latin typeface="Helvetica Neue"/>
                <a:ea typeface="Helvetica Neue"/>
                <a:cs typeface="Helvetica Neue"/>
              </a:rPr>
              <a:t>MODULE 4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3919E05A-1FF6-4D81-A25A-F35541B801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457200"/>
            <a:ext cx="5334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>
            <a:defPPr>
              <a:defRPr sz="1200" b="1">
                <a:solidFill>
                  <a:srgbClr val="237B82"/>
                </a:solidFill>
                <a:latin typeface="Helvetica Neue"/>
                <a:ea typeface="Helvetica Neue"/>
                <a:cs typeface="Helvetica Neue"/>
              </a:defRPr>
            </a:defPPr>
            <a:lvl1pPr>
              <a:defRPr sz="1200" b="1">
                <a:solidFill>
                  <a:srgbClr val="237B82"/>
                </a:solidFill>
                <a:latin typeface="Helvetica Neue"/>
                <a:ea typeface="Helvetica Neue"/>
                <a:cs typeface="Helvetica Neue"/>
              </a:defRPr>
            </a:lvl1pPr>
            <a:lvl2pPr>
              <a:defRPr sz="1200" b="1">
                <a:solidFill>
                  <a:srgbClr val="237B82"/>
                </a:solidFill>
                <a:latin typeface="Helvetica Neue"/>
                <a:ea typeface="Helvetica Neue"/>
                <a:cs typeface="Helvetica Neue"/>
              </a:defRPr>
            </a:lvl2pPr>
            <a:lvl3pPr>
              <a:defRPr sz="1200" b="1">
                <a:solidFill>
                  <a:srgbClr val="237B82"/>
                </a:solidFill>
                <a:latin typeface="Helvetica Neue"/>
                <a:ea typeface="Helvetica Neue"/>
                <a:cs typeface="Helvetica Neue"/>
              </a:defRPr>
            </a:lvl3pPr>
            <a:lvl4pPr>
              <a:defRPr sz="1200" b="1">
                <a:solidFill>
                  <a:srgbClr val="237B82"/>
                </a:solidFill>
                <a:latin typeface="Helvetica Neue"/>
                <a:ea typeface="Helvetica Neue"/>
                <a:cs typeface="Helvetica Neue"/>
              </a:defRPr>
            </a:lvl4pPr>
            <a:lvl5pPr>
              <a:defRPr sz="1200" b="1">
                <a:solidFill>
                  <a:srgbClr val="237B82"/>
                </a:solidFill>
                <a:latin typeface="Helvetica Neue"/>
                <a:ea typeface="Helvetica Neue"/>
                <a:cs typeface="Helvetica Neue"/>
              </a:defRPr>
            </a:lvl5pPr>
            <a:lvl6pPr>
              <a:defRPr sz="1200" b="1">
                <a:solidFill>
                  <a:srgbClr val="237B82"/>
                </a:solidFill>
                <a:latin typeface="Helvetica Neue"/>
                <a:ea typeface="Helvetica Neue"/>
                <a:cs typeface="Helvetica Neue"/>
              </a:defRPr>
            </a:lvl6pPr>
            <a:lvl7pPr>
              <a:defRPr sz="1200" b="1">
                <a:solidFill>
                  <a:srgbClr val="237B82"/>
                </a:solidFill>
                <a:latin typeface="Helvetica Neue"/>
                <a:ea typeface="Helvetica Neue"/>
                <a:cs typeface="Helvetica Neue"/>
              </a:defRPr>
            </a:lvl7pPr>
            <a:lvl8pPr>
              <a:defRPr sz="1200" b="1">
                <a:solidFill>
                  <a:srgbClr val="237B82"/>
                </a:solidFill>
                <a:latin typeface="Helvetica Neue"/>
                <a:ea typeface="Helvetica Neue"/>
                <a:cs typeface="Helvetica Neue"/>
              </a:defRPr>
            </a:lvl8pPr>
            <a:lvl9pPr>
              <a:defRPr sz="1200" b="1">
                <a:solidFill>
                  <a:srgbClr val="237B82"/>
                </a:solidFill>
                <a:latin typeface="Helvetica Neue"/>
                <a:ea typeface="Helvetica Neue"/>
                <a:cs typeface="Helvetica Neue"/>
              </a:defRPr>
            </a:lvl9pPr>
          </a:lstStyle>
          <a:p xmlns:a="http://schemas.openxmlformats.org/drawingml/2006/main">
            <a:pPr>
              <a:defRPr sz="1200" b="1">
                <a:solidFill>
                  <a:srgbClr val="237B82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00" b="1">
                <a:solidFill>
                  <a:srgbClr val="237B82"/>
                </a:solidFill>
                <a:latin typeface="Helvetica Neue"/>
                <a:ea typeface="Helvetica Neue"/>
                <a:cs typeface="Helvetica Neue"/>
              </a:rPr>
              <a:t>47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B9FD0839-164A-41C4-A719-F4BA5D90C2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1762125"/>
            <a:ext cx="10287000" cy="409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>
            <a:defPPr>
              <a:defRPr sz="1875">
                <a:solidFill>
                  <a:srgbClr val="13212D"/>
                </a:solidFill>
                <a:latin typeface="Helvetica Neue"/>
                <a:ea typeface="Helvetica Neue"/>
                <a:cs typeface="Helvetica Neue"/>
              </a:defRPr>
            </a:defPPr>
            <a:lvl1pPr>
              <a:defRPr sz="1875">
                <a:solidFill>
                  <a:srgbClr val="13212D"/>
                </a:solidFill>
                <a:latin typeface="Helvetica Neue"/>
                <a:ea typeface="Helvetica Neue"/>
                <a:cs typeface="Helvetica Neue"/>
              </a:defRPr>
            </a:lvl1pPr>
            <a:lvl2pPr>
              <a:defRPr sz="1875">
                <a:solidFill>
                  <a:srgbClr val="13212D"/>
                </a:solidFill>
                <a:latin typeface="Helvetica Neue"/>
                <a:ea typeface="Helvetica Neue"/>
                <a:cs typeface="Helvetica Neue"/>
              </a:defRPr>
            </a:lvl2pPr>
            <a:lvl3pPr>
              <a:defRPr sz="1875">
                <a:solidFill>
                  <a:srgbClr val="13212D"/>
                </a:solidFill>
                <a:latin typeface="Helvetica Neue"/>
                <a:ea typeface="Helvetica Neue"/>
                <a:cs typeface="Helvetica Neue"/>
              </a:defRPr>
            </a:lvl3pPr>
            <a:lvl4pPr>
              <a:defRPr sz="1875">
                <a:solidFill>
                  <a:srgbClr val="13212D"/>
                </a:solidFill>
                <a:latin typeface="Helvetica Neue"/>
                <a:ea typeface="Helvetica Neue"/>
                <a:cs typeface="Helvetica Neue"/>
              </a:defRPr>
            </a:lvl4pPr>
            <a:lvl5pPr>
              <a:defRPr sz="1875">
                <a:solidFill>
                  <a:srgbClr val="13212D"/>
                </a:solidFill>
                <a:latin typeface="Helvetica Neue"/>
                <a:ea typeface="Helvetica Neue"/>
                <a:cs typeface="Helvetica Neue"/>
              </a:defRPr>
            </a:lvl5pPr>
            <a:lvl6pPr>
              <a:defRPr sz="1875">
                <a:solidFill>
                  <a:srgbClr val="13212D"/>
                </a:solidFill>
                <a:latin typeface="Helvetica Neue"/>
                <a:ea typeface="Helvetica Neue"/>
                <a:cs typeface="Helvetica Neue"/>
              </a:defRPr>
            </a:lvl6pPr>
            <a:lvl7pPr>
              <a:defRPr sz="1875">
                <a:solidFill>
                  <a:srgbClr val="13212D"/>
                </a:solidFill>
                <a:latin typeface="Helvetica Neue"/>
                <a:ea typeface="Helvetica Neue"/>
                <a:cs typeface="Helvetica Neue"/>
              </a:defRPr>
            </a:lvl7pPr>
            <a:lvl8pPr>
              <a:defRPr sz="1875">
                <a:solidFill>
                  <a:srgbClr val="13212D"/>
                </a:solidFill>
                <a:latin typeface="Helvetica Neue"/>
                <a:ea typeface="Helvetica Neue"/>
                <a:cs typeface="Helvetica Neue"/>
              </a:defRPr>
            </a:lvl8pPr>
            <a:lvl9pPr>
              <a:defRPr sz="1875">
                <a:solidFill>
                  <a:srgbClr val="13212D"/>
                </a:solidFill>
                <a:latin typeface="Helvetica Neue"/>
                <a:ea typeface="Helvetica Neue"/>
                <a:cs typeface="Helvetica Neue"/>
              </a:defRPr>
            </a:lvl9pPr>
          </a:lstStyle>
          <a:p xmlns:a="http://schemas.openxmlformats.org/drawingml/2006/main">
            <a:pPr marL="279400" indent="-127000">
              <a:spcAft>
                <a:spcPts val="1300"/>
              </a:spcAft>
              <a:buChar char="•"/>
              <a:defRPr sz="1875">
                <a:solidFill>
                  <a:srgbClr val="13212D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75">
                <a:solidFill>
                  <a:srgbClr val="13212D"/>
                </a:solidFill>
                <a:latin typeface="Helvetica Neue"/>
                <a:ea typeface="Helvetica Neue"/>
                <a:cs typeface="Helvetica Neue"/>
              </a:rPr>
              <a:t>If the blood is too thick to pass through the filter, a sterile transfer of normal saline can be done (50 to 75 cc).</a:t>
            </a:r>
          </a:p>
          <a:p xmlns:a="http://schemas.openxmlformats.org/drawingml/2006/main">
            <a:pPr marL="279400" indent="-127000">
              <a:spcAft>
                <a:spcPts val="1300"/>
              </a:spcAft>
              <a:buChar char="•"/>
              <a:defRPr sz="1875">
                <a:solidFill>
                  <a:srgbClr val="13212D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75">
                <a:solidFill>
                  <a:srgbClr val="13212D"/>
                </a:solidFill>
                <a:latin typeface="Helvetica Neue"/>
                <a:ea typeface="Helvetica Neue"/>
                <a:cs typeface="Helvetica Neue"/>
              </a:rPr>
              <a:t>This maintenance of a closed system prevents contamination while allowing a steady stream of blood to flow.</a:t>
            </a:r>
          </a:p>
          <a:p xmlns:a="http://schemas.openxmlformats.org/drawingml/2006/main">
            <a:pPr marL="279400" indent="-127000">
              <a:spcAft>
                <a:spcPts val="1300"/>
              </a:spcAft>
              <a:buChar char="•"/>
              <a:defRPr sz="1875">
                <a:solidFill>
                  <a:srgbClr val="13212D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75">
                <a:solidFill>
                  <a:srgbClr val="13212D"/>
                </a:solidFill>
                <a:latin typeface="Helvetica Neue"/>
                <a:ea typeface="Helvetica Neue"/>
                <a:cs typeface="Helvetica Neue"/>
              </a:rPr>
              <a:t>Venipuncture - An IV access must be established prior to blood administration.</a:t>
            </a:r>
          </a:p>
          <a:p xmlns:a="http://schemas.openxmlformats.org/drawingml/2006/main">
            <a:pPr marL="279400" indent="-127000">
              <a:spcAft>
                <a:spcPts val="1300"/>
              </a:spcAft>
              <a:buChar char="•"/>
              <a:defRPr sz="1875">
                <a:solidFill>
                  <a:srgbClr val="13212D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75">
                <a:solidFill>
                  <a:srgbClr val="13212D"/>
                </a:solidFill>
                <a:latin typeface="Helvetica Neue"/>
                <a:ea typeface="Helvetica Neue"/>
                <a:cs typeface="Helvetica Neue"/>
              </a:rPr>
              <a:t>Red blood cells and whole blood should be administered through an 18 to 20 gauge needle in the adult, and a 23 gauge needle is sufficient in the pediatric patient.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03E49806-67FD-47B1-BF4B-4F673E5247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6115050"/>
            <a:ext cx="101917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>
            <a:defPPr>
              <a:defRPr sz="1125" b="1">
                <a:solidFill>
                  <a:srgbClr val="B94F3D"/>
                </a:solidFill>
                <a:latin typeface="Helvetica Neue"/>
                <a:ea typeface="Helvetica Neue"/>
                <a:cs typeface="Helvetica Neue"/>
              </a:defRPr>
            </a:defPPr>
            <a:lvl1pPr>
              <a:defRPr sz="1125" b="1">
                <a:solidFill>
                  <a:srgbClr val="B94F3D"/>
                </a:solidFill>
                <a:latin typeface="Helvetica Neue"/>
                <a:ea typeface="Helvetica Neue"/>
                <a:cs typeface="Helvetica Neue"/>
              </a:defRPr>
            </a:lvl1pPr>
            <a:lvl2pPr>
              <a:defRPr sz="1125" b="1">
                <a:solidFill>
                  <a:srgbClr val="B94F3D"/>
                </a:solidFill>
                <a:latin typeface="Helvetica Neue"/>
                <a:ea typeface="Helvetica Neue"/>
                <a:cs typeface="Helvetica Neue"/>
              </a:defRPr>
            </a:lvl2pPr>
            <a:lvl3pPr>
              <a:defRPr sz="1125" b="1">
                <a:solidFill>
                  <a:srgbClr val="B94F3D"/>
                </a:solidFill>
                <a:latin typeface="Helvetica Neue"/>
                <a:ea typeface="Helvetica Neue"/>
                <a:cs typeface="Helvetica Neue"/>
              </a:defRPr>
            </a:lvl3pPr>
            <a:lvl4pPr>
              <a:defRPr sz="1125" b="1">
                <a:solidFill>
                  <a:srgbClr val="B94F3D"/>
                </a:solidFill>
                <a:latin typeface="Helvetica Neue"/>
                <a:ea typeface="Helvetica Neue"/>
                <a:cs typeface="Helvetica Neue"/>
              </a:defRPr>
            </a:lvl4pPr>
            <a:lvl5pPr>
              <a:defRPr sz="1125" b="1">
                <a:solidFill>
                  <a:srgbClr val="B94F3D"/>
                </a:solidFill>
                <a:latin typeface="Helvetica Neue"/>
                <a:ea typeface="Helvetica Neue"/>
                <a:cs typeface="Helvetica Neue"/>
              </a:defRPr>
            </a:lvl5pPr>
            <a:lvl6pPr>
              <a:defRPr sz="1125" b="1">
                <a:solidFill>
                  <a:srgbClr val="B94F3D"/>
                </a:solidFill>
                <a:latin typeface="Helvetica Neue"/>
                <a:ea typeface="Helvetica Neue"/>
                <a:cs typeface="Helvetica Neue"/>
              </a:defRPr>
            </a:lvl6pPr>
            <a:lvl7pPr>
              <a:defRPr sz="1125" b="1">
                <a:solidFill>
                  <a:srgbClr val="B94F3D"/>
                </a:solidFill>
                <a:latin typeface="Helvetica Neue"/>
                <a:ea typeface="Helvetica Neue"/>
                <a:cs typeface="Helvetica Neue"/>
              </a:defRPr>
            </a:lvl7pPr>
            <a:lvl8pPr>
              <a:defRPr sz="1125" b="1">
                <a:solidFill>
                  <a:srgbClr val="B94F3D"/>
                </a:solidFill>
                <a:latin typeface="Helvetica Neue"/>
                <a:ea typeface="Helvetica Neue"/>
                <a:cs typeface="Helvetica Neue"/>
              </a:defRPr>
            </a:lvl8pPr>
            <a:lvl9pPr>
              <a:defRPr sz="1125" b="1">
                <a:solidFill>
                  <a:srgbClr val="B94F3D"/>
                </a:solidFill>
                <a:latin typeface="Helvetica Neue"/>
                <a:ea typeface="Helvetica Neue"/>
                <a:cs typeface="Helvetica Neue"/>
              </a:defRPr>
            </a:lvl9pPr>
          </a:lstStyle>
          <a:p xmlns:a="http://schemas.openxmlformats.org/drawingml/2006/main">
            <a:pPr>
              <a:defRPr sz="1125" b="1">
                <a:solidFill>
                  <a:srgbClr val="B94F3D"/>
                </a:solidFill>
                <a:latin typeface="Helvetica Neue"/>
                <a:ea typeface="Helvetica Neue"/>
                <a:cs typeface="Helvetica Neue"/>
              </a:defRPr>
            </a:pPr>
            <a:r>
              <a:rPr sz="1125" b="1">
                <a:solidFill>
                  <a:srgbClr val="B94F3D"/>
                </a:solidFill>
                <a:latin typeface="Helvetica Neue"/>
                <a:ea typeface="Helvetica Neue"/>
                <a:cs typeface="Helvetica Neue"/>
              </a:rPr>
              <a:t>Use current orders, facility policy, and authorized scope when applying this information.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E26AD5B4-141A-4885-86EF-1AB1D8C65A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5772150"/>
            <a:ext cx="101917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97619"/>
          </a:bodyPr>
          <a:lstStyle xmlns:a="http://schemas.openxmlformats.org/drawingml/2006/main">
            <a:defPPr>
              <a:defRPr sz="1050" b="1">
                <a:solidFill>
                  <a:srgbClr val="237B82"/>
                </a:solidFill>
                <a:latin typeface="Helvetica Neue"/>
                <a:ea typeface="Helvetica Neue"/>
                <a:cs typeface="Helvetica Neue"/>
              </a:defRPr>
            </a:defPPr>
            <a:lvl1pPr>
              <a:defRPr sz="1050" b="1">
                <a:solidFill>
                  <a:srgbClr val="237B82"/>
                </a:solidFill>
                <a:latin typeface="Helvetica Neue"/>
                <a:ea typeface="Helvetica Neue"/>
                <a:cs typeface="Helvetica Neue"/>
              </a:defRPr>
            </a:lvl1pPr>
            <a:lvl2pPr>
              <a:defRPr sz="1050" b="1">
                <a:solidFill>
                  <a:srgbClr val="237B82"/>
                </a:solidFill>
                <a:latin typeface="Helvetica Neue"/>
                <a:ea typeface="Helvetica Neue"/>
                <a:cs typeface="Helvetica Neue"/>
              </a:defRPr>
            </a:lvl2pPr>
            <a:lvl3pPr>
              <a:defRPr sz="1050" b="1">
                <a:solidFill>
                  <a:srgbClr val="237B82"/>
                </a:solidFill>
                <a:latin typeface="Helvetica Neue"/>
                <a:ea typeface="Helvetica Neue"/>
                <a:cs typeface="Helvetica Neue"/>
              </a:defRPr>
            </a:lvl3pPr>
            <a:lvl4pPr>
              <a:defRPr sz="1050" b="1">
                <a:solidFill>
                  <a:srgbClr val="237B82"/>
                </a:solidFill>
                <a:latin typeface="Helvetica Neue"/>
                <a:ea typeface="Helvetica Neue"/>
                <a:cs typeface="Helvetica Neue"/>
              </a:defRPr>
            </a:lvl4pPr>
            <a:lvl5pPr>
              <a:defRPr sz="1050" b="1">
                <a:solidFill>
                  <a:srgbClr val="237B82"/>
                </a:solidFill>
                <a:latin typeface="Helvetica Neue"/>
                <a:ea typeface="Helvetica Neue"/>
                <a:cs typeface="Helvetica Neue"/>
              </a:defRPr>
            </a:lvl5pPr>
            <a:lvl6pPr>
              <a:defRPr sz="1050" b="1">
                <a:solidFill>
                  <a:srgbClr val="237B82"/>
                </a:solidFill>
                <a:latin typeface="Helvetica Neue"/>
                <a:ea typeface="Helvetica Neue"/>
                <a:cs typeface="Helvetica Neue"/>
              </a:defRPr>
            </a:lvl6pPr>
            <a:lvl7pPr>
              <a:defRPr sz="1050" b="1">
                <a:solidFill>
                  <a:srgbClr val="237B82"/>
                </a:solidFill>
                <a:latin typeface="Helvetica Neue"/>
                <a:ea typeface="Helvetica Neue"/>
                <a:cs typeface="Helvetica Neue"/>
              </a:defRPr>
            </a:lvl7pPr>
            <a:lvl8pPr>
              <a:defRPr sz="1050" b="1">
                <a:solidFill>
                  <a:srgbClr val="237B82"/>
                </a:solidFill>
                <a:latin typeface="Helvetica Neue"/>
                <a:ea typeface="Helvetica Neue"/>
                <a:cs typeface="Helvetica Neue"/>
              </a:defRPr>
            </a:lvl8pPr>
            <a:lvl9pPr>
              <a:defRPr sz="1050" b="1">
                <a:solidFill>
                  <a:srgbClr val="237B82"/>
                </a:solidFill>
                <a:latin typeface="Helvetica Neue"/>
                <a:ea typeface="Helvetica Neue"/>
                <a:cs typeface="Helvetica Neue"/>
              </a:defRPr>
            </a:lvl9pPr>
          </a:lstStyle>
          <a:p xmlns:a="http://schemas.openxmlformats.org/drawingml/2006/main">
            <a:pPr>
              <a:defRPr sz="1050" b="1">
                <a:solidFill>
                  <a:srgbClr val="237B82"/>
                </a:solidFill>
                <a:latin typeface="Helvetica Neue"/>
                <a:ea typeface="Helvetica Neue"/>
                <a:cs typeface="Helvetica Neue"/>
              </a:defRPr>
            </a:pPr>
            <a:r>
              <a:rPr sz="1050" b="1">
                <a:solidFill>
                  <a:srgbClr val="237B82"/>
                </a:solidFill>
                <a:latin typeface="Helvetica Neue"/>
                <a:ea typeface="Helvetica Neue"/>
                <a:cs typeface="Helvetica Neue"/>
              </a:rPr>
              <a:t>Manual page 57</a:t>
            </a:r>
          </a:p>
        </p:txBody>
      </p:sp>
    </p:spTree>
    <p:extLst>
      <p:ext uri="{BB962C8B-B14F-4D97-AF65-F5344CB8AC3E}">
        <p14:creationId xmlns:p14="http://schemas.microsoft.com/office/powerpoint/2010/main" val="492821571"/>
      </p:ext>
    </p:extLst>
  </p:cSld>
</p:sld>
</file>

<file path=ppt/slides/slide48.xml><?xml version="1.0" encoding="utf-8"?>
<p:sld xmlns:p="http://schemas.openxmlformats.org/presentationml/2006/main">
  <p:cSld>
    <p:bg>
      <p:bgPr>
        <a:solidFill xmlns:a="http://schemas.openxmlformats.org/drawingml/2006/main">
          <a:srgbClr val="F7F4EE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B3B4AD3D-A8AB-4B22-95BB-384B1C59A5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2095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37B82"/>
          </a:solidFill>
          <a:ln xmlns:a="http://schemas.openxmlformats.org/drawingml/2006/main" w="0">
            <a:solidFill>
              <a:srgbClr val="237B82"/>
            </a:solidFill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1D2E1371-D177-4DCB-B17E-8B2F8C2E4E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00050"/>
            <a:ext cx="10001250" cy="819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>
            <a:defPPr>
              <a:defRPr sz="2700" b="1">
                <a:solidFill>
                  <a:srgbClr val="15324A"/>
                </a:solidFill>
                <a:latin typeface="Helvetica Neue"/>
                <a:ea typeface="Helvetica Neue"/>
                <a:cs typeface="Helvetica Neue"/>
              </a:defRPr>
            </a:defPPr>
            <a:lvl1pPr>
              <a:defRPr sz="2700" b="1">
                <a:solidFill>
                  <a:srgbClr val="15324A"/>
                </a:solidFill>
                <a:latin typeface="Helvetica Neue"/>
                <a:ea typeface="Helvetica Neue"/>
                <a:cs typeface="Helvetica Neue"/>
              </a:defRPr>
            </a:lvl1pPr>
            <a:lvl2pPr>
              <a:defRPr sz="2700" b="1">
                <a:solidFill>
                  <a:srgbClr val="15324A"/>
                </a:solidFill>
                <a:latin typeface="Helvetica Neue"/>
                <a:ea typeface="Helvetica Neue"/>
                <a:cs typeface="Helvetica Neue"/>
              </a:defRPr>
            </a:lvl2pPr>
            <a:lvl3pPr>
              <a:defRPr sz="2700" b="1">
                <a:solidFill>
                  <a:srgbClr val="15324A"/>
                </a:solidFill>
                <a:latin typeface="Helvetica Neue"/>
                <a:ea typeface="Helvetica Neue"/>
                <a:cs typeface="Helvetica Neue"/>
              </a:defRPr>
            </a:lvl3pPr>
            <a:lvl4pPr>
              <a:defRPr sz="2700" b="1">
                <a:solidFill>
                  <a:srgbClr val="15324A"/>
                </a:solidFill>
                <a:latin typeface="Helvetica Neue"/>
                <a:ea typeface="Helvetica Neue"/>
                <a:cs typeface="Helvetica Neue"/>
              </a:defRPr>
            </a:lvl4pPr>
            <a:lvl5pPr>
              <a:defRPr sz="2700" b="1">
                <a:solidFill>
                  <a:srgbClr val="15324A"/>
                </a:solidFill>
                <a:latin typeface="Helvetica Neue"/>
                <a:ea typeface="Helvetica Neue"/>
                <a:cs typeface="Helvetica Neue"/>
              </a:defRPr>
            </a:lvl5pPr>
            <a:lvl6pPr>
              <a:defRPr sz="2700" b="1">
                <a:solidFill>
                  <a:srgbClr val="15324A"/>
                </a:solidFill>
                <a:latin typeface="Helvetica Neue"/>
                <a:ea typeface="Helvetica Neue"/>
                <a:cs typeface="Helvetica Neue"/>
              </a:defRPr>
            </a:lvl6pPr>
            <a:lvl7pPr>
              <a:defRPr sz="2700" b="1">
                <a:solidFill>
                  <a:srgbClr val="15324A"/>
                </a:solidFill>
                <a:latin typeface="Helvetica Neue"/>
                <a:ea typeface="Helvetica Neue"/>
                <a:cs typeface="Helvetica Neue"/>
              </a:defRPr>
            </a:lvl7pPr>
            <a:lvl8pPr>
              <a:defRPr sz="2700" b="1">
                <a:solidFill>
                  <a:srgbClr val="15324A"/>
                </a:solidFill>
                <a:latin typeface="Helvetica Neue"/>
                <a:ea typeface="Helvetica Neue"/>
                <a:cs typeface="Helvetica Neue"/>
              </a:defRPr>
            </a:lvl8pPr>
            <a:lvl9pPr>
              <a:defRPr sz="2700" b="1">
                <a:solidFill>
                  <a:srgbClr val="15324A"/>
                </a:solidFill>
                <a:latin typeface="Helvetica Neue"/>
                <a:ea typeface="Helvetica Neue"/>
                <a:cs typeface="Helvetica Neue"/>
              </a:defRPr>
            </a:lvl9pPr>
          </a:lstStyle>
          <a:p xmlns:a="http://schemas.openxmlformats.org/drawingml/2006/main">
            <a:pPr>
              <a:defRPr sz="2700" b="1">
                <a:solidFill>
                  <a:srgbClr val="15324A"/>
                </a:solidFill>
                <a:latin typeface="Helvetica Neue"/>
                <a:ea typeface="Helvetica Neue"/>
                <a:cs typeface="Helvetica Neue"/>
              </a:defRPr>
            </a:pPr>
            <a:r>
              <a:rPr sz="2700" b="1">
                <a:solidFill>
                  <a:srgbClr val="15324A"/>
                </a:solidFill>
                <a:latin typeface="Helvetica Neue"/>
                <a:ea typeface="Helvetica Neue"/>
                <a:cs typeface="Helvetica Neue"/>
              </a:rPr>
              <a:t>from 170 to 220 microns. — continued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446B2CC2-2202-4217-8481-1E9F72196F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1257300"/>
            <a:ext cx="88582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91111"/>
          </a:bodyPr>
          <a:lstStyle xmlns:a="http://schemas.openxmlformats.org/drawingml/2006/main">
            <a:defPPr>
              <a:defRPr sz="1125" b="1">
                <a:solidFill>
                  <a:srgbClr val="237B82"/>
                </a:solidFill>
                <a:latin typeface="Helvetica Neue"/>
                <a:ea typeface="Helvetica Neue"/>
                <a:cs typeface="Helvetica Neue"/>
              </a:defRPr>
            </a:defPPr>
            <a:lvl1pPr>
              <a:defRPr sz="1125" b="1">
                <a:solidFill>
                  <a:srgbClr val="237B82"/>
                </a:solidFill>
                <a:latin typeface="Helvetica Neue"/>
                <a:ea typeface="Helvetica Neue"/>
                <a:cs typeface="Helvetica Neue"/>
              </a:defRPr>
            </a:lvl1pPr>
            <a:lvl2pPr>
              <a:defRPr sz="1125" b="1">
                <a:solidFill>
                  <a:srgbClr val="237B82"/>
                </a:solidFill>
                <a:latin typeface="Helvetica Neue"/>
                <a:ea typeface="Helvetica Neue"/>
                <a:cs typeface="Helvetica Neue"/>
              </a:defRPr>
            </a:lvl2pPr>
            <a:lvl3pPr>
              <a:defRPr sz="1125" b="1">
                <a:solidFill>
                  <a:srgbClr val="237B82"/>
                </a:solidFill>
                <a:latin typeface="Helvetica Neue"/>
                <a:ea typeface="Helvetica Neue"/>
                <a:cs typeface="Helvetica Neue"/>
              </a:defRPr>
            </a:lvl3pPr>
            <a:lvl4pPr>
              <a:defRPr sz="1125" b="1">
                <a:solidFill>
                  <a:srgbClr val="237B82"/>
                </a:solidFill>
                <a:latin typeface="Helvetica Neue"/>
                <a:ea typeface="Helvetica Neue"/>
                <a:cs typeface="Helvetica Neue"/>
              </a:defRPr>
            </a:lvl4pPr>
            <a:lvl5pPr>
              <a:defRPr sz="1125" b="1">
                <a:solidFill>
                  <a:srgbClr val="237B82"/>
                </a:solidFill>
                <a:latin typeface="Helvetica Neue"/>
                <a:ea typeface="Helvetica Neue"/>
                <a:cs typeface="Helvetica Neue"/>
              </a:defRPr>
            </a:lvl5pPr>
            <a:lvl6pPr>
              <a:defRPr sz="1125" b="1">
                <a:solidFill>
                  <a:srgbClr val="237B82"/>
                </a:solidFill>
                <a:latin typeface="Helvetica Neue"/>
                <a:ea typeface="Helvetica Neue"/>
                <a:cs typeface="Helvetica Neue"/>
              </a:defRPr>
            </a:lvl6pPr>
            <a:lvl7pPr>
              <a:defRPr sz="1125" b="1">
                <a:solidFill>
                  <a:srgbClr val="237B82"/>
                </a:solidFill>
                <a:latin typeface="Helvetica Neue"/>
                <a:ea typeface="Helvetica Neue"/>
                <a:cs typeface="Helvetica Neue"/>
              </a:defRPr>
            </a:lvl7pPr>
            <a:lvl8pPr>
              <a:defRPr sz="1125" b="1">
                <a:solidFill>
                  <a:srgbClr val="237B82"/>
                </a:solidFill>
                <a:latin typeface="Helvetica Neue"/>
                <a:ea typeface="Helvetica Neue"/>
                <a:cs typeface="Helvetica Neue"/>
              </a:defRPr>
            </a:lvl8pPr>
            <a:lvl9pPr>
              <a:defRPr sz="1125" b="1">
                <a:solidFill>
                  <a:srgbClr val="237B82"/>
                </a:solidFill>
                <a:latin typeface="Helvetica Neue"/>
                <a:ea typeface="Helvetica Neue"/>
                <a:cs typeface="Helvetica Neue"/>
              </a:defRPr>
            </a:lvl9pPr>
          </a:lstStyle>
          <a:p xmlns:a="http://schemas.openxmlformats.org/drawingml/2006/main">
            <a:pPr>
              <a:defRPr sz="1125" b="1">
                <a:solidFill>
                  <a:srgbClr val="237B82"/>
                </a:solidFill>
                <a:latin typeface="Helvetica Neue"/>
                <a:ea typeface="Helvetica Neue"/>
                <a:cs typeface="Helvetica Neue"/>
              </a:defRPr>
            </a:pPr>
            <a:r>
              <a:rPr sz="1125" b="1">
                <a:solidFill>
                  <a:srgbClr val="237B82"/>
                </a:solidFill>
                <a:latin typeface="Helvetica Neue"/>
                <a:ea typeface="Helvetica Neue"/>
                <a:cs typeface="Helvetica Neue"/>
              </a:rPr>
              <a:t>MODULE 4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29EC5B4C-2F46-437B-B927-8462674A9F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457200"/>
            <a:ext cx="5334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>
            <a:defPPr>
              <a:defRPr sz="1200" b="1">
                <a:solidFill>
                  <a:srgbClr val="237B82"/>
                </a:solidFill>
                <a:latin typeface="Helvetica Neue"/>
                <a:ea typeface="Helvetica Neue"/>
                <a:cs typeface="Helvetica Neue"/>
              </a:defRPr>
            </a:defPPr>
            <a:lvl1pPr>
              <a:defRPr sz="1200" b="1">
                <a:solidFill>
                  <a:srgbClr val="237B82"/>
                </a:solidFill>
                <a:latin typeface="Helvetica Neue"/>
                <a:ea typeface="Helvetica Neue"/>
                <a:cs typeface="Helvetica Neue"/>
              </a:defRPr>
            </a:lvl1pPr>
            <a:lvl2pPr>
              <a:defRPr sz="1200" b="1">
                <a:solidFill>
                  <a:srgbClr val="237B82"/>
                </a:solidFill>
                <a:latin typeface="Helvetica Neue"/>
                <a:ea typeface="Helvetica Neue"/>
                <a:cs typeface="Helvetica Neue"/>
              </a:defRPr>
            </a:lvl2pPr>
            <a:lvl3pPr>
              <a:defRPr sz="1200" b="1">
                <a:solidFill>
                  <a:srgbClr val="237B82"/>
                </a:solidFill>
                <a:latin typeface="Helvetica Neue"/>
                <a:ea typeface="Helvetica Neue"/>
                <a:cs typeface="Helvetica Neue"/>
              </a:defRPr>
            </a:lvl3pPr>
            <a:lvl4pPr>
              <a:defRPr sz="1200" b="1">
                <a:solidFill>
                  <a:srgbClr val="237B82"/>
                </a:solidFill>
                <a:latin typeface="Helvetica Neue"/>
                <a:ea typeface="Helvetica Neue"/>
                <a:cs typeface="Helvetica Neue"/>
              </a:defRPr>
            </a:lvl4pPr>
            <a:lvl5pPr>
              <a:defRPr sz="1200" b="1">
                <a:solidFill>
                  <a:srgbClr val="237B82"/>
                </a:solidFill>
                <a:latin typeface="Helvetica Neue"/>
                <a:ea typeface="Helvetica Neue"/>
                <a:cs typeface="Helvetica Neue"/>
              </a:defRPr>
            </a:lvl5pPr>
            <a:lvl6pPr>
              <a:defRPr sz="1200" b="1">
                <a:solidFill>
                  <a:srgbClr val="237B82"/>
                </a:solidFill>
                <a:latin typeface="Helvetica Neue"/>
                <a:ea typeface="Helvetica Neue"/>
                <a:cs typeface="Helvetica Neue"/>
              </a:defRPr>
            </a:lvl6pPr>
            <a:lvl7pPr>
              <a:defRPr sz="1200" b="1">
                <a:solidFill>
                  <a:srgbClr val="237B82"/>
                </a:solidFill>
                <a:latin typeface="Helvetica Neue"/>
                <a:ea typeface="Helvetica Neue"/>
                <a:cs typeface="Helvetica Neue"/>
              </a:defRPr>
            </a:lvl7pPr>
            <a:lvl8pPr>
              <a:defRPr sz="1200" b="1">
                <a:solidFill>
                  <a:srgbClr val="237B82"/>
                </a:solidFill>
                <a:latin typeface="Helvetica Neue"/>
                <a:ea typeface="Helvetica Neue"/>
                <a:cs typeface="Helvetica Neue"/>
              </a:defRPr>
            </a:lvl8pPr>
            <a:lvl9pPr>
              <a:defRPr sz="1200" b="1">
                <a:solidFill>
                  <a:srgbClr val="237B82"/>
                </a:solidFill>
                <a:latin typeface="Helvetica Neue"/>
                <a:ea typeface="Helvetica Neue"/>
                <a:cs typeface="Helvetica Neue"/>
              </a:defRPr>
            </a:lvl9pPr>
          </a:lstStyle>
          <a:p xmlns:a="http://schemas.openxmlformats.org/drawingml/2006/main">
            <a:pPr>
              <a:defRPr sz="1200" b="1">
                <a:solidFill>
                  <a:srgbClr val="237B82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00" b="1">
                <a:solidFill>
                  <a:srgbClr val="237B82"/>
                </a:solidFill>
                <a:latin typeface="Helvetica Neue"/>
                <a:ea typeface="Helvetica Neue"/>
                <a:cs typeface="Helvetica Neue"/>
              </a:rPr>
              <a:t>48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48553BD4-9C84-4FB8-BA7F-EB3174C21C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1762125"/>
            <a:ext cx="10287000" cy="409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>
            <a:defPPr>
              <a:defRPr sz="1875">
                <a:solidFill>
                  <a:srgbClr val="13212D"/>
                </a:solidFill>
                <a:latin typeface="Helvetica Neue"/>
                <a:ea typeface="Helvetica Neue"/>
                <a:cs typeface="Helvetica Neue"/>
              </a:defRPr>
            </a:defPPr>
            <a:lvl1pPr>
              <a:defRPr sz="1875">
                <a:solidFill>
                  <a:srgbClr val="13212D"/>
                </a:solidFill>
                <a:latin typeface="Helvetica Neue"/>
                <a:ea typeface="Helvetica Neue"/>
                <a:cs typeface="Helvetica Neue"/>
              </a:defRPr>
            </a:lvl1pPr>
            <a:lvl2pPr>
              <a:defRPr sz="1875">
                <a:solidFill>
                  <a:srgbClr val="13212D"/>
                </a:solidFill>
                <a:latin typeface="Helvetica Neue"/>
                <a:ea typeface="Helvetica Neue"/>
                <a:cs typeface="Helvetica Neue"/>
              </a:defRPr>
            </a:lvl2pPr>
            <a:lvl3pPr>
              <a:defRPr sz="1875">
                <a:solidFill>
                  <a:srgbClr val="13212D"/>
                </a:solidFill>
                <a:latin typeface="Helvetica Neue"/>
                <a:ea typeface="Helvetica Neue"/>
                <a:cs typeface="Helvetica Neue"/>
              </a:defRPr>
            </a:lvl3pPr>
            <a:lvl4pPr>
              <a:defRPr sz="1875">
                <a:solidFill>
                  <a:srgbClr val="13212D"/>
                </a:solidFill>
                <a:latin typeface="Helvetica Neue"/>
                <a:ea typeface="Helvetica Neue"/>
                <a:cs typeface="Helvetica Neue"/>
              </a:defRPr>
            </a:lvl4pPr>
            <a:lvl5pPr>
              <a:defRPr sz="1875">
                <a:solidFill>
                  <a:srgbClr val="13212D"/>
                </a:solidFill>
                <a:latin typeface="Helvetica Neue"/>
                <a:ea typeface="Helvetica Neue"/>
                <a:cs typeface="Helvetica Neue"/>
              </a:defRPr>
            </a:lvl5pPr>
            <a:lvl6pPr>
              <a:defRPr sz="1875">
                <a:solidFill>
                  <a:srgbClr val="13212D"/>
                </a:solidFill>
                <a:latin typeface="Helvetica Neue"/>
                <a:ea typeface="Helvetica Neue"/>
                <a:cs typeface="Helvetica Neue"/>
              </a:defRPr>
            </a:lvl6pPr>
            <a:lvl7pPr>
              <a:defRPr sz="1875">
                <a:solidFill>
                  <a:srgbClr val="13212D"/>
                </a:solidFill>
                <a:latin typeface="Helvetica Neue"/>
                <a:ea typeface="Helvetica Neue"/>
                <a:cs typeface="Helvetica Neue"/>
              </a:defRPr>
            </a:lvl7pPr>
            <a:lvl8pPr>
              <a:defRPr sz="1875">
                <a:solidFill>
                  <a:srgbClr val="13212D"/>
                </a:solidFill>
                <a:latin typeface="Helvetica Neue"/>
                <a:ea typeface="Helvetica Neue"/>
                <a:cs typeface="Helvetica Neue"/>
              </a:defRPr>
            </a:lvl8pPr>
            <a:lvl9pPr>
              <a:defRPr sz="1875">
                <a:solidFill>
                  <a:srgbClr val="13212D"/>
                </a:solidFill>
                <a:latin typeface="Helvetica Neue"/>
                <a:ea typeface="Helvetica Neue"/>
                <a:cs typeface="Helvetica Neue"/>
              </a:defRPr>
            </a:lvl9pPr>
          </a:lstStyle>
          <a:p xmlns:a="http://schemas.openxmlformats.org/drawingml/2006/main">
            <a:pPr marL="279400" indent="-127000">
              <a:spcAft>
                <a:spcPts val="1300"/>
              </a:spcAft>
              <a:buChar char="•"/>
              <a:defRPr sz="1875">
                <a:solidFill>
                  <a:srgbClr val="13212D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75">
                <a:solidFill>
                  <a:srgbClr val="13212D"/>
                </a:solidFill>
                <a:latin typeface="Helvetica Neue"/>
                <a:ea typeface="Helvetica Neue"/>
                <a:cs typeface="Helvetica Neue"/>
              </a:rPr>
              <a:t>Infusion Rate - The clinical condition of the patient will determine the physician's order for rate of administration.</a:t>
            </a:r>
          </a:p>
          <a:p xmlns:a="http://schemas.openxmlformats.org/drawingml/2006/main">
            <a:pPr marL="279400" indent="-127000">
              <a:spcAft>
                <a:spcPts val="1300"/>
              </a:spcAft>
              <a:buChar char="•"/>
              <a:defRPr sz="1875">
                <a:solidFill>
                  <a:srgbClr val="13212D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75">
                <a:solidFill>
                  <a:srgbClr val="13212D"/>
                </a:solidFill>
                <a:latin typeface="Helvetica Neue"/>
                <a:ea typeface="Helvetica Neue"/>
                <a:cs typeface="Helvetica Neue"/>
              </a:rPr>
              <a:t>The recommended infusion rate for the first 15 minutes is generally 10 to 25 cc.</a:t>
            </a:r>
          </a:p>
          <a:p xmlns:a="http://schemas.openxmlformats.org/drawingml/2006/main">
            <a:pPr marL="279400" indent="-127000">
              <a:spcAft>
                <a:spcPts val="1300"/>
              </a:spcAft>
              <a:buChar char="•"/>
              <a:defRPr sz="1875">
                <a:solidFill>
                  <a:srgbClr val="13212D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75">
                <a:solidFill>
                  <a:srgbClr val="13212D"/>
                </a:solidFill>
                <a:latin typeface="Helvetica Neue"/>
                <a:ea typeface="Helvetica Neue"/>
                <a:cs typeface="Helvetica Neue"/>
              </a:rPr>
              <a:t>In the pediatric patient, the rate is 5 to 10 percent of the total red blood cell volume to be infused.</a:t>
            </a:r>
          </a:p>
          <a:p xmlns:a="http://schemas.openxmlformats.org/drawingml/2006/main">
            <a:pPr marL="279400" indent="-127000">
              <a:spcAft>
                <a:spcPts val="1300"/>
              </a:spcAft>
              <a:buChar char="•"/>
              <a:defRPr sz="1875">
                <a:solidFill>
                  <a:srgbClr val="13212D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75">
                <a:solidFill>
                  <a:srgbClr val="13212D"/>
                </a:solidFill>
                <a:latin typeface="Helvetica Neue"/>
                <a:ea typeface="Helvetica Neue"/>
                <a:cs typeface="Helvetica Neue"/>
              </a:rPr>
              <a:t>Again, this is ordered by the physician.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6C73F139-F205-4641-8468-4494B1AC3D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6115050"/>
            <a:ext cx="101917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>
            <a:defPPr>
              <a:defRPr sz="1125" b="1">
                <a:solidFill>
                  <a:srgbClr val="B94F3D"/>
                </a:solidFill>
                <a:latin typeface="Helvetica Neue"/>
                <a:ea typeface="Helvetica Neue"/>
                <a:cs typeface="Helvetica Neue"/>
              </a:defRPr>
            </a:defPPr>
            <a:lvl1pPr>
              <a:defRPr sz="1125" b="1">
                <a:solidFill>
                  <a:srgbClr val="B94F3D"/>
                </a:solidFill>
                <a:latin typeface="Helvetica Neue"/>
                <a:ea typeface="Helvetica Neue"/>
                <a:cs typeface="Helvetica Neue"/>
              </a:defRPr>
            </a:lvl1pPr>
            <a:lvl2pPr>
              <a:defRPr sz="1125" b="1">
                <a:solidFill>
                  <a:srgbClr val="B94F3D"/>
                </a:solidFill>
                <a:latin typeface="Helvetica Neue"/>
                <a:ea typeface="Helvetica Neue"/>
                <a:cs typeface="Helvetica Neue"/>
              </a:defRPr>
            </a:lvl2pPr>
            <a:lvl3pPr>
              <a:defRPr sz="1125" b="1">
                <a:solidFill>
                  <a:srgbClr val="B94F3D"/>
                </a:solidFill>
                <a:latin typeface="Helvetica Neue"/>
                <a:ea typeface="Helvetica Neue"/>
                <a:cs typeface="Helvetica Neue"/>
              </a:defRPr>
            </a:lvl3pPr>
            <a:lvl4pPr>
              <a:defRPr sz="1125" b="1">
                <a:solidFill>
                  <a:srgbClr val="B94F3D"/>
                </a:solidFill>
                <a:latin typeface="Helvetica Neue"/>
                <a:ea typeface="Helvetica Neue"/>
                <a:cs typeface="Helvetica Neue"/>
              </a:defRPr>
            </a:lvl4pPr>
            <a:lvl5pPr>
              <a:defRPr sz="1125" b="1">
                <a:solidFill>
                  <a:srgbClr val="B94F3D"/>
                </a:solidFill>
                <a:latin typeface="Helvetica Neue"/>
                <a:ea typeface="Helvetica Neue"/>
                <a:cs typeface="Helvetica Neue"/>
              </a:defRPr>
            </a:lvl5pPr>
            <a:lvl6pPr>
              <a:defRPr sz="1125" b="1">
                <a:solidFill>
                  <a:srgbClr val="B94F3D"/>
                </a:solidFill>
                <a:latin typeface="Helvetica Neue"/>
                <a:ea typeface="Helvetica Neue"/>
                <a:cs typeface="Helvetica Neue"/>
              </a:defRPr>
            </a:lvl6pPr>
            <a:lvl7pPr>
              <a:defRPr sz="1125" b="1">
                <a:solidFill>
                  <a:srgbClr val="B94F3D"/>
                </a:solidFill>
                <a:latin typeface="Helvetica Neue"/>
                <a:ea typeface="Helvetica Neue"/>
                <a:cs typeface="Helvetica Neue"/>
              </a:defRPr>
            </a:lvl7pPr>
            <a:lvl8pPr>
              <a:defRPr sz="1125" b="1">
                <a:solidFill>
                  <a:srgbClr val="B94F3D"/>
                </a:solidFill>
                <a:latin typeface="Helvetica Neue"/>
                <a:ea typeface="Helvetica Neue"/>
                <a:cs typeface="Helvetica Neue"/>
              </a:defRPr>
            </a:lvl8pPr>
            <a:lvl9pPr>
              <a:defRPr sz="1125" b="1">
                <a:solidFill>
                  <a:srgbClr val="B94F3D"/>
                </a:solidFill>
                <a:latin typeface="Helvetica Neue"/>
                <a:ea typeface="Helvetica Neue"/>
                <a:cs typeface="Helvetica Neue"/>
              </a:defRPr>
            </a:lvl9pPr>
          </a:lstStyle>
          <a:p xmlns:a="http://schemas.openxmlformats.org/drawingml/2006/main">
            <a:pPr>
              <a:defRPr sz="1125" b="1">
                <a:solidFill>
                  <a:srgbClr val="B94F3D"/>
                </a:solidFill>
                <a:latin typeface="Helvetica Neue"/>
                <a:ea typeface="Helvetica Neue"/>
                <a:cs typeface="Helvetica Neue"/>
              </a:defRPr>
            </a:pPr>
            <a:r>
              <a:rPr sz="1125" b="1">
                <a:solidFill>
                  <a:srgbClr val="B94F3D"/>
                </a:solidFill>
                <a:latin typeface="Helvetica Neue"/>
                <a:ea typeface="Helvetica Neue"/>
                <a:cs typeface="Helvetica Neue"/>
              </a:rPr>
              <a:t>Use current orders, facility policy, and authorized scope when applying this information.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605C826B-A301-42CF-90E7-FABC10AB81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5772150"/>
            <a:ext cx="101917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97619"/>
          </a:bodyPr>
          <a:lstStyle xmlns:a="http://schemas.openxmlformats.org/drawingml/2006/main">
            <a:defPPr>
              <a:defRPr sz="1050" b="1">
                <a:solidFill>
                  <a:srgbClr val="237B82"/>
                </a:solidFill>
                <a:latin typeface="Helvetica Neue"/>
                <a:ea typeface="Helvetica Neue"/>
                <a:cs typeface="Helvetica Neue"/>
              </a:defRPr>
            </a:defPPr>
            <a:lvl1pPr>
              <a:defRPr sz="1050" b="1">
                <a:solidFill>
                  <a:srgbClr val="237B82"/>
                </a:solidFill>
                <a:latin typeface="Helvetica Neue"/>
                <a:ea typeface="Helvetica Neue"/>
                <a:cs typeface="Helvetica Neue"/>
              </a:defRPr>
            </a:lvl1pPr>
            <a:lvl2pPr>
              <a:defRPr sz="1050" b="1">
                <a:solidFill>
                  <a:srgbClr val="237B82"/>
                </a:solidFill>
                <a:latin typeface="Helvetica Neue"/>
                <a:ea typeface="Helvetica Neue"/>
                <a:cs typeface="Helvetica Neue"/>
              </a:defRPr>
            </a:lvl2pPr>
            <a:lvl3pPr>
              <a:defRPr sz="1050" b="1">
                <a:solidFill>
                  <a:srgbClr val="237B82"/>
                </a:solidFill>
                <a:latin typeface="Helvetica Neue"/>
                <a:ea typeface="Helvetica Neue"/>
                <a:cs typeface="Helvetica Neue"/>
              </a:defRPr>
            </a:lvl3pPr>
            <a:lvl4pPr>
              <a:defRPr sz="1050" b="1">
                <a:solidFill>
                  <a:srgbClr val="237B82"/>
                </a:solidFill>
                <a:latin typeface="Helvetica Neue"/>
                <a:ea typeface="Helvetica Neue"/>
                <a:cs typeface="Helvetica Neue"/>
              </a:defRPr>
            </a:lvl4pPr>
            <a:lvl5pPr>
              <a:defRPr sz="1050" b="1">
                <a:solidFill>
                  <a:srgbClr val="237B82"/>
                </a:solidFill>
                <a:latin typeface="Helvetica Neue"/>
                <a:ea typeface="Helvetica Neue"/>
                <a:cs typeface="Helvetica Neue"/>
              </a:defRPr>
            </a:lvl5pPr>
            <a:lvl6pPr>
              <a:defRPr sz="1050" b="1">
                <a:solidFill>
                  <a:srgbClr val="237B82"/>
                </a:solidFill>
                <a:latin typeface="Helvetica Neue"/>
                <a:ea typeface="Helvetica Neue"/>
                <a:cs typeface="Helvetica Neue"/>
              </a:defRPr>
            </a:lvl6pPr>
            <a:lvl7pPr>
              <a:defRPr sz="1050" b="1">
                <a:solidFill>
                  <a:srgbClr val="237B82"/>
                </a:solidFill>
                <a:latin typeface="Helvetica Neue"/>
                <a:ea typeface="Helvetica Neue"/>
                <a:cs typeface="Helvetica Neue"/>
              </a:defRPr>
            </a:lvl7pPr>
            <a:lvl8pPr>
              <a:defRPr sz="1050" b="1">
                <a:solidFill>
                  <a:srgbClr val="237B82"/>
                </a:solidFill>
                <a:latin typeface="Helvetica Neue"/>
                <a:ea typeface="Helvetica Neue"/>
                <a:cs typeface="Helvetica Neue"/>
              </a:defRPr>
            </a:lvl8pPr>
            <a:lvl9pPr>
              <a:defRPr sz="1050" b="1">
                <a:solidFill>
                  <a:srgbClr val="237B82"/>
                </a:solidFill>
                <a:latin typeface="Helvetica Neue"/>
                <a:ea typeface="Helvetica Neue"/>
                <a:cs typeface="Helvetica Neue"/>
              </a:defRPr>
            </a:lvl9pPr>
          </a:lstStyle>
          <a:p xmlns:a="http://schemas.openxmlformats.org/drawingml/2006/main">
            <a:pPr>
              <a:defRPr sz="1050" b="1">
                <a:solidFill>
                  <a:srgbClr val="237B82"/>
                </a:solidFill>
                <a:latin typeface="Helvetica Neue"/>
                <a:ea typeface="Helvetica Neue"/>
                <a:cs typeface="Helvetica Neue"/>
              </a:defRPr>
            </a:pPr>
            <a:r>
              <a:rPr sz="1050" b="1">
                <a:solidFill>
                  <a:srgbClr val="237B82"/>
                </a:solidFill>
                <a:latin typeface="Helvetica Neue"/>
                <a:ea typeface="Helvetica Neue"/>
                <a:cs typeface="Helvetica Neue"/>
              </a:rPr>
              <a:t>Manual page 57</a:t>
            </a:r>
          </a:p>
        </p:txBody>
      </p:sp>
    </p:spTree>
    <p:extLst>
      <p:ext uri="{BB962C8B-B14F-4D97-AF65-F5344CB8AC3E}">
        <p14:creationId xmlns:p14="http://schemas.microsoft.com/office/powerpoint/2010/main" val="966488391"/>
      </p:ext>
    </p:extLst>
  </p:cSld>
</p:sld>
</file>

<file path=ppt/slides/slide49.xml><?xml version="1.0" encoding="utf-8"?>
<p:sld xmlns:p="http://schemas.openxmlformats.org/presentationml/2006/main">
  <p:cSld>
    <p:bg>
      <p:bgPr>
        <a:solidFill xmlns:a="http://schemas.openxmlformats.org/drawingml/2006/main">
          <a:srgbClr val="F7F4EE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B35C69DF-6CED-48BA-B4FD-B594DBA716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2095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37B82"/>
          </a:solidFill>
          <a:ln xmlns:a="http://schemas.openxmlformats.org/drawingml/2006/main" w="0">
            <a:solidFill>
              <a:srgbClr val="237B82"/>
            </a:solidFill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0B857F4B-5D5B-4176-AE3B-5C12D2B2EC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00050"/>
            <a:ext cx="10001250" cy="819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>
            <a:defPPr>
              <a:defRPr sz="2700" b="1">
                <a:solidFill>
                  <a:srgbClr val="15324A"/>
                </a:solidFill>
                <a:latin typeface="Helvetica Neue"/>
                <a:ea typeface="Helvetica Neue"/>
                <a:cs typeface="Helvetica Neue"/>
              </a:defRPr>
            </a:defPPr>
            <a:lvl1pPr>
              <a:defRPr sz="2700" b="1">
                <a:solidFill>
                  <a:srgbClr val="15324A"/>
                </a:solidFill>
                <a:latin typeface="Helvetica Neue"/>
                <a:ea typeface="Helvetica Neue"/>
                <a:cs typeface="Helvetica Neue"/>
              </a:defRPr>
            </a:lvl1pPr>
            <a:lvl2pPr>
              <a:defRPr sz="2700" b="1">
                <a:solidFill>
                  <a:srgbClr val="15324A"/>
                </a:solidFill>
                <a:latin typeface="Helvetica Neue"/>
                <a:ea typeface="Helvetica Neue"/>
                <a:cs typeface="Helvetica Neue"/>
              </a:defRPr>
            </a:lvl2pPr>
            <a:lvl3pPr>
              <a:defRPr sz="2700" b="1">
                <a:solidFill>
                  <a:srgbClr val="15324A"/>
                </a:solidFill>
                <a:latin typeface="Helvetica Neue"/>
                <a:ea typeface="Helvetica Neue"/>
                <a:cs typeface="Helvetica Neue"/>
              </a:defRPr>
            </a:lvl3pPr>
            <a:lvl4pPr>
              <a:defRPr sz="2700" b="1">
                <a:solidFill>
                  <a:srgbClr val="15324A"/>
                </a:solidFill>
                <a:latin typeface="Helvetica Neue"/>
                <a:ea typeface="Helvetica Neue"/>
                <a:cs typeface="Helvetica Neue"/>
              </a:defRPr>
            </a:lvl4pPr>
            <a:lvl5pPr>
              <a:defRPr sz="2700" b="1">
                <a:solidFill>
                  <a:srgbClr val="15324A"/>
                </a:solidFill>
                <a:latin typeface="Helvetica Neue"/>
                <a:ea typeface="Helvetica Neue"/>
                <a:cs typeface="Helvetica Neue"/>
              </a:defRPr>
            </a:lvl5pPr>
            <a:lvl6pPr>
              <a:defRPr sz="2700" b="1">
                <a:solidFill>
                  <a:srgbClr val="15324A"/>
                </a:solidFill>
                <a:latin typeface="Helvetica Neue"/>
                <a:ea typeface="Helvetica Neue"/>
                <a:cs typeface="Helvetica Neue"/>
              </a:defRPr>
            </a:lvl6pPr>
            <a:lvl7pPr>
              <a:defRPr sz="2700" b="1">
                <a:solidFill>
                  <a:srgbClr val="15324A"/>
                </a:solidFill>
                <a:latin typeface="Helvetica Neue"/>
                <a:ea typeface="Helvetica Neue"/>
                <a:cs typeface="Helvetica Neue"/>
              </a:defRPr>
            </a:lvl7pPr>
            <a:lvl8pPr>
              <a:defRPr sz="2700" b="1">
                <a:solidFill>
                  <a:srgbClr val="15324A"/>
                </a:solidFill>
                <a:latin typeface="Helvetica Neue"/>
                <a:ea typeface="Helvetica Neue"/>
                <a:cs typeface="Helvetica Neue"/>
              </a:defRPr>
            </a:lvl8pPr>
            <a:lvl9pPr>
              <a:defRPr sz="2700" b="1">
                <a:solidFill>
                  <a:srgbClr val="15324A"/>
                </a:solidFill>
                <a:latin typeface="Helvetica Neue"/>
                <a:ea typeface="Helvetica Neue"/>
                <a:cs typeface="Helvetica Neue"/>
              </a:defRPr>
            </a:lvl9pPr>
          </a:lstStyle>
          <a:p xmlns:a="http://schemas.openxmlformats.org/drawingml/2006/main">
            <a:pPr>
              <a:defRPr sz="2700" b="1">
                <a:solidFill>
                  <a:srgbClr val="15324A"/>
                </a:solidFill>
                <a:latin typeface="Helvetica Neue"/>
                <a:ea typeface="Helvetica Neue"/>
                <a:cs typeface="Helvetica Neue"/>
              </a:defRPr>
            </a:pPr>
            <a:r>
              <a:rPr sz="2700" b="1">
                <a:solidFill>
                  <a:srgbClr val="15324A"/>
                </a:solidFill>
                <a:latin typeface="Helvetica Neue"/>
                <a:ea typeface="Helvetica Neue"/>
                <a:cs typeface="Helvetica Neue"/>
              </a:rPr>
              <a:t>from 170 to 220 microns. — continued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9FAD47E7-E7D2-4390-BD52-F63DD57118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1257300"/>
            <a:ext cx="88582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91111"/>
          </a:bodyPr>
          <a:lstStyle xmlns:a="http://schemas.openxmlformats.org/drawingml/2006/main">
            <a:defPPr>
              <a:defRPr sz="1125" b="1">
                <a:solidFill>
                  <a:srgbClr val="237B82"/>
                </a:solidFill>
                <a:latin typeface="Helvetica Neue"/>
                <a:ea typeface="Helvetica Neue"/>
                <a:cs typeface="Helvetica Neue"/>
              </a:defRPr>
            </a:defPPr>
            <a:lvl1pPr>
              <a:defRPr sz="1125" b="1">
                <a:solidFill>
                  <a:srgbClr val="237B82"/>
                </a:solidFill>
                <a:latin typeface="Helvetica Neue"/>
                <a:ea typeface="Helvetica Neue"/>
                <a:cs typeface="Helvetica Neue"/>
              </a:defRPr>
            </a:lvl1pPr>
            <a:lvl2pPr>
              <a:defRPr sz="1125" b="1">
                <a:solidFill>
                  <a:srgbClr val="237B82"/>
                </a:solidFill>
                <a:latin typeface="Helvetica Neue"/>
                <a:ea typeface="Helvetica Neue"/>
                <a:cs typeface="Helvetica Neue"/>
              </a:defRPr>
            </a:lvl2pPr>
            <a:lvl3pPr>
              <a:defRPr sz="1125" b="1">
                <a:solidFill>
                  <a:srgbClr val="237B82"/>
                </a:solidFill>
                <a:latin typeface="Helvetica Neue"/>
                <a:ea typeface="Helvetica Neue"/>
                <a:cs typeface="Helvetica Neue"/>
              </a:defRPr>
            </a:lvl3pPr>
            <a:lvl4pPr>
              <a:defRPr sz="1125" b="1">
                <a:solidFill>
                  <a:srgbClr val="237B82"/>
                </a:solidFill>
                <a:latin typeface="Helvetica Neue"/>
                <a:ea typeface="Helvetica Neue"/>
                <a:cs typeface="Helvetica Neue"/>
              </a:defRPr>
            </a:lvl4pPr>
            <a:lvl5pPr>
              <a:defRPr sz="1125" b="1">
                <a:solidFill>
                  <a:srgbClr val="237B82"/>
                </a:solidFill>
                <a:latin typeface="Helvetica Neue"/>
                <a:ea typeface="Helvetica Neue"/>
                <a:cs typeface="Helvetica Neue"/>
              </a:defRPr>
            </a:lvl5pPr>
            <a:lvl6pPr>
              <a:defRPr sz="1125" b="1">
                <a:solidFill>
                  <a:srgbClr val="237B82"/>
                </a:solidFill>
                <a:latin typeface="Helvetica Neue"/>
                <a:ea typeface="Helvetica Neue"/>
                <a:cs typeface="Helvetica Neue"/>
              </a:defRPr>
            </a:lvl6pPr>
            <a:lvl7pPr>
              <a:defRPr sz="1125" b="1">
                <a:solidFill>
                  <a:srgbClr val="237B82"/>
                </a:solidFill>
                <a:latin typeface="Helvetica Neue"/>
                <a:ea typeface="Helvetica Neue"/>
                <a:cs typeface="Helvetica Neue"/>
              </a:defRPr>
            </a:lvl7pPr>
            <a:lvl8pPr>
              <a:defRPr sz="1125" b="1">
                <a:solidFill>
                  <a:srgbClr val="237B82"/>
                </a:solidFill>
                <a:latin typeface="Helvetica Neue"/>
                <a:ea typeface="Helvetica Neue"/>
                <a:cs typeface="Helvetica Neue"/>
              </a:defRPr>
            </a:lvl8pPr>
            <a:lvl9pPr>
              <a:defRPr sz="1125" b="1">
                <a:solidFill>
                  <a:srgbClr val="237B82"/>
                </a:solidFill>
                <a:latin typeface="Helvetica Neue"/>
                <a:ea typeface="Helvetica Neue"/>
                <a:cs typeface="Helvetica Neue"/>
              </a:defRPr>
            </a:lvl9pPr>
          </a:lstStyle>
          <a:p xmlns:a="http://schemas.openxmlformats.org/drawingml/2006/main">
            <a:pPr>
              <a:defRPr sz="1125" b="1">
                <a:solidFill>
                  <a:srgbClr val="237B82"/>
                </a:solidFill>
                <a:latin typeface="Helvetica Neue"/>
                <a:ea typeface="Helvetica Neue"/>
                <a:cs typeface="Helvetica Neue"/>
              </a:defRPr>
            </a:pPr>
            <a:r>
              <a:rPr sz="1125" b="1">
                <a:solidFill>
                  <a:srgbClr val="237B82"/>
                </a:solidFill>
                <a:latin typeface="Helvetica Neue"/>
                <a:ea typeface="Helvetica Neue"/>
                <a:cs typeface="Helvetica Neue"/>
              </a:rPr>
              <a:t>MODULE 4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C7BC4BA8-DA4C-415B-A236-998799B4D0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457200"/>
            <a:ext cx="5334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>
            <a:defPPr>
              <a:defRPr sz="1200" b="1">
                <a:solidFill>
                  <a:srgbClr val="237B82"/>
                </a:solidFill>
                <a:latin typeface="Helvetica Neue"/>
                <a:ea typeface="Helvetica Neue"/>
                <a:cs typeface="Helvetica Neue"/>
              </a:defRPr>
            </a:defPPr>
            <a:lvl1pPr>
              <a:defRPr sz="1200" b="1">
                <a:solidFill>
                  <a:srgbClr val="237B82"/>
                </a:solidFill>
                <a:latin typeface="Helvetica Neue"/>
                <a:ea typeface="Helvetica Neue"/>
                <a:cs typeface="Helvetica Neue"/>
              </a:defRPr>
            </a:lvl1pPr>
            <a:lvl2pPr>
              <a:defRPr sz="1200" b="1">
                <a:solidFill>
                  <a:srgbClr val="237B82"/>
                </a:solidFill>
                <a:latin typeface="Helvetica Neue"/>
                <a:ea typeface="Helvetica Neue"/>
                <a:cs typeface="Helvetica Neue"/>
              </a:defRPr>
            </a:lvl2pPr>
            <a:lvl3pPr>
              <a:defRPr sz="1200" b="1">
                <a:solidFill>
                  <a:srgbClr val="237B82"/>
                </a:solidFill>
                <a:latin typeface="Helvetica Neue"/>
                <a:ea typeface="Helvetica Neue"/>
                <a:cs typeface="Helvetica Neue"/>
              </a:defRPr>
            </a:lvl3pPr>
            <a:lvl4pPr>
              <a:defRPr sz="1200" b="1">
                <a:solidFill>
                  <a:srgbClr val="237B82"/>
                </a:solidFill>
                <a:latin typeface="Helvetica Neue"/>
                <a:ea typeface="Helvetica Neue"/>
                <a:cs typeface="Helvetica Neue"/>
              </a:defRPr>
            </a:lvl4pPr>
            <a:lvl5pPr>
              <a:defRPr sz="1200" b="1">
                <a:solidFill>
                  <a:srgbClr val="237B82"/>
                </a:solidFill>
                <a:latin typeface="Helvetica Neue"/>
                <a:ea typeface="Helvetica Neue"/>
                <a:cs typeface="Helvetica Neue"/>
              </a:defRPr>
            </a:lvl5pPr>
            <a:lvl6pPr>
              <a:defRPr sz="1200" b="1">
                <a:solidFill>
                  <a:srgbClr val="237B82"/>
                </a:solidFill>
                <a:latin typeface="Helvetica Neue"/>
                <a:ea typeface="Helvetica Neue"/>
                <a:cs typeface="Helvetica Neue"/>
              </a:defRPr>
            </a:lvl6pPr>
            <a:lvl7pPr>
              <a:defRPr sz="1200" b="1">
                <a:solidFill>
                  <a:srgbClr val="237B82"/>
                </a:solidFill>
                <a:latin typeface="Helvetica Neue"/>
                <a:ea typeface="Helvetica Neue"/>
                <a:cs typeface="Helvetica Neue"/>
              </a:defRPr>
            </a:lvl7pPr>
            <a:lvl8pPr>
              <a:defRPr sz="1200" b="1">
                <a:solidFill>
                  <a:srgbClr val="237B82"/>
                </a:solidFill>
                <a:latin typeface="Helvetica Neue"/>
                <a:ea typeface="Helvetica Neue"/>
                <a:cs typeface="Helvetica Neue"/>
              </a:defRPr>
            </a:lvl8pPr>
            <a:lvl9pPr>
              <a:defRPr sz="1200" b="1">
                <a:solidFill>
                  <a:srgbClr val="237B82"/>
                </a:solidFill>
                <a:latin typeface="Helvetica Neue"/>
                <a:ea typeface="Helvetica Neue"/>
                <a:cs typeface="Helvetica Neue"/>
              </a:defRPr>
            </a:lvl9pPr>
          </a:lstStyle>
          <a:p xmlns:a="http://schemas.openxmlformats.org/drawingml/2006/main">
            <a:pPr>
              <a:defRPr sz="1200" b="1">
                <a:solidFill>
                  <a:srgbClr val="237B82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00" b="1">
                <a:solidFill>
                  <a:srgbClr val="237B82"/>
                </a:solidFill>
                <a:latin typeface="Helvetica Neue"/>
                <a:ea typeface="Helvetica Neue"/>
                <a:cs typeface="Helvetica Neue"/>
              </a:rPr>
              <a:t>49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75AC5B3D-9E02-402B-8D4F-719DFAE384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1762125"/>
            <a:ext cx="10287000" cy="409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>
            <a:defPPr>
              <a:defRPr sz="1875">
                <a:solidFill>
                  <a:srgbClr val="13212D"/>
                </a:solidFill>
                <a:latin typeface="Helvetica Neue"/>
                <a:ea typeface="Helvetica Neue"/>
                <a:cs typeface="Helvetica Neue"/>
              </a:defRPr>
            </a:defPPr>
            <a:lvl1pPr>
              <a:defRPr sz="1875">
                <a:solidFill>
                  <a:srgbClr val="13212D"/>
                </a:solidFill>
                <a:latin typeface="Helvetica Neue"/>
                <a:ea typeface="Helvetica Neue"/>
                <a:cs typeface="Helvetica Neue"/>
              </a:defRPr>
            </a:lvl1pPr>
            <a:lvl2pPr>
              <a:defRPr sz="1875">
                <a:solidFill>
                  <a:srgbClr val="13212D"/>
                </a:solidFill>
                <a:latin typeface="Helvetica Neue"/>
                <a:ea typeface="Helvetica Neue"/>
                <a:cs typeface="Helvetica Neue"/>
              </a:defRPr>
            </a:lvl2pPr>
            <a:lvl3pPr>
              <a:defRPr sz="1875">
                <a:solidFill>
                  <a:srgbClr val="13212D"/>
                </a:solidFill>
                <a:latin typeface="Helvetica Neue"/>
                <a:ea typeface="Helvetica Neue"/>
                <a:cs typeface="Helvetica Neue"/>
              </a:defRPr>
            </a:lvl3pPr>
            <a:lvl4pPr>
              <a:defRPr sz="1875">
                <a:solidFill>
                  <a:srgbClr val="13212D"/>
                </a:solidFill>
                <a:latin typeface="Helvetica Neue"/>
                <a:ea typeface="Helvetica Neue"/>
                <a:cs typeface="Helvetica Neue"/>
              </a:defRPr>
            </a:lvl4pPr>
            <a:lvl5pPr>
              <a:defRPr sz="1875">
                <a:solidFill>
                  <a:srgbClr val="13212D"/>
                </a:solidFill>
                <a:latin typeface="Helvetica Neue"/>
                <a:ea typeface="Helvetica Neue"/>
                <a:cs typeface="Helvetica Neue"/>
              </a:defRPr>
            </a:lvl5pPr>
            <a:lvl6pPr>
              <a:defRPr sz="1875">
                <a:solidFill>
                  <a:srgbClr val="13212D"/>
                </a:solidFill>
                <a:latin typeface="Helvetica Neue"/>
                <a:ea typeface="Helvetica Neue"/>
                <a:cs typeface="Helvetica Neue"/>
              </a:defRPr>
            </a:lvl6pPr>
            <a:lvl7pPr>
              <a:defRPr sz="1875">
                <a:solidFill>
                  <a:srgbClr val="13212D"/>
                </a:solidFill>
                <a:latin typeface="Helvetica Neue"/>
                <a:ea typeface="Helvetica Neue"/>
                <a:cs typeface="Helvetica Neue"/>
              </a:defRPr>
            </a:lvl7pPr>
            <a:lvl8pPr>
              <a:defRPr sz="1875">
                <a:solidFill>
                  <a:srgbClr val="13212D"/>
                </a:solidFill>
                <a:latin typeface="Helvetica Neue"/>
                <a:ea typeface="Helvetica Neue"/>
                <a:cs typeface="Helvetica Neue"/>
              </a:defRPr>
            </a:lvl8pPr>
            <a:lvl9pPr>
              <a:defRPr sz="1875">
                <a:solidFill>
                  <a:srgbClr val="13212D"/>
                </a:solidFill>
                <a:latin typeface="Helvetica Neue"/>
                <a:ea typeface="Helvetica Neue"/>
                <a:cs typeface="Helvetica Neue"/>
              </a:defRPr>
            </a:lvl9pPr>
          </a:lstStyle>
          <a:p xmlns:a="http://schemas.openxmlformats.org/drawingml/2006/main">
            <a:pPr marL="279400" indent="-127000">
              <a:spcAft>
                <a:spcPts val="1300"/>
              </a:spcAft>
              <a:buChar char="•"/>
              <a:defRPr sz="1875">
                <a:solidFill>
                  <a:srgbClr val="13212D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75">
                <a:solidFill>
                  <a:srgbClr val="13212D"/>
                </a:solidFill>
                <a:latin typeface="Helvetica Neue"/>
                <a:ea typeface="Helvetica Neue"/>
                <a:cs typeface="Helvetica Neue"/>
              </a:rPr>
              <a:t>This is to avoid a large quantity of blood being infused in case of a reaction.</a:t>
            </a:r>
          </a:p>
          <a:p xmlns:a="http://schemas.openxmlformats.org/drawingml/2006/main">
            <a:pPr marL="279400" indent="-127000">
              <a:spcAft>
                <a:spcPts val="1300"/>
              </a:spcAft>
              <a:buChar char="•"/>
              <a:defRPr sz="1875">
                <a:solidFill>
                  <a:srgbClr val="13212D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75">
                <a:solidFill>
                  <a:srgbClr val="13212D"/>
                </a:solidFill>
                <a:latin typeface="Helvetica Neue"/>
                <a:ea typeface="Helvetica Neue"/>
                <a:cs typeface="Helvetica Neue"/>
              </a:rPr>
              <a:t>An infusion time of 11/2 to 2 hours is tolerated by most patients for one unit of blood.</a:t>
            </a:r>
          </a:p>
          <a:p xmlns:a="http://schemas.openxmlformats.org/drawingml/2006/main">
            <a:pPr marL="279400" indent="-127000">
              <a:spcAft>
                <a:spcPts val="1300"/>
              </a:spcAft>
              <a:buChar char="•"/>
              <a:defRPr sz="1875">
                <a:solidFill>
                  <a:srgbClr val="13212D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75">
                <a:solidFill>
                  <a:srgbClr val="13212D"/>
                </a:solidFill>
                <a:latin typeface="Helvetica Neue"/>
                <a:ea typeface="Helvetica Neue"/>
                <a:cs typeface="Helvetica Neue"/>
              </a:rPr>
              <a:t>Blood should be administered within a four (4) hour time frame.</a:t>
            </a:r>
          </a:p>
          <a:p xmlns:a="http://schemas.openxmlformats.org/drawingml/2006/main">
            <a:pPr marL="279400" indent="-127000">
              <a:spcAft>
                <a:spcPts val="1300"/>
              </a:spcAft>
              <a:buChar char="•"/>
              <a:defRPr sz="1875">
                <a:solidFill>
                  <a:srgbClr val="13212D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75">
                <a:solidFill>
                  <a:srgbClr val="13212D"/>
                </a:solidFill>
                <a:latin typeface="Helvetica Neue"/>
                <a:ea typeface="Helvetica Neue"/>
                <a:cs typeface="Helvetica Neue"/>
              </a:rPr>
              <a:t>If it is to be infused over a longer period of time, the unit can be divided into two parts by the blood bank technician.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FDD1729C-72D8-435F-94D7-F481B33411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6115050"/>
            <a:ext cx="101917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>
            <a:defPPr>
              <a:defRPr sz="1125" b="1">
                <a:solidFill>
                  <a:srgbClr val="B94F3D"/>
                </a:solidFill>
                <a:latin typeface="Helvetica Neue"/>
                <a:ea typeface="Helvetica Neue"/>
                <a:cs typeface="Helvetica Neue"/>
              </a:defRPr>
            </a:defPPr>
            <a:lvl1pPr>
              <a:defRPr sz="1125" b="1">
                <a:solidFill>
                  <a:srgbClr val="B94F3D"/>
                </a:solidFill>
                <a:latin typeface="Helvetica Neue"/>
                <a:ea typeface="Helvetica Neue"/>
                <a:cs typeface="Helvetica Neue"/>
              </a:defRPr>
            </a:lvl1pPr>
            <a:lvl2pPr>
              <a:defRPr sz="1125" b="1">
                <a:solidFill>
                  <a:srgbClr val="B94F3D"/>
                </a:solidFill>
                <a:latin typeface="Helvetica Neue"/>
                <a:ea typeface="Helvetica Neue"/>
                <a:cs typeface="Helvetica Neue"/>
              </a:defRPr>
            </a:lvl2pPr>
            <a:lvl3pPr>
              <a:defRPr sz="1125" b="1">
                <a:solidFill>
                  <a:srgbClr val="B94F3D"/>
                </a:solidFill>
                <a:latin typeface="Helvetica Neue"/>
                <a:ea typeface="Helvetica Neue"/>
                <a:cs typeface="Helvetica Neue"/>
              </a:defRPr>
            </a:lvl3pPr>
            <a:lvl4pPr>
              <a:defRPr sz="1125" b="1">
                <a:solidFill>
                  <a:srgbClr val="B94F3D"/>
                </a:solidFill>
                <a:latin typeface="Helvetica Neue"/>
                <a:ea typeface="Helvetica Neue"/>
                <a:cs typeface="Helvetica Neue"/>
              </a:defRPr>
            </a:lvl4pPr>
            <a:lvl5pPr>
              <a:defRPr sz="1125" b="1">
                <a:solidFill>
                  <a:srgbClr val="B94F3D"/>
                </a:solidFill>
                <a:latin typeface="Helvetica Neue"/>
                <a:ea typeface="Helvetica Neue"/>
                <a:cs typeface="Helvetica Neue"/>
              </a:defRPr>
            </a:lvl5pPr>
            <a:lvl6pPr>
              <a:defRPr sz="1125" b="1">
                <a:solidFill>
                  <a:srgbClr val="B94F3D"/>
                </a:solidFill>
                <a:latin typeface="Helvetica Neue"/>
                <a:ea typeface="Helvetica Neue"/>
                <a:cs typeface="Helvetica Neue"/>
              </a:defRPr>
            </a:lvl6pPr>
            <a:lvl7pPr>
              <a:defRPr sz="1125" b="1">
                <a:solidFill>
                  <a:srgbClr val="B94F3D"/>
                </a:solidFill>
                <a:latin typeface="Helvetica Neue"/>
                <a:ea typeface="Helvetica Neue"/>
                <a:cs typeface="Helvetica Neue"/>
              </a:defRPr>
            </a:lvl7pPr>
            <a:lvl8pPr>
              <a:defRPr sz="1125" b="1">
                <a:solidFill>
                  <a:srgbClr val="B94F3D"/>
                </a:solidFill>
                <a:latin typeface="Helvetica Neue"/>
                <a:ea typeface="Helvetica Neue"/>
                <a:cs typeface="Helvetica Neue"/>
              </a:defRPr>
            </a:lvl8pPr>
            <a:lvl9pPr>
              <a:defRPr sz="1125" b="1">
                <a:solidFill>
                  <a:srgbClr val="B94F3D"/>
                </a:solidFill>
                <a:latin typeface="Helvetica Neue"/>
                <a:ea typeface="Helvetica Neue"/>
                <a:cs typeface="Helvetica Neue"/>
              </a:defRPr>
            </a:lvl9pPr>
          </a:lstStyle>
          <a:p xmlns:a="http://schemas.openxmlformats.org/drawingml/2006/main">
            <a:pPr>
              <a:defRPr sz="1125" b="1">
                <a:solidFill>
                  <a:srgbClr val="B94F3D"/>
                </a:solidFill>
                <a:latin typeface="Helvetica Neue"/>
                <a:ea typeface="Helvetica Neue"/>
                <a:cs typeface="Helvetica Neue"/>
              </a:defRPr>
            </a:pPr>
            <a:r>
              <a:rPr sz="1125" b="1">
                <a:solidFill>
                  <a:srgbClr val="B94F3D"/>
                </a:solidFill>
                <a:latin typeface="Helvetica Neue"/>
                <a:ea typeface="Helvetica Neue"/>
                <a:cs typeface="Helvetica Neue"/>
              </a:rPr>
              <a:t>Use current orders, facility policy, and authorized scope when applying this information.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F75167E5-34C6-4C1D-9104-51F2E32413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5772150"/>
            <a:ext cx="101917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97619"/>
          </a:bodyPr>
          <a:lstStyle xmlns:a="http://schemas.openxmlformats.org/drawingml/2006/main">
            <a:defPPr>
              <a:defRPr sz="1050" b="1">
                <a:solidFill>
                  <a:srgbClr val="237B82"/>
                </a:solidFill>
                <a:latin typeface="Helvetica Neue"/>
                <a:ea typeface="Helvetica Neue"/>
                <a:cs typeface="Helvetica Neue"/>
              </a:defRPr>
            </a:defPPr>
            <a:lvl1pPr>
              <a:defRPr sz="1050" b="1">
                <a:solidFill>
                  <a:srgbClr val="237B82"/>
                </a:solidFill>
                <a:latin typeface="Helvetica Neue"/>
                <a:ea typeface="Helvetica Neue"/>
                <a:cs typeface="Helvetica Neue"/>
              </a:defRPr>
            </a:lvl1pPr>
            <a:lvl2pPr>
              <a:defRPr sz="1050" b="1">
                <a:solidFill>
                  <a:srgbClr val="237B82"/>
                </a:solidFill>
                <a:latin typeface="Helvetica Neue"/>
                <a:ea typeface="Helvetica Neue"/>
                <a:cs typeface="Helvetica Neue"/>
              </a:defRPr>
            </a:lvl2pPr>
            <a:lvl3pPr>
              <a:defRPr sz="1050" b="1">
                <a:solidFill>
                  <a:srgbClr val="237B82"/>
                </a:solidFill>
                <a:latin typeface="Helvetica Neue"/>
                <a:ea typeface="Helvetica Neue"/>
                <a:cs typeface="Helvetica Neue"/>
              </a:defRPr>
            </a:lvl3pPr>
            <a:lvl4pPr>
              <a:defRPr sz="1050" b="1">
                <a:solidFill>
                  <a:srgbClr val="237B82"/>
                </a:solidFill>
                <a:latin typeface="Helvetica Neue"/>
                <a:ea typeface="Helvetica Neue"/>
                <a:cs typeface="Helvetica Neue"/>
              </a:defRPr>
            </a:lvl4pPr>
            <a:lvl5pPr>
              <a:defRPr sz="1050" b="1">
                <a:solidFill>
                  <a:srgbClr val="237B82"/>
                </a:solidFill>
                <a:latin typeface="Helvetica Neue"/>
                <a:ea typeface="Helvetica Neue"/>
                <a:cs typeface="Helvetica Neue"/>
              </a:defRPr>
            </a:lvl5pPr>
            <a:lvl6pPr>
              <a:defRPr sz="1050" b="1">
                <a:solidFill>
                  <a:srgbClr val="237B82"/>
                </a:solidFill>
                <a:latin typeface="Helvetica Neue"/>
                <a:ea typeface="Helvetica Neue"/>
                <a:cs typeface="Helvetica Neue"/>
              </a:defRPr>
            </a:lvl6pPr>
            <a:lvl7pPr>
              <a:defRPr sz="1050" b="1">
                <a:solidFill>
                  <a:srgbClr val="237B82"/>
                </a:solidFill>
                <a:latin typeface="Helvetica Neue"/>
                <a:ea typeface="Helvetica Neue"/>
                <a:cs typeface="Helvetica Neue"/>
              </a:defRPr>
            </a:lvl7pPr>
            <a:lvl8pPr>
              <a:defRPr sz="1050" b="1">
                <a:solidFill>
                  <a:srgbClr val="237B82"/>
                </a:solidFill>
                <a:latin typeface="Helvetica Neue"/>
                <a:ea typeface="Helvetica Neue"/>
                <a:cs typeface="Helvetica Neue"/>
              </a:defRPr>
            </a:lvl8pPr>
            <a:lvl9pPr>
              <a:defRPr sz="1050" b="1">
                <a:solidFill>
                  <a:srgbClr val="237B82"/>
                </a:solidFill>
                <a:latin typeface="Helvetica Neue"/>
                <a:ea typeface="Helvetica Neue"/>
                <a:cs typeface="Helvetica Neue"/>
              </a:defRPr>
            </a:lvl9pPr>
          </a:lstStyle>
          <a:p xmlns:a="http://schemas.openxmlformats.org/drawingml/2006/main">
            <a:pPr>
              <a:defRPr sz="1050" b="1">
                <a:solidFill>
                  <a:srgbClr val="237B82"/>
                </a:solidFill>
                <a:latin typeface="Helvetica Neue"/>
                <a:ea typeface="Helvetica Neue"/>
                <a:cs typeface="Helvetica Neue"/>
              </a:defRPr>
            </a:pPr>
            <a:r>
              <a:rPr sz="1050" b="1">
                <a:solidFill>
                  <a:srgbClr val="237B82"/>
                </a:solidFill>
                <a:latin typeface="Helvetica Neue"/>
                <a:ea typeface="Helvetica Neue"/>
                <a:cs typeface="Helvetica Neue"/>
              </a:rPr>
              <a:t>Manual page 57</a:t>
            </a:r>
          </a:p>
        </p:txBody>
      </p:sp>
    </p:spTree>
    <p:extLst>
      <p:ext uri="{BB962C8B-B14F-4D97-AF65-F5344CB8AC3E}">
        <p14:creationId xmlns:p14="http://schemas.microsoft.com/office/powerpoint/2010/main" val="2061883579"/>
      </p:ext>
    </p:extLst>
  </p:cSld>
</p:sld>
</file>

<file path=ppt/slides/slide50.xml><?xml version="1.0" encoding="utf-8"?>
<p:sld xmlns:p="http://schemas.openxmlformats.org/presentationml/2006/main">
  <p:cSld>
    <p:bg>
      <p:bgPr>
        <a:solidFill xmlns:a="http://schemas.openxmlformats.org/drawingml/2006/main">
          <a:srgbClr val="F7F4EE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9960737B-F4FB-42F4-8AFF-589296799C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2095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37B82"/>
          </a:solidFill>
          <a:ln xmlns:a="http://schemas.openxmlformats.org/drawingml/2006/main" w="0">
            <a:solidFill>
              <a:srgbClr val="237B82"/>
            </a:solidFill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914182F4-2D74-4817-B6E2-724FAAD01B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00050"/>
            <a:ext cx="10001250" cy="819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>
            <a:defPPr>
              <a:defRPr sz="2700" b="1">
                <a:solidFill>
                  <a:srgbClr val="15324A"/>
                </a:solidFill>
                <a:latin typeface="Helvetica Neue"/>
                <a:ea typeface="Helvetica Neue"/>
                <a:cs typeface="Helvetica Neue"/>
              </a:defRPr>
            </a:defPPr>
            <a:lvl1pPr>
              <a:defRPr sz="2700" b="1">
                <a:solidFill>
                  <a:srgbClr val="15324A"/>
                </a:solidFill>
                <a:latin typeface="Helvetica Neue"/>
                <a:ea typeface="Helvetica Neue"/>
                <a:cs typeface="Helvetica Neue"/>
              </a:defRPr>
            </a:lvl1pPr>
            <a:lvl2pPr>
              <a:defRPr sz="2700" b="1">
                <a:solidFill>
                  <a:srgbClr val="15324A"/>
                </a:solidFill>
                <a:latin typeface="Helvetica Neue"/>
                <a:ea typeface="Helvetica Neue"/>
                <a:cs typeface="Helvetica Neue"/>
              </a:defRPr>
            </a:lvl2pPr>
            <a:lvl3pPr>
              <a:defRPr sz="2700" b="1">
                <a:solidFill>
                  <a:srgbClr val="15324A"/>
                </a:solidFill>
                <a:latin typeface="Helvetica Neue"/>
                <a:ea typeface="Helvetica Neue"/>
                <a:cs typeface="Helvetica Neue"/>
              </a:defRPr>
            </a:lvl3pPr>
            <a:lvl4pPr>
              <a:defRPr sz="2700" b="1">
                <a:solidFill>
                  <a:srgbClr val="15324A"/>
                </a:solidFill>
                <a:latin typeface="Helvetica Neue"/>
                <a:ea typeface="Helvetica Neue"/>
                <a:cs typeface="Helvetica Neue"/>
              </a:defRPr>
            </a:lvl4pPr>
            <a:lvl5pPr>
              <a:defRPr sz="2700" b="1">
                <a:solidFill>
                  <a:srgbClr val="15324A"/>
                </a:solidFill>
                <a:latin typeface="Helvetica Neue"/>
                <a:ea typeface="Helvetica Neue"/>
                <a:cs typeface="Helvetica Neue"/>
              </a:defRPr>
            </a:lvl5pPr>
            <a:lvl6pPr>
              <a:defRPr sz="2700" b="1">
                <a:solidFill>
                  <a:srgbClr val="15324A"/>
                </a:solidFill>
                <a:latin typeface="Helvetica Neue"/>
                <a:ea typeface="Helvetica Neue"/>
                <a:cs typeface="Helvetica Neue"/>
              </a:defRPr>
            </a:lvl6pPr>
            <a:lvl7pPr>
              <a:defRPr sz="2700" b="1">
                <a:solidFill>
                  <a:srgbClr val="15324A"/>
                </a:solidFill>
                <a:latin typeface="Helvetica Neue"/>
                <a:ea typeface="Helvetica Neue"/>
                <a:cs typeface="Helvetica Neue"/>
              </a:defRPr>
            </a:lvl7pPr>
            <a:lvl8pPr>
              <a:defRPr sz="2700" b="1">
                <a:solidFill>
                  <a:srgbClr val="15324A"/>
                </a:solidFill>
                <a:latin typeface="Helvetica Neue"/>
                <a:ea typeface="Helvetica Neue"/>
                <a:cs typeface="Helvetica Neue"/>
              </a:defRPr>
            </a:lvl8pPr>
            <a:lvl9pPr>
              <a:defRPr sz="2700" b="1">
                <a:solidFill>
                  <a:srgbClr val="15324A"/>
                </a:solidFill>
                <a:latin typeface="Helvetica Neue"/>
                <a:ea typeface="Helvetica Neue"/>
                <a:cs typeface="Helvetica Neue"/>
              </a:defRPr>
            </a:lvl9pPr>
          </a:lstStyle>
          <a:p xmlns:a="http://schemas.openxmlformats.org/drawingml/2006/main">
            <a:pPr>
              <a:defRPr sz="2700" b="1">
                <a:solidFill>
                  <a:srgbClr val="15324A"/>
                </a:solidFill>
                <a:latin typeface="Helvetica Neue"/>
                <a:ea typeface="Helvetica Neue"/>
                <a:cs typeface="Helvetica Neue"/>
              </a:defRPr>
            </a:pPr>
            <a:r>
              <a:rPr sz="2700" b="1">
                <a:solidFill>
                  <a:srgbClr val="15324A"/>
                </a:solidFill>
                <a:latin typeface="Helvetica Neue"/>
                <a:ea typeface="Helvetica Neue"/>
                <a:cs typeface="Helvetica Neue"/>
              </a:rPr>
              <a:t>from 170 to 220 microns. — continued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745C0C0A-0DD0-4F63-92C0-DAB18FE7D1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1257300"/>
            <a:ext cx="88582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91111"/>
          </a:bodyPr>
          <a:lstStyle xmlns:a="http://schemas.openxmlformats.org/drawingml/2006/main">
            <a:defPPr>
              <a:defRPr sz="1125" b="1">
                <a:solidFill>
                  <a:srgbClr val="237B82"/>
                </a:solidFill>
                <a:latin typeface="Helvetica Neue"/>
                <a:ea typeface="Helvetica Neue"/>
                <a:cs typeface="Helvetica Neue"/>
              </a:defRPr>
            </a:defPPr>
            <a:lvl1pPr>
              <a:defRPr sz="1125" b="1">
                <a:solidFill>
                  <a:srgbClr val="237B82"/>
                </a:solidFill>
                <a:latin typeface="Helvetica Neue"/>
                <a:ea typeface="Helvetica Neue"/>
                <a:cs typeface="Helvetica Neue"/>
              </a:defRPr>
            </a:lvl1pPr>
            <a:lvl2pPr>
              <a:defRPr sz="1125" b="1">
                <a:solidFill>
                  <a:srgbClr val="237B82"/>
                </a:solidFill>
                <a:latin typeface="Helvetica Neue"/>
                <a:ea typeface="Helvetica Neue"/>
                <a:cs typeface="Helvetica Neue"/>
              </a:defRPr>
            </a:lvl2pPr>
            <a:lvl3pPr>
              <a:defRPr sz="1125" b="1">
                <a:solidFill>
                  <a:srgbClr val="237B82"/>
                </a:solidFill>
                <a:latin typeface="Helvetica Neue"/>
                <a:ea typeface="Helvetica Neue"/>
                <a:cs typeface="Helvetica Neue"/>
              </a:defRPr>
            </a:lvl3pPr>
            <a:lvl4pPr>
              <a:defRPr sz="1125" b="1">
                <a:solidFill>
                  <a:srgbClr val="237B82"/>
                </a:solidFill>
                <a:latin typeface="Helvetica Neue"/>
                <a:ea typeface="Helvetica Neue"/>
                <a:cs typeface="Helvetica Neue"/>
              </a:defRPr>
            </a:lvl4pPr>
            <a:lvl5pPr>
              <a:defRPr sz="1125" b="1">
                <a:solidFill>
                  <a:srgbClr val="237B82"/>
                </a:solidFill>
                <a:latin typeface="Helvetica Neue"/>
                <a:ea typeface="Helvetica Neue"/>
                <a:cs typeface="Helvetica Neue"/>
              </a:defRPr>
            </a:lvl5pPr>
            <a:lvl6pPr>
              <a:defRPr sz="1125" b="1">
                <a:solidFill>
                  <a:srgbClr val="237B82"/>
                </a:solidFill>
                <a:latin typeface="Helvetica Neue"/>
                <a:ea typeface="Helvetica Neue"/>
                <a:cs typeface="Helvetica Neue"/>
              </a:defRPr>
            </a:lvl6pPr>
            <a:lvl7pPr>
              <a:defRPr sz="1125" b="1">
                <a:solidFill>
                  <a:srgbClr val="237B82"/>
                </a:solidFill>
                <a:latin typeface="Helvetica Neue"/>
                <a:ea typeface="Helvetica Neue"/>
                <a:cs typeface="Helvetica Neue"/>
              </a:defRPr>
            </a:lvl7pPr>
            <a:lvl8pPr>
              <a:defRPr sz="1125" b="1">
                <a:solidFill>
                  <a:srgbClr val="237B82"/>
                </a:solidFill>
                <a:latin typeface="Helvetica Neue"/>
                <a:ea typeface="Helvetica Neue"/>
                <a:cs typeface="Helvetica Neue"/>
              </a:defRPr>
            </a:lvl8pPr>
            <a:lvl9pPr>
              <a:defRPr sz="1125" b="1">
                <a:solidFill>
                  <a:srgbClr val="237B82"/>
                </a:solidFill>
                <a:latin typeface="Helvetica Neue"/>
                <a:ea typeface="Helvetica Neue"/>
                <a:cs typeface="Helvetica Neue"/>
              </a:defRPr>
            </a:lvl9pPr>
          </a:lstStyle>
          <a:p xmlns:a="http://schemas.openxmlformats.org/drawingml/2006/main">
            <a:pPr>
              <a:defRPr sz="1125" b="1">
                <a:solidFill>
                  <a:srgbClr val="237B82"/>
                </a:solidFill>
                <a:latin typeface="Helvetica Neue"/>
                <a:ea typeface="Helvetica Neue"/>
                <a:cs typeface="Helvetica Neue"/>
              </a:defRPr>
            </a:pPr>
            <a:r>
              <a:rPr sz="1125" b="1">
                <a:solidFill>
                  <a:srgbClr val="237B82"/>
                </a:solidFill>
                <a:latin typeface="Helvetica Neue"/>
                <a:ea typeface="Helvetica Neue"/>
                <a:cs typeface="Helvetica Neue"/>
              </a:rPr>
              <a:t>MODULE 4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9E413DAF-1DDD-4804-8B3B-0A7C2EFB4D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457200"/>
            <a:ext cx="5334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>
            <a:defPPr>
              <a:defRPr sz="1200" b="1">
                <a:solidFill>
                  <a:srgbClr val="237B82"/>
                </a:solidFill>
                <a:latin typeface="Helvetica Neue"/>
                <a:ea typeface="Helvetica Neue"/>
                <a:cs typeface="Helvetica Neue"/>
              </a:defRPr>
            </a:defPPr>
            <a:lvl1pPr>
              <a:defRPr sz="1200" b="1">
                <a:solidFill>
                  <a:srgbClr val="237B82"/>
                </a:solidFill>
                <a:latin typeface="Helvetica Neue"/>
                <a:ea typeface="Helvetica Neue"/>
                <a:cs typeface="Helvetica Neue"/>
              </a:defRPr>
            </a:lvl1pPr>
            <a:lvl2pPr>
              <a:defRPr sz="1200" b="1">
                <a:solidFill>
                  <a:srgbClr val="237B82"/>
                </a:solidFill>
                <a:latin typeface="Helvetica Neue"/>
                <a:ea typeface="Helvetica Neue"/>
                <a:cs typeface="Helvetica Neue"/>
              </a:defRPr>
            </a:lvl2pPr>
            <a:lvl3pPr>
              <a:defRPr sz="1200" b="1">
                <a:solidFill>
                  <a:srgbClr val="237B82"/>
                </a:solidFill>
                <a:latin typeface="Helvetica Neue"/>
                <a:ea typeface="Helvetica Neue"/>
                <a:cs typeface="Helvetica Neue"/>
              </a:defRPr>
            </a:lvl3pPr>
            <a:lvl4pPr>
              <a:defRPr sz="1200" b="1">
                <a:solidFill>
                  <a:srgbClr val="237B82"/>
                </a:solidFill>
                <a:latin typeface="Helvetica Neue"/>
                <a:ea typeface="Helvetica Neue"/>
                <a:cs typeface="Helvetica Neue"/>
              </a:defRPr>
            </a:lvl4pPr>
            <a:lvl5pPr>
              <a:defRPr sz="1200" b="1">
                <a:solidFill>
                  <a:srgbClr val="237B82"/>
                </a:solidFill>
                <a:latin typeface="Helvetica Neue"/>
                <a:ea typeface="Helvetica Neue"/>
                <a:cs typeface="Helvetica Neue"/>
              </a:defRPr>
            </a:lvl5pPr>
            <a:lvl6pPr>
              <a:defRPr sz="1200" b="1">
                <a:solidFill>
                  <a:srgbClr val="237B82"/>
                </a:solidFill>
                <a:latin typeface="Helvetica Neue"/>
                <a:ea typeface="Helvetica Neue"/>
                <a:cs typeface="Helvetica Neue"/>
              </a:defRPr>
            </a:lvl6pPr>
            <a:lvl7pPr>
              <a:defRPr sz="1200" b="1">
                <a:solidFill>
                  <a:srgbClr val="237B82"/>
                </a:solidFill>
                <a:latin typeface="Helvetica Neue"/>
                <a:ea typeface="Helvetica Neue"/>
                <a:cs typeface="Helvetica Neue"/>
              </a:defRPr>
            </a:lvl7pPr>
            <a:lvl8pPr>
              <a:defRPr sz="1200" b="1">
                <a:solidFill>
                  <a:srgbClr val="237B82"/>
                </a:solidFill>
                <a:latin typeface="Helvetica Neue"/>
                <a:ea typeface="Helvetica Neue"/>
                <a:cs typeface="Helvetica Neue"/>
              </a:defRPr>
            </a:lvl8pPr>
            <a:lvl9pPr>
              <a:defRPr sz="1200" b="1">
                <a:solidFill>
                  <a:srgbClr val="237B82"/>
                </a:solidFill>
                <a:latin typeface="Helvetica Neue"/>
                <a:ea typeface="Helvetica Neue"/>
                <a:cs typeface="Helvetica Neue"/>
              </a:defRPr>
            </a:lvl9pPr>
          </a:lstStyle>
          <a:p xmlns:a="http://schemas.openxmlformats.org/drawingml/2006/main">
            <a:pPr>
              <a:defRPr sz="1200" b="1">
                <a:solidFill>
                  <a:srgbClr val="237B82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00" b="1">
                <a:solidFill>
                  <a:srgbClr val="237B82"/>
                </a:solidFill>
                <a:latin typeface="Helvetica Neue"/>
                <a:ea typeface="Helvetica Neue"/>
                <a:cs typeface="Helvetica Neue"/>
              </a:rPr>
              <a:t>50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98AD4CC5-C218-43F1-96F7-0982270869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1762125"/>
            <a:ext cx="10287000" cy="409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>
            <a:defPPr>
              <a:defRPr sz="1875">
                <a:solidFill>
                  <a:srgbClr val="13212D"/>
                </a:solidFill>
                <a:latin typeface="Helvetica Neue"/>
                <a:ea typeface="Helvetica Neue"/>
                <a:cs typeface="Helvetica Neue"/>
              </a:defRPr>
            </a:defPPr>
            <a:lvl1pPr>
              <a:defRPr sz="1875">
                <a:solidFill>
                  <a:srgbClr val="13212D"/>
                </a:solidFill>
                <a:latin typeface="Helvetica Neue"/>
                <a:ea typeface="Helvetica Neue"/>
                <a:cs typeface="Helvetica Neue"/>
              </a:defRPr>
            </a:lvl1pPr>
            <a:lvl2pPr>
              <a:defRPr sz="1875">
                <a:solidFill>
                  <a:srgbClr val="13212D"/>
                </a:solidFill>
                <a:latin typeface="Helvetica Neue"/>
                <a:ea typeface="Helvetica Neue"/>
                <a:cs typeface="Helvetica Neue"/>
              </a:defRPr>
            </a:lvl2pPr>
            <a:lvl3pPr>
              <a:defRPr sz="1875">
                <a:solidFill>
                  <a:srgbClr val="13212D"/>
                </a:solidFill>
                <a:latin typeface="Helvetica Neue"/>
                <a:ea typeface="Helvetica Neue"/>
                <a:cs typeface="Helvetica Neue"/>
              </a:defRPr>
            </a:lvl3pPr>
            <a:lvl4pPr>
              <a:defRPr sz="1875">
                <a:solidFill>
                  <a:srgbClr val="13212D"/>
                </a:solidFill>
                <a:latin typeface="Helvetica Neue"/>
                <a:ea typeface="Helvetica Neue"/>
                <a:cs typeface="Helvetica Neue"/>
              </a:defRPr>
            </a:lvl4pPr>
            <a:lvl5pPr>
              <a:defRPr sz="1875">
                <a:solidFill>
                  <a:srgbClr val="13212D"/>
                </a:solidFill>
                <a:latin typeface="Helvetica Neue"/>
                <a:ea typeface="Helvetica Neue"/>
                <a:cs typeface="Helvetica Neue"/>
              </a:defRPr>
            </a:lvl5pPr>
            <a:lvl6pPr>
              <a:defRPr sz="1875">
                <a:solidFill>
                  <a:srgbClr val="13212D"/>
                </a:solidFill>
                <a:latin typeface="Helvetica Neue"/>
                <a:ea typeface="Helvetica Neue"/>
                <a:cs typeface="Helvetica Neue"/>
              </a:defRPr>
            </a:lvl6pPr>
            <a:lvl7pPr>
              <a:defRPr sz="1875">
                <a:solidFill>
                  <a:srgbClr val="13212D"/>
                </a:solidFill>
                <a:latin typeface="Helvetica Neue"/>
                <a:ea typeface="Helvetica Neue"/>
                <a:cs typeface="Helvetica Neue"/>
              </a:defRPr>
            </a:lvl7pPr>
            <a:lvl8pPr>
              <a:defRPr sz="1875">
                <a:solidFill>
                  <a:srgbClr val="13212D"/>
                </a:solidFill>
                <a:latin typeface="Helvetica Neue"/>
                <a:ea typeface="Helvetica Neue"/>
                <a:cs typeface="Helvetica Neue"/>
              </a:defRPr>
            </a:lvl8pPr>
            <a:lvl9pPr>
              <a:defRPr sz="1875">
                <a:solidFill>
                  <a:srgbClr val="13212D"/>
                </a:solidFill>
                <a:latin typeface="Helvetica Neue"/>
                <a:ea typeface="Helvetica Neue"/>
                <a:cs typeface="Helvetica Neue"/>
              </a:defRPr>
            </a:lvl9pPr>
          </a:lstStyle>
          <a:p xmlns:a="http://schemas.openxmlformats.org/drawingml/2006/main">
            <a:pPr marL="279400" indent="-127000">
              <a:spcAft>
                <a:spcPts val="1300"/>
              </a:spcAft>
              <a:buChar char="•"/>
              <a:defRPr sz="1875">
                <a:solidFill>
                  <a:srgbClr val="13212D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75">
                <a:solidFill>
                  <a:srgbClr val="13212D"/>
                </a:solidFill>
                <a:latin typeface="Helvetica Neue"/>
                <a:ea typeface="Helvetica Neue"/>
                <a:cs typeface="Helvetica Neue"/>
              </a:rPr>
              <a:t>One part will be kept refrigerated in the blood bank during the infusion of the other half.</a:t>
            </a:r>
          </a:p>
          <a:p xmlns:a="http://schemas.openxmlformats.org/drawingml/2006/main">
            <a:pPr marL="279400" indent="-127000">
              <a:spcAft>
                <a:spcPts val="1300"/>
              </a:spcAft>
              <a:buChar char="•"/>
              <a:defRPr sz="1875">
                <a:solidFill>
                  <a:srgbClr val="13212D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75">
                <a:solidFill>
                  <a:srgbClr val="13212D"/>
                </a:solidFill>
                <a:latin typeface="Helvetica Neue"/>
                <a:ea typeface="Helvetica Neue"/>
                <a:cs typeface="Helvetica Neue"/>
              </a:rPr>
              <a:t>Transfusion Reactions Over the years, improvements in the techniques of blood collection, storage, and testing, have greatly reduced the risks associated with the administration of</a:t>
            </a:r>
          </a:p>
          <a:p xmlns:a="http://schemas.openxmlformats.org/drawingml/2006/main">
            <a:pPr marL="279400" indent="-127000">
              <a:spcAft>
                <a:spcPts val="1300"/>
              </a:spcAft>
              <a:buChar char="•"/>
              <a:defRPr sz="1875">
                <a:solidFill>
                  <a:srgbClr val="13212D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75">
                <a:solidFill>
                  <a:srgbClr val="13212D"/>
                </a:solidFill>
                <a:latin typeface="Helvetica Neue"/>
                <a:ea typeface="Helvetica Neue"/>
                <a:cs typeface="Helvetica Neue"/>
              </a:rPr>
              <a:t>blood, however, the risk of reactions still remain.</a:t>
            </a:r>
          </a:p>
          <a:p xmlns:a="http://schemas.openxmlformats.org/drawingml/2006/main">
            <a:pPr marL="279400" indent="-127000">
              <a:spcAft>
                <a:spcPts val="1300"/>
              </a:spcAft>
              <a:buChar char="•"/>
              <a:defRPr sz="1875">
                <a:solidFill>
                  <a:srgbClr val="13212D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75">
                <a:solidFill>
                  <a:srgbClr val="13212D"/>
                </a:solidFill>
                <a:latin typeface="Helvetica Neue"/>
                <a:ea typeface="Helvetica Neue"/>
                <a:cs typeface="Helvetica Neue"/>
              </a:rPr>
              <a:t>The nurse administering blood must be aware and alert for the symptomatology of reactions and how to treat them.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DE78981C-F70B-4341-9A62-C21D742321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6115050"/>
            <a:ext cx="101917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>
            <a:defPPr>
              <a:defRPr sz="1125" b="1">
                <a:solidFill>
                  <a:srgbClr val="B94F3D"/>
                </a:solidFill>
                <a:latin typeface="Helvetica Neue"/>
                <a:ea typeface="Helvetica Neue"/>
                <a:cs typeface="Helvetica Neue"/>
              </a:defRPr>
            </a:defPPr>
            <a:lvl1pPr>
              <a:defRPr sz="1125" b="1">
                <a:solidFill>
                  <a:srgbClr val="B94F3D"/>
                </a:solidFill>
                <a:latin typeface="Helvetica Neue"/>
                <a:ea typeface="Helvetica Neue"/>
                <a:cs typeface="Helvetica Neue"/>
              </a:defRPr>
            </a:lvl1pPr>
            <a:lvl2pPr>
              <a:defRPr sz="1125" b="1">
                <a:solidFill>
                  <a:srgbClr val="B94F3D"/>
                </a:solidFill>
                <a:latin typeface="Helvetica Neue"/>
                <a:ea typeface="Helvetica Neue"/>
                <a:cs typeface="Helvetica Neue"/>
              </a:defRPr>
            </a:lvl2pPr>
            <a:lvl3pPr>
              <a:defRPr sz="1125" b="1">
                <a:solidFill>
                  <a:srgbClr val="B94F3D"/>
                </a:solidFill>
                <a:latin typeface="Helvetica Neue"/>
                <a:ea typeface="Helvetica Neue"/>
                <a:cs typeface="Helvetica Neue"/>
              </a:defRPr>
            </a:lvl3pPr>
            <a:lvl4pPr>
              <a:defRPr sz="1125" b="1">
                <a:solidFill>
                  <a:srgbClr val="B94F3D"/>
                </a:solidFill>
                <a:latin typeface="Helvetica Neue"/>
                <a:ea typeface="Helvetica Neue"/>
                <a:cs typeface="Helvetica Neue"/>
              </a:defRPr>
            </a:lvl4pPr>
            <a:lvl5pPr>
              <a:defRPr sz="1125" b="1">
                <a:solidFill>
                  <a:srgbClr val="B94F3D"/>
                </a:solidFill>
                <a:latin typeface="Helvetica Neue"/>
                <a:ea typeface="Helvetica Neue"/>
                <a:cs typeface="Helvetica Neue"/>
              </a:defRPr>
            </a:lvl5pPr>
            <a:lvl6pPr>
              <a:defRPr sz="1125" b="1">
                <a:solidFill>
                  <a:srgbClr val="B94F3D"/>
                </a:solidFill>
                <a:latin typeface="Helvetica Neue"/>
                <a:ea typeface="Helvetica Neue"/>
                <a:cs typeface="Helvetica Neue"/>
              </a:defRPr>
            </a:lvl6pPr>
            <a:lvl7pPr>
              <a:defRPr sz="1125" b="1">
                <a:solidFill>
                  <a:srgbClr val="B94F3D"/>
                </a:solidFill>
                <a:latin typeface="Helvetica Neue"/>
                <a:ea typeface="Helvetica Neue"/>
                <a:cs typeface="Helvetica Neue"/>
              </a:defRPr>
            </a:lvl7pPr>
            <a:lvl8pPr>
              <a:defRPr sz="1125" b="1">
                <a:solidFill>
                  <a:srgbClr val="B94F3D"/>
                </a:solidFill>
                <a:latin typeface="Helvetica Neue"/>
                <a:ea typeface="Helvetica Neue"/>
                <a:cs typeface="Helvetica Neue"/>
              </a:defRPr>
            </a:lvl8pPr>
            <a:lvl9pPr>
              <a:defRPr sz="1125" b="1">
                <a:solidFill>
                  <a:srgbClr val="B94F3D"/>
                </a:solidFill>
                <a:latin typeface="Helvetica Neue"/>
                <a:ea typeface="Helvetica Neue"/>
                <a:cs typeface="Helvetica Neue"/>
              </a:defRPr>
            </a:lvl9pPr>
          </a:lstStyle>
          <a:p xmlns:a="http://schemas.openxmlformats.org/drawingml/2006/main">
            <a:pPr>
              <a:defRPr sz="1125" b="1">
                <a:solidFill>
                  <a:srgbClr val="B94F3D"/>
                </a:solidFill>
                <a:latin typeface="Helvetica Neue"/>
                <a:ea typeface="Helvetica Neue"/>
                <a:cs typeface="Helvetica Neue"/>
              </a:defRPr>
            </a:pPr>
            <a:r>
              <a:rPr sz="1125" b="1">
                <a:solidFill>
                  <a:srgbClr val="B94F3D"/>
                </a:solidFill>
                <a:latin typeface="Helvetica Neue"/>
                <a:ea typeface="Helvetica Neue"/>
                <a:cs typeface="Helvetica Neue"/>
              </a:rPr>
              <a:t>Use current orders, facility policy, and authorized scope when applying this information.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469F1439-25BC-454D-9760-5EB5D2DACA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5772150"/>
            <a:ext cx="101917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97619"/>
          </a:bodyPr>
          <a:lstStyle xmlns:a="http://schemas.openxmlformats.org/drawingml/2006/main">
            <a:defPPr>
              <a:defRPr sz="1050" b="1">
                <a:solidFill>
                  <a:srgbClr val="237B82"/>
                </a:solidFill>
                <a:latin typeface="Helvetica Neue"/>
                <a:ea typeface="Helvetica Neue"/>
                <a:cs typeface="Helvetica Neue"/>
              </a:defRPr>
            </a:defPPr>
            <a:lvl1pPr>
              <a:defRPr sz="1050" b="1">
                <a:solidFill>
                  <a:srgbClr val="237B82"/>
                </a:solidFill>
                <a:latin typeface="Helvetica Neue"/>
                <a:ea typeface="Helvetica Neue"/>
                <a:cs typeface="Helvetica Neue"/>
              </a:defRPr>
            </a:lvl1pPr>
            <a:lvl2pPr>
              <a:defRPr sz="1050" b="1">
                <a:solidFill>
                  <a:srgbClr val="237B82"/>
                </a:solidFill>
                <a:latin typeface="Helvetica Neue"/>
                <a:ea typeface="Helvetica Neue"/>
                <a:cs typeface="Helvetica Neue"/>
              </a:defRPr>
            </a:lvl2pPr>
            <a:lvl3pPr>
              <a:defRPr sz="1050" b="1">
                <a:solidFill>
                  <a:srgbClr val="237B82"/>
                </a:solidFill>
                <a:latin typeface="Helvetica Neue"/>
                <a:ea typeface="Helvetica Neue"/>
                <a:cs typeface="Helvetica Neue"/>
              </a:defRPr>
            </a:lvl3pPr>
            <a:lvl4pPr>
              <a:defRPr sz="1050" b="1">
                <a:solidFill>
                  <a:srgbClr val="237B82"/>
                </a:solidFill>
                <a:latin typeface="Helvetica Neue"/>
                <a:ea typeface="Helvetica Neue"/>
                <a:cs typeface="Helvetica Neue"/>
              </a:defRPr>
            </a:lvl4pPr>
            <a:lvl5pPr>
              <a:defRPr sz="1050" b="1">
                <a:solidFill>
                  <a:srgbClr val="237B82"/>
                </a:solidFill>
                <a:latin typeface="Helvetica Neue"/>
                <a:ea typeface="Helvetica Neue"/>
                <a:cs typeface="Helvetica Neue"/>
              </a:defRPr>
            </a:lvl5pPr>
            <a:lvl6pPr>
              <a:defRPr sz="1050" b="1">
                <a:solidFill>
                  <a:srgbClr val="237B82"/>
                </a:solidFill>
                <a:latin typeface="Helvetica Neue"/>
                <a:ea typeface="Helvetica Neue"/>
                <a:cs typeface="Helvetica Neue"/>
              </a:defRPr>
            </a:lvl6pPr>
            <a:lvl7pPr>
              <a:defRPr sz="1050" b="1">
                <a:solidFill>
                  <a:srgbClr val="237B82"/>
                </a:solidFill>
                <a:latin typeface="Helvetica Neue"/>
                <a:ea typeface="Helvetica Neue"/>
                <a:cs typeface="Helvetica Neue"/>
              </a:defRPr>
            </a:lvl7pPr>
            <a:lvl8pPr>
              <a:defRPr sz="1050" b="1">
                <a:solidFill>
                  <a:srgbClr val="237B82"/>
                </a:solidFill>
                <a:latin typeface="Helvetica Neue"/>
                <a:ea typeface="Helvetica Neue"/>
                <a:cs typeface="Helvetica Neue"/>
              </a:defRPr>
            </a:lvl8pPr>
            <a:lvl9pPr>
              <a:defRPr sz="1050" b="1">
                <a:solidFill>
                  <a:srgbClr val="237B82"/>
                </a:solidFill>
                <a:latin typeface="Helvetica Neue"/>
                <a:ea typeface="Helvetica Neue"/>
                <a:cs typeface="Helvetica Neue"/>
              </a:defRPr>
            </a:lvl9pPr>
          </a:lstStyle>
          <a:p xmlns:a="http://schemas.openxmlformats.org/drawingml/2006/main">
            <a:pPr>
              <a:defRPr sz="1050" b="1">
                <a:solidFill>
                  <a:srgbClr val="237B82"/>
                </a:solidFill>
                <a:latin typeface="Helvetica Neue"/>
                <a:ea typeface="Helvetica Neue"/>
                <a:cs typeface="Helvetica Neue"/>
              </a:defRPr>
            </a:pPr>
            <a:r>
              <a:rPr sz="1050" b="1">
                <a:solidFill>
                  <a:srgbClr val="237B82"/>
                </a:solidFill>
                <a:latin typeface="Helvetica Neue"/>
                <a:ea typeface="Helvetica Neue"/>
                <a:cs typeface="Helvetica Neue"/>
              </a:rPr>
              <a:t>Manual page 57</a:t>
            </a:r>
          </a:p>
        </p:txBody>
      </p:sp>
    </p:spTree>
    <p:extLst>
      <p:ext uri="{BB962C8B-B14F-4D97-AF65-F5344CB8AC3E}">
        <p14:creationId xmlns:p14="http://schemas.microsoft.com/office/powerpoint/2010/main" val="401915048"/>
      </p:ext>
    </p:extLst>
  </p:cSld>
</p:sld>
</file>

<file path=ppt/slides/slide51.xml><?xml version="1.0" encoding="utf-8"?>
<p:sld xmlns:p="http://schemas.openxmlformats.org/presentationml/2006/main">
  <p:cSld>
    <p:bg>
      <p:bgPr>
        <a:solidFill xmlns:a="http://schemas.openxmlformats.org/drawingml/2006/main">
          <a:srgbClr val="F7F4EE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6A969703-0C4F-469F-8F4C-D1029D35EE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2095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37B82"/>
          </a:solidFill>
          <a:ln xmlns:a="http://schemas.openxmlformats.org/drawingml/2006/main" w="0">
            <a:solidFill>
              <a:srgbClr val="237B82"/>
            </a:solidFill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DF3C1756-8335-481F-BA0B-C45E850B93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00050"/>
            <a:ext cx="10001250" cy="819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>
            <a:defPPr>
              <a:defRPr sz="2700" b="1">
                <a:solidFill>
                  <a:srgbClr val="15324A"/>
                </a:solidFill>
                <a:latin typeface="Helvetica Neue"/>
                <a:ea typeface="Helvetica Neue"/>
                <a:cs typeface="Helvetica Neue"/>
              </a:defRPr>
            </a:defPPr>
            <a:lvl1pPr>
              <a:defRPr sz="2700" b="1">
                <a:solidFill>
                  <a:srgbClr val="15324A"/>
                </a:solidFill>
                <a:latin typeface="Helvetica Neue"/>
                <a:ea typeface="Helvetica Neue"/>
                <a:cs typeface="Helvetica Neue"/>
              </a:defRPr>
            </a:lvl1pPr>
            <a:lvl2pPr>
              <a:defRPr sz="2700" b="1">
                <a:solidFill>
                  <a:srgbClr val="15324A"/>
                </a:solidFill>
                <a:latin typeface="Helvetica Neue"/>
                <a:ea typeface="Helvetica Neue"/>
                <a:cs typeface="Helvetica Neue"/>
              </a:defRPr>
            </a:lvl2pPr>
            <a:lvl3pPr>
              <a:defRPr sz="2700" b="1">
                <a:solidFill>
                  <a:srgbClr val="15324A"/>
                </a:solidFill>
                <a:latin typeface="Helvetica Neue"/>
                <a:ea typeface="Helvetica Neue"/>
                <a:cs typeface="Helvetica Neue"/>
              </a:defRPr>
            </a:lvl3pPr>
            <a:lvl4pPr>
              <a:defRPr sz="2700" b="1">
                <a:solidFill>
                  <a:srgbClr val="15324A"/>
                </a:solidFill>
                <a:latin typeface="Helvetica Neue"/>
                <a:ea typeface="Helvetica Neue"/>
                <a:cs typeface="Helvetica Neue"/>
              </a:defRPr>
            </a:lvl4pPr>
            <a:lvl5pPr>
              <a:defRPr sz="2700" b="1">
                <a:solidFill>
                  <a:srgbClr val="15324A"/>
                </a:solidFill>
                <a:latin typeface="Helvetica Neue"/>
                <a:ea typeface="Helvetica Neue"/>
                <a:cs typeface="Helvetica Neue"/>
              </a:defRPr>
            </a:lvl5pPr>
            <a:lvl6pPr>
              <a:defRPr sz="2700" b="1">
                <a:solidFill>
                  <a:srgbClr val="15324A"/>
                </a:solidFill>
                <a:latin typeface="Helvetica Neue"/>
                <a:ea typeface="Helvetica Neue"/>
                <a:cs typeface="Helvetica Neue"/>
              </a:defRPr>
            </a:lvl6pPr>
            <a:lvl7pPr>
              <a:defRPr sz="2700" b="1">
                <a:solidFill>
                  <a:srgbClr val="15324A"/>
                </a:solidFill>
                <a:latin typeface="Helvetica Neue"/>
                <a:ea typeface="Helvetica Neue"/>
                <a:cs typeface="Helvetica Neue"/>
              </a:defRPr>
            </a:lvl7pPr>
            <a:lvl8pPr>
              <a:defRPr sz="2700" b="1">
                <a:solidFill>
                  <a:srgbClr val="15324A"/>
                </a:solidFill>
                <a:latin typeface="Helvetica Neue"/>
                <a:ea typeface="Helvetica Neue"/>
                <a:cs typeface="Helvetica Neue"/>
              </a:defRPr>
            </a:lvl8pPr>
            <a:lvl9pPr>
              <a:defRPr sz="2700" b="1">
                <a:solidFill>
                  <a:srgbClr val="15324A"/>
                </a:solidFill>
                <a:latin typeface="Helvetica Neue"/>
                <a:ea typeface="Helvetica Neue"/>
                <a:cs typeface="Helvetica Neue"/>
              </a:defRPr>
            </a:lvl9pPr>
          </a:lstStyle>
          <a:p xmlns:a="http://schemas.openxmlformats.org/drawingml/2006/main">
            <a:pPr>
              <a:defRPr sz="2700" b="1">
                <a:solidFill>
                  <a:srgbClr val="15324A"/>
                </a:solidFill>
                <a:latin typeface="Helvetica Neue"/>
                <a:ea typeface="Helvetica Neue"/>
                <a:cs typeface="Helvetica Neue"/>
              </a:defRPr>
            </a:pPr>
            <a:r>
              <a:rPr sz="2700" b="1">
                <a:solidFill>
                  <a:srgbClr val="15324A"/>
                </a:solidFill>
                <a:latin typeface="Helvetica Neue"/>
                <a:ea typeface="Helvetica Neue"/>
                <a:cs typeface="Helvetica Neue"/>
              </a:rPr>
              <a:t>from 170 to 220 microns. — continued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EF450902-11BE-4CC7-9F0C-6DABE766C4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1257300"/>
            <a:ext cx="88582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91111"/>
          </a:bodyPr>
          <a:lstStyle xmlns:a="http://schemas.openxmlformats.org/drawingml/2006/main">
            <a:defPPr>
              <a:defRPr sz="1125" b="1">
                <a:solidFill>
                  <a:srgbClr val="237B82"/>
                </a:solidFill>
                <a:latin typeface="Helvetica Neue"/>
                <a:ea typeface="Helvetica Neue"/>
                <a:cs typeface="Helvetica Neue"/>
              </a:defRPr>
            </a:defPPr>
            <a:lvl1pPr>
              <a:defRPr sz="1125" b="1">
                <a:solidFill>
                  <a:srgbClr val="237B82"/>
                </a:solidFill>
                <a:latin typeface="Helvetica Neue"/>
                <a:ea typeface="Helvetica Neue"/>
                <a:cs typeface="Helvetica Neue"/>
              </a:defRPr>
            </a:lvl1pPr>
            <a:lvl2pPr>
              <a:defRPr sz="1125" b="1">
                <a:solidFill>
                  <a:srgbClr val="237B82"/>
                </a:solidFill>
                <a:latin typeface="Helvetica Neue"/>
                <a:ea typeface="Helvetica Neue"/>
                <a:cs typeface="Helvetica Neue"/>
              </a:defRPr>
            </a:lvl2pPr>
            <a:lvl3pPr>
              <a:defRPr sz="1125" b="1">
                <a:solidFill>
                  <a:srgbClr val="237B82"/>
                </a:solidFill>
                <a:latin typeface="Helvetica Neue"/>
                <a:ea typeface="Helvetica Neue"/>
                <a:cs typeface="Helvetica Neue"/>
              </a:defRPr>
            </a:lvl3pPr>
            <a:lvl4pPr>
              <a:defRPr sz="1125" b="1">
                <a:solidFill>
                  <a:srgbClr val="237B82"/>
                </a:solidFill>
                <a:latin typeface="Helvetica Neue"/>
                <a:ea typeface="Helvetica Neue"/>
                <a:cs typeface="Helvetica Neue"/>
              </a:defRPr>
            </a:lvl4pPr>
            <a:lvl5pPr>
              <a:defRPr sz="1125" b="1">
                <a:solidFill>
                  <a:srgbClr val="237B82"/>
                </a:solidFill>
                <a:latin typeface="Helvetica Neue"/>
                <a:ea typeface="Helvetica Neue"/>
                <a:cs typeface="Helvetica Neue"/>
              </a:defRPr>
            </a:lvl5pPr>
            <a:lvl6pPr>
              <a:defRPr sz="1125" b="1">
                <a:solidFill>
                  <a:srgbClr val="237B82"/>
                </a:solidFill>
                <a:latin typeface="Helvetica Neue"/>
                <a:ea typeface="Helvetica Neue"/>
                <a:cs typeface="Helvetica Neue"/>
              </a:defRPr>
            </a:lvl6pPr>
            <a:lvl7pPr>
              <a:defRPr sz="1125" b="1">
                <a:solidFill>
                  <a:srgbClr val="237B82"/>
                </a:solidFill>
                <a:latin typeface="Helvetica Neue"/>
                <a:ea typeface="Helvetica Neue"/>
                <a:cs typeface="Helvetica Neue"/>
              </a:defRPr>
            </a:lvl7pPr>
            <a:lvl8pPr>
              <a:defRPr sz="1125" b="1">
                <a:solidFill>
                  <a:srgbClr val="237B82"/>
                </a:solidFill>
                <a:latin typeface="Helvetica Neue"/>
                <a:ea typeface="Helvetica Neue"/>
                <a:cs typeface="Helvetica Neue"/>
              </a:defRPr>
            </a:lvl8pPr>
            <a:lvl9pPr>
              <a:defRPr sz="1125" b="1">
                <a:solidFill>
                  <a:srgbClr val="237B82"/>
                </a:solidFill>
                <a:latin typeface="Helvetica Neue"/>
                <a:ea typeface="Helvetica Neue"/>
                <a:cs typeface="Helvetica Neue"/>
              </a:defRPr>
            </a:lvl9pPr>
          </a:lstStyle>
          <a:p xmlns:a="http://schemas.openxmlformats.org/drawingml/2006/main">
            <a:pPr>
              <a:defRPr sz="1125" b="1">
                <a:solidFill>
                  <a:srgbClr val="237B82"/>
                </a:solidFill>
                <a:latin typeface="Helvetica Neue"/>
                <a:ea typeface="Helvetica Neue"/>
                <a:cs typeface="Helvetica Neue"/>
              </a:defRPr>
            </a:pPr>
            <a:r>
              <a:rPr sz="1125" b="1">
                <a:solidFill>
                  <a:srgbClr val="237B82"/>
                </a:solidFill>
                <a:latin typeface="Helvetica Neue"/>
                <a:ea typeface="Helvetica Neue"/>
                <a:cs typeface="Helvetica Neue"/>
              </a:rPr>
              <a:t>MODULE 4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3A8B38D2-53E8-4F37-92D3-CE64CE1042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457200"/>
            <a:ext cx="5334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>
            <a:defPPr>
              <a:defRPr sz="1200" b="1">
                <a:solidFill>
                  <a:srgbClr val="237B82"/>
                </a:solidFill>
                <a:latin typeface="Helvetica Neue"/>
                <a:ea typeface="Helvetica Neue"/>
                <a:cs typeface="Helvetica Neue"/>
              </a:defRPr>
            </a:defPPr>
            <a:lvl1pPr>
              <a:defRPr sz="1200" b="1">
                <a:solidFill>
                  <a:srgbClr val="237B82"/>
                </a:solidFill>
                <a:latin typeface="Helvetica Neue"/>
                <a:ea typeface="Helvetica Neue"/>
                <a:cs typeface="Helvetica Neue"/>
              </a:defRPr>
            </a:lvl1pPr>
            <a:lvl2pPr>
              <a:defRPr sz="1200" b="1">
                <a:solidFill>
                  <a:srgbClr val="237B82"/>
                </a:solidFill>
                <a:latin typeface="Helvetica Neue"/>
                <a:ea typeface="Helvetica Neue"/>
                <a:cs typeface="Helvetica Neue"/>
              </a:defRPr>
            </a:lvl2pPr>
            <a:lvl3pPr>
              <a:defRPr sz="1200" b="1">
                <a:solidFill>
                  <a:srgbClr val="237B82"/>
                </a:solidFill>
                <a:latin typeface="Helvetica Neue"/>
                <a:ea typeface="Helvetica Neue"/>
                <a:cs typeface="Helvetica Neue"/>
              </a:defRPr>
            </a:lvl3pPr>
            <a:lvl4pPr>
              <a:defRPr sz="1200" b="1">
                <a:solidFill>
                  <a:srgbClr val="237B82"/>
                </a:solidFill>
                <a:latin typeface="Helvetica Neue"/>
                <a:ea typeface="Helvetica Neue"/>
                <a:cs typeface="Helvetica Neue"/>
              </a:defRPr>
            </a:lvl4pPr>
            <a:lvl5pPr>
              <a:defRPr sz="1200" b="1">
                <a:solidFill>
                  <a:srgbClr val="237B82"/>
                </a:solidFill>
                <a:latin typeface="Helvetica Neue"/>
                <a:ea typeface="Helvetica Neue"/>
                <a:cs typeface="Helvetica Neue"/>
              </a:defRPr>
            </a:lvl5pPr>
            <a:lvl6pPr>
              <a:defRPr sz="1200" b="1">
                <a:solidFill>
                  <a:srgbClr val="237B82"/>
                </a:solidFill>
                <a:latin typeface="Helvetica Neue"/>
                <a:ea typeface="Helvetica Neue"/>
                <a:cs typeface="Helvetica Neue"/>
              </a:defRPr>
            </a:lvl6pPr>
            <a:lvl7pPr>
              <a:defRPr sz="1200" b="1">
                <a:solidFill>
                  <a:srgbClr val="237B82"/>
                </a:solidFill>
                <a:latin typeface="Helvetica Neue"/>
                <a:ea typeface="Helvetica Neue"/>
                <a:cs typeface="Helvetica Neue"/>
              </a:defRPr>
            </a:lvl7pPr>
            <a:lvl8pPr>
              <a:defRPr sz="1200" b="1">
                <a:solidFill>
                  <a:srgbClr val="237B82"/>
                </a:solidFill>
                <a:latin typeface="Helvetica Neue"/>
                <a:ea typeface="Helvetica Neue"/>
                <a:cs typeface="Helvetica Neue"/>
              </a:defRPr>
            </a:lvl8pPr>
            <a:lvl9pPr>
              <a:defRPr sz="1200" b="1">
                <a:solidFill>
                  <a:srgbClr val="237B82"/>
                </a:solidFill>
                <a:latin typeface="Helvetica Neue"/>
                <a:ea typeface="Helvetica Neue"/>
                <a:cs typeface="Helvetica Neue"/>
              </a:defRPr>
            </a:lvl9pPr>
          </a:lstStyle>
          <a:p xmlns:a="http://schemas.openxmlformats.org/drawingml/2006/main">
            <a:pPr>
              <a:defRPr sz="1200" b="1">
                <a:solidFill>
                  <a:srgbClr val="237B82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00" b="1">
                <a:solidFill>
                  <a:srgbClr val="237B82"/>
                </a:solidFill>
                <a:latin typeface="Helvetica Neue"/>
                <a:ea typeface="Helvetica Neue"/>
                <a:cs typeface="Helvetica Neue"/>
              </a:rPr>
              <a:t>51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5B0D16EC-D739-487C-B6AD-C0BB31998A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1762125"/>
            <a:ext cx="10287000" cy="409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>
            <a:defPPr>
              <a:defRPr sz="1875">
                <a:solidFill>
                  <a:srgbClr val="13212D"/>
                </a:solidFill>
                <a:latin typeface="Helvetica Neue"/>
                <a:ea typeface="Helvetica Neue"/>
                <a:cs typeface="Helvetica Neue"/>
              </a:defRPr>
            </a:defPPr>
            <a:lvl1pPr>
              <a:defRPr sz="1875">
                <a:solidFill>
                  <a:srgbClr val="13212D"/>
                </a:solidFill>
                <a:latin typeface="Helvetica Neue"/>
                <a:ea typeface="Helvetica Neue"/>
                <a:cs typeface="Helvetica Neue"/>
              </a:defRPr>
            </a:lvl1pPr>
            <a:lvl2pPr>
              <a:defRPr sz="1875">
                <a:solidFill>
                  <a:srgbClr val="13212D"/>
                </a:solidFill>
                <a:latin typeface="Helvetica Neue"/>
                <a:ea typeface="Helvetica Neue"/>
                <a:cs typeface="Helvetica Neue"/>
              </a:defRPr>
            </a:lvl2pPr>
            <a:lvl3pPr>
              <a:defRPr sz="1875">
                <a:solidFill>
                  <a:srgbClr val="13212D"/>
                </a:solidFill>
                <a:latin typeface="Helvetica Neue"/>
                <a:ea typeface="Helvetica Neue"/>
                <a:cs typeface="Helvetica Neue"/>
              </a:defRPr>
            </a:lvl3pPr>
            <a:lvl4pPr>
              <a:defRPr sz="1875">
                <a:solidFill>
                  <a:srgbClr val="13212D"/>
                </a:solidFill>
                <a:latin typeface="Helvetica Neue"/>
                <a:ea typeface="Helvetica Neue"/>
                <a:cs typeface="Helvetica Neue"/>
              </a:defRPr>
            </a:lvl4pPr>
            <a:lvl5pPr>
              <a:defRPr sz="1875">
                <a:solidFill>
                  <a:srgbClr val="13212D"/>
                </a:solidFill>
                <a:latin typeface="Helvetica Neue"/>
                <a:ea typeface="Helvetica Neue"/>
                <a:cs typeface="Helvetica Neue"/>
              </a:defRPr>
            </a:lvl5pPr>
            <a:lvl6pPr>
              <a:defRPr sz="1875">
                <a:solidFill>
                  <a:srgbClr val="13212D"/>
                </a:solidFill>
                <a:latin typeface="Helvetica Neue"/>
                <a:ea typeface="Helvetica Neue"/>
                <a:cs typeface="Helvetica Neue"/>
              </a:defRPr>
            </a:lvl6pPr>
            <a:lvl7pPr>
              <a:defRPr sz="1875">
                <a:solidFill>
                  <a:srgbClr val="13212D"/>
                </a:solidFill>
                <a:latin typeface="Helvetica Neue"/>
                <a:ea typeface="Helvetica Neue"/>
                <a:cs typeface="Helvetica Neue"/>
              </a:defRPr>
            </a:lvl7pPr>
            <a:lvl8pPr>
              <a:defRPr sz="1875">
                <a:solidFill>
                  <a:srgbClr val="13212D"/>
                </a:solidFill>
                <a:latin typeface="Helvetica Neue"/>
                <a:ea typeface="Helvetica Neue"/>
                <a:cs typeface="Helvetica Neue"/>
              </a:defRPr>
            </a:lvl8pPr>
            <a:lvl9pPr>
              <a:defRPr sz="1875">
                <a:solidFill>
                  <a:srgbClr val="13212D"/>
                </a:solidFill>
                <a:latin typeface="Helvetica Neue"/>
                <a:ea typeface="Helvetica Neue"/>
                <a:cs typeface="Helvetica Neue"/>
              </a:defRPr>
            </a:lvl9pPr>
          </a:lstStyle>
          <a:p xmlns:a="http://schemas.openxmlformats.org/drawingml/2006/main">
            <a:pPr marL="279400" indent="-127000">
              <a:spcAft>
                <a:spcPts val="1300"/>
              </a:spcAft>
              <a:buChar char="•"/>
              <a:defRPr sz="1875">
                <a:solidFill>
                  <a:srgbClr val="13212D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75">
                <a:solidFill>
                  <a:srgbClr val="13212D"/>
                </a:solidFill>
                <a:latin typeface="Helvetica Neue"/>
                <a:ea typeface="Helvetica Neue"/>
                <a:cs typeface="Helvetica Neue"/>
              </a:rPr>
              <a:t>The primary causes of transfusion reactions are incompatibility, contaminated blood, or to rapid infusion rate.</a:t>
            </a:r>
          </a:p>
          <a:p xmlns:a="http://schemas.openxmlformats.org/drawingml/2006/main">
            <a:pPr marL="279400" indent="-127000">
              <a:spcAft>
                <a:spcPts val="1300"/>
              </a:spcAft>
              <a:buChar char="•"/>
              <a:defRPr sz="1875">
                <a:solidFill>
                  <a:srgbClr val="13212D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75">
                <a:solidFill>
                  <a:srgbClr val="13212D"/>
                </a:solidFill>
                <a:latin typeface="Helvetica Neue"/>
                <a:ea typeface="Helvetica Neue"/>
                <a:cs typeface="Helvetica Neue"/>
              </a:rPr>
              <a:t>If a transfusion reaction should occur, the following steps should be taken to safeguard the patient: 1.</a:t>
            </a:r>
          </a:p>
          <a:p xmlns:a="http://schemas.openxmlformats.org/drawingml/2006/main">
            <a:pPr marL="279400" indent="-127000">
              <a:spcAft>
                <a:spcPts val="1300"/>
              </a:spcAft>
              <a:buChar char="•"/>
              <a:defRPr sz="1875">
                <a:solidFill>
                  <a:srgbClr val="13212D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75">
                <a:solidFill>
                  <a:srgbClr val="13212D"/>
                </a:solidFill>
                <a:latin typeface="Helvetica Neue"/>
                <a:ea typeface="Helvetica Neue"/>
                <a:cs typeface="Helvetica Neue"/>
              </a:rPr>
              <a:t>Stop the transfusion.</a:t>
            </a:r>
          </a:p>
          <a:p xmlns:a="http://schemas.openxmlformats.org/drawingml/2006/main">
            <a:pPr marL="279400" indent="-127000">
              <a:spcAft>
                <a:spcPts val="1300"/>
              </a:spcAft>
              <a:buChar char="•"/>
              <a:defRPr sz="1875">
                <a:solidFill>
                  <a:srgbClr val="13212D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75">
                <a:solidFill>
                  <a:srgbClr val="13212D"/>
                </a:solidFill>
                <a:latin typeface="Helvetica Neue"/>
                <a:ea typeface="Helvetica Neue"/>
                <a:cs typeface="Helvetica Neue"/>
              </a:rPr>
              <a:t>(Turn off flow control on blood side of the administration set.)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12476B2F-9AD4-4757-9261-64D898F372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6115050"/>
            <a:ext cx="101917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>
            <a:defPPr>
              <a:defRPr sz="1125" b="1">
                <a:solidFill>
                  <a:srgbClr val="B94F3D"/>
                </a:solidFill>
                <a:latin typeface="Helvetica Neue"/>
                <a:ea typeface="Helvetica Neue"/>
                <a:cs typeface="Helvetica Neue"/>
              </a:defRPr>
            </a:defPPr>
            <a:lvl1pPr>
              <a:defRPr sz="1125" b="1">
                <a:solidFill>
                  <a:srgbClr val="B94F3D"/>
                </a:solidFill>
                <a:latin typeface="Helvetica Neue"/>
                <a:ea typeface="Helvetica Neue"/>
                <a:cs typeface="Helvetica Neue"/>
              </a:defRPr>
            </a:lvl1pPr>
            <a:lvl2pPr>
              <a:defRPr sz="1125" b="1">
                <a:solidFill>
                  <a:srgbClr val="B94F3D"/>
                </a:solidFill>
                <a:latin typeface="Helvetica Neue"/>
                <a:ea typeface="Helvetica Neue"/>
                <a:cs typeface="Helvetica Neue"/>
              </a:defRPr>
            </a:lvl2pPr>
            <a:lvl3pPr>
              <a:defRPr sz="1125" b="1">
                <a:solidFill>
                  <a:srgbClr val="B94F3D"/>
                </a:solidFill>
                <a:latin typeface="Helvetica Neue"/>
                <a:ea typeface="Helvetica Neue"/>
                <a:cs typeface="Helvetica Neue"/>
              </a:defRPr>
            </a:lvl3pPr>
            <a:lvl4pPr>
              <a:defRPr sz="1125" b="1">
                <a:solidFill>
                  <a:srgbClr val="B94F3D"/>
                </a:solidFill>
                <a:latin typeface="Helvetica Neue"/>
                <a:ea typeface="Helvetica Neue"/>
                <a:cs typeface="Helvetica Neue"/>
              </a:defRPr>
            </a:lvl4pPr>
            <a:lvl5pPr>
              <a:defRPr sz="1125" b="1">
                <a:solidFill>
                  <a:srgbClr val="B94F3D"/>
                </a:solidFill>
                <a:latin typeface="Helvetica Neue"/>
                <a:ea typeface="Helvetica Neue"/>
                <a:cs typeface="Helvetica Neue"/>
              </a:defRPr>
            </a:lvl5pPr>
            <a:lvl6pPr>
              <a:defRPr sz="1125" b="1">
                <a:solidFill>
                  <a:srgbClr val="B94F3D"/>
                </a:solidFill>
                <a:latin typeface="Helvetica Neue"/>
                <a:ea typeface="Helvetica Neue"/>
                <a:cs typeface="Helvetica Neue"/>
              </a:defRPr>
            </a:lvl6pPr>
            <a:lvl7pPr>
              <a:defRPr sz="1125" b="1">
                <a:solidFill>
                  <a:srgbClr val="B94F3D"/>
                </a:solidFill>
                <a:latin typeface="Helvetica Neue"/>
                <a:ea typeface="Helvetica Neue"/>
                <a:cs typeface="Helvetica Neue"/>
              </a:defRPr>
            </a:lvl7pPr>
            <a:lvl8pPr>
              <a:defRPr sz="1125" b="1">
                <a:solidFill>
                  <a:srgbClr val="B94F3D"/>
                </a:solidFill>
                <a:latin typeface="Helvetica Neue"/>
                <a:ea typeface="Helvetica Neue"/>
                <a:cs typeface="Helvetica Neue"/>
              </a:defRPr>
            </a:lvl8pPr>
            <a:lvl9pPr>
              <a:defRPr sz="1125" b="1">
                <a:solidFill>
                  <a:srgbClr val="B94F3D"/>
                </a:solidFill>
                <a:latin typeface="Helvetica Neue"/>
                <a:ea typeface="Helvetica Neue"/>
                <a:cs typeface="Helvetica Neue"/>
              </a:defRPr>
            </a:lvl9pPr>
          </a:lstStyle>
          <a:p xmlns:a="http://schemas.openxmlformats.org/drawingml/2006/main">
            <a:pPr>
              <a:defRPr sz="1125" b="1">
                <a:solidFill>
                  <a:srgbClr val="B94F3D"/>
                </a:solidFill>
                <a:latin typeface="Helvetica Neue"/>
                <a:ea typeface="Helvetica Neue"/>
                <a:cs typeface="Helvetica Neue"/>
              </a:defRPr>
            </a:pPr>
            <a:r>
              <a:rPr sz="1125" b="1">
                <a:solidFill>
                  <a:srgbClr val="B94F3D"/>
                </a:solidFill>
                <a:latin typeface="Helvetica Neue"/>
                <a:ea typeface="Helvetica Neue"/>
                <a:cs typeface="Helvetica Neue"/>
              </a:rPr>
              <a:t>Use current orders, facility policy, and authorized scope when applying this information.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E8866D21-42D7-4F78-BA3B-D889283D5C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5772150"/>
            <a:ext cx="101917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97619"/>
          </a:bodyPr>
          <a:lstStyle xmlns:a="http://schemas.openxmlformats.org/drawingml/2006/main">
            <a:defPPr>
              <a:defRPr sz="1050" b="1">
                <a:solidFill>
                  <a:srgbClr val="237B82"/>
                </a:solidFill>
                <a:latin typeface="Helvetica Neue"/>
                <a:ea typeface="Helvetica Neue"/>
                <a:cs typeface="Helvetica Neue"/>
              </a:defRPr>
            </a:defPPr>
            <a:lvl1pPr>
              <a:defRPr sz="1050" b="1">
                <a:solidFill>
                  <a:srgbClr val="237B82"/>
                </a:solidFill>
                <a:latin typeface="Helvetica Neue"/>
                <a:ea typeface="Helvetica Neue"/>
                <a:cs typeface="Helvetica Neue"/>
              </a:defRPr>
            </a:lvl1pPr>
            <a:lvl2pPr>
              <a:defRPr sz="1050" b="1">
                <a:solidFill>
                  <a:srgbClr val="237B82"/>
                </a:solidFill>
                <a:latin typeface="Helvetica Neue"/>
                <a:ea typeface="Helvetica Neue"/>
                <a:cs typeface="Helvetica Neue"/>
              </a:defRPr>
            </a:lvl2pPr>
            <a:lvl3pPr>
              <a:defRPr sz="1050" b="1">
                <a:solidFill>
                  <a:srgbClr val="237B82"/>
                </a:solidFill>
                <a:latin typeface="Helvetica Neue"/>
                <a:ea typeface="Helvetica Neue"/>
                <a:cs typeface="Helvetica Neue"/>
              </a:defRPr>
            </a:lvl3pPr>
            <a:lvl4pPr>
              <a:defRPr sz="1050" b="1">
                <a:solidFill>
                  <a:srgbClr val="237B82"/>
                </a:solidFill>
                <a:latin typeface="Helvetica Neue"/>
                <a:ea typeface="Helvetica Neue"/>
                <a:cs typeface="Helvetica Neue"/>
              </a:defRPr>
            </a:lvl4pPr>
            <a:lvl5pPr>
              <a:defRPr sz="1050" b="1">
                <a:solidFill>
                  <a:srgbClr val="237B82"/>
                </a:solidFill>
                <a:latin typeface="Helvetica Neue"/>
                <a:ea typeface="Helvetica Neue"/>
                <a:cs typeface="Helvetica Neue"/>
              </a:defRPr>
            </a:lvl5pPr>
            <a:lvl6pPr>
              <a:defRPr sz="1050" b="1">
                <a:solidFill>
                  <a:srgbClr val="237B82"/>
                </a:solidFill>
                <a:latin typeface="Helvetica Neue"/>
                <a:ea typeface="Helvetica Neue"/>
                <a:cs typeface="Helvetica Neue"/>
              </a:defRPr>
            </a:lvl6pPr>
            <a:lvl7pPr>
              <a:defRPr sz="1050" b="1">
                <a:solidFill>
                  <a:srgbClr val="237B82"/>
                </a:solidFill>
                <a:latin typeface="Helvetica Neue"/>
                <a:ea typeface="Helvetica Neue"/>
                <a:cs typeface="Helvetica Neue"/>
              </a:defRPr>
            </a:lvl7pPr>
            <a:lvl8pPr>
              <a:defRPr sz="1050" b="1">
                <a:solidFill>
                  <a:srgbClr val="237B82"/>
                </a:solidFill>
                <a:latin typeface="Helvetica Neue"/>
                <a:ea typeface="Helvetica Neue"/>
                <a:cs typeface="Helvetica Neue"/>
              </a:defRPr>
            </a:lvl8pPr>
            <a:lvl9pPr>
              <a:defRPr sz="1050" b="1">
                <a:solidFill>
                  <a:srgbClr val="237B82"/>
                </a:solidFill>
                <a:latin typeface="Helvetica Neue"/>
                <a:ea typeface="Helvetica Neue"/>
                <a:cs typeface="Helvetica Neue"/>
              </a:defRPr>
            </a:lvl9pPr>
          </a:lstStyle>
          <a:p xmlns:a="http://schemas.openxmlformats.org/drawingml/2006/main">
            <a:pPr>
              <a:defRPr sz="1050" b="1">
                <a:solidFill>
                  <a:srgbClr val="237B82"/>
                </a:solidFill>
                <a:latin typeface="Helvetica Neue"/>
                <a:ea typeface="Helvetica Neue"/>
                <a:cs typeface="Helvetica Neue"/>
              </a:defRPr>
            </a:pPr>
            <a:r>
              <a:rPr sz="1050" b="1">
                <a:solidFill>
                  <a:srgbClr val="237B82"/>
                </a:solidFill>
                <a:latin typeface="Helvetica Neue"/>
                <a:ea typeface="Helvetica Neue"/>
                <a:cs typeface="Helvetica Neue"/>
              </a:rPr>
              <a:t>Manual page 57</a:t>
            </a:r>
          </a:p>
        </p:txBody>
      </p:sp>
    </p:spTree>
    <p:extLst>
      <p:ext uri="{BB962C8B-B14F-4D97-AF65-F5344CB8AC3E}">
        <p14:creationId xmlns:p14="http://schemas.microsoft.com/office/powerpoint/2010/main" val="2074865708"/>
      </p:ext>
    </p:extLst>
  </p:cSld>
</p:sld>
</file>

<file path=ppt/slides/slide52.xml><?xml version="1.0" encoding="utf-8"?>
<p:sld xmlns:p="http://schemas.openxmlformats.org/presentationml/2006/main">
  <p:cSld>
    <p:bg>
      <p:bgPr>
        <a:solidFill xmlns:a="http://schemas.openxmlformats.org/drawingml/2006/main">
          <a:srgbClr val="F7F4EE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3552383A-6ACD-4A37-8153-106E36DDFF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2095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37B82"/>
          </a:solidFill>
          <a:ln xmlns:a="http://schemas.openxmlformats.org/drawingml/2006/main" w="0">
            <a:solidFill>
              <a:srgbClr val="237B82"/>
            </a:solidFill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8BF2BCB0-32D1-4422-8CD6-2EEB3B37B3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00050"/>
            <a:ext cx="10001250" cy="819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>
            <a:defPPr>
              <a:defRPr sz="2700" b="1">
                <a:solidFill>
                  <a:srgbClr val="15324A"/>
                </a:solidFill>
                <a:latin typeface="Helvetica Neue"/>
                <a:ea typeface="Helvetica Neue"/>
                <a:cs typeface="Helvetica Neue"/>
              </a:defRPr>
            </a:defPPr>
            <a:lvl1pPr>
              <a:defRPr sz="2700" b="1">
                <a:solidFill>
                  <a:srgbClr val="15324A"/>
                </a:solidFill>
                <a:latin typeface="Helvetica Neue"/>
                <a:ea typeface="Helvetica Neue"/>
                <a:cs typeface="Helvetica Neue"/>
              </a:defRPr>
            </a:lvl1pPr>
            <a:lvl2pPr>
              <a:defRPr sz="2700" b="1">
                <a:solidFill>
                  <a:srgbClr val="15324A"/>
                </a:solidFill>
                <a:latin typeface="Helvetica Neue"/>
                <a:ea typeface="Helvetica Neue"/>
                <a:cs typeface="Helvetica Neue"/>
              </a:defRPr>
            </a:lvl2pPr>
            <a:lvl3pPr>
              <a:defRPr sz="2700" b="1">
                <a:solidFill>
                  <a:srgbClr val="15324A"/>
                </a:solidFill>
                <a:latin typeface="Helvetica Neue"/>
                <a:ea typeface="Helvetica Neue"/>
                <a:cs typeface="Helvetica Neue"/>
              </a:defRPr>
            </a:lvl3pPr>
            <a:lvl4pPr>
              <a:defRPr sz="2700" b="1">
                <a:solidFill>
                  <a:srgbClr val="15324A"/>
                </a:solidFill>
                <a:latin typeface="Helvetica Neue"/>
                <a:ea typeface="Helvetica Neue"/>
                <a:cs typeface="Helvetica Neue"/>
              </a:defRPr>
            </a:lvl4pPr>
            <a:lvl5pPr>
              <a:defRPr sz="2700" b="1">
                <a:solidFill>
                  <a:srgbClr val="15324A"/>
                </a:solidFill>
                <a:latin typeface="Helvetica Neue"/>
                <a:ea typeface="Helvetica Neue"/>
                <a:cs typeface="Helvetica Neue"/>
              </a:defRPr>
            </a:lvl5pPr>
            <a:lvl6pPr>
              <a:defRPr sz="2700" b="1">
                <a:solidFill>
                  <a:srgbClr val="15324A"/>
                </a:solidFill>
                <a:latin typeface="Helvetica Neue"/>
                <a:ea typeface="Helvetica Neue"/>
                <a:cs typeface="Helvetica Neue"/>
              </a:defRPr>
            </a:lvl6pPr>
            <a:lvl7pPr>
              <a:defRPr sz="2700" b="1">
                <a:solidFill>
                  <a:srgbClr val="15324A"/>
                </a:solidFill>
                <a:latin typeface="Helvetica Neue"/>
                <a:ea typeface="Helvetica Neue"/>
                <a:cs typeface="Helvetica Neue"/>
              </a:defRPr>
            </a:lvl7pPr>
            <a:lvl8pPr>
              <a:defRPr sz="2700" b="1">
                <a:solidFill>
                  <a:srgbClr val="15324A"/>
                </a:solidFill>
                <a:latin typeface="Helvetica Neue"/>
                <a:ea typeface="Helvetica Neue"/>
                <a:cs typeface="Helvetica Neue"/>
              </a:defRPr>
            </a:lvl8pPr>
            <a:lvl9pPr>
              <a:defRPr sz="2700" b="1">
                <a:solidFill>
                  <a:srgbClr val="15324A"/>
                </a:solidFill>
                <a:latin typeface="Helvetica Neue"/>
                <a:ea typeface="Helvetica Neue"/>
                <a:cs typeface="Helvetica Neue"/>
              </a:defRPr>
            </a:lvl9pPr>
          </a:lstStyle>
          <a:p xmlns:a="http://schemas.openxmlformats.org/drawingml/2006/main">
            <a:pPr>
              <a:defRPr sz="2700" b="1">
                <a:solidFill>
                  <a:srgbClr val="15324A"/>
                </a:solidFill>
                <a:latin typeface="Helvetica Neue"/>
                <a:ea typeface="Helvetica Neue"/>
                <a:cs typeface="Helvetica Neue"/>
              </a:defRPr>
            </a:pPr>
            <a:r>
              <a:rPr sz="2700" b="1">
                <a:solidFill>
                  <a:srgbClr val="15324A"/>
                </a:solidFill>
                <a:latin typeface="Helvetica Neue"/>
                <a:ea typeface="Helvetica Neue"/>
                <a:cs typeface="Helvetica Neue"/>
              </a:rPr>
              <a:t>normal saline side of the administration set.)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180BE951-7174-47B7-8A07-4909B744AD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1257300"/>
            <a:ext cx="88582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91111"/>
          </a:bodyPr>
          <a:lstStyle xmlns:a="http://schemas.openxmlformats.org/drawingml/2006/main">
            <a:defPPr>
              <a:defRPr sz="1125" b="1">
                <a:solidFill>
                  <a:srgbClr val="237B82"/>
                </a:solidFill>
                <a:latin typeface="Helvetica Neue"/>
                <a:ea typeface="Helvetica Neue"/>
                <a:cs typeface="Helvetica Neue"/>
              </a:defRPr>
            </a:defPPr>
            <a:lvl1pPr>
              <a:defRPr sz="1125" b="1">
                <a:solidFill>
                  <a:srgbClr val="237B82"/>
                </a:solidFill>
                <a:latin typeface="Helvetica Neue"/>
                <a:ea typeface="Helvetica Neue"/>
                <a:cs typeface="Helvetica Neue"/>
              </a:defRPr>
            </a:lvl1pPr>
            <a:lvl2pPr>
              <a:defRPr sz="1125" b="1">
                <a:solidFill>
                  <a:srgbClr val="237B82"/>
                </a:solidFill>
                <a:latin typeface="Helvetica Neue"/>
                <a:ea typeface="Helvetica Neue"/>
                <a:cs typeface="Helvetica Neue"/>
              </a:defRPr>
            </a:lvl2pPr>
            <a:lvl3pPr>
              <a:defRPr sz="1125" b="1">
                <a:solidFill>
                  <a:srgbClr val="237B82"/>
                </a:solidFill>
                <a:latin typeface="Helvetica Neue"/>
                <a:ea typeface="Helvetica Neue"/>
                <a:cs typeface="Helvetica Neue"/>
              </a:defRPr>
            </a:lvl3pPr>
            <a:lvl4pPr>
              <a:defRPr sz="1125" b="1">
                <a:solidFill>
                  <a:srgbClr val="237B82"/>
                </a:solidFill>
                <a:latin typeface="Helvetica Neue"/>
                <a:ea typeface="Helvetica Neue"/>
                <a:cs typeface="Helvetica Neue"/>
              </a:defRPr>
            </a:lvl4pPr>
            <a:lvl5pPr>
              <a:defRPr sz="1125" b="1">
                <a:solidFill>
                  <a:srgbClr val="237B82"/>
                </a:solidFill>
                <a:latin typeface="Helvetica Neue"/>
                <a:ea typeface="Helvetica Neue"/>
                <a:cs typeface="Helvetica Neue"/>
              </a:defRPr>
            </a:lvl5pPr>
            <a:lvl6pPr>
              <a:defRPr sz="1125" b="1">
                <a:solidFill>
                  <a:srgbClr val="237B82"/>
                </a:solidFill>
                <a:latin typeface="Helvetica Neue"/>
                <a:ea typeface="Helvetica Neue"/>
                <a:cs typeface="Helvetica Neue"/>
              </a:defRPr>
            </a:lvl6pPr>
            <a:lvl7pPr>
              <a:defRPr sz="1125" b="1">
                <a:solidFill>
                  <a:srgbClr val="237B82"/>
                </a:solidFill>
                <a:latin typeface="Helvetica Neue"/>
                <a:ea typeface="Helvetica Neue"/>
                <a:cs typeface="Helvetica Neue"/>
              </a:defRPr>
            </a:lvl7pPr>
            <a:lvl8pPr>
              <a:defRPr sz="1125" b="1">
                <a:solidFill>
                  <a:srgbClr val="237B82"/>
                </a:solidFill>
                <a:latin typeface="Helvetica Neue"/>
                <a:ea typeface="Helvetica Neue"/>
                <a:cs typeface="Helvetica Neue"/>
              </a:defRPr>
            </a:lvl8pPr>
            <a:lvl9pPr>
              <a:defRPr sz="1125" b="1">
                <a:solidFill>
                  <a:srgbClr val="237B82"/>
                </a:solidFill>
                <a:latin typeface="Helvetica Neue"/>
                <a:ea typeface="Helvetica Neue"/>
                <a:cs typeface="Helvetica Neue"/>
              </a:defRPr>
            </a:lvl9pPr>
          </a:lstStyle>
          <a:p xmlns:a="http://schemas.openxmlformats.org/drawingml/2006/main">
            <a:pPr>
              <a:defRPr sz="1125" b="1">
                <a:solidFill>
                  <a:srgbClr val="237B82"/>
                </a:solidFill>
                <a:latin typeface="Helvetica Neue"/>
                <a:ea typeface="Helvetica Neue"/>
                <a:cs typeface="Helvetica Neue"/>
              </a:defRPr>
            </a:pPr>
            <a:r>
              <a:rPr sz="1125" b="1">
                <a:solidFill>
                  <a:srgbClr val="237B82"/>
                </a:solidFill>
                <a:latin typeface="Helvetica Neue"/>
                <a:ea typeface="Helvetica Neue"/>
                <a:cs typeface="Helvetica Neue"/>
              </a:rPr>
              <a:t>MODULE 4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F503C526-22C6-420E-AEEE-B9572334DA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457200"/>
            <a:ext cx="5334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>
            <a:defPPr>
              <a:defRPr sz="1200" b="1">
                <a:solidFill>
                  <a:srgbClr val="237B82"/>
                </a:solidFill>
                <a:latin typeface="Helvetica Neue"/>
                <a:ea typeface="Helvetica Neue"/>
                <a:cs typeface="Helvetica Neue"/>
              </a:defRPr>
            </a:defPPr>
            <a:lvl1pPr>
              <a:defRPr sz="1200" b="1">
                <a:solidFill>
                  <a:srgbClr val="237B82"/>
                </a:solidFill>
                <a:latin typeface="Helvetica Neue"/>
                <a:ea typeface="Helvetica Neue"/>
                <a:cs typeface="Helvetica Neue"/>
              </a:defRPr>
            </a:lvl1pPr>
            <a:lvl2pPr>
              <a:defRPr sz="1200" b="1">
                <a:solidFill>
                  <a:srgbClr val="237B82"/>
                </a:solidFill>
                <a:latin typeface="Helvetica Neue"/>
                <a:ea typeface="Helvetica Neue"/>
                <a:cs typeface="Helvetica Neue"/>
              </a:defRPr>
            </a:lvl2pPr>
            <a:lvl3pPr>
              <a:defRPr sz="1200" b="1">
                <a:solidFill>
                  <a:srgbClr val="237B82"/>
                </a:solidFill>
                <a:latin typeface="Helvetica Neue"/>
                <a:ea typeface="Helvetica Neue"/>
                <a:cs typeface="Helvetica Neue"/>
              </a:defRPr>
            </a:lvl3pPr>
            <a:lvl4pPr>
              <a:defRPr sz="1200" b="1">
                <a:solidFill>
                  <a:srgbClr val="237B82"/>
                </a:solidFill>
                <a:latin typeface="Helvetica Neue"/>
                <a:ea typeface="Helvetica Neue"/>
                <a:cs typeface="Helvetica Neue"/>
              </a:defRPr>
            </a:lvl4pPr>
            <a:lvl5pPr>
              <a:defRPr sz="1200" b="1">
                <a:solidFill>
                  <a:srgbClr val="237B82"/>
                </a:solidFill>
                <a:latin typeface="Helvetica Neue"/>
                <a:ea typeface="Helvetica Neue"/>
                <a:cs typeface="Helvetica Neue"/>
              </a:defRPr>
            </a:lvl5pPr>
            <a:lvl6pPr>
              <a:defRPr sz="1200" b="1">
                <a:solidFill>
                  <a:srgbClr val="237B82"/>
                </a:solidFill>
                <a:latin typeface="Helvetica Neue"/>
                <a:ea typeface="Helvetica Neue"/>
                <a:cs typeface="Helvetica Neue"/>
              </a:defRPr>
            </a:lvl6pPr>
            <a:lvl7pPr>
              <a:defRPr sz="1200" b="1">
                <a:solidFill>
                  <a:srgbClr val="237B82"/>
                </a:solidFill>
                <a:latin typeface="Helvetica Neue"/>
                <a:ea typeface="Helvetica Neue"/>
                <a:cs typeface="Helvetica Neue"/>
              </a:defRPr>
            </a:lvl7pPr>
            <a:lvl8pPr>
              <a:defRPr sz="1200" b="1">
                <a:solidFill>
                  <a:srgbClr val="237B82"/>
                </a:solidFill>
                <a:latin typeface="Helvetica Neue"/>
                <a:ea typeface="Helvetica Neue"/>
                <a:cs typeface="Helvetica Neue"/>
              </a:defRPr>
            </a:lvl8pPr>
            <a:lvl9pPr>
              <a:defRPr sz="1200" b="1">
                <a:solidFill>
                  <a:srgbClr val="237B82"/>
                </a:solidFill>
                <a:latin typeface="Helvetica Neue"/>
                <a:ea typeface="Helvetica Neue"/>
                <a:cs typeface="Helvetica Neue"/>
              </a:defRPr>
            </a:lvl9pPr>
          </a:lstStyle>
          <a:p xmlns:a="http://schemas.openxmlformats.org/drawingml/2006/main">
            <a:pPr>
              <a:defRPr sz="1200" b="1">
                <a:solidFill>
                  <a:srgbClr val="237B82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00" b="1">
                <a:solidFill>
                  <a:srgbClr val="237B82"/>
                </a:solidFill>
                <a:latin typeface="Helvetica Neue"/>
                <a:ea typeface="Helvetica Neue"/>
                <a:cs typeface="Helvetica Neue"/>
              </a:rPr>
              <a:t>52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847BCCB2-0CCC-4675-AFCC-D544DC764A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1762125"/>
            <a:ext cx="10287000" cy="409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>
            <a:defPPr>
              <a:defRPr sz="1875">
                <a:solidFill>
                  <a:srgbClr val="13212D"/>
                </a:solidFill>
                <a:latin typeface="Helvetica Neue"/>
                <a:ea typeface="Helvetica Neue"/>
                <a:cs typeface="Helvetica Neue"/>
              </a:defRPr>
            </a:defPPr>
            <a:lvl1pPr>
              <a:defRPr sz="1875">
                <a:solidFill>
                  <a:srgbClr val="13212D"/>
                </a:solidFill>
                <a:latin typeface="Helvetica Neue"/>
                <a:ea typeface="Helvetica Neue"/>
                <a:cs typeface="Helvetica Neue"/>
              </a:defRPr>
            </a:lvl1pPr>
            <a:lvl2pPr>
              <a:defRPr sz="1875">
                <a:solidFill>
                  <a:srgbClr val="13212D"/>
                </a:solidFill>
                <a:latin typeface="Helvetica Neue"/>
                <a:ea typeface="Helvetica Neue"/>
                <a:cs typeface="Helvetica Neue"/>
              </a:defRPr>
            </a:lvl2pPr>
            <a:lvl3pPr>
              <a:defRPr sz="1875">
                <a:solidFill>
                  <a:srgbClr val="13212D"/>
                </a:solidFill>
                <a:latin typeface="Helvetica Neue"/>
                <a:ea typeface="Helvetica Neue"/>
                <a:cs typeface="Helvetica Neue"/>
              </a:defRPr>
            </a:lvl3pPr>
            <a:lvl4pPr>
              <a:defRPr sz="1875">
                <a:solidFill>
                  <a:srgbClr val="13212D"/>
                </a:solidFill>
                <a:latin typeface="Helvetica Neue"/>
                <a:ea typeface="Helvetica Neue"/>
                <a:cs typeface="Helvetica Neue"/>
              </a:defRPr>
            </a:lvl4pPr>
            <a:lvl5pPr>
              <a:defRPr sz="1875">
                <a:solidFill>
                  <a:srgbClr val="13212D"/>
                </a:solidFill>
                <a:latin typeface="Helvetica Neue"/>
                <a:ea typeface="Helvetica Neue"/>
                <a:cs typeface="Helvetica Neue"/>
              </a:defRPr>
            </a:lvl5pPr>
            <a:lvl6pPr>
              <a:defRPr sz="1875">
                <a:solidFill>
                  <a:srgbClr val="13212D"/>
                </a:solidFill>
                <a:latin typeface="Helvetica Neue"/>
                <a:ea typeface="Helvetica Neue"/>
                <a:cs typeface="Helvetica Neue"/>
              </a:defRPr>
            </a:lvl6pPr>
            <a:lvl7pPr>
              <a:defRPr sz="1875">
                <a:solidFill>
                  <a:srgbClr val="13212D"/>
                </a:solidFill>
                <a:latin typeface="Helvetica Neue"/>
                <a:ea typeface="Helvetica Neue"/>
                <a:cs typeface="Helvetica Neue"/>
              </a:defRPr>
            </a:lvl7pPr>
            <a:lvl8pPr>
              <a:defRPr sz="1875">
                <a:solidFill>
                  <a:srgbClr val="13212D"/>
                </a:solidFill>
                <a:latin typeface="Helvetica Neue"/>
                <a:ea typeface="Helvetica Neue"/>
                <a:cs typeface="Helvetica Neue"/>
              </a:defRPr>
            </a:lvl8pPr>
            <a:lvl9pPr>
              <a:defRPr sz="1875">
                <a:solidFill>
                  <a:srgbClr val="13212D"/>
                </a:solidFill>
                <a:latin typeface="Helvetica Neue"/>
                <a:ea typeface="Helvetica Neue"/>
                <a:cs typeface="Helvetica Neue"/>
              </a:defRPr>
            </a:lvl9pPr>
          </a:lstStyle>
          <a:p xmlns:a="http://schemas.openxmlformats.org/drawingml/2006/main">
            <a:pPr marL="279400" indent="-127000">
              <a:spcAft>
                <a:spcPts val="1300"/>
              </a:spcAft>
              <a:buChar char="•"/>
              <a:defRPr sz="1875">
                <a:solidFill>
                  <a:srgbClr val="13212D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75">
                <a:solidFill>
                  <a:srgbClr val="13212D"/>
                </a:solidFill>
                <a:latin typeface="Helvetica Neue"/>
                <a:ea typeface="Helvetica Neue"/>
                <a:cs typeface="Helvetica Neue"/>
              </a:rPr>
              <a:t>Maintain a patient IV line with normal saline solution.</a:t>
            </a:r>
          </a:p>
          <a:p xmlns:a="http://schemas.openxmlformats.org/drawingml/2006/main">
            <a:pPr marL="279400" indent="-127000">
              <a:spcAft>
                <a:spcPts val="1300"/>
              </a:spcAft>
              <a:buChar char="•"/>
              <a:defRPr sz="1875">
                <a:solidFill>
                  <a:srgbClr val="13212D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75">
                <a:solidFill>
                  <a:srgbClr val="13212D"/>
                </a:solidFill>
                <a:latin typeface="Helvetica Neue"/>
                <a:ea typeface="Helvetica Neue"/>
                <a:cs typeface="Helvetica Neue"/>
              </a:rPr>
              <a:t>(Turn on the flow control on the 3.</a:t>
            </a:r>
          </a:p>
          <a:p xmlns:a="http://schemas.openxmlformats.org/drawingml/2006/main">
            <a:pPr marL="279400" indent="-127000">
              <a:spcAft>
                <a:spcPts val="1300"/>
              </a:spcAft>
              <a:buChar char="•"/>
              <a:defRPr sz="1875">
                <a:solidFill>
                  <a:srgbClr val="13212D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75">
                <a:solidFill>
                  <a:srgbClr val="13212D"/>
                </a:solidFill>
                <a:latin typeface="Helvetica Neue"/>
                <a:ea typeface="Helvetica Neue"/>
                <a:cs typeface="Helvetica Neue"/>
              </a:rPr>
              <a:t>Immediately notify the physician for orders.</a:t>
            </a:r>
          </a:p>
          <a:p xmlns:a="http://schemas.openxmlformats.org/drawingml/2006/main">
            <a:pPr marL="279400" indent="-127000">
              <a:spcAft>
                <a:spcPts val="1300"/>
              </a:spcAft>
              <a:buChar char="•"/>
              <a:defRPr sz="1875">
                <a:solidFill>
                  <a:srgbClr val="13212D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75">
                <a:solidFill>
                  <a:srgbClr val="13212D"/>
                </a:solidFill>
                <a:latin typeface="Helvetica Neue"/>
                <a:ea typeface="Helvetica Neue"/>
                <a:cs typeface="Helvetica Neue"/>
              </a:rPr>
              <a:t>Notify the blood bank.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9E53774E-E55A-4FC6-B520-B72E5B8296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6115050"/>
            <a:ext cx="101917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>
            <a:defPPr>
              <a:defRPr sz="1125" b="1">
                <a:solidFill>
                  <a:srgbClr val="B94F3D"/>
                </a:solidFill>
                <a:latin typeface="Helvetica Neue"/>
                <a:ea typeface="Helvetica Neue"/>
                <a:cs typeface="Helvetica Neue"/>
              </a:defRPr>
            </a:defPPr>
            <a:lvl1pPr>
              <a:defRPr sz="1125" b="1">
                <a:solidFill>
                  <a:srgbClr val="B94F3D"/>
                </a:solidFill>
                <a:latin typeface="Helvetica Neue"/>
                <a:ea typeface="Helvetica Neue"/>
                <a:cs typeface="Helvetica Neue"/>
              </a:defRPr>
            </a:lvl1pPr>
            <a:lvl2pPr>
              <a:defRPr sz="1125" b="1">
                <a:solidFill>
                  <a:srgbClr val="B94F3D"/>
                </a:solidFill>
                <a:latin typeface="Helvetica Neue"/>
                <a:ea typeface="Helvetica Neue"/>
                <a:cs typeface="Helvetica Neue"/>
              </a:defRPr>
            </a:lvl2pPr>
            <a:lvl3pPr>
              <a:defRPr sz="1125" b="1">
                <a:solidFill>
                  <a:srgbClr val="B94F3D"/>
                </a:solidFill>
                <a:latin typeface="Helvetica Neue"/>
                <a:ea typeface="Helvetica Neue"/>
                <a:cs typeface="Helvetica Neue"/>
              </a:defRPr>
            </a:lvl3pPr>
            <a:lvl4pPr>
              <a:defRPr sz="1125" b="1">
                <a:solidFill>
                  <a:srgbClr val="B94F3D"/>
                </a:solidFill>
                <a:latin typeface="Helvetica Neue"/>
                <a:ea typeface="Helvetica Neue"/>
                <a:cs typeface="Helvetica Neue"/>
              </a:defRPr>
            </a:lvl4pPr>
            <a:lvl5pPr>
              <a:defRPr sz="1125" b="1">
                <a:solidFill>
                  <a:srgbClr val="B94F3D"/>
                </a:solidFill>
                <a:latin typeface="Helvetica Neue"/>
                <a:ea typeface="Helvetica Neue"/>
                <a:cs typeface="Helvetica Neue"/>
              </a:defRPr>
            </a:lvl5pPr>
            <a:lvl6pPr>
              <a:defRPr sz="1125" b="1">
                <a:solidFill>
                  <a:srgbClr val="B94F3D"/>
                </a:solidFill>
                <a:latin typeface="Helvetica Neue"/>
                <a:ea typeface="Helvetica Neue"/>
                <a:cs typeface="Helvetica Neue"/>
              </a:defRPr>
            </a:lvl6pPr>
            <a:lvl7pPr>
              <a:defRPr sz="1125" b="1">
                <a:solidFill>
                  <a:srgbClr val="B94F3D"/>
                </a:solidFill>
                <a:latin typeface="Helvetica Neue"/>
                <a:ea typeface="Helvetica Neue"/>
                <a:cs typeface="Helvetica Neue"/>
              </a:defRPr>
            </a:lvl7pPr>
            <a:lvl8pPr>
              <a:defRPr sz="1125" b="1">
                <a:solidFill>
                  <a:srgbClr val="B94F3D"/>
                </a:solidFill>
                <a:latin typeface="Helvetica Neue"/>
                <a:ea typeface="Helvetica Neue"/>
                <a:cs typeface="Helvetica Neue"/>
              </a:defRPr>
            </a:lvl8pPr>
            <a:lvl9pPr>
              <a:defRPr sz="1125" b="1">
                <a:solidFill>
                  <a:srgbClr val="B94F3D"/>
                </a:solidFill>
                <a:latin typeface="Helvetica Neue"/>
                <a:ea typeface="Helvetica Neue"/>
                <a:cs typeface="Helvetica Neue"/>
              </a:defRPr>
            </a:lvl9pPr>
          </a:lstStyle>
          <a:p xmlns:a="http://schemas.openxmlformats.org/drawingml/2006/main">
            <a:pPr>
              <a:defRPr sz="1125" b="1">
                <a:solidFill>
                  <a:srgbClr val="B94F3D"/>
                </a:solidFill>
                <a:latin typeface="Helvetica Neue"/>
                <a:ea typeface="Helvetica Neue"/>
                <a:cs typeface="Helvetica Neue"/>
              </a:defRPr>
            </a:pPr>
            <a:r>
              <a:rPr sz="1125" b="1">
                <a:solidFill>
                  <a:srgbClr val="B94F3D"/>
                </a:solidFill>
                <a:latin typeface="Helvetica Neue"/>
                <a:ea typeface="Helvetica Neue"/>
                <a:cs typeface="Helvetica Neue"/>
              </a:rPr>
              <a:t>Use current orders, facility policy, and authorized scope when applying this information.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82D9B86A-D3B0-4C8F-BB9B-FF68281EB1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5772150"/>
            <a:ext cx="101917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97619"/>
          </a:bodyPr>
          <a:lstStyle xmlns:a="http://schemas.openxmlformats.org/drawingml/2006/main">
            <a:defPPr>
              <a:defRPr sz="1050" b="1">
                <a:solidFill>
                  <a:srgbClr val="237B82"/>
                </a:solidFill>
                <a:latin typeface="Helvetica Neue"/>
                <a:ea typeface="Helvetica Neue"/>
                <a:cs typeface="Helvetica Neue"/>
              </a:defRPr>
            </a:defPPr>
            <a:lvl1pPr>
              <a:defRPr sz="1050" b="1">
                <a:solidFill>
                  <a:srgbClr val="237B82"/>
                </a:solidFill>
                <a:latin typeface="Helvetica Neue"/>
                <a:ea typeface="Helvetica Neue"/>
                <a:cs typeface="Helvetica Neue"/>
              </a:defRPr>
            </a:lvl1pPr>
            <a:lvl2pPr>
              <a:defRPr sz="1050" b="1">
                <a:solidFill>
                  <a:srgbClr val="237B82"/>
                </a:solidFill>
                <a:latin typeface="Helvetica Neue"/>
                <a:ea typeface="Helvetica Neue"/>
                <a:cs typeface="Helvetica Neue"/>
              </a:defRPr>
            </a:lvl2pPr>
            <a:lvl3pPr>
              <a:defRPr sz="1050" b="1">
                <a:solidFill>
                  <a:srgbClr val="237B82"/>
                </a:solidFill>
                <a:latin typeface="Helvetica Neue"/>
                <a:ea typeface="Helvetica Neue"/>
                <a:cs typeface="Helvetica Neue"/>
              </a:defRPr>
            </a:lvl3pPr>
            <a:lvl4pPr>
              <a:defRPr sz="1050" b="1">
                <a:solidFill>
                  <a:srgbClr val="237B82"/>
                </a:solidFill>
                <a:latin typeface="Helvetica Neue"/>
                <a:ea typeface="Helvetica Neue"/>
                <a:cs typeface="Helvetica Neue"/>
              </a:defRPr>
            </a:lvl4pPr>
            <a:lvl5pPr>
              <a:defRPr sz="1050" b="1">
                <a:solidFill>
                  <a:srgbClr val="237B82"/>
                </a:solidFill>
                <a:latin typeface="Helvetica Neue"/>
                <a:ea typeface="Helvetica Neue"/>
                <a:cs typeface="Helvetica Neue"/>
              </a:defRPr>
            </a:lvl5pPr>
            <a:lvl6pPr>
              <a:defRPr sz="1050" b="1">
                <a:solidFill>
                  <a:srgbClr val="237B82"/>
                </a:solidFill>
                <a:latin typeface="Helvetica Neue"/>
                <a:ea typeface="Helvetica Neue"/>
                <a:cs typeface="Helvetica Neue"/>
              </a:defRPr>
            </a:lvl6pPr>
            <a:lvl7pPr>
              <a:defRPr sz="1050" b="1">
                <a:solidFill>
                  <a:srgbClr val="237B82"/>
                </a:solidFill>
                <a:latin typeface="Helvetica Neue"/>
                <a:ea typeface="Helvetica Neue"/>
                <a:cs typeface="Helvetica Neue"/>
              </a:defRPr>
            </a:lvl7pPr>
            <a:lvl8pPr>
              <a:defRPr sz="1050" b="1">
                <a:solidFill>
                  <a:srgbClr val="237B82"/>
                </a:solidFill>
                <a:latin typeface="Helvetica Neue"/>
                <a:ea typeface="Helvetica Neue"/>
                <a:cs typeface="Helvetica Neue"/>
              </a:defRPr>
            </a:lvl8pPr>
            <a:lvl9pPr>
              <a:defRPr sz="1050" b="1">
                <a:solidFill>
                  <a:srgbClr val="237B82"/>
                </a:solidFill>
                <a:latin typeface="Helvetica Neue"/>
                <a:ea typeface="Helvetica Neue"/>
                <a:cs typeface="Helvetica Neue"/>
              </a:defRPr>
            </a:lvl9pPr>
          </a:lstStyle>
          <a:p xmlns:a="http://schemas.openxmlformats.org/drawingml/2006/main">
            <a:pPr>
              <a:defRPr sz="1050" b="1">
                <a:solidFill>
                  <a:srgbClr val="237B82"/>
                </a:solidFill>
                <a:latin typeface="Helvetica Neue"/>
                <a:ea typeface="Helvetica Neue"/>
                <a:cs typeface="Helvetica Neue"/>
              </a:defRPr>
            </a:pPr>
            <a:r>
              <a:rPr sz="1050" b="1">
                <a:solidFill>
                  <a:srgbClr val="237B82"/>
                </a:solidFill>
                <a:latin typeface="Helvetica Neue"/>
                <a:ea typeface="Helvetica Neue"/>
                <a:cs typeface="Helvetica Neue"/>
              </a:rPr>
              <a:t>Manual page 58</a:t>
            </a:r>
          </a:p>
        </p:txBody>
      </p:sp>
    </p:spTree>
    <p:extLst>
      <p:ext uri="{BB962C8B-B14F-4D97-AF65-F5344CB8AC3E}">
        <p14:creationId xmlns:p14="http://schemas.microsoft.com/office/powerpoint/2010/main" val="836444090"/>
      </p:ext>
    </p:extLst>
  </p:cSld>
</p:sld>
</file>

<file path=ppt/slides/slide53.xml><?xml version="1.0" encoding="utf-8"?>
<p:sld xmlns:p="http://schemas.openxmlformats.org/presentationml/2006/main">
  <p:cSld>
    <p:bg>
      <p:bgPr>
        <a:solidFill xmlns:a="http://schemas.openxmlformats.org/drawingml/2006/main">
          <a:srgbClr val="F7F4EE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967609DE-4672-4916-8B71-9F334A21B2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2095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37B82"/>
          </a:solidFill>
          <a:ln xmlns:a="http://schemas.openxmlformats.org/drawingml/2006/main" w="0">
            <a:solidFill>
              <a:srgbClr val="237B82"/>
            </a:solidFill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C2CE4F69-B274-4EA6-A58B-BDC3D334FA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00050"/>
            <a:ext cx="10001250" cy="819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>
            <a:defPPr>
              <a:defRPr sz="2700" b="1">
                <a:solidFill>
                  <a:srgbClr val="15324A"/>
                </a:solidFill>
                <a:latin typeface="Helvetica Neue"/>
                <a:ea typeface="Helvetica Neue"/>
                <a:cs typeface="Helvetica Neue"/>
              </a:defRPr>
            </a:defPPr>
            <a:lvl1pPr>
              <a:defRPr sz="2700" b="1">
                <a:solidFill>
                  <a:srgbClr val="15324A"/>
                </a:solidFill>
                <a:latin typeface="Helvetica Neue"/>
                <a:ea typeface="Helvetica Neue"/>
                <a:cs typeface="Helvetica Neue"/>
              </a:defRPr>
            </a:lvl1pPr>
            <a:lvl2pPr>
              <a:defRPr sz="2700" b="1">
                <a:solidFill>
                  <a:srgbClr val="15324A"/>
                </a:solidFill>
                <a:latin typeface="Helvetica Neue"/>
                <a:ea typeface="Helvetica Neue"/>
                <a:cs typeface="Helvetica Neue"/>
              </a:defRPr>
            </a:lvl2pPr>
            <a:lvl3pPr>
              <a:defRPr sz="2700" b="1">
                <a:solidFill>
                  <a:srgbClr val="15324A"/>
                </a:solidFill>
                <a:latin typeface="Helvetica Neue"/>
                <a:ea typeface="Helvetica Neue"/>
                <a:cs typeface="Helvetica Neue"/>
              </a:defRPr>
            </a:lvl3pPr>
            <a:lvl4pPr>
              <a:defRPr sz="2700" b="1">
                <a:solidFill>
                  <a:srgbClr val="15324A"/>
                </a:solidFill>
                <a:latin typeface="Helvetica Neue"/>
                <a:ea typeface="Helvetica Neue"/>
                <a:cs typeface="Helvetica Neue"/>
              </a:defRPr>
            </a:lvl4pPr>
            <a:lvl5pPr>
              <a:defRPr sz="2700" b="1">
                <a:solidFill>
                  <a:srgbClr val="15324A"/>
                </a:solidFill>
                <a:latin typeface="Helvetica Neue"/>
                <a:ea typeface="Helvetica Neue"/>
                <a:cs typeface="Helvetica Neue"/>
              </a:defRPr>
            </a:lvl5pPr>
            <a:lvl6pPr>
              <a:defRPr sz="2700" b="1">
                <a:solidFill>
                  <a:srgbClr val="15324A"/>
                </a:solidFill>
                <a:latin typeface="Helvetica Neue"/>
                <a:ea typeface="Helvetica Neue"/>
                <a:cs typeface="Helvetica Neue"/>
              </a:defRPr>
            </a:lvl6pPr>
            <a:lvl7pPr>
              <a:defRPr sz="2700" b="1">
                <a:solidFill>
                  <a:srgbClr val="15324A"/>
                </a:solidFill>
                <a:latin typeface="Helvetica Neue"/>
                <a:ea typeface="Helvetica Neue"/>
                <a:cs typeface="Helvetica Neue"/>
              </a:defRPr>
            </a:lvl7pPr>
            <a:lvl8pPr>
              <a:defRPr sz="2700" b="1">
                <a:solidFill>
                  <a:srgbClr val="15324A"/>
                </a:solidFill>
                <a:latin typeface="Helvetica Neue"/>
                <a:ea typeface="Helvetica Neue"/>
                <a:cs typeface="Helvetica Neue"/>
              </a:defRPr>
            </a:lvl8pPr>
            <a:lvl9pPr>
              <a:defRPr sz="2700" b="1">
                <a:solidFill>
                  <a:srgbClr val="15324A"/>
                </a:solidFill>
                <a:latin typeface="Helvetica Neue"/>
                <a:ea typeface="Helvetica Neue"/>
                <a:cs typeface="Helvetica Neue"/>
              </a:defRPr>
            </a:lvl9pPr>
          </a:lstStyle>
          <a:p xmlns:a="http://schemas.openxmlformats.org/drawingml/2006/main">
            <a:pPr>
              <a:defRPr sz="2700" b="1">
                <a:solidFill>
                  <a:srgbClr val="15324A"/>
                </a:solidFill>
                <a:latin typeface="Helvetica Neue"/>
                <a:ea typeface="Helvetica Neue"/>
                <a:cs typeface="Helvetica Neue"/>
              </a:defRPr>
            </a:pPr>
            <a:r>
              <a:rPr sz="2700" b="1">
                <a:solidFill>
                  <a:srgbClr val="15324A"/>
                </a:solidFill>
                <a:latin typeface="Helvetica Neue"/>
                <a:ea typeface="Helvetica Neue"/>
                <a:cs typeface="Helvetica Neue"/>
              </a:rPr>
              <a:t>normal saline side of the administration set.) — continued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656D6679-5D6D-4155-8808-656B347630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1257300"/>
            <a:ext cx="88582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91111"/>
          </a:bodyPr>
          <a:lstStyle xmlns:a="http://schemas.openxmlformats.org/drawingml/2006/main">
            <a:defPPr>
              <a:defRPr sz="1125" b="1">
                <a:solidFill>
                  <a:srgbClr val="237B82"/>
                </a:solidFill>
                <a:latin typeface="Helvetica Neue"/>
                <a:ea typeface="Helvetica Neue"/>
                <a:cs typeface="Helvetica Neue"/>
              </a:defRPr>
            </a:defPPr>
            <a:lvl1pPr>
              <a:defRPr sz="1125" b="1">
                <a:solidFill>
                  <a:srgbClr val="237B82"/>
                </a:solidFill>
                <a:latin typeface="Helvetica Neue"/>
                <a:ea typeface="Helvetica Neue"/>
                <a:cs typeface="Helvetica Neue"/>
              </a:defRPr>
            </a:lvl1pPr>
            <a:lvl2pPr>
              <a:defRPr sz="1125" b="1">
                <a:solidFill>
                  <a:srgbClr val="237B82"/>
                </a:solidFill>
                <a:latin typeface="Helvetica Neue"/>
                <a:ea typeface="Helvetica Neue"/>
                <a:cs typeface="Helvetica Neue"/>
              </a:defRPr>
            </a:lvl2pPr>
            <a:lvl3pPr>
              <a:defRPr sz="1125" b="1">
                <a:solidFill>
                  <a:srgbClr val="237B82"/>
                </a:solidFill>
                <a:latin typeface="Helvetica Neue"/>
                <a:ea typeface="Helvetica Neue"/>
                <a:cs typeface="Helvetica Neue"/>
              </a:defRPr>
            </a:lvl3pPr>
            <a:lvl4pPr>
              <a:defRPr sz="1125" b="1">
                <a:solidFill>
                  <a:srgbClr val="237B82"/>
                </a:solidFill>
                <a:latin typeface="Helvetica Neue"/>
                <a:ea typeface="Helvetica Neue"/>
                <a:cs typeface="Helvetica Neue"/>
              </a:defRPr>
            </a:lvl4pPr>
            <a:lvl5pPr>
              <a:defRPr sz="1125" b="1">
                <a:solidFill>
                  <a:srgbClr val="237B82"/>
                </a:solidFill>
                <a:latin typeface="Helvetica Neue"/>
                <a:ea typeface="Helvetica Neue"/>
                <a:cs typeface="Helvetica Neue"/>
              </a:defRPr>
            </a:lvl5pPr>
            <a:lvl6pPr>
              <a:defRPr sz="1125" b="1">
                <a:solidFill>
                  <a:srgbClr val="237B82"/>
                </a:solidFill>
                <a:latin typeface="Helvetica Neue"/>
                <a:ea typeface="Helvetica Neue"/>
                <a:cs typeface="Helvetica Neue"/>
              </a:defRPr>
            </a:lvl6pPr>
            <a:lvl7pPr>
              <a:defRPr sz="1125" b="1">
                <a:solidFill>
                  <a:srgbClr val="237B82"/>
                </a:solidFill>
                <a:latin typeface="Helvetica Neue"/>
                <a:ea typeface="Helvetica Neue"/>
                <a:cs typeface="Helvetica Neue"/>
              </a:defRPr>
            </a:lvl7pPr>
            <a:lvl8pPr>
              <a:defRPr sz="1125" b="1">
                <a:solidFill>
                  <a:srgbClr val="237B82"/>
                </a:solidFill>
                <a:latin typeface="Helvetica Neue"/>
                <a:ea typeface="Helvetica Neue"/>
                <a:cs typeface="Helvetica Neue"/>
              </a:defRPr>
            </a:lvl8pPr>
            <a:lvl9pPr>
              <a:defRPr sz="1125" b="1">
                <a:solidFill>
                  <a:srgbClr val="237B82"/>
                </a:solidFill>
                <a:latin typeface="Helvetica Neue"/>
                <a:ea typeface="Helvetica Neue"/>
                <a:cs typeface="Helvetica Neue"/>
              </a:defRPr>
            </a:lvl9pPr>
          </a:lstStyle>
          <a:p xmlns:a="http://schemas.openxmlformats.org/drawingml/2006/main">
            <a:pPr>
              <a:defRPr sz="1125" b="1">
                <a:solidFill>
                  <a:srgbClr val="237B82"/>
                </a:solidFill>
                <a:latin typeface="Helvetica Neue"/>
                <a:ea typeface="Helvetica Neue"/>
                <a:cs typeface="Helvetica Neue"/>
              </a:defRPr>
            </a:pPr>
            <a:r>
              <a:rPr sz="1125" b="1">
                <a:solidFill>
                  <a:srgbClr val="237B82"/>
                </a:solidFill>
                <a:latin typeface="Helvetica Neue"/>
                <a:ea typeface="Helvetica Neue"/>
                <a:cs typeface="Helvetica Neue"/>
              </a:rPr>
              <a:t>MODULE 4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B91F691F-7EA4-4308-9A98-5C8C1E4D1C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457200"/>
            <a:ext cx="5334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>
            <a:defPPr>
              <a:defRPr sz="1200" b="1">
                <a:solidFill>
                  <a:srgbClr val="237B82"/>
                </a:solidFill>
                <a:latin typeface="Helvetica Neue"/>
                <a:ea typeface="Helvetica Neue"/>
                <a:cs typeface="Helvetica Neue"/>
              </a:defRPr>
            </a:defPPr>
            <a:lvl1pPr>
              <a:defRPr sz="1200" b="1">
                <a:solidFill>
                  <a:srgbClr val="237B82"/>
                </a:solidFill>
                <a:latin typeface="Helvetica Neue"/>
                <a:ea typeface="Helvetica Neue"/>
                <a:cs typeface="Helvetica Neue"/>
              </a:defRPr>
            </a:lvl1pPr>
            <a:lvl2pPr>
              <a:defRPr sz="1200" b="1">
                <a:solidFill>
                  <a:srgbClr val="237B82"/>
                </a:solidFill>
                <a:latin typeface="Helvetica Neue"/>
                <a:ea typeface="Helvetica Neue"/>
                <a:cs typeface="Helvetica Neue"/>
              </a:defRPr>
            </a:lvl2pPr>
            <a:lvl3pPr>
              <a:defRPr sz="1200" b="1">
                <a:solidFill>
                  <a:srgbClr val="237B82"/>
                </a:solidFill>
                <a:latin typeface="Helvetica Neue"/>
                <a:ea typeface="Helvetica Neue"/>
                <a:cs typeface="Helvetica Neue"/>
              </a:defRPr>
            </a:lvl3pPr>
            <a:lvl4pPr>
              <a:defRPr sz="1200" b="1">
                <a:solidFill>
                  <a:srgbClr val="237B82"/>
                </a:solidFill>
                <a:latin typeface="Helvetica Neue"/>
                <a:ea typeface="Helvetica Neue"/>
                <a:cs typeface="Helvetica Neue"/>
              </a:defRPr>
            </a:lvl4pPr>
            <a:lvl5pPr>
              <a:defRPr sz="1200" b="1">
                <a:solidFill>
                  <a:srgbClr val="237B82"/>
                </a:solidFill>
                <a:latin typeface="Helvetica Neue"/>
                <a:ea typeface="Helvetica Neue"/>
                <a:cs typeface="Helvetica Neue"/>
              </a:defRPr>
            </a:lvl5pPr>
            <a:lvl6pPr>
              <a:defRPr sz="1200" b="1">
                <a:solidFill>
                  <a:srgbClr val="237B82"/>
                </a:solidFill>
                <a:latin typeface="Helvetica Neue"/>
                <a:ea typeface="Helvetica Neue"/>
                <a:cs typeface="Helvetica Neue"/>
              </a:defRPr>
            </a:lvl6pPr>
            <a:lvl7pPr>
              <a:defRPr sz="1200" b="1">
                <a:solidFill>
                  <a:srgbClr val="237B82"/>
                </a:solidFill>
                <a:latin typeface="Helvetica Neue"/>
                <a:ea typeface="Helvetica Neue"/>
                <a:cs typeface="Helvetica Neue"/>
              </a:defRPr>
            </a:lvl7pPr>
            <a:lvl8pPr>
              <a:defRPr sz="1200" b="1">
                <a:solidFill>
                  <a:srgbClr val="237B82"/>
                </a:solidFill>
                <a:latin typeface="Helvetica Neue"/>
                <a:ea typeface="Helvetica Neue"/>
                <a:cs typeface="Helvetica Neue"/>
              </a:defRPr>
            </a:lvl8pPr>
            <a:lvl9pPr>
              <a:defRPr sz="1200" b="1">
                <a:solidFill>
                  <a:srgbClr val="237B82"/>
                </a:solidFill>
                <a:latin typeface="Helvetica Neue"/>
                <a:ea typeface="Helvetica Neue"/>
                <a:cs typeface="Helvetica Neue"/>
              </a:defRPr>
            </a:lvl9pPr>
          </a:lstStyle>
          <a:p xmlns:a="http://schemas.openxmlformats.org/drawingml/2006/main">
            <a:pPr>
              <a:defRPr sz="1200" b="1">
                <a:solidFill>
                  <a:srgbClr val="237B82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00" b="1">
                <a:solidFill>
                  <a:srgbClr val="237B82"/>
                </a:solidFill>
                <a:latin typeface="Helvetica Neue"/>
                <a:ea typeface="Helvetica Neue"/>
                <a:cs typeface="Helvetica Neue"/>
              </a:rPr>
              <a:t>53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721F3439-BB99-4272-9ABB-25FCA96FE8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1762125"/>
            <a:ext cx="10287000" cy="409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>
            <a:defPPr>
              <a:defRPr sz="1875">
                <a:solidFill>
                  <a:srgbClr val="13212D"/>
                </a:solidFill>
                <a:latin typeface="Helvetica Neue"/>
                <a:ea typeface="Helvetica Neue"/>
                <a:cs typeface="Helvetica Neue"/>
              </a:defRPr>
            </a:defPPr>
            <a:lvl1pPr>
              <a:defRPr sz="1875">
                <a:solidFill>
                  <a:srgbClr val="13212D"/>
                </a:solidFill>
                <a:latin typeface="Helvetica Neue"/>
                <a:ea typeface="Helvetica Neue"/>
                <a:cs typeface="Helvetica Neue"/>
              </a:defRPr>
            </a:lvl1pPr>
            <a:lvl2pPr>
              <a:defRPr sz="1875">
                <a:solidFill>
                  <a:srgbClr val="13212D"/>
                </a:solidFill>
                <a:latin typeface="Helvetica Neue"/>
                <a:ea typeface="Helvetica Neue"/>
                <a:cs typeface="Helvetica Neue"/>
              </a:defRPr>
            </a:lvl2pPr>
            <a:lvl3pPr>
              <a:defRPr sz="1875">
                <a:solidFill>
                  <a:srgbClr val="13212D"/>
                </a:solidFill>
                <a:latin typeface="Helvetica Neue"/>
                <a:ea typeface="Helvetica Neue"/>
                <a:cs typeface="Helvetica Neue"/>
              </a:defRPr>
            </a:lvl3pPr>
            <a:lvl4pPr>
              <a:defRPr sz="1875">
                <a:solidFill>
                  <a:srgbClr val="13212D"/>
                </a:solidFill>
                <a:latin typeface="Helvetica Neue"/>
                <a:ea typeface="Helvetica Neue"/>
                <a:cs typeface="Helvetica Neue"/>
              </a:defRPr>
            </a:lvl4pPr>
            <a:lvl5pPr>
              <a:defRPr sz="1875">
                <a:solidFill>
                  <a:srgbClr val="13212D"/>
                </a:solidFill>
                <a:latin typeface="Helvetica Neue"/>
                <a:ea typeface="Helvetica Neue"/>
                <a:cs typeface="Helvetica Neue"/>
              </a:defRPr>
            </a:lvl5pPr>
            <a:lvl6pPr>
              <a:defRPr sz="1875">
                <a:solidFill>
                  <a:srgbClr val="13212D"/>
                </a:solidFill>
                <a:latin typeface="Helvetica Neue"/>
                <a:ea typeface="Helvetica Neue"/>
                <a:cs typeface="Helvetica Neue"/>
              </a:defRPr>
            </a:lvl6pPr>
            <a:lvl7pPr>
              <a:defRPr sz="1875">
                <a:solidFill>
                  <a:srgbClr val="13212D"/>
                </a:solidFill>
                <a:latin typeface="Helvetica Neue"/>
                <a:ea typeface="Helvetica Neue"/>
                <a:cs typeface="Helvetica Neue"/>
              </a:defRPr>
            </a:lvl7pPr>
            <a:lvl8pPr>
              <a:defRPr sz="1875">
                <a:solidFill>
                  <a:srgbClr val="13212D"/>
                </a:solidFill>
                <a:latin typeface="Helvetica Neue"/>
                <a:ea typeface="Helvetica Neue"/>
                <a:cs typeface="Helvetica Neue"/>
              </a:defRPr>
            </a:lvl8pPr>
            <a:lvl9pPr>
              <a:defRPr sz="1875">
                <a:solidFill>
                  <a:srgbClr val="13212D"/>
                </a:solidFill>
                <a:latin typeface="Helvetica Neue"/>
                <a:ea typeface="Helvetica Neue"/>
                <a:cs typeface="Helvetica Neue"/>
              </a:defRPr>
            </a:lvl9pPr>
          </a:lstStyle>
          <a:p xmlns:a="http://schemas.openxmlformats.org/drawingml/2006/main">
            <a:pPr marL="279400" indent="-127000">
              <a:spcAft>
                <a:spcPts val="1300"/>
              </a:spcAft>
              <a:buChar char="•"/>
              <a:defRPr sz="1875">
                <a:solidFill>
                  <a:srgbClr val="13212D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75">
                <a:solidFill>
                  <a:srgbClr val="13212D"/>
                </a:solidFill>
                <a:latin typeface="Helvetica Neue"/>
                <a:ea typeface="Helvetica Neue"/>
                <a:cs typeface="Helvetica Neue"/>
              </a:rPr>
              <a:t>Save the blood bag and tubing and send them to the blood bank for examination.</a:t>
            </a:r>
          </a:p>
          <a:p xmlns:a="http://schemas.openxmlformats.org/drawingml/2006/main">
            <a:pPr marL="279400" indent="-127000">
              <a:spcAft>
                <a:spcPts val="1300"/>
              </a:spcAft>
              <a:buChar char="•"/>
              <a:defRPr sz="1875">
                <a:solidFill>
                  <a:srgbClr val="13212D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75">
                <a:solidFill>
                  <a:srgbClr val="13212D"/>
                </a:solidFill>
                <a:latin typeface="Helvetica Neue"/>
                <a:ea typeface="Helvetica Neue"/>
                <a:cs typeface="Helvetica Neue"/>
              </a:rPr>
              <a:t>Fill out a transfusion reaction form.</a:t>
            </a:r>
          </a:p>
          <a:p xmlns:a="http://schemas.openxmlformats.org/drawingml/2006/main">
            <a:pPr marL="279400" indent="-127000">
              <a:spcAft>
                <a:spcPts val="1300"/>
              </a:spcAft>
              <a:buChar char="•"/>
              <a:defRPr sz="1875">
                <a:solidFill>
                  <a:srgbClr val="13212D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75">
                <a:solidFill>
                  <a:srgbClr val="13212D"/>
                </a:solidFill>
                <a:latin typeface="Helvetica Neue"/>
                <a:ea typeface="Helvetica Neue"/>
                <a:cs typeface="Helvetica Neue"/>
              </a:rPr>
              <a:t>Follow hospital or institutional policy for collection of blood and urine specimens.</a:t>
            </a:r>
          </a:p>
          <a:p xmlns:a="http://schemas.openxmlformats.org/drawingml/2006/main">
            <a:pPr marL="279400" indent="-127000">
              <a:spcAft>
                <a:spcPts val="1300"/>
              </a:spcAft>
              <a:buChar char="•"/>
              <a:defRPr sz="1875">
                <a:solidFill>
                  <a:srgbClr val="13212D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75">
                <a:solidFill>
                  <a:srgbClr val="13212D"/>
                </a:solidFill>
                <a:latin typeface="Helvetica Neue"/>
                <a:ea typeface="Helvetica Neue"/>
                <a:cs typeface="Helvetica Neue"/>
              </a:rPr>
              <a:t>Monitor the patient paying close attention to the urinary output and the vital signs.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60798E9E-AE32-42E7-BFFF-3C8999E3C4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6115050"/>
            <a:ext cx="101917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>
            <a:defPPr>
              <a:defRPr sz="1125" b="1">
                <a:solidFill>
                  <a:srgbClr val="B94F3D"/>
                </a:solidFill>
                <a:latin typeface="Helvetica Neue"/>
                <a:ea typeface="Helvetica Neue"/>
                <a:cs typeface="Helvetica Neue"/>
              </a:defRPr>
            </a:defPPr>
            <a:lvl1pPr>
              <a:defRPr sz="1125" b="1">
                <a:solidFill>
                  <a:srgbClr val="B94F3D"/>
                </a:solidFill>
                <a:latin typeface="Helvetica Neue"/>
                <a:ea typeface="Helvetica Neue"/>
                <a:cs typeface="Helvetica Neue"/>
              </a:defRPr>
            </a:lvl1pPr>
            <a:lvl2pPr>
              <a:defRPr sz="1125" b="1">
                <a:solidFill>
                  <a:srgbClr val="B94F3D"/>
                </a:solidFill>
                <a:latin typeface="Helvetica Neue"/>
                <a:ea typeface="Helvetica Neue"/>
                <a:cs typeface="Helvetica Neue"/>
              </a:defRPr>
            </a:lvl2pPr>
            <a:lvl3pPr>
              <a:defRPr sz="1125" b="1">
                <a:solidFill>
                  <a:srgbClr val="B94F3D"/>
                </a:solidFill>
                <a:latin typeface="Helvetica Neue"/>
                <a:ea typeface="Helvetica Neue"/>
                <a:cs typeface="Helvetica Neue"/>
              </a:defRPr>
            </a:lvl3pPr>
            <a:lvl4pPr>
              <a:defRPr sz="1125" b="1">
                <a:solidFill>
                  <a:srgbClr val="B94F3D"/>
                </a:solidFill>
                <a:latin typeface="Helvetica Neue"/>
                <a:ea typeface="Helvetica Neue"/>
                <a:cs typeface="Helvetica Neue"/>
              </a:defRPr>
            </a:lvl4pPr>
            <a:lvl5pPr>
              <a:defRPr sz="1125" b="1">
                <a:solidFill>
                  <a:srgbClr val="B94F3D"/>
                </a:solidFill>
                <a:latin typeface="Helvetica Neue"/>
                <a:ea typeface="Helvetica Neue"/>
                <a:cs typeface="Helvetica Neue"/>
              </a:defRPr>
            </a:lvl5pPr>
            <a:lvl6pPr>
              <a:defRPr sz="1125" b="1">
                <a:solidFill>
                  <a:srgbClr val="B94F3D"/>
                </a:solidFill>
                <a:latin typeface="Helvetica Neue"/>
                <a:ea typeface="Helvetica Neue"/>
                <a:cs typeface="Helvetica Neue"/>
              </a:defRPr>
            </a:lvl6pPr>
            <a:lvl7pPr>
              <a:defRPr sz="1125" b="1">
                <a:solidFill>
                  <a:srgbClr val="B94F3D"/>
                </a:solidFill>
                <a:latin typeface="Helvetica Neue"/>
                <a:ea typeface="Helvetica Neue"/>
                <a:cs typeface="Helvetica Neue"/>
              </a:defRPr>
            </a:lvl7pPr>
            <a:lvl8pPr>
              <a:defRPr sz="1125" b="1">
                <a:solidFill>
                  <a:srgbClr val="B94F3D"/>
                </a:solidFill>
                <a:latin typeface="Helvetica Neue"/>
                <a:ea typeface="Helvetica Neue"/>
                <a:cs typeface="Helvetica Neue"/>
              </a:defRPr>
            </a:lvl8pPr>
            <a:lvl9pPr>
              <a:defRPr sz="1125" b="1">
                <a:solidFill>
                  <a:srgbClr val="B94F3D"/>
                </a:solidFill>
                <a:latin typeface="Helvetica Neue"/>
                <a:ea typeface="Helvetica Neue"/>
                <a:cs typeface="Helvetica Neue"/>
              </a:defRPr>
            </a:lvl9pPr>
          </a:lstStyle>
          <a:p xmlns:a="http://schemas.openxmlformats.org/drawingml/2006/main">
            <a:pPr>
              <a:defRPr sz="1125" b="1">
                <a:solidFill>
                  <a:srgbClr val="B94F3D"/>
                </a:solidFill>
                <a:latin typeface="Helvetica Neue"/>
                <a:ea typeface="Helvetica Neue"/>
                <a:cs typeface="Helvetica Neue"/>
              </a:defRPr>
            </a:pPr>
            <a:r>
              <a:rPr sz="1125" b="1">
                <a:solidFill>
                  <a:srgbClr val="B94F3D"/>
                </a:solidFill>
                <a:latin typeface="Helvetica Neue"/>
                <a:ea typeface="Helvetica Neue"/>
                <a:cs typeface="Helvetica Neue"/>
              </a:rPr>
              <a:t>Use current orders, facility policy, and authorized scope when applying this information.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20F3AAF4-1B47-4C5B-B341-1D3BD1AA74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5772150"/>
            <a:ext cx="101917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97619"/>
          </a:bodyPr>
          <a:lstStyle xmlns:a="http://schemas.openxmlformats.org/drawingml/2006/main">
            <a:defPPr>
              <a:defRPr sz="1050" b="1">
                <a:solidFill>
                  <a:srgbClr val="237B82"/>
                </a:solidFill>
                <a:latin typeface="Helvetica Neue"/>
                <a:ea typeface="Helvetica Neue"/>
                <a:cs typeface="Helvetica Neue"/>
              </a:defRPr>
            </a:defPPr>
            <a:lvl1pPr>
              <a:defRPr sz="1050" b="1">
                <a:solidFill>
                  <a:srgbClr val="237B82"/>
                </a:solidFill>
                <a:latin typeface="Helvetica Neue"/>
                <a:ea typeface="Helvetica Neue"/>
                <a:cs typeface="Helvetica Neue"/>
              </a:defRPr>
            </a:lvl1pPr>
            <a:lvl2pPr>
              <a:defRPr sz="1050" b="1">
                <a:solidFill>
                  <a:srgbClr val="237B82"/>
                </a:solidFill>
                <a:latin typeface="Helvetica Neue"/>
                <a:ea typeface="Helvetica Neue"/>
                <a:cs typeface="Helvetica Neue"/>
              </a:defRPr>
            </a:lvl2pPr>
            <a:lvl3pPr>
              <a:defRPr sz="1050" b="1">
                <a:solidFill>
                  <a:srgbClr val="237B82"/>
                </a:solidFill>
                <a:latin typeface="Helvetica Neue"/>
                <a:ea typeface="Helvetica Neue"/>
                <a:cs typeface="Helvetica Neue"/>
              </a:defRPr>
            </a:lvl3pPr>
            <a:lvl4pPr>
              <a:defRPr sz="1050" b="1">
                <a:solidFill>
                  <a:srgbClr val="237B82"/>
                </a:solidFill>
                <a:latin typeface="Helvetica Neue"/>
                <a:ea typeface="Helvetica Neue"/>
                <a:cs typeface="Helvetica Neue"/>
              </a:defRPr>
            </a:lvl4pPr>
            <a:lvl5pPr>
              <a:defRPr sz="1050" b="1">
                <a:solidFill>
                  <a:srgbClr val="237B82"/>
                </a:solidFill>
                <a:latin typeface="Helvetica Neue"/>
                <a:ea typeface="Helvetica Neue"/>
                <a:cs typeface="Helvetica Neue"/>
              </a:defRPr>
            </a:lvl5pPr>
            <a:lvl6pPr>
              <a:defRPr sz="1050" b="1">
                <a:solidFill>
                  <a:srgbClr val="237B82"/>
                </a:solidFill>
                <a:latin typeface="Helvetica Neue"/>
                <a:ea typeface="Helvetica Neue"/>
                <a:cs typeface="Helvetica Neue"/>
              </a:defRPr>
            </a:lvl6pPr>
            <a:lvl7pPr>
              <a:defRPr sz="1050" b="1">
                <a:solidFill>
                  <a:srgbClr val="237B82"/>
                </a:solidFill>
                <a:latin typeface="Helvetica Neue"/>
                <a:ea typeface="Helvetica Neue"/>
                <a:cs typeface="Helvetica Neue"/>
              </a:defRPr>
            </a:lvl7pPr>
            <a:lvl8pPr>
              <a:defRPr sz="1050" b="1">
                <a:solidFill>
                  <a:srgbClr val="237B82"/>
                </a:solidFill>
                <a:latin typeface="Helvetica Neue"/>
                <a:ea typeface="Helvetica Neue"/>
                <a:cs typeface="Helvetica Neue"/>
              </a:defRPr>
            </a:lvl8pPr>
            <a:lvl9pPr>
              <a:defRPr sz="1050" b="1">
                <a:solidFill>
                  <a:srgbClr val="237B82"/>
                </a:solidFill>
                <a:latin typeface="Helvetica Neue"/>
                <a:ea typeface="Helvetica Neue"/>
                <a:cs typeface="Helvetica Neue"/>
              </a:defRPr>
            </a:lvl9pPr>
          </a:lstStyle>
          <a:p xmlns:a="http://schemas.openxmlformats.org/drawingml/2006/main">
            <a:pPr>
              <a:defRPr sz="1050" b="1">
                <a:solidFill>
                  <a:srgbClr val="237B82"/>
                </a:solidFill>
                <a:latin typeface="Helvetica Neue"/>
                <a:ea typeface="Helvetica Neue"/>
                <a:cs typeface="Helvetica Neue"/>
              </a:defRPr>
            </a:pPr>
            <a:r>
              <a:rPr sz="1050" b="1">
                <a:solidFill>
                  <a:srgbClr val="237B82"/>
                </a:solidFill>
                <a:latin typeface="Helvetica Neue"/>
                <a:ea typeface="Helvetica Neue"/>
                <a:cs typeface="Helvetica Neue"/>
              </a:rPr>
              <a:t>Manual page 58</a:t>
            </a:r>
          </a:p>
        </p:txBody>
      </p:sp>
    </p:spTree>
    <p:extLst>
      <p:ext uri="{BB962C8B-B14F-4D97-AF65-F5344CB8AC3E}">
        <p14:creationId xmlns:p14="http://schemas.microsoft.com/office/powerpoint/2010/main" val="1888519796"/>
      </p:ext>
    </p:extLst>
  </p:cSld>
</p:sld>
</file>

<file path=ppt/slides/slide54.xml><?xml version="1.0" encoding="utf-8"?>
<p:sld xmlns:p="http://schemas.openxmlformats.org/presentationml/2006/main">
  <p:cSld>
    <p:bg>
      <p:bgPr>
        <a:solidFill xmlns:a="http://schemas.openxmlformats.org/drawingml/2006/main">
          <a:srgbClr val="F7F4EE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C5218BB9-35C8-4F2F-9C90-565E441FB8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2095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37B82"/>
          </a:solidFill>
          <a:ln xmlns:a="http://schemas.openxmlformats.org/drawingml/2006/main" w="0">
            <a:solidFill>
              <a:srgbClr val="237B82"/>
            </a:solidFill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80A84FF4-4511-4F49-B7A0-6DFA0E4E6B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00050"/>
            <a:ext cx="10001250" cy="819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>
            <a:defPPr>
              <a:defRPr sz="2700" b="1">
                <a:solidFill>
                  <a:srgbClr val="15324A"/>
                </a:solidFill>
                <a:latin typeface="Helvetica Neue"/>
                <a:ea typeface="Helvetica Neue"/>
                <a:cs typeface="Helvetica Neue"/>
              </a:defRPr>
            </a:defPPr>
            <a:lvl1pPr>
              <a:defRPr sz="2700" b="1">
                <a:solidFill>
                  <a:srgbClr val="15324A"/>
                </a:solidFill>
                <a:latin typeface="Helvetica Neue"/>
                <a:ea typeface="Helvetica Neue"/>
                <a:cs typeface="Helvetica Neue"/>
              </a:defRPr>
            </a:lvl1pPr>
            <a:lvl2pPr>
              <a:defRPr sz="2700" b="1">
                <a:solidFill>
                  <a:srgbClr val="15324A"/>
                </a:solidFill>
                <a:latin typeface="Helvetica Neue"/>
                <a:ea typeface="Helvetica Neue"/>
                <a:cs typeface="Helvetica Neue"/>
              </a:defRPr>
            </a:lvl2pPr>
            <a:lvl3pPr>
              <a:defRPr sz="2700" b="1">
                <a:solidFill>
                  <a:srgbClr val="15324A"/>
                </a:solidFill>
                <a:latin typeface="Helvetica Neue"/>
                <a:ea typeface="Helvetica Neue"/>
                <a:cs typeface="Helvetica Neue"/>
              </a:defRPr>
            </a:lvl3pPr>
            <a:lvl4pPr>
              <a:defRPr sz="2700" b="1">
                <a:solidFill>
                  <a:srgbClr val="15324A"/>
                </a:solidFill>
                <a:latin typeface="Helvetica Neue"/>
                <a:ea typeface="Helvetica Neue"/>
                <a:cs typeface="Helvetica Neue"/>
              </a:defRPr>
            </a:lvl4pPr>
            <a:lvl5pPr>
              <a:defRPr sz="2700" b="1">
                <a:solidFill>
                  <a:srgbClr val="15324A"/>
                </a:solidFill>
                <a:latin typeface="Helvetica Neue"/>
                <a:ea typeface="Helvetica Neue"/>
                <a:cs typeface="Helvetica Neue"/>
              </a:defRPr>
            </a:lvl5pPr>
            <a:lvl6pPr>
              <a:defRPr sz="2700" b="1">
                <a:solidFill>
                  <a:srgbClr val="15324A"/>
                </a:solidFill>
                <a:latin typeface="Helvetica Neue"/>
                <a:ea typeface="Helvetica Neue"/>
                <a:cs typeface="Helvetica Neue"/>
              </a:defRPr>
            </a:lvl6pPr>
            <a:lvl7pPr>
              <a:defRPr sz="2700" b="1">
                <a:solidFill>
                  <a:srgbClr val="15324A"/>
                </a:solidFill>
                <a:latin typeface="Helvetica Neue"/>
                <a:ea typeface="Helvetica Neue"/>
                <a:cs typeface="Helvetica Neue"/>
              </a:defRPr>
            </a:lvl7pPr>
            <a:lvl8pPr>
              <a:defRPr sz="2700" b="1">
                <a:solidFill>
                  <a:srgbClr val="15324A"/>
                </a:solidFill>
                <a:latin typeface="Helvetica Neue"/>
                <a:ea typeface="Helvetica Neue"/>
                <a:cs typeface="Helvetica Neue"/>
              </a:defRPr>
            </a:lvl8pPr>
            <a:lvl9pPr>
              <a:defRPr sz="2700" b="1">
                <a:solidFill>
                  <a:srgbClr val="15324A"/>
                </a:solidFill>
                <a:latin typeface="Helvetica Neue"/>
                <a:ea typeface="Helvetica Neue"/>
                <a:cs typeface="Helvetica Neue"/>
              </a:defRPr>
            </a:lvl9pPr>
          </a:lstStyle>
          <a:p xmlns:a="http://schemas.openxmlformats.org/drawingml/2006/main">
            <a:pPr>
              <a:defRPr sz="2700" b="1">
                <a:solidFill>
                  <a:srgbClr val="15324A"/>
                </a:solidFill>
                <a:latin typeface="Helvetica Neue"/>
                <a:ea typeface="Helvetica Neue"/>
                <a:cs typeface="Helvetica Neue"/>
              </a:defRPr>
            </a:pPr>
            <a:r>
              <a:rPr sz="2700" b="1">
                <a:solidFill>
                  <a:srgbClr val="15324A"/>
                </a:solidFill>
                <a:latin typeface="Helvetica Neue"/>
                <a:ea typeface="Helvetica Neue"/>
                <a:cs typeface="Helvetica Neue"/>
              </a:rPr>
              <a:t>normal saline side of the administration set.) — continued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566D5C5E-BB73-4FDE-8267-1DC9516178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1257300"/>
            <a:ext cx="88582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91111"/>
          </a:bodyPr>
          <a:lstStyle xmlns:a="http://schemas.openxmlformats.org/drawingml/2006/main">
            <a:defPPr>
              <a:defRPr sz="1125" b="1">
                <a:solidFill>
                  <a:srgbClr val="237B82"/>
                </a:solidFill>
                <a:latin typeface="Helvetica Neue"/>
                <a:ea typeface="Helvetica Neue"/>
                <a:cs typeface="Helvetica Neue"/>
              </a:defRPr>
            </a:defPPr>
            <a:lvl1pPr>
              <a:defRPr sz="1125" b="1">
                <a:solidFill>
                  <a:srgbClr val="237B82"/>
                </a:solidFill>
                <a:latin typeface="Helvetica Neue"/>
                <a:ea typeface="Helvetica Neue"/>
                <a:cs typeface="Helvetica Neue"/>
              </a:defRPr>
            </a:lvl1pPr>
            <a:lvl2pPr>
              <a:defRPr sz="1125" b="1">
                <a:solidFill>
                  <a:srgbClr val="237B82"/>
                </a:solidFill>
                <a:latin typeface="Helvetica Neue"/>
                <a:ea typeface="Helvetica Neue"/>
                <a:cs typeface="Helvetica Neue"/>
              </a:defRPr>
            </a:lvl2pPr>
            <a:lvl3pPr>
              <a:defRPr sz="1125" b="1">
                <a:solidFill>
                  <a:srgbClr val="237B82"/>
                </a:solidFill>
                <a:latin typeface="Helvetica Neue"/>
                <a:ea typeface="Helvetica Neue"/>
                <a:cs typeface="Helvetica Neue"/>
              </a:defRPr>
            </a:lvl3pPr>
            <a:lvl4pPr>
              <a:defRPr sz="1125" b="1">
                <a:solidFill>
                  <a:srgbClr val="237B82"/>
                </a:solidFill>
                <a:latin typeface="Helvetica Neue"/>
                <a:ea typeface="Helvetica Neue"/>
                <a:cs typeface="Helvetica Neue"/>
              </a:defRPr>
            </a:lvl4pPr>
            <a:lvl5pPr>
              <a:defRPr sz="1125" b="1">
                <a:solidFill>
                  <a:srgbClr val="237B82"/>
                </a:solidFill>
                <a:latin typeface="Helvetica Neue"/>
                <a:ea typeface="Helvetica Neue"/>
                <a:cs typeface="Helvetica Neue"/>
              </a:defRPr>
            </a:lvl5pPr>
            <a:lvl6pPr>
              <a:defRPr sz="1125" b="1">
                <a:solidFill>
                  <a:srgbClr val="237B82"/>
                </a:solidFill>
                <a:latin typeface="Helvetica Neue"/>
                <a:ea typeface="Helvetica Neue"/>
                <a:cs typeface="Helvetica Neue"/>
              </a:defRPr>
            </a:lvl6pPr>
            <a:lvl7pPr>
              <a:defRPr sz="1125" b="1">
                <a:solidFill>
                  <a:srgbClr val="237B82"/>
                </a:solidFill>
                <a:latin typeface="Helvetica Neue"/>
                <a:ea typeface="Helvetica Neue"/>
                <a:cs typeface="Helvetica Neue"/>
              </a:defRPr>
            </a:lvl7pPr>
            <a:lvl8pPr>
              <a:defRPr sz="1125" b="1">
                <a:solidFill>
                  <a:srgbClr val="237B82"/>
                </a:solidFill>
                <a:latin typeface="Helvetica Neue"/>
                <a:ea typeface="Helvetica Neue"/>
                <a:cs typeface="Helvetica Neue"/>
              </a:defRPr>
            </a:lvl8pPr>
            <a:lvl9pPr>
              <a:defRPr sz="1125" b="1">
                <a:solidFill>
                  <a:srgbClr val="237B82"/>
                </a:solidFill>
                <a:latin typeface="Helvetica Neue"/>
                <a:ea typeface="Helvetica Neue"/>
                <a:cs typeface="Helvetica Neue"/>
              </a:defRPr>
            </a:lvl9pPr>
          </a:lstStyle>
          <a:p xmlns:a="http://schemas.openxmlformats.org/drawingml/2006/main">
            <a:pPr>
              <a:defRPr sz="1125" b="1">
                <a:solidFill>
                  <a:srgbClr val="237B82"/>
                </a:solidFill>
                <a:latin typeface="Helvetica Neue"/>
                <a:ea typeface="Helvetica Neue"/>
                <a:cs typeface="Helvetica Neue"/>
              </a:defRPr>
            </a:pPr>
            <a:r>
              <a:rPr sz="1125" b="1">
                <a:solidFill>
                  <a:srgbClr val="237B82"/>
                </a:solidFill>
                <a:latin typeface="Helvetica Neue"/>
                <a:ea typeface="Helvetica Neue"/>
                <a:cs typeface="Helvetica Neue"/>
              </a:rPr>
              <a:t>MODULE 4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F8A220BF-BD37-4EE1-9CF6-F92EF75C1E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457200"/>
            <a:ext cx="5334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>
            <a:defPPr>
              <a:defRPr sz="1200" b="1">
                <a:solidFill>
                  <a:srgbClr val="237B82"/>
                </a:solidFill>
                <a:latin typeface="Helvetica Neue"/>
                <a:ea typeface="Helvetica Neue"/>
                <a:cs typeface="Helvetica Neue"/>
              </a:defRPr>
            </a:defPPr>
            <a:lvl1pPr>
              <a:defRPr sz="1200" b="1">
                <a:solidFill>
                  <a:srgbClr val="237B82"/>
                </a:solidFill>
                <a:latin typeface="Helvetica Neue"/>
                <a:ea typeface="Helvetica Neue"/>
                <a:cs typeface="Helvetica Neue"/>
              </a:defRPr>
            </a:lvl1pPr>
            <a:lvl2pPr>
              <a:defRPr sz="1200" b="1">
                <a:solidFill>
                  <a:srgbClr val="237B82"/>
                </a:solidFill>
                <a:latin typeface="Helvetica Neue"/>
                <a:ea typeface="Helvetica Neue"/>
                <a:cs typeface="Helvetica Neue"/>
              </a:defRPr>
            </a:lvl2pPr>
            <a:lvl3pPr>
              <a:defRPr sz="1200" b="1">
                <a:solidFill>
                  <a:srgbClr val="237B82"/>
                </a:solidFill>
                <a:latin typeface="Helvetica Neue"/>
                <a:ea typeface="Helvetica Neue"/>
                <a:cs typeface="Helvetica Neue"/>
              </a:defRPr>
            </a:lvl3pPr>
            <a:lvl4pPr>
              <a:defRPr sz="1200" b="1">
                <a:solidFill>
                  <a:srgbClr val="237B82"/>
                </a:solidFill>
                <a:latin typeface="Helvetica Neue"/>
                <a:ea typeface="Helvetica Neue"/>
                <a:cs typeface="Helvetica Neue"/>
              </a:defRPr>
            </a:lvl4pPr>
            <a:lvl5pPr>
              <a:defRPr sz="1200" b="1">
                <a:solidFill>
                  <a:srgbClr val="237B82"/>
                </a:solidFill>
                <a:latin typeface="Helvetica Neue"/>
                <a:ea typeface="Helvetica Neue"/>
                <a:cs typeface="Helvetica Neue"/>
              </a:defRPr>
            </a:lvl5pPr>
            <a:lvl6pPr>
              <a:defRPr sz="1200" b="1">
                <a:solidFill>
                  <a:srgbClr val="237B82"/>
                </a:solidFill>
                <a:latin typeface="Helvetica Neue"/>
                <a:ea typeface="Helvetica Neue"/>
                <a:cs typeface="Helvetica Neue"/>
              </a:defRPr>
            </a:lvl6pPr>
            <a:lvl7pPr>
              <a:defRPr sz="1200" b="1">
                <a:solidFill>
                  <a:srgbClr val="237B82"/>
                </a:solidFill>
                <a:latin typeface="Helvetica Neue"/>
                <a:ea typeface="Helvetica Neue"/>
                <a:cs typeface="Helvetica Neue"/>
              </a:defRPr>
            </a:lvl7pPr>
            <a:lvl8pPr>
              <a:defRPr sz="1200" b="1">
                <a:solidFill>
                  <a:srgbClr val="237B82"/>
                </a:solidFill>
                <a:latin typeface="Helvetica Neue"/>
                <a:ea typeface="Helvetica Neue"/>
                <a:cs typeface="Helvetica Neue"/>
              </a:defRPr>
            </a:lvl8pPr>
            <a:lvl9pPr>
              <a:defRPr sz="1200" b="1">
                <a:solidFill>
                  <a:srgbClr val="237B82"/>
                </a:solidFill>
                <a:latin typeface="Helvetica Neue"/>
                <a:ea typeface="Helvetica Neue"/>
                <a:cs typeface="Helvetica Neue"/>
              </a:defRPr>
            </a:lvl9pPr>
          </a:lstStyle>
          <a:p xmlns:a="http://schemas.openxmlformats.org/drawingml/2006/main">
            <a:pPr>
              <a:defRPr sz="1200" b="1">
                <a:solidFill>
                  <a:srgbClr val="237B82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00" b="1">
                <a:solidFill>
                  <a:srgbClr val="237B82"/>
                </a:solidFill>
                <a:latin typeface="Helvetica Neue"/>
                <a:ea typeface="Helvetica Neue"/>
                <a:cs typeface="Helvetica Neue"/>
              </a:rPr>
              <a:t>54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B3A7C326-F94A-40FB-A914-4C3CB1EC25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1762125"/>
            <a:ext cx="10287000" cy="409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>
            <a:defPPr>
              <a:defRPr sz="1875">
                <a:solidFill>
                  <a:srgbClr val="13212D"/>
                </a:solidFill>
                <a:latin typeface="Helvetica Neue"/>
                <a:ea typeface="Helvetica Neue"/>
                <a:cs typeface="Helvetica Neue"/>
              </a:defRPr>
            </a:defPPr>
            <a:lvl1pPr>
              <a:defRPr sz="1875">
                <a:solidFill>
                  <a:srgbClr val="13212D"/>
                </a:solidFill>
                <a:latin typeface="Helvetica Neue"/>
                <a:ea typeface="Helvetica Neue"/>
                <a:cs typeface="Helvetica Neue"/>
              </a:defRPr>
            </a:lvl1pPr>
            <a:lvl2pPr>
              <a:defRPr sz="1875">
                <a:solidFill>
                  <a:srgbClr val="13212D"/>
                </a:solidFill>
                <a:latin typeface="Helvetica Neue"/>
                <a:ea typeface="Helvetica Neue"/>
                <a:cs typeface="Helvetica Neue"/>
              </a:defRPr>
            </a:lvl2pPr>
            <a:lvl3pPr>
              <a:defRPr sz="1875">
                <a:solidFill>
                  <a:srgbClr val="13212D"/>
                </a:solidFill>
                <a:latin typeface="Helvetica Neue"/>
                <a:ea typeface="Helvetica Neue"/>
                <a:cs typeface="Helvetica Neue"/>
              </a:defRPr>
            </a:lvl3pPr>
            <a:lvl4pPr>
              <a:defRPr sz="1875">
                <a:solidFill>
                  <a:srgbClr val="13212D"/>
                </a:solidFill>
                <a:latin typeface="Helvetica Neue"/>
                <a:ea typeface="Helvetica Neue"/>
                <a:cs typeface="Helvetica Neue"/>
              </a:defRPr>
            </a:lvl4pPr>
            <a:lvl5pPr>
              <a:defRPr sz="1875">
                <a:solidFill>
                  <a:srgbClr val="13212D"/>
                </a:solidFill>
                <a:latin typeface="Helvetica Neue"/>
                <a:ea typeface="Helvetica Neue"/>
                <a:cs typeface="Helvetica Neue"/>
              </a:defRPr>
            </a:lvl5pPr>
            <a:lvl6pPr>
              <a:defRPr sz="1875">
                <a:solidFill>
                  <a:srgbClr val="13212D"/>
                </a:solidFill>
                <a:latin typeface="Helvetica Neue"/>
                <a:ea typeface="Helvetica Neue"/>
                <a:cs typeface="Helvetica Neue"/>
              </a:defRPr>
            </a:lvl6pPr>
            <a:lvl7pPr>
              <a:defRPr sz="1875">
                <a:solidFill>
                  <a:srgbClr val="13212D"/>
                </a:solidFill>
                <a:latin typeface="Helvetica Neue"/>
                <a:ea typeface="Helvetica Neue"/>
                <a:cs typeface="Helvetica Neue"/>
              </a:defRPr>
            </a:lvl7pPr>
            <a:lvl8pPr>
              <a:defRPr sz="1875">
                <a:solidFill>
                  <a:srgbClr val="13212D"/>
                </a:solidFill>
                <a:latin typeface="Helvetica Neue"/>
                <a:ea typeface="Helvetica Neue"/>
                <a:cs typeface="Helvetica Neue"/>
              </a:defRPr>
            </a:lvl8pPr>
            <a:lvl9pPr>
              <a:defRPr sz="1875">
                <a:solidFill>
                  <a:srgbClr val="13212D"/>
                </a:solidFill>
                <a:latin typeface="Helvetica Neue"/>
                <a:ea typeface="Helvetica Neue"/>
                <a:cs typeface="Helvetica Neue"/>
              </a:defRPr>
            </a:lvl9pPr>
          </a:lstStyle>
          <a:p xmlns:a="http://schemas.openxmlformats.org/drawingml/2006/main">
            <a:pPr marL="279400" indent="-127000">
              <a:spcAft>
                <a:spcPts val="1300"/>
              </a:spcAft>
              <a:buChar char="•"/>
              <a:defRPr sz="1875">
                <a:solidFill>
                  <a:srgbClr val="13212D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75">
                <a:solidFill>
                  <a:srgbClr val="13212D"/>
                </a:solidFill>
                <a:latin typeface="Helvetica Neue"/>
                <a:ea typeface="Helvetica Neue"/>
                <a:cs typeface="Helvetica Neue"/>
              </a:rPr>
              <a:t>The following is a list of transfusion reactions and immediate nursing interventions.</a:t>
            </a:r>
          </a:p>
          <a:p xmlns:a="http://schemas.openxmlformats.org/drawingml/2006/main">
            <a:pPr marL="279400" indent="-127000">
              <a:spcAft>
                <a:spcPts val="1300"/>
              </a:spcAft>
              <a:buChar char="•"/>
              <a:defRPr sz="1875">
                <a:solidFill>
                  <a:srgbClr val="13212D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75">
                <a:solidFill>
                  <a:srgbClr val="13212D"/>
                </a:solidFill>
                <a:latin typeface="Helvetica Neue"/>
                <a:ea typeface="Helvetica Neue"/>
                <a:cs typeface="Helvetica Neue"/>
              </a:rPr>
              <a:t>The nurse administering blood and blood components should be familiar with the most common types of reactions signs and symptoms, and nursing interventions to provide safe patient care</a:t>
            </a:r>
          </a:p>
          <a:p xmlns:a="http://schemas.openxmlformats.org/drawingml/2006/main">
            <a:pPr marL="279400" indent="-127000">
              <a:spcAft>
                <a:spcPts val="1300"/>
              </a:spcAft>
              <a:buChar char="•"/>
              <a:defRPr sz="1875">
                <a:solidFill>
                  <a:srgbClr val="13212D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75">
                <a:solidFill>
                  <a:srgbClr val="13212D"/>
                </a:solidFill>
                <a:latin typeface="Helvetica Neue"/>
                <a:ea typeface="Helvetica Neue"/>
                <a:cs typeface="Helvetica Neue"/>
              </a:rPr>
              <a:t>during transfusion therapy.</a:t>
            </a:r>
          </a:p>
          <a:p xmlns:a="http://schemas.openxmlformats.org/drawingml/2006/main">
            <a:pPr marL="279400" indent="-127000">
              <a:spcAft>
                <a:spcPts val="1300"/>
              </a:spcAft>
              <a:buChar char="•"/>
              <a:defRPr sz="1875">
                <a:solidFill>
                  <a:srgbClr val="13212D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75">
                <a:solidFill>
                  <a:srgbClr val="13212D"/>
                </a:solidFill>
                <a:latin typeface="Helvetica Neue"/>
                <a:ea typeface="Helvetica Neue"/>
                <a:cs typeface="Helvetica Neue"/>
              </a:rPr>
              <a:t>Hemolytic Reactions Cause - ABO or Rh incompatibility.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55A5B06B-E7DF-452E-BFF6-9CCE93074D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6115050"/>
            <a:ext cx="101917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>
            <a:defPPr>
              <a:defRPr sz="1125" b="1">
                <a:solidFill>
                  <a:srgbClr val="B94F3D"/>
                </a:solidFill>
                <a:latin typeface="Helvetica Neue"/>
                <a:ea typeface="Helvetica Neue"/>
                <a:cs typeface="Helvetica Neue"/>
              </a:defRPr>
            </a:defPPr>
            <a:lvl1pPr>
              <a:defRPr sz="1125" b="1">
                <a:solidFill>
                  <a:srgbClr val="B94F3D"/>
                </a:solidFill>
                <a:latin typeface="Helvetica Neue"/>
                <a:ea typeface="Helvetica Neue"/>
                <a:cs typeface="Helvetica Neue"/>
              </a:defRPr>
            </a:lvl1pPr>
            <a:lvl2pPr>
              <a:defRPr sz="1125" b="1">
                <a:solidFill>
                  <a:srgbClr val="B94F3D"/>
                </a:solidFill>
                <a:latin typeface="Helvetica Neue"/>
                <a:ea typeface="Helvetica Neue"/>
                <a:cs typeface="Helvetica Neue"/>
              </a:defRPr>
            </a:lvl2pPr>
            <a:lvl3pPr>
              <a:defRPr sz="1125" b="1">
                <a:solidFill>
                  <a:srgbClr val="B94F3D"/>
                </a:solidFill>
                <a:latin typeface="Helvetica Neue"/>
                <a:ea typeface="Helvetica Neue"/>
                <a:cs typeface="Helvetica Neue"/>
              </a:defRPr>
            </a:lvl3pPr>
            <a:lvl4pPr>
              <a:defRPr sz="1125" b="1">
                <a:solidFill>
                  <a:srgbClr val="B94F3D"/>
                </a:solidFill>
                <a:latin typeface="Helvetica Neue"/>
                <a:ea typeface="Helvetica Neue"/>
                <a:cs typeface="Helvetica Neue"/>
              </a:defRPr>
            </a:lvl4pPr>
            <a:lvl5pPr>
              <a:defRPr sz="1125" b="1">
                <a:solidFill>
                  <a:srgbClr val="B94F3D"/>
                </a:solidFill>
                <a:latin typeface="Helvetica Neue"/>
                <a:ea typeface="Helvetica Neue"/>
                <a:cs typeface="Helvetica Neue"/>
              </a:defRPr>
            </a:lvl5pPr>
            <a:lvl6pPr>
              <a:defRPr sz="1125" b="1">
                <a:solidFill>
                  <a:srgbClr val="B94F3D"/>
                </a:solidFill>
                <a:latin typeface="Helvetica Neue"/>
                <a:ea typeface="Helvetica Neue"/>
                <a:cs typeface="Helvetica Neue"/>
              </a:defRPr>
            </a:lvl6pPr>
            <a:lvl7pPr>
              <a:defRPr sz="1125" b="1">
                <a:solidFill>
                  <a:srgbClr val="B94F3D"/>
                </a:solidFill>
                <a:latin typeface="Helvetica Neue"/>
                <a:ea typeface="Helvetica Neue"/>
                <a:cs typeface="Helvetica Neue"/>
              </a:defRPr>
            </a:lvl7pPr>
            <a:lvl8pPr>
              <a:defRPr sz="1125" b="1">
                <a:solidFill>
                  <a:srgbClr val="B94F3D"/>
                </a:solidFill>
                <a:latin typeface="Helvetica Neue"/>
                <a:ea typeface="Helvetica Neue"/>
                <a:cs typeface="Helvetica Neue"/>
              </a:defRPr>
            </a:lvl8pPr>
            <a:lvl9pPr>
              <a:defRPr sz="1125" b="1">
                <a:solidFill>
                  <a:srgbClr val="B94F3D"/>
                </a:solidFill>
                <a:latin typeface="Helvetica Neue"/>
                <a:ea typeface="Helvetica Neue"/>
                <a:cs typeface="Helvetica Neue"/>
              </a:defRPr>
            </a:lvl9pPr>
          </a:lstStyle>
          <a:p xmlns:a="http://schemas.openxmlformats.org/drawingml/2006/main">
            <a:pPr>
              <a:defRPr sz="1125" b="1">
                <a:solidFill>
                  <a:srgbClr val="B94F3D"/>
                </a:solidFill>
                <a:latin typeface="Helvetica Neue"/>
                <a:ea typeface="Helvetica Neue"/>
                <a:cs typeface="Helvetica Neue"/>
              </a:defRPr>
            </a:pPr>
            <a:r>
              <a:rPr sz="1125" b="1">
                <a:solidFill>
                  <a:srgbClr val="B94F3D"/>
                </a:solidFill>
                <a:latin typeface="Helvetica Neue"/>
                <a:ea typeface="Helvetica Neue"/>
                <a:cs typeface="Helvetica Neue"/>
              </a:rPr>
              <a:t>Use current orders, facility policy, and authorized scope when applying this information.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85792718-DE4D-4719-B3F9-A2644F5B9D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5772150"/>
            <a:ext cx="101917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97619"/>
          </a:bodyPr>
          <a:lstStyle xmlns:a="http://schemas.openxmlformats.org/drawingml/2006/main">
            <a:defPPr>
              <a:defRPr sz="1050" b="1">
                <a:solidFill>
                  <a:srgbClr val="237B82"/>
                </a:solidFill>
                <a:latin typeface="Helvetica Neue"/>
                <a:ea typeface="Helvetica Neue"/>
                <a:cs typeface="Helvetica Neue"/>
              </a:defRPr>
            </a:defPPr>
            <a:lvl1pPr>
              <a:defRPr sz="1050" b="1">
                <a:solidFill>
                  <a:srgbClr val="237B82"/>
                </a:solidFill>
                <a:latin typeface="Helvetica Neue"/>
                <a:ea typeface="Helvetica Neue"/>
                <a:cs typeface="Helvetica Neue"/>
              </a:defRPr>
            </a:lvl1pPr>
            <a:lvl2pPr>
              <a:defRPr sz="1050" b="1">
                <a:solidFill>
                  <a:srgbClr val="237B82"/>
                </a:solidFill>
                <a:latin typeface="Helvetica Neue"/>
                <a:ea typeface="Helvetica Neue"/>
                <a:cs typeface="Helvetica Neue"/>
              </a:defRPr>
            </a:lvl2pPr>
            <a:lvl3pPr>
              <a:defRPr sz="1050" b="1">
                <a:solidFill>
                  <a:srgbClr val="237B82"/>
                </a:solidFill>
                <a:latin typeface="Helvetica Neue"/>
                <a:ea typeface="Helvetica Neue"/>
                <a:cs typeface="Helvetica Neue"/>
              </a:defRPr>
            </a:lvl3pPr>
            <a:lvl4pPr>
              <a:defRPr sz="1050" b="1">
                <a:solidFill>
                  <a:srgbClr val="237B82"/>
                </a:solidFill>
                <a:latin typeface="Helvetica Neue"/>
                <a:ea typeface="Helvetica Neue"/>
                <a:cs typeface="Helvetica Neue"/>
              </a:defRPr>
            </a:lvl4pPr>
            <a:lvl5pPr>
              <a:defRPr sz="1050" b="1">
                <a:solidFill>
                  <a:srgbClr val="237B82"/>
                </a:solidFill>
                <a:latin typeface="Helvetica Neue"/>
                <a:ea typeface="Helvetica Neue"/>
                <a:cs typeface="Helvetica Neue"/>
              </a:defRPr>
            </a:lvl5pPr>
            <a:lvl6pPr>
              <a:defRPr sz="1050" b="1">
                <a:solidFill>
                  <a:srgbClr val="237B82"/>
                </a:solidFill>
                <a:latin typeface="Helvetica Neue"/>
                <a:ea typeface="Helvetica Neue"/>
                <a:cs typeface="Helvetica Neue"/>
              </a:defRPr>
            </a:lvl6pPr>
            <a:lvl7pPr>
              <a:defRPr sz="1050" b="1">
                <a:solidFill>
                  <a:srgbClr val="237B82"/>
                </a:solidFill>
                <a:latin typeface="Helvetica Neue"/>
                <a:ea typeface="Helvetica Neue"/>
                <a:cs typeface="Helvetica Neue"/>
              </a:defRPr>
            </a:lvl7pPr>
            <a:lvl8pPr>
              <a:defRPr sz="1050" b="1">
                <a:solidFill>
                  <a:srgbClr val="237B82"/>
                </a:solidFill>
                <a:latin typeface="Helvetica Neue"/>
                <a:ea typeface="Helvetica Neue"/>
                <a:cs typeface="Helvetica Neue"/>
              </a:defRPr>
            </a:lvl8pPr>
            <a:lvl9pPr>
              <a:defRPr sz="1050" b="1">
                <a:solidFill>
                  <a:srgbClr val="237B82"/>
                </a:solidFill>
                <a:latin typeface="Helvetica Neue"/>
                <a:ea typeface="Helvetica Neue"/>
                <a:cs typeface="Helvetica Neue"/>
              </a:defRPr>
            </a:lvl9pPr>
          </a:lstStyle>
          <a:p xmlns:a="http://schemas.openxmlformats.org/drawingml/2006/main">
            <a:pPr>
              <a:defRPr sz="1050" b="1">
                <a:solidFill>
                  <a:srgbClr val="237B82"/>
                </a:solidFill>
                <a:latin typeface="Helvetica Neue"/>
                <a:ea typeface="Helvetica Neue"/>
                <a:cs typeface="Helvetica Neue"/>
              </a:defRPr>
            </a:pPr>
            <a:r>
              <a:rPr sz="1050" b="1">
                <a:solidFill>
                  <a:srgbClr val="237B82"/>
                </a:solidFill>
                <a:latin typeface="Helvetica Neue"/>
                <a:ea typeface="Helvetica Neue"/>
                <a:cs typeface="Helvetica Neue"/>
              </a:rPr>
              <a:t>Manual page 58</a:t>
            </a:r>
          </a:p>
        </p:txBody>
      </p:sp>
    </p:spTree>
    <p:extLst>
      <p:ext uri="{BB962C8B-B14F-4D97-AF65-F5344CB8AC3E}">
        <p14:creationId xmlns:p14="http://schemas.microsoft.com/office/powerpoint/2010/main" val="392076715"/>
      </p:ext>
    </p:extLst>
  </p:cSld>
</p:sld>
</file>

<file path=ppt/slides/slide55.xml><?xml version="1.0" encoding="utf-8"?>
<p:sld xmlns:p="http://schemas.openxmlformats.org/presentationml/2006/main">
  <p:cSld>
    <p:bg>
      <p:bgPr>
        <a:solidFill xmlns:a="http://schemas.openxmlformats.org/drawingml/2006/main">
          <a:srgbClr val="F7F4EE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45E3E2DB-73CE-426B-8B33-7B0C1F5475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2095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37B82"/>
          </a:solidFill>
          <a:ln xmlns:a="http://schemas.openxmlformats.org/drawingml/2006/main" w="0">
            <a:solidFill>
              <a:srgbClr val="237B82"/>
            </a:solidFill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5123F8DA-6CD3-44EA-AB63-3632A5F082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00050"/>
            <a:ext cx="10001250" cy="819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>
            <a:defPPr>
              <a:defRPr sz="2700" b="1">
                <a:solidFill>
                  <a:srgbClr val="15324A"/>
                </a:solidFill>
                <a:latin typeface="Helvetica Neue"/>
                <a:ea typeface="Helvetica Neue"/>
                <a:cs typeface="Helvetica Neue"/>
              </a:defRPr>
            </a:defPPr>
            <a:lvl1pPr>
              <a:defRPr sz="2700" b="1">
                <a:solidFill>
                  <a:srgbClr val="15324A"/>
                </a:solidFill>
                <a:latin typeface="Helvetica Neue"/>
                <a:ea typeface="Helvetica Neue"/>
                <a:cs typeface="Helvetica Neue"/>
              </a:defRPr>
            </a:lvl1pPr>
            <a:lvl2pPr>
              <a:defRPr sz="2700" b="1">
                <a:solidFill>
                  <a:srgbClr val="15324A"/>
                </a:solidFill>
                <a:latin typeface="Helvetica Neue"/>
                <a:ea typeface="Helvetica Neue"/>
                <a:cs typeface="Helvetica Neue"/>
              </a:defRPr>
            </a:lvl2pPr>
            <a:lvl3pPr>
              <a:defRPr sz="2700" b="1">
                <a:solidFill>
                  <a:srgbClr val="15324A"/>
                </a:solidFill>
                <a:latin typeface="Helvetica Neue"/>
                <a:ea typeface="Helvetica Neue"/>
                <a:cs typeface="Helvetica Neue"/>
              </a:defRPr>
            </a:lvl3pPr>
            <a:lvl4pPr>
              <a:defRPr sz="2700" b="1">
                <a:solidFill>
                  <a:srgbClr val="15324A"/>
                </a:solidFill>
                <a:latin typeface="Helvetica Neue"/>
                <a:ea typeface="Helvetica Neue"/>
                <a:cs typeface="Helvetica Neue"/>
              </a:defRPr>
            </a:lvl4pPr>
            <a:lvl5pPr>
              <a:defRPr sz="2700" b="1">
                <a:solidFill>
                  <a:srgbClr val="15324A"/>
                </a:solidFill>
                <a:latin typeface="Helvetica Neue"/>
                <a:ea typeface="Helvetica Neue"/>
                <a:cs typeface="Helvetica Neue"/>
              </a:defRPr>
            </a:lvl5pPr>
            <a:lvl6pPr>
              <a:defRPr sz="2700" b="1">
                <a:solidFill>
                  <a:srgbClr val="15324A"/>
                </a:solidFill>
                <a:latin typeface="Helvetica Neue"/>
                <a:ea typeface="Helvetica Neue"/>
                <a:cs typeface="Helvetica Neue"/>
              </a:defRPr>
            </a:lvl6pPr>
            <a:lvl7pPr>
              <a:defRPr sz="2700" b="1">
                <a:solidFill>
                  <a:srgbClr val="15324A"/>
                </a:solidFill>
                <a:latin typeface="Helvetica Neue"/>
                <a:ea typeface="Helvetica Neue"/>
                <a:cs typeface="Helvetica Neue"/>
              </a:defRPr>
            </a:lvl7pPr>
            <a:lvl8pPr>
              <a:defRPr sz="2700" b="1">
                <a:solidFill>
                  <a:srgbClr val="15324A"/>
                </a:solidFill>
                <a:latin typeface="Helvetica Neue"/>
                <a:ea typeface="Helvetica Neue"/>
                <a:cs typeface="Helvetica Neue"/>
              </a:defRPr>
            </a:lvl8pPr>
            <a:lvl9pPr>
              <a:defRPr sz="2700" b="1">
                <a:solidFill>
                  <a:srgbClr val="15324A"/>
                </a:solidFill>
                <a:latin typeface="Helvetica Neue"/>
                <a:ea typeface="Helvetica Neue"/>
                <a:cs typeface="Helvetica Neue"/>
              </a:defRPr>
            </a:lvl9pPr>
          </a:lstStyle>
          <a:p xmlns:a="http://schemas.openxmlformats.org/drawingml/2006/main">
            <a:pPr>
              <a:defRPr sz="2700" b="1">
                <a:solidFill>
                  <a:srgbClr val="15324A"/>
                </a:solidFill>
                <a:latin typeface="Helvetica Neue"/>
                <a:ea typeface="Helvetica Neue"/>
                <a:cs typeface="Helvetica Neue"/>
              </a:defRPr>
            </a:pPr>
            <a:r>
              <a:rPr sz="2700" b="1">
                <a:solidFill>
                  <a:srgbClr val="15324A"/>
                </a:solidFill>
                <a:latin typeface="Helvetica Neue"/>
                <a:ea typeface="Helvetica Neue"/>
                <a:cs typeface="Helvetica Neue"/>
              </a:rPr>
              <a:t>normal saline side of the administration set.) — continued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F0F487FC-1E13-445D-BE25-E3F500E5FE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1257300"/>
            <a:ext cx="88582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91111"/>
          </a:bodyPr>
          <a:lstStyle xmlns:a="http://schemas.openxmlformats.org/drawingml/2006/main">
            <a:defPPr>
              <a:defRPr sz="1125" b="1">
                <a:solidFill>
                  <a:srgbClr val="237B82"/>
                </a:solidFill>
                <a:latin typeface="Helvetica Neue"/>
                <a:ea typeface="Helvetica Neue"/>
                <a:cs typeface="Helvetica Neue"/>
              </a:defRPr>
            </a:defPPr>
            <a:lvl1pPr>
              <a:defRPr sz="1125" b="1">
                <a:solidFill>
                  <a:srgbClr val="237B82"/>
                </a:solidFill>
                <a:latin typeface="Helvetica Neue"/>
                <a:ea typeface="Helvetica Neue"/>
                <a:cs typeface="Helvetica Neue"/>
              </a:defRPr>
            </a:lvl1pPr>
            <a:lvl2pPr>
              <a:defRPr sz="1125" b="1">
                <a:solidFill>
                  <a:srgbClr val="237B82"/>
                </a:solidFill>
                <a:latin typeface="Helvetica Neue"/>
                <a:ea typeface="Helvetica Neue"/>
                <a:cs typeface="Helvetica Neue"/>
              </a:defRPr>
            </a:lvl2pPr>
            <a:lvl3pPr>
              <a:defRPr sz="1125" b="1">
                <a:solidFill>
                  <a:srgbClr val="237B82"/>
                </a:solidFill>
                <a:latin typeface="Helvetica Neue"/>
                <a:ea typeface="Helvetica Neue"/>
                <a:cs typeface="Helvetica Neue"/>
              </a:defRPr>
            </a:lvl3pPr>
            <a:lvl4pPr>
              <a:defRPr sz="1125" b="1">
                <a:solidFill>
                  <a:srgbClr val="237B82"/>
                </a:solidFill>
                <a:latin typeface="Helvetica Neue"/>
                <a:ea typeface="Helvetica Neue"/>
                <a:cs typeface="Helvetica Neue"/>
              </a:defRPr>
            </a:lvl4pPr>
            <a:lvl5pPr>
              <a:defRPr sz="1125" b="1">
                <a:solidFill>
                  <a:srgbClr val="237B82"/>
                </a:solidFill>
                <a:latin typeface="Helvetica Neue"/>
                <a:ea typeface="Helvetica Neue"/>
                <a:cs typeface="Helvetica Neue"/>
              </a:defRPr>
            </a:lvl5pPr>
            <a:lvl6pPr>
              <a:defRPr sz="1125" b="1">
                <a:solidFill>
                  <a:srgbClr val="237B82"/>
                </a:solidFill>
                <a:latin typeface="Helvetica Neue"/>
                <a:ea typeface="Helvetica Neue"/>
                <a:cs typeface="Helvetica Neue"/>
              </a:defRPr>
            </a:lvl6pPr>
            <a:lvl7pPr>
              <a:defRPr sz="1125" b="1">
                <a:solidFill>
                  <a:srgbClr val="237B82"/>
                </a:solidFill>
                <a:latin typeface="Helvetica Neue"/>
                <a:ea typeface="Helvetica Neue"/>
                <a:cs typeface="Helvetica Neue"/>
              </a:defRPr>
            </a:lvl7pPr>
            <a:lvl8pPr>
              <a:defRPr sz="1125" b="1">
                <a:solidFill>
                  <a:srgbClr val="237B82"/>
                </a:solidFill>
                <a:latin typeface="Helvetica Neue"/>
                <a:ea typeface="Helvetica Neue"/>
                <a:cs typeface="Helvetica Neue"/>
              </a:defRPr>
            </a:lvl8pPr>
            <a:lvl9pPr>
              <a:defRPr sz="1125" b="1">
                <a:solidFill>
                  <a:srgbClr val="237B82"/>
                </a:solidFill>
                <a:latin typeface="Helvetica Neue"/>
                <a:ea typeface="Helvetica Neue"/>
                <a:cs typeface="Helvetica Neue"/>
              </a:defRPr>
            </a:lvl9pPr>
          </a:lstStyle>
          <a:p xmlns:a="http://schemas.openxmlformats.org/drawingml/2006/main">
            <a:pPr>
              <a:defRPr sz="1125" b="1">
                <a:solidFill>
                  <a:srgbClr val="237B82"/>
                </a:solidFill>
                <a:latin typeface="Helvetica Neue"/>
                <a:ea typeface="Helvetica Neue"/>
                <a:cs typeface="Helvetica Neue"/>
              </a:defRPr>
            </a:pPr>
            <a:r>
              <a:rPr sz="1125" b="1">
                <a:solidFill>
                  <a:srgbClr val="237B82"/>
                </a:solidFill>
                <a:latin typeface="Helvetica Neue"/>
                <a:ea typeface="Helvetica Neue"/>
                <a:cs typeface="Helvetica Neue"/>
              </a:rPr>
              <a:t>MODULE 4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F8374444-9441-4A60-BF0F-3FF1C63D12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457200"/>
            <a:ext cx="5334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>
            <a:defPPr>
              <a:defRPr sz="1200" b="1">
                <a:solidFill>
                  <a:srgbClr val="237B82"/>
                </a:solidFill>
                <a:latin typeface="Helvetica Neue"/>
                <a:ea typeface="Helvetica Neue"/>
                <a:cs typeface="Helvetica Neue"/>
              </a:defRPr>
            </a:defPPr>
            <a:lvl1pPr>
              <a:defRPr sz="1200" b="1">
                <a:solidFill>
                  <a:srgbClr val="237B82"/>
                </a:solidFill>
                <a:latin typeface="Helvetica Neue"/>
                <a:ea typeface="Helvetica Neue"/>
                <a:cs typeface="Helvetica Neue"/>
              </a:defRPr>
            </a:lvl1pPr>
            <a:lvl2pPr>
              <a:defRPr sz="1200" b="1">
                <a:solidFill>
                  <a:srgbClr val="237B82"/>
                </a:solidFill>
                <a:latin typeface="Helvetica Neue"/>
                <a:ea typeface="Helvetica Neue"/>
                <a:cs typeface="Helvetica Neue"/>
              </a:defRPr>
            </a:lvl2pPr>
            <a:lvl3pPr>
              <a:defRPr sz="1200" b="1">
                <a:solidFill>
                  <a:srgbClr val="237B82"/>
                </a:solidFill>
                <a:latin typeface="Helvetica Neue"/>
                <a:ea typeface="Helvetica Neue"/>
                <a:cs typeface="Helvetica Neue"/>
              </a:defRPr>
            </a:lvl3pPr>
            <a:lvl4pPr>
              <a:defRPr sz="1200" b="1">
                <a:solidFill>
                  <a:srgbClr val="237B82"/>
                </a:solidFill>
                <a:latin typeface="Helvetica Neue"/>
                <a:ea typeface="Helvetica Neue"/>
                <a:cs typeface="Helvetica Neue"/>
              </a:defRPr>
            </a:lvl4pPr>
            <a:lvl5pPr>
              <a:defRPr sz="1200" b="1">
                <a:solidFill>
                  <a:srgbClr val="237B82"/>
                </a:solidFill>
                <a:latin typeface="Helvetica Neue"/>
                <a:ea typeface="Helvetica Neue"/>
                <a:cs typeface="Helvetica Neue"/>
              </a:defRPr>
            </a:lvl5pPr>
            <a:lvl6pPr>
              <a:defRPr sz="1200" b="1">
                <a:solidFill>
                  <a:srgbClr val="237B82"/>
                </a:solidFill>
                <a:latin typeface="Helvetica Neue"/>
                <a:ea typeface="Helvetica Neue"/>
                <a:cs typeface="Helvetica Neue"/>
              </a:defRPr>
            </a:lvl6pPr>
            <a:lvl7pPr>
              <a:defRPr sz="1200" b="1">
                <a:solidFill>
                  <a:srgbClr val="237B82"/>
                </a:solidFill>
                <a:latin typeface="Helvetica Neue"/>
                <a:ea typeface="Helvetica Neue"/>
                <a:cs typeface="Helvetica Neue"/>
              </a:defRPr>
            </a:lvl7pPr>
            <a:lvl8pPr>
              <a:defRPr sz="1200" b="1">
                <a:solidFill>
                  <a:srgbClr val="237B82"/>
                </a:solidFill>
                <a:latin typeface="Helvetica Neue"/>
                <a:ea typeface="Helvetica Neue"/>
                <a:cs typeface="Helvetica Neue"/>
              </a:defRPr>
            </a:lvl8pPr>
            <a:lvl9pPr>
              <a:defRPr sz="1200" b="1">
                <a:solidFill>
                  <a:srgbClr val="237B82"/>
                </a:solidFill>
                <a:latin typeface="Helvetica Neue"/>
                <a:ea typeface="Helvetica Neue"/>
                <a:cs typeface="Helvetica Neue"/>
              </a:defRPr>
            </a:lvl9pPr>
          </a:lstStyle>
          <a:p xmlns:a="http://schemas.openxmlformats.org/drawingml/2006/main">
            <a:pPr>
              <a:defRPr sz="1200" b="1">
                <a:solidFill>
                  <a:srgbClr val="237B82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00" b="1">
                <a:solidFill>
                  <a:srgbClr val="237B82"/>
                </a:solidFill>
                <a:latin typeface="Helvetica Neue"/>
                <a:ea typeface="Helvetica Neue"/>
                <a:cs typeface="Helvetica Neue"/>
              </a:rPr>
              <a:t>55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2F599F10-AA5A-4BDD-AAB3-6B876BF31F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1762125"/>
            <a:ext cx="10287000" cy="409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>
            <a:defPPr>
              <a:defRPr sz="1875">
                <a:solidFill>
                  <a:srgbClr val="13212D"/>
                </a:solidFill>
                <a:latin typeface="Helvetica Neue"/>
                <a:ea typeface="Helvetica Neue"/>
                <a:cs typeface="Helvetica Neue"/>
              </a:defRPr>
            </a:defPPr>
            <a:lvl1pPr>
              <a:defRPr sz="1875">
                <a:solidFill>
                  <a:srgbClr val="13212D"/>
                </a:solidFill>
                <a:latin typeface="Helvetica Neue"/>
                <a:ea typeface="Helvetica Neue"/>
                <a:cs typeface="Helvetica Neue"/>
              </a:defRPr>
            </a:lvl1pPr>
            <a:lvl2pPr>
              <a:defRPr sz="1875">
                <a:solidFill>
                  <a:srgbClr val="13212D"/>
                </a:solidFill>
                <a:latin typeface="Helvetica Neue"/>
                <a:ea typeface="Helvetica Neue"/>
                <a:cs typeface="Helvetica Neue"/>
              </a:defRPr>
            </a:lvl2pPr>
            <a:lvl3pPr>
              <a:defRPr sz="1875">
                <a:solidFill>
                  <a:srgbClr val="13212D"/>
                </a:solidFill>
                <a:latin typeface="Helvetica Neue"/>
                <a:ea typeface="Helvetica Neue"/>
                <a:cs typeface="Helvetica Neue"/>
              </a:defRPr>
            </a:lvl3pPr>
            <a:lvl4pPr>
              <a:defRPr sz="1875">
                <a:solidFill>
                  <a:srgbClr val="13212D"/>
                </a:solidFill>
                <a:latin typeface="Helvetica Neue"/>
                <a:ea typeface="Helvetica Neue"/>
                <a:cs typeface="Helvetica Neue"/>
              </a:defRPr>
            </a:lvl4pPr>
            <a:lvl5pPr>
              <a:defRPr sz="1875">
                <a:solidFill>
                  <a:srgbClr val="13212D"/>
                </a:solidFill>
                <a:latin typeface="Helvetica Neue"/>
                <a:ea typeface="Helvetica Neue"/>
                <a:cs typeface="Helvetica Neue"/>
              </a:defRPr>
            </a:lvl5pPr>
            <a:lvl6pPr>
              <a:defRPr sz="1875">
                <a:solidFill>
                  <a:srgbClr val="13212D"/>
                </a:solidFill>
                <a:latin typeface="Helvetica Neue"/>
                <a:ea typeface="Helvetica Neue"/>
                <a:cs typeface="Helvetica Neue"/>
              </a:defRPr>
            </a:lvl6pPr>
            <a:lvl7pPr>
              <a:defRPr sz="1875">
                <a:solidFill>
                  <a:srgbClr val="13212D"/>
                </a:solidFill>
                <a:latin typeface="Helvetica Neue"/>
                <a:ea typeface="Helvetica Neue"/>
                <a:cs typeface="Helvetica Neue"/>
              </a:defRPr>
            </a:lvl7pPr>
            <a:lvl8pPr>
              <a:defRPr sz="1875">
                <a:solidFill>
                  <a:srgbClr val="13212D"/>
                </a:solidFill>
                <a:latin typeface="Helvetica Neue"/>
                <a:ea typeface="Helvetica Neue"/>
                <a:cs typeface="Helvetica Neue"/>
              </a:defRPr>
            </a:lvl8pPr>
            <a:lvl9pPr>
              <a:defRPr sz="1875">
                <a:solidFill>
                  <a:srgbClr val="13212D"/>
                </a:solidFill>
                <a:latin typeface="Helvetica Neue"/>
                <a:ea typeface="Helvetica Neue"/>
                <a:cs typeface="Helvetica Neue"/>
              </a:defRPr>
            </a:lvl9pPr>
          </a:lstStyle>
          <a:p xmlns:a="http://schemas.openxmlformats.org/drawingml/2006/main">
            <a:pPr marL="279400" indent="-127000">
              <a:spcAft>
                <a:spcPts val="1300"/>
              </a:spcAft>
              <a:buChar char="•"/>
              <a:defRPr sz="1875">
                <a:solidFill>
                  <a:srgbClr val="13212D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75">
                <a:solidFill>
                  <a:srgbClr val="13212D"/>
                </a:solidFill>
                <a:latin typeface="Helvetica Neue"/>
                <a:ea typeface="Helvetica Neue"/>
                <a:cs typeface="Helvetica Neue"/>
              </a:rPr>
              <a:t>Mislabeled blood or blood administered to the wrong patient.</a:t>
            </a:r>
          </a:p>
          <a:p xmlns:a="http://schemas.openxmlformats.org/drawingml/2006/main">
            <a:pPr marL="279400" indent="-127000">
              <a:spcAft>
                <a:spcPts val="1300"/>
              </a:spcAft>
              <a:buChar char="•"/>
              <a:defRPr sz="1875">
                <a:solidFill>
                  <a:srgbClr val="13212D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75">
                <a:solidFill>
                  <a:srgbClr val="13212D"/>
                </a:solidFill>
                <a:latin typeface="Helvetica Neue"/>
                <a:ea typeface="Helvetica Neue"/>
                <a:cs typeface="Helvetica Neue"/>
              </a:rPr>
              <a:t>This is the most serious of all blood transfusion reactions.</a:t>
            </a:r>
          </a:p>
          <a:p xmlns:a="http://schemas.openxmlformats.org/drawingml/2006/main">
            <a:pPr marL="279400" indent="-127000">
              <a:spcAft>
                <a:spcPts val="1300"/>
              </a:spcAft>
              <a:buChar char="•"/>
              <a:defRPr sz="1875">
                <a:solidFill>
                  <a:srgbClr val="13212D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75">
                <a:solidFill>
                  <a:srgbClr val="13212D"/>
                </a:solidFill>
                <a:latin typeface="Helvetica Neue"/>
                <a:ea typeface="Helvetica Neue"/>
                <a:cs typeface="Helvetica Neue"/>
              </a:rPr>
              <a:t>Symptoms - Usually immediate onset.</a:t>
            </a:r>
          </a:p>
          <a:p xmlns:a="http://schemas.openxmlformats.org/drawingml/2006/main">
            <a:pPr marL="279400" indent="-127000">
              <a:spcAft>
                <a:spcPts val="1300"/>
              </a:spcAft>
              <a:buChar char="•"/>
              <a:defRPr sz="1875">
                <a:solidFill>
                  <a:srgbClr val="13212D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75">
                <a:solidFill>
                  <a:srgbClr val="13212D"/>
                </a:solidFill>
                <a:latin typeface="Helvetica Neue"/>
                <a:ea typeface="Helvetica Neue"/>
                <a:cs typeface="Helvetica Neue"/>
              </a:rPr>
              <a:t>Chills, fever, low back pain, chest pain, nausea, vomiting, hypotension, bleeding abnormalities.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670A3509-E698-41E0-BF38-653CB1242F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6115050"/>
            <a:ext cx="101917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>
            <a:defPPr>
              <a:defRPr sz="1125" b="1">
                <a:solidFill>
                  <a:srgbClr val="B94F3D"/>
                </a:solidFill>
                <a:latin typeface="Helvetica Neue"/>
                <a:ea typeface="Helvetica Neue"/>
                <a:cs typeface="Helvetica Neue"/>
              </a:defRPr>
            </a:defPPr>
            <a:lvl1pPr>
              <a:defRPr sz="1125" b="1">
                <a:solidFill>
                  <a:srgbClr val="B94F3D"/>
                </a:solidFill>
                <a:latin typeface="Helvetica Neue"/>
                <a:ea typeface="Helvetica Neue"/>
                <a:cs typeface="Helvetica Neue"/>
              </a:defRPr>
            </a:lvl1pPr>
            <a:lvl2pPr>
              <a:defRPr sz="1125" b="1">
                <a:solidFill>
                  <a:srgbClr val="B94F3D"/>
                </a:solidFill>
                <a:latin typeface="Helvetica Neue"/>
                <a:ea typeface="Helvetica Neue"/>
                <a:cs typeface="Helvetica Neue"/>
              </a:defRPr>
            </a:lvl2pPr>
            <a:lvl3pPr>
              <a:defRPr sz="1125" b="1">
                <a:solidFill>
                  <a:srgbClr val="B94F3D"/>
                </a:solidFill>
                <a:latin typeface="Helvetica Neue"/>
                <a:ea typeface="Helvetica Neue"/>
                <a:cs typeface="Helvetica Neue"/>
              </a:defRPr>
            </a:lvl3pPr>
            <a:lvl4pPr>
              <a:defRPr sz="1125" b="1">
                <a:solidFill>
                  <a:srgbClr val="B94F3D"/>
                </a:solidFill>
                <a:latin typeface="Helvetica Neue"/>
                <a:ea typeface="Helvetica Neue"/>
                <a:cs typeface="Helvetica Neue"/>
              </a:defRPr>
            </a:lvl4pPr>
            <a:lvl5pPr>
              <a:defRPr sz="1125" b="1">
                <a:solidFill>
                  <a:srgbClr val="B94F3D"/>
                </a:solidFill>
                <a:latin typeface="Helvetica Neue"/>
                <a:ea typeface="Helvetica Neue"/>
                <a:cs typeface="Helvetica Neue"/>
              </a:defRPr>
            </a:lvl5pPr>
            <a:lvl6pPr>
              <a:defRPr sz="1125" b="1">
                <a:solidFill>
                  <a:srgbClr val="B94F3D"/>
                </a:solidFill>
                <a:latin typeface="Helvetica Neue"/>
                <a:ea typeface="Helvetica Neue"/>
                <a:cs typeface="Helvetica Neue"/>
              </a:defRPr>
            </a:lvl6pPr>
            <a:lvl7pPr>
              <a:defRPr sz="1125" b="1">
                <a:solidFill>
                  <a:srgbClr val="B94F3D"/>
                </a:solidFill>
                <a:latin typeface="Helvetica Neue"/>
                <a:ea typeface="Helvetica Neue"/>
                <a:cs typeface="Helvetica Neue"/>
              </a:defRPr>
            </a:lvl7pPr>
            <a:lvl8pPr>
              <a:defRPr sz="1125" b="1">
                <a:solidFill>
                  <a:srgbClr val="B94F3D"/>
                </a:solidFill>
                <a:latin typeface="Helvetica Neue"/>
                <a:ea typeface="Helvetica Neue"/>
                <a:cs typeface="Helvetica Neue"/>
              </a:defRPr>
            </a:lvl8pPr>
            <a:lvl9pPr>
              <a:defRPr sz="1125" b="1">
                <a:solidFill>
                  <a:srgbClr val="B94F3D"/>
                </a:solidFill>
                <a:latin typeface="Helvetica Neue"/>
                <a:ea typeface="Helvetica Neue"/>
                <a:cs typeface="Helvetica Neue"/>
              </a:defRPr>
            </a:lvl9pPr>
          </a:lstStyle>
          <a:p xmlns:a="http://schemas.openxmlformats.org/drawingml/2006/main">
            <a:pPr>
              <a:defRPr sz="1125" b="1">
                <a:solidFill>
                  <a:srgbClr val="B94F3D"/>
                </a:solidFill>
                <a:latin typeface="Helvetica Neue"/>
                <a:ea typeface="Helvetica Neue"/>
                <a:cs typeface="Helvetica Neue"/>
              </a:defRPr>
            </a:pPr>
            <a:r>
              <a:rPr sz="1125" b="1">
                <a:solidFill>
                  <a:srgbClr val="B94F3D"/>
                </a:solidFill>
                <a:latin typeface="Helvetica Neue"/>
                <a:ea typeface="Helvetica Neue"/>
                <a:cs typeface="Helvetica Neue"/>
              </a:rPr>
              <a:t>Use current orders, facility policy, and authorized scope when applying this information.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5D2E1929-3C46-49CA-AAF9-5AA05029C3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5772150"/>
            <a:ext cx="101917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97619"/>
          </a:bodyPr>
          <a:lstStyle xmlns:a="http://schemas.openxmlformats.org/drawingml/2006/main">
            <a:defPPr>
              <a:defRPr sz="1050" b="1">
                <a:solidFill>
                  <a:srgbClr val="237B82"/>
                </a:solidFill>
                <a:latin typeface="Helvetica Neue"/>
                <a:ea typeface="Helvetica Neue"/>
                <a:cs typeface="Helvetica Neue"/>
              </a:defRPr>
            </a:defPPr>
            <a:lvl1pPr>
              <a:defRPr sz="1050" b="1">
                <a:solidFill>
                  <a:srgbClr val="237B82"/>
                </a:solidFill>
                <a:latin typeface="Helvetica Neue"/>
                <a:ea typeface="Helvetica Neue"/>
                <a:cs typeface="Helvetica Neue"/>
              </a:defRPr>
            </a:lvl1pPr>
            <a:lvl2pPr>
              <a:defRPr sz="1050" b="1">
                <a:solidFill>
                  <a:srgbClr val="237B82"/>
                </a:solidFill>
                <a:latin typeface="Helvetica Neue"/>
                <a:ea typeface="Helvetica Neue"/>
                <a:cs typeface="Helvetica Neue"/>
              </a:defRPr>
            </a:lvl2pPr>
            <a:lvl3pPr>
              <a:defRPr sz="1050" b="1">
                <a:solidFill>
                  <a:srgbClr val="237B82"/>
                </a:solidFill>
                <a:latin typeface="Helvetica Neue"/>
                <a:ea typeface="Helvetica Neue"/>
                <a:cs typeface="Helvetica Neue"/>
              </a:defRPr>
            </a:lvl3pPr>
            <a:lvl4pPr>
              <a:defRPr sz="1050" b="1">
                <a:solidFill>
                  <a:srgbClr val="237B82"/>
                </a:solidFill>
                <a:latin typeface="Helvetica Neue"/>
                <a:ea typeface="Helvetica Neue"/>
                <a:cs typeface="Helvetica Neue"/>
              </a:defRPr>
            </a:lvl4pPr>
            <a:lvl5pPr>
              <a:defRPr sz="1050" b="1">
                <a:solidFill>
                  <a:srgbClr val="237B82"/>
                </a:solidFill>
                <a:latin typeface="Helvetica Neue"/>
                <a:ea typeface="Helvetica Neue"/>
                <a:cs typeface="Helvetica Neue"/>
              </a:defRPr>
            </a:lvl5pPr>
            <a:lvl6pPr>
              <a:defRPr sz="1050" b="1">
                <a:solidFill>
                  <a:srgbClr val="237B82"/>
                </a:solidFill>
                <a:latin typeface="Helvetica Neue"/>
                <a:ea typeface="Helvetica Neue"/>
                <a:cs typeface="Helvetica Neue"/>
              </a:defRPr>
            </a:lvl6pPr>
            <a:lvl7pPr>
              <a:defRPr sz="1050" b="1">
                <a:solidFill>
                  <a:srgbClr val="237B82"/>
                </a:solidFill>
                <a:latin typeface="Helvetica Neue"/>
                <a:ea typeface="Helvetica Neue"/>
                <a:cs typeface="Helvetica Neue"/>
              </a:defRPr>
            </a:lvl7pPr>
            <a:lvl8pPr>
              <a:defRPr sz="1050" b="1">
                <a:solidFill>
                  <a:srgbClr val="237B82"/>
                </a:solidFill>
                <a:latin typeface="Helvetica Neue"/>
                <a:ea typeface="Helvetica Neue"/>
                <a:cs typeface="Helvetica Neue"/>
              </a:defRPr>
            </a:lvl8pPr>
            <a:lvl9pPr>
              <a:defRPr sz="1050" b="1">
                <a:solidFill>
                  <a:srgbClr val="237B82"/>
                </a:solidFill>
                <a:latin typeface="Helvetica Neue"/>
                <a:ea typeface="Helvetica Neue"/>
                <a:cs typeface="Helvetica Neue"/>
              </a:defRPr>
            </a:lvl9pPr>
          </a:lstStyle>
          <a:p xmlns:a="http://schemas.openxmlformats.org/drawingml/2006/main">
            <a:pPr>
              <a:defRPr sz="1050" b="1">
                <a:solidFill>
                  <a:srgbClr val="237B82"/>
                </a:solidFill>
                <a:latin typeface="Helvetica Neue"/>
                <a:ea typeface="Helvetica Neue"/>
                <a:cs typeface="Helvetica Neue"/>
              </a:defRPr>
            </a:pPr>
            <a:r>
              <a:rPr sz="1050" b="1">
                <a:solidFill>
                  <a:srgbClr val="237B82"/>
                </a:solidFill>
                <a:latin typeface="Helvetica Neue"/>
                <a:ea typeface="Helvetica Neue"/>
                <a:cs typeface="Helvetica Neue"/>
              </a:rPr>
              <a:t>Manual page 58</a:t>
            </a:r>
          </a:p>
        </p:txBody>
      </p:sp>
    </p:spTree>
    <p:extLst>
      <p:ext uri="{BB962C8B-B14F-4D97-AF65-F5344CB8AC3E}">
        <p14:creationId xmlns:p14="http://schemas.microsoft.com/office/powerpoint/2010/main" val="1139768647"/>
      </p:ext>
    </p:extLst>
  </p:cSld>
</p:sld>
</file>

<file path=ppt/slides/slide56.xml><?xml version="1.0" encoding="utf-8"?>
<p:sld xmlns:p="http://schemas.openxmlformats.org/presentationml/2006/main">
  <p:cSld>
    <p:bg>
      <p:bgPr>
        <a:solidFill xmlns:a="http://schemas.openxmlformats.org/drawingml/2006/main">
          <a:srgbClr val="F7F4EE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257B0CC6-6B98-4C31-ACE6-41442BE6F8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2095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37B82"/>
          </a:solidFill>
          <a:ln xmlns:a="http://schemas.openxmlformats.org/drawingml/2006/main" w="0">
            <a:solidFill>
              <a:srgbClr val="237B82"/>
            </a:solidFill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F07B4368-8FBB-45C2-9FE8-7129608B9F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00050"/>
            <a:ext cx="10001250" cy="819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>
            <a:defPPr>
              <a:defRPr sz="2700" b="1">
                <a:solidFill>
                  <a:srgbClr val="15324A"/>
                </a:solidFill>
                <a:latin typeface="Helvetica Neue"/>
                <a:ea typeface="Helvetica Neue"/>
                <a:cs typeface="Helvetica Neue"/>
              </a:defRPr>
            </a:defPPr>
            <a:lvl1pPr>
              <a:defRPr sz="2700" b="1">
                <a:solidFill>
                  <a:srgbClr val="15324A"/>
                </a:solidFill>
                <a:latin typeface="Helvetica Neue"/>
                <a:ea typeface="Helvetica Neue"/>
                <a:cs typeface="Helvetica Neue"/>
              </a:defRPr>
            </a:lvl1pPr>
            <a:lvl2pPr>
              <a:defRPr sz="2700" b="1">
                <a:solidFill>
                  <a:srgbClr val="15324A"/>
                </a:solidFill>
                <a:latin typeface="Helvetica Neue"/>
                <a:ea typeface="Helvetica Neue"/>
                <a:cs typeface="Helvetica Neue"/>
              </a:defRPr>
            </a:lvl2pPr>
            <a:lvl3pPr>
              <a:defRPr sz="2700" b="1">
                <a:solidFill>
                  <a:srgbClr val="15324A"/>
                </a:solidFill>
                <a:latin typeface="Helvetica Neue"/>
                <a:ea typeface="Helvetica Neue"/>
                <a:cs typeface="Helvetica Neue"/>
              </a:defRPr>
            </a:lvl3pPr>
            <a:lvl4pPr>
              <a:defRPr sz="2700" b="1">
                <a:solidFill>
                  <a:srgbClr val="15324A"/>
                </a:solidFill>
                <a:latin typeface="Helvetica Neue"/>
                <a:ea typeface="Helvetica Neue"/>
                <a:cs typeface="Helvetica Neue"/>
              </a:defRPr>
            </a:lvl4pPr>
            <a:lvl5pPr>
              <a:defRPr sz="2700" b="1">
                <a:solidFill>
                  <a:srgbClr val="15324A"/>
                </a:solidFill>
                <a:latin typeface="Helvetica Neue"/>
                <a:ea typeface="Helvetica Neue"/>
                <a:cs typeface="Helvetica Neue"/>
              </a:defRPr>
            </a:lvl5pPr>
            <a:lvl6pPr>
              <a:defRPr sz="2700" b="1">
                <a:solidFill>
                  <a:srgbClr val="15324A"/>
                </a:solidFill>
                <a:latin typeface="Helvetica Neue"/>
                <a:ea typeface="Helvetica Neue"/>
                <a:cs typeface="Helvetica Neue"/>
              </a:defRPr>
            </a:lvl6pPr>
            <a:lvl7pPr>
              <a:defRPr sz="2700" b="1">
                <a:solidFill>
                  <a:srgbClr val="15324A"/>
                </a:solidFill>
                <a:latin typeface="Helvetica Neue"/>
                <a:ea typeface="Helvetica Neue"/>
                <a:cs typeface="Helvetica Neue"/>
              </a:defRPr>
            </a:lvl7pPr>
            <a:lvl8pPr>
              <a:defRPr sz="2700" b="1">
                <a:solidFill>
                  <a:srgbClr val="15324A"/>
                </a:solidFill>
                <a:latin typeface="Helvetica Neue"/>
                <a:ea typeface="Helvetica Neue"/>
                <a:cs typeface="Helvetica Neue"/>
              </a:defRPr>
            </a:lvl8pPr>
            <a:lvl9pPr>
              <a:defRPr sz="2700" b="1">
                <a:solidFill>
                  <a:srgbClr val="15324A"/>
                </a:solidFill>
                <a:latin typeface="Helvetica Neue"/>
                <a:ea typeface="Helvetica Neue"/>
                <a:cs typeface="Helvetica Neue"/>
              </a:defRPr>
            </a:lvl9pPr>
          </a:lstStyle>
          <a:p xmlns:a="http://schemas.openxmlformats.org/drawingml/2006/main">
            <a:pPr>
              <a:defRPr sz="2700" b="1">
                <a:solidFill>
                  <a:srgbClr val="15324A"/>
                </a:solidFill>
                <a:latin typeface="Helvetica Neue"/>
                <a:ea typeface="Helvetica Neue"/>
                <a:cs typeface="Helvetica Neue"/>
              </a:defRPr>
            </a:pPr>
            <a:r>
              <a:rPr sz="2700" b="1">
                <a:solidFill>
                  <a:srgbClr val="15324A"/>
                </a:solidFill>
                <a:latin typeface="Helvetica Neue"/>
                <a:ea typeface="Helvetica Neue"/>
                <a:cs typeface="Helvetica Neue"/>
              </a:rPr>
              <a:t>normal saline side of the administration set.) — continued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B6CE035D-537C-4E64-A5A2-818DDAD40C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1257300"/>
            <a:ext cx="88582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91111"/>
          </a:bodyPr>
          <a:lstStyle xmlns:a="http://schemas.openxmlformats.org/drawingml/2006/main">
            <a:defPPr>
              <a:defRPr sz="1125" b="1">
                <a:solidFill>
                  <a:srgbClr val="237B82"/>
                </a:solidFill>
                <a:latin typeface="Helvetica Neue"/>
                <a:ea typeface="Helvetica Neue"/>
                <a:cs typeface="Helvetica Neue"/>
              </a:defRPr>
            </a:defPPr>
            <a:lvl1pPr>
              <a:defRPr sz="1125" b="1">
                <a:solidFill>
                  <a:srgbClr val="237B82"/>
                </a:solidFill>
                <a:latin typeface="Helvetica Neue"/>
                <a:ea typeface="Helvetica Neue"/>
                <a:cs typeface="Helvetica Neue"/>
              </a:defRPr>
            </a:lvl1pPr>
            <a:lvl2pPr>
              <a:defRPr sz="1125" b="1">
                <a:solidFill>
                  <a:srgbClr val="237B82"/>
                </a:solidFill>
                <a:latin typeface="Helvetica Neue"/>
                <a:ea typeface="Helvetica Neue"/>
                <a:cs typeface="Helvetica Neue"/>
              </a:defRPr>
            </a:lvl2pPr>
            <a:lvl3pPr>
              <a:defRPr sz="1125" b="1">
                <a:solidFill>
                  <a:srgbClr val="237B82"/>
                </a:solidFill>
                <a:latin typeface="Helvetica Neue"/>
                <a:ea typeface="Helvetica Neue"/>
                <a:cs typeface="Helvetica Neue"/>
              </a:defRPr>
            </a:lvl3pPr>
            <a:lvl4pPr>
              <a:defRPr sz="1125" b="1">
                <a:solidFill>
                  <a:srgbClr val="237B82"/>
                </a:solidFill>
                <a:latin typeface="Helvetica Neue"/>
                <a:ea typeface="Helvetica Neue"/>
                <a:cs typeface="Helvetica Neue"/>
              </a:defRPr>
            </a:lvl4pPr>
            <a:lvl5pPr>
              <a:defRPr sz="1125" b="1">
                <a:solidFill>
                  <a:srgbClr val="237B82"/>
                </a:solidFill>
                <a:latin typeface="Helvetica Neue"/>
                <a:ea typeface="Helvetica Neue"/>
                <a:cs typeface="Helvetica Neue"/>
              </a:defRPr>
            </a:lvl5pPr>
            <a:lvl6pPr>
              <a:defRPr sz="1125" b="1">
                <a:solidFill>
                  <a:srgbClr val="237B82"/>
                </a:solidFill>
                <a:latin typeface="Helvetica Neue"/>
                <a:ea typeface="Helvetica Neue"/>
                <a:cs typeface="Helvetica Neue"/>
              </a:defRPr>
            </a:lvl6pPr>
            <a:lvl7pPr>
              <a:defRPr sz="1125" b="1">
                <a:solidFill>
                  <a:srgbClr val="237B82"/>
                </a:solidFill>
                <a:latin typeface="Helvetica Neue"/>
                <a:ea typeface="Helvetica Neue"/>
                <a:cs typeface="Helvetica Neue"/>
              </a:defRPr>
            </a:lvl7pPr>
            <a:lvl8pPr>
              <a:defRPr sz="1125" b="1">
                <a:solidFill>
                  <a:srgbClr val="237B82"/>
                </a:solidFill>
                <a:latin typeface="Helvetica Neue"/>
                <a:ea typeface="Helvetica Neue"/>
                <a:cs typeface="Helvetica Neue"/>
              </a:defRPr>
            </a:lvl8pPr>
            <a:lvl9pPr>
              <a:defRPr sz="1125" b="1">
                <a:solidFill>
                  <a:srgbClr val="237B82"/>
                </a:solidFill>
                <a:latin typeface="Helvetica Neue"/>
                <a:ea typeface="Helvetica Neue"/>
                <a:cs typeface="Helvetica Neue"/>
              </a:defRPr>
            </a:lvl9pPr>
          </a:lstStyle>
          <a:p xmlns:a="http://schemas.openxmlformats.org/drawingml/2006/main">
            <a:pPr>
              <a:defRPr sz="1125" b="1">
                <a:solidFill>
                  <a:srgbClr val="237B82"/>
                </a:solidFill>
                <a:latin typeface="Helvetica Neue"/>
                <a:ea typeface="Helvetica Neue"/>
                <a:cs typeface="Helvetica Neue"/>
              </a:defRPr>
            </a:pPr>
            <a:r>
              <a:rPr sz="1125" b="1">
                <a:solidFill>
                  <a:srgbClr val="237B82"/>
                </a:solidFill>
                <a:latin typeface="Helvetica Neue"/>
                <a:ea typeface="Helvetica Neue"/>
                <a:cs typeface="Helvetica Neue"/>
              </a:rPr>
              <a:t>MODULE 4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ACF35EFF-99A2-48AD-A93F-AE2236A876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457200"/>
            <a:ext cx="5334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>
            <a:defPPr>
              <a:defRPr sz="1200" b="1">
                <a:solidFill>
                  <a:srgbClr val="237B82"/>
                </a:solidFill>
                <a:latin typeface="Helvetica Neue"/>
                <a:ea typeface="Helvetica Neue"/>
                <a:cs typeface="Helvetica Neue"/>
              </a:defRPr>
            </a:defPPr>
            <a:lvl1pPr>
              <a:defRPr sz="1200" b="1">
                <a:solidFill>
                  <a:srgbClr val="237B82"/>
                </a:solidFill>
                <a:latin typeface="Helvetica Neue"/>
                <a:ea typeface="Helvetica Neue"/>
                <a:cs typeface="Helvetica Neue"/>
              </a:defRPr>
            </a:lvl1pPr>
            <a:lvl2pPr>
              <a:defRPr sz="1200" b="1">
                <a:solidFill>
                  <a:srgbClr val="237B82"/>
                </a:solidFill>
                <a:latin typeface="Helvetica Neue"/>
                <a:ea typeface="Helvetica Neue"/>
                <a:cs typeface="Helvetica Neue"/>
              </a:defRPr>
            </a:lvl2pPr>
            <a:lvl3pPr>
              <a:defRPr sz="1200" b="1">
                <a:solidFill>
                  <a:srgbClr val="237B82"/>
                </a:solidFill>
                <a:latin typeface="Helvetica Neue"/>
                <a:ea typeface="Helvetica Neue"/>
                <a:cs typeface="Helvetica Neue"/>
              </a:defRPr>
            </a:lvl3pPr>
            <a:lvl4pPr>
              <a:defRPr sz="1200" b="1">
                <a:solidFill>
                  <a:srgbClr val="237B82"/>
                </a:solidFill>
                <a:latin typeface="Helvetica Neue"/>
                <a:ea typeface="Helvetica Neue"/>
                <a:cs typeface="Helvetica Neue"/>
              </a:defRPr>
            </a:lvl4pPr>
            <a:lvl5pPr>
              <a:defRPr sz="1200" b="1">
                <a:solidFill>
                  <a:srgbClr val="237B82"/>
                </a:solidFill>
                <a:latin typeface="Helvetica Neue"/>
                <a:ea typeface="Helvetica Neue"/>
                <a:cs typeface="Helvetica Neue"/>
              </a:defRPr>
            </a:lvl5pPr>
            <a:lvl6pPr>
              <a:defRPr sz="1200" b="1">
                <a:solidFill>
                  <a:srgbClr val="237B82"/>
                </a:solidFill>
                <a:latin typeface="Helvetica Neue"/>
                <a:ea typeface="Helvetica Neue"/>
                <a:cs typeface="Helvetica Neue"/>
              </a:defRPr>
            </a:lvl6pPr>
            <a:lvl7pPr>
              <a:defRPr sz="1200" b="1">
                <a:solidFill>
                  <a:srgbClr val="237B82"/>
                </a:solidFill>
                <a:latin typeface="Helvetica Neue"/>
                <a:ea typeface="Helvetica Neue"/>
                <a:cs typeface="Helvetica Neue"/>
              </a:defRPr>
            </a:lvl7pPr>
            <a:lvl8pPr>
              <a:defRPr sz="1200" b="1">
                <a:solidFill>
                  <a:srgbClr val="237B82"/>
                </a:solidFill>
                <a:latin typeface="Helvetica Neue"/>
                <a:ea typeface="Helvetica Neue"/>
                <a:cs typeface="Helvetica Neue"/>
              </a:defRPr>
            </a:lvl8pPr>
            <a:lvl9pPr>
              <a:defRPr sz="1200" b="1">
                <a:solidFill>
                  <a:srgbClr val="237B82"/>
                </a:solidFill>
                <a:latin typeface="Helvetica Neue"/>
                <a:ea typeface="Helvetica Neue"/>
                <a:cs typeface="Helvetica Neue"/>
              </a:defRPr>
            </a:lvl9pPr>
          </a:lstStyle>
          <a:p xmlns:a="http://schemas.openxmlformats.org/drawingml/2006/main">
            <a:pPr>
              <a:defRPr sz="1200" b="1">
                <a:solidFill>
                  <a:srgbClr val="237B82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00" b="1">
                <a:solidFill>
                  <a:srgbClr val="237B82"/>
                </a:solidFill>
                <a:latin typeface="Helvetica Neue"/>
                <a:ea typeface="Helvetica Neue"/>
                <a:cs typeface="Helvetica Neue"/>
              </a:rPr>
              <a:t>56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587CE88A-A98F-41A5-B27A-B7BE14BC6C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1762125"/>
            <a:ext cx="10287000" cy="409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>
            <a:defPPr>
              <a:defRPr sz="1875">
                <a:solidFill>
                  <a:srgbClr val="13212D"/>
                </a:solidFill>
                <a:latin typeface="Helvetica Neue"/>
                <a:ea typeface="Helvetica Neue"/>
                <a:cs typeface="Helvetica Neue"/>
              </a:defRPr>
            </a:defPPr>
            <a:lvl1pPr>
              <a:defRPr sz="1875">
                <a:solidFill>
                  <a:srgbClr val="13212D"/>
                </a:solidFill>
                <a:latin typeface="Helvetica Neue"/>
                <a:ea typeface="Helvetica Neue"/>
                <a:cs typeface="Helvetica Neue"/>
              </a:defRPr>
            </a:lvl1pPr>
            <a:lvl2pPr>
              <a:defRPr sz="1875">
                <a:solidFill>
                  <a:srgbClr val="13212D"/>
                </a:solidFill>
                <a:latin typeface="Helvetica Neue"/>
                <a:ea typeface="Helvetica Neue"/>
                <a:cs typeface="Helvetica Neue"/>
              </a:defRPr>
            </a:lvl2pPr>
            <a:lvl3pPr>
              <a:defRPr sz="1875">
                <a:solidFill>
                  <a:srgbClr val="13212D"/>
                </a:solidFill>
                <a:latin typeface="Helvetica Neue"/>
                <a:ea typeface="Helvetica Neue"/>
                <a:cs typeface="Helvetica Neue"/>
              </a:defRPr>
            </a:lvl3pPr>
            <a:lvl4pPr>
              <a:defRPr sz="1875">
                <a:solidFill>
                  <a:srgbClr val="13212D"/>
                </a:solidFill>
                <a:latin typeface="Helvetica Neue"/>
                <a:ea typeface="Helvetica Neue"/>
                <a:cs typeface="Helvetica Neue"/>
              </a:defRPr>
            </a:lvl4pPr>
            <a:lvl5pPr>
              <a:defRPr sz="1875">
                <a:solidFill>
                  <a:srgbClr val="13212D"/>
                </a:solidFill>
                <a:latin typeface="Helvetica Neue"/>
                <a:ea typeface="Helvetica Neue"/>
                <a:cs typeface="Helvetica Neue"/>
              </a:defRPr>
            </a:lvl5pPr>
            <a:lvl6pPr>
              <a:defRPr sz="1875">
                <a:solidFill>
                  <a:srgbClr val="13212D"/>
                </a:solidFill>
                <a:latin typeface="Helvetica Neue"/>
                <a:ea typeface="Helvetica Neue"/>
                <a:cs typeface="Helvetica Neue"/>
              </a:defRPr>
            </a:lvl6pPr>
            <a:lvl7pPr>
              <a:defRPr sz="1875">
                <a:solidFill>
                  <a:srgbClr val="13212D"/>
                </a:solidFill>
                <a:latin typeface="Helvetica Neue"/>
                <a:ea typeface="Helvetica Neue"/>
                <a:cs typeface="Helvetica Neue"/>
              </a:defRPr>
            </a:lvl7pPr>
            <a:lvl8pPr>
              <a:defRPr sz="1875">
                <a:solidFill>
                  <a:srgbClr val="13212D"/>
                </a:solidFill>
                <a:latin typeface="Helvetica Neue"/>
                <a:ea typeface="Helvetica Neue"/>
                <a:cs typeface="Helvetica Neue"/>
              </a:defRPr>
            </a:lvl8pPr>
            <a:lvl9pPr>
              <a:defRPr sz="1875">
                <a:solidFill>
                  <a:srgbClr val="13212D"/>
                </a:solidFill>
                <a:latin typeface="Helvetica Neue"/>
                <a:ea typeface="Helvetica Neue"/>
                <a:cs typeface="Helvetica Neue"/>
              </a:defRPr>
            </a:lvl9pPr>
          </a:lstStyle>
          <a:p xmlns:a="http://schemas.openxmlformats.org/drawingml/2006/main">
            <a:pPr marL="279400" indent="-127000">
              <a:spcAft>
                <a:spcPts val="1300"/>
              </a:spcAft>
              <a:buChar char="•"/>
              <a:defRPr sz="1875">
                <a:solidFill>
                  <a:srgbClr val="13212D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75">
                <a:solidFill>
                  <a:srgbClr val="13212D"/>
                </a:solidFill>
                <a:latin typeface="Helvetica Neue"/>
                <a:ea typeface="Helvetica Neue"/>
                <a:cs typeface="Helvetica Neue"/>
              </a:rPr>
              <a:t>Treatment - Stop transfusion immediately.</a:t>
            </a:r>
          </a:p>
          <a:p xmlns:a="http://schemas.openxmlformats.org/drawingml/2006/main">
            <a:pPr marL="279400" indent="-127000">
              <a:spcAft>
                <a:spcPts val="1300"/>
              </a:spcAft>
              <a:buChar char="•"/>
              <a:defRPr sz="1875">
                <a:solidFill>
                  <a:srgbClr val="13212D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75">
                <a:solidFill>
                  <a:srgbClr val="13212D"/>
                </a:solidFill>
                <a:latin typeface="Helvetica Neue"/>
                <a:ea typeface="Helvetica Neue"/>
                <a:cs typeface="Helvetica Neue"/>
              </a:rPr>
              <a:t>Keep vein open with normal saline.</a:t>
            </a:r>
          </a:p>
          <a:p xmlns:a="http://schemas.openxmlformats.org/drawingml/2006/main">
            <a:pPr marL="279400" indent="-127000">
              <a:spcAft>
                <a:spcPts val="1300"/>
              </a:spcAft>
              <a:buChar char="•"/>
              <a:defRPr sz="1875">
                <a:solidFill>
                  <a:srgbClr val="13212D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75">
                <a:solidFill>
                  <a:srgbClr val="13212D"/>
                </a:solidFill>
                <a:latin typeface="Helvetica Neue"/>
                <a:ea typeface="Helvetica Neue"/>
                <a:cs typeface="Helvetica Neue"/>
              </a:rPr>
              <a:t>Administer oxygen, fluids, and medications per physician order.</a:t>
            </a:r>
          </a:p>
          <a:p xmlns:a="http://schemas.openxmlformats.org/drawingml/2006/main">
            <a:pPr marL="279400" indent="-127000">
              <a:spcAft>
                <a:spcPts val="1300"/>
              </a:spcAft>
              <a:buChar char="•"/>
              <a:defRPr sz="1875">
                <a:solidFill>
                  <a:srgbClr val="13212D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75">
                <a:solidFill>
                  <a:srgbClr val="13212D"/>
                </a:solidFill>
                <a:latin typeface="Helvetica Neue"/>
                <a:ea typeface="Helvetica Neue"/>
                <a:cs typeface="Helvetica Neue"/>
              </a:rPr>
              <a:t>Record the intake and output carefully.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B9E9B6D5-2F6E-48BB-8621-CD0ACC2603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6115050"/>
            <a:ext cx="101917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>
            <a:defPPr>
              <a:defRPr sz="1125" b="1">
                <a:solidFill>
                  <a:srgbClr val="B94F3D"/>
                </a:solidFill>
                <a:latin typeface="Helvetica Neue"/>
                <a:ea typeface="Helvetica Neue"/>
                <a:cs typeface="Helvetica Neue"/>
              </a:defRPr>
            </a:defPPr>
            <a:lvl1pPr>
              <a:defRPr sz="1125" b="1">
                <a:solidFill>
                  <a:srgbClr val="B94F3D"/>
                </a:solidFill>
                <a:latin typeface="Helvetica Neue"/>
                <a:ea typeface="Helvetica Neue"/>
                <a:cs typeface="Helvetica Neue"/>
              </a:defRPr>
            </a:lvl1pPr>
            <a:lvl2pPr>
              <a:defRPr sz="1125" b="1">
                <a:solidFill>
                  <a:srgbClr val="B94F3D"/>
                </a:solidFill>
                <a:latin typeface="Helvetica Neue"/>
                <a:ea typeface="Helvetica Neue"/>
                <a:cs typeface="Helvetica Neue"/>
              </a:defRPr>
            </a:lvl2pPr>
            <a:lvl3pPr>
              <a:defRPr sz="1125" b="1">
                <a:solidFill>
                  <a:srgbClr val="B94F3D"/>
                </a:solidFill>
                <a:latin typeface="Helvetica Neue"/>
                <a:ea typeface="Helvetica Neue"/>
                <a:cs typeface="Helvetica Neue"/>
              </a:defRPr>
            </a:lvl3pPr>
            <a:lvl4pPr>
              <a:defRPr sz="1125" b="1">
                <a:solidFill>
                  <a:srgbClr val="B94F3D"/>
                </a:solidFill>
                <a:latin typeface="Helvetica Neue"/>
                <a:ea typeface="Helvetica Neue"/>
                <a:cs typeface="Helvetica Neue"/>
              </a:defRPr>
            </a:lvl4pPr>
            <a:lvl5pPr>
              <a:defRPr sz="1125" b="1">
                <a:solidFill>
                  <a:srgbClr val="B94F3D"/>
                </a:solidFill>
                <a:latin typeface="Helvetica Neue"/>
                <a:ea typeface="Helvetica Neue"/>
                <a:cs typeface="Helvetica Neue"/>
              </a:defRPr>
            </a:lvl5pPr>
            <a:lvl6pPr>
              <a:defRPr sz="1125" b="1">
                <a:solidFill>
                  <a:srgbClr val="B94F3D"/>
                </a:solidFill>
                <a:latin typeface="Helvetica Neue"/>
                <a:ea typeface="Helvetica Neue"/>
                <a:cs typeface="Helvetica Neue"/>
              </a:defRPr>
            </a:lvl6pPr>
            <a:lvl7pPr>
              <a:defRPr sz="1125" b="1">
                <a:solidFill>
                  <a:srgbClr val="B94F3D"/>
                </a:solidFill>
                <a:latin typeface="Helvetica Neue"/>
                <a:ea typeface="Helvetica Neue"/>
                <a:cs typeface="Helvetica Neue"/>
              </a:defRPr>
            </a:lvl7pPr>
            <a:lvl8pPr>
              <a:defRPr sz="1125" b="1">
                <a:solidFill>
                  <a:srgbClr val="B94F3D"/>
                </a:solidFill>
                <a:latin typeface="Helvetica Neue"/>
                <a:ea typeface="Helvetica Neue"/>
                <a:cs typeface="Helvetica Neue"/>
              </a:defRPr>
            </a:lvl8pPr>
            <a:lvl9pPr>
              <a:defRPr sz="1125" b="1">
                <a:solidFill>
                  <a:srgbClr val="B94F3D"/>
                </a:solidFill>
                <a:latin typeface="Helvetica Neue"/>
                <a:ea typeface="Helvetica Neue"/>
                <a:cs typeface="Helvetica Neue"/>
              </a:defRPr>
            </a:lvl9pPr>
          </a:lstStyle>
          <a:p xmlns:a="http://schemas.openxmlformats.org/drawingml/2006/main">
            <a:pPr>
              <a:defRPr sz="1125" b="1">
                <a:solidFill>
                  <a:srgbClr val="B94F3D"/>
                </a:solidFill>
                <a:latin typeface="Helvetica Neue"/>
                <a:ea typeface="Helvetica Neue"/>
                <a:cs typeface="Helvetica Neue"/>
              </a:defRPr>
            </a:pPr>
            <a:r>
              <a:rPr sz="1125" b="1">
                <a:solidFill>
                  <a:srgbClr val="B94F3D"/>
                </a:solidFill>
                <a:latin typeface="Helvetica Neue"/>
                <a:ea typeface="Helvetica Neue"/>
                <a:cs typeface="Helvetica Neue"/>
              </a:rPr>
              <a:t>Use current orders, facility policy, and authorized scope when applying this information.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2A132424-5CE3-486D-B075-F79BBF8BF5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5772150"/>
            <a:ext cx="101917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97619"/>
          </a:bodyPr>
          <a:lstStyle xmlns:a="http://schemas.openxmlformats.org/drawingml/2006/main">
            <a:defPPr>
              <a:defRPr sz="1050" b="1">
                <a:solidFill>
                  <a:srgbClr val="237B82"/>
                </a:solidFill>
                <a:latin typeface="Helvetica Neue"/>
                <a:ea typeface="Helvetica Neue"/>
                <a:cs typeface="Helvetica Neue"/>
              </a:defRPr>
            </a:defPPr>
            <a:lvl1pPr>
              <a:defRPr sz="1050" b="1">
                <a:solidFill>
                  <a:srgbClr val="237B82"/>
                </a:solidFill>
                <a:latin typeface="Helvetica Neue"/>
                <a:ea typeface="Helvetica Neue"/>
                <a:cs typeface="Helvetica Neue"/>
              </a:defRPr>
            </a:lvl1pPr>
            <a:lvl2pPr>
              <a:defRPr sz="1050" b="1">
                <a:solidFill>
                  <a:srgbClr val="237B82"/>
                </a:solidFill>
                <a:latin typeface="Helvetica Neue"/>
                <a:ea typeface="Helvetica Neue"/>
                <a:cs typeface="Helvetica Neue"/>
              </a:defRPr>
            </a:lvl2pPr>
            <a:lvl3pPr>
              <a:defRPr sz="1050" b="1">
                <a:solidFill>
                  <a:srgbClr val="237B82"/>
                </a:solidFill>
                <a:latin typeface="Helvetica Neue"/>
                <a:ea typeface="Helvetica Neue"/>
                <a:cs typeface="Helvetica Neue"/>
              </a:defRPr>
            </a:lvl3pPr>
            <a:lvl4pPr>
              <a:defRPr sz="1050" b="1">
                <a:solidFill>
                  <a:srgbClr val="237B82"/>
                </a:solidFill>
                <a:latin typeface="Helvetica Neue"/>
                <a:ea typeface="Helvetica Neue"/>
                <a:cs typeface="Helvetica Neue"/>
              </a:defRPr>
            </a:lvl4pPr>
            <a:lvl5pPr>
              <a:defRPr sz="1050" b="1">
                <a:solidFill>
                  <a:srgbClr val="237B82"/>
                </a:solidFill>
                <a:latin typeface="Helvetica Neue"/>
                <a:ea typeface="Helvetica Neue"/>
                <a:cs typeface="Helvetica Neue"/>
              </a:defRPr>
            </a:lvl5pPr>
            <a:lvl6pPr>
              <a:defRPr sz="1050" b="1">
                <a:solidFill>
                  <a:srgbClr val="237B82"/>
                </a:solidFill>
                <a:latin typeface="Helvetica Neue"/>
                <a:ea typeface="Helvetica Neue"/>
                <a:cs typeface="Helvetica Neue"/>
              </a:defRPr>
            </a:lvl6pPr>
            <a:lvl7pPr>
              <a:defRPr sz="1050" b="1">
                <a:solidFill>
                  <a:srgbClr val="237B82"/>
                </a:solidFill>
                <a:latin typeface="Helvetica Neue"/>
                <a:ea typeface="Helvetica Neue"/>
                <a:cs typeface="Helvetica Neue"/>
              </a:defRPr>
            </a:lvl7pPr>
            <a:lvl8pPr>
              <a:defRPr sz="1050" b="1">
                <a:solidFill>
                  <a:srgbClr val="237B82"/>
                </a:solidFill>
                <a:latin typeface="Helvetica Neue"/>
                <a:ea typeface="Helvetica Neue"/>
                <a:cs typeface="Helvetica Neue"/>
              </a:defRPr>
            </a:lvl8pPr>
            <a:lvl9pPr>
              <a:defRPr sz="1050" b="1">
                <a:solidFill>
                  <a:srgbClr val="237B82"/>
                </a:solidFill>
                <a:latin typeface="Helvetica Neue"/>
                <a:ea typeface="Helvetica Neue"/>
                <a:cs typeface="Helvetica Neue"/>
              </a:defRPr>
            </a:lvl9pPr>
          </a:lstStyle>
          <a:p xmlns:a="http://schemas.openxmlformats.org/drawingml/2006/main">
            <a:pPr>
              <a:defRPr sz="1050" b="1">
                <a:solidFill>
                  <a:srgbClr val="237B82"/>
                </a:solidFill>
                <a:latin typeface="Helvetica Neue"/>
                <a:ea typeface="Helvetica Neue"/>
                <a:cs typeface="Helvetica Neue"/>
              </a:defRPr>
            </a:pPr>
            <a:r>
              <a:rPr sz="1050" b="1">
                <a:solidFill>
                  <a:srgbClr val="237B82"/>
                </a:solidFill>
                <a:latin typeface="Helvetica Neue"/>
                <a:ea typeface="Helvetica Neue"/>
                <a:cs typeface="Helvetica Neue"/>
              </a:rPr>
              <a:t>Manual page 58</a:t>
            </a:r>
          </a:p>
        </p:txBody>
      </p:sp>
    </p:spTree>
    <p:extLst>
      <p:ext uri="{BB962C8B-B14F-4D97-AF65-F5344CB8AC3E}">
        <p14:creationId xmlns:p14="http://schemas.microsoft.com/office/powerpoint/2010/main" val="217792432"/>
      </p:ext>
    </p:extLst>
  </p:cSld>
</p:sld>
</file>

<file path=ppt/slides/slide57.xml><?xml version="1.0" encoding="utf-8"?>
<p:sld xmlns:p="http://schemas.openxmlformats.org/presentationml/2006/main">
  <p:cSld>
    <p:bg>
      <p:bgPr>
        <a:solidFill xmlns:a="http://schemas.openxmlformats.org/drawingml/2006/main">
          <a:srgbClr val="F7F4EE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052984B7-6C70-4E84-A0EE-945FDDB718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2095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37B82"/>
          </a:solidFill>
          <a:ln xmlns:a="http://schemas.openxmlformats.org/drawingml/2006/main" w="0">
            <a:solidFill>
              <a:srgbClr val="237B82"/>
            </a:solidFill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B5D25A77-DDEC-4C76-B4EB-ED5DB211FC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00050"/>
            <a:ext cx="10001250" cy="819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>
            <a:defPPr>
              <a:defRPr sz="2700" b="1">
                <a:solidFill>
                  <a:srgbClr val="15324A"/>
                </a:solidFill>
                <a:latin typeface="Helvetica Neue"/>
                <a:ea typeface="Helvetica Neue"/>
                <a:cs typeface="Helvetica Neue"/>
              </a:defRPr>
            </a:defPPr>
            <a:lvl1pPr>
              <a:defRPr sz="2700" b="1">
                <a:solidFill>
                  <a:srgbClr val="15324A"/>
                </a:solidFill>
                <a:latin typeface="Helvetica Neue"/>
                <a:ea typeface="Helvetica Neue"/>
                <a:cs typeface="Helvetica Neue"/>
              </a:defRPr>
            </a:lvl1pPr>
            <a:lvl2pPr>
              <a:defRPr sz="2700" b="1">
                <a:solidFill>
                  <a:srgbClr val="15324A"/>
                </a:solidFill>
                <a:latin typeface="Helvetica Neue"/>
                <a:ea typeface="Helvetica Neue"/>
                <a:cs typeface="Helvetica Neue"/>
              </a:defRPr>
            </a:lvl2pPr>
            <a:lvl3pPr>
              <a:defRPr sz="2700" b="1">
                <a:solidFill>
                  <a:srgbClr val="15324A"/>
                </a:solidFill>
                <a:latin typeface="Helvetica Neue"/>
                <a:ea typeface="Helvetica Neue"/>
                <a:cs typeface="Helvetica Neue"/>
              </a:defRPr>
            </a:lvl3pPr>
            <a:lvl4pPr>
              <a:defRPr sz="2700" b="1">
                <a:solidFill>
                  <a:srgbClr val="15324A"/>
                </a:solidFill>
                <a:latin typeface="Helvetica Neue"/>
                <a:ea typeface="Helvetica Neue"/>
                <a:cs typeface="Helvetica Neue"/>
              </a:defRPr>
            </a:lvl4pPr>
            <a:lvl5pPr>
              <a:defRPr sz="2700" b="1">
                <a:solidFill>
                  <a:srgbClr val="15324A"/>
                </a:solidFill>
                <a:latin typeface="Helvetica Neue"/>
                <a:ea typeface="Helvetica Neue"/>
                <a:cs typeface="Helvetica Neue"/>
              </a:defRPr>
            </a:lvl5pPr>
            <a:lvl6pPr>
              <a:defRPr sz="2700" b="1">
                <a:solidFill>
                  <a:srgbClr val="15324A"/>
                </a:solidFill>
                <a:latin typeface="Helvetica Neue"/>
                <a:ea typeface="Helvetica Neue"/>
                <a:cs typeface="Helvetica Neue"/>
              </a:defRPr>
            </a:lvl6pPr>
            <a:lvl7pPr>
              <a:defRPr sz="2700" b="1">
                <a:solidFill>
                  <a:srgbClr val="15324A"/>
                </a:solidFill>
                <a:latin typeface="Helvetica Neue"/>
                <a:ea typeface="Helvetica Neue"/>
                <a:cs typeface="Helvetica Neue"/>
              </a:defRPr>
            </a:lvl7pPr>
            <a:lvl8pPr>
              <a:defRPr sz="2700" b="1">
                <a:solidFill>
                  <a:srgbClr val="15324A"/>
                </a:solidFill>
                <a:latin typeface="Helvetica Neue"/>
                <a:ea typeface="Helvetica Neue"/>
                <a:cs typeface="Helvetica Neue"/>
              </a:defRPr>
            </a:lvl8pPr>
            <a:lvl9pPr>
              <a:defRPr sz="2700" b="1">
                <a:solidFill>
                  <a:srgbClr val="15324A"/>
                </a:solidFill>
                <a:latin typeface="Helvetica Neue"/>
                <a:ea typeface="Helvetica Neue"/>
                <a:cs typeface="Helvetica Neue"/>
              </a:defRPr>
            </a:lvl9pPr>
          </a:lstStyle>
          <a:p xmlns:a="http://schemas.openxmlformats.org/drawingml/2006/main">
            <a:pPr>
              <a:defRPr sz="2700" b="1">
                <a:solidFill>
                  <a:srgbClr val="15324A"/>
                </a:solidFill>
                <a:latin typeface="Helvetica Neue"/>
                <a:ea typeface="Helvetica Neue"/>
                <a:cs typeface="Helvetica Neue"/>
              </a:defRPr>
            </a:pPr>
            <a:r>
              <a:rPr sz="2700" b="1">
                <a:solidFill>
                  <a:srgbClr val="15324A"/>
                </a:solidFill>
                <a:latin typeface="Helvetica Neue"/>
                <a:ea typeface="Helvetica Neue"/>
                <a:cs typeface="Helvetica Neue"/>
              </a:rPr>
              <a:t>normal saline side of the administration set.) — continued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E8C7C834-3361-4A2F-9684-74C36D68FB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1257300"/>
            <a:ext cx="88582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91111"/>
          </a:bodyPr>
          <a:lstStyle xmlns:a="http://schemas.openxmlformats.org/drawingml/2006/main">
            <a:defPPr>
              <a:defRPr sz="1125" b="1">
                <a:solidFill>
                  <a:srgbClr val="237B82"/>
                </a:solidFill>
                <a:latin typeface="Helvetica Neue"/>
                <a:ea typeface="Helvetica Neue"/>
                <a:cs typeface="Helvetica Neue"/>
              </a:defRPr>
            </a:defPPr>
            <a:lvl1pPr>
              <a:defRPr sz="1125" b="1">
                <a:solidFill>
                  <a:srgbClr val="237B82"/>
                </a:solidFill>
                <a:latin typeface="Helvetica Neue"/>
                <a:ea typeface="Helvetica Neue"/>
                <a:cs typeface="Helvetica Neue"/>
              </a:defRPr>
            </a:lvl1pPr>
            <a:lvl2pPr>
              <a:defRPr sz="1125" b="1">
                <a:solidFill>
                  <a:srgbClr val="237B82"/>
                </a:solidFill>
                <a:latin typeface="Helvetica Neue"/>
                <a:ea typeface="Helvetica Neue"/>
                <a:cs typeface="Helvetica Neue"/>
              </a:defRPr>
            </a:lvl2pPr>
            <a:lvl3pPr>
              <a:defRPr sz="1125" b="1">
                <a:solidFill>
                  <a:srgbClr val="237B82"/>
                </a:solidFill>
                <a:latin typeface="Helvetica Neue"/>
                <a:ea typeface="Helvetica Neue"/>
                <a:cs typeface="Helvetica Neue"/>
              </a:defRPr>
            </a:lvl3pPr>
            <a:lvl4pPr>
              <a:defRPr sz="1125" b="1">
                <a:solidFill>
                  <a:srgbClr val="237B82"/>
                </a:solidFill>
                <a:latin typeface="Helvetica Neue"/>
                <a:ea typeface="Helvetica Neue"/>
                <a:cs typeface="Helvetica Neue"/>
              </a:defRPr>
            </a:lvl4pPr>
            <a:lvl5pPr>
              <a:defRPr sz="1125" b="1">
                <a:solidFill>
                  <a:srgbClr val="237B82"/>
                </a:solidFill>
                <a:latin typeface="Helvetica Neue"/>
                <a:ea typeface="Helvetica Neue"/>
                <a:cs typeface="Helvetica Neue"/>
              </a:defRPr>
            </a:lvl5pPr>
            <a:lvl6pPr>
              <a:defRPr sz="1125" b="1">
                <a:solidFill>
                  <a:srgbClr val="237B82"/>
                </a:solidFill>
                <a:latin typeface="Helvetica Neue"/>
                <a:ea typeface="Helvetica Neue"/>
                <a:cs typeface="Helvetica Neue"/>
              </a:defRPr>
            </a:lvl6pPr>
            <a:lvl7pPr>
              <a:defRPr sz="1125" b="1">
                <a:solidFill>
                  <a:srgbClr val="237B82"/>
                </a:solidFill>
                <a:latin typeface="Helvetica Neue"/>
                <a:ea typeface="Helvetica Neue"/>
                <a:cs typeface="Helvetica Neue"/>
              </a:defRPr>
            </a:lvl7pPr>
            <a:lvl8pPr>
              <a:defRPr sz="1125" b="1">
                <a:solidFill>
                  <a:srgbClr val="237B82"/>
                </a:solidFill>
                <a:latin typeface="Helvetica Neue"/>
                <a:ea typeface="Helvetica Neue"/>
                <a:cs typeface="Helvetica Neue"/>
              </a:defRPr>
            </a:lvl8pPr>
            <a:lvl9pPr>
              <a:defRPr sz="1125" b="1">
                <a:solidFill>
                  <a:srgbClr val="237B82"/>
                </a:solidFill>
                <a:latin typeface="Helvetica Neue"/>
                <a:ea typeface="Helvetica Neue"/>
                <a:cs typeface="Helvetica Neue"/>
              </a:defRPr>
            </a:lvl9pPr>
          </a:lstStyle>
          <a:p xmlns:a="http://schemas.openxmlformats.org/drawingml/2006/main">
            <a:pPr>
              <a:defRPr sz="1125" b="1">
                <a:solidFill>
                  <a:srgbClr val="237B82"/>
                </a:solidFill>
                <a:latin typeface="Helvetica Neue"/>
                <a:ea typeface="Helvetica Neue"/>
                <a:cs typeface="Helvetica Neue"/>
              </a:defRPr>
            </a:pPr>
            <a:r>
              <a:rPr sz="1125" b="1">
                <a:solidFill>
                  <a:srgbClr val="237B82"/>
                </a:solidFill>
                <a:latin typeface="Helvetica Neue"/>
                <a:ea typeface="Helvetica Neue"/>
                <a:cs typeface="Helvetica Neue"/>
              </a:rPr>
              <a:t>MODULE 4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0B8337A4-0E84-4BE2-B03C-4FE12D57C6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457200"/>
            <a:ext cx="5334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>
            <a:defPPr>
              <a:defRPr sz="1200" b="1">
                <a:solidFill>
                  <a:srgbClr val="237B82"/>
                </a:solidFill>
                <a:latin typeface="Helvetica Neue"/>
                <a:ea typeface="Helvetica Neue"/>
                <a:cs typeface="Helvetica Neue"/>
              </a:defRPr>
            </a:defPPr>
            <a:lvl1pPr>
              <a:defRPr sz="1200" b="1">
                <a:solidFill>
                  <a:srgbClr val="237B82"/>
                </a:solidFill>
                <a:latin typeface="Helvetica Neue"/>
                <a:ea typeface="Helvetica Neue"/>
                <a:cs typeface="Helvetica Neue"/>
              </a:defRPr>
            </a:lvl1pPr>
            <a:lvl2pPr>
              <a:defRPr sz="1200" b="1">
                <a:solidFill>
                  <a:srgbClr val="237B82"/>
                </a:solidFill>
                <a:latin typeface="Helvetica Neue"/>
                <a:ea typeface="Helvetica Neue"/>
                <a:cs typeface="Helvetica Neue"/>
              </a:defRPr>
            </a:lvl2pPr>
            <a:lvl3pPr>
              <a:defRPr sz="1200" b="1">
                <a:solidFill>
                  <a:srgbClr val="237B82"/>
                </a:solidFill>
                <a:latin typeface="Helvetica Neue"/>
                <a:ea typeface="Helvetica Neue"/>
                <a:cs typeface="Helvetica Neue"/>
              </a:defRPr>
            </a:lvl3pPr>
            <a:lvl4pPr>
              <a:defRPr sz="1200" b="1">
                <a:solidFill>
                  <a:srgbClr val="237B82"/>
                </a:solidFill>
                <a:latin typeface="Helvetica Neue"/>
                <a:ea typeface="Helvetica Neue"/>
                <a:cs typeface="Helvetica Neue"/>
              </a:defRPr>
            </a:lvl4pPr>
            <a:lvl5pPr>
              <a:defRPr sz="1200" b="1">
                <a:solidFill>
                  <a:srgbClr val="237B82"/>
                </a:solidFill>
                <a:latin typeface="Helvetica Neue"/>
                <a:ea typeface="Helvetica Neue"/>
                <a:cs typeface="Helvetica Neue"/>
              </a:defRPr>
            </a:lvl5pPr>
            <a:lvl6pPr>
              <a:defRPr sz="1200" b="1">
                <a:solidFill>
                  <a:srgbClr val="237B82"/>
                </a:solidFill>
                <a:latin typeface="Helvetica Neue"/>
                <a:ea typeface="Helvetica Neue"/>
                <a:cs typeface="Helvetica Neue"/>
              </a:defRPr>
            </a:lvl6pPr>
            <a:lvl7pPr>
              <a:defRPr sz="1200" b="1">
                <a:solidFill>
                  <a:srgbClr val="237B82"/>
                </a:solidFill>
                <a:latin typeface="Helvetica Neue"/>
                <a:ea typeface="Helvetica Neue"/>
                <a:cs typeface="Helvetica Neue"/>
              </a:defRPr>
            </a:lvl7pPr>
            <a:lvl8pPr>
              <a:defRPr sz="1200" b="1">
                <a:solidFill>
                  <a:srgbClr val="237B82"/>
                </a:solidFill>
                <a:latin typeface="Helvetica Neue"/>
                <a:ea typeface="Helvetica Neue"/>
                <a:cs typeface="Helvetica Neue"/>
              </a:defRPr>
            </a:lvl8pPr>
            <a:lvl9pPr>
              <a:defRPr sz="1200" b="1">
                <a:solidFill>
                  <a:srgbClr val="237B82"/>
                </a:solidFill>
                <a:latin typeface="Helvetica Neue"/>
                <a:ea typeface="Helvetica Neue"/>
                <a:cs typeface="Helvetica Neue"/>
              </a:defRPr>
            </a:lvl9pPr>
          </a:lstStyle>
          <a:p xmlns:a="http://schemas.openxmlformats.org/drawingml/2006/main">
            <a:pPr>
              <a:defRPr sz="1200" b="1">
                <a:solidFill>
                  <a:srgbClr val="237B82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00" b="1">
                <a:solidFill>
                  <a:srgbClr val="237B82"/>
                </a:solidFill>
                <a:latin typeface="Helvetica Neue"/>
                <a:ea typeface="Helvetica Neue"/>
                <a:cs typeface="Helvetica Neue"/>
              </a:rPr>
              <a:t>57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9463D75A-E6AF-4C09-BBA8-5AFB6C5E05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1762125"/>
            <a:ext cx="10287000" cy="409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>
            <a:defPPr>
              <a:defRPr sz="1875">
                <a:solidFill>
                  <a:srgbClr val="13212D"/>
                </a:solidFill>
                <a:latin typeface="Helvetica Neue"/>
                <a:ea typeface="Helvetica Neue"/>
                <a:cs typeface="Helvetica Neue"/>
              </a:defRPr>
            </a:defPPr>
            <a:lvl1pPr>
              <a:defRPr sz="1875">
                <a:solidFill>
                  <a:srgbClr val="13212D"/>
                </a:solidFill>
                <a:latin typeface="Helvetica Neue"/>
                <a:ea typeface="Helvetica Neue"/>
                <a:cs typeface="Helvetica Neue"/>
              </a:defRPr>
            </a:lvl1pPr>
            <a:lvl2pPr>
              <a:defRPr sz="1875">
                <a:solidFill>
                  <a:srgbClr val="13212D"/>
                </a:solidFill>
                <a:latin typeface="Helvetica Neue"/>
                <a:ea typeface="Helvetica Neue"/>
                <a:cs typeface="Helvetica Neue"/>
              </a:defRPr>
            </a:lvl2pPr>
            <a:lvl3pPr>
              <a:defRPr sz="1875">
                <a:solidFill>
                  <a:srgbClr val="13212D"/>
                </a:solidFill>
                <a:latin typeface="Helvetica Neue"/>
                <a:ea typeface="Helvetica Neue"/>
                <a:cs typeface="Helvetica Neue"/>
              </a:defRPr>
            </a:lvl3pPr>
            <a:lvl4pPr>
              <a:defRPr sz="1875">
                <a:solidFill>
                  <a:srgbClr val="13212D"/>
                </a:solidFill>
                <a:latin typeface="Helvetica Neue"/>
                <a:ea typeface="Helvetica Neue"/>
                <a:cs typeface="Helvetica Neue"/>
              </a:defRPr>
            </a:lvl4pPr>
            <a:lvl5pPr>
              <a:defRPr sz="1875">
                <a:solidFill>
                  <a:srgbClr val="13212D"/>
                </a:solidFill>
                <a:latin typeface="Helvetica Neue"/>
                <a:ea typeface="Helvetica Neue"/>
                <a:cs typeface="Helvetica Neue"/>
              </a:defRPr>
            </a:lvl5pPr>
            <a:lvl6pPr>
              <a:defRPr sz="1875">
                <a:solidFill>
                  <a:srgbClr val="13212D"/>
                </a:solidFill>
                <a:latin typeface="Helvetica Neue"/>
                <a:ea typeface="Helvetica Neue"/>
                <a:cs typeface="Helvetica Neue"/>
              </a:defRPr>
            </a:lvl6pPr>
            <a:lvl7pPr>
              <a:defRPr sz="1875">
                <a:solidFill>
                  <a:srgbClr val="13212D"/>
                </a:solidFill>
                <a:latin typeface="Helvetica Neue"/>
                <a:ea typeface="Helvetica Neue"/>
                <a:cs typeface="Helvetica Neue"/>
              </a:defRPr>
            </a:lvl7pPr>
            <a:lvl8pPr>
              <a:defRPr sz="1875">
                <a:solidFill>
                  <a:srgbClr val="13212D"/>
                </a:solidFill>
                <a:latin typeface="Helvetica Neue"/>
                <a:ea typeface="Helvetica Neue"/>
                <a:cs typeface="Helvetica Neue"/>
              </a:defRPr>
            </a:lvl8pPr>
            <a:lvl9pPr>
              <a:defRPr sz="1875">
                <a:solidFill>
                  <a:srgbClr val="13212D"/>
                </a:solidFill>
                <a:latin typeface="Helvetica Neue"/>
                <a:ea typeface="Helvetica Neue"/>
                <a:cs typeface="Helvetica Neue"/>
              </a:defRPr>
            </a:lvl9pPr>
          </a:lstStyle>
          <a:p xmlns:a="http://schemas.openxmlformats.org/drawingml/2006/main">
            <a:pPr marL="279400" indent="-127000">
              <a:spcAft>
                <a:spcPts val="1300"/>
              </a:spcAft>
              <a:buChar char="•"/>
              <a:defRPr sz="1875">
                <a:solidFill>
                  <a:srgbClr val="13212D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75">
                <a:solidFill>
                  <a:srgbClr val="13212D"/>
                </a:solidFill>
                <a:latin typeface="Helvetica Neue"/>
                <a:ea typeface="Helvetica Neue"/>
                <a:cs typeface="Helvetica Neue"/>
              </a:rPr>
              <a:t>Follow hospital or institutional policy and physician orders for lab and urine specimens.</a:t>
            </a:r>
          </a:p>
          <a:p xmlns:a="http://schemas.openxmlformats.org/drawingml/2006/main">
            <a:pPr marL="279400" indent="-127000">
              <a:spcAft>
                <a:spcPts val="1300"/>
              </a:spcAft>
              <a:buChar char="•"/>
              <a:defRPr sz="1875">
                <a:solidFill>
                  <a:srgbClr val="13212D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75">
                <a:solidFill>
                  <a:srgbClr val="13212D"/>
                </a:solidFill>
                <a:latin typeface="Helvetica Neue"/>
                <a:ea typeface="Helvetica Neue"/>
                <a:cs typeface="Helvetica Neue"/>
              </a:rPr>
              <a:t>Prevention - Double checking the patient's identification and blood type to make sure the blood is compatible.</a:t>
            </a:r>
          </a:p>
          <a:p xmlns:a="http://schemas.openxmlformats.org/drawingml/2006/main">
            <a:pPr marL="279400" indent="-127000">
              <a:spcAft>
                <a:spcPts val="1300"/>
              </a:spcAft>
              <a:buChar char="•"/>
              <a:defRPr sz="1875">
                <a:solidFill>
                  <a:srgbClr val="13212D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75">
                <a:solidFill>
                  <a:srgbClr val="13212D"/>
                </a:solidFill>
                <a:latin typeface="Helvetica Neue"/>
                <a:ea typeface="Helvetica Neue"/>
                <a:cs typeface="Helvetica Neue"/>
              </a:rPr>
              <a:t>Beginning the transfusion slowly, remaining with the patient for the first 15 minutes of the transfusion.</a:t>
            </a:r>
          </a:p>
          <a:p xmlns:a="http://schemas.openxmlformats.org/drawingml/2006/main">
            <a:pPr marL="279400" indent="-127000">
              <a:spcAft>
                <a:spcPts val="1300"/>
              </a:spcAft>
              <a:buChar char="•"/>
              <a:defRPr sz="1875">
                <a:solidFill>
                  <a:srgbClr val="13212D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75">
                <a:solidFill>
                  <a:srgbClr val="13212D"/>
                </a:solidFill>
                <a:latin typeface="Helvetica Neue"/>
                <a:ea typeface="Helvetica Neue"/>
                <a:cs typeface="Helvetica Neue"/>
              </a:rPr>
              <a:t>Allergic Reactions Cause - Sensitivity of the recipient to a substance in the donor's blood.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E9D5A15B-72E4-435E-BC0D-B8D787B421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6115050"/>
            <a:ext cx="101917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>
            <a:defPPr>
              <a:defRPr sz="1125" b="1">
                <a:solidFill>
                  <a:srgbClr val="B94F3D"/>
                </a:solidFill>
                <a:latin typeface="Helvetica Neue"/>
                <a:ea typeface="Helvetica Neue"/>
                <a:cs typeface="Helvetica Neue"/>
              </a:defRPr>
            </a:defPPr>
            <a:lvl1pPr>
              <a:defRPr sz="1125" b="1">
                <a:solidFill>
                  <a:srgbClr val="B94F3D"/>
                </a:solidFill>
                <a:latin typeface="Helvetica Neue"/>
                <a:ea typeface="Helvetica Neue"/>
                <a:cs typeface="Helvetica Neue"/>
              </a:defRPr>
            </a:lvl1pPr>
            <a:lvl2pPr>
              <a:defRPr sz="1125" b="1">
                <a:solidFill>
                  <a:srgbClr val="B94F3D"/>
                </a:solidFill>
                <a:latin typeface="Helvetica Neue"/>
                <a:ea typeface="Helvetica Neue"/>
                <a:cs typeface="Helvetica Neue"/>
              </a:defRPr>
            </a:lvl2pPr>
            <a:lvl3pPr>
              <a:defRPr sz="1125" b="1">
                <a:solidFill>
                  <a:srgbClr val="B94F3D"/>
                </a:solidFill>
                <a:latin typeface="Helvetica Neue"/>
                <a:ea typeface="Helvetica Neue"/>
                <a:cs typeface="Helvetica Neue"/>
              </a:defRPr>
            </a:lvl3pPr>
            <a:lvl4pPr>
              <a:defRPr sz="1125" b="1">
                <a:solidFill>
                  <a:srgbClr val="B94F3D"/>
                </a:solidFill>
                <a:latin typeface="Helvetica Neue"/>
                <a:ea typeface="Helvetica Neue"/>
                <a:cs typeface="Helvetica Neue"/>
              </a:defRPr>
            </a:lvl4pPr>
            <a:lvl5pPr>
              <a:defRPr sz="1125" b="1">
                <a:solidFill>
                  <a:srgbClr val="B94F3D"/>
                </a:solidFill>
                <a:latin typeface="Helvetica Neue"/>
                <a:ea typeface="Helvetica Neue"/>
                <a:cs typeface="Helvetica Neue"/>
              </a:defRPr>
            </a:lvl5pPr>
            <a:lvl6pPr>
              <a:defRPr sz="1125" b="1">
                <a:solidFill>
                  <a:srgbClr val="B94F3D"/>
                </a:solidFill>
                <a:latin typeface="Helvetica Neue"/>
                <a:ea typeface="Helvetica Neue"/>
                <a:cs typeface="Helvetica Neue"/>
              </a:defRPr>
            </a:lvl6pPr>
            <a:lvl7pPr>
              <a:defRPr sz="1125" b="1">
                <a:solidFill>
                  <a:srgbClr val="B94F3D"/>
                </a:solidFill>
                <a:latin typeface="Helvetica Neue"/>
                <a:ea typeface="Helvetica Neue"/>
                <a:cs typeface="Helvetica Neue"/>
              </a:defRPr>
            </a:lvl7pPr>
            <a:lvl8pPr>
              <a:defRPr sz="1125" b="1">
                <a:solidFill>
                  <a:srgbClr val="B94F3D"/>
                </a:solidFill>
                <a:latin typeface="Helvetica Neue"/>
                <a:ea typeface="Helvetica Neue"/>
                <a:cs typeface="Helvetica Neue"/>
              </a:defRPr>
            </a:lvl8pPr>
            <a:lvl9pPr>
              <a:defRPr sz="1125" b="1">
                <a:solidFill>
                  <a:srgbClr val="B94F3D"/>
                </a:solidFill>
                <a:latin typeface="Helvetica Neue"/>
                <a:ea typeface="Helvetica Neue"/>
                <a:cs typeface="Helvetica Neue"/>
              </a:defRPr>
            </a:lvl9pPr>
          </a:lstStyle>
          <a:p xmlns:a="http://schemas.openxmlformats.org/drawingml/2006/main">
            <a:pPr>
              <a:defRPr sz="1125" b="1">
                <a:solidFill>
                  <a:srgbClr val="B94F3D"/>
                </a:solidFill>
                <a:latin typeface="Helvetica Neue"/>
                <a:ea typeface="Helvetica Neue"/>
                <a:cs typeface="Helvetica Neue"/>
              </a:defRPr>
            </a:pPr>
            <a:r>
              <a:rPr sz="1125" b="1">
                <a:solidFill>
                  <a:srgbClr val="B94F3D"/>
                </a:solidFill>
                <a:latin typeface="Helvetica Neue"/>
                <a:ea typeface="Helvetica Neue"/>
                <a:cs typeface="Helvetica Neue"/>
              </a:rPr>
              <a:t>Use current orders, facility policy, and authorized scope when applying this information.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AA5B4E4F-A933-40D0-B7E6-7FE68833AA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5772150"/>
            <a:ext cx="101917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97619"/>
          </a:bodyPr>
          <a:lstStyle xmlns:a="http://schemas.openxmlformats.org/drawingml/2006/main">
            <a:defPPr>
              <a:defRPr sz="1050" b="1">
                <a:solidFill>
                  <a:srgbClr val="237B82"/>
                </a:solidFill>
                <a:latin typeface="Helvetica Neue"/>
                <a:ea typeface="Helvetica Neue"/>
                <a:cs typeface="Helvetica Neue"/>
              </a:defRPr>
            </a:defPPr>
            <a:lvl1pPr>
              <a:defRPr sz="1050" b="1">
                <a:solidFill>
                  <a:srgbClr val="237B82"/>
                </a:solidFill>
                <a:latin typeface="Helvetica Neue"/>
                <a:ea typeface="Helvetica Neue"/>
                <a:cs typeface="Helvetica Neue"/>
              </a:defRPr>
            </a:lvl1pPr>
            <a:lvl2pPr>
              <a:defRPr sz="1050" b="1">
                <a:solidFill>
                  <a:srgbClr val="237B82"/>
                </a:solidFill>
                <a:latin typeface="Helvetica Neue"/>
                <a:ea typeface="Helvetica Neue"/>
                <a:cs typeface="Helvetica Neue"/>
              </a:defRPr>
            </a:lvl2pPr>
            <a:lvl3pPr>
              <a:defRPr sz="1050" b="1">
                <a:solidFill>
                  <a:srgbClr val="237B82"/>
                </a:solidFill>
                <a:latin typeface="Helvetica Neue"/>
                <a:ea typeface="Helvetica Neue"/>
                <a:cs typeface="Helvetica Neue"/>
              </a:defRPr>
            </a:lvl3pPr>
            <a:lvl4pPr>
              <a:defRPr sz="1050" b="1">
                <a:solidFill>
                  <a:srgbClr val="237B82"/>
                </a:solidFill>
                <a:latin typeface="Helvetica Neue"/>
                <a:ea typeface="Helvetica Neue"/>
                <a:cs typeface="Helvetica Neue"/>
              </a:defRPr>
            </a:lvl4pPr>
            <a:lvl5pPr>
              <a:defRPr sz="1050" b="1">
                <a:solidFill>
                  <a:srgbClr val="237B82"/>
                </a:solidFill>
                <a:latin typeface="Helvetica Neue"/>
                <a:ea typeface="Helvetica Neue"/>
                <a:cs typeface="Helvetica Neue"/>
              </a:defRPr>
            </a:lvl5pPr>
            <a:lvl6pPr>
              <a:defRPr sz="1050" b="1">
                <a:solidFill>
                  <a:srgbClr val="237B82"/>
                </a:solidFill>
                <a:latin typeface="Helvetica Neue"/>
                <a:ea typeface="Helvetica Neue"/>
                <a:cs typeface="Helvetica Neue"/>
              </a:defRPr>
            </a:lvl6pPr>
            <a:lvl7pPr>
              <a:defRPr sz="1050" b="1">
                <a:solidFill>
                  <a:srgbClr val="237B82"/>
                </a:solidFill>
                <a:latin typeface="Helvetica Neue"/>
                <a:ea typeface="Helvetica Neue"/>
                <a:cs typeface="Helvetica Neue"/>
              </a:defRPr>
            </a:lvl7pPr>
            <a:lvl8pPr>
              <a:defRPr sz="1050" b="1">
                <a:solidFill>
                  <a:srgbClr val="237B82"/>
                </a:solidFill>
                <a:latin typeface="Helvetica Neue"/>
                <a:ea typeface="Helvetica Neue"/>
                <a:cs typeface="Helvetica Neue"/>
              </a:defRPr>
            </a:lvl8pPr>
            <a:lvl9pPr>
              <a:defRPr sz="1050" b="1">
                <a:solidFill>
                  <a:srgbClr val="237B82"/>
                </a:solidFill>
                <a:latin typeface="Helvetica Neue"/>
                <a:ea typeface="Helvetica Neue"/>
                <a:cs typeface="Helvetica Neue"/>
              </a:defRPr>
            </a:lvl9pPr>
          </a:lstStyle>
          <a:p xmlns:a="http://schemas.openxmlformats.org/drawingml/2006/main">
            <a:pPr>
              <a:defRPr sz="1050" b="1">
                <a:solidFill>
                  <a:srgbClr val="237B82"/>
                </a:solidFill>
                <a:latin typeface="Helvetica Neue"/>
                <a:ea typeface="Helvetica Neue"/>
                <a:cs typeface="Helvetica Neue"/>
              </a:defRPr>
            </a:pPr>
            <a:r>
              <a:rPr sz="1050" b="1">
                <a:solidFill>
                  <a:srgbClr val="237B82"/>
                </a:solidFill>
                <a:latin typeface="Helvetica Neue"/>
                <a:ea typeface="Helvetica Neue"/>
                <a:cs typeface="Helvetica Neue"/>
              </a:rPr>
              <a:t>Manual page 58</a:t>
            </a:r>
          </a:p>
        </p:txBody>
      </p:sp>
    </p:spTree>
    <p:extLst>
      <p:ext uri="{BB962C8B-B14F-4D97-AF65-F5344CB8AC3E}">
        <p14:creationId xmlns:p14="http://schemas.microsoft.com/office/powerpoint/2010/main" val="5406366"/>
      </p:ext>
    </p:extLst>
  </p:cSld>
</p:sld>
</file>

<file path=ppt/slides/slide58.xml><?xml version="1.0" encoding="utf-8"?>
<p:sld xmlns:p="http://schemas.openxmlformats.org/presentationml/2006/main">
  <p:cSld>
    <p:bg>
      <p:bgPr>
        <a:solidFill xmlns:a="http://schemas.openxmlformats.org/drawingml/2006/main">
          <a:srgbClr val="F7F4EE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96232599-0017-4041-A2FC-713F90624B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2095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37B82"/>
          </a:solidFill>
          <a:ln xmlns:a="http://schemas.openxmlformats.org/drawingml/2006/main" w="0">
            <a:solidFill>
              <a:srgbClr val="237B82"/>
            </a:solidFill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4A4CF01D-E1C1-439D-A857-6439F3285B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00050"/>
            <a:ext cx="10001250" cy="819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>
            <a:defPPr>
              <a:defRPr sz="2700" b="1">
                <a:solidFill>
                  <a:srgbClr val="15324A"/>
                </a:solidFill>
                <a:latin typeface="Helvetica Neue"/>
                <a:ea typeface="Helvetica Neue"/>
                <a:cs typeface="Helvetica Neue"/>
              </a:defRPr>
            </a:defPPr>
            <a:lvl1pPr>
              <a:defRPr sz="2700" b="1">
                <a:solidFill>
                  <a:srgbClr val="15324A"/>
                </a:solidFill>
                <a:latin typeface="Helvetica Neue"/>
                <a:ea typeface="Helvetica Neue"/>
                <a:cs typeface="Helvetica Neue"/>
              </a:defRPr>
            </a:lvl1pPr>
            <a:lvl2pPr>
              <a:defRPr sz="2700" b="1">
                <a:solidFill>
                  <a:srgbClr val="15324A"/>
                </a:solidFill>
                <a:latin typeface="Helvetica Neue"/>
                <a:ea typeface="Helvetica Neue"/>
                <a:cs typeface="Helvetica Neue"/>
              </a:defRPr>
            </a:lvl2pPr>
            <a:lvl3pPr>
              <a:defRPr sz="2700" b="1">
                <a:solidFill>
                  <a:srgbClr val="15324A"/>
                </a:solidFill>
                <a:latin typeface="Helvetica Neue"/>
                <a:ea typeface="Helvetica Neue"/>
                <a:cs typeface="Helvetica Neue"/>
              </a:defRPr>
            </a:lvl3pPr>
            <a:lvl4pPr>
              <a:defRPr sz="2700" b="1">
                <a:solidFill>
                  <a:srgbClr val="15324A"/>
                </a:solidFill>
                <a:latin typeface="Helvetica Neue"/>
                <a:ea typeface="Helvetica Neue"/>
                <a:cs typeface="Helvetica Neue"/>
              </a:defRPr>
            </a:lvl4pPr>
            <a:lvl5pPr>
              <a:defRPr sz="2700" b="1">
                <a:solidFill>
                  <a:srgbClr val="15324A"/>
                </a:solidFill>
                <a:latin typeface="Helvetica Neue"/>
                <a:ea typeface="Helvetica Neue"/>
                <a:cs typeface="Helvetica Neue"/>
              </a:defRPr>
            </a:lvl5pPr>
            <a:lvl6pPr>
              <a:defRPr sz="2700" b="1">
                <a:solidFill>
                  <a:srgbClr val="15324A"/>
                </a:solidFill>
                <a:latin typeface="Helvetica Neue"/>
                <a:ea typeface="Helvetica Neue"/>
                <a:cs typeface="Helvetica Neue"/>
              </a:defRPr>
            </a:lvl6pPr>
            <a:lvl7pPr>
              <a:defRPr sz="2700" b="1">
                <a:solidFill>
                  <a:srgbClr val="15324A"/>
                </a:solidFill>
                <a:latin typeface="Helvetica Neue"/>
                <a:ea typeface="Helvetica Neue"/>
                <a:cs typeface="Helvetica Neue"/>
              </a:defRPr>
            </a:lvl7pPr>
            <a:lvl8pPr>
              <a:defRPr sz="2700" b="1">
                <a:solidFill>
                  <a:srgbClr val="15324A"/>
                </a:solidFill>
                <a:latin typeface="Helvetica Neue"/>
                <a:ea typeface="Helvetica Neue"/>
                <a:cs typeface="Helvetica Neue"/>
              </a:defRPr>
            </a:lvl8pPr>
            <a:lvl9pPr>
              <a:defRPr sz="2700" b="1">
                <a:solidFill>
                  <a:srgbClr val="15324A"/>
                </a:solidFill>
                <a:latin typeface="Helvetica Neue"/>
                <a:ea typeface="Helvetica Neue"/>
                <a:cs typeface="Helvetica Neue"/>
              </a:defRPr>
            </a:lvl9pPr>
          </a:lstStyle>
          <a:p xmlns:a="http://schemas.openxmlformats.org/drawingml/2006/main">
            <a:pPr>
              <a:defRPr sz="2700" b="1">
                <a:solidFill>
                  <a:srgbClr val="15324A"/>
                </a:solidFill>
                <a:latin typeface="Helvetica Neue"/>
                <a:ea typeface="Helvetica Neue"/>
                <a:cs typeface="Helvetica Neue"/>
              </a:defRPr>
            </a:pPr>
            <a:r>
              <a:rPr sz="2700" b="1">
                <a:solidFill>
                  <a:srgbClr val="15324A"/>
                </a:solidFill>
                <a:latin typeface="Helvetica Neue"/>
                <a:ea typeface="Helvetica Neue"/>
                <a:cs typeface="Helvetica Neue"/>
              </a:rPr>
              <a:t>normal saline side of the administration set.) — continued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E74FC087-5A67-4AE0-AF23-AF7AF9DB20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1257300"/>
            <a:ext cx="88582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91111"/>
          </a:bodyPr>
          <a:lstStyle xmlns:a="http://schemas.openxmlformats.org/drawingml/2006/main">
            <a:defPPr>
              <a:defRPr sz="1125" b="1">
                <a:solidFill>
                  <a:srgbClr val="237B82"/>
                </a:solidFill>
                <a:latin typeface="Helvetica Neue"/>
                <a:ea typeface="Helvetica Neue"/>
                <a:cs typeface="Helvetica Neue"/>
              </a:defRPr>
            </a:defPPr>
            <a:lvl1pPr>
              <a:defRPr sz="1125" b="1">
                <a:solidFill>
                  <a:srgbClr val="237B82"/>
                </a:solidFill>
                <a:latin typeface="Helvetica Neue"/>
                <a:ea typeface="Helvetica Neue"/>
                <a:cs typeface="Helvetica Neue"/>
              </a:defRPr>
            </a:lvl1pPr>
            <a:lvl2pPr>
              <a:defRPr sz="1125" b="1">
                <a:solidFill>
                  <a:srgbClr val="237B82"/>
                </a:solidFill>
                <a:latin typeface="Helvetica Neue"/>
                <a:ea typeface="Helvetica Neue"/>
                <a:cs typeface="Helvetica Neue"/>
              </a:defRPr>
            </a:lvl2pPr>
            <a:lvl3pPr>
              <a:defRPr sz="1125" b="1">
                <a:solidFill>
                  <a:srgbClr val="237B82"/>
                </a:solidFill>
                <a:latin typeface="Helvetica Neue"/>
                <a:ea typeface="Helvetica Neue"/>
                <a:cs typeface="Helvetica Neue"/>
              </a:defRPr>
            </a:lvl3pPr>
            <a:lvl4pPr>
              <a:defRPr sz="1125" b="1">
                <a:solidFill>
                  <a:srgbClr val="237B82"/>
                </a:solidFill>
                <a:latin typeface="Helvetica Neue"/>
                <a:ea typeface="Helvetica Neue"/>
                <a:cs typeface="Helvetica Neue"/>
              </a:defRPr>
            </a:lvl4pPr>
            <a:lvl5pPr>
              <a:defRPr sz="1125" b="1">
                <a:solidFill>
                  <a:srgbClr val="237B82"/>
                </a:solidFill>
                <a:latin typeface="Helvetica Neue"/>
                <a:ea typeface="Helvetica Neue"/>
                <a:cs typeface="Helvetica Neue"/>
              </a:defRPr>
            </a:lvl5pPr>
            <a:lvl6pPr>
              <a:defRPr sz="1125" b="1">
                <a:solidFill>
                  <a:srgbClr val="237B82"/>
                </a:solidFill>
                <a:latin typeface="Helvetica Neue"/>
                <a:ea typeface="Helvetica Neue"/>
                <a:cs typeface="Helvetica Neue"/>
              </a:defRPr>
            </a:lvl6pPr>
            <a:lvl7pPr>
              <a:defRPr sz="1125" b="1">
                <a:solidFill>
                  <a:srgbClr val="237B82"/>
                </a:solidFill>
                <a:latin typeface="Helvetica Neue"/>
                <a:ea typeface="Helvetica Neue"/>
                <a:cs typeface="Helvetica Neue"/>
              </a:defRPr>
            </a:lvl7pPr>
            <a:lvl8pPr>
              <a:defRPr sz="1125" b="1">
                <a:solidFill>
                  <a:srgbClr val="237B82"/>
                </a:solidFill>
                <a:latin typeface="Helvetica Neue"/>
                <a:ea typeface="Helvetica Neue"/>
                <a:cs typeface="Helvetica Neue"/>
              </a:defRPr>
            </a:lvl8pPr>
            <a:lvl9pPr>
              <a:defRPr sz="1125" b="1">
                <a:solidFill>
                  <a:srgbClr val="237B82"/>
                </a:solidFill>
                <a:latin typeface="Helvetica Neue"/>
                <a:ea typeface="Helvetica Neue"/>
                <a:cs typeface="Helvetica Neue"/>
              </a:defRPr>
            </a:lvl9pPr>
          </a:lstStyle>
          <a:p xmlns:a="http://schemas.openxmlformats.org/drawingml/2006/main">
            <a:pPr>
              <a:defRPr sz="1125" b="1">
                <a:solidFill>
                  <a:srgbClr val="237B82"/>
                </a:solidFill>
                <a:latin typeface="Helvetica Neue"/>
                <a:ea typeface="Helvetica Neue"/>
                <a:cs typeface="Helvetica Neue"/>
              </a:defRPr>
            </a:pPr>
            <a:r>
              <a:rPr sz="1125" b="1">
                <a:solidFill>
                  <a:srgbClr val="237B82"/>
                </a:solidFill>
                <a:latin typeface="Helvetica Neue"/>
                <a:ea typeface="Helvetica Neue"/>
                <a:cs typeface="Helvetica Neue"/>
              </a:rPr>
              <a:t>MODULE 4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E333E072-C89B-4090-AC9C-96A3B07FD4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457200"/>
            <a:ext cx="5334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>
            <a:defPPr>
              <a:defRPr sz="1200" b="1">
                <a:solidFill>
                  <a:srgbClr val="237B82"/>
                </a:solidFill>
                <a:latin typeface="Helvetica Neue"/>
                <a:ea typeface="Helvetica Neue"/>
                <a:cs typeface="Helvetica Neue"/>
              </a:defRPr>
            </a:defPPr>
            <a:lvl1pPr>
              <a:defRPr sz="1200" b="1">
                <a:solidFill>
                  <a:srgbClr val="237B82"/>
                </a:solidFill>
                <a:latin typeface="Helvetica Neue"/>
                <a:ea typeface="Helvetica Neue"/>
                <a:cs typeface="Helvetica Neue"/>
              </a:defRPr>
            </a:lvl1pPr>
            <a:lvl2pPr>
              <a:defRPr sz="1200" b="1">
                <a:solidFill>
                  <a:srgbClr val="237B82"/>
                </a:solidFill>
                <a:latin typeface="Helvetica Neue"/>
                <a:ea typeface="Helvetica Neue"/>
                <a:cs typeface="Helvetica Neue"/>
              </a:defRPr>
            </a:lvl2pPr>
            <a:lvl3pPr>
              <a:defRPr sz="1200" b="1">
                <a:solidFill>
                  <a:srgbClr val="237B82"/>
                </a:solidFill>
                <a:latin typeface="Helvetica Neue"/>
                <a:ea typeface="Helvetica Neue"/>
                <a:cs typeface="Helvetica Neue"/>
              </a:defRPr>
            </a:lvl3pPr>
            <a:lvl4pPr>
              <a:defRPr sz="1200" b="1">
                <a:solidFill>
                  <a:srgbClr val="237B82"/>
                </a:solidFill>
                <a:latin typeface="Helvetica Neue"/>
                <a:ea typeface="Helvetica Neue"/>
                <a:cs typeface="Helvetica Neue"/>
              </a:defRPr>
            </a:lvl4pPr>
            <a:lvl5pPr>
              <a:defRPr sz="1200" b="1">
                <a:solidFill>
                  <a:srgbClr val="237B82"/>
                </a:solidFill>
                <a:latin typeface="Helvetica Neue"/>
                <a:ea typeface="Helvetica Neue"/>
                <a:cs typeface="Helvetica Neue"/>
              </a:defRPr>
            </a:lvl5pPr>
            <a:lvl6pPr>
              <a:defRPr sz="1200" b="1">
                <a:solidFill>
                  <a:srgbClr val="237B82"/>
                </a:solidFill>
                <a:latin typeface="Helvetica Neue"/>
                <a:ea typeface="Helvetica Neue"/>
                <a:cs typeface="Helvetica Neue"/>
              </a:defRPr>
            </a:lvl6pPr>
            <a:lvl7pPr>
              <a:defRPr sz="1200" b="1">
                <a:solidFill>
                  <a:srgbClr val="237B82"/>
                </a:solidFill>
                <a:latin typeface="Helvetica Neue"/>
                <a:ea typeface="Helvetica Neue"/>
                <a:cs typeface="Helvetica Neue"/>
              </a:defRPr>
            </a:lvl7pPr>
            <a:lvl8pPr>
              <a:defRPr sz="1200" b="1">
                <a:solidFill>
                  <a:srgbClr val="237B82"/>
                </a:solidFill>
                <a:latin typeface="Helvetica Neue"/>
                <a:ea typeface="Helvetica Neue"/>
                <a:cs typeface="Helvetica Neue"/>
              </a:defRPr>
            </a:lvl8pPr>
            <a:lvl9pPr>
              <a:defRPr sz="1200" b="1">
                <a:solidFill>
                  <a:srgbClr val="237B82"/>
                </a:solidFill>
                <a:latin typeface="Helvetica Neue"/>
                <a:ea typeface="Helvetica Neue"/>
                <a:cs typeface="Helvetica Neue"/>
              </a:defRPr>
            </a:lvl9pPr>
          </a:lstStyle>
          <a:p xmlns:a="http://schemas.openxmlformats.org/drawingml/2006/main">
            <a:pPr>
              <a:defRPr sz="1200" b="1">
                <a:solidFill>
                  <a:srgbClr val="237B82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00" b="1">
                <a:solidFill>
                  <a:srgbClr val="237B82"/>
                </a:solidFill>
                <a:latin typeface="Helvetica Neue"/>
                <a:ea typeface="Helvetica Neue"/>
                <a:cs typeface="Helvetica Neue"/>
              </a:rPr>
              <a:t>58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8371D36B-4FE8-4D92-A35B-1C652DD876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1762125"/>
            <a:ext cx="10287000" cy="409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>
            <a:defPPr>
              <a:defRPr sz="2100">
                <a:solidFill>
                  <a:srgbClr val="13212D"/>
                </a:solidFill>
                <a:latin typeface="Helvetica Neue"/>
                <a:ea typeface="Helvetica Neue"/>
                <a:cs typeface="Helvetica Neue"/>
              </a:defRPr>
            </a:defPPr>
            <a:lvl1pPr>
              <a:defRPr sz="2100">
                <a:solidFill>
                  <a:srgbClr val="13212D"/>
                </a:solidFill>
                <a:latin typeface="Helvetica Neue"/>
                <a:ea typeface="Helvetica Neue"/>
                <a:cs typeface="Helvetica Neue"/>
              </a:defRPr>
            </a:lvl1pPr>
            <a:lvl2pPr>
              <a:defRPr sz="2100">
                <a:solidFill>
                  <a:srgbClr val="13212D"/>
                </a:solidFill>
                <a:latin typeface="Helvetica Neue"/>
                <a:ea typeface="Helvetica Neue"/>
                <a:cs typeface="Helvetica Neue"/>
              </a:defRPr>
            </a:lvl2pPr>
            <a:lvl3pPr>
              <a:defRPr sz="2100">
                <a:solidFill>
                  <a:srgbClr val="13212D"/>
                </a:solidFill>
                <a:latin typeface="Helvetica Neue"/>
                <a:ea typeface="Helvetica Neue"/>
                <a:cs typeface="Helvetica Neue"/>
              </a:defRPr>
            </a:lvl3pPr>
            <a:lvl4pPr>
              <a:defRPr sz="2100">
                <a:solidFill>
                  <a:srgbClr val="13212D"/>
                </a:solidFill>
                <a:latin typeface="Helvetica Neue"/>
                <a:ea typeface="Helvetica Neue"/>
                <a:cs typeface="Helvetica Neue"/>
              </a:defRPr>
            </a:lvl4pPr>
            <a:lvl5pPr>
              <a:defRPr sz="2100">
                <a:solidFill>
                  <a:srgbClr val="13212D"/>
                </a:solidFill>
                <a:latin typeface="Helvetica Neue"/>
                <a:ea typeface="Helvetica Neue"/>
                <a:cs typeface="Helvetica Neue"/>
              </a:defRPr>
            </a:lvl5pPr>
            <a:lvl6pPr>
              <a:defRPr sz="2100">
                <a:solidFill>
                  <a:srgbClr val="13212D"/>
                </a:solidFill>
                <a:latin typeface="Helvetica Neue"/>
                <a:ea typeface="Helvetica Neue"/>
                <a:cs typeface="Helvetica Neue"/>
              </a:defRPr>
            </a:lvl6pPr>
            <a:lvl7pPr>
              <a:defRPr sz="2100">
                <a:solidFill>
                  <a:srgbClr val="13212D"/>
                </a:solidFill>
                <a:latin typeface="Helvetica Neue"/>
                <a:ea typeface="Helvetica Neue"/>
                <a:cs typeface="Helvetica Neue"/>
              </a:defRPr>
            </a:lvl7pPr>
            <a:lvl8pPr>
              <a:defRPr sz="2100">
                <a:solidFill>
                  <a:srgbClr val="13212D"/>
                </a:solidFill>
                <a:latin typeface="Helvetica Neue"/>
                <a:ea typeface="Helvetica Neue"/>
                <a:cs typeface="Helvetica Neue"/>
              </a:defRPr>
            </a:lvl8pPr>
            <a:lvl9pPr>
              <a:defRPr sz="2100">
                <a:solidFill>
                  <a:srgbClr val="13212D"/>
                </a:solidFill>
                <a:latin typeface="Helvetica Neue"/>
                <a:ea typeface="Helvetica Neue"/>
                <a:cs typeface="Helvetica Neue"/>
              </a:defRPr>
            </a:lvl9pPr>
          </a:lstStyle>
          <a:p xmlns:a="http://schemas.openxmlformats.org/drawingml/2006/main">
            <a:pPr marL="279400" indent="-127000">
              <a:spcAft>
                <a:spcPts val="1300"/>
              </a:spcAft>
              <a:buChar char="•"/>
              <a:defRPr sz="2100">
                <a:solidFill>
                  <a:srgbClr val="13212D"/>
                </a:solidFill>
                <a:latin typeface="Helvetica Neue"/>
                <a:ea typeface="Helvetica Neue"/>
                <a:cs typeface="Helvetica Neue"/>
              </a:defRPr>
            </a:pPr>
            <a:r>
              <a:rPr sz="2100">
                <a:solidFill>
                  <a:srgbClr val="13212D"/>
                </a:solidFill>
                <a:latin typeface="Helvetica Neue"/>
                <a:ea typeface="Helvetica Neue"/>
                <a:cs typeface="Helvetica Neue"/>
              </a:rPr>
              <a:t>Symptoms - Urticaria (hives), itching, chills, fever, nausea, vomiting, rare facial or throat edema.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C7F06F88-1172-4250-87B6-2ACC72B919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6115050"/>
            <a:ext cx="101917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>
            <a:defPPr>
              <a:defRPr sz="1125" b="1">
                <a:solidFill>
                  <a:srgbClr val="B94F3D"/>
                </a:solidFill>
                <a:latin typeface="Helvetica Neue"/>
                <a:ea typeface="Helvetica Neue"/>
                <a:cs typeface="Helvetica Neue"/>
              </a:defRPr>
            </a:defPPr>
            <a:lvl1pPr>
              <a:defRPr sz="1125" b="1">
                <a:solidFill>
                  <a:srgbClr val="B94F3D"/>
                </a:solidFill>
                <a:latin typeface="Helvetica Neue"/>
                <a:ea typeface="Helvetica Neue"/>
                <a:cs typeface="Helvetica Neue"/>
              </a:defRPr>
            </a:lvl1pPr>
            <a:lvl2pPr>
              <a:defRPr sz="1125" b="1">
                <a:solidFill>
                  <a:srgbClr val="B94F3D"/>
                </a:solidFill>
                <a:latin typeface="Helvetica Neue"/>
                <a:ea typeface="Helvetica Neue"/>
                <a:cs typeface="Helvetica Neue"/>
              </a:defRPr>
            </a:lvl2pPr>
            <a:lvl3pPr>
              <a:defRPr sz="1125" b="1">
                <a:solidFill>
                  <a:srgbClr val="B94F3D"/>
                </a:solidFill>
                <a:latin typeface="Helvetica Neue"/>
                <a:ea typeface="Helvetica Neue"/>
                <a:cs typeface="Helvetica Neue"/>
              </a:defRPr>
            </a:lvl3pPr>
            <a:lvl4pPr>
              <a:defRPr sz="1125" b="1">
                <a:solidFill>
                  <a:srgbClr val="B94F3D"/>
                </a:solidFill>
                <a:latin typeface="Helvetica Neue"/>
                <a:ea typeface="Helvetica Neue"/>
                <a:cs typeface="Helvetica Neue"/>
              </a:defRPr>
            </a:lvl4pPr>
            <a:lvl5pPr>
              <a:defRPr sz="1125" b="1">
                <a:solidFill>
                  <a:srgbClr val="B94F3D"/>
                </a:solidFill>
                <a:latin typeface="Helvetica Neue"/>
                <a:ea typeface="Helvetica Neue"/>
                <a:cs typeface="Helvetica Neue"/>
              </a:defRPr>
            </a:lvl5pPr>
            <a:lvl6pPr>
              <a:defRPr sz="1125" b="1">
                <a:solidFill>
                  <a:srgbClr val="B94F3D"/>
                </a:solidFill>
                <a:latin typeface="Helvetica Neue"/>
                <a:ea typeface="Helvetica Neue"/>
                <a:cs typeface="Helvetica Neue"/>
              </a:defRPr>
            </a:lvl6pPr>
            <a:lvl7pPr>
              <a:defRPr sz="1125" b="1">
                <a:solidFill>
                  <a:srgbClr val="B94F3D"/>
                </a:solidFill>
                <a:latin typeface="Helvetica Neue"/>
                <a:ea typeface="Helvetica Neue"/>
                <a:cs typeface="Helvetica Neue"/>
              </a:defRPr>
            </a:lvl7pPr>
            <a:lvl8pPr>
              <a:defRPr sz="1125" b="1">
                <a:solidFill>
                  <a:srgbClr val="B94F3D"/>
                </a:solidFill>
                <a:latin typeface="Helvetica Neue"/>
                <a:ea typeface="Helvetica Neue"/>
                <a:cs typeface="Helvetica Neue"/>
              </a:defRPr>
            </a:lvl8pPr>
            <a:lvl9pPr>
              <a:defRPr sz="1125" b="1">
                <a:solidFill>
                  <a:srgbClr val="B94F3D"/>
                </a:solidFill>
                <a:latin typeface="Helvetica Neue"/>
                <a:ea typeface="Helvetica Neue"/>
                <a:cs typeface="Helvetica Neue"/>
              </a:defRPr>
            </a:lvl9pPr>
          </a:lstStyle>
          <a:p xmlns:a="http://schemas.openxmlformats.org/drawingml/2006/main">
            <a:pPr>
              <a:defRPr sz="1125" b="1">
                <a:solidFill>
                  <a:srgbClr val="B94F3D"/>
                </a:solidFill>
                <a:latin typeface="Helvetica Neue"/>
                <a:ea typeface="Helvetica Neue"/>
                <a:cs typeface="Helvetica Neue"/>
              </a:defRPr>
            </a:pPr>
            <a:r>
              <a:rPr sz="1125" b="1">
                <a:solidFill>
                  <a:srgbClr val="B94F3D"/>
                </a:solidFill>
                <a:latin typeface="Helvetica Neue"/>
                <a:ea typeface="Helvetica Neue"/>
                <a:cs typeface="Helvetica Neue"/>
              </a:rPr>
              <a:t>Use current orders, facility policy, and authorized scope when applying this information.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767F0014-9BD7-453B-9496-E84379B856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5772150"/>
            <a:ext cx="101917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97619"/>
          </a:bodyPr>
          <a:lstStyle xmlns:a="http://schemas.openxmlformats.org/drawingml/2006/main">
            <a:defPPr>
              <a:defRPr sz="1050" b="1">
                <a:solidFill>
                  <a:srgbClr val="237B82"/>
                </a:solidFill>
                <a:latin typeface="Helvetica Neue"/>
                <a:ea typeface="Helvetica Neue"/>
                <a:cs typeface="Helvetica Neue"/>
              </a:defRPr>
            </a:defPPr>
            <a:lvl1pPr>
              <a:defRPr sz="1050" b="1">
                <a:solidFill>
                  <a:srgbClr val="237B82"/>
                </a:solidFill>
                <a:latin typeface="Helvetica Neue"/>
                <a:ea typeface="Helvetica Neue"/>
                <a:cs typeface="Helvetica Neue"/>
              </a:defRPr>
            </a:lvl1pPr>
            <a:lvl2pPr>
              <a:defRPr sz="1050" b="1">
                <a:solidFill>
                  <a:srgbClr val="237B82"/>
                </a:solidFill>
                <a:latin typeface="Helvetica Neue"/>
                <a:ea typeface="Helvetica Neue"/>
                <a:cs typeface="Helvetica Neue"/>
              </a:defRPr>
            </a:lvl2pPr>
            <a:lvl3pPr>
              <a:defRPr sz="1050" b="1">
                <a:solidFill>
                  <a:srgbClr val="237B82"/>
                </a:solidFill>
                <a:latin typeface="Helvetica Neue"/>
                <a:ea typeface="Helvetica Neue"/>
                <a:cs typeface="Helvetica Neue"/>
              </a:defRPr>
            </a:lvl3pPr>
            <a:lvl4pPr>
              <a:defRPr sz="1050" b="1">
                <a:solidFill>
                  <a:srgbClr val="237B82"/>
                </a:solidFill>
                <a:latin typeface="Helvetica Neue"/>
                <a:ea typeface="Helvetica Neue"/>
                <a:cs typeface="Helvetica Neue"/>
              </a:defRPr>
            </a:lvl4pPr>
            <a:lvl5pPr>
              <a:defRPr sz="1050" b="1">
                <a:solidFill>
                  <a:srgbClr val="237B82"/>
                </a:solidFill>
                <a:latin typeface="Helvetica Neue"/>
                <a:ea typeface="Helvetica Neue"/>
                <a:cs typeface="Helvetica Neue"/>
              </a:defRPr>
            </a:lvl5pPr>
            <a:lvl6pPr>
              <a:defRPr sz="1050" b="1">
                <a:solidFill>
                  <a:srgbClr val="237B82"/>
                </a:solidFill>
                <a:latin typeface="Helvetica Neue"/>
                <a:ea typeface="Helvetica Neue"/>
                <a:cs typeface="Helvetica Neue"/>
              </a:defRPr>
            </a:lvl6pPr>
            <a:lvl7pPr>
              <a:defRPr sz="1050" b="1">
                <a:solidFill>
                  <a:srgbClr val="237B82"/>
                </a:solidFill>
                <a:latin typeface="Helvetica Neue"/>
                <a:ea typeface="Helvetica Neue"/>
                <a:cs typeface="Helvetica Neue"/>
              </a:defRPr>
            </a:lvl7pPr>
            <a:lvl8pPr>
              <a:defRPr sz="1050" b="1">
                <a:solidFill>
                  <a:srgbClr val="237B82"/>
                </a:solidFill>
                <a:latin typeface="Helvetica Neue"/>
                <a:ea typeface="Helvetica Neue"/>
                <a:cs typeface="Helvetica Neue"/>
              </a:defRPr>
            </a:lvl8pPr>
            <a:lvl9pPr>
              <a:defRPr sz="1050" b="1">
                <a:solidFill>
                  <a:srgbClr val="237B82"/>
                </a:solidFill>
                <a:latin typeface="Helvetica Neue"/>
                <a:ea typeface="Helvetica Neue"/>
                <a:cs typeface="Helvetica Neue"/>
              </a:defRPr>
            </a:lvl9pPr>
          </a:lstStyle>
          <a:p xmlns:a="http://schemas.openxmlformats.org/drawingml/2006/main">
            <a:pPr>
              <a:defRPr sz="1050" b="1">
                <a:solidFill>
                  <a:srgbClr val="237B82"/>
                </a:solidFill>
                <a:latin typeface="Helvetica Neue"/>
                <a:ea typeface="Helvetica Neue"/>
                <a:cs typeface="Helvetica Neue"/>
              </a:defRPr>
            </a:pPr>
            <a:r>
              <a:rPr sz="1050" b="1">
                <a:solidFill>
                  <a:srgbClr val="237B82"/>
                </a:solidFill>
                <a:latin typeface="Helvetica Neue"/>
                <a:ea typeface="Helvetica Neue"/>
                <a:cs typeface="Helvetica Neue"/>
              </a:rPr>
              <a:t>Manual page 58</a:t>
            </a:r>
          </a:p>
        </p:txBody>
      </p:sp>
    </p:spTree>
    <p:extLst>
      <p:ext uri="{BB962C8B-B14F-4D97-AF65-F5344CB8AC3E}">
        <p14:creationId xmlns:p14="http://schemas.microsoft.com/office/powerpoint/2010/main" val="1947425008"/>
      </p:ext>
    </p:extLst>
  </p:cSld>
</p:sld>
</file>

<file path=ppt/slides/slide59.xml><?xml version="1.0" encoding="utf-8"?>
<p:sld xmlns:p="http://schemas.openxmlformats.org/presentationml/2006/main">
  <p:cSld>
    <p:bg>
      <p:bgPr>
        <a:solidFill xmlns:a="http://schemas.openxmlformats.org/drawingml/2006/main">
          <a:srgbClr val="F7F4EE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7785A451-EC21-408D-BFE6-D678BB011D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2095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37B82"/>
          </a:solidFill>
          <a:ln xmlns:a="http://schemas.openxmlformats.org/drawingml/2006/main" w="0">
            <a:solidFill>
              <a:srgbClr val="237B82"/>
            </a:solidFill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3D737F6F-DB2E-4CAD-A5F1-1F453216E8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00050"/>
            <a:ext cx="10001250" cy="819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88426"/>
          </a:bodyPr>
          <a:lstStyle xmlns:a="http://schemas.openxmlformats.org/drawingml/2006/main">
            <a:defPPr>
              <a:defRPr sz="2700" b="1">
                <a:solidFill>
                  <a:srgbClr val="15324A"/>
                </a:solidFill>
                <a:latin typeface="Helvetica Neue"/>
                <a:ea typeface="Helvetica Neue"/>
                <a:cs typeface="Helvetica Neue"/>
              </a:defRPr>
            </a:defPPr>
            <a:lvl1pPr>
              <a:defRPr sz="2700" b="1">
                <a:solidFill>
                  <a:srgbClr val="15324A"/>
                </a:solidFill>
                <a:latin typeface="Helvetica Neue"/>
                <a:ea typeface="Helvetica Neue"/>
                <a:cs typeface="Helvetica Neue"/>
              </a:defRPr>
            </a:lvl1pPr>
            <a:lvl2pPr>
              <a:defRPr sz="2700" b="1">
                <a:solidFill>
                  <a:srgbClr val="15324A"/>
                </a:solidFill>
                <a:latin typeface="Helvetica Neue"/>
                <a:ea typeface="Helvetica Neue"/>
                <a:cs typeface="Helvetica Neue"/>
              </a:defRPr>
            </a:lvl2pPr>
            <a:lvl3pPr>
              <a:defRPr sz="2700" b="1">
                <a:solidFill>
                  <a:srgbClr val="15324A"/>
                </a:solidFill>
                <a:latin typeface="Helvetica Neue"/>
                <a:ea typeface="Helvetica Neue"/>
                <a:cs typeface="Helvetica Neue"/>
              </a:defRPr>
            </a:lvl3pPr>
            <a:lvl4pPr>
              <a:defRPr sz="2700" b="1">
                <a:solidFill>
                  <a:srgbClr val="15324A"/>
                </a:solidFill>
                <a:latin typeface="Helvetica Neue"/>
                <a:ea typeface="Helvetica Neue"/>
                <a:cs typeface="Helvetica Neue"/>
              </a:defRPr>
            </a:lvl4pPr>
            <a:lvl5pPr>
              <a:defRPr sz="2700" b="1">
                <a:solidFill>
                  <a:srgbClr val="15324A"/>
                </a:solidFill>
                <a:latin typeface="Helvetica Neue"/>
                <a:ea typeface="Helvetica Neue"/>
                <a:cs typeface="Helvetica Neue"/>
              </a:defRPr>
            </a:lvl5pPr>
            <a:lvl6pPr>
              <a:defRPr sz="2700" b="1">
                <a:solidFill>
                  <a:srgbClr val="15324A"/>
                </a:solidFill>
                <a:latin typeface="Helvetica Neue"/>
                <a:ea typeface="Helvetica Neue"/>
                <a:cs typeface="Helvetica Neue"/>
              </a:defRPr>
            </a:lvl6pPr>
            <a:lvl7pPr>
              <a:defRPr sz="2700" b="1">
                <a:solidFill>
                  <a:srgbClr val="15324A"/>
                </a:solidFill>
                <a:latin typeface="Helvetica Neue"/>
                <a:ea typeface="Helvetica Neue"/>
                <a:cs typeface="Helvetica Neue"/>
              </a:defRPr>
            </a:lvl7pPr>
            <a:lvl8pPr>
              <a:defRPr sz="2700" b="1">
                <a:solidFill>
                  <a:srgbClr val="15324A"/>
                </a:solidFill>
                <a:latin typeface="Helvetica Neue"/>
                <a:ea typeface="Helvetica Neue"/>
                <a:cs typeface="Helvetica Neue"/>
              </a:defRPr>
            </a:lvl8pPr>
            <a:lvl9pPr>
              <a:defRPr sz="2700" b="1">
                <a:solidFill>
                  <a:srgbClr val="15324A"/>
                </a:solidFill>
                <a:latin typeface="Helvetica Neue"/>
                <a:ea typeface="Helvetica Neue"/>
                <a:cs typeface="Helvetica Neue"/>
              </a:defRPr>
            </a:lvl9pPr>
          </a:lstStyle>
          <a:p xmlns:a="http://schemas.openxmlformats.org/drawingml/2006/main">
            <a:pPr>
              <a:defRPr sz="2700" b="1">
                <a:solidFill>
                  <a:srgbClr val="15324A"/>
                </a:solidFill>
                <a:latin typeface="Helvetica Neue"/>
                <a:ea typeface="Helvetica Neue"/>
                <a:cs typeface="Helvetica Neue"/>
              </a:defRPr>
            </a:pPr>
            <a:r>
              <a:rPr sz="2700" b="1">
                <a:solidFill>
                  <a:srgbClr val="15324A"/>
                </a:solidFill>
                <a:latin typeface="Helvetica Neue"/>
                <a:ea typeface="Helvetica Neue"/>
                <a:cs typeface="Helvetica Neue"/>
              </a:rPr>
              <a:t>Treatment - Stop transfusion immediately and keep the vein open with normal saline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50BFDE0A-CA48-46CB-80FD-5138A03AFB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1257300"/>
            <a:ext cx="88582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91111"/>
          </a:bodyPr>
          <a:lstStyle xmlns:a="http://schemas.openxmlformats.org/drawingml/2006/main">
            <a:defPPr>
              <a:defRPr sz="1125" b="1">
                <a:solidFill>
                  <a:srgbClr val="237B82"/>
                </a:solidFill>
                <a:latin typeface="Helvetica Neue"/>
                <a:ea typeface="Helvetica Neue"/>
                <a:cs typeface="Helvetica Neue"/>
              </a:defRPr>
            </a:defPPr>
            <a:lvl1pPr>
              <a:defRPr sz="1125" b="1">
                <a:solidFill>
                  <a:srgbClr val="237B82"/>
                </a:solidFill>
                <a:latin typeface="Helvetica Neue"/>
                <a:ea typeface="Helvetica Neue"/>
                <a:cs typeface="Helvetica Neue"/>
              </a:defRPr>
            </a:lvl1pPr>
            <a:lvl2pPr>
              <a:defRPr sz="1125" b="1">
                <a:solidFill>
                  <a:srgbClr val="237B82"/>
                </a:solidFill>
                <a:latin typeface="Helvetica Neue"/>
                <a:ea typeface="Helvetica Neue"/>
                <a:cs typeface="Helvetica Neue"/>
              </a:defRPr>
            </a:lvl2pPr>
            <a:lvl3pPr>
              <a:defRPr sz="1125" b="1">
                <a:solidFill>
                  <a:srgbClr val="237B82"/>
                </a:solidFill>
                <a:latin typeface="Helvetica Neue"/>
                <a:ea typeface="Helvetica Neue"/>
                <a:cs typeface="Helvetica Neue"/>
              </a:defRPr>
            </a:lvl3pPr>
            <a:lvl4pPr>
              <a:defRPr sz="1125" b="1">
                <a:solidFill>
                  <a:srgbClr val="237B82"/>
                </a:solidFill>
                <a:latin typeface="Helvetica Neue"/>
                <a:ea typeface="Helvetica Neue"/>
                <a:cs typeface="Helvetica Neue"/>
              </a:defRPr>
            </a:lvl4pPr>
            <a:lvl5pPr>
              <a:defRPr sz="1125" b="1">
                <a:solidFill>
                  <a:srgbClr val="237B82"/>
                </a:solidFill>
                <a:latin typeface="Helvetica Neue"/>
                <a:ea typeface="Helvetica Neue"/>
                <a:cs typeface="Helvetica Neue"/>
              </a:defRPr>
            </a:lvl5pPr>
            <a:lvl6pPr>
              <a:defRPr sz="1125" b="1">
                <a:solidFill>
                  <a:srgbClr val="237B82"/>
                </a:solidFill>
                <a:latin typeface="Helvetica Neue"/>
                <a:ea typeface="Helvetica Neue"/>
                <a:cs typeface="Helvetica Neue"/>
              </a:defRPr>
            </a:lvl6pPr>
            <a:lvl7pPr>
              <a:defRPr sz="1125" b="1">
                <a:solidFill>
                  <a:srgbClr val="237B82"/>
                </a:solidFill>
                <a:latin typeface="Helvetica Neue"/>
                <a:ea typeface="Helvetica Neue"/>
                <a:cs typeface="Helvetica Neue"/>
              </a:defRPr>
            </a:lvl7pPr>
            <a:lvl8pPr>
              <a:defRPr sz="1125" b="1">
                <a:solidFill>
                  <a:srgbClr val="237B82"/>
                </a:solidFill>
                <a:latin typeface="Helvetica Neue"/>
                <a:ea typeface="Helvetica Neue"/>
                <a:cs typeface="Helvetica Neue"/>
              </a:defRPr>
            </a:lvl8pPr>
            <a:lvl9pPr>
              <a:defRPr sz="1125" b="1">
                <a:solidFill>
                  <a:srgbClr val="237B82"/>
                </a:solidFill>
                <a:latin typeface="Helvetica Neue"/>
                <a:ea typeface="Helvetica Neue"/>
                <a:cs typeface="Helvetica Neue"/>
              </a:defRPr>
            </a:lvl9pPr>
          </a:lstStyle>
          <a:p xmlns:a="http://schemas.openxmlformats.org/drawingml/2006/main">
            <a:pPr>
              <a:defRPr sz="1125" b="1">
                <a:solidFill>
                  <a:srgbClr val="237B82"/>
                </a:solidFill>
                <a:latin typeface="Helvetica Neue"/>
                <a:ea typeface="Helvetica Neue"/>
                <a:cs typeface="Helvetica Neue"/>
              </a:defRPr>
            </a:pPr>
            <a:r>
              <a:rPr sz="1125" b="1">
                <a:solidFill>
                  <a:srgbClr val="237B82"/>
                </a:solidFill>
                <a:latin typeface="Helvetica Neue"/>
                <a:ea typeface="Helvetica Neue"/>
                <a:cs typeface="Helvetica Neue"/>
              </a:rPr>
              <a:t>MODULE 4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DB191191-9A1A-4351-B665-7689A36D41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457200"/>
            <a:ext cx="5334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>
            <a:defPPr>
              <a:defRPr sz="1200" b="1">
                <a:solidFill>
                  <a:srgbClr val="237B82"/>
                </a:solidFill>
                <a:latin typeface="Helvetica Neue"/>
                <a:ea typeface="Helvetica Neue"/>
                <a:cs typeface="Helvetica Neue"/>
              </a:defRPr>
            </a:defPPr>
            <a:lvl1pPr>
              <a:defRPr sz="1200" b="1">
                <a:solidFill>
                  <a:srgbClr val="237B82"/>
                </a:solidFill>
                <a:latin typeface="Helvetica Neue"/>
                <a:ea typeface="Helvetica Neue"/>
                <a:cs typeface="Helvetica Neue"/>
              </a:defRPr>
            </a:lvl1pPr>
            <a:lvl2pPr>
              <a:defRPr sz="1200" b="1">
                <a:solidFill>
                  <a:srgbClr val="237B82"/>
                </a:solidFill>
                <a:latin typeface="Helvetica Neue"/>
                <a:ea typeface="Helvetica Neue"/>
                <a:cs typeface="Helvetica Neue"/>
              </a:defRPr>
            </a:lvl2pPr>
            <a:lvl3pPr>
              <a:defRPr sz="1200" b="1">
                <a:solidFill>
                  <a:srgbClr val="237B82"/>
                </a:solidFill>
                <a:latin typeface="Helvetica Neue"/>
                <a:ea typeface="Helvetica Neue"/>
                <a:cs typeface="Helvetica Neue"/>
              </a:defRPr>
            </a:lvl3pPr>
            <a:lvl4pPr>
              <a:defRPr sz="1200" b="1">
                <a:solidFill>
                  <a:srgbClr val="237B82"/>
                </a:solidFill>
                <a:latin typeface="Helvetica Neue"/>
                <a:ea typeface="Helvetica Neue"/>
                <a:cs typeface="Helvetica Neue"/>
              </a:defRPr>
            </a:lvl4pPr>
            <a:lvl5pPr>
              <a:defRPr sz="1200" b="1">
                <a:solidFill>
                  <a:srgbClr val="237B82"/>
                </a:solidFill>
                <a:latin typeface="Helvetica Neue"/>
                <a:ea typeface="Helvetica Neue"/>
                <a:cs typeface="Helvetica Neue"/>
              </a:defRPr>
            </a:lvl5pPr>
            <a:lvl6pPr>
              <a:defRPr sz="1200" b="1">
                <a:solidFill>
                  <a:srgbClr val="237B82"/>
                </a:solidFill>
                <a:latin typeface="Helvetica Neue"/>
                <a:ea typeface="Helvetica Neue"/>
                <a:cs typeface="Helvetica Neue"/>
              </a:defRPr>
            </a:lvl6pPr>
            <a:lvl7pPr>
              <a:defRPr sz="1200" b="1">
                <a:solidFill>
                  <a:srgbClr val="237B82"/>
                </a:solidFill>
                <a:latin typeface="Helvetica Neue"/>
                <a:ea typeface="Helvetica Neue"/>
                <a:cs typeface="Helvetica Neue"/>
              </a:defRPr>
            </a:lvl7pPr>
            <a:lvl8pPr>
              <a:defRPr sz="1200" b="1">
                <a:solidFill>
                  <a:srgbClr val="237B82"/>
                </a:solidFill>
                <a:latin typeface="Helvetica Neue"/>
                <a:ea typeface="Helvetica Neue"/>
                <a:cs typeface="Helvetica Neue"/>
              </a:defRPr>
            </a:lvl8pPr>
            <a:lvl9pPr>
              <a:defRPr sz="1200" b="1">
                <a:solidFill>
                  <a:srgbClr val="237B82"/>
                </a:solidFill>
                <a:latin typeface="Helvetica Neue"/>
                <a:ea typeface="Helvetica Neue"/>
                <a:cs typeface="Helvetica Neue"/>
              </a:defRPr>
            </a:lvl9pPr>
          </a:lstStyle>
          <a:p xmlns:a="http://schemas.openxmlformats.org/drawingml/2006/main">
            <a:pPr>
              <a:defRPr sz="1200" b="1">
                <a:solidFill>
                  <a:srgbClr val="237B82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00" b="1">
                <a:solidFill>
                  <a:srgbClr val="237B82"/>
                </a:solidFill>
                <a:latin typeface="Helvetica Neue"/>
                <a:ea typeface="Helvetica Neue"/>
                <a:cs typeface="Helvetica Neue"/>
              </a:rPr>
              <a:t>59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3E8AE9E7-0233-4866-BF50-253919B742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1762125"/>
            <a:ext cx="10287000" cy="409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>
            <a:defPPr>
              <a:defRPr sz="1875">
                <a:solidFill>
                  <a:srgbClr val="13212D"/>
                </a:solidFill>
                <a:latin typeface="Helvetica Neue"/>
                <a:ea typeface="Helvetica Neue"/>
                <a:cs typeface="Helvetica Neue"/>
              </a:defRPr>
            </a:defPPr>
            <a:lvl1pPr>
              <a:defRPr sz="1875">
                <a:solidFill>
                  <a:srgbClr val="13212D"/>
                </a:solidFill>
                <a:latin typeface="Helvetica Neue"/>
                <a:ea typeface="Helvetica Neue"/>
                <a:cs typeface="Helvetica Neue"/>
              </a:defRPr>
            </a:lvl1pPr>
            <a:lvl2pPr>
              <a:defRPr sz="1875">
                <a:solidFill>
                  <a:srgbClr val="13212D"/>
                </a:solidFill>
                <a:latin typeface="Helvetica Neue"/>
                <a:ea typeface="Helvetica Neue"/>
                <a:cs typeface="Helvetica Neue"/>
              </a:defRPr>
            </a:lvl2pPr>
            <a:lvl3pPr>
              <a:defRPr sz="1875">
                <a:solidFill>
                  <a:srgbClr val="13212D"/>
                </a:solidFill>
                <a:latin typeface="Helvetica Neue"/>
                <a:ea typeface="Helvetica Neue"/>
                <a:cs typeface="Helvetica Neue"/>
              </a:defRPr>
            </a:lvl3pPr>
            <a:lvl4pPr>
              <a:defRPr sz="1875">
                <a:solidFill>
                  <a:srgbClr val="13212D"/>
                </a:solidFill>
                <a:latin typeface="Helvetica Neue"/>
                <a:ea typeface="Helvetica Neue"/>
                <a:cs typeface="Helvetica Neue"/>
              </a:defRPr>
            </a:lvl4pPr>
            <a:lvl5pPr>
              <a:defRPr sz="1875">
                <a:solidFill>
                  <a:srgbClr val="13212D"/>
                </a:solidFill>
                <a:latin typeface="Helvetica Neue"/>
                <a:ea typeface="Helvetica Neue"/>
                <a:cs typeface="Helvetica Neue"/>
              </a:defRPr>
            </a:lvl5pPr>
            <a:lvl6pPr>
              <a:defRPr sz="1875">
                <a:solidFill>
                  <a:srgbClr val="13212D"/>
                </a:solidFill>
                <a:latin typeface="Helvetica Neue"/>
                <a:ea typeface="Helvetica Neue"/>
                <a:cs typeface="Helvetica Neue"/>
              </a:defRPr>
            </a:lvl6pPr>
            <a:lvl7pPr>
              <a:defRPr sz="1875">
                <a:solidFill>
                  <a:srgbClr val="13212D"/>
                </a:solidFill>
                <a:latin typeface="Helvetica Neue"/>
                <a:ea typeface="Helvetica Neue"/>
                <a:cs typeface="Helvetica Neue"/>
              </a:defRPr>
            </a:lvl7pPr>
            <a:lvl8pPr>
              <a:defRPr sz="1875">
                <a:solidFill>
                  <a:srgbClr val="13212D"/>
                </a:solidFill>
                <a:latin typeface="Helvetica Neue"/>
                <a:ea typeface="Helvetica Neue"/>
                <a:cs typeface="Helvetica Neue"/>
              </a:defRPr>
            </a:lvl8pPr>
            <a:lvl9pPr>
              <a:defRPr sz="1875">
                <a:solidFill>
                  <a:srgbClr val="13212D"/>
                </a:solidFill>
                <a:latin typeface="Helvetica Neue"/>
                <a:ea typeface="Helvetica Neue"/>
                <a:cs typeface="Helvetica Neue"/>
              </a:defRPr>
            </a:lvl9pPr>
          </a:lstStyle>
          <a:p xmlns:a="http://schemas.openxmlformats.org/drawingml/2006/main">
            <a:pPr marL="279400" indent="-127000">
              <a:spcAft>
                <a:spcPts val="1300"/>
              </a:spcAft>
              <a:buChar char="•"/>
              <a:defRPr sz="1875">
                <a:solidFill>
                  <a:srgbClr val="13212D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75">
                <a:solidFill>
                  <a:srgbClr val="13212D"/>
                </a:solidFill>
                <a:latin typeface="Helvetica Neue"/>
                <a:ea typeface="Helvetica Neue"/>
                <a:cs typeface="Helvetica Neue"/>
              </a:rPr>
              <a:t>infusion.</a:t>
            </a:r>
          </a:p>
          <a:p xmlns:a="http://schemas.openxmlformats.org/drawingml/2006/main">
            <a:pPr marL="279400" indent="-127000">
              <a:spcAft>
                <a:spcPts val="1300"/>
              </a:spcAft>
              <a:buChar char="•"/>
              <a:defRPr sz="1875">
                <a:solidFill>
                  <a:srgbClr val="13212D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75">
                <a:solidFill>
                  <a:srgbClr val="13212D"/>
                </a:solidFill>
                <a:latin typeface="Helvetica Neue"/>
                <a:ea typeface="Helvetica Neue"/>
                <a:cs typeface="Helvetica Neue"/>
              </a:rPr>
              <a:t>Notify the physician.</a:t>
            </a:r>
          </a:p>
          <a:p xmlns:a="http://schemas.openxmlformats.org/drawingml/2006/main">
            <a:pPr marL="279400" indent="-127000">
              <a:spcAft>
                <a:spcPts val="1300"/>
              </a:spcAft>
              <a:buChar char="•"/>
              <a:defRPr sz="1875">
                <a:solidFill>
                  <a:srgbClr val="13212D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75">
                <a:solidFill>
                  <a:srgbClr val="13212D"/>
                </a:solidFill>
                <a:latin typeface="Helvetica Neue"/>
                <a:ea typeface="Helvetica Neue"/>
                <a:cs typeface="Helvetica Neue"/>
              </a:rPr>
              <a:t>Administer epinephrine or steroids per physician's order.</a:t>
            </a:r>
          </a:p>
          <a:p xmlns:a="http://schemas.openxmlformats.org/drawingml/2006/main">
            <a:pPr marL="279400" indent="-127000">
              <a:spcAft>
                <a:spcPts val="1300"/>
              </a:spcAft>
              <a:buChar char="•"/>
              <a:defRPr sz="1875">
                <a:solidFill>
                  <a:srgbClr val="13212D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75">
                <a:solidFill>
                  <a:srgbClr val="13212D"/>
                </a:solidFill>
                <a:latin typeface="Helvetica Neue"/>
                <a:ea typeface="Helvetica Neue"/>
                <a:cs typeface="Helvetica Neue"/>
              </a:rPr>
              <a:t>Prevention - Minimize patient's risk by ascertaining a previous history of blood allergic reactions.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E0EF0414-9A2B-4289-85AB-77930ACB9C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6115050"/>
            <a:ext cx="101917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>
            <a:defPPr>
              <a:defRPr sz="1125" b="1">
                <a:solidFill>
                  <a:srgbClr val="B94F3D"/>
                </a:solidFill>
                <a:latin typeface="Helvetica Neue"/>
                <a:ea typeface="Helvetica Neue"/>
                <a:cs typeface="Helvetica Neue"/>
              </a:defRPr>
            </a:defPPr>
            <a:lvl1pPr>
              <a:defRPr sz="1125" b="1">
                <a:solidFill>
                  <a:srgbClr val="B94F3D"/>
                </a:solidFill>
                <a:latin typeface="Helvetica Neue"/>
                <a:ea typeface="Helvetica Neue"/>
                <a:cs typeface="Helvetica Neue"/>
              </a:defRPr>
            </a:lvl1pPr>
            <a:lvl2pPr>
              <a:defRPr sz="1125" b="1">
                <a:solidFill>
                  <a:srgbClr val="B94F3D"/>
                </a:solidFill>
                <a:latin typeface="Helvetica Neue"/>
                <a:ea typeface="Helvetica Neue"/>
                <a:cs typeface="Helvetica Neue"/>
              </a:defRPr>
            </a:lvl2pPr>
            <a:lvl3pPr>
              <a:defRPr sz="1125" b="1">
                <a:solidFill>
                  <a:srgbClr val="B94F3D"/>
                </a:solidFill>
                <a:latin typeface="Helvetica Neue"/>
                <a:ea typeface="Helvetica Neue"/>
                <a:cs typeface="Helvetica Neue"/>
              </a:defRPr>
            </a:lvl3pPr>
            <a:lvl4pPr>
              <a:defRPr sz="1125" b="1">
                <a:solidFill>
                  <a:srgbClr val="B94F3D"/>
                </a:solidFill>
                <a:latin typeface="Helvetica Neue"/>
                <a:ea typeface="Helvetica Neue"/>
                <a:cs typeface="Helvetica Neue"/>
              </a:defRPr>
            </a:lvl4pPr>
            <a:lvl5pPr>
              <a:defRPr sz="1125" b="1">
                <a:solidFill>
                  <a:srgbClr val="B94F3D"/>
                </a:solidFill>
                <a:latin typeface="Helvetica Neue"/>
                <a:ea typeface="Helvetica Neue"/>
                <a:cs typeface="Helvetica Neue"/>
              </a:defRPr>
            </a:lvl5pPr>
            <a:lvl6pPr>
              <a:defRPr sz="1125" b="1">
                <a:solidFill>
                  <a:srgbClr val="B94F3D"/>
                </a:solidFill>
                <a:latin typeface="Helvetica Neue"/>
                <a:ea typeface="Helvetica Neue"/>
                <a:cs typeface="Helvetica Neue"/>
              </a:defRPr>
            </a:lvl6pPr>
            <a:lvl7pPr>
              <a:defRPr sz="1125" b="1">
                <a:solidFill>
                  <a:srgbClr val="B94F3D"/>
                </a:solidFill>
                <a:latin typeface="Helvetica Neue"/>
                <a:ea typeface="Helvetica Neue"/>
                <a:cs typeface="Helvetica Neue"/>
              </a:defRPr>
            </a:lvl7pPr>
            <a:lvl8pPr>
              <a:defRPr sz="1125" b="1">
                <a:solidFill>
                  <a:srgbClr val="B94F3D"/>
                </a:solidFill>
                <a:latin typeface="Helvetica Neue"/>
                <a:ea typeface="Helvetica Neue"/>
                <a:cs typeface="Helvetica Neue"/>
              </a:defRPr>
            </a:lvl8pPr>
            <a:lvl9pPr>
              <a:defRPr sz="1125" b="1">
                <a:solidFill>
                  <a:srgbClr val="B94F3D"/>
                </a:solidFill>
                <a:latin typeface="Helvetica Neue"/>
                <a:ea typeface="Helvetica Neue"/>
                <a:cs typeface="Helvetica Neue"/>
              </a:defRPr>
            </a:lvl9pPr>
          </a:lstStyle>
          <a:p xmlns:a="http://schemas.openxmlformats.org/drawingml/2006/main">
            <a:pPr>
              <a:defRPr sz="1125" b="1">
                <a:solidFill>
                  <a:srgbClr val="B94F3D"/>
                </a:solidFill>
                <a:latin typeface="Helvetica Neue"/>
                <a:ea typeface="Helvetica Neue"/>
                <a:cs typeface="Helvetica Neue"/>
              </a:defRPr>
            </a:pPr>
            <a:r>
              <a:rPr sz="1125" b="1">
                <a:solidFill>
                  <a:srgbClr val="B94F3D"/>
                </a:solidFill>
                <a:latin typeface="Helvetica Neue"/>
                <a:ea typeface="Helvetica Neue"/>
                <a:cs typeface="Helvetica Neue"/>
              </a:rPr>
              <a:t>Use current orders, facility policy, and authorized scope when applying this information.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A7BF4EB3-7E42-4346-B27E-775A3D9564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5772150"/>
            <a:ext cx="101917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97619"/>
          </a:bodyPr>
          <a:lstStyle xmlns:a="http://schemas.openxmlformats.org/drawingml/2006/main">
            <a:defPPr>
              <a:defRPr sz="1050" b="1">
                <a:solidFill>
                  <a:srgbClr val="237B82"/>
                </a:solidFill>
                <a:latin typeface="Helvetica Neue"/>
                <a:ea typeface="Helvetica Neue"/>
                <a:cs typeface="Helvetica Neue"/>
              </a:defRPr>
            </a:defPPr>
            <a:lvl1pPr>
              <a:defRPr sz="1050" b="1">
                <a:solidFill>
                  <a:srgbClr val="237B82"/>
                </a:solidFill>
                <a:latin typeface="Helvetica Neue"/>
                <a:ea typeface="Helvetica Neue"/>
                <a:cs typeface="Helvetica Neue"/>
              </a:defRPr>
            </a:lvl1pPr>
            <a:lvl2pPr>
              <a:defRPr sz="1050" b="1">
                <a:solidFill>
                  <a:srgbClr val="237B82"/>
                </a:solidFill>
                <a:latin typeface="Helvetica Neue"/>
                <a:ea typeface="Helvetica Neue"/>
                <a:cs typeface="Helvetica Neue"/>
              </a:defRPr>
            </a:lvl2pPr>
            <a:lvl3pPr>
              <a:defRPr sz="1050" b="1">
                <a:solidFill>
                  <a:srgbClr val="237B82"/>
                </a:solidFill>
                <a:latin typeface="Helvetica Neue"/>
                <a:ea typeface="Helvetica Neue"/>
                <a:cs typeface="Helvetica Neue"/>
              </a:defRPr>
            </a:lvl3pPr>
            <a:lvl4pPr>
              <a:defRPr sz="1050" b="1">
                <a:solidFill>
                  <a:srgbClr val="237B82"/>
                </a:solidFill>
                <a:latin typeface="Helvetica Neue"/>
                <a:ea typeface="Helvetica Neue"/>
                <a:cs typeface="Helvetica Neue"/>
              </a:defRPr>
            </a:lvl4pPr>
            <a:lvl5pPr>
              <a:defRPr sz="1050" b="1">
                <a:solidFill>
                  <a:srgbClr val="237B82"/>
                </a:solidFill>
                <a:latin typeface="Helvetica Neue"/>
                <a:ea typeface="Helvetica Neue"/>
                <a:cs typeface="Helvetica Neue"/>
              </a:defRPr>
            </a:lvl5pPr>
            <a:lvl6pPr>
              <a:defRPr sz="1050" b="1">
                <a:solidFill>
                  <a:srgbClr val="237B82"/>
                </a:solidFill>
                <a:latin typeface="Helvetica Neue"/>
                <a:ea typeface="Helvetica Neue"/>
                <a:cs typeface="Helvetica Neue"/>
              </a:defRPr>
            </a:lvl6pPr>
            <a:lvl7pPr>
              <a:defRPr sz="1050" b="1">
                <a:solidFill>
                  <a:srgbClr val="237B82"/>
                </a:solidFill>
                <a:latin typeface="Helvetica Neue"/>
                <a:ea typeface="Helvetica Neue"/>
                <a:cs typeface="Helvetica Neue"/>
              </a:defRPr>
            </a:lvl7pPr>
            <a:lvl8pPr>
              <a:defRPr sz="1050" b="1">
                <a:solidFill>
                  <a:srgbClr val="237B82"/>
                </a:solidFill>
                <a:latin typeface="Helvetica Neue"/>
                <a:ea typeface="Helvetica Neue"/>
                <a:cs typeface="Helvetica Neue"/>
              </a:defRPr>
            </a:lvl8pPr>
            <a:lvl9pPr>
              <a:defRPr sz="1050" b="1">
                <a:solidFill>
                  <a:srgbClr val="237B82"/>
                </a:solidFill>
                <a:latin typeface="Helvetica Neue"/>
                <a:ea typeface="Helvetica Neue"/>
                <a:cs typeface="Helvetica Neue"/>
              </a:defRPr>
            </a:lvl9pPr>
          </a:lstStyle>
          <a:p xmlns:a="http://schemas.openxmlformats.org/drawingml/2006/main">
            <a:pPr>
              <a:defRPr sz="1050" b="1">
                <a:solidFill>
                  <a:srgbClr val="237B82"/>
                </a:solidFill>
                <a:latin typeface="Helvetica Neue"/>
                <a:ea typeface="Helvetica Neue"/>
                <a:cs typeface="Helvetica Neue"/>
              </a:defRPr>
            </a:pPr>
            <a:r>
              <a:rPr sz="1050" b="1">
                <a:solidFill>
                  <a:srgbClr val="237B82"/>
                </a:solidFill>
                <a:latin typeface="Helvetica Neue"/>
                <a:ea typeface="Helvetica Neue"/>
                <a:cs typeface="Helvetica Neue"/>
              </a:rPr>
              <a:t>Manual page 59</a:t>
            </a:r>
          </a:p>
        </p:txBody>
      </p:sp>
    </p:spTree>
    <p:extLst>
      <p:ext uri="{BB962C8B-B14F-4D97-AF65-F5344CB8AC3E}">
        <p14:creationId xmlns:p14="http://schemas.microsoft.com/office/powerpoint/2010/main" val="779560884"/>
      </p:ext>
    </p:extLst>
  </p:cSld>
</p:sld>
</file>

<file path=ppt/slides/slide60.xml><?xml version="1.0" encoding="utf-8"?>
<p:sld xmlns:p="http://schemas.openxmlformats.org/presentationml/2006/main">
  <p:cSld>
    <p:bg>
      <p:bgPr>
        <a:solidFill xmlns:a="http://schemas.openxmlformats.org/drawingml/2006/main">
          <a:srgbClr val="F7F4EE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45A3C92D-E1AB-4575-B1CF-C92FBB76CA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2095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37B82"/>
          </a:solidFill>
          <a:ln xmlns:a="http://schemas.openxmlformats.org/drawingml/2006/main" w="0">
            <a:solidFill>
              <a:srgbClr val="237B82"/>
            </a:solidFill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A556C842-DF9B-40C5-AD17-7DBEC5D758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00050"/>
            <a:ext cx="10001250" cy="819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88426"/>
          </a:bodyPr>
          <a:lstStyle xmlns:a="http://schemas.openxmlformats.org/drawingml/2006/main">
            <a:defPPr>
              <a:defRPr sz="2700" b="1">
                <a:solidFill>
                  <a:srgbClr val="15324A"/>
                </a:solidFill>
                <a:latin typeface="Helvetica Neue"/>
                <a:ea typeface="Helvetica Neue"/>
                <a:cs typeface="Helvetica Neue"/>
              </a:defRPr>
            </a:defPPr>
            <a:lvl1pPr>
              <a:defRPr sz="2700" b="1">
                <a:solidFill>
                  <a:srgbClr val="15324A"/>
                </a:solidFill>
                <a:latin typeface="Helvetica Neue"/>
                <a:ea typeface="Helvetica Neue"/>
                <a:cs typeface="Helvetica Neue"/>
              </a:defRPr>
            </a:lvl1pPr>
            <a:lvl2pPr>
              <a:defRPr sz="2700" b="1">
                <a:solidFill>
                  <a:srgbClr val="15324A"/>
                </a:solidFill>
                <a:latin typeface="Helvetica Neue"/>
                <a:ea typeface="Helvetica Neue"/>
                <a:cs typeface="Helvetica Neue"/>
              </a:defRPr>
            </a:lvl2pPr>
            <a:lvl3pPr>
              <a:defRPr sz="2700" b="1">
                <a:solidFill>
                  <a:srgbClr val="15324A"/>
                </a:solidFill>
                <a:latin typeface="Helvetica Neue"/>
                <a:ea typeface="Helvetica Neue"/>
                <a:cs typeface="Helvetica Neue"/>
              </a:defRPr>
            </a:lvl3pPr>
            <a:lvl4pPr>
              <a:defRPr sz="2700" b="1">
                <a:solidFill>
                  <a:srgbClr val="15324A"/>
                </a:solidFill>
                <a:latin typeface="Helvetica Neue"/>
                <a:ea typeface="Helvetica Neue"/>
                <a:cs typeface="Helvetica Neue"/>
              </a:defRPr>
            </a:lvl4pPr>
            <a:lvl5pPr>
              <a:defRPr sz="2700" b="1">
                <a:solidFill>
                  <a:srgbClr val="15324A"/>
                </a:solidFill>
                <a:latin typeface="Helvetica Neue"/>
                <a:ea typeface="Helvetica Neue"/>
                <a:cs typeface="Helvetica Neue"/>
              </a:defRPr>
            </a:lvl5pPr>
            <a:lvl6pPr>
              <a:defRPr sz="2700" b="1">
                <a:solidFill>
                  <a:srgbClr val="15324A"/>
                </a:solidFill>
                <a:latin typeface="Helvetica Neue"/>
                <a:ea typeface="Helvetica Neue"/>
                <a:cs typeface="Helvetica Neue"/>
              </a:defRPr>
            </a:lvl6pPr>
            <a:lvl7pPr>
              <a:defRPr sz="2700" b="1">
                <a:solidFill>
                  <a:srgbClr val="15324A"/>
                </a:solidFill>
                <a:latin typeface="Helvetica Neue"/>
                <a:ea typeface="Helvetica Neue"/>
                <a:cs typeface="Helvetica Neue"/>
              </a:defRPr>
            </a:lvl7pPr>
            <a:lvl8pPr>
              <a:defRPr sz="2700" b="1">
                <a:solidFill>
                  <a:srgbClr val="15324A"/>
                </a:solidFill>
                <a:latin typeface="Helvetica Neue"/>
                <a:ea typeface="Helvetica Neue"/>
                <a:cs typeface="Helvetica Neue"/>
              </a:defRPr>
            </a:lvl8pPr>
            <a:lvl9pPr>
              <a:defRPr sz="2700" b="1">
                <a:solidFill>
                  <a:srgbClr val="15324A"/>
                </a:solidFill>
                <a:latin typeface="Helvetica Neue"/>
                <a:ea typeface="Helvetica Neue"/>
                <a:cs typeface="Helvetica Neue"/>
              </a:defRPr>
            </a:lvl9pPr>
          </a:lstStyle>
          <a:p xmlns:a="http://schemas.openxmlformats.org/drawingml/2006/main">
            <a:pPr>
              <a:defRPr sz="2700" b="1">
                <a:solidFill>
                  <a:srgbClr val="15324A"/>
                </a:solidFill>
                <a:latin typeface="Helvetica Neue"/>
                <a:ea typeface="Helvetica Neue"/>
                <a:cs typeface="Helvetica Neue"/>
              </a:defRPr>
            </a:pPr>
            <a:r>
              <a:rPr sz="2700" b="1">
                <a:solidFill>
                  <a:srgbClr val="15324A"/>
                </a:solidFill>
                <a:latin typeface="Helvetica Neue"/>
                <a:ea typeface="Helvetica Neue"/>
                <a:cs typeface="Helvetica Neue"/>
              </a:rPr>
              <a:t>Treatment - Stop transfusion immediately and keep the vein open with normal saline — continued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0FA49646-2ED4-47E2-9854-A9CFBDF779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1257300"/>
            <a:ext cx="88582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91111"/>
          </a:bodyPr>
          <a:lstStyle xmlns:a="http://schemas.openxmlformats.org/drawingml/2006/main">
            <a:defPPr>
              <a:defRPr sz="1125" b="1">
                <a:solidFill>
                  <a:srgbClr val="237B82"/>
                </a:solidFill>
                <a:latin typeface="Helvetica Neue"/>
                <a:ea typeface="Helvetica Neue"/>
                <a:cs typeface="Helvetica Neue"/>
              </a:defRPr>
            </a:defPPr>
            <a:lvl1pPr>
              <a:defRPr sz="1125" b="1">
                <a:solidFill>
                  <a:srgbClr val="237B82"/>
                </a:solidFill>
                <a:latin typeface="Helvetica Neue"/>
                <a:ea typeface="Helvetica Neue"/>
                <a:cs typeface="Helvetica Neue"/>
              </a:defRPr>
            </a:lvl1pPr>
            <a:lvl2pPr>
              <a:defRPr sz="1125" b="1">
                <a:solidFill>
                  <a:srgbClr val="237B82"/>
                </a:solidFill>
                <a:latin typeface="Helvetica Neue"/>
                <a:ea typeface="Helvetica Neue"/>
                <a:cs typeface="Helvetica Neue"/>
              </a:defRPr>
            </a:lvl2pPr>
            <a:lvl3pPr>
              <a:defRPr sz="1125" b="1">
                <a:solidFill>
                  <a:srgbClr val="237B82"/>
                </a:solidFill>
                <a:latin typeface="Helvetica Neue"/>
                <a:ea typeface="Helvetica Neue"/>
                <a:cs typeface="Helvetica Neue"/>
              </a:defRPr>
            </a:lvl3pPr>
            <a:lvl4pPr>
              <a:defRPr sz="1125" b="1">
                <a:solidFill>
                  <a:srgbClr val="237B82"/>
                </a:solidFill>
                <a:latin typeface="Helvetica Neue"/>
                <a:ea typeface="Helvetica Neue"/>
                <a:cs typeface="Helvetica Neue"/>
              </a:defRPr>
            </a:lvl4pPr>
            <a:lvl5pPr>
              <a:defRPr sz="1125" b="1">
                <a:solidFill>
                  <a:srgbClr val="237B82"/>
                </a:solidFill>
                <a:latin typeface="Helvetica Neue"/>
                <a:ea typeface="Helvetica Neue"/>
                <a:cs typeface="Helvetica Neue"/>
              </a:defRPr>
            </a:lvl5pPr>
            <a:lvl6pPr>
              <a:defRPr sz="1125" b="1">
                <a:solidFill>
                  <a:srgbClr val="237B82"/>
                </a:solidFill>
                <a:latin typeface="Helvetica Neue"/>
                <a:ea typeface="Helvetica Neue"/>
                <a:cs typeface="Helvetica Neue"/>
              </a:defRPr>
            </a:lvl6pPr>
            <a:lvl7pPr>
              <a:defRPr sz="1125" b="1">
                <a:solidFill>
                  <a:srgbClr val="237B82"/>
                </a:solidFill>
                <a:latin typeface="Helvetica Neue"/>
                <a:ea typeface="Helvetica Neue"/>
                <a:cs typeface="Helvetica Neue"/>
              </a:defRPr>
            </a:lvl7pPr>
            <a:lvl8pPr>
              <a:defRPr sz="1125" b="1">
                <a:solidFill>
                  <a:srgbClr val="237B82"/>
                </a:solidFill>
                <a:latin typeface="Helvetica Neue"/>
                <a:ea typeface="Helvetica Neue"/>
                <a:cs typeface="Helvetica Neue"/>
              </a:defRPr>
            </a:lvl8pPr>
            <a:lvl9pPr>
              <a:defRPr sz="1125" b="1">
                <a:solidFill>
                  <a:srgbClr val="237B82"/>
                </a:solidFill>
                <a:latin typeface="Helvetica Neue"/>
                <a:ea typeface="Helvetica Neue"/>
                <a:cs typeface="Helvetica Neue"/>
              </a:defRPr>
            </a:lvl9pPr>
          </a:lstStyle>
          <a:p xmlns:a="http://schemas.openxmlformats.org/drawingml/2006/main">
            <a:pPr>
              <a:defRPr sz="1125" b="1">
                <a:solidFill>
                  <a:srgbClr val="237B82"/>
                </a:solidFill>
                <a:latin typeface="Helvetica Neue"/>
                <a:ea typeface="Helvetica Neue"/>
                <a:cs typeface="Helvetica Neue"/>
              </a:defRPr>
            </a:pPr>
            <a:r>
              <a:rPr sz="1125" b="1">
                <a:solidFill>
                  <a:srgbClr val="237B82"/>
                </a:solidFill>
                <a:latin typeface="Helvetica Neue"/>
                <a:ea typeface="Helvetica Neue"/>
                <a:cs typeface="Helvetica Neue"/>
              </a:rPr>
              <a:t>MODULE 4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BFBBD74D-0E99-49A3-8DBA-994B79181E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457200"/>
            <a:ext cx="5334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>
            <a:defPPr>
              <a:defRPr sz="1200" b="1">
                <a:solidFill>
                  <a:srgbClr val="237B82"/>
                </a:solidFill>
                <a:latin typeface="Helvetica Neue"/>
                <a:ea typeface="Helvetica Neue"/>
                <a:cs typeface="Helvetica Neue"/>
              </a:defRPr>
            </a:defPPr>
            <a:lvl1pPr>
              <a:defRPr sz="1200" b="1">
                <a:solidFill>
                  <a:srgbClr val="237B82"/>
                </a:solidFill>
                <a:latin typeface="Helvetica Neue"/>
                <a:ea typeface="Helvetica Neue"/>
                <a:cs typeface="Helvetica Neue"/>
              </a:defRPr>
            </a:lvl1pPr>
            <a:lvl2pPr>
              <a:defRPr sz="1200" b="1">
                <a:solidFill>
                  <a:srgbClr val="237B82"/>
                </a:solidFill>
                <a:latin typeface="Helvetica Neue"/>
                <a:ea typeface="Helvetica Neue"/>
                <a:cs typeface="Helvetica Neue"/>
              </a:defRPr>
            </a:lvl2pPr>
            <a:lvl3pPr>
              <a:defRPr sz="1200" b="1">
                <a:solidFill>
                  <a:srgbClr val="237B82"/>
                </a:solidFill>
                <a:latin typeface="Helvetica Neue"/>
                <a:ea typeface="Helvetica Neue"/>
                <a:cs typeface="Helvetica Neue"/>
              </a:defRPr>
            </a:lvl3pPr>
            <a:lvl4pPr>
              <a:defRPr sz="1200" b="1">
                <a:solidFill>
                  <a:srgbClr val="237B82"/>
                </a:solidFill>
                <a:latin typeface="Helvetica Neue"/>
                <a:ea typeface="Helvetica Neue"/>
                <a:cs typeface="Helvetica Neue"/>
              </a:defRPr>
            </a:lvl4pPr>
            <a:lvl5pPr>
              <a:defRPr sz="1200" b="1">
                <a:solidFill>
                  <a:srgbClr val="237B82"/>
                </a:solidFill>
                <a:latin typeface="Helvetica Neue"/>
                <a:ea typeface="Helvetica Neue"/>
                <a:cs typeface="Helvetica Neue"/>
              </a:defRPr>
            </a:lvl5pPr>
            <a:lvl6pPr>
              <a:defRPr sz="1200" b="1">
                <a:solidFill>
                  <a:srgbClr val="237B82"/>
                </a:solidFill>
                <a:latin typeface="Helvetica Neue"/>
                <a:ea typeface="Helvetica Neue"/>
                <a:cs typeface="Helvetica Neue"/>
              </a:defRPr>
            </a:lvl6pPr>
            <a:lvl7pPr>
              <a:defRPr sz="1200" b="1">
                <a:solidFill>
                  <a:srgbClr val="237B82"/>
                </a:solidFill>
                <a:latin typeface="Helvetica Neue"/>
                <a:ea typeface="Helvetica Neue"/>
                <a:cs typeface="Helvetica Neue"/>
              </a:defRPr>
            </a:lvl7pPr>
            <a:lvl8pPr>
              <a:defRPr sz="1200" b="1">
                <a:solidFill>
                  <a:srgbClr val="237B82"/>
                </a:solidFill>
                <a:latin typeface="Helvetica Neue"/>
                <a:ea typeface="Helvetica Neue"/>
                <a:cs typeface="Helvetica Neue"/>
              </a:defRPr>
            </a:lvl8pPr>
            <a:lvl9pPr>
              <a:defRPr sz="1200" b="1">
                <a:solidFill>
                  <a:srgbClr val="237B82"/>
                </a:solidFill>
                <a:latin typeface="Helvetica Neue"/>
                <a:ea typeface="Helvetica Neue"/>
                <a:cs typeface="Helvetica Neue"/>
              </a:defRPr>
            </a:lvl9pPr>
          </a:lstStyle>
          <a:p xmlns:a="http://schemas.openxmlformats.org/drawingml/2006/main">
            <a:pPr>
              <a:defRPr sz="1200" b="1">
                <a:solidFill>
                  <a:srgbClr val="237B82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00" b="1">
                <a:solidFill>
                  <a:srgbClr val="237B82"/>
                </a:solidFill>
                <a:latin typeface="Helvetica Neue"/>
                <a:ea typeface="Helvetica Neue"/>
                <a:cs typeface="Helvetica Neue"/>
              </a:rPr>
              <a:t>60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33A9DE21-992F-4DCF-9986-742AF13D72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1762125"/>
            <a:ext cx="10287000" cy="409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>
            <a:defPPr>
              <a:defRPr sz="1875">
                <a:solidFill>
                  <a:srgbClr val="13212D"/>
                </a:solidFill>
                <a:latin typeface="Helvetica Neue"/>
                <a:ea typeface="Helvetica Neue"/>
                <a:cs typeface="Helvetica Neue"/>
              </a:defRPr>
            </a:defPPr>
            <a:lvl1pPr>
              <a:defRPr sz="1875">
                <a:solidFill>
                  <a:srgbClr val="13212D"/>
                </a:solidFill>
                <a:latin typeface="Helvetica Neue"/>
                <a:ea typeface="Helvetica Neue"/>
                <a:cs typeface="Helvetica Neue"/>
              </a:defRPr>
            </a:lvl1pPr>
            <a:lvl2pPr>
              <a:defRPr sz="1875">
                <a:solidFill>
                  <a:srgbClr val="13212D"/>
                </a:solidFill>
                <a:latin typeface="Helvetica Neue"/>
                <a:ea typeface="Helvetica Neue"/>
                <a:cs typeface="Helvetica Neue"/>
              </a:defRPr>
            </a:lvl2pPr>
            <a:lvl3pPr>
              <a:defRPr sz="1875">
                <a:solidFill>
                  <a:srgbClr val="13212D"/>
                </a:solidFill>
                <a:latin typeface="Helvetica Neue"/>
                <a:ea typeface="Helvetica Neue"/>
                <a:cs typeface="Helvetica Neue"/>
              </a:defRPr>
            </a:lvl3pPr>
            <a:lvl4pPr>
              <a:defRPr sz="1875">
                <a:solidFill>
                  <a:srgbClr val="13212D"/>
                </a:solidFill>
                <a:latin typeface="Helvetica Neue"/>
                <a:ea typeface="Helvetica Neue"/>
                <a:cs typeface="Helvetica Neue"/>
              </a:defRPr>
            </a:lvl4pPr>
            <a:lvl5pPr>
              <a:defRPr sz="1875">
                <a:solidFill>
                  <a:srgbClr val="13212D"/>
                </a:solidFill>
                <a:latin typeface="Helvetica Neue"/>
                <a:ea typeface="Helvetica Neue"/>
                <a:cs typeface="Helvetica Neue"/>
              </a:defRPr>
            </a:lvl5pPr>
            <a:lvl6pPr>
              <a:defRPr sz="1875">
                <a:solidFill>
                  <a:srgbClr val="13212D"/>
                </a:solidFill>
                <a:latin typeface="Helvetica Neue"/>
                <a:ea typeface="Helvetica Neue"/>
                <a:cs typeface="Helvetica Neue"/>
              </a:defRPr>
            </a:lvl6pPr>
            <a:lvl7pPr>
              <a:defRPr sz="1875">
                <a:solidFill>
                  <a:srgbClr val="13212D"/>
                </a:solidFill>
                <a:latin typeface="Helvetica Neue"/>
                <a:ea typeface="Helvetica Neue"/>
                <a:cs typeface="Helvetica Neue"/>
              </a:defRPr>
            </a:lvl7pPr>
            <a:lvl8pPr>
              <a:defRPr sz="1875">
                <a:solidFill>
                  <a:srgbClr val="13212D"/>
                </a:solidFill>
                <a:latin typeface="Helvetica Neue"/>
                <a:ea typeface="Helvetica Neue"/>
                <a:cs typeface="Helvetica Neue"/>
              </a:defRPr>
            </a:lvl8pPr>
            <a:lvl9pPr>
              <a:defRPr sz="1875">
                <a:solidFill>
                  <a:srgbClr val="13212D"/>
                </a:solidFill>
                <a:latin typeface="Helvetica Neue"/>
                <a:ea typeface="Helvetica Neue"/>
                <a:cs typeface="Helvetica Neue"/>
              </a:defRPr>
            </a:lvl9pPr>
          </a:lstStyle>
          <a:p xmlns:a="http://schemas.openxmlformats.org/drawingml/2006/main">
            <a:pPr marL="279400" indent="-127000">
              <a:spcAft>
                <a:spcPts val="1300"/>
              </a:spcAft>
              <a:buChar char="•"/>
              <a:defRPr sz="1875">
                <a:solidFill>
                  <a:srgbClr val="13212D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75">
                <a:solidFill>
                  <a:srgbClr val="13212D"/>
                </a:solidFill>
                <a:latin typeface="Helvetica Neue"/>
                <a:ea typeface="Helvetica Neue"/>
                <a:cs typeface="Helvetica Neue"/>
              </a:rPr>
              <a:t>His chances of experiencing this again are two in three; inform the physician.</a:t>
            </a:r>
          </a:p>
          <a:p xmlns:a="http://schemas.openxmlformats.org/drawingml/2006/main">
            <a:pPr marL="279400" indent="-127000">
              <a:spcAft>
                <a:spcPts val="1300"/>
              </a:spcAft>
              <a:buChar char="•"/>
              <a:defRPr sz="1875">
                <a:solidFill>
                  <a:srgbClr val="13212D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75">
                <a:solidFill>
                  <a:srgbClr val="13212D"/>
                </a:solidFill>
                <a:latin typeface="Helvetica Neue"/>
                <a:ea typeface="Helvetica Neue"/>
                <a:cs typeface="Helvetica Neue"/>
              </a:rPr>
              <a:t>Febrile Reactions Cause - Most commonly caused by the presence of leukocyte or thrombocyte incompatibility from previous transfusions.</a:t>
            </a:r>
          </a:p>
          <a:p xmlns:a="http://schemas.openxmlformats.org/drawingml/2006/main">
            <a:pPr marL="279400" indent="-127000">
              <a:spcAft>
                <a:spcPts val="1300"/>
              </a:spcAft>
              <a:buChar char="•"/>
              <a:defRPr sz="1875">
                <a:solidFill>
                  <a:srgbClr val="13212D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75">
                <a:solidFill>
                  <a:srgbClr val="13212D"/>
                </a:solidFill>
                <a:latin typeface="Helvetica Neue"/>
                <a:ea typeface="Helvetica Neue"/>
                <a:cs typeface="Helvetica Neue"/>
              </a:rPr>
              <a:t>Patients may also have febrile reactions from sensitization to platelet or plasma proteins from numerous transfusions.</a:t>
            </a:r>
          </a:p>
          <a:p xmlns:a="http://schemas.openxmlformats.org/drawingml/2006/main">
            <a:pPr marL="279400" indent="-127000">
              <a:spcAft>
                <a:spcPts val="1300"/>
              </a:spcAft>
              <a:buChar char="•"/>
              <a:defRPr sz="1875">
                <a:solidFill>
                  <a:srgbClr val="13212D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75">
                <a:solidFill>
                  <a:srgbClr val="13212D"/>
                </a:solidFill>
                <a:latin typeface="Helvetica Neue"/>
                <a:ea typeface="Helvetica Neue"/>
                <a:cs typeface="Helvetica Neue"/>
              </a:rPr>
              <a:t>Symptoms - Tightness in the chest, breathing difficulty, engorged neck veins, rapid pounding pulse, moist rales at lung bases, flushed feeling, or a dry cough.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3E0FE18B-9B5F-4720-8673-F6C273B2B5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6115050"/>
            <a:ext cx="101917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>
            <a:defPPr>
              <a:defRPr sz="1125" b="1">
                <a:solidFill>
                  <a:srgbClr val="B94F3D"/>
                </a:solidFill>
                <a:latin typeface="Helvetica Neue"/>
                <a:ea typeface="Helvetica Neue"/>
                <a:cs typeface="Helvetica Neue"/>
              </a:defRPr>
            </a:defPPr>
            <a:lvl1pPr>
              <a:defRPr sz="1125" b="1">
                <a:solidFill>
                  <a:srgbClr val="B94F3D"/>
                </a:solidFill>
                <a:latin typeface="Helvetica Neue"/>
                <a:ea typeface="Helvetica Neue"/>
                <a:cs typeface="Helvetica Neue"/>
              </a:defRPr>
            </a:lvl1pPr>
            <a:lvl2pPr>
              <a:defRPr sz="1125" b="1">
                <a:solidFill>
                  <a:srgbClr val="B94F3D"/>
                </a:solidFill>
                <a:latin typeface="Helvetica Neue"/>
                <a:ea typeface="Helvetica Neue"/>
                <a:cs typeface="Helvetica Neue"/>
              </a:defRPr>
            </a:lvl2pPr>
            <a:lvl3pPr>
              <a:defRPr sz="1125" b="1">
                <a:solidFill>
                  <a:srgbClr val="B94F3D"/>
                </a:solidFill>
                <a:latin typeface="Helvetica Neue"/>
                <a:ea typeface="Helvetica Neue"/>
                <a:cs typeface="Helvetica Neue"/>
              </a:defRPr>
            </a:lvl3pPr>
            <a:lvl4pPr>
              <a:defRPr sz="1125" b="1">
                <a:solidFill>
                  <a:srgbClr val="B94F3D"/>
                </a:solidFill>
                <a:latin typeface="Helvetica Neue"/>
                <a:ea typeface="Helvetica Neue"/>
                <a:cs typeface="Helvetica Neue"/>
              </a:defRPr>
            </a:lvl4pPr>
            <a:lvl5pPr>
              <a:defRPr sz="1125" b="1">
                <a:solidFill>
                  <a:srgbClr val="B94F3D"/>
                </a:solidFill>
                <a:latin typeface="Helvetica Neue"/>
                <a:ea typeface="Helvetica Neue"/>
                <a:cs typeface="Helvetica Neue"/>
              </a:defRPr>
            </a:lvl5pPr>
            <a:lvl6pPr>
              <a:defRPr sz="1125" b="1">
                <a:solidFill>
                  <a:srgbClr val="B94F3D"/>
                </a:solidFill>
                <a:latin typeface="Helvetica Neue"/>
                <a:ea typeface="Helvetica Neue"/>
                <a:cs typeface="Helvetica Neue"/>
              </a:defRPr>
            </a:lvl6pPr>
            <a:lvl7pPr>
              <a:defRPr sz="1125" b="1">
                <a:solidFill>
                  <a:srgbClr val="B94F3D"/>
                </a:solidFill>
                <a:latin typeface="Helvetica Neue"/>
                <a:ea typeface="Helvetica Neue"/>
                <a:cs typeface="Helvetica Neue"/>
              </a:defRPr>
            </a:lvl7pPr>
            <a:lvl8pPr>
              <a:defRPr sz="1125" b="1">
                <a:solidFill>
                  <a:srgbClr val="B94F3D"/>
                </a:solidFill>
                <a:latin typeface="Helvetica Neue"/>
                <a:ea typeface="Helvetica Neue"/>
                <a:cs typeface="Helvetica Neue"/>
              </a:defRPr>
            </a:lvl8pPr>
            <a:lvl9pPr>
              <a:defRPr sz="1125" b="1">
                <a:solidFill>
                  <a:srgbClr val="B94F3D"/>
                </a:solidFill>
                <a:latin typeface="Helvetica Neue"/>
                <a:ea typeface="Helvetica Neue"/>
                <a:cs typeface="Helvetica Neue"/>
              </a:defRPr>
            </a:lvl9pPr>
          </a:lstStyle>
          <a:p xmlns:a="http://schemas.openxmlformats.org/drawingml/2006/main">
            <a:pPr>
              <a:defRPr sz="1125" b="1">
                <a:solidFill>
                  <a:srgbClr val="B94F3D"/>
                </a:solidFill>
                <a:latin typeface="Helvetica Neue"/>
                <a:ea typeface="Helvetica Neue"/>
                <a:cs typeface="Helvetica Neue"/>
              </a:defRPr>
            </a:pPr>
            <a:r>
              <a:rPr sz="1125" b="1">
                <a:solidFill>
                  <a:srgbClr val="B94F3D"/>
                </a:solidFill>
                <a:latin typeface="Helvetica Neue"/>
                <a:ea typeface="Helvetica Neue"/>
                <a:cs typeface="Helvetica Neue"/>
              </a:rPr>
              <a:t>Use current orders, facility policy, and authorized scope when applying this information.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00EB8229-552E-4E4A-8898-681233A1A4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5772150"/>
            <a:ext cx="101917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97619"/>
          </a:bodyPr>
          <a:lstStyle xmlns:a="http://schemas.openxmlformats.org/drawingml/2006/main">
            <a:defPPr>
              <a:defRPr sz="1050" b="1">
                <a:solidFill>
                  <a:srgbClr val="237B82"/>
                </a:solidFill>
                <a:latin typeface="Helvetica Neue"/>
                <a:ea typeface="Helvetica Neue"/>
                <a:cs typeface="Helvetica Neue"/>
              </a:defRPr>
            </a:defPPr>
            <a:lvl1pPr>
              <a:defRPr sz="1050" b="1">
                <a:solidFill>
                  <a:srgbClr val="237B82"/>
                </a:solidFill>
                <a:latin typeface="Helvetica Neue"/>
                <a:ea typeface="Helvetica Neue"/>
                <a:cs typeface="Helvetica Neue"/>
              </a:defRPr>
            </a:lvl1pPr>
            <a:lvl2pPr>
              <a:defRPr sz="1050" b="1">
                <a:solidFill>
                  <a:srgbClr val="237B82"/>
                </a:solidFill>
                <a:latin typeface="Helvetica Neue"/>
                <a:ea typeface="Helvetica Neue"/>
                <a:cs typeface="Helvetica Neue"/>
              </a:defRPr>
            </a:lvl2pPr>
            <a:lvl3pPr>
              <a:defRPr sz="1050" b="1">
                <a:solidFill>
                  <a:srgbClr val="237B82"/>
                </a:solidFill>
                <a:latin typeface="Helvetica Neue"/>
                <a:ea typeface="Helvetica Neue"/>
                <a:cs typeface="Helvetica Neue"/>
              </a:defRPr>
            </a:lvl3pPr>
            <a:lvl4pPr>
              <a:defRPr sz="1050" b="1">
                <a:solidFill>
                  <a:srgbClr val="237B82"/>
                </a:solidFill>
                <a:latin typeface="Helvetica Neue"/>
                <a:ea typeface="Helvetica Neue"/>
                <a:cs typeface="Helvetica Neue"/>
              </a:defRPr>
            </a:lvl4pPr>
            <a:lvl5pPr>
              <a:defRPr sz="1050" b="1">
                <a:solidFill>
                  <a:srgbClr val="237B82"/>
                </a:solidFill>
                <a:latin typeface="Helvetica Neue"/>
                <a:ea typeface="Helvetica Neue"/>
                <a:cs typeface="Helvetica Neue"/>
              </a:defRPr>
            </a:lvl5pPr>
            <a:lvl6pPr>
              <a:defRPr sz="1050" b="1">
                <a:solidFill>
                  <a:srgbClr val="237B82"/>
                </a:solidFill>
                <a:latin typeface="Helvetica Neue"/>
                <a:ea typeface="Helvetica Neue"/>
                <a:cs typeface="Helvetica Neue"/>
              </a:defRPr>
            </a:lvl6pPr>
            <a:lvl7pPr>
              <a:defRPr sz="1050" b="1">
                <a:solidFill>
                  <a:srgbClr val="237B82"/>
                </a:solidFill>
                <a:latin typeface="Helvetica Neue"/>
                <a:ea typeface="Helvetica Neue"/>
                <a:cs typeface="Helvetica Neue"/>
              </a:defRPr>
            </a:lvl7pPr>
            <a:lvl8pPr>
              <a:defRPr sz="1050" b="1">
                <a:solidFill>
                  <a:srgbClr val="237B82"/>
                </a:solidFill>
                <a:latin typeface="Helvetica Neue"/>
                <a:ea typeface="Helvetica Neue"/>
                <a:cs typeface="Helvetica Neue"/>
              </a:defRPr>
            </a:lvl8pPr>
            <a:lvl9pPr>
              <a:defRPr sz="1050" b="1">
                <a:solidFill>
                  <a:srgbClr val="237B82"/>
                </a:solidFill>
                <a:latin typeface="Helvetica Neue"/>
                <a:ea typeface="Helvetica Neue"/>
                <a:cs typeface="Helvetica Neue"/>
              </a:defRPr>
            </a:lvl9pPr>
          </a:lstStyle>
          <a:p xmlns:a="http://schemas.openxmlformats.org/drawingml/2006/main">
            <a:pPr>
              <a:defRPr sz="1050" b="1">
                <a:solidFill>
                  <a:srgbClr val="237B82"/>
                </a:solidFill>
                <a:latin typeface="Helvetica Neue"/>
                <a:ea typeface="Helvetica Neue"/>
                <a:cs typeface="Helvetica Neue"/>
              </a:defRPr>
            </a:pPr>
            <a:r>
              <a:rPr sz="1050" b="1">
                <a:solidFill>
                  <a:srgbClr val="237B82"/>
                </a:solidFill>
                <a:latin typeface="Helvetica Neue"/>
                <a:ea typeface="Helvetica Neue"/>
                <a:cs typeface="Helvetica Neue"/>
              </a:rPr>
              <a:t>Manual page 59</a:t>
            </a:r>
          </a:p>
        </p:txBody>
      </p:sp>
    </p:spTree>
    <p:extLst>
      <p:ext uri="{BB962C8B-B14F-4D97-AF65-F5344CB8AC3E}">
        <p14:creationId xmlns:p14="http://schemas.microsoft.com/office/powerpoint/2010/main" val="1006702028"/>
      </p:ext>
    </p:extLst>
  </p:cSld>
</p:sld>
</file>

<file path=ppt/slides/slide61.xml><?xml version="1.0" encoding="utf-8"?>
<p:sld xmlns:p="http://schemas.openxmlformats.org/presentationml/2006/main">
  <p:cSld>
    <p:bg>
      <p:bgPr>
        <a:solidFill xmlns:a="http://schemas.openxmlformats.org/drawingml/2006/main">
          <a:srgbClr val="F7F4EE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62CB87DA-E29E-418B-A389-C50AC584DB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2095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37B82"/>
          </a:solidFill>
          <a:ln xmlns:a="http://schemas.openxmlformats.org/drawingml/2006/main" w="0">
            <a:solidFill>
              <a:srgbClr val="237B82"/>
            </a:solidFill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486E29A3-A6A2-4EA2-8E09-0CB51BC544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00050"/>
            <a:ext cx="10001250" cy="819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88426"/>
          </a:bodyPr>
          <a:lstStyle xmlns:a="http://schemas.openxmlformats.org/drawingml/2006/main">
            <a:defPPr>
              <a:defRPr sz="2700" b="1">
                <a:solidFill>
                  <a:srgbClr val="15324A"/>
                </a:solidFill>
                <a:latin typeface="Helvetica Neue"/>
                <a:ea typeface="Helvetica Neue"/>
                <a:cs typeface="Helvetica Neue"/>
              </a:defRPr>
            </a:defPPr>
            <a:lvl1pPr>
              <a:defRPr sz="2700" b="1">
                <a:solidFill>
                  <a:srgbClr val="15324A"/>
                </a:solidFill>
                <a:latin typeface="Helvetica Neue"/>
                <a:ea typeface="Helvetica Neue"/>
                <a:cs typeface="Helvetica Neue"/>
              </a:defRPr>
            </a:lvl1pPr>
            <a:lvl2pPr>
              <a:defRPr sz="2700" b="1">
                <a:solidFill>
                  <a:srgbClr val="15324A"/>
                </a:solidFill>
                <a:latin typeface="Helvetica Neue"/>
                <a:ea typeface="Helvetica Neue"/>
                <a:cs typeface="Helvetica Neue"/>
              </a:defRPr>
            </a:lvl2pPr>
            <a:lvl3pPr>
              <a:defRPr sz="2700" b="1">
                <a:solidFill>
                  <a:srgbClr val="15324A"/>
                </a:solidFill>
                <a:latin typeface="Helvetica Neue"/>
                <a:ea typeface="Helvetica Neue"/>
                <a:cs typeface="Helvetica Neue"/>
              </a:defRPr>
            </a:lvl3pPr>
            <a:lvl4pPr>
              <a:defRPr sz="2700" b="1">
                <a:solidFill>
                  <a:srgbClr val="15324A"/>
                </a:solidFill>
                <a:latin typeface="Helvetica Neue"/>
                <a:ea typeface="Helvetica Neue"/>
                <a:cs typeface="Helvetica Neue"/>
              </a:defRPr>
            </a:lvl4pPr>
            <a:lvl5pPr>
              <a:defRPr sz="2700" b="1">
                <a:solidFill>
                  <a:srgbClr val="15324A"/>
                </a:solidFill>
                <a:latin typeface="Helvetica Neue"/>
                <a:ea typeface="Helvetica Neue"/>
                <a:cs typeface="Helvetica Neue"/>
              </a:defRPr>
            </a:lvl5pPr>
            <a:lvl6pPr>
              <a:defRPr sz="2700" b="1">
                <a:solidFill>
                  <a:srgbClr val="15324A"/>
                </a:solidFill>
                <a:latin typeface="Helvetica Neue"/>
                <a:ea typeface="Helvetica Neue"/>
                <a:cs typeface="Helvetica Neue"/>
              </a:defRPr>
            </a:lvl6pPr>
            <a:lvl7pPr>
              <a:defRPr sz="2700" b="1">
                <a:solidFill>
                  <a:srgbClr val="15324A"/>
                </a:solidFill>
                <a:latin typeface="Helvetica Neue"/>
                <a:ea typeface="Helvetica Neue"/>
                <a:cs typeface="Helvetica Neue"/>
              </a:defRPr>
            </a:lvl7pPr>
            <a:lvl8pPr>
              <a:defRPr sz="2700" b="1">
                <a:solidFill>
                  <a:srgbClr val="15324A"/>
                </a:solidFill>
                <a:latin typeface="Helvetica Neue"/>
                <a:ea typeface="Helvetica Neue"/>
                <a:cs typeface="Helvetica Neue"/>
              </a:defRPr>
            </a:lvl8pPr>
            <a:lvl9pPr>
              <a:defRPr sz="2700" b="1">
                <a:solidFill>
                  <a:srgbClr val="15324A"/>
                </a:solidFill>
                <a:latin typeface="Helvetica Neue"/>
                <a:ea typeface="Helvetica Neue"/>
                <a:cs typeface="Helvetica Neue"/>
              </a:defRPr>
            </a:lvl9pPr>
          </a:lstStyle>
          <a:p xmlns:a="http://schemas.openxmlformats.org/drawingml/2006/main">
            <a:pPr>
              <a:defRPr sz="2700" b="1">
                <a:solidFill>
                  <a:srgbClr val="15324A"/>
                </a:solidFill>
                <a:latin typeface="Helvetica Neue"/>
                <a:ea typeface="Helvetica Neue"/>
                <a:cs typeface="Helvetica Neue"/>
              </a:defRPr>
            </a:pPr>
            <a:r>
              <a:rPr sz="2700" b="1">
                <a:solidFill>
                  <a:srgbClr val="15324A"/>
                </a:solidFill>
                <a:latin typeface="Helvetica Neue"/>
                <a:ea typeface="Helvetica Neue"/>
                <a:cs typeface="Helvetica Neue"/>
              </a:rPr>
              <a:t>Treatment - Stop transfusion immediately and keep the vein open with normal saline — continued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7C50E2B5-3EFB-4BE5-B3C5-0E12EE5858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1257300"/>
            <a:ext cx="88582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91111"/>
          </a:bodyPr>
          <a:lstStyle xmlns:a="http://schemas.openxmlformats.org/drawingml/2006/main">
            <a:defPPr>
              <a:defRPr sz="1125" b="1">
                <a:solidFill>
                  <a:srgbClr val="237B82"/>
                </a:solidFill>
                <a:latin typeface="Helvetica Neue"/>
                <a:ea typeface="Helvetica Neue"/>
                <a:cs typeface="Helvetica Neue"/>
              </a:defRPr>
            </a:defPPr>
            <a:lvl1pPr>
              <a:defRPr sz="1125" b="1">
                <a:solidFill>
                  <a:srgbClr val="237B82"/>
                </a:solidFill>
                <a:latin typeface="Helvetica Neue"/>
                <a:ea typeface="Helvetica Neue"/>
                <a:cs typeface="Helvetica Neue"/>
              </a:defRPr>
            </a:lvl1pPr>
            <a:lvl2pPr>
              <a:defRPr sz="1125" b="1">
                <a:solidFill>
                  <a:srgbClr val="237B82"/>
                </a:solidFill>
                <a:latin typeface="Helvetica Neue"/>
                <a:ea typeface="Helvetica Neue"/>
                <a:cs typeface="Helvetica Neue"/>
              </a:defRPr>
            </a:lvl2pPr>
            <a:lvl3pPr>
              <a:defRPr sz="1125" b="1">
                <a:solidFill>
                  <a:srgbClr val="237B82"/>
                </a:solidFill>
                <a:latin typeface="Helvetica Neue"/>
                <a:ea typeface="Helvetica Neue"/>
                <a:cs typeface="Helvetica Neue"/>
              </a:defRPr>
            </a:lvl3pPr>
            <a:lvl4pPr>
              <a:defRPr sz="1125" b="1">
                <a:solidFill>
                  <a:srgbClr val="237B82"/>
                </a:solidFill>
                <a:latin typeface="Helvetica Neue"/>
                <a:ea typeface="Helvetica Neue"/>
                <a:cs typeface="Helvetica Neue"/>
              </a:defRPr>
            </a:lvl4pPr>
            <a:lvl5pPr>
              <a:defRPr sz="1125" b="1">
                <a:solidFill>
                  <a:srgbClr val="237B82"/>
                </a:solidFill>
                <a:latin typeface="Helvetica Neue"/>
                <a:ea typeface="Helvetica Neue"/>
                <a:cs typeface="Helvetica Neue"/>
              </a:defRPr>
            </a:lvl5pPr>
            <a:lvl6pPr>
              <a:defRPr sz="1125" b="1">
                <a:solidFill>
                  <a:srgbClr val="237B82"/>
                </a:solidFill>
                <a:latin typeface="Helvetica Neue"/>
                <a:ea typeface="Helvetica Neue"/>
                <a:cs typeface="Helvetica Neue"/>
              </a:defRPr>
            </a:lvl6pPr>
            <a:lvl7pPr>
              <a:defRPr sz="1125" b="1">
                <a:solidFill>
                  <a:srgbClr val="237B82"/>
                </a:solidFill>
                <a:latin typeface="Helvetica Neue"/>
                <a:ea typeface="Helvetica Neue"/>
                <a:cs typeface="Helvetica Neue"/>
              </a:defRPr>
            </a:lvl7pPr>
            <a:lvl8pPr>
              <a:defRPr sz="1125" b="1">
                <a:solidFill>
                  <a:srgbClr val="237B82"/>
                </a:solidFill>
                <a:latin typeface="Helvetica Neue"/>
                <a:ea typeface="Helvetica Neue"/>
                <a:cs typeface="Helvetica Neue"/>
              </a:defRPr>
            </a:lvl8pPr>
            <a:lvl9pPr>
              <a:defRPr sz="1125" b="1">
                <a:solidFill>
                  <a:srgbClr val="237B82"/>
                </a:solidFill>
                <a:latin typeface="Helvetica Neue"/>
                <a:ea typeface="Helvetica Neue"/>
                <a:cs typeface="Helvetica Neue"/>
              </a:defRPr>
            </a:lvl9pPr>
          </a:lstStyle>
          <a:p xmlns:a="http://schemas.openxmlformats.org/drawingml/2006/main">
            <a:pPr>
              <a:defRPr sz="1125" b="1">
                <a:solidFill>
                  <a:srgbClr val="237B82"/>
                </a:solidFill>
                <a:latin typeface="Helvetica Neue"/>
                <a:ea typeface="Helvetica Neue"/>
                <a:cs typeface="Helvetica Neue"/>
              </a:defRPr>
            </a:pPr>
            <a:r>
              <a:rPr sz="1125" b="1">
                <a:solidFill>
                  <a:srgbClr val="237B82"/>
                </a:solidFill>
                <a:latin typeface="Helvetica Neue"/>
                <a:ea typeface="Helvetica Neue"/>
                <a:cs typeface="Helvetica Neue"/>
              </a:rPr>
              <a:t>MODULE 4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52011BE6-11D1-410F-98F2-F0AF3D3B60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457200"/>
            <a:ext cx="5334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>
            <a:defPPr>
              <a:defRPr sz="1200" b="1">
                <a:solidFill>
                  <a:srgbClr val="237B82"/>
                </a:solidFill>
                <a:latin typeface="Helvetica Neue"/>
                <a:ea typeface="Helvetica Neue"/>
                <a:cs typeface="Helvetica Neue"/>
              </a:defRPr>
            </a:defPPr>
            <a:lvl1pPr>
              <a:defRPr sz="1200" b="1">
                <a:solidFill>
                  <a:srgbClr val="237B82"/>
                </a:solidFill>
                <a:latin typeface="Helvetica Neue"/>
                <a:ea typeface="Helvetica Neue"/>
                <a:cs typeface="Helvetica Neue"/>
              </a:defRPr>
            </a:lvl1pPr>
            <a:lvl2pPr>
              <a:defRPr sz="1200" b="1">
                <a:solidFill>
                  <a:srgbClr val="237B82"/>
                </a:solidFill>
                <a:latin typeface="Helvetica Neue"/>
                <a:ea typeface="Helvetica Neue"/>
                <a:cs typeface="Helvetica Neue"/>
              </a:defRPr>
            </a:lvl2pPr>
            <a:lvl3pPr>
              <a:defRPr sz="1200" b="1">
                <a:solidFill>
                  <a:srgbClr val="237B82"/>
                </a:solidFill>
                <a:latin typeface="Helvetica Neue"/>
                <a:ea typeface="Helvetica Neue"/>
                <a:cs typeface="Helvetica Neue"/>
              </a:defRPr>
            </a:lvl3pPr>
            <a:lvl4pPr>
              <a:defRPr sz="1200" b="1">
                <a:solidFill>
                  <a:srgbClr val="237B82"/>
                </a:solidFill>
                <a:latin typeface="Helvetica Neue"/>
                <a:ea typeface="Helvetica Neue"/>
                <a:cs typeface="Helvetica Neue"/>
              </a:defRPr>
            </a:lvl4pPr>
            <a:lvl5pPr>
              <a:defRPr sz="1200" b="1">
                <a:solidFill>
                  <a:srgbClr val="237B82"/>
                </a:solidFill>
                <a:latin typeface="Helvetica Neue"/>
                <a:ea typeface="Helvetica Neue"/>
                <a:cs typeface="Helvetica Neue"/>
              </a:defRPr>
            </a:lvl5pPr>
            <a:lvl6pPr>
              <a:defRPr sz="1200" b="1">
                <a:solidFill>
                  <a:srgbClr val="237B82"/>
                </a:solidFill>
                <a:latin typeface="Helvetica Neue"/>
                <a:ea typeface="Helvetica Neue"/>
                <a:cs typeface="Helvetica Neue"/>
              </a:defRPr>
            </a:lvl6pPr>
            <a:lvl7pPr>
              <a:defRPr sz="1200" b="1">
                <a:solidFill>
                  <a:srgbClr val="237B82"/>
                </a:solidFill>
                <a:latin typeface="Helvetica Neue"/>
                <a:ea typeface="Helvetica Neue"/>
                <a:cs typeface="Helvetica Neue"/>
              </a:defRPr>
            </a:lvl7pPr>
            <a:lvl8pPr>
              <a:defRPr sz="1200" b="1">
                <a:solidFill>
                  <a:srgbClr val="237B82"/>
                </a:solidFill>
                <a:latin typeface="Helvetica Neue"/>
                <a:ea typeface="Helvetica Neue"/>
                <a:cs typeface="Helvetica Neue"/>
              </a:defRPr>
            </a:lvl8pPr>
            <a:lvl9pPr>
              <a:defRPr sz="1200" b="1">
                <a:solidFill>
                  <a:srgbClr val="237B82"/>
                </a:solidFill>
                <a:latin typeface="Helvetica Neue"/>
                <a:ea typeface="Helvetica Neue"/>
                <a:cs typeface="Helvetica Neue"/>
              </a:defRPr>
            </a:lvl9pPr>
          </a:lstStyle>
          <a:p xmlns:a="http://schemas.openxmlformats.org/drawingml/2006/main">
            <a:pPr>
              <a:defRPr sz="1200" b="1">
                <a:solidFill>
                  <a:srgbClr val="237B82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00" b="1">
                <a:solidFill>
                  <a:srgbClr val="237B82"/>
                </a:solidFill>
                <a:latin typeface="Helvetica Neue"/>
                <a:ea typeface="Helvetica Neue"/>
                <a:cs typeface="Helvetica Neue"/>
              </a:rPr>
              <a:t>61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76364D6F-9F0F-443F-A5A2-0976824537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1762125"/>
            <a:ext cx="10287000" cy="409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>
            <a:defPPr>
              <a:defRPr sz="1875">
                <a:solidFill>
                  <a:srgbClr val="13212D"/>
                </a:solidFill>
                <a:latin typeface="Helvetica Neue"/>
                <a:ea typeface="Helvetica Neue"/>
                <a:cs typeface="Helvetica Neue"/>
              </a:defRPr>
            </a:defPPr>
            <a:lvl1pPr>
              <a:defRPr sz="1875">
                <a:solidFill>
                  <a:srgbClr val="13212D"/>
                </a:solidFill>
                <a:latin typeface="Helvetica Neue"/>
                <a:ea typeface="Helvetica Neue"/>
                <a:cs typeface="Helvetica Neue"/>
              </a:defRPr>
            </a:lvl1pPr>
            <a:lvl2pPr>
              <a:defRPr sz="1875">
                <a:solidFill>
                  <a:srgbClr val="13212D"/>
                </a:solidFill>
                <a:latin typeface="Helvetica Neue"/>
                <a:ea typeface="Helvetica Neue"/>
                <a:cs typeface="Helvetica Neue"/>
              </a:defRPr>
            </a:lvl2pPr>
            <a:lvl3pPr>
              <a:defRPr sz="1875">
                <a:solidFill>
                  <a:srgbClr val="13212D"/>
                </a:solidFill>
                <a:latin typeface="Helvetica Neue"/>
                <a:ea typeface="Helvetica Neue"/>
                <a:cs typeface="Helvetica Neue"/>
              </a:defRPr>
            </a:lvl3pPr>
            <a:lvl4pPr>
              <a:defRPr sz="1875">
                <a:solidFill>
                  <a:srgbClr val="13212D"/>
                </a:solidFill>
                <a:latin typeface="Helvetica Neue"/>
                <a:ea typeface="Helvetica Neue"/>
                <a:cs typeface="Helvetica Neue"/>
              </a:defRPr>
            </a:lvl4pPr>
            <a:lvl5pPr>
              <a:defRPr sz="1875">
                <a:solidFill>
                  <a:srgbClr val="13212D"/>
                </a:solidFill>
                <a:latin typeface="Helvetica Neue"/>
                <a:ea typeface="Helvetica Neue"/>
                <a:cs typeface="Helvetica Neue"/>
              </a:defRPr>
            </a:lvl5pPr>
            <a:lvl6pPr>
              <a:defRPr sz="1875">
                <a:solidFill>
                  <a:srgbClr val="13212D"/>
                </a:solidFill>
                <a:latin typeface="Helvetica Neue"/>
                <a:ea typeface="Helvetica Neue"/>
                <a:cs typeface="Helvetica Neue"/>
              </a:defRPr>
            </a:lvl6pPr>
            <a:lvl7pPr>
              <a:defRPr sz="1875">
                <a:solidFill>
                  <a:srgbClr val="13212D"/>
                </a:solidFill>
                <a:latin typeface="Helvetica Neue"/>
                <a:ea typeface="Helvetica Neue"/>
                <a:cs typeface="Helvetica Neue"/>
              </a:defRPr>
            </a:lvl7pPr>
            <a:lvl8pPr>
              <a:defRPr sz="1875">
                <a:solidFill>
                  <a:srgbClr val="13212D"/>
                </a:solidFill>
                <a:latin typeface="Helvetica Neue"/>
                <a:ea typeface="Helvetica Neue"/>
                <a:cs typeface="Helvetica Neue"/>
              </a:defRPr>
            </a:lvl8pPr>
            <a:lvl9pPr>
              <a:defRPr sz="1875">
                <a:solidFill>
                  <a:srgbClr val="13212D"/>
                </a:solidFill>
                <a:latin typeface="Helvetica Neue"/>
                <a:ea typeface="Helvetica Neue"/>
                <a:cs typeface="Helvetica Neue"/>
              </a:defRPr>
            </a:lvl9pPr>
          </a:lstStyle>
          <a:p xmlns:a="http://schemas.openxmlformats.org/drawingml/2006/main">
            <a:pPr marL="279400" indent="-127000">
              <a:spcAft>
                <a:spcPts val="1300"/>
              </a:spcAft>
              <a:buChar char="•"/>
              <a:defRPr sz="1875">
                <a:solidFill>
                  <a:srgbClr val="13212D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75">
                <a:solidFill>
                  <a:srgbClr val="13212D"/>
                </a:solidFill>
                <a:latin typeface="Helvetica Neue"/>
                <a:ea typeface="Helvetica Neue"/>
                <a:cs typeface="Helvetica Neue"/>
              </a:rPr>
              <a:t>Treatment - stop the transfusion.</a:t>
            </a:r>
          </a:p>
          <a:p xmlns:a="http://schemas.openxmlformats.org/drawingml/2006/main">
            <a:pPr marL="279400" indent="-127000">
              <a:spcAft>
                <a:spcPts val="1300"/>
              </a:spcAft>
              <a:buChar char="•"/>
              <a:defRPr sz="1875">
                <a:solidFill>
                  <a:srgbClr val="13212D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75">
                <a:solidFill>
                  <a:srgbClr val="13212D"/>
                </a:solidFill>
                <a:latin typeface="Helvetica Neue"/>
                <a:ea typeface="Helvetica Neue"/>
                <a:cs typeface="Helvetica Neue"/>
              </a:rPr>
              <a:t>Monitor vital signs and patient's condition.</a:t>
            </a:r>
          </a:p>
          <a:p xmlns:a="http://schemas.openxmlformats.org/drawingml/2006/main">
            <a:pPr marL="279400" indent="-127000">
              <a:spcAft>
                <a:spcPts val="1300"/>
              </a:spcAft>
              <a:buChar char="•"/>
              <a:defRPr sz="1875">
                <a:solidFill>
                  <a:srgbClr val="13212D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75">
                <a:solidFill>
                  <a:srgbClr val="13212D"/>
                </a:solidFill>
                <a:latin typeface="Helvetica Neue"/>
                <a:ea typeface="Helvetica Neue"/>
                <a:cs typeface="Helvetica Neue"/>
              </a:rPr>
              <a:t>Follow physician's orders.</a:t>
            </a:r>
          </a:p>
          <a:p xmlns:a="http://schemas.openxmlformats.org/drawingml/2006/main">
            <a:pPr marL="279400" indent="-127000">
              <a:spcAft>
                <a:spcPts val="1300"/>
              </a:spcAft>
              <a:buChar char="•"/>
              <a:defRPr sz="1875">
                <a:solidFill>
                  <a:srgbClr val="13212D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75">
                <a:solidFill>
                  <a:srgbClr val="13212D"/>
                </a:solidFill>
                <a:latin typeface="Helvetica Neue"/>
                <a:ea typeface="Helvetica Neue"/>
                <a:cs typeface="Helvetica Neue"/>
              </a:rPr>
              <a:t>Prevention - To minimize risk of overload in patients with cardiac or renal insufficiency, packed cells should be given instead of whole blood.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B2764206-792C-4C08-901D-FD9AE6ED77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6115050"/>
            <a:ext cx="101917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>
            <a:defPPr>
              <a:defRPr sz="1125" b="1">
                <a:solidFill>
                  <a:srgbClr val="B94F3D"/>
                </a:solidFill>
                <a:latin typeface="Helvetica Neue"/>
                <a:ea typeface="Helvetica Neue"/>
                <a:cs typeface="Helvetica Neue"/>
              </a:defRPr>
            </a:defPPr>
            <a:lvl1pPr>
              <a:defRPr sz="1125" b="1">
                <a:solidFill>
                  <a:srgbClr val="B94F3D"/>
                </a:solidFill>
                <a:latin typeface="Helvetica Neue"/>
                <a:ea typeface="Helvetica Neue"/>
                <a:cs typeface="Helvetica Neue"/>
              </a:defRPr>
            </a:lvl1pPr>
            <a:lvl2pPr>
              <a:defRPr sz="1125" b="1">
                <a:solidFill>
                  <a:srgbClr val="B94F3D"/>
                </a:solidFill>
                <a:latin typeface="Helvetica Neue"/>
                <a:ea typeface="Helvetica Neue"/>
                <a:cs typeface="Helvetica Neue"/>
              </a:defRPr>
            </a:lvl2pPr>
            <a:lvl3pPr>
              <a:defRPr sz="1125" b="1">
                <a:solidFill>
                  <a:srgbClr val="B94F3D"/>
                </a:solidFill>
                <a:latin typeface="Helvetica Neue"/>
                <a:ea typeface="Helvetica Neue"/>
                <a:cs typeface="Helvetica Neue"/>
              </a:defRPr>
            </a:lvl3pPr>
            <a:lvl4pPr>
              <a:defRPr sz="1125" b="1">
                <a:solidFill>
                  <a:srgbClr val="B94F3D"/>
                </a:solidFill>
                <a:latin typeface="Helvetica Neue"/>
                <a:ea typeface="Helvetica Neue"/>
                <a:cs typeface="Helvetica Neue"/>
              </a:defRPr>
            </a:lvl4pPr>
            <a:lvl5pPr>
              <a:defRPr sz="1125" b="1">
                <a:solidFill>
                  <a:srgbClr val="B94F3D"/>
                </a:solidFill>
                <a:latin typeface="Helvetica Neue"/>
                <a:ea typeface="Helvetica Neue"/>
                <a:cs typeface="Helvetica Neue"/>
              </a:defRPr>
            </a:lvl5pPr>
            <a:lvl6pPr>
              <a:defRPr sz="1125" b="1">
                <a:solidFill>
                  <a:srgbClr val="B94F3D"/>
                </a:solidFill>
                <a:latin typeface="Helvetica Neue"/>
                <a:ea typeface="Helvetica Neue"/>
                <a:cs typeface="Helvetica Neue"/>
              </a:defRPr>
            </a:lvl6pPr>
            <a:lvl7pPr>
              <a:defRPr sz="1125" b="1">
                <a:solidFill>
                  <a:srgbClr val="B94F3D"/>
                </a:solidFill>
                <a:latin typeface="Helvetica Neue"/>
                <a:ea typeface="Helvetica Neue"/>
                <a:cs typeface="Helvetica Neue"/>
              </a:defRPr>
            </a:lvl7pPr>
            <a:lvl8pPr>
              <a:defRPr sz="1125" b="1">
                <a:solidFill>
                  <a:srgbClr val="B94F3D"/>
                </a:solidFill>
                <a:latin typeface="Helvetica Neue"/>
                <a:ea typeface="Helvetica Neue"/>
                <a:cs typeface="Helvetica Neue"/>
              </a:defRPr>
            </a:lvl8pPr>
            <a:lvl9pPr>
              <a:defRPr sz="1125" b="1">
                <a:solidFill>
                  <a:srgbClr val="B94F3D"/>
                </a:solidFill>
                <a:latin typeface="Helvetica Neue"/>
                <a:ea typeface="Helvetica Neue"/>
                <a:cs typeface="Helvetica Neue"/>
              </a:defRPr>
            </a:lvl9pPr>
          </a:lstStyle>
          <a:p xmlns:a="http://schemas.openxmlformats.org/drawingml/2006/main">
            <a:pPr>
              <a:defRPr sz="1125" b="1">
                <a:solidFill>
                  <a:srgbClr val="B94F3D"/>
                </a:solidFill>
                <a:latin typeface="Helvetica Neue"/>
                <a:ea typeface="Helvetica Neue"/>
                <a:cs typeface="Helvetica Neue"/>
              </a:defRPr>
            </a:pPr>
            <a:r>
              <a:rPr sz="1125" b="1">
                <a:solidFill>
                  <a:srgbClr val="B94F3D"/>
                </a:solidFill>
                <a:latin typeface="Helvetica Neue"/>
                <a:ea typeface="Helvetica Neue"/>
                <a:cs typeface="Helvetica Neue"/>
              </a:rPr>
              <a:t>Use current orders, facility policy, and authorized scope when applying this information.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8E4789A5-1F6B-4009-BE4A-AFFFA77C58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5772150"/>
            <a:ext cx="101917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97619"/>
          </a:bodyPr>
          <a:lstStyle xmlns:a="http://schemas.openxmlformats.org/drawingml/2006/main">
            <a:defPPr>
              <a:defRPr sz="1050" b="1">
                <a:solidFill>
                  <a:srgbClr val="237B82"/>
                </a:solidFill>
                <a:latin typeface="Helvetica Neue"/>
                <a:ea typeface="Helvetica Neue"/>
                <a:cs typeface="Helvetica Neue"/>
              </a:defRPr>
            </a:defPPr>
            <a:lvl1pPr>
              <a:defRPr sz="1050" b="1">
                <a:solidFill>
                  <a:srgbClr val="237B82"/>
                </a:solidFill>
                <a:latin typeface="Helvetica Neue"/>
                <a:ea typeface="Helvetica Neue"/>
                <a:cs typeface="Helvetica Neue"/>
              </a:defRPr>
            </a:lvl1pPr>
            <a:lvl2pPr>
              <a:defRPr sz="1050" b="1">
                <a:solidFill>
                  <a:srgbClr val="237B82"/>
                </a:solidFill>
                <a:latin typeface="Helvetica Neue"/>
                <a:ea typeface="Helvetica Neue"/>
                <a:cs typeface="Helvetica Neue"/>
              </a:defRPr>
            </a:lvl2pPr>
            <a:lvl3pPr>
              <a:defRPr sz="1050" b="1">
                <a:solidFill>
                  <a:srgbClr val="237B82"/>
                </a:solidFill>
                <a:latin typeface="Helvetica Neue"/>
                <a:ea typeface="Helvetica Neue"/>
                <a:cs typeface="Helvetica Neue"/>
              </a:defRPr>
            </a:lvl3pPr>
            <a:lvl4pPr>
              <a:defRPr sz="1050" b="1">
                <a:solidFill>
                  <a:srgbClr val="237B82"/>
                </a:solidFill>
                <a:latin typeface="Helvetica Neue"/>
                <a:ea typeface="Helvetica Neue"/>
                <a:cs typeface="Helvetica Neue"/>
              </a:defRPr>
            </a:lvl4pPr>
            <a:lvl5pPr>
              <a:defRPr sz="1050" b="1">
                <a:solidFill>
                  <a:srgbClr val="237B82"/>
                </a:solidFill>
                <a:latin typeface="Helvetica Neue"/>
                <a:ea typeface="Helvetica Neue"/>
                <a:cs typeface="Helvetica Neue"/>
              </a:defRPr>
            </a:lvl5pPr>
            <a:lvl6pPr>
              <a:defRPr sz="1050" b="1">
                <a:solidFill>
                  <a:srgbClr val="237B82"/>
                </a:solidFill>
                <a:latin typeface="Helvetica Neue"/>
                <a:ea typeface="Helvetica Neue"/>
                <a:cs typeface="Helvetica Neue"/>
              </a:defRPr>
            </a:lvl6pPr>
            <a:lvl7pPr>
              <a:defRPr sz="1050" b="1">
                <a:solidFill>
                  <a:srgbClr val="237B82"/>
                </a:solidFill>
                <a:latin typeface="Helvetica Neue"/>
                <a:ea typeface="Helvetica Neue"/>
                <a:cs typeface="Helvetica Neue"/>
              </a:defRPr>
            </a:lvl7pPr>
            <a:lvl8pPr>
              <a:defRPr sz="1050" b="1">
                <a:solidFill>
                  <a:srgbClr val="237B82"/>
                </a:solidFill>
                <a:latin typeface="Helvetica Neue"/>
                <a:ea typeface="Helvetica Neue"/>
                <a:cs typeface="Helvetica Neue"/>
              </a:defRPr>
            </a:lvl8pPr>
            <a:lvl9pPr>
              <a:defRPr sz="1050" b="1">
                <a:solidFill>
                  <a:srgbClr val="237B82"/>
                </a:solidFill>
                <a:latin typeface="Helvetica Neue"/>
                <a:ea typeface="Helvetica Neue"/>
                <a:cs typeface="Helvetica Neue"/>
              </a:defRPr>
            </a:lvl9pPr>
          </a:lstStyle>
          <a:p xmlns:a="http://schemas.openxmlformats.org/drawingml/2006/main">
            <a:pPr>
              <a:defRPr sz="1050" b="1">
                <a:solidFill>
                  <a:srgbClr val="237B82"/>
                </a:solidFill>
                <a:latin typeface="Helvetica Neue"/>
                <a:ea typeface="Helvetica Neue"/>
                <a:cs typeface="Helvetica Neue"/>
              </a:defRPr>
            </a:pPr>
            <a:r>
              <a:rPr sz="1050" b="1">
                <a:solidFill>
                  <a:srgbClr val="237B82"/>
                </a:solidFill>
                <a:latin typeface="Helvetica Neue"/>
                <a:ea typeface="Helvetica Neue"/>
                <a:cs typeface="Helvetica Neue"/>
              </a:rPr>
              <a:t>Manual page 59</a:t>
            </a:r>
          </a:p>
        </p:txBody>
      </p:sp>
    </p:spTree>
    <p:extLst>
      <p:ext uri="{BB962C8B-B14F-4D97-AF65-F5344CB8AC3E}">
        <p14:creationId xmlns:p14="http://schemas.microsoft.com/office/powerpoint/2010/main" val="1429796237"/>
      </p:ext>
    </p:extLst>
  </p:cSld>
</p:sld>
</file>

<file path=ppt/slides/slide62.xml><?xml version="1.0" encoding="utf-8"?>
<p:sld xmlns:p="http://schemas.openxmlformats.org/presentationml/2006/main">
  <p:cSld>
    <p:bg>
      <p:bgPr>
        <a:solidFill xmlns:a="http://schemas.openxmlformats.org/drawingml/2006/main">
          <a:srgbClr val="F7F4EE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2718D8A8-DC65-4151-A78F-BEA9361F55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2095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37B82"/>
          </a:solidFill>
          <a:ln xmlns:a="http://schemas.openxmlformats.org/drawingml/2006/main" w="0">
            <a:solidFill>
              <a:srgbClr val="237B82"/>
            </a:solidFill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F1C78EC4-B8F5-4658-BBE7-7C27AFEDCB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00050"/>
            <a:ext cx="10001250" cy="819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88426"/>
          </a:bodyPr>
          <a:lstStyle xmlns:a="http://schemas.openxmlformats.org/drawingml/2006/main">
            <a:defPPr>
              <a:defRPr sz="2700" b="1">
                <a:solidFill>
                  <a:srgbClr val="15324A"/>
                </a:solidFill>
                <a:latin typeface="Helvetica Neue"/>
                <a:ea typeface="Helvetica Neue"/>
                <a:cs typeface="Helvetica Neue"/>
              </a:defRPr>
            </a:defPPr>
            <a:lvl1pPr>
              <a:defRPr sz="2700" b="1">
                <a:solidFill>
                  <a:srgbClr val="15324A"/>
                </a:solidFill>
                <a:latin typeface="Helvetica Neue"/>
                <a:ea typeface="Helvetica Neue"/>
                <a:cs typeface="Helvetica Neue"/>
              </a:defRPr>
            </a:lvl1pPr>
            <a:lvl2pPr>
              <a:defRPr sz="2700" b="1">
                <a:solidFill>
                  <a:srgbClr val="15324A"/>
                </a:solidFill>
                <a:latin typeface="Helvetica Neue"/>
                <a:ea typeface="Helvetica Neue"/>
                <a:cs typeface="Helvetica Neue"/>
              </a:defRPr>
            </a:lvl2pPr>
            <a:lvl3pPr>
              <a:defRPr sz="2700" b="1">
                <a:solidFill>
                  <a:srgbClr val="15324A"/>
                </a:solidFill>
                <a:latin typeface="Helvetica Neue"/>
                <a:ea typeface="Helvetica Neue"/>
                <a:cs typeface="Helvetica Neue"/>
              </a:defRPr>
            </a:lvl3pPr>
            <a:lvl4pPr>
              <a:defRPr sz="2700" b="1">
                <a:solidFill>
                  <a:srgbClr val="15324A"/>
                </a:solidFill>
                <a:latin typeface="Helvetica Neue"/>
                <a:ea typeface="Helvetica Neue"/>
                <a:cs typeface="Helvetica Neue"/>
              </a:defRPr>
            </a:lvl4pPr>
            <a:lvl5pPr>
              <a:defRPr sz="2700" b="1">
                <a:solidFill>
                  <a:srgbClr val="15324A"/>
                </a:solidFill>
                <a:latin typeface="Helvetica Neue"/>
                <a:ea typeface="Helvetica Neue"/>
                <a:cs typeface="Helvetica Neue"/>
              </a:defRPr>
            </a:lvl5pPr>
            <a:lvl6pPr>
              <a:defRPr sz="2700" b="1">
                <a:solidFill>
                  <a:srgbClr val="15324A"/>
                </a:solidFill>
                <a:latin typeface="Helvetica Neue"/>
                <a:ea typeface="Helvetica Neue"/>
                <a:cs typeface="Helvetica Neue"/>
              </a:defRPr>
            </a:lvl6pPr>
            <a:lvl7pPr>
              <a:defRPr sz="2700" b="1">
                <a:solidFill>
                  <a:srgbClr val="15324A"/>
                </a:solidFill>
                <a:latin typeface="Helvetica Neue"/>
                <a:ea typeface="Helvetica Neue"/>
                <a:cs typeface="Helvetica Neue"/>
              </a:defRPr>
            </a:lvl7pPr>
            <a:lvl8pPr>
              <a:defRPr sz="2700" b="1">
                <a:solidFill>
                  <a:srgbClr val="15324A"/>
                </a:solidFill>
                <a:latin typeface="Helvetica Neue"/>
                <a:ea typeface="Helvetica Neue"/>
                <a:cs typeface="Helvetica Neue"/>
              </a:defRPr>
            </a:lvl8pPr>
            <a:lvl9pPr>
              <a:defRPr sz="2700" b="1">
                <a:solidFill>
                  <a:srgbClr val="15324A"/>
                </a:solidFill>
                <a:latin typeface="Helvetica Neue"/>
                <a:ea typeface="Helvetica Neue"/>
                <a:cs typeface="Helvetica Neue"/>
              </a:defRPr>
            </a:lvl9pPr>
          </a:lstStyle>
          <a:p xmlns:a="http://schemas.openxmlformats.org/drawingml/2006/main">
            <a:pPr>
              <a:defRPr sz="2700" b="1">
                <a:solidFill>
                  <a:srgbClr val="15324A"/>
                </a:solidFill>
                <a:latin typeface="Helvetica Neue"/>
                <a:ea typeface="Helvetica Neue"/>
                <a:cs typeface="Helvetica Neue"/>
              </a:defRPr>
            </a:pPr>
            <a:r>
              <a:rPr sz="2700" b="1">
                <a:solidFill>
                  <a:srgbClr val="15324A"/>
                </a:solidFill>
                <a:latin typeface="Helvetica Neue"/>
                <a:ea typeface="Helvetica Neue"/>
                <a:cs typeface="Helvetica Neue"/>
              </a:rPr>
              <a:t>Treatment - Stop transfusion immediately and keep the vein open with normal saline — continued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158F7692-216D-4ECF-BC45-FC41302323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1257300"/>
            <a:ext cx="88582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91111"/>
          </a:bodyPr>
          <a:lstStyle xmlns:a="http://schemas.openxmlformats.org/drawingml/2006/main">
            <a:defPPr>
              <a:defRPr sz="1125" b="1">
                <a:solidFill>
                  <a:srgbClr val="237B82"/>
                </a:solidFill>
                <a:latin typeface="Helvetica Neue"/>
                <a:ea typeface="Helvetica Neue"/>
                <a:cs typeface="Helvetica Neue"/>
              </a:defRPr>
            </a:defPPr>
            <a:lvl1pPr>
              <a:defRPr sz="1125" b="1">
                <a:solidFill>
                  <a:srgbClr val="237B82"/>
                </a:solidFill>
                <a:latin typeface="Helvetica Neue"/>
                <a:ea typeface="Helvetica Neue"/>
                <a:cs typeface="Helvetica Neue"/>
              </a:defRPr>
            </a:lvl1pPr>
            <a:lvl2pPr>
              <a:defRPr sz="1125" b="1">
                <a:solidFill>
                  <a:srgbClr val="237B82"/>
                </a:solidFill>
                <a:latin typeface="Helvetica Neue"/>
                <a:ea typeface="Helvetica Neue"/>
                <a:cs typeface="Helvetica Neue"/>
              </a:defRPr>
            </a:lvl2pPr>
            <a:lvl3pPr>
              <a:defRPr sz="1125" b="1">
                <a:solidFill>
                  <a:srgbClr val="237B82"/>
                </a:solidFill>
                <a:latin typeface="Helvetica Neue"/>
                <a:ea typeface="Helvetica Neue"/>
                <a:cs typeface="Helvetica Neue"/>
              </a:defRPr>
            </a:lvl3pPr>
            <a:lvl4pPr>
              <a:defRPr sz="1125" b="1">
                <a:solidFill>
                  <a:srgbClr val="237B82"/>
                </a:solidFill>
                <a:latin typeface="Helvetica Neue"/>
                <a:ea typeface="Helvetica Neue"/>
                <a:cs typeface="Helvetica Neue"/>
              </a:defRPr>
            </a:lvl4pPr>
            <a:lvl5pPr>
              <a:defRPr sz="1125" b="1">
                <a:solidFill>
                  <a:srgbClr val="237B82"/>
                </a:solidFill>
                <a:latin typeface="Helvetica Neue"/>
                <a:ea typeface="Helvetica Neue"/>
                <a:cs typeface="Helvetica Neue"/>
              </a:defRPr>
            </a:lvl5pPr>
            <a:lvl6pPr>
              <a:defRPr sz="1125" b="1">
                <a:solidFill>
                  <a:srgbClr val="237B82"/>
                </a:solidFill>
                <a:latin typeface="Helvetica Neue"/>
                <a:ea typeface="Helvetica Neue"/>
                <a:cs typeface="Helvetica Neue"/>
              </a:defRPr>
            </a:lvl6pPr>
            <a:lvl7pPr>
              <a:defRPr sz="1125" b="1">
                <a:solidFill>
                  <a:srgbClr val="237B82"/>
                </a:solidFill>
                <a:latin typeface="Helvetica Neue"/>
                <a:ea typeface="Helvetica Neue"/>
                <a:cs typeface="Helvetica Neue"/>
              </a:defRPr>
            </a:lvl7pPr>
            <a:lvl8pPr>
              <a:defRPr sz="1125" b="1">
                <a:solidFill>
                  <a:srgbClr val="237B82"/>
                </a:solidFill>
                <a:latin typeface="Helvetica Neue"/>
                <a:ea typeface="Helvetica Neue"/>
                <a:cs typeface="Helvetica Neue"/>
              </a:defRPr>
            </a:lvl8pPr>
            <a:lvl9pPr>
              <a:defRPr sz="1125" b="1">
                <a:solidFill>
                  <a:srgbClr val="237B82"/>
                </a:solidFill>
                <a:latin typeface="Helvetica Neue"/>
                <a:ea typeface="Helvetica Neue"/>
                <a:cs typeface="Helvetica Neue"/>
              </a:defRPr>
            </a:lvl9pPr>
          </a:lstStyle>
          <a:p xmlns:a="http://schemas.openxmlformats.org/drawingml/2006/main">
            <a:pPr>
              <a:defRPr sz="1125" b="1">
                <a:solidFill>
                  <a:srgbClr val="237B82"/>
                </a:solidFill>
                <a:latin typeface="Helvetica Neue"/>
                <a:ea typeface="Helvetica Neue"/>
                <a:cs typeface="Helvetica Neue"/>
              </a:defRPr>
            </a:pPr>
            <a:r>
              <a:rPr sz="1125" b="1">
                <a:solidFill>
                  <a:srgbClr val="237B82"/>
                </a:solidFill>
                <a:latin typeface="Helvetica Neue"/>
                <a:ea typeface="Helvetica Neue"/>
                <a:cs typeface="Helvetica Neue"/>
              </a:rPr>
              <a:t>MODULE 4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8CCA6CDC-8B19-439F-8326-B911075210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457200"/>
            <a:ext cx="5334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>
            <a:defPPr>
              <a:defRPr sz="1200" b="1">
                <a:solidFill>
                  <a:srgbClr val="237B82"/>
                </a:solidFill>
                <a:latin typeface="Helvetica Neue"/>
                <a:ea typeface="Helvetica Neue"/>
                <a:cs typeface="Helvetica Neue"/>
              </a:defRPr>
            </a:defPPr>
            <a:lvl1pPr>
              <a:defRPr sz="1200" b="1">
                <a:solidFill>
                  <a:srgbClr val="237B82"/>
                </a:solidFill>
                <a:latin typeface="Helvetica Neue"/>
                <a:ea typeface="Helvetica Neue"/>
                <a:cs typeface="Helvetica Neue"/>
              </a:defRPr>
            </a:lvl1pPr>
            <a:lvl2pPr>
              <a:defRPr sz="1200" b="1">
                <a:solidFill>
                  <a:srgbClr val="237B82"/>
                </a:solidFill>
                <a:latin typeface="Helvetica Neue"/>
                <a:ea typeface="Helvetica Neue"/>
                <a:cs typeface="Helvetica Neue"/>
              </a:defRPr>
            </a:lvl2pPr>
            <a:lvl3pPr>
              <a:defRPr sz="1200" b="1">
                <a:solidFill>
                  <a:srgbClr val="237B82"/>
                </a:solidFill>
                <a:latin typeface="Helvetica Neue"/>
                <a:ea typeface="Helvetica Neue"/>
                <a:cs typeface="Helvetica Neue"/>
              </a:defRPr>
            </a:lvl3pPr>
            <a:lvl4pPr>
              <a:defRPr sz="1200" b="1">
                <a:solidFill>
                  <a:srgbClr val="237B82"/>
                </a:solidFill>
                <a:latin typeface="Helvetica Neue"/>
                <a:ea typeface="Helvetica Neue"/>
                <a:cs typeface="Helvetica Neue"/>
              </a:defRPr>
            </a:lvl4pPr>
            <a:lvl5pPr>
              <a:defRPr sz="1200" b="1">
                <a:solidFill>
                  <a:srgbClr val="237B82"/>
                </a:solidFill>
                <a:latin typeface="Helvetica Neue"/>
                <a:ea typeface="Helvetica Neue"/>
                <a:cs typeface="Helvetica Neue"/>
              </a:defRPr>
            </a:lvl5pPr>
            <a:lvl6pPr>
              <a:defRPr sz="1200" b="1">
                <a:solidFill>
                  <a:srgbClr val="237B82"/>
                </a:solidFill>
                <a:latin typeface="Helvetica Neue"/>
                <a:ea typeface="Helvetica Neue"/>
                <a:cs typeface="Helvetica Neue"/>
              </a:defRPr>
            </a:lvl6pPr>
            <a:lvl7pPr>
              <a:defRPr sz="1200" b="1">
                <a:solidFill>
                  <a:srgbClr val="237B82"/>
                </a:solidFill>
                <a:latin typeface="Helvetica Neue"/>
                <a:ea typeface="Helvetica Neue"/>
                <a:cs typeface="Helvetica Neue"/>
              </a:defRPr>
            </a:lvl7pPr>
            <a:lvl8pPr>
              <a:defRPr sz="1200" b="1">
                <a:solidFill>
                  <a:srgbClr val="237B82"/>
                </a:solidFill>
                <a:latin typeface="Helvetica Neue"/>
                <a:ea typeface="Helvetica Neue"/>
                <a:cs typeface="Helvetica Neue"/>
              </a:defRPr>
            </a:lvl8pPr>
            <a:lvl9pPr>
              <a:defRPr sz="1200" b="1">
                <a:solidFill>
                  <a:srgbClr val="237B82"/>
                </a:solidFill>
                <a:latin typeface="Helvetica Neue"/>
                <a:ea typeface="Helvetica Neue"/>
                <a:cs typeface="Helvetica Neue"/>
              </a:defRPr>
            </a:lvl9pPr>
          </a:lstStyle>
          <a:p xmlns:a="http://schemas.openxmlformats.org/drawingml/2006/main">
            <a:pPr>
              <a:defRPr sz="1200" b="1">
                <a:solidFill>
                  <a:srgbClr val="237B82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00" b="1">
                <a:solidFill>
                  <a:srgbClr val="237B82"/>
                </a:solidFill>
                <a:latin typeface="Helvetica Neue"/>
                <a:ea typeface="Helvetica Neue"/>
                <a:cs typeface="Helvetica Neue"/>
              </a:rPr>
              <a:t>62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C5C9EE92-B388-4740-B071-ED6DD7039A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1762125"/>
            <a:ext cx="10287000" cy="409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>
            <a:defPPr>
              <a:defRPr sz="1875">
                <a:solidFill>
                  <a:srgbClr val="13212D"/>
                </a:solidFill>
                <a:latin typeface="Helvetica Neue"/>
                <a:ea typeface="Helvetica Neue"/>
                <a:cs typeface="Helvetica Neue"/>
              </a:defRPr>
            </a:defPPr>
            <a:lvl1pPr>
              <a:defRPr sz="1875">
                <a:solidFill>
                  <a:srgbClr val="13212D"/>
                </a:solidFill>
                <a:latin typeface="Helvetica Neue"/>
                <a:ea typeface="Helvetica Neue"/>
                <a:cs typeface="Helvetica Neue"/>
              </a:defRPr>
            </a:lvl1pPr>
            <a:lvl2pPr>
              <a:defRPr sz="1875">
                <a:solidFill>
                  <a:srgbClr val="13212D"/>
                </a:solidFill>
                <a:latin typeface="Helvetica Neue"/>
                <a:ea typeface="Helvetica Neue"/>
                <a:cs typeface="Helvetica Neue"/>
              </a:defRPr>
            </a:lvl2pPr>
            <a:lvl3pPr>
              <a:defRPr sz="1875">
                <a:solidFill>
                  <a:srgbClr val="13212D"/>
                </a:solidFill>
                <a:latin typeface="Helvetica Neue"/>
                <a:ea typeface="Helvetica Neue"/>
                <a:cs typeface="Helvetica Neue"/>
              </a:defRPr>
            </a:lvl3pPr>
            <a:lvl4pPr>
              <a:defRPr sz="1875">
                <a:solidFill>
                  <a:srgbClr val="13212D"/>
                </a:solidFill>
                <a:latin typeface="Helvetica Neue"/>
                <a:ea typeface="Helvetica Neue"/>
                <a:cs typeface="Helvetica Neue"/>
              </a:defRPr>
            </a:lvl4pPr>
            <a:lvl5pPr>
              <a:defRPr sz="1875">
                <a:solidFill>
                  <a:srgbClr val="13212D"/>
                </a:solidFill>
                <a:latin typeface="Helvetica Neue"/>
                <a:ea typeface="Helvetica Neue"/>
                <a:cs typeface="Helvetica Neue"/>
              </a:defRPr>
            </a:lvl5pPr>
            <a:lvl6pPr>
              <a:defRPr sz="1875">
                <a:solidFill>
                  <a:srgbClr val="13212D"/>
                </a:solidFill>
                <a:latin typeface="Helvetica Neue"/>
                <a:ea typeface="Helvetica Neue"/>
                <a:cs typeface="Helvetica Neue"/>
              </a:defRPr>
            </a:lvl6pPr>
            <a:lvl7pPr>
              <a:defRPr sz="1875">
                <a:solidFill>
                  <a:srgbClr val="13212D"/>
                </a:solidFill>
                <a:latin typeface="Helvetica Neue"/>
                <a:ea typeface="Helvetica Neue"/>
                <a:cs typeface="Helvetica Neue"/>
              </a:defRPr>
            </a:lvl7pPr>
            <a:lvl8pPr>
              <a:defRPr sz="1875">
                <a:solidFill>
                  <a:srgbClr val="13212D"/>
                </a:solidFill>
                <a:latin typeface="Helvetica Neue"/>
                <a:ea typeface="Helvetica Neue"/>
                <a:cs typeface="Helvetica Neue"/>
              </a:defRPr>
            </a:lvl8pPr>
            <a:lvl9pPr>
              <a:defRPr sz="1875">
                <a:solidFill>
                  <a:srgbClr val="13212D"/>
                </a:solidFill>
                <a:latin typeface="Helvetica Neue"/>
                <a:ea typeface="Helvetica Neue"/>
                <a:cs typeface="Helvetica Neue"/>
              </a:defRPr>
            </a:lvl9pPr>
          </a:lstStyle>
          <a:p xmlns:a="http://schemas.openxmlformats.org/drawingml/2006/main">
            <a:pPr marL="279400" indent="-127000">
              <a:spcAft>
                <a:spcPts val="1300"/>
              </a:spcAft>
              <a:buChar char="•"/>
              <a:defRPr sz="1875">
                <a:solidFill>
                  <a:srgbClr val="13212D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75">
                <a:solidFill>
                  <a:srgbClr val="13212D"/>
                </a:solidFill>
                <a:latin typeface="Helvetica Neue"/>
                <a:ea typeface="Helvetica Neue"/>
                <a:cs typeface="Helvetica Neue"/>
              </a:rPr>
              <a:t>Infusing the cells at a slower rate and giving diuretics as ordered at the onset of the transfusion will also decrease the risk of overload.</a:t>
            </a:r>
          </a:p>
          <a:p xmlns:a="http://schemas.openxmlformats.org/drawingml/2006/main">
            <a:pPr marL="279400" indent="-127000">
              <a:spcAft>
                <a:spcPts val="1300"/>
              </a:spcAft>
              <a:buChar char="•"/>
              <a:defRPr sz="1875">
                <a:solidFill>
                  <a:srgbClr val="13212D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75">
                <a:solidFill>
                  <a:srgbClr val="13212D"/>
                </a:solidFill>
                <a:latin typeface="Helvetica Neue"/>
                <a:ea typeface="Helvetica Neue"/>
                <a:cs typeface="Helvetica Neue"/>
              </a:rPr>
              <a:t>Air Embolism Cause - Air introduced into the bloodstream by way of tubing.</a:t>
            </a:r>
          </a:p>
          <a:p xmlns:a="http://schemas.openxmlformats.org/drawingml/2006/main">
            <a:pPr marL="279400" indent="-127000">
              <a:spcAft>
                <a:spcPts val="1300"/>
              </a:spcAft>
              <a:buChar char="•"/>
              <a:defRPr sz="1875">
                <a:solidFill>
                  <a:srgbClr val="13212D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75">
                <a:solidFill>
                  <a:srgbClr val="13212D"/>
                </a:solidFill>
                <a:latin typeface="Helvetica Neue"/>
                <a:ea typeface="Helvetica Neue"/>
                <a:cs typeface="Helvetica Neue"/>
              </a:rPr>
              <a:t>Symptoms - Cyanosis, dyspnea, shock, cardiac arrest, anxiety, drop in blood pressure, chest pain.</a:t>
            </a:r>
          </a:p>
          <a:p xmlns:a="http://schemas.openxmlformats.org/drawingml/2006/main">
            <a:pPr marL="279400" indent="-127000">
              <a:spcAft>
                <a:spcPts val="1300"/>
              </a:spcAft>
              <a:buChar char="•"/>
              <a:defRPr sz="1875">
                <a:solidFill>
                  <a:srgbClr val="13212D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75">
                <a:solidFill>
                  <a:srgbClr val="13212D"/>
                </a:solidFill>
                <a:latin typeface="Helvetica Neue"/>
                <a:ea typeface="Helvetica Neue"/>
                <a:cs typeface="Helvetica Neue"/>
              </a:rPr>
              <a:t>Treatment - Lower patient's head and turn patient onto his left side.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975B563F-9E03-4590-9BDB-6D8FE326F2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6115050"/>
            <a:ext cx="101917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>
            <a:defPPr>
              <a:defRPr sz="1125" b="1">
                <a:solidFill>
                  <a:srgbClr val="B94F3D"/>
                </a:solidFill>
                <a:latin typeface="Helvetica Neue"/>
                <a:ea typeface="Helvetica Neue"/>
                <a:cs typeface="Helvetica Neue"/>
              </a:defRPr>
            </a:defPPr>
            <a:lvl1pPr>
              <a:defRPr sz="1125" b="1">
                <a:solidFill>
                  <a:srgbClr val="B94F3D"/>
                </a:solidFill>
                <a:latin typeface="Helvetica Neue"/>
                <a:ea typeface="Helvetica Neue"/>
                <a:cs typeface="Helvetica Neue"/>
              </a:defRPr>
            </a:lvl1pPr>
            <a:lvl2pPr>
              <a:defRPr sz="1125" b="1">
                <a:solidFill>
                  <a:srgbClr val="B94F3D"/>
                </a:solidFill>
                <a:latin typeface="Helvetica Neue"/>
                <a:ea typeface="Helvetica Neue"/>
                <a:cs typeface="Helvetica Neue"/>
              </a:defRPr>
            </a:lvl2pPr>
            <a:lvl3pPr>
              <a:defRPr sz="1125" b="1">
                <a:solidFill>
                  <a:srgbClr val="B94F3D"/>
                </a:solidFill>
                <a:latin typeface="Helvetica Neue"/>
                <a:ea typeface="Helvetica Neue"/>
                <a:cs typeface="Helvetica Neue"/>
              </a:defRPr>
            </a:lvl3pPr>
            <a:lvl4pPr>
              <a:defRPr sz="1125" b="1">
                <a:solidFill>
                  <a:srgbClr val="B94F3D"/>
                </a:solidFill>
                <a:latin typeface="Helvetica Neue"/>
                <a:ea typeface="Helvetica Neue"/>
                <a:cs typeface="Helvetica Neue"/>
              </a:defRPr>
            </a:lvl4pPr>
            <a:lvl5pPr>
              <a:defRPr sz="1125" b="1">
                <a:solidFill>
                  <a:srgbClr val="B94F3D"/>
                </a:solidFill>
                <a:latin typeface="Helvetica Neue"/>
                <a:ea typeface="Helvetica Neue"/>
                <a:cs typeface="Helvetica Neue"/>
              </a:defRPr>
            </a:lvl5pPr>
            <a:lvl6pPr>
              <a:defRPr sz="1125" b="1">
                <a:solidFill>
                  <a:srgbClr val="B94F3D"/>
                </a:solidFill>
                <a:latin typeface="Helvetica Neue"/>
                <a:ea typeface="Helvetica Neue"/>
                <a:cs typeface="Helvetica Neue"/>
              </a:defRPr>
            </a:lvl6pPr>
            <a:lvl7pPr>
              <a:defRPr sz="1125" b="1">
                <a:solidFill>
                  <a:srgbClr val="B94F3D"/>
                </a:solidFill>
                <a:latin typeface="Helvetica Neue"/>
                <a:ea typeface="Helvetica Neue"/>
                <a:cs typeface="Helvetica Neue"/>
              </a:defRPr>
            </a:lvl7pPr>
            <a:lvl8pPr>
              <a:defRPr sz="1125" b="1">
                <a:solidFill>
                  <a:srgbClr val="B94F3D"/>
                </a:solidFill>
                <a:latin typeface="Helvetica Neue"/>
                <a:ea typeface="Helvetica Neue"/>
                <a:cs typeface="Helvetica Neue"/>
              </a:defRPr>
            </a:lvl8pPr>
            <a:lvl9pPr>
              <a:defRPr sz="1125" b="1">
                <a:solidFill>
                  <a:srgbClr val="B94F3D"/>
                </a:solidFill>
                <a:latin typeface="Helvetica Neue"/>
                <a:ea typeface="Helvetica Neue"/>
                <a:cs typeface="Helvetica Neue"/>
              </a:defRPr>
            </a:lvl9pPr>
          </a:lstStyle>
          <a:p xmlns:a="http://schemas.openxmlformats.org/drawingml/2006/main">
            <a:pPr>
              <a:defRPr sz="1125" b="1">
                <a:solidFill>
                  <a:srgbClr val="B94F3D"/>
                </a:solidFill>
                <a:latin typeface="Helvetica Neue"/>
                <a:ea typeface="Helvetica Neue"/>
                <a:cs typeface="Helvetica Neue"/>
              </a:defRPr>
            </a:pPr>
            <a:r>
              <a:rPr sz="1125" b="1">
                <a:solidFill>
                  <a:srgbClr val="B94F3D"/>
                </a:solidFill>
                <a:latin typeface="Helvetica Neue"/>
                <a:ea typeface="Helvetica Neue"/>
                <a:cs typeface="Helvetica Neue"/>
              </a:rPr>
              <a:t>Use current orders, facility policy, and authorized scope when applying this information.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06571797-A7FC-4BBB-B796-029BF44267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5772150"/>
            <a:ext cx="101917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97619"/>
          </a:bodyPr>
          <a:lstStyle xmlns:a="http://schemas.openxmlformats.org/drawingml/2006/main">
            <a:defPPr>
              <a:defRPr sz="1050" b="1">
                <a:solidFill>
                  <a:srgbClr val="237B82"/>
                </a:solidFill>
                <a:latin typeface="Helvetica Neue"/>
                <a:ea typeface="Helvetica Neue"/>
                <a:cs typeface="Helvetica Neue"/>
              </a:defRPr>
            </a:defPPr>
            <a:lvl1pPr>
              <a:defRPr sz="1050" b="1">
                <a:solidFill>
                  <a:srgbClr val="237B82"/>
                </a:solidFill>
                <a:latin typeface="Helvetica Neue"/>
                <a:ea typeface="Helvetica Neue"/>
                <a:cs typeface="Helvetica Neue"/>
              </a:defRPr>
            </a:lvl1pPr>
            <a:lvl2pPr>
              <a:defRPr sz="1050" b="1">
                <a:solidFill>
                  <a:srgbClr val="237B82"/>
                </a:solidFill>
                <a:latin typeface="Helvetica Neue"/>
                <a:ea typeface="Helvetica Neue"/>
                <a:cs typeface="Helvetica Neue"/>
              </a:defRPr>
            </a:lvl2pPr>
            <a:lvl3pPr>
              <a:defRPr sz="1050" b="1">
                <a:solidFill>
                  <a:srgbClr val="237B82"/>
                </a:solidFill>
                <a:latin typeface="Helvetica Neue"/>
                <a:ea typeface="Helvetica Neue"/>
                <a:cs typeface="Helvetica Neue"/>
              </a:defRPr>
            </a:lvl3pPr>
            <a:lvl4pPr>
              <a:defRPr sz="1050" b="1">
                <a:solidFill>
                  <a:srgbClr val="237B82"/>
                </a:solidFill>
                <a:latin typeface="Helvetica Neue"/>
                <a:ea typeface="Helvetica Neue"/>
                <a:cs typeface="Helvetica Neue"/>
              </a:defRPr>
            </a:lvl4pPr>
            <a:lvl5pPr>
              <a:defRPr sz="1050" b="1">
                <a:solidFill>
                  <a:srgbClr val="237B82"/>
                </a:solidFill>
                <a:latin typeface="Helvetica Neue"/>
                <a:ea typeface="Helvetica Neue"/>
                <a:cs typeface="Helvetica Neue"/>
              </a:defRPr>
            </a:lvl5pPr>
            <a:lvl6pPr>
              <a:defRPr sz="1050" b="1">
                <a:solidFill>
                  <a:srgbClr val="237B82"/>
                </a:solidFill>
                <a:latin typeface="Helvetica Neue"/>
                <a:ea typeface="Helvetica Neue"/>
                <a:cs typeface="Helvetica Neue"/>
              </a:defRPr>
            </a:lvl6pPr>
            <a:lvl7pPr>
              <a:defRPr sz="1050" b="1">
                <a:solidFill>
                  <a:srgbClr val="237B82"/>
                </a:solidFill>
                <a:latin typeface="Helvetica Neue"/>
                <a:ea typeface="Helvetica Neue"/>
                <a:cs typeface="Helvetica Neue"/>
              </a:defRPr>
            </a:lvl7pPr>
            <a:lvl8pPr>
              <a:defRPr sz="1050" b="1">
                <a:solidFill>
                  <a:srgbClr val="237B82"/>
                </a:solidFill>
                <a:latin typeface="Helvetica Neue"/>
                <a:ea typeface="Helvetica Neue"/>
                <a:cs typeface="Helvetica Neue"/>
              </a:defRPr>
            </a:lvl8pPr>
            <a:lvl9pPr>
              <a:defRPr sz="1050" b="1">
                <a:solidFill>
                  <a:srgbClr val="237B82"/>
                </a:solidFill>
                <a:latin typeface="Helvetica Neue"/>
                <a:ea typeface="Helvetica Neue"/>
                <a:cs typeface="Helvetica Neue"/>
              </a:defRPr>
            </a:lvl9pPr>
          </a:lstStyle>
          <a:p xmlns:a="http://schemas.openxmlformats.org/drawingml/2006/main">
            <a:pPr>
              <a:defRPr sz="1050" b="1">
                <a:solidFill>
                  <a:srgbClr val="237B82"/>
                </a:solidFill>
                <a:latin typeface="Helvetica Neue"/>
                <a:ea typeface="Helvetica Neue"/>
                <a:cs typeface="Helvetica Neue"/>
              </a:defRPr>
            </a:pPr>
            <a:r>
              <a:rPr sz="1050" b="1">
                <a:solidFill>
                  <a:srgbClr val="237B82"/>
                </a:solidFill>
                <a:latin typeface="Helvetica Neue"/>
                <a:ea typeface="Helvetica Neue"/>
                <a:cs typeface="Helvetica Neue"/>
              </a:rPr>
              <a:t>Manual page 59</a:t>
            </a:r>
          </a:p>
        </p:txBody>
      </p:sp>
    </p:spTree>
    <p:extLst>
      <p:ext uri="{BB962C8B-B14F-4D97-AF65-F5344CB8AC3E}">
        <p14:creationId xmlns:p14="http://schemas.microsoft.com/office/powerpoint/2010/main" val="316713463"/>
      </p:ext>
    </p:extLst>
  </p:cSld>
</p:sld>
</file>

<file path=ppt/slides/slide63.xml><?xml version="1.0" encoding="utf-8"?>
<p:sld xmlns:p="http://schemas.openxmlformats.org/presentationml/2006/main">
  <p:cSld>
    <p:bg>
      <p:bgPr>
        <a:solidFill xmlns:a="http://schemas.openxmlformats.org/drawingml/2006/main">
          <a:srgbClr val="F7F4EE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D958D746-FA74-4C97-8BB3-45AA1C5230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2095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37B82"/>
          </a:solidFill>
          <a:ln xmlns:a="http://schemas.openxmlformats.org/drawingml/2006/main" w="0">
            <a:solidFill>
              <a:srgbClr val="237B82"/>
            </a:solidFill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368C4B5E-8FE8-4CAD-9082-519962207D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00050"/>
            <a:ext cx="10001250" cy="819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88426"/>
          </a:bodyPr>
          <a:lstStyle xmlns:a="http://schemas.openxmlformats.org/drawingml/2006/main">
            <a:defPPr>
              <a:defRPr sz="2700" b="1">
                <a:solidFill>
                  <a:srgbClr val="15324A"/>
                </a:solidFill>
                <a:latin typeface="Helvetica Neue"/>
                <a:ea typeface="Helvetica Neue"/>
                <a:cs typeface="Helvetica Neue"/>
              </a:defRPr>
            </a:defPPr>
            <a:lvl1pPr>
              <a:defRPr sz="2700" b="1">
                <a:solidFill>
                  <a:srgbClr val="15324A"/>
                </a:solidFill>
                <a:latin typeface="Helvetica Neue"/>
                <a:ea typeface="Helvetica Neue"/>
                <a:cs typeface="Helvetica Neue"/>
              </a:defRPr>
            </a:lvl1pPr>
            <a:lvl2pPr>
              <a:defRPr sz="2700" b="1">
                <a:solidFill>
                  <a:srgbClr val="15324A"/>
                </a:solidFill>
                <a:latin typeface="Helvetica Neue"/>
                <a:ea typeface="Helvetica Neue"/>
                <a:cs typeface="Helvetica Neue"/>
              </a:defRPr>
            </a:lvl2pPr>
            <a:lvl3pPr>
              <a:defRPr sz="2700" b="1">
                <a:solidFill>
                  <a:srgbClr val="15324A"/>
                </a:solidFill>
                <a:latin typeface="Helvetica Neue"/>
                <a:ea typeface="Helvetica Neue"/>
                <a:cs typeface="Helvetica Neue"/>
              </a:defRPr>
            </a:lvl3pPr>
            <a:lvl4pPr>
              <a:defRPr sz="2700" b="1">
                <a:solidFill>
                  <a:srgbClr val="15324A"/>
                </a:solidFill>
                <a:latin typeface="Helvetica Neue"/>
                <a:ea typeface="Helvetica Neue"/>
                <a:cs typeface="Helvetica Neue"/>
              </a:defRPr>
            </a:lvl4pPr>
            <a:lvl5pPr>
              <a:defRPr sz="2700" b="1">
                <a:solidFill>
                  <a:srgbClr val="15324A"/>
                </a:solidFill>
                <a:latin typeface="Helvetica Neue"/>
                <a:ea typeface="Helvetica Neue"/>
                <a:cs typeface="Helvetica Neue"/>
              </a:defRPr>
            </a:lvl5pPr>
            <a:lvl6pPr>
              <a:defRPr sz="2700" b="1">
                <a:solidFill>
                  <a:srgbClr val="15324A"/>
                </a:solidFill>
                <a:latin typeface="Helvetica Neue"/>
                <a:ea typeface="Helvetica Neue"/>
                <a:cs typeface="Helvetica Neue"/>
              </a:defRPr>
            </a:lvl6pPr>
            <a:lvl7pPr>
              <a:defRPr sz="2700" b="1">
                <a:solidFill>
                  <a:srgbClr val="15324A"/>
                </a:solidFill>
                <a:latin typeface="Helvetica Neue"/>
                <a:ea typeface="Helvetica Neue"/>
                <a:cs typeface="Helvetica Neue"/>
              </a:defRPr>
            </a:lvl7pPr>
            <a:lvl8pPr>
              <a:defRPr sz="2700" b="1">
                <a:solidFill>
                  <a:srgbClr val="15324A"/>
                </a:solidFill>
                <a:latin typeface="Helvetica Neue"/>
                <a:ea typeface="Helvetica Neue"/>
                <a:cs typeface="Helvetica Neue"/>
              </a:defRPr>
            </a:lvl8pPr>
            <a:lvl9pPr>
              <a:defRPr sz="2700" b="1">
                <a:solidFill>
                  <a:srgbClr val="15324A"/>
                </a:solidFill>
                <a:latin typeface="Helvetica Neue"/>
                <a:ea typeface="Helvetica Neue"/>
                <a:cs typeface="Helvetica Neue"/>
              </a:defRPr>
            </a:lvl9pPr>
          </a:lstStyle>
          <a:p xmlns:a="http://schemas.openxmlformats.org/drawingml/2006/main">
            <a:pPr>
              <a:defRPr sz="2700" b="1">
                <a:solidFill>
                  <a:srgbClr val="15324A"/>
                </a:solidFill>
                <a:latin typeface="Helvetica Neue"/>
                <a:ea typeface="Helvetica Neue"/>
                <a:cs typeface="Helvetica Neue"/>
              </a:defRPr>
            </a:pPr>
            <a:r>
              <a:rPr sz="2700" b="1">
                <a:solidFill>
                  <a:srgbClr val="15324A"/>
                </a:solidFill>
                <a:latin typeface="Helvetica Neue"/>
                <a:ea typeface="Helvetica Neue"/>
                <a:cs typeface="Helvetica Neue"/>
              </a:rPr>
              <a:t>Treatment - Stop transfusion immediately and keep the vein open with normal saline — continued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DA71E1A3-CF96-4CFF-BFED-4E1D6AA28B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1257300"/>
            <a:ext cx="88582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91111"/>
          </a:bodyPr>
          <a:lstStyle xmlns:a="http://schemas.openxmlformats.org/drawingml/2006/main">
            <a:defPPr>
              <a:defRPr sz="1125" b="1">
                <a:solidFill>
                  <a:srgbClr val="237B82"/>
                </a:solidFill>
                <a:latin typeface="Helvetica Neue"/>
                <a:ea typeface="Helvetica Neue"/>
                <a:cs typeface="Helvetica Neue"/>
              </a:defRPr>
            </a:defPPr>
            <a:lvl1pPr>
              <a:defRPr sz="1125" b="1">
                <a:solidFill>
                  <a:srgbClr val="237B82"/>
                </a:solidFill>
                <a:latin typeface="Helvetica Neue"/>
                <a:ea typeface="Helvetica Neue"/>
                <a:cs typeface="Helvetica Neue"/>
              </a:defRPr>
            </a:lvl1pPr>
            <a:lvl2pPr>
              <a:defRPr sz="1125" b="1">
                <a:solidFill>
                  <a:srgbClr val="237B82"/>
                </a:solidFill>
                <a:latin typeface="Helvetica Neue"/>
                <a:ea typeface="Helvetica Neue"/>
                <a:cs typeface="Helvetica Neue"/>
              </a:defRPr>
            </a:lvl2pPr>
            <a:lvl3pPr>
              <a:defRPr sz="1125" b="1">
                <a:solidFill>
                  <a:srgbClr val="237B82"/>
                </a:solidFill>
                <a:latin typeface="Helvetica Neue"/>
                <a:ea typeface="Helvetica Neue"/>
                <a:cs typeface="Helvetica Neue"/>
              </a:defRPr>
            </a:lvl3pPr>
            <a:lvl4pPr>
              <a:defRPr sz="1125" b="1">
                <a:solidFill>
                  <a:srgbClr val="237B82"/>
                </a:solidFill>
                <a:latin typeface="Helvetica Neue"/>
                <a:ea typeface="Helvetica Neue"/>
                <a:cs typeface="Helvetica Neue"/>
              </a:defRPr>
            </a:lvl4pPr>
            <a:lvl5pPr>
              <a:defRPr sz="1125" b="1">
                <a:solidFill>
                  <a:srgbClr val="237B82"/>
                </a:solidFill>
                <a:latin typeface="Helvetica Neue"/>
                <a:ea typeface="Helvetica Neue"/>
                <a:cs typeface="Helvetica Neue"/>
              </a:defRPr>
            </a:lvl5pPr>
            <a:lvl6pPr>
              <a:defRPr sz="1125" b="1">
                <a:solidFill>
                  <a:srgbClr val="237B82"/>
                </a:solidFill>
                <a:latin typeface="Helvetica Neue"/>
                <a:ea typeface="Helvetica Neue"/>
                <a:cs typeface="Helvetica Neue"/>
              </a:defRPr>
            </a:lvl6pPr>
            <a:lvl7pPr>
              <a:defRPr sz="1125" b="1">
                <a:solidFill>
                  <a:srgbClr val="237B82"/>
                </a:solidFill>
                <a:latin typeface="Helvetica Neue"/>
                <a:ea typeface="Helvetica Neue"/>
                <a:cs typeface="Helvetica Neue"/>
              </a:defRPr>
            </a:lvl7pPr>
            <a:lvl8pPr>
              <a:defRPr sz="1125" b="1">
                <a:solidFill>
                  <a:srgbClr val="237B82"/>
                </a:solidFill>
                <a:latin typeface="Helvetica Neue"/>
                <a:ea typeface="Helvetica Neue"/>
                <a:cs typeface="Helvetica Neue"/>
              </a:defRPr>
            </a:lvl8pPr>
            <a:lvl9pPr>
              <a:defRPr sz="1125" b="1">
                <a:solidFill>
                  <a:srgbClr val="237B82"/>
                </a:solidFill>
                <a:latin typeface="Helvetica Neue"/>
                <a:ea typeface="Helvetica Neue"/>
                <a:cs typeface="Helvetica Neue"/>
              </a:defRPr>
            </a:lvl9pPr>
          </a:lstStyle>
          <a:p xmlns:a="http://schemas.openxmlformats.org/drawingml/2006/main">
            <a:pPr>
              <a:defRPr sz="1125" b="1">
                <a:solidFill>
                  <a:srgbClr val="237B82"/>
                </a:solidFill>
                <a:latin typeface="Helvetica Neue"/>
                <a:ea typeface="Helvetica Neue"/>
                <a:cs typeface="Helvetica Neue"/>
              </a:defRPr>
            </a:pPr>
            <a:r>
              <a:rPr sz="1125" b="1">
                <a:solidFill>
                  <a:srgbClr val="237B82"/>
                </a:solidFill>
                <a:latin typeface="Helvetica Neue"/>
                <a:ea typeface="Helvetica Neue"/>
                <a:cs typeface="Helvetica Neue"/>
              </a:rPr>
              <a:t>MODULE 4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405EE881-3C42-4826-9D4F-1B36638E45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457200"/>
            <a:ext cx="5334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>
            <a:defPPr>
              <a:defRPr sz="1200" b="1">
                <a:solidFill>
                  <a:srgbClr val="237B82"/>
                </a:solidFill>
                <a:latin typeface="Helvetica Neue"/>
                <a:ea typeface="Helvetica Neue"/>
                <a:cs typeface="Helvetica Neue"/>
              </a:defRPr>
            </a:defPPr>
            <a:lvl1pPr>
              <a:defRPr sz="1200" b="1">
                <a:solidFill>
                  <a:srgbClr val="237B82"/>
                </a:solidFill>
                <a:latin typeface="Helvetica Neue"/>
                <a:ea typeface="Helvetica Neue"/>
                <a:cs typeface="Helvetica Neue"/>
              </a:defRPr>
            </a:lvl1pPr>
            <a:lvl2pPr>
              <a:defRPr sz="1200" b="1">
                <a:solidFill>
                  <a:srgbClr val="237B82"/>
                </a:solidFill>
                <a:latin typeface="Helvetica Neue"/>
                <a:ea typeface="Helvetica Neue"/>
                <a:cs typeface="Helvetica Neue"/>
              </a:defRPr>
            </a:lvl2pPr>
            <a:lvl3pPr>
              <a:defRPr sz="1200" b="1">
                <a:solidFill>
                  <a:srgbClr val="237B82"/>
                </a:solidFill>
                <a:latin typeface="Helvetica Neue"/>
                <a:ea typeface="Helvetica Neue"/>
                <a:cs typeface="Helvetica Neue"/>
              </a:defRPr>
            </a:lvl3pPr>
            <a:lvl4pPr>
              <a:defRPr sz="1200" b="1">
                <a:solidFill>
                  <a:srgbClr val="237B82"/>
                </a:solidFill>
                <a:latin typeface="Helvetica Neue"/>
                <a:ea typeface="Helvetica Neue"/>
                <a:cs typeface="Helvetica Neue"/>
              </a:defRPr>
            </a:lvl4pPr>
            <a:lvl5pPr>
              <a:defRPr sz="1200" b="1">
                <a:solidFill>
                  <a:srgbClr val="237B82"/>
                </a:solidFill>
                <a:latin typeface="Helvetica Neue"/>
                <a:ea typeface="Helvetica Neue"/>
                <a:cs typeface="Helvetica Neue"/>
              </a:defRPr>
            </a:lvl5pPr>
            <a:lvl6pPr>
              <a:defRPr sz="1200" b="1">
                <a:solidFill>
                  <a:srgbClr val="237B82"/>
                </a:solidFill>
                <a:latin typeface="Helvetica Neue"/>
                <a:ea typeface="Helvetica Neue"/>
                <a:cs typeface="Helvetica Neue"/>
              </a:defRPr>
            </a:lvl6pPr>
            <a:lvl7pPr>
              <a:defRPr sz="1200" b="1">
                <a:solidFill>
                  <a:srgbClr val="237B82"/>
                </a:solidFill>
                <a:latin typeface="Helvetica Neue"/>
                <a:ea typeface="Helvetica Neue"/>
                <a:cs typeface="Helvetica Neue"/>
              </a:defRPr>
            </a:lvl7pPr>
            <a:lvl8pPr>
              <a:defRPr sz="1200" b="1">
                <a:solidFill>
                  <a:srgbClr val="237B82"/>
                </a:solidFill>
                <a:latin typeface="Helvetica Neue"/>
                <a:ea typeface="Helvetica Neue"/>
                <a:cs typeface="Helvetica Neue"/>
              </a:defRPr>
            </a:lvl8pPr>
            <a:lvl9pPr>
              <a:defRPr sz="1200" b="1">
                <a:solidFill>
                  <a:srgbClr val="237B82"/>
                </a:solidFill>
                <a:latin typeface="Helvetica Neue"/>
                <a:ea typeface="Helvetica Neue"/>
                <a:cs typeface="Helvetica Neue"/>
              </a:defRPr>
            </a:lvl9pPr>
          </a:lstStyle>
          <a:p xmlns:a="http://schemas.openxmlformats.org/drawingml/2006/main">
            <a:pPr>
              <a:defRPr sz="1200" b="1">
                <a:solidFill>
                  <a:srgbClr val="237B82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00" b="1">
                <a:solidFill>
                  <a:srgbClr val="237B82"/>
                </a:solidFill>
                <a:latin typeface="Helvetica Neue"/>
                <a:ea typeface="Helvetica Neue"/>
                <a:cs typeface="Helvetica Neue"/>
              </a:rPr>
              <a:t>63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3B7C8E2C-0576-4A97-8D82-6D153EB0DD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1762125"/>
            <a:ext cx="10287000" cy="409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>
            <a:defPPr>
              <a:defRPr sz="1875">
                <a:solidFill>
                  <a:srgbClr val="13212D"/>
                </a:solidFill>
                <a:latin typeface="Helvetica Neue"/>
                <a:ea typeface="Helvetica Neue"/>
                <a:cs typeface="Helvetica Neue"/>
              </a:defRPr>
            </a:defPPr>
            <a:lvl1pPr>
              <a:defRPr sz="1875">
                <a:solidFill>
                  <a:srgbClr val="13212D"/>
                </a:solidFill>
                <a:latin typeface="Helvetica Neue"/>
                <a:ea typeface="Helvetica Neue"/>
                <a:cs typeface="Helvetica Neue"/>
              </a:defRPr>
            </a:lvl1pPr>
            <a:lvl2pPr>
              <a:defRPr sz="1875">
                <a:solidFill>
                  <a:srgbClr val="13212D"/>
                </a:solidFill>
                <a:latin typeface="Helvetica Neue"/>
                <a:ea typeface="Helvetica Neue"/>
                <a:cs typeface="Helvetica Neue"/>
              </a:defRPr>
            </a:lvl2pPr>
            <a:lvl3pPr>
              <a:defRPr sz="1875">
                <a:solidFill>
                  <a:srgbClr val="13212D"/>
                </a:solidFill>
                <a:latin typeface="Helvetica Neue"/>
                <a:ea typeface="Helvetica Neue"/>
                <a:cs typeface="Helvetica Neue"/>
              </a:defRPr>
            </a:lvl3pPr>
            <a:lvl4pPr>
              <a:defRPr sz="1875">
                <a:solidFill>
                  <a:srgbClr val="13212D"/>
                </a:solidFill>
                <a:latin typeface="Helvetica Neue"/>
                <a:ea typeface="Helvetica Neue"/>
                <a:cs typeface="Helvetica Neue"/>
              </a:defRPr>
            </a:lvl4pPr>
            <a:lvl5pPr>
              <a:defRPr sz="1875">
                <a:solidFill>
                  <a:srgbClr val="13212D"/>
                </a:solidFill>
                <a:latin typeface="Helvetica Neue"/>
                <a:ea typeface="Helvetica Neue"/>
                <a:cs typeface="Helvetica Neue"/>
              </a:defRPr>
            </a:lvl5pPr>
            <a:lvl6pPr>
              <a:defRPr sz="1875">
                <a:solidFill>
                  <a:srgbClr val="13212D"/>
                </a:solidFill>
                <a:latin typeface="Helvetica Neue"/>
                <a:ea typeface="Helvetica Neue"/>
                <a:cs typeface="Helvetica Neue"/>
              </a:defRPr>
            </a:lvl6pPr>
            <a:lvl7pPr>
              <a:defRPr sz="1875">
                <a:solidFill>
                  <a:srgbClr val="13212D"/>
                </a:solidFill>
                <a:latin typeface="Helvetica Neue"/>
                <a:ea typeface="Helvetica Neue"/>
                <a:cs typeface="Helvetica Neue"/>
              </a:defRPr>
            </a:lvl7pPr>
            <a:lvl8pPr>
              <a:defRPr sz="1875">
                <a:solidFill>
                  <a:srgbClr val="13212D"/>
                </a:solidFill>
                <a:latin typeface="Helvetica Neue"/>
                <a:ea typeface="Helvetica Neue"/>
                <a:cs typeface="Helvetica Neue"/>
              </a:defRPr>
            </a:lvl8pPr>
            <a:lvl9pPr>
              <a:defRPr sz="1875">
                <a:solidFill>
                  <a:srgbClr val="13212D"/>
                </a:solidFill>
                <a:latin typeface="Helvetica Neue"/>
                <a:ea typeface="Helvetica Neue"/>
                <a:cs typeface="Helvetica Neue"/>
              </a:defRPr>
            </a:lvl9pPr>
          </a:lstStyle>
          <a:p xmlns:a="http://schemas.openxmlformats.org/drawingml/2006/main">
            <a:pPr marL="279400" indent="-127000">
              <a:spcAft>
                <a:spcPts val="1300"/>
              </a:spcAft>
              <a:buChar char="•"/>
              <a:defRPr sz="1875">
                <a:solidFill>
                  <a:srgbClr val="13212D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75">
                <a:solidFill>
                  <a:srgbClr val="13212D"/>
                </a:solidFill>
                <a:latin typeface="Helvetica Neue"/>
                <a:ea typeface="Helvetica Neue"/>
                <a:cs typeface="Helvetica Neue"/>
              </a:rPr>
              <a:t>Slow or stop the infusion depending on the patient's condition.</a:t>
            </a:r>
          </a:p>
          <a:p xmlns:a="http://schemas.openxmlformats.org/drawingml/2006/main">
            <a:pPr marL="279400" indent="-127000">
              <a:spcAft>
                <a:spcPts val="1300"/>
              </a:spcAft>
              <a:buChar char="•"/>
              <a:defRPr sz="1875">
                <a:solidFill>
                  <a:srgbClr val="13212D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75">
                <a:solidFill>
                  <a:srgbClr val="13212D"/>
                </a:solidFill>
                <a:latin typeface="Helvetica Neue"/>
                <a:ea typeface="Helvetica Neue"/>
                <a:cs typeface="Helvetica Neue"/>
              </a:rPr>
              <a:t>Notify the physician.</a:t>
            </a:r>
          </a:p>
          <a:p xmlns:a="http://schemas.openxmlformats.org/drawingml/2006/main">
            <a:pPr marL="279400" indent="-127000">
              <a:spcAft>
                <a:spcPts val="1300"/>
              </a:spcAft>
              <a:buChar char="•"/>
              <a:defRPr sz="1875">
                <a:solidFill>
                  <a:srgbClr val="13212D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75">
                <a:solidFill>
                  <a:srgbClr val="13212D"/>
                </a:solidFill>
                <a:latin typeface="Helvetica Neue"/>
                <a:ea typeface="Helvetica Neue"/>
                <a:cs typeface="Helvetica Neue"/>
              </a:rPr>
              <a:t>Treat for shock or cardiac arrest if they occur.</a:t>
            </a:r>
          </a:p>
          <a:p xmlns:a="http://schemas.openxmlformats.org/drawingml/2006/main">
            <a:pPr marL="279400" indent="-127000">
              <a:spcAft>
                <a:spcPts val="1300"/>
              </a:spcAft>
              <a:buChar char="•"/>
              <a:defRPr sz="1875">
                <a:solidFill>
                  <a:srgbClr val="13212D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75">
                <a:solidFill>
                  <a:srgbClr val="13212D"/>
                </a:solidFill>
                <a:latin typeface="Helvetica Neue"/>
                <a:ea typeface="Helvetica Neue"/>
                <a:cs typeface="Helvetica Neue"/>
              </a:rPr>
              <a:t>Prevention - Minimize the risk of air embolism to the patient by expelling all the air from the tubing before beginning transfusions.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349C2E53-36BD-4F41-A980-121B78C8DB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6115050"/>
            <a:ext cx="101917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>
            <a:defPPr>
              <a:defRPr sz="1125" b="1">
                <a:solidFill>
                  <a:srgbClr val="B94F3D"/>
                </a:solidFill>
                <a:latin typeface="Helvetica Neue"/>
                <a:ea typeface="Helvetica Neue"/>
                <a:cs typeface="Helvetica Neue"/>
              </a:defRPr>
            </a:defPPr>
            <a:lvl1pPr>
              <a:defRPr sz="1125" b="1">
                <a:solidFill>
                  <a:srgbClr val="B94F3D"/>
                </a:solidFill>
                <a:latin typeface="Helvetica Neue"/>
                <a:ea typeface="Helvetica Neue"/>
                <a:cs typeface="Helvetica Neue"/>
              </a:defRPr>
            </a:lvl1pPr>
            <a:lvl2pPr>
              <a:defRPr sz="1125" b="1">
                <a:solidFill>
                  <a:srgbClr val="B94F3D"/>
                </a:solidFill>
                <a:latin typeface="Helvetica Neue"/>
                <a:ea typeface="Helvetica Neue"/>
                <a:cs typeface="Helvetica Neue"/>
              </a:defRPr>
            </a:lvl2pPr>
            <a:lvl3pPr>
              <a:defRPr sz="1125" b="1">
                <a:solidFill>
                  <a:srgbClr val="B94F3D"/>
                </a:solidFill>
                <a:latin typeface="Helvetica Neue"/>
                <a:ea typeface="Helvetica Neue"/>
                <a:cs typeface="Helvetica Neue"/>
              </a:defRPr>
            </a:lvl3pPr>
            <a:lvl4pPr>
              <a:defRPr sz="1125" b="1">
                <a:solidFill>
                  <a:srgbClr val="B94F3D"/>
                </a:solidFill>
                <a:latin typeface="Helvetica Neue"/>
                <a:ea typeface="Helvetica Neue"/>
                <a:cs typeface="Helvetica Neue"/>
              </a:defRPr>
            </a:lvl4pPr>
            <a:lvl5pPr>
              <a:defRPr sz="1125" b="1">
                <a:solidFill>
                  <a:srgbClr val="B94F3D"/>
                </a:solidFill>
                <a:latin typeface="Helvetica Neue"/>
                <a:ea typeface="Helvetica Neue"/>
                <a:cs typeface="Helvetica Neue"/>
              </a:defRPr>
            </a:lvl5pPr>
            <a:lvl6pPr>
              <a:defRPr sz="1125" b="1">
                <a:solidFill>
                  <a:srgbClr val="B94F3D"/>
                </a:solidFill>
                <a:latin typeface="Helvetica Neue"/>
                <a:ea typeface="Helvetica Neue"/>
                <a:cs typeface="Helvetica Neue"/>
              </a:defRPr>
            </a:lvl6pPr>
            <a:lvl7pPr>
              <a:defRPr sz="1125" b="1">
                <a:solidFill>
                  <a:srgbClr val="B94F3D"/>
                </a:solidFill>
                <a:latin typeface="Helvetica Neue"/>
                <a:ea typeface="Helvetica Neue"/>
                <a:cs typeface="Helvetica Neue"/>
              </a:defRPr>
            </a:lvl7pPr>
            <a:lvl8pPr>
              <a:defRPr sz="1125" b="1">
                <a:solidFill>
                  <a:srgbClr val="B94F3D"/>
                </a:solidFill>
                <a:latin typeface="Helvetica Neue"/>
                <a:ea typeface="Helvetica Neue"/>
                <a:cs typeface="Helvetica Neue"/>
              </a:defRPr>
            </a:lvl8pPr>
            <a:lvl9pPr>
              <a:defRPr sz="1125" b="1">
                <a:solidFill>
                  <a:srgbClr val="B94F3D"/>
                </a:solidFill>
                <a:latin typeface="Helvetica Neue"/>
                <a:ea typeface="Helvetica Neue"/>
                <a:cs typeface="Helvetica Neue"/>
              </a:defRPr>
            </a:lvl9pPr>
          </a:lstStyle>
          <a:p xmlns:a="http://schemas.openxmlformats.org/drawingml/2006/main">
            <a:pPr>
              <a:defRPr sz="1125" b="1">
                <a:solidFill>
                  <a:srgbClr val="B94F3D"/>
                </a:solidFill>
                <a:latin typeface="Helvetica Neue"/>
                <a:ea typeface="Helvetica Neue"/>
                <a:cs typeface="Helvetica Neue"/>
              </a:defRPr>
            </a:pPr>
            <a:r>
              <a:rPr sz="1125" b="1">
                <a:solidFill>
                  <a:srgbClr val="B94F3D"/>
                </a:solidFill>
                <a:latin typeface="Helvetica Neue"/>
                <a:ea typeface="Helvetica Neue"/>
                <a:cs typeface="Helvetica Neue"/>
              </a:rPr>
              <a:t>Use current orders, facility policy, and authorized scope when applying this information.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164F1230-9C39-422E-98E5-B244EB7959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5772150"/>
            <a:ext cx="101917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97619"/>
          </a:bodyPr>
          <a:lstStyle xmlns:a="http://schemas.openxmlformats.org/drawingml/2006/main">
            <a:defPPr>
              <a:defRPr sz="1050" b="1">
                <a:solidFill>
                  <a:srgbClr val="237B82"/>
                </a:solidFill>
                <a:latin typeface="Helvetica Neue"/>
                <a:ea typeface="Helvetica Neue"/>
                <a:cs typeface="Helvetica Neue"/>
              </a:defRPr>
            </a:defPPr>
            <a:lvl1pPr>
              <a:defRPr sz="1050" b="1">
                <a:solidFill>
                  <a:srgbClr val="237B82"/>
                </a:solidFill>
                <a:latin typeface="Helvetica Neue"/>
                <a:ea typeface="Helvetica Neue"/>
                <a:cs typeface="Helvetica Neue"/>
              </a:defRPr>
            </a:lvl1pPr>
            <a:lvl2pPr>
              <a:defRPr sz="1050" b="1">
                <a:solidFill>
                  <a:srgbClr val="237B82"/>
                </a:solidFill>
                <a:latin typeface="Helvetica Neue"/>
                <a:ea typeface="Helvetica Neue"/>
                <a:cs typeface="Helvetica Neue"/>
              </a:defRPr>
            </a:lvl2pPr>
            <a:lvl3pPr>
              <a:defRPr sz="1050" b="1">
                <a:solidFill>
                  <a:srgbClr val="237B82"/>
                </a:solidFill>
                <a:latin typeface="Helvetica Neue"/>
                <a:ea typeface="Helvetica Neue"/>
                <a:cs typeface="Helvetica Neue"/>
              </a:defRPr>
            </a:lvl3pPr>
            <a:lvl4pPr>
              <a:defRPr sz="1050" b="1">
                <a:solidFill>
                  <a:srgbClr val="237B82"/>
                </a:solidFill>
                <a:latin typeface="Helvetica Neue"/>
                <a:ea typeface="Helvetica Neue"/>
                <a:cs typeface="Helvetica Neue"/>
              </a:defRPr>
            </a:lvl4pPr>
            <a:lvl5pPr>
              <a:defRPr sz="1050" b="1">
                <a:solidFill>
                  <a:srgbClr val="237B82"/>
                </a:solidFill>
                <a:latin typeface="Helvetica Neue"/>
                <a:ea typeface="Helvetica Neue"/>
                <a:cs typeface="Helvetica Neue"/>
              </a:defRPr>
            </a:lvl5pPr>
            <a:lvl6pPr>
              <a:defRPr sz="1050" b="1">
                <a:solidFill>
                  <a:srgbClr val="237B82"/>
                </a:solidFill>
                <a:latin typeface="Helvetica Neue"/>
                <a:ea typeface="Helvetica Neue"/>
                <a:cs typeface="Helvetica Neue"/>
              </a:defRPr>
            </a:lvl6pPr>
            <a:lvl7pPr>
              <a:defRPr sz="1050" b="1">
                <a:solidFill>
                  <a:srgbClr val="237B82"/>
                </a:solidFill>
                <a:latin typeface="Helvetica Neue"/>
                <a:ea typeface="Helvetica Neue"/>
                <a:cs typeface="Helvetica Neue"/>
              </a:defRPr>
            </a:lvl7pPr>
            <a:lvl8pPr>
              <a:defRPr sz="1050" b="1">
                <a:solidFill>
                  <a:srgbClr val="237B82"/>
                </a:solidFill>
                <a:latin typeface="Helvetica Neue"/>
                <a:ea typeface="Helvetica Neue"/>
                <a:cs typeface="Helvetica Neue"/>
              </a:defRPr>
            </a:lvl8pPr>
            <a:lvl9pPr>
              <a:defRPr sz="1050" b="1">
                <a:solidFill>
                  <a:srgbClr val="237B82"/>
                </a:solidFill>
                <a:latin typeface="Helvetica Neue"/>
                <a:ea typeface="Helvetica Neue"/>
                <a:cs typeface="Helvetica Neue"/>
              </a:defRPr>
            </a:lvl9pPr>
          </a:lstStyle>
          <a:p xmlns:a="http://schemas.openxmlformats.org/drawingml/2006/main">
            <a:pPr>
              <a:defRPr sz="1050" b="1">
                <a:solidFill>
                  <a:srgbClr val="237B82"/>
                </a:solidFill>
                <a:latin typeface="Helvetica Neue"/>
                <a:ea typeface="Helvetica Neue"/>
                <a:cs typeface="Helvetica Neue"/>
              </a:defRPr>
            </a:pPr>
            <a:r>
              <a:rPr sz="1050" b="1">
                <a:solidFill>
                  <a:srgbClr val="237B82"/>
                </a:solidFill>
                <a:latin typeface="Helvetica Neue"/>
                <a:ea typeface="Helvetica Neue"/>
                <a:cs typeface="Helvetica Neue"/>
              </a:rPr>
              <a:t>Manual page 59</a:t>
            </a:r>
          </a:p>
        </p:txBody>
      </p:sp>
    </p:spTree>
    <p:extLst>
      <p:ext uri="{BB962C8B-B14F-4D97-AF65-F5344CB8AC3E}">
        <p14:creationId xmlns:p14="http://schemas.microsoft.com/office/powerpoint/2010/main" val="1515470138"/>
      </p:ext>
    </p:extLst>
  </p:cSld>
</p:sld>
</file>

<file path=ppt/slides/slide64.xml><?xml version="1.0" encoding="utf-8"?>
<p:sld xmlns:p="http://schemas.openxmlformats.org/presentationml/2006/main">
  <p:cSld>
    <p:bg>
      <p:bgPr>
        <a:solidFill xmlns:a="http://schemas.openxmlformats.org/drawingml/2006/main">
          <a:srgbClr val="F7F4EE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1C6C836B-440B-4922-8013-7C9B63288E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2095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37B82"/>
          </a:solidFill>
          <a:ln xmlns:a="http://schemas.openxmlformats.org/drawingml/2006/main" w="0">
            <a:solidFill>
              <a:srgbClr val="237B82"/>
            </a:solidFill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591D85B4-4F1B-4BAE-AA6C-04EFD15F9D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00050"/>
            <a:ext cx="10001250" cy="819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88426"/>
          </a:bodyPr>
          <a:lstStyle xmlns:a="http://schemas.openxmlformats.org/drawingml/2006/main">
            <a:defPPr>
              <a:defRPr sz="2700" b="1">
                <a:solidFill>
                  <a:srgbClr val="15324A"/>
                </a:solidFill>
                <a:latin typeface="Helvetica Neue"/>
                <a:ea typeface="Helvetica Neue"/>
                <a:cs typeface="Helvetica Neue"/>
              </a:defRPr>
            </a:defPPr>
            <a:lvl1pPr>
              <a:defRPr sz="2700" b="1">
                <a:solidFill>
                  <a:srgbClr val="15324A"/>
                </a:solidFill>
                <a:latin typeface="Helvetica Neue"/>
                <a:ea typeface="Helvetica Neue"/>
                <a:cs typeface="Helvetica Neue"/>
              </a:defRPr>
            </a:lvl1pPr>
            <a:lvl2pPr>
              <a:defRPr sz="2700" b="1">
                <a:solidFill>
                  <a:srgbClr val="15324A"/>
                </a:solidFill>
                <a:latin typeface="Helvetica Neue"/>
                <a:ea typeface="Helvetica Neue"/>
                <a:cs typeface="Helvetica Neue"/>
              </a:defRPr>
            </a:lvl2pPr>
            <a:lvl3pPr>
              <a:defRPr sz="2700" b="1">
                <a:solidFill>
                  <a:srgbClr val="15324A"/>
                </a:solidFill>
                <a:latin typeface="Helvetica Neue"/>
                <a:ea typeface="Helvetica Neue"/>
                <a:cs typeface="Helvetica Neue"/>
              </a:defRPr>
            </a:lvl3pPr>
            <a:lvl4pPr>
              <a:defRPr sz="2700" b="1">
                <a:solidFill>
                  <a:srgbClr val="15324A"/>
                </a:solidFill>
                <a:latin typeface="Helvetica Neue"/>
                <a:ea typeface="Helvetica Neue"/>
                <a:cs typeface="Helvetica Neue"/>
              </a:defRPr>
            </a:lvl4pPr>
            <a:lvl5pPr>
              <a:defRPr sz="2700" b="1">
                <a:solidFill>
                  <a:srgbClr val="15324A"/>
                </a:solidFill>
                <a:latin typeface="Helvetica Neue"/>
                <a:ea typeface="Helvetica Neue"/>
                <a:cs typeface="Helvetica Neue"/>
              </a:defRPr>
            </a:lvl5pPr>
            <a:lvl6pPr>
              <a:defRPr sz="2700" b="1">
                <a:solidFill>
                  <a:srgbClr val="15324A"/>
                </a:solidFill>
                <a:latin typeface="Helvetica Neue"/>
                <a:ea typeface="Helvetica Neue"/>
                <a:cs typeface="Helvetica Neue"/>
              </a:defRPr>
            </a:lvl6pPr>
            <a:lvl7pPr>
              <a:defRPr sz="2700" b="1">
                <a:solidFill>
                  <a:srgbClr val="15324A"/>
                </a:solidFill>
                <a:latin typeface="Helvetica Neue"/>
                <a:ea typeface="Helvetica Neue"/>
                <a:cs typeface="Helvetica Neue"/>
              </a:defRPr>
            </a:lvl7pPr>
            <a:lvl8pPr>
              <a:defRPr sz="2700" b="1">
                <a:solidFill>
                  <a:srgbClr val="15324A"/>
                </a:solidFill>
                <a:latin typeface="Helvetica Neue"/>
                <a:ea typeface="Helvetica Neue"/>
                <a:cs typeface="Helvetica Neue"/>
              </a:defRPr>
            </a:lvl8pPr>
            <a:lvl9pPr>
              <a:defRPr sz="2700" b="1">
                <a:solidFill>
                  <a:srgbClr val="15324A"/>
                </a:solidFill>
                <a:latin typeface="Helvetica Neue"/>
                <a:ea typeface="Helvetica Neue"/>
                <a:cs typeface="Helvetica Neue"/>
              </a:defRPr>
            </a:lvl9pPr>
          </a:lstStyle>
          <a:p xmlns:a="http://schemas.openxmlformats.org/drawingml/2006/main">
            <a:pPr>
              <a:defRPr sz="2700" b="1">
                <a:solidFill>
                  <a:srgbClr val="15324A"/>
                </a:solidFill>
                <a:latin typeface="Helvetica Neue"/>
                <a:ea typeface="Helvetica Neue"/>
                <a:cs typeface="Helvetica Neue"/>
              </a:defRPr>
            </a:pPr>
            <a:r>
              <a:rPr sz="2700" b="1">
                <a:solidFill>
                  <a:srgbClr val="15324A"/>
                </a:solidFill>
                <a:latin typeface="Helvetica Neue"/>
                <a:ea typeface="Helvetica Neue"/>
                <a:cs typeface="Helvetica Neue"/>
              </a:rPr>
              <a:t>Treatment - Stop transfusion immediately and keep the vein open with normal saline — continued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6A2118D9-2300-47A6-837F-AFCD3D670A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1257300"/>
            <a:ext cx="88582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91111"/>
          </a:bodyPr>
          <a:lstStyle xmlns:a="http://schemas.openxmlformats.org/drawingml/2006/main">
            <a:defPPr>
              <a:defRPr sz="1125" b="1">
                <a:solidFill>
                  <a:srgbClr val="237B82"/>
                </a:solidFill>
                <a:latin typeface="Helvetica Neue"/>
                <a:ea typeface="Helvetica Neue"/>
                <a:cs typeface="Helvetica Neue"/>
              </a:defRPr>
            </a:defPPr>
            <a:lvl1pPr>
              <a:defRPr sz="1125" b="1">
                <a:solidFill>
                  <a:srgbClr val="237B82"/>
                </a:solidFill>
                <a:latin typeface="Helvetica Neue"/>
                <a:ea typeface="Helvetica Neue"/>
                <a:cs typeface="Helvetica Neue"/>
              </a:defRPr>
            </a:lvl1pPr>
            <a:lvl2pPr>
              <a:defRPr sz="1125" b="1">
                <a:solidFill>
                  <a:srgbClr val="237B82"/>
                </a:solidFill>
                <a:latin typeface="Helvetica Neue"/>
                <a:ea typeface="Helvetica Neue"/>
                <a:cs typeface="Helvetica Neue"/>
              </a:defRPr>
            </a:lvl2pPr>
            <a:lvl3pPr>
              <a:defRPr sz="1125" b="1">
                <a:solidFill>
                  <a:srgbClr val="237B82"/>
                </a:solidFill>
                <a:latin typeface="Helvetica Neue"/>
                <a:ea typeface="Helvetica Neue"/>
                <a:cs typeface="Helvetica Neue"/>
              </a:defRPr>
            </a:lvl3pPr>
            <a:lvl4pPr>
              <a:defRPr sz="1125" b="1">
                <a:solidFill>
                  <a:srgbClr val="237B82"/>
                </a:solidFill>
                <a:latin typeface="Helvetica Neue"/>
                <a:ea typeface="Helvetica Neue"/>
                <a:cs typeface="Helvetica Neue"/>
              </a:defRPr>
            </a:lvl4pPr>
            <a:lvl5pPr>
              <a:defRPr sz="1125" b="1">
                <a:solidFill>
                  <a:srgbClr val="237B82"/>
                </a:solidFill>
                <a:latin typeface="Helvetica Neue"/>
                <a:ea typeface="Helvetica Neue"/>
                <a:cs typeface="Helvetica Neue"/>
              </a:defRPr>
            </a:lvl5pPr>
            <a:lvl6pPr>
              <a:defRPr sz="1125" b="1">
                <a:solidFill>
                  <a:srgbClr val="237B82"/>
                </a:solidFill>
                <a:latin typeface="Helvetica Neue"/>
                <a:ea typeface="Helvetica Neue"/>
                <a:cs typeface="Helvetica Neue"/>
              </a:defRPr>
            </a:lvl6pPr>
            <a:lvl7pPr>
              <a:defRPr sz="1125" b="1">
                <a:solidFill>
                  <a:srgbClr val="237B82"/>
                </a:solidFill>
                <a:latin typeface="Helvetica Neue"/>
                <a:ea typeface="Helvetica Neue"/>
                <a:cs typeface="Helvetica Neue"/>
              </a:defRPr>
            </a:lvl7pPr>
            <a:lvl8pPr>
              <a:defRPr sz="1125" b="1">
                <a:solidFill>
                  <a:srgbClr val="237B82"/>
                </a:solidFill>
                <a:latin typeface="Helvetica Neue"/>
                <a:ea typeface="Helvetica Neue"/>
                <a:cs typeface="Helvetica Neue"/>
              </a:defRPr>
            </a:lvl8pPr>
            <a:lvl9pPr>
              <a:defRPr sz="1125" b="1">
                <a:solidFill>
                  <a:srgbClr val="237B82"/>
                </a:solidFill>
                <a:latin typeface="Helvetica Neue"/>
                <a:ea typeface="Helvetica Neue"/>
                <a:cs typeface="Helvetica Neue"/>
              </a:defRPr>
            </a:lvl9pPr>
          </a:lstStyle>
          <a:p xmlns:a="http://schemas.openxmlformats.org/drawingml/2006/main">
            <a:pPr>
              <a:defRPr sz="1125" b="1">
                <a:solidFill>
                  <a:srgbClr val="237B82"/>
                </a:solidFill>
                <a:latin typeface="Helvetica Neue"/>
                <a:ea typeface="Helvetica Neue"/>
                <a:cs typeface="Helvetica Neue"/>
              </a:defRPr>
            </a:pPr>
            <a:r>
              <a:rPr sz="1125" b="1">
                <a:solidFill>
                  <a:srgbClr val="237B82"/>
                </a:solidFill>
                <a:latin typeface="Helvetica Neue"/>
                <a:ea typeface="Helvetica Neue"/>
                <a:cs typeface="Helvetica Neue"/>
              </a:rPr>
              <a:t>MODULE 4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003951D8-C615-44F7-AC1D-74236E9BAA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457200"/>
            <a:ext cx="5334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>
            <a:defPPr>
              <a:defRPr sz="1200" b="1">
                <a:solidFill>
                  <a:srgbClr val="237B82"/>
                </a:solidFill>
                <a:latin typeface="Helvetica Neue"/>
                <a:ea typeface="Helvetica Neue"/>
                <a:cs typeface="Helvetica Neue"/>
              </a:defRPr>
            </a:defPPr>
            <a:lvl1pPr>
              <a:defRPr sz="1200" b="1">
                <a:solidFill>
                  <a:srgbClr val="237B82"/>
                </a:solidFill>
                <a:latin typeface="Helvetica Neue"/>
                <a:ea typeface="Helvetica Neue"/>
                <a:cs typeface="Helvetica Neue"/>
              </a:defRPr>
            </a:lvl1pPr>
            <a:lvl2pPr>
              <a:defRPr sz="1200" b="1">
                <a:solidFill>
                  <a:srgbClr val="237B82"/>
                </a:solidFill>
                <a:latin typeface="Helvetica Neue"/>
                <a:ea typeface="Helvetica Neue"/>
                <a:cs typeface="Helvetica Neue"/>
              </a:defRPr>
            </a:lvl2pPr>
            <a:lvl3pPr>
              <a:defRPr sz="1200" b="1">
                <a:solidFill>
                  <a:srgbClr val="237B82"/>
                </a:solidFill>
                <a:latin typeface="Helvetica Neue"/>
                <a:ea typeface="Helvetica Neue"/>
                <a:cs typeface="Helvetica Neue"/>
              </a:defRPr>
            </a:lvl3pPr>
            <a:lvl4pPr>
              <a:defRPr sz="1200" b="1">
                <a:solidFill>
                  <a:srgbClr val="237B82"/>
                </a:solidFill>
                <a:latin typeface="Helvetica Neue"/>
                <a:ea typeface="Helvetica Neue"/>
                <a:cs typeface="Helvetica Neue"/>
              </a:defRPr>
            </a:lvl4pPr>
            <a:lvl5pPr>
              <a:defRPr sz="1200" b="1">
                <a:solidFill>
                  <a:srgbClr val="237B82"/>
                </a:solidFill>
                <a:latin typeface="Helvetica Neue"/>
                <a:ea typeface="Helvetica Neue"/>
                <a:cs typeface="Helvetica Neue"/>
              </a:defRPr>
            </a:lvl5pPr>
            <a:lvl6pPr>
              <a:defRPr sz="1200" b="1">
                <a:solidFill>
                  <a:srgbClr val="237B82"/>
                </a:solidFill>
                <a:latin typeface="Helvetica Neue"/>
                <a:ea typeface="Helvetica Neue"/>
                <a:cs typeface="Helvetica Neue"/>
              </a:defRPr>
            </a:lvl6pPr>
            <a:lvl7pPr>
              <a:defRPr sz="1200" b="1">
                <a:solidFill>
                  <a:srgbClr val="237B82"/>
                </a:solidFill>
                <a:latin typeface="Helvetica Neue"/>
                <a:ea typeface="Helvetica Neue"/>
                <a:cs typeface="Helvetica Neue"/>
              </a:defRPr>
            </a:lvl7pPr>
            <a:lvl8pPr>
              <a:defRPr sz="1200" b="1">
                <a:solidFill>
                  <a:srgbClr val="237B82"/>
                </a:solidFill>
                <a:latin typeface="Helvetica Neue"/>
                <a:ea typeface="Helvetica Neue"/>
                <a:cs typeface="Helvetica Neue"/>
              </a:defRPr>
            </a:lvl8pPr>
            <a:lvl9pPr>
              <a:defRPr sz="1200" b="1">
                <a:solidFill>
                  <a:srgbClr val="237B82"/>
                </a:solidFill>
                <a:latin typeface="Helvetica Neue"/>
                <a:ea typeface="Helvetica Neue"/>
                <a:cs typeface="Helvetica Neue"/>
              </a:defRPr>
            </a:lvl9pPr>
          </a:lstStyle>
          <a:p xmlns:a="http://schemas.openxmlformats.org/drawingml/2006/main">
            <a:pPr>
              <a:defRPr sz="1200" b="1">
                <a:solidFill>
                  <a:srgbClr val="237B82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00" b="1">
                <a:solidFill>
                  <a:srgbClr val="237B82"/>
                </a:solidFill>
                <a:latin typeface="Helvetica Neue"/>
                <a:ea typeface="Helvetica Neue"/>
                <a:cs typeface="Helvetica Neue"/>
              </a:rPr>
              <a:t>64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E26764A0-A1D0-4147-8BF5-A0F4427697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1762125"/>
            <a:ext cx="10287000" cy="409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>
            <a:defPPr>
              <a:defRPr sz="2100">
                <a:solidFill>
                  <a:srgbClr val="13212D"/>
                </a:solidFill>
                <a:latin typeface="Helvetica Neue"/>
                <a:ea typeface="Helvetica Neue"/>
                <a:cs typeface="Helvetica Neue"/>
              </a:defRPr>
            </a:defPPr>
            <a:lvl1pPr>
              <a:defRPr sz="2100">
                <a:solidFill>
                  <a:srgbClr val="13212D"/>
                </a:solidFill>
                <a:latin typeface="Helvetica Neue"/>
                <a:ea typeface="Helvetica Neue"/>
                <a:cs typeface="Helvetica Neue"/>
              </a:defRPr>
            </a:lvl1pPr>
            <a:lvl2pPr>
              <a:defRPr sz="2100">
                <a:solidFill>
                  <a:srgbClr val="13212D"/>
                </a:solidFill>
                <a:latin typeface="Helvetica Neue"/>
                <a:ea typeface="Helvetica Neue"/>
                <a:cs typeface="Helvetica Neue"/>
              </a:defRPr>
            </a:lvl2pPr>
            <a:lvl3pPr>
              <a:defRPr sz="2100">
                <a:solidFill>
                  <a:srgbClr val="13212D"/>
                </a:solidFill>
                <a:latin typeface="Helvetica Neue"/>
                <a:ea typeface="Helvetica Neue"/>
                <a:cs typeface="Helvetica Neue"/>
              </a:defRPr>
            </a:lvl3pPr>
            <a:lvl4pPr>
              <a:defRPr sz="2100">
                <a:solidFill>
                  <a:srgbClr val="13212D"/>
                </a:solidFill>
                <a:latin typeface="Helvetica Neue"/>
                <a:ea typeface="Helvetica Neue"/>
                <a:cs typeface="Helvetica Neue"/>
              </a:defRPr>
            </a:lvl4pPr>
            <a:lvl5pPr>
              <a:defRPr sz="2100">
                <a:solidFill>
                  <a:srgbClr val="13212D"/>
                </a:solidFill>
                <a:latin typeface="Helvetica Neue"/>
                <a:ea typeface="Helvetica Neue"/>
                <a:cs typeface="Helvetica Neue"/>
              </a:defRPr>
            </a:lvl5pPr>
            <a:lvl6pPr>
              <a:defRPr sz="2100">
                <a:solidFill>
                  <a:srgbClr val="13212D"/>
                </a:solidFill>
                <a:latin typeface="Helvetica Neue"/>
                <a:ea typeface="Helvetica Neue"/>
                <a:cs typeface="Helvetica Neue"/>
              </a:defRPr>
            </a:lvl6pPr>
            <a:lvl7pPr>
              <a:defRPr sz="2100">
                <a:solidFill>
                  <a:srgbClr val="13212D"/>
                </a:solidFill>
                <a:latin typeface="Helvetica Neue"/>
                <a:ea typeface="Helvetica Neue"/>
                <a:cs typeface="Helvetica Neue"/>
              </a:defRPr>
            </a:lvl7pPr>
            <a:lvl8pPr>
              <a:defRPr sz="2100">
                <a:solidFill>
                  <a:srgbClr val="13212D"/>
                </a:solidFill>
                <a:latin typeface="Helvetica Neue"/>
                <a:ea typeface="Helvetica Neue"/>
                <a:cs typeface="Helvetica Neue"/>
              </a:defRPr>
            </a:lvl8pPr>
            <a:lvl9pPr>
              <a:defRPr sz="2100">
                <a:solidFill>
                  <a:srgbClr val="13212D"/>
                </a:solidFill>
                <a:latin typeface="Helvetica Neue"/>
                <a:ea typeface="Helvetica Neue"/>
                <a:cs typeface="Helvetica Neue"/>
              </a:defRPr>
            </a:lvl9pPr>
          </a:lstStyle>
          <a:p xmlns:a="http://schemas.openxmlformats.org/drawingml/2006/main">
            <a:pPr marL="279400" indent="-127000">
              <a:spcAft>
                <a:spcPts val="1300"/>
              </a:spcAft>
              <a:buChar char="•"/>
              <a:defRPr sz="2100">
                <a:solidFill>
                  <a:srgbClr val="13212D"/>
                </a:solidFill>
                <a:latin typeface="Helvetica Neue"/>
                <a:ea typeface="Helvetica Neue"/>
                <a:cs typeface="Helvetica Neue"/>
              </a:defRPr>
            </a:pPr>
            <a:r>
              <a:rPr sz="2100">
                <a:solidFill>
                  <a:srgbClr val="13212D"/>
                </a:solidFill>
                <a:latin typeface="Helvetica Neue"/>
                <a:ea typeface="Helvetica Neue"/>
                <a:cs typeface="Helvetica Neue"/>
              </a:rPr>
              <a:t>Check the patient and the infusion at regular intervals during the transfusion and do not allow the bag to run dry.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1220D22B-F9EA-4B9F-A9D7-B434DAA153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6115050"/>
            <a:ext cx="101917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>
            <a:defPPr>
              <a:defRPr sz="1125" b="1">
                <a:solidFill>
                  <a:srgbClr val="B94F3D"/>
                </a:solidFill>
                <a:latin typeface="Helvetica Neue"/>
                <a:ea typeface="Helvetica Neue"/>
                <a:cs typeface="Helvetica Neue"/>
              </a:defRPr>
            </a:defPPr>
            <a:lvl1pPr>
              <a:defRPr sz="1125" b="1">
                <a:solidFill>
                  <a:srgbClr val="B94F3D"/>
                </a:solidFill>
                <a:latin typeface="Helvetica Neue"/>
                <a:ea typeface="Helvetica Neue"/>
                <a:cs typeface="Helvetica Neue"/>
              </a:defRPr>
            </a:lvl1pPr>
            <a:lvl2pPr>
              <a:defRPr sz="1125" b="1">
                <a:solidFill>
                  <a:srgbClr val="B94F3D"/>
                </a:solidFill>
                <a:latin typeface="Helvetica Neue"/>
                <a:ea typeface="Helvetica Neue"/>
                <a:cs typeface="Helvetica Neue"/>
              </a:defRPr>
            </a:lvl2pPr>
            <a:lvl3pPr>
              <a:defRPr sz="1125" b="1">
                <a:solidFill>
                  <a:srgbClr val="B94F3D"/>
                </a:solidFill>
                <a:latin typeface="Helvetica Neue"/>
                <a:ea typeface="Helvetica Neue"/>
                <a:cs typeface="Helvetica Neue"/>
              </a:defRPr>
            </a:lvl3pPr>
            <a:lvl4pPr>
              <a:defRPr sz="1125" b="1">
                <a:solidFill>
                  <a:srgbClr val="B94F3D"/>
                </a:solidFill>
                <a:latin typeface="Helvetica Neue"/>
                <a:ea typeface="Helvetica Neue"/>
                <a:cs typeface="Helvetica Neue"/>
              </a:defRPr>
            </a:lvl4pPr>
            <a:lvl5pPr>
              <a:defRPr sz="1125" b="1">
                <a:solidFill>
                  <a:srgbClr val="B94F3D"/>
                </a:solidFill>
                <a:latin typeface="Helvetica Neue"/>
                <a:ea typeface="Helvetica Neue"/>
                <a:cs typeface="Helvetica Neue"/>
              </a:defRPr>
            </a:lvl5pPr>
            <a:lvl6pPr>
              <a:defRPr sz="1125" b="1">
                <a:solidFill>
                  <a:srgbClr val="B94F3D"/>
                </a:solidFill>
                <a:latin typeface="Helvetica Neue"/>
                <a:ea typeface="Helvetica Neue"/>
                <a:cs typeface="Helvetica Neue"/>
              </a:defRPr>
            </a:lvl6pPr>
            <a:lvl7pPr>
              <a:defRPr sz="1125" b="1">
                <a:solidFill>
                  <a:srgbClr val="B94F3D"/>
                </a:solidFill>
                <a:latin typeface="Helvetica Neue"/>
                <a:ea typeface="Helvetica Neue"/>
                <a:cs typeface="Helvetica Neue"/>
              </a:defRPr>
            </a:lvl7pPr>
            <a:lvl8pPr>
              <a:defRPr sz="1125" b="1">
                <a:solidFill>
                  <a:srgbClr val="B94F3D"/>
                </a:solidFill>
                <a:latin typeface="Helvetica Neue"/>
                <a:ea typeface="Helvetica Neue"/>
                <a:cs typeface="Helvetica Neue"/>
              </a:defRPr>
            </a:lvl8pPr>
            <a:lvl9pPr>
              <a:defRPr sz="1125" b="1">
                <a:solidFill>
                  <a:srgbClr val="B94F3D"/>
                </a:solidFill>
                <a:latin typeface="Helvetica Neue"/>
                <a:ea typeface="Helvetica Neue"/>
                <a:cs typeface="Helvetica Neue"/>
              </a:defRPr>
            </a:lvl9pPr>
          </a:lstStyle>
          <a:p xmlns:a="http://schemas.openxmlformats.org/drawingml/2006/main">
            <a:pPr>
              <a:defRPr sz="1125" b="1">
                <a:solidFill>
                  <a:srgbClr val="B94F3D"/>
                </a:solidFill>
                <a:latin typeface="Helvetica Neue"/>
                <a:ea typeface="Helvetica Neue"/>
                <a:cs typeface="Helvetica Neue"/>
              </a:defRPr>
            </a:pPr>
            <a:r>
              <a:rPr sz="1125" b="1">
                <a:solidFill>
                  <a:srgbClr val="B94F3D"/>
                </a:solidFill>
                <a:latin typeface="Helvetica Neue"/>
                <a:ea typeface="Helvetica Neue"/>
                <a:cs typeface="Helvetica Neue"/>
              </a:rPr>
              <a:t>Use current orders, facility policy, and authorized scope when applying this information.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3D96830A-2899-43A7-9B88-EF2A9CF7B0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5772150"/>
            <a:ext cx="101917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97619"/>
          </a:bodyPr>
          <a:lstStyle xmlns:a="http://schemas.openxmlformats.org/drawingml/2006/main">
            <a:defPPr>
              <a:defRPr sz="1050" b="1">
                <a:solidFill>
                  <a:srgbClr val="237B82"/>
                </a:solidFill>
                <a:latin typeface="Helvetica Neue"/>
                <a:ea typeface="Helvetica Neue"/>
                <a:cs typeface="Helvetica Neue"/>
              </a:defRPr>
            </a:defPPr>
            <a:lvl1pPr>
              <a:defRPr sz="1050" b="1">
                <a:solidFill>
                  <a:srgbClr val="237B82"/>
                </a:solidFill>
                <a:latin typeface="Helvetica Neue"/>
                <a:ea typeface="Helvetica Neue"/>
                <a:cs typeface="Helvetica Neue"/>
              </a:defRPr>
            </a:lvl1pPr>
            <a:lvl2pPr>
              <a:defRPr sz="1050" b="1">
                <a:solidFill>
                  <a:srgbClr val="237B82"/>
                </a:solidFill>
                <a:latin typeface="Helvetica Neue"/>
                <a:ea typeface="Helvetica Neue"/>
                <a:cs typeface="Helvetica Neue"/>
              </a:defRPr>
            </a:lvl2pPr>
            <a:lvl3pPr>
              <a:defRPr sz="1050" b="1">
                <a:solidFill>
                  <a:srgbClr val="237B82"/>
                </a:solidFill>
                <a:latin typeface="Helvetica Neue"/>
                <a:ea typeface="Helvetica Neue"/>
                <a:cs typeface="Helvetica Neue"/>
              </a:defRPr>
            </a:lvl3pPr>
            <a:lvl4pPr>
              <a:defRPr sz="1050" b="1">
                <a:solidFill>
                  <a:srgbClr val="237B82"/>
                </a:solidFill>
                <a:latin typeface="Helvetica Neue"/>
                <a:ea typeface="Helvetica Neue"/>
                <a:cs typeface="Helvetica Neue"/>
              </a:defRPr>
            </a:lvl4pPr>
            <a:lvl5pPr>
              <a:defRPr sz="1050" b="1">
                <a:solidFill>
                  <a:srgbClr val="237B82"/>
                </a:solidFill>
                <a:latin typeface="Helvetica Neue"/>
                <a:ea typeface="Helvetica Neue"/>
                <a:cs typeface="Helvetica Neue"/>
              </a:defRPr>
            </a:lvl5pPr>
            <a:lvl6pPr>
              <a:defRPr sz="1050" b="1">
                <a:solidFill>
                  <a:srgbClr val="237B82"/>
                </a:solidFill>
                <a:latin typeface="Helvetica Neue"/>
                <a:ea typeface="Helvetica Neue"/>
                <a:cs typeface="Helvetica Neue"/>
              </a:defRPr>
            </a:lvl6pPr>
            <a:lvl7pPr>
              <a:defRPr sz="1050" b="1">
                <a:solidFill>
                  <a:srgbClr val="237B82"/>
                </a:solidFill>
                <a:latin typeface="Helvetica Neue"/>
                <a:ea typeface="Helvetica Neue"/>
                <a:cs typeface="Helvetica Neue"/>
              </a:defRPr>
            </a:lvl7pPr>
            <a:lvl8pPr>
              <a:defRPr sz="1050" b="1">
                <a:solidFill>
                  <a:srgbClr val="237B82"/>
                </a:solidFill>
                <a:latin typeface="Helvetica Neue"/>
                <a:ea typeface="Helvetica Neue"/>
                <a:cs typeface="Helvetica Neue"/>
              </a:defRPr>
            </a:lvl8pPr>
            <a:lvl9pPr>
              <a:defRPr sz="1050" b="1">
                <a:solidFill>
                  <a:srgbClr val="237B82"/>
                </a:solidFill>
                <a:latin typeface="Helvetica Neue"/>
                <a:ea typeface="Helvetica Neue"/>
                <a:cs typeface="Helvetica Neue"/>
              </a:defRPr>
            </a:lvl9pPr>
          </a:lstStyle>
          <a:p xmlns:a="http://schemas.openxmlformats.org/drawingml/2006/main">
            <a:pPr>
              <a:defRPr sz="1050" b="1">
                <a:solidFill>
                  <a:srgbClr val="237B82"/>
                </a:solidFill>
                <a:latin typeface="Helvetica Neue"/>
                <a:ea typeface="Helvetica Neue"/>
                <a:cs typeface="Helvetica Neue"/>
              </a:defRPr>
            </a:pPr>
            <a:r>
              <a:rPr sz="1050" b="1">
                <a:solidFill>
                  <a:srgbClr val="237B82"/>
                </a:solidFill>
                <a:latin typeface="Helvetica Neue"/>
                <a:ea typeface="Helvetica Neue"/>
                <a:cs typeface="Helvetica Neue"/>
              </a:rPr>
              <a:t>Manual page 59</a:t>
            </a:r>
          </a:p>
        </p:txBody>
      </p:sp>
    </p:spTree>
    <p:extLst>
      <p:ext uri="{BB962C8B-B14F-4D97-AF65-F5344CB8AC3E}">
        <p14:creationId xmlns:p14="http://schemas.microsoft.com/office/powerpoint/2010/main" val="480800936"/>
      </p:ext>
    </p:extLst>
  </p:cSld>
</p:sld>
</file>

<file path=ppt/slides/slide65.xml><?xml version="1.0" encoding="utf-8"?>
<p:sld xmlns:p="http://schemas.openxmlformats.org/presentationml/2006/main">
  <p:cSld>
    <p:bg>
      <p:bgPr>
        <a:solidFill xmlns:a="http://schemas.openxmlformats.org/drawingml/2006/main">
          <a:srgbClr val="F7F4EE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0D00486D-631F-41BA-9E44-B9B6D4D033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2095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37B82"/>
          </a:solidFill>
          <a:ln xmlns:a="http://schemas.openxmlformats.org/drawingml/2006/main" w="0">
            <a:solidFill>
              <a:srgbClr val="237B82"/>
            </a:solidFill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233B6C94-DF92-4FDA-8F49-2DB2F5B0F3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00050"/>
            <a:ext cx="10001250" cy="819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>
            <a:defPPr>
              <a:defRPr sz="2700" b="1">
                <a:solidFill>
                  <a:srgbClr val="15324A"/>
                </a:solidFill>
                <a:latin typeface="Helvetica Neue"/>
                <a:ea typeface="Helvetica Neue"/>
                <a:cs typeface="Helvetica Neue"/>
              </a:defRPr>
            </a:defPPr>
            <a:lvl1pPr>
              <a:defRPr sz="2700" b="1">
                <a:solidFill>
                  <a:srgbClr val="15324A"/>
                </a:solidFill>
                <a:latin typeface="Helvetica Neue"/>
                <a:ea typeface="Helvetica Neue"/>
                <a:cs typeface="Helvetica Neue"/>
              </a:defRPr>
            </a:lvl1pPr>
            <a:lvl2pPr>
              <a:defRPr sz="2700" b="1">
                <a:solidFill>
                  <a:srgbClr val="15324A"/>
                </a:solidFill>
                <a:latin typeface="Helvetica Neue"/>
                <a:ea typeface="Helvetica Neue"/>
                <a:cs typeface="Helvetica Neue"/>
              </a:defRPr>
            </a:lvl2pPr>
            <a:lvl3pPr>
              <a:defRPr sz="2700" b="1">
                <a:solidFill>
                  <a:srgbClr val="15324A"/>
                </a:solidFill>
                <a:latin typeface="Helvetica Neue"/>
                <a:ea typeface="Helvetica Neue"/>
                <a:cs typeface="Helvetica Neue"/>
              </a:defRPr>
            </a:lvl3pPr>
            <a:lvl4pPr>
              <a:defRPr sz="2700" b="1">
                <a:solidFill>
                  <a:srgbClr val="15324A"/>
                </a:solidFill>
                <a:latin typeface="Helvetica Neue"/>
                <a:ea typeface="Helvetica Neue"/>
                <a:cs typeface="Helvetica Neue"/>
              </a:defRPr>
            </a:lvl4pPr>
            <a:lvl5pPr>
              <a:defRPr sz="2700" b="1">
                <a:solidFill>
                  <a:srgbClr val="15324A"/>
                </a:solidFill>
                <a:latin typeface="Helvetica Neue"/>
                <a:ea typeface="Helvetica Neue"/>
                <a:cs typeface="Helvetica Neue"/>
              </a:defRPr>
            </a:lvl5pPr>
            <a:lvl6pPr>
              <a:defRPr sz="2700" b="1">
                <a:solidFill>
                  <a:srgbClr val="15324A"/>
                </a:solidFill>
                <a:latin typeface="Helvetica Neue"/>
                <a:ea typeface="Helvetica Neue"/>
                <a:cs typeface="Helvetica Neue"/>
              </a:defRPr>
            </a:lvl6pPr>
            <a:lvl7pPr>
              <a:defRPr sz="2700" b="1">
                <a:solidFill>
                  <a:srgbClr val="15324A"/>
                </a:solidFill>
                <a:latin typeface="Helvetica Neue"/>
                <a:ea typeface="Helvetica Neue"/>
                <a:cs typeface="Helvetica Neue"/>
              </a:defRPr>
            </a:lvl7pPr>
            <a:lvl8pPr>
              <a:defRPr sz="2700" b="1">
                <a:solidFill>
                  <a:srgbClr val="15324A"/>
                </a:solidFill>
                <a:latin typeface="Helvetica Neue"/>
                <a:ea typeface="Helvetica Neue"/>
                <a:cs typeface="Helvetica Neue"/>
              </a:defRPr>
            </a:lvl8pPr>
            <a:lvl9pPr>
              <a:defRPr sz="2700" b="1">
                <a:solidFill>
                  <a:srgbClr val="15324A"/>
                </a:solidFill>
                <a:latin typeface="Helvetica Neue"/>
                <a:ea typeface="Helvetica Neue"/>
                <a:cs typeface="Helvetica Neue"/>
              </a:defRPr>
            </a:lvl9pPr>
          </a:lstStyle>
          <a:p xmlns:a="http://schemas.openxmlformats.org/drawingml/2006/main">
            <a:pPr>
              <a:defRPr sz="2700" b="1">
                <a:solidFill>
                  <a:srgbClr val="15324A"/>
                </a:solidFill>
                <a:latin typeface="Helvetica Neue"/>
                <a:ea typeface="Helvetica Neue"/>
                <a:cs typeface="Helvetica Neue"/>
              </a:defRPr>
            </a:pPr>
            <a:r>
              <a:rPr sz="2700" b="1">
                <a:solidFill>
                  <a:srgbClr val="15324A"/>
                </a:solidFill>
                <a:latin typeface="Helvetica Neue"/>
                <a:ea typeface="Helvetica Neue"/>
                <a:cs typeface="Helvetica Neue"/>
              </a:rPr>
              <a:t>Glossary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BE09F344-588C-4D0B-B909-7F0FD337DE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1257300"/>
            <a:ext cx="88582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91111"/>
          </a:bodyPr>
          <a:lstStyle xmlns:a="http://schemas.openxmlformats.org/drawingml/2006/main">
            <a:defPPr>
              <a:defRPr sz="1125" b="1">
                <a:solidFill>
                  <a:srgbClr val="237B82"/>
                </a:solidFill>
                <a:latin typeface="Helvetica Neue"/>
                <a:ea typeface="Helvetica Neue"/>
                <a:cs typeface="Helvetica Neue"/>
              </a:defRPr>
            </a:defPPr>
            <a:lvl1pPr>
              <a:defRPr sz="1125" b="1">
                <a:solidFill>
                  <a:srgbClr val="237B82"/>
                </a:solidFill>
                <a:latin typeface="Helvetica Neue"/>
                <a:ea typeface="Helvetica Neue"/>
                <a:cs typeface="Helvetica Neue"/>
              </a:defRPr>
            </a:lvl1pPr>
            <a:lvl2pPr>
              <a:defRPr sz="1125" b="1">
                <a:solidFill>
                  <a:srgbClr val="237B82"/>
                </a:solidFill>
                <a:latin typeface="Helvetica Neue"/>
                <a:ea typeface="Helvetica Neue"/>
                <a:cs typeface="Helvetica Neue"/>
              </a:defRPr>
            </a:lvl2pPr>
            <a:lvl3pPr>
              <a:defRPr sz="1125" b="1">
                <a:solidFill>
                  <a:srgbClr val="237B82"/>
                </a:solidFill>
                <a:latin typeface="Helvetica Neue"/>
                <a:ea typeface="Helvetica Neue"/>
                <a:cs typeface="Helvetica Neue"/>
              </a:defRPr>
            </a:lvl3pPr>
            <a:lvl4pPr>
              <a:defRPr sz="1125" b="1">
                <a:solidFill>
                  <a:srgbClr val="237B82"/>
                </a:solidFill>
                <a:latin typeface="Helvetica Neue"/>
                <a:ea typeface="Helvetica Neue"/>
                <a:cs typeface="Helvetica Neue"/>
              </a:defRPr>
            </a:lvl4pPr>
            <a:lvl5pPr>
              <a:defRPr sz="1125" b="1">
                <a:solidFill>
                  <a:srgbClr val="237B82"/>
                </a:solidFill>
                <a:latin typeface="Helvetica Neue"/>
                <a:ea typeface="Helvetica Neue"/>
                <a:cs typeface="Helvetica Neue"/>
              </a:defRPr>
            </a:lvl5pPr>
            <a:lvl6pPr>
              <a:defRPr sz="1125" b="1">
                <a:solidFill>
                  <a:srgbClr val="237B82"/>
                </a:solidFill>
                <a:latin typeface="Helvetica Neue"/>
                <a:ea typeface="Helvetica Neue"/>
                <a:cs typeface="Helvetica Neue"/>
              </a:defRPr>
            </a:lvl6pPr>
            <a:lvl7pPr>
              <a:defRPr sz="1125" b="1">
                <a:solidFill>
                  <a:srgbClr val="237B82"/>
                </a:solidFill>
                <a:latin typeface="Helvetica Neue"/>
                <a:ea typeface="Helvetica Neue"/>
                <a:cs typeface="Helvetica Neue"/>
              </a:defRPr>
            </a:lvl7pPr>
            <a:lvl8pPr>
              <a:defRPr sz="1125" b="1">
                <a:solidFill>
                  <a:srgbClr val="237B82"/>
                </a:solidFill>
                <a:latin typeface="Helvetica Neue"/>
                <a:ea typeface="Helvetica Neue"/>
                <a:cs typeface="Helvetica Neue"/>
              </a:defRPr>
            </a:lvl8pPr>
            <a:lvl9pPr>
              <a:defRPr sz="1125" b="1">
                <a:solidFill>
                  <a:srgbClr val="237B82"/>
                </a:solidFill>
                <a:latin typeface="Helvetica Neue"/>
                <a:ea typeface="Helvetica Neue"/>
                <a:cs typeface="Helvetica Neue"/>
              </a:defRPr>
            </a:lvl9pPr>
          </a:lstStyle>
          <a:p xmlns:a="http://schemas.openxmlformats.org/drawingml/2006/main">
            <a:pPr>
              <a:defRPr sz="1125" b="1">
                <a:solidFill>
                  <a:srgbClr val="237B82"/>
                </a:solidFill>
                <a:latin typeface="Helvetica Neue"/>
                <a:ea typeface="Helvetica Neue"/>
                <a:cs typeface="Helvetica Neue"/>
              </a:defRPr>
            </a:pPr>
            <a:r>
              <a:rPr sz="1125" b="1">
                <a:solidFill>
                  <a:srgbClr val="237B82"/>
                </a:solidFill>
                <a:latin typeface="Helvetica Neue"/>
                <a:ea typeface="Helvetica Neue"/>
                <a:cs typeface="Helvetica Neue"/>
              </a:rPr>
              <a:t>MODULE 4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F33CB574-97CF-46E1-B1EB-CF89A6A337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457200"/>
            <a:ext cx="5334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>
            <a:defPPr>
              <a:defRPr sz="1200" b="1">
                <a:solidFill>
                  <a:srgbClr val="237B82"/>
                </a:solidFill>
                <a:latin typeface="Helvetica Neue"/>
                <a:ea typeface="Helvetica Neue"/>
                <a:cs typeface="Helvetica Neue"/>
              </a:defRPr>
            </a:defPPr>
            <a:lvl1pPr>
              <a:defRPr sz="1200" b="1">
                <a:solidFill>
                  <a:srgbClr val="237B82"/>
                </a:solidFill>
                <a:latin typeface="Helvetica Neue"/>
                <a:ea typeface="Helvetica Neue"/>
                <a:cs typeface="Helvetica Neue"/>
              </a:defRPr>
            </a:lvl1pPr>
            <a:lvl2pPr>
              <a:defRPr sz="1200" b="1">
                <a:solidFill>
                  <a:srgbClr val="237B82"/>
                </a:solidFill>
                <a:latin typeface="Helvetica Neue"/>
                <a:ea typeface="Helvetica Neue"/>
                <a:cs typeface="Helvetica Neue"/>
              </a:defRPr>
            </a:lvl2pPr>
            <a:lvl3pPr>
              <a:defRPr sz="1200" b="1">
                <a:solidFill>
                  <a:srgbClr val="237B82"/>
                </a:solidFill>
                <a:latin typeface="Helvetica Neue"/>
                <a:ea typeface="Helvetica Neue"/>
                <a:cs typeface="Helvetica Neue"/>
              </a:defRPr>
            </a:lvl3pPr>
            <a:lvl4pPr>
              <a:defRPr sz="1200" b="1">
                <a:solidFill>
                  <a:srgbClr val="237B82"/>
                </a:solidFill>
                <a:latin typeface="Helvetica Neue"/>
                <a:ea typeface="Helvetica Neue"/>
                <a:cs typeface="Helvetica Neue"/>
              </a:defRPr>
            </a:lvl4pPr>
            <a:lvl5pPr>
              <a:defRPr sz="1200" b="1">
                <a:solidFill>
                  <a:srgbClr val="237B82"/>
                </a:solidFill>
                <a:latin typeface="Helvetica Neue"/>
                <a:ea typeface="Helvetica Neue"/>
                <a:cs typeface="Helvetica Neue"/>
              </a:defRPr>
            </a:lvl5pPr>
            <a:lvl6pPr>
              <a:defRPr sz="1200" b="1">
                <a:solidFill>
                  <a:srgbClr val="237B82"/>
                </a:solidFill>
                <a:latin typeface="Helvetica Neue"/>
                <a:ea typeface="Helvetica Neue"/>
                <a:cs typeface="Helvetica Neue"/>
              </a:defRPr>
            </a:lvl6pPr>
            <a:lvl7pPr>
              <a:defRPr sz="1200" b="1">
                <a:solidFill>
                  <a:srgbClr val="237B82"/>
                </a:solidFill>
                <a:latin typeface="Helvetica Neue"/>
                <a:ea typeface="Helvetica Neue"/>
                <a:cs typeface="Helvetica Neue"/>
              </a:defRPr>
            </a:lvl7pPr>
            <a:lvl8pPr>
              <a:defRPr sz="1200" b="1">
                <a:solidFill>
                  <a:srgbClr val="237B82"/>
                </a:solidFill>
                <a:latin typeface="Helvetica Neue"/>
                <a:ea typeface="Helvetica Neue"/>
                <a:cs typeface="Helvetica Neue"/>
              </a:defRPr>
            </a:lvl8pPr>
            <a:lvl9pPr>
              <a:defRPr sz="1200" b="1">
                <a:solidFill>
                  <a:srgbClr val="237B82"/>
                </a:solidFill>
                <a:latin typeface="Helvetica Neue"/>
                <a:ea typeface="Helvetica Neue"/>
                <a:cs typeface="Helvetica Neue"/>
              </a:defRPr>
            </a:lvl9pPr>
          </a:lstStyle>
          <a:p xmlns:a="http://schemas.openxmlformats.org/drawingml/2006/main">
            <a:pPr>
              <a:defRPr sz="1200" b="1">
                <a:solidFill>
                  <a:srgbClr val="237B82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00" b="1">
                <a:solidFill>
                  <a:srgbClr val="237B82"/>
                </a:solidFill>
                <a:latin typeface="Helvetica Neue"/>
                <a:ea typeface="Helvetica Neue"/>
                <a:cs typeface="Helvetica Neue"/>
              </a:rPr>
              <a:t>65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1F04E1AB-8B09-4808-85BB-9652D1BFE7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1762125"/>
            <a:ext cx="10287000" cy="409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>
            <a:defPPr>
              <a:defRPr sz="1875">
                <a:solidFill>
                  <a:srgbClr val="13212D"/>
                </a:solidFill>
                <a:latin typeface="Helvetica Neue"/>
                <a:ea typeface="Helvetica Neue"/>
                <a:cs typeface="Helvetica Neue"/>
              </a:defRPr>
            </a:defPPr>
            <a:lvl1pPr>
              <a:defRPr sz="1875">
                <a:solidFill>
                  <a:srgbClr val="13212D"/>
                </a:solidFill>
                <a:latin typeface="Helvetica Neue"/>
                <a:ea typeface="Helvetica Neue"/>
                <a:cs typeface="Helvetica Neue"/>
              </a:defRPr>
            </a:lvl1pPr>
            <a:lvl2pPr>
              <a:defRPr sz="1875">
                <a:solidFill>
                  <a:srgbClr val="13212D"/>
                </a:solidFill>
                <a:latin typeface="Helvetica Neue"/>
                <a:ea typeface="Helvetica Neue"/>
                <a:cs typeface="Helvetica Neue"/>
              </a:defRPr>
            </a:lvl2pPr>
            <a:lvl3pPr>
              <a:defRPr sz="1875">
                <a:solidFill>
                  <a:srgbClr val="13212D"/>
                </a:solidFill>
                <a:latin typeface="Helvetica Neue"/>
                <a:ea typeface="Helvetica Neue"/>
                <a:cs typeface="Helvetica Neue"/>
              </a:defRPr>
            </a:lvl3pPr>
            <a:lvl4pPr>
              <a:defRPr sz="1875">
                <a:solidFill>
                  <a:srgbClr val="13212D"/>
                </a:solidFill>
                <a:latin typeface="Helvetica Neue"/>
                <a:ea typeface="Helvetica Neue"/>
                <a:cs typeface="Helvetica Neue"/>
              </a:defRPr>
            </a:lvl4pPr>
            <a:lvl5pPr>
              <a:defRPr sz="1875">
                <a:solidFill>
                  <a:srgbClr val="13212D"/>
                </a:solidFill>
                <a:latin typeface="Helvetica Neue"/>
                <a:ea typeface="Helvetica Neue"/>
                <a:cs typeface="Helvetica Neue"/>
              </a:defRPr>
            </a:lvl5pPr>
            <a:lvl6pPr>
              <a:defRPr sz="1875">
                <a:solidFill>
                  <a:srgbClr val="13212D"/>
                </a:solidFill>
                <a:latin typeface="Helvetica Neue"/>
                <a:ea typeface="Helvetica Neue"/>
                <a:cs typeface="Helvetica Neue"/>
              </a:defRPr>
            </a:lvl6pPr>
            <a:lvl7pPr>
              <a:defRPr sz="1875">
                <a:solidFill>
                  <a:srgbClr val="13212D"/>
                </a:solidFill>
                <a:latin typeface="Helvetica Neue"/>
                <a:ea typeface="Helvetica Neue"/>
                <a:cs typeface="Helvetica Neue"/>
              </a:defRPr>
            </a:lvl7pPr>
            <a:lvl8pPr>
              <a:defRPr sz="1875">
                <a:solidFill>
                  <a:srgbClr val="13212D"/>
                </a:solidFill>
                <a:latin typeface="Helvetica Neue"/>
                <a:ea typeface="Helvetica Neue"/>
                <a:cs typeface="Helvetica Neue"/>
              </a:defRPr>
            </a:lvl8pPr>
            <a:lvl9pPr>
              <a:defRPr sz="1875">
                <a:solidFill>
                  <a:srgbClr val="13212D"/>
                </a:solidFill>
                <a:latin typeface="Helvetica Neue"/>
                <a:ea typeface="Helvetica Neue"/>
                <a:cs typeface="Helvetica Neue"/>
              </a:defRPr>
            </a:lvl9pPr>
          </a:lstStyle>
          <a:p xmlns:a="http://schemas.openxmlformats.org/drawingml/2006/main">
            <a:pPr marL="279400" indent="-127000">
              <a:spcAft>
                <a:spcPts val="1300"/>
              </a:spcAft>
              <a:buChar char="•"/>
              <a:defRPr sz="1875">
                <a:solidFill>
                  <a:srgbClr val="13212D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75">
                <a:solidFill>
                  <a:srgbClr val="13212D"/>
                </a:solidFill>
                <a:latin typeface="Helvetica Neue"/>
                <a:ea typeface="Helvetica Neue"/>
                <a:cs typeface="Helvetica Neue"/>
              </a:rPr>
              <a:t>Antibody A protein substance developed in response to and interacting with an antigen.</a:t>
            </a:r>
          </a:p>
          <a:p xmlns:a="http://schemas.openxmlformats.org/drawingml/2006/main">
            <a:pPr marL="279400" indent="-127000">
              <a:spcAft>
                <a:spcPts val="1300"/>
              </a:spcAft>
              <a:buChar char="•"/>
              <a:defRPr sz="1875">
                <a:solidFill>
                  <a:srgbClr val="13212D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75">
                <a:solidFill>
                  <a:srgbClr val="13212D"/>
                </a:solidFill>
                <a:latin typeface="Helvetica Neue"/>
                <a:ea typeface="Helvetica Neue"/>
                <a:cs typeface="Helvetica Neue"/>
              </a:rPr>
              <a:t>Antigen A substance that induces the formation of antibodies that interact specifically with it.</a:t>
            </a:r>
          </a:p>
          <a:p xmlns:a="http://schemas.openxmlformats.org/drawingml/2006/main">
            <a:pPr marL="279400" indent="-127000">
              <a:spcAft>
                <a:spcPts val="1300"/>
              </a:spcAft>
              <a:buChar char="•"/>
              <a:defRPr sz="1875">
                <a:solidFill>
                  <a:srgbClr val="13212D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75">
                <a:solidFill>
                  <a:srgbClr val="13212D"/>
                </a:solidFill>
                <a:latin typeface="Helvetica Neue"/>
                <a:ea typeface="Helvetica Neue"/>
                <a:cs typeface="Helvetica Neue"/>
              </a:rPr>
              <a:t>This antigen-antibody reaction forms the basis for immunity.</a:t>
            </a:r>
          </a:p>
          <a:p xmlns:a="http://schemas.openxmlformats.org/drawingml/2006/main">
            <a:pPr marL="279400" indent="-127000">
              <a:spcAft>
                <a:spcPts val="1300"/>
              </a:spcAft>
              <a:buChar char="•"/>
              <a:defRPr sz="1875">
                <a:solidFill>
                  <a:srgbClr val="13212D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75">
                <a:solidFill>
                  <a:srgbClr val="13212D"/>
                </a:solidFill>
                <a:latin typeface="Helvetica Neue"/>
                <a:ea typeface="Helvetica Neue"/>
                <a:cs typeface="Helvetica Neue"/>
              </a:rPr>
              <a:t>Blood Groups A genetically determined system of antigens located on the surface of the erythrocyte.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6A6C3958-4F84-4F20-98AB-D71646CCE3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6115050"/>
            <a:ext cx="101917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>
            <a:defPPr>
              <a:defRPr sz="1125" b="1">
                <a:solidFill>
                  <a:srgbClr val="B94F3D"/>
                </a:solidFill>
                <a:latin typeface="Helvetica Neue"/>
                <a:ea typeface="Helvetica Neue"/>
                <a:cs typeface="Helvetica Neue"/>
              </a:defRPr>
            </a:defPPr>
            <a:lvl1pPr>
              <a:defRPr sz="1125" b="1">
                <a:solidFill>
                  <a:srgbClr val="B94F3D"/>
                </a:solidFill>
                <a:latin typeface="Helvetica Neue"/>
                <a:ea typeface="Helvetica Neue"/>
                <a:cs typeface="Helvetica Neue"/>
              </a:defRPr>
            </a:lvl1pPr>
            <a:lvl2pPr>
              <a:defRPr sz="1125" b="1">
                <a:solidFill>
                  <a:srgbClr val="B94F3D"/>
                </a:solidFill>
                <a:latin typeface="Helvetica Neue"/>
                <a:ea typeface="Helvetica Neue"/>
                <a:cs typeface="Helvetica Neue"/>
              </a:defRPr>
            </a:lvl2pPr>
            <a:lvl3pPr>
              <a:defRPr sz="1125" b="1">
                <a:solidFill>
                  <a:srgbClr val="B94F3D"/>
                </a:solidFill>
                <a:latin typeface="Helvetica Neue"/>
                <a:ea typeface="Helvetica Neue"/>
                <a:cs typeface="Helvetica Neue"/>
              </a:defRPr>
            </a:lvl3pPr>
            <a:lvl4pPr>
              <a:defRPr sz="1125" b="1">
                <a:solidFill>
                  <a:srgbClr val="B94F3D"/>
                </a:solidFill>
                <a:latin typeface="Helvetica Neue"/>
                <a:ea typeface="Helvetica Neue"/>
                <a:cs typeface="Helvetica Neue"/>
              </a:defRPr>
            </a:lvl4pPr>
            <a:lvl5pPr>
              <a:defRPr sz="1125" b="1">
                <a:solidFill>
                  <a:srgbClr val="B94F3D"/>
                </a:solidFill>
                <a:latin typeface="Helvetica Neue"/>
                <a:ea typeface="Helvetica Neue"/>
                <a:cs typeface="Helvetica Neue"/>
              </a:defRPr>
            </a:lvl5pPr>
            <a:lvl6pPr>
              <a:defRPr sz="1125" b="1">
                <a:solidFill>
                  <a:srgbClr val="B94F3D"/>
                </a:solidFill>
                <a:latin typeface="Helvetica Neue"/>
                <a:ea typeface="Helvetica Neue"/>
                <a:cs typeface="Helvetica Neue"/>
              </a:defRPr>
            </a:lvl6pPr>
            <a:lvl7pPr>
              <a:defRPr sz="1125" b="1">
                <a:solidFill>
                  <a:srgbClr val="B94F3D"/>
                </a:solidFill>
                <a:latin typeface="Helvetica Neue"/>
                <a:ea typeface="Helvetica Neue"/>
                <a:cs typeface="Helvetica Neue"/>
              </a:defRPr>
            </a:lvl7pPr>
            <a:lvl8pPr>
              <a:defRPr sz="1125" b="1">
                <a:solidFill>
                  <a:srgbClr val="B94F3D"/>
                </a:solidFill>
                <a:latin typeface="Helvetica Neue"/>
                <a:ea typeface="Helvetica Neue"/>
                <a:cs typeface="Helvetica Neue"/>
              </a:defRPr>
            </a:lvl8pPr>
            <a:lvl9pPr>
              <a:defRPr sz="1125" b="1">
                <a:solidFill>
                  <a:srgbClr val="B94F3D"/>
                </a:solidFill>
                <a:latin typeface="Helvetica Neue"/>
                <a:ea typeface="Helvetica Neue"/>
                <a:cs typeface="Helvetica Neue"/>
              </a:defRPr>
            </a:lvl9pPr>
          </a:lstStyle>
          <a:p xmlns:a="http://schemas.openxmlformats.org/drawingml/2006/main">
            <a:pPr>
              <a:defRPr sz="1125" b="1">
                <a:solidFill>
                  <a:srgbClr val="B94F3D"/>
                </a:solidFill>
                <a:latin typeface="Helvetica Neue"/>
                <a:ea typeface="Helvetica Neue"/>
                <a:cs typeface="Helvetica Neue"/>
              </a:defRPr>
            </a:pPr>
            <a:r>
              <a:rPr sz="1125" b="1">
                <a:solidFill>
                  <a:srgbClr val="B94F3D"/>
                </a:solidFill>
                <a:latin typeface="Helvetica Neue"/>
                <a:ea typeface="Helvetica Neue"/>
                <a:cs typeface="Helvetica Neue"/>
              </a:rPr>
              <a:t>Use current orders, facility policy, and authorized scope when applying this information.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CF4701D3-7E30-4B7A-A078-82BD3057B6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5772150"/>
            <a:ext cx="101917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97619"/>
          </a:bodyPr>
          <a:lstStyle xmlns:a="http://schemas.openxmlformats.org/drawingml/2006/main">
            <a:defPPr>
              <a:defRPr sz="1050" b="1">
                <a:solidFill>
                  <a:srgbClr val="237B82"/>
                </a:solidFill>
                <a:latin typeface="Helvetica Neue"/>
                <a:ea typeface="Helvetica Neue"/>
                <a:cs typeface="Helvetica Neue"/>
              </a:defRPr>
            </a:defPPr>
            <a:lvl1pPr>
              <a:defRPr sz="1050" b="1">
                <a:solidFill>
                  <a:srgbClr val="237B82"/>
                </a:solidFill>
                <a:latin typeface="Helvetica Neue"/>
                <a:ea typeface="Helvetica Neue"/>
                <a:cs typeface="Helvetica Neue"/>
              </a:defRPr>
            </a:lvl1pPr>
            <a:lvl2pPr>
              <a:defRPr sz="1050" b="1">
                <a:solidFill>
                  <a:srgbClr val="237B82"/>
                </a:solidFill>
                <a:latin typeface="Helvetica Neue"/>
                <a:ea typeface="Helvetica Neue"/>
                <a:cs typeface="Helvetica Neue"/>
              </a:defRPr>
            </a:lvl2pPr>
            <a:lvl3pPr>
              <a:defRPr sz="1050" b="1">
                <a:solidFill>
                  <a:srgbClr val="237B82"/>
                </a:solidFill>
                <a:latin typeface="Helvetica Neue"/>
                <a:ea typeface="Helvetica Neue"/>
                <a:cs typeface="Helvetica Neue"/>
              </a:defRPr>
            </a:lvl3pPr>
            <a:lvl4pPr>
              <a:defRPr sz="1050" b="1">
                <a:solidFill>
                  <a:srgbClr val="237B82"/>
                </a:solidFill>
                <a:latin typeface="Helvetica Neue"/>
                <a:ea typeface="Helvetica Neue"/>
                <a:cs typeface="Helvetica Neue"/>
              </a:defRPr>
            </a:lvl4pPr>
            <a:lvl5pPr>
              <a:defRPr sz="1050" b="1">
                <a:solidFill>
                  <a:srgbClr val="237B82"/>
                </a:solidFill>
                <a:latin typeface="Helvetica Neue"/>
                <a:ea typeface="Helvetica Neue"/>
                <a:cs typeface="Helvetica Neue"/>
              </a:defRPr>
            </a:lvl5pPr>
            <a:lvl6pPr>
              <a:defRPr sz="1050" b="1">
                <a:solidFill>
                  <a:srgbClr val="237B82"/>
                </a:solidFill>
                <a:latin typeface="Helvetica Neue"/>
                <a:ea typeface="Helvetica Neue"/>
                <a:cs typeface="Helvetica Neue"/>
              </a:defRPr>
            </a:lvl6pPr>
            <a:lvl7pPr>
              <a:defRPr sz="1050" b="1">
                <a:solidFill>
                  <a:srgbClr val="237B82"/>
                </a:solidFill>
                <a:latin typeface="Helvetica Neue"/>
                <a:ea typeface="Helvetica Neue"/>
                <a:cs typeface="Helvetica Neue"/>
              </a:defRPr>
            </a:lvl7pPr>
            <a:lvl8pPr>
              <a:defRPr sz="1050" b="1">
                <a:solidFill>
                  <a:srgbClr val="237B82"/>
                </a:solidFill>
                <a:latin typeface="Helvetica Neue"/>
                <a:ea typeface="Helvetica Neue"/>
                <a:cs typeface="Helvetica Neue"/>
              </a:defRPr>
            </a:lvl8pPr>
            <a:lvl9pPr>
              <a:defRPr sz="1050" b="1">
                <a:solidFill>
                  <a:srgbClr val="237B82"/>
                </a:solidFill>
                <a:latin typeface="Helvetica Neue"/>
                <a:ea typeface="Helvetica Neue"/>
                <a:cs typeface="Helvetica Neue"/>
              </a:defRPr>
            </a:lvl9pPr>
          </a:lstStyle>
          <a:p xmlns:a="http://schemas.openxmlformats.org/drawingml/2006/main">
            <a:pPr>
              <a:defRPr sz="1050" b="1">
                <a:solidFill>
                  <a:srgbClr val="237B82"/>
                </a:solidFill>
                <a:latin typeface="Helvetica Neue"/>
                <a:ea typeface="Helvetica Neue"/>
                <a:cs typeface="Helvetica Neue"/>
              </a:defRPr>
            </a:pPr>
            <a:r>
              <a:rPr sz="1050" b="1">
                <a:solidFill>
                  <a:srgbClr val="237B82"/>
                </a:solidFill>
                <a:latin typeface="Helvetica Neue"/>
                <a:ea typeface="Helvetica Neue"/>
                <a:cs typeface="Helvetica Neue"/>
              </a:rPr>
              <a:t>Manual page 60</a:t>
            </a:r>
          </a:p>
        </p:txBody>
      </p:sp>
    </p:spTree>
    <p:extLst>
      <p:ext uri="{BB962C8B-B14F-4D97-AF65-F5344CB8AC3E}">
        <p14:creationId xmlns:p14="http://schemas.microsoft.com/office/powerpoint/2010/main" val="1067129074"/>
      </p:ext>
    </p:extLst>
  </p:cSld>
</p:sld>
</file>

<file path=ppt/slides/slide66.xml><?xml version="1.0" encoding="utf-8"?>
<p:sld xmlns:p="http://schemas.openxmlformats.org/presentationml/2006/main">
  <p:cSld>
    <p:bg>
      <p:bgPr>
        <a:solidFill xmlns:a="http://schemas.openxmlformats.org/drawingml/2006/main">
          <a:srgbClr val="F7F4EE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7D97BC22-6F19-4AEE-BBFE-0608235CE1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2095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37B82"/>
          </a:solidFill>
          <a:ln xmlns:a="http://schemas.openxmlformats.org/drawingml/2006/main" w="0">
            <a:solidFill>
              <a:srgbClr val="237B82"/>
            </a:solidFill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75310569-C809-4299-A6CB-70F56438FB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00050"/>
            <a:ext cx="10001250" cy="819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>
            <a:defPPr>
              <a:defRPr sz="2700" b="1">
                <a:solidFill>
                  <a:srgbClr val="15324A"/>
                </a:solidFill>
                <a:latin typeface="Helvetica Neue"/>
                <a:ea typeface="Helvetica Neue"/>
                <a:cs typeface="Helvetica Neue"/>
              </a:defRPr>
            </a:defPPr>
            <a:lvl1pPr>
              <a:defRPr sz="2700" b="1">
                <a:solidFill>
                  <a:srgbClr val="15324A"/>
                </a:solidFill>
                <a:latin typeface="Helvetica Neue"/>
                <a:ea typeface="Helvetica Neue"/>
                <a:cs typeface="Helvetica Neue"/>
              </a:defRPr>
            </a:lvl1pPr>
            <a:lvl2pPr>
              <a:defRPr sz="2700" b="1">
                <a:solidFill>
                  <a:srgbClr val="15324A"/>
                </a:solidFill>
                <a:latin typeface="Helvetica Neue"/>
                <a:ea typeface="Helvetica Neue"/>
                <a:cs typeface="Helvetica Neue"/>
              </a:defRPr>
            </a:lvl2pPr>
            <a:lvl3pPr>
              <a:defRPr sz="2700" b="1">
                <a:solidFill>
                  <a:srgbClr val="15324A"/>
                </a:solidFill>
                <a:latin typeface="Helvetica Neue"/>
                <a:ea typeface="Helvetica Neue"/>
                <a:cs typeface="Helvetica Neue"/>
              </a:defRPr>
            </a:lvl3pPr>
            <a:lvl4pPr>
              <a:defRPr sz="2700" b="1">
                <a:solidFill>
                  <a:srgbClr val="15324A"/>
                </a:solidFill>
                <a:latin typeface="Helvetica Neue"/>
                <a:ea typeface="Helvetica Neue"/>
                <a:cs typeface="Helvetica Neue"/>
              </a:defRPr>
            </a:lvl4pPr>
            <a:lvl5pPr>
              <a:defRPr sz="2700" b="1">
                <a:solidFill>
                  <a:srgbClr val="15324A"/>
                </a:solidFill>
                <a:latin typeface="Helvetica Neue"/>
                <a:ea typeface="Helvetica Neue"/>
                <a:cs typeface="Helvetica Neue"/>
              </a:defRPr>
            </a:lvl5pPr>
            <a:lvl6pPr>
              <a:defRPr sz="2700" b="1">
                <a:solidFill>
                  <a:srgbClr val="15324A"/>
                </a:solidFill>
                <a:latin typeface="Helvetica Neue"/>
                <a:ea typeface="Helvetica Neue"/>
                <a:cs typeface="Helvetica Neue"/>
              </a:defRPr>
            </a:lvl6pPr>
            <a:lvl7pPr>
              <a:defRPr sz="2700" b="1">
                <a:solidFill>
                  <a:srgbClr val="15324A"/>
                </a:solidFill>
                <a:latin typeface="Helvetica Neue"/>
                <a:ea typeface="Helvetica Neue"/>
                <a:cs typeface="Helvetica Neue"/>
              </a:defRPr>
            </a:lvl7pPr>
            <a:lvl8pPr>
              <a:defRPr sz="2700" b="1">
                <a:solidFill>
                  <a:srgbClr val="15324A"/>
                </a:solidFill>
                <a:latin typeface="Helvetica Neue"/>
                <a:ea typeface="Helvetica Neue"/>
                <a:cs typeface="Helvetica Neue"/>
              </a:defRPr>
            </a:lvl8pPr>
            <a:lvl9pPr>
              <a:defRPr sz="2700" b="1">
                <a:solidFill>
                  <a:srgbClr val="15324A"/>
                </a:solidFill>
                <a:latin typeface="Helvetica Neue"/>
                <a:ea typeface="Helvetica Neue"/>
                <a:cs typeface="Helvetica Neue"/>
              </a:defRPr>
            </a:lvl9pPr>
          </a:lstStyle>
          <a:p xmlns:a="http://schemas.openxmlformats.org/drawingml/2006/main">
            <a:pPr>
              <a:defRPr sz="2700" b="1">
                <a:solidFill>
                  <a:srgbClr val="15324A"/>
                </a:solidFill>
                <a:latin typeface="Helvetica Neue"/>
                <a:ea typeface="Helvetica Neue"/>
                <a:cs typeface="Helvetica Neue"/>
              </a:defRPr>
            </a:pPr>
            <a:r>
              <a:rPr sz="2700" b="1">
                <a:solidFill>
                  <a:srgbClr val="15324A"/>
                </a:solidFill>
                <a:latin typeface="Helvetica Neue"/>
                <a:ea typeface="Helvetica Neue"/>
                <a:cs typeface="Helvetica Neue"/>
              </a:rPr>
              <a:t>Glossary — continued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F89B798A-D718-4CC1-BFFE-C8007ED1E7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1257300"/>
            <a:ext cx="88582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91111"/>
          </a:bodyPr>
          <a:lstStyle xmlns:a="http://schemas.openxmlformats.org/drawingml/2006/main">
            <a:defPPr>
              <a:defRPr sz="1125" b="1">
                <a:solidFill>
                  <a:srgbClr val="237B82"/>
                </a:solidFill>
                <a:latin typeface="Helvetica Neue"/>
                <a:ea typeface="Helvetica Neue"/>
                <a:cs typeface="Helvetica Neue"/>
              </a:defRPr>
            </a:defPPr>
            <a:lvl1pPr>
              <a:defRPr sz="1125" b="1">
                <a:solidFill>
                  <a:srgbClr val="237B82"/>
                </a:solidFill>
                <a:latin typeface="Helvetica Neue"/>
                <a:ea typeface="Helvetica Neue"/>
                <a:cs typeface="Helvetica Neue"/>
              </a:defRPr>
            </a:lvl1pPr>
            <a:lvl2pPr>
              <a:defRPr sz="1125" b="1">
                <a:solidFill>
                  <a:srgbClr val="237B82"/>
                </a:solidFill>
                <a:latin typeface="Helvetica Neue"/>
                <a:ea typeface="Helvetica Neue"/>
                <a:cs typeface="Helvetica Neue"/>
              </a:defRPr>
            </a:lvl2pPr>
            <a:lvl3pPr>
              <a:defRPr sz="1125" b="1">
                <a:solidFill>
                  <a:srgbClr val="237B82"/>
                </a:solidFill>
                <a:latin typeface="Helvetica Neue"/>
                <a:ea typeface="Helvetica Neue"/>
                <a:cs typeface="Helvetica Neue"/>
              </a:defRPr>
            </a:lvl3pPr>
            <a:lvl4pPr>
              <a:defRPr sz="1125" b="1">
                <a:solidFill>
                  <a:srgbClr val="237B82"/>
                </a:solidFill>
                <a:latin typeface="Helvetica Neue"/>
                <a:ea typeface="Helvetica Neue"/>
                <a:cs typeface="Helvetica Neue"/>
              </a:defRPr>
            </a:lvl4pPr>
            <a:lvl5pPr>
              <a:defRPr sz="1125" b="1">
                <a:solidFill>
                  <a:srgbClr val="237B82"/>
                </a:solidFill>
                <a:latin typeface="Helvetica Neue"/>
                <a:ea typeface="Helvetica Neue"/>
                <a:cs typeface="Helvetica Neue"/>
              </a:defRPr>
            </a:lvl5pPr>
            <a:lvl6pPr>
              <a:defRPr sz="1125" b="1">
                <a:solidFill>
                  <a:srgbClr val="237B82"/>
                </a:solidFill>
                <a:latin typeface="Helvetica Neue"/>
                <a:ea typeface="Helvetica Neue"/>
                <a:cs typeface="Helvetica Neue"/>
              </a:defRPr>
            </a:lvl6pPr>
            <a:lvl7pPr>
              <a:defRPr sz="1125" b="1">
                <a:solidFill>
                  <a:srgbClr val="237B82"/>
                </a:solidFill>
                <a:latin typeface="Helvetica Neue"/>
                <a:ea typeface="Helvetica Neue"/>
                <a:cs typeface="Helvetica Neue"/>
              </a:defRPr>
            </a:lvl7pPr>
            <a:lvl8pPr>
              <a:defRPr sz="1125" b="1">
                <a:solidFill>
                  <a:srgbClr val="237B82"/>
                </a:solidFill>
                <a:latin typeface="Helvetica Neue"/>
                <a:ea typeface="Helvetica Neue"/>
                <a:cs typeface="Helvetica Neue"/>
              </a:defRPr>
            </a:lvl8pPr>
            <a:lvl9pPr>
              <a:defRPr sz="1125" b="1">
                <a:solidFill>
                  <a:srgbClr val="237B82"/>
                </a:solidFill>
                <a:latin typeface="Helvetica Neue"/>
                <a:ea typeface="Helvetica Neue"/>
                <a:cs typeface="Helvetica Neue"/>
              </a:defRPr>
            </a:lvl9pPr>
          </a:lstStyle>
          <a:p xmlns:a="http://schemas.openxmlformats.org/drawingml/2006/main">
            <a:pPr>
              <a:defRPr sz="1125" b="1">
                <a:solidFill>
                  <a:srgbClr val="237B82"/>
                </a:solidFill>
                <a:latin typeface="Helvetica Neue"/>
                <a:ea typeface="Helvetica Neue"/>
                <a:cs typeface="Helvetica Neue"/>
              </a:defRPr>
            </a:pPr>
            <a:r>
              <a:rPr sz="1125" b="1">
                <a:solidFill>
                  <a:srgbClr val="237B82"/>
                </a:solidFill>
                <a:latin typeface="Helvetica Neue"/>
                <a:ea typeface="Helvetica Neue"/>
                <a:cs typeface="Helvetica Neue"/>
              </a:rPr>
              <a:t>MODULE 4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66E642D2-95F6-4A00-BF7E-15B023C78B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457200"/>
            <a:ext cx="5334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>
            <a:defPPr>
              <a:defRPr sz="1200" b="1">
                <a:solidFill>
                  <a:srgbClr val="237B82"/>
                </a:solidFill>
                <a:latin typeface="Helvetica Neue"/>
                <a:ea typeface="Helvetica Neue"/>
                <a:cs typeface="Helvetica Neue"/>
              </a:defRPr>
            </a:defPPr>
            <a:lvl1pPr>
              <a:defRPr sz="1200" b="1">
                <a:solidFill>
                  <a:srgbClr val="237B82"/>
                </a:solidFill>
                <a:latin typeface="Helvetica Neue"/>
                <a:ea typeface="Helvetica Neue"/>
                <a:cs typeface="Helvetica Neue"/>
              </a:defRPr>
            </a:lvl1pPr>
            <a:lvl2pPr>
              <a:defRPr sz="1200" b="1">
                <a:solidFill>
                  <a:srgbClr val="237B82"/>
                </a:solidFill>
                <a:latin typeface="Helvetica Neue"/>
                <a:ea typeface="Helvetica Neue"/>
                <a:cs typeface="Helvetica Neue"/>
              </a:defRPr>
            </a:lvl2pPr>
            <a:lvl3pPr>
              <a:defRPr sz="1200" b="1">
                <a:solidFill>
                  <a:srgbClr val="237B82"/>
                </a:solidFill>
                <a:latin typeface="Helvetica Neue"/>
                <a:ea typeface="Helvetica Neue"/>
                <a:cs typeface="Helvetica Neue"/>
              </a:defRPr>
            </a:lvl3pPr>
            <a:lvl4pPr>
              <a:defRPr sz="1200" b="1">
                <a:solidFill>
                  <a:srgbClr val="237B82"/>
                </a:solidFill>
                <a:latin typeface="Helvetica Neue"/>
                <a:ea typeface="Helvetica Neue"/>
                <a:cs typeface="Helvetica Neue"/>
              </a:defRPr>
            </a:lvl4pPr>
            <a:lvl5pPr>
              <a:defRPr sz="1200" b="1">
                <a:solidFill>
                  <a:srgbClr val="237B82"/>
                </a:solidFill>
                <a:latin typeface="Helvetica Neue"/>
                <a:ea typeface="Helvetica Neue"/>
                <a:cs typeface="Helvetica Neue"/>
              </a:defRPr>
            </a:lvl5pPr>
            <a:lvl6pPr>
              <a:defRPr sz="1200" b="1">
                <a:solidFill>
                  <a:srgbClr val="237B82"/>
                </a:solidFill>
                <a:latin typeface="Helvetica Neue"/>
                <a:ea typeface="Helvetica Neue"/>
                <a:cs typeface="Helvetica Neue"/>
              </a:defRPr>
            </a:lvl6pPr>
            <a:lvl7pPr>
              <a:defRPr sz="1200" b="1">
                <a:solidFill>
                  <a:srgbClr val="237B82"/>
                </a:solidFill>
                <a:latin typeface="Helvetica Neue"/>
                <a:ea typeface="Helvetica Neue"/>
                <a:cs typeface="Helvetica Neue"/>
              </a:defRPr>
            </a:lvl7pPr>
            <a:lvl8pPr>
              <a:defRPr sz="1200" b="1">
                <a:solidFill>
                  <a:srgbClr val="237B82"/>
                </a:solidFill>
                <a:latin typeface="Helvetica Neue"/>
                <a:ea typeface="Helvetica Neue"/>
                <a:cs typeface="Helvetica Neue"/>
              </a:defRPr>
            </a:lvl8pPr>
            <a:lvl9pPr>
              <a:defRPr sz="1200" b="1">
                <a:solidFill>
                  <a:srgbClr val="237B82"/>
                </a:solidFill>
                <a:latin typeface="Helvetica Neue"/>
                <a:ea typeface="Helvetica Neue"/>
                <a:cs typeface="Helvetica Neue"/>
              </a:defRPr>
            </a:lvl9pPr>
          </a:lstStyle>
          <a:p xmlns:a="http://schemas.openxmlformats.org/drawingml/2006/main">
            <a:pPr>
              <a:defRPr sz="1200" b="1">
                <a:solidFill>
                  <a:srgbClr val="237B82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00" b="1">
                <a:solidFill>
                  <a:srgbClr val="237B82"/>
                </a:solidFill>
                <a:latin typeface="Helvetica Neue"/>
                <a:ea typeface="Helvetica Neue"/>
                <a:cs typeface="Helvetica Neue"/>
              </a:rPr>
              <a:t>66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7DF24C31-D1B3-44C8-A367-DC210A7913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1762125"/>
            <a:ext cx="10287000" cy="409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>
            <a:defPPr>
              <a:defRPr sz="1875">
                <a:solidFill>
                  <a:srgbClr val="13212D"/>
                </a:solidFill>
                <a:latin typeface="Helvetica Neue"/>
                <a:ea typeface="Helvetica Neue"/>
                <a:cs typeface="Helvetica Neue"/>
              </a:defRPr>
            </a:defPPr>
            <a:lvl1pPr>
              <a:defRPr sz="1875">
                <a:solidFill>
                  <a:srgbClr val="13212D"/>
                </a:solidFill>
                <a:latin typeface="Helvetica Neue"/>
                <a:ea typeface="Helvetica Neue"/>
                <a:cs typeface="Helvetica Neue"/>
              </a:defRPr>
            </a:lvl1pPr>
            <a:lvl2pPr>
              <a:defRPr sz="1875">
                <a:solidFill>
                  <a:srgbClr val="13212D"/>
                </a:solidFill>
                <a:latin typeface="Helvetica Neue"/>
                <a:ea typeface="Helvetica Neue"/>
                <a:cs typeface="Helvetica Neue"/>
              </a:defRPr>
            </a:lvl2pPr>
            <a:lvl3pPr>
              <a:defRPr sz="1875">
                <a:solidFill>
                  <a:srgbClr val="13212D"/>
                </a:solidFill>
                <a:latin typeface="Helvetica Neue"/>
                <a:ea typeface="Helvetica Neue"/>
                <a:cs typeface="Helvetica Neue"/>
              </a:defRPr>
            </a:lvl3pPr>
            <a:lvl4pPr>
              <a:defRPr sz="1875">
                <a:solidFill>
                  <a:srgbClr val="13212D"/>
                </a:solidFill>
                <a:latin typeface="Helvetica Neue"/>
                <a:ea typeface="Helvetica Neue"/>
                <a:cs typeface="Helvetica Neue"/>
              </a:defRPr>
            </a:lvl4pPr>
            <a:lvl5pPr>
              <a:defRPr sz="1875">
                <a:solidFill>
                  <a:srgbClr val="13212D"/>
                </a:solidFill>
                <a:latin typeface="Helvetica Neue"/>
                <a:ea typeface="Helvetica Neue"/>
                <a:cs typeface="Helvetica Neue"/>
              </a:defRPr>
            </a:lvl5pPr>
            <a:lvl6pPr>
              <a:defRPr sz="1875">
                <a:solidFill>
                  <a:srgbClr val="13212D"/>
                </a:solidFill>
                <a:latin typeface="Helvetica Neue"/>
                <a:ea typeface="Helvetica Neue"/>
                <a:cs typeface="Helvetica Neue"/>
              </a:defRPr>
            </a:lvl6pPr>
            <a:lvl7pPr>
              <a:defRPr sz="1875">
                <a:solidFill>
                  <a:srgbClr val="13212D"/>
                </a:solidFill>
                <a:latin typeface="Helvetica Neue"/>
                <a:ea typeface="Helvetica Neue"/>
                <a:cs typeface="Helvetica Neue"/>
              </a:defRPr>
            </a:lvl7pPr>
            <a:lvl8pPr>
              <a:defRPr sz="1875">
                <a:solidFill>
                  <a:srgbClr val="13212D"/>
                </a:solidFill>
                <a:latin typeface="Helvetica Neue"/>
                <a:ea typeface="Helvetica Neue"/>
                <a:cs typeface="Helvetica Neue"/>
              </a:defRPr>
            </a:lvl8pPr>
            <a:lvl9pPr>
              <a:defRPr sz="1875">
                <a:solidFill>
                  <a:srgbClr val="13212D"/>
                </a:solidFill>
                <a:latin typeface="Helvetica Neue"/>
                <a:ea typeface="Helvetica Neue"/>
                <a:cs typeface="Helvetica Neue"/>
              </a:defRPr>
            </a:lvl9pPr>
          </a:lstStyle>
          <a:p xmlns:a="http://schemas.openxmlformats.org/drawingml/2006/main">
            <a:pPr marL="279400" indent="-127000">
              <a:spcAft>
                <a:spcPts val="1300"/>
              </a:spcAft>
              <a:buChar char="•"/>
              <a:defRPr sz="1875">
                <a:solidFill>
                  <a:srgbClr val="13212D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75">
                <a:solidFill>
                  <a:srgbClr val="13212D"/>
                </a:solidFill>
                <a:latin typeface="Helvetica Neue"/>
                <a:ea typeface="Helvetica Neue"/>
                <a:cs typeface="Helvetica Neue"/>
              </a:rPr>
              <a:t>The ABO blood group system is determined by a series of genes and is of prime importance in blood transfusions.</a:t>
            </a:r>
          </a:p>
          <a:p xmlns:a="http://schemas.openxmlformats.org/drawingml/2006/main">
            <a:pPr marL="279400" indent="-127000">
              <a:spcAft>
                <a:spcPts val="1300"/>
              </a:spcAft>
              <a:buChar char="•"/>
              <a:defRPr sz="1875">
                <a:solidFill>
                  <a:srgbClr val="13212D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75">
                <a:solidFill>
                  <a:srgbClr val="13212D"/>
                </a:solidFill>
                <a:latin typeface="Helvetica Neue"/>
                <a:ea typeface="Helvetica Neue"/>
                <a:cs typeface="Helvetica Neue"/>
              </a:rPr>
              <a:t>Centrifugation A device that spins test tubes at high speeds.</a:t>
            </a:r>
          </a:p>
          <a:p xmlns:a="http://schemas.openxmlformats.org/drawingml/2006/main">
            <a:pPr marL="279400" indent="-127000">
              <a:spcAft>
                <a:spcPts val="1300"/>
              </a:spcAft>
              <a:buChar char="•"/>
              <a:defRPr sz="1875">
                <a:solidFill>
                  <a:srgbClr val="13212D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75">
                <a:solidFill>
                  <a:srgbClr val="13212D"/>
                </a:solidFill>
                <a:latin typeface="Helvetica Neue"/>
                <a:ea typeface="Helvetica Neue"/>
                <a:cs typeface="Helvetica Neue"/>
              </a:rPr>
              <a:t>This force causes the heavy particles in the liquid to settle at the bottom of the container (I.E.</a:t>
            </a:r>
          </a:p>
          <a:p xmlns:a="http://schemas.openxmlformats.org/drawingml/2006/main">
            <a:pPr marL="279400" indent="-127000">
              <a:spcAft>
                <a:spcPts val="1300"/>
              </a:spcAft>
              <a:buChar char="•"/>
              <a:defRPr sz="1875">
                <a:solidFill>
                  <a:srgbClr val="13212D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75">
                <a:solidFill>
                  <a:srgbClr val="13212D"/>
                </a:solidFill>
                <a:latin typeface="Helvetica Neue"/>
                <a:ea typeface="Helvetica Neue"/>
                <a:cs typeface="Helvetica Neue"/>
              </a:rPr>
              <a:t>red cells).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95B4403D-C944-4615-B5B4-96A79A554B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6115050"/>
            <a:ext cx="101917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>
            <a:defPPr>
              <a:defRPr sz="1125" b="1">
                <a:solidFill>
                  <a:srgbClr val="B94F3D"/>
                </a:solidFill>
                <a:latin typeface="Helvetica Neue"/>
                <a:ea typeface="Helvetica Neue"/>
                <a:cs typeface="Helvetica Neue"/>
              </a:defRPr>
            </a:defPPr>
            <a:lvl1pPr>
              <a:defRPr sz="1125" b="1">
                <a:solidFill>
                  <a:srgbClr val="B94F3D"/>
                </a:solidFill>
                <a:latin typeface="Helvetica Neue"/>
                <a:ea typeface="Helvetica Neue"/>
                <a:cs typeface="Helvetica Neue"/>
              </a:defRPr>
            </a:lvl1pPr>
            <a:lvl2pPr>
              <a:defRPr sz="1125" b="1">
                <a:solidFill>
                  <a:srgbClr val="B94F3D"/>
                </a:solidFill>
                <a:latin typeface="Helvetica Neue"/>
                <a:ea typeface="Helvetica Neue"/>
                <a:cs typeface="Helvetica Neue"/>
              </a:defRPr>
            </a:lvl2pPr>
            <a:lvl3pPr>
              <a:defRPr sz="1125" b="1">
                <a:solidFill>
                  <a:srgbClr val="B94F3D"/>
                </a:solidFill>
                <a:latin typeface="Helvetica Neue"/>
                <a:ea typeface="Helvetica Neue"/>
                <a:cs typeface="Helvetica Neue"/>
              </a:defRPr>
            </a:lvl3pPr>
            <a:lvl4pPr>
              <a:defRPr sz="1125" b="1">
                <a:solidFill>
                  <a:srgbClr val="B94F3D"/>
                </a:solidFill>
                <a:latin typeface="Helvetica Neue"/>
                <a:ea typeface="Helvetica Neue"/>
                <a:cs typeface="Helvetica Neue"/>
              </a:defRPr>
            </a:lvl4pPr>
            <a:lvl5pPr>
              <a:defRPr sz="1125" b="1">
                <a:solidFill>
                  <a:srgbClr val="B94F3D"/>
                </a:solidFill>
                <a:latin typeface="Helvetica Neue"/>
                <a:ea typeface="Helvetica Neue"/>
                <a:cs typeface="Helvetica Neue"/>
              </a:defRPr>
            </a:lvl5pPr>
            <a:lvl6pPr>
              <a:defRPr sz="1125" b="1">
                <a:solidFill>
                  <a:srgbClr val="B94F3D"/>
                </a:solidFill>
                <a:latin typeface="Helvetica Neue"/>
                <a:ea typeface="Helvetica Neue"/>
                <a:cs typeface="Helvetica Neue"/>
              </a:defRPr>
            </a:lvl6pPr>
            <a:lvl7pPr>
              <a:defRPr sz="1125" b="1">
                <a:solidFill>
                  <a:srgbClr val="B94F3D"/>
                </a:solidFill>
                <a:latin typeface="Helvetica Neue"/>
                <a:ea typeface="Helvetica Neue"/>
                <a:cs typeface="Helvetica Neue"/>
              </a:defRPr>
            </a:lvl7pPr>
            <a:lvl8pPr>
              <a:defRPr sz="1125" b="1">
                <a:solidFill>
                  <a:srgbClr val="B94F3D"/>
                </a:solidFill>
                <a:latin typeface="Helvetica Neue"/>
                <a:ea typeface="Helvetica Neue"/>
                <a:cs typeface="Helvetica Neue"/>
              </a:defRPr>
            </a:lvl8pPr>
            <a:lvl9pPr>
              <a:defRPr sz="1125" b="1">
                <a:solidFill>
                  <a:srgbClr val="B94F3D"/>
                </a:solidFill>
                <a:latin typeface="Helvetica Neue"/>
                <a:ea typeface="Helvetica Neue"/>
                <a:cs typeface="Helvetica Neue"/>
              </a:defRPr>
            </a:lvl9pPr>
          </a:lstStyle>
          <a:p xmlns:a="http://schemas.openxmlformats.org/drawingml/2006/main">
            <a:pPr>
              <a:defRPr sz="1125" b="1">
                <a:solidFill>
                  <a:srgbClr val="B94F3D"/>
                </a:solidFill>
                <a:latin typeface="Helvetica Neue"/>
                <a:ea typeface="Helvetica Neue"/>
                <a:cs typeface="Helvetica Neue"/>
              </a:defRPr>
            </a:pPr>
            <a:r>
              <a:rPr sz="1125" b="1">
                <a:solidFill>
                  <a:srgbClr val="B94F3D"/>
                </a:solidFill>
                <a:latin typeface="Helvetica Neue"/>
                <a:ea typeface="Helvetica Neue"/>
                <a:cs typeface="Helvetica Neue"/>
              </a:rPr>
              <a:t>Use current orders, facility policy, and authorized scope when applying this information.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911DD64C-E8C8-4F48-9C99-BD0E69C0B0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5772150"/>
            <a:ext cx="101917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97619"/>
          </a:bodyPr>
          <a:lstStyle xmlns:a="http://schemas.openxmlformats.org/drawingml/2006/main">
            <a:defPPr>
              <a:defRPr sz="1050" b="1">
                <a:solidFill>
                  <a:srgbClr val="237B82"/>
                </a:solidFill>
                <a:latin typeface="Helvetica Neue"/>
                <a:ea typeface="Helvetica Neue"/>
                <a:cs typeface="Helvetica Neue"/>
              </a:defRPr>
            </a:defPPr>
            <a:lvl1pPr>
              <a:defRPr sz="1050" b="1">
                <a:solidFill>
                  <a:srgbClr val="237B82"/>
                </a:solidFill>
                <a:latin typeface="Helvetica Neue"/>
                <a:ea typeface="Helvetica Neue"/>
                <a:cs typeface="Helvetica Neue"/>
              </a:defRPr>
            </a:lvl1pPr>
            <a:lvl2pPr>
              <a:defRPr sz="1050" b="1">
                <a:solidFill>
                  <a:srgbClr val="237B82"/>
                </a:solidFill>
                <a:latin typeface="Helvetica Neue"/>
                <a:ea typeface="Helvetica Neue"/>
                <a:cs typeface="Helvetica Neue"/>
              </a:defRPr>
            </a:lvl2pPr>
            <a:lvl3pPr>
              <a:defRPr sz="1050" b="1">
                <a:solidFill>
                  <a:srgbClr val="237B82"/>
                </a:solidFill>
                <a:latin typeface="Helvetica Neue"/>
                <a:ea typeface="Helvetica Neue"/>
                <a:cs typeface="Helvetica Neue"/>
              </a:defRPr>
            </a:lvl3pPr>
            <a:lvl4pPr>
              <a:defRPr sz="1050" b="1">
                <a:solidFill>
                  <a:srgbClr val="237B82"/>
                </a:solidFill>
                <a:latin typeface="Helvetica Neue"/>
                <a:ea typeface="Helvetica Neue"/>
                <a:cs typeface="Helvetica Neue"/>
              </a:defRPr>
            </a:lvl4pPr>
            <a:lvl5pPr>
              <a:defRPr sz="1050" b="1">
                <a:solidFill>
                  <a:srgbClr val="237B82"/>
                </a:solidFill>
                <a:latin typeface="Helvetica Neue"/>
                <a:ea typeface="Helvetica Neue"/>
                <a:cs typeface="Helvetica Neue"/>
              </a:defRPr>
            </a:lvl5pPr>
            <a:lvl6pPr>
              <a:defRPr sz="1050" b="1">
                <a:solidFill>
                  <a:srgbClr val="237B82"/>
                </a:solidFill>
                <a:latin typeface="Helvetica Neue"/>
                <a:ea typeface="Helvetica Neue"/>
                <a:cs typeface="Helvetica Neue"/>
              </a:defRPr>
            </a:lvl6pPr>
            <a:lvl7pPr>
              <a:defRPr sz="1050" b="1">
                <a:solidFill>
                  <a:srgbClr val="237B82"/>
                </a:solidFill>
                <a:latin typeface="Helvetica Neue"/>
                <a:ea typeface="Helvetica Neue"/>
                <a:cs typeface="Helvetica Neue"/>
              </a:defRPr>
            </a:lvl7pPr>
            <a:lvl8pPr>
              <a:defRPr sz="1050" b="1">
                <a:solidFill>
                  <a:srgbClr val="237B82"/>
                </a:solidFill>
                <a:latin typeface="Helvetica Neue"/>
                <a:ea typeface="Helvetica Neue"/>
                <a:cs typeface="Helvetica Neue"/>
              </a:defRPr>
            </a:lvl8pPr>
            <a:lvl9pPr>
              <a:defRPr sz="1050" b="1">
                <a:solidFill>
                  <a:srgbClr val="237B82"/>
                </a:solidFill>
                <a:latin typeface="Helvetica Neue"/>
                <a:ea typeface="Helvetica Neue"/>
                <a:cs typeface="Helvetica Neue"/>
              </a:defRPr>
            </a:lvl9pPr>
          </a:lstStyle>
          <a:p xmlns:a="http://schemas.openxmlformats.org/drawingml/2006/main">
            <a:pPr>
              <a:defRPr sz="1050" b="1">
                <a:solidFill>
                  <a:srgbClr val="237B82"/>
                </a:solidFill>
                <a:latin typeface="Helvetica Neue"/>
                <a:ea typeface="Helvetica Neue"/>
                <a:cs typeface="Helvetica Neue"/>
              </a:defRPr>
            </a:pPr>
            <a:r>
              <a:rPr sz="1050" b="1">
                <a:solidFill>
                  <a:srgbClr val="237B82"/>
                </a:solidFill>
                <a:latin typeface="Helvetica Neue"/>
                <a:ea typeface="Helvetica Neue"/>
                <a:cs typeface="Helvetica Neue"/>
              </a:rPr>
              <a:t>Manual page 60</a:t>
            </a:r>
          </a:p>
        </p:txBody>
      </p:sp>
    </p:spTree>
    <p:extLst>
      <p:ext uri="{BB962C8B-B14F-4D97-AF65-F5344CB8AC3E}">
        <p14:creationId xmlns:p14="http://schemas.microsoft.com/office/powerpoint/2010/main" val="1203158984"/>
      </p:ext>
    </p:extLst>
  </p:cSld>
</p:sld>
</file>

<file path=ppt/slides/slide67.xml><?xml version="1.0" encoding="utf-8"?>
<p:sld xmlns:p="http://schemas.openxmlformats.org/presentationml/2006/main">
  <p:cSld>
    <p:bg>
      <p:bgPr>
        <a:solidFill xmlns:a="http://schemas.openxmlformats.org/drawingml/2006/main">
          <a:srgbClr val="F7F4EE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B8C80B83-8EB1-452E-8DAB-A9BAF70043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2095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37B82"/>
          </a:solidFill>
          <a:ln xmlns:a="http://schemas.openxmlformats.org/drawingml/2006/main" w="0">
            <a:solidFill>
              <a:srgbClr val="237B82"/>
            </a:solidFill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3CD77262-8BA4-4D9D-9B46-448498C46A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00050"/>
            <a:ext cx="10001250" cy="819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>
            <a:defPPr>
              <a:defRPr sz="2700" b="1">
                <a:solidFill>
                  <a:srgbClr val="15324A"/>
                </a:solidFill>
                <a:latin typeface="Helvetica Neue"/>
                <a:ea typeface="Helvetica Neue"/>
                <a:cs typeface="Helvetica Neue"/>
              </a:defRPr>
            </a:defPPr>
            <a:lvl1pPr>
              <a:defRPr sz="2700" b="1">
                <a:solidFill>
                  <a:srgbClr val="15324A"/>
                </a:solidFill>
                <a:latin typeface="Helvetica Neue"/>
                <a:ea typeface="Helvetica Neue"/>
                <a:cs typeface="Helvetica Neue"/>
              </a:defRPr>
            </a:lvl1pPr>
            <a:lvl2pPr>
              <a:defRPr sz="2700" b="1">
                <a:solidFill>
                  <a:srgbClr val="15324A"/>
                </a:solidFill>
                <a:latin typeface="Helvetica Neue"/>
                <a:ea typeface="Helvetica Neue"/>
                <a:cs typeface="Helvetica Neue"/>
              </a:defRPr>
            </a:lvl2pPr>
            <a:lvl3pPr>
              <a:defRPr sz="2700" b="1">
                <a:solidFill>
                  <a:srgbClr val="15324A"/>
                </a:solidFill>
                <a:latin typeface="Helvetica Neue"/>
                <a:ea typeface="Helvetica Neue"/>
                <a:cs typeface="Helvetica Neue"/>
              </a:defRPr>
            </a:lvl3pPr>
            <a:lvl4pPr>
              <a:defRPr sz="2700" b="1">
                <a:solidFill>
                  <a:srgbClr val="15324A"/>
                </a:solidFill>
                <a:latin typeface="Helvetica Neue"/>
                <a:ea typeface="Helvetica Neue"/>
                <a:cs typeface="Helvetica Neue"/>
              </a:defRPr>
            </a:lvl4pPr>
            <a:lvl5pPr>
              <a:defRPr sz="2700" b="1">
                <a:solidFill>
                  <a:srgbClr val="15324A"/>
                </a:solidFill>
                <a:latin typeface="Helvetica Neue"/>
                <a:ea typeface="Helvetica Neue"/>
                <a:cs typeface="Helvetica Neue"/>
              </a:defRPr>
            </a:lvl5pPr>
            <a:lvl6pPr>
              <a:defRPr sz="2700" b="1">
                <a:solidFill>
                  <a:srgbClr val="15324A"/>
                </a:solidFill>
                <a:latin typeface="Helvetica Neue"/>
                <a:ea typeface="Helvetica Neue"/>
                <a:cs typeface="Helvetica Neue"/>
              </a:defRPr>
            </a:lvl6pPr>
            <a:lvl7pPr>
              <a:defRPr sz="2700" b="1">
                <a:solidFill>
                  <a:srgbClr val="15324A"/>
                </a:solidFill>
                <a:latin typeface="Helvetica Neue"/>
                <a:ea typeface="Helvetica Neue"/>
                <a:cs typeface="Helvetica Neue"/>
              </a:defRPr>
            </a:lvl7pPr>
            <a:lvl8pPr>
              <a:defRPr sz="2700" b="1">
                <a:solidFill>
                  <a:srgbClr val="15324A"/>
                </a:solidFill>
                <a:latin typeface="Helvetica Neue"/>
                <a:ea typeface="Helvetica Neue"/>
                <a:cs typeface="Helvetica Neue"/>
              </a:defRPr>
            </a:lvl8pPr>
            <a:lvl9pPr>
              <a:defRPr sz="2700" b="1">
                <a:solidFill>
                  <a:srgbClr val="15324A"/>
                </a:solidFill>
                <a:latin typeface="Helvetica Neue"/>
                <a:ea typeface="Helvetica Neue"/>
                <a:cs typeface="Helvetica Neue"/>
              </a:defRPr>
            </a:lvl9pPr>
          </a:lstStyle>
          <a:p xmlns:a="http://schemas.openxmlformats.org/drawingml/2006/main">
            <a:pPr>
              <a:defRPr sz="2700" b="1">
                <a:solidFill>
                  <a:srgbClr val="15324A"/>
                </a:solidFill>
                <a:latin typeface="Helvetica Neue"/>
                <a:ea typeface="Helvetica Neue"/>
                <a:cs typeface="Helvetica Neue"/>
              </a:defRPr>
            </a:pPr>
            <a:r>
              <a:rPr sz="2700" b="1">
                <a:solidFill>
                  <a:srgbClr val="15324A"/>
                </a:solidFill>
                <a:latin typeface="Helvetica Neue"/>
                <a:ea typeface="Helvetica Neue"/>
                <a:cs typeface="Helvetica Neue"/>
              </a:rPr>
              <a:t>Glossary — continued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CD884368-F2B8-4C02-AB04-BF3955754E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1257300"/>
            <a:ext cx="88582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91111"/>
          </a:bodyPr>
          <a:lstStyle xmlns:a="http://schemas.openxmlformats.org/drawingml/2006/main">
            <a:defPPr>
              <a:defRPr sz="1125" b="1">
                <a:solidFill>
                  <a:srgbClr val="237B82"/>
                </a:solidFill>
                <a:latin typeface="Helvetica Neue"/>
                <a:ea typeface="Helvetica Neue"/>
                <a:cs typeface="Helvetica Neue"/>
              </a:defRPr>
            </a:defPPr>
            <a:lvl1pPr>
              <a:defRPr sz="1125" b="1">
                <a:solidFill>
                  <a:srgbClr val="237B82"/>
                </a:solidFill>
                <a:latin typeface="Helvetica Neue"/>
                <a:ea typeface="Helvetica Neue"/>
                <a:cs typeface="Helvetica Neue"/>
              </a:defRPr>
            </a:lvl1pPr>
            <a:lvl2pPr>
              <a:defRPr sz="1125" b="1">
                <a:solidFill>
                  <a:srgbClr val="237B82"/>
                </a:solidFill>
                <a:latin typeface="Helvetica Neue"/>
                <a:ea typeface="Helvetica Neue"/>
                <a:cs typeface="Helvetica Neue"/>
              </a:defRPr>
            </a:lvl2pPr>
            <a:lvl3pPr>
              <a:defRPr sz="1125" b="1">
                <a:solidFill>
                  <a:srgbClr val="237B82"/>
                </a:solidFill>
                <a:latin typeface="Helvetica Neue"/>
                <a:ea typeface="Helvetica Neue"/>
                <a:cs typeface="Helvetica Neue"/>
              </a:defRPr>
            </a:lvl3pPr>
            <a:lvl4pPr>
              <a:defRPr sz="1125" b="1">
                <a:solidFill>
                  <a:srgbClr val="237B82"/>
                </a:solidFill>
                <a:latin typeface="Helvetica Neue"/>
                <a:ea typeface="Helvetica Neue"/>
                <a:cs typeface="Helvetica Neue"/>
              </a:defRPr>
            </a:lvl4pPr>
            <a:lvl5pPr>
              <a:defRPr sz="1125" b="1">
                <a:solidFill>
                  <a:srgbClr val="237B82"/>
                </a:solidFill>
                <a:latin typeface="Helvetica Neue"/>
                <a:ea typeface="Helvetica Neue"/>
                <a:cs typeface="Helvetica Neue"/>
              </a:defRPr>
            </a:lvl5pPr>
            <a:lvl6pPr>
              <a:defRPr sz="1125" b="1">
                <a:solidFill>
                  <a:srgbClr val="237B82"/>
                </a:solidFill>
                <a:latin typeface="Helvetica Neue"/>
                <a:ea typeface="Helvetica Neue"/>
                <a:cs typeface="Helvetica Neue"/>
              </a:defRPr>
            </a:lvl6pPr>
            <a:lvl7pPr>
              <a:defRPr sz="1125" b="1">
                <a:solidFill>
                  <a:srgbClr val="237B82"/>
                </a:solidFill>
                <a:latin typeface="Helvetica Neue"/>
                <a:ea typeface="Helvetica Neue"/>
                <a:cs typeface="Helvetica Neue"/>
              </a:defRPr>
            </a:lvl7pPr>
            <a:lvl8pPr>
              <a:defRPr sz="1125" b="1">
                <a:solidFill>
                  <a:srgbClr val="237B82"/>
                </a:solidFill>
                <a:latin typeface="Helvetica Neue"/>
                <a:ea typeface="Helvetica Neue"/>
                <a:cs typeface="Helvetica Neue"/>
              </a:defRPr>
            </a:lvl8pPr>
            <a:lvl9pPr>
              <a:defRPr sz="1125" b="1">
                <a:solidFill>
                  <a:srgbClr val="237B82"/>
                </a:solidFill>
                <a:latin typeface="Helvetica Neue"/>
                <a:ea typeface="Helvetica Neue"/>
                <a:cs typeface="Helvetica Neue"/>
              </a:defRPr>
            </a:lvl9pPr>
          </a:lstStyle>
          <a:p xmlns:a="http://schemas.openxmlformats.org/drawingml/2006/main">
            <a:pPr>
              <a:defRPr sz="1125" b="1">
                <a:solidFill>
                  <a:srgbClr val="237B82"/>
                </a:solidFill>
                <a:latin typeface="Helvetica Neue"/>
                <a:ea typeface="Helvetica Neue"/>
                <a:cs typeface="Helvetica Neue"/>
              </a:defRPr>
            </a:pPr>
            <a:r>
              <a:rPr sz="1125" b="1">
                <a:solidFill>
                  <a:srgbClr val="237B82"/>
                </a:solidFill>
                <a:latin typeface="Helvetica Neue"/>
                <a:ea typeface="Helvetica Neue"/>
                <a:cs typeface="Helvetica Neue"/>
              </a:rPr>
              <a:t>MODULE 4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6D1D9DDA-6B47-4171-A275-D09BE2FC80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457200"/>
            <a:ext cx="5334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>
            <a:defPPr>
              <a:defRPr sz="1200" b="1">
                <a:solidFill>
                  <a:srgbClr val="237B82"/>
                </a:solidFill>
                <a:latin typeface="Helvetica Neue"/>
                <a:ea typeface="Helvetica Neue"/>
                <a:cs typeface="Helvetica Neue"/>
              </a:defRPr>
            </a:defPPr>
            <a:lvl1pPr>
              <a:defRPr sz="1200" b="1">
                <a:solidFill>
                  <a:srgbClr val="237B82"/>
                </a:solidFill>
                <a:latin typeface="Helvetica Neue"/>
                <a:ea typeface="Helvetica Neue"/>
                <a:cs typeface="Helvetica Neue"/>
              </a:defRPr>
            </a:lvl1pPr>
            <a:lvl2pPr>
              <a:defRPr sz="1200" b="1">
                <a:solidFill>
                  <a:srgbClr val="237B82"/>
                </a:solidFill>
                <a:latin typeface="Helvetica Neue"/>
                <a:ea typeface="Helvetica Neue"/>
                <a:cs typeface="Helvetica Neue"/>
              </a:defRPr>
            </a:lvl2pPr>
            <a:lvl3pPr>
              <a:defRPr sz="1200" b="1">
                <a:solidFill>
                  <a:srgbClr val="237B82"/>
                </a:solidFill>
                <a:latin typeface="Helvetica Neue"/>
                <a:ea typeface="Helvetica Neue"/>
                <a:cs typeface="Helvetica Neue"/>
              </a:defRPr>
            </a:lvl3pPr>
            <a:lvl4pPr>
              <a:defRPr sz="1200" b="1">
                <a:solidFill>
                  <a:srgbClr val="237B82"/>
                </a:solidFill>
                <a:latin typeface="Helvetica Neue"/>
                <a:ea typeface="Helvetica Neue"/>
                <a:cs typeface="Helvetica Neue"/>
              </a:defRPr>
            </a:lvl4pPr>
            <a:lvl5pPr>
              <a:defRPr sz="1200" b="1">
                <a:solidFill>
                  <a:srgbClr val="237B82"/>
                </a:solidFill>
                <a:latin typeface="Helvetica Neue"/>
                <a:ea typeface="Helvetica Neue"/>
                <a:cs typeface="Helvetica Neue"/>
              </a:defRPr>
            </a:lvl5pPr>
            <a:lvl6pPr>
              <a:defRPr sz="1200" b="1">
                <a:solidFill>
                  <a:srgbClr val="237B82"/>
                </a:solidFill>
                <a:latin typeface="Helvetica Neue"/>
                <a:ea typeface="Helvetica Neue"/>
                <a:cs typeface="Helvetica Neue"/>
              </a:defRPr>
            </a:lvl6pPr>
            <a:lvl7pPr>
              <a:defRPr sz="1200" b="1">
                <a:solidFill>
                  <a:srgbClr val="237B82"/>
                </a:solidFill>
                <a:latin typeface="Helvetica Neue"/>
                <a:ea typeface="Helvetica Neue"/>
                <a:cs typeface="Helvetica Neue"/>
              </a:defRPr>
            </a:lvl7pPr>
            <a:lvl8pPr>
              <a:defRPr sz="1200" b="1">
                <a:solidFill>
                  <a:srgbClr val="237B82"/>
                </a:solidFill>
                <a:latin typeface="Helvetica Neue"/>
                <a:ea typeface="Helvetica Neue"/>
                <a:cs typeface="Helvetica Neue"/>
              </a:defRPr>
            </a:lvl8pPr>
            <a:lvl9pPr>
              <a:defRPr sz="1200" b="1">
                <a:solidFill>
                  <a:srgbClr val="237B82"/>
                </a:solidFill>
                <a:latin typeface="Helvetica Neue"/>
                <a:ea typeface="Helvetica Neue"/>
                <a:cs typeface="Helvetica Neue"/>
              </a:defRPr>
            </a:lvl9pPr>
          </a:lstStyle>
          <a:p xmlns:a="http://schemas.openxmlformats.org/drawingml/2006/main">
            <a:pPr>
              <a:defRPr sz="1200" b="1">
                <a:solidFill>
                  <a:srgbClr val="237B82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00" b="1">
                <a:solidFill>
                  <a:srgbClr val="237B82"/>
                </a:solidFill>
                <a:latin typeface="Helvetica Neue"/>
                <a:ea typeface="Helvetica Neue"/>
                <a:cs typeface="Helvetica Neue"/>
              </a:rPr>
              <a:t>67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D5282C23-5CEB-486F-A8E2-9D5E3C77E2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1762125"/>
            <a:ext cx="10287000" cy="409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>
            <a:defPPr>
              <a:defRPr sz="1875">
                <a:solidFill>
                  <a:srgbClr val="13212D"/>
                </a:solidFill>
                <a:latin typeface="Helvetica Neue"/>
                <a:ea typeface="Helvetica Neue"/>
                <a:cs typeface="Helvetica Neue"/>
              </a:defRPr>
            </a:defPPr>
            <a:lvl1pPr>
              <a:defRPr sz="1875">
                <a:solidFill>
                  <a:srgbClr val="13212D"/>
                </a:solidFill>
                <a:latin typeface="Helvetica Neue"/>
                <a:ea typeface="Helvetica Neue"/>
                <a:cs typeface="Helvetica Neue"/>
              </a:defRPr>
            </a:lvl1pPr>
            <a:lvl2pPr>
              <a:defRPr sz="1875">
                <a:solidFill>
                  <a:srgbClr val="13212D"/>
                </a:solidFill>
                <a:latin typeface="Helvetica Neue"/>
                <a:ea typeface="Helvetica Neue"/>
                <a:cs typeface="Helvetica Neue"/>
              </a:defRPr>
            </a:lvl2pPr>
            <a:lvl3pPr>
              <a:defRPr sz="1875">
                <a:solidFill>
                  <a:srgbClr val="13212D"/>
                </a:solidFill>
                <a:latin typeface="Helvetica Neue"/>
                <a:ea typeface="Helvetica Neue"/>
                <a:cs typeface="Helvetica Neue"/>
              </a:defRPr>
            </a:lvl3pPr>
            <a:lvl4pPr>
              <a:defRPr sz="1875">
                <a:solidFill>
                  <a:srgbClr val="13212D"/>
                </a:solidFill>
                <a:latin typeface="Helvetica Neue"/>
                <a:ea typeface="Helvetica Neue"/>
                <a:cs typeface="Helvetica Neue"/>
              </a:defRPr>
            </a:lvl4pPr>
            <a:lvl5pPr>
              <a:defRPr sz="1875">
                <a:solidFill>
                  <a:srgbClr val="13212D"/>
                </a:solidFill>
                <a:latin typeface="Helvetica Neue"/>
                <a:ea typeface="Helvetica Neue"/>
                <a:cs typeface="Helvetica Neue"/>
              </a:defRPr>
            </a:lvl5pPr>
            <a:lvl6pPr>
              <a:defRPr sz="1875">
                <a:solidFill>
                  <a:srgbClr val="13212D"/>
                </a:solidFill>
                <a:latin typeface="Helvetica Neue"/>
                <a:ea typeface="Helvetica Neue"/>
                <a:cs typeface="Helvetica Neue"/>
              </a:defRPr>
            </a:lvl6pPr>
            <a:lvl7pPr>
              <a:defRPr sz="1875">
                <a:solidFill>
                  <a:srgbClr val="13212D"/>
                </a:solidFill>
                <a:latin typeface="Helvetica Neue"/>
                <a:ea typeface="Helvetica Neue"/>
                <a:cs typeface="Helvetica Neue"/>
              </a:defRPr>
            </a:lvl7pPr>
            <a:lvl8pPr>
              <a:defRPr sz="1875">
                <a:solidFill>
                  <a:srgbClr val="13212D"/>
                </a:solidFill>
                <a:latin typeface="Helvetica Neue"/>
                <a:ea typeface="Helvetica Neue"/>
                <a:cs typeface="Helvetica Neue"/>
              </a:defRPr>
            </a:lvl8pPr>
            <a:lvl9pPr>
              <a:defRPr sz="1875">
                <a:solidFill>
                  <a:srgbClr val="13212D"/>
                </a:solidFill>
                <a:latin typeface="Helvetica Neue"/>
                <a:ea typeface="Helvetica Neue"/>
                <a:cs typeface="Helvetica Neue"/>
              </a:defRPr>
            </a:lvl9pPr>
          </a:lstStyle>
          <a:p xmlns:a="http://schemas.openxmlformats.org/drawingml/2006/main">
            <a:pPr marL="279400" indent="-127000">
              <a:spcAft>
                <a:spcPts val="1300"/>
              </a:spcAft>
              <a:buChar char="•"/>
              <a:defRPr sz="1875">
                <a:solidFill>
                  <a:srgbClr val="13212D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75">
                <a:solidFill>
                  <a:srgbClr val="13212D"/>
                </a:solidFill>
                <a:latin typeface="Helvetica Neue"/>
                <a:ea typeface="Helvetica Neue"/>
                <a:cs typeface="Helvetica Neue"/>
              </a:rPr>
              <a:t>Citrate Solution used to prevent clotting of blood.</a:t>
            </a:r>
          </a:p>
          <a:p xmlns:a="http://schemas.openxmlformats.org/drawingml/2006/main">
            <a:pPr marL="279400" indent="-127000">
              <a:spcAft>
                <a:spcPts val="1300"/>
              </a:spcAft>
              <a:buChar char="•"/>
              <a:defRPr sz="1875">
                <a:solidFill>
                  <a:srgbClr val="13212D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75">
                <a:solidFill>
                  <a:srgbClr val="13212D"/>
                </a:solidFill>
                <a:latin typeface="Helvetica Neue"/>
                <a:ea typeface="Helvetica Neue"/>
                <a:cs typeface="Helvetica Neue"/>
              </a:rPr>
              <a:t>It permits whole blood to be stored until needed for transfusion.</a:t>
            </a:r>
          </a:p>
          <a:p xmlns:a="http://schemas.openxmlformats.org/drawingml/2006/main">
            <a:pPr marL="279400" indent="-127000">
              <a:spcAft>
                <a:spcPts val="1300"/>
              </a:spcAft>
              <a:buChar char="•"/>
              <a:defRPr sz="1875">
                <a:solidFill>
                  <a:srgbClr val="13212D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75">
                <a:solidFill>
                  <a:srgbClr val="13212D"/>
                </a:solidFill>
                <a:latin typeface="Helvetica Neue"/>
                <a:ea typeface="Helvetica Neue"/>
                <a:cs typeface="Helvetica Neue"/>
              </a:rPr>
              <a:t>Crystalloid A substance capable of crystallization which in a solution can be diffused through animal membranes.</a:t>
            </a:r>
          </a:p>
          <a:p xmlns:a="http://schemas.openxmlformats.org/drawingml/2006/main">
            <a:pPr marL="279400" indent="-127000">
              <a:spcAft>
                <a:spcPts val="1300"/>
              </a:spcAft>
              <a:buChar char="•"/>
              <a:defRPr sz="1875">
                <a:solidFill>
                  <a:srgbClr val="13212D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75">
                <a:solidFill>
                  <a:srgbClr val="13212D"/>
                </a:solidFill>
                <a:latin typeface="Helvetica Neue"/>
                <a:ea typeface="Helvetica Neue"/>
                <a:cs typeface="Helvetica Neue"/>
              </a:rPr>
              <a:t>Glycerol A thick syrupy colorless liquid soluble in all proportions in water and alcohol.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F231CDB4-D830-476E-9ADB-4023958895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6115050"/>
            <a:ext cx="101917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>
            <a:defPPr>
              <a:defRPr sz="1125" b="1">
                <a:solidFill>
                  <a:srgbClr val="B94F3D"/>
                </a:solidFill>
                <a:latin typeface="Helvetica Neue"/>
                <a:ea typeface="Helvetica Neue"/>
                <a:cs typeface="Helvetica Neue"/>
              </a:defRPr>
            </a:defPPr>
            <a:lvl1pPr>
              <a:defRPr sz="1125" b="1">
                <a:solidFill>
                  <a:srgbClr val="B94F3D"/>
                </a:solidFill>
                <a:latin typeface="Helvetica Neue"/>
                <a:ea typeface="Helvetica Neue"/>
                <a:cs typeface="Helvetica Neue"/>
              </a:defRPr>
            </a:lvl1pPr>
            <a:lvl2pPr>
              <a:defRPr sz="1125" b="1">
                <a:solidFill>
                  <a:srgbClr val="B94F3D"/>
                </a:solidFill>
                <a:latin typeface="Helvetica Neue"/>
                <a:ea typeface="Helvetica Neue"/>
                <a:cs typeface="Helvetica Neue"/>
              </a:defRPr>
            </a:lvl2pPr>
            <a:lvl3pPr>
              <a:defRPr sz="1125" b="1">
                <a:solidFill>
                  <a:srgbClr val="B94F3D"/>
                </a:solidFill>
                <a:latin typeface="Helvetica Neue"/>
                <a:ea typeface="Helvetica Neue"/>
                <a:cs typeface="Helvetica Neue"/>
              </a:defRPr>
            </a:lvl3pPr>
            <a:lvl4pPr>
              <a:defRPr sz="1125" b="1">
                <a:solidFill>
                  <a:srgbClr val="B94F3D"/>
                </a:solidFill>
                <a:latin typeface="Helvetica Neue"/>
                <a:ea typeface="Helvetica Neue"/>
                <a:cs typeface="Helvetica Neue"/>
              </a:defRPr>
            </a:lvl4pPr>
            <a:lvl5pPr>
              <a:defRPr sz="1125" b="1">
                <a:solidFill>
                  <a:srgbClr val="B94F3D"/>
                </a:solidFill>
                <a:latin typeface="Helvetica Neue"/>
                <a:ea typeface="Helvetica Neue"/>
                <a:cs typeface="Helvetica Neue"/>
              </a:defRPr>
            </a:lvl5pPr>
            <a:lvl6pPr>
              <a:defRPr sz="1125" b="1">
                <a:solidFill>
                  <a:srgbClr val="B94F3D"/>
                </a:solidFill>
                <a:latin typeface="Helvetica Neue"/>
                <a:ea typeface="Helvetica Neue"/>
                <a:cs typeface="Helvetica Neue"/>
              </a:defRPr>
            </a:lvl6pPr>
            <a:lvl7pPr>
              <a:defRPr sz="1125" b="1">
                <a:solidFill>
                  <a:srgbClr val="B94F3D"/>
                </a:solidFill>
                <a:latin typeface="Helvetica Neue"/>
                <a:ea typeface="Helvetica Neue"/>
                <a:cs typeface="Helvetica Neue"/>
              </a:defRPr>
            </a:lvl7pPr>
            <a:lvl8pPr>
              <a:defRPr sz="1125" b="1">
                <a:solidFill>
                  <a:srgbClr val="B94F3D"/>
                </a:solidFill>
                <a:latin typeface="Helvetica Neue"/>
                <a:ea typeface="Helvetica Neue"/>
                <a:cs typeface="Helvetica Neue"/>
              </a:defRPr>
            </a:lvl8pPr>
            <a:lvl9pPr>
              <a:defRPr sz="1125" b="1">
                <a:solidFill>
                  <a:srgbClr val="B94F3D"/>
                </a:solidFill>
                <a:latin typeface="Helvetica Neue"/>
                <a:ea typeface="Helvetica Neue"/>
                <a:cs typeface="Helvetica Neue"/>
              </a:defRPr>
            </a:lvl9pPr>
          </a:lstStyle>
          <a:p xmlns:a="http://schemas.openxmlformats.org/drawingml/2006/main">
            <a:pPr>
              <a:defRPr sz="1125" b="1">
                <a:solidFill>
                  <a:srgbClr val="B94F3D"/>
                </a:solidFill>
                <a:latin typeface="Helvetica Neue"/>
                <a:ea typeface="Helvetica Neue"/>
                <a:cs typeface="Helvetica Neue"/>
              </a:defRPr>
            </a:pPr>
            <a:r>
              <a:rPr sz="1125" b="1">
                <a:solidFill>
                  <a:srgbClr val="B94F3D"/>
                </a:solidFill>
                <a:latin typeface="Helvetica Neue"/>
                <a:ea typeface="Helvetica Neue"/>
                <a:cs typeface="Helvetica Neue"/>
              </a:rPr>
              <a:t>Use current orders, facility policy, and authorized scope when applying this information.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F12603D3-C53B-4355-940F-C4ED603EFC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5772150"/>
            <a:ext cx="101917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97619"/>
          </a:bodyPr>
          <a:lstStyle xmlns:a="http://schemas.openxmlformats.org/drawingml/2006/main">
            <a:defPPr>
              <a:defRPr sz="1050" b="1">
                <a:solidFill>
                  <a:srgbClr val="237B82"/>
                </a:solidFill>
                <a:latin typeface="Helvetica Neue"/>
                <a:ea typeface="Helvetica Neue"/>
                <a:cs typeface="Helvetica Neue"/>
              </a:defRPr>
            </a:defPPr>
            <a:lvl1pPr>
              <a:defRPr sz="1050" b="1">
                <a:solidFill>
                  <a:srgbClr val="237B82"/>
                </a:solidFill>
                <a:latin typeface="Helvetica Neue"/>
                <a:ea typeface="Helvetica Neue"/>
                <a:cs typeface="Helvetica Neue"/>
              </a:defRPr>
            </a:lvl1pPr>
            <a:lvl2pPr>
              <a:defRPr sz="1050" b="1">
                <a:solidFill>
                  <a:srgbClr val="237B82"/>
                </a:solidFill>
                <a:latin typeface="Helvetica Neue"/>
                <a:ea typeface="Helvetica Neue"/>
                <a:cs typeface="Helvetica Neue"/>
              </a:defRPr>
            </a:lvl2pPr>
            <a:lvl3pPr>
              <a:defRPr sz="1050" b="1">
                <a:solidFill>
                  <a:srgbClr val="237B82"/>
                </a:solidFill>
                <a:latin typeface="Helvetica Neue"/>
                <a:ea typeface="Helvetica Neue"/>
                <a:cs typeface="Helvetica Neue"/>
              </a:defRPr>
            </a:lvl3pPr>
            <a:lvl4pPr>
              <a:defRPr sz="1050" b="1">
                <a:solidFill>
                  <a:srgbClr val="237B82"/>
                </a:solidFill>
                <a:latin typeface="Helvetica Neue"/>
                <a:ea typeface="Helvetica Neue"/>
                <a:cs typeface="Helvetica Neue"/>
              </a:defRPr>
            </a:lvl4pPr>
            <a:lvl5pPr>
              <a:defRPr sz="1050" b="1">
                <a:solidFill>
                  <a:srgbClr val="237B82"/>
                </a:solidFill>
                <a:latin typeface="Helvetica Neue"/>
                <a:ea typeface="Helvetica Neue"/>
                <a:cs typeface="Helvetica Neue"/>
              </a:defRPr>
            </a:lvl5pPr>
            <a:lvl6pPr>
              <a:defRPr sz="1050" b="1">
                <a:solidFill>
                  <a:srgbClr val="237B82"/>
                </a:solidFill>
                <a:latin typeface="Helvetica Neue"/>
                <a:ea typeface="Helvetica Neue"/>
                <a:cs typeface="Helvetica Neue"/>
              </a:defRPr>
            </a:lvl6pPr>
            <a:lvl7pPr>
              <a:defRPr sz="1050" b="1">
                <a:solidFill>
                  <a:srgbClr val="237B82"/>
                </a:solidFill>
                <a:latin typeface="Helvetica Neue"/>
                <a:ea typeface="Helvetica Neue"/>
                <a:cs typeface="Helvetica Neue"/>
              </a:defRPr>
            </a:lvl7pPr>
            <a:lvl8pPr>
              <a:defRPr sz="1050" b="1">
                <a:solidFill>
                  <a:srgbClr val="237B82"/>
                </a:solidFill>
                <a:latin typeface="Helvetica Neue"/>
                <a:ea typeface="Helvetica Neue"/>
                <a:cs typeface="Helvetica Neue"/>
              </a:defRPr>
            </a:lvl8pPr>
            <a:lvl9pPr>
              <a:defRPr sz="1050" b="1">
                <a:solidFill>
                  <a:srgbClr val="237B82"/>
                </a:solidFill>
                <a:latin typeface="Helvetica Neue"/>
                <a:ea typeface="Helvetica Neue"/>
                <a:cs typeface="Helvetica Neue"/>
              </a:defRPr>
            </a:lvl9pPr>
          </a:lstStyle>
          <a:p xmlns:a="http://schemas.openxmlformats.org/drawingml/2006/main">
            <a:pPr>
              <a:defRPr sz="1050" b="1">
                <a:solidFill>
                  <a:srgbClr val="237B82"/>
                </a:solidFill>
                <a:latin typeface="Helvetica Neue"/>
                <a:ea typeface="Helvetica Neue"/>
                <a:cs typeface="Helvetica Neue"/>
              </a:defRPr>
            </a:pPr>
            <a:r>
              <a:rPr sz="1050" b="1">
                <a:solidFill>
                  <a:srgbClr val="237B82"/>
                </a:solidFill>
                <a:latin typeface="Helvetica Neue"/>
                <a:ea typeface="Helvetica Neue"/>
                <a:cs typeface="Helvetica Neue"/>
              </a:rPr>
              <a:t>Manual page 60</a:t>
            </a:r>
          </a:p>
        </p:txBody>
      </p:sp>
    </p:spTree>
    <p:extLst>
      <p:ext uri="{BB962C8B-B14F-4D97-AF65-F5344CB8AC3E}">
        <p14:creationId xmlns:p14="http://schemas.microsoft.com/office/powerpoint/2010/main" val="147821537"/>
      </p:ext>
    </p:extLst>
  </p:cSld>
</p:sld>
</file>

<file path=ppt/slides/slide68.xml><?xml version="1.0" encoding="utf-8"?>
<p:sld xmlns:p="http://schemas.openxmlformats.org/presentationml/2006/main">
  <p:cSld>
    <p:bg>
      <p:bgPr>
        <a:solidFill xmlns:a="http://schemas.openxmlformats.org/drawingml/2006/main">
          <a:srgbClr val="F7F4EE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71DFEB27-B122-4EFF-8C04-DE5AC6453C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2095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37B82"/>
          </a:solidFill>
          <a:ln xmlns:a="http://schemas.openxmlformats.org/drawingml/2006/main" w="0">
            <a:solidFill>
              <a:srgbClr val="237B82"/>
            </a:solidFill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4BA39F61-0462-49DB-A7D7-B620DA10B8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00050"/>
            <a:ext cx="10001250" cy="819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>
            <a:defPPr>
              <a:defRPr sz="2700" b="1">
                <a:solidFill>
                  <a:srgbClr val="15324A"/>
                </a:solidFill>
                <a:latin typeface="Helvetica Neue"/>
                <a:ea typeface="Helvetica Neue"/>
                <a:cs typeface="Helvetica Neue"/>
              </a:defRPr>
            </a:defPPr>
            <a:lvl1pPr>
              <a:defRPr sz="2700" b="1">
                <a:solidFill>
                  <a:srgbClr val="15324A"/>
                </a:solidFill>
                <a:latin typeface="Helvetica Neue"/>
                <a:ea typeface="Helvetica Neue"/>
                <a:cs typeface="Helvetica Neue"/>
              </a:defRPr>
            </a:lvl1pPr>
            <a:lvl2pPr>
              <a:defRPr sz="2700" b="1">
                <a:solidFill>
                  <a:srgbClr val="15324A"/>
                </a:solidFill>
                <a:latin typeface="Helvetica Neue"/>
                <a:ea typeface="Helvetica Neue"/>
                <a:cs typeface="Helvetica Neue"/>
              </a:defRPr>
            </a:lvl2pPr>
            <a:lvl3pPr>
              <a:defRPr sz="2700" b="1">
                <a:solidFill>
                  <a:srgbClr val="15324A"/>
                </a:solidFill>
                <a:latin typeface="Helvetica Neue"/>
                <a:ea typeface="Helvetica Neue"/>
                <a:cs typeface="Helvetica Neue"/>
              </a:defRPr>
            </a:lvl3pPr>
            <a:lvl4pPr>
              <a:defRPr sz="2700" b="1">
                <a:solidFill>
                  <a:srgbClr val="15324A"/>
                </a:solidFill>
                <a:latin typeface="Helvetica Neue"/>
                <a:ea typeface="Helvetica Neue"/>
                <a:cs typeface="Helvetica Neue"/>
              </a:defRPr>
            </a:lvl4pPr>
            <a:lvl5pPr>
              <a:defRPr sz="2700" b="1">
                <a:solidFill>
                  <a:srgbClr val="15324A"/>
                </a:solidFill>
                <a:latin typeface="Helvetica Neue"/>
                <a:ea typeface="Helvetica Neue"/>
                <a:cs typeface="Helvetica Neue"/>
              </a:defRPr>
            </a:lvl5pPr>
            <a:lvl6pPr>
              <a:defRPr sz="2700" b="1">
                <a:solidFill>
                  <a:srgbClr val="15324A"/>
                </a:solidFill>
                <a:latin typeface="Helvetica Neue"/>
                <a:ea typeface="Helvetica Neue"/>
                <a:cs typeface="Helvetica Neue"/>
              </a:defRPr>
            </a:lvl6pPr>
            <a:lvl7pPr>
              <a:defRPr sz="2700" b="1">
                <a:solidFill>
                  <a:srgbClr val="15324A"/>
                </a:solidFill>
                <a:latin typeface="Helvetica Neue"/>
                <a:ea typeface="Helvetica Neue"/>
                <a:cs typeface="Helvetica Neue"/>
              </a:defRPr>
            </a:lvl7pPr>
            <a:lvl8pPr>
              <a:defRPr sz="2700" b="1">
                <a:solidFill>
                  <a:srgbClr val="15324A"/>
                </a:solidFill>
                <a:latin typeface="Helvetica Neue"/>
                <a:ea typeface="Helvetica Neue"/>
                <a:cs typeface="Helvetica Neue"/>
              </a:defRPr>
            </a:lvl8pPr>
            <a:lvl9pPr>
              <a:defRPr sz="2700" b="1">
                <a:solidFill>
                  <a:srgbClr val="15324A"/>
                </a:solidFill>
                <a:latin typeface="Helvetica Neue"/>
                <a:ea typeface="Helvetica Neue"/>
                <a:cs typeface="Helvetica Neue"/>
              </a:defRPr>
            </a:lvl9pPr>
          </a:lstStyle>
          <a:p xmlns:a="http://schemas.openxmlformats.org/drawingml/2006/main">
            <a:pPr>
              <a:defRPr sz="2700" b="1">
                <a:solidFill>
                  <a:srgbClr val="15324A"/>
                </a:solidFill>
                <a:latin typeface="Helvetica Neue"/>
                <a:ea typeface="Helvetica Neue"/>
                <a:cs typeface="Helvetica Neue"/>
              </a:defRPr>
            </a:pPr>
            <a:r>
              <a:rPr sz="2700" b="1">
                <a:solidFill>
                  <a:srgbClr val="15324A"/>
                </a:solidFill>
                <a:latin typeface="Helvetica Neue"/>
                <a:ea typeface="Helvetica Neue"/>
                <a:cs typeface="Helvetica Neue"/>
              </a:rPr>
              <a:t>Glossary — continued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E0414724-BB9E-4CBE-8D2D-7FF09BDFE7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1257300"/>
            <a:ext cx="88582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91111"/>
          </a:bodyPr>
          <a:lstStyle xmlns:a="http://schemas.openxmlformats.org/drawingml/2006/main">
            <a:defPPr>
              <a:defRPr sz="1125" b="1">
                <a:solidFill>
                  <a:srgbClr val="237B82"/>
                </a:solidFill>
                <a:latin typeface="Helvetica Neue"/>
                <a:ea typeface="Helvetica Neue"/>
                <a:cs typeface="Helvetica Neue"/>
              </a:defRPr>
            </a:defPPr>
            <a:lvl1pPr>
              <a:defRPr sz="1125" b="1">
                <a:solidFill>
                  <a:srgbClr val="237B82"/>
                </a:solidFill>
                <a:latin typeface="Helvetica Neue"/>
                <a:ea typeface="Helvetica Neue"/>
                <a:cs typeface="Helvetica Neue"/>
              </a:defRPr>
            </a:lvl1pPr>
            <a:lvl2pPr>
              <a:defRPr sz="1125" b="1">
                <a:solidFill>
                  <a:srgbClr val="237B82"/>
                </a:solidFill>
                <a:latin typeface="Helvetica Neue"/>
                <a:ea typeface="Helvetica Neue"/>
                <a:cs typeface="Helvetica Neue"/>
              </a:defRPr>
            </a:lvl2pPr>
            <a:lvl3pPr>
              <a:defRPr sz="1125" b="1">
                <a:solidFill>
                  <a:srgbClr val="237B82"/>
                </a:solidFill>
                <a:latin typeface="Helvetica Neue"/>
                <a:ea typeface="Helvetica Neue"/>
                <a:cs typeface="Helvetica Neue"/>
              </a:defRPr>
            </a:lvl3pPr>
            <a:lvl4pPr>
              <a:defRPr sz="1125" b="1">
                <a:solidFill>
                  <a:srgbClr val="237B82"/>
                </a:solidFill>
                <a:latin typeface="Helvetica Neue"/>
                <a:ea typeface="Helvetica Neue"/>
                <a:cs typeface="Helvetica Neue"/>
              </a:defRPr>
            </a:lvl4pPr>
            <a:lvl5pPr>
              <a:defRPr sz="1125" b="1">
                <a:solidFill>
                  <a:srgbClr val="237B82"/>
                </a:solidFill>
                <a:latin typeface="Helvetica Neue"/>
                <a:ea typeface="Helvetica Neue"/>
                <a:cs typeface="Helvetica Neue"/>
              </a:defRPr>
            </a:lvl5pPr>
            <a:lvl6pPr>
              <a:defRPr sz="1125" b="1">
                <a:solidFill>
                  <a:srgbClr val="237B82"/>
                </a:solidFill>
                <a:latin typeface="Helvetica Neue"/>
                <a:ea typeface="Helvetica Neue"/>
                <a:cs typeface="Helvetica Neue"/>
              </a:defRPr>
            </a:lvl6pPr>
            <a:lvl7pPr>
              <a:defRPr sz="1125" b="1">
                <a:solidFill>
                  <a:srgbClr val="237B82"/>
                </a:solidFill>
                <a:latin typeface="Helvetica Neue"/>
                <a:ea typeface="Helvetica Neue"/>
                <a:cs typeface="Helvetica Neue"/>
              </a:defRPr>
            </a:lvl7pPr>
            <a:lvl8pPr>
              <a:defRPr sz="1125" b="1">
                <a:solidFill>
                  <a:srgbClr val="237B82"/>
                </a:solidFill>
                <a:latin typeface="Helvetica Neue"/>
                <a:ea typeface="Helvetica Neue"/>
                <a:cs typeface="Helvetica Neue"/>
              </a:defRPr>
            </a:lvl8pPr>
            <a:lvl9pPr>
              <a:defRPr sz="1125" b="1">
                <a:solidFill>
                  <a:srgbClr val="237B82"/>
                </a:solidFill>
                <a:latin typeface="Helvetica Neue"/>
                <a:ea typeface="Helvetica Neue"/>
                <a:cs typeface="Helvetica Neue"/>
              </a:defRPr>
            </a:lvl9pPr>
          </a:lstStyle>
          <a:p xmlns:a="http://schemas.openxmlformats.org/drawingml/2006/main">
            <a:pPr>
              <a:defRPr sz="1125" b="1">
                <a:solidFill>
                  <a:srgbClr val="237B82"/>
                </a:solidFill>
                <a:latin typeface="Helvetica Neue"/>
                <a:ea typeface="Helvetica Neue"/>
                <a:cs typeface="Helvetica Neue"/>
              </a:defRPr>
            </a:pPr>
            <a:r>
              <a:rPr sz="1125" b="1">
                <a:solidFill>
                  <a:srgbClr val="237B82"/>
                </a:solidFill>
                <a:latin typeface="Helvetica Neue"/>
                <a:ea typeface="Helvetica Neue"/>
                <a:cs typeface="Helvetica Neue"/>
              </a:rPr>
              <a:t>MODULE 4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5C544442-95EF-4E88-B0C4-9331FFD0D6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457200"/>
            <a:ext cx="5334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>
            <a:defPPr>
              <a:defRPr sz="1200" b="1">
                <a:solidFill>
                  <a:srgbClr val="237B82"/>
                </a:solidFill>
                <a:latin typeface="Helvetica Neue"/>
                <a:ea typeface="Helvetica Neue"/>
                <a:cs typeface="Helvetica Neue"/>
              </a:defRPr>
            </a:defPPr>
            <a:lvl1pPr>
              <a:defRPr sz="1200" b="1">
                <a:solidFill>
                  <a:srgbClr val="237B82"/>
                </a:solidFill>
                <a:latin typeface="Helvetica Neue"/>
                <a:ea typeface="Helvetica Neue"/>
                <a:cs typeface="Helvetica Neue"/>
              </a:defRPr>
            </a:lvl1pPr>
            <a:lvl2pPr>
              <a:defRPr sz="1200" b="1">
                <a:solidFill>
                  <a:srgbClr val="237B82"/>
                </a:solidFill>
                <a:latin typeface="Helvetica Neue"/>
                <a:ea typeface="Helvetica Neue"/>
                <a:cs typeface="Helvetica Neue"/>
              </a:defRPr>
            </a:lvl2pPr>
            <a:lvl3pPr>
              <a:defRPr sz="1200" b="1">
                <a:solidFill>
                  <a:srgbClr val="237B82"/>
                </a:solidFill>
                <a:latin typeface="Helvetica Neue"/>
                <a:ea typeface="Helvetica Neue"/>
                <a:cs typeface="Helvetica Neue"/>
              </a:defRPr>
            </a:lvl3pPr>
            <a:lvl4pPr>
              <a:defRPr sz="1200" b="1">
                <a:solidFill>
                  <a:srgbClr val="237B82"/>
                </a:solidFill>
                <a:latin typeface="Helvetica Neue"/>
                <a:ea typeface="Helvetica Neue"/>
                <a:cs typeface="Helvetica Neue"/>
              </a:defRPr>
            </a:lvl4pPr>
            <a:lvl5pPr>
              <a:defRPr sz="1200" b="1">
                <a:solidFill>
                  <a:srgbClr val="237B82"/>
                </a:solidFill>
                <a:latin typeface="Helvetica Neue"/>
                <a:ea typeface="Helvetica Neue"/>
                <a:cs typeface="Helvetica Neue"/>
              </a:defRPr>
            </a:lvl5pPr>
            <a:lvl6pPr>
              <a:defRPr sz="1200" b="1">
                <a:solidFill>
                  <a:srgbClr val="237B82"/>
                </a:solidFill>
                <a:latin typeface="Helvetica Neue"/>
                <a:ea typeface="Helvetica Neue"/>
                <a:cs typeface="Helvetica Neue"/>
              </a:defRPr>
            </a:lvl6pPr>
            <a:lvl7pPr>
              <a:defRPr sz="1200" b="1">
                <a:solidFill>
                  <a:srgbClr val="237B82"/>
                </a:solidFill>
                <a:latin typeface="Helvetica Neue"/>
                <a:ea typeface="Helvetica Neue"/>
                <a:cs typeface="Helvetica Neue"/>
              </a:defRPr>
            </a:lvl7pPr>
            <a:lvl8pPr>
              <a:defRPr sz="1200" b="1">
                <a:solidFill>
                  <a:srgbClr val="237B82"/>
                </a:solidFill>
                <a:latin typeface="Helvetica Neue"/>
                <a:ea typeface="Helvetica Neue"/>
                <a:cs typeface="Helvetica Neue"/>
              </a:defRPr>
            </a:lvl8pPr>
            <a:lvl9pPr>
              <a:defRPr sz="1200" b="1">
                <a:solidFill>
                  <a:srgbClr val="237B82"/>
                </a:solidFill>
                <a:latin typeface="Helvetica Neue"/>
                <a:ea typeface="Helvetica Neue"/>
                <a:cs typeface="Helvetica Neue"/>
              </a:defRPr>
            </a:lvl9pPr>
          </a:lstStyle>
          <a:p xmlns:a="http://schemas.openxmlformats.org/drawingml/2006/main">
            <a:pPr>
              <a:defRPr sz="1200" b="1">
                <a:solidFill>
                  <a:srgbClr val="237B82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00" b="1">
                <a:solidFill>
                  <a:srgbClr val="237B82"/>
                </a:solidFill>
                <a:latin typeface="Helvetica Neue"/>
                <a:ea typeface="Helvetica Neue"/>
                <a:cs typeface="Helvetica Neue"/>
              </a:rPr>
              <a:t>68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CBD515AB-A56B-436C-ACF9-8DAD3F3DC1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1762125"/>
            <a:ext cx="10287000" cy="409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>
            <a:defPPr>
              <a:defRPr sz="1875">
                <a:solidFill>
                  <a:srgbClr val="13212D"/>
                </a:solidFill>
                <a:latin typeface="Helvetica Neue"/>
                <a:ea typeface="Helvetica Neue"/>
                <a:cs typeface="Helvetica Neue"/>
              </a:defRPr>
            </a:defPPr>
            <a:lvl1pPr>
              <a:defRPr sz="1875">
                <a:solidFill>
                  <a:srgbClr val="13212D"/>
                </a:solidFill>
                <a:latin typeface="Helvetica Neue"/>
                <a:ea typeface="Helvetica Neue"/>
                <a:cs typeface="Helvetica Neue"/>
              </a:defRPr>
            </a:lvl1pPr>
            <a:lvl2pPr>
              <a:defRPr sz="1875">
                <a:solidFill>
                  <a:srgbClr val="13212D"/>
                </a:solidFill>
                <a:latin typeface="Helvetica Neue"/>
                <a:ea typeface="Helvetica Neue"/>
                <a:cs typeface="Helvetica Neue"/>
              </a:defRPr>
            </a:lvl2pPr>
            <a:lvl3pPr>
              <a:defRPr sz="1875">
                <a:solidFill>
                  <a:srgbClr val="13212D"/>
                </a:solidFill>
                <a:latin typeface="Helvetica Neue"/>
                <a:ea typeface="Helvetica Neue"/>
                <a:cs typeface="Helvetica Neue"/>
              </a:defRPr>
            </a:lvl3pPr>
            <a:lvl4pPr>
              <a:defRPr sz="1875">
                <a:solidFill>
                  <a:srgbClr val="13212D"/>
                </a:solidFill>
                <a:latin typeface="Helvetica Neue"/>
                <a:ea typeface="Helvetica Neue"/>
                <a:cs typeface="Helvetica Neue"/>
              </a:defRPr>
            </a:lvl4pPr>
            <a:lvl5pPr>
              <a:defRPr sz="1875">
                <a:solidFill>
                  <a:srgbClr val="13212D"/>
                </a:solidFill>
                <a:latin typeface="Helvetica Neue"/>
                <a:ea typeface="Helvetica Neue"/>
                <a:cs typeface="Helvetica Neue"/>
              </a:defRPr>
            </a:lvl5pPr>
            <a:lvl6pPr>
              <a:defRPr sz="1875">
                <a:solidFill>
                  <a:srgbClr val="13212D"/>
                </a:solidFill>
                <a:latin typeface="Helvetica Neue"/>
                <a:ea typeface="Helvetica Neue"/>
                <a:cs typeface="Helvetica Neue"/>
              </a:defRPr>
            </a:lvl6pPr>
            <a:lvl7pPr>
              <a:defRPr sz="1875">
                <a:solidFill>
                  <a:srgbClr val="13212D"/>
                </a:solidFill>
                <a:latin typeface="Helvetica Neue"/>
                <a:ea typeface="Helvetica Neue"/>
                <a:cs typeface="Helvetica Neue"/>
              </a:defRPr>
            </a:lvl7pPr>
            <a:lvl8pPr>
              <a:defRPr sz="1875">
                <a:solidFill>
                  <a:srgbClr val="13212D"/>
                </a:solidFill>
                <a:latin typeface="Helvetica Neue"/>
                <a:ea typeface="Helvetica Neue"/>
                <a:cs typeface="Helvetica Neue"/>
              </a:defRPr>
            </a:lvl8pPr>
            <a:lvl9pPr>
              <a:defRPr sz="1875">
                <a:solidFill>
                  <a:srgbClr val="13212D"/>
                </a:solidFill>
                <a:latin typeface="Helvetica Neue"/>
                <a:ea typeface="Helvetica Neue"/>
                <a:cs typeface="Helvetica Neue"/>
              </a:defRPr>
            </a:lvl9pPr>
          </a:lstStyle>
          <a:p xmlns:a="http://schemas.openxmlformats.org/drawingml/2006/main">
            <a:pPr marL="279400" indent="-127000">
              <a:spcAft>
                <a:spcPts val="1300"/>
              </a:spcAft>
              <a:buChar char="•"/>
              <a:defRPr sz="1875">
                <a:solidFill>
                  <a:srgbClr val="13212D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75">
                <a:solidFill>
                  <a:srgbClr val="13212D"/>
                </a:solidFill>
                <a:latin typeface="Helvetica Neue"/>
                <a:ea typeface="Helvetica Neue"/>
                <a:cs typeface="Helvetica Neue"/>
              </a:rPr>
              <a:t>Leukocyte A white blood corpuscle.</a:t>
            </a:r>
          </a:p>
          <a:p xmlns:a="http://schemas.openxmlformats.org/drawingml/2006/main">
            <a:pPr marL="279400" indent="-127000">
              <a:spcAft>
                <a:spcPts val="1300"/>
              </a:spcAft>
              <a:buChar char="•"/>
              <a:defRPr sz="1875">
                <a:solidFill>
                  <a:srgbClr val="13212D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75">
                <a:solidFill>
                  <a:srgbClr val="13212D"/>
                </a:solidFill>
                <a:latin typeface="Helvetica Neue"/>
                <a:ea typeface="Helvetica Neue"/>
                <a:cs typeface="Helvetica Neue"/>
              </a:rPr>
              <a:t>Microaggregates Microscopic particles of fibrin, platelets, and Rh Blood Group A blood group discovered on the surface of erythrocytes of the rhesus monkey.</a:t>
            </a:r>
          </a:p>
          <a:p xmlns:a="http://schemas.openxmlformats.org/drawingml/2006/main">
            <a:pPr marL="279400" indent="-127000">
              <a:spcAft>
                <a:spcPts val="1300"/>
              </a:spcAft>
              <a:buChar char="•"/>
              <a:defRPr sz="1875">
                <a:solidFill>
                  <a:srgbClr val="13212D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75">
                <a:solidFill>
                  <a:srgbClr val="13212D"/>
                </a:solidFill>
                <a:latin typeface="Helvetica Neue"/>
                <a:ea typeface="Helvetica Neue"/>
                <a:cs typeface="Helvetica Neue"/>
              </a:rPr>
              <a:t>It is present to a variable degree in human populations.</a:t>
            </a:r>
          </a:p>
          <a:p xmlns:a="http://schemas.openxmlformats.org/drawingml/2006/main">
            <a:pPr marL="279400" indent="-127000">
              <a:spcAft>
                <a:spcPts val="1300"/>
              </a:spcAft>
              <a:buChar char="•"/>
              <a:defRPr sz="1875">
                <a:solidFill>
                  <a:srgbClr val="13212D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75">
                <a:solidFill>
                  <a:srgbClr val="13212D"/>
                </a:solidFill>
                <a:latin typeface="Helvetica Neue"/>
                <a:ea typeface="Helvetica Neue"/>
                <a:cs typeface="Helvetica Neue"/>
              </a:rPr>
              <a:t>When present the individual is designated as Rh positive.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B1F6902F-02E9-45E3-A494-39768EFDCA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6115050"/>
            <a:ext cx="101917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>
            <a:defPPr>
              <a:defRPr sz="1125" b="1">
                <a:solidFill>
                  <a:srgbClr val="B94F3D"/>
                </a:solidFill>
                <a:latin typeface="Helvetica Neue"/>
                <a:ea typeface="Helvetica Neue"/>
                <a:cs typeface="Helvetica Neue"/>
              </a:defRPr>
            </a:defPPr>
            <a:lvl1pPr>
              <a:defRPr sz="1125" b="1">
                <a:solidFill>
                  <a:srgbClr val="B94F3D"/>
                </a:solidFill>
                <a:latin typeface="Helvetica Neue"/>
                <a:ea typeface="Helvetica Neue"/>
                <a:cs typeface="Helvetica Neue"/>
              </a:defRPr>
            </a:lvl1pPr>
            <a:lvl2pPr>
              <a:defRPr sz="1125" b="1">
                <a:solidFill>
                  <a:srgbClr val="B94F3D"/>
                </a:solidFill>
                <a:latin typeface="Helvetica Neue"/>
                <a:ea typeface="Helvetica Neue"/>
                <a:cs typeface="Helvetica Neue"/>
              </a:defRPr>
            </a:lvl2pPr>
            <a:lvl3pPr>
              <a:defRPr sz="1125" b="1">
                <a:solidFill>
                  <a:srgbClr val="B94F3D"/>
                </a:solidFill>
                <a:latin typeface="Helvetica Neue"/>
                <a:ea typeface="Helvetica Neue"/>
                <a:cs typeface="Helvetica Neue"/>
              </a:defRPr>
            </a:lvl3pPr>
            <a:lvl4pPr>
              <a:defRPr sz="1125" b="1">
                <a:solidFill>
                  <a:srgbClr val="B94F3D"/>
                </a:solidFill>
                <a:latin typeface="Helvetica Neue"/>
                <a:ea typeface="Helvetica Neue"/>
                <a:cs typeface="Helvetica Neue"/>
              </a:defRPr>
            </a:lvl4pPr>
            <a:lvl5pPr>
              <a:defRPr sz="1125" b="1">
                <a:solidFill>
                  <a:srgbClr val="B94F3D"/>
                </a:solidFill>
                <a:latin typeface="Helvetica Neue"/>
                <a:ea typeface="Helvetica Neue"/>
                <a:cs typeface="Helvetica Neue"/>
              </a:defRPr>
            </a:lvl5pPr>
            <a:lvl6pPr>
              <a:defRPr sz="1125" b="1">
                <a:solidFill>
                  <a:srgbClr val="B94F3D"/>
                </a:solidFill>
                <a:latin typeface="Helvetica Neue"/>
                <a:ea typeface="Helvetica Neue"/>
                <a:cs typeface="Helvetica Neue"/>
              </a:defRPr>
            </a:lvl6pPr>
            <a:lvl7pPr>
              <a:defRPr sz="1125" b="1">
                <a:solidFill>
                  <a:srgbClr val="B94F3D"/>
                </a:solidFill>
                <a:latin typeface="Helvetica Neue"/>
                <a:ea typeface="Helvetica Neue"/>
                <a:cs typeface="Helvetica Neue"/>
              </a:defRPr>
            </a:lvl7pPr>
            <a:lvl8pPr>
              <a:defRPr sz="1125" b="1">
                <a:solidFill>
                  <a:srgbClr val="B94F3D"/>
                </a:solidFill>
                <a:latin typeface="Helvetica Neue"/>
                <a:ea typeface="Helvetica Neue"/>
                <a:cs typeface="Helvetica Neue"/>
              </a:defRPr>
            </a:lvl8pPr>
            <a:lvl9pPr>
              <a:defRPr sz="1125" b="1">
                <a:solidFill>
                  <a:srgbClr val="B94F3D"/>
                </a:solidFill>
                <a:latin typeface="Helvetica Neue"/>
                <a:ea typeface="Helvetica Neue"/>
                <a:cs typeface="Helvetica Neue"/>
              </a:defRPr>
            </a:lvl9pPr>
          </a:lstStyle>
          <a:p xmlns:a="http://schemas.openxmlformats.org/drawingml/2006/main">
            <a:pPr>
              <a:defRPr sz="1125" b="1">
                <a:solidFill>
                  <a:srgbClr val="B94F3D"/>
                </a:solidFill>
                <a:latin typeface="Helvetica Neue"/>
                <a:ea typeface="Helvetica Neue"/>
                <a:cs typeface="Helvetica Neue"/>
              </a:defRPr>
            </a:pPr>
            <a:r>
              <a:rPr sz="1125" b="1">
                <a:solidFill>
                  <a:srgbClr val="B94F3D"/>
                </a:solidFill>
                <a:latin typeface="Helvetica Neue"/>
                <a:ea typeface="Helvetica Neue"/>
                <a:cs typeface="Helvetica Neue"/>
              </a:rPr>
              <a:t>Use current orders, facility policy, and authorized scope when applying this information.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2A603DEF-324E-404B-AAF0-5707152E3E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5772150"/>
            <a:ext cx="101917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97619"/>
          </a:bodyPr>
          <a:lstStyle xmlns:a="http://schemas.openxmlformats.org/drawingml/2006/main">
            <a:defPPr>
              <a:defRPr sz="1050" b="1">
                <a:solidFill>
                  <a:srgbClr val="237B82"/>
                </a:solidFill>
                <a:latin typeface="Helvetica Neue"/>
                <a:ea typeface="Helvetica Neue"/>
                <a:cs typeface="Helvetica Neue"/>
              </a:defRPr>
            </a:defPPr>
            <a:lvl1pPr>
              <a:defRPr sz="1050" b="1">
                <a:solidFill>
                  <a:srgbClr val="237B82"/>
                </a:solidFill>
                <a:latin typeface="Helvetica Neue"/>
                <a:ea typeface="Helvetica Neue"/>
                <a:cs typeface="Helvetica Neue"/>
              </a:defRPr>
            </a:lvl1pPr>
            <a:lvl2pPr>
              <a:defRPr sz="1050" b="1">
                <a:solidFill>
                  <a:srgbClr val="237B82"/>
                </a:solidFill>
                <a:latin typeface="Helvetica Neue"/>
                <a:ea typeface="Helvetica Neue"/>
                <a:cs typeface="Helvetica Neue"/>
              </a:defRPr>
            </a:lvl2pPr>
            <a:lvl3pPr>
              <a:defRPr sz="1050" b="1">
                <a:solidFill>
                  <a:srgbClr val="237B82"/>
                </a:solidFill>
                <a:latin typeface="Helvetica Neue"/>
                <a:ea typeface="Helvetica Neue"/>
                <a:cs typeface="Helvetica Neue"/>
              </a:defRPr>
            </a:lvl3pPr>
            <a:lvl4pPr>
              <a:defRPr sz="1050" b="1">
                <a:solidFill>
                  <a:srgbClr val="237B82"/>
                </a:solidFill>
                <a:latin typeface="Helvetica Neue"/>
                <a:ea typeface="Helvetica Neue"/>
                <a:cs typeface="Helvetica Neue"/>
              </a:defRPr>
            </a:lvl4pPr>
            <a:lvl5pPr>
              <a:defRPr sz="1050" b="1">
                <a:solidFill>
                  <a:srgbClr val="237B82"/>
                </a:solidFill>
                <a:latin typeface="Helvetica Neue"/>
                <a:ea typeface="Helvetica Neue"/>
                <a:cs typeface="Helvetica Neue"/>
              </a:defRPr>
            </a:lvl5pPr>
            <a:lvl6pPr>
              <a:defRPr sz="1050" b="1">
                <a:solidFill>
                  <a:srgbClr val="237B82"/>
                </a:solidFill>
                <a:latin typeface="Helvetica Neue"/>
                <a:ea typeface="Helvetica Neue"/>
                <a:cs typeface="Helvetica Neue"/>
              </a:defRPr>
            </a:lvl6pPr>
            <a:lvl7pPr>
              <a:defRPr sz="1050" b="1">
                <a:solidFill>
                  <a:srgbClr val="237B82"/>
                </a:solidFill>
                <a:latin typeface="Helvetica Neue"/>
                <a:ea typeface="Helvetica Neue"/>
                <a:cs typeface="Helvetica Neue"/>
              </a:defRPr>
            </a:lvl7pPr>
            <a:lvl8pPr>
              <a:defRPr sz="1050" b="1">
                <a:solidFill>
                  <a:srgbClr val="237B82"/>
                </a:solidFill>
                <a:latin typeface="Helvetica Neue"/>
                <a:ea typeface="Helvetica Neue"/>
                <a:cs typeface="Helvetica Neue"/>
              </a:defRPr>
            </a:lvl8pPr>
            <a:lvl9pPr>
              <a:defRPr sz="1050" b="1">
                <a:solidFill>
                  <a:srgbClr val="237B82"/>
                </a:solidFill>
                <a:latin typeface="Helvetica Neue"/>
                <a:ea typeface="Helvetica Neue"/>
                <a:cs typeface="Helvetica Neue"/>
              </a:defRPr>
            </a:lvl9pPr>
          </a:lstStyle>
          <a:p xmlns:a="http://schemas.openxmlformats.org/drawingml/2006/main">
            <a:pPr>
              <a:defRPr sz="1050" b="1">
                <a:solidFill>
                  <a:srgbClr val="237B82"/>
                </a:solidFill>
                <a:latin typeface="Helvetica Neue"/>
                <a:ea typeface="Helvetica Neue"/>
                <a:cs typeface="Helvetica Neue"/>
              </a:defRPr>
            </a:pPr>
            <a:r>
              <a:rPr sz="1050" b="1">
                <a:solidFill>
                  <a:srgbClr val="237B82"/>
                </a:solidFill>
                <a:latin typeface="Helvetica Neue"/>
                <a:ea typeface="Helvetica Neue"/>
                <a:cs typeface="Helvetica Neue"/>
              </a:rPr>
              <a:t>Manual page 60</a:t>
            </a:r>
          </a:p>
        </p:txBody>
      </p:sp>
    </p:spTree>
    <p:extLst>
      <p:ext uri="{BB962C8B-B14F-4D97-AF65-F5344CB8AC3E}">
        <p14:creationId xmlns:p14="http://schemas.microsoft.com/office/powerpoint/2010/main" val="422318764"/>
      </p:ext>
    </p:extLst>
  </p:cSld>
</p:sld>
</file>

<file path=ppt/slides/slide69.xml><?xml version="1.0" encoding="utf-8"?>
<p:sld xmlns:p="http://schemas.openxmlformats.org/presentationml/2006/main">
  <p:cSld>
    <p:bg>
      <p:bgPr>
        <a:solidFill xmlns:a="http://schemas.openxmlformats.org/drawingml/2006/main">
          <a:srgbClr val="F7F4EE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041334FB-B544-4689-9160-B33D09EE29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2095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37B82"/>
          </a:solidFill>
          <a:ln xmlns:a="http://schemas.openxmlformats.org/drawingml/2006/main" w="0">
            <a:solidFill>
              <a:srgbClr val="237B82"/>
            </a:solidFill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6C0F27BE-C5EC-4B22-8C95-212BBAD713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00050"/>
            <a:ext cx="10001250" cy="819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>
            <a:defPPr>
              <a:defRPr sz="2700" b="1">
                <a:solidFill>
                  <a:srgbClr val="15324A"/>
                </a:solidFill>
                <a:latin typeface="Helvetica Neue"/>
                <a:ea typeface="Helvetica Neue"/>
                <a:cs typeface="Helvetica Neue"/>
              </a:defRPr>
            </a:defPPr>
            <a:lvl1pPr>
              <a:defRPr sz="2700" b="1">
                <a:solidFill>
                  <a:srgbClr val="15324A"/>
                </a:solidFill>
                <a:latin typeface="Helvetica Neue"/>
                <a:ea typeface="Helvetica Neue"/>
                <a:cs typeface="Helvetica Neue"/>
              </a:defRPr>
            </a:lvl1pPr>
            <a:lvl2pPr>
              <a:defRPr sz="2700" b="1">
                <a:solidFill>
                  <a:srgbClr val="15324A"/>
                </a:solidFill>
                <a:latin typeface="Helvetica Neue"/>
                <a:ea typeface="Helvetica Neue"/>
                <a:cs typeface="Helvetica Neue"/>
              </a:defRPr>
            </a:lvl2pPr>
            <a:lvl3pPr>
              <a:defRPr sz="2700" b="1">
                <a:solidFill>
                  <a:srgbClr val="15324A"/>
                </a:solidFill>
                <a:latin typeface="Helvetica Neue"/>
                <a:ea typeface="Helvetica Neue"/>
                <a:cs typeface="Helvetica Neue"/>
              </a:defRPr>
            </a:lvl3pPr>
            <a:lvl4pPr>
              <a:defRPr sz="2700" b="1">
                <a:solidFill>
                  <a:srgbClr val="15324A"/>
                </a:solidFill>
                <a:latin typeface="Helvetica Neue"/>
                <a:ea typeface="Helvetica Neue"/>
                <a:cs typeface="Helvetica Neue"/>
              </a:defRPr>
            </a:lvl4pPr>
            <a:lvl5pPr>
              <a:defRPr sz="2700" b="1">
                <a:solidFill>
                  <a:srgbClr val="15324A"/>
                </a:solidFill>
                <a:latin typeface="Helvetica Neue"/>
                <a:ea typeface="Helvetica Neue"/>
                <a:cs typeface="Helvetica Neue"/>
              </a:defRPr>
            </a:lvl5pPr>
            <a:lvl6pPr>
              <a:defRPr sz="2700" b="1">
                <a:solidFill>
                  <a:srgbClr val="15324A"/>
                </a:solidFill>
                <a:latin typeface="Helvetica Neue"/>
                <a:ea typeface="Helvetica Neue"/>
                <a:cs typeface="Helvetica Neue"/>
              </a:defRPr>
            </a:lvl6pPr>
            <a:lvl7pPr>
              <a:defRPr sz="2700" b="1">
                <a:solidFill>
                  <a:srgbClr val="15324A"/>
                </a:solidFill>
                <a:latin typeface="Helvetica Neue"/>
                <a:ea typeface="Helvetica Neue"/>
                <a:cs typeface="Helvetica Neue"/>
              </a:defRPr>
            </a:lvl7pPr>
            <a:lvl8pPr>
              <a:defRPr sz="2700" b="1">
                <a:solidFill>
                  <a:srgbClr val="15324A"/>
                </a:solidFill>
                <a:latin typeface="Helvetica Neue"/>
                <a:ea typeface="Helvetica Neue"/>
                <a:cs typeface="Helvetica Neue"/>
              </a:defRPr>
            </a:lvl8pPr>
            <a:lvl9pPr>
              <a:defRPr sz="2700" b="1">
                <a:solidFill>
                  <a:srgbClr val="15324A"/>
                </a:solidFill>
                <a:latin typeface="Helvetica Neue"/>
                <a:ea typeface="Helvetica Neue"/>
                <a:cs typeface="Helvetica Neue"/>
              </a:defRPr>
            </a:lvl9pPr>
          </a:lstStyle>
          <a:p xmlns:a="http://schemas.openxmlformats.org/drawingml/2006/main">
            <a:pPr>
              <a:defRPr sz="2700" b="1">
                <a:solidFill>
                  <a:srgbClr val="15324A"/>
                </a:solidFill>
                <a:latin typeface="Helvetica Neue"/>
                <a:ea typeface="Helvetica Neue"/>
                <a:cs typeface="Helvetica Neue"/>
              </a:defRPr>
            </a:pPr>
            <a:r>
              <a:rPr sz="2700" b="1">
                <a:solidFill>
                  <a:srgbClr val="15324A"/>
                </a:solidFill>
                <a:latin typeface="Helvetica Neue"/>
                <a:ea typeface="Helvetica Neue"/>
                <a:cs typeface="Helvetica Neue"/>
              </a:rPr>
              <a:t>Glossary — continued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DE8B39D2-2C21-4CF9-8889-1A5B2974BA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1257300"/>
            <a:ext cx="88582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91111"/>
          </a:bodyPr>
          <a:lstStyle xmlns:a="http://schemas.openxmlformats.org/drawingml/2006/main">
            <a:defPPr>
              <a:defRPr sz="1125" b="1">
                <a:solidFill>
                  <a:srgbClr val="237B82"/>
                </a:solidFill>
                <a:latin typeface="Helvetica Neue"/>
                <a:ea typeface="Helvetica Neue"/>
                <a:cs typeface="Helvetica Neue"/>
              </a:defRPr>
            </a:defPPr>
            <a:lvl1pPr>
              <a:defRPr sz="1125" b="1">
                <a:solidFill>
                  <a:srgbClr val="237B82"/>
                </a:solidFill>
                <a:latin typeface="Helvetica Neue"/>
                <a:ea typeface="Helvetica Neue"/>
                <a:cs typeface="Helvetica Neue"/>
              </a:defRPr>
            </a:lvl1pPr>
            <a:lvl2pPr>
              <a:defRPr sz="1125" b="1">
                <a:solidFill>
                  <a:srgbClr val="237B82"/>
                </a:solidFill>
                <a:latin typeface="Helvetica Neue"/>
                <a:ea typeface="Helvetica Neue"/>
                <a:cs typeface="Helvetica Neue"/>
              </a:defRPr>
            </a:lvl2pPr>
            <a:lvl3pPr>
              <a:defRPr sz="1125" b="1">
                <a:solidFill>
                  <a:srgbClr val="237B82"/>
                </a:solidFill>
                <a:latin typeface="Helvetica Neue"/>
                <a:ea typeface="Helvetica Neue"/>
                <a:cs typeface="Helvetica Neue"/>
              </a:defRPr>
            </a:lvl3pPr>
            <a:lvl4pPr>
              <a:defRPr sz="1125" b="1">
                <a:solidFill>
                  <a:srgbClr val="237B82"/>
                </a:solidFill>
                <a:latin typeface="Helvetica Neue"/>
                <a:ea typeface="Helvetica Neue"/>
                <a:cs typeface="Helvetica Neue"/>
              </a:defRPr>
            </a:lvl4pPr>
            <a:lvl5pPr>
              <a:defRPr sz="1125" b="1">
                <a:solidFill>
                  <a:srgbClr val="237B82"/>
                </a:solidFill>
                <a:latin typeface="Helvetica Neue"/>
                <a:ea typeface="Helvetica Neue"/>
                <a:cs typeface="Helvetica Neue"/>
              </a:defRPr>
            </a:lvl5pPr>
            <a:lvl6pPr>
              <a:defRPr sz="1125" b="1">
                <a:solidFill>
                  <a:srgbClr val="237B82"/>
                </a:solidFill>
                <a:latin typeface="Helvetica Neue"/>
                <a:ea typeface="Helvetica Neue"/>
                <a:cs typeface="Helvetica Neue"/>
              </a:defRPr>
            </a:lvl6pPr>
            <a:lvl7pPr>
              <a:defRPr sz="1125" b="1">
                <a:solidFill>
                  <a:srgbClr val="237B82"/>
                </a:solidFill>
                <a:latin typeface="Helvetica Neue"/>
                <a:ea typeface="Helvetica Neue"/>
                <a:cs typeface="Helvetica Neue"/>
              </a:defRPr>
            </a:lvl7pPr>
            <a:lvl8pPr>
              <a:defRPr sz="1125" b="1">
                <a:solidFill>
                  <a:srgbClr val="237B82"/>
                </a:solidFill>
                <a:latin typeface="Helvetica Neue"/>
                <a:ea typeface="Helvetica Neue"/>
                <a:cs typeface="Helvetica Neue"/>
              </a:defRPr>
            </a:lvl8pPr>
            <a:lvl9pPr>
              <a:defRPr sz="1125" b="1">
                <a:solidFill>
                  <a:srgbClr val="237B82"/>
                </a:solidFill>
                <a:latin typeface="Helvetica Neue"/>
                <a:ea typeface="Helvetica Neue"/>
                <a:cs typeface="Helvetica Neue"/>
              </a:defRPr>
            </a:lvl9pPr>
          </a:lstStyle>
          <a:p xmlns:a="http://schemas.openxmlformats.org/drawingml/2006/main">
            <a:pPr>
              <a:defRPr sz="1125" b="1">
                <a:solidFill>
                  <a:srgbClr val="237B82"/>
                </a:solidFill>
                <a:latin typeface="Helvetica Neue"/>
                <a:ea typeface="Helvetica Neue"/>
                <a:cs typeface="Helvetica Neue"/>
              </a:defRPr>
            </a:pPr>
            <a:r>
              <a:rPr sz="1125" b="1">
                <a:solidFill>
                  <a:srgbClr val="237B82"/>
                </a:solidFill>
                <a:latin typeface="Helvetica Neue"/>
                <a:ea typeface="Helvetica Neue"/>
                <a:cs typeface="Helvetica Neue"/>
              </a:rPr>
              <a:t>MODULE 4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B1885D98-E552-44CA-990D-CC96E29FC7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457200"/>
            <a:ext cx="5334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>
            <a:defPPr>
              <a:defRPr sz="1200" b="1">
                <a:solidFill>
                  <a:srgbClr val="237B82"/>
                </a:solidFill>
                <a:latin typeface="Helvetica Neue"/>
                <a:ea typeface="Helvetica Neue"/>
                <a:cs typeface="Helvetica Neue"/>
              </a:defRPr>
            </a:defPPr>
            <a:lvl1pPr>
              <a:defRPr sz="1200" b="1">
                <a:solidFill>
                  <a:srgbClr val="237B82"/>
                </a:solidFill>
                <a:latin typeface="Helvetica Neue"/>
                <a:ea typeface="Helvetica Neue"/>
                <a:cs typeface="Helvetica Neue"/>
              </a:defRPr>
            </a:lvl1pPr>
            <a:lvl2pPr>
              <a:defRPr sz="1200" b="1">
                <a:solidFill>
                  <a:srgbClr val="237B82"/>
                </a:solidFill>
                <a:latin typeface="Helvetica Neue"/>
                <a:ea typeface="Helvetica Neue"/>
                <a:cs typeface="Helvetica Neue"/>
              </a:defRPr>
            </a:lvl2pPr>
            <a:lvl3pPr>
              <a:defRPr sz="1200" b="1">
                <a:solidFill>
                  <a:srgbClr val="237B82"/>
                </a:solidFill>
                <a:latin typeface="Helvetica Neue"/>
                <a:ea typeface="Helvetica Neue"/>
                <a:cs typeface="Helvetica Neue"/>
              </a:defRPr>
            </a:lvl3pPr>
            <a:lvl4pPr>
              <a:defRPr sz="1200" b="1">
                <a:solidFill>
                  <a:srgbClr val="237B82"/>
                </a:solidFill>
                <a:latin typeface="Helvetica Neue"/>
                <a:ea typeface="Helvetica Neue"/>
                <a:cs typeface="Helvetica Neue"/>
              </a:defRPr>
            </a:lvl4pPr>
            <a:lvl5pPr>
              <a:defRPr sz="1200" b="1">
                <a:solidFill>
                  <a:srgbClr val="237B82"/>
                </a:solidFill>
                <a:latin typeface="Helvetica Neue"/>
                <a:ea typeface="Helvetica Neue"/>
                <a:cs typeface="Helvetica Neue"/>
              </a:defRPr>
            </a:lvl5pPr>
            <a:lvl6pPr>
              <a:defRPr sz="1200" b="1">
                <a:solidFill>
                  <a:srgbClr val="237B82"/>
                </a:solidFill>
                <a:latin typeface="Helvetica Neue"/>
                <a:ea typeface="Helvetica Neue"/>
                <a:cs typeface="Helvetica Neue"/>
              </a:defRPr>
            </a:lvl6pPr>
            <a:lvl7pPr>
              <a:defRPr sz="1200" b="1">
                <a:solidFill>
                  <a:srgbClr val="237B82"/>
                </a:solidFill>
                <a:latin typeface="Helvetica Neue"/>
                <a:ea typeface="Helvetica Neue"/>
                <a:cs typeface="Helvetica Neue"/>
              </a:defRPr>
            </a:lvl7pPr>
            <a:lvl8pPr>
              <a:defRPr sz="1200" b="1">
                <a:solidFill>
                  <a:srgbClr val="237B82"/>
                </a:solidFill>
                <a:latin typeface="Helvetica Neue"/>
                <a:ea typeface="Helvetica Neue"/>
                <a:cs typeface="Helvetica Neue"/>
              </a:defRPr>
            </a:lvl8pPr>
            <a:lvl9pPr>
              <a:defRPr sz="1200" b="1">
                <a:solidFill>
                  <a:srgbClr val="237B82"/>
                </a:solidFill>
                <a:latin typeface="Helvetica Neue"/>
                <a:ea typeface="Helvetica Neue"/>
                <a:cs typeface="Helvetica Neue"/>
              </a:defRPr>
            </a:lvl9pPr>
          </a:lstStyle>
          <a:p xmlns:a="http://schemas.openxmlformats.org/drawingml/2006/main">
            <a:pPr>
              <a:defRPr sz="1200" b="1">
                <a:solidFill>
                  <a:srgbClr val="237B82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00" b="1">
                <a:solidFill>
                  <a:srgbClr val="237B82"/>
                </a:solidFill>
                <a:latin typeface="Helvetica Neue"/>
                <a:ea typeface="Helvetica Neue"/>
                <a:cs typeface="Helvetica Neue"/>
              </a:rPr>
              <a:t>69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198FCAB8-FD52-451B-959D-48B56CF74C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1762125"/>
            <a:ext cx="10287000" cy="409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>
            <a:defPPr>
              <a:defRPr sz="1875">
                <a:solidFill>
                  <a:srgbClr val="13212D"/>
                </a:solidFill>
                <a:latin typeface="Helvetica Neue"/>
                <a:ea typeface="Helvetica Neue"/>
                <a:cs typeface="Helvetica Neue"/>
              </a:defRPr>
            </a:defPPr>
            <a:lvl1pPr>
              <a:defRPr sz="1875">
                <a:solidFill>
                  <a:srgbClr val="13212D"/>
                </a:solidFill>
                <a:latin typeface="Helvetica Neue"/>
                <a:ea typeface="Helvetica Neue"/>
                <a:cs typeface="Helvetica Neue"/>
              </a:defRPr>
            </a:lvl1pPr>
            <a:lvl2pPr>
              <a:defRPr sz="1875">
                <a:solidFill>
                  <a:srgbClr val="13212D"/>
                </a:solidFill>
                <a:latin typeface="Helvetica Neue"/>
                <a:ea typeface="Helvetica Neue"/>
                <a:cs typeface="Helvetica Neue"/>
              </a:defRPr>
            </a:lvl2pPr>
            <a:lvl3pPr>
              <a:defRPr sz="1875">
                <a:solidFill>
                  <a:srgbClr val="13212D"/>
                </a:solidFill>
                <a:latin typeface="Helvetica Neue"/>
                <a:ea typeface="Helvetica Neue"/>
                <a:cs typeface="Helvetica Neue"/>
              </a:defRPr>
            </a:lvl3pPr>
            <a:lvl4pPr>
              <a:defRPr sz="1875">
                <a:solidFill>
                  <a:srgbClr val="13212D"/>
                </a:solidFill>
                <a:latin typeface="Helvetica Neue"/>
                <a:ea typeface="Helvetica Neue"/>
                <a:cs typeface="Helvetica Neue"/>
              </a:defRPr>
            </a:lvl4pPr>
            <a:lvl5pPr>
              <a:defRPr sz="1875">
                <a:solidFill>
                  <a:srgbClr val="13212D"/>
                </a:solidFill>
                <a:latin typeface="Helvetica Neue"/>
                <a:ea typeface="Helvetica Neue"/>
                <a:cs typeface="Helvetica Neue"/>
              </a:defRPr>
            </a:lvl5pPr>
            <a:lvl6pPr>
              <a:defRPr sz="1875">
                <a:solidFill>
                  <a:srgbClr val="13212D"/>
                </a:solidFill>
                <a:latin typeface="Helvetica Neue"/>
                <a:ea typeface="Helvetica Neue"/>
                <a:cs typeface="Helvetica Neue"/>
              </a:defRPr>
            </a:lvl6pPr>
            <a:lvl7pPr>
              <a:defRPr sz="1875">
                <a:solidFill>
                  <a:srgbClr val="13212D"/>
                </a:solidFill>
                <a:latin typeface="Helvetica Neue"/>
                <a:ea typeface="Helvetica Neue"/>
                <a:cs typeface="Helvetica Neue"/>
              </a:defRPr>
            </a:lvl7pPr>
            <a:lvl8pPr>
              <a:defRPr sz="1875">
                <a:solidFill>
                  <a:srgbClr val="13212D"/>
                </a:solidFill>
                <a:latin typeface="Helvetica Neue"/>
                <a:ea typeface="Helvetica Neue"/>
                <a:cs typeface="Helvetica Neue"/>
              </a:defRPr>
            </a:lvl8pPr>
            <a:lvl9pPr>
              <a:defRPr sz="1875">
                <a:solidFill>
                  <a:srgbClr val="13212D"/>
                </a:solidFill>
                <a:latin typeface="Helvetica Neue"/>
                <a:ea typeface="Helvetica Neue"/>
                <a:cs typeface="Helvetica Neue"/>
              </a:defRPr>
            </a:lvl9pPr>
          </a:lstStyle>
          <a:p xmlns:a="http://schemas.openxmlformats.org/drawingml/2006/main">
            <a:pPr marL="279400" indent="-127000">
              <a:spcAft>
                <a:spcPts val="1300"/>
              </a:spcAft>
              <a:buChar char="•"/>
              <a:defRPr sz="1875">
                <a:solidFill>
                  <a:srgbClr val="13212D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75">
                <a:solidFill>
                  <a:srgbClr val="13212D"/>
                </a:solidFill>
                <a:latin typeface="Helvetica Neue"/>
                <a:ea typeface="Helvetica Neue"/>
                <a:cs typeface="Helvetica Neue"/>
              </a:rPr>
              <a:t>When absent, Rh negative.</a:t>
            </a:r>
          </a:p>
          <a:p xmlns:a="http://schemas.openxmlformats.org/drawingml/2006/main">
            <a:pPr marL="279400" indent="-127000">
              <a:spcAft>
                <a:spcPts val="1300"/>
              </a:spcAft>
              <a:buChar char="•"/>
              <a:defRPr sz="1875">
                <a:solidFill>
                  <a:srgbClr val="13212D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75">
                <a:solidFill>
                  <a:srgbClr val="13212D"/>
                </a:solidFill>
                <a:latin typeface="Helvetica Neue"/>
                <a:ea typeface="Helvetica Neue"/>
                <a:cs typeface="Helvetica Neue"/>
              </a:rPr>
              <a:t>It is important in typing and crossmatching blood to prevent reactions.</a:t>
            </a:r>
          </a:p>
          <a:p xmlns:a="http://schemas.openxmlformats.org/drawingml/2006/main">
            <a:pPr marL="279400" indent="-127000">
              <a:spcAft>
                <a:spcPts val="1300"/>
              </a:spcAft>
              <a:buChar char="•"/>
              <a:defRPr sz="1875">
                <a:solidFill>
                  <a:srgbClr val="13212D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75">
                <a:solidFill>
                  <a:srgbClr val="13212D"/>
                </a:solidFill>
                <a:latin typeface="Helvetica Neue"/>
                <a:ea typeface="Helvetica Neue"/>
                <a:cs typeface="Helvetica Neue"/>
              </a:rPr>
              <a:t>Thrombocyte Term for a blood platelet.</a:t>
            </a:r>
          </a:p>
          <a:p xmlns:a="http://schemas.openxmlformats.org/drawingml/2006/main">
            <a:pPr marL="279400" indent="-127000">
              <a:spcAft>
                <a:spcPts val="1300"/>
              </a:spcAft>
              <a:buChar char="•"/>
              <a:defRPr sz="1875">
                <a:solidFill>
                  <a:srgbClr val="13212D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75">
                <a:solidFill>
                  <a:srgbClr val="13212D"/>
                </a:solidFill>
                <a:latin typeface="Helvetica Neue"/>
                <a:ea typeface="Helvetica Neue"/>
                <a:cs typeface="Helvetica Neue"/>
              </a:rPr>
              <a:t>Transfusion The injection of blood or a blood product into the bloodstream.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9D61E778-2EEE-47FA-9900-6E4446C48C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6115050"/>
            <a:ext cx="101917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>
            <a:defPPr>
              <a:defRPr sz="1125" b="1">
                <a:solidFill>
                  <a:srgbClr val="B94F3D"/>
                </a:solidFill>
                <a:latin typeface="Helvetica Neue"/>
                <a:ea typeface="Helvetica Neue"/>
                <a:cs typeface="Helvetica Neue"/>
              </a:defRPr>
            </a:defPPr>
            <a:lvl1pPr>
              <a:defRPr sz="1125" b="1">
                <a:solidFill>
                  <a:srgbClr val="B94F3D"/>
                </a:solidFill>
                <a:latin typeface="Helvetica Neue"/>
                <a:ea typeface="Helvetica Neue"/>
                <a:cs typeface="Helvetica Neue"/>
              </a:defRPr>
            </a:lvl1pPr>
            <a:lvl2pPr>
              <a:defRPr sz="1125" b="1">
                <a:solidFill>
                  <a:srgbClr val="B94F3D"/>
                </a:solidFill>
                <a:latin typeface="Helvetica Neue"/>
                <a:ea typeface="Helvetica Neue"/>
                <a:cs typeface="Helvetica Neue"/>
              </a:defRPr>
            </a:lvl2pPr>
            <a:lvl3pPr>
              <a:defRPr sz="1125" b="1">
                <a:solidFill>
                  <a:srgbClr val="B94F3D"/>
                </a:solidFill>
                <a:latin typeface="Helvetica Neue"/>
                <a:ea typeface="Helvetica Neue"/>
                <a:cs typeface="Helvetica Neue"/>
              </a:defRPr>
            </a:lvl3pPr>
            <a:lvl4pPr>
              <a:defRPr sz="1125" b="1">
                <a:solidFill>
                  <a:srgbClr val="B94F3D"/>
                </a:solidFill>
                <a:latin typeface="Helvetica Neue"/>
                <a:ea typeface="Helvetica Neue"/>
                <a:cs typeface="Helvetica Neue"/>
              </a:defRPr>
            </a:lvl4pPr>
            <a:lvl5pPr>
              <a:defRPr sz="1125" b="1">
                <a:solidFill>
                  <a:srgbClr val="B94F3D"/>
                </a:solidFill>
                <a:latin typeface="Helvetica Neue"/>
                <a:ea typeface="Helvetica Neue"/>
                <a:cs typeface="Helvetica Neue"/>
              </a:defRPr>
            </a:lvl5pPr>
            <a:lvl6pPr>
              <a:defRPr sz="1125" b="1">
                <a:solidFill>
                  <a:srgbClr val="B94F3D"/>
                </a:solidFill>
                <a:latin typeface="Helvetica Neue"/>
                <a:ea typeface="Helvetica Neue"/>
                <a:cs typeface="Helvetica Neue"/>
              </a:defRPr>
            </a:lvl6pPr>
            <a:lvl7pPr>
              <a:defRPr sz="1125" b="1">
                <a:solidFill>
                  <a:srgbClr val="B94F3D"/>
                </a:solidFill>
                <a:latin typeface="Helvetica Neue"/>
                <a:ea typeface="Helvetica Neue"/>
                <a:cs typeface="Helvetica Neue"/>
              </a:defRPr>
            </a:lvl7pPr>
            <a:lvl8pPr>
              <a:defRPr sz="1125" b="1">
                <a:solidFill>
                  <a:srgbClr val="B94F3D"/>
                </a:solidFill>
                <a:latin typeface="Helvetica Neue"/>
                <a:ea typeface="Helvetica Neue"/>
                <a:cs typeface="Helvetica Neue"/>
              </a:defRPr>
            </a:lvl8pPr>
            <a:lvl9pPr>
              <a:defRPr sz="1125" b="1">
                <a:solidFill>
                  <a:srgbClr val="B94F3D"/>
                </a:solidFill>
                <a:latin typeface="Helvetica Neue"/>
                <a:ea typeface="Helvetica Neue"/>
                <a:cs typeface="Helvetica Neue"/>
              </a:defRPr>
            </a:lvl9pPr>
          </a:lstStyle>
          <a:p xmlns:a="http://schemas.openxmlformats.org/drawingml/2006/main">
            <a:pPr>
              <a:defRPr sz="1125" b="1">
                <a:solidFill>
                  <a:srgbClr val="B94F3D"/>
                </a:solidFill>
                <a:latin typeface="Helvetica Neue"/>
                <a:ea typeface="Helvetica Neue"/>
                <a:cs typeface="Helvetica Neue"/>
              </a:defRPr>
            </a:pPr>
            <a:r>
              <a:rPr sz="1125" b="1">
                <a:solidFill>
                  <a:srgbClr val="B94F3D"/>
                </a:solidFill>
                <a:latin typeface="Helvetica Neue"/>
                <a:ea typeface="Helvetica Neue"/>
                <a:cs typeface="Helvetica Neue"/>
              </a:rPr>
              <a:t>Use current orders, facility policy, and authorized scope when applying this information.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2066AA28-11D2-4F39-BD5A-A3CD6B9092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5772150"/>
            <a:ext cx="101917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97619"/>
          </a:bodyPr>
          <a:lstStyle xmlns:a="http://schemas.openxmlformats.org/drawingml/2006/main">
            <a:defPPr>
              <a:defRPr sz="1050" b="1">
                <a:solidFill>
                  <a:srgbClr val="237B82"/>
                </a:solidFill>
                <a:latin typeface="Helvetica Neue"/>
                <a:ea typeface="Helvetica Neue"/>
                <a:cs typeface="Helvetica Neue"/>
              </a:defRPr>
            </a:defPPr>
            <a:lvl1pPr>
              <a:defRPr sz="1050" b="1">
                <a:solidFill>
                  <a:srgbClr val="237B82"/>
                </a:solidFill>
                <a:latin typeface="Helvetica Neue"/>
                <a:ea typeface="Helvetica Neue"/>
                <a:cs typeface="Helvetica Neue"/>
              </a:defRPr>
            </a:lvl1pPr>
            <a:lvl2pPr>
              <a:defRPr sz="1050" b="1">
                <a:solidFill>
                  <a:srgbClr val="237B82"/>
                </a:solidFill>
                <a:latin typeface="Helvetica Neue"/>
                <a:ea typeface="Helvetica Neue"/>
                <a:cs typeface="Helvetica Neue"/>
              </a:defRPr>
            </a:lvl2pPr>
            <a:lvl3pPr>
              <a:defRPr sz="1050" b="1">
                <a:solidFill>
                  <a:srgbClr val="237B82"/>
                </a:solidFill>
                <a:latin typeface="Helvetica Neue"/>
                <a:ea typeface="Helvetica Neue"/>
                <a:cs typeface="Helvetica Neue"/>
              </a:defRPr>
            </a:lvl3pPr>
            <a:lvl4pPr>
              <a:defRPr sz="1050" b="1">
                <a:solidFill>
                  <a:srgbClr val="237B82"/>
                </a:solidFill>
                <a:latin typeface="Helvetica Neue"/>
                <a:ea typeface="Helvetica Neue"/>
                <a:cs typeface="Helvetica Neue"/>
              </a:defRPr>
            </a:lvl4pPr>
            <a:lvl5pPr>
              <a:defRPr sz="1050" b="1">
                <a:solidFill>
                  <a:srgbClr val="237B82"/>
                </a:solidFill>
                <a:latin typeface="Helvetica Neue"/>
                <a:ea typeface="Helvetica Neue"/>
                <a:cs typeface="Helvetica Neue"/>
              </a:defRPr>
            </a:lvl5pPr>
            <a:lvl6pPr>
              <a:defRPr sz="1050" b="1">
                <a:solidFill>
                  <a:srgbClr val="237B82"/>
                </a:solidFill>
                <a:latin typeface="Helvetica Neue"/>
                <a:ea typeface="Helvetica Neue"/>
                <a:cs typeface="Helvetica Neue"/>
              </a:defRPr>
            </a:lvl6pPr>
            <a:lvl7pPr>
              <a:defRPr sz="1050" b="1">
                <a:solidFill>
                  <a:srgbClr val="237B82"/>
                </a:solidFill>
                <a:latin typeface="Helvetica Neue"/>
                <a:ea typeface="Helvetica Neue"/>
                <a:cs typeface="Helvetica Neue"/>
              </a:defRPr>
            </a:lvl7pPr>
            <a:lvl8pPr>
              <a:defRPr sz="1050" b="1">
                <a:solidFill>
                  <a:srgbClr val="237B82"/>
                </a:solidFill>
                <a:latin typeface="Helvetica Neue"/>
                <a:ea typeface="Helvetica Neue"/>
                <a:cs typeface="Helvetica Neue"/>
              </a:defRPr>
            </a:lvl8pPr>
            <a:lvl9pPr>
              <a:defRPr sz="1050" b="1">
                <a:solidFill>
                  <a:srgbClr val="237B82"/>
                </a:solidFill>
                <a:latin typeface="Helvetica Neue"/>
                <a:ea typeface="Helvetica Neue"/>
                <a:cs typeface="Helvetica Neue"/>
              </a:defRPr>
            </a:lvl9pPr>
          </a:lstStyle>
          <a:p xmlns:a="http://schemas.openxmlformats.org/drawingml/2006/main">
            <a:pPr>
              <a:defRPr sz="1050" b="1">
                <a:solidFill>
                  <a:srgbClr val="237B82"/>
                </a:solidFill>
                <a:latin typeface="Helvetica Neue"/>
                <a:ea typeface="Helvetica Neue"/>
                <a:cs typeface="Helvetica Neue"/>
              </a:defRPr>
            </a:pPr>
            <a:r>
              <a:rPr sz="1050" b="1">
                <a:solidFill>
                  <a:srgbClr val="237B82"/>
                </a:solidFill>
                <a:latin typeface="Helvetica Neue"/>
                <a:ea typeface="Helvetica Neue"/>
                <a:cs typeface="Helvetica Neue"/>
              </a:rPr>
              <a:t>Manual page 60</a:t>
            </a:r>
          </a:p>
        </p:txBody>
      </p:sp>
    </p:spTree>
    <p:extLst>
      <p:ext uri="{BB962C8B-B14F-4D97-AF65-F5344CB8AC3E}">
        <p14:creationId xmlns:p14="http://schemas.microsoft.com/office/powerpoint/2010/main" val="1235219632"/>
      </p:ext>
    </p:extLst>
  </p:cSld>
</p:sld>
</file>

<file path=ppt/slides/slide70.xml><?xml version="1.0" encoding="utf-8"?>
<p:sld xmlns:p="http://schemas.openxmlformats.org/presentationml/2006/main">
  <p:cSld>
    <p:bg>
      <p:bgPr>
        <a:solidFill xmlns:a="http://schemas.openxmlformats.org/drawingml/2006/main">
          <a:srgbClr val="F7F4EE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A67074FA-E30B-44B5-9260-BCA7DFFE79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2095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37B82"/>
          </a:solidFill>
          <a:ln xmlns:a="http://schemas.openxmlformats.org/drawingml/2006/main" w="0">
            <a:solidFill>
              <a:srgbClr val="237B82"/>
            </a:solidFill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995E7C1E-D888-4DDE-86E7-D495103ED8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00050"/>
            <a:ext cx="10001250" cy="819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>
            <a:defPPr>
              <a:defRPr sz="2700" b="1">
                <a:solidFill>
                  <a:srgbClr val="15324A"/>
                </a:solidFill>
                <a:latin typeface="Helvetica Neue"/>
                <a:ea typeface="Helvetica Neue"/>
                <a:cs typeface="Helvetica Neue"/>
              </a:defRPr>
            </a:defPPr>
            <a:lvl1pPr>
              <a:defRPr sz="2700" b="1">
                <a:solidFill>
                  <a:srgbClr val="15324A"/>
                </a:solidFill>
                <a:latin typeface="Helvetica Neue"/>
                <a:ea typeface="Helvetica Neue"/>
                <a:cs typeface="Helvetica Neue"/>
              </a:defRPr>
            </a:lvl1pPr>
            <a:lvl2pPr>
              <a:defRPr sz="2700" b="1">
                <a:solidFill>
                  <a:srgbClr val="15324A"/>
                </a:solidFill>
                <a:latin typeface="Helvetica Neue"/>
                <a:ea typeface="Helvetica Neue"/>
                <a:cs typeface="Helvetica Neue"/>
              </a:defRPr>
            </a:lvl2pPr>
            <a:lvl3pPr>
              <a:defRPr sz="2700" b="1">
                <a:solidFill>
                  <a:srgbClr val="15324A"/>
                </a:solidFill>
                <a:latin typeface="Helvetica Neue"/>
                <a:ea typeface="Helvetica Neue"/>
                <a:cs typeface="Helvetica Neue"/>
              </a:defRPr>
            </a:lvl3pPr>
            <a:lvl4pPr>
              <a:defRPr sz="2700" b="1">
                <a:solidFill>
                  <a:srgbClr val="15324A"/>
                </a:solidFill>
                <a:latin typeface="Helvetica Neue"/>
                <a:ea typeface="Helvetica Neue"/>
                <a:cs typeface="Helvetica Neue"/>
              </a:defRPr>
            </a:lvl4pPr>
            <a:lvl5pPr>
              <a:defRPr sz="2700" b="1">
                <a:solidFill>
                  <a:srgbClr val="15324A"/>
                </a:solidFill>
                <a:latin typeface="Helvetica Neue"/>
                <a:ea typeface="Helvetica Neue"/>
                <a:cs typeface="Helvetica Neue"/>
              </a:defRPr>
            </a:lvl5pPr>
            <a:lvl6pPr>
              <a:defRPr sz="2700" b="1">
                <a:solidFill>
                  <a:srgbClr val="15324A"/>
                </a:solidFill>
                <a:latin typeface="Helvetica Neue"/>
                <a:ea typeface="Helvetica Neue"/>
                <a:cs typeface="Helvetica Neue"/>
              </a:defRPr>
            </a:lvl6pPr>
            <a:lvl7pPr>
              <a:defRPr sz="2700" b="1">
                <a:solidFill>
                  <a:srgbClr val="15324A"/>
                </a:solidFill>
                <a:latin typeface="Helvetica Neue"/>
                <a:ea typeface="Helvetica Neue"/>
                <a:cs typeface="Helvetica Neue"/>
              </a:defRPr>
            </a:lvl7pPr>
            <a:lvl8pPr>
              <a:defRPr sz="2700" b="1">
                <a:solidFill>
                  <a:srgbClr val="15324A"/>
                </a:solidFill>
                <a:latin typeface="Helvetica Neue"/>
                <a:ea typeface="Helvetica Neue"/>
                <a:cs typeface="Helvetica Neue"/>
              </a:defRPr>
            </a:lvl8pPr>
            <a:lvl9pPr>
              <a:defRPr sz="2700" b="1">
                <a:solidFill>
                  <a:srgbClr val="15324A"/>
                </a:solidFill>
                <a:latin typeface="Helvetica Neue"/>
                <a:ea typeface="Helvetica Neue"/>
                <a:cs typeface="Helvetica Neue"/>
              </a:defRPr>
            </a:lvl9pPr>
          </a:lstStyle>
          <a:p xmlns:a="http://schemas.openxmlformats.org/drawingml/2006/main">
            <a:pPr>
              <a:defRPr sz="2700" b="1">
                <a:solidFill>
                  <a:srgbClr val="15324A"/>
                </a:solidFill>
                <a:latin typeface="Helvetica Neue"/>
                <a:ea typeface="Helvetica Neue"/>
                <a:cs typeface="Helvetica Neue"/>
              </a:defRPr>
            </a:pPr>
            <a:r>
              <a:rPr sz="2700" b="1">
                <a:solidFill>
                  <a:srgbClr val="15324A"/>
                </a:solidFill>
                <a:latin typeface="Helvetica Neue"/>
                <a:ea typeface="Helvetica Neue"/>
                <a:cs typeface="Helvetica Neue"/>
              </a:rPr>
              <a:t>Bibliography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36980758-E9B9-4C8E-A721-6C3801953F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1257300"/>
            <a:ext cx="88582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91111"/>
          </a:bodyPr>
          <a:lstStyle xmlns:a="http://schemas.openxmlformats.org/drawingml/2006/main">
            <a:defPPr>
              <a:defRPr sz="1125" b="1">
                <a:solidFill>
                  <a:srgbClr val="237B82"/>
                </a:solidFill>
                <a:latin typeface="Helvetica Neue"/>
                <a:ea typeface="Helvetica Neue"/>
                <a:cs typeface="Helvetica Neue"/>
              </a:defRPr>
            </a:defPPr>
            <a:lvl1pPr>
              <a:defRPr sz="1125" b="1">
                <a:solidFill>
                  <a:srgbClr val="237B82"/>
                </a:solidFill>
                <a:latin typeface="Helvetica Neue"/>
                <a:ea typeface="Helvetica Neue"/>
                <a:cs typeface="Helvetica Neue"/>
              </a:defRPr>
            </a:lvl1pPr>
            <a:lvl2pPr>
              <a:defRPr sz="1125" b="1">
                <a:solidFill>
                  <a:srgbClr val="237B82"/>
                </a:solidFill>
                <a:latin typeface="Helvetica Neue"/>
                <a:ea typeface="Helvetica Neue"/>
                <a:cs typeface="Helvetica Neue"/>
              </a:defRPr>
            </a:lvl2pPr>
            <a:lvl3pPr>
              <a:defRPr sz="1125" b="1">
                <a:solidFill>
                  <a:srgbClr val="237B82"/>
                </a:solidFill>
                <a:latin typeface="Helvetica Neue"/>
                <a:ea typeface="Helvetica Neue"/>
                <a:cs typeface="Helvetica Neue"/>
              </a:defRPr>
            </a:lvl3pPr>
            <a:lvl4pPr>
              <a:defRPr sz="1125" b="1">
                <a:solidFill>
                  <a:srgbClr val="237B82"/>
                </a:solidFill>
                <a:latin typeface="Helvetica Neue"/>
                <a:ea typeface="Helvetica Neue"/>
                <a:cs typeface="Helvetica Neue"/>
              </a:defRPr>
            </a:lvl4pPr>
            <a:lvl5pPr>
              <a:defRPr sz="1125" b="1">
                <a:solidFill>
                  <a:srgbClr val="237B82"/>
                </a:solidFill>
                <a:latin typeface="Helvetica Neue"/>
                <a:ea typeface="Helvetica Neue"/>
                <a:cs typeface="Helvetica Neue"/>
              </a:defRPr>
            </a:lvl5pPr>
            <a:lvl6pPr>
              <a:defRPr sz="1125" b="1">
                <a:solidFill>
                  <a:srgbClr val="237B82"/>
                </a:solidFill>
                <a:latin typeface="Helvetica Neue"/>
                <a:ea typeface="Helvetica Neue"/>
                <a:cs typeface="Helvetica Neue"/>
              </a:defRPr>
            </a:lvl6pPr>
            <a:lvl7pPr>
              <a:defRPr sz="1125" b="1">
                <a:solidFill>
                  <a:srgbClr val="237B82"/>
                </a:solidFill>
                <a:latin typeface="Helvetica Neue"/>
                <a:ea typeface="Helvetica Neue"/>
                <a:cs typeface="Helvetica Neue"/>
              </a:defRPr>
            </a:lvl7pPr>
            <a:lvl8pPr>
              <a:defRPr sz="1125" b="1">
                <a:solidFill>
                  <a:srgbClr val="237B82"/>
                </a:solidFill>
                <a:latin typeface="Helvetica Neue"/>
                <a:ea typeface="Helvetica Neue"/>
                <a:cs typeface="Helvetica Neue"/>
              </a:defRPr>
            </a:lvl8pPr>
            <a:lvl9pPr>
              <a:defRPr sz="1125" b="1">
                <a:solidFill>
                  <a:srgbClr val="237B82"/>
                </a:solidFill>
                <a:latin typeface="Helvetica Neue"/>
                <a:ea typeface="Helvetica Neue"/>
                <a:cs typeface="Helvetica Neue"/>
              </a:defRPr>
            </a:lvl9pPr>
          </a:lstStyle>
          <a:p xmlns:a="http://schemas.openxmlformats.org/drawingml/2006/main">
            <a:pPr>
              <a:defRPr sz="1125" b="1">
                <a:solidFill>
                  <a:srgbClr val="237B82"/>
                </a:solidFill>
                <a:latin typeface="Helvetica Neue"/>
                <a:ea typeface="Helvetica Neue"/>
                <a:cs typeface="Helvetica Neue"/>
              </a:defRPr>
            </a:pPr>
            <a:r>
              <a:rPr sz="1125" b="1">
                <a:solidFill>
                  <a:srgbClr val="237B82"/>
                </a:solidFill>
                <a:latin typeface="Helvetica Neue"/>
                <a:ea typeface="Helvetica Neue"/>
                <a:cs typeface="Helvetica Neue"/>
              </a:rPr>
              <a:t>MODULE 4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056D444D-A278-4887-9469-F7E74A040D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457200"/>
            <a:ext cx="5334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>
            <a:defPPr>
              <a:defRPr sz="1200" b="1">
                <a:solidFill>
                  <a:srgbClr val="237B82"/>
                </a:solidFill>
                <a:latin typeface="Helvetica Neue"/>
                <a:ea typeface="Helvetica Neue"/>
                <a:cs typeface="Helvetica Neue"/>
              </a:defRPr>
            </a:defPPr>
            <a:lvl1pPr>
              <a:defRPr sz="1200" b="1">
                <a:solidFill>
                  <a:srgbClr val="237B82"/>
                </a:solidFill>
                <a:latin typeface="Helvetica Neue"/>
                <a:ea typeface="Helvetica Neue"/>
                <a:cs typeface="Helvetica Neue"/>
              </a:defRPr>
            </a:lvl1pPr>
            <a:lvl2pPr>
              <a:defRPr sz="1200" b="1">
                <a:solidFill>
                  <a:srgbClr val="237B82"/>
                </a:solidFill>
                <a:latin typeface="Helvetica Neue"/>
                <a:ea typeface="Helvetica Neue"/>
                <a:cs typeface="Helvetica Neue"/>
              </a:defRPr>
            </a:lvl2pPr>
            <a:lvl3pPr>
              <a:defRPr sz="1200" b="1">
                <a:solidFill>
                  <a:srgbClr val="237B82"/>
                </a:solidFill>
                <a:latin typeface="Helvetica Neue"/>
                <a:ea typeface="Helvetica Neue"/>
                <a:cs typeface="Helvetica Neue"/>
              </a:defRPr>
            </a:lvl3pPr>
            <a:lvl4pPr>
              <a:defRPr sz="1200" b="1">
                <a:solidFill>
                  <a:srgbClr val="237B82"/>
                </a:solidFill>
                <a:latin typeface="Helvetica Neue"/>
                <a:ea typeface="Helvetica Neue"/>
                <a:cs typeface="Helvetica Neue"/>
              </a:defRPr>
            </a:lvl4pPr>
            <a:lvl5pPr>
              <a:defRPr sz="1200" b="1">
                <a:solidFill>
                  <a:srgbClr val="237B82"/>
                </a:solidFill>
                <a:latin typeface="Helvetica Neue"/>
                <a:ea typeface="Helvetica Neue"/>
                <a:cs typeface="Helvetica Neue"/>
              </a:defRPr>
            </a:lvl5pPr>
            <a:lvl6pPr>
              <a:defRPr sz="1200" b="1">
                <a:solidFill>
                  <a:srgbClr val="237B82"/>
                </a:solidFill>
                <a:latin typeface="Helvetica Neue"/>
                <a:ea typeface="Helvetica Neue"/>
                <a:cs typeface="Helvetica Neue"/>
              </a:defRPr>
            </a:lvl6pPr>
            <a:lvl7pPr>
              <a:defRPr sz="1200" b="1">
                <a:solidFill>
                  <a:srgbClr val="237B82"/>
                </a:solidFill>
                <a:latin typeface="Helvetica Neue"/>
                <a:ea typeface="Helvetica Neue"/>
                <a:cs typeface="Helvetica Neue"/>
              </a:defRPr>
            </a:lvl7pPr>
            <a:lvl8pPr>
              <a:defRPr sz="1200" b="1">
                <a:solidFill>
                  <a:srgbClr val="237B82"/>
                </a:solidFill>
                <a:latin typeface="Helvetica Neue"/>
                <a:ea typeface="Helvetica Neue"/>
                <a:cs typeface="Helvetica Neue"/>
              </a:defRPr>
            </a:lvl8pPr>
            <a:lvl9pPr>
              <a:defRPr sz="1200" b="1">
                <a:solidFill>
                  <a:srgbClr val="237B82"/>
                </a:solidFill>
                <a:latin typeface="Helvetica Neue"/>
                <a:ea typeface="Helvetica Neue"/>
                <a:cs typeface="Helvetica Neue"/>
              </a:defRPr>
            </a:lvl9pPr>
          </a:lstStyle>
          <a:p xmlns:a="http://schemas.openxmlformats.org/drawingml/2006/main">
            <a:pPr>
              <a:defRPr sz="1200" b="1">
                <a:solidFill>
                  <a:srgbClr val="237B82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00" b="1">
                <a:solidFill>
                  <a:srgbClr val="237B82"/>
                </a:solidFill>
                <a:latin typeface="Helvetica Neue"/>
                <a:ea typeface="Helvetica Neue"/>
                <a:cs typeface="Helvetica Neue"/>
              </a:rPr>
              <a:t>70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042F1937-A93B-4CB4-8A42-8E5609EECC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1762125"/>
            <a:ext cx="10287000" cy="409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>
            <a:defPPr>
              <a:defRPr sz="1875">
                <a:solidFill>
                  <a:srgbClr val="13212D"/>
                </a:solidFill>
                <a:latin typeface="Helvetica Neue"/>
                <a:ea typeface="Helvetica Neue"/>
                <a:cs typeface="Helvetica Neue"/>
              </a:defRPr>
            </a:defPPr>
            <a:lvl1pPr>
              <a:defRPr sz="1875">
                <a:solidFill>
                  <a:srgbClr val="13212D"/>
                </a:solidFill>
                <a:latin typeface="Helvetica Neue"/>
                <a:ea typeface="Helvetica Neue"/>
                <a:cs typeface="Helvetica Neue"/>
              </a:defRPr>
            </a:lvl1pPr>
            <a:lvl2pPr>
              <a:defRPr sz="1875">
                <a:solidFill>
                  <a:srgbClr val="13212D"/>
                </a:solidFill>
                <a:latin typeface="Helvetica Neue"/>
                <a:ea typeface="Helvetica Neue"/>
                <a:cs typeface="Helvetica Neue"/>
              </a:defRPr>
            </a:lvl2pPr>
            <a:lvl3pPr>
              <a:defRPr sz="1875">
                <a:solidFill>
                  <a:srgbClr val="13212D"/>
                </a:solidFill>
                <a:latin typeface="Helvetica Neue"/>
                <a:ea typeface="Helvetica Neue"/>
                <a:cs typeface="Helvetica Neue"/>
              </a:defRPr>
            </a:lvl3pPr>
            <a:lvl4pPr>
              <a:defRPr sz="1875">
                <a:solidFill>
                  <a:srgbClr val="13212D"/>
                </a:solidFill>
                <a:latin typeface="Helvetica Neue"/>
                <a:ea typeface="Helvetica Neue"/>
                <a:cs typeface="Helvetica Neue"/>
              </a:defRPr>
            </a:lvl4pPr>
            <a:lvl5pPr>
              <a:defRPr sz="1875">
                <a:solidFill>
                  <a:srgbClr val="13212D"/>
                </a:solidFill>
                <a:latin typeface="Helvetica Neue"/>
                <a:ea typeface="Helvetica Neue"/>
                <a:cs typeface="Helvetica Neue"/>
              </a:defRPr>
            </a:lvl5pPr>
            <a:lvl6pPr>
              <a:defRPr sz="1875">
                <a:solidFill>
                  <a:srgbClr val="13212D"/>
                </a:solidFill>
                <a:latin typeface="Helvetica Neue"/>
                <a:ea typeface="Helvetica Neue"/>
                <a:cs typeface="Helvetica Neue"/>
              </a:defRPr>
            </a:lvl6pPr>
            <a:lvl7pPr>
              <a:defRPr sz="1875">
                <a:solidFill>
                  <a:srgbClr val="13212D"/>
                </a:solidFill>
                <a:latin typeface="Helvetica Neue"/>
                <a:ea typeface="Helvetica Neue"/>
                <a:cs typeface="Helvetica Neue"/>
              </a:defRPr>
            </a:lvl7pPr>
            <a:lvl8pPr>
              <a:defRPr sz="1875">
                <a:solidFill>
                  <a:srgbClr val="13212D"/>
                </a:solidFill>
                <a:latin typeface="Helvetica Neue"/>
                <a:ea typeface="Helvetica Neue"/>
                <a:cs typeface="Helvetica Neue"/>
              </a:defRPr>
            </a:lvl8pPr>
            <a:lvl9pPr>
              <a:defRPr sz="1875">
                <a:solidFill>
                  <a:srgbClr val="13212D"/>
                </a:solidFill>
                <a:latin typeface="Helvetica Neue"/>
                <a:ea typeface="Helvetica Neue"/>
                <a:cs typeface="Helvetica Neue"/>
              </a:defRPr>
            </a:lvl9pPr>
          </a:lstStyle>
          <a:p xmlns:a="http://schemas.openxmlformats.org/drawingml/2006/main">
            <a:pPr marL="279400" indent="-127000">
              <a:spcAft>
                <a:spcPts val="1300"/>
              </a:spcAft>
              <a:buChar char="•"/>
              <a:defRPr sz="1875">
                <a:solidFill>
                  <a:srgbClr val="13212D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75">
                <a:solidFill>
                  <a:srgbClr val="13212D"/>
                </a:solidFill>
                <a:latin typeface="Helvetica Neue"/>
                <a:ea typeface="Helvetica Neue"/>
                <a:cs typeface="Helvetica Neue"/>
              </a:rPr>
              <a:t>Kurdi, W.</a:t>
            </a:r>
          </a:p>
          <a:p xmlns:a="http://schemas.openxmlformats.org/drawingml/2006/main">
            <a:pPr marL="279400" indent="-127000">
              <a:spcAft>
                <a:spcPts val="1300"/>
              </a:spcAft>
              <a:buChar char="•"/>
              <a:defRPr sz="1875">
                <a:solidFill>
                  <a:srgbClr val="13212D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75">
                <a:solidFill>
                  <a:srgbClr val="13212D"/>
                </a:solidFill>
                <a:latin typeface="Helvetica Neue"/>
                <a:ea typeface="Helvetica Neue"/>
                <a:cs typeface="Helvetica Neue"/>
              </a:rPr>
              <a:t>(1985).</a:t>
            </a:r>
          </a:p>
          <a:p xmlns:a="http://schemas.openxmlformats.org/drawingml/2006/main">
            <a:pPr marL="279400" indent="-127000">
              <a:spcAft>
                <a:spcPts val="1300"/>
              </a:spcAft>
              <a:buChar char="•"/>
              <a:defRPr sz="1875">
                <a:solidFill>
                  <a:srgbClr val="13212D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75">
                <a:solidFill>
                  <a:srgbClr val="13212D"/>
                </a:solidFill>
                <a:latin typeface="Helvetica Neue"/>
                <a:ea typeface="Helvetica Neue"/>
                <a:cs typeface="Helvetica Neue"/>
              </a:rPr>
              <a:t>and Collier, C.I.</a:t>
            </a:r>
          </a:p>
          <a:p xmlns:a="http://schemas.openxmlformats.org/drawingml/2006/main">
            <a:pPr marL="279400" indent="-127000">
              <a:spcAft>
                <a:spcPts val="1300"/>
              </a:spcAft>
              <a:buChar char="•"/>
              <a:defRPr sz="1875">
                <a:solidFill>
                  <a:srgbClr val="13212D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75">
                <a:solidFill>
                  <a:srgbClr val="13212D"/>
                </a:solidFill>
                <a:latin typeface="Helvetica Neue"/>
                <a:ea typeface="Helvetica Neue"/>
                <a:cs typeface="Helvetica Neue"/>
              </a:rPr>
              <a:t>(1987).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BE62314E-6607-43CB-B27D-33E1ED4039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6115050"/>
            <a:ext cx="101917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>
            <a:defPPr>
              <a:defRPr sz="1125" b="1">
                <a:solidFill>
                  <a:srgbClr val="B94F3D"/>
                </a:solidFill>
                <a:latin typeface="Helvetica Neue"/>
                <a:ea typeface="Helvetica Neue"/>
                <a:cs typeface="Helvetica Neue"/>
              </a:defRPr>
            </a:defPPr>
            <a:lvl1pPr>
              <a:defRPr sz="1125" b="1">
                <a:solidFill>
                  <a:srgbClr val="B94F3D"/>
                </a:solidFill>
                <a:latin typeface="Helvetica Neue"/>
                <a:ea typeface="Helvetica Neue"/>
                <a:cs typeface="Helvetica Neue"/>
              </a:defRPr>
            </a:lvl1pPr>
            <a:lvl2pPr>
              <a:defRPr sz="1125" b="1">
                <a:solidFill>
                  <a:srgbClr val="B94F3D"/>
                </a:solidFill>
                <a:latin typeface="Helvetica Neue"/>
                <a:ea typeface="Helvetica Neue"/>
                <a:cs typeface="Helvetica Neue"/>
              </a:defRPr>
            </a:lvl2pPr>
            <a:lvl3pPr>
              <a:defRPr sz="1125" b="1">
                <a:solidFill>
                  <a:srgbClr val="B94F3D"/>
                </a:solidFill>
                <a:latin typeface="Helvetica Neue"/>
                <a:ea typeface="Helvetica Neue"/>
                <a:cs typeface="Helvetica Neue"/>
              </a:defRPr>
            </a:lvl3pPr>
            <a:lvl4pPr>
              <a:defRPr sz="1125" b="1">
                <a:solidFill>
                  <a:srgbClr val="B94F3D"/>
                </a:solidFill>
                <a:latin typeface="Helvetica Neue"/>
                <a:ea typeface="Helvetica Neue"/>
                <a:cs typeface="Helvetica Neue"/>
              </a:defRPr>
            </a:lvl4pPr>
            <a:lvl5pPr>
              <a:defRPr sz="1125" b="1">
                <a:solidFill>
                  <a:srgbClr val="B94F3D"/>
                </a:solidFill>
                <a:latin typeface="Helvetica Neue"/>
                <a:ea typeface="Helvetica Neue"/>
                <a:cs typeface="Helvetica Neue"/>
              </a:defRPr>
            </a:lvl5pPr>
            <a:lvl6pPr>
              <a:defRPr sz="1125" b="1">
                <a:solidFill>
                  <a:srgbClr val="B94F3D"/>
                </a:solidFill>
                <a:latin typeface="Helvetica Neue"/>
                <a:ea typeface="Helvetica Neue"/>
                <a:cs typeface="Helvetica Neue"/>
              </a:defRPr>
            </a:lvl6pPr>
            <a:lvl7pPr>
              <a:defRPr sz="1125" b="1">
                <a:solidFill>
                  <a:srgbClr val="B94F3D"/>
                </a:solidFill>
                <a:latin typeface="Helvetica Neue"/>
                <a:ea typeface="Helvetica Neue"/>
                <a:cs typeface="Helvetica Neue"/>
              </a:defRPr>
            </a:lvl7pPr>
            <a:lvl8pPr>
              <a:defRPr sz="1125" b="1">
                <a:solidFill>
                  <a:srgbClr val="B94F3D"/>
                </a:solidFill>
                <a:latin typeface="Helvetica Neue"/>
                <a:ea typeface="Helvetica Neue"/>
                <a:cs typeface="Helvetica Neue"/>
              </a:defRPr>
            </a:lvl8pPr>
            <a:lvl9pPr>
              <a:defRPr sz="1125" b="1">
                <a:solidFill>
                  <a:srgbClr val="B94F3D"/>
                </a:solidFill>
                <a:latin typeface="Helvetica Neue"/>
                <a:ea typeface="Helvetica Neue"/>
                <a:cs typeface="Helvetica Neue"/>
              </a:defRPr>
            </a:lvl9pPr>
          </a:lstStyle>
          <a:p xmlns:a="http://schemas.openxmlformats.org/drawingml/2006/main">
            <a:pPr>
              <a:defRPr sz="1125" b="1">
                <a:solidFill>
                  <a:srgbClr val="B94F3D"/>
                </a:solidFill>
                <a:latin typeface="Helvetica Neue"/>
                <a:ea typeface="Helvetica Neue"/>
                <a:cs typeface="Helvetica Neue"/>
              </a:defRPr>
            </a:pPr>
            <a:r>
              <a:rPr sz="1125" b="1">
                <a:solidFill>
                  <a:srgbClr val="B94F3D"/>
                </a:solidFill>
                <a:latin typeface="Helvetica Neue"/>
                <a:ea typeface="Helvetica Neue"/>
                <a:cs typeface="Helvetica Neue"/>
              </a:rPr>
              <a:t>Use current orders, facility policy, and authorized scope when applying this information.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08C22B84-9A30-4902-8F70-E178595F74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5772150"/>
            <a:ext cx="101917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97619"/>
          </a:bodyPr>
          <a:lstStyle xmlns:a="http://schemas.openxmlformats.org/drawingml/2006/main">
            <a:defPPr>
              <a:defRPr sz="1050" b="1">
                <a:solidFill>
                  <a:srgbClr val="237B82"/>
                </a:solidFill>
                <a:latin typeface="Helvetica Neue"/>
                <a:ea typeface="Helvetica Neue"/>
                <a:cs typeface="Helvetica Neue"/>
              </a:defRPr>
            </a:defPPr>
            <a:lvl1pPr>
              <a:defRPr sz="1050" b="1">
                <a:solidFill>
                  <a:srgbClr val="237B82"/>
                </a:solidFill>
                <a:latin typeface="Helvetica Neue"/>
                <a:ea typeface="Helvetica Neue"/>
                <a:cs typeface="Helvetica Neue"/>
              </a:defRPr>
            </a:lvl1pPr>
            <a:lvl2pPr>
              <a:defRPr sz="1050" b="1">
                <a:solidFill>
                  <a:srgbClr val="237B82"/>
                </a:solidFill>
                <a:latin typeface="Helvetica Neue"/>
                <a:ea typeface="Helvetica Neue"/>
                <a:cs typeface="Helvetica Neue"/>
              </a:defRPr>
            </a:lvl2pPr>
            <a:lvl3pPr>
              <a:defRPr sz="1050" b="1">
                <a:solidFill>
                  <a:srgbClr val="237B82"/>
                </a:solidFill>
                <a:latin typeface="Helvetica Neue"/>
                <a:ea typeface="Helvetica Neue"/>
                <a:cs typeface="Helvetica Neue"/>
              </a:defRPr>
            </a:lvl3pPr>
            <a:lvl4pPr>
              <a:defRPr sz="1050" b="1">
                <a:solidFill>
                  <a:srgbClr val="237B82"/>
                </a:solidFill>
                <a:latin typeface="Helvetica Neue"/>
                <a:ea typeface="Helvetica Neue"/>
                <a:cs typeface="Helvetica Neue"/>
              </a:defRPr>
            </a:lvl4pPr>
            <a:lvl5pPr>
              <a:defRPr sz="1050" b="1">
                <a:solidFill>
                  <a:srgbClr val="237B82"/>
                </a:solidFill>
                <a:latin typeface="Helvetica Neue"/>
                <a:ea typeface="Helvetica Neue"/>
                <a:cs typeface="Helvetica Neue"/>
              </a:defRPr>
            </a:lvl5pPr>
            <a:lvl6pPr>
              <a:defRPr sz="1050" b="1">
                <a:solidFill>
                  <a:srgbClr val="237B82"/>
                </a:solidFill>
                <a:latin typeface="Helvetica Neue"/>
                <a:ea typeface="Helvetica Neue"/>
                <a:cs typeface="Helvetica Neue"/>
              </a:defRPr>
            </a:lvl6pPr>
            <a:lvl7pPr>
              <a:defRPr sz="1050" b="1">
                <a:solidFill>
                  <a:srgbClr val="237B82"/>
                </a:solidFill>
                <a:latin typeface="Helvetica Neue"/>
                <a:ea typeface="Helvetica Neue"/>
                <a:cs typeface="Helvetica Neue"/>
              </a:defRPr>
            </a:lvl7pPr>
            <a:lvl8pPr>
              <a:defRPr sz="1050" b="1">
                <a:solidFill>
                  <a:srgbClr val="237B82"/>
                </a:solidFill>
                <a:latin typeface="Helvetica Neue"/>
                <a:ea typeface="Helvetica Neue"/>
                <a:cs typeface="Helvetica Neue"/>
              </a:defRPr>
            </a:lvl8pPr>
            <a:lvl9pPr>
              <a:defRPr sz="1050" b="1">
                <a:solidFill>
                  <a:srgbClr val="237B82"/>
                </a:solidFill>
                <a:latin typeface="Helvetica Neue"/>
                <a:ea typeface="Helvetica Neue"/>
                <a:cs typeface="Helvetica Neue"/>
              </a:defRPr>
            </a:lvl9pPr>
          </a:lstStyle>
          <a:p xmlns:a="http://schemas.openxmlformats.org/drawingml/2006/main">
            <a:pPr>
              <a:defRPr sz="1050" b="1">
                <a:solidFill>
                  <a:srgbClr val="237B82"/>
                </a:solidFill>
                <a:latin typeface="Helvetica Neue"/>
                <a:ea typeface="Helvetica Neue"/>
                <a:cs typeface="Helvetica Neue"/>
              </a:defRPr>
            </a:pPr>
            <a:r>
              <a:rPr sz="1050" b="1">
                <a:solidFill>
                  <a:srgbClr val="237B82"/>
                </a:solidFill>
                <a:latin typeface="Helvetica Neue"/>
                <a:ea typeface="Helvetica Neue"/>
                <a:cs typeface="Helvetica Neue"/>
              </a:rPr>
              <a:t>Manual page 61</a:t>
            </a:r>
          </a:p>
        </p:txBody>
      </p:sp>
    </p:spTree>
    <p:extLst>
      <p:ext uri="{BB962C8B-B14F-4D97-AF65-F5344CB8AC3E}">
        <p14:creationId xmlns:p14="http://schemas.microsoft.com/office/powerpoint/2010/main" val="1383317764"/>
      </p:ext>
    </p:extLst>
  </p:cSld>
</p:sld>
</file>

<file path=ppt/slides/slide71.xml><?xml version="1.0" encoding="utf-8"?>
<p:sld xmlns:p="http://schemas.openxmlformats.org/presentationml/2006/main">
  <p:cSld>
    <p:bg>
      <p:bgPr>
        <a:solidFill xmlns:a="http://schemas.openxmlformats.org/drawingml/2006/main">
          <a:srgbClr val="F7F4EE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FF7A9617-E419-4E06-BB11-AA1AF56029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2095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37B82"/>
          </a:solidFill>
          <a:ln xmlns:a="http://schemas.openxmlformats.org/drawingml/2006/main" w="0">
            <a:solidFill>
              <a:srgbClr val="237B82"/>
            </a:solidFill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88332D7A-131A-4382-BB2B-3EF86DE6F0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00050"/>
            <a:ext cx="10001250" cy="819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>
            <a:defPPr>
              <a:defRPr sz="2700" b="1">
                <a:solidFill>
                  <a:srgbClr val="15324A"/>
                </a:solidFill>
                <a:latin typeface="Helvetica Neue"/>
                <a:ea typeface="Helvetica Neue"/>
                <a:cs typeface="Helvetica Neue"/>
              </a:defRPr>
            </a:defPPr>
            <a:lvl1pPr>
              <a:defRPr sz="2700" b="1">
                <a:solidFill>
                  <a:srgbClr val="15324A"/>
                </a:solidFill>
                <a:latin typeface="Helvetica Neue"/>
                <a:ea typeface="Helvetica Neue"/>
                <a:cs typeface="Helvetica Neue"/>
              </a:defRPr>
            </a:lvl1pPr>
            <a:lvl2pPr>
              <a:defRPr sz="2700" b="1">
                <a:solidFill>
                  <a:srgbClr val="15324A"/>
                </a:solidFill>
                <a:latin typeface="Helvetica Neue"/>
                <a:ea typeface="Helvetica Neue"/>
                <a:cs typeface="Helvetica Neue"/>
              </a:defRPr>
            </a:lvl2pPr>
            <a:lvl3pPr>
              <a:defRPr sz="2700" b="1">
                <a:solidFill>
                  <a:srgbClr val="15324A"/>
                </a:solidFill>
                <a:latin typeface="Helvetica Neue"/>
                <a:ea typeface="Helvetica Neue"/>
                <a:cs typeface="Helvetica Neue"/>
              </a:defRPr>
            </a:lvl3pPr>
            <a:lvl4pPr>
              <a:defRPr sz="2700" b="1">
                <a:solidFill>
                  <a:srgbClr val="15324A"/>
                </a:solidFill>
                <a:latin typeface="Helvetica Neue"/>
                <a:ea typeface="Helvetica Neue"/>
                <a:cs typeface="Helvetica Neue"/>
              </a:defRPr>
            </a:lvl4pPr>
            <a:lvl5pPr>
              <a:defRPr sz="2700" b="1">
                <a:solidFill>
                  <a:srgbClr val="15324A"/>
                </a:solidFill>
                <a:latin typeface="Helvetica Neue"/>
                <a:ea typeface="Helvetica Neue"/>
                <a:cs typeface="Helvetica Neue"/>
              </a:defRPr>
            </a:lvl5pPr>
            <a:lvl6pPr>
              <a:defRPr sz="2700" b="1">
                <a:solidFill>
                  <a:srgbClr val="15324A"/>
                </a:solidFill>
                <a:latin typeface="Helvetica Neue"/>
                <a:ea typeface="Helvetica Neue"/>
                <a:cs typeface="Helvetica Neue"/>
              </a:defRPr>
            </a:lvl6pPr>
            <a:lvl7pPr>
              <a:defRPr sz="2700" b="1">
                <a:solidFill>
                  <a:srgbClr val="15324A"/>
                </a:solidFill>
                <a:latin typeface="Helvetica Neue"/>
                <a:ea typeface="Helvetica Neue"/>
                <a:cs typeface="Helvetica Neue"/>
              </a:defRPr>
            </a:lvl7pPr>
            <a:lvl8pPr>
              <a:defRPr sz="2700" b="1">
                <a:solidFill>
                  <a:srgbClr val="15324A"/>
                </a:solidFill>
                <a:latin typeface="Helvetica Neue"/>
                <a:ea typeface="Helvetica Neue"/>
                <a:cs typeface="Helvetica Neue"/>
              </a:defRPr>
            </a:lvl8pPr>
            <a:lvl9pPr>
              <a:defRPr sz="2700" b="1">
                <a:solidFill>
                  <a:srgbClr val="15324A"/>
                </a:solidFill>
                <a:latin typeface="Helvetica Neue"/>
                <a:ea typeface="Helvetica Neue"/>
                <a:cs typeface="Helvetica Neue"/>
              </a:defRPr>
            </a:lvl9pPr>
          </a:lstStyle>
          <a:p xmlns:a="http://schemas.openxmlformats.org/drawingml/2006/main">
            <a:pPr>
              <a:defRPr sz="2700" b="1">
                <a:solidFill>
                  <a:srgbClr val="15324A"/>
                </a:solidFill>
                <a:latin typeface="Helvetica Neue"/>
                <a:ea typeface="Helvetica Neue"/>
                <a:cs typeface="Helvetica Neue"/>
              </a:defRPr>
            </a:pPr>
            <a:r>
              <a:rPr sz="2700" b="1">
                <a:solidFill>
                  <a:srgbClr val="15324A"/>
                </a:solidFill>
                <a:latin typeface="Helvetica Neue"/>
                <a:ea typeface="Helvetica Neue"/>
                <a:cs typeface="Helvetica Neue"/>
              </a:rPr>
              <a:t>Bibliography — continued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03AC85D3-7226-4902-80F3-D6B59B9BE4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1257300"/>
            <a:ext cx="88582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91111"/>
          </a:bodyPr>
          <a:lstStyle xmlns:a="http://schemas.openxmlformats.org/drawingml/2006/main">
            <a:defPPr>
              <a:defRPr sz="1125" b="1">
                <a:solidFill>
                  <a:srgbClr val="237B82"/>
                </a:solidFill>
                <a:latin typeface="Helvetica Neue"/>
                <a:ea typeface="Helvetica Neue"/>
                <a:cs typeface="Helvetica Neue"/>
              </a:defRPr>
            </a:defPPr>
            <a:lvl1pPr>
              <a:defRPr sz="1125" b="1">
                <a:solidFill>
                  <a:srgbClr val="237B82"/>
                </a:solidFill>
                <a:latin typeface="Helvetica Neue"/>
                <a:ea typeface="Helvetica Neue"/>
                <a:cs typeface="Helvetica Neue"/>
              </a:defRPr>
            </a:lvl1pPr>
            <a:lvl2pPr>
              <a:defRPr sz="1125" b="1">
                <a:solidFill>
                  <a:srgbClr val="237B82"/>
                </a:solidFill>
                <a:latin typeface="Helvetica Neue"/>
                <a:ea typeface="Helvetica Neue"/>
                <a:cs typeface="Helvetica Neue"/>
              </a:defRPr>
            </a:lvl2pPr>
            <a:lvl3pPr>
              <a:defRPr sz="1125" b="1">
                <a:solidFill>
                  <a:srgbClr val="237B82"/>
                </a:solidFill>
                <a:latin typeface="Helvetica Neue"/>
                <a:ea typeface="Helvetica Neue"/>
                <a:cs typeface="Helvetica Neue"/>
              </a:defRPr>
            </a:lvl3pPr>
            <a:lvl4pPr>
              <a:defRPr sz="1125" b="1">
                <a:solidFill>
                  <a:srgbClr val="237B82"/>
                </a:solidFill>
                <a:latin typeface="Helvetica Neue"/>
                <a:ea typeface="Helvetica Neue"/>
                <a:cs typeface="Helvetica Neue"/>
              </a:defRPr>
            </a:lvl4pPr>
            <a:lvl5pPr>
              <a:defRPr sz="1125" b="1">
                <a:solidFill>
                  <a:srgbClr val="237B82"/>
                </a:solidFill>
                <a:latin typeface="Helvetica Neue"/>
                <a:ea typeface="Helvetica Neue"/>
                <a:cs typeface="Helvetica Neue"/>
              </a:defRPr>
            </a:lvl5pPr>
            <a:lvl6pPr>
              <a:defRPr sz="1125" b="1">
                <a:solidFill>
                  <a:srgbClr val="237B82"/>
                </a:solidFill>
                <a:latin typeface="Helvetica Neue"/>
                <a:ea typeface="Helvetica Neue"/>
                <a:cs typeface="Helvetica Neue"/>
              </a:defRPr>
            </a:lvl6pPr>
            <a:lvl7pPr>
              <a:defRPr sz="1125" b="1">
                <a:solidFill>
                  <a:srgbClr val="237B82"/>
                </a:solidFill>
                <a:latin typeface="Helvetica Neue"/>
                <a:ea typeface="Helvetica Neue"/>
                <a:cs typeface="Helvetica Neue"/>
              </a:defRPr>
            </a:lvl7pPr>
            <a:lvl8pPr>
              <a:defRPr sz="1125" b="1">
                <a:solidFill>
                  <a:srgbClr val="237B82"/>
                </a:solidFill>
                <a:latin typeface="Helvetica Neue"/>
                <a:ea typeface="Helvetica Neue"/>
                <a:cs typeface="Helvetica Neue"/>
              </a:defRPr>
            </a:lvl8pPr>
            <a:lvl9pPr>
              <a:defRPr sz="1125" b="1">
                <a:solidFill>
                  <a:srgbClr val="237B82"/>
                </a:solidFill>
                <a:latin typeface="Helvetica Neue"/>
                <a:ea typeface="Helvetica Neue"/>
                <a:cs typeface="Helvetica Neue"/>
              </a:defRPr>
            </a:lvl9pPr>
          </a:lstStyle>
          <a:p xmlns:a="http://schemas.openxmlformats.org/drawingml/2006/main">
            <a:pPr>
              <a:defRPr sz="1125" b="1">
                <a:solidFill>
                  <a:srgbClr val="237B82"/>
                </a:solidFill>
                <a:latin typeface="Helvetica Neue"/>
                <a:ea typeface="Helvetica Neue"/>
                <a:cs typeface="Helvetica Neue"/>
              </a:defRPr>
            </a:pPr>
            <a:r>
              <a:rPr sz="1125" b="1">
                <a:solidFill>
                  <a:srgbClr val="237B82"/>
                </a:solidFill>
                <a:latin typeface="Helvetica Neue"/>
                <a:ea typeface="Helvetica Neue"/>
                <a:cs typeface="Helvetica Neue"/>
              </a:rPr>
              <a:t>MODULE 4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F3F5F765-22E9-41D2-8E11-DBDB2CEF16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457200"/>
            <a:ext cx="5334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>
            <a:defPPr>
              <a:defRPr sz="1200" b="1">
                <a:solidFill>
                  <a:srgbClr val="237B82"/>
                </a:solidFill>
                <a:latin typeface="Helvetica Neue"/>
                <a:ea typeface="Helvetica Neue"/>
                <a:cs typeface="Helvetica Neue"/>
              </a:defRPr>
            </a:defPPr>
            <a:lvl1pPr>
              <a:defRPr sz="1200" b="1">
                <a:solidFill>
                  <a:srgbClr val="237B82"/>
                </a:solidFill>
                <a:latin typeface="Helvetica Neue"/>
                <a:ea typeface="Helvetica Neue"/>
                <a:cs typeface="Helvetica Neue"/>
              </a:defRPr>
            </a:lvl1pPr>
            <a:lvl2pPr>
              <a:defRPr sz="1200" b="1">
                <a:solidFill>
                  <a:srgbClr val="237B82"/>
                </a:solidFill>
                <a:latin typeface="Helvetica Neue"/>
                <a:ea typeface="Helvetica Neue"/>
                <a:cs typeface="Helvetica Neue"/>
              </a:defRPr>
            </a:lvl2pPr>
            <a:lvl3pPr>
              <a:defRPr sz="1200" b="1">
                <a:solidFill>
                  <a:srgbClr val="237B82"/>
                </a:solidFill>
                <a:latin typeface="Helvetica Neue"/>
                <a:ea typeface="Helvetica Neue"/>
                <a:cs typeface="Helvetica Neue"/>
              </a:defRPr>
            </a:lvl3pPr>
            <a:lvl4pPr>
              <a:defRPr sz="1200" b="1">
                <a:solidFill>
                  <a:srgbClr val="237B82"/>
                </a:solidFill>
                <a:latin typeface="Helvetica Neue"/>
                <a:ea typeface="Helvetica Neue"/>
                <a:cs typeface="Helvetica Neue"/>
              </a:defRPr>
            </a:lvl4pPr>
            <a:lvl5pPr>
              <a:defRPr sz="1200" b="1">
                <a:solidFill>
                  <a:srgbClr val="237B82"/>
                </a:solidFill>
                <a:latin typeface="Helvetica Neue"/>
                <a:ea typeface="Helvetica Neue"/>
                <a:cs typeface="Helvetica Neue"/>
              </a:defRPr>
            </a:lvl5pPr>
            <a:lvl6pPr>
              <a:defRPr sz="1200" b="1">
                <a:solidFill>
                  <a:srgbClr val="237B82"/>
                </a:solidFill>
                <a:latin typeface="Helvetica Neue"/>
                <a:ea typeface="Helvetica Neue"/>
                <a:cs typeface="Helvetica Neue"/>
              </a:defRPr>
            </a:lvl6pPr>
            <a:lvl7pPr>
              <a:defRPr sz="1200" b="1">
                <a:solidFill>
                  <a:srgbClr val="237B82"/>
                </a:solidFill>
                <a:latin typeface="Helvetica Neue"/>
                <a:ea typeface="Helvetica Neue"/>
                <a:cs typeface="Helvetica Neue"/>
              </a:defRPr>
            </a:lvl7pPr>
            <a:lvl8pPr>
              <a:defRPr sz="1200" b="1">
                <a:solidFill>
                  <a:srgbClr val="237B82"/>
                </a:solidFill>
                <a:latin typeface="Helvetica Neue"/>
                <a:ea typeface="Helvetica Neue"/>
                <a:cs typeface="Helvetica Neue"/>
              </a:defRPr>
            </a:lvl8pPr>
            <a:lvl9pPr>
              <a:defRPr sz="1200" b="1">
                <a:solidFill>
                  <a:srgbClr val="237B82"/>
                </a:solidFill>
                <a:latin typeface="Helvetica Neue"/>
                <a:ea typeface="Helvetica Neue"/>
                <a:cs typeface="Helvetica Neue"/>
              </a:defRPr>
            </a:lvl9pPr>
          </a:lstStyle>
          <a:p xmlns:a="http://schemas.openxmlformats.org/drawingml/2006/main">
            <a:pPr>
              <a:defRPr sz="1200" b="1">
                <a:solidFill>
                  <a:srgbClr val="237B82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00" b="1">
                <a:solidFill>
                  <a:srgbClr val="237B82"/>
                </a:solidFill>
                <a:latin typeface="Helvetica Neue"/>
                <a:ea typeface="Helvetica Neue"/>
                <a:cs typeface="Helvetica Neue"/>
              </a:rPr>
              <a:t>71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4C602ED0-1170-42CA-B4A1-FF9B37DA3C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1762125"/>
            <a:ext cx="10287000" cy="409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>
            <a:defPPr>
              <a:defRPr sz="1875">
                <a:solidFill>
                  <a:srgbClr val="13212D"/>
                </a:solidFill>
                <a:latin typeface="Helvetica Neue"/>
                <a:ea typeface="Helvetica Neue"/>
                <a:cs typeface="Helvetica Neue"/>
              </a:defRPr>
            </a:defPPr>
            <a:lvl1pPr>
              <a:defRPr sz="1875">
                <a:solidFill>
                  <a:srgbClr val="13212D"/>
                </a:solidFill>
                <a:latin typeface="Helvetica Neue"/>
                <a:ea typeface="Helvetica Neue"/>
                <a:cs typeface="Helvetica Neue"/>
              </a:defRPr>
            </a:lvl1pPr>
            <a:lvl2pPr>
              <a:defRPr sz="1875">
                <a:solidFill>
                  <a:srgbClr val="13212D"/>
                </a:solidFill>
                <a:latin typeface="Helvetica Neue"/>
                <a:ea typeface="Helvetica Neue"/>
                <a:cs typeface="Helvetica Neue"/>
              </a:defRPr>
            </a:lvl2pPr>
            <a:lvl3pPr>
              <a:defRPr sz="1875">
                <a:solidFill>
                  <a:srgbClr val="13212D"/>
                </a:solidFill>
                <a:latin typeface="Helvetica Neue"/>
                <a:ea typeface="Helvetica Neue"/>
                <a:cs typeface="Helvetica Neue"/>
              </a:defRPr>
            </a:lvl3pPr>
            <a:lvl4pPr>
              <a:defRPr sz="1875">
                <a:solidFill>
                  <a:srgbClr val="13212D"/>
                </a:solidFill>
                <a:latin typeface="Helvetica Neue"/>
                <a:ea typeface="Helvetica Neue"/>
                <a:cs typeface="Helvetica Neue"/>
              </a:defRPr>
            </a:lvl4pPr>
            <a:lvl5pPr>
              <a:defRPr sz="1875">
                <a:solidFill>
                  <a:srgbClr val="13212D"/>
                </a:solidFill>
                <a:latin typeface="Helvetica Neue"/>
                <a:ea typeface="Helvetica Neue"/>
                <a:cs typeface="Helvetica Neue"/>
              </a:defRPr>
            </a:lvl5pPr>
            <a:lvl6pPr>
              <a:defRPr sz="1875">
                <a:solidFill>
                  <a:srgbClr val="13212D"/>
                </a:solidFill>
                <a:latin typeface="Helvetica Neue"/>
                <a:ea typeface="Helvetica Neue"/>
                <a:cs typeface="Helvetica Neue"/>
              </a:defRPr>
            </a:lvl6pPr>
            <a:lvl7pPr>
              <a:defRPr sz="1875">
                <a:solidFill>
                  <a:srgbClr val="13212D"/>
                </a:solidFill>
                <a:latin typeface="Helvetica Neue"/>
                <a:ea typeface="Helvetica Neue"/>
                <a:cs typeface="Helvetica Neue"/>
              </a:defRPr>
            </a:lvl7pPr>
            <a:lvl8pPr>
              <a:defRPr sz="1875">
                <a:solidFill>
                  <a:srgbClr val="13212D"/>
                </a:solidFill>
                <a:latin typeface="Helvetica Neue"/>
                <a:ea typeface="Helvetica Neue"/>
                <a:cs typeface="Helvetica Neue"/>
              </a:defRPr>
            </a:lvl8pPr>
            <a:lvl9pPr>
              <a:defRPr sz="1875">
                <a:solidFill>
                  <a:srgbClr val="13212D"/>
                </a:solidFill>
                <a:latin typeface="Helvetica Neue"/>
                <a:ea typeface="Helvetica Neue"/>
                <a:cs typeface="Helvetica Neue"/>
              </a:defRPr>
            </a:lvl9pPr>
          </a:lstStyle>
          <a:p xmlns:a="http://schemas.openxmlformats.org/drawingml/2006/main">
            <a:pPr marL="279400" indent="-127000">
              <a:spcAft>
                <a:spcPts val="1300"/>
              </a:spcAft>
              <a:buChar char="•"/>
              <a:defRPr sz="1875">
                <a:solidFill>
                  <a:srgbClr val="13212D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75">
                <a:solidFill>
                  <a:srgbClr val="13212D"/>
                </a:solidFill>
                <a:latin typeface="Helvetica Neue"/>
                <a:ea typeface="Helvetica Neue"/>
                <a:cs typeface="Helvetica Neue"/>
              </a:rPr>
              <a:t>Medical-Surgical Nursing Assessment and management of Clinical Problems(2nd Ed.) New York: McGraw Hill book Company.</a:t>
            </a:r>
          </a:p>
          <a:p xmlns:a="http://schemas.openxmlformats.org/drawingml/2006/main">
            <a:pPr marL="279400" indent="-127000">
              <a:spcAft>
                <a:spcPts val="1300"/>
              </a:spcAft>
              <a:buChar char="•"/>
              <a:defRPr sz="1875">
                <a:solidFill>
                  <a:srgbClr val="13212D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75">
                <a:solidFill>
                  <a:srgbClr val="13212D"/>
                </a:solidFill>
                <a:latin typeface="Helvetica Neue"/>
                <a:ea typeface="Helvetica Neue"/>
                <a:cs typeface="Helvetica Neue"/>
              </a:rPr>
              <a:t>696-701.</a:t>
            </a:r>
          </a:p>
          <a:p xmlns:a="http://schemas.openxmlformats.org/drawingml/2006/main">
            <a:pPr marL="279400" indent="-127000">
              <a:spcAft>
                <a:spcPts val="1300"/>
              </a:spcAft>
              <a:buChar char="•"/>
              <a:defRPr sz="1875">
                <a:solidFill>
                  <a:srgbClr val="13212D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75">
                <a:solidFill>
                  <a:srgbClr val="13212D"/>
                </a:solidFill>
                <a:latin typeface="Helvetica Neue"/>
                <a:ea typeface="Helvetica Neue"/>
                <a:cs typeface="Helvetica Neue"/>
              </a:rPr>
              <a:t>Plumer, A.L.</a:t>
            </a:r>
          </a:p>
          <a:p xmlns:a="http://schemas.openxmlformats.org/drawingml/2006/main">
            <a:pPr marL="279400" indent="-127000">
              <a:spcAft>
                <a:spcPts val="1300"/>
              </a:spcAft>
              <a:buChar char="•"/>
              <a:defRPr sz="1875">
                <a:solidFill>
                  <a:srgbClr val="13212D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75">
                <a:solidFill>
                  <a:srgbClr val="13212D"/>
                </a:solidFill>
                <a:latin typeface="Helvetica Neue"/>
                <a:ea typeface="Helvetica Neue"/>
                <a:cs typeface="Helvetica Neue"/>
              </a:rPr>
              <a:t>(1987).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6A6CA566-F10B-4EBC-B5DC-7390927733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6115050"/>
            <a:ext cx="101917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>
            <a:defPPr>
              <a:defRPr sz="1125" b="1">
                <a:solidFill>
                  <a:srgbClr val="B94F3D"/>
                </a:solidFill>
                <a:latin typeface="Helvetica Neue"/>
                <a:ea typeface="Helvetica Neue"/>
                <a:cs typeface="Helvetica Neue"/>
              </a:defRPr>
            </a:defPPr>
            <a:lvl1pPr>
              <a:defRPr sz="1125" b="1">
                <a:solidFill>
                  <a:srgbClr val="B94F3D"/>
                </a:solidFill>
                <a:latin typeface="Helvetica Neue"/>
                <a:ea typeface="Helvetica Neue"/>
                <a:cs typeface="Helvetica Neue"/>
              </a:defRPr>
            </a:lvl1pPr>
            <a:lvl2pPr>
              <a:defRPr sz="1125" b="1">
                <a:solidFill>
                  <a:srgbClr val="B94F3D"/>
                </a:solidFill>
                <a:latin typeface="Helvetica Neue"/>
                <a:ea typeface="Helvetica Neue"/>
                <a:cs typeface="Helvetica Neue"/>
              </a:defRPr>
            </a:lvl2pPr>
            <a:lvl3pPr>
              <a:defRPr sz="1125" b="1">
                <a:solidFill>
                  <a:srgbClr val="B94F3D"/>
                </a:solidFill>
                <a:latin typeface="Helvetica Neue"/>
                <a:ea typeface="Helvetica Neue"/>
                <a:cs typeface="Helvetica Neue"/>
              </a:defRPr>
            </a:lvl3pPr>
            <a:lvl4pPr>
              <a:defRPr sz="1125" b="1">
                <a:solidFill>
                  <a:srgbClr val="B94F3D"/>
                </a:solidFill>
                <a:latin typeface="Helvetica Neue"/>
                <a:ea typeface="Helvetica Neue"/>
                <a:cs typeface="Helvetica Neue"/>
              </a:defRPr>
            </a:lvl4pPr>
            <a:lvl5pPr>
              <a:defRPr sz="1125" b="1">
                <a:solidFill>
                  <a:srgbClr val="B94F3D"/>
                </a:solidFill>
                <a:latin typeface="Helvetica Neue"/>
                <a:ea typeface="Helvetica Neue"/>
                <a:cs typeface="Helvetica Neue"/>
              </a:defRPr>
            </a:lvl5pPr>
            <a:lvl6pPr>
              <a:defRPr sz="1125" b="1">
                <a:solidFill>
                  <a:srgbClr val="B94F3D"/>
                </a:solidFill>
                <a:latin typeface="Helvetica Neue"/>
                <a:ea typeface="Helvetica Neue"/>
                <a:cs typeface="Helvetica Neue"/>
              </a:defRPr>
            </a:lvl6pPr>
            <a:lvl7pPr>
              <a:defRPr sz="1125" b="1">
                <a:solidFill>
                  <a:srgbClr val="B94F3D"/>
                </a:solidFill>
                <a:latin typeface="Helvetica Neue"/>
                <a:ea typeface="Helvetica Neue"/>
                <a:cs typeface="Helvetica Neue"/>
              </a:defRPr>
            </a:lvl7pPr>
            <a:lvl8pPr>
              <a:defRPr sz="1125" b="1">
                <a:solidFill>
                  <a:srgbClr val="B94F3D"/>
                </a:solidFill>
                <a:latin typeface="Helvetica Neue"/>
                <a:ea typeface="Helvetica Neue"/>
                <a:cs typeface="Helvetica Neue"/>
              </a:defRPr>
            </a:lvl8pPr>
            <a:lvl9pPr>
              <a:defRPr sz="1125" b="1">
                <a:solidFill>
                  <a:srgbClr val="B94F3D"/>
                </a:solidFill>
                <a:latin typeface="Helvetica Neue"/>
                <a:ea typeface="Helvetica Neue"/>
                <a:cs typeface="Helvetica Neue"/>
              </a:defRPr>
            </a:lvl9pPr>
          </a:lstStyle>
          <a:p xmlns:a="http://schemas.openxmlformats.org/drawingml/2006/main">
            <a:pPr>
              <a:defRPr sz="1125" b="1">
                <a:solidFill>
                  <a:srgbClr val="B94F3D"/>
                </a:solidFill>
                <a:latin typeface="Helvetica Neue"/>
                <a:ea typeface="Helvetica Neue"/>
                <a:cs typeface="Helvetica Neue"/>
              </a:defRPr>
            </a:pPr>
            <a:r>
              <a:rPr sz="1125" b="1">
                <a:solidFill>
                  <a:srgbClr val="B94F3D"/>
                </a:solidFill>
                <a:latin typeface="Helvetica Neue"/>
                <a:ea typeface="Helvetica Neue"/>
                <a:cs typeface="Helvetica Neue"/>
              </a:rPr>
              <a:t>Use current orders, facility policy, and authorized scope when applying this information.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0CACB319-646C-40B4-B44E-A598FBDD7B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5772150"/>
            <a:ext cx="101917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97619"/>
          </a:bodyPr>
          <a:lstStyle xmlns:a="http://schemas.openxmlformats.org/drawingml/2006/main">
            <a:defPPr>
              <a:defRPr sz="1050" b="1">
                <a:solidFill>
                  <a:srgbClr val="237B82"/>
                </a:solidFill>
                <a:latin typeface="Helvetica Neue"/>
                <a:ea typeface="Helvetica Neue"/>
                <a:cs typeface="Helvetica Neue"/>
              </a:defRPr>
            </a:defPPr>
            <a:lvl1pPr>
              <a:defRPr sz="1050" b="1">
                <a:solidFill>
                  <a:srgbClr val="237B82"/>
                </a:solidFill>
                <a:latin typeface="Helvetica Neue"/>
                <a:ea typeface="Helvetica Neue"/>
                <a:cs typeface="Helvetica Neue"/>
              </a:defRPr>
            </a:lvl1pPr>
            <a:lvl2pPr>
              <a:defRPr sz="1050" b="1">
                <a:solidFill>
                  <a:srgbClr val="237B82"/>
                </a:solidFill>
                <a:latin typeface="Helvetica Neue"/>
                <a:ea typeface="Helvetica Neue"/>
                <a:cs typeface="Helvetica Neue"/>
              </a:defRPr>
            </a:lvl2pPr>
            <a:lvl3pPr>
              <a:defRPr sz="1050" b="1">
                <a:solidFill>
                  <a:srgbClr val="237B82"/>
                </a:solidFill>
                <a:latin typeface="Helvetica Neue"/>
                <a:ea typeface="Helvetica Neue"/>
                <a:cs typeface="Helvetica Neue"/>
              </a:defRPr>
            </a:lvl3pPr>
            <a:lvl4pPr>
              <a:defRPr sz="1050" b="1">
                <a:solidFill>
                  <a:srgbClr val="237B82"/>
                </a:solidFill>
                <a:latin typeface="Helvetica Neue"/>
                <a:ea typeface="Helvetica Neue"/>
                <a:cs typeface="Helvetica Neue"/>
              </a:defRPr>
            </a:lvl4pPr>
            <a:lvl5pPr>
              <a:defRPr sz="1050" b="1">
                <a:solidFill>
                  <a:srgbClr val="237B82"/>
                </a:solidFill>
                <a:latin typeface="Helvetica Neue"/>
                <a:ea typeface="Helvetica Neue"/>
                <a:cs typeface="Helvetica Neue"/>
              </a:defRPr>
            </a:lvl5pPr>
            <a:lvl6pPr>
              <a:defRPr sz="1050" b="1">
                <a:solidFill>
                  <a:srgbClr val="237B82"/>
                </a:solidFill>
                <a:latin typeface="Helvetica Neue"/>
                <a:ea typeface="Helvetica Neue"/>
                <a:cs typeface="Helvetica Neue"/>
              </a:defRPr>
            </a:lvl6pPr>
            <a:lvl7pPr>
              <a:defRPr sz="1050" b="1">
                <a:solidFill>
                  <a:srgbClr val="237B82"/>
                </a:solidFill>
                <a:latin typeface="Helvetica Neue"/>
                <a:ea typeface="Helvetica Neue"/>
                <a:cs typeface="Helvetica Neue"/>
              </a:defRPr>
            </a:lvl7pPr>
            <a:lvl8pPr>
              <a:defRPr sz="1050" b="1">
                <a:solidFill>
                  <a:srgbClr val="237B82"/>
                </a:solidFill>
                <a:latin typeface="Helvetica Neue"/>
                <a:ea typeface="Helvetica Neue"/>
                <a:cs typeface="Helvetica Neue"/>
              </a:defRPr>
            </a:lvl8pPr>
            <a:lvl9pPr>
              <a:defRPr sz="1050" b="1">
                <a:solidFill>
                  <a:srgbClr val="237B82"/>
                </a:solidFill>
                <a:latin typeface="Helvetica Neue"/>
                <a:ea typeface="Helvetica Neue"/>
                <a:cs typeface="Helvetica Neue"/>
              </a:defRPr>
            </a:lvl9pPr>
          </a:lstStyle>
          <a:p xmlns:a="http://schemas.openxmlformats.org/drawingml/2006/main">
            <a:pPr>
              <a:defRPr sz="1050" b="1">
                <a:solidFill>
                  <a:srgbClr val="237B82"/>
                </a:solidFill>
                <a:latin typeface="Helvetica Neue"/>
                <a:ea typeface="Helvetica Neue"/>
                <a:cs typeface="Helvetica Neue"/>
              </a:defRPr>
            </a:pPr>
            <a:r>
              <a:rPr sz="1050" b="1">
                <a:solidFill>
                  <a:srgbClr val="237B82"/>
                </a:solidFill>
                <a:latin typeface="Helvetica Neue"/>
                <a:ea typeface="Helvetica Neue"/>
                <a:cs typeface="Helvetica Neue"/>
              </a:rPr>
              <a:t>Manual page 61</a:t>
            </a:r>
          </a:p>
        </p:txBody>
      </p:sp>
    </p:spTree>
    <p:extLst>
      <p:ext uri="{BB962C8B-B14F-4D97-AF65-F5344CB8AC3E}">
        <p14:creationId xmlns:p14="http://schemas.microsoft.com/office/powerpoint/2010/main" val="1936345040"/>
      </p:ext>
    </p:extLst>
  </p:cSld>
</p:sld>
</file>

<file path=ppt/slides/slide72.xml><?xml version="1.0" encoding="utf-8"?>
<p:sld xmlns:p="http://schemas.openxmlformats.org/presentationml/2006/main">
  <p:cSld>
    <p:bg>
      <p:bgPr>
        <a:solidFill xmlns:a="http://schemas.openxmlformats.org/drawingml/2006/main">
          <a:srgbClr val="F7F4EE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546AB36F-2990-4952-B867-ABBDD5D823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2095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37B82"/>
          </a:solidFill>
          <a:ln xmlns:a="http://schemas.openxmlformats.org/drawingml/2006/main" w="0">
            <a:solidFill>
              <a:srgbClr val="237B82"/>
            </a:solidFill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AD537731-84C5-4847-ACFC-416F3A8112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00050"/>
            <a:ext cx="10001250" cy="819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>
            <a:defPPr>
              <a:defRPr sz="2700" b="1">
                <a:solidFill>
                  <a:srgbClr val="15324A"/>
                </a:solidFill>
                <a:latin typeface="Helvetica Neue"/>
                <a:ea typeface="Helvetica Neue"/>
                <a:cs typeface="Helvetica Neue"/>
              </a:defRPr>
            </a:defPPr>
            <a:lvl1pPr>
              <a:defRPr sz="2700" b="1">
                <a:solidFill>
                  <a:srgbClr val="15324A"/>
                </a:solidFill>
                <a:latin typeface="Helvetica Neue"/>
                <a:ea typeface="Helvetica Neue"/>
                <a:cs typeface="Helvetica Neue"/>
              </a:defRPr>
            </a:lvl1pPr>
            <a:lvl2pPr>
              <a:defRPr sz="2700" b="1">
                <a:solidFill>
                  <a:srgbClr val="15324A"/>
                </a:solidFill>
                <a:latin typeface="Helvetica Neue"/>
                <a:ea typeface="Helvetica Neue"/>
                <a:cs typeface="Helvetica Neue"/>
              </a:defRPr>
            </a:lvl2pPr>
            <a:lvl3pPr>
              <a:defRPr sz="2700" b="1">
                <a:solidFill>
                  <a:srgbClr val="15324A"/>
                </a:solidFill>
                <a:latin typeface="Helvetica Neue"/>
                <a:ea typeface="Helvetica Neue"/>
                <a:cs typeface="Helvetica Neue"/>
              </a:defRPr>
            </a:lvl3pPr>
            <a:lvl4pPr>
              <a:defRPr sz="2700" b="1">
                <a:solidFill>
                  <a:srgbClr val="15324A"/>
                </a:solidFill>
                <a:latin typeface="Helvetica Neue"/>
                <a:ea typeface="Helvetica Neue"/>
                <a:cs typeface="Helvetica Neue"/>
              </a:defRPr>
            </a:lvl4pPr>
            <a:lvl5pPr>
              <a:defRPr sz="2700" b="1">
                <a:solidFill>
                  <a:srgbClr val="15324A"/>
                </a:solidFill>
                <a:latin typeface="Helvetica Neue"/>
                <a:ea typeface="Helvetica Neue"/>
                <a:cs typeface="Helvetica Neue"/>
              </a:defRPr>
            </a:lvl5pPr>
            <a:lvl6pPr>
              <a:defRPr sz="2700" b="1">
                <a:solidFill>
                  <a:srgbClr val="15324A"/>
                </a:solidFill>
                <a:latin typeface="Helvetica Neue"/>
                <a:ea typeface="Helvetica Neue"/>
                <a:cs typeface="Helvetica Neue"/>
              </a:defRPr>
            </a:lvl6pPr>
            <a:lvl7pPr>
              <a:defRPr sz="2700" b="1">
                <a:solidFill>
                  <a:srgbClr val="15324A"/>
                </a:solidFill>
                <a:latin typeface="Helvetica Neue"/>
                <a:ea typeface="Helvetica Neue"/>
                <a:cs typeface="Helvetica Neue"/>
              </a:defRPr>
            </a:lvl7pPr>
            <a:lvl8pPr>
              <a:defRPr sz="2700" b="1">
                <a:solidFill>
                  <a:srgbClr val="15324A"/>
                </a:solidFill>
                <a:latin typeface="Helvetica Neue"/>
                <a:ea typeface="Helvetica Neue"/>
                <a:cs typeface="Helvetica Neue"/>
              </a:defRPr>
            </a:lvl8pPr>
            <a:lvl9pPr>
              <a:defRPr sz="2700" b="1">
                <a:solidFill>
                  <a:srgbClr val="15324A"/>
                </a:solidFill>
                <a:latin typeface="Helvetica Neue"/>
                <a:ea typeface="Helvetica Neue"/>
                <a:cs typeface="Helvetica Neue"/>
              </a:defRPr>
            </a:lvl9pPr>
          </a:lstStyle>
          <a:p xmlns:a="http://schemas.openxmlformats.org/drawingml/2006/main">
            <a:pPr>
              <a:defRPr sz="2700" b="1">
                <a:solidFill>
                  <a:srgbClr val="15324A"/>
                </a:solidFill>
                <a:latin typeface="Helvetica Neue"/>
                <a:ea typeface="Helvetica Neue"/>
                <a:cs typeface="Helvetica Neue"/>
              </a:defRPr>
            </a:pPr>
            <a:r>
              <a:rPr sz="2700" b="1">
                <a:solidFill>
                  <a:srgbClr val="15324A"/>
                </a:solidFill>
                <a:latin typeface="Helvetica Neue"/>
                <a:ea typeface="Helvetica Neue"/>
                <a:cs typeface="Helvetica Neue"/>
              </a:rPr>
              <a:t>Bibliography — continued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3299C390-F916-4672-A26E-2A16760F70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1257300"/>
            <a:ext cx="88582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91111"/>
          </a:bodyPr>
          <a:lstStyle xmlns:a="http://schemas.openxmlformats.org/drawingml/2006/main">
            <a:defPPr>
              <a:defRPr sz="1125" b="1">
                <a:solidFill>
                  <a:srgbClr val="237B82"/>
                </a:solidFill>
                <a:latin typeface="Helvetica Neue"/>
                <a:ea typeface="Helvetica Neue"/>
                <a:cs typeface="Helvetica Neue"/>
              </a:defRPr>
            </a:defPPr>
            <a:lvl1pPr>
              <a:defRPr sz="1125" b="1">
                <a:solidFill>
                  <a:srgbClr val="237B82"/>
                </a:solidFill>
                <a:latin typeface="Helvetica Neue"/>
                <a:ea typeface="Helvetica Neue"/>
                <a:cs typeface="Helvetica Neue"/>
              </a:defRPr>
            </a:lvl1pPr>
            <a:lvl2pPr>
              <a:defRPr sz="1125" b="1">
                <a:solidFill>
                  <a:srgbClr val="237B82"/>
                </a:solidFill>
                <a:latin typeface="Helvetica Neue"/>
                <a:ea typeface="Helvetica Neue"/>
                <a:cs typeface="Helvetica Neue"/>
              </a:defRPr>
            </a:lvl2pPr>
            <a:lvl3pPr>
              <a:defRPr sz="1125" b="1">
                <a:solidFill>
                  <a:srgbClr val="237B82"/>
                </a:solidFill>
                <a:latin typeface="Helvetica Neue"/>
                <a:ea typeface="Helvetica Neue"/>
                <a:cs typeface="Helvetica Neue"/>
              </a:defRPr>
            </a:lvl3pPr>
            <a:lvl4pPr>
              <a:defRPr sz="1125" b="1">
                <a:solidFill>
                  <a:srgbClr val="237B82"/>
                </a:solidFill>
                <a:latin typeface="Helvetica Neue"/>
                <a:ea typeface="Helvetica Neue"/>
                <a:cs typeface="Helvetica Neue"/>
              </a:defRPr>
            </a:lvl4pPr>
            <a:lvl5pPr>
              <a:defRPr sz="1125" b="1">
                <a:solidFill>
                  <a:srgbClr val="237B82"/>
                </a:solidFill>
                <a:latin typeface="Helvetica Neue"/>
                <a:ea typeface="Helvetica Neue"/>
                <a:cs typeface="Helvetica Neue"/>
              </a:defRPr>
            </a:lvl5pPr>
            <a:lvl6pPr>
              <a:defRPr sz="1125" b="1">
                <a:solidFill>
                  <a:srgbClr val="237B82"/>
                </a:solidFill>
                <a:latin typeface="Helvetica Neue"/>
                <a:ea typeface="Helvetica Neue"/>
                <a:cs typeface="Helvetica Neue"/>
              </a:defRPr>
            </a:lvl6pPr>
            <a:lvl7pPr>
              <a:defRPr sz="1125" b="1">
                <a:solidFill>
                  <a:srgbClr val="237B82"/>
                </a:solidFill>
                <a:latin typeface="Helvetica Neue"/>
                <a:ea typeface="Helvetica Neue"/>
                <a:cs typeface="Helvetica Neue"/>
              </a:defRPr>
            </a:lvl7pPr>
            <a:lvl8pPr>
              <a:defRPr sz="1125" b="1">
                <a:solidFill>
                  <a:srgbClr val="237B82"/>
                </a:solidFill>
                <a:latin typeface="Helvetica Neue"/>
                <a:ea typeface="Helvetica Neue"/>
                <a:cs typeface="Helvetica Neue"/>
              </a:defRPr>
            </a:lvl8pPr>
            <a:lvl9pPr>
              <a:defRPr sz="1125" b="1">
                <a:solidFill>
                  <a:srgbClr val="237B82"/>
                </a:solidFill>
                <a:latin typeface="Helvetica Neue"/>
                <a:ea typeface="Helvetica Neue"/>
                <a:cs typeface="Helvetica Neue"/>
              </a:defRPr>
            </a:lvl9pPr>
          </a:lstStyle>
          <a:p xmlns:a="http://schemas.openxmlformats.org/drawingml/2006/main">
            <a:pPr>
              <a:defRPr sz="1125" b="1">
                <a:solidFill>
                  <a:srgbClr val="237B82"/>
                </a:solidFill>
                <a:latin typeface="Helvetica Neue"/>
                <a:ea typeface="Helvetica Neue"/>
                <a:cs typeface="Helvetica Neue"/>
              </a:defRPr>
            </a:pPr>
            <a:r>
              <a:rPr sz="1125" b="1">
                <a:solidFill>
                  <a:srgbClr val="237B82"/>
                </a:solidFill>
                <a:latin typeface="Helvetica Neue"/>
                <a:ea typeface="Helvetica Neue"/>
                <a:cs typeface="Helvetica Neue"/>
              </a:rPr>
              <a:t>MODULE 4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6225E814-931E-4CBA-8C37-739CFE5DAE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457200"/>
            <a:ext cx="5334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>
            <a:defPPr>
              <a:defRPr sz="1200" b="1">
                <a:solidFill>
                  <a:srgbClr val="237B82"/>
                </a:solidFill>
                <a:latin typeface="Helvetica Neue"/>
                <a:ea typeface="Helvetica Neue"/>
                <a:cs typeface="Helvetica Neue"/>
              </a:defRPr>
            </a:defPPr>
            <a:lvl1pPr>
              <a:defRPr sz="1200" b="1">
                <a:solidFill>
                  <a:srgbClr val="237B82"/>
                </a:solidFill>
                <a:latin typeface="Helvetica Neue"/>
                <a:ea typeface="Helvetica Neue"/>
                <a:cs typeface="Helvetica Neue"/>
              </a:defRPr>
            </a:lvl1pPr>
            <a:lvl2pPr>
              <a:defRPr sz="1200" b="1">
                <a:solidFill>
                  <a:srgbClr val="237B82"/>
                </a:solidFill>
                <a:latin typeface="Helvetica Neue"/>
                <a:ea typeface="Helvetica Neue"/>
                <a:cs typeface="Helvetica Neue"/>
              </a:defRPr>
            </a:lvl2pPr>
            <a:lvl3pPr>
              <a:defRPr sz="1200" b="1">
                <a:solidFill>
                  <a:srgbClr val="237B82"/>
                </a:solidFill>
                <a:latin typeface="Helvetica Neue"/>
                <a:ea typeface="Helvetica Neue"/>
                <a:cs typeface="Helvetica Neue"/>
              </a:defRPr>
            </a:lvl3pPr>
            <a:lvl4pPr>
              <a:defRPr sz="1200" b="1">
                <a:solidFill>
                  <a:srgbClr val="237B82"/>
                </a:solidFill>
                <a:latin typeface="Helvetica Neue"/>
                <a:ea typeface="Helvetica Neue"/>
                <a:cs typeface="Helvetica Neue"/>
              </a:defRPr>
            </a:lvl4pPr>
            <a:lvl5pPr>
              <a:defRPr sz="1200" b="1">
                <a:solidFill>
                  <a:srgbClr val="237B82"/>
                </a:solidFill>
                <a:latin typeface="Helvetica Neue"/>
                <a:ea typeface="Helvetica Neue"/>
                <a:cs typeface="Helvetica Neue"/>
              </a:defRPr>
            </a:lvl5pPr>
            <a:lvl6pPr>
              <a:defRPr sz="1200" b="1">
                <a:solidFill>
                  <a:srgbClr val="237B82"/>
                </a:solidFill>
                <a:latin typeface="Helvetica Neue"/>
                <a:ea typeface="Helvetica Neue"/>
                <a:cs typeface="Helvetica Neue"/>
              </a:defRPr>
            </a:lvl6pPr>
            <a:lvl7pPr>
              <a:defRPr sz="1200" b="1">
                <a:solidFill>
                  <a:srgbClr val="237B82"/>
                </a:solidFill>
                <a:latin typeface="Helvetica Neue"/>
                <a:ea typeface="Helvetica Neue"/>
                <a:cs typeface="Helvetica Neue"/>
              </a:defRPr>
            </a:lvl7pPr>
            <a:lvl8pPr>
              <a:defRPr sz="1200" b="1">
                <a:solidFill>
                  <a:srgbClr val="237B82"/>
                </a:solidFill>
                <a:latin typeface="Helvetica Neue"/>
                <a:ea typeface="Helvetica Neue"/>
                <a:cs typeface="Helvetica Neue"/>
              </a:defRPr>
            </a:lvl8pPr>
            <a:lvl9pPr>
              <a:defRPr sz="1200" b="1">
                <a:solidFill>
                  <a:srgbClr val="237B82"/>
                </a:solidFill>
                <a:latin typeface="Helvetica Neue"/>
                <a:ea typeface="Helvetica Neue"/>
                <a:cs typeface="Helvetica Neue"/>
              </a:defRPr>
            </a:lvl9pPr>
          </a:lstStyle>
          <a:p xmlns:a="http://schemas.openxmlformats.org/drawingml/2006/main">
            <a:pPr>
              <a:defRPr sz="1200" b="1">
                <a:solidFill>
                  <a:srgbClr val="237B82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00" b="1">
                <a:solidFill>
                  <a:srgbClr val="237B82"/>
                </a:solidFill>
                <a:latin typeface="Helvetica Neue"/>
                <a:ea typeface="Helvetica Neue"/>
                <a:cs typeface="Helvetica Neue"/>
              </a:rPr>
              <a:t>72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61CA0F0A-80C6-46C5-82D3-B9B709EDAB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1762125"/>
            <a:ext cx="10287000" cy="409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>
            <a:defPPr>
              <a:defRPr sz="1875">
                <a:solidFill>
                  <a:srgbClr val="13212D"/>
                </a:solidFill>
                <a:latin typeface="Helvetica Neue"/>
                <a:ea typeface="Helvetica Neue"/>
                <a:cs typeface="Helvetica Neue"/>
              </a:defRPr>
            </a:defPPr>
            <a:lvl1pPr>
              <a:defRPr sz="1875">
                <a:solidFill>
                  <a:srgbClr val="13212D"/>
                </a:solidFill>
                <a:latin typeface="Helvetica Neue"/>
                <a:ea typeface="Helvetica Neue"/>
                <a:cs typeface="Helvetica Neue"/>
              </a:defRPr>
            </a:lvl1pPr>
            <a:lvl2pPr>
              <a:defRPr sz="1875">
                <a:solidFill>
                  <a:srgbClr val="13212D"/>
                </a:solidFill>
                <a:latin typeface="Helvetica Neue"/>
                <a:ea typeface="Helvetica Neue"/>
                <a:cs typeface="Helvetica Neue"/>
              </a:defRPr>
            </a:lvl2pPr>
            <a:lvl3pPr>
              <a:defRPr sz="1875">
                <a:solidFill>
                  <a:srgbClr val="13212D"/>
                </a:solidFill>
                <a:latin typeface="Helvetica Neue"/>
                <a:ea typeface="Helvetica Neue"/>
                <a:cs typeface="Helvetica Neue"/>
              </a:defRPr>
            </a:lvl3pPr>
            <a:lvl4pPr>
              <a:defRPr sz="1875">
                <a:solidFill>
                  <a:srgbClr val="13212D"/>
                </a:solidFill>
                <a:latin typeface="Helvetica Neue"/>
                <a:ea typeface="Helvetica Neue"/>
                <a:cs typeface="Helvetica Neue"/>
              </a:defRPr>
            </a:lvl4pPr>
            <a:lvl5pPr>
              <a:defRPr sz="1875">
                <a:solidFill>
                  <a:srgbClr val="13212D"/>
                </a:solidFill>
                <a:latin typeface="Helvetica Neue"/>
                <a:ea typeface="Helvetica Neue"/>
                <a:cs typeface="Helvetica Neue"/>
              </a:defRPr>
            </a:lvl5pPr>
            <a:lvl6pPr>
              <a:defRPr sz="1875">
                <a:solidFill>
                  <a:srgbClr val="13212D"/>
                </a:solidFill>
                <a:latin typeface="Helvetica Neue"/>
                <a:ea typeface="Helvetica Neue"/>
                <a:cs typeface="Helvetica Neue"/>
              </a:defRPr>
            </a:lvl6pPr>
            <a:lvl7pPr>
              <a:defRPr sz="1875">
                <a:solidFill>
                  <a:srgbClr val="13212D"/>
                </a:solidFill>
                <a:latin typeface="Helvetica Neue"/>
                <a:ea typeface="Helvetica Neue"/>
                <a:cs typeface="Helvetica Neue"/>
              </a:defRPr>
            </a:lvl7pPr>
            <a:lvl8pPr>
              <a:defRPr sz="1875">
                <a:solidFill>
                  <a:srgbClr val="13212D"/>
                </a:solidFill>
                <a:latin typeface="Helvetica Neue"/>
                <a:ea typeface="Helvetica Neue"/>
                <a:cs typeface="Helvetica Neue"/>
              </a:defRPr>
            </a:lvl8pPr>
            <a:lvl9pPr>
              <a:defRPr sz="1875">
                <a:solidFill>
                  <a:srgbClr val="13212D"/>
                </a:solidFill>
                <a:latin typeface="Helvetica Neue"/>
                <a:ea typeface="Helvetica Neue"/>
                <a:cs typeface="Helvetica Neue"/>
              </a:defRPr>
            </a:lvl9pPr>
          </a:lstStyle>
          <a:p xmlns:a="http://schemas.openxmlformats.org/drawingml/2006/main">
            <a:pPr marL="279400" indent="-127000">
              <a:spcAft>
                <a:spcPts val="1300"/>
              </a:spcAft>
              <a:buChar char="•"/>
              <a:defRPr sz="1875">
                <a:solidFill>
                  <a:srgbClr val="13212D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75">
                <a:solidFill>
                  <a:srgbClr val="13212D"/>
                </a:solidFill>
                <a:latin typeface="Helvetica Neue"/>
                <a:ea typeface="Helvetica Neue"/>
                <a:cs typeface="Helvetica Neue"/>
              </a:rPr>
              <a:t>Principles and Practices of Intravenous Therapy.</a:t>
            </a:r>
          </a:p>
          <a:p xmlns:a="http://schemas.openxmlformats.org/drawingml/2006/main">
            <a:pPr marL="279400" indent="-127000">
              <a:spcAft>
                <a:spcPts val="1300"/>
              </a:spcAft>
              <a:buChar char="•"/>
              <a:defRPr sz="1875">
                <a:solidFill>
                  <a:srgbClr val="13212D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75">
                <a:solidFill>
                  <a:srgbClr val="13212D"/>
                </a:solidFill>
                <a:latin typeface="Helvetica Neue"/>
                <a:ea typeface="Helvetica Neue"/>
                <a:cs typeface="Helvetica Neue"/>
              </a:rPr>
              <a:t>(4th Ed.) Boston: Little, Brown and Company.</a:t>
            </a:r>
          </a:p>
          <a:p xmlns:a="http://schemas.openxmlformats.org/drawingml/2006/main">
            <a:pPr marL="279400" indent="-127000">
              <a:spcAft>
                <a:spcPts val="1300"/>
              </a:spcAft>
              <a:buChar char="•"/>
              <a:defRPr sz="1875">
                <a:solidFill>
                  <a:srgbClr val="13212D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75">
                <a:solidFill>
                  <a:srgbClr val="13212D"/>
                </a:solidFill>
                <a:latin typeface="Helvetica Neue"/>
                <a:ea typeface="Helvetica Neue"/>
                <a:cs typeface="Helvetica Neue"/>
              </a:rPr>
              <a:t>191-207.</a:t>
            </a:r>
          </a:p>
          <a:p xmlns:a="http://schemas.openxmlformats.org/drawingml/2006/main">
            <a:pPr marL="279400" indent="-127000">
              <a:spcAft>
                <a:spcPts val="1300"/>
              </a:spcAft>
              <a:buChar char="•"/>
              <a:defRPr sz="1875">
                <a:solidFill>
                  <a:srgbClr val="13212D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75">
                <a:solidFill>
                  <a:srgbClr val="13212D"/>
                </a:solidFill>
                <a:latin typeface="Helvetica Neue"/>
                <a:ea typeface="Helvetica Neue"/>
                <a:cs typeface="Helvetica Neue"/>
              </a:rPr>
              <a:t>Rutman, R.C.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73FF1591-C7BB-44E5-8366-A24B1C78A2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6115050"/>
            <a:ext cx="101917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>
            <a:defPPr>
              <a:defRPr sz="1125" b="1">
                <a:solidFill>
                  <a:srgbClr val="B94F3D"/>
                </a:solidFill>
                <a:latin typeface="Helvetica Neue"/>
                <a:ea typeface="Helvetica Neue"/>
                <a:cs typeface="Helvetica Neue"/>
              </a:defRPr>
            </a:defPPr>
            <a:lvl1pPr>
              <a:defRPr sz="1125" b="1">
                <a:solidFill>
                  <a:srgbClr val="B94F3D"/>
                </a:solidFill>
                <a:latin typeface="Helvetica Neue"/>
                <a:ea typeface="Helvetica Neue"/>
                <a:cs typeface="Helvetica Neue"/>
              </a:defRPr>
            </a:lvl1pPr>
            <a:lvl2pPr>
              <a:defRPr sz="1125" b="1">
                <a:solidFill>
                  <a:srgbClr val="B94F3D"/>
                </a:solidFill>
                <a:latin typeface="Helvetica Neue"/>
                <a:ea typeface="Helvetica Neue"/>
                <a:cs typeface="Helvetica Neue"/>
              </a:defRPr>
            </a:lvl2pPr>
            <a:lvl3pPr>
              <a:defRPr sz="1125" b="1">
                <a:solidFill>
                  <a:srgbClr val="B94F3D"/>
                </a:solidFill>
                <a:latin typeface="Helvetica Neue"/>
                <a:ea typeface="Helvetica Neue"/>
                <a:cs typeface="Helvetica Neue"/>
              </a:defRPr>
            </a:lvl3pPr>
            <a:lvl4pPr>
              <a:defRPr sz="1125" b="1">
                <a:solidFill>
                  <a:srgbClr val="B94F3D"/>
                </a:solidFill>
                <a:latin typeface="Helvetica Neue"/>
                <a:ea typeface="Helvetica Neue"/>
                <a:cs typeface="Helvetica Neue"/>
              </a:defRPr>
            </a:lvl4pPr>
            <a:lvl5pPr>
              <a:defRPr sz="1125" b="1">
                <a:solidFill>
                  <a:srgbClr val="B94F3D"/>
                </a:solidFill>
                <a:latin typeface="Helvetica Neue"/>
                <a:ea typeface="Helvetica Neue"/>
                <a:cs typeface="Helvetica Neue"/>
              </a:defRPr>
            </a:lvl5pPr>
            <a:lvl6pPr>
              <a:defRPr sz="1125" b="1">
                <a:solidFill>
                  <a:srgbClr val="B94F3D"/>
                </a:solidFill>
                <a:latin typeface="Helvetica Neue"/>
                <a:ea typeface="Helvetica Neue"/>
                <a:cs typeface="Helvetica Neue"/>
              </a:defRPr>
            </a:lvl6pPr>
            <a:lvl7pPr>
              <a:defRPr sz="1125" b="1">
                <a:solidFill>
                  <a:srgbClr val="B94F3D"/>
                </a:solidFill>
                <a:latin typeface="Helvetica Neue"/>
                <a:ea typeface="Helvetica Neue"/>
                <a:cs typeface="Helvetica Neue"/>
              </a:defRPr>
            </a:lvl7pPr>
            <a:lvl8pPr>
              <a:defRPr sz="1125" b="1">
                <a:solidFill>
                  <a:srgbClr val="B94F3D"/>
                </a:solidFill>
                <a:latin typeface="Helvetica Neue"/>
                <a:ea typeface="Helvetica Neue"/>
                <a:cs typeface="Helvetica Neue"/>
              </a:defRPr>
            </a:lvl8pPr>
            <a:lvl9pPr>
              <a:defRPr sz="1125" b="1">
                <a:solidFill>
                  <a:srgbClr val="B94F3D"/>
                </a:solidFill>
                <a:latin typeface="Helvetica Neue"/>
                <a:ea typeface="Helvetica Neue"/>
                <a:cs typeface="Helvetica Neue"/>
              </a:defRPr>
            </a:lvl9pPr>
          </a:lstStyle>
          <a:p xmlns:a="http://schemas.openxmlformats.org/drawingml/2006/main">
            <a:pPr>
              <a:defRPr sz="1125" b="1">
                <a:solidFill>
                  <a:srgbClr val="B94F3D"/>
                </a:solidFill>
                <a:latin typeface="Helvetica Neue"/>
                <a:ea typeface="Helvetica Neue"/>
                <a:cs typeface="Helvetica Neue"/>
              </a:defRPr>
            </a:pPr>
            <a:r>
              <a:rPr sz="1125" b="1">
                <a:solidFill>
                  <a:srgbClr val="B94F3D"/>
                </a:solidFill>
                <a:latin typeface="Helvetica Neue"/>
                <a:ea typeface="Helvetica Neue"/>
                <a:cs typeface="Helvetica Neue"/>
              </a:rPr>
              <a:t>Use current orders, facility policy, and authorized scope when applying this information.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D827F4CE-D6FC-40AF-A27C-02B9E065D1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5772150"/>
            <a:ext cx="101917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97619"/>
          </a:bodyPr>
          <a:lstStyle xmlns:a="http://schemas.openxmlformats.org/drawingml/2006/main">
            <a:defPPr>
              <a:defRPr sz="1050" b="1">
                <a:solidFill>
                  <a:srgbClr val="237B82"/>
                </a:solidFill>
                <a:latin typeface="Helvetica Neue"/>
                <a:ea typeface="Helvetica Neue"/>
                <a:cs typeface="Helvetica Neue"/>
              </a:defRPr>
            </a:defPPr>
            <a:lvl1pPr>
              <a:defRPr sz="1050" b="1">
                <a:solidFill>
                  <a:srgbClr val="237B82"/>
                </a:solidFill>
                <a:latin typeface="Helvetica Neue"/>
                <a:ea typeface="Helvetica Neue"/>
                <a:cs typeface="Helvetica Neue"/>
              </a:defRPr>
            </a:lvl1pPr>
            <a:lvl2pPr>
              <a:defRPr sz="1050" b="1">
                <a:solidFill>
                  <a:srgbClr val="237B82"/>
                </a:solidFill>
                <a:latin typeface="Helvetica Neue"/>
                <a:ea typeface="Helvetica Neue"/>
                <a:cs typeface="Helvetica Neue"/>
              </a:defRPr>
            </a:lvl2pPr>
            <a:lvl3pPr>
              <a:defRPr sz="1050" b="1">
                <a:solidFill>
                  <a:srgbClr val="237B82"/>
                </a:solidFill>
                <a:latin typeface="Helvetica Neue"/>
                <a:ea typeface="Helvetica Neue"/>
                <a:cs typeface="Helvetica Neue"/>
              </a:defRPr>
            </a:lvl3pPr>
            <a:lvl4pPr>
              <a:defRPr sz="1050" b="1">
                <a:solidFill>
                  <a:srgbClr val="237B82"/>
                </a:solidFill>
                <a:latin typeface="Helvetica Neue"/>
                <a:ea typeface="Helvetica Neue"/>
                <a:cs typeface="Helvetica Neue"/>
              </a:defRPr>
            </a:lvl4pPr>
            <a:lvl5pPr>
              <a:defRPr sz="1050" b="1">
                <a:solidFill>
                  <a:srgbClr val="237B82"/>
                </a:solidFill>
                <a:latin typeface="Helvetica Neue"/>
                <a:ea typeface="Helvetica Neue"/>
                <a:cs typeface="Helvetica Neue"/>
              </a:defRPr>
            </a:lvl5pPr>
            <a:lvl6pPr>
              <a:defRPr sz="1050" b="1">
                <a:solidFill>
                  <a:srgbClr val="237B82"/>
                </a:solidFill>
                <a:latin typeface="Helvetica Neue"/>
                <a:ea typeface="Helvetica Neue"/>
                <a:cs typeface="Helvetica Neue"/>
              </a:defRPr>
            </a:lvl6pPr>
            <a:lvl7pPr>
              <a:defRPr sz="1050" b="1">
                <a:solidFill>
                  <a:srgbClr val="237B82"/>
                </a:solidFill>
                <a:latin typeface="Helvetica Neue"/>
                <a:ea typeface="Helvetica Neue"/>
                <a:cs typeface="Helvetica Neue"/>
              </a:defRPr>
            </a:lvl7pPr>
            <a:lvl8pPr>
              <a:defRPr sz="1050" b="1">
                <a:solidFill>
                  <a:srgbClr val="237B82"/>
                </a:solidFill>
                <a:latin typeface="Helvetica Neue"/>
                <a:ea typeface="Helvetica Neue"/>
                <a:cs typeface="Helvetica Neue"/>
              </a:defRPr>
            </a:lvl8pPr>
            <a:lvl9pPr>
              <a:defRPr sz="1050" b="1">
                <a:solidFill>
                  <a:srgbClr val="237B82"/>
                </a:solidFill>
                <a:latin typeface="Helvetica Neue"/>
                <a:ea typeface="Helvetica Neue"/>
                <a:cs typeface="Helvetica Neue"/>
              </a:defRPr>
            </a:lvl9pPr>
          </a:lstStyle>
          <a:p xmlns:a="http://schemas.openxmlformats.org/drawingml/2006/main">
            <a:pPr>
              <a:defRPr sz="1050" b="1">
                <a:solidFill>
                  <a:srgbClr val="237B82"/>
                </a:solidFill>
                <a:latin typeface="Helvetica Neue"/>
                <a:ea typeface="Helvetica Neue"/>
                <a:cs typeface="Helvetica Neue"/>
              </a:defRPr>
            </a:pPr>
            <a:r>
              <a:rPr sz="1050" b="1">
                <a:solidFill>
                  <a:srgbClr val="237B82"/>
                </a:solidFill>
                <a:latin typeface="Helvetica Neue"/>
                <a:ea typeface="Helvetica Neue"/>
                <a:cs typeface="Helvetica Neue"/>
              </a:rPr>
              <a:t>Manual page 61</a:t>
            </a:r>
          </a:p>
        </p:txBody>
      </p:sp>
    </p:spTree>
    <p:extLst>
      <p:ext uri="{BB962C8B-B14F-4D97-AF65-F5344CB8AC3E}">
        <p14:creationId xmlns:p14="http://schemas.microsoft.com/office/powerpoint/2010/main" val="129949517"/>
      </p:ext>
    </p:extLst>
  </p:cSld>
</p:sld>
</file>

<file path=ppt/slides/slide73.xml><?xml version="1.0" encoding="utf-8"?>
<p:sld xmlns:p="http://schemas.openxmlformats.org/presentationml/2006/main">
  <p:cSld>
    <p:bg>
      <p:bgPr>
        <a:solidFill xmlns:a="http://schemas.openxmlformats.org/drawingml/2006/main">
          <a:srgbClr val="F7F4EE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D1E0C712-6D00-4BFF-9FCE-43FA4090E3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2095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37B82"/>
          </a:solidFill>
          <a:ln xmlns:a="http://schemas.openxmlformats.org/drawingml/2006/main" w="0">
            <a:solidFill>
              <a:srgbClr val="237B82"/>
            </a:solidFill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2B532DA4-2EAB-41BB-8372-CC1F6CEEE1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00050"/>
            <a:ext cx="10001250" cy="819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>
            <a:defPPr>
              <a:defRPr sz="2700" b="1">
                <a:solidFill>
                  <a:srgbClr val="15324A"/>
                </a:solidFill>
                <a:latin typeface="Helvetica Neue"/>
                <a:ea typeface="Helvetica Neue"/>
                <a:cs typeface="Helvetica Neue"/>
              </a:defRPr>
            </a:defPPr>
            <a:lvl1pPr>
              <a:defRPr sz="2700" b="1">
                <a:solidFill>
                  <a:srgbClr val="15324A"/>
                </a:solidFill>
                <a:latin typeface="Helvetica Neue"/>
                <a:ea typeface="Helvetica Neue"/>
                <a:cs typeface="Helvetica Neue"/>
              </a:defRPr>
            </a:lvl1pPr>
            <a:lvl2pPr>
              <a:defRPr sz="2700" b="1">
                <a:solidFill>
                  <a:srgbClr val="15324A"/>
                </a:solidFill>
                <a:latin typeface="Helvetica Neue"/>
                <a:ea typeface="Helvetica Neue"/>
                <a:cs typeface="Helvetica Neue"/>
              </a:defRPr>
            </a:lvl2pPr>
            <a:lvl3pPr>
              <a:defRPr sz="2700" b="1">
                <a:solidFill>
                  <a:srgbClr val="15324A"/>
                </a:solidFill>
                <a:latin typeface="Helvetica Neue"/>
                <a:ea typeface="Helvetica Neue"/>
                <a:cs typeface="Helvetica Neue"/>
              </a:defRPr>
            </a:lvl3pPr>
            <a:lvl4pPr>
              <a:defRPr sz="2700" b="1">
                <a:solidFill>
                  <a:srgbClr val="15324A"/>
                </a:solidFill>
                <a:latin typeface="Helvetica Neue"/>
                <a:ea typeface="Helvetica Neue"/>
                <a:cs typeface="Helvetica Neue"/>
              </a:defRPr>
            </a:lvl4pPr>
            <a:lvl5pPr>
              <a:defRPr sz="2700" b="1">
                <a:solidFill>
                  <a:srgbClr val="15324A"/>
                </a:solidFill>
                <a:latin typeface="Helvetica Neue"/>
                <a:ea typeface="Helvetica Neue"/>
                <a:cs typeface="Helvetica Neue"/>
              </a:defRPr>
            </a:lvl5pPr>
            <a:lvl6pPr>
              <a:defRPr sz="2700" b="1">
                <a:solidFill>
                  <a:srgbClr val="15324A"/>
                </a:solidFill>
                <a:latin typeface="Helvetica Neue"/>
                <a:ea typeface="Helvetica Neue"/>
                <a:cs typeface="Helvetica Neue"/>
              </a:defRPr>
            </a:lvl6pPr>
            <a:lvl7pPr>
              <a:defRPr sz="2700" b="1">
                <a:solidFill>
                  <a:srgbClr val="15324A"/>
                </a:solidFill>
                <a:latin typeface="Helvetica Neue"/>
                <a:ea typeface="Helvetica Neue"/>
                <a:cs typeface="Helvetica Neue"/>
              </a:defRPr>
            </a:lvl7pPr>
            <a:lvl8pPr>
              <a:defRPr sz="2700" b="1">
                <a:solidFill>
                  <a:srgbClr val="15324A"/>
                </a:solidFill>
                <a:latin typeface="Helvetica Neue"/>
                <a:ea typeface="Helvetica Neue"/>
                <a:cs typeface="Helvetica Neue"/>
              </a:defRPr>
            </a:lvl8pPr>
            <a:lvl9pPr>
              <a:defRPr sz="2700" b="1">
                <a:solidFill>
                  <a:srgbClr val="15324A"/>
                </a:solidFill>
                <a:latin typeface="Helvetica Neue"/>
                <a:ea typeface="Helvetica Neue"/>
                <a:cs typeface="Helvetica Neue"/>
              </a:defRPr>
            </a:lvl9pPr>
          </a:lstStyle>
          <a:p xmlns:a="http://schemas.openxmlformats.org/drawingml/2006/main">
            <a:pPr>
              <a:defRPr sz="2700" b="1">
                <a:solidFill>
                  <a:srgbClr val="15324A"/>
                </a:solidFill>
                <a:latin typeface="Helvetica Neue"/>
                <a:ea typeface="Helvetica Neue"/>
                <a:cs typeface="Helvetica Neue"/>
              </a:defRPr>
            </a:pPr>
            <a:r>
              <a:rPr sz="2700" b="1">
                <a:solidFill>
                  <a:srgbClr val="15324A"/>
                </a:solidFill>
                <a:latin typeface="Helvetica Neue"/>
                <a:ea typeface="Helvetica Neue"/>
                <a:cs typeface="Helvetica Neue"/>
              </a:rPr>
              <a:t>Bibliography — continued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86C8CC09-68D4-4C8F-AF6C-22C6D9F36A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1257300"/>
            <a:ext cx="88582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91111"/>
          </a:bodyPr>
          <a:lstStyle xmlns:a="http://schemas.openxmlformats.org/drawingml/2006/main">
            <a:defPPr>
              <a:defRPr sz="1125" b="1">
                <a:solidFill>
                  <a:srgbClr val="237B82"/>
                </a:solidFill>
                <a:latin typeface="Helvetica Neue"/>
                <a:ea typeface="Helvetica Neue"/>
                <a:cs typeface="Helvetica Neue"/>
              </a:defRPr>
            </a:defPPr>
            <a:lvl1pPr>
              <a:defRPr sz="1125" b="1">
                <a:solidFill>
                  <a:srgbClr val="237B82"/>
                </a:solidFill>
                <a:latin typeface="Helvetica Neue"/>
                <a:ea typeface="Helvetica Neue"/>
                <a:cs typeface="Helvetica Neue"/>
              </a:defRPr>
            </a:lvl1pPr>
            <a:lvl2pPr>
              <a:defRPr sz="1125" b="1">
                <a:solidFill>
                  <a:srgbClr val="237B82"/>
                </a:solidFill>
                <a:latin typeface="Helvetica Neue"/>
                <a:ea typeface="Helvetica Neue"/>
                <a:cs typeface="Helvetica Neue"/>
              </a:defRPr>
            </a:lvl2pPr>
            <a:lvl3pPr>
              <a:defRPr sz="1125" b="1">
                <a:solidFill>
                  <a:srgbClr val="237B82"/>
                </a:solidFill>
                <a:latin typeface="Helvetica Neue"/>
                <a:ea typeface="Helvetica Neue"/>
                <a:cs typeface="Helvetica Neue"/>
              </a:defRPr>
            </a:lvl3pPr>
            <a:lvl4pPr>
              <a:defRPr sz="1125" b="1">
                <a:solidFill>
                  <a:srgbClr val="237B82"/>
                </a:solidFill>
                <a:latin typeface="Helvetica Neue"/>
                <a:ea typeface="Helvetica Neue"/>
                <a:cs typeface="Helvetica Neue"/>
              </a:defRPr>
            </a:lvl4pPr>
            <a:lvl5pPr>
              <a:defRPr sz="1125" b="1">
                <a:solidFill>
                  <a:srgbClr val="237B82"/>
                </a:solidFill>
                <a:latin typeface="Helvetica Neue"/>
                <a:ea typeface="Helvetica Neue"/>
                <a:cs typeface="Helvetica Neue"/>
              </a:defRPr>
            </a:lvl5pPr>
            <a:lvl6pPr>
              <a:defRPr sz="1125" b="1">
                <a:solidFill>
                  <a:srgbClr val="237B82"/>
                </a:solidFill>
                <a:latin typeface="Helvetica Neue"/>
                <a:ea typeface="Helvetica Neue"/>
                <a:cs typeface="Helvetica Neue"/>
              </a:defRPr>
            </a:lvl6pPr>
            <a:lvl7pPr>
              <a:defRPr sz="1125" b="1">
                <a:solidFill>
                  <a:srgbClr val="237B82"/>
                </a:solidFill>
                <a:latin typeface="Helvetica Neue"/>
                <a:ea typeface="Helvetica Neue"/>
                <a:cs typeface="Helvetica Neue"/>
              </a:defRPr>
            </a:lvl7pPr>
            <a:lvl8pPr>
              <a:defRPr sz="1125" b="1">
                <a:solidFill>
                  <a:srgbClr val="237B82"/>
                </a:solidFill>
                <a:latin typeface="Helvetica Neue"/>
                <a:ea typeface="Helvetica Neue"/>
                <a:cs typeface="Helvetica Neue"/>
              </a:defRPr>
            </a:lvl8pPr>
            <a:lvl9pPr>
              <a:defRPr sz="1125" b="1">
                <a:solidFill>
                  <a:srgbClr val="237B82"/>
                </a:solidFill>
                <a:latin typeface="Helvetica Neue"/>
                <a:ea typeface="Helvetica Neue"/>
                <a:cs typeface="Helvetica Neue"/>
              </a:defRPr>
            </a:lvl9pPr>
          </a:lstStyle>
          <a:p xmlns:a="http://schemas.openxmlformats.org/drawingml/2006/main">
            <a:pPr>
              <a:defRPr sz="1125" b="1">
                <a:solidFill>
                  <a:srgbClr val="237B82"/>
                </a:solidFill>
                <a:latin typeface="Helvetica Neue"/>
                <a:ea typeface="Helvetica Neue"/>
                <a:cs typeface="Helvetica Neue"/>
              </a:defRPr>
            </a:pPr>
            <a:r>
              <a:rPr sz="1125" b="1">
                <a:solidFill>
                  <a:srgbClr val="237B82"/>
                </a:solidFill>
                <a:latin typeface="Helvetica Neue"/>
                <a:ea typeface="Helvetica Neue"/>
                <a:cs typeface="Helvetica Neue"/>
              </a:rPr>
              <a:t>MODULE 4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FBD268F1-AF63-4C85-A13B-641C97B39E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457200"/>
            <a:ext cx="5334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>
            <a:defPPr>
              <a:defRPr sz="1200" b="1">
                <a:solidFill>
                  <a:srgbClr val="237B82"/>
                </a:solidFill>
                <a:latin typeface="Helvetica Neue"/>
                <a:ea typeface="Helvetica Neue"/>
                <a:cs typeface="Helvetica Neue"/>
              </a:defRPr>
            </a:defPPr>
            <a:lvl1pPr>
              <a:defRPr sz="1200" b="1">
                <a:solidFill>
                  <a:srgbClr val="237B82"/>
                </a:solidFill>
                <a:latin typeface="Helvetica Neue"/>
                <a:ea typeface="Helvetica Neue"/>
                <a:cs typeface="Helvetica Neue"/>
              </a:defRPr>
            </a:lvl1pPr>
            <a:lvl2pPr>
              <a:defRPr sz="1200" b="1">
                <a:solidFill>
                  <a:srgbClr val="237B82"/>
                </a:solidFill>
                <a:latin typeface="Helvetica Neue"/>
                <a:ea typeface="Helvetica Neue"/>
                <a:cs typeface="Helvetica Neue"/>
              </a:defRPr>
            </a:lvl2pPr>
            <a:lvl3pPr>
              <a:defRPr sz="1200" b="1">
                <a:solidFill>
                  <a:srgbClr val="237B82"/>
                </a:solidFill>
                <a:latin typeface="Helvetica Neue"/>
                <a:ea typeface="Helvetica Neue"/>
                <a:cs typeface="Helvetica Neue"/>
              </a:defRPr>
            </a:lvl3pPr>
            <a:lvl4pPr>
              <a:defRPr sz="1200" b="1">
                <a:solidFill>
                  <a:srgbClr val="237B82"/>
                </a:solidFill>
                <a:latin typeface="Helvetica Neue"/>
                <a:ea typeface="Helvetica Neue"/>
                <a:cs typeface="Helvetica Neue"/>
              </a:defRPr>
            </a:lvl4pPr>
            <a:lvl5pPr>
              <a:defRPr sz="1200" b="1">
                <a:solidFill>
                  <a:srgbClr val="237B82"/>
                </a:solidFill>
                <a:latin typeface="Helvetica Neue"/>
                <a:ea typeface="Helvetica Neue"/>
                <a:cs typeface="Helvetica Neue"/>
              </a:defRPr>
            </a:lvl5pPr>
            <a:lvl6pPr>
              <a:defRPr sz="1200" b="1">
                <a:solidFill>
                  <a:srgbClr val="237B82"/>
                </a:solidFill>
                <a:latin typeface="Helvetica Neue"/>
                <a:ea typeface="Helvetica Neue"/>
                <a:cs typeface="Helvetica Neue"/>
              </a:defRPr>
            </a:lvl6pPr>
            <a:lvl7pPr>
              <a:defRPr sz="1200" b="1">
                <a:solidFill>
                  <a:srgbClr val="237B82"/>
                </a:solidFill>
                <a:latin typeface="Helvetica Neue"/>
                <a:ea typeface="Helvetica Neue"/>
                <a:cs typeface="Helvetica Neue"/>
              </a:defRPr>
            </a:lvl7pPr>
            <a:lvl8pPr>
              <a:defRPr sz="1200" b="1">
                <a:solidFill>
                  <a:srgbClr val="237B82"/>
                </a:solidFill>
                <a:latin typeface="Helvetica Neue"/>
                <a:ea typeface="Helvetica Neue"/>
                <a:cs typeface="Helvetica Neue"/>
              </a:defRPr>
            </a:lvl8pPr>
            <a:lvl9pPr>
              <a:defRPr sz="1200" b="1">
                <a:solidFill>
                  <a:srgbClr val="237B82"/>
                </a:solidFill>
                <a:latin typeface="Helvetica Neue"/>
                <a:ea typeface="Helvetica Neue"/>
                <a:cs typeface="Helvetica Neue"/>
              </a:defRPr>
            </a:lvl9pPr>
          </a:lstStyle>
          <a:p xmlns:a="http://schemas.openxmlformats.org/drawingml/2006/main">
            <a:pPr>
              <a:defRPr sz="1200" b="1">
                <a:solidFill>
                  <a:srgbClr val="237B82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00" b="1">
                <a:solidFill>
                  <a:srgbClr val="237B82"/>
                </a:solidFill>
                <a:latin typeface="Helvetica Neue"/>
                <a:ea typeface="Helvetica Neue"/>
                <a:cs typeface="Helvetica Neue"/>
              </a:rPr>
              <a:t>73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646F69D1-F997-41E4-9090-688A2F2FA4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1762125"/>
            <a:ext cx="10287000" cy="409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>
            <a:defPPr>
              <a:defRPr sz="1875">
                <a:solidFill>
                  <a:srgbClr val="13212D"/>
                </a:solidFill>
                <a:latin typeface="Helvetica Neue"/>
                <a:ea typeface="Helvetica Neue"/>
                <a:cs typeface="Helvetica Neue"/>
              </a:defRPr>
            </a:defPPr>
            <a:lvl1pPr>
              <a:defRPr sz="1875">
                <a:solidFill>
                  <a:srgbClr val="13212D"/>
                </a:solidFill>
                <a:latin typeface="Helvetica Neue"/>
                <a:ea typeface="Helvetica Neue"/>
                <a:cs typeface="Helvetica Neue"/>
              </a:defRPr>
            </a:lvl1pPr>
            <a:lvl2pPr>
              <a:defRPr sz="1875">
                <a:solidFill>
                  <a:srgbClr val="13212D"/>
                </a:solidFill>
                <a:latin typeface="Helvetica Neue"/>
                <a:ea typeface="Helvetica Neue"/>
                <a:cs typeface="Helvetica Neue"/>
              </a:defRPr>
            </a:lvl2pPr>
            <a:lvl3pPr>
              <a:defRPr sz="1875">
                <a:solidFill>
                  <a:srgbClr val="13212D"/>
                </a:solidFill>
                <a:latin typeface="Helvetica Neue"/>
                <a:ea typeface="Helvetica Neue"/>
                <a:cs typeface="Helvetica Neue"/>
              </a:defRPr>
            </a:lvl3pPr>
            <a:lvl4pPr>
              <a:defRPr sz="1875">
                <a:solidFill>
                  <a:srgbClr val="13212D"/>
                </a:solidFill>
                <a:latin typeface="Helvetica Neue"/>
                <a:ea typeface="Helvetica Neue"/>
                <a:cs typeface="Helvetica Neue"/>
              </a:defRPr>
            </a:lvl4pPr>
            <a:lvl5pPr>
              <a:defRPr sz="1875">
                <a:solidFill>
                  <a:srgbClr val="13212D"/>
                </a:solidFill>
                <a:latin typeface="Helvetica Neue"/>
                <a:ea typeface="Helvetica Neue"/>
                <a:cs typeface="Helvetica Neue"/>
              </a:defRPr>
            </a:lvl5pPr>
            <a:lvl6pPr>
              <a:defRPr sz="1875">
                <a:solidFill>
                  <a:srgbClr val="13212D"/>
                </a:solidFill>
                <a:latin typeface="Helvetica Neue"/>
                <a:ea typeface="Helvetica Neue"/>
                <a:cs typeface="Helvetica Neue"/>
              </a:defRPr>
            </a:lvl6pPr>
            <a:lvl7pPr>
              <a:defRPr sz="1875">
                <a:solidFill>
                  <a:srgbClr val="13212D"/>
                </a:solidFill>
                <a:latin typeface="Helvetica Neue"/>
                <a:ea typeface="Helvetica Neue"/>
                <a:cs typeface="Helvetica Neue"/>
              </a:defRPr>
            </a:lvl7pPr>
            <a:lvl8pPr>
              <a:defRPr sz="1875">
                <a:solidFill>
                  <a:srgbClr val="13212D"/>
                </a:solidFill>
                <a:latin typeface="Helvetica Neue"/>
                <a:ea typeface="Helvetica Neue"/>
                <a:cs typeface="Helvetica Neue"/>
              </a:defRPr>
            </a:lvl8pPr>
            <a:lvl9pPr>
              <a:defRPr sz="1875">
                <a:solidFill>
                  <a:srgbClr val="13212D"/>
                </a:solidFill>
                <a:latin typeface="Helvetica Neue"/>
                <a:ea typeface="Helvetica Neue"/>
                <a:cs typeface="Helvetica Neue"/>
              </a:defRPr>
            </a:lvl9pPr>
          </a:lstStyle>
          <a:p xmlns:a="http://schemas.openxmlformats.org/drawingml/2006/main">
            <a:pPr marL="279400" indent="-127000">
              <a:spcAft>
                <a:spcPts val="1300"/>
              </a:spcAft>
              <a:buChar char="•"/>
              <a:defRPr sz="1875">
                <a:solidFill>
                  <a:srgbClr val="13212D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75">
                <a:solidFill>
                  <a:srgbClr val="13212D"/>
                </a:solidFill>
                <a:latin typeface="Helvetica Neue"/>
                <a:ea typeface="Helvetica Neue"/>
                <a:cs typeface="Helvetica Neue"/>
              </a:rPr>
              <a:t>and Miller, W.</a:t>
            </a:r>
          </a:p>
          <a:p xmlns:a="http://schemas.openxmlformats.org/drawingml/2006/main">
            <a:pPr marL="279400" indent="-127000">
              <a:spcAft>
                <a:spcPts val="1300"/>
              </a:spcAft>
              <a:buChar char="•"/>
              <a:defRPr sz="1875">
                <a:solidFill>
                  <a:srgbClr val="13212D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75">
                <a:solidFill>
                  <a:srgbClr val="13212D"/>
                </a:solidFill>
                <a:latin typeface="Helvetica Neue"/>
                <a:ea typeface="Helvetica Neue"/>
                <a:cs typeface="Helvetica Neue"/>
              </a:rPr>
              <a:t>(1985).</a:t>
            </a:r>
          </a:p>
          <a:p xmlns:a="http://schemas.openxmlformats.org/drawingml/2006/main">
            <a:pPr marL="279400" indent="-127000">
              <a:spcAft>
                <a:spcPts val="1300"/>
              </a:spcAft>
              <a:buChar char="•"/>
              <a:defRPr sz="1875">
                <a:solidFill>
                  <a:srgbClr val="13212D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75">
                <a:solidFill>
                  <a:srgbClr val="13212D"/>
                </a:solidFill>
                <a:latin typeface="Helvetica Neue"/>
                <a:ea typeface="Helvetica Neue"/>
                <a:cs typeface="Helvetica Neue"/>
              </a:rPr>
              <a:t>Transfusion Therapy Principles and Practices.</a:t>
            </a:r>
          </a:p>
          <a:p xmlns:a="http://schemas.openxmlformats.org/drawingml/2006/main">
            <a:pPr marL="279400" indent="-127000">
              <a:spcAft>
                <a:spcPts val="1300"/>
              </a:spcAft>
              <a:buChar char="•"/>
              <a:defRPr sz="1875">
                <a:solidFill>
                  <a:srgbClr val="13212D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75">
                <a:solidFill>
                  <a:srgbClr val="13212D"/>
                </a:solidFill>
                <a:latin typeface="Helvetica Neue"/>
                <a:ea typeface="Helvetica Neue"/>
                <a:cs typeface="Helvetica Neue"/>
              </a:rPr>
              <a:t>(2nd Ed.) Rockville, Maryland: An Aspen Publication.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F15CDA8B-2875-461D-A1AB-D12858D76A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6115050"/>
            <a:ext cx="101917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>
            <a:defPPr>
              <a:defRPr sz="1125" b="1">
                <a:solidFill>
                  <a:srgbClr val="B94F3D"/>
                </a:solidFill>
                <a:latin typeface="Helvetica Neue"/>
                <a:ea typeface="Helvetica Neue"/>
                <a:cs typeface="Helvetica Neue"/>
              </a:defRPr>
            </a:defPPr>
            <a:lvl1pPr>
              <a:defRPr sz="1125" b="1">
                <a:solidFill>
                  <a:srgbClr val="B94F3D"/>
                </a:solidFill>
                <a:latin typeface="Helvetica Neue"/>
                <a:ea typeface="Helvetica Neue"/>
                <a:cs typeface="Helvetica Neue"/>
              </a:defRPr>
            </a:lvl1pPr>
            <a:lvl2pPr>
              <a:defRPr sz="1125" b="1">
                <a:solidFill>
                  <a:srgbClr val="B94F3D"/>
                </a:solidFill>
                <a:latin typeface="Helvetica Neue"/>
                <a:ea typeface="Helvetica Neue"/>
                <a:cs typeface="Helvetica Neue"/>
              </a:defRPr>
            </a:lvl2pPr>
            <a:lvl3pPr>
              <a:defRPr sz="1125" b="1">
                <a:solidFill>
                  <a:srgbClr val="B94F3D"/>
                </a:solidFill>
                <a:latin typeface="Helvetica Neue"/>
                <a:ea typeface="Helvetica Neue"/>
                <a:cs typeface="Helvetica Neue"/>
              </a:defRPr>
            </a:lvl3pPr>
            <a:lvl4pPr>
              <a:defRPr sz="1125" b="1">
                <a:solidFill>
                  <a:srgbClr val="B94F3D"/>
                </a:solidFill>
                <a:latin typeface="Helvetica Neue"/>
                <a:ea typeface="Helvetica Neue"/>
                <a:cs typeface="Helvetica Neue"/>
              </a:defRPr>
            </a:lvl4pPr>
            <a:lvl5pPr>
              <a:defRPr sz="1125" b="1">
                <a:solidFill>
                  <a:srgbClr val="B94F3D"/>
                </a:solidFill>
                <a:latin typeface="Helvetica Neue"/>
                <a:ea typeface="Helvetica Neue"/>
                <a:cs typeface="Helvetica Neue"/>
              </a:defRPr>
            </a:lvl5pPr>
            <a:lvl6pPr>
              <a:defRPr sz="1125" b="1">
                <a:solidFill>
                  <a:srgbClr val="B94F3D"/>
                </a:solidFill>
                <a:latin typeface="Helvetica Neue"/>
                <a:ea typeface="Helvetica Neue"/>
                <a:cs typeface="Helvetica Neue"/>
              </a:defRPr>
            </a:lvl6pPr>
            <a:lvl7pPr>
              <a:defRPr sz="1125" b="1">
                <a:solidFill>
                  <a:srgbClr val="B94F3D"/>
                </a:solidFill>
                <a:latin typeface="Helvetica Neue"/>
                <a:ea typeface="Helvetica Neue"/>
                <a:cs typeface="Helvetica Neue"/>
              </a:defRPr>
            </a:lvl7pPr>
            <a:lvl8pPr>
              <a:defRPr sz="1125" b="1">
                <a:solidFill>
                  <a:srgbClr val="B94F3D"/>
                </a:solidFill>
                <a:latin typeface="Helvetica Neue"/>
                <a:ea typeface="Helvetica Neue"/>
                <a:cs typeface="Helvetica Neue"/>
              </a:defRPr>
            </a:lvl8pPr>
            <a:lvl9pPr>
              <a:defRPr sz="1125" b="1">
                <a:solidFill>
                  <a:srgbClr val="B94F3D"/>
                </a:solidFill>
                <a:latin typeface="Helvetica Neue"/>
                <a:ea typeface="Helvetica Neue"/>
                <a:cs typeface="Helvetica Neue"/>
              </a:defRPr>
            </a:lvl9pPr>
          </a:lstStyle>
          <a:p xmlns:a="http://schemas.openxmlformats.org/drawingml/2006/main">
            <a:pPr>
              <a:defRPr sz="1125" b="1">
                <a:solidFill>
                  <a:srgbClr val="B94F3D"/>
                </a:solidFill>
                <a:latin typeface="Helvetica Neue"/>
                <a:ea typeface="Helvetica Neue"/>
                <a:cs typeface="Helvetica Neue"/>
              </a:defRPr>
            </a:pPr>
            <a:r>
              <a:rPr sz="1125" b="1">
                <a:solidFill>
                  <a:srgbClr val="B94F3D"/>
                </a:solidFill>
                <a:latin typeface="Helvetica Neue"/>
                <a:ea typeface="Helvetica Neue"/>
                <a:cs typeface="Helvetica Neue"/>
              </a:rPr>
              <a:t>Use current orders, facility policy, and authorized scope when applying this information.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0B39A7AD-D3DB-476D-9893-E75396533A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5772150"/>
            <a:ext cx="101917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97619"/>
          </a:bodyPr>
          <a:lstStyle xmlns:a="http://schemas.openxmlformats.org/drawingml/2006/main">
            <a:defPPr>
              <a:defRPr sz="1050" b="1">
                <a:solidFill>
                  <a:srgbClr val="237B82"/>
                </a:solidFill>
                <a:latin typeface="Helvetica Neue"/>
                <a:ea typeface="Helvetica Neue"/>
                <a:cs typeface="Helvetica Neue"/>
              </a:defRPr>
            </a:defPPr>
            <a:lvl1pPr>
              <a:defRPr sz="1050" b="1">
                <a:solidFill>
                  <a:srgbClr val="237B82"/>
                </a:solidFill>
                <a:latin typeface="Helvetica Neue"/>
                <a:ea typeface="Helvetica Neue"/>
                <a:cs typeface="Helvetica Neue"/>
              </a:defRPr>
            </a:lvl1pPr>
            <a:lvl2pPr>
              <a:defRPr sz="1050" b="1">
                <a:solidFill>
                  <a:srgbClr val="237B82"/>
                </a:solidFill>
                <a:latin typeface="Helvetica Neue"/>
                <a:ea typeface="Helvetica Neue"/>
                <a:cs typeface="Helvetica Neue"/>
              </a:defRPr>
            </a:lvl2pPr>
            <a:lvl3pPr>
              <a:defRPr sz="1050" b="1">
                <a:solidFill>
                  <a:srgbClr val="237B82"/>
                </a:solidFill>
                <a:latin typeface="Helvetica Neue"/>
                <a:ea typeface="Helvetica Neue"/>
                <a:cs typeface="Helvetica Neue"/>
              </a:defRPr>
            </a:lvl3pPr>
            <a:lvl4pPr>
              <a:defRPr sz="1050" b="1">
                <a:solidFill>
                  <a:srgbClr val="237B82"/>
                </a:solidFill>
                <a:latin typeface="Helvetica Neue"/>
                <a:ea typeface="Helvetica Neue"/>
                <a:cs typeface="Helvetica Neue"/>
              </a:defRPr>
            </a:lvl4pPr>
            <a:lvl5pPr>
              <a:defRPr sz="1050" b="1">
                <a:solidFill>
                  <a:srgbClr val="237B82"/>
                </a:solidFill>
                <a:latin typeface="Helvetica Neue"/>
                <a:ea typeface="Helvetica Neue"/>
                <a:cs typeface="Helvetica Neue"/>
              </a:defRPr>
            </a:lvl5pPr>
            <a:lvl6pPr>
              <a:defRPr sz="1050" b="1">
                <a:solidFill>
                  <a:srgbClr val="237B82"/>
                </a:solidFill>
                <a:latin typeface="Helvetica Neue"/>
                <a:ea typeface="Helvetica Neue"/>
                <a:cs typeface="Helvetica Neue"/>
              </a:defRPr>
            </a:lvl6pPr>
            <a:lvl7pPr>
              <a:defRPr sz="1050" b="1">
                <a:solidFill>
                  <a:srgbClr val="237B82"/>
                </a:solidFill>
                <a:latin typeface="Helvetica Neue"/>
                <a:ea typeface="Helvetica Neue"/>
                <a:cs typeface="Helvetica Neue"/>
              </a:defRPr>
            </a:lvl7pPr>
            <a:lvl8pPr>
              <a:defRPr sz="1050" b="1">
                <a:solidFill>
                  <a:srgbClr val="237B82"/>
                </a:solidFill>
                <a:latin typeface="Helvetica Neue"/>
                <a:ea typeface="Helvetica Neue"/>
                <a:cs typeface="Helvetica Neue"/>
              </a:defRPr>
            </a:lvl8pPr>
            <a:lvl9pPr>
              <a:defRPr sz="1050" b="1">
                <a:solidFill>
                  <a:srgbClr val="237B82"/>
                </a:solidFill>
                <a:latin typeface="Helvetica Neue"/>
                <a:ea typeface="Helvetica Neue"/>
                <a:cs typeface="Helvetica Neue"/>
              </a:defRPr>
            </a:lvl9pPr>
          </a:lstStyle>
          <a:p xmlns:a="http://schemas.openxmlformats.org/drawingml/2006/main">
            <a:pPr>
              <a:defRPr sz="1050" b="1">
                <a:solidFill>
                  <a:srgbClr val="237B82"/>
                </a:solidFill>
                <a:latin typeface="Helvetica Neue"/>
                <a:ea typeface="Helvetica Neue"/>
                <a:cs typeface="Helvetica Neue"/>
              </a:defRPr>
            </a:pPr>
            <a:r>
              <a:rPr sz="1050" b="1">
                <a:solidFill>
                  <a:srgbClr val="237B82"/>
                </a:solidFill>
                <a:latin typeface="Helvetica Neue"/>
                <a:ea typeface="Helvetica Neue"/>
                <a:cs typeface="Helvetica Neue"/>
              </a:rPr>
              <a:t>Manual page 61</a:t>
            </a:r>
          </a:p>
        </p:txBody>
      </p:sp>
    </p:spTree>
    <p:extLst>
      <p:ext uri="{BB962C8B-B14F-4D97-AF65-F5344CB8AC3E}">
        <p14:creationId xmlns:p14="http://schemas.microsoft.com/office/powerpoint/2010/main" val="1140437613"/>
      </p:ext>
    </p:extLst>
  </p:cSld>
</p:sld>
</file>

<file path=ppt/slides/slide74.xml><?xml version="1.0" encoding="utf-8"?>
<p:sld xmlns:p="http://schemas.openxmlformats.org/presentationml/2006/main">
  <p:cSld>
    <p:bg>
      <p:bgPr>
        <a:solidFill xmlns:a="http://schemas.openxmlformats.org/drawingml/2006/main">
          <a:srgbClr val="F7F4EE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23CF20B2-4D4C-4B03-B7AE-3F4FFA773B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2095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37B82"/>
          </a:solidFill>
          <a:ln xmlns:a="http://schemas.openxmlformats.org/drawingml/2006/main" w="0">
            <a:solidFill>
              <a:srgbClr val="237B82"/>
            </a:solidFill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D1D83E1C-92CF-4B90-A926-2C9E94384C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00050"/>
            <a:ext cx="10001250" cy="819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>
            <a:defPPr>
              <a:defRPr sz="2700" b="1">
                <a:solidFill>
                  <a:srgbClr val="15324A"/>
                </a:solidFill>
                <a:latin typeface="Helvetica Neue"/>
                <a:ea typeface="Helvetica Neue"/>
                <a:cs typeface="Helvetica Neue"/>
              </a:defRPr>
            </a:defPPr>
            <a:lvl1pPr>
              <a:defRPr sz="2700" b="1">
                <a:solidFill>
                  <a:srgbClr val="15324A"/>
                </a:solidFill>
                <a:latin typeface="Helvetica Neue"/>
                <a:ea typeface="Helvetica Neue"/>
                <a:cs typeface="Helvetica Neue"/>
              </a:defRPr>
            </a:lvl1pPr>
            <a:lvl2pPr>
              <a:defRPr sz="2700" b="1">
                <a:solidFill>
                  <a:srgbClr val="15324A"/>
                </a:solidFill>
                <a:latin typeface="Helvetica Neue"/>
                <a:ea typeface="Helvetica Neue"/>
                <a:cs typeface="Helvetica Neue"/>
              </a:defRPr>
            </a:lvl2pPr>
            <a:lvl3pPr>
              <a:defRPr sz="2700" b="1">
                <a:solidFill>
                  <a:srgbClr val="15324A"/>
                </a:solidFill>
                <a:latin typeface="Helvetica Neue"/>
                <a:ea typeface="Helvetica Neue"/>
                <a:cs typeface="Helvetica Neue"/>
              </a:defRPr>
            </a:lvl3pPr>
            <a:lvl4pPr>
              <a:defRPr sz="2700" b="1">
                <a:solidFill>
                  <a:srgbClr val="15324A"/>
                </a:solidFill>
                <a:latin typeface="Helvetica Neue"/>
                <a:ea typeface="Helvetica Neue"/>
                <a:cs typeface="Helvetica Neue"/>
              </a:defRPr>
            </a:lvl4pPr>
            <a:lvl5pPr>
              <a:defRPr sz="2700" b="1">
                <a:solidFill>
                  <a:srgbClr val="15324A"/>
                </a:solidFill>
                <a:latin typeface="Helvetica Neue"/>
                <a:ea typeface="Helvetica Neue"/>
                <a:cs typeface="Helvetica Neue"/>
              </a:defRPr>
            </a:lvl5pPr>
            <a:lvl6pPr>
              <a:defRPr sz="2700" b="1">
                <a:solidFill>
                  <a:srgbClr val="15324A"/>
                </a:solidFill>
                <a:latin typeface="Helvetica Neue"/>
                <a:ea typeface="Helvetica Neue"/>
                <a:cs typeface="Helvetica Neue"/>
              </a:defRPr>
            </a:lvl6pPr>
            <a:lvl7pPr>
              <a:defRPr sz="2700" b="1">
                <a:solidFill>
                  <a:srgbClr val="15324A"/>
                </a:solidFill>
                <a:latin typeface="Helvetica Neue"/>
                <a:ea typeface="Helvetica Neue"/>
                <a:cs typeface="Helvetica Neue"/>
              </a:defRPr>
            </a:lvl7pPr>
            <a:lvl8pPr>
              <a:defRPr sz="2700" b="1">
                <a:solidFill>
                  <a:srgbClr val="15324A"/>
                </a:solidFill>
                <a:latin typeface="Helvetica Neue"/>
                <a:ea typeface="Helvetica Neue"/>
                <a:cs typeface="Helvetica Neue"/>
              </a:defRPr>
            </a:lvl8pPr>
            <a:lvl9pPr>
              <a:defRPr sz="2700" b="1">
                <a:solidFill>
                  <a:srgbClr val="15324A"/>
                </a:solidFill>
                <a:latin typeface="Helvetica Neue"/>
                <a:ea typeface="Helvetica Neue"/>
                <a:cs typeface="Helvetica Neue"/>
              </a:defRPr>
            </a:lvl9pPr>
          </a:lstStyle>
          <a:p xmlns:a="http://schemas.openxmlformats.org/drawingml/2006/main">
            <a:pPr>
              <a:defRPr sz="2700" b="1">
                <a:solidFill>
                  <a:srgbClr val="15324A"/>
                </a:solidFill>
                <a:latin typeface="Helvetica Neue"/>
                <a:ea typeface="Helvetica Neue"/>
                <a:cs typeface="Helvetica Neue"/>
              </a:defRPr>
            </a:pPr>
            <a:r>
              <a:rPr sz="2700" b="1">
                <a:solidFill>
                  <a:srgbClr val="15324A"/>
                </a:solidFill>
                <a:latin typeface="Helvetica Neue"/>
                <a:ea typeface="Helvetica Neue"/>
                <a:cs typeface="Helvetica Neue"/>
              </a:rPr>
              <a:t>Practice and competency check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F788CA1E-BE2D-4943-95B2-9F62D9A374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1257300"/>
            <a:ext cx="88582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91111"/>
          </a:bodyPr>
          <a:lstStyle xmlns:a="http://schemas.openxmlformats.org/drawingml/2006/main">
            <a:defPPr>
              <a:defRPr sz="1125" b="1">
                <a:solidFill>
                  <a:srgbClr val="237B82"/>
                </a:solidFill>
                <a:latin typeface="Helvetica Neue"/>
                <a:ea typeface="Helvetica Neue"/>
                <a:cs typeface="Helvetica Neue"/>
              </a:defRPr>
            </a:defPPr>
            <a:lvl1pPr>
              <a:defRPr sz="1125" b="1">
                <a:solidFill>
                  <a:srgbClr val="237B82"/>
                </a:solidFill>
                <a:latin typeface="Helvetica Neue"/>
                <a:ea typeface="Helvetica Neue"/>
                <a:cs typeface="Helvetica Neue"/>
              </a:defRPr>
            </a:lvl1pPr>
            <a:lvl2pPr>
              <a:defRPr sz="1125" b="1">
                <a:solidFill>
                  <a:srgbClr val="237B82"/>
                </a:solidFill>
                <a:latin typeface="Helvetica Neue"/>
                <a:ea typeface="Helvetica Neue"/>
                <a:cs typeface="Helvetica Neue"/>
              </a:defRPr>
            </a:lvl2pPr>
            <a:lvl3pPr>
              <a:defRPr sz="1125" b="1">
                <a:solidFill>
                  <a:srgbClr val="237B82"/>
                </a:solidFill>
                <a:latin typeface="Helvetica Neue"/>
                <a:ea typeface="Helvetica Neue"/>
                <a:cs typeface="Helvetica Neue"/>
              </a:defRPr>
            </a:lvl3pPr>
            <a:lvl4pPr>
              <a:defRPr sz="1125" b="1">
                <a:solidFill>
                  <a:srgbClr val="237B82"/>
                </a:solidFill>
                <a:latin typeface="Helvetica Neue"/>
                <a:ea typeface="Helvetica Neue"/>
                <a:cs typeface="Helvetica Neue"/>
              </a:defRPr>
            </a:lvl4pPr>
            <a:lvl5pPr>
              <a:defRPr sz="1125" b="1">
                <a:solidFill>
                  <a:srgbClr val="237B82"/>
                </a:solidFill>
                <a:latin typeface="Helvetica Neue"/>
                <a:ea typeface="Helvetica Neue"/>
                <a:cs typeface="Helvetica Neue"/>
              </a:defRPr>
            </a:lvl5pPr>
            <a:lvl6pPr>
              <a:defRPr sz="1125" b="1">
                <a:solidFill>
                  <a:srgbClr val="237B82"/>
                </a:solidFill>
                <a:latin typeface="Helvetica Neue"/>
                <a:ea typeface="Helvetica Neue"/>
                <a:cs typeface="Helvetica Neue"/>
              </a:defRPr>
            </a:lvl6pPr>
            <a:lvl7pPr>
              <a:defRPr sz="1125" b="1">
                <a:solidFill>
                  <a:srgbClr val="237B82"/>
                </a:solidFill>
                <a:latin typeface="Helvetica Neue"/>
                <a:ea typeface="Helvetica Neue"/>
                <a:cs typeface="Helvetica Neue"/>
              </a:defRPr>
            </a:lvl7pPr>
            <a:lvl8pPr>
              <a:defRPr sz="1125" b="1">
                <a:solidFill>
                  <a:srgbClr val="237B82"/>
                </a:solidFill>
                <a:latin typeface="Helvetica Neue"/>
                <a:ea typeface="Helvetica Neue"/>
                <a:cs typeface="Helvetica Neue"/>
              </a:defRPr>
            </a:lvl8pPr>
            <a:lvl9pPr>
              <a:defRPr sz="1125" b="1">
                <a:solidFill>
                  <a:srgbClr val="237B82"/>
                </a:solidFill>
                <a:latin typeface="Helvetica Neue"/>
                <a:ea typeface="Helvetica Neue"/>
                <a:cs typeface="Helvetica Neue"/>
              </a:defRPr>
            </a:lvl9pPr>
          </a:lstStyle>
          <a:p xmlns:a="http://schemas.openxmlformats.org/drawingml/2006/main">
            <a:pPr>
              <a:defRPr sz="1125" b="1">
                <a:solidFill>
                  <a:srgbClr val="237B82"/>
                </a:solidFill>
                <a:latin typeface="Helvetica Neue"/>
                <a:ea typeface="Helvetica Neue"/>
                <a:cs typeface="Helvetica Neue"/>
              </a:defRPr>
            </a:pPr>
            <a:r>
              <a:rPr sz="1125" b="1">
                <a:solidFill>
                  <a:srgbClr val="237B82"/>
                </a:solidFill>
                <a:latin typeface="Helvetica Neue"/>
                <a:ea typeface="Helvetica Neue"/>
                <a:cs typeface="Helvetica Neue"/>
              </a:rPr>
              <a:t>MODULE 4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B9CDF0C8-C8E6-4B84-BD0A-D61C4D37D5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457200"/>
            <a:ext cx="5334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>
            <a:defPPr>
              <a:defRPr sz="1200" b="1">
                <a:solidFill>
                  <a:srgbClr val="237B82"/>
                </a:solidFill>
                <a:latin typeface="Helvetica Neue"/>
                <a:ea typeface="Helvetica Neue"/>
                <a:cs typeface="Helvetica Neue"/>
              </a:defRPr>
            </a:defPPr>
            <a:lvl1pPr>
              <a:defRPr sz="1200" b="1">
                <a:solidFill>
                  <a:srgbClr val="237B82"/>
                </a:solidFill>
                <a:latin typeface="Helvetica Neue"/>
                <a:ea typeface="Helvetica Neue"/>
                <a:cs typeface="Helvetica Neue"/>
              </a:defRPr>
            </a:lvl1pPr>
            <a:lvl2pPr>
              <a:defRPr sz="1200" b="1">
                <a:solidFill>
                  <a:srgbClr val="237B82"/>
                </a:solidFill>
                <a:latin typeface="Helvetica Neue"/>
                <a:ea typeface="Helvetica Neue"/>
                <a:cs typeface="Helvetica Neue"/>
              </a:defRPr>
            </a:lvl2pPr>
            <a:lvl3pPr>
              <a:defRPr sz="1200" b="1">
                <a:solidFill>
                  <a:srgbClr val="237B82"/>
                </a:solidFill>
                <a:latin typeface="Helvetica Neue"/>
                <a:ea typeface="Helvetica Neue"/>
                <a:cs typeface="Helvetica Neue"/>
              </a:defRPr>
            </a:lvl3pPr>
            <a:lvl4pPr>
              <a:defRPr sz="1200" b="1">
                <a:solidFill>
                  <a:srgbClr val="237B82"/>
                </a:solidFill>
                <a:latin typeface="Helvetica Neue"/>
                <a:ea typeface="Helvetica Neue"/>
                <a:cs typeface="Helvetica Neue"/>
              </a:defRPr>
            </a:lvl4pPr>
            <a:lvl5pPr>
              <a:defRPr sz="1200" b="1">
                <a:solidFill>
                  <a:srgbClr val="237B82"/>
                </a:solidFill>
                <a:latin typeface="Helvetica Neue"/>
                <a:ea typeface="Helvetica Neue"/>
                <a:cs typeface="Helvetica Neue"/>
              </a:defRPr>
            </a:lvl5pPr>
            <a:lvl6pPr>
              <a:defRPr sz="1200" b="1">
                <a:solidFill>
                  <a:srgbClr val="237B82"/>
                </a:solidFill>
                <a:latin typeface="Helvetica Neue"/>
                <a:ea typeface="Helvetica Neue"/>
                <a:cs typeface="Helvetica Neue"/>
              </a:defRPr>
            </a:lvl6pPr>
            <a:lvl7pPr>
              <a:defRPr sz="1200" b="1">
                <a:solidFill>
                  <a:srgbClr val="237B82"/>
                </a:solidFill>
                <a:latin typeface="Helvetica Neue"/>
                <a:ea typeface="Helvetica Neue"/>
                <a:cs typeface="Helvetica Neue"/>
              </a:defRPr>
            </a:lvl7pPr>
            <a:lvl8pPr>
              <a:defRPr sz="1200" b="1">
                <a:solidFill>
                  <a:srgbClr val="237B82"/>
                </a:solidFill>
                <a:latin typeface="Helvetica Neue"/>
                <a:ea typeface="Helvetica Neue"/>
                <a:cs typeface="Helvetica Neue"/>
              </a:defRPr>
            </a:lvl8pPr>
            <a:lvl9pPr>
              <a:defRPr sz="1200" b="1">
                <a:solidFill>
                  <a:srgbClr val="237B82"/>
                </a:solidFill>
                <a:latin typeface="Helvetica Neue"/>
                <a:ea typeface="Helvetica Neue"/>
                <a:cs typeface="Helvetica Neue"/>
              </a:defRPr>
            </a:lvl9pPr>
          </a:lstStyle>
          <a:p xmlns:a="http://schemas.openxmlformats.org/drawingml/2006/main">
            <a:pPr>
              <a:defRPr sz="1200" b="1">
                <a:solidFill>
                  <a:srgbClr val="237B82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00" b="1">
                <a:solidFill>
                  <a:srgbClr val="237B82"/>
                </a:solidFill>
                <a:latin typeface="Helvetica Neue"/>
                <a:ea typeface="Helvetica Neue"/>
                <a:cs typeface="Helvetica Neue"/>
              </a:rPr>
              <a:t>74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6C8D1B2F-DEF9-4396-A32C-E75836DD48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1809750"/>
            <a:ext cx="10191750" cy="3143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>
            <a:defPPr>
              <a:defRPr sz="2175">
                <a:solidFill>
                  <a:srgbClr val="13212D"/>
                </a:solidFill>
                <a:latin typeface="Helvetica Neue"/>
                <a:ea typeface="Helvetica Neue"/>
                <a:cs typeface="Helvetica Neue"/>
              </a:defRPr>
            </a:defPPr>
            <a:lvl1pPr>
              <a:defRPr sz="2175">
                <a:solidFill>
                  <a:srgbClr val="13212D"/>
                </a:solidFill>
                <a:latin typeface="Helvetica Neue"/>
                <a:ea typeface="Helvetica Neue"/>
                <a:cs typeface="Helvetica Neue"/>
              </a:defRPr>
            </a:lvl1pPr>
            <a:lvl2pPr>
              <a:defRPr sz="2175">
                <a:solidFill>
                  <a:srgbClr val="13212D"/>
                </a:solidFill>
                <a:latin typeface="Helvetica Neue"/>
                <a:ea typeface="Helvetica Neue"/>
                <a:cs typeface="Helvetica Neue"/>
              </a:defRPr>
            </a:lvl2pPr>
            <a:lvl3pPr>
              <a:defRPr sz="2175">
                <a:solidFill>
                  <a:srgbClr val="13212D"/>
                </a:solidFill>
                <a:latin typeface="Helvetica Neue"/>
                <a:ea typeface="Helvetica Neue"/>
                <a:cs typeface="Helvetica Neue"/>
              </a:defRPr>
            </a:lvl3pPr>
            <a:lvl4pPr>
              <a:defRPr sz="2175">
                <a:solidFill>
                  <a:srgbClr val="13212D"/>
                </a:solidFill>
                <a:latin typeface="Helvetica Neue"/>
                <a:ea typeface="Helvetica Neue"/>
                <a:cs typeface="Helvetica Neue"/>
              </a:defRPr>
            </a:lvl4pPr>
            <a:lvl5pPr>
              <a:defRPr sz="2175">
                <a:solidFill>
                  <a:srgbClr val="13212D"/>
                </a:solidFill>
                <a:latin typeface="Helvetica Neue"/>
                <a:ea typeface="Helvetica Neue"/>
                <a:cs typeface="Helvetica Neue"/>
              </a:defRPr>
            </a:lvl5pPr>
            <a:lvl6pPr>
              <a:defRPr sz="2175">
                <a:solidFill>
                  <a:srgbClr val="13212D"/>
                </a:solidFill>
                <a:latin typeface="Helvetica Neue"/>
                <a:ea typeface="Helvetica Neue"/>
                <a:cs typeface="Helvetica Neue"/>
              </a:defRPr>
            </a:lvl6pPr>
            <a:lvl7pPr>
              <a:defRPr sz="2175">
                <a:solidFill>
                  <a:srgbClr val="13212D"/>
                </a:solidFill>
                <a:latin typeface="Helvetica Neue"/>
                <a:ea typeface="Helvetica Neue"/>
                <a:cs typeface="Helvetica Neue"/>
              </a:defRPr>
            </a:lvl7pPr>
            <a:lvl8pPr>
              <a:defRPr sz="2175">
                <a:solidFill>
                  <a:srgbClr val="13212D"/>
                </a:solidFill>
                <a:latin typeface="Helvetica Neue"/>
                <a:ea typeface="Helvetica Neue"/>
                <a:cs typeface="Helvetica Neue"/>
              </a:defRPr>
            </a:lvl8pPr>
            <a:lvl9pPr>
              <a:defRPr sz="2175">
                <a:solidFill>
                  <a:srgbClr val="13212D"/>
                </a:solidFill>
                <a:latin typeface="Helvetica Neue"/>
                <a:ea typeface="Helvetica Neue"/>
                <a:cs typeface="Helvetica Neue"/>
              </a:defRPr>
            </a:lvl9pPr>
          </a:lstStyle>
          <a:p xmlns:a="http://schemas.openxmlformats.org/drawingml/2006/main">
            <a:pPr marL="279400" indent="-127000">
              <a:spcAft>
                <a:spcPts val="1300"/>
              </a:spcAft>
              <a:buChar char="•"/>
              <a:defRPr sz="2175">
                <a:solidFill>
                  <a:srgbClr val="13212D"/>
                </a:solidFill>
                <a:latin typeface="Helvetica Neue"/>
                <a:ea typeface="Helvetica Neue"/>
                <a:cs typeface="Helvetica Neue"/>
              </a:defRPr>
            </a:pPr>
            <a:r>
              <a:rPr sz="2175">
                <a:solidFill>
                  <a:srgbClr val="13212D"/>
                </a:solidFill>
                <a:latin typeface="Helvetica Neue"/>
                <a:ea typeface="Helvetica Neue"/>
                <a:cs typeface="Helvetica Neue"/>
              </a:rPr>
              <a:t>Complete a mock bedside verification</a:t>
            </a:r>
          </a:p>
          <a:p xmlns:a="http://schemas.openxmlformats.org/drawingml/2006/main">
            <a:pPr marL="279400" indent="-127000">
              <a:spcAft>
                <a:spcPts val="1300"/>
              </a:spcAft>
              <a:buChar char="•"/>
              <a:defRPr sz="2175">
                <a:solidFill>
                  <a:srgbClr val="13212D"/>
                </a:solidFill>
                <a:latin typeface="Helvetica Neue"/>
                <a:ea typeface="Helvetica Neue"/>
                <a:cs typeface="Helvetica Neue"/>
              </a:defRPr>
            </a:pPr>
            <a:r>
              <a:rPr sz="2175">
                <a:solidFill>
                  <a:srgbClr val="13212D"/>
                </a:solidFill>
                <a:latin typeface="Helvetica Neue"/>
                <a:ea typeface="Helvetica Neue"/>
                <a:cs typeface="Helvetica Neue"/>
              </a:rPr>
              <a:t>Differentiate allergic, febrile, hemolytic, overload, and septic findings</a:t>
            </a:r>
          </a:p>
          <a:p xmlns:a="http://schemas.openxmlformats.org/drawingml/2006/main">
            <a:pPr marL="279400" indent="-127000">
              <a:spcAft>
                <a:spcPts val="1300"/>
              </a:spcAft>
              <a:buChar char="•"/>
              <a:defRPr sz="2175">
                <a:solidFill>
                  <a:srgbClr val="13212D"/>
                </a:solidFill>
                <a:latin typeface="Helvetica Neue"/>
                <a:ea typeface="Helvetica Neue"/>
                <a:cs typeface="Helvetica Neue"/>
              </a:defRPr>
            </a:pPr>
            <a:r>
              <a:rPr sz="2175">
                <a:solidFill>
                  <a:srgbClr val="13212D"/>
                </a:solidFill>
                <a:latin typeface="Helvetica Neue"/>
                <a:ea typeface="Helvetica Neue"/>
                <a:cs typeface="Helvetica Neue"/>
              </a:rPr>
              <a:t>Use SBAR to report a suspected reaction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01417EFB-50B2-43E3-9E1D-7BDF96B7F7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5334000"/>
            <a:ext cx="1019175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>
            <a:defPPr>
              <a:defRPr sz="1650" b="1">
                <a:solidFill>
                  <a:srgbClr val="B94F3D"/>
                </a:solidFill>
                <a:latin typeface="Helvetica Neue"/>
                <a:ea typeface="Helvetica Neue"/>
                <a:cs typeface="Helvetica Neue"/>
              </a:defRPr>
            </a:defPPr>
            <a:lvl1pPr>
              <a:defRPr sz="1650" b="1">
                <a:solidFill>
                  <a:srgbClr val="B94F3D"/>
                </a:solidFill>
                <a:latin typeface="Helvetica Neue"/>
                <a:ea typeface="Helvetica Neue"/>
                <a:cs typeface="Helvetica Neue"/>
              </a:defRPr>
            </a:lvl1pPr>
            <a:lvl2pPr>
              <a:defRPr sz="1650" b="1">
                <a:solidFill>
                  <a:srgbClr val="B94F3D"/>
                </a:solidFill>
                <a:latin typeface="Helvetica Neue"/>
                <a:ea typeface="Helvetica Neue"/>
                <a:cs typeface="Helvetica Neue"/>
              </a:defRPr>
            </a:lvl2pPr>
            <a:lvl3pPr>
              <a:defRPr sz="1650" b="1">
                <a:solidFill>
                  <a:srgbClr val="B94F3D"/>
                </a:solidFill>
                <a:latin typeface="Helvetica Neue"/>
                <a:ea typeface="Helvetica Neue"/>
                <a:cs typeface="Helvetica Neue"/>
              </a:defRPr>
            </a:lvl3pPr>
            <a:lvl4pPr>
              <a:defRPr sz="1650" b="1">
                <a:solidFill>
                  <a:srgbClr val="B94F3D"/>
                </a:solidFill>
                <a:latin typeface="Helvetica Neue"/>
                <a:ea typeface="Helvetica Neue"/>
                <a:cs typeface="Helvetica Neue"/>
              </a:defRPr>
            </a:lvl4pPr>
            <a:lvl5pPr>
              <a:defRPr sz="1650" b="1">
                <a:solidFill>
                  <a:srgbClr val="B94F3D"/>
                </a:solidFill>
                <a:latin typeface="Helvetica Neue"/>
                <a:ea typeface="Helvetica Neue"/>
                <a:cs typeface="Helvetica Neue"/>
              </a:defRPr>
            </a:lvl5pPr>
            <a:lvl6pPr>
              <a:defRPr sz="1650" b="1">
                <a:solidFill>
                  <a:srgbClr val="B94F3D"/>
                </a:solidFill>
                <a:latin typeface="Helvetica Neue"/>
                <a:ea typeface="Helvetica Neue"/>
                <a:cs typeface="Helvetica Neue"/>
              </a:defRPr>
            </a:lvl6pPr>
            <a:lvl7pPr>
              <a:defRPr sz="1650" b="1">
                <a:solidFill>
                  <a:srgbClr val="B94F3D"/>
                </a:solidFill>
                <a:latin typeface="Helvetica Neue"/>
                <a:ea typeface="Helvetica Neue"/>
                <a:cs typeface="Helvetica Neue"/>
              </a:defRPr>
            </a:lvl7pPr>
            <a:lvl8pPr>
              <a:defRPr sz="1650" b="1">
                <a:solidFill>
                  <a:srgbClr val="B94F3D"/>
                </a:solidFill>
                <a:latin typeface="Helvetica Neue"/>
                <a:ea typeface="Helvetica Neue"/>
                <a:cs typeface="Helvetica Neue"/>
              </a:defRPr>
            </a:lvl8pPr>
            <a:lvl9pPr>
              <a:defRPr sz="1650" b="1">
                <a:solidFill>
                  <a:srgbClr val="B94F3D"/>
                </a:solidFill>
                <a:latin typeface="Helvetica Neue"/>
                <a:ea typeface="Helvetica Neue"/>
                <a:cs typeface="Helvetica Neue"/>
              </a:defRPr>
            </a:lvl9pPr>
          </a:lstStyle>
          <a:p xmlns:a="http://schemas.openxmlformats.org/drawingml/2006/main">
            <a:pPr>
              <a:defRPr sz="1650" b="1">
                <a:solidFill>
                  <a:srgbClr val="B94F3D"/>
                </a:solidFill>
                <a:latin typeface="Helvetica Neue"/>
                <a:ea typeface="Helvetica Neue"/>
                <a:cs typeface="Helvetica Neue"/>
              </a:defRPr>
            </a:pPr>
            <a:r>
              <a:rPr sz="1650" b="1">
                <a:solidFill>
                  <a:srgbClr val="B94F3D"/>
                </a:solidFill>
                <a:latin typeface="Helvetica Neue"/>
                <a:ea typeface="Helvetica Neue"/>
                <a:cs typeface="Helvetica Neue"/>
              </a:rPr>
              <a:t>Complete the matching online lesson and assessment before the in-person laboratory.</a:t>
            </a:r>
          </a:p>
        </p:txBody>
      </p:sp>
    </p:spTree>
    <p:extLst>
      <p:ext uri="{BB962C8B-B14F-4D97-AF65-F5344CB8AC3E}">
        <p14:creationId xmlns:p14="http://schemas.microsoft.com/office/powerpoint/2010/main" val="722732254"/>
      </p:ext>
    </p:extLst>
  </p:cSld>
</p:sld>
</file>

<file path=ppt/slides/slide75.xml><?xml version="1.0" encoding="utf-8"?>
<p:sld xmlns:p="http://schemas.openxmlformats.org/presentationml/2006/main">
  <p:cSld>
    <p:bg>
      <p:bgPr>
        <a:solidFill xmlns:a="http://schemas.openxmlformats.org/drawingml/2006/main">
          <a:srgbClr val="F7F4EE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B72B3445-26C1-4E62-8052-8DD19BF511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2095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37B82"/>
          </a:solidFill>
          <a:ln xmlns:a="http://schemas.openxmlformats.org/drawingml/2006/main" w="0">
            <a:solidFill>
              <a:srgbClr val="237B82"/>
            </a:solidFill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B4CECF2D-15B2-470C-AAD3-06694E77B7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00050"/>
            <a:ext cx="10001250" cy="819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>
            <a:defPPr>
              <a:defRPr sz="2700" b="1">
                <a:solidFill>
                  <a:srgbClr val="15324A"/>
                </a:solidFill>
                <a:latin typeface="Helvetica Neue"/>
                <a:ea typeface="Helvetica Neue"/>
                <a:cs typeface="Helvetica Neue"/>
              </a:defRPr>
            </a:defPPr>
            <a:lvl1pPr>
              <a:defRPr sz="2700" b="1">
                <a:solidFill>
                  <a:srgbClr val="15324A"/>
                </a:solidFill>
                <a:latin typeface="Helvetica Neue"/>
                <a:ea typeface="Helvetica Neue"/>
                <a:cs typeface="Helvetica Neue"/>
              </a:defRPr>
            </a:lvl1pPr>
            <a:lvl2pPr>
              <a:defRPr sz="2700" b="1">
                <a:solidFill>
                  <a:srgbClr val="15324A"/>
                </a:solidFill>
                <a:latin typeface="Helvetica Neue"/>
                <a:ea typeface="Helvetica Neue"/>
                <a:cs typeface="Helvetica Neue"/>
              </a:defRPr>
            </a:lvl2pPr>
            <a:lvl3pPr>
              <a:defRPr sz="2700" b="1">
                <a:solidFill>
                  <a:srgbClr val="15324A"/>
                </a:solidFill>
                <a:latin typeface="Helvetica Neue"/>
                <a:ea typeface="Helvetica Neue"/>
                <a:cs typeface="Helvetica Neue"/>
              </a:defRPr>
            </a:lvl3pPr>
            <a:lvl4pPr>
              <a:defRPr sz="2700" b="1">
                <a:solidFill>
                  <a:srgbClr val="15324A"/>
                </a:solidFill>
                <a:latin typeface="Helvetica Neue"/>
                <a:ea typeface="Helvetica Neue"/>
                <a:cs typeface="Helvetica Neue"/>
              </a:defRPr>
            </a:lvl4pPr>
            <a:lvl5pPr>
              <a:defRPr sz="2700" b="1">
                <a:solidFill>
                  <a:srgbClr val="15324A"/>
                </a:solidFill>
                <a:latin typeface="Helvetica Neue"/>
                <a:ea typeface="Helvetica Neue"/>
                <a:cs typeface="Helvetica Neue"/>
              </a:defRPr>
            </a:lvl5pPr>
            <a:lvl6pPr>
              <a:defRPr sz="2700" b="1">
                <a:solidFill>
                  <a:srgbClr val="15324A"/>
                </a:solidFill>
                <a:latin typeface="Helvetica Neue"/>
                <a:ea typeface="Helvetica Neue"/>
                <a:cs typeface="Helvetica Neue"/>
              </a:defRPr>
            </a:lvl6pPr>
            <a:lvl7pPr>
              <a:defRPr sz="2700" b="1">
                <a:solidFill>
                  <a:srgbClr val="15324A"/>
                </a:solidFill>
                <a:latin typeface="Helvetica Neue"/>
                <a:ea typeface="Helvetica Neue"/>
                <a:cs typeface="Helvetica Neue"/>
              </a:defRPr>
            </a:lvl7pPr>
            <a:lvl8pPr>
              <a:defRPr sz="2700" b="1">
                <a:solidFill>
                  <a:srgbClr val="15324A"/>
                </a:solidFill>
                <a:latin typeface="Helvetica Neue"/>
                <a:ea typeface="Helvetica Neue"/>
                <a:cs typeface="Helvetica Neue"/>
              </a:defRPr>
            </a:lvl8pPr>
            <a:lvl9pPr>
              <a:defRPr sz="2700" b="1">
                <a:solidFill>
                  <a:srgbClr val="15324A"/>
                </a:solidFill>
                <a:latin typeface="Helvetica Neue"/>
                <a:ea typeface="Helvetica Neue"/>
                <a:cs typeface="Helvetica Neue"/>
              </a:defRPr>
            </a:lvl9pPr>
          </a:lstStyle>
          <a:p xmlns:a="http://schemas.openxmlformats.org/drawingml/2006/main">
            <a:pPr>
              <a:defRPr sz="2700" b="1">
                <a:solidFill>
                  <a:srgbClr val="15324A"/>
                </a:solidFill>
                <a:latin typeface="Helvetica Neue"/>
                <a:ea typeface="Helvetica Neue"/>
                <a:cs typeface="Helvetica Neue"/>
              </a:defRPr>
            </a:pPr>
            <a:r>
              <a:rPr sz="2700" b="1">
                <a:solidFill>
                  <a:srgbClr val="15324A"/>
                </a:solidFill>
                <a:latin typeface="Helvetica Neue"/>
                <a:ea typeface="Helvetica Neue"/>
                <a:cs typeface="Helvetica Neue"/>
              </a:rPr>
              <a:t>Key points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CCDE0B8F-CACA-46A4-AC3C-A2061AEE64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1257300"/>
            <a:ext cx="88582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91111"/>
          </a:bodyPr>
          <a:lstStyle xmlns:a="http://schemas.openxmlformats.org/drawingml/2006/main">
            <a:defPPr>
              <a:defRPr sz="1125" b="1">
                <a:solidFill>
                  <a:srgbClr val="237B82"/>
                </a:solidFill>
                <a:latin typeface="Helvetica Neue"/>
                <a:ea typeface="Helvetica Neue"/>
                <a:cs typeface="Helvetica Neue"/>
              </a:defRPr>
            </a:defPPr>
            <a:lvl1pPr>
              <a:defRPr sz="1125" b="1">
                <a:solidFill>
                  <a:srgbClr val="237B82"/>
                </a:solidFill>
                <a:latin typeface="Helvetica Neue"/>
                <a:ea typeface="Helvetica Neue"/>
                <a:cs typeface="Helvetica Neue"/>
              </a:defRPr>
            </a:lvl1pPr>
            <a:lvl2pPr>
              <a:defRPr sz="1125" b="1">
                <a:solidFill>
                  <a:srgbClr val="237B82"/>
                </a:solidFill>
                <a:latin typeface="Helvetica Neue"/>
                <a:ea typeface="Helvetica Neue"/>
                <a:cs typeface="Helvetica Neue"/>
              </a:defRPr>
            </a:lvl2pPr>
            <a:lvl3pPr>
              <a:defRPr sz="1125" b="1">
                <a:solidFill>
                  <a:srgbClr val="237B82"/>
                </a:solidFill>
                <a:latin typeface="Helvetica Neue"/>
                <a:ea typeface="Helvetica Neue"/>
                <a:cs typeface="Helvetica Neue"/>
              </a:defRPr>
            </a:lvl3pPr>
            <a:lvl4pPr>
              <a:defRPr sz="1125" b="1">
                <a:solidFill>
                  <a:srgbClr val="237B82"/>
                </a:solidFill>
                <a:latin typeface="Helvetica Neue"/>
                <a:ea typeface="Helvetica Neue"/>
                <a:cs typeface="Helvetica Neue"/>
              </a:defRPr>
            </a:lvl4pPr>
            <a:lvl5pPr>
              <a:defRPr sz="1125" b="1">
                <a:solidFill>
                  <a:srgbClr val="237B82"/>
                </a:solidFill>
                <a:latin typeface="Helvetica Neue"/>
                <a:ea typeface="Helvetica Neue"/>
                <a:cs typeface="Helvetica Neue"/>
              </a:defRPr>
            </a:lvl5pPr>
            <a:lvl6pPr>
              <a:defRPr sz="1125" b="1">
                <a:solidFill>
                  <a:srgbClr val="237B82"/>
                </a:solidFill>
                <a:latin typeface="Helvetica Neue"/>
                <a:ea typeface="Helvetica Neue"/>
                <a:cs typeface="Helvetica Neue"/>
              </a:defRPr>
            </a:lvl6pPr>
            <a:lvl7pPr>
              <a:defRPr sz="1125" b="1">
                <a:solidFill>
                  <a:srgbClr val="237B82"/>
                </a:solidFill>
                <a:latin typeface="Helvetica Neue"/>
                <a:ea typeface="Helvetica Neue"/>
                <a:cs typeface="Helvetica Neue"/>
              </a:defRPr>
            </a:lvl7pPr>
            <a:lvl8pPr>
              <a:defRPr sz="1125" b="1">
                <a:solidFill>
                  <a:srgbClr val="237B82"/>
                </a:solidFill>
                <a:latin typeface="Helvetica Neue"/>
                <a:ea typeface="Helvetica Neue"/>
                <a:cs typeface="Helvetica Neue"/>
              </a:defRPr>
            </a:lvl8pPr>
            <a:lvl9pPr>
              <a:defRPr sz="1125" b="1">
                <a:solidFill>
                  <a:srgbClr val="237B82"/>
                </a:solidFill>
                <a:latin typeface="Helvetica Neue"/>
                <a:ea typeface="Helvetica Neue"/>
                <a:cs typeface="Helvetica Neue"/>
              </a:defRPr>
            </a:lvl9pPr>
          </a:lstStyle>
          <a:p xmlns:a="http://schemas.openxmlformats.org/drawingml/2006/main">
            <a:pPr>
              <a:defRPr sz="1125" b="1">
                <a:solidFill>
                  <a:srgbClr val="237B82"/>
                </a:solidFill>
                <a:latin typeface="Helvetica Neue"/>
                <a:ea typeface="Helvetica Neue"/>
                <a:cs typeface="Helvetica Neue"/>
              </a:defRPr>
            </a:pPr>
            <a:r>
              <a:rPr sz="1125" b="1">
                <a:solidFill>
                  <a:srgbClr val="237B82"/>
                </a:solidFill>
                <a:latin typeface="Helvetica Neue"/>
                <a:ea typeface="Helvetica Neue"/>
                <a:cs typeface="Helvetica Neue"/>
              </a:rPr>
              <a:t>MODULE 4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CB1847D6-D5EF-4EC1-A2C6-C23180720D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457200"/>
            <a:ext cx="5334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>
            <a:defPPr>
              <a:defRPr sz="1200" b="1">
                <a:solidFill>
                  <a:srgbClr val="237B82"/>
                </a:solidFill>
                <a:latin typeface="Helvetica Neue"/>
                <a:ea typeface="Helvetica Neue"/>
                <a:cs typeface="Helvetica Neue"/>
              </a:defRPr>
            </a:defPPr>
            <a:lvl1pPr>
              <a:defRPr sz="1200" b="1">
                <a:solidFill>
                  <a:srgbClr val="237B82"/>
                </a:solidFill>
                <a:latin typeface="Helvetica Neue"/>
                <a:ea typeface="Helvetica Neue"/>
                <a:cs typeface="Helvetica Neue"/>
              </a:defRPr>
            </a:lvl1pPr>
            <a:lvl2pPr>
              <a:defRPr sz="1200" b="1">
                <a:solidFill>
                  <a:srgbClr val="237B82"/>
                </a:solidFill>
                <a:latin typeface="Helvetica Neue"/>
                <a:ea typeface="Helvetica Neue"/>
                <a:cs typeface="Helvetica Neue"/>
              </a:defRPr>
            </a:lvl2pPr>
            <a:lvl3pPr>
              <a:defRPr sz="1200" b="1">
                <a:solidFill>
                  <a:srgbClr val="237B82"/>
                </a:solidFill>
                <a:latin typeface="Helvetica Neue"/>
                <a:ea typeface="Helvetica Neue"/>
                <a:cs typeface="Helvetica Neue"/>
              </a:defRPr>
            </a:lvl3pPr>
            <a:lvl4pPr>
              <a:defRPr sz="1200" b="1">
                <a:solidFill>
                  <a:srgbClr val="237B82"/>
                </a:solidFill>
                <a:latin typeface="Helvetica Neue"/>
                <a:ea typeface="Helvetica Neue"/>
                <a:cs typeface="Helvetica Neue"/>
              </a:defRPr>
            </a:lvl4pPr>
            <a:lvl5pPr>
              <a:defRPr sz="1200" b="1">
                <a:solidFill>
                  <a:srgbClr val="237B82"/>
                </a:solidFill>
                <a:latin typeface="Helvetica Neue"/>
                <a:ea typeface="Helvetica Neue"/>
                <a:cs typeface="Helvetica Neue"/>
              </a:defRPr>
            </a:lvl5pPr>
            <a:lvl6pPr>
              <a:defRPr sz="1200" b="1">
                <a:solidFill>
                  <a:srgbClr val="237B82"/>
                </a:solidFill>
                <a:latin typeface="Helvetica Neue"/>
                <a:ea typeface="Helvetica Neue"/>
                <a:cs typeface="Helvetica Neue"/>
              </a:defRPr>
            </a:lvl6pPr>
            <a:lvl7pPr>
              <a:defRPr sz="1200" b="1">
                <a:solidFill>
                  <a:srgbClr val="237B82"/>
                </a:solidFill>
                <a:latin typeface="Helvetica Neue"/>
                <a:ea typeface="Helvetica Neue"/>
                <a:cs typeface="Helvetica Neue"/>
              </a:defRPr>
            </a:lvl7pPr>
            <a:lvl8pPr>
              <a:defRPr sz="1200" b="1">
                <a:solidFill>
                  <a:srgbClr val="237B82"/>
                </a:solidFill>
                <a:latin typeface="Helvetica Neue"/>
                <a:ea typeface="Helvetica Neue"/>
                <a:cs typeface="Helvetica Neue"/>
              </a:defRPr>
            </a:lvl8pPr>
            <a:lvl9pPr>
              <a:defRPr sz="1200" b="1">
                <a:solidFill>
                  <a:srgbClr val="237B82"/>
                </a:solidFill>
                <a:latin typeface="Helvetica Neue"/>
                <a:ea typeface="Helvetica Neue"/>
                <a:cs typeface="Helvetica Neue"/>
              </a:defRPr>
            </a:lvl9pPr>
          </a:lstStyle>
          <a:p xmlns:a="http://schemas.openxmlformats.org/drawingml/2006/main">
            <a:pPr>
              <a:defRPr sz="1200" b="1">
                <a:solidFill>
                  <a:srgbClr val="237B82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00" b="1">
                <a:solidFill>
                  <a:srgbClr val="237B82"/>
                </a:solidFill>
                <a:latin typeface="Helvetica Neue"/>
                <a:ea typeface="Helvetica Neue"/>
                <a:cs typeface="Helvetica Neue"/>
              </a:rPr>
              <a:t>75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F45591C6-EB57-476B-92DF-CFA83FF140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1809750"/>
            <a:ext cx="10191750" cy="3619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>
            <a:defPPr>
              <a:defRPr sz="2025">
                <a:solidFill>
                  <a:srgbClr val="13212D"/>
                </a:solidFill>
                <a:latin typeface="Helvetica Neue"/>
                <a:ea typeface="Helvetica Neue"/>
                <a:cs typeface="Helvetica Neue"/>
              </a:defRPr>
            </a:defPPr>
            <a:lvl1pPr>
              <a:defRPr sz="2025">
                <a:solidFill>
                  <a:srgbClr val="13212D"/>
                </a:solidFill>
                <a:latin typeface="Helvetica Neue"/>
                <a:ea typeface="Helvetica Neue"/>
                <a:cs typeface="Helvetica Neue"/>
              </a:defRPr>
            </a:lvl1pPr>
            <a:lvl2pPr>
              <a:defRPr sz="2025">
                <a:solidFill>
                  <a:srgbClr val="13212D"/>
                </a:solidFill>
                <a:latin typeface="Helvetica Neue"/>
                <a:ea typeface="Helvetica Neue"/>
                <a:cs typeface="Helvetica Neue"/>
              </a:defRPr>
            </a:lvl2pPr>
            <a:lvl3pPr>
              <a:defRPr sz="2025">
                <a:solidFill>
                  <a:srgbClr val="13212D"/>
                </a:solidFill>
                <a:latin typeface="Helvetica Neue"/>
                <a:ea typeface="Helvetica Neue"/>
                <a:cs typeface="Helvetica Neue"/>
              </a:defRPr>
            </a:lvl3pPr>
            <a:lvl4pPr>
              <a:defRPr sz="2025">
                <a:solidFill>
                  <a:srgbClr val="13212D"/>
                </a:solidFill>
                <a:latin typeface="Helvetica Neue"/>
                <a:ea typeface="Helvetica Neue"/>
                <a:cs typeface="Helvetica Neue"/>
              </a:defRPr>
            </a:lvl4pPr>
            <a:lvl5pPr>
              <a:defRPr sz="2025">
                <a:solidFill>
                  <a:srgbClr val="13212D"/>
                </a:solidFill>
                <a:latin typeface="Helvetica Neue"/>
                <a:ea typeface="Helvetica Neue"/>
                <a:cs typeface="Helvetica Neue"/>
              </a:defRPr>
            </a:lvl5pPr>
            <a:lvl6pPr>
              <a:defRPr sz="2025">
                <a:solidFill>
                  <a:srgbClr val="13212D"/>
                </a:solidFill>
                <a:latin typeface="Helvetica Neue"/>
                <a:ea typeface="Helvetica Neue"/>
                <a:cs typeface="Helvetica Neue"/>
              </a:defRPr>
            </a:lvl6pPr>
            <a:lvl7pPr>
              <a:defRPr sz="2025">
                <a:solidFill>
                  <a:srgbClr val="13212D"/>
                </a:solidFill>
                <a:latin typeface="Helvetica Neue"/>
                <a:ea typeface="Helvetica Neue"/>
                <a:cs typeface="Helvetica Neue"/>
              </a:defRPr>
            </a:lvl7pPr>
            <a:lvl8pPr>
              <a:defRPr sz="2025">
                <a:solidFill>
                  <a:srgbClr val="13212D"/>
                </a:solidFill>
                <a:latin typeface="Helvetica Neue"/>
                <a:ea typeface="Helvetica Neue"/>
                <a:cs typeface="Helvetica Neue"/>
              </a:defRPr>
            </a:lvl8pPr>
            <a:lvl9pPr>
              <a:defRPr sz="2025">
                <a:solidFill>
                  <a:srgbClr val="13212D"/>
                </a:solidFill>
                <a:latin typeface="Helvetica Neue"/>
                <a:ea typeface="Helvetica Neue"/>
                <a:cs typeface="Helvetica Neue"/>
              </a:defRPr>
            </a:lvl9pPr>
          </a:lstStyle>
          <a:p xmlns:a="http://schemas.openxmlformats.org/drawingml/2006/main">
            <a:pPr marL="279400" indent="-127000">
              <a:spcAft>
                <a:spcPts val="1300"/>
              </a:spcAft>
              <a:buChar char="•"/>
              <a:defRPr sz="2025">
                <a:solidFill>
                  <a:srgbClr val="13212D"/>
                </a:solidFill>
                <a:latin typeface="Helvetica Neue"/>
                <a:ea typeface="Helvetica Neue"/>
                <a:cs typeface="Helvetica Neue"/>
              </a:defRPr>
            </a:pPr>
            <a:r>
              <a:rPr sz="2025">
                <a:solidFill>
                  <a:srgbClr val="13212D"/>
                </a:solidFill>
                <a:latin typeface="Helvetica Neue"/>
                <a:ea typeface="Helvetica Neue"/>
                <a:cs typeface="Helvetica Neue"/>
              </a:rPr>
              <a:t>Identify common blood components and indications</a:t>
            </a:r>
          </a:p>
          <a:p xmlns:a="http://schemas.openxmlformats.org/drawingml/2006/main">
            <a:pPr marL="279400" indent="-127000">
              <a:spcAft>
                <a:spcPts val="1300"/>
              </a:spcAft>
              <a:buChar char="•"/>
              <a:defRPr sz="2025">
                <a:solidFill>
                  <a:srgbClr val="13212D"/>
                </a:solidFill>
                <a:latin typeface="Helvetica Neue"/>
                <a:ea typeface="Helvetica Neue"/>
                <a:cs typeface="Helvetica Neue"/>
              </a:defRPr>
            </a:pPr>
            <a:r>
              <a:rPr sz="2025">
                <a:solidFill>
                  <a:srgbClr val="13212D"/>
                </a:solidFill>
                <a:latin typeface="Helvetica Neue"/>
                <a:ea typeface="Helvetica Neue"/>
                <a:cs typeface="Helvetica Neue"/>
              </a:rPr>
              <a:t>Use the institution's approved two-person or electronic verification process. Match the patient, order, compatibility record, unit identifiers, expiration, and product appearance before connection.</a:t>
            </a:r>
          </a:p>
          <a:p xmlns:a="http://schemas.openxmlformats.org/drawingml/2006/main">
            <a:pPr marL="279400" indent="-127000">
              <a:spcAft>
                <a:spcPts val="1300"/>
              </a:spcAft>
              <a:buChar char="•"/>
              <a:defRPr sz="2025">
                <a:solidFill>
                  <a:srgbClr val="13212D"/>
                </a:solidFill>
                <a:latin typeface="Helvetica Neue"/>
                <a:ea typeface="Helvetica Neue"/>
                <a:cs typeface="Helvetica Neue"/>
              </a:defRPr>
            </a:pPr>
            <a:r>
              <a:rPr sz="2025">
                <a:solidFill>
                  <a:srgbClr val="13212D"/>
                </a:solidFill>
                <a:latin typeface="Helvetica Neue"/>
                <a:ea typeface="Helvetica Neue"/>
                <a:cs typeface="Helvetica Neue"/>
              </a:rPr>
              <a:t>Stop the transfusion immediately. Maintain access as policy directs, assess airway and circulation, obtain vital signs, notify the RN and prescriber, recheck identification, and complete required specimens and documentation.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145AA544-21E1-4415-8C3E-FDACE78948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5467350"/>
            <a:ext cx="101917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>
            <a:defPPr>
              <a:defRPr sz="1650" b="1">
                <a:solidFill>
                  <a:srgbClr val="237B82"/>
                </a:solidFill>
                <a:latin typeface="Helvetica Neue"/>
                <a:ea typeface="Helvetica Neue"/>
                <a:cs typeface="Helvetica Neue"/>
              </a:defRPr>
            </a:defPPr>
            <a:lvl1pPr>
              <a:defRPr sz="1650" b="1">
                <a:solidFill>
                  <a:srgbClr val="237B82"/>
                </a:solidFill>
                <a:latin typeface="Helvetica Neue"/>
                <a:ea typeface="Helvetica Neue"/>
                <a:cs typeface="Helvetica Neue"/>
              </a:defRPr>
            </a:lvl1pPr>
            <a:lvl2pPr>
              <a:defRPr sz="1650" b="1">
                <a:solidFill>
                  <a:srgbClr val="237B82"/>
                </a:solidFill>
                <a:latin typeface="Helvetica Neue"/>
                <a:ea typeface="Helvetica Neue"/>
                <a:cs typeface="Helvetica Neue"/>
              </a:defRPr>
            </a:lvl2pPr>
            <a:lvl3pPr>
              <a:defRPr sz="1650" b="1">
                <a:solidFill>
                  <a:srgbClr val="237B82"/>
                </a:solidFill>
                <a:latin typeface="Helvetica Neue"/>
                <a:ea typeface="Helvetica Neue"/>
                <a:cs typeface="Helvetica Neue"/>
              </a:defRPr>
            </a:lvl3pPr>
            <a:lvl4pPr>
              <a:defRPr sz="1650" b="1">
                <a:solidFill>
                  <a:srgbClr val="237B82"/>
                </a:solidFill>
                <a:latin typeface="Helvetica Neue"/>
                <a:ea typeface="Helvetica Neue"/>
                <a:cs typeface="Helvetica Neue"/>
              </a:defRPr>
            </a:lvl4pPr>
            <a:lvl5pPr>
              <a:defRPr sz="1650" b="1">
                <a:solidFill>
                  <a:srgbClr val="237B82"/>
                </a:solidFill>
                <a:latin typeface="Helvetica Neue"/>
                <a:ea typeface="Helvetica Neue"/>
                <a:cs typeface="Helvetica Neue"/>
              </a:defRPr>
            </a:lvl5pPr>
            <a:lvl6pPr>
              <a:defRPr sz="1650" b="1">
                <a:solidFill>
                  <a:srgbClr val="237B82"/>
                </a:solidFill>
                <a:latin typeface="Helvetica Neue"/>
                <a:ea typeface="Helvetica Neue"/>
                <a:cs typeface="Helvetica Neue"/>
              </a:defRPr>
            </a:lvl6pPr>
            <a:lvl7pPr>
              <a:defRPr sz="1650" b="1">
                <a:solidFill>
                  <a:srgbClr val="237B82"/>
                </a:solidFill>
                <a:latin typeface="Helvetica Neue"/>
                <a:ea typeface="Helvetica Neue"/>
                <a:cs typeface="Helvetica Neue"/>
              </a:defRPr>
            </a:lvl7pPr>
            <a:lvl8pPr>
              <a:defRPr sz="1650" b="1">
                <a:solidFill>
                  <a:srgbClr val="237B82"/>
                </a:solidFill>
                <a:latin typeface="Helvetica Neue"/>
                <a:ea typeface="Helvetica Neue"/>
                <a:cs typeface="Helvetica Neue"/>
              </a:defRPr>
            </a:lvl8pPr>
            <a:lvl9pPr>
              <a:defRPr sz="1650" b="1">
                <a:solidFill>
                  <a:srgbClr val="237B82"/>
                </a:solidFill>
                <a:latin typeface="Helvetica Neue"/>
                <a:ea typeface="Helvetica Neue"/>
                <a:cs typeface="Helvetica Neue"/>
              </a:defRPr>
            </a:lvl9pPr>
          </a:lstStyle>
          <a:p xmlns:a="http://schemas.openxmlformats.org/drawingml/2006/main">
            <a:pPr>
              <a:defRPr sz="1650" b="1">
                <a:solidFill>
                  <a:srgbClr val="237B82"/>
                </a:solidFill>
                <a:latin typeface="Helvetica Neue"/>
                <a:ea typeface="Helvetica Neue"/>
                <a:cs typeface="Helvetica Neue"/>
              </a:defRPr>
            </a:pPr>
            <a:r>
              <a:rPr sz="1650" b="1">
                <a:solidFill>
                  <a:srgbClr val="237B82"/>
                </a:solidFill>
                <a:latin typeface="Helvetica Neue"/>
                <a:ea typeface="Helvetica Neue"/>
                <a:cs typeface="Helvetica Neue"/>
              </a:rPr>
              <a:t>Review the course lesson, complete the assessment, and bring questions to the live session.</a:t>
            </a:r>
          </a:p>
        </p:txBody>
      </p:sp>
    </p:spTree>
    <p:extLst>
      <p:ext uri="{BB962C8B-B14F-4D97-AF65-F5344CB8AC3E}">
        <p14:creationId xmlns:p14="http://schemas.microsoft.com/office/powerpoint/2010/main" val="2009532989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2026-10-21T01:34:33.7720000Z</dcterms:created>
  <dcterms:modified xsi:type="dcterms:W3CDTF">2026-10-21T01:34:33.7720000Z</dcterms:modified>
</coreProperties>
</file>