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6acc68f78f34f3b" /><Relationship Type="http://schemas.openxmlformats.org/officeDocument/2006/relationships/extended-properties" Target="/docProps/app.xml" Id="R093629daa3774ce7" /><Relationship Type="http://schemas.openxmlformats.org/officeDocument/2006/relationships/officeDocument" Target="/ppt/presentation.xml" Id="Rd2cf708d6c064770" /></Relationships>
</file>

<file path=ppt/presentation.xml><?xml version="1.0" encoding="utf-8"?>
<p:presentation xmlns:p="http://schemas.openxmlformats.org/presentationml/2006/main">
  <p:sldMasterIdLst>
    <p:sldMasterId xmlns:r="http://schemas.openxmlformats.org/officeDocument/2006/relationships" id="2147483648" r:id="Recc685982e054a5d"/>
  </p:sldMasterIdLst>
  <p:notesMasterIdLst>
    <p:notesMasterId xmlns:r="http://schemas.openxmlformats.org/officeDocument/2006/relationships" r:id="Rbaac5d8cc6184ac3"/>
  </p:notesMasterIdLst>
  <p:sldIdLst>
    <p:sldId xmlns:r="http://schemas.openxmlformats.org/officeDocument/2006/relationships" id="256" r:id="R8b6411f0af6f46cb"/>
    <p:sldId xmlns:r="http://schemas.openxmlformats.org/officeDocument/2006/relationships" id="257" r:id="Rc4e5fc01c27e4236"/>
    <p:sldId xmlns:r="http://schemas.openxmlformats.org/officeDocument/2006/relationships" id="258" r:id="R5a5f58446e174edb"/>
    <p:sldId xmlns:r="http://schemas.openxmlformats.org/officeDocument/2006/relationships" id="259" r:id="R08f75af0fef34d1a"/>
    <p:sldId xmlns:r="http://schemas.openxmlformats.org/officeDocument/2006/relationships" id="260" r:id="Rd8fed2907bef4bde"/>
    <p:sldId xmlns:r="http://schemas.openxmlformats.org/officeDocument/2006/relationships" id="261" r:id="R7917f9e3ac1e4bc6"/>
    <p:sldId xmlns:r="http://schemas.openxmlformats.org/officeDocument/2006/relationships" id="262" r:id="Rda55f7b4e4a146f9"/>
    <p:sldId xmlns:r="http://schemas.openxmlformats.org/officeDocument/2006/relationships" id="263" r:id="Rad596628ae3941b0"/>
    <p:sldId xmlns:r="http://schemas.openxmlformats.org/officeDocument/2006/relationships" id="264" r:id="Red5dc92de9444428"/>
    <p:sldId xmlns:r="http://schemas.openxmlformats.org/officeDocument/2006/relationships" id="265" r:id="R1cca186378ff4a54"/>
    <p:sldId xmlns:r="http://schemas.openxmlformats.org/officeDocument/2006/relationships" id="266" r:id="Rcf66934ca8c2427a"/>
    <p:sldId xmlns:r="http://schemas.openxmlformats.org/officeDocument/2006/relationships" id="267" r:id="Rdf6236f8691b4c6a"/>
    <p:sldId xmlns:r="http://schemas.openxmlformats.org/officeDocument/2006/relationships" id="268" r:id="R5669819dbd944aa6"/>
    <p:sldId xmlns:r="http://schemas.openxmlformats.org/officeDocument/2006/relationships" id="269" r:id="Rf0ab00cb70074d00"/>
    <p:sldId xmlns:r="http://schemas.openxmlformats.org/officeDocument/2006/relationships" id="270" r:id="Rab25175432f343ad"/>
    <p:sldId xmlns:r="http://schemas.openxmlformats.org/officeDocument/2006/relationships" id="271" r:id="R8eacf9b18ea74498"/>
    <p:sldId xmlns:r="http://schemas.openxmlformats.org/officeDocument/2006/relationships" id="272" r:id="R5bd0b594f6cc4296"/>
    <p:sldId xmlns:r="http://schemas.openxmlformats.org/officeDocument/2006/relationships" id="273" r:id="Rb07ca81c2ab341db"/>
    <p:sldId xmlns:r="http://schemas.openxmlformats.org/officeDocument/2006/relationships" id="274" r:id="R350955e6d01b4d86"/>
    <p:sldId xmlns:r="http://schemas.openxmlformats.org/officeDocument/2006/relationships" id="275" r:id="R0788ac7d2d5b4e89"/>
    <p:sldId xmlns:r="http://schemas.openxmlformats.org/officeDocument/2006/relationships" id="276" r:id="R0e2f25ee98604843"/>
    <p:sldId xmlns:r="http://schemas.openxmlformats.org/officeDocument/2006/relationships" id="277" r:id="R2c56dc1f7f264264"/>
    <p:sldId xmlns:r="http://schemas.openxmlformats.org/officeDocument/2006/relationships" id="278" r:id="R339053356a0c42f4"/>
    <p:sldId xmlns:r="http://schemas.openxmlformats.org/officeDocument/2006/relationships" id="279" r:id="R450ee253d0fe4391"/>
    <p:sldId xmlns:r="http://schemas.openxmlformats.org/officeDocument/2006/relationships" id="280" r:id="Re8e0d4c1bc044598"/>
    <p:sldId xmlns:r="http://schemas.openxmlformats.org/officeDocument/2006/relationships" id="281" r:id="Rb26d31bfeaf24237"/>
    <p:sldId xmlns:r="http://schemas.openxmlformats.org/officeDocument/2006/relationships" id="282" r:id="Rb01287ba0fe041dd"/>
    <p:sldId xmlns:r="http://schemas.openxmlformats.org/officeDocument/2006/relationships" id="283" r:id="Raa351d43a7f24997"/>
    <p:sldId xmlns:r="http://schemas.openxmlformats.org/officeDocument/2006/relationships" id="284" r:id="Ra54c4323532f4709"/>
    <p:sldId xmlns:r="http://schemas.openxmlformats.org/officeDocument/2006/relationships" id="285" r:id="R4887dc366338481a"/>
    <p:sldId xmlns:r="http://schemas.openxmlformats.org/officeDocument/2006/relationships" id="286" r:id="R34cc32b5b53a4ccc"/>
    <p:sldId xmlns:r="http://schemas.openxmlformats.org/officeDocument/2006/relationships" id="287" r:id="Re75e2068b81742b0"/>
    <p:sldId xmlns:r="http://schemas.openxmlformats.org/officeDocument/2006/relationships" id="288" r:id="Rda3fe8cec1b14063"/>
    <p:sldId xmlns:r="http://schemas.openxmlformats.org/officeDocument/2006/relationships" id="289" r:id="R5829856a4ffc42d1"/>
    <p:sldId xmlns:r="http://schemas.openxmlformats.org/officeDocument/2006/relationships" id="290" r:id="R204e622864a6493e"/>
    <p:sldId xmlns:r="http://schemas.openxmlformats.org/officeDocument/2006/relationships" id="291" r:id="R7df0faf70813499d"/>
    <p:sldId xmlns:r="http://schemas.openxmlformats.org/officeDocument/2006/relationships" id="292" r:id="Rec3ca82da6014b6c"/>
    <p:sldId xmlns:r="http://schemas.openxmlformats.org/officeDocument/2006/relationships" id="293" r:id="Rcebd03a5595b47c0"/>
    <p:sldId xmlns:r="http://schemas.openxmlformats.org/officeDocument/2006/relationships" id="294" r:id="Rba9232a302c445b2"/>
    <p:sldId xmlns:r="http://schemas.openxmlformats.org/officeDocument/2006/relationships" id="295" r:id="R304d35646a64467c"/>
    <p:sldId xmlns:r="http://schemas.openxmlformats.org/officeDocument/2006/relationships" id="296" r:id="Rc0b85d90374942b3"/>
    <p:sldId xmlns:r="http://schemas.openxmlformats.org/officeDocument/2006/relationships" id="297" r:id="R71be2307caf445e1"/>
    <p:sldId xmlns:r="http://schemas.openxmlformats.org/officeDocument/2006/relationships" id="298" r:id="R0f844d1ced144043"/>
    <p:sldId xmlns:r="http://schemas.openxmlformats.org/officeDocument/2006/relationships" id="299" r:id="Rd2be771045db450d"/>
    <p:sldId xmlns:r="http://schemas.openxmlformats.org/officeDocument/2006/relationships" id="300" r:id="Rce3317cc0a364a1f"/>
    <p:sldId xmlns:r="http://schemas.openxmlformats.org/officeDocument/2006/relationships" id="301" r:id="R9a1778c1b5cd4fc8"/>
    <p:sldId xmlns:r="http://schemas.openxmlformats.org/officeDocument/2006/relationships" id="302" r:id="R6fc7e74f16da4059"/>
    <p:sldId xmlns:r="http://schemas.openxmlformats.org/officeDocument/2006/relationships" id="303" r:id="Rbcac9f14db1a4bc3"/>
    <p:sldId xmlns:r="http://schemas.openxmlformats.org/officeDocument/2006/relationships" id="304" r:id="R7aec6aad6e4742a2"/>
    <p:sldId xmlns:r="http://schemas.openxmlformats.org/officeDocument/2006/relationships" id="305" r:id="R55c3691fc6b54839"/>
    <p:sldId xmlns:r="http://schemas.openxmlformats.org/officeDocument/2006/relationships" id="306" r:id="Rbc6d5df68d264576"/>
    <p:sldId xmlns:r="http://schemas.openxmlformats.org/officeDocument/2006/relationships" id="307" r:id="R0819b72ddf534de1"/>
    <p:sldId xmlns:r="http://schemas.openxmlformats.org/officeDocument/2006/relationships" id="308" r:id="R618112a3f02f4ee9"/>
    <p:sldId xmlns:r="http://schemas.openxmlformats.org/officeDocument/2006/relationships" id="309" r:id="Re5e244f0025f4279"/>
    <p:sldId xmlns:r="http://schemas.openxmlformats.org/officeDocument/2006/relationships" id="310" r:id="R5ca324f24ce34b8c"/>
    <p:sldId xmlns:r="http://schemas.openxmlformats.org/officeDocument/2006/relationships" id="311" r:id="Rf23a1da74b584865"/>
    <p:sldId xmlns:r="http://schemas.openxmlformats.org/officeDocument/2006/relationships" id="312" r:id="Rfddeb704d933487a"/>
    <p:sldId xmlns:r="http://schemas.openxmlformats.org/officeDocument/2006/relationships" id="313" r:id="Rf876d46c9c204a39"/>
    <p:sldId xmlns:r="http://schemas.openxmlformats.org/officeDocument/2006/relationships" id="314" r:id="Re643b096baa44838"/>
    <p:sldId xmlns:r="http://schemas.openxmlformats.org/officeDocument/2006/relationships" id="315" r:id="R8a8e89c68b184ddd"/>
    <p:sldId xmlns:r="http://schemas.openxmlformats.org/officeDocument/2006/relationships" id="316" r:id="Rfdb2fa0a170e4c61"/>
    <p:sldId xmlns:r="http://schemas.openxmlformats.org/officeDocument/2006/relationships" id="317" r:id="Rb4e49ba0e7ad4db8"/>
    <p:sldId xmlns:r="http://schemas.openxmlformats.org/officeDocument/2006/relationships" id="318" r:id="R4941b937f7db4fa6"/>
    <p:sldId xmlns:r="http://schemas.openxmlformats.org/officeDocument/2006/relationships" id="319" r:id="Rf8b046e692f149a7"/>
    <p:sldId xmlns:r="http://schemas.openxmlformats.org/officeDocument/2006/relationships" id="320" r:id="Re8c1724c02a04fe6"/>
    <p:sldId xmlns:r="http://schemas.openxmlformats.org/officeDocument/2006/relationships" id="321" r:id="R52b18c568ea44dc4"/>
    <p:sldId xmlns:r="http://schemas.openxmlformats.org/officeDocument/2006/relationships" id="322" r:id="Rb16079f96d5141ec"/>
    <p:sldId xmlns:r="http://schemas.openxmlformats.org/officeDocument/2006/relationships" id="323" r:id="R4ab8a03cc4ee4ae0"/>
    <p:sldId xmlns:r="http://schemas.openxmlformats.org/officeDocument/2006/relationships" id="324" r:id="R72a3f2c054834c31"/>
    <p:sldId xmlns:r="http://schemas.openxmlformats.org/officeDocument/2006/relationships" id="325" r:id="Rffcfc0c431d64d26"/>
    <p:sldId xmlns:r="http://schemas.openxmlformats.org/officeDocument/2006/relationships" id="326" r:id="R540c3b198052439e"/>
    <p:sldId xmlns:r="http://schemas.openxmlformats.org/officeDocument/2006/relationships" id="327" r:id="R55288d9eaf30405c"/>
    <p:sldId xmlns:r="http://schemas.openxmlformats.org/officeDocument/2006/relationships" id="328" r:id="R6a74ae4e157048c7"/>
    <p:sldId xmlns:r="http://schemas.openxmlformats.org/officeDocument/2006/relationships" id="329" r:id="Rbdaca469f2cf497a"/>
    <p:sldId xmlns:r="http://schemas.openxmlformats.org/officeDocument/2006/relationships" id="330" r:id="Reea48104062e4965"/>
    <p:sldId xmlns:r="http://schemas.openxmlformats.org/officeDocument/2006/relationships" id="331" r:id="Re252dcaa734b4d85"/>
    <p:sldId xmlns:r="http://schemas.openxmlformats.org/officeDocument/2006/relationships" id="332" r:id="R29cb73fed98a40fa"/>
    <p:sldId xmlns:r="http://schemas.openxmlformats.org/officeDocument/2006/relationships" id="333" r:id="R09d6176a86dc4651"/>
    <p:sldId xmlns:r="http://schemas.openxmlformats.org/officeDocument/2006/relationships" id="334" r:id="Re1c0af21d0164900"/>
    <p:sldId xmlns:r="http://schemas.openxmlformats.org/officeDocument/2006/relationships" id="335" r:id="Ra8b84842dad04ea1"/>
    <p:sldId xmlns:r="http://schemas.openxmlformats.org/officeDocument/2006/relationships" id="336" r:id="Rff36643fa84148b2"/>
    <p:sldId xmlns:r="http://schemas.openxmlformats.org/officeDocument/2006/relationships" id="337" r:id="R776f4c56c4b84753"/>
    <p:sldId xmlns:r="http://schemas.openxmlformats.org/officeDocument/2006/relationships" id="338" r:id="R4207cc09f48645d4"/>
    <p:sldId xmlns:r="http://schemas.openxmlformats.org/officeDocument/2006/relationships" id="339" r:id="Rcc88a60db5114911"/>
    <p:sldId xmlns:r="http://schemas.openxmlformats.org/officeDocument/2006/relationships" id="340" r:id="Ra63ff8e0ef364ba4"/>
    <p:sldId xmlns:r="http://schemas.openxmlformats.org/officeDocument/2006/relationships" id="341" r:id="R2fbc36996a324ee7"/>
    <p:sldId xmlns:r="http://schemas.openxmlformats.org/officeDocument/2006/relationships" id="342" r:id="Rbb44756aec6b4f07"/>
    <p:sldId xmlns:r="http://schemas.openxmlformats.org/officeDocument/2006/relationships" id="343" r:id="Rca7255d4497a4a82"/>
    <p:sldId xmlns:r="http://schemas.openxmlformats.org/officeDocument/2006/relationships" id="344" r:id="Rf632b2097c8340d7"/>
    <p:sldId xmlns:r="http://schemas.openxmlformats.org/officeDocument/2006/relationships" id="345" r:id="Rf3994ddbf5c74356"/>
    <p:sldId xmlns:r="http://schemas.openxmlformats.org/officeDocument/2006/relationships" id="346" r:id="R1ec532a8f2c149fd"/>
    <p:sldId xmlns:r="http://schemas.openxmlformats.org/officeDocument/2006/relationships" id="347" r:id="R2e19bd7ad7964549"/>
    <p:sldId xmlns:r="http://schemas.openxmlformats.org/officeDocument/2006/relationships" id="348" r:id="Rd92969a2fd324147"/>
    <p:sldId xmlns:r="http://schemas.openxmlformats.org/officeDocument/2006/relationships" id="349" r:id="R82daf028c19a4889"/>
    <p:sldId xmlns:r="http://schemas.openxmlformats.org/officeDocument/2006/relationships" id="350" r:id="R35cffdf5645e4092"/>
    <p:sldId xmlns:r="http://schemas.openxmlformats.org/officeDocument/2006/relationships" id="351" r:id="R90bbda5027ac41c4"/>
    <p:sldId xmlns:r="http://schemas.openxmlformats.org/officeDocument/2006/relationships" id="352" r:id="R4791d1480aa44620"/>
    <p:sldId xmlns:r="http://schemas.openxmlformats.org/officeDocument/2006/relationships" id="353" r:id="Rb0234872d5664fc1"/>
    <p:sldId xmlns:r="http://schemas.openxmlformats.org/officeDocument/2006/relationships" id="354" r:id="R337ab24d64224585"/>
    <p:sldId xmlns:r="http://schemas.openxmlformats.org/officeDocument/2006/relationships" id="355" r:id="R4abafe852ac347e8"/>
    <p:sldId xmlns:r="http://schemas.openxmlformats.org/officeDocument/2006/relationships" id="356" r:id="Rb89c12a642794c9b"/>
    <p:sldId xmlns:r="http://schemas.openxmlformats.org/officeDocument/2006/relationships" id="357" r:id="Rb3eb407523c4486c"/>
    <p:sldId xmlns:r="http://schemas.openxmlformats.org/officeDocument/2006/relationships" id="358" r:id="R782a5572ffd64722"/>
    <p:sldId xmlns:r="http://schemas.openxmlformats.org/officeDocument/2006/relationships" id="359" r:id="R6d695e92637941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79789f5c5641ff" /><Relationship Type="http://schemas.openxmlformats.org/officeDocument/2006/relationships/slideMaster" Target="/ppt/slideMasters/slideMaster1.xml" Id="Recc685982e054a5d" /><Relationship Type="http://schemas.openxmlformats.org/officeDocument/2006/relationships/notesMaster" Target="/ppt/notesMasters/notesMaster1.xml" Id="Rbaac5d8cc6184ac3" /><Relationship Type="http://schemas.openxmlformats.org/officeDocument/2006/relationships/presProps" Target="/ppt/presProps.xml" Id="Rfb8bdf585a994980" /><Relationship Type="http://schemas.openxmlformats.org/officeDocument/2006/relationships/tableStyles" Target="/ppt/tableStyles.xml" Id="R31f8b728c033405a" /><Relationship Type="http://schemas.openxmlformats.org/officeDocument/2006/relationships/slide" Target="/ppt/slides/slide1.xml" Id="R8b6411f0af6f46cb" /><Relationship Type="http://schemas.openxmlformats.org/officeDocument/2006/relationships/slide" Target="/ppt/slides/slide2.xml" Id="Rc4e5fc01c27e4236" /><Relationship Type="http://schemas.openxmlformats.org/officeDocument/2006/relationships/slide" Target="/ppt/slides/slide3.xml" Id="R5a5f58446e174edb" /><Relationship Type="http://schemas.openxmlformats.org/officeDocument/2006/relationships/slide" Target="/ppt/slides/slide4.xml" Id="R08f75af0fef34d1a" /><Relationship Type="http://schemas.openxmlformats.org/officeDocument/2006/relationships/slide" Target="/ppt/slides/slide5.xml" Id="Rd8fed2907bef4bde" /><Relationship Type="http://schemas.openxmlformats.org/officeDocument/2006/relationships/slide" Target="/ppt/slides/slide6.xml" Id="R7917f9e3ac1e4bc6" /><Relationship Type="http://schemas.openxmlformats.org/officeDocument/2006/relationships/slide" Target="/ppt/slides/slide7.xml" Id="Rda55f7b4e4a146f9" /><Relationship Type="http://schemas.openxmlformats.org/officeDocument/2006/relationships/slide" Target="/ppt/slides/slide8.xml" Id="Rad596628ae3941b0" /><Relationship Type="http://schemas.openxmlformats.org/officeDocument/2006/relationships/slide" Target="/ppt/slides/slide9.xml" Id="Red5dc92de9444428" /><Relationship Type="http://schemas.openxmlformats.org/officeDocument/2006/relationships/slide" Target="/ppt/slides/slide10.xml" Id="R1cca186378ff4a54" /><Relationship Type="http://schemas.openxmlformats.org/officeDocument/2006/relationships/slide" Target="/ppt/slides/slide11.xml" Id="Rcf66934ca8c2427a" /><Relationship Type="http://schemas.openxmlformats.org/officeDocument/2006/relationships/slide" Target="/ppt/slides/slide12.xml" Id="Rdf6236f8691b4c6a" /><Relationship Type="http://schemas.openxmlformats.org/officeDocument/2006/relationships/slide" Target="/ppt/slides/slide13.xml" Id="R5669819dbd944aa6" /><Relationship Type="http://schemas.openxmlformats.org/officeDocument/2006/relationships/slide" Target="/ppt/slides/slide14.xml" Id="Rf0ab00cb70074d00" /><Relationship Type="http://schemas.openxmlformats.org/officeDocument/2006/relationships/slide" Target="/ppt/slides/slide15.xml" Id="Rab25175432f343ad" /><Relationship Type="http://schemas.openxmlformats.org/officeDocument/2006/relationships/slide" Target="/ppt/slides/slide16.xml" Id="R8eacf9b18ea74498" /><Relationship Type="http://schemas.openxmlformats.org/officeDocument/2006/relationships/slide" Target="/ppt/slides/slide17.xml" Id="R5bd0b594f6cc4296" /><Relationship Type="http://schemas.openxmlformats.org/officeDocument/2006/relationships/slide" Target="/ppt/slides/slide18.xml" Id="Rb07ca81c2ab341db" /><Relationship Type="http://schemas.openxmlformats.org/officeDocument/2006/relationships/slide" Target="/ppt/slides/slide19.xml" Id="R350955e6d01b4d86" /><Relationship Type="http://schemas.openxmlformats.org/officeDocument/2006/relationships/slide" Target="/ppt/slides/slide20.xml" Id="R0788ac7d2d5b4e89" /><Relationship Type="http://schemas.openxmlformats.org/officeDocument/2006/relationships/slide" Target="/ppt/slides/slide21.xml" Id="R0e2f25ee98604843" /><Relationship Type="http://schemas.openxmlformats.org/officeDocument/2006/relationships/slide" Target="/ppt/slides/slide22.xml" Id="R2c56dc1f7f264264" /><Relationship Type="http://schemas.openxmlformats.org/officeDocument/2006/relationships/slide" Target="/ppt/slides/slide23.xml" Id="R339053356a0c42f4" /><Relationship Type="http://schemas.openxmlformats.org/officeDocument/2006/relationships/slide" Target="/ppt/slides/slide24.xml" Id="R450ee253d0fe4391" /><Relationship Type="http://schemas.openxmlformats.org/officeDocument/2006/relationships/slide" Target="/ppt/slides/slide25.xml" Id="Re8e0d4c1bc044598" /><Relationship Type="http://schemas.openxmlformats.org/officeDocument/2006/relationships/slide" Target="/ppt/slides/slide26.xml" Id="Rb26d31bfeaf24237" /><Relationship Type="http://schemas.openxmlformats.org/officeDocument/2006/relationships/slide" Target="/ppt/slides/slide27.xml" Id="Rb01287ba0fe041dd" /><Relationship Type="http://schemas.openxmlformats.org/officeDocument/2006/relationships/slide" Target="/ppt/slides/slide28.xml" Id="Raa351d43a7f24997" /><Relationship Type="http://schemas.openxmlformats.org/officeDocument/2006/relationships/slide" Target="/ppt/slides/slide29.xml" Id="Ra54c4323532f4709" /><Relationship Type="http://schemas.openxmlformats.org/officeDocument/2006/relationships/slide" Target="/ppt/slides/slide30.xml" Id="R4887dc366338481a" /><Relationship Type="http://schemas.openxmlformats.org/officeDocument/2006/relationships/slide" Target="/ppt/slides/slide31.xml" Id="R34cc32b5b53a4ccc" /><Relationship Type="http://schemas.openxmlformats.org/officeDocument/2006/relationships/slide" Target="/ppt/slides/slide32.xml" Id="Re75e2068b81742b0" /><Relationship Type="http://schemas.openxmlformats.org/officeDocument/2006/relationships/slide" Target="/ppt/slides/slide33.xml" Id="Rda3fe8cec1b14063" /><Relationship Type="http://schemas.openxmlformats.org/officeDocument/2006/relationships/slide" Target="/ppt/slides/slide34.xml" Id="R5829856a4ffc42d1" /><Relationship Type="http://schemas.openxmlformats.org/officeDocument/2006/relationships/slide" Target="/ppt/slides/slide35.xml" Id="R204e622864a6493e" /><Relationship Type="http://schemas.openxmlformats.org/officeDocument/2006/relationships/slide" Target="/ppt/slides/slide36.xml" Id="R7df0faf70813499d" /><Relationship Type="http://schemas.openxmlformats.org/officeDocument/2006/relationships/slide" Target="/ppt/slides/slide37.xml" Id="Rec3ca82da6014b6c" /><Relationship Type="http://schemas.openxmlformats.org/officeDocument/2006/relationships/slide" Target="/ppt/slides/slide38.xml" Id="Rcebd03a5595b47c0" /><Relationship Type="http://schemas.openxmlformats.org/officeDocument/2006/relationships/slide" Target="/ppt/slides/slide39.xml" Id="Rba9232a302c445b2" /><Relationship Type="http://schemas.openxmlformats.org/officeDocument/2006/relationships/slide" Target="/ppt/slides/slide40.xml" Id="R304d35646a64467c" /><Relationship Type="http://schemas.openxmlformats.org/officeDocument/2006/relationships/slide" Target="/ppt/slides/slide41.xml" Id="Rc0b85d90374942b3" /><Relationship Type="http://schemas.openxmlformats.org/officeDocument/2006/relationships/slide" Target="/ppt/slides/slide42.xml" Id="R71be2307caf445e1" /><Relationship Type="http://schemas.openxmlformats.org/officeDocument/2006/relationships/slide" Target="/ppt/slides/slide43.xml" Id="R0f844d1ced144043" /><Relationship Type="http://schemas.openxmlformats.org/officeDocument/2006/relationships/slide" Target="/ppt/slides/slide44.xml" Id="Rd2be771045db450d" /><Relationship Type="http://schemas.openxmlformats.org/officeDocument/2006/relationships/slide" Target="/ppt/slides/slide45.xml" Id="Rce3317cc0a364a1f" /><Relationship Type="http://schemas.openxmlformats.org/officeDocument/2006/relationships/slide" Target="/ppt/slides/slide46.xml" Id="R9a1778c1b5cd4fc8" /><Relationship Type="http://schemas.openxmlformats.org/officeDocument/2006/relationships/slide" Target="/ppt/slides/slide47.xml" Id="R6fc7e74f16da4059" /><Relationship Type="http://schemas.openxmlformats.org/officeDocument/2006/relationships/slide" Target="/ppt/slides/slide48.xml" Id="Rbcac9f14db1a4bc3" /><Relationship Type="http://schemas.openxmlformats.org/officeDocument/2006/relationships/slide" Target="/ppt/slides/slide49.xml" Id="R7aec6aad6e4742a2" /><Relationship Type="http://schemas.openxmlformats.org/officeDocument/2006/relationships/slide" Target="/ppt/slides/slide50.xml" Id="R55c3691fc6b54839" /><Relationship Type="http://schemas.openxmlformats.org/officeDocument/2006/relationships/slide" Target="/ppt/slides/slide51.xml" Id="Rbc6d5df68d264576" /><Relationship Type="http://schemas.openxmlformats.org/officeDocument/2006/relationships/slide" Target="/ppt/slides/slide52.xml" Id="R0819b72ddf534de1" /><Relationship Type="http://schemas.openxmlformats.org/officeDocument/2006/relationships/slide" Target="/ppt/slides/slide53.xml" Id="R618112a3f02f4ee9" /><Relationship Type="http://schemas.openxmlformats.org/officeDocument/2006/relationships/slide" Target="/ppt/slides/slide54.xml" Id="Re5e244f0025f4279" /><Relationship Type="http://schemas.openxmlformats.org/officeDocument/2006/relationships/slide" Target="/ppt/slides/slide55.xml" Id="R5ca324f24ce34b8c" /><Relationship Type="http://schemas.openxmlformats.org/officeDocument/2006/relationships/slide" Target="/ppt/slides/slide56.xml" Id="Rf23a1da74b584865" /><Relationship Type="http://schemas.openxmlformats.org/officeDocument/2006/relationships/slide" Target="/ppt/slides/slide57.xml" Id="Rfddeb704d933487a" /><Relationship Type="http://schemas.openxmlformats.org/officeDocument/2006/relationships/slide" Target="/ppt/slides/slide58.xml" Id="Rf876d46c9c204a39" /><Relationship Type="http://schemas.openxmlformats.org/officeDocument/2006/relationships/slide" Target="/ppt/slides/slide59.xml" Id="Re643b096baa44838" /><Relationship Type="http://schemas.openxmlformats.org/officeDocument/2006/relationships/slide" Target="/ppt/slides/slide60.xml" Id="R8a8e89c68b184ddd" /><Relationship Type="http://schemas.openxmlformats.org/officeDocument/2006/relationships/slide" Target="/ppt/slides/slide61.xml" Id="Rfdb2fa0a170e4c61" /><Relationship Type="http://schemas.openxmlformats.org/officeDocument/2006/relationships/slide" Target="/ppt/slides/slide62.xml" Id="Rb4e49ba0e7ad4db8" /><Relationship Type="http://schemas.openxmlformats.org/officeDocument/2006/relationships/slide" Target="/ppt/slides/slide63.xml" Id="R4941b937f7db4fa6" /><Relationship Type="http://schemas.openxmlformats.org/officeDocument/2006/relationships/slide" Target="/ppt/slides/slide64.xml" Id="Rf8b046e692f149a7" /><Relationship Type="http://schemas.openxmlformats.org/officeDocument/2006/relationships/slide" Target="/ppt/slides/slide65.xml" Id="Re8c1724c02a04fe6" /><Relationship Type="http://schemas.openxmlformats.org/officeDocument/2006/relationships/slide" Target="/ppt/slides/slide66.xml" Id="R52b18c568ea44dc4" /><Relationship Type="http://schemas.openxmlformats.org/officeDocument/2006/relationships/slide" Target="/ppt/slides/slide67.xml" Id="Rb16079f96d5141ec" /><Relationship Type="http://schemas.openxmlformats.org/officeDocument/2006/relationships/slide" Target="/ppt/slides/slide68.xml" Id="R4ab8a03cc4ee4ae0" /><Relationship Type="http://schemas.openxmlformats.org/officeDocument/2006/relationships/slide" Target="/ppt/slides/slide69.xml" Id="R72a3f2c054834c31" /><Relationship Type="http://schemas.openxmlformats.org/officeDocument/2006/relationships/slide" Target="/ppt/slides/slide70.xml" Id="Rffcfc0c431d64d26" /><Relationship Type="http://schemas.openxmlformats.org/officeDocument/2006/relationships/slide" Target="/ppt/slides/slide71.xml" Id="R540c3b198052439e" /><Relationship Type="http://schemas.openxmlformats.org/officeDocument/2006/relationships/slide" Target="/ppt/slides/slide72.xml" Id="R55288d9eaf30405c" /><Relationship Type="http://schemas.openxmlformats.org/officeDocument/2006/relationships/slide" Target="/ppt/slides/slide73.xml" Id="R6a74ae4e157048c7" /><Relationship Type="http://schemas.openxmlformats.org/officeDocument/2006/relationships/slide" Target="/ppt/slides/slide74.xml" Id="Rbdaca469f2cf497a" /><Relationship Type="http://schemas.openxmlformats.org/officeDocument/2006/relationships/slide" Target="/ppt/slides/slide75.xml" Id="Reea48104062e4965" /><Relationship Type="http://schemas.openxmlformats.org/officeDocument/2006/relationships/slide" Target="/ppt/slides/slide76.xml" Id="Re252dcaa734b4d85" /><Relationship Type="http://schemas.openxmlformats.org/officeDocument/2006/relationships/slide" Target="/ppt/slides/slide77.xml" Id="R29cb73fed98a40fa" /><Relationship Type="http://schemas.openxmlformats.org/officeDocument/2006/relationships/slide" Target="/ppt/slides/slide78.xml" Id="R09d6176a86dc4651" /><Relationship Type="http://schemas.openxmlformats.org/officeDocument/2006/relationships/slide" Target="/ppt/slides/slide79.xml" Id="Re1c0af21d0164900" /><Relationship Type="http://schemas.openxmlformats.org/officeDocument/2006/relationships/slide" Target="/ppt/slides/slide80.xml" Id="Ra8b84842dad04ea1" /><Relationship Type="http://schemas.openxmlformats.org/officeDocument/2006/relationships/slide" Target="/ppt/slides/slide81.xml" Id="Rff36643fa84148b2" /><Relationship Type="http://schemas.openxmlformats.org/officeDocument/2006/relationships/slide" Target="/ppt/slides/slide82.xml" Id="R776f4c56c4b84753" /><Relationship Type="http://schemas.openxmlformats.org/officeDocument/2006/relationships/slide" Target="/ppt/slides/slide83.xml" Id="R4207cc09f48645d4" /><Relationship Type="http://schemas.openxmlformats.org/officeDocument/2006/relationships/slide" Target="/ppt/slides/slide84.xml" Id="Rcc88a60db5114911" /><Relationship Type="http://schemas.openxmlformats.org/officeDocument/2006/relationships/slide" Target="/ppt/slides/slide85.xml" Id="Ra63ff8e0ef364ba4" /><Relationship Type="http://schemas.openxmlformats.org/officeDocument/2006/relationships/slide" Target="/ppt/slides/slide86.xml" Id="R2fbc36996a324ee7" /><Relationship Type="http://schemas.openxmlformats.org/officeDocument/2006/relationships/slide" Target="/ppt/slides/slide87.xml" Id="Rbb44756aec6b4f07" /><Relationship Type="http://schemas.openxmlformats.org/officeDocument/2006/relationships/slide" Target="/ppt/slides/slide88.xml" Id="Rca7255d4497a4a82" /><Relationship Type="http://schemas.openxmlformats.org/officeDocument/2006/relationships/slide" Target="/ppt/slides/slide89.xml" Id="Rf632b2097c8340d7" /><Relationship Type="http://schemas.openxmlformats.org/officeDocument/2006/relationships/slide" Target="/ppt/slides/slide90.xml" Id="Rf3994ddbf5c74356" /><Relationship Type="http://schemas.openxmlformats.org/officeDocument/2006/relationships/slide" Target="/ppt/slides/slide91.xml" Id="R1ec532a8f2c149fd" /><Relationship Type="http://schemas.openxmlformats.org/officeDocument/2006/relationships/slide" Target="/ppt/slides/slide92.xml" Id="R2e19bd7ad7964549" /><Relationship Type="http://schemas.openxmlformats.org/officeDocument/2006/relationships/slide" Target="/ppt/slides/slide93.xml" Id="Rd92969a2fd324147" /><Relationship Type="http://schemas.openxmlformats.org/officeDocument/2006/relationships/slide" Target="/ppt/slides/slide94.xml" Id="R82daf028c19a4889" /><Relationship Type="http://schemas.openxmlformats.org/officeDocument/2006/relationships/slide" Target="/ppt/slides/slide95.xml" Id="R35cffdf5645e4092" /><Relationship Type="http://schemas.openxmlformats.org/officeDocument/2006/relationships/slide" Target="/ppt/slides/slide96.xml" Id="R90bbda5027ac41c4" /><Relationship Type="http://schemas.openxmlformats.org/officeDocument/2006/relationships/slide" Target="/ppt/slides/slide97.xml" Id="R4791d1480aa44620" /><Relationship Type="http://schemas.openxmlformats.org/officeDocument/2006/relationships/slide" Target="/ppt/slides/slide98.xml" Id="Rb0234872d5664fc1" /><Relationship Type="http://schemas.openxmlformats.org/officeDocument/2006/relationships/slide" Target="/ppt/slides/slide99.xml" Id="R337ab24d64224585" /><Relationship Type="http://schemas.openxmlformats.org/officeDocument/2006/relationships/slide" Target="/ppt/slides/slide100.xml" Id="R4abafe852ac347e8" /><Relationship Type="http://schemas.openxmlformats.org/officeDocument/2006/relationships/slide" Target="/ppt/slides/slide101.xml" Id="Rb89c12a642794c9b" /><Relationship Type="http://schemas.openxmlformats.org/officeDocument/2006/relationships/slide" Target="/ppt/slides/slide102.xml" Id="Rb3eb407523c4486c" /><Relationship Type="http://schemas.openxmlformats.org/officeDocument/2006/relationships/slide" Target="/ppt/slides/slide103.xml" Id="R782a5572ffd64722" /><Relationship Type="http://schemas.openxmlformats.org/officeDocument/2006/relationships/slide" Target="/ppt/slides/slide104.xml" Id="R6d695e92637941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b57be68f5541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aeaf26a58a4a17" /><Relationship Type="http://schemas.openxmlformats.org/officeDocument/2006/relationships/notesMaster" Target="/ppt/notesMasters/notesMaster1.xml" Id="R4c483ec6d0e044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70998684c94b2b" /><Relationship Type="http://schemas.openxmlformats.org/officeDocument/2006/relationships/notesMaster" Target="/ppt/notesMasters/notesMaster1.xml" Id="R418bee82f4764e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cdce96b81d4d62" /><Relationship Type="http://schemas.openxmlformats.org/officeDocument/2006/relationships/notesMaster" Target="/ppt/notesMasters/notesMaster1.xml" Id="R5fadb5da290f48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37719ce0c04cf7" /><Relationship Type="http://schemas.openxmlformats.org/officeDocument/2006/relationships/notesMaster" Target="/ppt/notesMasters/notesMaster1.xml" Id="R23f31eb3645143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bf0a2900f5241d5" /><Relationship Type="http://schemas.openxmlformats.org/officeDocument/2006/relationships/notesMaster" Target="/ppt/notesMasters/notesMaster1.xml" Id="Ra5d71b2c57ed41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4c980950424d1d" /><Relationship Type="http://schemas.openxmlformats.org/officeDocument/2006/relationships/notesMaster" Target="/ppt/notesMasters/notesMaster1.xml" Id="Ra4e28520dd894c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f0450a974a40ac" /><Relationship Type="http://schemas.openxmlformats.org/officeDocument/2006/relationships/notesMaster" Target="/ppt/notesMasters/notesMaster1.xml" Id="Rbf8f4f27a082432c" /></Relationships>
</file>

<file path=ppt/notesSlides/_rels/notesSlide8.xml.rels>&#65279;<?xml version="1.0" encoding="utf-8"?><Relationships xmlns="http://schemas.openxmlformats.org/package/2006/relationships"><Relationship Type="http://schemas.openxmlformats.org/officeDocument/2006/relationships/slide" Target="/ppt/slides/slide8.xml" Id="Rf272c3828b0a46a0" /><Relationship Type="http://schemas.openxmlformats.org/officeDocument/2006/relationships/notesMaster" Target="/ppt/notesMasters/notesMaster1.xml" Id="Raff458cdf13d4e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264c5cd2a244f3" /><Relationship Type="http://schemas.openxmlformats.org/officeDocument/2006/relationships/notesMaster" Target="/ppt/notesMasters/notesMaster1.xml" Id="Rf6892884863f49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726cf496fa8428b" /><Relationship Type="http://schemas.openxmlformats.org/officeDocument/2006/relationships/notesMaster" Target="/ppt/notesMasters/notesMaster1.xml" Id="R97be9d3ba1dd437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ab306a7caaa41da" /><Relationship Type="http://schemas.openxmlformats.org/officeDocument/2006/relationships/notesMaster" Target="/ppt/notesMasters/notesMaster1.xml" Id="R826a97f0fa784cc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3c0772d2a1430b" /><Relationship Type="http://schemas.openxmlformats.org/officeDocument/2006/relationships/notesMaster" Target="/ppt/notesMasters/notesMaster1.xml" Id="R3fbd754df3e7484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236865232554931" /><Relationship Type="http://schemas.openxmlformats.org/officeDocument/2006/relationships/notesMaster" Target="/ppt/notesMasters/notesMaster1.xml" Id="R44a9ff2387294d2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1e4e0ba30554f32" /><Relationship Type="http://schemas.openxmlformats.org/officeDocument/2006/relationships/notesMaster" Target="/ppt/notesMasters/notesMaster1.xml" Id="R3071b21504bb45f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def2b879a0b4d38" /><Relationship Type="http://schemas.openxmlformats.org/officeDocument/2006/relationships/notesMaster" Target="/ppt/notesMasters/notesMaster1.xml" Id="R76cb3f0a0398426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f01e2bc23154a8e" /><Relationship Type="http://schemas.openxmlformats.org/officeDocument/2006/relationships/notesMaster" Target="/ppt/notesMasters/notesMaster1.xml" Id="R290f622652e1404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ea05b9267544c95" /><Relationship Type="http://schemas.openxmlformats.org/officeDocument/2006/relationships/notesMaster" Target="/ppt/notesMasters/notesMaster1.xml" Id="R619b257c1f0345a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e45add67a694be8" /><Relationship Type="http://schemas.openxmlformats.org/officeDocument/2006/relationships/notesMaster" Target="/ppt/notesMasters/notesMaster1.xml" Id="R14670a4138a14a7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c9b75acc24e49af" /><Relationship Type="http://schemas.openxmlformats.org/officeDocument/2006/relationships/notesMaster" Target="/ppt/notesMasters/notesMaster1.xml" Id="R3a41fc68faa140b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ad591b005fc4ee7" /><Relationship Type="http://schemas.openxmlformats.org/officeDocument/2006/relationships/notesMaster" Target="/ppt/notesMasters/notesMaster1.xml" Id="R7ee0970705f54e4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d9323c8c9c84d61" /><Relationship Type="http://schemas.openxmlformats.org/officeDocument/2006/relationships/notesMaster" Target="/ppt/notesMasters/notesMaster1.xml" Id="R40b84ceb0aed415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dd5a46e76394f76" /><Relationship Type="http://schemas.openxmlformats.org/officeDocument/2006/relationships/notesMaster" Target="/ppt/notesMasters/notesMaster1.xml" Id="R3385cbda9dad49d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489eeb36835444a" /><Relationship Type="http://schemas.openxmlformats.org/officeDocument/2006/relationships/notesMaster" Target="/ppt/notesMasters/notesMaster1.xml" Id="R1834f74016274fa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810e00174d64014" /><Relationship Type="http://schemas.openxmlformats.org/officeDocument/2006/relationships/notesMaster" Target="/ppt/notesMasters/notesMaster1.xml" Id="R0161bda6df85413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33d88d83f0e4cc6" /><Relationship Type="http://schemas.openxmlformats.org/officeDocument/2006/relationships/notesMaster" Target="/ppt/notesMasters/notesMaster1.xml" Id="R8238c9ef6a744b6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5ff542a51844ff2" /><Relationship Type="http://schemas.openxmlformats.org/officeDocument/2006/relationships/notesMaster" Target="/ppt/notesMasters/notesMaster1.xml" Id="R31de008f582a406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67154df826f42f0" /><Relationship Type="http://schemas.openxmlformats.org/officeDocument/2006/relationships/notesMaster" Target="/ppt/notesMasters/notesMaster1.xml" Id="R71a8d0ce7f7c4e1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abacaa2f5074916" /><Relationship Type="http://schemas.openxmlformats.org/officeDocument/2006/relationships/notesMaster" Target="/ppt/notesMasters/notesMaster1.xml" Id="Rcc4b56b17701417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60b69ee31c64cc6" /><Relationship Type="http://schemas.openxmlformats.org/officeDocument/2006/relationships/notesMaster" Target="/ppt/notesMasters/notesMaster1.xml" Id="R5ed726caff6d49b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0a79205a921431d" /><Relationship Type="http://schemas.openxmlformats.org/officeDocument/2006/relationships/notesMaster" Target="/ppt/notesMasters/notesMaster1.xml" Id="Ra8affc1504c5461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235271247f3464c" /><Relationship Type="http://schemas.openxmlformats.org/officeDocument/2006/relationships/notesMaster" Target="/ppt/notesMasters/notesMaster1.xml" Id="Rc8f2a350a7b34de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d961b80a2e64aae" /><Relationship Type="http://schemas.openxmlformats.org/officeDocument/2006/relationships/notesMaster" Target="/ppt/notesMasters/notesMaster1.xml" Id="Rc951f093b9dd432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367ecad85b04596" /><Relationship Type="http://schemas.openxmlformats.org/officeDocument/2006/relationships/notesMaster" Target="/ppt/notesMasters/notesMaster1.xml" Id="R479f62dc9e0f4f0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0bf114addbc478d" /><Relationship Type="http://schemas.openxmlformats.org/officeDocument/2006/relationships/notesMaster" Target="/ppt/notesMasters/notesMaster1.xml" Id="R5448c830098842c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56aaa8b8ef344b3" /><Relationship Type="http://schemas.openxmlformats.org/officeDocument/2006/relationships/notesMaster" Target="/ppt/notesMasters/notesMaster1.xml" Id="R7738e8293e804fe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832bd591bb049d8" /><Relationship Type="http://schemas.openxmlformats.org/officeDocument/2006/relationships/notesMaster" Target="/ppt/notesMasters/notesMaster1.xml" Id="R5165e643cefa471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bac3c2c3eab422e" /><Relationship Type="http://schemas.openxmlformats.org/officeDocument/2006/relationships/notesMaster" Target="/ppt/notesMasters/notesMaster1.xml" Id="R02ace044af1246b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4116679446a4d72" /><Relationship Type="http://schemas.openxmlformats.org/officeDocument/2006/relationships/notesMaster" Target="/ppt/notesMasters/notesMaster1.xml" Id="R75c77c0660c4431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4331241367c4f0d" /><Relationship Type="http://schemas.openxmlformats.org/officeDocument/2006/relationships/notesMaster" Target="/ppt/notesMasters/notesMaster1.xml" Id="Re8012877cdd8406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d10119fd13b4cc6" /><Relationship Type="http://schemas.openxmlformats.org/officeDocument/2006/relationships/notesMaster" Target="/ppt/notesMasters/notesMaster1.xml" Id="Rcf328b8cdb50400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e760cd0196694064" /><Relationship Type="http://schemas.openxmlformats.org/officeDocument/2006/relationships/notesMaster" Target="/ppt/notesMasters/notesMaster1.xml" Id="Rdce805b2eaa5445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3d92b4e80a642cb" /><Relationship Type="http://schemas.openxmlformats.org/officeDocument/2006/relationships/notesMaster" Target="/ppt/notesMasters/notesMaster1.xml" Id="R27df90a6a2ba428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f4a0a36063240db" /><Relationship Type="http://schemas.openxmlformats.org/officeDocument/2006/relationships/notesMaster" Target="/ppt/notesMasters/notesMaster1.xml" Id="R5c2a898e93944ff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52963a60000490a" /><Relationship Type="http://schemas.openxmlformats.org/officeDocument/2006/relationships/notesMaster" Target="/ppt/notesMasters/notesMaster1.xml" Id="R909fb497e51c4b5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4b1a2be7eaa4d84" /><Relationship Type="http://schemas.openxmlformats.org/officeDocument/2006/relationships/notesMaster" Target="/ppt/notesMasters/notesMaster1.xml" Id="R66df006480c64b0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24e61a17712427a" /><Relationship Type="http://schemas.openxmlformats.org/officeDocument/2006/relationships/notesMaster" Target="/ppt/notesMasters/notesMaster1.xml" Id="R4ef868e52520429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aa82c7207a2a4e90" /><Relationship Type="http://schemas.openxmlformats.org/officeDocument/2006/relationships/notesMaster" Target="/ppt/notesMasters/notesMaster1.xml" Id="R4c8e8f807a294da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44bc8aa0843448e" /><Relationship Type="http://schemas.openxmlformats.org/officeDocument/2006/relationships/notesMaster" Target="/ppt/notesMasters/notesMaster1.xml" Id="Rbd83db0fae734aad"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7144c6f74234ba2" /><Relationship Type="http://schemas.openxmlformats.org/officeDocument/2006/relationships/notesMaster" Target="/ppt/notesMasters/notesMaster1.xml" Id="R7c45aec9de5b42d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e314e62685b460e" /><Relationship Type="http://schemas.openxmlformats.org/officeDocument/2006/relationships/notesMaster" Target="/ppt/notesMasters/notesMaster1.xml" Id="Rf203d67274d94293"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fa2bfcf7179841c7" /><Relationship Type="http://schemas.openxmlformats.org/officeDocument/2006/relationships/notesMaster" Target="/ppt/notesMasters/notesMaster1.xml" Id="Ref7ff05dae7e48ad"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e1f913fcf28465a" /><Relationship Type="http://schemas.openxmlformats.org/officeDocument/2006/relationships/notesMaster" Target="/ppt/notesMasters/notesMaster1.xml" Id="R5b29ca5943a64422"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a91088c72277453c" /><Relationship Type="http://schemas.openxmlformats.org/officeDocument/2006/relationships/notesMaster" Target="/ppt/notesMasters/notesMaster1.xml" Id="R36152583af674c6d"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d9de6c0c99f142d4" /><Relationship Type="http://schemas.openxmlformats.org/officeDocument/2006/relationships/notesMaster" Target="/ppt/notesMasters/notesMaster1.xml" Id="R41d2d157f4564ca2"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ef137f575df44eb4" /><Relationship Type="http://schemas.openxmlformats.org/officeDocument/2006/relationships/notesMaster" Target="/ppt/notesMasters/notesMaster1.xml" Id="Rd403a16162af4af7"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969e4ee09b7549de" /><Relationship Type="http://schemas.openxmlformats.org/officeDocument/2006/relationships/notesMaster" Target="/ppt/notesMasters/notesMaster1.xml" Id="R987fcdd984d844b9"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30d5f3336c62497a" /><Relationship Type="http://schemas.openxmlformats.org/officeDocument/2006/relationships/notesMaster" Target="/ppt/notesMasters/notesMaster1.xml" Id="R4a68031533eb4cc5"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5fec20c929bf4c6f" /><Relationship Type="http://schemas.openxmlformats.org/officeDocument/2006/relationships/notesMaster" Target="/ppt/notesMasters/notesMaster1.xml" Id="Rbc122e771b4048b7"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869d3ed2a7674a9c" /><Relationship Type="http://schemas.openxmlformats.org/officeDocument/2006/relationships/notesMaster" Target="/ppt/notesMasters/notesMaster1.xml" Id="R911dcb5286884d3f"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8ad35301e18c406d" /><Relationship Type="http://schemas.openxmlformats.org/officeDocument/2006/relationships/notesMaster" Target="/ppt/notesMasters/notesMaster1.xml" Id="Ref97822a8c1745d5"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562a9ac8f0884a18" /><Relationship Type="http://schemas.openxmlformats.org/officeDocument/2006/relationships/notesMaster" Target="/ppt/notesMasters/notesMaster1.xml" Id="Rdab5d41a089642de"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10cf14f1e2844357" /><Relationship Type="http://schemas.openxmlformats.org/officeDocument/2006/relationships/notesMaster" Target="/ppt/notesMasters/notesMaster1.xml" Id="R120cf770b01d4798"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13ba177c211d4e1e" /><Relationship Type="http://schemas.openxmlformats.org/officeDocument/2006/relationships/notesMaster" Target="/ppt/notesMasters/notesMaster1.xml" Id="R0505782e4a79436c"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6bb33f855224476b" /><Relationship Type="http://schemas.openxmlformats.org/officeDocument/2006/relationships/notesMaster" Target="/ppt/notesMasters/notesMaster1.xml" Id="R88da77997efe4f42"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aef5bb7c20804822" /><Relationship Type="http://schemas.openxmlformats.org/officeDocument/2006/relationships/notesMaster" Target="/ppt/notesMasters/notesMaster1.xml" Id="R239a1c23f1364829"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4c07702cf9d34439" /><Relationship Type="http://schemas.openxmlformats.org/officeDocument/2006/relationships/notesMaster" Target="/ppt/notesMasters/notesMaster1.xml" Id="R83dc3e005428475c"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d859a4dd494148d1" /><Relationship Type="http://schemas.openxmlformats.org/officeDocument/2006/relationships/notesMaster" Target="/ppt/notesMasters/notesMaster1.xml" Id="Rc8dbc7b921b54f0a"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edbbad88361e44dd" /><Relationship Type="http://schemas.openxmlformats.org/officeDocument/2006/relationships/notesMaster" Target="/ppt/notesMasters/notesMaster1.xml" Id="R0167366bd3584bee"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4ba7b47b5bdf4c26" /><Relationship Type="http://schemas.openxmlformats.org/officeDocument/2006/relationships/notesMaster" Target="/ppt/notesMasters/notesMaster1.xml" Id="Ra3c0ed7a0c154a1a"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6cae5801b4f54bfe" /><Relationship Type="http://schemas.openxmlformats.org/officeDocument/2006/relationships/notesMaster" Target="/ppt/notesMasters/notesMaster1.xml" Id="R5032a62d81cf46b0"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740a45a2cad2427c" /><Relationship Type="http://schemas.openxmlformats.org/officeDocument/2006/relationships/notesMaster" Target="/ppt/notesMasters/notesMaster1.xml" Id="Rbe03bcaeaadd4d15"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aa5d4c8fce1f4b43" /><Relationship Type="http://schemas.openxmlformats.org/officeDocument/2006/relationships/notesMaster" Target="/ppt/notesMasters/notesMaster1.xml" Id="Rc32bfc9873b54146"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26370a081bd844b6" /><Relationship Type="http://schemas.openxmlformats.org/officeDocument/2006/relationships/notesMaster" Target="/ppt/notesMasters/notesMaster1.xml" Id="Re8b12a8d8c674245"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12c98f018b354c82" /><Relationship Type="http://schemas.openxmlformats.org/officeDocument/2006/relationships/notesMaster" Target="/ppt/notesMasters/notesMaster1.xml" Id="R040019aba0ff46f4"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52bd9755c8464f52" /><Relationship Type="http://schemas.openxmlformats.org/officeDocument/2006/relationships/notesMaster" Target="/ppt/notesMasters/notesMaster1.xml" Id="R90d72ae7eca14b89"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0d2c3f85a6124489" /><Relationship Type="http://schemas.openxmlformats.org/officeDocument/2006/relationships/notesMaster" Target="/ppt/notesMasters/notesMaster1.xml" Id="R3780479a6970431a"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38fefe57cf1341dd" /><Relationship Type="http://schemas.openxmlformats.org/officeDocument/2006/relationships/notesMaster" Target="/ppt/notesMasters/notesMaster1.xml" Id="R9ad22a5ae35244e7"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74ef65af1d39427f" /><Relationship Type="http://schemas.openxmlformats.org/officeDocument/2006/relationships/notesMaster" Target="/ppt/notesMasters/notesMaster1.xml" Id="R0adc14a8dfd943a4"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107448608e724ac9" /><Relationship Type="http://schemas.openxmlformats.org/officeDocument/2006/relationships/notesMaster" Target="/ppt/notesMasters/notesMaster1.xml" Id="R881a110f8cef4ba8"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f85588f2ffe44bbb" /><Relationship Type="http://schemas.openxmlformats.org/officeDocument/2006/relationships/notesMaster" Target="/ppt/notesMasters/notesMaster1.xml" Id="R2db7651a28784057"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8fe6c5e4ee234e56" /><Relationship Type="http://schemas.openxmlformats.org/officeDocument/2006/relationships/notesMaster" Target="/ppt/notesMasters/notesMaster1.xml" Id="Ra4f52ab1bcf64010"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9d53f2ffc18f4bd4" /><Relationship Type="http://schemas.openxmlformats.org/officeDocument/2006/relationships/notesMaster" Target="/ppt/notesMasters/notesMaster1.xml" Id="R8dc2fa77eeda46ab"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6d3adec1a1a542b3" /><Relationship Type="http://schemas.openxmlformats.org/officeDocument/2006/relationships/notesMaster" Target="/ppt/notesMasters/notesMaster1.xml" Id="R7b93e77de4dc497f"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c99333d4ac754605" /><Relationship Type="http://schemas.openxmlformats.org/officeDocument/2006/relationships/notesMaster" Target="/ppt/notesMasters/notesMaster1.xml" Id="Rf571d00e9a314a97"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942ac9b309884abb" /><Relationship Type="http://schemas.openxmlformats.org/officeDocument/2006/relationships/notesMaster" Target="/ppt/notesMasters/notesMaster1.xml" Id="R8351ad9524814f98"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c4f160421a2f4049" /><Relationship Type="http://schemas.openxmlformats.org/officeDocument/2006/relationships/notesMaster" Target="/ppt/notesMasters/notesMaster1.xml" Id="R349e819f3daf49d7"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5572632fda464c47" /><Relationship Type="http://schemas.openxmlformats.org/officeDocument/2006/relationships/notesMaster" Target="/ppt/notesMasters/notesMaster1.xml" Id="Rd41b7bcc51cb4d11"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c0c4e239ea57437b" /><Relationship Type="http://schemas.openxmlformats.org/officeDocument/2006/relationships/notesMaster" Target="/ppt/notesMasters/notesMaster1.xml" Id="Ra0d837fba4374833"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14bead8f85474a68" /><Relationship Type="http://schemas.openxmlformats.org/officeDocument/2006/relationships/notesMaster" Target="/ppt/notesMasters/notesMaster1.xml" Id="R57bdc203bac4466c"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642545ed98204cd4" /><Relationship Type="http://schemas.openxmlformats.org/officeDocument/2006/relationships/notesMaster" Target="/ppt/notesMasters/notesMaster1.xml" Id="R4fb09810999d42dd"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3a8a0f4da39440c7" /><Relationship Type="http://schemas.openxmlformats.org/officeDocument/2006/relationships/notesMaster" Target="/ppt/notesMasters/notesMaster1.xml" Id="Raca921f6f6144e5b"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2c05b3a8957b42b7" /><Relationship Type="http://schemas.openxmlformats.org/officeDocument/2006/relationships/notesMaster" Target="/ppt/notesMasters/notesMaster1.xml" Id="R9c5ae17937b342eb"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7bdaa81c75174937" /><Relationship Type="http://schemas.openxmlformats.org/officeDocument/2006/relationships/notesMaster" Target="/ppt/notesMasters/notesMaster1.xml" Id="R1c046b814096479e"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32596187c5974d30" /><Relationship Type="http://schemas.openxmlformats.org/officeDocument/2006/relationships/notesMaster" Target="/ppt/notesMasters/notesMaster1.xml" Id="R62eed5318d2248f0"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7080f05a290e443b" /><Relationship Type="http://schemas.openxmlformats.org/officeDocument/2006/relationships/notesMaster" Target="/ppt/notesMasters/notesMaster1.xml" Id="R45a71c4888844c18"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47e200f4f1424ce8" /><Relationship Type="http://schemas.openxmlformats.org/officeDocument/2006/relationships/notesMaster" Target="/ppt/notesMasters/notesMaster1.xml" Id="Rc5968d7d708047bb"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3244889a7dc34b80" /><Relationship Type="http://schemas.openxmlformats.org/officeDocument/2006/relationships/notesMaster" Target="/ppt/notesMasters/notesMaster1.xml" Id="R56e1b4e0a34b4289"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a3b6006ab4024cc8" /><Relationship Type="http://schemas.openxmlformats.org/officeDocument/2006/relationships/notesMaster" Target="/ppt/notesMasters/notesMaster1.xml" Id="R1189ebb0ef5244a3"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5f85c071b9794cad" /><Relationship Type="http://schemas.openxmlformats.org/officeDocument/2006/relationships/notesMaster" Target="/ppt/notesMasters/notesMaster1.xml" Id="R7af7904d55454d9f"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ebb0aedf0cfe41fa" /><Relationship Type="http://schemas.openxmlformats.org/officeDocument/2006/relationships/notesMaster" Target="/ppt/notesMasters/notesMaster1.xml" Id="R2e44e5589a58432e"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690afd7579074748" /><Relationship Type="http://schemas.openxmlformats.org/officeDocument/2006/relationships/notesMaster" Target="/ppt/notesMasters/notesMaster1.xml" Id="R3847484459b049d2"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426299565e3c4c49" /><Relationship Type="http://schemas.openxmlformats.org/officeDocument/2006/relationships/notesMaster" Target="/ppt/notesMasters/notesMaster1.xml" Id="Rd397e0fc6fdb4d0a"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8c8cdd129cf64b70" /><Relationship Type="http://schemas.openxmlformats.org/officeDocument/2006/relationships/notesMaster" Target="/ppt/notesMasters/notesMaster1.xml" Id="R095a4f3d924445d4"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834a20639c75439b" /><Relationship Type="http://schemas.openxmlformats.org/officeDocument/2006/relationships/notesMaster" Target="/ppt/notesMasters/notesMaster1.xml" Id="R20a07d75225440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Venipuncture Standards and Practice, Module 7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Select an appropriate peripheral vein and catheter Next, Perform aseptic insertion and securement on a task trainer Next, Assess, maintain, and discontinue a peripheral IV safely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Site and device selection. First, Begin distally when appropriate. Next, Avoid compromised extremities and sites of infection, flexion, poor circulation, or prior complications. Next, Select the smallest gauge and shortest catheter that can support the ordered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Aseptic insertion. First, Perform hand hygiene, prepare and position the patient, apply the tourniquet, cleanse the site with the approved antiseptic, let it dry, stabilize the vein, observe flashback, thread the catheter, and activate sharps protection.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Securement and maintenance. First, Connect a primed extension aseptically, assess patency without force, secure the catheter, apply and label the dressing, trace tubing, start the ordered therapy, and reassess the site and patient.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Complication cues. First, Cool swelling suggests infiltration. Next, Pain, warmth, redness, or a venous cord suggests phlebitis. Next, Burning or tissue injury with a vesicant suggests extravasation. Next, Stop unsafe therapy and follow the condition-specific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Equipment, Tubing, Catheters, and Infusion Devices 1. First, Common supplies include the ordered solution, administration set, catheter, extension set, needleless connector, antiseptic, tourniquet, flush, transparent or gauze dressing, securement device, labels, gloves/PPE, sharps container, and infusion device. Next, Inspect packaging, expiration dates, solution clarity, leaks, and medication labels.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Equipment, Tubing, Catheters, and Infusion Devices 2. First, Macrodrip tubing has a manufacturer-specific drop factor such as 10, 15, or 20 gtt/mL. Next, Microdrip tubing is typically 60 gtt/mL. Next, Pumps control volume over time but do not replace patient and site assessment. Next, Trace and label tubing, keep connections secure, and respond to alarms by assessing the patient first and then the complete system.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Insertion sequence. First, Verify order, identity, allergies, indication, therapy, and site restrictions. Next, Explain the procedure, position the patient, perform hand hygiene, gather supplies, and apply PPE. Next, Select and assess a distal suitable vein; choose an appropriate catheter. Next, Apply the tourniquet, prepare the site with approved antiseptic, and allow it to dry. Next, Stabilize the vein, insert bevel up, observe flashback, lower/advance as taught, thread the catheter, release the tourniquet, occlude safely, activate needle safety, and discard the needle.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Insertion sequence continued. First, Never reinsert the needle into the catheter. Next, Connect the primed extension, verify patency according to policy, secure without obscuring assessment, apply/label the dressing, initiate ordered therapy, reassess, and document.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Discontinuation. First, Stop therapy, perform hand hygiene/PPE, remove dressing and catheter gently, apply pressure and dressing, inspect the catheter for intactness, reassess the site, and document. Next, Escalate any missing fragment immediately.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Local complications. First, Infiltration: cool, pale, swollen, uncomfortable site; slowed infusion. Next, Extravasation: vesicant leakage with pain, blistering, tissue injury, or altered sensation. Next, Phlebitis: pain, erythema, warmth, swelling, or palpable venous cord. Next, Hematoma/bleeding, occlusion, dislodgement, leakage, nerve injury, and arterial puncture.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Systemic complications. First, Allergic reaction/anaphylaxis, bloodstream infection/sepsis, fluid overload, speed shock, air embolism, catheter embolism, and transfusion reaction require rapid recognition.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General response. First, Stop the infusion when indicated, assess airway/breathing/circulation and vital signs, activate emergency response, notify the RN/prescriber, preserve access or equipment as drug-specific protocol requires, position/support the patient, administer ordered treatment, document objective findings/actions/response, and complete an event report when required. Next, Never force-flush an occluded or compromised device.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Venipuncture Standards and Practices. First, Module Seven Objectives 1. Next, Identify the peripheral veins used in intravenous therapy. Next, List anatomical characteristics of veins and arteries. Next, Describe the procedure for skin preparation and venipuncture. Next, Identify five elements of IV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Venipuncture Standards and Practices — continued. First, Demonstrate venipuncture on an anatomical model. Next, Outline 1. Next, Anatomy and physiology of the vascular system. Next, Venous structures and layers B. Next, Compare venous and arterial anatomy and physiology C.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Venipuncture Standards and Practices — continued. First, Influential effects of venous function 2. Next, Superficial veins A. Next, Digital B. Next, Cephalic C. Next, Basilic 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Venipuncture Standards and Practices — continued. First, Brachial 3. Next, Procedure A. Next, Psychological preparation of the patient B. Next, Physical preparation of the patient Collection of equipment Venipuncture devices Butterfly needles Over the needle catheter Inside the needle catheter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 Selection of venipuncture site. First, Considerations Length of therapy Type of solution Size of catheter/needle Rate of infusion Type of catheter/needle D. Next, Preparation for venipuncture procedure Supplies needed Explanation of the procedure Preparation of the site Venipuncture method Techniques for securing the site E. Next, Dressing and site care Standards of INS Acceptable policy Types of dressings F. Next, Splints and restraints G. Next, Documentation requirements H.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 Selection of venipuncture site — continued. First, Disposal of equipment I. Next, Discontinuation of IV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Anatomy and Physiology of the Vascular System. First, Knowledge of the anatomy and physiology of the vascular system (veins and arteries) is essential to the success and proficiency of the therapist performing IV therapy, as well as the patient's welfare. Next, Understanding the vascular system and the influential factors affecting it, enable the therapist to use discriminating judgment in venous selection for intravenous use. Next, Venous Structures and Layers 1. Next, Tunica Intima - This layer forms the inner lining of both arteries and veins. Next, Composed of a single layer of endothelium, which forms a smooth lining that decreases friction as blood flows through the vessel.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Anatomy and Physiology of the Vascular System — continued. First, In veins this layer forms the valves. Next, Tunica Media - This layer composed of smooth muscle and elastic tissue forms the middle layer of veins and arteries. Next, This layer is controlled by the sympathetic nervous system. Next, This is the layer in which vasodilation and vasoconstriction occur. Next, This layer controls, for example, blood pressure.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Anatomy and Physiology of the Vascular System — continued. First, This layer is thicker in arteries. Next, Tunica Adventitia - Also call tunica externa; this is the outermost layer of the veins and arteries. Next, Composed of connective tissue, its function is to support and protect the vessel. Next, This layer is also stronger and thicker in arteries.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Anatomy and Physiology of the Vascular System — continued. First, Endothelim Tunica Tunica Intira Intima Endothelin Elastic Elastic Tissue Tissue Tunica Tunica Smooth Media Muscle Smooth Media Muscle Connective Tunica Tissue Connective Tissue Adventicia Tunica Adverticia Anatomy of Next, Veins and Arteries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Differences in Arteries and Veins. First, Arteries Veins No valves At least every 2 inches Do not collapse Will collapse Usually deep and protected More superficial Pulsate No pulse Carry oxygenated blood Carry unoxygenated blood Generally blood is bright red Next, Generally blood is dark red It is important to note that if a patient is nervous, cold, or receiving any type of respiratory treatment, the actions of the smooth muscle will cause vasoconstriction. Next, Also of note is the fact that hemoconcentration, hemodilution, and blood count can affect the color of the blood as mentioned above. Next, Anatomy of the Cardiovascular System Your cardiovascular system is the circulatory system that feeds and nourishes the entire body. Next, Arteries deliver oxygen and other nutrients to the cells of the body whereas the veins return the deoxygenated blood back to the heart and lungs to exchange.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Differences in Arteries and Veins — continued. First, Your heart is located between your lungs in the middle of your chest, behind and slightly to the left of your breastbone (sternum). Next, A double-layered membrane called the pericardium surrounds your heart like a sac. Next, Your heart has 4 chambers. Next, The upper chambers are called the left and right atria, and the lower chambers are called the left and right ventricles. Next, A wall of muscle called the septum separates the left and right atria and the left and right ventricles.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Differences in Arteries and Veins — continued. First, The left ventricle is the largest and strongest chamber in your heart. Next, The left ventricle's chamber walls are only about a half-inch thick, but they have enough force to push blood through the aortic valve and into your body. Next, Your heart and circulatory system make up your cardiovascular system. Next, Your heart works as a pump that pushes blood to the organs, tissues, and cells of your body. Next, Although water makes up approximately sixty percent of the body, an average adult has only six to seven liters of blood.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Differences in Arteries and Veins — continued. First, Blood delivers oxygen and nutrients to every cell and removes the carbon dioxide and waste products made by those cells. Next, Blood is carried from your heart to the rest of your body through a complex network of arteries, arterioles, and capillaries. Next, Blood is returned to your heart through venules and veins. Next, If all the vessels of this network in your body were laid end-to-end, they would extend for about 60,000 miles (more than 96,500 kilometers), which is far enough to circle the earth more than twice!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Superficial Veins. First, The superficial veins of the upper extremities (arms) are the most frequently used for venipuncture and phlebotomy. Next, Veins in the lower extremities are only used in extreme emergencies under the direction of a physician. Next, Upper Extremities (Fingers and Hands) 1. Next, Digital veins Dorsal - These small vessels are located on the lateral surface of the fingers and are generally used as a last resort. Next, They can accommodate small gauge needles in the 22-28 gauge size, and will require immobilization of the hand or finger.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Superficial Veins — continued. First, Metacarpal veins These veins are formed by the union of the digital veins. Next, They are located on the dorsal surface of the hand, and are usually visible. Next, The bones of the hand form a natural splint. Next, These veins are a common site of venipuncture in the adult patient, however, they may not be suitable in the elderly population where skin and muscle may be thin and allow extravasation to occur Rasiclic Cephalic Dorsal Next, Venous Network Hetacarpal Dorsal Venous anch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Veins of the Arm. First, Cephalic Vein - Commences at the dorsal venous arch, travels upward along the radial border of the forearm. Next, Size and position make this vein an excellent choice both accessible and accommodating for larger cannulas. Next, Accessory Cephalic Vein - Originates either from the back of the forearm or the dorsal venous arch. Next, Extends from the Digitals above the wrist and joins into Cephalic vein just below the elbow. Next, This vein is excellent for larger cannulas !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Veins of the Arm — continued. First, Basilic Vein - Commences at the Ulnar part of the dorsal venous network and ascends along the Ulnar portion of the forearm. Next, Meets with the Median Cubital vein on the interior surface of the arm just below the elbow. Next, Medial Antebrachial Vein - Commences in the venous plexus on the palm of the hand Ascends along the Unar side of the front of the forearm and empties into the Basilic or Cubital vein. Next, Not always present as a well-defined vessel. Next, Cephalic Vein Cephalic Vein Accessory Basilic Vein Cephalic Vein Antihracial Vein Medial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IV Therapy Procedure. First, Psychological Preparation of the Patient 1. Next, Patient Identification Ask the patient his name Check the armband Determine if this is a new experience for the patient, discuss fears or misconceptions he/she may have about venipuncture. Next, Approach the patient in a calm confident manner, help him to relax as much as possible. Next, Answer all of his questions. Next, Ask for his cooperation, and remember he has the right to refuse.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IV Therapy Procedure — continued. First, Explain the venipuncture procedure to the patient Explain why the IV therapy is needed. Next, Be honest and straightforward when discussing pain. Next, Be sure to explain that the pain will subside immediately, and if pain persists it may be a warning of a possible complication. Next, Discuss the effect on mobility this may have for the patient. Next, Reassure the patient that you will advise him prior to the actual venipuncture.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IV Therapy Procedure — continued. First, Reassure the patient through each step. Next, Explain the patient's responsibilities Notify the nurse should any of the following occur: Next, Pain or discomfort Redness Swelling Leakage of fluids Loose dressing or taping Blood in the tubing Bag of solution stops dripping Physical Preparation of the Patient 1. Next, Environment Setting Calm, quiet surroundings and the assurance of privacy will make this a much better experience for the patient.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Preferably the patient should be supine and comfortable. The therapist. First, Position of the Patient should have the ability to examine both arms. Next, The arm should be in a comfortable, secure position, on the surface of the bed. Next, If the patient is in bed, the therapist may wish to adjust the height of the bed, sit on the bed, or sit in a chair, to assure proper body mechanics. Next, Do not forget to reposition the bed and the patient after the procedure. Next, Collection of Equipment * All equipment should be collected and set up prior to the venipuncture.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Preferably the patient should be supine and comfortable. The therapist — continued. First, Inspect all equipment for imperfections, and expiration dates. Next, * Amount and type of equipment will be determined by rational for venipuncture. Next, Type and size of needle, filters, tubing, arm board, etc. Next, *Specific medication solution, dosage and rate will be ordered by the physician. Next, The solution type may determine whether it will be in a bottle or a bag.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Preferably the patient should be supine and comfortable. The therapist — continued. First, Personal Protective Equipment This is a general term for all equipment available to the therapist in the prevention of an exposure incident. Next, It is generally up to the therapist to take all precautions necessary in the selection and use of the available equipment. Next, Gloves - Should always be worn when there is a chance of coming in to contact with a patient's body fluids. Next, Goggles - Although not routinely used in venipuncture, should the therapist fear splattering of body fluids, these should be worn, and should be available.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tube, or perhaps blood pressure cuff may be applied if necessary. When using a. First, Tourniquets The tourniquet is used to promote venous distention. Next, It should be applied to impede venous flow but not the arterial flow. Next, Generally these are available as soft latex or rubber type. Next, Leaving a tourniquet too long or having it too tight may cause a false result. Next, Other types of tourniquets are available such as the Velcro type, an elastic snap type, however other alternatives may include;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tube, or perhaps blood pressure cuff may be applied if necessary. When using a — continued. First, a stretched latex glove, a Penrose tube, or perhaps blood pressure cuff may be applied if necessary. Next, When using a blood pressure cuff inflate to a point just above the diastolic pressure of the patient. Next, Remember tourniquets are a potential source of infection so it must be clean and disposed of when contaminated with blood. Next, Antiseptic Prep Agents These agents are used to prepare the insertion site. Next, The agents used should reflect facility infection control policy and adequately cleanse the area of micro organisms.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tube, or perhaps blood pressure cuff may be applied if necessary. When using a — continued. First, Never shave the area, clip the hair if needed, and never use a depilatory. Next, *Note: With all types of cleansing agents, use a circular motion, always moving from the center outward (clean to dirty), in an area 2-3 inches in circular diameter. Next, Alcohol 70% - Alcohol is used in skin preparation as a de-fatting agent to remove natural skin oil. Next, This process then allows proper disinfection of the skin with the agents that follow. Next, Remember to use friction in the cleansing of the skin with alcohol and allow to air dry.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tube, or perhaps blood pressure cuff may be applied if necessary. When using a — continued. First, Tincture of Iodine 1%-2% - Requires thirty seconds of contact with the skin, and is then washed off with alcohol 70%. Next, Allow to air dry completely. Next, Check patient allergies (lodine) prior to use. Next, (Providine Iodine / Iodophors - Betadine) Used full strength, never remove with alcohol as alcohol negates the effects of the Iodophor. Next, Hibiclens - If your patient is allergic to any of the above agents, a 3 minute scrub with Hibiclens is an effective alternative.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Arm Boards. First, These are used for stabilization when cannula is placed near an area of flexion, as constant movement of the cannula can lead to infiltration, phlebitis, or infection. Next, Remember care must be taken to assure adequate circulation, while placement should not impede visualization of the insertion area. Next, Arm boards should be removed at intervals to verify circulation and comfort. Next, These can be a potential source of infection, therefore, they will need disinfecting between patients if they are not disposable. Next, Available as short or long boards.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Arm Boards — continued. First, Venipuncture Devices Vacutainer with Blood Collection Tubes The Blood Collection Holder (commonly called the "Vacutainer Holder") comes in a variety of models. Next, Most are transparent plastic or polypropylene holders for utilizing collection needles with collection tubes. Next, Most fit tubes between 5ml to 20ml, and for smaller sizes a pediatric tube holder is utilized. Next, Most Blood Collection holders are compatible with most standard multiple-sample, blood collection needles and tubes. Next, New technologies, such the Retractable Blood Collection or needle Pop-off systems sets have been developed in response to the OSHA Needle Safety Act.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Arm Boards — continued. First, Needles automatically retract from patient into the holder Single-use prevents cross-contamination and virtually eliminates most needlestick injuries. Next, Other types, such as the Quick Needle Release Vacutainer, that quickly releases the needle from the needle holder again reducing the risk of needlestick exposures to the phlebotomist. Next, The vein is first punctured with the hypodermic needle (which is connected to the translucent plastic holder). Next, The needle actually has a second, smaller needle on the other end, and when a Vacutainer test tube is pushed down into the holder, its rubber cap is pierced. Next, The vacuum in the tube sucks blood though the needle and fills itself.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Arm Boards — continued. First, The tube is then removed and another tube can be inserted and filled the same way. Next, It is important to remove the tube before withdrawing the needle, as there may still be some suction left, causing pain upon withdrawal. Next, Because of the standardized suction of most tubes, they often may cause the veins of elderly people, or those with delicate veins, to collapse. Next, In this case, a syringe and needle may be recommended instead.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Blood Collection Tubes. First, Rod casped toss Do Coegulation blue hemistry. Next, Blood collection tubes are evacuated and come color coded. Next, Each vacuum tube has a specific preservative or additive, therefore blood cannot be transferred from one tube to another. Next, (See Collection Tube section for specific information on tube selection). Next, The tubes are properly labeled by the phlebotomist and transported to the laboratory.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Blood Collection Tubes — continued. First, vacutainer needle holders require multi-sampleLuer Adapters. Next, The adapter allows for direct connection between the tube holder and the collection tube. Next, After blood is collected into the blood collection tube, the tube must be "rocked" to assure proper mixing the contained additives. Next, Inadequate mixing of the Vacutainer tubes as soon as possible after the phlebotomy will result in the blood not mixing with the anti-coagulant. Next, By gently inverting (Rocking) the Vacutainer tube several times, the blood will mix and clotting will not occur.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Blood Collection Tubes — continued. First, Red Top ADDITIVE None MODE OF Blood clots, and the serum is separated by ACTION centrifugation USES Chemistries Next, Immunology and Serology Next, Blood Bank (Crossmatch) Single tests Gold Top ADDITIVE None MODE OF Serum separator tube (SST) contains a gel ACTION at the bottom to separate blood from serum on centrifugation USES Chemistries Next, Immunology and Serology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Light. First, Green Top ADDITIVE Plasma Separating Tube (PST) with Lithium heparin MODE OF Anticoagulates with lithium heparin; Next, ACTION Plasma is separated with PST gel at the bottom of the tube USES Chemistries Red-Gray Top ADDITIVE Serum Separating Tube (SST) with clot activator MODE OF Forms clot quickly and separates the ACTION serum with SST Next, gel at the bottom of the tube USES Chemistries Purple Top ADDITIVE EDTA liquid MODE OF ACTION Forms calcium salts to remove calcium Hematology (CBC) and Blood Bank USES (Crossmatch); Next, requires full draw - invert 8 times to prevent clotting and platelet clumping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Light Blue. First, Top ADDITIVE Sodium citrate MODE OF ACTION Forms calcium salts to remove calcium USES Coagulation tests (protime and prothrombin time), full draw required Dark Green Top ADDITIVE Sodium heparin or lithium heparin MODE OF Next, ACTION Inactivates thrombin and thromboplastin For lithium level, use sodium heparin USES For ammonia level, use sodium or lithium heparin Yellow Top ADDITIVE : Next, ACD (acid-citrate-dextrose) MODE OF ACTION Complement inactivation USES HLA tissue typing, paternity testing Next, DNA studies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Light. First, Gray Top ADDITIVE Sodium fluoride and potassium oxalate MODE OF Antiglycolytic agent preserves glucose up ACTION to 5 days For lithium level, use sodium heparin USES Glucoses, requires full draw may cause hemolysis if Next, short draw) Although different manufacturers occasionally change the colors of the vacuum tubes, the Phlebotomist must always be knowledgeable of their own specific product line they are supplied with. Next, Be sure also to check for expirations as well for all tubes being used. Next, If the blood tube is allowed to fill completely, there will be enough specimen to complete most tests Next, However if the blood tubes are half filled or less this often results in the lab requesting another sample to be drawn.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Light — continued. First, Hemolysis can be caused by: Next, mixing additive tubes too vigorously or using rough handling during transport, drawing blood from a vein that has a hematoma, pulling back the plunger on a syringe too quickly, using a needle with too small of a bore for Next, the venipuncture, using too large a tube when using a small diameter butterfly needle. Next, Other problems that may develop is frothing of the blood generally caused by improper fit of the needle on a syringe or forcing the blood from a syringe into an evacuated tube. Next, Order to Draw specimens: Blood collection tubes must be drawn in a specific order to avoid cross-contamination of additives between tubes.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Light — continued. First, The recommended order of draw is: First - blood culture tube Second - Non-additive Tube (red stopper or SST) Third - Coagulation tube (light blue stopper). Next, If just a routine coagulation assay is the only test ordered, then a single light blue stopper tube may be drawn. Next, If there is a concern regarding contamination by tissue fluids or thromboplastins, then one may draw a nonadditive tube first, and then the light blue stopper tube. Next, Last draw - additive tubes in this order: NOTE: Tubes with additives must be thoroughly mixed. Next, Erroneous test results may be obtained when the blood is not thoroughly mixed with the additive.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Needles may be used for a variety of purposes to include: intravenous therapy and. First, FOR SINGLE USE DEVONG Syringes intramuscular or subcutaneous injections. Next, There are different types of syringes including reusable, disposable syringes with needle guards for attachment to syringes, and complete "Needleless" jet injection systems. Next, Syringes are as varied as manufacturers. Next, There are three general parts to syringe; a barrel, a plunger, and a hub (Luer-Lock type of hub preferred or the straight hub). Next, Syringes can be made of plastic, glass, or metal and range in size from; 1cc, 3cc, 5cc, 10cc, 12cc, 20cc, 30cc, 50cc, or larger.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Needles may be used for a variety of purposes to include: intravenous therapy and — continued. First, Some syringes are standard with needles while others are only the syringe and any size needle can be added. Next, Hypodermic needles are fabricated from superior-grade steel. Next, Only high quality polyurethane medical resin is used for syringe barrels. Next, Bold scale markings on clear barrels ensure precise measurements. Next, Syringes are latex-free and can be used for latexintolerant patients.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Needles may be used for a variety of purposes to include: intravenous therapy and — continued. First, Syringes can purchased as both clean and sterile. Next, Sterile syringes come pre-packaged. Next, Protective measures have been adapted for syringes. Next, Once used, some models such as the safety lock type syringes withdraw the needle into the barrel and then lock the needle in place preventing any access to the needle again. Next, Other types include pressing the tip of the plunger and the needle retracts (springs) into the barrel preventing access and exposure.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Needles may be used for a variety of purposes to include: intravenous therapy and — continued. First, Needles Hypodermic needles are made of stainless steel and come in a variety of gauge sizes. Next, Gauge indicates the diameter of the needle. Next, The larger the number in gauge, the smaller the needle in lumen size. Next, (Example - A 26 gauge needle is much smaller than an 18 gauge needle.) Lengths also vary from typically 1⁄2 inch to up to two or three inches depending on the need. Next, There are four parts to a needle including the cap, the shaft, the hub, and the bevel (the opening of the needle).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Needles may be used for a variety of purposes to include: intravenous therapy and — continued. First, Available Needle Sizes: range from 18 gauge through 29 gauge in all lengths 1⁄2 inch to 3 inch. Next, The average needle for blood draw ranges from 18 gauge to 23 gauge and is about 1 inch in length.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Butterfly / Steel Winged Needles. First, 25c% HACUTAINER at =7254 Butterfly needles (also known as a winged infusion set), are used to draw venous blood from children, and adults with difficult veins. Next, Butterfly needles can be attached directly to Vacutainers for multi-draws or to a syringe to draw blood directly. Next, Butterfly sizes vary but most are relatively small with 20 - 23 gauge being the most popular. Next, Because of the size of the needle, this type of needle is often requested as the process causes minimal pain to the patient. Next, Newer protective types may offer the capability that after use the needle can be completely retracted or covered by a protective shield that securely locks into place.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Butterfly / Steel Winged Needles — continued. First, The Butterfly needle may also be used for short term infusion therapy. Next, Due the fact the steel needle may be left in for up to 24 hours (see your company's policy), more irritation and possible mechanical phlebitis may occur, therefore the needle must be secured firmly and securely. Next, (Often times, a Butterfly needle that is utilized as an IV type of needlecatheter for intravenous infusion therapy may be rotated 180 degrees so that the bevel of the needle is actually in the center of the lumen of the Next, vein rather than it being pushed towards the top of the vein which may cause discomfort and or prevent adequate infusion flow. Next, This method is only used by experienced IV personnel..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Butterfly / Steel Winged Needles — continued. First, Steel needles with wings, scalp needles, or butterfly needles are generally used for: Next, *Infants and small children *Small or torturous veins as in the elderly *Short term IV therapy (24 hours) *Heparin locks Advantages *Simple and easy to use *Relatively painless insertion *Wings prevent touch Next, contamination Disadvantages * Less stable *Not for viscous fluid administration *Unsuitable for long-term therapy *Easily punctures the vein wall causing infiltration *Increased incidence of mechanical phlebitis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*Stable catheter. First, *Permits insertion of catheter into the SVC, or heart via a peripheral route. Next, Disadvantages * Increased risk of catheter emboli if needle is not secured or if catheter is withdrawn through the needle. Next, *Occurrence of bleeding after withdrawal of needle *Catheter supports infection and increased incidence of phlebitis IV Start Kit An IV Start Kit is often used as it provides most if not all of the required items needed Next, to start an IV except for the actual IV catheter which is generally separate and that which is connected to it such a an IV tubing or a catheter cap device such as the Heparin Lock. Next, It is also cost effective and costs may vary depending on the contents of the kit and the manufacturer.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*Stable catheter — continued. First, Each kit generally comes with the following: Next, 1 latex-free tourniquet, 1 alcohol prep pad, 1 Betadine pad or swab, 1 transparent dressing, a gauze sponges (2" x 2'), a 1 tape strip (1/2" × 4"), and 1 dressing change label. Next, Sterile gloves may be added to the IV Start Kit but at a greater expense. Next, Tubing Intravenous (IV) tubing lines are thin, flexible plastic lines that run from the IV bottle or bag into the intravenous catheter within the patient. Next, Fluids are given slowly (infused) based on the speed of the infusion pump or adjusting the rate of the tubing by a roller clamp on the tubing.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*Stable catheter — continued. First, Standard sets often have a Y-site from needle adapter for drug injections or piggybacks. Next, Sets vary from very short 12-18 inches up to 100" or more in length Standard sets for basic fluid infusion include a universal spike with drip chamber of 10, 15, or 60 drops per mL to flow. Next, If a glass bottle is used, the IV tubing must allow for venting of air for the fluid to flow freely. Next, Primary Sets are called "Administration" sets can be used with IV pumps or used by themselves for gravity infusions. Next, "Extension" sets are used close to the patients IV site and they can come in numerous configurations.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IV Poles and Stands. First, Most IV poles a manufactured out of strong plastic alloys or metal such as aluminum which is chrome plated. Next, Most poles extend in telescoping height and feature hooks for holding IV bags. Next, The IV poles easily roll with casters and may be lockable. Next, As an alternative, portable, lightweight, and collapsible light alloy poles are available for patients receiving short duration/low-volume gravity fed infusions (up to 500cc). Next, These IV poles are designed to eliminate the frustration of retrieving, cleaning, bagging, and tagging old IV poles.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IV Poles and Stands — continued. First, These innovative poles are cost-effective, portable, collapsible, lightweight, sturdy and easy to use. Next, They can be unfolded in just seconds and their innovative tripod design allows them to be used on any floor or tabletop. Next, No assembly is required. Next, Aluminum construction allows for 'pitching' into recycled waste when IV pole is no longer needed. Next, BODA IV Pumps An intravenous (IV) infusion pump is a machine that carefully controls the rate at which IV fluids and/or IV medications are given.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IV Poles and Stands — continued. First, Intravenous (IV) infusion pumps are used as long as precise control of the intravenous infusion rate is needed. Next, These pumps are very reliable. Next, Mechanical problems are possible, but very rare. Next, If the IV infusion pump does not work correctly, an alarm will sound. Next, Many pumps require their tubing be used only.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IV Poles and Stands — continued. First, IV Solutions Examples include: Next, 9% NaCI (Normal Saline) Dextrose 5% Water 0.45% NaCI (1/2 Normal Saline) Dextrose 10% Water 0.333% NaCl (1/3 Normal Saline) 0.225% NaCI (1/4 Normal Saline) Lactacted Ringers Solution Bag volume sizes include; Next, 50cc, 100cc, 250cc, 500cc, 1000cc and larger 98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Selection of Venipuncture Site. First, Considerations *Length of Therapy *Short-term therapy should if possible be used in the non-dominant hand or arm. Next, *Long term therapy should start low (distal) on the extremity and alternate arms. Next, * Avoid sites close to previous venipuncture, and avoid areas of flexion, and bones, and joints. Next, *Note how many rotations will be needed if possible *Patient age and diagnosis *Irritating solutions (Highly acidic, alkaline or hypertonic solutions) choose larger veins for increased blood flow (Dilutional) *Viscous Next, solutions choose larger veins to accommodate a larger lumen catheter / needle.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Selection of Venipuncture Site — continued. First, Size of needle/catheter *Choose large lumen catheter for viscous solutions (16-18 gauge) *Choose smaller size catheter / needle for smaller veins, hydrating solutions, and antibiotics (20-24 gauge) * Always choose Next, smallest possible catheter/needle in largest suitable vein. Next, Rate of Infusion *Small volume amounts over long infusion period may be delivered by a small gauge catheter/needle. Next, * Large volume amounts infused over short infusion periods require larger gauge catheter/needle.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Selection of Venipuncture Site — continued. First, Type of Needle or Catheter Chosen Butterfly Less stable, requires flat insertion site Short term IV therapy Emergency type access Able to accommodate torturous veins Comfortable insertion Over the Needle Catheter (ONC) Next, Stable 99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Long term IV therapy. First, May be utilized in areas of flexion Rapid solution delivery possible Comfortable insertion Inside the-Needle Catheter (INC) Stable May be used in areas of flexion Rapid solution administration Requires specialized Next, training to insert More discomfort on insertion More difficult to insert Condition of insertion areas Avoid paralyzed areas Avoid areas of nerve damage Avoid injured areas Avoid areas with shunts or grafts Avoid Next, irritated areas Avoid areas where there is an infection Avoid areas of surgical intervention (i.e. Next, mastectomy, axillary dissection) * Avoid bruised areas * Avoid areas below a previous infiltration or freshly removed catheter Palpation of the Vein Vein Selection *Use a light touch in examining the veins in the desired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Long term IV therapy — continued. First, areas *Palpate the veins with and without a tourniquet in place *Palpate vein, feel for soft, full unobstructed vein *Feel for bouncing sensation over the vein *Avoid selecting a vein that feels hard, crooked, inflamed, Next, or irritated * Avoid areas of bifurcations, or bulges (valves) * Assess surrounding areas for varicosities, assess for circulation Vein Distention Apply tourniquet - Note: Next, Never tie the tourniquet in a knot, never apply tourniquet for an extended period of time. Next, The tourniquet should be applied 4-6 inches above intended insertion site. Next, It should impede venous flow, but not impede arterial flow.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Long term IV therapy — continued. First, Palpate the vein, the vein should feel full, firm, and smooth ... Next, then Remove the tourniquet ! Next, Procedure for difficult vein distention *Apply tourniquet, place arm in dependent position 100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99;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 Instruct patient to open and close fist. First, *Gently tap vein above selected insertion site (Continue to tap until vein distends) *Tapping too hard can cause venous spasm Alternative Procedure *Wrap extremity in warm, moist towel for 10-20 minutes. Next, * After vein distends apply tourniquet Preparation for Procedure Must have Physician's order 1. Next, Gather supplies Select skin prep Obtain venipuncture equipment, and prime tubing as needed Prepare dressing and tape 2. Next, Wash hands and apply personal protective equipment (gloves and three sided goggles) 3. Next, Explain procedure to the patient 4.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 Instruct patient to open and close fist — continued. First, If there is excessive hair, clip, Do Not shave the area without Doctor's order 5. Next, Apply tourniquet, choose selected vein (best location for type of IV) approximately 3-4" above selected insertion site Insertion Procedure With the tourniquet on the patient, palpate the vein to be used. Next, Cleanse the insertion site with an alcohol pad rubbing vigorously in concentric circles working from insertion site outwards about 2-3 inches. Next, For full decontamination, the alcohol should be allowed to air dry otherwise it may sting the puncture site and interfere with accurate blood test results. Next, Once site is cleansed, hold the needle (syringe, Butterfly, or Vacutainer types) at a 15-30 degree angle parallel with the vein.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 Instruct patient to open and close fist — continued. First, With the opposite hand, isolate the vein so the reduced slightly and the needle advanced just a little to assure the entire bevel is in the lumen of the vein does not roll. Next, (The index finger may rest on the hub of the needle to 101-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needle may be vein.. First, guide needle entry). Next, The needle should be inserted with the bevel side up. Next, Frequently a "Pop" will be felt upon entry into the vein. Next, Once a blood return is noted the angle of the The patient can now open their fist and the tourniquet can be released. Next, Blood will flow into syringe.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needle may be vein. — continued. First, If using a syringe, gently withdraw plunger to evacuate the.blood. Next, Drawing to hard or to fast may cause the vein to collapse or air to be pulled in the specimen container. Next, Once ample blood is withdrawn, the needle should be quickly removed A dry sterile gauze should be applied with pressure to assure no continued bleeding from the puncture site. Next, If using a syringe, the blood should be quickly Correct insertion technique: Blood flows freely into needle Correct insertion technique: Blood flows freely into needle Possible Problems... Next, Troubleshooting Guidelines: Bevel of needle on vein upper wall...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needle may be vein. — continued. First, does not allow blood to flow Change the position of the needle. Next, (Move it forward or backward as needle may not be in the lumen of the vein) Bevel of needle on vein lower vein wall Bevel of needle on vein lower vein wall does not allow blood to flow. Next, Move needle backwards as it may have penetrated too far. Next, Withdraw the needle until needle back in lumen of the vein.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Needle inserted to far and penetrated through the vein. First, Withdraw the needle if the needle is inserted into a collapsed vein Needle inserted into a collapsed vein Withdraw the needle and attempt insertion elsewhere Vein has infiltrated Infiltration may occur if the needle is Next, partially inserted and blood leaks out. Next, Provide immediate pressure dressing Venipuncture Technique, 1 Handed Method Remove catheter from the package, Inspect IV for any imperfections and insure proper seating of catheter. Next, Be sure to keep IV sterile Grasp the catheter hub with thumb and forefinger of dominant hand.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Needle inserted to far and penetrated through the vein — continued. First, Stabilize the distended vein, with non-dominant hand and pull the skin taut in a stretching downward direction. Next, Thumb should be i-1/2 inches below insertion site 103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If a patient is restrained, avoid venipuncture in areas such as wrists and hands.. First, tape securing method. Next, Follow facility policy for dressings, and be sure to check patient allergies prior to the application of tape, and antimicrobial agents. Next, Remember to label dressing with your name, date, time, and size of catheter. Next, If you are using a transparent, semi-permeable membrane dressing, no tape can be placed over this dressing, as it impedes the permeability properties. Next, Dressing and Site Care Standards of the Intravenous Nurses Society (INS) - The Intravenous Nurse Society sets the standards for care, as a national organization, throughout the intravenous community.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If a patient is restrained, avoid venipuncture in areas such as wrists and hands. — continued. First, The following protocols are from the standards set forth by this organization and may not reflect actual facility policy. Next, These standards are recognized throughout the health community and are used as a basis on which each facility formulates its own policy and procedure. Next, The purpose of dressing and site care is to allow for the inspection of the insertion site and limit the chances of microbial infections. Next, * When removing old dressing take care not to dislodge catheter. Next, *Signs and symptoms of inflammation, redness, or drainage at the site should be reported immediately.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If a patient is restrained, avoid venipuncture in areas such as wrists and hands. — continued. First, *Documentation should also include condition of the site. Next, Sterile Gauze Dressings *These dressings cover the insertion site and prevent visualization. Next, Therefore, it is a standard in the community to change these dressings every 24 hours, or per facility policy. Next, * Check facility policy regarding the use of antimicrobial agents applied at the insertion site. Next, Transparent Semi Permeable Membrane Dressings *These dressings have a 7-day change standard.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If a patient is restrained, avoid venipuncture in areas such as wrists and hands. — continued. First, However, many facilities still require they be changed every 48-72 hours. Next, *The use of tape over these dressings is contraindicated, as covering the membrane itself reduces permeability and airflow. Next, Transparent Dressings * Also called Op-Site, Tegaderm, etc., these transparent dressings are the major dressing used in peripheral IV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dressing is changed every 48-72 hours, or per facility policy. At. First, the same time, the site and tubing can be changed. Next, *Covering the dressing with silk tape precludes visualization of the insertion site and is not recommended. Next, Note: Loss of occlusiviness, excessive drainage, excessive perspiration can all be reasons to change a dressing prior to the due date. Next, Splints and Restraints Purpose of Splinting and Restraining: Next, * Venipuncture site at a joint or area of flexion *Patient is restless *Patient is combative or confused Documentation of IV Therapy Documentation provides information regarding the venipuncture process as follows: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dressing is changed every 48-72 hours, or per facility policy. At — continued. First, *Type of catheter/needle used *Size of catheter/needle used *Date and time of venipuncture *Number of sticks to initiate successful IV *Name and title of nurse initiating venipuncture/IV *Type of solution, amount, and Next, any additives to the solution *Flow rate of solution * Any unusual symptoms or reactions *Type of site care and dressing Labeling solution *Label the solution container with patient name Next, ID number, and room number (should pharmacy add the medication, this should already be on the pharmacy label) * Include additives on the label, drug, amount, and base solution. Next, Be sure to sign or initial if you perform the addition to the container, and date and time the addition. Next, *Drip rate *Date and time IV was hung, and nurse hanging solution *Time sequence, and container number *As with any IV set, be sure to date and time the administration set 108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patient squeeze his hand into a fist several times.. First, General Overview of starting an IN Preparing the arm: Apply a tourniquet high on the upper arm. Next, It should be tight enough to visibly indent the skin without causing patient discomfort. Next, In order to maximize venous engorgement, have the patient squeeze his hand into a fist several times. Next, Now start the search for suitable distended subcutaneous veins. Next, If you cannot see any veins popping up from the distention caused by the tourniquet, you can sometimes feel them by palpating the arm.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patient squeeze his hand into a fist several times. — continued. First, If you still cannot find any veins, then it might be useful to cover the arm in a warm compress to help with peripheral vasodilation. Next, If after a meticulous search no veins are found; release the tourniquet from above the elbow, place it around the forearm and search in the distal forearm, wrist and hand. Next, If no suitable veins are found, then you will have to move to the other arm. Next, Be careful to stay away from arteries which are pulsatile Once a suitable vein is found, then it is necessary to clean and disinfect the area by swiping it several times with two alcohol wipes. Next, If the arm is particularly hairy in this spot it may be necessary to use a disposable razor to shave the hair partially too make a region that will be clean.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patient squeeze his hand into a fist several times. — continued. First, Select Angiocatheter Usually a 20 or 22 gauge catheter is suitable. Next, Take it apart and put it back together to get a sense of how it works and how much force is required to slide the plastic catheter over the metal stylet 109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Puncture Vein. First, Use one hand to apply counter tension against the skin. Next, This hand, generally the left hand, will be pulling the skin distally towards the wrist in the opposite direction to the needle will be advancing. Next, When applying counter tension be careful not to compress inflow to the vein which may cause the vein to collapse. Next, Advance the catheter through the skin over top of the vein or adjacent to the vein. Next, Use a quick, jab motion to minimize patient discomfort.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Puncture Vein — continued. First, Slow pokes through the skin will maximize the sensation of pain. Next, Then advance the catheter well into the vein and look for the dark red flashback of blood at the catheter hub indicating that the catheter is within the vein If this first pass is unsuccessful in entering the vein and Next, there is no flashback then slowly withdraw the catheter, without pulling all the way out, and carefully watch for the flashback to occur. Next, If you are still not within the vein, then advance it again in a 2nd attempt to enter the vein. Next, While withdrawing always stop before pulling all the way out to avoid repeating the painful initial skin puncture.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Puncture Vein — continued. First, If after several manipulations the vein is never entered and the attempt is considered a failure; release the tourniquet, place a gauze over the skin puncture site, withdraw the catheter and tape down the gauze. Next, Now it is time to move onto the other arm Advance Plastic Catheter Once the catheter is well seated within the vein, slide the plastic angio catheter forward deeper into the vein over top of the needle. Next, The hub of the angio catheter should be all the way to the skin puncture site. Next, The plastic catheter should slide forward easily.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Puncture Vein — continued. First, Do not force!! Next, Release Tourniquet 110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set it aside to be disposed of in a Sharps container.. First, Once the angio catheter is advanced in the vein up to the hub, release the tourniquet, apply gentle pressure over the vein to collapse it, so that blood will not pour out of the angiocatheter when the stylet (needle) is Next, removed. Next, Once you remove the stylet (needle) Lock or Tubing Connection Lock the IV tubing to the catheter by advancing and rotating the Luer locking mechanism. Next, It requires a clockwise twist to fully lock. Next, At this point, quickly test the IV with a small injection of saline to make sure it is working properly.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set it aside to be disposed of in a Sharps container. — continued. First, The saline should flush easily. Next, If the saline does not flush easily, check to be sure the tourniquet is released. Next, Also try straightening the arm because sometimes bending the elbow can kink a vein and prevent the IV from functioning. Next, If it still does not flush easily, try aspirating. Next, Sometimes an IV will begin to work if it is withdrawn slightly so the tip of the IV seats in a better position within the vein.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set it aside to be disposed of in a Sharps container. — continued. First, Secure with Tape Tape the IV in place using three or four strips of tape to prevent accidental removal. Next, Place one or two pieces over the actual skin puncture site. Next, Place additional pieces over loops of tubing so that there is some strain relief. Next, Consider taping to be one of the most important tasks because it prevents you from having to repeat the IV insertion in the event of an inadvertent tug on the IV tubing. Next, Test IV To test the IV inject a small amount of normal saline into IV line.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set it aside to be disposed of in a Sharps container. — continued. First, There should be no resistance. Next, If necessary you may also test the IV by aspirating until blood is seen entering the IV tubing. Next, Flush the blood returned with normal saline and monitor the person frequently 111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Milan DA. Starting IVs: how to teach good venipuncture technique. American. First, Bibliography Joint Commission on Accreditation of healthcare organizations (JCAHO), Comprehensive accreditation Manual for hospitals Oakbrook Terrace, ILL. Next, Journal of Nursing1 993;93(7) 38-41. Next, Millan DA. Next, Starting IVs: how to develop your venipuncture expertise. Next, Nursing 1992; 178:38-41.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Milan DA. Starting IVs: how to teach good venipuncture technique. American — continued. First, US Department of Health and Human Services. Next, Public Health Service Centers for Disease Control and Prevention. Next, Guidelines for prevention of intravascular device related infections. Next, American Journal of Infection Control 1996; 24:2620293. Next, www.mrprotocols.com/sset/iv.html 112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Palpate and select veins on a task trainer Next, Perform the complete insertion sequence without contamination Next, Discontinue the catheter and verify that it remains intact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Select an appropriate peripheral vein and catheter Next, Perform hand hygiene, prepare and position the patient, apply the tourniquet, cleanse the site with the approved antiseptic, let it dry, stabilize the vein, observe flashback, thread the catheter, and activate sharps protection. Next, Cool swelling suggests infiltration. Pain, warmth, redness, or a venous cord suggests phlebitis. Burning or tissue injury with a vesicant suggests extravasation. Stop unsafe therapy and follow the condition-specific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90b313e4c74c9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e452baeb8e2488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25e578dd16b46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06cbb365bf7451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70c9622aacb4a4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ac2dcae8c784e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81F8AE-8659-4154-A47B-D806C79B6EA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14E37D0-A5E3-4825-AE98-FB6A831355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ADF107D-B02C-41A1-82AD-96305B8F5F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8D3657-0BD5-43E5-AD45-26F674B05F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DD5445B-731C-450A-A8AF-B3FFF82F8A2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62347F2-F98D-4F53-9806-670F20C8B8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BC0E81E-B885-4D78-A7E5-EA1A9E2CCD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F0FD2CB-FAB5-40A4-9BF1-17D4077A79B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A83731-6287-45F5-A6F7-9DC3DC45F8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F741C5-1CE3-46CC-B487-6B19F8A8CC7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fd9f4ee5b84990" /><Relationship Type="http://schemas.openxmlformats.org/officeDocument/2006/relationships/slideLayout" Target="/ppt/slideLayouts/slideLayout1.xml" Id="Rcbe7bfcd17574d7d" /><Relationship Type="http://schemas.openxmlformats.org/officeDocument/2006/relationships/slideLayout" Target="/ppt/slideLayouts/slideLayout2.xml" Id="Rf526afbbf9c9439d" /><Relationship Type="http://schemas.openxmlformats.org/officeDocument/2006/relationships/slideLayout" Target="/ppt/slideLayouts/slideLayout3.xml" Id="R01c64402f2b6402a" /><Relationship Type="http://schemas.openxmlformats.org/officeDocument/2006/relationships/slideLayout" Target="/ppt/slideLayouts/slideLayout4.xml" Id="R07f1d2967c6b4485" /><Relationship Type="http://schemas.openxmlformats.org/officeDocument/2006/relationships/slideLayout" Target="/ppt/slideLayouts/slideLayout5.xml" Id="Rf068a7b4e2ed4a6a" /><Relationship Type="http://schemas.openxmlformats.org/officeDocument/2006/relationships/slideLayout" Target="/ppt/slideLayouts/slideLayout6.xml" Id="R17f7a45ccbfc4e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e7bfcd17574d7d"/>
    <p:sldLayoutId xmlns:r="http://schemas.openxmlformats.org/officeDocument/2006/relationships" id="2147483650" r:id="Rf526afbbf9c9439d"/>
    <p:sldLayoutId xmlns:r="http://schemas.openxmlformats.org/officeDocument/2006/relationships" id="2147483651" r:id="R01c64402f2b6402a"/>
    <p:sldLayoutId xmlns:r="http://schemas.openxmlformats.org/officeDocument/2006/relationships" id="2147483652" r:id="R07f1d2967c6b4485"/>
    <p:sldLayoutId xmlns:r="http://schemas.openxmlformats.org/officeDocument/2006/relationships" id="2147483653" r:id="Rf068a7b4e2ed4a6a"/>
    <p:sldLayoutId xmlns:r="http://schemas.openxmlformats.org/officeDocument/2006/relationships" id="2147483654" r:id="R17f7a45ccbfc4e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69da280d1bc4f09" /><Relationship Type="http://schemas.openxmlformats.org/officeDocument/2006/relationships/notesSlide" Target="/ppt/notesSlides/notesSlide1.xml" Id="Rfcd52c04edef4c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7cc2468ea4649cb" /><Relationship Type="http://schemas.openxmlformats.org/officeDocument/2006/relationships/notesSlide" Target="/ppt/notesSlides/notesSlide2.xml" Id="R3cd135136f6942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abb62c034aa4b81" /><Relationship Type="http://schemas.openxmlformats.org/officeDocument/2006/relationships/notesSlide" Target="/ppt/notesSlides/notesSlide3.xml" Id="R7d706f5bb9bc40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a522307bc844f72" /><Relationship Type="http://schemas.openxmlformats.org/officeDocument/2006/relationships/notesSlide" Target="/ppt/notesSlides/notesSlide4.xml" Id="Rd031d77500bb4e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b11af8425ff42ba" /><Relationship Type="http://schemas.openxmlformats.org/officeDocument/2006/relationships/notesSlide" Target="/ppt/notesSlides/notesSlide5.xml" Id="R3df697ad24e247b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4dc21a3441f423e" /><Relationship Type="http://schemas.openxmlformats.org/officeDocument/2006/relationships/notesSlide" Target="/ppt/notesSlides/notesSlide6.xml" Id="R114f4355e57c42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df062b98ba74105" /><Relationship Type="http://schemas.openxmlformats.org/officeDocument/2006/relationships/notesSlide" Target="/ppt/notesSlides/notesSlide7.xml" Id="R717a4ce3e7ac4a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6ce62c0231449c6" /><Relationship Type="http://schemas.openxmlformats.org/officeDocument/2006/relationships/notesSlide" Target="/ppt/notesSlides/notesSlide8.xml" Id="R082e85c40ae04d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b29fe7437cb4192" /><Relationship Type="http://schemas.openxmlformats.org/officeDocument/2006/relationships/notesSlide" Target="/ppt/notesSlides/notesSlide9.xml" Id="R546fe538aeff499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afd4cf2ccaa4d5d" /><Relationship Type="http://schemas.openxmlformats.org/officeDocument/2006/relationships/notesSlide" Target="/ppt/notesSlides/notesSlide10.xml" Id="Rfe83accb5ded406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3492033850940db" /><Relationship Type="http://schemas.openxmlformats.org/officeDocument/2006/relationships/notesSlide" Target="/ppt/notesSlides/notesSlide11.xml" Id="Rb7f160a75a63487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dceb9f418154bc2" /><Relationship Type="http://schemas.openxmlformats.org/officeDocument/2006/relationships/notesSlide" Target="/ppt/notesSlides/notesSlide12.xml" Id="R423f94984498451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fc70f514a6646e2" /><Relationship Type="http://schemas.openxmlformats.org/officeDocument/2006/relationships/notesSlide" Target="/ppt/notesSlides/notesSlide13.xml" Id="Rf4664f32a75e47f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45a977e69fd40ae" /><Relationship Type="http://schemas.openxmlformats.org/officeDocument/2006/relationships/notesSlide" Target="/ppt/notesSlides/notesSlide14.xml" Id="R5166c139b0fb439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04daca9a21247f0" /><Relationship Type="http://schemas.openxmlformats.org/officeDocument/2006/relationships/notesSlide" Target="/ppt/notesSlides/notesSlide15.xml" Id="R06451befcd9c476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dcc5bd7c85a4369" /><Relationship Type="http://schemas.openxmlformats.org/officeDocument/2006/relationships/notesSlide" Target="/ppt/notesSlides/notesSlide16.xml" Id="R304e90b8c43b4c8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c24e162cdc94ca9" /><Relationship Type="http://schemas.openxmlformats.org/officeDocument/2006/relationships/notesSlide" Target="/ppt/notesSlides/notesSlide17.xml" Id="R350eb12b095c484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31d20fc5d564b74" /><Relationship Type="http://schemas.openxmlformats.org/officeDocument/2006/relationships/notesSlide" Target="/ppt/notesSlides/notesSlide18.xml" Id="Rac54ec7e1635497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78ef16b4d324588" /><Relationship Type="http://schemas.openxmlformats.org/officeDocument/2006/relationships/notesSlide" Target="/ppt/notesSlides/notesSlide19.xml" Id="R2e659d5d84614d5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f9936720c07428b" /><Relationship Type="http://schemas.openxmlformats.org/officeDocument/2006/relationships/notesSlide" Target="/ppt/notesSlides/notesSlide20.xml" Id="R1cfc8fa1c3e3411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7b3a0694d2649bf" /><Relationship Type="http://schemas.openxmlformats.org/officeDocument/2006/relationships/notesSlide" Target="/ppt/notesSlides/notesSlide21.xml" Id="R394d4e1f70f442b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ff229382f2d41e8" /><Relationship Type="http://schemas.openxmlformats.org/officeDocument/2006/relationships/notesSlide" Target="/ppt/notesSlides/notesSlide22.xml" Id="Rf1e708071c624d9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4ecbc844ac644b3" /><Relationship Type="http://schemas.openxmlformats.org/officeDocument/2006/relationships/notesSlide" Target="/ppt/notesSlides/notesSlide23.xml" Id="Rfd67f77408584c6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4f7597147614116" /><Relationship Type="http://schemas.openxmlformats.org/officeDocument/2006/relationships/notesSlide" Target="/ppt/notesSlides/notesSlide24.xml" Id="R2d505a6697394a4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e0458bfa63b49e3" /><Relationship Type="http://schemas.openxmlformats.org/officeDocument/2006/relationships/notesSlide" Target="/ppt/notesSlides/notesSlide25.xml" Id="R678a7981940742d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0f2e3bfe5f440ae" /><Relationship Type="http://schemas.openxmlformats.org/officeDocument/2006/relationships/notesSlide" Target="/ppt/notesSlides/notesSlide26.xml" Id="R6ae4328e28c6496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9e62921187c4242" /><Relationship Type="http://schemas.openxmlformats.org/officeDocument/2006/relationships/notesSlide" Target="/ppt/notesSlides/notesSlide27.xml" Id="R573b91dd45794b5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c2033eae4b294a4c" /><Relationship Type="http://schemas.openxmlformats.org/officeDocument/2006/relationships/notesSlide" Target="/ppt/notesSlides/notesSlide28.xml" Id="R1e4c9bb3a65c4c7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4177c07b6214c7e" /><Relationship Type="http://schemas.openxmlformats.org/officeDocument/2006/relationships/notesSlide" Target="/ppt/notesSlides/notesSlide29.xml" Id="R538f45532d2b451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180ed186f85542b0" /><Relationship Type="http://schemas.openxmlformats.org/officeDocument/2006/relationships/notesSlide" Target="/ppt/notesSlides/notesSlide30.xml" Id="R48558089fca94e8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ebb21dfcb4c44b74" /><Relationship Type="http://schemas.openxmlformats.org/officeDocument/2006/relationships/notesSlide" Target="/ppt/notesSlides/notesSlide31.xml" Id="R5be44b888b474fa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978f72b5fce449fa" /><Relationship Type="http://schemas.openxmlformats.org/officeDocument/2006/relationships/notesSlide" Target="/ppt/notesSlides/notesSlide32.xml" Id="R02857c1fb5044c0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c22c453fd68c43c5" /><Relationship Type="http://schemas.openxmlformats.org/officeDocument/2006/relationships/notesSlide" Target="/ppt/notesSlides/notesSlide33.xml" Id="Rc06d3b9e4856499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c0b47a75c734090" /><Relationship Type="http://schemas.openxmlformats.org/officeDocument/2006/relationships/notesSlide" Target="/ppt/notesSlides/notesSlide34.xml" Id="R6eff8e9387604e4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068f18c11e4f41d7" /><Relationship Type="http://schemas.openxmlformats.org/officeDocument/2006/relationships/notesSlide" Target="/ppt/notesSlides/notesSlide35.xml" Id="R65867406142443f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62e2bb7216274822" /><Relationship Type="http://schemas.openxmlformats.org/officeDocument/2006/relationships/notesSlide" Target="/ppt/notesSlides/notesSlide36.xml" Id="Rda84e9f3c2ad469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1fdde4bea8284d2f" /><Relationship Type="http://schemas.openxmlformats.org/officeDocument/2006/relationships/notesSlide" Target="/ppt/notesSlides/notesSlide37.xml" Id="Ra5085275abd5444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c8657b6f61364df7" /><Relationship Type="http://schemas.openxmlformats.org/officeDocument/2006/relationships/notesSlide" Target="/ppt/notesSlides/notesSlide38.xml" Id="R399b478931ab437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908bedf696c34567" /><Relationship Type="http://schemas.openxmlformats.org/officeDocument/2006/relationships/notesSlide" Target="/ppt/notesSlides/notesSlide39.xml" Id="R1b46f12126164c9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a21fd64448a4440b" /><Relationship Type="http://schemas.openxmlformats.org/officeDocument/2006/relationships/notesSlide" Target="/ppt/notesSlides/notesSlide40.xml" Id="R4f660af3a9de425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85c91b5e3fb64678" /><Relationship Type="http://schemas.openxmlformats.org/officeDocument/2006/relationships/notesSlide" Target="/ppt/notesSlides/notesSlide41.xml" Id="Rcd9512f84633458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7ab57342d9c04c38" /><Relationship Type="http://schemas.openxmlformats.org/officeDocument/2006/relationships/notesSlide" Target="/ppt/notesSlides/notesSlide42.xml" Id="R34aa76cf9cc7464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0e61c206e7c64100" /><Relationship Type="http://schemas.openxmlformats.org/officeDocument/2006/relationships/notesSlide" Target="/ppt/notesSlides/notesSlide43.xml" Id="R3ca7aaa5a28f404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9af5fac9aa2a4b27" /><Relationship Type="http://schemas.openxmlformats.org/officeDocument/2006/relationships/notesSlide" Target="/ppt/notesSlides/notesSlide44.xml" Id="R20773c032df346f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0f39debeb2c44d0f" /><Relationship Type="http://schemas.openxmlformats.org/officeDocument/2006/relationships/notesSlide" Target="/ppt/notesSlides/notesSlide45.xml" Id="R85f8baa98bd3432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8e12c950f1294fce" /><Relationship Type="http://schemas.openxmlformats.org/officeDocument/2006/relationships/notesSlide" Target="/ppt/notesSlides/notesSlide46.xml" Id="R9b3deb34d43d403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aea1441beb6a44d7" /><Relationship Type="http://schemas.openxmlformats.org/officeDocument/2006/relationships/notesSlide" Target="/ppt/notesSlides/notesSlide47.xml" Id="R548f085fd70048d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6b380c7a050a4bfa" /><Relationship Type="http://schemas.openxmlformats.org/officeDocument/2006/relationships/notesSlide" Target="/ppt/notesSlides/notesSlide48.xml" Id="R36f4b9b05f4d47ac"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3c65c7bfdef74226" /><Relationship Type="http://schemas.openxmlformats.org/officeDocument/2006/relationships/notesSlide" Target="/ppt/notesSlides/notesSlide49.xml" Id="R715bf680b0dc4f0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2eb4172c183b46f4" /><Relationship Type="http://schemas.openxmlformats.org/officeDocument/2006/relationships/notesSlide" Target="/ppt/notesSlides/notesSlide50.xml" Id="R56438fdb55204fd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f0819622bd0b48c5" /><Relationship Type="http://schemas.openxmlformats.org/officeDocument/2006/relationships/notesSlide" Target="/ppt/notesSlides/notesSlide51.xml" Id="R3b0b0a92e24c4b0b"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7d699395e50a4408" /><Relationship Type="http://schemas.openxmlformats.org/officeDocument/2006/relationships/notesSlide" Target="/ppt/notesSlides/notesSlide52.xml" Id="R219837a810a0482b"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35e1e01bb2ba49e9" /><Relationship Type="http://schemas.openxmlformats.org/officeDocument/2006/relationships/notesSlide" Target="/ppt/notesSlides/notesSlide53.xml" Id="Rbe3a75a0a29f4b6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f0829ab7a2204856" /><Relationship Type="http://schemas.openxmlformats.org/officeDocument/2006/relationships/notesSlide" Target="/ppt/notesSlides/notesSlide54.xml" Id="Rb064bb00a9df49c0"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a8e0c24aee984795" /><Relationship Type="http://schemas.openxmlformats.org/officeDocument/2006/relationships/notesSlide" Target="/ppt/notesSlides/notesSlide55.xml" Id="R8bcee1da85b14f5e"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ac0e27963ce242cb" /><Relationship Type="http://schemas.openxmlformats.org/officeDocument/2006/relationships/notesSlide" Target="/ppt/notesSlides/notesSlide56.xml" Id="R3269b485f8f64eff"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78c6e9ae9c0d43f8" /><Relationship Type="http://schemas.openxmlformats.org/officeDocument/2006/relationships/notesSlide" Target="/ppt/notesSlides/notesSlide57.xml" Id="R13c7055162364ec3"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ef7b65d232ed46e6" /><Relationship Type="http://schemas.openxmlformats.org/officeDocument/2006/relationships/notesSlide" Target="/ppt/notesSlides/notesSlide58.xml" Id="R290dca9672ee4224"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7180e30a470a476e" /><Relationship Type="http://schemas.openxmlformats.org/officeDocument/2006/relationships/notesSlide" Target="/ppt/notesSlides/notesSlide59.xml" Id="Ra4fcf0735ad94b9d"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8f4004b004a04e65" /><Relationship Type="http://schemas.openxmlformats.org/officeDocument/2006/relationships/notesSlide" Target="/ppt/notesSlides/notesSlide60.xml" Id="R8c7d0641bb984513"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73e3a7b61d5d4193" /><Relationship Type="http://schemas.openxmlformats.org/officeDocument/2006/relationships/notesSlide" Target="/ppt/notesSlides/notesSlide61.xml" Id="Rf01fd9bd277a4472"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0cc2dc9fb4384227" /><Relationship Type="http://schemas.openxmlformats.org/officeDocument/2006/relationships/notesSlide" Target="/ppt/notesSlides/notesSlide62.xml" Id="R9ef323c5ab214793"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68e3c04344664371" /><Relationship Type="http://schemas.openxmlformats.org/officeDocument/2006/relationships/notesSlide" Target="/ppt/notesSlides/notesSlide63.xml" Id="Rb9be44232d0049b0"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1e37288fdbd04c95" /><Relationship Type="http://schemas.openxmlformats.org/officeDocument/2006/relationships/notesSlide" Target="/ppt/notesSlides/notesSlide64.xml" Id="Re6fd7f2f9a7f4fb1"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4ddbdbdc0a744292" /><Relationship Type="http://schemas.openxmlformats.org/officeDocument/2006/relationships/notesSlide" Target="/ppt/notesSlides/notesSlide65.xml" Id="Re16a7c2cfb1443d4"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a593e045cf754caf" /><Relationship Type="http://schemas.openxmlformats.org/officeDocument/2006/relationships/notesSlide" Target="/ppt/notesSlides/notesSlide66.xml" Id="R3daa3f77176545c1"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f0958ec194c14dce" /><Relationship Type="http://schemas.openxmlformats.org/officeDocument/2006/relationships/notesSlide" Target="/ppt/notesSlides/notesSlide67.xml" Id="R997f50bcd9764d89"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d949e411e0494024" /><Relationship Type="http://schemas.openxmlformats.org/officeDocument/2006/relationships/notesSlide" Target="/ppt/notesSlides/notesSlide68.xml" Id="R1238ea88576c45e1"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70f10d75a2774804" /><Relationship Type="http://schemas.openxmlformats.org/officeDocument/2006/relationships/notesSlide" Target="/ppt/notesSlides/notesSlide69.xml" Id="R2ecf9ec83ce2497e"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cd70c23a31b94861" /><Relationship Type="http://schemas.openxmlformats.org/officeDocument/2006/relationships/notesSlide" Target="/ppt/notesSlides/notesSlide70.xml" Id="R9d7fc4aacfff4249"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093912fd5e7b4966" /><Relationship Type="http://schemas.openxmlformats.org/officeDocument/2006/relationships/notesSlide" Target="/ppt/notesSlides/notesSlide71.xml" Id="R8155dde5ab534250"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85f60c88cdde4d5d" /><Relationship Type="http://schemas.openxmlformats.org/officeDocument/2006/relationships/notesSlide" Target="/ppt/notesSlides/notesSlide72.xml" Id="Rebe0ce67434045e3"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42f8fe4f02314135" /><Relationship Type="http://schemas.openxmlformats.org/officeDocument/2006/relationships/notesSlide" Target="/ppt/notesSlides/notesSlide73.xml" Id="R54ec326e6ba84cf6"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467551fe1ea1447d" /><Relationship Type="http://schemas.openxmlformats.org/officeDocument/2006/relationships/notesSlide" Target="/ppt/notesSlides/notesSlide74.xml" Id="Ra43d8070b01a40ae"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ed281b1718804f0a" /><Relationship Type="http://schemas.openxmlformats.org/officeDocument/2006/relationships/notesSlide" Target="/ppt/notesSlides/notesSlide75.xml" Id="R549ac1246b504fd6"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466322c4f5004ad8" /><Relationship Type="http://schemas.openxmlformats.org/officeDocument/2006/relationships/notesSlide" Target="/ppt/notesSlides/notesSlide76.xml" Id="R2e9da0bb10334d1b"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6026441b929642be" /><Relationship Type="http://schemas.openxmlformats.org/officeDocument/2006/relationships/notesSlide" Target="/ppt/notesSlides/notesSlide77.xml" Id="R3b61014c213e4274"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23abe1d0684b4436" /><Relationship Type="http://schemas.openxmlformats.org/officeDocument/2006/relationships/notesSlide" Target="/ppt/notesSlides/notesSlide78.xml" Id="R036d5c5107114ec8"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120e75ffa5cc450a" /><Relationship Type="http://schemas.openxmlformats.org/officeDocument/2006/relationships/notesSlide" Target="/ppt/notesSlides/notesSlide79.xml" Id="R8d9b385edc19407e"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767e9c24da2c4995" /><Relationship Type="http://schemas.openxmlformats.org/officeDocument/2006/relationships/notesSlide" Target="/ppt/notesSlides/notesSlide80.xml" Id="R679fe85c27ca4061"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323939e3661b4bee" /><Relationship Type="http://schemas.openxmlformats.org/officeDocument/2006/relationships/notesSlide" Target="/ppt/notesSlides/notesSlide81.xml" Id="R5e1cdd7fa85546e0"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4305ac4f76464765" /><Relationship Type="http://schemas.openxmlformats.org/officeDocument/2006/relationships/notesSlide" Target="/ppt/notesSlides/notesSlide82.xml" Id="Rbeb4349f88fd41b8"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681aad7024a348b0" /><Relationship Type="http://schemas.openxmlformats.org/officeDocument/2006/relationships/notesSlide" Target="/ppt/notesSlides/notesSlide83.xml" Id="R123641dc3ea84ec3"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f75a0ef7ac774843" /><Relationship Type="http://schemas.openxmlformats.org/officeDocument/2006/relationships/notesSlide" Target="/ppt/notesSlides/notesSlide84.xml" Id="R3accff51eb9a45da"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7064ad3246da4296" /><Relationship Type="http://schemas.openxmlformats.org/officeDocument/2006/relationships/notesSlide" Target="/ppt/notesSlides/notesSlide85.xml" Id="R4233f4fb15b342d4"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f72b32242ca6451e" /><Relationship Type="http://schemas.openxmlformats.org/officeDocument/2006/relationships/notesSlide" Target="/ppt/notesSlides/notesSlide86.xml" Id="Rd9ac5c100a0d428c"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a4990d4b01d2419c" /><Relationship Type="http://schemas.openxmlformats.org/officeDocument/2006/relationships/notesSlide" Target="/ppt/notesSlides/notesSlide87.xml" Id="Rcf0bc4d2702c4cd4"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30a68b85d095460f" /><Relationship Type="http://schemas.openxmlformats.org/officeDocument/2006/relationships/notesSlide" Target="/ppt/notesSlides/notesSlide88.xml" Id="R01a146a634044146"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24120ea21d7f4bda" /><Relationship Type="http://schemas.openxmlformats.org/officeDocument/2006/relationships/notesSlide" Target="/ppt/notesSlides/notesSlide89.xml" Id="R0acecf0116234246"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9e923174515d4fc7" /><Relationship Type="http://schemas.openxmlformats.org/officeDocument/2006/relationships/notesSlide" Target="/ppt/notesSlides/notesSlide90.xml" Id="R8585d0cdeb024ab7" /></Relationships>
</file>

<file path=ppt/slides/_rels/slide91.xml.rels>&#65279;<?xml version="1.0" encoding="utf-8"?><Relationships xmlns="http://schemas.openxmlformats.org/package/2006/relationships"><Relationship Type="http://schemas.openxmlformats.org/officeDocument/2006/relationships/slideLayout" Target="/ppt/slideLayouts/slideLayout6.xml" Id="R2a743fa059d544a4" /><Relationship Type="http://schemas.openxmlformats.org/officeDocument/2006/relationships/notesSlide" Target="/ppt/notesSlides/notesSlide91.xml" Id="Ra0275ea2e98441ac" /></Relationships>
</file>

<file path=ppt/slides/_rels/slide92.xml.rels>&#65279;<?xml version="1.0" encoding="utf-8"?><Relationships xmlns="http://schemas.openxmlformats.org/package/2006/relationships"><Relationship Type="http://schemas.openxmlformats.org/officeDocument/2006/relationships/slideLayout" Target="/ppt/slideLayouts/slideLayout6.xml" Id="R78d6e5e5e7a843f9" /><Relationship Type="http://schemas.openxmlformats.org/officeDocument/2006/relationships/notesSlide" Target="/ppt/notesSlides/notesSlide92.xml" Id="R2ab9422a33c44230"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1189c7cc48404fb4" /><Relationship Type="http://schemas.openxmlformats.org/officeDocument/2006/relationships/notesSlide" Target="/ppt/notesSlides/notesSlide93.xml" Id="R7f78970dd0b9431c" /></Relationships>
</file>

<file path=ppt/slides/_rels/slide94.xml.rels>&#65279;<?xml version="1.0" encoding="utf-8"?><Relationships xmlns="http://schemas.openxmlformats.org/package/2006/relationships"><Relationship Type="http://schemas.openxmlformats.org/officeDocument/2006/relationships/slideLayout" Target="/ppt/slideLayouts/slideLayout6.xml" Id="Rd81e04365fc442e3" /><Relationship Type="http://schemas.openxmlformats.org/officeDocument/2006/relationships/notesSlide" Target="/ppt/notesSlides/notesSlide94.xml" Id="R619528f21c0a42b2" /></Relationships>
</file>

<file path=ppt/slides/_rels/slide95.xml.rels>&#65279;<?xml version="1.0" encoding="utf-8"?><Relationships xmlns="http://schemas.openxmlformats.org/package/2006/relationships"><Relationship Type="http://schemas.openxmlformats.org/officeDocument/2006/relationships/slideLayout" Target="/ppt/slideLayouts/slideLayout6.xml" Id="R7fec096ed21841ff" /><Relationship Type="http://schemas.openxmlformats.org/officeDocument/2006/relationships/notesSlide" Target="/ppt/notesSlides/notesSlide95.xml" Id="Rb18220887ff94b1a" /></Relationships>
</file>

<file path=ppt/slides/_rels/slide96.xml.rels>&#65279;<?xml version="1.0" encoding="utf-8"?><Relationships xmlns="http://schemas.openxmlformats.org/package/2006/relationships"><Relationship Type="http://schemas.openxmlformats.org/officeDocument/2006/relationships/slideLayout" Target="/ppt/slideLayouts/slideLayout6.xml" Id="R8720fabc3f5846b1" /><Relationship Type="http://schemas.openxmlformats.org/officeDocument/2006/relationships/notesSlide" Target="/ppt/notesSlides/notesSlide96.xml" Id="Rb6d0529e127c4675" /></Relationships>
</file>

<file path=ppt/slides/_rels/slide97.xml.rels>&#65279;<?xml version="1.0" encoding="utf-8"?><Relationships xmlns="http://schemas.openxmlformats.org/package/2006/relationships"><Relationship Type="http://schemas.openxmlformats.org/officeDocument/2006/relationships/slideLayout" Target="/ppt/slideLayouts/slideLayout6.xml" Id="R7901267e2bbb4759" /><Relationship Type="http://schemas.openxmlformats.org/officeDocument/2006/relationships/notesSlide" Target="/ppt/notesSlides/notesSlide97.xml" Id="R6d8b5a0b98394ca5" /></Relationships>
</file>

<file path=ppt/slides/_rels/slide98.xml.rels>&#65279;<?xml version="1.0" encoding="utf-8"?><Relationships xmlns="http://schemas.openxmlformats.org/package/2006/relationships"><Relationship Type="http://schemas.openxmlformats.org/officeDocument/2006/relationships/slideLayout" Target="/ppt/slideLayouts/slideLayout6.xml" Id="Reaf04c63d3cd4a0a" /><Relationship Type="http://schemas.openxmlformats.org/officeDocument/2006/relationships/notesSlide" Target="/ppt/notesSlides/notesSlide98.xml" Id="R17e3d6a1d68e4f61" /></Relationships>
</file>

<file path=ppt/slides/_rels/slide99.xml.rels>&#65279;<?xml version="1.0" encoding="utf-8"?><Relationships xmlns="http://schemas.openxmlformats.org/package/2006/relationships"><Relationship Type="http://schemas.openxmlformats.org/officeDocument/2006/relationships/slideLayout" Target="/ppt/slideLayouts/slideLayout6.xml" Id="Rb71822b063c24c61" /><Relationship Type="http://schemas.openxmlformats.org/officeDocument/2006/relationships/notesSlide" Target="/ppt/notesSlides/notesSlide99.xml" Id="R233b34344ec44821"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6.xml" Id="R3141e8cc147348a3" /><Relationship Type="http://schemas.openxmlformats.org/officeDocument/2006/relationships/notesSlide" Target="/ppt/notesSlides/notesSlide100.xml" Id="Ra0af809247614079"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6.xml" Id="Rf3d3875d45e941ca" /><Relationship Type="http://schemas.openxmlformats.org/officeDocument/2006/relationships/notesSlide" Target="/ppt/notesSlides/notesSlide101.xml" Id="Raa16bad925d946ef"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6.xml" Id="Re30d4a3296b644cd" /><Relationship Type="http://schemas.openxmlformats.org/officeDocument/2006/relationships/notesSlide" Target="/ppt/notesSlides/notesSlide102.xml" Id="R5f77cb3e4a484e75"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6.xml" Id="Rcdfb4faf67d242fb" /><Relationship Type="http://schemas.openxmlformats.org/officeDocument/2006/relationships/notesSlide" Target="/ppt/notesSlides/notesSlide103.xml" Id="Rb932237dfff84747"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6.xml" Id="R45981eef8b0648de" /><Relationship Type="http://schemas.openxmlformats.org/officeDocument/2006/relationships/notesSlide" Target="/ppt/notesSlides/notesSlide104.xml" Id="Rd02d07d7bf67456c"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A1D4F20-EDB9-40A4-AD08-9543E422017C}"/>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8A404CE-57A8-4A25-B767-C4FB0FBD583B}"/>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C9EFA379-A982-4D5B-9546-4CAC4658741C}"/>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Venipuncture Standards and Practice</a:t>
            </a:r>
          </a:p>
        </p:txBody>
      </p:sp>
      <p:sp>
        <p:nvSpPr>
          <p:cNvPr id="4" name="">
            <a:extLst xmlns:a="http://schemas.openxmlformats.org/drawingml/2006/main">
              <a:ext uri="{FF2B5EF4-FFF2-40B4-BE49-F238E27FC236}">
                <a16:creationId xmlns:a16="http://schemas.microsoft.com/office/drawing/2014/main" id="{F7F2BACB-A6C9-4106-A9DC-9A6DAC5A9D56}"/>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7  |  30-Hour Basic Intravenous Therapy</a:t>
            </a:r>
          </a:p>
        </p:txBody>
      </p:sp>
      <p:sp>
        <p:nvSpPr>
          <p:cNvPr id="5" name="">
            <a:extLst xmlns:a="http://schemas.openxmlformats.org/drawingml/2006/main">
              <a:ext uri="{FF2B5EF4-FFF2-40B4-BE49-F238E27FC236}">
                <a16:creationId xmlns:a16="http://schemas.microsoft.com/office/drawing/2014/main" id="{1F54C5CB-0C78-4759-B54A-5B7379C62F40}"/>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Comprehensive instructor presentation • full manual coverage</a:t>
            </a:r>
          </a:p>
        </p:txBody>
      </p:sp>
    </p:spTree>
    <p:extLst>
      <p:ext uri="{BB962C8B-B14F-4D97-AF65-F5344CB8AC3E}">
        <p14:creationId xmlns:p14="http://schemas.microsoft.com/office/powerpoint/2010/main" val="333264227"/>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B89FABE-6929-4E03-859C-AEBB977AD60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1DA798A-78EF-45EE-BCB4-98C32C1E551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1EB261B0-6D3C-4CA7-801D-115FBE924DB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214F384-3D09-4D8B-BCEC-7E3677EB612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09ED29D0-2246-49A4-91F0-16A1BD7DBB5A}"/>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Select an appropriate peripheral vein and catheter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Perform aseptic insertion and securement on a task trainer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Assess, maintain, and discontinue a peripheral IV safely</a:t>
            </a:r>
          </a:p>
        </p:txBody>
      </p:sp>
    </p:spTree>
    <p:extLst>
      <p:ext uri="{BB962C8B-B14F-4D97-AF65-F5344CB8AC3E}">
        <p14:creationId xmlns:p14="http://schemas.microsoft.com/office/powerpoint/2010/main" val="1261056931"/>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620A8F-3692-4CE6-A662-BDE517F12D3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2E282B8-C185-499F-AD3A-AF8D5EB6E08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Site and device selection</a:t>
            </a:r>
          </a:p>
        </p:txBody>
      </p:sp>
      <p:sp>
        <p:nvSpPr>
          <p:cNvPr id="3" name="">
            <a:extLst xmlns:a="http://schemas.openxmlformats.org/drawingml/2006/main">
              <a:ext uri="{FF2B5EF4-FFF2-40B4-BE49-F238E27FC236}">
                <a16:creationId xmlns:a16="http://schemas.microsoft.com/office/drawing/2014/main" id="{4BF42F3D-3335-4D4C-A6EB-B615BE63D68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D6A32018-4D9D-4A06-BE20-2AEE4C0DF60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FAB07128-A8C4-4166-858E-1A6807CCFBE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Begin distally when appropriate.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Avoid compromised extremities and sites of infection, flexion, poor circulation, or prior complications.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Select the smallest gauge and shortest catheter that can support the ordered therapy.</a:t>
            </a:r>
          </a:p>
        </p:txBody>
      </p:sp>
      <p:sp>
        <p:nvSpPr>
          <p:cNvPr id="6" name="">
            <a:extLst xmlns:a="http://schemas.openxmlformats.org/drawingml/2006/main">
              <a:ext uri="{FF2B5EF4-FFF2-40B4-BE49-F238E27FC236}">
                <a16:creationId xmlns:a16="http://schemas.microsoft.com/office/drawing/2014/main" id="{03139F95-F507-4E6A-BABE-66951446500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24620319"/>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DD882F-F501-4A69-A47F-CA022E7949A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38657C9-9498-4D12-AA6B-29E5D780979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Aseptic insertion</a:t>
            </a:r>
          </a:p>
        </p:txBody>
      </p:sp>
      <p:sp>
        <p:nvSpPr>
          <p:cNvPr id="3" name="">
            <a:extLst xmlns:a="http://schemas.openxmlformats.org/drawingml/2006/main">
              <a:ext uri="{FF2B5EF4-FFF2-40B4-BE49-F238E27FC236}">
                <a16:creationId xmlns:a16="http://schemas.microsoft.com/office/drawing/2014/main" id="{8DC69CF9-4DE3-411F-B81D-25BA9A1C2BD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35CBE26C-049E-4AE8-AFFC-AB91FD6190C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187FCF81-A51F-4C92-8291-5DFABC50103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Perform hand hygiene, prepare and position the patient, apply the tourniquet, cleanse the site with the approved antiseptic, let it dry, stabilize the vein, observe flashback, thread the catheter, and activate sharps protection.</a:t>
            </a:r>
          </a:p>
        </p:txBody>
      </p:sp>
      <p:sp>
        <p:nvSpPr>
          <p:cNvPr id="6" name="">
            <a:extLst xmlns:a="http://schemas.openxmlformats.org/drawingml/2006/main">
              <a:ext uri="{FF2B5EF4-FFF2-40B4-BE49-F238E27FC236}">
                <a16:creationId xmlns:a16="http://schemas.microsoft.com/office/drawing/2014/main" id="{1D862DF7-6508-4745-A31C-F57C09CFD0E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65001868"/>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BF194D5-99D1-4AB8-AEDD-0D86088BA6C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308A1F2-DD7D-41BD-8767-B77A9632930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Securement and maintenance</a:t>
            </a:r>
          </a:p>
        </p:txBody>
      </p:sp>
      <p:sp>
        <p:nvSpPr>
          <p:cNvPr id="3" name="">
            <a:extLst xmlns:a="http://schemas.openxmlformats.org/drawingml/2006/main">
              <a:ext uri="{FF2B5EF4-FFF2-40B4-BE49-F238E27FC236}">
                <a16:creationId xmlns:a16="http://schemas.microsoft.com/office/drawing/2014/main" id="{BB4C3807-B593-4722-A29A-61F7DEEE658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92E2951-1A27-405E-91A1-0E9EEAA21F5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BA7EE818-E1B1-48B7-879A-3A09FE6636B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Connect a primed extension aseptically, assess patency without force, secure the catheter, apply and label the dressing, trace tubing, start the ordered therapy, and reassess the site and patient.</a:t>
            </a:r>
          </a:p>
        </p:txBody>
      </p:sp>
      <p:sp>
        <p:nvSpPr>
          <p:cNvPr id="6" name="">
            <a:extLst xmlns:a="http://schemas.openxmlformats.org/drawingml/2006/main">
              <a:ext uri="{FF2B5EF4-FFF2-40B4-BE49-F238E27FC236}">
                <a16:creationId xmlns:a16="http://schemas.microsoft.com/office/drawing/2014/main" id="{95518016-46CB-41FC-BAF5-FA196EADE46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40171487"/>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47878F3-CB3A-493A-9C22-0582BED0F4C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9B42BDC-D4B3-4AF9-9A10-A0D8ABC31E7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Complication cues</a:t>
            </a:r>
          </a:p>
        </p:txBody>
      </p:sp>
      <p:sp>
        <p:nvSpPr>
          <p:cNvPr id="3" name="">
            <a:extLst xmlns:a="http://schemas.openxmlformats.org/drawingml/2006/main">
              <a:ext uri="{FF2B5EF4-FFF2-40B4-BE49-F238E27FC236}">
                <a16:creationId xmlns:a16="http://schemas.microsoft.com/office/drawing/2014/main" id="{6411C0A9-5959-44D6-BBD4-80FA61BD275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2DD887B-E353-415B-9380-AE7B52997EA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F70648C8-20C9-4857-9574-D834D061BED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Cool swelling suggests infiltration.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Pain, warmth, redness, or a venous cord suggests phlebitis.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Burning or tissue injury with a vesicant suggests extravasation.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unsafe therapy and follow the condition-specific protocol.</a:t>
            </a:r>
          </a:p>
        </p:txBody>
      </p:sp>
      <p:sp>
        <p:nvSpPr>
          <p:cNvPr id="6" name="">
            <a:extLst xmlns:a="http://schemas.openxmlformats.org/drawingml/2006/main">
              <a:ext uri="{FF2B5EF4-FFF2-40B4-BE49-F238E27FC236}">
                <a16:creationId xmlns:a16="http://schemas.microsoft.com/office/drawing/2014/main" id="{CD48FF1F-A2A8-4F25-9C8B-93D2CFDFAB0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2752442"/>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186D0A-CD5F-4BA8-B36A-4C938A2BAFB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B701CC9-8BF5-44A4-87FB-24CB134A5EE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Equipment, Tubing, Catheters, and Infusion Devices 1</a:t>
            </a:r>
          </a:p>
        </p:txBody>
      </p:sp>
      <p:sp>
        <p:nvSpPr>
          <p:cNvPr id="3" name="">
            <a:extLst xmlns:a="http://schemas.openxmlformats.org/drawingml/2006/main">
              <a:ext uri="{FF2B5EF4-FFF2-40B4-BE49-F238E27FC236}">
                <a16:creationId xmlns:a16="http://schemas.microsoft.com/office/drawing/2014/main" id="{8BF8EDFD-43EA-469B-A62C-21B5B68FC6E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EF2ED37-47AE-43BE-B2ED-6F39ECC71F9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2FEDA47B-4930-4365-8C46-D163C7425AF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Common supplies include the ordered solution, administration set, catheter, extension set, needleless connector, antiseptic, tourniquet, flush, transparent or gauze dressing, securement device, labels, gloves/PPE, sharps container, and infusion device.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Inspect packaging, expiration dates, solution clarity, leaks, and medication labels.</a:t>
            </a:r>
          </a:p>
        </p:txBody>
      </p:sp>
      <p:sp>
        <p:nvSpPr>
          <p:cNvPr id="6" name="">
            <a:extLst xmlns:a="http://schemas.openxmlformats.org/drawingml/2006/main">
              <a:ext uri="{FF2B5EF4-FFF2-40B4-BE49-F238E27FC236}">
                <a16:creationId xmlns:a16="http://schemas.microsoft.com/office/drawing/2014/main" id="{94F1ADB5-8037-4126-A892-AC91CE773EE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74041776"/>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93D7A22-4161-491A-9AEA-1686C96D3EC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D7FF492-4DF7-40EC-AE66-82EB24C5C99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Equipment, Tubing, Catheters, and Infusion Devices 2</a:t>
            </a:r>
          </a:p>
        </p:txBody>
      </p:sp>
      <p:sp>
        <p:nvSpPr>
          <p:cNvPr id="3" name="">
            <a:extLst xmlns:a="http://schemas.openxmlformats.org/drawingml/2006/main">
              <a:ext uri="{FF2B5EF4-FFF2-40B4-BE49-F238E27FC236}">
                <a16:creationId xmlns:a16="http://schemas.microsoft.com/office/drawing/2014/main" id="{449171B1-58C9-433F-8490-E3B2BC2849F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0E9E710-A375-4E96-8C59-6D9EC311B0D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1AE3B8BE-CA5D-485A-8CD9-4B857C2A4F9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Macrodrip tubing has a manufacturer-specific drop factor such as 10, 15, or 20 gtt/mL.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Microdrip tubing is typically 60 gtt/mL.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Pumps control volume over time but do not replace patient and site assessment.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Trace and label tubing, keep connections secure, and respond to alarms by assessing the patient first and then the complete system.</a:t>
            </a:r>
          </a:p>
        </p:txBody>
      </p:sp>
      <p:sp>
        <p:nvSpPr>
          <p:cNvPr id="6" name="">
            <a:extLst xmlns:a="http://schemas.openxmlformats.org/drawingml/2006/main">
              <a:ext uri="{FF2B5EF4-FFF2-40B4-BE49-F238E27FC236}">
                <a16:creationId xmlns:a16="http://schemas.microsoft.com/office/drawing/2014/main" id="{0C06C1D7-3065-4BF3-968A-217986FF874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99271960"/>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6752FE-AB09-4159-9AC5-9FDB3286F4A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0376D2E-2C66-4949-A5CF-501ACB08AE2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Insertion sequence</a:t>
            </a:r>
          </a:p>
        </p:txBody>
      </p:sp>
      <p:sp>
        <p:nvSpPr>
          <p:cNvPr id="3" name="">
            <a:extLst xmlns:a="http://schemas.openxmlformats.org/drawingml/2006/main">
              <a:ext uri="{FF2B5EF4-FFF2-40B4-BE49-F238E27FC236}">
                <a16:creationId xmlns:a16="http://schemas.microsoft.com/office/drawing/2014/main" id="{0B4349A7-38C8-4DC6-BFE1-54B508330D0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A62D781-B69A-4D7C-B4D8-302CC9F7B6E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34F2DEF6-7262-4CA8-939E-04B7284AB56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Verify order, identity, allergies, indication, therapy, and site restrictions.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Explain the procedure, position the patient, perform hand hygiene, gather supplies, and apply PPE.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Select and assess a distal suitable vein; choose an appropriate catheter.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Apply the tourniquet, prepare the site with approved antiseptic, and allow it to dry.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Stabilize the vein, insert bevel up, observe flashback, lower/advance as taught, thread the catheter, release the tourniquet, occlude safely, activate needle safety, and discard the needle.</a:t>
            </a:r>
          </a:p>
        </p:txBody>
      </p:sp>
      <p:sp>
        <p:nvSpPr>
          <p:cNvPr id="6" name="">
            <a:extLst xmlns:a="http://schemas.openxmlformats.org/drawingml/2006/main">
              <a:ext uri="{FF2B5EF4-FFF2-40B4-BE49-F238E27FC236}">
                <a16:creationId xmlns:a16="http://schemas.microsoft.com/office/drawing/2014/main" id="{C252287A-7AF9-4CF5-889C-7C289535A24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47221099"/>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359A53-CCDE-485E-95C2-7CF0BD6AF46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6CABA2D-6E06-4768-B686-1CB33CCFCFA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Insertion sequence continued</a:t>
            </a:r>
          </a:p>
        </p:txBody>
      </p:sp>
      <p:sp>
        <p:nvSpPr>
          <p:cNvPr id="3" name="">
            <a:extLst xmlns:a="http://schemas.openxmlformats.org/drawingml/2006/main">
              <a:ext uri="{FF2B5EF4-FFF2-40B4-BE49-F238E27FC236}">
                <a16:creationId xmlns:a16="http://schemas.microsoft.com/office/drawing/2014/main" id="{023682BC-02AF-4303-8581-0D6F4FABF1C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5ED7355-9B5E-41DA-9A71-5F1817743B2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FBE592B0-B169-4D90-98D0-B5A47D6C7ED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Never reinsert the needle into the catheter.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Connect the primed extension, verify patency according to policy, secure without obscuring assessment, apply/label the dressing, initiate ordered therapy, reassess, and document.</a:t>
            </a:r>
          </a:p>
        </p:txBody>
      </p:sp>
      <p:sp>
        <p:nvSpPr>
          <p:cNvPr id="6" name="">
            <a:extLst xmlns:a="http://schemas.openxmlformats.org/drawingml/2006/main">
              <a:ext uri="{FF2B5EF4-FFF2-40B4-BE49-F238E27FC236}">
                <a16:creationId xmlns:a16="http://schemas.microsoft.com/office/drawing/2014/main" id="{8C4B0BE1-FD72-41C8-8181-9F08F97564F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31337215"/>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D0931F-93DA-4E1C-AED3-2632615B178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F21A2DB-0399-4025-A4D2-B9D66C71A69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Discontinuation</a:t>
            </a:r>
          </a:p>
        </p:txBody>
      </p:sp>
      <p:sp>
        <p:nvSpPr>
          <p:cNvPr id="3" name="">
            <a:extLst xmlns:a="http://schemas.openxmlformats.org/drawingml/2006/main">
              <a:ext uri="{FF2B5EF4-FFF2-40B4-BE49-F238E27FC236}">
                <a16:creationId xmlns:a16="http://schemas.microsoft.com/office/drawing/2014/main" id="{F7900A95-9631-4B9C-BF57-7DA3C3E5145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48E2B8B-D659-4081-9A39-CA3A665B722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357D0AE4-00E5-4299-B177-7CFB09DFD51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therapy, perform hand hygiene/PPE, remove dressing and catheter gently, apply pressure and dressing, inspect the catheter for intactness, reassess the site, and document.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Escalate any missing fragment immediately.</a:t>
            </a:r>
          </a:p>
        </p:txBody>
      </p:sp>
      <p:sp>
        <p:nvSpPr>
          <p:cNvPr id="6" name="">
            <a:extLst xmlns:a="http://schemas.openxmlformats.org/drawingml/2006/main">
              <a:ext uri="{FF2B5EF4-FFF2-40B4-BE49-F238E27FC236}">
                <a16:creationId xmlns:a16="http://schemas.microsoft.com/office/drawing/2014/main" id="{2C43F087-1BA3-4FEE-9E1D-707A857395B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29371680"/>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D4DD54-373D-4129-9222-05F806F26C3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38DB6FE-326B-4A7A-8ED7-C8AEBC9EE65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Local complications</a:t>
            </a:r>
          </a:p>
        </p:txBody>
      </p:sp>
      <p:sp>
        <p:nvSpPr>
          <p:cNvPr id="3" name="">
            <a:extLst xmlns:a="http://schemas.openxmlformats.org/drawingml/2006/main">
              <a:ext uri="{FF2B5EF4-FFF2-40B4-BE49-F238E27FC236}">
                <a16:creationId xmlns:a16="http://schemas.microsoft.com/office/drawing/2014/main" id="{A293D3CB-B4CD-4963-9F2F-399F5B8167F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F1E5FE6-2038-413A-B9FC-D7EA0062DDB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03A7C631-3701-4713-90C6-430ECC3C5F1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Infiltration: cool, pale, swollen, uncomfortable site; slowed infusion.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Extravasation: vesicant leakage with pain, blistering, tissue injury, or altered sensation.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Phlebitis: pain, erythema, warmth, swelling, or palpable venous cord.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Hematoma/bleeding, occlusion, dislodgement, leakage, nerve injury, and arterial puncture.</a:t>
            </a:r>
          </a:p>
        </p:txBody>
      </p:sp>
      <p:sp>
        <p:nvSpPr>
          <p:cNvPr id="6" name="">
            <a:extLst xmlns:a="http://schemas.openxmlformats.org/drawingml/2006/main">
              <a:ext uri="{FF2B5EF4-FFF2-40B4-BE49-F238E27FC236}">
                <a16:creationId xmlns:a16="http://schemas.microsoft.com/office/drawing/2014/main" id="{6711E3DA-D2D6-4D16-9CC8-7FB9AFD5DCA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93651570"/>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6ADA301-71AB-4CDA-BDDC-A9E37887575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C283F85-9217-438D-BBCF-2015FDCB020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Systemic complications</a:t>
            </a:r>
          </a:p>
        </p:txBody>
      </p:sp>
      <p:sp>
        <p:nvSpPr>
          <p:cNvPr id="3" name="">
            <a:extLst xmlns:a="http://schemas.openxmlformats.org/drawingml/2006/main">
              <a:ext uri="{FF2B5EF4-FFF2-40B4-BE49-F238E27FC236}">
                <a16:creationId xmlns:a16="http://schemas.microsoft.com/office/drawing/2014/main" id="{3E82B6D7-B092-4003-B970-B220E87F3A8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6C9A8F3-8858-412E-9B6E-418BDB3C795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98932641-0336-4901-98B7-291D293167A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Allergic reaction/anaphylaxis, bloodstream infection/sepsis, fluid overload, speed shock, air embolism, catheter embolism, and transfusion reaction require rapid recognition.</a:t>
            </a:r>
          </a:p>
        </p:txBody>
      </p:sp>
      <p:sp>
        <p:nvSpPr>
          <p:cNvPr id="6" name="">
            <a:extLst xmlns:a="http://schemas.openxmlformats.org/drawingml/2006/main">
              <a:ext uri="{FF2B5EF4-FFF2-40B4-BE49-F238E27FC236}">
                <a16:creationId xmlns:a16="http://schemas.microsoft.com/office/drawing/2014/main" id="{7FD2CCE4-DB0B-41E5-AE54-2E56E4F6B81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06378935"/>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8A2943D-D0DB-4A6E-86A9-0ED03D55B51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5C0E442-F0E2-41F2-A6E7-C53039FDD55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General response</a:t>
            </a:r>
          </a:p>
        </p:txBody>
      </p:sp>
      <p:sp>
        <p:nvSpPr>
          <p:cNvPr id="3" name="">
            <a:extLst xmlns:a="http://schemas.openxmlformats.org/drawingml/2006/main">
              <a:ext uri="{FF2B5EF4-FFF2-40B4-BE49-F238E27FC236}">
                <a16:creationId xmlns:a16="http://schemas.microsoft.com/office/drawing/2014/main" id="{4FE51660-086C-4728-B180-A7F64121EE1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DD6985CA-5E2F-4CBA-A145-B764C433DFB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DAA44C99-80F0-40BA-8872-EF44BD54ADC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infusion when indicated, assess airway/breathing/circulation and vital signs, activate emergency response, notify the RN/prescriber, preserve access or equipment as drug-specific protocol requires, position/support the patient, administer ordered treatment, document objective findings/actions/response, and complete an event report when required.</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Never force-flush an occluded or compromised device.</a:t>
            </a:r>
          </a:p>
        </p:txBody>
      </p:sp>
      <p:sp>
        <p:nvSpPr>
          <p:cNvPr id="6" name="">
            <a:extLst xmlns:a="http://schemas.openxmlformats.org/drawingml/2006/main">
              <a:ext uri="{FF2B5EF4-FFF2-40B4-BE49-F238E27FC236}">
                <a16:creationId xmlns:a16="http://schemas.microsoft.com/office/drawing/2014/main" id="{4A0417D8-D325-4C28-998E-3E0BA286D21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07444940"/>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15F152-53B6-4E11-A355-819E497F171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689D66B-CBBD-4ECB-A11A-21528BC06C3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Venipuncture Standards and Practices</a:t>
            </a:r>
          </a:p>
        </p:txBody>
      </p:sp>
      <p:sp>
        <p:nvSpPr>
          <p:cNvPr id="3" name="">
            <a:extLst xmlns:a="http://schemas.openxmlformats.org/drawingml/2006/main">
              <a:ext uri="{FF2B5EF4-FFF2-40B4-BE49-F238E27FC236}">
                <a16:creationId xmlns:a16="http://schemas.microsoft.com/office/drawing/2014/main" id="{D5A79A1E-D255-4252-BDAA-FEEC22B8913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26EA71E-CE4D-40A9-937D-20482884514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6C56B54B-8E54-4562-8354-E8261BB64D6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Module Seven Objectives 1.</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Identify the peripheral veins used in intravenous therapy.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List anatomical characteristics of veins and arteries.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Describe the procedure for skin preparation and venipuncture.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Identify five elements of IV documentation.</a:t>
            </a:r>
          </a:p>
        </p:txBody>
      </p:sp>
      <p:sp>
        <p:nvSpPr>
          <p:cNvPr id="6" name="">
            <a:extLst xmlns:a="http://schemas.openxmlformats.org/drawingml/2006/main">
              <a:ext uri="{FF2B5EF4-FFF2-40B4-BE49-F238E27FC236}">
                <a16:creationId xmlns:a16="http://schemas.microsoft.com/office/drawing/2014/main" id="{CEEDDB2B-A4F0-4B45-A4A5-2327ADB8E5D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657E65D-F986-4A13-9B5D-AAF8A3D6452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80</a:t>
            </a:r>
          </a:p>
        </p:txBody>
      </p:sp>
    </p:spTree>
    <p:extLst>
      <p:ext uri="{BB962C8B-B14F-4D97-AF65-F5344CB8AC3E}">
        <p14:creationId xmlns:p14="http://schemas.microsoft.com/office/powerpoint/2010/main" val="1522983257"/>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68DBC1-FB47-4C53-A22D-19D26AFAE80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E24F167-974E-4D2D-B3C3-E8C6925F222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Venipuncture Standards and Practices — continued</a:t>
            </a:r>
          </a:p>
        </p:txBody>
      </p:sp>
      <p:sp>
        <p:nvSpPr>
          <p:cNvPr id="3" name="">
            <a:extLst xmlns:a="http://schemas.openxmlformats.org/drawingml/2006/main">
              <a:ext uri="{FF2B5EF4-FFF2-40B4-BE49-F238E27FC236}">
                <a16:creationId xmlns:a16="http://schemas.microsoft.com/office/drawing/2014/main" id="{1F2DA1FE-1B1F-4C82-A595-737ABB3AB1D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086EBC6-D531-4422-AA4B-0FB094340AC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ABFF2129-F986-4F70-9226-C6B8F38AECF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Demonstrate venipuncture on an anatomical model.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Outline 1.</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Anatomy and physiology of the vascular system.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Venous structures and layers B.</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Compare venous and arterial anatomy and physiology C.</a:t>
            </a:r>
          </a:p>
        </p:txBody>
      </p:sp>
      <p:sp>
        <p:nvSpPr>
          <p:cNvPr id="6" name="">
            <a:extLst xmlns:a="http://schemas.openxmlformats.org/drawingml/2006/main">
              <a:ext uri="{FF2B5EF4-FFF2-40B4-BE49-F238E27FC236}">
                <a16:creationId xmlns:a16="http://schemas.microsoft.com/office/drawing/2014/main" id="{D9CDA36B-490D-430C-8F2E-D4617EDEB3C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0BE3851-326B-4AE7-B019-53A062AB56C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80</a:t>
            </a:r>
          </a:p>
        </p:txBody>
      </p:sp>
    </p:spTree>
    <p:extLst>
      <p:ext uri="{BB962C8B-B14F-4D97-AF65-F5344CB8AC3E}">
        <p14:creationId xmlns:p14="http://schemas.microsoft.com/office/powerpoint/2010/main" val="340713725"/>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A11C589-8C71-4DFD-8CA6-C777F7FA9C8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079D2E7-3F54-43D3-AEC9-BF04D800E8B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Venipuncture Standards and Practices — continued</a:t>
            </a:r>
          </a:p>
        </p:txBody>
      </p:sp>
      <p:sp>
        <p:nvSpPr>
          <p:cNvPr id="3" name="">
            <a:extLst xmlns:a="http://schemas.openxmlformats.org/drawingml/2006/main">
              <a:ext uri="{FF2B5EF4-FFF2-40B4-BE49-F238E27FC236}">
                <a16:creationId xmlns:a16="http://schemas.microsoft.com/office/drawing/2014/main" id="{8CF66B12-7742-4F75-B4CB-792F6AA9146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B5FAA73-59FD-4ECA-8383-DB852D91258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6EADBD44-65B9-4569-8A56-DBFD2069201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Influential effects of venous function 2.</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Superficial veins 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Digital B.</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Cephalic C.</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Basilic D.</a:t>
            </a:r>
          </a:p>
        </p:txBody>
      </p:sp>
      <p:sp>
        <p:nvSpPr>
          <p:cNvPr id="6" name="">
            <a:extLst xmlns:a="http://schemas.openxmlformats.org/drawingml/2006/main">
              <a:ext uri="{FF2B5EF4-FFF2-40B4-BE49-F238E27FC236}">
                <a16:creationId xmlns:a16="http://schemas.microsoft.com/office/drawing/2014/main" id="{653D0CF2-E460-4368-AED6-07EF5AD63C1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47206EB-FBD1-43D6-8793-7C3C582C308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80</a:t>
            </a:r>
          </a:p>
        </p:txBody>
      </p:sp>
    </p:spTree>
    <p:extLst>
      <p:ext uri="{BB962C8B-B14F-4D97-AF65-F5344CB8AC3E}">
        <p14:creationId xmlns:p14="http://schemas.microsoft.com/office/powerpoint/2010/main" val="408276141"/>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475FD8-C6BF-42A3-A978-8B4EB507C47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439FE89-EEFD-4560-8AD0-66DA76203F6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Venipuncture Standards and Practices — continued</a:t>
            </a:r>
          </a:p>
        </p:txBody>
      </p:sp>
      <p:sp>
        <p:nvSpPr>
          <p:cNvPr id="3" name="">
            <a:extLst xmlns:a="http://schemas.openxmlformats.org/drawingml/2006/main">
              <a:ext uri="{FF2B5EF4-FFF2-40B4-BE49-F238E27FC236}">
                <a16:creationId xmlns:a16="http://schemas.microsoft.com/office/drawing/2014/main" id="{31BEBCAD-8AD3-40B2-A3A2-AC4C6A97B79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23370BE-3FB9-49F0-A898-34360F72D6B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914AAB05-53C3-4B17-A47F-9738AF0B266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Brachial 3.</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Procedure 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Psychological preparation of the patient B.</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Physical preparation of the patient Collection of equipment Venipuncture devices Butterfly needles Over the needle catheter Inside the needle catheter</a:t>
            </a:r>
          </a:p>
        </p:txBody>
      </p:sp>
      <p:sp>
        <p:nvSpPr>
          <p:cNvPr id="6" name="">
            <a:extLst xmlns:a="http://schemas.openxmlformats.org/drawingml/2006/main">
              <a:ext uri="{FF2B5EF4-FFF2-40B4-BE49-F238E27FC236}">
                <a16:creationId xmlns:a16="http://schemas.microsoft.com/office/drawing/2014/main" id="{A7932AB2-5FE3-4DAF-A8FE-4ED8EA5C290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14113F0-42E8-4515-A896-AA03ACCD305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80</a:t>
            </a:r>
          </a:p>
        </p:txBody>
      </p:sp>
    </p:spTree>
    <p:extLst>
      <p:ext uri="{BB962C8B-B14F-4D97-AF65-F5344CB8AC3E}">
        <p14:creationId xmlns:p14="http://schemas.microsoft.com/office/powerpoint/2010/main" val="620649041"/>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08BB72A-CC28-478B-8961-691A2E4E62E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CE86640-74CE-468D-94EB-57F8F4BDC1B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 Selection of venipuncture site</a:t>
            </a:r>
          </a:p>
        </p:txBody>
      </p:sp>
      <p:sp>
        <p:nvSpPr>
          <p:cNvPr id="3" name="">
            <a:extLst xmlns:a="http://schemas.openxmlformats.org/drawingml/2006/main">
              <a:ext uri="{FF2B5EF4-FFF2-40B4-BE49-F238E27FC236}">
                <a16:creationId xmlns:a16="http://schemas.microsoft.com/office/drawing/2014/main" id="{ABF2B53B-47D3-4207-85CF-8FCE64A01C8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C0FD839-E973-4AF5-90D3-49AB2A4A4C8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DA6E2E0E-E332-405A-8F34-DC5CF9F68D8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Considerations Length of therapy Type of solution Size of catheter/needle Rate of infusion Type of catheter/needle 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Preparation for venipuncture procedure Supplies needed Explanation of the procedure Preparation of the site Venipuncture method Techniques for securing the site 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Dressing and site care Standards of INS Acceptable policy Types of dressings F.</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Splints and restraints 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Documentation requirements H.</a:t>
            </a:r>
          </a:p>
        </p:txBody>
      </p:sp>
      <p:sp>
        <p:nvSpPr>
          <p:cNvPr id="6" name="">
            <a:extLst xmlns:a="http://schemas.openxmlformats.org/drawingml/2006/main">
              <a:ext uri="{FF2B5EF4-FFF2-40B4-BE49-F238E27FC236}">
                <a16:creationId xmlns:a16="http://schemas.microsoft.com/office/drawing/2014/main" id="{12C5705C-48A5-48F2-A3F7-5CF1C0942D5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0E97C84-B0B5-4FCD-8CF1-98B31E5FA98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81</a:t>
            </a:r>
          </a:p>
        </p:txBody>
      </p:sp>
    </p:spTree>
    <p:extLst>
      <p:ext uri="{BB962C8B-B14F-4D97-AF65-F5344CB8AC3E}">
        <p14:creationId xmlns:p14="http://schemas.microsoft.com/office/powerpoint/2010/main" val="2013835656"/>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4E3BD1-E2FD-4030-9FCB-94C7BB156C5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6444906-20E0-4DCC-9787-B14A4F4C203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 Selection of venipuncture site — continued</a:t>
            </a:r>
          </a:p>
        </p:txBody>
      </p:sp>
      <p:sp>
        <p:nvSpPr>
          <p:cNvPr id="3" name="">
            <a:extLst xmlns:a="http://schemas.openxmlformats.org/drawingml/2006/main">
              <a:ext uri="{FF2B5EF4-FFF2-40B4-BE49-F238E27FC236}">
                <a16:creationId xmlns:a16="http://schemas.microsoft.com/office/drawing/2014/main" id="{235E1BA7-70C0-4892-BFD0-7AE6B93B6B1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E819900-113D-4AE6-8F4C-1DE5B04CACF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A90A539D-62C8-4530-9BB7-CBFA45FF87D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Disposal of equipment I.</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Discontinuation of IV therapy</a:t>
            </a:r>
          </a:p>
        </p:txBody>
      </p:sp>
      <p:sp>
        <p:nvSpPr>
          <p:cNvPr id="6" name="">
            <a:extLst xmlns:a="http://schemas.openxmlformats.org/drawingml/2006/main">
              <a:ext uri="{FF2B5EF4-FFF2-40B4-BE49-F238E27FC236}">
                <a16:creationId xmlns:a16="http://schemas.microsoft.com/office/drawing/2014/main" id="{D3ACCAC2-26A7-42A3-B504-03C57E2538D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1646B5F-5493-4E74-9CB8-559A56907EE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81</a:t>
            </a:r>
          </a:p>
        </p:txBody>
      </p:sp>
    </p:spTree>
    <p:extLst>
      <p:ext uri="{BB962C8B-B14F-4D97-AF65-F5344CB8AC3E}">
        <p14:creationId xmlns:p14="http://schemas.microsoft.com/office/powerpoint/2010/main" val="917435860"/>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F3280AD-7F2B-44C7-B0A4-9CC454366DA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E492528-F44C-4E83-9E29-8AFC23F69A8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Anatomy and Physiology of the Vascular System</a:t>
            </a:r>
          </a:p>
        </p:txBody>
      </p:sp>
      <p:sp>
        <p:nvSpPr>
          <p:cNvPr id="3" name="">
            <a:extLst xmlns:a="http://schemas.openxmlformats.org/drawingml/2006/main">
              <a:ext uri="{FF2B5EF4-FFF2-40B4-BE49-F238E27FC236}">
                <a16:creationId xmlns:a16="http://schemas.microsoft.com/office/drawing/2014/main" id="{7525D2DE-FFDB-4CE6-838D-C362EF0736D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2AD8C8C-6A3B-4742-A682-761FB63052A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80E1A76A-1E93-4A09-8011-AE4F51808C8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Knowledge of the anatomy and physiology of the vascular system (veins and arteries) is essential to the success and proficiency of the therapist performing IV therapy, as well as the patient's welfare.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Understanding the vascular system and the influential factors affecting it, enable the therapist to use discriminating judgment in venous selection for intravenous use.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Venous Structures and Layers 1.</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Tunica Intima - This layer forms the inner lining of both arteries and veins.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Composed of a single layer of endothelium, which forms a smooth lining that decreases friction as blood flows through the vessel.</a:t>
            </a:r>
          </a:p>
        </p:txBody>
      </p:sp>
      <p:sp>
        <p:nvSpPr>
          <p:cNvPr id="6" name="">
            <a:extLst xmlns:a="http://schemas.openxmlformats.org/drawingml/2006/main">
              <a:ext uri="{FF2B5EF4-FFF2-40B4-BE49-F238E27FC236}">
                <a16:creationId xmlns:a16="http://schemas.microsoft.com/office/drawing/2014/main" id="{9BEC2E8F-BCCE-47E9-A8C1-3C2B26EB0EB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2DE6E6F-9113-4AFC-897C-C443A9804EA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82</a:t>
            </a:r>
          </a:p>
        </p:txBody>
      </p:sp>
    </p:spTree>
    <p:extLst>
      <p:ext uri="{BB962C8B-B14F-4D97-AF65-F5344CB8AC3E}">
        <p14:creationId xmlns:p14="http://schemas.microsoft.com/office/powerpoint/2010/main" val="1603728417"/>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701FA1-4781-48F4-81A4-5E60DC09D5B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F5BCB37-DCBF-407B-870E-2E36A866132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957"/>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Anatomy and Physiology of the Vascular System — continued</a:t>
            </a:r>
          </a:p>
        </p:txBody>
      </p:sp>
      <p:sp>
        <p:nvSpPr>
          <p:cNvPr id="3" name="">
            <a:extLst xmlns:a="http://schemas.openxmlformats.org/drawingml/2006/main">
              <a:ext uri="{FF2B5EF4-FFF2-40B4-BE49-F238E27FC236}">
                <a16:creationId xmlns:a16="http://schemas.microsoft.com/office/drawing/2014/main" id="{DF02DB4E-D38F-4BE8-8760-1321DD67FCE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2C66FD5-DE21-441F-AF06-4010571EA18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12159EEC-C858-40FE-915A-CD3AC5F71F6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 veins this layer forms the valves.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Tunica Media - This layer composed of smooth muscle and elastic tissue forms the middle layer of veins and arteries.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layer is controlled by the sympathetic nervous system.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is the layer in which vasodilation and vasoconstriction occur.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layer controls, for example, blood pressure.</a:t>
            </a:r>
          </a:p>
        </p:txBody>
      </p:sp>
      <p:sp>
        <p:nvSpPr>
          <p:cNvPr id="6" name="">
            <a:extLst xmlns:a="http://schemas.openxmlformats.org/drawingml/2006/main">
              <a:ext uri="{FF2B5EF4-FFF2-40B4-BE49-F238E27FC236}">
                <a16:creationId xmlns:a16="http://schemas.microsoft.com/office/drawing/2014/main" id="{4C3F4013-C37C-40C5-864C-3D644898773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E658BDA-9A3C-4D29-A6C3-0F898C7B880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82</a:t>
            </a:r>
          </a:p>
        </p:txBody>
      </p:sp>
    </p:spTree>
    <p:extLst>
      <p:ext uri="{BB962C8B-B14F-4D97-AF65-F5344CB8AC3E}">
        <p14:creationId xmlns:p14="http://schemas.microsoft.com/office/powerpoint/2010/main" val="342373370"/>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96FDEF-4B79-4781-89A5-DB13641E75B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201B7C5-EAB6-49CA-AE71-6757A30C721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957"/>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Anatomy and Physiology of the Vascular System — continued</a:t>
            </a:r>
          </a:p>
        </p:txBody>
      </p:sp>
      <p:sp>
        <p:nvSpPr>
          <p:cNvPr id="3" name="">
            <a:extLst xmlns:a="http://schemas.openxmlformats.org/drawingml/2006/main">
              <a:ext uri="{FF2B5EF4-FFF2-40B4-BE49-F238E27FC236}">
                <a16:creationId xmlns:a16="http://schemas.microsoft.com/office/drawing/2014/main" id="{9DDA276F-F5E4-41A8-972D-5CEEF4DDC08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213F8BF-5C1F-46DD-88F6-63054A8B319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AB84A93F-7353-429B-ACFC-9651B09DF45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layer is thicker in arteries.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Tunica Adventitia - Also call tunica externa; this is the outermost layer of the veins and arteries.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Composed of connective tissue, its function is to support and protect the vessel.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layer is also stronger and thicker in arteries.</a:t>
            </a:r>
          </a:p>
        </p:txBody>
      </p:sp>
      <p:sp>
        <p:nvSpPr>
          <p:cNvPr id="6" name="">
            <a:extLst xmlns:a="http://schemas.openxmlformats.org/drawingml/2006/main">
              <a:ext uri="{FF2B5EF4-FFF2-40B4-BE49-F238E27FC236}">
                <a16:creationId xmlns:a16="http://schemas.microsoft.com/office/drawing/2014/main" id="{0A827E5D-3A2C-4363-8D5D-A70E025C433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D6E16BF-7E73-4AC3-BE73-2581C08D207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82</a:t>
            </a:r>
          </a:p>
        </p:txBody>
      </p:sp>
    </p:spTree>
    <p:extLst>
      <p:ext uri="{BB962C8B-B14F-4D97-AF65-F5344CB8AC3E}">
        <p14:creationId xmlns:p14="http://schemas.microsoft.com/office/powerpoint/2010/main" val="1661443409"/>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8FF866F-8CDC-49DC-9A17-93B53C51ECA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7E978AA-B406-4E00-A612-3597FF4C8AF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957"/>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Anatomy and Physiology of the Vascular System — continued</a:t>
            </a:r>
          </a:p>
        </p:txBody>
      </p:sp>
      <p:sp>
        <p:nvSpPr>
          <p:cNvPr id="3" name="">
            <a:extLst xmlns:a="http://schemas.openxmlformats.org/drawingml/2006/main">
              <a:ext uri="{FF2B5EF4-FFF2-40B4-BE49-F238E27FC236}">
                <a16:creationId xmlns:a16="http://schemas.microsoft.com/office/drawing/2014/main" id="{971D495E-6758-4202-83E9-BC1AC7BE323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1AF6AB0-9C27-48A4-A632-41247A8FF24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F3481B16-0D5F-483D-B9AD-45CCD5CAC2C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Endothelim Tunica Tunica Intira Intima Endothelin Elastic Elastic Tissue Tissue Tunica Tunica Smooth Media Muscle Smooth Media Muscle Connective Tunica Tissue Connective Tissue Adventicia Tunica Adverticia Anatomy of</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Veins and Arteries</a:t>
            </a:r>
          </a:p>
        </p:txBody>
      </p:sp>
      <p:sp>
        <p:nvSpPr>
          <p:cNvPr id="6" name="">
            <a:extLst xmlns:a="http://schemas.openxmlformats.org/drawingml/2006/main">
              <a:ext uri="{FF2B5EF4-FFF2-40B4-BE49-F238E27FC236}">
                <a16:creationId xmlns:a16="http://schemas.microsoft.com/office/drawing/2014/main" id="{C5872527-CDCC-4A15-B420-7A34C5CC138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ECFF504-8782-44EE-B9B4-D8A5181D8EE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82</a:t>
            </a:r>
          </a:p>
        </p:txBody>
      </p:sp>
    </p:spTree>
    <p:extLst>
      <p:ext uri="{BB962C8B-B14F-4D97-AF65-F5344CB8AC3E}">
        <p14:creationId xmlns:p14="http://schemas.microsoft.com/office/powerpoint/2010/main" val="1359347276"/>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613C11E-B78C-4117-AEAA-4E0095975FA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0D69E0F-F7EE-479D-9AE4-931176834FC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Differences in Arteries and Veins</a:t>
            </a:r>
          </a:p>
        </p:txBody>
      </p:sp>
      <p:sp>
        <p:nvSpPr>
          <p:cNvPr id="3" name="">
            <a:extLst xmlns:a="http://schemas.openxmlformats.org/drawingml/2006/main">
              <a:ext uri="{FF2B5EF4-FFF2-40B4-BE49-F238E27FC236}">
                <a16:creationId xmlns:a16="http://schemas.microsoft.com/office/drawing/2014/main" id="{B4344FF6-BB62-4FA6-B4A7-9DB9F990E77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99675D3-8663-4DF1-BF6F-1A6CD90C518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5" name="">
            <a:extLst xmlns:a="http://schemas.openxmlformats.org/drawingml/2006/main">
              <a:ext uri="{FF2B5EF4-FFF2-40B4-BE49-F238E27FC236}">
                <a16:creationId xmlns:a16="http://schemas.microsoft.com/office/drawing/2014/main" id="{DAF0122B-3906-4960-89EA-B960159CECB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Arteries Veins No valves At least every 2 inches Do not collapse Will collapse Usually deep and protected More superficial Pulsate No pulse Carry oxygenated blood Carry unoxygenated blood Generally blood is bright red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Generally blood is dark red It is important to note that if a patient is nervous, cold, or receiving any type of respiratory treatment, the actions of the smooth muscle will cause vasoconstriction.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Also of note is the fact that hemoconcentration, hemodilution, and blood count can affect the color of the blood as mentioned above.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Anatomy of the Cardiovascular System Your cardiovascular system is the circulatory system that feeds and nourishes the entire body.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Arteries deliver oxygen and other nutrients to the cells of the body whereas the veins return the deoxygenated blood back to the heart and lungs to exchange.</a:t>
            </a:r>
          </a:p>
        </p:txBody>
      </p:sp>
      <p:sp>
        <p:nvSpPr>
          <p:cNvPr id="6" name="">
            <a:extLst xmlns:a="http://schemas.openxmlformats.org/drawingml/2006/main">
              <a:ext uri="{FF2B5EF4-FFF2-40B4-BE49-F238E27FC236}">
                <a16:creationId xmlns:a16="http://schemas.microsoft.com/office/drawing/2014/main" id="{771730DC-D434-40D8-9F54-76B49BFD90E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9C4357E-4D6B-4C39-9D0B-EA74700F127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83</a:t>
            </a:r>
          </a:p>
        </p:txBody>
      </p:sp>
    </p:spTree>
    <p:extLst>
      <p:ext uri="{BB962C8B-B14F-4D97-AF65-F5344CB8AC3E}">
        <p14:creationId xmlns:p14="http://schemas.microsoft.com/office/powerpoint/2010/main" val="1145222123"/>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A114642-E318-46FE-84FA-CC0FF14D813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8771192-558B-49AB-841F-C52B492A7BA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Differences in Arteries and Veins — continued</a:t>
            </a:r>
          </a:p>
        </p:txBody>
      </p:sp>
      <p:sp>
        <p:nvSpPr>
          <p:cNvPr id="3" name="">
            <a:extLst xmlns:a="http://schemas.openxmlformats.org/drawingml/2006/main">
              <a:ext uri="{FF2B5EF4-FFF2-40B4-BE49-F238E27FC236}">
                <a16:creationId xmlns:a16="http://schemas.microsoft.com/office/drawing/2014/main" id="{FA36B67D-9F4D-420D-9A4B-963A996A505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8765B07-AD31-439A-88BB-E12B290B7CC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5" name="">
            <a:extLst xmlns:a="http://schemas.openxmlformats.org/drawingml/2006/main">
              <a:ext uri="{FF2B5EF4-FFF2-40B4-BE49-F238E27FC236}">
                <a16:creationId xmlns:a16="http://schemas.microsoft.com/office/drawing/2014/main" id="{D1A74703-314F-4DF2-A76D-C92BBB6C470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Your heart is located between your lungs in the middle of your chest, behind and slightly to the left of your breastbone (sternum).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 double-layered membrane called the pericardium surrounds your heart like a sac.</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Your heart has 4 chambers.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upper chambers are called the left and right atria, and the lower chambers are called the left and right ventricles.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 wall of muscle called the septum separates the left and right atria and the left and right ventricles.</a:t>
            </a:r>
          </a:p>
        </p:txBody>
      </p:sp>
      <p:sp>
        <p:nvSpPr>
          <p:cNvPr id="6" name="">
            <a:extLst xmlns:a="http://schemas.openxmlformats.org/drawingml/2006/main">
              <a:ext uri="{FF2B5EF4-FFF2-40B4-BE49-F238E27FC236}">
                <a16:creationId xmlns:a16="http://schemas.microsoft.com/office/drawing/2014/main" id="{01A84FDC-EFBF-4E5B-A724-5CC70214D8C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069FA65-CA26-45C3-AE75-8DE5235E8AA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83</a:t>
            </a:r>
          </a:p>
        </p:txBody>
      </p:sp>
    </p:spTree>
    <p:extLst>
      <p:ext uri="{BB962C8B-B14F-4D97-AF65-F5344CB8AC3E}">
        <p14:creationId xmlns:p14="http://schemas.microsoft.com/office/powerpoint/2010/main" val="672872314"/>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AE7F8D4-98FC-401C-A277-6470B7E938F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E4341BE-C927-4E0D-8375-14DB7D5E0EA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Differences in Arteries and Veins — continued</a:t>
            </a:r>
          </a:p>
        </p:txBody>
      </p:sp>
      <p:sp>
        <p:nvSpPr>
          <p:cNvPr id="3" name="">
            <a:extLst xmlns:a="http://schemas.openxmlformats.org/drawingml/2006/main">
              <a:ext uri="{FF2B5EF4-FFF2-40B4-BE49-F238E27FC236}">
                <a16:creationId xmlns:a16="http://schemas.microsoft.com/office/drawing/2014/main" id="{6FE88449-CC49-442A-A111-2C2620693A4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84E871A-0919-4E65-AFBF-79A96E4821A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27</a:t>
            </a:r>
          </a:p>
        </p:txBody>
      </p:sp>
      <p:sp>
        <p:nvSpPr>
          <p:cNvPr id="5" name="">
            <a:extLst xmlns:a="http://schemas.openxmlformats.org/drawingml/2006/main">
              <a:ext uri="{FF2B5EF4-FFF2-40B4-BE49-F238E27FC236}">
                <a16:creationId xmlns:a16="http://schemas.microsoft.com/office/drawing/2014/main" id="{23FB1FB8-B30F-4898-B4AF-BF70F9988AC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left ventricle is the largest and strongest chamber in your heart.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left ventricle's chamber walls are only about a half-inch thick, but they have enough force to push blood through the aortic valve and into your body.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Your heart and circulatory system make up your cardiovascular system.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Your heart works as a pump that pushes blood to the organs, tissues, and cells of your body.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Although water makes up approximately sixty percent of the body, an average adult has only six to seven liters of blood.</a:t>
            </a:r>
          </a:p>
        </p:txBody>
      </p:sp>
      <p:sp>
        <p:nvSpPr>
          <p:cNvPr id="6" name="">
            <a:extLst xmlns:a="http://schemas.openxmlformats.org/drawingml/2006/main">
              <a:ext uri="{FF2B5EF4-FFF2-40B4-BE49-F238E27FC236}">
                <a16:creationId xmlns:a16="http://schemas.microsoft.com/office/drawing/2014/main" id="{664C95A0-E66C-449C-A4AB-3A66F2AAC63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57371A6-ED30-404D-B168-BADFCBE5733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83</a:t>
            </a:r>
          </a:p>
        </p:txBody>
      </p:sp>
    </p:spTree>
    <p:extLst>
      <p:ext uri="{BB962C8B-B14F-4D97-AF65-F5344CB8AC3E}">
        <p14:creationId xmlns:p14="http://schemas.microsoft.com/office/powerpoint/2010/main" val="421470698"/>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2CC1B9-DB5D-46F9-8D11-FA1EF8D2336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EE3D0EA-84D4-4F17-855D-357DD744B93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Differences in Arteries and Veins — continued</a:t>
            </a:r>
          </a:p>
        </p:txBody>
      </p:sp>
      <p:sp>
        <p:nvSpPr>
          <p:cNvPr id="3" name="">
            <a:extLst xmlns:a="http://schemas.openxmlformats.org/drawingml/2006/main">
              <a:ext uri="{FF2B5EF4-FFF2-40B4-BE49-F238E27FC236}">
                <a16:creationId xmlns:a16="http://schemas.microsoft.com/office/drawing/2014/main" id="{B0CECBC7-C241-4F70-A851-D2E5A917B04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D6A4086-CC6C-49EC-BDCF-D7C40FE1AC1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28</a:t>
            </a:r>
          </a:p>
        </p:txBody>
      </p:sp>
      <p:sp>
        <p:nvSpPr>
          <p:cNvPr id="5" name="">
            <a:extLst xmlns:a="http://schemas.openxmlformats.org/drawingml/2006/main">
              <a:ext uri="{FF2B5EF4-FFF2-40B4-BE49-F238E27FC236}">
                <a16:creationId xmlns:a16="http://schemas.microsoft.com/office/drawing/2014/main" id="{95C9ADB3-2262-43DF-90BC-4AF9F01D405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delivers oxygen and nutrients to every cell and removes the carbon dioxide and waste products made by those cells.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is carried from your heart to the rest of your body through a complex network of arteries, arterioles, and capillaries.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is returned to your heart through venules and veins.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all the vessels of this network in your body were laid end-to-end, they would extend for about 60,000 miles (more than 96,500 kilometers), which is far enough to circle the earth more than twice!</a:t>
            </a:r>
          </a:p>
        </p:txBody>
      </p:sp>
      <p:sp>
        <p:nvSpPr>
          <p:cNvPr id="6" name="">
            <a:extLst xmlns:a="http://schemas.openxmlformats.org/drawingml/2006/main">
              <a:ext uri="{FF2B5EF4-FFF2-40B4-BE49-F238E27FC236}">
                <a16:creationId xmlns:a16="http://schemas.microsoft.com/office/drawing/2014/main" id="{37E6FA9C-3634-4AD5-B997-8316E34DB1B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8C072BB-292D-48B2-8002-F3AA8CAAF42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83</a:t>
            </a:r>
          </a:p>
        </p:txBody>
      </p:sp>
    </p:spTree>
    <p:extLst>
      <p:ext uri="{BB962C8B-B14F-4D97-AF65-F5344CB8AC3E}">
        <p14:creationId xmlns:p14="http://schemas.microsoft.com/office/powerpoint/2010/main" val="841772037"/>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1DFCF0-4CFF-486F-8D2A-BB332E18323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36FA7AB-AD0B-452E-8F38-6810DD669EE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Superficial Veins</a:t>
            </a:r>
          </a:p>
        </p:txBody>
      </p:sp>
      <p:sp>
        <p:nvSpPr>
          <p:cNvPr id="3" name="">
            <a:extLst xmlns:a="http://schemas.openxmlformats.org/drawingml/2006/main">
              <a:ext uri="{FF2B5EF4-FFF2-40B4-BE49-F238E27FC236}">
                <a16:creationId xmlns:a16="http://schemas.microsoft.com/office/drawing/2014/main" id="{29472723-F389-4805-86E2-7C1B9F2438C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F292BDC-02E0-4C72-AE77-A34E5987EAB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29</a:t>
            </a:r>
          </a:p>
        </p:txBody>
      </p:sp>
      <p:sp>
        <p:nvSpPr>
          <p:cNvPr id="5" name="">
            <a:extLst xmlns:a="http://schemas.openxmlformats.org/drawingml/2006/main">
              <a:ext uri="{FF2B5EF4-FFF2-40B4-BE49-F238E27FC236}">
                <a16:creationId xmlns:a16="http://schemas.microsoft.com/office/drawing/2014/main" id="{B8F76FAF-6CE0-447E-A299-0396AD0E8B5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superficial veins of the upper extremities (arms) are the most frequently used for venipuncture and phlebotomy.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Veins in the lower extremities are only used in extreme emergencies under the direction of a physician.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Upper Extremities (Fingers and Hands) 1.</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Digital veins Dorsal - These small vessels are located on the lateral surface of the fingers and are generally used as a last resort.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They can accommodate small gauge needles in the 22-28 gauge size, and will require immobilization of the hand or finger.</a:t>
            </a:r>
          </a:p>
        </p:txBody>
      </p:sp>
      <p:sp>
        <p:nvSpPr>
          <p:cNvPr id="6" name="">
            <a:extLst xmlns:a="http://schemas.openxmlformats.org/drawingml/2006/main">
              <a:ext uri="{FF2B5EF4-FFF2-40B4-BE49-F238E27FC236}">
                <a16:creationId xmlns:a16="http://schemas.microsoft.com/office/drawing/2014/main" id="{32B7D749-DEF9-4639-94B7-5303C6E7AB4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51C6AFF-1750-49FD-828F-62975AB4E18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84</a:t>
            </a:r>
          </a:p>
        </p:txBody>
      </p:sp>
    </p:spTree>
    <p:extLst>
      <p:ext uri="{BB962C8B-B14F-4D97-AF65-F5344CB8AC3E}">
        <p14:creationId xmlns:p14="http://schemas.microsoft.com/office/powerpoint/2010/main" val="1289001679"/>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080954A-4FA3-4813-8D4B-F840AA3004B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3E3E64E-F685-48F0-9439-14E0CCF3C50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Superficial Veins — continued</a:t>
            </a:r>
          </a:p>
        </p:txBody>
      </p:sp>
      <p:sp>
        <p:nvSpPr>
          <p:cNvPr id="3" name="">
            <a:extLst xmlns:a="http://schemas.openxmlformats.org/drawingml/2006/main">
              <a:ext uri="{FF2B5EF4-FFF2-40B4-BE49-F238E27FC236}">
                <a16:creationId xmlns:a16="http://schemas.microsoft.com/office/drawing/2014/main" id="{A735BD89-5C92-4E39-9B14-EBB9B6A8244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0C1A07F-104A-412C-B847-AA7450C101D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30</a:t>
            </a:r>
          </a:p>
        </p:txBody>
      </p:sp>
      <p:sp>
        <p:nvSpPr>
          <p:cNvPr id="5" name="">
            <a:extLst xmlns:a="http://schemas.openxmlformats.org/drawingml/2006/main">
              <a:ext uri="{FF2B5EF4-FFF2-40B4-BE49-F238E27FC236}">
                <a16:creationId xmlns:a16="http://schemas.microsoft.com/office/drawing/2014/main" id="{CFAD61EB-3A18-44A3-B8C0-63C8E09AC90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Metacarpal veins These veins are formed by the union of the digital veins.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They are located on the dorsal surface of the hand, and are usually visible.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bones of the hand form a natural splint.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These veins are a common site of venipuncture in the adult patient, however, they may not be suitable in the elderly population where skin and muscle may be thin and allow extravasation to occur Rasiclic Cephalic Dorsal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Venous Network Hetacarpal Dorsal Venous anch</a:t>
            </a:r>
          </a:p>
        </p:txBody>
      </p:sp>
      <p:sp>
        <p:nvSpPr>
          <p:cNvPr id="6" name="">
            <a:extLst xmlns:a="http://schemas.openxmlformats.org/drawingml/2006/main">
              <a:ext uri="{FF2B5EF4-FFF2-40B4-BE49-F238E27FC236}">
                <a16:creationId xmlns:a16="http://schemas.microsoft.com/office/drawing/2014/main" id="{241D24D3-1EF2-4743-BFF5-84C931B8478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23ABA8E-A670-4EEE-825E-70D8E9E9AD6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84</a:t>
            </a:r>
          </a:p>
        </p:txBody>
      </p:sp>
    </p:spTree>
    <p:extLst>
      <p:ext uri="{BB962C8B-B14F-4D97-AF65-F5344CB8AC3E}">
        <p14:creationId xmlns:p14="http://schemas.microsoft.com/office/powerpoint/2010/main" val="180204520"/>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BEF36A-72DC-4443-A354-34E66DEBC9C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57AD6CD-021F-4DF1-B517-221F93189DC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Veins of the Arm</a:t>
            </a:r>
          </a:p>
        </p:txBody>
      </p:sp>
      <p:sp>
        <p:nvSpPr>
          <p:cNvPr id="3" name="">
            <a:extLst xmlns:a="http://schemas.openxmlformats.org/drawingml/2006/main">
              <a:ext uri="{FF2B5EF4-FFF2-40B4-BE49-F238E27FC236}">
                <a16:creationId xmlns:a16="http://schemas.microsoft.com/office/drawing/2014/main" id="{23B5A475-B893-43B0-9B47-F9C7848FC7B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A8990A0-5476-4A6F-B36F-24372935906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31</a:t>
            </a:r>
          </a:p>
        </p:txBody>
      </p:sp>
      <p:sp>
        <p:nvSpPr>
          <p:cNvPr id="5" name="">
            <a:extLst xmlns:a="http://schemas.openxmlformats.org/drawingml/2006/main">
              <a:ext uri="{FF2B5EF4-FFF2-40B4-BE49-F238E27FC236}">
                <a16:creationId xmlns:a16="http://schemas.microsoft.com/office/drawing/2014/main" id="{E19E67D9-38F6-4D59-B994-3518D8A93BC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Cephalic Vein - Commences at the dorsal venous arch, travels upward along the radial border of the forearm.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Size and position make this vein an excellent choice both accessible and accommodating for larger cannulas.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Accessory Cephalic Vein - Originates either from the back of the forearm or the dorsal venous arch.</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Extends from the Digitals above the wrist and joins into Cephalic vein just below the elbow.</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vein is excellent for larger cannulas !</a:t>
            </a:r>
          </a:p>
        </p:txBody>
      </p:sp>
      <p:sp>
        <p:nvSpPr>
          <p:cNvPr id="6" name="">
            <a:extLst xmlns:a="http://schemas.openxmlformats.org/drawingml/2006/main">
              <a:ext uri="{FF2B5EF4-FFF2-40B4-BE49-F238E27FC236}">
                <a16:creationId xmlns:a16="http://schemas.microsoft.com/office/drawing/2014/main" id="{E848E310-5444-4DC6-AEF3-B617191C83C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7B5A8F5-849D-48F1-AD3E-5859779492C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85</a:t>
            </a:r>
          </a:p>
        </p:txBody>
      </p:sp>
    </p:spTree>
    <p:extLst>
      <p:ext uri="{BB962C8B-B14F-4D97-AF65-F5344CB8AC3E}">
        <p14:creationId xmlns:p14="http://schemas.microsoft.com/office/powerpoint/2010/main" val="562823375"/>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3D0ACD-7AC3-4228-A0AD-778C06516A5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878DB31-0196-4115-8997-1B91F7953F1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Veins of the Arm — continued</a:t>
            </a:r>
          </a:p>
        </p:txBody>
      </p:sp>
      <p:sp>
        <p:nvSpPr>
          <p:cNvPr id="3" name="">
            <a:extLst xmlns:a="http://schemas.openxmlformats.org/drawingml/2006/main">
              <a:ext uri="{FF2B5EF4-FFF2-40B4-BE49-F238E27FC236}">
                <a16:creationId xmlns:a16="http://schemas.microsoft.com/office/drawing/2014/main" id="{B2AC8459-95F6-4883-9537-73859201B2E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5980E66-F31A-45D4-8A65-738BD68083D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32</a:t>
            </a:r>
          </a:p>
        </p:txBody>
      </p:sp>
      <p:sp>
        <p:nvSpPr>
          <p:cNvPr id="5" name="">
            <a:extLst xmlns:a="http://schemas.openxmlformats.org/drawingml/2006/main">
              <a:ext uri="{FF2B5EF4-FFF2-40B4-BE49-F238E27FC236}">
                <a16:creationId xmlns:a16="http://schemas.microsoft.com/office/drawing/2014/main" id="{2E709CF0-D96A-465F-A8B5-208B1890D49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Basilic Vein - Commences at the Ulnar part of the dorsal venous network and ascends along the Ulnar portion of the forearm.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Meets with the Median Cubital vein on the interior surface of the arm just below the elbow.</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Medial Antebrachial Vein - Commences in the venous plexus on the palm of the hand Ascends along the Unar side of the front of the forearm and empties into the Basilic or Cubital vein.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Not always present as a well-defined vessel.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Cephalic Vein Cephalic Vein Accessory Basilic Vein Cephalic Vein Antihracial Vein Medial</a:t>
            </a:r>
          </a:p>
        </p:txBody>
      </p:sp>
      <p:sp>
        <p:nvSpPr>
          <p:cNvPr id="6" name="">
            <a:extLst xmlns:a="http://schemas.openxmlformats.org/drawingml/2006/main">
              <a:ext uri="{FF2B5EF4-FFF2-40B4-BE49-F238E27FC236}">
                <a16:creationId xmlns:a16="http://schemas.microsoft.com/office/drawing/2014/main" id="{67210908-F1F6-4D92-A10A-AED79E11F2E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4C62A32-8D2C-4677-803C-3E2F0F9124C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85</a:t>
            </a:r>
          </a:p>
        </p:txBody>
      </p:sp>
    </p:spTree>
    <p:extLst>
      <p:ext uri="{BB962C8B-B14F-4D97-AF65-F5344CB8AC3E}">
        <p14:creationId xmlns:p14="http://schemas.microsoft.com/office/powerpoint/2010/main" val="1246936002"/>
      </p:ext>
    </p:extLst>
  </p:cSld>
</p:sld>
</file>

<file path=ppt/slides/slide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3EEB5DD-C90F-4ECA-825C-8D1F9FD87E4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5CC4B27-749A-433A-9557-D5833E2CC2F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Therapy Procedure</a:t>
            </a:r>
          </a:p>
        </p:txBody>
      </p:sp>
      <p:sp>
        <p:nvSpPr>
          <p:cNvPr id="3" name="">
            <a:extLst xmlns:a="http://schemas.openxmlformats.org/drawingml/2006/main">
              <a:ext uri="{FF2B5EF4-FFF2-40B4-BE49-F238E27FC236}">
                <a16:creationId xmlns:a16="http://schemas.microsoft.com/office/drawing/2014/main" id="{D25B389B-40CE-4260-9301-74A003DB36B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D267A8E-EA3C-4C72-AED8-7B39A257483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33</a:t>
            </a:r>
          </a:p>
        </p:txBody>
      </p:sp>
      <p:sp>
        <p:nvSpPr>
          <p:cNvPr id="5" name="">
            <a:extLst xmlns:a="http://schemas.openxmlformats.org/drawingml/2006/main">
              <a:ext uri="{FF2B5EF4-FFF2-40B4-BE49-F238E27FC236}">
                <a16:creationId xmlns:a16="http://schemas.microsoft.com/office/drawing/2014/main" id="{464101BC-EECF-4C4B-ACAF-93BCA7B6D89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Psychological Preparation of the Patient 1.</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Patient Identification Ask the patient his name Check the armband Determine if this is a new experience for the patient, discuss fears or misconceptions he/she may have about venipuncture.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Approach the patient in a calm confident manner, help him to relax as much as possible.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Answer all of his questions.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Ask for his cooperation, and remember he has the right to refuse.</a:t>
            </a:r>
          </a:p>
        </p:txBody>
      </p:sp>
      <p:sp>
        <p:nvSpPr>
          <p:cNvPr id="6" name="">
            <a:extLst xmlns:a="http://schemas.openxmlformats.org/drawingml/2006/main">
              <a:ext uri="{FF2B5EF4-FFF2-40B4-BE49-F238E27FC236}">
                <a16:creationId xmlns:a16="http://schemas.microsoft.com/office/drawing/2014/main" id="{9E778297-13AB-49BB-8CB8-8AD3318E0B6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663C08A-E5D4-40C0-9173-681E123FDF5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86</a:t>
            </a:r>
          </a:p>
        </p:txBody>
      </p:sp>
    </p:spTree>
    <p:extLst>
      <p:ext uri="{BB962C8B-B14F-4D97-AF65-F5344CB8AC3E}">
        <p14:creationId xmlns:p14="http://schemas.microsoft.com/office/powerpoint/2010/main" val="1638658580"/>
      </p:ext>
    </p:extLst>
  </p:cSld>
</p:sld>
</file>

<file path=ppt/slides/slide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DEE50E9-0D54-44BA-8B6C-CC2BA8E969A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1DC8B52-B480-490A-BAB2-8925A9D03C1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Therapy Procedure — continued</a:t>
            </a:r>
          </a:p>
        </p:txBody>
      </p:sp>
      <p:sp>
        <p:nvSpPr>
          <p:cNvPr id="3" name="">
            <a:extLst xmlns:a="http://schemas.openxmlformats.org/drawingml/2006/main">
              <a:ext uri="{FF2B5EF4-FFF2-40B4-BE49-F238E27FC236}">
                <a16:creationId xmlns:a16="http://schemas.microsoft.com/office/drawing/2014/main" id="{882B74FA-45AE-4BAA-A889-304B9EA1E38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3108186-018A-48F4-AF66-E27B905CB1E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34</a:t>
            </a:r>
          </a:p>
        </p:txBody>
      </p:sp>
      <p:sp>
        <p:nvSpPr>
          <p:cNvPr id="5" name="">
            <a:extLst xmlns:a="http://schemas.openxmlformats.org/drawingml/2006/main">
              <a:ext uri="{FF2B5EF4-FFF2-40B4-BE49-F238E27FC236}">
                <a16:creationId xmlns:a16="http://schemas.microsoft.com/office/drawing/2014/main" id="{D3E193CE-B1F2-4EA8-95DA-7130C257829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Explain the venipuncture procedure to the patient Explain why the IV therapy is needed.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Be honest and straightforward when discussing pain.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Be sure to explain that the pain will subside immediately, and if pain persists it may be a warning of a possible complication.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Discuss the effect on mobility this may have for the patient.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Reassure the patient that you will advise him prior to the actual venipuncture.</a:t>
            </a:r>
          </a:p>
        </p:txBody>
      </p:sp>
      <p:sp>
        <p:nvSpPr>
          <p:cNvPr id="6" name="">
            <a:extLst xmlns:a="http://schemas.openxmlformats.org/drawingml/2006/main">
              <a:ext uri="{FF2B5EF4-FFF2-40B4-BE49-F238E27FC236}">
                <a16:creationId xmlns:a16="http://schemas.microsoft.com/office/drawing/2014/main" id="{CE5EBE1D-FCF7-48BA-8E0F-9DE47A12104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50B59A8-93E1-466B-9D5C-0DA3170828D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86</a:t>
            </a:r>
          </a:p>
        </p:txBody>
      </p:sp>
    </p:spTree>
    <p:extLst>
      <p:ext uri="{BB962C8B-B14F-4D97-AF65-F5344CB8AC3E}">
        <p14:creationId xmlns:p14="http://schemas.microsoft.com/office/powerpoint/2010/main" val="105312091"/>
      </p:ext>
    </p:extLst>
  </p:cSld>
</p:sld>
</file>

<file path=ppt/slides/slide3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4A0D76-DCB3-44A0-922B-FAB323C0A35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DC2EEEF-FFB8-4F8A-BC1F-8B8E5F86786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Therapy Procedure — continued</a:t>
            </a:r>
          </a:p>
        </p:txBody>
      </p:sp>
      <p:sp>
        <p:nvSpPr>
          <p:cNvPr id="3" name="">
            <a:extLst xmlns:a="http://schemas.openxmlformats.org/drawingml/2006/main">
              <a:ext uri="{FF2B5EF4-FFF2-40B4-BE49-F238E27FC236}">
                <a16:creationId xmlns:a16="http://schemas.microsoft.com/office/drawing/2014/main" id="{D2BB4580-5146-4CF1-AE73-C4AA7A9BDA6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22ADC5B-3544-4198-ADF6-E2E01DCF6D3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35</a:t>
            </a:r>
          </a:p>
        </p:txBody>
      </p:sp>
      <p:sp>
        <p:nvSpPr>
          <p:cNvPr id="5" name="">
            <a:extLst xmlns:a="http://schemas.openxmlformats.org/drawingml/2006/main">
              <a:ext uri="{FF2B5EF4-FFF2-40B4-BE49-F238E27FC236}">
                <a16:creationId xmlns:a16="http://schemas.microsoft.com/office/drawing/2014/main" id="{5DF50187-9D86-487A-984E-4DA521D53EB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Reassure the patient through each step.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Explain the patient's responsibilities Notify the nurse should any of the following occur: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Pain or discomfort Redness Swelling Leakage of fluids Loose dressing or taping Blood in the tubing Bag of solution stops dripping Physical Preparation of the Patient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Environment Setting Calm, quiet surroundings and the assurance of privacy will make this a much better experience for the patient.</a:t>
            </a:r>
          </a:p>
        </p:txBody>
      </p:sp>
      <p:sp>
        <p:nvSpPr>
          <p:cNvPr id="6" name="">
            <a:extLst xmlns:a="http://schemas.openxmlformats.org/drawingml/2006/main">
              <a:ext uri="{FF2B5EF4-FFF2-40B4-BE49-F238E27FC236}">
                <a16:creationId xmlns:a16="http://schemas.microsoft.com/office/drawing/2014/main" id="{E506BB30-1902-4E9E-910B-159AB22AA29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69F80C7-8458-4B52-972D-FEF770A6557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86</a:t>
            </a:r>
          </a:p>
        </p:txBody>
      </p:sp>
    </p:spTree>
    <p:extLst>
      <p:ext uri="{BB962C8B-B14F-4D97-AF65-F5344CB8AC3E}">
        <p14:creationId xmlns:p14="http://schemas.microsoft.com/office/powerpoint/2010/main" val="447566586"/>
      </p:ext>
    </p:extLst>
  </p:cSld>
</p:sld>
</file>

<file path=ppt/slides/slide3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31EB98-27E1-4697-A059-98589AFE43F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1885E0C-2367-4026-AE0A-057FFD41CF6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Preferably the patient should be supine and comfortable. The therapist</a:t>
            </a:r>
          </a:p>
        </p:txBody>
      </p:sp>
      <p:sp>
        <p:nvSpPr>
          <p:cNvPr id="3" name="">
            <a:extLst xmlns:a="http://schemas.openxmlformats.org/drawingml/2006/main">
              <a:ext uri="{FF2B5EF4-FFF2-40B4-BE49-F238E27FC236}">
                <a16:creationId xmlns:a16="http://schemas.microsoft.com/office/drawing/2014/main" id="{9776A017-8E64-4DCF-8E97-8EF04A3F842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94C6D39-9AED-4677-BB3F-24376BB4B4E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36</a:t>
            </a:r>
          </a:p>
        </p:txBody>
      </p:sp>
      <p:sp>
        <p:nvSpPr>
          <p:cNvPr id="5" name="">
            <a:extLst xmlns:a="http://schemas.openxmlformats.org/drawingml/2006/main">
              <a:ext uri="{FF2B5EF4-FFF2-40B4-BE49-F238E27FC236}">
                <a16:creationId xmlns:a16="http://schemas.microsoft.com/office/drawing/2014/main" id="{4D0DC478-06C3-4AA4-AEE7-EB6F88DA0F8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Position of the Patient should have the ability to examine both arms.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arm should be in a comfortable, secure position, on the surface of the bed.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the patient is in bed, the therapist may wish to adjust the height of the bed, sit on the bed, or sit in a chair, to assure proper body mechanics.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Do not forget to reposition the bed and the patient after the procedure.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Collection of Equipment * All equipment should be collected and set up prior to the venipuncture.</a:t>
            </a:r>
          </a:p>
        </p:txBody>
      </p:sp>
      <p:sp>
        <p:nvSpPr>
          <p:cNvPr id="6" name="">
            <a:extLst xmlns:a="http://schemas.openxmlformats.org/drawingml/2006/main">
              <a:ext uri="{FF2B5EF4-FFF2-40B4-BE49-F238E27FC236}">
                <a16:creationId xmlns:a16="http://schemas.microsoft.com/office/drawing/2014/main" id="{A97031CE-0DF9-44B8-AD57-05F566A5BA0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492C856-9751-4C69-8E5F-BCFE6A4C8EB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87</a:t>
            </a:r>
          </a:p>
        </p:txBody>
      </p:sp>
    </p:spTree>
    <p:extLst>
      <p:ext uri="{BB962C8B-B14F-4D97-AF65-F5344CB8AC3E}">
        <p14:creationId xmlns:p14="http://schemas.microsoft.com/office/powerpoint/2010/main" val="509813252"/>
      </p:ext>
    </p:extLst>
  </p:cSld>
</p:sld>
</file>

<file path=ppt/slides/slide3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0773D8E-7444-4268-BA68-DC392AFD2AA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627C63E-9F3C-4517-A38F-EF425C53195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Preferably the patient should be supine and comfortable. The therapist — continued</a:t>
            </a:r>
          </a:p>
        </p:txBody>
      </p:sp>
      <p:sp>
        <p:nvSpPr>
          <p:cNvPr id="3" name="">
            <a:extLst xmlns:a="http://schemas.openxmlformats.org/drawingml/2006/main">
              <a:ext uri="{FF2B5EF4-FFF2-40B4-BE49-F238E27FC236}">
                <a16:creationId xmlns:a16="http://schemas.microsoft.com/office/drawing/2014/main" id="{2502188D-7C6E-42E0-BD2B-F291791E89B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B011000-6ED7-48D1-9525-F62CE9B1485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37</a:t>
            </a:r>
          </a:p>
        </p:txBody>
      </p:sp>
      <p:sp>
        <p:nvSpPr>
          <p:cNvPr id="5" name="">
            <a:extLst xmlns:a="http://schemas.openxmlformats.org/drawingml/2006/main">
              <a:ext uri="{FF2B5EF4-FFF2-40B4-BE49-F238E27FC236}">
                <a16:creationId xmlns:a16="http://schemas.microsoft.com/office/drawing/2014/main" id="{1498ECE6-4076-4781-9B34-17B16090F00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Inspect all equipment for imperfections, and expiration dates.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Amount and type of equipment will be determined by rational for venipuncture.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Type and size of needle, filters, tubing, arm board, etc.</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*Specific medication solution, dosage and rate will be ordered by the physician.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solution type may determine whether it will be in a bottle or a bag.</a:t>
            </a:r>
          </a:p>
        </p:txBody>
      </p:sp>
      <p:sp>
        <p:nvSpPr>
          <p:cNvPr id="6" name="">
            <a:extLst xmlns:a="http://schemas.openxmlformats.org/drawingml/2006/main">
              <a:ext uri="{FF2B5EF4-FFF2-40B4-BE49-F238E27FC236}">
                <a16:creationId xmlns:a16="http://schemas.microsoft.com/office/drawing/2014/main" id="{180C4DFA-14C6-4C39-B1ED-E5ED03E635F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DB5DCC6-9716-4A18-9211-56771E8A857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87</a:t>
            </a:r>
          </a:p>
        </p:txBody>
      </p:sp>
    </p:spTree>
    <p:extLst>
      <p:ext uri="{BB962C8B-B14F-4D97-AF65-F5344CB8AC3E}">
        <p14:creationId xmlns:p14="http://schemas.microsoft.com/office/powerpoint/2010/main" val="1204493445"/>
      </p:ext>
    </p:extLst>
  </p:cSld>
</p:sld>
</file>

<file path=ppt/slides/slide3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BECB68-66FA-4DCE-916F-E28C14F5268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CB82C5D-9ADF-48D2-9F38-C09FD39DC43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Preferably the patient should be supine and comfortable. The therapist — continued</a:t>
            </a:r>
          </a:p>
        </p:txBody>
      </p:sp>
      <p:sp>
        <p:nvSpPr>
          <p:cNvPr id="3" name="">
            <a:extLst xmlns:a="http://schemas.openxmlformats.org/drawingml/2006/main">
              <a:ext uri="{FF2B5EF4-FFF2-40B4-BE49-F238E27FC236}">
                <a16:creationId xmlns:a16="http://schemas.microsoft.com/office/drawing/2014/main" id="{6D38714C-0C23-4531-A6F3-43E988F2261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7A5FBE5-32DC-4AE2-AA65-C3849607939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38</a:t>
            </a:r>
          </a:p>
        </p:txBody>
      </p:sp>
      <p:sp>
        <p:nvSpPr>
          <p:cNvPr id="5" name="">
            <a:extLst xmlns:a="http://schemas.openxmlformats.org/drawingml/2006/main">
              <a:ext uri="{FF2B5EF4-FFF2-40B4-BE49-F238E27FC236}">
                <a16:creationId xmlns:a16="http://schemas.microsoft.com/office/drawing/2014/main" id="{FD9EA8FC-DF2A-4601-8248-2BC639BD52D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Personal Protective Equipment This is a general term for all equipment available to the therapist in the prevention of an exposure incident.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is generally up to the therapist to take all precautions necessary in the selection and use of the available equipment.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Gloves - Should always be worn when there is a chance of coming in to contact with a patient's body fluids.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Goggles - Although not routinely used in venipuncture, should the therapist fear splattering of body fluids, these should be worn, and should be available.</a:t>
            </a:r>
          </a:p>
        </p:txBody>
      </p:sp>
      <p:sp>
        <p:nvSpPr>
          <p:cNvPr id="6" name="">
            <a:extLst xmlns:a="http://schemas.openxmlformats.org/drawingml/2006/main">
              <a:ext uri="{FF2B5EF4-FFF2-40B4-BE49-F238E27FC236}">
                <a16:creationId xmlns:a16="http://schemas.microsoft.com/office/drawing/2014/main" id="{474AA0FE-10C3-4A2A-8B01-09D2E4106BE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DFB028C-C70C-4634-9EDC-A6B2D985BB4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87</a:t>
            </a:r>
          </a:p>
        </p:txBody>
      </p:sp>
    </p:spTree>
    <p:extLst>
      <p:ext uri="{BB962C8B-B14F-4D97-AF65-F5344CB8AC3E}">
        <p14:creationId xmlns:p14="http://schemas.microsoft.com/office/powerpoint/2010/main" val="166240160"/>
      </p:ext>
    </p:extLst>
  </p:cSld>
</p:sld>
</file>

<file path=ppt/slides/slide3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76B250A-BC8D-4D18-A139-61736735543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C40BA68-0C8D-4B53-B5A5-2925FD9C45F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tube, or perhaps blood pressure cuff may be applied if necessary. When using a</a:t>
            </a:r>
          </a:p>
        </p:txBody>
      </p:sp>
      <p:sp>
        <p:nvSpPr>
          <p:cNvPr id="3" name="">
            <a:extLst xmlns:a="http://schemas.openxmlformats.org/drawingml/2006/main">
              <a:ext uri="{FF2B5EF4-FFF2-40B4-BE49-F238E27FC236}">
                <a16:creationId xmlns:a16="http://schemas.microsoft.com/office/drawing/2014/main" id="{CCAB27A0-AFFD-4014-B24F-5F0CC3D9912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8EE7702-5825-40A6-A46F-C5E05E59A55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39</a:t>
            </a:r>
          </a:p>
        </p:txBody>
      </p:sp>
      <p:sp>
        <p:nvSpPr>
          <p:cNvPr id="5" name="">
            <a:extLst xmlns:a="http://schemas.openxmlformats.org/drawingml/2006/main">
              <a:ext uri="{FF2B5EF4-FFF2-40B4-BE49-F238E27FC236}">
                <a16:creationId xmlns:a16="http://schemas.microsoft.com/office/drawing/2014/main" id="{D28122BF-12DA-4309-980D-606ED7B0598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Tourniquets The tourniquet is used to promote venous distention.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It should be applied to impede venous flow but not the arterial flow.</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Generally these are available as soft latex or rubber type.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Leaving a tourniquet too long or having it too tight may cause a false result.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Other types of tourniquets are available such as the Velcro type, an elastic snap type, however other alternatives may include;</a:t>
            </a:r>
          </a:p>
        </p:txBody>
      </p:sp>
      <p:sp>
        <p:nvSpPr>
          <p:cNvPr id="6" name="">
            <a:extLst xmlns:a="http://schemas.openxmlformats.org/drawingml/2006/main">
              <a:ext uri="{FF2B5EF4-FFF2-40B4-BE49-F238E27FC236}">
                <a16:creationId xmlns:a16="http://schemas.microsoft.com/office/drawing/2014/main" id="{4C3470D1-5327-4CD7-9A2A-4E6B05811AE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66CD035-44F0-4BB1-A40E-C79E2B3DE7C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88</a:t>
            </a:r>
          </a:p>
        </p:txBody>
      </p:sp>
    </p:spTree>
    <p:extLst>
      <p:ext uri="{BB962C8B-B14F-4D97-AF65-F5344CB8AC3E}">
        <p14:creationId xmlns:p14="http://schemas.microsoft.com/office/powerpoint/2010/main" val="1969805685"/>
      </p:ext>
    </p:extLst>
  </p:cSld>
</p:sld>
</file>

<file path=ppt/slides/slide4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EE654D3-4964-48C2-8FCE-B0D4B38741D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867970F-4ACF-4819-B5E4-ABE10924735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tube, or perhaps blood pressure cuff may be applied if necessary. When using a — continued</a:t>
            </a:r>
          </a:p>
        </p:txBody>
      </p:sp>
      <p:sp>
        <p:nvSpPr>
          <p:cNvPr id="3" name="">
            <a:extLst xmlns:a="http://schemas.openxmlformats.org/drawingml/2006/main">
              <a:ext uri="{FF2B5EF4-FFF2-40B4-BE49-F238E27FC236}">
                <a16:creationId xmlns:a16="http://schemas.microsoft.com/office/drawing/2014/main" id="{7644C0C3-9324-432A-992A-9B1F05BA85B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366302D-B74A-4F33-B747-FE56E72BDB4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40</a:t>
            </a:r>
          </a:p>
        </p:txBody>
      </p:sp>
      <p:sp>
        <p:nvSpPr>
          <p:cNvPr id="5" name="">
            <a:extLst xmlns:a="http://schemas.openxmlformats.org/drawingml/2006/main">
              <a:ext uri="{FF2B5EF4-FFF2-40B4-BE49-F238E27FC236}">
                <a16:creationId xmlns:a16="http://schemas.microsoft.com/office/drawing/2014/main" id="{1ADF6558-A2DA-4B0B-9F1D-5A7D71EC373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 stretched latex glove, a Penrose tube, or perhaps blood pressure cuff may be applied if necessary.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When using a blood pressure cuff inflate to a point just above the diastolic pressure of the patient.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Remember tourniquets are a potential source of infection so it must be clean and disposed of when contaminated with blood.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Antiseptic Prep Agents These agents are used to prepare the insertion site.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agents used should reflect facility infection control policy and adequately cleanse the area of micro organisms.</a:t>
            </a:r>
          </a:p>
        </p:txBody>
      </p:sp>
      <p:sp>
        <p:nvSpPr>
          <p:cNvPr id="6" name="">
            <a:extLst xmlns:a="http://schemas.openxmlformats.org/drawingml/2006/main">
              <a:ext uri="{FF2B5EF4-FFF2-40B4-BE49-F238E27FC236}">
                <a16:creationId xmlns:a16="http://schemas.microsoft.com/office/drawing/2014/main" id="{2828B52C-D869-484F-A992-FE47C83B899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2F19A2D-B02C-4094-8C72-9A667893CA9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88</a:t>
            </a:r>
          </a:p>
        </p:txBody>
      </p:sp>
    </p:spTree>
    <p:extLst>
      <p:ext uri="{BB962C8B-B14F-4D97-AF65-F5344CB8AC3E}">
        <p14:creationId xmlns:p14="http://schemas.microsoft.com/office/powerpoint/2010/main" val="311005659"/>
      </p:ext>
    </p:extLst>
  </p:cSld>
</p:sld>
</file>

<file path=ppt/slides/slide4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1BF81C-C9C6-43A1-8006-A90932758CA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21C8460-D4F1-4A03-81D8-743A9F2D6C2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tube, or perhaps blood pressure cuff may be applied if necessary. When using a — continued</a:t>
            </a:r>
          </a:p>
        </p:txBody>
      </p:sp>
      <p:sp>
        <p:nvSpPr>
          <p:cNvPr id="3" name="">
            <a:extLst xmlns:a="http://schemas.openxmlformats.org/drawingml/2006/main">
              <a:ext uri="{FF2B5EF4-FFF2-40B4-BE49-F238E27FC236}">
                <a16:creationId xmlns:a16="http://schemas.microsoft.com/office/drawing/2014/main" id="{1A565E59-B6C0-432A-B876-D70501DD3D0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325426A-7567-4F55-B5A2-25C46A18C85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41</a:t>
            </a:r>
          </a:p>
        </p:txBody>
      </p:sp>
      <p:sp>
        <p:nvSpPr>
          <p:cNvPr id="5" name="">
            <a:extLst xmlns:a="http://schemas.openxmlformats.org/drawingml/2006/main">
              <a:ext uri="{FF2B5EF4-FFF2-40B4-BE49-F238E27FC236}">
                <a16:creationId xmlns:a16="http://schemas.microsoft.com/office/drawing/2014/main" id="{F3406561-E2CC-4487-A6C4-065A606D8EA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Never shave the area, clip the hair if needed, and never use a depilatory.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*Note: With all types of cleansing agents, use a circular motion, always moving from the center outward (clean to dirty), in an area 2-3 inches in circular diameter.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Alcohol 70% - Alcohol is used in skin preparation as a de-fatting agent to remove natural skin oil.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process then allows proper disinfection of the skin with the agents that follow.</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Remember to use friction in the cleansing of the skin with alcohol and allow to air dry.</a:t>
            </a:r>
          </a:p>
        </p:txBody>
      </p:sp>
      <p:sp>
        <p:nvSpPr>
          <p:cNvPr id="6" name="">
            <a:extLst xmlns:a="http://schemas.openxmlformats.org/drawingml/2006/main">
              <a:ext uri="{FF2B5EF4-FFF2-40B4-BE49-F238E27FC236}">
                <a16:creationId xmlns:a16="http://schemas.microsoft.com/office/drawing/2014/main" id="{2D7EA04D-BEA2-4AE1-9197-7A0D1B0788E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7A5ED2E-E369-4607-BDCE-6ED9D84E06B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88</a:t>
            </a:r>
          </a:p>
        </p:txBody>
      </p:sp>
    </p:spTree>
    <p:extLst>
      <p:ext uri="{BB962C8B-B14F-4D97-AF65-F5344CB8AC3E}">
        <p14:creationId xmlns:p14="http://schemas.microsoft.com/office/powerpoint/2010/main" val="207284951"/>
      </p:ext>
    </p:extLst>
  </p:cSld>
</p:sld>
</file>

<file path=ppt/slides/slide4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3DC897D-ECD1-4D9C-8A1E-A94785D11D9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FE3996A-DD01-46C7-82D0-CD494392989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tube, or perhaps blood pressure cuff may be applied if necessary. When using a — continued</a:t>
            </a:r>
          </a:p>
        </p:txBody>
      </p:sp>
      <p:sp>
        <p:nvSpPr>
          <p:cNvPr id="3" name="">
            <a:extLst xmlns:a="http://schemas.openxmlformats.org/drawingml/2006/main">
              <a:ext uri="{FF2B5EF4-FFF2-40B4-BE49-F238E27FC236}">
                <a16:creationId xmlns:a16="http://schemas.microsoft.com/office/drawing/2014/main" id="{5C5D94E6-A6F2-4145-89C1-58A558CBB74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9943DB2-3108-4D8B-834E-B5596E51609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42</a:t>
            </a:r>
          </a:p>
        </p:txBody>
      </p:sp>
      <p:sp>
        <p:nvSpPr>
          <p:cNvPr id="5" name="">
            <a:extLst xmlns:a="http://schemas.openxmlformats.org/drawingml/2006/main">
              <a:ext uri="{FF2B5EF4-FFF2-40B4-BE49-F238E27FC236}">
                <a16:creationId xmlns:a16="http://schemas.microsoft.com/office/drawing/2014/main" id="{81E89C38-BE6E-4C58-9767-DC7D12FB188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Tincture of Iodine 1%-2% - Requires thirty seconds of contact with the skin, and is then washed off with alcohol 70%.</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Allow to air dry completely.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Check patient allergies (lodine) prior to use.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(Providine Iodine / Iodophors - Betadine) Used full strength, never remove with alcohol as alcohol negates the effects of the Iodophor.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Hibiclens - If your patient is allergic to any of the above agents, a 3 minute scrub with Hibiclens is an effective alternative.</a:t>
            </a:r>
          </a:p>
        </p:txBody>
      </p:sp>
      <p:sp>
        <p:nvSpPr>
          <p:cNvPr id="6" name="">
            <a:extLst xmlns:a="http://schemas.openxmlformats.org/drawingml/2006/main">
              <a:ext uri="{FF2B5EF4-FFF2-40B4-BE49-F238E27FC236}">
                <a16:creationId xmlns:a16="http://schemas.microsoft.com/office/drawing/2014/main" id="{A203CC64-21FA-4E80-9BF4-92A144ACA8E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29661BE-DD4D-428F-B2DA-832445813EB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88</a:t>
            </a:r>
          </a:p>
        </p:txBody>
      </p:sp>
    </p:spTree>
    <p:extLst>
      <p:ext uri="{BB962C8B-B14F-4D97-AF65-F5344CB8AC3E}">
        <p14:creationId xmlns:p14="http://schemas.microsoft.com/office/powerpoint/2010/main" val="1426622871"/>
      </p:ext>
    </p:extLst>
  </p:cSld>
</p:sld>
</file>

<file path=ppt/slides/slide4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0C5D33-C8B4-41FE-9005-D97A2FCA376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F0B1291-D04B-412D-AB5B-E47C62CFABA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Arm Boards</a:t>
            </a:r>
          </a:p>
        </p:txBody>
      </p:sp>
      <p:sp>
        <p:nvSpPr>
          <p:cNvPr id="3" name="">
            <a:extLst xmlns:a="http://schemas.openxmlformats.org/drawingml/2006/main">
              <a:ext uri="{FF2B5EF4-FFF2-40B4-BE49-F238E27FC236}">
                <a16:creationId xmlns:a16="http://schemas.microsoft.com/office/drawing/2014/main" id="{6E119524-4F33-44D4-8885-442D63389E0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0737AC0-383A-40EC-8BB9-CBE958C6F29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43</a:t>
            </a:r>
          </a:p>
        </p:txBody>
      </p:sp>
      <p:sp>
        <p:nvSpPr>
          <p:cNvPr id="5" name="">
            <a:extLst xmlns:a="http://schemas.openxmlformats.org/drawingml/2006/main">
              <a:ext uri="{FF2B5EF4-FFF2-40B4-BE49-F238E27FC236}">
                <a16:creationId xmlns:a16="http://schemas.microsoft.com/office/drawing/2014/main" id="{BEBCBB0D-B4D4-42B4-896E-F787187D3A8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These are used for stabilization when cannula is placed near an area of flexion, as constant movement of the cannula can lead to infiltration, phlebitis, or infection.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Remember care must be taken to assure adequate circulation, while placement should not impede visualization of the insertion area.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Arm boards should be removed at intervals to verify circulation and comfort.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These can be a potential source of infection, therefore, they will need disinfecting between patients if they are not disposable.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Available as short or long boards.</a:t>
            </a:r>
          </a:p>
        </p:txBody>
      </p:sp>
      <p:sp>
        <p:nvSpPr>
          <p:cNvPr id="6" name="">
            <a:extLst xmlns:a="http://schemas.openxmlformats.org/drawingml/2006/main">
              <a:ext uri="{FF2B5EF4-FFF2-40B4-BE49-F238E27FC236}">
                <a16:creationId xmlns:a16="http://schemas.microsoft.com/office/drawing/2014/main" id="{585F2BCF-F865-4256-874F-A69B68246BE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0002CA7-8EE6-4E7E-936E-72D8374381B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89</a:t>
            </a:r>
          </a:p>
        </p:txBody>
      </p:sp>
    </p:spTree>
    <p:extLst>
      <p:ext uri="{BB962C8B-B14F-4D97-AF65-F5344CB8AC3E}">
        <p14:creationId xmlns:p14="http://schemas.microsoft.com/office/powerpoint/2010/main" val="353504664"/>
      </p:ext>
    </p:extLst>
  </p:cSld>
</p:sld>
</file>

<file path=ppt/slides/slide4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9B5AE89-9E04-4E56-AE31-AF61B691842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BBC109E-B325-4A6C-B70D-1D0202EB2DC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Arm Boards — continued</a:t>
            </a:r>
          </a:p>
        </p:txBody>
      </p:sp>
      <p:sp>
        <p:nvSpPr>
          <p:cNvPr id="3" name="">
            <a:extLst xmlns:a="http://schemas.openxmlformats.org/drawingml/2006/main">
              <a:ext uri="{FF2B5EF4-FFF2-40B4-BE49-F238E27FC236}">
                <a16:creationId xmlns:a16="http://schemas.microsoft.com/office/drawing/2014/main" id="{4D96FAE7-31F0-4BB2-94F2-4566055F7CD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1787924-122F-4921-B518-27F8DC2CB58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44</a:t>
            </a:r>
          </a:p>
        </p:txBody>
      </p:sp>
      <p:sp>
        <p:nvSpPr>
          <p:cNvPr id="5" name="">
            <a:extLst xmlns:a="http://schemas.openxmlformats.org/drawingml/2006/main">
              <a:ext uri="{FF2B5EF4-FFF2-40B4-BE49-F238E27FC236}">
                <a16:creationId xmlns:a16="http://schemas.microsoft.com/office/drawing/2014/main" id="{49016419-BEC3-4C53-9FE3-8572EBA21E4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Venipuncture Devices Vacutainer with Blood Collection Tubes The Blood Collection Holder (commonly called the "Vacutainer Holder") comes in a variety of models.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Most are transparent plastic or polypropylene holders for utilizing collection needles with collection tubes.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Most fit tubes between 5ml to 20ml, and for smaller sizes a pediatric tube holder is utilized.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Most Blood Collection holders are compatible with most standard multiple-sample, blood collection needles and tubes.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New technologies, such the Retractable Blood Collection or needle Pop-off systems sets have been developed in response to the OSHA Needle Safety Act.</a:t>
            </a:r>
          </a:p>
        </p:txBody>
      </p:sp>
      <p:sp>
        <p:nvSpPr>
          <p:cNvPr id="6" name="">
            <a:extLst xmlns:a="http://schemas.openxmlformats.org/drawingml/2006/main">
              <a:ext uri="{FF2B5EF4-FFF2-40B4-BE49-F238E27FC236}">
                <a16:creationId xmlns:a16="http://schemas.microsoft.com/office/drawing/2014/main" id="{0F116DF9-1C57-4800-B1ED-E32F080495A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EE43B87-6EC7-412D-8BBD-33AD007B221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89</a:t>
            </a:r>
          </a:p>
        </p:txBody>
      </p:sp>
    </p:spTree>
    <p:extLst>
      <p:ext uri="{BB962C8B-B14F-4D97-AF65-F5344CB8AC3E}">
        <p14:creationId xmlns:p14="http://schemas.microsoft.com/office/powerpoint/2010/main" val="923843565"/>
      </p:ext>
    </p:extLst>
  </p:cSld>
</p:sld>
</file>

<file path=ppt/slides/slide4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D872B0-41DB-4BB3-B3C4-9F66933B7BC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AE95AE5-895D-42B0-92E2-20EBA016702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Arm Boards — continued</a:t>
            </a:r>
          </a:p>
        </p:txBody>
      </p:sp>
      <p:sp>
        <p:nvSpPr>
          <p:cNvPr id="3" name="">
            <a:extLst xmlns:a="http://schemas.openxmlformats.org/drawingml/2006/main">
              <a:ext uri="{FF2B5EF4-FFF2-40B4-BE49-F238E27FC236}">
                <a16:creationId xmlns:a16="http://schemas.microsoft.com/office/drawing/2014/main" id="{B7A7D7B7-0E8A-40B0-B7CF-36B1AE35F25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E08B64A-1B30-4911-9C00-3741E5B7DAE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45</a:t>
            </a:r>
          </a:p>
        </p:txBody>
      </p:sp>
      <p:sp>
        <p:nvSpPr>
          <p:cNvPr id="5" name="">
            <a:extLst xmlns:a="http://schemas.openxmlformats.org/drawingml/2006/main">
              <a:ext uri="{FF2B5EF4-FFF2-40B4-BE49-F238E27FC236}">
                <a16:creationId xmlns:a16="http://schemas.microsoft.com/office/drawing/2014/main" id="{9F44AD50-D39E-4B1D-AFC7-75FA6C48C25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Needles automatically retract from patient into the holder Single-use prevents cross-contamination and virtually eliminates most needlestick injuries.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Other types, such as the Quick Needle Release Vacutainer, that quickly releases the needle from the needle holder again reducing the risk of needlestick exposures to the phlebotomist.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vein is first punctured with the hypodermic needle (which is connected to the translucent plastic holder).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needle actually has a second, smaller needle on the other end, and when a Vacutainer test tube is pushed down into the holder, its rubber cap is pierced.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vacuum in the tube sucks blood though the needle and fills itself.</a:t>
            </a:r>
          </a:p>
        </p:txBody>
      </p:sp>
      <p:sp>
        <p:nvSpPr>
          <p:cNvPr id="6" name="">
            <a:extLst xmlns:a="http://schemas.openxmlformats.org/drawingml/2006/main">
              <a:ext uri="{FF2B5EF4-FFF2-40B4-BE49-F238E27FC236}">
                <a16:creationId xmlns:a16="http://schemas.microsoft.com/office/drawing/2014/main" id="{05BDFAAD-18A4-4D30-B8B0-F421A13B35D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34994B7-4814-4726-9D17-8EA3AEE84B7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89</a:t>
            </a:r>
          </a:p>
        </p:txBody>
      </p:sp>
    </p:spTree>
    <p:extLst>
      <p:ext uri="{BB962C8B-B14F-4D97-AF65-F5344CB8AC3E}">
        <p14:creationId xmlns:p14="http://schemas.microsoft.com/office/powerpoint/2010/main" val="655315721"/>
      </p:ext>
    </p:extLst>
  </p:cSld>
</p:sld>
</file>

<file path=ppt/slides/slide4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6DFA14-4276-4E15-88D5-BF33E2BBA0A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3510210-CAFE-4B99-9278-97159C2C91F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Arm Boards — continued</a:t>
            </a:r>
          </a:p>
        </p:txBody>
      </p:sp>
      <p:sp>
        <p:nvSpPr>
          <p:cNvPr id="3" name="">
            <a:extLst xmlns:a="http://schemas.openxmlformats.org/drawingml/2006/main">
              <a:ext uri="{FF2B5EF4-FFF2-40B4-BE49-F238E27FC236}">
                <a16:creationId xmlns:a16="http://schemas.microsoft.com/office/drawing/2014/main" id="{D69C4073-FE19-41E5-87CB-F93F9989650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BE32082-7566-42B1-A669-FCE9AFC9676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46</a:t>
            </a:r>
          </a:p>
        </p:txBody>
      </p:sp>
      <p:sp>
        <p:nvSpPr>
          <p:cNvPr id="5" name="">
            <a:extLst xmlns:a="http://schemas.openxmlformats.org/drawingml/2006/main">
              <a:ext uri="{FF2B5EF4-FFF2-40B4-BE49-F238E27FC236}">
                <a16:creationId xmlns:a16="http://schemas.microsoft.com/office/drawing/2014/main" id="{004F3F67-5763-4583-8F27-561120656EF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tube is then removed and another tube can be inserted and filled the same way.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is important to remove the tube before withdrawing the needle, as there may still be some suction left, causing pain upon withdrawal.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Because of the standardized suction of most tubes, they often may cause the veins of elderly people, or those with delicate veins, to collapse.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this case, a syringe and needle may be recommended instead.</a:t>
            </a:r>
          </a:p>
        </p:txBody>
      </p:sp>
      <p:sp>
        <p:nvSpPr>
          <p:cNvPr id="6" name="">
            <a:extLst xmlns:a="http://schemas.openxmlformats.org/drawingml/2006/main">
              <a:ext uri="{FF2B5EF4-FFF2-40B4-BE49-F238E27FC236}">
                <a16:creationId xmlns:a16="http://schemas.microsoft.com/office/drawing/2014/main" id="{336184B2-6072-4EC4-BE20-C180724587B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87FBACD-6959-4808-B555-2C3A1682FD1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89</a:t>
            </a:r>
          </a:p>
        </p:txBody>
      </p:sp>
    </p:spTree>
    <p:extLst>
      <p:ext uri="{BB962C8B-B14F-4D97-AF65-F5344CB8AC3E}">
        <p14:creationId xmlns:p14="http://schemas.microsoft.com/office/powerpoint/2010/main" val="1522055572"/>
      </p:ext>
    </p:extLst>
  </p:cSld>
</p:sld>
</file>

<file path=ppt/slides/slide4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0F89FA4-15FD-463D-8CA6-CB7E19CB6A5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83E9EC6-2555-426D-AFCD-B34F8DEAC0E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Collection Tubes</a:t>
            </a:r>
          </a:p>
        </p:txBody>
      </p:sp>
      <p:sp>
        <p:nvSpPr>
          <p:cNvPr id="3" name="">
            <a:extLst xmlns:a="http://schemas.openxmlformats.org/drawingml/2006/main">
              <a:ext uri="{FF2B5EF4-FFF2-40B4-BE49-F238E27FC236}">
                <a16:creationId xmlns:a16="http://schemas.microsoft.com/office/drawing/2014/main" id="{CE9FB485-558D-4B63-A60F-4CC9CB2714C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8B40DAA-C998-4AA8-A85A-6C01BF5AC92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47</a:t>
            </a:r>
          </a:p>
        </p:txBody>
      </p:sp>
      <p:sp>
        <p:nvSpPr>
          <p:cNvPr id="5" name="">
            <a:extLst xmlns:a="http://schemas.openxmlformats.org/drawingml/2006/main">
              <a:ext uri="{FF2B5EF4-FFF2-40B4-BE49-F238E27FC236}">
                <a16:creationId xmlns:a16="http://schemas.microsoft.com/office/drawing/2014/main" id="{59034D48-DE99-4601-9B4D-E369FB67787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Rod casped toss Do Coegulation blue hemistry.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Blood collection tubes are evacuated and come color coded.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Each vacuum tube has a specific preservative or additive, therefore blood cannot be transferred from one tube to another.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(See Collection Tube section for specific information on tube selection).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tubes are properly labeled by the phlebotomist and transported to the laboratory.</a:t>
            </a:r>
          </a:p>
        </p:txBody>
      </p:sp>
      <p:sp>
        <p:nvSpPr>
          <p:cNvPr id="6" name="">
            <a:extLst xmlns:a="http://schemas.openxmlformats.org/drawingml/2006/main">
              <a:ext uri="{FF2B5EF4-FFF2-40B4-BE49-F238E27FC236}">
                <a16:creationId xmlns:a16="http://schemas.microsoft.com/office/drawing/2014/main" id="{7B612EEC-34E5-4323-B862-E6C9EFACA44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0E82390-57ED-4326-9A91-F3F65B9F448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90</a:t>
            </a:r>
          </a:p>
        </p:txBody>
      </p:sp>
    </p:spTree>
    <p:extLst>
      <p:ext uri="{BB962C8B-B14F-4D97-AF65-F5344CB8AC3E}">
        <p14:creationId xmlns:p14="http://schemas.microsoft.com/office/powerpoint/2010/main" val="209009379"/>
      </p:ext>
    </p:extLst>
  </p:cSld>
</p:sld>
</file>

<file path=ppt/slides/slide4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F067D16-8266-49DA-80EC-A399BE28D9E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E3FA822-9B7C-477B-B3D2-DBDF69416B7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Collection Tubes — continued</a:t>
            </a:r>
          </a:p>
        </p:txBody>
      </p:sp>
      <p:sp>
        <p:nvSpPr>
          <p:cNvPr id="3" name="">
            <a:extLst xmlns:a="http://schemas.openxmlformats.org/drawingml/2006/main">
              <a:ext uri="{FF2B5EF4-FFF2-40B4-BE49-F238E27FC236}">
                <a16:creationId xmlns:a16="http://schemas.microsoft.com/office/drawing/2014/main" id="{06438BCB-5974-4B8D-853C-5A470E2D21E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3055A34-DB84-4570-9B4D-7DA37771FEC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48</a:t>
            </a:r>
          </a:p>
        </p:txBody>
      </p:sp>
      <p:sp>
        <p:nvSpPr>
          <p:cNvPr id="5" name="">
            <a:extLst xmlns:a="http://schemas.openxmlformats.org/drawingml/2006/main">
              <a:ext uri="{FF2B5EF4-FFF2-40B4-BE49-F238E27FC236}">
                <a16:creationId xmlns:a16="http://schemas.microsoft.com/office/drawing/2014/main" id="{5C72E4A5-B52B-4D23-9B5D-C6D8DD6AF65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vacutainer needle holders require multi-sampleLuer Adapters.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adapter allows for direct connection between the tube holder and the collection tube.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After blood is collected into the blood collection tube, the tube must be "rocked" to assure proper mixing the contained additives.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Inadequate mixing of the Vacutainer tubes as soon as possible after the phlebotomy will result in the blood not mixing with the anti-coagulant.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By gently inverting (Rocking) the Vacutainer tube several times, the blood will mix and clotting will not occur.</a:t>
            </a:r>
          </a:p>
        </p:txBody>
      </p:sp>
      <p:sp>
        <p:nvSpPr>
          <p:cNvPr id="6" name="">
            <a:extLst xmlns:a="http://schemas.openxmlformats.org/drawingml/2006/main">
              <a:ext uri="{FF2B5EF4-FFF2-40B4-BE49-F238E27FC236}">
                <a16:creationId xmlns:a16="http://schemas.microsoft.com/office/drawing/2014/main" id="{9C0A1822-8E30-4FDC-BA5F-BAF9382480D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A83ABDA-637B-4254-A877-916FF3E4ED3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90</a:t>
            </a:r>
          </a:p>
        </p:txBody>
      </p:sp>
    </p:spTree>
    <p:extLst>
      <p:ext uri="{BB962C8B-B14F-4D97-AF65-F5344CB8AC3E}">
        <p14:creationId xmlns:p14="http://schemas.microsoft.com/office/powerpoint/2010/main" val="1916984392"/>
      </p:ext>
    </p:extLst>
  </p:cSld>
</p:sld>
</file>

<file path=ppt/slides/slide4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A88B2A-C76F-4D17-A113-A5275621266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626F78E-BB14-4312-8564-3174A420997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Collection Tubes — continued</a:t>
            </a:r>
          </a:p>
        </p:txBody>
      </p:sp>
      <p:sp>
        <p:nvSpPr>
          <p:cNvPr id="3" name="">
            <a:extLst xmlns:a="http://schemas.openxmlformats.org/drawingml/2006/main">
              <a:ext uri="{FF2B5EF4-FFF2-40B4-BE49-F238E27FC236}">
                <a16:creationId xmlns:a16="http://schemas.microsoft.com/office/drawing/2014/main" id="{B461F632-7F79-4786-9B03-2B0D8692B9E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74A19CC-EF7C-4CDC-8F6B-DC29AA8D594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49</a:t>
            </a:r>
          </a:p>
        </p:txBody>
      </p:sp>
      <p:sp>
        <p:nvSpPr>
          <p:cNvPr id="5" name="">
            <a:extLst xmlns:a="http://schemas.openxmlformats.org/drawingml/2006/main">
              <a:ext uri="{FF2B5EF4-FFF2-40B4-BE49-F238E27FC236}">
                <a16:creationId xmlns:a16="http://schemas.microsoft.com/office/drawing/2014/main" id="{CFEB719E-12BD-40CC-8BAB-1B3B4B136D4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Red Top ADDITIVE None MODE OF Blood clots, and the serum is separated by ACTION centrifugation USES Chemistries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Immunology and Serology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Bank (Crossmatch) Single tests Gold Top ADDITIVE None MODE OF Serum separator tube (SST) contains a gel ACTION at the bottom to separate blood from serum on centrifugation USES Chemistries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Immunology and Serology</a:t>
            </a:r>
          </a:p>
        </p:txBody>
      </p:sp>
      <p:sp>
        <p:nvSpPr>
          <p:cNvPr id="6" name="">
            <a:extLst xmlns:a="http://schemas.openxmlformats.org/drawingml/2006/main">
              <a:ext uri="{FF2B5EF4-FFF2-40B4-BE49-F238E27FC236}">
                <a16:creationId xmlns:a16="http://schemas.microsoft.com/office/drawing/2014/main" id="{B22A6E73-DF1E-4D65-8094-5A12BD253F1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D69ED5B-C4FE-4AA8-8A26-2E91AF6EB93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90</a:t>
            </a:r>
          </a:p>
        </p:txBody>
      </p:sp>
    </p:spTree>
    <p:extLst>
      <p:ext uri="{BB962C8B-B14F-4D97-AF65-F5344CB8AC3E}">
        <p14:creationId xmlns:p14="http://schemas.microsoft.com/office/powerpoint/2010/main" val="628831158"/>
      </p:ext>
    </p:extLst>
  </p:cSld>
</p:sld>
</file>

<file path=ppt/slides/slide5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A2CE40-53CD-423C-9C54-5318DB57354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2AF7EC7-A2E9-4FC7-AD1F-F5CBA316623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Light</a:t>
            </a:r>
          </a:p>
        </p:txBody>
      </p:sp>
      <p:sp>
        <p:nvSpPr>
          <p:cNvPr id="3" name="">
            <a:extLst xmlns:a="http://schemas.openxmlformats.org/drawingml/2006/main">
              <a:ext uri="{FF2B5EF4-FFF2-40B4-BE49-F238E27FC236}">
                <a16:creationId xmlns:a16="http://schemas.microsoft.com/office/drawing/2014/main" id="{52366668-7487-41B9-9A86-49E02FBC64C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228AA1B-D406-4B3A-B76C-3E2DEA895A4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50</a:t>
            </a:r>
          </a:p>
        </p:txBody>
      </p:sp>
      <p:sp>
        <p:nvSpPr>
          <p:cNvPr id="5" name="">
            <a:extLst xmlns:a="http://schemas.openxmlformats.org/drawingml/2006/main">
              <a:ext uri="{FF2B5EF4-FFF2-40B4-BE49-F238E27FC236}">
                <a16:creationId xmlns:a16="http://schemas.microsoft.com/office/drawing/2014/main" id="{68AFFF9C-53D6-43F5-849F-3165D23F4C2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Green Top ADDITIVE Plasma Separating Tube (PST) with Lithium heparin MODE OF Anticoagulates with lithium heparin;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ACTION Plasma is separated with PST gel at the bottom of the tube USES Chemistries Red-Gray Top ADDITIVE Serum Separating Tube (SST) with clot activator MODE OF Forms clot quickly and separates the ACTION serum with SST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gel at the bottom of the tube USES Chemistries Purple Top ADDITIVE EDTA liquid MODE OF ACTION Forms calcium salts to remove calcium Hematology (CBC) and Blood Bank USES (Crossmatch);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requires full draw - invert 8 times to prevent clotting and platelet clumping</a:t>
            </a:r>
          </a:p>
        </p:txBody>
      </p:sp>
      <p:sp>
        <p:nvSpPr>
          <p:cNvPr id="6" name="">
            <a:extLst xmlns:a="http://schemas.openxmlformats.org/drawingml/2006/main">
              <a:ext uri="{FF2B5EF4-FFF2-40B4-BE49-F238E27FC236}">
                <a16:creationId xmlns:a16="http://schemas.microsoft.com/office/drawing/2014/main" id="{9A437981-53BE-4A2B-A65B-CB400F57C49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4AC59EB-0268-4F74-B22A-89989FDE1D9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91</a:t>
            </a:r>
          </a:p>
        </p:txBody>
      </p:sp>
    </p:spTree>
    <p:extLst>
      <p:ext uri="{BB962C8B-B14F-4D97-AF65-F5344CB8AC3E}">
        <p14:creationId xmlns:p14="http://schemas.microsoft.com/office/powerpoint/2010/main" val="1048848082"/>
      </p:ext>
    </p:extLst>
  </p:cSld>
</p:sld>
</file>

<file path=ppt/slides/slide5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91C1CC-BDD5-4D4D-A9CF-0222D2E693A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2119FB8-2979-489C-BA54-C977EA30E0F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Light Blue</a:t>
            </a:r>
          </a:p>
        </p:txBody>
      </p:sp>
      <p:sp>
        <p:nvSpPr>
          <p:cNvPr id="3" name="">
            <a:extLst xmlns:a="http://schemas.openxmlformats.org/drawingml/2006/main">
              <a:ext uri="{FF2B5EF4-FFF2-40B4-BE49-F238E27FC236}">
                <a16:creationId xmlns:a16="http://schemas.microsoft.com/office/drawing/2014/main" id="{943174C7-12F3-4729-B94C-B73F7D965E9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CF1CD4E-7477-487A-9628-EEB9F2328CA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51</a:t>
            </a:r>
          </a:p>
        </p:txBody>
      </p:sp>
      <p:sp>
        <p:nvSpPr>
          <p:cNvPr id="5" name="">
            <a:extLst xmlns:a="http://schemas.openxmlformats.org/drawingml/2006/main">
              <a:ext uri="{FF2B5EF4-FFF2-40B4-BE49-F238E27FC236}">
                <a16:creationId xmlns:a16="http://schemas.microsoft.com/office/drawing/2014/main" id="{B89BEE5E-F8A5-43AB-81A4-C606649DADA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Top ADDITIVE Sodium citrate MODE OF ACTION Forms calcium salts to remove calcium USES Coagulation tests (protime and prothrombin time), full draw required Dark Green Top ADDITIVE Sodium heparin or lithium heparin MODE OF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ACTION Inactivates thrombin and thromboplastin For lithium level, use sodium heparin USES For ammonia level, use sodium or lithium heparin Yellow Top ADDITIVE :</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ACD (acid-citrate-dextrose) MODE OF ACTION Complement inactivation USES HLA tissue typing, paternity testing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DNA studies</a:t>
            </a:r>
          </a:p>
        </p:txBody>
      </p:sp>
      <p:sp>
        <p:nvSpPr>
          <p:cNvPr id="6" name="">
            <a:extLst xmlns:a="http://schemas.openxmlformats.org/drawingml/2006/main">
              <a:ext uri="{FF2B5EF4-FFF2-40B4-BE49-F238E27FC236}">
                <a16:creationId xmlns:a16="http://schemas.microsoft.com/office/drawing/2014/main" id="{E542E84E-991E-4BA1-AF2D-F67740EF0AD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CCE6E29-9FF3-4F3D-AB5D-BC35124F6F6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92</a:t>
            </a:r>
          </a:p>
        </p:txBody>
      </p:sp>
    </p:spTree>
    <p:extLst>
      <p:ext uri="{BB962C8B-B14F-4D97-AF65-F5344CB8AC3E}">
        <p14:creationId xmlns:p14="http://schemas.microsoft.com/office/powerpoint/2010/main" val="1423577501"/>
      </p:ext>
    </p:extLst>
  </p:cSld>
</p:sld>
</file>

<file path=ppt/slides/slide5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1BF662F-95C5-4AA6-ACF0-2B14976BEE1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30AAACC-FF79-40DC-856A-BEC888BF2AE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Light</a:t>
            </a:r>
          </a:p>
        </p:txBody>
      </p:sp>
      <p:sp>
        <p:nvSpPr>
          <p:cNvPr id="3" name="">
            <a:extLst xmlns:a="http://schemas.openxmlformats.org/drawingml/2006/main">
              <a:ext uri="{FF2B5EF4-FFF2-40B4-BE49-F238E27FC236}">
                <a16:creationId xmlns:a16="http://schemas.microsoft.com/office/drawing/2014/main" id="{2DB6D8AB-250A-45C0-999C-A252AA00435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4999FEF-ED78-4255-BB1B-82B3812BB18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52</a:t>
            </a:r>
          </a:p>
        </p:txBody>
      </p:sp>
      <p:sp>
        <p:nvSpPr>
          <p:cNvPr id="5" name="">
            <a:extLst xmlns:a="http://schemas.openxmlformats.org/drawingml/2006/main">
              <a:ext uri="{FF2B5EF4-FFF2-40B4-BE49-F238E27FC236}">
                <a16:creationId xmlns:a16="http://schemas.microsoft.com/office/drawing/2014/main" id="{21F02861-37DC-4082-A802-5A5CD8CEAA7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Gray Top ADDITIVE Sodium fluoride and potassium oxalate MODE OF Antiglycolytic agent preserves glucose up ACTION to 5 days For lithium level, use sodium heparin USES Glucoses, requires full draw may cause hemolysis if</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short draw) Although different manufacturers occasionally change the colors of the vacuum tubes, the Phlebotomist must always be knowledgeable of their own specific product line they are supplied with.</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Be sure also to check for expirations as well for all tubes being used.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the blood tube is allowed to fill completely, there will be enough specimen to complete most tests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However if the blood tubes are half filled or less this often results in the lab requesting another sample to be drawn.</a:t>
            </a:r>
          </a:p>
        </p:txBody>
      </p:sp>
      <p:sp>
        <p:nvSpPr>
          <p:cNvPr id="6" name="">
            <a:extLst xmlns:a="http://schemas.openxmlformats.org/drawingml/2006/main">
              <a:ext uri="{FF2B5EF4-FFF2-40B4-BE49-F238E27FC236}">
                <a16:creationId xmlns:a16="http://schemas.microsoft.com/office/drawing/2014/main" id="{339B4476-0452-4D9C-87E4-65630FF1F49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9852B0B-DB4C-430D-AD84-532002F70F1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93</a:t>
            </a:r>
          </a:p>
        </p:txBody>
      </p:sp>
    </p:spTree>
    <p:extLst>
      <p:ext uri="{BB962C8B-B14F-4D97-AF65-F5344CB8AC3E}">
        <p14:creationId xmlns:p14="http://schemas.microsoft.com/office/powerpoint/2010/main" val="1905669686"/>
      </p:ext>
    </p:extLst>
  </p:cSld>
</p:sld>
</file>

<file path=ppt/slides/slide5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A22E2B-05C2-488F-92AD-0E85B3CCD98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B5F8A97-62A6-41E5-A467-B4EC985FFF0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Light — continued</a:t>
            </a:r>
          </a:p>
        </p:txBody>
      </p:sp>
      <p:sp>
        <p:nvSpPr>
          <p:cNvPr id="3" name="">
            <a:extLst xmlns:a="http://schemas.openxmlformats.org/drawingml/2006/main">
              <a:ext uri="{FF2B5EF4-FFF2-40B4-BE49-F238E27FC236}">
                <a16:creationId xmlns:a16="http://schemas.microsoft.com/office/drawing/2014/main" id="{69CA4745-2102-49A8-A179-7F51C557657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7224A47-7591-47E6-8E97-DDA63378B50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53</a:t>
            </a:r>
          </a:p>
        </p:txBody>
      </p:sp>
      <p:sp>
        <p:nvSpPr>
          <p:cNvPr id="5" name="">
            <a:extLst xmlns:a="http://schemas.openxmlformats.org/drawingml/2006/main">
              <a:ext uri="{FF2B5EF4-FFF2-40B4-BE49-F238E27FC236}">
                <a16:creationId xmlns:a16="http://schemas.microsoft.com/office/drawing/2014/main" id="{D36A14F2-6B21-47B0-AF04-AE3244B86AC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Hemolysis can be caused by: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mixing additive tubes too vigorously or using rough handling during transport, drawing blood from a vein that has a hematoma, pulling back the plunger on a syringe too quickly, using a needle with too small of a bore for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venipuncture, using too large a tube when using a small diameter butterfly needle.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Other problems that may develop is frothing of the blood generally caused by improper fit of the needle on a syringe or forcing the blood from a syringe into an evacuated tube.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Order to Draw specimens: Blood collection tubes must be drawn in a specific order to avoid cross-contamination of additives between tubes.</a:t>
            </a:r>
          </a:p>
        </p:txBody>
      </p:sp>
      <p:sp>
        <p:nvSpPr>
          <p:cNvPr id="6" name="">
            <a:extLst xmlns:a="http://schemas.openxmlformats.org/drawingml/2006/main">
              <a:ext uri="{FF2B5EF4-FFF2-40B4-BE49-F238E27FC236}">
                <a16:creationId xmlns:a16="http://schemas.microsoft.com/office/drawing/2014/main" id="{EA77468D-7A79-40DC-812C-181017C9564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BDA15DE-AA76-4B2D-B75B-1E5DF670F82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93</a:t>
            </a:r>
          </a:p>
        </p:txBody>
      </p:sp>
    </p:spTree>
    <p:extLst>
      <p:ext uri="{BB962C8B-B14F-4D97-AF65-F5344CB8AC3E}">
        <p14:creationId xmlns:p14="http://schemas.microsoft.com/office/powerpoint/2010/main" val="516024950"/>
      </p:ext>
    </p:extLst>
  </p:cSld>
</p:sld>
</file>

<file path=ppt/slides/slide5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08A225-C079-4E5E-9D80-112C995551D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B4AB860-ACAB-4654-AD79-B4BEAE0744C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Light — continued</a:t>
            </a:r>
          </a:p>
        </p:txBody>
      </p:sp>
      <p:sp>
        <p:nvSpPr>
          <p:cNvPr id="3" name="">
            <a:extLst xmlns:a="http://schemas.openxmlformats.org/drawingml/2006/main">
              <a:ext uri="{FF2B5EF4-FFF2-40B4-BE49-F238E27FC236}">
                <a16:creationId xmlns:a16="http://schemas.microsoft.com/office/drawing/2014/main" id="{4FDE2D9C-35E3-4D6A-BCD8-CCC996BBE30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F6AD88F-826E-46DD-82FF-03B68FC2123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54</a:t>
            </a:r>
          </a:p>
        </p:txBody>
      </p:sp>
      <p:sp>
        <p:nvSpPr>
          <p:cNvPr id="5" name="">
            <a:extLst xmlns:a="http://schemas.openxmlformats.org/drawingml/2006/main">
              <a:ext uri="{FF2B5EF4-FFF2-40B4-BE49-F238E27FC236}">
                <a16:creationId xmlns:a16="http://schemas.microsoft.com/office/drawing/2014/main" id="{52896649-637F-4A78-92A5-25F3456AF89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recommended order of draw is: First - blood culture tube Second - Non-additive Tube (red stopper or SST) Third - Coagulation tube (light blue stopper).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just a routine coagulation assay is the only test ordered, then a single light blue stopper tube may be drawn.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there is a concern regarding contamination by tissue fluids or thromboplastins, then one may draw a nonadditive tube first, and then the light blue stopper tube.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Last draw - additive tubes in this order: NOTE: Tubes with additives must be thoroughly mixed.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Erroneous test results may be obtained when the blood is not thoroughly mixed with the additive.</a:t>
            </a:r>
          </a:p>
        </p:txBody>
      </p:sp>
      <p:sp>
        <p:nvSpPr>
          <p:cNvPr id="6" name="">
            <a:extLst xmlns:a="http://schemas.openxmlformats.org/drawingml/2006/main">
              <a:ext uri="{FF2B5EF4-FFF2-40B4-BE49-F238E27FC236}">
                <a16:creationId xmlns:a16="http://schemas.microsoft.com/office/drawing/2014/main" id="{09E0D3AA-34C6-4DB8-B826-18990F4DCA1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99F4A08-5BD8-4263-9942-0C774A33860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93</a:t>
            </a:r>
          </a:p>
        </p:txBody>
      </p:sp>
    </p:spTree>
    <p:extLst>
      <p:ext uri="{BB962C8B-B14F-4D97-AF65-F5344CB8AC3E}">
        <p14:creationId xmlns:p14="http://schemas.microsoft.com/office/powerpoint/2010/main" val="899565237"/>
      </p:ext>
    </p:extLst>
  </p:cSld>
</p:sld>
</file>

<file path=ppt/slides/slide5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9D87F9-93F8-4BF4-A35B-45E176B608D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A3E5E89-E18B-4331-8150-830AC477965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Needles may be used for a variety of purposes to include: intravenous therapy and</a:t>
            </a:r>
          </a:p>
        </p:txBody>
      </p:sp>
      <p:sp>
        <p:nvSpPr>
          <p:cNvPr id="3" name="">
            <a:extLst xmlns:a="http://schemas.openxmlformats.org/drawingml/2006/main">
              <a:ext uri="{FF2B5EF4-FFF2-40B4-BE49-F238E27FC236}">
                <a16:creationId xmlns:a16="http://schemas.microsoft.com/office/drawing/2014/main" id="{DC95B3AE-CD0C-4FDD-985D-388AE3F0873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EFA8C98-3BDE-4EB4-A997-E2C3FBE86DD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55</a:t>
            </a:r>
          </a:p>
        </p:txBody>
      </p:sp>
      <p:sp>
        <p:nvSpPr>
          <p:cNvPr id="5" name="">
            <a:extLst xmlns:a="http://schemas.openxmlformats.org/drawingml/2006/main">
              <a:ext uri="{FF2B5EF4-FFF2-40B4-BE49-F238E27FC236}">
                <a16:creationId xmlns:a16="http://schemas.microsoft.com/office/drawing/2014/main" id="{3FEF43C1-400C-4EEF-8214-2C2C409F0EF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FOR SINGLE USE DEVONG Syringes intramuscular or subcutaneous injections.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There are different types of syringes including reusable, disposable syringes with needle guards for attachment to syringes, and complete "Needleless" jet injection systems.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Syringes are as varied as manufacturers.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There are three general parts to syringe; a barrel, a plunger, and a hub (Luer-Lock type of hub preferred or the straight hub).</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Syringes can be made of plastic, glass, or metal and range in size from; 1cc, 3cc, 5cc, 10cc, 12cc, 20cc, 30cc, 50cc, or larger.</a:t>
            </a:r>
          </a:p>
        </p:txBody>
      </p:sp>
      <p:sp>
        <p:nvSpPr>
          <p:cNvPr id="6" name="">
            <a:extLst xmlns:a="http://schemas.openxmlformats.org/drawingml/2006/main">
              <a:ext uri="{FF2B5EF4-FFF2-40B4-BE49-F238E27FC236}">
                <a16:creationId xmlns:a16="http://schemas.microsoft.com/office/drawing/2014/main" id="{A817A8F9-DD6F-46D7-9683-E5507614D27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4787736-9AE3-47E4-A5B9-C0198BA0234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94</a:t>
            </a:r>
          </a:p>
        </p:txBody>
      </p:sp>
    </p:spTree>
    <p:extLst>
      <p:ext uri="{BB962C8B-B14F-4D97-AF65-F5344CB8AC3E}">
        <p14:creationId xmlns:p14="http://schemas.microsoft.com/office/powerpoint/2010/main" val="1754676102"/>
      </p:ext>
    </p:extLst>
  </p:cSld>
</p:sld>
</file>

<file path=ppt/slides/slide5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CA3CB9-387A-40E3-BEDE-3928290C128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541F738-7FF3-41CB-83A5-368D99CC8D2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Needles may be used for a variety of purposes to include: intravenous therapy and — continued</a:t>
            </a:r>
          </a:p>
        </p:txBody>
      </p:sp>
      <p:sp>
        <p:nvSpPr>
          <p:cNvPr id="3" name="">
            <a:extLst xmlns:a="http://schemas.openxmlformats.org/drawingml/2006/main">
              <a:ext uri="{FF2B5EF4-FFF2-40B4-BE49-F238E27FC236}">
                <a16:creationId xmlns:a16="http://schemas.microsoft.com/office/drawing/2014/main" id="{B3485F69-7A68-40C6-8F19-E850AF9EA28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FC177F5-A65A-4618-ACE1-07824AB8FB3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56</a:t>
            </a:r>
          </a:p>
        </p:txBody>
      </p:sp>
      <p:sp>
        <p:nvSpPr>
          <p:cNvPr id="5" name="">
            <a:extLst xmlns:a="http://schemas.openxmlformats.org/drawingml/2006/main">
              <a:ext uri="{FF2B5EF4-FFF2-40B4-BE49-F238E27FC236}">
                <a16:creationId xmlns:a16="http://schemas.microsoft.com/office/drawing/2014/main" id="{249932FF-1E26-416F-9FE5-9F507A03029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Some syringes are standard with needles while others are only the syringe and any size needle can be added.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Hypodermic needles are fabricated from superior-grade steel.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Only high quality polyurethane medical resin is used for syringe barrels.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Bold scale markings on clear barrels ensure precise measurements.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Syringes are latex-free and can be used for latexintolerant patients.</a:t>
            </a:r>
          </a:p>
        </p:txBody>
      </p:sp>
      <p:sp>
        <p:nvSpPr>
          <p:cNvPr id="6" name="">
            <a:extLst xmlns:a="http://schemas.openxmlformats.org/drawingml/2006/main">
              <a:ext uri="{FF2B5EF4-FFF2-40B4-BE49-F238E27FC236}">
                <a16:creationId xmlns:a16="http://schemas.microsoft.com/office/drawing/2014/main" id="{845A0620-44C4-43DD-AAEB-1E6E1E355E7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4709A3F-7A28-4D92-BE68-C5CE2F9D0E7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94</a:t>
            </a:r>
          </a:p>
        </p:txBody>
      </p:sp>
    </p:spTree>
    <p:extLst>
      <p:ext uri="{BB962C8B-B14F-4D97-AF65-F5344CB8AC3E}">
        <p14:creationId xmlns:p14="http://schemas.microsoft.com/office/powerpoint/2010/main" val="1837723744"/>
      </p:ext>
    </p:extLst>
  </p:cSld>
</p:sld>
</file>

<file path=ppt/slides/slide5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E3753D-87BD-4CA4-8419-DFADCE79E77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E120E3B-EC39-45E7-88C6-91F359BA1A9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Needles may be used for a variety of purposes to include: intravenous therapy and — continued</a:t>
            </a:r>
          </a:p>
        </p:txBody>
      </p:sp>
      <p:sp>
        <p:nvSpPr>
          <p:cNvPr id="3" name="">
            <a:extLst xmlns:a="http://schemas.openxmlformats.org/drawingml/2006/main">
              <a:ext uri="{FF2B5EF4-FFF2-40B4-BE49-F238E27FC236}">
                <a16:creationId xmlns:a16="http://schemas.microsoft.com/office/drawing/2014/main" id="{6F42A682-1DAB-42EB-AD6D-B57F13AF009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36206A8-69BE-45C6-AB2A-64D56FB6BB0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57</a:t>
            </a:r>
          </a:p>
        </p:txBody>
      </p:sp>
      <p:sp>
        <p:nvSpPr>
          <p:cNvPr id="5" name="">
            <a:extLst xmlns:a="http://schemas.openxmlformats.org/drawingml/2006/main">
              <a:ext uri="{FF2B5EF4-FFF2-40B4-BE49-F238E27FC236}">
                <a16:creationId xmlns:a16="http://schemas.microsoft.com/office/drawing/2014/main" id="{C689F8A8-B973-41DF-AFFA-6E14B17FB69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Syringes can purchased as both clean and sterile.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Sterile syringes come pre-packaged.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Protective measures have been adapted for syringes.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Once used, some models such as the safety lock type syringes withdraw the needle into the barrel and then lock the needle in place preventing any access to the needle again.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Other types include pressing the tip of the plunger and the needle retracts (springs) into the barrel preventing access and exposure.</a:t>
            </a:r>
          </a:p>
        </p:txBody>
      </p:sp>
      <p:sp>
        <p:nvSpPr>
          <p:cNvPr id="6" name="">
            <a:extLst xmlns:a="http://schemas.openxmlformats.org/drawingml/2006/main">
              <a:ext uri="{FF2B5EF4-FFF2-40B4-BE49-F238E27FC236}">
                <a16:creationId xmlns:a16="http://schemas.microsoft.com/office/drawing/2014/main" id="{3A55B5E9-66AB-490A-BDF0-4BFD0440F37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A361378-EE68-494A-BEF1-0D3EE40637F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94</a:t>
            </a:r>
          </a:p>
        </p:txBody>
      </p:sp>
    </p:spTree>
    <p:extLst>
      <p:ext uri="{BB962C8B-B14F-4D97-AF65-F5344CB8AC3E}">
        <p14:creationId xmlns:p14="http://schemas.microsoft.com/office/powerpoint/2010/main" val="1703353024"/>
      </p:ext>
    </p:extLst>
  </p:cSld>
</p:sld>
</file>

<file path=ppt/slides/slide5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1F802B8-CD2D-43C9-89AC-3E38FB50174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87B6809-7DE8-423A-BC49-3AE50C16DAB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Needles may be used for a variety of purposes to include: intravenous therapy and — continued</a:t>
            </a:r>
          </a:p>
        </p:txBody>
      </p:sp>
      <p:sp>
        <p:nvSpPr>
          <p:cNvPr id="3" name="">
            <a:extLst xmlns:a="http://schemas.openxmlformats.org/drawingml/2006/main">
              <a:ext uri="{FF2B5EF4-FFF2-40B4-BE49-F238E27FC236}">
                <a16:creationId xmlns:a16="http://schemas.microsoft.com/office/drawing/2014/main" id="{A76AEA5B-C56E-45CC-824F-D244A410CB6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0F5CA13-BE95-4D69-AD5B-2E89F5E0F2E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58</a:t>
            </a:r>
          </a:p>
        </p:txBody>
      </p:sp>
      <p:sp>
        <p:nvSpPr>
          <p:cNvPr id="5" name="">
            <a:extLst xmlns:a="http://schemas.openxmlformats.org/drawingml/2006/main">
              <a:ext uri="{FF2B5EF4-FFF2-40B4-BE49-F238E27FC236}">
                <a16:creationId xmlns:a16="http://schemas.microsoft.com/office/drawing/2014/main" id="{080FA0B5-E46B-49AC-A604-151C3366F8B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Needles Hypodermic needles are made of stainless steel and come in a variety of gauge sizes.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Gauge indicates the diameter of the needle.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larger the number in gauge, the smaller the needle in lumen size.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(Example - A 26 gauge needle is much smaller than an 18 gauge needle.) Lengths also vary from typically 1⁄2 inch to up to two or three inches depending on the need.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There are four parts to a needle including the cap, the shaft, the hub, and the bevel (the opening of the needle).</a:t>
            </a:r>
          </a:p>
        </p:txBody>
      </p:sp>
      <p:sp>
        <p:nvSpPr>
          <p:cNvPr id="6" name="">
            <a:extLst xmlns:a="http://schemas.openxmlformats.org/drawingml/2006/main">
              <a:ext uri="{FF2B5EF4-FFF2-40B4-BE49-F238E27FC236}">
                <a16:creationId xmlns:a16="http://schemas.microsoft.com/office/drawing/2014/main" id="{4A68204D-647E-440F-A5EA-956379ADC96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A0FACEC-E8F6-4E32-BCD6-EB285069BA0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94</a:t>
            </a:r>
          </a:p>
        </p:txBody>
      </p:sp>
    </p:spTree>
    <p:extLst>
      <p:ext uri="{BB962C8B-B14F-4D97-AF65-F5344CB8AC3E}">
        <p14:creationId xmlns:p14="http://schemas.microsoft.com/office/powerpoint/2010/main" val="143970817"/>
      </p:ext>
    </p:extLst>
  </p:cSld>
</p:sld>
</file>

<file path=ppt/slides/slide5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007C860-DA5E-4B4B-9FF0-F8D88632716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A6A43DC-EB5A-4A4B-8D53-A9C1256196E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Needles may be used for a variety of purposes to include: intravenous therapy and — continued</a:t>
            </a:r>
          </a:p>
        </p:txBody>
      </p:sp>
      <p:sp>
        <p:nvSpPr>
          <p:cNvPr id="3" name="">
            <a:extLst xmlns:a="http://schemas.openxmlformats.org/drawingml/2006/main">
              <a:ext uri="{FF2B5EF4-FFF2-40B4-BE49-F238E27FC236}">
                <a16:creationId xmlns:a16="http://schemas.microsoft.com/office/drawing/2014/main" id="{604597C3-4FBB-43EA-ADD0-0CAF9F7CDFA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1A41666-2CD0-4A97-A157-3446E6D2F3E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59</a:t>
            </a:r>
          </a:p>
        </p:txBody>
      </p:sp>
      <p:sp>
        <p:nvSpPr>
          <p:cNvPr id="5" name="">
            <a:extLst xmlns:a="http://schemas.openxmlformats.org/drawingml/2006/main">
              <a:ext uri="{FF2B5EF4-FFF2-40B4-BE49-F238E27FC236}">
                <a16:creationId xmlns:a16="http://schemas.microsoft.com/office/drawing/2014/main" id="{DA5B351F-54B9-473C-B80C-41593862310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Available Needle Sizes: range from 18 gauge through 29 gauge in all lengths 1⁄2 inch to 3 inch.</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average needle for blood draw ranges from 18 gauge to 23 gauge and is about 1 inch in length.</a:t>
            </a:r>
          </a:p>
        </p:txBody>
      </p:sp>
      <p:sp>
        <p:nvSpPr>
          <p:cNvPr id="6" name="">
            <a:extLst xmlns:a="http://schemas.openxmlformats.org/drawingml/2006/main">
              <a:ext uri="{FF2B5EF4-FFF2-40B4-BE49-F238E27FC236}">
                <a16:creationId xmlns:a16="http://schemas.microsoft.com/office/drawing/2014/main" id="{FC898CF3-C00C-42CD-835E-E84A59EEBE2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18D9EBD-19C3-4F6B-BB9C-FFB8D6E16CB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94</a:t>
            </a:r>
          </a:p>
        </p:txBody>
      </p:sp>
    </p:spTree>
    <p:extLst>
      <p:ext uri="{BB962C8B-B14F-4D97-AF65-F5344CB8AC3E}">
        <p14:creationId xmlns:p14="http://schemas.microsoft.com/office/powerpoint/2010/main" val="353221104"/>
      </p:ext>
    </p:extLst>
  </p:cSld>
</p:sld>
</file>

<file path=ppt/slides/slide6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6D33D7-F4BC-4C02-9C94-04883554DBF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DE26D28-6FFE-4FAE-8820-497A2DD3929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Butterfly / Steel Winged Needles</a:t>
            </a:r>
          </a:p>
        </p:txBody>
      </p:sp>
      <p:sp>
        <p:nvSpPr>
          <p:cNvPr id="3" name="">
            <a:extLst xmlns:a="http://schemas.openxmlformats.org/drawingml/2006/main">
              <a:ext uri="{FF2B5EF4-FFF2-40B4-BE49-F238E27FC236}">
                <a16:creationId xmlns:a16="http://schemas.microsoft.com/office/drawing/2014/main" id="{C4FD68D0-2C71-4822-ADB2-2A5C5CCC227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77D4B1A-FBCF-4722-A8A9-F9EE78A7B75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60</a:t>
            </a:r>
          </a:p>
        </p:txBody>
      </p:sp>
      <p:sp>
        <p:nvSpPr>
          <p:cNvPr id="5" name="">
            <a:extLst xmlns:a="http://schemas.openxmlformats.org/drawingml/2006/main">
              <a:ext uri="{FF2B5EF4-FFF2-40B4-BE49-F238E27FC236}">
                <a16:creationId xmlns:a16="http://schemas.microsoft.com/office/drawing/2014/main" id="{2C01D70D-556B-4C59-B2B2-B261F7839A0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25c% HACUTAINER at =7254 Butterfly needles (also known as a winged infusion set), are used to draw venous blood from children, and adults with difficult veins.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Butterfly needles can be attached directly to Vacutainers for multi-draws or to a syringe to draw blood directly.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Butterfly sizes vary but most are relatively small with 20 - 23 gauge being the most popular.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Because of the size of the needle, this type of needle is often requested as the process causes minimal pain to the patient.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Newer protective types may offer the capability that after use the needle can be completely retracted or covered by a protective shield that securely locks into place.</a:t>
            </a:r>
          </a:p>
        </p:txBody>
      </p:sp>
      <p:sp>
        <p:nvSpPr>
          <p:cNvPr id="6" name="">
            <a:extLst xmlns:a="http://schemas.openxmlformats.org/drawingml/2006/main">
              <a:ext uri="{FF2B5EF4-FFF2-40B4-BE49-F238E27FC236}">
                <a16:creationId xmlns:a16="http://schemas.microsoft.com/office/drawing/2014/main" id="{654265BC-8F78-4382-BF22-0C0C569CA24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9AA4D1F-FFC6-400A-814C-3F8938C0FA5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95</a:t>
            </a:r>
          </a:p>
        </p:txBody>
      </p:sp>
    </p:spTree>
    <p:extLst>
      <p:ext uri="{BB962C8B-B14F-4D97-AF65-F5344CB8AC3E}">
        <p14:creationId xmlns:p14="http://schemas.microsoft.com/office/powerpoint/2010/main" val="62850876"/>
      </p:ext>
    </p:extLst>
  </p:cSld>
</p:sld>
</file>

<file path=ppt/slides/slide6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ADD2E2-1FE9-4A5F-A936-BC1186F7A77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2615DB7-5E1E-4E5E-A09C-49D553A846A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Butterfly / Steel Winged Needles — continued</a:t>
            </a:r>
          </a:p>
        </p:txBody>
      </p:sp>
      <p:sp>
        <p:nvSpPr>
          <p:cNvPr id="3" name="">
            <a:extLst xmlns:a="http://schemas.openxmlformats.org/drawingml/2006/main">
              <a:ext uri="{FF2B5EF4-FFF2-40B4-BE49-F238E27FC236}">
                <a16:creationId xmlns:a16="http://schemas.microsoft.com/office/drawing/2014/main" id="{384C0948-1E22-47CE-BE69-CFD6C73E20F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7A45236-1338-4E7A-BBC3-0E25A5CE286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61</a:t>
            </a:r>
          </a:p>
        </p:txBody>
      </p:sp>
      <p:sp>
        <p:nvSpPr>
          <p:cNvPr id="5" name="">
            <a:extLst xmlns:a="http://schemas.openxmlformats.org/drawingml/2006/main">
              <a:ext uri="{FF2B5EF4-FFF2-40B4-BE49-F238E27FC236}">
                <a16:creationId xmlns:a16="http://schemas.microsoft.com/office/drawing/2014/main" id="{ED8C2D66-D92B-4BAF-965F-DD7D185B47C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Butterfly needle may also be used for short term infusion therapy.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Due the fact the steel needle may be left in for up to 24 hours (see your company's policy), more irritation and possible mechanical phlebitis may occur, therefore the needle must be secured firmly and securely.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(Often times, a Butterfly needle that is utilized as an IV type of needlecatheter for intravenous infusion therapy may be rotated 180 degrees so that the bevel of the needle is actually in the center of the lumen of the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vein rather than it being pushed towards the top of the vein which may cause discomfort and or prevent adequate infusion flow.</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method is only used by experienced IV personnel..</a:t>
            </a:r>
          </a:p>
        </p:txBody>
      </p:sp>
      <p:sp>
        <p:nvSpPr>
          <p:cNvPr id="6" name="">
            <a:extLst xmlns:a="http://schemas.openxmlformats.org/drawingml/2006/main">
              <a:ext uri="{FF2B5EF4-FFF2-40B4-BE49-F238E27FC236}">
                <a16:creationId xmlns:a16="http://schemas.microsoft.com/office/drawing/2014/main" id="{93B83125-0363-4D96-A0CC-7DE7CB93633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8B58762-B171-45DB-AA5A-21BCE7207DE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95</a:t>
            </a:r>
          </a:p>
        </p:txBody>
      </p:sp>
    </p:spTree>
    <p:extLst>
      <p:ext uri="{BB962C8B-B14F-4D97-AF65-F5344CB8AC3E}">
        <p14:creationId xmlns:p14="http://schemas.microsoft.com/office/powerpoint/2010/main" val="1217861051"/>
      </p:ext>
    </p:extLst>
  </p:cSld>
</p:sld>
</file>

<file path=ppt/slides/slide6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5CE1DD-0FC6-42DE-92C5-1E419F9F029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E600832-9F22-42D9-887A-B5F7EB51B8C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Butterfly / Steel Winged Needles — continued</a:t>
            </a:r>
          </a:p>
        </p:txBody>
      </p:sp>
      <p:sp>
        <p:nvSpPr>
          <p:cNvPr id="3" name="">
            <a:extLst xmlns:a="http://schemas.openxmlformats.org/drawingml/2006/main">
              <a:ext uri="{FF2B5EF4-FFF2-40B4-BE49-F238E27FC236}">
                <a16:creationId xmlns:a16="http://schemas.microsoft.com/office/drawing/2014/main" id="{E8C820D5-0814-4617-BDEC-655DA38EEDB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00C6AEF-E3EE-4AD5-99EF-6BC0E6D639F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62</a:t>
            </a:r>
          </a:p>
        </p:txBody>
      </p:sp>
      <p:sp>
        <p:nvSpPr>
          <p:cNvPr id="5" name="">
            <a:extLst xmlns:a="http://schemas.openxmlformats.org/drawingml/2006/main">
              <a:ext uri="{FF2B5EF4-FFF2-40B4-BE49-F238E27FC236}">
                <a16:creationId xmlns:a16="http://schemas.microsoft.com/office/drawing/2014/main" id="{FB4816D2-8991-4815-B5FA-019E714C27C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Steel needles with wings, scalp needles, or butterfly needles are generally used for: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*Infants and small children *Small or torturous veins as in the elderly *Short term IV therapy (24 hours) *Heparin locks Advantages *Simple and easy to use *Relatively painless insertion *Wings prevent touch</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contamination Disadvantages * Less stable *Not for viscous fluid administration *Unsuitable for long-term therapy *Easily punctures the vein wall causing infiltration *Increased incidence of mechanical phlebitis</a:t>
            </a:r>
          </a:p>
        </p:txBody>
      </p:sp>
      <p:sp>
        <p:nvSpPr>
          <p:cNvPr id="6" name="">
            <a:extLst xmlns:a="http://schemas.openxmlformats.org/drawingml/2006/main">
              <a:ext uri="{FF2B5EF4-FFF2-40B4-BE49-F238E27FC236}">
                <a16:creationId xmlns:a16="http://schemas.microsoft.com/office/drawing/2014/main" id="{D08E61CE-DA2C-44FB-9E7D-D4B4BEB67DF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29DE6DB-91C9-4248-9F8D-91031BB6052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95</a:t>
            </a:r>
          </a:p>
        </p:txBody>
      </p:sp>
    </p:spTree>
    <p:extLst>
      <p:ext uri="{BB962C8B-B14F-4D97-AF65-F5344CB8AC3E}">
        <p14:creationId xmlns:p14="http://schemas.microsoft.com/office/powerpoint/2010/main" val="1112888850"/>
      </p:ext>
    </p:extLst>
  </p:cSld>
</p:sld>
</file>

<file path=ppt/slides/slide6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BF2E4C3-3120-44A9-86A4-BF660A0BC89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D7B0312-FEA9-46DE-BAF1-B57A0CC51B6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*Stable catheter</a:t>
            </a:r>
          </a:p>
        </p:txBody>
      </p:sp>
      <p:sp>
        <p:nvSpPr>
          <p:cNvPr id="3" name="">
            <a:extLst xmlns:a="http://schemas.openxmlformats.org/drawingml/2006/main">
              <a:ext uri="{FF2B5EF4-FFF2-40B4-BE49-F238E27FC236}">
                <a16:creationId xmlns:a16="http://schemas.microsoft.com/office/drawing/2014/main" id="{21861650-0E3E-4A05-BE68-EA066EAD1D7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92E8640-7388-4B49-AE38-DE3CD42CF8F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63</a:t>
            </a:r>
          </a:p>
        </p:txBody>
      </p:sp>
      <p:sp>
        <p:nvSpPr>
          <p:cNvPr id="5" name="">
            <a:extLst xmlns:a="http://schemas.openxmlformats.org/drawingml/2006/main">
              <a:ext uri="{FF2B5EF4-FFF2-40B4-BE49-F238E27FC236}">
                <a16:creationId xmlns:a16="http://schemas.microsoft.com/office/drawing/2014/main" id="{715A33C8-5739-4093-BD2D-415B55EBBCD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*Permits insertion of catheter into the SVC, or heart via a peripheral route.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Disadvantages * Increased risk of catheter emboli if needle is not secured or if catheter is withdrawn through the needle.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*Occurrence of bleeding after withdrawal of needle *Catheter supports infection and increased incidence of phlebitis IV Start Kit An IV Start Kit is often used as it provides most if not all of the required items needed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to start an IV except for the actual IV catheter which is generally separate and that which is connected to it such a an IV tubing or a catheter cap device such as the Heparin Lock.</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It is also cost effective and costs may vary depending on the contents of the kit and the manufacturer.</a:t>
            </a:r>
          </a:p>
        </p:txBody>
      </p:sp>
      <p:sp>
        <p:nvSpPr>
          <p:cNvPr id="6" name="">
            <a:extLst xmlns:a="http://schemas.openxmlformats.org/drawingml/2006/main">
              <a:ext uri="{FF2B5EF4-FFF2-40B4-BE49-F238E27FC236}">
                <a16:creationId xmlns:a16="http://schemas.microsoft.com/office/drawing/2014/main" id="{9B28704F-3075-4AD2-B410-2BBA9EBA617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FD923A8-7611-446D-B26D-063F450B62E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96</a:t>
            </a:r>
          </a:p>
        </p:txBody>
      </p:sp>
    </p:spTree>
    <p:extLst>
      <p:ext uri="{BB962C8B-B14F-4D97-AF65-F5344CB8AC3E}">
        <p14:creationId xmlns:p14="http://schemas.microsoft.com/office/powerpoint/2010/main" val="2050996961"/>
      </p:ext>
    </p:extLst>
  </p:cSld>
</p:sld>
</file>

<file path=ppt/slides/slide6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809BA4D-389E-440C-B9EF-800D3B935C5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05CB069-DE23-4DD1-8724-E9E4A697EDC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*Stable catheter — continued</a:t>
            </a:r>
          </a:p>
        </p:txBody>
      </p:sp>
      <p:sp>
        <p:nvSpPr>
          <p:cNvPr id="3" name="">
            <a:extLst xmlns:a="http://schemas.openxmlformats.org/drawingml/2006/main">
              <a:ext uri="{FF2B5EF4-FFF2-40B4-BE49-F238E27FC236}">
                <a16:creationId xmlns:a16="http://schemas.microsoft.com/office/drawing/2014/main" id="{2EF15E23-8DBF-484B-B5A9-7C22DA72D15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0EA8FD1-8E00-4234-973D-06316F429D9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64</a:t>
            </a:r>
          </a:p>
        </p:txBody>
      </p:sp>
      <p:sp>
        <p:nvSpPr>
          <p:cNvPr id="5" name="">
            <a:extLst xmlns:a="http://schemas.openxmlformats.org/drawingml/2006/main">
              <a:ext uri="{FF2B5EF4-FFF2-40B4-BE49-F238E27FC236}">
                <a16:creationId xmlns:a16="http://schemas.microsoft.com/office/drawing/2014/main" id="{E10B217D-C6E7-48AC-AD53-431199F1D78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Each kit generally comes with the following: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 latex-free tourniquet, 1 alcohol prep pad, 1 Betadine pad or swab, 1 transparent dressing, a gauze sponges (2" x 2'), a 1 tape strip (1/2" × 4"), and 1 dressing change label.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Sterile gloves may be added to the IV Start Kit but at a greater expense.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Tubing Intravenous (IV) tubing lines are thin, flexible plastic lines that run from the IV bottle or bag into the intravenous catheter within the patient.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Fluids are given slowly (infused) based on the speed of the infusion pump or adjusting the rate of the tubing by a roller clamp on the tubing.</a:t>
            </a:r>
          </a:p>
        </p:txBody>
      </p:sp>
      <p:sp>
        <p:nvSpPr>
          <p:cNvPr id="6" name="">
            <a:extLst xmlns:a="http://schemas.openxmlformats.org/drawingml/2006/main">
              <a:ext uri="{FF2B5EF4-FFF2-40B4-BE49-F238E27FC236}">
                <a16:creationId xmlns:a16="http://schemas.microsoft.com/office/drawing/2014/main" id="{CBB5F487-7235-4EC8-B561-5511A5C548E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10F55CA-F918-4515-9B0A-EBA27380257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96</a:t>
            </a:r>
          </a:p>
        </p:txBody>
      </p:sp>
    </p:spTree>
    <p:extLst>
      <p:ext uri="{BB962C8B-B14F-4D97-AF65-F5344CB8AC3E}">
        <p14:creationId xmlns:p14="http://schemas.microsoft.com/office/powerpoint/2010/main" val="1908845714"/>
      </p:ext>
    </p:extLst>
  </p:cSld>
</p:sld>
</file>

<file path=ppt/slides/slide6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BB5156-A58F-42DA-8210-99FDB9DD823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4187C60-5B40-493A-A0E1-FED5136E905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*Stable catheter — continued</a:t>
            </a:r>
          </a:p>
        </p:txBody>
      </p:sp>
      <p:sp>
        <p:nvSpPr>
          <p:cNvPr id="3" name="">
            <a:extLst xmlns:a="http://schemas.openxmlformats.org/drawingml/2006/main">
              <a:ext uri="{FF2B5EF4-FFF2-40B4-BE49-F238E27FC236}">
                <a16:creationId xmlns:a16="http://schemas.microsoft.com/office/drawing/2014/main" id="{AAA5C640-28D4-47F5-BB23-B4A1B56B1D5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1001B6E-BA9F-441C-B29E-F1A25CF76F0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65</a:t>
            </a:r>
          </a:p>
        </p:txBody>
      </p:sp>
      <p:sp>
        <p:nvSpPr>
          <p:cNvPr id="5" name="">
            <a:extLst xmlns:a="http://schemas.openxmlformats.org/drawingml/2006/main">
              <a:ext uri="{FF2B5EF4-FFF2-40B4-BE49-F238E27FC236}">
                <a16:creationId xmlns:a16="http://schemas.microsoft.com/office/drawing/2014/main" id="{7A16D119-91EE-4AFA-9FC5-C1E13071950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Standard sets often have a Y-site from needle adapter for drug injections or piggybacks.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Sets vary from very short 12-18 inches up to 100" or more in length Standard sets for basic fluid infusion include a universal spike with drip chamber of 10, 15, or 60 drops per mL to flow.</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a glass bottle is used, the IV tubing must allow for venting of air for the fluid to flow freely.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Primary Sets are called "Administration" sets can be used with IV pumps or used by themselves for gravity infusions.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"Extension" sets are used close to the patients IV site and they can come in numerous configurations.</a:t>
            </a:r>
          </a:p>
        </p:txBody>
      </p:sp>
      <p:sp>
        <p:nvSpPr>
          <p:cNvPr id="6" name="">
            <a:extLst xmlns:a="http://schemas.openxmlformats.org/drawingml/2006/main">
              <a:ext uri="{FF2B5EF4-FFF2-40B4-BE49-F238E27FC236}">
                <a16:creationId xmlns:a16="http://schemas.microsoft.com/office/drawing/2014/main" id="{25B02863-A56E-463C-BE90-FEEBF36DC39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9602585-6478-42A5-AC84-C6438D4F8F9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96</a:t>
            </a:r>
          </a:p>
        </p:txBody>
      </p:sp>
    </p:spTree>
    <p:extLst>
      <p:ext uri="{BB962C8B-B14F-4D97-AF65-F5344CB8AC3E}">
        <p14:creationId xmlns:p14="http://schemas.microsoft.com/office/powerpoint/2010/main" val="2049729250"/>
      </p:ext>
    </p:extLst>
  </p:cSld>
</p:sld>
</file>

<file path=ppt/slides/slide6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51C741-FD52-4672-BC77-54BF5EB7EA9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313076B-13B8-4B70-94CF-1E48144BC9D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Poles and Stands</a:t>
            </a:r>
          </a:p>
        </p:txBody>
      </p:sp>
      <p:sp>
        <p:nvSpPr>
          <p:cNvPr id="3" name="">
            <a:extLst xmlns:a="http://schemas.openxmlformats.org/drawingml/2006/main">
              <a:ext uri="{FF2B5EF4-FFF2-40B4-BE49-F238E27FC236}">
                <a16:creationId xmlns:a16="http://schemas.microsoft.com/office/drawing/2014/main" id="{6AD5FD2E-C23C-421C-8BDE-560FE6B7A17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D7C65F65-B06B-459C-A342-17E478BB2CB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66</a:t>
            </a:r>
          </a:p>
        </p:txBody>
      </p:sp>
      <p:sp>
        <p:nvSpPr>
          <p:cNvPr id="5" name="">
            <a:extLst xmlns:a="http://schemas.openxmlformats.org/drawingml/2006/main">
              <a:ext uri="{FF2B5EF4-FFF2-40B4-BE49-F238E27FC236}">
                <a16:creationId xmlns:a16="http://schemas.microsoft.com/office/drawing/2014/main" id="{02EE5BAA-37E8-42E6-AD0F-20D2FA29EE4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Most IV poles a manufactured out of strong plastic alloys or metal such as aluminum which is chrome plated.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Most poles extend in telescoping height and feature hooks for holding IV bags.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IV poles easily roll with casters and may be lockable.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As an alternative, portable, lightweight, and collapsible light alloy poles are available for patients receiving short duration/low-volume gravity fed infusions (up to 500cc).</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These IV poles are designed to eliminate the frustration of retrieving, cleaning, bagging, and tagging old IV poles.</a:t>
            </a:r>
          </a:p>
        </p:txBody>
      </p:sp>
      <p:sp>
        <p:nvSpPr>
          <p:cNvPr id="6" name="">
            <a:extLst xmlns:a="http://schemas.openxmlformats.org/drawingml/2006/main">
              <a:ext uri="{FF2B5EF4-FFF2-40B4-BE49-F238E27FC236}">
                <a16:creationId xmlns:a16="http://schemas.microsoft.com/office/drawing/2014/main" id="{87F285BD-C832-45BC-A78F-C4823F66617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F87D867-101A-4CCF-A498-48F38A551E4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97</a:t>
            </a:r>
          </a:p>
        </p:txBody>
      </p:sp>
    </p:spTree>
    <p:extLst>
      <p:ext uri="{BB962C8B-B14F-4D97-AF65-F5344CB8AC3E}">
        <p14:creationId xmlns:p14="http://schemas.microsoft.com/office/powerpoint/2010/main" val="383790137"/>
      </p:ext>
    </p:extLst>
  </p:cSld>
</p:sld>
</file>

<file path=ppt/slides/slide6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8BCFA8D-3C0C-426A-A61C-C0B1CCFD753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6D7CFAA-CDA2-4CB4-97EB-55518776E8C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Poles and Stands — continued</a:t>
            </a:r>
          </a:p>
        </p:txBody>
      </p:sp>
      <p:sp>
        <p:nvSpPr>
          <p:cNvPr id="3" name="">
            <a:extLst xmlns:a="http://schemas.openxmlformats.org/drawingml/2006/main">
              <a:ext uri="{FF2B5EF4-FFF2-40B4-BE49-F238E27FC236}">
                <a16:creationId xmlns:a16="http://schemas.microsoft.com/office/drawing/2014/main" id="{9D6EBBA2-A09A-47B9-9A04-E0E0819ACDE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F17088C-2F43-40D6-B160-DDFA8DECB0B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67</a:t>
            </a:r>
          </a:p>
        </p:txBody>
      </p:sp>
      <p:sp>
        <p:nvSpPr>
          <p:cNvPr id="5" name="">
            <a:extLst xmlns:a="http://schemas.openxmlformats.org/drawingml/2006/main">
              <a:ext uri="{FF2B5EF4-FFF2-40B4-BE49-F238E27FC236}">
                <a16:creationId xmlns:a16="http://schemas.microsoft.com/office/drawing/2014/main" id="{6F243E64-25A2-4AEB-BD00-AD79A0E1BEA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These innovative poles are cost-effective, portable, collapsible, lightweight, sturdy and easy to use.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They can be unfolded in just seconds and their innovative tripod design allows them to be used on any floor or tabletop.</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 assembly is required.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Aluminum construction allows for 'pitching' into recycled waste when IV pole is no longer needed.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BODA IV Pumps An intravenous (IV) infusion pump is a machine that carefully controls the rate at which IV fluids and/or IV medications are given.</a:t>
            </a:r>
          </a:p>
        </p:txBody>
      </p:sp>
      <p:sp>
        <p:nvSpPr>
          <p:cNvPr id="6" name="">
            <a:extLst xmlns:a="http://schemas.openxmlformats.org/drawingml/2006/main">
              <a:ext uri="{FF2B5EF4-FFF2-40B4-BE49-F238E27FC236}">
                <a16:creationId xmlns:a16="http://schemas.microsoft.com/office/drawing/2014/main" id="{D7375C05-465E-478E-BAFA-2072620698D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6C9E690-2044-445B-AD6F-2CA696DD453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97</a:t>
            </a:r>
          </a:p>
        </p:txBody>
      </p:sp>
    </p:spTree>
    <p:extLst>
      <p:ext uri="{BB962C8B-B14F-4D97-AF65-F5344CB8AC3E}">
        <p14:creationId xmlns:p14="http://schemas.microsoft.com/office/powerpoint/2010/main" val="1566811490"/>
      </p:ext>
    </p:extLst>
  </p:cSld>
</p:sld>
</file>

<file path=ppt/slides/slide6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DEB4049-BF20-4546-9D6D-5A688702D4D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CD8AFFB-7BFF-4517-B0BF-F1ACA4D646B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Poles and Stands — continued</a:t>
            </a:r>
          </a:p>
        </p:txBody>
      </p:sp>
      <p:sp>
        <p:nvSpPr>
          <p:cNvPr id="3" name="">
            <a:extLst xmlns:a="http://schemas.openxmlformats.org/drawingml/2006/main">
              <a:ext uri="{FF2B5EF4-FFF2-40B4-BE49-F238E27FC236}">
                <a16:creationId xmlns:a16="http://schemas.microsoft.com/office/drawing/2014/main" id="{989E08F1-5EBD-48F6-8AB9-436BD8D9649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4EF4C43-A6A9-4344-9DB3-EBBC8C829E1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68</a:t>
            </a:r>
          </a:p>
        </p:txBody>
      </p:sp>
      <p:sp>
        <p:nvSpPr>
          <p:cNvPr id="5" name="">
            <a:extLst xmlns:a="http://schemas.openxmlformats.org/drawingml/2006/main">
              <a:ext uri="{FF2B5EF4-FFF2-40B4-BE49-F238E27FC236}">
                <a16:creationId xmlns:a16="http://schemas.microsoft.com/office/drawing/2014/main" id="{D4022BBE-4C2F-49F9-9EE6-C9D24FEC0C6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Intravenous (IV) infusion pumps are used as long as precise control of the intravenous infusion rate is needed.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These pumps are very reliable.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Mechanical problems are possible, but very rare.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the IV infusion pump does not work correctly, an alarm will sound.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Many pumps require their tubing be used only.</a:t>
            </a:r>
          </a:p>
        </p:txBody>
      </p:sp>
      <p:sp>
        <p:nvSpPr>
          <p:cNvPr id="6" name="">
            <a:extLst xmlns:a="http://schemas.openxmlformats.org/drawingml/2006/main">
              <a:ext uri="{FF2B5EF4-FFF2-40B4-BE49-F238E27FC236}">
                <a16:creationId xmlns:a16="http://schemas.microsoft.com/office/drawing/2014/main" id="{8151EA71-6EC0-4D57-9E83-FE66713A621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E7ADE05-966D-4699-96A1-C6DB93EC4E9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97</a:t>
            </a:r>
          </a:p>
        </p:txBody>
      </p:sp>
    </p:spTree>
    <p:extLst>
      <p:ext uri="{BB962C8B-B14F-4D97-AF65-F5344CB8AC3E}">
        <p14:creationId xmlns:p14="http://schemas.microsoft.com/office/powerpoint/2010/main" val="519676330"/>
      </p:ext>
    </p:extLst>
  </p:cSld>
</p:sld>
</file>

<file path=ppt/slides/slide6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B4B638-C3C9-46C7-970C-E9C610AB6AC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0A27C16-CA71-45C3-AA3A-2516E1B7C62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Poles and Stands — continued</a:t>
            </a:r>
          </a:p>
        </p:txBody>
      </p:sp>
      <p:sp>
        <p:nvSpPr>
          <p:cNvPr id="3" name="">
            <a:extLst xmlns:a="http://schemas.openxmlformats.org/drawingml/2006/main">
              <a:ext uri="{FF2B5EF4-FFF2-40B4-BE49-F238E27FC236}">
                <a16:creationId xmlns:a16="http://schemas.microsoft.com/office/drawing/2014/main" id="{A801E995-5D36-4176-B37E-F9C66E65A30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DC57F3AA-6EAB-4625-B784-95AB0A7FDD1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69</a:t>
            </a:r>
          </a:p>
        </p:txBody>
      </p:sp>
      <p:sp>
        <p:nvSpPr>
          <p:cNvPr id="5" name="">
            <a:extLst xmlns:a="http://schemas.openxmlformats.org/drawingml/2006/main">
              <a:ext uri="{FF2B5EF4-FFF2-40B4-BE49-F238E27FC236}">
                <a16:creationId xmlns:a16="http://schemas.microsoft.com/office/drawing/2014/main" id="{2EC807DD-BF33-4C52-9F14-487398A9A8B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IV Solutions Examples include: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9% NaCI (Normal Saline) Dextrose 5% Water 0.45% NaCI (1/2 Normal Saline) Dextrose 10% Water 0.333% NaCl (1/3 Normal Saline) 0.225% NaCI (1/4 Normal Saline) Lactacted Ringers Solution Bag volume sizes include;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50cc, 100cc, 250cc, 500cc, 1000cc and larger 98</a:t>
            </a:r>
          </a:p>
        </p:txBody>
      </p:sp>
      <p:sp>
        <p:nvSpPr>
          <p:cNvPr id="6" name="">
            <a:extLst xmlns:a="http://schemas.openxmlformats.org/drawingml/2006/main">
              <a:ext uri="{FF2B5EF4-FFF2-40B4-BE49-F238E27FC236}">
                <a16:creationId xmlns:a16="http://schemas.microsoft.com/office/drawing/2014/main" id="{7912FFAE-5C72-4B20-B221-F34D452EAEB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D39E73A-5622-4C3A-8E5D-7189321CC9F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97</a:t>
            </a:r>
          </a:p>
        </p:txBody>
      </p:sp>
    </p:spTree>
    <p:extLst>
      <p:ext uri="{BB962C8B-B14F-4D97-AF65-F5344CB8AC3E}">
        <p14:creationId xmlns:p14="http://schemas.microsoft.com/office/powerpoint/2010/main" val="29603779"/>
      </p:ext>
    </p:extLst>
  </p:cSld>
</p:sld>
</file>

<file path=ppt/slides/slide7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7B234E-2F96-471D-A24C-DC10D6E971C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B69C33A-7239-4C14-AC7D-7657AD45039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Selection of Venipuncture Site</a:t>
            </a:r>
          </a:p>
        </p:txBody>
      </p:sp>
      <p:sp>
        <p:nvSpPr>
          <p:cNvPr id="3" name="">
            <a:extLst xmlns:a="http://schemas.openxmlformats.org/drawingml/2006/main">
              <a:ext uri="{FF2B5EF4-FFF2-40B4-BE49-F238E27FC236}">
                <a16:creationId xmlns:a16="http://schemas.microsoft.com/office/drawing/2014/main" id="{0F8A71B3-F60E-4CA6-8EF4-94C88D6CBD3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BC89E09-D249-4DDC-BC74-5A4849BE0E8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70</a:t>
            </a:r>
          </a:p>
        </p:txBody>
      </p:sp>
      <p:sp>
        <p:nvSpPr>
          <p:cNvPr id="5" name="">
            <a:extLst xmlns:a="http://schemas.openxmlformats.org/drawingml/2006/main">
              <a:ext uri="{FF2B5EF4-FFF2-40B4-BE49-F238E27FC236}">
                <a16:creationId xmlns:a16="http://schemas.microsoft.com/office/drawing/2014/main" id="{FD61343C-335E-41DA-B097-33D1676AEFD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Considerations *Length of Therapy *Short-term therapy should if possible be used in the non-dominant hand or arm.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*Long term therapy should start low (distal) on the extremity and alternate arms.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Avoid sites close to previous venipuncture, and avoid areas of flexion, and bones, and joints.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*Note how many rotations will be needed if possible *Patient age and diagnosis *Irritating solutions (Highly acidic, alkaline or hypertonic solutions) choose larger veins for increased blood flow (Dilutional) *Viscous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solutions choose larger veins to accommodate a larger lumen catheter / needle.</a:t>
            </a:r>
          </a:p>
        </p:txBody>
      </p:sp>
      <p:sp>
        <p:nvSpPr>
          <p:cNvPr id="6" name="">
            <a:extLst xmlns:a="http://schemas.openxmlformats.org/drawingml/2006/main">
              <a:ext uri="{FF2B5EF4-FFF2-40B4-BE49-F238E27FC236}">
                <a16:creationId xmlns:a16="http://schemas.microsoft.com/office/drawing/2014/main" id="{19D80E2D-ADC3-4BF0-A447-F55DB3CEA3F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BD403E8-B9BC-40FA-B22D-2757C31CAF7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98</a:t>
            </a:r>
          </a:p>
        </p:txBody>
      </p:sp>
    </p:spTree>
    <p:extLst>
      <p:ext uri="{BB962C8B-B14F-4D97-AF65-F5344CB8AC3E}">
        <p14:creationId xmlns:p14="http://schemas.microsoft.com/office/powerpoint/2010/main" val="1163369943"/>
      </p:ext>
    </p:extLst>
  </p:cSld>
</p:sld>
</file>

<file path=ppt/slides/slide7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57E49A-C01C-451C-AE2F-97DB58EEA1F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090B935-EF8C-4F27-A6E0-2F3C2CB7967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Selection of Venipuncture Site — continued</a:t>
            </a:r>
          </a:p>
        </p:txBody>
      </p:sp>
      <p:sp>
        <p:nvSpPr>
          <p:cNvPr id="3" name="">
            <a:extLst xmlns:a="http://schemas.openxmlformats.org/drawingml/2006/main">
              <a:ext uri="{FF2B5EF4-FFF2-40B4-BE49-F238E27FC236}">
                <a16:creationId xmlns:a16="http://schemas.microsoft.com/office/drawing/2014/main" id="{CC96FAD4-90A5-4CF6-9F90-001E09016EB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35176789-7557-4132-AFD4-EC9A10F9CA6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71</a:t>
            </a:r>
          </a:p>
        </p:txBody>
      </p:sp>
      <p:sp>
        <p:nvSpPr>
          <p:cNvPr id="5" name="">
            <a:extLst xmlns:a="http://schemas.openxmlformats.org/drawingml/2006/main">
              <a:ext uri="{FF2B5EF4-FFF2-40B4-BE49-F238E27FC236}">
                <a16:creationId xmlns:a16="http://schemas.microsoft.com/office/drawing/2014/main" id="{BFC28630-7458-43E6-B193-81DB9AC892C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Size of needle/catheter *Choose large lumen catheter for viscous solutions (16-18 gauge) *Choose smaller size catheter / needle for smaller veins, hydrating solutions, and antibiotics (20-24 gauge) * Always choose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smallest possible catheter/needle in largest suitable vein.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Rate of Infusion *Small volume amounts over long infusion period may be delivered by a small gauge catheter/needle.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Large volume amounts infused over short infusion periods require larger gauge catheter/needle.</a:t>
            </a:r>
          </a:p>
        </p:txBody>
      </p:sp>
      <p:sp>
        <p:nvSpPr>
          <p:cNvPr id="6" name="">
            <a:extLst xmlns:a="http://schemas.openxmlformats.org/drawingml/2006/main">
              <a:ext uri="{FF2B5EF4-FFF2-40B4-BE49-F238E27FC236}">
                <a16:creationId xmlns:a16="http://schemas.microsoft.com/office/drawing/2014/main" id="{68CF0DC7-1827-49D5-B280-81AFC3153BE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F036E14-3CDC-4D7C-9A58-A0EE6F437FA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98</a:t>
            </a:r>
          </a:p>
        </p:txBody>
      </p:sp>
    </p:spTree>
    <p:extLst>
      <p:ext uri="{BB962C8B-B14F-4D97-AF65-F5344CB8AC3E}">
        <p14:creationId xmlns:p14="http://schemas.microsoft.com/office/powerpoint/2010/main" val="2088845167"/>
      </p:ext>
    </p:extLst>
  </p:cSld>
</p:sld>
</file>

<file path=ppt/slides/slide7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CB75C35-2870-4150-A21D-3961E8B6DE6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16A821A-9D2D-48DC-8893-657F5E47B55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Selection of Venipuncture Site — continued</a:t>
            </a:r>
          </a:p>
        </p:txBody>
      </p:sp>
      <p:sp>
        <p:nvSpPr>
          <p:cNvPr id="3" name="">
            <a:extLst xmlns:a="http://schemas.openxmlformats.org/drawingml/2006/main">
              <a:ext uri="{FF2B5EF4-FFF2-40B4-BE49-F238E27FC236}">
                <a16:creationId xmlns:a16="http://schemas.microsoft.com/office/drawing/2014/main" id="{CD6CF3DF-120E-4959-9FDB-6D1C7A8EC49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C10044C-4CB4-4757-AB86-03802F9F9CD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72</a:t>
            </a:r>
          </a:p>
        </p:txBody>
      </p:sp>
      <p:sp>
        <p:nvSpPr>
          <p:cNvPr id="5" name="">
            <a:extLst xmlns:a="http://schemas.openxmlformats.org/drawingml/2006/main">
              <a:ext uri="{FF2B5EF4-FFF2-40B4-BE49-F238E27FC236}">
                <a16:creationId xmlns:a16="http://schemas.microsoft.com/office/drawing/2014/main" id="{82D19AAE-A231-410B-A1A2-96D3F89A55A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Type of Needle or Catheter Chosen Butterfly Less stable, requires flat insertion site Short term IV therapy Emergency type access Able to accommodate torturous veins Comfortable insertion Over the Needle Catheter (ONC)</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Stable 99</a:t>
            </a:r>
          </a:p>
        </p:txBody>
      </p:sp>
      <p:sp>
        <p:nvSpPr>
          <p:cNvPr id="6" name="">
            <a:extLst xmlns:a="http://schemas.openxmlformats.org/drawingml/2006/main">
              <a:ext uri="{FF2B5EF4-FFF2-40B4-BE49-F238E27FC236}">
                <a16:creationId xmlns:a16="http://schemas.microsoft.com/office/drawing/2014/main" id="{4FA5E322-A4C7-4F90-99E8-15A5CA6196A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958A356-F0DD-46FE-88AB-AE6600B7670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98</a:t>
            </a:r>
          </a:p>
        </p:txBody>
      </p:sp>
    </p:spTree>
    <p:extLst>
      <p:ext uri="{BB962C8B-B14F-4D97-AF65-F5344CB8AC3E}">
        <p14:creationId xmlns:p14="http://schemas.microsoft.com/office/powerpoint/2010/main" val="1142761723"/>
      </p:ext>
    </p:extLst>
  </p:cSld>
</p:sld>
</file>

<file path=ppt/slides/slide7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1130D8-8526-424D-87C9-2EF4AFC0710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DA21983-B9E4-43FB-A1CE-7A2FDC18992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Long term IV therapy</a:t>
            </a:r>
          </a:p>
        </p:txBody>
      </p:sp>
      <p:sp>
        <p:nvSpPr>
          <p:cNvPr id="3" name="">
            <a:extLst xmlns:a="http://schemas.openxmlformats.org/drawingml/2006/main">
              <a:ext uri="{FF2B5EF4-FFF2-40B4-BE49-F238E27FC236}">
                <a16:creationId xmlns:a16="http://schemas.microsoft.com/office/drawing/2014/main" id="{F26A2553-5E02-453C-B8D1-6A4A67212CF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76F78C8-F631-4B93-AEE9-2C078914858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73</a:t>
            </a:r>
          </a:p>
        </p:txBody>
      </p:sp>
      <p:sp>
        <p:nvSpPr>
          <p:cNvPr id="5" name="">
            <a:extLst xmlns:a="http://schemas.openxmlformats.org/drawingml/2006/main">
              <a:ext uri="{FF2B5EF4-FFF2-40B4-BE49-F238E27FC236}">
                <a16:creationId xmlns:a16="http://schemas.microsoft.com/office/drawing/2014/main" id="{D8D6E55D-43F1-4531-909E-3C9D36D9997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May be utilized in areas of flexion Rapid solution delivery possible Comfortable insertion Inside the-Needle Catheter (INC) Stable May be used in areas of flexion Rapid solution administration Requires specialized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training to insert More discomfort on insertion More difficult to insert Condition of insertion areas Avoid paralyzed areas Avoid areas of nerve damage Avoid injured areas Avoid areas with shunts or grafts Avoid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irritated areas Avoid areas where there is an infection Avoid areas of surgical intervention (i.e.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mastectomy, axillary dissection) * Avoid bruised areas * Avoid areas below a previous infiltration or freshly removed catheter Palpation of the Vein Vein Selection *Use a light touch in examining the veins in the desired</a:t>
            </a:r>
          </a:p>
        </p:txBody>
      </p:sp>
      <p:sp>
        <p:nvSpPr>
          <p:cNvPr id="6" name="">
            <a:extLst xmlns:a="http://schemas.openxmlformats.org/drawingml/2006/main">
              <a:ext uri="{FF2B5EF4-FFF2-40B4-BE49-F238E27FC236}">
                <a16:creationId xmlns:a16="http://schemas.microsoft.com/office/drawing/2014/main" id="{532DC848-93F0-4CAC-9D91-BAD22E055E3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248B147-6439-4C2F-8CA6-FC560611D13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99</a:t>
            </a:r>
          </a:p>
        </p:txBody>
      </p:sp>
    </p:spTree>
    <p:extLst>
      <p:ext uri="{BB962C8B-B14F-4D97-AF65-F5344CB8AC3E}">
        <p14:creationId xmlns:p14="http://schemas.microsoft.com/office/powerpoint/2010/main" val="21011059"/>
      </p:ext>
    </p:extLst>
  </p:cSld>
</p:sld>
</file>

<file path=ppt/slides/slide7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DCB6685-AEDA-4BE9-B4B4-5A1BA0C0761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406A5D0-23B3-4533-968F-C961E5FBF74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Long term IV therapy — continued</a:t>
            </a:r>
          </a:p>
        </p:txBody>
      </p:sp>
      <p:sp>
        <p:nvSpPr>
          <p:cNvPr id="3" name="">
            <a:extLst xmlns:a="http://schemas.openxmlformats.org/drawingml/2006/main">
              <a:ext uri="{FF2B5EF4-FFF2-40B4-BE49-F238E27FC236}">
                <a16:creationId xmlns:a16="http://schemas.microsoft.com/office/drawing/2014/main" id="{39D1E68A-C984-4155-B5E6-2A79E14C533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C15D115-38F3-46BE-AB5D-973F99A09F0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74</a:t>
            </a:r>
          </a:p>
        </p:txBody>
      </p:sp>
      <p:sp>
        <p:nvSpPr>
          <p:cNvPr id="5" name="">
            <a:extLst xmlns:a="http://schemas.openxmlformats.org/drawingml/2006/main">
              <a:ext uri="{FF2B5EF4-FFF2-40B4-BE49-F238E27FC236}">
                <a16:creationId xmlns:a16="http://schemas.microsoft.com/office/drawing/2014/main" id="{F7340C6D-4231-4900-ABD3-8ACBE01BC0D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areas *Palpate the veins with and without a tourniquet in place *Palpate vein, feel for soft, full unobstructed vein *Feel for bouncing sensation over the vein *Avoid selecting a vein that feels hard, crooked, inflamed,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or irritated * Avoid areas of bifurcations, or bulges (valves) * Assess surrounding areas for varicosities, assess for circulation Vein Distention Apply tourniquet - Note: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Never tie the tourniquet in a knot, never apply tourniquet for an extended period of time.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tourniquet should be applied 4-6 inches above intended insertion site.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It should impede venous flow, but not impede arterial flow.</a:t>
            </a:r>
          </a:p>
        </p:txBody>
      </p:sp>
      <p:sp>
        <p:nvSpPr>
          <p:cNvPr id="6" name="">
            <a:extLst xmlns:a="http://schemas.openxmlformats.org/drawingml/2006/main">
              <a:ext uri="{FF2B5EF4-FFF2-40B4-BE49-F238E27FC236}">
                <a16:creationId xmlns:a16="http://schemas.microsoft.com/office/drawing/2014/main" id="{80A46045-81EC-4A22-AA16-DA771054206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7D32ADA-D891-46A3-AB45-259D52FADD2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99</a:t>
            </a:r>
          </a:p>
        </p:txBody>
      </p:sp>
    </p:spTree>
    <p:extLst>
      <p:ext uri="{BB962C8B-B14F-4D97-AF65-F5344CB8AC3E}">
        <p14:creationId xmlns:p14="http://schemas.microsoft.com/office/powerpoint/2010/main" val="666136005"/>
      </p:ext>
    </p:extLst>
  </p:cSld>
</p:sld>
</file>

<file path=ppt/slides/slide7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49240B-B1BE-4F2D-81E9-85233063E43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E56C2F8-0F77-4326-A7C2-43C8DD11818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Long term IV therapy — continued</a:t>
            </a:r>
          </a:p>
        </p:txBody>
      </p:sp>
      <p:sp>
        <p:nvSpPr>
          <p:cNvPr id="3" name="">
            <a:extLst xmlns:a="http://schemas.openxmlformats.org/drawingml/2006/main">
              <a:ext uri="{FF2B5EF4-FFF2-40B4-BE49-F238E27FC236}">
                <a16:creationId xmlns:a16="http://schemas.microsoft.com/office/drawing/2014/main" id="{CE314A42-DEE5-4636-830D-908855E35C4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38A267B2-02B8-4083-AB3A-6ED15CBA04E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75</a:t>
            </a:r>
          </a:p>
        </p:txBody>
      </p:sp>
      <p:sp>
        <p:nvSpPr>
          <p:cNvPr id="5" name="">
            <a:extLst xmlns:a="http://schemas.openxmlformats.org/drawingml/2006/main">
              <a:ext uri="{FF2B5EF4-FFF2-40B4-BE49-F238E27FC236}">
                <a16:creationId xmlns:a16="http://schemas.microsoft.com/office/drawing/2014/main" id="{A01F227C-B04B-4183-8CF2-594576E06A9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Palpate the vein, the vein should feel full, firm, and smooth ...</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then Remove the tourniquet !</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Procedure for difficult vein distention *Apply tourniquet, place arm in dependent position 100</a:t>
            </a:r>
          </a:p>
        </p:txBody>
      </p:sp>
      <p:sp>
        <p:nvSpPr>
          <p:cNvPr id="6" name="">
            <a:extLst xmlns:a="http://schemas.openxmlformats.org/drawingml/2006/main">
              <a:ext uri="{FF2B5EF4-FFF2-40B4-BE49-F238E27FC236}">
                <a16:creationId xmlns:a16="http://schemas.microsoft.com/office/drawing/2014/main" id="{5189E088-EC87-4173-BBC7-17BD6912E44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96C7CB0-0EDE-401C-A327-7D117E19D6C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99</a:t>
            </a:r>
          </a:p>
        </p:txBody>
      </p:sp>
    </p:spTree>
    <p:extLst>
      <p:ext uri="{BB962C8B-B14F-4D97-AF65-F5344CB8AC3E}">
        <p14:creationId xmlns:p14="http://schemas.microsoft.com/office/powerpoint/2010/main" val="81179716"/>
      </p:ext>
    </p:extLst>
  </p:cSld>
</p:sld>
</file>

<file path=ppt/slides/slide7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E72B70E-2CFC-4DFD-ABEB-FD0E5A44A85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E2AFB01-5364-4E14-BE2A-523A7B6BC92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Instruct patient to open and close fist</a:t>
            </a:r>
          </a:p>
        </p:txBody>
      </p:sp>
      <p:sp>
        <p:nvSpPr>
          <p:cNvPr id="3" name="">
            <a:extLst xmlns:a="http://schemas.openxmlformats.org/drawingml/2006/main">
              <a:ext uri="{FF2B5EF4-FFF2-40B4-BE49-F238E27FC236}">
                <a16:creationId xmlns:a16="http://schemas.microsoft.com/office/drawing/2014/main" id="{659D908B-981C-4120-9375-6120BBA46F0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69EB02B-0A0E-4E89-8F33-E9E3A99DCE0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76</a:t>
            </a:r>
          </a:p>
        </p:txBody>
      </p:sp>
      <p:sp>
        <p:nvSpPr>
          <p:cNvPr id="5" name="">
            <a:extLst xmlns:a="http://schemas.openxmlformats.org/drawingml/2006/main">
              <a:ext uri="{FF2B5EF4-FFF2-40B4-BE49-F238E27FC236}">
                <a16:creationId xmlns:a16="http://schemas.microsoft.com/office/drawing/2014/main" id="{FF3FAB2A-3CD9-4B67-8878-51D7D1275C6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*Gently tap vein above selected insertion site (Continue to tap until vein distends) *Tapping too hard can cause venous spasm Alternative Procedure *Wrap extremity in warm, moist towel for 10-20 minutes.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After vein distends apply tourniquet Preparation for Procedure Must have Physician's order 1.</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Gather supplies Select skin prep Obtain venipuncture equipment, and prime tubing as needed Prepare dressing and tape 2.</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Wash hands and apply personal protective equipment (gloves and three sided goggles) 3.</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Explain procedure to the patient 4.</a:t>
            </a:r>
          </a:p>
        </p:txBody>
      </p:sp>
      <p:sp>
        <p:nvSpPr>
          <p:cNvPr id="6" name="">
            <a:extLst xmlns:a="http://schemas.openxmlformats.org/drawingml/2006/main">
              <a:ext uri="{FF2B5EF4-FFF2-40B4-BE49-F238E27FC236}">
                <a16:creationId xmlns:a16="http://schemas.microsoft.com/office/drawing/2014/main" id="{3FF02591-2D3A-4D73-B475-DC7AD919735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C5129E2-2641-4BC9-8175-FF057208DD5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100</a:t>
            </a:r>
          </a:p>
        </p:txBody>
      </p:sp>
    </p:spTree>
    <p:extLst>
      <p:ext uri="{BB962C8B-B14F-4D97-AF65-F5344CB8AC3E}">
        <p14:creationId xmlns:p14="http://schemas.microsoft.com/office/powerpoint/2010/main" val="1987215273"/>
      </p:ext>
    </p:extLst>
  </p:cSld>
</p:sld>
</file>

<file path=ppt/slides/slide7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209030-EC68-424E-86B0-9D21CFCD0B4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E2CD68C-BEC4-42E2-8FDA-84F71CE435A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Instruct patient to open and close fist — continued</a:t>
            </a:r>
          </a:p>
        </p:txBody>
      </p:sp>
      <p:sp>
        <p:nvSpPr>
          <p:cNvPr id="3" name="">
            <a:extLst xmlns:a="http://schemas.openxmlformats.org/drawingml/2006/main">
              <a:ext uri="{FF2B5EF4-FFF2-40B4-BE49-F238E27FC236}">
                <a16:creationId xmlns:a16="http://schemas.microsoft.com/office/drawing/2014/main" id="{CAD5EF0B-28DD-4E9D-90E0-BAB665E7A08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DA08D5F3-B904-46E4-93D7-4FCA7D72E67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77</a:t>
            </a:r>
          </a:p>
        </p:txBody>
      </p:sp>
      <p:sp>
        <p:nvSpPr>
          <p:cNvPr id="5" name="">
            <a:extLst xmlns:a="http://schemas.openxmlformats.org/drawingml/2006/main">
              <a:ext uri="{FF2B5EF4-FFF2-40B4-BE49-F238E27FC236}">
                <a16:creationId xmlns:a16="http://schemas.microsoft.com/office/drawing/2014/main" id="{BC238CB1-A0FD-4CA3-AC99-ACF0EB57C94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there is excessive hair, clip, Do Not shave the area without Doctor's order 5.</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Apply tourniquet, choose selected vein (best location for type of IV) approximately 3-4" above selected insertion site Insertion Procedure With the tourniquet on the patient, palpate the vein to be used.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Cleanse the insertion site with an alcohol pad rubbing vigorously in concentric circles working from insertion site outwards about 2-3 inches.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For full decontamination, the alcohol should be allowed to air dry otherwise it may sting the puncture site and interfere with accurate blood test results.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Once site is cleansed, hold the needle (syringe, Butterfly, or Vacutainer types) at a 15-30 degree angle parallel with the vein.</a:t>
            </a:r>
          </a:p>
        </p:txBody>
      </p:sp>
      <p:sp>
        <p:nvSpPr>
          <p:cNvPr id="6" name="">
            <a:extLst xmlns:a="http://schemas.openxmlformats.org/drawingml/2006/main">
              <a:ext uri="{FF2B5EF4-FFF2-40B4-BE49-F238E27FC236}">
                <a16:creationId xmlns:a16="http://schemas.microsoft.com/office/drawing/2014/main" id="{033B8F17-F940-477B-8EE7-5F723227C39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5D1C1A1-289B-4C7F-8647-B74FC1CE4B1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100</a:t>
            </a:r>
          </a:p>
        </p:txBody>
      </p:sp>
    </p:spTree>
    <p:extLst>
      <p:ext uri="{BB962C8B-B14F-4D97-AF65-F5344CB8AC3E}">
        <p14:creationId xmlns:p14="http://schemas.microsoft.com/office/powerpoint/2010/main" val="1710068269"/>
      </p:ext>
    </p:extLst>
  </p:cSld>
</p:sld>
</file>

<file path=ppt/slides/slide7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E77687-7C5A-49EC-9B67-5DAD1B96B3C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207672C-55A0-4F6B-9449-022175C30E3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Instruct patient to open and close fist — continued</a:t>
            </a:r>
          </a:p>
        </p:txBody>
      </p:sp>
      <p:sp>
        <p:nvSpPr>
          <p:cNvPr id="3" name="">
            <a:extLst xmlns:a="http://schemas.openxmlformats.org/drawingml/2006/main">
              <a:ext uri="{FF2B5EF4-FFF2-40B4-BE49-F238E27FC236}">
                <a16:creationId xmlns:a16="http://schemas.microsoft.com/office/drawing/2014/main" id="{94FC49AF-6E05-41C5-8AA0-11DC9E36A75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37879CE-B7DB-4A63-BC0E-DAEEAFF352A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78</a:t>
            </a:r>
          </a:p>
        </p:txBody>
      </p:sp>
      <p:sp>
        <p:nvSpPr>
          <p:cNvPr id="5" name="">
            <a:extLst xmlns:a="http://schemas.openxmlformats.org/drawingml/2006/main">
              <a:ext uri="{FF2B5EF4-FFF2-40B4-BE49-F238E27FC236}">
                <a16:creationId xmlns:a16="http://schemas.microsoft.com/office/drawing/2014/main" id="{633BE2BB-9C43-407D-9AE2-496B7EA1F85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With the opposite hand, isolate the vein so the reduced slightly and the needle advanced just a little to assure the entire bevel is in the lumen of the vein does not roll.</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index finger may rest on the hub of the needle to 101-</a:t>
            </a:r>
          </a:p>
        </p:txBody>
      </p:sp>
      <p:sp>
        <p:nvSpPr>
          <p:cNvPr id="6" name="">
            <a:extLst xmlns:a="http://schemas.openxmlformats.org/drawingml/2006/main">
              <a:ext uri="{FF2B5EF4-FFF2-40B4-BE49-F238E27FC236}">
                <a16:creationId xmlns:a16="http://schemas.microsoft.com/office/drawing/2014/main" id="{D750A6CA-4F1C-42E3-847A-662BB127E9B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690D098-227B-4B71-ACFF-DBFA30506C7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100</a:t>
            </a:r>
          </a:p>
        </p:txBody>
      </p:sp>
    </p:spTree>
    <p:extLst>
      <p:ext uri="{BB962C8B-B14F-4D97-AF65-F5344CB8AC3E}">
        <p14:creationId xmlns:p14="http://schemas.microsoft.com/office/powerpoint/2010/main" val="1431139724"/>
      </p:ext>
    </p:extLst>
  </p:cSld>
</p:sld>
</file>

<file path=ppt/slides/slide7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5E05E7-640E-44B5-9592-62947C82C81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4992F43-F098-413D-B90C-19E22FEEB5A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may be vein.</a:t>
            </a:r>
          </a:p>
        </p:txBody>
      </p:sp>
      <p:sp>
        <p:nvSpPr>
          <p:cNvPr id="3" name="">
            <a:extLst xmlns:a="http://schemas.openxmlformats.org/drawingml/2006/main">
              <a:ext uri="{FF2B5EF4-FFF2-40B4-BE49-F238E27FC236}">
                <a16:creationId xmlns:a16="http://schemas.microsoft.com/office/drawing/2014/main" id="{B1D0DE91-9AD6-4368-B715-5202907D2DA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4A84136-6E28-4F7C-A23A-D69CF77B345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79</a:t>
            </a:r>
          </a:p>
        </p:txBody>
      </p:sp>
      <p:sp>
        <p:nvSpPr>
          <p:cNvPr id="5" name="">
            <a:extLst xmlns:a="http://schemas.openxmlformats.org/drawingml/2006/main">
              <a:ext uri="{FF2B5EF4-FFF2-40B4-BE49-F238E27FC236}">
                <a16:creationId xmlns:a16="http://schemas.microsoft.com/office/drawing/2014/main" id="{A520CC1A-978F-483F-AD41-98347289124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guide needle entry).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needle should be inserted with the bevel side up.</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Frequently a "Pop" will be felt upon entry into the vein.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Once a blood return is noted the angle of the The patient can now open their fist and the tourniquet can be released.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Blood will flow into syringe.</a:t>
            </a:r>
          </a:p>
        </p:txBody>
      </p:sp>
      <p:sp>
        <p:nvSpPr>
          <p:cNvPr id="6" name="">
            <a:extLst xmlns:a="http://schemas.openxmlformats.org/drawingml/2006/main">
              <a:ext uri="{FF2B5EF4-FFF2-40B4-BE49-F238E27FC236}">
                <a16:creationId xmlns:a16="http://schemas.microsoft.com/office/drawing/2014/main" id="{FD363168-6E09-48C6-AC3B-BCF52BCE919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88BDF89-81D1-47FA-8FF3-45328497E29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101</a:t>
            </a:r>
          </a:p>
        </p:txBody>
      </p:sp>
    </p:spTree>
    <p:extLst>
      <p:ext uri="{BB962C8B-B14F-4D97-AF65-F5344CB8AC3E}">
        <p14:creationId xmlns:p14="http://schemas.microsoft.com/office/powerpoint/2010/main" val="1884821889"/>
      </p:ext>
    </p:extLst>
  </p:cSld>
</p:sld>
</file>

<file path=ppt/slides/slide8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18F7C09-0F70-4D12-BB5D-A556C378E77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3304344-668C-4183-9092-B4E28329A84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may be vein. — continued</a:t>
            </a:r>
          </a:p>
        </p:txBody>
      </p:sp>
      <p:sp>
        <p:nvSpPr>
          <p:cNvPr id="3" name="">
            <a:extLst xmlns:a="http://schemas.openxmlformats.org/drawingml/2006/main">
              <a:ext uri="{FF2B5EF4-FFF2-40B4-BE49-F238E27FC236}">
                <a16:creationId xmlns:a16="http://schemas.microsoft.com/office/drawing/2014/main" id="{4040A1BC-28D0-4DA5-BE3A-3929E970A7B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A9EE10D-99B1-4BE0-98D6-648D4D4ED5D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80</a:t>
            </a:r>
          </a:p>
        </p:txBody>
      </p:sp>
      <p:sp>
        <p:nvSpPr>
          <p:cNvPr id="5" name="">
            <a:extLst xmlns:a="http://schemas.openxmlformats.org/drawingml/2006/main">
              <a:ext uri="{FF2B5EF4-FFF2-40B4-BE49-F238E27FC236}">
                <a16:creationId xmlns:a16="http://schemas.microsoft.com/office/drawing/2014/main" id="{F08E4099-DFB1-4090-A1F5-E8BAF252256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using a syringe, gently withdraw plunger to evacuate the.blood.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Drawing to hard or to fast may cause the vein to collapse or air to be pulled in the specimen container.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Once ample blood is withdrawn, the needle should be quickly removed A dry sterile gauze should be applied with pressure to assure no continued bleeding from the puncture site.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using a syringe, the blood should be quickly Correct insertion technique: Blood flows freely into needle Correct insertion technique: Blood flows freely into needle Possible Problems...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Troubleshooting Guidelines: Bevel of needle on vein upper wall...</a:t>
            </a:r>
          </a:p>
        </p:txBody>
      </p:sp>
      <p:sp>
        <p:nvSpPr>
          <p:cNvPr id="6" name="">
            <a:extLst xmlns:a="http://schemas.openxmlformats.org/drawingml/2006/main">
              <a:ext uri="{FF2B5EF4-FFF2-40B4-BE49-F238E27FC236}">
                <a16:creationId xmlns:a16="http://schemas.microsoft.com/office/drawing/2014/main" id="{77B6B500-A2AF-4340-8A90-A0905F8436B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74D7257-8C8F-49BC-9998-5CDBDC2E666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101</a:t>
            </a:r>
          </a:p>
        </p:txBody>
      </p:sp>
    </p:spTree>
    <p:extLst>
      <p:ext uri="{BB962C8B-B14F-4D97-AF65-F5344CB8AC3E}">
        <p14:creationId xmlns:p14="http://schemas.microsoft.com/office/powerpoint/2010/main" val="1945799852"/>
      </p:ext>
    </p:extLst>
  </p:cSld>
</p:sld>
</file>

<file path=ppt/slides/slide8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DC435E-9D45-401F-AA3A-16DAC96E778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004FF69-CC95-4FE4-B147-E7788B3EF62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may be vein. — continued</a:t>
            </a:r>
          </a:p>
        </p:txBody>
      </p:sp>
      <p:sp>
        <p:nvSpPr>
          <p:cNvPr id="3" name="">
            <a:extLst xmlns:a="http://schemas.openxmlformats.org/drawingml/2006/main">
              <a:ext uri="{FF2B5EF4-FFF2-40B4-BE49-F238E27FC236}">
                <a16:creationId xmlns:a16="http://schemas.microsoft.com/office/drawing/2014/main" id="{BF253C74-BB8F-4B84-A7B2-3ECEAABB54A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6BA515B-7A90-4B59-AFA9-37C2EAFA673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81</a:t>
            </a:r>
          </a:p>
        </p:txBody>
      </p:sp>
      <p:sp>
        <p:nvSpPr>
          <p:cNvPr id="5" name="">
            <a:extLst xmlns:a="http://schemas.openxmlformats.org/drawingml/2006/main">
              <a:ext uri="{FF2B5EF4-FFF2-40B4-BE49-F238E27FC236}">
                <a16:creationId xmlns:a16="http://schemas.microsoft.com/office/drawing/2014/main" id="{EC52532B-1F94-4F67-8BF1-26C8410D0E8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does not allow blood to flow Change the position of the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(Move it forward or backward as needle may not be in the lumen of the vein) Bevel of needle on vein lower vein wall Bevel of needle on vein lower vein wall does not allow blood to flow.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Move needle backwards as it may have penetrated too far.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Withdraw the needle until needle back in lumen of the vein.</a:t>
            </a:r>
          </a:p>
        </p:txBody>
      </p:sp>
      <p:sp>
        <p:nvSpPr>
          <p:cNvPr id="6" name="">
            <a:extLst xmlns:a="http://schemas.openxmlformats.org/drawingml/2006/main">
              <a:ext uri="{FF2B5EF4-FFF2-40B4-BE49-F238E27FC236}">
                <a16:creationId xmlns:a16="http://schemas.microsoft.com/office/drawing/2014/main" id="{FD9588CE-1FBB-4BA3-B297-1AF864DD7C0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B5895E3-1841-4EC9-A99F-C4E0B345647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101</a:t>
            </a:r>
          </a:p>
        </p:txBody>
      </p:sp>
    </p:spTree>
    <p:extLst>
      <p:ext uri="{BB962C8B-B14F-4D97-AF65-F5344CB8AC3E}">
        <p14:creationId xmlns:p14="http://schemas.microsoft.com/office/powerpoint/2010/main" val="579406146"/>
      </p:ext>
    </p:extLst>
  </p:cSld>
</p:sld>
</file>

<file path=ppt/slides/slide8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C9B757-3CD3-4025-AE7F-E5EBA900F3D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4457E65-3CF3-4E1F-86DF-DA177B0517E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inserted to far and penetrated through the vein</a:t>
            </a:r>
          </a:p>
        </p:txBody>
      </p:sp>
      <p:sp>
        <p:nvSpPr>
          <p:cNvPr id="3" name="">
            <a:extLst xmlns:a="http://schemas.openxmlformats.org/drawingml/2006/main">
              <a:ext uri="{FF2B5EF4-FFF2-40B4-BE49-F238E27FC236}">
                <a16:creationId xmlns:a16="http://schemas.microsoft.com/office/drawing/2014/main" id="{1CFD9417-556A-4ED2-BA44-78FAA730EBD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73E36EB-C9CC-4509-B9AC-6ACED1A6FFD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82</a:t>
            </a:r>
          </a:p>
        </p:txBody>
      </p:sp>
      <p:sp>
        <p:nvSpPr>
          <p:cNvPr id="5" name="">
            <a:extLst xmlns:a="http://schemas.openxmlformats.org/drawingml/2006/main">
              <a:ext uri="{FF2B5EF4-FFF2-40B4-BE49-F238E27FC236}">
                <a16:creationId xmlns:a16="http://schemas.microsoft.com/office/drawing/2014/main" id="{7473B05E-F065-4E4E-95A7-CACDF36BF46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Withdraw the needle if the needle is inserted into a collapsed vein Needle inserted into a collapsed vein Withdraw the needle and attempt insertion elsewhere Vein has infiltrated Infiltration may occur if the needle 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partially inserted and blood leaks out.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Provide immediate pressure dressing Venipuncture Technique, 1 Handed Method Remove catheter from the package, Inspect IV for any imperfections and insure proper seating of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 sure to keep IV sterile Grasp the catheter hub with thumb and forefinger of dominant hand.</a:t>
            </a:r>
          </a:p>
        </p:txBody>
      </p:sp>
      <p:sp>
        <p:nvSpPr>
          <p:cNvPr id="6" name="">
            <a:extLst xmlns:a="http://schemas.openxmlformats.org/drawingml/2006/main">
              <a:ext uri="{FF2B5EF4-FFF2-40B4-BE49-F238E27FC236}">
                <a16:creationId xmlns:a16="http://schemas.microsoft.com/office/drawing/2014/main" id="{54668617-1988-406E-9820-405EAE19B75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E0B0F96-CDE4-49F5-93C0-58715E18C09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102</a:t>
            </a:r>
          </a:p>
        </p:txBody>
      </p:sp>
    </p:spTree>
    <p:extLst>
      <p:ext uri="{BB962C8B-B14F-4D97-AF65-F5344CB8AC3E}">
        <p14:creationId xmlns:p14="http://schemas.microsoft.com/office/powerpoint/2010/main" val="2144949340"/>
      </p:ext>
    </p:extLst>
  </p:cSld>
</p:sld>
</file>

<file path=ppt/slides/slide8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567813-A7C7-4B6C-B25B-288FF16E8B0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72AE32B-D4BC-4893-91A0-28235885044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43"/>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inserted to far and penetrated through the vein — continued</a:t>
            </a:r>
          </a:p>
        </p:txBody>
      </p:sp>
      <p:sp>
        <p:nvSpPr>
          <p:cNvPr id="3" name="">
            <a:extLst xmlns:a="http://schemas.openxmlformats.org/drawingml/2006/main">
              <a:ext uri="{FF2B5EF4-FFF2-40B4-BE49-F238E27FC236}">
                <a16:creationId xmlns:a16="http://schemas.microsoft.com/office/drawing/2014/main" id="{45E83AD5-A01E-4DCC-B573-823BE174AD4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1F37190-CBFB-4A9E-8B8C-F632702AB36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83</a:t>
            </a:r>
          </a:p>
        </p:txBody>
      </p:sp>
      <p:sp>
        <p:nvSpPr>
          <p:cNvPr id="5" name="">
            <a:extLst xmlns:a="http://schemas.openxmlformats.org/drawingml/2006/main">
              <a:ext uri="{FF2B5EF4-FFF2-40B4-BE49-F238E27FC236}">
                <a16:creationId xmlns:a16="http://schemas.microsoft.com/office/drawing/2014/main" id="{E79FF02A-B51C-4453-89A3-3C633CC763E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Stabilize the distended vein, with non-dominant hand and pull the skin taut in a stretching downward direction.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Thumb should be i-1/2 inches below insertion site 103</a:t>
            </a:r>
          </a:p>
        </p:txBody>
      </p:sp>
      <p:sp>
        <p:nvSpPr>
          <p:cNvPr id="6" name="">
            <a:extLst xmlns:a="http://schemas.openxmlformats.org/drawingml/2006/main">
              <a:ext uri="{FF2B5EF4-FFF2-40B4-BE49-F238E27FC236}">
                <a16:creationId xmlns:a16="http://schemas.microsoft.com/office/drawing/2014/main" id="{87373B77-9EBF-4CA5-9110-95D5F22E678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B21BF7F-9402-4433-BE5F-93F840D4DA0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102</a:t>
            </a:r>
          </a:p>
        </p:txBody>
      </p:sp>
    </p:spTree>
    <p:extLst>
      <p:ext uri="{BB962C8B-B14F-4D97-AF65-F5344CB8AC3E}">
        <p14:creationId xmlns:p14="http://schemas.microsoft.com/office/powerpoint/2010/main" val="91789232"/>
      </p:ext>
    </p:extLst>
  </p:cSld>
</p:sld>
</file>

<file path=ppt/slides/slide8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CA23EB-34B5-49C6-9FF9-C9CD9C96D31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FDD7D22-1921-4AFA-8A32-796909EBC9B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a:t>
            </a:r>
          </a:p>
        </p:txBody>
      </p:sp>
      <p:sp>
        <p:nvSpPr>
          <p:cNvPr id="3" name="">
            <a:extLst xmlns:a="http://schemas.openxmlformats.org/drawingml/2006/main">
              <a:ext uri="{FF2B5EF4-FFF2-40B4-BE49-F238E27FC236}">
                <a16:creationId xmlns:a16="http://schemas.microsoft.com/office/drawing/2014/main" id="{A8A5656E-1FF6-4BF3-9F39-E5285B236B6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7E9C689-4151-44C7-A13A-ABE6CBD5117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84</a:t>
            </a:r>
          </a:p>
        </p:txBody>
      </p:sp>
      <p:sp>
        <p:nvSpPr>
          <p:cNvPr id="5" name="">
            <a:extLst xmlns:a="http://schemas.openxmlformats.org/drawingml/2006/main">
              <a:ext uri="{FF2B5EF4-FFF2-40B4-BE49-F238E27FC236}">
                <a16:creationId xmlns:a16="http://schemas.microsoft.com/office/drawing/2014/main" id="{0FA3463F-DF65-4821-8B80-8A462AC56C5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tape securing method.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Follow facility policy for dressings, and be sure to check patient allergies prior to the application of tape, and antimicrobial agents.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Remember to label dressing with your name, date, time, and size of catheter.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you are using a transparent, semi-permeable membrane dressing, no tape can be placed over this dressing, as it impedes the permeability properties.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Dressing and Site Care Standards of the Intravenous Nurses Society (INS) - The Intravenous Nurse Society sets the standards for care, as a national organization, throughout the intravenous community.</a:t>
            </a:r>
          </a:p>
        </p:txBody>
      </p:sp>
      <p:sp>
        <p:nvSpPr>
          <p:cNvPr id="6" name="">
            <a:extLst xmlns:a="http://schemas.openxmlformats.org/drawingml/2006/main">
              <a:ext uri="{FF2B5EF4-FFF2-40B4-BE49-F238E27FC236}">
                <a16:creationId xmlns:a16="http://schemas.microsoft.com/office/drawing/2014/main" id="{B9184589-C5B3-427A-906C-405FCE5C436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C1D1E63-7342-42DA-9B97-AD7CA28676D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103</a:t>
            </a:r>
          </a:p>
        </p:txBody>
      </p:sp>
    </p:spTree>
    <p:extLst>
      <p:ext uri="{BB962C8B-B14F-4D97-AF65-F5344CB8AC3E}">
        <p14:creationId xmlns:p14="http://schemas.microsoft.com/office/powerpoint/2010/main" val="1187307128"/>
      </p:ext>
    </p:extLst>
  </p:cSld>
</p:sld>
</file>

<file path=ppt/slides/slide8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701A39-8383-4490-B3AA-1B8A33724F1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2894AAE-12B2-408F-B578-0DBB878DDE1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 — continued</a:t>
            </a:r>
          </a:p>
        </p:txBody>
      </p:sp>
      <p:sp>
        <p:nvSpPr>
          <p:cNvPr id="3" name="">
            <a:extLst xmlns:a="http://schemas.openxmlformats.org/drawingml/2006/main">
              <a:ext uri="{FF2B5EF4-FFF2-40B4-BE49-F238E27FC236}">
                <a16:creationId xmlns:a16="http://schemas.microsoft.com/office/drawing/2014/main" id="{B9CF5AA4-8D73-4874-AB87-E0C5C88C349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284F63E-BE09-486D-A714-37D15696D69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85</a:t>
            </a:r>
          </a:p>
        </p:txBody>
      </p:sp>
      <p:sp>
        <p:nvSpPr>
          <p:cNvPr id="5" name="">
            <a:extLst xmlns:a="http://schemas.openxmlformats.org/drawingml/2006/main">
              <a:ext uri="{FF2B5EF4-FFF2-40B4-BE49-F238E27FC236}">
                <a16:creationId xmlns:a16="http://schemas.microsoft.com/office/drawing/2014/main" id="{0850ED74-9BD9-46D4-99DB-2C34429373B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following protocols are from the standards set forth by this organization and may not reflect actual facility policy.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These standards are recognized throughout the health community and are used as a basis on which each facility formulates its own policy and procedure.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purpose of dressing and site care is to allow for the inspection of the insertion site and limit the chances of microbial infections.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When removing old dressing take care not to dislodge catheter.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*Signs and symptoms of inflammation, redness, or drainage at the site should be reported immediately.</a:t>
            </a:r>
          </a:p>
        </p:txBody>
      </p:sp>
      <p:sp>
        <p:nvSpPr>
          <p:cNvPr id="6" name="">
            <a:extLst xmlns:a="http://schemas.openxmlformats.org/drawingml/2006/main">
              <a:ext uri="{FF2B5EF4-FFF2-40B4-BE49-F238E27FC236}">
                <a16:creationId xmlns:a16="http://schemas.microsoft.com/office/drawing/2014/main" id="{500A7EB2-EA19-497B-B26B-84879A60D06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14FFB2C-3613-47BB-BA1F-8220CB9329E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103</a:t>
            </a:r>
          </a:p>
        </p:txBody>
      </p:sp>
    </p:spTree>
    <p:extLst>
      <p:ext uri="{BB962C8B-B14F-4D97-AF65-F5344CB8AC3E}">
        <p14:creationId xmlns:p14="http://schemas.microsoft.com/office/powerpoint/2010/main" val="705820371"/>
      </p:ext>
    </p:extLst>
  </p:cSld>
</p:sld>
</file>

<file path=ppt/slides/slide8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9C208FD-E2B6-42CC-B354-844F3E635BA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FE94602-65BD-4DE1-80EE-506E30A97B3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 — continued</a:t>
            </a:r>
          </a:p>
        </p:txBody>
      </p:sp>
      <p:sp>
        <p:nvSpPr>
          <p:cNvPr id="3" name="">
            <a:extLst xmlns:a="http://schemas.openxmlformats.org/drawingml/2006/main">
              <a:ext uri="{FF2B5EF4-FFF2-40B4-BE49-F238E27FC236}">
                <a16:creationId xmlns:a16="http://schemas.microsoft.com/office/drawing/2014/main" id="{C3BABA45-F09A-4138-B20D-0316356D584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4F8B8F7-02C1-4E1F-BDBF-84B673532B4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86</a:t>
            </a:r>
          </a:p>
        </p:txBody>
      </p:sp>
      <p:sp>
        <p:nvSpPr>
          <p:cNvPr id="5" name="">
            <a:extLst xmlns:a="http://schemas.openxmlformats.org/drawingml/2006/main">
              <a:ext uri="{FF2B5EF4-FFF2-40B4-BE49-F238E27FC236}">
                <a16:creationId xmlns:a16="http://schemas.microsoft.com/office/drawing/2014/main" id="{2191E964-C3B8-407D-B5E9-8C336D3A816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*Documentation should also include condition of the site.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Sterile Gauze Dressings *These dressings cover the insertion site and prevent visualization.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Therefore, it is a standard in the community to change these dressings every 24 hours, or per facility policy.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Check facility policy regarding the use of antimicrobial agents applied at the insertion site.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Transparent Semi Permeable Membrane Dressings *These dressings have a 7-day change standard.</a:t>
            </a:r>
          </a:p>
        </p:txBody>
      </p:sp>
      <p:sp>
        <p:nvSpPr>
          <p:cNvPr id="6" name="">
            <a:extLst xmlns:a="http://schemas.openxmlformats.org/drawingml/2006/main">
              <a:ext uri="{FF2B5EF4-FFF2-40B4-BE49-F238E27FC236}">
                <a16:creationId xmlns:a16="http://schemas.microsoft.com/office/drawing/2014/main" id="{60C901FD-2439-46F4-943F-9A441FE3794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96DE96B-6416-4B57-BFEC-4683B4F968B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103</a:t>
            </a:r>
          </a:p>
        </p:txBody>
      </p:sp>
    </p:spTree>
    <p:extLst>
      <p:ext uri="{BB962C8B-B14F-4D97-AF65-F5344CB8AC3E}">
        <p14:creationId xmlns:p14="http://schemas.microsoft.com/office/powerpoint/2010/main" val="527715559"/>
      </p:ext>
    </p:extLst>
  </p:cSld>
</p:sld>
</file>

<file path=ppt/slides/slide8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5C633B3-8C06-4AD6-9C8B-A7077B7898E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39573E1-4B51-4429-8B92-67930B4BDDB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 — continued</a:t>
            </a:r>
          </a:p>
        </p:txBody>
      </p:sp>
      <p:sp>
        <p:nvSpPr>
          <p:cNvPr id="3" name="">
            <a:extLst xmlns:a="http://schemas.openxmlformats.org/drawingml/2006/main">
              <a:ext uri="{FF2B5EF4-FFF2-40B4-BE49-F238E27FC236}">
                <a16:creationId xmlns:a16="http://schemas.microsoft.com/office/drawing/2014/main" id="{532193BC-146F-4328-94A9-E9A4B70F5FD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E3F0FEE-3BC3-4F57-81F2-B534B1A4546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87</a:t>
            </a:r>
          </a:p>
        </p:txBody>
      </p:sp>
      <p:sp>
        <p:nvSpPr>
          <p:cNvPr id="5" name="">
            <a:extLst xmlns:a="http://schemas.openxmlformats.org/drawingml/2006/main">
              <a:ext uri="{FF2B5EF4-FFF2-40B4-BE49-F238E27FC236}">
                <a16:creationId xmlns:a16="http://schemas.microsoft.com/office/drawing/2014/main" id="{8960A59E-3EE3-4BDA-A820-25A6DD99444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However, many facilities still require they be changed every 48-72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use of tape over these dressings is contraindicated, as covering the membrane itself reduces permeability and airflow.</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Transparent Dressings * Also called Op-Site, Tegaderm, etc., these transparent dressings are the major dressing used in peripheral IV therapy.</a:t>
            </a:r>
          </a:p>
        </p:txBody>
      </p:sp>
      <p:sp>
        <p:nvSpPr>
          <p:cNvPr id="6" name="">
            <a:extLst xmlns:a="http://schemas.openxmlformats.org/drawingml/2006/main">
              <a:ext uri="{FF2B5EF4-FFF2-40B4-BE49-F238E27FC236}">
                <a16:creationId xmlns:a16="http://schemas.microsoft.com/office/drawing/2014/main" id="{84EBC889-2786-42FC-81D8-5C288329299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2F280BD-5A94-476C-A490-EFBC847666E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103</a:t>
            </a:r>
          </a:p>
        </p:txBody>
      </p:sp>
    </p:spTree>
    <p:extLst>
      <p:ext uri="{BB962C8B-B14F-4D97-AF65-F5344CB8AC3E}">
        <p14:creationId xmlns:p14="http://schemas.microsoft.com/office/powerpoint/2010/main" val="1699480991"/>
      </p:ext>
    </p:extLst>
  </p:cSld>
</p:sld>
</file>

<file path=ppt/slides/slide8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5BFD22B-7390-4E91-BA18-28BCD4A9E6C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F3BD79E-DF81-476D-B831-C1219275586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7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dressing is changed every 48-72 hours, or per facility policy. At</a:t>
            </a:r>
          </a:p>
        </p:txBody>
      </p:sp>
      <p:sp>
        <p:nvSpPr>
          <p:cNvPr id="3" name="">
            <a:extLst xmlns:a="http://schemas.openxmlformats.org/drawingml/2006/main">
              <a:ext uri="{FF2B5EF4-FFF2-40B4-BE49-F238E27FC236}">
                <a16:creationId xmlns:a16="http://schemas.microsoft.com/office/drawing/2014/main" id="{E2375CD8-4C86-4680-A785-767FFAED254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242E8D7-4AE8-4F77-AA66-E1827216221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88</a:t>
            </a:r>
          </a:p>
        </p:txBody>
      </p:sp>
      <p:sp>
        <p:nvSpPr>
          <p:cNvPr id="5" name="">
            <a:extLst xmlns:a="http://schemas.openxmlformats.org/drawingml/2006/main">
              <a:ext uri="{FF2B5EF4-FFF2-40B4-BE49-F238E27FC236}">
                <a16:creationId xmlns:a16="http://schemas.microsoft.com/office/drawing/2014/main" id="{78E4034C-4C55-4C75-AFF8-0D99DEA9F27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same time, the site and tubing can be changed.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*Covering the dressing with silk tape precludes visualization of the insertion site and is not recommended.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Note: Loss of occlusiviness, excessive drainage, excessive perspiration can all be reasons to change a dressing prior to the due date.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Splints and Restraints Purpose of Splinting and Restraining: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Venipuncture site at a joint or area of flexion *Patient is restless *Patient is combative or confused Documentation of IV Therapy Documentation provides information regarding the venipuncture process as follows:</a:t>
            </a:r>
          </a:p>
        </p:txBody>
      </p:sp>
      <p:sp>
        <p:nvSpPr>
          <p:cNvPr id="6" name="">
            <a:extLst xmlns:a="http://schemas.openxmlformats.org/drawingml/2006/main">
              <a:ext uri="{FF2B5EF4-FFF2-40B4-BE49-F238E27FC236}">
                <a16:creationId xmlns:a16="http://schemas.microsoft.com/office/drawing/2014/main" id="{9DE05EAE-FF76-4A90-A543-5911337C57C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00E7C81-BDF1-4197-B44B-75CCD0BBF2F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104</a:t>
            </a:r>
          </a:p>
        </p:txBody>
      </p:sp>
    </p:spTree>
    <p:extLst>
      <p:ext uri="{BB962C8B-B14F-4D97-AF65-F5344CB8AC3E}">
        <p14:creationId xmlns:p14="http://schemas.microsoft.com/office/powerpoint/2010/main" val="1222071141"/>
      </p:ext>
    </p:extLst>
  </p:cSld>
</p:sld>
</file>

<file path=ppt/slides/slide8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E14745-B060-44C9-8CF1-6A9E853AA46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C1B5291-2FE5-4BD8-9BCE-3594BFF1CD5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dressing is changed every 48-72 hours, or per facility policy. At — continued</a:t>
            </a:r>
          </a:p>
        </p:txBody>
      </p:sp>
      <p:sp>
        <p:nvSpPr>
          <p:cNvPr id="3" name="">
            <a:extLst xmlns:a="http://schemas.openxmlformats.org/drawingml/2006/main">
              <a:ext uri="{FF2B5EF4-FFF2-40B4-BE49-F238E27FC236}">
                <a16:creationId xmlns:a16="http://schemas.microsoft.com/office/drawing/2014/main" id="{FC62FEB4-0893-459B-80CF-BC33BFAD2A7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B3823E0-8548-41E3-95BD-8ABFF3007FF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89</a:t>
            </a:r>
          </a:p>
        </p:txBody>
      </p:sp>
      <p:sp>
        <p:nvSpPr>
          <p:cNvPr id="5" name="">
            <a:extLst xmlns:a="http://schemas.openxmlformats.org/drawingml/2006/main">
              <a:ext uri="{FF2B5EF4-FFF2-40B4-BE49-F238E27FC236}">
                <a16:creationId xmlns:a16="http://schemas.microsoft.com/office/drawing/2014/main" id="{1602CC62-4AA6-4AAA-A43E-2815CD145FF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*Type of catheter/needle used *Size of catheter/needle used *Date and time of venipuncture *Number of sticks to initiate successful IV *Name and title of nurse initiating venipuncture/IV *Type of solution, amount, and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any additives to the solution *Flow rate of solution * Any unusual symptoms or reactions *Type of site care and dressing Labeling solution *Label the solution container with patient name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ID number, and room number (should pharmacy add the medication, this should already be on the pharmacy label) * Include additives on the label, drug, amount, and base solution.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Be sure to sign or initial if you perform the addition to the container, and date and time the addition.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*Drip rate *Date and time IV was hung, and nurse hanging solution *Time sequence, and container number *As with any IV set, be sure to date and time the administration set 108</a:t>
            </a:r>
          </a:p>
        </p:txBody>
      </p:sp>
      <p:sp>
        <p:nvSpPr>
          <p:cNvPr id="6" name="">
            <a:extLst xmlns:a="http://schemas.openxmlformats.org/drawingml/2006/main">
              <a:ext uri="{FF2B5EF4-FFF2-40B4-BE49-F238E27FC236}">
                <a16:creationId xmlns:a16="http://schemas.microsoft.com/office/drawing/2014/main" id="{7C39155A-FF4C-4BD5-831A-C4C4C3DE70F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7F35234-8096-4B45-BF9D-9BE9C1983FB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104</a:t>
            </a:r>
          </a:p>
        </p:txBody>
      </p:sp>
    </p:spTree>
    <p:extLst>
      <p:ext uri="{BB962C8B-B14F-4D97-AF65-F5344CB8AC3E}">
        <p14:creationId xmlns:p14="http://schemas.microsoft.com/office/powerpoint/2010/main" val="1453453045"/>
      </p:ext>
    </p:extLst>
  </p:cSld>
</p:sld>
</file>

<file path=ppt/slides/slide9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A0DC7E8-91D9-472F-80DC-131CD3FE648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630671B-A727-496C-897B-91D3EB4BD26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patient squeeze his hand into a fist several times.</a:t>
            </a:r>
          </a:p>
        </p:txBody>
      </p:sp>
      <p:sp>
        <p:nvSpPr>
          <p:cNvPr id="3" name="">
            <a:extLst xmlns:a="http://schemas.openxmlformats.org/drawingml/2006/main">
              <a:ext uri="{FF2B5EF4-FFF2-40B4-BE49-F238E27FC236}">
                <a16:creationId xmlns:a16="http://schemas.microsoft.com/office/drawing/2014/main" id="{7BA6A738-1F8F-4D7E-9EC6-FE1A7238DE4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0240DEB-1F70-400E-8232-A9C5312941A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90</a:t>
            </a:r>
          </a:p>
        </p:txBody>
      </p:sp>
      <p:sp>
        <p:nvSpPr>
          <p:cNvPr id="5" name="">
            <a:extLst xmlns:a="http://schemas.openxmlformats.org/drawingml/2006/main">
              <a:ext uri="{FF2B5EF4-FFF2-40B4-BE49-F238E27FC236}">
                <a16:creationId xmlns:a16="http://schemas.microsoft.com/office/drawing/2014/main" id="{6FB23A6E-41F5-4E71-9258-974560C68B4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General Overview of starting an IN Preparing the arm: Apply a tourniquet high on the upper arm.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It should be tight enough to visibly indent the skin without causing patient discomfort.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 order to maximize venous engorgement, have the patient squeeze his hand into a fist several times.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Now start the search for suitable distended subcutaneous veins.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you cannot see any veins popping up from the distention caused by the tourniquet, you can sometimes feel them by palpating the arm.</a:t>
            </a:r>
          </a:p>
        </p:txBody>
      </p:sp>
      <p:sp>
        <p:nvSpPr>
          <p:cNvPr id="6" name="">
            <a:extLst xmlns:a="http://schemas.openxmlformats.org/drawingml/2006/main">
              <a:ext uri="{FF2B5EF4-FFF2-40B4-BE49-F238E27FC236}">
                <a16:creationId xmlns:a16="http://schemas.microsoft.com/office/drawing/2014/main" id="{A6EAECB8-66E2-49AD-9F6B-1457BE0DFE1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7E14745-7C3F-474A-889B-DD0C2AF8FA7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105</a:t>
            </a:r>
          </a:p>
        </p:txBody>
      </p:sp>
    </p:spTree>
    <p:extLst>
      <p:ext uri="{BB962C8B-B14F-4D97-AF65-F5344CB8AC3E}">
        <p14:creationId xmlns:p14="http://schemas.microsoft.com/office/powerpoint/2010/main" val="1629465086"/>
      </p:ext>
    </p:extLst>
  </p:cSld>
</p:sld>
</file>

<file path=ppt/slides/slide9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3107457-515A-4F24-AC0D-4149465A928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27AC278-413A-4A4F-97D6-809B5A155F3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patient squeeze his hand into a fist several times. — continued</a:t>
            </a:r>
          </a:p>
        </p:txBody>
      </p:sp>
      <p:sp>
        <p:nvSpPr>
          <p:cNvPr id="3" name="">
            <a:extLst xmlns:a="http://schemas.openxmlformats.org/drawingml/2006/main">
              <a:ext uri="{FF2B5EF4-FFF2-40B4-BE49-F238E27FC236}">
                <a16:creationId xmlns:a16="http://schemas.microsoft.com/office/drawing/2014/main" id="{A1505C9E-3E4A-43A0-BC8F-0E63C245C1E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DAAD3FC6-C1C7-4395-826A-5C640D0B765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91</a:t>
            </a:r>
          </a:p>
        </p:txBody>
      </p:sp>
      <p:sp>
        <p:nvSpPr>
          <p:cNvPr id="5" name="">
            <a:extLst xmlns:a="http://schemas.openxmlformats.org/drawingml/2006/main">
              <a:ext uri="{FF2B5EF4-FFF2-40B4-BE49-F238E27FC236}">
                <a16:creationId xmlns:a16="http://schemas.microsoft.com/office/drawing/2014/main" id="{C6013AF5-3653-4BCE-91FE-81B41BA1C3D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you still cannot find any veins, then it might be useful to cover the arm in a warm compress to help with peripheral vasodilation.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after a meticulous search no veins are found; release the tourniquet from above the elbow, place it around the forearm and search in the distal forearm, wrist and hand.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no suitable veins are found, then you will have to move to the other arm.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Be careful to stay away from arteries which are pulsatile Once a suitable vein is found, then it is necessary to clean and disinfect the area by swiping it several times with two alcohol wipes.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the arm is particularly hairy in this spot it may be necessary to use a disposable razor to shave the hair partially too make a region that will be clean.</a:t>
            </a:r>
          </a:p>
        </p:txBody>
      </p:sp>
      <p:sp>
        <p:nvSpPr>
          <p:cNvPr id="6" name="">
            <a:extLst xmlns:a="http://schemas.openxmlformats.org/drawingml/2006/main">
              <a:ext uri="{FF2B5EF4-FFF2-40B4-BE49-F238E27FC236}">
                <a16:creationId xmlns:a16="http://schemas.microsoft.com/office/drawing/2014/main" id="{484207D5-70A0-44C7-B470-7E2EDA4CDBA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8827E03-38C4-4691-AFC9-A66579C0A9B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105</a:t>
            </a:r>
          </a:p>
        </p:txBody>
      </p:sp>
    </p:spTree>
    <p:extLst>
      <p:ext uri="{BB962C8B-B14F-4D97-AF65-F5344CB8AC3E}">
        <p14:creationId xmlns:p14="http://schemas.microsoft.com/office/powerpoint/2010/main" val="1637486507"/>
      </p:ext>
    </p:extLst>
  </p:cSld>
</p:sld>
</file>

<file path=ppt/slides/slide9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EEF411-FBEE-445C-A044-D450BED2E38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341A940-3A89-4774-BA97-F1196CA2609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patient squeeze his hand into a fist several times. — continued</a:t>
            </a:r>
          </a:p>
        </p:txBody>
      </p:sp>
      <p:sp>
        <p:nvSpPr>
          <p:cNvPr id="3" name="">
            <a:extLst xmlns:a="http://schemas.openxmlformats.org/drawingml/2006/main">
              <a:ext uri="{FF2B5EF4-FFF2-40B4-BE49-F238E27FC236}">
                <a16:creationId xmlns:a16="http://schemas.microsoft.com/office/drawing/2014/main" id="{FF3CF45C-242D-408B-B051-B5FA0756113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C8491C6-A506-4ED0-8D5E-5DE42ABAD20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92</a:t>
            </a:r>
          </a:p>
        </p:txBody>
      </p:sp>
      <p:sp>
        <p:nvSpPr>
          <p:cNvPr id="5" name="">
            <a:extLst xmlns:a="http://schemas.openxmlformats.org/drawingml/2006/main">
              <a:ext uri="{FF2B5EF4-FFF2-40B4-BE49-F238E27FC236}">
                <a16:creationId xmlns:a16="http://schemas.microsoft.com/office/drawing/2014/main" id="{09E7BA6B-8F91-4819-8E04-5BCD03BA101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Select Angiocatheter Usually a 20 or 22 gauge catheter is suitable.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Take it apart and put it back together to get a sense of how it works and how much force is required to slide the plastic catheter over the metal stylet 109</a:t>
            </a:r>
          </a:p>
        </p:txBody>
      </p:sp>
      <p:sp>
        <p:nvSpPr>
          <p:cNvPr id="6" name="">
            <a:extLst xmlns:a="http://schemas.openxmlformats.org/drawingml/2006/main">
              <a:ext uri="{FF2B5EF4-FFF2-40B4-BE49-F238E27FC236}">
                <a16:creationId xmlns:a16="http://schemas.microsoft.com/office/drawing/2014/main" id="{8072E538-E80A-448C-B041-D10F35B8298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07A779D-4FA7-475F-A963-B1D1C3869F3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105</a:t>
            </a:r>
          </a:p>
        </p:txBody>
      </p:sp>
    </p:spTree>
    <p:extLst>
      <p:ext uri="{BB962C8B-B14F-4D97-AF65-F5344CB8AC3E}">
        <p14:creationId xmlns:p14="http://schemas.microsoft.com/office/powerpoint/2010/main" val="1806921173"/>
      </p:ext>
    </p:extLst>
  </p:cSld>
</p:sld>
</file>

<file path=ppt/slides/slide9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A142E8-73E9-4FF4-9ACC-4073D2AECC4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7447480-25D2-4424-AF87-344B767C67E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a:t>
            </a:r>
          </a:p>
        </p:txBody>
      </p:sp>
      <p:sp>
        <p:nvSpPr>
          <p:cNvPr id="3" name="">
            <a:extLst xmlns:a="http://schemas.openxmlformats.org/drawingml/2006/main">
              <a:ext uri="{FF2B5EF4-FFF2-40B4-BE49-F238E27FC236}">
                <a16:creationId xmlns:a16="http://schemas.microsoft.com/office/drawing/2014/main" id="{2FD65E8A-918E-47E0-BF89-001DDB61930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45CD367-5D3D-455F-8EC9-DAB80A6A41F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93</a:t>
            </a:r>
          </a:p>
        </p:txBody>
      </p:sp>
      <p:sp>
        <p:nvSpPr>
          <p:cNvPr id="5" name="">
            <a:extLst xmlns:a="http://schemas.openxmlformats.org/drawingml/2006/main">
              <a:ext uri="{FF2B5EF4-FFF2-40B4-BE49-F238E27FC236}">
                <a16:creationId xmlns:a16="http://schemas.microsoft.com/office/drawing/2014/main" id="{48BC1E49-4C33-4575-BE04-73F734500A7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Use one hand to apply counter tension against the skin.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hand, generally the left hand, will be pulling the skin distally towards the wrist in the opposite direction to the needle will be advancing.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When applying counter tension be careful not to compress inflow to the vein which may cause the vein to collapse.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Advance the catheter through the skin over top of the vein or adjacent to the vein.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Use a quick, jab motion to minimize patient discomfort.</a:t>
            </a:r>
          </a:p>
        </p:txBody>
      </p:sp>
      <p:sp>
        <p:nvSpPr>
          <p:cNvPr id="6" name="">
            <a:extLst xmlns:a="http://schemas.openxmlformats.org/drawingml/2006/main">
              <a:ext uri="{FF2B5EF4-FFF2-40B4-BE49-F238E27FC236}">
                <a16:creationId xmlns:a16="http://schemas.microsoft.com/office/drawing/2014/main" id="{0AF10DCE-9590-423C-9F98-ACC70CD45B8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8695C8C-1763-450F-A2F5-8E18DFF7A21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106</a:t>
            </a:r>
          </a:p>
        </p:txBody>
      </p:sp>
    </p:spTree>
    <p:extLst>
      <p:ext uri="{BB962C8B-B14F-4D97-AF65-F5344CB8AC3E}">
        <p14:creationId xmlns:p14="http://schemas.microsoft.com/office/powerpoint/2010/main" val="1020981101"/>
      </p:ext>
    </p:extLst>
  </p:cSld>
</p:sld>
</file>

<file path=ppt/slides/slide9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2CA190-A284-44C0-B45A-1D10064E0C2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3A0324D-C658-4BB1-B0F4-EEBB64AA24B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 — continued</a:t>
            </a:r>
          </a:p>
        </p:txBody>
      </p:sp>
      <p:sp>
        <p:nvSpPr>
          <p:cNvPr id="3" name="">
            <a:extLst xmlns:a="http://schemas.openxmlformats.org/drawingml/2006/main">
              <a:ext uri="{FF2B5EF4-FFF2-40B4-BE49-F238E27FC236}">
                <a16:creationId xmlns:a16="http://schemas.microsoft.com/office/drawing/2014/main" id="{238E4B59-D23C-4A87-9BC5-C3077665AB7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B78D2EB-0742-41BD-BE7C-6DFC21CED5C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94</a:t>
            </a:r>
          </a:p>
        </p:txBody>
      </p:sp>
      <p:sp>
        <p:nvSpPr>
          <p:cNvPr id="5" name="">
            <a:extLst xmlns:a="http://schemas.openxmlformats.org/drawingml/2006/main">
              <a:ext uri="{FF2B5EF4-FFF2-40B4-BE49-F238E27FC236}">
                <a16:creationId xmlns:a16="http://schemas.microsoft.com/office/drawing/2014/main" id="{EE9E6BD2-E72B-4828-AFA6-E0E3150CDF9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Slow pokes through the skin will maximize the sensation of pain.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Then advance the catheter well into the vein and look for the dark red flashback of blood at the catheter hub indicating that the catheter is within the vein If this first pass is unsuccessful in entering the vein and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there is no flashback then slowly withdraw the catheter, without pulling all the way out, and carefully watch for the flashback to occur.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you are still not within the vein, then advance it again in a 2nd attempt to enter the vein.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While withdrawing always stop before pulling all the way out to avoid repeating the painful initial skin puncture.</a:t>
            </a:r>
          </a:p>
        </p:txBody>
      </p:sp>
      <p:sp>
        <p:nvSpPr>
          <p:cNvPr id="6" name="">
            <a:extLst xmlns:a="http://schemas.openxmlformats.org/drawingml/2006/main">
              <a:ext uri="{FF2B5EF4-FFF2-40B4-BE49-F238E27FC236}">
                <a16:creationId xmlns:a16="http://schemas.microsoft.com/office/drawing/2014/main" id="{EAC4503A-AE4B-459D-9B43-E9044EBE80E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4F2CD8B-AC34-40C5-949B-C7D9005F140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106</a:t>
            </a:r>
          </a:p>
        </p:txBody>
      </p:sp>
    </p:spTree>
    <p:extLst>
      <p:ext uri="{BB962C8B-B14F-4D97-AF65-F5344CB8AC3E}">
        <p14:creationId xmlns:p14="http://schemas.microsoft.com/office/powerpoint/2010/main" val="1333524271"/>
      </p:ext>
    </p:extLst>
  </p:cSld>
</p:sld>
</file>

<file path=ppt/slides/slide9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F48E2FE-73E0-4C0C-AB87-BDB91DD219F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716CF1F-B13C-431B-B730-79EF160EF52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 — continued</a:t>
            </a:r>
          </a:p>
        </p:txBody>
      </p:sp>
      <p:sp>
        <p:nvSpPr>
          <p:cNvPr id="3" name="">
            <a:extLst xmlns:a="http://schemas.openxmlformats.org/drawingml/2006/main">
              <a:ext uri="{FF2B5EF4-FFF2-40B4-BE49-F238E27FC236}">
                <a16:creationId xmlns:a16="http://schemas.microsoft.com/office/drawing/2014/main" id="{7B5B934E-4627-4368-B26D-97DB5FCA89F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7C493AE-3049-49B6-BEB1-C9E412E36D8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95</a:t>
            </a:r>
          </a:p>
        </p:txBody>
      </p:sp>
      <p:sp>
        <p:nvSpPr>
          <p:cNvPr id="5" name="">
            <a:extLst xmlns:a="http://schemas.openxmlformats.org/drawingml/2006/main">
              <a:ext uri="{FF2B5EF4-FFF2-40B4-BE49-F238E27FC236}">
                <a16:creationId xmlns:a16="http://schemas.microsoft.com/office/drawing/2014/main" id="{7D89E9C6-680A-4B7D-8539-3CDC61DC1E9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after several manipulations the vein is never entered and the attempt is considered a failure; release the tourniquet, place a gauze over the skin puncture site, withdraw the catheter and tape down the gauze.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Now it is time to move onto the other arm Advance Plastic Catheter Once the catheter is well seated within the vein, slide the plastic angio catheter forward deeper into the vein over top of the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hub of the angio catheter should be all the way to the skin puncture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plastic catheter should slide forward easily.</a:t>
            </a:r>
          </a:p>
        </p:txBody>
      </p:sp>
      <p:sp>
        <p:nvSpPr>
          <p:cNvPr id="6" name="">
            <a:extLst xmlns:a="http://schemas.openxmlformats.org/drawingml/2006/main">
              <a:ext uri="{FF2B5EF4-FFF2-40B4-BE49-F238E27FC236}">
                <a16:creationId xmlns:a16="http://schemas.microsoft.com/office/drawing/2014/main" id="{F4579815-A68B-4A7A-B361-1DDCCC844C4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59CA735-D3A8-407E-B557-78CB375D376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106</a:t>
            </a:r>
          </a:p>
        </p:txBody>
      </p:sp>
    </p:spTree>
    <p:extLst>
      <p:ext uri="{BB962C8B-B14F-4D97-AF65-F5344CB8AC3E}">
        <p14:creationId xmlns:p14="http://schemas.microsoft.com/office/powerpoint/2010/main" val="180276978"/>
      </p:ext>
    </p:extLst>
  </p:cSld>
</p:sld>
</file>

<file path=ppt/slides/slide9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3C81585-82EC-4B90-8078-8AA260F5626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3F99254-DAD1-422E-8621-2EC944381C2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 — continued</a:t>
            </a:r>
          </a:p>
        </p:txBody>
      </p:sp>
      <p:sp>
        <p:nvSpPr>
          <p:cNvPr id="3" name="">
            <a:extLst xmlns:a="http://schemas.openxmlformats.org/drawingml/2006/main">
              <a:ext uri="{FF2B5EF4-FFF2-40B4-BE49-F238E27FC236}">
                <a16:creationId xmlns:a16="http://schemas.microsoft.com/office/drawing/2014/main" id="{EA97A23D-A5B7-48F7-9531-21B28714D8E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7F1ED989-43FC-47A4-B2D5-78792496EE1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96</a:t>
            </a:r>
          </a:p>
        </p:txBody>
      </p:sp>
      <p:sp>
        <p:nvSpPr>
          <p:cNvPr id="5" name="">
            <a:extLst xmlns:a="http://schemas.openxmlformats.org/drawingml/2006/main">
              <a:ext uri="{FF2B5EF4-FFF2-40B4-BE49-F238E27FC236}">
                <a16:creationId xmlns:a16="http://schemas.microsoft.com/office/drawing/2014/main" id="{4B3CB72F-5497-4DBD-800A-874A39F52B0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force!!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Release Tourniquet 110</a:t>
            </a:r>
          </a:p>
        </p:txBody>
      </p:sp>
      <p:sp>
        <p:nvSpPr>
          <p:cNvPr id="6" name="">
            <a:extLst xmlns:a="http://schemas.openxmlformats.org/drawingml/2006/main">
              <a:ext uri="{FF2B5EF4-FFF2-40B4-BE49-F238E27FC236}">
                <a16:creationId xmlns:a16="http://schemas.microsoft.com/office/drawing/2014/main" id="{66CF11EF-0401-45F9-9EB1-DAB9F608787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F6146D6-32F3-43E1-BE9A-38926356A01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106</a:t>
            </a:r>
          </a:p>
        </p:txBody>
      </p:sp>
    </p:spTree>
    <p:extLst>
      <p:ext uri="{BB962C8B-B14F-4D97-AF65-F5344CB8AC3E}">
        <p14:creationId xmlns:p14="http://schemas.microsoft.com/office/powerpoint/2010/main" val="1387100974"/>
      </p:ext>
    </p:extLst>
  </p:cSld>
</p:sld>
</file>

<file path=ppt/slides/slide9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57E8F0-615B-4E17-AD3D-60511200709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D538303-3C90-49A4-8D1F-7AB9142139E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a:t>
            </a:r>
          </a:p>
        </p:txBody>
      </p:sp>
      <p:sp>
        <p:nvSpPr>
          <p:cNvPr id="3" name="">
            <a:extLst xmlns:a="http://schemas.openxmlformats.org/drawingml/2006/main">
              <a:ext uri="{FF2B5EF4-FFF2-40B4-BE49-F238E27FC236}">
                <a16:creationId xmlns:a16="http://schemas.microsoft.com/office/drawing/2014/main" id="{E97BFFF4-2E40-4039-AD3D-BF74BB69632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783E536-50C2-448A-BC0D-FC7054CA931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97</a:t>
            </a:r>
          </a:p>
        </p:txBody>
      </p:sp>
      <p:sp>
        <p:nvSpPr>
          <p:cNvPr id="5" name="">
            <a:extLst xmlns:a="http://schemas.openxmlformats.org/drawingml/2006/main">
              <a:ext uri="{FF2B5EF4-FFF2-40B4-BE49-F238E27FC236}">
                <a16:creationId xmlns:a16="http://schemas.microsoft.com/office/drawing/2014/main" id="{EB663B87-B51A-4C2F-9B0B-6078BC1D7A1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Once the angio catheter is advanced in the vein up to the hub, release the tourniquet, apply gentle pressure over the vein to collapse it, so that blood will not pour out of the angiocatheter when the stylet (needle) is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removed.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Once you remove the stylet (needle) Lock or Tubing Connection Lock the IV tubing to the catheter by advancing and rotating the Luer locking mechanism.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It requires a clockwise twist to fully lock.</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At this point, quickly test the IV with a small injection of saline to make sure it is working properly.</a:t>
            </a:r>
          </a:p>
        </p:txBody>
      </p:sp>
      <p:sp>
        <p:nvSpPr>
          <p:cNvPr id="6" name="">
            <a:extLst xmlns:a="http://schemas.openxmlformats.org/drawingml/2006/main">
              <a:ext uri="{FF2B5EF4-FFF2-40B4-BE49-F238E27FC236}">
                <a16:creationId xmlns:a16="http://schemas.microsoft.com/office/drawing/2014/main" id="{6812FBEF-214F-445F-8FF3-221F4CC37E4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C6A2D97-7416-44AC-AC11-705A47A0802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107</a:t>
            </a:r>
          </a:p>
        </p:txBody>
      </p:sp>
    </p:spTree>
    <p:extLst>
      <p:ext uri="{BB962C8B-B14F-4D97-AF65-F5344CB8AC3E}">
        <p14:creationId xmlns:p14="http://schemas.microsoft.com/office/powerpoint/2010/main" val="184756646"/>
      </p:ext>
    </p:extLst>
  </p:cSld>
</p:sld>
</file>

<file path=ppt/slides/slide9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21E752B-2D5C-424C-8825-3B46C61E6ED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89CE92B-BA8A-40EC-A833-B44CECEB019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4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 — continued</a:t>
            </a:r>
          </a:p>
        </p:txBody>
      </p:sp>
      <p:sp>
        <p:nvSpPr>
          <p:cNvPr id="3" name="">
            <a:extLst xmlns:a="http://schemas.openxmlformats.org/drawingml/2006/main">
              <a:ext uri="{FF2B5EF4-FFF2-40B4-BE49-F238E27FC236}">
                <a16:creationId xmlns:a16="http://schemas.microsoft.com/office/drawing/2014/main" id="{22CE5A54-0E0A-4C34-8C5A-C767C68FB8C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A6CE2F6-8E27-46D4-9D5B-7821C73766E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98</a:t>
            </a:r>
          </a:p>
        </p:txBody>
      </p:sp>
      <p:sp>
        <p:nvSpPr>
          <p:cNvPr id="5" name="">
            <a:extLst xmlns:a="http://schemas.openxmlformats.org/drawingml/2006/main">
              <a:ext uri="{FF2B5EF4-FFF2-40B4-BE49-F238E27FC236}">
                <a16:creationId xmlns:a16="http://schemas.microsoft.com/office/drawing/2014/main" id="{300CC401-FF9D-4BD8-BE00-BD59184C504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saline should flush easily.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the saline does not flush easily, check to be sure the tourniquet is released.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Also try straightening the arm because sometimes bending the elbow can kink a vein and prevent the IV from functioning.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it still does not flush easily, try aspirating.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Sometimes an IV will begin to work if it is withdrawn slightly so the tip of the IV seats in a better position within the vein.</a:t>
            </a:r>
          </a:p>
        </p:txBody>
      </p:sp>
      <p:sp>
        <p:nvSpPr>
          <p:cNvPr id="6" name="">
            <a:extLst xmlns:a="http://schemas.openxmlformats.org/drawingml/2006/main">
              <a:ext uri="{FF2B5EF4-FFF2-40B4-BE49-F238E27FC236}">
                <a16:creationId xmlns:a16="http://schemas.microsoft.com/office/drawing/2014/main" id="{CBF9E747-6732-4226-A4B0-F79B63E3A4F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FE39B10-40A7-4673-95AF-4820DBD8FC5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107</a:t>
            </a:r>
          </a:p>
        </p:txBody>
      </p:sp>
    </p:spTree>
    <p:extLst>
      <p:ext uri="{BB962C8B-B14F-4D97-AF65-F5344CB8AC3E}">
        <p14:creationId xmlns:p14="http://schemas.microsoft.com/office/powerpoint/2010/main" val="2032401472"/>
      </p:ext>
    </p:extLst>
  </p:cSld>
</p:sld>
</file>

<file path=ppt/slides/slide9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1BA4205-1385-4217-8A20-001A5B3878F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3180437-5502-4E07-9F77-ECF17CD5ED2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4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 — continued</a:t>
            </a:r>
          </a:p>
        </p:txBody>
      </p:sp>
      <p:sp>
        <p:nvSpPr>
          <p:cNvPr id="3" name="">
            <a:extLst xmlns:a="http://schemas.openxmlformats.org/drawingml/2006/main">
              <a:ext uri="{FF2B5EF4-FFF2-40B4-BE49-F238E27FC236}">
                <a16:creationId xmlns:a16="http://schemas.microsoft.com/office/drawing/2014/main" id="{D3DBA0ED-8FD1-4AEA-BDF7-4E1C4C41A11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342F3D8-BF96-42CF-AB36-CE205CDB6AC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99</a:t>
            </a:r>
          </a:p>
        </p:txBody>
      </p:sp>
      <p:sp>
        <p:nvSpPr>
          <p:cNvPr id="5" name="">
            <a:extLst xmlns:a="http://schemas.openxmlformats.org/drawingml/2006/main">
              <a:ext uri="{FF2B5EF4-FFF2-40B4-BE49-F238E27FC236}">
                <a16:creationId xmlns:a16="http://schemas.microsoft.com/office/drawing/2014/main" id="{8D4F2423-382C-413F-B22A-FBFF7CCF3DA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Secure with Tape Tape the IV in place using three or four strips of tape to prevent accidental removal.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Place one or two pieces over the actual skin puncture site.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Place additional pieces over loops of tubing so that there is some strain relief.</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Consider taping to be one of the most important tasks because it prevents you from having to repeat the IV insertion in the event of an inadvertent tug on the IV tubing.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Test IV To test the IV inject a small amount of normal saline into IV line.</a:t>
            </a:r>
          </a:p>
        </p:txBody>
      </p:sp>
      <p:sp>
        <p:nvSpPr>
          <p:cNvPr id="6" name="">
            <a:extLst xmlns:a="http://schemas.openxmlformats.org/drawingml/2006/main">
              <a:ext uri="{FF2B5EF4-FFF2-40B4-BE49-F238E27FC236}">
                <a16:creationId xmlns:a16="http://schemas.microsoft.com/office/drawing/2014/main" id="{3BA0CEAF-AC28-44EC-BCE9-AA1A5324ECF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7CEE12C-C9DB-42BF-8CAC-2F18C9FCCAD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107</a:t>
            </a:r>
          </a:p>
        </p:txBody>
      </p:sp>
    </p:spTree>
    <p:extLst>
      <p:ext uri="{BB962C8B-B14F-4D97-AF65-F5344CB8AC3E}">
        <p14:creationId xmlns:p14="http://schemas.microsoft.com/office/powerpoint/2010/main" val="1609603930"/>
      </p:ext>
    </p:extLst>
  </p:cSld>
</p:sld>
</file>

<file path=ppt/slides/slide10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872317-1DCD-4A23-A07F-B2AB5573E61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A1F07A3-E92A-4FDB-BEA1-6335DAA756C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4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 — continued</a:t>
            </a:r>
          </a:p>
        </p:txBody>
      </p:sp>
      <p:sp>
        <p:nvSpPr>
          <p:cNvPr id="3" name="">
            <a:extLst xmlns:a="http://schemas.openxmlformats.org/drawingml/2006/main">
              <a:ext uri="{FF2B5EF4-FFF2-40B4-BE49-F238E27FC236}">
                <a16:creationId xmlns:a16="http://schemas.microsoft.com/office/drawing/2014/main" id="{0CFF4D49-A53D-4577-B594-D68F361271D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0C66364-8C38-4D2B-BCC0-E435E0D41FF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100</a:t>
            </a:r>
          </a:p>
        </p:txBody>
      </p:sp>
      <p:sp>
        <p:nvSpPr>
          <p:cNvPr id="5" name="">
            <a:extLst xmlns:a="http://schemas.openxmlformats.org/drawingml/2006/main">
              <a:ext uri="{FF2B5EF4-FFF2-40B4-BE49-F238E27FC236}">
                <a16:creationId xmlns:a16="http://schemas.microsoft.com/office/drawing/2014/main" id="{4CE53788-243E-4446-AF80-4D1E7EE5D9E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There should be no resistance.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If necessary you may also test the IV by aspirating until blood is seen entering the IV tubing.</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Flush the blood returned with normal saline and monitor the person frequently 111</a:t>
            </a:r>
          </a:p>
        </p:txBody>
      </p:sp>
      <p:sp>
        <p:nvSpPr>
          <p:cNvPr id="6" name="">
            <a:extLst xmlns:a="http://schemas.openxmlformats.org/drawingml/2006/main">
              <a:ext uri="{FF2B5EF4-FFF2-40B4-BE49-F238E27FC236}">
                <a16:creationId xmlns:a16="http://schemas.microsoft.com/office/drawing/2014/main" id="{BFC15CE0-8D5E-41E6-90D1-13504936E41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3F02B66-1EBD-41EC-8219-A2E4C1BA9AB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107</a:t>
            </a:r>
          </a:p>
        </p:txBody>
      </p:sp>
    </p:spTree>
    <p:extLst>
      <p:ext uri="{BB962C8B-B14F-4D97-AF65-F5344CB8AC3E}">
        <p14:creationId xmlns:p14="http://schemas.microsoft.com/office/powerpoint/2010/main" val="1777388445"/>
      </p:ext>
    </p:extLst>
  </p:cSld>
</p:sld>
</file>

<file path=ppt/slides/slide10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94088F0-2102-469E-ACAA-6F2F8A58121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0C8CF25-9A2D-4F98-A9C1-756FC71CF38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Milan DA. Starting IVs: how to teach good venipuncture technique. American</a:t>
            </a:r>
          </a:p>
        </p:txBody>
      </p:sp>
      <p:sp>
        <p:nvSpPr>
          <p:cNvPr id="3" name="">
            <a:extLst xmlns:a="http://schemas.openxmlformats.org/drawingml/2006/main">
              <a:ext uri="{FF2B5EF4-FFF2-40B4-BE49-F238E27FC236}">
                <a16:creationId xmlns:a16="http://schemas.microsoft.com/office/drawing/2014/main" id="{2DFF0E91-2658-4C26-86ED-0641455EE31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034836E-69A1-42C7-BDD6-3D858DA3763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101</a:t>
            </a:r>
          </a:p>
        </p:txBody>
      </p:sp>
      <p:sp>
        <p:nvSpPr>
          <p:cNvPr id="5" name="">
            <a:extLst xmlns:a="http://schemas.openxmlformats.org/drawingml/2006/main">
              <a:ext uri="{FF2B5EF4-FFF2-40B4-BE49-F238E27FC236}">
                <a16:creationId xmlns:a16="http://schemas.microsoft.com/office/drawing/2014/main" id="{4435F259-5406-4CDA-8081-EA640D86787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Bibliography Joint Commission on Accreditation of healthcare organizations (JCAHO), Comprehensive accreditation Manual for hospitals Oakbrook Terrace, ILL.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Journal of Nursing1 993;93(7) 38-41.</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Millan DA.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Starting IVs: how to develop your venipuncture expertise.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Nursing 1992; 178:38-41.</a:t>
            </a:r>
          </a:p>
        </p:txBody>
      </p:sp>
      <p:sp>
        <p:nvSpPr>
          <p:cNvPr id="6" name="">
            <a:extLst xmlns:a="http://schemas.openxmlformats.org/drawingml/2006/main">
              <a:ext uri="{FF2B5EF4-FFF2-40B4-BE49-F238E27FC236}">
                <a16:creationId xmlns:a16="http://schemas.microsoft.com/office/drawing/2014/main" id="{F22AB98C-E660-4324-87A7-147F425C10E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BC91355-CB9A-42D1-8D24-D89C0C2EC1E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108</a:t>
            </a:r>
          </a:p>
        </p:txBody>
      </p:sp>
    </p:spTree>
    <p:extLst>
      <p:ext uri="{BB962C8B-B14F-4D97-AF65-F5344CB8AC3E}">
        <p14:creationId xmlns:p14="http://schemas.microsoft.com/office/powerpoint/2010/main" val="872279307"/>
      </p:ext>
    </p:extLst>
  </p:cSld>
</p:sld>
</file>

<file path=ppt/slides/slide10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BDFA26B-5C5C-462F-8E9A-8C64AAF8E22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4877969-4DEE-4B4B-A8A2-A317400B379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Milan DA. Starting IVs: how to teach good venipuncture technique. American — continued</a:t>
            </a:r>
          </a:p>
        </p:txBody>
      </p:sp>
      <p:sp>
        <p:nvSpPr>
          <p:cNvPr id="3" name="">
            <a:extLst xmlns:a="http://schemas.openxmlformats.org/drawingml/2006/main">
              <a:ext uri="{FF2B5EF4-FFF2-40B4-BE49-F238E27FC236}">
                <a16:creationId xmlns:a16="http://schemas.microsoft.com/office/drawing/2014/main" id="{CFD857E2-7B8F-4BD7-A0D0-D0EEE238054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BCA5A67-2309-42FD-BB47-792F2913525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102</a:t>
            </a:r>
          </a:p>
        </p:txBody>
      </p:sp>
      <p:sp>
        <p:nvSpPr>
          <p:cNvPr id="5" name="">
            <a:extLst xmlns:a="http://schemas.openxmlformats.org/drawingml/2006/main">
              <a:ext uri="{FF2B5EF4-FFF2-40B4-BE49-F238E27FC236}">
                <a16:creationId xmlns:a16="http://schemas.microsoft.com/office/drawing/2014/main" id="{B705E3AD-F919-4B9A-AE15-9FDF76F6427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US Department of Health and Human Services.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Public Health Service Centers for Disease Control and Prevention.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Guidelines for prevention of intravascular device related infections.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American Journal of Infection Control 1996; 24:2620293.</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www.mrprotocols.com/sset/iv.html 112</a:t>
            </a:r>
          </a:p>
        </p:txBody>
      </p:sp>
      <p:sp>
        <p:nvSpPr>
          <p:cNvPr id="6" name="">
            <a:extLst xmlns:a="http://schemas.openxmlformats.org/drawingml/2006/main">
              <a:ext uri="{FF2B5EF4-FFF2-40B4-BE49-F238E27FC236}">
                <a16:creationId xmlns:a16="http://schemas.microsoft.com/office/drawing/2014/main" id="{3E266965-3BCC-4220-88D0-CE6AA07EC6F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394CF92-1CD4-4520-8459-975EC567586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108</a:t>
            </a:r>
          </a:p>
        </p:txBody>
      </p:sp>
    </p:spTree>
    <p:extLst>
      <p:ext uri="{BB962C8B-B14F-4D97-AF65-F5344CB8AC3E}">
        <p14:creationId xmlns:p14="http://schemas.microsoft.com/office/powerpoint/2010/main" val="721348833"/>
      </p:ext>
    </p:extLst>
  </p:cSld>
</p:sld>
</file>

<file path=ppt/slides/slide10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1D908EA-3725-49A9-A921-ED986F5E336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09C3344-09B5-4B19-9380-A5EC5757FBB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FCE7377C-0460-4AFE-927F-83D9F410B5A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AAA509C-1668-4EB3-9FB9-196AE663B85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103</a:t>
            </a:r>
          </a:p>
        </p:txBody>
      </p:sp>
      <p:sp>
        <p:nvSpPr>
          <p:cNvPr id="5" name="">
            <a:extLst xmlns:a="http://schemas.openxmlformats.org/drawingml/2006/main">
              <a:ext uri="{FF2B5EF4-FFF2-40B4-BE49-F238E27FC236}">
                <a16:creationId xmlns:a16="http://schemas.microsoft.com/office/drawing/2014/main" id="{2B46CBCD-C2A0-4C6C-A12B-4C6E5B614650}"/>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Palpate and select veins on a task trainer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Perform the complete insertion sequence without contamination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Discontinue the catheter and verify that it remains intact</a:t>
            </a:r>
          </a:p>
        </p:txBody>
      </p:sp>
      <p:sp>
        <p:nvSpPr>
          <p:cNvPr id="6" name="">
            <a:extLst xmlns:a="http://schemas.openxmlformats.org/drawingml/2006/main">
              <a:ext uri="{FF2B5EF4-FFF2-40B4-BE49-F238E27FC236}">
                <a16:creationId xmlns:a16="http://schemas.microsoft.com/office/drawing/2014/main" id="{1BCEEE65-56C6-4F70-8292-F37F1AB9C609}"/>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447864733"/>
      </p:ext>
    </p:extLst>
  </p:cSld>
</p:sld>
</file>

<file path=ppt/slides/slide10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2E8C80-7ADC-44DD-8F4F-237857E3B8F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5AF9431-FD46-42BE-A440-D95D1BF4247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5E019278-C84E-4E72-AE9C-5E1972F9420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9BB4D44-A8B7-47CA-9E13-DFEAE9E9962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104</a:t>
            </a:r>
          </a:p>
        </p:txBody>
      </p:sp>
      <p:sp>
        <p:nvSpPr>
          <p:cNvPr id="5" name="">
            <a:extLst xmlns:a="http://schemas.openxmlformats.org/drawingml/2006/main">
              <a:ext uri="{FF2B5EF4-FFF2-40B4-BE49-F238E27FC236}">
                <a16:creationId xmlns:a16="http://schemas.microsoft.com/office/drawing/2014/main" id="{823C5D4D-EA73-4084-AA25-A448071CB93C}"/>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Select an appropriate peripheral vein and catheter</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Perform hand hygiene, prepare and position the patient, apply the tourniquet, cleanse the site with the approved antiseptic, let it dry, stabilize the vein, observe flashback, thread the catheter, and activate sharps protection.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Cool swelling suggests infiltration. Pain, warmth, redness, or a venous cord suggests phlebitis. Burning or tissue injury with a vesicant suggests extravasation. Stop unsafe therapy and follow the condition-specific protocol.</a:t>
            </a:r>
          </a:p>
        </p:txBody>
      </p:sp>
      <p:sp>
        <p:nvSpPr>
          <p:cNvPr id="6" name="">
            <a:extLst xmlns:a="http://schemas.openxmlformats.org/drawingml/2006/main">
              <a:ext uri="{FF2B5EF4-FFF2-40B4-BE49-F238E27FC236}">
                <a16:creationId xmlns:a16="http://schemas.microsoft.com/office/drawing/2014/main" id="{FF5882A2-B80F-4FBA-8750-AE67FF6EF8C4}"/>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1909052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2026-10-23T07:16:09.8110000Z</dcterms:created>
  <dcterms:modified xsi:type="dcterms:W3CDTF">2026-10-23T07:16:09.8110000Z</dcterms:modified>
</coreProperties>
</file>