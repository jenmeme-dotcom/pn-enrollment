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12bb2e4cc474079" /><Relationship Type="http://schemas.openxmlformats.org/officeDocument/2006/relationships/extended-properties" Target="/docProps/app.xml" Id="Ra9b5352ca00b456a" /><Relationship Type="http://schemas.openxmlformats.org/officeDocument/2006/relationships/officeDocument" Target="/ppt/presentation.xml" Id="R00668bedf671442a" /></Relationships>
</file>

<file path=ppt/presentation.xml><?xml version="1.0" encoding="utf-8"?>
<p:presentation xmlns:p="http://schemas.openxmlformats.org/presentationml/2006/main">
  <p:sldMasterIdLst>
    <p:sldMasterId xmlns:r="http://schemas.openxmlformats.org/officeDocument/2006/relationships" id="2147483648" r:id="R17523012ab044578"/>
  </p:sldMasterIdLst>
  <p:notesMasterIdLst>
    <p:notesMasterId xmlns:r="http://schemas.openxmlformats.org/officeDocument/2006/relationships" r:id="R47d7c524cac94d9e"/>
  </p:notesMasterIdLst>
  <p:sldIdLst>
    <p:sldId xmlns:r="http://schemas.openxmlformats.org/officeDocument/2006/relationships" id="256" r:id="R596587b22c614018"/>
    <p:sldId xmlns:r="http://schemas.openxmlformats.org/officeDocument/2006/relationships" id="257" r:id="R51d6e1ba13264f0d"/>
    <p:sldId xmlns:r="http://schemas.openxmlformats.org/officeDocument/2006/relationships" id="258" r:id="Rd7891fbdae504f3c"/>
    <p:sldId xmlns:r="http://schemas.openxmlformats.org/officeDocument/2006/relationships" id="259" r:id="Rf02ba3bd646246da"/>
    <p:sldId xmlns:r="http://schemas.openxmlformats.org/officeDocument/2006/relationships" id="260" r:id="R22291769cd1047e1"/>
    <p:sldId xmlns:r="http://schemas.openxmlformats.org/officeDocument/2006/relationships" id="261" r:id="Re703d41ec6504a11"/>
    <p:sldId xmlns:r="http://schemas.openxmlformats.org/officeDocument/2006/relationships" id="262" r:id="R5b64b994908b4ec9"/>
    <p:sldId xmlns:r="http://schemas.openxmlformats.org/officeDocument/2006/relationships" id="263" r:id="R57bb026554714276"/>
    <p:sldId xmlns:r="http://schemas.openxmlformats.org/officeDocument/2006/relationships" id="264" r:id="R35afa537decf4105"/>
    <p:sldId xmlns:r="http://schemas.openxmlformats.org/officeDocument/2006/relationships" id="265" r:id="R09418aa45d9c4491"/>
    <p:sldId xmlns:r="http://schemas.openxmlformats.org/officeDocument/2006/relationships" id="266" r:id="R4d750f1449294ff3"/>
    <p:sldId xmlns:r="http://schemas.openxmlformats.org/officeDocument/2006/relationships" id="267" r:id="Ref0bc7e7eea04eca"/>
    <p:sldId xmlns:r="http://schemas.openxmlformats.org/officeDocument/2006/relationships" id="268" r:id="Rf830a5a58fd84fe7"/>
    <p:sldId xmlns:r="http://schemas.openxmlformats.org/officeDocument/2006/relationships" id="269" r:id="R30c9697c79ce48b0"/>
    <p:sldId xmlns:r="http://schemas.openxmlformats.org/officeDocument/2006/relationships" id="270" r:id="R525daf17269648c5"/>
    <p:sldId xmlns:r="http://schemas.openxmlformats.org/officeDocument/2006/relationships" id="271" r:id="Rb7f6168ce51e457d"/>
    <p:sldId xmlns:r="http://schemas.openxmlformats.org/officeDocument/2006/relationships" id="272" r:id="Rf681c0d796e94b9f"/>
    <p:sldId xmlns:r="http://schemas.openxmlformats.org/officeDocument/2006/relationships" id="273" r:id="R5e35e663970c4ac4"/>
    <p:sldId xmlns:r="http://schemas.openxmlformats.org/officeDocument/2006/relationships" id="274" r:id="R0c908b733d154100"/>
    <p:sldId xmlns:r="http://schemas.openxmlformats.org/officeDocument/2006/relationships" id="275" r:id="R0c353aa43f4046e4"/>
    <p:sldId xmlns:r="http://schemas.openxmlformats.org/officeDocument/2006/relationships" id="276" r:id="R39a8c9449bd54686"/>
    <p:sldId xmlns:r="http://schemas.openxmlformats.org/officeDocument/2006/relationships" id="277" r:id="R5bf145773429466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319f5b4f07045cc" /><Relationship Type="http://schemas.openxmlformats.org/officeDocument/2006/relationships/slideMaster" Target="/ppt/slideMasters/slideMaster1.xml" Id="R17523012ab044578" /><Relationship Type="http://schemas.openxmlformats.org/officeDocument/2006/relationships/notesMaster" Target="/ppt/notesMasters/notesMaster1.xml" Id="R47d7c524cac94d9e" /><Relationship Type="http://schemas.openxmlformats.org/officeDocument/2006/relationships/presProps" Target="/ppt/presProps.xml" Id="R6b08f01fb61b4f03" /><Relationship Type="http://schemas.openxmlformats.org/officeDocument/2006/relationships/tableStyles" Target="/ppt/tableStyles.xml" Id="Rf2904add53dd483a" /><Relationship Type="http://schemas.openxmlformats.org/officeDocument/2006/relationships/slide" Target="/ppt/slides/slide1.xml" Id="R596587b22c614018" /><Relationship Type="http://schemas.openxmlformats.org/officeDocument/2006/relationships/slide" Target="/ppt/slides/slide2.xml" Id="R51d6e1ba13264f0d" /><Relationship Type="http://schemas.openxmlformats.org/officeDocument/2006/relationships/slide" Target="/ppt/slides/slide3.xml" Id="Rd7891fbdae504f3c" /><Relationship Type="http://schemas.openxmlformats.org/officeDocument/2006/relationships/slide" Target="/ppt/slides/slide4.xml" Id="Rf02ba3bd646246da" /><Relationship Type="http://schemas.openxmlformats.org/officeDocument/2006/relationships/slide" Target="/ppt/slides/slide5.xml" Id="R22291769cd1047e1" /><Relationship Type="http://schemas.openxmlformats.org/officeDocument/2006/relationships/slide" Target="/ppt/slides/slide6.xml" Id="Re703d41ec6504a11" /><Relationship Type="http://schemas.openxmlformats.org/officeDocument/2006/relationships/slide" Target="/ppt/slides/slide7.xml" Id="R5b64b994908b4ec9" /><Relationship Type="http://schemas.openxmlformats.org/officeDocument/2006/relationships/slide" Target="/ppt/slides/slide8.xml" Id="R57bb026554714276" /><Relationship Type="http://schemas.openxmlformats.org/officeDocument/2006/relationships/slide" Target="/ppt/slides/slide9.xml" Id="R35afa537decf4105" /><Relationship Type="http://schemas.openxmlformats.org/officeDocument/2006/relationships/slide" Target="/ppt/slides/slide10.xml" Id="R09418aa45d9c4491" /><Relationship Type="http://schemas.openxmlformats.org/officeDocument/2006/relationships/slide" Target="/ppt/slides/slide11.xml" Id="R4d750f1449294ff3" /><Relationship Type="http://schemas.openxmlformats.org/officeDocument/2006/relationships/slide" Target="/ppt/slides/slide12.xml" Id="Ref0bc7e7eea04eca" /><Relationship Type="http://schemas.openxmlformats.org/officeDocument/2006/relationships/slide" Target="/ppt/slides/slide13.xml" Id="Rf830a5a58fd84fe7" /><Relationship Type="http://schemas.openxmlformats.org/officeDocument/2006/relationships/slide" Target="/ppt/slides/slide14.xml" Id="R30c9697c79ce48b0" /><Relationship Type="http://schemas.openxmlformats.org/officeDocument/2006/relationships/slide" Target="/ppt/slides/slide15.xml" Id="R525daf17269648c5" /><Relationship Type="http://schemas.openxmlformats.org/officeDocument/2006/relationships/slide" Target="/ppt/slides/slide16.xml" Id="Rb7f6168ce51e457d" /><Relationship Type="http://schemas.openxmlformats.org/officeDocument/2006/relationships/slide" Target="/ppt/slides/slide17.xml" Id="Rf681c0d796e94b9f" /><Relationship Type="http://schemas.openxmlformats.org/officeDocument/2006/relationships/slide" Target="/ppt/slides/slide18.xml" Id="R5e35e663970c4ac4" /><Relationship Type="http://schemas.openxmlformats.org/officeDocument/2006/relationships/slide" Target="/ppt/slides/slide19.xml" Id="R0c908b733d154100" /><Relationship Type="http://schemas.openxmlformats.org/officeDocument/2006/relationships/slide" Target="/ppt/slides/slide20.xml" Id="R0c353aa43f4046e4" /><Relationship Type="http://schemas.openxmlformats.org/officeDocument/2006/relationships/slide" Target="/ppt/slides/slide21.xml" Id="R39a8c9449bd54686" /><Relationship Type="http://schemas.openxmlformats.org/officeDocument/2006/relationships/slide" Target="/ppt/slides/slide22.xml" Id="R5bf14577342946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f8b242e918344c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1afdc0c8d67410f" /><Relationship Type="http://schemas.openxmlformats.org/officeDocument/2006/relationships/notesMaster" Target="/ppt/notesMasters/notesMaster1.xml" Id="R35083f93ca684bc9" /></Relationships>
</file>

<file path=ppt/notesSlides/_rels/notesSlide2.xml.rels>&#65279;<?xml version="1.0" encoding="utf-8"?><Relationships xmlns="http://schemas.openxmlformats.org/package/2006/relationships"><Relationship Type="http://schemas.openxmlformats.org/officeDocument/2006/relationships/slide" Target="/ppt/slides/slide2.xml" Id="Rbf9bc190972c4632" /><Relationship Type="http://schemas.openxmlformats.org/officeDocument/2006/relationships/notesMaster" Target="/ppt/notesMasters/notesMaster1.xml" Id="R7d0fcf8a6f4042a2" /></Relationships>
</file>

<file path=ppt/notesSlides/_rels/notesSlide3.xml.rels>&#65279;<?xml version="1.0" encoding="utf-8"?><Relationships xmlns="http://schemas.openxmlformats.org/package/2006/relationships"><Relationship Type="http://schemas.openxmlformats.org/officeDocument/2006/relationships/slide" Target="/ppt/slides/slide3.xml" Id="R3d4c95a8ccc34982" /><Relationship Type="http://schemas.openxmlformats.org/officeDocument/2006/relationships/notesMaster" Target="/ppt/notesMasters/notesMaster1.xml" Id="Re4bd85152f6743b4" /></Relationships>
</file>

<file path=ppt/notesSlides/_rels/notesSlide4.xml.rels>&#65279;<?xml version="1.0" encoding="utf-8"?><Relationships xmlns="http://schemas.openxmlformats.org/package/2006/relationships"><Relationship Type="http://schemas.openxmlformats.org/officeDocument/2006/relationships/slide" Target="/ppt/slides/slide4.xml" Id="Raf3f325c632a4704" /><Relationship Type="http://schemas.openxmlformats.org/officeDocument/2006/relationships/notesMaster" Target="/ppt/notesMasters/notesMaster1.xml" Id="R50a3ee0c652d4f6e" /></Relationships>
</file>

<file path=ppt/notesSlides/_rels/notesSlide5.xml.rels>&#65279;<?xml version="1.0" encoding="utf-8"?><Relationships xmlns="http://schemas.openxmlformats.org/package/2006/relationships"><Relationship Type="http://schemas.openxmlformats.org/officeDocument/2006/relationships/slide" Target="/ppt/slides/slide5.xml" Id="R9c9b0202fda448f0" /><Relationship Type="http://schemas.openxmlformats.org/officeDocument/2006/relationships/notesMaster" Target="/ppt/notesMasters/notesMaster1.xml" Id="R16f97a6d2c2e46b3" /></Relationships>
</file>

<file path=ppt/notesSlides/_rels/notesSlide6.xml.rels>&#65279;<?xml version="1.0" encoding="utf-8"?><Relationships xmlns="http://schemas.openxmlformats.org/package/2006/relationships"><Relationship Type="http://schemas.openxmlformats.org/officeDocument/2006/relationships/slide" Target="/ppt/slides/slide6.xml" Id="R6c516b9fbe474bd6" /><Relationship Type="http://schemas.openxmlformats.org/officeDocument/2006/relationships/notesMaster" Target="/ppt/notesMasters/notesMaster1.xml" Id="R910e265a1bef4d4e" /></Relationships>
</file>

<file path=ppt/notesSlides/_rels/notesSlide7.xml.rels>&#65279;<?xml version="1.0" encoding="utf-8"?><Relationships xmlns="http://schemas.openxmlformats.org/package/2006/relationships"><Relationship Type="http://schemas.openxmlformats.org/officeDocument/2006/relationships/slide" Target="/ppt/slides/slide7.xml" Id="Rc114fbff42744682" /><Relationship Type="http://schemas.openxmlformats.org/officeDocument/2006/relationships/notesMaster" Target="/ppt/notesMasters/notesMaster1.xml" Id="R798145c924f84a71" /></Relationships>
</file>

<file path=ppt/notesSlides/_rels/notesSlide8.xml.rels>&#65279;<?xml version="1.0" encoding="utf-8"?><Relationships xmlns="http://schemas.openxmlformats.org/package/2006/relationships"><Relationship Type="http://schemas.openxmlformats.org/officeDocument/2006/relationships/slide" Target="/ppt/slides/slide8.xml" Id="R1613f840e5e248b0" /><Relationship Type="http://schemas.openxmlformats.org/officeDocument/2006/relationships/notesMaster" Target="/ppt/notesMasters/notesMaster1.xml" Id="Rf5753127fbfb4ef1" /></Relationships>
</file>

<file path=ppt/notesSlides/_rels/notesSlide9.xml.rels>&#65279;<?xml version="1.0" encoding="utf-8"?><Relationships xmlns="http://schemas.openxmlformats.org/package/2006/relationships"><Relationship Type="http://schemas.openxmlformats.org/officeDocument/2006/relationships/slide" Target="/ppt/slides/slide9.xml" Id="R3b95188e606f4fa8" /><Relationship Type="http://schemas.openxmlformats.org/officeDocument/2006/relationships/notesMaster" Target="/ppt/notesMasters/notesMaster1.xml" Id="Rc31c4b5f44a645d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f0c899a91504491" /><Relationship Type="http://schemas.openxmlformats.org/officeDocument/2006/relationships/notesMaster" Target="/ppt/notesMasters/notesMaster1.xml" Id="Rf76af9a3bcdc400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07cc455f19e4655" /><Relationship Type="http://schemas.openxmlformats.org/officeDocument/2006/relationships/notesMaster" Target="/ppt/notesMasters/notesMaster1.xml" Id="R266841db722d4ff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dae159c90a34385" /><Relationship Type="http://schemas.openxmlformats.org/officeDocument/2006/relationships/notesMaster" Target="/ppt/notesMasters/notesMaster1.xml" Id="R2a7145711a874df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19f0894afd744bb" /><Relationship Type="http://schemas.openxmlformats.org/officeDocument/2006/relationships/notesMaster" Target="/ppt/notesMasters/notesMaster1.xml" Id="Rccb447269d3c4f6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bdcfbd2523b4545" /><Relationship Type="http://schemas.openxmlformats.org/officeDocument/2006/relationships/notesMaster" Target="/ppt/notesMasters/notesMaster1.xml" Id="R3f36e3795bf7424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e879423d7bd4e3e" /><Relationship Type="http://schemas.openxmlformats.org/officeDocument/2006/relationships/notesMaster" Target="/ppt/notesMasters/notesMaster1.xml" Id="R762df19455d7441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57ac0bfc91d45d4" /><Relationship Type="http://schemas.openxmlformats.org/officeDocument/2006/relationships/notesMaster" Target="/ppt/notesMasters/notesMaster1.xml" Id="R968507f31d87498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37d51fd8213420d" /><Relationship Type="http://schemas.openxmlformats.org/officeDocument/2006/relationships/notesMaster" Target="/ppt/notesMasters/notesMaster1.xml" Id="R96e8e35116f145e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6ab43c6938f4300" /><Relationship Type="http://schemas.openxmlformats.org/officeDocument/2006/relationships/notesMaster" Target="/ppt/notesMasters/notesMaster1.xml" Id="Raedd671a5d224cd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730ad1a2f97409d" /><Relationship Type="http://schemas.openxmlformats.org/officeDocument/2006/relationships/notesMaster" Target="/ppt/notesMasters/notesMaster1.xml" Id="Rdcf3f3842c704ba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c54c6c010614ae5" /><Relationship Type="http://schemas.openxmlformats.org/officeDocument/2006/relationships/notesMaster" Target="/ppt/notesMasters/notesMaster1.xml" Id="R426d6543f5fd4ae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0f5ebb6ea434e63" /><Relationship Type="http://schemas.openxmlformats.org/officeDocument/2006/relationships/notesMaster" Target="/ppt/notesMasters/notesMaster1.xml" Id="R558a70c1ee55437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9104c2be0944efa" /><Relationship Type="http://schemas.openxmlformats.org/officeDocument/2006/relationships/notesMaster" Target="/ppt/notesMasters/notesMaster1.xml" Id="R9937092df760404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Venipuncture Standards and Practice, Module 7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 BMHI IVT 030 course content. Cover media: Pexels photo by Sahil Singh, https://www.pexels.com/photo/nurses-training-with-medical-mannequin-in-simulation-lab-35645529/,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Select an appropriate peripheral vein and catheter Next, Perform aseptic insertion and securement on a task trainer Next, Assess, maintain, and discontinue a peripheral IV safely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Site and device selection. First, Begin distally when appropriate. Next, Avoid compromised extremities and sites of infection, flexion, poor circulation, or prior complications. Next, Select the smallest gauge and shortest catheter that can support the ordered therapy.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Aseptic insertion. First, Perform hand hygiene, prepare and position the patient, apply the tourniquet, cleanse the site with the approved antiseptic, let it dry, stabilize the vein, observe flashback, thread the catheter, and activate sharps protection.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Securement and maintenance. First, Connect a primed extension aseptically, assess patency without force, secure the catheter, apply and label the dressing, trace tubing, start the ordered therapy, and reassess the site and patient.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Complication cues. First, Cool swelling suggests infiltration. Next, Pain, warmth, redness, or a venous cord suggests phlebitis. Next, Burning or tissue injury with a vesicant suggests extravasation. Next, Stop unsafe therapy and follow the condition-specific protocol.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Choose the site before the catheter. First, Start with the prescribed therapy: pH, osmolarity, duration, flow requirement, and vesicant risk affect device choice. Next, Select a vein that is palpable, resilient, and appropriate for the therapy. Next, Prefer the smallest suitable gauge and shortest catheter. Next, Avoid infected, injured, poorly perfused, or policy-restricted extremities and areas of flexion when possible.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Vein-wall anatomy and complication risk. First, Tunica intima: Smooth inner lining and venous valves; Trauma, chemical irritation, or contamination can promote phlebitis and thrombosis Next, Tunica media: Muscle and elastic tissue; Irritation can trigger venospasm, pain, and reduced flow Next, Tunica adventitia: Outer connective-tissue support; Deep advancement or vessel injury can affect surrounding tissue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Additional source: Peripheral Intravenous Initiation Self Learning Module, pages 7-8.</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Vein or artery? Stop when the findings do not fit. First, Palpation: Soft, compressible, nonpulsatile; Pulsation or firm recoil: do not cannulate Next, Location: Often superficial and visible or palpable; Often deeper and protected; confirm anatomy before proceeding Next, Blood return: Usually darker and lower pressure; Bright or pulsatile return is an emergency cue—stop and escalate Next, When uncertain: Reassess the site and therapy; Do not rely on color alone; obtain qualified assistance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Additional source: Phlebotomy Skills and Practicum Review, pages 7-8. Blood color can be altered by oxygenation and clinical conditions; palpation, anatomy, patient assessment, and facility escalation policy take priority.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Vein assessment uses sight and touch. First, Inspect both appropriate extremities before choosing a site. Next, Use one or two fingertips rather than the thumb to palpate the vessel. Next, Press lightly, release, and assess elasticity, rebound filling, direction, depth, and length. Next, Palpate even when a vein looks easy to access; appearance alone does not confirm suitability.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Additional source: Peripheral Intravenous Initiation Self Learning Module, page 18.</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Strategies for a poorly filled vein. First, Lower the arm below heart level before applying the tourniquet when the patient's condition permits. Next, Ask the patient to gently open and close the hand, then relax it for insertion. Next, Use light tapping rather than forceful striking, which may cause vasoconstriction. Next, Apply an approved warm compress according to facility policy and reassess the vein before proceeding.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Additional source: Peripheral Intravenous Initiation Self Learning Module, pages 19-20. Follow current facility policy for warming devices and exposure time.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Peripheral catheter selection. First, Routine fluids or intermittent medication: Use the smallest gauge that reliably supports therapy Next, Rapid volume or blood: A larger bore may be required when clinically appropriate Next, Fragile or small veins: Choose a smaller gauge and appropriate short catheter Next, Long duration or irritating therapy: Reassess whether a different vascular-access device is indicated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Insertion sequence: prepare and access. First, Verify the order, identify and teach the patient, perform hand hygiene, and gather supplies. Next, Position the limb, assess veins, apply the tourniquet, and select the site. Next, Cleanse with the approved antiseptic using the required friction and allow it to dry completely. Next, Stabilize the vein, insert bevel up, observe flashback, lower the angle, and advance the catheter—not the needle.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Insertion sequence: connect and secure. First, Release the tourniquet, apply appropriate pressure, activate the sharps safety device, and discard immediately. Next, Connect the primed extension without contaminating key parts. Next, Confirm patency using the approved assessment; never force a flush. Next, Secure and dress the catheter, label it, start the ordered therapy, teach the patient, and document.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Sharps safety is part of every IV start. First, Place an approved, closable, puncture-resistant sharps container within easy reach before beginning. Next, Never bend, break, remove, or recap the introducer needle. Next, Activate the engineered safety feature immediately after withdrawal and visually confirm activation when the device permits. Next, Dispose of the sharp at once; never carry it, hand it to another person, or force it into an overfilled container. Next, If an injury occurs, stop safely and follow the facility exposure-control plan without delay.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Additional sources: Phlebotomy Skills and Practicum Review, pages 5-6 and 12; 30 Hour IV Certification Study Guide, revised March 2013, pages 9-11. Content is adapted to current OSHA requirements, the device instructions for use, and facility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Occupational exposure: immediate response. First, Needlestick or cut: Wash with soap and water; do not scrub aggressively or squeeze the wound Next, Eye or mucous-membrane splash: Flush promptly with water or the designated eyewash Next, Nonintact-skin contact: Wash the area promptly and remove contaminated clothing as directed Next, Every exposure: Report immediately, identify the source process when permitted, and obtain confidential medical evaluation and follow-up Next, Do not delay reporting while deciding whether the exposure seems serious. Follow the employer's written exposure-control plan and current post-exposure protocol.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Do not delay reporting while deciding whether the exposure seems serious. Follow the employer's written exposure-control plan and current post-exposure protocol. Additional sources: Phlebotomy Skills and Practicum Review, pages 5-6; 30 Hour IV Certification Study Guide, revised March 2013, pages 9-11. No historical transmission statistics or obsolete cleanup directions were imported.</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Unsuccessful insertion: safe next steps. First, Vein rolls away: Inadequate stabilization; Stop probing; stabilize correctly and use a new catheter/site as required Next, Hematoma develops: Posterior-wall trauma or excessive angle; Stop, remove, apply pressure, and reassess Next, Flashback appears but catheter will not advance: Only the needle tip may be in the lumen; Do not reinsert the needle into the catheter; remove and restart according to policy Next, Repeated unsuccessful attempts: Site, device, or operator factors; Stop at the facility attempt limit and escalate to a more experienced clinician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Additional source: Peripheral Intravenous Initiation Self Learning Module, page 27. Attempt limits must follow current BMHI clinical-site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Infusion flow troubleshooting. First, Pump occlusion or slowed flow: Trace the line from patient to container for clamps, kinks, or compression; Correct an external cause only after assessing the patient and site Next, Flow changes with limb position: Catheter tip may contact the vein wall or lie near flexion; Reposition and reassess; do not manipulate a contaminated catheter Next, Blood backs into tubing: Bag height, empty container, clamp position, or interruption; Protect against air and clot risk; restore flow only under order and policy Next, Resistance during flushing: Mechanical obstruction, malposition, or complication; Never force the flush; stop use and escalate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Additional source: Peripheral Intravenous Initiation Self Learning Module, pages 28-29. Device-specific actions require current manufacturer instructions and facility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Local complication comparison. First, Cool, pale swelling; slowed infusion: Infiltration; Stop infusion and follow infiltration protocol Next, Pain, warmth, redness, venous cord: Phlebitis; Stop infusion, remove as indicated, assess and report Next, Burning, blistering, tissue injury with vesicant: Extravasation; Stop; do not flush; follow agent-specific protocol Next, Drainage, tenderness, fever: Local or bloodstream infection; Stop unsafe use, assess, notify, and follow culture/removal policy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Complete documentation tells the clinical story. First, Record date and time, site, vein or anatomic location, catheter gauge and length when required, number of attempts, and inserter. Next, Record skin preparation, dressing, securement, patency assessment, solution, rate, pump, and patient tolerance. Next, Document teaching, complications, actions, notifications, and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Palpate and select veins on a task trainer Next, Perform the complete insertion sequence without contamination Next, Discontinue the catheter and verify that it remains intact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Select an appropriate peripheral vein and catheter Next, Perform hand hygiene, prepare and position the patient, apply the tourniquet, cleanse the site with the approved antiseptic, let it dry, stabilize the vein, observe flashback, thread the catheter, and activate sharps protection. Next, Cool swelling suggests infiltration. Pain, warmth, redness, or a venous cord suggests phlebitis. Burning or tissue injury with a vesicant suggests extravasation. Stop unsafe therapy and follow the condition-specific protocol.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9be01163d674cf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2baceb9c9f8419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6797af5bcd3488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39b562f9f914b5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c5279aa4d98493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e85c37b716b4e0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85174B-EC73-4FDB-B3E1-435E6A8540B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E7C64C2-1046-4839-8356-921AE5E11CB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78C3653-918A-4FF0-B5F7-20B878563F0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9B17B20-E0EF-4F51-AA47-B3992237003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D8DBF1A-DF68-474E-8D1C-AB11F8E6BF3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98A39F1-8D5A-40C2-89F0-EF32A7DCACB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BBB9400-285C-419E-A317-4CB8D201ED5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A8177D2-0E01-4FF6-9DF3-E1DDFCDC0FB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BE005AD-5AAA-4D5F-ADCE-F5E8A803113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9162CCC-EFC2-4EA0-A4BC-B7FBA8B64E6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979b6151a834566" /><Relationship Type="http://schemas.openxmlformats.org/officeDocument/2006/relationships/slideLayout" Target="/ppt/slideLayouts/slideLayout1.xml" Id="Rd15fb0fb0e034f7f" /><Relationship Type="http://schemas.openxmlformats.org/officeDocument/2006/relationships/slideLayout" Target="/ppt/slideLayouts/slideLayout2.xml" Id="R6e6f273a01dc4188" /><Relationship Type="http://schemas.openxmlformats.org/officeDocument/2006/relationships/slideLayout" Target="/ppt/slideLayouts/slideLayout3.xml" Id="R4891ae54e3fc4609" /><Relationship Type="http://schemas.openxmlformats.org/officeDocument/2006/relationships/slideLayout" Target="/ppt/slideLayouts/slideLayout4.xml" Id="Rf3e52c95fa6f42ef" /><Relationship Type="http://schemas.openxmlformats.org/officeDocument/2006/relationships/slideLayout" Target="/ppt/slideLayouts/slideLayout5.xml" Id="R1ee0da5997b3453b" /><Relationship Type="http://schemas.openxmlformats.org/officeDocument/2006/relationships/slideLayout" Target="/ppt/slideLayouts/slideLayout6.xml" Id="Rff7ceaabd50546c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15fb0fb0e034f7f"/>
    <p:sldLayoutId xmlns:r="http://schemas.openxmlformats.org/officeDocument/2006/relationships" id="2147483650" r:id="R6e6f273a01dc4188"/>
    <p:sldLayoutId xmlns:r="http://schemas.openxmlformats.org/officeDocument/2006/relationships" id="2147483651" r:id="R4891ae54e3fc4609"/>
    <p:sldLayoutId xmlns:r="http://schemas.openxmlformats.org/officeDocument/2006/relationships" id="2147483652" r:id="Rf3e52c95fa6f42ef"/>
    <p:sldLayoutId xmlns:r="http://schemas.openxmlformats.org/officeDocument/2006/relationships" id="2147483653" r:id="R1ee0da5997b3453b"/>
    <p:sldLayoutId xmlns:r="http://schemas.openxmlformats.org/officeDocument/2006/relationships" id="2147483654" r:id="Rff7ceaabd50546c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526d917bb994307" /><Relationship Type="http://schemas.openxmlformats.org/officeDocument/2006/relationships/image" Target="/ppt/media/image.jpeg" Id="Rd7b55ce43aa545ca" /><Relationship Type="http://schemas.openxmlformats.org/officeDocument/2006/relationships/notesSlide" Target="/ppt/notesSlides/notesSlide1.xml" Id="R121b42f65c4c4aa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18b2d63a8914053" /><Relationship Type="http://schemas.openxmlformats.org/officeDocument/2006/relationships/notesSlide" Target="/ppt/notesSlides/notesSlide2.xml" Id="Rb6c293925bea4db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b169266a6c34425" /><Relationship Type="http://schemas.openxmlformats.org/officeDocument/2006/relationships/notesSlide" Target="/ppt/notesSlides/notesSlide3.xml" Id="R84c314923fc04bb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2a2256bae3248ff" /><Relationship Type="http://schemas.openxmlformats.org/officeDocument/2006/relationships/notesSlide" Target="/ppt/notesSlides/notesSlide4.xml" Id="R7097ce8aec404ad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808313e1454420a" /><Relationship Type="http://schemas.openxmlformats.org/officeDocument/2006/relationships/notesSlide" Target="/ppt/notesSlides/notesSlide5.xml" Id="R29325f486a1e405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3e6b3e0639d43de" /><Relationship Type="http://schemas.openxmlformats.org/officeDocument/2006/relationships/notesSlide" Target="/ppt/notesSlides/notesSlide6.xml" Id="R36007feade05429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c450542447a4054" /><Relationship Type="http://schemas.openxmlformats.org/officeDocument/2006/relationships/notesSlide" Target="/ppt/notesSlides/notesSlide7.xml" Id="R8f5bc9a2aac54c5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68511bec5c94e19" /><Relationship Type="http://schemas.openxmlformats.org/officeDocument/2006/relationships/notesSlide" Target="/ppt/notesSlides/notesSlide8.xml" Id="Rcc84d1725a2243b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d79f1f8308d44ef" /><Relationship Type="http://schemas.openxmlformats.org/officeDocument/2006/relationships/notesSlide" Target="/ppt/notesSlides/notesSlide9.xml" Id="Rcbbda3b06bc648f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3d1ca9f16c24375" /><Relationship Type="http://schemas.openxmlformats.org/officeDocument/2006/relationships/notesSlide" Target="/ppt/notesSlides/notesSlide10.xml" Id="Rb99b5a34104a407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be8d57e011248c1" /><Relationship Type="http://schemas.openxmlformats.org/officeDocument/2006/relationships/notesSlide" Target="/ppt/notesSlides/notesSlide11.xml" Id="Ra77b99b914ad416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bcd8cb61f9a4b79" /><Relationship Type="http://schemas.openxmlformats.org/officeDocument/2006/relationships/notesSlide" Target="/ppt/notesSlides/notesSlide12.xml" Id="Ra1160c92dac946f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96cabdcab5546a2" /><Relationship Type="http://schemas.openxmlformats.org/officeDocument/2006/relationships/notesSlide" Target="/ppt/notesSlides/notesSlide13.xml" Id="R016eb55a9eb3489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fc9c74c481b4890" /><Relationship Type="http://schemas.openxmlformats.org/officeDocument/2006/relationships/notesSlide" Target="/ppt/notesSlides/notesSlide14.xml" Id="R147c2e08dfe3423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68c5491bdb44c81" /><Relationship Type="http://schemas.openxmlformats.org/officeDocument/2006/relationships/notesSlide" Target="/ppt/notesSlides/notesSlide15.xml" Id="Ra5d8731171564ad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5995e01a75d4a0b" /><Relationship Type="http://schemas.openxmlformats.org/officeDocument/2006/relationships/notesSlide" Target="/ppt/notesSlides/notesSlide16.xml" Id="R388cc91e95dc4e4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4bf344b3daf4353" /><Relationship Type="http://schemas.openxmlformats.org/officeDocument/2006/relationships/notesSlide" Target="/ppt/notesSlides/notesSlide17.xml" Id="R72334627f66b42b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ae0c919988343ab" /><Relationship Type="http://schemas.openxmlformats.org/officeDocument/2006/relationships/notesSlide" Target="/ppt/notesSlides/notesSlide18.xml" Id="R95266e3e2b8946a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f05565ef85c45f2" /><Relationship Type="http://schemas.openxmlformats.org/officeDocument/2006/relationships/notesSlide" Target="/ppt/notesSlides/notesSlide19.xml" Id="R6b2e7aa541e2496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bc2a2fd843d4c73" /><Relationship Type="http://schemas.openxmlformats.org/officeDocument/2006/relationships/notesSlide" Target="/ppt/notesSlides/notesSlide20.xml" Id="R15577afa7e0d46c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7cf8344c33c43e8" /><Relationship Type="http://schemas.openxmlformats.org/officeDocument/2006/relationships/notesSlide" Target="/ppt/notesSlides/notesSlide21.xml" Id="R868d1f5f14fa4ad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15bf97c17ac4cf6" /><Relationship Type="http://schemas.openxmlformats.org/officeDocument/2006/relationships/notesSlide" Target="/ppt/notesSlides/notesSlide22.xml" Id="Rd1a48cd35899495e"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7117AF4A-1D02-467B-9C10-9C99E3B88E4E}"/>
              </a:ext>
            </a:extLst>
          </p:cNvPr>
          <p:cNvPicPr>
            <a:picLocks xmlns:a="http://schemas.openxmlformats.org/drawingml/2006/main" noChangeAspect="1"/>
          </p:cNvPicPr>
          <p:nvPr/>
        </p:nvPicPr>
        <p:blipFill>
          <a:blip xmlns:r="http://schemas.openxmlformats.org/officeDocument/2006/relationships" xmlns:a="http://schemas.openxmlformats.org/drawingml/2006/main" r:embed="Rd7b55ce43aa545ca"/>
          <a:srcRect xmlns:a="http://schemas.openxmlformats.org/drawingml/2006/main" l="28929" t="0" r="28929"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ABC5825-E902-4191-91A2-8A89B086DC76}"/>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C997C6E2-6AC4-4413-A6E6-3EF209F6E0AE}"/>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43288F31-A77D-4A5A-9360-4C13CFD55E8A}"/>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6C33707D-D8E2-49E3-9EE0-1F986E175B41}"/>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Venipuncture Standards and Practice</a:t>
            </a:r>
          </a:p>
        </p:txBody>
      </p:sp>
      <p:sp>
        <p:nvSpPr>
          <p:cNvPr id="6" name="">
            <a:extLst xmlns:a="http://schemas.openxmlformats.org/drawingml/2006/main">
              <a:ext uri="{FF2B5EF4-FFF2-40B4-BE49-F238E27FC236}">
                <a16:creationId xmlns:a16="http://schemas.microsoft.com/office/drawing/2014/main" id="{BCAFFB78-7ECB-467B-BC2F-B523BCC5CCC1}"/>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7  |  30-Hour Basic Intravenous Therapy</a:t>
            </a:r>
          </a:p>
        </p:txBody>
      </p:sp>
      <p:sp>
        <p:nvSpPr>
          <p:cNvPr id="7" name="">
            <a:extLst xmlns:a="http://schemas.openxmlformats.org/drawingml/2006/main">
              <a:ext uri="{FF2B5EF4-FFF2-40B4-BE49-F238E27FC236}">
                <a16:creationId xmlns:a16="http://schemas.microsoft.com/office/drawing/2014/main" id="{B15F1C59-F8DB-47F1-8B41-EB72137DBF9E}"/>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1118711722"/>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13309B6-E89A-4CCF-9895-BCF45F2BED2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E08F8F2-BFC3-4E44-8EF2-B9B6AD935AD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B8A1527C-08F9-4F2C-B052-4FD9A2B5B15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0B8D048F-4A0E-4168-94E6-CBFD5346FBC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31E78101-3601-4135-AE64-8140814567C1}"/>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Select an appropriate peripheral vein and catheter</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Perform aseptic insertion and securement on a task trainer</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Assess, maintain, and discontinue a peripheral IV safely</a:t>
            </a:r>
          </a:p>
        </p:txBody>
      </p:sp>
    </p:spTree>
    <p:extLst>
      <p:ext uri="{BB962C8B-B14F-4D97-AF65-F5344CB8AC3E}">
        <p14:creationId xmlns:p14="http://schemas.microsoft.com/office/powerpoint/2010/main" val="1517156314"/>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600AC97-CE4C-4339-AA83-AAAB2491FD7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B220BBB-186A-4320-BD9F-8EFC413A433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Site and device selection</a:t>
            </a:r>
          </a:p>
        </p:txBody>
      </p:sp>
      <p:sp>
        <p:nvSpPr>
          <p:cNvPr id="3" name="">
            <a:extLst xmlns:a="http://schemas.openxmlformats.org/drawingml/2006/main">
              <a:ext uri="{FF2B5EF4-FFF2-40B4-BE49-F238E27FC236}">
                <a16:creationId xmlns:a16="http://schemas.microsoft.com/office/drawing/2014/main" id="{8E504027-7A0F-40AD-B9CF-C51A3BA16EC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013B9AAF-0636-4F38-BF37-1FC2F1DB3E4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7571A5E7-0589-44CB-A065-66CE33A56B6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Begin distally when appropriate.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Avoid compromised extremities and sites of infection, flexion, poor circulation, or prior complications.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Select the smallest gauge and shortest catheter that can support the ordered therapy.</a:t>
            </a:r>
          </a:p>
        </p:txBody>
      </p:sp>
      <p:sp>
        <p:nvSpPr>
          <p:cNvPr id="6" name="">
            <a:extLst xmlns:a="http://schemas.openxmlformats.org/drawingml/2006/main">
              <a:ext uri="{FF2B5EF4-FFF2-40B4-BE49-F238E27FC236}">
                <a16:creationId xmlns:a16="http://schemas.microsoft.com/office/drawing/2014/main" id="{A7A28262-2CDC-4D1A-A40E-E4E81BE89AA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116964300"/>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7ED7EA7-99E5-4B48-83B5-82B6B9B0443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99042CA-A3B8-49EB-BC23-B55AB334DE7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Aseptic insertion</a:t>
            </a:r>
          </a:p>
        </p:txBody>
      </p:sp>
      <p:sp>
        <p:nvSpPr>
          <p:cNvPr id="3" name="">
            <a:extLst xmlns:a="http://schemas.openxmlformats.org/drawingml/2006/main">
              <a:ext uri="{FF2B5EF4-FFF2-40B4-BE49-F238E27FC236}">
                <a16:creationId xmlns:a16="http://schemas.microsoft.com/office/drawing/2014/main" id="{E3BC022C-72B7-456B-B7BC-F5013DC675B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A1BF6A7E-4D4B-4887-93E2-B4CB68F8F0D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1EDF8A03-947B-4B75-8E7C-3D3FA023C6C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Perform hand hygiene, prepare and position the patient, apply the tourniquet, cleanse the site with the approved antiseptic, let it dry, stabilize the vein, observe flashback, thread the catheter, and activate sharps protection.</a:t>
            </a:r>
          </a:p>
        </p:txBody>
      </p:sp>
      <p:sp>
        <p:nvSpPr>
          <p:cNvPr id="6" name="">
            <a:extLst xmlns:a="http://schemas.openxmlformats.org/drawingml/2006/main">
              <a:ext uri="{FF2B5EF4-FFF2-40B4-BE49-F238E27FC236}">
                <a16:creationId xmlns:a16="http://schemas.microsoft.com/office/drawing/2014/main" id="{0AAE6C5A-FDB7-4D03-B25E-5A6F8BA1F2E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20779334"/>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4E5A44B-3ADF-4F87-AFDA-C017000A2B5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87B7F25-CB3F-4AF5-A9E0-5BEDA647AFE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Securement and maintenance</a:t>
            </a:r>
          </a:p>
        </p:txBody>
      </p:sp>
      <p:sp>
        <p:nvSpPr>
          <p:cNvPr id="3" name="">
            <a:extLst xmlns:a="http://schemas.openxmlformats.org/drawingml/2006/main">
              <a:ext uri="{FF2B5EF4-FFF2-40B4-BE49-F238E27FC236}">
                <a16:creationId xmlns:a16="http://schemas.microsoft.com/office/drawing/2014/main" id="{7F6135A3-5C45-4F31-A689-256FEF4A648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F6F2E1C6-42C8-4C50-B6FF-75922FBC481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A261EA49-156C-4CD8-A35B-5756BABEBF1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Connect a primed extension aseptically, assess patency without force, secure the catheter, apply and label the dressing, trace tubing, start the ordered therapy, and reassess the site and patient.</a:t>
            </a:r>
          </a:p>
        </p:txBody>
      </p:sp>
      <p:sp>
        <p:nvSpPr>
          <p:cNvPr id="6" name="">
            <a:extLst xmlns:a="http://schemas.openxmlformats.org/drawingml/2006/main">
              <a:ext uri="{FF2B5EF4-FFF2-40B4-BE49-F238E27FC236}">
                <a16:creationId xmlns:a16="http://schemas.microsoft.com/office/drawing/2014/main" id="{62E8D7F2-99EA-49A7-AB17-2D0C088C956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315603377"/>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ABEC217-CDA8-4FA8-ABB7-BFBE6EFF66F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4F0FFF1-715D-4841-81F8-DC84C4197FB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Complication cues</a:t>
            </a:r>
          </a:p>
        </p:txBody>
      </p:sp>
      <p:sp>
        <p:nvSpPr>
          <p:cNvPr id="3" name="">
            <a:extLst xmlns:a="http://schemas.openxmlformats.org/drawingml/2006/main">
              <a:ext uri="{FF2B5EF4-FFF2-40B4-BE49-F238E27FC236}">
                <a16:creationId xmlns:a16="http://schemas.microsoft.com/office/drawing/2014/main" id="{BB83E6B1-F2E8-48A3-AB26-21E5C54FD0E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3ECB6B7B-D584-4043-A09A-7901AEFD223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1929DA59-01A9-4ED6-9D59-6C635FEBB59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Cool swelling suggests infiltration.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Pain, warmth, redness, or a venous cord suggests phlebitis.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Burning or tissue injury with a vesicant suggests extravasation.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unsafe therapy and follow the condition-specific protocol.</a:t>
            </a:r>
          </a:p>
        </p:txBody>
      </p:sp>
      <p:sp>
        <p:nvSpPr>
          <p:cNvPr id="6" name="">
            <a:extLst xmlns:a="http://schemas.openxmlformats.org/drawingml/2006/main">
              <a:ext uri="{FF2B5EF4-FFF2-40B4-BE49-F238E27FC236}">
                <a16:creationId xmlns:a16="http://schemas.microsoft.com/office/drawing/2014/main" id="{9E908007-018D-431A-9030-0233F95DEC0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885664150"/>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8EF8906-DE67-4753-ABA8-57820B4B255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8198DA6-9671-4503-A2F5-BDA27062F10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Choose the site before the catheter</a:t>
            </a:r>
          </a:p>
        </p:txBody>
      </p:sp>
      <p:sp>
        <p:nvSpPr>
          <p:cNvPr id="3" name="">
            <a:extLst xmlns:a="http://schemas.openxmlformats.org/drawingml/2006/main">
              <a:ext uri="{FF2B5EF4-FFF2-40B4-BE49-F238E27FC236}">
                <a16:creationId xmlns:a16="http://schemas.microsoft.com/office/drawing/2014/main" id="{FA297EB0-6847-493E-ADF9-7D19FAEF762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95EB54EC-B9BB-4FC8-A8D9-F25FE136094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29EEE456-8F37-4245-9FB7-D79C115BFBE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Start with the prescribed therapy: pH, osmolarity, duration, flow requirement, and vesicant risk affect device choice.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Select a vein that is palpable, resilient, and appropriate for the therapy.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Prefer the smallest suitable gauge and shortest catheter.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Avoid infected, injured, poorly perfused, or policy-restricted extremities and areas of flexion when possible.</a:t>
            </a:r>
          </a:p>
        </p:txBody>
      </p:sp>
      <p:sp>
        <p:nvSpPr>
          <p:cNvPr id="6" name="">
            <a:extLst xmlns:a="http://schemas.openxmlformats.org/drawingml/2006/main">
              <a:ext uri="{FF2B5EF4-FFF2-40B4-BE49-F238E27FC236}">
                <a16:creationId xmlns:a16="http://schemas.microsoft.com/office/drawing/2014/main" id="{BFF813F5-56CD-46BC-886B-77973B8E217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701548166"/>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E0DE0E93-576E-4A62-9898-F5252A381EC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9355B4E-2A44-4769-B4A5-F970DFF3E86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Vein-wall anatomy and complication risk</a:t>
            </a:r>
          </a:p>
        </p:txBody>
      </p:sp>
      <p:sp>
        <p:nvSpPr>
          <p:cNvPr id="3" name="">
            <a:extLst xmlns:a="http://schemas.openxmlformats.org/drawingml/2006/main">
              <a:ext uri="{FF2B5EF4-FFF2-40B4-BE49-F238E27FC236}">
                <a16:creationId xmlns:a16="http://schemas.microsoft.com/office/drawing/2014/main" id="{A7B2E149-66D4-476B-9701-F6F382E08F2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7BEC2976-5DE8-4C4E-A9B8-13FFCEDEF34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32DF1A4C-84A2-45E2-8C23-324160FE0A29}"/>
              </a:ext>
            </a:extLst>
          </p:cNvPr>
          <p:cNvSpPr>
            <a:spLocks xmlns:a="http://schemas.openxmlformats.org/drawingml/2006/main" noGrp="1"/>
          </p:cNvSpPr>
          <p:nvPr/>
        </p:nvSpPr>
        <p:spPr>
          <a:xfrm xmlns:a="http://schemas.openxmlformats.org/drawingml/2006/main">
            <a:off x="7810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5CD629B4-2085-46C1-BD93-B124DCD13E92}"/>
              </a:ext>
            </a:extLst>
          </p:cNvPr>
          <p:cNvSpPr>
            <a:spLocks xmlns:a="http://schemas.openxmlformats.org/drawingml/2006/main" noGrp="1"/>
          </p:cNvSpPr>
          <p:nvPr/>
        </p:nvSpPr>
        <p:spPr>
          <a:xfrm xmlns:a="http://schemas.openxmlformats.org/drawingml/2006/main">
            <a:off x="8763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Vein layer</a:t>
            </a:r>
          </a:p>
        </p:txBody>
      </p:sp>
      <p:sp>
        <p:nvSpPr>
          <p:cNvPr id="7" name="">
            <a:extLst xmlns:a="http://schemas.openxmlformats.org/drawingml/2006/main">
              <a:ext uri="{FF2B5EF4-FFF2-40B4-BE49-F238E27FC236}">
                <a16:creationId xmlns:a16="http://schemas.microsoft.com/office/drawing/2014/main" id="{165A8508-F932-4CBE-ACF6-FFAE61740E44}"/>
              </a:ext>
            </a:extLst>
          </p:cNvPr>
          <p:cNvSpPr>
            <a:spLocks xmlns:a="http://schemas.openxmlformats.org/drawingml/2006/main" noGrp="1"/>
          </p:cNvSpPr>
          <p:nvPr/>
        </p:nvSpPr>
        <p:spPr>
          <a:xfrm xmlns:a="http://schemas.openxmlformats.org/drawingml/2006/main">
            <a:off x="430530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5E8153EA-AFA6-477D-B33C-51BE9003D510}"/>
              </a:ext>
            </a:extLst>
          </p:cNvPr>
          <p:cNvSpPr>
            <a:spLocks xmlns:a="http://schemas.openxmlformats.org/drawingml/2006/main" noGrp="1"/>
          </p:cNvSpPr>
          <p:nvPr/>
        </p:nvSpPr>
        <p:spPr>
          <a:xfrm xmlns:a="http://schemas.openxmlformats.org/drawingml/2006/main">
            <a:off x="440055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Function</a:t>
            </a:r>
          </a:p>
        </p:txBody>
      </p:sp>
      <p:sp>
        <p:nvSpPr>
          <p:cNvPr id="9" name="">
            <a:extLst xmlns:a="http://schemas.openxmlformats.org/drawingml/2006/main">
              <a:ext uri="{FF2B5EF4-FFF2-40B4-BE49-F238E27FC236}">
                <a16:creationId xmlns:a16="http://schemas.microsoft.com/office/drawing/2014/main" id="{FBDE0461-8618-4BAB-9771-4A06D2964FED}"/>
              </a:ext>
            </a:extLst>
          </p:cNvPr>
          <p:cNvSpPr>
            <a:spLocks xmlns:a="http://schemas.openxmlformats.org/drawingml/2006/main" noGrp="1"/>
          </p:cNvSpPr>
          <p:nvPr/>
        </p:nvSpPr>
        <p:spPr>
          <a:xfrm xmlns:a="http://schemas.openxmlformats.org/drawingml/2006/main">
            <a:off x="78295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8C843C4B-6744-4591-9BBA-0979528E6957}"/>
              </a:ext>
            </a:extLst>
          </p:cNvPr>
          <p:cNvSpPr>
            <a:spLocks xmlns:a="http://schemas.openxmlformats.org/drawingml/2006/main" noGrp="1"/>
          </p:cNvSpPr>
          <p:nvPr/>
        </p:nvSpPr>
        <p:spPr>
          <a:xfrm xmlns:a="http://schemas.openxmlformats.org/drawingml/2006/main">
            <a:off x="79248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Clinical connection</a:t>
            </a:r>
          </a:p>
        </p:txBody>
      </p:sp>
      <p:sp>
        <p:nvSpPr>
          <p:cNvPr id="11" name="">
            <a:extLst xmlns:a="http://schemas.openxmlformats.org/drawingml/2006/main">
              <a:ext uri="{FF2B5EF4-FFF2-40B4-BE49-F238E27FC236}">
                <a16:creationId xmlns:a16="http://schemas.microsoft.com/office/drawing/2014/main" id="{BBD3BDB2-8B59-4C76-80C3-35E8F2807B53}"/>
              </a:ext>
            </a:extLst>
          </p:cNvPr>
          <p:cNvSpPr>
            <a:spLocks xmlns:a="http://schemas.openxmlformats.org/drawingml/2006/main" noGrp="1"/>
          </p:cNvSpPr>
          <p:nvPr/>
        </p:nvSpPr>
        <p:spPr>
          <a:xfrm xmlns:a="http://schemas.openxmlformats.org/drawingml/2006/main">
            <a:off x="7810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0463CD93-62F5-4F14-BB3C-2604903C420F}"/>
              </a:ext>
            </a:extLst>
          </p:cNvPr>
          <p:cNvSpPr>
            <a:spLocks xmlns:a="http://schemas.openxmlformats.org/drawingml/2006/main" noGrp="1"/>
          </p:cNvSpPr>
          <p:nvPr/>
        </p:nvSpPr>
        <p:spPr>
          <a:xfrm xmlns:a="http://schemas.openxmlformats.org/drawingml/2006/main">
            <a:off x="8763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Tunica intima</a:t>
            </a:r>
          </a:p>
        </p:txBody>
      </p:sp>
      <p:sp>
        <p:nvSpPr>
          <p:cNvPr id="13" name="">
            <a:extLst xmlns:a="http://schemas.openxmlformats.org/drawingml/2006/main">
              <a:ext uri="{FF2B5EF4-FFF2-40B4-BE49-F238E27FC236}">
                <a16:creationId xmlns:a16="http://schemas.microsoft.com/office/drawing/2014/main" id="{7A609A95-C9A2-42C7-B30E-8B1ECD26A42E}"/>
              </a:ext>
            </a:extLst>
          </p:cNvPr>
          <p:cNvSpPr>
            <a:spLocks xmlns:a="http://schemas.openxmlformats.org/drawingml/2006/main" noGrp="1"/>
          </p:cNvSpPr>
          <p:nvPr/>
        </p:nvSpPr>
        <p:spPr>
          <a:xfrm xmlns:a="http://schemas.openxmlformats.org/drawingml/2006/main">
            <a:off x="430530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D1F49975-7B05-4404-860D-0A1976FE36FA}"/>
              </a:ext>
            </a:extLst>
          </p:cNvPr>
          <p:cNvSpPr>
            <a:spLocks xmlns:a="http://schemas.openxmlformats.org/drawingml/2006/main" noGrp="1"/>
          </p:cNvSpPr>
          <p:nvPr/>
        </p:nvSpPr>
        <p:spPr>
          <a:xfrm xmlns:a="http://schemas.openxmlformats.org/drawingml/2006/main">
            <a:off x="440055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Smooth inner lining and venous valves</a:t>
            </a:r>
          </a:p>
        </p:txBody>
      </p:sp>
      <p:sp>
        <p:nvSpPr>
          <p:cNvPr id="15" name="">
            <a:extLst xmlns:a="http://schemas.openxmlformats.org/drawingml/2006/main">
              <a:ext uri="{FF2B5EF4-FFF2-40B4-BE49-F238E27FC236}">
                <a16:creationId xmlns:a16="http://schemas.microsoft.com/office/drawing/2014/main" id="{99D14DBF-C2BC-48BB-BE4B-7E9B1C3967DB}"/>
              </a:ext>
            </a:extLst>
          </p:cNvPr>
          <p:cNvSpPr>
            <a:spLocks xmlns:a="http://schemas.openxmlformats.org/drawingml/2006/main" noGrp="1"/>
          </p:cNvSpPr>
          <p:nvPr/>
        </p:nvSpPr>
        <p:spPr>
          <a:xfrm xmlns:a="http://schemas.openxmlformats.org/drawingml/2006/main">
            <a:off x="78295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1F63146C-9180-4D39-9E84-ED11F73D9011}"/>
              </a:ext>
            </a:extLst>
          </p:cNvPr>
          <p:cNvSpPr>
            <a:spLocks xmlns:a="http://schemas.openxmlformats.org/drawingml/2006/main" noGrp="1"/>
          </p:cNvSpPr>
          <p:nvPr/>
        </p:nvSpPr>
        <p:spPr>
          <a:xfrm xmlns:a="http://schemas.openxmlformats.org/drawingml/2006/main">
            <a:off x="79248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Trauma, chemical irritation, or contamination can promote phlebitis and thrombosis</a:t>
            </a:r>
          </a:p>
        </p:txBody>
      </p:sp>
      <p:sp>
        <p:nvSpPr>
          <p:cNvPr id="17" name="">
            <a:extLst xmlns:a="http://schemas.openxmlformats.org/drawingml/2006/main">
              <a:ext uri="{FF2B5EF4-FFF2-40B4-BE49-F238E27FC236}">
                <a16:creationId xmlns:a16="http://schemas.microsoft.com/office/drawing/2014/main" id="{6377DB4C-FB35-4F61-9A3C-DEAC41B992E9}"/>
              </a:ext>
            </a:extLst>
          </p:cNvPr>
          <p:cNvSpPr>
            <a:spLocks xmlns:a="http://schemas.openxmlformats.org/drawingml/2006/main" noGrp="1"/>
          </p:cNvSpPr>
          <p:nvPr/>
        </p:nvSpPr>
        <p:spPr>
          <a:xfrm xmlns:a="http://schemas.openxmlformats.org/drawingml/2006/main">
            <a:off x="7810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5729740D-5EE5-43F9-8CC5-8A73F425F5C9}"/>
              </a:ext>
            </a:extLst>
          </p:cNvPr>
          <p:cNvSpPr>
            <a:spLocks xmlns:a="http://schemas.openxmlformats.org/drawingml/2006/main" noGrp="1"/>
          </p:cNvSpPr>
          <p:nvPr/>
        </p:nvSpPr>
        <p:spPr>
          <a:xfrm xmlns:a="http://schemas.openxmlformats.org/drawingml/2006/main">
            <a:off x="8763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Tunica media</a:t>
            </a:r>
          </a:p>
        </p:txBody>
      </p:sp>
      <p:sp>
        <p:nvSpPr>
          <p:cNvPr id="19" name="">
            <a:extLst xmlns:a="http://schemas.openxmlformats.org/drawingml/2006/main">
              <a:ext uri="{FF2B5EF4-FFF2-40B4-BE49-F238E27FC236}">
                <a16:creationId xmlns:a16="http://schemas.microsoft.com/office/drawing/2014/main" id="{57059253-2993-4202-99EF-5088EF3F76E2}"/>
              </a:ext>
            </a:extLst>
          </p:cNvPr>
          <p:cNvSpPr>
            <a:spLocks xmlns:a="http://schemas.openxmlformats.org/drawingml/2006/main" noGrp="1"/>
          </p:cNvSpPr>
          <p:nvPr/>
        </p:nvSpPr>
        <p:spPr>
          <a:xfrm xmlns:a="http://schemas.openxmlformats.org/drawingml/2006/main">
            <a:off x="430530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E25D1541-110A-4F21-99B1-6EB4AB5DAA1E}"/>
              </a:ext>
            </a:extLst>
          </p:cNvPr>
          <p:cNvSpPr>
            <a:spLocks xmlns:a="http://schemas.openxmlformats.org/drawingml/2006/main" noGrp="1"/>
          </p:cNvSpPr>
          <p:nvPr/>
        </p:nvSpPr>
        <p:spPr>
          <a:xfrm xmlns:a="http://schemas.openxmlformats.org/drawingml/2006/main">
            <a:off x="440055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Muscle and elastic tissue</a:t>
            </a:r>
          </a:p>
        </p:txBody>
      </p:sp>
      <p:sp>
        <p:nvSpPr>
          <p:cNvPr id="21" name="">
            <a:extLst xmlns:a="http://schemas.openxmlformats.org/drawingml/2006/main">
              <a:ext uri="{FF2B5EF4-FFF2-40B4-BE49-F238E27FC236}">
                <a16:creationId xmlns:a16="http://schemas.microsoft.com/office/drawing/2014/main" id="{1F5AD6F1-D540-4C5E-86BB-A39DD27E17DE}"/>
              </a:ext>
            </a:extLst>
          </p:cNvPr>
          <p:cNvSpPr>
            <a:spLocks xmlns:a="http://schemas.openxmlformats.org/drawingml/2006/main" noGrp="1"/>
          </p:cNvSpPr>
          <p:nvPr/>
        </p:nvSpPr>
        <p:spPr>
          <a:xfrm xmlns:a="http://schemas.openxmlformats.org/drawingml/2006/main">
            <a:off x="78295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B1BFAB0E-B25C-470A-8D80-9AFF852396E7}"/>
              </a:ext>
            </a:extLst>
          </p:cNvPr>
          <p:cNvSpPr>
            <a:spLocks xmlns:a="http://schemas.openxmlformats.org/drawingml/2006/main" noGrp="1"/>
          </p:cNvSpPr>
          <p:nvPr/>
        </p:nvSpPr>
        <p:spPr>
          <a:xfrm xmlns:a="http://schemas.openxmlformats.org/drawingml/2006/main">
            <a:off x="79248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Irritation can trigger venospasm, pain, and reduced flow</a:t>
            </a:r>
          </a:p>
        </p:txBody>
      </p:sp>
      <p:sp>
        <p:nvSpPr>
          <p:cNvPr id="23" name="">
            <a:extLst xmlns:a="http://schemas.openxmlformats.org/drawingml/2006/main">
              <a:ext uri="{FF2B5EF4-FFF2-40B4-BE49-F238E27FC236}">
                <a16:creationId xmlns:a16="http://schemas.microsoft.com/office/drawing/2014/main" id="{EC884102-BFA9-4AAC-8459-F046D2FA2D94}"/>
              </a:ext>
            </a:extLst>
          </p:cNvPr>
          <p:cNvSpPr>
            <a:spLocks xmlns:a="http://schemas.openxmlformats.org/drawingml/2006/main" noGrp="1"/>
          </p:cNvSpPr>
          <p:nvPr/>
        </p:nvSpPr>
        <p:spPr>
          <a:xfrm xmlns:a="http://schemas.openxmlformats.org/drawingml/2006/main">
            <a:off x="7810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253463A3-2F59-4DC0-B16F-C76D1B1D4B70}"/>
              </a:ext>
            </a:extLst>
          </p:cNvPr>
          <p:cNvSpPr>
            <a:spLocks xmlns:a="http://schemas.openxmlformats.org/drawingml/2006/main" noGrp="1"/>
          </p:cNvSpPr>
          <p:nvPr/>
        </p:nvSpPr>
        <p:spPr>
          <a:xfrm xmlns:a="http://schemas.openxmlformats.org/drawingml/2006/main">
            <a:off x="8763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Tunica adventitia</a:t>
            </a:r>
          </a:p>
        </p:txBody>
      </p:sp>
      <p:sp>
        <p:nvSpPr>
          <p:cNvPr id="25" name="">
            <a:extLst xmlns:a="http://schemas.openxmlformats.org/drawingml/2006/main">
              <a:ext uri="{FF2B5EF4-FFF2-40B4-BE49-F238E27FC236}">
                <a16:creationId xmlns:a16="http://schemas.microsoft.com/office/drawing/2014/main" id="{279B1C63-B2F9-44D6-80E9-B445CFD5A221}"/>
              </a:ext>
            </a:extLst>
          </p:cNvPr>
          <p:cNvSpPr>
            <a:spLocks xmlns:a="http://schemas.openxmlformats.org/drawingml/2006/main" noGrp="1"/>
          </p:cNvSpPr>
          <p:nvPr/>
        </p:nvSpPr>
        <p:spPr>
          <a:xfrm xmlns:a="http://schemas.openxmlformats.org/drawingml/2006/main">
            <a:off x="430530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0FCA432C-E5B9-4382-9C0D-AFE844122094}"/>
              </a:ext>
            </a:extLst>
          </p:cNvPr>
          <p:cNvSpPr>
            <a:spLocks xmlns:a="http://schemas.openxmlformats.org/drawingml/2006/main" noGrp="1"/>
          </p:cNvSpPr>
          <p:nvPr/>
        </p:nvSpPr>
        <p:spPr>
          <a:xfrm xmlns:a="http://schemas.openxmlformats.org/drawingml/2006/main">
            <a:off x="440055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Outer connective-tissue support</a:t>
            </a:r>
          </a:p>
        </p:txBody>
      </p:sp>
      <p:sp>
        <p:nvSpPr>
          <p:cNvPr id="27" name="">
            <a:extLst xmlns:a="http://schemas.openxmlformats.org/drawingml/2006/main">
              <a:ext uri="{FF2B5EF4-FFF2-40B4-BE49-F238E27FC236}">
                <a16:creationId xmlns:a16="http://schemas.microsoft.com/office/drawing/2014/main" id="{2288272A-88D6-49CC-AD71-04608C811D01}"/>
              </a:ext>
            </a:extLst>
          </p:cNvPr>
          <p:cNvSpPr>
            <a:spLocks xmlns:a="http://schemas.openxmlformats.org/drawingml/2006/main" noGrp="1"/>
          </p:cNvSpPr>
          <p:nvPr/>
        </p:nvSpPr>
        <p:spPr>
          <a:xfrm xmlns:a="http://schemas.openxmlformats.org/drawingml/2006/main">
            <a:off x="78295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D8BFB01A-83FD-49AC-8BAE-198EB448A580}"/>
              </a:ext>
            </a:extLst>
          </p:cNvPr>
          <p:cNvSpPr>
            <a:spLocks xmlns:a="http://schemas.openxmlformats.org/drawingml/2006/main" noGrp="1"/>
          </p:cNvSpPr>
          <p:nvPr/>
        </p:nvSpPr>
        <p:spPr>
          <a:xfrm xmlns:a="http://schemas.openxmlformats.org/drawingml/2006/main">
            <a:off x="79248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Deep advancement or vessel injury can affect surrounding tissue</a:t>
            </a:r>
          </a:p>
        </p:txBody>
      </p:sp>
    </p:spTree>
    <p:extLst>
      <p:ext uri="{BB962C8B-B14F-4D97-AF65-F5344CB8AC3E}">
        <p14:creationId xmlns:p14="http://schemas.microsoft.com/office/powerpoint/2010/main" val="1565808409"/>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F41758E2-DAA0-4A88-A7A5-62B4F4552E7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8BADFBA-C883-426A-AF6B-4C8AB2FC232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Vein or artery? Stop when the findings do not fit</a:t>
            </a:r>
          </a:p>
        </p:txBody>
      </p:sp>
      <p:sp>
        <p:nvSpPr>
          <p:cNvPr id="3" name="">
            <a:extLst xmlns:a="http://schemas.openxmlformats.org/drawingml/2006/main">
              <a:ext uri="{FF2B5EF4-FFF2-40B4-BE49-F238E27FC236}">
                <a16:creationId xmlns:a16="http://schemas.microsoft.com/office/drawing/2014/main" id="{6A185A9D-9E42-4DBD-A568-5F31DFCB133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336E8B79-9739-4D2D-A4E7-C5C97FF428C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D640FDB7-DE0D-41D0-B2E1-9A2F5AF92C53}"/>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CF62905B-1403-4DF2-ADF1-826DE2C4E988}"/>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Assessment cue</a:t>
            </a:r>
          </a:p>
        </p:txBody>
      </p:sp>
      <p:sp>
        <p:nvSpPr>
          <p:cNvPr id="7" name="">
            <a:extLst xmlns:a="http://schemas.openxmlformats.org/drawingml/2006/main">
              <a:ext uri="{FF2B5EF4-FFF2-40B4-BE49-F238E27FC236}">
                <a16:creationId xmlns:a16="http://schemas.microsoft.com/office/drawing/2014/main" id="{D4BB6F4E-295C-4721-A85B-FCD1F1510D6C}"/>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487F689A-6098-4D32-96E5-5C0472A12C41}"/>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Typical vein</a:t>
            </a:r>
          </a:p>
        </p:txBody>
      </p:sp>
      <p:sp>
        <p:nvSpPr>
          <p:cNvPr id="9" name="">
            <a:extLst xmlns:a="http://schemas.openxmlformats.org/drawingml/2006/main">
              <a:ext uri="{FF2B5EF4-FFF2-40B4-BE49-F238E27FC236}">
                <a16:creationId xmlns:a16="http://schemas.microsoft.com/office/drawing/2014/main" id="{B15226C8-54FB-425D-BD55-1E97B3FB3C26}"/>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A2F305D9-5393-45F4-B649-177CDEDE1B3D}"/>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Possible artery / safety response</a:t>
            </a:r>
          </a:p>
        </p:txBody>
      </p:sp>
      <p:sp>
        <p:nvSpPr>
          <p:cNvPr id="11" name="">
            <a:extLst xmlns:a="http://schemas.openxmlformats.org/drawingml/2006/main">
              <a:ext uri="{FF2B5EF4-FFF2-40B4-BE49-F238E27FC236}">
                <a16:creationId xmlns:a16="http://schemas.microsoft.com/office/drawing/2014/main" id="{D07E4A2A-58A9-42B3-98B2-1D8120D72B17}"/>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E8D7C6E0-F683-4435-ADBA-5A3E3D5B9077}"/>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Palpation</a:t>
            </a:r>
          </a:p>
        </p:txBody>
      </p:sp>
      <p:sp>
        <p:nvSpPr>
          <p:cNvPr id="13" name="">
            <a:extLst xmlns:a="http://schemas.openxmlformats.org/drawingml/2006/main">
              <a:ext uri="{FF2B5EF4-FFF2-40B4-BE49-F238E27FC236}">
                <a16:creationId xmlns:a16="http://schemas.microsoft.com/office/drawing/2014/main" id="{8F7E075C-841D-417D-AA5C-DCD20D15EC94}"/>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46486BE3-8F55-4272-AE0E-14226C57D400}"/>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Soft, compressible, nonpulsatile</a:t>
            </a:r>
          </a:p>
        </p:txBody>
      </p:sp>
      <p:sp>
        <p:nvSpPr>
          <p:cNvPr id="15" name="">
            <a:extLst xmlns:a="http://schemas.openxmlformats.org/drawingml/2006/main">
              <a:ext uri="{FF2B5EF4-FFF2-40B4-BE49-F238E27FC236}">
                <a16:creationId xmlns:a16="http://schemas.microsoft.com/office/drawing/2014/main" id="{3F225BBD-4A57-46B8-835A-6DCBD1DA8897}"/>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5382E705-A79F-49D8-AD81-E820BC45A52F}"/>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Pulsation or firm recoil: do not cannulate</a:t>
            </a:r>
          </a:p>
        </p:txBody>
      </p:sp>
      <p:sp>
        <p:nvSpPr>
          <p:cNvPr id="17" name="">
            <a:extLst xmlns:a="http://schemas.openxmlformats.org/drawingml/2006/main">
              <a:ext uri="{FF2B5EF4-FFF2-40B4-BE49-F238E27FC236}">
                <a16:creationId xmlns:a16="http://schemas.microsoft.com/office/drawing/2014/main" id="{D2EBB25E-AD91-4B1A-81E7-021C91BDE5A1}"/>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DD965A9C-D98F-4681-B920-D72807A3E830}"/>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Location</a:t>
            </a:r>
          </a:p>
        </p:txBody>
      </p:sp>
      <p:sp>
        <p:nvSpPr>
          <p:cNvPr id="19" name="">
            <a:extLst xmlns:a="http://schemas.openxmlformats.org/drawingml/2006/main">
              <a:ext uri="{FF2B5EF4-FFF2-40B4-BE49-F238E27FC236}">
                <a16:creationId xmlns:a16="http://schemas.microsoft.com/office/drawing/2014/main" id="{02EB9136-9B84-4E52-8180-56627F27D4EB}"/>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E159D387-205B-4F9F-A127-8CC61B02F3A2}"/>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Often superficial and visible or palpable</a:t>
            </a:r>
          </a:p>
        </p:txBody>
      </p:sp>
      <p:sp>
        <p:nvSpPr>
          <p:cNvPr id="21" name="">
            <a:extLst xmlns:a="http://schemas.openxmlformats.org/drawingml/2006/main">
              <a:ext uri="{FF2B5EF4-FFF2-40B4-BE49-F238E27FC236}">
                <a16:creationId xmlns:a16="http://schemas.microsoft.com/office/drawing/2014/main" id="{FE33CACB-F1AA-4D07-8EEA-D2456ABCD11D}"/>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CB445641-B554-4968-B252-24A7EA9E0D79}"/>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Often deeper and protected; confirm anatomy before proceeding</a:t>
            </a:r>
          </a:p>
        </p:txBody>
      </p:sp>
      <p:sp>
        <p:nvSpPr>
          <p:cNvPr id="23" name="">
            <a:extLst xmlns:a="http://schemas.openxmlformats.org/drawingml/2006/main">
              <a:ext uri="{FF2B5EF4-FFF2-40B4-BE49-F238E27FC236}">
                <a16:creationId xmlns:a16="http://schemas.microsoft.com/office/drawing/2014/main" id="{E90E20AB-763C-4696-AC34-8B6A0C95F652}"/>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FA42DA49-98E4-4200-BD20-1CB5C105BE35}"/>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Blood return</a:t>
            </a:r>
          </a:p>
        </p:txBody>
      </p:sp>
      <p:sp>
        <p:nvSpPr>
          <p:cNvPr id="25" name="">
            <a:extLst xmlns:a="http://schemas.openxmlformats.org/drawingml/2006/main">
              <a:ext uri="{FF2B5EF4-FFF2-40B4-BE49-F238E27FC236}">
                <a16:creationId xmlns:a16="http://schemas.microsoft.com/office/drawing/2014/main" id="{9DB96DA9-03F9-4C8D-8A19-1446855CBC65}"/>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33D1CDA7-D7A6-4DD0-B925-7F9402E4CB58}"/>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Usually darker and lower pressure</a:t>
            </a:r>
          </a:p>
        </p:txBody>
      </p:sp>
      <p:sp>
        <p:nvSpPr>
          <p:cNvPr id="27" name="">
            <a:extLst xmlns:a="http://schemas.openxmlformats.org/drawingml/2006/main">
              <a:ext uri="{FF2B5EF4-FFF2-40B4-BE49-F238E27FC236}">
                <a16:creationId xmlns:a16="http://schemas.microsoft.com/office/drawing/2014/main" id="{F58574F2-E0B6-464E-8D3F-3A764FC887C5}"/>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CC1A6536-93F8-414D-8389-470B6270EE57}"/>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Bright or pulsatile return is an emergency cue—stop and escalate</a:t>
            </a:r>
          </a:p>
        </p:txBody>
      </p:sp>
      <p:sp>
        <p:nvSpPr>
          <p:cNvPr id="29" name="">
            <a:extLst xmlns:a="http://schemas.openxmlformats.org/drawingml/2006/main">
              <a:ext uri="{FF2B5EF4-FFF2-40B4-BE49-F238E27FC236}">
                <a16:creationId xmlns:a16="http://schemas.microsoft.com/office/drawing/2014/main" id="{6D0B0154-FE0E-4D80-9C89-335792EE0AC3}"/>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84DCFA1C-661D-4F91-AA5F-A82A904999D7}"/>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When uncertain</a:t>
            </a:r>
          </a:p>
        </p:txBody>
      </p:sp>
      <p:sp>
        <p:nvSpPr>
          <p:cNvPr id="31" name="">
            <a:extLst xmlns:a="http://schemas.openxmlformats.org/drawingml/2006/main">
              <a:ext uri="{FF2B5EF4-FFF2-40B4-BE49-F238E27FC236}">
                <a16:creationId xmlns:a16="http://schemas.microsoft.com/office/drawing/2014/main" id="{BD0134C6-705E-4DBC-82BB-AF03408DEA51}"/>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326610C1-4952-477D-BE18-6B74BB0F4F50}"/>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Reassess the site and therapy</a:t>
            </a:r>
          </a:p>
        </p:txBody>
      </p:sp>
      <p:sp>
        <p:nvSpPr>
          <p:cNvPr id="33" name="">
            <a:extLst xmlns:a="http://schemas.openxmlformats.org/drawingml/2006/main">
              <a:ext uri="{FF2B5EF4-FFF2-40B4-BE49-F238E27FC236}">
                <a16:creationId xmlns:a16="http://schemas.microsoft.com/office/drawing/2014/main" id="{8910572C-0390-4BCB-88D5-7F5B1B12BB97}"/>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B1C0B5CF-08FC-4819-AB1F-53BB6FEB91C9}"/>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 not rely on color alone; obtain qualified assistance</a:t>
            </a:r>
          </a:p>
        </p:txBody>
      </p:sp>
    </p:spTree>
    <p:extLst>
      <p:ext uri="{BB962C8B-B14F-4D97-AF65-F5344CB8AC3E}">
        <p14:creationId xmlns:p14="http://schemas.microsoft.com/office/powerpoint/2010/main" val="1149542904"/>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E622E21-7627-41F3-98EA-A1A51B54EFF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BC1E932-0710-4F7B-85F8-872E239D8FC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Vein assessment uses sight and touch</a:t>
            </a:r>
          </a:p>
        </p:txBody>
      </p:sp>
      <p:sp>
        <p:nvSpPr>
          <p:cNvPr id="3" name="">
            <a:extLst xmlns:a="http://schemas.openxmlformats.org/drawingml/2006/main">
              <a:ext uri="{FF2B5EF4-FFF2-40B4-BE49-F238E27FC236}">
                <a16:creationId xmlns:a16="http://schemas.microsoft.com/office/drawing/2014/main" id="{8257FAF6-9B28-4340-B7BB-380D81FF980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44AD510B-08F2-4B81-9955-4C77BF33CE1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BB8CA9E7-A77C-402C-9FAE-DC5F8625C90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Inspect both appropriate extremities before choosing a site.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Use one or two fingertips rather than the thumb to palpate the vessel.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Press lightly, release, and assess elasticity, rebound filling, direction, depth, and length.</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Palpate even when a vein looks easy to access; appearance alone does not confirm suitability.</a:t>
            </a:r>
          </a:p>
        </p:txBody>
      </p:sp>
      <p:sp>
        <p:nvSpPr>
          <p:cNvPr id="6" name="">
            <a:extLst xmlns:a="http://schemas.openxmlformats.org/drawingml/2006/main">
              <a:ext uri="{FF2B5EF4-FFF2-40B4-BE49-F238E27FC236}">
                <a16:creationId xmlns:a16="http://schemas.microsoft.com/office/drawing/2014/main" id="{61D8A429-DE42-4BE5-8264-89CD45A2ED0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708635383"/>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A09F1A1-6184-40BE-B3AA-AD69A808CAE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1EC36B3-BC72-48C7-8B5A-04AC9677597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Strategies for a poorly filled vein</a:t>
            </a:r>
          </a:p>
        </p:txBody>
      </p:sp>
      <p:sp>
        <p:nvSpPr>
          <p:cNvPr id="3" name="">
            <a:extLst xmlns:a="http://schemas.openxmlformats.org/drawingml/2006/main">
              <a:ext uri="{FF2B5EF4-FFF2-40B4-BE49-F238E27FC236}">
                <a16:creationId xmlns:a16="http://schemas.microsoft.com/office/drawing/2014/main" id="{49F7AFD3-2DB7-43BB-B414-66E23A793A1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1956BB1B-15F9-4E2A-A79B-26FBD33E95B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FA38065B-2856-4839-A2D6-F3ECD780290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Lower the arm below heart level before applying the tourniquet when the patient's condition permits.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Ask the patient to gently open and close the hand, then relax it for insertion.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Use light tapping rather than forceful striking, which may cause vasoconstriction.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Apply an approved warm compress according to facility policy and reassess the vein before proceeding.</a:t>
            </a:r>
          </a:p>
        </p:txBody>
      </p:sp>
      <p:sp>
        <p:nvSpPr>
          <p:cNvPr id="6" name="">
            <a:extLst xmlns:a="http://schemas.openxmlformats.org/drawingml/2006/main">
              <a:ext uri="{FF2B5EF4-FFF2-40B4-BE49-F238E27FC236}">
                <a16:creationId xmlns:a16="http://schemas.microsoft.com/office/drawing/2014/main" id="{CF2B4999-11A2-4457-95D7-441166B4B81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080355777"/>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89AB73E-B707-45D4-B585-04CDEE28C29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2E17260-1452-4C8E-885E-77C7AB301EE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Peripheral catheter selection</a:t>
            </a:r>
          </a:p>
        </p:txBody>
      </p:sp>
      <p:sp>
        <p:nvSpPr>
          <p:cNvPr id="3" name="">
            <a:extLst xmlns:a="http://schemas.openxmlformats.org/drawingml/2006/main">
              <a:ext uri="{FF2B5EF4-FFF2-40B4-BE49-F238E27FC236}">
                <a16:creationId xmlns:a16="http://schemas.microsoft.com/office/drawing/2014/main" id="{3D09630E-628A-4AA1-8585-AD2EE231535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4646740F-C708-4331-8D34-19796C6F643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040C30F5-ADB4-4BE4-BB19-45902E3C8FA2}"/>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215FE069-377F-4CCE-ADB9-7010FC02C052}"/>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Clinical need</a:t>
            </a:r>
          </a:p>
        </p:txBody>
      </p:sp>
      <p:sp>
        <p:nvSpPr>
          <p:cNvPr id="7" name="">
            <a:extLst xmlns:a="http://schemas.openxmlformats.org/drawingml/2006/main">
              <a:ext uri="{FF2B5EF4-FFF2-40B4-BE49-F238E27FC236}">
                <a16:creationId xmlns:a16="http://schemas.microsoft.com/office/drawing/2014/main" id="{1DA6B351-2003-4AAB-A336-2C146D6B82CE}"/>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6BDC51BA-64B5-4001-B339-65A37EEF34BB}"/>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Selection principle</a:t>
            </a:r>
          </a:p>
        </p:txBody>
      </p:sp>
      <p:sp>
        <p:nvSpPr>
          <p:cNvPr id="9" name="">
            <a:extLst xmlns:a="http://schemas.openxmlformats.org/drawingml/2006/main">
              <a:ext uri="{FF2B5EF4-FFF2-40B4-BE49-F238E27FC236}">
                <a16:creationId xmlns:a16="http://schemas.microsoft.com/office/drawing/2014/main" id="{76E453D0-8D2B-434B-B2D3-E2722F2EA462}"/>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C46D3D29-0872-4D66-AAA7-5A1FB5214C84}"/>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Routine fluids or intermittent medication</a:t>
            </a:r>
          </a:p>
        </p:txBody>
      </p:sp>
      <p:sp>
        <p:nvSpPr>
          <p:cNvPr id="11" name="">
            <a:extLst xmlns:a="http://schemas.openxmlformats.org/drawingml/2006/main">
              <a:ext uri="{FF2B5EF4-FFF2-40B4-BE49-F238E27FC236}">
                <a16:creationId xmlns:a16="http://schemas.microsoft.com/office/drawing/2014/main" id="{60AB24C1-92D9-4D5C-AC0C-465BD40B3BFC}"/>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EBBF6C89-F388-4F4F-9CCE-6D024297F5A3}"/>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the smallest gauge that reliably supports therapy</a:t>
            </a:r>
          </a:p>
        </p:txBody>
      </p:sp>
      <p:sp>
        <p:nvSpPr>
          <p:cNvPr id="13" name="">
            <a:extLst xmlns:a="http://schemas.openxmlformats.org/drawingml/2006/main">
              <a:ext uri="{FF2B5EF4-FFF2-40B4-BE49-F238E27FC236}">
                <a16:creationId xmlns:a16="http://schemas.microsoft.com/office/drawing/2014/main" id="{1AD1E39F-E49A-458C-8A62-2199EA93874B}"/>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98335D4D-180E-40BB-AF30-005DE42B1202}"/>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Rapid volume or blood</a:t>
            </a:r>
          </a:p>
        </p:txBody>
      </p:sp>
      <p:sp>
        <p:nvSpPr>
          <p:cNvPr id="15" name="">
            <a:extLst xmlns:a="http://schemas.openxmlformats.org/drawingml/2006/main">
              <a:ext uri="{FF2B5EF4-FFF2-40B4-BE49-F238E27FC236}">
                <a16:creationId xmlns:a16="http://schemas.microsoft.com/office/drawing/2014/main" id="{9C102D37-06D3-4690-B8F6-E66943AAA7B0}"/>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4FBD521F-0E48-4BF1-ADC2-92344084DBAD}"/>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 larger bore may be required when clinically appropriate</a:t>
            </a:r>
          </a:p>
        </p:txBody>
      </p:sp>
      <p:sp>
        <p:nvSpPr>
          <p:cNvPr id="17" name="">
            <a:extLst xmlns:a="http://schemas.openxmlformats.org/drawingml/2006/main">
              <a:ext uri="{FF2B5EF4-FFF2-40B4-BE49-F238E27FC236}">
                <a16:creationId xmlns:a16="http://schemas.microsoft.com/office/drawing/2014/main" id="{B885B875-0953-4C1D-B4FE-D968E8A0E0A8}"/>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C9B63635-DBE6-4764-AAA5-8FE57DB363CA}"/>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Fragile or small veins</a:t>
            </a:r>
          </a:p>
        </p:txBody>
      </p:sp>
      <p:sp>
        <p:nvSpPr>
          <p:cNvPr id="19" name="">
            <a:extLst xmlns:a="http://schemas.openxmlformats.org/drawingml/2006/main">
              <a:ext uri="{FF2B5EF4-FFF2-40B4-BE49-F238E27FC236}">
                <a16:creationId xmlns:a16="http://schemas.microsoft.com/office/drawing/2014/main" id="{2FA67ADC-8DE1-4AFA-8B21-6C1C530C44F3}"/>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D6BC0B1B-EF3B-48F3-9A06-E798FBFE00C6}"/>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Choose a smaller gauge and appropriate short catheter</a:t>
            </a:r>
          </a:p>
        </p:txBody>
      </p:sp>
      <p:sp>
        <p:nvSpPr>
          <p:cNvPr id="21" name="">
            <a:extLst xmlns:a="http://schemas.openxmlformats.org/drawingml/2006/main">
              <a:ext uri="{FF2B5EF4-FFF2-40B4-BE49-F238E27FC236}">
                <a16:creationId xmlns:a16="http://schemas.microsoft.com/office/drawing/2014/main" id="{C7B06B29-6659-492A-B73F-51F5F03B4DC2}"/>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693F207F-9990-4392-A95F-C713116C7E39}"/>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Long duration or irritating therapy</a:t>
            </a:r>
          </a:p>
        </p:txBody>
      </p:sp>
      <p:sp>
        <p:nvSpPr>
          <p:cNvPr id="23" name="">
            <a:extLst xmlns:a="http://schemas.openxmlformats.org/drawingml/2006/main">
              <a:ext uri="{FF2B5EF4-FFF2-40B4-BE49-F238E27FC236}">
                <a16:creationId xmlns:a16="http://schemas.microsoft.com/office/drawing/2014/main" id="{DBFBBB91-067D-47AF-8CDC-F16647984EBD}"/>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FAFB791C-D2A2-489A-B215-FEA6EEC249D9}"/>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Reassess whether a different vascular-access device is indicated</a:t>
            </a:r>
          </a:p>
        </p:txBody>
      </p:sp>
    </p:spTree>
    <p:extLst>
      <p:ext uri="{BB962C8B-B14F-4D97-AF65-F5344CB8AC3E}">
        <p14:creationId xmlns:p14="http://schemas.microsoft.com/office/powerpoint/2010/main" val="1388121325"/>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570358B-8CC4-478D-BF7C-DF932691053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B2D1D35-5F48-4745-AF92-85AAC1349CE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Insertion sequence: prepare and access</a:t>
            </a:r>
          </a:p>
        </p:txBody>
      </p:sp>
      <p:sp>
        <p:nvSpPr>
          <p:cNvPr id="3" name="">
            <a:extLst xmlns:a="http://schemas.openxmlformats.org/drawingml/2006/main">
              <a:ext uri="{FF2B5EF4-FFF2-40B4-BE49-F238E27FC236}">
                <a16:creationId xmlns:a16="http://schemas.microsoft.com/office/drawing/2014/main" id="{AD4814E1-5454-467E-919F-49A4B855384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7EDF16C0-C79D-40FA-88C9-AA77C3B7226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0B8C1E02-5755-462F-86FB-B987CE44FE9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Verify the order, identify and teach the patient, perform hand hygiene, and gather supplies.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Position the limb, assess veins, apply the tourniquet, and select the site.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Cleanse with the approved antiseptic using the required friction and allow it to dry completely.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Stabilize the vein, insert bevel up, observe flashback, lower the angle, and advance the catheter—not the needle.</a:t>
            </a:r>
          </a:p>
        </p:txBody>
      </p:sp>
      <p:sp>
        <p:nvSpPr>
          <p:cNvPr id="6" name="">
            <a:extLst xmlns:a="http://schemas.openxmlformats.org/drawingml/2006/main">
              <a:ext uri="{FF2B5EF4-FFF2-40B4-BE49-F238E27FC236}">
                <a16:creationId xmlns:a16="http://schemas.microsoft.com/office/drawing/2014/main" id="{450A7DBD-7182-4721-890A-76105044FF5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146754476"/>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7D754B1-E32B-4441-A051-9E788810D0D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71A8F22-E983-49FB-B518-E8E6614E5FF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Insertion sequence: connect and secure</a:t>
            </a:r>
          </a:p>
        </p:txBody>
      </p:sp>
      <p:sp>
        <p:nvSpPr>
          <p:cNvPr id="3" name="">
            <a:extLst xmlns:a="http://schemas.openxmlformats.org/drawingml/2006/main">
              <a:ext uri="{FF2B5EF4-FFF2-40B4-BE49-F238E27FC236}">
                <a16:creationId xmlns:a16="http://schemas.microsoft.com/office/drawing/2014/main" id="{9791751C-BF45-459D-BADF-A68E33A5A5B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1EBC9015-1E66-4983-BC22-21AEDACE967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E847CD44-C465-46CB-A9B5-A1666AFC8DC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Release the tourniquet, apply appropriate pressure, activate the sharps safety device, and discard immediately.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Connect the primed extension without contaminating key parts.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Confirm patency using the approved assessment; never force a flush.</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Secure and dress the catheter, label it, start the ordered therapy, teach the patient, and document.</a:t>
            </a:r>
          </a:p>
        </p:txBody>
      </p:sp>
      <p:sp>
        <p:nvSpPr>
          <p:cNvPr id="6" name="">
            <a:extLst xmlns:a="http://schemas.openxmlformats.org/drawingml/2006/main">
              <a:ext uri="{FF2B5EF4-FFF2-40B4-BE49-F238E27FC236}">
                <a16:creationId xmlns:a16="http://schemas.microsoft.com/office/drawing/2014/main" id="{A558033F-0F76-4782-9F5C-2E413930DE3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05307665"/>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3D353C7-0F8D-473E-B674-763A96BF072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F628ECB-C9AF-40A2-8C65-D1392F47873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Sharps safety is part of every IV start</a:t>
            </a:r>
          </a:p>
        </p:txBody>
      </p:sp>
      <p:sp>
        <p:nvSpPr>
          <p:cNvPr id="3" name="">
            <a:extLst xmlns:a="http://schemas.openxmlformats.org/drawingml/2006/main">
              <a:ext uri="{FF2B5EF4-FFF2-40B4-BE49-F238E27FC236}">
                <a16:creationId xmlns:a16="http://schemas.microsoft.com/office/drawing/2014/main" id="{DED2B5D5-F25D-424D-9905-09FB1A3EA8D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37E50D48-56E4-4E73-B410-10517853965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A10556D3-4671-4332-A226-5D91D2D3200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Place an approved, closable, puncture-resistant sharps container within easy reach before beginning.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Never bend, break, remove, or recap the introducer needle.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Activate the engineered safety feature immediately after withdrawal and visually confirm activation when the device permits.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Dispose of the sharp at once; never carry it, hand it to another person, or force it into an overfilled container.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an injury occurs, stop safely and follow the facility exposure-control plan without delay.</a:t>
            </a:r>
          </a:p>
        </p:txBody>
      </p:sp>
      <p:sp>
        <p:nvSpPr>
          <p:cNvPr id="6" name="">
            <a:extLst xmlns:a="http://schemas.openxmlformats.org/drawingml/2006/main">
              <a:ext uri="{FF2B5EF4-FFF2-40B4-BE49-F238E27FC236}">
                <a16:creationId xmlns:a16="http://schemas.microsoft.com/office/drawing/2014/main" id="{148B0F84-0FC9-4F07-8926-AC79BCC6706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023856964"/>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6BC1856B-7F94-483F-830C-D289E6A067F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7DF7B2D-57B3-48C8-AE71-BBEB6C57FC8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Occupational exposure: immediate response</a:t>
            </a:r>
          </a:p>
        </p:txBody>
      </p:sp>
      <p:sp>
        <p:nvSpPr>
          <p:cNvPr id="3" name="">
            <a:extLst xmlns:a="http://schemas.openxmlformats.org/drawingml/2006/main">
              <a:ext uri="{FF2B5EF4-FFF2-40B4-BE49-F238E27FC236}">
                <a16:creationId xmlns:a16="http://schemas.microsoft.com/office/drawing/2014/main" id="{79C44EBB-9CDE-4CDF-9175-A0461138279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E50C76A2-87C1-44AA-8AE3-D480EE9DE81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DB85687C-6DB9-4E17-9AA6-D87A299A1295}"/>
              </a:ext>
            </a:extLst>
          </p:cNvPr>
          <p:cNvSpPr>
            <a:spLocks xmlns:a="http://schemas.openxmlformats.org/drawingml/2006/main" noGrp="1"/>
          </p:cNvSpPr>
          <p:nvPr/>
        </p:nvSpPr>
        <p:spPr>
          <a:xfrm xmlns:a="http://schemas.openxmlformats.org/drawingml/2006/main">
            <a:off x="781050" y="1695450"/>
            <a:ext cx="5286375" cy="7429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BD4810DF-B656-4D52-A9C6-D5BC698B7BBC}"/>
              </a:ext>
            </a:extLst>
          </p:cNvPr>
          <p:cNvSpPr>
            <a:spLocks xmlns:a="http://schemas.openxmlformats.org/drawingml/2006/main" noGrp="1"/>
          </p:cNvSpPr>
          <p:nvPr/>
        </p:nvSpPr>
        <p:spPr>
          <a:xfrm xmlns:a="http://schemas.openxmlformats.org/drawingml/2006/main">
            <a:off x="876300" y="17621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Exposure</a:t>
            </a:r>
          </a:p>
        </p:txBody>
      </p:sp>
      <p:sp>
        <p:nvSpPr>
          <p:cNvPr id="7" name="">
            <a:extLst xmlns:a="http://schemas.openxmlformats.org/drawingml/2006/main">
              <a:ext uri="{FF2B5EF4-FFF2-40B4-BE49-F238E27FC236}">
                <a16:creationId xmlns:a16="http://schemas.microsoft.com/office/drawing/2014/main" id="{3903940D-4565-45E8-B4F3-1A7B3E3BC66D}"/>
              </a:ext>
            </a:extLst>
          </p:cNvPr>
          <p:cNvSpPr>
            <a:spLocks xmlns:a="http://schemas.openxmlformats.org/drawingml/2006/main" noGrp="1"/>
          </p:cNvSpPr>
          <p:nvPr/>
        </p:nvSpPr>
        <p:spPr>
          <a:xfrm xmlns:a="http://schemas.openxmlformats.org/drawingml/2006/main">
            <a:off x="6067425" y="1695450"/>
            <a:ext cx="5286375" cy="7429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BB774E8A-AA45-4A01-8486-00BFA29DB232}"/>
              </a:ext>
            </a:extLst>
          </p:cNvPr>
          <p:cNvSpPr>
            <a:spLocks xmlns:a="http://schemas.openxmlformats.org/drawingml/2006/main" noGrp="1"/>
          </p:cNvSpPr>
          <p:nvPr/>
        </p:nvSpPr>
        <p:spPr>
          <a:xfrm xmlns:a="http://schemas.openxmlformats.org/drawingml/2006/main">
            <a:off x="6162675" y="17621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Immediate action</a:t>
            </a:r>
          </a:p>
        </p:txBody>
      </p:sp>
      <p:sp>
        <p:nvSpPr>
          <p:cNvPr id="9" name="">
            <a:extLst xmlns:a="http://schemas.openxmlformats.org/drawingml/2006/main">
              <a:ext uri="{FF2B5EF4-FFF2-40B4-BE49-F238E27FC236}">
                <a16:creationId xmlns:a16="http://schemas.microsoft.com/office/drawing/2014/main" id="{AA4A7895-98DE-4A17-8D00-E4D6CDC23059}"/>
              </a:ext>
            </a:extLst>
          </p:cNvPr>
          <p:cNvSpPr>
            <a:spLocks xmlns:a="http://schemas.openxmlformats.org/drawingml/2006/main" noGrp="1"/>
          </p:cNvSpPr>
          <p:nvPr/>
        </p:nvSpPr>
        <p:spPr>
          <a:xfrm xmlns:a="http://schemas.openxmlformats.org/drawingml/2006/main">
            <a:off x="781050" y="2438400"/>
            <a:ext cx="5286375"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1F04925F-12D3-4B37-8656-C3D979267A31}"/>
              </a:ext>
            </a:extLst>
          </p:cNvPr>
          <p:cNvSpPr>
            <a:spLocks xmlns:a="http://schemas.openxmlformats.org/drawingml/2006/main" noGrp="1"/>
          </p:cNvSpPr>
          <p:nvPr/>
        </p:nvSpPr>
        <p:spPr>
          <a:xfrm xmlns:a="http://schemas.openxmlformats.org/drawingml/2006/main">
            <a:off x="876300" y="25050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Needlestick or cut</a:t>
            </a:r>
          </a:p>
        </p:txBody>
      </p:sp>
      <p:sp>
        <p:nvSpPr>
          <p:cNvPr id="11" name="">
            <a:extLst xmlns:a="http://schemas.openxmlformats.org/drawingml/2006/main">
              <a:ext uri="{FF2B5EF4-FFF2-40B4-BE49-F238E27FC236}">
                <a16:creationId xmlns:a16="http://schemas.microsoft.com/office/drawing/2014/main" id="{60C77B72-040D-4053-8D84-EFFEE453DB24}"/>
              </a:ext>
            </a:extLst>
          </p:cNvPr>
          <p:cNvSpPr>
            <a:spLocks xmlns:a="http://schemas.openxmlformats.org/drawingml/2006/main" noGrp="1"/>
          </p:cNvSpPr>
          <p:nvPr/>
        </p:nvSpPr>
        <p:spPr>
          <a:xfrm xmlns:a="http://schemas.openxmlformats.org/drawingml/2006/main">
            <a:off x="6067425" y="2438400"/>
            <a:ext cx="5286375"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5C5B0EA4-A6EA-497F-A2E5-E1692BD5BD15}"/>
              </a:ext>
            </a:extLst>
          </p:cNvPr>
          <p:cNvSpPr>
            <a:spLocks xmlns:a="http://schemas.openxmlformats.org/drawingml/2006/main" noGrp="1"/>
          </p:cNvSpPr>
          <p:nvPr/>
        </p:nvSpPr>
        <p:spPr>
          <a:xfrm xmlns:a="http://schemas.openxmlformats.org/drawingml/2006/main">
            <a:off x="6162675" y="25050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Wash with soap and water; do not scrub aggressively or squeeze the wound</a:t>
            </a:r>
          </a:p>
        </p:txBody>
      </p:sp>
      <p:sp>
        <p:nvSpPr>
          <p:cNvPr id="13" name="">
            <a:extLst xmlns:a="http://schemas.openxmlformats.org/drawingml/2006/main">
              <a:ext uri="{FF2B5EF4-FFF2-40B4-BE49-F238E27FC236}">
                <a16:creationId xmlns:a16="http://schemas.microsoft.com/office/drawing/2014/main" id="{3811A54A-A95D-40C3-9F60-659D72E4188F}"/>
              </a:ext>
            </a:extLst>
          </p:cNvPr>
          <p:cNvSpPr>
            <a:spLocks xmlns:a="http://schemas.openxmlformats.org/drawingml/2006/main" noGrp="1"/>
          </p:cNvSpPr>
          <p:nvPr/>
        </p:nvSpPr>
        <p:spPr>
          <a:xfrm xmlns:a="http://schemas.openxmlformats.org/drawingml/2006/main">
            <a:off x="781050" y="3181350"/>
            <a:ext cx="5286375"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9953B938-E2C2-41C2-9F8B-42132982ECD6}"/>
              </a:ext>
            </a:extLst>
          </p:cNvPr>
          <p:cNvSpPr>
            <a:spLocks xmlns:a="http://schemas.openxmlformats.org/drawingml/2006/main" noGrp="1"/>
          </p:cNvSpPr>
          <p:nvPr/>
        </p:nvSpPr>
        <p:spPr>
          <a:xfrm xmlns:a="http://schemas.openxmlformats.org/drawingml/2006/main">
            <a:off x="876300" y="32480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Eye or mucous-membrane splash</a:t>
            </a:r>
          </a:p>
        </p:txBody>
      </p:sp>
      <p:sp>
        <p:nvSpPr>
          <p:cNvPr id="15" name="">
            <a:extLst xmlns:a="http://schemas.openxmlformats.org/drawingml/2006/main">
              <a:ext uri="{FF2B5EF4-FFF2-40B4-BE49-F238E27FC236}">
                <a16:creationId xmlns:a16="http://schemas.microsoft.com/office/drawing/2014/main" id="{60C6FA80-A215-41EE-97CE-94419D902FBC}"/>
              </a:ext>
            </a:extLst>
          </p:cNvPr>
          <p:cNvSpPr>
            <a:spLocks xmlns:a="http://schemas.openxmlformats.org/drawingml/2006/main" noGrp="1"/>
          </p:cNvSpPr>
          <p:nvPr/>
        </p:nvSpPr>
        <p:spPr>
          <a:xfrm xmlns:a="http://schemas.openxmlformats.org/drawingml/2006/main">
            <a:off x="6067425" y="3181350"/>
            <a:ext cx="5286375"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B350A94C-DBA7-4F05-9866-F7B4D5D33B7C}"/>
              </a:ext>
            </a:extLst>
          </p:cNvPr>
          <p:cNvSpPr>
            <a:spLocks xmlns:a="http://schemas.openxmlformats.org/drawingml/2006/main" noGrp="1"/>
          </p:cNvSpPr>
          <p:nvPr/>
        </p:nvSpPr>
        <p:spPr>
          <a:xfrm xmlns:a="http://schemas.openxmlformats.org/drawingml/2006/main">
            <a:off x="6162675" y="32480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Flush promptly with water or the designated eyewash</a:t>
            </a:r>
          </a:p>
        </p:txBody>
      </p:sp>
      <p:sp>
        <p:nvSpPr>
          <p:cNvPr id="17" name="">
            <a:extLst xmlns:a="http://schemas.openxmlformats.org/drawingml/2006/main">
              <a:ext uri="{FF2B5EF4-FFF2-40B4-BE49-F238E27FC236}">
                <a16:creationId xmlns:a16="http://schemas.microsoft.com/office/drawing/2014/main" id="{66A82C17-8456-49B9-85C5-716A9FC58012}"/>
              </a:ext>
            </a:extLst>
          </p:cNvPr>
          <p:cNvSpPr>
            <a:spLocks xmlns:a="http://schemas.openxmlformats.org/drawingml/2006/main" noGrp="1"/>
          </p:cNvSpPr>
          <p:nvPr/>
        </p:nvSpPr>
        <p:spPr>
          <a:xfrm xmlns:a="http://schemas.openxmlformats.org/drawingml/2006/main">
            <a:off x="781050" y="3924300"/>
            <a:ext cx="5286375"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3E92351B-C6E0-464B-8181-6AA3F35DC597}"/>
              </a:ext>
            </a:extLst>
          </p:cNvPr>
          <p:cNvSpPr>
            <a:spLocks xmlns:a="http://schemas.openxmlformats.org/drawingml/2006/main" noGrp="1"/>
          </p:cNvSpPr>
          <p:nvPr/>
        </p:nvSpPr>
        <p:spPr>
          <a:xfrm xmlns:a="http://schemas.openxmlformats.org/drawingml/2006/main">
            <a:off x="876300" y="39909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Nonintact-skin contact</a:t>
            </a:r>
          </a:p>
        </p:txBody>
      </p:sp>
      <p:sp>
        <p:nvSpPr>
          <p:cNvPr id="19" name="">
            <a:extLst xmlns:a="http://schemas.openxmlformats.org/drawingml/2006/main">
              <a:ext uri="{FF2B5EF4-FFF2-40B4-BE49-F238E27FC236}">
                <a16:creationId xmlns:a16="http://schemas.microsoft.com/office/drawing/2014/main" id="{C3102AE6-8086-4D2C-8752-51A1FE07432C}"/>
              </a:ext>
            </a:extLst>
          </p:cNvPr>
          <p:cNvSpPr>
            <a:spLocks xmlns:a="http://schemas.openxmlformats.org/drawingml/2006/main" noGrp="1"/>
          </p:cNvSpPr>
          <p:nvPr/>
        </p:nvSpPr>
        <p:spPr>
          <a:xfrm xmlns:a="http://schemas.openxmlformats.org/drawingml/2006/main">
            <a:off x="6067425" y="3924300"/>
            <a:ext cx="5286375"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EC81C588-25B3-4F3C-80DB-013BD3FBA48D}"/>
              </a:ext>
            </a:extLst>
          </p:cNvPr>
          <p:cNvSpPr>
            <a:spLocks xmlns:a="http://schemas.openxmlformats.org/drawingml/2006/main" noGrp="1"/>
          </p:cNvSpPr>
          <p:nvPr/>
        </p:nvSpPr>
        <p:spPr>
          <a:xfrm xmlns:a="http://schemas.openxmlformats.org/drawingml/2006/main">
            <a:off x="6162675" y="39909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Wash the area promptly and remove contaminated clothing as directed</a:t>
            </a:r>
          </a:p>
        </p:txBody>
      </p:sp>
      <p:sp>
        <p:nvSpPr>
          <p:cNvPr id="21" name="">
            <a:extLst xmlns:a="http://schemas.openxmlformats.org/drawingml/2006/main">
              <a:ext uri="{FF2B5EF4-FFF2-40B4-BE49-F238E27FC236}">
                <a16:creationId xmlns:a16="http://schemas.microsoft.com/office/drawing/2014/main" id="{7D427CCF-BD42-4558-B367-EC29998374A1}"/>
              </a:ext>
            </a:extLst>
          </p:cNvPr>
          <p:cNvSpPr>
            <a:spLocks xmlns:a="http://schemas.openxmlformats.org/drawingml/2006/main" noGrp="1"/>
          </p:cNvSpPr>
          <p:nvPr/>
        </p:nvSpPr>
        <p:spPr>
          <a:xfrm xmlns:a="http://schemas.openxmlformats.org/drawingml/2006/main">
            <a:off x="781050" y="4667250"/>
            <a:ext cx="5286375"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77A83B7C-5766-4801-A5C5-1F0B8749A406}"/>
              </a:ext>
            </a:extLst>
          </p:cNvPr>
          <p:cNvSpPr>
            <a:spLocks xmlns:a="http://schemas.openxmlformats.org/drawingml/2006/main" noGrp="1"/>
          </p:cNvSpPr>
          <p:nvPr/>
        </p:nvSpPr>
        <p:spPr>
          <a:xfrm xmlns:a="http://schemas.openxmlformats.org/drawingml/2006/main">
            <a:off x="876300" y="47339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Every exposure</a:t>
            </a:r>
          </a:p>
        </p:txBody>
      </p:sp>
      <p:sp>
        <p:nvSpPr>
          <p:cNvPr id="23" name="">
            <a:extLst xmlns:a="http://schemas.openxmlformats.org/drawingml/2006/main">
              <a:ext uri="{FF2B5EF4-FFF2-40B4-BE49-F238E27FC236}">
                <a16:creationId xmlns:a16="http://schemas.microsoft.com/office/drawing/2014/main" id="{D940281D-696F-4315-B90A-8E3680040646}"/>
              </a:ext>
            </a:extLst>
          </p:cNvPr>
          <p:cNvSpPr>
            <a:spLocks xmlns:a="http://schemas.openxmlformats.org/drawingml/2006/main" noGrp="1"/>
          </p:cNvSpPr>
          <p:nvPr/>
        </p:nvSpPr>
        <p:spPr>
          <a:xfrm xmlns:a="http://schemas.openxmlformats.org/drawingml/2006/main">
            <a:off x="6067425" y="4667250"/>
            <a:ext cx="5286375"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9F526F2C-6B9C-49D4-977E-344C3B2BE6AE}"/>
              </a:ext>
            </a:extLst>
          </p:cNvPr>
          <p:cNvSpPr>
            <a:spLocks xmlns:a="http://schemas.openxmlformats.org/drawingml/2006/main" noGrp="1"/>
          </p:cNvSpPr>
          <p:nvPr/>
        </p:nvSpPr>
        <p:spPr>
          <a:xfrm xmlns:a="http://schemas.openxmlformats.org/drawingml/2006/main">
            <a:off x="6162675" y="47339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Report immediately, identify the source process when permitted, and obtain confidential medical evaluation and follow-up</a:t>
            </a:r>
          </a:p>
        </p:txBody>
      </p:sp>
      <p:sp>
        <p:nvSpPr>
          <p:cNvPr id="25" name="">
            <a:extLst xmlns:a="http://schemas.openxmlformats.org/drawingml/2006/main">
              <a:ext uri="{FF2B5EF4-FFF2-40B4-BE49-F238E27FC236}">
                <a16:creationId xmlns:a16="http://schemas.microsoft.com/office/drawing/2014/main" id="{86F6902D-EEBD-4C80-88F5-57EA38712EA9}"/>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Do not delay reporting while deciding whether the exposure seems serious. Follow the employer's written exposure-control plan and current post-exposure protocol.</a:t>
            </a:r>
          </a:p>
        </p:txBody>
      </p:sp>
    </p:spTree>
    <p:extLst>
      <p:ext uri="{BB962C8B-B14F-4D97-AF65-F5344CB8AC3E}">
        <p14:creationId xmlns:p14="http://schemas.microsoft.com/office/powerpoint/2010/main" val="283749868"/>
      </p:ext>
    </p:extLst>
  </p:cSld>
</p:sld>
</file>

<file path=ppt/slides/slide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17974886-31A9-47DD-9A54-7A9E4AEA695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239696C-20DE-4B4D-8ABB-FBB34697DA4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Unsuccessful insertion: safe next steps</a:t>
            </a:r>
          </a:p>
        </p:txBody>
      </p:sp>
      <p:sp>
        <p:nvSpPr>
          <p:cNvPr id="3" name="">
            <a:extLst xmlns:a="http://schemas.openxmlformats.org/drawingml/2006/main">
              <a:ext uri="{FF2B5EF4-FFF2-40B4-BE49-F238E27FC236}">
                <a16:creationId xmlns:a16="http://schemas.microsoft.com/office/drawing/2014/main" id="{78D690C6-D536-42FB-9189-C4E6C1E0344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32CF54CD-27F9-4184-B90C-66E0721280D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a:t>
            </a:r>
          </a:p>
        </p:txBody>
      </p:sp>
      <p:sp>
        <p:nvSpPr>
          <p:cNvPr id="5" name="">
            <a:extLst xmlns:a="http://schemas.openxmlformats.org/drawingml/2006/main">
              <a:ext uri="{FF2B5EF4-FFF2-40B4-BE49-F238E27FC236}">
                <a16:creationId xmlns:a16="http://schemas.microsoft.com/office/drawing/2014/main" id="{D0765A2B-6B1B-48C7-BC9D-B5A32605D128}"/>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12341314-BA31-4458-B13D-1088408DBBF1}"/>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Problem</a:t>
            </a:r>
          </a:p>
        </p:txBody>
      </p:sp>
      <p:sp>
        <p:nvSpPr>
          <p:cNvPr id="7" name="">
            <a:extLst xmlns:a="http://schemas.openxmlformats.org/drawingml/2006/main">
              <a:ext uri="{FF2B5EF4-FFF2-40B4-BE49-F238E27FC236}">
                <a16:creationId xmlns:a16="http://schemas.microsoft.com/office/drawing/2014/main" id="{2525F79D-B79A-4AA8-842C-B01816903304}"/>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46EAD09F-9465-4E36-A46A-B993FD0CAB8A}"/>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Likely cause</a:t>
            </a:r>
          </a:p>
        </p:txBody>
      </p:sp>
      <p:sp>
        <p:nvSpPr>
          <p:cNvPr id="9" name="">
            <a:extLst xmlns:a="http://schemas.openxmlformats.org/drawingml/2006/main">
              <a:ext uri="{FF2B5EF4-FFF2-40B4-BE49-F238E27FC236}">
                <a16:creationId xmlns:a16="http://schemas.microsoft.com/office/drawing/2014/main" id="{DA7DF9FF-6EFC-48F6-A2FD-2373D651FCE5}"/>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8108304D-56D1-4CED-891C-C4D24C7251EF}"/>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Safe response</a:t>
            </a:r>
          </a:p>
        </p:txBody>
      </p:sp>
      <p:sp>
        <p:nvSpPr>
          <p:cNvPr id="11" name="">
            <a:extLst xmlns:a="http://schemas.openxmlformats.org/drawingml/2006/main">
              <a:ext uri="{FF2B5EF4-FFF2-40B4-BE49-F238E27FC236}">
                <a16:creationId xmlns:a16="http://schemas.microsoft.com/office/drawing/2014/main" id="{6D0CEA11-E4EB-40D3-B278-F5A3FCE48ACE}"/>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0D8128D0-FBFF-443D-9B1E-D21C463E6A88}"/>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Vein rolls away</a:t>
            </a:r>
          </a:p>
        </p:txBody>
      </p:sp>
      <p:sp>
        <p:nvSpPr>
          <p:cNvPr id="13" name="">
            <a:extLst xmlns:a="http://schemas.openxmlformats.org/drawingml/2006/main">
              <a:ext uri="{FF2B5EF4-FFF2-40B4-BE49-F238E27FC236}">
                <a16:creationId xmlns:a16="http://schemas.microsoft.com/office/drawing/2014/main" id="{49CAFDE0-6BF7-4D45-B01C-A028BEC2D918}"/>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82883B7B-B51D-442F-B1F3-FAB66C360D82}"/>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Inadequate stabilization</a:t>
            </a:r>
          </a:p>
        </p:txBody>
      </p:sp>
      <p:sp>
        <p:nvSpPr>
          <p:cNvPr id="15" name="">
            <a:extLst xmlns:a="http://schemas.openxmlformats.org/drawingml/2006/main">
              <a:ext uri="{FF2B5EF4-FFF2-40B4-BE49-F238E27FC236}">
                <a16:creationId xmlns:a16="http://schemas.microsoft.com/office/drawing/2014/main" id="{CC3E35EF-BDF6-45A5-A060-853EA339C896}"/>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66A84369-C386-42DC-8B99-EDD123F8E499}"/>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probing; stabilize correctly and use a new catheter/site as required</a:t>
            </a:r>
          </a:p>
        </p:txBody>
      </p:sp>
      <p:sp>
        <p:nvSpPr>
          <p:cNvPr id="17" name="">
            <a:extLst xmlns:a="http://schemas.openxmlformats.org/drawingml/2006/main">
              <a:ext uri="{FF2B5EF4-FFF2-40B4-BE49-F238E27FC236}">
                <a16:creationId xmlns:a16="http://schemas.microsoft.com/office/drawing/2014/main" id="{E712D80F-906B-4BBB-A117-131AA3D740A3}"/>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10325EF7-BE85-4B5B-9192-0D66F0396F37}"/>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Hematoma develops</a:t>
            </a:r>
          </a:p>
        </p:txBody>
      </p:sp>
      <p:sp>
        <p:nvSpPr>
          <p:cNvPr id="19" name="">
            <a:extLst xmlns:a="http://schemas.openxmlformats.org/drawingml/2006/main">
              <a:ext uri="{FF2B5EF4-FFF2-40B4-BE49-F238E27FC236}">
                <a16:creationId xmlns:a16="http://schemas.microsoft.com/office/drawing/2014/main" id="{82530A8E-CFFE-4600-808A-DFB4CCBD2301}"/>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DF827E72-A0D3-4DEB-B840-CB9140FD2D8E}"/>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Posterior-wall trauma or excessive angle</a:t>
            </a:r>
          </a:p>
        </p:txBody>
      </p:sp>
      <p:sp>
        <p:nvSpPr>
          <p:cNvPr id="21" name="">
            <a:extLst xmlns:a="http://schemas.openxmlformats.org/drawingml/2006/main">
              <a:ext uri="{FF2B5EF4-FFF2-40B4-BE49-F238E27FC236}">
                <a16:creationId xmlns:a16="http://schemas.microsoft.com/office/drawing/2014/main" id="{EB4F4369-A33F-4305-8BA7-D9334010DDB1}"/>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C3B5FD04-922C-40DC-B5BF-5114BC5B6AB9}"/>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remove, apply pressure, and reassess</a:t>
            </a:r>
          </a:p>
        </p:txBody>
      </p:sp>
      <p:sp>
        <p:nvSpPr>
          <p:cNvPr id="23" name="">
            <a:extLst xmlns:a="http://schemas.openxmlformats.org/drawingml/2006/main">
              <a:ext uri="{FF2B5EF4-FFF2-40B4-BE49-F238E27FC236}">
                <a16:creationId xmlns:a16="http://schemas.microsoft.com/office/drawing/2014/main" id="{3E50C924-55AA-4CF1-823B-FFD4542F7FE5}"/>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CFCAF42D-85C5-453B-B232-953565B94F58}"/>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Flashback appears but catheter will not advance</a:t>
            </a:r>
          </a:p>
        </p:txBody>
      </p:sp>
      <p:sp>
        <p:nvSpPr>
          <p:cNvPr id="25" name="">
            <a:extLst xmlns:a="http://schemas.openxmlformats.org/drawingml/2006/main">
              <a:ext uri="{FF2B5EF4-FFF2-40B4-BE49-F238E27FC236}">
                <a16:creationId xmlns:a16="http://schemas.microsoft.com/office/drawing/2014/main" id="{F10D66D8-F9FE-4144-8EAE-90AA210E202E}"/>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ECBE179A-3A8A-4988-A1A1-30D68CDB068E}"/>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Only the needle tip may be in the lumen</a:t>
            </a:r>
          </a:p>
        </p:txBody>
      </p:sp>
      <p:sp>
        <p:nvSpPr>
          <p:cNvPr id="27" name="">
            <a:extLst xmlns:a="http://schemas.openxmlformats.org/drawingml/2006/main">
              <a:ext uri="{FF2B5EF4-FFF2-40B4-BE49-F238E27FC236}">
                <a16:creationId xmlns:a16="http://schemas.microsoft.com/office/drawing/2014/main" id="{D47180CC-6C05-44D9-A512-F076DA481032}"/>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5985A433-5D6A-4DEF-9FEF-06B7E0140B78}"/>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 not reinsert the needle into the catheter; remove and restart according to policy</a:t>
            </a:r>
          </a:p>
        </p:txBody>
      </p:sp>
      <p:sp>
        <p:nvSpPr>
          <p:cNvPr id="29" name="">
            <a:extLst xmlns:a="http://schemas.openxmlformats.org/drawingml/2006/main">
              <a:ext uri="{FF2B5EF4-FFF2-40B4-BE49-F238E27FC236}">
                <a16:creationId xmlns:a16="http://schemas.microsoft.com/office/drawing/2014/main" id="{42F33FC0-CB49-4FBF-B0CC-87B2E64A20F5}"/>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4C3AC9F9-6666-4325-84FA-877D44E39A8A}"/>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Repeated unsuccessful attempts</a:t>
            </a:r>
          </a:p>
        </p:txBody>
      </p:sp>
      <p:sp>
        <p:nvSpPr>
          <p:cNvPr id="31" name="">
            <a:extLst xmlns:a="http://schemas.openxmlformats.org/drawingml/2006/main">
              <a:ext uri="{FF2B5EF4-FFF2-40B4-BE49-F238E27FC236}">
                <a16:creationId xmlns:a16="http://schemas.microsoft.com/office/drawing/2014/main" id="{543EF6BB-3BFF-4163-B7AC-E4CF9B814E3F}"/>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55D8AC8B-5AAA-456E-813B-2FBB13524E72}"/>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Site, device, or operator factors</a:t>
            </a:r>
          </a:p>
        </p:txBody>
      </p:sp>
      <p:sp>
        <p:nvSpPr>
          <p:cNvPr id="33" name="">
            <a:extLst xmlns:a="http://schemas.openxmlformats.org/drawingml/2006/main">
              <a:ext uri="{FF2B5EF4-FFF2-40B4-BE49-F238E27FC236}">
                <a16:creationId xmlns:a16="http://schemas.microsoft.com/office/drawing/2014/main" id="{D0D68412-3D09-4BE0-948E-0B2F7FAC4822}"/>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095FB9C1-A3AE-4D3A-A088-102E0D58BC71}"/>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at the facility attempt limit and escalate to a more experienced clinician</a:t>
            </a:r>
          </a:p>
        </p:txBody>
      </p:sp>
    </p:spTree>
    <p:extLst>
      <p:ext uri="{BB962C8B-B14F-4D97-AF65-F5344CB8AC3E}">
        <p14:creationId xmlns:p14="http://schemas.microsoft.com/office/powerpoint/2010/main" val="1262932805"/>
      </p:ext>
    </p:extLst>
  </p:cSld>
</p:sld>
</file>

<file path=ppt/slides/slide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967A39D5-0B1D-44A7-A443-D6C5FEDFE58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EE59422-4CFB-491F-AEFD-FBA77A8D806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Infusion flow troubleshooting</a:t>
            </a:r>
          </a:p>
        </p:txBody>
      </p:sp>
      <p:sp>
        <p:nvSpPr>
          <p:cNvPr id="3" name="">
            <a:extLst xmlns:a="http://schemas.openxmlformats.org/drawingml/2006/main">
              <a:ext uri="{FF2B5EF4-FFF2-40B4-BE49-F238E27FC236}">
                <a16:creationId xmlns:a16="http://schemas.microsoft.com/office/drawing/2014/main" id="{598BE3D7-925B-4EF3-A073-48C8A8B4E1F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643C75FE-B09B-4342-BBDD-E6193E252D8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a:t>
            </a:r>
          </a:p>
        </p:txBody>
      </p:sp>
      <p:sp>
        <p:nvSpPr>
          <p:cNvPr id="5" name="">
            <a:extLst xmlns:a="http://schemas.openxmlformats.org/drawingml/2006/main">
              <a:ext uri="{FF2B5EF4-FFF2-40B4-BE49-F238E27FC236}">
                <a16:creationId xmlns:a16="http://schemas.microsoft.com/office/drawing/2014/main" id="{5090319A-2532-4ED1-A266-4E6B8DDBD0EC}"/>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9FAE6A6F-0F52-49EA-8509-061A8A68F571}"/>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Observation</a:t>
            </a:r>
          </a:p>
        </p:txBody>
      </p:sp>
      <p:sp>
        <p:nvSpPr>
          <p:cNvPr id="7" name="">
            <a:extLst xmlns:a="http://schemas.openxmlformats.org/drawingml/2006/main">
              <a:ext uri="{FF2B5EF4-FFF2-40B4-BE49-F238E27FC236}">
                <a16:creationId xmlns:a16="http://schemas.microsoft.com/office/drawing/2014/main" id="{7BAD8138-DA15-444C-A081-0A2FF7EAC321}"/>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79F7C504-8A96-4493-ABF0-9995564AA7DB}"/>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Check first</a:t>
            </a:r>
          </a:p>
        </p:txBody>
      </p:sp>
      <p:sp>
        <p:nvSpPr>
          <p:cNvPr id="9" name="">
            <a:extLst xmlns:a="http://schemas.openxmlformats.org/drawingml/2006/main">
              <a:ext uri="{FF2B5EF4-FFF2-40B4-BE49-F238E27FC236}">
                <a16:creationId xmlns:a16="http://schemas.microsoft.com/office/drawing/2014/main" id="{1A5EB283-F8FF-4F41-A519-9FD3365289F7}"/>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7AB14E7C-EB58-4D3E-B290-AFA58A03314E}"/>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Safety response</a:t>
            </a:r>
          </a:p>
        </p:txBody>
      </p:sp>
      <p:sp>
        <p:nvSpPr>
          <p:cNvPr id="11" name="">
            <a:extLst xmlns:a="http://schemas.openxmlformats.org/drawingml/2006/main">
              <a:ext uri="{FF2B5EF4-FFF2-40B4-BE49-F238E27FC236}">
                <a16:creationId xmlns:a16="http://schemas.microsoft.com/office/drawing/2014/main" id="{29F02AD6-8432-4AE9-B2EB-D6717882EF7D}"/>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F87304AB-8342-4553-8046-49E4FDCEDDF9}"/>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Pump occlusion or slowed flow</a:t>
            </a:r>
          </a:p>
        </p:txBody>
      </p:sp>
      <p:sp>
        <p:nvSpPr>
          <p:cNvPr id="13" name="">
            <a:extLst xmlns:a="http://schemas.openxmlformats.org/drawingml/2006/main">
              <a:ext uri="{FF2B5EF4-FFF2-40B4-BE49-F238E27FC236}">
                <a16:creationId xmlns:a16="http://schemas.microsoft.com/office/drawing/2014/main" id="{366BFF1E-635D-4F50-939A-716B71CE4E7D}"/>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3061FA79-EB94-43E1-BA2C-0FBFECB87047}"/>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Trace the line from patient to container for clamps, kinks, or compression</a:t>
            </a:r>
          </a:p>
        </p:txBody>
      </p:sp>
      <p:sp>
        <p:nvSpPr>
          <p:cNvPr id="15" name="">
            <a:extLst xmlns:a="http://schemas.openxmlformats.org/drawingml/2006/main">
              <a:ext uri="{FF2B5EF4-FFF2-40B4-BE49-F238E27FC236}">
                <a16:creationId xmlns:a16="http://schemas.microsoft.com/office/drawing/2014/main" id="{504B004B-5309-4D08-AABB-3DC67BBB1102}"/>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03BBA74D-0BA5-48CE-B181-FECDE5B07F71}"/>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Correct an external cause only after assessing the patient and site</a:t>
            </a:r>
          </a:p>
        </p:txBody>
      </p:sp>
      <p:sp>
        <p:nvSpPr>
          <p:cNvPr id="17" name="">
            <a:extLst xmlns:a="http://schemas.openxmlformats.org/drawingml/2006/main">
              <a:ext uri="{FF2B5EF4-FFF2-40B4-BE49-F238E27FC236}">
                <a16:creationId xmlns:a16="http://schemas.microsoft.com/office/drawing/2014/main" id="{E2C39256-4C27-4FF6-BE49-08556BE5F4AC}"/>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578D2E5A-66DC-4FFF-BD22-4047F61E9128}"/>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Flow changes with limb position</a:t>
            </a:r>
          </a:p>
        </p:txBody>
      </p:sp>
      <p:sp>
        <p:nvSpPr>
          <p:cNvPr id="19" name="">
            <a:extLst xmlns:a="http://schemas.openxmlformats.org/drawingml/2006/main">
              <a:ext uri="{FF2B5EF4-FFF2-40B4-BE49-F238E27FC236}">
                <a16:creationId xmlns:a16="http://schemas.microsoft.com/office/drawing/2014/main" id="{FCD924AA-905D-4762-88A2-DA7A2DE3AE94}"/>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12548E54-E397-4749-BD60-FF10EA33B2E5}"/>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Catheter tip may contact the vein wall or lie near flexion</a:t>
            </a:r>
          </a:p>
        </p:txBody>
      </p:sp>
      <p:sp>
        <p:nvSpPr>
          <p:cNvPr id="21" name="">
            <a:extLst xmlns:a="http://schemas.openxmlformats.org/drawingml/2006/main">
              <a:ext uri="{FF2B5EF4-FFF2-40B4-BE49-F238E27FC236}">
                <a16:creationId xmlns:a16="http://schemas.microsoft.com/office/drawing/2014/main" id="{313B163F-D482-426F-AAE7-4438D89BD75D}"/>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8F6AD93E-C84C-4527-97B5-EE83BF59633C}"/>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Reposition and reassess; do not manipulate a contaminated catheter</a:t>
            </a:r>
          </a:p>
        </p:txBody>
      </p:sp>
      <p:sp>
        <p:nvSpPr>
          <p:cNvPr id="23" name="">
            <a:extLst xmlns:a="http://schemas.openxmlformats.org/drawingml/2006/main">
              <a:ext uri="{FF2B5EF4-FFF2-40B4-BE49-F238E27FC236}">
                <a16:creationId xmlns:a16="http://schemas.microsoft.com/office/drawing/2014/main" id="{D61F65D5-0899-43D8-A664-0A768729C004}"/>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119D4186-AEA3-48AD-B93B-A1046512330D}"/>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Blood backs into tubing</a:t>
            </a:r>
          </a:p>
        </p:txBody>
      </p:sp>
      <p:sp>
        <p:nvSpPr>
          <p:cNvPr id="25" name="">
            <a:extLst xmlns:a="http://schemas.openxmlformats.org/drawingml/2006/main">
              <a:ext uri="{FF2B5EF4-FFF2-40B4-BE49-F238E27FC236}">
                <a16:creationId xmlns:a16="http://schemas.microsoft.com/office/drawing/2014/main" id="{118DA029-63A7-4297-B8B0-834521908869}"/>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11D9982A-4A7D-4B47-B4E1-B0944E168D43}"/>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Bag height, empty container, clamp position, or interruption</a:t>
            </a:r>
          </a:p>
        </p:txBody>
      </p:sp>
      <p:sp>
        <p:nvSpPr>
          <p:cNvPr id="27" name="">
            <a:extLst xmlns:a="http://schemas.openxmlformats.org/drawingml/2006/main">
              <a:ext uri="{FF2B5EF4-FFF2-40B4-BE49-F238E27FC236}">
                <a16:creationId xmlns:a16="http://schemas.microsoft.com/office/drawing/2014/main" id="{A25CD5CE-5EC5-4089-8B7F-A6E56D046AB6}"/>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A2F7F822-ECC9-4E74-91ED-91D1E7AE3438}"/>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Protect against air and clot risk; restore flow only under order and policy</a:t>
            </a:r>
          </a:p>
        </p:txBody>
      </p:sp>
      <p:sp>
        <p:nvSpPr>
          <p:cNvPr id="29" name="">
            <a:extLst xmlns:a="http://schemas.openxmlformats.org/drawingml/2006/main">
              <a:ext uri="{FF2B5EF4-FFF2-40B4-BE49-F238E27FC236}">
                <a16:creationId xmlns:a16="http://schemas.microsoft.com/office/drawing/2014/main" id="{C6D6EFCD-9DEC-4DEF-BF6D-AA3D3E4313D1}"/>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943E79C2-69C3-47BA-A1A7-D23EE7641FAE}"/>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Resistance during flushing</a:t>
            </a:r>
          </a:p>
        </p:txBody>
      </p:sp>
      <p:sp>
        <p:nvSpPr>
          <p:cNvPr id="31" name="">
            <a:extLst xmlns:a="http://schemas.openxmlformats.org/drawingml/2006/main">
              <a:ext uri="{FF2B5EF4-FFF2-40B4-BE49-F238E27FC236}">
                <a16:creationId xmlns:a16="http://schemas.microsoft.com/office/drawing/2014/main" id="{7368E0B8-14C8-4B4B-8F8C-9C20815E982C}"/>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3785FD63-BFCE-4AC0-86E6-D9D80334622D}"/>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Mechanical obstruction, malposition, or complication</a:t>
            </a:r>
          </a:p>
        </p:txBody>
      </p:sp>
      <p:sp>
        <p:nvSpPr>
          <p:cNvPr id="33" name="">
            <a:extLst xmlns:a="http://schemas.openxmlformats.org/drawingml/2006/main">
              <a:ext uri="{FF2B5EF4-FFF2-40B4-BE49-F238E27FC236}">
                <a16:creationId xmlns:a16="http://schemas.microsoft.com/office/drawing/2014/main" id="{237A5EFE-6F9F-4803-B78A-EA8A8836C9FE}"/>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A9D76C0F-7466-470A-8522-AD99C0BEA97B}"/>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Never force the flush; stop use and escalate</a:t>
            </a:r>
          </a:p>
        </p:txBody>
      </p:sp>
    </p:spTree>
    <p:extLst>
      <p:ext uri="{BB962C8B-B14F-4D97-AF65-F5344CB8AC3E}">
        <p14:creationId xmlns:p14="http://schemas.microsoft.com/office/powerpoint/2010/main" val="973817026"/>
      </p:ext>
    </p:extLst>
  </p:cSld>
</p:sld>
</file>

<file path=ppt/slides/slide1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4EB8FDF2-E4A2-48C3-9CCA-717B8B01BB8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2612552-EC7F-40FF-B959-13D11B1CADA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Local complication comparison</a:t>
            </a:r>
          </a:p>
        </p:txBody>
      </p:sp>
      <p:sp>
        <p:nvSpPr>
          <p:cNvPr id="3" name="">
            <a:extLst xmlns:a="http://schemas.openxmlformats.org/drawingml/2006/main">
              <a:ext uri="{FF2B5EF4-FFF2-40B4-BE49-F238E27FC236}">
                <a16:creationId xmlns:a16="http://schemas.microsoft.com/office/drawing/2014/main" id="{04FCE717-C25F-4F54-8F90-07006B0F411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A7C49F18-67C9-49FD-87BD-F235A567B38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a:t>
            </a:r>
          </a:p>
        </p:txBody>
      </p:sp>
      <p:sp>
        <p:nvSpPr>
          <p:cNvPr id="5" name="">
            <a:extLst xmlns:a="http://schemas.openxmlformats.org/drawingml/2006/main">
              <a:ext uri="{FF2B5EF4-FFF2-40B4-BE49-F238E27FC236}">
                <a16:creationId xmlns:a16="http://schemas.microsoft.com/office/drawing/2014/main" id="{E25A2166-F144-4492-95D9-778E3E7468F6}"/>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EAAF3865-AF28-4E82-BA80-607D148D68B3}"/>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Finding</a:t>
            </a:r>
          </a:p>
        </p:txBody>
      </p:sp>
      <p:sp>
        <p:nvSpPr>
          <p:cNvPr id="7" name="">
            <a:extLst xmlns:a="http://schemas.openxmlformats.org/drawingml/2006/main">
              <a:ext uri="{FF2B5EF4-FFF2-40B4-BE49-F238E27FC236}">
                <a16:creationId xmlns:a16="http://schemas.microsoft.com/office/drawing/2014/main" id="{7658405B-E8D7-43BE-91D2-BDCF14D74F4E}"/>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F53FB3A7-9625-4A5D-B337-2933E8213A3C}"/>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Likely concern</a:t>
            </a:r>
          </a:p>
        </p:txBody>
      </p:sp>
      <p:sp>
        <p:nvSpPr>
          <p:cNvPr id="9" name="">
            <a:extLst xmlns:a="http://schemas.openxmlformats.org/drawingml/2006/main">
              <a:ext uri="{FF2B5EF4-FFF2-40B4-BE49-F238E27FC236}">
                <a16:creationId xmlns:a16="http://schemas.microsoft.com/office/drawing/2014/main" id="{3474E2D9-A854-4BCC-985D-42C2EE491F5F}"/>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91C2D469-3D9A-416C-9BF5-26D82EBA4BB2}"/>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Immediate priority</a:t>
            </a:r>
          </a:p>
        </p:txBody>
      </p:sp>
      <p:sp>
        <p:nvSpPr>
          <p:cNvPr id="11" name="">
            <a:extLst xmlns:a="http://schemas.openxmlformats.org/drawingml/2006/main">
              <a:ext uri="{FF2B5EF4-FFF2-40B4-BE49-F238E27FC236}">
                <a16:creationId xmlns:a16="http://schemas.microsoft.com/office/drawing/2014/main" id="{1494EF36-69D6-440D-971C-895778238A35}"/>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7F10A7A1-73D9-4A01-9D52-FCCA760D999B}"/>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Cool, pale swelling; slowed infusion</a:t>
            </a:r>
          </a:p>
        </p:txBody>
      </p:sp>
      <p:sp>
        <p:nvSpPr>
          <p:cNvPr id="13" name="">
            <a:extLst xmlns:a="http://schemas.openxmlformats.org/drawingml/2006/main">
              <a:ext uri="{FF2B5EF4-FFF2-40B4-BE49-F238E27FC236}">
                <a16:creationId xmlns:a16="http://schemas.microsoft.com/office/drawing/2014/main" id="{4D0DB8F3-FF01-4D1C-9138-C4F127572BCB}"/>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55262582-A7F9-4798-B8E3-DA27B87BCF0E}"/>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Infiltration</a:t>
            </a:r>
          </a:p>
        </p:txBody>
      </p:sp>
      <p:sp>
        <p:nvSpPr>
          <p:cNvPr id="15" name="">
            <a:extLst xmlns:a="http://schemas.openxmlformats.org/drawingml/2006/main">
              <a:ext uri="{FF2B5EF4-FFF2-40B4-BE49-F238E27FC236}">
                <a16:creationId xmlns:a16="http://schemas.microsoft.com/office/drawing/2014/main" id="{05C50E4B-8546-4FB3-9309-287483D7ADB5}"/>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BFD7BDE4-A5D1-4B49-AC89-5419D6574748}"/>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infusion and follow infiltration protocol</a:t>
            </a:r>
          </a:p>
        </p:txBody>
      </p:sp>
      <p:sp>
        <p:nvSpPr>
          <p:cNvPr id="17" name="">
            <a:extLst xmlns:a="http://schemas.openxmlformats.org/drawingml/2006/main">
              <a:ext uri="{FF2B5EF4-FFF2-40B4-BE49-F238E27FC236}">
                <a16:creationId xmlns:a16="http://schemas.microsoft.com/office/drawing/2014/main" id="{767E1E8B-6F28-42F9-BC10-9AEB41567DD3}"/>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45041205-2262-4CED-B16C-3ACA6CC62CC8}"/>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Pain, warmth, redness, venous cord</a:t>
            </a:r>
          </a:p>
        </p:txBody>
      </p:sp>
      <p:sp>
        <p:nvSpPr>
          <p:cNvPr id="19" name="">
            <a:extLst xmlns:a="http://schemas.openxmlformats.org/drawingml/2006/main">
              <a:ext uri="{FF2B5EF4-FFF2-40B4-BE49-F238E27FC236}">
                <a16:creationId xmlns:a16="http://schemas.microsoft.com/office/drawing/2014/main" id="{416CF465-11BD-4911-B0FB-82046CAD2B1E}"/>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D0967060-9B7C-403E-837D-49DDE8242DF8}"/>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Phlebitis</a:t>
            </a:r>
          </a:p>
        </p:txBody>
      </p:sp>
      <p:sp>
        <p:nvSpPr>
          <p:cNvPr id="21" name="">
            <a:extLst xmlns:a="http://schemas.openxmlformats.org/drawingml/2006/main">
              <a:ext uri="{FF2B5EF4-FFF2-40B4-BE49-F238E27FC236}">
                <a16:creationId xmlns:a16="http://schemas.microsoft.com/office/drawing/2014/main" id="{425B2772-F49D-4F7F-9483-B4A3E01C3E33}"/>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A86FDDD1-1427-4AE4-A716-C1634347ADCC}"/>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infusion, remove as indicated, assess and report</a:t>
            </a:r>
          </a:p>
        </p:txBody>
      </p:sp>
      <p:sp>
        <p:nvSpPr>
          <p:cNvPr id="23" name="">
            <a:extLst xmlns:a="http://schemas.openxmlformats.org/drawingml/2006/main">
              <a:ext uri="{FF2B5EF4-FFF2-40B4-BE49-F238E27FC236}">
                <a16:creationId xmlns:a16="http://schemas.microsoft.com/office/drawing/2014/main" id="{9390FD4A-6FAC-40C6-8268-F03656A048EA}"/>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10D9A61A-3944-4CA0-A335-F2D5DBD1D09E}"/>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Burning, blistering, tissue injury with vesicant</a:t>
            </a:r>
          </a:p>
        </p:txBody>
      </p:sp>
      <p:sp>
        <p:nvSpPr>
          <p:cNvPr id="25" name="">
            <a:extLst xmlns:a="http://schemas.openxmlformats.org/drawingml/2006/main">
              <a:ext uri="{FF2B5EF4-FFF2-40B4-BE49-F238E27FC236}">
                <a16:creationId xmlns:a16="http://schemas.microsoft.com/office/drawing/2014/main" id="{0BA1242C-F0D9-44D4-9725-351815696742}"/>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FB866669-30CB-41D9-8BFD-E074F74CB412}"/>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Extravasation</a:t>
            </a:r>
          </a:p>
        </p:txBody>
      </p:sp>
      <p:sp>
        <p:nvSpPr>
          <p:cNvPr id="27" name="">
            <a:extLst xmlns:a="http://schemas.openxmlformats.org/drawingml/2006/main">
              <a:ext uri="{FF2B5EF4-FFF2-40B4-BE49-F238E27FC236}">
                <a16:creationId xmlns:a16="http://schemas.microsoft.com/office/drawing/2014/main" id="{21964FEE-558E-4954-BDD8-DAE53E389EE1}"/>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42D65EB4-973B-4653-B5AE-642491B16E1B}"/>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do not flush; follow agent-specific protocol</a:t>
            </a:r>
          </a:p>
        </p:txBody>
      </p:sp>
      <p:sp>
        <p:nvSpPr>
          <p:cNvPr id="29" name="">
            <a:extLst xmlns:a="http://schemas.openxmlformats.org/drawingml/2006/main">
              <a:ext uri="{FF2B5EF4-FFF2-40B4-BE49-F238E27FC236}">
                <a16:creationId xmlns:a16="http://schemas.microsoft.com/office/drawing/2014/main" id="{494CC927-33AE-46D9-805B-983C7D07A377}"/>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2914390E-2E87-45D7-8460-2F971C558BE2}"/>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Drainage, tenderness, fever</a:t>
            </a:r>
          </a:p>
        </p:txBody>
      </p:sp>
      <p:sp>
        <p:nvSpPr>
          <p:cNvPr id="31" name="">
            <a:extLst xmlns:a="http://schemas.openxmlformats.org/drawingml/2006/main">
              <a:ext uri="{FF2B5EF4-FFF2-40B4-BE49-F238E27FC236}">
                <a16:creationId xmlns:a16="http://schemas.microsoft.com/office/drawing/2014/main" id="{49E174AB-4089-4535-B0EB-BEA098FF093F}"/>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1AB602EE-B19D-4C16-94BA-23BCFC813DB4}"/>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Local or bloodstream infection</a:t>
            </a:r>
          </a:p>
        </p:txBody>
      </p:sp>
      <p:sp>
        <p:nvSpPr>
          <p:cNvPr id="33" name="">
            <a:extLst xmlns:a="http://schemas.openxmlformats.org/drawingml/2006/main">
              <a:ext uri="{FF2B5EF4-FFF2-40B4-BE49-F238E27FC236}">
                <a16:creationId xmlns:a16="http://schemas.microsoft.com/office/drawing/2014/main" id="{0884271B-C128-4EC7-B783-57616CE08C70}"/>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39FC7F65-D26A-403E-AA59-08E33C9A5FE3}"/>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unsafe use, assess, notify, and follow culture/removal policy</a:t>
            </a:r>
          </a:p>
        </p:txBody>
      </p:sp>
    </p:spTree>
    <p:extLst>
      <p:ext uri="{BB962C8B-B14F-4D97-AF65-F5344CB8AC3E}">
        <p14:creationId xmlns:p14="http://schemas.microsoft.com/office/powerpoint/2010/main" val="973105814"/>
      </p:ext>
    </p:extLst>
  </p:cSld>
</p:sld>
</file>

<file path=ppt/slides/slide2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465EFAB-0BBA-42B0-B55D-3597577DDF6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AD0DBD1-D127-4BB7-9A0B-2056757C9F5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Complete documentation tells the clinical story</a:t>
            </a:r>
          </a:p>
        </p:txBody>
      </p:sp>
      <p:sp>
        <p:nvSpPr>
          <p:cNvPr id="3" name="">
            <a:extLst xmlns:a="http://schemas.openxmlformats.org/drawingml/2006/main">
              <a:ext uri="{FF2B5EF4-FFF2-40B4-BE49-F238E27FC236}">
                <a16:creationId xmlns:a16="http://schemas.microsoft.com/office/drawing/2014/main" id="{BCDE3252-E780-4BC1-8D2D-95A9C287E6B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BD9D2969-9F2A-45AC-9858-090C2B5973E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20</a:t>
            </a:r>
          </a:p>
        </p:txBody>
      </p:sp>
      <p:sp>
        <p:nvSpPr>
          <p:cNvPr id="5" name="">
            <a:extLst xmlns:a="http://schemas.openxmlformats.org/drawingml/2006/main">
              <a:ext uri="{FF2B5EF4-FFF2-40B4-BE49-F238E27FC236}">
                <a16:creationId xmlns:a16="http://schemas.microsoft.com/office/drawing/2014/main" id="{DE5AF1C6-06FF-4313-A133-41490CF984F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Record date and time, site, vein or anatomic location, catheter gauge and length when required, number of attempts, and inserter.</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Record skin preparation, dressing, securement, patency assessment, solution, rate, pump, and patient tolerance.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Document teaching, complications, actions, notifications, and response.</a:t>
            </a:r>
          </a:p>
        </p:txBody>
      </p:sp>
      <p:sp>
        <p:nvSpPr>
          <p:cNvPr id="6" name="">
            <a:extLst xmlns:a="http://schemas.openxmlformats.org/drawingml/2006/main">
              <a:ext uri="{FF2B5EF4-FFF2-40B4-BE49-F238E27FC236}">
                <a16:creationId xmlns:a16="http://schemas.microsoft.com/office/drawing/2014/main" id="{E1BCCB4A-D23C-4829-AFD4-D29FA6AC9EE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428154025"/>
      </p:ext>
    </p:extLst>
  </p:cSld>
</p:sld>
</file>

<file path=ppt/slides/slide2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2BAB434-88AA-4DB2-ADF3-49A899E6929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C7795AF-2BB4-44AC-AE08-7D55CB44843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F8EC36DF-32DA-4D71-AD3A-20F6ECDC0BC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719374C4-5301-4029-817F-86F7E01355A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21</a:t>
            </a:r>
          </a:p>
        </p:txBody>
      </p:sp>
      <p:sp>
        <p:nvSpPr>
          <p:cNvPr id="5" name="">
            <a:extLst xmlns:a="http://schemas.openxmlformats.org/drawingml/2006/main">
              <a:ext uri="{FF2B5EF4-FFF2-40B4-BE49-F238E27FC236}">
                <a16:creationId xmlns:a16="http://schemas.microsoft.com/office/drawing/2014/main" id="{49692790-E889-4772-B90E-EAAAF861B27F}"/>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Palpate and select veins on a task trainer</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Perform the complete insertion sequence without contamination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Discontinue the catheter and verify that it remains intact</a:t>
            </a:r>
          </a:p>
        </p:txBody>
      </p:sp>
      <p:sp>
        <p:nvSpPr>
          <p:cNvPr id="6" name="">
            <a:extLst xmlns:a="http://schemas.openxmlformats.org/drawingml/2006/main">
              <a:ext uri="{FF2B5EF4-FFF2-40B4-BE49-F238E27FC236}">
                <a16:creationId xmlns:a16="http://schemas.microsoft.com/office/drawing/2014/main" id="{1E09555D-EB45-403D-BC2A-C57E61894522}"/>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873726901"/>
      </p:ext>
    </p:extLst>
  </p:cSld>
</p:sld>
</file>

<file path=ppt/slides/slide2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AD1C31D-D410-4ED5-9993-827D0DC9B31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8BD5C88-6D40-4F19-920E-D19323CAA59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E0156F54-445D-4EA7-9C90-FEB5946A5FD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F41739AE-F197-4F0F-A4CA-82D0FF524C1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22</a:t>
            </a:r>
          </a:p>
        </p:txBody>
      </p:sp>
      <p:sp>
        <p:nvSpPr>
          <p:cNvPr id="5" name="">
            <a:extLst xmlns:a="http://schemas.openxmlformats.org/drawingml/2006/main">
              <a:ext uri="{FF2B5EF4-FFF2-40B4-BE49-F238E27FC236}">
                <a16:creationId xmlns:a16="http://schemas.microsoft.com/office/drawing/2014/main" id="{AE30D5BD-6381-4526-B04C-4A8FC19D0219}"/>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Select an appropriate peripheral vein and catheter</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Perform hand hygiene, prepare and position the patient, apply the tourniquet, cleanse the site with the approved antiseptic, let it dry, stabilize the vein, observe flashback, thread the catheter, and activate sharps protection.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Cool swelling suggests infiltration. Pain, warmth, redness, or a venous cord suggests phlebitis. Burning or tissue injury with a vesicant suggests extravasation. Stop unsafe therapy and follow the condition-specific protocol.</a:t>
            </a:r>
          </a:p>
        </p:txBody>
      </p:sp>
      <p:sp>
        <p:nvSpPr>
          <p:cNvPr id="6" name="">
            <a:extLst xmlns:a="http://schemas.openxmlformats.org/drawingml/2006/main">
              <a:ext uri="{FF2B5EF4-FFF2-40B4-BE49-F238E27FC236}">
                <a16:creationId xmlns:a16="http://schemas.microsoft.com/office/drawing/2014/main" id="{CD9BE7BB-9235-4868-A4FE-E151D0410E6B}"/>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20184023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2026-10-23T09:35:38.8360000Z</dcterms:created>
  <dcterms:modified xsi:type="dcterms:W3CDTF">2026-10-23T09:35:38.8360000Z</dcterms:modified>
</coreProperties>
</file>