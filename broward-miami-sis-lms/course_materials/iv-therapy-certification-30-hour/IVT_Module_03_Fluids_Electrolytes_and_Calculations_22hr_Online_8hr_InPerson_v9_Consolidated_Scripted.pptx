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8e289f9af345f8" /><Relationship Type="http://schemas.openxmlformats.org/officeDocument/2006/relationships/extended-properties" Target="/docProps/app.xml" Id="Rbb7dfae5f41647e5" /><Relationship Type="http://schemas.openxmlformats.org/officeDocument/2006/relationships/officeDocument" Target="/ppt/presentation.xml" Id="Rb7dfc82891994674" /></Relationships>
</file>

<file path=ppt/presentation.xml><?xml version="1.0" encoding="utf-8"?>
<p:presentation xmlns:p="http://schemas.openxmlformats.org/presentationml/2006/main">
  <p:sldMasterIdLst>
    <p:sldMasterId xmlns:r="http://schemas.openxmlformats.org/officeDocument/2006/relationships" id="2147483648" r:id="R309d1baeb9814201"/>
  </p:sldMasterIdLst>
  <p:notesMasterIdLst>
    <p:notesMasterId xmlns:r="http://schemas.openxmlformats.org/officeDocument/2006/relationships" r:id="R309f35a1be6d40dd"/>
  </p:notesMasterIdLst>
  <p:sldIdLst>
    <p:sldId xmlns:r="http://schemas.openxmlformats.org/officeDocument/2006/relationships" id="256" r:id="Rde94317b23fb49eb"/>
    <p:sldId xmlns:r="http://schemas.openxmlformats.org/officeDocument/2006/relationships" id="257" r:id="R86a4f4e11f074256"/>
    <p:sldId xmlns:r="http://schemas.openxmlformats.org/officeDocument/2006/relationships" id="258" r:id="Re818d6ec147f402d"/>
    <p:sldId xmlns:r="http://schemas.openxmlformats.org/officeDocument/2006/relationships" id="259" r:id="R250ee0aff0a149de"/>
    <p:sldId xmlns:r="http://schemas.openxmlformats.org/officeDocument/2006/relationships" id="260" r:id="Rbb7b48cf39ca4108"/>
    <p:sldId xmlns:r="http://schemas.openxmlformats.org/officeDocument/2006/relationships" id="261" r:id="R0e76ef12754f4411"/>
    <p:sldId xmlns:r="http://schemas.openxmlformats.org/officeDocument/2006/relationships" id="262" r:id="R2f102aac09954323"/>
    <p:sldId xmlns:r="http://schemas.openxmlformats.org/officeDocument/2006/relationships" id="263" r:id="R5bdb470769ec429e"/>
    <p:sldId xmlns:r="http://schemas.openxmlformats.org/officeDocument/2006/relationships" id="264" r:id="R79e78c12d9fe4c0e"/>
    <p:sldId xmlns:r="http://schemas.openxmlformats.org/officeDocument/2006/relationships" id="265" r:id="Rc7df4a2876ab463b"/>
    <p:sldId xmlns:r="http://schemas.openxmlformats.org/officeDocument/2006/relationships" id="266" r:id="R8797a50abae54350"/>
    <p:sldId xmlns:r="http://schemas.openxmlformats.org/officeDocument/2006/relationships" id="267" r:id="Rd674f6c20dc3476c"/>
    <p:sldId xmlns:r="http://schemas.openxmlformats.org/officeDocument/2006/relationships" id="268" r:id="Re37e7f02ffdc447e"/>
    <p:sldId xmlns:r="http://schemas.openxmlformats.org/officeDocument/2006/relationships" id="269" r:id="R70fa5e6186864982"/>
    <p:sldId xmlns:r="http://schemas.openxmlformats.org/officeDocument/2006/relationships" id="270" r:id="R0b8fa45531ef4aa5"/>
    <p:sldId xmlns:r="http://schemas.openxmlformats.org/officeDocument/2006/relationships" id="271" r:id="Re94f45d313da46ae"/>
    <p:sldId xmlns:r="http://schemas.openxmlformats.org/officeDocument/2006/relationships" id="272" r:id="Rfd7e9c9385df4e65"/>
    <p:sldId xmlns:r="http://schemas.openxmlformats.org/officeDocument/2006/relationships" id="273" r:id="R1b1659b8235d4129"/>
    <p:sldId xmlns:r="http://schemas.openxmlformats.org/officeDocument/2006/relationships" id="274" r:id="R7018294c95764415"/>
    <p:sldId xmlns:r="http://schemas.openxmlformats.org/officeDocument/2006/relationships" id="275" r:id="R790ff6b331bd4883"/>
    <p:sldId xmlns:r="http://schemas.openxmlformats.org/officeDocument/2006/relationships" id="276" r:id="Rdda1f71d32c94b31"/>
    <p:sldId xmlns:r="http://schemas.openxmlformats.org/officeDocument/2006/relationships" id="277" r:id="Rc1a3c8d63762491b"/>
    <p:sldId xmlns:r="http://schemas.openxmlformats.org/officeDocument/2006/relationships" id="278" r:id="R7376dcc2684547fd"/>
    <p:sldId xmlns:r="http://schemas.openxmlformats.org/officeDocument/2006/relationships" id="279" r:id="Re04fe18f8dd24e94"/>
    <p:sldId xmlns:r="http://schemas.openxmlformats.org/officeDocument/2006/relationships" id="280" r:id="Rd33523a6c93e4840"/>
    <p:sldId xmlns:r="http://schemas.openxmlformats.org/officeDocument/2006/relationships" id="281" r:id="R267e8b9c808a490a"/>
    <p:sldId xmlns:r="http://schemas.openxmlformats.org/officeDocument/2006/relationships" id="282" r:id="R5e75bf1c635a47e4"/>
    <p:sldId xmlns:r="http://schemas.openxmlformats.org/officeDocument/2006/relationships" id="283" r:id="Rbbcb1214cf9941ee"/>
    <p:sldId xmlns:r="http://schemas.openxmlformats.org/officeDocument/2006/relationships" id="284" r:id="R40b41de7280744bf"/>
    <p:sldId xmlns:r="http://schemas.openxmlformats.org/officeDocument/2006/relationships" id="285" r:id="R43ff3f4ea3774135"/>
    <p:sldId xmlns:r="http://schemas.openxmlformats.org/officeDocument/2006/relationships" id="286" r:id="Raf4e604e2f2b4f62"/>
    <p:sldId xmlns:r="http://schemas.openxmlformats.org/officeDocument/2006/relationships" id="287" r:id="R9fa841c89cf2420c"/>
    <p:sldId xmlns:r="http://schemas.openxmlformats.org/officeDocument/2006/relationships" id="288" r:id="R0fb7c3c185774c78"/>
    <p:sldId xmlns:r="http://schemas.openxmlformats.org/officeDocument/2006/relationships" id="289" r:id="R8c9b8b4d265e4fb8"/>
    <p:sldId xmlns:r="http://schemas.openxmlformats.org/officeDocument/2006/relationships" id="290" r:id="Ra51a0ad491d14c15"/>
    <p:sldId xmlns:r="http://schemas.openxmlformats.org/officeDocument/2006/relationships" id="291" r:id="Re27821337eef4156"/>
    <p:sldId xmlns:r="http://schemas.openxmlformats.org/officeDocument/2006/relationships" id="292" r:id="R4802c105926d4bcb"/>
    <p:sldId xmlns:r="http://schemas.openxmlformats.org/officeDocument/2006/relationships" id="293" r:id="R875bd4ea37194859"/>
    <p:sldId xmlns:r="http://schemas.openxmlformats.org/officeDocument/2006/relationships" id="294" r:id="R3b94e767067345a6"/>
    <p:sldId xmlns:r="http://schemas.openxmlformats.org/officeDocument/2006/relationships" id="295" r:id="R74c0f06539014359"/>
    <p:sldId xmlns:r="http://schemas.openxmlformats.org/officeDocument/2006/relationships" id="296" r:id="R859a3517a74e48ca"/>
    <p:sldId xmlns:r="http://schemas.openxmlformats.org/officeDocument/2006/relationships" id="297" r:id="Ra2b32513044a44db"/>
    <p:sldId xmlns:r="http://schemas.openxmlformats.org/officeDocument/2006/relationships" id="298" r:id="R4b77e506f9964d17"/>
    <p:sldId xmlns:r="http://schemas.openxmlformats.org/officeDocument/2006/relationships" id="299" r:id="R1861aadfbdcd4c57"/>
    <p:sldId xmlns:r="http://schemas.openxmlformats.org/officeDocument/2006/relationships" id="300" r:id="R97d8edcede834b74"/>
    <p:sldId xmlns:r="http://schemas.openxmlformats.org/officeDocument/2006/relationships" id="301" r:id="R336df42ff5814c21"/>
    <p:sldId xmlns:r="http://schemas.openxmlformats.org/officeDocument/2006/relationships" id="302" r:id="R47606e0c5db94c29"/>
    <p:sldId xmlns:r="http://schemas.openxmlformats.org/officeDocument/2006/relationships" id="303" r:id="R24e7a9dd3c9f44c9"/>
    <p:sldId xmlns:r="http://schemas.openxmlformats.org/officeDocument/2006/relationships" id="304" r:id="R7cb8d683a2524d22"/>
    <p:sldId xmlns:r="http://schemas.openxmlformats.org/officeDocument/2006/relationships" id="305" r:id="Rf9f908163cf04702"/>
    <p:sldId xmlns:r="http://schemas.openxmlformats.org/officeDocument/2006/relationships" id="306" r:id="R1f79ef316be2493d"/>
    <p:sldId xmlns:r="http://schemas.openxmlformats.org/officeDocument/2006/relationships" id="307" r:id="R3b55f2590caa4e50"/>
    <p:sldId xmlns:r="http://schemas.openxmlformats.org/officeDocument/2006/relationships" id="308" r:id="Raac40765471248ba"/>
    <p:sldId xmlns:r="http://schemas.openxmlformats.org/officeDocument/2006/relationships" id="309" r:id="R3480adae75d94cd7"/>
    <p:sldId xmlns:r="http://schemas.openxmlformats.org/officeDocument/2006/relationships" id="310" r:id="Rdfbd712ee77443ba"/>
    <p:sldId xmlns:r="http://schemas.openxmlformats.org/officeDocument/2006/relationships" id="311" r:id="R1511eb459cf543da"/>
    <p:sldId xmlns:r="http://schemas.openxmlformats.org/officeDocument/2006/relationships" id="312" r:id="R95e509d6b36040ab"/>
    <p:sldId xmlns:r="http://schemas.openxmlformats.org/officeDocument/2006/relationships" id="313" r:id="R19efe82119c04b3d"/>
    <p:sldId xmlns:r="http://schemas.openxmlformats.org/officeDocument/2006/relationships" id="314" r:id="R6b81857495784249"/>
    <p:sldId xmlns:r="http://schemas.openxmlformats.org/officeDocument/2006/relationships" id="315" r:id="R5815d243ed70480d"/>
    <p:sldId xmlns:r="http://schemas.openxmlformats.org/officeDocument/2006/relationships" id="316" r:id="Rf0f3b8121bcd4d0a"/>
    <p:sldId xmlns:r="http://schemas.openxmlformats.org/officeDocument/2006/relationships" id="317" r:id="R605575faa7b842de"/>
    <p:sldId xmlns:r="http://schemas.openxmlformats.org/officeDocument/2006/relationships" id="318" r:id="R32b547129f874944"/>
    <p:sldId xmlns:r="http://schemas.openxmlformats.org/officeDocument/2006/relationships" id="319" r:id="R1fb50b5c664c40a9"/>
    <p:sldId xmlns:r="http://schemas.openxmlformats.org/officeDocument/2006/relationships" id="320" r:id="R7ef70a14bb314a02"/>
    <p:sldId xmlns:r="http://schemas.openxmlformats.org/officeDocument/2006/relationships" id="321" r:id="Rda2a922650e945ff"/>
    <p:sldId xmlns:r="http://schemas.openxmlformats.org/officeDocument/2006/relationships" id="322" r:id="R78ade598966e4457"/>
    <p:sldId xmlns:r="http://schemas.openxmlformats.org/officeDocument/2006/relationships" id="323" r:id="Rf8183b6ab02e4b9f"/>
    <p:sldId xmlns:r="http://schemas.openxmlformats.org/officeDocument/2006/relationships" id="324" r:id="Rb504001e52864054"/>
    <p:sldId xmlns:r="http://schemas.openxmlformats.org/officeDocument/2006/relationships" id="325" r:id="Rbda03406fba245ab"/>
    <p:sldId xmlns:r="http://schemas.openxmlformats.org/officeDocument/2006/relationships" id="326" r:id="Rd7a181aecbdf4e06"/>
    <p:sldId xmlns:r="http://schemas.openxmlformats.org/officeDocument/2006/relationships" id="327" r:id="R582a7c7775814810"/>
    <p:sldId xmlns:r="http://schemas.openxmlformats.org/officeDocument/2006/relationships" id="328" r:id="R6c810d5552434557"/>
    <p:sldId xmlns:r="http://schemas.openxmlformats.org/officeDocument/2006/relationships" id="329" r:id="R96e0a9ff5d164e07"/>
    <p:sldId xmlns:r="http://schemas.openxmlformats.org/officeDocument/2006/relationships" id="330" r:id="R62b673ca55b64d7d"/>
    <p:sldId xmlns:r="http://schemas.openxmlformats.org/officeDocument/2006/relationships" id="331" r:id="R59b258b159fb40fe"/>
    <p:sldId xmlns:r="http://schemas.openxmlformats.org/officeDocument/2006/relationships" id="332" r:id="Raee421548eb04311"/>
    <p:sldId xmlns:r="http://schemas.openxmlformats.org/officeDocument/2006/relationships" id="333" r:id="R5841fb9c4e3e4833"/>
    <p:sldId xmlns:r="http://schemas.openxmlformats.org/officeDocument/2006/relationships" id="334" r:id="Re695912ddc4c441f"/>
    <p:sldId xmlns:r="http://schemas.openxmlformats.org/officeDocument/2006/relationships" id="335" r:id="Rdce711444f974520"/>
    <p:sldId xmlns:r="http://schemas.openxmlformats.org/officeDocument/2006/relationships" id="336" r:id="Rf125b302484a484e"/>
    <p:sldId xmlns:r="http://schemas.openxmlformats.org/officeDocument/2006/relationships" id="337" r:id="R7d896a1240c6442f"/>
    <p:sldId xmlns:r="http://schemas.openxmlformats.org/officeDocument/2006/relationships" id="338" r:id="Rc34b3521ca194ccb"/>
    <p:sldId xmlns:r="http://schemas.openxmlformats.org/officeDocument/2006/relationships" id="339" r:id="R432e89799a2c4fcb"/>
    <p:sldId xmlns:r="http://schemas.openxmlformats.org/officeDocument/2006/relationships" id="340" r:id="R990bbf2e80084f00"/>
    <p:sldId xmlns:r="http://schemas.openxmlformats.org/officeDocument/2006/relationships" id="341" r:id="Rc1f11e84f3874743"/>
    <p:sldId xmlns:r="http://schemas.openxmlformats.org/officeDocument/2006/relationships" id="342" r:id="R761af64b7599444a"/>
    <p:sldId xmlns:r="http://schemas.openxmlformats.org/officeDocument/2006/relationships" id="343" r:id="Rb02221c28bef474a"/>
    <p:sldId xmlns:r="http://schemas.openxmlformats.org/officeDocument/2006/relationships" id="344" r:id="Re2b88331d1f54fee"/>
    <p:sldId xmlns:r="http://schemas.openxmlformats.org/officeDocument/2006/relationships" id="345" r:id="Rbff86a96d292432c"/>
    <p:sldId xmlns:r="http://schemas.openxmlformats.org/officeDocument/2006/relationships" id="346" r:id="Re581797e81ea4fb0"/>
    <p:sldId xmlns:r="http://schemas.openxmlformats.org/officeDocument/2006/relationships" id="347" r:id="R72120e4bce1c4072"/>
    <p:sldId xmlns:r="http://schemas.openxmlformats.org/officeDocument/2006/relationships" id="348" r:id="Rc4e4257d2cb44259"/>
    <p:sldId xmlns:r="http://schemas.openxmlformats.org/officeDocument/2006/relationships" id="349" r:id="R7cc30ef2485948b2"/>
    <p:sldId xmlns:r="http://schemas.openxmlformats.org/officeDocument/2006/relationships" id="350" r:id="R1304930494d34772"/>
    <p:sldId xmlns:r="http://schemas.openxmlformats.org/officeDocument/2006/relationships" id="351" r:id="Rbd1f3edaac414891"/>
    <p:sldId xmlns:r="http://schemas.openxmlformats.org/officeDocument/2006/relationships" id="352" r:id="R81477a6b2d3a4dbd"/>
    <p:sldId xmlns:r="http://schemas.openxmlformats.org/officeDocument/2006/relationships" id="353" r:id="Rac59a1365d274b7d"/>
    <p:sldId xmlns:r="http://schemas.openxmlformats.org/officeDocument/2006/relationships" id="354" r:id="R8a1b842cda0d44fd"/>
    <p:sldId xmlns:r="http://schemas.openxmlformats.org/officeDocument/2006/relationships" id="355" r:id="R698edc658b144c90"/>
    <p:sldId xmlns:r="http://schemas.openxmlformats.org/officeDocument/2006/relationships" id="356" r:id="R585c2f92e02f46f7"/>
    <p:sldId xmlns:r="http://schemas.openxmlformats.org/officeDocument/2006/relationships" id="357" r:id="R2a32b81e2f394781"/>
    <p:sldId xmlns:r="http://schemas.openxmlformats.org/officeDocument/2006/relationships" id="358" r:id="Ra1c1f53ff8ca4387"/>
    <p:sldId xmlns:r="http://schemas.openxmlformats.org/officeDocument/2006/relationships" id="359" r:id="Rb7e4dfe40aac4b76"/>
    <p:sldId xmlns:r="http://schemas.openxmlformats.org/officeDocument/2006/relationships" id="360" r:id="R4e26e24783474c00"/>
    <p:sldId xmlns:r="http://schemas.openxmlformats.org/officeDocument/2006/relationships" id="361" r:id="R23d7001837874d83"/>
    <p:sldId xmlns:r="http://schemas.openxmlformats.org/officeDocument/2006/relationships" id="362" r:id="R06be60d8a0fd428f"/>
    <p:sldId xmlns:r="http://schemas.openxmlformats.org/officeDocument/2006/relationships" id="363" r:id="R1df19bc1c5144ca6"/>
    <p:sldId xmlns:r="http://schemas.openxmlformats.org/officeDocument/2006/relationships" id="364" r:id="Rdcbbf893e66647a7"/>
    <p:sldId xmlns:r="http://schemas.openxmlformats.org/officeDocument/2006/relationships" id="365" r:id="R9b82272140c14ca1"/>
    <p:sldId xmlns:r="http://schemas.openxmlformats.org/officeDocument/2006/relationships" id="366" r:id="Rdc71679c7dbd47fe"/>
    <p:sldId xmlns:r="http://schemas.openxmlformats.org/officeDocument/2006/relationships" id="367" r:id="Ra603e99986dd4d96"/>
    <p:sldId xmlns:r="http://schemas.openxmlformats.org/officeDocument/2006/relationships" id="368" r:id="R5712861512284a63"/>
    <p:sldId xmlns:r="http://schemas.openxmlformats.org/officeDocument/2006/relationships" id="369" r:id="Rf3bd2f56ebf449ce"/>
    <p:sldId xmlns:r="http://schemas.openxmlformats.org/officeDocument/2006/relationships" id="370" r:id="Rd0cd85a8e8ff41aa"/>
    <p:sldId xmlns:r="http://schemas.openxmlformats.org/officeDocument/2006/relationships" id="371" r:id="Ra595010d260342be"/>
    <p:sldId xmlns:r="http://schemas.openxmlformats.org/officeDocument/2006/relationships" id="372" r:id="R237ed042496340a3"/>
    <p:sldId xmlns:r="http://schemas.openxmlformats.org/officeDocument/2006/relationships" id="373" r:id="R51a55bb9cc92447e"/>
    <p:sldId xmlns:r="http://schemas.openxmlformats.org/officeDocument/2006/relationships" id="374" r:id="R28576c3a191d411b"/>
    <p:sldId xmlns:r="http://schemas.openxmlformats.org/officeDocument/2006/relationships" id="375" r:id="R43c7d73708bf45ef"/>
    <p:sldId xmlns:r="http://schemas.openxmlformats.org/officeDocument/2006/relationships" id="376" r:id="Rb6b9651914fe4a39"/>
    <p:sldId xmlns:r="http://schemas.openxmlformats.org/officeDocument/2006/relationships" id="377" r:id="Rf2ea5dd05a644136"/>
    <p:sldId xmlns:r="http://schemas.openxmlformats.org/officeDocument/2006/relationships" id="378" r:id="Rc02d3aafd1b04124"/>
    <p:sldId xmlns:r="http://schemas.openxmlformats.org/officeDocument/2006/relationships" id="379" r:id="R697130afff2a49d9"/>
    <p:sldId xmlns:r="http://schemas.openxmlformats.org/officeDocument/2006/relationships" id="380" r:id="R6ac99bdb71394d10"/>
    <p:sldId xmlns:r="http://schemas.openxmlformats.org/officeDocument/2006/relationships" id="381" r:id="R1c5782f706034bcf"/>
    <p:sldId xmlns:r="http://schemas.openxmlformats.org/officeDocument/2006/relationships" id="382" r:id="R3f627c84535b4d15"/>
    <p:sldId xmlns:r="http://schemas.openxmlformats.org/officeDocument/2006/relationships" id="383" r:id="R9598441601ba4e00"/>
    <p:sldId xmlns:r="http://schemas.openxmlformats.org/officeDocument/2006/relationships" id="384" r:id="R1c6de7ecb3eb4f80"/>
    <p:sldId xmlns:r="http://schemas.openxmlformats.org/officeDocument/2006/relationships" id="385" r:id="R4ead8d402dbd4841"/>
    <p:sldId xmlns:r="http://schemas.openxmlformats.org/officeDocument/2006/relationships" id="386" r:id="R025c6af219574b98"/>
    <p:sldId xmlns:r="http://schemas.openxmlformats.org/officeDocument/2006/relationships" id="387" r:id="Ree24a0de9983495c"/>
    <p:sldId xmlns:r="http://schemas.openxmlformats.org/officeDocument/2006/relationships" id="388" r:id="R38ac2f8db89b45f9"/>
    <p:sldId xmlns:r="http://schemas.openxmlformats.org/officeDocument/2006/relationships" id="389" r:id="R70ec71d5d3294232"/>
    <p:sldId xmlns:r="http://schemas.openxmlformats.org/officeDocument/2006/relationships" id="390" r:id="Rd79531703b0748e8"/>
    <p:sldId xmlns:r="http://schemas.openxmlformats.org/officeDocument/2006/relationships" id="391" r:id="R10d7a9efdc204ca3"/>
    <p:sldId xmlns:r="http://schemas.openxmlformats.org/officeDocument/2006/relationships" id="392" r:id="R0cd0f2d180554fa6"/>
    <p:sldId xmlns:r="http://schemas.openxmlformats.org/officeDocument/2006/relationships" id="393" r:id="R6ebbc5a226524037"/>
    <p:sldId xmlns:r="http://schemas.openxmlformats.org/officeDocument/2006/relationships" id="394" r:id="Rd2c18d8d83a64254"/>
    <p:sldId xmlns:r="http://schemas.openxmlformats.org/officeDocument/2006/relationships" id="395" r:id="R99adc00769984b6b"/>
    <p:sldId xmlns:r="http://schemas.openxmlformats.org/officeDocument/2006/relationships" id="396" r:id="R5e273512bcfc4240"/>
    <p:sldId xmlns:r="http://schemas.openxmlformats.org/officeDocument/2006/relationships" id="397" r:id="Rf6c0ab7285e443fb"/>
    <p:sldId xmlns:r="http://schemas.openxmlformats.org/officeDocument/2006/relationships" id="398" r:id="R829d356741c44285"/>
    <p:sldId xmlns:r="http://schemas.openxmlformats.org/officeDocument/2006/relationships" id="399" r:id="Rc0010f5c82d94883"/>
    <p:sldId xmlns:r="http://schemas.openxmlformats.org/officeDocument/2006/relationships" id="400" r:id="R372de7903bb64d19"/>
    <p:sldId xmlns:r="http://schemas.openxmlformats.org/officeDocument/2006/relationships" id="401" r:id="R8b79a94e81624ce5"/>
    <p:sldId xmlns:r="http://schemas.openxmlformats.org/officeDocument/2006/relationships" id="402" r:id="R36c26b183d894240"/>
    <p:sldId xmlns:r="http://schemas.openxmlformats.org/officeDocument/2006/relationships" id="403" r:id="R77a47a9836bc4fb8"/>
    <p:sldId xmlns:r="http://schemas.openxmlformats.org/officeDocument/2006/relationships" id="404" r:id="R34e74255231c42fb"/>
    <p:sldId xmlns:r="http://schemas.openxmlformats.org/officeDocument/2006/relationships" id="405" r:id="R83ff87fae68245fb"/>
    <p:sldId xmlns:r="http://schemas.openxmlformats.org/officeDocument/2006/relationships" id="406" r:id="R61baa2c416b74487"/>
    <p:sldId xmlns:r="http://schemas.openxmlformats.org/officeDocument/2006/relationships" id="407" r:id="R68edfc1d6af848bb"/>
    <p:sldId xmlns:r="http://schemas.openxmlformats.org/officeDocument/2006/relationships" id="408" r:id="R001261c2854749da"/>
    <p:sldId xmlns:r="http://schemas.openxmlformats.org/officeDocument/2006/relationships" id="409" r:id="R83f75f2e6b6148c5"/>
    <p:sldId xmlns:r="http://schemas.openxmlformats.org/officeDocument/2006/relationships" id="410" r:id="Rde7c7a61f7764283"/>
    <p:sldId xmlns:r="http://schemas.openxmlformats.org/officeDocument/2006/relationships" id="411" r:id="R56f8ea42bbb641e4"/>
    <p:sldId xmlns:r="http://schemas.openxmlformats.org/officeDocument/2006/relationships" id="412" r:id="R2a51c9bff9ae4d34"/>
    <p:sldId xmlns:r="http://schemas.openxmlformats.org/officeDocument/2006/relationships" id="413" r:id="Ra7c858ab7c1d4076"/>
    <p:sldId xmlns:r="http://schemas.openxmlformats.org/officeDocument/2006/relationships" id="414" r:id="R0607b7cb224b46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8436562d8e4c8c" /><Relationship Type="http://schemas.openxmlformats.org/officeDocument/2006/relationships/slideMaster" Target="/ppt/slideMasters/slideMaster1.xml" Id="R309d1baeb9814201" /><Relationship Type="http://schemas.openxmlformats.org/officeDocument/2006/relationships/notesMaster" Target="/ppt/notesMasters/notesMaster1.xml" Id="R309f35a1be6d40dd" /><Relationship Type="http://schemas.openxmlformats.org/officeDocument/2006/relationships/presProps" Target="/ppt/presProps.xml" Id="R4507931ea4ae496a" /><Relationship Type="http://schemas.openxmlformats.org/officeDocument/2006/relationships/tableStyles" Target="/ppt/tableStyles.xml" Id="R13f83afacb5648be" /><Relationship Type="http://schemas.openxmlformats.org/officeDocument/2006/relationships/slide" Target="/ppt/slides/slide1.xml" Id="Rde94317b23fb49eb" /><Relationship Type="http://schemas.openxmlformats.org/officeDocument/2006/relationships/slide" Target="/ppt/slides/slide2.xml" Id="R86a4f4e11f074256" /><Relationship Type="http://schemas.openxmlformats.org/officeDocument/2006/relationships/slide" Target="/ppt/slides/slide3.xml" Id="Re818d6ec147f402d" /><Relationship Type="http://schemas.openxmlformats.org/officeDocument/2006/relationships/slide" Target="/ppt/slides/slide4.xml" Id="R250ee0aff0a149de" /><Relationship Type="http://schemas.openxmlformats.org/officeDocument/2006/relationships/slide" Target="/ppt/slides/slide5.xml" Id="Rbb7b48cf39ca4108" /><Relationship Type="http://schemas.openxmlformats.org/officeDocument/2006/relationships/slide" Target="/ppt/slides/slide6.xml" Id="R0e76ef12754f4411" /><Relationship Type="http://schemas.openxmlformats.org/officeDocument/2006/relationships/slide" Target="/ppt/slides/slide7.xml" Id="R2f102aac09954323" /><Relationship Type="http://schemas.openxmlformats.org/officeDocument/2006/relationships/slide" Target="/ppt/slides/slide8.xml" Id="R5bdb470769ec429e" /><Relationship Type="http://schemas.openxmlformats.org/officeDocument/2006/relationships/slide" Target="/ppt/slides/slide9.xml" Id="R79e78c12d9fe4c0e" /><Relationship Type="http://schemas.openxmlformats.org/officeDocument/2006/relationships/slide" Target="/ppt/slides/slide10.xml" Id="Rc7df4a2876ab463b" /><Relationship Type="http://schemas.openxmlformats.org/officeDocument/2006/relationships/slide" Target="/ppt/slides/slide11.xml" Id="R8797a50abae54350" /><Relationship Type="http://schemas.openxmlformats.org/officeDocument/2006/relationships/slide" Target="/ppt/slides/slide12.xml" Id="Rd674f6c20dc3476c" /><Relationship Type="http://schemas.openxmlformats.org/officeDocument/2006/relationships/slide" Target="/ppt/slides/slide13.xml" Id="Re37e7f02ffdc447e" /><Relationship Type="http://schemas.openxmlformats.org/officeDocument/2006/relationships/slide" Target="/ppt/slides/slide14.xml" Id="R70fa5e6186864982" /><Relationship Type="http://schemas.openxmlformats.org/officeDocument/2006/relationships/slide" Target="/ppt/slides/slide15.xml" Id="R0b8fa45531ef4aa5" /><Relationship Type="http://schemas.openxmlformats.org/officeDocument/2006/relationships/slide" Target="/ppt/slides/slide16.xml" Id="Re94f45d313da46ae" /><Relationship Type="http://schemas.openxmlformats.org/officeDocument/2006/relationships/slide" Target="/ppt/slides/slide17.xml" Id="Rfd7e9c9385df4e65" /><Relationship Type="http://schemas.openxmlformats.org/officeDocument/2006/relationships/slide" Target="/ppt/slides/slide18.xml" Id="R1b1659b8235d4129" /><Relationship Type="http://schemas.openxmlformats.org/officeDocument/2006/relationships/slide" Target="/ppt/slides/slide19.xml" Id="R7018294c95764415" /><Relationship Type="http://schemas.openxmlformats.org/officeDocument/2006/relationships/slide" Target="/ppt/slides/slide20.xml" Id="R790ff6b331bd4883" /><Relationship Type="http://schemas.openxmlformats.org/officeDocument/2006/relationships/slide" Target="/ppt/slides/slide21.xml" Id="Rdda1f71d32c94b31" /><Relationship Type="http://schemas.openxmlformats.org/officeDocument/2006/relationships/slide" Target="/ppt/slides/slide22.xml" Id="Rc1a3c8d63762491b" /><Relationship Type="http://schemas.openxmlformats.org/officeDocument/2006/relationships/slide" Target="/ppt/slides/slide23.xml" Id="R7376dcc2684547fd" /><Relationship Type="http://schemas.openxmlformats.org/officeDocument/2006/relationships/slide" Target="/ppt/slides/slide24.xml" Id="Re04fe18f8dd24e94" /><Relationship Type="http://schemas.openxmlformats.org/officeDocument/2006/relationships/slide" Target="/ppt/slides/slide25.xml" Id="Rd33523a6c93e4840" /><Relationship Type="http://schemas.openxmlformats.org/officeDocument/2006/relationships/slide" Target="/ppt/slides/slide26.xml" Id="R267e8b9c808a490a" /><Relationship Type="http://schemas.openxmlformats.org/officeDocument/2006/relationships/slide" Target="/ppt/slides/slide27.xml" Id="R5e75bf1c635a47e4" /><Relationship Type="http://schemas.openxmlformats.org/officeDocument/2006/relationships/slide" Target="/ppt/slides/slide28.xml" Id="Rbbcb1214cf9941ee" /><Relationship Type="http://schemas.openxmlformats.org/officeDocument/2006/relationships/slide" Target="/ppt/slides/slide29.xml" Id="R40b41de7280744bf" /><Relationship Type="http://schemas.openxmlformats.org/officeDocument/2006/relationships/slide" Target="/ppt/slides/slide30.xml" Id="R43ff3f4ea3774135" /><Relationship Type="http://schemas.openxmlformats.org/officeDocument/2006/relationships/slide" Target="/ppt/slides/slide31.xml" Id="Raf4e604e2f2b4f62" /><Relationship Type="http://schemas.openxmlformats.org/officeDocument/2006/relationships/slide" Target="/ppt/slides/slide32.xml" Id="R9fa841c89cf2420c" /><Relationship Type="http://schemas.openxmlformats.org/officeDocument/2006/relationships/slide" Target="/ppt/slides/slide33.xml" Id="R0fb7c3c185774c78" /><Relationship Type="http://schemas.openxmlformats.org/officeDocument/2006/relationships/slide" Target="/ppt/slides/slide34.xml" Id="R8c9b8b4d265e4fb8" /><Relationship Type="http://schemas.openxmlformats.org/officeDocument/2006/relationships/slide" Target="/ppt/slides/slide35.xml" Id="Ra51a0ad491d14c15" /><Relationship Type="http://schemas.openxmlformats.org/officeDocument/2006/relationships/slide" Target="/ppt/slides/slide36.xml" Id="Re27821337eef4156" /><Relationship Type="http://schemas.openxmlformats.org/officeDocument/2006/relationships/slide" Target="/ppt/slides/slide37.xml" Id="R4802c105926d4bcb" /><Relationship Type="http://schemas.openxmlformats.org/officeDocument/2006/relationships/slide" Target="/ppt/slides/slide38.xml" Id="R875bd4ea37194859" /><Relationship Type="http://schemas.openxmlformats.org/officeDocument/2006/relationships/slide" Target="/ppt/slides/slide39.xml" Id="R3b94e767067345a6" /><Relationship Type="http://schemas.openxmlformats.org/officeDocument/2006/relationships/slide" Target="/ppt/slides/slide40.xml" Id="R74c0f06539014359" /><Relationship Type="http://schemas.openxmlformats.org/officeDocument/2006/relationships/slide" Target="/ppt/slides/slide41.xml" Id="R859a3517a74e48ca" /><Relationship Type="http://schemas.openxmlformats.org/officeDocument/2006/relationships/slide" Target="/ppt/slides/slide42.xml" Id="Ra2b32513044a44db" /><Relationship Type="http://schemas.openxmlformats.org/officeDocument/2006/relationships/slide" Target="/ppt/slides/slide43.xml" Id="R4b77e506f9964d17" /><Relationship Type="http://schemas.openxmlformats.org/officeDocument/2006/relationships/slide" Target="/ppt/slides/slide44.xml" Id="R1861aadfbdcd4c57" /><Relationship Type="http://schemas.openxmlformats.org/officeDocument/2006/relationships/slide" Target="/ppt/slides/slide45.xml" Id="R97d8edcede834b74" /><Relationship Type="http://schemas.openxmlformats.org/officeDocument/2006/relationships/slide" Target="/ppt/slides/slide46.xml" Id="R336df42ff5814c21" /><Relationship Type="http://schemas.openxmlformats.org/officeDocument/2006/relationships/slide" Target="/ppt/slides/slide47.xml" Id="R47606e0c5db94c29" /><Relationship Type="http://schemas.openxmlformats.org/officeDocument/2006/relationships/slide" Target="/ppt/slides/slide48.xml" Id="R24e7a9dd3c9f44c9" /><Relationship Type="http://schemas.openxmlformats.org/officeDocument/2006/relationships/slide" Target="/ppt/slides/slide49.xml" Id="R7cb8d683a2524d22" /><Relationship Type="http://schemas.openxmlformats.org/officeDocument/2006/relationships/slide" Target="/ppt/slides/slide50.xml" Id="Rf9f908163cf04702" /><Relationship Type="http://schemas.openxmlformats.org/officeDocument/2006/relationships/slide" Target="/ppt/slides/slide51.xml" Id="R1f79ef316be2493d" /><Relationship Type="http://schemas.openxmlformats.org/officeDocument/2006/relationships/slide" Target="/ppt/slides/slide52.xml" Id="R3b55f2590caa4e50" /><Relationship Type="http://schemas.openxmlformats.org/officeDocument/2006/relationships/slide" Target="/ppt/slides/slide53.xml" Id="Raac40765471248ba" /><Relationship Type="http://schemas.openxmlformats.org/officeDocument/2006/relationships/slide" Target="/ppt/slides/slide54.xml" Id="R3480adae75d94cd7" /><Relationship Type="http://schemas.openxmlformats.org/officeDocument/2006/relationships/slide" Target="/ppt/slides/slide55.xml" Id="Rdfbd712ee77443ba" /><Relationship Type="http://schemas.openxmlformats.org/officeDocument/2006/relationships/slide" Target="/ppt/slides/slide56.xml" Id="R1511eb459cf543da" /><Relationship Type="http://schemas.openxmlformats.org/officeDocument/2006/relationships/slide" Target="/ppt/slides/slide57.xml" Id="R95e509d6b36040ab" /><Relationship Type="http://schemas.openxmlformats.org/officeDocument/2006/relationships/slide" Target="/ppt/slides/slide58.xml" Id="R19efe82119c04b3d" /><Relationship Type="http://schemas.openxmlformats.org/officeDocument/2006/relationships/slide" Target="/ppt/slides/slide59.xml" Id="R6b81857495784249" /><Relationship Type="http://schemas.openxmlformats.org/officeDocument/2006/relationships/slide" Target="/ppt/slides/slide60.xml" Id="R5815d243ed70480d" /><Relationship Type="http://schemas.openxmlformats.org/officeDocument/2006/relationships/slide" Target="/ppt/slides/slide61.xml" Id="Rf0f3b8121bcd4d0a" /><Relationship Type="http://schemas.openxmlformats.org/officeDocument/2006/relationships/slide" Target="/ppt/slides/slide62.xml" Id="R605575faa7b842de" /><Relationship Type="http://schemas.openxmlformats.org/officeDocument/2006/relationships/slide" Target="/ppt/slides/slide63.xml" Id="R32b547129f874944" /><Relationship Type="http://schemas.openxmlformats.org/officeDocument/2006/relationships/slide" Target="/ppt/slides/slide64.xml" Id="R1fb50b5c664c40a9" /><Relationship Type="http://schemas.openxmlformats.org/officeDocument/2006/relationships/slide" Target="/ppt/slides/slide65.xml" Id="R7ef70a14bb314a02" /><Relationship Type="http://schemas.openxmlformats.org/officeDocument/2006/relationships/slide" Target="/ppt/slides/slide66.xml" Id="Rda2a922650e945ff" /><Relationship Type="http://schemas.openxmlformats.org/officeDocument/2006/relationships/slide" Target="/ppt/slides/slide67.xml" Id="R78ade598966e4457" /><Relationship Type="http://schemas.openxmlformats.org/officeDocument/2006/relationships/slide" Target="/ppt/slides/slide68.xml" Id="Rf8183b6ab02e4b9f" /><Relationship Type="http://schemas.openxmlformats.org/officeDocument/2006/relationships/slide" Target="/ppt/slides/slide69.xml" Id="Rb504001e52864054" /><Relationship Type="http://schemas.openxmlformats.org/officeDocument/2006/relationships/slide" Target="/ppt/slides/slide70.xml" Id="Rbda03406fba245ab" /><Relationship Type="http://schemas.openxmlformats.org/officeDocument/2006/relationships/slide" Target="/ppt/slides/slide71.xml" Id="Rd7a181aecbdf4e06" /><Relationship Type="http://schemas.openxmlformats.org/officeDocument/2006/relationships/slide" Target="/ppt/slides/slide72.xml" Id="R582a7c7775814810" /><Relationship Type="http://schemas.openxmlformats.org/officeDocument/2006/relationships/slide" Target="/ppt/slides/slide73.xml" Id="R6c810d5552434557" /><Relationship Type="http://schemas.openxmlformats.org/officeDocument/2006/relationships/slide" Target="/ppt/slides/slide74.xml" Id="R96e0a9ff5d164e07" /><Relationship Type="http://schemas.openxmlformats.org/officeDocument/2006/relationships/slide" Target="/ppt/slides/slide75.xml" Id="R62b673ca55b64d7d" /><Relationship Type="http://schemas.openxmlformats.org/officeDocument/2006/relationships/slide" Target="/ppt/slides/slide76.xml" Id="R59b258b159fb40fe" /><Relationship Type="http://schemas.openxmlformats.org/officeDocument/2006/relationships/slide" Target="/ppt/slides/slide77.xml" Id="Raee421548eb04311" /><Relationship Type="http://schemas.openxmlformats.org/officeDocument/2006/relationships/slide" Target="/ppt/slides/slide78.xml" Id="R5841fb9c4e3e4833" /><Relationship Type="http://schemas.openxmlformats.org/officeDocument/2006/relationships/slide" Target="/ppt/slides/slide79.xml" Id="Re695912ddc4c441f" /><Relationship Type="http://schemas.openxmlformats.org/officeDocument/2006/relationships/slide" Target="/ppt/slides/slide80.xml" Id="Rdce711444f974520" /><Relationship Type="http://schemas.openxmlformats.org/officeDocument/2006/relationships/slide" Target="/ppt/slides/slide81.xml" Id="Rf125b302484a484e" /><Relationship Type="http://schemas.openxmlformats.org/officeDocument/2006/relationships/slide" Target="/ppt/slides/slide82.xml" Id="R7d896a1240c6442f" /><Relationship Type="http://schemas.openxmlformats.org/officeDocument/2006/relationships/slide" Target="/ppt/slides/slide83.xml" Id="Rc34b3521ca194ccb" /><Relationship Type="http://schemas.openxmlformats.org/officeDocument/2006/relationships/slide" Target="/ppt/slides/slide84.xml" Id="R432e89799a2c4fcb" /><Relationship Type="http://schemas.openxmlformats.org/officeDocument/2006/relationships/slide" Target="/ppt/slides/slide85.xml" Id="R990bbf2e80084f00" /><Relationship Type="http://schemas.openxmlformats.org/officeDocument/2006/relationships/slide" Target="/ppt/slides/slide86.xml" Id="Rc1f11e84f3874743" /><Relationship Type="http://schemas.openxmlformats.org/officeDocument/2006/relationships/slide" Target="/ppt/slides/slide87.xml" Id="R761af64b7599444a" /><Relationship Type="http://schemas.openxmlformats.org/officeDocument/2006/relationships/slide" Target="/ppt/slides/slide88.xml" Id="Rb02221c28bef474a" /><Relationship Type="http://schemas.openxmlformats.org/officeDocument/2006/relationships/slide" Target="/ppt/slides/slide89.xml" Id="Re2b88331d1f54fee" /><Relationship Type="http://schemas.openxmlformats.org/officeDocument/2006/relationships/slide" Target="/ppt/slides/slide90.xml" Id="Rbff86a96d292432c" /><Relationship Type="http://schemas.openxmlformats.org/officeDocument/2006/relationships/slide" Target="/ppt/slides/slide91.xml" Id="Re581797e81ea4fb0" /><Relationship Type="http://schemas.openxmlformats.org/officeDocument/2006/relationships/slide" Target="/ppt/slides/slide92.xml" Id="R72120e4bce1c4072" /><Relationship Type="http://schemas.openxmlformats.org/officeDocument/2006/relationships/slide" Target="/ppt/slides/slide93.xml" Id="Rc4e4257d2cb44259" /><Relationship Type="http://schemas.openxmlformats.org/officeDocument/2006/relationships/slide" Target="/ppt/slides/slide94.xml" Id="R7cc30ef2485948b2" /><Relationship Type="http://schemas.openxmlformats.org/officeDocument/2006/relationships/slide" Target="/ppt/slides/slide95.xml" Id="R1304930494d34772" /><Relationship Type="http://schemas.openxmlformats.org/officeDocument/2006/relationships/slide" Target="/ppt/slides/slide96.xml" Id="Rbd1f3edaac414891" /><Relationship Type="http://schemas.openxmlformats.org/officeDocument/2006/relationships/slide" Target="/ppt/slides/slide97.xml" Id="R81477a6b2d3a4dbd" /><Relationship Type="http://schemas.openxmlformats.org/officeDocument/2006/relationships/slide" Target="/ppt/slides/slide98.xml" Id="Rac59a1365d274b7d" /><Relationship Type="http://schemas.openxmlformats.org/officeDocument/2006/relationships/slide" Target="/ppt/slides/slide99.xml" Id="R8a1b842cda0d44fd" /><Relationship Type="http://schemas.openxmlformats.org/officeDocument/2006/relationships/slide" Target="/ppt/slides/slide100.xml" Id="R698edc658b144c90" /><Relationship Type="http://schemas.openxmlformats.org/officeDocument/2006/relationships/slide" Target="/ppt/slides/slide101.xml" Id="R585c2f92e02f46f7" /><Relationship Type="http://schemas.openxmlformats.org/officeDocument/2006/relationships/slide" Target="/ppt/slides/slide102.xml" Id="R2a32b81e2f394781" /><Relationship Type="http://schemas.openxmlformats.org/officeDocument/2006/relationships/slide" Target="/ppt/slides/slide103.xml" Id="Ra1c1f53ff8ca4387" /><Relationship Type="http://schemas.openxmlformats.org/officeDocument/2006/relationships/slide" Target="/ppt/slides/slide104.xml" Id="Rb7e4dfe40aac4b76" /><Relationship Type="http://schemas.openxmlformats.org/officeDocument/2006/relationships/slide" Target="/ppt/slides/slide105.xml" Id="R4e26e24783474c00" /><Relationship Type="http://schemas.openxmlformats.org/officeDocument/2006/relationships/slide" Target="/ppt/slides/slide106.xml" Id="R23d7001837874d83" /><Relationship Type="http://schemas.openxmlformats.org/officeDocument/2006/relationships/slide" Target="/ppt/slides/slide107.xml" Id="R06be60d8a0fd428f" /><Relationship Type="http://schemas.openxmlformats.org/officeDocument/2006/relationships/slide" Target="/ppt/slides/slide108.xml" Id="R1df19bc1c5144ca6" /><Relationship Type="http://schemas.openxmlformats.org/officeDocument/2006/relationships/slide" Target="/ppt/slides/slide109.xml" Id="Rdcbbf893e66647a7" /><Relationship Type="http://schemas.openxmlformats.org/officeDocument/2006/relationships/slide" Target="/ppt/slides/slide110.xml" Id="R9b82272140c14ca1" /><Relationship Type="http://schemas.openxmlformats.org/officeDocument/2006/relationships/slide" Target="/ppt/slides/slide111.xml" Id="Rdc71679c7dbd47fe" /><Relationship Type="http://schemas.openxmlformats.org/officeDocument/2006/relationships/slide" Target="/ppt/slides/slide112.xml" Id="Ra603e99986dd4d96" /><Relationship Type="http://schemas.openxmlformats.org/officeDocument/2006/relationships/slide" Target="/ppt/slides/slide113.xml" Id="R5712861512284a63" /><Relationship Type="http://schemas.openxmlformats.org/officeDocument/2006/relationships/slide" Target="/ppt/slides/slide114.xml" Id="Rf3bd2f56ebf449ce" /><Relationship Type="http://schemas.openxmlformats.org/officeDocument/2006/relationships/slide" Target="/ppt/slides/slide115.xml" Id="Rd0cd85a8e8ff41aa" /><Relationship Type="http://schemas.openxmlformats.org/officeDocument/2006/relationships/slide" Target="/ppt/slides/slide116.xml" Id="Ra595010d260342be" /><Relationship Type="http://schemas.openxmlformats.org/officeDocument/2006/relationships/slide" Target="/ppt/slides/slide117.xml" Id="R237ed042496340a3" /><Relationship Type="http://schemas.openxmlformats.org/officeDocument/2006/relationships/slide" Target="/ppt/slides/slide118.xml" Id="R51a55bb9cc92447e" /><Relationship Type="http://schemas.openxmlformats.org/officeDocument/2006/relationships/slide" Target="/ppt/slides/slide119.xml" Id="R28576c3a191d411b" /><Relationship Type="http://schemas.openxmlformats.org/officeDocument/2006/relationships/slide" Target="/ppt/slides/slide120.xml" Id="R43c7d73708bf45ef" /><Relationship Type="http://schemas.openxmlformats.org/officeDocument/2006/relationships/slide" Target="/ppt/slides/slide121.xml" Id="Rb6b9651914fe4a39" /><Relationship Type="http://schemas.openxmlformats.org/officeDocument/2006/relationships/slide" Target="/ppt/slides/slide122.xml" Id="Rf2ea5dd05a644136" /><Relationship Type="http://schemas.openxmlformats.org/officeDocument/2006/relationships/slide" Target="/ppt/slides/slide123.xml" Id="Rc02d3aafd1b04124" /><Relationship Type="http://schemas.openxmlformats.org/officeDocument/2006/relationships/slide" Target="/ppt/slides/slide124.xml" Id="R697130afff2a49d9" /><Relationship Type="http://schemas.openxmlformats.org/officeDocument/2006/relationships/slide" Target="/ppt/slides/slide125.xml" Id="R6ac99bdb71394d10" /><Relationship Type="http://schemas.openxmlformats.org/officeDocument/2006/relationships/slide" Target="/ppt/slides/slide126.xml" Id="R1c5782f706034bcf" /><Relationship Type="http://schemas.openxmlformats.org/officeDocument/2006/relationships/slide" Target="/ppt/slides/slide127.xml" Id="R3f627c84535b4d15" /><Relationship Type="http://schemas.openxmlformats.org/officeDocument/2006/relationships/slide" Target="/ppt/slides/slide128.xml" Id="R9598441601ba4e00" /><Relationship Type="http://schemas.openxmlformats.org/officeDocument/2006/relationships/slide" Target="/ppt/slides/slide129.xml" Id="R1c6de7ecb3eb4f80" /><Relationship Type="http://schemas.openxmlformats.org/officeDocument/2006/relationships/slide" Target="/ppt/slides/slide130.xml" Id="R4ead8d402dbd4841" /><Relationship Type="http://schemas.openxmlformats.org/officeDocument/2006/relationships/slide" Target="/ppt/slides/slide131.xml" Id="R025c6af219574b98" /><Relationship Type="http://schemas.openxmlformats.org/officeDocument/2006/relationships/slide" Target="/ppt/slides/slide132.xml" Id="Ree24a0de9983495c" /><Relationship Type="http://schemas.openxmlformats.org/officeDocument/2006/relationships/slide" Target="/ppt/slides/slide133.xml" Id="R38ac2f8db89b45f9" /><Relationship Type="http://schemas.openxmlformats.org/officeDocument/2006/relationships/slide" Target="/ppt/slides/slide134.xml" Id="R70ec71d5d3294232" /><Relationship Type="http://schemas.openxmlformats.org/officeDocument/2006/relationships/slide" Target="/ppt/slides/slide135.xml" Id="Rd79531703b0748e8" /><Relationship Type="http://schemas.openxmlformats.org/officeDocument/2006/relationships/slide" Target="/ppt/slides/slide136.xml" Id="R10d7a9efdc204ca3" /><Relationship Type="http://schemas.openxmlformats.org/officeDocument/2006/relationships/slide" Target="/ppt/slides/slide137.xml" Id="R0cd0f2d180554fa6" /><Relationship Type="http://schemas.openxmlformats.org/officeDocument/2006/relationships/slide" Target="/ppt/slides/slide138.xml" Id="R6ebbc5a226524037" /><Relationship Type="http://schemas.openxmlformats.org/officeDocument/2006/relationships/slide" Target="/ppt/slides/slide139.xml" Id="Rd2c18d8d83a64254" /><Relationship Type="http://schemas.openxmlformats.org/officeDocument/2006/relationships/slide" Target="/ppt/slides/slide140.xml" Id="R99adc00769984b6b" /><Relationship Type="http://schemas.openxmlformats.org/officeDocument/2006/relationships/slide" Target="/ppt/slides/slide141.xml" Id="R5e273512bcfc4240" /><Relationship Type="http://schemas.openxmlformats.org/officeDocument/2006/relationships/slide" Target="/ppt/slides/slide142.xml" Id="Rf6c0ab7285e443fb" /><Relationship Type="http://schemas.openxmlformats.org/officeDocument/2006/relationships/slide" Target="/ppt/slides/slide143.xml" Id="R829d356741c44285" /><Relationship Type="http://schemas.openxmlformats.org/officeDocument/2006/relationships/slide" Target="/ppt/slides/slide144.xml" Id="Rc0010f5c82d94883" /><Relationship Type="http://schemas.openxmlformats.org/officeDocument/2006/relationships/slide" Target="/ppt/slides/slide145.xml" Id="R372de7903bb64d19" /><Relationship Type="http://schemas.openxmlformats.org/officeDocument/2006/relationships/slide" Target="/ppt/slides/slide146.xml" Id="R8b79a94e81624ce5" /><Relationship Type="http://schemas.openxmlformats.org/officeDocument/2006/relationships/slide" Target="/ppt/slides/slide147.xml" Id="R36c26b183d894240" /><Relationship Type="http://schemas.openxmlformats.org/officeDocument/2006/relationships/slide" Target="/ppt/slides/slide148.xml" Id="R77a47a9836bc4fb8" /><Relationship Type="http://schemas.openxmlformats.org/officeDocument/2006/relationships/slide" Target="/ppt/slides/slide149.xml" Id="R34e74255231c42fb" /><Relationship Type="http://schemas.openxmlformats.org/officeDocument/2006/relationships/slide" Target="/ppt/slides/slide150.xml" Id="R83ff87fae68245fb" /><Relationship Type="http://schemas.openxmlformats.org/officeDocument/2006/relationships/slide" Target="/ppt/slides/slide151.xml" Id="R61baa2c416b74487" /><Relationship Type="http://schemas.openxmlformats.org/officeDocument/2006/relationships/slide" Target="/ppt/slides/slide152.xml" Id="R68edfc1d6af848bb" /><Relationship Type="http://schemas.openxmlformats.org/officeDocument/2006/relationships/slide" Target="/ppt/slides/slide153.xml" Id="R001261c2854749da" /><Relationship Type="http://schemas.openxmlformats.org/officeDocument/2006/relationships/slide" Target="/ppt/slides/slide154.xml" Id="R83f75f2e6b6148c5" /><Relationship Type="http://schemas.openxmlformats.org/officeDocument/2006/relationships/slide" Target="/ppt/slides/slide155.xml" Id="Rde7c7a61f7764283" /><Relationship Type="http://schemas.openxmlformats.org/officeDocument/2006/relationships/slide" Target="/ppt/slides/slide156.xml" Id="R56f8ea42bbb641e4" /><Relationship Type="http://schemas.openxmlformats.org/officeDocument/2006/relationships/slide" Target="/ppt/slides/slide157.xml" Id="R2a51c9bff9ae4d34" /><Relationship Type="http://schemas.openxmlformats.org/officeDocument/2006/relationships/slide" Target="/ppt/slides/slide158.xml" Id="Ra7c858ab7c1d4076" /><Relationship Type="http://schemas.openxmlformats.org/officeDocument/2006/relationships/slide" Target="/ppt/slides/slide159.xml" Id="R0607b7cb224b46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5833733620441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9f0ef5ca7c44f7" /><Relationship Type="http://schemas.openxmlformats.org/officeDocument/2006/relationships/notesMaster" Target="/ppt/notesMasters/notesMaster1.xml" Id="R55f7a141816a44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0a8acf6eff4d62" /><Relationship Type="http://schemas.openxmlformats.org/officeDocument/2006/relationships/notesMaster" Target="/ppt/notesMasters/notesMaster1.xml" Id="Ra2d2059c5b734c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0b815cc3ba48d6" /><Relationship Type="http://schemas.openxmlformats.org/officeDocument/2006/relationships/notesMaster" Target="/ppt/notesMasters/notesMaster1.xml" Id="R30764f7e20564b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5b2711470b422a" /><Relationship Type="http://schemas.openxmlformats.org/officeDocument/2006/relationships/notesMaster" Target="/ppt/notesMasters/notesMaster1.xml" Id="Ra1316857a8ab47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6e0512fe74542d1" /><Relationship Type="http://schemas.openxmlformats.org/officeDocument/2006/relationships/notesMaster" Target="/ppt/notesMasters/notesMaster1.xml" Id="R7d3c923c04b748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9f318afd07947e4" /><Relationship Type="http://schemas.openxmlformats.org/officeDocument/2006/relationships/notesMaster" Target="/ppt/notesMasters/notesMaster1.xml" Id="R1036ada284dc42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c71ec18d5b4cc8" /><Relationship Type="http://schemas.openxmlformats.org/officeDocument/2006/relationships/notesMaster" Target="/ppt/notesMasters/notesMaster1.xml" Id="R06194e0670de43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fc56874696a4bee" /><Relationship Type="http://schemas.openxmlformats.org/officeDocument/2006/relationships/notesMaster" Target="/ppt/notesMasters/notesMaster1.xml" Id="R6aa109219419464f" /></Relationships>
</file>

<file path=ppt/notesSlides/_rels/notesSlide9.xml.rels>&#65279;<?xml version="1.0" encoding="utf-8"?><Relationships xmlns="http://schemas.openxmlformats.org/package/2006/relationships"><Relationship Type="http://schemas.openxmlformats.org/officeDocument/2006/relationships/slide" Target="/ppt/slides/slide9.xml" Id="Re2b634c9996e4dcd" /><Relationship Type="http://schemas.openxmlformats.org/officeDocument/2006/relationships/notesMaster" Target="/ppt/notesMasters/notesMaster1.xml" Id="R6b937141d8eb4b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7ce00ca08df48cc" /><Relationship Type="http://schemas.openxmlformats.org/officeDocument/2006/relationships/notesMaster" Target="/ppt/notesMasters/notesMaster1.xml" Id="R65676eeec3bb42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e584713111404a" /><Relationship Type="http://schemas.openxmlformats.org/officeDocument/2006/relationships/notesMaster" Target="/ppt/notesMasters/notesMaster1.xml" Id="Raceb055e830942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fc297263d754b48" /><Relationship Type="http://schemas.openxmlformats.org/officeDocument/2006/relationships/notesMaster" Target="/ppt/notesMasters/notesMaster1.xml" Id="Rd6f73f802a5b424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776a6136d0440d" /><Relationship Type="http://schemas.openxmlformats.org/officeDocument/2006/relationships/notesMaster" Target="/ppt/notesMasters/notesMaster1.xml" Id="R7fc50a0a7c74474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dcbbb19b1b4692" /><Relationship Type="http://schemas.openxmlformats.org/officeDocument/2006/relationships/notesMaster" Target="/ppt/notesMasters/notesMaster1.xml" Id="Re98c04aee1df42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ace539d56b248cc" /><Relationship Type="http://schemas.openxmlformats.org/officeDocument/2006/relationships/notesMaster" Target="/ppt/notesMasters/notesMaster1.xml" Id="Ra55b55778a11491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e1e79997c044cd" /><Relationship Type="http://schemas.openxmlformats.org/officeDocument/2006/relationships/notesMaster" Target="/ppt/notesMasters/notesMaster1.xml" Id="R3d21e1e5ae2d4be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d86136da30c4c2c" /><Relationship Type="http://schemas.openxmlformats.org/officeDocument/2006/relationships/notesMaster" Target="/ppt/notesMasters/notesMaster1.xml" Id="R718947a858cd4c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ea142924a7460e" /><Relationship Type="http://schemas.openxmlformats.org/officeDocument/2006/relationships/notesMaster" Target="/ppt/notesMasters/notesMaster1.xml" Id="Rc25460638d4546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dc5972ebcf4189" /><Relationship Type="http://schemas.openxmlformats.org/officeDocument/2006/relationships/notesMaster" Target="/ppt/notesMasters/notesMaster1.xml" Id="Rd114b0eb64f344e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ee4f0cf7f48494c" /><Relationship Type="http://schemas.openxmlformats.org/officeDocument/2006/relationships/notesMaster" Target="/ppt/notesMasters/notesMaster1.xml" Id="R6c3fe0f8ca0f43a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a937499b89d4e50" /><Relationship Type="http://schemas.openxmlformats.org/officeDocument/2006/relationships/notesMaster" Target="/ppt/notesMasters/notesMaster1.xml" Id="R1a8b759f8247471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53a6b0fe8ff4923" /><Relationship Type="http://schemas.openxmlformats.org/officeDocument/2006/relationships/notesMaster" Target="/ppt/notesMasters/notesMaster1.xml" Id="Rddd2b97b5623475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cfe61768e3c4500" /><Relationship Type="http://schemas.openxmlformats.org/officeDocument/2006/relationships/notesMaster" Target="/ppt/notesMasters/notesMaster1.xml" Id="R4febfc0426fb4b7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d8ed94765e244c6" /><Relationship Type="http://schemas.openxmlformats.org/officeDocument/2006/relationships/notesMaster" Target="/ppt/notesMasters/notesMaster1.xml" Id="R4bd26e839cdc465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552caeebf9840ba" /><Relationship Type="http://schemas.openxmlformats.org/officeDocument/2006/relationships/notesMaster" Target="/ppt/notesMasters/notesMaster1.xml" Id="Rc71d5d4fd5b44e5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a6f5b1a3e3b456c" /><Relationship Type="http://schemas.openxmlformats.org/officeDocument/2006/relationships/notesMaster" Target="/ppt/notesMasters/notesMaster1.xml" Id="Rb425f8ccadd1402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7069cb12f6e4b4f" /><Relationship Type="http://schemas.openxmlformats.org/officeDocument/2006/relationships/notesMaster" Target="/ppt/notesMasters/notesMaster1.xml" Id="R756c29999a60421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b2c9cc51694455e" /><Relationship Type="http://schemas.openxmlformats.org/officeDocument/2006/relationships/notesMaster" Target="/ppt/notesMasters/notesMaster1.xml" Id="R09e7e9fbc95b4b69"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4e8643b9e59432c" /><Relationship Type="http://schemas.openxmlformats.org/officeDocument/2006/relationships/notesMaster" Target="/ppt/notesMasters/notesMaster1.xml" Id="R0fbcea9cf61b469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5d100995cfb47cf" /><Relationship Type="http://schemas.openxmlformats.org/officeDocument/2006/relationships/notesMaster" Target="/ppt/notesMasters/notesMaster1.xml" Id="Rdf4b82938c4b46f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66158b2bdf14047" /><Relationship Type="http://schemas.openxmlformats.org/officeDocument/2006/relationships/notesMaster" Target="/ppt/notesMasters/notesMaster1.xml" Id="Ra9858cc44acb4bc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99181d63c800476d" /><Relationship Type="http://schemas.openxmlformats.org/officeDocument/2006/relationships/notesMaster" Target="/ppt/notesMasters/notesMaster1.xml" Id="Rf88a1f7da3aa463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65b1f99c2de4dec" /><Relationship Type="http://schemas.openxmlformats.org/officeDocument/2006/relationships/notesMaster" Target="/ppt/notesMasters/notesMaster1.xml" Id="R2163776611fd4a6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c6deb008625946f5" /><Relationship Type="http://schemas.openxmlformats.org/officeDocument/2006/relationships/notesMaster" Target="/ppt/notesMasters/notesMaster1.xml" Id="Rab27ec66b6f94a6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d786d13de4f4d5f" /><Relationship Type="http://schemas.openxmlformats.org/officeDocument/2006/relationships/notesMaster" Target="/ppt/notesMasters/notesMaster1.xml" Id="R5cd330a15e5b452a"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a733842bd3b4bcf" /><Relationship Type="http://schemas.openxmlformats.org/officeDocument/2006/relationships/notesMaster" Target="/ppt/notesMasters/notesMaster1.xml" Id="Rde83065eaea448fe"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868508219d84df6" /><Relationship Type="http://schemas.openxmlformats.org/officeDocument/2006/relationships/notesMaster" Target="/ppt/notesMasters/notesMaster1.xml" Id="R1d26ffb484f94bb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c9134946c8e4904" /><Relationship Type="http://schemas.openxmlformats.org/officeDocument/2006/relationships/notesMaster" Target="/ppt/notesMasters/notesMaster1.xml" Id="R23f552a2dae64cd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70bc95ecb3484868" /><Relationship Type="http://schemas.openxmlformats.org/officeDocument/2006/relationships/notesMaster" Target="/ppt/notesMasters/notesMaster1.xml" Id="R4e6fc3135e024897"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209c0fef14d427a" /><Relationship Type="http://schemas.openxmlformats.org/officeDocument/2006/relationships/notesMaster" Target="/ppt/notesMasters/notesMaster1.xml" Id="R819fd6f957f74498"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7238ba5384245e3" /><Relationship Type="http://schemas.openxmlformats.org/officeDocument/2006/relationships/notesMaster" Target="/ppt/notesMasters/notesMaster1.xml" Id="Rd950bf0353364be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611f7f4e7fa4d94" /><Relationship Type="http://schemas.openxmlformats.org/officeDocument/2006/relationships/notesMaster" Target="/ppt/notesMasters/notesMaster1.xml" Id="R5053d3fd4fa5420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4f3aa38e3cd449b6" /><Relationship Type="http://schemas.openxmlformats.org/officeDocument/2006/relationships/notesMaster" Target="/ppt/notesMasters/notesMaster1.xml" Id="R42eb3f0a9457477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163bbc8acc24cd3" /><Relationship Type="http://schemas.openxmlformats.org/officeDocument/2006/relationships/notesMaster" Target="/ppt/notesMasters/notesMaster1.xml" Id="R597a3c287cc54e1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a436386b7034383" /><Relationship Type="http://schemas.openxmlformats.org/officeDocument/2006/relationships/notesMaster" Target="/ppt/notesMasters/notesMaster1.xml" Id="Rd967429208724b3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db925b016ad54d47" /><Relationship Type="http://schemas.openxmlformats.org/officeDocument/2006/relationships/notesMaster" Target="/ppt/notesMasters/notesMaster1.xml" Id="Rbaa07d8f258b4e7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c67f4611516c4042" /><Relationship Type="http://schemas.openxmlformats.org/officeDocument/2006/relationships/notesMaster" Target="/ppt/notesMasters/notesMaster1.xml" Id="Rd18e2c8d6c224c3b"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a3139df380240be" /><Relationship Type="http://schemas.openxmlformats.org/officeDocument/2006/relationships/notesMaster" Target="/ppt/notesMasters/notesMaster1.xml" Id="R02e7db5fe58346a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887dbe7532734691" /><Relationship Type="http://schemas.openxmlformats.org/officeDocument/2006/relationships/notesMaster" Target="/ppt/notesMasters/notesMaster1.xml" Id="R2214b95cfe65419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ccfef1063864418e" /><Relationship Type="http://schemas.openxmlformats.org/officeDocument/2006/relationships/notesMaster" Target="/ppt/notesMasters/notesMaster1.xml" Id="R237269d58cb949f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bbf67f8fb8104d1c" /><Relationship Type="http://schemas.openxmlformats.org/officeDocument/2006/relationships/notesMaster" Target="/ppt/notesMasters/notesMaster1.xml" Id="R9c8292fb378e4f8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c213a1ad15d44cfe" /><Relationship Type="http://schemas.openxmlformats.org/officeDocument/2006/relationships/notesMaster" Target="/ppt/notesMasters/notesMaster1.xml" Id="Rfc9d1336eb6c49d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fb731797c89436c" /><Relationship Type="http://schemas.openxmlformats.org/officeDocument/2006/relationships/notesMaster" Target="/ppt/notesMasters/notesMaster1.xml" Id="R522b37d739f24f9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43698b7c78f48e4" /><Relationship Type="http://schemas.openxmlformats.org/officeDocument/2006/relationships/notesMaster" Target="/ppt/notesMasters/notesMaster1.xml" Id="R59b15748d38141e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a6d4b9331ac3497e" /><Relationship Type="http://schemas.openxmlformats.org/officeDocument/2006/relationships/notesMaster" Target="/ppt/notesMasters/notesMaster1.xml" Id="Rc521bcf1eb8b4e3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7281a22adfc34334" /><Relationship Type="http://schemas.openxmlformats.org/officeDocument/2006/relationships/notesMaster" Target="/ppt/notesMasters/notesMaster1.xml" Id="R169e7c8fe2444a8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5942b175a4454ae7" /><Relationship Type="http://schemas.openxmlformats.org/officeDocument/2006/relationships/notesMaster" Target="/ppt/notesMasters/notesMaster1.xml" Id="R2c02482f39b64ae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0b30cd8657a444d" /><Relationship Type="http://schemas.openxmlformats.org/officeDocument/2006/relationships/notesMaster" Target="/ppt/notesMasters/notesMaster1.xml" Id="Raf96bffb5ab546ed"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c80f2e6562a4dee" /><Relationship Type="http://schemas.openxmlformats.org/officeDocument/2006/relationships/notesMaster" Target="/ppt/notesMasters/notesMaster1.xml" Id="R925adb19e47b425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e3b2c268cc494e39" /><Relationship Type="http://schemas.openxmlformats.org/officeDocument/2006/relationships/notesMaster" Target="/ppt/notesMasters/notesMaster1.xml" Id="Rf219d9761187487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677760cbefb437a" /><Relationship Type="http://schemas.openxmlformats.org/officeDocument/2006/relationships/notesMaster" Target="/ppt/notesMasters/notesMaster1.xml" Id="Rebd6f68c8bf847c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ed3ea1d8f5514d39" /><Relationship Type="http://schemas.openxmlformats.org/officeDocument/2006/relationships/notesMaster" Target="/ppt/notesMasters/notesMaster1.xml" Id="R23052cfbf74049bc"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8e756b5631b49ba" /><Relationship Type="http://schemas.openxmlformats.org/officeDocument/2006/relationships/notesMaster" Target="/ppt/notesMasters/notesMaster1.xml" Id="R16f2f4da851a4a7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ff038f723384818" /><Relationship Type="http://schemas.openxmlformats.org/officeDocument/2006/relationships/notesMaster" Target="/ppt/notesMasters/notesMaster1.xml" Id="Rc8cd5435d7c1447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dcd2c75ef9fb4ea9" /><Relationship Type="http://schemas.openxmlformats.org/officeDocument/2006/relationships/notesMaster" Target="/ppt/notesMasters/notesMaster1.xml" Id="R393c0e4704b74e4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3df7344f49a74c89" /><Relationship Type="http://schemas.openxmlformats.org/officeDocument/2006/relationships/notesMaster" Target="/ppt/notesMasters/notesMaster1.xml" Id="Rd17481680a7b4c04"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fb27c886ab8486a" /><Relationship Type="http://schemas.openxmlformats.org/officeDocument/2006/relationships/notesMaster" Target="/ppt/notesMasters/notesMaster1.xml" Id="R973ba4d53d8243a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d1c021009e34bff" /><Relationship Type="http://schemas.openxmlformats.org/officeDocument/2006/relationships/notesMaster" Target="/ppt/notesMasters/notesMaster1.xml" Id="Rfdd942170a4643e4"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58b060161b24668" /><Relationship Type="http://schemas.openxmlformats.org/officeDocument/2006/relationships/notesMaster" Target="/ppt/notesMasters/notesMaster1.xml" Id="Rc3a1021d241243f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cb45443124e54708" /><Relationship Type="http://schemas.openxmlformats.org/officeDocument/2006/relationships/notesMaster" Target="/ppt/notesMasters/notesMaster1.xml" Id="Rcec77964f5a44d80"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c2f82ecfc2f940b1" /><Relationship Type="http://schemas.openxmlformats.org/officeDocument/2006/relationships/notesMaster" Target="/ppt/notesMasters/notesMaster1.xml" Id="Rbb330e537a5d4dc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62de7d686ca4d91" /><Relationship Type="http://schemas.openxmlformats.org/officeDocument/2006/relationships/notesMaster" Target="/ppt/notesMasters/notesMaster1.xml" Id="Re732d6ca3635402f"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1c228263f8b41f4" /><Relationship Type="http://schemas.openxmlformats.org/officeDocument/2006/relationships/notesMaster" Target="/ppt/notesMasters/notesMaster1.xml" Id="R5f311e86a31247df"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169f760fb5904293" /><Relationship Type="http://schemas.openxmlformats.org/officeDocument/2006/relationships/notesMaster" Target="/ppt/notesMasters/notesMaster1.xml" Id="Rc28326e2b54142d2"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66278d4d6444be6" /><Relationship Type="http://schemas.openxmlformats.org/officeDocument/2006/relationships/notesMaster" Target="/ppt/notesMasters/notesMaster1.xml" Id="R2218c03fb0f84ba1"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65c5c91f2b2d4cb6" /><Relationship Type="http://schemas.openxmlformats.org/officeDocument/2006/relationships/notesMaster" Target="/ppt/notesMasters/notesMaster1.xml" Id="R38407a951ad54d6e"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29beeba5300e44cb" /><Relationship Type="http://schemas.openxmlformats.org/officeDocument/2006/relationships/notesMaster" Target="/ppt/notesMasters/notesMaster1.xml" Id="R5cc94e6503d5411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b5482254f3d0448c" /><Relationship Type="http://schemas.openxmlformats.org/officeDocument/2006/relationships/notesMaster" Target="/ppt/notesMasters/notesMaster1.xml" Id="R93ed8fe5e2144718"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74dab8171ae14ec7" /><Relationship Type="http://schemas.openxmlformats.org/officeDocument/2006/relationships/notesMaster" Target="/ppt/notesMasters/notesMaster1.xml" Id="Ra36e88396a1f4b44"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3e8194b7fcc4470a" /><Relationship Type="http://schemas.openxmlformats.org/officeDocument/2006/relationships/notesMaster" Target="/ppt/notesMasters/notesMaster1.xml" Id="Rce09790f369941e5"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db7ab4d76dec423e" /><Relationship Type="http://schemas.openxmlformats.org/officeDocument/2006/relationships/notesMaster" Target="/ppt/notesMasters/notesMaster1.xml" Id="R67640fe269fa4fe5"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30f84cd59d624c3d" /><Relationship Type="http://schemas.openxmlformats.org/officeDocument/2006/relationships/notesMaster" Target="/ppt/notesMasters/notesMaster1.xml" Id="R5bfcc80c46964314"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302af40197b54f8e" /><Relationship Type="http://schemas.openxmlformats.org/officeDocument/2006/relationships/notesMaster" Target="/ppt/notesMasters/notesMaster1.xml" Id="Rfbe5c80c752f42d8"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d8282f90071d44c0" /><Relationship Type="http://schemas.openxmlformats.org/officeDocument/2006/relationships/notesMaster" Target="/ppt/notesMasters/notesMaster1.xml" Id="Re8354443d4ae4d48"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2246fe3af6ae42ed" /><Relationship Type="http://schemas.openxmlformats.org/officeDocument/2006/relationships/notesMaster" Target="/ppt/notesMasters/notesMaster1.xml" Id="R50754a4b077f4ba7"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7cadb6cede4b44b1" /><Relationship Type="http://schemas.openxmlformats.org/officeDocument/2006/relationships/notesMaster" Target="/ppt/notesMasters/notesMaster1.xml" Id="R48e4a06d99ee4a5b"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b72fe2b3c701499c" /><Relationship Type="http://schemas.openxmlformats.org/officeDocument/2006/relationships/notesMaster" Target="/ppt/notesMasters/notesMaster1.xml" Id="R04d8915cd996437d"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f4cbd18e444f4a18" /><Relationship Type="http://schemas.openxmlformats.org/officeDocument/2006/relationships/notesMaster" Target="/ppt/notesMasters/notesMaster1.xml" Id="Rfbb25eb52a4c417e"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9b55c88300ca41cb" /><Relationship Type="http://schemas.openxmlformats.org/officeDocument/2006/relationships/notesMaster" Target="/ppt/notesMasters/notesMaster1.xml" Id="R3d8a159f553e4c62"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a61ccbd3336740dc" /><Relationship Type="http://schemas.openxmlformats.org/officeDocument/2006/relationships/notesMaster" Target="/ppt/notesMasters/notesMaster1.xml" Id="R1521bee30d37470d"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13d09f4cfddd4d4d" /><Relationship Type="http://schemas.openxmlformats.org/officeDocument/2006/relationships/notesMaster" Target="/ppt/notesMasters/notesMaster1.xml" Id="R7e0b8626f17145bb"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9b46dc9aaeea4bb2" /><Relationship Type="http://schemas.openxmlformats.org/officeDocument/2006/relationships/notesMaster" Target="/ppt/notesMasters/notesMaster1.xml" Id="Rbfacdb1bfb734fe8"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85344ade81a64ec7" /><Relationship Type="http://schemas.openxmlformats.org/officeDocument/2006/relationships/notesMaster" Target="/ppt/notesMasters/notesMaster1.xml" Id="R46db1c2846744cdb"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e5befba120ad4b6b" /><Relationship Type="http://schemas.openxmlformats.org/officeDocument/2006/relationships/notesMaster" Target="/ppt/notesMasters/notesMaster1.xml" Id="R39fd47b07074424e"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ceda6f0596ea4c05" /><Relationship Type="http://schemas.openxmlformats.org/officeDocument/2006/relationships/notesMaster" Target="/ppt/notesMasters/notesMaster1.xml" Id="Rdfe94c477d064487"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4f3dcd6670d544f9" /><Relationship Type="http://schemas.openxmlformats.org/officeDocument/2006/relationships/notesMaster" Target="/ppt/notesMasters/notesMaster1.xml" Id="Rae30e1a807f44603"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ba56b4c136504e38" /><Relationship Type="http://schemas.openxmlformats.org/officeDocument/2006/relationships/notesMaster" Target="/ppt/notesMasters/notesMaster1.xml" Id="R3458439dcd9e4d88"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adc2bed6ce6e4674" /><Relationship Type="http://schemas.openxmlformats.org/officeDocument/2006/relationships/notesMaster" Target="/ppt/notesMasters/notesMaster1.xml" Id="Rfcb3075d99d94872"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703d917ddaff4d3b" /><Relationship Type="http://schemas.openxmlformats.org/officeDocument/2006/relationships/notesMaster" Target="/ppt/notesMasters/notesMaster1.xml" Id="R319c72b374794a8f"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4c4e97ad933549cd" /><Relationship Type="http://schemas.openxmlformats.org/officeDocument/2006/relationships/notesMaster" Target="/ppt/notesMasters/notesMaster1.xml" Id="R53cc42c70f554cad"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7649958efa394b9b" /><Relationship Type="http://schemas.openxmlformats.org/officeDocument/2006/relationships/notesMaster" Target="/ppt/notesMasters/notesMaster1.xml" Id="R8dce031027554d5c"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e8c6900ab7234c95" /><Relationship Type="http://schemas.openxmlformats.org/officeDocument/2006/relationships/notesMaster" Target="/ppt/notesMasters/notesMaster1.xml" Id="R1011ba386a534bef"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89d274ef348f46fb" /><Relationship Type="http://schemas.openxmlformats.org/officeDocument/2006/relationships/notesMaster" Target="/ppt/notesMasters/notesMaster1.xml" Id="R9b7899508ac243a9"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aab5140377fd4edb" /><Relationship Type="http://schemas.openxmlformats.org/officeDocument/2006/relationships/notesMaster" Target="/ppt/notesMasters/notesMaster1.xml" Id="Rc08031a9cd52499e"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c391574ec2844b69" /><Relationship Type="http://schemas.openxmlformats.org/officeDocument/2006/relationships/notesMaster" Target="/ppt/notesMasters/notesMaster1.xml" Id="Rafa5c4228dca49a9"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70f0e03a02f74029" /><Relationship Type="http://schemas.openxmlformats.org/officeDocument/2006/relationships/notesMaster" Target="/ppt/notesMasters/notesMaster1.xml" Id="Rf8d9be17e7224463"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7ff6e537f79e4dd5" /><Relationship Type="http://schemas.openxmlformats.org/officeDocument/2006/relationships/notesMaster" Target="/ppt/notesMasters/notesMaster1.xml" Id="R2ea6054c633748cf"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d605b104e607417f" /><Relationship Type="http://schemas.openxmlformats.org/officeDocument/2006/relationships/notesMaster" Target="/ppt/notesMasters/notesMaster1.xml" Id="Re07543735aa944b0"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b13c12f6dddd4b66" /><Relationship Type="http://schemas.openxmlformats.org/officeDocument/2006/relationships/notesMaster" Target="/ppt/notesMasters/notesMaster1.xml" Id="R12f06f18f6b24f36"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922a37e72c4943ea" /><Relationship Type="http://schemas.openxmlformats.org/officeDocument/2006/relationships/notesMaster" Target="/ppt/notesMasters/notesMaster1.xml" Id="Rd10d498821244111"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c462d18e441944cb" /><Relationship Type="http://schemas.openxmlformats.org/officeDocument/2006/relationships/notesMaster" Target="/ppt/notesMasters/notesMaster1.xml" Id="Rf224c9670cf84eea"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84aad2bbaad3482a" /><Relationship Type="http://schemas.openxmlformats.org/officeDocument/2006/relationships/notesMaster" Target="/ppt/notesMasters/notesMaster1.xml" Id="R8ac65ea6a0194b1d"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964ab756225b482d" /><Relationship Type="http://schemas.openxmlformats.org/officeDocument/2006/relationships/notesMaster" Target="/ppt/notesMasters/notesMaster1.xml" Id="R8ca9285e37d447cb"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387b55eea9ee4f4c" /><Relationship Type="http://schemas.openxmlformats.org/officeDocument/2006/relationships/notesMaster" Target="/ppt/notesMasters/notesMaster1.xml" Id="R51e83e1ef1304908"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1422d90803e34a81" /><Relationship Type="http://schemas.openxmlformats.org/officeDocument/2006/relationships/notesMaster" Target="/ppt/notesMasters/notesMaster1.xml" Id="Rb7cc91f45bac4a8c"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8ce22c5891934fab" /><Relationship Type="http://schemas.openxmlformats.org/officeDocument/2006/relationships/notesMaster" Target="/ppt/notesMasters/notesMaster1.xml" Id="R75426592675046b4"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18006a4c4ba245bd" /><Relationship Type="http://schemas.openxmlformats.org/officeDocument/2006/relationships/notesMaster" Target="/ppt/notesMasters/notesMaster1.xml" Id="Rbf3ee95ad47b4d6b"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06a9fa7a17b14210" /><Relationship Type="http://schemas.openxmlformats.org/officeDocument/2006/relationships/notesMaster" Target="/ppt/notesMasters/notesMaster1.xml" Id="R6951f1af031e47e1"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7d79e1a02ef04135" /><Relationship Type="http://schemas.openxmlformats.org/officeDocument/2006/relationships/notesMaster" Target="/ppt/notesMasters/notesMaster1.xml" Id="Radcc81b649084f55"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4f1364b53f7d4b38" /><Relationship Type="http://schemas.openxmlformats.org/officeDocument/2006/relationships/notesMaster" Target="/ppt/notesMasters/notesMaster1.xml" Id="Rb14ef0af68184c0b"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5a566c3efefb4959" /><Relationship Type="http://schemas.openxmlformats.org/officeDocument/2006/relationships/notesMaster" Target="/ppt/notesMasters/notesMaster1.xml" Id="R2783e488b4fd4433"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a4950905400c4e0f" /><Relationship Type="http://schemas.openxmlformats.org/officeDocument/2006/relationships/notesMaster" Target="/ppt/notesMasters/notesMaster1.xml" Id="R38c65d18878e4cf7"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49dbd72a4a2b4487" /><Relationship Type="http://schemas.openxmlformats.org/officeDocument/2006/relationships/notesMaster" Target="/ppt/notesMasters/notesMaster1.xml" Id="Rb6aec332de0e4093"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b0498287b0114e08" /><Relationship Type="http://schemas.openxmlformats.org/officeDocument/2006/relationships/notesMaster" Target="/ppt/notesMasters/notesMaster1.xml" Id="Rf7451c56addb47e9"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9e46ad860ab14909" /><Relationship Type="http://schemas.openxmlformats.org/officeDocument/2006/relationships/notesMaster" Target="/ppt/notesMasters/notesMaster1.xml" Id="R5ec71d7037204d68"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47770aa120e5456d" /><Relationship Type="http://schemas.openxmlformats.org/officeDocument/2006/relationships/notesMaster" Target="/ppt/notesMasters/notesMaster1.xml" Id="Rd133feda56e648ae"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9455856b865e46ab" /><Relationship Type="http://schemas.openxmlformats.org/officeDocument/2006/relationships/notesMaster" Target="/ppt/notesMasters/notesMaster1.xml" Id="Rd1cf928e8d294df3"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3b552427ff0a4ba3" /><Relationship Type="http://schemas.openxmlformats.org/officeDocument/2006/relationships/notesMaster" Target="/ppt/notesMasters/notesMaster1.xml" Id="Rffc2ea3971614b0b"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65f3792c5e69494a" /><Relationship Type="http://schemas.openxmlformats.org/officeDocument/2006/relationships/notesMaster" Target="/ppt/notesMasters/notesMaster1.xml" Id="R2d1d0ecd46864b06"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cc60aec3713d494a" /><Relationship Type="http://schemas.openxmlformats.org/officeDocument/2006/relationships/notesMaster" Target="/ppt/notesMasters/notesMaster1.xml" Id="R5ed3913387b14c70"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b7c567bc4fe149ab" /><Relationship Type="http://schemas.openxmlformats.org/officeDocument/2006/relationships/notesMaster" Target="/ppt/notesMasters/notesMaster1.xml" Id="R09fb7b513da8407c"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0462a1a7ad184ad1" /><Relationship Type="http://schemas.openxmlformats.org/officeDocument/2006/relationships/notesMaster" Target="/ppt/notesMasters/notesMaster1.xml" Id="R471c8f39abb94e28"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1b535d6c2ec742f3" /><Relationship Type="http://schemas.openxmlformats.org/officeDocument/2006/relationships/notesMaster" Target="/ppt/notesMasters/notesMaster1.xml" Id="R3d6622e820cd4bb7"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6bd3e6cb8c9749fb" /><Relationship Type="http://schemas.openxmlformats.org/officeDocument/2006/relationships/notesMaster" Target="/ppt/notesMasters/notesMaster1.xml" Id="R28b8b318489e4d91"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8112c5292ac34fdd" /><Relationship Type="http://schemas.openxmlformats.org/officeDocument/2006/relationships/notesMaster" Target="/ppt/notesMasters/notesMaster1.xml" Id="R50a69f86806b4e62"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805c0f839ab04c67" /><Relationship Type="http://schemas.openxmlformats.org/officeDocument/2006/relationships/notesMaster" Target="/ppt/notesMasters/notesMaster1.xml" Id="Rfaa2e0815aa143a2"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0c84a121e12744d6" /><Relationship Type="http://schemas.openxmlformats.org/officeDocument/2006/relationships/notesMaster" Target="/ppt/notesMasters/notesMaster1.xml" Id="Rf9ab4b6a75164146"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896f37aa3a2d4c82" /><Relationship Type="http://schemas.openxmlformats.org/officeDocument/2006/relationships/notesMaster" Target="/ppt/notesMasters/notesMaster1.xml" Id="R7bac3797fb19499e"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ca3c257363a347e1" /><Relationship Type="http://schemas.openxmlformats.org/officeDocument/2006/relationships/notesMaster" Target="/ppt/notesMasters/notesMaster1.xml" Id="R0aa803e7719249de"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6dd74546ea9b428d" /><Relationship Type="http://schemas.openxmlformats.org/officeDocument/2006/relationships/notesMaster" Target="/ppt/notesMasters/notesMaster1.xml" Id="R8b1eb21b51c94dac"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7ff79c898b1b4620" /><Relationship Type="http://schemas.openxmlformats.org/officeDocument/2006/relationships/notesMaster" Target="/ppt/notesMasters/notesMaster1.xml" Id="Rdd6fccb6d8854abb"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1a9ec8beb9874d21" /><Relationship Type="http://schemas.openxmlformats.org/officeDocument/2006/relationships/notesMaster" Target="/ppt/notesMasters/notesMaster1.xml" Id="R9af4026474bb4604"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b7cc0e7409ed41a7" /><Relationship Type="http://schemas.openxmlformats.org/officeDocument/2006/relationships/notesMaster" Target="/ppt/notesMasters/notesMaster1.xml" Id="Rab366a3fbc504b90"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ad113bf76aac4b35" /><Relationship Type="http://schemas.openxmlformats.org/officeDocument/2006/relationships/notesMaster" Target="/ppt/notesMasters/notesMaster1.xml" Id="R29fcf1bc444249a4"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ebf4f8f848244738" /><Relationship Type="http://schemas.openxmlformats.org/officeDocument/2006/relationships/notesMaster" Target="/ppt/notesMasters/notesMaster1.xml" Id="R4b9f292474774590"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eef2bf01e4c844fc" /><Relationship Type="http://schemas.openxmlformats.org/officeDocument/2006/relationships/notesMaster" Target="/ppt/notesMasters/notesMaster1.xml" Id="R2f1812a5fd0e4cb1"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e65b1c3b78274ff7" /><Relationship Type="http://schemas.openxmlformats.org/officeDocument/2006/relationships/notesMaster" Target="/ppt/notesMasters/notesMaster1.xml" Id="Rc37d09972c80453d"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6e0e3cd3bc8b49db" /><Relationship Type="http://schemas.openxmlformats.org/officeDocument/2006/relationships/notesMaster" Target="/ppt/notesMasters/notesMaster1.xml" Id="R5cbac6100d0347a8"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84b6d3f9b5bb48cd" /><Relationship Type="http://schemas.openxmlformats.org/officeDocument/2006/relationships/notesMaster" Target="/ppt/notesMasters/notesMaster1.xml" Id="R900f91bf243d427c"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89c1906a82a942ad" /><Relationship Type="http://schemas.openxmlformats.org/officeDocument/2006/relationships/notesMaster" Target="/ppt/notesMasters/notesMaster1.xml" Id="Rbfdd0d777113474a"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8c5d03e678ed4d7b" /><Relationship Type="http://schemas.openxmlformats.org/officeDocument/2006/relationships/notesMaster" Target="/ppt/notesMasters/notesMaster1.xml" Id="R98c619cbdd6f4029"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ccc8b63b38214563" /><Relationship Type="http://schemas.openxmlformats.org/officeDocument/2006/relationships/notesMaster" Target="/ppt/notesMasters/notesMaster1.xml" Id="Rf8c321e636d64cbc"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5132aad84a8b45e3" /><Relationship Type="http://schemas.openxmlformats.org/officeDocument/2006/relationships/notesMaster" Target="/ppt/notesMasters/notesMaster1.xml" Id="Rcc1d66ebb5cf4565"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4ef48d53b9194e86" /><Relationship Type="http://schemas.openxmlformats.org/officeDocument/2006/relationships/notesMaster" Target="/ppt/notesMasters/notesMaster1.xml" Id="R6f0c40b90d2a4b41"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98629d92957c4120" /><Relationship Type="http://schemas.openxmlformats.org/officeDocument/2006/relationships/notesMaster" Target="/ppt/notesMasters/notesMaster1.xml" Id="Rfc403ddb29b14ded"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38ca68639653476d" /><Relationship Type="http://schemas.openxmlformats.org/officeDocument/2006/relationships/notesMaster" Target="/ppt/notesMasters/notesMaster1.xml" Id="Rb8a95fbec21c4f85"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7e2404447e4c4d3c" /><Relationship Type="http://schemas.openxmlformats.org/officeDocument/2006/relationships/notesMaster" Target="/ppt/notesMasters/notesMaster1.xml" Id="Rbdfda5be32b14769"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cdedd9a3515548b2" /><Relationship Type="http://schemas.openxmlformats.org/officeDocument/2006/relationships/notesMaster" Target="/ppt/notesMasters/notesMaster1.xml" Id="R61df1a1c54bb46d4"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af05dcb97e374e17" /><Relationship Type="http://schemas.openxmlformats.org/officeDocument/2006/relationships/notesMaster" Target="/ppt/notesMasters/notesMaster1.xml" Id="R1a33f3aece1d43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Fluids, Electrolytes, and Calculations, Module 3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Relate fluid compartments to IV solution effects Next, Recognize common volume and electrolyte disturbances Next, Calculate pump and gravity infusion rates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First, Intracellular fluid lies within cells. Next, Extracellular fluid includes intravascular and interstitial spaces. Next, Osmosis moves water across a semipermeable membrane, while diffusion moves solutes down a concentration gradient.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movement of water into cells. Next, Hypertonic solutions draw water out of cells and require close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Track intake and output, daily weight, vital signs, lung sounds, edema, mucous membranes, cognition, urine output, and relevant laboratory values. Next, Escalate rapid changes or critical results.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Calculations. First, mL/hour equals volume divided by hours. Next, gtt/min equals volume times tubing drop factor divided by minutes. Next,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Tonicity, and Electrolyte Balance 1. First, Body fluid is distributed between intracellular and extracellular compartments; extracellular fluid includes interstitial and intravascular spaces. Next, Osmosis moves water across a semipermeable membrane, diffusion moves particles down a concentration gradient, filtration responds to pressure, and active transport uses energy.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water movement into cells. Next, Hypertonic solutions draw water from cells and require close monitoring. Next, Solution selection depends on the order, indication, comorbidities, laboratory findings, and current evidence.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Fluid deficit may produce thirst, dry mucosa, tachycardia, orthostatic changes, low urine output, weight loss, or poor skin turgor. Next, Excess may produce rapid weight gain, edema, jugular venous distention, hypertension, crackles, or dyspnea. Next, Monitor intake/output, daily weight, cardiopulmonary status, cognition, and relevant labs.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Electrolytes. First, Sodium, potassium, calcium, magnesium, chloride, phosphate, and bicarbonate support neurologic, cardiac, muscular, and acid-base function. Next, Abnormalities may become life-threatening; report critical results and symptoms immediately.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Core formulas. First, mL/hour = total volume (mL) / time (hours). Next, gtt/min = volume (mL) x drop factor (gtt/mL) / time (minutes). Next, Volume to administer = desired dose / dose on hand x volume on hand. Next, Dose rate problems require units to cancel correctly before programming.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Flow Rates, Dosage Calculations, Pumps, and IV Piggyback 1. First, Always convert units, label each step, retain clinically appropriate precision, round only at the final step according to device/policy, and check whether the answer is reasonable. Next, Obtain an independent double check when required.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Secondary infusion. First, Verify the order and compatibility, inspect the medication, assess the patient/site, prime and connect aseptically to the correct port, position bags for the device/setup, program primary and secondary settings, open clamps, observe startup, reassess during infusion, restore/verify the primary infusion, flush as ordered,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Electrolytes Objectives. First, Module 3 1. Next, Describe the chemical composition of blood 2. Next, Identify fluid compartments in the body 3. Next, Differentiate between isotonic, hypotonic, and hypertonic solutions 4. Next, Discuss the functions of water in our body 5.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Electrolytes Objectives — continued. First, Define the role of the hydrogen ion 6. Next, Define pH and list factors that cause metabolic acidosis or alkalosis 7. Next, Identify the common electrolytes and their functions 8. Next, Describe common electrolyte disturbances, and their effect on the body 9. Next, Describe common complications of fluid imbalances 10.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Electrolytes Objectives — continued. First, List methods to assess and determine fluid imbalances 11. Next, Describe signs, symptoms, and treatments for electrolyte disturbances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Unit Outline. First, Fluid Components and Regulation of Homeostasis Intracellular Extracellular Vascular Interstitial Fluid and Electrolyte Regulation Osmosis Isotonic Hypotonic Hypertonic Osmolality Diffusion Active Transport Filtration Next, Functions of Water Cellular Metabolism Thirst Respiratory Gastrointestinal Urinary Skin Hormones Disturbances of Osmolality Hyperosmolar Hypo-osmolar Isotonic Serum Electrolytes Sodium Potassium Chloride Magnesium Next, Calcium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Electrolytes Disturbances. First, Circulatory Muscle Gastrointestinal Kidney Respiratory Skin Hydrogen Ion Concentration pH Acid Base Balance and Imbalance Buffers Clinical Identification of Fluid and Electrolyte Imbalances Edema Urinalysis and Output Next, Dehydration Serological Values CBC SMA-7 Serum Osmolality Vital Signs Third Spacing Circulatory Overload Special Considerations Pediatrics Elderly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Components and Regulation of Homeostasis. First, The body functions in a constant state of flux, changing and adjusting to levels of acidity, fluid volume, and electrolytes to attain a "Homeostasis" in the body. Next, It is during illness that imbalances in the chemical and fluid content of the body occur. Next, The nurse must be alert to, and aware of the signs, symptoms, and clinical values of these imbalances and be able to intervene effectively. Next, In a normal adult, water makes us approximately 60% of the total body weight of a man, and approximately 50% of a woman. Next, Size and body build can have much to do with the amounts of water concentration in the body.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Components and Regulation of Homeostasis — continued. First, Generally water concentration varies inversely with the amount of fat in the body. Next, Therefore, obese people and females, who usually have a greater percentage of adipose tissue, have a lower percentage of body fluids. Next, However, regardless of body size, water concentration in the body will always attempt to stay in an optimal conditional state, or a "homeostatic" condition. Next, Any changes in this "homeostatic" state cause disturbances in the normal functioning of the body. Next, Along with water, many other components are carried within those areas of fluid content and circulatory circulation.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Components and Regulation of Homeostasis — continued. First, Oxygen and Carbon Dioxide are gases that are carried on the red blood cell (Erythrocyte), specifically the Hemoglobin that float within the many miles of vessels within the body. Next, The plasma portion or fluid portion of blood carries electrolytes such as Sodium and Potassium along with minerals such as Calcium and Magnesium. Next, Fats, amino acids, glucose, hormones, platelets, catecholamines, etc, along with many differentiated types of cells within the body all make up the content of blood. Next, Fluid contained within the cells of the body is referred to as intracellular and outside the cellular membrane, extracellular. Next, These two compartments are separated by a semi permeable membrane that allows constant changes to occur from one compartment to another.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Components and Regulation of Homeostasis — continued. First, The intracellular (ICF) compartment holds approximately 25 liters of the body's fluid and the extracellular compartment 15 liters. Next, Changes in the volume or components of the fluids can lead to serious complications. Next, A loss of 4 liters, for example, is serious, 8 liters can be fatal. Next, Normally we add to our extracellular fluid compartment by drinking fluids. Next, However, intravenous fluid administration is a fast, effective means of adding to our extracellular compartment.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Components and Regulation of Homeostasis — continued. First, Fluid losses occur through the extracellular fluid compartment. Next, These losses occur through the lungs, intestines, and sweat. Next, But the most important physiological route is the kidney. Next, Any gains or losses of fluid from the intracellular fluid compartment occur through the extracellular fluid compartment.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extracellular fluid compartment is divided into two compartments. The vascular. First, space comprises 1/4 of the compartment (plasma volume), and the remaining 3/4 is outside the blood vessels bathing the tissues (interstitial). Next, Interstitial water, therefore, comprises 15% of body weight, and plasma 5% of body weight. Next, The ratio between interstitial and plasma volume in an adult is 3:1, and in an infant 5:1. Next, An infant weighing 5 kilograms with total body water content of 3.5 liters who suffers a loss of even one (1) liter of fluid may deplete the entire ECF fluid volume. Next, Metabolic Process of Fluid Regulation The two types of dissolved substances in body fluids are those that break down in solution (electrolytes), and those that do not (glucose).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extracellular fluid compartment is divided into two compartments. The vascular — continued. First, Sodium chloride, for example, breaks down in solution to sodium cations (+) and chloride ions (-). Next, They are called electrolytes because they carry a mild electrical charge. Next, The components of fluid within the body's compartments that concern us are those substances that are present in large enough amounts to influence either the electromechanical or osmotic activity within each compartment. Next, As a rule, the positive (cation) and negative (anion) charged components of the fluid compartments will be present in equal amounts. Next, The principle extracellular electrolytes are: Sodium, Chloride, Calcium, and Bicarbonate.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extracellular fluid compartment is divided into two compartments. The vascular — continued. First, The principle intracellular electrolytes are: Potassium, Magnesium, and Phosphate. Next, Sodium is the dominant cation in the extracellular space, and potassium is the dominant cation in the intracellular space. Next, Within the cells, the important anions are generally large organic molecules, proteins, and phosphates. Next, The size of the protein molecule prevents diffusion through the cell membrane into the extracellular fluid. Next, The principle extracellular anion is chloride and the principle intracellular anion phosphate.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extracellular fluid compartment is divided into two compartments. The vascular — continued. First, The chloride anion slips freely between the compartments under the control of electrical forces. Next, Although found outside the cells for the most part, it is not considered exclusively extracellular. Next, Each fluid compartment has its own composition of electrolytes. Next, The body constantly strives thorough active metabolic processes to attain this stability.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 Regulation. First, Osmosis is the exchange of water that balances molecular concentration of a solution. Next, Water molecules move, as on a gradient, from an area of low molecular concentration to that of a greater molecular concentration. Next, An Isotonic solution is a solution with the same molecular concentration (tonicity) as plasma. Next, For example, Normal Saline (0.9%) is an isotonic solution. Next, Water will not move and the cell remains the same.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 Regulation — continued. First, A Hypotonic solution has a molecular concentration that is less than that of the cell; therefore, water will enter the cell. Next, The shape of the cell will swell and burst. Next, A Hypertonic solution has a molecular concentration that is greater than that of the cell and water is pulled out of the cell. Next, The cell will shrink. Next, Osmolality reflects the number of dissolved particles per unit of water.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 Regulation — continued. First, The greatest contributors are electrolytes, mainly sodium and chloride. Next, Water will basically move freely from one compartment to another to ensure equal osmolality. Next, The addition of solute to solution will reduce the amount of water, and the presence of solute will change the chemical behavior of a solution, such as a slower diffusion rate. Next, Therefore, osmolality measures the number of particles in solution. Next, The unit of measurement is the milli-osmole (mOsm).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 Regulation — continued. First, Points to remember: * Normal osmolality is 280-294 mOsm/kg in relation to body fluids. Next, * The intracellular and extracellular osmolalities are always equal. Next, This reflects the overall hydration status of the body. Next, * Water will diffuse from a high to low osmolality. Next, * Because of the osmotic equilibrium, imbalances between the intracellular and extracellular compartments are rapidly seen.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 Regulation — continued. First, Diffusion is the random movement of molecules through solution or gas. Next, Molecules spread from an area of greater concentration to an area of lesser concentration. Next, Molecules are in constant motion tending toward equal concentration. Next, Diffusion is not always easy.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and Electrolyte Regulation — continued. First, Large molecules may not pass freely through the cell membrane and may require "facilitated diffusion". Next, Certain compounds move slowly.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(water, chloride, and urea) pass easily through a membrane while larger molecules. First, The movement of molecule is dependent on a number of factors. Next, Permeability reters to the size of the molecule relative to the size of the membrane pores. Next, Smaller molecules (sugars) do not. Next, Molecular concentration also plays a factor. Next, The greater the concentration of molecules, the faster the rate of diffusion occurs across the membrane.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(water, chloride, and urea) pass easily through a membrane while larger molecules — continued. First, Electrical concentration can cause diffusion despite the molecular concentration. Next, Active transport is the third mechanism for the movement of fluids and electrolytes. Next, This process requires energy in the form of adenosine triphosphate (ATP) and a carrier substance to transport sodium, potassium, chloride, amino acids, and sugars. Next, The process is similar to "facilitated diffusion", except active transport acts against a concentrated gradient. Next, For example, the sodium pump maintains conduction and contraction in muscle and nerve tissues.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(water, chloride, and urea) pass easily through a membrane while larger molecules — continued. First, Functions of Water The function of water in our bodies is multi-faceted. Next, Water provides the base needed for cellular metabolism, and remains constant in its physical and chemical properties throughout the intracellular and extracellular fluid spaces. Next, The solvency of water allows dissolution of solutes utilized in cell function. Next, Some of the functional duties of water include: transportation of nutrients to and from cells, assisting with temperature regulation, and aiding in digestive and excretory processes. Next, Filtration is the fourth mechanism whereby water and dissolved solute pass through a semi permeable membrane.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(water, chloride, and urea) pass easily through a membrane while larger molecules — continued. First, Movement is from an area of high pressure to that of a low pressure. Next, This force is called capillary or hydrostatic pressure. Next, The pumping action of the heart is the energy behind filtration. Next, Large molecules, such as albumin, are known as colloids. Next, Selective retention of these molecules is accomplished to reduce water and solute concentration in the intravascular (plasma) fluid compartment.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(water, chloride, and urea) pass easily through a membrane while larger molecules — continued. First, The interaction of the plasma albumin and hydrostatic pressure determine the movement of extracellular fluid between the interstitial and intravascular compartments. Next, Fluid Regulation The organs responsible for modulation of fluid and electrolyte balance are the lungs and skin. Next, The lungs through the process of respiration and the skin through the process of perspiration release significant amounts of water and small amounts of electrolytes. Next, These are known as insensible losses. Next, External factors such as fever or a hot climate can affect these significantly, and must be considered in fluid output determinations.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extracellular fluid by regulating the following:. First, The kidneys are the primary modulators of fluid and electrolyte balance. Next, They control the * Concentration of specific electrolytes * Volume of extracellular fluid. Next, * Blood volume * Blood pH The kidneys maintain volume and concentration of urine through the control of water output. Next, The heart and blood vessels supply the kidney with significant volume making possible the regulatory process of the kidney by perfusing them with blood. Next, 1/4 of cardiac output per heartbeat is used to perfuse the kidney.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extracellular fluid by regulating the following: — continued. First, The pituitary gland releases an anti-diuretic hormone (ADH), which prevents the body from losing water by increasing renal re-absorption. Next, ADH release is stimulated by increased osmolality (particle concentration), extracellular fluid volume depletion (dehydration), and stress. Next, The average adult requires approximately 2500cc of fluid a day, the minimal requirements are 1500cc. Next, An adult in good condition can survive for approximately 10 days without water, a child 5 days. Next, Adrenal Cortical Hormones These hormones conserve sodium and chloride, excretes potassium, and enhances water re-absorption in the distal renal tubules.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extracellular fluid by regulating the following: — continued. First, Aldosterone completes this process by increasing the re-absorption of sodium, and along with it, water, while decreasing the reabsorption of potassium through the renal tubules. Next, The adrenal cortex increases secretion of aldosterone. Next, Whenever extracellular sodium decreases, stress tends to cause the kidneys to retain sodium and excrete potassium. Next, This results in many stress- related electrolyte imbalances seen in patients. Next, GI Tract The GI tract absorbs fluid through the process of dietary intake, absorbing approximately 7-9 liters of GI tract secretions per day, thereby replenishing the losses from excretion by the kidneys, skin, and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extracellular fluid by regulating the following: — continued. First, respiratory tract. Next, Thirst This mechanism regulates water intake by stimulating the Hypothalamus in the brain. Next, An increase in body osmolality stimulates the osmo-receptors in the Hypothalamus to give the sensation of thirst, and we take a drink.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Disturbances of Osmolality. First, Disturbances indicate a disturbance in water distribution among all fluid compartments and involving all body fluids. Next, Any change in osmolality of one fluid compartment alters and affects all other-compartments: Next, Symptoms of osmolar disturbances are often manifestations of cerebral dysfunction, which may include agitation, confusion, lethargy, and coma. Next, These symptoms occur as a result of cell shrinking (hyper-osmolar state) or cell swelling (hypo-osmolar state). Next, Imbalances occur as a result of a change in solute (particle) and/or water concentration in a fluid compartment thereby leading to a change from an is-osmolar state.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Disturbances of Osmolality — continued. First, Hyper-osmolar Imbalances This imbalance occurs as a result of water deficiency or extracellular solute overload. Next, In water deficit, the amount of solutes is normal but they are dissolved in too little fluid. Next, In solute excess, there are too many particles per unit of water. Next, Either situation will cause cell shrinkage and dehydration. Next, Significant causes of water deficit include: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Disturbances of Osmolality — continued. First, Decreased Water Intake Increased Water Output *Impaired Thirst (cerebral injury) *Emesis *Coma or severe confusion *Fever (severe diaphoresis) *Difficulty in swallowing *Diarrhea *Unavailability of water *Diabetic Next, Insipidus *Overload of hypertonic solutions *Overload of protein, salt or glucose * Excessive gastric feedings Nursing Interventions * Correct the cause *Replace volume before electrolytes *Replace water *Monitor vital Next, signs frequently *Note the lab values of sodium and hemoglobin *Preserve skin and mucous membrane integrity *Assess and prevent the complications of dehydration to include: Next, fever, shock, renal failure, and coma *Note blood sugar alterations when administering dextrose based solutions *Monitor intake and output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Hypo-Osmolar Imbalances. First, This imbalance occurs from either a water excess or solute deficit. Next, In water excess, the amount of solutes remains normal, but they are dissolved in too much water. Next, In solute deficit, there are too few particles in solution per unit of water. Next, Both situations will cause the cell to swell. Next, Water Excess *Excess intake * Inability to excrete due to renal disease *Brain injury * Administration of multiple tap water enemas (hypotonic solution) Solute Deficit *Poor Sodium intake Diet Diuretics *Replacement of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Hypo-Osmolar Imbalances — continued. First, water and sodium losses with water only Nursing Interventions *Monitor intake and output *Restrict fluid intake if ADH over secretion is suspect * Administer hypotonic solutions cautiously *No tap water enemas *Daily Next, weight *Replace losses of both sodium and water * Avoid the use of plain water for irrigation Isotonic Disturbances When sodium and water increase or decrease proportionately equal to the extracellular fluid (ECF), this Next, imbalance can occur. Next, When Sodium is retained so is water and the volume of the extracellular compartment increases. Next, Fluctuations in the ECF characterize isotonic volume imbalances.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Hypo-Osmolar Imbalances — continued. First, An increase in the ECF can result in edema and circulatory overload, while a decrease can result in circulatory collapse and shock. Next, Since osmolality remains unchanged the cells neither swell nor shrink. Next, ECF Volume Depletion *Vomiting *Diarrhea *Hemorrhage *Burns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*Fever. First, *Excessive Drainage *Decreased Aldosterone Production Nursing Intervention *Assess for symptoms of hypovolemia *Control the underlying cause Any delay in intervening for severe extracellular volume depletion can lead to Next, shock and renal failure. Next, ECF Volume Excess * Administration of large amounts of saline over a short period of time *Failure; Next, cardiac, renal, or liver *Patient's receiving corticosteroids, which may cause water and sodium retention Nursing Intervention * Administration of diuretics *Restriction of sodium *Daily weights *Strict intake and output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*Fever — continued. First, Signs of circulatory overload include: Next, bounding pulse, pulmonary edema, engorgement of peripheral veins, hypertension, peripheral edema, and weight gain.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Serum Electrolytes. First, Sodium (Nat) Sodium is the most frequent cation in the extracellular fluid compartment. Next, Normal for a male approximately 145lbs is 2700-3000 mEq. Next, The normal concentration of sodium is 136-145 mEg/l. Next, It supplies 90% of the total body cations. Next, Sodium performs the following vital functions: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Serum Electrolytes — continued. First, *Maintains plasma volume regulating the size of the vascular space *Regulates the ECF compartment volume *Aids in conduction of nerve impulses *Controls the osmotic equilibrium between the ICF and the ECF and thereby the Next, distribution of body water *Helps with muscle contractility, especially the heart * Assists in the maintenance of neuromuscular irritability Daily sodium requirements are approximately 4.5gm. Next, A normal diet will satisfy daily needs. Next, Deficit (Hyponatremia) Hyponatremia refers to the amount of sodium the extracellular compartment contains compared to the amount of water. Next, Dilutional Hyponatremia - Usually occurs with the expansion of total body water, as in renal failure and congestive heart failure.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Serum Electrolytes — continued. First, Water restriction is one means of treatment. Next, In this condition there is increased total body sodium even though serum levels are low because the body retains greater amounts of water. Next, Saline is given only if severe symptoms occur. Next, Water Intoxication - Usually occurs when a patient takes an abnormal amount of water, regardless of excretion. Next, In its severity, symptoms include: confusion, muscle twitching, or seizures.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Serum Electrolytes — continued. First, Restricting water intake is one means of treatment. Next, Do not give hypertonic saline. Next, In rare instances 3% or 5% saline has been given in an effort to control and restore a non-symptomatic state, not to replace sodium. Next, This treatment is very dangerous and can lead to circulatory overload. Next, The patient must be monitored closely.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Serum Electrolytes — continued. First, True Hyponatremia - Usually occurs secondary to a loss of sodium, such as diarrhea, vomiting, renal disorders, and or adrenal insufficiency. Next, The symptomatology reflected in this condition includes: the loss of skin turgor, tachycardia, hypotension, azotemia, and oliguria. Next, These are typical of low ECF volume and make diagnosis easy.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combined totals of insensible losses and output.. First, SIADH (Syndrome of inappropriate secretion of ADH) - Usually occurs due to cerebral disorders, lung disorders, malignant tumors, and cirrhosis. Next, This is a dilutional problem secondary to water retention with an uncontrolled ADH effect on the renal tubule. Next, After the serum sodium had returned to normal, water should be given in an amount equal to the combined totals of insensible losses and output. Next, Starvation Hyponatremia - Usually occurs in patients with cancer, dieters, and those deprived of food for long periods of time. Next, Patients with chronic disease may not show clinical signs of dehydration, but their sodium levels should be low.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combined totals of insensible losses and output. — continued. First, This is usually the result of starvation. Next, Treatment is geared towards improving the nutritional status. Next, Excess (Hypernatremia) When the amount of water loss exceeds sodium losses, or when water intake is insufficient hypernatremia can occur. Next, The hyper-osmolar state that occurs can be critical. Next, The cause is excessive water loss and accompanies cellular and extracellular dehydration.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combined totals of insensible losses and output. — continued. First, For example, diarrhea, profuse sweating, and high protein tube feedings. Next, Water is drawn out of the intracellular fluid compartment and results in excess sodium and insufficient water in both compartments. Next, This condition should be considered in any situation where the patient cannot ask for water; tracheobronchitis, or infants with sever diarrhea. Next, Salt intoxication - This occurs when significant amounts of sodium are added to the ECF in a short period of time. Next, There is an outpouring of water into the interstitial and vascular compartments, which may result in convulsions or pulmonary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combined totals of insensible losses and output. — continued. First, The clinical signs may present as flushed skin, intense thirst, and dry mucus membranes. Next, However, tissues usually remain firm due to excess water. Next, The patient may present with fever, oliguria, anuria, and agitation. Next, The treatment is the administration of salt free solutions hypotonic infusion). Next, Potassium is the most frequent cation in the intracellular fluid compartment.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combined totals of insensible losses and output. — continued. First, Normal values for a male 1451bs. Next, are 3500 mEq. Next, Although found in all fluid compartments, the ICF contains 98% of all body potassium. Next, The normal concentration is 3.5-5.0 mEg/L. Next, Potassium performs the following vital functions: *Regulates osmolality of the ICF.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combined totals of insensible losses and output. — continued. First, *Necessary for cellular metabolism and growth *Helps conduct nerve impulses *Helps in the function of skeletal, cardiac, and smooth muscle contraction Daily potassium requirements are 40 mEq. Next, A normal diet will generally meet these requirements. Next, 80-90% of ingested potassium will generally be excreted via the urine, while 10-20% via the GI tract. Next, Aldosterone acts on both the kidney and the GI tract to retain sodium and excrete potassium in maintaining balance in the body.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29;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deficit (Hypokalemia). First, The kidney functions to preserve sodium while excreting potassium, even when both are at low levels. Next, Because the kidney prefers to conserve sodium under the influence of aldosterone, the following clinical picture may be seen: Next, *Cushing's syndrome (Hyperaldosteronism) - Both may stimulate potassium/sodium exchange in the kidney. Next, *Renal disease - Increases urinary potassium loss by either accelerated losses, or defective re-absorption. Next, *Congestive heart failure - Increases aldosterone levels.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deficit (Hypokalemia) — continued. First, *Prolonged vomiting - Loss of K+ enriched fluid and metabolic alkalosis, with K+ enriched fluid. Next, *Diarrhea - loss of kt enriched fluid. Next, *Diuretics - Stimulate the loss of K+(Lasix, Diamox, and Edecrin). Next, K+ depletion can occur in both fluid compartments. Next, In ICF deficit, plasma levels may remain deceptively high prior to dropping to true levels accurately reflecting the condition.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deficit (Hypokalemia) — continued. First, Acute shortages may be tolerated. Next, However, long-term potassium deficits affect the kidneys and the heart. Next, Profound deficits can cause ventricular fibrillation and cardiac arrest. Next, A digitalized patient with low potassium can have fatal arrhythmias and death may ensue. Next, Alkalosis usually occurs with hypokalemia.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deficit (Hypokalemia) — continued. First, As the plasma level of potassium falls, the kidney excretes hydrogen ions in place of potassium to sustain the electromechanical needs of the body. Next, However, in the alkalosis state, the kidneys will attempt to conserve hydrogen and excrete potassium. Next, A low or high potassium level will lead to the same neuromuscular effects. Next, The treatment of choice is the administration of potassium supplements. Next, Usually oral supplements will take care of the problem.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deficit (Hypokalemia) — continued. First, However, if the symptoms are severe intravenous potassium can be given. Next, Intravenous potassium should be given slowly (10 mEq/hr). Next, Never administer any electrolytes by the I.M. Next, or S.Q. Next, route.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deficit (Hypokalemia) — continued. First, If infusing potassium, be aware of chemical phlebitis due to the irritation from the potassium in solution. Next, Be attuned to patient complaints. Next, The pharmacy may have suggestions or additives to lessen the irritation caused by the potassium infusing. Next, Frequent I.V. Next, site care is recommended.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Potassium deficit (Hypokalemia) — continued. First, Potassium Excess (Hyperkalemia) There are three major causes of this imbalance: 1. Next, Retention of Potassium - Most commonly seen in people with renal failure, postoperative reduced urine output, and those with adrenocortical insufficiency. Next, Excessive Release of Potassium from the Cells - Most commonly seen in people with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problem, then the loss is severe.. First, serious burns, traumatic injuries, acidosis, or infection. Next, If renal failure is a secondary 3. Next, Excessive Potassium containing Intravenous Infusions - Most commonly seen in persons receiving infusion therapy containing potassium, especially if the infusion is rapid. Next, This can occur in individuals with normal renal function. Next, K+ balance has its most profound effect on the cardiac and neuromuscular systems.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problem, then the loss is severe. — continued. First, When your level of potassium is elevated, expect to see EKG changes which may include; a prolonged PR interval, widened QRS, ST segment depression, and a tall widened T wave. Next, Seriously elevated K+ levels constitute an emergency. Next, Cardiac arrest may be imminent. Next, The following are the clinical symptoms that may be noted in the presence of Hyperkalemia: *Weakness, nausea, malaise, diarrhea, muscle irritability, flaccid paralysis, and EKG changes. Next, At risk are those patients with K+ levels over 6.0 mEq/L.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problem, then the loss is severe. — continued. First, EKG should be monitored, protein and potassium should be restricted, and fluids encouraged to increase the urinary output. Next, Calcium (Cat) Imbalances in the serum calcium level are true medical emergencies. Next, Calcium is found primarily in the bone (99%). Next, Only a fraction is allotted to the blood plasma. Next, The normal serum calcium is 8.9 - 10.3 mEq/L.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problem, then the loss is severe. — continued. First, Prolonged deficiency of calcium can lead to Rickets, Osteoporosis, or Osteomalacia. Next, Calcium performs the following vital functions: Next, *Promotes normal muscular contractility *Promotes normal neuromuscular irritability * Assists with the transmission of nerve impulses *Essential to blood clotting *Essential in the secretion of many hormones *Essential Next, building block of bones and teeth *Strengthens capillary membranes The daily calcium requirement in a normal adult is approximately 0.8 gm. Next, This need is increased in pregnancy and lactation.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problem, then the loss is severe. — continued. First, Daily needs can usually be met by a normal diet, mainly through the milk and dairy food group. Next, Approximately 1/3 is supplied through the vegetable and fruit group. Next, Absorption is dependent upon the presence of vitamin D, controlled by the parathyroid gland. Next, Excretion is accomplished via the urine and feces.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Under normal conditions calcium and phosphorous vary inversely. Serum calcium is. First, controlled by the parathyroid hormone (PTH). Next, The release of PTH is dependent upon the serum level of calcium. Next, Calcium Deficit (Hypocalcaemia) is relatively rare. Next, The following can cause serum calcium deficit: *Excessive loss such as from acute Pancreatitis, diarrhea, renal disorders, and Hypoparathyroid. Next, * Post operative thyroidectomy where the parathyroid tissue has been accidentally removed.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Under normal conditions calcium and phosphorous vary inversely. Serum calcium is — continued. First, *During pregnancy and lactation when requirements are greater and dietary intake is poor. Next, * Inadequate levels of vitamin D. Next, *During alkalosis. Next, *Chronic use of laxatives. Next, The following symptoms of hypocalcaemia may be noted: *Twitching, carpopedal spasms, perioral parathesias, Tetany, seizures, and cardiac dysrythmias.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Under normal conditions calcium and phosphorous vary inversely. Serum calcium is — continued. First, Patients receiving hemodialysis or hyperalimentation are at risk for depletion and need routine testing as part of their medical management. Next, Hypocalcemia produces increased neuromuscular irritability, leading to Tetany. Next, The following symptoms may be present: *Tingling and numbness of the fingers, painful muscle spasms, facial spasms, grimacing, fatigue, laryngospasm, positive Trousseau's sign and Chvostek's sign, and convulsions. Next, There may be EKG changes, palpitations, and dysrythmias. Next, Trousseau's Sign - This is an important test for the diagnosis of latent Tetany.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Under normal conditions calcium and phosphorous vary inversely. Serum calcium is — continued. First, To do this test, inflate the blood pressure cuff on the patient's arm of 1-5 minutes. Next, Create enough pressure to stop the venous circulation, not the arterial flow. Next, Carpal spasm (contraction of the hands and fingers), signals increase of neuromuscular irritability. Next, A positive test indicates hypocalcemia. Next, Chvostek's Sign - This test is used in the diagnosis of latent Tetany.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Under normal conditions calcium and phosphorous vary inversely. Serum calcium is — continued. First, Tap with your finger the area just below the temple where the facial nerve emerges. Next, A momentary contraction of the lip, nose, or side of the face indicates a positive sign. Next, A positive sign indicates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 hypocalcemia.. First, hyperirritability of the facial nerve, which is a strong sign of latent developing Tetany due The treatment for the acute hypocalcemic patient requires the intravenous administration of calcium, usually in the form of Next, Calcium Gluconate. Next, The dose is 10-20 ml. Next, of a 10% solution. Next, Saline is not used to administer calcium as sodium can stimulate loss ofcalcium.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 hypocalcemia. — continued. First, Calcium will precipitate if mixed with bicarbonate. Next, In chronic hypocalcemia the patient is maintained on oral supplements of calcium given with vitamin D. Next, This oral dosage ranges from 1.5-3 Day/day. Next, This is known as the elemental dose of calcium. Next, Vitamin D is available in an I.M.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 hypocalcemia. — continued. First, form. Next, High doses of vitamin D may be used to treat Tetany in the hypo parathyroid patient. Next, The treatment in mild cases may be to supplement only vitamin D in a multi-vitamin supplement. Next, Calcium excess (Hypercalcemia) High serum calcium depresses neuromuscular irritability. Next, Over activity of the parathyroid glands is a common cause.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 hypocalcemia. — continued. First, Other causes include: * Decreased renal excretion due to renal failure. Next, *Movement of the calcium from bone to serum, seen in neoplastic disorders, metastatic disorders, and multiple myeloma. Next, Immobility can cause this as well. Next, *Excessive administration or oral intake of calcium. Next, *Excessive administration or oral intake of vitamin 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 hypocalcemia. — continued. First, * Administration of the thiazide diuretics, which decrease the urinary elimination of calcium. Next, *Individuals who drink large amounts of milk daily and take various alkaline medications may develop hypercalcemia, which is referred to as milk-alkali syndrome. Next, The goals of treatment are to eliminate the cause and increase renal excretion of calcium. Next, It is therefore imperative that the underlying cause be treated. Next, In susceptible individuals the intake of calcium and phosphorous should be limited (renal failure).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 hypocalcemia. — continued. First, Hydration with saline solutions helps rid the body of calcium as sodium inhibits tubular re-absorption of calcium. Next, Treatment may also include the administration of phosphate supplements to enhance calcium deposition into bone and soft tissue and reduce reabsorption of calcium by the intestines. Next, Magnesium (Mgt+) Predominantly an intracellular cation, 70% of magnesium is combined with calcium and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*Promotes the regulation of blood phosphorous level, potassium, and calcium.. First, phosphorous in the bones, while 30% is distributed in the soft tissues and body fluids. Next, Normal concentration of magnesium in the ECF is approximately 1.5-2.5 mEq/L. Next, Magnesium performs the following functions: *Essential for the integrity of the neuromuscular system. Next, *Promotes the regulation of blood phosphorous level, potassium, and calcium. Next, *Activates enzyme reactions in the metabolism of carbohydrates.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*Promotes the regulation of blood phosphorous level, potassium, and calcium. — continued. First, Daily requirements are usually abundant in an individuals' diet, as it is abundant in food. Next, In an adult 200-300 MG/D are required. Next, About 45% of ingested magnesium is absorbed and the remainder is excreted via the stool. Next, Factors inhibiting the absorption of magnesium include: excess fat, phosphates, calcium, and a state of alkalosis. Next, The parathyroid hormone (PTH) stimulates the increased absorption of magnesium by the intestinal tract.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*Promotes the regulation of blood phosphorous level, potassium, and calcium. — continued. First, The excretion is also accomplished via the renal system. Next, However, this will vary according to the body's needs and renal function. Next, Magnesium Deficit (Hypomagnesemia) The majority of magnesium imbalances are usually in the deficit state. Next, Magnesium is essential to neuromuscular integration. Next, Deficits can produce increased neuromuscular irritability, convulsions, and behavioral changes similar to hypocalcemia.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*Promotes the regulation of blood phosphorous level, potassium, and calcium. — continued. First, Deficits caused by the absence of magnesium additives to infusions can be easily rectified by the addition of 3-5 mEq of magnesium per liter. Next, However, deficiencies can also occur due to severe mal-absorption, prolonged nasogastric tube suctioning, diabetic acidosis, acute Pancreatitis, chronic alcoholism, and diuretic therapy. Next, The following symptoms may be characterized by neuromuscular and central nervous system hyperactivity. Next, It may be manifested by muscle tremors, Tetany, convulsions, or delirium. Next, Hypomagnesemia may be difficult to diagnose based on symptoms alone, as a deficit in magnesium may present similarly to hypocalcemia.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*Promotes the regulation of blood phosphorous level, potassium, and calcium. — continued. First, It is common to have deficits if both occur simultaneously. Next, Serum levels of magnesium may prove to be the best diagnostic tool. Next, Treatment consists of intravenous administration if the level is critical. Next, The oral route is safer but slower. Next, The most common replacement is magnesium sulfate.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*Promotes the regulation of blood phosphorous level, potassium, and calcium. — continued. First, The injection route, if chosen, is very painful and must be given as a deep I.M. Next, injection, or I.V. Next, Magnesium Excess (Hypermagnesemia) The following may cause hypermagnesemia: *Overuse of magnesium containing antacids 34•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*Overdose of magnesium during replacement therapy. First, *Renal insufficiency *Severe dehydration, resulting in oliguria and retention of magnesium *Multiple enemas with Magnesium Sulfate (Epsom Salts). Next, A pronounced reduction in neuromuscular irritability is a main physiologic change. Next, As the level becomes greater than 7mEq common manifestations may include: hypotension, a sensation of warmth throughout the body, drowsiness, possible coma, depressed respirations, and cardiac dysrythmias. Next, The goal of treatment is to treat the underlying cause and prevent the toxicity associated with magnesium excess. Next, For those patients with renal failure, peritoneal or hemodialysis is the treatment of choice.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*Overdose of magnesium during replacement therapy — continued. First, Fluids are administered to the dehydrated patient, and to increase urinary output. Next, Any medications or compounds containing magnesium are with held. Next, Chloride (CI-) The first measurable electrolyte was chloride. Next, It accounts for 2/3 of the anions in the blood. Next, It is mainly used to evaluate and identify acid-base imbalances.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*Overdose of magnesium during replacement therapy — continued. First, Changes in serum chloride alone rarely cause clinical problems. Next, Imbalances usually accompany imbalances in the sodium and potassium levels as well. Next, Chloride serves to maintain water balance, osmotic pressure, and ECF cation and anion balance (sodium with Chloride). Next, The total cations must equal the total anions, therefore as chloride decreases bicarbonate will increase to equalize. Next, Chloride Deficit A deficiency in chloride may lead to alkalosis reflected as hyper excitability of the nervous system, especially the peripheral nerves.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*Overdose of magnesium during replacement therapy — continued. First, The clinical signs may present as stupor, deep rapid breathing, and weakness. Next, If the person is taking bicarbonate, Edecrin, Lasix, thiazide diuretics, or IV's of 5% D/W for prolonged periods of time, expect to see a low lab chloride level. Next, Chloride Excess (Hyperchloremia) Hyperchloremia be seen in the dehydrated patient as well as in head injury, primary Hyper Parathyroidism, metabolic acidosis Next, Renal Tubular Acidosis, which may be a sign of Pyelonephritis, and respiratory alkalosis.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*Overdose of magnesium during replacement therapy — continued. First, Individuals taking drugs such as Boric Acid, Ammonium Chloride, Questran, Tanderil, and Butazolidin, may be at risk for chloride excess. Next, Treatment consists of rectifying the underlying cause.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Hydrogen Ion Concentration. First, The concentration of hydrogen ions in our body must remain in balance to maintain good health. Next, The acidity or alkalinity of a solution is determined by the hydrogen ion concentration. Next, A decrease in ions makes the solution alkaline, and an increase makes the solution acidic. Next, Hydrogen exists at a very low concentration (0.00004 mEq/L) as compared with other electrolytes. Next, The body is best able to compensate in fluctuations in hydrogen ions than any other 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Hydrogen Ion Concentration — continued. First, The ion is found in both the ECF and ICF and plays a vital role in the regulation of metabolic and biochemical activities necessary for cellular function. Next, It is necessary for both the functioning of the enzyme system and the binding of oxygen by hemoglobin. Next, The acidity or alkalinity of a particular solution is measured in terms of ph, which is a measurement of the hydrogen ion concentration. Next, A total pH scale from 0-14 with a neutral value of 7 is generally the measurement index. Next, The higher the pH, the lower the hydrogen ion concentration - the more alkaline the solution.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Hydrogen Ion Concentration — continued. First, The lower the ph, the greater number of hydrogen ions. Next, Therefore, a solution with a pH of 3 is acidic and a ph of 11 is alkalotic. Next, The blood pH ranges in the body from 6.8-7.8. Next, This range is compatible with life. Next, However, the normal blood ph is between 7.35 - 7.45.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Hydrogen Ion Concentration — continued. First, The largest number of hydrogen ions (Ht) is released from metabolic processes. Next, The metabolic process that released volatile H+ is the complete metabolism of fat and carbohydrate to oxygen and water. Next, This yields approximately 14,000 mEq of carbonic acid daily. Next, Some of the processes that yield non-volatile Ht are the following: *The incomplete breakdown of carbohydrates and fats to form Lactic Acid, Pyruvic Acid, Acetoacetic Acid, and Citric Acid. Next, *The oxidation of sulfur - containing amino acids to yield sulfuric acid residues.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Hydrogen Ion Concentration — continued. First, *The oxidation of nucleoproteins and phosphoproteins. Next, The Buffer System There are specific compounds of chemical in our ECF that act as "Buffers" against sudden changes in the Ht concentration. Next, These buffers can be seen to function as chemical sponges. Next, The most important buffer present in the ECF is carbonic acid/sodium bicarbonate system. Next, Clinically disturbances in the acid base balance are considered in terms of this buffer system.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Hydrogen Ion Concentration — continued. First, The normal ratio is one part Carbonic Acid to 20 parts of Bicarbonate in the ECF (1:20). Next, The second buffer system to assist in maintaining this balance is the lungs. Next, Carbon Dioxide (CO2) is excreted from the lungs through an increased depth and rate of respirations. Next, The third system is the kidneys whose excretion assists the first two systems.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Hydrogen Ion Concentration — continued. First, As these processes occur the buffer ratio returns to its original value of 1:20. Next, If the three systems do not work and successful compensation does not occur, the result is an acid shift in the pH.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 hypoventilation. Conversely, in alkalosis, there is a deficit of CO2 due to. First, The diagnosis of metabolic acidosis or metabolic alkalosis is usually made from the bicarbonate level in the plasma (24-31 mEq/L). Next, The concentration of Bicarbonate in the plasma is regulated by the kidneys through the acidification or alkalinization of the urine. Next, In respiratory acidosis and alkalosis, the primary changes in carbonic acid are reflected bysecondary changes in bicarbonate. Next, Acidosis is characterized by accumulation of CO2 due to hypoventilation. Next, Conversely, in alkalosis, there is a deficit of CO2 due to hyperventilation.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 hypoventilation. Conversely, in alkalosis, there is a deficit of CO2 due to — continued. First, Acid - Base Deviations Metabolic Respiratory Blood (HCO3) (PCO2) pH Respiratory Alkalosis Respiratory Acidosis Metabolic Alkalosis Metabolic Acidosis Use the following acronym to help you with respiratory and metabolic Next, questions on the exam: Next, ROME: Next, Respiratory Opposite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 hypoventilation. Conversely, in alkalosis, there is a deficit of CO2 due to — continued. First, Metabolic Equal This means, in respiratory disorders the pH is opposite to the CO2 and HCO3, and in metabolic disorders the pH is equal to or moves in the same direction as the CO2 and HCO3. Next, Here's an explanation: • Respiratory acidosis- pH down, CO2 up,HCO3 up • Metabolic acidosis-pH down, CO2 down, HCO3 down • Respiratory alkalosis-pH up, CO2 down, HCO3 down &gt;&gt; Metabolic alkalosis- pH up, CO2 up, HCO3 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There are four primary single disturbances. They are:. First, Simple disturbance of acid-base balance are those in which there is only a single cause. Next, *Respiratory Alkalosis - When excessive CO2 is excreted respiratory alkalosis ensues. Next, The result is a decrease in PCO2, a decrease in H2C03 and a rise in pH, usually results from hyperventilation or over stimulation of the respiratory center of the brain. Next, Over stimulation of the respiratory center of the brain can be caused by diseases of the CNS, fever, intracranial surgery, ASA poisoning, bacteremia, liver disease, and increased ventilation. Next, The most common causes of hyperventilation include: anxiety, high altitude hypoxia, severe exercise, and a poorly adjusted mechanical ventilator.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There are four primary single disturbances. They are: — continued. First, An individual can himself cause respiratory alkalosis or acidosis. Next, Holding your breath can cause acidosis, and alkalosis is caused by voluntary hyperventilation. Next, The most outstanding characteristic of respiratory alkalosis is increased neuromuscular irritability. Next, Symptoms that may be seen are hyper-reflexia, muscle twitching, and a positive Chvostek's sign. Next, Convulsions may occur.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There are four primary single disturbances. They are: — continued. First, If the pH level is above 7.44, hypokalemia may occur if respiratory alkalosis persists for several days. Next, Treatment consists of eliminating the cause. Next, If the patient is anxious, calm their fears. Next, If the cause is ASA poisoning or the patient is suffering from a neurological disorder, the primary condition must be treated. Next, *Respiratory Acidosis - This disturbance is seen when abnormal patterns of respirations cause CO2 retention.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There are four primary single disturbances. They are: — continued. First, The result is an increase in H2CO3 and a decreased pH. Next, This usually develops as a result of obstructed or halted gas exchange, obstructions preventing exhalation, impaired neuromuscular function, or a depressed respiratory center. Next, The most outstanding symptoms are generally cardiopulmonary in nature. Next, Sometimes the only clinical signs are dyspnea on exertion. Next, Other serious symptoms include: *Severity of Dyspnea *Wheezing *Disorientation progressing to coma *Dysrythmias In respiratory acidosis the most important factor is poor ventilation.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There are four primary single disturbances. They are: — continued. First, The goal of treatment is to improve ventilations by controlling and treating the underlying disease. Next, In addition, the imbalances in potassium, pH, chloride, and H20 need to be corrected. Next, Common treatments to improve respiratory efficiency include: antibiotics, postural drainage, broncho-dilators, breathing exercises, inhalation therapy, mechanical ventilators, and monitored oxygen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acidosis, four iatrogenic conditions may occur as a result of therapy: Tetany, CO2. First, If acidosis is severe, and critical Hyperkalemia is present, IV bicarbonate may be administered. Next, Two solutions used in the treatment of Respiratory Acidosis are: Ringers Lactate, and a 0.6 m solution of Sodium Lactate. Next, Secondary conditions may become apparent as a result of intervention. Next, In respiratory acidosis, four iatrogenic conditions may occur as a result of therapy: Tetany, CO2 narcosis, rebound respiratory alkalosis, and metabolic alkalosis. Next, Therefore, appropriate monitoring and safety measures should be followed.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acidosis, four iatrogenic conditions may occur as a result of therapy: Tetany, CO2 — continued. First, *Metabolic Alkalosis - An abnormal rise in plasma bicarbonate or a decrease in plasma Ht concentration followed by a rise in pH is an indication of metabolic alkalosis. Next, Those at risk include patients with intractable vomiting or those with continuous nasogastric suctioning without electrolyte replacement. Next, Both situations result in large losses of HCL - leading to Ht depletion (as in emesis or drainage) and loss of CL-, which stimulates the kidneys to retain HCO3. Next, Metabolic alkalosis due to loss of CL- is called Hypochloremic Alkalosis. Next, The body in an attempt to rectify the situation and restore "balance", compensates in the following manner: *Respiratory Compensation - Hypoventilation conserves CO2, therefore, increasing blood HCO3.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acidosis, four iatrogenic conditions may occur as a result of therapy: Tetany, CO2 — continued. First, As a compensatory response hypoventilation is limited by the body's oxygen need. Next, *Renal Compensation - The kidneys response is to conserve H+ and excrete large amounts of Nat and Kt with the excess HCO3. Next, The result is alkaline urine. Next, Defense mechanisms used by the body to fight metabolic alkalosis are the opposite of those used to defend metabolic acidosis. Next, The manifestations of metabolic alkalosis come from the imbalance itself and the body mechanisms to compensate.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acidosis, four iatrogenic conditions may occur as a result of therapy: Tetany, CO2 — continued. First, The following symptoms may be present: Next, *Belligerence *Irritability *Disorientation *Convulsions *Slow shallow respirations *Periods of apnea Correction of the alkalosis is usually accomplished as follows: Next, * Administration of a ringer's solution of an isotonic solution containing CL- 10mEq/L. Next, *In severe cases, 0.9% of Ammonium Chloride may be administered IV. Next, (Controversial)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39;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*KCL administration may be used to correct the alkalosis.. First, Metabolic Acidosis - When there is an abnormal loss of NAHCO3 or an increase in nonvolatile acid, which exceeds renal capacity, metabolic acidosis is seen. Next, Common factors include: *Over production of metabolic acids as in diabetes, fasting, hyperthyroidism, surgery, infections accompanied by high fever, and trauma. Next, *Excessive ingestion of acids as in ASA poisoning, boric acid ingestion, or ingestion of the following medications: ferrous sulfate, ammonium chloride, or paraldehyde. Next, Renal disease in which there is oliguria. Next, The kidneys are unable to excrete acid loads adequately.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*KCL administration may be used to correct the alkalosis. — continued. First, In some renal disorders there is an increase in the excretion of HCO3. Next, *Abnormal alkali loss through diarrhea or prolonged vomiting will increase the loss of HCO3. Next, Severe tissue anoxia as seen in individuals suffering from pulmonary and cardiac disorders, anemia, and shock, may have anaerobic metabolism producing excessive lactic acid. Next, This results in metabolic acidosis. Next, This in known as Lactic Acidosis, and usually accompanies a poor prognosis.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*KCL administration may be used to correct the alkalosis. — continued. First, Clinical symptoms come from both the primary imbalance and the compensatory reactions of the body. Next, The following may be seen: *Apathy *Disorientation *Weakness *Stupor and Coma *Dysrythmias *Kussmaul's Breathing The following goals are the focus of treatment: 1. Next, Restore blood volume and osmolality through the infusion of isotonic solutions such as Ringers Lactate or Sodium Chloride. Next, Correct the HCO3 deficit by administering NAHCO3 or NA lactate. Next, Prevent Electrolyte imbalance or correct the imbalance.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*KCL administration may be used to correct the alkalosis. — continued. First, Clinical Assessment of Fluid and Electrolyte Disturbances The nurse gathers data assessing fluid balance at the bedside. Next, With this information she can judge the patient's current fluid status, the patient's history, and whether the patient is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can make a critical difference.. First, at risk for imbalances of fluid and electrolytes necessitating monitoring of various labs and intake and output. Next, The primary assessment and continued assessment of the patient Information to be noted in the health history of the patient includes the following: Next, *Recent gain or loss of weight *Unusual or restricted diet *Taking the following medications: Next, Diuretics Laxatives Antacids Glucocorticoids Electrolyte replacements *Diseases of the endocrine or metabolic systems *Problems with incontinence, wound drainage, excessive diaphoresis or vomiting *Unusual Activity While Next, obtaining the patient's history note overall affect, and loc.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can make a critical difference. — continued. First, Any disturbances in mental or physical status may indicate a problem. Next, Although a Physical assessment may identify symptoms of imbalance other factors need to be addressed. Next, These include: Next, *T.P.R *Blood Pressure *Hydration status of mucous membranes and skin *Unusual odors *Thirst (absence or presence) *Body weight *Behavioral changes *Dysrythmias *Neuromuscular function *Sensations of numbness or tingling Next, *GI function *Edema *External jugular vein distention An accurate record of intake and output is a primary indicator of the hydration process.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can make a critical difference. — continued. First, This record should be accurately maintained and documented. Next, Nurses should account for fluid intake as innocuous as that administered with oral medications, as over a period of time this seemingly small amount of fluid can account for 25-35% of the daily fluid intake. Next, Careful documentation is also required in tallying IV fluids given. Next, An accurate record of when and how much solution was hung, and the amount left in the bag at the end of shifts can serve to maintain an accurate and accountable intake record. Next, Rules to follow for the accurate documentation of fluids are as follows: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Measure fluids rather than guess. First, * Educate the patient, significant others, or caregivers on the importance of accurate recording *Consider and record fluid loss from incontinence, (stool and urine) * In draining wounds weigh the saturated dressings Next, *Note level of diaphoresis *If instilling or irrigating, note the amount returned compared to the amount instilled *Note the water volume of ice chips which is generally half the amount of the ice chips Not all patients Next, require strict intake and output, however, an evaluation of every patient should include: Next, *Has the individual had an oral intake of fluid approximating 1500cc/24H? Next, *Has the individual voided at least every 8 hours and how much?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Measure fluids rather than guess — continued. First, *Is the urine concentrated? Next, *Is there fever present? Next, *Is the skin dry with poor turgor? Next, *Is there excessive diaphoresis? Next, *Is there excessive wound drainage?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Measure fluids rather than guess — continued. First, The following diagnostic tests may help confirm diagnosis: *CBC: This value offers an estimate of the Hemoglobin and Hematocrit. Next, lematocrit values will increase with extracellular volume depletior und increase with volume excess. Next, (Normals: Next, men 40-50%, wome 35-45%) *Urinalysis Pertinent observations include: Next, odor, clarity, presence of foam, sedimentation, pH, specific gravity, presence of protein, and Glucose *Electrolytes (Serum) pertinent electrolyte concentrations include: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Measure fluids rather than guess — continued. First, CO2, and HCO3. Next, *Bun (Blood Urea Nitrogen) this value tends to fluctuate with the individual's state of hydration. Next, Diet, however, can alter the results (high protein). Next, Normal range is 8-25. Next, Malnutrition may cause a low bun.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Measure fluids rather than guess — continued. First, *Arterial Arterial Blood Gases - Any deviation in these results denote an acid-base imbalance. Next, Normal range is 7.35-7.45. Next, *EKG An EKG (Electrocardiogram) is a useful tool in denoting imbalances of K, MG, and CA.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42;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Colitis, Diabetes Mellitus, and Diabetes Insipidus, ASA poisoning, burns, hormone. First, Monitor signs and symptoms of fluid deficit in patients with renal dysfunction, Ulcerative imbalances, and cerebral injury. Next, *Monitor for signs and symptoms of fluid overload in patients with Congestive Heart Failure, Acute Renal Insufficiency, cerebral lesions, Adrenal Insufficiency, and Phychogenic Polydipsia. Next, Third Spacing The term "Third Spacing" indicates a shift of fluid, from something as simple as a water blister or the swelling of a sprained ankle, to the serious third spacing that can accompany burns. Next, Third spacing is the shifting of fluid from the vascular space to the interstitial space. Next, This process occurs due to a decrease of plasma proteins, an increase of capillary permeability, or blockage of the lymphatic system.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Colitis, Diabetes Mellitus, and Diabetes Insipidus, ASA poisoning, burns, hormone — continued. First, This can be caused by trauma, disease, or inflammation. Next, Despite the movement of large amounts of fluid, third spacing is essentially invisible. Next, The fluid hides in tissue spaces such as the walls of the bowels, the Omentum and the peritoneum. Next, There are four different mechanisms of pressures that move fluid through the capillary membrane: *Capillary Pressure - Pressure exerting outward from the capillary against the membrane. Next, *Interstitial Fluid Pressure - Pressure exerted inward toward the capillary membrane.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Colitis, Diabetes Mellitus, and Diabetes Insipidus, ASA poisoning, burns, hormone — continued. First, *Plasma Colloid Osmotic Pressure - A pressure that pulls fluid from the interstitial space into the capillaries. Next, *Interstitial Fluid Colloid Osmotic Pressure - that which draws fluid from the capillaries into the third space. Next, The role of the lymphatic system is one of offering an accessory route whereby excesses of interstitial fluid and proteins flow back into vascular space. Next, The structure of the lymph system accommodates large protein molecules. Next, Should this system fail death would ensue within 24 hours.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Colitis, Diabetes Mellitus, and Diabetes Insipidus, ASA poisoning, burns, hormone — continued. First, Third spacing occurs in two phases: *Fluid Loss - Immediately follows trauma or surgery and can last up to 72 hours. Next, The increase in capillary permeability allows proteins to leak out into areas of inflammation and trauma, and therefore fluid shifts from the vascular to the interstitial space. Next, Despite appropriate IV therapy, the fluid does not stay in the vascular compartment and the patient becomes hypovolemic. Next, Symptoms include: *Decrease in blood pressure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The fluid will then be excreted by the kidneys. Extra. First, * Decrease in urine output *Increase in heart rate It is important at this point to increase plasma proteins through the use of products such as albumin: Next, Treatment works towards the prevention of hypovolemia and renal failure. Next, *Fluid Re-absorption - When the trauma and inflammation subside, fluid will shift back into the vascular compartment. Next, The fluid will then be excreted by the kidneys. Next, Extra intravenous fluids administered at this time will cause circulatory overload.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The fluid will then be excreted by the kidneys. Extra — continued. First, Drastic increases in the urn output in this phase as usual. Next, Total fluid output may exceed intake by 3:1. Next, Edema Edema can be moderate to severe (pulmonary edema). Next, Edema is a reflection of sodium retention, resulting in either excessive re-absorption or inadequate elimination. Next, If there is severe fluid loss in the capillary bed, the resulting hypovolemia decreases renal perfusion, therefore stimulating Renin secretion.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The fluid will then be excreted by the kidneys. Extra — continued. First, Renin will trigger the release of aldosterone, which causes the retention of even more sodium and water, and the cycle continues. Next, As more sodium is reabsorbed, less can be secreted and massive amounts of edema can develop. Next, The following signs may be noted on assessment: *Pitting edema *Excessive weight gain (2.2lbs. Next, = one liter of fluid retention) *Increased blood pressure *Shortness of breath *Engorged neck veins Edema is generally evaluated and noted numerically in severity on a scale of 1-4. Next, The larger the number the greater the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The fluid will then be excreted by the kidneys. Extra — continued. First, +1 edema is barely detectable following digital pressure, while +4 edema is deep and may have persistent indentation occurring after digital pressure. Next, This type of edema is referred to as Pitting Edema. Next, In an average adult, up to 10 lbs of edema may go undetectable. Next, Edema can be so severe that no pitting is possible, tight shiny skin is seen instead without any detectable anatomical outlines. Next, The most common edema is that experienced during the menstrual cycle, related to hormones.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The fluid will then be excreted by the kidneys. Extra — continued. First, Edema may be troublesome but not serious. Next, An additional type of edema is due to lack of mobility. Next, Muscles are an important factor in the movement of fluids; therefore the stroke patient may be at risk for edema on the flaccid side of his body. Next, The edema associated with pregnancy is secondary to an increase in circulating blood volume. Next, Certain drugs cause edema; corticosteroids, anti-inflammatorys, and anti-hypertensive agents.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 The fluid will then be excreted by the kidneys. Extra — continued. First, A life threatening edema is pulmonary edema. Next, Patients will present with severe shortness of breath, frothy sputum, rapid pulse, etc. Next, There may be a history of nocturia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44;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 position (upright), IV Morphine, IV Lasix, and Oxygen.. First, and orthopnea. Next, The patient must be treated immediately. Next, Treatment may include; change Edema is usually not serious, and is seen as the bodies attempt to correct a physiologic imbalance. Next, Sodium restriction in selected patients is recommended. Next, If the origin of the edema is cardiac or renal, there are some factors to consider.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 position (upright), IV Morphine, IV Lasix, and Oxygen. — continued. First, Restriction of sodium is mandatory, administration of diuretics, daily weights, and frequent blood pressure checks are recommended. Next, Dehydration is seen in all groups. Next, The two groups in which dehydration is most commonly seen are infants and the elderly. Next, The usual cause of dehydration is from an inadequate intake of water due to the inability to swallow, coma, or the unavailability of water. Next, The process of obligatory losses will continue, regardless of intake.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 position (upright), IV Morphine, IV Lasix, and Oxygen. — continued. First, These include: respiratory losses, urinary losses, and perspiration. Next, The concentration of the ECF rises because these losses are almost pure water. Next, The following are symptoms of water loss: *Dizziness *Weakness *Thirst *Difficulty speaking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45;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following signs of dehydration should be noted in assessment:. First, *Dry skin and mucous membranes *The tongue may be swollen and dry with fissures *Postural hypotension *Fever and weight loss *Thready pulse Laboratory values of note include: Next, increased serum hematocrit, osmolality, and sodium, oliguria, urine sodium &lt; 10 mEq/L. Next, Dehydration can be avoided if you are aware of patients at risk for this complication. Next, Consider the following patients as those at high risk for dehydration: Next, *Intubation and mechanical devices *Extreme debilitate and illness *Burns and massive injuries *Significant wound drainage *Significant drainage from suctioning *Coma *Unavailability of water Predisposing symptoms of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following signs of dehydration should be noted in assessment: — continued. First, dehydration follow are vomiting, diarrhea, fever, fluid shifts, and hyperventilation. Next, Skin turgor can be assessed by the pinch test. Next, Slightly pinch the skin of the forearm. Next, Normally the skin will return to normal and resume its shape immediately. Next, However, if the skin retains the wrinkly for approximately 30 seconds, the patient has poor skin turgor.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following signs of dehydration should be noted in assessment: — continued. First, Perform this test with caution in the elderly patient or the very thin patient. Next, In the treatment of dehydration you must look for the underlying cause and treat it. Next, If an imbalance in the intake and output is suspect, it is your responsibility to show documentation and to clearly document these findings. Next, Circulatory Overload Circulatory overload is a systemic complication of IV therapy but one, which can easily lead to pulmonary edema, and therefore mentioned here.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following signs of dehydration should be noted in assessment: — continued. First, It can be caused by too much IV fluid or fluid delivered too fast. Next, The symptoms are as follows: *Engorged neck veins * Increased respirations *Shortness of breath *Rales *Increase in blood pressure and central venous pressure (CVP) Wide variance between intake and output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46;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call the physician. The patient should be kept warm.. First, Nursing intervention should include slowing the IV rate to "Keep vein open"(KVO). Next, The patient's head should be elevated and oxygen administered. Next, Monitor the vital signs and Special Considerations Pediatrics In the pediatric population IV therapy is a specialized and precise treatment. Next, Points to remember include: *Children are not small adults. Next, *The body water content, compartmental proportions, and homeostatic controls are different.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call the physician. The patient should be kept warm. — continued. First, *Their ICF and ECF are different. Next, *Their maintenance requirements for water and electrolytes are different. Next, *The younger the infant, the smaller his fluid reserves. Next, * A child's life depends upon rapid turnover of water. Next, *Children have a narrow margin of error for fluid retention.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call the physician. The patient should be kept warm. — continued. First, Elderly Good nursing assessment skills in the evaluation of the elderly patient are mandatory. Next, The nurse must: *Distinguish between normal signs of aging and the more severe signs of fluid imbalance. Next, * Know the normal *The chief vulnerabilities of the elderly are fluid and electrolyte imbalance, acidosis and alkalosis. Next, Many elderly can maintain normal fluid balance, if they drink enough fluids. Next, However, many times they do not because: * Lifetime habit of drinking little fluid.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call the physician. The patient should be kept warm. — continued. First, *Purposeful restriction of fluid due to incontinence. Next, *Physical limitations may prevent them from drinking as often as they would like. Next, *Their thirst mechanism may be diminished or absent.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Smith, K. (1980) Fluids and Electrolytes, Churchill Livingstone, New York.. First, Bibliography Plumer, A. Next, (1987) Principles and Practices of Intravenous Therapy, 4th edition, Little, Brown, and Company, Boston. Next, Luckman, J. Next, and Sorenson, K. Next, (1987) Medical-Surgical Nursing: A Psychophysiologic Approach.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Smith, K. (1980) Fluids and Electrolytes, Churchill Livingstone, New York. — continued. First, W.B. Next, Saunders Co., Philadelphia. Next, Glossary Acidosis Blood pH below normal. Next, Acidosis can be either metabolic or respiratory. Next, Aldosterone A hormone secreted from the adrenal cortex.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Smith, K. (1980) Fluids and Electrolytes, Churchill Livingstone, New York. — continued. First, It is instrumental in the regulation of body Sodium and Potassium content. Next, Alkalosis Blood pH above normal, can be respiratory or metabolic. Next, Anion A negatively charged ion (CL-, HCO3-). Next, Anti-diuretic Hormone A hormone secreted from the Posterior Pituitary gland that causes the kidney to immediately conserve water. Next, Base Excess A metabolic (non-respiratory) body disturbance that may be primary or compensatory.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Smith, K. (1980) Fluids and Electrolytes, Churchill Livingstone, New York. — continued. First, It is always positive in metabolic alkalosis and always negative in metabolic acidosis. Next, Cations A positively charged ion (K+, NAt). Next, Dehydration A deficit of body water synonymous with Sodium excess. Next, Electrolyte A substance that is ionized (develops an electrical charge when dissolved in water Fluid Volume Deficit Decreased body fluid volume.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Smith, K. (1980) Fluids and Electrolytes, Churchill Livingstone, New York. — continued. First, Fluid Volume Excess An intravascular increase in body fluid. Next, Homeostasis The ability to restore equilibrium under stress.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 excess of Calcium (CAt) in the blood.. First, Hypercalcemia Hyperchloremia An excess of Chloride (CL-) in the blood. Next, Hyperkalemia An excess of Potassium (K) in the blood. Next, Hypermagnesemia An excess of Magnesium (Mgt) in the blood. Next, Hyperphosphotemia An excess of Phosphate in the blood. Next, Hypocalcemia A low Calcium (CAt) in the blood.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 excess of Calcium (CAt) in the blood. — continued. First, Hypochloremia A low Chloride (CL-) concentration in the blood. Next, Hypokalemia A low Potassium (Kt) concentration in the blood. Next, Hypomagnesemia A low magnesium (MG+) concentration in the blood. Next, Hyponatremia A low Sodium (NAt) concentration in the blood. Next, Hypophosphatemia A low phosphate concentration in the blood.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 excess of Calcium (CAt) in the blood. — continued. First, Insensible Fluid Loss Water lost from the lungs and skin (Invisible respiration) Interstitial Fluid Fluid between the cells. Next, Intracellular Fluid Fluid inside the cells. Next, Intravascular Fluid The fluid portion of blood (Plasma). Next, Ion An electrically charged atom or group of atoms Ketosis A condition in which there is an excessive amount of Ketone bodies in the blood. Next, Kilogram A metric unit of volume equal to 1,000 Grams and roughly 2.2 pounds.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An excess of Calcium (CAt) in the blood. — continued. First, Milliequivalent (mEq) A unit of chemical activity. Next, Osmolality A measure of solute concentration. Next, Osmosis Movement of water molecules from an area of lesser solute concentration to an area of higher solute concentration.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49;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partial pressure of Carbon Dioxide in the arterial blood. First, PaCO2 pH Refers to the Hydrogen ion concentration and measures the acidity or alkalinity of the substance. Next, Plasma The liquid portion of the blood in which the blood cells are suspended. Next, Sensible perspiration Visible perspiration. Next, Specific Gravity The weight of a substance divided by the weight of an equal volume of water.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Calculate 1,000 mL over 8 hours on a pump Next, Calculate 250 mL over 90 minutes using 15 gtt/mL tubing Next, Choose monitoring priorities for fluid deficit and fluid excess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Relate fluid compartments to IV solution effects Next, Isotonic solutions have an effective concentration similar to plasma. Hypotonic solutions promote movement of water into cells. Hypertonic solutions draw water out of cells and require close monitoring. Next, mL/hour equals volume divided by hours. gtt/min equals volume times tubing drop factor divided by minutes.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efc83976cb4f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3cc0b0a0bbc42d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e9f029e7944b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f76aafa67d4b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ac06c25f6a4ad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3b36d5875a546d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DF5AD07-71FD-439F-8E74-3437EF2807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103A788-A3DE-4EB8-8EA0-103FED29F21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FEA7EF-EB4F-445D-962B-3554B23C3DD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052AA7-DF70-48A8-9132-DFFCD179B09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A9F2B9A-9EAD-4C4C-9925-3A76019348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83FA03-7BED-4848-BC1C-45D2005A5E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48BECC-68A0-47B9-A6CD-7782CF59BC9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36ED69-2441-47CE-8E69-C2B55256C8F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5B9C4B-E016-4B00-B7C7-230292AE9A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33B48F-851B-4411-BE93-7F904CBA8F7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92defa85c714821" /><Relationship Type="http://schemas.openxmlformats.org/officeDocument/2006/relationships/slideLayout" Target="/ppt/slideLayouts/slideLayout1.xml" Id="Ra764d8683b7f4169" /><Relationship Type="http://schemas.openxmlformats.org/officeDocument/2006/relationships/slideLayout" Target="/ppt/slideLayouts/slideLayout2.xml" Id="R554d4973f9e44196" /><Relationship Type="http://schemas.openxmlformats.org/officeDocument/2006/relationships/slideLayout" Target="/ppt/slideLayouts/slideLayout3.xml" Id="Refc2272f557f488e" /><Relationship Type="http://schemas.openxmlformats.org/officeDocument/2006/relationships/slideLayout" Target="/ppt/slideLayouts/slideLayout4.xml" Id="Raba48014e41a44d5" /><Relationship Type="http://schemas.openxmlformats.org/officeDocument/2006/relationships/slideLayout" Target="/ppt/slideLayouts/slideLayout5.xml" Id="Ra5748d19479b4f51" /><Relationship Type="http://schemas.openxmlformats.org/officeDocument/2006/relationships/slideLayout" Target="/ppt/slideLayouts/slideLayout6.xml" Id="R55488331b62845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64d8683b7f4169"/>
    <p:sldLayoutId xmlns:r="http://schemas.openxmlformats.org/officeDocument/2006/relationships" id="2147483650" r:id="R554d4973f9e44196"/>
    <p:sldLayoutId xmlns:r="http://schemas.openxmlformats.org/officeDocument/2006/relationships" id="2147483651" r:id="Refc2272f557f488e"/>
    <p:sldLayoutId xmlns:r="http://schemas.openxmlformats.org/officeDocument/2006/relationships" id="2147483652" r:id="Raba48014e41a44d5"/>
    <p:sldLayoutId xmlns:r="http://schemas.openxmlformats.org/officeDocument/2006/relationships" id="2147483653" r:id="Ra5748d19479b4f51"/>
    <p:sldLayoutId xmlns:r="http://schemas.openxmlformats.org/officeDocument/2006/relationships" id="2147483654" r:id="R55488331b62845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3b27ff582b54742" /><Relationship Type="http://schemas.openxmlformats.org/officeDocument/2006/relationships/notesSlide" Target="/ppt/notesSlides/notesSlide1.xml" Id="R302409a2f00848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736f15c4444210" /><Relationship Type="http://schemas.openxmlformats.org/officeDocument/2006/relationships/notesSlide" Target="/ppt/notesSlides/notesSlide2.xml" Id="R9e2f0abac1d444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8815f5ef1034ef6" /><Relationship Type="http://schemas.openxmlformats.org/officeDocument/2006/relationships/notesSlide" Target="/ppt/notesSlides/notesSlide3.xml" Id="Rf6ad3e2eab454c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0fb99deadc14c8a" /><Relationship Type="http://schemas.openxmlformats.org/officeDocument/2006/relationships/notesSlide" Target="/ppt/notesSlides/notesSlide4.xml" Id="R95f7a5dfaff34e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7175563747c42be" /><Relationship Type="http://schemas.openxmlformats.org/officeDocument/2006/relationships/notesSlide" Target="/ppt/notesSlides/notesSlide5.xml" Id="R17ca55f076d14e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9076236f2740e6" /><Relationship Type="http://schemas.openxmlformats.org/officeDocument/2006/relationships/notesSlide" Target="/ppt/notesSlides/notesSlide6.xml" Id="R7037973b74834a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3785d6101e04f9b" /><Relationship Type="http://schemas.openxmlformats.org/officeDocument/2006/relationships/notesSlide" Target="/ppt/notesSlides/notesSlide7.xml" Id="Refeb8131c58f441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e53542667e4964" /><Relationship Type="http://schemas.openxmlformats.org/officeDocument/2006/relationships/notesSlide" Target="/ppt/notesSlides/notesSlide8.xml" Id="R23c5a2b5c6be474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1cfe302dd3d4082" /><Relationship Type="http://schemas.openxmlformats.org/officeDocument/2006/relationships/notesSlide" Target="/ppt/notesSlides/notesSlide9.xml" Id="R70a694f98995456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3f4e7236fc4479d" /><Relationship Type="http://schemas.openxmlformats.org/officeDocument/2006/relationships/notesSlide" Target="/ppt/notesSlides/notesSlide10.xml" Id="R813645ad8c054b8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260cf7c1998345db" /><Relationship Type="http://schemas.openxmlformats.org/officeDocument/2006/relationships/notesSlide" Target="/ppt/notesSlides/notesSlide11.xml" Id="R749627df2064492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37442d2e33f4141" /><Relationship Type="http://schemas.openxmlformats.org/officeDocument/2006/relationships/notesSlide" Target="/ppt/notesSlides/notesSlide12.xml" Id="R7d8899a6e11a406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06d859fabb94dae" /><Relationship Type="http://schemas.openxmlformats.org/officeDocument/2006/relationships/notesSlide" Target="/ppt/notesSlides/notesSlide13.xml" Id="Raf10b297453148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6e58448518c49cf" /><Relationship Type="http://schemas.openxmlformats.org/officeDocument/2006/relationships/notesSlide" Target="/ppt/notesSlides/notesSlide14.xml" Id="R1a6b6d42399741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683296d6f2c4664" /><Relationship Type="http://schemas.openxmlformats.org/officeDocument/2006/relationships/notesSlide" Target="/ppt/notesSlides/notesSlide15.xml" Id="R1994bdad9f2e436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40ddc8421f844a7" /><Relationship Type="http://schemas.openxmlformats.org/officeDocument/2006/relationships/notesSlide" Target="/ppt/notesSlides/notesSlide16.xml" Id="R76ed0981630b408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33f45718bd54f6b" /><Relationship Type="http://schemas.openxmlformats.org/officeDocument/2006/relationships/notesSlide" Target="/ppt/notesSlides/notesSlide17.xml" Id="R455ea00b38d4407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d807e5e18fd43f8" /><Relationship Type="http://schemas.openxmlformats.org/officeDocument/2006/relationships/notesSlide" Target="/ppt/notesSlides/notesSlide18.xml" Id="R10ee7020067e45e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2121046dad14923" /><Relationship Type="http://schemas.openxmlformats.org/officeDocument/2006/relationships/notesSlide" Target="/ppt/notesSlides/notesSlide19.xml" Id="Rd10b40f1ba084e3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791568cfe75480c" /><Relationship Type="http://schemas.openxmlformats.org/officeDocument/2006/relationships/notesSlide" Target="/ppt/notesSlides/notesSlide20.xml" Id="R7c775fb1ebfe407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a9220efd87d45f1" /><Relationship Type="http://schemas.openxmlformats.org/officeDocument/2006/relationships/notesSlide" Target="/ppt/notesSlides/notesSlide21.xml" Id="R3cd7605d95cb4c9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0b7e5d691b94eff" /><Relationship Type="http://schemas.openxmlformats.org/officeDocument/2006/relationships/notesSlide" Target="/ppt/notesSlides/notesSlide22.xml" Id="R474120eec3304b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b6bf53e1cc0469c" /><Relationship Type="http://schemas.openxmlformats.org/officeDocument/2006/relationships/notesSlide" Target="/ppt/notesSlides/notesSlide23.xml" Id="Ra3c8c9267c914e0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ace96a700dc942a1" /><Relationship Type="http://schemas.openxmlformats.org/officeDocument/2006/relationships/notesSlide" Target="/ppt/notesSlides/notesSlide24.xml" Id="R627dbb18e49b494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6c8913f45db4a7b" /><Relationship Type="http://schemas.openxmlformats.org/officeDocument/2006/relationships/notesSlide" Target="/ppt/notesSlides/notesSlide25.xml" Id="R3f4e69d0cfd244f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29d7683117d34cc3" /><Relationship Type="http://schemas.openxmlformats.org/officeDocument/2006/relationships/notesSlide" Target="/ppt/notesSlides/notesSlide26.xml" Id="Re35f20de8b3a45a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c052b78159da439b" /><Relationship Type="http://schemas.openxmlformats.org/officeDocument/2006/relationships/notesSlide" Target="/ppt/notesSlides/notesSlide27.xml" Id="R03141b3f0e8444d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b75b826210843e4" /><Relationship Type="http://schemas.openxmlformats.org/officeDocument/2006/relationships/notesSlide" Target="/ppt/notesSlides/notesSlide28.xml" Id="R2280e9c81b8f4ae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31b6696c9faa4be8" /><Relationship Type="http://schemas.openxmlformats.org/officeDocument/2006/relationships/notesSlide" Target="/ppt/notesSlides/notesSlide29.xml" Id="Rb19a487a2f8d49af"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f2f07925c164a99" /><Relationship Type="http://schemas.openxmlformats.org/officeDocument/2006/relationships/notesSlide" Target="/ppt/notesSlides/notesSlide30.xml" Id="R1ee20ec174f94fb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1a9bbbab8dc94d27" /><Relationship Type="http://schemas.openxmlformats.org/officeDocument/2006/relationships/notesSlide" Target="/ppt/notesSlides/notesSlide31.xml" Id="R5f5ca771c04d4f4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8c7a20162f664da3" /><Relationship Type="http://schemas.openxmlformats.org/officeDocument/2006/relationships/notesSlide" Target="/ppt/notesSlides/notesSlide32.xml" Id="R754ae06c3a5e454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008aaf288a08499c" /><Relationship Type="http://schemas.openxmlformats.org/officeDocument/2006/relationships/notesSlide" Target="/ppt/notesSlides/notesSlide33.xml" Id="R03e7955a8cab466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392d50af789d4377" /><Relationship Type="http://schemas.openxmlformats.org/officeDocument/2006/relationships/notesSlide" Target="/ppt/notesSlides/notesSlide34.xml" Id="R7bc7cd9ab208432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2813950495ec4c0a" /><Relationship Type="http://schemas.openxmlformats.org/officeDocument/2006/relationships/notesSlide" Target="/ppt/notesSlides/notesSlide35.xml" Id="R66140b3cf3ce4d8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7aae8460d0134268" /><Relationship Type="http://schemas.openxmlformats.org/officeDocument/2006/relationships/notesSlide" Target="/ppt/notesSlides/notesSlide36.xml" Id="Rae80ef6edc7a4352"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ded760b5a8f4fd5" /><Relationship Type="http://schemas.openxmlformats.org/officeDocument/2006/relationships/notesSlide" Target="/ppt/notesSlides/notesSlide37.xml" Id="R59058e9b9ac4491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bbda840432ba498e" /><Relationship Type="http://schemas.openxmlformats.org/officeDocument/2006/relationships/notesSlide" Target="/ppt/notesSlides/notesSlide38.xml" Id="R9f1289b081d3472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f631729c7dd742ae" /><Relationship Type="http://schemas.openxmlformats.org/officeDocument/2006/relationships/notesSlide" Target="/ppt/notesSlides/notesSlide39.xml" Id="Rfb59b83f2dc6442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e470016dec8846a3" /><Relationship Type="http://schemas.openxmlformats.org/officeDocument/2006/relationships/notesSlide" Target="/ppt/notesSlides/notesSlide40.xml" Id="R8517f16fb2f9458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2303022b835f4464" /><Relationship Type="http://schemas.openxmlformats.org/officeDocument/2006/relationships/notesSlide" Target="/ppt/notesSlides/notesSlide41.xml" Id="R6d87ae5789c3464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16f7cec898e34909" /><Relationship Type="http://schemas.openxmlformats.org/officeDocument/2006/relationships/notesSlide" Target="/ppt/notesSlides/notesSlide42.xml" Id="R9f7be3092a8a4ed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dc78076cef654985" /><Relationship Type="http://schemas.openxmlformats.org/officeDocument/2006/relationships/notesSlide" Target="/ppt/notesSlides/notesSlide43.xml" Id="Rd78d6e74c0584d94"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3c24afb4d94a481e" /><Relationship Type="http://schemas.openxmlformats.org/officeDocument/2006/relationships/notesSlide" Target="/ppt/notesSlides/notesSlide44.xml" Id="R24dd074065c446f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0d6e579277ad47a0" /><Relationship Type="http://schemas.openxmlformats.org/officeDocument/2006/relationships/notesSlide" Target="/ppt/notesSlides/notesSlide45.xml" Id="R6cbd81e4cbd244de"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332d8977cf346c4" /><Relationship Type="http://schemas.openxmlformats.org/officeDocument/2006/relationships/notesSlide" Target="/ppt/notesSlides/notesSlide46.xml" Id="R007a46026ef0463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a20793df1961499c" /><Relationship Type="http://schemas.openxmlformats.org/officeDocument/2006/relationships/notesSlide" Target="/ppt/notesSlides/notesSlide47.xml" Id="R7f990f467a7243e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c94d6b18d37a4b7c" /><Relationship Type="http://schemas.openxmlformats.org/officeDocument/2006/relationships/notesSlide" Target="/ppt/notesSlides/notesSlide48.xml" Id="R2327f8818b9f4a0b"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4cbf625918304b2f" /><Relationship Type="http://schemas.openxmlformats.org/officeDocument/2006/relationships/notesSlide" Target="/ppt/notesSlides/notesSlide49.xml" Id="R5e71c703e2de429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7870b59658824c2a" /><Relationship Type="http://schemas.openxmlformats.org/officeDocument/2006/relationships/notesSlide" Target="/ppt/notesSlides/notesSlide50.xml" Id="R72463b33a5174d8e"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fe111c0691324224" /><Relationship Type="http://schemas.openxmlformats.org/officeDocument/2006/relationships/notesSlide" Target="/ppt/notesSlides/notesSlide51.xml" Id="Rea82eec4133c46c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9987e92f9ca04fde" /><Relationship Type="http://schemas.openxmlformats.org/officeDocument/2006/relationships/notesSlide" Target="/ppt/notesSlides/notesSlide52.xml" Id="R11a3e9140d114ee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25e7abe1a0e44a82" /><Relationship Type="http://schemas.openxmlformats.org/officeDocument/2006/relationships/notesSlide" Target="/ppt/notesSlides/notesSlide53.xml" Id="Red8adebd6955432a"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b13dd6f502a54909" /><Relationship Type="http://schemas.openxmlformats.org/officeDocument/2006/relationships/notesSlide" Target="/ppt/notesSlides/notesSlide54.xml" Id="R0c75597c81094b8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2be7c0533ead49c3" /><Relationship Type="http://schemas.openxmlformats.org/officeDocument/2006/relationships/notesSlide" Target="/ppt/notesSlides/notesSlide55.xml" Id="Rd4930df7122647d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48a82391e7fb4f34" /><Relationship Type="http://schemas.openxmlformats.org/officeDocument/2006/relationships/notesSlide" Target="/ppt/notesSlides/notesSlide56.xml" Id="Rd1f3b435e9824a0d"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b8af536a9baa46d2" /><Relationship Type="http://schemas.openxmlformats.org/officeDocument/2006/relationships/notesSlide" Target="/ppt/notesSlides/notesSlide57.xml" Id="R00d4848cf9dd47a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cb8f95e8844d4753" /><Relationship Type="http://schemas.openxmlformats.org/officeDocument/2006/relationships/notesSlide" Target="/ppt/notesSlides/notesSlide58.xml" Id="Raba7759f5d8e477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b35a0e85b6b84cc1" /><Relationship Type="http://schemas.openxmlformats.org/officeDocument/2006/relationships/notesSlide" Target="/ppt/notesSlides/notesSlide59.xml" Id="Rbc3f4e22404d496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8f3043363191434e" /><Relationship Type="http://schemas.openxmlformats.org/officeDocument/2006/relationships/notesSlide" Target="/ppt/notesSlides/notesSlide60.xml" Id="R5bef921c7ea4415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20a6a5dfdf3f40ff" /><Relationship Type="http://schemas.openxmlformats.org/officeDocument/2006/relationships/notesSlide" Target="/ppt/notesSlides/notesSlide61.xml" Id="Rfc2d8c3bf1534f4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8726b60590e94931" /><Relationship Type="http://schemas.openxmlformats.org/officeDocument/2006/relationships/notesSlide" Target="/ppt/notesSlides/notesSlide62.xml" Id="R7583c23d1021448c"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2430076c48dd4c75" /><Relationship Type="http://schemas.openxmlformats.org/officeDocument/2006/relationships/notesSlide" Target="/ppt/notesSlides/notesSlide63.xml" Id="R893ebd3e8fc64086"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0849679a67fb4a26" /><Relationship Type="http://schemas.openxmlformats.org/officeDocument/2006/relationships/notesSlide" Target="/ppt/notesSlides/notesSlide64.xml" Id="Rd4a5c5a4265b4ae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a4f76bd148234324" /><Relationship Type="http://schemas.openxmlformats.org/officeDocument/2006/relationships/notesSlide" Target="/ppt/notesSlides/notesSlide65.xml" Id="Racceff43862740a8"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49e67b5d1b5c4094" /><Relationship Type="http://schemas.openxmlformats.org/officeDocument/2006/relationships/notesSlide" Target="/ppt/notesSlides/notesSlide66.xml" Id="Rc9a7f17bb13447f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0b349bedc32f456b" /><Relationship Type="http://schemas.openxmlformats.org/officeDocument/2006/relationships/notesSlide" Target="/ppt/notesSlides/notesSlide67.xml" Id="R8d45740e729e40a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98f7d857bb354e50" /><Relationship Type="http://schemas.openxmlformats.org/officeDocument/2006/relationships/notesSlide" Target="/ppt/notesSlides/notesSlide68.xml" Id="Rc1eebf0a4f984cec"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367409431f674e53" /><Relationship Type="http://schemas.openxmlformats.org/officeDocument/2006/relationships/notesSlide" Target="/ppt/notesSlides/notesSlide69.xml" Id="R646e7bf1450e4e80"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549a0e7ac0024e7f" /><Relationship Type="http://schemas.openxmlformats.org/officeDocument/2006/relationships/notesSlide" Target="/ppt/notesSlides/notesSlide70.xml" Id="R414fc13be688439f"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0f37060599314b79" /><Relationship Type="http://schemas.openxmlformats.org/officeDocument/2006/relationships/notesSlide" Target="/ppt/notesSlides/notesSlide71.xml" Id="Rf46ff65354b947e6"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35c8b3cb38204def" /><Relationship Type="http://schemas.openxmlformats.org/officeDocument/2006/relationships/notesSlide" Target="/ppt/notesSlides/notesSlide72.xml" Id="Re3b0d2f496b9439c"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03e5c8d1f2754e61" /><Relationship Type="http://schemas.openxmlformats.org/officeDocument/2006/relationships/notesSlide" Target="/ppt/notesSlides/notesSlide73.xml" Id="R636081e8cc75490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1a564cd2e6b34da8" /><Relationship Type="http://schemas.openxmlformats.org/officeDocument/2006/relationships/notesSlide" Target="/ppt/notesSlides/notesSlide74.xml" Id="R718021f837324c1e"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8cd889715d6a4f6b" /><Relationship Type="http://schemas.openxmlformats.org/officeDocument/2006/relationships/notesSlide" Target="/ppt/notesSlides/notesSlide75.xml" Id="Rb8d90680f27e4361"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6202a4889cea49d9" /><Relationship Type="http://schemas.openxmlformats.org/officeDocument/2006/relationships/notesSlide" Target="/ppt/notesSlides/notesSlide76.xml" Id="R76b7b1efa2334743"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949ed0e2b838477b" /><Relationship Type="http://schemas.openxmlformats.org/officeDocument/2006/relationships/notesSlide" Target="/ppt/notesSlides/notesSlide77.xml" Id="R903698aeb6d14c16"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e25f547da02043c1" /><Relationship Type="http://schemas.openxmlformats.org/officeDocument/2006/relationships/notesSlide" Target="/ppt/notesSlides/notesSlide78.xml" Id="Ra7825c69150a45e3"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839404d699434ac9" /><Relationship Type="http://schemas.openxmlformats.org/officeDocument/2006/relationships/notesSlide" Target="/ppt/notesSlides/notesSlide79.xml" Id="Ra64148d53a404baf"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2de5297a14694a3d" /><Relationship Type="http://schemas.openxmlformats.org/officeDocument/2006/relationships/notesSlide" Target="/ppt/notesSlides/notesSlide80.xml" Id="Rb831ed53ce884cb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3eedec97cb1f4bf8" /><Relationship Type="http://schemas.openxmlformats.org/officeDocument/2006/relationships/notesSlide" Target="/ppt/notesSlides/notesSlide81.xml" Id="R791e8210dbe1430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1aab36f0fb5646e0" /><Relationship Type="http://schemas.openxmlformats.org/officeDocument/2006/relationships/notesSlide" Target="/ppt/notesSlides/notesSlide82.xml" Id="Rec4f77e9cd5c49e0"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fa876edf85ee419f" /><Relationship Type="http://schemas.openxmlformats.org/officeDocument/2006/relationships/notesSlide" Target="/ppt/notesSlides/notesSlide83.xml" Id="R1a3d887965534032"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409664cdff524c7f" /><Relationship Type="http://schemas.openxmlformats.org/officeDocument/2006/relationships/notesSlide" Target="/ppt/notesSlides/notesSlide84.xml" Id="R79a871526a084a13"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85cc912a5080425c" /><Relationship Type="http://schemas.openxmlformats.org/officeDocument/2006/relationships/notesSlide" Target="/ppt/notesSlides/notesSlide85.xml" Id="R7b85005a321f48b7"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741ce8b90eb64149" /><Relationship Type="http://schemas.openxmlformats.org/officeDocument/2006/relationships/notesSlide" Target="/ppt/notesSlides/notesSlide86.xml" Id="Rb3a9dcd1e26a4c7f"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9f5c6868fc6a4f14" /><Relationship Type="http://schemas.openxmlformats.org/officeDocument/2006/relationships/notesSlide" Target="/ppt/notesSlides/notesSlide87.xml" Id="Rf774eeae000e495c"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db7f4cae29884ec6" /><Relationship Type="http://schemas.openxmlformats.org/officeDocument/2006/relationships/notesSlide" Target="/ppt/notesSlides/notesSlide88.xml" Id="R008ab94f7b71414d"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c2f609439ff64802" /><Relationship Type="http://schemas.openxmlformats.org/officeDocument/2006/relationships/notesSlide" Target="/ppt/notesSlides/notesSlide89.xml" Id="Raddcfeb821544a0b"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c7a49a9f5b074e27" /><Relationship Type="http://schemas.openxmlformats.org/officeDocument/2006/relationships/notesSlide" Target="/ppt/notesSlides/notesSlide90.xml" Id="R8b97173c42ed4721"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d6a0810c90294f41" /><Relationship Type="http://schemas.openxmlformats.org/officeDocument/2006/relationships/notesSlide" Target="/ppt/notesSlides/notesSlide91.xml" Id="Rdf050815b1ad4198"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143f2b1712364944" /><Relationship Type="http://schemas.openxmlformats.org/officeDocument/2006/relationships/notesSlide" Target="/ppt/notesSlides/notesSlide92.xml" Id="R00204a36389d43de"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ca6138763ead4689" /><Relationship Type="http://schemas.openxmlformats.org/officeDocument/2006/relationships/notesSlide" Target="/ppt/notesSlides/notesSlide93.xml" Id="R308977bb3a2a4811"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34ee779d120c4210" /><Relationship Type="http://schemas.openxmlformats.org/officeDocument/2006/relationships/notesSlide" Target="/ppt/notesSlides/notesSlide94.xml" Id="R6bbe264e60ee4127"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b0785e3ee5954bed" /><Relationship Type="http://schemas.openxmlformats.org/officeDocument/2006/relationships/notesSlide" Target="/ppt/notesSlides/notesSlide95.xml" Id="Rdcdace0c3a06422a"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3a9f2c0381f84688" /><Relationship Type="http://schemas.openxmlformats.org/officeDocument/2006/relationships/notesSlide" Target="/ppt/notesSlides/notesSlide96.xml" Id="R7f105d6471ae4a08"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e119742473374238" /><Relationship Type="http://schemas.openxmlformats.org/officeDocument/2006/relationships/notesSlide" Target="/ppt/notesSlides/notesSlide97.xml" Id="R2576ff23a6a246c4"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c4832a1816f3425e" /><Relationship Type="http://schemas.openxmlformats.org/officeDocument/2006/relationships/notesSlide" Target="/ppt/notesSlides/notesSlide98.xml" Id="R9d57e0cf23814df5"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70379617f964415a" /><Relationship Type="http://schemas.openxmlformats.org/officeDocument/2006/relationships/notesSlide" Target="/ppt/notesSlides/notesSlide99.xml" Id="R0256903f25b54976"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4336f2986bfc44a9" /><Relationship Type="http://schemas.openxmlformats.org/officeDocument/2006/relationships/notesSlide" Target="/ppt/notesSlides/notesSlide100.xml" Id="R38104e9496cf4fd6"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f38d58b995a842ed" /><Relationship Type="http://schemas.openxmlformats.org/officeDocument/2006/relationships/notesSlide" Target="/ppt/notesSlides/notesSlide101.xml" Id="Rc55bf4df719f4f04"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c7644cbe7a72418c" /><Relationship Type="http://schemas.openxmlformats.org/officeDocument/2006/relationships/notesSlide" Target="/ppt/notesSlides/notesSlide102.xml" Id="Rb4580d0121e747aa"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9cde81734b2c457e" /><Relationship Type="http://schemas.openxmlformats.org/officeDocument/2006/relationships/notesSlide" Target="/ppt/notesSlides/notesSlide103.xml" Id="R90d12a309ddd4aae"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e2bd46b578694179" /><Relationship Type="http://schemas.openxmlformats.org/officeDocument/2006/relationships/notesSlide" Target="/ppt/notesSlides/notesSlide104.xml" Id="Rd91b9cecd2ba41f6"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537a2c595bae4706" /><Relationship Type="http://schemas.openxmlformats.org/officeDocument/2006/relationships/notesSlide" Target="/ppt/notesSlides/notesSlide105.xml" Id="R66e2480d9cde430f"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75c10e71ae944a96" /><Relationship Type="http://schemas.openxmlformats.org/officeDocument/2006/relationships/notesSlide" Target="/ppt/notesSlides/notesSlide106.xml" Id="Rf9cddbeca903443c"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f40469a2eaff4a9d" /><Relationship Type="http://schemas.openxmlformats.org/officeDocument/2006/relationships/notesSlide" Target="/ppt/notesSlides/notesSlide107.xml" Id="R2a0a08610c534314"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994875955fc14b07" /><Relationship Type="http://schemas.openxmlformats.org/officeDocument/2006/relationships/notesSlide" Target="/ppt/notesSlides/notesSlide108.xml" Id="R8c32304a3a704bd7"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f1685a0e911c4e1e" /><Relationship Type="http://schemas.openxmlformats.org/officeDocument/2006/relationships/notesSlide" Target="/ppt/notesSlides/notesSlide109.xml" Id="R9ca4bb737e194436"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729d693e99994089" /><Relationship Type="http://schemas.openxmlformats.org/officeDocument/2006/relationships/notesSlide" Target="/ppt/notesSlides/notesSlide110.xml" Id="Rf3fe5ca119c24e7d"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cbeffe9ce1f347e5" /><Relationship Type="http://schemas.openxmlformats.org/officeDocument/2006/relationships/notesSlide" Target="/ppt/notesSlides/notesSlide111.xml" Id="R7a9c06e898914626"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faf09d3ad7024f11" /><Relationship Type="http://schemas.openxmlformats.org/officeDocument/2006/relationships/notesSlide" Target="/ppt/notesSlides/notesSlide112.xml" Id="Rd44541fae7ae45da"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b43fa35f31224ac4" /><Relationship Type="http://schemas.openxmlformats.org/officeDocument/2006/relationships/notesSlide" Target="/ppt/notesSlides/notesSlide113.xml" Id="R062eaacab5d24e53"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26613d24bdca417f" /><Relationship Type="http://schemas.openxmlformats.org/officeDocument/2006/relationships/notesSlide" Target="/ppt/notesSlides/notesSlide114.xml" Id="Rf76ea051a4bc4ba8"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9e4f50995a3948e9" /><Relationship Type="http://schemas.openxmlformats.org/officeDocument/2006/relationships/notesSlide" Target="/ppt/notesSlides/notesSlide115.xml" Id="R6283929c73d04715"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64c460d6df674d31" /><Relationship Type="http://schemas.openxmlformats.org/officeDocument/2006/relationships/notesSlide" Target="/ppt/notesSlides/notesSlide116.xml" Id="Rdf9d61c3991d4708"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24125d022a934804" /><Relationship Type="http://schemas.openxmlformats.org/officeDocument/2006/relationships/notesSlide" Target="/ppt/notesSlides/notesSlide117.xml" Id="R44fc503a39a34af9"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69d90b22c33f4db4" /><Relationship Type="http://schemas.openxmlformats.org/officeDocument/2006/relationships/notesSlide" Target="/ppt/notesSlides/notesSlide118.xml" Id="R7c06e6fc910e406f"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7ec352cb7b3d4215" /><Relationship Type="http://schemas.openxmlformats.org/officeDocument/2006/relationships/notesSlide" Target="/ppt/notesSlides/notesSlide119.xml" Id="R50229b0dbb104c10"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bdb885ff741141c0" /><Relationship Type="http://schemas.openxmlformats.org/officeDocument/2006/relationships/notesSlide" Target="/ppt/notesSlides/notesSlide120.xml" Id="R82c721730ede4507"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b5c0ec86f5934ea9" /><Relationship Type="http://schemas.openxmlformats.org/officeDocument/2006/relationships/notesSlide" Target="/ppt/notesSlides/notesSlide121.xml" Id="R5fcd39bb7a0e43df"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f735acc788cb481d" /><Relationship Type="http://schemas.openxmlformats.org/officeDocument/2006/relationships/notesSlide" Target="/ppt/notesSlides/notesSlide122.xml" Id="Ra9d0802d424c41c7"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8c72568851ac4c95" /><Relationship Type="http://schemas.openxmlformats.org/officeDocument/2006/relationships/notesSlide" Target="/ppt/notesSlides/notesSlide123.xml" Id="Rbf2aa604d1704689"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0e55eb08ce8347c4" /><Relationship Type="http://schemas.openxmlformats.org/officeDocument/2006/relationships/notesSlide" Target="/ppt/notesSlides/notesSlide124.xml" Id="R039db755093542e2"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fed462eb8fc5442e" /><Relationship Type="http://schemas.openxmlformats.org/officeDocument/2006/relationships/notesSlide" Target="/ppt/notesSlides/notesSlide125.xml" Id="R9242ad7aefd649a0"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29ec30ea5f48488d" /><Relationship Type="http://schemas.openxmlformats.org/officeDocument/2006/relationships/notesSlide" Target="/ppt/notesSlides/notesSlide126.xml" Id="R22cbaca280944417"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6.xml" Id="Rfe5ce2f86dc7429f" /><Relationship Type="http://schemas.openxmlformats.org/officeDocument/2006/relationships/notesSlide" Target="/ppt/notesSlides/notesSlide127.xml" Id="R5b143095fc524fa4"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6.xml" Id="Rc127eee95de342c7" /><Relationship Type="http://schemas.openxmlformats.org/officeDocument/2006/relationships/notesSlide" Target="/ppt/notesSlides/notesSlide128.xml" Id="Re0308de84e4745b4"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6.xml" Id="Re427b3d9de584707" /><Relationship Type="http://schemas.openxmlformats.org/officeDocument/2006/relationships/notesSlide" Target="/ppt/notesSlides/notesSlide129.xml" Id="R46d3a4a60a354980"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6.xml" Id="Racc6d4f4586a4376" /><Relationship Type="http://schemas.openxmlformats.org/officeDocument/2006/relationships/notesSlide" Target="/ppt/notesSlides/notesSlide130.xml" Id="R589898c6b11d4286"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6.xml" Id="Rf11e049f98134523" /><Relationship Type="http://schemas.openxmlformats.org/officeDocument/2006/relationships/notesSlide" Target="/ppt/notesSlides/notesSlide131.xml" Id="Rc73f9fadbec04d2f"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6.xml" Id="R40c1c82216df40a9" /><Relationship Type="http://schemas.openxmlformats.org/officeDocument/2006/relationships/notesSlide" Target="/ppt/notesSlides/notesSlide132.xml" Id="R13412a985d4e486b"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6.xml" Id="Rc7a5557a772b407b" /><Relationship Type="http://schemas.openxmlformats.org/officeDocument/2006/relationships/notesSlide" Target="/ppt/notesSlides/notesSlide133.xml" Id="R0eaa19726f4f445a"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6.xml" Id="R08f07d3b2d284568" /><Relationship Type="http://schemas.openxmlformats.org/officeDocument/2006/relationships/notesSlide" Target="/ppt/notesSlides/notesSlide134.xml" Id="R99d87710ac85427e"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6.xml" Id="Rc0b997c717a94ba4" /><Relationship Type="http://schemas.openxmlformats.org/officeDocument/2006/relationships/notesSlide" Target="/ppt/notesSlides/notesSlide135.xml" Id="R01e2de6ecbc743a9"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6.xml" Id="R01decc25720b47f0" /><Relationship Type="http://schemas.openxmlformats.org/officeDocument/2006/relationships/notesSlide" Target="/ppt/notesSlides/notesSlide136.xml" Id="R1d8ddb00dbab4fb5"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6.xml" Id="R4966692684a34b87" /><Relationship Type="http://schemas.openxmlformats.org/officeDocument/2006/relationships/notesSlide" Target="/ppt/notesSlides/notesSlide137.xml" Id="Rf200cb8b0d7a4553"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6.xml" Id="Rec26e0c545e743d2" /><Relationship Type="http://schemas.openxmlformats.org/officeDocument/2006/relationships/notesSlide" Target="/ppt/notesSlides/notesSlide138.xml" Id="R2b06b8bded124237"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6.xml" Id="R9dcc0242e66b4e1e" /><Relationship Type="http://schemas.openxmlformats.org/officeDocument/2006/relationships/notesSlide" Target="/ppt/notesSlides/notesSlide139.xml" Id="Rf51aa9731c9b4a8e"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6.xml" Id="R9bdec39923b4475f" /><Relationship Type="http://schemas.openxmlformats.org/officeDocument/2006/relationships/notesSlide" Target="/ppt/notesSlides/notesSlide140.xml" Id="R4ba07de0da7f4dc4"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6.xml" Id="R0c30acb758eb49f3" /><Relationship Type="http://schemas.openxmlformats.org/officeDocument/2006/relationships/notesSlide" Target="/ppt/notesSlides/notesSlide141.xml" Id="Rc7ebc52f42d848b5"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6.xml" Id="R827da631f4864af3" /><Relationship Type="http://schemas.openxmlformats.org/officeDocument/2006/relationships/notesSlide" Target="/ppt/notesSlides/notesSlide142.xml" Id="Rd195baa7819042ff"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6.xml" Id="R8cdb528436574142" /><Relationship Type="http://schemas.openxmlformats.org/officeDocument/2006/relationships/notesSlide" Target="/ppt/notesSlides/notesSlide143.xml" Id="R65aeb27d7b0d44cd"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6.xml" Id="R739af2d1f3e74732" /><Relationship Type="http://schemas.openxmlformats.org/officeDocument/2006/relationships/notesSlide" Target="/ppt/notesSlides/notesSlide144.xml" Id="R8b29ecaafa594b40"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6.xml" Id="R02fd1e055a3547e8" /><Relationship Type="http://schemas.openxmlformats.org/officeDocument/2006/relationships/notesSlide" Target="/ppt/notesSlides/notesSlide145.xml" Id="Rf981a2736c98411d"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6.xml" Id="Rde96eb409f8f4710" /><Relationship Type="http://schemas.openxmlformats.org/officeDocument/2006/relationships/notesSlide" Target="/ppt/notesSlides/notesSlide146.xml" Id="Rc0ed3499608d40c4"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6.xml" Id="R33533b9699db461a" /><Relationship Type="http://schemas.openxmlformats.org/officeDocument/2006/relationships/notesSlide" Target="/ppt/notesSlides/notesSlide147.xml" Id="R9da9fce1c1c54ef6"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6.xml" Id="R8ee73e7ec9504c11" /><Relationship Type="http://schemas.openxmlformats.org/officeDocument/2006/relationships/notesSlide" Target="/ppt/notesSlides/notesSlide148.xml" Id="R6c60784b0b9e4ac1"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6.xml" Id="R7c0577d8d1d24720" /><Relationship Type="http://schemas.openxmlformats.org/officeDocument/2006/relationships/notesSlide" Target="/ppt/notesSlides/notesSlide149.xml" Id="R044b8bbb376f4ef2"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6.xml" Id="Rfb90abf7c0804f48" /><Relationship Type="http://schemas.openxmlformats.org/officeDocument/2006/relationships/notesSlide" Target="/ppt/notesSlides/notesSlide150.xml" Id="Rf5dac8dd8caf48d2"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6.xml" Id="R520628aa247e48b4" /><Relationship Type="http://schemas.openxmlformats.org/officeDocument/2006/relationships/notesSlide" Target="/ppt/notesSlides/notesSlide151.xml" Id="R2bbcdd55266642d7"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6.xml" Id="R43cc3b8a02f24682" /><Relationship Type="http://schemas.openxmlformats.org/officeDocument/2006/relationships/notesSlide" Target="/ppt/notesSlides/notesSlide152.xml" Id="R273d273f227445a3"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6.xml" Id="R5aecbe9d4e6f44e4" /><Relationship Type="http://schemas.openxmlformats.org/officeDocument/2006/relationships/notesSlide" Target="/ppt/notesSlides/notesSlide153.xml" Id="Re64b1bf9842e4961"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6.xml" Id="R7716e6bbc3fc4dbb" /><Relationship Type="http://schemas.openxmlformats.org/officeDocument/2006/relationships/notesSlide" Target="/ppt/notesSlides/notesSlide154.xml" Id="Rd684785901194674"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6.xml" Id="Rd95aeb8e4f7c4526" /><Relationship Type="http://schemas.openxmlformats.org/officeDocument/2006/relationships/notesSlide" Target="/ppt/notesSlides/notesSlide155.xml" Id="R5187434f17af45d4"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6.xml" Id="R7759f33e904c469d" /><Relationship Type="http://schemas.openxmlformats.org/officeDocument/2006/relationships/notesSlide" Target="/ppt/notesSlides/notesSlide156.xml" Id="Rb6e57a8c91c84e5d"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6.xml" Id="R7b98af93e1694cd2" /><Relationship Type="http://schemas.openxmlformats.org/officeDocument/2006/relationships/notesSlide" Target="/ppt/notesSlides/notesSlide157.xml" Id="R62ba1b510f6c4bdd"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6.xml" Id="Rc3f3b67ce6f5446e" /><Relationship Type="http://schemas.openxmlformats.org/officeDocument/2006/relationships/notesSlide" Target="/ppt/notesSlides/notesSlide158.xml" Id="R43a136e07250428c"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6.xml" Id="Rb60cde68b9b74b0f" /><Relationship Type="http://schemas.openxmlformats.org/officeDocument/2006/relationships/notesSlide" Target="/ppt/notesSlides/notesSlide159.xml" Id="Rb3e6f8fe48e240b0"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1B27EBA-9A31-4B95-BC2C-386B3BB0B07E}"/>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8098F48-C26F-4F0F-82B9-78B8EC9DC02D}"/>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FF70F58E-E4DC-4EC7-94A1-5604F54A01B1}"/>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Fluids, Electrolytes, and Calculations</a:t>
            </a:r>
          </a:p>
        </p:txBody>
      </p:sp>
      <p:sp>
        <p:nvSpPr>
          <p:cNvPr id="4" name="">
            <a:extLst xmlns:a="http://schemas.openxmlformats.org/drawingml/2006/main">
              <a:ext uri="{FF2B5EF4-FFF2-40B4-BE49-F238E27FC236}">
                <a16:creationId xmlns:a16="http://schemas.microsoft.com/office/drawing/2014/main" id="{7CE4E249-6A2D-42D6-A10A-1ABA444D4E55}"/>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3  |  30-Hour Basic Intravenous Therapy</a:t>
            </a:r>
          </a:p>
        </p:txBody>
      </p:sp>
      <p:sp>
        <p:nvSpPr>
          <p:cNvPr id="5" name="">
            <a:extLst xmlns:a="http://schemas.openxmlformats.org/drawingml/2006/main">
              <a:ext uri="{FF2B5EF4-FFF2-40B4-BE49-F238E27FC236}">
                <a16:creationId xmlns:a16="http://schemas.microsoft.com/office/drawing/2014/main" id="{DFEA57E3-E813-472B-A1B1-6D970E81E33E}"/>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Comprehensive instructor presentation • full manual coverage</a:t>
            </a:r>
          </a:p>
        </p:txBody>
      </p:sp>
    </p:spTree>
    <p:extLst>
      <p:ext uri="{BB962C8B-B14F-4D97-AF65-F5344CB8AC3E}">
        <p14:creationId xmlns:p14="http://schemas.microsoft.com/office/powerpoint/2010/main" val="175659314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9C0355-FAC8-440D-A040-0C1DCF2D86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F94BBB2-DC62-4EF7-A6F0-09725DD1C42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67BFF6BA-E59B-414A-9B29-CC12F80305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F8A197F-D803-42EF-AF5F-DAB73E8DDC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CF20B70-8F83-41F2-9A1D-4A138E3E092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441299859"/>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4F52917-5A44-425D-8D8C-CF05E1C33C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EC16836-4A92-4462-B482-679B06F2053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3" name="">
            <a:extLst xmlns:a="http://schemas.openxmlformats.org/drawingml/2006/main">
              <a:ext uri="{FF2B5EF4-FFF2-40B4-BE49-F238E27FC236}">
                <a16:creationId xmlns:a16="http://schemas.microsoft.com/office/drawing/2014/main" id="{E72379DA-FDF8-4BF3-87BB-FA478A2AEC1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7A65190-629D-4EDE-A044-9970D7813F0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24B75090-ABB7-421F-817D-9FFD54454E2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6" name="">
            <a:extLst xmlns:a="http://schemas.openxmlformats.org/drawingml/2006/main">
              <a:ext uri="{FF2B5EF4-FFF2-40B4-BE49-F238E27FC236}">
                <a16:creationId xmlns:a16="http://schemas.microsoft.com/office/drawing/2014/main" id="{44F5C359-CA7C-44AE-97F8-63EEC7534C5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6079802"/>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44A605-C28A-49C3-B070-B3C558F28A5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28945E-E983-4603-A957-696237CEA3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625406B4-95BC-4A24-95CE-1D1DCDBCEF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D980B51-9BF2-42AC-9A34-D28A745A851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B8A3B784-0CE3-4B3E-8BBC-278A96AB97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6" name="">
            <a:extLst xmlns:a="http://schemas.openxmlformats.org/drawingml/2006/main">
              <a:ext uri="{FF2B5EF4-FFF2-40B4-BE49-F238E27FC236}">
                <a16:creationId xmlns:a16="http://schemas.microsoft.com/office/drawing/2014/main" id="{609FD29D-F38B-4327-9E8A-90F52119AF1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22188022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0BC52C9-C3B6-4222-9D53-7C30687CE2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417038F-C4D3-485D-94C8-7764D4C220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33ACCAAB-61FB-45C7-AD12-E350E06853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097E7B4-9FC9-4CEF-AA4F-FEBE578F7A4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F76B6DCE-8C9F-4F59-91A7-3EC2D0C6F25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6" name="">
            <a:extLst xmlns:a="http://schemas.openxmlformats.org/drawingml/2006/main">
              <a:ext uri="{FF2B5EF4-FFF2-40B4-BE49-F238E27FC236}">
                <a16:creationId xmlns:a16="http://schemas.microsoft.com/office/drawing/2014/main" id="{CD0C6E4A-CE04-42F4-B178-3300E2A5B8E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05923802"/>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4F1678-B08D-464E-89D2-D3834644286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2253E1-C37C-4012-9F4F-F538E9A052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3" name="">
            <a:extLst xmlns:a="http://schemas.openxmlformats.org/drawingml/2006/main">
              <a:ext uri="{FF2B5EF4-FFF2-40B4-BE49-F238E27FC236}">
                <a16:creationId xmlns:a16="http://schemas.microsoft.com/office/drawing/2014/main" id="{180F17CD-1B37-4246-9DCA-D858883C6C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E9EE3D9-B46E-415A-BDCB-988FCBA5464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F2FEBD94-B017-4BBE-B6E9-E211040C5D6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FBB85619-0FC2-4A0B-B6B5-CDA58B3A3CB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1563172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F8A5CF-037D-418C-B7D2-832D560FA33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DD48685-91C0-41E1-B92E-110C8F9025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 Tonicity, and Electrolyte Balance 1</a:t>
            </a:r>
          </a:p>
        </p:txBody>
      </p:sp>
      <p:sp>
        <p:nvSpPr>
          <p:cNvPr id="3" name="">
            <a:extLst xmlns:a="http://schemas.openxmlformats.org/drawingml/2006/main">
              <a:ext uri="{FF2B5EF4-FFF2-40B4-BE49-F238E27FC236}">
                <a16:creationId xmlns:a16="http://schemas.microsoft.com/office/drawing/2014/main" id="{AC513B66-8167-4BF2-8F68-DE5C2C184B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954ED36-642A-4C84-91B3-5C56455022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D38BDB0C-B53F-4590-88FA-FA6E5E59A61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Body fluid is distributed between intracellular and extracellular compartments; extracellular fluid includes interstitial and intravascular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diffusion moves particles down a concentration gradient, filtration responds to pressure, and active transport uses energy.</a:t>
            </a:r>
          </a:p>
        </p:txBody>
      </p:sp>
      <p:sp>
        <p:nvSpPr>
          <p:cNvPr id="6" name="">
            <a:extLst xmlns:a="http://schemas.openxmlformats.org/drawingml/2006/main">
              <a:ext uri="{FF2B5EF4-FFF2-40B4-BE49-F238E27FC236}">
                <a16:creationId xmlns:a16="http://schemas.microsoft.com/office/drawing/2014/main" id="{825FA44A-E3E5-45A4-9D24-C1159C50D4F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81762977"/>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F868291-5A4A-4854-B06A-4BDDC106A6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299CF5-0C83-42CA-AFF5-499004F0FCE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2C7C6531-225B-4A24-B8A4-95917E3324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1A7246E-315C-4724-9309-FE7B7E5A99C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40F7DB84-5BF5-49D6-B549-E696AB99F4F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Hypotonic solutions promote water movement into cells.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Hypertonic solutions draw water from cells and require close monitoring.</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Solution selection depends on the order, indication, comorbidities, laboratory findings, and current evidence.</a:t>
            </a:r>
          </a:p>
        </p:txBody>
      </p:sp>
      <p:sp>
        <p:nvSpPr>
          <p:cNvPr id="6" name="">
            <a:extLst xmlns:a="http://schemas.openxmlformats.org/drawingml/2006/main">
              <a:ext uri="{FF2B5EF4-FFF2-40B4-BE49-F238E27FC236}">
                <a16:creationId xmlns:a16="http://schemas.microsoft.com/office/drawing/2014/main" id="{4C2CEA2F-7925-4E28-AD7C-799069B2BA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93060299"/>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D77E57-B2FD-4317-8813-60B20A86425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D379119-662C-4581-B1EB-10A85FCCC5F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67BBC1E8-2D5F-4B83-9DAE-579D747B177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64676C8-F0BC-4105-9AC7-6BCABF9D3D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3681F822-3158-4803-A18B-2C6F480711A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Fluid deficit may produce thirst, dry mucosa, tachycardia, orthostatic changes, low urine output, weight loss, or poor skin turgor.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Excess may produce rapid weight gain, edema, jugular venous distention, hypertension, crackles, or dyspnea.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Monitor intake/output, daily weight, cardiopulmonary status, cognition, and relevant labs.</a:t>
            </a:r>
          </a:p>
        </p:txBody>
      </p:sp>
      <p:sp>
        <p:nvSpPr>
          <p:cNvPr id="6" name="">
            <a:extLst xmlns:a="http://schemas.openxmlformats.org/drawingml/2006/main">
              <a:ext uri="{FF2B5EF4-FFF2-40B4-BE49-F238E27FC236}">
                <a16:creationId xmlns:a16="http://schemas.microsoft.com/office/drawing/2014/main" id="{BF68177F-407B-40CA-8F8B-FF687D7D9C4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3339833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947CA3-2D6B-48DC-A8B2-88C499CD13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9FB29B5-3E97-4D4B-A88F-04556E09AD6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Electrolytes</a:t>
            </a:r>
          </a:p>
        </p:txBody>
      </p:sp>
      <p:sp>
        <p:nvSpPr>
          <p:cNvPr id="3" name="">
            <a:extLst xmlns:a="http://schemas.openxmlformats.org/drawingml/2006/main">
              <a:ext uri="{FF2B5EF4-FFF2-40B4-BE49-F238E27FC236}">
                <a16:creationId xmlns:a16="http://schemas.microsoft.com/office/drawing/2014/main" id="{5B31C4DA-2F11-4C92-ABE1-501D8AC82A1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03A259F-D10C-4CF7-866A-680A4FDD9F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4FC71581-889E-4728-A74F-D5809BED7DB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Sodium, potassium, calcium, magnesium, chloride, phosphate, and bicarbonate support neurologic, cardiac, muscular, and acid-base function.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Abnormalities may become life-threatening; report critical results and symptoms immediately.</a:t>
            </a:r>
          </a:p>
        </p:txBody>
      </p:sp>
      <p:sp>
        <p:nvSpPr>
          <p:cNvPr id="6" name="">
            <a:extLst xmlns:a="http://schemas.openxmlformats.org/drawingml/2006/main">
              <a:ext uri="{FF2B5EF4-FFF2-40B4-BE49-F238E27FC236}">
                <a16:creationId xmlns:a16="http://schemas.microsoft.com/office/drawing/2014/main" id="{79E1F7C8-ADB0-49ED-BA75-F446801E16F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83668652"/>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45F410-574E-4289-85B4-DC288449AD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D932CEA-9289-44F7-A163-7FF090076C6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Core formulas</a:t>
            </a:r>
          </a:p>
        </p:txBody>
      </p:sp>
      <p:sp>
        <p:nvSpPr>
          <p:cNvPr id="3" name="">
            <a:extLst xmlns:a="http://schemas.openxmlformats.org/drawingml/2006/main">
              <a:ext uri="{FF2B5EF4-FFF2-40B4-BE49-F238E27FC236}">
                <a16:creationId xmlns:a16="http://schemas.microsoft.com/office/drawing/2014/main" id="{EE583AAB-A919-456B-ACED-4A91D909DD8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02F2FBD-0DBC-414C-953C-09191B2B8B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B4840616-5528-4DDB-91B9-01578E16704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mL/hour = total volume (mL) / time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gtt/min = volume (mL) x drop factor (gtt/mL) / time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Volume to administer = desired dose / dose on hand x volume on hand.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Dose rate problems require units to cancel correctly before programming.</a:t>
            </a:r>
          </a:p>
        </p:txBody>
      </p:sp>
      <p:sp>
        <p:nvSpPr>
          <p:cNvPr id="6" name="">
            <a:extLst xmlns:a="http://schemas.openxmlformats.org/drawingml/2006/main">
              <a:ext uri="{FF2B5EF4-FFF2-40B4-BE49-F238E27FC236}">
                <a16:creationId xmlns:a16="http://schemas.microsoft.com/office/drawing/2014/main" id="{3335EA55-E0EC-49FC-89D8-286FF407C8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777323099"/>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3871642-88EF-4D54-9AAF-B3F173B5A1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4C23097-4260-421F-9B88-10FA9B8286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96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Flow Rates, Dosage Calculations, Pumps, and IV Piggyback 1</a:t>
            </a:r>
          </a:p>
        </p:txBody>
      </p:sp>
      <p:sp>
        <p:nvSpPr>
          <p:cNvPr id="3" name="">
            <a:extLst xmlns:a="http://schemas.openxmlformats.org/drawingml/2006/main">
              <a:ext uri="{FF2B5EF4-FFF2-40B4-BE49-F238E27FC236}">
                <a16:creationId xmlns:a16="http://schemas.microsoft.com/office/drawing/2014/main" id="{9E2E93AD-2499-4ECC-8E70-19BA0CE6590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A043B77-4E0D-45EE-AC32-B50C83C158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79BEC662-4E02-4B06-80EA-82A4E5958E5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Always convert units, label each step, retain clinically appropriate precision, round only at the final step according to device/policy, and check whether the answer is reasonable.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an independent double check when required.</a:t>
            </a:r>
          </a:p>
        </p:txBody>
      </p:sp>
      <p:sp>
        <p:nvSpPr>
          <p:cNvPr id="6" name="">
            <a:extLst xmlns:a="http://schemas.openxmlformats.org/drawingml/2006/main">
              <a:ext uri="{FF2B5EF4-FFF2-40B4-BE49-F238E27FC236}">
                <a16:creationId xmlns:a16="http://schemas.microsoft.com/office/drawing/2014/main" id="{3875C8AF-049E-4A4A-9BD9-343050806B1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21170268"/>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AF2D1B-C8A2-44E5-B010-DC5A5720C7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51822E4-C7D0-4C63-AEC0-20EF3557D8D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Secondary infusion</a:t>
            </a:r>
          </a:p>
        </p:txBody>
      </p:sp>
      <p:sp>
        <p:nvSpPr>
          <p:cNvPr id="3" name="">
            <a:extLst xmlns:a="http://schemas.openxmlformats.org/drawingml/2006/main">
              <a:ext uri="{FF2B5EF4-FFF2-40B4-BE49-F238E27FC236}">
                <a16:creationId xmlns:a16="http://schemas.microsoft.com/office/drawing/2014/main" id="{1B6B45E5-5C94-4A56-AA0B-A8DDFC5370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5E00AC7-E9AE-4BD7-94BB-9DC4061BFA4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941C455A-99FF-41D7-8F08-A5C32A8FDD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order and compatibility, inspect the medication, assess the patient/site, prime and connect aseptically to the correct port, position bags for the device/setup, program primary and secondary settings, open clamps, observe startup, reassess during infusion, restore/verify the primary infusion, flush as ordered, and document.</a:t>
            </a:r>
          </a:p>
        </p:txBody>
      </p:sp>
      <p:sp>
        <p:nvSpPr>
          <p:cNvPr id="6" name="">
            <a:extLst xmlns:a="http://schemas.openxmlformats.org/drawingml/2006/main">
              <a:ext uri="{FF2B5EF4-FFF2-40B4-BE49-F238E27FC236}">
                <a16:creationId xmlns:a16="http://schemas.microsoft.com/office/drawing/2014/main" id="{30F39D5B-3184-48FE-AF75-0C818F6AA52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00177598"/>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06BC9C5-5FB1-4283-962B-586ECFBF9CE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BB3E08F-8AB5-4AD2-95AD-C848A024ABE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Objectives</a:t>
            </a:r>
          </a:p>
        </p:txBody>
      </p:sp>
      <p:sp>
        <p:nvSpPr>
          <p:cNvPr id="3" name="">
            <a:extLst xmlns:a="http://schemas.openxmlformats.org/drawingml/2006/main">
              <a:ext uri="{FF2B5EF4-FFF2-40B4-BE49-F238E27FC236}">
                <a16:creationId xmlns:a16="http://schemas.microsoft.com/office/drawing/2014/main" id="{216409FC-980F-4C22-A745-11480AEBDE7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C90B7C9-9ADB-40DE-B744-7D2E95B5F5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C501A7AD-225F-4946-97B9-6EE51A8D664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Module 3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Describe the chemical composition of blood 2.</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Identify fluid compartments in the body 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Differentiate between isotonic, hypotonic, and hypertonic solutions 4.</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Discuss the functions of water in our body 5.</a:t>
            </a:r>
          </a:p>
        </p:txBody>
      </p:sp>
      <p:sp>
        <p:nvSpPr>
          <p:cNvPr id="6" name="">
            <a:extLst xmlns:a="http://schemas.openxmlformats.org/drawingml/2006/main">
              <a:ext uri="{FF2B5EF4-FFF2-40B4-BE49-F238E27FC236}">
                <a16:creationId xmlns:a16="http://schemas.microsoft.com/office/drawing/2014/main" id="{C688F483-E3FC-44F2-9656-340BA3C035D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019B897-7ADE-43E4-8D22-5D6E1922836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17</a:t>
            </a:r>
          </a:p>
        </p:txBody>
      </p:sp>
    </p:spTree>
    <p:extLst>
      <p:ext uri="{BB962C8B-B14F-4D97-AF65-F5344CB8AC3E}">
        <p14:creationId xmlns:p14="http://schemas.microsoft.com/office/powerpoint/2010/main" val="2040225181"/>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48BAE2-3298-4D16-8593-3DF20406AFF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219572C-0F7E-4C01-8493-555B74D3771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Objectives — continued</a:t>
            </a:r>
          </a:p>
        </p:txBody>
      </p:sp>
      <p:sp>
        <p:nvSpPr>
          <p:cNvPr id="3" name="">
            <a:extLst xmlns:a="http://schemas.openxmlformats.org/drawingml/2006/main">
              <a:ext uri="{FF2B5EF4-FFF2-40B4-BE49-F238E27FC236}">
                <a16:creationId xmlns:a16="http://schemas.microsoft.com/office/drawing/2014/main" id="{BA6231EB-992F-4C18-A090-8B50D2A2EA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FC73FA3-D734-4FD9-8E0D-4DE53DF9AF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D98DBAEE-89D2-45E9-8EDF-0E66558212B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Define the role of the hydrogen ion 6.</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Define pH and list factors that cause metabolic acidosis or alkalosis 7.</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Identify the common electrolytes and their functions 8.</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Describe common electrolyte disturbances, and their effect on the body 9.</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Describe common complications of fluid imbalances 10.</a:t>
            </a:r>
          </a:p>
        </p:txBody>
      </p:sp>
      <p:sp>
        <p:nvSpPr>
          <p:cNvPr id="6" name="">
            <a:extLst xmlns:a="http://schemas.openxmlformats.org/drawingml/2006/main">
              <a:ext uri="{FF2B5EF4-FFF2-40B4-BE49-F238E27FC236}">
                <a16:creationId xmlns:a16="http://schemas.microsoft.com/office/drawing/2014/main" id="{6CC08A97-BBE9-4009-BFE2-0DE12AEDDAE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E7D6B43-A701-4BB0-9984-1981235B942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17</a:t>
            </a:r>
          </a:p>
        </p:txBody>
      </p:sp>
    </p:spTree>
    <p:extLst>
      <p:ext uri="{BB962C8B-B14F-4D97-AF65-F5344CB8AC3E}">
        <p14:creationId xmlns:p14="http://schemas.microsoft.com/office/powerpoint/2010/main" val="929888462"/>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CB6BE89-AA6D-48BB-B25C-AA4109C4D83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FEF2443-2352-49AC-AC0A-C06C1251122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Objectives — continued</a:t>
            </a:r>
          </a:p>
        </p:txBody>
      </p:sp>
      <p:sp>
        <p:nvSpPr>
          <p:cNvPr id="3" name="">
            <a:extLst xmlns:a="http://schemas.openxmlformats.org/drawingml/2006/main">
              <a:ext uri="{FF2B5EF4-FFF2-40B4-BE49-F238E27FC236}">
                <a16:creationId xmlns:a16="http://schemas.microsoft.com/office/drawing/2014/main" id="{456C25FB-15CE-4A1D-A277-6C6084A7958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0086556-C45B-4D5B-A686-A9AC9A05A2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32E447CC-D256-4316-809B-58F03E8063B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List methods to assess and determine fluid imbalances 11.</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Describe signs, symptoms, and treatments for electrolyte disturbances</a:t>
            </a:r>
          </a:p>
        </p:txBody>
      </p:sp>
      <p:sp>
        <p:nvSpPr>
          <p:cNvPr id="6" name="">
            <a:extLst xmlns:a="http://schemas.openxmlformats.org/drawingml/2006/main">
              <a:ext uri="{FF2B5EF4-FFF2-40B4-BE49-F238E27FC236}">
                <a16:creationId xmlns:a16="http://schemas.microsoft.com/office/drawing/2014/main" id="{AEC2D092-F47F-4717-8C0D-728110E6D2D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9D2AED2-C4F0-4CF9-BBE7-5C83093E3BF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17</a:t>
            </a:r>
          </a:p>
        </p:txBody>
      </p:sp>
    </p:spTree>
    <p:extLst>
      <p:ext uri="{BB962C8B-B14F-4D97-AF65-F5344CB8AC3E}">
        <p14:creationId xmlns:p14="http://schemas.microsoft.com/office/powerpoint/2010/main" val="1813664325"/>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E8DFC0-DAB2-41D2-9B25-FB8A074D9D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5E1262-3AB6-44FA-BA82-CA73A294A2C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Unit Outline</a:t>
            </a:r>
          </a:p>
        </p:txBody>
      </p:sp>
      <p:sp>
        <p:nvSpPr>
          <p:cNvPr id="3" name="">
            <a:extLst xmlns:a="http://schemas.openxmlformats.org/drawingml/2006/main">
              <a:ext uri="{FF2B5EF4-FFF2-40B4-BE49-F238E27FC236}">
                <a16:creationId xmlns:a16="http://schemas.microsoft.com/office/drawing/2014/main" id="{5C8E7636-A95E-4387-B9EB-D0CC825845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B09DD5E-3F7F-4C78-83C5-8EFD86950A8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8237865F-C8B0-447D-8B61-0F17E7E0E8F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Fluid Components and Regulation of Homeostasis Intracellular Extracellular Vascular Interstitial Fluid and Electrolyte Regulation Osmosis Isotonic Hypotonic Hypertonic Osmolality Diffusion Active Transport Filtration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Functions of Water Cellular Metabolism Thirst Respiratory Gastrointestinal Urinary Skin Hormones Disturbances of Osmolality Hyperosmolar Hypo-osmolar Isotonic Serum Electrolytes Sodium Potassium Chloride Magnesium</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Calcium</a:t>
            </a:r>
          </a:p>
        </p:txBody>
      </p:sp>
      <p:sp>
        <p:nvSpPr>
          <p:cNvPr id="6" name="">
            <a:extLst xmlns:a="http://schemas.openxmlformats.org/drawingml/2006/main">
              <a:ext uri="{FF2B5EF4-FFF2-40B4-BE49-F238E27FC236}">
                <a16:creationId xmlns:a16="http://schemas.microsoft.com/office/drawing/2014/main" id="{576EFF63-8E2E-4BE3-874F-54702277B49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935AE9B-3AC0-4378-AA3E-D92B9811BA9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18</a:t>
            </a:r>
          </a:p>
        </p:txBody>
      </p:sp>
    </p:spTree>
    <p:extLst>
      <p:ext uri="{BB962C8B-B14F-4D97-AF65-F5344CB8AC3E}">
        <p14:creationId xmlns:p14="http://schemas.microsoft.com/office/powerpoint/2010/main" val="1272301088"/>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7ADAA8-DB1A-41D9-BB19-FD9B4FB7C4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DE7E5AF-B67C-4130-9C32-3EE36590DB2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Electrolytes Disturbances</a:t>
            </a:r>
          </a:p>
        </p:txBody>
      </p:sp>
      <p:sp>
        <p:nvSpPr>
          <p:cNvPr id="3" name="">
            <a:extLst xmlns:a="http://schemas.openxmlformats.org/drawingml/2006/main">
              <a:ext uri="{FF2B5EF4-FFF2-40B4-BE49-F238E27FC236}">
                <a16:creationId xmlns:a16="http://schemas.microsoft.com/office/drawing/2014/main" id="{EFB8DF05-FFEC-4381-890A-970FA186C0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A911185-D136-4BC2-B374-C23A999B77E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E84B2887-4E6B-4EE4-AC3D-AE9F73E1157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Circulatory Muscle Gastrointestinal Kidney Respiratory Skin Hydrogen Ion Concentration pH Acid Base Balance and Imbalance Buffers Clinical Identification of Fluid and Electrolyte Imbalances Edema Urinalysis and Output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Dehydration Serological Values CBC SMA-7 Serum Osmolality Vital Signs Third Spacing Circulatory Overload Special Considerations Pediatrics Elderly</a:t>
            </a:r>
          </a:p>
        </p:txBody>
      </p:sp>
      <p:sp>
        <p:nvSpPr>
          <p:cNvPr id="6" name="">
            <a:extLst xmlns:a="http://schemas.openxmlformats.org/drawingml/2006/main">
              <a:ext uri="{FF2B5EF4-FFF2-40B4-BE49-F238E27FC236}">
                <a16:creationId xmlns:a16="http://schemas.microsoft.com/office/drawing/2014/main" id="{FA01EFA1-5238-49AE-8A5B-448043FC093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B69C0E9-13EE-4D5E-AF8A-930D8AE935D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19</a:t>
            </a:r>
          </a:p>
        </p:txBody>
      </p:sp>
    </p:spTree>
    <p:extLst>
      <p:ext uri="{BB962C8B-B14F-4D97-AF65-F5344CB8AC3E}">
        <p14:creationId xmlns:p14="http://schemas.microsoft.com/office/powerpoint/2010/main" val="214002262"/>
      </p:ext>
    </p:extLst>
  </p:cSld>
</p:sld>
</file>

<file path=ppt/slides/slide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DC5F1F-141A-4D54-ABEC-7263B1F2C6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B42AD9-A3E0-4999-B8CB-C9DAA870A73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a:t>
            </a:r>
          </a:p>
        </p:txBody>
      </p:sp>
      <p:sp>
        <p:nvSpPr>
          <p:cNvPr id="3" name="">
            <a:extLst xmlns:a="http://schemas.openxmlformats.org/drawingml/2006/main">
              <a:ext uri="{FF2B5EF4-FFF2-40B4-BE49-F238E27FC236}">
                <a16:creationId xmlns:a16="http://schemas.microsoft.com/office/drawing/2014/main" id="{7D2CA260-62D1-468F-B3A3-10979626B8E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9652840-7C9C-48F5-9946-393477E9D26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79284CD8-DF46-41AD-AC48-53FAD8E525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body functions in a constant state of flux, changing and adjusting to levels of acidity, fluid volume, and electrolytes to attain a "Homeostasis" in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during illness that imbalances in the chemical and fluid content of the body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nurse must be alert to, and aware of the signs, symptoms, and clinical values of these imbalances and be able to intervene effectively.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a normal adult, water makes us approximately 60% of the total body weight of a man, and approximately 50% of a woman.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Size and body build can have much to do with the amounts of water concentration in the body.</a:t>
            </a:r>
          </a:p>
        </p:txBody>
      </p:sp>
      <p:sp>
        <p:nvSpPr>
          <p:cNvPr id="6" name="">
            <a:extLst xmlns:a="http://schemas.openxmlformats.org/drawingml/2006/main">
              <a:ext uri="{FF2B5EF4-FFF2-40B4-BE49-F238E27FC236}">
                <a16:creationId xmlns:a16="http://schemas.microsoft.com/office/drawing/2014/main" id="{1030A1F3-E279-4E3A-A659-F72601BBD9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CB48BA4-C236-4D1D-B949-E6A3F7D8D08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1040699889"/>
      </p:ext>
    </p:extLst>
  </p:cSld>
</p:sld>
</file>

<file path=ppt/slides/slide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EE3136-BE4B-48A7-A032-EAAFADE98E1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AD07D89-C5BA-4EC8-871C-98AA7811487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C01646A5-EF32-40E2-9660-EB56A7E11B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DBE886A-F347-4313-8059-BBFFE8D9D8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20</a:t>
            </a:r>
          </a:p>
        </p:txBody>
      </p:sp>
      <p:sp>
        <p:nvSpPr>
          <p:cNvPr id="5" name="">
            <a:extLst xmlns:a="http://schemas.openxmlformats.org/drawingml/2006/main">
              <a:ext uri="{FF2B5EF4-FFF2-40B4-BE49-F238E27FC236}">
                <a16:creationId xmlns:a16="http://schemas.microsoft.com/office/drawing/2014/main" id="{3EDDF1DA-2070-4199-A6BF-E77C7493C66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Generally water concentration varies inversely with the amount of fat in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Therefore, obese people and females, who usually have a greater percentage of adipose tissue, have a lower percentage of body fluids.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regardless of body size, water concentration in the body will always attempt to stay in an optimal conditional state, or a "homeostatic" condition.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changes in this "homeostatic" state cause disturbances in the normal functioning of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Along with water, many other components are carried within those areas of fluid content and circulatory circulation.</a:t>
            </a:r>
          </a:p>
        </p:txBody>
      </p:sp>
      <p:sp>
        <p:nvSpPr>
          <p:cNvPr id="6" name="">
            <a:extLst xmlns:a="http://schemas.openxmlformats.org/drawingml/2006/main">
              <a:ext uri="{FF2B5EF4-FFF2-40B4-BE49-F238E27FC236}">
                <a16:creationId xmlns:a16="http://schemas.microsoft.com/office/drawing/2014/main" id="{998DBF5D-A50D-4194-A1C2-BA10211D019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50073DA-8B2C-47EF-AFF5-A18B9FEC0D9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825350407"/>
      </p:ext>
    </p:extLst>
  </p:cSld>
</p:sld>
</file>

<file path=ppt/slides/slide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0C7799-0506-448C-9E9F-771BCFFBAB9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09CF91-9A61-4B2A-B296-ECCC931EF29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962BFEA2-BE80-467D-A031-9A199FA34D0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F47F466-CBBE-4589-968A-394A4E887A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21</a:t>
            </a:r>
          </a:p>
        </p:txBody>
      </p:sp>
      <p:sp>
        <p:nvSpPr>
          <p:cNvPr id="5" name="">
            <a:extLst xmlns:a="http://schemas.openxmlformats.org/drawingml/2006/main">
              <a:ext uri="{FF2B5EF4-FFF2-40B4-BE49-F238E27FC236}">
                <a16:creationId xmlns:a16="http://schemas.microsoft.com/office/drawing/2014/main" id="{1BE7950E-9162-4C86-824F-3BB08C2EC5E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Oxygen and Carbon Dioxide are gases that are carried on the red blood cell (Erythrocyte), specifically the Hemoglobin that float within the many miles of vessels within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plasma portion or fluid portion of blood carries electrolytes such as Sodium and Potassium along with minerals such as Calcium and Magnesium.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Fats, amino acids, glucose, hormones, platelets, catecholamines, etc, along with many differentiated types of cells within the body all make up the content of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Fluid contained within the cells of the body is referred to as intracellular and outside the cellular membrane, extracellular.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two compartments are separated by a semi permeable membrane that allows constant changes to occur from one compartment to another.</a:t>
            </a:r>
          </a:p>
        </p:txBody>
      </p:sp>
      <p:sp>
        <p:nvSpPr>
          <p:cNvPr id="6" name="">
            <a:extLst xmlns:a="http://schemas.openxmlformats.org/drawingml/2006/main">
              <a:ext uri="{FF2B5EF4-FFF2-40B4-BE49-F238E27FC236}">
                <a16:creationId xmlns:a16="http://schemas.microsoft.com/office/drawing/2014/main" id="{02A11C72-6249-49A5-9B10-0517512E2DF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2706153-2DDD-49C9-A923-260EEF7FDAA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536807713"/>
      </p:ext>
    </p:extLst>
  </p:cSld>
</p:sld>
</file>

<file path=ppt/slides/slide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5AB4B69-8494-4478-AD1F-1F608D4F2A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1A04C61-6508-4D35-8702-AED4AB66DF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9D4DEB83-B8A1-4263-B8A7-3085D93AB76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31E5FA9-ACDB-4F86-A40E-3C517A7092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22</a:t>
            </a:r>
          </a:p>
        </p:txBody>
      </p:sp>
      <p:sp>
        <p:nvSpPr>
          <p:cNvPr id="5" name="">
            <a:extLst xmlns:a="http://schemas.openxmlformats.org/drawingml/2006/main">
              <a:ext uri="{FF2B5EF4-FFF2-40B4-BE49-F238E27FC236}">
                <a16:creationId xmlns:a16="http://schemas.microsoft.com/office/drawing/2014/main" id="{7548E652-04E3-4D77-A0D2-B0B3C448152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intracellular (ICF) compartment holds approximately 25 liters of the body's fluid and the extracellular compartment 15 liters.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Changes in the volume or components of the fluids can lead to serious complications.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loss of 4 liters, for example, is serious, 8 liters can be fatal.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Normally we add to our extracellular fluid compartment by drinking fluids.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intravenous fluid administration is a fast, effective means of adding to our extracellular compartment.</a:t>
            </a:r>
          </a:p>
        </p:txBody>
      </p:sp>
      <p:sp>
        <p:nvSpPr>
          <p:cNvPr id="6" name="">
            <a:extLst xmlns:a="http://schemas.openxmlformats.org/drawingml/2006/main">
              <a:ext uri="{FF2B5EF4-FFF2-40B4-BE49-F238E27FC236}">
                <a16:creationId xmlns:a16="http://schemas.microsoft.com/office/drawing/2014/main" id="{E22DA780-7461-4463-830D-A6568FE980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1FD6C9F-DB02-4A99-BAFB-3322B3F52B2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96381526"/>
      </p:ext>
    </p:extLst>
  </p:cSld>
</p:sld>
</file>

<file path=ppt/slides/slide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F9E3DB-5ECE-44ED-8695-C4E56821B2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F39C8F3-8B4A-4001-AFFB-AF948D77808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62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Components and Regulation of Homeostasis — continued</a:t>
            </a:r>
          </a:p>
        </p:txBody>
      </p:sp>
      <p:sp>
        <p:nvSpPr>
          <p:cNvPr id="3" name="">
            <a:extLst xmlns:a="http://schemas.openxmlformats.org/drawingml/2006/main">
              <a:ext uri="{FF2B5EF4-FFF2-40B4-BE49-F238E27FC236}">
                <a16:creationId xmlns:a16="http://schemas.microsoft.com/office/drawing/2014/main" id="{A6250039-D1C1-4838-9681-ABA1A6C05CE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374B213-1FF3-4EFE-BF3F-59ACF34666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23</a:t>
            </a:r>
          </a:p>
        </p:txBody>
      </p:sp>
      <p:sp>
        <p:nvSpPr>
          <p:cNvPr id="5" name="">
            <a:extLst xmlns:a="http://schemas.openxmlformats.org/drawingml/2006/main">
              <a:ext uri="{FF2B5EF4-FFF2-40B4-BE49-F238E27FC236}">
                <a16:creationId xmlns:a16="http://schemas.microsoft.com/office/drawing/2014/main" id="{E21B095A-29D8-4CAC-8357-E27AE1AC50C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Fluid losses occur through the extracellular fluid compartment.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These losses occur through the lungs, intestines, and sweat.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But the most important physiological route is the kidney.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Any gains or losses of fluid from the intracellular fluid compartment occur through the extracellular fluid compartment.</a:t>
            </a:r>
          </a:p>
        </p:txBody>
      </p:sp>
      <p:sp>
        <p:nvSpPr>
          <p:cNvPr id="6" name="">
            <a:extLst xmlns:a="http://schemas.openxmlformats.org/drawingml/2006/main">
              <a:ext uri="{FF2B5EF4-FFF2-40B4-BE49-F238E27FC236}">
                <a16:creationId xmlns:a16="http://schemas.microsoft.com/office/drawing/2014/main" id="{F8338F39-C590-4E32-BEDD-870B514511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35F44CD-105C-43A3-A4EE-6E96827D60B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20</a:t>
            </a:r>
          </a:p>
        </p:txBody>
      </p:sp>
    </p:spTree>
    <p:extLst>
      <p:ext uri="{BB962C8B-B14F-4D97-AF65-F5344CB8AC3E}">
        <p14:creationId xmlns:p14="http://schemas.microsoft.com/office/powerpoint/2010/main" val="1686668796"/>
      </p:ext>
    </p:extLst>
  </p:cSld>
</p:sld>
</file>

<file path=ppt/slides/slide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9C7C3C-42D6-433A-9C73-82462584410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D054688-0408-437E-8105-D95AD00878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a:t>
            </a:r>
          </a:p>
        </p:txBody>
      </p:sp>
      <p:sp>
        <p:nvSpPr>
          <p:cNvPr id="3" name="">
            <a:extLst xmlns:a="http://schemas.openxmlformats.org/drawingml/2006/main">
              <a:ext uri="{FF2B5EF4-FFF2-40B4-BE49-F238E27FC236}">
                <a16:creationId xmlns:a16="http://schemas.microsoft.com/office/drawing/2014/main" id="{F08872E7-C157-437C-9D40-3C3EE25EB13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29B26C3-F801-4A2D-AACB-69586799965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24</a:t>
            </a:r>
          </a:p>
        </p:txBody>
      </p:sp>
      <p:sp>
        <p:nvSpPr>
          <p:cNvPr id="5" name="">
            <a:extLst xmlns:a="http://schemas.openxmlformats.org/drawingml/2006/main">
              <a:ext uri="{FF2B5EF4-FFF2-40B4-BE49-F238E27FC236}">
                <a16:creationId xmlns:a16="http://schemas.microsoft.com/office/drawing/2014/main" id="{089CC13C-7214-44BC-966A-0FF7BE1093A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space comprises 1/4 of the compartment (plasma volume), and the remaining 3/4 is outside the blood vessels bathing the tissues (interstitial).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Interstitial water, therefore, comprises 15% of body weight, and plasma 5% of body weight.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ratio between interstitial and plasma volume in an adult is 3:1, and in an infant 5:1.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 infant weighing 5 kilograms with total body water content of 3.5 liters who suffers a loss of even one (1) liter of fluid may deplete the entire ECF fluid volume.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Metabolic Process of Fluid Regulation The two types of dissolved substances in body fluids are those that break down in solution (electrolytes), and those that do not (glucose).</a:t>
            </a:r>
          </a:p>
        </p:txBody>
      </p:sp>
      <p:sp>
        <p:nvSpPr>
          <p:cNvPr id="6" name="">
            <a:extLst xmlns:a="http://schemas.openxmlformats.org/drawingml/2006/main">
              <a:ext uri="{FF2B5EF4-FFF2-40B4-BE49-F238E27FC236}">
                <a16:creationId xmlns:a16="http://schemas.microsoft.com/office/drawing/2014/main" id="{6FA589D2-D027-4B50-A1FD-17602AFBD1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1E45E10-0ABB-4703-85D3-1AC2356828D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1544258425"/>
      </p:ext>
    </p:extLst>
  </p:cSld>
</p:sld>
</file>

<file path=ppt/slides/slide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F4A6CFF-22B4-42E4-8256-19B1DCF2678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287A2B-4F9D-4FE9-978F-CBDF50F2D2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1B418117-F53F-4EDF-9030-0B342885EA8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1CC7DF0-2EDD-42AA-81CA-201E7C60250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25</a:t>
            </a:r>
          </a:p>
        </p:txBody>
      </p:sp>
      <p:sp>
        <p:nvSpPr>
          <p:cNvPr id="5" name="">
            <a:extLst xmlns:a="http://schemas.openxmlformats.org/drawingml/2006/main">
              <a:ext uri="{FF2B5EF4-FFF2-40B4-BE49-F238E27FC236}">
                <a16:creationId xmlns:a16="http://schemas.microsoft.com/office/drawing/2014/main" id="{13BE2470-3724-4444-B992-AB5A3A221F4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Sodium chloride, for example, breaks down in solution to sodium cations (+) and chloride ions (-).</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are called electrolytes because they carry a mild electrical charge.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components of fluid within the body's compartments that concern us are those substances that are present in large enough amounts to influence either the electromechanical or osmotic activity within each compartment.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 a rule, the positive (cation) and negative (anion) charged components of the fluid compartments will be present in equal amounts.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principle extracellular electrolytes are: Sodium, Chloride, Calcium, and Bicarbonate.</a:t>
            </a:r>
          </a:p>
        </p:txBody>
      </p:sp>
      <p:sp>
        <p:nvSpPr>
          <p:cNvPr id="6" name="">
            <a:extLst xmlns:a="http://schemas.openxmlformats.org/drawingml/2006/main">
              <a:ext uri="{FF2B5EF4-FFF2-40B4-BE49-F238E27FC236}">
                <a16:creationId xmlns:a16="http://schemas.microsoft.com/office/drawing/2014/main" id="{9F080DCF-369A-444E-A104-26FF42FEE71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C104923-D6CE-45DD-9697-37D3201D70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930425119"/>
      </p:ext>
    </p:extLst>
  </p:cSld>
</p:sld>
</file>

<file path=ppt/slides/slide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D8A0C0-D96F-40FD-BD4B-DF44DF574B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0618964-4DD9-41B9-AAF8-CBE21CD40D0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775B8415-F5BF-4E21-9558-0AC3431487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BD61204-355B-4A9F-8480-482E4C5418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8C96C11E-EED0-4D24-AF9F-ECD108EF6BB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principle intracellular electrolytes are: Potassium, Magnesium, and Phosphate.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Sodium is the dominant cation in the extracellular space, and potassium is the dominant cation in the intracellular space.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Within the cells, the important anions are generally large organic molecules, proteins, and phosphates.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size of the protein molecule prevents diffusion through the cell membrane into the extracellular fluid.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principle extracellular anion is chloride and the principle intracellular anion phosphate.</a:t>
            </a:r>
          </a:p>
        </p:txBody>
      </p:sp>
      <p:sp>
        <p:nvSpPr>
          <p:cNvPr id="6" name="">
            <a:extLst xmlns:a="http://schemas.openxmlformats.org/drawingml/2006/main">
              <a:ext uri="{FF2B5EF4-FFF2-40B4-BE49-F238E27FC236}">
                <a16:creationId xmlns:a16="http://schemas.microsoft.com/office/drawing/2014/main" id="{53E2CE99-B357-466E-8F3B-8A3C1D8616B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67765D-E940-4970-9829-B3D213FD843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1063919783"/>
      </p:ext>
    </p:extLst>
  </p:cSld>
</p:sld>
</file>

<file path=ppt/slides/slide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10E23F-F19E-48C6-8155-F2EEC8A40F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C598F3-28C0-4AAA-92D2-7A779A194DD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extracellular fluid compartment is divided into two compartments. The vascular — continued</a:t>
            </a:r>
          </a:p>
        </p:txBody>
      </p:sp>
      <p:sp>
        <p:nvSpPr>
          <p:cNvPr id="3" name="">
            <a:extLst xmlns:a="http://schemas.openxmlformats.org/drawingml/2006/main">
              <a:ext uri="{FF2B5EF4-FFF2-40B4-BE49-F238E27FC236}">
                <a16:creationId xmlns:a16="http://schemas.microsoft.com/office/drawing/2014/main" id="{BC031724-3B4A-46C0-AD30-1CA47BECCF2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18537DB-3B25-4AED-AFEB-6D3CE17999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0C7CE944-2AD7-4780-BB74-53414C47198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chloride anion slips freely between the compartments under the control of electrical forces.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Although found outside the cells for the most part, it is not considered exclusively extracellular.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Each fluid compartment has its own composition of electrolytes.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body constantly strives thorough active metabolic processes to attain this stability.</a:t>
            </a:r>
          </a:p>
        </p:txBody>
      </p:sp>
      <p:sp>
        <p:nvSpPr>
          <p:cNvPr id="6" name="">
            <a:extLst xmlns:a="http://schemas.openxmlformats.org/drawingml/2006/main">
              <a:ext uri="{FF2B5EF4-FFF2-40B4-BE49-F238E27FC236}">
                <a16:creationId xmlns:a16="http://schemas.microsoft.com/office/drawing/2014/main" id="{787C77EA-F2E7-426E-AF5C-4CB652A507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554968A-A3E6-4FF4-A4B7-2E44A9B422F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21</a:t>
            </a:r>
          </a:p>
        </p:txBody>
      </p:sp>
    </p:spTree>
    <p:extLst>
      <p:ext uri="{BB962C8B-B14F-4D97-AF65-F5344CB8AC3E}">
        <p14:creationId xmlns:p14="http://schemas.microsoft.com/office/powerpoint/2010/main" val="1923836148"/>
      </p:ext>
    </p:extLst>
  </p:cSld>
</p:sld>
</file>

<file path=ppt/slides/slide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6C06912-0B7A-4A44-A5C4-D338730C72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04DD46-CF45-4D21-98CE-086E9F2F2F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a:t>
            </a:r>
          </a:p>
        </p:txBody>
      </p:sp>
      <p:sp>
        <p:nvSpPr>
          <p:cNvPr id="3" name="">
            <a:extLst xmlns:a="http://schemas.openxmlformats.org/drawingml/2006/main">
              <a:ext uri="{FF2B5EF4-FFF2-40B4-BE49-F238E27FC236}">
                <a16:creationId xmlns:a16="http://schemas.microsoft.com/office/drawing/2014/main" id="{A1C58752-F9D9-40A5-9FC4-9A91B0A1F0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2EA96C8-423A-464A-A44C-911F92A0C2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28</a:t>
            </a:r>
          </a:p>
        </p:txBody>
      </p:sp>
      <p:sp>
        <p:nvSpPr>
          <p:cNvPr id="5" name="">
            <a:extLst xmlns:a="http://schemas.openxmlformats.org/drawingml/2006/main">
              <a:ext uri="{FF2B5EF4-FFF2-40B4-BE49-F238E27FC236}">
                <a16:creationId xmlns:a16="http://schemas.microsoft.com/office/drawing/2014/main" id="{F4455256-8D29-4E06-80EB-7629B5BA81E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Osmosis is the exchange of water that balances molecular concentration of a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Water molecules move, as on a gradient, from an area of low molecular concentration to that of a greater molecular concentration.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 Isotonic solution is a solution with the same molecular concentration (tonicity) as plasma.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example, Normal Saline (0.9%) is an isotonic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Water will not move and the cell remains the same.</a:t>
            </a:r>
          </a:p>
        </p:txBody>
      </p:sp>
      <p:sp>
        <p:nvSpPr>
          <p:cNvPr id="6" name="">
            <a:extLst xmlns:a="http://schemas.openxmlformats.org/drawingml/2006/main">
              <a:ext uri="{FF2B5EF4-FFF2-40B4-BE49-F238E27FC236}">
                <a16:creationId xmlns:a16="http://schemas.microsoft.com/office/drawing/2014/main" id="{9C7DEED0-9EA0-4A98-914D-5BFA191A308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C2B28DB-0FBB-477E-B35A-7924B9F93D9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659599828"/>
      </p:ext>
    </p:extLst>
  </p:cSld>
</p:sld>
</file>

<file path=ppt/slides/slide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6FAB06-7480-481B-972A-CB370280D71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DEF4480-35A7-4576-B303-0DEF9F4A12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D0061908-64A7-4873-83D3-8CBEF0F0F2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CB72B4D-D3C2-4B8A-BACE-9A9727DF581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29</a:t>
            </a:r>
          </a:p>
        </p:txBody>
      </p:sp>
      <p:sp>
        <p:nvSpPr>
          <p:cNvPr id="5" name="">
            <a:extLst xmlns:a="http://schemas.openxmlformats.org/drawingml/2006/main">
              <a:ext uri="{FF2B5EF4-FFF2-40B4-BE49-F238E27FC236}">
                <a16:creationId xmlns:a16="http://schemas.microsoft.com/office/drawing/2014/main" id="{95160FF1-D6B9-476D-85BC-7CB5A4B0E3D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Hypotonic solution has a molecular concentration that is less than that of the cell; therefore, water will enter the cell.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shape of the cell will swell and burst.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Hypertonic solution has a molecular concentration that is greater than that of the cell and water is pulled out of the cell.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cell will shrink.</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Osmolality reflects the number of dissolved particles per unit of water.</a:t>
            </a:r>
          </a:p>
        </p:txBody>
      </p:sp>
      <p:sp>
        <p:nvSpPr>
          <p:cNvPr id="6" name="">
            <a:extLst xmlns:a="http://schemas.openxmlformats.org/drawingml/2006/main">
              <a:ext uri="{FF2B5EF4-FFF2-40B4-BE49-F238E27FC236}">
                <a16:creationId xmlns:a16="http://schemas.microsoft.com/office/drawing/2014/main" id="{84087770-ABAA-4496-AA06-762A9086E79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D3D21B1-57C5-4B64-A2F9-2A1AF570FF1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889965249"/>
      </p:ext>
    </p:extLst>
  </p:cSld>
</p:sld>
</file>

<file path=ppt/slides/slide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12895DB-3027-42F7-9470-0992CD6CD6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8545865-3FED-4ADC-B053-0E77D841E33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AB8DA748-1D01-4C79-979D-CDF97B0966E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87E12B1-4F70-4C70-A7D0-83DC912B90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30</a:t>
            </a:r>
          </a:p>
        </p:txBody>
      </p:sp>
      <p:sp>
        <p:nvSpPr>
          <p:cNvPr id="5" name="">
            <a:extLst xmlns:a="http://schemas.openxmlformats.org/drawingml/2006/main">
              <a:ext uri="{FF2B5EF4-FFF2-40B4-BE49-F238E27FC236}">
                <a16:creationId xmlns:a16="http://schemas.microsoft.com/office/drawing/2014/main" id="{48BC0B14-455C-4E09-BB3F-308B9D3845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greatest contributors are electrolytes, mainly sodium and chloride.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Water will basically move freely from one compartment to another to ensure equal osmolality.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addition of solute to solution will reduce the amount of water, and the presence of solute will change the chemical behavior of a solution, such as a slower diffusion rate.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Therefore, osmolality measures the number of particles in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unit of measurement is the milli-osmole (mOsm).</a:t>
            </a:r>
          </a:p>
        </p:txBody>
      </p:sp>
      <p:sp>
        <p:nvSpPr>
          <p:cNvPr id="6" name="">
            <a:extLst xmlns:a="http://schemas.openxmlformats.org/drawingml/2006/main">
              <a:ext uri="{FF2B5EF4-FFF2-40B4-BE49-F238E27FC236}">
                <a16:creationId xmlns:a16="http://schemas.microsoft.com/office/drawing/2014/main" id="{1057CE93-F77B-4A3C-83C0-949B8A06F73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7EF4BEA-92D4-4AD5-8B74-217F39FFD01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329334787"/>
      </p:ext>
    </p:extLst>
  </p:cSld>
</p:sld>
</file>

<file path=ppt/slides/slide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DDA0F1-1589-45EB-AF56-673D4B00CCC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7F5C4C-AACC-47D3-8B8A-D43602FD27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D99A2D58-6E3D-477C-A011-8C218E8DBAE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26434F2-CE45-491D-878A-C057B58253D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31</a:t>
            </a:r>
          </a:p>
        </p:txBody>
      </p:sp>
      <p:sp>
        <p:nvSpPr>
          <p:cNvPr id="5" name="">
            <a:extLst xmlns:a="http://schemas.openxmlformats.org/drawingml/2006/main">
              <a:ext uri="{FF2B5EF4-FFF2-40B4-BE49-F238E27FC236}">
                <a16:creationId xmlns:a16="http://schemas.microsoft.com/office/drawing/2014/main" id="{E6B7642C-6808-4B4E-BD41-5221BDFC3B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Points to remember: * Normal osmolality is 280-294 mOsm/kg in relation to body fluids.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The intracellular and extracellular osmolalities are always equal.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reflects the overall hydration status of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Water will diffuse from a high to low osmolality.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Because of the osmotic equilibrium, imbalances between the intracellular and extracellular compartments are rapidly seen.</a:t>
            </a:r>
          </a:p>
        </p:txBody>
      </p:sp>
      <p:sp>
        <p:nvSpPr>
          <p:cNvPr id="6" name="">
            <a:extLst xmlns:a="http://schemas.openxmlformats.org/drawingml/2006/main">
              <a:ext uri="{FF2B5EF4-FFF2-40B4-BE49-F238E27FC236}">
                <a16:creationId xmlns:a16="http://schemas.microsoft.com/office/drawing/2014/main" id="{92751422-73EC-4852-8AEE-C26EE9691AB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5BEB4E-DE86-4187-B0B5-A1F9AFF9C10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42163549"/>
      </p:ext>
    </p:extLst>
  </p:cSld>
</p:sld>
</file>

<file path=ppt/slides/slide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0FDE0CD-219E-4884-827D-11D9D6D03DE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08E61D0-2AA3-4B85-B110-23FC132E6B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63FFC618-DC1C-429C-A9E2-9AAF5FD982D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1B8FF31-E32B-483F-86C3-B19327CC05B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32</a:t>
            </a:r>
          </a:p>
        </p:txBody>
      </p:sp>
      <p:sp>
        <p:nvSpPr>
          <p:cNvPr id="5" name="">
            <a:extLst xmlns:a="http://schemas.openxmlformats.org/drawingml/2006/main">
              <a:ext uri="{FF2B5EF4-FFF2-40B4-BE49-F238E27FC236}">
                <a16:creationId xmlns:a16="http://schemas.microsoft.com/office/drawing/2014/main" id="{6D905087-35A1-45E2-BDF9-402170382B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Diffusion is the random movement of molecules through solution or gas.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Molecules spread from an area of greater concentration to an area of lesser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Molecules are in constant motion tending toward equal concentration.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Diffusion is not always easy.</a:t>
            </a:r>
          </a:p>
        </p:txBody>
      </p:sp>
      <p:sp>
        <p:nvSpPr>
          <p:cNvPr id="6" name="">
            <a:extLst xmlns:a="http://schemas.openxmlformats.org/drawingml/2006/main">
              <a:ext uri="{FF2B5EF4-FFF2-40B4-BE49-F238E27FC236}">
                <a16:creationId xmlns:a16="http://schemas.microsoft.com/office/drawing/2014/main" id="{FC0E8874-53E2-49E7-B3B7-A2189807197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51322E8-BDBB-446B-8209-6241835BC1E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413615006"/>
      </p:ext>
    </p:extLst>
  </p:cSld>
</p:sld>
</file>

<file path=ppt/slides/slide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E5888B-1A09-4F69-B576-5951DD52015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AF075A1-4619-4AE4-85B5-422A0B69EF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and Electrolyte Regulation — continued</a:t>
            </a:r>
          </a:p>
        </p:txBody>
      </p:sp>
      <p:sp>
        <p:nvSpPr>
          <p:cNvPr id="3" name="">
            <a:extLst xmlns:a="http://schemas.openxmlformats.org/drawingml/2006/main">
              <a:ext uri="{FF2B5EF4-FFF2-40B4-BE49-F238E27FC236}">
                <a16:creationId xmlns:a16="http://schemas.microsoft.com/office/drawing/2014/main" id="{AFEDAB7B-1686-4C08-8F68-65093193397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E5E40EA-8A2F-41FA-A757-6E702060091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33</a:t>
            </a:r>
          </a:p>
        </p:txBody>
      </p:sp>
      <p:sp>
        <p:nvSpPr>
          <p:cNvPr id="5" name="">
            <a:extLst xmlns:a="http://schemas.openxmlformats.org/drawingml/2006/main">
              <a:ext uri="{FF2B5EF4-FFF2-40B4-BE49-F238E27FC236}">
                <a16:creationId xmlns:a16="http://schemas.microsoft.com/office/drawing/2014/main" id="{D74B961D-3ECD-4247-A63F-9C5591F8C1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Large molecules may not pass freely through the cell membrane and may require "facilitated diffusion".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Certain compounds move slowly.</a:t>
            </a:r>
          </a:p>
        </p:txBody>
      </p:sp>
      <p:sp>
        <p:nvSpPr>
          <p:cNvPr id="6" name="">
            <a:extLst xmlns:a="http://schemas.openxmlformats.org/drawingml/2006/main">
              <a:ext uri="{FF2B5EF4-FFF2-40B4-BE49-F238E27FC236}">
                <a16:creationId xmlns:a16="http://schemas.microsoft.com/office/drawing/2014/main" id="{619CB7FB-1F45-4BE5-83AC-7DF3EA175C7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3739EC6-5D3B-4532-9A6E-1C9CC622961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22</a:t>
            </a:r>
          </a:p>
        </p:txBody>
      </p:sp>
    </p:spTree>
    <p:extLst>
      <p:ext uri="{BB962C8B-B14F-4D97-AF65-F5344CB8AC3E}">
        <p14:creationId xmlns:p14="http://schemas.microsoft.com/office/powerpoint/2010/main" val="1373624091"/>
      </p:ext>
    </p:extLst>
  </p:cSld>
</p:sld>
</file>

<file path=ppt/slides/slide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13418D-6B00-4634-8157-B5E8E679771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FF02CDE-A405-45A7-8AD4-0B16A851DF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a:t>
            </a:r>
          </a:p>
        </p:txBody>
      </p:sp>
      <p:sp>
        <p:nvSpPr>
          <p:cNvPr id="3" name="">
            <a:extLst xmlns:a="http://schemas.openxmlformats.org/drawingml/2006/main">
              <a:ext uri="{FF2B5EF4-FFF2-40B4-BE49-F238E27FC236}">
                <a16:creationId xmlns:a16="http://schemas.microsoft.com/office/drawing/2014/main" id="{575453F8-48A2-4099-9BCB-9E034706405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A3168BE-6A18-46FC-99C7-894CC67C4A6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34</a:t>
            </a:r>
          </a:p>
        </p:txBody>
      </p:sp>
      <p:sp>
        <p:nvSpPr>
          <p:cNvPr id="5" name="">
            <a:extLst xmlns:a="http://schemas.openxmlformats.org/drawingml/2006/main">
              <a:ext uri="{FF2B5EF4-FFF2-40B4-BE49-F238E27FC236}">
                <a16:creationId xmlns:a16="http://schemas.microsoft.com/office/drawing/2014/main" id="{22F5CB13-6995-4A44-9C6A-0820257B7DC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movement of molecule is dependent on a number of factors.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Permeability reters to the size of the molecule relative to the size of the membrane pores.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Smaller molecules (sugars) do not.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Molecular concentration also plays a factor.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greater the concentration of molecules, the faster the rate of diffusion occurs across the membrane.</a:t>
            </a:r>
          </a:p>
        </p:txBody>
      </p:sp>
      <p:sp>
        <p:nvSpPr>
          <p:cNvPr id="6" name="">
            <a:extLst xmlns:a="http://schemas.openxmlformats.org/drawingml/2006/main">
              <a:ext uri="{FF2B5EF4-FFF2-40B4-BE49-F238E27FC236}">
                <a16:creationId xmlns:a16="http://schemas.microsoft.com/office/drawing/2014/main" id="{01A737D6-86BF-471B-B2FF-96C17B73A72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CE8606F-5CB0-4120-A6F4-C939E959308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753637337"/>
      </p:ext>
    </p:extLst>
  </p:cSld>
</p:sld>
</file>

<file path=ppt/slides/slide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066750-1399-4107-BA0F-F552F97EEB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5F046BF-D661-4C87-920C-70C9E844A5D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DFA3911B-2964-4C06-9961-5D3ABBC73FE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1CCA6AF-8169-4F81-8B23-5786FE21858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35</a:t>
            </a:r>
          </a:p>
        </p:txBody>
      </p:sp>
      <p:sp>
        <p:nvSpPr>
          <p:cNvPr id="5" name="">
            <a:extLst xmlns:a="http://schemas.openxmlformats.org/drawingml/2006/main">
              <a:ext uri="{FF2B5EF4-FFF2-40B4-BE49-F238E27FC236}">
                <a16:creationId xmlns:a16="http://schemas.microsoft.com/office/drawing/2014/main" id="{37B9D6EC-B7FA-4EE2-8388-ADA2C129511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Electrical concentration can cause diffusion despite the molecular concentration.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Active transport is the third mechanism for the movement of fluids and electrolytes.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process requires energy in the form of adenosine triphosphate (ATP) and a carrier substance to transport sodium, potassium, chloride, amino acids, and sugars.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process is similar to "facilitated diffusion", except active transport acts against a concentrated gradient.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example, the sodium pump maintains conduction and contraction in muscle and nerve tissues.</a:t>
            </a:r>
          </a:p>
        </p:txBody>
      </p:sp>
      <p:sp>
        <p:nvSpPr>
          <p:cNvPr id="6" name="">
            <a:extLst xmlns:a="http://schemas.openxmlformats.org/drawingml/2006/main">
              <a:ext uri="{FF2B5EF4-FFF2-40B4-BE49-F238E27FC236}">
                <a16:creationId xmlns:a16="http://schemas.microsoft.com/office/drawing/2014/main" id="{8125D96C-5E6E-4251-8DC4-7645D03076A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AC908AD-C3FC-464B-998C-E13786B8E6E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425901786"/>
      </p:ext>
    </p:extLst>
  </p:cSld>
</p:sld>
</file>

<file path=ppt/slides/slide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B31050-0FF4-454A-913F-DD52AD2357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20757FE-E72A-4539-9504-22D92806D51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1B037C34-B53A-42AA-B574-7C9C369ECAC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230598B-A6F7-4347-805D-4BFDEB5365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36</a:t>
            </a:r>
          </a:p>
        </p:txBody>
      </p:sp>
      <p:sp>
        <p:nvSpPr>
          <p:cNvPr id="5" name="">
            <a:extLst xmlns:a="http://schemas.openxmlformats.org/drawingml/2006/main">
              <a:ext uri="{FF2B5EF4-FFF2-40B4-BE49-F238E27FC236}">
                <a16:creationId xmlns:a16="http://schemas.microsoft.com/office/drawing/2014/main" id="{CDBBCF28-01EE-41F3-9164-F50CFA8FEF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Functions of Water The function of water in our bodies is multi-faceted.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Water provides the base needed for cellular metabolism, and remains constant in its physical and chemical properties throughout the intracellular and extracellular fluid spaces.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solvency of water allows dissolution of solutes utilized in cell function.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Some of the functional duties of water include: transportation of nutrients to and from cells, assisting with temperature regulation, and aiding in digestive and excretory processes.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Filtration is the fourth mechanism whereby water and dissolved solute pass through a semi permeable membrane.</a:t>
            </a:r>
          </a:p>
        </p:txBody>
      </p:sp>
      <p:sp>
        <p:nvSpPr>
          <p:cNvPr id="6" name="">
            <a:extLst xmlns:a="http://schemas.openxmlformats.org/drawingml/2006/main">
              <a:ext uri="{FF2B5EF4-FFF2-40B4-BE49-F238E27FC236}">
                <a16:creationId xmlns:a16="http://schemas.microsoft.com/office/drawing/2014/main" id="{6354B1D2-BB2D-4913-9EDE-80D3C7C48AC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D8F18FC-794E-4BD8-B232-F974454A0EF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107181940"/>
      </p:ext>
    </p:extLst>
  </p:cSld>
</p:sld>
</file>

<file path=ppt/slides/slide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857F49-1F59-41F9-BA2A-949FA3CD6C9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423D5F-FF31-4694-9CC6-F54EDF2782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DAE3E7F8-CAF6-4E70-ADA9-8D1CE014BDC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0E17573-3B7D-4E68-8840-40ADAB928BB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37</a:t>
            </a:r>
          </a:p>
        </p:txBody>
      </p:sp>
      <p:sp>
        <p:nvSpPr>
          <p:cNvPr id="5" name="">
            <a:extLst xmlns:a="http://schemas.openxmlformats.org/drawingml/2006/main">
              <a:ext uri="{FF2B5EF4-FFF2-40B4-BE49-F238E27FC236}">
                <a16:creationId xmlns:a16="http://schemas.microsoft.com/office/drawing/2014/main" id="{3C13A9AF-3DAE-43B2-98F3-8EDF0142150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Movement is from an area of high pressure to that of a low pressure.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force is called capillary or hydrostatic pressure.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pumping action of the heart is the energy behind filtration.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Large molecules, such as albumin, are known as colloids.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Selective retention of these molecules is accomplished to reduce water and solute concentration in the intravascular (plasma) fluid compartment.</a:t>
            </a:r>
          </a:p>
        </p:txBody>
      </p:sp>
      <p:sp>
        <p:nvSpPr>
          <p:cNvPr id="6" name="">
            <a:extLst xmlns:a="http://schemas.openxmlformats.org/drawingml/2006/main">
              <a:ext uri="{FF2B5EF4-FFF2-40B4-BE49-F238E27FC236}">
                <a16:creationId xmlns:a16="http://schemas.microsoft.com/office/drawing/2014/main" id="{27B5F558-5651-487A-AFC7-BD15211F858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269CB99-862D-433A-9A01-842333694BB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480363164"/>
      </p:ext>
    </p:extLst>
  </p:cSld>
</p:sld>
</file>

<file path=ppt/slides/slide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47C190-1848-497A-8D11-0CB0AAF95E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6EAF05A-19BD-42B4-9E16-D7285C1F80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(water, chloride, and urea) pass easily through a membrane while larger molecules — continued</a:t>
            </a:r>
          </a:p>
        </p:txBody>
      </p:sp>
      <p:sp>
        <p:nvSpPr>
          <p:cNvPr id="3" name="">
            <a:extLst xmlns:a="http://schemas.openxmlformats.org/drawingml/2006/main">
              <a:ext uri="{FF2B5EF4-FFF2-40B4-BE49-F238E27FC236}">
                <a16:creationId xmlns:a16="http://schemas.microsoft.com/office/drawing/2014/main" id="{31812575-DF11-4BB6-9019-89BDBF216AE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B8BB91C-0C68-4421-B633-852F76E3433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38</a:t>
            </a:r>
          </a:p>
        </p:txBody>
      </p:sp>
      <p:sp>
        <p:nvSpPr>
          <p:cNvPr id="5" name="">
            <a:extLst xmlns:a="http://schemas.openxmlformats.org/drawingml/2006/main">
              <a:ext uri="{FF2B5EF4-FFF2-40B4-BE49-F238E27FC236}">
                <a16:creationId xmlns:a16="http://schemas.microsoft.com/office/drawing/2014/main" id="{A77764A8-26A9-41E1-8B98-8F0D4EFED33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interaction of the plasma albumin and hydrostatic pressure determine the movement of extracellular fluid between the interstitial and intravascular compartments.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Fluid Regulation The organs responsible for modulation of fluid and electrolyte balance are the lungs and skin.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lungs through the process of respiration and the skin through the process of perspiration release significant amounts of water and small amounts of electrolytes.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are known as insensible losses.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External factors such as fever or a hot climate can affect these significantly, and must be considered in fluid output determinations.</a:t>
            </a:r>
          </a:p>
        </p:txBody>
      </p:sp>
      <p:sp>
        <p:nvSpPr>
          <p:cNvPr id="6" name="">
            <a:extLst xmlns:a="http://schemas.openxmlformats.org/drawingml/2006/main">
              <a:ext uri="{FF2B5EF4-FFF2-40B4-BE49-F238E27FC236}">
                <a16:creationId xmlns:a16="http://schemas.microsoft.com/office/drawing/2014/main" id="{58DD4394-43D2-467E-9BFD-222F439BF1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36D1FDE-F8E5-440F-9435-824E7A4454D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23</a:t>
            </a:r>
          </a:p>
        </p:txBody>
      </p:sp>
    </p:spTree>
    <p:extLst>
      <p:ext uri="{BB962C8B-B14F-4D97-AF65-F5344CB8AC3E}">
        <p14:creationId xmlns:p14="http://schemas.microsoft.com/office/powerpoint/2010/main" val="591673202"/>
      </p:ext>
    </p:extLst>
  </p:cSld>
</p:sld>
</file>

<file path=ppt/slides/slide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A9BFA9C-E587-4BA2-9821-5546A8186EA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1B0E1F-2046-40C9-8613-60CC01703B2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a:t>
            </a:r>
          </a:p>
        </p:txBody>
      </p:sp>
      <p:sp>
        <p:nvSpPr>
          <p:cNvPr id="3" name="">
            <a:extLst xmlns:a="http://schemas.openxmlformats.org/drawingml/2006/main">
              <a:ext uri="{FF2B5EF4-FFF2-40B4-BE49-F238E27FC236}">
                <a16:creationId xmlns:a16="http://schemas.microsoft.com/office/drawing/2014/main" id="{D3AF5BD0-61FA-4609-9F33-4237DF1BCE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229CD71-B901-482F-9F8D-21BF123DA96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39</a:t>
            </a:r>
          </a:p>
        </p:txBody>
      </p:sp>
      <p:sp>
        <p:nvSpPr>
          <p:cNvPr id="5" name="">
            <a:extLst xmlns:a="http://schemas.openxmlformats.org/drawingml/2006/main">
              <a:ext uri="{FF2B5EF4-FFF2-40B4-BE49-F238E27FC236}">
                <a16:creationId xmlns:a16="http://schemas.microsoft.com/office/drawing/2014/main" id="{E549DFBA-466B-47AE-94D0-9E887A39CA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kidneys are the primary modulators of fluid and electrolyte balance.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They control the * Concentration of specific electrolytes * Volume of extracellular fluid.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Blood volume * Blood pH The kidneys maintain volume and concentration of urine through the control of water output.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heart and blood vessels supply the kidney with significant volume making possible the regulatory process of the kidney by perfusing them with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1/4 of cardiac output per heartbeat is used to perfuse the kidney.</a:t>
            </a:r>
          </a:p>
        </p:txBody>
      </p:sp>
      <p:sp>
        <p:nvSpPr>
          <p:cNvPr id="6" name="">
            <a:extLst xmlns:a="http://schemas.openxmlformats.org/drawingml/2006/main">
              <a:ext uri="{FF2B5EF4-FFF2-40B4-BE49-F238E27FC236}">
                <a16:creationId xmlns:a16="http://schemas.microsoft.com/office/drawing/2014/main" id="{04E538BA-0CCC-4618-B666-58C2FB2C746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1B699E2-D210-4508-B959-882FDDE9CA6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687460909"/>
      </p:ext>
    </p:extLst>
  </p:cSld>
</p:sld>
</file>

<file path=ppt/slides/slide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2DD47A-650D-44A7-81E1-3646552057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A73C76C-2EE4-4230-B904-605A2676BB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E7B2C842-B0D0-485C-9EBA-29548FB469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32C20D9-C28A-4AD4-9876-040186429D5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40</a:t>
            </a:r>
          </a:p>
        </p:txBody>
      </p:sp>
      <p:sp>
        <p:nvSpPr>
          <p:cNvPr id="5" name="">
            <a:extLst xmlns:a="http://schemas.openxmlformats.org/drawingml/2006/main">
              <a:ext uri="{FF2B5EF4-FFF2-40B4-BE49-F238E27FC236}">
                <a16:creationId xmlns:a16="http://schemas.microsoft.com/office/drawing/2014/main" id="{87B0EC84-571F-46B8-A841-C9BEBD3150A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pituitary gland releases an anti-diuretic hormone (ADH), which prevents the body from losing water by increasing renal re-absorption.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ADH release is stimulated by increased osmolality (particle concentration), extracellular fluid volume depletion (dehydration), and stress.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average adult requires approximately 2500cc of fluid a day, the minimal requirements are 1500cc.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 adult in good condition can survive for approximately 10 days without water, a child 5 days.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Adrenal Cortical Hormones These hormones conserve sodium and chloride, excretes potassium, and enhances water re-absorption in the distal renal tubules.</a:t>
            </a:r>
          </a:p>
        </p:txBody>
      </p:sp>
      <p:sp>
        <p:nvSpPr>
          <p:cNvPr id="6" name="">
            <a:extLst xmlns:a="http://schemas.openxmlformats.org/drawingml/2006/main">
              <a:ext uri="{FF2B5EF4-FFF2-40B4-BE49-F238E27FC236}">
                <a16:creationId xmlns:a16="http://schemas.microsoft.com/office/drawing/2014/main" id="{90165257-7150-4EB2-875B-B95D9AC8A6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63982E0-22D7-4581-9623-9A241EF7E7B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837062516"/>
      </p:ext>
    </p:extLst>
  </p:cSld>
</p:sld>
</file>

<file path=ppt/slides/slide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E756D58-07B8-4E0D-8712-0C3CA1BCC0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E3ADFEE-809C-4E2C-9D21-C90F7E46DD1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DAF1AE39-8598-46C5-8A4C-70400E11744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3A3CAC8-5D84-404B-AA0C-F1F0069728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41</a:t>
            </a:r>
          </a:p>
        </p:txBody>
      </p:sp>
      <p:sp>
        <p:nvSpPr>
          <p:cNvPr id="5" name="">
            <a:extLst xmlns:a="http://schemas.openxmlformats.org/drawingml/2006/main">
              <a:ext uri="{FF2B5EF4-FFF2-40B4-BE49-F238E27FC236}">
                <a16:creationId xmlns:a16="http://schemas.microsoft.com/office/drawing/2014/main" id="{82055EFE-89A8-4BF0-BFC1-D5656251AC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Aldosterone completes this process by increasing the re-absorption of sodium, and along with it, water, while decreasing the reabsorption of potassium through the renal tubules.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adrenal cortex increases secretion of aldosterone.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Whenever extracellular sodium decreases, stress tends to cause the kidneys to retain sodium and excrete potassium.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results in many stress- related electrolyte imbalances seen in patients.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GI Tract The GI tract absorbs fluid through the process of dietary intake, absorbing approximately 7-9 liters of GI tract secretions per day, thereby replenishing the losses from excretion by the kidneys, skin, and</a:t>
            </a:r>
          </a:p>
        </p:txBody>
      </p:sp>
      <p:sp>
        <p:nvSpPr>
          <p:cNvPr id="6" name="">
            <a:extLst xmlns:a="http://schemas.openxmlformats.org/drawingml/2006/main">
              <a:ext uri="{FF2B5EF4-FFF2-40B4-BE49-F238E27FC236}">
                <a16:creationId xmlns:a16="http://schemas.microsoft.com/office/drawing/2014/main" id="{3CD4CDFB-F01F-4E73-A993-D80FA06CD81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D5B34DE-D43B-46FE-9A9C-2636671F948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1778688485"/>
      </p:ext>
    </p:extLst>
  </p:cSld>
</p:sld>
</file>

<file path=ppt/slides/slide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087A12-F652-4A86-BCAD-2B2C24885B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920ACB-21A8-4BB8-BC73-ED0E2FFFAF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extracellular fluid by regulating the following: — continued</a:t>
            </a:r>
          </a:p>
        </p:txBody>
      </p:sp>
      <p:sp>
        <p:nvSpPr>
          <p:cNvPr id="3" name="">
            <a:extLst xmlns:a="http://schemas.openxmlformats.org/drawingml/2006/main">
              <a:ext uri="{FF2B5EF4-FFF2-40B4-BE49-F238E27FC236}">
                <a16:creationId xmlns:a16="http://schemas.microsoft.com/office/drawing/2014/main" id="{39C66E72-AD65-4A9E-B8CC-EE10C59FF2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FBC86BE-9EFD-4E35-A1D4-318CCE7E0E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42</a:t>
            </a:r>
          </a:p>
        </p:txBody>
      </p:sp>
      <p:sp>
        <p:nvSpPr>
          <p:cNvPr id="5" name="">
            <a:extLst xmlns:a="http://schemas.openxmlformats.org/drawingml/2006/main">
              <a:ext uri="{FF2B5EF4-FFF2-40B4-BE49-F238E27FC236}">
                <a16:creationId xmlns:a16="http://schemas.microsoft.com/office/drawing/2014/main" id="{694B825E-C370-4F22-8CE1-3B8D948278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respiratory tract.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Thirst This mechanism regulates water intake by stimulating the Hypothalamus in the brain.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 increase in body osmolality stimulates the osmo-receptors in the Hypothalamus to give the sensation of thirst, and we take a drink.</a:t>
            </a:r>
          </a:p>
        </p:txBody>
      </p:sp>
      <p:sp>
        <p:nvSpPr>
          <p:cNvPr id="6" name="">
            <a:extLst xmlns:a="http://schemas.openxmlformats.org/drawingml/2006/main">
              <a:ext uri="{FF2B5EF4-FFF2-40B4-BE49-F238E27FC236}">
                <a16:creationId xmlns:a16="http://schemas.microsoft.com/office/drawing/2014/main" id="{9EFD83A7-630F-4923-AA71-E45D54C68F5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73EF377-6F4B-40D8-81C7-8FCECFEC907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24</a:t>
            </a:r>
          </a:p>
        </p:txBody>
      </p:sp>
    </p:spTree>
    <p:extLst>
      <p:ext uri="{BB962C8B-B14F-4D97-AF65-F5344CB8AC3E}">
        <p14:creationId xmlns:p14="http://schemas.microsoft.com/office/powerpoint/2010/main" val="405149319"/>
      </p:ext>
    </p:extLst>
  </p:cSld>
</p:sld>
</file>

<file path=ppt/slides/slide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70A18A-5D2D-4E7D-AAD3-E7DA427BF04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A3FCB82-6D2B-4015-AAEF-D3A7A942C2D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a:t>
            </a:r>
          </a:p>
        </p:txBody>
      </p:sp>
      <p:sp>
        <p:nvSpPr>
          <p:cNvPr id="3" name="">
            <a:extLst xmlns:a="http://schemas.openxmlformats.org/drawingml/2006/main">
              <a:ext uri="{FF2B5EF4-FFF2-40B4-BE49-F238E27FC236}">
                <a16:creationId xmlns:a16="http://schemas.microsoft.com/office/drawing/2014/main" id="{472D1361-3AA3-4AD5-9DC4-F7881B3CBE5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D617E49-D9B9-47DB-A9D9-D056B599826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43</a:t>
            </a:r>
          </a:p>
        </p:txBody>
      </p:sp>
      <p:sp>
        <p:nvSpPr>
          <p:cNvPr id="5" name="">
            <a:extLst xmlns:a="http://schemas.openxmlformats.org/drawingml/2006/main">
              <a:ext uri="{FF2B5EF4-FFF2-40B4-BE49-F238E27FC236}">
                <a16:creationId xmlns:a16="http://schemas.microsoft.com/office/drawing/2014/main" id="{53860CC6-D9A4-4BDC-B108-5A89A98F48E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Disturbances indicate a disturbance in water distribution among all fluid compartments and involving all body fluids.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change in osmolality of one fluid compartment alters and affects all other-compartments: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Symptoms of osmolar disturbances are often manifestations of cerebral dysfunction, which may include agitation, confusion, lethargy, and coma.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symptoms occur as a result of cell shrinking (hyper-osmolar state) or cell swelling (hypo-osmolar state).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Imbalances occur as a result of a change in solute (particle) and/or water concentration in a fluid compartment thereby leading to a change from an is-osmolar state.</a:t>
            </a:r>
          </a:p>
        </p:txBody>
      </p:sp>
      <p:sp>
        <p:nvSpPr>
          <p:cNvPr id="6" name="">
            <a:extLst xmlns:a="http://schemas.openxmlformats.org/drawingml/2006/main">
              <a:ext uri="{FF2B5EF4-FFF2-40B4-BE49-F238E27FC236}">
                <a16:creationId xmlns:a16="http://schemas.microsoft.com/office/drawing/2014/main" id="{8C2FD548-DE97-42DB-8CC4-275483A244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7902713-D108-4341-9824-606213EFDE7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536794331"/>
      </p:ext>
    </p:extLst>
  </p:cSld>
</p:sld>
</file>

<file path=ppt/slides/slide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197E06-764B-4264-B360-7C311313297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D251AA7-E77A-47F5-9E91-D1B512A192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 — continued</a:t>
            </a:r>
          </a:p>
        </p:txBody>
      </p:sp>
      <p:sp>
        <p:nvSpPr>
          <p:cNvPr id="3" name="">
            <a:extLst xmlns:a="http://schemas.openxmlformats.org/drawingml/2006/main">
              <a:ext uri="{FF2B5EF4-FFF2-40B4-BE49-F238E27FC236}">
                <a16:creationId xmlns:a16="http://schemas.microsoft.com/office/drawing/2014/main" id="{C8CC5B67-0417-4ADF-9010-0EFA4AF7A6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96828A6-0186-4916-BB10-BA28E2F0D6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44</a:t>
            </a:r>
          </a:p>
        </p:txBody>
      </p:sp>
      <p:sp>
        <p:nvSpPr>
          <p:cNvPr id="5" name="">
            <a:extLst xmlns:a="http://schemas.openxmlformats.org/drawingml/2006/main">
              <a:ext uri="{FF2B5EF4-FFF2-40B4-BE49-F238E27FC236}">
                <a16:creationId xmlns:a16="http://schemas.microsoft.com/office/drawing/2014/main" id="{8E2AE451-FC4F-4876-96E3-8E2BA636E6D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Hyper-osmolar Imbalances This imbalance occurs as a result of water deficiency or extracellular solute overload.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water deficit, the amount of solutes is normal but they are dissolved in too little fluid.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solute excess, there are too many particles per unit of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Either situation will cause cell shrinkage and dehydration.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Significant causes of water deficit include:</a:t>
            </a:r>
          </a:p>
        </p:txBody>
      </p:sp>
      <p:sp>
        <p:nvSpPr>
          <p:cNvPr id="6" name="">
            <a:extLst xmlns:a="http://schemas.openxmlformats.org/drawingml/2006/main">
              <a:ext uri="{FF2B5EF4-FFF2-40B4-BE49-F238E27FC236}">
                <a16:creationId xmlns:a16="http://schemas.microsoft.com/office/drawing/2014/main" id="{F85B60E6-CFF4-437B-BECF-DC3EEEFC4E9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AE023F0-BBD0-4C8C-9EB7-491799A6F6B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1303026068"/>
      </p:ext>
    </p:extLst>
  </p:cSld>
</p:sld>
</file>

<file path=ppt/slides/slide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C13113-2064-4272-AA8F-FBC665A32AA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D054C8A-3945-4C16-BB6D-E1493D2FF41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Disturbances of Osmolality — continued</a:t>
            </a:r>
          </a:p>
        </p:txBody>
      </p:sp>
      <p:sp>
        <p:nvSpPr>
          <p:cNvPr id="3" name="">
            <a:extLst xmlns:a="http://schemas.openxmlformats.org/drawingml/2006/main">
              <a:ext uri="{FF2B5EF4-FFF2-40B4-BE49-F238E27FC236}">
                <a16:creationId xmlns:a16="http://schemas.microsoft.com/office/drawing/2014/main" id="{C379D4D6-8A2E-4928-9FE0-C1C53A697A6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C688B5E-4D8A-4A14-99E7-ACE13D7A34C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45</a:t>
            </a:r>
          </a:p>
        </p:txBody>
      </p:sp>
      <p:sp>
        <p:nvSpPr>
          <p:cNvPr id="5" name="">
            <a:extLst xmlns:a="http://schemas.openxmlformats.org/drawingml/2006/main">
              <a:ext uri="{FF2B5EF4-FFF2-40B4-BE49-F238E27FC236}">
                <a16:creationId xmlns:a16="http://schemas.microsoft.com/office/drawing/2014/main" id="{09757909-ADCF-4418-9E43-41C8AD7C675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Decreased Water Intake Increased Water Output *Impaired Thirst (cerebral injury) *Emesis *Coma or severe confusion *Fever (severe diaphoresis) *Difficulty in swallowing *Diarrhea *Unavailability of water *Diabetic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Insipidus *Overload of hypertonic solutions *Overload of protein, salt or glucose * Excessive gastric feedings Nursing Interventions * Correct the cause *Replace volume before electrolytes *Replace water *Monitor vital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signs frequently *Note the lab values of sodium and hemoglobin *Preserve skin and mucous membrane integrity *Assess and prevent the complications of dehydration to include: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fever, shock, renal failure, and coma *Note blood sugar alterations when administering dextrose based solutions *Monitor intake and output</a:t>
            </a:r>
          </a:p>
        </p:txBody>
      </p:sp>
      <p:sp>
        <p:nvSpPr>
          <p:cNvPr id="6" name="">
            <a:extLst xmlns:a="http://schemas.openxmlformats.org/drawingml/2006/main">
              <a:ext uri="{FF2B5EF4-FFF2-40B4-BE49-F238E27FC236}">
                <a16:creationId xmlns:a16="http://schemas.microsoft.com/office/drawing/2014/main" id="{25F147F9-AB67-4904-933C-4EF31ACD455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EAB8A27-5E17-4C27-B103-234C8E1CA2D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25</a:t>
            </a:r>
          </a:p>
        </p:txBody>
      </p:sp>
    </p:spTree>
    <p:extLst>
      <p:ext uri="{BB962C8B-B14F-4D97-AF65-F5344CB8AC3E}">
        <p14:creationId xmlns:p14="http://schemas.microsoft.com/office/powerpoint/2010/main" val="2005411914"/>
      </p:ext>
    </p:extLst>
  </p:cSld>
</p:sld>
</file>

<file path=ppt/slides/slide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FA8628-1E78-4B22-841D-67480B366E0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92106C-5767-4068-8633-D8654022E7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a:t>
            </a:r>
          </a:p>
        </p:txBody>
      </p:sp>
      <p:sp>
        <p:nvSpPr>
          <p:cNvPr id="3" name="">
            <a:extLst xmlns:a="http://schemas.openxmlformats.org/drawingml/2006/main">
              <a:ext uri="{FF2B5EF4-FFF2-40B4-BE49-F238E27FC236}">
                <a16:creationId xmlns:a16="http://schemas.microsoft.com/office/drawing/2014/main" id="{07FED7E0-A23F-4C73-8F2E-49EDB6391B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EF3C07B-514A-46FF-9626-8A639C81B55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DA4826A2-0B20-432B-9D18-071315A25BB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imbalance occurs from either a water excess or solute deficit.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water excess, the amount of solutes remains normal, but they are dissolved in too much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solute deficit, there are too few particles in solution per unit of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Both situations will cause the cell to swell.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Water Excess *Excess intake * Inability to excrete due to renal disease *Brain injury * Administration of multiple tap water enemas (hypotonic solution) Solute Deficit *Poor Sodium intake Diet Diuretics *Replacement of</a:t>
            </a:r>
          </a:p>
        </p:txBody>
      </p:sp>
      <p:sp>
        <p:nvSpPr>
          <p:cNvPr id="6" name="">
            <a:extLst xmlns:a="http://schemas.openxmlformats.org/drawingml/2006/main">
              <a:ext uri="{FF2B5EF4-FFF2-40B4-BE49-F238E27FC236}">
                <a16:creationId xmlns:a16="http://schemas.microsoft.com/office/drawing/2014/main" id="{E3D152DC-2C3B-4E70-900A-4B0518D3FE5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3042C56-1EE9-4067-87B7-DB036A9981D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622709054"/>
      </p:ext>
    </p:extLst>
  </p:cSld>
</p:sld>
</file>

<file path=ppt/slides/slide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616615-53BB-4942-A1A3-89E759CD5A5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839921E-0FBC-49A3-91F3-5CF71F5DE66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 — continued</a:t>
            </a:r>
          </a:p>
        </p:txBody>
      </p:sp>
      <p:sp>
        <p:nvSpPr>
          <p:cNvPr id="3" name="">
            <a:extLst xmlns:a="http://schemas.openxmlformats.org/drawingml/2006/main">
              <a:ext uri="{FF2B5EF4-FFF2-40B4-BE49-F238E27FC236}">
                <a16:creationId xmlns:a16="http://schemas.microsoft.com/office/drawing/2014/main" id="{F0B4F22F-D57A-457E-8754-E71BFC6045F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0440790-C77D-4462-8AE1-94091D8768C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47</a:t>
            </a:r>
          </a:p>
        </p:txBody>
      </p:sp>
      <p:sp>
        <p:nvSpPr>
          <p:cNvPr id="5" name="">
            <a:extLst xmlns:a="http://schemas.openxmlformats.org/drawingml/2006/main">
              <a:ext uri="{FF2B5EF4-FFF2-40B4-BE49-F238E27FC236}">
                <a16:creationId xmlns:a16="http://schemas.microsoft.com/office/drawing/2014/main" id="{E60963B6-2773-4B61-95C6-38D91317DD1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water and sodium losses with water only Nursing Interventions *Monitor intake and output *Restrict fluid intake if ADH over secretion is suspect * Administer hypotonic solutions cautiously *No tap water enemas *Daily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weight *Replace losses of both sodium and water * Avoid the use of plain water for irrigation Isotonic Disturbances When sodium and water increase or decrease proportionately equal to the extracellular fluid (ECF), this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imbalance can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Sodium is retained so is water and the volume of the extracellular compartment increases.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Fluctuations in the ECF characterize isotonic volume imbalances.</a:t>
            </a:r>
          </a:p>
        </p:txBody>
      </p:sp>
      <p:sp>
        <p:nvSpPr>
          <p:cNvPr id="6" name="">
            <a:extLst xmlns:a="http://schemas.openxmlformats.org/drawingml/2006/main">
              <a:ext uri="{FF2B5EF4-FFF2-40B4-BE49-F238E27FC236}">
                <a16:creationId xmlns:a16="http://schemas.microsoft.com/office/drawing/2014/main" id="{8CAA877F-D5B2-4678-BE79-C4B8500CC97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2ABE231-B27D-4E7D-ABEB-93C268CDF0A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2129835351"/>
      </p:ext>
    </p:extLst>
  </p:cSld>
</p:sld>
</file>

<file path=ppt/slides/slide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ACB0C6E-D6B4-4795-83C1-6251832236D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C5E8DC-0E7D-458A-A450-D01017F279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Hypo-Osmolar Imbalances — continued</a:t>
            </a:r>
          </a:p>
        </p:txBody>
      </p:sp>
      <p:sp>
        <p:nvSpPr>
          <p:cNvPr id="3" name="">
            <a:extLst xmlns:a="http://schemas.openxmlformats.org/drawingml/2006/main">
              <a:ext uri="{FF2B5EF4-FFF2-40B4-BE49-F238E27FC236}">
                <a16:creationId xmlns:a16="http://schemas.microsoft.com/office/drawing/2014/main" id="{A821C63D-E1AC-4C2B-B33B-B426D06D605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7E5895A-5065-44F9-A422-FD886A884C3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48</a:t>
            </a:r>
          </a:p>
        </p:txBody>
      </p:sp>
      <p:sp>
        <p:nvSpPr>
          <p:cNvPr id="5" name="">
            <a:extLst xmlns:a="http://schemas.openxmlformats.org/drawingml/2006/main">
              <a:ext uri="{FF2B5EF4-FFF2-40B4-BE49-F238E27FC236}">
                <a16:creationId xmlns:a16="http://schemas.microsoft.com/office/drawing/2014/main" id="{659C566C-EF18-4A84-BF79-FE98241B040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An increase in the ECF can result in edema and circulatory overload, while a decrease can result in circulatory collapse and shock.</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Since osmolality remains unchanged the cells neither swell nor shrink.</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ECF Volume Depletion *Vomiting *Diarrhea *Hemorrhage *Burns</a:t>
            </a:r>
          </a:p>
        </p:txBody>
      </p:sp>
      <p:sp>
        <p:nvSpPr>
          <p:cNvPr id="6" name="">
            <a:extLst xmlns:a="http://schemas.openxmlformats.org/drawingml/2006/main">
              <a:ext uri="{FF2B5EF4-FFF2-40B4-BE49-F238E27FC236}">
                <a16:creationId xmlns:a16="http://schemas.microsoft.com/office/drawing/2014/main" id="{287999E5-ABBC-429D-AEAB-81976EF8393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7AFB3C6-B692-428A-A80D-22AF7273839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26</a:t>
            </a:r>
          </a:p>
        </p:txBody>
      </p:sp>
    </p:spTree>
    <p:extLst>
      <p:ext uri="{BB962C8B-B14F-4D97-AF65-F5344CB8AC3E}">
        <p14:creationId xmlns:p14="http://schemas.microsoft.com/office/powerpoint/2010/main" val="1545886734"/>
      </p:ext>
    </p:extLst>
  </p:cSld>
</p:sld>
</file>

<file path=ppt/slides/slide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92A270-8D76-40D4-93F6-04179004E0B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7C17540-3E22-4EE9-AAAD-51BCF7B06E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*Fever</a:t>
            </a:r>
          </a:p>
        </p:txBody>
      </p:sp>
      <p:sp>
        <p:nvSpPr>
          <p:cNvPr id="3" name="">
            <a:extLst xmlns:a="http://schemas.openxmlformats.org/drawingml/2006/main">
              <a:ext uri="{FF2B5EF4-FFF2-40B4-BE49-F238E27FC236}">
                <a16:creationId xmlns:a16="http://schemas.microsoft.com/office/drawing/2014/main" id="{CF0A4AB2-69A5-4825-BDA2-27F59DF59B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DDCB836-E69C-4F8F-ABDD-C6DFE07C579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49</a:t>
            </a:r>
          </a:p>
        </p:txBody>
      </p:sp>
      <p:sp>
        <p:nvSpPr>
          <p:cNvPr id="5" name="">
            <a:extLst xmlns:a="http://schemas.openxmlformats.org/drawingml/2006/main">
              <a:ext uri="{FF2B5EF4-FFF2-40B4-BE49-F238E27FC236}">
                <a16:creationId xmlns:a16="http://schemas.microsoft.com/office/drawing/2014/main" id="{71558B91-892C-4E99-8968-0FD268E325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*Excessive Drainage *Decreased Aldosterone Production Nursing Intervention *Assess for symptoms of hypovolemia *Control the underlying cause Any delay in intervening for severe extracellular volume depletion can lead to</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shock and renal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ECF Volume Excess * Administration of large amounts of saline over a short period of time *Failure;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cardiac, renal, or liver *Patient's receiving corticosteroids, which may cause water and sodium retention Nursing Intervention * Administration of diuretics *Restriction of sodium *Daily weights *Strict intake and output</a:t>
            </a:r>
          </a:p>
        </p:txBody>
      </p:sp>
      <p:sp>
        <p:nvSpPr>
          <p:cNvPr id="6" name="">
            <a:extLst xmlns:a="http://schemas.openxmlformats.org/drawingml/2006/main">
              <a:ext uri="{FF2B5EF4-FFF2-40B4-BE49-F238E27FC236}">
                <a16:creationId xmlns:a16="http://schemas.microsoft.com/office/drawing/2014/main" id="{2E5D7DE8-80B5-4A03-82AC-161B8977CA6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748187E-9907-43CC-88A9-30B2599ACFB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27</a:t>
            </a:r>
          </a:p>
        </p:txBody>
      </p:sp>
    </p:spTree>
    <p:extLst>
      <p:ext uri="{BB962C8B-B14F-4D97-AF65-F5344CB8AC3E}">
        <p14:creationId xmlns:p14="http://schemas.microsoft.com/office/powerpoint/2010/main" val="1707723149"/>
      </p:ext>
    </p:extLst>
  </p:cSld>
</p:sld>
</file>

<file path=ppt/slides/slide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1586DAB-19C5-4B6F-A475-212F3AED838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AE9080C-841A-4D7E-846B-8F05A59A356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*Fever — continued</a:t>
            </a:r>
          </a:p>
        </p:txBody>
      </p:sp>
      <p:sp>
        <p:nvSpPr>
          <p:cNvPr id="3" name="">
            <a:extLst xmlns:a="http://schemas.openxmlformats.org/drawingml/2006/main">
              <a:ext uri="{FF2B5EF4-FFF2-40B4-BE49-F238E27FC236}">
                <a16:creationId xmlns:a16="http://schemas.microsoft.com/office/drawing/2014/main" id="{AA856654-4B16-4CFF-9DC4-79B238826E0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49BB483-B32F-433E-8504-3B2DD41FE6C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50</a:t>
            </a:r>
          </a:p>
        </p:txBody>
      </p:sp>
      <p:sp>
        <p:nvSpPr>
          <p:cNvPr id="5" name="">
            <a:extLst xmlns:a="http://schemas.openxmlformats.org/drawingml/2006/main">
              <a:ext uri="{FF2B5EF4-FFF2-40B4-BE49-F238E27FC236}">
                <a16:creationId xmlns:a16="http://schemas.microsoft.com/office/drawing/2014/main" id="{1687FDEE-F1FC-4E8D-93B6-AF7D88E9E12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Signs of circulatory overload include: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bounding pulse, pulmonary edema, engorgement of peripheral veins, hypertension, peripheral edema, and weight gain.</a:t>
            </a:r>
          </a:p>
        </p:txBody>
      </p:sp>
      <p:sp>
        <p:nvSpPr>
          <p:cNvPr id="6" name="">
            <a:extLst xmlns:a="http://schemas.openxmlformats.org/drawingml/2006/main">
              <a:ext uri="{FF2B5EF4-FFF2-40B4-BE49-F238E27FC236}">
                <a16:creationId xmlns:a16="http://schemas.microsoft.com/office/drawing/2014/main" id="{F56D6FAA-5FBC-4D9B-9ADE-8C573E7494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9719F60-7188-4B53-9518-8BF0D42841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27</a:t>
            </a:r>
          </a:p>
        </p:txBody>
      </p:sp>
    </p:spTree>
    <p:extLst>
      <p:ext uri="{BB962C8B-B14F-4D97-AF65-F5344CB8AC3E}">
        <p14:creationId xmlns:p14="http://schemas.microsoft.com/office/powerpoint/2010/main" val="1204189179"/>
      </p:ext>
    </p:extLst>
  </p:cSld>
</p:sld>
</file>

<file path=ppt/slides/slide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0A602B-E961-4E9B-B9EF-9D409DD895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C0BAEB7-B30B-40B4-8014-B4F3FB7DCC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a:t>
            </a:r>
          </a:p>
        </p:txBody>
      </p:sp>
      <p:sp>
        <p:nvSpPr>
          <p:cNvPr id="3" name="">
            <a:extLst xmlns:a="http://schemas.openxmlformats.org/drawingml/2006/main">
              <a:ext uri="{FF2B5EF4-FFF2-40B4-BE49-F238E27FC236}">
                <a16:creationId xmlns:a16="http://schemas.microsoft.com/office/drawing/2014/main" id="{23ED0B53-91F4-471D-8861-9730A5A1C7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F9E3074-B8EC-46FB-AB5D-13B577CD175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51</a:t>
            </a:r>
          </a:p>
        </p:txBody>
      </p:sp>
      <p:sp>
        <p:nvSpPr>
          <p:cNvPr id="5" name="">
            <a:extLst xmlns:a="http://schemas.openxmlformats.org/drawingml/2006/main">
              <a:ext uri="{FF2B5EF4-FFF2-40B4-BE49-F238E27FC236}">
                <a16:creationId xmlns:a16="http://schemas.microsoft.com/office/drawing/2014/main" id="{F384E5F1-10F4-4D18-8043-1669C5FF4F0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Sodium (Nat) Sodium is the most frequent cation in the extracellular fluid compartment.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Normal for a male approximately 145lbs is 2700-3000 mEq.</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normal concentration of sodium is 136-145 mEg/l.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supplies 90% of the total body cations.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Sodium performs the following vital functions:</a:t>
            </a:r>
          </a:p>
        </p:txBody>
      </p:sp>
      <p:sp>
        <p:nvSpPr>
          <p:cNvPr id="6" name="">
            <a:extLst xmlns:a="http://schemas.openxmlformats.org/drawingml/2006/main">
              <a:ext uri="{FF2B5EF4-FFF2-40B4-BE49-F238E27FC236}">
                <a16:creationId xmlns:a16="http://schemas.microsoft.com/office/drawing/2014/main" id="{E2BE5578-AD6F-48A1-9E7B-C03F409940D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F913831-976F-467E-9555-E02DD6AACEA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2109102014"/>
      </p:ext>
    </p:extLst>
  </p:cSld>
</p:sld>
</file>

<file path=ppt/slides/slide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9D18A9-EA4F-44DD-84CB-AF83A8D4E2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A60B558-7BB4-4A3C-BA0D-88A133C42D5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6C11A277-D4D2-4B31-889A-C73A2EBCA4C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73460BF-2968-46E7-B9FD-5B193AC1AE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52</a:t>
            </a:r>
          </a:p>
        </p:txBody>
      </p:sp>
      <p:sp>
        <p:nvSpPr>
          <p:cNvPr id="5" name="">
            <a:extLst xmlns:a="http://schemas.openxmlformats.org/drawingml/2006/main">
              <a:ext uri="{FF2B5EF4-FFF2-40B4-BE49-F238E27FC236}">
                <a16:creationId xmlns:a16="http://schemas.microsoft.com/office/drawing/2014/main" id="{EA82CACB-4064-44DB-A3B7-6AE7887AABA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*Maintains plasma volume regulating the size of the vascular space *Regulates the ECF compartment volume *Aids in conduction of nerve impulses *Controls the osmotic equilibrium between the ICF and the ECF and thereby the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distribution of body water *Helps with muscle contractility, especially the heart * Assists in the maintenance of neuromuscular irritability Daily sodium requirements are approximately 4.5gm.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normal diet will satisfy daily needs.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Deficit (Hyponatremia) Hyponatremia refers to the amount of sodium the extracellular compartment contains compared to the amount of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Dilutional Hyponatremia - Usually occurs with the expansion of total body water, as in renal failure and congestive heart failure.</a:t>
            </a:r>
          </a:p>
        </p:txBody>
      </p:sp>
      <p:sp>
        <p:nvSpPr>
          <p:cNvPr id="6" name="">
            <a:extLst xmlns:a="http://schemas.openxmlformats.org/drawingml/2006/main">
              <a:ext uri="{FF2B5EF4-FFF2-40B4-BE49-F238E27FC236}">
                <a16:creationId xmlns:a16="http://schemas.microsoft.com/office/drawing/2014/main" id="{8B89436D-52D9-4E11-9F46-AD2A395190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15C1477-E35B-4630-AFCA-B49A289E5FB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1576233166"/>
      </p:ext>
    </p:extLst>
  </p:cSld>
</p:sld>
</file>

<file path=ppt/slides/slide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7861C9-0BF2-4680-8E6C-01FCAE5D31A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5E34779-F616-4F62-9FF1-66F7B203E23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87A5921B-360E-43F8-B483-D920ECC96D2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078BB0F-3192-4847-905E-9D3C4E63F5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53</a:t>
            </a:r>
          </a:p>
        </p:txBody>
      </p:sp>
      <p:sp>
        <p:nvSpPr>
          <p:cNvPr id="5" name="">
            <a:extLst xmlns:a="http://schemas.openxmlformats.org/drawingml/2006/main">
              <a:ext uri="{FF2B5EF4-FFF2-40B4-BE49-F238E27FC236}">
                <a16:creationId xmlns:a16="http://schemas.microsoft.com/office/drawing/2014/main" id="{3055063E-3B51-4759-827E-43255CBF8AB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Water restriction is one means of treatment.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this condition there is increased total body sodium even though serum levels are low because the body retains greater amounts of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Saline is given only if severe symptoms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Water Intoxication - Usually occurs when a patient takes an abnormal amount of water, regardless of excretion.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its severity, symptoms include: confusion, muscle twitching, or seizures.</a:t>
            </a:r>
          </a:p>
        </p:txBody>
      </p:sp>
      <p:sp>
        <p:nvSpPr>
          <p:cNvPr id="6" name="">
            <a:extLst xmlns:a="http://schemas.openxmlformats.org/drawingml/2006/main">
              <a:ext uri="{FF2B5EF4-FFF2-40B4-BE49-F238E27FC236}">
                <a16:creationId xmlns:a16="http://schemas.microsoft.com/office/drawing/2014/main" id="{37FDDA6F-5709-43DC-A66E-70ACF9AA299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ACFAB60-4E68-42DD-9EC1-39F505DECD7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92864075"/>
      </p:ext>
    </p:extLst>
  </p:cSld>
</p:sld>
</file>

<file path=ppt/slides/slide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53779E-93BC-49F2-BAD6-BE0CDF5CBE1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5CE03E2-7E38-45A3-BA40-3D42AD64E72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8A305C87-620B-4773-AD13-7B97B928D7A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694DA6A-5B95-4756-A484-0B60BC82C08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54</a:t>
            </a:r>
          </a:p>
        </p:txBody>
      </p:sp>
      <p:sp>
        <p:nvSpPr>
          <p:cNvPr id="5" name="">
            <a:extLst xmlns:a="http://schemas.openxmlformats.org/drawingml/2006/main">
              <a:ext uri="{FF2B5EF4-FFF2-40B4-BE49-F238E27FC236}">
                <a16:creationId xmlns:a16="http://schemas.microsoft.com/office/drawing/2014/main" id="{A7ABF148-1F12-4ECE-80C5-B6DE4F67345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Restricting water intake is one means of treatment.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 not give hypertonic saline.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rare instances 3% or 5% saline has been given in an effort to control and restore a non-symptomatic state, not to replace sodium.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treatment is very dangerous and can lead to circulatory overload.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patient must be monitored closely.</a:t>
            </a:r>
          </a:p>
        </p:txBody>
      </p:sp>
      <p:sp>
        <p:nvSpPr>
          <p:cNvPr id="6" name="">
            <a:extLst xmlns:a="http://schemas.openxmlformats.org/drawingml/2006/main">
              <a:ext uri="{FF2B5EF4-FFF2-40B4-BE49-F238E27FC236}">
                <a16:creationId xmlns:a16="http://schemas.microsoft.com/office/drawing/2014/main" id="{4973487E-1FB0-46F8-8082-A14344B0610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6574A49-ABBC-4CB1-A1C9-EE4765BE3F1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909406172"/>
      </p:ext>
    </p:extLst>
  </p:cSld>
</p:sld>
</file>

<file path=ppt/slides/slide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2840EF-B853-4E29-885D-E3C9369D616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28C3D7A-32F7-4BFF-9076-37354457EF3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Serum Electrolytes — continued</a:t>
            </a:r>
          </a:p>
        </p:txBody>
      </p:sp>
      <p:sp>
        <p:nvSpPr>
          <p:cNvPr id="3" name="">
            <a:extLst xmlns:a="http://schemas.openxmlformats.org/drawingml/2006/main">
              <a:ext uri="{FF2B5EF4-FFF2-40B4-BE49-F238E27FC236}">
                <a16:creationId xmlns:a16="http://schemas.microsoft.com/office/drawing/2014/main" id="{9A0E2732-8DC2-4BF6-8089-9C8EA8F6DF4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F9715AB-F031-4AC5-BE07-3514422BC90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55</a:t>
            </a:r>
          </a:p>
        </p:txBody>
      </p:sp>
      <p:sp>
        <p:nvSpPr>
          <p:cNvPr id="5" name="">
            <a:extLst xmlns:a="http://schemas.openxmlformats.org/drawingml/2006/main">
              <a:ext uri="{FF2B5EF4-FFF2-40B4-BE49-F238E27FC236}">
                <a16:creationId xmlns:a16="http://schemas.microsoft.com/office/drawing/2014/main" id="{F07F95A4-3686-4B92-B7E2-7D38AA4AB5F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True Hyponatremia - Usually occurs secondary to a loss of sodium, such as diarrhea, vomiting, renal disorders, and or adrenal insufficiency.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symptomatology reflected in this condition includes: the loss of skin turgor, tachycardia, hypotension, azotemia, and oliguria.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These are typical of low ECF volume and make diagnosis easy.</a:t>
            </a:r>
          </a:p>
        </p:txBody>
      </p:sp>
      <p:sp>
        <p:nvSpPr>
          <p:cNvPr id="6" name="">
            <a:extLst xmlns:a="http://schemas.openxmlformats.org/drawingml/2006/main">
              <a:ext uri="{FF2B5EF4-FFF2-40B4-BE49-F238E27FC236}">
                <a16:creationId xmlns:a16="http://schemas.microsoft.com/office/drawing/2014/main" id="{3177B93C-5CDD-4EAD-A3B2-F5E61DC0559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C3BC64F-53DD-4515-B472-8018FCC870F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28</a:t>
            </a:r>
          </a:p>
        </p:txBody>
      </p:sp>
    </p:spTree>
    <p:extLst>
      <p:ext uri="{BB962C8B-B14F-4D97-AF65-F5344CB8AC3E}">
        <p14:creationId xmlns:p14="http://schemas.microsoft.com/office/powerpoint/2010/main" val="1089073382"/>
      </p:ext>
    </p:extLst>
  </p:cSld>
</p:sld>
</file>

<file path=ppt/slides/slide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9CE62A-1C49-4155-B468-16508FB13E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99BBFF-DA9C-4E08-95C6-CD4CE27459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a:t>
            </a:r>
          </a:p>
        </p:txBody>
      </p:sp>
      <p:sp>
        <p:nvSpPr>
          <p:cNvPr id="3" name="">
            <a:extLst xmlns:a="http://schemas.openxmlformats.org/drawingml/2006/main">
              <a:ext uri="{FF2B5EF4-FFF2-40B4-BE49-F238E27FC236}">
                <a16:creationId xmlns:a16="http://schemas.microsoft.com/office/drawing/2014/main" id="{5ED90FC1-3A59-4C67-9A1B-0A4AF25498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1843672-F083-4F85-A8CB-95910224EDD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3ADB4281-1F60-4635-92B4-8599B0FD9E0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SIADH (Syndrome of inappropriate secretion of ADH) - Usually occurs due to cerebral disorders, lung disorders, malignant tumors, and cirrhosis.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a dilutional problem secondary to water retention with an uncontrolled ADH effect on the renal tubule.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After the serum sodium had returned to normal, water should be given in an amount equal to the combined totals of insensible losses and output.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Starvation Hyponatremia - Usually occurs in patients with cancer, dieters, and those deprived of food for long periods of time.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Patients with chronic disease may not show clinical signs of dehydration, but their sodium levels should be low.</a:t>
            </a:r>
          </a:p>
        </p:txBody>
      </p:sp>
      <p:sp>
        <p:nvSpPr>
          <p:cNvPr id="6" name="">
            <a:extLst xmlns:a="http://schemas.openxmlformats.org/drawingml/2006/main">
              <a:ext uri="{FF2B5EF4-FFF2-40B4-BE49-F238E27FC236}">
                <a16:creationId xmlns:a16="http://schemas.microsoft.com/office/drawing/2014/main" id="{F3957749-CCE8-47A9-99D4-4DCEDFA5C9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9B24DE1-C8FD-417E-ACD2-B9E64811311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571745961"/>
      </p:ext>
    </p:extLst>
  </p:cSld>
</p:sld>
</file>

<file path=ppt/slides/slide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DDA81B5-99B4-4535-AB52-F7FEAAFFC07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985126-B2DD-4E6C-93C5-D1362503A2F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BCA277B1-DCBD-40FC-89ED-B3C70E11665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EDD09BE-0AD8-487A-956A-6ED5A5A4B38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57</a:t>
            </a:r>
          </a:p>
        </p:txBody>
      </p:sp>
      <p:sp>
        <p:nvSpPr>
          <p:cNvPr id="5" name="">
            <a:extLst xmlns:a="http://schemas.openxmlformats.org/drawingml/2006/main">
              <a:ext uri="{FF2B5EF4-FFF2-40B4-BE49-F238E27FC236}">
                <a16:creationId xmlns:a16="http://schemas.microsoft.com/office/drawing/2014/main" id="{C7BE58FB-E90F-4499-B1B1-9F061D2FB27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usually the result of starvation.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Treatment is geared towards improving the nutritional status.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Excess (Hypernatremia) When the amount of water loss exceeds sodium losses, or when water intake is insufficient hypernatremia can occur.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hyper-osmolar state that occurs can be critical.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cause is excessive water loss and accompanies cellular and extracellular dehydration.</a:t>
            </a:r>
          </a:p>
        </p:txBody>
      </p:sp>
      <p:sp>
        <p:nvSpPr>
          <p:cNvPr id="6" name="">
            <a:extLst xmlns:a="http://schemas.openxmlformats.org/drawingml/2006/main">
              <a:ext uri="{FF2B5EF4-FFF2-40B4-BE49-F238E27FC236}">
                <a16:creationId xmlns:a16="http://schemas.microsoft.com/office/drawing/2014/main" id="{CDE2F76B-4C6B-4796-B8E1-4501D0B7F62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9F941E8-FC19-41E3-A66C-C1F323C4FD1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448509936"/>
      </p:ext>
    </p:extLst>
  </p:cSld>
</p:sld>
</file>

<file path=ppt/slides/slide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E34705-A923-411C-957D-8E2A003277B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7040619-8EC2-4F50-816B-306BE65EFD6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AFA463CD-D6ED-4C65-B639-E629DE71356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C638A98-6A05-4B3F-BC5E-0A156140B82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58</a:t>
            </a:r>
          </a:p>
        </p:txBody>
      </p:sp>
      <p:sp>
        <p:nvSpPr>
          <p:cNvPr id="5" name="">
            <a:extLst xmlns:a="http://schemas.openxmlformats.org/drawingml/2006/main">
              <a:ext uri="{FF2B5EF4-FFF2-40B4-BE49-F238E27FC236}">
                <a16:creationId xmlns:a16="http://schemas.microsoft.com/office/drawing/2014/main" id="{B3A29647-CD08-437C-85AB-A504E0277B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example, diarrhea, profuse sweating, and high protein tube feedings.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Water is drawn out of the intracellular fluid compartment and results in excess sodium and insufficient water in both compartments.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condition should be considered in any situation where the patient cannot ask for water; tracheobronchitis, or infants with sever diarrhea.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Salt intoxication - This occurs when significant amounts of sodium are added to the ECF in a short period of time.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is an outpouring of water into the interstitial and vascular compartments, which may result in convulsions or pulmonary edema.</a:t>
            </a:r>
          </a:p>
        </p:txBody>
      </p:sp>
      <p:sp>
        <p:nvSpPr>
          <p:cNvPr id="6" name="">
            <a:extLst xmlns:a="http://schemas.openxmlformats.org/drawingml/2006/main">
              <a:ext uri="{FF2B5EF4-FFF2-40B4-BE49-F238E27FC236}">
                <a16:creationId xmlns:a16="http://schemas.microsoft.com/office/drawing/2014/main" id="{28262083-5799-43E3-8FA5-990E8ED8309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0CEF944-2A07-4AE5-B7AE-4A5DE3BD61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596189646"/>
      </p:ext>
    </p:extLst>
  </p:cSld>
</p:sld>
</file>

<file path=ppt/slides/slide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568540-5E97-4F5A-BB4B-58FEE3A908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41085E-BF5F-4D5C-8304-53600352EBB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7F4BD63A-8838-4546-80D3-AAD78541EB3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F55EC94-080B-4265-B4B4-2E4EA11DF2B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59</a:t>
            </a:r>
          </a:p>
        </p:txBody>
      </p:sp>
      <p:sp>
        <p:nvSpPr>
          <p:cNvPr id="5" name="">
            <a:extLst xmlns:a="http://schemas.openxmlformats.org/drawingml/2006/main">
              <a:ext uri="{FF2B5EF4-FFF2-40B4-BE49-F238E27FC236}">
                <a16:creationId xmlns:a16="http://schemas.microsoft.com/office/drawing/2014/main" id="{C2265CE7-F216-47C7-8BC4-3337C71E29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clinical signs may present as flushed skin, intense thirst, and dry mucus membranes.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tissues usually remain firm due to excess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patient may present with fever, oliguria, anuria, and agitation.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treatment is the administration of salt free solutions hypotonic infusion).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Potassium is the most frequent cation in the intracellular fluid compartment.</a:t>
            </a:r>
          </a:p>
        </p:txBody>
      </p:sp>
      <p:sp>
        <p:nvSpPr>
          <p:cNvPr id="6" name="">
            <a:extLst xmlns:a="http://schemas.openxmlformats.org/drawingml/2006/main">
              <a:ext uri="{FF2B5EF4-FFF2-40B4-BE49-F238E27FC236}">
                <a16:creationId xmlns:a16="http://schemas.microsoft.com/office/drawing/2014/main" id="{9202A188-7D83-4D7B-89E3-CB420A2E031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4CFE240-2333-4B28-827F-8B162D4C699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7531659"/>
      </p:ext>
    </p:extLst>
  </p:cSld>
</p:sld>
</file>

<file path=ppt/slides/slide6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B24CF0F-A62F-4FEE-B3C2-333180218D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FC293A6-C137-4466-9749-A77A3819FB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E4E8C345-9C21-43BB-B329-735EAE16BCD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8059CA9-2EAA-47E2-BD28-911C3B6FD8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60</a:t>
            </a:r>
          </a:p>
        </p:txBody>
      </p:sp>
      <p:sp>
        <p:nvSpPr>
          <p:cNvPr id="5" name="">
            <a:extLst xmlns:a="http://schemas.openxmlformats.org/drawingml/2006/main">
              <a:ext uri="{FF2B5EF4-FFF2-40B4-BE49-F238E27FC236}">
                <a16:creationId xmlns:a16="http://schemas.microsoft.com/office/drawing/2014/main" id="{5D3BC22B-8B42-4490-9F5C-A64FBF02F1F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Normal values for a male 1451bs.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are 3500 mEq.</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Although found in all fluid compartments, the ICF contains 98% of all body potassium.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normal concentration is 3.5-5.0 mEg/L.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Potassium performs the following vital functions: *Regulates osmolality of the ICF.</a:t>
            </a:r>
          </a:p>
        </p:txBody>
      </p:sp>
      <p:sp>
        <p:nvSpPr>
          <p:cNvPr id="6" name="">
            <a:extLst xmlns:a="http://schemas.openxmlformats.org/drawingml/2006/main">
              <a:ext uri="{FF2B5EF4-FFF2-40B4-BE49-F238E27FC236}">
                <a16:creationId xmlns:a16="http://schemas.microsoft.com/office/drawing/2014/main" id="{CB25ECD7-FC57-4353-8C49-D21DCB33350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C7D14C2-95EF-4160-A7B9-A7101C484B0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1023843012"/>
      </p:ext>
    </p:extLst>
  </p:cSld>
</p:sld>
</file>

<file path=ppt/slides/slide6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D566CDE-7625-4EA2-A8E0-0155FAFEF4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070606C-AE5B-4AC7-B8E1-8245CA08D78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79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combined totals of insensible losses and output. — continued</a:t>
            </a:r>
          </a:p>
        </p:txBody>
      </p:sp>
      <p:sp>
        <p:nvSpPr>
          <p:cNvPr id="3" name="">
            <a:extLst xmlns:a="http://schemas.openxmlformats.org/drawingml/2006/main">
              <a:ext uri="{FF2B5EF4-FFF2-40B4-BE49-F238E27FC236}">
                <a16:creationId xmlns:a16="http://schemas.microsoft.com/office/drawing/2014/main" id="{0F4815D4-EA47-48E5-8E4F-48F2A68ED9C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6906EF9-E170-4A23-ACDB-C0942621314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61</a:t>
            </a:r>
          </a:p>
        </p:txBody>
      </p:sp>
      <p:sp>
        <p:nvSpPr>
          <p:cNvPr id="5" name="">
            <a:extLst xmlns:a="http://schemas.openxmlformats.org/drawingml/2006/main">
              <a:ext uri="{FF2B5EF4-FFF2-40B4-BE49-F238E27FC236}">
                <a16:creationId xmlns:a16="http://schemas.microsoft.com/office/drawing/2014/main" id="{3F45DDE0-4E4D-4684-B05A-B9BF8E3523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*Necessary for cellular metabolism and growth *Helps conduct nerve impulses *Helps in the function of skeletal, cardiac, and smooth muscle contraction Daily potassium requirements are 40 mEq.</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 normal diet will generally meet these requirements.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80-90% of ingested potassium will generally be excreted via the urine, while 10-20% via the GI tract.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Aldosterone acts on both the kidney and the GI tract to retain sodium and excrete potassium in maintaining balance in the body.</a:t>
            </a:r>
          </a:p>
        </p:txBody>
      </p:sp>
      <p:sp>
        <p:nvSpPr>
          <p:cNvPr id="6" name="">
            <a:extLst xmlns:a="http://schemas.openxmlformats.org/drawingml/2006/main">
              <a:ext uri="{FF2B5EF4-FFF2-40B4-BE49-F238E27FC236}">
                <a16:creationId xmlns:a16="http://schemas.microsoft.com/office/drawing/2014/main" id="{59CB508C-D5CE-4DBA-BE0B-536FB38C1CE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AE506EE-47F2-4C00-844B-1623699E093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29</a:t>
            </a:r>
          </a:p>
        </p:txBody>
      </p:sp>
    </p:spTree>
    <p:extLst>
      <p:ext uri="{BB962C8B-B14F-4D97-AF65-F5344CB8AC3E}">
        <p14:creationId xmlns:p14="http://schemas.microsoft.com/office/powerpoint/2010/main" val="241460582"/>
      </p:ext>
    </p:extLst>
  </p:cSld>
</p:sld>
</file>

<file path=ppt/slides/slide6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5E9A6B-721C-44F8-BFB2-802B346FEEB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058D6C-1CFB-4332-8F27-7B97CAC419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a:t>
            </a:r>
          </a:p>
        </p:txBody>
      </p:sp>
      <p:sp>
        <p:nvSpPr>
          <p:cNvPr id="3" name="">
            <a:extLst xmlns:a="http://schemas.openxmlformats.org/drawingml/2006/main">
              <a:ext uri="{FF2B5EF4-FFF2-40B4-BE49-F238E27FC236}">
                <a16:creationId xmlns:a16="http://schemas.microsoft.com/office/drawing/2014/main" id="{2E8D9748-A4C7-4566-81FD-6417D6A036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A4C6D02-8F21-4B68-B8C4-D1559114FB1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62</a:t>
            </a:r>
          </a:p>
        </p:txBody>
      </p:sp>
      <p:sp>
        <p:nvSpPr>
          <p:cNvPr id="5" name="">
            <a:extLst xmlns:a="http://schemas.openxmlformats.org/drawingml/2006/main">
              <a:ext uri="{FF2B5EF4-FFF2-40B4-BE49-F238E27FC236}">
                <a16:creationId xmlns:a16="http://schemas.microsoft.com/office/drawing/2014/main" id="{E3CEFDA8-BF8C-42FF-B3D5-8F035B3B43F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kidney functions to preserve sodium while excreting potassium, even when both are at low levels.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Because the kidney prefers to conserve sodium under the influence of aldosterone, the following clinical picture may be seen: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*Cushing's syndrome (Hyperaldosteronism) - Both may stimulate potassium/sodium exchange in the kidney.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*Renal disease - Increases urinary potassium loss by either accelerated losses, or defective re-absorption.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*Congestive heart failure - Increases aldosterone levels.</a:t>
            </a:r>
          </a:p>
        </p:txBody>
      </p:sp>
      <p:sp>
        <p:nvSpPr>
          <p:cNvPr id="6" name="">
            <a:extLst xmlns:a="http://schemas.openxmlformats.org/drawingml/2006/main">
              <a:ext uri="{FF2B5EF4-FFF2-40B4-BE49-F238E27FC236}">
                <a16:creationId xmlns:a16="http://schemas.microsoft.com/office/drawing/2014/main" id="{5093CFAE-C244-46ED-A732-6C5238297CC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B3DE1B-08FB-4048-B61F-17D96ECD55F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006465296"/>
      </p:ext>
    </p:extLst>
  </p:cSld>
</p:sld>
</file>

<file path=ppt/slides/slide6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0345621-8596-4D19-9353-6EB51750AD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E74E4DD-00C1-4308-A555-31A13B9BA95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8A96E5D1-5106-4CE9-BCD8-D515641C28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2797EDF-FEDE-415A-84B9-6DD03E87B82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63</a:t>
            </a:r>
          </a:p>
        </p:txBody>
      </p:sp>
      <p:sp>
        <p:nvSpPr>
          <p:cNvPr id="5" name="">
            <a:extLst xmlns:a="http://schemas.openxmlformats.org/drawingml/2006/main">
              <a:ext uri="{FF2B5EF4-FFF2-40B4-BE49-F238E27FC236}">
                <a16:creationId xmlns:a16="http://schemas.microsoft.com/office/drawing/2014/main" id="{62EB60B6-9A7F-407F-AD45-468817A839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*Prolonged vomiting - Loss of K+ enriched fluid and metabolic alkalosis, with K+ enriched fluid.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*Diarrhea - loss of kt enriched fluid.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*Diuretics - Stimulate the loss of K+(Lasix, Diamox, and Edecrin).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K+ depletion can occur in both fluid compartments.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ICF deficit, plasma levels may remain deceptively high prior to dropping to true levels accurately reflecting the condition.</a:t>
            </a:r>
          </a:p>
        </p:txBody>
      </p:sp>
      <p:sp>
        <p:nvSpPr>
          <p:cNvPr id="6" name="">
            <a:extLst xmlns:a="http://schemas.openxmlformats.org/drawingml/2006/main">
              <a:ext uri="{FF2B5EF4-FFF2-40B4-BE49-F238E27FC236}">
                <a16:creationId xmlns:a16="http://schemas.microsoft.com/office/drawing/2014/main" id="{1940AF91-4558-4A1E-BA8F-7C9D14DDAA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B04EDAA-E345-4665-826E-CDB223BB161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476444499"/>
      </p:ext>
    </p:extLst>
  </p:cSld>
</p:sld>
</file>

<file path=ppt/slides/slide6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7A2BB5-7425-492C-BC16-94D3DC8856F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E8DAAF7-8D9D-4CF4-80EE-D3B412B75C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DF551640-4F1F-4F7A-A24B-72A871A80C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6BB7E75-6FAD-4B3B-87C1-6C67B7404D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64</a:t>
            </a:r>
          </a:p>
        </p:txBody>
      </p:sp>
      <p:sp>
        <p:nvSpPr>
          <p:cNvPr id="5" name="">
            <a:extLst xmlns:a="http://schemas.openxmlformats.org/drawingml/2006/main">
              <a:ext uri="{FF2B5EF4-FFF2-40B4-BE49-F238E27FC236}">
                <a16:creationId xmlns:a16="http://schemas.microsoft.com/office/drawing/2014/main" id="{8B80991E-A3DC-40BB-8AA1-C310D340A9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Acute shortages may be tolerated.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long-term potassium deficits affect the kidneys and the heart.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Profound deficits can cause ventricular fibrillation and cardiac arrest.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digitalized patient with low potassium can have fatal arrhythmias and death may ensue.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Alkalosis usually occurs with hypokalemia.</a:t>
            </a:r>
          </a:p>
        </p:txBody>
      </p:sp>
      <p:sp>
        <p:nvSpPr>
          <p:cNvPr id="6" name="">
            <a:extLst xmlns:a="http://schemas.openxmlformats.org/drawingml/2006/main">
              <a:ext uri="{FF2B5EF4-FFF2-40B4-BE49-F238E27FC236}">
                <a16:creationId xmlns:a16="http://schemas.microsoft.com/office/drawing/2014/main" id="{C70A6205-6370-49E9-8BCE-9F00805E652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95ED9E8-2304-4D5B-88EA-A6FF0292B94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461938144"/>
      </p:ext>
    </p:extLst>
  </p:cSld>
</p:sld>
</file>

<file path=ppt/slides/slide6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CD20CD-5444-4DF1-9708-85E889C99F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D3BDED-2FE3-482C-88FD-2D841A2CED1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CEDAA202-1D35-4C0C-A777-8BB4F00F165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34610A1-B4FF-41D6-B535-E5739045E2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65</a:t>
            </a:r>
          </a:p>
        </p:txBody>
      </p:sp>
      <p:sp>
        <p:nvSpPr>
          <p:cNvPr id="5" name="">
            <a:extLst xmlns:a="http://schemas.openxmlformats.org/drawingml/2006/main">
              <a:ext uri="{FF2B5EF4-FFF2-40B4-BE49-F238E27FC236}">
                <a16:creationId xmlns:a16="http://schemas.microsoft.com/office/drawing/2014/main" id="{57AA0ED2-0CE1-4A3C-B26C-FA0F84D202F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 the plasma level of potassium falls, the kidney excretes hydrogen ions in place of potassium to sustain the electromechanical needs of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in the alkalosis state, the kidneys will attempt to conserve hydrogen and excrete potassium.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low or high potassium level will lead to the same neuromuscular effects.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treatment of choice is the administration of potassium supplements.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Usually oral supplements will take care of the problem.</a:t>
            </a:r>
          </a:p>
        </p:txBody>
      </p:sp>
      <p:sp>
        <p:nvSpPr>
          <p:cNvPr id="6" name="">
            <a:extLst xmlns:a="http://schemas.openxmlformats.org/drawingml/2006/main">
              <a:ext uri="{FF2B5EF4-FFF2-40B4-BE49-F238E27FC236}">
                <a16:creationId xmlns:a16="http://schemas.microsoft.com/office/drawing/2014/main" id="{FE98FC22-DF8B-4D41-96BB-CDF9239534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483899A-94C9-499F-8440-18B4C3C98A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944605552"/>
      </p:ext>
    </p:extLst>
  </p:cSld>
</p:sld>
</file>

<file path=ppt/slides/slide6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CF7B6FF-4A83-4C87-BC8A-F8C8A63BD2E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26C4D96-BBC0-4FC0-8F6D-87C09A64A37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FEA3F9B0-D096-4EE1-9D73-14AD8CB6DCE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7F3CEC1-4D2D-4B4F-855E-F9717D3A03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66</a:t>
            </a:r>
          </a:p>
        </p:txBody>
      </p:sp>
      <p:sp>
        <p:nvSpPr>
          <p:cNvPr id="5" name="">
            <a:extLst xmlns:a="http://schemas.openxmlformats.org/drawingml/2006/main">
              <a:ext uri="{FF2B5EF4-FFF2-40B4-BE49-F238E27FC236}">
                <a16:creationId xmlns:a16="http://schemas.microsoft.com/office/drawing/2014/main" id="{19283018-E705-40D3-87F6-5226C3904D7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if the symptoms are severe intravenous potassium can be given.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Intravenous potassium should be given slowly (10 mEq/hr).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Never administer any electrolytes by the I.M.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or S.Q.</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route.</a:t>
            </a:r>
          </a:p>
        </p:txBody>
      </p:sp>
      <p:sp>
        <p:nvSpPr>
          <p:cNvPr id="6" name="">
            <a:extLst xmlns:a="http://schemas.openxmlformats.org/drawingml/2006/main">
              <a:ext uri="{FF2B5EF4-FFF2-40B4-BE49-F238E27FC236}">
                <a16:creationId xmlns:a16="http://schemas.microsoft.com/office/drawing/2014/main" id="{9CFEBD11-08E2-4777-A1BF-0E22A540CCF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582F3E4-B404-42ED-B5EA-1FB55766FFF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142933869"/>
      </p:ext>
    </p:extLst>
  </p:cSld>
</p:sld>
</file>

<file path=ppt/slides/slide6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EE42F0-4EAC-4A50-A281-99122B8D792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2F40F8-D69D-4281-A2CC-76220A13E9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152567A2-6EAA-4940-8AAF-429A56A01CD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76A3A63-9C37-4AEC-96AE-308B0EE02F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67</a:t>
            </a:r>
          </a:p>
        </p:txBody>
      </p:sp>
      <p:sp>
        <p:nvSpPr>
          <p:cNvPr id="5" name="">
            <a:extLst xmlns:a="http://schemas.openxmlformats.org/drawingml/2006/main">
              <a:ext uri="{FF2B5EF4-FFF2-40B4-BE49-F238E27FC236}">
                <a16:creationId xmlns:a16="http://schemas.microsoft.com/office/drawing/2014/main" id="{CA1F0E4A-58F6-4097-8E55-A0A03BF75F6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infusing potassium, be aware of chemical phlebitis due to the irritation from the potassium in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 attuned to patient complaints.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pharmacy may have suggestions or additives to lessen the irritation caused by the potassium infusing.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Frequent I.V.</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site care is recommended.</a:t>
            </a:r>
          </a:p>
        </p:txBody>
      </p:sp>
      <p:sp>
        <p:nvSpPr>
          <p:cNvPr id="6" name="">
            <a:extLst xmlns:a="http://schemas.openxmlformats.org/drawingml/2006/main">
              <a:ext uri="{FF2B5EF4-FFF2-40B4-BE49-F238E27FC236}">
                <a16:creationId xmlns:a16="http://schemas.microsoft.com/office/drawing/2014/main" id="{827C8DB3-802E-404B-9EFA-B5063AE9105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665F946-DB3F-4215-A826-7529664C7E8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703719653"/>
      </p:ext>
    </p:extLst>
  </p:cSld>
</p:sld>
</file>

<file path=ppt/slides/slide6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A9E407F-875C-4623-B9AC-A62097676ED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D66B9F-3F84-4A24-B17C-6E31671AA75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Potassium deficit (Hypokalemia) — continued</a:t>
            </a:r>
          </a:p>
        </p:txBody>
      </p:sp>
      <p:sp>
        <p:nvSpPr>
          <p:cNvPr id="3" name="">
            <a:extLst xmlns:a="http://schemas.openxmlformats.org/drawingml/2006/main">
              <a:ext uri="{FF2B5EF4-FFF2-40B4-BE49-F238E27FC236}">
                <a16:creationId xmlns:a16="http://schemas.microsoft.com/office/drawing/2014/main" id="{487B03AB-5879-400E-998F-6D4CF448EDA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22E23B3-452E-4C17-A457-94EF3E62661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68</a:t>
            </a:r>
          </a:p>
        </p:txBody>
      </p:sp>
      <p:sp>
        <p:nvSpPr>
          <p:cNvPr id="5" name="">
            <a:extLst xmlns:a="http://schemas.openxmlformats.org/drawingml/2006/main">
              <a:ext uri="{FF2B5EF4-FFF2-40B4-BE49-F238E27FC236}">
                <a16:creationId xmlns:a16="http://schemas.microsoft.com/office/drawing/2014/main" id="{C6E94F0E-7D99-471B-8DD0-8278A8683C9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Potassium Excess (Hyperkalemia) There are three major causes of this imbalance: 1.</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Retention of Potassium - Most commonly seen in people with renal failure, postoperative reduced urine output, and those with adrenocortical insufficiency.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Excessive Release of Potassium from the Cells - Most commonly seen in people with</a:t>
            </a:r>
          </a:p>
        </p:txBody>
      </p:sp>
      <p:sp>
        <p:nvSpPr>
          <p:cNvPr id="6" name="">
            <a:extLst xmlns:a="http://schemas.openxmlformats.org/drawingml/2006/main">
              <a:ext uri="{FF2B5EF4-FFF2-40B4-BE49-F238E27FC236}">
                <a16:creationId xmlns:a16="http://schemas.microsoft.com/office/drawing/2014/main" id="{A1E0DD55-96B2-4CB2-916D-8E0BC95CD1F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E5C4DC0-A9CE-41D7-B1E0-195B32781F4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30</a:t>
            </a:r>
          </a:p>
        </p:txBody>
      </p:sp>
    </p:spTree>
    <p:extLst>
      <p:ext uri="{BB962C8B-B14F-4D97-AF65-F5344CB8AC3E}">
        <p14:creationId xmlns:p14="http://schemas.microsoft.com/office/powerpoint/2010/main" val="1173141839"/>
      </p:ext>
    </p:extLst>
  </p:cSld>
</p:sld>
</file>

<file path=ppt/slides/slide6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2B4C4D-85D4-4000-A8BF-C6F01E4BA3B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68AED8-9782-4A1A-A9F7-3D7281CE8B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a:t>
            </a:r>
          </a:p>
        </p:txBody>
      </p:sp>
      <p:sp>
        <p:nvSpPr>
          <p:cNvPr id="3" name="">
            <a:extLst xmlns:a="http://schemas.openxmlformats.org/drawingml/2006/main">
              <a:ext uri="{FF2B5EF4-FFF2-40B4-BE49-F238E27FC236}">
                <a16:creationId xmlns:a16="http://schemas.microsoft.com/office/drawing/2014/main" id="{5394C17E-89B5-41D7-B48C-D3083686EE9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2C86E5E-8D78-4350-BFA3-DB9C56A9BD1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69</a:t>
            </a:r>
          </a:p>
        </p:txBody>
      </p:sp>
      <p:sp>
        <p:nvSpPr>
          <p:cNvPr id="5" name="">
            <a:extLst xmlns:a="http://schemas.openxmlformats.org/drawingml/2006/main">
              <a:ext uri="{FF2B5EF4-FFF2-40B4-BE49-F238E27FC236}">
                <a16:creationId xmlns:a16="http://schemas.microsoft.com/office/drawing/2014/main" id="{886267F5-9390-49C8-AA57-0D4DD7E1265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serious burns, traumatic injuries, acidosis, or infection.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renal failure is a secondary 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Excessive Potassium containing Intravenous Infusions - Most commonly seen in persons receiving infusion therapy containing potassium, especially if the infusion is rapid.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can occur in individuals with normal renal function.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K+ balance has its most profound effect on the cardiac and neuromuscular systems.</a:t>
            </a:r>
          </a:p>
        </p:txBody>
      </p:sp>
      <p:sp>
        <p:nvSpPr>
          <p:cNvPr id="6" name="">
            <a:extLst xmlns:a="http://schemas.openxmlformats.org/drawingml/2006/main">
              <a:ext uri="{FF2B5EF4-FFF2-40B4-BE49-F238E27FC236}">
                <a16:creationId xmlns:a16="http://schemas.microsoft.com/office/drawing/2014/main" id="{6C30B158-75B8-40ED-9DA0-7462AA4E106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4180229-A8B7-49FB-B728-6E9DDD88EAE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652638748"/>
      </p:ext>
    </p:extLst>
  </p:cSld>
</p:sld>
</file>

<file path=ppt/slides/slide7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7483A22-8E20-4682-A6C6-BE5778FBD9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A06E0E-5E6B-4F2F-8678-6430BAC16D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5286478A-5750-49C6-8050-86245675A4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8C05570-6FB3-4F0E-935A-9BB9CB37D20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70</a:t>
            </a:r>
          </a:p>
        </p:txBody>
      </p:sp>
      <p:sp>
        <p:nvSpPr>
          <p:cNvPr id="5" name="">
            <a:extLst xmlns:a="http://schemas.openxmlformats.org/drawingml/2006/main">
              <a:ext uri="{FF2B5EF4-FFF2-40B4-BE49-F238E27FC236}">
                <a16:creationId xmlns:a16="http://schemas.microsoft.com/office/drawing/2014/main" id="{B27982D7-54C9-4402-A800-E48F2680CE8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When your level of potassium is elevated, expect to see EKG changes which may include; a prolonged PR interval, widened QRS, ST segment depression, and a tall widened T wave.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Seriously elevated K+ levels constitute an emergency.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Cardiac arrest may be imminent.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are the clinical symptoms that may be noted in the presence of Hyperkalemia: *Weakness, nausea, malaise, diarrhea, muscle irritability, flaccid paralysis, and EKG changes.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At risk are those patients with K+ levels over 6.0 mEq/L.</a:t>
            </a:r>
          </a:p>
        </p:txBody>
      </p:sp>
      <p:sp>
        <p:nvSpPr>
          <p:cNvPr id="6" name="">
            <a:extLst xmlns:a="http://schemas.openxmlformats.org/drawingml/2006/main">
              <a:ext uri="{FF2B5EF4-FFF2-40B4-BE49-F238E27FC236}">
                <a16:creationId xmlns:a16="http://schemas.microsoft.com/office/drawing/2014/main" id="{572450FC-B17D-4ED9-A33B-DEFEF51F34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3352674-2D20-4DA4-A038-49FC8C2D615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848352043"/>
      </p:ext>
    </p:extLst>
  </p:cSld>
</p:sld>
</file>

<file path=ppt/slides/slide7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FDCFA8D-156A-4B22-B110-0964D5C8B5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055108C-B92E-4476-BCD2-E3EBC4CC80C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D3A51964-6334-49CE-85CE-B3B451E173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FED2A2E-D6D6-4E74-94A6-7DC12B05B4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71</a:t>
            </a:r>
          </a:p>
        </p:txBody>
      </p:sp>
      <p:sp>
        <p:nvSpPr>
          <p:cNvPr id="5" name="">
            <a:extLst xmlns:a="http://schemas.openxmlformats.org/drawingml/2006/main">
              <a:ext uri="{FF2B5EF4-FFF2-40B4-BE49-F238E27FC236}">
                <a16:creationId xmlns:a16="http://schemas.microsoft.com/office/drawing/2014/main" id="{028D1DDE-F118-4C89-95C3-218E5CA45D3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EKG should be monitored, protein and potassium should be restricted, and fluids encouraged to increase the urinary output.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Calcium (Cat) Imbalances in the serum calcium level are true medical emergencies.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Calcium is found primarily in the bone (99%).</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Only a fraction is allotted to the blood plasma.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normal serum calcium is 8.9 - 10.3 mEq/L.</a:t>
            </a:r>
          </a:p>
        </p:txBody>
      </p:sp>
      <p:sp>
        <p:nvSpPr>
          <p:cNvPr id="6" name="">
            <a:extLst xmlns:a="http://schemas.openxmlformats.org/drawingml/2006/main">
              <a:ext uri="{FF2B5EF4-FFF2-40B4-BE49-F238E27FC236}">
                <a16:creationId xmlns:a16="http://schemas.microsoft.com/office/drawing/2014/main" id="{A6E50BA0-A3F5-456A-9651-D1973CEE0D5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00E9D4C-77A6-430F-AA4A-3A24730166B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316315525"/>
      </p:ext>
    </p:extLst>
  </p:cSld>
</p:sld>
</file>

<file path=ppt/slides/slide7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09637A-4FAB-4EE1-92D0-5FD49201E3B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21B7D72-F102-45A8-BF6F-9212770F4A3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C1C26F8C-90A9-4355-B1ED-C516400BA8E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FFF1FD6-8E20-4D2D-89FC-41AAF1849D0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72</a:t>
            </a:r>
          </a:p>
        </p:txBody>
      </p:sp>
      <p:sp>
        <p:nvSpPr>
          <p:cNvPr id="5" name="">
            <a:extLst xmlns:a="http://schemas.openxmlformats.org/drawingml/2006/main">
              <a:ext uri="{FF2B5EF4-FFF2-40B4-BE49-F238E27FC236}">
                <a16:creationId xmlns:a16="http://schemas.microsoft.com/office/drawing/2014/main" id="{640E3454-FCD1-443C-8C9E-DFF5E27C02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Prolonged deficiency of calcium can lead to Rickets, Osteoporosis, or Osteomalacia.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Calcium performs the following vital functions: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*Promotes normal muscular contractility *Promotes normal neuromuscular irritability * Assists with the transmission of nerve impulses *Essential to blood clotting *Essential in the secretion of many hormones *Essential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building block of bones and teeth *Strengthens capillary membranes The daily calcium requirement in a normal adult is approximately 0.8 gm.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need is increased in pregnancy and lactation.</a:t>
            </a:r>
          </a:p>
        </p:txBody>
      </p:sp>
      <p:sp>
        <p:nvSpPr>
          <p:cNvPr id="6" name="">
            <a:extLst xmlns:a="http://schemas.openxmlformats.org/drawingml/2006/main">
              <a:ext uri="{FF2B5EF4-FFF2-40B4-BE49-F238E27FC236}">
                <a16:creationId xmlns:a16="http://schemas.microsoft.com/office/drawing/2014/main" id="{33C8BAA9-A3FD-4A65-BD8C-8E83109469E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C394049-21D3-4281-B974-628294ACA6C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1580044540"/>
      </p:ext>
    </p:extLst>
  </p:cSld>
</p:sld>
</file>

<file path=ppt/slides/slide7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8E1907B-184D-4F0C-8A52-D147CB9DA8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53B75BA-138C-4ED3-874A-B1D4EA6C918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problem, then the loss is severe. — continued</a:t>
            </a:r>
          </a:p>
        </p:txBody>
      </p:sp>
      <p:sp>
        <p:nvSpPr>
          <p:cNvPr id="3" name="">
            <a:extLst xmlns:a="http://schemas.openxmlformats.org/drawingml/2006/main">
              <a:ext uri="{FF2B5EF4-FFF2-40B4-BE49-F238E27FC236}">
                <a16:creationId xmlns:a16="http://schemas.microsoft.com/office/drawing/2014/main" id="{7C2F3AB3-7838-4512-889D-6961C584BBC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F431444-1998-4AD4-8D45-BBD4739E05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73</a:t>
            </a:r>
          </a:p>
        </p:txBody>
      </p:sp>
      <p:sp>
        <p:nvSpPr>
          <p:cNvPr id="5" name="">
            <a:extLst xmlns:a="http://schemas.openxmlformats.org/drawingml/2006/main">
              <a:ext uri="{FF2B5EF4-FFF2-40B4-BE49-F238E27FC236}">
                <a16:creationId xmlns:a16="http://schemas.microsoft.com/office/drawing/2014/main" id="{461513D2-4E76-482C-B6F7-1083AD1593B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Daily needs can usually be met by a normal diet, mainly through the milk and dairy food group.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Approximately 1/3 is supplied through the vegetable and fruit group.</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Absorption is dependent upon the presence of vitamin D, controlled by the parathyroid gland.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Excretion is accomplished via the urine and feces.</a:t>
            </a:r>
          </a:p>
        </p:txBody>
      </p:sp>
      <p:sp>
        <p:nvSpPr>
          <p:cNvPr id="6" name="">
            <a:extLst xmlns:a="http://schemas.openxmlformats.org/drawingml/2006/main">
              <a:ext uri="{FF2B5EF4-FFF2-40B4-BE49-F238E27FC236}">
                <a16:creationId xmlns:a16="http://schemas.microsoft.com/office/drawing/2014/main" id="{153792A7-F83F-404E-9CE3-706B5F750F7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14F5689-C68F-4728-A9EB-BA4004501A2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31</a:t>
            </a:r>
          </a:p>
        </p:txBody>
      </p:sp>
    </p:spTree>
    <p:extLst>
      <p:ext uri="{BB962C8B-B14F-4D97-AF65-F5344CB8AC3E}">
        <p14:creationId xmlns:p14="http://schemas.microsoft.com/office/powerpoint/2010/main" val="64256670"/>
      </p:ext>
    </p:extLst>
  </p:cSld>
</p:sld>
</file>

<file path=ppt/slides/slide7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575480-F58C-4E0C-91D6-D34A2445905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275A81-A741-4FFE-919A-8D2C431F80A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a:t>
            </a:r>
          </a:p>
        </p:txBody>
      </p:sp>
      <p:sp>
        <p:nvSpPr>
          <p:cNvPr id="3" name="">
            <a:extLst xmlns:a="http://schemas.openxmlformats.org/drawingml/2006/main">
              <a:ext uri="{FF2B5EF4-FFF2-40B4-BE49-F238E27FC236}">
                <a16:creationId xmlns:a16="http://schemas.microsoft.com/office/drawing/2014/main" id="{5BAB5D32-3E5E-4500-946F-A0D0760C6C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1AAA8CB-4080-4AAA-B2E6-B6D3C395D1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74</a:t>
            </a:r>
          </a:p>
        </p:txBody>
      </p:sp>
      <p:sp>
        <p:nvSpPr>
          <p:cNvPr id="5" name="">
            <a:extLst xmlns:a="http://schemas.openxmlformats.org/drawingml/2006/main">
              <a:ext uri="{FF2B5EF4-FFF2-40B4-BE49-F238E27FC236}">
                <a16:creationId xmlns:a16="http://schemas.microsoft.com/office/drawing/2014/main" id="{CDB42E91-124D-4221-8FD6-2280167A7A8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controlled by the parathyroid hormone (PTH).</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release of PTH is dependent upon the serum level of calcium.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Calcium Deficit (Hypocalcaemia) is relatively rare.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can cause serum calcium deficit: *Excessive loss such as from acute Pancreatitis, diarrhea, renal disorders, and Hypoparathyroid.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Post operative thyroidectomy where the parathyroid tissue has been accidentally removed.</a:t>
            </a:r>
          </a:p>
        </p:txBody>
      </p:sp>
      <p:sp>
        <p:nvSpPr>
          <p:cNvPr id="6" name="">
            <a:extLst xmlns:a="http://schemas.openxmlformats.org/drawingml/2006/main">
              <a:ext uri="{FF2B5EF4-FFF2-40B4-BE49-F238E27FC236}">
                <a16:creationId xmlns:a16="http://schemas.microsoft.com/office/drawing/2014/main" id="{52A6D6AC-10D7-40F5-852C-514CA260B9B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20CC92-DE35-426A-9B9D-B16415101B9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344109970"/>
      </p:ext>
    </p:extLst>
  </p:cSld>
</p:sld>
</file>

<file path=ppt/slides/slide7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1C0DF6-C127-4C53-8DB5-4157A4E820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CABE70D-97D6-4FB9-85AB-4DDB466C64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7964FCD8-506C-4CD0-B47F-48861A3A44C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CAE0363-DEAD-433B-A2F8-C6C80A4EF0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75</a:t>
            </a:r>
          </a:p>
        </p:txBody>
      </p:sp>
      <p:sp>
        <p:nvSpPr>
          <p:cNvPr id="5" name="">
            <a:extLst xmlns:a="http://schemas.openxmlformats.org/drawingml/2006/main">
              <a:ext uri="{FF2B5EF4-FFF2-40B4-BE49-F238E27FC236}">
                <a16:creationId xmlns:a16="http://schemas.microsoft.com/office/drawing/2014/main" id="{7DC96261-644C-47DE-88A9-657BA183499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*During pregnancy and lactation when requirements are greater and dietary intake is poor.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Inadequate levels of vitamin 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*During alkalosis.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*Chronic use of laxatives.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symptoms of hypocalcaemia may be noted: *Twitching, carpopedal spasms, perioral parathesias, Tetany, seizures, and cardiac dysrythmias.</a:t>
            </a:r>
          </a:p>
        </p:txBody>
      </p:sp>
      <p:sp>
        <p:nvSpPr>
          <p:cNvPr id="6" name="">
            <a:extLst xmlns:a="http://schemas.openxmlformats.org/drawingml/2006/main">
              <a:ext uri="{FF2B5EF4-FFF2-40B4-BE49-F238E27FC236}">
                <a16:creationId xmlns:a16="http://schemas.microsoft.com/office/drawing/2014/main" id="{0B028528-A157-473A-A1DF-43EDD9A999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1CB0518-0735-44BE-AFB7-3760EF57638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1652814058"/>
      </p:ext>
    </p:extLst>
  </p:cSld>
</p:sld>
</file>

<file path=ppt/slides/slide7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C31AC6-4A6C-426D-A5EC-DCEEFB598D9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C59B2BB-098B-4AF8-9928-2202CAE1D13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FED29D90-8C57-48EA-B44D-555809601F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093495B-28B5-4E0E-A78D-3F09742A75E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76</a:t>
            </a:r>
          </a:p>
        </p:txBody>
      </p:sp>
      <p:sp>
        <p:nvSpPr>
          <p:cNvPr id="5" name="">
            <a:extLst xmlns:a="http://schemas.openxmlformats.org/drawingml/2006/main">
              <a:ext uri="{FF2B5EF4-FFF2-40B4-BE49-F238E27FC236}">
                <a16:creationId xmlns:a16="http://schemas.microsoft.com/office/drawing/2014/main" id="{AB79E223-D08E-4A1A-8239-760DB2E5226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Patients receiving hemodialysis or hyperalimentation are at risk for depletion and need routine testing as part of their medical management.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Hypocalcemia produces increased neuromuscular irritability, leading to Tetany.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symptoms may be present: *Tingling and numbness of the fingers, painful muscle spasms, facial spasms, grimacing, fatigue, laryngospasm, positive Trousseau's sign and Chvostek's sign, and convulsions.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may be EKG changes, palpitations, and dysrythmias.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Trousseau's Sign - This is an important test for the diagnosis of latent Tetany.</a:t>
            </a:r>
          </a:p>
        </p:txBody>
      </p:sp>
      <p:sp>
        <p:nvSpPr>
          <p:cNvPr id="6" name="">
            <a:extLst xmlns:a="http://schemas.openxmlformats.org/drawingml/2006/main">
              <a:ext uri="{FF2B5EF4-FFF2-40B4-BE49-F238E27FC236}">
                <a16:creationId xmlns:a16="http://schemas.microsoft.com/office/drawing/2014/main" id="{80A4BB8E-79E9-49A6-9304-79E24A6B087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DCC1E3F-1828-4B88-A057-9C6E0063D07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1116380008"/>
      </p:ext>
    </p:extLst>
  </p:cSld>
</p:sld>
</file>

<file path=ppt/slides/slide7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0B7307-A9FE-47A9-8B19-8F81C416CA7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09893B-9BA6-4FA6-A2D1-D3F58931204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F476B571-7221-4BE4-80EC-F590C877055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CFEFA67-23BD-4EBB-AC49-51D939BE572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77</a:t>
            </a:r>
          </a:p>
        </p:txBody>
      </p:sp>
      <p:sp>
        <p:nvSpPr>
          <p:cNvPr id="5" name="">
            <a:extLst xmlns:a="http://schemas.openxmlformats.org/drawingml/2006/main">
              <a:ext uri="{FF2B5EF4-FFF2-40B4-BE49-F238E27FC236}">
                <a16:creationId xmlns:a16="http://schemas.microsoft.com/office/drawing/2014/main" id="{5F39EED7-284D-4FCF-9C96-F2DF954BA8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 do this test, inflate the blood pressure cuff on the patient's arm of 1-5 minutes.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Create enough pressure to stop the venous circulation, not the arterial flow.</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Carpal spasm (contraction of the hands and fingers), signals increase of neuromuscular irritability.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positive test indicates hypocalcemia.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Chvostek's Sign - This test is used in the diagnosis of latent Tetany.</a:t>
            </a:r>
          </a:p>
        </p:txBody>
      </p:sp>
      <p:sp>
        <p:nvSpPr>
          <p:cNvPr id="6" name="">
            <a:extLst xmlns:a="http://schemas.openxmlformats.org/drawingml/2006/main">
              <a:ext uri="{FF2B5EF4-FFF2-40B4-BE49-F238E27FC236}">
                <a16:creationId xmlns:a16="http://schemas.microsoft.com/office/drawing/2014/main" id="{8E2C20B0-A426-429E-98D9-148C8E63EB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F4CD36C-DE42-48FE-9C5D-298322E9DC6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689355793"/>
      </p:ext>
    </p:extLst>
  </p:cSld>
</p:sld>
</file>

<file path=ppt/slides/slide7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8E0000-2F11-4DB1-B9A1-7B9E6E1E575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96A9DBA-ECD5-41AE-8E28-5E0875D099C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Under normal conditions calcium and phosphorous vary inversely. Serum calcium is — continued</a:t>
            </a:r>
          </a:p>
        </p:txBody>
      </p:sp>
      <p:sp>
        <p:nvSpPr>
          <p:cNvPr id="3" name="">
            <a:extLst xmlns:a="http://schemas.openxmlformats.org/drawingml/2006/main">
              <a:ext uri="{FF2B5EF4-FFF2-40B4-BE49-F238E27FC236}">
                <a16:creationId xmlns:a16="http://schemas.microsoft.com/office/drawing/2014/main" id="{C9B3C08F-7FF0-49CF-9794-B5BA33FDD6C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F01189A-EF2B-408D-A6FE-81D6ED4803A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78</a:t>
            </a:r>
          </a:p>
        </p:txBody>
      </p:sp>
      <p:sp>
        <p:nvSpPr>
          <p:cNvPr id="5" name="">
            <a:extLst xmlns:a="http://schemas.openxmlformats.org/drawingml/2006/main">
              <a:ext uri="{FF2B5EF4-FFF2-40B4-BE49-F238E27FC236}">
                <a16:creationId xmlns:a16="http://schemas.microsoft.com/office/drawing/2014/main" id="{111B3AF7-8BA5-4DCD-B573-1ED952F3C77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Tap with your finger the area just below the temple where the facial nerve emerges.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momentary contraction of the lip, nose, or side of the face indicates a positive sign.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positive sign indicates</a:t>
            </a:r>
          </a:p>
        </p:txBody>
      </p:sp>
      <p:sp>
        <p:nvSpPr>
          <p:cNvPr id="6" name="">
            <a:extLst xmlns:a="http://schemas.openxmlformats.org/drawingml/2006/main">
              <a:ext uri="{FF2B5EF4-FFF2-40B4-BE49-F238E27FC236}">
                <a16:creationId xmlns:a16="http://schemas.microsoft.com/office/drawing/2014/main" id="{FDD50482-93A7-4096-82DB-710D404A23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A38DE9A-D6CB-48D8-884A-97D128E853B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32</a:t>
            </a:r>
          </a:p>
        </p:txBody>
      </p:sp>
    </p:spTree>
    <p:extLst>
      <p:ext uri="{BB962C8B-B14F-4D97-AF65-F5344CB8AC3E}">
        <p14:creationId xmlns:p14="http://schemas.microsoft.com/office/powerpoint/2010/main" val="1610608232"/>
      </p:ext>
    </p:extLst>
  </p:cSld>
</p:sld>
</file>

<file path=ppt/slides/slide7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211228A-E263-4A66-A7DD-9C035171B09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E2974CD-ABEF-4CE3-811D-36C67E83E65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a:t>
            </a:r>
          </a:p>
        </p:txBody>
      </p:sp>
      <p:sp>
        <p:nvSpPr>
          <p:cNvPr id="3" name="">
            <a:extLst xmlns:a="http://schemas.openxmlformats.org/drawingml/2006/main">
              <a:ext uri="{FF2B5EF4-FFF2-40B4-BE49-F238E27FC236}">
                <a16:creationId xmlns:a16="http://schemas.microsoft.com/office/drawing/2014/main" id="{EF74F27F-02B9-4370-8D55-C976F5AE926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8EA09E6-D3CA-4A71-9A0A-759F8EA95AE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79</a:t>
            </a:r>
          </a:p>
        </p:txBody>
      </p:sp>
      <p:sp>
        <p:nvSpPr>
          <p:cNvPr id="5" name="">
            <a:extLst xmlns:a="http://schemas.openxmlformats.org/drawingml/2006/main">
              <a:ext uri="{FF2B5EF4-FFF2-40B4-BE49-F238E27FC236}">
                <a16:creationId xmlns:a16="http://schemas.microsoft.com/office/drawing/2014/main" id="{B5578D41-7FA3-4467-B3FC-C0E8C83DE5F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hyperirritability of the facial nerve, which is a strong sign of latent developing Tetany due The treatment for the acute hypocalcemic patient requires the intravenous administration of calcium, usually in the form of</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Calcium Gluconate.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dose is 10-20 ml.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of a 10% solution.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Saline is not used to administer calcium as sodium can stimulate loss ofcalcium.</a:t>
            </a:r>
          </a:p>
        </p:txBody>
      </p:sp>
      <p:sp>
        <p:nvSpPr>
          <p:cNvPr id="6" name="">
            <a:extLst xmlns:a="http://schemas.openxmlformats.org/drawingml/2006/main">
              <a:ext uri="{FF2B5EF4-FFF2-40B4-BE49-F238E27FC236}">
                <a16:creationId xmlns:a16="http://schemas.microsoft.com/office/drawing/2014/main" id="{A3248D22-3836-438A-98DC-DE95B773776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3B490BB-5DD0-4B07-B55F-0D23ADD2F41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54766059"/>
      </p:ext>
    </p:extLst>
  </p:cSld>
</p:sld>
</file>

<file path=ppt/slides/slide8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217317-585B-43E4-A135-6A9BD5ADAC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5F981C7-41B3-4CD2-9539-2B09D46B912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524D636B-0DC5-403B-917C-B4BF7D77940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4215EB8-24D7-4CD4-8394-CA668C00218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80</a:t>
            </a:r>
          </a:p>
        </p:txBody>
      </p:sp>
      <p:sp>
        <p:nvSpPr>
          <p:cNvPr id="5" name="">
            <a:extLst xmlns:a="http://schemas.openxmlformats.org/drawingml/2006/main">
              <a:ext uri="{FF2B5EF4-FFF2-40B4-BE49-F238E27FC236}">
                <a16:creationId xmlns:a16="http://schemas.microsoft.com/office/drawing/2014/main" id="{8FF9EBF5-EC08-4545-ABB3-3207134500E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Calcium will precipitate if mixed with bicarbonate.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chronic hypocalcemia the patient is maintained on oral supplements of calcium given with vitamin 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oral dosage ranges from 1.5-3 Day/day.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is known as the elemental dose of calcium.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Vitamin D is available in an I.M.</a:t>
            </a:r>
          </a:p>
        </p:txBody>
      </p:sp>
      <p:sp>
        <p:nvSpPr>
          <p:cNvPr id="6" name="">
            <a:extLst xmlns:a="http://schemas.openxmlformats.org/drawingml/2006/main">
              <a:ext uri="{FF2B5EF4-FFF2-40B4-BE49-F238E27FC236}">
                <a16:creationId xmlns:a16="http://schemas.microsoft.com/office/drawing/2014/main" id="{FCC43A55-7FAD-4B84-BF65-2D54B7C4DC0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4591462-5064-4238-AAC7-8DFA06E686E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283080600"/>
      </p:ext>
    </p:extLst>
  </p:cSld>
</p:sld>
</file>

<file path=ppt/slides/slide8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DA4882-17EC-4860-8431-599B820A12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ADD63AC-3D8D-438E-9EA9-3056CD8DB0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EBF60994-6C0A-43C0-8E89-779DA5ED666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336D92F-A86D-4474-80AD-9EACEC36587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81</a:t>
            </a:r>
          </a:p>
        </p:txBody>
      </p:sp>
      <p:sp>
        <p:nvSpPr>
          <p:cNvPr id="5" name="">
            <a:extLst xmlns:a="http://schemas.openxmlformats.org/drawingml/2006/main">
              <a:ext uri="{FF2B5EF4-FFF2-40B4-BE49-F238E27FC236}">
                <a16:creationId xmlns:a16="http://schemas.microsoft.com/office/drawing/2014/main" id="{3C9075E5-833C-41A3-938D-BBFF20267C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High doses of vitamin D may be used to treat Tetany in the hypo parathyroid patient.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treatment in mild cases may be to supplement only vitamin D in a multi-vitamin supplement.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Calcium excess (Hypercalcemia) High serum calcium depresses neuromuscular irritability.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Over activity of the parathyroid glands is a common cause.</a:t>
            </a:r>
          </a:p>
        </p:txBody>
      </p:sp>
      <p:sp>
        <p:nvSpPr>
          <p:cNvPr id="6" name="">
            <a:extLst xmlns:a="http://schemas.openxmlformats.org/drawingml/2006/main">
              <a:ext uri="{FF2B5EF4-FFF2-40B4-BE49-F238E27FC236}">
                <a16:creationId xmlns:a16="http://schemas.microsoft.com/office/drawing/2014/main" id="{ABAE50A2-4B2D-4D61-93CD-BFE15354BF2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19A3E86-3DEF-433C-8AEE-373FCC72B3D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1420528013"/>
      </p:ext>
    </p:extLst>
  </p:cSld>
</p:sld>
</file>

<file path=ppt/slides/slide8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3BD935-68B0-4FC6-9385-C6D11D0935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D681301-A658-4B46-B4E6-CCE1BE56E79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3169E8F1-6BAF-4556-9E91-5DE57E5EEA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910FBEC-9EFC-4304-8FB9-BF8992C6221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82</a:t>
            </a:r>
          </a:p>
        </p:txBody>
      </p:sp>
      <p:sp>
        <p:nvSpPr>
          <p:cNvPr id="5" name="">
            <a:extLst xmlns:a="http://schemas.openxmlformats.org/drawingml/2006/main">
              <a:ext uri="{FF2B5EF4-FFF2-40B4-BE49-F238E27FC236}">
                <a16:creationId xmlns:a16="http://schemas.microsoft.com/office/drawing/2014/main" id="{CD551906-BD55-4061-89F8-4CF5E31E42E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Other causes include: * Decreased renal excretion due to renal failure.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*Movement of the calcium from bone to serum, seen in neoplastic disorders, metastatic disorders, and multiple myeloma.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Immobility can cause this as well.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*Excessive administration or oral intake of calcium.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*Excessive administration or oral intake of vitamin D.</a:t>
            </a:r>
          </a:p>
        </p:txBody>
      </p:sp>
      <p:sp>
        <p:nvSpPr>
          <p:cNvPr id="6" name="">
            <a:extLst xmlns:a="http://schemas.openxmlformats.org/drawingml/2006/main">
              <a:ext uri="{FF2B5EF4-FFF2-40B4-BE49-F238E27FC236}">
                <a16:creationId xmlns:a16="http://schemas.microsoft.com/office/drawing/2014/main" id="{F754FC89-91C0-47E5-BC01-B9531ABAFC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52D27F6-C175-4E39-A70D-3BDE3C9E592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1155752704"/>
      </p:ext>
    </p:extLst>
  </p:cSld>
</p:sld>
</file>

<file path=ppt/slides/slide8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D6BFDB0-DB2D-4445-91AC-974F673D0E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57F7D8E-CCF1-4131-936F-261F56CAEBE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7F9A2492-198A-4B50-814E-CF9292E22EC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E42E4CB-AD5F-4B68-AA18-C00280A79AB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83</a:t>
            </a:r>
          </a:p>
        </p:txBody>
      </p:sp>
      <p:sp>
        <p:nvSpPr>
          <p:cNvPr id="5" name="">
            <a:extLst xmlns:a="http://schemas.openxmlformats.org/drawingml/2006/main">
              <a:ext uri="{FF2B5EF4-FFF2-40B4-BE49-F238E27FC236}">
                <a16:creationId xmlns:a16="http://schemas.microsoft.com/office/drawing/2014/main" id="{BFB3600B-5865-4EA1-BFBC-62B42E05EE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Administration of the thiazide diuretics, which decrease the urinary elimination of calcium.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*Individuals who drink large amounts of milk daily and take various alkaline medications may develop hypercalcemia, which is referred to as milk-alkali syndrome.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goals of treatment are to eliminate the cause and increase renal excretion of calcium.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therefore imperative that the underlying cause be treated.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susceptible individuals the intake of calcium and phosphorous should be limited (renal failure).</a:t>
            </a:r>
          </a:p>
        </p:txBody>
      </p:sp>
      <p:sp>
        <p:nvSpPr>
          <p:cNvPr id="6" name="">
            <a:extLst xmlns:a="http://schemas.openxmlformats.org/drawingml/2006/main">
              <a:ext uri="{FF2B5EF4-FFF2-40B4-BE49-F238E27FC236}">
                <a16:creationId xmlns:a16="http://schemas.microsoft.com/office/drawing/2014/main" id="{C6491AF5-2187-4F1F-8570-AF815BDD3A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E99D4F3-CAE3-489E-B1C6-5C272B4F14B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1005044054"/>
      </p:ext>
    </p:extLst>
  </p:cSld>
</p:sld>
</file>

<file path=ppt/slides/slide8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CC41F7-1BE5-4C2A-B66A-09755550A3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3FE203-2278-4EFB-8DBD-A1EAD000620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hypocalcemia. — continued</a:t>
            </a:r>
          </a:p>
        </p:txBody>
      </p:sp>
      <p:sp>
        <p:nvSpPr>
          <p:cNvPr id="3" name="">
            <a:extLst xmlns:a="http://schemas.openxmlformats.org/drawingml/2006/main">
              <a:ext uri="{FF2B5EF4-FFF2-40B4-BE49-F238E27FC236}">
                <a16:creationId xmlns:a16="http://schemas.microsoft.com/office/drawing/2014/main" id="{A84A66EA-DD0B-44AA-ADBB-7121C6287D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DA6E9EE-8557-4EE2-BD34-B363421F2A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84</a:t>
            </a:r>
          </a:p>
        </p:txBody>
      </p:sp>
      <p:sp>
        <p:nvSpPr>
          <p:cNvPr id="5" name="">
            <a:extLst xmlns:a="http://schemas.openxmlformats.org/drawingml/2006/main">
              <a:ext uri="{FF2B5EF4-FFF2-40B4-BE49-F238E27FC236}">
                <a16:creationId xmlns:a16="http://schemas.microsoft.com/office/drawing/2014/main" id="{CA10A2F6-CFE0-4F95-8406-7534519B74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Hydration with saline solutions helps rid the body of calcium as sodium inhibits tubular re-absorption of calcium.</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Treatment may also include the administration of phosphate supplements to enhance calcium deposition into bone and soft tissue and reduce reabsorption of calcium by the intestines.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Magnesium (Mgt+) Predominantly an intracellular cation, 70% of magnesium is combined with calcium and</a:t>
            </a:r>
          </a:p>
        </p:txBody>
      </p:sp>
      <p:sp>
        <p:nvSpPr>
          <p:cNvPr id="6" name="">
            <a:extLst xmlns:a="http://schemas.openxmlformats.org/drawingml/2006/main">
              <a:ext uri="{FF2B5EF4-FFF2-40B4-BE49-F238E27FC236}">
                <a16:creationId xmlns:a16="http://schemas.microsoft.com/office/drawing/2014/main" id="{FD796C15-1BBE-46F4-A0C5-FD1E9EE806D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F1DFA71-AF2F-46DD-A0B4-11FF098496B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33</a:t>
            </a:r>
          </a:p>
        </p:txBody>
      </p:sp>
    </p:spTree>
    <p:extLst>
      <p:ext uri="{BB962C8B-B14F-4D97-AF65-F5344CB8AC3E}">
        <p14:creationId xmlns:p14="http://schemas.microsoft.com/office/powerpoint/2010/main" val="891056019"/>
      </p:ext>
    </p:extLst>
  </p:cSld>
</p:sld>
</file>

<file path=ppt/slides/slide8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42C106-5645-4131-8914-DA41FBDEDBE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8A1E39C-961E-4B5F-BC78-54D8848FB65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a:t>
            </a:r>
          </a:p>
        </p:txBody>
      </p:sp>
      <p:sp>
        <p:nvSpPr>
          <p:cNvPr id="3" name="">
            <a:extLst xmlns:a="http://schemas.openxmlformats.org/drawingml/2006/main">
              <a:ext uri="{FF2B5EF4-FFF2-40B4-BE49-F238E27FC236}">
                <a16:creationId xmlns:a16="http://schemas.microsoft.com/office/drawing/2014/main" id="{F0D78B89-15F4-464B-B234-655FD4B4965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04299BE-3840-424C-9FDC-099E89C2A5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85</a:t>
            </a:r>
          </a:p>
        </p:txBody>
      </p:sp>
      <p:sp>
        <p:nvSpPr>
          <p:cNvPr id="5" name="">
            <a:extLst xmlns:a="http://schemas.openxmlformats.org/drawingml/2006/main">
              <a:ext uri="{FF2B5EF4-FFF2-40B4-BE49-F238E27FC236}">
                <a16:creationId xmlns:a16="http://schemas.microsoft.com/office/drawing/2014/main" id="{C7AFE4E6-720F-4A85-A1C5-B733B1067D3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phosphorous in the bones, while 30% is distributed in the soft tissues and body fluids.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Normal concentration of magnesium in the ECF is approximately 1.5-2.5 mEq/L.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Magnesium performs the following functions: *Essential for the integrity of the neuromuscular system.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*Promotes the regulation of blood phosphorous level, potassium, and calcium.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*Activates enzyme reactions in the metabolism of carbohydrates.</a:t>
            </a:r>
          </a:p>
        </p:txBody>
      </p:sp>
      <p:sp>
        <p:nvSpPr>
          <p:cNvPr id="6" name="">
            <a:extLst xmlns:a="http://schemas.openxmlformats.org/drawingml/2006/main">
              <a:ext uri="{FF2B5EF4-FFF2-40B4-BE49-F238E27FC236}">
                <a16:creationId xmlns:a16="http://schemas.microsoft.com/office/drawing/2014/main" id="{50C8D2A5-3EDE-44B2-A67A-E56A48713CB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968061C-F27F-49B9-B009-78052D00B05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726749"/>
      </p:ext>
    </p:extLst>
  </p:cSld>
</p:sld>
</file>

<file path=ppt/slides/slide8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0E3A22-CB63-4D03-8637-1948EBC3D77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ECE05CD-CB2F-455C-88BD-25A073AEB98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F7B84F37-39E0-4BD8-9AFD-AB150FA0009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A57A46A-34F8-4B6B-9D5F-8BBABD95D62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86</a:t>
            </a:r>
          </a:p>
        </p:txBody>
      </p:sp>
      <p:sp>
        <p:nvSpPr>
          <p:cNvPr id="5" name="">
            <a:extLst xmlns:a="http://schemas.openxmlformats.org/drawingml/2006/main">
              <a:ext uri="{FF2B5EF4-FFF2-40B4-BE49-F238E27FC236}">
                <a16:creationId xmlns:a16="http://schemas.microsoft.com/office/drawing/2014/main" id="{3B6B0DF8-C94C-4527-968A-97D4DD49930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Daily requirements are usually abundant in an individuals' diet, as it is abundant in food.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an adult 200-300 MG/D are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About 45% of ingested magnesium is absorbed and the remainder is excreted via the stool.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Factors inhibiting the absorption of magnesium include: excess fat, phosphates, calcium, and a state of alkalosis.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parathyroid hormone (PTH) stimulates the increased absorption of magnesium by the intestinal tract.</a:t>
            </a:r>
          </a:p>
        </p:txBody>
      </p:sp>
      <p:sp>
        <p:nvSpPr>
          <p:cNvPr id="6" name="">
            <a:extLst xmlns:a="http://schemas.openxmlformats.org/drawingml/2006/main">
              <a:ext uri="{FF2B5EF4-FFF2-40B4-BE49-F238E27FC236}">
                <a16:creationId xmlns:a16="http://schemas.microsoft.com/office/drawing/2014/main" id="{4D4406D7-4577-4603-A076-658BDBAE3F6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602BBA7-98E3-454A-9CF8-F469890EB49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228435825"/>
      </p:ext>
    </p:extLst>
  </p:cSld>
</p:sld>
</file>

<file path=ppt/slides/slide8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D41BC7-49BE-4681-A6E7-9E7998F0C3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B38F07-F4F6-47CB-AC2D-4EA7E2710D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1E0444B0-1031-4AF7-8499-BF58D48A22A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E7EE283-AC08-410F-8006-4710BD763C2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87</a:t>
            </a:r>
          </a:p>
        </p:txBody>
      </p:sp>
      <p:sp>
        <p:nvSpPr>
          <p:cNvPr id="5" name="">
            <a:extLst xmlns:a="http://schemas.openxmlformats.org/drawingml/2006/main">
              <a:ext uri="{FF2B5EF4-FFF2-40B4-BE49-F238E27FC236}">
                <a16:creationId xmlns:a16="http://schemas.microsoft.com/office/drawing/2014/main" id="{AA44A772-61AE-4996-AA1D-6EA59CC90A1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excretion is also accomplished via the renal system.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this will vary according to the body's needs and renal function.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Magnesium Deficit (Hypomagnesemia) The majority of magnesium imbalances are usually in the deficit state.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Magnesium is essential to neuromuscular integration.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Deficits can produce increased neuromuscular irritability, convulsions, and behavioral changes similar to hypocalcemia.</a:t>
            </a:r>
          </a:p>
        </p:txBody>
      </p:sp>
      <p:sp>
        <p:nvSpPr>
          <p:cNvPr id="6" name="">
            <a:extLst xmlns:a="http://schemas.openxmlformats.org/drawingml/2006/main">
              <a:ext uri="{FF2B5EF4-FFF2-40B4-BE49-F238E27FC236}">
                <a16:creationId xmlns:a16="http://schemas.microsoft.com/office/drawing/2014/main" id="{F6B5E361-F340-4142-ACFB-997C485093C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25DEEB2-B41D-447C-BFDB-5556F122FBE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269791883"/>
      </p:ext>
    </p:extLst>
  </p:cSld>
</p:sld>
</file>

<file path=ppt/slides/slide8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31CE9C2-113F-4F3C-B2CB-7F61B9F7BB2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5D8C9D6-0BDB-442C-A854-58D268C748A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EE30170D-8E40-4F9E-876B-F63832A522E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496834E-54FB-4F3E-BF90-9314717A08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88</a:t>
            </a:r>
          </a:p>
        </p:txBody>
      </p:sp>
      <p:sp>
        <p:nvSpPr>
          <p:cNvPr id="5" name="">
            <a:extLst xmlns:a="http://schemas.openxmlformats.org/drawingml/2006/main">
              <a:ext uri="{FF2B5EF4-FFF2-40B4-BE49-F238E27FC236}">
                <a16:creationId xmlns:a16="http://schemas.microsoft.com/office/drawing/2014/main" id="{497D4FD6-461D-49A1-AE6F-DD0887489BC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Deficits caused by the absence of magnesium additives to infusions can be easily rectified by the addition of 3-5 mEq of magnesium per liter.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deficiencies can also occur due to severe mal-absorption, prolonged nasogastric tube suctioning, diabetic acidosis, acute Pancreatitis, chronic alcoholism, and diuretic therapy.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symptoms may be characterized by neuromuscular and central nervous system hyperactivity.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may be manifested by muscle tremors, Tetany, convulsions, or delirium.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Hypomagnesemia may be difficult to diagnose based on symptoms alone, as a deficit in magnesium may present similarly to hypocalcemia.</a:t>
            </a:r>
          </a:p>
        </p:txBody>
      </p:sp>
      <p:sp>
        <p:nvSpPr>
          <p:cNvPr id="6" name="">
            <a:extLst xmlns:a="http://schemas.openxmlformats.org/drawingml/2006/main">
              <a:ext uri="{FF2B5EF4-FFF2-40B4-BE49-F238E27FC236}">
                <a16:creationId xmlns:a16="http://schemas.microsoft.com/office/drawing/2014/main" id="{1455272B-0FE2-4920-8C04-8E8EFAC4DE1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7365854-2375-4259-9ADE-1201939AFF9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05760128"/>
      </p:ext>
    </p:extLst>
  </p:cSld>
</p:sld>
</file>

<file path=ppt/slides/slide8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CFDA79F-C59E-4DD3-9527-C606C862A42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990C48C-EEBC-4008-A01B-F2372DA576A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D82C0674-6367-4B7F-8AAA-1CC8D41CD95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A0B4AB5-3FEC-4301-8200-40E160FC3C3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89</a:t>
            </a:r>
          </a:p>
        </p:txBody>
      </p:sp>
      <p:sp>
        <p:nvSpPr>
          <p:cNvPr id="5" name="">
            <a:extLst xmlns:a="http://schemas.openxmlformats.org/drawingml/2006/main">
              <a:ext uri="{FF2B5EF4-FFF2-40B4-BE49-F238E27FC236}">
                <a16:creationId xmlns:a16="http://schemas.microsoft.com/office/drawing/2014/main" id="{1A97FD19-7AF6-4AB0-9801-E30DBC69862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common to have deficits if both occur simultaneously.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Serum levels of magnesium may prove to be the best diagnostic tool.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Treatment consists of intravenous administration if the level is critical.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oral route is safer but slower.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most common replacement is magnesium sulfate.</a:t>
            </a:r>
          </a:p>
        </p:txBody>
      </p:sp>
      <p:sp>
        <p:nvSpPr>
          <p:cNvPr id="6" name="">
            <a:extLst xmlns:a="http://schemas.openxmlformats.org/drawingml/2006/main">
              <a:ext uri="{FF2B5EF4-FFF2-40B4-BE49-F238E27FC236}">
                <a16:creationId xmlns:a16="http://schemas.microsoft.com/office/drawing/2014/main" id="{EF9F0DFF-D4D9-4DEF-AF08-51FFDA41045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E957F26-8F6C-4714-A065-3C26F6F395C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1320395014"/>
      </p:ext>
    </p:extLst>
  </p:cSld>
</p:sld>
</file>

<file path=ppt/slides/slide9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1754BA2-1230-48BE-851E-D2CE2AD952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274BA71-023C-4D18-99B4-1EC305CEC7B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*Promotes the regulation of blood phosphorous level, potassium, and calcium. — continued</a:t>
            </a:r>
          </a:p>
        </p:txBody>
      </p:sp>
      <p:sp>
        <p:nvSpPr>
          <p:cNvPr id="3" name="">
            <a:extLst xmlns:a="http://schemas.openxmlformats.org/drawingml/2006/main">
              <a:ext uri="{FF2B5EF4-FFF2-40B4-BE49-F238E27FC236}">
                <a16:creationId xmlns:a16="http://schemas.microsoft.com/office/drawing/2014/main" id="{C933F94D-3B01-46E1-9E07-1217B1EA807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9EC96B1-6246-4291-9FFD-BC43E2F597D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90</a:t>
            </a:r>
          </a:p>
        </p:txBody>
      </p:sp>
      <p:sp>
        <p:nvSpPr>
          <p:cNvPr id="5" name="">
            <a:extLst xmlns:a="http://schemas.openxmlformats.org/drawingml/2006/main">
              <a:ext uri="{FF2B5EF4-FFF2-40B4-BE49-F238E27FC236}">
                <a16:creationId xmlns:a16="http://schemas.microsoft.com/office/drawing/2014/main" id="{98DA530E-72EE-4189-8526-4A72154D915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injection route, if chosen, is very painful and must be given as a deep I.M.</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injection, or I.V.</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Magnesium Excess (Hypermagnesemia) The following may cause hypermagnesemia: *Overuse of magnesium containing antacids 34•</a:t>
            </a:r>
          </a:p>
        </p:txBody>
      </p:sp>
      <p:sp>
        <p:nvSpPr>
          <p:cNvPr id="6" name="">
            <a:extLst xmlns:a="http://schemas.openxmlformats.org/drawingml/2006/main">
              <a:ext uri="{FF2B5EF4-FFF2-40B4-BE49-F238E27FC236}">
                <a16:creationId xmlns:a16="http://schemas.microsoft.com/office/drawing/2014/main" id="{2EDD26E8-9055-4089-BF99-E2D6E755D1B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AC686BD-D88F-43BE-B8A4-F58B6E46CB0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34</a:t>
            </a:r>
          </a:p>
        </p:txBody>
      </p:sp>
    </p:spTree>
    <p:extLst>
      <p:ext uri="{BB962C8B-B14F-4D97-AF65-F5344CB8AC3E}">
        <p14:creationId xmlns:p14="http://schemas.microsoft.com/office/powerpoint/2010/main" val="830492146"/>
      </p:ext>
    </p:extLst>
  </p:cSld>
</p:sld>
</file>

<file path=ppt/slides/slide9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8B1E47C-3DEE-4660-A593-9129FFDA8F1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13E7518-F600-44E4-86F9-F33FE30B353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a:t>
            </a:r>
          </a:p>
        </p:txBody>
      </p:sp>
      <p:sp>
        <p:nvSpPr>
          <p:cNvPr id="3" name="">
            <a:extLst xmlns:a="http://schemas.openxmlformats.org/drawingml/2006/main">
              <a:ext uri="{FF2B5EF4-FFF2-40B4-BE49-F238E27FC236}">
                <a16:creationId xmlns:a16="http://schemas.microsoft.com/office/drawing/2014/main" id="{BC9A61B0-AEAB-4EF5-9A74-F3CFA09C26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7D6DC91-DE52-4DB1-93C0-32A57D9B8A4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91</a:t>
            </a:r>
          </a:p>
        </p:txBody>
      </p:sp>
      <p:sp>
        <p:nvSpPr>
          <p:cNvPr id="5" name="">
            <a:extLst xmlns:a="http://schemas.openxmlformats.org/drawingml/2006/main">
              <a:ext uri="{FF2B5EF4-FFF2-40B4-BE49-F238E27FC236}">
                <a16:creationId xmlns:a16="http://schemas.microsoft.com/office/drawing/2014/main" id="{DF332F4E-2372-4C50-AD53-5CC6D2CE8E4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*Renal insufficiency *Severe dehydration, resulting in oliguria and retention of magnesium *Multiple enemas with Magnesium Sulfate (Epsom Salts).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pronounced reduction in neuromuscular irritability is a main physiologic change.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 the level becomes greater than 7mEq common manifestations may include: hypotension, a sensation of warmth throughout the body, drowsiness, possible coma, depressed respirations, and cardiac dysrythmias.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goal of treatment is to treat the underlying cause and prevent the toxicity associated with magnesium excess.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For those patients with renal failure, peritoneal or hemodialysis is the treatment of choice.</a:t>
            </a:r>
          </a:p>
        </p:txBody>
      </p:sp>
      <p:sp>
        <p:nvSpPr>
          <p:cNvPr id="6" name="">
            <a:extLst xmlns:a="http://schemas.openxmlformats.org/drawingml/2006/main">
              <a:ext uri="{FF2B5EF4-FFF2-40B4-BE49-F238E27FC236}">
                <a16:creationId xmlns:a16="http://schemas.microsoft.com/office/drawing/2014/main" id="{477480D4-C8A5-40C9-8ACC-A16A3653C72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86B0F89-992F-4CA7-9716-F78BF3ECEF9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1534193991"/>
      </p:ext>
    </p:extLst>
  </p:cSld>
</p:sld>
</file>

<file path=ppt/slides/slide9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E8511D-1E25-4CB1-8469-950C50E2117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11789BC-2AC2-420B-AD54-84B1A3DBA5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8A70DDB3-B3CE-491D-9976-043961ACECD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BDB1B10-083E-4311-82FA-5B241D8D7AD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92</a:t>
            </a:r>
          </a:p>
        </p:txBody>
      </p:sp>
      <p:sp>
        <p:nvSpPr>
          <p:cNvPr id="5" name="">
            <a:extLst xmlns:a="http://schemas.openxmlformats.org/drawingml/2006/main">
              <a:ext uri="{FF2B5EF4-FFF2-40B4-BE49-F238E27FC236}">
                <a16:creationId xmlns:a16="http://schemas.microsoft.com/office/drawing/2014/main" id="{78D3EE88-812A-4D0E-8449-8AF13F1AAFF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Fluids are administered to the dehydrated patient, and to increase urinary output.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medications or compounds containing magnesium are with held.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Chloride (CI-) The first measurable electrolyte was chloride.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accounts for 2/3 of the anions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mainly used to evaluate and identify acid-base imbalances.</a:t>
            </a:r>
          </a:p>
        </p:txBody>
      </p:sp>
      <p:sp>
        <p:nvSpPr>
          <p:cNvPr id="6" name="">
            <a:extLst xmlns:a="http://schemas.openxmlformats.org/drawingml/2006/main">
              <a:ext uri="{FF2B5EF4-FFF2-40B4-BE49-F238E27FC236}">
                <a16:creationId xmlns:a16="http://schemas.microsoft.com/office/drawing/2014/main" id="{1C98143C-804E-4A68-BB88-339F8FB6F60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2BC2F5A-BDAD-4B5E-B308-FB7049050F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15674836"/>
      </p:ext>
    </p:extLst>
  </p:cSld>
</p:sld>
</file>

<file path=ppt/slides/slide9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20D2D0-AE08-4116-AE3D-6BDD1797C2B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D2EDE26-8107-4AB1-B1EC-A9DF5D5AB09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F11DE06B-717F-4539-8D4C-2BA1FDBB94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11AACCE-9C82-498D-BE19-B7F885AA9E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93</a:t>
            </a:r>
          </a:p>
        </p:txBody>
      </p:sp>
      <p:sp>
        <p:nvSpPr>
          <p:cNvPr id="5" name="">
            <a:extLst xmlns:a="http://schemas.openxmlformats.org/drawingml/2006/main">
              <a:ext uri="{FF2B5EF4-FFF2-40B4-BE49-F238E27FC236}">
                <a16:creationId xmlns:a16="http://schemas.microsoft.com/office/drawing/2014/main" id="{3243F97C-1C89-486F-9DFE-7E7FC1A4182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Changes in serum chloride alone rarely cause clinical problems.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Imbalances usually accompany imbalances in the sodium and potassium levels as well.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Chloride serves to maintain water balance, osmotic pressure, and ECF cation and anion balance (sodium with Chloride).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total cations must equal the total anions, therefore as chloride decreases bicarbonate will increase to equalize.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Chloride Deficit A deficiency in chloride may lead to alkalosis reflected as hyper excitability of the nervous system, especially the peripheral nerves.</a:t>
            </a:r>
          </a:p>
        </p:txBody>
      </p:sp>
      <p:sp>
        <p:nvSpPr>
          <p:cNvPr id="6" name="">
            <a:extLst xmlns:a="http://schemas.openxmlformats.org/drawingml/2006/main">
              <a:ext uri="{FF2B5EF4-FFF2-40B4-BE49-F238E27FC236}">
                <a16:creationId xmlns:a16="http://schemas.microsoft.com/office/drawing/2014/main" id="{20CBD146-F1EE-44BE-8929-787496B689C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3AB5924-A6FF-4843-A917-86B8EDC1F7E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1156236862"/>
      </p:ext>
    </p:extLst>
  </p:cSld>
</p:sld>
</file>

<file path=ppt/slides/slide9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C43275D-96C3-4F50-B9C1-AFFA33D7D76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A017306-4254-4FA2-BF5C-E84CA5401EB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2C4B30D4-C745-4E41-9CD3-3D3C17ED31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BE9836E-82DA-478D-A04C-53555314586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94</a:t>
            </a:r>
          </a:p>
        </p:txBody>
      </p:sp>
      <p:sp>
        <p:nvSpPr>
          <p:cNvPr id="5" name="">
            <a:extLst xmlns:a="http://schemas.openxmlformats.org/drawingml/2006/main">
              <a:ext uri="{FF2B5EF4-FFF2-40B4-BE49-F238E27FC236}">
                <a16:creationId xmlns:a16="http://schemas.microsoft.com/office/drawing/2014/main" id="{D9A5E354-3EB3-4F06-89C2-9FAFC6C1683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clinical signs may present as stupor, deep rapid breathing, and weakness.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the person is taking bicarbonate, Edecrin, Lasix, thiazide diuretics, or IV's of 5% D/W for prolonged periods of time, expect to see a low lab chloride level.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Chloride Excess (Hyperchloremia) Hyperchloremia be seen in the dehydrated patient as well as in head injury, primary Hyper Parathyroidism, metabolic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Renal Tubular Acidosis, which may be a sign of Pyelonephritis, and respiratory alkalosis.</a:t>
            </a:r>
          </a:p>
        </p:txBody>
      </p:sp>
      <p:sp>
        <p:nvSpPr>
          <p:cNvPr id="6" name="">
            <a:extLst xmlns:a="http://schemas.openxmlformats.org/drawingml/2006/main">
              <a:ext uri="{FF2B5EF4-FFF2-40B4-BE49-F238E27FC236}">
                <a16:creationId xmlns:a16="http://schemas.microsoft.com/office/drawing/2014/main" id="{8BB0C374-5554-44E4-B588-378BA6D719A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D8D319-0D9F-40F4-9F54-647DEA0985D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1285839888"/>
      </p:ext>
    </p:extLst>
  </p:cSld>
</p:sld>
</file>

<file path=ppt/slides/slide9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575BBE-6598-4B97-AD4D-93A6B767A3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A3DBDA-F6F3-4E23-8F04-EEDB0D58D15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954"/>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*Overdose of magnesium during replacement therapy — continued</a:t>
            </a:r>
          </a:p>
        </p:txBody>
      </p:sp>
      <p:sp>
        <p:nvSpPr>
          <p:cNvPr id="3" name="">
            <a:extLst xmlns:a="http://schemas.openxmlformats.org/drawingml/2006/main">
              <a:ext uri="{FF2B5EF4-FFF2-40B4-BE49-F238E27FC236}">
                <a16:creationId xmlns:a16="http://schemas.microsoft.com/office/drawing/2014/main" id="{206CFC32-E725-4E65-8C35-980070BB21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C7FA50B-B8B4-4639-AA77-AF5F0F78EB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95</a:t>
            </a:r>
          </a:p>
        </p:txBody>
      </p:sp>
      <p:sp>
        <p:nvSpPr>
          <p:cNvPr id="5" name="">
            <a:extLst xmlns:a="http://schemas.openxmlformats.org/drawingml/2006/main">
              <a:ext uri="{FF2B5EF4-FFF2-40B4-BE49-F238E27FC236}">
                <a16:creationId xmlns:a16="http://schemas.microsoft.com/office/drawing/2014/main" id="{3D5444D4-F709-432C-A7E4-A31D5F8F25C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Individuals taking drugs such as Boric Acid, Ammonium Chloride, Questran, Tanderil, and Butazolidin, may be at risk for chloride excess.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Treatment consists of rectifying the underlying cause.</a:t>
            </a:r>
          </a:p>
        </p:txBody>
      </p:sp>
      <p:sp>
        <p:nvSpPr>
          <p:cNvPr id="6" name="">
            <a:extLst xmlns:a="http://schemas.openxmlformats.org/drawingml/2006/main">
              <a:ext uri="{FF2B5EF4-FFF2-40B4-BE49-F238E27FC236}">
                <a16:creationId xmlns:a16="http://schemas.microsoft.com/office/drawing/2014/main" id="{F408E2AC-A15B-42F9-8721-AC1B816332D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13D4F5-FE86-422A-8D02-FC4EA76F59A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35</a:t>
            </a:r>
          </a:p>
        </p:txBody>
      </p:sp>
    </p:spTree>
    <p:extLst>
      <p:ext uri="{BB962C8B-B14F-4D97-AF65-F5344CB8AC3E}">
        <p14:creationId xmlns:p14="http://schemas.microsoft.com/office/powerpoint/2010/main" val="2142949870"/>
      </p:ext>
    </p:extLst>
  </p:cSld>
</p:sld>
</file>

<file path=ppt/slides/slide9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616BC8A-7BA5-4A9E-8359-AF42DFFA0BC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05EB8B-B514-4024-AFB7-2268123C030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a:t>
            </a:r>
          </a:p>
        </p:txBody>
      </p:sp>
      <p:sp>
        <p:nvSpPr>
          <p:cNvPr id="3" name="">
            <a:extLst xmlns:a="http://schemas.openxmlformats.org/drawingml/2006/main">
              <a:ext uri="{FF2B5EF4-FFF2-40B4-BE49-F238E27FC236}">
                <a16:creationId xmlns:a16="http://schemas.microsoft.com/office/drawing/2014/main" id="{E69AAB0A-C187-4C0D-8299-BBE0242BA71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8197948-8DF9-4536-A49F-3A47D61FE6F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96</a:t>
            </a:r>
          </a:p>
        </p:txBody>
      </p:sp>
      <p:sp>
        <p:nvSpPr>
          <p:cNvPr id="5" name="">
            <a:extLst xmlns:a="http://schemas.openxmlformats.org/drawingml/2006/main">
              <a:ext uri="{FF2B5EF4-FFF2-40B4-BE49-F238E27FC236}">
                <a16:creationId xmlns:a16="http://schemas.microsoft.com/office/drawing/2014/main" id="{AE799FE6-BB49-4BE4-824A-D91C3B13FA0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concentration of hydrogen ions in our body must remain in balance to maintain good health.</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acidity or alkalinity of a solution is determined by the hydrogen ion concentration.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decrease in ions makes the solution alkaline, and an increase makes the solution acidic.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Hydrogen exists at a very low concentration (0.00004 mEq/L) as compared with other electrolytes.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body is best able to compensate in fluctuations in hydrogen ions than any other ions.</a:t>
            </a:r>
          </a:p>
        </p:txBody>
      </p:sp>
      <p:sp>
        <p:nvSpPr>
          <p:cNvPr id="6" name="">
            <a:extLst xmlns:a="http://schemas.openxmlformats.org/drawingml/2006/main">
              <a:ext uri="{FF2B5EF4-FFF2-40B4-BE49-F238E27FC236}">
                <a16:creationId xmlns:a16="http://schemas.microsoft.com/office/drawing/2014/main" id="{ADF31453-2BB7-4BB1-9BE9-3AF93C27445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A961AAB-2862-4A1E-A871-9EF7DFA98AE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1429712843"/>
      </p:ext>
    </p:extLst>
  </p:cSld>
</p:sld>
</file>

<file path=ppt/slides/slide9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180672-E30B-405F-9098-ABF4C6D0A13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CD095A-699C-4D8B-9523-FC931A63712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3E7CD58A-B2EB-4841-901F-9C51946D31F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088DCE6-44CF-497F-AD6D-141422FCA77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97</a:t>
            </a:r>
          </a:p>
        </p:txBody>
      </p:sp>
      <p:sp>
        <p:nvSpPr>
          <p:cNvPr id="5" name="">
            <a:extLst xmlns:a="http://schemas.openxmlformats.org/drawingml/2006/main">
              <a:ext uri="{FF2B5EF4-FFF2-40B4-BE49-F238E27FC236}">
                <a16:creationId xmlns:a16="http://schemas.microsoft.com/office/drawing/2014/main" id="{82896E66-458F-4978-9DC7-22AE884F3E8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ion is found in both the ECF and ICF and plays a vital role in the regulation of metabolic and biochemical activities necessary for cellular function.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necessary for both the functioning of the enzyme system and the binding of oxygen by hemoglobin.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acidity or alkalinity of a particular solution is measured in terms of ph, which is a measurement of the hydrogen ion concentration.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 total pH scale from 0-14 with a neutral value of 7 is generally the measurement index.</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higher the pH, the lower the hydrogen ion concentration - the more alkaline the solution.</a:t>
            </a:r>
          </a:p>
        </p:txBody>
      </p:sp>
      <p:sp>
        <p:nvSpPr>
          <p:cNvPr id="6" name="">
            <a:extLst xmlns:a="http://schemas.openxmlformats.org/drawingml/2006/main">
              <a:ext uri="{FF2B5EF4-FFF2-40B4-BE49-F238E27FC236}">
                <a16:creationId xmlns:a16="http://schemas.microsoft.com/office/drawing/2014/main" id="{63E5A700-2106-4DBF-83E8-95D940C62AC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FF633DE-2AF7-4312-9F0C-8DB90F57B5D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1291990734"/>
      </p:ext>
    </p:extLst>
  </p:cSld>
</p:sld>
</file>

<file path=ppt/slides/slide9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1DEABE-2A15-4E99-BAD7-1A471F9D21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AAECAF6-44BD-4E4C-8B04-FC12A67D37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A1FDCCD6-0797-4414-A421-B1C4312BEB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18B953C-4578-46AF-B3CD-B4667E552C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98</a:t>
            </a:r>
          </a:p>
        </p:txBody>
      </p:sp>
      <p:sp>
        <p:nvSpPr>
          <p:cNvPr id="5" name="">
            <a:extLst xmlns:a="http://schemas.openxmlformats.org/drawingml/2006/main">
              <a:ext uri="{FF2B5EF4-FFF2-40B4-BE49-F238E27FC236}">
                <a16:creationId xmlns:a16="http://schemas.microsoft.com/office/drawing/2014/main" id="{78680C84-8BDE-4296-9F4C-C7841B36F84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lower the ph, the greater number of hydrogen 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Therefore, a solution with a pH of 3 is acidic and a ph of 11 is alkalotic.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blood pH ranges in the body from 6.8-7.8.</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range is compatible with life.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the normal blood ph is between 7.35 - 7.45.</a:t>
            </a:r>
          </a:p>
        </p:txBody>
      </p:sp>
      <p:sp>
        <p:nvSpPr>
          <p:cNvPr id="6" name="">
            <a:extLst xmlns:a="http://schemas.openxmlformats.org/drawingml/2006/main">
              <a:ext uri="{FF2B5EF4-FFF2-40B4-BE49-F238E27FC236}">
                <a16:creationId xmlns:a16="http://schemas.microsoft.com/office/drawing/2014/main" id="{EC66A295-24B5-4EEC-84C1-025644484C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7FD8A37-9BF9-49D8-8EB5-4DCECF197F1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671037311"/>
      </p:ext>
    </p:extLst>
  </p:cSld>
</p:sld>
</file>

<file path=ppt/slides/slide9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B2AEA5-3837-410A-B764-2B1BCB279C6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09AC5F2-27EF-4378-9FEF-DBBC00538C7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A9AECDAE-3805-4010-A53A-C2BC01A07A3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50BCEA7-4551-49A4-A0EF-1CBA02765E6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99</a:t>
            </a:r>
          </a:p>
        </p:txBody>
      </p:sp>
      <p:sp>
        <p:nvSpPr>
          <p:cNvPr id="5" name="">
            <a:extLst xmlns:a="http://schemas.openxmlformats.org/drawingml/2006/main">
              <a:ext uri="{FF2B5EF4-FFF2-40B4-BE49-F238E27FC236}">
                <a16:creationId xmlns:a16="http://schemas.microsoft.com/office/drawing/2014/main" id="{987F35C0-252D-4F8D-882A-D652C6E76B9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largest number of hydrogen ions (Ht) is released from metabolic processes.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metabolic process that released volatile H+ is the complete metabolism of fat and carbohydrate to oxygen and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yields approximately 14,000 mEq of carbonic acid daily.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Some of the processes that yield non-volatile Ht are the following: *The incomplete breakdown of carbohydrates and fats to form Lactic Acid, Pyruvic Acid, Acetoacetic Acid, and Citric Acid.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oxidation of sulfur - containing amino acids to yield sulfuric acid residues.</a:t>
            </a:r>
          </a:p>
        </p:txBody>
      </p:sp>
      <p:sp>
        <p:nvSpPr>
          <p:cNvPr id="6" name="">
            <a:extLst xmlns:a="http://schemas.openxmlformats.org/drawingml/2006/main">
              <a:ext uri="{FF2B5EF4-FFF2-40B4-BE49-F238E27FC236}">
                <a16:creationId xmlns:a16="http://schemas.microsoft.com/office/drawing/2014/main" id="{32FB5184-BE9E-4287-A691-DBA2587C274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7F30701-95B7-42B2-A484-BD1C63F65F3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1715387416"/>
      </p:ext>
    </p:extLst>
  </p:cSld>
</p:sld>
</file>

<file path=ppt/slides/slide10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5E87CB-3BA2-415C-A381-BC92653D072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247DA41-C594-4079-AC5A-8C4D9E0B866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5188ABEB-7E2A-41B0-BA9D-5B3AA3FF4F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2DFFFB0-BABA-4F7B-B39C-D909408C6A1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100</a:t>
            </a:r>
          </a:p>
        </p:txBody>
      </p:sp>
      <p:sp>
        <p:nvSpPr>
          <p:cNvPr id="5" name="">
            <a:extLst xmlns:a="http://schemas.openxmlformats.org/drawingml/2006/main">
              <a:ext uri="{FF2B5EF4-FFF2-40B4-BE49-F238E27FC236}">
                <a16:creationId xmlns:a16="http://schemas.microsoft.com/office/drawing/2014/main" id="{C3332D0D-6DFB-46F2-A7C9-194D8B31DA7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oxidation of nucleoproteins and phosphoproteins.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Buffer System There are specific compounds of chemical in our ECF that act as "Buffers" against sudden changes in the Ht concentration.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buffers can be seen to function as chemical sponges.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most important buffer present in the ECF is carbonic acid/sodium bicarbonate system.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Clinically disturbances in the acid base balance are considered in terms of this buffer system.</a:t>
            </a:r>
          </a:p>
        </p:txBody>
      </p:sp>
      <p:sp>
        <p:nvSpPr>
          <p:cNvPr id="6" name="">
            <a:extLst xmlns:a="http://schemas.openxmlformats.org/drawingml/2006/main">
              <a:ext uri="{FF2B5EF4-FFF2-40B4-BE49-F238E27FC236}">
                <a16:creationId xmlns:a16="http://schemas.microsoft.com/office/drawing/2014/main" id="{E092E5CF-00AA-430C-97EB-196760F07A4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46C1B64-F723-473B-89A9-A40F9E78E88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1936068964"/>
      </p:ext>
    </p:extLst>
  </p:cSld>
</p:sld>
</file>

<file path=ppt/slides/slide10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63B9C42-CB93-414F-B9BF-F4AC2799B5F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4E70285-3A35-4535-A967-4D7CFFF465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C8A96B63-C079-4790-9DD3-F9E8210FD5C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1376B32-BC4D-4E17-A2E3-9363F3CA5C8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101</a:t>
            </a:r>
          </a:p>
        </p:txBody>
      </p:sp>
      <p:sp>
        <p:nvSpPr>
          <p:cNvPr id="5" name="">
            <a:extLst xmlns:a="http://schemas.openxmlformats.org/drawingml/2006/main">
              <a:ext uri="{FF2B5EF4-FFF2-40B4-BE49-F238E27FC236}">
                <a16:creationId xmlns:a16="http://schemas.microsoft.com/office/drawing/2014/main" id="{C203B428-CEC0-4DAC-AEBD-DE393BB0C1E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normal ratio is one part Carbonic Acid to 20 parts of Bicarbonate in the ECF (1:20).</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second buffer system to assist in maintaining this balance is the lungs.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Carbon Dioxide (CO2) is excreted from the lungs through an increased depth and rate of respirations.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third system is the kidneys whose excretion assists the first two systems.</a:t>
            </a:r>
          </a:p>
        </p:txBody>
      </p:sp>
      <p:sp>
        <p:nvSpPr>
          <p:cNvPr id="6" name="">
            <a:extLst xmlns:a="http://schemas.openxmlformats.org/drawingml/2006/main">
              <a:ext uri="{FF2B5EF4-FFF2-40B4-BE49-F238E27FC236}">
                <a16:creationId xmlns:a16="http://schemas.microsoft.com/office/drawing/2014/main" id="{51D9E1B9-4E0C-47A1-9CAE-8F01BE8F524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6617D8D-5A1E-4426-8165-6E35D56546F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2136638675"/>
      </p:ext>
    </p:extLst>
  </p:cSld>
</p:sld>
</file>

<file path=ppt/slides/slide10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B2FC7B-D4B8-4B1B-A677-F69772F620B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90B359E-9B33-4EBD-AADF-E0DC0734161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Hydrogen Ion Concentration — continued</a:t>
            </a:r>
          </a:p>
        </p:txBody>
      </p:sp>
      <p:sp>
        <p:nvSpPr>
          <p:cNvPr id="3" name="">
            <a:extLst xmlns:a="http://schemas.openxmlformats.org/drawingml/2006/main">
              <a:ext uri="{FF2B5EF4-FFF2-40B4-BE49-F238E27FC236}">
                <a16:creationId xmlns:a16="http://schemas.microsoft.com/office/drawing/2014/main" id="{42FB6FA4-527E-4899-A007-585027B3E5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7DB7B96-1F7F-42DE-A1DD-357ED647841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102</a:t>
            </a:r>
          </a:p>
        </p:txBody>
      </p:sp>
      <p:sp>
        <p:nvSpPr>
          <p:cNvPr id="5" name="">
            <a:extLst xmlns:a="http://schemas.openxmlformats.org/drawingml/2006/main">
              <a:ext uri="{FF2B5EF4-FFF2-40B4-BE49-F238E27FC236}">
                <a16:creationId xmlns:a16="http://schemas.microsoft.com/office/drawing/2014/main" id="{16366E88-BD10-4038-80E7-D54E7DE2FE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As these processes occur the buffer ratio returns to its original value of 1:20.</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If the three systems do not work and successful compensation does not occur, the result is an acid shift in the pH.</a:t>
            </a:r>
          </a:p>
        </p:txBody>
      </p:sp>
      <p:sp>
        <p:nvSpPr>
          <p:cNvPr id="6" name="">
            <a:extLst xmlns:a="http://schemas.openxmlformats.org/drawingml/2006/main">
              <a:ext uri="{FF2B5EF4-FFF2-40B4-BE49-F238E27FC236}">
                <a16:creationId xmlns:a16="http://schemas.microsoft.com/office/drawing/2014/main" id="{1753BC16-C860-460A-97A9-F13D12EFD91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617E561-D905-4190-97E8-E98C2AEF9B7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36</a:t>
            </a:r>
          </a:p>
        </p:txBody>
      </p:sp>
    </p:spTree>
    <p:extLst>
      <p:ext uri="{BB962C8B-B14F-4D97-AF65-F5344CB8AC3E}">
        <p14:creationId xmlns:p14="http://schemas.microsoft.com/office/powerpoint/2010/main" val="1925134076"/>
      </p:ext>
    </p:extLst>
  </p:cSld>
</p:sld>
</file>

<file path=ppt/slides/slide10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B50377-5326-40DB-B20A-262B6BCF9F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0F9EDA1-1FAD-41BB-B6C0-8AC64E2B23B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a:t>
            </a:r>
          </a:p>
        </p:txBody>
      </p:sp>
      <p:sp>
        <p:nvSpPr>
          <p:cNvPr id="3" name="">
            <a:extLst xmlns:a="http://schemas.openxmlformats.org/drawingml/2006/main">
              <a:ext uri="{FF2B5EF4-FFF2-40B4-BE49-F238E27FC236}">
                <a16:creationId xmlns:a16="http://schemas.microsoft.com/office/drawing/2014/main" id="{381257F3-4B9E-4923-A90C-561224FCF64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9383CD4-6164-42FA-A23D-54D8D568084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103</a:t>
            </a:r>
          </a:p>
        </p:txBody>
      </p:sp>
      <p:sp>
        <p:nvSpPr>
          <p:cNvPr id="5" name="">
            <a:extLst xmlns:a="http://schemas.openxmlformats.org/drawingml/2006/main">
              <a:ext uri="{FF2B5EF4-FFF2-40B4-BE49-F238E27FC236}">
                <a16:creationId xmlns:a16="http://schemas.microsoft.com/office/drawing/2014/main" id="{7A3EAB47-6C1D-4038-8225-95546D28E9A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diagnosis of metabolic acidosis or metabolic alkalosis is usually made from the bicarbonate level in the plasma (24-31 mEq/L).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concentration of Bicarbonate in the plasma is regulated by the kidneys through the acidification or alkalinization of the urine.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respiratory acidosis and alkalosis, the primary changes in carbonic acid are reflected bysecondary changes in bicarbonate.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Acidosis is characterized by accumulation of CO2 due to hypoventilation.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Conversely, in alkalosis, there is a deficit of CO2 due to hyperventilation.</a:t>
            </a:r>
          </a:p>
        </p:txBody>
      </p:sp>
      <p:sp>
        <p:nvSpPr>
          <p:cNvPr id="6" name="">
            <a:extLst xmlns:a="http://schemas.openxmlformats.org/drawingml/2006/main">
              <a:ext uri="{FF2B5EF4-FFF2-40B4-BE49-F238E27FC236}">
                <a16:creationId xmlns:a16="http://schemas.microsoft.com/office/drawing/2014/main" id="{91DA7A08-3FDF-45E6-A92F-C5F669C9D0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F77944C-A5C4-40C0-B313-5CEEA1CCF4E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1167091088"/>
      </p:ext>
    </p:extLst>
  </p:cSld>
</p:sld>
</file>

<file path=ppt/slides/slide10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81D016-571D-46CF-9AD9-CA1A75EDE60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38388C3-6093-49A9-8CFB-BFEB2DBD232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441DD4AE-6C6E-4266-AF59-B138337AEB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CB134C7-A322-498D-8D44-D9D23E8DD41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104</a:t>
            </a:r>
          </a:p>
        </p:txBody>
      </p:sp>
      <p:sp>
        <p:nvSpPr>
          <p:cNvPr id="5" name="">
            <a:extLst xmlns:a="http://schemas.openxmlformats.org/drawingml/2006/main">
              <a:ext uri="{FF2B5EF4-FFF2-40B4-BE49-F238E27FC236}">
                <a16:creationId xmlns:a16="http://schemas.microsoft.com/office/drawing/2014/main" id="{D3FAF7D8-7489-465B-8DF4-F96FB1571E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Acid - Base Deviations Metabolic Respiratory Blood (HCO3) (PCO2) pH Respiratory Alkalosis Respiratory Acidosis Metabolic Alkalosis Metabolic Acidosis Use the following acronym to help you with respiratory and metabolic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questions on the exam:</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ROME: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Respiratory Opposite</a:t>
            </a:r>
          </a:p>
        </p:txBody>
      </p:sp>
      <p:sp>
        <p:nvSpPr>
          <p:cNvPr id="6" name="">
            <a:extLst xmlns:a="http://schemas.openxmlformats.org/drawingml/2006/main">
              <a:ext uri="{FF2B5EF4-FFF2-40B4-BE49-F238E27FC236}">
                <a16:creationId xmlns:a16="http://schemas.microsoft.com/office/drawing/2014/main" id="{8722E1F7-BE93-44F3-B75A-9CD8EDEC43D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72A2126-CA10-4473-997E-58970265EDE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1929390727"/>
      </p:ext>
    </p:extLst>
  </p:cSld>
</p:sld>
</file>

<file path=ppt/slides/slide10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2FD3A0-00AD-4F47-8791-9A032D4388D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19147A5-4419-42AE-A062-EE8A81AF67D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 hypoventilation. Conversely, in alkalosis, there is a deficit of CO2 due to — continued</a:t>
            </a:r>
          </a:p>
        </p:txBody>
      </p:sp>
      <p:sp>
        <p:nvSpPr>
          <p:cNvPr id="3" name="">
            <a:extLst xmlns:a="http://schemas.openxmlformats.org/drawingml/2006/main">
              <a:ext uri="{FF2B5EF4-FFF2-40B4-BE49-F238E27FC236}">
                <a16:creationId xmlns:a16="http://schemas.microsoft.com/office/drawing/2014/main" id="{4813C415-DD8C-4087-BEE8-12CF6843124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EEADCF9-53AD-48A1-A863-749BF77C1FC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105</a:t>
            </a:r>
          </a:p>
        </p:txBody>
      </p:sp>
      <p:sp>
        <p:nvSpPr>
          <p:cNvPr id="5" name="">
            <a:extLst xmlns:a="http://schemas.openxmlformats.org/drawingml/2006/main">
              <a:ext uri="{FF2B5EF4-FFF2-40B4-BE49-F238E27FC236}">
                <a16:creationId xmlns:a16="http://schemas.microsoft.com/office/drawing/2014/main" id="{31554396-9AB9-4655-B561-73BB100966B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Metabolic Equal This means, in respiratory disorders the pH is opposite to the CO2 and HCO3, and in metabolic disorders the pH is equal to or moves in the same direction as the CO2 and HCO3.</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Here's an explanation: • Respiratory acidosis- pH down, CO2 up,HCO3 up • Metabolic acidosis-pH down, CO2 down, HCO3 down • Respiratory alkalosis-pH up, CO2 down, HCO3 down &gt;&gt; Metabolic alkalosis- pH up, CO2 up, HCO3 up</a:t>
            </a:r>
          </a:p>
        </p:txBody>
      </p:sp>
      <p:sp>
        <p:nvSpPr>
          <p:cNvPr id="6" name="">
            <a:extLst xmlns:a="http://schemas.openxmlformats.org/drawingml/2006/main">
              <a:ext uri="{FF2B5EF4-FFF2-40B4-BE49-F238E27FC236}">
                <a16:creationId xmlns:a16="http://schemas.microsoft.com/office/drawing/2014/main" id="{0E34A5AF-6BD7-43FD-8C65-8F65E39C5A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CAE281F-7D37-4172-9182-6595FBA252F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37</a:t>
            </a:r>
          </a:p>
        </p:txBody>
      </p:sp>
    </p:spTree>
    <p:extLst>
      <p:ext uri="{BB962C8B-B14F-4D97-AF65-F5344CB8AC3E}">
        <p14:creationId xmlns:p14="http://schemas.microsoft.com/office/powerpoint/2010/main" val="698675518"/>
      </p:ext>
    </p:extLst>
  </p:cSld>
</p:sld>
</file>

<file path=ppt/slides/slide10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518B69-E683-4B9B-B2FD-D8EC59A9966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9BF22AE-F3C6-402D-8507-6A747CF5987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a:t>
            </a:r>
          </a:p>
        </p:txBody>
      </p:sp>
      <p:sp>
        <p:nvSpPr>
          <p:cNvPr id="3" name="">
            <a:extLst xmlns:a="http://schemas.openxmlformats.org/drawingml/2006/main">
              <a:ext uri="{FF2B5EF4-FFF2-40B4-BE49-F238E27FC236}">
                <a16:creationId xmlns:a16="http://schemas.microsoft.com/office/drawing/2014/main" id="{9A653F25-52DB-4ACD-9062-E49AEEBE9C0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77E643C-3675-48B6-A30A-D38903998D2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106</a:t>
            </a:r>
          </a:p>
        </p:txBody>
      </p:sp>
      <p:sp>
        <p:nvSpPr>
          <p:cNvPr id="5" name="">
            <a:extLst xmlns:a="http://schemas.openxmlformats.org/drawingml/2006/main">
              <a:ext uri="{FF2B5EF4-FFF2-40B4-BE49-F238E27FC236}">
                <a16:creationId xmlns:a16="http://schemas.microsoft.com/office/drawing/2014/main" id="{0482E8C4-ECC8-461C-8E1D-0EA4ED6CBFB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Simple disturbance of acid-base balance are those in which there is only a single cause.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*Respiratory Alkalosis - When excessive CO2 is excreted respiratory alkalosis ensues.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result is a decrease in PCO2, a decrease in H2C03 and a rise in pH, usually results from hyperventilation or over stimulation of the respiratory center of the brain.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Over stimulation of the respiratory center of the brain can be caused by diseases of the CNS, fever, intracranial surgery, ASA poisoning, bacteremia, liver disease, and increased ventilation.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most common causes of hyperventilation include: anxiety, high altitude hypoxia, severe exercise, and a poorly adjusted mechanical ventilator.</a:t>
            </a:r>
          </a:p>
        </p:txBody>
      </p:sp>
      <p:sp>
        <p:nvSpPr>
          <p:cNvPr id="6" name="">
            <a:extLst xmlns:a="http://schemas.openxmlformats.org/drawingml/2006/main">
              <a:ext uri="{FF2B5EF4-FFF2-40B4-BE49-F238E27FC236}">
                <a16:creationId xmlns:a16="http://schemas.microsoft.com/office/drawing/2014/main" id="{029A138B-3EE1-4088-8285-F0EE794E6E8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808AAA1-5D7B-47DC-A288-FF442054159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1917457488"/>
      </p:ext>
    </p:extLst>
  </p:cSld>
</p:sld>
</file>

<file path=ppt/slides/slide10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BE7EFF8-24FE-49BD-800A-FFBFC5AB693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9FC9ADC-3D8C-47A4-8011-52CE6E4563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8A55AC9C-DA90-4CE5-8892-E82BFFCA869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993A859-FC9E-4C6B-BD5D-270C86B63F0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107</a:t>
            </a:r>
          </a:p>
        </p:txBody>
      </p:sp>
      <p:sp>
        <p:nvSpPr>
          <p:cNvPr id="5" name="">
            <a:extLst xmlns:a="http://schemas.openxmlformats.org/drawingml/2006/main">
              <a:ext uri="{FF2B5EF4-FFF2-40B4-BE49-F238E27FC236}">
                <a16:creationId xmlns:a16="http://schemas.microsoft.com/office/drawing/2014/main" id="{C8197E7C-B997-48DC-805C-C41392A33E8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 individual can himself cause respiratory alkalosis or acidosis.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Holding your breath can cause acidosis, and alkalosis is caused by voluntary hyperventilation.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most outstanding characteristic of respiratory alkalosis is increased neuromuscular irritability.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Symptoms that may be seen are hyper-reflexia, muscle twitching, and a positive Chvostek's sign.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Convulsions may occur.</a:t>
            </a:r>
          </a:p>
        </p:txBody>
      </p:sp>
      <p:sp>
        <p:nvSpPr>
          <p:cNvPr id="6" name="">
            <a:extLst xmlns:a="http://schemas.openxmlformats.org/drawingml/2006/main">
              <a:ext uri="{FF2B5EF4-FFF2-40B4-BE49-F238E27FC236}">
                <a16:creationId xmlns:a16="http://schemas.microsoft.com/office/drawing/2014/main" id="{2AC49168-6E70-4BB5-99FD-4443578EB8E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0504257-AEA0-496E-A26A-E592030E633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846998738"/>
      </p:ext>
    </p:extLst>
  </p:cSld>
</p:sld>
</file>

<file path=ppt/slides/slide10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787925A-6A9C-4EA2-9249-6E0C2580448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3324854-DF18-468D-A1E0-8AAFC15CDB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C47DE1FA-3A3B-446E-AA74-46153950739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EA7BBC2-5DF6-4674-8A46-FA6271F61E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108</a:t>
            </a:r>
          </a:p>
        </p:txBody>
      </p:sp>
      <p:sp>
        <p:nvSpPr>
          <p:cNvPr id="5" name="">
            <a:extLst xmlns:a="http://schemas.openxmlformats.org/drawingml/2006/main">
              <a:ext uri="{FF2B5EF4-FFF2-40B4-BE49-F238E27FC236}">
                <a16:creationId xmlns:a16="http://schemas.microsoft.com/office/drawing/2014/main" id="{A97FAF70-0358-4CC8-9B1D-8A4928D81BF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pH level is above 7.44, hypokalemia may occur if respiratory alkalosis persists for several days.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Treatment consists of eliminating the cause.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patient is anxious, calm their fears.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cause is ASA poisoning or the patient is suffering from a neurological disorder, the primary condition must be treated.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*Respiratory Acidosis - This disturbance is seen when abnormal patterns of respirations cause CO2 retention.</a:t>
            </a:r>
          </a:p>
        </p:txBody>
      </p:sp>
      <p:sp>
        <p:nvSpPr>
          <p:cNvPr id="6" name="">
            <a:extLst xmlns:a="http://schemas.openxmlformats.org/drawingml/2006/main">
              <a:ext uri="{FF2B5EF4-FFF2-40B4-BE49-F238E27FC236}">
                <a16:creationId xmlns:a16="http://schemas.microsoft.com/office/drawing/2014/main" id="{6A482F7F-5102-4D88-B259-B6EF4347390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8D22DA7-7753-4D29-A26E-6EF9778CDD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513261245"/>
      </p:ext>
    </p:extLst>
  </p:cSld>
</p:sld>
</file>

<file path=ppt/slides/slide10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8AC95E-FB9E-402E-92B9-612F8B24FD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053A82-42A4-47AE-9B73-C690A0D4577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969E7CFD-36EE-4E1B-9885-28473429B30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3B97757-0534-48D5-9F97-2A232099DF1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109</a:t>
            </a:r>
          </a:p>
        </p:txBody>
      </p:sp>
      <p:sp>
        <p:nvSpPr>
          <p:cNvPr id="5" name="">
            <a:extLst xmlns:a="http://schemas.openxmlformats.org/drawingml/2006/main">
              <a:ext uri="{FF2B5EF4-FFF2-40B4-BE49-F238E27FC236}">
                <a16:creationId xmlns:a16="http://schemas.microsoft.com/office/drawing/2014/main" id="{464E514E-AD18-45D2-A06F-89809264267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result is an increase in H2CO3 and a decreased pH.</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usually develops as a result of obstructed or halted gas exchange, obstructions preventing exhalation, impaired neuromuscular function, or a depressed respiratory center.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most outstanding symptoms are generally cardiopulmonary in nature.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Sometimes the only clinical signs are dyspnea on exertion.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Other serious symptoms include: *Severity of Dyspnea *Wheezing *Disorientation progressing to coma *Dysrythmias In respiratory acidosis the most important factor is poor ventilation.</a:t>
            </a:r>
          </a:p>
        </p:txBody>
      </p:sp>
      <p:sp>
        <p:nvSpPr>
          <p:cNvPr id="6" name="">
            <a:extLst xmlns:a="http://schemas.openxmlformats.org/drawingml/2006/main">
              <a:ext uri="{FF2B5EF4-FFF2-40B4-BE49-F238E27FC236}">
                <a16:creationId xmlns:a16="http://schemas.microsoft.com/office/drawing/2014/main" id="{126067A4-C8F0-4ED3-A9F7-77398068769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9797388-9985-4E43-AA75-83EC5A0E0C0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1991538355"/>
      </p:ext>
    </p:extLst>
  </p:cSld>
</p:sld>
</file>

<file path=ppt/slides/slide1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54C628-2525-457B-B371-C0FE0461D00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872EC1-1864-4E19-B77B-3C1240352A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779"/>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There are four primary single disturbances. They are: — continued</a:t>
            </a:r>
          </a:p>
        </p:txBody>
      </p:sp>
      <p:sp>
        <p:nvSpPr>
          <p:cNvPr id="3" name="">
            <a:extLst xmlns:a="http://schemas.openxmlformats.org/drawingml/2006/main">
              <a:ext uri="{FF2B5EF4-FFF2-40B4-BE49-F238E27FC236}">
                <a16:creationId xmlns:a16="http://schemas.microsoft.com/office/drawing/2014/main" id="{59CBAC1D-495F-4545-93FA-F777721E20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0987596-AD7A-487C-889F-2B81DB6F7FF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110</a:t>
            </a:r>
          </a:p>
        </p:txBody>
      </p:sp>
      <p:sp>
        <p:nvSpPr>
          <p:cNvPr id="5" name="">
            <a:extLst xmlns:a="http://schemas.openxmlformats.org/drawingml/2006/main">
              <a:ext uri="{FF2B5EF4-FFF2-40B4-BE49-F238E27FC236}">
                <a16:creationId xmlns:a16="http://schemas.microsoft.com/office/drawing/2014/main" id="{840DC0E2-1155-4D82-AEFC-D00100E5757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goal of treatment is to improve ventilations by controlling and treating the underlying disease.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 addition, the imbalances in potassium, pH, chloride, and H20 need to be corrected.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Common treatments to improve respiratory efficiency include: antibiotics, postural drainage, broncho-dilators, breathing exercises, inhalation therapy, mechanical ventilators, and monitored oxygen therapy.</a:t>
            </a:r>
          </a:p>
        </p:txBody>
      </p:sp>
      <p:sp>
        <p:nvSpPr>
          <p:cNvPr id="6" name="">
            <a:extLst xmlns:a="http://schemas.openxmlformats.org/drawingml/2006/main">
              <a:ext uri="{FF2B5EF4-FFF2-40B4-BE49-F238E27FC236}">
                <a16:creationId xmlns:a16="http://schemas.microsoft.com/office/drawing/2014/main" id="{D9E559E5-0401-4819-97E3-CDC60F23F23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0C37B53-C224-4E83-A0D0-131EB70827F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38</a:t>
            </a:r>
          </a:p>
        </p:txBody>
      </p:sp>
    </p:spTree>
    <p:extLst>
      <p:ext uri="{BB962C8B-B14F-4D97-AF65-F5344CB8AC3E}">
        <p14:creationId xmlns:p14="http://schemas.microsoft.com/office/powerpoint/2010/main" val="1946306359"/>
      </p:ext>
    </p:extLst>
  </p:cSld>
</p:sld>
</file>

<file path=ppt/slides/slide1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9F2A9A-A66D-4712-8845-CC1601150FC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04B0EC2-ADF1-43BC-B228-123D513914D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a:t>
            </a:r>
          </a:p>
        </p:txBody>
      </p:sp>
      <p:sp>
        <p:nvSpPr>
          <p:cNvPr id="3" name="">
            <a:extLst xmlns:a="http://schemas.openxmlformats.org/drawingml/2006/main">
              <a:ext uri="{FF2B5EF4-FFF2-40B4-BE49-F238E27FC236}">
                <a16:creationId xmlns:a16="http://schemas.microsoft.com/office/drawing/2014/main" id="{417CF974-CE16-4FF5-88AC-DA230FD9A9A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F73FF38-C0D9-4E5A-964D-20320F9AD1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111</a:t>
            </a:r>
          </a:p>
        </p:txBody>
      </p:sp>
      <p:sp>
        <p:nvSpPr>
          <p:cNvPr id="5" name="">
            <a:extLst xmlns:a="http://schemas.openxmlformats.org/drawingml/2006/main">
              <a:ext uri="{FF2B5EF4-FFF2-40B4-BE49-F238E27FC236}">
                <a16:creationId xmlns:a16="http://schemas.microsoft.com/office/drawing/2014/main" id="{04AC190B-77C1-4D1C-9EBC-098932FF198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acidosis is severe, and critical Hyperkalemia is present, IV bicarbonate may be administered.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Two solutions used in the treatment of Respiratory Acidosis are: Ringers Lactate, and a 0.6 m solution of Sodium Lactate.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Secondary conditions may become apparent as a result of intervention.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respiratory acidosis, four iatrogenic conditions may occur as a result of therapy: Tetany, CO2 narcosis, rebound respiratory alkalosis, and metabolic alkalosis.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Therefore, appropriate monitoring and safety measures should be followed.</a:t>
            </a:r>
          </a:p>
        </p:txBody>
      </p:sp>
      <p:sp>
        <p:nvSpPr>
          <p:cNvPr id="6" name="">
            <a:extLst xmlns:a="http://schemas.openxmlformats.org/drawingml/2006/main">
              <a:ext uri="{FF2B5EF4-FFF2-40B4-BE49-F238E27FC236}">
                <a16:creationId xmlns:a16="http://schemas.microsoft.com/office/drawing/2014/main" id="{576B91ED-7435-4335-9AF6-3037A3C2E08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43F7795-94F6-4CC0-A33E-C5BD0E33FDF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40231681"/>
      </p:ext>
    </p:extLst>
  </p:cSld>
</p:sld>
</file>

<file path=ppt/slides/slide1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C99C8E-3B7A-434E-996F-1F28186309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CFE6D61-0CAE-4381-9D02-716B61BFE2C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F3DCC0D8-C5E1-40C5-AFD9-BA86256E6DC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276C4613-3C7F-4310-82B7-854860835BE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112</a:t>
            </a:r>
          </a:p>
        </p:txBody>
      </p:sp>
      <p:sp>
        <p:nvSpPr>
          <p:cNvPr id="5" name="">
            <a:extLst xmlns:a="http://schemas.openxmlformats.org/drawingml/2006/main">
              <a:ext uri="{FF2B5EF4-FFF2-40B4-BE49-F238E27FC236}">
                <a16:creationId xmlns:a16="http://schemas.microsoft.com/office/drawing/2014/main" id="{49EFEBAC-5C0B-4D77-B289-15FDEB3ABC2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*Metabolic Alkalosis - An abnormal rise in plasma bicarbonate or a decrease in plasma Ht concentration followed by a rise in pH is an indication of metabolic alkalosis.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Those at risk include patients with intractable vomiting or those with continuous nasogastric suctioning without electrolyte replacement.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Both situations result in large losses of HCL - leading to Ht depletion (as in emesis or drainage) and loss of CL-, which stimulates the kidneys to retain HCO3.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Metabolic alkalosis due to loss of CL- is called Hypochloremic Alkalosis.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body in an attempt to rectify the situation and restore "balance", compensates in the following manner: *Respiratory Compensation - Hypoventilation conserves CO2, therefore, increasing blood HCO3.</a:t>
            </a:r>
          </a:p>
        </p:txBody>
      </p:sp>
      <p:sp>
        <p:nvSpPr>
          <p:cNvPr id="6" name="">
            <a:extLst xmlns:a="http://schemas.openxmlformats.org/drawingml/2006/main">
              <a:ext uri="{FF2B5EF4-FFF2-40B4-BE49-F238E27FC236}">
                <a16:creationId xmlns:a16="http://schemas.microsoft.com/office/drawing/2014/main" id="{971B234A-6FBD-447E-A299-FBE76ED5C6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6EA1CE0-7BBA-4CC6-8302-F4E89EBDFBB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1849092399"/>
      </p:ext>
    </p:extLst>
  </p:cSld>
</p:sld>
</file>

<file path=ppt/slides/slide1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1F891F-1B7F-4D5E-AAB8-B43FF5A6D4E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0B9A258-2410-49E8-946F-441B642498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196F955F-5BA5-4121-BE92-39333487136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FECF617-03AE-41BF-BFE9-63F6F79819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113</a:t>
            </a:r>
          </a:p>
        </p:txBody>
      </p:sp>
      <p:sp>
        <p:nvSpPr>
          <p:cNvPr id="5" name="">
            <a:extLst xmlns:a="http://schemas.openxmlformats.org/drawingml/2006/main">
              <a:ext uri="{FF2B5EF4-FFF2-40B4-BE49-F238E27FC236}">
                <a16:creationId xmlns:a16="http://schemas.microsoft.com/office/drawing/2014/main" id="{7D368373-F958-48AC-9669-F6A4AC55F3E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 a compensatory response hypoventilation is limited by the body's oxygen need.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*Renal Compensation - The kidneys response is to conserve H+ and excrete large amounts of Nat and Kt with the excess HCO3.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result is alkaline urine.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Defense mechanisms used by the body to fight metabolic alkalosis are the opposite of those used to defend metabolic acidosis.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manifestations of metabolic alkalosis come from the imbalance itself and the body mechanisms to compensate.</a:t>
            </a:r>
          </a:p>
        </p:txBody>
      </p:sp>
      <p:sp>
        <p:nvSpPr>
          <p:cNvPr id="6" name="">
            <a:extLst xmlns:a="http://schemas.openxmlformats.org/drawingml/2006/main">
              <a:ext uri="{FF2B5EF4-FFF2-40B4-BE49-F238E27FC236}">
                <a16:creationId xmlns:a16="http://schemas.microsoft.com/office/drawing/2014/main" id="{314775F8-A42A-4CBA-A52E-FA125486412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4B93D91-EDB9-4085-A3C7-62F4D51525A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1688593425"/>
      </p:ext>
    </p:extLst>
  </p:cSld>
</p:sld>
</file>

<file path=ppt/slides/slide1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E21CD5-673A-44EE-AC96-76CA4F5F54B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50E3251-F841-4AD2-8117-987A26A0BCE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acidosis, four iatrogenic conditions may occur as a result of therapy: Tetany, CO2 — continued</a:t>
            </a:r>
          </a:p>
        </p:txBody>
      </p:sp>
      <p:sp>
        <p:nvSpPr>
          <p:cNvPr id="3" name="">
            <a:extLst xmlns:a="http://schemas.openxmlformats.org/drawingml/2006/main">
              <a:ext uri="{FF2B5EF4-FFF2-40B4-BE49-F238E27FC236}">
                <a16:creationId xmlns:a16="http://schemas.microsoft.com/office/drawing/2014/main" id="{5D3832BB-E278-449D-A5BF-B75BF29296B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D3AE2C8-BFAA-4A27-923A-9036765429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114</a:t>
            </a:r>
          </a:p>
        </p:txBody>
      </p:sp>
      <p:sp>
        <p:nvSpPr>
          <p:cNvPr id="5" name="">
            <a:extLst xmlns:a="http://schemas.openxmlformats.org/drawingml/2006/main">
              <a:ext uri="{FF2B5EF4-FFF2-40B4-BE49-F238E27FC236}">
                <a16:creationId xmlns:a16="http://schemas.microsoft.com/office/drawing/2014/main" id="{CF1E2920-0AE6-4E70-8477-249A398ADB8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symptoms may be present: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*Belligerence *Irritability *Disorientation *Convulsions *Slow shallow respirations *Periods of apnea Correction of the alkalosis is usually accomplished as follows: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Administration of a ringer's solution of an isotonic solution containing CL- 10mEq/L.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severe cases, 0.9% of Ammonium Chloride may be administered IV.</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(Controversial)</a:t>
            </a:r>
          </a:p>
        </p:txBody>
      </p:sp>
      <p:sp>
        <p:nvSpPr>
          <p:cNvPr id="6" name="">
            <a:extLst xmlns:a="http://schemas.openxmlformats.org/drawingml/2006/main">
              <a:ext uri="{FF2B5EF4-FFF2-40B4-BE49-F238E27FC236}">
                <a16:creationId xmlns:a16="http://schemas.microsoft.com/office/drawing/2014/main" id="{1675B70F-03A3-4C60-B2D0-18A3BCF22C2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C3998DC-37A7-4619-970C-86D818A75A6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39</a:t>
            </a:r>
          </a:p>
        </p:txBody>
      </p:sp>
    </p:spTree>
    <p:extLst>
      <p:ext uri="{BB962C8B-B14F-4D97-AF65-F5344CB8AC3E}">
        <p14:creationId xmlns:p14="http://schemas.microsoft.com/office/powerpoint/2010/main" val="1531618978"/>
      </p:ext>
    </p:extLst>
  </p:cSld>
</p:sld>
</file>

<file path=ppt/slides/slide1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5CDCF6-952C-40C9-AD9C-4AB2280253E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C15136A-5EE5-4B2E-9DB0-894A6ACCB8B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a:t>
            </a:r>
          </a:p>
        </p:txBody>
      </p:sp>
      <p:sp>
        <p:nvSpPr>
          <p:cNvPr id="3" name="">
            <a:extLst xmlns:a="http://schemas.openxmlformats.org/drawingml/2006/main">
              <a:ext uri="{FF2B5EF4-FFF2-40B4-BE49-F238E27FC236}">
                <a16:creationId xmlns:a16="http://schemas.microsoft.com/office/drawing/2014/main" id="{0986D110-D7EE-45CF-B668-2C822EB6FA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34EE096-4108-4C75-BBA3-4639A3004AA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115</a:t>
            </a:r>
          </a:p>
        </p:txBody>
      </p:sp>
      <p:sp>
        <p:nvSpPr>
          <p:cNvPr id="5" name="">
            <a:extLst xmlns:a="http://schemas.openxmlformats.org/drawingml/2006/main">
              <a:ext uri="{FF2B5EF4-FFF2-40B4-BE49-F238E27FC236}">
                <a16:creationId xmlns:a16="http://schemas.microsoft.com/office/drawing/2014/main" id="{1F7A3E43-FB84-4E4F-A56E-A6F359694B5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Metabolic Acidosis - When there is an abnormal loss of NAHCO3 or an increase in nonvolatile acid, which exceeds renal capacity, metabolic acidosis is seen.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Common factors include: *Over production of metabolic acids as in diabetes, fasting, hyperthyroidism, surgery, infections accompanied by high fever, and trauma.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*Excessive ingestion of acids as in ASA poisoning, boric acid ingestion, or ingestion of the following medications: ferrous sulfate, ammonium chloride, or paraldehyde.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Renal disease in which there is oliguria.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kidneys are unable to excrete acid loads adequately.</a:t>
            </a:r>
          </a:p>
        </p:txBody>
      </p:sp>
      <p:sp>
        <p:nvSpPr>
          <p:cNvPr id="6" name="">
            <a:extLst xmlns:a="http://schemas.openxmlformats.org/drawingml/2006/main">
              <a:ext uri="{FF2B5EF4-FFF2-40B4-BE49-F238E27FC236}">
                <a16:creationId xmlns:a16="http://schemas.microsoft.com/office/drawing/2014/main" id="{5E6B44D3-B18D-45C2-8F55-815F382BF28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CBCEF69-F1D0-404A-808B-CE3093D3C0C2}"/>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2018356110"/>
      </p:ext>
    </p:extLst>
  </p:cSld>
</p:sld>
</file>

<file path=ppt/slides/slide1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52B7173-73CF-41B2-889C-61F331D799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D2652A2-0FBC-476F-B402-541E3DF6DA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423462C0-5C1A-4137-8A1C-3DB596AB54B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6328FA2-E061-42EF-ADB0-BEA924BB80B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116</a:t>
            </a:r>
          </a:p>
        </p:txBody>
      </p:sp>
      <p:sp>
        <p:nvSpPr>
          <p:cNvPr id="5" name="">
            <a:extLst xmlns:a="http://schemas.openxmlformats.org/drawingml/2006/main">
              <a:ext uri="{FF2B5EF4-FFF2-40B4-BE49-F238E27FC236}">
                <a16:creationId xmlns:a16="http://schemas.microsoft.com/office/drawing/2014/main" id="{D26D5575-B624-4649-9DE8-DDC715D4300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some renal disorders there is an increase in the excretion of HCO3.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*Abnormal alkali loss through diarrhea or prolonged vomiting will increase the loss of HCO3.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Severe tissue anoxia as seen in individuals suffering from pulmonary and cardiac disorders, anemia, and shock, may have anaerobic metabolism producing excessive lactic acid.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results in metabolic acidosis.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in known as Lactic Acidosis, and usually accompanies a poor prognosis.</a:t>
            </a:r>
          </a:p>
        </p:txBody>
      </p:sp>
      <p:sp>
        <p:nvSpPr>
          <p:cNvPr id="6" name="">
            <a:extLst xmlns:a="http://schemas.openxmlformats.org/drawingml/2006/main">
              <a:ext uri="{FF2B5EF4-FFF2-40B4-BE49-F238E27FC236}">
                <a16:creationId xmlns:a16="http://schemas.microsoft.com/office/drawing/2014/main" id="{B131C9E8-DFF7-4ED8-AD54-4EC5910CD8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284BD31-7F6E-49FB-9336-CCE7B83CE1C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1764621715"/>
      </p:ext>
    </p:extLst>
  </p:cSld>
</p:sld>
</file>

<file path=ppt/slides/slide1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E917C3-0BC5-4901-9182-A9DB1F2B446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2B9B194-112A-4472-9622-939EEEEF473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25BA448E-A542-458A-A3CE-7C00FADD7F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CF39268-B1A1-4E93-9539-5216760998D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117</a:t>
            </a:r>
          </a:p>
        </p:txBody>
      </p:sp>
      <p:sp>
        <p:nvSpPr>
          <p:cNvPr id="5" name="">
            <a:extLst xmlns:a="http://schemas.openxmlformats.org/drawingml/2006/main">
              <a:ext uri="{FF2B5EF4-FFF2-40B4-BE49-F238E27FC236}">
                <a16:creationId xmlns:a16="http://schemas.microsoft.com/office/drawing/2014/main" id="{12D3DB01-E96A-4873-AA30-39ACDF208CA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Clinical symptoms come from both the primary imbalance and the compensatory reactions of the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may be seen: *Apathy *Disorientation *Weakness *Stupor and Coma *Dysrythmias *Kussmaul's Breathing The following goals are the focus of treatment: 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Restore blood volume and osmolality through the infusion of isotonic solutions such as Ringers Lactate or Sodium Chloride.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Correct the HCO3 deficit by administering NAHCO3 or NA lactate.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Prevent Electrolyte imbalance or correct the imbalance.</a:t>
            </a:r>
          </a:p>
        </p:txBody>
      </p:sp>
      <p:sp>
        <p:nvSpPr>
          <p:cNvPr id="6" name="">
            <a:extLst xmlns:a="http://schemas.openxmlformats.org/drawingml/2006/main">
              <a:ext uri="{FF2B5EF4-FFF2-40B4-BE49-F238E27FC236}">
                <a16:creationId xmlns:a16="http://schemas.microsoft.com/office/drawing/2014/main" id="{1F8FDDF1-4E25-4CDB-9CEB-F57849AB6B5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8ADD754-941E-4991-9DBF-0636B288ADDB}"/>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1119009447"/>
      </p:ext>
    </p:extLst>
  </p:cSld>
</p:sld>
</file>

<file path=ppt/slides/slide1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02F554-BFF8-465D-813B-7DD4E8F2F0E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DFA391-EB50-41F9-A1B3-1E8C3EF9B3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*KCL administration may be used to correct the alkalosis. — continued</a:t>
            </a:r>
          </a:p>
        </p:txBody>
      </p:sp>
      <p:sp>
        <p:nvSpPr>
          <p:cNvPr id="3" name="">
            <a:extLst xmlns:a="http://schemas.openxmlformats.org/drawingml/2006/main">
              <a:ext uri="{FF2B5EF4-FFF2-40B4-BE49-F238E27FC236}">
                <a16:creationId xmlns:a16="http://schemas.microsoft.com/office/drawing/2014/main" id="{D6300B3B-12D9-4F99-9F86-EDB7244994A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04F9CF7-718B-4657-BB2F-A894B4C06F5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118</a:t>
            </a:r>
          </a:p>
        </p:txBody>
      </p:sp>
      <p:sp>
        <p:nvSpPr>
          <p:cNvPr id="5" name="">
            <a:extLst xmlns:a="http://schemas.openxmlformats.org/drawingml/2006/main">
              <a:ext uri="{FF2B5EF4-FFF2-40B4-BE49-F238E27FC236}">
                <a16:creationId xmlns:a16="http://schemas.microsoft.com/office/drawing/2014/main" id="{EC190094-62F8-4270-B049-DF71200D35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Clinical Assessment of Fluid and Electrolyte Disturbances The nurse gathers data assessing fluid balance at the bedside.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With this information she can judge the patient's current fluid status, the patient's history, and whether the patient is</a:t>
            </a:r>
          </a:p>
        </p:txBody>
      </p:sp>
      <p:sp>
        <p:nvSpPr>
          <p:cNvPr id="6" name="">
            <a:extLst xmlns:a="http://schemas.openxmlformats.org/drawingml/2006/main">
              <a:ext uri="{FF2B5EF4-FFF2-40B4-BE49-F238E27FC236}">
                <a16:creationId xmlns:a16="http://schemas.microsoft.com/office/drawing/2014/main" id="{085594F0-0789-4E69-ABE5-591A4A28E42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EFE6416-0FD4-46EE-A0D9-EBEFCFE3F6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40</a:t>
            </a:r>
          </a:p>
        </p:txBody>
      </p:sp>
    </p:spTree>
    <p:extLst>
      <p:ext uri="{BB962C8B-B14F-4D97-AF65-F5344CB8AC3E}">
        <p14:creationId xmlns:p14="http://schemas.microsoft.com/office/powerpoint/2010/main" val="1892842421"/>
      </p:ext>
    </p:extLst>
  </p:cSld>
</p:sld>
</file>

<file path=ppt/slides/slide11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EA7B79B-7AF3-4595-8B02-CF44D95C948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A0A1132-9B9C-42D4-9F50-8FA5D8B6BD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a:t>
            </a:r>
          </a:p>
        </p:txBody>
      </p:sp>
      <p:sp>
        <p:nvSpPr>
          <p:cNvPr id="3" name="">
            <a:extLst xmlns:a="http://schemas.openxmlformats.org/drawingml/2006/main">
              <a:ext uri="{FF2B5EF4-FFF2-40B4-BE49-F238E27FC236}">
                <a16:creationId xmlns:a16="http://schemas.microsoft.com/office/drawing/2014/main" id="{06DB3B05-1EA5-4EC2-BDB5-C653000904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CCF4E45-1300-4929-8D4B-8BBBC87449F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119</a:t>
            </a:r>
          </a:p>
        </p:txBody>
      </p:sp>
      <p:sp>
        <p:nvSpPr>
          <p:cNvPr id="5" name="">
            <a:extLst xmlns:a="http://schemas.openxmlformats.org/drawingml/2006/main">
              <a:ext uri="{FF2B5EF4-FFF2-40B4-BE49-F238E27FC236}">
                <a16:creationId xmlns:a16="http://schemas.microsoft.com/office/drawing/2014/main" id="{CA89B87D-D653-45D2-A397-805C0A81B1E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at risk for imbalances of fluid and electrolytes necessitating monitoring of various labs and intake and output.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primary assessment and continued assessment of the patient Information to be noted in the health history of the patient includes the following: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*Recent gain or loss of weight *Unusual or restricted diet *Taking the following medications: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Diuretics Laxatives Antacids Glucocorticoids Electrolyte replacements *Diseases of the endocrine or metabolic systems *Problems with incontinence, wound drainage, excessive diaphoresis or vomiting *Unusual Activity While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obtaining the patient's history note overall affect, and loc.</a:t>
            </a:r>
          </a:p>
        </p:txBody>
      </p:sp>
      <p:sp>
        <p:nvSpPr>
          <p:cNvPr id="6" name="">
            <a:extLst xmlns:a="http://schemas.openxmlformats.org/drawingml/2006/main">
              <a:ext uri="{FF2B5EF4-FFF2-40B4-BE49-F238E27FC236}">
                <a16:creationId xmlns:a16="http://schemas.microsoft.com/office/drawing/2014/main" id="{2F372181-0A8C-4A02-AACC-5C0B3E1B470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AC0802F-7458-4698-A96A-1EBB43ED55B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486970718"/>
      </p:ext>
    </p:extLst>
  </p:cSld>
</p:sld>
</file>

<file path=ppt/slides/slide12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B74DF3-577C-4E5D-B641-1FFAE649C4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796CCE8-EBE8-4DBC-A393-D036FB11872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 — continued</a:t>
            </a:r>
          </a:p>
        </p:txBody>
      </p:sp>
      <p:sp>
        <p:nvSpPr>
          <p:cNvPr id="3" name="">
            <a:extLst xmlns:a="http://schemas.openxmlformats.org/drawingml/2006/main">
              <a:ext uri="{FF2B5EF4-FFF2-40B4-BE49-F238E27FC236}">
                <a16:creationId xmlns:a16="http://schemas.microsoft.com/office/drawing/2014/main" id="{82ACA849-30DF-4D32-B855-7223651E11B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38A2141-3148-4F9D-B6A6-EFFEF6586D0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120</a:t>
            </a:r>
          </a:p>
        </p:txBody>
      </p:sp>
      <p:sp>
        <p:nvSpPr>
          <p:cNvPr id="5" name="">
            <a:extLst xmlns:a="http://schemas.openxmlformats.org/drawingml/2006/main">
              <a:ext uri="{FF2B5EF4-FFF2-40B4-BE49-F238E27FC236}">
                <a16:creationId xmlns:a16="http://schemas.microsoft.com/office/drawing/2014/main" id="{8789E595-3B16-44C5-9C5F-1AFB78CE83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disturbances in mental or physical status may indicate a problem.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Although a Physical assessment may identify symptoms of imbalance other factors need to be addressed.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These include: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*T.P.R *Blood Pressure *Hydration status of mucous membranes and skin *Unusual odors *Thirst (absence or presence) *Body weight *Behavioral changes *Dysrythmias *Neuromuscular function *Sensations of numbness or tingling</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*GI function *Edema *External jugular vein distention An accurate record of intake and output is a primary indicator of the hydration process.</a:t>
            </a:r>
          </a:p>
        </p:txBody>
      </p:sp>
      <p:sp>
        <p:nvSpPr>
          <p:cNvPr id="6" name="">
            <a:extLst xmlns:a="http://schemas.openxmlformats.org/drawingml/2006/main">
              <a:ext uri="{FF2B5EF4-FFF2-40B4-BE49-F238E27FC236}">
                <a16:creationId xmlns:a16="http://schemas.microsoft.com/office/drawing/2014/main" id="{3F71B776-FC4C-48CD-9088-B56B64075F8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C56EF7E-C6C3-4F2A-8B67-CF18B88E1EA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151670729"/>
      </p:ext>
    </p:extLst>
  </p:cSld>
</p:sld>
</file>

<file path=ppt/slides/slide12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51AB81-34A7-4AC4-837C-5F607544C4A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EEDB16-66DC-4391-BE95-CC12ADC54AF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can make a critical difference. — continued</a:t>
            </a:r>
          </a:p>
        </p:txBody>
      </p:sp>
      <p:sp>
        <p:nvSpPr>
          <p:cNvPr id="3" name="">
            <a:extLst xmlns:a="http://schemas.openxmlformats.org/drawingml/2006/main">
              <a:ext uri="{FF2B5EF4-FFF2-40B4-BE49-F238E27FC236}">
                <a16:creationId xmlns:a16="http://schemas.microsoft.com/office/drawing/2014/main" id="{4D3FB54C-6CA9-4043-985E-F442D373B29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1601849-863A-4C51-A5BE-F09F852EB64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121</a:t>
            </a:r>
          </a:p>
        </p:txBody>
      </p:sp>
      <p:sp>
        <p:nvSpPr>
          <p:cNvPr id="5" name="">
            <a:extLst xmlns:a="http://schemas.openxmlformats.org/drawingml/2006/main">
              <a:ext uri="{FF2B5EF4-FFF2-40B4-BE49-F238E27FC236}">
                <a16:creationId xmlns:a16="http://schemas.microsoft.com/office/drawing/2014/main" id="{807636F8-8782-42BC-A083-52C2925BCCB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record should be accurately maintained and documented.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Nurses should account for fluid intake as innocuous as that administered with oral medications, as over a period of time this seemingly small amount of fluid can account for 25-35% of the daily fluid intake.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Careful documentation is also required in tallying IV fluids given.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 accurate record of when and how much solution was hung, and the amount left in the bag at the end of shifts can serve to maintain an accurate and accountable intake record.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Rules to follow for the accurate documentation of fluids are as follows:</a:t>
            </a:r>
          </a:p>
        </p:txBody>
      </p:sp>
      <p:sp>
        <p:nvSpPr>
          <p:cNvPr id="6" name="">
            <a:extLst xmlns:a="http://schemas.openxmlformats.org/drawingml/2006/main">
              <a:ext uri="{FF2B5EF4-FFF2-40B4-BE49-F238E27FC236}">
                <a16:creationId xmlns:a16="http://schemas.microsoft.com/office/drawing/2014/main" id="{F3CFED36-2768-46E5-AD86-BB6BC2B71E4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32DB6A7-BE82-4FB6-A25D-DA47B9740D6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41</a:t>
            </a:r>
          </a:p>
        </p:txBody>
      </p:sp>
    </p:spTree>
    <p:extLst>
      <p:ext uri="{BB962C8B-B14F-4D97-AF65-F5344CB8AC3E}">
        <p14:creationId xmlns:p14="http://schemas.microsoft.com/office/powerpoint/2010/main" val="501327635"/>
      </p:ext>
    </p:extLst>
  </p:cSld>
</p:sld>
</file>

<file path=ppt/slides/slide12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4D106A2-58FB-4162-87A4-69A7216FFCB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CF48D93-62F1-4FC1-BA16-C9150DA29B5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a:t>
            </a:r>
          </a:p>
        </p:txBody>
      </p:sp>
      <p:sp>
        <p:nvSpPr>
          <p:cNvPr id="3" name="">
            <a:extLst xmlns:a="http://schemas.openxmlformats.org/drawingml/2006/main">
              <a:ext uri="{FF2B5EF4-FFF2-40B4-BE49-F238E27FC236}">
                <a16:creationId xmlns:a16="http://schemas.microsoft.com/office/drawing/2014/main" id="{AF5C500E-CFBF-4156-A86F-172B156F7D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6F52A4E-607E-4CD1-AC0B-89281577CA0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122</a:t>
            </a:r>
          </a:p>
        </p:txBody>
      </p:sp>
      <p:sp>
        <p:nvSpPr>
          <p:cNvPr id="5" name="">
            <a:extLst xmlns:a="http://schemas.openxmlformats.org/drawingml/2006/main">
              <a:ext uri="{FF2B5EF4-FFF2-40B4-BE49-F238E27FC236}">
                <a16:creationId xmlns:a16="http://schemas.microsoft.com/office/drawing/2014/main" id="{2B74E278-D730-4DBF-8840-301D20B33B0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Educate the patient, significant others, or caregivers on the importance of accurate recording *Consider and record fluid loss from incontinence, (stool and urine) * In draining wounds weigh the saturated dressings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*Note level of diaphoresis *If instilling or irrigating, note the amount returned compared to the amount instilled *Note the water volume of ice chips which is generally half the amount of the ice chips Not all patients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require strict intake and output, however, an evaluation of every patient should include: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*Has the individual had an oral intake of fluid approximating 1500cc/24H?</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*Has the individual voided at least every 8 hours and how much?</a:t>
            </a:r>
          </a:p>
        </p:txBody>
      </p:sp>
      <p:sp>
        <p:nvSpPr>
          <p:cNvPr id="6" name="">
            <a:extLst xmlns:a="http://schemas.openxmlformats.org/drawingml/2006/main">
              <a:ext uri="{FF2B5EF4-FFF2-40B4-BE49-F238E27FC236}">
                <a16:creationId xmlns:a16="http://schemas.microsoft.com/office/drawing/2014/main" id="{6B10536A-354E-4A20-BBE6-2C6F70A8CA0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4354E1A-9FD8-4AD2-B2B8-0F35734F9A9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173898813"/>
      </p:ext>
    </p:extLst>
  </p:cSld>
</p:sld>
</file>

<file path=ppt/slides/slide12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6048687-8E91-455E-98B8-58B8EA0366F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21642F1-32D5-447C-B187-6B63FA6E52A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0C763CD3-7454-4371-88CD-B41D41E8DC9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57B58B2-C028-4608-97EE-22776BECEB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123</a:t>
            </a:r>
          </a:p>
        </p:txBody>
      </p:sp>
      <p:sp>
        <p:nvSpPr>
          <p:cNvPr id="5" name="">
            <a:extLst xmlns:a="http://schemas.openxmlformats.org/drawingml/2006/main">
              <a:ext uri="{FF2B5EF4-FFF2-40B4-BE49-F238E27FC236}">
                <a16:creationId xmlns:a16="http://schemas.microsoft.com/office/drawing/2014/main" id="{05385163-4C39-46B5-84E2-7144FCF9895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*Is the urine concentrated?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*Is there fever present?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*Is the skin dry with poor turgor?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*Is there excessive diaphoresis?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*Is there excessive wound drainage?</a:t>
            </a:r>
          </a:p>
        </p:txBody>
      </p:sp>
      <p:sp>
        <p:nvSpPr>
          <p:cNvPr id="6" name="">
            <a:extLst xmlns:a="http://schemas.openxmlformats.org/drawingml/2006/main">
              <a:ext uri="{FF2B5EF4-FFF2-40B4-BE49-F238E27FC236}">
                <a16:creationId xmlns:a16="http://schemas.microsoft.com/office/drawing/2014/main" id="{D0718681-9D50-4ED3-92B6-915F6A9C8FB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6B49F6A-9AFC-470F-9956-081894484FA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1859242737"/>
      </p:ext>
    </p:extLst>
  </p:cSld>
</p:sld>
</file>

<file path=ppt/slides/slide12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5BA8ED-AFCD-4AF0-A14E-7EF13EE05F4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9C616C8-56F3-486D-9836-CC879273014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9C4732C1-ADC2-4C7F-A65D-5476ACF1F7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BF1D338-092A-49AF-B174-79C1A350368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124</a:t>
            </a:r>
          </a:p>
        </p:txBody>
      </p:sp>
      <p:sp>
        <p:nvSpPr>
          <p:cNvPr id="5" name="">
            <a:extLst xmlns:a="http://schemas.openxmlformats.org/drawingml/2006/main">
              <a:ext uri="{FF2B5EF4-FFF2-40B4-BE49-F238E27FC236}">
                <a16:creationId xmlns:a16="http://schemas.microsoft.com/office/drawing/2014/main" id="{F91A5D4C-E93A-4833-82D7-6B3BC4A369D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diagnostic tests may help confirm diagnosis: *CBC: This value offers an estimate of the Hemoglobin and Hematocrit.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lematocrit values will increase with extracellular volume depletior und increase with volume excess.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(Normals: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men 40-50%, wome 35-45%) *Urinalysis Pertinent observations include: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odor, clarity, presence of foam, sedimentation, pH, specific gravity, presence of protein, and Glucose *Electrolytes (Serum) pertinent electrolyte concentrations include:</a:t>
            </a:r>
          </a:p>
        </p:txBody>
      </p:sp>
      <p:sp>
        <p:nvSpPr>
          <p:cNvPr id="6" name="">
            <a:extLst xmlns:a="http://schemas.openxmlformats.org/drawingml/2006/main">
              <a:ext uri="{FF2B5EF4-FFF2-40B4-BE49-F238E27FC236}">
                <a16:creationId xmlns:a16="http://schemas.microsoft.com/office/drawing/2014/main" id="{222E13D2-AC62-46AD-AD56-46083008950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20D8E5E-7FEA-4C5F-A6AD-D950683E397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3112393"/>
      </p:ext>
    </p:extLst>
  </p:cSld>
</p:sld>
</file>

<file path=ppt/slides/slide12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12C68D0-AA39-4FB8-8279-E20C288BC8E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88B2AA6-7D7C-4359-A715-C7AAC3F6064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0A8A56F0-B7BD-43F9-870E-1D9154E59D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E5BA74E-936E-42D8-87DA-8174526DC85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125</a:t>
            </a:r>
          </a:p>
        </p:txBody>
      </p:sp>
      <p:sp>
        <p:nvSpPr>
          <p:cNvPr id="5" name="">
            <a:extLst xmlns:a="http://schemas.openxmlformats.org/drawingml/2006/main">
              <a:ext uri="{FF2B5EF4-FFF2-40B4-BE49-F238E27FC236}">
                <a16:creationId xmlns:a16="http://schemas.microsoft.com/office/drawing/2014/main" id="{A1930983-17A7-44D3-8B3F-2199617D343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CO2, and HCO3.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*Bun (Blood Urea Nitrogen) this value tends to fluctuate with the individual's state of hydration.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Diet, however, can alter the results (high protein).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Normal range is 8-25.</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Malnutrition may cause a low bun.</a:t>
            </a:r>
          </a:p>
        </p:txBody>
      </p:sp>
      <p:sp>
        <p:nvSpPr>
          <p:cNvPr id="6" name="">
            <a:extLst xmlns:a="http://schemas.openxmlformats.org/drawingml/2006/main">
              <a:ext uri="{FF2B5EF4-FFF2-40B4-BE49-F238E27FC236}">
                <a16:creationId xmlns:a16="http://schemas.microsoft.com/office/drawing/2014/main" id="{2878F500-BE62-41C4-A6A8-2B46BEA9FFB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95BBD3D-29DD-4055-9095-75AAD383F85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655138195"/>
      </p:ext>
    </p:extLst>
  </p:cSld>
</p:sld>
</file>

<file path=ppt/slides/slide12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D6DA43-7E5D-4B37-BE76-BCC61A3BDF1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79E19A1-1EB7-46AD-813F-5835463F91D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Measure fluids rather than guess — continued</a:t>
            </a:r>
          </a:p>
        </p:txBody>
      </p:sp>
      <p:sp>
        <p:nvSpPr>
          <p:cNvPr id="3" name="">
            <a:extLst xmlns:a="http://schemas.openxmlformats.org/drawingml/2006/main">
              <a:ext uri="{FF2B5EF4-FFF2-40B4-BE49-F238E27FC236}">
                <a16:creationId xmlns:a16="http://schemas.microsoft.com/office/drawing/2014/main" id="{B8455C08-B9C2-479C-9DEB-24549A1E2A5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2C9F57C-163D-42AE-B25B-C4A4D4491E5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126</a:t>
            </a:r>
          </a:p>
        </p:txBody>
      </p:sp>
      <p:sp>
        <p:nvSpPr>
          <p:cNvPr id="5" name="">
            <a:extLst xmlns:a="http://schemas.openxmlformats.org/drawingml/2006/main">
              <a:ext uri="{FF2B5EF4-FFF2-40B4-BE49-F238E27FC236}">
                <a16:creationId xmlns:a16="http://schemas.microsoft.com/office/drawing/2014/main" id="{8E006B61-F369-4E56-8A99-D2E993D3DEC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*Arterial Arterial Blood Gases - Any deviation in these results denote an acid-base imbalance.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Normal range is 7.35-7.45.</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*EKG An EKG (Electrocardiogram) is a useful tool in denoting imbalances of K, MG, and CA.</a:t>
            </a:r>
          </a:p>
        </p:txBody>
      </p:sp>
      <p:sp>
        <p:nvSpPr>
          <p:cNvPr id="6" name="">
            <a:extLst xmlns:a="http://schemas.openxmlformats.org/drawingml/2006/main">
              <a:ext uri="{FF2B5EF4-FFF2-40B4-BE49-F238E27FC236}">
                <a16:creationId xmlns:a16="http://schemas.microsoft.com/office/drawing/2014/main" id="{22E3F6CE-A04E-4657-99F3-E9A749E97EB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BA71907-AC4B-4677-B96F-2B913B1C5C2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42</a:t>
            </a:r>
          </a:p>
        </p:txBody>
      </p:sp>
    </p:spTree>
    <p:extLst>
      <p:ext uri="{BB962C8B-B14F-4D97-AF65-F5344CB8AC3E}">
        <p14:creationId xmlns:p14="http://schemas.microsoft.com/office/powerpoint/2010/main" val="174765146"/>
      </p:ext>
    </p:extLst>
  </p:cSld>
</p:sld>
</file>

<file path=ppt/slides/slide12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946039F-6BAE-452B-AB55-99067BC5E1B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CAD91A0-59BE-49BA-B032-B3645E8DFF4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a:t>
            </a:r>
          </a:p>
        </p:txBody>
      </p:sp>
      <p:sp>
        <p:nvSpPr>
          <p:cNvPr id="3" name="">
            <a:extLst xmlns:a="http://schemas.openxmlformats.org/drawingml/2006/main">
              <a:ext uri="{FF2B5EF4-FFF2-40B4-BE49-F238E27FC236}">
                <a16:creationId xmlns:a16="http://schemas.microsoft.com/office/drawing/2014/main" id="{E36EB143-6CCB-43A6-99C5-6740137286D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4304738-00C0-41AB-98D2-A1156BDF8CA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127</a:t>
            </a:r>
          </a:p>
        </p:txBody>
      </p:sp>
      <p:sp>
        <p:nvSpPr>
          <p:cNvPr id="5" name="">
            <a:extLst xmlns:a="http://schemas.openxmlformats.org/drawingml/2006/main">
              <a:ext uri="{FF2B5EF4-FFF2-40B4-BE49-F238E27FC236}">
                <a16:creationId xmlns:a16="http://schemas.microsoft.com/office/drawing/2014/main" id="{133877A9-9912-4CB5-84EB-6B701B383E2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Monitor signs and symptoms of fluid deficit in patients with renal dysfunction, Ulcerative imbalances, and cerebral injury.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*Monitor for signs and symptoms of fluid overload in patients with Congestive Heart Failure, Acute Renal Insufficiency, cerebral lesions, Adrenal Insufficiency, and Phychogenic Polydipsia.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Third Spacing The term "Third Spacing" indicates a shift of fluid, from something as simple as a water blister or the swelling of a sprained ankle, to the serious third spacing that can accompany burns.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Third spacing is the shifting of fluid from the vascular space to the interstitial space.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process occurs due to a decrease of plasma proteins, an increase of capillary permeability, or blockage of the lymphatic system.</a:t>
            </a:r>
          </a:p>
        </p:txBody>
      </p:sp>
      <p:sp>
        <p:nvSpPr>
          <p:cNvPr id="6" name="">
            <a:extLst xmlns:a="http://schemas.openxmlformats.org/drawingml/2006/main">
              <a:ext uri="{FF2B5EF4-FFF2-40B4-BE49-F238E27FC236}">
                <a16:creationId xmlns:a16="http://schemas.microsoft.com/office/drawing/2014/main" id="{00E62178-DCCB-43CA-8DA0-EADFF126B75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72049A3-7EDA-43DB-B550-B331498BDA2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1834921343"/>
      </p:ext>
    </p:extLst>
  </p:cSld>
</p:sld>
</file>

<file path=ppt/slides/slide12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9A9827A-29C7-469D-89DF-EC8CBA02E4A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473B16D-E4E4-4EF5-BF38-5151B367A38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2FF16B00-C9E3-4701-96E2-0BF310B842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5B9D0FD-BB34-4131-BF88-791FCFF78D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128</a:t>
            </a:r>
          </a:p>
        </p:txBody>
      </p:sp>
      <p:sp>
        <p:nvSpPr>
          <p:cNvPr id="5" name="">
            <a:extLst xmlns:a="http://schemas.openxmlformats.org/drawingml/2006/main">
              <a:ext uri="{FF2B5EF4-FFF2-40B4-BE49-F238E27FC236}">
                <a16:creationId xmlns:a16="http://schemas.microsoft.com/office/drawing/2014/main" id="{4A173773-8572-4B57-A31F-4FA24F68A5D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can be caused by trauma, disease, or inflammation.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Despite the movement of large amounts of fluid, third spacing is essentially invisible.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fluid hides in tissue spaces such as the walls of the bowels, the Omentum and the peritoneum.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There are four different mechanisms of pressures that move fluid through the capillary membrane: *Capillary Pressure - Pressure exerting outward from the capillary against the membrane.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*Interstitial Fluid Pressure - Pressure exerted inward toward the capillary membrane.</a:t>
            </a:r>
          </a:p>
        </p:txBody>
      </p:sp>
      <p:sp>
        <p:nvSpPr>
          <p:cNvPr id="6" name="">
            <a:extLst xmlns:a="http://schemas.openxmlformats.org/drawingml/2006/main">
              <a:ext uri="{FF2B5EF4-FFF2-40B4-BE49-F238E27FC236}">
                <a16:creationId xmlns:a16="http://schemas.microsoft.com/office/drawing/2014/main" id="{D8452292-56B6-4FBC-BA25-4DB68035667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44E8395F-2245-4B55-B1F3-A204B1C8B3D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1451408482"/>
      </p:ext>
    </p:extLst>
  </p:cSld>
</p:sld>
</file>

<file path=ppt/slides/slide12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3D84595-2E5F-4064-8786-D3331DD0345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0DB8FF5-A392-49A9-B585-38E41A012C0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A40BB7CE-75C4-4731-803B-519FD2F32B8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CCEEAB9-09D7-485E-AB43-1921FFD11AC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129</a:t>
            </a:r>
          </a:p>
        </p:txBody>
      </p:sp>
      <p:sp>
        <p:nvSpPr>
          <p:cNvPr id="5" name="">
            <a:extLst xmlns:a="http://schemas.openxmlformats.org/drawingml/2006/main">
              <a:ext uri="{FF2B5EF4-FFF2-40B4-BE49-F238E27FC236}">
                <a16:creationId xmlns:a16="http://schemas.microsoft.com/office/drawing/2014/main" id="{CE7503DC-EDBC-48C6-8F43-0950EC7D34D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*Plasma Colloid Osmotic Pressure - A pressure that pulls fluid from the interstitial space into the capillaries.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*Interstitial Fluid Colloid Osmotic Pressure - that which draws fluid from the capillaries into the third space.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role of the lymphatic system is one of offering an accessory route whereby excesses of interstitial fluid and proteins flow back into vascular space.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structure of the lymph system accommodates large protein molecules.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Should this system fail death would ensue within 24 hours.</a:t>
            </a:r>
          </a:p>
        </p:txBody>
      </p:sp>
      <p:sp>
        <p:nvSpPr>
          <p:cNvPr id="6" name="">
            <a:extLst xmlns:a="http://schemas.openxmlformats.org/drawingml/2006/main">
              <a:ext uri="{FF2B5EF4-FFF2-40B4-BE49-F238E27FC236}">
                <a16:creationId xmlns:a16="http://schemas.microsoft.com/office/drawing/2014/main" id="{FCDDB89F-B291-4846-A5ED-78CA15E8719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FC8ECD4-F52C-4DAD-A449-C01302F8495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113613178"/>
      </p:ext>
    </p:extLst>
  </p:cSld>
</p:sld>
</file>

<file path=ppt/slides/slide13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B893B74-B4E8-4053-87B0-E71531E80B9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AECEC62-03F0-47E6-8349-F1EE5D28936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Colitis, Diabetes Mellitus, and Diabetes Insipidus, ASA poisoning, burns, hormone — continued</a:t>
            </a:r>
          </a:p>
        </p:txBody>
      </p:sp>
      <p:sp>
        <p:nvSpPr>
          <p:cNvPr id="3" name="">
            <a:extLst xmlns:a="http://schemas.openxmlformats.org/drawingml/2006/main">
              <a:ext uri="{FF2B5EF4-FFF2-40B4-BE49-F238E27FC236}">
                <a16:creationId xmlns:a16="http://schemas.microsoft.com/office/drawing/2014/main" id="{2A76CDBB-FA1D-45A4-91C8-531EA58587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F791E56-3D94-4259-83A6-1D6522E1204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130</a:t>
            </a:r>
          </a:p>
        </p:txBody>
      </p:sp>
      <p:sp>
        <p:nvSpPr>
          <p:cNvPr id="5" name="">
            <a:extLst xmlns:a="http://schemas.openxmlformats.org/drawingml/2006/main">
              <a:ext uri="{FF2B5EF4-FFF2-40B4-BE49-F238E27FC236}">
                <a16:creationId xmlns:a16="http://schemas.microsoft.com/office/drawing/2014/main" id="{53C69E2E-349C-46A5-AA40-67029F8A15A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Third spacing occurs in two phases: *Fluid Loss - Immediately follows trauma or surgery and can last up to 72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The increase in capillary permeability allows proteins to leak out into areas of inflammation and trauma, and therefore fluid shifts from the vascular to the interstitial space.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Despite appropriate IV therapy, the fluid does not stay in the vascular compartment and the patient becomes hypovolemic.</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Symptoms include: *Decrease in blood pressure</a:t>
            </a:r>
          </a:p>
        </p:txBody>
      </p:sp>
      <p:sp>
        <p:nvSpPr>
          <p:cNvPr id="6" name="">
            <a:extLst xmlns:a="http://schemas.openxmlformats.org/drawingml/2006/main">
              <a:ext uri="{FF2B5EF4-FFF2-40B4-BE49-F238E27FC236}">
                <a16:creationId xmlns:a16="http://schemas.microsoft.com/office/drawing/2014/main" id="{5727B048-1156-4088-A22F-15235A0893D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6B26DBD-D1CE-47E6-9AE3-0FBD3E69E32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43</a:t>
            </a:r>
          </a:p>
        </p:txBody>
      </p:sp>
    </p:spTree>
    <p:extLst>
      <p:ext uri="{BB962C8B-B14F-4D97-AF65-F5344CB8AC3E}">
        <p14:creationId xmlns:p14="http://schemas.microsoft.com/office/powerpoint/2010/main" val="1930609364"/>
      </p:ext>
    </p:extLst>
  </p:cSld>
</p:sld>
</file>

<file path=ppt/slides/slide13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49D548-D36C-4CA4-B013-E06262912B3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5E880ED-5BA5-4EE5-8EF6-10150709380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a:t>
            </a:r>
          </a:p>
        </p:txBody>
      </p:sp>
      <p:sp>
        <p:nvSpPr>
          <p:cNvPr id="3" name="">
            <a:extLst xmlns:a="http://schemas.openxmlformats.org/drawingml/2006/main">
              <a:ext uri="{FF2B5EF4-FFF2-40B4-BE49-F238E27FC236}">
                <a16:creationId xmlns:a16="http://schemas.microsoft.com/office/drawing/2014/main" id="{7E2B279E-A59F-45AF-80C6-F02AE7C56B2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27891F2-B496-405D-A82F-BDADE938056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131</a:t>
            </a:r>
          </a:p>
        </p:txBody>
      </p:sp>
      <p:sp>
        <p:nvSpPr>
          <p:cNvPr id="5" name="">
            <a:extLst xmlns:a="http://schemas.openxmlformats.org/drawingml/2006/main">
              <a:ext uri="{FF2B5EF4-FFF2-40B4-BE49-F238E27FC236}">
                <a16:creationId xmlns:a16="http://schemas.microsoft.com/office/drawing/2014/main" id="{3F755EBB-E737-4CE0-89DD-0FE03AB4D7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Decrease in urine output *Increase in heart rate It is important at this point to increase plasma proteins through the use of products such as albumin: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Treatment works towards the prevention of hypovolemia and renal failure.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*Fluid Re-absorption - When the trauma and inflammation subside, fluid will shift back into the vascular compartment.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fluid will then be excreted by the kidneys.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Extra intravenous fluids administered at this time will cause circulatory overload.</a:t>
            </a:r>
          </a:p>
        </p:txBody>
      </p:sp>
      <p:sp>
        <p:nvSpPr>
          <p:cNvPr id="6" name="">
            <a:extLst xmlns:a="http://schemas.openxmlformats.org/drawingml/2006/main">
              <a:ext uri="{FF2B5EF4-FFF2-40B4-BE49-F238E27FC236}">
                <a16:creationId xmlns:a16="http://schemas.microsoft.com/office/drawing/2014/main" id="{C7A8E733-F5B0-4216-8E05-BAF7720378D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E4E0F66-293D-4178-93A4-57F24276908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1057374360"/>
      </p:ext>
    </p:extLst>
  </p:cSld>
</p:sld>
</file>

<file path=ppt/slides/slide13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C6E00B1-B927-4E7C-87F7-E257C5E9B8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ABD782-62C7-4D73-A905-87043071794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39D0E275-94C4-46A9-B0C9-F4D09279B0F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4895D12-1D63-4E49-A07C-0158B44BBFC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132</a:t>
            </a:r>
          </a:p>
        </p:txBody>
      </p:sp>
      <p:sp>
        <p:nvSpPr>
          <p:cNvPr id="5" name="">
            <a:extLst xmlns:a="http://schemas.openxmlformats.org/drawingml/2006/main">
              <a:ext uri="{FF2B5EF4-FFF2-40B4-BE49-F238E27FC236}">
                <a16:creationId xmlns:a16="http://schemas.microsoft.com/office/drawing/2014/main" id="{F295CAC3-71B6-4FA5-8E28-5C02A2FBDCE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Drastic increases in the urn output in this phase as usual.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Total fluid output may exceed intake by 3:1.</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Edema Edema can be moderate to severe (pulmonary edema).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Edema is a reflection of sodium retention, resulting in either excessive re-absorption or inadequate elimination.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there is severe fluid loss in the capillary bed, the resulting hypovolemia decreases renal perfusion, therefore stimulating Renin secretion.</a:t>
            </a:r>
          </a:p>
        </p:txBody>
      </p:sp>
      <p:sp>
        <p:nvSpPr>
          <p:cNvPr id="6" name="">
            <a:extLst xmlns:a="http://schemas.openxmlformats.org/drawingml/2006/main">
              <a:ext uri="{FF2B5EF4-FFF2-40B4-BE49-F238E27FC236}">
                <a16:creationId xmlns:a16="http://schemas.microsoft.com/office/drawing/2014/main" id="{2AB2D4B2-2D07-44B3-87A8-AB5C0E5E19E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E463D92D-1B2C-4703-A25C-9591F539D1E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427991722"/>
      </p:ext>
    </p:extLst>
  </p:cSld>
</p:sld>
</file>

<file path=ppt/slides/slide13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81FEFD-7E71-4023-A667-0831ADE08D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50CC72B-2AC7-4CB2-8FB0-7053AF8DE77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DF44714E-1D05-4836-AFD2-7134FA3FACC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C304344-2717-486F-A7FA-F564368395C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133</a:t>
            </a:r>
          </a:p>
        </p:txBody>
      </p:sp>
      <p:sp>
        <p:nvSpPr>
          <p:cNvPr id="5" name="">
            <a:extLst xmlns:a="http://schemas.openxmlformats.org/drawingml/2006/main">
              <a:ext uri="{FF2B5EF4-FFF2-40B4-BE49-F238E27FC236}">
                <a16:creationId xmlns:a16="http://schemas.microsoft.com/office/drawing/2014/main" id="{67B6AC49-848D-4CE4-9D7D-B8C9A29E19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Renin will trigger the release of aldosterone, which causes the retention of even more sodium and water, and the cycle continues.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 more sodium is reabsorbed, less can be secreted and massive amounts of edema can develop.</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following signs may be noted on assessment: *Pitting edema *Excessive weight gain (2.2lbs.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one liter of fluid retention) *Increased blood pressure *Shortness of breath *Engorged neck veins Edema is generally evaluated and noted numerically in severity on a scale of 1-4.</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larger the number the greater the edema.</a:t>
            </a:r>
          </a:p>
        </p:txBody>
      </p:sp>
      <p:sp>
        <p:nvSpPr>
          <p:cNvPr id="6" name="">
            <a:extLst xmlns:a="http://schemas.openxmlformats.org/drawingml/2006/main">
              <a:ext uri="{FF2B5EF4-FFF2-40B4-BE49-F238E27FC236}">
                <a16:creationId xmlns:a16="http://schemas.microsoft.com/office/drawing/2014/main" id="{D487FB03-C344-42E2-90C1-3C6384728FA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84900340-2EE0-4229-B023-61FFF0099846}"/>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530190449"/>
      </p:ext>
    </p:extLst>
  </p:cSld>
</p:sld>
</file>

<file path=ppt/slides/slide13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3479DCA-3CD0-434A-A411-69B105DE081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BEECF1-DD55-4097-8A82-B24FDD0C4F3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AF788706-EC7A-403B-BB18-644AEC42ED2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BC9D6C8-05D9-44ED-BC5F-20A568750F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134</a:t>
            </a:r>
          </a:p>
        </p:txBody>
      </p:sp>
      <p:sp>
        <p:nvSpPr>
          <p:cNvPr id="5" name="">
            <a:extLst xmlns:a="http://schemas.openxmlformats.org/drawingml/2006/main">
              <a:ext uri="{FF2B5EF4-FFF2-40B4-BE49-F238E27FC236}">
                <a16:creationId xmlns:a16="http://schemas.microsoft.com/office/drawing/2014/main" id="{3CF7EF0A-7DD7-4F7A-8C7F-35E58A4D985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 edema is barely detectable following digital pressure, while +4 edema is deep and may have persistent indentation occurring after digital pressure.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This type of edema is referred to as Pitting Edema.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 an average adult, up to 10 lbs of edema may go undetectable.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Edema can be so severe that no pitting is possible, tight shiny skin is seen instead without any detectable anatomical outlines.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most common edema is that experienced during the menstrual cycle, related to hormones.</a:t>
            </a:r>
          </a:p>
        </p:txBody>
      </p:sp>
      <p:sp>
        <p:nvSpPr>
          <p:cNvPr id="6" name="">
            <a:extLst xmlns:a="http://schemas.openxmlformats.org/drawingml/2006/main">
              <a:ext uri="{FF2B5EF4-FFF2-40B4-BE49-F238E27FC236}">
                <a16:creationId xmlns:a16="http://schemas.microsoft.com/office/drawing/2014/main" id="{41CB18FA-9D0F-487D-8F25-502112490B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10E02945-B508-4071-90A9-648BC2536BD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1320345744"/>
      </p:ext>
    </p:extLst>
  </p:cSld>
</p:sld>
</file>

<file path=ppt/slides/slide13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568BB19-9BD8-43A0-859C-F5F9F920E69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5BED39A-B14A-4456-B338-10CCD3FDED1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8A4F0D3E-C2C5-4013-B263-53EDFA31D53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3845706-5528-4BE2-985E-AC91D7FD34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135</a:t>
            </a:r>
          </a:p>
        </p:txBody>
      </p:sp>
      <p:sp>
        <p:nvSpPr>
          <p:cNvPr id="5" name="">
            <a:extLst xmlns:a="http://schemas.openxmlformats.org/drawingml/2006/main">
              <a:ext uri="{FF2B5EF4-FFF2-40B4-BE49-F238E27FC236}">
                <a16:creationId xmlns:a16="http://schemas.microsoft.com/office/drawing/2014/main" id="{C12145D0-C72C-46D1-9E09-1F31B482A3A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Edema may be troublesome but not serious.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 additional type of edema is due to lack of mobility.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Muscles are an important factor in the movement of fluids; therefore the stroke patient may be at risk for edema on the flaccid side of his body.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edema associated with pregnancy is secondary to an increase in circulating blood volume.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Certain drugs cause edema; corticosteroids, anti-inflammatorys, and anti-hypertensive agents.</a:t>
            </a:r>
          </a:p>
        </p:txBody>
      </p:sp>
      <p:sp>
        <p:nvSpPr>
          <p:cNvPr id="6" name="">
            <a:extLst xmlns:a="http://schemas.openxmlformats.org/drawingml/2006/main">
              <a:ext uri="{FF2B5EF4-FFF2-40B4-BE49-F238E27FC236}">
                <a16:creationId xmlns:a16="http://schemas.microsoft.com/office/drawing/2014/main" id="{DC1EC5A7-091A-48C0-AF4A-E5751655928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A1A95A1-AF32-4E28-8F18-4DCE63D6C7C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1554746650"/>
      </p:ext>
    </p:extLst>
  </p:cSld>
</p:sld>
</file>

<file path=ppt/slides/slide13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F07BE0C-98F8-452D-B39E-CB9C7DA857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A96F71C-AFA6-47CA-9E30-ACF08899CEC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9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 The fluid will then be excreted by the kidneys. Extra — continued</a:t>
            </a:r>
          </a:p>
        </p:txBody>
      </p:sp>
      <p:sp>
        <p:nvSpPr>
          <p:cNvPr id="3" name="">
            <a:extLst xmlns:a="http://schemas.openxmlformats.org/drawingml/2006/main">
              <a:ext uri="{FF2B5EF4-FFF2-40B4-BE49-F238E27FC236}">
                <a16:creationId xmlns:a16="http://schemas.microsoft.com/office/drawing/2014/main" id="{5A013C4E-1084-4DE7-8370-8DB29F3D26E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200DF83-5D68-4336-BA3C-056506F1F83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136</a:t>
            </a:r>
          </a:p>
        </p:txBody>
      </p:sp>
      <p:sp>
        <p:nvSpPr>
          <p:cNvPr id="5" name="">
            <a:extLst xmlns:a="http://schemas.openxmlformats.org/drawingml/2006/main">
              <a:ext uri="{FF2B5EF4-FFF2-40B4-BE49-F238E27FC236}">
                <a16:creationId xmlns:a16="http://schemas.microsoft.com/office/drawing/2014/main" id="{52003067-ADF1-4530-96D0-8B12DA489C92}"/>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 life threatening edema is pulmonary edema.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Patients will present with severe shortness of breath, frothy sputum, rapid pulse, etc.</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There may be a history of nocturia</a:t>
            </a:r>
          </a:p>
        </p:txBody>
      </p:sp>
      <p:sp>
        <p:nvSpPr>
          <p:cNvPr id="6" name="">
            <a:extLst xmlns:a="http://schemas.openxmlformats.org/drawingml/2006/main">
              <a:ext uri="{FF2B5EF4-FFF2-40B4-BE49-F238E27FC236}">
                <a16:creationId xmlns:a16="http://schemas.microsoft.com/office/drawing/2014/main" id="{07A3DD56-AEB3-4C33-B294-6E96BEC697B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8E44DF4-5630-4CD6-A4F7-16DD2B8D2A9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44</a:t>
            </a:r>
          </a:p>
        </p:txBody>
      </p:sp>
    </p:spTree>
    <p:extLst>
      <p:ext uri="{BB962C8B-B14F-4D97-AF65-F5344CB8AC3E}">
        <p14:creationId xmlns:p14="http://schemas.microsoft.com/office/powerpoint/2010/main" val="741479803"/>
      </p:ext>
    </p:extLst>
  </p:cSld>
</p:sld>
</file>

<file path=ppt/slides/slide13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015A434-9CA6-4850-B38D-EA7BA6C85A4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BC7870-9858-4390-AD72-09715E3098E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a:t>
            </a:r>
          </a:p>
        </p:txBody>
      </p:sp>
      <p:sp>
        <p:nvSpPr>
          <p:cNvPr id="3" name="">
            <a:extLst xmlns:a="http://schemas.openxmlformats.org/drawingml/2006/main">
              <a:ext uri="{FF2B5EF4-FFF2-40B4-BE49-F238E27FC236}">
                <a16:creationId xmlns:a16="http://schemas.microsoft.com/office/drawing/2014/main" id="{2351B85F-C65F-44BB-AEF0-6F446776704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7491928-C37E-4A16-9EEB-0FCBF4CFB3B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137</a:t>
            </a:r>
          </a:p>
        </p:txBody>
      </p:sp>
      <p:sp>
        <p:nvSpPr>
          <p:cNvPr id="5" name="">
            <a:extLst xmlns:a="http://schemas.openxmlformats.org/drawingml/2006/main">
              <a:ext uri="{FF2B5EF4-FFF2-40B4-BE49-F238E27FC236}">
                <a16:creationId xmlns:a16="http://schemas.microsoft.com/office/drawing/2014/main" id="{48C453A0-2815-410D-BD20-0AEE608496C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and orthopnea.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patient must be treated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Treatment may include; change Edema is usually not serious, and is seen as the bodies attempt to correct a physiologic imbalance.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Sodium restriction in selected patients is recommended.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origin of the edema is cardiac or renal, there are some factors to consider.</a:t>
            </a:r>
          </a:p>
        </p:txBody>
      </p:sp>
      <p:sp>
        <p:nvSpPr>
          <p:cNvPr id="6" name="">
            <a:extLst xmlns:a="http://schemas.openxmlformats.org/drawingml/2006/main">
              <a:ext uri="{FF2B5EF4-FFF2-40B4-BE49-F238E27FC236}">
                <a16:creationId xmlns:a16="http://schemas.microsoft.com/office/drawing/2014/main" id="{9E4C2725-D49C-4A25-897B-AF6C84762F2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3624052-755A-4522-AB2E-8489611E94F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1872277053"/>
      </p:ext>
    </p:extLst>
  </p:cSld>
</p:sld>
</file>

<file path=ppt/slides/slide13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4FCA6D-0CD8-4F6D-A4F1-184C3691898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96FCFFC-21A6-4C5C-A7C9-B85A37ED6AB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 — continued</a:t>
            </a:r>
          </a:p>
        </p:txBody>
      </p:sp>
      <p:sp>
        <p:nvSpPr>
          <p:cNvPr id="3" name="">
            <a:extLst xmlns:a="http://schemas.openxmlformats.org/drawingml/2006/main">
              <a:ext uri="{FF2B5EF4-FFF2-40B4-BE49-F238E27FC236}">
                <a16:creationId xmlns:a16="http://schemas.microsoft.com/office/drawing/2014/main" id="{12865A23-A5AE-4986-8F54-0A1ED0225BB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0681534-7012-4A41-9D9E-651D0C2B2C1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138</a:t>
            </a:r>
          </a:p>
        </p:txBody>
      </p:sp>
      <p:sp>
        <p:nvSpPr>
          <p:cNvPr id="5" name="">
            <a:extLst xmlns:a="http://schemas.openxmlformats.org/drawingml/2006/main">
              <a:ext uri="{FF2B5EF4-FFF2-40B4-BE49-F238E27FC236}">
                <a16:creationId xmlns:a16="http://schemas.microsoft.com/office/drawing/2014/main" id="{67B71559-9793-46DD-A6B0-ACC21414C1C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Restriction of sodium is mandatory, administration of diuretics, daily weights, and frequent blood pressure checks are recommended.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Dehydration is seen in all groups.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two groups in which dehydration is most commonly seen are infants and the elderly.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usual cause of dehydration is from an inadequate intake of water due to the inability to swallow, coma, or the unavailability of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process of obligatory losses will continue, regardless of intake.</a:t>
            </a:r>
          </a:p>
        </p:txBody>
      </p:sp>
      <p:sp>
        <p:nvSpPr>
          <p:cNvPr id="6" name="">
            <a:extLst xmlns:a="http://schemas.openxmlformats.org/drawingml/2006/main">
              <a:ext uri="{FF2B5EF4-FFF2-40B4-BE49-F238E27FC236}">
                <a16:creationId xmlns:a16="http://schemas.microsoft.com/office/drawing/2014/main" id="{EC80688C-1BCD-4676-B818-C16566EDF01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694B55C3-0733-4121-AB08-A4B663519AA8}"/>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5141383"/>
      </p:ext>
    </p:extLst>
  </p:cSld>
</p:sld>
</file>

<file path=ppt/slides/slide13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1A40A0F-4100-4CCD-8581-E2941F4BD9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08E669-D45F-4605-91E0-4D83EAE7528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 position (upright), IV Morphine, IV Lasix, and Oxygen. — continued</a:t>
            </a:r>
          </a:p>
        </p:txBody>
      </p:sp>
      <p:sp>
        <p:nvSpPr>
          <p:cNvPr id="3" name="">
            <a:extLst xmlns:a="http://schemas.openxmlformats.org/drawingml/2006/main">
              <a:ext uri="{FF2B5EF4-FFF2-40B4-BE49-F238E27FC236}">
                <a16:creationId xmlns:a16="http://schemas.microsoft.com/office/drawing/2014/main" id="{C9074BFF-F5DF-41F4-B9C3-381D0D67833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A537D62-66DF-4D3A-91CC-AD3E7ADF0BB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139</a:t>
            </a:r>
          </a:p>
        </p:txBody>
      </p:sp>
      <p:sp>
        <p:nvSpPr>
          <p:cNvPr id="5" name="">
            <a:extLst xmlns:a="http://schemas.openxmlformats.org/drawingml/2006/main">
              <a:ext uri="{FF2B5EF4-FFF2-40B4-BE49-F238E27FC236}">
                <a16:creationId xmlns:a16="http://schemas.microsoft.com/office/drawing/2014/main" id="{48C27FB3-5F41-4E84-8C91-B4E1E20CC7B5}"/>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These include: respiratory losses, urinary losses, and perspiration.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concentration of the ECF rises because these losses are almost pure water.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following are symptoms of water loss: *Dizziness *Weakness *Thirst *Difficulty speaking</a:t>
            </a:r>
          </a:p>
        </p:txBody>
      </p:sp>
      <p:sp>
        <p:nvSpPr>
          <p:cNvPr id="6" name="">
            <a:extLst xmlns:a="http://schemas.openxmlformats.org/drawingml/2006/main">
              <a:ext uri="{FF2B5EF4-FFF2-40B4-BE49-F238E27FC236}">
                <a16:creationId xmlns:a16="http://schemas.microsoft.com/office/drawing/2014/main" id="{D6655456-8B58-43BA-83DB-AA3A70F33AF2}"/>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2479870-013C-4FC9-A0E6-C00D5C7A96D9}"/>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45</a:t>
            </a:r>
          </a:p>
        </p:txBody>
      </p:sp>
    </p:spTree>
    <p:extLst>
      <p:ext uri="{BB962C8B-B14F-4D97-AF65-F5344CB8AC3E}">
        <p14:creationId xmlns:p14="http://schemas.microsoft.com/office/powerpoint/2010/main" val="563083164"/>
      </p:ext>
    </p:extLst>
  </p:cSld>
</p:sld>
</file>

<file path=ppt/slides/slide14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93602B-05E4-49A9-820E-B0124A2BFD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06F02A6-947A-40C8-B579-C6CF447C4E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01"/>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a:t>
            </a:r>
          </a:p>
        </p:txBody>
      </p:sp>
      <p:sp>
        <p:nvSpPr>
          <p:cNvPr id="3" name="">
            <a:extLst xmlns:a="http://schemas.openxmlformats.org/drawingml/2006/main">
              <a:ext uri="{FF2B5EF4-FFF2-40B4-BE49-F238E27FC236}">
                <a16:creationId xmlns:a16="http://schemas.microsoft.com/office/drawing/2014/main" id="{9F022C86-DEA0-48BA-9ABB-A29015993A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9CF0D19-584A-47CB-967E-42736C6A0F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140</a:t>
            </a:r>
          </a:p>
        </p:txBody>
      </p:sp>
      <p:sp>
        <p:nvSpPr>
          <p:cNvPr id="5" name="">
            <a:extLst xmlns:a="http://schemas.openxmlformats.org/drawingml/2006/main">
              <a:ext uri="{FF2B5EF4-FFF2-40B4-BE49-F238E27FC236}">
                <a16:creationId xmlns:a16="http://schemas.microsoft.com/office/drawing/2014/main" id="{D53F8BF3-7DB6-4E13-86B9-65A32FDA66A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*Dry skin and mucous membranes *The tongue may be swollen and dry with fissures *Postural hypotension *Fever and weight loss *Thready pulse Laboratory values of note include: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increased serum hematocrit, osmolality, and sodium, oliguria, urine sodium &lt; 10 mEq/L.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Dehydration can be avoided if you are aware of patients at risk for this complication.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Consider the following patients as those at high risk for dehydration: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*Intubation and mechanical devices *Extreme debilitate and illness *Burns and massive injuries *Significant wound drainage *Significant drainage from suctioning *Coma *Unavailability of water Predisposing symptoms of</a:t>
            </a:r>
          </a:p>
        </p:txBody>
      </p:sp>
      <p:sp>
        <p:nvSpPr>
          <p:cNvPr id="6" name="">
            <a:extLst xmlns:a="http://schemas.openxmlformats.org/drawingml/2006/main">
              <a:ext uri="{FF2B5EF4-FFF2-40B4-BE49-F238E27FC236}">
                <a16:creationId xmlns:a16="http://schemas.microsoft.com/office/drawing/2014/main" id="{80A5BCD4-301F-4383-821F-A946A366019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3058A33-8CCB-497B-B10F-9C31CA139DD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960143921"/>
      </p:ext>
    </p:extLst>
  </p:cSld>
</p:sld>
</file>

<file path=ppt/slides/slide14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867684D-3FD5-4E82-86A3-7A1EC396290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02B42B9-BDEB-41CA-921C-37518ABE57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425D3739-AFAD-4BD6-957F-B1D0E48276C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098CD2EC-2FC2-4510-984A-1FDB5672762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141</a:t>
            </a:r>
          </a:p>
        </p:txBody>
      </p:sp>
      <p:sp>
        <p:nvSpPr>
          <p:cNvPr id="5" name="">
            <a:extLst xmlns:a="http://schemas.openxmlformats.org/drawingml/2006/main">
              <a:ext uri="{FF2B5EF4-FFF2-40B4-BE49-F238E27FC236}">
                <a16:creationId xmlns:a16="http://schemas.microsoft.com/office/drawing/2014/main" id="{962A7736-ED5C-4B5F-8314-A45B36E9CA6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dehydration follow are vomiting, diarrhea, fever, fluid shifts, and hyperventilation.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Skin turgor can be assessed by the pinch test.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Slightly pinch the skin of the forearm.</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Normally the skin will return to normal and resume its shape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if the skin retains the wrinkly for approximately 30 seconds, the patient has poor skin turgor.</a:t>
            </a:r>
          </a:p>
        </p:txBody>
      </p:sp>
      <p:sp>
        <p:nvSpPr>
          <p:cNvPr id="6" name="">
            <a:extLst xmlns:a="http://schemas.openxmlformats.org/drawingml/2006/main">
              <a:ext uri="{FF2B5EF4-FFF2-40B4-BE49-F238E27FC236}">
                <a16:creationId xmlns:a16="http://schemas.microsoft.com/office/drawing/2014/main" id="{08BC6ECE-061D-4056-8DDC-B4B45141FB1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5B87DB4-E532-4B9E-8B0F-1A2355A8C4D3}"/>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973737689"/>
      </p:ext>
    </p:extLst>
  </p:cSld>
</p:sld>
</file>

<file path=ppt/slides/slide14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E91F9E-8031-4333-A125-31F13BCAB22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01DD162-BFC2-4693-9211-90C059F2541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5F54B427-0C53-49E9-AB7D-2E9FC6844FA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38E78E0-3FEF-4E88-80C5-724BB5973A4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142</a:t>
            </a:r>
          </a:p>
        </p:txBody>
      </p:sp>
      <p:sp>
        <p:nvSpPr>
          <p:cNvPr id="5" name="">
            <a:extLst xmlns:a="http://schemas.openxmlformats.org/drawingml/2006/main">
              <a:ext uri="{FF2B5EF4-FFF2-40B4-BE49-F238E27FC236}">
                <a16:creationId xmlns:a16="http://schemas.microsoft.com/office/drawing/2014/main" id="{374AA826-91C7-44F2-AAF8-95D39A7ADA0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Perform this test with caution in the elderly patient or the very thin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In the treatment of dehydration you must look for the underlying cause and treat it.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If an imbalance in the intake and output is suspect, it is your responsibility to show documentation and to clearly document these findings.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Circulatory Overload Circulatory overload is a systemic complication of IV therapy but one, which can easily lead to pulmonary edema, and therefore mentioned here.</a:t>
            </a:r>
          </a:p>
        </p:txBody>
      </p:sp>
      <p:sp>
        <p:nvSpPr>
          <p:cNvPr id="6" name="">
            <a:extLst xmlns:a="http://schemas.openxmlformats.org/drawingml/2006/main">
              <a:ext uri="{FF2B5EF4-FFF2-40B4-BE49-F238E27FC236}">
                <a16:creationId xmlns:a16="http://schemas.microsoft.com/office/drawing/2014/main" id="{A26B05D7-D960-4FEC-B33B-75D37F7E7AA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5609CB4-DB4A-4386-818E-A6CD694B83D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600478759"/>
      </p:ext>
    </p:extLst>
  </p:cSld>
</p:sld>
</file>

<file path=ppt/slides/slide14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36D400-DB99-46BA-91B7-CD40304CA91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5DE09E4-DE99-43AB-95E7-90066666264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following signs of dehydration should be noted in assessment: — continued</a:t>
            </a:r>
          </a:p>
        </p:txBody>
      </p:sp>
      <p:sp>
        <p:nvSpPr>
          <p:cNvPr id="3" name="">
            <a:extLst xmlns:a="http://schemas.openxmlformats.org/drawingml/2006/main">
              <a:ext uri="{FF2B5EF4-FFF2-40B4-BE49-F238E27FC236}">
                <a16:creationId xmlns:a16="http://schemas.microsoft.com/office/drawing/2014/main" id="{505779FB-A4BD-48E1-AD35-FA78DEB11FB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2ADB563-7C25-46CB-8801-F620E2D217A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143</a:t>
            </a:r>
          </a:p>
        </p:txBody>
      </p:sp>
      <p:sp>
        <p:nvSpPr>
          <p:cNvPr id="5" name="">
            <a:extLst xmlns:a="http://schemas.openxmlformats.org/drawingml/2006/main">
              <a:ext uri="{FF2B5EF4-FFF2-40B4-BE49-F238E27FC236}">
                <a16:creationId xmlns:a16="http://schemas.microsoft.com/office/drawing/2014/main" id="{C0AE6485-2794-4EF1-BCAE-769777775F7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It can be caused by too much IV fluid or fluid delivered too fast.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symptoms are as follows: *Engorged neck veins * Increased respirations *Shortness of breath *Rales *Increase in blood pressure and central venous pressure (CVP) Wide variance between intake and output</a:t>
            </a:r>
          </a:p>
        </p:txBody>
      </p:sp>
      <p:sp>
        <p:nvSpPr>
          <p:cNvPr id="6" name="">
            <a:extLst xmlns:a="http://schemas.openxmlformats.org/drawingml/2006/main">
              <a:ext uri="{FF2B5EF4-FFF2-40B4-BE49-F238E27FC236}">
                <a16:creationId xmlns:a16="http://schemas.microsoft.com/office/drawing/2014/main" id="{87CA9286-5B57-44DF-AAA4-5E616F493EA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F93282B-21A9-4A86-B5DB-0CFFC843886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46</a:t>
            </a:r>
          </a:p>
        </p:txBody>
      </p:sp>
    </p:spTree>
    <p:extLst>
      <p:ext uri="{BB962C8B-B14F-4D97-AF65-F5344CB8AC3E}">
        <p14:creationId xmlns:p14="http://schemas.microsoft.com/office/powerpoint/2010/main" val="194910530"/>
      </p:ext>
    </p:extLst>
  </p:cSld>
</p:sld>
</file>

<file path=ppt/slides/slide14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754512-ECC2-4283-9758-98AEA8864E9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554A66-092D-4D9E-8035-0DB46EEF90F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a:t>
            </a:r>
          </a:p>
        </p:txBody>
      </p:sp>
      <p:sp>
        <p:nvSpPr>
          <p:cNvPr id="3" name="">
            <a:extLst xmlns:a="http://schemas.openxmlformats.org/drawingml/2006/main">
              <a:ext uri="{FF2B5EF4-FFF2-40B4-BE49-F238E27FC236}">
                <a16:creationId xmlns:a16="http://schemas.microsoft.com/office/drawing/2014/main" id="{A9331E3E-1AAC-4AC0-8F33-057C7B4AAF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6AF3A2E-D253-46B8-99FC-CEA6E15497F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144</a:t>
            </a:r>
          </a:p>
        </p:txBody>
      </p:sp>
      <p:sp>
        <p:nvSpPr>
          <p:cNvPr id="5" name="">
            <a:extLst xmlns:a="http://schemas.openxmlformats.org/drawingml/2006/main">
              <a:ext uri="{FF2B5EF4-FFF2-40B4-BE49-F238E27FC236}">
                <a16:creationId xmlns:a16="http://schemas.microsoft.com/office/drawing/2014/main" id="{2DEC96B5-EF66-49E1-8E61-3606AC69E18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Nursing intervention should include slowing the IV rate to "Keep vein open"(KVO).</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patient's head should be elevated and oxygen administered.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Monitor the vital signs and Special Considerations Pediatrics In the pediatric population IV therapy is a specialized and precise treatment.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Points to remember include: *Children are not small adults.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body water content, compartmental proportions, and homeostatic controls are different.</a:t>
            </a:r>
          </a:p>
        </p:txBody>
      </p:sp>
      <p:sp>
        <p:nvSpPr>
          <p:cNvPr id="6" name="">
            <a:extLst xmlns:a="http://schemas.openxmlformats.org/drawingml/2006/main">
              <a:ext uri="{FF2B5EF4-FFF2-40B4-BE49-F238E27FC236}">
                <a16:creationId xmlns:a16="http://schemas.microsoft.com/office/drawing/2014/main" id="{F76AACC8-2B3F-4808-8318-3734513BD49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9810F337-381B-4AE1-9820-FCB5ADC9BE4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634429666"/>
      </p:ext>
    </p:extLst>
  </p:cSld>
</p:sld>
</file>

<file path=ppt/slides/slide14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F89743-2D77-4A2E-8C17-77228A6692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6D9D047-959C-4376-8FF9-1C91EDC1CE7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D6AB69FD-AC19-4CD5-8F01-D8CD337A94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15DFCAD8-A13D-4EE8-AF9C-DE6A0190FB9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145</a:t>
            </a:r>
          </a:p>
        </p:txBody>
      </p:sp>
      <p:sp>
        <p:nvSpPr>
          <p:cNvPr id="5" name="">
            <a:extLst xmlns:a="http://schemas.openxmlformats.org/drawingml/2006/main">
              <a:ext uri="{FF2B5EF4-FFF2-40B4-BE49-F238E27FC236}">
                <a16:creationId xmlns:a16="http://schemas.microsoft.com/office/drawing/2014/main" id="{D250BC39-A39A-48B3-8E3B-E699AA90BFB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*Their ICF and ECF are different.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*Their maintenance requirements for water and electrolytes are different.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younger the infant, the smaller his fluid reserves.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A child's life depends upon rapid turnover of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*Children have a narrow margin of error for fluid retention.</a:t>
            </a:r>
          </a:p>
        </p:txBody>
      </p:sp>
      <p:sp>
        <p:nvSpPr>
          <p:cNvPr id="6" name="">
            <a:extLst xmlns:a="http://schemas.openxmlformats.org/drawingml/2006/main">
              <a:ext uri="{FF2B5EF4-FFF2-40B4-BE49-F238E27FC236}">
                <a16:creationId xmlns:a16="http://schemas.microsoft.com/office/drawing/2014/main" id="{E3C64272-1AFF-4151-B2F4-C2967DA899CA}"/>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259AE9B4-AD56-4571-A10C-AD0ADD5B656C}"/>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644390415"/>
      </p:ext>
    </p:extLst>
  </p:cSld>
</p:sld>
</file>

<file path=ppt/slides/slide14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F63995C-EA2E-45BA-8BCA-3354C174EBF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77A02EE-8CDF-4E92-9FF7-5B722101A3E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C4AE42BB-1101-426B-B933-8578782254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4868B782-C710-4D7A-A246-91DB9A5BED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146</a:t>
            </a:r>
          </a:p>
        </p:txBody>
      </p:sp>
      <p:sp>
        <p:nvSpPr>
          <p:cNvPr id="5" name="">
            <a:extLst xmlns:a="http://schemas.openxmlformats.org/drawingml/2006/main">
              <a:ext uri="{FF2B5EF4-FFF2-40B4-BE49-F238E27FC236}">
                <a16:creationId xmlns:a16="http://schemas.microsoft.com/office/drawing/2014/main" id="{5D48FDFA-9D36-46A8-95D3-941C0CFA29A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Elderly Good nursing assessment skills in the evaluation of the elderly patient are mandatory.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The nurse must: *Distinguish between normal signs of aging and the more severe signs of fluid imbalance.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 Know the normal *The chief vulnerabilities of the elderly are fluid and electrolyte imbalance, acidosis and alkalosis.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Many elderly can maintain normal fluid balance, if they drink enough fluids.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However, many times they do not because: * Lifetime habit of drinking little fluid.</a:t>
            </a:r>
          </a:p>
        </p:txBody>
      </p:sp>
      <p:sp>
        <p:nvSpPr>
          <p:cNvPr id="6" name="">
            <a:extLst xmlns:a="http://schemas.openxmlformats.org/drawingml/2006/main">
              <a:ext uri="{FF2B5EF4-FFF2-40B4-BE49-F238E27FC236}">
                <a16:creationId xmlns:a16="http://schemas.microsoft.com/office/drawing/2014/main" id="{20223E89-891D-47A3-A661-C09442CDC2B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AB0A064B-94E3-4E50-8B27-E7ECD09F6A71}"/>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836638820"/>
      </p:ext>
    </p:extLst>
  </p:cSld>
</p:sld>
</file>

<file path=ppt/slides/slide14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87DF0AC-C398-469D-9D41-1FA9CE45BFD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3C0F801-4E51-4A15-9994-05AAE640D6F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34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call the physician. The patient should be kept warm. — continued</a:t>
            </a:r>
          </a:p>
        </p:txBody>
      </p:sp>
      <p:sp>
        <p:nvSpPr>
          <p:cNvPr id="3" name="">
            <a:extLst xmlns:a="http://schemas.openxmlformats.org/drawingml/2006/main">
              <a:ext uri="{FF2B5EF4-FFF2-40B4-BE49-F238E27FC236}">
                <a16:creationId xmlns:a16="http://schemas.microsoft.com/office/drawing/2014/main" id="{033EA5B9-D09B-43AC-8440-448F45B77B2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6D44CE27-038F-4794-BE19-B74EEC8F9E9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147</a:t>
            </a:r>
          </a:p>
        </p:txBody>
      </p:sp>
      <p:sp>
        <p:nvSpPr>
          <p:cNvPr id="5" name="">
            <a:extLst xmlns:a="http://schemas.openxmlformats.org/drawingml/2006/main">
              <a:ext uri="{FF2B5EF4-FFF2-40B4-BE49-F238E27FC236}">
                <a16:creationId xmlns:a16="http://schemas.microsoft.com/office/drawing/2014/main" id="{D91F31D6-0535-45BB-88FE-DC6BC3B79A1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*Purposeful restriction of fluid due to incontinence.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*Physical limitations may prevent them from drinking as often as they would like.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*Their thirst mechanism may be diminished or absent.</a:t>
            </a:r>
          </a:p>
        </p:txBody>
      </p:sp>
      <p:sp>
        <p:nvSpPr>
          <p:cNvPr id="6" name="">
            <a:extLst xmlns:a="http://schemas.openxmlformats.org/drawingml/2006/main">
              <a:ext uri="{FF2B5EF4-FFF2-40B4-BE49-F238E27FC236}">
                <a16:creationId xmlns:a16="http://schemas.microsoft.com/office/drawing/2014/main" id="{4A067BCF-B34E-440E-9DEF-F1745373452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CB8CBA13-FBB8-43E5-AFC8-BFA97A3440C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47</a:t>
            </a:r>
          </a:p>
        </p:txBody>
      </p:sp>
    </p:spTree>
    <p:extLst>
      <p:ext uri="{BB962C8B-B14F-4D97-AF65-F5344CB8AC3E}">
        <p14:creationId xmlns:p14="http://schemas.microsoft.com/office/powerpoint/2010/main" val="1491546525"/>
      </p:ext>
    </p:extLst>
  </p:cSld>
</p:sld>
</file>

<file path=ppt/slides/slide14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E2DD30C-A568-41DC-BCFB-5D4E43C1326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C6F66D-CFE5-46F2-AB8C-0C63DFD91B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a:t>
            </a:r>
          </a:p>
        </p:txBody>
      </p:sp>
      <p:sp>
        <p:nvSpPr>
          <p:cNvPr id="3" name="">
            <a:extLst xmlns:a="http://schemas.openxmlformats.org/drawingml/2006/main">
              <a:ext uri="{FF2B5EF4-FFF2-40B4-BE49-F238E27FC236}">
                <a16:creationId xmlns:a16="http://schemas.microsoft.com/office/drawing/2014/main" id="{270C7903-B173-4948-A6D7-438FBC0BCF9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9A3C0BD-4521-4E65-8829-A2AAD0360E2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148</a:t>
            </a:r>
          </a:p>
        </p:txBody>
      </p:sp>
      <p:sp>
        <p:nvSpPr>
          <p:cNvPr id="5" name="">
            <a:extLst xmlns:a="http://schemas.openxmlformats.org/drawingml/2006/main">
              <a:ext uri="{FF2B5EF4-FFF2-40B4-BE49-F238E27FC236}">
                <a16:creationId xmlns:a16="http://schemas.microsoft.com/office/drawing/2014/main" id="{7CC1BCD3-C165-45C6-BDFF-9C0E0CCA638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Bibliography Plumer, 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(1987) Principles and Practices of Intravenous Therapy, 4th edition, Little, Brown, and Company, Boston.</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Luckman, J.</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and Sorenson, K.</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(1987) Medical-Surgical Nursing: A Psychophysiologic Approach.</a:t>
            </a:r>
          </a:p>
        </p:txBody>
      </p:sp>
      <p:sp>
        <p:nvSpPr>
          <p:cNvPr id="6" name="">
            <a:extLst xmlns:a="http://schemas.openxmlformats.org/drawingml/2006/main">
              <a:ext uri="{FF2B5EF4-FFF2-40B4-BE49-F238E27FC236}">
                <a16:creationId xmlns:a16="http://schemas.microsoft.com/office/drawing/2014/main" id="{44AD32AD-E0F5-4EF1-84A7-526C7ADBB4D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54B2754-68C9-4C98-A58D-B3AF273904F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1821858826"/>
      </p:ext>
    </p:extLst>
  </p:cSld>
</p:sld>
</file>

<file path=ppt/slides/slide14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9D94F2-18DA-453C-BDF5-D495DA19E77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AFC0D4-6C6A-417C-A60D-0E6D709BFB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BCFADDE2-F186-4F9A-A0F5-9A9A7285254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DDF1087-48D0-4A74-9F1F-9CF924B103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149</a:t>
            </a:r>
          </a:p>
        </p:txBody>
      </p:sp>
      <p:sp>
        <p:nvSpPr>
          <p:cNvPr id="5" name="">
            <a:extLst xmlns:a="http://schemas.openxmlformats.org/drawingml/2006/main">
              <a:ext uri="{FF2B5EF4-FFF2-40B4-BE49-F238E27FC236}">
                <a16:creationId xmlns:a16="http://schemas.microsoft.com/office/drawing/2014/main" id="{0FCFEB02-DCA8-4A95-85DC-00A1F772E08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W.B.</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Saunders Co., Philadelphia.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Glossary Acidosis Blood pH below normal.</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Acidosis can be either metabolic or respiratory.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Aldosterone A hormone secreted from the adrenal cortex.</a:t>
            </a:r>
          </a:p>
        </p:txBody>
      </p:sp>
      <p:sp>
        <p:nvSpPr>
          <p:cNvPr id="6" name="">
            <a:extLst xmlns:a="http://schemas.openxmlformats.org/drawingml/2006/main">
              <a:ext uri="{FF2B5EF4-FFF2-40B4-BE49-F238E27FC236}">
                <a16:creationId xmlns:a16="http://schemas.microsoft.com/office/drawing/2014/main" id="{6169B2DE-79C9-4CC1-BBE5-73648B3F611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A56D47C-0388-448E-B24B-14970C2758E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1354820808"/>
      </p:ext>
    </p:extLst>
  </p:cSld>
</p:sld>
</file>

<file path=ppt/slides/slide15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C42D69B-B2FD-4568-A763-FB47CB5E1E6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CE9A345-BE60-4065-898A-A23A1B9CF4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7EE13512-9F4A-4FDA-84DF-54D0961752D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B97EA6CA-F745-42FF-8D51-D0D62B7071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150</a:t>
            </a:r>
          </a:p>
        </p:txBody>
      </p:sp>
      <p:sp>
        <p:nvSpPr>
          <p:cNvPr id="5" name="">
            <a:extLst xmlns:a="http://schemas.openxmlformats.org/drawingml/2006/main">
              <a:ext uri="{FF2B5EF4-FFF2-40B4-BE49-F238E27FC236}">
                <a16:creationId xmlns:a16="http://schemas.microsoft.com/office/drawing/2014/main" id="{8389D260-A8C3-4B6C-AC77-4A1EA0A306A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It is instrumental in the regulation of body Sodium and Potassium content.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Alkalosis Blood pH above normal, can be respiratory or metabolic.</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Anion A negatively charged ion (CL-, HCO3-).</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Anti-diuretic Hormone A hormone secreted from the Posterior Pituitary gland that causes the kidney to immediately conserve water.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Base Excess A metabolic (non-respiratory) body disturbance that may be primary or compensatory.</a:t>
            </a:r>
          </a:p>
        </p:txBody>
      </p:sp>
      <p:sp>
        <p:nvSpPr>
          <p:cNvPr id="6" name="">
            <a:extLst xmlns:a="http://schemas.openxmlformats.org/drawingml/2006/main">
              <a:ext uri="{FF2B5EF4-FFF2-40B4-BE49-F238E27FC236}">
                <a16:creationId xmlns:a16="http://schemas.microsoft.com/office/drawing/2014/main" id="{A4C236CE-02DB-4239-B915-7498C58F965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593D487-9750-4EF8-B1E1-761A75C051AE}"/>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930149909"/>
      </p:ext>
    </p:extLst>
  </p:cSld>
</p:sld>
</file>

<file path=ppt/slides/slide15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D0622C-C15F-4240-AC04-8C22E4257C1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E510C3-87AF-4B51-850A-2BC43CFEDEC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04752D5C-F920-42A3-B694-56EAE64F0E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0490A46-C3E0-4748-9F02-DB621FE46D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151</a:t>
            </a:r>
          </a:p>
        </p:txBody>
      </p:sp>
      <p:sp>
        <p:nvSpPr>
          <p:cNvPr id="5" name="">
            <a:extLst xmlns:a="http://schemas.openxmlformats.org/drawingml/2006/main">
              <a:ext uri="{FF2B5EF4-FFF2-40B4-BE49-F238E27FC236}">
                <a16:creationId xmlns:a16="http://schemas.microsoft.com/office/drawing/2014/main" id="{A0802C31-CFFC-431F-AA92-3DA5ED5DF35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It is always positive in metabolic alkalosis and always negative in metabolic acidosis.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Cations A positively charged ion (K+, NAt).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Dehydration A deficit of body water synonymous with Sodium excess.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Electrolyte A substance that is ionized (develops an electrical charge when dissolved in water Fluid Volume Deficit Decreased body fluid volume.</a:t>
            </a:r>
          </a:p>
        </p:txBody>
      </p:sp>
      <p:sp>
        <p:nvSpPr>
          <p:cNvPr id="6" name="">
            <a:extLst xmlns:a="http://schemas.openxmlformats.org/drawingml/2006/main">
              <a:ext uri="{FF2B5EF4-FFF2-40B4-BE49-F238E27FC236}">
                <a16:creationId xmlns:a16="http://schemas.microsoft.com/office/drawing/2014/main" id="{B6A8A8D8-8D2E-41ED-A613-70DF8EEBB90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DF790A1F-AC7C-483D-A894-237B87CBEDC5}"/>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357234405"/>
      </p:ext>
    </p:extLst>
  </p:cSld>
</p:sld>
</file>

<file path=ppt/slides/slide15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225CDE-C594-47FB-BBA8-B377AC34A8C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36C75AC-AAA2-4E9C-9C95-1118E5779D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426"/>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Smith, K. (1980) Fluids and Electrolytes, Churchill Livingstone, New York. — continued</a:t>
            </a:r>
          </a:p>
        </p:txBody>
      </p:sp>
      <p:sp>
        <p:nvSpPr>
          <p:cNvPr id="3" name="">
            <a:extLst xmlns:a="http://schemas.openxmlformats.org/drawingml/2006/main">
              <a:ext uri="{FF2B5EF4-FFF2-40B4-BE49-F238E27FC236}">
                <a16:creationId xmlns:a16="http://schemas.microsoft.com/office/drawing/2014/main" id="{9AA78AE2-67C9-4565-87E6-F27AFB44582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0E85A6E-3296-41D1-A318-3ACC13FC9A2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152</a:t>
            </a:r>
          </a:p>
        </p:txBody>
      </p:sp>
      <p:sp>
        <p:nvSpPr>
          <p:cNvPr id="5" name="">
            <a:extLst xmlns:a="http://schemas.openxmlformats.org/drawingml/2006/main">
              <a:ext uri="{FF2B5EF4-FFF2-40B4-BE49-F238E27FC236}">
                <a16:creationId xmlns:a16="http://schemas.microsoft.com/office/drawing/2014/main" id="{AEF1DD8A-2919-4234-BDA0-576C3D3B1AE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Fluid Volume Excess An intravascular increase in body fluid.</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Homeostasis The ability to restore equilibrium under stress.</a:t>
            </a:r>
          </a:p>
        </p:txBody>
      </p:sp>
      <p:sp>
        <p:nvSpPr>
          <p:cNvPr id="6" name="">
            <a:extLst xmlns:a="http://schemas.openxmlformats.org/drawingml/2006/main">
              <a:ext uri="{FF2B5EF4-FFF2-40B4-BE49-F238E27FC236}">
                <a16:creationId xmlns:a16="http://schemas.microsoft.com/office/drawing/2014/main" id="{63C9C20A-4F38-4822-A2E7-53D48E22BBA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5576C546-C5A9-4CBC-93B8-750BF7CDC2B0}"/>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48</a:t>
            </a:r>
          </a:p>
        </p:txBody>
      </p:sp>
    </p:spTree>
    <p:extLst>
      <p:ext uri="{BB962C8B-B14F-4D97-AF65-F5344CB8AC3E}">
        <p14:creationId xmlns:p14="http://schemas.microsoft.com/office/powerpoint/2010/main" val="1207849674"/>
      </p:ext>
    </p:extLst>
  </p:cSld>
</p:sld>
</file>

<file path=ppt/slides/slide15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79501E3-735E-40E5-B9F8-F495F0775FA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3CE064-5D78-4B0B-8DCA-EC24D5FADA6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a:t>
            </a:r>
          </a:p>
        </p:txBody>
      </p:sp>
      <p:sp>
        <p:nvSpPr>
          <p:cNvPr id="3" name="">
            <a:extLst xmlns:a="http://schemas.openxmlformats.org/drawingml/2006/main">
              <a:ext uri="{FF2B5EF4-FFF2-40B4-BE49-F238E27FC236}">
                <a16:creationId xmlns:a16="http://schemas.microsoft.com/office/drawing/2014/main" id="{CA52ED34-AF88-4E08-991C-8660902B2DB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B72DE60-9940-4A26-9A83-FEFD06B459E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153</a:t>
            </a:r>
          </a:p>
        </p:txBody>
      </p:sp>
      <p:sp>
        <p:nvSpPr>
          <p:cNvPr id="5" name="">
            <a:extLst xmlns:a="http://schemas.openxmlformats.org/drawingml/2006/main">
              <a:ext uri="{FF2B5EF4-FFF2-40B4-BE49-F238E27FC236}">
                <a16:creationId xmlns:a16="http://schemas.microsoft.com/office/drawing/2014/main" id="{62B41471-F0BD-476E-BE36-3CA271BF750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Hypercalcemia Hyperchloremia An excess of Chloride (CL-)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Hyperkalemia An excess of Potassium (K)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Hypermagnesemia An excess of Magnesium (Mgt)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Hyperphosphotemia An excess of Phosphate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Hypocalcemia A low Calcium (CAt) in the blood.</a:t>
            </a:r>
          </a:p>
        </p:txBody>
      </p:sp>
      <p:sp>
        <p:nvSpPr>
          <p:cNvPr id="6" name="">
            <a:extLst xmlns:a="http://schemas.openxmlformats.org/drawingml/2006/main">
              <a:ext uri="{FF2B5EF4-FFF2-40B4-BE49-F238E27FC236}">
                <a16:creationId xmlns:a16="http://schemas.microsoft.com/office/drawing/2014/main" id="{B1C0401E-6799-4B96-B107-4B0D9B798AB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BC0819A2-1114-4789-B85A-C9CA866A9E6D}"/>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332415618"/>
      </p:ext>
    </p:extLst>
  </p:cSld>
</p:sld>
</file>

<file path=ppt/slides/slide15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3609BE-67E5-4F63-AA52-E1B8C95804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CD31A3-FD7E-49F4-A22A-4DE62310F33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E07C775F-BAF6-4667-A8A4-CB0717AD1C8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29D6B36-FF60-44A6-94ED-3050F0BA24F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154</a:t>
            </a:r>
          </a:p>
        </p:txBody>
      </p:sp>
      <p:sp>
        <p:nvSpPr>
          <p:cNvPr id="5" name="">
            <a:extLst xmlns:a="http://schemas.openxmlformats.org/drawingml/2006/main">
              <a:ext uri="{FF2B5EF4-FFF2-40B4-BE49-F238E27FC236}">
                <a16:creationId xmlns:a16="http://schemas.microsoft.com/office/drawing/2014/main" id="{7572B006-FF8F-4F79-BC48-DBFD6371E7A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Hypochloremia A low Chloride (CL-) concentration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Hypokalemia A low Potassium (Kt) concentration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Hypomagnesemia A low magnesium (MG+) concentration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Hyponatremia A low Sodium (NAt) concentration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Hypophosphatemia A low phosphate concentration in the blood.</a:t>
            </a:r>
          </a:p>
        </p:txBody>
      </p:sp>
      <p:sp>
        <p:nvSpPr>
          <p:cNvPr id="6" name="">
            <a:extLst xmlns:a="http://schemas.openxmlformats.org/drawingml/2006/main">
              <a:ext uri="{FF2B5EF4-FFF2-40B4-BE49-F238E27FC236}">
                <a16:creationId xmlns:a16="http://schemas.microsoft.com/office/drawing/2014/main" id="{5B151229-8DBA-458E-9664-2EA2AD055D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0665BFE1-09A8-4D63-8A23-BC081415985A}"/>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1742735462"/>
      </p:ext>
    </p:extLst>
  </p:cSld>
</p:sld>
</file>

<file path=ppt/slides/slide15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2561EC0-F199-45EF-B2C9-74654C6352C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7821D9C-1BB0-4EF9-951B-0C7EF82B623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218DAD34-40A5-4B28-B858-711E6EEE4A1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4D9E96B-8FB1-413C-BF2B-FDE0AA749A2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155</a:t>
            </a:r>
          </a:p>
        </p:txBody>
      </p:sp>
      <p:sp>
        <p:nvSpPr>
          <p:cNvPr id="5" name="">
            <a:extLst xmlns:a="http://schemas.openxmlformats.org/drawingml/2006/main">
              <a:ext uri="{FF2B5EF4-FFF2-40B4-BE49-F238E27FC236}">
                <a16:creationId xmlns:a16="http://schemas.microsoft.com/office/drawing/2014/main" id="{E77B14BD-CA86-49AB-B6FD-81326D47F7D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Insensible Fluid Loss Water lost from the lungs and skin (Invisible respiration) Interstitial Fluid Fluid between the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Intracellular Fluid Fluid inside the cells.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Intravascular Fluid The fluid portion of blood (Plasma).</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Ion An electrically charged atom or group of atoms Ketosis A condition in which there is an excessive amount of Ketone bodies in the blood.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Kilogram A metric unit of volume equal to 1,000 Grams and roughly 2.2 pounds.</a:t>
            </a:r>
          </a:p>
        </p:txBody>
      </p:sp>
      <p:sp>
        <p:nvSpPr>
          <p:cNvPr id="6" name="">
            <a:extLst xmlns:a="http://schemas.openxmlformats.org/drawingml/2006/main">
              <a:ext uri="{FF2B5EF4-FFF2-40B4-BE49-F238E27FC236}">
                <a16:creationId xmlns:a16="http://schemas.microsoft.com/office/drawing/2014/main" id="{14F5290B-3BFF-41A9-9722-1CB5CEB00E1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F8237DCE-9128-470D-965A-2EBC18BDDBC7}"/>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2142172438"/>
      </p:ext>
    </p:extLst>
  </p:cSld>
</p:sld>
</file>

<file path=ppt/slides/slide15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A8B313C-A035-4855-88A1-A516662CEC4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3E26466-E957-448A-9E11-D923150AA0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An excess of Calcium (CAt) in the blood. — continued</a:t>
            </a:r>
          </a:p>
        </p:txBody>
      </p:sp>
      <p:sp>
        <p:nvSpPr>
          <p:cNvPr id="3" name="">
            <a:extLst xmlns:a="http://schemas.openxmlformats.org/drawingml/2006/main">
              <a:ext uri="{FF2B5EF4-FFF2-40B4-BE49-F238E27FC236}">
                <a16:creationId xmlns:a16="http://schemas.microsoft.com/office/drawing/2014/main" id="{89A738F8-CE81-4E6E-95D7-A2BDEF77D8E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03E61C4-E1BD-4DF6-8595-D45D137FDF6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156</a:t>
            </a:r>
          </a:p>
        </p:txBody>
      </p:sp>
      <p:sp>
        <p:nvSpPr>
          <p:cNvPr id="5" name="">
            <a:extLst xmlns:a="http://schemas.openxmlformats.org/drawingml/2006/main">
              <a:ext uri="{FF2B5EF4-FFF2-40B4-BE49-F238E27FC236}">
                <a16:creationId xmlns:a16="http://schemas.microsoft.com/office/drawing/2014/main" id="{06CD685A-85FC-4C32-94FF-E62DDDF7EB0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Milliequivalent (mEq) A unit of chemical activity.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Osmolality A measure of solute concentration.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Movement of water molecules from an area of lesser solute concentration to an area of higher solute concentration.</a:t>
            </a:r>
          </a:p>
        </p:txBody>
      </p:sp>
      <p:sp>
        <p:nvSpPr>
          <p:cNvPr id="6" name="">
            <a:extLst xmlns:a="http://schemas.openxmlformats.org/drawingml/2006/main">
              <a:ext uri="{FF2B5EF4-FFF2-40B4-BE49-F238E27FC236}">
                <a16:creationId xmlns:a16="http://schemas.microsoft.com/office/drawing/2014/main" id="{7A44E2E3-35D8-4BF5-9919-1F068EDED25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74AF77D7-5D88-4EFA-9573-0E09516C9B34}"/>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49</a:t>
            </a:r>
          </a:p>
        </p:txBody>
      </p:sp>
    </p:spTree>
    <p:extLst>
      <p:ext uri="{BB962C8B-B14F-4D97-AF65-F5344CB8AC3E}">
        <p14:creationId xmlns:p14="http://schemas.microsoft.com/office/powerpoint/2010/main" val="203729448"/>
      </p:ext>
    </p:extLst>
  </p:cSld>
</p:sld>
</file>

<file path=ppt/slides/slide15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938C5A-0E7F-43D8-A91E-4EA2F7533E0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9260AB0-4CF3-4206-A841-59E656E4F7A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partial pressure of Carbon Dioxide in the arterial blood</a:t>
            </a:r>
          </a:p>
        </p:txBody>
      </p:sp>
      <p:sp>
        <p:nvSpPr>
          <p:cNvPr id="3" name="">
            <a:extLst xmlns:a="http://schemas.openxmlformats.org/drawingml/2006/main">
              <a:ext uri="{FF2B5EF4-FFF2-40B4-BE49-F238E27FC236}">
                <a16:creationId xmlns:a16="http://schemas.microsoft.com/office/drawing/2014/main" id="{5161E448-7DE3-413D-BA79-A712A6E2C42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D601637A-439C-4B0B-B2AE-7EA6C55163D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157</a:t>
            </a:r>
          </a:p>
        </p:txBody>
      </p:sp>
      <p:sp>
        <p:nvSpPr>
          <p:cNvPr id="5" name="">
            <a:extLst xmlns:a="http://schemas.openxmlformats.org/drawingml/2006/main">
              <a:ext uri="{FF2B5EF4-FFF2-40B4-BE49-F238E27FC236}">
                <a16:creationId xmlns:a16="http://schemas.microsoft.com/office/drawing/2014/main" id="{CB52CC97-4752-4EAC-8238-F4AE013CC6E3}"/>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PaCO2 pH Refers to the Hydrogen ion concentration and measures the acidity or alkalinity of the substance.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Plasma The liquid portion of the blood in which the blood cells are suspended.</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Sensible perspiration Visible perspiration.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Specific Gravity The weight of a substance divided by the weight of an equal volume of water.</a:t>
            </a:r>
          </a:p>
        </p:txBody>
      </p:sp>
      <p:sp>
        <p:nvSpPr>
          <p:cNvPr id="6" name="">
            <a:extLst xmlns:a="http://schemas.openxmlformats.org/drawingml/2006/main">
              <a:ext uri="{FF2B5EF4-FFF2-40B4-BE49-F238E27FC236}">
                <a16:creationId xmlns:a16="http://schemas.microsoft.com/office/drawing/2014/main" id="{54F82E2D-A7EF-4FF2-B3E8-F63B7B5DA3C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
        <p:nvSpPr>
          <p:cNvPr id="7" name="">
            <a:extLst xmlns:a="http://schemas.openxmlformats.org/drawingml/2006/main">
              <a:ext uri="{FF2B5EF4-FFF2-40B4-BE49-F238E27FC236}">
                <a16:creationId xmlns:a16="http://schemas.microsoft.com/office/drawing/2014/main" id="{38C45E3D-830D-4672-A45A-097EADDC0E0F}"/>
              </a:ext>
            </a:extLst>
          </p:cNvPr>
          <p:cNvSpPr>
            <a:spLocks xmlns:a="http://schemas.openxmlformats.org/drawingml/2006/main" noGrp="1"/>
          </p:cNvSpPr>
          <p:nvPr/>
        </p:nvSpPr>
        <p:spPr>
          <a:xfrm xmlns:a="http://schemas.openxmlformats.org/drawingml/2006/main">
            <a:off x="895350" y="577215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19"/>
          </a:bodyPr>
          <a:lstStyle xmlns:a="http://schemas.openxmlformats.org/drawingml/2006/main">
            <a:defPPr>
              <a:defRPr sz="1050" b="1">
                <a:solidFill>
                  <a:srgbClr val="237B82"/>
                </a:solidFill>
                <a:latin typeface="Helvetica Neue"/>
                <a:ea typeface="Helvetica Neue"/>
                <a:cs typeface="Helvetica Neue"/>
              </a:defRPr>
            </a:defPPr>
            <a:lvl1pPr>
              <a:defRPr sz="1050" b="1">
                <a:solidFill>
                  <a:srgbClr val="237B82"/>
                </a:solidFill>
                <a:latin typeface="Helvetica Neue"/>
                <a:ea typeface="Helvetica Neue"/>
                <a:cs typeface="Helvetica Neue"/>
              </a:defRPr>
            </a:lvl1pPr>
            <a:lvl2pPr>
              <a:defRPr sz="1050" b="1">
                <a:solidFill>
                  <a:srgbClr val="237B82"/>
                </a:solidFill>
                <a:latin typeface="Helvetica Neue"/>
                <a:ea typeface="Helvetica Neue"/>
                <a:cs typeface="Helvetica Neue"/>
              </a:defRPr>
            </a:lvl2pPr>
            <a:lvl3pPr>
              <a:defRPr sz="1050" b="1">
                <a:solidFill>
                  <a:srgbClr val="237B82"/>
                </a:solidFill>
                <a:latin typeface="Helvetica Neue"/>
                <a:ea typeface="Helvetica Neue"/>
                <a:cs typeface="Helvetica Neue"/>
              </a:defRPr>
            </a:lvl3pPr>
            <a:lvl4pPr>
              <a:defRPr sz="1050" b="1">
                <a:solidFill>
                  <a:srgbClr val="237B82"/>
                </a:solidFill>
                <a:latin typeface="Helvetica Neue"/>
                <a:ea typeface="Helvetica Neue"/>
                <a:cs typeface="Helvetica Neue"/>
              </a:defRPr>
            </a:lvl4pPr>
            <a:lvl5pPr>
              <a:defRPr sz="1050" b="1">
                <a:solidFill>
                  <a:srgbClr val="237B82"/>
                </a:solidFill>
                <a:latin typeface="Helvetica Neue"/>
                <a:ea typeface="Helvetica Neue"/>
                <a:cs typeface="Helvetica Neue"/>
              </a:defRPr>
            </a:lvl5pPr>
            <a:lvl6pPr>
              <a:defRPr sz="1050" b="1">
                <a:solidFill>
                  <a:srgbClr val="237B82"/>
                </a:solidFill>
                <a:latin typeface="Helvetica Neue"/>
                <a:ea typeface="Helvetica Neue"/>
                <a:cs typeface="Helvetica Neue"/>
              </a:defRPr>
            </a:lvl6pPr>
            <a:lvl7pPr>
              <a:defRPr sz="1050" b="1">
                <a:solidFill>
                  <a:srgbClr val="237B82"/>
                </a:solidFill>
                <a:latin typeface="Helvetica Neue"/>
                <a:ea typeface="Helvetica Neue"/>
                <a:cs typeface="Helvetica Neue"/>
              </a:defRPr>
            </a:lvl7pPr>
            <a:lvl8pPr>
              <a:defRPr sz="1050" b="1">
                <a:solidFill>
                  <a:srgbClr val="237B82"/>
                </a:solidFill>
                <a:latin typeface="Helvetica Neue"/>
                <a:ea typeface="Helvetica Neue"/>
                <a:cs typeface="Helvetica Neue"/>
              </a:defRPr>
            </a:lvl8pPr>
            <a:lvl9pPr>
              <a:defRPr sz="1050" b="1">
                <a:solidFill>
                  <a:srgbClr val="237B82"/>
                </a:solidFill>
                <a:latin typeface="Helvetica Neue"/>
                <a:ea typeface="Helvetica Neue"/>
                <a:cs typeface="Helvetica Neue"/>
              </a:defRPr>
            </a:lvl9pPr>
          </a:lstStyle>
          <a:p xmlns:a="http://schemas.openxmlformats.org/drawingml/2006/main">
            <a:pPr>
              <a:defRPr sz="1050" b="1">
                <a:solidFill>
                  <a:srgbClr val="237B82"/>
                </a:solidFill>
                <a:latin typeface="Helvetica Neue"/>
                <a:ea typeface="Helvetica Neue"/>
                <a:cs typeface="Helvetica Neue"/>
              </a:defRPr>
            </a:pPr>
            <a:r>
              <a:rPr sz="1050" b="1">
                <a:solidFill>
                  <a:srgbClr val="237B82"/>
                </a:solidFill>
                <a:latin typeface="Helvetica Neue"/>
                <a:ea typeface="Helvetica Neue"/>
                <a:cs typeface="Helvetica Neue"/>
              </a:rPr>
              <a:t>Manual page 50</a:t>
            </a:r>
          </a:p>
        </p:txBody>
      </p:sp>
    </p:spTree>
    <p:extLst>
      <p:ext uri="{BB962C8B-B14F-4D97-AF65-F5344CB8AC3E}">
        <p14:creationId xmlns:p14="http://schemas.microsoft.com/office/powerpoint/2010/main" val="1580503898"/>
      </p:ext>
    </p:extLst>
  </p:cSld>
</p:sld>
</file>

<file path=ppt/slides/slide15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825A89-E578-45B4-8841-8553AF21B21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8617238-AEB7-4013-B3F3-88E39EFFFCF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BA80418A-FA5C-40F4-9F9A-3E8F5B1EE85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3DB1EC06-947F-4757-8796-E8400B3CC5D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158</a:t>
            </a:r>
          </a:p>
        </p:txBody>
      </p:sp>
      <p:sp>
        <p:nvSpPr>
          <p:cNvPr id="5" name="">
            <a:extLst xmlns:a="http://schemas.openxmlformats.org/drawingml/2006/main">
              <a:ext uri="{FF2B5EF4-FFF2-40B4-BE49-F238E27FC236}">
                <a16:creationId xmlns:a16="http://schemas.microsoft.com/office/drawing/2014/main" id="{B39BDC2D-8907-4BC7-90C3-3BAA27D09780}"/>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6" name="">
            <a:extLst xmlns:a="http://schemas.openxmlformats.org/drawingml/2006/main">
              <a:ext uri="{FF2B5EF4-FFF2-40B4-BE49-F238E27FC236}">
                <a16:creationId xmlns:a16="http://schemas.microsoft.com/office/drawing/2014/main" id="{F3862F7A-E8CE-4068-8DB2-CEE8E43A09B6}"/>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891058125"/>
      </p:ext>
    </p:extLst>
  </p:cSld>
</p:sld>
</file>

<file path=ppt/slides/slide15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6A7A4FA-8BA4-4450-BB12-28543DF0CFE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7D8EDC0-EB29-420D-A511-A2986E8E560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BB8F9822-3761-4AFA-B639-7638EDA1DD6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4631E57-25AC-47FA-A964-A5FE9A6973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159</a:t>
            </a:r>
          </a:p>
        </p:txBody>
      </p:sp>
      <p:sp>
        <p:nvSpPr>
          <p:cNvPr id="5" name="">
            <a:extLst xmlns:a="http://schemas.openxmlformats.org/drawingml/2006/main">
              <a:ext uri="{FF2B5EF4-FFF2-40B4-BE49-F238E27FC236}">
                <a16:creationId xmlns:a16="http://schemas.microsoft.com/office/drawing/2014/main" id="{D93E67C0-67DF-4CA6-87AF-D2C8532628AC}"/>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88311906-DCDD-4654-93B4-A6FFF9A00F5E}"/>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4188198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2026-10-23T07:15:56.3860000Z</dcterms:created>
  <dcterms:modified xsi:type="dcterms:W3CDTF">2026-10-23T07:15:56.3860000Z</dcterms:modified>
</coreProperties>
</file>