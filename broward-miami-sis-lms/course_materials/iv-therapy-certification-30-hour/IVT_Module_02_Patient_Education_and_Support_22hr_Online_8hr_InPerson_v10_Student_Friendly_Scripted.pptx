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b90c2426274af7" /><Relationship Type="http://schemas.openxmlformats.org/officeDocument/2006/relationships/extended-properties" Target="/docProps/app.xml" Id="R54c1810df1c74e53" /><Relationship Type="http://schemas.openxmlformats.org/officeDocument/2006/relationships/officeDocument" Target="/ppt/presentation.xml" Id="Rdd7fae86b40d4811" /></Relationships>
</file>

<file path=ppt/presentation.xml><?xml version="1.0" encoding="utf-8"?>
<p:presentation xmlns:p="http://schemas.openxmlformats.org/presentationml/2006/main">
  <p:sldMasterIdLst>
    <p:sldMasterId xmlns:r="http://schemas.openxmlformats.org/officeDocument/2006/relationships" id="2147483648" r:id="R8a451a72b95d40a5"/>
  </p:sldMasterIdLst>
  <p:notesMasterIdLst>
    <p:notesMasterId xmlns:r="http://schemas.openxmlformats.org/officeDocument/2006/relationships" r:id="R2ff30658f3e14305"/>
  </p:notesMasterIdLst>
  <p:sldIdLst>
    <p:sldId xmlns:r="http://schemas.openxmlformats.org/officeDocument/2006/relationships" id="256" r:id="R1584757c93044eea"/>
    <p:sldId xmlns:r="http://schemas.openxmlformats.org/officeDocument/2006/relationships" id="257" r:id="R05cc6a7decc84482"/>
    <p:sldId xmlns:r="http://schemas.openxmlformats.org/officeDocument/2006/relationships" id="258" r:id="R758b154185e94692"/>
    <p:sldId xmlns:r="http://schemas.openxmlformats.org/officeDocument/2006/relationships" id="259" r:id="Rf9dff0ecd05f43cb"/>
    <p:sldId xmlns:r="http://schemas.openxmlformats.org/officeDocument/2006/relationships" id="260" r:id="R26ac3d93ecb2458f"/>
    <p:sldId xmlns:r="http://schemas.openxmlformats.org/officeDocument/2006/relationships" id="261" r:id="Rdb91f394707246bd"/>
    <p:sldId xmlns:r="http://schemas.openxmlformats.org/officeDocument/2006/relationships" id="262" r:id="R4de66afdb33547f6"/>
    <p:sldId xmlns:r="http://schemas.openxmlformats.org/officeDocument/2006/relationships" id="263" r:id="R46a25992aa2e4029"/>
    <p:sldId xmlns:r="http://schemas.openxmlformats.org/officeDocument/2006/relationships" id="264" r:id="Rd1c65338f8e640d3"/>
    <p:sldId xmlns:r="http://schemas.openxmlformats.org/officeDocument/2006/relationships" id="265" r:id="R9616041e3bc74c78"/>
    <p:sldId xmlns:r="http://schemas.openxmlformats.org/officeDocument/2006/relationships" id="266" r:id="R4724c9e8350748b9"/>
    <p:sldId xmlns:r="http://schemas.openxmlformats.org/officeDocument/2006/relationships" id="267" r:id="R15d23b6bd3e546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ad198fb2a6427b" /><Relationship Type="http://schemas.openxmlformats.org/officeDocument/2006/relationships/slideMaster" Target="/ppt/slideMasters/slideMaster1.xml" Id="R8a451a72b95d40a5" /><Relationship Type="http://schemas.openxmlformats.org/officeDocument/2006/relationships/notesMaster" Target="/ppt/notesMasters/notesMaster1.xml" Id="R2ff30658f3e14305" /><Relationship Type="http://schemas.openxmlformats.org/officeDocument/2006/relationships/presProps" Target="/ppt/presProps.xml" Id="Rd64ce0b1dc5a4171" /><Relationship Type="http://schemas.openxmlformats.org/officeDocument/2006/relationships/tableStyles" Target="/ppt/tableStyles.xml" Id="R5e1bcca92137432d" /><Relationship Type="http://schemas.openxmlformats.org/officeDocument/2006/relationships/slide" Target="/ppt/slides/slide1.xml" Id="R1584757c93044eea" /><Relationship Type="http://schemas.openxmlformats.org/officeDocument/2006/relationships/slide" Target="/ppt/slides/slide2.xml" Id="R05cc6a7decc84482" /><Relationship Type="http://schemas.openxmlformats.org/officeDocument/2006/relationships/slide" Target="/ppt/slides/slide3.xml" Id="R758b154185e94692" /><Relationship Type="http://schemas.openxmlformats.org/officeDocument/2006/relationships/slide" Target="/ppt/slides/slide4.xml" Id="Rf9dff0ecd05f43cb" /><Relationship Type="http://schemas.openxmlformats.org/officeDocument/2006/relationships/slide" Target="/ppt/slides/slide5.xml" Id="R26ac3d93ecb2458f" /><Relationship Type="http://schemas.openxmlformats.org/officeDocument/2006/relationships/slide" Target="/ppt/slides/slide6.xml" Id="Rdb91f394707246bd" /><Relationship Type="http://schemas.openxmlformats.org/officeDocument/2006/relationships/slide" Target="/ppt/slides/slide7.xml" Id="R4de66afdb33547f6" /><Relationship Type="http://schemas.openxmlformats.org/officeDocument/2006/relationships/slide" Target="/ppt/slides/slide8.xml" Id="R46a25992aa2e4029" /><Relationship Type="http://schemas.openxmlformats.org/officeDocument/2006/relationships/slide" Target="/ppt/slides/slide9.xml" Id="Rd1c65338f8e640d3" /><Relationship Type="http://schemas.openxmlformats.org/officeDocument/2006/relationships/slide" Target="/ppt/slides/slide10.xml" Id="R9616041e3bc74c78" /><Relationship Type="http://schemas.openxmlformats.org/officeDocument/2006/relationships/slide" Target="/ppt/slides/slide11.xml" Id="R4724c9e8350748b9" /><Relationship Type="http://schemas.openxmlformats.org/officeDocument/2006/relationships/slide" Target="/ppt/slides/slide12.xml" Id="R15d23b6bd3e546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147a2e84d546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8c4215e07f4f2a" /><Relationship Type="http://schemas.openxmlformats.org/officeDocument/2006/relationships/notesMaster" Target="/ppt/notesMasters/notesMaster1.xml" Id="R8d3191c0e92546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0054175ab64953" /><Relationship Type="http://schemas.openxmlformats.org/officeDocument/2006/relationships/notesMaster" Target="/ppt/notesMasters/notesMaster1.xml" Id="R532d3d74ce4643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67dcacd9964072" /><Relationship Type="http://schemas.openxmlformats.org/officeDocument/2006/relationships/notesMaster" Target="/ppt/notesMasters/notesMaster1.xml" Id="R3dfa69e3524d4e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718c3c4fef4e6d" /><Relationship Type="http://schemas.openxmlformats.org/officeDocument/2006/relationships/notesMaster" Target="/ppt/notesMasters/notesMaster1.xml" Id="R364ee5a610ad436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182a531b9b4bd9" /><Relationship Type="http://schemas.openxmlformats.org/officeDocument/2006/relationships/notesMaster" Target="/ppt/notesMasters/notesMaster1.xml" Id="Rb727226c2e054d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3187f3f03e476a" /><Relationship Type="http://schemas.openxmlformats.org/officeDocument/2006/relationships/notesMaster" Target="/ppt/notesMasters/notesMaster1.xml" Id="R2a1baceebca948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e127b539194343" /><Relationship Type="http://schemas.openxmlformats.org/officeDocument/2006/relationships/notesMaster" Target="/ppt/notesMasters/notesMaster1.xml" Id="Rf5e9573b0be444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767174523d4c13" /><Relationship Type="http://schemas.openxmlformats.org/officeDocument/2006/relationships/notesMaster" Target="/ppt/notesMasters/notesMaster1.xml" Id="R7b2b04d772e241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22ae93baba43cd" /><Relationship Type="http://schemas.openxmlformats.org/officeDocument/2006/relationships/notesMaster" Target="/ppt/notesMasters/notesMaster1.xml" Id="R5357cd6cffd249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9fcdafdc7b468e" /><Relationship Type="http://schemas.openxmlformats.org/officeDocument/2006/relationships/notesMaster" Target="/ppt/notesMasters/notesMaster1.xml" Id="R7cec8db74fc74e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2e615b22804ae7" /><Relationship Type="http://schemas.openxmlformats.org/officeDocument/2006/relationships/notesMaster" Target="/ppt/notesMasters/notesMaster1.xml" Id="Rb9419e2924094c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0b4fe5e4044231" /><Relationship Type="http://schemas.openxmlformats.org/officeDocument/2006/relationships/notesMaster" Target="/ppt/notesMasters/notesMaster1.xml" Id="R2d5020553e0e49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Patient Education and Support, Module 2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Assess physical condition, prior experience, and anxiety Next, Explain IV therapy in clear patient-centered language Next, Document teaching and the patient's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before teaching. First, Ask what the patient understands, what happened during previous IV therapy, and what worries them now. Next, Consider cognition, language, culture, pain, vision, hearing, and readiness to learn.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Information patients need. First, Explain the purpose, expected duration, likely sensations, activity limits, equipment, monitoring, and symptoms that require immediate reporting. Next, Use qualified language assistance when needed.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Reducing anxiety. First, Prepare supplies before approaching the patient. Next, Use a calm explanation, preserve privacy, position the patient comfortably, and invite questions. Next, Do not minimize fear or promise a painless procedure.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and documentation. First, Ask the patient to explain how they will protect the site and which symptoms they will report. Next,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Start with the patient's question. First, Ask what the patient believes the IV is for and what concerns them most. Next, Correct misunderstandings before giving more information. Next, Use short explanations, one idea at a time, and avoid unexplained abbreviations.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plain-language IV explanation. First, Purpose: explain what the infusion is expected to do. Next, Process: describe site preparation, catheter placement, connection, and monitoring. Next, Sensation: describe expected pressure or brief discomfort without promising a painless procedure. Next, Safety: tell the patient which symptoms must be reported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Symptoms the patient should report now. First, Burning, stinging, pain, or tightness: May signal infiltration, phlebitis, or extravasation Next, Wetness, leaking, or loose dressing: May indicate disconnection, leakage, or loss of securement Next, Swelling, redness, warmth, or coolness: May signal a local complication Next, Shortness of breath, itching, chills, or dizziness: May signal a systemic reaction requiring immediate assessment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Teach-back checks understanding. First, Do not ask only, “Do you understand?” Next, Ask: “Show me how you will protect this tubing when you move.” Next, Ask: “Which changes at the IV site will you report right away?” Next, If the answer is incomplete, reteach in a different way and check again.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Use teach-back for site protection and reportable symptoms Next, Adapt teaching for an older adult with hearing loss Next, Respond therapeutically to a patient who refuses insertion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Assess physical condition, prior experience, and anxiety Next, Explain the purpose, expected duration, likely sensations, activity limits, equipment, monitoring, and symptoms that require immediate reporting. Use qualified language assistance when needed. Next, Ask the patient to explain how they will protect the site and which symptoms they will report. Record topics taught, learning barriers, teaching method, demonstrated understanding, and follow-up needs.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687fdceba44f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844d30e1204e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cb6c7918c24d6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ae028377f945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df0a65e4c54f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7802a41ee543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772C2C-56C3-4ECE-A2F1-95C2151B75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EEC438-FD73-436F-BEB0-B89C1236ED3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895431-CD54-4475-9719-A181DA4BC3B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E8D580-1654-492F-96FF-EF2AFBAE4F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8127992-2797-42AA-B1EF-255BA10C08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A9EE6B-3572-4255-B0AF-8AB7248759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A62F9A-8010-4836-99F8-E46FA45AA9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01A8DD-0305-47DD-9C02-99CE3454AE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94070-C08F-4F5E-AB57-0780EC12FF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73F45C-8A3D-4C19-AF96-1933453F75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6199742ecc4418" /><Relationship Type="http://schemas.openxmlformats.org/officeDocument/2006/relationships/slideLayout" Target="/ppt/slideLayouts/slideLayout1.xml" Id="R09b74b8dce1d4127" /><Relationship Type="http://schemas.openxmlformats.org/officeDocument/2006/relationships/slideLayout" Target="/ppt/slideLayouts/slideLayout2.xml" Id="R205e63ab092c4c3e" /><Relationship Type="http://schemas.openxmlformats.org/officeDocument/2006/relationships/slideLayout" Target="/ppt/slideLayouts/slideLayout3.xml" Id="R9325eb65792842f0" /><Relationship Type="http://schemas.openxmlformats.org/officeDocument/2006/relationships/slideLayout" Target="/ppt/slideLayouts/slideLayout4.xml" Id="Re5eee296ae24470e" /><Relationship Type="http://schemas.openxmlformats.org/officeDocument/2006/relationships/slideLayout" Target="/ppt/slideLayouts/slideLayout5.xml" Id="R436395f323a74819" /><Relationship Type="http://schemas.openxmlformats.org/officeDocument/2006/relationships/slideLayout" Target="/ppt/slideLayouts/slideLayout6.xml" Id="Rf63a075eb6004c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b74b8dce1d4127"/>
    <p:sldLayoutId xmlns:r="http://schemas.openxmlformats.org/officeDocument/2006/relationships" id="2147483650" r:id="R205e63ab092c4c3e"/>
    <p:sldLayoutId xmlns:r="http://schemas.openxmlformats.org/officeDocument/2006/relationships" id="2147483651" r:id="R9325eb65792842f0"/>
    <p:sldLayoutId xmlns:r="http://schemas.openxmlformats.org/officeDocument/2006/relationships" id="2147483652" r:id="Re5eee296ae24470e"/>
    <p:sldLayoutId xmlns:r="http://schemas.openxmlformats.org/officeDocument/2006/relationships" id="2147483653" r:id="R436395f323a74819"/>
    <p:sldLayoutId xmlns:r="http://schemas.openxmlformats.org/officeDocument/2006/relationships" id="2147483654" r:id="Rf63a075eb6004c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40c3314db04c99" /><Relationship Type="http://schemas.openxmlformats.org/officeDocument/2006/relationships/notesSlide" Target="/ppt/notesSlides/notesSlide1.xml" Id="R145ac418512e40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7e87020395c4cdf" /><Relationship Type="http://schemas.openxmlformats.org/officeDocument/2006/relationships/notesSlide" Target="/ppt/notesSlides/notesSlide2.xml" Id="R5a67ae6b788e41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7daa2a10654816" /><Relationship Type="http://schemas.openxmlformats.org/officeDocument/2006/relationships/notesSlide" Target="/ppt/notesSlides/notesSlide3.xml" Id="Ra22ef51da60343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b5d3b0aa2c4058" /><Relationship Type="http://schemas.openxmlformats.org/officeDocument/2006/relationships/notesSlide" Target="/ppt/notesSlides/notesSlide4.xml" Id="R8cd6ab539ca341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3e445544985456a" /><Relationship Type="http://schemas.openxmlformats.org/officeDocument/2006/relationships/notesSlide" Target="/ppt/notesSlides/notesSlide5.xml" Id="R87cf1c149899457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aaee86de8444db6" /><Relationship Type="http://schemas.openxmlformats.org/officeDocument/2006/relationships/notesSlide" Target="/ppt/notesSlides/notesSlide6.xml" Id="Rd0996ae56cdc40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e3ec5ddfa194669" /><Relationship Type="http://schemas.openxmlformats.org/officeDocument/2006/relationships/notesSlide" Target="/ppt/notesSlides/notesSlide7.xml" Id="R3aa1f5b4bbba46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17b97212824400" /><Relationship Type="http://schemas.openxmlformats.org/officeDocument/2006/relationships/notesSlide" Target="/ppt/notesSlides/notesSlide8.xml" Id="R5e7ea0deba9148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c11a40c7de84fb0" /><Relationship Type="http://schemas.openxmlformats.org/officeDocument/2006/relationships/notesSlide" Target="/ppt/notesSlides/notesSlide9.xml" Id="Rbcbd3e13eefd4d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58b337c0ed4323" /><Relationship Type="http://schemas.openxmlformats.org/officeDocument/2006/relationships/notesSlide" Target="/ppt/notesSlides/notesSlide10.xml" Id="R171f534b0baf42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96a3bae05e7488a" /><Relationship Type="http://schemas.openxmlformats.org/officeDocument/2006/relationships/notesSlide" Target="/ppt/notesSlides/notesSlide11.xml" Id="Ra9b21f7d63644b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0bca43397ee437d" /><Relationship Type="http://schemas.openxmlformats.org/officeDocument/2006/relationships/notesSlide" Target="/ppt/notesSlides/notesSlide12.xml" Id="Rb3528b01adf04182"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8B4445-5725-407D-9862-01941C29F848}"/>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F0A50A9-EC4D-4D46-B62F-80BB79A79430}"/>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057D654F-1366-467B-884B-FD95AC429BBD}"/>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Patient Education and Support</a:t>
            </a:r>
          </a:p>
        </p:txBody>
      </p:sp>
      <p:sp>
        <p:nvSpPr>
          <p:cNvPr id="4" name="">
            <a:extLst xmlns:a="http://schemas.openxmlformats.org/drawingml/2006/main">
              <a:ext uri="{FF2B5EF4-FFF2-40B4-BE49-F238E27FC236}">
                <a16:creationId xmlns:a16="http://schemas.microsoft.com/office/drawing/2014/main" id="{52BFF719-F26E-48AE-9C11-4A9636907DD5}"/>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2  |  30-Hour Basic Intravenous Therapy</a:t>
            </a:r>
          </a:p>
        </p:txBody>
      </p:sp>
      <p:sp>
        <p:nvSpPr>
          <p:cNvPr id="5" name="">
            <a:extLst xmlns:a="http://schemas.openxmlformats.org/drawingml/2006/main">
              <a:ext uri="{FF2B5EF4-FFF2-40B4-BE49-F238E27FC236}">
                <a16:creationId xmlns:a16="http://schemas.microsoft.com/office/drawing/2014/main" id="{0294BBFC-A073-47DB-8568-F80906FFE687}"/>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44957283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1E87C0-9E1C-421A-AF95-454C5EE5B2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AC6F04A-94DC-42DE-9CC5-ACF47EA53F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305C6AA2-2B7F-4411-B2B1-2842ADAC7A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A04D1753-35AE-4153-B7C2-44D35336B2C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3D6FC53-D27B-4CA9-9389-915C8DF5B62A}"/>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IV therapy in clear patient-centered language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Document teaching and the patient's response</a:t>
            </a:r>
          </a:p>
        </p:txBody>
      </p:sp>
    </p:spTree>
    <p:extLst>
      <p:ext uri="{BB962C8B-B14F-4D97-AF65-F5344CB8AC3E}">
        <p14:creationId xmlns:p14="http://schemas.microsoft.com/office/powerpoint/2010/main" val="552066983"/>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EAD0D5-D51D-46C7-A3D7-9E7AE0D6E0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C80F10-CDD4-4DE7-BC7C-F5FE087382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 before teaching</a:t>
            </a:r>
          </a:p>
        </p:txBody>
      </p:sp>
      <p:sp>
        <p:nvSpPr>
          <p:cNvPr id="3" name="">
            <a:extLst xmlns:a="http://schemas.openxmlformats.org/drawingml/2006/main">
              <a:ext uri="{FF2B5EF4-FFF2-40B4-BE49-F238E27FC236}">
                <a16:creationId xmlns:a16="http://schemas.microsoft.com/office/drawing/2014/main" id="{461D35DE-7A90-489B-8E77-B8F8E26883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09480C4E-5AA1-4B2E-926D-7195C5132D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B89293E-99C1-43AD-9AC9-0D79665E19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understands, what happened during previous IV therapy, and what worries them now.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Consider cognition, language, culture, pain, vision, hearing, and readiness to learn.</a:t>
            </a:r>
          </a:p>
        </p:txBody>
      </p:sp>
      <p:sp>
        <p:nvSpPr>
          <p:cNvPr id="6" name="">
            <a:extLst xmlns:a="http://schemas.openxmlformats.org/drawingml/2006/main">
              <a:ext uri="{FF2B5EF4-FFF2-40B4-BE49-F238E27FC236}">
                <a16:creationId xmlns:a16="http://schemas.microsoft.com/office/drawing/2014/main" id="{47BB2426-A0B3-48FF-B34E-38454032E5C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4014285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F35CC4-A763-4216-8F55-8C89C2D301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E01A231-1D73-4F9B-836B-127055F0502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Information patients need</a:t>
            </a:r>
          </a:p>
        </p:txBody>
      </p:sp>
      <p:sp>
        <p:nvSpPr>
          <p:cNvPr id="3" name="">
            <a:extLst xmlns:a="http://schemas.openxmlformats.org/drawingml/2006/main">
              <a:ext uri="{FF2B5EF4-FFF2-40B4-BE49-F238E27FC236}">
                <a16:creationId xmlns:a16="http://schemas.microsoft.com/office/drawing/2014/main" id="{7C88E50A-5E3F-4EC1-89B1-5AEA2DD8E3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C6948939-2BFC-4374-8625-74E94F52B8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A7FAAF46-C16C-4398-AC6A-E9F4938EEF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Explain the purpose, expected duration, likely sensations, activity limits, equipment, monitoring, and symptoms that require immediate reporting.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qualified language assistance when needed.</a:t>
            </a:r>
          </a:p>
        </p:txBody>
      </p:sp>
      <p:sp>
        <p:nvSpPr>
          <p:cNvPr id="6" name="">
            <a:extLst xmlns:a="http://schemas.openxmlformats.org/drawingml/2006/main">
              <a:ext uri="{FF2B5EF4-FFF2-40B4-BE49-F238E27FC236}">
                <a16:creationId xmlns:a16="http://schemas.microsoft.com/office/drawing/2014/main" id="{5BBDE49E-7E4D-4530-8C20-0A647792B5C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12431401"/>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469133-B9C4-46BC-89B6-DD6277EA06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A4D16C-4CAE-4016-BB9E-F0EA4D0A50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Reducing anxiety</a:t>
            </a:r>
          </a:p>
        </p:txBody>
      </p:sp>
      <p:sp>
        <p:nvSpPr>
          <p:cNvPr id="3" name="">
            <a:extLst xmlns:a="http://schemas.openxmlformats.org/drawingml/2006/main">
              <a:ext uri="{FF2B5EF4-FFF2-40B4-BE49-F238E27FC236}">
                <a16:creationId xmlns:a16="http://schemas.microsoft.com/office/drawing/2014/main" id="{BB5A3936-28F2-4F24-AD62-E151614064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4CAEF04D-5B99-4F81-A864-B731057E7C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7C3E5009-4B31-402A-9B6A-0582E8FAE8F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supplies before approaching the patient.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a calm explanation, preserve privacy, position the patient comfortably, and invite questions.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minimize fear or promise a painless procedure.</a:t>
            </a:r>
          </a:p>
        </p:txBody>
      </p:sp>
      <p:sp>
        <p:nvSpPr>
          <p:cNvPr id="6" name="">
            <a:extLst xmlns:a="http://schemas.openxmlformats.org/drawingml/2006/main">
              <a:ext uri="{FF2B5EF4-FFF2-40B4-BE49-F238E27FC236}">
                <a16:creationId xmlns:a16="http://schemas.microsoft.com/office/drawing/2014/main" id="{44392D85-3651-4B6D-B23C-671C941996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45655444"/>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8BC6B4-DF12-4ED4-8FE9-777D631746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CF0165-6E81-40F5-9ED4-FAA43E234CD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and documentation</a:t>
            </a:r>
          </a:p>
        </p:txBody>
      </p:sp>
      <p:sp>
        <p:nvSpPr>
          <p:cNvPr id="3" name="">
            <a:extLst xmlns:a="http://schemas.openxmlformats.org/drawingml/2006/main">
              <a:ext uri="{FF2B5EF4-FFF2-40B4-BE49-F238E27FC236}">
                <a16:creationId xmlns:a16="http://schemas.microsoft.com/office/drawing/2014/main" id="{0FB14831-AE4D-4AE1-A8A2-48013E4369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367BF791-07EF-40B5-82DA-A7534630F6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D363328D-D577-4386-BB00-DF6132ADBD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the patient to explain how they will protect the site and which symptoms they will report.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7A1975B8-2180-4D27-A289-FA1736C293B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7930156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F5DA70-3B5E-45DE-AF5C-4BB71A1C83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44532B-CC9D-4843-A8ED-067E1699F58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Start with the patient's question</a:t>
            </a:r>
          </a:p>
        </p:txBody>
      </p:sp>
      <p:sp>
        <p:nvSpPr>
          <p:cNvPr id="3" name="">
            <a:extLst xmlns:a="http://schemas.openxmlformats.org/drawingml/2006/main">
              <a:ext uri="{FF2B5EF4-FFF2-40B4-BE49-F238E27FC236}">
                <a16:creationId xmlns:a16="http://schemas.microsoft.com/office/drawing/2014/main" id="{9F377735-6EE1-4E11-B654-24C9060702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07855C9-1DCA-4BAD-9387-80AB262AFB7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4355F7F5-9C2D-4ACD-9FCA-D412CF5E79D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Ask what the patient believes the IV is for and what concerns them most.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Correct misunderstandings before giving more information.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short explanations, one idea at a time, and avoid unexplained abbreviations.</a:t>
            </a:r>
          </a:p>
        </p:txBody>
      </p:sp>
      <p:sp>
        <p:nvSpPr>
          <p:cNvPr id="6" name="">
            <a:extLst xmlns:a="http://schemas.openxmlformats.org/drawingml/2006/main">
              <a:ext uri="{FF2B5EF4-FFF2-40B4-BE49-F238E27FC236}">
                <a16:creationId xmlns:a16="http://schemas.microsoft.com/office/drawing/2014/main" id="{4FDAE4ED-8880-4437-B8BA-3327BA2240C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3998919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75149F-CD74-48DC-9CFE-69A89457B1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62F850-97E0-4D6C-B35D-B53E76BC1BD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plain-language IV explanation</a:t>
            </a:r>
          </a:p>
        </p:txBody>
      </p:sp>
      <p:sp>
        <p:nvSpPr>
          <p:cNvPr id="3" name="">
            <a:extLst xmlns:a="http://schemas.openxmlformats.org/drawingml/2006/main">
              <a:ext uri="{FF2B5EF4-FFF2-40B4-BE49-F238E27FC236}">
                <a16:creationId xmlns:a16="http://schemas.microsoft.com/office/drawing/2014/main" id="{160D01E4-D7AA-4759-AFBC-AA56078843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6F3F5931-9189-4C55-BFEA-288A7A9203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AA049B57-F897-47E0-9C02-5763FDD9A1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 explain what the infusion is expected to do.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Process: describe site preparation, catheter placement, connection,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 describe expected pressure or brief discomfort without promising a painless procedure.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tell the patient which symptoms must be reported immediately.</a:t>
            </a:r>
          </a:p>
        </p:txBody>
      </p:sp>
      <p:sp>
        <p:nvSpPr>
          <p:cNvPr id="6" name="">
            <a:extLst xmlns:a="http://schemas.openxmlformats.org/drawingml/2006/main">
              <a:ext uri="{FF2B5EF4-FFF2-40B4-BE49-F238E27FC236}">
                <a16:creationId xmlns:a16="http://schemas.microsoft.com/office/drawing/2014/main" id="{2D881261-8C21-4F16-8D4A-624D49874B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3164249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FF153E1-AB39-4682-AAD7-D1CF9759A2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F779E9-B3CF-46D0-AB0B-8683809F4F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Symptoms the patient should report now</a:t>
            </a:r>
          </a:p>
        </p:txBody>
      </p:sp>
      <p:sp>
        <p:nvSpPr>
          <p:cNvPr id="3" name="">
            <a:extLst xmlns:a="http://schemas.openxmlformats.org/drawingml/2006/main">
              <a:ext uri="{FF2B5EF4-FFF2-40B4-BE49-F238E27FC236}">
                <a16:creationId xmlns:a16="http://schemas.microsoft.com/office/drawing/2014/main" id="{3781388C-778B-4DE3-B471-24680F2FFD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8B3300E2-DFA9-42AE-A8AF-0A04328741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BB771C6-6012-45BC-9C10-2726BF314CF1}"/>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60B90CC-FF51-4C27-8FC9-8EF5B3947AEE}"/>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Patient report</a:t>
            </a:r>
          </a:p>
        </p:txBody>
      </p:sp>
      <p:sp>
        <p:nvSpPr>
          <p:cNvPr id="7" name="">
            <a:extLst xmlns:a="http://schemas.openxmlformats.org/drawingml/2006/main">
              <a:ext uri="{FF2B5EF4-FFF2-40B4-BE49-F238E27FC236}">
                <a16:creationId xmlns:a16="http://schemas.microsoft.com/office/drawing/2014/main" id="{DD227DF6-6F9F-4F1F-8355-19A8280D8AB0}"/>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DB1DED0-E9F3-4E57-AD83-8815BB4DFE3B}"/>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DBC21F15-A5FF-4606-A930-56693AA0C75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EC5E5FCC-C563-4F87-A79D-013C3D9E7BCF}"/>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stinging, pain, or tightness</a:t>
            </a:r>
          </a:p>
        </p:txBody>
      </p:sp>
      <p:sp>
        <p:nvSpPr>
          <p:cNvPr id="11" name="">
            <a:extLst xmlns:a="http://schemas.openxmlformats.org/drawingml/2006/main">
              <a:ext uri="{FF2B5EF4-FFF2-40B4-BE49-F238E27FC236}">
                <a16:creationId xmlns:a16="http://schemas.microsoft.com/office/drawing/2014/main" id="{E37B2B3B-E480-4DE1-97BC-F7BF27751794}"/>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FCE40C09-2D6D-4436-B147-5B0EDB5F6916}"/>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infiltration, phlebitis, or extravasation</a:t>
            </a:r>
          </a:p>
        </p:txBody>
      </p:sp>
      <p:sp>
        <p:nvSpPr>
          <p:cNvPr id="13" name="">
            <a:extLst xmlns:a="http://schemas.openxmlformats.org/drawingml/2006/main">
              <a:ext uri="{FF2B5EF4-FFF2-40B4-BE49-F238E27FC236}">
                <a16:creationId xmlns:a16="http://schemas.microsoft.com/office/drawing/2014/main" id="{6433DD8A-3AF7-439B-9AE2-B4DF7E19A747}"/>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7D79AC54-8331-46FA-B0C4-7C35ABC596AB}"/>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Wetness, leaking, or loose dressing</a:t>
            </a:r>
          </a:p>
        </p:txBody>
      </p:sp>
      <p:sp>
        <p:nvSpPr>
          <p:cNvPr id="15" name="">
            <a:extLst xmlns:a="http://schemas.openxmlformats.org/drawingml/2006/main">
              <a:ext uri="{FF2B5EF4-FFF2-40B4-BE49-F238E27FC236}">
                <a16:creationId xmlns:a16="http://schemas.microsoft.com/office/drawing/2014/main" id="{4647BA55-63EB-4A64-8B93-C0DC5C4A8910}"/>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5973BF7-FC26-47A4-B82C-36EC883609BB}"/>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indicate disconnection, leakage, or loss of securement</a:t>
            </a:r>
          </a:p>
        </p:txBody>
      </p:sp>
      <p:sp>
        <p:nvSpPr>
          <p:cNvPr id="17" name="">
            <a:extLst xmlns:a="http://schemas.openxmlformats.org/drawingml/2006/main">
              <a:ext uri="{FF2B5EF4-FFF2-40B4-BE49-F238E27FC236}">
                <a16:creationId xmlns:a16="http://schemas.microsoft.com/office/drawing/2014/main" id="{9DE83148-2175-44D3-BFB0-56D6368325B1}"/>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31F2A432-C019-402C-A226-7A5086FB1500}"/>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Swelling, redness, warmth, or coolness</a:t>
            </a:r>
          </a:p>
        </p:txBody>
      </p:sp>
      <p:sp>
        <p:nvSpPr>
          <p:cNvPr id="19" name="">
            <a:extLst xmlns:a="http://schemas.openxmlformats.org/drawingml/2006/main">
              <a:ext uri="{FF2B5EF4-FFF2-40B4-BE49-F238E27FC236}">
                <a16:creationId xmlns:a16="http://schemas.microsoft.com/office/drawing/2014/main" id="{D41B6522-EBB4-4D10-B31E-F2E815AE21C5}"/>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78395B5-245C-4801-8B2E-77ACE8BF48F5}"/>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local complication</a:t>
            </a:r>
          </a:p>
        </p:txBody>
      </p:sp>
      <p:sp>
        <p:nvSpPr>
          <p:cNvPr id="21" name="">
            <a:extLst xmlns:a="http://schemas.openxmlformats.org/drawingml/2006/main">
              <a:ext uri="{FF2B5EF4-FFF2-40B4-BE49-F238E27FC236}">
                <a16:creationId xmlns:a16="http://schemas.microsoft.com/office/drawing/2014/main" id="{A8881A9C-DB83-488A-9C31-A704487448B5}"/>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3C4C2ABF-B426-4D5C-AE0A-7F0EE8CEC34D}"/>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Shortness of breath, itching, chills, or dizziness</a:t>
            </a:r>
          </a:p>
        </p:txBody>
      </p:sp>
      <p:sp>
        <p:nvSpPr>
          <p:cNvPr id="23" name="">
            <a:extLst xmlns:a="http://schemas.openxmlformats.org/drawingml/2006/main">
              <a:ext uri="{FF2B5EF4-FFF2-40B4-BE49-F238E27FC236}">
                <a16:creationId xmlns:a16="http://schemas.microsoft.com/office/drawing/2014/main" id="{B7678DF1-C941-4171-B1E2-C4FBFCE6DAE6}"/>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96C8BB8-41C8-4BA1-ADDD-78E45FFF694F}"/>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May signal a systemic reaction requiring immediate assessment</a:t>
            </a:r>
          </a:p>
        </p:txBody>
      </p:sp>
    </p:spTree>
    <p:extLst>
      <p:ext uri="{BB962C8B-B14F-4D97-AF65-F5344CB8AC3E}">
        <p14:creationId xmlns:p14="http://schemas.microsoft.com/office/powerpoint/2010/main" val="1977626942"/>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7E86FE-752F-4FA6-ABCF-2B5640B4E00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E0E3F3F-5572-448E-A217-30274E8D559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Teach-back checks understanding</a:t>
            </a:r>
          </a:p>
        </p:txBody>
      </p:sp>
      <p:sp>
        <p:nvSpPr>
          <p:cNvPr id="3" name="">
            <a:extLst xmlns:a="http://schemas.openxmlformats.org/drawingml/2006/main">
              <a:ext uri="{FF2B5EF4-FFF2-40B4-BE49-F238E27FC236}">
                <a16:creationId xmlns:a16="http://schemas.microsoft.com/office/drawing/2014/main" id="{BEB9EEBD-B680-4211-A289-B650DD98B8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B46389CC-060A-4355-A8D4-00E3E6D829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75C8BDF2-B623-4AE1-9FF8-D9B4ED1E155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ask only, “Do you understand?”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“Show me how you will protect this tubing when you move.”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Ask: “Which changes at the IV site will you report right away?”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answer is incomplete, reteach in a different way and check again.</a:t>
            </a:r>
          </a:p>
        </p:txBody>
      </p:sp>
      <p:sp>
        <p:nvSpPr>
          <p:cNvPr id="6" name="">
            <a:extLst xmlns:a="http://schemas.openxmlformats.org/drawingml/2006/main">
              <a:ext uri="{FF2B5EF4-FFF2-40B4-BE49-F238E27FC236}">
                <a16:creationId xmlns:a16="http://schemas.microsoft.com/office/drawing/2014/main" id="{9DE60F5A-1147-4C73-AFB0-6BD9177E47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47749268"/>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89800B-6996-417F-8922-996DE37244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2E5A6A4-9BD8-4C9F-BD25-6B9EF900F0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C2DD9E0C-9B18-4D35-93ED-E59FB7E51C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35F17EF8-B49C-4FCA-A68C-0CF5EED4D7D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6BD22213-6747-4ACA-9267-AE5097B96442}"/>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teach-back for site protection and reportable symptoms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Adapt teaching for an older adult with hearing loss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therapeutically to a patient who refuses insertion</a:t>
            </a:r>
          </a:p>
        </p:txBody>
      </p:sp>
      <p:sp>
        <p:nvSpPr>
          <p:cNvPr id="6" name="">
            <a:extLst xmlns:a="http://schemas.openxmlformats.org/drawingml/2006/main">
              <a:ext uri="{FF2B5EF4-FFF2-40B4-BE49-F238E27FC236}">
                <a16:creationId xmlns:a16="http://schemas.microsoft.com/office/drawing/2014/main" id="{93822B57-63FE-4E2E-8514-ED7F60F91FB1}"/>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41459715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FB3BE2-C089-4C64-AA70-34E05E6E12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ECF18C-3BE0-43E7-BCC4-970A2F944A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202B78EB-39BE-4631-B9F0-6F9E329DD8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2</a:t>
            </a:r>
          </a:p>
        </p:txBody>
      </p:sp>
      <p:sp>
        <p:nvSpPr>
          <p:cNvPr id="4" name="">
            <a:extLst xmlns:a="http://schemas.openxmlformats.org/drawingml/2006/main">
              <a:ext uri="{FF2B5EF4-FFF2-40B4-BE49-F238E27FC236}">
                <a16:creationId xmlns:a16="http://schemas.microsoft.com/office/drawing/2014/main" id="{57DD8353-9CBF-43EF-A60A-26D1B232D3D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27249C7B-E4F7-4694-A95A-1ACA71D0DD20}"/>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Assess physical condition, prior experience, and anxiety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the purpose, expected duration, likely sensations, activity limits, equipment, monitoring, and symptoms that require immediate reporting. Use qualified language assistance when needed.</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Ask the patient to explain how they will protect the site and which symptoms they will report. Record topics taught, learning barriers, teaching method, demonstrated understanding, and follow-up needs.</a:t>
            </a:r>
          </a:p>
        </p:txBody>
      </p:sp>
      <p:sp>
        <p:nvSpPr>
          <p:cNvPr id="6" name="">
            <a:extLst xmlns:a="http://schemas.openxmlformats.org/drawingml/2006/main">
              <a:ext uri="{FF2B5EF4-FFF2-40B4-BE49-F238E27FC236}">
                <a16:creationId xmlns:a16="http://schemas.microsoft.com/office/drawing/2014/main" id="{9CE8ECE6-C9E0-4FDB-80D5-9CA45441397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903198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2026-10-23T08:07:01.6270000Z</dcterms:created>
  <dcterms:modified xsi:type="dcterms:W3CDTF">2026-10-23T08:07:01.6270000Z</dcterms:modified>
</coreProperties>
</file>