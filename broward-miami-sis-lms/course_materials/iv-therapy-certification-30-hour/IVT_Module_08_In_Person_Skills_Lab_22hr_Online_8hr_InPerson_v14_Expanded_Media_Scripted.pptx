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096c413302467c" /><Relationship Type="http://schemas.openxmlformats.org/officeDocument/2006/relationships/extended-properties" Target="/docProps/app.xml" Id="R6010f3108928458d" /><Relationship Type="http://schemas.openxmlformats.org/officeDocument/2006/relationships/officeDocument" Target="/ppt/presentation.xml" Id="R8fbcf619959f4b56" /></Relationships>
</file>

<file path=ppt/presentation.xml><?xml version="1.0" encoding="utf-8"?>
<p:presentation xmlns:p="http://schemas.openxmlformats.org/presentationml/2006/main">
  <p:sldMasterIdLst>
    <p:sldMasterId xmlns:r="http://schemas.openxmlformats.org/officeDocument/2006/relationships" id="2147483648" r:id="R6179b08245b245cb"/>
  </p:sldMasterIdLst>
  <p:notesMasterIdLst>
    <p:notesMasterId xmlns:r="http://schemas.openxmlformats.org/officeDocument/2006/relationships" r:id="Rd9312b819e7d4203"/>
  </p:notesMasterIdLst>
  <p:sldIdLst>
    <p:sldId xmlns:r="http://schemas.openxmlformats.org/officeDocument/2006/relationships" id="256" r:id="Rff11e8d4ade94802"/>
    <p:sldId xmlns:r="http://schemas.openxmlformats.org/officeDocument/2006/relationships" id="257" r:id="R8dfd374d32b84b52"/>
    <p:sldId xmlns:r="http://schemas.openxmlformats.org/officeDocument/2006/relationships" id="258" r:id="R961897c8a9a543fd"/>
    <p:sldId xmlns:r="http://schemas.openxmlformats.org/officeDocument/2006/relationships" id="259" r:id="Rd0b563cd15d840f7"/>
    <p:sldId xmlns:r="http://schemas.openxmlformats.org/officeDocument/2006/relationships" id="260" r:id="R4b5eea3b754942ad"/>
    <p:sldId xmlns:r="http://schemas.openxmlformats.org/officeDocument/2006/relationships" id="261" r:id="R7d16e65ae10a4d41"/>
    <p:sldId xmlns:r="http://schemas.openxmlformats.org/officeDocument/2006/relationships" id="262" r:id="R60546a6280cf4764"/>
    <p:sldId xmlns:r="http://schemas.openxmlformats.org/officeDocument/2006/relationships" id="263" r:id="Racfd9207c2704443"/>
    <p:sldId xmlns:r="http://schemas.openxmlformats.org/officeDocument/2006/relationships" id="264" r:id="Rdfaea7f8446d43cb"/>
    <p:sldId xmlns:r="http://schemas.openxmlformats.org/officeDocument/2006/relationships" id="265" r:id="R7a3035777bbc49c0"/>
    <p:sldId xmlns:r="http://schemas.openxmlformats.org/officeDocument/2006/relationships" id="266" r:id="Rf0f6c8f2221a467b"/>
    <p:sldId xmlns:r="http://schemas.openxmlformats.org/officeDocument/2006/relationships" id="267" r:id="R122077440751422f"/>
    <p:sldId xmlns:r="http://schemas.openxmlformats.org/officeDocument/2006/relationships" id="268" r:id="Rebb2d84849f84870"/>
    <p:sldId xmlns:r="http://schemas.openxmlformats.org/officeDocument/2006/relationships" id="269" r:id="Rbca94a8b695b438c"/>
    <p:sldId xmlns:r="http://schemas.openxmlformats.org/officeDocument/2006/relationships" id="270" r:id="Reca0ac3cff214439"/>
    <p:sldId xmlns:r="http://schemas.openxmlformats.org/officeDocument/2006/relationships" id="271" r:id="Rc46af6a83d224316"/>
    <p:sldId xmlns:r="http://schemas.openxmlformats.org/officeDocument/2006/relationships" id="272" r:id="R2ef1c67a91fd4bdd"/>
    <p:sldId xmlns:r="http://schemas.openxmlformats.org/officeDocument/2006/relationships" id="273" r:id="R2e84d4bee6bb47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cb7b35333043c1" /><Relationship Type="http://schemas.openxmlformats.org/officeDocument/2006/relationships/slideMaster" Target="/ppt/slideMasters/slideMaster1.xml" Id="R6179b08245b245cb" /><Relationship Type="http://schemas.openxmlformats.org/officeDocument/2006/relationships/notesMaster" Target="/ppt/notesMasters/notesMaster1.xml" Id="Rd9312b819e7d4203" /><Relationship Type="http://schemas.openxmlformats.org/officeDocument/2006/relationships/presProps" Target="/ppt/presProps.xml" Id="R6c37906cef104d9c" /><Relationship Type="http://schemas.openxmlformats.org/officeDocument/2006/relationships/tableStyles" Target="/ppt/tableStyles.xml" Id="R112f8f8f4c23400d" /><Relationship Type="http://schemas.openxmlformats.org/officeDocument/2006/relationships/slide" Target="/ppt/slides/slide1.xml" Id="Rff11e8d4ade94802" /><Relationship Type="http://schemas.openxmlformats.org/officeDocument/2006/relationships/slide" Target="/ppt/slides/slide2.xml" Id="R8dfd374d32b84b52" /><Relationship Type="http://schemas.openxmlformats.org/officeDocument/2006/relationships/slide" Target="/ppt/slides/slide3.xml" Id="R961897c8a9a543fd" /><Relationship Type="http://schemas.openxmlformats.org/officeDocument/2006/relationships/slide" Target="/ppt/slides/slide4.xml" Id="Rd0b563cd15d840f7" /><Relationship Type="http://schemas.openxmlformats.org/officeDocument/2006/relationships/slide" Target="/ppt/slides/slide5.xml" Id="R4b5eea3b754942ad" /><Relationship Type="http://schemas.openxmlformats.org/officeDocument/2006/relationships/slide" Target="/ppt/slides/slide6.xml" Id="R7d16e65ae10a4d41" /><Relationship Type="http://schemas.openxmlformats.org/officeDocument/2006/relationships/slide" Target="/ppt/slides/slide7.xml" Id="R60546a6280cf4764" /><Relationship Type="http://schemas.openxmlformats.org/officeDocument/2006/relationships/slide" Target="/ppt/slides/slide8.xml" Id="Racfd9207c2704443" /><Relationship Type="http://schemas.openxmlformats.org/officeDocument/2006/relationships/slide" Target="/ppt/slides/slide9.xml" Id="Rdfaea7f8446d43cb" /><Relationship Type="http://schemas.openxmlformats.org/officeDocument/2006/relationships/slide" Target="/ppt/slides/slide10.xml" Id="R7a3035777bbc49c0" /><Relationship Type="http://schemas.openxmlformats.org/officeDocument/2006/relationships/slide" Target="/ppt/slides/slide11.xml" Id="Rf0f6c8f2221a467b" /><Relationship Type="http://schemas.openxmlformats.org/officeDocument/2006/relationships/slide" Target="/ppt/slides/slide12.xml" Id="R122077440751422f" /><Relationship Type="http://schemas.openxmlformats.org/officeDocument/2006/relationships/slide" Target="/ppt/slides/slide13.xml" Id="Rebb2d84849f84870" /><Relationship Type="http://schemas.openxmlformats.org/officeDocument/2006/relationships/slide" Target="/ppt/slides/slide14.xml" Id="Rbca94a8b695b438c" /><Relationship Type="http://schemas.openxmlformats.org/officeDocument/2006/relationships/slide" Target="/ppt/slides/slide15.xml" Id="Reca0ac3cff214439" /><Relationship Type="http://schemas.openxmlformats.org/officeDocument/2006/relationships/slide" Target="/ppt/slides/slide16.xml" Id="Rc46af6a83d224316" /><Relationship Type="http://schemas.openxmlformats.org/officeDocument/2006/relationships/slide" Target="/ppt/slides/slide17.xml" Id="R2ef1c67a91fd4bdd" /><Relationship Type="http://schemas.openxmlformats.org/officeDocument/2006/relationships/slide" Target="/ppt/slides/slide18.xml" Id="R2e84d4bee6bb47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89cb0a47574a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6dd3bf78784014" /><Relationship Type="http://schemas.openxmlformats.org/officeDocument/2006/relationships/notesMaster" Target="/ppt/notesMasters/notesMaster1.xml" Id="Rcb469e7460e348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7c50691b394e1e" /><Relationship Type="http://schemas.openxmlformats.org/officeDocument/2006/relationships/notesMaster" Target="/ppt/notesMasters/notesMaster1.xml" Id="R10484a0700a048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6e78b77b234d67" /><Relationship Type="http://schemas.openxmlformats.org/officeDocument/2006/relationships/notesMaster" Target="/ppt/notesMasters/notesMaster1.xml" Id="R00a1b267f13543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2bc513140b46e0" /><Relationship Type="http://schemas.openxmlformats.org/officeDocument/2006/relationships/notesMaster" Target="/ppt/notesMasters/notesMaster1.xml" Id="R1ae2c151aa2c4d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a8369ac19248b1" /><Relationship Type="http://schemas.openxmlformats.org/officeDocument/2006/relationships/notesMaster" Target="/ppt/notesMasters/notesMaster1.xml" Id="R4d276b55bfb74f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7f9d24a36a4b21" /><Relationship Type="http://schemas.openxmlformats.org/officeDocument/2006/relationships/notesMaster" Target="/ppt/notesMasters/notesMaster1.xml" Id="Rbffdb8e80d334a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d13051fa644577" /><Relationship Type="http://schemas.openxmlformats.org/officeDocument/2006/relationships/notesMaster" Target="/ppt/notesMasters/notesMaster1.xml" Id="Re0c9216fb9c846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3ef6cf574d43a2" /><Relationship Type="http://schemas.openxmlformats.org/officeDocument/2006/relationships/notesMaster" Target="/ppt/notesMasters/notesMaster1.xml" Id="Rb6202ceedd4a4c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c48b6ed574441f" /><Relationship Type="http://schemas.openxmlformats.org/officeDocument/2006/relationships/notesMaster" Target="/ppt/notesMasters/notesMaster1.xml" Id="R5879dcc6335849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235248dba842e8" /><Relationship Type="http://schemas.openxmlformats.org/officeDocument/2006/relationships/notesMaster" Target="/ppt/notesMasters/notesMaster1.xml" Id="Re8f75a70546c4e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0340fc27874519" /><Relationship Type="http://schemas.openxmlformats.org/officeDocument/2006/relationships/notesMaster" Target="/ppt/notesMasters/notesMaster1.xml" Id="R3ddf6ab9237e41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64648caf1246d3" /><Relationship Type="http://schemas.openxmlformats.org/officeDocument/2006/relationships/notesMaster" Target="/ppt/notesMasters/notesMaster1.xml" Id="Rfdce6e891ba347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4c0ddacafe4dfb" /><Relationship Type="http://schemas.openxmlformats.org/officeDocument/2006/relationships/notesMaster" Target="/ppt/notesMasters/notesMaster1.xml" Id="Raffc2af5cf0d4c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11181c43804401" /><Relationship Type="http://schemas.openxmlformats.org/officeDocument/2006/relationships/notesMaster" Target="/ppt/notesMasters/notesMaster1.xml" Id="Rcd24f6b2b5a84b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594e631cfd4fdb" /><Relationship Type="http://schemas.openxmlformats.org/officeDocument/2006/relationships/notesMaster" Target="/ppt/notesMasters/notesMaster1.xml" Id="R568c5b82e7d844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3588d8415a44df" /><Relationship Type="http://schemas.openxmlformats.org/officeDocument/2006/relationships/notesMaster" Target="/ppt/notesMasters/notesMaster1.xml" Id="R8d645d1a45bc4a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ad0b1b42b84fa0" /><Relationship Type="http://schemas.openxmlformats.org/officeDocument/2006/relationships/notesMaster" Target="/ppt/notesMasters/notesMaster1.xml" Id="R01b3e27dce30453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80f102c1a24f6e" /><Relationship Type="http://schemas.openxmlformats.org/officeDocument/2006/relationships/notesMaster" Target="/ppt/notesMasters/notesMaster1.xml" Id="R0a9357354df44b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Cover media: Pexels photo by Yusuf Çelik, https://www.pexels.com/photo/aspiring-nurse-students-in-laboratory-setting-32213307/,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Competency begins with clinical decisions. First, Purpose: The intended outcome of the prescribed therapy Next, Patient assessment: Physical condition, allergies, previous infusion experience, education, and consent Next, Site: How age, condition, therapy, vein quality, activity, and expected dwell affect selection Next, Equipment: Why the catheter, extension, tubing, dressing, and pump fit this patient and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Appendix B, pages 53-54. BMHI checkoff criteria remain subject to current Florida scope and 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Know the central-access device before using it. First, Midline: Peripheral vasculature below the axilla; Not a central line; confirm that the prescribed therapy is peripherally appropriate Next, PICC: Central circulation after peripheral insertion; Verify tip-use clearance, lumen purpose, patency, and dressing condition Next, Nontunneled or tunneled CVC: Central circulation; Use strict asepsis and inspect the exit site, connections, and lumens Next, Implanted port: Central circulation through a subcutaneous reservoir; Access only with the correct noncoring needle and validated competency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30 Hour IV Certification Study Guide, revised March 2013, pages 35-42. Device definitions were retained; historical dwell-time, flush-volume, and dressing-frequency claims were excluded in favor of current orders,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findings that require immediate escalation. First, Sudden dyspnea, chest pain, cyanosis, or altered consciousness: Air embolism or thoracic complication; Stop unsafe use, clamp or protect the system as trained, call emergency response, and support ABCs Next, Neck, chest, shoulder, or arm swelling: Malposition, infiltration, or thrombosis; Stop use and obtain urgent qualified assessment Next, Redness, tenderness, drainage, fever, or chills: Local or bloodstream infection; Assess, notify, and follow culture and device-management orders Next, Resistance, absent blood return, leaking, or damaged catheter: Occlusion, malposition, or device failure; Never force a flush; stop use and escalate Next, Do not remove, reposition, repair, instill a declotting agent, or access a central device unless the action is authorized and competency-validated.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Do not remove, reposition, repair, instill a declotting agent, or access a central device unless the action is authorized and competency-validated. Additional source: 30 Hour IV Certification Study Guide, revised March 2013, pages 37-43. Emergency actions must follow the current device-specific protocol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Removal checkoff includes catheter integrity. First, Stop all infusates and remove the dressing while supporting the skin and catheter. Next, Assess the site before removal, withdraw the catheter slowly and steadily, and achieve hemostasis. Next, Inspect the removed catheter and compare its condition and length with the expected intact device. Next, If the catheter is not intact, do not discard it; immobilize the extremity as directed and notify the supervising clinician immediately. Next, Document the site, catheter condition, hemostasis, dressing, patient teaching,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page 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2bf0ee7bd24a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68d444c2d64b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95f029a51443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679ab5576342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8d0fdea11a47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279dc4e76d4b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F2D4B8-C1DB-4C7B-8710-3C606FF6199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F389AE-05F4-4D76-9A69-EEE3A5757B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752A593-0ABF-46FD-8AC2-E561EC52DE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FFB5A0-B211-453D-BDD9-BA3748A57A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D0A989-E42E-457C-9261-61CBEBB5FB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6DE619-59B1-4C78-B109-A040F2FE98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606CDD-9491-4980-AA52-9307510EED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3C6E52-F851-465F-829F-027DB6D87F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9CEF22-501C-45CD-BB1B-68DB27E975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8D1103-0D93-4FC6-8B93-EDE0BBC0AD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3210c4720c45fa" /><Relationship Type="http://schemas.openxmlformats.org/officeDocument/2006/relationships/slideLayout" Target="/ppt/slideLayouts/slideLayout1.xml" Id="R056c016a07b848f2" /><Relationship Type="http://schemas.openxmlformats.org/officeDocument/2006/relationships/slideLayout" Target="/ppt/slideLayouts/slideLayout2.xml" Id="R521720ecfacc4048" /><Relationship Type="http://schemas.openxmlformats.org/officeDocument/2006/relationships/slideLayout" Target="/ppt/slideLayouts/slideLayout3.xml" Id="R7ff21a534d584a39" /><Relationship Type="http://schemas.openxmlformats.org/officeDocument/2006/relationships/slideLayout" Target="/ppt/slideLayouts/slideLayout4.xml" Id="Rbf26cca100ca48db" /><Relationship Type="http://schemas.openxmlformats.org/officeDocument/2006/relationships/slideLayout" Target="/ppt/slideLayouts/slideLayout5.xml" Id="R5009b9e11b4e4a9d" /><Relationship Type="http://schemas.openxmlformats.org/officeDocument/2006/relationships/slideLayout" Target="/ppt/slideLayouts/slideLayout6.xml" Id="R2b7b697a1a5a45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6c016a07b848f2"/>
    <p:sldLayoutId xmlns:r="http://schemas.openxmlformats.org/officeDocument/2006/relationships" id="2147483650" r:id="R521720ecfacc4048"/>
    <p:sldLayoutId xmlns:r="http://schemas.openxmlformats.org/officeDocument/2006/relationships" id="2147483651" r:id="R7ff21a534d584a39"/>
    <p:sldLayoutId xmlns:r="http://schemas.openxmlformats.org/officeDocument/2006/relationships" id="2147483652" r:id="Rbf26cca100ca48db"/>
    <p:sldLayoutId xmlns:r="http://schemas.openxmlformats.org/officeDocument/2006/relationships" id="2147483653" r:id="R5009b9e11b4e4a9d"/>
    <p:sldLayoutId xmlns:r="http://schemas.openxmlformats.org/officeDocument/2006/relationships" id="2147483654" r:id="R2b7b697a1a5a45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9b427f6c674802" /><Relationship Type="http://schemas.openxmlformats.org/officeDocument/2006/relationships/image" Target="/ppt/media/image.jpeg" Id="Ra06a871f07b242d0" /><Relationship Type="http://schemas.openxmlformats.org/officeDocument/2006/relationships/notesSlide" Target="/ppt/notesSlides/notesSlide1.xml" Id="R93357948a1bf45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9d6d6c764740ee" /><Relationship Type="http://schemas.openxmlformats.org/officeDocument/2006/relationships/notesSlide" Target="/ppt/notesSlides/notesSlide2.xml" Id="R35921380762f47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ae8ced58354dc1" /><Relationship Type="http://schemas.openxmlformats.org/officeDocument/2006/relationships/notesSlide" Target="/ppt/notesSlides/notesSlide3.xml" Id="R1c636cedf9784a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0e4cb629a44e43" /><Relationship Type="http://schemas.openxmlformats.org/officeDocument/2006/relationships/notesSlide" Target="/ppt/notesSlides/notesSlide4.xml" Id="R92da1261874c4b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a22eeedd19472d" /><Relationship Type="http://schemas.openxmlformats.org/officeDocument/2006/relationships/notesSlide" Target="/ppt/notesSlides/notesSlide5.xml" Id="Rb7363dc81f8446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5030d0715f4a20" /><Relationship Type="http://schemas.openxmlformats.org/officeDocument/2006/relationships/notesSlide" Target="/ppt/notesSlides/notesSlide6.xml" Id="Rb4b15b85e9484b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c23b70e55a4e29" /><Relationship Type="http://schemas.openxmlformats.org/officeDocument/2006/relationships/notesSlide" Target="/ppt/notesSlides/notesSlide7.xml" Id="R6d0c76cb3f3441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bb649cbc0045c1" /><Relationship Type="http://schemas.openxmlformats.org/officeDocument/2006/relationships/notesSlide" Target="/ppt/notesSlides/notesSlide8.xml" Id="Rb812a18efc5a49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172988e83a4e8d" /><Relationship Type="http://schemas.openxmlformats.org/officeDocument/2006/relationships/notesSlide" Target="/ppt/notesSlides/notesSlide9.xml" Id="Rf4a09fa88dca43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1f7cc6afe64ff4" /><Relationship Type="http://schemas.openxmlformats.org/officeDocument/2006/relationships/notesSlide" Target="/ppt/notesSlides/notesSlide10.xml" Id="Rf77beaf9232c4a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5d6f6616b1d4e69" /><Relationship Type="http://schemas.openxmlformats.org/officeDocument/2006/relationships/notesSlide" Target="/ppt/notesSlides/notesSlide11.xml" Id="R76b90bfa141746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c69a335a0484510" /><Relationship Type="http://schemas.openxmlformats.org/officeDocument/2006/relationships/notesSlide" Target="/ppt/notesSlides/notesSlide12.xml" Id="R4fe867d70c8e47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27c27dc89f74a48" /><Relationship Type="http://schemas.openxmlformats.org/officeDocument/2006/relationships/notesSlide" Target="/ppt/notesSlides/notesSlide13.xml" Id="Rbedd7868505149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54611c824a45b7" /><Relationship Type="http://schemas.openxmlformats.org/officeDocument/2006/relationships/notesSlide" Target="/ppt/notesSlides/notesSlide14.xml" Id="Ref167f8dbd1c44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f2cd83b4b7d401f" /><Relationship Type="http://schemas.openxmlformats.org/officeDocument/2006/relationships/notesSlide" Target="/ppt/notesSlides/notesSlide15.xml" Id="R116c7c87b65f46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ee55ba30ea74759" /><Relationship Type="http://schemas.openxmlformats.org/officeDocument/2006/relationships/notesSlide" Target="/ppt/notesSlides/notesSlide16.xml" Id="Ra8d7806dcf8446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60a76ab4da44ddc" /><Relationship Type="http://schemas.openxmlformats.org/officeDocument/2006/relationships/notesSlide" Target="/ppt/notesSlides/notesSlide17.xml" Id="R4adda977cbea4b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1aa0163cb714842" /><Relationship Type="http://schemas.openxmlformats.org/officeDocument/2006/relationships/notesSlide" Target="/ppt/notesSlides/notesSlide18.xml" Id="R93bea51bf42d4048"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1F58F2E-CC97-417E-9673-2BFBCF5883ED}"/>
              </a:ext>
            </a:extLst>
          </p:cNvPr>
          <p:cNvPicPr>
            <a:picLocks xmlns:a="http://schemas.openxmlformats.org/drawingml/2006/main" noChangeAspect="1"/>
          </p:cNvPicPr>
          <p:nvPr/>
        </p:nvPicPr>
        <p:blipFill>
          <a:blip xmlns:r="http://schemas.openxmlformats.org/officeDocument/2006/relationships" xmlns:a="http://schemas.openxmlformats.org/drawingml/2006/main" r:embed="Ra06a871f07b242d0"/>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934FCF-BD37-4A82-B8D1-EB5FB8AB033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4C6C3D9-3B7C-410F-9AB0-DE9A3DBEA9C0}"/>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01AE1E5E-E7AD-4B83-AC0F-EE7A6E64516F}"/>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B057F5E2-2ADA-4A38-9B97-7E644BCDE0BE}"/>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In-Person IV Skills Lab</a:t>
            </a:r>
          </a:p>
        </p:txBody>
      </p:sp>
      <p:sp>
        <p:nvSpPr>
          <p:cNvPr id="6" name="">
            <a:extLst xmlns:a="http://schemas.openxmlformats.org/drawingml/2006/main">
              <a:ext uri="{FF2B5EF4-FFF2-40B4-BE49-F238E27FC236}">
                <a16:creationId xmlns:a16="http://schemas.microsoft.com/office/drawing/2014/main" id="{A17325AF-AC49-4550-916D-A0AFEB35F000}"/>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8  |  30-Hour Basic Intravenous Therapy</a:t>
            </a:r>
          </a:p>
        </p:txBody>
      </p:sp>
      <p:sp>
        <p:nvSpPr>
          <p:cNvPr id="7" name="">
            <a:extLst xmlns:a="http://schemas.openxmlformats.org/drawingml/2006/main">
              <a:ext uri="{FF2B5EF4-FFF2-40B4-BE49-F238E27FC236}">
                <a16:creationId xmlns:a16="http://schemas.microsoft.com/office/drawing/2014/main" id="{8BAA1D2A-FECB-405D-8F9D-6E0F18E3DD69}"/>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784095351"/>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0B923E-6106-4763-8DF9-59A8B8ADAC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85F925-08B6-4B35-859C-C23A860EC6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17FB96EB-F837-48E3-B9B1-D425D2581A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B0E376E-8F12-48AD-9A80-9EADD14BCF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CE6F7F2-67A5-43AD-B871-42E1DDD4DFC2}"/>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784120920"/>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FF5D1D-242F-434D-92BD-627B31BE03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32CDD5-73B0-4FCD-BABC-466ACB0050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D58AA95F-F4AB-4D29-98DD-FFF6A62975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31652C3-B69F-4011-94BF-4E6A8BF075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A1C25AC0-77EA-465D-B67B-F63AD2F7D4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F5A0DBAF-7B7C-40DC-B5E6-FE292F380D9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58550165"/>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F631E2-F4FD-47AB-909B-C3B308AB7D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3ADA4E-FF2B-4002-AD98-FFE1E4B132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A733C537-1AA0-4122-AE09-8091263B0B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7D06F25-8579-4B34-A653-7E8390E08A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85EBD2E6-C93A-412E-8117-571EC31EF7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0EF78248-748F-4218-B865-039363E957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8804943"/>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501ACC-B59D-406A-9161-C801476E35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D7D5B2-CE88-405C-9E6F-E97E77BFD3D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1CEFC2AF-046E-4DF9-B6FA-19710079C0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B704CF8-EBDB-4A6D-B011-1C445C733C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FEC4BA1-D7C7-405E-BD13-1B04EF9465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9DE07604-5E93-44DC-9724-BD9CA4E089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00497181"/>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F9B10D-3685-4F97-B27D-1C660A848C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132EE0-2389-4F42-B5A2-1EFC8632BA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FB714101-0177-47F0-873D-C4F5BDA9F0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292F16D-050D-4BFF-95B4-04FF88167B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224FA8EE-D378-4AB8-BFFC-836E4991C7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4258E9A7-F698-4DE4-B1B2-63B6EEA035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4209239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B04333-478D-4FDF-B2C1-22C2F395E8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F25AAA-C57B-4C66-B762-B0D3C43662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A6632346-B1B7-4199-8E56-C0380425A1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3561BC9-0045-4760-BEB9-06F2C0507B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3F73AE70-AD48-43E6-B187-7231AD4FADA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10883615-E4C6-4595-9769-3F6AEDAC8A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6800795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6E56F63-5CEE-4E6F-B2CD-9D591DC6F7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09C0F6-161B-464B-B862-52E4522639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3" name="">
            <a:extLst xmlns:a="http://schemas.openxmlformats.org/drawingml/2006/main">
              <a:ext uri="{FF2B5EF4-FFF2-40B4-BE49-F238E27FC236}">
                <a16:creationId xmlns:a16="http://schemas.microsoft.com/office/drawing/2014/main" id="{1A125D80-1D4D-49A1-8EB2-79EFC1FFF2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60261C6-37D6-4B9B-88D7-5DFD00B996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DF0D441-35C0-47A3-8372-C66E2DAC180D}"/>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5794A71-5139-48B3-87FB-2A72E219EE57}"/>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7" name="">
            <a:extLst xmlns:a="http://schemas.openxmlformats.org/drawingml/2006/main">
              <a:ext uri="{FF2B5EF4-FFF2-40B4-BE49-F238E27FC236}">
                <a16:creationId xmlns:a16="http://schemas.microsoft.com/office/drawing/2014/main" id="{C680F2AE-A063-4934-A0F4-976ED410DAC7}"/>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26D766C-2465-4CB7-BDB9-8DC5B5BFF765}"/>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C1CD84DC-ECA0-473A-9267-3017AC7E74EA}"/>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24E78E4-029A-487C-AD3F-82B2F5EA1EDE}"/>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1" name="">
            <a:extLst xmlns:a="http://schemas.openxmlformats.org/drawingml/2006/main">
              <a:ext uri="{FF2B5EF4-FFF2-40B4-BE49-F238E27FC236}">
                <a16:creationId xmlns:a16="http://schemas.microsoft.com/office/drawing/2014/main" id="{BDCC489D-20AD-436C-8EC6-977C5F8A6372}"/>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89D8BB7-C56D-489B-B8FC-84908EABD2E1}"/>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3" name="">
            <a:extLst xmlns:a="http://schemas.openxmlformats.org/drawingml/2006/main">
              <a:ext uri="{FF2B5EF4-FFF2-40B4-BE49-F238E27FC236}">
                <a16:creationId xmlns:a16="http://schemas.microsoft.com/office/drawing/2014/main" id="{0B08058E-4508-4208-B335-5647874D0003}"/>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F0FBFD3-1D71-4C6C-92FA-E0818635F6AD}"/>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5" name="">
            <a:extLst xmlns:a="http://schemas.openxmlformats.org/drawingml/2006/main">
              <a:ext uri="{FF2B5EF4-FFF2-40B4-BE49-F238E27FC236}">
                <a16:creationId xmlns:a16="http://schemas.microsoft.com/office/drawing/2014/main" id="{8B82F16C-4C6D-4AF6-A37B-7AA69E5896D0}"/>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503FB8A-949C-48E6-9412-85B42F3D1DA1}"/>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7" name="">
            <a:extLst xmlns:a="http://schemas.openxmlformats.org/drawingml/2006/main">
              <a:ext uri="{FF2B5EF4-FFF2-40B4-BE49-F238E27FC236}">
                <a16:creationId xmlns:a16="http://schemas.microsoft.com/office/drawing/2014/main" id="{B3BEBCFF-5CE7-4AEE-8E5E-0DB8B82FDB34}"/>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CCB62C2-B864-43DC-A63D-DF2726E253F4}"/>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19" name="">
            <a:extLst xmlns:a="http://schemas.openxmlformats.org/drawingml/2006/main">
              <a:ext uri="{FF2B5EF4-FFF2-40B4-BE49-F238E27FC236}">
                <a16:creationId xmlns:a16="http://schemas.microsoft.com/office/drawing/2014/main" id="{30540648-A535-4581-ACE7-25F05B4785B7}"/>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3357AAC-3D75-4F76-AE6A-99EC0433D707}"/>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1" name="">
            <a:extLst xmlns:a="http://schemas.openxmlformats.org/drawingml/2006/main">
              <a:ext uri="{FF2B5EF4-FFF2-40B4-BE49-F238E27FC236}">
                <a16:creationId xmlns:a16="http://schemas.microsoft.com/office/drawing/2014/main" id="{C5897D22-3AC7-4E5A-83D0-BAD303835B73}"/>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D3352FB-26A3-4DAA-9F8D-C8AFDDAC2E55}"/>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3" name="">
            <a:extLst xmlns:a="http://schemas.openxmlformats.org/drawingml/2006/main">
              <a:ext uri="{FF2B5EF4-FFF2-40B4-BE49-F238E27FC236}">
                <a16:creationId xmlns:a16="http://schemas.microsoft.com/office/drawing/2014/main" id="{313EC8C4-3630-438C-A24C-ADC7B5469716}"/>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E332299-977F-4B91-9AC4-CF7D4C6D0E50}"/>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5" name="">
            <a:extLst xmlns:a="http://schemas.openxmlformats.org/drawingml/2006/main">
              <a:ext uri="{FF2B5EF4-FFF2-40B4-BE49-F238E27FC236}">
                <a16:creationId xmlns:a16="http://schemas.microsoft.com/office/drawing/2014/main" id="{389AD2FA-02D5-4120-B8E0-0C8E9FC5A93D}"/>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BF27F69-EB49-43E0-8216-F518AB2A9864}"/>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7" name="">
            <a:extLst xmlns:a="http://schemas.openxmlformats.org/drawingml/2006/main">
              <a:ext uri="{FF2B5EF4-FFF2-40B4-BE49-F238E27FC236}">
                <a16:creationId xmlns:a16="http://schemas.microsoft.com/office/drawing/2014/main" id="{23860198-C9C0-45CE-98E6-9D23C5BF7ECD}"/>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A9D85B1-1ADB-448D-B8D4-C994F8074C14}"/>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29" name="">
            <a:extLst xmlns:a="http://schemas.openxmlformats.org/drawingml/2006/main">
              <a:ext uri="{FF2B5EF4-FFF2-40B4-BE49-F238E27FC236}">
                <a16:creationId xmlns:a16="http://schemas.microsoft.com/office/drawing/2014/main" id="{0719D995-77BD-4FC4-9B22-635BBBC06249}"/>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5C7A07C-B76F-4F0E-B551-4A4741E65216}"/>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1" name="">
            <a:extLst xmlns:a="http://schemas.openxmlformats.org/drawingml/2006/main">
              <a:ext uri="{FF2B5EF4-FFF2-40B4-BE49-F238E27FC236}">
                <a16:creationId xmlns:a16="http://schemas.microsoft.com/office/drawing/2014/main" id="{FB7EF43D-BD85-4760-8238-21813510E0F8}"/>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513BF3A-8E30-458E-8864-003C0A957A39}"/>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3" name="">
            <a:extLst xmlns:a="http://schemas.openxmlformats.org/drawingml/2006/main">
              <a:ext uri="{FF2B5EF4-FFF2-40B4-BE49-F238E27FC236}">
                <a16:creationId xmlns:a16="http://schemas.microsoft.com/office/drawing/2014/main" id="{60248763-4D06-4B48-895D-C22C2C1B8405}"/>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581E82E-37BC-471E-8A15-E1DEEED439B2}"/>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5" name="">
            <a:extLst xmlns:a="http://schemas.openxmlformats.org/drawingml/2006/main">
              <a:ext uri="{FF2B5EF4-FFF2-40B4-BE49-F238E27FC236}">
                <a16:creationId xmlns:a16="http://schemas.microsoft.com/office/drawing/2014/main" id="{DA3384C5-A377-46B5-ABD3-307EE7E5D8E3}"/>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B0393A24-DA71-469C-8899-9414178141E6}"/>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157329490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3C831DC-6867-4707-815E-8E408C0E17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41A76BE-148D-450D-A85F-7A5232919F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3" name="">
            <a:extLst xmlns:a="http://schemas.openxmlformats.org/drawingml/2006/main">
              <a:ext uri="{FF2B5EF4-FFF2-40B4-BE49-F238E27FC236}">
                <a16:creationId xmlns:a16="http://schemas.microsoft.com/office/drawing/2014/main" id="{F4B0BF68-3A17-4A36-A935-ED2415DB4D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762A97B-3D25-4EBE-BE80-846B13F76B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C39183E-5A28-443F-A8B5-3E0AEC383FB8}"/>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4EABF74-000A-4AE1-909A-0CCD03E134B4}"/>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7" name="">
            <a:extLst xmlns:a="http://schemas.openxmlformats.org/drawingml/2006/main">
              <a:ext uri="{FF2B5EF4-FFF2-40B4-BE49-F238E27FC236}">
                <a16:creationId xmlns:a16="http://schemas.microsoft.com/office/drawing/2014/main" id="{847A1DDD-A48D-4108-B50B-A34CD6DA2F6B}"/>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46E03E8-682F-4B71-AF8F-89577315431A}"/>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9" name="">
            <a:extLst xmlns:a="http://schemas.openxmlformats.org/drawingml/2006/main">
              <a:ext uri="{FF2B5EF4-FFF2-40B4-BE49-F238E27FC236}">
                <a16:creationId xmlns:a16="http://schemas.microsoft.com/office/drawing/2014/main" id="{BFAF9EAC-DD36-41E5-9B5A-3038E80CDF8A}"/>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B4E9B07-EDD3-41DD-9F46-E67B0D525747}"/>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1" name="">
            <a:extLst xmlns:a="http://schemas.openxmlformats.org/drawingml/2006/main">
              <a:ext uri="{FF2B5EF4-FFF2-40B4-BE49-F238E27FC236}">
                <a16:creationId xmlns:a16="http://schemas.microsoft.com/office/drawing/2014/main" id="{CA40B4DE-6C06-460A-AD5B-1C4EF2807CB9}"/>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370179D-F544-4E9A-B237-857ED478B81D}"/>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3" name="">
            <a:extLst xmlns:a="http://schemas.openxmlformats.org/drawingml/2006/main">
              <a:ext uri="{FF2B5EF4-FFF2-40B4-BE49-F238E27FC236}">
                <a16:creationId xmlns:a16="http://schemas.microsoft.com/office/drawing/2014/main" id="{3DC8A6D8-B30C-4E91-A5B5-DDB64B411CA3}"/>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66FD82F-77F7-4579-81D1-F65094261925}"/>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5" name="">
            <a:extLst xmlns:a="http://schemas.openxmlformats.org/drawingml/2006/main">
              <a:ext uri="{FF2B5EF4-FFF2-40B4-BE49-F238E27FC236}">
                <a16:creationId xmlns:a16="http://schemas.microsoft.com/office/drawing/2014/main" id="{959E9974-275C-4864-9FA9-D82D5309C378}"/>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17E37F8-005C-46BE-AF0B-B9A313BD745B}"/>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7" name="">
            <a:extLst xmlns:a="http://schemas.openxmlformats.org/drawingml/2006/main">
              <a:ext uri="{FF2B5EF4-FFF2-40B4-BE49-F238E27FC236}">
                <a16:creationId xmlns:a16="http://schemas.microsoft.com/office/drawing/2014/main" id="{15B16FE9-7D95-4135-BB84-82E9FCF4D680}"/>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C7D9521-E9C1-4B41-9E4C-19656014E66C}"/>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9" name="">
            <a:extLst xmlns:a="http://schemas.openxmlformats.org/drawingml/2006/main">
              <a:ext uri="{FF2B5EF4-FFF2-40B4-BE49-F238E27FC236}">
                <a16:creationId xmlns:a16="http://schemas.microsoft.com/office/drawing/2014/main" id="{D945E22E-50D7-4EE7-9425-92D14132257F}"/>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DE12406-AAFD-42FF-B27A-9380631928DA}"/>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1" name="">
            <a:extLst xmlns:a="http://schemas.openxmlformats.org/drawingml/2006/main">
              <a:ext uri="{FF2B5EF4-FFF2-40B4-BE49-F238E27FC236}">
                <a16:creationId xmlns:a16="http://schemas.microsoft.com/office/drawing/2014/main" id="{F6B28628-5699-47A8-AD34-1F6C90FD340E}"/>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90B6462-E8BF-4B81-B0B9-96C39FDBCEDE}"/>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3" name="">
            <a:extLst xmlns:a="http://schemas.openxmlformats.org/drawingml/2006/main">
              <a:ext uri="{FF2B5EF4-FFF2-40B4-BE49-F238E27FC236}">
                <a16:creationId xmlns:a16="http://schemas.microsoft.com/office/drawing/2014/main" id="{488ED7EF-C0EB-4355-8626-0254021355A7}"/>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1103F47-915D-45EA-B972-BD3A36047861}"/>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5" name="">
            <a:extLst xmlns:a="http://schemas.openxmlformats.org/drawingml/2006/main">
              <a:ext uri="{FF2B5EF4-FFF2-40B4-BE49-F238E27FC236}">
                <a16:creationId xmlns:a16="http://schemas.microsoft.com/office/drawing/2014/main" id="{06A885A9-E474-40BD-A3EB-96E570AF3DA2}"/>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708766F-E43E-42D2-AAF9-196C8E0DBF87}"/>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7" name="">
            <a:extLst xmlns:a="http://schemas.openxmlformats.org/drawingml/2006/main">
              <a:ext uri="{FF2B5EF4-FFF2-40B4-BE49-F238E27FC236}">
                <a16:creationId xmlns:a16="http://schemas.microsoft.com/office/drawing/2014/main" id="{A0BC34FD-1F2A-427A-9B3E-790082695766}"/>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65079D0-24DE-4497-86D5-B3DC03CE41CE}"/>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29" name="">
            <a:extLst xmlns:a="http://schemas.openxmlformats.org/drawingml/2006/main">
              <a:ext uri="{FF2B5EF4-FFF2-40B4-BE49-F238E27FC236}">
                <a16:creationId xmlns:a16="http://schemas.microsoft.com/office/drawing/2014/main" id="{D71919C8-2B74-4BCA-869A-A5611911612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522992354"/>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8794B2-476B-4C01-B8F5-AF626E259F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0B857E-8CE1-4B80-A4E8-D742A8537DF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3" name="">
            <a:extLst xmlns:a="http://schemas.openxmlformats.org/drawingml/2006/main">
              <a:ext uri="{FF2B5EF4-FFF2-40B4-BE49-F238E27FC236}">
                <a16:creationId xmlns:a16="http://schemas.microsoft.com/office/drawing/2014/main" id="{516EC546-2BA0-4426-8EC6-7EA663C06E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7E0EA7C-2820-4920-B5B6-7B89CFDAF7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D2C7652E-CC41-422C-8354-B4BDDFE7615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6" name="">
            <a:extLst xmlns:a="http://schemas.openxmlformats.org/drawingml/2006/main">
              <a:ext uri="{FF2B5EF4-FFF2-40B4-BE49-F238E27FC236}">
                <a16:creationId xmlns:a16="http://schemas.microsoft.com/office/drawing/2014/main" id="{C68F7AA9-C82C-4C86-9391-76350B80123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1404485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E61CA76-D926-44CB-AFB4-1A4235C323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D65C02-E7E2-4D38-8453-BF6FBA42A5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Competency begins with clinical decisions</a:t>
            </a:r>
          </a:p>
        </p:txBody>
      </p:sp>
      <p:sp>
        <p:nvSpPr>
          <p:cNvPr id="3" name="">
            <a:extLst xmlns:a="http://schemas.openxmlformats.org/drawingml/2006/main">
              <a:ext uri="{FF2B5EF4-FFF2-40B4-BE49-F238E27FC236}">
                <a16:creationId xmlns:a16="http://schemas.microsoft.com/office/drawing/2014/main" id="{E3D4CFCB-63C8-4DCF-B6DD-0BEDC1B73D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84CCF97-6694-4707-940D-EC0359DD37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A38B7613-481A-4DC8-BFF3-C874CD994005}"/>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179BD52-7496-4258-AE45-93648B10AB90}"/>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Decision</a:t>
            </a:r>
          </a:p>
        </p:txBody>
      </p:sp>
      <p:sp>
        <p:nvSpPr>
          <p:cNvPr id="7" name="">
            <a:extLst xmlns:a="http://schemas.openxmlformats.org/drawingml/2006/main">
              <a:ext uri="{FF2B5EF4-FFF2-40B4-BE49-F238E27FC236}">
                <a16:creationId xmlns:a16="http://schemas.microsoft.com/office/drawing/2014/main" id="{82FD9F50-DDA6-4F19-AF73-D99A9FEE64FD}"/>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044DEDF-3D7E-445D-8921-910E6E5279B1}"/>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must explain</a:t>
            </a:r>
          </a:p>
        </p:txBody>
      </p:sp>
      <p:sp>
        <p:nvSpPr>
          <p:cNvPr id="9" name="">
            <a:extLst xmlns:a="http://schemas.openxmlformats.org/drawingml/2006/main">
              <a:ext uri="{FF2B5EF4-FFF2-40B4-BE49-F238E27FC236}">
                <a16:creationId xmlns:a16="http://schemas.microsoft.com/office/drawing/2014/main" id="{68DF89DD-9A83-494E-8667-B539A9F1BD31}"/>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380A6D0-390A-45EC-9C34-68BE83D9599A}"/>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BD798D9E-5A95-4AEC-8430-C52CAC99A139}"/>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10BD561-1C13-495D-954D-A6DD5DD8167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intended outcome of the prescribed therapy</a:t>
            </a:r>
          </a:p>
        </p:txBody>
      </p:sp>
      <p:sp>
        <p:nvSpPr>
          <p:cNvPr id="13" name="">
            <a:extLst xmlns:a="http://schemas.openxmlformats.org/drawingml/2006/main">
              <a:ext uri="{FF2B5EF4-FFF2-40B4-BE49-F238E27FC236}">
                <a16:creationId xmlns:a16="http://schemas.microsoft.com/office/drawing/2014/main" id="{1DFEF17F-5362-4EA8-992A-1A6F5A1E0CFD}"/>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92B1597-D2C4-425B-911A-4E0E088D6D0F}"/>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assessment</a:t>
            </a:r>
          </a:p>
        </p:txBody>
      </p:sp>
      <p:sp>
        <p:nvSpPr>
          <p:cNvPr id="15" name="">
            <a:extLst xmlns:a="http://schemas.openxmlformats.org/drawingml/2006/main">
              <a:ext uri="{FF2B5EF4-FFF2-40B4-BE49-F238E27FC236}">
                <a16:creationId xmlns:a16="http://schemas.microsoft.com/office/drawing/2014/main" id="{62EBCB4A-742F-4968-B593-B6C4CAEE2307}"/>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728422B-54F4-49D4-B0E0-70F359A64887}"/>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 condition, allergies, previous infusion experience, education, and consent</a:t>
            </a:r>
          </a:p>
        </p:txBody>
      </p:sp>
      <p:sp>
        <p:nvSpPr>
          <p:cNvPr id="17" name="">
            <a:extLst xmlns:a="http://schemas.openxmlformats.org/drawingml/2006/main">
              <a:ext uri="{FF2B5EF4-FFF2-40B4-BE49-F238E27FC236}">
                <a16:creationId xmlns:a16="http://schemas.microsoft.com/office/drawing/2014/main" id="{BFFB2DE0-9033-470D-8E15-C7FDEEE4D432}"/>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4986557-1041-49F6-95C6-D6171A5F535C}"/>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a:t>
            </a:r>
          </a:p>
        </p:txBody>
      </p:sp>
      <p:sp>
        <p:nvSpPr>
          <p:cNvPr id="19" name="">
            <a:extLst xmlns:a="http://schemas.openxmlformats.org/drawingml/2006/main">
              <a:ext uri="{FF2B5EF4-FFF2-40B4-BE49-F238E27FC236}">
                <a16:creationId xmlns:a16="http://schemas.microsoft.com/office/drawing/2014/main" id="{72414E38-815E-4A8A-9BC2-D35E4C039F8F}"/>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9769194-9EDA-4AC5-847A-739D8A1EC5AB}"/>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age, condition, therapy, vein quality, activity, and expected dwell affect selection</a:t>
            </a:r>
          </a:p>
        </p:txBody>
      </p:sp>
      <p:sp>
        <p:nvSpPr>
          <p:cNvPr id="21" name="">
            <a:extLst xmlns:a="http://schemas.openxmlformats.org/drawingml/2006/main">
              <a:ext uri="{FF2B5EF4-FFF2-40B4-BE49-F238E27FC236}">
                <a16:creationId xmlns:a16="http://schemas.microsoft.com/office/drawing/2014/main" id="{31310BF4-B622-457A-925D-A23C2D150F14}"/>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FE91BE9-9466-4343-9AF7-4508F61D54CD}"/>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a:t>
            </a:r>
          </a:p>
        </p:txBody>
      </p:sp>
      <p:sp>
        <p:nvSpPr>
          <p:cNvPr id="23" name="">
            <a:extLst xmlns:a="http://schemas.openxmlformats.org/drawingml/2006/main">
              <a:ext uri="{FF2B5EF4-FFF2-40B4-BE49-F238E27FC236}">
                <a16:creationId xmlns:a16="http://schemas.microsoft.com/office/drawing/2014/main" id="{ABF0E00D-3BE2-4A7F-B956-7B425B86B3EC}"/>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2D05FAE-98AE-4CAA-81C8-CF3A9EA81049}"/>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Why the catheter, extension, tubing, dressing, and pump fit this patient and therapy</a:t>
            </a:r>
          </a:p>
        </p:txBody>
      </p:sp>
    </p:spTree>
    <p:extLst>
      <p:ext uri="{BB962C8B-B14F-4D97-AF65-F5344CB8AC3E}">
        <p14:creationId xmlns:p14="http://schemas.microsoft.com/office/powerpoint/2010/main" val="183750938"/>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97BB8B9-F559-4719-A19F-EC44A1A3DB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E474FC2-FDF7-4BA2-8A15-C210C07565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Know the central-access device before using it</a:t>
            </a:r>
          </a:p>
        </p:txBody>
      </p:sp>
      <p:sp>
        <p:nvSpPr>
          <p:cNvPr id="3" name="">
            <a:extLst xmlns:a="http://schemas.openxmlformats.org/drawingml/2006/main">
              <a:ext uri="{FF2B5EF4-FFF2-40B4-BE49-F238E27FC236}">
                <a16:creationId xmlns:a16="http://schemas.microsoft.com/office/drawing/2014/main" id="{26152DF5-9A92-45C2-881F-57A1A2E32FB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3658DCA-6019-4F53-ACE7-0E2C8A9431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9654336D-F47A-474F-BA66-395B9746FCAE}"/>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C1A3750-9A30-40F4-9AB8-93FD61EA273D}"/>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Device</a:t>
            </a:r>
          </a:p>
        </p:txBody>
      </p:sp>
      <p:sp>
        <p:nvSpPr>
          <p:cNvPr id="7" name="">
            <a:extLst xmlns:a="http://schemas.openxmlformats.org/drawingml/2006/main">
              <a:ext uri="{FF2B5EF4-FFF2-40B4-BE49-F238E27FC236}">
                <a16:creationId xmlns:a16="http://schemas.microsoft.com/office/drawing/2014/main" id="{97204B41-BA93-44F4-9AFF-E872C59D1954}"/>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EF318C7-5F17-46DD-85B3-4F4A89AA3F58}"/>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Where the tip terminates</a:t>
            </a:r>
          </a:p>
        </p:txBody>
      </p:sp>
      <p:sp>
        <p:nvSpPr>
          <p:cNvPr id="9" name="">
            <a:extLst xmlns:a="http://schemas.openxmlformats.org/drawingml/2006/main">
              <a:ext uri="{FF2B5EF4-FFF2-40B4-BE49-F238E27FC236}">
                <a16:creationId xmlns:a16="http://schemas.microsoft.com/office/drawing/2014/main" id="{19D6F86E-788C-4966-BB10-6EAAB7EDBA28}"/>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AA7B0D9-D0D6-4270-84C6-BAEE905CA05F}"/>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learning point</a:t>
            </a:r>
          </a:p>
        </p:txBody>
      </p:sp>
      <p:sp>
        <p:nvSpPr>
          <p:cNvPr id="11" name="">
            <a:extLst xmlns:a="http://schemas.openxmlformats.org/drawingml/2006/main">
              <a:ext uri="{FF2B5EF4-FFF2-40B4-BE49-F238E27FC236}">
                <a16:creationId xmlns:a16="http://schemas.microsoft.com/office/drawing/2014/main" id="{B9159108-A309-470B-B8FB-91FD2DA9BFD7}"/>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EC72E15-ADDB-4E68-9236-24C14BA100BA}"/>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Midline</a:t>
            </a:r>
          </a:p>
        </p:txBody>
      </p:sp>
      <p:sp>
        <p:nvSpPr>
          <p:cNvPr id="13" name="">
            <a:extLst xmlns:a="http://schemas.openxmlformats.org/drawingml/2006/main">
              <a:ext uri="{FF2B5EF4-FFF2-40B4-BE49-F238E27FC236}">
                <a16:creationId xmlns:a16="http://schemas.microsoft.com/office/drawing/2014/main" id="{C1480FB2-6FF7-41AC-9E20-2BDF0B4DF00C}"/>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5699692-A11B-45DD-A55D-4F991CDAF575}"/>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Peripheral vasculature below the axilla</a:t>
            </a:r>
          </a:p>
        </p:txBody>
      </p:sp>
      <p:sp>
        <p:nvSpPr>
          <p:cNvPr id="15" name="">
            <a:extLst xmlns:a="http://schemas.openxmlformats.org/drawingml/2006/main">
              <a:ext uri="{FF2B5EF4-FFF2-40B4-BE49-F238E27FC236}">
                <a16:creationId xmlns:a16="http://schemas.microsoft.com/office/drawing/2014/main" id="{8A5929C5-3CBF-4BB0-89AB-0E2F5B8596B0}"/>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D76B479-851F-4963-B657-D7B64A056B6D}"/>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 central line; confirm that the prescribed therapy is peripherally appropriate</a:t>
            </a:r>
          </a:p>
        </p:txBody>
      </p:sp>
      <p:sp>
        <p:nvSpPr>
          <p:cNvPr id="17" name="">
            <a:extLst xmlns:a="http://schemas.openxmlformats.org/drawingml/2006/main">
              <a:ext uri="{FF2B5EF4-FFF2-40B4-BE49-F238E27FC236}">
                <a16:creationId xmlns:a16="http://schemas.microsoft.com/office/drawing/2014/main" id="{AEC36C3F-AAEE-47EA-8DC2-7176884A6DD1}"/>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95EBA1A-491A-4457-86BC-9DF2073117C1}"/>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PICC</a:t>
            </a:r>
          </a:p>
        </p:txBody>
      </p:sp>
      <p:sp>
        <p:nvSpPr>
          <p:cNvPr id="19" name="">
            <a:extLst xmlns:a="http://schemas.openxmlformats.org/drawingml/2006/main">
              <a:ext uri="{FF2B5EF4-FFF2-40B4-BE49-F238E27FC236}">
                <a16:creationId xmlns:a16="http://schemas.microsoft.com/office/drawing/2014/main" id="{587DA6CE-C359-4A12-A73E-DE8EA9DEDF6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362B3E6-3DBC-4939-9880-035061646ACB}"/>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after peripheral insertion</a:t>
            </a:r>
          </a:p>
        </p:txBody>
      </p:sp>
      <p:sp>
        <p:nvSpPr>
          <p:cNvPr id="21" name="">
            <a:extLst xmlns:a="http://schemas.openxmlformats.org/drawingml/2006/main">
              <a:ext uri="{FF2B5EF4-FFF2-40B4-BE49-F238E27FC236}">
                <a16:creationId xmlns:a16="http://schemas.microsoft.com/office/drawing/2014/main" id="{E0BEBE2E-364C-47E4-9810-BB4C1F66C3E1}"/>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0E56AB3-6C84-4AC7-A92A-6C7B6ADC148D}"/>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tip-use clearance, lumen purpose, patency, and dressing condition</a:t>
            </a:r>
          </a:p>
        </p:txBody>
      </p:sp>
      <p:sp>
        <p:nvSpPr>
          <p:cNvPr id="23" name="">
            <a:extLst xmlns:a="http://schemas.openxmlformats.org/drawingml/2006/main">
              <a:ext uri="{FF2B5EF4-FFF2-40B4-BE49-F238E27FC236}">
                <a16:creationId xmlns:a16="http://schemas.microsoft.com/office/drawing/2014/main" id="{C5A27863-C933-4FDA-A0F1-D71E7F48B234}"/>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232B748-093E-45DA-9F6F-C3FD73569BF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Nontunneled or tunneled CVC</a:t>
            </a:r>
          </a:p>
        </p:txBody>
      </p:sp>
      <p:sp>
        <p:nvSpPr>
          <p:cNvPr id="25" name="">
            <a:extLst xmlns:a="http://schemas.openxmlformats.org/drawingml/2006/main">
              <a:ext uri="{FF2B5EF4-FFF2-40B4-BE49-F238E27FC236}">
                <a16:creationId xmlns:a16="http://schemas.microsoft.com/office/drawing/2014/main" id="{9646738C-963B-4283-AB27-1AF2F7DD073A}"/>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6F2665A-7232-434B-A394-D8181A8DD1E4}"/>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a:t>
            </a:r>
          </a:p>
        </p:txBody>
      </p:sp>
      <p:sp>
        <p:nvSpPr>
          <p:cNvPr id="27" name="">
            <a:extLst xmlns:a="http://schemas.openxmlformats.org/drawingml/2006/main">
              <a:ext uri="{FF2B5EF4-FFF2-40B4-BE49-F238E27FC236}">
                <a16:creationId xmlns:a16="http://schemas.microsoft.com/office/drawing/2014/main" id="{7B065703-460A-4784-86A0-86BF8C33DD9D}"/>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D3D570B-23AD-46F5-BB08-6E9BBA7A94D3}"/>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strict asepsis and inspect the exit site, connections, and lumens</a:t>
            </a:r>
          </a:p>
        </p:txBody>
      </p:sp>
      <p:sp>
        <p:nvSpPr>
          <p:cNvPr id="29" name="">
            <a:extLst xmlns:a="http://schemas.openxmlformats.org/drawingml/2006/main">
              <a:ext uri="{FF2B5EF4-FFF2-40B4-BE49-F238E27FC236}">
                <a16:creationId xmlns:a16="http://schemas.microsoft.com/office/drawing/2014/main" id="{E45ED11B-7449-4A66-A82B-F8E50356E1DE}"/>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761C378-5A34-45B1-86C0-9B5EE7FE7FC6}"/>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Implanted port</a:t>
            </a:r>
          </a:p>
        </p:txBody>
      </p:sp>
      <p:sp>
        <p:nvSpPr>
          <p:cNvPr id="31" name="">
            <a:extLst xmlns:a="http://schemas.openxmlformats.org/drawingml/2006/main">
              <a:ext uri="{FF2B5EF4-FFF2-40B4-BE49-F238E27FC236}">
                <a16:creationId xmlns:a16="http://schemas.microsoft.com/office/drawing/2014/main" id="{27A2F3E8-E4B6-40CA-9D69-697E12241F34}"/>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501229E3-0E86-4508-B9A0-CFB690E407E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through a subcutaneous reservoir</a:t>
            </a:r>
          </a:p>
        </p:txBody>
      </p:sp>
      <p:sp>
        <p:nvSpPr>
          <p:cNvPr id="33" name="">
            <a:extLst xmlns:a="http://schemas.openxmlformats.org/drawingml/2006/main">
              <a:ext uri="{FF2B5EF4-FFF2-40B4-BE49-F238E27FC236}">
                <a16:creationId xmlns:a16="http://schemas.microsoft.com/office/drawing/2014/main" id="{6600C72D-F783-4A79-837F-E51CD56AB5AF}"/>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063873A-963D-4A12-921A-04A7B60A8AB4}"/>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only with the correct noncoring needle and validated competency</a:t>
            </a:r>
          </a:p>
        </p:txBody>
      </p:sp>
    </p:spTree>
    <p:extLst>
      <p:ext uri="{BB962C8B-B14F-4D97-AF65-F5344CB8AC3E}">
        <p14:creationId xmlns:p14="http://schemas.microsoft.com/office/powerpoint/2010/main" val="1922445504"/>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3BC1775-54EF-4090-B1A3-6F804EF20F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647B03-6746-4E19-A845-5DF51C28BA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findings that require immediate escalation</a:t>
            </a:r>
          </a:p>
        </p:txBody>
      </p:sp>
      <p:sp>
        <p:nvSpPr>
          <p:cNvPr id="3" name="">
            <a:extLst xmlns:a="http://schemas.openxmlformats.org/drawingml/2006/main">
              <a:ext uri="{FF2B5EF4-FFF2-40B4-BE49-F238E27FC236}">
                <a16:creationId xmlns:a16="http://schemas.microsoft.com/office/drawing/2014/main" id="{3034D8D6-5C8F-4390-B22A-749EFA03B6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36EC9ED-B91E-4627-BB20-A23EA8D2B3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86C2EBE6-5AEE-4D34-8B8B-D0780C357811}"/>
              </a:ext>
            </a:extLst>
          </p:cNvPr>
          <p:cNvSpPr>
            <a:spLocks xmlns:a="http://schemas.openxmlformats.org/drawingml/2006/main" noGrp="1"/>
          </p:cNvSpPr>
          <p:nvPr/>
        </p:nvSpPr>
        <p:spPr>
          <a:xfrm xmlns:a="http://schemas.openxmlformats.org/drawingml/2006/main">
            <a:off x="7810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2F62ED4-FAF7-4512-84D8-B9C124111FCB}"/>
              </a:ext>
            </a:extLst>
          </p:cNvPr>
          <p:cNvSpPr>
            <a:spLocks xmlns:a="http://schemas.openxmlformats.org/drawingml/2006/main" noGrp="1"/>
          </p:cNvSpPr>
          <p:nvPr/>
        </p:nvSpPr>
        <p:spPr>
          <a:xfrm xmlns:a="http://schemas.openxmlformats.org/drawingml/2006/main">
            <a:off x="8763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7757D99F-962C-409F-89F6-A36B447928DE}"/>
              </a:ext>
            </a:extLst>
          </p:cNvPr>
          <p:cNvSpPr>
            <a:spLocks xmlns:a="http://schemas.openxmlformats.org/drawingml/2006/main" noGrp="1"/>
          </p:cNvSpPr>
          <p:nvPr/>
        </p:nvSpPr>
        <p:spPr>
          <a:xfrm xmlns:a="http://schemas.openxmlformats.org/drawingml/2006/main">
            <a:off x="430530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AA83725-9748-4A42-AF38-861B50FF5038}"/>
              </a:ext>
            </a:extLst>
          </p:cNvPr>
          <p:cNvSpPr>
            <a:spLocks xmlns:a="http://schemas.openxmlformats.org/drawingml/2006/main" noGrp="1"/>
          </p:cNvSpPr>
          <p:nvPr/>
        </p:nvSpPr>
        <p:spPr>
          <a:xfrm xmlns:a="http://schemas.openxmlformats.org/drawingml/2006/main">
            <a:off x="440055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concern</a:t>
            </a:r>
          </a:p>
        </p:txBody>
      </p:sp>
      <p:sp>
        <p:nvSpPr>
          <p:cNvPr id="9" name="">
            <a:extLst xmlns:a="http://schemas.openxmlformats.org/drawingml/2006/main">
              <a:ext uri="{FF2B5EF4-FFF2-40B4-BE49-F238E27FC236}">
                <a16:creationId xmlns:a16="http://schemas.microsoft.com/office/drawing/2014/main" id="{B69C3CDB-B3AD-4153-A475-B940DBBB16D4}"/>
              </a:ext>
            </a:extLst>
          </p:cNvPr>
          <p:cNvSpPr>
            <a:spLocks xmlns:a="http://schemas.openxmlformats.org/drawingml/2006/main" noGrp="1"/>
          </p:cNvSpPr>
          <p:nvPr/>
        </p:nvSpPr>
        <p:spPr>
          <a:xfrm xmlns:a="http://schemas.openxmlformats.org/drawingml/2006/main">
            <a:off x="78295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1CC62F2-3083-4FF0-8728-EF212F9D2268}"/>
              </a:ext>
            </a:extLst>
          </p:cNvPr>
          <p:cNvSpPr>
            <a:spLocks xmlns:a="http://schemas.openxmlformats.org/drawingml/2006/main" noGrp="1"/>
          </p:cNvSpPr>
          <p:nvPr/>
        </p:nvSpPr>
        <p:spPr>
          <a:xfrm xmlns:a="http://schemas.openxmlformats.org/drawingml/2006/main">
            <a:off x="79248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 response</a:t>
            </a:r>
          </a:p>
        </p:txBody>
      </p:sp>
      <p:sp>
        <p:nvSpPr>
          <p:cNvPr id="11" name="">
            <a:extLst xmlns:a="http://schemas.openxmlformats.org/drawingml/2006/main">
              <a:ext uri="{FF2B5EF4-FFF2-40B4-BE49-F238E27FC236}">
                <a16:creationId xmlns:a16="http://schemas.microsoft.com/office/drawing/2014/main" id="{3864A41E-1193-4665-B934-D779EC12E684}"/>
              </a:ext>
            </a:extLst>
          </p:cNvPr>
          <p:cNvSpPr>
            <a:spLocks xmlns:a="http://schemas.openxmlformats.org/drawingml/2006/main" noGrp="1"/>
          </p:cNvSpPr>
          <p:nvPr/>
        </p:nvSpPr>
        <p:spPr>
          <a:xfrm xmlns:a="http://schemas.openxmlformats.org/drawingml/2006/main">
            <a:off x="7810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A24CCF8-3B8B-48E4-BF72-89F0EBEEBCA6}"/>
              </a:ext>
            </a:extLst>
          </p:cNvPr>
          <p:cNvSpPr>
            <a:spLocks xmlns:a="http://schemas.openxmlformats.org/drawingml/2006/main" noGrp="1"/>
          </p:cNvSpPr>
          <p:nvPr/>
        </p:nvSpPr>
        <p:spPr>
          <a:xfrm xmlns:a="http://schemas.openxmlformats.org/drawingml/2006/main">
            <a:off x="8763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cyanosis, or altered consciousness</a:t>
            </a:r>
          </a:p>
        </p:txBody>
      </p:sp>
      <p:sp>
        <p:nvSpPr>
          <p:cNvPr id="13" name="">
            <a:extLst xmlns:a="http://schemas.openxmlformats.org/drawingml/2006/main">
              <a:ext uri="{FF2B5EF4-FFF2-40B4-BE49-F238E27FC236}">
                <a16:creationId xmlns:a16="http://schemas.microsoft.com/office/drawing/2014/main" id="{0250D1F0-A5A6-4421-97B1-D47C79CEC1E4}"/>
              </a:ext>
            </a:extLst>
          </p:cNvPr>
          <p:cNvSpPr>
            <a:spLocks xmlns:a="http://schemas.openxmlformats.org/drawingml/2006/main" noGrp="1"/>
          </p:cNvSpPr>
          <p:nvPr/>
        </p:nvSpPr>
        <p:spPr>
          <a:xfrm xmlns:a="http://schemas.openxmlformats.org/drawingml/2006/main">
            <a:off x="430530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60F14DF-20BE-460C-9C68-5CB1CA887B45}"/>
              </a:ext>
            </a:extLst>
          </p:cNvPr>
          <p:cNvSpPr>
            <a:spLocks xmlns:a="http://schemas.openxmlformats.org/drawingml/2006/main" noGrp="1"/>
          </p:cNvSpPr>
          <p:nvPr/>
        </p:nvSpPr>
        <p:spPr>
          <a:xfrm xmlns:a="http://schemas.openxmlformats.org/drawingml/2006/main">
            <a:off x="440055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 or thoracic complication</a:t>
            </a:r>
          </a:p>
        </p:txBody>
      </p:sp>
      <p:sp>
        <p:nvSpPr>
          <p:cNvPr id="15" name="">
            <a:extLst xmlns:a="http://schemas.openxmlformats.org/drawingml/2006/main">
              <a:ext uri="{FF2B5EF4-FFF2-40B4-BE49-F238E27FC236}">
                <a16:creationId xmlns:a16="http://schemas.microsoft.com/office/drawing/2014/main" id="{5DAC689C-2D4B-4D4E-B4C7-2FCBFFAE7A15}"/>
              </a:ext>
            </a:extLst>
          </p:cNvPr>
          <p:cNvSpPr>
            <a:spLocks xmlns:a="http://schemas.openxmlformats.org/drawingml/2006/main" noGrp="1"/>
          </p:cNvSpPr>
          <p:nvPr/>
        </p:nvSpPr>
        <p:spPr>
          <a:xfrm xmlns:a="http://schemas.openxmlformats.org/drawingml/2006/main">
            <a:off x="78295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9F11A56-E4BE-450F-9BD1-06E3BB800FB2}"/>
              </a:ext>
            </a:extLst>
          </p:cNvPr>
          <p:cNvSpPr>
            <a:spLocks xmlns:a="http://schemas.openxmlformats.org/drawingml/2006/main" noGrp="1"/>
          </p:cNvSpPr>
          <p:nvPr/>
        </p:nvSpPr>
        <p:spPr>
          <a:xfrm xmlns:a="http://schemas.openxmlformats.org/drawingml/2006/main">
            <a:off x="79248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clamp or protect the system as trained, call emergency response, and support ABCs</a:t>
            </a:r>
          </a:p>
        </p:txBody>
      </p:sp>
      <p:sp>
        <p:nvSpPr>
          <p:cNvPr id="17" name="">
            <a:extLst xmlns:a="http://schemas.openxmlformats.org/drawingml/2006/main">
              <a:ext uri="{FF2B5EF4-FFF2-40B4-BE49-F238E27FC236}">
                <a16:creationId xmlns:a16="http://schemas.microsoft.com/office/drawing/2014/main" id="{61F6369B-747E-4348-B031-906CA2DFFAEA}"/>
              </a:ext>
            </a:extLst>
          </p:cNvPr>
          <p:cNvSpPr>
            <a:spLocks xmlns:a="http://schemas.openxmlformats.org/drawingml/2006/main" noGrp="1"/>
          </p:cNvSpPr>
          <p:nvPr/>
        </p:nvSpPr>
        <p:spPr>
          <a:xfrm xmlns:a="http://schemas.openxmlformats.org/drawingml/2006/main">
            <a:off x="7810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8D0A242-56E5-4F19-A3B4-311FDFBBB8B4}"/>
              </a:ext>
            </a:extLst>
          </p:cNvPr>
          <p:cNvSpPr>
            <a:spLocks xmlns:a="http://schemas.openxmlformats.org/drawingml/2006/main" noGrp="1"/>
          </p:cNvSpPr>
          <p:nvPr/>
        </p:nvSpPr>
        <p:spPr>
          <a:xfrm xmlns:a="http://schemas.openxmlformats.org/drawingml/2006/main">
            <a:off x="8763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Neck, chest, shoulder, or arm swelling</a:t>
            </a:r>
          </a:p>
        </p:txBody>
      </p:sp>
      <p:sp>
        <p:nvSpPr>
          <p:cNvPr id="19" name="">
            <a:extLst xmlns:a="http://schemas.openxmlformats.org/drawingml/2006/main">
              <a:ext uri="{FF2B5EF4-FFF2-40B4-BE49-F238E27FC236}">
                <a16:creationId xmlns:a16="http://schemas.microsoft.com/office/drawing/2014/main" id="{4E11CD54-D175-4396-99D9-9E454331CDA3}"/>
              </a:ext>
            </a:extLst>
          </p:cNvPr>
          <p:cNvSpPr>
            <a:spLocks xmlns:a="http://schemas.openxmlformats.org/drawingml/2006/main" noGrp="1"/>
          </p:cNvSpPr>
          <p:nvPr/>
        </p:nvSpPr>
        <p:spPr>
          <a:xfrm xmlns:a="http://schemas.openxmlformats.org/drawingml/2006/main">
            <a:off x="430530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5565649-F5F6-40F2-B6DC-3D6EAE2E96F3}"/>
              </a:ext>
            </a:extLst>
          </p:cNvPr>
          <p:cNvSpPr>
            <a:spLocks xmlns:a="http://schemas.openxmlformats.org/drawingml/2006/main" noGrp="1"/>
          </p:cNvSpPr>
          <p:nvPr/>
        </p:nvSpPr>
        <p:spPr>
          <a:xfrm xmlns:a="http://schemas.openxmlformats.org/drawingml/2006/main">
            <a:off x="440055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Malposition, infiltration, or thrombosis</a:t>
            </a:r>
          </a:p>
        </p:txBody>
      </p:sp>
      <p:sp>
        <p:nvSpPr>
          <p:cNvPr id="21" name="">
            <a:extLst xmlns:a="http://schemas.openxmlformats.org/drawingml/2006/main">
              <a:ext uri="{FF2B5EF4-FFF2-40B4-BE49-F238E27FC236}">
                <a16:creationId xmlns:a16="http://schemas.microsoft.com/office/drawing/2014/main" id="{CF1485C3-EE4A-4361-B41E-A1F273C950B2}"/>
              </a:ext>
            </a:extLst>
          </p:cNvPr>
          <p:cNvSpPr>
            <a:spLocks xmlns:a="http://schemas.openxmlformats.org/drawingml/2006/main" noGrp="1"/>
          </p:cNvSpPr>
          <p:nvPr/>
        </p:nvSpPr>
        <p:spPr>
          <a:xfrm xmlns:a="http://schemas.openxmlformats.org/drawingml/2006/main">
            <a:off x="78295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4937C50-B242-49D3-8096-9D93F329A7A6}"/>
              </a:ext>
            </a:extLst>
          </p:cNvPr>
          <p:cNvSpPr>
            <a:spLocks xmlns:a="http://schemas.openxmlformats.org/drawingml/2006/main" noGrp="1"/>
          </p:cNvSpPr>
          <p:nvPr/>
        </p:nvSpPr>
        <p:spPr>
          <a:xfrm xmlns:a="http://schemas.openxmlformats.org/drawingml/2006/main">
            <a:off x="79248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use and obtain urgent qualified assessment</a:t>
            </a:r>
          </a:p>
        </p:txBody>
      </p:sp>
      <p:sp>
        <p:nvSpPr>
          <p:cNvPr id="23" name="">
            <a:extLst xmlns:a="http://schemas.openxmlformats.org/drawingml/2006/main">
              <a:ext uri="{FF2B5EF4-FFF2-40B4-BE49-F238E27FC236}">
                <a16:creationId xmlns:a16="http://schemas.microsoft.com/office/drawing/2014/main" id="{B2AC459A-1A84-45CC-B6E6-ED961DD1C5D3}"/>
              </a:ext>
            </a:extLst>
          </p:cNvPr>
          <p:cNvSpPr>
            <a:spLocks xmlns:a="http://schemas.openxmlformats.org/drawingml/2006/main" noGrp="1"/>
          </p:cNvSpPr>
          <p:nvPr/>
        </p:nvSpPr>
        <p:spPr>
          <a:xfrm xmlns:a="http://schemas.openxmlformats.org/drawingml/2006/main">
            <a:off x="7810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C1A083C-63C7-421E-9C31-B4700076B6FC}"/>
              </a:ext>
            </a:extLst>
          </p:cNvPr>
          <p:cNvSpPr>
            <a:spLocks xmlns:a="http://schemas.openxmlformats.org/drawingml/2006/main" noGrp="1"/>
          </p:cNvSpPr>
          <p:nvPr/>
        </p:nvSpPr>
        <p:spPr>
          <a:xfrm xmlns:a="http://schemas.openxmlformats.org/drawingml/2006/main">
            <a:off x="8763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fever, or chills</a:t>
            </a:r>
          </a:p>
        </p:txBody>
      </p:sp>
      <p:sp>
        <p:nvSpPr>
          <p:cNvPr id="25" name="">
            <a:extLst xmlns:a="http://schemas.openxmlformats.org/drawingml/2006/main">
              <a:ext uri="{FF2B5EF4-FFF2-40B4-BE49-F238E27FC236}">
                <a16:creationId xmlns:a16="http://schemas.microsoft.com/office/drawing/2014/main" id="{74BD22C2-EF67-489A-852E-616593E74067}"/>
              </a:ext>
            </a:extLst>
          </p:cNvPr>
          <p:cNvSpPr>
            <a:spLocks xmlns:a="http://schemas.openxmlformats.org/drawingml/2006/main" noGrp="1"/>
          </p:cNvSpPr>
          <p:nvPr/>
        </p:nvSpPr>
        <p:spPr>
          <a:xfrm xmlns:a="http://schemas.openxmlformats.org/drawingml/2006/main">
            <a:off x="430530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8526C6B-53C9-4CD0-9CF9-1BB7DEECBF20}"/>
              </a:ext>
            </a:extLst>
          </p:cNvPr>
          <p:cNvSpPr>
            <a:spLocks xmlns:a="http://schemas.openxmlformats.org/drawingml/2006/main" noGrp="1"/>
          </p:cNvSpPr>
          <p:nvPr/>
        </p:nvSpPr>
        <p:spPr>
          <a:xfrm xmlns:a="http://schemas.openxmlformats.org/drawingml/2006/main">
            <a:off x="440055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27" name="">
            <a:extLst xmlns:a="http://schemas.openxmlformats.org/drawingml/2006/main">
              <a:ext uri="{FF2B5EF4-FFF2-40B4-BE49-F238E27FC236}">
                <a16:creationId xmlns:a16="http://schemas.microsoft.com/office/drawing/2014/main" id="{E6CB5218-9A17-4E48-AB93-0DC2FDD84A2B}"/>
              </a:ext>
            </a:extLst>
          </p:cNvPr>
          <p:cNvSpPr>
            <a:spLocks xmlns:a="http://schemas.openxmlformats.org/drawingml/2006/main" noGrp="1"/>
          </p:cNvSpPr>
          <p:nvPr/>
        </p:nvSpPr>
        <p:spPr>
          <a:xfrm xmlns:a="http://schemas.openxmlformats.org/drawingml/2006/main">
            <a:off x="78295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0EF38D5-C7D6-4CFD-B001-FDB29DEC8E63}"/>
              </a:ext>
            </a:extLst>
          </p:cNvPr>
          <p:cNvSpPr>
            <a:spLocks xmlns:a="http://schemas.openxmlformats.org/drawingml/2006/main" noGrp="1"/>
          </p:cNvSpPr>
          <p:nvPr/>
        </p:nvSpPr>
        <p:spPr>
          <a:xfrm xmlns:a="http://schemas.openxmlformats.org/drawingml/2006/main">
            <a:off x="79248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notify, and follow culture and device-management orders</a:t>
            </a:r>
          </a:p>
        </p:txBody>
      </p:sp>
      <p:sp>
        <p:nvSpPr>
          <p:cNvPr id="29" name="">
            <a:extLst xmlns:a="http://schemas.openxmlformats.org/drawingml/2006/main">
              <a:ext uri="{FF2B5EF4-FFF2-40B4-BE49-F238E27FC236}">
                <a16:creationId xmlns:a16="http://schemas.microsoft.com/office/drawing/2014/main" id="{E7CD6E26-51D7-40D1-9819-95917D1728EA}"/>
              </a:ext>
            </a:extLst>
          </p:cNvPr>
          <p:cNvSpPr>
            <a:spLocks xmlns:a="http://schemas.openxmlformats.org/drawingml/2006/main" noGrp="1"/>
          </p:cNvSpPr>
          <p:nvPr/>
        </p:nvSpPr>
        <p:spPr>
          <a:xfrm xmlns:a="http://schemas.openxmlformats.org/drawingml/2006/main">
            <a:off x="7810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7E39568-1C01-4F04-8A54-A8E64E779661}"/>
              </a:ext>
            </a:extLst>
          </p:cNvPr>
          <p:cNvSpPr>
            <a:spLocks xmlns:a="http://schemas.openxmlformats.org/drawingml/2006/main" noGrp="1"/>
          </p:cNvSpPr>
          <p:nvPr/>
        </p:nvSpPr>
        <p:spPr>
          <a:xfrm xmlns:a="http://schemas.openxmlformats.org/drawingml/2006/main">
            <a:off x="8763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absent blood return, leaking, or damaged catheter</a:t>
            </a:r>
          </a:p>
        </p:txBody>
      </p:sp>
      <p:sp>
        <p:nvSpPr>
          <p:cNvPr id="31" name="">
            <a:extLst xmlns:a="http://schemas.openxmlformats.org/drawingml/2006/main">
              <a:ext uri="{FF2B5EF4-FFF2-40B4-BE49-F238E27FC236}">
                <a16:creationId xmlns:a16="http://schemas.microsoft.com/office/drawing/2014/main" id="{C6F5B28F-4B31-45E1-AA35-D7CE423FF698}"/>
              </a:ext>
            </a:extLst>
          </p:cNvPr>
          <p:cNvSpPr>
            <a:spLocks xmlns:a="http://schemas.openxmlformats.org/drawingml/2006/main" noGrp="1"/>
          </p:cNvSpPr>
          <p:nvPr/>
        </p:nvSpPr>
        <p:spPr>
          <a:xfrm xmlns:a="http://schemas.openxmlformats.org/drawingml/2006/main">
            <a:off x="430530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5069D8F-E9A5-4117-838B-AAA7A1CC94C6}"/>
              </a:ext>
            </a:extLst>
          </p:cNvPr>
          <p:cNvSpPr>
            <a:spLocks xmlns:a="http://schemas.openxmlformats.org/drawingml/2006/main" noGrp="1"/>
          </p:cNvSpPr>
          <p:nvPr/>
        </p:nvSpPr>
        <p:spPr>
          <a:xfrm xmlns:a="http://schemas.openxmlformats.org/drawingml/2006/main">
            <a:off x="440055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or device failure</a:t>
            </a:r>
          </a:p>
        </p:txBody>
      </p:sp>
      <p:sp>
        <p:nvSpPr>
          <p:cNvPr id="33" name="">
            <a:extLst xmlns:a="http://schemas.openxmlformats.org/drawingml/2006/main">
              <a:ext uri="{FF2B5EF4-FFF2-40B4-BE49-F238E27FC236}">
                <a16:creationId xmlns:a16="http://schemas.microsoft.com/office/drawing/2014/main" id="{673870A6-16C8-4AC1-A390-43D84ECF0CFF}"/>
              </a:ext>
            </a:extLst>
          </p:cNvPr>
          <p:cNvSpPr>
            <a:spLocks xmlns:a="http://schemas.openxmlformats.org/drawingml/2006/main" noGrp="1"/>
          </p:cNvSpPr>
          <p:nvPr/>
        </p:nvSpPr>
        <p:spPr>
          <a:xfrm xmlns:a="http://schemas.openxmlformats.org/drawingml/2006/main">
            <a:off x="78295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5087CC77-F456-46D0-ADCC-413DFE629D00}"/>
              </a:ext>
            </a:extLst>
          </p:cNvPr>
          <p:cNvSpPr>
            <a:spLocks xmlns:a="http://schemas.openxmlformats.org/drawingml/2006/main" noGrp="1"/>
          </p:cNvSpPr>
          <p:nvPr/>
        </p:nvSpPr>
        <p:spPr>
          <a:xfrm xmlns:a="http://schemas.openxmlformats.org/drawingml/2006/main">
            <a:off x="79248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a flush; stop use and escalate</a:t>
            </a:r>
          </a:p>
        </p:txBody>
      </p:sp>
      <p:sp>
        <p:nvSpPr>
          <p:cNvPr id="35" name="">
            <a:extLst xmlns:a="http://schemas.openxmlformats.org/drawingml/2006/main">
              <a:ext uri="{FF2B5EF4-FFF2-40B4-BE49-F238E27FC236}">
                <a16:creationId xmlns:a16="http://schemas.microsoft.com/office/drawing/2014/main" id="{4847ACAF-BCA2-486C-A11E-B7644B0B25FF}"/>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remove, reposition, repair, instill a declotting agent, or access a central device unless the action is authorized and competency-validated.</a:t>
            </a:r>
          </a:p>
        </p:txBody>
      </p:sp>
    </p:spTree>
    <p:extLst>
      <p:ext uri="{BB962C8B-B14F-4D97-AF65-F5344CB8AC3E}">
        <p14:creationId xmlns:p14="http://schemas.microsoft.com/office/powerpoint/2010/main" val="129396900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BAA4A5-A2F6-48B5-A476-006F9A2DA0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4BFEBB-F544-45A3-A800-9CF62BD4BC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Removal checkoff includes catheter integrity</a:t>
            </a:r>
          </a:p>
        </p:txBody>
      </p:sp>
      <p:sp>
        <p:nvSpPr>
          <p:cNvPr id="3" name="">
            <a:extLst xmlns:a="http://schemas.openxmlformats.org/drawingml/2006/main">
              <a:ext uri="{FF2B5EF4-FFF2-40B4-BE49-F238E27FC236}">
                <a16:creationId xmlns:a16="http://schemas.microsoft.com/office/drawing/2014/main" id="{D7203E4A-2D47-41BA-8C50-B28B5150B1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06096A0-B928-4D4A-A034-0980675F19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8A1D7190-D0AC-4FA6-9474-73378F31923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Stop all infusates and remove the dressing while supporting the skin and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before removal, withdraw the catheter slowly and steadily, and achieve hemostasis.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removed catheter and compare its condition and length with the expected intact device.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catheter is not intact, do not discard it; immobilize the extremity as directed and notify the supervising clinician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the site, catheter condition, hemostasis, dressing, patient teaching, and response.</a:t>
            </a:r>
          </a:p>
        </p:txBody>
      </p:sp>
      <p:sp>
        <p:nvSpPr>
          <p:cNvPr id="6" name="">
            <a:extLst xmlns:a="http://schemas.openxmlformats.org/drawingml/2006/main">
              <a:ext uri="{FF2B5EF4-FFF2-40B4-BE49-F238E27FC236}">
                <a16:creationId xmlns:a16="http://schemas.microsoft.com/office/drawing/2014/main" id="{6FADF677-4C62-4521-B1B8-8C904B742A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56093613"/>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ACA177-1D81-443A-AE11-1C31D6AC70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9ABE7C-171F-48C7-90EB-E58762075C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3" name="">
            <a:extLst xmlns:a="http://schemas.openxmlformats.org/drawingml/2006/main">
              <a:ext uri="{FF2B5EF4-FFF2-40B4-BE49-F238E27FC236}">
                <a16:creationId xmlns:a16="http://schemas.microsoft.com/office/drawing/2014/main" id="{5A20AAC4-5D44-472F-B085-45E8BAA844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64BB0AF-B35B-487F-9444-F5F75C3944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2DB836A0-A17A-45B6-94B9-97B5F4A9C44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6" name="">
            <a:extLst xmlns:a="http://schemas.openxmlformats.org/drawingml/2006/main">
              <a:ext uri="{FF2B5EF4-FFF2-40B4-BE49-F238E27FC236}">
                <a16:creationId xmlns:a16="http://schemas.microsoft.com/office/drawing/2014/main" id="{5E181A07-2130-4321-82EF-5326EE5229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77231631"/>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ED5A72C-441A-471B-BBE3-39E51117C6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BAFEB1-B41C-4DF3-9FC4-6EBFDB1FCA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3" name="">
            <a:extLst xmlns:a="http://schemas.openxmlformats.org/drawingml/2006/main">
              <a:ext uri="{FF2B5EF4-FFF2-40B4-BE49-F238E27FC236}">
                <a16:creationId xmlns:a16="http://schemas.microsoft.com/office/drawing/2014/main" id="{FDC49394-5171-4234-9306-18D7B7536B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1F4B1ED-20E1-42E1-9DE7-C4CA6728C9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CA1CF88E-5554-49A0-95B6-2AB5F9B02D39}"/>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220D4DD-02EC-47B2-B1D1-E281CE070AF0}"/>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1D3C6ABC-4501-4F3D-934E-8DF4E3D3C717}"/>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99510C5-CF78-4988-AC81-34A407C483F2}"/>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9" name="">
            <a:extLst xmlns:a="http://schemas.openxmlformats.org/drawingml/2006/main">
              <a:ext uri="{FF2B5EF4-FFF2-40B4-BE49-F238E27FC236}">
                <a16:creationId xmlns:a16="http://schemas.microsoft.com/office/drawing/2014/main" id="{2F440B62-D692-46F2-B6E6-F6A2664628EF}"/>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E3B627A-5B7F-423D-BE0C-2EAEBF73BAFE}"/>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1" name="">
            <a:extLst xmlns:a="http://schemas.openxmlformats.org/drawingml/2006/main">
              <a:ext uri="{FF2B5EF4-FFF2-40B4-BE49-F238E27FC236}">
                <a16:creationId xmlns:a16="http://schemas.microsoft.com/office/drawing/2014/main" id="{63C20957-2579-47AB-A69A-450200245AE4}"/>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3534C6E-1AB1-4735-9AA3-CC32D892F4C4}"/>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3" name="">
            <a:extLst xmlns:a="http://schemas.openxmlformats.org/drawingml/2006/main">
              <a:ext uri="{FF2B5EF4-FFF2-40B4-BE49-F238E27FC236}">
                <a16:creationId xmlns:a16="http://schemas.microsoft.com/office/drawing/2014/main" id="{8CC14303-7E68-4255-B42C-F88B85C98624}"/>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9C9AECE-82DB-4CBB-82C3-7F610D3263CD}"/>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5" name="">
            <a:extLst xmlns:a="http://schemas.openxmlformats.org/drawingml/2006/main">
              <a:ext uri="{FF2B5EF4-FFF2-40B4-BE49-F238E27FC236}">
                <a16:creationId xmlns:a16="http://schemas.microsoft.com/office/drawing/2014/main" id="{846DEA18-59B6-462B-A3B9-CE5A2F129A05}"/>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78C7AC7-CF70-4015-ABC5-F528CE04036D}"/>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7" name="">
            <a:extLst xmlns:a="http://schemas.openxmlformats.org/drawingml/2006/main">
              <a:ext uri="{FF2B5EF4-FFF2-40B4-BE49-F238E27FC236}">
                <a16:creationId xmlns:a16="http://schemas.microsoft.com/office/drawing/2014/main" id="{DA0BDDDD-4828-4160-BA55-08C489F3E8CB}"/>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9133A01-2256-4745-8402-0278C416FBA1}"/>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9" name="">
            <a:extLst xmlns:a="http://schemas.openxmlformats.org/drawingml/2006/main">
              <a:ext uri="{FF2B5EF4-FFF2-40B4-BE49-F238E27FC236}">
                <a16:creationId xmlns:a16="http://schemas.microsoft.com/office/drawing/2014/main" id="{52F7C2F8-9790-44B4-9973-3DCEBAE730DB}"/>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B39FB63-F3D3-4BB9-A60D-5A531D9E1384}"/>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1" name="">
            <a:extLst xmlns:a="http://schemas.openxmlformats.org/drawingml/2006/main">
              <a:ext uri="{FF2B5EF4-FFF2-40B4-BE49-F238E27FC236}">
                <a16:creationId xmlns:a16="http://schemas.microsoft.com/office/drawing/2014/main" id="{E2A0896D-A9E4-4ED0-BE08-09F5BC5D2C2B}"/>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C3ECBD3-FDE8-4BF0-A481-E7A46ED20603}"/>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3" name="">
            <a:extLst xmlns:a="http://schemas.openxmlformats.org/drawingml/2006/main">
              <a:ext uri="{FF2B5EF4-FFF2-40B4-BE49-F238E27FC236}">
                <a16:creationId xmlns:a16="http://schemas.microsoft.com/office/drawing/2014/main" id="{0A89B76A-61BB-4313-B9E0-EB8AF8957BA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D588575-D183-40F3-B23B-2AA9786AE54E}"/>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5" name="">
            <a:extLst xmlns:a="http://schemas.openxmlformats.org/drawingml/2006/main">
              <a:ext uri="{FF2B5EF4-FFF2-40B4-BE49-F238E27FC236}">
                <a16:creationId xmlns:a16="http://schemas.microsoft.com/office/drawing/2014/main" id="{F3CCBE85-6CDB-429C-A9D9-0DF12F1E796B}"/>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BE00C77-ED4B-4D96-9156-16246C048AA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7" name="">
            <a:extLst xmlns:a="http://schemas.openxmlformats.org/drawingml/2006/main">
              <a:ext uri="{FF2B5EF4-FFF2-40B4-BE49-F238E27FC236}">
                <a16:creationId xmlns:a16="http://schemas.microsoft.com/office/drawing/2014/main" id="{DBC3C1AA-5D8D-4968-8352-D2CE64A27FC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FBA5F71-03F9-440F-9B38-F56C0F4E100F}"/>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46995370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BC247F-2399-48E3-9F38-DC171DB51D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DEEB62-B0B1-4B07-8574-FEBD4F5D0B9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8562C1DE-2B3F-4C9E-8ABB-5FCA61B25B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76730CF-CEBF-470D-B6EC-DEEB86F9C2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90D258AB-B52E-4CB7-AEB6-4DF4E3DC5A17}"/>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7E298051-2F12-4DC8-88C6-66CE1217BD11}"/>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2119511423"/>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D423BF-4621-47DD-80D6-D4A7EA4DDD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61A285D-0823-4DA5-BF0D-CF499AB88E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7E80D840-A21C-4380-8F2A-555648404B0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0A8AD03-E741-4B6A-A74E-90A65D1E37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678F7638-5DB3-4740-A645-FE6C5E044371}"/>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00AA16F6-5FAF-459B-9165-890A92B8EF2A}"/>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042290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2026-10-23T09:45:48.7670000Z</dcterms:created>
  <dcterms:modified xsi:type="dcterms:W3CDTF">2026-10-23T09:45:48.7670000Z</dcterms:modified>
</coreProperties>
</file>