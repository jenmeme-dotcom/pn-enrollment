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75350ed115c4e47" /><Relationship Type="http://schemas.openxmlformats.org/officeDocument/2006/relationships/extended-properties" Target="/docProps/app.xml" Id="R858f3260bcd64d29" /><Relationship Type="http://schemas.openxmlformats.org/officeDocument/2006/relationships/officeDocument" Target="/ppt/presentation.xml" Id="Ra4d2e7479d17429a" /></Relationships>
</file>

<file path=ppt/presentation.xml><?xml version="1.0" encoding="utf-8"?>
<p:presentation xmlns:p="http://schemas.openxmlformats.org/presentationml/2006/main">
  <p:sldMasterIdLst>
    <p:sldMasterId xmlns:r="http://schemas.openxmlformats.org/officeDocument/2006/relationships" id="2147483648" r:id="Ra71d921c04534024"/>
  </p:sldMasterIdLst>
  <p:notesMasterIdLst>
    <p:notesMasterId xmlns:r="http://schemas.openxmlformats.org/officeDocument/2006/relationships" r:id="R1d52ad98860040fc"/>
  </p:notesMasterIdLst>
  <p:sldIdLst>
    <p:sldId xmlns:r="http://schemas.openxmlformats.org/officeDocument/2006/relationships" id="256" r:id="Rbafe21db17314f16"/>
    <p:sldId xmlns:r="http://schemas.openxmlformats.org/officeDocument/2006/relationships" id="257" r:id="Re0cb26150e7647b8"/>
    <p:sldId xmlns:r="http://schemas.openxmlformats.org/officeDocument/2006/relationships" id="258" r:id="R46d29b13736a4750"/>
    <p:sldId xmlns:r="http://schemas.openxmlformats.org/officeDocument/2006/relationships" id="259" r:id="R5e44965fdfa84634"/>
    <p:sldId xmlns:r="http://schemas.openxmlformats.org/officeDocument/2006/relationships" id="260" r:id="R9a1206980a714767"/>
    <p:sldId xmlns:r="http://schemas.openxmlformats.org/officeDocument/2006/relationships" id="261" r:id="Rcc01202fb0a84af6"/>
    <p:sldId xmlns:r="http://schemas.openxmlformats.org/officeDocument/2006/relationships" id="262" r:id="Rd52db43960d14b36"/>
    <p:sldId xmlns:r="http://schemas.openxmlformats.org/officeDocument/2006/relationships" id="263" r:id="Rd83bc211bbfa43fa"/>
    <p:sldId xmlns:r="http://schemas.openxmlformats.org/officeDocument/2006/relationships" id="264" r:id="Rc56db1b38d544cfe"/>
    <p:sldId xmlns:r="http://schemas.openxmlformats.org/officeDocument/2006/relationships" id="265" r:id="Reb6ff7e9394d4d60"/>
    <p:sldId xmlns:r="http://schemas.openxmlformats.org/officeDocument/2006/relationships" id="266" r:id="Raaad93939fca465c"/>
    <p:sldId xmlns:r="http://schemas.openxmlformats.org/officeDocument/2006/relationships" id="267" r:id="Rff83fcdf0bd045f5"/>
    <p:sldId xmlns:r="http://schemas.openxmlformats.org/officeDocument/2006/relationships" id="268" r:id="R183bb3c2ad4447df"/>
    <p:sldId xmlns:r="http://schemas.openxmlformats.org/officeDocument/2006/relationships" id="269" r:id="Rde813d28cb0a4b90"/>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083fa9c036c43d0" /><Relationship Type="http://schemas.openxmlformats.org/officeDocument/2006/relationships/slideMaster" Target="/ppt/slideMasters/slideMaster1.xml" Id="Ra71d921c04534024" /><Relationship Type="http://schemas.openxmlformats.org/officeDocument/2006/relationships/notesMaster" Target="/ppt/notesMasters/notesMaster1.xml" Id="R1d52ad98860040fc" /><Relationship Type="http://schemas.openxmlformats.org/officeDocument/2006/relationships/presProps" Target="/ppt/presProps.xml" Id="R858bf9598622493c" /><Relationship Type="http://schemas.openxmlformats.org/officeDocument/2006/relationships/tableStyles" Target="/ppt/tableStyles.xml" Id="R9fc25ee1a3704064" /><Relationship Type="http://schemas.openxmlformats.org/officeDocument/2006/relationships/slide" Target="/ppt/slides/slide1.xml" Id="Rbafe21db17314f16" /><Relationship Type="http://schemas.openxmlformats.org/officeDocument/2006/relationships/slide" Target="/ppt/slides/slide2.xml" Id="Re0cb26150e7647b8" /><Relationship Type="http://schemas.openxmlformats.org/officeDocument/2006/relationships/slide" Target="/ppt/slides/slide3.xml" Id="R46d29b13736a4750" /><Relationship Type="http://schemas.openxmlformats.org/officeDocument/2006/relationships/slide" Target="/ppt/slides/slide4.xml" Id="R5e44965fdfa84634" /><Relationship Type="http://schemas.openxmlformats.org/officeDocument/2006/relationships/slide" Target="/ppt/slides/slide5.xml" Id="R9a1206980a714767" /><Relationship Type="http://schemas.openxmlformats.org/officeDocument/2006/relationships/slide" Target="/ppt/slides/slide6.xml" Id="Rcc01202fb0a84af6" /><Relationship Type="http://schemas.openxmlformats.org/officeDocument/2006/relationships/slide" Target="/ppt/slides/slide7.xml" Id="Rd52db43960d14b36" /><Relationship Type="http://schemas.openxmlformats.org/officeDocument/2006/relationships/slide" Target="/ppt/slides/slide8.xml" Id="Rd83bc211bbfa43fa" /><Relationship Type="http://schemas.openxmlformats.org/officeDocument/2006/relationships/slide" Target="/ppt/slides/slide9.xml" Id="Rc56db1b38d544cfe" /><Relationship Type="http://schemas.openxmlformats.org/officeDocument/2006/relationships/slide" Target="/ppt/slides/slide10.xml" Id="Reb6ff7e9394d4d60" /><Relationship Type="http://schemas.openxmlformats.org/officeDocument/2006/relationships/slide" Target="/ppt/slides/slide11.xml" Id="Raaad93939fca465c" /><Relationship Type="http://schemas.openxmlformats.org/officeDocument/2006/relationships/slide" Target="/ppt/slides/slide12.xml" Id="Rff83fcdf0bd045f5" /><Relationship Type="http://schemas.openxmlformats.org/officeDocument/2006/relationships/slide" Target="/ppt/slides/slide13.xml" Id="R183bb3c2ad4447df" /><Relationship Type="http://schemas.openxmlformats.org/officeDocument/2006/relationships/slide" Target="/ppt/slides/slide14.xml" Id="Rde813d28cb0a4b90"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36c424d65404dc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09edf3f94164b2d" /><Relationship Type="http://schemas.openxmlformats.org/officeDocument/2006/relationships/notesMaster" Target="/ppt/notesMasters/notesMaster1.xml" Id="Rfadf5b28580e4cc1" /></Relationships>
</file>

<file path=ppt/notesSlides/_rels/notesSlide2.xml.rels>&#65279;<?xml version="1.0" encoding="utf-8"?><Relationships xmlns="http://schemas.openxmlformats.org/package/2006/relationships"><Relationship Type="http://schemas.openxmlformats.org/officeDocument/2006/relationships/slide" Target="/ppt/slides/slide2.xml" Id="Rbfea9e6656db44fe" /><Relationship Type="http://schemas.openxmlformats.org/officeDocument/2006/relationships/notesMaster" Target="/ppt/notesMasters/notesMaster1.xml" Id="R57319dca3df84d25" /></Relationships>
</file>

<file path=ppt/notesSlides/_rels/notesSlide3.xml.rels>&#65279;<?xml version="1.0" encoding="utf-8"?><Relationships xmlns="http://schemas.openxmlformats.org/package/2006/relationships"><Relationship Type="http://schemas.openxmlformats.org/officeDocument/2006/relationships/slide" Target="/ppt/slides/slide3.xml" Id="R3301046cbca54778" /><Relationship Type="http://schemas.openxmlformats.org/officeDocument/2006/relationships/notesMaster" Target="/ppt/notesMasters/notesMaster1.xml" Id="R2fffcfd619424712" /></Relationships>
</file>

<file path=ppt/notesSlides/_rels/notesSlide4.xml.rels>&#65279;<?xml version="1.0" encoding="utf-8"?><Relationships xmlns="http://schemas.openxmlformats.org/package/2006/relationships"><Relationship Type="http://schemas.openxmlformats.org/officeDocument/2006/relationships/slide" Target="/ppt/slides/slide4.xml" Id="R2b66909767ab4c65" /><Relationship Type="http://schemas.openxmlformats.org/officeDocument/2006/relationships/notesMaster" Target="/ppt/notesMasters/notesMaster1.xml" Id="R7ae048b555a04196" /></Relationships>
</file>

<file path=ppt/notesSlides/_rels/notesSlide5.xml.rels>&#65279;<?xml version="1.0" encoding="utf-8"?><Relationships xmlns="http://schemas.openxmlformats.org/package/2006/relationships"><Relationship Type="http://schemas.openxmlformats.org/officeDocument/2006/relationships/slide" Target="/ppt/slides/slide5.xml" Id="Rdfff4ae93a6547f7" /><Relationship Type="http://schemas.openxmlformats.org/officeDocument/2006/relationships/notesMaster" Target="/ppt/notesMasters/notesMaster1.xml" Id="R2c5ccf721dbf48f4" /></Relationships>
</file>

<file path=ppt/notesSlides/_rels/notesSlide6.xml.rels>&#65279;<?xml version="1.0" encoding="utf-8"?><Relationships xmlns="http://schemas.openxmlformats.org/package/2006/relationships"><Relationship Type="http://schemas.openxmlformats.org/officeDocument/2006/relationships/slide" Target="/ppt/slides/slide6.xml" Id="Rc1d9b6c46fe741d2" /><Relationship Type="http://schemas.openxmlformats.org/officeDocument/2006/relationships/notesMaster" Target="/ppt/notesMasters/notesMaster1.xml" Id="R52136a0713964427" /></Relationships>
</file>

<file path=ppt/notesSlides/_rels/notesSlide7.xml.rels>&#65279;<?xml version="1.0" encoding="utf-8"?><Relationships xmlns="http://schemas.openxmlformats.org/package/2006/relationships"><Relationship Type="http://schemas.openxmlformats.org/officeDocument/2006/relationships/slide" Target="/ppt/slides/slide7.xml" Id="R2d80986f7f9d44cf" /><Relationship Type="http://schemas.openxmlformats.org/officeDocument/2006/relationships/notesMaster" Target="/ppt/notesMasters/notesMaster1.xml" Id="Ref537a96edc44f4f" /></Relationships>
</file>

<file path=ppt/notesSlides/_rels/notesSlide8.xml.rels>&#65279;<?xml version="1.0" encoding="utf-8"?><Relationships xmlns="http://schemas.openxmlformats.org/package/2006/relationships"><Relationship Type="http://schemas.openxmlformats.org/officeDocument/2006/relationships/slide" Target="/ppt/slides/slide8.xml" Id="R2afb27d357a74c62" /><Relationship Type="http://schemas.openxmlformats.org/officeDocument/2006/relationships/notesMaster" Target="/ppt/notesMasters/notesMaster1.xml" Id="R50a3003ae4854f08" /></Relationships>
</file>

<file path=ppt/notesSlides/_rels/notesSlide9.xml.rels>&#65279;<?xml version="1.0" encoding="utf-8"?><Relationships xmlns="http://schemas.openxmlformats.org/package/2006/relationships"><Relationship Type="http://schemas.openxmlformats.org/officeDocument/2006/relationships/slide" Target="/ppt/slides/slide9.xml" Id="Rf0596ef7e833447f" /><Relationship Type="http://schemas.openxmlformats.org/officeDocument/2006/relationships/notesMaster" Target="/ppt/notesMasters/notesMaster1.xml" Id="R0d8cc9321023408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2a360bf0376457d" /><Relationship Type="http://schemas.openxmlformats.org/officeDocument/2006/relationships/notesMaster" Target="/ppt/notesMasters/notesMaster1.xml" Id="R8cddac810424435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cc5ce96012444c5" /><Relationship Type="http://schemas.openxmlformats.org/officeDocument/2006/relationships/notesMaster" Target="/ppt/notesMasters/notesMaster1.xml" Id="R47390128b99a452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67c68fdb02e4d65" /><Relationship Type="http://schemas.openxmlformats.org/officeDocument/2006/relationships/notesMaster" Target="/ppt/notesMasters/notesMaster1.xml" Id="Rcbed51a5a6c041b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b7ee379803cd4d0a" /><Relationship Type="http://schemas.openxmlformats.org/officeDocument/2006/relationships/notesMaster" Target="/ppt/notesMasters/notesMaster1.xml" Id="R5dc95ecfeb49421a"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c41d34a7eb94a64" /><Relationship Type="http://schemas.openxmlformats.org/officeDocument/2006/relationships/notesMaster" Target="/ppt/notesMasters/notesMaster1.xml" Id="R10eca3b64077425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Venipuncture Standards and Practice, Module 7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 BMHI IVT 030 course content. Cover media: Pexels photo by Sahil Singh, https://www.pexels.com/photo/nurses-training-with-medical-mannequin-in-simulation-lab-35645529/, downloaded October 23, 2026 under the Pexels License.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Select an appropriate peripheral vein and catheter Next, Perform aseptic insertion and securement on a task trainer Next, Assess, maintain, and discontinue a peripheral IV safely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Site and device selection. First, Begin distally when appropriate. Next, Avoid compromised extremities and sites of infection, flexion, poor circulation, or prior complications. Next, Select the smallest gauge and shortest catheter that can support the ordered therapy.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Aseptic insertion. First, Perform hand hygiene, prepare and position the patient, apply the tourniquet, cleanse the site with the approved antiseptic, let it dry, stabilize the vein, observe flashback, thread the catheter, and activate sharps protection.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Securement and maintenance. First, Connect a primed extension aseptically, assess patency without force, secure the catheter, apply and label the dressing, trace tubing, start the ordered therapy, and reassess the site and patient.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Complication cues. First, Cool swelling suggests infiltration. Next, Pain, warmth, redness, or a venous cord suggests phlebitis. Next, Burning or tissue injury with a vesicant suggests extravasation. Next, Stop unsafe therapy and follow the condition-specific protocol.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Choose the site before the catheter. First, Start with the prescribed therapy: pH, osmolarity, duration, flow requirement, and vesicant risk affect device choice. Next, Select a vein that is palpable, resilient, and appropriate for the therapy. Next, Prefer the smallest suitable gauge and shortest catheter. Next, Avoid infected, injured, poorly perfused, or policy-restricted extremities and areas of flexion when possible.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Peripheral catheter selection. First, Routine fluids or intermittent medication: Use the smallest gauge that reliably supports therapy Next, Rapid volume or blood: A larger bore may be required when clinically appropriate Next, Fragile or small veins: Choose a smaller gauge and appropriate short catheter Next, Long duration or irritating therapy: Reassess whether a different vascular-access device is indicated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Insertion sequence: prepare and access. First, Verify the order, identify and teach the patient, perform hand hygiene, and gather supplies. Next, Position the limb, assess veins, apply the tourniquet, and select the site. Next, Cleanse with the approved antiseptic using the required friction and allow it to dry completely. Next, Stabilize the vein, insert bevel up, observe flashback, lower the angle, and advance the catheter—not the needle.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Insertion sequence: connect and secure. First, Release the tourniquet, apply appropriate pressure, activate the sharps safety device, and discard immediately. Next, Connect the primed extension without contaminating key parts. Next, Confirm patency using the approved assessment; never force a flush. Next, Secure and dress the catheter, label it, start the ordered therapy, teach the patient, and document.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Local complication comparison. First, Cool, pale swelling; slowed infusion: Infiltration; Stop infusion and follow infiltration protocol Next, Pain, warmth, redness, venous cord: Phlebitis; Stop infusion, remove as indicated, assess and report Next, Burning, blistering, tissue injury with vesicant: Extravasation; Stop; do not flush; follow agent-specific protocol Next, Drainage, tenderness, fever: Local or bloodstream infection; Stop unsafe use, assess, notify, and follow culture/removal policy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Complete documentation tells the clinical story. First, Record date and time, site, vein or anatomic location, catheter gauge and length when required, number of attempts, and inserter. Next, Record skin preparation, dressing, securement, patency assessment, solution, rate, pump, and patient tolerance. Next, Document teaching, complications, actions, notifications, and response.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80-108;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Palpate and select veins on a task trainer Next, Perform the complete insertion sequence without contamination Next, Discontinue the catheter and verify that it remains intact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Select an appropriate peripheral vein and catheter Next, Perform hand hygiene, prepare and position the patient, apply the tourniquet, cleanse the site with the approved antiseptic, let it dry, stabilize the vein, observe flashback, thread the catheter, and activate sharps protection. Next, Cool swelling suggests infiltration. Pain, warmth, redness, or a venous cord suggests phlebitis. Burning or tissue injury with a vesicant suggests extravasation. Stop unsafe therapy and follow the condition-specific protocol.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80;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7e9640c10de44d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8c2fbf345f34f1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85b291ed5f140e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a2add3a98c341c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fd1182bdc89475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4703f52f1f84c4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116E54E-247E-49EE-A9AC-BF72DAABF73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5E8EF1A-710F-43D1-89D6-8389B37DBEE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A16F35D-4CDD-4D75-B9B6-D57C39223602}"/>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AB70181-E7CA-49F4-BE3B-811DB743707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AD7E31E9-61E4-4FE2-B26B-0B6E5E50260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2DCE34C-AA02-4E6C-97D6-AD173170086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0D1D6CF-F6F9-4296-8503-37AD05B1848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6AE3FD9-B9FE-416B-AB39-6FA607DAFCF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D4A5682-109E-4EA5-89E8-3DF68375F65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BF7378A-EAA0-4DF6-865F-BEC8756888C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33162450d347406e" /><Relationship Type="http://schemas.openxmlformats.org/officeDocument/2006/relationships/slideLayout" Target="/ppt/slideLayouts/slideLayout1.xml" Id="R95a36669198441b9" /><Relationship Type="http://schemas.openxmlformats.org/officeDocument/2006/relationships/slideLayout" Target="/ppt/slideLayouts/slideLayout2.xml" Id="R92fa5b6aaee242d4" /><Relationship Type="http://schemas.openxmlformats.org/officeDocument/2006/relationships/slideLayout" Target="/ppt/slideLayouts/slideLayout3.xml" Id="Rbd6e67a8b99e4f1a" /><Relationship Type="http://schemas.openxmlformats.org/officeDocument/2006/relationships/slideLayout" Target="/ppt/slideLayouts/slideLayout4.xml" Id="R0d64a7957464448b" /><Relationship Type="http://schemas.openxmlformats.org/officeDocument/2006/relationships/slideLayout" Target="/ppt/slideLayouts/slideLayout5.xml" Id="Re72126ea9b3c4de9" /><Relationship Type="http://schemas.openxmlformats.org/officeDocument/2006/relationships/slideLayout" Target="/ppt/slideLayouts/slideLayout6.xml" Id="R4271b2a2cec9430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5a36669198441b9"/>
    <p:sldLayoutId xmlns:r="http://schemas.openxmlformats.org/officeDocument/2006/relationships" id="2147483650" r:id="R92fa5b6aaee242d4"/>
    <p:sldLayoutId xmlns:r="http://schemas.openxmlformats.org/officeDocument/2006/relationships" id="2147483651" r:id="Rbd6e67a8b99e4f1a"/>
    <p:sldLayoutId xmlns:r="http://schemas.openxmlformats.org/officeDocument/2006/relationships" id="2147483652" r:id="R0d64a7957464448b"/>
    <p:sldLayoutId xmlns:r="http://schemas.openxmlformats.org/officeDocument/2006/relationships" id="2147483653" r:id="Re72126ea9b3c4de9"/>
    <p:sldLayoutId xmlns:r="http://schemas.openxmlformats.org/officeDocument/2006/relationships" id="2147483654" r:id="R4271b2a2cec9430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dbcbe6c45e04e47" /><Relationship Type="http://schemas.openxmlformats.org/officeDocument/2006/relationships/image" Target="/ppt/media/image.jpeg" Id="R2cabece0bc474953" /><Relationship Type="http://schemas.openxmlformats.org/officeDocument/2006/relationships/notesSlide" Target="/ppt/notesSlides/notesSlide1.xml" Id="R3e2c96501d3f42b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b73adf6f9d841c9" /><Relationship Type="http://schemas.openxmlformats.org/officeDocument/2006/relationships/notesSlide" Target="/ppt/notesSlides/notesSlide2.xml" Id="Rfb9e8db3e0104c3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1b9670cb6a8498b" /><Relationship Type="http://schemas.openxmlformats.org/officeDocument/2006/relationships/notesSlide" Target="/ppt/notesSlides/notesSlide3.xml" Id="R8e5bf2e5bae6451e"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725421371b34d1d" /><Relationship Type="http://schemas.openxmlformats.org/officeDocument/2006/relationships/notesSlide" Target="/ppt/notesSlides/notesSlide4.xml" Id="Rb82c3dcfe810459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f67c0f806bba4c40" /><Relationship Type="http://schemas.openxmlformats.org/officeDocument/2006/relationships/notesSlide" Target="/ppt/notesSlides/notesSlide5.xml" Id="Rd38e81bb632348b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8e4faba09cf042e5" /><Relationship Type="http://schemas.openxmlformats.org/officeDocument/2006/relationships/notesSlide" Target="/ppt/notesSlides/notesSlide6.xml" Id="Rc6aecb927eef4b9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bab3c095312466c" /><Relationship Type="http://schemas.openxmlformats.org/officeDocument/2006/relationships/notesSlide" Target="/ppt/notesSlides/notesSlide7.xml" Id="R9c161a9fe5164b6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0fc6d8f86884b6f" /><Relationship Type="http://schemas.openxmlformats.org/officeDocument/2006/relationships/notesSlide" Target="/ppt/notesSlides/notesSlide8.xml" Id="R921b14ea2f444491"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00a5f9d420b49be" /><Relationship Type="http://schemas.openxmlformats.org/officeDocument/2006/relationships/notesSlide" Target="/ppt/notesSlides/notesSlide9.xml" Id="Rc890f21e99d04a4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a1a97eced3a485c" /><Relationship Type="http://schemas.openxmlformats.org/officeDocument/2006/relationships/notesSlide" Target="/ppt/notesSlides/notesSlide10.xml" Id="R9be4682ee1aa4a0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a96314d0b8740a7" /><Relationship Type="http://schemas.openxmlformats.org/officeDocument/2006/relationships/notesSlide" Target="/ppt/notesSlides/notesSlide11.xml" Id="Rbf8a0e836ac14af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61c22807d8c74b07" /><Relationship Type="http://schemas.openxmlformats.org/officeDocument/2006/relationships/notesSlide" Target="/ppt/notesSlides/notesSlide12.xml" Id="R9b46c6423d8a49d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086221547014a23" /><Relationship Type="http://schemas.openxmlformats.org/officeDocument/2006/relationships/notesSlide" Target="/ppt/notesSlides/notesSlide13.xml" Id="Rfb2b85a7f36143a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44f2646d6fe4bf8" /><Relationship Type="http://schemas.openxmlformats.org/officeDocument/2006/relationships/notesSlide" Target="/ppt/notesSlides/notesSlide14.xml" Id="Rf4c30b4354f944c0"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978740D9-6D6E-4D98-A92C-E4E10F82B720}"/>
              </a:ext>
            </a:extLst>
          </p:cNvPr>
          <p:cNvPicPr>
            <a:picLocks xmlns:a="http://schemas.openxmlformats.org/drawingml/2006/main" noChangeAspect="1"/>
          </p:cNvPicPr>
          <p:nvPr/>
        </p:nvPicPr>
        <p:blipFill>
          <a:blip xmlns:r="http://schemas.openxmlformats.org/officeDocument/2006/relationships" xmlns:a="http://schemas.openxmlformats.org/drawingml/2006/main" r:embed="R2cabece0bc474953"/>
          <a:srcRect xmlns:a="http://schemas.openxmlformats.org/drawingml/2006/main" l="28929" t="0" r="28929"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BA087E0D-9811-4B74-9086-700000475764}"/>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BC0C5B7A-54D5-4944-B8C5-E39B1B27E709}"/>
              </a:ext>
            </a:extLst>
          </p:cNvPr>
          <p:cNvSpPr>
            <a:spLocks xmlns:a="http://schemas.openxmlformats.org/drawingml/2006/main" noGrp="1"/>
          </p:cNvSpPr>
          <p:nvPr/>
        </p:nvSpPr>
        <p:spPr>
          <a:xfrm xmlns:a="http://schemas.openxmlformats.org/drawingml/2006/main">
            <a:off x="7524750" y="0"/>
            <a:ext cx="333375"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4" name="">
            <a:extLst xmlns:a="http://schemas.openxmlformats.org/drawingml/2006/main">
              <a:ext uri="{FF2B5EF4-FFF2-40B4-BE49-F238E27FC236}">
                <a16:creationId xmlns:a16="http://schemas.microsoft.com/office/drawing/2014/main" id="{BE4B6356-B467-47CE-9D63-ADD952800C19}"/>
              </a:ext>
            </a:extLst>
          </p:cNvPr>
          <p:cNvSpPr>
            <a:spLocks xmlns:a="http://schemas.openxmlformats.org/drawingml/2006/main" noGrp="1"/>
          </p:cNvSpPr>
          <p:nvPr/>
        </p:nvSpPr>
        <p:spPr>
          <a:xfrm xmlns:a="http://schemas.openxmlformats.org/drawingml/2006/main">
            <a:off x="723900" y="6286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5" name="">
            <a:extLst xmlns:a="http://schemas.openxmlformats.org/drawingml/2006/main">
              <a:ext uri="{FF2B5EF4-FFF2-40B4-BE49-F238E27FC236}">
                <a16:creationId xmlns:a16="http://schemas.microsoft.com/office/drawing/2014/main" id="{9DA8971D-3E81-4D7D-B12C-D8B07C33C6C3}"/>
              </a:ext>
            </a:extLst>
          </p:cNvPr>
          <p:cNvSpPr>
            <a:spLocks xmlns:a="http://schemas.openxmlformats.org/drawingml/2006/main" noGrp="1"/>
          </p:cNvSpPr>
          <p:nvPr/>
        </p:nvSpPr>
        <p:spPr>
          <a:xfrm xmlns:a="http://schemas.openxmlformats.org/drawingml/2006/main">
            <a:off x="723900" y="161925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600" b="1">
                <a:solidFill>
                  <a:srgbClr val="FFFFFF"/>
                </a:solidFill>
                <a:latin typeface="Helvetica Neue"/>
                <a:ea typeface="Helvetica Neue"/>
                <a:cs typeface="Helvetica Neue"/>
              </a:defRPr>
            </a:defPPr>
            <a:lvl1pPr>
              <a:defRPr sz="3600" b="1">
                <a:solidFill>
                  <a:srgbClr val="FFFFFF"/>
                </a:solidFill>
                <a:latin typeface="Helvetica Neue"/>
                <a:ea typeface="Helvetica Neue"/>
                <a:cs typeface="Helvetica Neue"/>
              </a:defRPr>
            </a:lvl1pPr>
            <a:lvl2pPr>
              <a:defRPr sz="3600" b="1">
                <a:solidFill>
                  <a:srgbClr val="FFFFFF"/>
                </a:solidFill>
                <a:latin typeface="Helvetica Neue"/>
                <a:ea typeface="Helvetica Neue"/>
                <a:cs typeface="Helvetica Neue"/>
              </a:defRPr>
            </a:lvl2pPr>
            <a:lvl3pPr>
              <a:defRPr sz="3600" b="1">
                <a:solidFill>
                  <a:srgbClr val="FFFFFF"/>
                </a:solidFill>
                <a:latin typeface="Helvetica Neue"/>
                <a:ea typeface="Helvetica Neue"/>
                <a:cs typeface="Helvetica Neue"/>
              </a:defRPr>
            </a:lvl3pPr>
            <a:lvl4pPr>
              <a:defRPr sz="3600" b="1">
                <a:solidFill>
                  <a:srgbClr val="FFFFFF"/>
                </a:solidFill>
                <a:latin typeface="Helvetica Neue"/>
                <a:ea typeface="Helvetica Neue"/>
                <a:cs typeface="Helvetica Neue"/>
              </a:defRPr>
            </a:lvl4pPr>
            <a:lvl5pPr>
              <a:defRPr sz="3600" b="1">
                <a:solidFill>
                  <a:srgbClr val="FFFFFF"/>
                </a:solidFill>
                <a:latin typeface="Helvetica Neue"/>
                <a:ea typeface="Helvetica Neue"/>
                <a:cs typeface="Helvetica Neue"/>
              </a:defRPr>
            </a:lvl5pPr>
            <a:lvl6pPr>
              <a:defRPr sz="3600" b="1">
                <a:solidFill>
                  <a:srgbClr val="FFFFFF"/>
                </a:solidFill>
                <a:latin typeface="Helvetica Neue"/>
                <a:ea typeface="Helvetica Neue"/>
                <a:cs typeface="Helvetica Neue"/>
              </a:defRPr>
            </a:lvl6pPr>
            <a:lvl7pPr>
              <a:defRPr sz="3600" b="1">
                <a:solidFill>
                  <a:srgbClr val="FFFFFF"/>
                </a:solidFill>
                <a:latin typeface="Helvetica Neue"/>
                <a:ea typeface="Helvetica Neue"/>
                <a:cs typeface="Helvetica Neue"/>
              </a:defRPr>
            </a:lvl7pPr>
            <a:lvl8pPr>
              <a:defRPr sz="3600" b="1">
                <a:solidFill>
                  <a:srgbClr val="FFFFFF"/>
                </a:solidFill>
                <a:latin typeface="Helvetica Neue"/>
                <a:ea typeface="Helvetica Neue"/>
                <a:cs typeface="Helvetica Neue"/>
              </a:defRPr>
            </a:lvl8pPr>
            <a:lvl9pPr>
              <a:defRPr sz="3600" b="1">
                <a:solidFill>
                  <a:srgbClr val="FFFFFF"/>
                </a:solidFill>
                <a:latin typeface="Helvetica Neue"/>
                <a:ea typeface="Helvetica Neue"/>
                <a:cs typeface="Helvetica Neue"/>
              </a:defRPr>
            </a:lvl9pPr>
          </a:lstStyle>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Venipuncture Standards and Practice</a:t>
            </a:r>
          </a:p>
        </p:txBody>
      </p:sp>
      <p:sp>
        <p:nvSpPr>
          <p:cNvPr id="6" name="">
            <a:extLst xmlns:a="http://schemas.openxmlformats.org/drawingml/2006/main">
              <a:ext uri="{FF2B5EF4-FFF2-40B4-BE49-F238E27FC236}">
                <a16:creationId xmlns:a16="http://schemas.microsoft.com/office/drawing/2014/main" id="{79BF9715-5826-4791-B2F9-FBEBAB1947AB}"/>
              </a:ext>
            </a:extLst>
          </p:cNvPr>
          <p:cNvSpPr>
            <a:spLocks xmlns:a="http://schemas.openxmlformats.org/drawingml/2006/main" noGrp="1"/>
          </p:cNvSpPr>
          <p:nvPr/>
        </p:nvSpPr>
        <p:spPr>
          <a:xfrm xmlns:a="http://schemas.openxmlformats.org/drawingml/2006/main">
            <a:off x="762000" y="39433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FFFFFF"/>
                </a:solidFill>
                <a:latin typeface="Helvetica Neue"/>
                <a:ea typeface="Helvetica Neue"/>
                <a:cs typeface="Helvetica Neue"/>
              </a:defRPr>
            </a:defPPr>
            <a:lvl1pPr>
              <a:defRPr sz="1725">
                <a:solidFill>
                  <a:srgbClr val="FFFFFF"/>
                </a:solidFill>
                <a:latin typeface="Helvetica Neue"/>
                <a:ea typeface="Helvetica Neue"/>
                <a:cs typeface="Helvetica Neue"/>
              </a:defRPr>
            </a:lvl1pPr>
            <a:lvl2pPr>
              <a:defRPr sz="1725">
                <a:solidFill>
                  <a:srgbClr val="FFFFFF"/>
                </a:solidFill>
                <a:latin typeface="Helvetica Neue"/>
                <a:ea typeface="Helvetica Neue"/>
                <a:cs typeface="Helvetica Neue"/>
              </a:defRPr>
            </a:lvl2pPr>
            <a:lvl3pPr>
              <a:defRPr sz="1725">
                <a:solidFill>
                  <a:srgbClr val="FFFFFF"/>
                </a:solidFill>
                <a:latin typeface="Helvetica Neue"/>
                <a:ea typeface="Helvetica Neue"/>
                <a:cs typeface="Helvetica Neue"/>
              </a:defRPr>
            </a:lvl3pPr>
            <a:lvl4pPr>
              <a:defRPr sz="1725">
                <a:solidFill>
                  <a:srgbClr val="FFFFFF"/>
                </a:solidFill>
                <a:latin typeface="Helvetica Neue"/>
                <a:ea typeface="Helvetica Neue"/>
                <a:cs typeface="Helvetica Neue"/>
              </a:defRPr>
            </a:lvl4pPr>
            <a:lvl5pPr>
              <a:defRPr sz="1725">
                <a:solidFill>
                  <a:srgbClr val="FFFFFF"/>
                </a:solidFill>
                <a:latin typeface="Helvetica Neue"/>
                <a:ea typeface="Helvetica Neue"/>
                <a:cs typeface="Helvetica Neue"/>
              </a:defRPr>
            </a:lvl5pPr>
            <a:lvl6pPr>
              <a:defRPr sz="1725">
                <a:solidFill>
                  <a:srgbClr val="FFFFFF"/>
                </a:solidFill>
                <a:latin typeface="Helvetica Neue"/>
                <a:ea typeface="Helvetica Neue"/>
                <a:cs typeface="Helvetica Neue"/>
              </a:defRPr>
            </a:lvl6pPr>
            <a:lvl7pPr>
              <a:defRPr sz="1725">
                <a:solidFill>
                  <a:srgbClr val="FFFFFF"/>
                </a:solidFill>
                <a:latin typeface="Helvetica Neue"/>
                <a:ea typeface="Helvetica Neue"/>
                <a:cs typeface="Helvetica Neue"/>
              </a:defRPr>
            </a:lvl7pPr>
            <a:lvl8pPr>
              <a:defRPr sz="1725">
                <a:solidFill>
                  <a:srgbClr val="FFFFFF"/>
                </a:solidFill>
                <a:latin typeface="Helvetica Neue"/>
                <a:ea typeface="Helvetica Neue"/>
                <a:cs typeface="Helvetica Neue"/>
              </a:defRPr>
            </a:lvl8pPr>
            <a:lvl9pPr>
              <a:defRPr sz="1725">
                <a:solidFill>
                  <a:srgbClr val="FFFFFF"/>
                </a:solidFill>
                <a:latin typeface="Helvetica Neue"/>
                <a:ea typeface="Helvetica Neue"/>
                <a:cs typeface="Helvetica Neue"/>
              </a:defRPr>
            </a:lvl9pPr>
          </a:lstStyle>
          <a:p xmlns:a="http://schemas.openxmlformats.org/drawingml/2006/main">
            <a:pPr>
              <a:defRPr sz="1725">
                <a:solidFill>
                  <a:srgbClr val="FFFFFF"/>
                </a:solidFill>
                <a:latin typeface="Helvetica Neue"/>
                <a:ea typeface="Helvetica Neue"/>
                <a:cs typeface="Helvetica Neue"/>
              </a:defRPr>
            </a:pPr>
            <a:r>
              <a:rPr sz="1725">
                <a:solidFill>
                  <a:srgbClr val="FFFFFF"/>
                </a:solidFill>
                <a:latin typeface="Helvetica Neue"/>
                <a:ea typeface="Helvetica Neue"/>
                <a:cs typeface="Helvetica Neue"/>
              </a:rPr>
              <a:t>Module 7  |  30-Hour Basic Intravenous Therapy</a:t>
            </a:r>
          </a:p>
        </p:txBody>
      </p:sp>
      <p:sp>
        <p:nvSpPr>
          <p:cNvPr id="7" name="">
            <a:extLst xmlns:a="http://schemas.openxmlformats.org/drawingml/2006/main">
              <a:ext uri="{FF2B5EF4-FFF2-40B4-BE49-F238E27FC236}">
                <a16:creationId xmlns:a16="http://schemas.microsoft.com/office/drawing/2014/main" id="{5F714477-B685-4CBA-983D-3048C3C9CCA8}"/>
              </a:ext>
            </a:extLst>
          </p:cNvPr>
          <p:cNvSpPr>
            <a:spLocks xmlns:a="http://schemas.openxmlformats.org/drawingml/2006/main" noGrp="1"/>
          </p:cNvSpPr>
          <p:nvPr/>
        </p:nvSpPr>
        <p:spPr>
          <a:xfrm xmlns:a="http://schemas.openxmlformats.org/drawingml/2006/main">
            <a:off x="762000" y="47625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425" b="1">
                <a:solidFill>
                  <a:srgbClr val="CFEDEF"/>
                </a:solidFill>
                <a:latin typeface="Helvetica Neue"/>
                <a:ea typeface="Helvetica Neue"/>
                <a:cs typeface="Helvetica Neue"/>
              </a:defRPr>
            </a:defPPr>
            <a:lvl1pPr>
              <a:defRPr sz="1425" b="1">
                <a:solidFill>
                  <a:srgbClr val="CFEDEF"/>
                </a:solidFill>
                <a:latin typeface="Helvetica Neue"/>
                <a:ea typeface="Helvetica Neue"/>
                <a:cs typeface="Helvetica Neue"/>
              </a:defRPr>
            </a:lvl1pPr>
            <a:lvl2pPr>
              <a:defRPr sz="1425" b="1">
                <a:solidFill>
                  <a:srgbClr val="CFEDEF"/>
                </a:solidFill>
                <a:latin typeface="Helvetica Neue"/>
                <a:ea typeface="Helvetica Neue"/>
                <a:cs typeface="Helvetica Neue"/>
              </a:defRPr>
            </a:lvl2pPr>
            <a:lvl3pPr>
              <a:defRPr sz="1425" b="1">
                <a:solidFill>
                  <a:srgbClr val="CFEDEF"/>
                </a:solidFill>
                <a:latin typeface="Helvetica Neue"/>
                <a:ea typeface="Helvetica Neue"/>
                <a:cs typeface="Helvetica Neue"/>
              </a:defRPr>
            </a:lvl3pPr>
            <a:lvl4pPr>
              <a:defRPr sz="1425" b="1">
                <a:solidFill>
                  <a:srgbClr val="CFEDEF"/>
                </a:solidFill>
                <a:latin typeface="Helvetica Neue"/>
                <a:ea typeface="Helvetica Neue"/>
                <a:cs typeface="Helvetica Neue"/>
              </a:defRPr>
            </a:lvl4pPr>
            <a:lvl5pPr>
              <a:defRPr sz="1425" b="1">
                <a:solidFill>
                  <a:srgbClr val="CFEDEF"/>
                </a:solidFill>
                <a:latin typeface="Helvetica Neue"/>
                <a:ea typeface="Helvetica Neue"/>
                <a:cs typeface="Helvetica Neue"/>
              </a:defRPr>
            </a:lvl5pPr>
            <a:lvl6pPr>
              <a:defRPr sz="1425" b="1">
                <a:solidFill>
                  <a:srgbClr val="CFEDEF"/>
                </a:solidFill>
                <a:latin typeface="Helvetica Neue"/>
                <a:ea typeface="Helvetica Neue"/>
                <a:cs typeface="Helvetica Neue"/>
              </a:defRPr>
            </a:lvl6pPr>
            <a:lvl7pPr>
              <a:defRPr sz="1425" b="1">
                <a:solidFill>
                  <a:srgbClr val="CFEDEF"/>
                </a:solidFill>
                <a:latin typeface="Helvetica Neue"/>
                <a:ea typeface="Helvetica Neue"/>
                <a:cs typeface="Helvetica Neue"/>
              </a:defRPr>
            </a:lvl7pPr>
            <a:lvl8pPr>
              <a:defRPr sz="1425" b="1">
                <a:solidFill>
                  <a:srgbClr val="CFEDEF"/>
                </a:solidFill>
                <a:latin typeface="Helvetica Neue"/>
                <a:ea typeface="Helvetica Neue"/>
                <a:cs typeface="Helvetica Neue"/>
              </a:defRPr>
            </a:lvl8pPr>
            <a:lvl9pPr>
              <a:defRPr sz="1425" b="1">
                <a:solidFill>
                  <a:srgbClr val="CFEDEF"/>
                </a:solidFill>
                <a:latin typeface="Helvetica Neue"/>
                <a:ea typeface="Helvetica Neue"/>
                <a:cs typeface="Helvetica Neue"/>
              </a:defRPr>
            </a:lvl9pPr>
          </a:lstStyle>
          <a:p xmlns:a="http://schemas.openxmlformats.org/drawingml/2006/main">
            <a:pPr>
              <a:defRPr sz="1425" b="1">
                <a:solidFill>
                  <a:srgbClr val="CFEDEF"/>
                </a:solidFill>
                <a:latin typeface="Helvetica Neue"/>
                <a:ea typeface="Helvetica Neue"/>
                <a:cs typeface="Helvetica Neue"/>
              </a:defRPr>
            </a:pPr>
            <a:r>
              <a:rPr sz="1425"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84547608"/>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835A7442-ECD9-438B-9A4B-841BD662010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53FB733-2DE5-4E90-9962-00E0E3C55549}"/>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F0296CD3-0CFB-4B42-9044-D356153F5CB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0D9E2814-EE18-42DA-A882-65A1FF8FDA19}"/>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323F8008-5D08-4917-8633-0859FB4449DD}"/>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Select an appropriate peripheral vein and catheter</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Perform aseptic insertion and securement on a task trainer</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Assess, maintain, and discontinue a peripheral IV safely</a:t>
            </a:r>
          </a:p>
        </p:txBody>
      </p:sp>
    </p:spTree>
    <p:extLst>
      <p:ext uri="{BB962C8B-B14F-4D97-AF65-F5344CB8AC3E}">
        <p14:creationId xmlns:p14="http://schemas.microsoft.com/office/powerpoint/2010/main" val="1871791220"/>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94431AA-91AF-4723-BB45-5B8D18B6D3D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64DE8AB-0400-452E-9709-1BD09F03801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Site and device selection</a:t>
            </a:r>
          </a:p>
        </p:txBody>
      </p:sp>
      <p:sp>
        <p:nvSpPr>
          <p:cNvPr id="3" name="">
            <a:extLst xmlns:a="http://schemas.openxmlformats.org/drawingml/2006/main">
              <a:ext uri="{FF2B5EF4-FFF2-40B4-BE49-F238E27FC236}">
                <a16:creationId xmlns:a16="http://schemas.microsoft.com/office/drawing/2014/main" id="{1CFB2774-48FB-4EF8-8798-A4DEEEE270A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A8F32384-E5FF-44AD-AA8D-97B735E38FF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520B0BE0-3C68-4FFF-87E8-AB4548744C2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Begin distally when appropriate.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Avoid compromised extremities and sites of infection, flexion, poor circulation, or prior complications.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Select the smallest gauge and shortest catheter that can support the ordered therapy.</a:t>
            </a:r>
          </a:p>
        </p:txBody>
      </p:sp>
      <p:sp>
        <p:nvSpPr>
          <p:cNvPr id="6" name="">
            <a:extLst xmlns:a="http://schemas.openxmlformats.org/drawingml/2006/main">
              <a:ext uri="{FF2B5EF4-FFF2-40B4-BE49-F238E27FC236}">
                <a16:creationId xmlns:a16="http://schemas.microsoft.com/office/drawing/2014/main" id="{1E6DFBB0-4E40-4DF6-AAE9-139F28A4AAC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605733225"/>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1439933-43EC-43E7-ABBF-7FD702A40F28}"/>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BE4599A-F3D8-42ED-9776-E66F9C54204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Aseptic insertion</a:t>
            </a:r>
          </a:p>
        </p:txBody>
      </p:sp>
      <p:sp>
        <p:nvSpPr>
          <p:cNvPr id="3" name="">
            <a:extLst xmlns:a="http://schemas.openxmlformats.org/drawingml/2006/main">
              <a:ext uri="{FF2B5EF4-FFF2-40B4-BE49-F238E27FC236}">
                <a16:creationId xmlns:a16="http://schemas.microsoft.com/office/drawing/2014/main" id="{77F54964-B5CB-4644-84F0-871B3E997DE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14D541EF-B24F-4F83-9A01-D48752F103A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42D719BF-7DF6-4AF9-AA7B-7BBE2436272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Perform hand hygiene, prepare and position the patient, apply the tourniquet, cleanse the site with the approved antiseptic, let it dry, stabilize the vein, observe flashback, thread the catheter, and activate sharps protection.</a:t>
            </a:r>
          </a:p>
        </p:txBody>
      </p:sp>
      <p:sp>
        <p:nvSpPr>
          <p:cNvPr id="6" name="">
            <a:extLst xmlns:a="http://schemas.openxmlformats.org/drawingml/2006/main">
              <a:ext uri="{FF2B5EF4-FFF2-40B4-BE49-F238E27FC236}">
                <a16:creationId xmlns:a16="http://schemas.microsoft.com/office/drawing/2014/main" id="{183EA3EA-0284-45B6-9072-F848A5DBEAFF}"/>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07467896"/>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6CCF7C9-AA9F-47A4-B1B5-9CBAC29A1ED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E0E7FCD-FAF2-4D45-8B36-FB3A7257369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Securement and maintenance</a:t>
            </a:r>
          </a:p>
        </p:txBody>
      </p:sp>
      <p:sp>
        <p:nvSpPr>
          <p:cNvPr id="3" name="">
            <a:extLst xmlns:a="http://schemas.openxmlformats.org/drawingml/2006/main">
              <a:ext uri="{FF2B5EF4-FFF2-40B4-BE49-F238E27FC236}">
                <a16:creationId xmlns:a16="http://schemas.microsoft.com/office/drawing/2014/main" id="{B323A6DE-166D-4613-A444-C18E53D5CF3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2DD42B21-23A9-406C-ACEC-C3C90DEED67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1D56B613-DAF4-4C55-BBB8-199F8DB8A36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Connect a primed extension aseptically, assess patency without force, secure the catheter, apply and label the dressing, trace tubing, start the ordered therapy, and reassess the site and patient.</a:t>
            </a:r>
          </a:p>
        </p:txBody>
      </p:sp>
      <p:sp>
        <p:nvSpPr>
          <p:cNvPr id="6" name="">
            <a:extLst xmlns:a="http://schemas.openxmlformats.org/drawingml/2006/main">
              <a:ext uri="{FF2B5EF4-FFF2-40B4-BE49-F238E27FC236}">
                <a16:creationId xmlns:a16="http://schemas.microsoft.com/office/drawing/2014/main" id="{395C3B0C-58DF-4510-8BC7-C7B5743B5C0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507661843"/>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D39544D-4C3A-4E1D-966B-45C16499888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C90605C-5E96-4D1E-9A13-D7FC9CF9784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Complication cues</a:t>
            </a:r>
          </a:p>
        </p:txBody>
      </p:sp>
      <p:sp>
        <p:nvSpPr>
          <p:cNvPr id="3" name="">
            <a:extLst xmlns:a="http://schemas.openxmlformats.org/drawingml/2006/main">
              <a:ext uri="{FF2B5EF4-FFF2-40B4-BE49-F238E27FC236}">
                <a16:creationId xmlns:a16="http://schemas.microsoft.com/office/drawing/2014/main" id="{1275F153-0FCC-4572-A461-9692D3883E4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18713FD4-81F0-4D72-B88F-FC5AD15B031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0A8C7FF5-10BE-4078-A247-8988EA38FFE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Cool swelling suggests infiltration.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Pain, warmth, redness, or a venous cord suggests phlebitis.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Burning or tissue injury with a vesicant suggests extravasation.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Stop unsafe therapy and follow the condition-specific protocol.</a:t>
            </a:r>
          </a:p>
        </p:txBody>
      </p:sp>
      <p:sp>
        <p:nvSpPr>
          <p:cNvPr id="6" name="">
            <a:extLst xmlns:a="http://schemas.openxmlformats.org/drawingml/2006/main">
              <a:ext uri="{FF2B5EF4-FFF2-40B4-BE49-F238E27FC236}">
                <a16:creationId xmlns:a16="http://schemas.microsoft.com/office/drawing/2014/main" id="{1DF11485-64DF-417E-A309-CFD6B1A32D2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840149622"/>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4C2174D-494E-4224-89EC-ED6D091D538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56FB0DA2-F07D-4090-B96D-C0ECD33F694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Choose the site before the catheter</a:t>
            </a:r>
          </a:p>
        </p:txBody>
      </p:sp>
      <p:sp>
        <p:nvSpPr>
          <p:cNvPr id="3" name="">
            <a:extLst xmlns:a="http://schemas.openxmlformats.org/drawingml/2006/main">
              <a:ext uri="{FF2B5EF4-FFF2-40B4-BE49-F238E27FC236}">
                <a16:creationId xmlns:a16="http://schemas.microsoft.com/office/drawing/2014/main" id="{5E9E83C9-7E4D-41E9-91C9-799CDE2D317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869952EA-BC6F-4D94-B8BE-FB8BF513B98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4AD0C5EA-5666-4A59-A8FA-3D7F0EB2F34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Start with the prescribed therapy: pH, osmolarity, duration, flow requirement, and vesicant risk affect device choice.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Select a vein that is palpable, resilient, and appropriate for the therapy.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Prefer the smallest suitable gauge and shortest catheter.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Avoid infected, injured, poorly perfused, or policy-restricted extremities and areas of flexion when possible.</a:t>
            </a:r>
          </a:p>
        </p:txBody>
      </p:sp>
      <p:sp>
        <p:nvSpPr>
          <p:cNvPr id="6" name="">
            <a:extLst xmlns:a="http://schemas.openxmlformats.org/drawingml/2006/main">
              <a:ext uri="{FF2B5EF4-FFF2-40B4-BE49-F238E27FC236}">
                <a16:creationId xmlns:a16="http://schemas.microsoft.com/office/drawing/2014/main" id="{7AEBF000-A97B-42DD-8279-CD7AFA57215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352273813"/>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85326718-F64C-4289-8F30-2E4930621DE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168263A-1A85-4123-948C-E7B31EA0437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Peripheral catheter selection</a:t>
            </a:r>
          </a:p>
        </p:txBody>
      </p:sp>
      <p:sp>
        <p:nvSpPr>
          <p:cNvPr id="3" name="">
            <a:extLst xmlns:a="http://schemas.openxmlformats.org/drawingml/2006/main">
              <a:ext uri="{FF2B5EF4-FFF2-40B4-BE49-F238E27FC236}">
                <a16:creationId xmlns:a16="http://schemas.microsoft.com/office/drawing/2014/main" id="{1FFAF860-A3C5-45FC-94F8-2EDC45702F7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F2192CC1-3F35-4F88-8E63-B7E99366882C}"/>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7696D118-2DC4-4BCD-9C7B-1E56CB398D7F}"/>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1D064B91-C271-48CE-9682-165D80E535D6}"/>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Clinical need</a:t>
            </a:r>
          </a:p>
        </p:txBody>
      </p:sp>
      <p:sp>
        <p:nvSpPr>
          <p:cNvPr id="7" name="">
            <a:extLst xmlns:a="http://schemas.openxmlformats.org/drawingml/2006/main">
              <a:ext uri="{FF2B5EF4-FFF2-40B4-BE49-F238E27FC236}">
                <a16:creationId xmlns:a16="http://schemas.microsoft.com/office/drawing/2014/main" id="{DED6CFF3-E385-462F-A195-19937A92C6A4}"/>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4DC5FF9E-2CC6-46A5-8F1A-77108E346736}"/>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Selection principle</a:t>
            </a:r>
          </a:p>
        </p:txBody>
      </p:sp>
      <p:sp>
        <p:nvSpPr>
          <p:cNvPr id="9" name="">
            <a:extLst xmlns:a="http://schemas.openxmlformats.org/drawingml/2006/main">
              <a:ext uri="{FF2B5EF4-FFF2-40B4-BE49-F238E27FC236}">
                <a16:creationId xmlns:a16="http://schemas.microsoft.com/office/drawing/2014/main" id="{267DA0AE-D456-41EF-A1FD-445F739FEDF1}"/>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C5032E71-03C3-4186-BD36-48D0776D3BAB}"/>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Routine fluids or intermittent medication</a:t>
            </a:r>
          </a:p>
        </p:txBody>
      </p:sp>
      <p:sp>
        <p:nvSpPr>
          <p:cNvPr id="11" name="">
            <a:extLst xmlns:a="http://schemas.openxmlformats.org/drawingml/2006/main">
              <a:ext uri="{FF2B5EF4-FFF2-40B4-BE49-F238E27FC236}">
                <a16:creationId xmlns:a16="http://schemas.microsoft.com/office/drawing/2014/main" id="{3F28B3A7-461C-469A-BE61-CE82A185A172}"/>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3327342C-8DA3-44A9-B027-2752C5A56212}"/>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Use the smallest gauge that reliably supports therapy</a:t>
            </a:r>
          </a:p>
        </p:txBody>
      </p:sp>
      <p:sp>
        <p:nvSpPr>
          <p:cNvPr id="13" name="">
            <a:extLst xmlns:a="http://schemas.openxmlformats.org/drawingml/2006/main">
              <a:ext uri="{FF2B5EF4-FFF2-40B4-BE49-F238E27FC236}">
                <a16:creationId xmlns:a16="http://schemas.microsoft.com/office/drawing/2014/main" id="{09CD75EC-F49B-4966-B054-2F783CB59B80}"/>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AA52A090-CF58-43C4-BCB5-B76B9B9F4BC1}"/>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Rapid volume or blood</a:t>
            </a:r>
          </a:p>
        </p:txBody>
      </p:sp>
      <p:sp>
        <p:nvSpPr>
          <p:cNvPr id="15" name="">
            <a:extLst xmlns:a="http://schemas.openxmlformats.org/drawingml/2006/main">
              <a:ext uri="{FF2B5EF4-FFF2-40B4-BE49-F238E27FC236}">
                <a16:creationId xmlns:a16="http://schemas.microsoft.com/office/drawing/2014/main" id="{4BE410F9-2BC7-4FE5-95D4-132F88095020}"/>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5E8C9E4C-76FB-434A-A4D7-AE7AFCC65173}"/>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 larger bore may be required when clinically appropriate</a:t>
            </a:r>
          </a:p>
        </p:txBody>
      </p:sp>
      <p:sp>
        <p:nvSpPr>
          <p:cNvPr id="17" name="">
            <a:extLst xmlns:a="http://schemas.openxmlformats.org/drawingml/2006/main">
              <a:ext uri="{FF2B5EF4-FFF2-40B4-BE49-F238E27FC236}">
                <a16:creationId xmlns:a16="http://schemas.microsoft.com/office/drawing/2014/main" id="{3EAA1277-1BF6-479B-A6CA-1BE4B831AEA5}"/>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D2BB6851-CF77-4B33-82C3-3BE84BCBD673}"/>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Fragile or small veins</a:t>
            </a:r>
          </a:p>
        </p:txBody>
      </p:sp>
      <p:sp>
        <p:nvSpPr>
          <p:cNvPr id="19" name="">
            <a:extLst xmlns:a="http://schemas.openxmlformats.org/drawingml/2006/main">
              <a:ext uri="{FF2B5EF4-FFF2-40B4-BE49-F238E27FC236}">
                <a16:creationId xmlns:a16="http://schemas.microsoft.com/office/drawing/2014/main" id="{26476248-F1B8-4C3B-8355-C9253A9A6359}"/>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1DC9C25C-1F27-40B6-ABB6-075B97B86D69}"/>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Choose a smaller gauge and appropriate short catheter</a:t>
            </a:r>
          </a:p>
        </p:txBody>
      </p:sp>
      <p:sp>
        <p:nvSpPr>
          <p:cNvPr id="21" name="">
            <a:extLst xmlns:a="http://schemas.openxmlformats.org/drawingml/2006/main">
              <a:ext uri="{FF2B5EF4-FFF2-40B4-BE49-F238E27FC236}">
                <a16:creationId xmlns:a16="http://schemas.microsoft.com/office/drawing/2014/main" id="{E80A5EDF-DDB0-43CE-B0BB-7624126F78FB}"/>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230D9252-B811-4527-B10E-43CC58A4392D}"/>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Long duration or irritating therapy</a:t>
            </a:r>
          </a:p>
        </p:txBody>
      </p:sp>
      <p:sp>
        <p:nvSpPr>
          <p:cNvPr id="23" name="">
            <a:extLst xmlns:a="http://schemas.openxmlformats.org/drawingml/2006/main">
              <a:ext uri="{FF2B5EF4-FFF2-40B4-BE49-F238E27FC236}">
                <a16:creationId xmlns:a16="http://schemas.microsoft.com/office/drawing/2014/main" id="{D67D1522-49E5-4634-81B0-7C06C05FCC37}"/>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876FAB9D-CC75-4E10-B99D-EE9DBEB770A7}"/>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Reassess whether a different vascular-access device is indicated</a:t>
            </a:r>
          </a:p>
        </p:txBody>
      </p:sp>
    </p:spTree>
    <p:extLst>
      <p:ext uri="{BB962C8B-B14F-4D97-AF65-F5344CB8AC3E}">
        <p14:creationId xmlns:p14="http://schemas.microsoft.com/office/powerpoint/2010/main" val="566153094"/>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5605CCC-4DF1-469D-81B0-475D69C3763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FF234DF-F836-4AD1-BAB8-B39E0D630A1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Insertion sequence: prepare and access</a:t>
            </a:r>
          </a:p>
        </p:txBody>
      </p:sp>
      <p:sp>
        <p:nvSpPr>
          <p:cNvPr id="3" name="">
            <a:extLst xmlns:a="http://schemas.openxmlformats.org/drawingml/2006/main">
              <a:ext uri="{FF2B5EF4-FFF2-40B4-BE49-F238E27FC236}">
                <a16:creationId xmlns:a16="http://schemas.microsoft.com/office/drawing/2014/main" id="{C2D22B5D-C97B-4E48-83DC-3FC97D54F7B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86C87A3C-231B-478C-878C-0E64B909F4A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D94DC9A1-0A8C-4D02-9FC3-E0DA141F1474}"/>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Verify the order, identify and teach the patient, perform hand hygiene, and gather supplies.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Position the limb, assess veins, apply the tourniquet, and select the site.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Cleanse with the approved antiseptic using the required friction and allow it to dry completely.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Stabilize the vein, insert bevel up, observe flashback, lower the angle, and advance the catheter—not the needle.</a:t>
            </a:r>
          </a:p>
        </p:txBody>
      </p:sp>
      <p:sp>
        <p:nvSpPr>
          <p:cNvPr id="6" name="">
            <a:extLst xmlns:a="http://schemas.openxmlformats.org/drawingml/2006/main">
              <a:ext uri="{FF2B5EF4-FFF2-40B4-BE49-F238E27FC236}">
                <a16:creationId xmlns:a16="http://schemas.microsoft.com/office/drawing/2014/main" id="{7B8F2A67-6F8B-435C-A60B-B96265034135}"/>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539258017"/>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FAEB71E-DAD4-45F7-9F33-EA2F66C1FD2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EBDE567C-6A69-49B2-8579-64E2FAEC066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Insertion sequence: connect and secure</a:t>
            </a:r>
          </a:p>
        </p:txBody>
      </p:sp>
      <p:sp>
        <p:nvSpPr>
          <p:cNvPr id="3" name="">
            <a:extLst xmlns:a="http://schemas.openxmlformats.org/drawingml/2006/main">
              <a:ext uri="{FF2B5EF4-FFF2-40B4-BE49-F238E27FC236}">
                <a16:creationId xmlns:a16="http://schemas.microsoft.com/office/drawing/2014/main" id="{06D61264-1C78-4F7D-9E16-529BE4B014A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03647708-1902-4632-98C0-7BC510E8B5A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DDE01A45-BDA4-4552-BEAF-AD0DCAFBFA6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Release the tourniquet, apply appropriate pressure, activate the sharps safety device, and discard immediately.</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Connect the primed extension without contaminating key parts.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Confirm patency using the approved assessment; never force a flush.</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Secure and dress the catheter, label it, start the ordered therapy, teach the patient, and document.</a:t>
            </a:r>
          </a:p>
        </p:txBody>
      </p:sp>
      <p:sp>
        <p:nvSpPr>
          <p:cNvPr id="6" name="">
            <a:extLst xmlns:a="http://schemas.openxmlformats.org/drawingml/2006/main">
              <a:ext uri="{FF2B5EF4-FFF2-40B4-BE49-F238E27FC236}">
                <a16:creationId xmlns:a16="http://schemas.microsoft.com/office/drawing/2014/main" id="{096A37E7-014D-4D4A-AFBF-519B9EACD22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316127526"/>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35" name="">
            <a:extLst xmlns:a="http://schemas.openxmlformats.org/drawingml/2006/main">
              <a:ext uri="{FF2B5EF4-FFF2-40B4-BE49-F238E27FC236}">
                <a16:creationId xmlns:a16="http://schemas.microsoft.com/office/drawing/2014/main" id="{BB6CE549-5140-4773-9DD0-7694FFF7134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B24F409-E526-449D-8AC0-4762258531F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Local complication comparison</a:t>
            </a:r>
          </a:p>
        </p:txBody>
      </p:sp>
      <p:sp>
        <p:nvSpPr>
          <p:cNvPr id="3" name="">
            <a:extLst xmlns:a="http://schemas.openxmlformats.org/drawingml/2006/main">
              <a:ext uri="{FF2B5EF4-FFF2-40B4-BE49-F238E27FC236}">
                <a16:creationId xmlns:a16="http://schemas.microsoft.com/office/drawing/2014/main" id="{5B9202A1-9447-4694-BB32-E336303B248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FE662C88-9D2A-4412-8580-E9D8319F090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D63DC901-72C8-4B09-9469-4D8649F2228A}"/>
              </a:ext>
            </a:extLst>
          </p:cNvPr>
          <p:cNvSpPr>
            <a:spLocks xmlns:a="http://schemas.openxmlformats.org/drawingml/2006/main" noGrp="1"/>
          </p:cNvSpPr>
          <p:nvPr/>
        </p:nvSpPr>
        <p:spPr>
          <a:xfrm xmlns:a="http://schemas.openxmlformats.org/drawingml/2006/main">
            <a:off x="7810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FEFA94B7-EEAA-46A7-AD88-59E937723924}"/>
              </a:ext>
            </a:extLst>
          </p:cNvPr>
          <p:cNvSpPr>
            <a:spLocks xmlns:a="http://schemas.openxmlformats.org/drawingml/2006/main" noGrp="1"/>
          </p:cNvSpPr>
          <p:nvPr/>
        </p:nvSpPr>
        <p:spPr>
          <a:xfrm xmlns:a="http://schemas.openxmlformats.org/drawingml/2006/main">
            <a:off x="8763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Finding</a:t>
            </a:r>
          </a:p>
        </p:txBody>
      </p:sp>
      <p:sp>
        <p:nvSpPr>
          <p:cNvPr id="7" name="">
            <a:extLst xmlns:a="http://schemas.openxmlformats.org/drawingml/2006/main">
              <a:ext uri="{FF2B5EF4-FFF2-40B4-BE49-F238E27FC236}">
                <a16:creationId xmlns:a16="http://schemas.microsoft.com/office/drawing/2014/main" id="{BDA0F1DC-584B-4EFB-AE93-C3A548029776}"/>
              </a:ext>
            </a:extLst>
          </p:cNvPr>
          <p:cNvSpPr>
            <a:spLocks xmlns:a="http://schemas.openxmlformats.org/drawingml/2006/main" noGrp="1"/>
          </p:cNvSpPr>
          <p:nvPr/>
        </p:nvSpPr>
        <p:spPr>
          <a:xfrm xmlns:a="http://schemas.openxmlformats.org/drawingml/2006/main">
            <a:off x="430530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A54777ED-6394-48AB-B302-0BB20CEAEDB4}"/>
              </a:ext>
            </a:extLst>
          </p:cNvPr>
          <p:cNvSpPr>
            <a:spLocks xmlns:a="http://schemas.openxmlformats.org/drawingml/2006/main" noGrp="1"/>
          </p:cNvSpPr>
          <p:nvPr/>
        </p:nvSpPr>
        <p:spPr>
          <a:xfrm xmlns:a="http://schemas.openxmlformats.org/drawingml/2006/main">
            <a:off x="440055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Likely concern</a:t>
            </a:r>
          </a:p>
        </p:txBody>
      </p:sp>
      <p:sp>
        <p:nvSpPr>
          <p:cNvPr id="9" name="">
            <a:extLst xmlns:a="http://schemas.openxmlformats.org/drawingml/2006/main">
              <a:ext uri="{FF2B5EF4-FFF2-40B4-BE49-F238E27FC236}">
                <a16:creationId xmlns:a16="http://schemas.microsoft.com/office/drawing/2014/main" id="{3D15CF14-B812-4157-A43E-B90CC6DCF23C}"/>
              </a:ext>
            </a:extLst>
          </p:cNvPr>
          <p:cNvSpPr>
            <a:spLocks xmlns:a="http://schemas.openxmlformats.org/drawingml/2006/main" noGrp="1"/>
          </p:cNvSpPr>
          <p:nvPr/>
        </p:nvSpPr>
        <p:spPr>
          <a:xfrm xmlns:a="http://schemas.openxmlformats.org/drawingml/2006/main">
            <a:off x="7829550" y="1695450"/>
            <a:ext cx="3524250"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92E277EE-B1C0-4150-9969-D2F71509BF82}"/>
              </a:ext>
            </a:extLst>
          </p:cNvPr>
          <p:cNvSpPr>
            <a:spLocks xmlns:a="http://schemas.openxmlformats.org/drawingml/2006/main" noGrp="1"/>
          </p:cNvSpPr>
          <p:nvPr/>
        </p:nvSpPr>
        <p:spPr>
          <a:xfrm xmlns:a="http://schemas.openxmlformats.org/drawingml/2006/main">
            <a:off x="7924800" y="1762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Immediate priority</a:t>
            </a:r>
          </a:p>
        </p:txBody>
      </p:sp>
      <p:sp>
        <p:nvSpPr>
          <p:cNvPr id="11" name="">
            <a:extLst xmlns:a="http://schemas.openxmlformats.org/drawingml/2006/main">
              <a:ext uri="{FF2B5EF4-FFF2-40B4-BE49-F238E27FC236}">
                <a16:creationId xmlns:a16="http://schemas.microsoft.com/office/drawing/2014/main" id="{D00DE6B1-4C77-419F-86DA-8C8C2D4122A5}"/>
              </a:ext>
            </a:extLst>
          </p:cNvPr>
          <p:cNvSpPr>
            <a:spLocks xmlns:a="http://schemas.openxmlformats.org/drawingml/2006/main" noGrp="1"/>
          </p:cNvSpPr>
          <p:nvPr/>
        </p:nvSpPr>
        <p:spPr>
          <a:xfrm xmlns:a="http://schemas.openxmlformats.org/drawingml/2006/main">
            <a:off x="7810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448C21C4-E505-46C2-A1F6-0F12F1014EA3}"/>
              </a:ext>
            </a:extLst>
          </p:cNvPr>
          <p:cNvSpPr>
            <a:spLocks xmlns:a="http://schemas.openxmlformats.org/drawingml/2006/main" noGrp="1"/>
          </p:cNvSpPr>
          <p:nvPr/>
        </p:nvSpPr>
        <p:spPr>
          <a:xfrm xmlns:a="http://schemas.openxmlformats.org/drawingml/2006/main">
            <a:off x="8763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Cool, pale swelling; slowed infusion</a:t>
            </a:r>
          </a:p>
        </p:txBody>
      </p:sp>
      <p:sp>
        <p:nvSpPr>
          <p:cNvPr id="13" name="">
            <a:extLst xmlns:a="http://schemas.openxmlformats.org/drawingml/2006/main">
              <a:ext uri="{FF2B5EF4-FFF2-40B4-BE49-F238E27FC236}">
                <a16:creationId xmlns:a16="http://schemas.microsoft.com/office/drawing/2014/main" id="{973E2376-C279-4837-AD20-84D590BDB6C2}"/>
              </a:ext>
            </a:extLst>
          </p:cNvPr>
          <p:cNvSpPr>
            <a:spLocks xmlns:a="http://schemas.openxmlformats.org/drawingml/2006/main" noGrp="1"/>
          </p:cNvSpPr>
          <p:nvPr/>
        </p:nvSpPr>
        <p:spPr>
          <a:xfrm xmlns:a="http://schemas.openxmlformats.org/drawingml/2006/main">
            <a:off x="430530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2EC84DD7-70AC-4A1F-9A60-FB1538A94BE6}"/>
              </a:ext>
            </a:extLst>
          </p:cNvPr>
          <p:cNvSpPr>
            <a:spLocks xmlns:a="http://schemas.openxmlformats.org/drawingml/2006/main" noGrp="1"/>
          </p:cNvSpPr>
          <p:nvPr/>
        </p:nvSpPr>
        <p:spPr>
          <a:xfrm xmlns:a="http://schemas.openxmlformats.org/drawingml/2006/main">
            <a:off x="440055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Infiltration</a:t>
            </a:r>
          </a:p>
        </p:txBody>
      </p:sp>
      <p:sp>
        <p:nvSpPr>
          <p:cNvPr id="15" name="">
            <a:extLst xmlns:a="http://schemas.openxmlformats.org/drawingml/2006/main">
              <a:ext uri="{FF2B5EF4-FFF2-40B4-BE49-F238E27FC236}">
                <a16:creationId xmlns:a16="http://schemas.microsoft.com/office/drawing/2014/main" id="{3FD90CE5-6756-4059-993C-3766DF0E9426}"/>
              </a:ext>
            </a:extLst>
          </p:cNvPr>
          <p:cNvSpPr>
            <a:spLocks xmlns:a="http://schemas.openxmlformats.org/drawingml/2006/main" noGrp="1"/>
          </p:cNvSpPr>
          <p:nvPr/>
        </p:nvSpPr>
        <p:spPr>
          <a:xfrm xmlns:a="http://schemas.openxmlformats.org/drawingml/2006/main">
            <a:off x="7829550" y="25527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FE174160-7384-47EF-ADFB-41C775F5B97C}"/>
              </a:ext>
            </a:extLst>
          </p:cNvPr>
          <p:cNvSpPr>
            <a:spLocks xmlns:a="http://schemas.openxmlformats.org/drawingml/2006/main" noGrp="1"/>
          </p:cNvSpPr>
          <p:nvPr/>
        </p:nvSpPr>
        <p:spPr>
          <a:xfrm xmlns:a="http://schemas.openxmlformats.org/drawingml/2006/main">
            <a:off x="7924800" y="26193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infusion and follow infiltration protocol</a:t>
            </a:r>
          </a:p>
        </p:txBody>
      </p:sp>
      <p:sp>
        <p:nvSpPr>
          <p:cNvPr id="17" name="">
            <a:extLst xmlns:a="http://schemas.openxmlformats.org/drawingml/2006/main">
              <a:ext uri="{FF2B5EF4-FFF2-40B4-BE49-F238E27FC236}">
                <a16:creationId xmlns:a16="http://schemas.microsoft.com/office/drawing/2014/main" id="{3FA3FEB0-10EA-4A13-A689-D400A7F4E9C3}"/>
              </a:ext>
            </a:extLst>
          </p:cNvPr>
          <p:cNvSpPr>
            <a:spLocks xmlns:a="http://schemas.openxmlformats.org/drawingml/2006/main" noGrp="1"/>
          </p:cNvSpPr>
          <p:nvPr/>
        </p:nvSpPr>
        <p:spPr>
          <a:xfrm xmlns:a="http://schemas.openxmlformats.org/drawingml/2006/main">
            <a:off x="7810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FEE5D78F-A71B-4149-A376-65067951A603}"/>
              </a:ext>
            </a:extLst>
          </p:cNvPr>
          <p:cNvSpPr>
            <a:spLocks xmlns:a="http://schemas.openxmlformats.org/drawingml/2006/main" noGrp="1"/>
          </p:cNvSpPr>
          <p:nvPr/>
        </p:nvSpPr>
        <p:spPr>
          <a:xfrm xmlns:a="http://schemas.openxmlformats.org/drawingml/2006/main">
            <a:off x="8763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Pain, warmth, redness, venous cord</a:t>
            </a:r>
          </a:p>
        </p:txBody>
      </p:sp>
      <p:sp>
        <p:nvSpPr>
          <p:cNvPr id="19" name="">
            <a:extLst xmlns:a="http://schemas.openxmlformats.org/drawingml/2006/main">
              <a:ext uri="{FF2B5EF4-FFF2-40B4-BE49-F238E27FC236}">
                <a16:creationId xmlns:a16="http://schemas.microsoft.com/office/drawing/2014/main" id="{72DC1007-BF42-4E9B-A793-4FA5279611DA}"/>
              </a:ext>
            </a:extLst>
          </p:cNvPr>
          <p:cNvSpPr>
            <a:spLocks xmlns:a="http://schemas.openxmlformats.org/drawingml/2006/main" noGrp="1"/>
          </p:cNvSpPr>
          <p:nvPr/>
        </p:nvSpPr>
        <p:spPr>
          <a:xfrm xmlns:a="http://schemas.openxmlformats.org/drawingml/2006/main">
            <a:off x="430530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E2040A5A-B47A-4ABD-9E09-009D06CB9F2C}"/>
              </a:ext>
            </a:extLst>
          </p:cNvPr>
          <p:cNvSpPr>
            <a:spLocks xmlns:a="http://schemas.openxmlformats.org/drawingml/2006/main" noGrp="1"/>
          </p:cNvSpPr>
          <p:nvPr/>
        </p:nvSpPr>
        <p:spPr>
          <a:xfrm xmlns:a="http://schemas.openxmlformats.org/drawingml/2006/main">
            <a:off x="440055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Phlebitis</a:t>
            </a:r>
          </a:p>
        </p:txBody>
      </p:sp>
      <p:sp>
        <p:nvSpPr>
          <p:cNvPr id="21" name="">
            <a:extLst xmlns:a="http://schemas.openxmlformats.org/drawingml/2006/main">
              <a:ext uri="{FF2B5EF4-FFF2-40B4-BE49-F238E27FC236}">
                <a16:creationId xmlns:a16="http://schemas.microsoft.com/office/drawing/2014/main" id="{7147F149-706D-476B-95FA-F9D88937FCAC}"/>
              </a:ext>
            </a:extLst>
          </p:cNvPr>
          <p:cNvSpPr>
            <a:spLocks xmlns:a="http://schemas.openxmlformats.org/drawingml/2006/main" noGrp="1"/>
          </p:cNvSpPr>
          <p:nvPr/>
        </p:nvSpPr>
        <p:spPr>
          <a:xfrm xmlns:a="http://schemas.openxmlformats.org/drawingml/2006/main">
            <a:off x="7829550" y="34099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FE6DD4E4-1772-4386-B2D0-FD1394A214D5}"/>
              </a:ext>
            </a:extLst>
          </p:cNvPr>
          <p:cNvSpPr>
            <a:spLocks xmlns:a="http://schemas.openxmlformats.org/drawingml/2006/main" noGrp="1"/>
          </p:cNvSpPr>
          <p:nvPr/>
        </p:nvSpPr>
        <p:spPr>
          <a:xfrm xmlns:a="http://schemas.openxmlformats.org/drawingml/2006/main">
            <a:off x="7924800" y="34766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infusion, remove as indicated, assess and report</a:t>
            </a:r>
          </a:p>
        </p:txBody>
      </p:sp>
      <p:sp>
        <p:nvSpPr>
          <p:cNvPr id="23" name="">
            <a:extLst xmlns:a="http://schemas.openxmlformats.org/drawingml/2006/main">
              <a:ext uri="{FF2B5EF4-FFF2-40B4-BE49-F238E27FC236}">
                <a16:creationId xmlns:a16="http://schemas.microsoft.com/office/drawing/2014/main" id="{CE3B7D11-DF76-43BC-BA23-8B45BFD32E36}"/>
              </a:ext>
            </a:extLst>
          </p:cNvPr>
          <p:cNvSpPr>
            <a:spLocks xmlns:a="http://schemas.openxmlformats.org/drawingml/2006/main" noGrp="1"/>
          </p:cNvSpPr>
          <p:nvPr/>
        </p:nvSpPr>
        <p:spPr>
          <a:xfrm xmlns:a="http://schemas.openxmlformats.org/drawingml/2006/main">
            <a:off x="7810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DDBF4D8C-9D9F-43E5-9EB4-05C0D91BEC5D}"/>
              </a:ext>
            </a:extLst>
          </p:cNvPr>
          <p:cNvSpPr>
            <a:spLocks xmlns:a="http://schemas.openxmlformats.org/drawingml/2006/main" noGrp="1"/>
          </p:cNvSpPr>
          <p:nvPr/>
        </p:nvSpPr>
        <p:spPr>
          <a:xfrm xmlns:a="http://schemas.openxmlformats.org/drawingml/2006/main">
            <a:off x="8763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Burning, blistering, tissue injury with vesicant</a:t>
            </a:r>
          </a:p>
        </p:txBody>
      </p:sp>
      <p:sp>
        <p:nvSpPr>
          <p:cNvPr id="25" name="">
            <a:extLst xmlns:a="http://schemas.openxmlformats.org/drawingml/2006/main">
              <a:ext uri="{FF2B5EF4-FFF2-40B4-BE49-F238E27FC236}">
                <a16:creationId xmlns:a16="http://schemas.microsoft.com/office/drawing/2014/main" id="{E7C45B5D-92AE-497B-B0ED-E3D4B7496CCE}"/>
              </a:ext>
            </a:extLst>
          </p:cNvPr>
          <p:cNvSpPr>
            <a:spLocks xmlns:a="http://schemas.openxmlformats.org/drawingml/2006/main" noGrp="1"/>
          </p:cNvSpPr>
          <p:nvPr/>
        </p:nvSpPr>
        <p:spPr>
          <a:xfrm xmlns:a="http://schemas.openxmlformats.org/drawingml/2006/main">
            <a:off x="430530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E7BFFE09-093B-403B-8FF8-8BF9748D3C2E}"/>
              </a:ext>
            </a:extLst>
          </p:cNvPr>
          <p:cNvSpPr>
            <a:spLocks xmlns:a="http://schemas.openxmlformats.org/drawingml/2006/main" noGrp="1"/>
          </p:cNvSpPr>
          <p:nvPr/>
        </p:nvSpPr>
        <p:spPr>
          <a:xfrm xmlns:a="http://schemas.openxmlformats.org/drawingml/2006/main">
            <a:off x="440055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Extravasation</a:t>
            </a:r>
          </a:p>
        </p:txBody>
      </p:sp>
      <p:sp>
        <p:nvSpPr>
          <p:cNvPr id="27" name="">
            <a:extLst xmlns:a="http://schemas.openxmlformats.org/drawingml/2006/main">
              <a:ext uri="{FF2B5EF4-FFF2-40B4-BE49-F238E27FC236}">
                <a16:creationId xmlns:a16="http://schemas.microsoft.com/office/drawing/2014/main" id="{B06E2A4C-E0AB-412B-8885-712ABD49275F}"/>
              </a:ext>
            </a:extLst>
          </p:cNvPr>
          <p:cNvSpPr>
            <a:spLocks xmlns:a="http://schemas.openxmlformats.org/drawingml/2006/main" noGrp="1"/>
          </p:cNvSpPr>
          <p:nvPr/>
        </p:nvSpPr>
        <p:spPr>
          <a:xfrm xmlns:a="http://schemas.openxmlformats.org/drawingml/2006/main">
            <a:off x="7829550" y="4267200"/>
            <a:ext cx="3524250"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9AF5A72B-8622-48B0-AB32-8D91F8BE9252}"/>
              </a:ext>
            </a:extLst>
          </p:cNvPr>
          <p:cNvSpPr>
            <a:spLocks xmlns:a="http://schemas.openxmlformats.org/drawingml/2006/main" noGrp="1"/>
          </p:cNvSpPr>
          <p:nvPr/>
        </p:nvSpPr>
        <p:spPr>
          <a:xfrm xmlns:a="http://schemas.openxmlformats.org/drawingml/2006/main">
            <a:off x="7924800" y="433387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do not flush; follow agent-specific protocol</a:t>
            </a:r>
          </a:p>
        </p:txBody>
      </p:sp>
      <p:sp>
        <p:nvSpPr>
          <p:cNvPr id="29" name="">
            <a:extLst xmlns:a="http://schemas.openxmlformats.org/drawingml/2006/main">
              <a:ext uri="{FF2B5EF4-FFF2-40B4-BE49-F238E27FC236}">
                <a16:creationId xmlns:a16="http://schemas.microsoft.com/office/drawing/2014/main" id="{AB6A04BF-B348-49F2-A52D-3D81A6A36CB1}"/>
              </a:ext>
            </a:extLst>
          </p:cNvPr>
          <p:cNvSpPr>
            <a:spLocks xmlns:a="http://schemas.openxmlformats.org/drawingml/2006/main" noGrp="1"/>
          </p:cNvSpPr>
          <p:nvPr/>
        </p:nvSpPr>
        <p:spPr>
          <a:xfrm xmlns:a="http://schemas.openxmlformats.org/drawingml/2006/main">
            <a:off x="7810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48B0ACEF-8530-414A-AC71-3FC6C222A3CB}"/>
              </a:ext>
            </a:extLst>
          </p:cNvPr>
          <p:cNvSpPr>
            <a:spLocks xmlns:a="http://schemas.openxmlformats.org/drawingml/2006/main" noGrp="1"/>
          </p:cNvSpPr>
          <p:nvPr/>
        </p:nvSpPr>
        <p:spPr>
          <a:xfrm xmlns:a="http://schemas.openxmlformats.org/drawingml/2006/main">
            <a:off x="8763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Drainage, tenderness, fever</a:t>
            </a:r>
          </a:p>
        </p:txBody>
      </p:sp>
      <p:sp>
        <p:nvSpPr>
          <p:cNvPr id="31" name="">
            <a:extLst xmlns:a="http://schemas.openxmlformats.org/drawingml/2006/main">
              <a:ext uri="{FF2B5EF4-FFF2-40B4-BE49-F238E27FC236}">
                <a16:creationId xmlns:a16="http://schemas.microsoft.com/office/drawing/2014/main" id="{0AF132C4-4A2D-4A1C-B849-49719C381657}"/>
              </a:ext>
            </a:extLst>
          </p:cNvPr>
          <p:cNvSpPr>
            <a:spLocks xmlns:a="http://schemas.openxmlformats.org/drawingml/2006/main" noGrp="1"/>
          </p:cNvSpPr>
          <p:nvPr/>
        </p:nvSpPr>
        <p:spPr>
          <a:xfrm xmlns:a="http://schemas.openxmlformats.org/drawingml/2006/main">
            <a:off x="430530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715637EB-C00F-4AA7-ACBC-0EF5B5CDC0FF}"/>
              </a:ext>
            </a:extLst>
          </p:cNvPr>
          <p:cNvSpPr>
            <a:spLocks xmlns:a="http://schemas.openxmlformats.org/drawingml/2006/main" noGrp="1"/>
          </p:cNvSpPr>
          <p:nvPr/>
        </p:nvSpPr>
        <p:spPr>
          <a:xfrm xmlns:a="http://schemas.openxmlformats.org/drawingml/2006/main">
            <a:off x="440055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Local or bloodstream infection</a:t>
            </a:r>
          </a:p>
        </p:txBody>
      </p:sp>
      <p:sp>
        <p:nvSpPr>
          <p:cNvPr id="33" name="">
            <a:extLst xmlns:a="http://schemas.openxmlformats.org/drawingml/2006/main">
              <a:ext uri="{FF2B5EF4-FFF2-40B4-BE49-F238E27FC236}">
                <a16:creationId xmlns:a16="http://schemas.microsoft.com/office/drawing/2014/main" id="{F8B81236-22F7-41B6-936C-AB487D65A1DD}"/>
              </a:ext>
            </a:extLst>
          </p:cNvPr>
          <p:cNvSpPr>
            <a:spLocks xmlns:a="http://schemas.openxmlformats.org/drawingml/2006/main" noGrp="1"/>
          </p:cNvSpPr>
          <p:nvPr/>
        </p:nvSpPr>
        <p:spPr>
          <a:xfrm xmlns:a="http://schemas.openxmlformats.org/drawingml/2006/main">
            <a:off x="7829550" y="5124450"/>
            <a:ext cx="3524250"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342A08A7-C6C7-46E7-A5C0-10515B7717FE}"/>
              </a:ext>
            </a:extLst>
          </p:cNvPr>
          <p:cNvSpPr>
            <a:spLocks xmlns:a="http://schemas.openxmlformats.org/drawingml/2006/main" noGrp="1"/>
          </p:cNvSpPr>
          <p:nvPr/>
        </p:nvSpPr>
        <p:spPr>
          <a:xfrm xmlns:a="http://schemas.openxmlformats.org/drawingml/2006/main">
            <a:off x="7924800" y="5191125"/>
            <a:ext cx="3333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Stop unsafe use, assess, notify, and follow culture/removal policy</a:t>
            </a:r>
          </a:p>
        </p:txBody>
      </p:sp>
    </p:spTree>
    <p:extLst>
      <p:ext uri="{BB962C8B-B14F-4D97-AF65-F5344CB8AC3E}">
        <p14:creationId xmlns:p14="http://schemas.microsoft.com/office/powerpoint/2010/main" val="310405952"/>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4D4F2CC-42DB-4549-BECA-7ADB22F18F4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7CFC052-2BB0-48F0-89B2-8EC3C63E377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Complete documentation tells the clinical story</a:t>
            </a:r>
          </a:p>
        </p:txBody>
      </p:sp>
      <p:sp>
        <p:nvSpPr>
          <p:cNvPr id="3" name="">
            <a:extLst xmlns:a="http://schemas.openxmlformats.org/drawingml/2006/main">
              <a:ext uri="{FF2B5EF4-FFF2-40B4-BE49-F238E27FC236}">
                <a16:creationId xmlns:a16="http://schemas.microsoft.com/office/drawing/2014/main" id="{6A5E1574-F0FA-467F-A471-A64012B1D34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318B8B99-0F8E-4F53-9F6A-99E154135E5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4996BBE9-F71F-494C-8A22-F24A54167DA8}"/>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Record date and time, site, vein or anatomic location, catheter gauge and length when required, number of attempts, and inserter.</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Record skin preparation, dressing, securement, patency assessment, solution, rate, pump, and patient tolerance.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Document teaching, complications, actions, notifications, and response.</a:t>
            </a:r>
          </a:p>
        </p:txBody>
      </p:sp>
      <p:sp>
        <p:nvSpPr>
          <p:cNvPr id="6" name="">
            <a:extLst xmlns:a="http://schemas.openxmlformats.org/drawingml/2006/main">
              <a:ext uri="{FF2B5EF4-FFF2-40B4-BE49-F238E27FC236}">
                <a16:creationId xmlns:a16="http://schemas.microsoft.com/office/drawing/2014/main" id="{9FC304E6-838D-47EF-A8E2-10A4FF2FEE6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51670802"/>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145A1D2-D966-4F14-8747-A64288288D9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6E09D2EB-BF5C-4F2A-A6E3-F8FFE461E9FE}"/>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D166BF6D-FCC6-4CBB-B897-D92B09FF178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B5F36718-94F1-45FF-9255-9D54CCFEC196}"/>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530C9C68-39CC-44A1-9B66-BCA1208FE66A}"/>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Palpate and select veins on a task trainer</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Perform the complete insertion sequence without contamination</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Discontinue the catheter and verify that it remains intact</a:t>
            </a:r>
          </a:p>
        </p:txBody>
      </p:sp>
      <p:sp>
        <p:nvSpPr>
          <p:cNvPr id="6" name="">
            <a:extLst xmlns:a="http://schemas.openxmlformats.org/drawingml/2006/main">
              <a:ext uri="{FF2B5EF4-FFF2-40B4-BE49-F238E27FC236}">
                <a16:creationId xmlns:a16="http://schemas.microsoft.com/office/drawing/2014/main" id="{8EA7C787-6081-4A04-9EC7-A8C2380441A0}"/>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29473844"/>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C9A3A40-4201-4445-A30D-2F03D494F76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736ED5C1-199A-4DA8-A494-DB90EE33FC9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828398C0-7201-41B9-B5DA-8DB3542E2B47}"/>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7</a:t>
            </a:r>
          </a:p>
        </p:txBody>
      </p:sp>
      <p:sp>
        <p:nvSpPr>
          <p:cNvPr id="4" name="">
            <a:extLst xmlns:a="http://schemas.openxmlformats.org/drawingml/2006/main">
              <a:ext uri="{FF2B5EF4-FFF2-40B4-BE49-F238E27FC236}">
                <a16:creationId xmlns:a16="http://schemas.microsoft.com/office/drawing/2014/main" id="{292FB505-8AD4-42FE-A948-4D73D0A1AB7B}"/>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F4332999-79E5-42FD-9C19-8F13B3E32089}"/>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Select an appropriate peripheral vein and catheter</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Perform hand hygiene, prepare and position the patient, apply the tourniquet, cleanse the site with the approved antiseptic, let it dry, stabilize the vein, observe flashback, thread the catheter, and activate sharps protection.</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Cool swelling suggests infiltration. Pain, warmth, redness, or a venous cord suggests phlebitis. Burning or tissue injury with a vesicant suggests extravasation. Stop unsafe therapy and follow the condition-specific protocol.</a:t>
            </a:r>
          </a:p>
        </p:txBody>
      </p:sp>
      <p:sp>
        <p:nvSpPr>
          <p:cNvPr id="6" name="">
            <a:extLst xmlns:a="http://schemas.openxmlformats.org/drawingml/2006/main">
              <a:ext uri="{FF2B5EF4-FFF2-40B4-BE49-F238E27FC236}">
                <a16:creationId xmlns:a16="http://schemas.microsoft.com/office/drawing/2014/main" id="{AFD32578-AC67-49E3-BB2C-C5C3A167B11C}"/>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164964962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2026-10-23T09:19:13.9150000Z</dcterms:created>
  <dcterms:modified xsi:type="dcterms:W3CDTF">2026-10-23T09:19:13.9150000Z</dcterms:modified>
</coreProperties>
</file>