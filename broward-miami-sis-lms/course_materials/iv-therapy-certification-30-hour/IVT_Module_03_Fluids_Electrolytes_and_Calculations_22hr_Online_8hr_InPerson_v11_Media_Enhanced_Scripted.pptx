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675d1d4edb4c19" /><Relationship Type="http://schemas.openxmlformats.org/officeDocument/2006/relationships/extended-properties" Target="/docProps/app.xml" Id="Rcd97fa4129d54c0a" /><Relationship Type="http://schemas.openxmlformats.org/officeDocument/2006/relationships/officeDocument" Target="/ppt/presentation.xml" Id="Ra5b5275e909f4619" /></Relationships>
</file>

<file path=ppt/presentation.xml><?xml version="1.0" encoding="utf-8"?>
<p:presentation xmlns:p="http://schemas.openxmlformats.org/presentationml/2006/main">
  <p:sldMasterIdLst>
    <p:sldMasterId xmlns:r="http://schemas.openxmlformats.org/officeDocument/2006/relationships" id="2147483648" r:id="R60fbd2342e174896"/>
  </p:sldMasterIdLst>
  <p:notesMasterIdLst>
    <p:notesMasterId xmlns:r="http://schemas.openxmlformats.org/officeDocument/2006/relationships" r:id="R3e8a1f12738f48e9"/>
  </p:notesMasterIdLst>
  <p:sldIdLst>
    <p:sldId xmlns:r="http://schemas.openxmlformats.org/officeDocument/2006/relationships" id="256" r:id="R51c5d885054d4b3a"/>
    <p:sldId xmlns:r="http://schemas.openxmlformats.org/officeDocument/2006/relationships" id="257" r:id="R302edc85faba4c38"/>
    <p:sldId xmlns:r="http://schemas.openxmlformats.org/officeDocument/2006/relationships" id="258" r:id="Rbc371def44194f81"/>
    <p:sldId xmlns:r="http://schemas.openxmlformats.org/officeDocument/2006/relationships" id="259" r:id="Rc75b7e41fb1a436b"/>
    <p:sldId xmlns:r="http://schemas.openxmlformats.org/officeDocument/2006/relationships" id="260" r:id="R798e9417b69848cd"/>
    <p:sldId xmlns:r="http://schemas.openxmlformats.org/officeDocument/2006/relationships" id="261" r:id="R6f725868c8f04efc"/>
    <p:sldId xmlns:r="http://schemas.openxmlformats.org/officeDocument/2006/relationships" id="262" r:id="Ra43ece8f01924428"/>
    <p:sldId xmlns:r="http://schemas.openxmlformats.org/officeDocument/2006/relationships" id="263" r:id="Rd30e92d8f4b44694"/>
    <p:sldId xmlns:r="http://schemas.openxmlformats.org/officeDocument/2006/relationships" id="264" r:id="R0c9b624c61b2427c"/>
    <p:sldId xmlns:r="http://schemas.openxmlformats.org/officeDocument/2006/relationships" id="265" r:id="Rb0de30363c7748ef"/>
    <p:sldId xmlns:r="http://schemas.openxmlformats.org/officeDocument/2006/relationships" id="266" r:id="Rac1155ab99dc4ceb"/>
    <p:sldId xmlns:r="http://schemas.openxmlformats.org/officeDocument/2006/relationships" id="267" r:id="R7ea64f29645e4c1a"/>
    <p:sldId xmlns:r="http://schemas.openxmlformats.org/officeDocument/2006/relationships" id="268" r:id="Ra312e9e3c6ad4bf1"/>
    <p:sldId xmlns:r="http://schemas.openxmlformats.org/officeDocument/2006/relationships" id="269" r:id="R420ff4659f8f4b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cff3b67ac040ac" /><Relationship Type="http://schemas.openxmlformats.org/officeDocument/2006/relationships/slideMaster" Target="/ppt/slideMasters/slideMaster1.xml" Id="R60fbd2342e174896" /><Relationship Type="http://schemas.openxmlformats.org/officeDocument/2006/relationships/notesMaster" Target="/ppt/notesMasters/notesMaster1.xml" Id="R3e8a1f12738f48e9" /><Relationship Type="http://schemas.openxmlformats.org/officeDocument/2006/relationships/presProps" Target="/ppt/presProps.xml" Id="Rfa8ae81f69b94c10" /><Relationship Type="http://schemas.openxmlformats.org/officeDocument/2006/relationships/tableStyles" Target="/ppt/tableStyles.xml" Id="R7d0c6e62c9af4a10" /><Relationship Type="http://schemas.openxmlformats.org/officeDocument/2006/relationships/slide" Target="/ppt/slides/slide1.xml" Id="R51c5d885054d4b3a" /><Relationship Type="http://schemas.openxmlformats.org/officeDocument/2006/relationships/slide" Target="/ppt/slides/slide2.xml" Id="R302edc85faba4c38" /><Relationship Type="http://schemas.openxmlformats.org/officeDocument/2006/relationships/slide" Target="/ppt/slides/slide3.xml" Id="Rbc371def44194f81" /><Relationship Type="http://schemas.openxmlformats.org/officeDocument/2006/relationships/slide" Target="/ppt/slides/slide4.xml" Id="Rc75b7e41fb1a436b" /><Relationship Type="http://schemas.openxmlformats.org/officeDocument/2006/relationships/slide" Target="/ppt/slides/slide5.xml" Id="R798e9417b69848cd" /><Relationship Type="http://schemas.openxmlformats.org/officeDocument/2006/relationships/slide" Target="/ppt/slides/slide6.xml" Id="R6f725868c8f04efc" /><Relationship Type="http://schemas.openxmlformats.org/officeDocument/2006/relationships/slide" Target="/ppt/slides/slide7.xml" Id="Ra43ece8f01924428" /><Relationship Type="http://schemas.openxmlformats.org/officeDocument/2006/relationships/slide" Target="/ppt/slides/slide8.xml" Id="Rd30e92d8f4b44694" /><Relationship Type="http://schemas.openxmlformats.org/officeDocument/2006/relationships/slide" Target="/ppt/slides/slide9.xml" Id="R0c9b624c61b2427c" /><Relationship Type="http://schemas.openxmlformats.org/officeDocument/2006/relationships/slide" Target="/ppt/slides/slide10.xml" Id="Rb0de30363c7748ef" /><Relationship Type="http://schemas.openxmlformats.org/officeDocument/2006/relationships/slide" Target="/ppt/slides/slide11.xml" Id="Rac1155ab99dc4ceb" /><Relationship Type="http://schemas.openxmlformats.org/officeDocument/2006/relationships/slide" Target="/ppt/slides/slide12.xml" Id="R7ea64f29645e4c1a" /><Relationship Type="http://schemas.openxmlformats.org/officeDocument/2006/relationships/slide" Target="/ppt/slides/slide13.xml" Id="Ra312e9e3c6ad4bf1" /><Relationship Type="http://schemas.openxmlformats.org/officeDocument/2006/relationships/slide" Target="/ppt/slides/slide14.xml" Id="R420ff4659f8f4b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40ea9aed4c4e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3ac7702eab4e57" /><Relationship Type="http://schemas.openxmlformats.org/officeDocument/2006/relationships/notesMaster" Target="/ppt/notesMasters/notesMaster1.xml" Id="R40e690b9b9414f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738500782e46ea" /><Relationship Type="http://schemas.openxmlformats.org/officeDocument/2006/relationships/notesMaster" Target="/ppt/notesMasters/notesMaster1.xml" Id="R80eea90743bb48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d61d917e1a455d" /><Relationship Type="http://schemas.openxmlformats.org/officeDocument/2006/relationships/notesMaster" Target="/ppt/notesMasters/notesMaster1.xml" Id="R1565eba777024c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66f487e6a5463e" /><Relationship Type="http://schemas.openxmlformats.org/officeDocument/2006/relationships/notesMaster" Target="/ppt/notesMasters/notesMaster1.xml" Id="R0ad2b367339d4e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ce7fd00c53459b" /><Relationship Type="http://schemas.openxmlformats.org/officeDocument/2006/relationships/notesMaster" Target="/ppt/notesMasters/notesMaster1.xml" Id="R4b7fbbf640f546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8051149fe14d93" /><Relationship Type="http://schemas.openxmlformats.org/officeDocument/2006/relationships/notesMaster" Target="/ppt/notesMasters/notesMaster1.xml" Id="R8bb1397488984b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332d399c834d3c" /><Relationship Type="http://schemas.openxmlformats.org/officeDocument/2006/relationships/notesMaster" Target="/ppt/notesMasters/notesMaster1.xml" Id="R2a2925a5953e4c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9d07217e9f4574" /><Relationship Type="http://schemas.openxmlformats.org/officeDocument/2006/relationships/notesMaster" Target="/ppt/notesMasters/notesMaster1.xml" Id="R196830ce0eb74b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0441b4373040df" /><Relationship Type="http://schemas.openxmlformats.org/officeDocument/2006/relationships/notesMaster" Target="/ppt/notesMasters/notesMaster1.xml" Id="Rccee61735ed84f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0d2ad0c36f4435" /><Relationship Type="http://schemas.openxmlformats.org/officeDocument/2006/relationships/notesMaster" Target="/ppt/notesMasters/notesMaster1.xml" Id="R309f77caa2fd42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f228c474a7406e" /><Relationship Type="http://schemas.openxmlformats.org/officeDocument/2006/relationships/notesMaster" Target="/ppt/notesMasters/notesMaster1.xml" Id="R899e9d27946949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31876b58ca493e" /><Relationship Type="http://schemas.openxmlformats.org/officeDocument/2006/relationships/notesMaster" Target="/ppt/notesMasters/notesMaster1.xml" Id="R23236b7ca32d4d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6268d4da734121" /><Relationship Type="http://schemas.openxmlformats.org/officeDocument/2006/relationships/notesMaster" Target="/ppt/notesMasters/notesMaster1.xml" Id="R2de77d9755be4c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f8c1ce45d24ddc" /><Relationship Type="http://schemas.openxmlformats.org/officeDocument/2006/relationships/notesMaster" Target="/ppt/notesMasters/notesMaster1.xml" Id="R75987d917c0c4f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Fluids, Electrolytes, and Calculations, Module 3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Cover media: Pexels photo by RDNE Stock project, https://www.pexels.com/photo/close-up-photo-of-an-infusion-pump-6129679/,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Relate fluid compartments to IV solution effects Next, Recognize common volume and electrolyte disturbances Next, Calculate pump and gravity infusion rates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First, Intracellular fluid lies within cells. Next, Extracellular fluid includes intravascular and interstitial spaces. Next, Osmosis moves water across a semipermeable membrane, while diffusion moves solutes down a concentration gradient.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First, Isotonic solutions have an effective concentration similar to plasma. Next, Hypotonic solutions promote movement of water into cells. Next, Hypertonic solutions draw water out of cells and require close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First, Track intake and output, daily weight, vital signs, lung sounds, edema, mucous membranes, cognition, urine output, and relevant laboratory values. Next, Escalate rapid changes or critical results.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Calculations. First, mL/hour equals volume divided by hours. Next, gtt/min equals volume times tubing drop factor divided by minutes. Next,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Where body fluid is located. First, Intracellular: Inside cells; Tonicity changes can move water into or out of cells Next, Intravascular: Inside blood vessels; Directly affects perfusion and circulatory volume Next, Interstitial: Between cells; Excess fluid may appear as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predicts water movement. First, Isotonic: Primarily expands extracellular volume; Lung sounds, edema, blood pressure Next, Hypotonic: Water moves toward cells; Neurologic status and cellular swelling risk Next, Hypertonic: Water moves out of cells; Vein irritation, sodium, glucose, and fluid overload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Metric conversion chart. First, Volume: 1 L = 1,000 mL; Convert the ordered bag volume Next, Mass: 1 g = 1,000 mg; Medication-dose conversion Next, Small mass: 1 mg = 1,000 mcg; High-alert and weight-based doses Next, Weight: 1 kg = 2.2 lb; Convert pounds to kilograms before dosing Next, Household volume: 1 tsp = 5 mL; 1 Tbsp = 15 mL; Use only when an approved clinical reference permits Next, Apothecary units are legacy units and are error-prone. Do not guess or rely on OCR-transcribed values; clarify the order and use an approved conversion reference.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Apothecary units are legacy units and are error-prone. Do not guess or rely on OCR-transcribed values; clarify the order and use an approved conversion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Pump-rate formula. First, Formula: mL/hr = total volume in mL ÷ time in hours. Next, Example: 1,000 mL ÷ 8 hr = 125 mL/hr. Next, Safety check: 125 mL/hr × 8 hr returns the original 1,000 mL. Next, Program the pump only after matching the result to the order and confirming the correct channel and line.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Gravity-rate formula. First, Formula: gtt/min = volume in mL × drop factor in gtt/mL ÷ time in minutes. Next, Example: 250 mL × 15 gtt/mL ÷ 90 min = 41.7 gtt/min. Next, Round to a whole drop: 42 gtt/min. Next, Reassess the drip because patient position, tubing height, and resistance can change a gravity rate.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four-step calculation safety method. First, 1. Organize: Write the ordered volume, time, and tubing factor with units Next, 2. Convert: Make units consistent before calculating Next, 3. Calculate: Use one formula and keep units visible Next, 4. Verify: Work backward and ask whether the answer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Calculate 1,000 mL over 8 hours on a pump Next, Calculate 250 mL over 90 minutes using 15 gtt/mL tubing Next, Choose monitoring priorities for fluid deficit and fluid excess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Relate fluid compartments to IV solution effects Next, Isotonic solutions have an effective concentration similar to plasma. Hypotonic solutions promote movement of water into cells. Hypertonic solutions draw water out of cells and require close monitoring. Next, mL/hour equals volume divided by hours. gtt/min equals volume times tubing drop factor divided by minutes.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38dc6910014f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9721a8c3a94f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8b75d5245f4b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3c6c2703fc346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b8d6b2795943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28f5b8486644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6471FD-2585-4445-AC3A-77215A6B7A1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03E4DF-C69A-4B80-942C-D81D2361FA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BA4BFA-5955-4D74-86A6-3F0F17A5F9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854671-0BB6-45E3-8B81-C5A8141667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B7E566-1D9F-429E-A7A2-4579D916D47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78A0A5A-A6B5-4B5B-A61E-A63D8DAF26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ABE9D1-A727-4FA6-9572-388B9D8B65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345722-62C0-4744-9B82-FF65309FB1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883E54-FDE0-449A-BD2A-B0527DD71C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29E908-DC07-494B-B8F1-7A8BF163B6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9cab2311a74620" /><Relationship Type="http://schemas.openxmlformats.org/officeDocument/2006/relationships/slideLayout" Target="/ppt/slideLayouts/slideLayout1.xml" Id="R914daee8908d4cb2" /><Relationship Type="http://schemas.openxmlformats.org/officeDocument/2006/relationships/slideLayout" Target="/ppt/slideLayouts/slideLayout2.xml" Id="R848c8efafe6f4ea1" /><Relationship Type="http://schemas.openxmlformats.org/officeDocument/2006/relationships/slideLayout" Target="/ppt/slideLayouts/slideLayout3.xml" Id="R47493eac842549ff" /><Relationship Type="http://schemas.openxmlformats.org/officeDocument/2006/relationships/slideLayout" Target="/ppt/slideLayouts/slideLayout4.xml" Id="Rcf66d93395e54faf" /><Relationship Type="http://schemas.openxmlformats.org/officeDocument/2006/relationships/slideLayout" Target="/ppt/slideLayouts/slideLayout5.xml" Id="Rdd011e7fdf41474b" /><Relationship Type="http://schemas.openxmlformats.org/officeDocument/2006/relationships/slideLayout" Target="/ppt/slideLayouts/slideLayout6.xml" Id="R9a9e379c832848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4daee8908d4cb2"/>
    <p:sldLayoutId xmlns:r="http://schemas.openxmlformats.org/officeDocument/2006/relationships" id="2147483650" r:id="R848c8efafe6f4ea1"/>
    <p:sldLayoutId xmlns:r="http://schemas.openxmlformats.org/officeDocument/2006/relationships" id="2147483651" r:id="R47493eac842549ff"/>
    <p:sldLayoutId xmlns:r="http://schemas.openxmlformats.org/officeDocument/2006/relationships" id="2147483652" r:id="Rcf66d93395e54faf"/>
    <p:sldLayoutId xmlns:r="http://schemas.openxmlformats.org/officeDocument/2006/relationships" id="2147483653" r:id="Rdd011e7fdf41474b"/>
    <p:sldLayoutId xmlns:r="http://schemas.openxmlformats.org/officeDocument/2006/relationships" id="2147483654" r:id="R9a9e379c832848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09adb0f7b44ab0" /><Relationship Type="http://schemas.openxmlformats.org/officeDocument/2006/relationships/image" Target="/ppt/media/image.jpeg" Id="Redaff63ea5154d4c" /><Relationship Type="http://schemas.openxmlformats.org/officeDocument/2006/relationships/notesSlide" Target="/ppt/notesSlides/notesSlide1.xml" Id="R18c1f823af1449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c25987c74f4475a" /><Relationship Type="http://schemas.openxmlformats.org/officeDocument/2006/relationships/notesSlide" Target="/ppt/notesSlides/notesSlide2.xml" Id="R7fd11f67c4fb4b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097312e5b9470c" /><Relationship Type="http://schemas.openxmlformats.org/officeDocument/2006/relationships/notesSlide" Target="/ppt/notesSlides/notesSlide3.xml" Id="R1c10f1c7cc1d4c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520447af1cc4de2" /><Relationship Type="http://schemas.openxmlformats.org/officeDocument/2006/relationships/notesSlide" Target="/ppt/notesSlides/notesSlide4.xml" Id="R101abef4e18741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89c04e7d844077" /><Relationship Type="http://schemas.openxmlformats.org/officeDocument/2006/relationships/notesSlide" Target="/ppt/notesSlides/notesSlide5.xml" Id="R7f566b47b2ae4d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1be79789dbc485a" /><Relationship Type="http://schemas.openxmlformats.org/officeDocument/2006/relationships/notesSlide" Target="/ppt/notesSlides/notesSlide6.xml" Id="R3fbe07c714ab4d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d34df1e87e46d4" /><Relationship Type="http://schemas.openxmlformats.org/officeDocument/2006/relationships/notesSlide" Target="/ppt/notesSlides/notesSlide7.xml" Id="R2b1cd91db4a54a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a441f98381145ab" /><Relationship Type="http://schemas.openxmlformats.org/officeDocument/2006/relationships/notesSlide" Target="/ppt/notesSlides/notesSlide8.xml" Id="R1d332558c87744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e38fd43ef7d4c24" /><Relationship Type="http://schemas.openxmlformats.org/officeDocument/2006/relationships/notesSlide" Target="/ppt/notesSlides/notesSlide9.xml" Id="R273906cf7c874e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25dc5ee5d6a43c5" /><Relationship Type="http://schemas.openxmlformats.org/officeDocument/2006/relationships/notesSlide" Target="/ppt/notesSlides/notesSlide10.xml" Id="R45d3d6b2467443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39f38d382e04a43" /><Relationship Type="http://schemas.openxmlformats.org/officeDocument/2006/relationships/notesSlide" Target="/ppt/notesSlides/notesSlide11.xml" Id="Ra4659c3f698e42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a1bb401389345f7" /><Relationship Type="http://schemas.openxmlformats.org/officeDocument/2006/relationships/notesSlide" Target="/ppt/notesSlides/notesSlide12.xml" Id="R7d7f06d79d8b46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9efd5000c234925" /><Relationship Type="http://schemas.openxmlformats.org/officeDocument/2006/relationships/notesSlide" Target="/ppt/notesSlides/notesSlide13.xml" Id="R00580bae4b6d43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b04fd9e1068429a" /><Relationship Type="http://schemas.openxmlformats.org/officeDocument/2006/relationships/notesSlide" Target="/ppt/notesSlides/notesSlide14.xml" Id="R7c3ace7244c945a1"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E8F16AB-249C-4E30-889D-DB7105B45229}"/>
              </a:ext>
            </a:extLst>
          </p:cNvPr>
          <p:cNvPicPr>
            <a:picLocks xmlns:a="http://schemas.openxmlformats.org/drawingml/2006/main" noChangeAspect="1"/>
          </p:cNvPicPr>
          <p:nvPr/>
        </p:nvPicPr>
        <p:blipFill>
          <a:blip xmlns:r="http://schemas.openxmlformats.org/officeDocument/2006/relationships" xmlns:a="http://schemas.openxmlformats.org/drawingml/2006/main" r:embed="Redaff63ea5154d4c"/>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F3E65E-EF6E-4482-A38F-303973CC2D2E}"/>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65115BF-54D1-4F98-B114-36A91EF176AE}"/>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64CC4D80-74BD-4925-B96F-24FA2AC45398}"/>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4AE4A89D-2601-49A2-96CD-63075DE0CCA8}"/>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Fluids, Electrolytes, and Calculations</a:t>
            </a:r>
          </a:p>
        </p:txBody>
      </p:sp>
      <p:sp>
        <p:nvSpPr>
          <p:cNvPr id="6" name="">
            <a:extLst xmlns:a="http://schemas.openxmlformats.org/drawingml/2006/main">
              <a:ext uri="{FF2B5EF4-FFF2-40B4-BE49-F238E27FC236}">
                <a16:creationId xmlns:a16="http://schemas.microsoft.com/office/drawing/2014/main" id="{0D96751C-407A-418E-869C-E299A478F9C1}"/>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3  |  30-Hour Basic Intravenous Therapy</a:t>
            </a:r>
          </a:p>
        </p:txBody>
      </p:sp>
      <p:sp>
        <p:nvSpPr>
          <p:cNvPr id="7" name="">
            <a:extLst xmlns:a="http://schemas.openxmlformats.org/drawingml/2006/main">
              <a:ext uri="{FF2B5EF4-FFF2-40B4-BE49-F238E27FC236}">
                <a16:creationId xmlns:a16="http://schemas.microsoft.com/office/drawing/2014/main" id="{8930D9FB-3ADC-4DC5-A020-5EAB3CF4E062}"/>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66898427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819960-332F-4A27-8A1A-8876417D7F0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058565A-EA6E-4602-9938-6ECF03E987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B9CEE41-CD96-4F6B-B61C-5AB3E3A5BC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02AAC83-C413-421E-8456-B628D82E76D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BB8FBF1-4679-4B32-8E01-A439546EBB0B}"/>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112748563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7F5234-2B66-4CC9-AAE5-666DAD4826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31D1662-54D3-40D0-9D24-B314556DF1F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3" name="">
            <a:extLst xmlns:a="http://schemas.openxmlformats.org/drawingml/2006/main">
              <a:ext uri="{FF2B5EF4-FFF2-40B4-BE49-F238E27FC236}">
                <a16:creationId xmlns:a16="http://schemas.microsoft.com/office/drawing/2014/main" id="{CAFDAF7B-0837-4173-94F3-BB7ABC44B0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E46A22D-AA17-4A37-BB8F-936E8B6473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5B552095-82EF-4CBF-8596-872D3F2ED66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6" name="">
            <a:extLst xmlns:a="http://schemas.openxmlformats.org/drawingml/2006/main">
              <a:ext uri="{FF2B5EF4-FFF2-40B4-BE49-F238E27FC236}">
                <a16:creationId xmlns:a16="http://schemas.microsoft.com/office/drawing/2014/main" id="{AEC6374E-3B9E-4F0A-B1E7-23759D6919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0014390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5EAC44-F7E3-499D-A4B6-D9192F0ADD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F57142-ABB9-4F34-8332-155CC71F22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52C1002A-747A-4E4B-82AF-A93C85E59C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66AA6FD-6AE9-4B35-8BF9-2CFDEFDAAB1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E1899B97-7C96-4B20-A937-EDA1AB9A53A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6" name="">
            <a:extLst xmlns:a="http://schemas.openxmlformats.org/drawingml/2006/main">
              <a:ext uri="{FF2B5EF4-FFF2-40B4-BE49-F238E27FC236}">
                <a16:creationId xmlns:a16="http://schemas.microsoft.com/office/drawing/2014/main" id="{171F9505-8BB9-4249-9275-20B75895B23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1130962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63C56E-C7EF-4525-845A-1CBC92D44E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446DC59-1422-4E7A-AAEA-C53B749870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E1EF6C74-5113-4BAF-AE32-F8D395C3F19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79F94FC-01B3-4418-9008-FC346A2265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720CEE24-54B5-4ABC-BAE4-446CD5B6E2A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6" name="">
            <a:extLst xmlns:a="http://schemas.openxmlformats.org/drawingml/2006/main">
              <a:ext uri="{FF2B5EF4-FFF2-40B4-BE49-F238E27FC236}">
                <a16:creationId xmlns:a16="http://schemas.microsoft.com/office/drawing/2014/main" id="{2E403265-4679-4EDA-83F9-B4BD236576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4532251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F3F2C7-D986-4BDD-9023-E1FB069CA9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D27CCF-252F-4185-A938-3842BE0E0D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3" name="">
            <a:extLst xmlns:a="http://schemas.openxmlformats.org/drawingml/2006/main">
              <a:ext uri="{FF2B5EF4-FFF2-40B4-BE49-F238E27FC236}">
                <a16:creationId xmlns:a16="http://schemas.microsoft.com/office/drawing/2014/main" id="{D332BE39-FDFE-494E-9A01-162D4E12910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5D8DBF7-8A4A-4AF1-BEDF-32B9955D0FA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2F30BCD9-7D56-4944-A2D9-9E57B12902B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2BA53343-C128-4C45-A597-92E8C6607CF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5832026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28C16F9-C87F-4F32-BE77-3784DF4F91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7BB399-3DB7-4ADB-9AA4-9C6E60DCE8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Where body fluid is located</a:t>
            </a:r>
          </a:p>
        </p:txBody>
      </p:sp>
      <p:sp>
        <p:nvSpPr>
          <p:cNvPr id="3" name="">
            <a:extLst xmlns:a="http://schemas.openxmlformats.org/drawingml/2006/main">
              <a:ext uri="{FF2B5EF4-FFF2-40B4-BE49-F238E27FC236}">
                <a16:creationId xmlns:a16="http://schemas.microsoft.com/office/drawing/2014/main" id="{C462998E-DCB1-4173-B755-E950E82737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F97C67A-BFB1-43B0-B950-1E31162E39A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66BE520B-E5ED-4971-8582-BE0CF55F0082}"/>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C67198A5-1433-4A11-9F96-E7FF96D32652}"/>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Compartment</a:t>
            </a:r>
          </a:p>
        </p:txBody>
      </p:sp>
      <p:sp>
        <p:nvSpPr>
          <p:cNvPr id="7" name="">
            <a:extLst xmlns:a="http://schemas.openxmlformats.org/drawingml/2006/main">
              <a:ext uri="{FF2B5EF4-FFF2-40B4-BE49-F238E27FC236}">
                <a16:creationId xmlns:a16="http://schemas.microsoft.com/office/drawing/2014/main" id="{9164F4C9-337F-4F8D-A145-D8B30AF0B118}"/>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B03D8C9-CFBA-4A6C-84C0-DB4329392C80}"/>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Location</a:t>
            </a:r>
          </a:p>
        </p:txBody>
      </p:sp>
      <p:sp>
        <p:nvSpPr>
          <p:cNvPr id="9" name="">
            <a:extLst xmlns:a="http://schemas.openxmlformats.org/drawingml/2006/main">
              <a:ext uri="{FF2B5EF4-FFF2-40B4-BE49-F238E27FC236}">
                <a16:creationId xmlns:a16="http://schemas.microsoft.com/office/drawing/2014/main" id="{79AD607F-A25E-4FF5-B1FA-E921C17D97D1}"/>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8E229BB-1958-4E6D-9BF7-2417A205B685}"/>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B7021A73-994C-493D-B403-71DEAB3A352D}"/>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445B08C-D507-4C27-A8F0-2F51231ECEEC}"/>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Intracellular</a:t>
            </a:r>
          </a:p>
        </p:txBody>
      </p:sp>
      <p:sp>
        <p:nvSpPr>
          <p:cNvPr id="13" name="">
            <a:extLst xmlns:a="http://schemas.openxmlformats.org/drawingml/2006/main">
              <a:ext uri="{FF2B5EF4-FFF2-40B4-BE49-F238E27FC236}">
                <a16:creationId xmlns:a16="http://schemas.microsoft.com/office/drawing/2014/main" id="{13BF37E0-5E07-4653-8EA2-55DB5184E33E}"/>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C102D15-8D99-4B21-8A83-6FB397870482}"/>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cells</a:t>
            </a:r>
          </a:p>
        </p:txBody>
      </p:sp>
      <p:sp>
        <p:nvSpPr>
          <p:cNvPr id="15" name="">
            <a:extLst xmlns:a="http://schemas.openxmlformats.org/drawingml/2006/main">
              <a:ext uri="{FF2B5EF4-FFF2-40B4-BE49-F238E27FC236}">
                <a16:creationId xmlns:a16="http://schemas.microsoft.com/office/drawing/2014/main" id="{B2314343-00D3-46CD-9C9C-9BC7EA886254}"/>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BF0C4EF-E684-43D5-85EF-70CBA48A6419}"/>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Tonicity changes can move water into or out of cells</a:t>
            </a:r>
          </a:p>
        </p:txBody>
      </p:sp>
      <p:sp>
        <p:nvSpPr>
          <p:cNvPr id="17" name="">
            <a:extLst xmlns:a="http://schemas.openxmlformats.org/drawingml/2006/main">
              <a:ext uri="{FF2B5EF4-FFF2-40B4-BE49-F238E27FC236}">
                <a16:creationId xmlns:a16="http://schemas.microsoft.com/office/drawing/2014/main" id="{4CE1A6BE-ED53-4A6E-85FD-08B4F7F135C0}"/>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7447278-0231-4231-9830-20AF3A83553B}"/>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Intravascular</a:t>
            </a:r>
          </a:p>
        </p:txBody>
      </p:sp>
      <p:sp>
        <p:nvSpPr>
          <p:cNvPr id="19" name="">
            <a:extLst xmlns:a="http://schemas.openxmlformats.org/drawingml/2006/main">
              <a:ext uri="{FF2B5EF4-FFF2-40B4-BE49-F238E27FC236}">
                <a16:creationId xmlns:a16="http://schemas.microsoft.com/office/drawing/2014/main" id="{18F6A0EF-E558-4343-BD37-327902D9F627}"/>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23AE540-0032-4ECE-B015-889598143446}"/>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blood vessels</a:t>
            </a:r>
          </a:p>
        </p:txBody>
      </p:sp>
      <p:sp>
        <p:nvSpPr>
          <p:cNvPr id="21" name="">
            <a:extLst xmlns:a="http://schemas.openxmlformats.org/drawingml/2006/main">
              <a:ext uri="{FF2B5EF4-FFF2-40B4-BE49-F238E27FC236}">
                <a16:creationId xmlns:a16="http://schemas.microsoft.com/office/drawing/2014/main" id="{AE7CF4F7-841C-4679-AAB6-61D1BCB2DBCE}"/>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90783AB-4DC9-46F6-8F7A-EBF2570603BD}"/>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Directly affects perfusion and circulatory volume</a:t>
            </a:r>
          </a:p>
        </p:txBody>
      </p:sp>
      <p:sp>
        <p:nvSpPr>
          <p:cNvPr id="23" name="">
            <a:extLst xmlns:a="http://schemas.openxmlformats.org/drawingml/2006/main">
              <a:ext uri="{FF2B5EF4-FFF2-40B4-BE49-F238E27FC236}">
                <a16:creationId xmlns:a16="http://schemas.microsoft.com/office/drawing/2014/main" id="{436573E4-8D78-4F2A-AA29-6FFB5C034C57}"/>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8320E23-B3F7-4FB0-9529-8119266923E4}"/>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Interstitial</a:t>
            </a:r>
          </a:p>
        </p:txBody>
      </p:sp>
      <p:sp>
        <p:nvSpPr>
          <p:cNvPr id="25" name="">
            <a:extLst xmlns:a="http://schemas.openxmlformats.org/drawingml/2006/main">
              <a:ext uri="{FF2B5EF4-FFF2-40B4-BE49-F238E27FC236}">
                <a16:creationId xmlns:a16="http://schemas.microsoft.com/office/drawing/2014/main" id="{5FD0AF0D-6736-49C0-920D-99EE9041A4D9}"/>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90D68C9-BE10-4B28-8F7D-A9E1B67028E3}"/>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Between cells</a:t>
            </a:r>
          </a:p>
        </p:txBody>
      </p:sp>
      <p:sp>
        <p:nvSpPr>
          <p:cNvPr id="27" name="">
            <a:extLst xmlns:a="http://schemas.openxmlformats.org/drawingml/2006/main">
              <a:ext uri="{FF2B5EF4-FFF2-40B4-BE49-F238E27FC236}">
                <a16:creationId xmlns:a16="http://schemas.microsoft.com/office/drawing/2014/main" id="{BF469F3F-35C3-4965-BFA2-50E323858817}"/>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3157D04-2411-471A-BA3D-6FE03115A9C3}"/>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Excess fluid may appear as edema</a:t>
            </a:r>
          </a:p>
        </p:txBody>
      </p:sp>
    </p:spTree>
    <p:extLst>
      <p:ext uri="{BB962C8B-B14F-4D97-AF65-F5344CB8AC3E}">
        <p14:creationId xmlns:p14="http://schemas.microsoft.com/office/powerpoint/2010/main" val="1928151935"/>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15AD799-7A81-44EE-9BFD-0C02E90907B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CFB868A-72BF-48DD-A7D2-07DBACB0B8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 predicts water movement</a:t>
            </a:r>
          </a:p>
        </p:txBody>
      </p:sp>
      <p:sp>
        <p:nvSpPr>
          <p:cNvPr id="3" name="">
            <a:extLst xmlns:a="http://schemas.openxmlformats.org/drawingml/2006/main">
              <a:ext uri="{FF2B5EF4-FFF2-40B4-BE49-F238E27FC236}">
                <a16:creationId xmlns:a16="http://schemas.microsoft.com/office/drawing/2014/main" id="{D9A5F921-680E-49DF-8973-CBA16EED06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90E3297-4264-4438-B744-BDF0538966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E753C07-1A5F-4EF7-A9C3-277D15850CF4}"/>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17600FEA-CA7E-442E-807E-371FE2C8650B}"/>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Solution type</a:t>
            </a:r>
          </a:p>
        </p:txBody>
      </p:sp>
      <p:sp>
        <p:nvSpPr>
          <p:cNvPr id="7" name="">
            <a:extLst xmlns:a="http://schemas.openxmlformats.org/drawingml/2006/main">
              <a:ext uri="{FF2B5EF4-FFF2-40B4-BE49-F238E27FC236}">
                <a16:creationId xmlns:a16="http://schemas.microsoft.com/office/drawing/2014/main" id="{B67EC630-7446-4755-9D48-F0031E140601}"/>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C0642F8-1689-40B1-A24C-13AE954DD437}"/>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water shift</a:t>
            </a:r>
          </a:p>
        </p:txBody>
      </p:sp>
      <p:sp>
        <p:nvSpPr>
          <p:cNvPr id="9" name="">
            <a:extLst xmlns:a="http://schemas.openxmlformats.org/drawingml/2006/main">
              <a:ext uri="{FF2B5EF4-FFF2-40B4-BE49-F238E27FC236}">
                <a16:creationId xmlns:a16="http://schemas.microsoft.com/office/drawing/2014/main" id="{65C661CF-65F9-4D73-B739-69E75404B82F}"/>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DA08200-3B76-46FD-BA2A-EBF0BBB30DC5}"/>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1" name="">
            <a:extLst xmlns:a="http://schemas.openxmlformats.org/drawingml/2006/main">
              <a:ext uri="{FF2B5EF4-FFF2-40B4-BE49-F238E27FC236}">
                <a16:creationId xmlns:a16="http://schemas.microsoft.com/office/drawing/2014/main" id="{DDB574AA-9EBC-42A7-B7E9-61A34C86BD41}"/>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7BC4063-6F28-49D8-89D3-3755A88D5B87}"/>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a:t>
            </a:r>
          </a:p>
        </p:txBody>
      </p:sp>
      <p:sp>
        <p:nvSpPr>
          <p:cNvPr id="13" name="">
            <a:extLst xmlns:a="http://schemas.openxmlformats.org/drawingml/2006/main">
              <a:ext uri="{FF2B5EF4-FFF2-40B4-BE49-F238E27FC236}">
                <a16:creationId xmlns:a16="http://schemas.microsoft.com/office/drawing/2014/main" id="{B3387AEB-6086-42B7-8780-D7CB00F94924}"/>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D8964D3-A863-4BC4-A35F-E59CB7D61AC7}"/>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Primarily expands extracellular volume</a:t>
            </a:r>
          </a:p>
        </p:txBody>
      </p:sp>
      <p:sp>
        <p:nvSpPr>
          <p:cNvPr id="15" name="">
            <a:extLst xmlns:a="http://schemas.openxmlformats.org/drawingml/2006/main">
              <a:ext uri="{FF2B5EF4-FFF2-40B4-BE49-F238E27FC236}">
                <a16:creationId xmlns:a16="http://schemas.microsoft.com/office/drawing/2014/main" id="{5CF8F646-7719-49E6-9E9C-D234A12FC89C}"/>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11ED943-2DD6-489C-970C-0A28133482DA}"/>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 sounds, edema, blood pressure</a:t>
            </a:r>
          </a:p>
        </p:txBody>
      </p:sp>
      <p:sp>
        <p:nvSpPr>
          <p:cNvPr id="17" name="">
            <a:extLst xmlns:a="http://schemas.openxmlformats.org/drawingml/2006/main">
              <a:ext uri="{FF2B5EF4-FFF2-40B4-BE49-F238E27FC236}">
                <a16:creationId xmlns:a16="http://schemas.microsoft.com/office/drawing/2014/main" id="{1998584E-6059-412B-81A0-CA5607D1FCA7}"/>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5AF771E-7388-4A84-A807-0E660CF80344}"/>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a:t>
            </a:r>
          </a:p>
        </p:txBody>
      </p:sp>
      <p:sp>
        <p:nvSpPr>
          <p:cNvPr id="19" name="">
            <a:extLst xmlns:a="http://schemas.openxmlformats.org/drawingml/2006/main">
              <a:ext uri="{FF2B5EF4-FFF2-40B4-BE49-F238E27FC236}">
                <a16:creationId xmlns:a16="http://schemas.microsoft.com/office/drawing/2014/main" id="{F8C1CCB9-5486-440A-9D0B-DF7550D5C9BE}"/>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567F273-2D04-460B-8A14-EF0DC9AA0172}"/>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toward cells</a:t>
            </a:r>
          </a:p>
        </p:txBody>
      </p:sp>
      <p:sp>
        <p:nvSpPr>
          <p:cNvPr id="21" name="">
            <a:extLst xmlns:a="http://schemas.openxmlformats.org/drawingml/2006/main">
              <a:ext uri="{FF2B5EF4-FFF2-40B4-BE49-F238E27FC236}">
                <a16:creationId xmlns:a16="http://schemas.microsoft.com/office/drawing/2014/main" id="{6EDD4D67-B06F-4B18-BB3C-D3CD3B6ECBB5}"/>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FBEB87D-7627-4280-9BBD-7810837AD0B3}"/>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and cellular swelling risk</a:t>
            </a:r>
          </a:p>
        </p:txBody>
      </p:sp>
      <p:sp>
        <p:nvSpPr>
          <p:cNvPr id="23" name="">
            <a:extLst xmlns:a="http://schemas.openxmlformats.org/drawingml/2006/main">
              <a:ext uri="{FF2B5EF4-FFF2-40B4-BE49-F238E27FC236}">
                <a16:creationId xmlns:a16="http://schemas.microsoft.com/office/drawing/2014/main" id="{5690644D-7B2A-422F-AED0-25C77227D733}"/>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4AE4FC0-F05D-47B0-9ECD-4564BE5627F0}"/>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a:t>
            </a:r>
          </a:p>
        </p:txBody>
      </p:sp>
      <p:sp>
        <p:nvSpPr>
          <p:cNvPr id="25" name="">
            <a:extLst xmlns:a="http://schemas.openxmlformats.org/drawingml/2006/main">
              <a:ext uri="{FF2B5EF4-FFF2-40B4-BE49-F238E27FC236}">
                <a16:creationId xmlns:a16="http://schemas.microsoft.com/office/drawing/2014/main" id="{A723C058-CFC0-49F7-B5A2-F07288882942}"/>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B8D4816-F5C3-45F2-9F16-BA5ADE18CBA2}"/>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out of cells</a:t>
            </a:r>
          </a:p>
        </p:txBody>
      </p:sp>
      <p:sp>
        <p:nvSpPr>
          <p:cNvPr id="27" name="">
            <a:extLst xmlns:a="http://schemas.openxmlformats.org/drawingml/2006/main">
              <a:ext uri="{FF2B5EF4-FFF2-40B4-BE49-F238E27FC236}">
                <a16:creationId xmlns:a16="http://schemas.microsoft.com/office/drawing/2014/main" id="{2AB58F19-7EF4-4B87-AA08-67971D2E2701}"/>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9B3841A-B213-4183-B3E1-901858839B7E}"/>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irritation, sodium, glucose, and fluid overload</a:t>
            </a:r>
          </a:p>
        </p:txBody>
      </p:sp>
    </p:spTree>
    <p:extLst>
      <p:ext uri="{BB962C8B-B14F-4D97-AF65-F5344CB8AC3E}">
        <p14:creationId xmlns:p14="http://schemas.microsoft.com/office/powerpoint/2010/main" val="1120869285"/>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2751E7F9-94CD-4E42-9272-3C5B59DBA52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5F0569-0FC8-4842-BF57-39F5EAB7C0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Metric conversion chart</a:t>
            </a:r>
          </a:p>
        </p:txBody>
      </p:sp>
      <p:sp>
        <p:nvSpPr>
          <p:cNvPr id="3" name="">
            <a:extLst xmlns:a="http://schemas.openxmlformats.org/drawingml/2006/main">
              <a:ext uri="{FF2B5EF4-FFF2-40B4-BE49-F238E27FC236}">
                <a16:creationId xmlns:a16="http://schemas.microsoft.com/office/drawing/2014/main" id="{B458F05B-4D49-467E-953F-22FE1F7C27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7F37592-6216-4B9C-B64F-3491C6D7DB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0F997837-9A28-4E84-BC8F-2E4CEC04BE86}"/>
              </a:ext>
            </a:extLst>
          </p:cNvPr>
          <p:cNvSpPr>
            <a:spLocks xmlns:a="http://schemas.openxmlformats.org/drawingml/2006/main" noGrp="1"/>
          </p:cNvSpPr>
          <p:nvPr/>
        </p:nvSpPr>
        <p:spPr>
          <a:xfrm xmlns:a="http://schemas.openxmlformats.org/drawingml/2006/main">
            <a:off x="7810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6F6C7D4-E42F-491C-AC19-A5C0466C8996}"/>
              </a:ext>
            </a:extLst>
          </p:cNvPr>
          <p:cNvSpPr>
            <a:spLocks xmlns:a="http://schemas.openxmlformats.org/drawingml/2006/main" noGrp="1"/>
          </p:cNvSpPr>
          <p:nvPr/>
        </p:nvSpPr>
        <p:spPr>
          <a:xfrm xmlns:a="http://schemas.openxmlformats.org/drawingml/2006/main">
            <a:off x="8763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Relationship</a:t>
            </a:r>
          </a:p>
        </p:txBody>
      </p:sp>
      <p:sp>
        <p:nvSpPr>
          <p:cNvPr id="7" name="">
            <a:extLst xmlns:a="http://schemas.openxmlformats.org/drawingml/2006/main">
              <a:ext uri="{FF2B5EF4-FFF2-40B4-BE49-F238E27FC236}">
                <a16:creationId xmlns:a16="http://schemas.microsoft.com/office/drawing/2014/main" id="{5D707352-B6F8-4440-A0D4-6075447A70A3}"/>
              </a:ext>
            </a:extLst>
          </p:cNvPr>
          <p:cNvSpPr>
            <a:spLocks xmlns:a="http://schemas.openxmlformats.org/drawingml/2006/main" noGrp="1"/>
          </p:cNvSpPr>
          <p:nvPr/>
        </p:nvSpPr>
        <p:spPr>
          <a:xfrm xmlns:a="http://schemas.openxmlformats.org/drawingml/2006/main">
            <a:off x="430530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31E91A4-DBC1-424F-B040-EC0A39268461}"/>
              </a:ext>
            </a:extLst>
          </p:cNvPr>
          <p:cNvSpPr>
            <a:spLocks xmlns:a="http://schemas.openxmlformats.org/drawingml/2006/main" noGrp="1"/>
          </p:cNvSpPr>
          <p:nvPr/>
        </p:nvSpPr>
        <p:spPr>
          <a:xfrm xmlns:a="http://schemas.openxmlformats.org/drawingml/2006/main">
            <a:off x="440055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Conversion</a:t>
            </a:r>
          </a:p>
        </p:txBody>
      </p:sp>
      <p:sp>
        <p:nvSpPr>
          <p:cNvPr id="9" name="">
            <a:extLst xmlns:a="http://schemas.openxmlformats.org/drawingml/2006/main">
              <a:ext uri="{FF2B5EF4-FFF2-40B4-BE49-F238E27FC236}">
                <a16:creationId xmlns:a16="http://schemas.microsoft.com/office/drawing/2014/main" id="{C4439056-37E3-42E3-A61A-54B6FEEE9B81}"/>
              </a:ext>
            </a:extLst>
          </p:cNvPr>
          <p:cNvSpPr>
            <a:spLocks xmlns:a="http://schemas.openxmlformats.org/drawingml/2006/main" noGrp="1"/>
          </p:cNvSpPr>
          <p:nvPr/>
        </p:nvSpPr>
        <p:spPr>
          <a:xfrm xmlns:a="http://schemas.openxmlformats.org/drawingml/2006/main">
            <a:off x="78295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1F3A63B-4D0C-4139-9F13-ED69D3F065B9}"/>
              </a:ext>
            </a:extLst>
          </p:cNvPr>
          <p:cNvSpPr>
            <a:spLocks xmlns:a="http://schemas.openxmlformats.org/drawingml/2006/main" noGrp="1"/>
          </p:cNvSpPr>
          <p:nvPr/>
        </p:nvSpPr>
        <p:spPr>
          <a:xfrm xmlns:a="http://schemas.openxmlformats.org/drawingml/2006/main">
            <a:off x="79248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Use</a:t>
            </a:r>
          </a:p>
        </p:txBody>
      </p:sp>
      <p:sp>
        <p:nvSpPr>
          <p:cNvPr id="11" name="">
            <a:extLst xmlns:a="http://schemas.openxmlformats.org/drawingml/2006/main">
              <a:ext uri="{FF2B5EF4-FFF2-40B4-BE49-F238E27FC236}">
                <a16:creationId xmlns:a16="http://schemas.microsoft.com/office/drawing/2014/main" id="{818C297C-0871-4E66-A0B4-ED7FF40AB055}"/>
              </a:ext>
            </a:extLst>
          </p:cNvPr>
          <p:cNvSpPr>
            <a:spLocks xmlns:a="http://schemas.openxmlformats.org/drawingml/2006/main" noGrp="1"/>
          </p:cNvSpPr>
          <p:nvPr/>
        </p:nvSpPr>
        <p:spPr>
          <a:xfrm xmlns:a="http://schemas.openxmlformats.org/drawingml/2006/main">
            <a:off x="7810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A5862C2-9F4C-4B97-BF51-579D2D89AAF6}"/>
              </a:ext>
            </a:extLst>
          </p:cNvPr>
          <p:cNvSpPr>
            <a:spLocks xmlns:a="http://schemas.openxmlformats.org/drawingml/2006/main" noGrp="1"/>
          </p:cNvSpPr>
          <p:nvPr/>
        </p:nvSpPr>
        <p:spPr>
          <a:xfrm xmlns:a="http://schemas.openxmlformats.org/drawingml/2006/main">
            <a:off x="8763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3" name="">
            <a:extLst xmlns:a="http://schemas.openxmlformats.org/drawingml/2006/main">
              <a:ext uri="{FF2B5EF4-FFF2-40B4-BE49-F238E27FC236}">
                <a16:creationId xmlns:a16="http://schemas.microsoft.com/office/drawing/2014/main" id="{B85EAF8B-812B-4797-A4F3-EE42B9EB139B}"/>
              </a:ext>
            </a:extLst>
          </p:cNvPr>
          <p:cNvSpPr>
            <a:spLocks xmlns:a="http://schemas.openxmlformats.org/drawingml/2006/main" noGrp="1"/>
          </p:cNvSpPr>
          <p:nvPr/>
        </p:nvSpPr>
        <p:spPr>
          <a:xfrm xmlns:a="http://schemas.openxmlformats.org/drawingml/2006/main">
            <a:off x="430530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C6E87CD-1D7D-45B7-ABC2-2B5B70E17ACC}"/>
              </a:ext>
            </a:extLst>
          </p:cNvPr>
          <p:cNvSpPr>
            <a:spLocks xmlns:a="http://schemas.openxmlformats.org/drawingml/2006/main" noGrp="1"/>
          </p:cNvSpPr>
          <p:nvPr/>
        </p:nvSpPr>
        <p:spPr>
          <a:xfrm xmlns:a="http://schemas.openxmlformats.org/drawingml/2006/main">
            <a:off x="440055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15" name="">
            <a:extLst xmlns:a="http://schemas.openxmlformats.org/drawingml/2006/main">
              <a:ext uri="{FF2B5EF4-FFF2-40B4-BE49-F238E27FC236}">
                <a16:creationId xmlns:a16="http://schemas.microsoft.com/office/drawing/2014/main" id="{B273FEB2-B87D-4171-86C9-0683BFFA63DE}"/>
              </a:ext>
            </a:extLst>
          </p:cNvPr>
          <p:cNvSpPr>
            <a:spLocks xmlns:a="http://schemas.openxmlformats.org/drawingml/2006/main" noGrp="1"/>
          </p:cNvSpPr>
          <p:nvPr/>
        </p:nvSpPr>
        <p:spPr>
          <a:xfrm xmlns:a="http://schemas.openxmlformats.org/drawingml/2006/main">
            <a:off x="78295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66493F3-6885-42D0-ABDC-49DB516AD05B}"/>
              </a:ext>
            </a:extLst>
          </p:cNvPr>
          <p:cNvSpPr>
            <a:spLocks xmlns:a="http://schemas.openxmlformats.org/drawingml/2006/main" noGrp="1"/>
          </p:cNvSpPr>
          <p:nvPr/>
        </p:nvSpPr>
        <p:spPr>
          <a:xfrm xmlns:a="http://schemas.openxmlformats.org/drawingml/2006/main">
            <a:off x="79248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the ordered bag volume</a:t>
            </a:r>
          </a:p>
        </p:txBody>
      </p:sp>
      <p:sp>
        <p:nvSpPr>
          <p:cNvPr id="17" name="">
            <a:extLst xmlns:a="http://schemas.openxmlformats.org/drawingml/2006/main">
              <a:ext uri="{FF2B5EF4-FFF2-40B4-BE49-F238E27FC236}">
                <a16:creationId xmlns:a16="http://schemas.microsoft.com/office/drawing/2014/main" id="{0428084B-CC2C-44E0-ACD1-C275777BD6C3}"/>
              </a:ext>
            </a:extLst>
          </p:cNvPr>
          <p:cNvSpPr>
            <a:spLocks xmlns:a="http://schemas.openxmlformats.org/drawingml/2006/main" noGrp="1"/>
          </p:cNvSpPr>
          <p:nvPr/>
        </p:nvSpPr>
        <p:spPr>
          <a:xfrm xmlns:a="http://schemas.openxmlformats.org/drawingml/2006/main">
            <a:off x="7810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88D5B43-8B15-48E8-A5C6-4064BF366662}"/>
              </a:ext>
            </a:extLst>
          </p:cNvPr>
          <p:cNvSpPr>
            <a:spLocks xmlns:a="http://schemas.openxmlformats.org/drawingml/2006/main" noGrp="1"/>
          </p:cNvSpPr>
          <p:nvPr/>
        </p:nvSpPr>
        <p:spPr>
          <a:xfrm xmlns:a="http://schemas.openxmlformats.org/drawingml/2006/main">
            <a:off x="8763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19" name="">
            <a:extLst xmlns:a="http://schemas.openxmlformats.org/drawingml/2006/main">
              <a:ext uri="{FF2B5EF4-FFF2-40B4-BE49-F238E27FC236}">
                <a16:creationId xmlns:a16="http://schemas.microsoft.com/office/drawing/2014/main" id="{BB148EA0-D4E5-4043-B507-7961E9EF42B0}"/>
              </a:ext>
            </a:extLst>
          </p:cNvPr>
          <p:cNvSpPr>
            <a:spLocks xmlns:a="http://schemas.openxmlformats.org/drawingml/2006/main" noGrp="1"/>
          </p:cNvSpPr>
          <p:nvPr/>
        </p:nvSpPr>
        <p:spPr>
          <a:xfrm xmlns:a="http://schemas.openxmlformats.org/drawingml/2006/main">
            <a:off x="430530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1F4D675-5E9B-4AAC-9734-7C04146DD662}"/>
              </a:ext>
            </a:extLst>
          </p:cNvPr>
          <p:cNvSpPr>
            <a:spLocks xmlns:a="http://schemas.openxmlformats.org/drawingml/2006/main" noGrp="1"/>
          </p:cNvSpPr>
          <p:nvPr/>
        </p:nvSpPr>
        <p:spPr>
          <a:xfrm xmlns:a="http://schemas.openxmlformats.org/drawingml/2006/main">
            <a:off x="440055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a:t>
            </a:r>
          </a:p>
        </p:txBody>
      </p:sp>
      <p:sp>
        <p:nvSpPr>
          <p:cNvPr id="21" name="">
            <a:extLst xmlns:a="http://schemas.openxmlformats.org/drawingml/2006/main">
              <a:ext uri="{FF2B5EF4-FFF2-40B4-BE49-F238E27FC236}">
                <a16:creationId xmlns:a16="http://schemas.microsoft.com/office/drawing/2014/main" id="{2D1EA006-A5B3-4D84-A11A-339B2DBBBF10}"/>
              </a:ext>
            </a:extLst>
          </p:cNvPr>
          <p:cNvSpPr>
            <a:spLocks xmlns:a="http://schemas.openxmlformats.org/drawingml/2006/main" noGrp="1"/>
          </p:cNvSpPr>
          <p:nvPr/>
        </p:nvSpPr>
        <p:spPr>
          <a:xfrm xmlns:a="http://schemas.openxmlformats.org/drawingml/2006/main">
            <a:off x="78295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FD5C048-34DB-449D-B7F5-9B9A88363DBC}"/>
              </a:ext>
            </a:extLst>
          </p:cNvPr>
          <p:cNvSpPr>
            <a:spLocks xmlns:a="http://schemas.openxmlformats.org/drawingml/2006/main" noGrp="1"/>
          </p:cNvSpPr>
          <p:nvPr/>
        </p:nvSpPr>
        <p:spPr>
          <a:xfrm xmlns:a="http://schemas.openxmlformats.org/drawingml/2006/main">
            <a:off x="79248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Medication-dose conversion</a:t>
            </a:r>
          </a:p>
        </p:txBody>
      </p:sp>
      <p:sp>
        <p:nvSpPr>
          <p:cNvPr id="23" name="">
            <a:extLst xmlns:a="http://schemas.openxmlformats.org/drawingml/2006/main">
              <a:ext uri="{FF2B5EF4-FFF2-40B4-BE49-F238E27FC236}">
                <a16:creationId xmlns:a16="http://schemas.microsoft.com/office/drawing/2014/main" id="{453BC69E-5717-4BB9-8A86-91B25DA2E359}"/>
              </a:ext>
            </a:extLst>
          </p:cNvPr>
          <p:cNvSpPr>
            <a:spLocks xmlns:a="http://schemas.openxmlformats.org/drawingml/2006/main" noGrp="1"/>
          </p:cNvSpPr>
          <p:nvPr/>
        </p:nvSpPr>
        <p:spPr>
          <a:xfrm xmlns:a="http://schemas.openxmlformats.org/drawingml/2006/main">
            <a:off x="7810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0FF9D73-2FBB-45C2-89E2-12378A7A4160}"/>
              </a:ext>
            </a:extLst>
          </p:cNvPr>
          <p:cNvSpPr>
            <a:spLocks xmlns:a="http://schemas.openxmlformats.org/drawingml/2006/main" noGrp="1"/>
          </p:cNvSpPr>
          <p:nvPr/>
        </p:nvSpPr>
        <p:spPr>
          <a:xfrm xmlns:a="http://schemas.openxmlformats.org/drawingml/2006/main">
            <a:off x="8763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mass</a:t>
            </a:r>
          </a:p>
        </p:txBody>
      </p:sp>
      <p:sp>
        <p:nvSpPr>
          <p:cNvPr id="25" name="">
            <a:extLst xmlns:a="http://schemas.openxmlformats.org/drawingml/2006/main">
              <a:ext uri="{FF2B5EF4-FFF2-40B4-BE49-F238E27FC236}">
                <a16:creationId xmlns:a16="http://schemas.microsoft.com/office/drawing/2014/main" id="{2EDCCCC3-51D2-4F76-8480-EB330DBECB3A}"/>
              </a:ext>
            </a:extLst>
          </p:cNvPr>
          <p:cNvSpPr>
            <a:spLocks xmlns:a="http://schemas.openxmlformats.org/drawingml/2006/main" noGrp="1"/>
          </p:cNvSpPr>
          <p:nvPr/>
        </p:nvSpPr>
        <p:spPr>
          <a:xfrm xmlns:a="http://schemas.openxmlformats.org/drawingml/2006/main">
            <a:off x="430530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30A0A05-9CB1-4696-97E6-29570C0776CC}"/>
              </a:ext>
            </a:extLst>
          </p:cNvPr>
          <p:cNvSpPr>
            <a:spLocks xmlns:a="http://schemas.openxmlformats.org/drawingml/2006/main" noGrp="1"/>
          </p:cNvSpPr>
          <p:nvPr/>
        </p:nvSpPr>
        <p:spPr>
          <a:xfrm xmlns:a="http://schemas.openxmlformats.org/drawingml/2006/main">
            <a:off x="440055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mg = 1,000 mcg</a:t>
            </a:r>
          </a:p>
        </p:txBody>
      </p:sp>
      <p:sp>
        <p:nvSpPr>
          <p:cNvPr id="27" name="">
            <a:extLst xmlns:a="http://schemas.openxmlformats.org/drawingml/2006/main">
              <a:ext uri="{FF2B5EF4-FFF2-40B4-BE49-F238E27FC236}">
                <a16:creationId xmlns:a16="http://schemas.microsoft.com/office/drawing/2014/main" id="{E1CEF023-FFEA-43C2-8495-9C18DC1C1542}"/>
              </a:ext>
            </a:extLst>
          </p:cNvPr>
          <p:cNvSpPr>
            <a:spLocks xmlns:a="http://schemas.openxmlformats.org/drawingml/2006/main" noGrp="1"/>
          </p:cNvSpPr>
          <p:nvPr/>
        </p:nvSpPr>
        <p:spPr>
          <a:xfrm xmlns:a="http://schemas.openxmlformats.org/drawingml/2006/main">
            <a:off x="78295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4C38CF8-CB2F-49AD-8020-3A5077D0F0EF}"/>
              </a:ext>
            </a:extLst>
          </p:cNvPr>
          <p:cNvSpPr>
            <a:spLocks xmlns:a="http://schemas.openxmlformats.org/drawingml/2006/main" noGrp="1"/>
          </p:cNvSpPr>
          <p:nvPr/>
        </p:nvSpPr>
        <p:spPr>
          <a:xfrm xmlns:a="http://schemas.openxmlformats.org/drawingml/2006/main">
            <a:off x="79248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High-alert and weight-based doses</a:t>
            </a:r>
          </a:p>
        </p:txBody>
      </p:sp>
      <p:sp>
        <p:nvSpPr>
          <p:cNvPr id="29" name="">
            <a:extLst xmlns:a="http://schemas.openxmlformats.org/drawingml/2006/main">
              <a:ext uri="{FF2B5EF4-FFF2-40B4-BE49-F238E27FC236}">
                <a16:creationId xmlns:a16="http://schemas.microsoft.com/office/drawing/2014/main" id="{11912F33-9F77-4944-A9A0-D424515DA57D}"/>
              </a:ext>
            </a:extLst>
          </p:cNvPr>
          <p:cNvSpPr>
            <a:spLocks xmlns:a="http://schemas.openxmlformats.org/drawingml/2006/main" noGrp="1"/>
          </p:cNvSpPr>
          <p:nvPr/>
        </p:nvSpPr>
        <p:spPr>
          <a:xfrm xmlns:a="http://schemas.openxmlformats.org/drawingml/2006/main">
            <a:off x="7810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4AB8E2D-470E-4A03-9F0E-A6013F1E9E93}"/>
              </a:ext>
            </a:extLst>
          </p:cNvPr>
          <p:cNvSpPr>
            <a:spLocks xmlns:a="http://schemas.openxmlformats.org/drawingml/2006/main" noGrp="1"/>
          </p:cNvSpPr>
          <p:nvPr/>
        </p:nvSpPr>
        <p:spPr>
          <a:xfrm xmlns:a="http://schemas.openxmlformats.org/drawingml/2006/main">
            <a:off x="8763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31" name="">
            <a:extLst xmlns:a="http://schemas.openxmlformats.org/drawingml/2006/main">
              <a:ext uri="{FF2B5EF4-FFF2-40B4-BE49-F238E27FC236}">
                <a16:creationId xmlns:a16="http://schemas.microsoft.com/office/drawing/2014/main" id="{F82B6401-059D-44CD-A576-3B8C26AA824C}"/>
              </a:ext>
            </a:extLst>
          </p:cNvPr>
          <p:cNvSpPr>
            <a:spLocks xmlns:a="http://schemas.openxmlformats.org/drawingml/2006/main" noGrp="1"/>
          </p:cNvSpPr>
          <p:nvPr/>
        </p:nvSpPr>
        <p:spPr>
          <a:xfrm xmlns:a="http://schemas.openxmlformats.org/drawingml/2006/main">
            <a:off x="430530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43D6F5D7-3F02-47E2-BD2D-5348D4E4B477}"/>
              </a:ext>
            </a:extLst>
          </p:cNvPr>
          <p:cNvSpPr>
            <a:spLocks xmlns:a="http://schemas.openxmlformats.org/drawingml/2006/main" noGrp="1"/>
          </p:cNvSpPr>
          <p:nvPr/>
        </p:nvSpPr>
        <p:spPr>
          <a:xfrm xmlns:a="http://schemas.openxmlformats.org/drawingml/2006/main">
            <a:off x="440055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kg = 2.2 lb</a:t>
            </a:r>
          </a:p>
        </p:txBody>
      </p:sp>
      <p:sp>
        <p:nvSpPr>
          <p:cNvPr id="33" name="">
            <a:extLst xmlns:a="http://schemas.openxmlformats.org/drawingml/2006/main">
              <a:ext uri="{FF2B5EF4-FFF2-40B4-BE49-F238E27FC236}">
                <a16:creationId xmlns:a16="http://schemas.microsoft.com/office/drawing/2014/main" id="{A4A86127-BC8A-4160-B584-A4902E95CC58}"/>
              </a:ext>
            </a:extLst>
          </p:cNvPr>
          <p:cNvSpPr>
            <a:spLocks xmlns:a="http://schemas.openxmlformats.org/drawingml/2006/main" noGrp="1"/>
          </p:cNvSpPr>
          <p:nvPr/>
        </p:nvSpPr>
        <p:spPr>
          <a:xfrm xmlns:a="http://schemas.openxmlformats.org/drawingml/2006/main">
            <a:off x="78295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E7363507-87CE-4C04-8F9A-63E289220167}"/>
              </a:ext>
            </a:extLst>
          </p:cNvPr>
          <p:cNvSpPr>
            <a:spLocks xmlns:a="http://schemas.openxmlformats.org/drawingml/2006/main" noGrp="1"/>
          </p:cNvSpPr>
          <p:nvPr/>
        </p:nvSpPr>
        <p:spPr>
          <a:xfrm xmlns:a="http://schemas.openxmlformats.org/drawingml/2006/main">
            <a:off x="79248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pounds to kilograms before dosing</a:t>
            </a:r>
          </a:p>
        </p:txBody>
      </p:sp>
      <p:sp>
        <p:nvSpPr>
          <p:cNvPr id="35" name="">
            <a:extLst xmlns:a="http://schemas.openxmlformats.org/drawingml/2006/main">
              <a:ext uri="{FF2B5EF4-FFF2-40B4-BE49-F238E27FC236}">
                <a16:creationId xmlns:a16="http://schemas.microsoft.com/office/drawing/2014/main" id="{3AA97E56-FB5A-411A-9BEA-1B5305E63418}"/>
              </a:ext>
            </a:extLst>
          </p:cNvPr>
          <p:cNvSpPr>
            <a:spLocks xmlns:a="http://schemas.openxmlformats.org/drawingml/2006/main" noGrp="1"/>
          </p:cNvSpPr>
          <p:nvPr/>
        </p:nvSpPr>
        <p:spPr>
          <a:xfrm xmlns:a="http://schemas.openxmlformats.org/drawingml/2006/main">
            <a:off x="7810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827DBFEF-6FA8-458D-AC7E-1AE62DE50605}"/>
              </a:ext>
            </a:extLst>
          </p:cNvPr>
          <p:cNvSpPr>
            <a:spLocks xmlns:a="http://schemas.openxmlformats.org/drawingml/2006/main" noGrp="1"/>
          </p:cNvSpPr>
          <p:nvPr/>
        </p:nvSpPr>
        <p:spPr>
          <a:xfrm xmlns:a="http://schemas.openxmlformats.org/drawingml/2006/main">
            <a:off x="8763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Household volume</a:t>
            </a:r>
          </a:p>
        </p:txBody>
      </p:sp>
      <p:sp>
        <p:nvSpPr>
          <p:cNvPr id="37" name="">
            <a:extLst xmlns:a="http://schemas.openxmlformats.org/drawingml/2006/main">
              <a:ext uri="{FF2B5EF4-FFF2-40B4-BE49-F238E27FC236}">
                <a16:creationId xmlns:a16="http://schemas.microsoft.com/office/drawing/2014/main" id="{33217FD3-D239-4A29-AB81-23176BF569DD}"/>
              </a:ext>
            </a:extLst>
          </p:cNvPr>
          <p:cNvSpPr>
            <a:spLocks xmlns:a="http://schemas.openxmlformats.org/drawingml/2006/main" noGrp="1"/>
          </p:cNvSpPr>
          <p:nvPr/>
        </p:nvSpPr>
        <p:spPr>
          <a:xfrm xmlns:a="http://schemas.openxmlformats.org/drawingml/2006/main">
            <a:off x="430530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4C3491BF-CF9D-46D4-9B33-7AD0C89534B3}"/>
              </a:ext>
            </a:extLst>
          </p:cNvPr>
          <p:cNvSpPr>
            <a:spLocks xmlns:a="http://schemas.openxmlformats.org/drawingml/2006/main" noGrp="1"/>
          </p:cNvSpPr>
          <p:nvPr/>
        </p:nvSpPr>
        <p:spPr>
          <a:xfrm xmlns:a="http://schemas.openxmlformats.org/drawingml/2006/main">
            <a:off x="440055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tsp = 5 mL; 1 Tbsp = 15 mL</a:t>
            </a:r>
          </a:p>
        </p:txBody>
      </p:sp>
      <p:sp>
        <p:nvSpPr>
          <p:cNvPr id="39" name="">
            <a:extLst xmlns:a="http://schemas.openxmlformats.org/drawingml/2006/main">
              <a:ext uri="{FF2B5EF4-FFF2-40B4-BE49-F238E27FC236}">
                <a16:creationId xmlns:a16="http://schemas.microsoft.com/office/drawing/2014/main" id="{74690ACA-C8AF-4E7A-B7B0-4923432ED87D}"/>
              </a:ext>
            </a:extLst>
          </p:cNvPr>
          <p:cNvSpPr>
            <a:spLocks xmlns:a="http://schemas.openxmlformats.org/drawingml/2006/main" noGrp="1"/>
          </p:cNvSpPr>
          <p:nvPr/>
        </p:nvSpPr>
        <p:spPr>
          <a:xfrm xmlns:a="http://schemas.openxmlformats.org/drawingml/2006/main">
            <a:off x="78295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F9383BE9-97ED-4850-9F5E-860BEEB10DFD}"/>
              </a:ext>
            </a:extLst>
          </p:cNvPr>
          <p:cNvSpPr>
            <a:spLocks xmlns:a="http://schemas.openxmlformats.org/drawingml/2006/main" noGrp="1"/>
          </p:cNvSpPr>
          <p:nvPr/>
        </p:nvSpPr>
        <p:spPr>
          <a:xfrm xmlns:a="http://schemas.openxmlformats.org/drawingml/2006/main">
            <a:off x="79248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an approved clinical reference permits</a:t>
            </a:r>
          </a:p>
        </p:txBody>
      </p:sp>
      <p:sp>
        <p:nvSpPr>
          <p:cNvPr id="41" name="">
            <a:extLst xmlns:a="http://schemas.openxmlformats.org/drawingml/2006/main">
              <a:ext uri="{FF2B5EF4-FFF2-40B4-BE49-F238E27FC236}">
                <a16:creationId xmlns:a16="http://schemas.microsoft.com/office/drawing/2014/main" id="{6079A19E-EDFE-4D70-89EB-7C7A5FFFB7EB}"/>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Apothecary units are legacy units and are error-prone. Do not guess or rely on OCR-transcribed values; clarify the order and use an approved conversion reference.</a:t>
            </a:r>
          </a:p>
        </p:txBody>
      </p:sp>
    </p:spTree>
    <p:extLst>
      <p:ext uri="{BB962C8B-B14F-4D97-AF65-F5344CB8AC3E}">
        <p14:creationId xmlns:p14="http://schemas.microsoft.com/office/powerpoint/2010/main" val="205044904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00E7E3-4E2B-468C-9373-AA51C5A5DD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66B710-33F1-479E-8381-1BE55E5FAE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Pump-rate formula</a:t>
            </a:r>
          </a:p>
        </p:txBody>
      </p:sp>
      <p:sp>
        <p:nvSpPr>
          <p:cNvPr id="3" name="">
            <a:extLst xmlns:a="http://schemas.openxmlformats.org/drawingml/2006/main">
              <a:ext uri="{FF2B5EF4-FFF2-40B4-BE49-F238E27FC236}">
                <a16:creationId xmlns:a16="http://schemas.microsoft.com/office/drawing/2014/main" id="{3FE2D466-9CD5-48D3-9BB3-9C254FB235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83A3947-5509-4E6C-A262-2BBE813A49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63C02E64-F246-4AE2-8100-0B5CE1E6DA3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mL/hr = total volume in mL ÷ time in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1,000 mL ÷ 8 hr = 125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check: 125 mL/hr × 8 hr returns the original 1,000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Program the pump only after matching the result to the order and confirming the correct channel and line.</a:t>
            </a:r>
          </a:p>
        </p:txBody>
      </p:sp>
      <p:sp>
        <p:nvSpPr>
          <p:cNvPr id="6" name="">
            <a:extLst xmlns:a="http://schemas.openxmlformats.org/drawingml/2006/main">
              <a:ext uri="{FF2B5EF4-FFF2-40B4-BE49-F238E27FC236}">
                <a16:creationId xmlns:a16="http://schemas.microsoft.com/office/drawing/2014/main" id="{BAEF2F2E-668B-430B-ADCE-A52C4E7A6D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57121095"/>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C6667E-E278-4625-AED9-996FF3FBBB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95E12BA-3F5B-498A-B938-2571F9551C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Gravity-rate formula</a:t>
            </a:r>
          </a:p>
        </p:txBody>
      </p:sp>
      <p:sp>
        <p:nvSpPr>
          <p:cNvPr id="3" name="">
            <a:extLst xmlns:a="http://schemas.openxmlformats.org/drawingml/2006/main">
              <a:ext uri="{FF2B5EF4-FFF2-40B4-BE49-F238E27FC236}">
                <a16:creationId xmlns:a16="http://schemas.microsoft.com/office/drawing/2014/main" id="{28A3430A-3332-4358-B596-1C848089BB2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19022D6-D4CF-4C98-BBFD-9E83145C95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D91DC90C-690C-4D44-9F5B-4F14BAA0382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gtt/min = volume in mL × drop factor in gtt/mL ÷ time in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250 mL × 15 gtt/mL ÷ 90 min = 41.7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Round to a whole drop: 42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Reassess the drip because patient position, tubing height, and resistance can change a gravity rate.</a:t>
            </a:r>
          </a:p>
        </p:txBody>
      </p:sp>
      <p:sp>
        <p:nvSpPr>
          <p:cNvPr id="6" name="">
            <a:extLst xmlns:a="http://schemas.openxmlformats.org/drawingml/2006/main">
              <a:ext uri="{FF2B5EF4-FFF2-40B4-BE49-F238E27FC236}">
                <a16:creationId xmlns:a16="http://schemas.microsoft.com/office/drawing/2014/main" id="{1B5D4181-7B41-4A64-AA60-B711ED3E7B8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07736584"/>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52FF2D1-D5B2-41C7-A85C-DB98B13B4B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59F9A9-CF72-432A-8D5B-15F2FC7169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four-step calculation safety method</a:t>
            </a:r>
          </a:p>
        </p:txBody>
      </p:sp>
      <p:sp>
        <p:nvSpPr>
          <p:cNvPr id="3" name="">
            <a:extLst xmlns:a="http://schemas.openxmlformats.org/drawingml/2006/main">
              <a:ext uri="{FF2B5EF4-FFF2-40B4-BE49-F238E27FC236}">
                <a16:creationId xmlns:a16="http://schemas.microsoft.com/office/drawing/2014/main" id="{C2D478D7-ABE6-410B-8AD9-4DA175E9B8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DDE239A-4DB6-43B5-883D-9646648FF56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BEBA7D34-97D4-4E15-9C55-CF8F2F0305EB}"/>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1DAA199-C6C7-4FF0-98BF-4076D00BFBF3}"/>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F63AC1FC-F463-4A8F-BDFB-645C622582DB}"/>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BB364F3-CD64-46E0-8D50-565D46A87F51}"/>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9" name="">
            <a:extLst xmlns:a="http://schemas.openxmlformats.org/drawingml/2006/main">
              <a:ext uri="{FF2B5EF4-FFF2-40B4-BE49-F238E27FC236}">
                <a16:creationId xmlns:a16="http://schemas.microsoft.com/office/drawing/2014/main" id="{95356D7D-7A74-4B78-92A6-3F787E1B83FD}"/>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3C10069-2476-4203-9634-C7CCC0905C9D}"/>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Organize</a:t>
            </a:r>
          </a:p>
        </p:txBody>
      </p:sp>
      <p:sp>
        <p:nvSpPr>
          <p:cNvPr id="11" name="">
            <a:extLst xmlns:a="http://schemas.openxmlformats.org/drawingml/2006/main">
              <a:ext uri="{FF2B5EF4-FFF2-40B4-BE49-F238E27FC236}">
                <a16:creationId xmlns:a16="http://schemas.microsoft.com/office/drawing/2014/main" id="{F159686E-985F-4042-AE3D-8AA768500B38}"/>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550783A-E468-4104-94E1-ACF8A7BA17F7}"/>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Write the ordered volume, time, and tubing factor with units</a:t>
            </a:r>
          </a:p>
        </p:txBody>
      </p:sp>
      <p:sp>
        <p:nvSpPr>
          <p:cNvPr id="13" name="">
            <a:extLst xmlns:a="http://schemas.openxmlformats.org/drawingml/2006/main">
              <a:ext uri="{FF2B5EF4-FFF2-40B4-BE49-F238E27FC236}">
                <a16:creationId xmlns:a16="http://schemas.microsoft.com/office/drawing/2014/main" id="{650042E1-F2F6-4EC1-ACF3-B1A42CDA15D8}"/>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987632F-6FFE-4C05-A6A8-5EE390CB2B2D}"/>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 Convert</a:t>
            </a:r>
          </a:p>
        </p:txBody>
      </p:sp>
      <p:sp>
        <p:nvSpPr>
          <p:cNvPr id="15" name="">
            <a:extLst xmlns:a="http://schemas.openxmlformats.org/drawingml/2006/main">
              <a:ext uri="{FF2B5EF4-FFF2-40B4-BE49-F238E27FC236}">
                <a16:creationId xmlns:a16="http://schemas.microsoft.com/office/drawing/2014/main" id="{16EC89CD-E2F4-4CA7-BDE1-E946253D89B2}"/>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B9BBCD6-9F75-4C79-B996-2F4422B5C793}"/>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Make units consistent before calculating</a:t>
            </a:r>
          </a:p>
        </p:txBody>
      </p:sp>
      <p:sp>
        <p:nvSpPr>
          <p:cNvPr id="17" name="">
            <a:extLst xmlns:a="http://schemas.openxmlformats.org/drawingml/2006/main">
              <a:ext uri="{FF2B5EF4-FFF2-40B4-BE49-F238E27FC236}">
                <a16:creationId xmlns:a16="http://schemas.microsoft.com/office/drawing/2014/main" id="{50F4B928-51BD-46FB-A51B-221824295065}"/>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0EEBD1E-B45C-4E7E-8B0F-94125B11C1AA}"/>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 Calculate</a:t>
            </a:r>
          </a:p>
        </p:txBody>
      </p:sp>
      <p:sp>
        <p:nvSpPr>
          <p:cNvPr id="19" name="">
            <a:extLst xmlns:a="http://schemas.openxmlformats.org/drawingml/2006/main">
              <a:ext uri="{FF2B5EF4-FFF2-40B4-BE49-F238E27FC236}">
                <a16:creationId xmlns:a16="http://schemas.microsoft.com/office/drawing/2014/main" id="{E9B3B0F8-4D85-4080-BA20-79682456BE1D}"/>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E16C30B-B581-4F1B-8F03-6FD13437918F}"/>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one formula and keep units visible</a:t>
            </a:r>
          </a:p>
        </p:txBody>
      </p:sp>
      <p:sp>
        <p:nvSpPr>
          <p:cNvPr id="21" name="">
            <a:extLst xmlns:a="http://schemas.openxmlformats.org/drawingml/2006/main">
              <a:ext uri="{FF2B5EF4-FFF2-40B4-BE49-F238E27FC236}">
                <a16:creationId xmlns:a16="http://schemas.microsoft.com/office/drawing/2014/main" id="{6137C43D-7F6E-41EB-833F-9FB0E1A8A5FD}"/>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3EEF92A-A587-4BA4-B832-1B8B05427AE7}"/>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4. Verify</a:t>
            </a:r>
          </a:p>
        </p:txBody>
      </p:sp>
      <p:sp>
        <p:nvSpPr>
          <p:cNvPr id="23" name="">
            <a:extLst xmlns:a="http://schemas.openxmlformats.org/drawingml/2006/main">
              <a:ext uri="{FF2B5EF4-FFF2-40B4-BE49-F238E27FC236}">
                <a16:creationId xmlns:a16="http://schemas.microsoft.com/office/drawing/2014/main" id="{F63D348E-97DE-4129-8745-F331C74CDD1B}"/>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B572794-ACF3-4BDC-80E1-72D75BC27185}"/>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Work backward and ask whether the answer is clinically reasonable</a:t>
            </a:r>
          </a:p>
        </p:txBody>
      </p:sp>
    </p:spTree>
    <p:extLst>
      <p:ext uri="{BB962C8B-B14F-4D97-AF65-F5344CB8AC3E}">
        <p14:creationId xmlns:p14="http://schemas.microsoft.com/office/powerpoint/2010/main" val="742834597"/>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F9157A-CD0E-4324-987A-1311F20889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69439C5-4DB1-41A1-BDB5-FD4D7C4782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4EA0ED95-5D7B-4765-A43B-C085AE7CB0E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E5E86C6-BCCA-433F-825F-3DFE93DACB2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94B61E65-D7BD-4700-9F10-C04E0E658385}"/>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6" name="">
            <a:extLst xmlns:a="http://schemas.openxmlformats.org/drawingml/2006/main">
              <a:ext uri="{FF2B5EF4-FFF2-40B4-BE49-F238E27FC236}">
                <a16:creationId xmlns:a16="http://schemas.microsoft.com/office/drawing/2014/main" id="{32693764-F850-4114-8AB7-F31173AF86C1}"/>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8091535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464CC1-8D63-496B-A977-CE0E8C5E1C0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69F88AA-F618-4CC4-990C-F4AB2C5ACC6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3BB28BFD-98E8-4F5F-B3D8-7F2E50343AD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F6170F3-7E20-49E2-9CF0-2B2DD4727F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94F08086-E5C6-4E57-B15D-7889AEE43ED4}"/>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3CD252FB-259D-4AB8-8687-867DB66E43E3}"/>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439322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2026-10-23T09:19:08.8590000Z</dcterms:created>
  <dcterms:modified xsi:type="dcterms:W3CDTF">2026-10-23T09:19:08.8590000Z</dcterms:modified>
</coreProperties>
</file>