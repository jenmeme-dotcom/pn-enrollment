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dd62f9e5d74b2f" /><Relationship Type="http://schemas.openxmlformats.org/officeDocument/2006/relationships/extended-properties" Target="/docProps/app.xml" Id="R85df73a990984fd0" /><Relationship Type="http://schemas.openxmlformats.org/officeDocument/2006/relationships/officeDocument" Target="/ppt/presentation.xml" Id="R3f5853c357794aa8" /></Relationships>
</file>

<file path=ppt/presentation.xml><?xml version="1.0" encoding="utf-8"?>
<p:presentation xmlns:p="http://schemas.openxmlformats.org/presentationml/2006/main">
  <p:sldMasterIdLst>
    <p:sldMasterId xmlns:r="http://schemas.openxmlformats.org/officeDocument/2006/relationships" id="2147483648" r:id="R2fb51fb315894c38"/>
  </p:sldMasterIdLst>
  <p:notesMasterIdLst>
    <p:notesMasterId xmlns:r="http://schemas.openxmlformats.org/officeDocument/2006/relationships" r:id="R3eb09027e80248c9"/>
  </p:notesMasterIdLst>
  <p:sldIdLst>
    <p:sldId xmlns:r="http://schemas.openxmlformats.org/officeDocument/2006/relationships" id="256" r:id="R0110670fa8fd480c"/>
    <p:sldId xmlns:r="http://schemas.openxmlformats.org/officeDocument/2006/relationships" id="257" r:id="R00ef64f85df94dfd"/>
    <p:sldId xmlns:r="http://schemas.openxmlformats.org/officeDocument/2006/relationships" id="258" r:id="R07642c1b5fd94851"/>
    <p:sldId xmlns:r="http://schemas.openxmlformats.org/officeDocument/2006/relationships" id="259" r:id="R22f927a4ae2d463f"/>
    <p:sldId xmlns:r="http://schemas.openxmlformats.org/officeDocument/2006/relationships" id="260" r:id="Rf0522d23322c403b"/>
    <p:sldId xmlns:r="http://schemas.openxmlformats.org/officeDocument/2006/relationships" id="261" r:id="R78e292034d3d4de1"/>
    <p:sldId xmlns:r="http://schemas.openxmlformats.org/officeDocument/2006/relationships" id="262" r:id="Ra5fe0931813245b3"/>
    <p:sldId xmlns:r="http://schemas.openxmlformats.org/officeDocument/2006/relationships" id="263" r:id="Rac0c4f3d37c54e45"/>
    <p:sldId xmlns:r="http://schemas.openxmlformats.org/officeDocument/2006/relationships" id="264" r:id="R31a0f09a53664419"/>
    <p:sldId xmlns:r="http://schemas.openxmlformats.org/officeDocument/2006/relationships" id="265" r:id="Rc94e09781ee74aae"/>
    <p:sldId xmlns:r="http://schemas.openxmlformats.org/officeDocument/2006/relationships" id="266" r:id="Rc338b2d6e33442e0"/>
    <p:sldId xmlns:r="http://schemas.openxmlformats.org/officeDocument/2006/relationships" id="267" r:id="R529ce4dbcd8d4e1d"/>
    <p:sldId xmlns:r="http://schemas.openxmlformats.org/officeDocument/2006/relationships" id="268" r:id="Ra761b5aadb0e4862"/>
    <p:sldId xmlns:r="http://schemas.openxmlformats.org/officeDocument/2006/relationships" id="269" r:id="R83db4b2779e54e3d"/>
    <p:sldId xmlns:r="http://schemas.openxmlformats.org/officeDocument/2006/relationships" id="270" r:id="R6e30f5c818a44ced"/>
    <p:sldId xmlns:r="http://schemas.openxmlformats.org/officeDocument/2006/relationships" id="271" r:id="R3503848fb5034c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67e57afe204929" /><Relationship Type="http://schemas.openxmlformats.org/officeDocument/2006/relationships/slideMaster" Target="/ppt/slideMasters/slideMaster1.xml" Id="R2fb51fb315894c38" /><Relationship Type="http://schemas.openxmlformats.org/officeDocument/2006/relationships/notesMaster" Target="/ppt/notesMasters/notesMaster1.xml" Id="R3eb09027e80248c9" /><Relationship Type="http://schemas.openxmlformats.org/officeDocument/2006/relationships/presProps" Target="/ppt/presProps.xml" Id="R951a5924f35f491e" /><Relationship Type="http://schemas.openxmlformats.org/officeDocument/2006/relationships/tableStyles" Target="/ppt/tableStyles.xml" Id="R819f95bf4b2d450e" /><Relationship Type="http://schemas.openxmlformats.org/officeDocument/2006/relationships/slide" Target="/ppt/slides/slide1.xml" Id="R0110670fa8fd480c" /><Relationship Type="http://schemas.openxmlformats.org/officeDocument/2006/relationships/slide" Target="/ppt/slides/slide2.xml" Id="R00ef64f85df94dfd" /><Relationship Type="http://schemas.openxmlformats.org/officeDocument/2006/relationships/slide" Target="/ppt/slides/slide3.xml" Id="R07642c1b5fd94851" /><Relationship Type="http://schemas.openxmlformats.org/officeDocument/2006/relationships/slide" Target="/ppt/slides/slide4.xml" Id="R22f927a4ae2d463f" /><Relationship Type="http://schemas.openxmlformats.org/officeDocument/2006/relationships/slide" Target="/ppt/slides/slide5.xml" Id="Rf0522d23322c403b" /><Relationship Type="http://schemas.openxmlformats.org/officeDocument/2006/relationships/slide" Target="/ppt/slides/slide6.xml" Id="R78e292034d3d4de1" /><Relationship Type="http://schemas.openxmlformats.org/officeDocument/2006/relationships/slide" Target="/ppt/slides/slide7.xml" Id="Ra5fe0931813245b3" /><Relationship Type="http://schemas.openxmlformats.org/officeDocument/2006/relationships/slide" Target="/ppt/slides/slide8.xml" Id="Rac0c4f3d37c54e45" /><Relationship Type="http://schemas.openxmlformats.org/officeDocument/2006/relationships/slide" Target="/ppt/slides/slide9.xml" Id="R31a0f09a53664419" /><Relationship Type="http://schemas.openxmlformats.org/officeDocument/2006/relationships/slide" Target="/ppt/slides/slide10.xml" Id="Rc94e09781ee74aae" /><Relationship Type="http://schemas.openxmlformats.org/officeDocument/2006/relationships/slide" Target="/ppt/slides/slide11.xml" Id="Rc338b2d6e33442e0" /><Relationship Type="http://schemas.openxmlformats.org/officeDocument/2006/relationships/slide" Target="/ppt/slides/slide12.xml" Id="R529ce4dbcd8d4e1d" /><Relationship Type="http://schemas.openxmlformats.org/officeDocument/2006/relationships/slide" Target="/ppt/slides/slide13.xml" Id="Ra761b5aadb0e4862" /><Relationship Type="http://schemas.openxmlformats.org/officeDocument/2006/relationships/slide" Target="/ppt/slides/slide14.xml" Id="R83db4b2779e54e3d" /><Relationship Type="http://schemas.openxmlformats.org/officeDocument/2006/relationships/slide" Target="/ppt/slides/slide15.xml" Id="R6e30f5c818a44ced" /><Relationship Type="http://schemas.openxmlformats.org/officeDocument/2006/relationships/slide" Target="/ppt/slides/slide16.xml" Id="R3503848fb5034c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fd5d8e30be49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7a31acc2d540a6" /><Relationship Type="http://schemas.openxmlformats.org/officeDocument/2006/relationships/notesMaster" Target="/ppt/notesMasters/notesMaster1.xml" Id="R0819d55ddd7f47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3603eae3d84392" /><Relationship Type="http://schemas.openxmlformats.org/officeDocument/2006/relationships/notesMaster" Target="/ppt/notesMasters/notesMaster1.xml" Id="Rb4110257d86747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e4c87a22e447ec" /><Relationship Type="http://schemas.openxmlformats.org/officeDocument/2006/relationships/notesMaster" Target="/ppt/notesMasters/notesMaster1.xml" Id="R72e3f15486c242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d17f7f54434e76" /><Relationship Type="http://schemas.openxmlformats.org/officeDocument/2006/relationships/notesMaster" Target="/ppt/notesMasters/notesMaster1.xml" Id="Re01f9809d37145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ae02c952e4497f" /><Relationship Type="http://schemas.openxmlformats.org/officeDocument/2006/relationships/notesMaster" Target="/ppt/notesMasters/notesMaster1.xml" Id="Rd4cd698297aa4b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7261ccbd2441b8" /><Relationship Type="http://schemas.openxmlformats.org/officeDocument/2006/relationships/notesMaster" Target="/ppt/notesMasters/notesMaster1.xml" Id="R7d20744e0c7d4a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f57c1edac1409b" /><Relationship Type="http://schemas.openxmlformats.org/officeDocument/2006/relationships/notesMaster" Target="/ppt/notesMasters/notesMaster1.xml" Id="R986f171c006d4f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37541217154598" /><Relationship Type="http://schemas.openxmlformats.org/officeDocument/2006/relationships/notesMaster" Target="/ppt/notesMasters/notesMaster1.xml" Id="R8865a140324b49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4716d72019455e" /><Relationship Type="http://schemas.openxmlformats.org/officeDocument/2006/relationships/notesMaster" Target="/ppt/notesMasters/notesMaster1.xml" Id="Rd8e7c839686746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4bacafcd284eab" /><Relationship Type="http://schemas.openxmlformats.org/officeDocument/2006/relationships/notesMaster" Target="/ppt/notesMasters/notesMaster1.xml" Id="Rba51164c916448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9a698af39e4f75" /><Relationship Type="http://schemas.openxmlformats.org/officeDocument/2006/relationships/notesMaster" Target="/ppt/notesMasters/notesMaster1.xml" Id="Rce296f8d21104d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c5711176a74a73" /><Relationship Type="http://schemas.openxmlformats.org/officeDocument/2006/relationships/notesMaster" Target="/ppt/notesMasters/notesMaster1.xml" Id="R7b8e51952bd845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0c6aad4cd34038" /><Relationship Type="http://schemas.openxmlformats.org/officeDocument/2006/relationships/notesMaster" Target="/ppt/notesMasters/notesMaster1.xml" Id="Rbf7c40792bbe48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98690ae87544d8" /><Relationship Type="http://schemas.openxmlformats.org/officeDocument/2006/relationships/notesMaster" Target="/ppt/notesMasters/notesMaster1.xml" Id="R15bac934a1a241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b3ba721c2a43b2" /><Relationship Type="http://schemas.openxmlformats.org/officeDocument/2006/relationships/notesMaster" Target="/ppt/notesMasters/notesMaster1.xml" Id="R4b2a9e72943e4c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695d57ce544ac5" /><Relationship Type="http://schemas.openxmlformats.org/officeDocument/2006/relationships/notesMaster" Target="/ppt/notesMasters/notesMaster1.xml" Id="R727bc483c3844a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b46213cd1843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c072963a5f40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35ad194a3b44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90c09ddfff40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51ec022d1143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18615b003741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60EA9E-975D-4B81-80B9-D1CF99781C3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D68791-5D46-4667-A918-A9D32C4A53D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CB2149-C75D-4096-8458-4F13671BDC5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AD145B-20C3-4D76-A6E1-E90FC530BA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642C028-DA03-46CC-9BA1-3EAC11FC7D6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DCFA45-4CB1-4C02-A251-4AAE7555F3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B11D78-B89F-47AE-A41D-98F83C96D7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DE4E7E-77B7-4909-AF96-F757E268393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5F17F5-0F5F-4939-8F79-FD58F5C409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00B20D-E56D-4A51-9B33-8BB3B0B263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5ec29035b64d12" /><Relationship Type="http://schemas.openxmlformats.org/officeDocument/2006/relationships/slideLayout" Target="/ppt/slideLayouts/slideLayout1.xml" Id="Rac721ab3c7854611" /><Relationship Type="http://schemas.openxmlformats.org/officeDocument/2006/relationships/slideLayout" Target="/ppt/slideLayouts/slideLayout2.xml" Id="Rfeff8f060e2e4f12" /><Relationship Type="http://schemas.openxmlformats.org/officeDocument/2006/relationships/slideLayout" Target="/ppt/slideLayouts/slideLayout3.xml" Id="Rc25ca9db89224c6b" /><Relationship Type="http://schemas.openxmlformats.org/officeDocument/2006/relationships/slideLayout" Target="/ppt/slideLayouts/slideLayout4.xml" Id="R0cc3aa0b94e44da3" /><Relationship Type="http://schemas.openxmlformats.org/officeDocument/2006/relationships/slideLayout" Target="/ppt/slideLayouts/slideLayout5.xml" Id="R9e9b13a2b15a4063" /><Relationship Type="http://schemas.openxmlformats.org/officeDocument/2006/relationships/slideLayout" Target="/ppt/slideLayouts/slideLayout6.xml" Id="R42ef746b6b8b45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721ab3c7854611"/>
    <p:sldLayoutId xmlns:r="http://schemas.openxmlformats.org/officeDocument/2006/relationships" id="2147483650" r:id="Rfeff8f060e2e4f12"/>
    <p:sldLayoutId xmlns:r="http://schemas.openxmlformats.org/officeDocument/2006/relationships" id="2147483651" r:id="Rc25ca9db89224c6b"/>
    <p:sldLayoutId xmlns:r="http://schemas.openxmlformats.org/officeDocument/2006/relationships" id="2147483652" r:id="R0cc3aa0b94e44da3"/>
    <p:sldLayoutId xmlns:r="http://schemas.openxmlformats.org/officeDocument/2006/relationships" id="2147483653" r:id="R9e9b13a2b15a4063"/>
    <p:sldLayoutId xmlns:r="http://schemas.openxmlformats.org/officeDocument/2006/relationships" id="2147483654" r:id="R42ef746b6b8b45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171e8cd43e4ece" /><Relationship Type="http://schemas.openxmlformats.org/officeDocument/2006/relationships/notesSlide" Target="/ppt/notesSlides/notesSlide1.xml" Id="R5700baeb690c4e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49f8d054c84c96" /><Relationship Type="http://schemas.openxmlformats.org/officeDocument/2006/relationships/notesSlide" Target="/ppt/notesSlides/notesSlide2.xml" Id="Rab7cc51a558c41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1938ec1bed4cba" /><Relationship Type="http://schemas.openxmlformats.org/officeDocument/2006/relationships/notesSlide" Target="/ppt/notesSlides/notesSlide3.xml" Id="R5ed6265a37a947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0f2e64058847be" /><Relationship Type="http://schemas.openxmlformats.org/officeDocument/2006/relationships/notesSlide" Target="/ppt/notesSlides/notesSlide4.xml" Id="R6e30a341ffc943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a8ae672e88b4350" /><Relationship Type="http://schemas.openxmlformats.org/officeDocument/2006/relationships/notesSlide" Target="/ppt/notesSlides/notesSlide5.xml" Id="Rf00fc52b4f0a44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3c4842b89284fb3" /><Relationship Type="http://schemas.openxmlformats.org/officeDocument/2006/relationships/notesSlide" Target="/ppt/notesSlides/notesSlide6.xml" Id="Re068050b968b42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72d5beadab4f77" /><Relationship Type="http://schemas.openxmlformats.org/officeDocument/2006/relationships/notesSlide" Target="/ppt/notesSlides/notesSlide7.xml" Id="R76590eed3c1349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45000ab5a64f8a" /><Relationship Type="http://schemas.openxmlformats.org/officeDocument/2006/relationships/notesSlide" Target="/ppt/notesSlides/notesSlide8.xml" Id="Rc87a91c719744b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98f38ff24de4c1b" /><Relationship Type="http://schemas.openxmlformats.org/officeDocument/2006/relationships/notesSlide" Target="/ppt/notesSlides/notesSlide9.xml" Id="Rf8be2d50a84c44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2fdf810d4b34b1c" /><Relationship Type="http://schemas.openxmlformats.org/officeDocument/2006/relationships/notesSlide" Target="/ppt/notesSlides/notesSlide10.xml" Id="Re98abdf67d6848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b40e1d6c1c64bb5" /><Relationship Type="http://schemas.openxmlformats.org/officeDocument/2006/relationships/notesSlide" Target="/ppt/notesSlides/notesSlide11.xml" Id="R78dcc51f09964a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0bf4e818b9a40e7" /><Relationship Type="http://schemas.openxmlformats.org/officeDocument/2006/relationships/notesSlide" Target="/ppt/notesSlides/notesSlide12.xml" Id="Rb4aef321039346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80554e1dc344622" /><Relationship Type="http://schemas.openxmlformats.org/officeDocument/2006/relationships/notesSlide" Target="/ppt/notesSlides/notesSlide13.xml" Id="R79bcbcab33044a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87e590851294041" /><Relationship Type="http://schemas.openxmlformats.org/officeDocument/2006/relationships/notesSlide" Target="/ppt/notesSlides/notesSlide14.xml" Id="R124642c074ca4ad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b6871a367df4ae8" /><Relationship Type="http://schemas.openxmlformats.org/officeDocument/2006/relationships/notesSlide" Target="/ppt/notesSlides/notesSlide15.xml" Id="R02a5a79758e04fb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b5513ab4a33440f" /><Relationship Type="http://schemas.openxmlformats.org/officeDocument/2006/relationships/notesSlide" Target="/ppt/notesSlides/notesSlide16.xml" Id="R6fc725f936be4f41"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FE1512-61EA-4A0A-9278-7CF2299CA0A6}"/>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BEBD1A7-078C-4710-BD89-5591713385A4}"/>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3D810ACA-DC67-4677-9FCF-3FB114B7A204}"/>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Venipuncture Standards and Practice</a:t>
            </a:r>
          </a:p>
        </p:txBody>
      </p:sp>
      <p:sp>
        <p:nvSpPr>
          <p:cNvPr id="4" name="">
            <a:extLst xmlns:a="http://schemas.openxmlformats.org/drawingml/2006/main">
              <a:ext uri="{FF2B5EF4-FFF2-40B4-BE49-F238E27FC236}">
                <a16:creationId xmlns:a16="http://schemas.microsoft.com/office/drawing/2014/main" id="{21E43D0C-5DD4-4BC9-85DD-F888B90765BC}"/>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7  |  30-Hour Basic Intravenous Therapy</a:t>
            </a:r>
          </a:p>
        </p:txBody>
      </p:sp>
      <p:sp>
        <p:nvSpPr>
          <p:cNvPr id="5" name="">
            <a:extLst xmlns:a="http://schemas.openxmlformats.org/drawingml/2006/main">
              <a:ext uri="{FF2B5EF4-FFF2-40B4-BE49-F238E27FC236}">
                <a16:creationId xmlns:a16="http://schemas.microsoft.com/office/drawing/2014/main" id="{57849B50-F0DF-40F5-9321-7B897EA08B05}"/>
              </a:ext>
            </a:extLst>
          </p:cNvPr>
          <p:cNvSpPr>
            <a:spLocks xmlns:a="http://schemas.openxmlformats.org/drawingml/2006/main" noGrp="1"/>
          </p:cNvSpPr>
          <p:nvPr/>
        </p:nvSpPr>
        <p:spPr>
          <a:xfrm xmlns:a="http://schemas.openxmlformats.org/drawingml/2006/main">
            <a:off x="762000" y="47625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Expanded instructor presentation</a:t>
            </a:r>
          </a:p>
        </p:txBody>
      </p:sp>
    </p:spTree>
    <p:extLst>
      <p:ext uri="{BB962C8B-B14F-4D97-AF65-F5344CB8AC3E}">
        <p14:creationId xmlns:p14="http://schemas.microsoft.com/office/powerpoint/2010/main" val="87694075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AEF5C7-0E9A-424B-B839-FB1CBF6029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0984347-0130-4AAA-809E-FFAABA8903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458683F1-14E2-4C31-9CEC-3B072A0DD6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4AAF655-E9DE-49D5-8F48-982DAED821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116AEE9-33D0-4C59-BB5C-05CBB498158B}"/>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27228208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0D3C11-AC90-4225-B6C3-0CAE01544AD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53F60C-E043-4E0B-95AB-8FBB2B40057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3" name="">
            <a:extLst xmlns:a="http://schemas.openxmlformats.org/drawingml/2006/main">
              <a:ext uri="{FF2B5EF4-FFF2-40B4-BE49-F238E27FC236}">
                <a16:creationId xmlns:a16="http://schemas.microsoft.com/office/drawing/2014/main" id="{0CDCB4D4-9B01-457E-A4D3-999E1D64ACD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29EE2D2-33FA-474B-8BCD-99FC1A0AD79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99F7A8B-AEB6-45A5-A997-5506A8D955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6" name="">
            <a:extLst xmlns:a="http://schemas.openxmlformats.org/drawingml/2006/main">
              <a:ext uri="{FF2B5EF4-FFF2-40B4-BE49-F238E27FC236}">
                <a16:creationId xmlns:a16="http://schemas.microsoft.com/office/drawing/2014/main" id="{7B28BEEE-99D0-42C1-BD5A-8510B47340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8903108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F3AF6D-FAFB-46FF-AB69-E61508F17A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219468-CADE-47E7-9B03-A10015BBCFA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3" name="">
            <a:extLst xmlns:a="http://schemas.openxmlformats.org/drawingml/2006/main">
              <a:ext uri="{FF2B5EF4-FFF2-40B4-BE49-F238E27FC236}">
                <a16:creationId xmlns:a16="http://schemas.microsoft.com/office/drawing/2014/main" id="{5D16D14F-F6E7-4938-BA0C-D1E5221820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73FD4F9-DD6F-426D-89E9-E1970FD8B13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E42CC1C1-0CBC-466A-BDA0-AB93107ACF5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6" name="">
            <a:extLst xmlns:a="http://schemas.openxmlformats.org/drawingml/2006/main">
              <a:ext uri="{FF2B5EF4-FFF2-40B4-BE49-F238E27FC236}">
                <a16:creationId xmlns:a16="http://schemas.microsoft.com/office/drawing/2014/main" id="{28C68BC5-C21A-4F3C-B1C2-F87A33F7B3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1012210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9A61E9-6BF5-4710-B922-F49D184BE6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9E3CD3-912A-40D6-92F9-CA6561C00D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3" name="">
            <a:extLst xmlns:a="http://schemas.openxmlformats.org/drawingml/2006/main">
              <a:ext uri="{FF2B5EF4-FFF2-40B4-BE49-F238E27FC236}">
                <a16:creationId xmlns:a16="http://schemas.microsoft.com/office/drawing/2014/main" id="{9765F660-9064-4219-8A55-549A001CB7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896CB8B-3484-4C88-AB4A-B7E2761876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BEC2CEFA-C5FC-4C42-97FE-DFDEB5BD42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6" name="">
            <a:extLst xmlns:a="http://schemas.openxmlformats.org/drawingml/2006/main">
              <a:ext uri="{FF2B5EF4-FFF2-40B4-BE49-F238E27FC236}">
                <a16:creationId xmlns:a16="http://schemas.microsoft.com/office/drawing/2014/main" id="{F10922C6-F9A6-4F0D-BA75-B5B32B9396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0627299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7E7C83-F7AB-4282-AE70-6CE1A28996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1386CA-D9A6-4174-A763-A2F40EA1521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3" name="">
            <a:extLst xmlns:a="http://schemas.openxmlformats.org/drawingml/2006/main">
              <a:ext uri="{FF2B5EF4-FFF2-40B4-BE49-F238E27FC236}">
                <a16:creationId xmlns:a16="http://schemas.microsoft.com/office/drawing/2014/main" id="{5235F646-7F25-4A1A-BDBB-7479EF8B49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126FC2B-9EB3-4931-8CFD-884C9FF7EED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C1E2559E-CA93-477A-A947-DF2930EC29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4AA5ACD3-6C35-4368-960C-62D2043042A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4004355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003B96-FEC3-4C08-9AA0-FA689D0B630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72513C8-6357-4416-ACB9-02310268BBF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Equipment, Tubing, Catheters, and Infusion Devices 1</a:t>
            </a:r>
          </a:p>
        </p:txBody>
      </p:sp>
      <p:sp>
        <p:nvSpPr>
          <p:cNvPr id="3" name="">
            <a:extLst xmlns:a="http://schemas.openxmlformats.org/drawingml/2006/main">
              <a:ext uri="{FF2B5EF4-FFF2-40B4-BE49-F238E27FC236}">
                <a16:creationId xmlns:a16="http://schemas.microsoft.com/office/drawing/2014/main" id="{FA26AB72-5F79-49F9-AB2E-4DDDDFF08A9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8C760C1-EB20-4319-AFC4-F91AF0F96A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2748AF61-F26F-4A98-BF1F-CCA6BC2D08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Common supplies include the ordered solution, administration set, catheter, extension set, needleless connector, antiseptic, tourniquet, flush, transparent or gauze dressing, securement device, labels, gloves/PPE, sharps container, and infusion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Inspect packaging, expiration dates, solution clarity, leaks, and medication labels.</a:t>
            </a:r>
          </a:p>
        </p:txBody>
      </p:sp>
      <p:sp>
        <p:nvSpPr>
          <p:cNvPr id="6" name="">
            <a:extLst xmlns:a="http://schemas.openxmlformats.org/drawingml/2006/main">
              <a:ext uri="{FF2B5EF4-FFF2-40B4-BE49-F238E27FC236}">
                <a16:creationId xmlns:a16="http://schemas.microsoft.com/office/drawing/2014/main" id="{CAC75F75-BB3A-476D-BC6C-5FECBCD518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0025184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8CA982-3034-4A29-9239-9E9F456498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5E01564-08D5-4F87-B13B-CB365453235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Equipment, Tubing, Catheters, and Infusion Devices 2</a:t>
            </a:r>
          </a:p>
        </p:txBody>
      </p:sp>
      <p:sp>
        <p:nvSpPr>
          <p:cNvPr id="3" name="">
            <a:extLst xmlns:a="http://schemas.openxmlformats.org/drawingml/2006/main">
              <a:ext uri="{FF2B5EF4-FFF2-40B4-BE49-F238E27FC236}">
                <a16:creationId xmlns:a16="http://schemas.microsoft.com/office/drawing/2014/main" id="{571FE3BC-3B99-4562-8570-3DE603879C1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2292B7B-FA83-4E09-9392-A9B36EF14E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F5061467-77C3-4E93-A114-DE62C5F6B99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Macrodrip tubing has a manufacturer-specific drop factor such as 10, 15, or 20 gtt/mL.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Microdrip tubing is typically 60 gtt/mL.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Pumps control volume over time but do not replace patient and site assessment.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Trace and label tubing, keep connections secure, and respond to alarms by assessing the patient first and then the complete system.</a:t>
            </a:r>
          </a:p>
        </p:txBody>
      </p:sp>
      <p:sp>
        <p:nvSpPr>
          <p:cNvPr id="6" name="">
            <a:extLst xmlns:a="http://schemas.openxmlformats.org/drawingml/2006/main">
              <a:ext uri="{FF2B5EF4-FFF2-40B4-BE49-F238E27FC236}">
                <a16:creationId xmlns:a16="http://schemas.microsoft.com/office/drawing/2014/main" id="{B18B3145-4702-481A-9880-98952EC548F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6024294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9557C1-6FC9-4970-A698-CA5183F4D50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3C340A3-38F8-4ABA-B2C6-4E37539D10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a:t>
            </a:r>
          </a:p>
        </p:txBody>
      </p:sp>
      <p:sp>
        <p:nvSpPr>
          <p:cNvPr id="3" name="">
            <a:extLst xmlns:a="http://schemas.openxmlformats.org/drawingml/2006/main">
              <a:ext uri="{FF2B5EF4-FFF2-40B4-BE49-F238E27FC236}">
                <a16:creationId xmlns:a16="http://schemas.microsoft.com/office/drawing/2014/main" id="{2DC0B58C-2B16-4E03-A53F-78121E47C6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F012BDE-A73A-4889-985B-C32BE95167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38D979BE-7A85-4FC9-BB17-725363C660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order, identity, allergies, indication, therapy, and site restrictions.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the procedure, position the patient, perform hand hygiene, gather supplies, and apply PPE.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and assess a distal suitable vein; choose an appropriate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the tourniquet, prepare the site with approved antiseptic, and allow it to dry.</a:t>
            </a:r>
          </a:p>
        </p:txBody>
      </p:sp>
      <p:sp>
        <p:nvSpPr>
          <p:cNvPr id="6" name="">
            <a:extLst xmlns:a="http://schemas.openxmlformats.org/drawingml/2006/main">
              <a:ext uri="{FF2B5EF4-FFF2-40B4-BE49-F238E27FC236}">
                <a16:creationId xmlns:a16="http://schemas.microsoft.com/office/drawing/2014/main" id="{BDCB48DC-EEF8-48B9-BDDF-0C8AF635913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2493459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967782-724D-4A44-B26B-A128A8B968E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B94B0AC-6887-4A55-AAC1-C2FDBF827E8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continued</a:t>
            </a:r>
          </a:p>
        </p:txBody>
      </p:sp>
      <p:sp>
        <p:nvSpPr>
          <p:cNvPr id="3" name="">
            <a:extLst xmlns:a="http://schemas.openxmlformats.org/drawingml/2006/main">
              <a:ext uri="{FF2B5EF4-FFF2-40B4-BE49-F238E27FC236}">
                <a16:creationId xmlns:a16="http://schemas.microsoft.com/office/drawing/2014/main" id="{7DB0D973-0EA1-40B0-B30D-B59AABD3ADA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BBB3C0C-1CA9-4820-80DF-24D9B95D6E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E5A92394-3CB2-4DE2-A420-265E23E5CE9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Stabilize the vein, insert bevel up, observe flashback, lower/advance as taught, thread the catheter, release the tourniquet, occlude safely, activate needle safety, and discard the needle.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reinsert the needle into the catheter.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the primed extension, verify patency according to policy, secure without obscuring assessment, apply/label the dressing, initiate ordered therapy, reassess, and document.</a:t>
            </a:r>
          </a:p>
        </p:txBody>
      </p:sp>
      <p:sp>
        <p:nvSpPr>
          <p:cNvPr id="6" name="">
            <a:extLst xmlns:a="http://schemas.openxmlformats.org/drawingml/2006/main">
              <a:ext uri="{FF2B5EF4-FFF2-40B4-BE49-F238E27FC236}">
                <a16:creationId xmlns:a16="http://schemas.microsoft.com/office/drawing/2014/main" id="{DEF00EB0-8A07-416B-900B-098A1F16DAB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05164454"/>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75B8EB-467C-4E41-A6FD-C5658C6E60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7ADF3E-3C32-4577-841F-E17A98B97B2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Discontinuation</a:t>
            </a:r>
          </a:p>
        </p:txBody>
      </p:sp>
      <p:sp>
        <p:nvSpPr>
          <p:cNvPr id="3" name="">
            <a:extLst xmlns:a="http://schemas.openxmlformats.org/drawingml/2006/main">
              <a:ext uri="{FF2B5EF4-FFF2-40B4-BE49-F238E27FC236}">
                <a16:creationId xmlns:a16="http://schemas.microsoft.com/office/drawing/2014/main" id="{3D284C1D-11CE-4215-9B3D-9508BFA70E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ED2624E-318A-406F-BDCB-2BD4107A2A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40D06A71-2464-4EC2-BA10-5789C7777AA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therapy, perform hand hygiene/PPE, remove dressing and catheter gently, apply pressure and dressing, inspect the catheter for intactness, reassess the site, and document.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any missing fragment immediately.</a:t>
            </a:r>
          </a:p>
        </p:txBody>
      </p:sp>
      <p:sp>
        <p:nvSpPr>
          <p:cNvPr id="6" name="">
            <a:extLst xmlns:a="http://schemas.openxmlformats.org/drawingml/2006/main">
              <a:ext uri="{FF2B5EF4-FFF2-40B4-BE49-F238E27FC236}">
                <a16:creationId xmlns:a16="http://schemas.microsoft.com/office/drawing/2014/main" id="{4BC99C36-DA2A-4427-BF50-5881CDD28E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5268215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0A1271-50FC-4169-A9C7-4A749CD47D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600133-DE14-4B39-92FD-D2585E9E2B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complications</a:t>
            </a:r>
          </a:p>
        </p:txBody>
      </p:sp>
      <p:sp>
        <p:nvSpPr>
          <p:cNvPr id="3" name="">
            <a:extLst xmlns:a="http://schemas.openxmlformats.org/drawingml/2006/main">
              <a:ext uri="{FF2B5EF4-FFF2-40B4-BE49-F238E27FC236}">
                <a16:creationId xmlns:a16="http://schemas.microsoft.com/office/drawing/2014/main" id="{A689B5D3-BA3A-496B-AB4B-374B7230C65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1376903-FCD7-479D-873E-046B0C9970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19C71F22-A110-4FED-8FD3-E46B9AF13A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cool, pale, swollen, uncomfortable site; slowed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vesicant leakage with pain, blistering, tissue injury, or altered sensation.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pain, erythema, warmth, swelling, or palpable venous cord.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Hematoma/bleeding, occlusion, dislodgement, leakage, nerve injury, and arterial puncture.</a:t>
            </a:r>
          </a:p>
        </p:txBody>
      </p:sp>
      <p:sp>
        <p:nvSpPr>
          <p:cNvPr id="6" name="">
            <a:extLst xmlns:a="http://schemas.openxmlformats.org/drawingml/2006/main">
              <a:ext uri="{FF2B5EF4-FFF2-40B4-BE49-F238E27FC236}">
                <a16:creationId xmlns:a16="http://schemas.microsoft.com/office/drawing/2014/main" id="{EC3E4CC7-82E4-4297-8ED5-84E6343EEF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32206962"/>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610A35-6729-47DD-862A-28B28B8617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AFF5D7E-D3CC-445C-BE14-4581CC574FB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complications</a:t>
            </a:r>
          </a:p>
        </p:txBody>
      </p:sp>
      <p:sp>
        <p:nvSpPr>
          <p:cNvPr id="3" name="">
            <a:extLst xmlns:a="http://schemas.openxmlformats.org/drawingml/2006/main">
              <a:ext uri="{FF2B5EF4-FFF2-40B4-BE49-F238E27FC236}">
                <a16:creationId xmlns:a16="http://schemas.microsoft.com/office/drawing/2014/main" id="{40AB4A40-2A28-4C99-92C5-BD438CEAB8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BF39769-263C-45B2-8BE3-D7EBE0804E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0E321562-BD5E-41D4-BC53-364728E1F48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Allergic reaction/anaphylaxis, bloodstream infection/sepsis, fluid overload, speed shock, air embolism, catheter embolism, and transfusion reaction require rapid recognition.</a:t>
            </a:r>
          </a:p>
        </p:txBody>
      </p:sp>
      <p:sp>
        <p:nvSpPr>
          <p:cNvPr id="6" name="">
            <a:extLst xmlns:a="http://schemas.openxmlformats.org/drawingml/2006/main">
              <a:ext uri="{FF2B5EF4-FFF2-40B4-BE49-F238E27FC236}">
                <a16:creationId xmlns:a16="http://schemas.microsoft.com/office/drawing/2014/main" id="{1B831C39-FC4C-4DC8-BBB6-EAB38AEF36C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8869049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0E4434-53BB-4231-997B-49A296C17F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B8329C-FAB3-4A0A-B216-9683FC9355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General response</a:t>
            </a:r>
          </a:p>
        </p:txBody>
      </p:sp>
      <p:sp>
        <p:nvSpPr>
          <p:cNvPr id="3" name="">
            <a:extLst xmlns:a="http://schemas.openxmlformats.org/drawingml/2006/main">
              <a:ext uri="{FF2B5EF4-FFF2-40B4-BE49-F238E27FC236}">
                <a16:creationId xmlns:a16="http://schemas.microsoft.com/office/drawing/2014/main" id="{D9D146CA-0995-4BB5-BC32-2C49A0BB07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249014C-9EBA-43DA-B193-C3C46EABB7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47A75E9E-0CB5-4342-B5EB-07F500320A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infusion when indicated, assess airway/breathing/circulation and vital signs, activate emergency response, notify the RN/prescriber, preserve access or equipment as drug-specific protocol requires, position/support the patient, administer ordered treatment, document objective findings/actions/response, and complete an event report when required.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force-flush an occluded or compromised device.</a:t>
            </a:r>
          </a:p>
        </p:txBody>
      </p:sp>
      <p:sp>
        <p:nvSpPr>
          <p:cNvPr id="6" name="">
            <a:extLst xmlns:a="http://schemas.openxmlformats.org/drawingml/2006/main">
              <a:ext uri="{FF2B5EF4-FFF2-40B4-BE49-F238E27FC236}">
                <a16:creationId xmlns:a16="http://schemas.microsoft.com/office/drawing/2014/main" id="{1D8CABB4-D121-4A4C-B6DB-1622A062231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98801315"/>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78BBC5-1CCE-452E-B650-813C7803DB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272ECB-760E-4F4C-A171-7D326E63CA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35EE4542-8003-4623-A533-CB9E03D533F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230D1C8-64D4-45D9-8F6D-72ED771251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EEA9C51B-4E49-4355-B06C-C54998110641}"/>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6" name="">
            <a:extLst xmlns:a="http://schemas.openxmlformats.org/drawingml/2006/main">
              <a:ext uri="{FF2B5EF4-FFF2-40B4-BE49-F238E27FC236}">
                <a16:creationId xmlns:a16="http://schemas.microsoft.com/office/drawing/2014/main" id="{7A926EAD-F614-4EE2-BF95-939A8442DBC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2019436906"/>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9D6944-1506-400C-9E9D-1E2C0C0B8DC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8FDCB80-6E85-4CBE-BAFF-34E6D2EF561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3DAAB829-3F0F-42A1-8C52-FD56903876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D4B37D0-6434-4969-BC71-2D2F6206683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E5F61A0D-6055-4B13-ADEE-A96B25800742}"/>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9A6155C6-1B05-477B-A0D2-3A08ABEB0063}"/>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6254694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2026-10-20T23:43:19.4310000Z</dcterms:created>
  <dcterms:modified xsi:type="dcterms:W3CDTF">2026-10-20T23:43:19.4310000Z</dcterms:modified>
</coreProperties>
</file>