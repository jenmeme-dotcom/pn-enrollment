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4" r:id="rId1"/>
    <p:sldMasterId id="2147483735" r:id="rId2"/>
  </p:sldMasterIdLst>
  <p:notesMasterIdLst>
    <p:notesMasterId r:id="rId23"/>
  </p:notesMasterIdLst>
  <p:handoutMasterIdLst>
    <p:handoutMasterId r:id="rId24"/>
  </p:handoutMasterIdLst>
  <p:sldIdLst>
    <p:sldId id="454" r:id="rId3"/>
    <p:sldId id="372" r:id="rId4"/>
    <p:sldId id="456" r:id="rId5"/>
    <p:sldId id="457" r:id="rId6"/>
    <p:sldId id="458" r:id="rId7"/>
    <p:sldId id="459" r:id="rId8"/>
    <p:sldId id="460" r:id="rId9"/>
    <p:sldId id="461" r:id="rId10"/>
    <p:sldId id="463" r:id="rId11"/>
    <p:sldId id="462" r:id="rId12"/>
    <p:sldId id="455" r:id="rId13"/>
    <p:sldId id="464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472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2">
          <p15:clr>
            <a:srgbClr val="A4A3A4"/>
          </p15:clr>
        </p15:guide>
        <p15:guide id="3" pos="2880">
          <p15:clr>
            <a:srgbClr val="A4A3A4"/>
          </p15:clr>
        </p15:guide>
        <p15:guide id="4" pos="52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llen Kunkelmann" initials="AU" lastIdx="7" clrIdx="0"/>
  <p:cmAuthor id="1" name="Reed Elsevier" initials="RE" lastIdx="1" clrIdx="1"/>
  <p:cmAuthor id="2" name="Lisa" initials="L" lastIdx="1" clrIdx="2">
    <p:extLst>
      <p:ext uri="{19B8F6BF-5375-455C-9EA6-DF929625EA0E}">
        <p15:presenceInfo xmlns:p15="http://schemas.microsoft.com/office/powerpoint/2012/main" userId="Lis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10336-ADF9-9D20-0F8F-802CCF8EE7EE}" v="602" dt="2021-12-29T17:46:45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5" autoAdjust="0"/>
    <p:restoredTop sz="90175" autoAdjust="0"/>
  </p:normalViewPr>
  <p:slideViewPr>
    <p:cSldViewPr snapToGrid="0">
      <p:cViewPr varScale="1">
        <p:scale>
          <a:sx n="60" d="100"/>
          <a:sy n="60" d="100"/>
        </p:scale>
        <p:origin x="1112" y="48"/>
      </p:cViewPr>
      <p:guideLst>
        <p:guide orient="horz" pos="2160"/>
        <p:guide orient="horz" pos="1002"/>
        <p:guide pos="2880"/>
        <p:guide pos="52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856" y="45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 Spindler" userId="S::daya.spindler@g.austincc.edu::d47267c9-b69c-4d84-8d8d-9eb6067b7650" providerId="AD" clId="Web-{78310336-ADF9-9D20-0F8F-802CCF8EE7EE}"/>
    <pc:docChg chg="modSld sldOrd">
      <pc:chgData name="Daya Spindler" userId="S::daya.spindler@g.austincc.edu::d47267c9-b69c-4d84-8d8d-9eb6067b7650" providerId="AD" clId="Web-{78310336-ADF9-9D20-0F8F-802CCF8EE7EE}" dt="2021-12-29T17:46:45.778" v="617"/>
      <pc:docMkLst>
        <pc:docMk/>
      </pc:docMkLst>
      <pc:sldChg chg="modSp">
        <pc:chgData name="Daya Spindler" userId="S::daya.spindler@g.austincc.edu::d47267c9-b69c-4d84-8d8d-9eb6067b7650" providerId="AD" clId="Web-{78310336-ADF9-9D20-0F8F-802CCF8EE7EE}" dt="2021-12-29T17:46:21.636" v="599"/>
        <pc:sldMkLst>
          <pc:docMk/>
          <pc:sldMk cId="0" sldId="372"/>
        </pc:sldMkLst>
        <pc:spChg chg="mod ord">
          <ac:chgData name="Daya Spindler" userId="S::daya.spindler@g.austincc.edu::d47267c9-b69c-4d84-8d8d-9eb6067b7650" providerId="AD" clId="Web-{78310336-ADF9-9D20-0F8F-802CCF8EE7EE}" dt="2021-12-29T17:46:21.636" v="599"/>
          <ac:spMkLst>
            <pc:docMk/>
            <pc:sldMk cId="0" sldId="372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5:38:59.819" v="1" actId="20577"/>
        <pc:sldMkLst>
          <pc:docMk/>
          <pc:sldMk cId="4149221392" sldId="454"/>
        </pc:sldMkLst>
        <pc:spChg chg="mod">
          <ac:chgData name="Daya Spindler" userId="S::daya.spindler@g.austincc.edu::d47267c9-b69c-4d84-8d8d-9eb6067b7650" providerId="AD" clId="Web-{78310336-ADF9-9D20-0F8F-802CCF8EE7EE}" dt="2021-12-29T15:38:59.819" v="1" actId="20577"/>
          <ac:spMkLst>
            <pc:docMk/>
            <pc:sldMk cId="4149221392" sldId="454"/>
            <ac:spMk id="5" creationId="{768FB6F7-A481-41DF-934F-28DB4F80864F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34.074" v="608"/>
        <pc:sldMkLst>
          <pc:docMk/>
          <pc:sldMk cId="4105246430" sldId="455"/>
        </pc:sldMkLst>
        <pc:spChg chg="mod ord">
          <ac:chgData name="Daya Spindler" userId="S::daya.spindler@g.austincc.edu::d47267c9-b69c-4d84-8d8d-9eb6067b7650" providerId="AD" clId="Web-{78310336-ADF9-9D20-0F8F-802CCF8EE7EE}" dt="2021-12-29T17:46:34.074" v="608"/>
          <ac:spMkLst>
            <pc:docMk/>
            <pc:sldMk cId="4105246430" sldId="455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24.355" v="600"/>
        <pc:sldMkLst>
          <pc:docMk/>
          <pc:sldMk cId="432812386" sldId="456"/>
        </pc:sldMkLst>
        <pc:spChg chg="mod">
          <ac:chgData name="Daya Spindler" userId="S::daya.spindler@g.austincc.edu::d47267c9-b69c-4d84-8d8d-9eb6067b7650" providerId="AD" clId="Web-{78310336-ADF9-9D20-0F8F-802CCF8EE7EE}" dt="2021-12-29T16:02:25.981" v="16" actId="20577"/>
          <ac:spMkLst>
            <pc:docMk/>
            <pc:sldMk cId="432812386" sldId="456"/>
            <ac:spMk id="3" creationId="{37A9DB0D-CC09-4958-A5F1-1F0395CDFF81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24.355" v="600"/>
          <ac:spMkLst>
            <pc:docMk/>
            <pc:sldMk cId="432812386" sldId="456"/>
            <ac:spMk id="5" creationId="{1EAE809D-46A9-4941-A404-402CF020D042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25.589" v="601"/>
        <pc:sldMkLst>
          <pc:docMk/>
          <pc:sldMk cId="3188137620" sldId="457"/>
        </pc:sldMkLst>
        <pc:spChg chg="mod ord">
          <ac:chgData name="Daya Spindler" userId="S::daya.spindler@g.austincc.edu::d47267c9-b69c-4d84-8d8d-9eb6067b7650" providerId="AD" clId="Web-{78310336-ADF9-9D20-0F8F-802CCF8EE7EE}" dt="2021-12-29T17:46:25.589" v="601"/>
          <ac:spMkLst>
            <pc:docMk/>
            <pc:sldMk cId="3188137620" sldId="457"/>
            <ac:spMk id="5" creationId="{20185E44-8D09-4B20-A39E-7C307097CA05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26.948" v="602"/>
        <pc:sldMkLst>
          <pc:docMk/>
          <pc:sldMk cId="664589452" sldId="458"/>
        </pc:sldMkLst>
        <pc:spChg chg="mod">
          <ac:chgData name="Daya Spindler" userId="S::daya.spindler@g.austincc.edu::d47267c9-b69c-4d84-8d8d-9eb6067b7650" providerId="AD" clId="Web-{78310336-ADF9-9D20-0F8F-802CCF8EE7EE}" dt="2021-12-29T16:24:36.836" v="22" actId="20577"/>
          <ac:spMkLst>
            <pc:docMk/>
            <pc:sldMk cId="664589452" sldId="458"/>
            <ac:spMk id="3" creationId="{E3216E77-C9DA-44FD-B18F-DC7187584ACF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26.948" v="602"/>
          <ac:spMkLst>
            <pc:docMk/>
            <pc:sldMk cId="664589452" sldId="458"/>
            <ac:spMk id="5" creationId="{9F10CF49-AA90-446E-A020-885648B34EDD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27.964" v="603"/>
        <pc:sldMkLst>
          <pc:docMk/>
          <pc:sldMk cId="4210986476" sldId="459"/>
        </pc:sldMkLst>
        <pc:spChg chg="mod">
          <ac:chgData name="Daya Spindler" userId="S::daya.spindler@g.austincc.edu::d47267c9-b69c-4d84-8d8d-9eb6067b7650" providerId="AD" clId="Web-{78310336-ADF9-9D20-0F8F-802CCF8EE7EE}" dt="2021-12-29T16:45:12.252" v="50" actId="20577"/>
          <ac:spMkLst>
            <pc:docMk/>
            <pc:sldMk cId="4210986476" sldId="459"/>
            <ac:spMk id="2" creationId="{6C888C2F-27E6-40F7-8433-4A3F1BD1994D}"/>
          </ac:spMkLst>
        </pc:spChg>
        <pc:spChg chg="mod">
          <ac:chgData name="Daya Spindler" userId="S::daya.spindler@g.austincc.edu::d47267c9-b69c-4d84-8d8d-9eb6067b7650" providerId="AD" clId="Web-{78310336-ADF9-9D20-0F8F-802CCF8EE7EE}" dt="2021-12-29T16:46:07.865" v="88" actId="20577"/>
          <ac:spMkLst>
            <pc:docMk/>
            <pc:sldMk cId="4210986476" sldId="459"/>
            <ac:spMk id="3" creationId="{682357D3-307A-43B4-A7B9-20203A5EE03A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27.964" v="603"/>
          <ac:spMkLst>
            <pc:docMk/>
            <pc:sldMk cId="4210986476" sldId="459"/>
            <ac:spMk id="5" creationId="{45CD8BE0-B02F-4211-99CC-BD1C50016B2E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29.261" v="604"/>
        <pc:sldMkLst>
          <pc:docMk/>
          <pc:sldMk cId="4102933993" sldId="460"/>
        </pc:sldMkLst>
        <pc:spChg chg="mod">
          <ac:chgData name="Daya Spindler" userId="S::daya.spindler@g.austincc.edu::d47267c9-b69c-4d84-8d8d-9eb6067b7650" providerId="AD" clId="Web-{78310336-ADF9-9D20-0F8F-802CCF8EE7EE}" dt="2021-12-29T16:50:53.463" v="197" actId="20577"/>
          <ac:spMkLst>
            <pc:docMk/>
            <pc:sldMk cId="4102933993" sldId="460"/>
            <ac:spMk id="3" creationId="{24EB9CEB-96B5-487F-A736-70AD505FEC54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29.261" v="604"/>
          <ac:spMkLst>
            <pc:docMk/>
            <pc:sldMk cId="4102933993" sldId="460"/>
            <ac:spMk id="5" creationId="{A002D8CD-1243-4FE9-AF56-2337A02486E1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30.449" v="605"/>
        <pc:sldMkLst>
          <pc:docMk/>
          <pc:sldMk cId="271115880" sldId="461"/>
        </pc:sldMkLst>
        <pc:spChg chg="mod">
          <ac:chgData name="Daya Spindler" userId="S::daya.spindler@g.austincc.edu::d47267c9-b69c-4d84-8d8d-9eb6067b7650" providerId="AD" clId="Web-{78310336-ADF9-9D20-0F8F-802CCF8EE7EE}" dt="2021-12-29T16:53:43.896" v="201" actId="20577"/>
          <ac:spMkLst>
            <pc:docMk/>
            <pc:sldMk cId="271115880" sldId="461"/>
            <ac:spMk id="3" creationId="{6885A154-00AE-4BC6-B6C4-3284D955BC71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30.449" v="605"/>
          <ac:spMkLst>
            <pc:docMk/>
            <pc:sldMk cId="271115880" sldId="461"/>
            <ac:spMk id="5" creationId="{2F833061-C0EF-4495-A394-56BF1A8804A0}"/>
          </ac:spMkLst>
        </pc:spChg>
      </pc:sldChg>
      <pc:sldChg chg="modSp ord modNotes">
        <pc:chgData name="Daya Spindler" userId="S::daya.spindler@g.austincc.edu::d47267c9-b69c-4d84-8d8d-9eb6067b7650" providerId="AD" clId="Web-{78310336-ADF9-9D20-0F8F-802CCF8EE7EE}" dt="2021-12-29T17:46:32.824" v="607"/>
        <pc:sldMkLst>
          <pc:docMk/>
          <pc:sldMk cId="1343632109" sldId="462"/>
        </pc:sldMkLst>
        <pc:spChg chg="mod">
          <ac:chgData name="Daya Spindler" userId="S::daya.spindler@g.austincc.edu::d47267c9-b69c-4d84-8d8d-9eb6067b7650" providerId="AD" clId="Web-{78310336-ADF9-9D20-0F8F-802CCF8EE7EE}" dt="2021-12-29T17:10:04.601" v="364" actId="20577"/>
          <ac:spMkLst>
            <pc:docMk/>
            <pc:sldMk cId="1343632109" sldId="462"/>
            <ac:spMk id="3" creationId="{D6333829-2132-4EB6-AD51-1FB293B944BD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32.824" v="607"/>
          <ac:spMkLst>
            <pc:docMk/>
            <pc:sldMk cId="1343632109" sldId="462"/>
            <ac:spMk id="5" creationId="{44B4EB20-19B4-44B4-BED0-466BCEA76B5E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31.746" v="606"/>
        <pc:sldMkLst>
          <pc:docMk/>
          <pc:sldMk cId="3646529856" sldId="463"/>
        </pc:sldMkLst>
        <pc:spChg chg="mod">
          <ac:chgData name="Daya Spindler" userId="S::daya.spindler@g.austincc.edu::d47267c9-b69c-4d84-8d8d-9eb6067b7650" providerId="AD" clId="Web-{78310336-ADF9-9D20-0F8F-802CCF8EE7EE}" dt="2021-12-29T17:44:13.815" v="549" actId="20577"/>
          <ac:spMkLst>
            <pc:docMk/>
            <pc:sldMk cId="3646529856" sldId="463"/>
            <ac:spMk id="2" creationId="{44DD361F-00DF-4A97-BB75-FB9827B67EA5}"/>
          </ac:spMkLst>
        </pc:spChg>
        <pc:spChg chg="mod">
          <ac:chgData name="Daya Spindler" userId="S::daya.spindler@g.austincc.edu::d47267c9-b69c-4d84-8d8d-9eb6067b7650" providerId="AD" clId="Web-{78310336-ADF9-9D20-0F8F-802CCF8EE7EE}" dt="2021-12-29T17:46:06.369" v="598" actId="20577"/>
          <ac:spMkLst>
            <pc:docMk/>
            <pc:sldMk cId="3646529856" sldId="463"/>
            <ac:spMk id="3" creationId="{8771A9E7-1485-456E-AD57-4C33562EC7DF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31.746" v="606"/>
          <ac:spMkLst>
            <pc:docMk/>
            <pc:sldMk cId="3646529856" sldId="463"/>
            <ac:spMk id="5" creationId="{400D70F2-56B0-488A-8A1B-DC0281015804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35.386" v="609"/>
        <pc:sldMkLst>
          <pc:docMk/>
          <pc:sldMk cId="1489620775" sldId="464"/>
        </pc:sldMkLst>
        <pc:spChg chg="mod">
          <ac:chgData name="Daya Spindler" userId="S::daya.spindler@g.austincc.edu::d47267c9-b69c-4d84-8d8d-9eb6067b7650" providerId="AD" clId="Web-{78310336-ADF9-9D20-0F8F-802CCF8EE7EE}" dt="2021-12-29T17:12:32.751" v="388" actId="20577"/>
          <ac:spMkLst>
            <pc:docMk/>
            <pc:sldMk cId="1489620775" sldId="464"/>
            <ac:spMk id="3" creationId="{51235B31-01E4-4583-B7F5-9F021A520DD1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35.386" v="609"/>
          <ac:spMkLst>
            <pc:docMk/>
            <pc:sldMk cId="1489620775" sldId="464"/>
            <ac:spMk id="5" creationId="{87C12DFA-4CE0-48DB-9A83-CCB451F9D37C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36.777" v="610"/>
        <pc:sldMkLst>
          <pc:docMk/>
          <pc:sldMk cId="2658600888" sldId="465"/>
        </pc:sldMkLst>
        <pc:spChg chg="mod">
          <ac:chgData name="Daya Spindler" userId="S::daya.spindler@g.austincc.edu::d47267c9-b69c-4d84-8d8d-9eb6067b7650" providerId="AD" clId="Web-{78310336-ADF9-9D20-0F8F-802CCF8EE7EE}" dt="2021-12-29T17:27:50.123" v="423" actId="20577"/>
          <ac:spMkLst>
            <pc:docMk/>
            <pc:sldMk cId="2658600888" sldId="465"/>
            <ac:spMk id="3" creationId="{98C28A3B-9E8A-4D98-8F8A-5537B3C61850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36.777" v="610"/>
          <ac:spMkLst>
            <pc:docMk/>
            <pc:sldMk cId="2658600888" sldId="465"/>
            <ac:spMk id="5" creationId="{3B79A6DC-C097-41A7-9BFD-E117DCA04B03}"/>
          </ac:spMkLst>
        </pc:spChg>
      </pc:sldChg>
      <pc:sldChg chg="addSp delSp modSp">
        <pc:chgData name="Daya Spindler" userId="S::daya.spindler@g.austincc.edu::d47267c9-b69c-4d84-8d8d-9eb6067b7650" providerId="AD" clId="Web-{78310336-ADF9-9D20-0F8F-802CCF8EE7EE}" dt="2021-12-29T17:46:38.371" v="611"/>
        <pc:sldMkLst>
          <pc:docMk/>
          <pc:sldMk cId="3414870760" sldId="466"/>
        </pc:sldMkLst>
        <pc:spChg chg="mod ord">
          <ac:chgData name="Daya Spindler" userId="S::daya.spindler@g.austincc.edu::d47267c9-b69c-4d84-8d8d-9eb6067b7650" providerId="AD" clId="Web-{78310336-ADF9-9D20-0F8F-802CCF8EE7EE}" dt="2021-12-29T17:46:38.371" v="611"/>
          <ac:spMkLst>
            <pc:docMk/>
            <pc:sldMk cId="3414870760" sldId="466"/>
            <ac:spMk id="5" creationId="{D731A913-8489-4F5F-B2AF-D790AE194812}"/>
          </ac:spMkLst>
        </pc:spChg>
        <pc:spChg chg="add del mod">
          <ac:chgData name="Daya Spindler" userId="S::daya.spindler@g.austincc.edu::d47267c9-b69c-4d84-8d8d-9eb6067b7650" providerId="AD" clId="Web-{78310336-ADF9-9D20-0F8F-802CCF8EE7EE}" dt="2021-12-29T17:32:11.047" v="428"/>
          <ac:spMkLst>
            <pc:docMk/>
            <pc:sldMk cId="3414870760" sldId="466"/>
            <ac:spMk id="6" creationId="{8BEAECF6-4242-4271-8F00-19A76EF4FCA4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39.652" v="612"/>
        <pc:sldMkLst>
          <pc:docMk/>
          <pc:sldMk cId="4050813803" sldId="467"/>
        </pc:sldMkLst>
        <pc:spChg chg="mod ord">
          <ac:chgData name="Daya Spindler" userId="S::daya.spindler@g.austincc.edu::d47267c9-b69c-4d84-8d8d-9eb6067b7650" providerId="AD" clId="Web-{78310336-ADF9-9D20-0F8F-802CCF8EE7EE}" dt="2021-12-29T17:46:39.652" v="612"/>
          <ac:spMkLst>
            <pc:docMk/>
            <pc:sldMk cId="4050813803" sldId="467"/>
            <ac:spMk id="5" creationId="{D731A913-8489-4F5F-B2AF-D790AE194812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40.887" v="613"/>
        <pc:sldMkLst>
          <pc:docMk/>
          <pc:sldMk cId="2195228898" sldId="468"/>
        </pc:sldMkLst>
        <pc:spChg chg="mod ord">
          <ac:chgData name="Daya Spindler" userId="S::daya.spindler@g.austincc.edu::d47267c9-b69c-4d84-8d8d-9eb6067b7650" providerId="AD" clId="Web-{78310336-ADF9-9D20-0F8F-802CCF8EE7EE}" dt="2021-12-29T17:46:40.887" v="613"/>
          <ac:spMkLst>
            <pc:docMk/>
            <pc:sldMk cId="2195228898" sldId="468"/>
            <ac:spMk id="5" creationId="{68DEB8AB-1138-4DBA-9943-0C23A07EC0C3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41.996" v="614"/>
        <pc:sldMkLst>
          <pc:docMk/>
          <pc:sldMk cId="3683672327" sldId="469"/>
        </pc:sldMkLst>
        <pc:spChg chg="mod ord">
          <ac:chgData name="Daya Spindler" userId="S::daya.spindler@g.austincc.edu::d47267c9-b69c-4d84-8d8d-9eb6067b7650" providerId="AD" clId="Web-{78310336-ADF9-9D20-0F8F-802CCF8EE7EE}" dt="2021-12-29T17:46:41.996" v="614"/>
          <ac:spMkLst>
            <pc:docMk/>
            <pc:sldMk cId="3683672327" sldId="469"/>
            <ac:spMk id="5" creationId="{DEC3191B-B313-40B8-9C43-618107B64A4C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43.137" v="615"/>
        <pc:sldMkLst>
          <pc:docMk/>
          <pc:sldMk cId="112519244" sldId="470"/>
        </pc:sldMkLst>
        <pc:spChg chg="mod">
          <ac:chgData name="Daya Spindler" userId="S::daya.spindler@g.austincc.edu::d47267c9-b69c-4d84-8d8d-9eb6067b7650" providerId="AD" clId="Web-{78310336-ADF9-9D20-0F8F-802CCF8EE7EE}" dt="2021-12-29T17:39:18.215" v="503" actId="20577"/>
          <ac:spMkLst>
            <pc:docMk/>
            <pc:sldMk cId="112519244" sldId="470"/>
            <ac:spMk id="3" creationId="{E1DA5D05-D669-42C7-ACB6-933087B4A43F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43.137" v="615"/>
          <ac:spMkLst>
            <pc:docMk/>
            <pc:sldMk cId="112519244" sldId="470"/>
            <ac:spMk id="5" creationId="{735F1BB6-4D68-40E1-B85E-8C40593B3CE1}"/>
          </ac:spMkLst>
        </pc:spChg>
      </pc:sldChg>
      <pc:sldChg chg="addSp delSp modSp">
        <pc:chgData name="Daya Spindler" userId="S::daya.spindler@g.austincc.edu::d47267c9-b69c-4d84-8d8d-9eb6067b7650" providerId="AD" clId="Web-{78310336-ADF9-9D20-0F8F-802CCF8EE7EE}" dt="2021-12-29T17:46:44.418" v="616"/>
        <pc:sldMkLst>
          <pc:docMk/>
          <pc:sldMk cId="3427333642" sldId="471"/>
        </pc:sldMkLst>
        <pc:spChg chg="mod ord">
          <ac:chgData name="Daya Spindler" userId="S::daya.spindler@g.austincc.edu::d47267c9-b69c-4d84-8d8d-9eb6067b7650" providerId="AD" clId="Web-{78310336-ADF9-9D20-0F8F-802CCF8EE7EE}" dt="2021-12-29T17:46:44.418" v="616"/>
          <ac:spMkLst>
            <pc:docMk/>
            <pc:sldMk cId="3427333642" sldId="471"/>
            <ac:spMk id="5" creationId="{993EA7FA-A0FB-4F9F-B38F-DACF29BD223C}"/>
          </ac:spMkLst>
        </pc:spChg>
        <pc:spChg chg="add del">
          <ac:chgData name="Daya Spindler" userId="S::daya.spindler@g.austincc.edu::d47267c9-b69c-4d84-8d8d-9eb6067b7650" providerId="AD" clId="Web-{78310336-ADF9-9D20-0F8F-802CCF8EE7EE}" dt="2021-12-29T17:39:25.809" v="505"/>
          <ac:spMkLst>
            <pc:docMk/>
            <pc:sldMk cId="3427333642" sldId="471"/>
            <ac:spMk id="6" creationId="{B8C440E1-0B29-49A6-B71F-D602B2AE35DE}"/>
          </ac:spMkLst>
        </pc:spChg>
      </pc:sldChg>
      <pc:sldChg chg="modSp">
        <pc:chgData name="Daya Spindler" userId="S::daya.spindler@g.austincc.edu::d47267c9-b69c-4d84-8d8d-9eb6067b7650" providerId="AD" clId="Web-{78310336-ADF9-9D20-0F8F-802CCF8EE7EE}" dt="2021-12-29T17:46:45.778" v="617"/>
        <pc:sldMkLst>
          <pc:docMk/>
          <pc:sldMk cId="3224767018" sldId="472"/>
        </pc:sldMkLst>
        <pc:spChg chg="mod">
          <ac:chgData name="Daya Spindler" userId="S::daya.spindler@g.austincc.edu::d47267c9-b69c-4d84-8d8d-9eb6067b7650" providerId="AD" clId="Web-{78310336-ADF9-9D20-0F8F-802CCF8EE7EE}" dt="2021-12-29T17:43:01.373" v="543" actId="20577"/>
          <ac:spMkLst>
            <pc:docMk/>
            <pc:sldMk cId="3224767018" sldId="472"/>
            <ac:spMk id="3" creationId="{092ED12C-B79D-442F-870F-52959D6770DE}"/>
          </ac:spMkLst>
        </pc:spChg>
        <pc:spChg chg="mod ord">
          <ac:chgData name="Daya Spindler" userId="S::daya.spindler@g.austincc.edu::d47267c9-b69c-4d84-8d8d-9eb6067b7650" providerId="AD" clId="Web-{78310336-ADF9-9D20-0F8F-802CCF8EE7EE}" dt="2021-12-29T17:46:45.778" v="617"/>
          <ac:spMkLst>
            <pc:docMk/>
            <pc:sldMk cId="3224767018" sldId="472"/>
            <ac:spMk id="5" creationId="{DD13C124-6561-482D-B252-C51BAF86F6B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004F2-4EAE-2CE3-6BA7-D506C65ADE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094807" y="0"/>
            <a:ext cx="4761606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COOPER: Foundations and Adult Health Nursing, 9th Edition</a:t>
            </a:r>
          </a:p>
          <a:p>
            <a:r>
              <a:rPr lang="en-US" dirty="0"/>
              <a:t>Chapter 13 Student Handout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9068B-3B5B-29C7-4F13-917D1FE69F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9970C-CB1C-D143-B897-E0C5BF1634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4B3A3-2B2B-4C7E-A0BE-A138142B5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97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94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5BF81156-E6AF-44C8-BBE8-65F3689151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5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286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0858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5430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0002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2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>
              <a:buFont typeface="+mj-lt"/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What is objective data? What is subjective data?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Give examples of signs and symptoms.</a:t>
            </a:r>
            <a:r>
              <a:rPr lang="en-US" altLang="en-US" i="1" dirty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633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What are some signs and symptoms of a typical disease?</a:t>
            </a:r>
            <a:r>
              <a:rPr lang="en-US" altLang="en-US" i="1" dirty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Have students give examples of diseases that fall into the categories of: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Hereditary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Congenital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Inflammatory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Degenerative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Infectious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Deficiency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Metabolic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Neoplastic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Traumatic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Environmental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Unknown etiology</a:t>
            </a:r>
            <a:r>
              <a:rPr lang="en-US" altLang="en-US" i="1" dirty="0"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241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are the four categories of risk factors?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If a patient has a risk factor, what does that indicate?</a:t>
            </a:r>
            <a:r>
              <a:rPr lang="en-US" altLang="en-US" i="1" dirty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522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Describe a chronic disease.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is an acute disease?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does </a:t>
            </a:r>
            <a:r>
              <a:rPr lang="en-US" altLang="en-US" i="1" dirty="0">
                <a:latin typeface="Arial" panose="020B0604020202020204" pitchFamily="34" charset="0"/>
              </a:rPr>
              <a:t>remission</a:t>
            </a:r>
            <a:r>
              <a:rPr lang="en-US" altLang="en-US" dirty="0">
                <a:latin typeface="Arial" panose="020B0604020202020204" pitchFamily="34" charset="0"/>
              </a:rPr>
              <a:t> mean?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817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are the signs and symptoms of infection?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are the signs and symptoms of inflammation?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are the differences and similarities of infection and inflammation?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971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does </a:t>
            </a:r>
            <a:r>
              <a:rPr lang="en-US" altLang="en-US" i="1" dirty="0">
                <a:latin typeface="Arial" panose="020B0604020202020204" pitchFamily="34" charset="0"/>
              </a:rPr>
              <a:t>assessment</a:t>
            </a:r>
            <a:r>
              <a:rPr lang="en-US" altLang="en-US" dirty="0">
                <a:latin typeface="Arial" panose="020B0604020202020204" pitchFamily="34" charset="0"/>
              </a:rPr>
              <a:t> mean?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is involved in a medical assessment?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What functions might be required of a nurse during a medical assessment?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Ask students to volunteer information about their experiences with medical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524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Arial"/>
                <a:ea typeface="ＭＳ Ｐゴシック"/>
                <a:cs typeface="Arial"/>
              </a:rPr>
              <a:t>Refer to Fig. 13.1 and Box 13.2</a:t>
            </a:r>
          </a:p>
          <a:p>
            <a:pPr marL="171450" marR="0" lvl="0" indent="-17145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/>
                <a:ea typeface="ＭＳ Ｐゴシック"/>
                <a:cs typeface="Arial"/>
              </a:rPr>
              <a:t>What equipment and/or supplies are necessary for a physical assessment?</a:t>
            </a:r>
            <a:endParaRPr lang="en-US" dirty="0">
              <a:latin typeface="Arial"/>
              <a:ea typeface="ＭＳ Ｐゴシック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872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11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>
              <a:buFont typeface="+mj-lt"/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5131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How should a nurse approach a patient for the first time?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does </a:t>
            </a:r>
            <a:r>
              <a:rPr lang="en-US" altLang="en-US" i="1" dirty="0">
                <a:latin typeface="Arial" panose="020B0604020202020204" pitchFamily="34" charset="0"/>
              </a:rPr>
              <a:t>professionalism</a:t>
            </a:r>
            <a:r>
              <a:rPr lang="en-US" altLang="en-US" dirty="0">
                <a:latin typeface="Arial" panose="020B0604020202020204" pitchFamily="34" charset="0"/>
              </a:rPr>
              <a:t> mean?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How does the first nurse-patient interaction affect trust in the relationship?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55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What elements are conducive to provide a therapeutic interview?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358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is the initial step in taking a health history?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is the rationale for obtaining a health history?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Define </a:t>
            </a:r>
            <a:r>
              <a:rPr lang="en-US" altLang="en-US" i="1" dirty="0">
                <a:latin typeface="Arial" panose="020B0604020202020204" pitchFamily="34" charset="0"/>
              </a:rPr>
              <a:t>chief complaint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What is the OPQRSTUV method?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946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Why is it important to obtain a family health history?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typical information is obtained while performing an environmental assessment?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Why is it important to obtain a psychosocial history?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does </a:t>
            </a:r>
            <a:r>
              <a:rPr lang="en-US" altLang="en-US" i="1" dirty="0">
                <a:latin typeface="Arial" panose="020B0604020202020204" pitchFamily="34" charset="0"/>
              </a:rPr>
              <a:t>review of systems</a:t>
            </a:r>
            <a:r>
              <a:rPr lang="en-US" altLang="en-US" dirty="0">
                <a:latin typeface="Arial" panose="020B0604020202020204" pitchFamily="34" charset="0"/>
              </a:rPr>
              <a:t> mean? How is it applicable to a nursing assessment?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81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is the purpose of the nurse’s physical assessment?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Why does an RN perform the initial assessment?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Why is it both the RN and LPN/LVN’s responsibility to perform ongoing nursing assessments?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Ask students to describe an environment in which they would prefer a physical assessment be conducted.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140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Why is the neurologic system the first system to assess when performing a head-to-toe assessment?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65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Give an example of documenting a history and physical assessment.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04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Where might telephone consultations be used?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350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What are some of the ways a nurse can develop cultural and ethnic sensitivity?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75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BC70723-5CE8-499C-9971-E4BA18B80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3487AE73-3EFF-4555-9FC5-23593D65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E234264E-8860-42A2-83C5-41782AA54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7759797-3D2C-4F47-AED4-0E8ADB42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5AAB81D7-0106-4E41-AE2E-2E4047E2435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4177A3A-15AF-4BAA-AB48-4B3B002C052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81CECAA-A39B-467B-A776-CD395CF9D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65A3104-DFC4-492D-B3D0-C3C246A48F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FCA15E23-B403-4680-BAA9-DB5D51A8CF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D72A011B-01AE-4CD8-834B-21DB9583C27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7D6F96D-A6E5-45AB-8576-3F1772613D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3E21C735-DADD-43D3-9408-D21FA5E14BB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D8B011C-2750-47E8-9990-D6261FE36F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0F24A53-2415-4DAD-BD6A-1D9F5DDAF5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2078F67-8AE8-4E9C-AA54-76CE029A507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B9D621F-A6F6-4120-BD22-05C76ECD157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00D131F-949B-4E5B-BE81-7C14B29CC9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EBBF4AC-9420-466C-AD9E-FD6592AADD2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97B28123-2912-48D2-AF42-C274BD8D6B1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6C156E8-9280-4352-B33B-89F3740952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5BEE1B7-10AA-4C75-B080-000D6057ADA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198644BA-AE6D-4C74-A6DD-E08DB08BD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7F366DB-197B-47FE-868E-147B370B959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15250" y="6359525"/>
            <a:ext cx="132715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i="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C67DEBA-1458-4D94-8AC0-2EE32DB11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DD830-10A1-E828-86F8-668E3B6C3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8800" y="63595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0FB175F7-DCBF-4C4E-B2DF-5E10268F084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D7AFA-A2F6-3410-5F60-0973DD695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15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Chapter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200" dirty="0"/>
              <a:t>Physical Assessment</a:t>
            </a:r>
          </a:p>
        </p:txBody>
      </p:sp>
    </p:spTree>
    <p:extLst>
      <p:ext uri="{BB962C8B-B14F-4D97-AF65-F5344CB8AC3E}">
        <p14:creationId xmlns:p14="http://schemas.microsoft.com/office/powerpoint/2010/main" val="414922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13.1: Disease</a:t>
            </a:r>
            <a:endParaRPr lang="en-US" sz="1600" dirty="0"/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Discuss the difference between a sign and a symptom.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Compare and contrast the origins of disease.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List the four major risk categories for development of disease.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Discuss frequently noted signs and symptoms of disease conditions.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List the cardinal signs of inflammation and infection.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Describe the nursing responsibilities when assisting a physician with the physical examination.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 equipment and supplies necessary for the physical examination/assessment.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2</a:t>
            </a:fld>
            <a:endParaRPr lang="en-GB" sz="10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FE07-F3CE-4695-A336-8BE1FFF68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Signs and Symptoms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9DB0D-CC09-4958-A5F1-1F0395CD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Signs</a:t>
            </a:r>
          </a:p>
          <a:p>
            <a:pPr lvl="1"/>
            <a:r>
              <a:rPr lang="en-US" altLang="en-US" dirty="0"/>
              <a:t>Objective data as perceived by the examiner </a:t>
            </a:r>
          </a:p>
          <a:p>
            <a:pPr lvl="1"/>
            <a:r>
              <a:rPr lang="en-US" altLang="en-US" dirty="0"/>
              <a:t>Can be seen, heard, and measured and can be verified by more than one person</a:t>
            </a:r>
          </a:p>
          <a:p>
            <a:pPr lvl="1"/>
            <a:r>
              <a:rPr lang="en-US" altLang="en-US" dirty="0"/>
              <a:t>Examples: rashes, altered vital signs, abnormal lung or heart sounds, and visible drainage or exudate</a:t>
            </a:r>
          </a:p>
          <a:p>
            <a:pPr lvl="1"/>
            <a:r>
              <a:rPr lang="en-US" altLang="en-US" dirty="0"/>
              <a:t>Lab results, diagnostic imaging, and other studies</a:t>
            </a:r>
          </a:p>
          <a:p>
            <a:r>
              <a:rPr lang="en-US" altLang="en-US" dirty="0"/>
              <a:t>Symptoms</a:t>
            </a:r>
          </a:p>
          <a:p>
            <a:pPr lvl="1"/>
            <a:r>
              <a:rPr lang="en-US" altLang="en-US" dirty="0"/>
              <a:t>Subjective data</a:t>
            </a:r>
          </a:p>
          <a:p>
            <a:pPr lvl="1"/>
            <a:r>
              <a:rPr lang="en-US" altLang="en-US" dirty="0"/>
              <a:t>Perceived by the patient</a:t>
            </a:r>
          </a:p>
          <a:p>
            <a:pPr lvl="1"/>
            <a:r>
              <a:rPr lang="en-US" altLang="en-US" dirty="0"/>
              <a:t>Examples: pain, nausea, vertigo, and anxiety</a:t>
            </a:r>
          </a:p>
          <a:p>
            <a:pPr lvl="1"/>
            <a:r>
              <a:rPr lang="en-US" altLang="en-US" dirty="0"/>
              <a:t>Nurse unaware of symptoms unless the patient describes the sensation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D9518-BF43-48F2-929F-64DD6E571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81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77F4-2C88-4542-9D07-2FB08303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Disease and Diagnosis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CCCCC-5DFE-43CB-8CB0-33BB46239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sz="3000" dirty="0"/>
              <a:t>Disease</a:t>
            </a:r>
          </a:p>
          <a:p>
            <a:pPr lvl="1"/>
            <a:r>
              <a:rPr lang="en-US" altLang="en-US" sz="2600" dirty="0"/>
              <a:t>It is any disturbance of a structure or function of the body; a pathologic condition of the body</a:t>
            </a:r>
          </a:p>
          <a:p>
            <a:pPr lvl="1"/>
            <a:r>
              <a:rPr lang="en-US" altLang="en-US" sz="2600" dirty="0"/>
              <a:t>It is recognized by a set of signs and symptoms</a:t>
            </a:r>
          </a:p>
          <a:p>
            <a:pPr lvl="1"/>
            <a:r>
              <a:rPr lang="en-US" altLang="en-US" sz="2600" dirty="0"/>
              <a:t>Signs and symptoms are clustered in groups to help the health care provider to make a medical diagnosis</a:t>
            </a:r>
          </a:p>
          <a:p>
            <a:r>
              <a:rPr lang="en-US" altLang="en-US" sz="3000" dirty="0"/>
              <a:t>Origins of disease</a:t>
            </a:r>
          </a:p>
          <a:p>
            <a:pPr lvl="1"/>
            <a:r>
              <a:rPr lang="en-US" altLang="en-US" sz="2600" dirty="0"/>
              <a:t>Disease or illness originates from many causes: hereditary, congenital, inflammatory, degenerative, infectious, deficiency, metabolic, neoplastic, traumatic, and environmental</a:t>
            </a:r>
          </a:p>
          <a:p>
            <a:pPr lvl="1"/>
            <a:r>
              <a:rPr lang="en-US" altLang="en-US" sz="2600" dirty="0"/>
              <a:t>Unknown etiology</a:t>
            </a:r>
          </a:p>
          <a:p>
            <a:pPr lvl="2"/>
            <a:r>
              <a:rPr lang="en-US" altLang="en-US" sz="2200" dirty="0"/>
              <a:t>Diseases that have no apparent cause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6BFF7-4BC9-4AF9-BE03-DB5968706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813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643C-9474-4A2A-A49D-8D7ABD91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Risk Factors for Development of Disease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16E77-C9DA-44FD-B18F-DC7187584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 </a:t>
            </a:r>
            <a:r>
              <a:rPr lang="en-US" altLang="en-US" i="1" dirty="0"/>
              <a:t>risk factor</a:t>
            </a:r>
            <a:r>
              <a:rPr lang="en-US" altLang="en-US" dirty="0"/>
              <a:t> is any situation, habit, environmental condition, genetic predisposition, physiologic condition, or other that increases the vulnerability of an individual or a group to illness or accident</a:t>
            </a:r>
          </a:p>
          <a:p>
            <a:r>
              <a:rPr lang="en-US" altLang="en-US" dirty="0"/>
              <a:t>Risk factors do not necessarily mean that a person will develop a disease condition, only that the chances of disease are increased</a:t>
            </a:r>
          </a:p>
          <a:p>
            <a:r>
              <a:rPr lang="en-US" altLang="en-US" dirty="0"/>
              <a:t>Categories of risk factors</a:t>
            </a:r>
          </a:p>
          <a:p>
            <a:pPr lvl="1"/>
            <a:r>
              <a:rPr lang="en-US" altLang="en-US" dirty="0"/>
              <a:t>Genetic and physiologic, age, environment, and lifestyle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27F19-03EA-47E2-A18E-B0050DA20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58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8C2F-27E6-40F7-8433-4A3F1BD1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Terms Used to Describe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357D3-307A-43B4-A7B9-20203A5EE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Chronic</a:t>
            </a:r>
          </a:p>
          <a:p>
            <a:r>
              <a:rPr lang="en-US" altLang="en-US" dirty="0"/>
              <a:t>Remission</a:t>
            </a:r>
          </a:p>
          <a:p>
            <a:r>
              <a:rPr lang="en-US" altLang="en-US" dirty="0"/>
              <a:t>Acute</a:t>
            </a:r>
          </a:p>
          <a:p>
            <a:r>
              <a:rPr lang="en-US" altLang="en-US" dirty="0"/>
              <a:t>Organic disease</a:t>
            </a:r>
          </a:p>
          <a:p>
            <a:r>
              <a:rPr lang="en-US" altLang="en-US" dirty="0"/>
              <a:t>Functional disease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B0F73-7EF8-4774-BF0E-6FF6F3383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098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D879-35AF-4227-AF43-9A2816EB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Inflammation and Infection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B9CEB-96B5-487F-A736-70AD505FE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Infection</a:t>
            </a:r>
          </a:p>
          <a:p>
            <a:pPr lvl="1"/>
            <a:r>
              <a:rPr lang="en-US" altLang="en-US" dirty="0"/>
              <a:t>Caused by an invasion of microorganisms, such as bacteria, viruses, fungi, or parasites that produce tissue damage</a:t>
            </a:r>
          </a:p>
          <a:p>
            <a:r>
              <a:rPr lang="en-US" altLang="en-US" dirty="0"/>
              <a:t>Inflammation</a:t>
            </a:r>
          </a:p>
          <a:p>
            <a:pPr lvl="1"/>
            <a:r>
              <a:rPr lang="en-US" altLang="en-US" dirty="0"/>
              <a:t>Protective response of the body tissues of irritation, injury, or invasion by disease-producing organisms</a:t>
            </a:r>
          </a:p>
          <a:p>
            <a:r>
              <a:rPr lang="en-US" altLang="en-US" dirty="0"/>
              <a:t>Cardinal signs</a:t>
            </a:r>
          </a:p>
          <a:p>
            <a:pPr lvl="1"/>
            <a:r>
              <a:rPr lang="en-US" altLang="en-US" dirty="0"/>
              <a:t>Erythema, edema, heat, pain, purulent drainage, and loss of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50929-7437-4BB6-9CB8-0E47EEF90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2933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508E-0740-4357-9B9F-5CC79B6A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5A154-00AE-4BC6-B6C4-3284D955B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evaluation or appraisal of the patient’s condition</a:t>
            </a:r>
          </a:p>
          <a:p>
            <a:r>
              <a:rPr lang="en-US" altLang="en-US" dirty="0"/>
              <a:t>Medical assessment</a:t>
            </a:r>
          </a:p>
          <a:p>
            <a:pPr lvl="1"/>
            <a:r>
              <a:rPr lang="en-US" altLang="en-US" dirty="0"/>
              <a:t>Physical examination is conducted by the health care provider </a:t>
            </a:r>
          </a:p>
          <a:p>
            <a:pPr lvl="1"/>
            <a:r>
              <a:rPr lang="en-US" altLang="en-US" dirty="0"/>
              <a:t>The nurse is often expected to carry out certain functions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2DA65-4F2D-4687-9AFF-30C3CF2B1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11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D361F-00DF-4A97-BB75-FB9827B6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Nursing Responsibilities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1A9E7-1485-456E-AD57-4C33562EC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Preparing the examining room</a:t>
            </a:r>
          </a:p>
          <a:p>
            <a:r>
              <a:rPr lang="en-US" altLang="en-US" dirty="0"/>
              <a:t>Assisting with equipment</a:t>
            </a:r>
          </a:p>
          <a:p>
            <a:r>
              <a:rPr lang="en-US" altLang="en-US" dirty="0"/>
              <a:t>Preparing the patient</a:t>
            </a:r>
          </a:p>
          <a:p>
            <a:r>
              <a:rPr lang="en-US" altLang="en-US" dirty="0"/>
              <a:t>Collecting specimens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67689-B84F-4D1F-B555-47300BC2C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652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0C89-B6DC-46ED-B003-93D57F7F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Equipment and Supplies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33829-2132-4EB6-AD51-1FB293B94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Equipment and supplies include (among others):</a:t>
            </a:r>
          </a:p>
          <a:p>
            <a:pPr lvl="1"/>
            <a:r>
              <a:rPr lang="en-US" altLang="en-US" dirty="0"/>
              <a:t>Cotton applicators</a:t>
            </a:r>
          </a:p>
          <a:p>
            <a:pPr lvl="1"/>
            <a:r>
              <a:rPr lang="en-US" altLang="en-US" dirty="0"/>
              <a:t>Eye chart</a:t>
            </a:r>
          </a:p>
          <a:p>
            <a:pPr lvl="1"/>
            <a:r>
              <a:rPr lang="en-US" altLang="en-US" dirty="0"/>
              <a:t>Gloves</a:t>
            </a:r>
          </a:p>
          <a:p>
            <a:pPr lvl="1"/>
            <a:r>
              <a:rPr lang="en-US" altLang="en-US" dirty="0"/>
              <a:t>Otoscope</a:t>
            </a:r>
          </a:p>
          <a:p>
            <a:pPr lvl="1"/>
            <a:r>
              <a:rPr lang="en-US" altLang="en-US" dirty="0"/>
              <a:t>Percussion hammer</a:t>
            </a:r>
          </a:p>
          <a:p>
            <a:pPr lvl="1"/>
            <a:r>
              <a:rPr lang="en-US" altLang="en-US" dirty="0"/>
              <a:t>Scale with height measurement rod</a:t>
            </a:r>
          </a:p>
          <a:p>
            <a:pPr lvl="1"/>
            <a:r>
              <a:rPr lang="en-US" altLang="en-US" dirty="0"/>
              <a:t>Specimen containers</a:t>
            </a:r>
          </a:p>
          <a:p>
            <a:pPr lvl="1"/>
            <a:r>
              <a:rPr lang="en-US" altLang="en-US" dirty="0"/>
              <a:t>Stethoscopes</a:t>
            </a:r>
          </a:p>
          <a:p>
            <a:pPr lvl="1"/>
            <a:r>
              <a:rPr lang="en-US" altLang="en-US" dirty="0"/>
              <a:t>Thermometer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9BF03-D27A-413F-9603-A2EB08FCD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63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13.2: Physical Assessment</a:t>
            </a:r>
            <a:endParaRPr lang="en-US" sz="1600" dirty="0"/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 startAt="8"/>
            </a:pPr>
            <a:r>
              <a:rPr lang="en-US" dirty="0"/>
              <a:t>Explain the necessary skills for the physical examination/nursing assessment.</a:t>
            </a:r>
          </a:p>
          <a:p>
            <a:pPr marL="514350" lvl="0" indent="-514350">
              <a:buFont typeface="+mj-lt"/>
              <a:buAutoNum type="arabicPeriod" startAt="8"/>
            </a:pPr>
            <a:r>
              <a:rPr lang="en-US" dirty="0"/>
              <a:t>Discuss the nurse-patient interview.</a:t>
            </a:r>
          </a:p>
          <a:p>
            <a:pPr marL="514350" lvl="0" indent="-514350">
              <a:buFont typeface="+mj-lt"/>
              <a:buAutoNum type="arabicPeriod" startAt="8"/>
            </a:pPr>
            <a:r>
              <a:rPr lang="en-US" dirty="0"/>
              <a:t>List the basic essentials for a patient’s health history.</a:t>
            </a:r>
          </a:p>
          <a:p>
            <a:pPr marL="514350" lvl="0" indent="-514350">
              <a:buFont typeface="+mj-lt"/>
              <a:buAutoNum type="arabicPeriod" startAt="8"/>
            </a:pPr>
            <a:r>
              <a:rPr lang="en-US" dirty="0"/>
              <a:t>Discuss the sequence of steps when performing a nursing assessment.</a:t>
            </a:r>
          </a:p>
          <a:p>
            <a:pPr marL="514350" lvl="0" indent="-514350">
              <a:buFont typeface="+mj-lt"/>
              <a:buAutoNum type="arabicPeriod" startAt="8"/>
            </a:pPr>
            <a:r>
              <a:rPr lang="en-US" dirty="0"/>
              <a:t>Discuss normal and abnormal assessment findings in the head-to-toe assessment.</a:t>
            </a:r>
          </a:p>
          <a:p>
            <a:pPr marL="514350" lvl="0" indent="-514350">
              <a:buFont typeface="+mj-lt"/>
              <a:buAutoNum type="arabicPeriod" startAt="8"/>
            </a:pPr>
            <a:r>
              <a:rPr lang="en-US" dirty="0"/>
              <a:t>Describe documentation of the physical examination/ nursing assessment.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Explain ways to develop cultural sensitivity.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11</a:t>
            </a:fld>
            <a:endParaRPr lang="en-GB" sz="10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5246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36535-293F-4816-A1D6-149B6D63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Initiating the Nurse-Patient Relationship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35B31-01E4-4583-B7F5-9F021A520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first interview is the most challenging to conduct</a:t>
            </a:r>
          </a:p>
          <a:p>
            <a:r>
              <a:rPr lang="en-US" altLang="en-US" dirty="0"/>
              <a:t>Introduce yourself and state name, position, and purpose of the interview</a:t>
            </a:r>
          </a:p>
          <a:p>
            <a:r>
              <a:rPr lang="en-US" altLang="en-US" dirty="0"/>
              <a:t>Give an estimate of time</a:t>
            </a:r>
          </a:p>
          <a:p>
            <a:r>
              <a:rPr lang="en-US" altLang="en-US" dirty="0"/>
              <a:t>Ask if the patient has any questions and answer them appropriately</a:t>
            </a:r>
          </a:p>
          <a:p>
            <a:r>
              <a:rPr lang="en-US" altLang="en-US" dirty="0"/>
              <a:t>Communicate trust and confidentiality</a:t>
            </a:r>
          </a:p>
          <a:p>
            <a:r>
              <a:rPr lang="en-US" altLang="en-US" dirty="0"/>
              <a:t>Convey professionalism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EBC37-D210-4719-8A4C-C6EDD9951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620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B537-BEF8-43DC-99EF-BD1AACAD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Interview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8A3B-9E8A-4D98-8F8A-5537B3C61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Conduct in a quiet, private, well-lighted setting</a:t>
            </a:r>
            <a:endParaRPr lang="en-US"/>
          </a:p>
          <a:p>
            <a:r>
              <a:rPr lang="en-US" altLang="en-US" dirty="0"/>
              <a:t>Convey feelings of compassion and concern</a:t>
            </a:r>
          </a:p>
          <a:p>
            <a:r>
              <a:rPr lang="en-US" altLang="en-US" dirty="0"/>
              <a:t>Determine by what name the patient wishes to be addressed</a:t>
            </a:r>
          </a:p>
          <a:p>
            <a:r>
              <a:rPr lang="en-US" altLang="en-US" dirty="0"/>
              <a:t>Nurse should have a calm demeanor, sit at eye level with patient, and pleasant facial expression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2AB6E-877A-4F75-9B5A-F1B217D4C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860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AC28-38AB-4416-B4C4-4824EFFE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Nursing Health History</a:t>
            </a:r>
            <a:br>
              <a:rPr lang="en-US" altLang="en-US" dirty="0"/>
            </a:br>
            <a:r>
              <a:rPr lang="en-US" altLang="en-US" sz="1600" dirty="0"/>
              <a:t>(Slide 1 of 2)</a:t>
            </a: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D0039-11B1-403A-AF21-DEF9DF96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initial step in assessment process</a:t>
            </a:r>
          </a:p>
          <a:p>
            <a:r>
              <a:rPr lang="en-US" altLang="en-US" dirty="0"/>
              <a:t>Information on patient’s wellness, changes in life patterns, sociocultural role, and mental and emotional reaction to illness</a:t>
            </a:r>
          </a:p>
          <a:p>
            <a:r>
              <a:rPr lang="en-US" altLang="en-US" dirty="0"/>
              <a:t>Biographic data</a:t>
            </a:r>
          </a:p>
          <a:p>
            <a:r>
              <a:rPr lang="en-US" altLang="en-US" dirty="0"/>
              <a:t>Reasons for seeking health care</a:t>
            </a:r>
          </a:p>
          <a:p>
            <a:pPr lvl="1"/>
            <a:r>
              <a:rPr lang="en-US" altLang="en-US" dirty="0"/>
              <a:t>Chief complaint</a:t>
            </a:r>
          </a:p>
          <a:p>
            <a:r>
              <a:rPr lang="en-US" altLang="en-US" dirty="0"/>
              <a:t>Present illness or health concerns</a:t>
            </a:r>
          </a:p>
          <a:p>
            <a:r>
              <a:rPr lang="en-US" altLang="en-US" dirty="0"/>
              <a:t>Past health history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ECC6E-099C-4071-A272-42415C338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4870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AC28-38AB-4416-B4C4-4824EFFE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Nursing Health History</a:t>
            </a:r>
            <a:br>
              <a:rPr lang="en-US" altLang="en-US" dirty="0"/>
            </a:br>
            <a:r>
              <a:rPr lang="en-US" altLang="en-US" sz="1600" dirty="0"/>
              <a:t>(Slide 2 of 2)</a:t>
            </a: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D0039-11B1-403A-AF21-DEF9DF96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Family history</a:t>
            </a:r>
          </a:p>
          <a:p>
            <a:r>
              <a:rPr lang="en-US" altLang="en-US" dirty="0"/>
              <a:t>Environmental history</a:t>
            </a:r>
          </a:p>
          <a:p>
            <a:r>
              <a:rPr lang="en-US" altLang="en-US" dirty="0"/>
              <a:t>Psychosocial and cultural history</a:t>
            </a:r>
          </a:p>
          <a:p>
            <a:r>
              <a:rPr lang="en-US" altLang="en-US" dirty="0"/>
              <a:t>Review of systems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ECC6E-099C-4071-A272-42415C338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0813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5B5E-F69B-4F23-B4AD-A83CD629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Nursing Physical 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5E8C-D92E-45D9-95BF-C510976A8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The purpose is to determine the patient’s state of health or illness</a:t>
            </a:r>
          </a:p>
          <a:p>
            <a:r>
              <a:rPr lang="en-US" altLang="en-US" dirty="0"/>
              <a:t>Initial step of the nursing process and in forming the nursing care plan</a:t>
            </a:r>
          </a:p>
          <a:p>
            <a:r>
              <a:rPr lang="en-US" altLang="en-US" dirty="0"/>
              <a:t>When to perform a physical assessment</a:t>
            </a:r>
          </a:p>
          <a:p>
            <a:pPr lvl="1"/>
            <a:r>
              <a:rPr lang="en-US" altLang="en-US" dirty="0"/>
              <a:t>Perform assessment as soon after admission as possible</a:t>
            </a:r>
          </a:p>
          <a:p>
            <a:pPr lvl="1"/>
            <a:r>
              <a:rPr lang="en-US" altLang="en-US" dirty="0"/>
              <a:t>Initial assessment is done by an RN</a:t>
            </a:r>
          </a:p>
          <a:p>
            <a:pPr lvl="1"/>
            <a:r>
              <a:rPr lang="en-US" altLang="en-US" dirty="0"/>
              <a:t>Ongoing assessment is the responsibility of LPN and RN</a:t>
            </a:r>
          </a:p>
          <a:p>
            <a:r>
              <a:rPr lang="en-US" altLang="en-US" dirty="0"/>
              <a:t>Methods of nursing physical assessment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49247-B40D-4EB2-8C24-E1400A970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228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1626-560C-4914-A61B-91C4A11B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Head-to-Toe 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56D1-C8F0-46FE-A9D5-461CC1CF7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Neurologic</a:t>
            </a:r>
          </a:p>
          <a:p>
            <a:r>
              <a:rPr lang="en-US" altLang="en-US" dirty="0"/>
              <a:t>Skin and hair</a:t>
            </a:r>
          </a:p>
          <a:p>
            <a:r>
              <a:rPr lang="en-US" altLang="en-US" dirty="0"/>
              <a:t>Head and neck</a:t>
            </a:r>
          </a:p>
          <a:p>
            <a:r>
              <a:rPr lang="en-US" altLang="en-US" dirty="0"/>
              <a:t>Mouth and throat</a:t>
            </a:r>
          </a:p>
          <a:p>
            <a:r>
              <a:rPr lang="en-US" altLang="en-US" dirty="0"/>
              <a:t>Eyes, ears, and nose</a:t>
            </a:r>
          </a:p>
          <a:p>
            <a:r>
              <a:rPr lang="en-US" altLang="en-US" dirty="0"/>
              <a:t>Chest, lungs, heart, and vascular system</a:t>
            </a:r>
          </a:p>
          <a:p>
            <a:r>
              <a:rPr lang="en-US" altLang="en-US" dirty="0"/>
              <a:t>Gastrointestinal system</a:t>
            </a:r>
          </a:p>
          <a:p>
            <a:r>
              <a:rPr lang="en-US" altLang="en-US" dirty="0"/>
              <a:t>Genitourinary system</a:t>
            </a:r>
          </a:p>
          <a:p>
            <a:r>
              <a:rPr lang="en-US" altLang="en-US" dirty="0"/>
              <a:t>Rectum</a:t>
            </a:r>
          </a:p>
          <a:p>
            <a:r>
              <a:rPr lang="en-US" altLang="en-US" dirty="0"/>
              <a:t>Legs and feet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C6B62-0973-4AE7-8DD2-955991F37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3672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FD34-5DCD-4BF5-929C-DC553C43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A5D05-D669-42C7-ACB6-933087B4A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Most institutions have a designated flowsheet in the electronic medical record or a standardized form to follow</a:t>
            </a:r>
          </a:p>
          <a:p>
            <a:pPr lvl="1"/>
            <a:r>
              <a:rPr lang="en-US" altLang="en-US" dirty="0"/>
              <a:t>Baseline for evaluation</a:t>
            </a:r>
          </a:p>
          <a:p>
            <a:r>
              <a:rPr lang="en-US" altLang="en-US" dirty="0"/>
              <a:t>Be objective, clear, complete, and concise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E2BB6-7483-4000-B63F-C601A45D7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519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C238-77D9-4B46-B475-375F7140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Telephone Consultation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65452-6EF0-41FF-8440-4B5EDED66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It is essential to follow Health Insurance Portability and Accountability Act (HIPAA) guidelines</a:t>
            </a:r>
          </a:p>
          <a:p>
            <a:r>
              <a:rPr lang="en-US" altLang="en-US" dirty="0"/>
              <a:t>Used in a variety of health care settings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C3B2C-6978-4783-A7AB-289610C3F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7333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AF4A-E724-43BB-B9D5-19C97813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Cultural Considerations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ED12C-B79D-442F-870F-52959D67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Culture includes knowledge, skills, art, morals, law, customs, and any other acquired habits and capabilities of a group of people</a:t>
            </a:r>
          </a:p>
          <a:p>
            <a:r>
              <a:rPr lang="en-US" altLang="en-US" dirty="0"/>
              <a:t>Ways to develop cultural and ethnic sensitivity</a:t>
            </a:r>
          </a:p>
          <a:p>
            <a:pPr lvl="1"/>
            <a:r>
              <a:rPr lang="en-US" altLang="en-US" dirty="0"/>
              <a:t>Recognize that cultural and ethnic diversity exist</a:t>
            </a:r>
          </a:p>
          <a:p>
            <a:pPr lvl="1"/>
            <a:r>
              <a:rPr lang="en-US" altLang="en-US" dirty="0"/>
              <a:t>Demonstrate respect for people as individuals</a:t>
            </a:r>
          </a:p>
          <a:p>
            <a:pPr lvl="1"/>
            <a:r>
              <a:rPr lang="en-US" altLang="en-US" dirty="0"/>
              <a:t>Respect the unfamiliar</a:t>
            </a:r>
          </a:p>
          <a:p>
            <a:pPr lvl="1"/>
            <a:r>
              <a:rPr lang="en-US" altLang="en-US" dirty="0"/>
              <a:t>Do not expect all members of one cultural group to behave in the same manner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66BF6-AAAF-44D1-8FAA-C9616C341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767018"/>
      </p:ext>
    </p:extLst>
  </p:cSld>
  <p:clrMapOvr>
    <a:masterClrMapping/>
  </p:clrMapOvr>
</p:sld>
</file>

<file path=ppt/theme/theme1.xml><?xml version="1.0" encoding="utf-8"?>
<a:theme xmlns:a="http://schemas.openxmlformats.org/drawingml/2006/main" name="2_Blue Diagonal">
  <a:themeElements>
    <a:clrScheme name="2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2_Blue Diagonal">
      <a:majorFont>
        <a:latin typeface="ArialMT"/>
        <a:ea typeface="ＭＳ Ｐゴシック"/>
        <a:cs typeface=""/>
      </a:majorFont>
      <a:minorFont>
        <a:latin typeface="ArialMT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44BCCB53-EE29-414A-8F6C-89C65B68B0C1}"/>
    </a:ext>
  </a:extLst>
</a:theme>
</file>

<file path=ppt/theme/theme2.xml><?xml version="1.0" encoding="utf-8"?>
<a:theme xmlns:a="http://schemas.openxmlformats.org/drawingml/2006/main" name="3_Blue Diagonal">
  <a:themeElements>
    <a:clrScheme name="3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3_Blue Diagon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E7008CAA-0110-4942-A27F-B887E31738AC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7096</TotalTime>
  <Words>1386</Words>
  <Application>Microsoft Office PowerPoint</Application>
  <PresentationFormat>On-screen Show (4:3)</PresentationFormat>
  <Paragraphs>221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ArialMT</vt:lpstr>
      <vt:lpstr>Times New Roman</vt:lpstr>
      <vt:lpstr>Wingdings</vt:lpstr>
      <vt:lpstr>Wingdings 2</vt:lpstr>
      <vt:lpstr>Wingdings 3</vt:lpstr>
      <vt:lpstr>2_Blue Diagonal</vt:lpstr>
      <vt:lpstr>3_Blue Diagonal</vt:lpstr>
      <vt:lpstr>Chapter 13</vt:lpstr>
      <vt:lpstr>Lesson 13.1: Disease</vt:lpstr>
      <vt:lpstr>Signs and Symptoms</vt:lpstr>
      <vt:lpstr>Disease and Diagnosis</vt:lpstr>
      <vt:lpstr>Risk Factors for Development of Disease</vt:lpstr>
      <vt:lpstr>Terms Used to Describe Disease</vt:lpstr>
      <vt:lpstr>Inflammation and Infection</vt:lpstr>
      <vt:lpstr>Assessment</vt:lpstr>
      <vt:lpstr>Nursing Responsibilities</vt:lpstr>
      <vt:lpstr>Equipment and Supplies</vt:lpstr>
      <vt:lpstr>Lesson 13.2: Physical Assessment</vt:lpstr>
      <vt:lpstr>Initiating the Nurse-Patient Relationship</vt:lpstr>
      <vt:lpstr>The Interview</vt:lpstr>
      <vt:lpstr>Nursing Health History (Slide 1 of 2)</vt:lpstr>
      <vt:lpstr>Nursing Health History (Slide 2 of 2)</vt:lpstr>
      <vt:lpstr>Nursing Physical Assessment</vt:lpstr>
      <vt:lpstr>Head-to-Toe Assessment</vt:lpstr>
      <vt:lpstr>Documentation</vt:lpstr>
      <vt:lpstr>Telephone Consultation</vt:lpstr>
      <vt:lpstr>Cultural Considerations</vt:lpstr>
    </vt:vector>
  </TitlesOfParts>
  <Company>REED Elsevier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Body Systems</dc:title>
  <dc:creator>Linda Honeycutt</dc:creator>
  <cp:lastModifiedBy>Jyoti Tyagi (IL-IN)</cp:lastModifiedBy>
  <cp:revision>838</cp:revision>
  <dcterms:created xsi:type="dcterms:W3CDTF">2005-01-16T17:28:53Z</dcterms:created>
  <dcterms:modified xsi:type="dcterms:W3CDTF">2022-07-06T06:48:24Z</dcterms:modified>
</cp:coreProperties>
</file>