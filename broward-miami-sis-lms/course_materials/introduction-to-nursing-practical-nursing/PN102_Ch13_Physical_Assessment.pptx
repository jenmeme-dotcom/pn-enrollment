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b475d23c8b41f2" /><Relationship Type="http://schemas.openxmlformats.org/officeDocument/2006/relationships/extended-properties" Target="/docProps/app.xml" Id="R7e86b4fa38ed44be" /><Relationship Type="http://schemas.openxmlformats.org/officeDocument/2006/relationships/officeDocument" Target="/ppt/presentation.xml" Id="Rbfe6bacf6bc745a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af08bd519a4890"/>
  </p:sldMasterIdLst>
  <p:notesMasterIdLst>
    <p:notesMasterId xmlns:r="http://schemas.openxmlformats.org/officeDocument/2006/relationships" r:id="R59cd095c62214790"/>
  </p:notesMasterIdLst>
  <p:sldIdLst>
    <p:sldId xmlns:r="http://schemas.openxmlformats.org/officeDocument/2006/relationships" id="256" r:id="R125023fd0cbc4382"/>
    <p:sldId xmlns:r="http://schemas.openxmlformats.org/officeDocument/2006/relationships" id="257" r:id="R6602fa1d2f3b4a31"/>
    <p:sldId xmlns:r="http://schemas.openxmlformats.org/officeDocument/2006/relationships" id="258" r:id="R94bd00832a0f487f"/>
    <p:sldId xmlns:r="http://schemas.openxmlformats.org/officeDocument/2006/relationships" id="259" r:id="R7aae41f4574c411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90f4ec04c3541bd" /><Relationship Type="http://schemas.openxmlformats.org/officeDocument/2006/relationships/slideMaster" Target="/ppt/slideMasters/slideMaster1.xml" Id="Rcfaf08bd519a4890" /><Relationship Type="http://schemas.openxmlformats.org/officeDocument/2006/relationships/notesMaster" Target="/ppt/notesMasters/notesMaster1.xml" Id="R59cd095c62214790" /><Relationship Type="http://schemas.openxmlformats.org/officeDocument/2006/relationships/presProps" Target="/ppt/presProps.xml" Id="Rb26b59ad8d2b49de" /><Relationship Type="http://schemas.openxmlformats.org/officeDocument/2006/relationships/tableStyles" Target="/ppt/tableStyles.xml" Id="Ref3c37c939784e3d" /><Relationship Type="http://schemas.openxmlformats.org/officeDocument/2006/relationships/slide" Target="/ppt/slides/slide1.xml" Id="R125023fd0cbc4382" /><Relationship Type="http://schemas.openxmlformats.org/officeDocument/2006/relationships/slide" Target="/ppt/slides/slide2.xml" Id="R6602fa1d2f3b4a31" /><Relationship Type="http://schemas.openxmlformats.org/officeDocument/2006/relationships/slide" Target="/ppt/slides/slide3.xml" Id="R94bd00832a0f487f" /><Relationship Type="http://schemas.openxmlformats.org/officeDocument/2006/relationships/slide" Target="/ppt/slides/slide4.xml" Id="R7aae41f4574c411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685f8cf990e4f8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c1739d9f89e4118" /><Relationship Type="http://schemas.openxmlformats.org/officeDocument/2006/relationships/notesMaster" Target="/ppt/notesMasters/notesMaster1.xml" Id="R2a2402feed7b4b7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1016b823e1f4e09" /><Relationship Type="http://schemas.openxmlformats.org/officeDocument/2006/relationships/notesMaster" Target="/ppt/notesMasters/notesMaster1.xml" Id="Ra8a33e89834641e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0dc2c16374d43c1" /><Relationship Type="http://schemas.openxmlformats.org/officeDocument/2006/relationships/notesMaster" Target="/ppt/notesMasters/notesMaster1.xml" Id="R78efe4df03ef47d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586dfb0dd7047ae" /><Relationship Type="http://schemas.openxmlformats.org/officeDocument/2006/relationships/notesMaster" Target="/ppt/notesMasters/notesMaster1.xml" Id="Rc5b01f88a8bd42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chapter and connect it to the assigned textbook reading.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13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13, pp. 315–341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how the four reading-focus concepts fit together before applying them to care.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13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13, pp. 315–341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Apply the chapter concepts to the practical nurse’s observation, action, documentation, and reporting responsibilities.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13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13, pp. 315–341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a recall-and-application prompt: recognize the cue, act safely within scope, and report exact findings.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src/introNursingBuildout.js — Chapter 13 extendedWeekChapters and readingFocusExplanations (local course source; accessed 2026-07-30).</a:t>
            </a:r>
          </a:p>
          <a:p xmlns:a="http://schemas.openxmlformats.org/drawingml/2006/main">
            <a:r>
              <a:t>- Cooper, K., &amp; Gosnell, K. (2023). Foundations of Nursing (9th ed.), Chapter 13, pp. 315–341 (course-assigned textbook).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d54e2bae7c4c5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15b2552186a4913" /><Relationship Type="http://schemas.openxmlformats.org/officeDocument/2006/relationships/slideLayout" Target="/ppt/slideLayouts/slideLayout1.xml" Id="Ra1a0e23fb9c3435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1a0e23fb9c3435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af547ca24442bc" /><Relationship Type="http://schemas.openxmlformats.org/officeDocument/2006/relationships/notesSlide" Target="/ppt/notesSlides/notesSlide1.xml" Id="Rc25143db429a423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52b64e79574fc4" /><Relationship Type="http://schemas.openxmlformats.org/officeDocument/2006/relationships/notesSlide" Target="/ppt/notesSlides/notesSlide2.xml" Id="R0ba32c4e5792463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8df7ca972c4981" /><Relationship Type="http://schemas.openxmlformats.org/officeDocument/2006/relationships/notesSlide" Target="/ppt/notesSlides/notesSlide3.xml" Id="Rf457ec62d2b24d9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59cc188b834143" /><Relationship Type="http://schemas.openxmlformats.org/officeDocument/2006/relationships/notesSlide" Target="/ppt/notesSlides/notesSlide4.xml" Id="Rf55c803b78e94b5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course-eyebrow">
            <a:extLst xmlns:a="http://schemas.openxmlformats.org/drawingml/2006/main">
              <a:ext uri="{FF2B5EF4-FFF2-40B4-BE49-F238E27FC236}">
                <a16:creationId xmlns:a16="http://schemas.microsoft.com/office/drawing/2014/main" id="{907BC96D-1AD1-4555-8319-4D42CC4D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6858000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BROWARD–MIAMI HEALTH INSTITUTE</a:t>
            </a:r>
          </a:p>
        </p:txBody>
      </p:sp>
      <p:sp>
        <p:nvSpPr>
          <p:cNvPr id="2" name="chapter-title">
            <a:extLst xmlns:a="http://schemas.openxmlformats.org/drawingml/2006/main">
              <a:ext uri="{FF2B5EF4-FFF2-40B4-BE49-F238E27FC236}">
                <a16:creationId xmlns:a16="http://schemas.microsoft.com/office/drawing/2014/main" id="{332AE1E8-F173-4F9A-8B2E-8E8C802A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1000125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Physical Assessment</a:t>
            </a:r>
          </a:p>
        </p:txBody>
      </p:sp>
      <p:sp>
        <p:nvSpPr>
          <p:cNvPr id="3" name="chapter-subtitle">
            <a:extLst xmlns:a="http://schemas.openxmlformats.org/drawingml/2006/main">
              <a:ext uri="{FF2B5EF4-FFF2-40B4-BE49-F238E27FC236}">
                <a16:creationId xmlns:a16="http://schemas.microsoft.com/office/drawing/2014/main" id="{584C8FE8-97BE-440B-BA0E-5EE5E800E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95250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PN 102  •  Chapter 13  •  Foundations of Nursing, 9th ed.  •  pp. 315–341</a:t>
            </a:r>
          </a:p>
        </p:txBody>
      </p:sp>
    </p:spTree>
    <p:extLst>
      <p:ext uri="{BB962C8B-B14F-4D97-AF65-F5344CB8AC3E}">
        <p14:creationId xmlns:p14="http://schemas.microsoft.com/office/powerpoint/2010/main" val="15191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ncepts-title">
            <a:extLst xmlns:a="http://schemas.openxmlformats.org/drawingml/2006/main">
              <a:ext uri="{FF2B5EF4-FFF2-40B4-BE49-F238E27FC236}">
                <a16:creationId xmlns:a16="http://schemas.microsoft.com/office/drawing/2014/main" id="{31218C3A-814E-4159-9DCA-A9DBC7A61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Chapter 13: four ideas to connect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D0FE6F2-32D1-4717-BED4-1C6D0A92C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3" name="concept-1-title">
            <a:extLst xmlns:a="http://schemas.openxmlformats.org/drawingml/2006/main">
              <a:ext uri="{FF2B5EF4-FFF2-40B4-BE49-F238E27FC236}">
                <a16:creationId xmlns:a16="http://schemas.microsoft.com/office/drawing/2014/main" id="{1D9D89A1-4290-495B-A3D9-0AEF083E8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Signs and symptoms</a:t>
            </a:r>
          </a:p>
        </p:txBody>
      </p:sp>
      <p:sp>
        <p:nvSpPr>
          <p:cNvPr id="4" name="concept-1-explanation">
            <a:extLst xmlns:a="http://schemas.openxmlformats.org/drawingml/2006/main">
              <a:ext uri="{FF2B5EF4-FFF2-40B4-BE49-F238E27FC236}">
                <a16:creationId xmlns:a16="http://schemas.microsoft.com/office/drawing/2014/main" id="{D40DA031-CEA1-4C23-959D-100B6309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Combine objective signs and subjective symptoms to understand the patient’s condition.</a:t>
            </a:r>
          </a:p>
        </p:txBody>
      </p:sp>
      <p:sp>
        <p:nvSpPr>
          <p:cNvPr id="5" name="concept-2-title">
            <a:extLst xmlns:a="http://schemas.openxmlformats.org/drawingml/2006/main">
              <a:ext uri="{FF2B5EF4-FFF2-40B4-BE49-F238E27FC236}">
                <a16:creationId xmlns:a16="http://schemas.microsoft.com/office/drawing/2014/main" id="{1C57EE4A-061D-4DAF-A4F9-272427FFC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Health history</a:t>
            </a:r>
          </a:p>
        </p:txBody>
      </p:sp>
      <p:sp>
        <p:nvSpPr>
          <p:cNvPr id="6" name="concept-2-explanation">
            <a:extLst xmlns:a="http://schemas.openxmlformats.org/drawingml/2006/main">
              <a:ext uri="{FF2B5EF4-FFF2-40B4-BE49-F238E27FC236}">
                <a16:creationId xmlns:a16="http://schemas.microsoft.com/office/drawing/2014/main" id="{919599CB-1F79-411A-A65A-FDAF1B20A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988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Use respectful, organized questions about current concerns, health, medications, allergies, and support.</a:t>
            </a:r>
          </a:p>
        </p:txBody>
      </p:sp>
      <p:sp>
        <p:nvSpPr>
          <p:cNvPr id="7" name="concept-3-title">
            <a:extLst xmlns:a="http://schemas.openxmlformats.org/drawingml/2006/main">
              <a:ext uri="{FF2B5EF4-FFF2-40B4-BE49-F238E27FC236}">
                <a16:creationId xmlns:a16="http://schemas.microsoft.com/office/drawing/2014/main" id="{3FDE7677-C00B-4358-8C0F-743BA2E67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Connected assessments</a:t>
            </a:r>
          </a:p>
        </p:txBody>
      </p:sp>
      <p:sp>
        <p:nvSpPr>
          <p:cNvPr id="8" name="concept-3-explanation">
            <a:extLst xmlns:a="http://schemas.openxmlformats.org/drawingml/2006/main">
              <a:ext uri="{FF2B5EF4-FFF2-40B4-BE49-F238E27FC236}">
                <a16:creationId xmlns:a16="http://schemas.microsoft.com/office/drawing/2014/main" id="{E7C3FAC7-0F97-443F-9B67-60D1354AD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Understand how provider diagnosis and ongoing nursing assessment contribute different information.</a:t>
            </a:r>
          </a:p>
        </p:txBody>
      </p:sp>
      <p:sp>
        <p:nvSpPr>
          <p:cNvPr id="9" name="concept-4-title">
            <a:extLst xmlns:a="http://schemas.openxmlformats.org/drawingml/2006/main">
              <a:ext uri="{FF2B5EF4-FFF2-40B4-BE49-F238E27FC236}">
                <a16:creationId xmlns:a16="http://schemas.microsoft.com/office/drawing/2014/main" id="{60CDBD31-9CDC-46C5-BECE-E2DD0A6E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2208086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Systematic examination</a:t>
            </a:r>
          </a:p>
        </p:txBody>
      </p:sp>
      <p:sp>
        <p:nvSpPr>
          <p:cNvPr id="10" name="concept-4-explanation">
            <a:extLst xmlns:a="http://schemas.openxmlformats.org/drawingml/2006/main">
              <a:ext uri="{FF2B5EF4-FFF2-40B4-BE49-F238E27FC236}">
                <a16:creationId xmlns:a16="http://schemas.microsoft.com/office/drawing/2014/main" id="{3E42EC33-7D08-4F2F-88CC-84F99E966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5722" y="4161092"/>
            <a:ext cx="2595944" cy="14156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Use an organized approach, protect comfort and privacy, and report important changes.</a:t>
            </a:r>
          </a:p>
        </p:txBody>
      </p:sp>
    </p:spTree>
    <p:extLst>
      <p:ext uri="{BB962C8B-B14F-4D97-AF65-F5344CB8AC3E}">
        <p14:creationId xmlns:p14="http://schemas.microsoft.com/office/powerpoint/2010/main" val="7756260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practice-title">
            <a:extLst xmlns:a="http://schemas.openxmlformats.org/drawingml/2006/main">
              <a:ext uri="{FF2B5EF4-FFF2-40B4-BE49-F238E27FC236}">
                <a16:creationId xmlns:a16="http://schemas.microsoft.com/office/drawing/2014/main" id="{BECBFDD2-8A0D-4352-9B45-D437AA96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Put the chapter into safe practical nursing care</a:t>
            </a:r>
          </a:p>
        </p:txBody>
      </p:sp>
      <p:sp>
        <p:nvSpPr>
          <p:cNvPr id="2" name="practice-lead">
            <a:extLst xmlns:a="http://schemas.openxmlformats.org/drawingml/2006/main">
              <a:ext uri="{FF2B5EF4-FFF2-40B4-BE49-F238E27FC236}">
                <a16:creationId xmlns:a16="http://schemas.microsoft.com/office/drawing/2014/main" id="{AF2F23C9-7B77-4386-BA4D-2898D3E79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22406"/>
            <a:ext cx="5537168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A consistent assessment helps you notice what has changed.</a:t>
            </a:r>
          </a:p>
        </p:txBody>
      </p:sp>
      <p:sp>
        <p:nvSpPr>
          <p:cNvPr id="3" name="practice-body">
            <a:extLst xmlns:a="http://schemas.openxmlformats.org/drawingml/2006/main">
              <a:ext uri="{FF2B5EF4-FFF2-40B4-BE49-F238E27FC236}">
                <a16:creationId xmlns:a16="http://schemas.microsoft.com/office/drawing/2014/main" id="{2F78CBD1-6867-4CA9-A27B-0A22BF66C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990279"/>
            <a:ext cx="5537168" cy="28846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Begin with the patient’s concern, collect a focused history, and examine in a systematic order. Compare findings with baseline and expected results, then promptly report significant changes.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32C4ECF-0B30-4E38-B5DA-D79372D12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5" name="check-1">
            <a:extLst xmlns:a="http://schemas.openxmlformats.org/drawingml/2006/main">
              <a:ext uri="{FF2B5EF4-FFF2-40B4-BE49-F238E27FC236}">
                <a16:creationId xmlns:a16="http://schemas.microsoft.com/office/drawing/2014/main" id="{6B684CB4-AACF-4C75-BE40-54674635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2999804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6" name="check-label-1">
            <a:extLst xmlns:a="http://schemas.openxmlformats.org/drawingml/2006/main">
              <a:ext uri="{FF2B5EF4-FFF2-40B4-BE49-F238E27FC236}">
                <a16:creationId xmlns:a16="http://schemas.microsoft.com/office/drawing/2014/main" id="{7BA75909-C6A5-401C-B234-1D17BA663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902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Explain and protect privacy</a:t>
            </a:r>
          </a:p>
        </p:txBody>
      </p:sp>
      <p:sp>
        <p:nvSpPr>
          <p:cNvPr id="7" name="check-2">
            <a:extLst xmlns:a="http://schemas.openxmlformats.org/drawingml/2006/main">
              <a:ext uri="{FF2B5EF4-FFF2-40B4-BE49-F238E27FC236}">
                <a16:creationId xmlns:a16="http://schemas.microsoft.com/office/drawing/2014/main" id="{6515DA3E-CE45-49B4-BC37-E0D97F4A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609404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8" name="check-label-2">
            <a:extLst xmlns:a="http://schemas.openxmlformats.org/drawingml/2006/main">
              <a:ext uri="{FF2B5EF4-FFF2-40B4-BE49-F238E27FC236}">
                <a16:creationId xmlns:a16="http://schemas.microsoft.com/office/drawing/2014/main" id="{0025E9DD-4C0D-4F0E-82C6-155BD73CE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998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Collect subjective symptoms</a:t>
            </a:r>
          </a:p>
        </p:txBody>
      </p:sp>
      <p:sp>
        <p:nvSpPr>
          <p:cNvPr id="9" name="check-3">
            <a:extLst xmlns:a="http://schemas.openxmlformats.org/drawingml/2006/main">
              <a:ext uri="{FF2B5EF4-FFF2-40B4-BE49-F238E27FC236}">
                <a16:creationId xmlns:a16="http://schemas.microsoft.com/office/drawing/2014/main" id="{D8F0155A-9625-452D-835D-2E0C9DF6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224338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10" name="check-label-3">
            <a:extLst xmlns:a="http://schemas.openxmlformats.org/drawingml/2006/main">
              <a:ext uri="{FF2B5EF4-FFF2-40B4-BE49-F238E27FC236}">
                <a16:creationId xmlns:a16="http://schemas.microsoft.com/office/drawing/2014/main" id="{F7DFDF9B-AF05-4974-9793-4E5E04F2E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14813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Observe objective signs</a:t>
            </a:r>
          </a:p>
        </p:txBody>
      </p:sp>
      <p:sp>
        <p:nvSpPr>
          <p:cNvPr id="11" name="check-4">
            <a:extLst xmlns:a="http://schemas.openxmlformats.org/drawingml/2006/main">
              <a:ext uri="{FF2B5EF4-FFF2-40B4-BE49-F238E27FC236}">
                <a16:creationId xmlns:a16="http://schemas.microsoft.com/office/drawing/2014/main" id="{39AE4A42-1F7F-4A5F-B479-60EBF6A7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833842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12" name="check-label-4">
            <a:extLst xmlns:a="http://schemas.openxmlformats.org/drawingml/2006/main">
              <a:ext uri="{FF2B5EF4-FFF2-40B4-BE49-F238E27FC236}">
                <a16:creationId xmlns:a16="http://schemas.microsoft.com/office/drawing/2014/main" id="{DD774B64-8534-41F7-B2D2-95E7C0EB9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24317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Follow a consistent sequence</a:t>
            </a:r>
          </a:p>
        </p:txBody>
      </p:sp>
      <p:sp>
        <p:nvSpPr>
          <p:cNvPr id="13" name="check-5">
            <a:extLst xmlns:a="http://schemas.openxmlformats.org/drawingml/2006/main">
              <a:ext uri="{FF2B5EF4-FFF2-40B4-BE49-F238E27FC236}">
                <a16:creationId xmlns:a16="http://schemas.microsoft.com/office/drawing/2014/main" id="{F848F205-D91E-4492-B038-AD9C4782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5456206"/>
            <a:ext cx="26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✓</a:t>
            </a:r>
          </a:p>
        </p:txBody>
      </p:sp>
      <p:sp>
        <p:nvSpPr>
          <p:cNvPr id="14" name="check-label-5">
            <a:extLst xmlns:a="http://schemas.openxmlformats.org/drawingml/2006/main">
              <a:ext uri="{FF2B5EF4-FFF2-40B4-BE49-F238E27FC236}">
                <a16:creationId xmlns:a16="http://schemas.microsoft.com/office/drawing/2014/main" id="{76FFAAEC-B377-4B55-9E3E-E44EB37EC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446681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Compare, document, and report</a:t>
            </a:r>
          </a:p>
        </p:txBody>
      </p:sp>
    </p:spTree>
    <p:extLst>
      <p:ext uri="{BB962C8B-B14F-4D97-AF65-F5344CB8AC3E}">
        <p14:creationId xmlns:p14="http://schemas.microsoft.com/office/powerpoint/2010/main" val="2039465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losing-eyebrow">
            <a:extLst xmlns:a="http://schemas.openxmlformats.org/drawingml/2006/main">
              <a:ext uri="{FF2B5EF4-FFF2-40B4-BE49-F238E27FC236}">
                <a16:creationId xmlns:a16="http://schemas.microsoft.com/office/drawing/2014/main" id="{F27BAE42-86A3-471E-B812-76147811F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7239000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B6976"/>
                </a:solidFill>
                <a:latin typeface="Helvetica Neue"/>
                <a:ea typeface="Helvetica Neue"/>
                <a:cs typeface="Helvetica Neue"/>
              </a:defRPr>
            </a:pPr>
            <a:r>
              <a:t>RECOGNIZE  →  ACT  →  REPORT</a:t>
            </a:r>
          </a:p>
        </p:txBody>
      </p:sp>
      <p:sp>
        <p:nvSpPr>
          <p:cNvPr id="2" name="closing-message">
            <a:extLst xmlns:a="http://schemas.openxmlformats.org/drawingml/2006/main">
              <a:ext uri="{FF2B5EF4-FFF2-40B4-BE49-F238E27FC236}">
                <a16:creationId xmlns:a16="http://schemas.microsoft.com/office/drawing/2014/main" id="{B412102A-1320-4D7E-805A-E7531B61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1000125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8232F"/>
                </a:solidFill>
                <a:latin typeface="Helvetica Neue"/>
                <a:ea typeface="Helvetica Neue"/>
                <a:cs typeface="Helvetica Neue"/>
              </a:defRPr>
            </a:pPr>
            <a:r>
              <a:t>Ask the concern.
Examine in order.
Report the difference.</a:t>
            </a:r>
          </a:p>
        </p:txBody>
      </p:sp>
      <p:sp>
        <p:nvSpPr>
          <p:cNvPr id="3" name="closing-prompt">
            <a:extLst xmlns:a="http://schemas.openxmlformats.org/drawingml/2006/main">
              <a:ext uri="{FF2B5EF4-FFF2-40B4-BE49-F238E27FC236}">
                <a16:creationId xmlns:a16="http://schemas.microsoft.com/office/drawing/2014/main" id="{BB2D7AEA-1CE1-4744-A654-04FD501A0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8572500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Before moving on, explain the cue, your immediate action within scope, and the facts you would report.</a:t>
            </a:r>
          </a:p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60ABF46-212C-44C1-947A-49E8CC99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96B7B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477108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2026-07-30T05:24:55.6620000Z</dcterms:created>
  <dcterms:modified xsi:type="dcterms:W3CDTF">2026-07-30T05:24:55.6620000Z</dcterms:modified>
</coreProperties>
</file>