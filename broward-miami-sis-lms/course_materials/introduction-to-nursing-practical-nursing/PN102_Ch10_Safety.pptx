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9abd8491c9429c" /><Relationship Type="http://schemas.openxmlformats.org/officeDocument/2006/relationships/extended-properties" Target="/docProps/app.xml" Id="R2e700580032a4a86" /><Relationship Type="http://schemas.openxmlformats.org/officeDocument/2006/relationships/officeDocument" Target="/ppt/presentation.xml" Id="R7c868e522c9942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6e1655523d4197"/>
  </p:sldMasterIdLst>
  <p:notesMasterIdLst>
    <p:notesMasterId xmlns:r="http://schemas.openxmlformats.org/officeDocument/2006/relationships" r:id="Rc6de21d86cd845f3"/>
  </p:notesMasterIdLst>
  <p:sldIdLst>
    <p:sldId xmlns:r="http://schemas.openxmlformats.org/officeDocument/2006/relationships" id="256" r:id="R82df8e473f3d4b71"/>
    <p:sldId xmlns:r="http://schemas.openxmlformats.org/officeDocument/2006/relationships" id="257" r:id="Rc6cae8963d2b4a17"/>
    <p:sldId xmlns:r="http://schemas.openxmlformats.org/officeDocument/2006/relationships" id="258" r:id="R2a87ecaf05594fa8"/>
    <p:sldId xmlns:r="http://schemas.openxmlformats.org/officeDocument/2006/relationships" id="259" r:id="R0b125aaacaeb4cb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c56ead0fc545a2" /><Relationship Type="http://schemas.openxmlformats.org/officeDocument/2006/relationships/slideMaster" Target="/ppt/slideMasters/slideMaster1.xml" Id="R5d6e1655523d4197" /><Relationship Type="http://schemas.openxmlformats.org/officeDocument/2006/relationships/notesMaster" Target="/ppt/notesMasters/notesMaster1.xml" Id="Rc6de21d86cd845f3" /><Relationship Type="http://schemas.openxmlformats.org/officeDocument/2006/relationships/presProps" Target="/ppt/presProps.xml" Id="R5148b13cfb4e490b" /><Relationship Type="http://schemas.openxmlformats.org/officeDocument/2006/relationships/tableStyles" Target="/ppt/tableStyles.xml" Id="R51187b79d1c044e2" /><Relationship Type="http://schemas.openxmlformats.org/officeDocument/2006/relationships/slide" Target="/ppt/slides/slide1.xml" Id="R82df8e473f3d4b71" /><Relationship Type="http://schemas.openxmlformats.org/officeDocument/2006/relationships/slide" Target="/ppt/slides/slide2.xml" Id="Rc6cae8963d2b4a17" /><Relationship Type="http://schemas.openxmlformats.org/officeDocument/2006/relationships/slide" Target="/ppt/slides/slide3.xml" Id="R2a87ecaf05594fa8" /><Relationship Type="http://schemas.openxmlformats.org/officeDocument/2006/relationships/slide" Target="/ppt/slides/slide4.xml" Id="R0b125aaacaeb4c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d3d08440df4b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2a4fe76a6c4aa7" /><Relationship Type="http://schemas.openxmlformats.org/officeDocument/2006/relationships/notesMaster" Target="/ppt/notesMasters/notesMaster1.xml" Id="R7369bb1f8d7a40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bf31c45fb542f8" /><Relationship Type="http://schemas.openxmlformats.org/officeDocument/2006/relationships/notesMaster" Target="/ppt/notesMasters/notesMaster1.xml" Id="R35c64b65a68940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429a4f37eb49c3" /><Relationship Type="http://schemas.openxmlformats.org/officeDocument/2006/relationships/notesMaster" Target="/ppt/notesMasters/notesMaster1.xml" Id="R1a8ca0a289a543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13812129f34e05" /><Relationship Type="http://schemas.openxmlformats.org/officeDocument/2006/relationships/notesMaster" Target="/ppt/notesMasters/notesMaster1.xml" Id="R6bea1856407a44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chapter and connect it to the assigned textbook reading.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10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10, pp. 237–261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how the four reading-focus concepts fit together before applying them to care.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10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10, pp. 237–261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Apply the chapter concepts to the practical nurse’s observation, action, documentation, and reporting responsibilities.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10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10, pp. 237–261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recall-and-application prompt: recognize the cue, act safely within scope, and report exact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10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10, pp. 237–261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fab581250e46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077300d473485d" /><Relationship Type="http://schemas.openxmlformats.org/officeDocument/2006/relationships/slideLayout" Target="/ppt/slideLayouts/slideLayout1.xml" Id="Ra2ab613077584f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ab613077584f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ce99605e943d0" /><Relationship Type="http://schemas.openxmlformats.org/officeDocument/2006/relationships/notesSlide" Target="/ppt/notesSlides/notesSlide1.xml" Id="R29c6d99e114a4c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94ebbbcb024fbc" /><Relationship Type="http://schemas.openxmlformats.org/officeDocument/2006/relationships/notesSlide" Target="/ppt/notesSlides/notesSlide2.xml" Id="Ra9a6d9c1abf04a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4b730fb56465c" /><Relationship Type="http://schemas.openxmlformats.org/officeDocument/2006/relationships/notesSlide" Target="/ppt/notesSlides/notesSlide3.xml" Id="R8e47c6e5060f49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275665977f40ba" /><Relationship Type="http://schemas.openxmlformats.org/officeDocument/2006/relationships/notesSlide" Target="/ppt/notesSlides/notesSlide4.xml" Id="Raa7fb5d7ca294b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urse-eyebrow">
            <a:extLst xmlns:a="http://schemas.openxmlformats.org/drawingml/2006/main">
              <a:ext uri="{FF2B5EF4-FFF2-40B4-BE49-F238E27FC236}">
                <a16:creationId xmlns:a16="http://schemas.microsoft.com/office/drawing/2014/main" id="{1370EEEE-7D5A-4A23-86A3-11CC7D07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858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BROWARD–MIAMI HEALTH INSTITUTE</a:t>
            </a:r>
          </a:p>
        </p:txBody>
      </p:sp>
      <p:sp>
        <p:nvSpPr>
          <p:cNvPr id="2" name="chapter-title">
            <a:extLst xmlns:a="http://schemas.openxmlformats.org/drawingml/2006/main">
              <a:ext uri="{FF2B5EF4-FFF2-40B4-BE49-F238E27FC236}">
                <a16:creationId xmlns:a16="http://schemas.microsoft.com/office/drawing/2014/main" id="{5F0EE3A4-2B75-4F80-8FED-2760BF69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Safety</a:t>
            </a:r>
          </a:p>
        </p:txBody>
      </p:sp>
      <p:sp>
        <p:nvSpPr>
          <p:cNvPr id="3" name="chapter-subtitle">
            <a:extLst xmlns:a="http://schemas.openxmlformats.org/drawingml/2006/main">
              <a:ext uri="{FF2B5EF4-FFF2-40B4-BE49-F238E27FC236}">
                <a16:creationId xmlns:a16="http://schemas.microsoft.com/office/drawing/2014/main" id="{FD4101EF-E577-4BBB-BFA9-EB6EE253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95250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PN 102  •  Chapter 10  •  Foundations of Nursing, 9th ed.  •  pp. 237–261</a:t>
            </a:r>
          </a:p>
        </p:txBody>
      </p:sp>
    </p:spTree>
    <p:extLst>
      <p:ext uri="{BB962C8B-B14F-4D97-AF65-F5344CB8AC3E}">
        <p14:creationId xmlns:p14="http://schemas.microsoft.com/office/powerpoint/2010/main" val="10358014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ncepts-title">
            <a:extLst xmlns:a="http://schemas.openxmlformats.org/drawingml/2006/main">
              <a:ext uri="{FF2B5EF4-FFF2-40B4-BE49-F238E27FC236}">
                <a16:creationId xmlns:a16="http://schemas.microsoft.com/office/drawing/2014/main" id="{A9934EEF-B877-44A2-89DB-948F67B8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Chapter 10: four ideas to connect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F71298A-9280-4EDC-88B1-4E341C0C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3" name="concept-1-title">
            <a:extLst xmlns:a="http://schemas.openxmlformats.org/drawingml/2006/main">
              <a:ext uri="{FF2B5EF4-FFF2-40B4-BE49-F238E27FC236}">
                <a16:creationId xmlns:a16="http://schemas.microsoft.com/office/drawing/2014/main" id="{8FD91B48-2F9C-46E0-B89E-91641DC9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Identification and environment</a:t>
            </a:r>
          </a:p>
        </p:txBody>
      </p:sp>
      <p:sp>
        <p:nvSpPr>
          <p:cNvPr id="4" name="concept-1-explanation">
            <a:extLst xmlns:a="http://schemas.openxmlformats.org/drawingml/2006/main">
              <a:ext uri="{FF2B5EF4-FFF2-40B4-BE49-F238E27FC236}">
                <a16:creationId xmlns:a16="http://schemas.microsoft.com/office/drawing/2014/main" id="{C169C865-C2C4-4DBB-94DA-EB7E4B0C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approved identifiers and correct hazards before they cause harm.</a:t>
            </a:r>
          </a:p>
        </p:txBody>
      </p:sp>
      <p:sp>
        <p:nvSpPr>
          <p:cNvPr id="5" name="concept-2-title">
            <a:extLst xmlns:a="http://schemas.openxmlformats.org/drawingml/2006/main">
              <a:ext uri="{FF2B5EF4-FFF2-40B4-BE49-F238E27FC236}">
                <a16:creationId xmlns:a16="http://schemas.microsoft.com/office/drawing/2014/main" id="{D6E76C75-9CAC-4013-B1B9-045341A5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Fall, fire, and electrical safety</a:t>
            </a:r>
          </a:p>
        </p:txBody>
      </p:sp>
      <p:sp>
        <p:nvSpPr>
          <p:cNvPr id="6" name="concept-2-explanation">
            <a:extLst xmlns:a="http://schemas.openxmlformats.org/drawingml/2006/main">
              <a:ext uri="{FF2B5EF4-FFF2-40B4-BE49-F238E27FC236}">
                <a16:creationId xmlns:a16="http://schemas.microsoft.com/office/drawing/2014/main" id="{BFB7DED8-609D-44FC-BD4A-E7FAD7E4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Recognize common risks, follow emergency procedures, and use equipment correctly.</a:t>
            </a:r>
          </a:p>
        </p:txBody>
      </p:sp>
      <p:sp>
        <p:nvSpPr>
          <p:cNvPr id="7" name="concept-3-title">
            <a:extLst xmlns:a="http://schemas.openxmlformats.org/drawingml/2006/main">
              <a:ext uri="{FF2B5EF4-FFF2-40B4-BE49-F238E27FC236}">
                <a16:creationId xmlns:a16="http://schemas.microsoft.com/office/drawing/2014/main" id="{F86B1A91-CB04-4456-9854-5A088F12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Restraint alternatives</a:t>
            </a:r>
          </a:p>
        </p:txBody>
      </p:sp>
      <p:sp>
        <p:nvSpPr>
          <p:cNvPr id="8" name="concept-3-explanation">
            <a:extLst xmlns:a="http://schemas.openxmlformats.org/drawingml/2006/main">
              <a:ext uri="{FF2B5EF4-FFF2-40B4-BE49-F238E27FC236}">
                <a16:creationId xmlns:a16="http://schemas.microsoft.com/office/drawing/2014/main" id="{0960AFF3-6365-491A-B779-DE390DCD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Try the least restrictive measures first and follow authorization and monitoring rules.</a:t>
            </a:r>
          </a:p>
        </p:txBody>
      </p:sp>
      <p:sp>
        <p:nvSpPr>
          <p:cNvPr id="9" name="concept-4-title">
            <a:extLst xmlns:a="http://schemas.openxmlformats.org/drawingml/2006/main">
              <a:ext uri="{FF2B5EF4-FFF2-40B4-BE49-F238E27FC236}">
                <a16:creationId xmlns:a16="http://schemas.microsoft.com/office/drawing/2014/main" id="{D49D77AD-56DF-45E1-9A03-7E358903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Incident response</a:t>
            </a:r>
          </a:p>
        </p:txBody>
      </p:sp>
      <p:sp>
        <p:nvSpPr>
          <p:cNvPr id="10" name="concept-4-explanation">
            <a:extLst xmlns:a="http://schemas.openxmlformats.org/drawingml/2006/main">
              <a:ext uri="{FF2B5EF4-FFF2-40B4-BE49-F238E27FC236}">
                <a16:creationId xmlns:a16="http://schemas.microsoft.com/office/drawing/2014/main" id="{222BC4A8-01A5-4551-9F0F-4006D449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Meet immediate patient needs, notify the nurse, document facts, and follow reporting policy.</a:t>
            </a:r>
          </a:p>
        </p:txBody>
      </p:sp>
    </p:spTree>
    <p:extLst>
      <p:ext uri="{BB962C8B-B14F-4D97-AF65-F5344CB8AC3E}">
        <p14:creationId xmlns:p14="http://schemas.microsoft.com/office/powerpoint/2010/main" val="10690060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4A1CCAF0-0D81-480D-ACB6-7E9F0CAE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Put the chapter into safe practical nursing care</a:t>
            </a:r>
          </a:p>
        </p:txBody>
      </p:sp>
      <p:sp>
        <p:nvSpPr>
          <p:cNvPr id="2" name="practice-lead">
            <a:extLst xmlns:a="http://schemas.openxmlformats.org/drawingml/2006/main">
              <a:ext uri="{FF2B5EF4-FFF2-40B4-BE49-F238E27FC236}">
                <a16:creationId xmlns:a16="http://schemas.microsoft.com/office/drawing/2014/main" id="{733776CC-0BE0-4F10-83B0-BF3DAC60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Prevent harm by noticing risk before the patient is injured.</a:t>
            </a:r>
          </a:p>
        </p:txBody>
      </p:sp>
      <p:sp>
        <p:nvSpPr>
          <p:cNvPr id="3" name="practice-body">
            <a:extLst xmlns:a="http://schemas.openxmlformats.org/drawingml/2006/main">
              <a:ext uri="{FF2B5EF4-FFF2-40B4-BE49-F238E27FC236}">
                <a16:creationId xmlns:a16="http://schemas.microsoft.com/office/drawing/2014/main" id="{BA12BA38-B5F0-4381-9F25-59309B76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Identify the patient correctly, scan the environment, and use prevention measures consistently. After an incident, care for the patient first, notify the appropriate nurse, and document facts without blame.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90DB3A5-EBDB-4372-A59C-319A80FA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check-1">
            <a:extLst xmlns:a="http://schemas.openxmlformats.org/drawingml/2006/main">
              <a:ext uri="{FF2B5EF4-FFF2-40B4-BE49-F238E27FC236}">
                <a16:creationId xmlns:a16="http://schemas.microsoft.com/office/drawing/2014/main" id="{73CB78AB-3A13-44D7-9042-8F2DB005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29998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6" name="check-label-1">
            <a:extLst xmlns:a="http://schemas.openxmlformats.org/drawingml/2006/main">
              <a:ext uri="{FF2B5EF4-FFF2-40B4-BE49-F238E27FC236}">
                <a16:creationId xmlns:a16="http://schemas.microsoft.com/office/drawing/2014/main" id="{5E38CEF5-15EF-4660-B01F-C03036B3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two approved identifiers</a:t>
            </a:r>
          </a:p>
        </p:txBody>
      </p:sp>
      <p:sp>
        <p:nvSpPr>
          <p:cNvPr id="7" name="check-2">
            <a:extLst xmlns:a="http://schemas.openxmlformats.org/drawingml/2006/main">
              <a:ext uri="{FF2B5EF4-FFF2-40B4-BE49-F238E27FC236}">
                <a16:creationId xmlns:a16="http://schemas.microsoft.com/office/drawing/2014/main" id="{3A79DF33-E40C-45F4-8693-71B7ED68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094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8" name="check-label-2">
            <a:extLst xmlns:a="http://schemas.openxmlformats.org/drawingml/2006/main">
              <a:ext uri="{FF2B5EF4-FFF2-40B4-BE49-F238E27FC236}">
                <a16:creationId xmlns:a16="http://schemas.microsoft.com/office/drawing/2014/main" id="{81A64FEE-9805-44D2-926B-1F2B9331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Correct environmental hazards</a:t>
            </a:r>
          </a:p>
        </p:txBody>
      </p:sp>
      <p:sp>
        <p:nvSpPr>
          <p:cNvPr id="9" name="check-3">
            <a:extLst xmlns:a="http://schemas.openxmlformats.org/drawingml/2006/main">
              <a:ext uri="{FF2B5EF4-FFF2-40B4-BE49-F238E27FC236}">
                <a16:creationId xmlns:a16="http://schemas.microsoft.com/office/drawing/2014/main" id="{8B1B49FD-9323-4A89-9F13-2C299F8B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24338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0" name="check-label-3">
            <a:extLst xmlns:a="http://schemas.openxmlformats.org/drawingml/2006/main">
              <a:ext uri="{FF2B5EF4-FFF2-40B4-BE49-F238E27FC236}">
                <a16:creationId xmlns:a16="http://schemas.microsoft.com/office/drawing/2014/main" id="{1C9D3C72-E6C5-4516-8989-C9AFC41A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Apply fall prevention</a:t>
            </a:r>
          </a:p>
        </p:txBody>
      </p:sp>
      <p:sp>
        <p:nvSpPr>
          <p:cNvPr id="11" name="check-4">
            <a:extLst xmlns:a="http://schemas.openxmlformats.org/drawingml/2006/main">
              <a:ext uri="{FF2B5EF4-FFF2-40B4-BE49-F238E27FC236}">
                <a16:creationId xmlns:a16="http://schemas.microsoft.com/office/drawing/2014/main" id="{63512F89-C6FA-4DF1-A737-76FE525C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33842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2" name="check-label-4">
            <a:extLst xmlns:a="http://schemas.openxmlformats.org/drawingml/2006/main">
              <a:ext uri="{FF2B5EF4-FFF2-40B4-BE49-F238E27FC236}">
                <a16:creationId xmlns:a16="http://schemas.microsoft.com/office/drawing/2014/main" id="{B61F8483-49AA-48EA-A267-3291CD74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least restrictive measures</a:t>
            </a:r>
          </a:p>
        </p:txBody>
      </p:sp>
      <p:sp>
        <p:nvSpPr>
          <p:cNvPr id="13" name="check-5">
            <a:extLst xmlns:a="http://schemas.openxmlformats.org/drawingml/2006/main">
              <a:ext uri="{FF2B5EF4-FFF2-40B4-BE49-F238E27FC236}">
                <a16:creationId xmlns:a16="http://schemas.microsoft.com/office/drawing/2014/main" id="{33CA7CC1-337A-461E-8BF9-3E16E729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56206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4" name="check-label-5">
            <a:extLst xmlns:a="http://schemas.openxmlformats.org/drawingml/2006/main">
              <a:ext uri="{FF2B5EF4-FFF2-40B4-BE49-F238E27FC236}">
                <a16:creationId xmlns:a16="http://schemas.microsoft.com/office/drawing/2014/main" id="{BDFAED35-803D-471D-8D25-26B9EC17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Respond and report after incidents</a:t>
            </a:r>
          </a:p>
        </p:txBody>
      </p:sp>
    </p:spTree>
    <p:extLst>
      <p:ext uri="{BB962C8B-B14F-4D97-AF65-F5344CB8AC3E}">
        <p14:creationId xmlns:p14="http://schemas.microsoft.com/office/powerpoint/2010/main" val="7187280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losing-eyebrow">
            <a:extLst xmlns:a="http://schemas.openxmlformats.org/drawingml/2006/main">
              <a:ext uri="{FF2B5EF4-FFF2-40B4-BE49-F238E27FC236}">
                <a16:creationId xmlns:a16="http://schemas.microsoft.com/office/drawing/2014/main" id="{7744ABB2-118B-4817-A192-172D2858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RECOGNIZE  →  ACT  →  REPORT</a:t>
            </a:r>
          </a:p>
        </p:txBody>
      </p:sp>
      <p:sp>
        <p:nvSpPr>
          <p:cNvPr id="2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40EA6C84-5714-4069-AF97-266BFEDB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Spot the hazard.
Protect the patient.
Report the facts.</a:t>
            </a:r>
          </a:p>
        </p:txBody>
      </p:sp>
      <p:sp>
        <p:nvSpPr>
          <p:cNvPr id="3" name="closing-prompt">
            <a:extLst xmlns:a="http://schemas.openxmlformats.org/drawingml/2006/main">
              <a:ext uri="{FF2B5EF4-FFF2-40B4-BE49-F238E27FC236}">
                <a16:creationId xmlns:a16="http://schemas.microsoft.com/office/drawing/2014/main" id="{470D53F7-0439-415A-BCDC-554863B2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8572500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Before moving on, explain the cue, your immediate action within scope, and the facts you would report.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BFF7600-D702-4BDA-9418-2A20D759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275873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2026-07-30T05:24:54.8540000Z</dcterms:created>
  <dcterms:modified xsi:type="dcterms:W3CDTF">2026-07-30T05:24:54.8540000Z</dcterms:modified>
</coreProperties>
</file>