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1"/>
    <p:sldMasterId id="2147483735" r:id="rId2"/>
  </p:sldMasterIdLst>
  <p:notesMasterIdLst>
    <p:notesMasterId r:id="rId19"/>
  </p:notesMasterIdLst>
  <p:handoutMasterIdLst>
    <p:handoutMasterId r:id="rId20"/>
  </p:handoutMasterIdLst>
  <p:sldIdLst>
    <p:sldId id="454" r:id="rId3"/>
    <p:sldId id="372" r:id="rId4"/>
    <p:sldId id="456" r:id="rId5"/>
    <p:sldId id="457" r:id="rId6"/>
    <p:sldId id="458" r:id="rId7"/>
    <p:sldId id="459" r:id="rId8"/>
    <p:sldId id="460" r:id="rId9"/>
    <p:sldId id="461" r:id="rId10"/>
    <p:sldId id="455" r:id="rId11"/>
    <p:sldId id="462" r:id="rId12"/>
    <p:sldId id="464" r:id="rId13"/>
    <p:sldId id="463" r:id="rId14"/>
    <p:sldId id="465" r:id="rId15"/>
    <p:sldId id="466" r:id="rId16"/>
    <p:sldId id="467" r:id="rId17"/>
    <p:sldId id="468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2">
          <p15:clr>
            <a:srgbClr val="A4A3A4"/>
          </p15:clr>
        </p15:guide>
        <p15:guide id="3" pos="2880">
          <p15:clr>
            <a:srgbClr val="A4A3A4"/>
          </p15:clr>
        </p15:guide>
        <p15:guide id="4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len Kunkelmann" initials="AU" lastIdx="7" clrIdx="0"/>
  <p:cmAuthor id="1" name="Reed Elsevier" initials="RE" lastIdx="1" clrIdx="1"/>
  <p:cmAuthor id="2" name="Lisa" initials="L" lastIdx="1" clrIdx="2">
    <p:extLst>
      <p:ext uri="{19B8F6BF-5375-455C-9EA6-DF929625EA0E}">
        <p15:presenceInfo xmlns:p15="http://schemas.microsoft.com/office/powerpoint/2012/main" userId="L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C798E-FDD6-61BB-3959-7EBF8983112C}" v="329" dt="2021-12-28T17:38:15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5" autoAdjust="0"/>
    <p:restoredTop sz="90175" autoAdjust="0"/>
  </p:normalViewPr>
  <p:slideViewPr>
    <p:cSldViewPr snapToGrid="0">
      <p:cViewPr varScale="1">
        <p:scale>
          <a:sx n="60" d="100"/>
          <a:sy n="60" d="100"/>
        </p:scale>
        <p:origin x="1112" y="48"/>
      </p:cViewPr>
      <p:guideLst>
        <p:guide orient="horz" pos="2160"/>
        <p:guide orient="horz" pos="1002"/>
        <p:guide pos="2880"/>
        <p:guide pos="5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856" y="45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 Spindler" userId="S::daya.spindler@g.austincc.edu::d47267c9-b69c-4d84-8d8d-9eb6067b7650" providerId="AD" clId="Web-{104C798E-FDD6-61BB-3959-7EBF8983112C}"/>
    <pc:docChg chg="modSld">
      <pc:chgData name="Daya Spindler" userId="S::daya.spindler@g.austincc.edu::d47267c9-b69c-4d84-8d8d-9eb6067b7650" providerId="AD" clId="Web-{104C798E-FDD6-61BB-3959-7EBF8983112C}" dt="2021-12-28T17:38:15.235" v="351"/>
      <pc:docMkLst>
        <pc:docMk/>
      </pc:docMkLst>
      <pc:sldChg chg="modSp">
        <pc:chgData name="Daya Spindler" userId="S::daya.spindler@g.austincc.edu::d47267c9-b69c-4d84-8d8d-9eb6067b7650" providerId="AD" clId="Web-{104C798E-FDD6-61BB-3959-7EBF8983112C}" dt="2021-12-28T17:37:47.952" v="337"/>
        <pc:sldMkLst>
          <pc:docMk/>
          <pc:sldMk cId="0" sldId="372"/>
        </pc:sldMkLst>
        <pc:spChg chg="mod ord">
          <ac:chgData name="Daya Spindler" userId="S::daya.spindler@g.austincc.edu::d47267c9-b69c-4d84-8d8d-9eb6067b7650" providerId="AD" clId="Web-{104C798E-FDD6-61BB-3959-7EBF8983112C}" dt="2021-12-28T17:37:47.952" v="337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6:54:35.830" v="1" actId="20577"/>
        <pc:sldMkLst>
          <pc:docMk/>
          <pc:sldMk cId="4149221392" sldId="454"/>
        </pc:sldMkLst>
        <pc:spChg chg="mod">
          <ac:chgData name="Daya Spindler" userId="S::daya.spindler@g.austincc.edu::d47267c9-b69c-4d84-8d8d-9eb6067b7650" providerId="AD" clId="Web-{104C798E-FDD6-61BB-3959-7EBF8983112C}" dt="2021-12-28T16:54:35.830" v="1" actId="20577"/>
          <ac:spMkLst>
            <pc:docMk/>
            <pc:sldMk cId="4149221392" sldId="454"/>
            <ac:spMk id="5" creationId="{768FB6F7-A481-41DF-934F-28DB4F80864F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03.875" v="344"/>
        <pc:sldMkLst>
          <pc:docMk/>
          <pc:sldMk cId="182875601" sldId="455"/>
        </pc:sldMkLst>
        <pc:spChg chg="mod ord">
          <ac:chgData name="Daya Spindler" userId="S::daya.spindler@g.austincc.edu::d47267c9-b69c-4d84-8d8d-9eb6067b7650" providerId="AD" clId="Web-{104C798E-FDD6-61BB-3959-7EBF8983112C}" dt="2021-12-28T17:38:03.875" v="344"/>
          <ac:spMkLst>
            <pc:docMk/>
            <pc:sldMk cId="182875601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7:50.577" v="338"/>
        <pc:sldMkLst>
          <pc:docMk/>
          <pc:sldMk cId="828523321" sldId="456"/>
        </pc:sldMkLst>
        <pc:spChg chg="mod ord">
          <ac:chgData name="Daya Spindler" userId="S::daya.spindler@g.austincc.edu::d47267c9-b69c-4d84-8d8d-9eb6067b7650" providerId="AD" clId="Web-{104C798E-FDD6-61BB-3959-7EBF8983112C}" dt="2021-12-28T17:37:50.577" v="338"/>
          <ac:spMkLst>
            <pc:docMk/>
            <pc:sldMk cId="828523321" sldId="456"/>
            <ac:spMk id="5" creationId="{CBB0D94B-2323-49DD-8DDC-DEBABD17A6B6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7:52.093" v="339"/>
        <pc:sldMkLst>
          <pc:docMk/>
          <pc:sldMk cId="4214670571" sldId="457"/>
        </pc:sldMkLst>
        <pc:spChg chg="mod">
          <ac:chgData name="Daya Spindler" userId="S::daya.spindler@g.austincc.edu::d47267c9-b69c-4d84-8d8d-9eb6067b7650" providerId="AD" clId="Web-{104C798E-FDD6-61BB-3959-7EBF8983112C}" dt="2021-12-28T17:08:16.738" v="35" actId="20577"/>
          <ac:spMkLst>
            <pc:docMk/>
            <pc:sldMk cId="4214670571" sldId="457"/>
            <ac:spMk id="3" creationId="{BB902C95-87AC-4993-B237-F194C0C74DA9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7:52.093" v="339"/>
          <ac:spMkLst>
            <pc:docMk/>
            <pc:sldMk cId="4214670571" sldId="457"/>
            <ac:spMk id="5" creationId="{2F8E0259-392A-4C09-AF11-15410C15F32D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7:53.624" v="340"/>
        <pc:sldMkLst>
          <pc:docMk/>
          <pc:sldMk cId="767668373" sldId="458"/>
        </pc:sldMkLst>
        <pc:spChg chg="mod ord">
          <ac:chgData name="Daya Spindler" userId="S::daya.spindler@g.austincc.edu::d47267c9-b69c-4d84-8d8d-9eb6067b7650" providerId="AD" clId="Web-{104C798E-FDD6-61BB-3959-7EBF8983112C}" dt="2021-12-28T17:37:53.624" v="340"/>
          <ac:spMkLst>
            <pc:docMk/>
            <pc:sldMk cId="767668373" sldId="458"/>
            <ac:spMk id="5" creationId="{37B18489-41F5-43BC-94A3-8A2FE27F17CD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7:58.562" v="341"/>
        <pc:sldMkLst>
          <pc:docMk/>
          <pc:sldMk cId="1169290175" sldId="459"/>
        </pc:sldMkLst>
        <pc:spChg chg="mod">
          <ac:chgData name="Daya Spindler" userId="S::daya.spindler@g.austincc.edu::d47267c9-b69c-4d84-8d8d-9eb6067b7650" providerId="AD" clId="Web-{104C798E-FDD6-61BB-3959-7EBF8983112C}" dt="2021-12-28T17:11:00.904" v="74" actId="20577"/>
          <ac:spMkLst>
            <pc:docMk/>
            <pc:sldMk cId="1169290175" sldId="459"/>
            <ac:spMk id="3" creationId="{2482FD0F-3C74-499B-B65F-C5E7859693C9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7:58.562" v="341"/>
          <ac:spMkLst>
            <pc:docMk/>
            <pc:sldMk cId="1169290175" sldId="459"/>
            <ac:spMk id="5" creationId="{441747AA-439A-4DBB-9CDB-2626CB46F4B6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00.765" v="342"/>
        <pc:sldMkLst>
          <pc:docMk/>
          <pc:sldMk cId="3861607148" sldId="460"/>
        </pc:sldMkLst>
        <pc:spChg chg="mod ord">
          <ac:chgData name="Daya Spindler" userId="S::daya.spindler@g.austincc.edu::d47267c9-b69c-4d84-8d8d-9eb6067b7650" providerId="AD" clId="Web-{104C798E-FDD6-61BB-3959-7EBF8983112C}" dt="2021-12-28T17:38:00.765" v="342"/>
          <ac:spMkLst>
            <pc:docMk/>
            <pc:sldMk cId="3861607148" sldId="460"/>
            <ac:spMk id="5" creationId="{571FD685-0711-4586-90EF-6ED5A2AD229C}"/>
          </ac:spMkLst>
        </pc:spChg>
      </pc:sldChg>
      <pc:sldChg chg="modSp modNotes">
        <pc:chgData name="Daya Spindler" userId="S::daya.spindler@g.austincc.edu::d47267c9-b69c-4d84-8d8d-9eb6067b7650" providerId="AD" clId="Web-{104C798E-FDD6-61BB-3959-7EBF8983112C}" dt="2021-12-28T17:38:02.390" v="343"/>
        <pc:sldMkLst>
          <pc:docMk/>
          <pc:sldMk cId="2369613326" sldId="461"/>
        </pc:sldMkLst>
        <pc:spChg chg="mod">
          <ac:chgData name="Daya Spindler" userId="S::daya.spindler@g.austincc.edu::d47267c9-b69c-4d84-8d8d-9eb6067b7650" providerId="AD" clId="Web-{104C798E-FDD6-61BB-3959-7EBF8983112C}" dt="2021-12-28T17:21:19.471" v="237" actId="20577"/>
          <ac:spMkLst>
            <pc:docMk/>
            <pc:sldMk cId="2369613326" sldId="461"/>
            <ac:spMk id="3" creationId="{DF7711E8-9468-40B5-820C-4BB25450A48C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8:02.390" v="343"/>
          <ac:spMkLst>
            <pc:docMk/>
            <pc:sldMk cId="2369613326" sldId="461"/>
            <ac:spMk id="5" creationId="{4FF105E4-5340-4C92-A5CB-4658CE519DE8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05.328" v="345"/>
        <pc:sldMkLst>
          <pc:docMk/>
          <pc:sldMk cId="922278485" sldId="462"/>
        </pc:sldMkLst>
        <pc:spChg chg="mod ord">
          <ac:chgData name="Daya Spindler" userId="S::daya.spindler@g.austincc.edu::d47267c9-b69c-4d84-8d8d-9eb6067b7650" providerId="AD" clId="Web-{104C798E-FDD6-61BB-3959-7EBF8983112C}" dt="2021-12-28T17:38:05.328" v="345"/>
          <ac:spMkLst>
            <pc:docMk/>
            <pc:sldMk cId="922278485" sldId="462"/>
            <ac:spMk id="5" creationId="{7A161DC9-A7B8-4EAE-8B8D-28D5816A53B9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08.844" v="347"/>
        <pc:sldMkLst>
          <pc:docMk/>
          <pc:sldMk cId="3661892415" sldId="463"/>
        </pc:sldMkLst>
        <pc:spChg chg="mod">
          <ac:chgData name="Daya Spindler" userId="S::daya.spindler@g.austincc.edu::d47267c9-b69c-4d84-8d8d-9eb6067b7650" providerId="AD" clId="Web-{104C798E-FDD6-61BB-3959-7EBF8983112C}" dt="2021-12-28T17:28:13.949" v="282" actId="20577"/>
          <ac:spMkLst>
            <pc:docMk/>
            <pc:sldMk cId="3661892415" sldId="463"/>
            <ac:spMk id="3" creationId="{2EFBD8DB-5F61-4979-BDFB-DE99491DDFB3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8:08.844" v="347"/>
          <ac:spMkLst>
            <pc:docMk/>
            <pc:sldMk cId="3661892415" sldId="463"/>
            <ac:spMk id="5" creationId="{EE9176EB-C192-4617-B1AE-21A40173B0F9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07.422" v="346"/>
        <pc:sldMkLst>
          <pc:docMk/>
          <pc:sldMk cId="1589884732" sldId="464"/>
        </pc:sldMkLst>
        <pc:spChg chg="mod">
          <ac:chgData name="Daya Spindler" userId="S::daya.spindler@g.austincc.edu::d47267c9-b69c-4d84-8d8d-9eb6067b7650" providerId="AD" clId="Web-{104C798E-FDD6-61BB-3959-7EBF8983112C}" dt="2021-12-28T17:26:15.270" v="278" actId="20577"/>
          <ac:spMkLst>
            <pc:docMk/>
            <pc:sldMk cId="1589884732" sldId="464"/>
            <ac:spMk id="3" creationId="{2EFBD8DB-5F61-4979-BDFB-DE99491DDFB3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8:07.422" v="346"/>
          <ac:spMkLst>
            <pc:docMk/>
            <pc:sldMk cId="1589884732" sldId="464"/>
            <ac:spMk id="5" creationId="{EE9176EB-C192-4617-B1AE-21A40173B0F9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10.312" v="348"/>
        <pc:sldMkLst>
          <pc:docMk/>
          <pc:sldMk cId="1649274918" sldId="465"/>
        </pc:sldMkLst>
        <pc:spChg chg="mod">
          <ac:chgData name="Daya Spindler" userId="S::daya.spindler@g.austincc.edu::d47267c9-b69c-4d84-8d8d-9eb6067b7650" providerId="AD" clId="Web-{104C798E-FDD6-61BB-3959-7EBF8983112C}" dt="2021-12-28T17:34:57.504" v="330" actId="20577"/>
          <ac:spMkLst>
            <pc:docMk/>
            <pc:sldMk cId="1649274918" sldId="465"/>
            <ac:spMk id="3" creationId="{516F29FF-B733-4063-9037-A40B7572AC80}"/>
          </ac:spMkLst>
        </pc:spChg>
        <pc:spChg chg="mod ord">
          <ac:chgData name="Daya Spindler" userId="S::daya.spindler@g.austincc.edu::d47267c9-b69c-4d84-8d8d-9eb6067b7650" providerId="AD" clId="Web-{104C798E-FDD6-61BB-3959-7EBF8983112C}" dt="2021-12-28T17:38:10.312" v="348"/>
          <ac:spMkLst>
            <pc:docMk/>
            <pc:sldMk cId="1649274918" sldId="465"/>
            <ac:spMk id="5" creationId="{21E97D70-30A0-43F9-889B-2E287E628C15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11.922" v="349"/>
        <pc:sldMkLst>
          <pc:docMk/>
          <pc:sldMk cId="1277145802" sldId="466"/>
        </pc:sldMkLst>
        <pc:spChg chg="mod ord">
          <ac:chgData name="Daya Spindler" userId="S::daya.spindler@g.austincc.edu::d47267c9-b69c-4d84-8d8d-9eb6067b7650" providerId="AD" clId="Web-{104C798E-FDD6-61BB-3959-7EBF8983112C}" dt="2021-12-28T17:38:11.922" v="349"/>
          <ac:spMkLst>
            <pc:docMk/>
            <pc:sldMk cId="1277145802" sldId="466"/>
            <ac:spMk id="5" creationId="{ED9F03FE-E2F8-44D3-8746-01A41ED5516D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13.672" v="350"/>
        <pc:sldMkLst>
          <pc:docMk/>
          <pc:sldMk cId="1482852344" sldId="467"/>
        </pc:sldMkLst>
        <pc:spChg chg="mod ord">
          <ac:chgData name="Daya Spindler" userId="S::daya.spindler@g.austincc.edu::d47267c9-b69c-4d84-8d8d-9eb6067b7650" providerId="AD" clId="Web-{104C798E-FDD6-61BB-3959-7EBF8983112C}" dt="2021-12-28T17:38:13.672" v="350"/>
          <ac:spMkLst>
            <pc:docMk/>
            <pc:sldMk cId="1482852344" sldId="467"/>
            <ac:spMk id="5" creationId="{1DA6981D-094C-4D93-A809-18C5ACF69A2D}"/>
          </ac:spMkLst>
        </pc:spChg>
      </pc:sldChg>
      <pc:sldChg chg="modSp">
        <pc:chgData name="Daya Spindler" userId="S::daya.spindler@g.austincc.edu::d47267c9-b69c-4d84-8d8d-9eb6067b7650" providerId="AD" clId="Web-{104C798E-FDD6-61BB-3959-7EBF8983112C}" dt="2021-12-28T17:38:15.235" v="351"/>
        <pc:sldMkLst>
          <pc:docMk/>
          <pc:sldMk cId="412712708" sldId="468"/>
        </pc:sldMkLst>
        <pc:spChg chg="mod ord">
          <ac:chgData name="Daya Spindler" userId="S::daya.spindler@g.austincc.edu::d47267c9-b69c-4d84-8d8d-9eb6067b7650" providerId="AD" clId="Web-{104C798E-FDD6-61BB-3959-7EBF8983112C}" dt="2021-12-28T17:38:15.235" v="351"/>
          <ac:spMkLst>
            <pc:docMk/>
            <pc:sldMk cId="412712708" sldId="468"/>
            <ac:spMk id="5" creationId="{8BB02994-07D7-4EC5-B09E-D5AB8BA0F1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4EE3A-A522-F490-09B1-6BC874DBB1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627464" y="0"/>
            <a:ext cx="5228949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COOPER: Foundations and Adult Health Nursing, 9th Edition</a:t>
            </a:r>
          </a:p>
          <a:p>
            <a:r>
              <a:rPr lang="en-US" dirty="0"/>
              <a:t>Chapter 10 Student Handout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C12CD-84ED-FF5A-AB21-5B0CBEC68B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6892A-EA43-4FB4-5F41-E3276FD3D7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78ABE-35C5-497F-85CB-85CD8E07A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24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4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286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0858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5430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002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2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Give examples of how the nurse ensures a safe environment for his/her patients.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different types of potential injuries that can occur.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132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types of signs place a patient at increased risk for falls?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types of symptoms place a patient at increased risk for falls?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use of gait belts a deterrent to falls.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other ways to deter falls when ambulating.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4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Why is it important for health care providers to be knowledgeable about stages of growth and development when caring for infants and children?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are some types of safety precautions the nurse should implement when caring for an infant, toddler, and preschool-age child?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0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devices might be utilized in the older adult who has vision and/or hearing deficits?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other factors should the nurse consider when caring for older adults?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1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Arial"/>
                <a:ea typeface="ＭＳ Ｐゴシック"/>
                <a:cs typeface="Arial"/>
              </a:rPr>
              <a:t>Refer to Box 10.3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31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9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1423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each of the four potential safety hazards and ways to maintain a safe environment.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why it is important to assess for latex sensitivity in your patients and the potential problem that could result if a patient had a sensitivity or allergy.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How can the nurse protect him- or herself in the hospital environment from environmental exposures?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different types of workplace hazards that could occur and how to prevent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how to prevent a fire within a health care facility.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procedure for reporting a fire.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85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are examples of situations in which a child or older adult might be accidentally poisoned?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why ipecac should not be given to a child after accidental poisoning.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what should be done in a facility if accidental poisoning should occur.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Inform students of the poison control number in case of an emergency.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710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factors affect the disaster response?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How does a disaster affect a health care facility?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937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How can health care facilities be prepared for such attacks of terrorism?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78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difference between and give examples of overt and covert bioterrorism attacks.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4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BC70723-5CE8-499C-9971-E4BA18B80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487AE73-3EFF-4555-9FC5-23593D65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E234264E-8860-42A2-83C5-41782AA54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7759797-3D2C-4F47-AED4-0E8ADB4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5AAB81D7-0106-4E41-AE2E-2E4047E2435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4177A3A-15AF-4BAA-AB48-4B3B002C052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81CECAA-A39B-467B-A776-CD395CF9D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65A3104-DFC4-492D-B3D0-C3C246A48F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FCA15E23-B403-4680-BAA9-DB5D51A8CF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D72A011B-01AE-4CD8-834B-21DB9583C27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7D6F96D-A6E5-45AB-8576-3F1772613D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3E21C735-DADD-43D3-9408-D21FA5E14BB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D8B011C-2750-47E8-9990-D6261FE36F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0F24A53-2415-4DAD-BD6A-1D9F5DDAF5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2078F67-8AE8-4E9C-AA54-76CE029A507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B9D621F-A6F6-4120-BD22-05C76ECD15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00D131F-949B-4E5B-BE81-7C14B29CC9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EBBF4AC-9420-466C-AD9E-FD6592AADD2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97B28123-2912-48D2-AF42-C274BD8D6B1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6C156E8-9280-4352-B33B-89F3740952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5BEE1B7-10AA-4C75-B080-000D6057AD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198644BA-AE6D-4C74-A6DD-E08DB08BD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7F366DB-197B-47FE-868E-147B370B95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5250" y="6359525"/>
            <a:ext cx="1327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C67DEBA-1458-4D94-8AC0-2EE32DB1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EB77A-03D3-B528-2553-79D31043D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8800" y="63595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0FB175F7-DCBF-4C4E-B2DF-5E10268F084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61757-7A54-7A09-B8F0-D90C6B696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15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Chapter 10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 dirty="0"/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414922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10.1: Safety Across the Lifespan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Summarize safety precautions to help prevent falls.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Relate specific safety considerations to the developmental age and needs of individuals across the lifespan.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nursing interventions that are appropriate for individuals across the lifespan to ensure a safe environment.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Describe safe and appropriate methods for the application of safety reminder devices and nursing interventions when caring for patients.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nursing interventions that promote a restraint-free environment.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2</a:t>
            </a:fld>
            <a:endParaRPr lang="en-GB" sz="10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F433-65E7-4EDC-9068-7592C317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Safe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2C4B-559A-462F-98C6-920C0C8EA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This implies freedom from injury with a focus on preventing falls, electrical injuries, fires, burns, and poisoning</a:t>
            </a:r>
          </a:p>
          <a:p>
            <a:r>
              <a:rPr lang="en-US" altLang="en-US" dirty="0"/>
              <a:t>The nurse must be aware of potential safety problems and must know how to report and respond when safety is threatened</a:t>
            </a:r>
          </a:p>
          <a:p>
            <a:r>
              <a:rPr lang="en-US" altLang="en-US" dirty="0"/>
              <a:t>The responsibility for providing and maintaining a safe environment involves the patient, visitors, and members of the health care team</a:t>
            </a:r>
          </a:p>
          <a:p>
            <a:r>
              <a:rPr lang="en-US" altLang="en-US" dirty="0"/>
              <a:t>Both protection and education are primary nursing responsibilities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B7390-9C3E-493D-8CD9-076943AB4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52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714C-E38E-4066-97C7-4F335B7B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02C95-87AC-4993-B237-F194C0C74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Common problem in health care facilities</a:t>
            </a:r>
          </a:p>
          <a:p>
            <a:r>
              <a:rPr lang="en-US" altLang="en-US" dirty="0"/>
              <a:t>High risk patients</a:t>
            </a:r>
          </a:p>
          <a:p>
            <a:pPr lvl="1"/>
            <a:r>
              <a:rPr lang="en-US" altLang="en-US" dirty="0"/>
              <a:t>A fall risk assessment is necessary upon admission or if there is a change in condition</a:t>
            </a:r>
          </a:p>
          <a:p>
            <a:r>
              <a:rPr lang="en-US" altLang="en-US" dirty="0"/>
              <a:t>Gait belts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B692E-F97C-46BC-A775-D387246D3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46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4444-055A-4789-A90E-36806145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Infants and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4315-A820-48D5-A044-E94599447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Ensuring the safety of the environment of infants and children requires protection of the child and education of the parents</a:t>
            </a:r>
          </a:p>
          <a:p>
            <a:r>
              <a:rPr lang="en-US" altLang="en-US" dirty="0"/>
              <a:t>Accidents involving children are largely preventable, but parents and caregivers need to be aware of specific dangers at each stage of growth and development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F4AA3-AD33-47EA-9DD1-EE8698796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66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E6DC-106A-4497-BAEA-591CBCFC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Older Adults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2FD0F-3C74-499B-B65F-C5E78596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Changes associated with aging significantly affect the ability of older adults to protect themselves from injury</a:t>
            </a:r>
          </a:p>
          <a:p>
            <a:pPr lvl="1"/>
            <a:r>
              <a:rPr lang="en-US" altLang="en-US" dirty="0"/>
              <a:t>Unsteadiness in gait</a:t>
            </a:r>
          </a:p>
          <a:p>
            <a:pPr lvl="1"/>
            <a:r>
              <a:rPr lang="en-US" altLang="en-US" dirty="0"/>
              <a:t>Vision changes</a:t>
            </a:r>
          </a:p>
          <a:p>
            <a:pPr lvl="1"/>
            <a:r>
              <a:rPr lang="en-US" altLang="en-US" dirty="0"/>
              <a:t>Medication side effects (such as vertigo)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E51FB-9BA1-4A7D-A1E9-3816B76AD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29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A916-9B72-417E-B138-80928519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Safety Reminder Devices (SRDs)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94A6-E716-4EAD-AF7D-05D40249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Numerous devices used to immobilize a patient or part of the patient’s body</a:t>
            </a:r>
          </a:p>
          <a:p>
            <a:r>
              <a:rPr lang="en-US" altLang="en-US" dirty="0"/>
              <a:t>Many facilities have adopted a restraint-free environment</a:t>
            </a:r>
          </a:p>
          <a:p>
            <a:r>
              <a:rPr lang="en-US" altLang="en-US" dirty="0"/>
              <a:t>Long-term care setting is the permanent home for many residents and maintaining safety and dignity is important</a:t>
            </a:r>
          </a:p>
          <a:p>
            <a:r>
              <a:rPr lang="en-US" altLang="en-US" dirty="0"/>
              <a:t>Disadvantages of SRD 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176D-D05C-4178-A415-850F0C140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160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5B40-7F34-4C42-ACFE-ED1DFB19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Restraint-Free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711E8-9468-40B5-820C-4BB25450A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Orient patient and family to surroundings</a:t>
            </a:r>
          </a:p>
          <a:p>
            <a:r>
              <a:rPr lang="en-US" altLang="en-US" dirty="0"/>
              <a:t>Encourage family and friends to stay or use sitters for patients who need supervision</a:t>
            </a:r>
          </a:p>
          <a:p>
            <a:r>
              <a:rPr lang="en-US" altLang="en-US" dirty="0"/>
              <a:t>Provide appropriate visual and auditory stimuli</a:t>
            </a:r>
          </a:p>
          <a:p>
            <a:r>
              <a:rPr lang="en-US" altLang="en-US" dirty="0"/>
              <a:t>Eliminate bothersome treatments as soon as possible</a:t>
            </a:r>
          </a:p>
          <a:p>
            <a:r>
              <a:rPr lang="en-US" altLang="en-US" dirty="0"/>
              <a:t>Use relaxation techniques</a:t>
            </a:r>
          </a:p>
          <a:p>
            <a:r>
              <a:rPr lang="en-US" altLang="en-US" dirty="0"/>
              <a:t>Encourage participation in diversional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A5BC3-431C-4CCC-A2A3-7A3A8B889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9613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10.2: Safety at Work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safety concerns in the health care environment.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Cite the steps to be taken during a fire.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Describe nursing interventions to treat accidental poisoning.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the role of the nurse in disaster planning and active shooter situations.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terrorism.</a:t>
            </a:r>
          </a:p>
          <a:p>
            <a:pPr marL="514350" lvl="0" indent="-514350">
              <a:buFont typeface="+mj-lt"/>
              <a:buAutoNum type="arabicPeriod" startAt="6"/>
            </a:pPr>
            <a:r>
              <a:rPr lang="en-US" dirty="0"/>
              <a:t>Discuss high-risk syndromes of bioterrorism and the role of the nurse.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9</a:t>
            </a:fld>
            <a:endParaRPr lang="en-GB" sz="1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87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2AB0-7DBC-4F59-8A8A-55F682DF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A2E41-DCEE-4F19-91EB-44809BFDD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Latex sensitivity</a:t>
            </a:r>
          </a:p>
          <a:p>
            <a:r>
              <a:rPr lang="en-US" altLang="en-US" dirty="0"/>
              <a:t>Electrical hazards</a:t>
            </a:r>
          </a:p>
          <a:p>
            <a:r>
              <a:rPr lang="en-US" altLang="en-US" dirty="0"/>
              <a:t>Radiation</a:t>
            </a:r>
          </a:p>
          <a:p>
            <a:r>
              <a:rPr lang="en-US" altLang="en-US" dirty="0"/>
              <a:t>Mercury spill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40034-6B1A-4BE6-A455-DC702581C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227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C31B-BEA9-4337-85EA-E0B3EC0D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Workplace Safety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D8DB-5F61-4979-BDFB-DE99491D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hospital environment is a source of potential safety hazards for health care workers.</a:t>
            </a:r>
          </a:p>
          <a:p>
            <a:pPr lvl="1"/>
            <a:r>
              <a:rPr lang="en-US" altLang="en-US" dirty="0"/>
              <a:t>Biologic, chemical, radiological, and physical hazards</a:t>
            </a:r>
          </a:p>
          <a:p>
            <a:pPr lvl="1"/>
            <a:r>
              <a:rPr lang="en-US" altLang="en-US" dirty="0"/>
              <a:t>Lasers</a:t>
            </a:r>
          </a:p>
          <a:p>
            <a:pPr lvl="1"/>
            <a:r>
              <a:rPr lang="en-US" altLang="en-US" dirty="0"/>
              <a:t>Blood and body fluids</a:t>
            </a:r>
          </a:p>
          <a:p>
            <a:pPr lvl="1"/>
            <a:r>
              <a:rPr lang="en-US" altLang="en-US" dirty="0"/>
              <a:t>Contaminated needles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0F9ED-9FEB-4BF1-955D-86041C1D5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88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C31B-BEA9-4337-85EA-E0B3EC0D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Fire Safety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D8DB-5F61-4979-BDFB-DE99491D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An established fire safety program is mandatory for all health care facilities</a:t>
            </a:r>
            <a:endParaRPr lang="en-US"/>
          </a:p>
          <a:p>
            <a:r>
              <a:rPr lang="en-US" altLang="en-US" dirty="0"/>
              <a:t>Fire prevention includes good housekeeping, maintenance, and employee discipline</a:t>
            </a:r>
          </a:p>
          <a:p>
            <a:r>
              <a:rPr lang="en-US" altLang="en-US" dirty="0"/>
              <a:t>All employees should know the telephone number and procedure for reporting a fire, as well as the location of the nearest firefighting equipment</a:t>
            </a:r>
          </a:p>
          <a:p>
            <a:r>
              <a:rPr lang="en-US" altLang="en-US" dirty="0"/>
              <a:t>Health care workers must know their roles in the overall evacuation plan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0F9ED-9FEB-4BF1-955D-86041C1D5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89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C891-1FBB-4698-9D09-1BA12695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Accidental Poisoning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F29FF-B733-4063-9037-A40B7572A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91% of all unintentional poisonings are related to drugs</a:t>
            </a:r>
          </a:p>
          <a:p>
            <a:r>
              <a:rPr lang="en-US" altLang="en-US" dirty="0"/>
              <a:t>The older adult</a:t>
            </a:r>
          </a:p>
          <a:p>
            <a:pPr lvl="1"/>
            <a:r>
              <a:rPr lang="en-US" altLang="en-US" dirty="0"/>
              <a:t>Changes associated with aging interfere with the individual’s ability to absorb or excrete drugs</a:t>
            </a:r>
          </a:p>
          <a:p>
            <a:pPr lvl="1"/>
            <a:r>
              <a:rPr lang="en-US" altLang="en-US" dirty="0"/>
              <a:t>The older adult may share drugs with friends</a:t>
            </a:r>
          </a:p>
          <a:p>
            <a:pPr lvl="1"/>
            <a:r>
              <a:rPr lang="en-US" altLang="en-US" dirty="0"/>
              <a:t>Changes in eyesight may lead to an accidental ingestion</a:t>
            </a:r>
          </a:p>
          <a:p>
            <a:r>
              <a:rPr lang="en-US" altLang="en-US" dirty="0"/>
              <a:t>Prevention</a:t>
            </a:r>
          </a:p>
          <a:p>
            <a:r>
              <a:rPr lang="en-US" altLang="en-US" dirty="0"/>
              <a:t>Poison Control Center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C22F7-E7F2-41B3-AF58-1D0182B73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27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74EB-3054-40C7-A840-CBF9309F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Disaster Planning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9243-93F2-49A6-9168-BD176A07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Disaster situation</a:t>
            </a:r>
          </a:p>
          <a:p>
            <a:pPr lvl="1"/>
            <a:r>
              <a:rPr lang="en-US" altLang="en-US" dirty="0"/>
              <a:t>An uncontrolled, unexpected, psychologically shocking event</a:t>
            </a:r>
          </a:p>
          <a:p>
            <a:pPr lvl="1"/>
            <a:r>
              <a:rPr lang="en-US" altLang="en-US" dirty="0"/>
              <a:t>Earthquakes, hurricanes, floods, tornados, bombings, arson, riots, and hostage-taking</a:t>
            </a:r>
          </a:p>
          <a:p>
            <a:pPr lvl="1"/>
            <a:r>
              <a:rPr lang="en-US" altLang="en-US" dirty="0"/>
              <a:t>Health care facilities expected to receive victims and survivors and to assist rescuers</a:t>
            </a:r>
          </a:p>
          <a:p>
            <a:pPr lvl="1"/>
            <a:r>
              <a:rPr lang="en-US" altLang="en-US" dirty="0"/>
              <a:t>External or internal disaster</a:t>
            </a:r>
          </a:p>
          <a:p>
            <a:r>
              <a:rPr lang="en-US" altLang="en-US" dirty="0"/>
              <a:t>Active shooter situation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B4D68-8E9A-44C9-87CF-46AE0F24D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14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5C3E-F1BA-43DE-91FE-6C12B362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Terrorism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0C78-7FB8-4889-9995-84AF75E58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new potential environmental health threat is the possibility of a terrorist attack</a:t>
            </a:r>
          </a:p>
          <a:p>
            <a:pPr lvl="1"/>
            <a:r>
              <a:rPr lang="en-US" altLang="en-US" dirty="0"/>
              <a:t>Biologic, chemical, or nuclear weapons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1610-11D9-42D6-AF88-72F2C05F1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852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C483-8D19-465D-A932-0B87EFF0C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Bioterrorism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34AF-78EF-4E3D-A613-E5DD63CF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This is the use of biologic agents to create fear and threat</a:t>
            </a:r>
          </a:p>
          <a:p>
            <a:r>
              <a:rPr lang="en-US" altLang="en-US" dirty="0"/>
              <a:t>Health care facilities must be prepared to treat mass casualties from an attack</a:t>
            </a:r>
          </a:p>
          <a:p>
            <a:r>
              <a:rPr lang="en-US" altLang="en-US" dirty="0"/>
              <a:t>Biologic attacks may be either overt (announced) or covert (unannounced)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DAAB0-B625-487F-AE65-9DD6F9FB0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12708"/>
      </p:ext>
    </p:extLst>
  </p:cSld>
  <p:clrMapOvr>
    <a:masterClrMapping/>
  </p:clrMapOvr>
</p:sld>
</file>

<file path=ppt/theme/theme1.xml><?xml version="1.0" encoding="utf-8"?>
<a:theme xmlns:a="http://schemas.openxmlformats.org/drawingml/2006/main" name="2_Blue Diagonal">
  <a:themeElements>
    <a:clrScheme name="2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2_Blue Diagonal">
      <a:majorFont>
        <a:latin typeface="ArialMT"/>
        <a:ea typeface="ＭＳ Ｐゴシック"/>
        <a:cs typeface=""/>
      </a:majorFont>
      <a:minorFont>
        <a:latin typeface="ArialMT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44BCCB53-EE29-414A-8F6C-89C65B68B0C1}"/>
    </a:ext>
  </a:extLst>
</a:theme>
</file>

<file path=ppt/theme/theme2.xml><?xml version="1.0" encoding="utf-8"?>
<a:theme xmlns:a="http://schemas.openxmlformats.org/drawingml/2006/main" name="3_Blue Diagonal">
  <a:themeElements>
    <a:clrScheme name="3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3_Blue Diagon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E7008CAA-0110-4942-A27F-B887E31738AC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6968</TotalTime>
  <Words>1073</Words>
  <Application>Microsoft Office PowerPoint</Application>
  <PresentationFormat>On-screen Show (4:3)</PresentationFormat>
  <Paragraphs>137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ArialMT</vt:lpstr>
      <vt:lpstr>Times New Roman</vt:lpstr>
      <vt:lpstr>Wingdings</vt:lpstr>
      <vt:lpstr>Wingdings 2</vt:lpstr>
      <vt:lpstr>Wingdings 3</vt:lpstr>
      <vt:lpstr>2_Blue Diagonal</vt:lpstr>
      <vt:lpstr>3_Blue Diagonal</vt:lpstr>
      <vt:lpstr>Chapter 10  </vt:lpstr>
      <vt:lpstr>Lesson 10.1: Safety Across the Lifespan</vt:lpstr>
      <vt:lpstr>Safe Environment</vt:lpstr>
      <vt:lpstr>Falls</vt:lpstr>
      <vt:lpstr>Infants and Children</vt:lpstr>
      <vt:lpstr>Older Adults</vt:lpstr>
      <vt:lpstr>Safety Reminder Devices (SRDs)</vt:lpstr>
      <vt:lpstr>Restraint-Free Environment</vt:lpstr>
      <vt:lpstr>Lesson 10.2: Safety at Work</vt:lpstr>
      <vt:lpstr>Safety Hazards</vt:lpstr>
      <vt:lpstr>Workplace Safety </vt:lpstr>
      <vt:lpstr>Fire Safety</vt:lpstr>
      <vt:lpstr>Accidental Poisoning</vt:lpstr>
      <vt:lpstr>Disaster Planning</vt:lpstr>
      <vt:lpstr>Terrorism</vt:lpstr>
      <vt:lpstr>Bioterrorism</vt:lpstr>
    </vt:vector>
  </TitlesOfParts>
  <Company>REED Elsevier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Body Systems</dc:title>
  <dc:creator>Linda Honeycutt</dc:creator>
  <cp:lastModifiedBy>Jyoti Tyagi (IL-IN)</cp:lastModifiedBy>
  <cp:revision>761</cp:revision>
  <dcterms:created xsi:type="dcterms:W3CDTF">2005-01-16T17:28:53Z</dcterms:created>
  <dcterms:modified xsi:type="dcterms:W3CDTF">2022-07-06T06:41:29Z</dcterms:modified>
</cp:coreProperties>
</file>