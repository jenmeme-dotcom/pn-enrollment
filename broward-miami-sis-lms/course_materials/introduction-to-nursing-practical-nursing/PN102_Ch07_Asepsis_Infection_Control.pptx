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be0489398f6c4a6a" /><Relationship Type="http://schemas.openxmlformats.org/officeDocument/2006/relationships/extended-properties" Target="/docProps/app.xml" Id="Rbb9084d3748c4f47" /><Relationship Type="http://schemas.openxmlformats.org/officeDocument/2006/relationships/officeDocument" Target="/ppt/presentation.xml" Id="R88db7aa1e8f241c4" /></Relationships>
</file>

<file path=ppt/presentation.xml><?xml version="1.0" encoding="utf-8"?>
<p:presentation xmlns:p="http://schemas.openxmlformats.org/presentationml/2006/main">
  <p:sldMasterIdLst>
    <p:sldMasterId xmlns:r="http://schemas.openxmlformats.org/officeDocument/2006/relationships" id="2147483648" r:id="R28c25157498147f8"/>
  </p:sldMasterIdLst>
  <p:notesMasterIdLst>
    <p:notesMasterId xmlns:r="http://schemas.openxmlformats.org/officeDocument/2006/relationships" r:id="R605b50d7a6424cbc"/>
  </p:notesMasterIdLst>
  <p:sldIdLst>
    <p:sldId xmlns:r="http://schemas.openxmlformats.org/officeDocument/2006/relationships" id="256" r:id="Raa9f49b546954a47"/>
    <p:sldId xmlns:r="http://schemas.openxmlformats.org/officeDocument/2006/relationships" id="257" r:id="Rbc0af1f7d7ca443f"/>
    <p:sldId xmlns:r="http://schemas.openxmlformats.org/officeDocument/2006/relationships" id="258" r:id="R8b49608ab8284fff"/>
    <p:sldId xmlns:r="http://schemas.openxmlformats.org/officeDocument/2006/relationships" id="259" r:id="R655bf0466baa4e20"/>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93431d467780478a" /><Relationship Type="http://schemas.openxmlformats.org/officeDocument/2006/relationships/slideMaster" Target="/ppt/slideMasters/slideMaster1.xml" Id="R28c25157498147f8" /><Relationship Type="http://schemas.openxmlformats.org/officeDocument/2006/relationships/notesMaster" Target="/ppt/notesMasters/notesMaster1.xml" Id="R605b50d7a6424cbc" /><Relationship Type="http://schemas.openxmlformats.org/officeDocument/2006/relationships/presProps" Target="/ppt/presProps.xml" Id="R0c6ee611461848cb" /><Relationship Type="http://schemas.openxmlformats.org/officeDocument/2006/relationships/tableStyles" Target="/ppt/tableStyles.xml" Id="Rce1aff73ba9943d3" /><Relationship Type="http://schemas.openxmlformats.org/officeDocument/2006/relationships/slide" Target="/ppt/slides/slide1.xml" Id="Raa9f49b546954a47" /><Relationship Type="http://schemas.openxmlformats.org/officeDocument/2006/relationships/slide" Target="/ppt/slides/slide2.xml" Id="Rbc0af1f7d7ca443f" /><Relationship Type="http://schemas.openxmlformats.org/officeDocument/2006/relationships/slide" Target="/ppt/slides/slide3.xml" Id="R8b49608ab8284fff" /><Relationship Type="http://schemas.openxmlformats.org/officeDocument/2006/relationships/slide" Target="/ppt/slides/slide4.xml" Id="R655bf0466baa4e20"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c630f0484ee54cf3"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06c903f9058a4023" /><Relationship Type="http://schemas.openxmlformats.org/officeDocument/2006/relationships/notesMaster" Target="/ppt/notesMasters/notesMaster1.xml" Id="R548f5c69dac640a6" /></Relationships>
</file>

<file path=ppt/notesSlides/_rels/notesSlide2.xml.rels>&#65279;<?xml version="1.0" encoding="utf-8"?><Relationships xmlns="http://schemas.openxmlformats.org/package/2006/relationships"><Relationship Type="http://schemas.openxmlformats.org/officeDocument/2006/relationships/slide" Target="/ppt/slides/slide2.xml" Id="R87cff79957624393" /><Relationship Type="http://schemas.openxmlformats.org/officeDocument/2006/relationships/notesMaster" Target="/ppt/notesMasters/notesMaster1.xml" Id="R98e2d9a41c9c4212" /></Relationships>
</file>

<file path=ppt/notesSlides/_rels/notesSlide3.xml.rels>&#65279;<?xml version="1.0" encoding="utf-8"?><Relationships xmlns="http://schemas.openxmlformats.org/package/2006/relationships"><Relationship Type="http://schemas.openxmlformats.org/officeDocument/2006/relationships/slide" Target="/ppt/slides/slide3.xml" Id="R9bd820b9e50242ac" /><Relationship Type="http://schemas.openxmlformats.org/officeDocument/2006/relationships/notesMaster" Target="/ppt/notesMasters/notesMaster1.xml" Id="Rab851997988c4028" /></Relationships>
</file>

<file path=ppt/notesSlides/_rels/notesSlide4.xml.rels>&#65279;<?xml version="1.0" encoding="utf-8"?><Relationships xmlns="http://schemas.openxmlformats.org/package/2006/relationships"><Relationship Type="http://schemas.openxmlformats.org/officeDocument/2006/relationships/slide" Target="/ppt/slides/slide4.xml" Id="Rc7a6bfdf921142ea" /><Relationship Type="http://schemas.openxmlformats.org/officeDocument/2006/relationships/notesMaster" Target="/ppt/notesMasters/notesMaster1.xml" Id="Rd7c203f0a5dd4367"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Introduce the chapter and connect it to the assigned textbook reading.</a:t>
            </a:r>
          </a:p>
          <a:p xmlns:a="http://schemas.openxmlformats.org/drawingml/2006/main">
            <a:r>
              <a:t/>
            </a:r>
          </a:p>
          <a:p xmlns:a="http://schemas.openxmlformats.org/drawingml/2006/main">
            <a:r>
              <a:t>[Sources]</a:t>
            </a:r>
          </a:p>
          <a:p xmlns:a="http://schemas.openxmlformats.org/drawingml/2006/main">
            <a:r>
              <a:t>- src/introNursingBuildout.js — Chapter 7 extendedWeekChapters and readingFocusExplanations (local course source; accessed 2026-07-30).</a:t>
            </a:r>
          </a:p>
          <a:p xmlns:a="http://schemas.openxmlformats.org/drawingml/2006/main">
            <a:r>
              <a:t>- Cooper, K., &amp; Gosnell, K. (2023). Foundations of Nursing (9th ed.), Chapter 7, pp. 117–161 (course-assigned textbook).</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Explain how the four reading-focus concepts fit together before applying them to care.</a:t>
            </a:r>
          </a:p>
          <a:p xmlns:a="http://schemas.openxmlformats.org/drawingml/2006/main">
            <a:r>
              <a:t/>
            </a:r>
          </a:p>
          <a:p xmlns:a="http://schemas.openxmlformats.org/drawingml/2006/main">
            <a:r>
              <a:t>[Sources]</a:t>
            </a:r>
          </a:p>
          <a:p xmlns:a="http://schemas.openxmlformats.org/drawingml/2006/main">
            <a:r>
              <a:t>- src/introNursingBuildout.js — Chapter 7 extendedWeekChapters and readingFocusExplanations (local course source; accessed 2026-07-30).</a:t>
            </a:r>
          </a:p>
          <a:p xmlns:a="http://schemas.openxmlformats.org/drawingml/2006/main">
            <a:r>
              <a:t>- Cooper, K., &amp; Gosnell, K. (2023). Foundations of Nursing (9th ed.), Chapter 7, pp. 117–161 (course-assigned textbook).</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Apply the chapter concepts to the practical nurse’s observation, action, documentation, and reporting responsibilities.</a:t>
            </a:r>
          </a:p>
          <a:p xmlns:a="http://schemas.openxmlformats.org/drawingml/2006/main">
            <a:r>
              <a:t/>
            </a:r>
          </a:p>
          <a:p xmlns:a="http://schemas.openxmlformats.org/drawingml/2006/main">
            <a:r>
              <a:t>[Sources]</a:t>
            </a:r>
          </a:p>
          <a:p xmlns:a="http://schemas.openxmlformats.org/drawingml/2006/main">
            <a:r>
              <a:t>- src/introNursingBuildout.js — Chapter 7 extendedWeekChapters and readingFocusExplanations (local course source; accessed 2026-07-30).</a:t>
            </a:r>
          </a:p>
          <a:p xmlns:a="http://schemas.openxmlformats.org/drawingml/2006/main">
            <a:r>
              <a:t>- Cooper, K., &amp; Gosnell, K. (2023). Foundations of Nursing (9th ed.), Chapter 7, pp. 117–161 (course-assigned textbook).</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Close with a recall-and-application prompt: recognize the cue, act safely within scope, and report exact findings.</a:t>
            </a:r>
          </a:p>
          <a:p xmlns:a="http://schemas.openxmlformats.org/drawingml/2006/main">
            <a:r>
              <a:t/>
            </a:r>
          </a:p>
          <a:p xmlns:a="http://schemas.openxmlformats.org/drawingml/2006/main">
            <a:r>
              <a:t>[Sources]</a:t>
            </a:r>
          </a:p>
          <a:p xmlns:a="http://schemas.openxmlformats.org/drawingml/2006/main">
            <a:r>
              <a:t>- src/introNursingBuildout.js — Chapter 7 extendedWeekChapters and readingFocusExplanations (local course source; accessed 2026-07-30).</a:t>
            </a:r>
          </a:p>
          <a:p xmlns:a="http://schemas.openxmlformats.org/drawingml/2006/main">
            <a:r>
              <a:t>- Cooper, K., &amp; Gosnell, K. (2023). Foundations of Nursing (9th ed.), Chapter 7, pp. 117–161 (course-assigned textbook).</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3dab80eaabf24abd"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f46d0c8e87fa4a7e" /><Relationship Type="http://schemas.openxmlformats.org/officeDocument/2006/relationships/slideLayout" Target="/ppt/slideLayouts/slideLayout1.xml" Id="Rd19bf5ba7a8a402c"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d19bf5ba7a8a402c"/>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f38459ba066545eb" /><Relationship Type="http://schemas.openxmlformats.org/officeDocument/2006/relationships/notesSlide" Target="/ppt/notesSlides/notesSlide1.xml" Id="Rd30aaa033c4a412d"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7883c2f8031b4275" /><Relationship Type="http://schemas.openxmlformats.org/officeDocument/2006/relationships/notesSlide" Target="/ppt/notesSlides/notesSlide2.xml" Id="R3f7342f914bf4721"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c68183da32f84047" /><Relationship Type="http://schemas.openxmlformats.org/officeDocument/2006/relationships/notesSlide" Target="/ppt/notesSlides/notesSlide3.xml" Id="Rdb9164114f304d93"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c3aa10b7440c4584" /><Relationship Type="http://schemas.openxmlformats.org/officeDocument/2006/relationships/notesSlide" Target="/ppt/notesSlides/notesSlide4.xml" Id="R434b0936024e4693" /></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 name="course-eyebrow">
            <a:extLst xmlns:a="http://schemas.openxmlformats.org/drawingml/2006/main">
              <a:ext uri="{FF2B5EF4-FFF2-40B4-BE49-F238E27FC236}">
                <a16:creationId xmlns:a16="http://schemas.microsoft.com/office/drawing/2014/main" id="{36141ECA-28AD-44CA-B62B-A3FCDA343FBB}"/>
              </a:ext>
            </a:extLst>
          </p:cNvPr>
          <p:cNvSpPr>
            <a:spLocks xmlns:a="http://schemas.openxmlformats.org/drawingml/2006/main" noGrp="1"/>
          </p:cNvSpPr>
          <p:nvPr/>
        </p:nvSpPr>
        <p:spPr>
          <a:xfrm xmlns:a="http://schemas.openxmlformats.org/drawingml/2006/main">
            <a:off x="393668" y="392240"/>
            <a:ext cx="6858000" cy="649129"/>
          </a:xfrm>
          <a:prstGeom xmlns:a="http://schemas.openxmlformats.org/drawingml/2006/main" prst="rect">
            <a:avLst/>
          </a:prstGeom>
        </p:spPr>
        <p:txBody>
          <a:bodyPr xmlns:a="http://schemas.openxmlformats.org/drawingml/2006/main" lIns="0" tIns="0" rIns="0" bIns="0">
            <a:noAutofit/>
          </a:bodyPr>
          <a:lstStyle xmlns:a="http://schemas.openxmlformats.org/drawingml/2006/main"/>
          <a:p xmlns:a="http://schemas.openxmlformats.org/drawingml/2006/main">
            <a:pPr algn="l">
              <a:defRPr sz="1800" b="1">
                <a:solidFill>
                  <a:srgbClr val="2B6976"/>
                </a:solidFill>
                <a:latin typeface="Helvetica Neue"/>
                <a:ea typeface="Helvetica Neue"/>
                <a:cs typeface="Helvetica Neue"/>
              </a:defRPr>
            </a:pPr>
            <a:r>
              <a:t>BROWARD–MIAMI HEALTH INSTITUTE</a:t>
            </a:r>
          </a:p>
        </p:txBody>
      </p:sp>
      <p:sp>
        <p:nvSpPr>
          <p:cNvPr id="2" name="chapter-title">
            <a:extLst xmlns:a="http://schemas.openxmlformats.org/drawingml/2006/main">
              <a:ext uri="{FF2B5EF4-FFF2-40B4-BE49-F238E27FC236}">
                <a16:creationId xmlns:a16="http://schemas.microsoft.com/office/drawing/2014/main" id="{FCD2D886-C96E-46D3-B7B8-F79FEEA8A4C7}"/>
              </a:ext>
            </a:extLst>
          </p:cNvPr>
          <p:cNvSpPr>
            <a:spLocks xmlns:a="http://schemas.openxmlformats.org/drawingml/2006/main" noGrp="1"/>
          </p:cNvSpPr>
          <p:nvPr/>
        </p:nvSpPr>
        <p:spPr>
          <a:xfrm xmlns:a="http://schemas.openxmlformats.org/drawingml/2006/main">
            <a:off x="393668" y="1738789"/>
            <a:ext cx="10001250" cy="2491454"/>
          </a:xfrm>
          <a:prstGeom xmlns:a="http://schemas.openxmlformats.org/drawingml/2006/main" prst="rect">
            <a:avLst/>
          </a:prstGeom>
        </p:spPr>
        <p:txBody>
          <a:bodyPr xmlns:a="http://schemas.openxmlformats.org/drawingml/2006/main" lIns="0" tIns="0" rIns="0" bIns="0" anchor="b">
            <a:noAutofit/>
          </a:bodyPr>
          <a:lstStyle xmlns:a="http://schemas.openxmlformats.org/drawingml/2006/main"/>
          <a:p xmlns:a="http://schemas.openxmlformats.org/drawingml/2006/main">
            <a:pPr algn="l">
              <a:defRPr sz="6000" b="1">
                <a:solidFill>
                  <a:srgbClr val="18232F"/>
                </a:solidFill>
                <a:latin typeface="Helvetica Neue"/>
                <a:ea typeface="Helvetica Neue"/>
                <a:cs typeface="Helvetica Neue"/>
              </a:defRPr>
            </a:pPr>
            <a:r>
              <a:t>Asepsis and Infection Control</a:t>
            </a:r>
          </a:p>
        </p:txBody>
      </p:sp>
      <p:sp>
        <p:nvSpPr>
          <p:cNvPr id="3" name="chapter-subtitle">
            <a:extLst xmlns:a="http://schemas.openxmlformats.org/drawingml/2006/main">
              <a:ext uri="{FF2B5EF4-FFF2-40B4-BE49-F238E27FC236}">
                <a16:creationId xmlns:a16="http://schemas.microsoft.com/office/drawing/2014/main" id="{073D0FB4-55EC-4C24-9849-A8914F18DF55}"/>
              </a:ext>
            </a:extLst>
          </p:cNvPr>
          <p:cNvSpPr>
            <a:spLocks xmlns:a="http://schemas.openxmlformats.org/drawingml/2006/main" noGrp="1"/>
          </p:cNvSpPr>
          <p:nvPr/>
        </p:nvSpPr>
        <p:spPr>
          <a:xfrm xmlns:a="http://schemas.openxmlformats.org/drawingml/2006/main">
            <a:off x="393668" y="4742212"/>
            <a:ext cx="9525000" cy="762000"/>
          </a:xfrm>
          <a:prstGeom xmlns:a="http://schemas.openxmlformats.org/drawingml/2006/main" prst="rect">
            <a:avLst/>
          </a:prstGeom>
        </p:spPr>
        <p:txBody>
          <a:bodyPr xmlns:a="http://schemas.openxmlformats.org/drawingml/2006/main" lIns="0" tIns="0" rIns="0" bIns="0">
            <a:noAutofit/>
          </a:bodyPr>
          <a:lstStyle xmlns:a="http://schemas.openxmlformats.org/drawingml/2006/main"/>
          <a:p xmlns:a="http://schemas.openxmlformats.org/drawingml/2006/main">
            <a:pPr algn="l">
              <a:defRPr sz="2100">
                <a:solidFill>
                  <a:srgbClr val="596B7B"/>
                </a:solidFill>
                <a:latin typeface="Helvetica Neue"/>
                <a:ea typeface="Helvetica Neue"/>
                <a:cs typeface="Helvetica Neue"/>
              </a:defRPr>
            </a:pPr>
            <a:r>
              <a:t>PN 102  •  Chapter 7  •  Foundations of Nursing, 9th ed.  •  pp. 117–161</a:t>
            </a:r>
          </a:p>
        </p:txBody>
      </p:sp>
    </p:spTree>
    <p:extLst>
      <p:ext uri="{BB962C8B-B14F-4D97-AF65-F5344CB8AC3E}">
        <p14:creationId xmlns:p14="http://schemas.microsoft.com/office/powerpoint/2010/main" val="850709335"/>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concepts-title">
            <a:extLst xmlns:a="http://schemas.openxmlformats.org/drawingml/2006/main">
              <a:ext uri="{FF2B5EF4-FFF2-40B4-BE49-F238E27FC236}">
                <a16:creationId xmlns:a16="http://schemas.microsoft.com/office/drawing/2014/main" id="{4BD1E716-0FE8-4C6D-AB21-16904D22F616}"/>
              </a:ext>
            </a:extLst>
          </p:cNvPr>
          <p:cNvSpPr>
            <a:spLocks xmlns:a="http://schemas.openxmlformats.org/drawingml/2006/main" noGrp="1"/>
          </p:cNvSpPr>
          <p:nvPr/>
        </p:nvSpPr>
        <p:spPr>
          <a:xfrm xmlns:a="http://schemas.openxmlformats.org/drawingml/2006/main">
            <a:off x="393668" y="344043"/>
            <a:ext cx="11404568" cy="1047464"/>
          </a:xfrm>
          <a:prstGeom xmlns:a="http://schemas.openxmlformats.org/drawingml/2006/main" prst="rect">
            <a:avLst/>
          </a:prstGeom>
        </p:spPr>
        <p:txBody>
          <a:bodyPr xmlns:a="http://schemas.openxmlformats.org/drawingml/2006/main" lIns="0" tIns="0" rIns="0" bIns="0" anchor="t">
            <a:noAutofit/>
          </a:bodyPr>
          <a:lstStyle xmlns:a="http://schemas.openxmlformats.org/drawingml/2006/main"/>
          <a:p xmlns:a="http://schemas.openxmlformats.org/drawingml/2006/main">
            <a:pPr algn="l">
              <a:defRPr sz="3150" b="1">
                <a:solidFill>
                  <a:srgbClr val="18232F"/>
                </a:solidFill>
                <a:latin typeface="Helvetica Neue"/>
                <a:ea typeface="Helvetica Neue"/>
                <a:cs typeface="Helvetica Neue"/>
              </a:defRPr>
            </a:pPr>
            <a:r>
              <a:t>Chapter 7: four ideas to connect</a:t>
            </a:r>
          </a:p>
        </p:txBody>
      </p:sp>
      <p:sp>
        <p:nvSpPr>
          <p:cNvPr id="2" name="slide-number">
            <a:extLst xmlns:a="http://schemas.openxmlformats.org/drawingml/2006/main">
              <a:ext uri="{FF2B5EF4-FFF2-40B4-BE49-F238E27FC236}">
                <a16:creationId xmlns:a16="http://schemas.microsoft.com/office/drawing/2014/main" id="{EAA387D1-FF74-4B0C-8BA8-5D6D77A27AB7}"/>
              </a:ext>
            </a:extLst>
          </p:cNvPr>
          <p:cNvSpPr>
            <a:spLocks xmlns:a="http://schemas.openxmlformats.org/drawingml/2006/main" noGrp="1"/>
          </p:cNvSpPr>
          <p:nvPr/>
        </p:nvSpPr>
        <p:spPr>
          <a:xfrm xmlns:a="http://schemas.openxmlformats.org/drawingml/2006/main">
            <a:off x="11279315" y="6279261"/>
            <a:ext cx="518922" cy="241268"/>
          </a:xfrm>
          <a:prstGeom xmlns:a="http://schemas.openxmlformats.org/drawingml/2006/main" prst="rect">
            <a:avLst/>
          </a:prstGeom>
        </p:spPr>
        <p:txBody>
          <a:bodyPr xmlns:a="http://schemas.openxmlformats.org/drawingml/2006/main" lIns="0" tIns="0" rIns="0" bIns="0" anchor="b"/>
          <a:lstStyle xmlns:a="http://schemas.openxmlformats.org/drawingml/2006/main"/>
          <a:p xmlns:a="http://schemas.openxmlformats.org/drawingml/2006/main">
            <a:pPr algn="r">
              <a:defRPr sz="1200">
                <a:solidFill>
                  <a:srgbClr val="596B7B"/>
                </a:solidFill>
                <a:latin typeface="Helvetica Neue"/>
                <a:ea typeface="Helvetica Neue"/>
                <a:cs typeface="Helvetica Neue"/>
              </a:defRPr>
            </a:pPr>
            <a:r>
              <a:t>2</a:t>
            </a:r>
          </a:p>
        </p:txBody>
      </p:sp>
      <p:sp>
        <p:nvSpPr>
          <p:cNvPr id="3" name="concept-1-title">
            <a:extLst xmlns:a="http://schemas.openxmlformats.org/drawingml/2006/main">
              <a:ext uri="{FF2B5EF4-FFF2-40B4-BE49-F238E27FC236}">
                <a16:creationId xmlns:a16="http://schemas.microsoft.com/office/drawing/2014/main" id="{2CA059E6-ACDA-4467-8738-4DDEB0C70CCD}"/>
              </a:ext>
            </a:extLst>
          </p:cNvPr>
          <p:cNvSpPr>
            <a:spLocks xmlns:a="http://schemas.openxmlformats.org/drawingml/2006/main" noGrp="1"/>
          </p:cNvSpPr>
          <p:nvPr/>
        </p:nvSpPr>
        <p:spPr>
          <a:xfrm xmlns:a="http://schemas.openxmlformats.org/drawingml/2006/main">
            <a:off x="393668" y="2208086"/>
            <a:ext cx="2595944" cy="1415606"/>
          </a:xfrm>
          <a:prstGeom xmlns:a="http://schemas.openxmlformats.org/drawingml/2006/main" prst="rect">
            <a:avLst/>
          </a:prstGeom>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875" b="1">
                <a:solidFill>
                  <a:srgbClr val="2B6976"/>
                </a:solidFill>
                <a:latin typeface="Helvetica Neue"/>
                <a:ea typeface="Helvetica Neue"/>
                <a:cs typeface="Helvetica Neue"/>
              </a:defRPr>
            </a:pPr>
            <a:r>
              <a:t>Chain of infection</a:t>
            </a:r>
          </a:p>
        </p:txBody>
      </p:sp>
      <p:sp>
        <p:nvSpPr>
          <p:cNvPr id="4" name="concept-1-explanation">
            <a:extLst xmlns:a="http://schemas.openxmlformats.org/drawingml/2006/main">
              <a:ext uri="{FF2B5EF4-FFF2-40B4-BE49-F238E27FC236}">
                <a16:creationId xmlns:a16="http://schemas.microsoft.com/office/drawing/2014/main" id="{E6A03DE1-6033-4785-A7B9-ECF0F6ACB5EF}"/>
              </a:ext>
            </a:extLst>
          </p:cNvPr>
          <p:cNvSpPr>
            <a:spLocks xmlns:a="http://schemas.openxmlformats.org/drawingml/2006/main" noGrp="1"/>
          </p:cNvSpPr>
          <p:nvPr/>
        </p:nvSpPr>
        <p:spPr>
          <a:xfrm xmlns:a="http://schemas.openxmlformats.org/drawingml/2006/main">
            <a:off x="393668" y="4161092"/>
            <a:ext cx="2595944" cy="1415606"/>
          </a:xfrm>
          <a:prstGeom xmlns:a="http://schemas.openxmlformats.org/drawingml/2006/main" prst="rect">
            <a:avLst/>
          </a:prstGeom>
        </p:spPr>
        <p:txBody>
          <a:bodyPr xmlns:a="http://schemas.openxmlformats.org/drawingml/2006/main" lIns="0" tIns="0" rIns="0" bIns="0" anchor="t">
            <a:noAutofit/>
          </a:bodyPr>
          <a:lstStyle xmlns:a="http://schemas.openxmlformats.org/drawingml/2006/main"/>
          <a:p xmlns:a="http://schemas.openxmlformats.org/drawingml/2006/main">
            <a:pPr algn="l">
              <a:defRPr sz="1350">
                <a:solidFill>
                  <a:srgbClr val="18232F"/>
                </a:solidFill>
                <a:latin typeface="Helvetica Neue"/>
                <a:ea typeface="Helvetica Neue"/>
                <a:cs typeface="Helvetica Neue"/>
              </a:defRPr>
            </a:pPr>
            <a:r>
              <a:t>Identify how organisms spread and where nursing actions can interrupt transmission.</a:t>
            </a:r>
          </a:p>
        </p:txBody>
      </p:sp>
      <p:sp>
        <p:nvSpPr>
          <p:cNvPr id="5" name="concept-2-title">
            <a:extLst xmlns:a="http://schemas.openxmlformats.org/drawingml/2006/main">
              <a:ext uri="{FF2B5EF4-FFF2-40B4-BE49-F238E27FC236}">
                <a16:creationId xmlns:a16="http://schemas.microsoft.com/office/drawing/2014/main" id="{DFE63370-B675-4268-878A-EDB469113F22}"/>
              </a:ext>
            </a:extLst>
          </p:cNvPr>
          <p:cNvSpPr>
            <a:spLocks xmlns:a="http://schemas.openxmlformats.org/drawingml/2006/main" noGrp="1"/>
          </p:cNvSpPr>
          <p:nvPr/>
        </p:nvSpPr>
        <p:spPr>
          <a:xfrm xmlns:a="http://schemas.openxmlformats.org/drawingml/2006/main">
            <a:off x="3334988" y="2208086"/>
            <a:ext cx="2595944" cy="1415606"/>
          </a:xfrm>
          <a:prstGeom xmlns:a="http://schemas.openxmlformats.org/drawingml/2006/main" prst="rect">
            <a:avLst/>
          </a:prstGeom>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875" b="1">
                <a:solidFill>
                  <a:srgbClr val="18232F"/>
                </a:solidFill>
                <a:latin typeface="Helvetica Neue"/>
                <a:ea typeface="Helvetica Neue"/>
                <a:cs typeface="Helvetica Neue"/>
              </a:defRPr>
            </a:pPr>
            <a:r>
              <a:t>Clean and sterile technique</a:t>
            </a:r>
          </a:p>
        </p:txBody>
      </p:sp>
      <p:sp>
        <p:nvSpPr>
          <p:cNvPr id="6" name="concept-2-explanation">
            <a:extLst xmlns:a="http://schemas.openxmlformats.org/drawingml/2006/main">
              <a:ext uri="{FF2B5EF4-FFF2-40B4-BE49-F238E27FC236}">
                <a16:creationId xmlns:a16="http://schemas.microsoft.com/office/drawing/2014/main" id="{194C3C08-2267-4A04-95EA-077FF82DB0AC}"/>
              </a:ext>
            </a:extLst>
          </p:cNvPr>
          <p:cNvSpPr>
            <a:spLocks xmlns:a="http://schemas.openxmlformats.org/drawingml/2006/main" noGrp="1"/>
          </p:cNvSpPr>
          <p:nvPr/>
        </p:nvSpPr>
        <p:spPr>
          <a:xfrm xmlns:a="http://schemas.openxmlformats.org/drawingml/2006/main">
            <a:off x="3334988" y="4161092"/>
            <a:ext cx="2595944" cy="1415606"/>
          </a:xfrm>
          <a:prstGeom xmlns:a="http://schemas.openxmlformats.org/drawingml/2006/main" prst="rect">
            <a:avLst/>
          </a:prstGeom>
        </p:spPr>
        <p:txBody>
          <a:bodyPr xmlns:a="http://schemas.openxmlformats.org/drawingml/2006/main" lIns="0" tIns="0" rIns="0" bIns="0" anchor="t">
            <a:noAutofit/>
          </a:bodyPr>
          <a:lstStyle xmlns:a="http://schemas.openxmlformats.org/drawingml/2006/main"/>
          <a:p xmlns:a="http://schemas.openxmlformats.org/drawingml/2006/main">
            <a:pPr algn="l">
              <a:defRPr sz="1350">
                <a:solidFill>
                  <a:srgbClr val="18232F"/>
                </a:solidFill>
                <a:latin typeface="Helvetica Neue"/>
                <a:ea typeface="Helvetica Neue"/>
                <a:cs typeface="Helvetica Neue"/>
              </a:defRPr>
            </a:pPr>
            <a:r>
              <a:t>Distinguish medical asepsis from surgical asepsis and apply the correct technique.</a:t>
            </a:r>
          </a:p>
        </p:txBody>
      </p:sp>
      <p:sp>
        <p:nvSpPr>
          <p:cNvPr id="7" name="concept-3-title">
            <a:extLst xmlns:a="http://schemas.openxmlformats.org/drawingml/2006/main">
              <a:ext uri="{FF2B5EF4-FFF2-40B4-BE49-F238E27FC236}">
                <a16:creationId xmlns:a16="http://schemas.microsoft.com/office/drawing/2014/main" id="{512B10E4-36C8-4979-BF66-0621E6903701}"/>
              </a:ext>
            </a:extLst>
          </p:cNvPr>
          <p:cNvSpPr>
            <a:spLocks xmlns:a="http://schemas.openxmlformats.org/drawingml/2006/main" noGrp="1"/>
          </p:cNvSpPr>
          <p:nvPr/>
        </p:nvSpPr>
        <p:spPr>
          <a:xfrm xmlns:a="http://schemas.openxmlformats.org/drawingml/2006/main">
            <a:off x="6264402" y="2208086"/>
            <a:ext cx="2595944" cy="1415606"/>
          </a:xfrm>
          <a:prstGeom xmlns:a="http://schemas.openxmlformats.org/drawingml/2006/main" prst="rect">
            <a:avLst/>
          </a:prstGeom>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875" b="1">
                <a:solidFill>
                  <a:srgbClr val="18232F"/>
                </a:solidFill>
                <a:latin typeface="Helvetica Neue"/>
                <a:ea typeface="Helvetica Neue"/>
                <a:cs typeface="Helvetica Neue"/>
              </a:defRPr>
            </a:pPr>
            <a:r>
              <a:t>Precautions</a:t>
            </a:r>
          </a:p>
        </p:txBody>
      </p:sp>
      <p:sp>
        <p:nvSpPr>
          <p:cNvPr id="8" name="concept-3-explanation">
            <a:extLst xmlns:a="http://schemas.openxmlformats.org/drawingml/2006/main">
              <a:ext uri="{FF2B5EF4-FFF2-40B4-BE49-F238E27FC236}">
                <a16:creationId xmlns:a16="http://schemas.microsoft.com/office/drawing/2014/main" id="{63F5625B-7C94-40B2-B88C-07B6A8D1552E}"/>
              </a:ext>
            </a:extLst>
          </p:cNvPr>
          <p:cNvSpPr>
            <a:spLocks xmlns:a="http://schemas.openxmlformats.org/drawingml/2006/main" noGrp="1"/>
          </p:cNvSpPr>
          <p:nvPr/>
        </p:nvSpPr>
        <p:spPr>
          <a:xfrm xmlns:a="http://schemas.openxmlformats.org/drawingml/2006/main">
            <a:off x="6264402" y="4161092"/>
            <a:ext cx="2595944" cy="1415606"/>
          </a:xfrm>
          <a:prstGeom xmlns:a="http://schemas.openxmlformats.org/drawingml/2006/main" prst="rect">
            <a:avLst/>
          </a:prstGeom>
        </p:spPr>
        <p:txBody>
          <a:bodyPr xmlns:a="http://schemas.openxmlformats.org/drawingml/2006/main" lIns="0" tIns="0" rIns="0" bIns="0" anchor="t">
            <a:noAutofit/>
          </a:bodyPr>
          <a:lstStyle xmlns:a="http://schemas.openxmlformats.org/drawingml/2006/main"/>
          <a:p xmlns:a="http://schemas.openxmlformats.org/drawingml/2006/main">
            <a:pPr algn="l">
              <a:defRPr sz="1350">
                <a:solidFill>
                  <a:srgbClr val="18232F"/>
                </a:solidFill>
                <a:latin typeface="Helvetica Neue"/>
                <a:ea typeface="Helvetica Neue"/>
                <a:cs typeface="Helvetica Neue"/>
              </a:defRPr>
            </a:pPr>
            <a:r>
              <a:t>Select hand hygiene, PPE, and isolation practices for the exposure risk and transmission route.</a:t>
            </a:r>
          </a:p>
        </p:txBody>
      </p:sp>
      <p:sp>
        <p:nvSpPr>
          <p:cNvPr id="9" name="concept-4-title">
            <a:extLst xmlns:a="http://schemas.openxmlformats.org/drawingml/2006/main">
              <a:ext uri="{FF2B5EF4-FFF2-40B4-BE49-F238E27FC236}">
                <a16:creationId xmlns:a16="http://schemas.microsoft.com/office/drawing/2014/main" id="{ACFD9E13-E443-4020-9995-D141550845E1}"/>
              </a:ext>
            </a:extLst>
          </p:cNvPr>
          <p:cNvSpPr>
            <a:spLocks xmlns:a="http://schemas.openxmlformats.org/drawingml/2006/main" noGrp="1"/>
          </p:cNvSpPr>
          <p:nvPr/>
        </p:nvSpPr>
        <p:spPr>
          <a:xfrm xmlns:a="http://schemas.openxmlformats.org/drawingml/2006/main">
            <a:off x="9205722" y="2208086"/>
            <a:ext cx="2595944" cy="1415606"/>
          </a:xfrm>
          <a:prstGeom xmlns:a="http://schemas.openxmlformats.org/drawingml/2006/main" prst="rect">
            <a:avLst/>
          </a:prstGeom>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875" b="1">
                <a:solidFill>
                  <a:srgbClr val="18232F"/>
                </a:solidFill>
                <a:latin typeface="Helvetica Neue"/>
                <a:ea typeface="Helvetica Neue"/>
                <a:cs typeface="Helvetica Neue"/>
              </a:defRPr>
            </a:pPr>
            <a:r>
              <a:t>Prevention and reporting</a:t>
            </a:r>
          </a:p>
        </p:txBody>
      </p:sp>
      <p:sp>
        <p:nvSpPr>
          <p:cNvPr id="10" name="concept-4-explanation">
            <a:extLst xmlns:a="http://schemas.openxmlformats.org/drawingml/2006/main">
              <a:ext uri="{FF2B5EF4-FFF2-40B4-BE49-F238E27FC236}">
                <a16:creationId xmlns:a16="http://schemas.microsoft.com/office/drawing/2014/main" id="{DC392765-7264-4AC2-A2C5-188D05279C9A}"/>
              </a:ext>
            </a:extLst>
          </p:cNvPr>
          <p:cNvSpPr>
            <a:spLocks xmlns:a="http://schemas.openxmlformats.org/drawingml/2006/main" noGrp="1"/>
          </p:cNvSpPr>
          <p:nvPr/>
        </p:nvSpPr>
        <p:spPr>
          <a:xfrm xmlns:a="http://schemas.openxmlformats.org/drawingml/2006/main">
            <a:off x="9205722" y="4161092"/>
            <a:ext cx="2595944" cy="1415606"/>
          </a:xfrm>
          <a:prstGeom xmlns:a="http://schemas.openxmlformats.org/drawingml/2006/main" prst="rect">
            <a:avLst/>
          </a:prstGeom>
        </p:spPr>
        <p:txBody>
          <a:bodyPr xmlns:a="http://schemas.openxmlformats.org/drawingml/2006/main" lIns="0" tIns="0" rIns="0" bIns="0" anchor="t">
            <a:noAutofit/>
          </a:bodyPr>
          <a:lstStyle xmlns:a="http://schemas.openxmlformats.org/drawingml/2006/main"/>
          <a:p xmlns:a="http://schemas.openxmlformats.org/drawingml/2006/main">
            <a:pPr algn="l">
              <a:defRPr sz="1350">
                <a:solidFill>
                  <a:srgbClr val="18232F"/>
                </a:solidFill>
                <a:latin typeface="Helvetica Neue"/>
                <a:ea typeface="Helvetica Neue"/>
                <a:cs typeface="Helvetica Neue"/>
              </a:defRPr>
            </a:pPr>
            <a:r>
              <a:t>Monitor for infection, reduce risk, and report concerning findings or exposures promptly.</a:t>
            </a:r>
          </a:p>
        </p:txBody>
      </p:sp>
    </p:spTree>
    <p:extLst>
      <p:ext uri="{BB962C8B-B14F-4D97-AF65-F5344CB8AC3E}">
        <p14:creationId xmlns:p14="http://schemas.microsoft.com/office/powerpoint/2010/main" val="1838561407"/>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practice-title">
            <a:extLst xmlns:a="http://schemas.openxmlformats.org/drawingml/2006/main">
              <a:ext uri="{FF2B5EF4-FFF2-40B4-BE49-F238E27FC236}">
                <a16:creationId xmlns:a16="http://schemas.microsoft.com/office/drawing/2014/main" id="{8EF1FE34-ED03-4329-ABCC-D9ADB4C7BCFB}"/>
              </a:ext>
            </a:extLst>
          </p:cNvPr>
          <p:cNvSpPr>
            <a:spLocks xmlns:a="http://schemas.openxmlformats.org/drawingml/2006/main" noGrp="1"/>
          </p:cNvSpPr>
          <p:nvPr/>
        </p:nvSpPr>
        <p:spPr>
          <a:xfrm xmlns:a="http://schemas.openxmlformats.org/drawingml/2006/main">
            <a:off x="393668" y="344043"/>
            <a:ext cx="11404568" cy="1047464"/>
          </a:xfrm>
          <a:prstGeom xmlns:a="http://schemas.openxmlformats.org/drawingml/2006/main" prst="rect">
            <a:avLst/>
          </a:prstGeom>
        </p:spPr>
        <p:txBody>
          <a:bodyPr xmlns:a="http://schemas.openxmlformats.org/drawingml/2006/main" lIns="0" tIns="0" rIns="0" bIns="0" anchor="t">
            <a:noAutofit/>
          </a:bodyPr>
          <a:lstStyle xmlns:a="http://schemas.openxmlformats.org/drawingml/2006/main"/>
          <a:p xmlns:a="http://schemas.openxmlformats.org/drawingml/2006/main">
            <a:pPr algn="l">
              <a:defRPr sz="3000" b="1">
                <a:solidFill>
                  <a:srgbClr val="18232F"/>
                </a:solidFill>
                <a:latin typeface="Helvetica Neue"/>
                <a:ea typeface="Helvetica Neue"/>
                <a:cs typeface="Helvetica Neue"/>
              </a:defRPr>
            </a:pPr>
            <a:r>
              <a:t>Put the chapter into safe practical nursing care</a:t>
            </a:r>
          </a:p>
        </p:txBody>
      </p:sp>
      <p:sp>
        <p:nvSpPr>
          <p:cNvPr id="2" name="practice-lead">
            <a:extLst xmlns:a="http://schemas.openxmlformats.org/drawingml/2006/main">
              <a:ext uri="{FF2B5EF4-FFF2-40B4-BE49-F238E27FC236}">
                <a16:creationId xmlns:a16="http://schemas.microsoft.com/office/drawing/2014/main" id="{EC10E6F9-4A78-43A7-8397-DB8A90C45C47}"/>
              </a:ext>
            </a:extLst>
          </p:cNvPr>
          <p:cNvSpPr>
            <a:spLocks xmlns:a="http://schemas.openxmlformats.org/drawingml/2006/main" noGrp="1"/>
          </p:cNvSpPr>
          <p:nvPr/>
        </p:nvSpPr>
        <p:spPr>
          <a:xfrm xmlns:a="http://schemas.openxmlformats.org/drawingml/2006/main">
            <a:off x="393668" y="1722406"/>
            <a:ext cx="5537168" cy="952500"/>
          </a:xfrm>
          <a:prstGeom xmlns:a="http://schemas.openxmlformats.org/drawingml/2006/main" prst="rect">
            <a:avLst/>
          </a:prstGeom>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2250" b="1">
                <a:solidFill>
                  <a:srgbClr val="2B6976"/>
                </a:solidFill>
                <a:latin typeface="Helvetica Neue"/>
                <a:ea typeface="Helvetica Neue"/>
                <a:cs typeface="Helvetica Neue"/>
              </a:defRPr>
            </a:pPr>
            <a:r>
              <a:t>Break the chain before an exposure becomes an infection.</a:t>
            </a:r>
          </a:p>
        </p:txBody>
      </p:sp>
      <p:sp>
        <p:nvSpPr>
          <p:cNvPr id="3" name="practice-body">
            <a:extLst xmlns:a="http://schemas.openxmlformats.org/drawingml/2006/main">
              <a:ext uri="{FF2B5EF4-FFF2-40B4-BE49-F238E27FC236}">
                <a16:creationId xmlns:a16="http://schemas.microsoft.com/office/drawing/2014/main" id="{DBF7B00A-70BF-416C-A867-243EA0D2F253}"/>
              </a:ext>
            </a:extLst>
          </p:cNvPr>
          <p:cNvSpPr>
            <a:spLocks xmlns:a="http://schemas.openxmlformats.org/drawingml/2006/main" noGrp="1"/>
          </p:cNvSpPr>
          <p:nvPr/>
        </p:nvSpPr>
        <p:spPr>
          <a:xfrm xmlns:a="http://schemas.openxmlformats.org/drawingml/2006/main">
            <a:off x="393668" y="2990279"/>
            <a:ext cx="5537168" cy="2884646"/>
          </a:xfrm>
          <a:prstGeom xmlns:a="http://schemas.openxmlformats.org/drawingml/2006/main" prst="rect">
            <a:avLst/>
          </a:prstGeom>
        </p:spPr>
        <p:txBody>
          <a:bodyPr xmlns:a="http://schemas.openxmlformats.org/drawingml/2006/main" lIns="0" tIns="0" rIns="0" bIns="0" anchor="t">
            <a:noAutofit/>
          </a:bodyPr>
          <a:lstStyle xmlns:a="http://schemas.openxmlformats.org/drawingml/2006/main"/>
          <a:p xmlns:a="http://schemas.openxmlformats.org/drawingml/2006/main">
            <a:pPr algn="l">
              <a:defRPr sz="1725">
                <a:solidFill>
                  <a:srgbClr val="18232F"/>
                </a:solidFill>
                <a:latin typeface="Helvetica Neue"/>
                <a:ea typeface="Helvetica Neue"/>
                <a:cs typeface="Helvetica Neue"/>
              </a:defRPr>
            </a:pPr>
            <a:r>
              <a:t>Perform hand hygiene at the right moments, choose PPE before contact, and protect clean or sterile fields. If contamination occurs, stop, correct it, and report exposure or signs of infection promptly.</a:t>
            </a:r>
          </a:p>
        </p:txBody>
      </p:sp>
      <p:sp>
        <p:nvSpPr>
          <p:cNvPr id="4" name="slide-number">
            <a:extLst xmlns:a="http://schemas.openxmlformats.org/drawingml/2006/main">
              <a:ext uri="{FF2B5EF4-FFF2-40B4-BE49-F238E27FC236}">
                <a16:creationId xmlns:a16="http://schemas.microsoft.com/office/drawing/2014/main" id="{00BE031E-1C4E-4515-A311-B992AC19B1CD}"/>
              </a:ext>
            </a:extLst>
          </p:cNvPr>
          <p:cNvSpPr>
            <a:spLocks xmlns:a="http://schemas.openxmlformats.org/drawingml/2006/main" noGrp="1"/>
          </p:cNvSpPr>
          <p:nvPr/>
        </p:nvSpPr>
        <p:spPr>
          <a:xfrm xmlns:a="http://schemas.openxmlformats.org/drawingml/2006/main">
            <a:off x="11279315" y="6279261"/>
            <a:ext cx="518922" cy="241268"/>
          </a:xfrm>
          <a:prstGeom xmlns:a="http://schemas.openxmlformats.org/drawingml/2006/main" prst="rect">
            <a:avLst/>
          </a:prstGeom>
        </p:spPr>
        <p:txBody>
          <a:bodyPr xmlns:a="http://schemas.openxmlformats.org/drawingml/2006/main" lIns="0" tIns="0" rIns="0" bIns="0" anchor="b"/>
          <a:lstStyle xmlns:a="http://schemas.openxmlformats.org/drawingml/2006/main"/>
          <a:p xmlns:a="http://schemas.openxmlformats.org/drawingml/2006/main">
            <a:pPr algn="r">
              <a:defRPr sz="1200">
                <a:solidFill>
                  <a:srgbClr val="596B7B"/>
                </a:solidFill>
                <a:latin typeface="Helvetica Neue"/>
                <a:ea typeface="Helvetica Neue"/>
                <a:cs typeface="Helvetica Neue"/>
              </a:defRPr>
            </a:pPr>
            <a:r>
              <a:t>3</a:t>
            </a:r>
          </a:p>
        </p:txBody>
      </p:sp>
      <p:sp>
        <p:nvSpPr>
          <p:cNvPr id="5" name="check-1">
            <a:extLst xmlns:a="http://schemas.openxmlformats.org/drawingml/2006/main">
              <a:ext uri="{FF2B5EF4-FFF2-40B4-BE49-F238E27FC236}">
                <a16:creationId xmlns:a16="http://schemas.microsoft.com/office/drawing/2014/main" id="{EC0D046C-D7F7-4E8A-BD1A-2264010922B5}"/>
              </a:ext>
            </a:extLst>
          </p:cNvPr>
          <p:cNvSpPr>
            <a:spLocks xmlns:a="http://schemas.openxmlformats.org/drawingml/2006/main" noGrp="1"/>
          </p:cNvSpPr>
          <p:nvPr/>
        </p:nvSpPr>
        <p:spPr>
          <a:xfrm xmlns:a="http://schemas.openxmlformats.org/drawingml/2006/main">
            <a:off x="7507700" y="2999804"/>
            <a:ext cx="266700" cy="304800"/>
          </a:xfrm>
          <a:prstGeom xmlns:a="http://schemas.openxmlformats.org/drawingml/2006/main" prst="rect">
            <a:avLst/>
          </a:prstGeom>
        </p:spPr>
        <p:txBody>
          <a:bodyPr xmlns:a="http://schemas.openxmlformats.org/drawingml/2006/main" lIns="0" tIns="0" rIns="0" bIns="0" anchor="t"/>
          <a:lstStyle xmlns:a="http://schemas.openxmlformats.org/drawingml/2006/main"/>
          <a:p xmlns:a="http://schemas.openxmlformats.org/drawingml/2006/main">
            <a:pPr algn="l">
              <a:defRPr sz="1800" b="1">
                <a:solidFill>
                  <a:srgbClr val="2B6976"/>
                </a:solidFill>
                <a:latin typeface="Helvetica Neue"/>
                <a:ea typeface="Helvetica Neue"/>
                <a:cs typeface="Helvetica Neue"/>
              </a:defRPr>
            </a:pPr>
            <a:r>
              <a:t>✓</a:t>
            </a:r>
          </a:p>
        </p:txBody>
      </p:sp>
      <p:sp>
        <p:nvSpPr>
          <p:cNvPr id="6" name="check-label-1">
            <a:extLst xmlns:a="http://schemas.openxmlformats.org/drawingml/2006/main">
              <a:ext uri="{FF2B5EF4-FFF2-40B4-BE49-F238E27FC236}">
                <a16:creationId xmlns:a16="http://schemas.microsoft.com/office/drawing/2014/main" id="{3F443D15-258A-4EA4-A355-6C6B9F9E9C55}"/>
              </a:ext>
            </a:extLst>
          </p:cNvPr>
          <p:cNvSpPr>
            <a:spLocks xmlns:a="http://schemas.openxmlformats.org/drawingml/2006/main" noGrp="1"/>
          </p:cNvSpPr>
          <p:nvPr/>
        </p:nvSpPr>
        <p:spPr>
          <a:xfrm xmlns:a="http://schemas.openxmlformats.org/drawingml/2006/main">
            <a:off x="7886700" y="2990279"/>
            <a:ext cx="3911632" cy="548735"/>
          </a:xfrm>
          <a:prstGeom xmlns:a="http://schemas.openxmlformats.org/drawingml/2006/main" prst="rect">
            <a:avLst/>
          </a:prstGeom>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800">
                <a:solidFill>
                  <a:srgbClr val="18232F"/>
                </a:solidFill>
                <a:latin typeface="Helvetica Neue"/>
                <a:ea typeface="Helvetica Neue"/>
                <a:cs typeface="Helvetica Neue"/>
              </a:defRPr>
            </a:pPr>
            <a:r>
              <a:t>Assess the exposure risk</a:t>
            </a:r>
          </a:p>
        </p:txBody>
      </p:sp>
      <p:sp>
        <p:nvSpPr>
          <p:cNvPr id="7" name="check-2">
            <a:extLst xmlns:a="http://schemas.openxmlformats.org/drawingml/2006/main">
              <a:ext uri="{FF2B5EF4-FFF2-40B4-BE49-F238E27FC236}">
                <a16:creationId xmlns:a16="http://schemas.microsoft.com/office/drawing/2014/main" id="{5F2A0422-0340-4AA1-8A10-75FE8CA4169F}"/>
              </a:ext>
            </a:extLst>
          </p:cNvPr>
          <p:cNvSpPr>
            <a:spLocks xmlns:a="http://schemas.openxmlformats.org/drawingml/2006/main" noGrp="1"/>
          </p:cNvSpPr>
          <p:nvPr/>
        </p:nvSpPr>
        <p:spPr>
          <a:xfrm xmlns:a="http://schemas.openxmlformats.org/drawingml/2006/main">
            <a:off x="7507700" y="3609404"/>
            <a:ext cx="266700" cy="304800"/>
          </a:xfrm>
          <a:prstGeom xmlns:a="http://schemas.openxmlformats.org/drawingml/2006/main" prst="rect">
            <a:avLst/>
          </a:prstGeom>
        </p:spPr>
        <p:txBody>
          <a:bodyPr xmlns:a="http://schemas.openxmlformats.org/drawingml/2006/main" lIns="0" tIns="0" rIns="0" bIns="0" anchor="t"/>
          <a:lstStyle xmlns:a="http://schemas.openxmlformats.org/drawingml/2006/main"/>
          <a:p xmlns:a="http://schemas.openxmlformats.org/drawingml/2006/main">
            <a:pPr algn="l">
              <a:defRPr sz="1800" b="1">
                <a:solidFill>
                  <a:srgbClr val="2B6976"/>
                </a:solidFill>
                <a:latin typeface="Helvetica Neue"/>
                <a:ea typeface="Helvetica Neue"/>
                <a:cs typeface="Helvetica Neue"/>
              </a:defRPr>
            </a:pPr>
            <a:r>
              <a:t>✓</a:t>
            </a:r>
          </a:p>
        </p:txBody>
      </p:sp>
      <p:sp>
        <p:nvSpPr>
          <p:cNvPr id="8" name="check-label-2">
            <a:extLst xmlns:a="http://schemas.openxmlformats.org/drawingml/2006/main">
              <a:ext uri="{FF2B5EF4-FFF2-40B4-BE49-F238E27FC236}">
                <a16:creationId xmlns:a16="http://schemas.microsoft.com/office/drawing/2014/main" id="{F869111F-86D8-4691-A6B7-A72BBE9586B5}"/>
              </a:ext>
            </a:extLst>
          </p:cNvPr>
          <p:cNvSpPr>
            <a:spLocks xmlns:a="http://schemas.openxmlformats.org/drawingml/2006/main" noGrp="1"/>
          </p:cNvSpPr>
          <p:nvPr/>
        </p:nvSpPr>
        <p:spPr>
          <a:xfrm xmlns:a="http://schemas.openxmlformats.org/drawingml/2006/main">
            <a:off x="7886700" y="3599879"/>
            <a:ext cx="3911632" cy="548735"/>
          </a:xfrm>
          <a:prstGeom xmlns:a="http://schemas.openxmlformats.org/drawingml/2006/main" prst="rect">
            <a:avLst/>
          </a:prstGeom>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800">
                <a:solidFill>
                  <a:srgbClr val="18232F"/>
                </a:solidFill>
                <a:latin typeface="Helvetica Neue"/>
                <a:ea typeface="Helvetica Neue"/>
                <a:cs typeface="Helvetica Neue"/>
              </a:defRPr>
            </a:pPr>
            <a:r>
              <a:t>Clean hands correctly</a:t>
            </a:r>
          </a:p>
        </p:txBody>
      </p:sp>
      <p:sp>
        <p:nvSpPr>
          <p:cNvPr id="9" name="check-3">
            <a:extLst xmlns:a="http://schemas.openxmlformats.org/drawingml/2006/main">
              <a:ext uri="{FF2B5EF4-FFF2-40B4-BE49-F238E27FC236}">
                <a16:creationId xmlns:a16="http://schemas.microsoft.com/office/drawing/2014/main" id="{CB776C7B-654E-4678-8545-B2BC1253226C}"/>
              </a:ext>
            </a:extLst>
          </p:cNvPr>
          <p:cNvSpPr>
            <a:spLocks xmlns:a="http://schemas.openxmlformats.org/drawingml/2006/main" noGrp="1"/>
          </p:cNvSpPr>
          <p:nvPr/>
        </p:nvSpPr>
        <p:spPr>
          <a:xfrm xmlns:a="http://schemas.openxmlformats.org/drawingml/2006/main">
            <a:off x="7507700" y="4224338"/>
            <a:ext cx="266700" cy="304800"/>
          </a:xfrm>
          <a:prstGeom xmlns:a="http://schemas.openxmlformats.org/drawingml/2006/main" prst="rect">
            <a:avLst/>
          </a:prstGeom>
        </p:spPr>
        <p:txBody>
          <a:bodyPr xmlns:a="http://schemas.openxmlformats.org/drawingml/2006/main" lIns="0" tIns="0" rIns="0" bIns="0" anchor="t"/>
          <a:lstStyle xmlns:a="http://schemas.openxmlformats.org/drawingml/2006/main"/>
          <a:p xmlns:a="http://schemas.openxmlformats.org/drawingml/2006/main">
            <a:pPr algn="l">
              <a:defRPr sz="1800" b="1">
                <a:solidFill>
                  <a:srgbClr val="2B6976"/>
                </a:solidFill>
                <a:latin typeface="Helvetica Neue"/>
                <a:ea typeface="Helvetica Neue"/>
                <a:cs typeface="Helvetica Neue"/>
              </a:defRPr>
            </a:pPr>
            <a:r>
              <a:t>✓</a:t>
            </a:r>
          </a:p>
        </p:txBody>
      </p:sp>
      <p:sp>
        <p:nvSpPr>
          <p:cNvPr id="10" name="check-label-3">
            <a:extLst xmlns:a="http://schemas.openxmlformats.org/drawingml/2006/main">
              <a:ext uri="{FF2B5EF4-FFF2-40B4-BE49-F238E27FC236}">
                <a16:creationId xmlns:a16="http://schemas.microsoft.com/office/drawing/2014/main" id="{032B9E23-4B07-4CEF-B6E2-63EAFDA55C17}"/>
              </a:ext>
            </a:extLst>
          </p:cNvPr>
          <p:cNvSpPr>
            <a:spLocks xmlns:a="http://schemas.openxmlformats.org/drawingml/2006/main" noGrp="1"/>
          </p:cNvSpPr>
          <p:nvPr/>
        </p:nvSpPr>
        <p:spPr>
          <a:xfrm xmlns:a="http://schemas.openxmlformats.org/drawingml/2006/main">
            <a:off x="7886700" y="4214813"/>
            <a:ext cx="3911632" cy="548735"/>
          </a:xfrm>
          <a:prstGeom xmlns:a="http://schemas.openxmlformats.org/drawingml/2006/main" prst="rect">
            <a:avLst/>
          </a:prstGeom>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800">
                <a:solidFill>
                  <a:srgbClr val="18232F"/>
                </a:solidFill>
                <a:latin typeface="Helvetica Neue"/>
                <a:ea typeface="Helvetica Neue"/>
                <a:cs typeface="Helvetica Neue"/>
              </a:defRPr>
            </a:pPr>
            <a:r>
              <a:t>Choose and remove PPE safely</a:t>
            </a:r>
          </a:p>
        </p:txBody>
      </p:sp>
      <p:sp>
        <p:nvSpPr>
          <p:cNvPr id="11" name="check-4">
            <a:extLst xmlns:a="http://schemas.openxmlformats.org/drawingml/2006/main">
              <a:ext uri="{FF2B5EF4-FFF2-40B4-BE49-F238E27FC236}">
                <a16:creationId xmlns:a16="http://schemas.microsoft.com/office/drawing/2014/main" id="{5D40B76B-70EA-43BF-9D51-BDC623E95288}"/>
              </a:ext>
            </a:extLst>
          </p:cNvPr>
          <p:cNvSpPr>
            <a:spLocks xmlns:a="http://schemas.openxmlformats.org/drawingml/2006/main" noGrp="1"/>
          </p:cNvSpPr>
          <p:nvPr/>
        </p:nvSpPr>
        <p:spPr>
          <a:xfrm xmlns:a="http://schemas.openxmlformats.org/drawingml/2006/main">
            <a:off x="7507700" y="4833842"/>
            <a:ext cx="266700" cy="304800"/>
          </a:xfrm>
          <a:prstGeom xmlns:a="http://schemas.openxmlformats.org/drawingml/2006/main" prst="rect">
            <a:avLst/>
          </a:prstGeom>
        </p:spPr>
        <p:txBody>
          <a:bodyPr xmlns:a="http://schemas.openxmlformats.org/drawingml/2006/main" lIns="0" tIns="0" rIns="0" bIns="0" anchor="t"/>
          <a:lstStyle xmlns:a="http://schemas.openxmlformats.org/drawingml/2006/main"/>
          <a:p xmlns:a="http://schemas.openxmlformats.org/drawingml/2006/main">
            <a:pPr algn="l">
              <a:defRPr sz="1800" b="1">
                <a:solidFill>
                  <a:srgbClr val="2B6976"/>
                </a:solidFill>
                <a:latin typeface="Helvetica Neue"/>
                <a:ea typeface="Helvetica Neue"/>
                <a:cs typeface="Helvetica Neue"/>
              </a:defRPr>
            </a:pPr>
            <a:r>
              <a:t>✓</a:t>
            </a:r>
          </a:p>
        </p:txBody>
      </p:sp>
      <p:sp>
        <p:nvSpPr>
          <p:cNvPr id="12" name="check-label-4">
            <a:extLst xmlns:a="http://schemas.openxmlformats.org/drawingml/2006/main">
              <a:ext uri="{FF2B5EF4-FFF2-40B4-BE49-F238E27FC236}">
                <a16:creationId xmlns:a16="http://schemas.microsoft.com/office/drawing/2014/main" id="{EE044850-34C1-4B7A-8258-DDB6A62781F5}"/>
              </a:ext>
            </a:extLst>
          </p:cNvPr>
          <p:cNvSpPr>
            <a:spLocks xmlns:a="http://schemas.openxmlformats.org/drawingml/2006/main" noGrp="1"/>
          </p:cNvSpPr>
          <p:nvPr/>
        </p:nvSpPr>
        <p:spPr>
          <a:xfrm xmlns:a="http://schemas.openxmlformats.org/drawingml/2006/main">
            <a:off x="7886700" y="4824317"/>
            <a:ext cx="3911632" cy="548735"/>
          </a:xfrm>
          <a:prstGeom xmlns:a="http://schemas.openxmlformats.org/drawingml/2006/main" prst="rect">
            <a:avLst/>
          </a:prstGeom>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800">
                <a:solidFill>
                  <a:srgbClr val="18232F"/>
                </a:solidFill>
                <a:latin typeface="Helvetica Neue"/>
                <a:ea typeface="Helvetica Neue"/>
                <a:cs typeface="Helvetica Neue"/>
              </a:defRPr>
            </a:pPr>
            <a:r>
              <a:t>Protect the field</a:t>
            </a:r>
          </a:p>
        </p:txBody>
      </p:sp>
      <p:sp>
        <p:nvSpPr>
          <p:cNvPr id="13" name="check-5">
            <a:extLst xmlns:a="http://schemas.openxmlformats.org/drawingml/2006/main">
              <a:ext uri="{FF2B5EF4-FFF2-40B4-BE49-F238E27FC236}">
                <a16:creationId xmlns:a16="http://schemas.microsoft.com/office/drawing/2014/main" id="{8D10CA13-7F16-4660-B9DE-5A9C2BCB25E8}"/>
              </a:ext>
            </a:extLst>
          </p:cNvPr>
          <p:cNvSpPr>
            <a:spLocks xmlns:a="http://schemas.openxmlformats.org/drawingml/2006/main" noGrp="1"/>
          </p:cNvSpPr>
          <p:nvPr/>
        </p:nvSpPr>
        <p:spPr>
          <a:xfrm xmlns:a="http://schemas.openxmlformats.org/drawingml/2006/main">
            <a:off x="7507700" y="5456206"/>
            <a:ext cx="266700" cy="304800"/>
          </a:xfrm>
          <a:prstGeom xmlns:a="http://schemas.openxmlformats.org/drawingml/2006/main" prst="rect">
            <a:avLst/>
          </a:prstGeom>
        </p:spPr>
        <p:txBody>
          <a:bodyPr xmlns:a="http://schemas.openxmlformats.org/drawingml/2006/main" lIns="0" tIns="0" rIns="0" bIns="0" anchor="t"/>
          <a:lstStyle xmlns:a="http://schemas.openxmlformats.org/drawingml/2006/main"/>
          <a:p xmlns:a="http://schemas.openxmlformats.org/drawingml/2006/main">
            <a:pPr algn="l">
              <a:defRPr sz="1800" b="1">
                <a:solidFill>
                  <a:srgbClr val="2B6976"/>
                </a:solidFill>
                <a:latin typeface="Helvetica Neue"/>
                <a:ea typeface="Helvetica Neue"/>
                <a:cs typeface="Helvetica Neue"/>
              </a:defRPr>
            </a:pPr>
            <a:r>
              <a:t>✓</a:t>
            </a:r>
          </a:p>
        </p:txBody>
      </p:sp>
      <p:sp>
        <p:nvSpPr>
          <p:cNvPr id="14" name="check-label-5">
            <a:extLst xmlns:a="http://schemas.openxmlformats.org/drawingml/2006/main">
              <a:ext uri="{FF2B5EF4-FFF2-40B4-BE49-F238E27FC236}">
                <a16:creationId xmlns:a16="http://schemas.microsoft.com/office/drawing/2014/main" id="{34637C49-7CEF-4AA7-894A-CC59E517DD17}"/>
              </a:ext>
            </a:extLst>
          </p:cNvPr>
          <p:cNvSpPr>
            <a:spLocks xmlns:a="http://schemas.openxmlformats.org/drawingml/2006/main" noGrp="1"/>
          </p:cNvSpPr>
          <p:nvPr/>
        </p:nvSpPr>
        <p:spPr>
          <a:xfrm xmlns:a="http://schemas.openxmlformats.org/drawingml/2006/main">
            <a:off x="7886700" y="5446681"/>
            <a:ext cx="3911632" cy="548735"/>
          </a:xfrm>
          <a:prstGeom xmlns:a="http://schemas.openxmlformats.org/drawingml/2006/main" prst="rect">
            <a:avLst/>
          </a:prstGeom>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800">
                <a:solidFill>
                  <a:srgbClr val="18232F"/>
                </a:solidFill>
                <a:latin typeface="Helvetica Neue"/>
                <a:ea typeface="Helvetica Neue"/>
                <a:cs typeface="Helvetica Neue"/>
              </a:defRPr>
            </a:pPr>
            <a:r>
              <a:t>Report exposure or infection signs</a:t>
            </a:r>
          </a:p>
        </p:txBody>
      </p:sp>
    </p:spTree>
    <p:extLst>
      <p:ext uri="{BB962C8B-B14F-4D97-AF65-F5344CB8AC3E}">
        <p14:creationId xmlns:p14="http://schemas.microsoft.com/office/powerpoint/2010/main" val="726545128"/>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5" name="closing-eyebrow">
            <a:extLst xmlns:a="http://schemas.openxmlformats.org/drawingml/2006/main">
              <a:ext uri="{FF2B5EF4-FFF2-40B4-BE49-F238E27FC236}">
                <a16:creationId xmlns:a16="http://schemas.microsoft.com/office/drawing/2014/main" id="{F416D393-7AE0-4297-BFF0-CE5A88D21DC9}"/>
              </a:ext>
            </a:extLst>
          </p:cNvPr>
          <p:cNvSpPr>
            <a:spLocks xmlns:a="http://schemas.openxmlformats.org/drawingml/2006/main" noGrp="1"/>
          </p:cNvSpPr>
          <p:nvPr/>
        </p:nvSpPr>
        <p:spPr>
          <a:xfrm xmlns:a="http://schemas.openxmlformats.org/drawingml/2006/main">
            <a:off x="393668" y="392240"/>
            <a:ext cx="7239000" cy="649129"/>
          </a:xfrm>
          <a:prstGeom xmlns:a="http://schemas.openxmlformats.org/drawingml/2006/main" prst="rect">
            <a:avLst/>
          </a:prstGeom>
        </p:spPr>
        <p:txBody>
          <a:bodyPr xmlns:a="http://schemas.openxmlformats.org/drawingml/2006/main" lIns="0" tIns="0" rIns="0" bIns="0">
            <a:noAutofit/>
          </a:bodyPr>
          <a:lstStyle xmlns:a="http://schemas.openxmlformats.org/drawingml/2006/main"/>
          <a:p xmlns:a="http://schemas.openxmlformats.org/drawingml/2006/main">
            <a:pPr algn="l">
              <a:defRPr sz="1800" b="1">
                <a:solidFill>
                  <a:srgbClr val="2B6976"/>
                </a:solidFill>
                <a:latin typeface="Helvetica Neue"/>
                <a:ea typeface="Helvetica Neue"/>
                <a:cs typeface="Helvetica Neue"/>
              </a:defRPr>
            </a:pPr>
            <a:r>
              <a:t>RECOGNIZE  →  ACT  →  REPORT</a:t>
            </a:r>
          </a:p>
        </p:txBody>
      </p:sp>
      <p:sp>
        <p:nvSpPr>
          <p:cNvPr id="2" name="closing-message">
            <a:extLst xmlns:a="http://schemas.openxmlformats.org/drawingml/2006/main">
              <a:ext uri="{FF2B5EF4-FFF2-40B4-BE49-F238E27FC236}">
                <a16:creationId xmlns:a16="http://schemas.microsoft.com/office/drawing/2014/main" id="{D75BF73E-562E-4DB4-81BC-FBB18D1B3561}"/>
              </a:ext>
            </a:extLst>
          </p:cNvPr>
          <p:cNvSpPr>
            <a:spLocks xmlns:a="http://schemas.openxmlformats.org/drawingml/2006/main" noGrp="1"/>
          </p:cNvSpPr>
          <p:nvPr/>
        </p:nvSpPr>
        <p:spPr>
          <a:xfrm xmlns:a="http://schemas.openxmlformats.org/drawingml/2006/main">
            <a:off x="393668" y="1738789"/>
            <a:ext cx="10001250" cy="2491454"/>
          </a:xfrm>
          <a:prstGeom xmlns:a="http://schemas.openxmlformats.org/drawingml/2006/main" prst="rect">
            <a:avLst/>
          </a:prstGeom>
        </p:spPr>
        <p:txBody>
          <a:bodyPr xmlns:a="http://schemas.openxmlformats.org/drawingml/2006/main" lIns="0" tIns="0" rIns="0" bIns="0" anchor="b">
            <a:noAutofit/>
          </a:bodyPr>
          <a:lstStyle xmlns:a="http://schemas.openxmlformats.org/drawingml/2006/main"/>
          <a:p xmlns:a="http://schemas.openxmlformats.org/drawingml/2006/main">
            <a:pPr algn="l">
              <a:defRPr sz="4800" b="1">
                <a:solidFill>
                  <a:srgbClr val="18232F"/>
                </a:solidFill>
                <a:latin typeface="Helvetica Neue"/>
                <a:ea typeface="Helvetica Neue"/>
                <a:cs typeface="Helvetica Neue"/>
              </a:defRPr>
            </a:pPr>
            <a:r>
              <a:t>Recognize the route.
Break the chain.
Report the exposure.</a:t>
            </a:r>
          </a:p>
        </p:txBody>
      </p:sp>
      <p:sp>
        <p:nvSpPr>
          <p:cNvPr id="3" name="closing-prompt">
            <a:extLst xmlns:a="http://schemas.openxmlformats.org/drawingml/2006/main">
              <a:ext uri="{FF2B5EF4-FFF2-40B4-BE49-F238E27FC236}">
                <a16:creationId xmlns:a16="http://schemas.microsoft.com/office/drawing/2014/main" id="{B8E1D1C4-C940-4D63-AD91-F46CAEF8D7CC}"/>
              </a:ext>
            </a:extLst>
          </p:cNvPr>
          <p:cNvSpPr>
            <a:spLocks xmlns:a="http://schemas.openxmlformats.org/drawingml/2006/main" noGrp="1"/>
          </p:cNvSpPr>
          <p:nvPr/>
        </p:nvSpPr>
        <p:spPr>
          <a:xfrm xmlns:a="http://schemas.openxmlformats.org/drawingml/2006/main">
            <a:off x="393668" y="4742212"/>
            <a:ext cx="8572500" cy="1080230"/>
          </a:xfrm>
          <a:prstGeom xmlns:a="http://schemas.openxmlformats.org/drawingml/2006/main" prst="rect">
            <a:avLst/>
          </a:prstGeom>
        </p:spPr>
        <p:txBody>
          <a:bodyPr xmlns:a="http://schemas.openxmlformats.org/drawingml/2006/main" lIns="0" tIns="0" rIns="0" bIns="0">
            <a:noAutofit/>
          </a:bodyPr>
          <a:lstStyle xmlns:a="http://schemas.openxmlformats.org/drawingml/2006/main"/>
          <a:p xmlns:a="http://schemas.openxmlformats.org/drawingml/2006/main">
            <a:pPr algn="l">
              <a:defRPr sz="2025">
                <a:solidFill>
                  <a:srgbClr val="596B7B"/>
                </a:solidFill>
                <a:latin typeface="Helvetica Neue"/>
                <a:ea typeface="Helvetica Neue"/>
                <a:cs typeface="Helvetica Neue"/>
              </a:defRPr>
            </a:pPr>
            <a:r>
              <a:t>Before moving on, explain the cue, your immediate action within scope, and the facts you would report.</a:t>
            </a:r>
          </a:p>
        </p:txBody>
      </p:sp>
      <p:sp>
        <p:nvSpPr>
          <p:cNvPr id="4" name="slide-number">
            <a:extLst xmlns:a="http://schemas.openxmlformats.org/drawingml/2006/main">
              <a:ext uri="{FF2B5EF4-FFF2-40B4-BE49-F238E27FC236}">
                <a16:creationId xmlns:a16="http://schemas.microsoft.com/office/drawing/2014/main" id="{3F83C2E9-E6AE-46B6-80A2-A34B3B2877EA}"/>
              </a:ext>
            </a:extLst>
          </p:cNvPr>
          <p:cNvSpPr>
            <a:spLocks xmlns:a="http://schemas.openxmlformats.org/drawingml/2006/main" noGrp="1"/>
          </p:cNvSpPr>
          <p:nvPr/>
        </p:nvSpPr>
        <p:spPr>
          <a:xfrm xmlns:a="http://schemas.openxmlformats.org/drawingml/2006/main">
            <a:off x="11279315" y="6279261"/>
            <a:ext cx="518922" cy="241268"/>
          </a:xfrm>
          <a:prstGeom xmlns:a="http://schemas.openxmlformats.org/drawingml/2006/main" prst="rect">
            <a:avLst/>
          </a:prstGeom>
        </p:spPr>
        <p:txBody>
          <a:bodyPr xmlns:a="http://schemas.openxmlformats.org/drawingml/2006/main" lIns="0" tIns="0" rIns="0" bIns="0" anchor="b"/>
          <a:lstStyle xmlns:a="http://schemas.openxmlformats.org/drawingml/2006/main"/>
          <a:p xmlns:a="http://schemas.openxmlformats.org/drawingml/2006/main">
            <a:pPr algn="r">
              <a:defRPr sz="1200">
                <a:solidFill>
                  <a:srgbClr val="596B7B"/>
                </a:solidFill>
                <a:latin typeface="Helvetica Neue"/>
                <a:ea typeface="Helvetica Neue"/>
                <a:cs typeface="Helvetica Neue"/>
              </a:defRPr>
            </a:pPr>
            <a:r>
              <a:t>4</a:t>
            </a:r>
          </a:p>
        </p:txBody>
      </p:sp>
    </p:spTree>
    <p:extLst>
      <p:ext uri="{BB962C8B-B14F-4D97-AF65-F5344CB8AC3E}">
        <p14:creationId xmlns:p14="http://schemas.microsoft.com/office/powerpoint/2010/main" val="2037370238"/>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2026-07-30T05:24:54.0440000Z</dcterms:created>
  <dcterms:modified xsi:type="dcterms:W3CDTF">2026-07-30T05:24:54.0440000Z</dcterms:modified>
</coreProperties>
</file>