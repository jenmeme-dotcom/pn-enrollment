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4" r:id="rId1"/>
    <p:sldMasterId id="2147483735" r:id="rId2"/>
  </p:sldMasterIdLst>
  <p:notesMasterIdLst>
    <p:notesMasterId r:id="rId23"/>
  </p:notesMasterIdLst>
  <p:handoutMasterIdLst>
    <p:handoutMasterId r:id="rId24"/>
  </p:handoutMasterIdLst>
  <p:sldIdLst>
    <p:sldId id="454" r:id="rId3"/>
    <p:sldId id="372" r:id="rId4"/>
    <p:sldId id="460" r:id="rId5"/>
    <p:sldId id="457" r:id="rId6"/>
    <p:sldId id="458" r:id="rId7"/>
    <p:sldId id="459" r:id="rId8"/>
    <p:sldId id="461" r:id="rId9"/>
    <p:sldId id="462" r:id="rId10"/>
    <p:sldId id="463" r:id="rId11"/>
    <p:sldId id="455" r:id="rId12"/>
    <p:sldId id="456" r:id="rId13"/>
    <p:sldId id="464" r:id="rId14"/>
    <p:sldId id="465" r:id="rId15"/>
    <p:sldId id="466" r:id="rId16"/>
    <p:sldId id="467" r:id="rId17"/>
    <p:sldId id="468" r:id="rId18"/>
    <p:sldId id="469" r:id="rId19"/>
    <p:sldId id="471" r:id="rId20"/>
    <p:sldId id="470" r:id="rId21"/>
    <p:sldId id="472" r:id="rId22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2">
          <p15:clr>
            <a:srgbClr val="A4A3A4"/>
          </p15:clr>
        </p15:guide>
        <p15:guide id="3" pos="2880">
          <p15:clr>
            <a:srgbClr val="A4A3A4"/>
          </p15:clr>
        </p15:guide>
        <p15:guide id="4" pos="524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llen Kunkelmann" initials="AU" lastIdx="7" clrIdx="0"/>
  <p:cmAuthor id="1" name="Reed Elsevier" initials="RE" lastIdx="1" clrIdx="1"/>
  <p:cmAuthor id="2" name="Lisa" initials="L" lastIdx="1" clrIdx="2">
    <p:extLst>
      <p:ext uri="{19B8F6BF-5375-455C-9EA6-DF929625EA0E}">
        <p15:presenceInfo xmlns:p15="http://schemas.microsoft.com/office/powerpoint/2012/main" userId="Lis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4593D-E544-9414-96E0-ABA12CE5588D}" v="263" dt="2021-12-28T16:12:54.3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68" autoAdjust="0"/>
    <p:restoredTop sz="90175" autoAdjust="0"/>
  </p:normalViewPr>
  <p:slideViewPr>
    <p:cSldViewPr snapToGrid="0">
      <p:cViewPr varScale="1">
        <p:scale>
          <a:sx n="60" d="100"/>
          <a:sy n="60" d="100"/>
        </p:scale>
        <p:origin x="1220" y="48"/>
      </p:cViewPr>
      <p:guideLst>
        <p:guide orient="horz" pos="2160"/>
        <p:guide orient="horz" pos="1002"/>
        <p:guide pos="2880"/>
        <p:guide pos="524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2856" y="45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ya Spindler" userId="S::daya.spindler@g.austincc.edu::d47267c9-b69c-4d84-8d8d-9eb6067b7650" providerId="AD" clId="Web-{5984593D-E544-9414-96E0-ABA12CE5588D}"/>
    <pc:docChg chg="modSld">
      <pc:chgData name="Daya Spindler" userId="S::daya.spindler@g.austincc.edu::d47267c9-b69c-4d84-8d8d-9eb6067b7650" providerId="AD" clId="Web-{5984593D-E544-9414-96E0-ABA12CE5588D}" dt="2021-12-28T16:12:54.322" v="283"/>
      <pc:docMkLst>
        <pc:docMk/>
      </pc:docMkLst>
      <pc:sldChg chg="modSp">
        <pc:chgData name="Daya Spindler" userId="S::daya.spindler@g.austincc.edu::d47267c9-b69c-4d84-8d8d-9eb6067b7650" providerId="AD" clId="Web-{5984593D-E544-9414-96E0-ABA12CE5588D}" dt="2021-12-28T16:11:43.084" v="263"/>
        <pc:sldMkLst>
          <pc:docMk/>
          <pc:sldMk cId="0" sldId="372"/>
        </pc:sldMkLst>
        <pc:spChg chg="mod ord">
          <ac:chgData name="Daya Spindler" userId="S::daya.spindler@g.austincc.edu::d47267c9-b69c-4d84-8d8d-9eb6067b7650" providerId="AD" clId="Web-{5984593D-E544-9414-96E0-ABA12CE5588D}" dt="2021-12-28T16:11:43.084" v="263"/>
          <ac:spMkLst>
            <pc:docMk/>
            <pc:sldMk cId="0" sldId="372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5:29:06.253" v="1" actId="20577"/>
        <pc:sldMkLst>
          <pc:docMk/>
          <pc:sldMk cId="4149221392" sldId="454"/>
        </pc:sldMkLst>
        <pc:spChg chg="mod">
          <ac:chgData name="Daya Spindler" userId="S::daya.spindler@g.austincc.edu::d47267c9-b69c-4d84-8d8d-9eb6067b7650" providerId="AD" clId="Web-{5984593D-E544-9414-96E0-ABA12CE5588D}" dt="2021-12-28T15:29:06.253" v="1" actId="20577"/>
          <ac:spMkLst>
            <pc:docMk/>
            <pc:sldMk cId="4149221392" sldId="454"/>
            <ac:spMk id="5" creationId="{768FB6F7-A481-41DF-934F-28DB4F80864F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10.351" v="271"/>
        <pc:sldMkLst>
          <pc:docMk/>
          <pc:sldMk cId="3187513232" sldId="455"/>
        </pc:sldMkLst>
        <pc:spChg chg="mod ord">
          <ac:chgData name="Daya Spindler" userId="S::daya.spindler@g.austincc.edu::d47267c9-b69c-4d84-8d8d-9eb6067b7650" providerId="AD" clId="Web-{5984593D-E544-9414-96E0-ABA12CE5588D}" dt="2021-12-28T16:12:10.351" v="271"/>
          <ac:spMkLst>
            <pc:docMk/>
            <pc:sldMk cId="3187513232" sldId="455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14.992" v="272"/>
        <pc:sldMkLst>
          <pc:docMk/>
          <pc:sldMk cId="459917115" sldId="456"/>
        </pc:sldMkLst>
        <pc:spChg chg="mod ord">
          <ac:chgData name="Daya Spindler" userId="S::daya.spindler@g.austincc.edu::d47267c9-b69c-4d84-8d8d-9eb6067b7650" providerId="AD" clId="Web-{5984593D-E544-9414-96E0-ABA12CE5588D}" dt="2021-12-28T16:12:14.992" v="272"/>
          <ac:spMkLst>
            <pc:docMk/>
            <pc:sldMk cId="459917115" sldId="456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1:50.975" v="265"/>
        <pc:sldMkLst>
          <pc:docMk/>
          <pc:sldMk cId="1347131324" sldId="457"/>
        </pc:sldMkLst>
        <pc:spChg chg="mod">
          <ac:chgData name="Daya Spindler" userId="S::daya.spindler@g.austincc.edu::d47267c9-b69c-4d84-8d8d-9eb6067b7650" providerId="AD" clId="Web-{5984593D-E544-9414-96E0-ABA12CE5588D}" dt="2021-12-28T15:42:25.474" v="24" actId="20577"/>
          <ac:spMkLst>
            <pc:docMk/>
            <pc:sldMk cId="1347131324" sldId="457"/>
            <ac:spMk id="3" creationId="{36349A51-B653-436B-8C59-5D5EB7373513}"/>
          </ac:spMkLst>
        </pc:spChg>
        <pc:spChg chg="mod ord">
          <ac:chgData name="Daya Spindler" userId="S::daya.spindler@g.austincc.edu::d47267c9-b69c-4d84-8d8d-9eb6067b7650" providerId="AD" clId="Web-{5984593D-E544-9414-96E0-ABA12CE5588D}" dt="2021-12-28T16:11:50.975" v="265"/>
          <ac:spMkLst>
            <pc:docMk/>
            <pc:sldMk cId="1347131324" sldId="457"/>
            <ac:spMk id="5" creationId="{92EC647C-9A4F-4D16-B0AE-3C546B1C07B0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1:59.210" v="266"/>
        <pc:sldMkLst>
          <pc:docMk/>
          <pc:sldMk cId="1063734993" sldId="458"/>
        </pc:sldMkLst>
        <pc:spChg chg="mod ord">
          <ac:chgData name="Daya Spindler" userId="S::daya.spindler@g.austincc.edu::d47267c9-b69c-4d84-8d8d-9eb6067b7650" providerId="AD" clId="Web-{5984593D-E544-9414-96E0-ABA12CE5588D}" dt="2021-12-28T16:11:59.210" v="266"/>
          <ac:spMkLst>
            <pc:docMk/>
            <pc:sldMk cId="1063734993" sldId="458"/>
            <ac:spMk id="5" creationId="{39ACA531-7F93-45BA-B0F2-C57DEE9C3923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01.256" v="267"/>
        <pc:sldMkLst>
          <pc:docMk/>
          <pc:sldMk cId="3685603576" sldId="459"/>
        </pc:sldMkLst>
        <pc:spChg chg="mod ord">
          <ac:chgData name="Daya Spindler" userId="S::daya.spindler@g.austincc.edu::d47267c9-b69c-4d84-8d8d-9eb6067b7650" providerId="AD" clId="Web-{5984593D-E544-9414-96E0-ABA12CE5588D}" dt="2021-12-28T16:12:01.256" v="267"/>
          <ac:spMkLst>
            <pc:docMk/>
            <pc:sldMk cId="3685603576" sldId="459"/>
            <ac:spMk id="5" creationId="{915A5ACC-0C2A-43CE-9727-9D5C92A94C14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1:45.459" v="264"/>
        <pc:sldMkLst>
          <pc:docMk/>
          <pc:sldMk cId="2151946505" sldId="460"/>
        </pc:sldMkLst>
        <pc:spChg chg="mod ord">
          <ac:chgData name="Daya Spindler" userId="S::daya.spindler@g.austincc.edu::d47267c9-b69c-4d84-8d8d-9eb6067b7650" providerId="AD" clId="Web-{5984593D-E544-9414-96E0-ABA12CE5588D}" dt="2021-12-28T16:11:45.459" v="264"/>
          <ac:spMkLst>
            <pc:docMk/>
            <pc:sldMk cId="2151946505" sldId="460"/>
            <ac:spMk id="5" creationId="{3937682C-318F-4607-B0A1-1D2838A52010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03.194" v="268"/>
        <pc:sldMkLst>
          <pc:docMk/>
          <pc:sldMk cId="4021831790" sldId="461"/>
        </pc:sldMkLst>
        <pc:spChg chg="mod ord">
          <ac:chgData name="Daya Spindler" userId="S::daya.spindler@g.austincc.edu::d47267c9-b69c-4d84-8d8d-9eb6067b7650" providerId="AD" clId="Web-{5984593D-E544-9414-96E0-ABA12CE5588D}" dt="2021-12-28T16:12:03.194" v="268"/>
          <ac:spMkLst>
            <pc:docMk/>
            <pc:sldMk cId="4021831790" sldId="461"/>
            <ac:spMk id="5" creationId="{9C01455C-45CF-4266-82AE-019A6E79AA8F}"/>
          </ac:spMkLst>
        </pc:spChg>
      </pc:sldChg>
      <pc:sldChg chg="modSp modNotes">
        <pc:chgData name="Daya Spindler" userId="S::daya.spindler@g.austincc.edu::d47267c9-b69c-4d84-8d8d-9eb6067b7650" providerId="AD" clId="Web-{5984593D-E544-9414-96E0-ABA12CE5588D}" dt="2021-12-28T16:12:05.585" v="269"/>
        <pc:sldMkLst>
          <pc:docMk/>
          <pc:sldMk cId="3458213654" sldId="462"/>
        </pc:sldMkLst>
        <pc:spChg chg="mod">
          <ac:chgData name="Daya Spindler" userId="S::daya.spindler@g.austincc.edu::d47267c9-b69c-4d84-8d8d-9eb6067b7650" providerId="AD" clId="Web-{5984593D-E544-9414-96E0-ABA12CE5588D}" dt="2021-12-28T15:48:46.057" v="69" actId="20577"/>
          <ac:spMkLst>
            <pc:docMk/>
            <pc:sldMk cId="3458213654" sldId="462"/>
            <ac:spMk id="3" creationId="{720D182B-01F7-49BB-A1D6-83A1758FB009}"/>
          </ac:spMkLst>
        </pc:spChg>
        <pc:spChg chg="mod ord">
          <ac:chgData name="Daya Spindler" userId="S::daya.spindler@g.austincc.edu::d47267c9-b69c-4d84-8d8d-9eb6067b7650" providerId="AD" clId="Web-{5984593D-E544-9414-96E0-ABA12CE5588D}" dt="2021-12-28T16:12:05.585" v="269"/>
          <ac:spMkLst>
            <pc:docMk/>
            <pc:sldMk cId="3458213654" sldId="462"/>
            <ac:spMk id="5" creationId="{E9B1EF52-A582-48C1-80F0-C7DAEEA9A146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07.851" v="270"/>
        <pc:sldMkLst>
          <pc:docMk/>
          <pc:sldMk cId="2451868073" sldId="463"/>
        </pc:sldMkLst>
        <pc:spChg chg="mod">
          <ac:chgData name="Daya Spindler" userId="S::daya.spindler@g.austincc.edu::d47267c9-b69c-4d84-8d8d-9eb6067b7650" providerId="AD" clId="Web-{5984593D-E544-9414-96E0-ABA12CE5588D}" dt="2021-12-28T15:53:26.392" v="202" actId="20577"/>
          <ac:spMkLst>
            <pc:docMk/>
            <pc:sldMk cId="2451868073" sldId="463"/>
            <ac:spMk id="3" creationId="{44DCA18A-F4C7-48ED-BF25-8F410D31835F}"/>
          </ac:spMkLst>
        </pc:spChg>
        <pc:spChg chg="mod ord">
          <ac:chgData name="Daya Spindler" userId="S::daya.spindler@g.austincc.edu::d47267c9-b69c-4d84-8d8d-9eb6067b7650" providerId="AD" clId="Web-{5984593D-E544-9414-96E0-ABA12CE5588D}" dt="2021-12-28T16:12:07.851" v="270"/>
          <ac:spMkLst>
            <pc:docMk/>
            <pc:sldMk cId="2451868073" sldId="463"/>
            <ac:spMk id="5" creationId="{A034192D-03B2-430A-B511-73DAFE035826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17.195" v="273"/>
        <pc:sldMkLst>
          <pc:docMk/>
          <pc:sldMk cId="680522284" sldId="464"/>
        </pc:sldMkLst>
        <pc:spChg chg="mod ord">
          <ac:chgData name="Daya Spindler" userId="S::daya.spindler@g.austincc.edu::d47267c9-b69c-4d84-8d8d-9eb6067b7650" providerId="AD" clId="Web-{5984593D-E544-9414-96E0-ABA12CE5588D}" dt="2021-12-28T16:12:17.195" v="273"/>
          <ac:spMkLst>
            <pc:docMk/>
            <pc:sldMk cId="680522284" sldId="464"/>
            <ac:spMk id="5" creationId="{D5D926B0-70A9-43DF-9ECD-8F0016BB0E76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27.461" v="274"/>
        <pc:sldMkLst>
          <pc:docMk/>
          <pc:sldMk cId="3182974628" sldId="465"/>
        </pc:sldMkLst>
        <pc:spChg chg="mod ord">
          <ac:chgData name="Daya Spindler" userId="S::daya.spindler@g.austincc.edu::d47267c9-b69c-4d84-8d8d-9eb6067b7650" providerId="AD" clId="Web-{5984593D-E544-9414-96E0-ABA12CE5588D}" dt="2021-12-28T16:12:27.461" v="274"/>
          <ac:spMkLst>
            <pc:docMk/>
            <pc:sldMk cId="3182974628" sldId="465"/>
            <ac:spMk id="5" creationId="{D5D926B0-70A9-43DF-9ECD-8F0016BB0E76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29.477" v="275"/>
        <pc:sldMkLst>
          <pc:docMk/>
          <pc:sldMk cId="719411313" sldId="466"/>
        </pc:sldMkLst>
        <pc:spChg chg="mod ord">
          <ac:chgData name="Daya Spindler" userId="S::daya.spindler@g.austincc.edu::d47267c9-b69c-4d84-8d8d-9eb6067b7650" providerId="AD" clId="Web-{5984593D-E544-9414-96E0-ABA12CE5588D}" dt="2021-12-28T16:12:29.477" v="275"/>
          <ac:spMkLst>
            <pc:docMk/>
            <pc:sldMk cId="719411313" sldId="466"/>
            <ac:spMk id="5" creationId="{D5D926B0-70A9-43DF-9ECD-8F0016BB0E76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35.743" v="276"/>
        <pc:sldMkLst>
          <pc:docMk/>
          <pc:sldMk cId="118841893" sldId="467"/>
        </pc:sldMkLst>
        <pc:spChg chg="mod">
          <ac:chgData name="Daya Spindler" userId="S::daya.spindler@g.austincc.edu::d47267c9-b69c-4d84-8d8d-9eb6067b7650" providerId="AD" clId="Web-{5984593D-E544-9414-96E0-ABA12CE5588D}" dt="2021-12-28T16:00:08.919" v="226" actId="20577"/>
          <ac:spMkLst>
            <pc:docMk/>
            <pc:sldMk cId="118841893" sldId="467"/>
            <ac:spMk id="3" creationId="{F9F70A61-B46B-4200-81DD-6775E0644ACB}"/>
          </ac:spMkLst>
        </pc:spChg>
        <pc:spChg chg="mod ord">
          <ac:chgData name="Daya Spindler" userId="S::daya.spindler@g.austincc.edu::d47267c9-b69c-4d84-8d8d-9eb6067b7650" providerId="AD" clId="Web-{5984593D-E544-9414-96E0-ABA12CE5588D}" dt="2021-12-28T16:12:35.743" v="276"/>
          <ac:spMkLst>
            <pc:docMk/>
            <pc:sldMk cId="118841893" sldId="467"/>
            <ac:spMk id="5" creationId="{59F94C04-456C-4106-A37E-3387A035FC9F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41.399" v="279"/>
        <pc:sldMkLst>
          <pc:docMk/>
          <pc:sldMk cId="3325539708" sldId="468"/>
        </pc:sldMkLst>
        <pc:spChg chg="ord">
          <ac:chgData name="Daya Spindler" userId="S::daya.spindler@g.austincc.edu::d47267c9-b69c-4d84-8d8d-9eb6067b7650" providerId="AD" clId="Web-{5984593D-E544-9414-96E0-ABA12CE5588D}" dt="2021-12-28T16:12:41.399" v="279"/>
          <ac:spMkLst>
            <pc:docMk/>
            <pc:sldMk cId="3325539708" sldId="468"/>
            <ac:spMk id="3" creationId="{8860FB23-5528-4D96-B0FB-C93B5896CCDD}"/>
          </ac:spMkLst>
        </pc:spChg>
        <pc:spChg chg="mod ord">
          <ac:chgData name="Daya Spindler" userId="S::daya.spindler@g.austincc.edu::d47267c9-b69c-4d84-8d8d-9eb6067b7650" providerId="AD" clId="Web-{5984593D-E544-9414-96E0-ABA12CE5588D}" dt="2021-12-28T16:12:38.118" v="278"/>
          <ac:spMkLst>
            <pc:docMk/>
            <pc:sldMk cId="3325539708" sldId="468"/>
            <ac:spMk id="5" creationId="{51E9405E-257F-4DDF-9A2C-4656CE5B4049}"/>
          </ac:spMkLst>
        </pc:spChg>
      </pc:sldChg>
      <pc:sldChg chg="addSp delSp modSp">
        <pc:chgData name="Daya Spindler" userId="S::daya.spindler@g.austincc.edu::d47267c9-b69c-4d84-8d8d-9eb6067b7650" providerId="AD" clId="Web-{5984593D-E544-9414-96E0-ABA12CE5588D}" dt="2021-12-28T16:12:47.915" v="280"/>
        <pc:sldMkLst>
          <pc:docMk/>
          <pc:sldMk cId="2539571240" sldId="469"/>
        </pc:sldMkLst>
        <pc:spChg chg="mod">
          <ac:chgData name="Daya Spindler" userId="S::daya.spindler@g.austincc.edu::d47267c9-b69c-4d84-8d8d-9eb6067b7650" providerId="AD" clId="Web-{5984593D-E544-9414-96E0-ABA12CE5588D}" dt="2021-12-28T16:07:22.396" v="256" actId="20577"/>
          <ac:spMkLst>
            <pc:docMk/>
            <pc:sldMk cId="2539571240" sldId="469"/>
            <ac:spMk id="3" creationId="{FE70C295-3820-47BE-B438-040F62A0D69A}"/>
          </ac:spMkLst>
        </pc:spChg>
        <pc:spChg chg="mod ord">
          <ac:chgData name="Daya Spindler" userId="S::daya.spindler@g.austincc.edu::d47267c9-b69c-4d84-8d8d-9eb6067b7650" providerId="AD" clId="Web-{5984593D-E544-9414-96E0-ABA12CE5588D}" dt="2021-12-28T16:12:47.915" v="280"/>
          <ac:spMkLst>
            <pc:docMk/>
            <pc:sldMk cId="2539571240" sldId="469"/>
            <ac:spMk id="5" creationId="{CEC6FF84-48A8-459A-85A3-A45398CF33FE}"/>
          </ac:spMkLst>
        </pc:spChg>
        <pc:spChg chg="add del">
          <ac:chgData name="Daya Spindler" userId="S::daya.spindler@g.austincc.edu::d47267c9-b69c-4d84-8d8d-9eb6067b7650" providerId="AD" clId="Web-{5984593D-E544-9414-96E0-ABA12CE5588D}" dt="2021-12-28T16:05:00.716" v="230"/>
          <ac:spMkLst>
            <pc:docMk/>
            <pc:sldMk cId="2539571240" sldId="469"/>
            <ac:spMk id="6" creationId="{659E1850-F1F0-489F-A978-CED09C31833B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52.166" v="282"/>
        <pc:sldMkLst>
          <pc:docMk/>
          <pc:sldMk cId="3645414313" sldId="470"/>
        </pc:sldMkLst>
        <pc:spChg chg="mod ord">
          <ac:chgData name="Daya Spindler" userId="S::daya.spindler@g.austincc.edu::d47267c9-b69c-4d84-8d8d-9eb6067b7650" providerId="AD" clId="Web-{5984593D-E544-9414-96E0-ABA12CE5588D}" dt="2021-12-28T16:12:52.166" v="282"/>
          <ac:spMkLst>
            <pc:docMk/>
            <pc:sldMk cId="3645414313" sldId="470"/>
            <ac:spMk id="5" creationId="{D58B7E6D-4476-4E15-BE94-281832F2EE40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50.072" v="281"/>
        <pc:sldMkLst>
          <pc:docMk/>
          <pc:sldMk cId="1569251476" sldId="471"/>
        </pc:sldMkLst>
        <pc:spChg chg="mod ord">
          <ac:chgData name="Daya Spindler" userId="S::daya.spindler@g.austincc.edu::d47267c9-b69c-4d84-8d8d-9eb6067b7650" providerId="AD" clId="Web-{5984593D-E544-9414-96E0-ABA12CE5588D}" dt="2021-12-28T16:12:50.072" v="281"/>
          <ac:spMkLst>
            <pc:docMk/>
            <pc:sldMk cId="1569251476" sldId="471"/>
            <ac:spMk id="5" creationId="{DFAA47C0-BB28-44FD-8AEB-18A084F97A8F}"/>
          </ac:spMkLst>
        </pc:spChg>
      </pc:sldChg>
      <pc:sldChg chg="modSp">
        <pc:chgData name="Daya Spindler" userId="S::daya.spindler@g.austincc.edu::d47267c9-b69c-4d84-8d8d-9eb6067b7650" providerId="AD" clId="Web-{5984593D-E544-9414-96E0-ABA12CE5588D}" dt="2021-12-28T16:12:54.322" v="283"/>
        <pc:sldMkLst>
          <pc:docMk/>
          <pc:sldMk cId="2444981911" sldId="472"/>
        </pc:sldMkLst>
        <pc:spChg chg="mod ord">
          <ac:chgData name="Daya Spindler" userId="S::daya.spindler@g.austincc.edu::d47267c9-b69c-4d84-8d8d-9eb6067b7650" providerId="AD" clId="Web-{5984593D-E544-9414-96E0-ABA12CE5588D}" dt="2021-12-28T16:12:54.322" v="283"/>
          <ac:spMkLst>
            <pc:docMk/>
            <pc:sldMk cId="2444981911" sldId="472"/>
            <ac:spMk id="5" creationId="{762EC210-351D-4765-A9DF-3DD4D5D20F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234A20-1E37-174D-C636-51F12E287FF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357306" y="-16778"/>
            <a:ext cx="4499107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US" dirty="0"/>
              <a:t>COOPER: Foundations and Adult Health Nursing, 9th Edition</a:t>
            </a:r>
          </a:p>
          <a:p>
            <a:r>
              <a:rPr lang="en-US" dirty="0"/>
              <a:t>Chapter 8 Student Handout 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E2C6ED-6E88-12E4-984F-82F479873B6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6F6512-F2AE-D013-650C-81CA8B6BD2B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669CDC-9647-43A6-A777-A70E86E684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7957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222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45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9445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fld id="{5BF81156-E6AF-44C8-BBE8-65F3689151C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957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6286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10858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5430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20002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2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28600" indent="-228600">
              <a:buFont typeface="+mj-lt"/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Define how one keeps appropriate body alignment.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proper body mechanics when lifting/moving objects.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220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Why is it important to learn body mechanics?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being aware of ergonomic principles, using mechanical devices for lifting, and safe transfer requirements.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Explain how using the large muscles protects one from injury. </a:t>
            </a:r>
          </a:p>
          <a:p>
            <a:endParaRPr lang="en-US" altLang="en-US" dirty="0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34180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effectiveness of safe-lift programs.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15985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why it is imperative the nurse understands the life span of the older adult.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factors that affect older adults.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5777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How does mobility benefit the body?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types of exercises may be used to maintain mobility?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970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/>
                <a:ea typeface="ＭＳ Ｐゴシック"/>
                <a:cs typeface="Arial"/>
              </a:rPr>
              <a:t>Refer to Table 8.2</a:t>
            </a:r>
          </a:p>
          <a:p>
            <a:r>
              <a:rPr lang="en-US" altLang="en-US" dirty="0">
                <a:latin typeface="Arial"/>
                <a:ea typeface="ＭＳ Ｐゴシック"/>
                <a:cs typeface="Arial"/>
              </a:rPr>
              <a:t>Discuss how to use assistive devices for positioning.</a:t>
            </a:r>
            <a:endParaRPr lang="en-US" dirty="0"/>
          </a:p>
          <a:p>
            <a:r>
              <a:rPr lang="en-US" altLang="en-US" dirty="0">
                <a:latin typeface="Arial" panose="020B0604020202020204" pitchFamily="34" charset="0"/>
              </a:rPr>
              <a:t>What is the benefit of using a trapeze bar?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49614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preventive measures for complications of immobility.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Explain how a pressure ulcer may occur with immobility.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24403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10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28600" indent="-228600">
              <a:buFont typeface="+mj-lt"/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387033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11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28600" indent="-228600">
              <a:buFont typeface="+mj-lt"/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755534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patient positions that prevent complications.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Demonstrate the positions.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2584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patient positions that prevent complications.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Demonstrate the positions.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4749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patient positions that prevent complications.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Demonstrate the positions.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7506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the function of the neurovascular system. 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Why is it important to check the CSM of an impaired body part?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how compartment syndrome develops. 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Where may compartment syndrome occur?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886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Define </a:t>
            </a:r>
            <a:r>
              <a:rPr lang="en-US" altLang="en-US" i="1" dirty="0">
                <a:latin typeface="Arial" panose="020B0604020202020204" pitchFamily="34" charset="0"/>
              </a:rPr>
              <a:t>range of motion exercises.</a:t>
            </a:r>
            <a:endParaRPr lang="en-US" altLang="en-US" dirty="0">
              <a:latin typeface="Arial" panose="020B0604020202020204" pitchFamily="34" charset="0"/>
            </a:endParaRPr>
          </a:p>
          <a:p>
            <a:r>
              <a:rPr lang="en-US" altLang="en-US" dirty="0">
                <a:latin typeface="Arial" panose="020B0604020202020204" pitchFamily="34" charset="0"/>
              </a:rPr>
              <a:t>Explain when and why range-of-motion exercises are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294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physical disuse syndrome. 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inactivity problems of the older adult.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78072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how to move a patient up in bed maintaining a wide base support and proper position.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do’s and don’ts of ambulating a patient.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90397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Discuss when prescribed (after knee surgery).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6731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BC70723-5CE8-499C-9971-E4BA18B80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3487AE73-3EFF-4555-9FC5-23593D65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37759797-3D2C-4F47-AED4-0E8ADB42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5AAB81D7-0106-4E41-AE2E-2E4047E24355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4177A3A-15AF-4BAA-AB48-4B3B002C052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C81CECAA-A39B-467B-A776-CD395CF9D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65A3104-DFC4-492D-B3D0-C3C246A48F5B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FCA15E23-B403-4680-BAA9-DB5D51A8CFD2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D72A011B-01AE-4CD8-834B-21DB9583C27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7D6F96D-A6E5-45AB-8576-3F1772613D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3E21C735-DADD-43D3-9408-D21FA5E14BB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D8B011C-2750-47E8-9990-D6261FE36F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0F24A53-2415-4DAD-BD6A-1D9F5DDAF53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2078F67-8AE8-4E9C-AA54-76CE029A507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B9D621F-A6F6-4120-BD22-05C76ECD157E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00D131F-949B-4E5B-BE81-7C14B29CC9F1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EBBF4AC-9420-466C-AD9E-FD6592AADD2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97B28123-2912-48D2-AF42-C274BD8D6B10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6C156E8-9280-4352-B33B-89F3740952C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5BEE1B7-10AA-4C75-B080-000D6057ADAD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198644BA-AE6D-4C74-A6DD-E08DB08BD49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7F366DB-197B-47FE-868E-147B370B959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715250" y="6359525"/>
            <a:ext cx="132715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i="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  <a:p>
            <a:pPr>
              <a:defRPr/>
            </a:pPr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EC67DEBA-1458-4D94-8AC0-2EE32DB11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AFCDFD-0E09-79B1-7BB4-03FFB411B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08800" y="63595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0FB175F7-DCBF-4C4E-B2DF-5E10268F084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28EEB-5AC2-1FA4-9BD4-D96D6B4C5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115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Chapter 8 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en-US" sz="3200" dirty="0"/>
              <a:t>Body Mechanics and Patient Mobility</a:t>
            </a:r>
          </a:p>
        </p:txBody>
      </p:sp>
    </p:spTree>
    <p:extLst>
      <p:ext uri="{BB962C8B-B14F-4D97-AF65-F5344CB8AC3E}">
        <p14:creationId xmlns:p14="http://schemas.microsoft.com/office/powerpoint/2010/main" val="4149221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8.1: Principles and Application of Body Mechanics and Patient Mobility</a:t>
            </a:r>
            <a:endParaRPr lang="en-US" sz="1600" dirty="0"/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sz="2400" dirty="0"/>
              <a:t>State the principles of body mechanics.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2400" dirty="0"/>
              <a:t>Explain the rationale for use of appropriate body mechanics.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2400" dirty="0"/>
              <a:t>Discuss considerations related to mobility for older adults.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2400" dirty="0"/>
              <a:t>Discuss the complications of immobility.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2400" dirty="0"/>
              <a:t>Demonstrate the use of assistive devices for proper positioning.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2400" dirty="0"/>
              <a:t>State the nursing interventions used to prevent complications of immobility.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2400" dirty="0"/>
              <a:t>Demonstrate placement of patience in various positions, such as Fowler’s, supine (dorsal), Sims, side-lying, prone, dorsal recumbent, and lithotomy positions.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2</a:t>
            </a:fld>
            <a:endParaRPr lang="en-GB" sz="1000" dirty="0">
              <a:ea typeface="ＭＳ Ｐゴシック" pitchFamily="34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CA38D-CDC1-4F2D-90DF-6D2955B29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Body Mechanics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28861C-DD6C-405F-A1E8-D547DF951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Area of physiology that studies muscle action and how muscles function in maintaining the posture of the body and prevention of injury during activity</a:t>
            </a:r>
          </a:p>
          <a:p>
            <a:r>
              <a:rPr lang="en-US" altLang="en-US" dirty="0"/>
              <a:t>Principles of body mechanics</a:t>
            </a:r>
          </a:p>
          <a:p>
            <a:pPr lvl="1"/>
            <a:r>
              <a:rPr lang="en-US" altLang="en-US" dirty="0"/>
              <a:t>Maintain appropriate body alignment</a:t>
            </a:r>
          </a:p>
          <a:p>
            <a:pPr lvl="1"/>
            <a:r>
              <a:rPr lang="en-US" altLang="en-US" dirty="0"/>
              <a:t>Maintain wide base of support</a:t>
            </a:r>
          </a:p>
          <a:p>
            <a:pPr lvl="1"/>
            <a:r>
              <a:rPr lang="en-US" altLang="en-US" dirty="0"/>
              <a:t>Bend knees and hips </a:t>
            </a:r>
          </a:p>
          <a:p>
            <a:pPr lvl="1"/>
            <a:r>
              <a:rPr lang="en-US" altLang="en-US" dirty="0"/>
              <a:t>Do not bend from waist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3A3F9-6272-4AA5-ACE7-D08F39CC41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1946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457AA-C4C7-41F5-B294-F5ACC3B0B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Rationale for Proper Body Mechanics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49A51-B653-436B-8C59-5D5EB7373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Must be learned by nursing personnel to prevent injury</a:t>
            </a:r>
          </a:p>
          <a:p>
            <a:r>
              <a:rPr lang="en-US" altLang="en-US" dirty="0"/>
              <a:t>Back injuries are the most common in occupational injuries</a:t>
            </a:r>
          </a:p>
          <a:p>
            <a:r>
              <a:rPr lang="en-US" altLang="en-US" dirty="0"/>
              <a:t>Using proper body mechanics </a:t>
            </a:r>
            <a:endParaRPr lang="en-US" altLang="en-US" sz="3600" b="1" dirty="0"/>
          </a:p>
          <a:p>
            <a:pPr lvl="1"/>
            <a:r>
              <a:rPr lang="en-US" altLang="en-US" dirty="0"/>
              <a:t>Protects large muscle groups from injury</a:t>
            </a:r>
          </a:p>
          <a:p>
            <a:pPr lvl="1"/>
            <a:r>
              <a:rPr lang="en-US" altLang="en-US" dirty="0"/>
              <a:t>Provides safety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72D72-795D-4CF5-9D5C-9F83770179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7131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79ECE-CAC2-4C86-90FE-15BECF910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Body Mechanics and Patient Mobility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33B56-C28D-4A2E-9A9D-0E08BAFD8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Evidence-based practice </a:t>
            </a:r>
            <a:endParaRPr lang="en-US" altLang="en-US" sz="3600" b="1" dirty="0"/>
          </a:p>
          <a:p>
            <a:pPr lvl="1"/>
            <a:r>
              <a:rPr lang="en-US" altLang="en-US" dirty="0"/>
              <a:t>Safe-lift programs</a:t>
            </a:r>
          </a:p>
          <a:p>
            <a:pPr lvl="1"/>
            <a:r>
              <a:rPr lang="en-US" altLang="en-US" dirty="0"/>
              <a:t>Application to nursing practice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B0C6D-CD7A-4161-B7C3-857273C0C2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3734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1745-5FC5-4352-B672-0BB5737DF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Life Span Considerations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5515F-C8A0-4A29-B6A5-348AD544FB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Mobility </a:t>
            </a:r>
            <a:endParaRPr lang="en-US" altLang="en-US" sz="3600" b="1" dirty="0"/>
          </a:p>
          <a:p>
            <a:pPr lvl="1"/>
            <a:r>
              <a:rPr lang="en-US" altLang="en-US" dirty="0"/>
              <a:t>Skin fragile</a:t>
            </a:r>
          </a:p>
          <a:p>
            <a:pPr lvl="1"/>
            <a:r>
              <a:rPr lang="en-US" altLang="en-US" dirty="0"/>
              <a:t>Support joints when moving in bed</a:t>
            </a:r>
          </a:p>
          <a:p>
            <a:pPr lvl="1"/>
            <a:r>
              <a:rPr lang="en-US" altLang="en-US" dirty="0"/>
              <a:t>Lose flexibility and joint mobility</a:t>
            </a:r>
          </a:p>
          <a:p>
            <a:pPr lvl="1"/>
            <a:r>
              <a:rPr lang="en-US" altLang="en-US" dirty="0"/>
              <a:t>Weakness</a:t>
            </a:r>
          </a:p>
          <a:p>
            <a:pPr lvl="1"/>
            <a:r>
              <a:rPr lang="en-US" altLang="en-US" dirty="0"/>
              <a:t>Orthostatic hypotension</a:t>
            </a:r>
          </a:p>
          <a:p>
            <a:pPr lvl="1"/>
            <a:r>
              <a:rPr lang="en-US" altLang="en-US" dirty="0"/>
              <a:t>Altered sensory perception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5E8B56-DC78-4F5C-869A-825FBC9F74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5603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FBAF7-CA98-4313-8271-BB4FD7892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Mobility Versus Immobility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892CD-245C-44D5-8447-5562D894B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Mobility</a:t>
            </a:r>
          </a:p>
          <a:p>
            <a:pPr lvl="1"/>
            <a:r>
              <a:rPr lang="en-US" altLang="en-US" dirty="0"/>
              <a:t>Ability to move around freely </a:t>
            </a:r>
          </a:p>
          <a:p>
            <a:r>
              <a:rPr lang="en-US" altLang="en-US" dirty="0"/>
              <a:t>Immobility</a:t>
            </a:r>
          </a:p>
          <a:p>
            <a:pPr lvl="1"/>
            <a:r>
              <a:rPr lang="en-US" altLang="en-US" dirty="0"/>
              <a:t>Inability to move around freely</a:t>
            </a:r>
          </a:p>
          <a:p>
            <a:pPr lvl="2"/>
            <a:endParaRPr lang="en-US" alt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8DCAA-5022-4D17-9836-8E944DAC7B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21831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F0D1-AA72-4F64-A469-6AD0422AF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Assistive Devices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D182B-01F7-49BB-A1D6-83A1758FB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Pillows </a:t>
            </a:r>
          </a:p>
          <a:p>
            <a:r>
              <a:rPr lang="en-US" altLang="en-US" dirty="0"/>
              <a:t>Foot drop boots/foot boards</a:t>
            </a:r>
          </a:p>
          <a:p>
            <a:r>
              <a:rPr lang="en-US" altLang="en-US" dirty="0"/>
              <a:t>Trochanter rolls</a:t>
            </a:r>
          </a:p>
          <a:p>
            <a:r>
              <a:rPr lang="en-US" altLang="en-US" dirty="0"/>
              <a:t>Hand roll</a:t>
            </a:r>
          </a:p>
          <a:p>
            <a:r>
              <a:rPr lang="en-US" altLang="en-US" dirty="0"/>
              <a:t>Trapeze bars</a:t>
            </a:r>
          </a:p>
          <a:p>
            <a:r>
              <a:rPr lang="en-US" dirty="0"/>
              <a:t>Side rail</a:t>
            </a:r>
          </a:p>
          <a:p>
            <a:r>
              <a:rPr lang="en-US" dirty="0"/>
              <a:t>Bed board</a:t>
            </a:r>
          </a:p>
          <a:p>
            <a:r>
              <a:rPr lang="en-US" dirty="0"/>
              <a:t>Abductor splint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FD6FC-0704-44BC-BC43-EF91CC86FC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8213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4081-004C-4AE1-81BD-DA5128EB0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Complications of Immobility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CA18A-F4C7-48ED-BF25-8F410D318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en-US" dirty="0"/>
              <a:t>Anorexia</a:t>
            </a:r>
          </a:p>
          <a:p>
            <a:r>
              <a:rPr lang="en-US" altLang="en-US" dirty="0"/>
              <a:t>Constipation</a:t>
            </a:r>
          </a:p>
          <a:p>
            <a:r>
              <a:rPr lang="en-US" altLang="en-US" dirty="0"/>
              <a:t>Contractures</a:t>
            </a:r>
          </a:p>
          <a:p>
            <a:r>
              <a:rPr lang="en-US" altLang="en-US" dirty="0"/>
              <a:t>Disuse osteoporosis</a:t>
            </a:r>
          </a:p>
          <a:p>
            <a:r>
              <a:rPr lang="en-US" altLang="en-US" dirty="0"/>
              <a:t>Hypostatic pneumonia</a:t>
            </a:r>
          </a:p>
          <a:p>
            <a:r>
              <a:rPr lang="en-US" altLang="en-US" dirty="0"/>
              <a:t>Insomnia</a:t>
            </a:r>
          </a:p>
          <a:p>
            <a:r>
              <a:rPr lang="en-US" altLang="en-US" dirty="0"/>
              <a:t>Muscle atrophy and asthenia (muscle weakness)</a:t>
            </a:r>
            <a:endParaRPr lang="en-US" dirty="0"/>
          </a:p>
          <a:p>
            <a:r>
              <a:rPr lang="en-US" altLang="en-US" dirty="0"/>
              <a:t>Orthostatic hypotension</a:t>
            </a:r>
          </a:p>
          <a:p>
            <a:r>
              <a:rPr lang="en-US" altLang="en-US" dirty="0"/>
              <a:t>Pressure ulcer</a:t>
            </a:r>
          </a:p>
          <a:p>
            <a:r>
              <a:rPr lang="en-US" altLang="en-US" dirty="0"/>
              <a:t>Pulmonary embolism</a:t>
            </a:r>
          </a:p>
          <a:p>
            <a:r>
              <a:rPr lang="en-US" altLang="en-US" dirty="0"/>
              <a:t>Renal calculi</a:t>
            </a:r>
          </a:p>
          <a:p>
            <a:r>
              <a:rPr lang="en-US" altLang="en-US" dirty="0"/>
              <a:t>Thrombophlebitis and DVT</a:t>
            </a:r>
          </a:p>
          <a:p>
            <a:r>
              <a:rPr lang="en-US" altLang="en-US" dirty="0"/>
              <a:t>Urinary tract infection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12DFD-6244-41BC-BA2B-EFFF5F4A50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1868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8.2: Further Application of Body Mechanics and Patient Mobility</a:t>
            </a:r>
            <a:br>
              <a:rPr lang="en-US" sz="3400" dirty="0"/>
            </a:br>
            <a:r>
              <a:rPr lang="en-US" sz="1600" dirty="0"/>
              <a:t>(Slide 1 of 2)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 startAt="8"/>
            </a:pPr>
            <a:r>
              <a:rPr lang="en-US" dirty="0"/>
              <a:t>State the assessment for the patient’s neurovascular status, including the phenomenon of compartment syndrome.</a:t>
            </a:r>
          </a:p>
          <a:p>
            <a:pPr marL="514350" lvl="0" indent="-514350">
              <a:buFont typeface="+mj-lt"/>
              <a:buAutoNum type="arabicPeriod" startAt="8"/>
            </a:pPr>
            <a:r>
              <a:rPr lang="en-US" dirty="0"/>
              <a:t>Describe and demonstrate range-of-motion exercises and explain their purpose.</a:t>
            </a:r>
          </a:p>
          <a:p>
            <a:pPr marL="514350" lvl="0" indent="-514350">
              <a:buFont typeface="+mj-lt"/>
              <a:buAutoNum type="arabicPeriod" startAt="8"/>
            </a:pPr>
            <a:r>
              <a:rPr lang="en-US" dirty="0"/>
              <a:t>Identify complications caused by inactivity.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Relate appropriate body mechanics to the techniques for turning, moving, and lifting the patient.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10</a:t>
            </a:fld>
            <a:endParaRPr lang="en-GB" sz="1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8751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8.2: Further Mechanics and Patient Mobility</a:t>
            </a:r>
            <a:br>
              <a:rPr lang="en-US" sz="3400" dirty="0"/>
            </a:br>
            <a:r>
              <a:rPr lang="en-US" sz="1600" dirty="0"/>
              <a:t>(Slide 2 of 2)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 startAt="12"/>
            </a:pPr>
            <a:r>
              <a:rPr lang="en-US" dirty="0"/>
              <a:t>Discuss use of the continuous passive motion machines.</a:t>
            </a:r>
          </a:p>
          <a:p>
            <a:pPr marL="514350" indent="-514350">
              <a:buFont typeface="+mj-lt"/>
              <a:buAutoNum type="arabicPeriod" startAt="12"/>
            </a:pPr>
            <a:r>
              <a:rPr lang="en-US" dirty="0"/>
              <a:t>Discuss the nursing process and how it relates to patient mobility.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11</a:t>
            </a:fld>
            <a:endParaRPr lang="en-GB" sz="1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59917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330DB-C70A-4E21-88CC-39CBE9D47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Positioning</a:t>
            </a:r>
            <a:br>
              <a:rPr lang="en-US" altLang="en-US" dirty="0"/>
            </a:br>
            <a:r>
              <a:rPr lang="en-US" altLang="en-US" sz="1600" dirty="0"/>
              <a:t>(Slide 1 of 3)</a:t>
            </a:r>
            <a:endParaRPr lang="en-US" sz="1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27C64-DFA9-4945-8795-637433CB4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Dorsal – lying flat on back</a:t>
            </a:r>
          </a:p>
          <a:p>
            <a:r>
              <a:rPr lang="en-US" altLang="en-US" dirty="0"/>
              <a:t>Dorsal recumbent – supine lying on back, head, and shoulder with extremities moderately flexed</a:t>
            </a:r>
          </a:p>
          <a:p>
            <a:r>
              <a:rPr lang="en-US" altLang="en-US" dirty="0"/>
              <a:t>Fowler’s – head of bed is raised 45-60 degrees</a:t>
            </a:r>
          </a:p>
          <a:p>
            <a:r>
              <a:rPr lang="en-US" altLang="en-US" dirty="0"/>
              <a:t>Semi-Fowler’s – head of bed raised 30 degrees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3A83C-197F-4EB6-A144-840AE5410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0522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330DB-C70A-4E21-88CC-39CBE9D47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Positioning</a:t>
            </a:r>
            <a:br>
              <a:rPr lang="en-US" altLang="en-US" dirty="0"/>
            </a:br>
            <a:r>
              <a:rPr lang="en-US" altLang="en-US" sz="1600" dirty="0"/>
              <a:t>(Slide 2 of 3)</a:t>
            </a:r>
            <a:endParaRPr lang="en-US" sz="1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27C64-DFA9-4945-8795-637433CB4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Orthopneic – sitting up in bed at 90-degree angle or sometimes resting in forward tilt while supported by pillow on overbed table</a:t>
            </a:r>
          </a:p>
          <a:p>
            <a:r>
              <a:rPr lang="en-US" altLang="en-US" dirty="0"/>
              <a:t>Sims’ – lying on side with knee and thigh drawn toward chest</a:t>
            </a:r>
          </a:p>
          <a:p>
            <a:r>
              <a:rPr lang="en-US" altLang="en-US" dirty="0"/>
              <a:t>Prone – lying face down in horizontal position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3A83C-197F-4EB6-A144-840AE5410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82974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330DB-C70A-4E21-88CC-39CBE9D47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Positioning</a:t>
            </a:r>
            <a:br>
              <a:rPr lang="en-US" altLang="en-US" dirty="0"/>
            </a:br>
            <a:r>
              <a:rPr lang="en-US" altLang="en-US" sz="1600" dirty="0"/>
              <a:t>(Slide 3 of 3)</a:t>
            </a:r>
            <a:endParaRPr lang="en-US" sz="1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27C64-DFA9-4945-8795-637433CB4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Knee-chest (genupectoral) – kneels so weight of body is supported by knees and chest, abdomen raised, head turned to one side and arms flexed</a:t>
            </a:r>
            <a:endParaRPr lang="en-US" altLang="en-US" b="1" dirty="0"/>
          </a:p>
          <a:p>
            <a:r>
              <a:rPr lang="en-US" altLang="en-US" dirty="0"/>
              <a:t>Lithotomy – lying supine with hips and knees flexed, thighs abducted and rotated externally</a:t>
            </a:r>
          </a:p>
          <a:p>
            <a:r>
              <a:rPr lang="en-US" altLang="en-US" dirty="0"/>
              <a:t>Trendelenburg’s – head is low, body and legs are on inclined plane</a:t>
            </a:r>
          </a:p>
          <a:p>
            <a:r>
              <a:rPr lang="en-US" altLang="en-US" dirty="0"/>
              <a:t>Lateral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3A83C-197F-4EB6-A144-840AE5410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9411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36DCB-3626-4B6B-8CE7-0F55674C4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Neurovascular Assessment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70A61-B46B-4200-81DD-6775E0644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CSM</a:t>
            </a:r>
            <a:endParaRPr lang="en-US" altLang="en-US" sz="3600" b="1" dirty="0"/>
          </a:p>
          <a:p>
            <a:pPr lvl="1"/>
            <a:r>
              <a:rPr lang="en-US" altLang="en-US" dirty="0"/>
              <a:t>Neurovascular function or circulation, movement, and sensation</a:t>
            </a:r>
          </a:p>
          <a:p>
            <a:pPr lvl="1"/>
            <a:r>
              <a:rPr lang="en-US" altLang="en-US" dirty="0"/>
              <a:t>LPN/LVNs check skin color, temperature, movement, sensation, pulses, capillary refill, and pain</a:t>
            </a:r>
          </a:p>
          <a:p>
            <a:r>
              <a:rPr lang="en-US" altLang="en-US" dirty="0"/>
              <a:t>Compartment syndrome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2F8A6-93D9-47AD-B7E1-123C39703C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841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1654A-3BF0-4526-9094-B42EC2B57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Range-of-Motion Exercises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0FB23-5528-4D96-B0FB-C93B5896CC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Movement of the body that involves the muscles and joints in natural directional movements</a:t>
            </a:r>
          </a:p>
          <a:p>
            <a:r>
              <a:rPr lang="en-US" altLang="en-US" dirty="0"/>
              <a:t>Active – performed by patient</a:t>
            </a:r>
          </a:p>
          <a:p>
            <a:r>
              <a:rPr lang="en-US" altLang="en-US" dirty="0"/>
              <a:t>Passive – performed by caregivers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36057-44D5-4F45-A6D9-7DE0C873C7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39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78F3-6A00-4B0C-88DB-517D3E3E8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Life Span Considerations </a:t>
            </a:r>
            <a:br>
              <a:rPr lang="en-US" altLang="en-US" dirty="0"/>
            </a:br>
            <a:r>
              <a:rPr lang="en-US" altLang="en-US" dirty="0"/>
              <a:t>(Older Adult)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0C295-3820-47BE-B438-040F62A0D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Chronic illness</a:t>
            </a:r>
          </a:p>
          <a:p>
            <a:r>
              <a:rPr lang="en-US" altLang="en-US" dirty="0"/>
              <a:t>Inadequate calcium intake</a:t>
            </a:r>
            <a:endParaRPr lang="en-US" dirty="0"/>
          </a:p>
          <a:p>
            <a:r>
              <a:rPr lang="en-US" altLang="en-US" dirty="0"/>
              <a:t>Fear of falling</a:t>
            </a:r>
          </a:p>
          <a:p>
            <a:r>
              <a:rPr lang="en-US" altLang="en-US" dirty="0"/>
              <a:t>Depression</a:t>
            </a:r>
          </a:p>
          <a:p>
            <a:r>
              <a:rPr lang="en-US" altLang="en-US" dirty="0"/>
              <a:t>Arthritic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D7DA6-D113-4568-9FE3-881C591B28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95712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FF153-0145-4476-8A91-16A3072E5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Moving the Patient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AC71D-1885-4E0F-B58A-AC5E05CAA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Assist patient with moving</a:t>
            </a:r>
          </a:p>
          <a:p>
            <a:r>
              <a:rPr lang="en-US" altLang="en-US" dirty="0"/>
              <a:t>Assist with ambulation</a:t>
            </a:r>
          </a:p>
          <a:p>
            <a:r>
              <a:rPr lang="en-US" altLang="en-US" dirty="0"/>
              <a:t>Using a lift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CBD18-6EBD-401B-B35B-D2B398DE65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9251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38F1F-3CD7-4DA0-B761-E0B2B895A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Continuous Passive </a:t>
            </a:r>
            <a:br>
              <a:rPr lang="en-US" altLang="en-US" dirty="0"/>
            </a:br>
            <a:r>
              <a:rPr lang="en-US" altLang="en-US" dirty="0"/>
              <a:t>Motion Machines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6515C-9638-463A-AF32-46B4AFB4E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Machine that flexes and extends joints to passively mobilize them </a:t>
            </a:r>
          </a:p>
          <a:p>
            <a:r>
              <a:rPr lang="en-US" altLang="en-US" dirty="0"/>
              <a:t>Prevents complications</a:t>
            </a:r>
          </a:p>
          <a:p>
            <a:pPr lvl="1"/>
            <a:r>
              <a:rPr lang="en-US" altLang="en-US" dirty="0"/>
              <a:t>Joint contracture, atrophy of muscles, thromboembolism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2BAF3-510E-460A-8FCD-9AA2377EB0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54143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2DB66-4194-4185-92DD-C4D95C15B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Nursing Process for Mobility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2D476-BA50-40B5-AB0A-79BE226E2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Assessment</a:t>
            </a:r>
          </a:p>
          <a:p>
            <a:pPr lvl="1"/>
            <a:r>
              <a:rPr lang="en-US" altLang="en-US" dirty="0"/>
              <a:t>Foci of ROM, muscle strength, activity tolerance, gait, posture</a:t>
            </a:r>
          </a:p>
          <a:p>
            <a:pPr lvl="1"/>
            <a:r>
              <a:rPr lang="en-US" altLang="en-US" dirty="0"/>
              <a:t>Observe for fatigue, muscle strength, ROM</a:t>
            </a:r>
          </a:p>
          <a:p>
            <a:pPr lvl="1"/>
            <a:r>
              <a:rPr lang="en-US" altLang="en-US" dirty="0"/>
              <a:t>Assistance needed for transfers</a:t>
            </a:r>
          </a:p>
          <a:p>
            <a:r>
              <a:rPr lang="en-US" altLang="en-US" dirty="0"/>
              <a:t>Patient problem statement</a:t>
            </a:r>
            <a:endParaRPr lang="en-US" altLang="en-US" b="1" dirty="0"/>
          </a:p>
          <a:p>
            <a:r>
              <a:rPr lang="en-US" altLang="en-US" dirty="0"/>
              <a:t>Expected goals and planning</a:t>
            </a:r>
          </a:p>
          <a:p>
            <a:r>
              <a:rPr lang="en-US" altLang="en-US" dirty="0"/>
              <a:t>Implementation</a:t>
            </a:r>
          </a:p>
          <a:p>
            <a:r>
              <a:rPr lang="en-US" altLang="en-US" dirty="0"/>
              <a:t>Evaluation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56800-D22F-4C08-8C63-BAD2207DD8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4981911"/>
      </p:ext>
    </p:extLst>
  </p:cSld>
  <p:clrMapOvr>
    <a:masterClrMapping/>
  </p:clrMapOvr>
</p:sld>
</file>

<file path=ppt/theme/theme1.xml><?xml version="1.0" encoding="utf-8"?>
<a:theme xmlns:a="http://schemas.openxmlformats.org/drawingml/2006/main" name="2_Blue Diagonal">
  <a:themeElements>
    <a:clrScheme name="2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2_Blue Diagonal">
      <a:majorFont>
        <a:latin typeface="ArialMT"/>
        <a:ea typeface="ＭＳ Ｐゴシック"/>
        <a:cs typeface=""/>
      </a:majorFont>
      <a:minorFont>
        <a:latin typeface="ArialMT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44BCCB53-EE29-414A-8F6C-89C65B68B0C1}"/>
    </a:ext>
  </a:extLst>
</a:theme>
</file>

<file path=ppt/theme/theme2.xml><?xml version="1.0" encoding="utf-8"?>
<a:theme xmlns:a="http://schemas.openxmlformats.org/drawingml/2006/main" name="3_Blue Diagonal">
  <a:themeElements>
    <a:clrScheme name="3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3_Blue Diagonal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E7008CAA-0110-4942-A27F-B887E31738AC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6928</TotalTime>
  <Words>1040</Words>
  <Application>Microsoft Office PowerPoint</Application>
  <PresentationFormat>On-screen Show (4:3)</PresentationFormat>
  <Paragraphs>186</Paragraphs>
  <Slides>20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ArialMT</vt:lpstr>
      <vt:lpstr>Times New Roman</vt:lpstr>
      <vt:lpstr>Wingdings</vt:lpstr>
      <vt:lpstr>Wingdings 2</vt:lpstr>
      <vt:lpstr>Wingdings 3</vt:lpstr>
      <vt:lpstr>2_Blue Diagonal</vt:lpstr>
      <vt:lpstr>3_Blue Diagonal</vt:lpstr>
      <vt:lpstr>Chapter 8  </vt:lpstr>
      <vt:lpstr>Lesson 8.1: Principles and Application of Body Mechanics and Patient Mobility</vt:lpstr>
      <vt:lpstr>Body Mechanics</vt:lpstr>
      <vt:lpstr>Rationale for Proper Body Mechanics</vt:lpstr>
      <vt:lpstr>Body Mechanics and Patient Mobility</vt:lpstr>
      <vt:lpstr>Life Span Considerations</vt:lpstr>
      <vt:lpstr>Mobility Versus Immobility</vt:lpstr>
      <vt:lpstr>Assistive Devices </vt:lpstr>
      <vt:lpstr>Complications of Immobility</vt:lpstr>
      <vt:lpstr>Lesson 8.2: Further Application of Body Mechanics and Patient Mobility (Slide 1 of 2)</vt:lpstr>
      <vt:lpstr>Lesson 8.2: Further Mechanics and Patient Mobility (Slide 2 of 2)</vt:lpstr>
      <vt:lpstr>Positioning (Slide 1 of 3)</vt:lpstr>
      <vt:lpstr>Positioning (Slide 2 of 3)</vt:lpstr>
      <vt:lpstr>Positioning (Slide 3 of 3)</vt:lpstr>
      <vt:lpstr>Neurovascular Assessment</vt:lpstr>
      <vt:lpstr>Range-of-Motion Exercises</vt:lpstr>
      <vt:lpstr>Life Span Considerations  (Older Adult)</vt:lpstr>
      <vt:lpstr>Moving the Patient</vt:lpstr>
      <vt:lpstr>Continuous Passive  Motion Machines </vt:lpstr>
      <vt:lpstr>Nursing Process for Mobility </vt:lpstr>
    </vt:vector>
  </TitlesOfParts>
  <Company>REED Elsevier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 Body Systems</dc:title>
  <dc:creator>Linda Honeycutt</dc:creator>
  <cp:lastModifiedBy>Jyoti Tyagi (IL-IN)</cp:lastModifiedBy>
  <cp:revision>765</cp:revision>
  <dcterms:created xsi:type="dcterms:W3CDTF">2005-01-16T17:28:53Z</dcterms:created>
  <dcterms:modified xsi:type="dcterms:W3CDTF">2022-07-06T06:35:59Z</dcterms:modified>
</cp:coreProperties>
</file>