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dc0a31194d41c8" /><Relationship Type="http://schemas.openxmlformats.org/officeDocument/2006/relationships/extended-properties" Target="/docProps/app.xml" Id="R547868b5621c4f51" /><Relationship Type="http://schemas.openxmlformats.org/officeDocument/2006/relationships/officeDocument" Target="/ppt/presentation.xml" Id="R67a2e00e80124b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8f12b8a0584a4f"/>
  </p:sldMasterIdLst>
  <p:notesMasterIdLst>
    <p:notesMasterId xmlns:r="http://schemas.openxmlformats.org/officeDocument/2006/relationships" r:id="Rd2284d8c23114617"/>
  </p:notesMasterIdLst>
  <p:sldIdLst>
    <p:sldId xmlns:r="http://schemas.openxmlformats.org/officeDocument/2006/relationships" id="256" r:id="Rc3b2e4134e294e8e"/>
    <p:sldId xmlns:r="http://schemas.openxmlformats.org/officeDocument/2006/relationships" id="257" r:id="R461ec2710df3404d"/>
    <p:sldId xmlns:r="http://schemas.openxmlformats.org/officeDocument/2006/relationships" id="258" r:id="R2d2dea0bd8654e32"/>
    <p:sldId xmlns:r="http://schemas.openxmlformats.org/officeDocument/2006/relationships" id="259" r:id="R0b4f7a31e44148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7028f7435d4252" /><Relationship Type="http://schemas.openxmlformats.org/officeDocument/2006/relationships/slideMaster" Target="/ppt/slideMasters/slideMaster1.xml" Id="R698f12b8a0584a4f" /><Relationship Type="http://schemas.openxmlformats.org/officeDocument/2006/relationships/notesMaster" Target="/ppt/notesMasters/notesMaster1.xml" Id="Rd2284d8c23114617" /><Relationship Type="http://schemas.openxmlformats.org/officeDocument/2006/relationships/presProps" Target="/ppt/presProps.xml" Id="Rfb6e924d188b41e2" /><Relationship Type="http://schemas.openxmlformats.org/officeDocument/2006/relationships/tableStyles" Target="/ppt/tableStyles.xml" Id="R3bf1aaea6df54d0f" /><Relationship Type="http://schemas.openxmlformats.org/officeDocument/2006/relationships/slide" Target="/ppt/slides/slide1.xml" Id="Rc3b2e4134e294e8e" /><Relationship Type="http://schemas.openxmlformats.org/officeDocument/2006/relationships/slide" Target="/ppt/slides/slide2.xml" Id="R461ec2710df3404d" /><Relationship Type="http://schemas.openxmlformats.org/officeDocument/2006/relationships/slide" Target="/ppt/slides/slide3.xml" Id="R2d2dea0bd8654e32" /><Relationship Type="http://schemas.openxmlformats.org/officeDocument/2006/relationships/slide" Target="/ppt/slides/slide4.xml" Id="R0b4f7a31e44148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83abacd5dd41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8c808c25774583" /><Relationship Type="http://schemas.openxmlformats.org/officeDocument/2006/relationships/notesMaster" Target="/ppt/notesMasters/notesMaster1.xml" Id="R418522f1df6c41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d4bd102a15401a" /><Relationship Type="http://schemas.openxmlformats.org/officeDocument/2006/relationships/notesMaster" Target="/ppt/notesMasters/notesMaster1.xml" Id="Ref1957d53bee42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81ea44c1d64f29" /><Relationship Type="http://schemas.openxmlformats.org/officeDocument/2006/relationships/notesMaster" Target="/ppt/notesMasters/notesMaster1.xml" Id="R881b07a7860349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c486a27e8242fa" /><Relationship Type="http://schemas.openxmlformats.org/officeDocument/2006/relationships/notesMaster" Target="/ppt/notesMasters/notesMaster1.xml" Id="Rb79613530c6642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chapter and connect it to the assigned textbook reading.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src/introNursingBuildout.js — Chapter 8 extendedWeekChapters and readingFocusExplanations (local course source; accessed 2026-07-30).</a:t>
            </a:r>
          </a:p>
          <a:p xmlns:a="http://schemas.openxmlformats.org/drawingml/2006/main">
            <a:r>
              <a:t>- Cooper, K., &amp; Gosnell, K. (2023). Foundations of Nursing (9th ed.), Chapter 8, pp. 162–188 (course-assigned textbook).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how the four reading-focus concepts fit together before applying them to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src/introNursingBuildout.js — Chapter 8 extendedWeekChapters and readingFocusExplanations (local course source; accessed 2026-07-30).</a:t>
            </a:r>
          </a:p>
          <a:p xmlns:a="http://schemas.openxmlformats.org/drawingml/2006/main">
            <a:r>
              <a:t>- Cooper, K., &amp; Gosnell, K. (2023). Foundations of Nursing (9th ed.), Chapter 8, pp. 162–188 (course-assigned textbook).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the chapter concepts to the practical nurse’s observation, action, documentation, and reporting responsibilities.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src/introNursingBuildout.js — Chapter 8 extendedWeekChapters and readingFocusExplanations (local course source; accessed 2026-07-30).</a:t>
            </a:r>
          </a:p>
          <a:p xmlns:a="http://schemas.openxmlformats.org/drawingml/2006/main">
            <a:r>
              <a:t>- Cooper, K., &amp; Gosnell, K. (2023). Foundations of Nursing (9th ed.), Chapter 8, pp. 162–188 (course-assigned textbook).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recall-and-application prompt: recognize the cue, act safely within scope, and report exact findings.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src/introNursingBuildout.js — Chapter 8 extendedWeekChapters and readingFocusExplanations (local course source; accessed 2026-07-30).</a:t>
            </a:r>
          </a:p>
          <a:p xmlns:a="http://schemas.openxmlformats.org/drawingml/2006/main">
            <a:r>
              <a:t>- Cooper, K., &amp; Gosnell, K. (2023). Foundations of Nursing (9th ed.), Chapter 8, pp. 162–188 (course-assigned textbook).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ae144cf2ce46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6497b4a2ae4e66" /><Relationship Type="http://schemas.openxmlformats.org/officeDocument/2006/relationships/slideLayout" Target="/ppt/slideLayouts/slideLayout1.xml" Id="R83579f349ba241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579f349ba241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3a63a77144417" /><Relationship Type="http://schemas.openxmlformats.org/officeDocument/2006/relationships/notesSlide" Target="/ppt/notesSlides/notesSlide1.xml" Id="Rddbdd50a885d40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be5340f0549b9" /><Relationship Type="http://schemas.openxmlformats.org/officeDocument/2006/relationships/notesSlide" Target="/ppt/notesSlides/notesSlide2.xml" Id="Re2c4ab804bdc4d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06768802b4732" /><Relationship Type="http://schemas.openxmlformats.org/officeDocument/2006/relationships/notesSlide" Target="/ppt/notesSlides/notesSlide3.xml" Id="Raed773e6d8844a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0a2ac49cb42d4" /><Relationship Type="http://schemas.openxmlformats.org/officeDocument/2006/relationships/notesSlide" Target="/ppt/notesSlides/notesSlide4.xml" Id="R39ad352d296c43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urse-eyebrow">
            <a:extLst xmlns:a="http://schemas.openxmlformats.org/drawingml/2006/main">
              <a:ext uri="{FF2B5EF4-FFF2-40B4-BE49-F238E27FC236}">
                <a16:creationId xmlns:a16="http://schemas.microsoft.com/office/drawing/2014/main" id="{AD07D476-E077-4935-9739-3B26F6E8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858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BROWARD–MIAMI HEALTH INSTITUTE</a:t>
            </a:r>
          </a:p>
        </p:txBody>
      </p:sp>
      <p:sp>
        <p:nvSpPr>
          <p:cNvPr id="2" name="chapter-title">
            <a:extLst xmlns:a="http://schemas.openxmlformats.org/drawingml/2006/main">
              <a:ext uri="{FF2B5EF4-FFF2-40B4-BE49-F238E27FC236}">
                <a16:creationId xmlns:a16="http://schemas.microsoft.com/office/drawing/2014/main" id="{81334DAB-7098-4B86-98DB-AC250001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00125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Body Mechanics and Patient Mobility</a:t>
            </a:r>
          </a:p>
        </p:txBody>
      </p:sp>
      <p:sp>
        <p:nvSpPr>
          <p:cNvPr id="3" name="chapter-subtitle">
            <a:extLst xmlns:a="http://schemas.openxmlformats.org/drawingml/2006/main">
              <a:ext uri="{FF2B5EF4-FFF2-40B4-BE49-F238E27FC236}">
                <a16:creationId xmlns:a16="http://schemas.microsoft.com/office/drawing/2014/main" id="{29E70E21-7514-42B9-81CD-1BFA368E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9525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596B7B"/>
                </a:solidFill>
                <a:latin typeface="Helvetica Neue"/>
                <a:ea typeface="Helvetica Neue"/>
                <a:cs typeface="Helvetica Neue"/>
              </a:defRPr>
            </a:pPr>
            <a:r>
              <a:t>PN 102  •  Chapter 8  •  Foundations of Nursing, 9th ed.  •  pp. 162–188</a:t>
            </a:r>
          </a:p>
        </p:txBody>
      </p:sp>
    </p:spTree>
    <p:extLst>
      <p:ext uri="{BB962C8B-B14F-4D97-AF65-F5344CB8AC3E}">
        <p14:creationId xmlns:p14="http://schemas.microsoft.com/office/powerpoint/2010/main" val="1958470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ncepts-title">
            <a:extLst xmlns:a="http://schemas.openxmlformats.org/drawingml/2006/main">
              <a:ext uri="{FF2B5EF4-FFF2-40B4-BE49-F238E27FC236}">
                <a16:creationId xmlns:a16="http://schemas.microsoft.com/office/drawing/2014/main" id="{14E95DB5-14AB-4D70-8547-DD70DCCC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Chapter 8: four ideas to connect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CE9E81A-889B-4A7F-AE24-5C46AC81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B7B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3" name="concept-1-title">
            <a:extLst xmlns:a="http://schemas.openxmlformats.org/drawingml/2006/main">
              <a:ext uri="{FF2B5EF4-FFF2-40B4-BE49-F238E27FC236}">
                <a16:creationId xmlns:a16="http://schemas.microsoft.com/office/drawing/2014/main" id="{762AC8AE-4039-408B-A559-0CA56892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Alignment and ergonomics</a:t>
            </a:r>
          </a:p>
        </p:txBody>
      </p:sp>
      <p:sp>
        <p:nvSpPr>
          <p:cNvPr id="4" name="concept-1-explanation">
            <a:extLst xmlns:a="http://schemas.openxmlformats.org/drawingml/2006/main">
              <a:ext uri="{FF2B5EF4-FFF2-40B4-BE49-F238E27FC236}">
                <a16:creationId xmlns:a16="http://schemas.microsoft.com/office/drawing/2014/main" id="{8378A372-2DF0-43E4-9440-3B69ED2E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Use a stable base, proper alignment, and available equipment to reduce injury.</a:t>
            </a:r>
          </a:p>
        </p:txBody>
      </p:sp>
      <p:sp>
        <p:nvSpPr>
          <p:cNvPr id="5" name="concept-2-title">
            <a:extLst xmlns:a="http://schemas.openxmlformats.org/drawingml/2006/main">
              <a:ext uri="{FF2B5EF4-FFF2-40B4-BE49-F238E27FC236}">
                <a16:creationId xmlns:a16="http://schemas.microsoft.com/office/drawing/2014/main" id="{8F7A1A23-74F9-43A7-9642-7BE95D28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Positioning and transfers</a:t>
            </a:r>
          </a:p>
        </p:txBody>
      </p:sp>
      <p:sp>
        <p:nvSpPr>
          <p:cNvPr id="6" name="concept-2-explanation">
            <a:extLst xmlns:a="http://schemas.openxmlformats.org/drawingml/2006/main">
              <a:ext uri="{FF2B5EF4-FFF2-40B4-BE49-F238E27FC236}">
                <a16:creationId xmlns:a16="http://schemas.microsoft.com/office/drawing/2014/main" id="{3D595234-6254-43A9-B9B6-EAF1FD08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Assess ability, explain the plan, obtain help, and protect tubes, skin, and joints.</a:t>
            </a:r>
          </a:p>
        </p:txBody>
      </p:sp>
      <p:sp>
        <p:nvSpPr>
          <p:cNvPr id="7" name="concept-3-title">
            <a:extLst xmlns:a="http://schemas.openxmlformats.org/drawingml/2006/main">
              <a:ext uri="{FF2B5EF4-FFF2-40B4-BE49-F238E27FC236}">
                <a16:creationId xmlns:a16="http://schemas.microsoft.com/office/drawing/2014/main" id="{F89FD4C9-0479-44EC-B5B3-1B78F1C1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Range of motion</a:t>
            </a:r>
          </a:p>
        </p:txBody>
      </p:sp>
      <p:sp>
        <p:nvSpPr>
          <p:cNvPr id="8" name="concept-3-explanation">
            <a:extLst xmlns:a="http://schemas.openxmlformats.org/drawingml/2006/main">
              <a:ext uri="{FF2B5EF4-FFF2-40B4-BE49-F238E27FC236}">
                <a16:creationId xmlns:a16="http://schemas.microsoft.com/office/drawing/2014/main" id="{0C51C80C-B267-4170-8705-2065F6A0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Use active or passive movement to support mobility, circulation, comfort, and function.</a:t>
            </a:r>
          </a:p>
        </p:txBody>
      </p:sp>
      <p:sp>
        <p:nvSpPr>
          <p:cNvPr id="9" name="concept-4-title">
            <a:extLst xmlns:a="http://schemas.openxmlformats.org/drawingml/2006/main">
              <a:ext uri="{FF2B5EF4-FFF2-40B4-BE49-F238E27FC236}">
                <a16:creationId xmlns:a16="http://schemas.microsoft.com/office/drawing/2014/main" id="{975B1B67-6422-43BE-A291-4EA5508A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Aids and fall prevention</a:t>
            </a:r>
          </a:p>
        </p:txBody>
      </p:sp>
      <p:sp>
        <p:nvSpPr>
          <p:cNvPr id="10" name="concept-4-explanation">
            <a:extLst xmlns:a="http://schemas.openxmlformats.org/drawingml/2006/main">
              <a:ext uri="{FF2B5EF4-FFF2-40B4-BE49-F238E27FC236}">
                <a16:creationId xmlns:a16="http://schemas.microsoft.com/office/drawing/2014/main" id="{16E9909C-E3BC-4469-91B5-B4259745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Use prescribed devices correctly while identifying fall risks and clearing hazards.</a:t>
            </a:r>
          </a:p>
        </p:txBody>
      </p:sp>
    </p:spTree>
    <p:extLst>
      <p:ext uri="{BB962C8B-B14F-4D97-AF65-F5344CB8AC3E}">
        <p14:creationId xmlns:p14="http://schemas.microsoft.com/office/powerpoint/2010/main" val="14956629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962D5D18-5D30-47B5-A630-820475B8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Put the chapter into safe practical nursing care</a:t>
            </a:r>
          </a:p>
        </p:txBody>
      </p:sp>
      <p:sp>
        <p:nvSpPr>
          <p:cNvPr id="2" name="practice-lead">
            <a:extLst xmlns:a="http://schemas.openxmlformats.org/drawingml/2006/main">
              <a:ext uri="{FF2B5EF4-FFF2-40B4-BE49-F238E27FC236}">
                <a16:creationId xmlns:a16="http://schemas.microsoft.com/office/drawing/2014/main" id="{BCDA1D19-CA6C-4C2D-8595-DB9ECF8A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A safe move begins before anyone lifts or stands.</a:t>
            </a:r>
          </a:p>
        </p:txBody>
      </p:sp>
      <p:sp>
        <p:nvSpPr>
          <p:cNvPr id="3" name="practice-body">
            <a:extLst xmlns:a="http://schemas.openxmlformats.org/drawingml/2006/main">
              <a:ext uri="{FF2B5EF4-FFF2-40B4-BE49-F238E27FC236}">
                <a16:creationId xmlns:a16="http://schemas.microsoft.com/office/drawing/2014/main" id="{075BA088-3FCE-430E-9B33-BBF7E5F6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Assess the patient’s strength and instructions, prepare equipment and the environment, and ask for enough help. Stop if the patient becomes weak, dizzy, painful, or unable to follow the plan.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7B3BD7F-9B45-4FC9-A172-C87B3BB4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B7B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5" name="check-1">
            <a:extLst xmlns:a="http://schemas.openxmlformats.org/drawingml/2006/main">
              <a:ext uri="{FF2B5EF4-FFF2-40B4-BE49-F238E27FC236}">
                <a16:creationId xmlns:a16="http://schemas.microsoft.com/office/drawing/2014/main" id="{69D7EDE4-3BB2-4918-B179-483FAA58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2999804"/>
            <a:ext cx="26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6" name="check-label-1">
            <a:extLst xmlns:a="http://schemas.openxmlformats.org/drawingml/2006/main">
              <a:ext uri="{FF2B5EF4-FFF2-40B4-BE49-F238E27FC236}">
                <a16:creationId xmlns:a16="http://schemas.microsoft.com/office/drawing/2014/main" id="{D46DD18E-A87E-4CF3-9E7E-BEF4B1BC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Assess mobility and fall risk</a:t>
            </a:r>
          </a:p>
        </p:txBody>
      </p:sp>
      <p:sp>
        <p:nvSpPr>
          <p:cNvPr id="7" name="check-2">
            <a:extLst xmlns:a="http://schemas.openxmlformats.org/drawingml/2006/main">
              <a:ext uri="{FF2B5EF4-FFF2-40B4-BE49-F238E27FC236}">
                <a16:creationId xmlns:a16="http://schemas.microsoft.com/office/drawing/2014/main" id="{73E99B2B-2C45-4E57-87C8-57DACD25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09404"/>
            <a:ext cx="26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8" name="check-label-2">
            <a:extLst xmlns:a="http://schemas.openxmlformats.org/drawingml/2006/main">
              <a:ext uri="{FF2B5EF4-FFF2-40B4-BE49-F238E27FC236}">
                <a16:creationId xmlns:a16="http://schemas.microsoft.com/office/drawing/2014/main" id="{3522DCBA-4B49-4509-9852-192967AF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Prepare equipment</a:t>
            </a:r>
          </a:p>
        </p:txBody>
      </p:sp>
      <p:sp>
        <p:nvSpPr>
          <p:cNvPr id="9" name="check-3">
            <a:extLst xmlns:a="http://schemas.openxmlformats.org/drawingml/2006/main">
              <a:ext uri="{FF2B5EF4-FFF2-40B4-BE49-F238E27FC236}">
                <a16:creationId xmlns:a16="http://schemas.microsoft.com/office/drawing/2014/main" id="{4C00917A-3BE6-489B-8BE5-36715ACB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24338"/>
            <a:ext cx="26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10" name="check-label-3">
            <a:extLst xmlns:a="http://schemas.openxmlformats.org/drawingml/2006/main">
              <a:ext uri="{FF2B5EF4-FFF2-40B4-BE49-F238E27FC236}">
                <a16:creationId xmlns:a16="http://schemas.microsoft.com/office/drawing/2014/main" id="{FEF25EE7-5E79-4E95-9EF3-4DC4B49D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Explain the move</a:t>
            </a:r>
          </a:p>
        </p:txBody>
      </p:sp>
      <p:sp>
        <p:nvSpPr>
          <p:cNvPr id="11" name="check-4">
            <a:extLst xmlns:a="http://schemas.openxmlformats.org/drawingml/2006/main">
              <a:ext uri="{FF2B5EF4-FFF2-40B4-BE49-F238E27FC236}">
                <a16:creationId xmlns:a16="http://schemas.microsoft.com/office/drawing/2014/main" id="{0B216750-2DA1-4564-B7B3-CD479F11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33842"/>
            <a:ext cx="26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12" name="check-label-4">
            <a:extLst xmlns:a="http://schemas.openxmlformats.org/drawingml/2006/main">
              <a:ext uri="{FF2B5EF4-FFF2-40B4-BE49-F238E27FC236}">
                <a16:creationId xmlns:a16="http://schemas.microsoft.com/office/drawing/2014/main" id="{F87A9950-40A4-4123-9690-179C73DF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Use enough assistance</a:t>
            </a:r>
          </a:p>
        </p:txBody>
      </p:sp>
      <p:sp>
        <p:nvSpPr>
          <p:cNvPr id="13" name="check-5">
            <a:extLst xmlns:a="http://schemas.openxmlformats.org/drawingml/2006/main">
              <a:ext uri="{FF2B5EF4-FFF2-40B4-BE49-F238E27FC236}">
                <a16:creationId xmlns:a16="http://schemas.microsoft.com/office/drawing/2014/main" id="{F0B05057-04D6-4D14-88D4-8B5F74A5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56206"/>
            <a:ext cx="26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14" name="check-label-5">
            <a:extLst xmlns:a="http://schemas.openxmlformats.org/drawingml/2006/main">
              <a:ext uri="{FF2B5EF4-FFF2-40B4-BE49-F238E27FC236}">
                <a16:creationId xmlns:a16="http://schemas.microsoft.com/office/drawing/2014/main" id="{207790D6-8C6B-487D-9AC7-7F2F913F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Reassess after positioning</a:t>
            </a:r>
          </a:p>
        </p:txBody>
      </p:sp>
    </p:spTree>
    <p:extLst>
      <p:ext uri="{BB962C8B-B14F-4D97-AF65-F5344CB8AC3E}">
        <p14:creationId xmlns:p14="http://schemas.microsoft.com/office/powerpoint/2010/main" val="488994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57A5A0A1-C06F-48AF-B876-07EC807B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6976"/>
                </a:solidFill>
                <a:latin typeface="Helvetica Neue"/>
                <a:ea typeface="Helvetica Neue"/>
                <a:cs typeface="Helvetica Neue"/>
              </a:defRPr>
            </a:pPr>
            <a:r>
              <a:t>RECOGNIZE  →  ACT  →  REPORT</a:t>
            </a:r>
          </a:p>
        </p:txBody>
      </p:sp>
      <p:sp>
        <p:nvSpPr>
          <p:cNvPr id="2" name="closing-message">
            <a:extLst xmlns:a="http://schemas.openxmlformats.org/drawingml/2006/main">
              <a:ext uri="{FF2B5EF4-FFF2-40B4-BE49-F238E27FC236}">
                <a16:creationId xmlns:a16="http://schemas.microsoft.com/office/drawing/2014/main" id="{2997AFBA-DDCD-4D2D-9947-B483899C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00125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8232F"/>
                </a:solidFill>
                <a:latin typeface="Helvetica Neue"/>
                <a:ea typeface="Helvetica Neue"/>
                <a:cs typeface="Helvetica Neue"/>
              </a:defRPr>
            </a:pPr>
            <a:r>
              <a:t>Assess before moving.
Use the equipment.
Stop when risk changes.</a:t>
            </a:r>
          </a:p>
        </p:txBody>
      </p:sp>
      <p:sp>
        <p:nvSpPr>
          <p:cNvPr id="3" name="closing-prompt">
            <a:extLst xmlns:a="http://schemas.openxmlformats.org/drawingml/2006/main">
              <a:ext uri="{FF2B5EF4-FFF2-40B4-BE49-F238E27FC236}">
                <a16:creationId xmlns:a16="http://schemas.microsoft.com/office/drawing/2014/main" id="{ADE91DDD-82CE-4548-AB7A-B7C07D7B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8572500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596B7B"/>
                </a:solidFill>
                <a:latin typeface="Helvetica Neue"/>
                <a:ea typeface="Helvetica Neue"/>
                <a:cs typeface="Helvetica Neue"/>
              </a:defRPr>
            </a:pPr>
            <a:r>
              <a:t>Before moving on, explain the cue, your immediate action within scope, and the facts you would report.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9699F2F-FD84-47F1-946F-1A46F296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B7B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135426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2026-07-30T05:24:54.3140000Z</dcterms:created>
  <dcterms:modified xsi:type="dcterms:W3CDTF">2026-07-30T05:24:54.3140000Z</dcterms:modified>
</coreProperties>
</file>