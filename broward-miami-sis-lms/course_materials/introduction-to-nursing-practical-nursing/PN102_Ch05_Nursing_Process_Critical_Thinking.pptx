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03355abe1b4287" /><Relationship Type="http://schemas.openxmlformats.org/officeDocument/2006/relationships/extended-properties" Target="/docProps/app.xml" Id="R03701033b1084641" /><Relationship Type="http://schemas.openxmlformats.org/officeDocument/2006/relationships/officeDocument" Target="/ppt/presentation.xml" Id="R7b98fe799cda4acb" /></Relationships>
</file>

<file path=ppt/presentation.xml><?xml version="1.0" encoding="utf-8"?>
<p:presentation xmlns:p="http://schemas.openxmlformats.org/presentationml/2006/main">
  <p:sldMasterIdLst>
    <p:sldMasterId xmlns:r="http://schemas.openxmlformats.org/officeDocument/2006/relationships" id="2147483648" r:id="Rac6b9c785d4b4a13"/>
  </p:sldMasterIdLst>
  <p:notesMasterIdLst>
    <p:notesMasterId xmlns:r="http://schemas.openxmlformats.org/officeDocument/2006/relationships" r:id="R7c6c4e7302624c6d"/>
  </p:notesMasterIdLst>
  <p:sldIdLst>
    <p:sldId xmlns:r="http://schemas.openxmlformats.org/officeDocument/2006/relationships" id="256" r:id="R17083a166c40455f"/>
    <p:sldId xmlns:r="http://schemas.openxmlformats.org/officeDocument/2006/relationships" id="257" r:id="R3bd9937453f34166"/>
    <p:sldId xmlns:r="http://schemas.openxmlformats.org/officeDocument/2006/relationships" id="258" r:id="R2f53939776194bea"/>
    <p:sldId xmlns:r="http://schemas.openxmlformats.org/officeDocument/2006/relationships" id="259" r:id="Rb3ed3ddbbae848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381a1de39845e4" /><Relationship Type="http://schemas.openxmlformats.org/officeDocument/2006/relationships/slideMaster" Target="/ppt/slideMasters/slideMaster1.xml" Id="Rac6b9c785d4b4a13" /><Relationship Type="http://schemas.openxmlformats.org/officeDocument/2006/relationships/notesMaster" Target="/ppt/notesMasters/notesMaster1.xml" Id="R7c6c4e7302624c6d" /><Relationship Type="http://schemas.openxmlformats.org/officeDocument/2006/relationships/presProps" Target="/ppt/presProps.xml" Id="Rabd15b8413c84577" /><Relationship Type="http://schemas.openxmlformats.org/officeDocument/2006/relationships/tableStyles" Target="/ppt/tableStyles.xml" Id="R57f118347dd0411d" /><Relationship Type="http://schemas.openxmlformats.org/officeDocument/2006/relationships/slide" Target="/ppt/slides/slide1.xml" Id="R17083a166c40455f" /><Relationship Type="http://schemas.openxmlformats.org/officeDocument/2006/relationships/slide" Target="/ppt/slides/slide2.xml" Id="R3bd9937453f34166" /><Relationship Type="http://schemas.openxmlformats.org/officeDocument/2006/relationships/slide" Target="/ppt/slides/slide3.xml" Id="R2f53939776194bea" /><Relationship Type="http://schemas.openxmlformats.org/officeDocument/2006/relationships/slide" Target="/ppt/slides/slide4.xml" Id="Rb3ed3ddbbae848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4748b0d5904a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533c8127d904899" /><Relationship Type="http://schemas.openxmlformats.org/officeDocument/2006/relationships/notesMaster" Target="/ppt/notesMasters/notesMaster1.xml" Id="R3a46ce35cf7c46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258d0841f74051" /><Relationship Type="http://schemas.openxmlformats.org/officeDocument/2006/relationships/notesMaster" Target="/ppt/notesMasters/notesMaster1.xml" Id="R843739e42eb945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cfae5207474a2e" /><Relationship Type="http://schemas.openxmlformats.org/officeDocument/2006/relationships/notesMaster" Target="/ppt/notesMasters/notesMaster1.xml" Id="Rd32b7742825541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f1a15942b04158" /><Relationship Type="http://schemas.openxmlformats.org/officeDocument/2006/relationships/notesMaster" Target="/ppt/notesMasters/notesMaster1.xml" Id="Rb85307c1dd494d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chapter and connect it to the assigned textbook reading.</a:t>
            </a:r>
          </a:p>
          <a:p xmlns:a="http://schemas.openxmlformats.org/drawingml/2006/main">
            <a:r>
              <a:t/>
            </a:r>
          </a:p>
          <a:p xmlns:a="http://schemas.openxmlformats.org/drawingml/2006/main">
            <a:r>
              <a:t>[Sources]</a:t>
            </a:r>
          </a:p>
          <a:p xmlns:a="http://schemas.openxmlformats.org/drawingml/2006/main">
            <a:r>
              <a:t>- src/introNursingBuildout.js — Chapter 5 extendedWeekChapters and readingFocusExplanations (local course source; accessed 2026-07-30).</a:t>
            </a:r>
          </a:p>
          <a:p xmlns:a="http://schemas.openxmlformats.org/drawingml/2006/main">
            <a:r>
              <a:t>- Cooper, K., &amp; Gosnell, K. (2023). Foundations of Nursing (9th ed.), Chapter 5, pp. 81–96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the four reading-focus concepts fit together before applying them to care.</a:t>
            </a:r>
          </a:p>
          <a:p xmlns:a="http://schemas.openxmlformats.org/drawingml/2006/main">
            <a:r>
              <a:t/>
            </a:r>
          </a:p>
          <a:p xmlns:a="http://schemas.openxmlformats.org/drawingml/2006/main">
            <a:r>
              <a:t>[Sources]</a:t>
            </a:r>
          </a:p>
          <a:p xmlns:a="http://schemas.openxmlformats.org/drawingml/2006/main">
            <a:r>
              <a:t>- src/introNursingBuildout.js — Chapter 5 extendedWeekChapters and readingFocusExplanations (local course source; accessed 2026-07-30).</a:t>
            </a:r>
          </a:p>
          <a:p xmlns:a="http://schemas.openxmlformats.org/drawingml/2006/main">
            <a:r>
              <a:t>- Cooper, K., &amp; Gosnell, K. (2023). Foundations of Nursing (9th ed.), Chapter 5, pp. 81–96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the chapter concepts to the practical nurse’s observation, action, documentation, and reporting responsibilities.</a:t>
            </a:r>
          </a:p>
          <a:p xmlns:a="http://schemas.openxmlformats.org/drawingml/2006/main">
            <a:r>
              <a:t/>
            </a:r>
          </a:p>
          <a:p xmlns:a="http://schemas.openxmlformats.org/drawingml/2006/main">
            <a:r>
              <a:t>[Sources]</a:t>
            </a:r>
          </a:p>
          <a:p xmlns:a="http://schemas.openxmlformats.org/drawingml/2006/main">
            <a:r>
              <a:t>- src/introNursingBuildout.js — Chapter 5 extendedWeekChapters and readingFocusExplanations (local course source; accessed 2026-07-30).</a:t>
            </a:r>
          </a:p>
          <a:p xmlns:a="http://schemas.openxmlformats.org/drawingml/2006/main">
            <a:r>
              <a:t>- Cooper, K., &amp; Gosnell, K. (2023). Foundations of Nursing (9th ed.), Chapter 5, pp. 81–96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recall-and-application prompt: recognize the cue, act safely within scope, and report exact findings.</a:t>
            </a:r>
          </a:p>
          <a:p xmlns:a="http://schemas.openxmlformats.org/drawingml/2006/main">
            <a:r>
              <a:t/>
            </a:r>
          </a:p>
          <a:p xmlns:a="http://schemas.openxmlformats.org/drawingml/2006/main">
            <a:r>
              <a:t>[Sources]</a:t>
            </a:r>
          </a:p>
          <a:p xmlns:a="http://schemas.openxmlformats.org/drawingml/2006/main">
            <a:r>
              <a:t>- src/introNursingBuildout.js — Chapter 5 extendedWeekChapters and readingFocusExplanations (local course source; accessed 2026-07-30).</a:t>
            </a:r>
          </a:p>
          <a:p xmlns:a="http://schemas.openxmlformats.org/drawingml/2006/main">
            <a:r>
              <a:t>- Cooper, K., &amp; Gosnell, K. (2023). Foundations of Nursing (9th ed.), Chapter 5, pp. 81–96 (course-assigned textbook).</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b2e7ff5e9743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65e486e38b4acc" /><Relationship Type="http://schemas.openxmlformats.org/officeDocument/2006/relationships/slideLayout" Target="/ppt/slideLayouts/slideLayout1.xml" Id="R47828413370943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828413370943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15426dce9149b8" /><Relationship Type="http://schemas.openxmlformats.org/officeDocument/2006/relationships/notesSlide" Target="/ppt/notesSlides/notesSlide1.xml" Id="R56843faf546141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31829592d94f56" /><Relationship Type="http://schemas.openxmlformats.org/officeDocument/2006/relationships/notesSlide" Target="/ppt/notesSlides/notesSlide2.xml" Id="Rcf01d3289d1844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aa56effa164913" /><Relationship Type="http://schemas.openxmlformats.org/officeDocument/2006/relationships/notesSlide" Target="/ppt/notesSlides/notesSlide3.xml" Id="Raa85357ef79245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26558775b64468" /><Relationship Type="http://schemas.openxmlformats.org/officeDocument/2006/relationships/notesSlide" Target="/ppt/notesSlides/notesSlide4.xml" Id="R3a2db7ce9fff433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urse-eyebrow">
            <a:extLst xmlns:a="http://schemas.openxmlformats.org/drawingml/2006/main">
              <a:ext uri="{FF2B5EF4-FFF2-40B4-BE49-F238E27FC236}">
                <a16:creationId xmlns:a16="http://schemas.microsoft.com/office/drawing/2014/main" id="{9076FD86-8FB2-49F8-B3B0-96938DF249EE}"/>
              </a:ext>
            </a:extLst>
          </p:cNvPr>
          <p:cNvSpPr>
            <a:spLocks xmlns:a="http://schemas.openxmlformats.org/drawingml/2006/main" noGrp="1"/>
          </p:cNvSpPr>
          <p:nvPr/>
        </p:nvSpPr>
        <p:spPr>
          <a:xfrm xmlns:a="http://schemas.openxmlformats.org/drawingml/2006/main">
            <a:off x="393668" y="392240"/>
            <a:ext cx="6858000"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BROWARD–MIAMI HEALTH INSTITUTE</a:t>
            </a:r>
          </a:p>
        </p:txBody>
      </p:sp>
      <p:sp>
        <p:nvSpPr>
          <p:cNvPr id="2" name="chapter-title">
            <a:extLst xmlns:a="http://schemas.openxmlformats.org/drawingml/2006/main">
              <a:ext uri="{FF2B5EF4-FFF2-40B4-BE49-F238E27FC236}">
                <a16:creationId xmlns:a16="http://schemas.microsoft.com/office/drawing/2014/main" id="{31F0D88E-6EC1-43EA-AB9A-AD7B224D3385}"/>
              </a:ext>
            </a:extLst>
          </p:cNvPr>
          <p:cNvSpPr>
            <a:spLocks xmlns:a="http://schemas.openxmlformats.org/drawingml/2006/main" noGrp="1"/>
          </p:cNvSpPr>
          <p:nvPr/>
        </p:nvSpPr>
        <p:spPr>
          <a:xfrm xmlns:a="http://schemas.openxmlformats.org/drawingml/2006/main">
            <a:off x="393668" y="1738789"/>
            <a:ext cx="1000125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5100" b="1">
                <a:solidFill>
                  <a:srgbClr val="18232F"/>
                </a:solidFill>
                <a:latin typeface="Helvetica Neue"/>
                <a:ea typeface="Helvetica Neue"/>
                <a:cs typeface="Helvetica Neue"/>
              </a:defRPr>
            </a:pPr>
            <a:r>
              <a:t>Nursing Process and Critical Thinking</a:t>
            </a:r>
          </a:p>
        </p:txBody>
      </p:sp>
      <p:sp>
        <p:nvSpPr>
          <p:cNvPr id="3" name="chapter-subtitle">
            <a:extLst xmlns:a="http://schemas.openxmlformats.org/drawingml/2006/main">
              <a:ext uri="{FF2B5EF4-FFF2-40B4-BE49-F238E27FC236}">
                <a16:creationId xmlns:a16="http://schemas.microsoft.com/office/drawing/2014/main" id="{78611D65-0995-418F-B781-D75F4EA07A6E}"/>
              </a:ext>
            </a:extLst>
          </p:cNvPr>
          <p:cNvSpPr>
            <a:spLocks xmlns:a="http://schemas.openxmlformats.org/drawingml/2006/main" noGrp="1"/>
          </p:cNvSpPr>
          <p:nvPr/>
        </p:nvSpPr>
        <p:spPr>
          <a:xfrm xmlns:a="http://schemas.openxmlformats.org/drawingml/2006/main">
            <a:off x="393668" y="4742212"/>
            <a:ext cx="9525000" cy="7620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100">
                <a:solidFill>
                  <a:srgbClr val="596B7B"/>
                </a:solidFill>
                <a:latin typeface="Helvetica Neue"/>
                <a:ea typeface="Helvetica Neue"/>
                <a:cs typeface="Helvetica Neue"/>
              </a:defRPr>
            </a:pPr>
            <a:r>
              <a:t>PN 102  •  Chapter 5  •  Foundations of Nursing, 9th ed.  •  pp. 81–96</a:t>
            </a:r>
          </a:p>
        </p:txBody>
      </p:sp>
    </p:spTree>
    <p:extLst>
      <p:ext uri="{BB962C8B-B14F-4D97-AF65-F5344CB8AC3E}">
        <p14:creationId xmlns:p14="http://schemas.microsoft.com/office/powerpoint/2010/main" val="1883676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cepts-title">
            <a:extLst xmlns:a="http://schemas.openxmlformats.org/drawingml/2006/main">
              <a:ext uri="{FF2B5EF4-FFF2-40B4-BE49-F238E27FC236}">
                <a16:creationId xmlns:a16="http://schemas.microsoft.com/office/drawing/2014/main" id="{17ACFC45-C8EC-4F82-AFD5-9E9E6F23C652}"/>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3150" b="1">
                <a:solidFill>
                  <a:srgbClr val="18232F"/>
                </a:solidFill>
                <a:latin typeface="Helvetica Neue"/>
                <a:ea typeface="Helvetica Neue"/>
                <a:cs typeface="Helvetica Neue"/>
              </a:defRPr>
            </a:pPr>
            <a:r>
              <a:t>Chapter 5: four ideas to connect</a:t>
            </a:r>
          </a:p>
        </p:txBody>
      </p:sp>
      <p:sp>
        <p:nvSpPr>
          <p:cNvPr id="2" name="slide-number">
            <a:extLst xmlns:a="http://schemas.openxmlformats.org/drawingml/2006/main">
              <a:ext uri="{FF2B5EF4-FFF2-40B4-BE49-F238E27FC236}">
                <a16:creationId xmlns:a16="http://schemas.microsoft.com/office/drawing/2014/main" id="{79925CC3-CE09-4597-8C80-D2E27473107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2</a:t>
            </a:r>
          </a:p>
        </p:txBody>
      </p:sp>
      <p:sp>
        <p:nvSpPr>
          <p:cNvPr id="3" name="concept-1-title">
            <a:extLst xmlns:a="http://schemas.openxmlformats.org/drawingml/2006/main">
              <a:ext uri="{FF2B5EF4-FFF2-40B4-BE49-F238E27FC236}">
                <a16:creationId xmlns:a16="http://schemas.microsoft.com/office/drawing/2014/main" id="{E2ECF8F5-F1C3-4F56-B465-B9E055B4098D}"/>
              </a:ext>
            </a:extLst>
          </p:cNvPr>
          <p:cNvSpPr>
            <a:spLocks xmlns:a="http://schemas.openxmlformats.org/drawingml/2006/main" noGrp="1"/>
          </p:cNvSpPr>
          <p:nvPr/>
        </p:nvSpPr>
        <p:spPr>
          <a:xfrm xmlns:a="http://schemas.openxmlformats.org/drawingml/2006/main">
            <a:off x="393668"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2B6976"/>
                </a:solidFill>
                <a:latin typeface="Helvetica Neue"/>
                <a:ea typeface="Helvetica Neue"/>
                <a:cs typeface="Helvetica Neue"/>
              </a:defRPr>
            </a:pPr>
            <a:r>
              <a:t>Assessment</a:t>
            </a:r>
          </a:p>
        </p:txBody>
      </p:sp>
      <p:sp>
        <p:nvSpPr>
          <p:cNvPr id="4" name="concept-1-explanation">
            <a:extLst xmlns:a="http://schemas.openxmlformats.org/drawingml/2006/main">
              <a:ext uri="{FF2B5EF4-FFF2-40B4-BE49-F238E27FC236}">
                <a16:creationId xmlns:a16="http://schemas.microsoft.com/office/drawing/2014/main" id="{A6FCE405-E380-49C0-8D42-18A79C48291A}"/>
              </a:ext>
            </a:extLst>
          </p:cNvPr>
          <p:cNvSpPr>
            <a:spLocks xmlns:a="http://schemas.openxmlformats.org/drawingml/2006/main" noGrp="1"/>
          </p:cNvSpPr>
          <p:nvPr/>
        </p:nvSpPr>
        <p:spPr>
          <a:xfrm xmlns:a="http://schemas.openxmlformats.org/drawingml/2006/main">
            <a:off x="393668"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Gather subjective and objective data, recognize cues, and promptly report urgent findings.</a:t>
            </a:r>
          </a:p>
        </p:txBody>
      </p:sp>
      <p:sp>
        <p:nvSpPr>
          <p:cNvPr id="5" name="concept-2-title">
            <a:extLst xmlns:a="http://schemas.openxmlformats.org/drawingml/2006/main">
              <a:ext uri="{FF2B5EF4-FFF2-40B4-BE49-F238E27FC236}">
                <a16:creationId xmlns:a16="http://schemas.microsoft.com/office/drawing/2014/main" id="{FC160D96-AB27-4934-8B47-CE189425A878}"/>
              </a:ext>
            </a:extLst>
          </p:cNvPr>
          <p:cNvSpPr>
            <a:spLocks xmlns:a="http://schemas.openxmlformats.org/drawingml/2006/main" noGrp="1"/>
          </p:cNvSpPr>
          <p:nvPr/>
        </p:nvSpPr>
        <p:spPr>
          <a:xfrm xmlns:a="http://schemas.openxmlformats.org/drawingml/2006/main">
            <a:off x="3334988"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Problems and planning</a:t>
            </a:r>
          </a:p>
        </p:txBody>
      </p:sp>
      <p:sp>
        <p:nvSpPr>
          <p:cNvPr id="6" name="concept-2-explanation">
            <a:extLst xmlns:a="http://schemas.openxmlformats.org/drawingml/2006/main">
              <a:ext uri="{FF2B5EF4-FFF2-40B4-BE49-F238E27FC236}">
                <a16:creationId xmlns:a16="http://schemas.microsoft.com/office/drawing/2014/main" id="{8D076F4B-C641-48DA-B003-DEFE8AB1EAEA}"/>
              </a:ext>
            </a:extLst>
          </p:cNvPr>
          <p:cNvSpPr>
            <a:spLocks xmlns:a="http://schemas.openxmlformats.org/drawingml/2006/main" noGrp="1"/>
          </p:cNvSpPr>
          <p:nvPr/>
        </p:nvSpPr>
        <p:spPr>
          <a:xfrm xmlns:a="http://schemas.openxmlformats.org/drawingml/2006/main">
            <a:off x="3334988"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Use collected data to identify needs, understand priorities, and support measurable goals.</a:t>
            </a:r>
          </a:p>
        </p:txBody>
      </p:sp>
      <p:sp>
        <p:nvSpPr>
          <p:cNvPr id="7" name="concept-3-title">
            <a:extLst xmlns:a="http://schemas.openxmlformats.org/drawingml/2006/main">
              <a:ext uri="{FF2B5EF4-FFF2-40B4-BE49-F238E27FC236}">
                <a16:creationId xmlns:a16="http://schemas.microsoft.com/office/drawing/2014/main" id="{6A844B7A-3320-4BD3-B667-58CE8EEC2B6C}"/>
              </a:ext>
            </a:extLst>
          </p:cNvPr>
          <p:cNvSpPr>
            <a:spLocks xmlns:a="http://schemas.openxmlformats.org/drawingml/2006/main" noGrp="1"/>
          </p:cNvSpPr>
          <p:nvPr/>
        </p:nvSpPr>
        <p:spPr>
          <a:xfrm xmlns:a="http://schemas.openxmlformats.org/drawingml/2006/main">
            <a:off x="6264402"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Implementation and evaluation</a:t>
            </a:r>
          </a:p>
        </p:txBody>
      </p:sp>
      <p:sp>
        <p:nvSpPr>
          <p:cNvPr id="8" name="concept-3-explanation">
            <a:extLst xmlns:a="http://schemas.openxmlformats.org/drawingml/2006/main">
              <a:ext uri="{FF2B5EF4-FFF2-40B4-BE49-F238E27FC236}">
                <a16:creationId xmlns:a16="http://schemas.microsoft.com/office/drawing/2014/main" id="{9964D858-46B8-46C6-8989-E88BAA815E73}"/>
              </a:ext>
            </a:extLst>
          </p:cNvPr>
          <p:cNvSpPr>
            <a:spLocks xmlns:a="http://schemas.openxmlformats.org/drawingml/2006/main" noGrp="1"/>
          </p:cNvSpPr>
          <p:nvPr/>
        </p:nvSpPr>
        <p:spPr>
          <a:xfrm xmlns:a="http://schemas.openxmlformats.org/drawingml/2006/main">
            <a:off x="6264402"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Provide assigned care safely, observe the response, and determine whether the plan is working.</a:t>
            </a:r>
          </a:p>
        </p:txBody>
      </p:sp>
      <p:sp>
        <p:nvSpPr>
          <p:cNvPr id="9" name="concept-4-title">
            <a:extLst xmlns:a="http://schemas.openxmlformats.org/drawingml/2006/main">
              <a:ext uri="{FF2B5EF4-FFF2-40B4-BE49-F238E27FC236}">
                <a16:creationId xmlns:a16="http://schemas.microsoft.com/office/drawing/2014/main" id="{7C5CA707-24AB-441F-A274-EFFD71F1510A}"/>
              </a:ext>
            </a:extLst>
          </p:cNvPr>
          <p:cNvSpPr>
            <a:spLocks xmlns:a="http://schemas.openxmlformats.org/drawingml/2006/main" noGrp="1"/>
          </p:cNvSpPr>
          <p:nvPr/>
        </p:nvSpPr>
        <p:spPr>
          <a:xfrm xmlns:a="http://schemas.openxmlformats.org/drawingml/2006/main">
            <a:off x="9205722" y="2208086"/>
            <a:ext cx="2595944" cy="1415606"/>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8232F"/>
                </a:solidFill>
                <a:latin typeface="Helvetica Neue"/>
                <a:ea typeface="Helvetica Neue"/>
                <a:cs typeface="Helvetica Neue"/>
              </a:defRPr>
            </a:pPr>
            <a:r>
              <a:t>Clinical judgment</a:t>
            </a:r>
          </a:p>
        </p:txBody>
      </p:sp>
      <p:sp>
        <p:nvSpPr>
          <p:cNvPr id="10" name="concept-4-explanation">
            <a:extLst xmlns:a="http://schemas.openxmlformats.org/drawingml/2006/main">
              <a:ext uri="{FF2B5EF4-FFF2-40B4-BE49-F238E27FC236}">
                <a16:creationId xmlns:a16="http://schemas.microsoft.com/office/drawing/2014/main" id="{49D5CF69-4B03-47D7-B648-D5B3351B04EA}"/>
              </a:ext>
            </a:extLst>
          </p:cNvPr>
          <p:cNvSpPr>
            <a:spLocks xmlns:a="http://schemas.openxmlformats.org/drawingml/2006/main" noGrp="1"/>
          </p:cNvSpPr>
          <p:nvPr/>
        </p:nvSpPr>
        <p:spPr>
          <a:xfrm xmlns:a="http://schemas.openxmlformats.org/drawingml/2006/main">
            <a:off x="9205722" y="4161092"/>
            <a:ext cx="2595944" cy="141560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350">
                <a:solidFill>
                  <a:srgbClr val="18232F"/>
                </a:solidFill>
                <a:latin typeface="Helvetica Neue"/>
                <a:ea typeface="Helvetica Neue"/>
                <a:cs typeface="Helvetica Neue"/>
              </a:defRPr>
            </a:pPr>
            <a:r>
              <a:t>Connect cues, risks, priorities, and scope to choose the safest next action.</a:t>
            </a:r>
          </a:p>
        </p:txBody>
      </p:sp>
    </p:spTree>
    <p:extLst>
      <p:ext uri="{BB962C8B-B14F-4D97-AF65-F5344CB8AC3E}">
        <p14:creationId xmlns:p14="http://schemas.microsoft.com/office/powerpoint/2010/main" val="1823600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practice-title">
            <a:extLst xmlns:a="http://schemas.openxmlformats.org/drawingml/2006/main">
              <a:ext uri="{FF2B5EF4-FFF2-40B4-BE49-F238E27FC236}">
                <a16:creationId xmlns:a16="http://schemas.microsoft.com/office/drawing/2014/main" id="{6E91A5A7-CEA2-420D-AD27-4662DF7F732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3000" b="1">
                <a:solidFill>
                  <a:srgbClr val="18232F"/>
                </a:solidFill>
                <a:latin typeface="Helvetica Neue"/>
                <a:ea typeface="Helvetica Neue"/>
                <a:cs typeface="Helvetica Neue"/>
              </a:defRPr>
            </a:pPr>
            <a:r>
              <a:t>Put the chapter into safe practical nursing care</a:t>
            </a:r>
          </a:p>
        </p:txBody>
      </p:sp>
      <p:sp>
        <p:nvSpPr>
          <p:cNvPr id="2" name="practice-lead">
            <a:extLst xmlns:a="http://schemas.openxmlformats.org/drawingml/2006/main">
              <a:ext uri="{FF2B5EF4-FFF2-40B4-BE49-F238E27FC236}">
                <a16:creationId xmlns:a16="http://schemas.microsoft.com/office/drawing/2014/main" id="{D4667A81-AB42-4E7E-9F38-7E05CFFA296E}"/>
              </a:ext>
            </a:extLst>
          </p:cNvPr>
          <p:cNvSpPr>
            <a:spLocks xmlns:a="http://schemas.openxmlformats.org/drawingml/2006/main" noGrp="1"/>
          </p:cNvSpPr>
          <p:nvPr/>
        </p:nvSpPr>
        <p:spPr>
          <a:xfrm xmlns:a="http://schemas.openxmlformats.org/drawingml/2006/main">
            <a:off x="393668" y="1722406"/>
            <a:ext cx="5537168" cy="952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2B6976"/>
                </a:solidFill>
                <a:latin typeface="Helvetica Neue"/>
                <a:ea typeface="Helvetica Neue"/>
                <a:cs typeface="Helvetica Neue"/>
              </a:defRPr>
            </a:pPr>
            <a:r>
              <a:t>Every action begins with a cue and ends with reassessment.</a:t>
            </a:r>
          </a:p>
        </p:txBody>
      </p:sp>
      <p:sp>
        <p:nvSpPr>
          <p:cNvPr id="3" name="practice-body">
            <a:extLst xmlns:a="http://schemas.openxmlformats.org/drawingml/2006/main">
              <a:ext uri="{FF2B5EF4-FFF2-40B4-BE49-F238E27FC236}">
                <a16:creationId xmlns:a16="http://schemas.microsoft.com/office/drawing/2014/main" id="{D6C60CB8-1DF0-4445-81C9-29072AECD036}"/>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defRPr sz="1725">
                <a:solidFill>
                  <a:srgbClr val="18232F"/>
                </a:solidFill>
                <a:latin typeface="Helvetica Neue"/>
                <a:ea typeface="Helvetica Neue"/>
                <a:cs typeface="Helvetica Neue"/>
              </a:defRPr>
            </a:pPr>
            <a:r>
              <a:t>Collect reliable information, decide what is most urgent, carry out authorized care, and compare the result with the expected outcome. Escalate when the patient worsens or the plan is not working.</a:t>
            </a:r>
          </a:p>
        </p:txBody>
      </p:sp>
      <p:sp>
        <p:nvSpPr>
          <p:cNvPr id="4" name="slide-number">
            <a:extLst xmlns:a="http://schemas.openxmlformats.org/drawingml/2006/main">
              <a:ext uri="{FF2B5EF4-FFF2-40B4-BE49-F238E27FC236}">
                <a16:creationId xmlns:a16="http://schemas.microsoft.com/office/drawing/2014/main" id="{939923CC-22F3-423C-8DA3-CC5E75982FB7}"/>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3</a:t>
            </a:r>
          </a:p>
        </p:txBody>
      </p:sp>
      <p:sp>
        <p:nvSpPr>
          <p:cNvPr id="5" name="check-1">
            <a:extLst xmlns:a="http://schemas.openxmlformats.org/drawingml/2006/main">
              <a:ext uri="{FF2B5EF4-FFF2-40B4-BE49-F238E27FC236}">
                <a16:creationId xmlns:a16="http://schemas.microsoft.com/office/drawing/2014/main" id="{7078A0E3-F96C-459C-B16E-AA8E61596647}"/>
              </a:ext>
            </a:extLst>
          </p:cNvPr>
          <p:cNvSpPr>
            <a:spLocks xmlns:a="http://schemas.openxmlformats.org/drawingml/2006/main" noGrp="1"/>
          </p:cNvSpPr>
          <p:nvPr/>
        </p:nvSpPr>
        <p:spPr>
          <a:xfrm xmlns:a="http://schemas.openxmlformats.org/drawingml/2006/main">
            <a:off x="7507700" y="2999804"/>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6" name="check-label-1">
            <a:extLst xmlns:a="http://schemas.openxmlformats.org/drawingml/2006/main">
              <a:ext uri="{FF2B5EF4-FFF2-40B4-BE49-F238E27FC236}">
                <a16:creationId xmlns:a16="http://schemas.microsoft.com/office/drawing/2014/main" id="{5F162433-2C44-48B8-9965-4A73EE151ABB}"/>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Collect and validate cues</a:t>
            </a:r>
          </a:p>
        </p:txBody>
      </p:sp>
      <p:sp>
        <p:nvSpPr>
          <p:cNvPr id="7" name="check-2">
            <a:extLst xmlns:a="http://schemas.openxmlformats.org/drawingml/2006/main">
              <a:ext uri="{FF2B5EF4-FFF2-40B4-BE49-F238E27FC236}">
                <a16:creationId xmlns:a16="http://schemas.microsoft.com/office/drawing/2014/main" id="{8EF767C0-6E26-4EF9-B29E-CEDB85CB4CC8}"/>
              </a:ext>
            </a:extLst>
          </p:cNvPr>
          <p:cNvSpPr>
            <a:spLocks xmlns:a="http://schemas.openxmlformats.org/drawingml/2006/main" noGrp="1"/>
          </p:cNvSpPr>
          <p:nvPr/>
        </p:nvSpPr>
        <p:spPr>
          <a:xfrm xmlns:a="http://schemas.openxmlformats.org/drawingml/2006/main">
            <a:off x="7507700" y="3609404"/>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8" name="check-label-2">
            <a:extLst xmlns:a="http://schemas.openxmlformats.org/drawingml/2006/main">
              <a:ext uri="{FF2B5EF4-FFF2-40B4-BE49-F238E27FC236}">
                <a16:creationId xmlns:a16="http://schemas.microsoft.com/office/drawing/2014/main" id="{36AC9729-E374-44B9-BFE5-59149D0658B0}"/>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Identify the priority</a:t>
            </a:r>
          </a:p>
        </p:txBody>
      </p:sp>
      <p:sp>
        <p:nvSpPr>
          <p:cNvPr id="9" name="check-3">
            <a:extLst xmlns:a="http://schemas.openxmlformats.org/drawingml/2006/main">
              <a:ext uri="{FF2B5EF4-FFF2-40B4-BE49-F238E27FC236}">
                <a16:creationId xmlns:a16="http://schemas.microsoft.com/office/drawing/2014/main" id="{4AC8B58E-E93E-4BBE-9E4F-971A27F700F5}"/>
              </a:ext>
            </a:extLst>
          </p:cNvPr>
          <p:cNvSpPr>
            <a:spLocks xmlns:a="http://schemas.openxmlformats.org/drawingml/2006/main" noGrp="1"/>
          </p:cNvSpPr>
          <p:nvPr/>
        </p:nvSpPr>
        <p:spPr>
          <a:xfrm xmlns:a="http://schemas.openxmlformats.org/drawingml/2006/main">
            <a:off x="7507700" y="4224338"/>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0" name="check-label-3">
            <a:extLst xmlns:a="http://schemas.openxmlformats.org/drawingml/2006/main">
              <a:ext uri="{FF2B5EF4-FFF2-40B4-BE49-F238E27FC236}">
                <a16:creationId xmlns:a16="http://schemas.microsoft.com/office/drawing/2014/main" id="{A800D5D3-6297-49EE-AFAC-09FB02B5D87D}"/>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Plan within scope</a:t>
            </a:r>
          </a:p>
        </p:txBody>
      </p:sp>
      <p:sp>
        <p:nvSpPr>
          <p:cNvPr id="11" name="check-4">
            <a:extLst xmlns:a="http://schemas.openxmlformats.org/drawingml/2006/main">
              <a:ext uri="{FF2B5EF4-FFF2-40B4-BE49-F238E27FC236}">
                <a16:creationId xmlns:a16="http://schemas.microsoft.com/office/drawing/2014/main" id="{F2A14CA4-2593-49F4-B4B6-5AD29BA50111}"/>
              </a:ext>
            </a:extLst>
          </p:cNvPr>
          <p:cNvSpPr>
            <a:spLocks xmlns:a="http://schemas.openxmlformats.org/drawingml/2006/main" noGrp="1"/>
          </p:cNvSpPr>
          <p:nvPr/>
        </p:nvSpPr>
        <p:spPr>
          <a:xfrm xmlns:a="http://schemas.openxmlformats.org/drawingml/2006/main">
            <a:off x="7507700" y="4833842"/>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2" name="check-label-4">
            <a:extLst xmlns:a="http://schemas.openxmlformats.org/drawingml/2006/main">
              <a:ext uri="{FF2B5EF4-FFF2-40B4-BE49-F238E27FC236}">
                <a16:creationId xmlns:a16="http://schemas.microsoft.com/office/drawing/2014/main" id="{268FF5B7-4BE2-4467-8C1D-E89332964E52}"/>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Provide and document care</a:t>
            </a:r>
          </a:p>
        </p:txBody>
      </p:sp>
      <p:sp>
        <p:nvSpPr>
          <p:cNvPr id="13" name="check-5">
            <a:extLst xmlns:a="http://schemas.openxmlformats.org/drawingml/2006/main">
              <a:ext uri="{FF2B5EF4-FFF2-40B4-BE49-F238E27FC236}">
                <a16:creationId xmlns:a16="http://schemas.microsoft.com/office/drawing/2014/main" id="{1D915E97-5302-4513-A57D-501BED964006}"/>
              </a:ext>
            </a:extLst>
          </p:cNvPr>
          <p:cNvSpPr>
            <a:spLocks xmlns:a="http://schemas.openxmlformats.org/drawingml/2006/main" noGrp="1"/>
          </p:cNvSpPr>
          <p:nvPr/>
        </p:nvSpPr>
        <p:spPr>
          <a:xfrm xmlns:a="http://schemas.openxmlformats.org/drawingml/2006/main">
            <a:off x="7507700" y="5456206"/>
            <a:ext cx="266700" cy="3048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a:t>
            </a:r>
          </a:p>
        </p:txBody>
      </p:sp>
      <p:sp>
        <p:nvSpPr>
          <p:cNvPr id="14" name="check-label-5">
            <a:extLst xmlns:a="http://schemas.openxmlformats.org/drawingml/2006/main">
              <a:ext uri="{FF2B5EF4-FFF2-40B4-BE49-F238E27FC236}">
                <a16:creationId xmlns:a16="http://schemas.microsoft.com/office/drawing/2014/main" id="{753BA15D-D636-4591-96AC-A11EAE10EE4B}"/>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a:solidFill>
                  <a:srgbClr val="18232F"/>
                </a:solidFill>
                <a:latin typeface="Helvetica Neue"/>
                <a:ea typeface="Helvetica Neue"/>
                <a:cs typeface="Helvetica Neue"/>
              </a:defRPr>
            </a:pPr>
            <a:r>
              <a:t>Reassess the response</a:t>
            </a:r>
          </a:p>
        </p:txBody>
      </p:sp>
    </p:spTree>
    <p:extLst>
      <p:ext uri="{BB962C8B-B14F-4D97-AF65-F5344CB8AC3E}">
        <p14:creationId xmlns:p14="http://schemas.microsoft.com/office/powerpoint/2010/main" val="777365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losing-eyebrow">
            <a:extLst xmlns:a="http://schemas.openxmlformats.org/drawingml/2006/main">
              <a:ext uri="{FF2B5EF4-FFF2-40B4-BE49-F238E27FC236}">
                <a16:creationId xmlns:a16="http://schemas.microsoft.com/office/drawing/2014/main" id="{21303B68-3173-4217-94DB-9FD39464812A}"/>
              </a:ext>
            </a:extLst>
          </p:cNvPr>
          <p:cNvSpPr>
            <a:spLocks xmlns:a="http://schemas.openxmlformats.org/drawingml/2006/main" noGrp="1"/>
          </p:cNvSpPr>
          <p:nvPr/>
        </p:nvSpPr>
        <p:spPr>
          <a:xfrm xmlns:a="http://schemas.openxmlformats.org/drawingml/2006/main">
            <a:off x="393668" y="392240"/>
            <a:ext cx="7239000"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800" b="1">
                <a:solidFill>
                  <a:srgbClr val="2B6976"/>
                </a:solidFill>
                <a:latin typeface="Helvetica Neue"/>
                <a:ea typeface="Helvetica Neue"/>
                <a:cs typeface="Helvetica Neue"/>
              </a:defRPr>
            </a:pPr>
            <a:r>
              <a:t>RECOGNIZE  →  ACT  →  REPORT</a:t>
            </a:r>
          </a:p>
        </p:txBody>
      </p:sp>
      <p:sp>
        <p:nvSpPr>
          <p:cNvPr id="2" name="closing-message">
            <a:extLst xmlns:a="http://schemas.openxmlformats.org/drawingml/2006/main">
              <a:ext uri="{FF2B5EF4-FFF2-40B4-BE49-F238E27FC236}">
                <a16:creationId xmlns:a16="http://schemas.microsoft.com/office/drawing/2014/main" id="{BB24CD82-6718-4D7A-9585-BF167B65A0D7}"/>
              </a:ext>
            </a:extLst>
          </p:cNvPr>
          <p:cNvSpPr>
            <a:spLocks xmlns:a="http://schemas.openxmlformats.org/drawingml/2006/main" noGrp="1"/>
          </p:cNvSpPr>
          <p:nvPr/>
        </p:nvSpPr>
        <p:spPr>
          <a:xfrm xmlns:a="http://schemas.openxmlformats.org/drawingml/2006/main">
            <a:off x="393668" y="1738789"/>
            <a:ext cx="1000125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4800" b="1">
                <a:solidFill>
                  <a:srgbClr val="18232F"/>
                </a:solidFill>
                <a:latin typeface="Helvetica Neue"/>
                <a:ea typeface="Helvetica Neue"/>
                <a:cs typeface="Helvetica Neue"/>
              </a:defRPr>
            </a:pPr>
            <a:r>
              <a:t>Gather the cue.
Choose the priority.
Reassess the result.</a:t>
            </a:r>
          </a:p>
        </p:txBody>
      </p:sp>
      <p:sp>
        <p:nvSpPr>
          <p:cNvPr id="3" name="closing-prompt">
            <a:extLst xmlns:a="http://schemas.openxmlformats.org/drawingml/2006/main">
              <a:ext uri="{FF2B5EF4-FFF2-40B4-BE49-F238E27FC236}">
                <a16:creationId xmlns:a16="http://schemas.microsoft.com/office/drawing/2014/main" id="{8B113682-C21A-41C2-8089-66329D32BC4C}"/>
              </a:ext>
            </a:extLst>
          </p:cNvPr>
          <p:cNvSpPr>
            <a:spLocks xmlns:a="http://schemas.openxmlformats.org/drawingml/2006/main" noGrp="1"/>
          </p:cNvSpPr>
          <p:nvPr/>
        </p:nvSpPr>
        <p:spPr>
          <a:xfrm xmlns:a="http://schemas.openxmlformats.org/drawingml/2006/main">
            <a:off x="393668" y="4742212"/>
            <a:ext cx="8572500"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025">
                <a:solidFill>
                  <a:srgbClr val="596B7B"/>
                </a:solidFill>
                <a:latin typeface="Helvetica Neue"/>
                <a:ea typeface="Helvetica Neue"/>
                <a:cs typeface="Helvetica Neue"/>
              </a:defRPr>
            </a:pPr>
            <a:r>
              <a:t>Before moving on, explain the cue, your immediate action within scope, and the facts you would report.</a:t>
            </a:r>
          </a:p>
        </p:txBody>
      </p:sp>
      <p:sp>
        <p:nvSpPr>
          <p:cNvPr id="4" name="slide-number">
            <a:extLst xmlns:a="http://schemas.openxmlformats.org/drawingml/2006/main">
              <a:ext uri="{FF2B5EF4-FFF2-40B4-BE49-F238E27FC236}">
                <a16:creationId xmlns:a16="http://schemas.microsoft.com/office/drawing/2014/main" id="{CF62E840-7AD3-40FC-9311-F335BC70AAB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200">
                <a:solidFill>
                  <a:srgbClr val="596B7B"/>
                </a:solidFill>
                <a:latin typeface="Helvetica Neue"/>
                <a:ea typeface="Helvetica Neue"/>
                <a:cs typeface="Helvetica Neue"/>
              </a:defRPr>
            </a:pPr>
            <a:r>
              <a:t>4</a:t>
            </a:r>
          </a:p>
        </p:txBody>
      </p:sp>
    </p:spTree>
    <p:extLst>
      <p:ext uri="{BB962C8B-B14F-4D97-AF65-F5344CB8AC3E}">
        <p14:creationId xmlns:p14="http://schemas.microsoft.com/office/powerpoint/2010/main" val="11622616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2026-07-30T05:24:53.5060000Z</dcterms:created>
  <dcterms:modified xsi:type="dcterms:W3CDTF">2026-07-30T05:24:53.5060000Z</dcterms:modified>
</coreProperties>
</file>