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47badbd2e84089" /><Relationship Type="http://schemas.openxmlformats.org/officeDocument/2006/relationships/extended-properties" Target="/docProps/app.xml" Id="R398ec45c08074ae0" /><Relationship Type="http://schemas.openxmlformats.org/officeDocument/2006/relationships/officeDocument" Target="/ppt/presentation.xml" Id="R67d73c35c5d645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1b6e2a0f394eee"/>
  </p:sldMasterIdLst>
  <p:notesMasterIdLst>
    <p:notesMasterId xmlns:r="http://schemas.openxmlformats.org/officeDocument/2006/relationships" r:id="R099d6c99184a4beb"/>
  </p:notesMasterIdLst>
  <p:sldIdLst>
    <p:sldId xmlns:r="http://schemas.openxmlformats.org/officeDocument/2006/relationships" id="256" r:id="R5108075dc7734544"/>
    <p:sldId xmlns:r="http://schemas.openxmlformats.org/officeDocument/2006/relationships" id="257" r:id="Rb56ef79ac08748ba"/>
    <p:sldId xmlns:r="http://schemas.openxmlformats.org/officeDocument/2006/relationships" id="258" r:id="Rba75217410d14df3"/>
    <p:sldId xmlns:r="http://schemas.openxmlformats.org/officeDocument/2006/relationships" id="259" r:id="R7854c9423ed44c6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ce43b54ec3462f" /><Relationship Type="http://schemas.openxmlformats.org/officeDocument/2006/relationships/slideMaster" Target="/ppt/slideMasters/slideMaster1.xml" Id="R0a1b6e2a0f394eee" /><Relationship Type="http://schemas.openxmlformats.org/officeDocument/2006/relationships/notesMaster" Target="/ppt/notesMasters/notesMaster1.xml" Id="R099d6c99184a4beb" /><Relationship Type="http://schemas.openxmlformats.org/officeDocument/2006/relationships/presProps" Target="/ppt/presProps.xml" Id="Rf4494d39e3d64f4e" /><Relationship Type="http://schemas.openxmlformats.org/officeDocument/2006/relationships/tableStyles" Target="/ppt/tableStyles.xml" Id="Rdd94e4dd6c474088" /><Relationship Type="http://schemas.openxmlformats.org/officeDocument/2006/relationships/slide" Target="/ppt/slides/slide1.xml" Id="R5108075dc7734544" /><Relationship Type="http://schemas.openxmlformats.org/officeDocument/2006/relationships/slide" Target="/ppt/slides/slide2.xml" Id="Rb56ef79ac08748ba" /><Relationship Type="http://schemas.openxmlformats.org/officeDocument/2006/relationships/slide" Target="/ppt/slides/slide3.xml" Id="Rba75217410d14df3" /><Relationship Type="http://schemas.openxmlformats.org/officeDocument/2006/relationships/slide" Target="/ppt/slides/slide4.xml" Id="R7854c9423ed44c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df679c93da43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24e327d7564230" /><Relationship Type="http://schemas.openxmlformats.org/officeDocument/2006/relationships/notesMaster" Target="/ppt/notesMasters/notesMaster1.xml" Id="Rd87cc4e4a5e242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5f1b7aec5348dc" /><Relationship Type="http://schemas.openxmlformats.org/officeDocument/2006/relationships/notesMaster" Target="/ppt/notesMasters/notesMaster1.xml" Id="Rb134c49224ed41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cbe35fb5a84075" /><Relationship Type="http://schemas.openxmlformats.org/officeDocument/2006/relationships/notesMaster" Target="/ppt/notesMasters/notesMaster1.xml" Id="Re038f34adb6d43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5c421274204805" /><Relationship Type="http://schemas.openxmlformats.org/officeDocument/2006/relationships/notesMaster" Target="/ppt/notesMasters/notesMaster1.xml" Id="R999ac3d1ac9745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chapter and connect it to the assigned textbook reading.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3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3, pp. 40–59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how the four reading-focus concepts fit together before applying them to care.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3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3, pp. 40–59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Apply the chapter concepts to the practical nurse’s observation, action, documentation, and reporting responsibilities.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3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3, pp. 40–59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recall-and-application prompt: recognize the cue, act safely within scope, and report exact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3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3, pp. 40–59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1ab7ce98d84b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d1c12c8f434fd4" /><Relationship Type="http://schemas.openxmlformats.org/officeDocument/2006/relationships/slideLayout" Target="/ppt/slideLayouts/slideLayout1.xml" Id="R6a598338778643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598338778643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49ead59c143cc" /><Relationship Type="http://schemas.openxmlformats.org/officeDocument/2006/relationships/notesSlide" Target="/ppt/notesSlides/notesSlide1.xml" Id="Rcf6b165b665c41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0bd2396324721" /><Relationship Type="http://schemas.openxmlformats.org/officeDocument/2006/relationships/notesSlide" Target="/ppt/notesSlides/notesSlide2.xml" Id="R912accbecd904e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0e59f0058a4e5d" /><Relationship Type="http://schemas.openxmlformats.org/officeDocument/2006/relationships/notesSlide" Target="/ppt/notesSlides/notesSlide3.xml" Id="R44137d63b07747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d4fc3feb34a77" /><Relationship Type="http://schemas.openxmlformats.org/officeDocument/2006/relationships/notesSlide" Target="/ppt/notesSlides/notesSlide4.xml" Id="R922cc446520849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urse-eyebrow">
            <a:extLst xmlns:a="http://schemas.openxmlformats.org/drawingml/2006/main">
              <a:ext uri="{FF2B5EF4-FFF2-40B4-BE49-F238E27FC236}">
                <a16:creationId xmlns:a16="http://schemas.microsoft.com/office/drawing/2014/main" id="{2D286FE4-A3DC-40E5-AC75-1A5A9A09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858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BROWARD–MIAMI HEALTH INSTITUTE</a:t>
            </a:r>
          </a:p>
        </p:txBody>
      </p:sp>
      <p:sp>
        <p:nvSpPr>
          <p:cNvPr id="2" name="chapter-title">
            <a:extLst xmlns:a="http://schemas.openxmlformats.org/drawingml/2006/main">
              <a:ext uri="{FF2B5EF4-FFF2-40B4-BE49-F238E27FC236}">
                <a16:creationId xmlns:a16="http://schemas.microsoft.com/office/drawing/2014/main" id="{9228A258-5D2B-4358-836C-81E2E238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Documentation</a:t>
            </a:r>
          </a:p>
        </p:txBody>
      </p:sp>
      <p:sp>
        <p:nvSpPr>
          <p:cNvPr id="3" name="chapter-subtitle">
            <a:extLst xmlns:a="http://schemas.openxmlformats.org/drawingml/2006/main">
              <a:ext uri="{FF2B5EF4-FFF2-40B4-BE49-F238E27FC236}">
                <a16:creationId xmlns:a16="http://schemas.microsoft.com/office/drawing/2014/main" id="{2DC2D2DE-1EAC-48EE-8168-41DC9091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95250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PN 102  •  Chapter 3  •  Foundations of Nursing, 9th ed.  •  pp. 40–59</a:t>
            </a:r>
          </a:p>
        </p:txBody>
      </p:sp>
    </p:spTree>
    <p:extLst>
      <p:ext uri="{BB962C8B-B14F-4D97-AF65-F5344CB8AC3E}">
        <p14:creationId xmlns:p14="http://schemas.microsoft.com/office/powerpoint/2010/main" val="19128675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ncepts-title">
            <a:extLst xmlns:a="http://schemas.openxmlformats.org/drawingml/2006/main">
              <a:ext uri="{FF2B5EF4-FFF2-40B4-BE49-F238E27FC236}">
                <a16:creationId xmlns:a16="http://schemas.microsoft.com/office/drawing/2014/main" id="{DA561F4F-4C06-4E64-A277-7507978F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Chapter 3: four ideas to connect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0EB6CF8-F4B4-4C7E-9A41-3AD13EB0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3" name="concept-1-title">
            <a:extLst xmlns:a="http://schemas.openxmlformats.org/drawingml/2006/main">
              <a:ext uri="{FF2B5EF4-FFF2-40B4-BE49-F238E27FC236}">
                <a16:creationId xmlns:a16="http://schemas.microsoft.com/office/drawing/2014/main" id="{17C7FD16-5F72-4AC7-9A3D-4C5BACFA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Purpose of the record</a:t>
            </a:r>
          </a:p>
        </p:txBody>
      </p:sp>
      <p:sp>
        <p:nvSpPr>
          <p:cNvPr id="4" name="concept-1-explanation">
            <a:extLst xmlns:a="http://schemas.openxmlformats.org/drawingml/2006/main">
              <a:ext uri="{FF2B5EF4-FFF2-40B4-BE49-F238E27FC236}">
                <a16:creationId xmlns:a16="http://schemas.microsoft.com/office/drawing/2014/main" id="{3D1E0E43-5312-45B5-84CB-EB8C64EE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the record to support communication, continuity, quality review, reimbursement, and accountability.</a:t>
            </a:r>
          </a:p>
        </p:txBody>
      </p:sp>
      <p:sp>
        <p:nvSpPr>
          <p:cNvPr id="5" name="concept-2-title">
            <a:extLst xmlns:a="http://schemas.openxmlformats.org/drawingml/2006/main">
              <a:ext uri="{FF2B5EF4-FFF2-40B4-BE49-F238E27FC236}">
                <a16:creationId xmlns:a16="http://schemas.microsoft.com/office/drawing/2014/main" id="{A41EC1B7-E4D2-450D-8725-D6BBBED2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EHR and ISBAR</a:t>
            </a:r>
          </a:p>
        </p:txBody>
      </p:sp>
      <p:sp>
        <p:nvSpPr>
          <p:cNvPr id="6" name="concept-2-explanation">
            <a:extLst xmlns:a="http://schemas.openxmlformats.org/drawingml/2006/main">
              <a:ext uri="{FF2B5EF4-FFF2-40B4-BE49-F238E27FC236}">
                <a16:creationId xmlns:a16="http://schemas.microsoft.com/office/drawing/2014/main" id="{292ADC3D-0E0F-495F-9322-120D1E55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Protect electronic information and organize important communication with a consistent ISBAR structure.</a:t>
            </a:r>
          </a:p>
        </p:txBody>
      </p:sp>
      <p:sp>
        <p:nvSpPr>
          <p:cNvPr id="7" name="concept-3-title">
            <a:extLst xmlns:a="http://schemas.openxmlformats.org/drawingml/2006/main">
              <a:ext uri="{FF2B5EF4-FFF2-40B4-BE49-F238E27FC236}">
                <a16:creationId xmlns:a16="http://schemas.microsoft.com/office/drawing/2014/main" id="{A6C10E16-B9FB-4092-BAE5-58DE919C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Legal charting standards</a:t>
            </a:r>
          </a:p>
        </p:txBody>
      </p:sp>
      <p:sp>
        <p:nvSpPr>
          <p:cNvPr id="8" name="concept-3-explanation">
            <a:extLst xmlns:a="http://schemas.openxmlformats.org/drawingml/2006/main">
              <a:ext uri="{FF2B5EF4-FFF2-40B4-BE49-F238E27FC236}">
                <a16:creationId xmlns:a16="http://schemas.microsoft.com/office/drawing/2014/main" id="{362EEDD1-9B33-4968-8020-C8A9C539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Document promptly, objectively, accurately, and completely without assumptions or blame.</a:t>
            </a:r>
          </a:p>
        </p:txBody>
      </p:sp>
      <p:sp>
        <p:nvSpPr>
          <p:cNvPr id="9" name="concept-4-title">
            <a:extLst xmlns:a="http://schemas.openxmlformats.org/drawingml/2006/main">
              <a:ext uri="{FF2B5EF4-FFF2-40B4-BE49-F238E27FC236}">
                <a16:creationId xmlns:a16="http://schemas.microsoft.com/office/drawing/2014/main" id="{D592BC61-EB55-4A9E-B1F9-12EB3F42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Confidentiality</a:t>
            </a:r>
          </a:p>
        </p:txBody>
      </p:sp>
      <p:sp>
        <p:nvSpPr>
          <p:cNvPr id="10" name="concept-4-explanation">
            <a:extLst xmlns:a="http://schemas.openxmlformats.org/drawingml/2006/main">
              <a:ext uri="{FF2B5EF4-FFF2-40B4-BE49-F238E27FC236}">
                <a16:creationId xmlns:a16="http://schemas.microsoft.com/office/drawing/2014/main" id="{139798C4-E21B-4138-8FA3-01F7B871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Access only the records needed for your role and correct errors according to policy.</a:t>
            </a:r>
          </a:p>
        </p:txBody>
      </p:sp>
    </p:spTree>
    <p:extLst>
      <p:ext uri="{BB962C8B-B14F-4D97-AF65-F5344CB8AC3E}">
        <p14:creationId xmlns:p14="http://schemas.microsoft.com/office/powerpoint/2010/main" val="13343418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19DB37A1-6B2E-45ED-B602-B8F08EC1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Put the chapter into safe practical nursing care</a:t>
            </a:r>
          </a:p>
        </p:txBody>
      </p:sp>
      <p:sp>
        <p:nvSpPr>
          <p:cNvPr id="2" name="practice-lead">
            <a:extLst xmlns:a="http://schemas.openxmlformats.org/drawingml/2006/main">
              <a:ext uri="{FF2B5EF4-FFF2-40B4-BE49-F238E27FC236}">
                <a16:creationId xmlns:a16="http://schemas.microsoft.com/office/drawing/2014/main" id="{A98E3FFA-5638-499F-8C25-1F879E1D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The record should show what happened and how the patient responded.</a:t>
            </a:r>
          </a:p>
        </p:txBody>
      </p:sp>
      <p:sp>
        <p:nvSpPr>
          <p:cNvPr id="3" name="practice-body">
            <a:extLst xmlns:a="http://schemas.openxmlformats.org/drawingml/2006/main">
              <a:ext uri="{FF2B5EF4-FFF2-40B4-BE49-F238E27FC236}">
                <a16:creationId xmlns:a16="http://schemas.microsoft.com/office/drawing/2014/main" id="{FCFF83E5-C015-4F08-976C-0A72A449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Chart measurable findings, care provided, the patient’s exact statements when relevant, and the response. Never document before care is completed, share passwords, or hide a correction.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E6B0C1E-C4BF-453B-AA3E-7D0B7151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check-1">
            <a:extLst xmlns:a="http://schemas.openxmlformats.org/drawingml/2006/main">
              <a:ext uri="{FF2B5EF4-FFF2-40B4-BE49-F238E27FC236}">
                <a16:creationId xmlns:a16="http://schemas.microsoft.com/office/drawing/2014/main" id="{148BC90A-D3BE-41D9-8347-ABD7237E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29998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6" name="check-label-1">
            <a:extLst xmlns:a="http://schemas.openxmlformats.org/drawingml/2006/main">
              <a:ext uri="{FF2B5EF4-FFF2-40B4-BE49-F238E27FC236}">
                <a16:creationId xmlns:a16="http://schemas.microsoft.com/office/drawing/2014/main" id="{91182602-54DC-4C5E-82FA-398BBF4C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the correct patient record</a:t>
            </a:r>
          </a:p>
        </p:txBody>
      </p:sp>
      <p:sp>
        <p:nvSpPr>
          <p:cNvPr id="7" name="check-2">
            <a:extLst xmlns:a="http://schemas.openxmlformats.org/drawingml/2006/main">
              <a:ext uri="{FF2B5EF4-FFF2-40B4-BE49-F238E27FC236}">
                <a16:creationId xmlns:a16="http://schemas.microsoft.com/office/drawing/2014/main" id="{E711E9AE-1D17-4DA6-9685-91F5057D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094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8" name="check-label-2">
            <a:extLst xmlns:a="http://schemas.openxmlformats.org/drawingml/2006/main">
              <a:ext uri="{FF2B5EF4-FFF2-40B4-BE49-F238E27FC236}">
                <a16:creationId xmlns:a16="http://schemas.microsoft.com/office/drawing/2014/main" id="{A2C8DBD7-9D2A-41D4-98C8-285D52A4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Chart as soon as possible</a:t>
            </a:r>
          </a:p>
        </p:txBody>
      </p:sp>
      <p:sp>
        <p:nvSpPr>
          <p:cNvPr id="9" name="check-3">
            <a:extLst xmlns:a="http://schemas.openxmlformats.org/drawingml/2006/main">
              <a:ext uri="{FF2B5EF4-FFF2-40B4-BE49-F238E27FC236}">
                <a16:creationId xmlns:a16="http://schemas.microsoft.com/office/drawing/2014/main" id="{55BC5FDE-4392-4252-9B0F-6DF5FED4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24338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0" name="check-label-3">
            <a:extLst xmlns:a="http://schemas.openxmlformats.org/drawingml/2006/main">
              <a:ext uri="{FF2B5EF4-FFF2-40B4-BE49-F238E27FC236}">
                <a16:creationId xmlns:a16="http://schemas.microsoft.com/office/drawing/2014/main" id="{DEA55A2F-A8F1-4839-A923-62777A11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Describe facts—not labels</a:t>
            </a:r>
          </a:p>
        </p:txBody>
      </p:sp>
      <p:sp>
        <p:nvSpPr>
          <p:cNvPr id="11" name="check-4">
            <a:extLst xmlns:a="http://schemas.openxmlformats.org/drawingml/2006/main">
              <a:ext uri="{FF2B5EF4-FFF2-40B4-BE49-F238E27FC236}">
                <a16:creationId xmlns:a16="http://schemas.microsoft.com/office/drawing/2014/main" id="{EA38A26A-3F23-43F3-B502-6CC2A23B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33842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2" name="check-label-4">
            <a:extLst xmlns:a="http://schemas.openxmlformats.org/drawingml/2006/main">
              <a:ext uri="{FF2B5EF4-FFF2-40B4-BE49-F238E27FC236}">
                <a16:creationId xmlns:a16="http://schemas.microsoft.com/office/drawing/2014/main" id="{15FD869E-1604-4120-A0FA-07359CD0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Record the patient response</a:t>
            </a:r>
          </a:p>
        </p:txBody>
      </p:sp>
      <p:sp>
        <p:nvSpPr>
          <p:cNvPr id="13" name="check-5">
            <a:extLst xmlns:a="http://schemas.openxmlformats.org/drawingml/2006/main">
              <a:ext uri="{FF2B5EF4-FFF2-40B4-BE49-F238E27FC236}">
                <a16:creationId xmlns:a16="http://schemas.microsoft.com/office/drawing/2014/main" id="{F6675F22-F561-4EE8-99D7-45F22CDA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56206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4" name="check-label-5">
            <a:extLst xmlns:a="http://schemas.openxmlformats.org/drawingml/2006/main">
              <a:ext uri="{FF2B5EF4-FFF2-40B4-BE49-F238E27FC236}">
                <a16:creationId xmlns:a16="http://schemas.microsoft.com/office/drawing/2014/main" id="{708242FC-A835-41B0-94E0-E6A421B5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Protect access and passwords</a:t>
            </a:r>
          </a:p>
        </p:txBody>
      </p:sp>
    </p:spTree>
    <p:extLst>
      <p:ext uri="{BB962C8B-B14F-4D97-AF65-F5344CB8AC3E}">
        <p14:creationId xmlns:p14="http://schemas.microsoft.com/office/powerpoint/2010/main" val="17480710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losing-eyebrow">
            <a:extLst xmlns:a="http://schemas.openxmlformats.org/drawingml/2006/main">
              <a:ext uri="{FF2B5EF4-FFF2-40B4-BE49-F238E27FC236}">
                <a16:creationId xmlns:a16="http://schemas.microsoft.com/office/drawing/2014/main" id="{0450E637-4C3B-41F3-A442-5F9D0615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RECOGNIZE  →  ACT  →  REPORT</a:t>
            </a:r>
          </a:p>
        </p:txBody>
      </p:sp>
      <p:sp>
        <p:nvSpPr>
          <p:cNvPr id="2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CF8B7D1E-92C4-43B9-A3D7-00F07251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Observe the facts.
Chart the care.
Report the change.</a:t>
            </a:r>
          </a:p>
        </p:txBody>
      </p:sp>
      <p:sp>
        <p:nvSpPr>
          <p:cNvPr id="3" name="closing-prompt">
            <a:extLst xmlns:a="http://schemas.openxmlformats.org/drawingml/2006/main">
              <a:ext uri="{FF2B5EF4-FFF2-40B4-BE49-F238E27FC236}">
                <a16:creationId xmlns:a16="http://schemas.microsoft.com/office/drawing/2014/main" id="{4E5613F6-0173-41D5-AA35-B6BF1510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8572500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Before moving on, explain the cue, your immediate action within scope, and the facts you would report.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2DE5177-123F-49E4-B743-09C11046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957122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2026-07-30T05:24:52.9300000Z</dcterms:created>
  <dcterms:modified xsi:type="dcterms:W3CDTF">2026-07-30T05:24:52.9300000Z</dcterms:modified>
</coreProperties>
</file>