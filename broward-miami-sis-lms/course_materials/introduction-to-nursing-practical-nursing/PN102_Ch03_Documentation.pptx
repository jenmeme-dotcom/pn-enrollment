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1"/>
    <p:sldMasterId id="2147483735" r:id="rId2"/>
  </p:sldMasterIdLst>
  <p:notesMasterIdLst>
    <p:notesMasterId r:id="rId16"/>
  </p:notesMasterIdLst>
  <p:handoutMasterIdLst>
    <p:handoutMasterId r:id="rId17"/>
  </p:handoutMasterIdLst>
  <p:sldIdLst>
    <p:sldId id="454" r:id="rId3"/>
    <p:sldId id="372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2">
          <p15:clr>
            <a:srgbClr val="A4A3A4"/>
          </p15:clr>
        </p15:guide>
        <p15:guide id="3" pos="2880">
          <p15:clr>
            <a:srgbClr val="A4A3A4"/>
          </p15:clr>
        </p15:guide>
        <p15:guide id="4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len Kunkelmann" initials="AU" lastIdx="7" clrIdx="0"/>
  <p:cmAuthor id="1" name="Reed Elsevier" initials="RE" lastIdx="1" clrIdx="1"/>
  <p:cmAuthor id="2" name="Lisa" initials="L" lastIdx="1" clrIdx="2">
    <p:extLst>
      <p:ext uri="{19B8F6BF-5375-455C-9EA6-DF929625EA0E}">
        <p15:presenceInfo xmlns:p15="http://schemas.microsoft.com/office/powerpoint/2012/main" userId="L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4A135-C370-24C4-1CE9-7D515334E43A}" v="77" dt="2021-12-27T15:48:52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6" autoAdjust="0"/>
    <p:restoredTop sz="90175" autoAdjust="0"/>
  </p:normalViewPr>
  <p:slideViewPr>
    <p:cSldViewPr snapToGrid="0">
      <p:cViewPr varScale="1">
        <p:scale>
          <a:sx n="60" d="100"/>
          <a:sy n="60" d="100"/>
        </p:scale>
        <p:origin x="1400" y="48"/>
      </p:cViewPr>
      <p:guideLst>
        <p:guide orient="horz" pos="2160"/>
        <p:guide orient="horz" pos="1002"/>
        <p:guide pos="2880"/>
        <p:guide pos="5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856" y="45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 Spindler" userId="S::daya.spindler@g.austincc.edu::d47267c9-b69c-4d84-8d8d-9eb6067b7650" providerId="AD" clId="Web-{EF94A135-C370-24C4-1CE9-7D515334E43A}"/>
    <pc:docChg chg="modSld">
      <pc:chgData name="Daya Spindler" userId="S::daya.spindler@g.austincc.edu::d47267c9-b69c-4d84-8d8d-9eb6067b7650" providerId="AD" clId="Web-{EF94A135-C370-24C4-1CE9-7D515334E43A}" dt="2021-12-27T15:48:52.606" v="72"/>
      <pc:docMkLst>
        <pc:docMk/>
      </pc:docMkLst>
      <pc:sldChg chg="modSp">
        <pc:chgData name="Daya Spindler" userId="S::daya.spindler@g.austincc.edu::d47267c9-b69c-4d84-8d8d-9eb6067b7650" providerId="AD" clId="Web-{EF94A135-C370-24C4-1CE9-7D515334E43A}" dt="2021-12-27T15:48:31.231" v="61"/>
        <pc:sldMkLst>
          <pc:docMk/>
          <pc:sldMk cId="0" sldId="372"/>
        </pc:sldMkLst>
        <pc:spChg chg="mod ord">
          <ac:chgData name="Daya Spindler" userId="S::daya.spindler@g.austincc.edu::d47267c9-b69c-4d84-8d8d-9eb6067b7650" providerId="AD" clId="Web-{EF94A135-C370-24C4-1CE9-7D515334E43A}" dt="2021-12-27T15:48:31.231" v="61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22:09.846" v="1" actId="20577"/>
        <pc:sldMkLst>
          <pc:docMk/>
          <pc:sldMk cId="4149221392" sldId="454"/>
        </pc:sldMkLst>
        <pc:spChg chg="mod">
          <ac:chgData name="Daya Spindler" userId="S::daya.spindler@g.austincc.edu::d47267c9-b69c-4d84-8d8d-9eb6067b7650" providerId="AD" clId="Web-{EF94A135-C370-24C4-1CE9-7D515334E43A}" dt="2021-12-27T15:22:09.846" v="1" actId="20577"/>
          <ac:spMkLst>
            <pc:docMk/>
            <pc:sldMk cId="4149221392" sldId="454"/>
            <ac:spMk id="5" creationId="{768FB6F7-A481-41DF-934F-28DB4F80864F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33.762" v="62"/>
        <pc:sldMkLst>
          <pc:docMk/>
          <pc:sldMk cId="257316634" sldId="455"/>
        </pc:sldMkLst>
        <pc:spChg chg="mod ord">
          <ac:chgData name="Daya Spindler" userId="S::daya.spindler@g.austincc.edu::d47267c9-b69c-4d84-8d8d-9eb6067b7650" providerId="AD" clId="Web-{EF94A135-C370-24C4-1CE9-7D515334E43A}" dt="2021-12-27T15:48:33.762" v="62"/>
          <ac:spMkLst>
            <pc:docMk/>
            <pc:sldMk cId="257316634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35.574" v="63"/>
        <pc:sldMkLst>
          <pc:docMk/>
          <pc:sldMk cId="2397820976" sldId="456"/>
        </pc:sldMkLst>
        <pc:spChg chg="mod ord">
          <ac:chgData name="Daya Spindler" userId="S::daya.spindler@g.austincc.edu::d47267c9-b69c-4d84-8d8d-9eb6067b7650" providerId="AD" clId="Web-{EF94A135-C370-24C4-1CE9-7D515334E43A}" dt="2021-12-27T15:48:35.574" v="63"/>
          <ac:spMkLst>
            <pc:docMk/>
            <pc:sldMk cId="2397820976" sldId="456"/>
            <ac:spMk id="5" creationId="{E79A342E-08C0-4F01-A222-80D51F32E774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37.731" v="64"/>
        <pc:sldMkLst>
          <pc:docMk/>
          <pc:sldMk cId="3601482987" sldId="457"/>
        </pc:sldMkLst>
        <pc:spChg chg="mod ord">
          <ac:chgData name="Daya Spindler" userId="S::daya.spindler@g.austincc.edu::d47267c9-b69c-4d84-8d8d-9eb6067b7650" providerId="AD" clId="Web-{EF94A135-C370-24C4-1CE9-7D515334E43A}" dt="2021-12-27T15:48:37.731" v="64"/>
          <ac:spMkLst>
            <pc:docMk/>
            <pc:sldMk cId="3601482987" sldId="457"/>
            <ac:spMk id="5" creationId="{A7C01FC8-4429-470B-AEDB-4DD074D746EB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39.481" v="65"/>
        <pc:sldMkLst>
          <pc:docMk/>
          <pc:sldMk cId="1269850409" sldId="458"/>
        </pc:sldMkLst>
        <pc:spChg chg="mod">
          <ac:chgData name="Daya Spindler" userId="S::daya.spindler@g.austincc.edu::d47267c9-b69c-4d84-8d8d-9eb6067b7650" providerId="AD" clId="Web-{EF94A135-C370-24C4-1CE9-7D515334E43A}" dt="2021-12-27T15:33:15.806" v="10" actId="20577"/>
          <ac:spMkLst>
            <pc:docMk/>
            <pc:sldMk cId="1269850409" sldId="458"/>
            <ac:spMk id="2" creationId="{119AFC0E-B666-4E54-9803-DAB2833A9726}"/>
          </ac:spMkLst>
        </pc:spChg>
        <pc:spChg chg="mod">
          <ac:chgData name="Daya Spindler" userId="S::daya.spindler@g.austincc.edu::d47267c9-b69c-4d84-8d8d-9eb6067b7650" providerId="AD" clId="Web-{EF94A135-C370-24C4-1CE9-7D515334E43A}" dt="2021-12-27T15:34:48.580" v="34" actId="20577"/>
          <ac:spMkLst>
            <pc:docMk/>
            <pc:sldMk cId="1269850409" sldId="458"/>
            <ac:spMk id="3" creationId="{42C5EDEA-BC84-4072-BF69-81319C7032ED}"/>
          </ac:spMkLst>
        </pc:spChg>
        <pc:spChg chg="mod ord">
          <ac:chgData name="Daya Spindler" userId="S::daya.spindler@g.austincc.edu::d47267c9-b69c-4d84-8d8d-9eb6067b7650" providerId="AD" clId="Web-{EF94A135-C370-24C4-1CE9-7D515334E43A}" dt="2021-12-27T15:48:39.481" v="65"/>
          <ac:spMkLst>
            <pc:docMk/>
            <pc:sldMk cId="1269850409" sldId="458"/>
            <ac:spMk id="5" creationId="{EDCC4214-1831-4CAA-8576-F7AF22E79678}"/>
          </ac:spMkLst>
        </pc:spChg>
      </pc:sldChg>
      <pc:sldChg chg="addSp delSp modSp">
        <pc:chgData name="Daya Spindler" userId="S::daya.spindler@g.austincc.edu::d47267c9-b69c-4d84-8d8d-9eb6067b7650" providerId="AD" clId="Web-{EF94A135-C370-24C4-1CE9-7D515334E43A}" dt="2021-12-27T15:48:41.418" v="66"/>
        <pc:sldMkLst>
          <pc:docMk/>
          <pc:sldMk cId="1531908740" sldId="459"/>
        </pc:sldMkLst>
        <pc:spChg chg="mod ord">
          <ac:chgData name="Daya Spindler" userId="S::daya.spindler@g.austincc.edu::d47267c9-b69c-4d84-8d8d-9eb6067b7650" providerId="AD" clId="Web-{EF94A135-C370-24C4-1CE9-7D515334E43A}" dt="2021-12-27T15:48:41.418" v="66"/>
          <ac:spMkLst>
            <pc:docMk/>
            <pc:sldMk cId="1531908740" sldId="459"/>
            <ac:spMk id="5" creationId="{2B52AB73-8A18-4C8A-A694-075808CA5EE2}"/>
          </ac:spMkLst>
        </pc:spChg>
        <pc:spChg chg="add del">
          <ac:chgData name="Daya Spindler" userId="S::daya.spindler@g.austincc.edu::d47267c9-b69c-4d84-8d8d-9eb6067b7650" providerId="AD" clId="Web-{EF94A135-C370-24C4-1CE9-7D515334E43A}" dt="2021-12-27T15:37:51.351" v="43"/>
          <ac:spMkLst>
            <pc:docMk/>
            <pc:sldMk cId="1531908740" sldId="459"/>
            <ac:spMk id="6" creationId="{E04BAD93-5202-47DE-9760-B5BB4A927D54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43.215" v="67"/>
        <pc:sldMkLst>
          <pc:docMk/>
          <pc:sldMk cId="2808183592" sldId="460"/>
        </pc:sldMkLst>
        <pc:spChg chg="mod ord">
          <ac:chgData name="Daya Spindler" userId="S::daya.spindler@g.austincc.edu::d47267c9-b69c-4d84-8d8d-9eb6067b7650" providerId="AD" clId="Web-{EF94A135-C370-24C4-1CE9-7D515334E43A}" dt="2021-12-27T15:48:43.215" v="67"/>
          <ac:spMkLst>
            <pc:docMk/>
            <pc:sldMk cId="2808183592" sldId="460"/>
            <ac:spMk id="5" creationId="{E58AB5AB-E208-4BB1-B4C3-0B1AA95B10CA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44.903" v="68"/>
        <pc:sldMkLst>
          <pc:docMk/>
          <pc:sldMk cId="3607156339" sldId="461"/>
        </pc:sldMkLst>
        <pc:spChg chg="mod ord">
          <ac:chgData name="Daya Spindler" userId="S::daya.spindler@g.austincc.edu::d47267c9-b69c-4d84-8d8d-9eb6067b7650" providerId="AD" clId="Web-{EF94A135-C370-24C4-1CE9-7D515334E43A}" dt="2021-12-27T15:48:44.903" v="68"/>
          <ac:spMkLst>
            <pc:docMk/>
            <pc:sldMk cId="3607156339" sldId="461"/>
            <ac:spMk id="5" creationId="{292A3694-DC0D-4450-9400-5D46FCE1BEF6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47.106" v="69"/>
        <pc:sldMkLst>
          <pc:docMk/>
          <pc:sldMk cId="1698471144" sldId="462"/>
        </pc:sldMkLst>
        <pc:spChg chg="mod">
          <ac:chgData name="Daya Spindler" userId="S::daya.spindler@g.austincc.edu::d47267c9-b69c-4d84-8d8d-9eb6067b7650" providerId="AD" clId="Web-{EF94A135-C370-24C4-1CE9-7D515334E43A}" dt="2021-12-27T15:43:14.969" v="51" actId="20577"/>
          <ac:spMkLst>
            <pc:docMk/>
            <pc:sldMk cId="1698471144" sldId="462"/>
            <ac:spMk id="3" creationId="{2B9DE965-3297-4100-89E6-5D0AC218B5B6}"/>
          </ac:spMkLst>
        </pc:spChg>
        <pc:spChg chg="mod ord">
          <ac:chgData name="Daya Spindler" userId="S::daya.spindler@g.austincc.edu::d47267c9-b69c-4d84-8d8d-9eb6067b7650" providerId="AD" clId="Web-{EF94A135-C370-24C4-1CE9-7D515334E43A}" dt="2021-12-27T15:48:47.106" v="69"/>
          <ac:spMkLst>
            <pc:docMk/>
            <pc:sldMk cId="1698471144" sldId="462"/>
            <ac:spMk id="5" creationId="{5634964B-C16A-4C43-955D-93066EC7FD9F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49.090" v="70"/>
        <pc:sldMkLst>
          <pc:docMk/>
          <pc:sldMk cId="3509900423" sldId="463"/>
        </pc:sldMkLst>
        <pc:spChg chg="mod">
          <ac:chgData name="Daya Spindler" userId="S::daya.spindler@g.austincc.edu::d47267c9-b69c-4d84-8d8d-9eb6067b7650" providerId="AD" clId="Web-{EF94A135-C370-24C4-1CE9-7D515334E43A}" dt="2021-12-27T15:44:37.490" v="56" actId="20577"/>
          <ac:spMkLst>
            <pc:docMk/>
            <pc:sldMk cId="3509900423" sldId="463"/>
            <ac:spMk id="3" creationId="{9486C94B-C396-407D-A7A7-50FD79A145DF}"/>
          </ac:spMkLst>
        </pc:spChg>
        <pc:spChg chg="mod ord">
          <ac:chgData name="Daya Spindler" userId="S::daya.spindler@g.austincc.edu::d47267c9-b69c-4d84-8d8d-9eb6067b7650" providerId="AD" clId="Web-{EF94A135-C370-24C4-1CE9-7D515334E43A}" dt="2021-12-27T15:48:49.090" v="70"/>
          <ac:spMkLst>
            <pc:docMk/>
            <pc:sldMk cId="3509900423" sldId="463"/>
            <ac:spMk id="5" creationId="{AA278F6A-CE30-4E46-B136-989008D4C8E4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50.856" v="71"/>
        <pc:sldMkLst>
          <pc:docMk/>
          <pc:sldMk cId="605567969" sldId="464"/>
        </pc:sldMkLst>
        <pc:spChg chg="mod ord">
          <ac:chgData name="Daya Spindler" userId="S::daya.spindler@g.austincc.edu::d47267c9-b69c-4d84-8d8d-9eb6067b7650" providerId="AD" clId="Web-{EF94A135-C370-24C4-1CE9-7D515334E43A}" dt="2021-12-27T15:48:50.856" v="71"/>
          <ac:spMkLst>
            <pc:docMk/>
            <pc:sldMk cId="605567969" sldId="464"/>
            <ac:spMk id="5" creationId="{97F8360E-0235-4AA8-9B02-30049EABDB92}"/>
          </ac:spMkLst>
        </pc:spChg>
      </pc:sldChg>
      <pc:sldChg chg="modSp">
        <pc:chgData name="Daya Spindler" userId="S::daya.spindler@g.austincc.edu::d47267c9-b69c-4d84-8d8d-9eb6067b7650" providerId="AD" clId="Web-{EF94A135-C370-24C4-1CE9-7D515334E43A}" dt="2021-12-27T15:48:52.606" v="72"/>
        <pc:sldMkLst>
          <pc:docMk/>
          <pc:sldMk cId="1470203339" sldId="465"/>
        </pc:sldMkLst>
        <pc:spChg chg="mod ord">
          <ac:chgData name="Daya Spindler" userId="S::daya.spindler@g.austincc.edu::d47267c9-b69c-4d84-8d8d-9eb6067b7650" providerId="AD" clId="Web-{EF94A135-C370-24C4-1CE9-7D515334E43A}" dt="2021-12-27T15:48:52.606" v="72"/>
          <ac:spMkLst>
            <pc:docMk/>
            <pc:sldMk cId="1470203339" sldId="465"/>
            <ac:spMk id="5" creationId="{591BBAF2-1823-41FD-8736-DABAF5D54A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ADBA4-19CC-AC87-E737-9B8205F0CD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624605" y="0"/>
            <a:ext cx="4688902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r>
              <a:rPr lang="en-US" dirty="0"/>
              <a:t>COOPER: Foundations and Adult Health Nursing, 9th Edition</a:t>
            </a:r>
          </a:p>
          <a:p>
            <a:r>
              <a:rPr lang="en-US" dirty="0"/>
              <a:t>Chapter 3 Student Handout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911B7-C629-BF00-6E58-B2D4EF5C7D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5EEAF-9A6D-733F-2DBE-2F301D52D3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1A8658A-66EB-4EC8-8D15-BC92BB31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07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4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286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0858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5430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002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2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41653" indent="-241653"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3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41653" indent="-241653"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349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Identify information to document.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Note the legality of the record.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types of information that may be used for research.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Identify circumstances in which a patient record might be reviewed or audited.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benefit might result from auditing a patient’s record?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06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the accessibility of records.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types of formats used by agencies.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The types of technical system used when choosing computer documentation.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Importance of complying with HIPAA (Health Insurance Portability and Accountability Act) when using a computer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486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form used for SBAR.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Give examples for using SBAR.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91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Summarize basic guidelines for documentation.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Who is responsible for the initial admission assessment and nursing diagnosis?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24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Present sections of a traditional chart.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various sections in the traditional chart and what you would find there.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Identify items contained within narrative documentation.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Distinguish elements pertaining to the POMR documentation system.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Identify benefits of focus charting.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40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Identify circumstances in which an incident report would be filed.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Explain rationale and proper documentation regarding an incident report.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purpose of discharge summary forms.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364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Present samples of clinical pathway forms.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14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Home health care agencies have specific guidelines they must follow regarding documentation to ensure reimbursement.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Provide examples of documentation that would not meet requirements and thus result in denied reimbursements.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955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OBRA regulations of long-term care facilities regarding standard of care for patients.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Identify who regulates standards and rationale regarding documentation to meet the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69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Identify situations in which a patient might require access to his/her health record.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the procedure to obtain permission to one’s health record?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Identify issues regarding confidentiality and the repercussions if a nurse violates a patient’s right to confidentiality.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Expand on computers in the health care setting. What are the benefits?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Identify security issues regarding use of fax machines.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3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BC70723-5CE8-499C-9971-E4BA18B80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487AE73-3EFF-4555-9FC5-23593D65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E234264E-8860-42A2-83C5-41782AA54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7759797-3D2C-4F47-AED4-0E8ADB4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5AAB81D7-0106-4E41-AE2E-2E4047E2435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4177A3A-15AF-4BAA-AB48-4B3B002C052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81CECAA-A39B-467B-A776-CD395CF9D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65A3104-DFC4-492D-B3D0-C3C246A48F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FCA15E23-B403-4680-BAA9-DB5D51A8CF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D72A011B-01AE-4CD8-834B-21DB9583C27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7D6F96D-A6E5-45AB-8576-3F1772613D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3E21C735-DADD-43D3-9408-D21FA5E14BB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D8B011C-2750-47E8-9990-D6261FE36F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0F24A53-2415-4DAD-BD6A-1D9F5DDAF5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2078F67-8AE8-4E9C-AA54-76CE029A507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B9D621F-A6F6-4120-BD22-05C76ECD15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00D131F-949B-4E5B-BE81-7C14B29CC9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EBBF4AC-9420-466C-AD9E-FD6592AADD2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97B28123-2912-48D2-AF42-C274BD8D6B1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6C156E8-9280-4352-B33B-89F3740952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5BEE1B7-10AA-4C75-B080-000D6057AD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198644BA-AE6D-4C74-A6DD-E08DB08BD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7F366DB-197B-47FE-868E-147B370B95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5250" y="6359525"/>
            <a:ext cx="1327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C67DEBA-1458-4D94-8AC0-2EE32DB1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D482F-3402-EEE8-A8C9-C8DFC9725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8800" y="63595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0FB175F7-DCBF-4C4E-B2DF-5E10268F084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6740A-6F55-AA80-AE0B-11F2F5EA8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15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Chapter 3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4922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3.1: Documentation</a:t>
            </a:r>
            <a:br>
              <a:rPr lang="en-US" sz="3400" dirty="0"/>
            </a:br>
            <a:r>
              <a:rPr lang="en-US" sz="1600" dirty="0"/>
              <a:t>(Slide 1 of 2)</a:t>
            </a:r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List the five purposes for patient records.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Describe the electronic health record (EHR) and the personal health record (PHR).</a:t>
            </a:r>
            <a:r>
              <a:rPr lang="en-US" b="1" dirty="0"/>
              <a:t> 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Determine when the use of Situation, Background, Assessment, and Recommendation is beneficial.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State important legal aspects of chart ownership, access, confidentiality, and patient care documentation.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Describe differences between traditional and problem-oriented medical records.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2</a:t>
            </a:fld>
            <a:endParaRPr lang="en-GB" sz="10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3.1: Documentation</a:t>
            </a:r>
            <a:br>
              <a:rPr lang="en-US" sz="3400" dirty="0"/>
            </a:br>
            <a:r>
              <a:rPr lang="en-US" sz="1600" dirty="0"/>
              <a:t>(Slide 2 of 2)</a:t>
            </a:r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Describe the basic guidelines for and the mechanics of charting.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Describe the differences in documenting care with activities of daily living and physical assessment forms, narrative, SOAPE, and focus formats.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documentation and clinical (critical) pathways.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home health care documentation.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long-term health care documentation.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/>
              <a:t>Discuss issues related to computerization in documentation.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3</a:t>
            </a:fld>
            <a:endParaRPr lang="en-GB" sz="1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31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2BE9-4C6E-4855-BE0B-6B9C5255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Purposes of Patient Records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E7C2E-BA13-493D-95C7-702FC7F7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Five basic purposes </a:t>
            </a:r>
            <a:endParaRPr lang="en-US" altLang="en-US" sz="3600" b="1" dirty="0"/>
          </a:p>
          <a:p>
            <a:pPr lvl="1"/>
            <a:r>
              <a:rPr lang="en-US" altLang="en-US" dirty="0"/>
              <a:t>Documented communication</a:t>
            </a:r>
            <a:endParaRPr lang="en-US" altLang="en-US" sz="3200" b="1" dirty="0"/>
          </a:p>
          <a:p>
            <a:pPr lvl="1"/>
            <a:r>
              <a:rPr lang="en-US" altLang="en-US" dirty="0"/>
              <a:t>Permanent record for accountability</a:t>
            </a:r>
          </a:p>
          <a:p>
            <a:pPr lvl="1"/>
            <a:r>
              <a:rPr lang="en-US" altLang="en-US" dirty="0"/>
              <a:t>Legal record of care</a:t>
            </a:r>
          </a:p>
          <a:p>
            <a:pPr lvl="1"/>
            <a:r>
              <a:rPr lang="en-US" altLang="en-US" dirty="0"/>
              <a:t>Teaching </a:t>
            </a:r>
          </a:p>
          <a:p>
            <a:pPr lvl="1"/>
            <a:r>
              <a:rPr lang="en-US" altLang="en-US" dirty="0"/>
              <a:t>Research and data collection</a:t>
            </a:r>
          </a:p>
          <a:p>
            <a:r>
              <a:rPr lang="en-US" altLang="en-US" dirty="0"/>
              <a:t>Audits</a:t>
            </a:r>
          </a:p>
          <a:p>
            <a:r>
              <a:rPr lang="en-US" altLang="en-US" dirty="0"/>
              <a:t>Diagnosis-related groups (DRGs)</a:t>
            </a:r>
          </a:p>
          <a:p>
            <a:r>
              <a:rPr lang="en-US" altLang="en-US" dirty="0"/>
              <a:t>Nurses’ notes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0283-30D6-4324-A998-80C48BC24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82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B0AB-9C97-4777-84CE-0CAC1D91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Electronic Health Record (EHR) and Personal Health Record (PHR)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90C31-DC69-4A48-A2C9-81B78646D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 of the record</a:t>
            </a:r>
          </a:p>
          <a:p>
            <a:r>
              <a:rPr lang="en-US" altLang="en-US" dirty="0"/>
              <a:t>Ease of use and documentation</a:t>
            </a:r>
          </a:p>
          <a:p>
            <a:r>
              <a:rPr lang="en-US" altLang="en-US" dirty="0"/>
              <a:t>Point-of-care</a:t>
            </a:r>
          </a:p>
          <a:p>
            <a:r>
              <a:rPr lang="en-US" altLang="en-US" dirty="0"/>
              <a:t>Computers on wheels (COWS)</a:t>
            </a:r>
          </a:p>
          <a:p>
            <a:r>
              <a:rPr lang="en-US" altLang="en-US" dirty="0"/>
              <a:t>Security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79B26-AFA7-419D-9C1F-81A264992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48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FC0E-B666-4E54-9803-DAB2833A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ISBAR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EDEA-BC84-4072-BF69-81319C703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Identification, situation, background, assessment, and recommendation</a:t>
            </a:r>
          </a:p>
          <a:p>
            <a:r>
              <a:rPr lang="en-US" altLang="en-US" dirty="0"/>
              <a:t>Communicates between provider and nurse, nurse and nurse</a:t>
            </a:r>
          </a:p>
          <a:p>
            <a:r>
              <a:rPr lang="en-US" altLang="en-US" dirty="0"/>
              <a:t>Joint Commission recognizes it meets the National Patient Safety Goals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A2325-C345-402A-B9CB-8FF990F43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85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68E7-AE98-4544-A6F3-B85147F9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Guidelines for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6BAD-FA1F-4386-9DD0-F42D48FE2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Quality and accuracy of the nurse’s notes are extremely important</a:t>
            </a:r>
          </a:p>
          <a:p>
            <a:r>
              <a:rPr lang="en-US" altLang="en-US" dirty="0"/>
              <a:t>Correct spelling, grammar, and punctuation, as well as good penmanship and other writing skills are important in documentation</a:t>
            </a:r>
          </a:p>
          <a:p>
            <a:r>
              <a:rPr lang="en-US" altLang="en-US" dirty="0"/>
              <a:t>Information recorded in the chart should be clear, concise, complete, and accurate</a:t>
            </a:r>
          </a:p>
          <a:p>
            <a:r>
              <a:rPr lang="en-US" altLang="en-US" dirty="0"/>
              <a:t>The registered nurse (RN) is responsible for the initial admission nursing history, physical assessment, and development of care plan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6A890-A2F5-4FFA-94C2-A7D2DC342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190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1BBB-F73D-4649-9823-B13BB4B3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Recording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A0CE-7409-4AFD-84A9-244839587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Traditional chart</a:t>
            </a:r>
          </a:p>
          <a:p>
            <a:r>
              <a:rPr lang="en-US" altLang="en-US" dirty="0"/>
              <a:t>Narrative</a:t>
            </a:r>
          </a:p>
          <a:p>
            <a:r>
              <a:rPr lang="en-US" altLang="en-US" dirty="0"/>
              <a:t>Problem-oriented medical record (POMR)</a:t>
            </a:r>
          </a:p>
          <a:p>
            <a:r>
              <a:rPr lang="en-US" altLang="en-US" dirty="0"/>
              <a:t>Focus charting</a:t>
            </a:r>
          </a:p>
          <a:p>
            <a:r>
              <a:rPr lang="en-US" altLang="en-US" dirty="0"/>
              <a:t>Charting by exception</a:t>
            </a:r>
          </a:p>
          <a:p>
            <a:r>
              <a:rPr lang="en-US" altLang="en-US" dirty="0"/>
              <a:t>Alternative forms</a:t>
            </a:r>
          </a:p>
          <a:p>
            <a:pPr lvl="1"/>
            <a:r>
              <a:rPr lang="en-US" altLang="en-US" dirty="0"/>
              <a:t>Kardex/Rand</a:t>
            </a:r>
          </a:p>
          <a:p>
            <a:pPr lvl="1"/>
            <a:r>
              <a:rPr lang="en-US" altLang="en-US" dirty="0"/>
              <a:t>Nursing care plans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C12B-324C-4ECF-B456-A3F31C807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18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53B1-CDA7-4ADF-88F1-2FCD961F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Documentation 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AD61-F58A-4F04-9819-9B104B12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Incident reports</a:t>
            </a:r>
          </a:p>
          <a:p>
            <a:r>
              <a:rPr lang="en-US" altLang="en-US" dirty="0"/>
              <a:t>24-hour patient care reports and acuity forms</a:t>
            </a:r>
          </a:p>
          <a:p>
            <a:r>
              <a:rPr lang="en-US" altLang="en-US" dirty="0"/>
              <a:t>Acuity charting</a:t>
            </a:r>
          </a:p>
          <a:p>
            <a:r>
              <a:rPr lang="en-US" altLang="en-US" dirty="0"/>
              <a:t>Discharge summary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F2446-7446-4D53-9C1F-C688C8CFB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156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9C98-8CC8-48FA-832A-7E835300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Documentation and Clinical (Critical) Pathways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E965-3297-4100-89E6-5D0AC218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Clinical pathways</a:t>
            </a:r>
          </a:p>
          <a:p>
            <a:pPr lvl="1"/>
            <a:r>
              <a:rPr lang="en-US" altLang="en-US" dirty="0"/>
              <a:t>Coordinates medical and nursing interventions </a:t>
            </a:r>
          </a:p>
          <a:p>
            <a:pPr lvl="1"/>
            <a:r>
              <a:rPr lang="en-US" altLang="en-US" dirty="0"/>
              <a:t>All disciplines develop integrated care plans for projected length of stay for specific case type</a:t>
            </a:r>
          </a:p>
          <a:p>
            <a:pPr lvl="1"/>
            <a:r>
              <a:rPr lang="en-US" altLang="en-US" dirty="0"/>
              <a:t>Monitor patient’s progress and a documentation tool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C5B4B-AF33-4FEF-823E-C6E5980CA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47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3252-6240-493D-A2D6-A524318D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Home Health Care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C94B-C396-407D-A7A7-50FD79A1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Documentation provides quality control and reimbursement from Medicare, Medicaid, and private insurance companies</a:t>
            </a:r>
          </a:p>
          <a:p>
            <a:r>
              <a:rPr lang="en-US" altLang="en-US" dirty="0"/>
              <a:t>Must note patient education and demonstration of learning</a:t>
            </a:r>
          </a:p>
          <a:p>
            <a:r>
              <a:rPr lang="en-US" altLang="en-US" dirty="0"/>
              <a:t>Coordination of services and compliance of regulation reflected by all members of the health care team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B784F-B582-4E9C-8731-779D5D5BA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90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F1F4-453E-48A9-8183-70534D1D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Long-Term Health Care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C9302-7714-4786-A640-B81BFDF20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Omnibus Budget Reconciliation Act (OBRA) of 1987 regulates standards for resident assessment, individualized care plans, and qualifications for health care providers</a:t>
            </a:r>
          </a:p>
          <a:p>
            <a:r>
              <a:rPr lang="en-US" altLang="en-US" dirty="0"/>
              <a:t>Department of Health (DOH) for each state governs frequency of written nursing records of residents</a:t>
            </a:r>
          </a:p>
          <a:p>
            <a:r>
              <a:rPr lang="en-US" altLang="en-US" dirty="0"/>
              <a:t>Supports multidisciplinary approach in assessment and planning processes of patient care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94586-FFBB-46AF-AFDC-8BE8AA30D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567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36B9-7A3A-428D-9E51-DEC27107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Special Issues in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C32B3-992E-4643-8840-1472064D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Record ownership and access</a:t>
            </a:r>
          </a:p>
          <a:p>
            <a:r>
              <a:rPr lang="en-US" altLang="en-US" dirty="0"/>
              <a:t>Confidentiality</a:t>
            </a:r>
          </a:p>
          <a:p>
            <a:r>
              <a:rPr lang="en-US" altLang="en-US" dirty="0"/>
              <a:t>Electronic documentation </a:t>
            </a:r>
          </a:p>
          <a:p>
            <a:r>
              <a:rPr lang="en-US" altLang="en-US" dirty="0"/>
              <a:t>Use of fax machines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C9763-7D07-452D-BFA2-F80E4C089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203339"/>
      </p:ext>
    </p:extLst>
  </p:cSld>
  <p:clrMapOvr>
    <a:masterClrMapping/>
  </p:clrMapOvr>
</p:sld>
</file>

<file path=ppt/theme/theme1.xml><?xml version="1.0" encoding="utf-8"?>
<a:theme xmlns:a="http://schemas.openxmlformats.org/drawingml/2006/main" name="2_Blue Diagonal">
  <a:themeElements>
    <a:clrScheme name="2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2_Blue Diagonal">
      <a:majorFont>
        <a:latin typeface="ArialMT"/>
        <a:ea typeface="ＭＳ Ｐゴシック"/>
        <a:cs typeface=""/>
      </a:majorFont>
      <a:minorFont>
        <a:latin typeface="ArialMT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44BCCB53-EE29-414A-8F6C-89C65B68B0C1}"/>
    </a:ext>
  </a:extLst>
</a:theme>
</file>

<file path=ppt/theme/theme2.xml><?xml version="1.0" encoding="utf-8"?>
<a:theme xmlns:a="http://schemas.openxmlformats.org/drawingml/2006/main" name="3_Blue Diagonal">
  <a:themeElements>
    <a:clrScheme name="3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3_Blue Diagon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E7008CAA-0110-4942-A27F-B887E31738AC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6741</TotalTime>
  <Words>873</Words>
  <Application>Microsoft Office PowerPoint</Application>
  <PresentationFormat>On-screen Show (4:3)</PresentationFormat>
  <Paragraphs>128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ArialMT</vt:lpstr>
      <vt:lpstr>Times New Roman</vt:lpstr>
      <vt:lpstr>Wingdings</vt:lpstr>
      <vt:lpstr>Wingdings 2</vt:lpstr>
      <vt:lpstr>Wingdings 3</vt:lpstr>
      <vt:lpstr>2_Blue Diagonal</vt:lpstr>
      <vt:lpstr>3_Blue Diagonal</vt:lpstr>
      <vt:lpstr>Chapter 3  </vt:lpstr>
      <vt:lpstr>Lesson 3.1: Documentation (Slide 1 of 2)</vt:lpstr>
      <vt:lpstr>Lesson 3.1: Documentation (Slide 2 of 2)</vt:lpstr>
      <vt:lpstr>Purposes of Patient Records </vt:lpstr>
      <vt:lpstr>Electronic Health Record (EHR) and Personal Health Record (PHR)</vt:lpstr>
      <vt:lpstr>ISBAR</vt:lpstr>
      <vt:lpstr>Basic Guidelines for Documentation</vt:lpstr>
      <vt:lpstr>Recording Methods</vt:lpstr>
      <vt:lpstr>Other Documentation Forms</vt:lpstr>
      <vt:lpstr>Documentation and Clinical (Critical) Pathways</vt:lpstr>
      <vt:lpstr>Home Health Care Documentation</vt:lpstr>
      <vt:lpstr>Long-Term Health Care Documentation</vt:lpstr>
      <vt:lpstr>Special Issues in Documentation</vt:lpstr>
    </vt:vector>
  </TitlesOfParts>
  <Company>REED Elsevier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Body Systems</dc:title>
  <dc:creator>Linda Honeycutt</dc:creator>
  <cp:lastModifiedBy>Jyoti Tyagi (IL-IN)</cp:lastModifiedBy>
  <cp:revision>696</cp:revision>
  <cp:lastPrinted>2022-07-01T16:14:10Z</cp:lastPrinted>
  <dcterms:created xsi:type="dcterms:W3CDTF">2005-01-16T17:28:53Z</dcterms:created>
  <dcterms:modified xsi:type="dcterms:W3CDTF">2022-07-06T06:39:50Z</dcterms:modified>
</cp:coreProperties>
</file>