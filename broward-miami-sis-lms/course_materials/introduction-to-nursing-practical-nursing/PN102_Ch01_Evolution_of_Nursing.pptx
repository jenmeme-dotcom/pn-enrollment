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54631366e034f55" /><Relationship Type="http://schemas.openxmlformats.org/officeDocument/2006/relationships/extended-properties" Target="/docProps/app.xml" Id="R0612a747442d48a9" /><Relationship Type="http://schemas.openxmlformats.org/officeDocument/2006/relationships/officeDocument" Target="/ppt/presentation.xml" Id="R6e19fdc28fec47f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93e0daad3a94dd9"/>
  </p:sldMasterIdLst>
  <p:notesMasterIdLst>
    <p:notesMasterId xmlns:r="http://schemas.openxmlformats.org/officeDocument/2006/relationships" r:id="R20313f90b06544a4"/>
  </p:notesMasterIdLst>
  <p:sldIdLst>
    <p:sldId xmlns:r="http://schemas.openxmlformats.org/officeDocument/2006/relationships" id="256" r:id="R79d5cabf5d7e46af"/>
    <p:sldId xmlns:r="http://schemas.openxmlformats.org/officeDocument/2006/relationships" id="257" r:id="R1c9cb462867e4975"/>
    <p:sldId xmlns:r="http://schemas.openxmlformats.org/officeDocument/2006/relationships" id="258" r:id="Ra58db08526a24472"/>
    <p:sldId xmlns:r="http://schemas.openxmlformats.org/officeDocument/2006/relationships" id="259" r:id="R8d266e2e87cc412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59cb8d552a748eb" /><Relationship Type="http://schemas.openxmlformats.org/officeDocument/2006/relationships/slideMaster" Target="/ppt/slideMasters/slideMaster1.xml" Id="Rc93e0daad3a94dd9" /><Relationship Type="http://schemas.openxmlformats.org/officeDocument/2006/relationships/notesMaster" Target="/ppt/notesMasters/notesMaster1.xml" Id="R20313f90b06544a4" /><Relationship Type="http://schemas.openxmlformats.org/officeDocument/2006/relationships/presProps" Target="/ppt/presProps.xml" Id="R95be00e3b162424e" /><Relationship Type="http://schemas.openxmlformats.org/officeDocument/2006/relationships/tableStyles" Target="/ppt/tableStyles.xml" Id="R78d67e9f43a64f13" /><Relationship Type="http://schemas.openxmlformats.org/officeDocument/2006/relationships/slide" Target="/ppt/slides/slide1.xml" Id="R79d5cabf5d7e46af" /><Relationship Type="http://schemas.openxmlformats.org/officeDocument/2006/relationships/slide" Target="/ppt/slides/slide2.xml" Id="R1c9cb462867e4975" /><Relationship Type="http://schemas.openxmlformats.org/officeDocument/2006/relationships/slide" Target="/ppt/slides/slide3.xml" Id="Ra58db08526a24472" /><Relationship Type="http://schemas.openxmlformats.org/officeDocument/2006/relationships/slide" Target="/ppt/slides/slide4.xml" Id="R8d266e2e87cc412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68b4092a7604b9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67edf340056405b" /><Relationship Type="http://schemas.openxmlformats.org/officeDocument/2006/relationships/notesMaster" Target="/ppt/notesMasters/notesMaster1.xml" Id="Ra309230e303947e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4bb893eb0024b77" /><Relationship Type="http://schemas.openxmlformats.org/officeDocument/2006/relationships/notesMaster" Target="/ppt/notesMasters/notesMaster1.xml" Id="Re8ab5fc0d5724b1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50a0dd2ea9c472e" /><Relationship Type="http://schemas.openxmlformats.org/officeDocument/2006/relationships/notesMaster" Target="/ppt/notesMasters/notesMaster1.xml" Id="R04aabbab938b4e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ecb3690a9ce481e" /><Relationship Type="http://schemas.openxmlformats.org/officeDocument/2006/relationships/notesMaster" Target="/ppt/notesMasters/notesMaster1.xml" Id="R8d7fd6237dd343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chapter and connect it to the assigned textbook reading.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src/introNursingBuildout.js — Chapter 1 extendedWeekChapters and readingFocusExplanations (local course source; accessed 2026-07-30).</a:t>
            </a:r>
          </a:p>
          <a:p xmlns:a="http://schemas.openxmlformats.org/drawingml/2006/main">
            <a:r>
              <a:t>- Cooper, K., &amp; Gosnell, K. (2023). Foundations of Nursing (9th ed.), Chapter 1, pp. 1–21 (course-assigned textbook).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how the four reading-focus concepts fit together before applying them to care.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src/introNursingBuildout.js — Chapter 1 extendedWeekChapters and readingFocusExplanations (local course source; accessed 2026-07-30).</a:t>
            </a:r>
          </a:p>
          <a:p xmlns:a="http://schemas.openxmlformats.org/drawingml/2006/main">
            <a:r>
              <a:t>- Cooper, K., &amp; Gosnell, K. (2023). Foundations of Nursing (9th ed.), Chapter 1, pp. 1–21 (course-assigned textbook).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Apply the chapter concepts to the practical nurse’s observation, action, documentation, and reporting responsibilities.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src/introNursingBuildout.js — Chapter 1 extendedWeekChapters and readingFocusExplanations (local course source; accessed 2026-07-30).</a:t>
            </a:r>
          </a:p>
          <a:p xmlns:a="http://schemas.openxmlformats.org/drawingml/2006/main">
            <a:r>
              <a:t>- Cooper, K., &amp; Gosnell, K. (2023). Foundations of Nursing (9th ed.), Chapter 1, pp. 1–21 (course-assigned textbook).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a recall-and-application prompt: recognize the cue, act safely within scope, and report exact findings.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src/introNursingBuildout.js — Chapter 1 extendedWeekChapters and readingFocusExplanations (local course source; accessed 2026-07-30).</a:t>
            </a:r>
          </a:p>
          <a:p xmlns:a="http://schemas.openxmlformats.org/drawingml/2006/main">
            <a:r>
              <a:t>- Cooper, K., &amp; Gosnell, K. (2023). Foundations of Nursing (9th ed.), Chapter 1, pp. 1–21 (course-assigned textbook).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aecb2f64c748d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fdff506308541ac" /><Relationship Type="http://schemas.openxmlformats.org/officeDocument/2006/relationships/slideLayout" Target="/ppt/slideLayouts/slideLayout1.xml" Id="R71903be28adb490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1903be28adb490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06baefc019491b" /><Relationship Type="http://schemas.openxmlformats.org/officeDocument/2006/relationships/notesSlide" Target="/ppt/notesSlides/notesSlide1.xml" Id="R91a8390832dd40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34cb3826834af5" /><Relationship Type="http://schemas.openxmlformats.org/officeDocument/2006/relationships/notesSlide" Target="/ppt/notesSlides/notesSlide2.xml" Id="Re6b4395507ed4f9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2069a1e13749b1" /><Relationship Type="http://schemas.openxmlformats.org/officeDocument/2006/relationships/notesSlide" Target="/ppt/notesSlides/notesSlide3.xml" Id="Rd33a7fb7eeba4b0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1c69152c5247f7" /><Relationship Type="http://schemas.openxmlformats.org/officeDocument/2006/relationships/notesSlide" Target="/ppt/notesSlides/notesSlide4.xml" Id="R50f2262666f34f3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course-eyebrow">
            <a:extLst xmlns:a="http://schemas.openxmlformats.org/drawingml/2006/main">
              <a:ext uri="{FF2B5EF4-FFF2-40B4-BE49-F238E27FC236}">
                <a16:creationId xmlns:a16="http://schemas.microsoft.com/office/drawing/2014/main" id="{4EB43062-BD18-41C0-82AF-EADC9D9F6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6858000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BROWARD–MIAMI HEALTH INSTITUTE</a:t>
            </a:r>
          </a:p>
        </p:txBody>
      </p:sp>
      <p:sp>
        <p:nvSpPr>
          <p:cNvPr id="2" name="chapter-title">
            <a:extLst xmlns:a="http://schemas.openxmlformats.org/drawingml/2006/main">
              <a:ext uri="{FF2B5EF4-FFF2-40B4-BE49-F238E27FC236}">
                <a16:creationId xmlns:a16="http://schemas.microsoft.com/office/drawing/2014/main" id="{C9416F8E-C564-4C88-B9BB-1914ED579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1000125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The Evolution of Nursing</a:t>
            </a:r>
          </a:p>
        </p:txBody>
      </p:sp>
      <p:sp>
        <p:nvSpPr>
          <p:cNvPr id="3" name="chapter-subtitle">
            <a:extLst xmlns:a="http://schemas.openxmlformats.org/drawingml/2006/main">
              <a:ext uri="{FF2B5EF4-FFF2-40B4-BE49-F238E27FC236}">
                <a16:creationId xmlns:a16="http://schemas.microsoft.com/office/drawing/2014/main" id="{E31C8894-299B-44B6-9F25-3A6BA12B0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95250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PN 102  •  Chapter 1  •  Foundations of Nursing, 9th ed.  •  pp. 1–21</a:t>
            </a:r>
          </a:p>
        </p:txBody>
      </p:sp>
    </p:spTree>
    <p:extLst>
      <p:ext uri="{BB962C8B-B14F-4D97-AF65-F5344CB8AC3E}">
        <p14:creationId xmlns:p14="http://schemas.microsoft.com/office/powerpoint/2010/main" val="3230773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ncepts-title">
            <a:extLst xmlns:a="http://schemas.openxmlformats.org/drawingml/2006/main">
              <a:ext uri="{FF2B5EF4-FFF2-40B4-BE49-F238E27FC236}">
                <a16:creationId xmlns:a16="http://schemas.microsoft.com/office/drawing/2014/main" id="{9C9F14D3-6C33-4200-9242-A9EC80DA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Chapter 1: four ideas to connect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6A53E5E-15C2-445F-B6BF-B066B8DD1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3" name="concept-1-title">
            <a:extLst xmlns:a="http://schemas.openxmlformats.org/drawingml/2006/main">
              <a:ext uri="{FF2B5EF4-FFF2-40B4-BE49-F238E27FC236}">
                <a16:creationId xmlns:a16="http://schemas.microsoft.com/office/drawing/2014/main" id="{8363E938-D554-4B3F-ACE8-2C4A1B568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History and education</a:t>
            </a:r>
          </a:p>
        </p:txBody>
      </p:sp>
      <p:sp>
        <p:nvSpPr>
          <p:cNvPr id="4" name="concept-1-explanation">
            <a:extLst xmlns:a="http://schemas.openxmlformats.org/drawingml/2006/main">
              <a:ext uri="{FF2B5EF4-FFF2-40B4-BE49-F238E27FC236}">
                <a16:creationId xmlns:a16="http://schemas.microsoft.com/office/drawing/2014/main" id="{57C7B27F-A54B-466D-BE5B-ACBD9BE6C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Trace how caregiving became a regulated profession and how formal education strengthened safe, consistent care.</a:t>
            </a:r>
          </a:p>
        </p:txBody>
      </p:sp>
      <p:sp>
        <p:nvSpPr>
          <p:cNvPr id="5" name="concept-2-title">
            <a:extLst xmlns:a="http://schemas.openxmlformats.org/drawingml/2006/main">
              <a:ext uri="{FF2B5EF4-FFF2-40B4-BE49-F238E27FC236}">
                <a16:creationId xmlns:a16="http://schemas.microsoft.com/office/drawing/2014/main" id="{25D1F6C9-68E0-4456-92EE-B603A3AB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Practical nursing</a:t>
            </a:r>
          </a:p>
        </p:txBody>
      </p:sp>
      <p:sp>
        <p:nvSpPr>
          <p:cNvPr id="6" name="concept-2-explanation">
            <a:extLst xmlns:a="http://schemas.openxmlformats.org/drawingml/2006/main">
              <a:ext uri="{FF2B5EF4-FFF2-40B4-BE49-F238E27FC236}">
                <a16:creationId xmlns:a16="http://schemas.microsoft.com/office/drawing/2014/main" id="{22029304-AA12-45CC-90ED-9557B1852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Connect licensure, education, and supervision with the practical nurse’s role on the care team.</a:t>
            </a:r>
          </a:p>
        </p:txBody>
      </p:sp>
      <p:sp>
        <p:nvSpPr>
          <p:cNvPr id="7" name="concept-3-title">
            <a:extLst xmlns:a="http://schemas.openxmlformats.org/drawingml/2006/main">
              <a:ext uri="{FF2B5EF4-FFF2-40B4-BE49-F238E27FC236}">
                <a16:creationId xmlns:a16="http://schemas.microsoft.com/office/drawing/2014/main" id="{B0A26FB0-BD8C-496E-8C57-C77F3043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Care delivery systems</a:t>
            </a:r>
          </a:p>
        </p:txBody>
      </p:sp>
      <p:sp>
        <p:nvSpPr>
          <p:cNvPr id="8" name="concept-3-explanation">
            <a:extLst xmlns:a="http://schemas.openxmlformats.org/drawingml/2006/main">
              <a:ext uri="{FF2B5EF4-FFF2-40B4-BE49-F238E27FC236}">
                <a16:creationId xmlns:a16="http://schemas.microsoft.com/office/drawing/2014/main" id="{C78C5544-4A3A-4BDE-B007-AFEFB4CDE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Recognize where care is provided and how patients move across settings and team members.</a:t>
            </a:r>
          </a:p>
        </p:txBody>
      </p:sp>
      <p:sp>
        <p:nvSpPr>
          <p:cNvPr id="9" name="concept-4-title">
            <a:extLst xmlns:a="http://schemas.openxmlformats.org/drawingml/2006/main">
              <a:ext uri="{FF2B5EF4-FFF2-40B4-BE49-F238E27FC236}">
                <a16:creationId xmlns:a16="http://schemas.microsoft.com/office/drawing/2014/main" id="{6F701CF8-1BCC-4535-BCA0-C99006956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Roles and responsibilities</a:t>
            </a:r>
          </a:p>
        </p:txBody>
      </p:sp>
      <p:sp>
        <p:nvSpPr>
          <p:cNvPr id="10" name="concept-4-explanation">
            <a:extLst xmlns:a="http://schemas.openxmlformats.org/drawingml/2006/main">
              <a:ext uri="{FF2B5EF4-FFF2-40B4-BE49-F238E27FC236}">
                <a16:creationId xmlns:a16="http://schemas.microsoft.com/office/drawing/2014/main" id="{18405BC4-F190-45D6-A7B0-4A3EAAA18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Link scope of practice with direct care, observation, reporting, documentation, and teaching reinforcement.</a:t>
            </a:r>
          </a:p>
        </p:txBody>
      </p:sp>
    </p:spTree>
    <p:extLst>
      <p:ext uri="{BB962C8B-B14F-4D97-AF65-F5344CB8AC3E}">
        <p14:creationId xmlns:p14="http://schemas.microsoft.com/office/powerpoint/2010/main" val="5646468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practice-title">
            <a:extLst xmlns:a="http://schemas.openxmlformats.org/drawingml/2006/main">
              <a:ext uri="{FF2B5EF4-FFF2-40B4-BE49-F238E27FC236}">
                <a16:creationId xmlns:a16="http://schemas.microsoft.com/office/drawing/2014/main" id="{97B208DF-3C29-4302-A12B-49A94A854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Put the chapter into safe practical nursing care</a:t>
            </a:r>
          </a:p>
        </p:txBody>
      </p:sp>
      <p:sp>
        <p:nvSpPr>
          <p:cNvPr id="2" name="practice-lead">
            <a:extLst xmlns:a="http://schemas.openxmlformats.org/drawingml/2006/main">
              <a:ext uri="{FF2B5EF4-FFF2-40B4-BE49-F238E27FC236}">
                <a16:creationId xmlns:a16="http://schemas.microsoft.com/office/drawing/2014/main" id="{44871FA1-C733-487C-8733-5F7CACDC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22406"/>
            <a:ext cx="5537168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Professional identity begins with safe habits.</a:t>
            </a:r>
          </a:p>
        </p:txBody>
      </p:sp>
      <p:sp>
        <p:nvSpPr>
          <p:cNvPr id="3" name="practice-body">
            <a:extLst xmlns:a="http://schemas.openxmlformats.org/drawingml/2006/main">
              <a:ext uri="{FF2B5EF4-FFF2-40B4-BE49-F238E27FC236}">
                <a16:creationId xmlns:a16="http://schemas.microsoft.com/office/drawing/2014/main" id="{5A3E176A-71BB-4402-BD17-79169EB6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990279"/>
            <a:ext cx="5537168" cy="28846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Arrive prepared, protect confidentiality, communicate respectfully, and accept feedback. Know which tasks you may perform, which require supervision, and when a change in condition must be reported.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713F4376-1FD3-495F-992D-C7A7D577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5" name="check-1">
            <a:extLst xmlns:a="http://schemas.openxmlformats.org/drawingml/2006/main">
              <a:ext uri="{FF2B5EF4-FFF2-40B4-BE49-F238E27FC236}">
                <a16:creationId xmlns:a16="http://schemas.microsoft.com/office/drawing/2014/main" id="{4D7D3101-F029-471F-A7CC-3AD978CF5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2999804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6" name="check-label-1">
            <a:extLst xmlns:a="http://schemas.openxmlformats.org/drawingml/2006/main">
              <a:ext uri="{FF2B5EF4-FFF2-40B4-BE49-F238E27FC236}">
                <a16:creationId xmlns:a16="http://schemas.microsoft.com/office/drawing/2014/main" id="{2CEFD635-626A-4733-B0A0-D8EC10A2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902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Verify your assigned role</a:t>
            </a:r>
          </a:p>
        </p:txBody>
      </p:sp>
      <p:sp>
        <p:nvSpPr>
          <p:cNvPr id="7" name="check-2">
            <a:extLst xmlns:a="http://schemas.openxmlformats.org/drawingml/2006/main">
              <a:ext uri="{FF2B5EF4-FFF2-40B4-BE49-F238E27FC236}">
                <a16:creationId xmlns:a16="http://schemas.microsoft.com/office/drawing/2014/main" id="{66BFCC3A-7FED-4732-A61F-6506BC0F8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609404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8" name="check-label-2">
            <a:extLst xmlns:a="http://schemas.openxmlformats.org/drawingml/2006/main">
              <a:ext uri="{FF2B5EF4-FFF2-40B4-BE49-F238E27FC236}">
                <a16:creationId xmlns:a16="http://schemas.microsoft.com/office/drawing/2014/main" id="{C296152D-B9A0-408E-B634-1D6360156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998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Prepare before care</a:t>
            </a:r>
          </a:p>
        </p:txBody>
      </p:sp>
      <p:sp>
        <p:nvSpPr>
          <p:cNvPr id="9" name="check-3">
            <a:extLst xmlns:a="http://schemas.openxmlformats.org/drawingml/2006/main">
              <a:ext uri="{FF2B5EF4-FFF2-40B4-BE49-F238E27FC236}">
                <a16:creationId xmlns:a16="http://schemas.microsoft.com/office/drawing/2014/main" id="{D5B63FB9-7D11-453E-A355-6D2C4561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224338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10" name="check-label-3">
            <a:extLst xmlns:a="http://schemas.openxmlformats.org/drawingml/2006/main">
              <a:ext uri="{FF2B5EF4-FFF2-40B4-BE49-F238E27FC236}">
                <a16:creationId xmlns:a16="http://schemas.microsoft.com/office/drawing/2014/main" id="{EECAEE60-6385-4B6A-9630-B96E297D1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14813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Observe the patient closely</a:t>
            </a:r>
          </a:p>
        </p:txBody>
      </p:sp>
      <p:sp>
        <p:nvSpPr>
          <p:cNvPr id="11" name="check-4">
            <a:extLst xmlns:a="http://schemas.openxmlformats.org/drawingml/2006/main">
              <a:ext uri="{FF2B5EF4-FFF2-40B4-BE49-F238E27FC236}">
                <a16:creationId xmlns:a16="http://schemas.microsoft.com/office/drawing/2014/main" id="{E5CE4AE3-81C4-43C7-A4C3-ABE1D600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833842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12" name="check-label-4">
            <a:extLst xmlns:a="http://schemas.openxmlformats.org/drawingml/2006/main">
              <a:ext uri="{FF2B5EF4-FFF2-40B4-BE49-F238E27FC236}">
                <a16:creationId xmlns:a16="http://schemas.microsoft.com/office/drawing/2014/main" id="{ADEAAFA9-611D-4817-9EFF-F0D3A372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24317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Document what you did</a:t>
            </a:r>
          </a:p>
        </p:txBody>
      </p:sp>
      <p:sp>
        <p:nvSpPr>
          <p:cNvPr id="13" name="check-5">
            <a:extLst xmlns:a="http://schemas.openxmlformats.org/drawingml/2006/main">
              <a:ext uri="{FF2B5EF4-FFF2-40B4-BE49-F238E27FC236}">
                <a16:creationId xmlns:a16="http://schemas.microsoft.com/office/drawing/2014/main" id="{5DAEAD1A-D351-405C-B595-E397D26A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5456206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14" name="check-label-5">
            <a:extLst xmlns:a="http://schemas.openxmlformats.org/drawingml/2006/main">
              <a:ext uri="{FF2B5EF4-FFF2-40B4-BE49-F238E27FC236}">
                <a16:creationId xmlns:a16="http://schemas.microsoft.com/office/drawing/2014/main" id="{B3AF1FEF-7FD2-44D9-82D9-552B91627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446681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Ask before acting when unsure</a:t>
            </a:r>
          </a:p>
        </p:txBody>
      </p:sp>
    </p:spTree>
    <p:extLst>
      <p:ext uri="{BB962C8B-B14F-4D97-AF65-F5344CB8AC3E}">
        <p14:creationId xmlns:p14="http://schemas.microsoft.com/office/powerpoint/2010/main" val="1017567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losing-eyebrow">
            <a:extLst xmlns:a="http://schemas.openxmlformats.org/drawingml/2006/main">
              <a:ext uri="{FF2B5EF4-FFF2-40B4-BE49-F238E27FC236}">
                <a16:creationId xmlns:a16="http://schemas.microsoft.com/office/drawing/2014/main" id="{E7B7DF4A-67F4-413D-917D-8DC0D0D97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7239000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RECOGNIZE  →  ACT  →  REPORT</a:t>
            </a:r>
          </a:p>
        </p:txBody>
      </p:sp>
      <p:sp>
        <p:nvSpPr>
          <p:cNvPr id="2" name="closing-message">
            <a:extLst xmlns:a="http://schemas.openxmlformats.org/drawingml/2006/main">
              <a:ext uri="{FF2B5EF4-FFF2-40B4-BE49-F238E27FC236}">
                <a16:creationId xmlns:a16="http://schemas.microsoft.com/office/drawing/2014/main" id="{064253CE-8192-49DA-ACEF-B53A0BFEA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1000125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Know your role.
Notice the change.
Ask before proceeding.</a:t>
            </a:r>
          </a:p>
        </p:txBody>
      </p:sp>
      <p:sp>
        <p:nvSpPr>
          <p:cNvPr id="3" name="closing-prompt">
            <a:extLst xmlns:a="http://schemas.openxmlformats.org/drawingml/2006/main">
              <a:ext uri="{FF2B5EF4-FFF2-40B4-BE49-F238E27FC236}">
                <a16:creationId xmlns:a16="http://schemas.microsoft.com/office/drawing/2014/main" id="{E313E377-532D-4E25-A653-673B9463C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8572500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Before moving on, explain the cue, your immediate action within scope, and the facts you would report.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0E5CE06-CC1C-4AF8-80D5-A43D03FD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3563960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2026-07-30T05:24:50.4390000Z</dcterms:created>
  <dcterms:modified xsi:type="dcterms:W3CDTF">2026-07-30T05:24:50.4390000Z</dcterms:modified>
</coreProperties>
</file>