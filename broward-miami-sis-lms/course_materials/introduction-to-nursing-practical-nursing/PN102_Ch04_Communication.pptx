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4" r:id="rId1"/>
    <p:sldMasterId id="2147483735" r:id="rId2"/>
  </p:sldMasterIdLst>
  <p:notesMasterIdLst>
    <p:notesMasterId r:id="rId21"/>
  </p:notesMasterIdLst>
  <p:handoutMasterIdLst>
    <p:handoutMasterId r:id="rId22"/>
  </p:handoutMasterIdLst>
  <p:sldIdLst>
    <p:sldId id="454" r:id="rId3"/>
    <p:sldId id="372" r:id="rId4"/>
    <p:sldId id="455" r:id="rId5"/>
    <p:sldId id="456" r:id="rId6"/>
    <p:sldId id="457" r:id="rId7"/>
    <p:sldId id="458" r:id="rId8"/>
    <p:sldId id="459" r:id="rId9"/>
    <p:sldId id="460" r:id="rId10"/>
    <p:sldId id="461" r:id="rId11"/>
    <p:sldId id="462" r:id="rId12"/>
    <p:sldId id="463" r:id="rId13"/>
    <p:sldId id="464" r:id="rId14"/>
    <p:sldId id="465" r:id="rId15"/>
    <p:sldId id="466" r:id="rId16"/>
    <p:sldId id="468" r:id="rId17"/>
    <p:sldId id="467" r:id="rId18"/>
    <p:sldId id="469" r:id="rId19"/>
    <p:sldId id="470" r:id="rId20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2">
          <p15:clr>
            <a:srgbClr val="A4A3A4"/>
          </p15:clr>
        </p15:guide>
        <p15:guide id="3" pos="2880">
          <p15:clr>
            <a:srgbClr val="A4A3A4"/>
          </p15:clr>
        </p15:guide>
        <p15:guide id="4" pos="524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 userDrawn="1">
          <p15:clr>
            <a:srgbClr val="A4A3A4"/>
          </p15:clr>
        </p15:guide>
        <p15:guide id="2" pos="2304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Ellen Kunkelmann" initials="AU" lastIdx="7" clrIdx="0"/>
  <p:cmAuthor id="1" name="Reed Elsevier" initials="RE" lastIdx="1" clrIdx="1"/>
  <p:cmAuthor id="2" name="Lisa" initials="L" lastIdx="1" clrIdx="2">
    <p:extLst>
      <p:ext uri="{19B8F6BF-5375-455C-9EA6-DF929625EA0E}">
        <p15:presenceInfo xmlns:p15="http://schemas.microsoft.com/office/powerpoint/2012/main" userId="Lis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FA97B9-BB5C-96E0-0F5F-962E29936CB1}" v="218" dt="2021-12-27T16:29:50.9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86" autoAdjust="0"/>
    <p:restoredTop sz="90175" autoAdjust="0"/>
  </p:normalViewPr>
  <p:slideViewPr>
    <p:cSldViewPr snapToGrid="0">
      <p:cViewPr varScale="1">
        <p:scale>
          <a:sx n="60" d="100"/>
          <a:sy n="60" d="100"/>
        </p:scale>
        <p:origin x="1400" y="48"/>
      </p:cViewPr>
      <p:guideLst>
        <p:guide orient="horz" pos="2160"/>
        <p:guide orient="horz" pos="1002"/>
        <p:guide pos="2880"/>
        <p:guide pos="524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2856" y="48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commentAuthors" Target="commentAuthors.xml"/><Relationship Id="rId28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ya Spindler" userId="S::daya.spindler@g.austincc.edu::d47267c9-b69c-4d84-8d8d-9eb6067b7650" providerId="AD" clId="Web-{7CFA97B9-BB5C-96E0-0F5F-962E29936CB1}"/>
    <pc:docChg chg="modSld">
      <pc:chgData name="Daya Spindler" userId="S::daya.spindler@g.austincc.edu::d47267c9-b69c-4d84-8d8d-9eb6067b7650" providerId="AD" clId="Web-{7CFA97B9-BB5C-96E0-0F5F-962E29936CB1}" dt="2021-12-27T16:29:50.909" v="240"/>
      <pc:docMkLst>
        <pc:docMk/>
      </pc:docMkLst>
      <pc:sldChg chg="modSp">
        <pc:chgData name="Daya Spindler" userId="S::daya.spindler@g.austincc.edu::d47267c9-b69c-4d84-8d8d-9eb6067b7650" providerId="AD" clId="Web-{7CFA97B9-BB5C-96E0-0F5F-962E29936CB1}" dt="2021-12-27T16:28:51.218" v="222"/>
        <pc:sldMkLst>
          <pc:docMk/>
          <pc:sldMk cId="0" sldId="372"/>
        </pc:sldMkLst>
        <pc:spChg chg="mod ord">
          <ac:chgData name="Daya Spindler" userId="S::daya.spindler@g.austincc.edu::d47267c9-b69c-4d84-8d8d-9eb6067b7650" providerId="AD" clId="Web-{7CFA97B9-BB5C-96E0-0F5F-962E29936CB1}" dt="2021-12-27T16:28:51.218" v="222"/>
          <ac:spMkLst>
            <pc:docMk/>
            <pc:sldMk cId="0" sldId="372"/>
            <ac:spMk id="7" creationId="{02598B23-8599-4380-8CAC-73D86CAD3A51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5:49:35.960" v="1" actId="20577"/>
        <pc:sldMkLst>
          <pc:docMk/>
          <pc:sldMk cId="4149221392" sldId="454"/>
        </pc:sldMkLst>
        <pc:spChg chg="mod">
          <ac:chgData name="Daya Spindler" userId="S::daya.spindler@g.austincc.edu::d47267c9-b69c-4d84-8d8d-9eb6067b7650" providerId="AD" clId="Web-{7CFA97B9-BB5C-96E0-0F5F-962E29936CB1}" dt="2021-12-27T15:49:35.960" v="1" actId="20577"/>
          <ac:spMkLst>
            <pc:docMk/>
            <pc:sldMk cId="4149221392" sldId="454"/>
            <ac:spMk id="5" creationId="{768FB6F7-A481-41DF-934F-28DB4F80864F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6:28:52.749" v="223"/>
        <pc:sldMkLst>
          <pc:docMk/>
          <pc:sldMk cId="257316634" sldId="455"/>
        </pc:sldMkLst>
        <pc:spChg chg="mod ord">
          <ac:chgData name="Daya Spindler" userId="S::daya.spindler@g.austincc.edu::d47267c9-b69c-4d84-8d8d-9eb6067b7650" providerId="AD" clId="Web-{7CFA97B9-BB5C-96E0-0F5F-962E29936CB1}" dt="2021-12-27T16:28:52.749" v="223"/>
          <ac:spMkLst>
            <pc:docMk/>
            <pc:sldMk cId="257316634" sldId="455"/>
            <ac:spMk id="7" creationId="{02598B23-8599-4380-8CAC-73D86CAD3A51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6:28:54.203" v="224"/>
        <pc:sldMkLst>
          <pc:docMk/>
          <pc:sldMk cId="4175258445" sldId="456"/>
        </pc:sldMkLst>
        <pc:spChg chg="mod ord">
          <ac:chgData name="Daya Spindler" userId="S::daya.spindler@g.austincc.edu::d47267c9-b69c-4d84-8d8d-9eb6067b7650" providerId="AD" clId="Web-{7CFA97B9-BB5C-96E0-0F5F-962E29936CB1}" dt="2021-12-27T16:28:54.203" v="224"/>
          <ac:spMkLst>
            <pc:docMk/>
            <pc:sldMk cId="4175258445" sldId="456"/>
            <ac:spMk id="5" creationId="{53D536F4-1AA4-4AF9-B061-FCE5594FC936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6:28:55.718" v="225"/>
        <pc:sldMkLst>
          <pc:docMk/>
          <pc:sldMk cId="592934839" sldId="457"/>
        </pc:sldMkLst>
        <pc:spChg chg="mod">
          <ac:chgData name="Daya Spindler" userId="S::daya.spindler@g.austincc.edu::d47267c9-b69c-4d84-8d8d-9eb6067b7650" providerId="AD" clId="Web-{7CFA97B9-BB5C-96E0-0F5F-962E29936CB1}" dt="2021-12-27T16:01:16.514" v="15" actId="20577"/>
          <ac:spMkLst>
            <pc:docMk/>
            <pc:sldMk cId="592934839" sldId="457"/>
            <ac:spMk id="3" creationId="{8F335176-9628-49AE-85C2-97DA0540AA79}"/>
          </ac:spMkLst>
        </pc:spChg>
        <pc:spChg chg="mod ord">
          <ac:chgData name="Daya Spindler" userId="S::daya.spindler@g.austincc.edu::d47267c9-b69c-4d84-8d8d-9eb6067b7650" providerId="AD" clId="Web-{7CFA97B9-BB5C-96E0-0F5F-962E29936CB1}" dt="2021-12-27T16:28:55.718" v="225"/>
          <ac:spMkLst>
            <pc:docMk/>
            <pc:sldMk cId="592934839" sldId="457"/>
            <ac:spMk id="5" creationId="{B8F109E5-8717-4BD9-965C-481A8AF3FB6F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6:28:57.172" v="226"/>
        <pc:sldMkLst>
          <pc:docMk/>
          <pc:sldMk cId="2442792637" sldId="458"/>
        </pc:sldMkLst>
        <pc:spChg chg="mod ord">
          <ac:chgData name="Daya Spindler" userId="S::daya.spindler@g.austincc.edu::d47267c9-b69c-4d84-8d8d-9eb6067b7650" providerId="AD" clId="Web-{7CFA97B9-BB5C-96E0-0F5F-962E29936CB1}" dt="2021-12-27T16:28:57.172" v="226"/>
          <ac:spMkLst>
            <pc:docMk/>
            <pc:sldMk cId="2442792637" sldId="458"/>
            <ac:spMk id="5" creationId="{C0307F63-5E32-4143-8479-A42F4D060A1E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6:28:58.765" v="227"/>
        <pc:sldMkLst>
          <pc:docMk/>
          <pc:sldMk cId="708503832" sldId="459"/>
        </pc:sldMkLst>
        <pc:spChg chg="mod ord">
          <ac:chgData name="Daya Spindler" userId="S::daya.spindler@g.austincc.edu::d47267c9-b69c-4d84-8d8d-9eb6067b7650" providerId="AD" clId="Web-{7CFA97B9-BB5C-96E0-0F5F-962E29936CB1}" dt="2021-12-27T16:28:58.765" v="227"/>
          <ac:spMkLst>
            <pc:docMk/>
            <pc:sldMk cId="708503832" sldId="459"/>
            <ac:spMk id="5" creationId="{E7981BC6-222A-41BD-96F8-193E0BD0F513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6:29:00.359" v="228"/>
        <pc:sldMkLst>
          <pc:docMk/>
          <pc:sldMk cId="347716377" sldId="460"/>
        </pc:sldMkLst>
        <pc:spChg chg="mod ord">
          <ac:chgData name="Daya Spindler" userId="S::daya.spindler@g.austincc.edu::d47267c9-b69c-4d84-8d8d-9eb6067b7650" providerId="AD" clId="Web-{7CFA97B9-BB5C-96E0-0F5F-962E29936CB1}" dt="2021-12-27T16:29:00.359" v="228"/>
          <ac:spMkLst>
            <pc:docMk/>
            <pc:sldMk cId="347716377" sldId="460"/>
            <ac:spMk id="5" creationId="{409F0715-0988-4A09-8861-119CF23BE2AE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6:29:01.906" v="229"/>
        <pc:sldMkLst>
          <pc:docMk/>
          <pc:sldMk cId="3683394943" sldId="461"/>
        </pc:sldMkLst>
        <pc:spChg chg="mod">
          <ac:chgData name="Daya Spindler" userId="S::daya.spindler@g.austincc.edu::d47267c9-b69c-4d84-8d8d-9eb6067b7650" providerId="AD" clId="Web-{7CFA97B9-BB5C-96E0-0F5F-962E29936CB1}" dt="2021-12-27T16:09:29.386" v="27" actId="20577"/>
          <ac:spMkLst>
            <pc:docMk/>
            <pc:sldMk cId="3683394943" sldId="461"/>
            <ac:spMk id="3" creationId="{3D1FD7DA-2894-4F80-B82F-EA5A21EE07EB}"/>
          </ac:spMkLst>
        </pc:spChg>
        <pc:spChg chg="mod ord">
          <ac:chgData name="Daya Spindler" userId="S::daya.spindler@g.austincc.edu::d47267c9-b69c-4d84-8d8d-9eb6067b7650" providerId="AD" clId="Web-{7CFA97B9-BB5C-96E0-0F5F-962E29936CB1}" dt="2021-12-27T16:29:01.906" v="229"/>
          <ac:spMkLst>
            <pc:docMk/>
            <pc:sldMk cId="3683394943" sldId="461"/>
            <ac:spMk id="5" creationId="{E74F03E9-2125-4F3D-AE03-7CCB5D1A602C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6:29:07.953" v="230"/>
        <pc:sldMkLst>
          <pc:docMk/>
          <pc:sldMk cId="3993419819" sldId="462"/>
        </pc:sldMkLst>
        <pc:spChg chg="mod ord">
          <ac:chgData name="Daya Spindler" userId="S::daya.spindler@g.austincc.edu::d47267c9-b69c-4d84-8d8d-9eb6067b7650" providerId="AD" clId="Web-{7CFA97B9-BB5C-96E0-0F5F-962E29936CB1}" dt="2021-12-27T16:29:07.953" v="230"/>
          <ac:spMkLst>
            <pc:docMk/>
            <pc:sldMk cId="3993419819" sldId="462"/>
            <ac:spMk id="5" creationId="{9D430F9E-EE10-4078-8F0F-2FA89501F3A3}"/>
          </ac:spMkLst>
        </pc:spChg>
      </pc:sldChg>
      <pc:sldChg chg="addSp delSp modSp">
        <pc:chgData name="Daya Spindler" userId="S::daya.spindler@g.austincc.edu::d47267c9-b69c-4d84-8d8d-9eb6067b7650" providerId="AD" clId="Web-{7CFA97B9-BB5C-96E0-0F5F-962E29936CB1}" dt="2021-12-27T16:29:33.486" v="233"/>
        <pc:sldMkLst>
          <pc:docMk/>
          <pc:sldMk cId="1499568651" sldId="463"/>
        </pc:sldMkLst>
        <pc:spChg chg="mod">
          <ac:chgData name="Daya Spindler" userId="S::daya.spindler@g.austincc.edu::d47267c9-b69c-4d84-8d8d-9eb6067b7650" providerId="AD" clId="Web-{7CFA97B9-BB5C-96E0-0F5F-962E29936CB1}" dt="2021-12-27T16:28:35.952" v="221" actId="20577"/>
          <ac:spMkLst>
            <pc:docMk/>
            <pc:sldMk cId="1499568651" sldId="463"/>
            <ac:spMk id="2" creationId="{D4ED461A-A2B3-4CB2-89EF-813797FDDAB2}"/>
          </ac:spMkLst>
        </pc:spChg>
        <pc:spChg chg="mod ord">
          <ac:chgData name="Daya Spindler" userId="S::daya.spindler@g.austincc.edu::d47267c9-b69c-4d84-8d8d-9eb6067b7650" providerId="AD" clId="Web-{7CFA97B9-BB5C-96E0-0F5F-962E29936CB1}" dt="2021-12-27T16:29:33.486" v="233"/>
          <ac:spMkLst>
            <pc:docMk/>
            <pc:sldMk cId="1499568651" sldId="463"/>
            <ac:spMk id="5" creationId="{9D430F9E-EE10-4078-8F0F-2FA89501F3A3}"/>
          </ac:spMkLst>
        </pc:spChg>
        <pc:spChg chg="add del mod">
          <ac:chgData name="Daya Spindler" userId="S::daya.spindler@g.austincc.edu::d47267c9-b69c-4d84-8d8d-9eb6067b7650" providerId="AD" clId="Web-{7CFA97B9-BB5C-96E0-0F5F-962E29936CB1}" dt="2021-12-27T16:29:21.064" v="232"/>
          <ac:spMkLst>
            <pc:docMk/>
            <pc:sldMk cId="1499568651" sldId="463"/>
            <ac:spMk id="6" creationId="{2B51B3AB-CBC6-431F-8D02-A7CB0783BECF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6:29:35.080" v="234"/>
        <pc:sldMkLst>
          <pc:docMk/>
          <pc:sldMk cId="3252195612" sldId="464"/>
        </pc:sldMkLst>
        <pc:spChg chg="mod ord">
          <ac:chgData name="Daya Spindler" userId="S::daya.spindler@g.austincc.edu::d47267c9-b69c-4d84-8d8d-9eb6067b7650" providerId="AD" clId="Web-{7CFA97B9-BB5C-96E0-0F5F-962E29936CB1}" dt="2021-12-27T16:29:35.080" v="234"/>
          <ac:spMkLst>
            <pc:docMk/>
            <pc:sldMk cId="3252195612" sldId="464"/>
            <ac:spMk id="5" creationId="{5AEBF09B-4DF9-41E4-90B4-03B9028E1089}"/>
          </ac:spMkLst>
        </pc:spChg>
      </pc:sldChg>
      <pc:sldChg chg="addSp delSp modSp modNotes">
        <pc:chgData name="Daya Spindler" userId="S::daya.spindler@g.austincc.edu::d47267c9-b69c-4d84-8d8d-9eb6067b7650" providerId="AD" clId="Web-{7CFA97B9-BB5C-96E0-0F5F-962E29936CB1}" dt="2021-12-27T16:29:36.674" v="235"/>
        <pc:sldMkLst>
          <pc:docMk/>
          <pc:sldMk cId="1683307177" sldId="465"/>
        </pc:sldMkLst>
        <pc:spChg chg="mod">
          <ac:chgData name="Daya Spindler" userId="S::daya.spindler@g.austincc.edu::d47267c9-b69c-4d84-8d8d-9eb6067b7650" providerId="AD" clId="Web-{7CFA97B9-BB5C-96E0-0F5F-962E29936CB1}" dt="2021-12-27T16:14:01.997" v="41" actId="20577"/>
          <ac:spMkLst>
            <pc:docMk/>
            <pc:sldMk cId="1683307177" sldId="465"/>
            <ac:spMk id="3" creationId="{595CDE46-DFEC-40BD-9B1B-544DDA6B2F3A}"/>
          </ac:spMkLst>
        </pc:spChg>
        <pc:spChg chg="mod ord">
          <ac:chgData name="Daya Spindler" userId="S::daya.spindler@g.austincc.edu::d47267c9-b69c-4d84-8d8d-9eb6067b7650" providerId="AD" clId="Web-{7CFA97B9-BB5C-96E0-0F5F-962E29936CB1}" dt="2021-12-27T16:29:36.674" v="235"/>
          <ac:spMkLst>
            <pc:docMk/>
            <pc:sldMk cId="1683307177" sldId="465"/>
            <ac:spMk id="5" creationId="{B0F75811-1220-4B5B-A09C-C842BD537346}"/>
          </ac:spMkLst>
        </pc:spChg>
        <pc:spChg chg="add del">
          <ac:chgData name="Daya Spindler" userId="S::daya.spindler@g.austincc.edu::d47267c9-b69c-4d84-8d8d-9eb6067b7650" providerId="AD" clId="Web-{7CFA97B9-BB5C-96E0-0F5F-962E29936CB1}" dt="2021-12-27T16:12:27.585" v="36"/>
          <ac:spMkLst>
            <pc:docMk/>
            <pc:sldMk cId="1683307177" sldId="465"/>
            <ac:spMk id="6" creationId="{861BA325-8907-4D79-9AF6-242BFFC9FD03}"/>
          </ac:spMkLst>
        </pc:spChg>
      </pc:sldChg>
      <pc:sldChg chg="modSp modNotes">
        <pc:chgData name="Daya Spindler" userId="S::daya.spindler@g.austincc.edu::d47267c9-b69c-4d84-8d8d-9eb6067b7650" providerId="AD" clId="Web-{7CFA97B9-BB5C-96E0-0F5F-962E29936CB1}" dt="2021-12-27T16:29:38.080" v="236"/>
        <pc:sldMkLst>
          <pc:docMk/>
          <pc:sldMk cId="3902866008" sldId="466"/>
        </pc:sldMkLst>
        <pc:spChg chg="mod ord">
          <ac:chgData name="Daya Spindler" userId="S::daya.spindler@g.austincc.edu::d47267c9-b69c-4d84-8d8d-9eb6067b7650" providerId="AD" clId="Web-{7CFA97B9-BB5C-96E0-0F5F-962E29936CB1}" dt="2021-12-27T16:29:38.080" v="236"/>
          <ac:spMkLst>
            <pc:docMk/>
            <pc:sldMk cId="3902866008" sldId="466"/>
            <ac:spMk id="5" creationId="{8F8962F9-801D-474D-8FE4-457679DB0C6B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6:29:41.018" v="238"/>
        <pc:sldMkLst>
          <pc:docMk/>
          <pc:sldMk cId="2651525437" sldId="467"/>
        </pc:sldMkLst>
        <pc:spChg chg="mod">
          <ac:chgData name="Daya Spindler" userId="S::daya.spindler@g.austincc.edu::d47267c9-b69c-4d84-8d8d-9eb6067b7650" providerId="AD" clId="Web-{7CFA97B9-BB5C-96E0-0F5F-962E29936CB1}" dt="2021-12-27T16:23:43.779" v="102" actId="20577"/>
          <ac:spMkLst>
            <pc:docMk/>
            <pc:sldMk cId="2651525437" sldId="467"/>
            <ac:spMk id="3" creationId="{E2B8EF7E-852C-4AC0-8332-365390012FDE}"/>
          </ac:spMkLst>
        </pc:spChg>
        <pc:spChg chg="mod ord">
          <ac:chgData name="Daya Spindler" userId="S::daya.spindler@g.austincc.edu::d47267c9-b69c-4d84-8d8d-9eb6067b7650" providerId="AD" clId="Web-{7CFA97B9-BB5C-96E0-0F5F-962E29936CB1}" dt="2021-12-27T16:29:41.018" v="238"/>
          <ac:spMkLst>
            <pc:docMk/>
            <pc:sldMk cId="2651525437" sldId="467"/>
            <ac:spMk id="5" creationId="{F12F629A-E3D0-4520-AEA1-173C2E717A7F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6:29:39.455" v="237"/>
        <pc:sldMkLst>
          <pc:docMk/>
          <pc:sldMk cId="1485411058" sldId="468"/>
        </pc:sldMkLst>
        <pc:spChg chg="mod ord">
          <ac:chgData name="Daya Spindler" userId="S::daya.spindler@g.austincc.edu::d47267c9-b69c-4d84-8d8d-9eb6067b7650" providerId="AD" clId="Web-{7CFA97B9-BB5C-96E0-0F5F-962E29936CB1}" dt="2021-12-27T16:29:39.455" v="237"/>
          <ac:spMkLst>
            <pc:docMk/>
            <pc:sldMk cId="1485411058" sldId="468"/>
            <ac:spMk id="5" creationId="{DC4230EB-A112-4D84-9B8F-97B3C504E93F}"/>
          </ac:spMkLst>
        </pc:spChg>
      </pc:sldChg>
      <pc:sldChg chg="modSp">
        <pc:chgData name="Daya Spindler" userId="S::daya.spindler@g.austincc.edu::d47267c9-b69c-4d84-8d8d-9eb6067b7650" providerId="AD" clId="Web-{7CFA97B9-BB5C-96E0-0F5F-962E29936CB1}" dt="2021-12-27T16:29:43.690" v="239"/>
        <pc:sldMkLst>
          <pc:docMk/>
          <pc:sldMk cId="1645286274" sldId="469"/>
        </pc:sldMkLst>
        <pc:spChg chg="mod ord">
          <ac:chgData name="Daya Spindler" userId="S::daya.spindler@g.austincc.edu::d47267c9-b69c-4d84-8d8d-9eb6067b7650" providerId="AD" clId="Web-{7CFA97B9-BB5C-96E0-0F5F-962E29936CB1}" dt="2021-12-27T16:29:43.690" v="239"/>
          <ac:spMkLst>
            <pc:docMk/>
            <pc:sldMk cId="1645286274" sldId="469"/>
            <ac:spMk id="5" creationId="{93D696D1-31D3-4030-A60B-AB398C365280}"/>
          </ac:spMkLst>
        </pc:spChg>
      </pc:sldChg>
      <pc:sldChg chg="addSp delSp modSp modNotes">
        <pc:chgData name="Daya Spindler" userId="S::daya.spindler@g.austincc.edu::d47267c9-b69c-4d84-8d8d-9eb6067b7650" providerId="AD" clId="Web-{7CFA97B9-BB5C-96E0-0F5F-962E29936CB1}" dt="2021-12-27T16:29:50.909" v="240"/>
        <pc:sldMkLst>
          <pc:docMk/>
          <pc:sldMk cId="642205035" sldId="470"/>
        </pc:sldMkLst>
        <pc:spChg chg="mod">
          <ac:chgData name="Daya Spindler" userId="S::daya.spindler@g.austincc.edu::d47267c9-b69c-4d84-8d8d-9eb6067b7650" providerId="AD" clId="Web-{7CFA97B9-BB5C-96E0-0F5F-962E29936CB1}" dt="2021-12-27T16:27:58.450" v="214" actId="20577"/>
          <ac:spMkLst>
            <pc:docMk/>
            <pc:sldMk cId="642205035" sldId="470"/>
            <ac:spMk id="3" creationId="{CA397359-370F-4EEE-B6C9-56731540CD52}"/>
          </ac:spMkLst>
        </pc:spChg>
        <pc:spChg chg="mod ord">
          <ac:chgData name="Daya Spindler" userId="S::daya.spindler@g.austincc.edu::d47267c9-b69c-4d84-8d8d-9eb6067b7650" providerId="AD" clId="Web-{7CFA97B9-BB5C-96E0-0F5F-962E29936CB1}" dt="2021-12-27T16:29:50.909" v="240"/>
          <ac:spMkLst>
            <pc:docMk/>
            <pc:sldMk cId="642205035" sldId="470"/>
            <ac:spMk id="5" creationId="{2364A675-6E72-4A5E-AF22-4A19DE7D67CA}"/>
          </ac:spMkLst>
        </pc:spChg>
        <pc:spChg chg="add del mod">
          <ac:chgData name="Daya Spindler" userId="S::daya.spindler@g.austincc.edu::d47267c9-b69c-4d84-8d8d-9eb6067b7650" providerId="AD" clId="Web-{7CFA97B9-BB5C-96E0-0F5F-962E29936CB1}" dt="2021-12-27T16:25:10.268" v="109"/>
          <ac:spMkLst>
            <pc:docMk/>
            <pc:sldMk cId="642205035" sldId="470"/>
            <ac:spMk id="6" creationId="{E0C91ED6-A7BC-4846-834D-D8F05AEECC3F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AB555B-7AD2-D94F-D0F5-99B039BD5B1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374371" y="0"/>
            <a:ext cx="5939136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r>
              <a:rPr lang="en-US" dirty="0"/>
              <a:t>COOPER: Foundations and Adult Health Nursing, 9th Edition</a:t>
            </a:r>
          </a:p>
          <a:p>
            <a:r>
              <a:rPr lang="en-US" dirty="0"/>
              <a:t>Chapter 4 Student Handout 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B6CA3F-BAA8-5433-C146-2527093DCD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9FB337-1513-8251-C8CA-BB4942082DB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F3C27624-B0A4-406C-8D1A-91C2564A67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81531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445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5280" y="0"/>
            <a:ext cx="3169920" cy="4800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222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45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5360" y="4560570"/>
            <a:ext cx="5364480" cy="43205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9445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140"/>
            <a:ext cx="3169920" cy="4800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>
                <a:latin typeface="Arial" charset="0"/>
                <a:ea typeface="ＭＳ Ｐゴシック" charset="0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9445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5280" y="9121140"/>
            <a:ext cx="3169920" cy="4800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>
                <a:latin typeface="Arial" pitchFamily="34" charset="0"/>
                <a:ea typeface="ＭＳ Ｐゴシック" pitchFamily="34" charset="-128"/>
                <a:cs typeface="+mn-cs"/>
              </a:defRPr>
            </a:lvl1pPr>
          </a:lstStyle>
          <a:p>
            <a:pPr>
              <a:defRPr/>
            </a:pPr>
            <a:fld id="{5BF81156-E6AF-44C8-BBE8-65F3689151C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9573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6286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2pPr>
    <a:lvl3pPr marL="10858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3pPr>
    <a:lvl4pPr marL="15430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4pPr>
    <a:lvl5pPr marL="2000250" indent="-171450" algn="l" rtl="0" eaLnBrk="0" fontAlgn="base" hangingPunct="0">
      <a:spcBef>
        <a:spcPct val="30000"/>
      </a:spcBef>
      <a:spcAft>
        <a:spcPct val="0"/>
      </a:spcAft>
      <a:buFont typeface="Arial" pitchFamily="34" charset="0"/>
      <a:buChar char="•"/>
      <a:defRPr sz="1200" kern="1200">
        <a:solidFill>
          <a:schemeClr val="tx1"/>
        </a:solidFill>
        <a:latin typeface="Arial" charset="0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2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41653" indent="-241653"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fld id="{1EC53791-3B67-456B-BE62-314E38E80534}" type="slidenum">
              <a:rPr lang="en-US" smtClean="0">
                <a:latin typeface="Arial" charset="0"/>
                <a:ea typeface="ＭＳ Ｐゴシック" charset="-128"/>
              </a:rPr>
              <a:pPr>
                <a:defRPr/>
              </a:pPr>
              <a:t>3</a:t>
            </a:fld>
            <a:endParaRPr lang="en-US" dirty="0">
              <a:latin typeface="Arial" charset="0"/>
              <a:ea typeface="ＭＳ Ｐゴシック" charset="-128"/>
            </a:endParaRPr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marL="241653" indent="-241653">
              <a:buNone/>
            </a:pPr>
            <a:endParaRPr lang="en-US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534984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What do the terms </a:t>
            </a:r>
            <a:r>
              <a:rPr lang="en-US" altLang="en-US" i="1" dirty="0">
                <a:latin typeface="Arial" panose="020B0604020202020204" pitchFamily="34" charset="0"/>
              </a:rPr>
              <a:t>sender, receiver, one-way communication, </a:t>
            </a:r>
            <a:r>
              <a:rPr lang="en-US" altLang="en-US" dirty="0">
                <a:latin typeface="Arial" panose="020B0604020202020204" pitchFamily="34" charset="0"/>
              </a:rPr>
              <a:t>and</a:t>
            </a:r>
            <a:r>
              <a:rPr lang="en-US" altLang="en-US" i="1" dirty="0">
                <a:latin typeface="Arial" panose="020B0604020202020204" pitchFamily="34" charset="0"/>
              </a:rPr>
              <a:t> two-way communication</a:t>
            </a:r>
            <a:r>
              <a:rPr lang="en-US" altLang="en-US" dirty="0">
                <a:latin typeface="Arial" panose="020B0604020202020204" pitchFamily="34" charset="0"/>
              </a:rPr>
              <a:t> mean?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How does communication occur?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43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What are the components of verbal communication?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is the meaning of </a:t>
            </a:r>
            <a:r>
              <a:rPr lang="en-US" altLang="en-US" i="1" dirty="0">
                <a:latin typeface="Arial" panose="020B0604020202020204" pitchFamily="34" charset="0"/>
              </a:rPr>
              <a:t>connotation</a:t>
            </a:r>
            <a:r>
              <a:rPr lang="en-US" altLang="en-US" dirty="0">
                <a:latin typeface="Arial" panose="020B0604020202020204" pitchFamily="34" charset="0"/>
              </a:rPr>
              <a:t> and </a:t>
            </a:r>
            <a:r>
              <a:rPr lang="en-US" altLang="en-US" i="1" dirty="0">
                <a:latin typeface="Arial" panose="020B0604020202020204" pitchFamily="34" charset="0"/>
              </a:rPr>
              <a:t>jargon</a:t>
            </a:r>
            <a:r>
              <a:rPr lang="en-US" altLang="en-US" dirty="0">
                <a:latin typeface="Arial" panose="020B0604020202020204" pitchFamily="34" charset="0"/>
              </a:rPr>
              <a:t>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7149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Demonstrate how changes in voice affect communication.</a:t>
            </a:r>
          </a:p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How does eye contact affect communication?</a:t>
            </a:r>
          </a:p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How do gestures help with clarification?</a:t>
            </a:r>
          </a:p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Describe “open” and “closed” posture.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362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the effect nonverbal communication has on a conversation.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Why is nonverbal communication powerful?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93550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How does delivery of a message affect the message?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is the difference between assertive and aggressive communication?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Which style is more effective?</a:t>
            </a:r>
          </a:p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How does unassertive communication affect the nurse-patient relationship?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5218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Discuss how caring, sincerity, empathy, and trustworthiness affect a therapeutic relationship.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How is trust essential to an effective nurse-patient relationship?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boundaries must exist in the nurse-patient relationship?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6231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How is listening effective in communication?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What is the difference between passive and active listening?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5038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What effect does a conveying acceptance have on communication between a nurse and patient?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How does the nurse’s nonverbal communication coincide with verbal communication of acceptance?</a:t>
            </a:r>
          </a:p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Give examples of closed questioning, open-ended questioning, and restating.</a:t>
            </a:r>
          </a:p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Why does the nurse need to know when humor is appropriate?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69908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What is the difference between therapeutic and nontherapeutic communication?</a:t>
            </a:r>
          </a:p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How can nontherapeutic communication block a trusting relationship with the patient?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712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Give examples of effective posture and positioning during a conversation.</a:t>
            </a:r>
          </a:p>
          <a:p>
            <a:r>
              <a:rPr lang="en-US" altLang="en-US" dirty="0">
                <a:latin typeface="Arial"/>
                <a:ea typeface="ＭＳ Ｐゴシック"/>
                <a:cs typeface="Arial"/>
              </a:rPr>
              <a:t>Give examples of ineffective posture and positioning during a conversation.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Give examples of the four personal space zones: intimate, personal, social, and public.</a:t>
            </a:r>
          </a:p>
          <a:p>
            <a:pPr marL="181240" indent="-181240" defTabSz="966612">
              <a:defRPr/>
            </a:pPr>
            <a:r>
              <a:rPr lang="en-US" altLang="en-US" dirty="0">
                <a:latin typeface="Arial" panose="020B0604020202020204" pitchFamily="34" charset="0"/>
              </a:rPr>
              <a:t>How do the following factors affect communication: environment, trust, language barriers, and culture?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20177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latin typeface="Arial"/>
                <a:ea typeface="ＭＳ Ｐゴシック"/>
                <a:cs typeface="Arial"/>
              </a:rPr>
              <a:t>Refer to Table 4.4</a:t>
            </a:r>
          </a:p>
          <a:p>
            <a:pPr marL="181240" indent="-181240" defTabSz="966612">
              <a:defRPr/>
            </a:pPr>
            <a:r>
              <a:rPr lang="en-US" altLang="en-US" dirty="0">
                <a:latin typeface="Arial"/>
                <a:ea typeface="ＭＳ Ｐゴシック"/>
                <a:cs typeface="Arial"/>
              </a:rPr>
              <a:t>Explain how these might block communication.</a:t>
            </a:r>
            <a:endParaRPr lang="en-US" dirty="0">
              <a:latin typeface="Arial"/>
              <a:ea typeface="ＭＳ Ｐゴシック"/>
              <a:cs typeface="Aria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76211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US" dirty="0">
                <a:latin typeface="Arial" panose="020B0604020202020204" pitchFamily="34" charset="0"/>
              </a:rPr>
              <a:t>How might a nurse communicate with a patient on a ventilator?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How might a nurse communicate with a patient who has</a:t>
            </a:r>
            <a:r>
              <a:rPr lang="en-US" altLang="en-US" b="1" dirty="0">
                <a:latin typeface="Arial" panose="020B0604020202020204" pitchFamily="34" charset="0"/>
              </a:rPr>
              <a:t> </a:t>
            </a:r>
            <a:r>
              <a:rPr lang="en-US" altLang="en-US" dirty="0">
                <a:latin typeface="Arial" panose="020B0604020202020204" pitchFamily="34" charset="0"/>
              </a:rPr>
              <a:t>expressive aphasia? Receptive aphasia?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How might the nurse interact with a nonresponsive patient?</a:t>
            </a:r>
          </a:p>
          <a:p>
            <a:r>
              <a:rPr lang="en-US" altLang="en-US" dirty="0">
                <a:latin typeface="Arial" panose="020B0604020202020204" pitchFamily="34" charset="0"/>
              </a:rPr>
              <a:t>Is it important to explain procedures and interactions to a nonresponsive patient?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41907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US" altLang="en-US" dirty="0">
                <a:latin typeface="Arial"/>
                <a:ea typeface="ＭＳ Ｐゴシック"/>
                <a:cs typeface="Arial"/>
              </a:rPr>
              <a:t>Refer to Box 4.7</a:t>
            </a:r>
          </a:p>
          <a:p>
            <a:pPr marL="181240" indent="-181240" defTabSz="966612">
              <a:defRPr/>
            </a:pPr>
            <a:r>
              <a:rPr lang="en-US" altLang="en-US" dirty="0">
                <a:latin typeface="Arial"/>
                <a:ea typeface="ＭＳ Ｐゴシック"/>
                <a:cs typeface="Arial"/>
              </a:rPr>
              <a:t>Discuss and/or demonstrate various alternative methods of communication.</a:t>
            </a:r>
            <a:endParaRPr lang="en-US" dirty="0">
              <a:latin typeface="Arial"/>
              <a:ea typeface="ＭＳ Ｐゴシック"/>
              <a:cs typeface="Aria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81156-E6AF-44C8-BBE8-65F3689151C1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028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BC70723-5CE8-499C-9971-E4BA18B80ED9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7" name="Footer Placeholder 1">
            <a:extLst>
              <a:ext uri="{FF2B5EF4-FFF2-40B4-BE49-F238E27FC236}">
                <a16:creationId xmlns:a16="http://schemas.microsoft.com/office/drawing/2014/main" id="{3487AE73-3EFF-4555-9FC5-23593D65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9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E234264E-8860-42A2-83C5-41782AA54ED9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5" name="Footer Placeholder 1">
            <a:extLst>
              <a:ext uri="{FF2B5EF4-FFF2-40B4-BE49-F238E27FC236}">
                <a16:creationId xmlns:a16="http://schemas.microsoft.com/office/drawing/2014/main" id="{37759797-3D2C-4F47-AED4-0E8ADB42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9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5AAB81D7-0106-4E41-AE2E-2E4047E24355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A4177A3A-15AF-4BAA-AB48-4B3B002C052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C81CECAA-A39B-467B-A776-CD395CF9D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65A3104-DFC4-492D-B3D0-C3C246A48F5B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1EFB42C-6A15-4A9A-871B-37380EDB6A2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EFB42C-6A15-4A9A-871B-37380EDB6A26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FCA15E23-B403-4680-BAA9-DB5D51A8CFD2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D72A011B-01AE-4CD8-834B-21DB9583C27C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A7D6F96D-A6E5-45AB-8576-3F1772613DA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3E21C735-DADD-43D3-9408-D21FA5E14BBC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D8B011C-2750-47E8-9990-D6261FE36FA6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C0F24A53-2415-4DAD-BD6A-1D9F5DDAF533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2078F67-8AE8-4E9C-AA54-76CE029A507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41475"/>
            <a:ext cx="3810000" cy="44545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B9D621F-A6F6-4120-BD22-05C76ECD157E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200D131F-949B-4E5B-BE81-7C14B29CC9F1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8EBBF4AC-9420-466C-AD9E-FD6592AADD28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97B28123-2912-48D2-AF42-C274BD8D6B10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C6C156E8-9280-4352-B33B-89F3740952C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5BEE1B7-10AA-4C75-B080-000D6057ADAD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198644BA-AE6D-4C74-A6DD-E08DB08BD49A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228600"/>
            <a:ext cx="19431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28600"/>
            <a:ext cx="56769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dirty="0"/>
              <a:t> </a:t>
            </a:r>
            <a:fld id="{77F366DB-197B-47FE-868E-147B370B9598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41475"/>
            <a:ext cx="7772400" cy="445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10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715250" y="6359525"/>
            <a:ext cx="132715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i="0" smtClean="0">
                <a:solidFill>
                  <a:schemeClr val="bg2"/>
                </a:solidFill>
                <a:ea typeface="ＭＳ Ｐゴシック" charset="-128"/>
                <a:cs typeface="Arial" charset="0"/>
              </a:defRPr>
            </a:lvl1pPr>
          </a:lstStyle>
          <a:p>
            <a:pPr>
              <a:defRPr/>
            </a:pPr>
            <a:r>
              <a:rPr lang="en-GB" dirty="0"/>
              <a:t> </a:t>
            </a:r>
            <a:fld id="{71EFB42C-6A15-4A9A-871B-37380EDB6A26}" type="slidenum">
              <a:rPr lang="en-GB" smtClean="0"/>
              <a:pPr>
                <a:defRPr/>
              </a:pPr>
              <a:t>‹#›</a:t>
            </a:fld>
            <a:endParaRPr lang="en-GB" dirty="0"/>
          </a:p>
          <a:p>
            <a:pPr>
              <a:defRPr/>
            </a:pPr>
            <a:endParaRPr lang="en-GB" dirty="0"/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EC67DEBA-1458-4D94-8AC0-2EE32DB11D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359525"/>
            <a:ext cx="6343650" cy="381000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AFAB1B-0C7A-62A8-BD6E-9F3C7965D7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068637" y="6427763"/>
            <a:ext cx="3006725" cy="244523"/>
          </a:xfrm>
          <a:prstGeom prst="rect">
            <a:avLst/>
          </a:prstGeom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>
          <a:solidFill>
            <a:schemeClr val="bg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400">
          <a:solidFill>
            <a:schemeClr val="bg2"/>
          </a:solidFill>
          <a:latin typeface="ArialMT" pitchFamily="34" charset="0"/>
          <a:ea typeface="ＭＳ Ｐゴシック" charset="-128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MT" pitchFamily="34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 2" pitchFamily="18" charset="2"/>
        <a:buChar char=""/>
        <a:defRPr sz="28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" pitchFamily="2" charset="2"/>
        <a:buChar char="Ø"/>
        <a:defRPr sz="2400">
          <a:solidFill>
            <a:schemeClr val="bg2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Char char="•"/>
        <a:defRPr sz="2000">
          <a:solidFill>
            <a:schemeClr val="bg2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Wingdings 3" pitchFamily="18" charset="2"/>
        <a:buChar char=""/>
        <a:defRPr>
          <a:solidFill>
            <a:schemeClr val="bg2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1"/>
        </a:buClr>
        <a:buSzPct val="70000"/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1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1219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41475"/>
            <a:ext cx="7772400" cy="4454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109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08800" y="63595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800" smtClean="0">
                <a:solidFill>
                  <a:schemeClr val="bg2"/>
                </a:solidFill>
                <a:ea typeface="ＭＳ Ｐゴシック" charset="-128"/>
                <a:cs typeface="Arial" charset="0"/>
              </a:defRPr>
            </a:lvl1pPr>
          </a:lstStyle>
          <a:p>
            <a:pPr>
              <a:defRPr/>
            </a:pPr>
            <a:r>
              <a:rPr lang="en-GB" dirty="0"/>
              <a:t> </a:t>
            </a:r>
            <a:fld id="{0FB175F7-DCBF-4C4E-B2DF-5E10268F084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070225-EEC5-8156-534E-916EEF96F2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3068637" y="6427763"/>
            <a:ext cx="3006725" cy="244523"/>
          </a:xfrm>
          <a:prstGeom prst="rect">
            <a:avLst/>
          </a:prstGeom>
        </p:spPr>
      </p:pic>
    </p:spTree>
  </p:cSld>
  <p:clrMap bg1="dk2" tx1="lt1" bg2="dk1" tx2="lt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51" r:id="rId5"/>
    <p:sldLayoutId id="2147483752" r:id="rId6"/>
    <p:sldLayoutId id="2147483753" r:id="rId7"/>
    <p:sldLayoutId id="2147483754" r:id="rId8"/>
    <p:sldLayoutId id="2147483755" r:id="rId9"/>
    <p:sldLayoutId id="2147483756" r:id="rId10"/>
    <p:sldLayoutId id="214748375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rial" charset="0"/>
          <a:ea typeface="ＭＳ Ｐゴシック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0000"/>
        <a:buFont typeface="Wingdings 2" pitchFamily="18" charset="2"/>
        <a:buChar char=""/>
        <a:defRPr sz="28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Ø"/>
        <a:defRPr sz="2400">
          <a:solidFill>
            <a:schemeClr val="bg2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115000"/>
        <a:buChar char="•"/>
        <a:defRPr sz="2000">
          <a:solidFill>
            <a:schemeClr val="bg2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75000"/>
        <a:buFont typeface="Wingdings 3" pitchFamily="18" charset="2"/>
        <a:buChar char=""/>
        <a:defRPr>
          <a:solidFill>
            <a:schemeClr val="bg2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Times New Roman" pitchFamily="18" charset="0"/>
        <a:buChar char="–"/>
        <a:defRPr sz="1600">
          <a:solidFill>
            <a:schemeClr val="bg2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Chapter 4 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en-US" sz="3200" dirty="0"/>
              <a:t>Communication</a:t>
            </a:r>
          </a:p>
        </p:txBody>
      </p:sp>
    </p:spTree>
    <p:extLst>
      <p:ext uri="{BB962C8B-B14F-4D97-AF65-F5344CB8AC3E}">
        <p14:creationId xmlns:p14="http://schemas.microsoft.com/office/powerpoint/2010/main" val="4149221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4.1: Communication</a:t>
            </a:r>
            <a:br>
              <a:rPr lang="en-US" sz="3400" dirty="0"/>
            </a:br>
            <a:r>
              <a:rPr lang="en-US" sz="1600" dirty="0"/>
              <a:t>(Slide 1 of 2)</a:t>
            </a:r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US" dirty="0"/>
              <a:t>Recognize that communication is inherent in every nurse-patient interaction.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Discuss the concepts of verbal and nonverbal communication.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Discuss the impact of nonverbal communication.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Recognize assertive communication as the most appropriate communication style.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Use various therapeutic communication techniques.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2</a:t>
            </a:fld>
            <a:endParaRPr lang="en-GB" sz="1000" dirty="0">
              <a:ea typeface="ＭＳ Ｐゴシック" pitchFamily="34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3014" name="Rectangle 6"/>
          <p:cNvSpPr>
            <a:spLocks noGrp="1" noChangeArrowheads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Lesson 4.1: Communication</a:t>
            </a:r>
            <a:br>
              <a:rPr lang="en-US" sz="3400" dirty="0"/>
            </a:br>
            <a:r>
              <a:rPr lang="en-US" sz="1600" dirty="0"/>
              <a:t>(Slide 2 of 2)</a:t>
            </a:r>
          </a:p>
        </p:txBody>
      </p:sp>
      <p:sp>
        <p:nvSpPr>
          <p:cNvPr id="1963015" name="Rectangle 7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514350" lvl="0" indent="-514350">
              <a:buFont typeface="+mj-lt"/>
              <a:buAutoNum type="arabicPeriod" startAt="6"/>
            </a:pPr>
            <a:r>
              <a:rPr lang="en-US" dirty="0"/>
              <a:t>Identify various factors that have the potential to affect communication.</a:t>
            </a:r>
          </a:p>
          <a:p>
            <a:pPr marL="514350" lvl="0" indent="-514350">
              <a:buFont typeface="+mj-lt"/>
              <a:buAutoNum type="arabicPeriod" startAt="6"/>
            </a:pPr>
            <a:r>
              <a:rPr lang="en-US" dirty="0"/>
              <a:t>Discuss potential barriers to communication.</a:t>
            </a:r>
          </a:p>
          <a:p>
            <a:pPr marL="514350" lvl="0" indent="-514350">
              <a:buFont typeface="+mj-lt"/>
              <a:buAutoNum type="arabicPeriod" startAt="6"/>
            </a:pPr>
            <a:r>
              <a:rPr lang="en-US" dirty="0"/>
              <a:t>Recognize trust as the foundation for all effective interaction.</a:t>
            </a:r>
          </a:p>
          <a:p>
            <a:pPr marL="514350" lvl="0" indent="-514350">
              <a:buFont typeface="+mj-lt"/>
              <a:buAutoNum type="arabicPeriod" startAt="6"/>
            </a:pPr>
            <a:r>
              <a:rPr lang="en-US" dirty="0"/>
              <a:t>Apply the nursing process to patients experiencing difficulty with verbally communicating.</a:t>
            </a:r>
          </a:p>
          <a:p>
            <a:pPr marL="514350" indent="-514350">
              <a:buFont typeface="+mj-lt"/>
              <a:buAutoNum type="arabicPeriod" startAt="6"/>
            </a:pPr>
            <a:r>
              <a:rPr lang="en-US" dirty="0"/>
              <a:t>Apply therapeutic communication techniques to patients with special communication needs.</a:t>
            </a:r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>
            <a:miter lim="800000"/>
            <a:headEnd/>
            <a:tailEnd/>
          </a:ln>
        </p:spPr>
        <p:txBody>
          <a:bodyPr/>
          <a:lstStyle/>
          <a:p>
            <a:r>
              <a:rPr lang="en-GB" sz="1000" dirty="0">
                <a:ea typeface="ＭＳ Ｐゴシック" pitchFamily="34" charset="-128"/>
              </a:rPr>
              <a:t> </a:t>
            </a:r>
            <a:fld id="{B2E7F25F-EFA4-4863-9136-A9152A78A8BC}" type="slidenum">
              <a:rPr lang="en-GB" sz="1000">
                <a:ea typeface="ＭＳ Ｐゴシック" pitchFamily="34" charset="-128"/>
              </a:rPr>
              <a:pPr/>
              <a:t>3</a:t>
            </a:fld>
            <a:endParaRPr lang="en-GB" sz="1000" dirty="0"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7316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C1985-4199-43FA-A26A-6BD36D35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520CE5-4409-4BE1-BA62-D6CE30B509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Requirements for communication</a:t>
            </a:r>
          </a:p>
          <a:p>
            <a:pPr lvl="1"/>
            <a:r>
              <a:rPr lang="en-US" altLang="en-US" dirty="0"/>
              <a:t>Sender</a:t>
            </a:r>
          </a:p>
          <a:p>
            <a:pPr lvl="1"/>
            <a:r>
              <a:rPr lang="en-US" altLang="en-US" dirty="0"/>
              <a:t>Receiver</a:t>
            </a:r>
          </a:p>
          <a:p>
            <a:r>
              <a:rPr lang="en-US" altLang="en-US" dirty="0"/>
              <a:t>One-way communication</a:t>
            </a:r>
          </a:p>
          <a:p>
            <a:r>
              <a:rPr lang="en-US" altLang="en-US" dirty="0"/>
              <a:t>Two-way communication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F40A4-180E-4105-A8B8-6F6FCAF12F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75258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F94A7-8603-4A4C-9E27-F5C466153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Verbal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5176-9628-49AE-85C2-97DA0540A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Verbal communication</a:t>
            </a:r>
          </a:p>
          <a:p>
            <a:pPr lvl="1"/>
            <a:r>
              <a:rPr lang="en-US" dirty="0"/>
              <a:t>Involves the use of spoken or written words or symbols</a:t>
            </a:r>
            <a:endParaRPr lang="en-US" altLang="en-US" dirty="0"/>
          </a:p>
          <a:p>
            <a:pPr lvl="1"/>
            <a:r>
              <a:rPr lang="en-US" altLang="en-US" dirty="0"/>
              <a:t>Connotative meaning</a:t>
            </a:r>
          </a:p>
          <a:p>
            <a:pPr lvl="1"/>
            <a:r>
              <a:rPr lang="en-US" altLang="en-US" dirty="0"/>
              <a:t>Denotative meaning</a:t>
            </a:r>
          </a:p>
          <a:p>
            <a:pPr lvl="1"/>
            <a:r>
              <a:rPr lang="en-US" altLang="en-US" dirty="0"/>
              <a:t>Jargon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90DB0-73A0-4FA7-B54E-0EDADF5800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2934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5BF7E-8A5F-4DB9-A569-8DBDE5FE6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Nonverbal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B5806-D4DD-466E-8D3F-AAA0C4064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Message transmitted without use of words</a:t>
            </a:r>
          </a:p>
          <a:p>
            <a:pPr lvl="1"/>
            <a:r>
              <a:rPr lang="en-US" altLang="en-US" dirty="0"/>
              <a:t>Voice</a:t>
            </a:r>
          </a:p>
          <a:p>
            <a:pPr lvl="1"/>
            <a:r>
              <a:rPr lang="en-US" altLang="en-US" dirty="0"/>
              <a:t>Eye contact</a:t>
            </a:r>
          </a:p>
          <a:p>
            <a:pPr lvl="1"/>
            <a:r>
              <a:rPr lang="en-US" altLang="en-US" dirty="0"/>
              <a:t>Physical appearance</a:t>
            </a:r>
          </a:p>
          <a:p>
            <a:pPr lvl="1"/>
            <a:r>
              <a:rPr lang="en-US" altLang="en-US" dirty="0"/>
              <a:t>Gestures</a:t>
            </a:r>
          </a:p>
          <a:p>
            <a:pPr lvl="1"/>
            <a:r>
              <a:rPr lang="en-US" altLang="en-US" dirty="0"/>
              <a:t>Posture</a:t>
            </a:r>
          </a:p>
          <a:p>
            <a:pPr lvl="1"/>
            <a:endParaRPr lang="en-US" alt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F5181C-2F5D-4789-865E-135FF6DCAE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27926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39737-2CCD-4B07-92E9-38D33BC3F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Consistency of Verbal and Nonverbal Communication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68A22-8E49-4F19-8FD9-C918A130D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Nonverbal communication is powerful</a:t>
            </a:r>
          </a:p>
          <a:p>
            <a:r>
              <a:rPr lang="en-US" altLang="en-US" dirty="0"/>
              <a:t>If nonverbal communication is inconsistent with verbal communication, it is likely that the nonverbal message will be received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1E4BC5-D220-452F-87A9-8E9F213D6F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85038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44059-65EB-401A-A96C-548E89065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Styles of Communication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AEB79-6023-4328-AAC7-03FF4BFC0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en-US" dirty="0"/>
              <a:t>Assertive communication</a:t>
            </a:r>
          </a:p>
          <a:p>
            <a:pPr lvl="1"/>
            <a:r>
              <a:rPr lang="en-US" altLang="en-US" dirty="0"/>
              <a:t>Takes into account feelings and needs of patient, and honors nurse’s rights</a:t>
            </a:r>
          </a:p>
          <a:p>
            <a:pPr lvl="1"/>
            <a:r>
              <a:rPr lang="en-US" altLang="en-US" dirty="0"/>
              <a:t>Interactions are even-sided</a:t>
            </a:r>
          </a:p>
          <a:p>
            <a:r>
              <a:rPr lang="en-US" altLang="en-US" dirty="0"/>
              <a:t>Aggressive communication</a:t>
            </a:r>
          </a:p>
          <a:p>
            <a:pPr lvl="1"/>
            <a:r>
              <a:rPr lang="en-US" altLang="en-US" dirty="0"/>
              <a:t>Interacting with an overpowering and forceful manner</a:t>
            </a:r>
          </a:p>
          <a:p>
            <a:pPr lvl="1"/>
            <a:r>
              <a:rPr lang="en-US" altLang="en-US" dirty="0"/>
              <a:t>Meets one’s own personal needs</a:t>
            </a:r>
          </a:p>
          <a:p>
            <a:pPr lvl="1"/>
            <a:r>
              <a:rPr lang="en-US" altLang="en-US" dirty="0"/>
              <a:t>Destructive and nontherapeutic</a:t>
            </a:r>
          </a:p>
          <a:p>
            <a:r>
              <a:rPr lang="en-US" altLang="en-US" dirty="0"/>
              <a:t>Unassertive communication</a:t>
            </a:r>
          </a:p>
          <a:p>
            <a:pPr lvl="1"/>
            <a:r>
              <a:rPr lang="en-US" altLang="en-US" dirty="0"/>
              <a:t>Agreeing to do what is requested</a:t>
            </a:r>
          </a:p>
          <a:p>
            <a:pPr lvl="1"/>
            <a:r>
              <a:rPr lang="en-US" altLang="en-US" dirty="0"/>
              <a:t>Creates additional problems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0413E-487A-4C4B-9276-114000C9EE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7716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2FFA-2047-4EE4-9DE3-2F3B8CDFD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Establishing a Therapeutic Relationship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FD7DA-2894-4F80-B82F-EA5A21EE0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Interaction between nurse and patient is caring, sincere, empathetic, and trustworthy</a:t>
            </a:r>
          </a:p>
          <a:p>
            <a:r>
              <a:rPr lang="en-US" altLang="en-US" dirty="0"/>
              <a:t>Ensures patient is focus of each interaction</a:t>
            </a:r>
          </a:p>
          <a:p>
            <a:r>
              <a:rPr lang="en-US" altLang="en-US" dirty="0"/>
              <a:t>Establishes trust</a:t>
            </a:r>
          </a:p>
          <a:p>
            <a:r>
              <a:rPr lang="en-US" altLang="en-US" dirty="0"/>
              <a:t>Maintains professional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2EB1A1-451C-4E83-BEBA-A4EA9496C7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33949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D461A-A2B3-4CB2-89EF-813797FDD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Therapeutic Communication</a:t>
            </a:r>
            <a:br>
              <a:rPr lang="en-US" altLang="en-US" dirty="0"/>
            </a:br>
            <a:r>
              <a:rPr lang="en-US" altLang="en-US" sz="1600" dirty="0"/>
              <a:t>(Slide 1 of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B3CFB-616B-4C27-8899-05C8791171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en-US" sz="3200" dirty="0"/>
              <a:t>Nonverbal</a:t>
            </a:r>
          </a:p>
          <a:p>
            <a:pPr lvl="1"/>
            <a:r>
              <a:rPr lang="en-US" altLang="en-US" sz="2800" dirty="0"/>
              <a:t>Listening</a:t>
            </a:r>
          </a:p>
          <a:p>
            <a:pPr lvl="1"/>
            <a:r>
              <a:rPr lang="en-US" altLang="en-US" sz="2800" dirty="0"/>
              <a:t>Silence</a:t>
            </a:r>
          </a:p>
          <a:p>
            <a:pPr lvl="1"/>
            <a:r>
              <a:rPr lang="en-US" altLang="en-US" sz="2800" dirty="0"/>
              <a:t>Touch</a:t>
            </a:r>
          </a:p>
          <a:p>
            <a:pPr lvl="1"/>
            <a:endParaRPr lang="en-US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C1017-2AB8-4EAB-863A-B53720ED3B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3419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D461A-A2B3-4CB2-89EF-813797FDD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Therapeutic Communication</a:t>
            </a:r>
            <a:br>
              <a:rPr lang="en-US" altLang="en-US" dirty="0"/>
            </a:br>
            <a:r>
              <a:rPr lang="en-US" altLang="en-US" sz="1600" dirty="0"/>
              <a:t>(Slide 2 of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B3CFB-616B-4C27-8899-05C8791171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en-US" dirty="0"/>
              <a:t>Verbal</a:t>
            </a:r>
          </a:p>
          <a:p>
            <a:pPr lvl="1"/>
            <a:r>
              <a:rPr lang="en-US" altLang="en-US" dirty="0"/>
              <a:t>Conveying acceptance</a:t>
            </a:r>
          </a:p>
          <a:p>
            <a:pPr lvl="1"/>
            <a:r>
              <a:rPr lang="en-US" altLang="en-US" dirty="0"/>
              <a:t>Closed questioning</a:t>
            </a:r>
          </a:p>
          <a:p>
            <a:pPr lvl="1"/>
            <a:r>
              <a:rPr lang="en-US" altLang="en-US" dirty="0"/>
              <a:t>Open-ended questioning</a:t>
            </a:r>
          </a:p>
          <a:p>
            <a:pPr lvl="1"/>
            <a:r>
              <a:rPr lang="en-US" altLang="en-US" dirty="0"/>
              <a:t>Restating</a:t>
            </a:r>
          </a:p>
          <a:p>
            <a:pPr lvl="1"/>
            <a:r>
              <a:rPr lang="en-US" altLang="en-US" dirty="0"/>
              <a:t>Paraphrasing</a:t>
            </a:r>
          </a:p>
          <a:p>
            <a:pPr lvl="1"/>
            <a:r>
              <a:rPr lang="en-US" altLang="en-US" dirty="0"/>
              <a:t>Clarifying</a:t>
            </a:r>
          </a:p>
          <a:p>
            <a:pPr lvl="1"/>
            <a:r>
              <a:rPr lang="en-US" altLang="en-US" dirty="0"/>
              <a:t>Focusing</a:t>
            </a:r>
          </a:p>
          <a:p>
            <a:pPr lvl="1"/>
            <a:r>
              <a:rPr lang="en-US" altLang="en-US" dirty="0"/>
              <a:t>Reflecting</a:t>
            </a:r>
          </a:p>
          <a:p>
            <a:pPr lvl="1"/>
            <a:r>
              <a:rPr lang="en-US" altLang="en-US" dirty="0"/>
              <a:t>Stating observations</a:t>
            </a:r>
          </a:p>
          <a:p>
            <a:pPr lvl="1"/>
            <a:r>
              <a:rPr lang="en-US" altLang="en-US" dirty="0"/>
              <a:t>Offering information</a:t>
            </a:r>
          </a:p>
          <a:p>
            <a:pPr lvl="1"/>
            <a:r>
              <a:rPr lang="en-US" altLang="en-US" dirty="0"/>
              <a:t>Summarizing</a:t>
            </a:r>
          </a:p>
          <a:p>
            <a:pPr lvl="1"/>
            <a:r>
              <a:rPr lang="en-US" altLang="en-US" dirty="0"/>
              <a:t>Using humor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C1017-2AB8-4EAB-863A-B53720ED3B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99568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CC74D-8C15-4BB7-A42F-A152C5617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Nontherapeutic Communication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42DBF-536E-463D-8456-71619CE817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 development of trusting and therapeutic relationship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1EA137-F8B2-4184-851F-C525FB129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2195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8CCCB-E767-492F-8F22-55E38F370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Factors Affecting Communication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CDE46-DFEC-40BD-9B1B-544DDA6B2F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US" dirty="0"/>
              <a:t>Posture and positioning</a:t>
            </a:r>
          </a:p>
          <a:p>
            <a:r>
              <a:rPr lang="en-US" altLang="en-US" dirty="0"/>
              <a:t>Space and territoriality</a:t>
            </a:r>
          </a:p>
          <a:p>
            <a:r>
              <a:rPr lang="en-US" altLang="en-US" dirty="0"/>
              <a:t>Environment</a:t>
            </a:r>
          </a:p>
          <a:p>
            <a:r>
              <a:rPr lang="en-US" altLang="en-US" dirty="0"/>
              <a:t>Level of trust</a:t>
            </a:r>
          </a:p>
          <a:p>
            <a:r>
              <a:rPr lang="en-US" altLang="en-US" dirty="0"/>
              <a:t>Language barriers</a:t>
            </a:r>
          </a:p>
          <a:p>
            <a:r>
              <a:rPr lang="en-US" altLang="en-US" dirty="0"/>
              <a:t>Culture</a:t>
            </a:r>
          </a:p>
          <a:p>
            <a:r>
              <a:rPr lang="en-US" altLang="en-US" dirty="0"/>
              <a:t>Age and gender</a:t>
            </a:r>
          </a:p>
          <a:p>
            <a:r>
              <a:rPr lang="en-US" altLang="en-US" dirty="0"/>
              <a:t>Physiological factors</a:t>
            </a:r>
          </a:p>
          <a:p>
            <a:r>
              <a:rPr lang="en-US" altLang="en-US" dirty="0"/>
              <a:t>Psychosocial factors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279DF-C29B-4F09-8980-95692089B0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3307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36F3F-D950-47ED-ACB0-A52E9719C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Barriers to Communication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8D022-B182-45DE-A490-BDC37927F8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US" dirty="0"/>
              <a:t>False reassurance</a:t>
            </a:r>
          </a:p>
          <a:p>
            <a:r>
              <a:rPr lang="en-US" altLang="en-US" dirty="0"/>
              <a:t>Giving advice or personal opinions</a:t>
            </a:r>
          </a:p>
          <a:p>
            <a:r>
              <a:rPr lang="en-US" altLang="en-US" dirty="0"/>
              <a:t>False assumptions</a:t>
            </a:r>
          </a:p>
          <a:p>
            <a:r>
              <a:rPr lang="en-US" altLang="en-US" dirty="0"/>
              <a:t>Approval or disapproval</a:t>
            </a:r>
          </a:p>
          <a:p>
            <a:r>
              <a:rPr lang="en-US" altLang="en-US" dirty="0"/>
              <a:t>Automatic responses</a:t>
            </a:r>
          </a:p>
          <a:p>
            <a:r>
              <a:rPr lang="en-US" altLang="en-US" dirty="0"/>
              <a:t>Defensiveness</a:t>
            </a:r>
          </a:p>
          <a:p>
            <a:r>
              <a:rPr lang="en-US" altLang="en-US" dirty="0"/>
              <a:t>Arguing</a:t>
            </a:r>
          </a:p>
          <a:p>
            <a:r>
              <a:rPr lang="en-US" altLang="en-US" dirty="0"/>
              <a:t>Asking for explanations</a:t>
            </a:r>
          </a:p>
          <a:p>
            <a:r>
              <a:rPr lang="en-US" altLang="en-US" dirty="0"/>
              <a:t>Changing the subject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7405B-BF01-4978-ABB2-ADCD28B907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02866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18528-D306-470D-9CFC-B9B0280F9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0C796-0B46-4AC6-A7BB-BC6A5D490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trusting relationship is essential to an effective nurse-patient interaction</a:t>
            </a:r>
          </a:p>
          <a:p>
            <a:r>
              <a:rPr lang="en-US" dirty="0"/>
              <a:t>Trust allows the interaction to progress past superficial social interaction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DDC03-D7E4-464A-8591-368CD9DBAB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85411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B859D-DAC6-448F-9B47-0DC7D3BD9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Nursing Process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8EF7E-852C-4AC0-8332-365390012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Assessment</a:t>
            </a:r>
            <a:endParaRPr lang="en-US"/>
          </a:p>
          <a:p>
            <a:r>
              <a:rPr lang="en-US" altLang="en-US" dirty="0"/>
              <a:t>Patient Problem</a:t>
            </a:r>
          </a:p>
          <a:p>
            <a:pPr lvl="1"/>
            <a:r>
              <a:rPr lang="en-US" altLang="en-US" dirty="0"/>
              <a:t>Compromised verbal communication</a:t>
            </a:r>
          </a:p>
          <a:p>
            <a:r>
              <a:rPr lang="en-US" altLang="en-US" dirty="0"/>
              <a:t>Patient goals and planning</a:t>
            </a:r>
            <a:endParaRPr lang="en-US" altLang="en-US" sz="3600" b="1" dirty="0"/>
          </a:p>
          <a:p>
            <a:r>
              <a:rPr lang="en-US" altLang="en-US" dirty="0"/>
              <a:t>Implementation</a:t>
            </a:r>
            <a:endParaRPr lang="en-US" altLang="en-US" b="1" dirty="0"/>
          </a:p>
          <a:p>
            <a:pPr lvl="1"/>
            <a:r>
              <a:rPr lang="en-US" altLang="en-US" dirty="0"/>
              <a:t>Depends on type of impaired communication</a:t>
            </a:r>
          </a:p>
          <a:p>
            <a:r>
              <a:rPr lang="en-US" altLang="en-US" dirty="0"/>
              <a:t>Evaluation</a:t>
            </a:r>
            <a:endParaRPr lang="en-US" altLang="en-US" sz="3600" b="1" dirty="0"/>
          </a:p>
          <a:p>
            <a:endParaRPr lang="en-US" altLang="en-US" b="1" dirty="0"/>
          </a:p>
          <a:p>
            <a:pPr lvl="1"/>
            <a:endParaRPr lang="en-US" alt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6CEAC-794E-4C06-9563-778888339F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1525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1F390-2F40-42C3-B379-6680A3211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Communication in Special Situations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7960B-BDC5-46E3-954C-EED6FBDF8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dirty="0"/>
              <a:t>Ventilator-dependent patients</a:t>
            </a:r>
          </a:p>
          <a:p>
            <a:r>
              <a:rPr lang="en-US" altLang="en-US" dirty="0"/>
              <a:t>Aphasic patients</a:t>
            </a:r>
          </a:p>
          <a:p>
            <a:r>
              <a:rPr lang="en-US" altLang="en-US" dirty="0"/>
              <a:t>Unresponsive patients</a:t>
            </a:r>
          </a:p>
          <a:p>
            <a:endParaRPr lang="en-US" alt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D0560-39FA-42E0-AD23-47D92ABBBB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2862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A4FD-4709-443C-B5BB-A0A4947F3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Alternative Methods for Communicating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97359-370F-4EEE-B6C9-56731540CD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US" dirty="0"/>
              <a:t>Clock-face communication</a:t>
            </a:r>
          </a:p>
          <a:p>
            <a:r>
              <a:rPr lang="en-US" altLang="en-US" dirty="0"/>
              <a:t>Computer-assisted communication</a:t>
            </a:r>
          </a:p>
          <a:p>
            <a:r>
              <a:rPr lang="en-US" altLang="en-US" dirty="0"/>
              <a:t>Eye blinks</a:t>
            </a:r>
          </a:p>
          <a:p>
            <a:r>
              <a:rPr lang="en-US" altLang="en-US" dirty="0"/>
              <a:t>Lip-reading</a:t>
            </a:r>
            <a:endParaRPr lang="en-US" dirty="0"/>
          </a:p>
          <a:p>
            <a:r>
              <a:rPr lang="en-US" altLang="en-US" dirty="0"/>
              <a:t>Magnetic boards with plastic letters</a:t>
            </a:r>
          </a:p>
          <a:p>
            <a:r>
              <a:rPr lang="en-US" altLang="en-US" dirty="0"/>
              <a:t>Paper and pencil or magic slate</a:t>
            </a:r>
          </a:p>
          <a:p>
            <a:r>
              <a:rPr lang="en-US" altLang="en-US" dirty="0"/>
              <a:t>Picture board</a:t>
            </a:r>
          </a:p>
          <a:p>
            <a:r>
              <a:rPr lang="en-US" altLang="en-US" dirty="0"/>
              <a:t>Sign language</a:t>
            </a:r>
          </a:p>
          <a:p>
            <a:r>
              <a:rPr lang="en-US" altLang="en-US" dirty="0"/>
              <a:t>Word or picture cards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A37D83-3254-4B71-A145-A498A5BBD4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 </a:t>
            </a:r>
            <a:fld id="{E234264E-8860-42A2-83C5-41782AA54ED9}" type="slidenum">
              <a:rPr lang="en-GB" smtClean="0"/>
              <a:pPr>
                <a:defRPr/>
              </a:pPr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2205035"/>
      </p:ext>
    </p:extLst>
  </p:cSld>
  <p:clrMapOvr>
    <a:masterClrMapping/>
  </p:clrMapOvr>
</p:sld>
</file>

<file path=ppt/theme/theme1.xml><?xml version="1.0" encoding="utf-8"?>
<a:theme xmlns:a="http://schemas.openxmlformats.org/drawingml/2006/main" name="2_Blue Diagonal">
  <a:themeElements>
    <a:clrScheme name="2_Blue Diagonal 1">
      <a:dk1>
        <a:srgbClr val="000000"/>
      </a:dk1>
      <a:lt1>
        <a:srgbClr val="FFFFFF"/>
      </a:lt1>
      <a:dk2>
        <a:srgbClr val="0066FF"/>
      </a:dk2>
      <a:lt2>
        <a:srgbClr val="FFFF00"/>
      </a:lt2>
      <a:accent1>
        <a:srgbClr val="00CCCC"/>
      </a:accent1>
      <a:accent2>
        <a:srgbClr val="FF33CC"/>
      </a:accent2>
      <a:accent3>
        <a:srgbClr val="AAB8FF"/>
      </a:accent3>
      <a:accent4>
        <a:srgbClr val="DADADA"/>
      </a:accent4>
      <a:accent5>
        <a:srgbClr val="AAE2E2"/>
      </a:accent5>
      <a:accent6>
        <a:srgbClr val="E72DB9"/>
      </a:accent6>
      <a:hlink>
        <a:srgbClr val="FF4568"/>
      </a:hlink>
      <a:folHlink>
        <a:srgbClr val="CCECFF"/>
      </a:folHlink>
    </a:clrScheme>
    <a:fontScheme name="2_Blue Diagonal">
      <a:majorFont>
        <a:latin typeface="ArialMT"/>
        <a:ea typeface="ＭＳ Ｐゴシック"/>
        <a:cs typeface=""/>
      </a:majorFont>
      <a:minorFont>
        <a:latin typeface="ArialMT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_Blue Diagonal 1">
        <a:dk1>
          <a:srgbClr val="000000"/>
        </a:dk1>
        <a:lt1>
          <a:srgbClr val="FFFFFF"/>
        </a:lt1>
        <a:dk2>
          <a:srgbClr val="0066FF"/>
        </a:dk2>
        <a:lt2>
          <a:srgbClr val="FFFF00"/>
        </a:lt2>
        <a:accent1>
          <a:srgbClr val="00CCCC"/>
        </a:accent1>
        <a:accent2>
          <a:srgbClr val="FF33CC"/>
        </a:accent2>
        <a:accent3>
          <a:srgbClr val="AAB8FF"/>
        </a:accent3>
        <a:accent4>
          <a:srgbClr val="DADADA"/>
        </a:accent4>
        <a:accent5>
          <a:srgbClr val="AAE2E2"/>
        </a:accent5>
        <a:accent6>
          <a:srgbClr val="E72DB9"/>
        </a:accent6>
        <a:hlink>
          <a:srgbClr val="FF4568"/>
        </a:hlink>
        <a:folHlink>
          <a:srgbClr val="CCE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Blue Diagonal 2">
        <a:dk1>
          <a:srgbClr val="000000"/>
        </a:dk1>
        <a:lt1>
          <a:srgbClr val="9999FF"/>
        </a:lt1>
        <a:dk2>
          <a:srgbClr val="6600FF"/>
        </a:dk2>
        <a:lt2>
          <a:srgbClr val="FFFFFF"/>
        </a:lt2>
        <a:accent1>
          <a:srgbClr val="CCCCFF"/>
        </a:accent1>
        <a:accent2>
          <a:srgbClr val="FF99FF"/>
        </a:accent2>
        <a:accent3>
          <a:srgbClr val="CACAFF"/>
        </a:accent3>
        <a:accent4>
          <a:srgbClr val="000000"/>
        </a:accent4>
        <a:accent5>
          <a:srgbClr val="E2E2FF"/>
        </a:accent5>
        <a:accent6>
          <a:srgbClr val="E78AE7"/>
        </a:accent6>
        <a:hlink>
          <a:srgbClr val="00CC66"/>
        </a:hlink>
        <a:folHlink>
          <a:srgbClr val="CCE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Blue Diagonal 3">
        <a:dk1>
          <a:srgbClr val="000000"/>
        </a:dk1>
        <a:lt1>
          <a:srgbClr val="FFFFFF"/>
        </a:lt1>
        <a:dk2>
          <a:srgbClr val="000000"/>
        </a:dk2>
        <a:lt2>
          <a:srgbClr val="CBCBCB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Blue Diagonal 4">
        <a:dk1>
          <a:srgbClr val="000000"/>
        </a:dk1>
        <a:lt1>
          <a:srgbClr val="FFFFFF"/>
        </a:lt1>
        <a:dk2>
          <a:srgbClr val="990066"/>
        </a:dk2>
        <a:lt2>
          <a:srgbClr val="FFFF00"/>
        </a:lt2>
        <a:accent1>
          <a:srgbClr val="996633"/>
        </a:accent1>
        <a:accent2>
          <a:srgbClr val="CC6600"/>
        </a:accent2>
        <a:accent3>
          <a:srgbClr val="CAAAB8"/>
        </a:accent3>
        <a:accent4>
          <a:srgbClr val="DADADA"/>
        </a:accent4>
        <a:accent5>
          <a:srgbClr val="CAB8AD"/>
        </a:accent5>
        <a:accent6>
          <a:srgbClr val="B95C00"/>
        </a:accent6>
        <a:hlink>
          <a:srgbClr val="999933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emplate" id="{05B35852-82C8-4380-BE3E-72E8A36B344E}" vid="{44BCCB53-EE29-414A-8F6C-89C65B68B0C1}"/>
    </a:ext>
  </a:extLst>
</a:theme>
</file>

<file path=ppt/theme/theme2.xml><?xml version="1.0" encoding="utf-8"?>
<a:theme xmlns:a="http://schemas.openxmlformats.org/drawingml/2006/main" name="3_Blue Diagonal">
  <a:themeElements>
    <a:clrScheme name="3_Blue Diagonal 1">
      <a:dk1>
        <a:srgbClr val="000000"/>
      </a:dk1>
      <a:lt1>
        <a:srgbClr val="FFFFFF"/>
      </a:lt1>
      <a:dk2>
        <a:srgbClr val="0066FF"/>
      </a:dk2>
      <a:lt2>
        <a:srgbClr val="FFFF00"/>
      </a:lt2>
      <a:accent1>
        <a:srgbClr val="00CCCC"/>
      </a:accent1>
      <a:accent2>
        <a:srgbClr val="FF33CC"/>
      </a:accent2>
      <a:accent3>
        <a:srgbClr val="AAB8FF"/>
      </a:accent3>
      <a:accent4>
        <a:srgbClr val="DADADA"/>
      </a:accent4>
      <a:accent5>
        <a:srgbClr val="AAE2E2"/>
      </a:accent5>
      <a:accent6>
        <a:srgbClr val="E72DB9"/>
      </a:accent6>
      <a:hlink>
        <a:srgbClr val="FF4568"/>
      </a:hlink>
      <a:folHlink>
        <a:srgbClr val="CCECFF"/>
      </a:folHlink>
    </a:clrScheme>
    <a:fontScheme name="3_Blue Diagonal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Blue Diagonal 1">
        <a:dk1>
          <a:srgbClr val="000000"/>
        </a:dk1>
        <a:lt1>
          <a:srgbClr val="FFFFFF"/>
        </a:lt1>
        <a:dk2>
          <a:srgbClr val="0066FF"/>
        </a:dk2>
        <a:lt2>
          <a:srgbClr val="FFFF00"/>
        </a:lt2>
        <a:accent1>
          <a:srgbClr val="00CCCC"/>
        </a:accent1>
        <a:accent2>
          <a:srgbClr val="FF33CC"/>
        </a:accent2>
        <a:accent3>
          <a:srgbClr val="AAB8FF"/>
        </a:accent3>
        <a:accent4>
          <a:srgbClr val="DADADA"/>
        </a:accent4>
        <a:accent5>
          <a:srgbClr val="AAE2E2"/>
        </a:accent5>
        <a:accent6>
          <a:srgbClr val="E72DB9"/>
        </a:accent6>
        <a:hlink>
          <a:srgbClr val="FF4568"/>
        </a:hlink>
        <a:folHlink>
          <a:srgbClr val="CCEC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Blue Diagonal 2">
        <a:dk1>
          <a:srgbClr val="000000"/>
        </a:dk1>
        <a:lt1>
          <a:srgbClr val="9999FF"/>
        </a:lt1>
        <a:dk2>
          <a:srgbClr val="6600FF"/>
        </a:dk2>
        <a:lt2>
          <a:srgbClr val="FFFFFF"/>
        </a:lt2>
        <a:accent1>
          <a:srgbClr val="CCCCFF"/>
        </a:accent1>
        <a:accent2>
          <a:srgbClr val="FF99FF"/>
        </a:accent2>
        <a:accent3>
          <a:srgbClr val="CACAFF"/>
        </a:accent3>
        <a:accent4>
          <a:srgbClr val="000000"/>
        </a:accent4>
        <a:accent5>
          <a:srgbClr val="E2E2FF"/>
        </a:accent5>
        <a:accent6>
          <a:srgbClr val="E78AE7"/>
        </a:accent6>
        <a:hlink>
          <a:srgbClr val="00CC66"/>
        </a:hlink>
        <a:folHlink>
          <a:srgbClr val="CCE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Blue Diagonal 3">
        <a:dk1>
          <a:srgbClr val="000000"/>
        </a:dk1>
        <a:lt1>
          <a:srgbClr val="FFFFFF"/>
        </a:lt1>
        <a:dk2>
          <a:srgbClr val="000000"/>
        </a:dk2>
        <a:lt2>
          <a:srgbClr val="CBCBCB"/>
        </a:lt2>
        <a:accent1>
          <a:srgbClr val="DDDDDD"/>
        </a:accent1>
        <a:accent2>
          <a:srgbClr val="B2B2B2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A1A1A1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Blue Diagonal 4">
        <a:dk1>
          <a:srgbClr val="000000"/>
        </a:dk1>
        <a:lt1>
          <a:srgbClr val="FFFFFF"/>
        </a:lt1>
        <a:dk2>
          <a:srgbClr val="990066"/>
        </a:dk2>
        <a:lt2>
          <a:srgbClr val="FFFF00"/>
        </a:lt2>
        <a:accent1>
          <a:srgbClr val="996633"/>
        </a:accent1>
        <a:accent2>
          <a:srgbClr val="CC6600"/>
        </a:accent2>
        <a:accent3>
          <a:srgbClr val="CAAAB8"/>
        </a:accent3>
        <a:accent4>
          <a:srgbClr val="DADADA"/>
        </a:accent4>
        <a:accent5>
          <a:srgbClr val="CAB8AD"/>
        </a:accent5>
        <a:accent6>
          <a:srgbClr val="B95C00"/>
        </a:accent6>
        <a:hlink>
          <a:srgbClr val="999933"/>
        </a:hlink>
        <a:folHlink>
          <a:srgbClr val="CCCCF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emplate" id="{05B35852-82C8-4380-BE3E-72E8A36B344E}" vid="{E7008CAA-0110-4942-A27F-B887E31738AC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6801</TotalTime>
  <Words>878</Words>
  <Application>Microsoft Office PowerPoint</Application>
  <PresentationFormat>On-screen Show (4:3)</PresentationFormat>
  <Paragraphs>188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ArialMT</vt:lpstr>
      <vt:lpstr>Times New Roman</vt:lpstr>
      <vt:lpstr>Wingdings</vt:lpstr>
      <vt:lpstr>Wingdings 2</vt:lpstr>
      <vt:lpstr>Wingdings 3</vt:lpstr>
      <vt:lpstr>2_Blue Diagonal</vt:lpstr>
      <vt:lpstr>3_Blue Diagonal</vt:lpstr>
      <vt:lpstr>Chapter 4  </vt:lpstr>
      <vt:lpstr>Lesson 4.1: Communication (Slide 1 of 2)</vt:lpstr>
      <vt:lpstr>Lesson 4.1: Communication (Slide 2 of 2)</vt:lpstr>
      <vt:lpstr>Overview</vt:lpstr>
      <vt:lpstr>Verbal Communication</vt:lpstr>
      <vt:lpstr>Nonverbal Communication</vt:lpstr>
      <vt:lpstr>Consistency of Verbal and Nonverbal Communication</vt:lpstr>
      <vt:lpstr>Styles of Communication</vt:lpstr>
      <vt:lpstr>Establishing a Therapeutic Relationship</vt:lpstr>
      <vt:lpstr>Therapeutic Communication (Slide 1 of 2)</vt:lpstr>
      <vt:lpstr>Therapeutic Communication (Slide 2 of 2)</vt:lpstr>
      <vt:lpstr>Nontherapeutic Communication</vt:lpstr>
      <vt:lpstr>Factors Affecting Communication </vt:lpstr>
      <vt:lpstr>Barriers to Communication</vt:lpstr>
      <vt:lpstr>Trust</vt:lpstr>
      <vt:lpstr>Nursing Process</vt:lpstr>
      <vt:lpstr>Communication in Special Situations</vt:lpstr>
      <vt:lpstr>Alternative Methods for Communicating </vt:lpstr>
    </vt:vector>
  </TitlesOfParts>
  <Company>REED Elsevier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 Body Systems</dc:title>
  <dc:creator>Linda Honeycutt</dc:creator>
  <cp:lastModifiedBy>Jyoti Tyagi (IL-IN)</cp:lastModifiedBy>
  <cp:revision>739</cp:revision>
  <cp:lastPrinted>2022-07-01T16:15:09Z</cp:lastPrinted>
  <dcterms:created xsi:type="dcterms:W3CDTF">2005-01-16T17:28:53Z</dcterms:created>
  <dcterms:modified xsi:type="dcterms:W3CDTF">2022-07-06T06:39:12Z</dcterms:modified>
</cp:coreProperties>
</file>