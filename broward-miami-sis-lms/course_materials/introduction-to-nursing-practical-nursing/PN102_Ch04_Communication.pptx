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83cbda960ea4412" /><Relationship Type="http://schemas.openxmlformats.org/officeDocument/2006/relationships/extended-properties" Target="/docProps/app.xml" Id="R1234db26e7534097" /><Relationship Type="http://schemas.openxmlformats.org/officeDocument/2006/relationships/officeDocument" Target="/ppt/presentation.xml" Id="R4422ab14dba0437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6257ca165764504"/>
  </p:sldMasterIdLst>
  <p:notesMasterIdLst>
    <p:notesMasterId xmlns:r="http://schemas.openxmlformats.org/officeDocument/2006/relationships" r:id="R814269e4abe74cdf"/>
  </p:notesMasterIdLst>
  <p:sldIdLst>
    <p:sldId xmlns:r="http://schemas.openxmlformats.org/officeDocument/2006/relationships" id="256" r:id="R13acd61b3feb4262"/>
    <p:sldId xmlns:r="http://schemas.openxmlformats.org/officeDocument/2006/relationships" id="257" r:id="R772640a22662483b"/>
    <p:sldId xmlns:r="http://schemas.openxmlformats.org/officeDocument/2006/relationships" id="258" r:id="R2e488b7f294f48cd"/>
    <p:sldId xmlns:r="http://schemas.openxmlformats.org/officeDocument/2006/relationships" id="259" r:id="R75765ad63b7b439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0b16e02622c4523" /><Relationship Type="http://schemas.openxmlformats.org/officeDocument/2006/relationships/slideMaster" Target="/ppt/slideMasters/slideMaster1.xml" Id="Ra6257ca165764504" /><Relationship Type="http://schemas.openxmlformats.org/officeDocument/2006/relationships/notesMaster" Target="/ppt/notesMasters/notesMaster1.xml" Id="R814269e4abe74cdf" /><Relationship Type="http://schemas.openxmlformats.org/officeDocument/2006/relationships/presProps" Target="/ppt/presProps.xml" Id="R8cdd1b7d5c1f488f" /><Relationship Type="http://schemas.openxmlformats.org/officeDocument/2006/relationships/tableStyles" Target="/ppt/tableStyles.xml" Id="R92e2c56da003420f" /><Relationship Type="http://schemas.openxmlformats.org/officeDocument/2006/relationships/slide" Target="/ppt/slides/slide1.xml" Id="R13acd61b3feb4262" /><Relationship Type="http://schemas.openxmlformats.org/officeDocument/2006/relationships/slide" Target="/ppt/slides/slide2.xml" Id="R772640a22662483b" /><Relationship Type="http://schemas.openxmlformats.org/officeDocument/2006/relationships/slide" Target="/ppt/slides/slide3.xml" Id="R2e488b7f294f48cd" /><Relationship Type="http://schemas.openxmlformats.org/officeDocument/2006/relationships/slide" Target="/ppt/slides/slide4.xml" Id="R75765ad63b7b439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dca3bc88a6a49a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49710cfd80c4ce0" /><Relationship Type="http://schemas.openxmlformats.org/officeDocument/2006/relationships/notesMaster" Target="/ppt/notesMasters/notesMaster1.xml" Id="R67fa434f184740f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edff28229ca4e73" /><Relationship Type="http://schemas.openxmlformats.org/officeDocument/2006/relationships/notesMaster" Target="/ppt/notesMasters/notesMaster1.xml" Id="Rcc17bacc149145d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403cfdb07514a66" /><Relationship Type="http://schemas.openxmlformats.org/officeDocument/2006/relationships/notesMaster" Target="/ppt/notesMasters/notesMaster1.xml" Id="R80fa4666750c48e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e868b5e8f3445e2" /><Relationship Type="http://schemas.openxmlformats.org/officeDocument/2006/relationships/notesMaster" Target="/ppt/notesMasters/notesMaster1.xml" Id="Rd038e0dd300b441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chapter and connect it to the assigned textbook reading.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src/introNursingBuildout.js — Chapter 4 extendedWeekChapters and readingFocusExplanations (local course source; accessed 2026-07-30).</a:t>
            </a:r>
          </a:p>
          <a:p xmlns:a="http://schemas.openxmlformats.org/drawingml/2006/main">
            <a:r>
              <a:t>- Cooper, K., &amp; Gosnell, K. (2023). Foundations of Nursing (9th ed.), Chapter 4, pp. 60–80 (course-assigned textbook).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how the four reading-focus concepts fit together before applying them to care.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src/introNursingBuildout.js — Chapter 4 extendedWeekChapters and readingFocusExplanations (local course source; accessed 2026-07-30).</a:t>
            </a:r>
          </a:p>
          <a:p xmlns:a="http://schemas.openxmlformats.org/drawingml/2006/main">
            <a:r>
              <a:t>- Cooper, K., &amp; Gosnell, K. (2023). Foundations of Nursing (9th ed.), Chapter 4, pp. 60–80 (course-assigned textbook).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Apply the chapter concepts to the practical nurse’s observation, action, documentation, and reporting responsibilities.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src/introNursingBuildout.js — Chapter 4 extendedWeekChapters and readingFocusExplanations (local course source; accessed 2026-07-30).</a:t>
            </a:r>
          </a:p>
          <a:p xmlns:a="http://schemas.openxmlformats.org/drawingml/2006/main">
            <a:r>
              <a:t>- Cooper, K., &amp; Gosnell, K. (2023). Foundations of Nursing (9th ed.), Chapter 4, pp. 60–80 (course-assigned textbook).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a recall-and-application prompt: recognize the cue, act safely within scope, and report exact findings.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src/introNursingBuildout.js — Chapter 4 extendedWeekChapters and readingFocusExplanations (local course source; accessed 2026-07-30).</a:t>
            </a:r>
          </a:p>
          <a:p xmlns:a="http://schemas.openxmlformats.org/drawingml/2006/main">
            <a:r>
              <a:t>- Cooper, K., &amp; Gosnell, K. (2023). Foundations of Nursing (9th ed.), Chapter 4, pp. 60–80 (course-assigned textbook).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c50246b6124a4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5ae60c646b6446f" /><Relationship Type="http://schemas.openxmlformats.org/officeDocument/2006/relationships/slideLayout" Target="/ppt/slideLayouts/slideLayout1.xml" Id="R0d4a6354dab943e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d4a6354dab943e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d86ffbe1854eb0" /><Relationship Type="http://schemas.openxmlformats.org/officeDocument/2006/relationships/notesSlide" Target="/ppt/notesSlides/notesSlide1.xml" Id="Ra0d4ef36aa5c43e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b98f504f6d4e7c" /><Relationship Type="http://schemas.openxmlformats.org/officeDocument/2006/relationships/notesSlide" Target="/ppt/notesSlides/notesSlide2.xml" Id="R941aa76ae260407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007cf5f736428c" /><Relationship Type="http://schemas.openxmlformats.org/officeDocument/2006/relationships/notesSlide" Target="/ppt/notesSlides/notesSlide3.xml" Id="Radcd3a6b09d64ca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60903d6c034e11" /><Relationship Type="http://schemas.openxmlformats.org/officeDocument/2006/relationships/notesSlide" Target="/ppt/notesSlides/notesSlide4.xml" Id="R8e84aaca4983401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course-eyebrow">
            <a:extLst xmlns:a="http://schemas.openxmlformats.org/drawingml/2006/main">
              <a:ext uri="{FF2B5EF4-FFF2-40B4-BE49-F238E27FC236}">
                <a16:creationId xmlns:a16="http://schemas.microsoft.com/office/drawing/2014/main" id="{92532181-5ACB-4BF8-9FE6-A751B0A5C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6858000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B6976"/>
                </a:solidFill>
                <a:latin typeface="Helvetica Neue"/>
                <a:ea typeface="Helvetica Neue"/>
                <a:cs typeface="Helvetica Neue"/>
              </a:defRPr>
            </a:pPr>
            <a:r>
              <a:t>BROWARD–MIAMI HEALTH INSTITUTE</a:t>
            </a:r>
          </a:p>
        </p:txBody>
      </p:sp>
      <p:sp>
        <p:nvSpPr>
          <p:cNvPr id="2" name="chapter-title">
            <a:extLst xmlns:a="http://schemas.openxmlformats.org/drawingml/2006/main">
              <a:ext uri="{FF2B5EF4-FFF2-40B4-BE49-F238E27FC236}">
                <a16:creationId xmlns:a16="http://schemas.microsoft.com/office/drawing/2014/main" id="{569BD073-9AEA-42FD-869D-DC035EFC5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1000125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 b="1">
                <a:solidFill>
                  <a:srgbClr val="18232F"/>
                </a:solidFill>
                <a:latin typeface="Helvetica Neue"/>
                <a:ea typeface="Helvetica Neue"/>
                <a:cs typeface="Helvetica Neue"/>
              </a:defRPr>
            </a:pPr>
            <a:r>
              <a:t>Communication</a:t>
            </a:r>
          </a:p>
        </p:txBody>
      </p:sp>
      <p:sp>
        <p:nvSpPr>
          <p:cNvPr id="3" name="chapter-subtitle">
            <a:extLst xmlns:a="http://schemas.openxmlformats.org/drawingml/2006/main">
              <a:ext uri="{FF2B5EF4-FFF2-40B4-BE49-F238E27FC236}">
                <a16:creationId xmlns:a16="http://schemas.microsoft.com/office/drawing/2014/main" id="{1816E197-79DE-4E2C-AA0E-7C2BC6DAE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95250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596B7B"/>
                </a:solidFill>
                <a:latin typeface="Helvetica Neue"/>
                <a:ea typeface="Helvetica Neue"/>
                <a:cs typeface="Helvetica Neue"/>
              </a:defRPr>
            </a:pPr>
            <a:r>
              <a:t>PN 102  •  Chapter 4  •  Foundations of Nursing, 9th ed.  •  pp. 60–80</a:t>
            </a:r>
          </a:p>
        </p:txBody>
      </p:sp>
    </p:spTree>
    <p:extLst>
      <p:ext uri="{BB962C8B-B14F-4D97-AF65-F5344CB8AC3E}">
        <p14:creationId xmlns:p14="http://schemas.microsoft.com/office/powerpoint/2010/main" val="19976443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concepts-title">
            <a:extLst xmlns:a="http://schemas.openxmlformats.org/drawingml/2006/main">
              <a:ext uri="{FF2B5EF4-FFF2-40B4-BE49-F238E27FC236}">
                <a16:creationId xmlns:a16="http://schemas.microsoft.com/office/drawing/2014/main" id="{78C484FE-E239-44EA-BCDE-929361A2C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232F"/>
                </a:solidFill>
                <a:latin typeface="Helvetica Neue"/>
                <a:ea typeface="Helvetica Neue"/>
                <a:cs typeface="Helvetica Neue"/>
              </a:defRPr>
            </a:pPr>
            <a:r>
              <a:t>Chapter 4: four ideas to connect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435364C-463D-4029-B57D-F20664F3C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96B7B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3" name="concept-1-title">
            <a:extLst xmlns:a="http://schemas.openxmlformats.org/drawingml/2006/main">
              <a:ext uri="{FF2B5EF4-FFF2-40B4-BE49-F238E27FC236}">
                <a16:creationId xmlns:a16="http://schemas.microsoft.com/office/drawing/2014/main" id="{FB2FBDC5-5DFC-4AAC-B67D-9EB074335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B6976"/>
                </a:solidFill>
                <a:latin typeface="Helvetica Neue"/>
                <a:ea typeface="Helvetica Neue"/>
                <a:cs typeface="Helvetica Neue"/>
              </a:defRPr>
            </a:pPr>
            <a:r>
              <a:t>Communication process</a:t>
            </a:r>
          </a:p>
        </p:txBody>
      </p:sp>
      <p:sp>
        <p:nvSpPr>
          <p:cNvPr id="4" name="concept-1-explanation">
            <a:extLst xmlns:a="http://schemas.openxmlformats.org/drawingml/2006/main">
              <a:ext uri="{FF2B5EF4-FFF2-40B4-BE49-F238E27FC236}">
                <a16:creationId xmlns:a16="http://schemas.microsoft.com/office/drawing/2014/main" id="{07C3AF49-B070-4236-AEC1-085EE928C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8232F"/>
                </a:solidFill>
                <a:latin typeface="Helvetica Neue"/>
                <a:ea typeface="Helvetica Neue"/>
                <a:cs typeface="Helvetica Neue"/>
              </a:defRPr>
            </a:pPr>
            <a:r>
              <a:t>Account for words, tone, body language, environment, culture, and feedback.</a:t>
            </a:r>
          </a:p>
        </p:txBody>
      </p:sp>
      <p:sp>
        <p:nvSpPr>
          <p:cNvPr id="5" name="concept-2-title">
            <a:extLst xmlns:a="http://schemas.openxmlformats.org/drawingml/2006/main">
              <a:ext uri="{FF2B5EF4-FFF2-40B4-BE49-F238E27FC236}">
                <a16:creationId xmlns:a16="http://schemas.microsoft.com/office/drawing/2014/main" id="{97AD69C0-B692-4AEB-BD82-46D0CED69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88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232F"/>
                </a:solidFill>
                <a:latin typeface="Helvetica Neue"/>
                <a:ea typeface="Helvetica Neue"/>
                <a:cs typeface="Helvetica Neue"/>
              </a:defRPr>
            </a:pPr>
            <a:r>
              <a:t>Therapeutic communication</a:t>
            </a:r>
          </a:p>
        </p:txBody>
      </p:sp>
      <p:sp>
        <p:nvSpPr>
          <p:cNvPr id="6" name="concept-2-explanation">
            <a:extLst xmlns:a="http://schemas.openxmlformats.org/drawingml/2006/main">
              <a:ext uri="{FF2B5EF4-FFF2-40B4-BE49-F238E27FC236}">
                <a16:creationId xmlns:a16="http://schemas.microsoft.com/office/drawing/2014/main" id="{462CB051-5D70-4A43-9EB9-77FC78D02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88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8232F"/>
                </a:solidFill>
                <a:latin typeface="Helvetica Neue"/>
                <a:ea typeface="Helvetica Neue"/>
                <a:cs typeface="Helvetica Neue"/>
              </a:defRPr>
            </a:pPr>
            <a:r>
              <a:t>Use active listening, open questions, clarification, reflection, empathy, and appropriate silence.</a:t>
            </a:r>
          </a:p>
        </p:txBody>
      </p:sp>
      <p:sp>
        <p:nvSpPr>
          <p:cNvPr id="7" name="concept-3-title">
            <a:extLst xmlns:a="http://schemas.openxmlformats.org/drawingml/2006/main">
              <a:ext uri="{FF2B5EF4-FFF2-40B4-BE49-F238E27FC236}">
                <a16:creationId xmlns:a16="http://schemas.microsoft.com/office/drawing/2014/main" id="{54A38EA8-F313-4550-B1FF-777AD34E7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232F"/>
                </a:solidFill>
                <a:latin typeface="Helvetica Neue"/>
                <a:ea typeface="Helvetica Neue"/>
                <a:cs typeface="Helvetica Neue"/>
              </a:defRPr>
            </a:pPr>
            <a:r>
              <a:t>Barriers</a:t>
            </a:r>
          </a:p>
        </p:txBody>
      </p:sp>
      <p:sp>
        <p:nvSpPr>
          <p:cNvPr id="8" name="concept-3-explanation">
            <a:extLst xmlns:a="http://schemas.openxmlformats.org/drawingml/2006/main">
              <a:ext uri="{FF2B5EF4-FFF2-40B4-BE49-F238E27FC236}">
                <a16:creationId xmlns:a16="http://schemas.microsoft.com/office/drawing/2014/main" id="{652EB51B-E9A8-4758-9A78-5EF9B2542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8232F"/>
                </a:solidFill>
                <a:latin typeface="Helvetica Neue"/>
                <a:ea typeface="Helvetica Neue"/>
                <a:cs typeface="Helvetica Neue"/>
              </a:defRPr>
            </a:pPr>
            <a:r>
              <a:t>Adapt when pain, anxiety, language, sensory changes, assumptions, or medical jargon interfere.</a:t>
            </a:r>
          </a:p>
        </p:txBody>
      </p:sp>
      <p:sp>
        <p:nvSpPr>
          <p:cNvPr id="9" name="concept-4-title">
            <a:extLst xmlns:a="http://schemas.openxmlformats.org/drawingml/2006/main">
              <a:ext uri="{FF2B5EF4-FFF2-40B4-BE49-F238E27FC236}">
                <a16:creationId xmlns:a16="http://schemas.microsoft.com/office/drawing/2014/main" id="{AC52B7A0-4638-4D53-97EC-65A4B586F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722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232F"/>
                </a:solidFill>
                <a:latin typeface="Helvetica Neue"/>
                <a:ea typeface="Helvetica Neue"/>
                <a:cs typeface="Helvetica Neue"/>
              </a:defRPr>
            </a:pPr>
            <a:r>
              <a:t>Team and patient focus</a:t>
            </a:r>
          </a:p>
        </p:txBody>
      </p:sp>
      <p:sp>
        <p:nvSpPr>
          <p:cNvPr id="10" name="concept-4-explanation">
            <a:extLst xmlns:a="http://schemas.openxmlformats.org/drawingml/2006/main">
              <a:ext uri="{FF2B5EF4-FFF2-40B4-BE49-F238E27FC236}">
                <a16:creationId xmlns:a16="http://schemas.microsoft.com/office/drawing/2014/main" id="{794AB503-2E3D-4574-B58F-F502BB7AF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722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8232F"/>
                </a:solidFill>
                <a:latin typeface="Helvetica Neue"/>
                <a:ea typeface="Helvetica Neue"/>
                <a:cs typeface="Helvetica Neue"/>
              </a:defRPr>
            </a:pPr>
            <a:r>
              <a:t>Share clear, relevant information while including the patient and confirming understanding.</a:t>
            </a:r>
          </a:p>
        </p:txBody>
      </p:sp>
    </p:spTree>
    <p:extLst>
      <p:ext uri="{BB962C8B-B14F-4D97-AF65-F5344CB8AC3E}">
        <p14:creationId xmlns:p14="http://schemas.microsoft.com/office/powerpoint/2010/main" val="19073493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practice-title">
            <a:extLst xmlns:a="http://schemas.openxmlformats.org/drawingml/2006/main">
              <a:ext uri="{FF2B5EF4-FFF2-40B4-BE49-F238E27FC236}">
                <a16:creationId xmlns:a16="http://schemas.microsoft.com/office/drawing/2014/main" id="{429B80E2-B818-424D-BA7B-B33F71394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32F"/>
                </a:solidFill>
                <a:latin typeface="Helvetica Neue"/>
                <a:ea typeface="Helvetica Neue"/>
                <a:cs typeface="Helvetica Neue"/>
              </a:defRPr>
            </a:pPr>
            <a:r>
              <a:t>Put the chapter into safe practical nursing care</a:t>
            </a:r>
          </a:p>
        </p:txBody>
      </p:sp>
      <p:sp>
        <p:nvSpPr>
          <p:cNvPr id="2" name="practice-lead">
            <a:extLst xmlns:a="http://schemas.openxmlformats.org/drawingml/2006/main">
              <a:ext uri="{FF2B5EF4-FFF2-40B4-BE49-F238E27FC236}">
                <a16:creationId xmlns:a16="http://schemas.microsoft.com/office/drawing/2014/main" id="{4E9B1195-D3DB-4416-8C40-E3D1EBFB2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22406"/>
            <a:ext cx="5537168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6976"/>
                </a:solidFill>
                <a:latin typeface="Helvetica Neue"/>
                <a:ea typeface="Helvetica Neue"/>
                <a:cs typeface="Helvetica Neue"/>
              </a:defRPr>
            </a:pPr>
            <a:r>
              <a:t>Good communication is measured by understanding—not by speaking.</a:t>
            </a:r>
          </a:p>
        </p:txBody>
      </p:sp>
      <p:sp>
        <p:nvSpPr>
          <p:cNvPr id="3" name="practice-body">
            <a:extLst xmlns:a="http://schemas.openxmlformats.org/drawingml/2006/main">
              <a:ext uri="{FF2B5EF4-FFF2-40B4-BE49-F238E27FC236}">
                <a16:creationId xmlns:a16="http://schemas.microsoft.com/office/drawing/2014/main" id="{A6543340-C7ED-4922-9754-2755D9D51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90279"/>
            <a:ext cx="5537168" cy="28846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18232F"/>
                </a:solidFill>
                <a:latin typeface="Helvetica Neue"/>
                <a:ea typeface="Helvetica Neue"/>
                <a:cs typeface="Helvetica Neue"/>
              </a:defRPr>
            </a:pPr>
            <a:r>
              <a:t>Listen before responding, use plain language, and ask the patient to explain key information back. Use a qualified interpreter for important communication and ISBAR for focused team reporting.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AF7B90F-045D-4A0A-9FB5-551459D03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96B7B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5" name="check-1">
            <a:extLst xmlns:a="http://schemas.openxmlformats.org/drawingml/2006/main">
              <a:ext uri="{FF2B5EF4-FFF2-40B4-BE49-F238E27FC236}">
                <a16:creationId xmlns:a16="http://schemas.microsoft.com/office/drawing/2014/main" id="{A9AD4236-6671-4006-B78E-92809FC61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2999804"/>
            <a:ext cx="266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B6976"/>
                </a:solidFill>
                <a:latin typeface="Helvetica Neue"/>
                <a:ea typeface="Helvetica Neue"/>
                <a:cs typeface="Helvetica Neue"/>
              </a:defRPr>
            </a:pPr>
            <a:r>
              <a:t>✓</a:t>
            </a:r>
          </a:p>
        </p:txBody>
      </p:sp>
      <p:sp>
        <p:nvSpPr>
          <p:cNvPr id="6" name="check-label-1">
            <a:extLst xmlns:a="http://schemas.openxmlformats.org/drawingml/2006/main">
              <a:ext uri="{FF2B5EF4-FFF2-40B4-BE49-F238E27FC236}">
                <a16:creationId xmlns:a16="http://schemas.microsoft.com/office/drawing/2014/main" id="{13A64A28-9D4B-4E11-9DAD-00800181F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2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8232F"/>
                </a:solidFill>
                <a:latin typeface="Helvetica Neue"/>
                <a:ea typeface="Helvetica Neue"/>
                <a:cs typeface="Helvetica Neue"/>
              </a:defRPr>
            </a:pPr>
            <a:r>
              <a:t>Introduce yourself and listen</a:t>
            </a:r>
          </a:p>
        </p:txBody>
      </p:sp>
      <p:sp>
        <p:nvSpPr>
          <p:cNvPr id="7" name="check-2">
            <a:extLst xmlns:a="http://schemas.openxmlformats.org/drawingml/2006/main">
              <a:ext uri="{FF2B5EF4-FFF2-40B4-BE49-F238E27FC236}">
                <a16:creationId xmlns:a16="http://schemas.microsoft.com/office/drawing/2014/main" id="{9A1FEE86-FBFC-4F25-92C8-4A0CA0320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609404"/>
            <a:ext cx="266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B6976"/>
                </a:solidFill>
                <a:latin typeface="Helvetica Neue"/>
                <a:ea typeface="Helvetica Neue"/>
                <a:cs typeface="Helvetica Neue"/>
              </a:defRPr>
            </a:pPr>
            <a:r>
              <a:t>✓</a:t>
            </a:r>
          </a:p>
        </p:txBody>
      </p:sp>
      <p:sp>
        <p:nvSpPr>
          <p:cNvPr id="8" name="check-label-2">
            <a:extLst xmlns:a="http://schemas.openxmlformats.org/drawingml/2006/main">
              <a:ext uri="{FF2B5EF4-FFF2-40B4-BE49-F238E27FC236}">
                <a16:creationId xmlns:a16="http://schemas.microsoft.com/office/drawing/2014/main" id="{63D846DD-8BC2-4DA6-9C16-990DEB73F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8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8232F"/>
                </a:solidFill>
                <a:latin typeface="Helvetica Neue"/>
                <a:ea typeface="Helvetica Neue"/>
                <a:cs typeface="Helvetica Neue"/>
              </a:defRPr>
            </a:pPr>
            <a:r>
              <a:t>Use plain language</a:t>
            </a:r>
          </a:p>
        </p:txBody>
      </p:sp>
      <p:sp>
        <p:nvSpPr>
          <p:cNvPr id="9" name="check-3">
            <a:extLst xmlns:a="http://schemas.openxmlformats.org/drawingml/2006/main">
              <a:ext uri="{FF2B5EF4-FFF2-40B4-BE49-F238E27FC236}">
                <a16:creationId xmlns:a16="http://schemas.microsoft.com/office/drawing/2014/main" id="{51B87878-C393-4248-B969-4E287569A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224338"/>
            <a:ext cx="266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B6976"/>
                </a:solidFill>
                <a:latin typeface="Helvetica Neue"/>
                <a:ea typeface="Helvetica Neue"/>
                <a:cs typeface="Helvetica Neue"/>
              </a:defRPr>
            </a:pPr>
            <a:r>
              <a:t>✓</a:t>
            </a:r>
          </a:p>
        </p:txBody>
      </p:sp>
      <p:sp>
        <p:nvSpPr>
          <p:cNvPr id="10" name="check-label-3">
            <a:extLst xmlns:a="http://schemas.openxmlformats.org/drawingml/2006/main">
              <a:ext uri="{FF2B5EF4-FFF2-40B4-BE49-F238E27FC236}">
                <a16:creationId xmlns:a16="http://schemas.microsoft.com/office/drawing/2014/main" id="{083C18DE-B611-41B8-8FC8-5A521BE39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813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8232F"/>
                </a:solidFill>
                <a:latin typeface="Helvetica Neue"/>
                <a:ea typeface="Helvetica Neue"/>
                <a:cs typeface="Helvetica Neue"/>
              </a:defRPr>
            </a:pPr>
            <a:r>
              <a:t>Ask open questions</a:t>
            </a:r>
          </a:p>
        </p:txBody>
      </p:sp>
      <p:sp>
        <p:nvSpPr>
          <p:cNvPr id="11" name="check-4">
            <a:extLst xmlns:a="http://schemas.openxmlformats.org/drawingml/2006/main">
              <a:ext uri="{FF2B5EF4-FFF2-40B4-BE49-F238E27FC236}">
                <a16:creationId xmlns:a16="http://schemas.microsoft.com/office/drawing/2014/main" id="{40D93408-D6D8-485E-97E8-7CABB81A4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833842"/>
            <a:ext cx="266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B6976"/>
                </a:solidFill>
                <a:latin typeface="Helvetica Neue"/>
                <a:ea typeface="Helvetica Neue"/>
                <a:cs typeface="Helvetica Neue"/>
              </a:defRPr>
            </a:pPr>
            <a:r>
              <a:t>✓</a:t>
            </a:r>
          </a:p>
        </p:txBody>
      </p:sp>
      <p:sp>
        <p:nvSpPr>
          <p:cNvPr id="12" name="check-label-4">
            <a:extLst xmlns:a="http://schemas.openxmlformats.org/drawingml/2006/main">
              <a:ext uri="{FF2B5EF4-FFF2-40B4-BE49-F238E27FC236}">
                <a16:creationId xmlns:a16="http://schemas.microsoft.com/office/drawing/2014/main" id="{5E6D911F-A848-4AF9-A9D4-1E8F5BD1E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17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8232F"/>
                </a:solidFill>
                <a:latin typeface="Helvetica Neue"/>
                <a:ea typeface="Helvetica Neue"/>
                <a:cs typeface="Helvetica Neue"/>
              </a:defRPr>
            </a:pPr>
            <a:r>
              <a:t>Confirm with teach-back</a:t>
            </a:r>
          </a:p>
        </p:txBody>
      </p:sp>
      <p:sp>
        <p:nvSpPr>
          <p:cNvPr id="13" name="check-5">
            <a:extLst xmlns:a="http://schemas.openxmlformats.org/drawingml/2006/main">
              <a:ext uri="{FF2B5EF4-FFF2-40B4-BE49-F238E27FC236}">
                <a16:creationId xmlns:a16="http://schemas.microsoft.com/office/drawing/2014/main" id="{4C302F84-DE6B-41B5-85E6-38C3E02FA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5456206"/>
            <a:ext cx="266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B6976"/>
                </a:solidFill>
                <a:latin typeface="Helvetica Neue"/>
                <a:ea typeface="Helvetica Neue"/>
                <a:cs typeface="Helvetica Neue"/>
              </a:defRPr>
            </a:pPr>
            <a:r>
              <a:t>✓</a:t>
            </a:r>
          </a:p>
        </p:txBody>
      </p:sp>
      <p:sp>
        <p:nvSpPr>
          <p:cNvPr id="14" name="check-label-5">
            <a:extLst xmlns:a="http://schemas.openxmlformats.org/drawingml/2006/main">
              <a:ext uri="{FF2B5EF4-FFF2-40B4-BE49-F238E27FC236}">
                <a16:creationId xmlns:a16="http://schemas.microsoft.com/office/drawing/2014/main" id="{26CFCAF6-9050-464F-856C-1636542D7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81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8232F"/>
                </a:solidFill>
                <a:latin typeface="Helvetica Neue"/>
                <a:ea typeface="Helvetica Neue"/>
                <a:cs typeface="Helvetica Neue"/>
              </a:defRPr>
            </a:pPr>
            <a:r>
              <a:t>Report with ISBAR</a:t>
            </a:r>
          </a:p>
        </p:txBody>
      </p:sp>
    </p:spTree>
    <p:extLst>
      <p:ext uri="{BB962C8B-B14F-4D97-AF65-F5344CB8AC3E}">
        <p14:creationId xmlns:p14="http://schemas.microsoft.com/office/powerpoint/2010/main" val="20357762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losing-eyebrow">
            <a:extLst xmlns:a="http://schemas.openxmlformats.org/drawingml/2006/main">
              <a:ext uri="{FF2B5EF4-FFF2-40B4-BE49-F238E27FC236}">
                <a16:creationId xmlns:a16="http://schemas.microsoft.com/office/drawing/2014/main" id="{15FA8CB1-EC9A-4774-B57E-3B7B671AA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7239000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B6976"/>
                </a:solidFill>
                <a:latin typeface="Helvetica Neue"/>
                <a:ea typeface="Helvetica Neue"/>
                <a:cs typeface="Helvetica Neue"/>
              </a:defRPr>
            </a:pPr>
            <a:r>
              <a:t>RECOGNIZE  →  ACT  →  REPORT</a:t>
            </a:r>
          </a:p>
        </p:txBody>
      </p:sp>
      <p:sp>
        <p:nvSpPr>
          <p:cNvPr id="2" name="closing-message">
            <a:extLst xmlns:a="http://schemas.openxmlformats.org/drawingml/2006/main">
              <a:ext uri="{FF2B5EF4-FFF2-40B4-BE49-F238E27FC236}">
                <a16:creationId xmlns:a16="http://schemas.microsoft.com/office/drawing/2014/main" id="{675FEE57-AB0A-4669-B673-F8A14E6B3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1000125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8232F"/>
                </a:solidFill>
                <a:latin typeface="Helvetica Neue"/>
                <a:ea typeface="Helvetica Neue"/>
                <a:cs typeface="Helvetica Neue"/>
              </a:defRPr>
            </a:pPr>
            <a:r>
              <a:t>Listen for meaning.
Confirm understanding.
Share what matters.</a:t>
            </a:r>
          </a:p>
        </p:txBody>
      </p:sp>
      <p:sp>
        <p:nvSpPr>
          <p:cNvPr id="3" name="closing-prompt">
            <a:extLst xmlns:a="http://schemas.openxmlformats.org/drawingml/2006/main">
              <a:ext uri="{FF2B5EF4-FFF2-40B4-BE49-F238E27FC236}">
                <a16:creationId xmlns:a16="http://schemas.microsoft.com/office/drawing/2014/main" id="{DA8FCC55-8A94-4B82-A73D-0F18F3CB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8572500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596B7B"/>
                </a:solidFill>
                <a:latin typeface="Helvetica Neue"/>
                <a:ea typeface="Helvetica Neue"/>
                <a:cs typeface="Helvetica Neue"/>
              </a:defRPr>
            </a:pPr>
            <a:r>
              <a:t>Before moving on, explain the cue, your immediate action within scope, and the facts you would report.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4012F89-0398-4C4B-8E49-13A7F3578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96B7B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9756824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2026-07-30T05:24:53.2300000Z</dcterms:created>
  <dcterms:modified xsi:type="dcterms:W3CDTF">2026-07-30T05:24:53.2300000Z</dcterms:modified>
</coreProperties>
</file>