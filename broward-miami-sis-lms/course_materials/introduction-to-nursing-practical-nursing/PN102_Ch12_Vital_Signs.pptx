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2f59dc98ae4182" /><Relationship Type="http://schemas.openxmlformats.org/officeDocument/2006/relationships/extended-properties" Target="/docProps/app.xml" Id="Re9926a3589264ae7" /><Relationship Type="http://schemas.openxmlformats.org/officeDocument/2006/relationships/officeDocument" Target="/ppt/presentation.xml" Id="R14995fc1cb7942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d4da4b430b43f8"/>
  </p:sldMasterIdLst>
  <p:notesMasterIdLst>
    <p:notesMasterId xmlns:r="http://schemas.openxmlformats.org/officeDocument/2006/relationships" r:id="Rc078b75232024d84"/>
  </p:notesMasterIdLst>
  <p:sldIdLst>
    <p:sldId xmlns:r="http://schemas.openxmlformats.org/officeDocument/2006/relationships" id="256" r:id="Rbfc054f28a90402e"/>
    <p:sldId xmlns:r="http://schemas.openxmlformats.org/officeDocument/2006/relationships" id="257" r:id="Re07e82f80be94d13"/>
    <p:sldId xmlns:r="http://schemas.openxmlformats.org/officeDocument/2006/relationships" id="258" r:id="Rd2ee0eba30984cbc"/>
    <p:sldId xmlns:r="http://schemas.openxmlformats.org/officeDocument/2006/relationships" id="259" r:id="R6062dd8f8f9145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37c48e665e49a5" /><Relationship Type="http://schemas.openxmlformats.org/officeDocument/2006/relationships/slideMaster" Target="/ppt/slideMasters/slideMaster1.xml" Id="R72d4da4b430b43f8" /><Relationship Type="http://schemas.openxmlformats.org/officeDocument/2006/relationships/notesMaster" Target="/ppt/notesMasters/notesMaster1.xml" Id="Rc078b75232024d84" /><Relationship Type="http://schemas.openxmlformats.org/officeDocument/2006/relationships/presProps" Target="/ppt/presProps.xml" Id="R452608dc813a4d45" /><Relationship Type="http://schemas.openxmlformats.org/officeDocument/2006/relationships/tableStyles" Target="/ppt/tableStyles.xml" Id="R07c1c389507a47a4" /><Relationship Type="http://schemas.openxmlformats.org/officeDocument/2006/relationships/slide" Target="/ppt/slides/slide1.xml" Id="Rbfc054f28a90402e" /><Relationship Type="http://schemas.openxmlformats.org/officeDocument/2006/relationships/slide" Target="/ppt/slides/slide2.xml" Id="Re07e82f80be94d13" /><Relationship Type="http://schemas.openxmlformats.org/officeDocument/2006/relationships/slide" Target="/ppt/slides/slide3.xml" Id="Rd2ee0eba30984cbc" /><Relationship Type="http://schemas.openxmlformats.org/officeDocument/2006/relationships/slide" Target="/ppt/slides/slide4.xml" Id="R6062dd8f8f9145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2cc40776cd42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d5c7b27c0d42b4" /><Relationship Type="http://schemas.openxmlformats.org/officeDocument/2006/relationships/notesMaster" Target="/ppt/notesMasters/notesMaster1.xml" Id="Re7447996927d45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4e4035e859482a" /><Relationship Type="http://schemas.openxmlformats.org/officeDocument/2006/relationships/notesMaster" Target="/ppt/notesMasters/notesMaster1.xml" Id="Rcb393e19041b42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57dd2786a64b4e" /><Relationship Type="http://schemas.openxmlformats.org/officeDocument/2006/relationships/notesMaster" Target="/ppt/notesMasters/notesMaster1.xml" Id="R40f53dfedb9346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b80f1567f84625" /><Relationship Type="http://schemas.openxmlformats.org/officeDocument/2006/relationships/notesMaster" Target="/ppt/notesMasters/notesMaster1.xml" Id="R20977e51641748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chapter and connect it to the assigned textbook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12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12, pp. 280–314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the four reading-focus concepts fit together before applying them to care.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12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12, pp. 280–314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Apply the chapter concepts to the practical nurse’s observation, action, documentation, and reporting responsibilities.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12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12, pp. 280–314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recall-and-application prompt: recognize the cue, act safely within scope, and report exact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12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12, pp. 280–314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c4c99e780547b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93db56f7e04fe9" /><Relationship Type="http://schemas.openxmlformats.org/officeDocument/2006/relationships/slideLayout" Target="/ppt/slideLayouts/slideLayout1.xml" Id="Re946b1dbea5b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46b1dbea5b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d5bc76ea942e2" /><Relationship Type="http://schemas.openxmlformats.org/officeDocument/2006/relationships/notesSlide" Target="/ppt/notesSlides/notesSlide1.xml" Id="Rfb1d1af7105044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ed51dcebc4e99" /><Relationship Type="http://schemas.openxmlformats.org/officeDocument/2006/relationships/notesSlide" Target="/ppt/notesSlides/notesSlide2.xml" Id="Rb71da0ebadb04d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02f1eef7544a6" /><Relationship Type="http://schemas.openxmlformats.org/officeDocument/2006/relationships/notesSlide" Target="/ppt/notesSlides/notesSlide3.xml" Id="R12ef2d4ef24744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5159453394168" /><Relationship Type="http://schemas.openxmlformats.org/officeDocument/2006/relationships/notesSlide" Target="/ppt/notesSlides/notesSlide4.xml" Id="Re18f998882034f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urse-eyebrow">
            <a:extLst xmlns:a="http://schemas.openxmlformats.org/drawingml/2006/main">
              <a:ext uri="{FF2B5EF4-FFF2-40B4-BE49-F238E27FC236}">
                <a16:creationId xmlns:a16="http://schemas.microsoft.com/office/drawing/2014/main" id="{9936A87D-87B5-4A0E-9707-BCD4B0D9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858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BROWARD–MIAMI HEALTH INSTITUTE</a:t>
            </a:r>
          </a:p>
        </p:txBody>
      </p:sp>
      <p:sp>
        <p:nvSpPr>
          <p:cNvPr id="2" name="chapter-title">
            <a:extLst xmlns:a="http://schemas.openxmlformats.org/drawingml/2006/main">
              <a:ext uri="{FF2B5EF4-FFF2-40B4-BE49-F238E27FC236}">
                <a16:creationId xmlns:a16="http://schemas.microsoft.com/office/drawing/2014/main" id="{08EFA4E8-E5FF-4F36-BDA1-012E9DE9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Vital Signs</a:t>
            </a:r>
          </a:p>
        </p:txBody>
      </p:sp>
      <p:sp>
        <p:nvSpPr>
          <p:cNvPr id="3" name="chapter-subtitle">
            <a:extLst xmlns:a="http://schemas.openxmlformats.org/drawingml/2006/main">
              <a:ext uri="{FF2B5EF4-FFF2-40B4-BE49-F238E27FC236}">
                <a16:creationId xmlns:a16="http://schemas.microsoft.com/office/drawing/2014/main" id="{43E1B3DC-C7F0-45E7-9DDC-33FBE2D0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9525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PN 102  •  Chapter 12  •  Foundations of Nursing, 9th ed.  •  pp. 280–314</a:t>
            </a:r>
          </a:p>
        </p:txBody>
      </p:sp>
    </p:spTree>
    <p:extLst>
      <p:ext uri="{BB962C8B-B14F-4D97-AF65-F5344CB8AC3E}">
        <p14:creationId xmlns:p14="http://schemas.microsoft.com/office/powerpoint/2010/main" val="1500711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E8B9C307-8EF2-45AE-9F4C-B2FF7AE3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Chapter 12: four ideas to connect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8601D81-4718-4985-BB84-45AAB56D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concept-1-title">
            <a:extLst xmlns:a="http://schemas.openxmlformats.org/drawingml/2006/main">
              <a:ext uri="{FF2B5EF4-FFF2-40B4-BE49-F238E27FC236}">
                <a16:creationId xmlns:a16="http://schemas.microsoft.com/office/drawing/2014/main" id="{D9D0EB77-995F-4C5E-A643-658E6FBF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Core vital signs</a:t>
            </a:r>
          </a:p>
        </p:txBody>
      </p:sp>
      <p:sp>
        <p:nvSpPr>
          <p:cNvPr id="4" name="concept-1-explanation">
            <a:extLst xmlns:a="http://schemas.openxmlformats.org/drawingml/2006/main">
              <a:ext uri="{FF2B5EF4-FFF2-40B4-BE49-F238E27FC236}">
                <a16:creationId xmlns:a16="http://schemas.microsoft.com/office/drawing/2014/main" id="{077EE70C-C9DB-44F8-B7BD-D53C95B3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Measure temperature, pulse, respirations, and blood pressure accurately and compare with baseline.</a:t>
            </a:r>
          </a:p>
        </p:txBody>
      </p:sp>
      <p:sp>
        <p:nvSpPr>
          <p:cNvPr id="5" name="concept-2-title">
            <a:extLst xmlns:a="http://schemas.openxmlformats.org/drawingml/2006/main">
              <a:ext uri="{FF2B5EF4-FFF2-40B4-BE49-F238E27FC236}">
                <a16:creationId xmlns:a16="http://schemas.microsoft.com/office/drawing/2014/main" id="{FB10A370-725F-41AE-81DB-45D97705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Pulse oximetry</a:t>
            </a:r>
          </a:p>
        </p:txBody>
      </p:sp>
      <p:sp>
        <p:nvSpPr>
          <p:cNvPr id="6" name="concept-2-explanation">
            <a:extLst xmlns:a="http://schemas.openxmlformats.org/drawingml/2006/main">
              <a:ext uri="{FF2B5EF4-FFF2-40B4-BE49-F238E27FC236}">
                <a16:creationId xmlns:a16="http://schemas.microsoft.com/office/drawing/2014/main" id="{1F929F1B-3CAE-4D3D-BD84-76CBF14F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Obtain a reliable reading, consider accuracy limits, and respond to low or worsening results.</a:t>
            </a:r>
          </a:p>
        </p:txBody>
      </p:sp>
      <p:sp>
        <p:nvSpPr>
          <p:cNvPr id="7" name="concept-3-title">
            <a:extLst xmlns:a="http://schemas.openxmlformats.org/drawingml/2006/main">
              <a:ext uri="{FF2B5EF4-FFF2-40B4-BE49-F238E27FC236}">
                <a16:creationId xmlns:a16="http://schemas.microsoft.com/office/drawing/2014/main" id="{DE73572B-BE63-4FA2-9863-0328104B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Height and weight</a:t>
            </a:r>
          </a:p>
        </p:txBody>
      </p:sp>
      <p:sp>
        <p:nvSpPr>
          <p:cNvPr id="8" name="concept-3-explanation">
            <a:extLst xmlns:a="http://schemas.openxmlformats.org/drawingml/2006/main">
              <a:ext uri="{FF2B5EF4-FFF2-40B4-BE49-F238E27FC236}">
                <a16:creationId xmlns:a16="http://schemas.microsoft.com/office/drawing/2014/main" id="{8FC1FFB6-A245-4635-832E-05A95B4D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safe, consistent methods because measurements affect dosing and care planning.</a:t>
            </a:r>
          </a:p>
        </p:txBody>
      </p:sp>
      <p:sp>
        <p:nvSpPr>
          <p:cNvPr id="9" name="concept-4-title">
            <a:extLst xmlns:a="http://schemas.openxmlformats.org/drawingml/2006/main">
              <a:ext uri="{FF2B5EF4-FFF2-40B4-BE49-F238E27FC236}">
                <a16:creationId xmlns:a16="http://schemas.microsoft.com/office/drawing/2014/main" id="{F6816811-70F8-45EC-AD08-A5372925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Recording and reporting</a:t>
            </a:r>
          </a:p>
        </p:txBody>
      </p:sp>
      <p:sp>
        <p:nvSpPr>
          <p:cNvPr id="10" name="concept-4-explanation">
            <a:extLst xmlns:a="http://schemas.openxmlformats.org/drawingml/2006/main">
              <a:ext uri="{FF2B5EF4-FFF2-40B4-BE49-F238E27FC236}">
                <a16:creationId xmlns:a16="http://schemas.microsoft.com/office/drawing/2014/main" id="{75AEA253-D296-4716-9D56-F6A94D5B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Document promptly and communicate abnormal findings, symptoms, trends, and actions.</a:t>
            </a:r>
          </a:p>
        </p:txBody>
      </p:sp>
    </p:spTree>
    <p:extLst>
      <p:ext uri="{BB962C8B-B14F-4D97-AF65-F5344CB8AC3E}">
        <p14:creationId xmlns:p14="http://schemas.microsoft.com/office/powerpoint/2010/main" val="4460265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5A09DB70-C9F7-4258-A7CA-9CCE2EAE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Put the chapter into safe practical nursing care</a:t>
            </a:r>
          </a:p>
        </p:txBody>
      </p:sp>
      <p:sp>
        <p:nvSpPr>
          <p:cNvPr id="2" name="practice-lead">
            <a:extLst xmlns:a="http://schemas.openxmlformats.org/drawingml/2006/main">
              <a:ext uri="{FF2B5EF4-FFF2-40B4-BE49-F238E27FC236}">
                <a16:creationId xmlns:a16="http://schemas.microsoft.com/office/drawing/2014/main" id="{438DAB8F-3F8D-4B2C-87FF-8940646B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215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A number becomes meaningful when you connect it with the patient and the trend.</a:t>
            </a:r>
          </a:p>
        </p:txBody>
      </p:sp>
      <p:sp>
        <p:nvSpPr>
          <p:cNvPr id="3" name="practice-body">
            <a:extLst xmlns:a="http://schemas.openxmlformats.org/drawingml/2006/main">
              <a:ext uri="{FF2B5EF4-FFF2-40B4-BE49-F238E27FC236}">
                <a16:creationId xmlns:a16="http://schemas.microsoft.com/office/drawing/2014/main" id="{3C896D38-FE6C-403B-927C-41EDB598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the correct equipment and technique, repeat unexpected results when appropriate, and assess symptoms. Report urgent or worsening changes with the actual value, baseline, related findings, and actions taken.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BE15950-DFA7-4DFD-BD80-F7ADC03E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check-1">
            <a:extLst xmlns:a="http://schemas.openxmlformats.org/drawingml/2006/main">
              <a:ext uri="{FF2B5EF4-FFF2-40B4-BE49-F238E27FC236}">
                <a16:creationId xmlns:a16="http://schemas.microsoft.com/office/drawing/2014/main" id="{E58A2A6C-D29A-4E3A-B396-843FDF44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29998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6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0F25E6D0-A684-4347-9D47-7508602C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correct equipment and position</a:t>
            </a:r>
          </a:p>
        </p:txBody>
      </p:sp>
      <p:sp>
        <p:nvSpPr>
          <p:cNvPr id="7" name="check-2">
            <a:extLst xmlns:a="http://schemas.openxmlformats.org/drawingml/2006/main">
              <a:ext uri="{FF2B5EF4-FFF2-40B4-BE49-F238E27FC236}">
                <a16:creationId xmlns:a16="http://schemas.microsoft.com/office/drawing/2014/main" id="{2AF6409A-716A-43FC-AAED-3996B482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094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8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86AC5998-E042-4DC5-8C47-1F065CC1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Compare with baseline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F57155C3-062C-4954-BE9B-039E92FE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24338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0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21971C4D-63F9-4660-B846-615B8B3E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Repeat unexpected readings</a:t>
            </a:r>
          </a:p>
        </p:txBody>
      </p:sp>
      <p:sp>
        <p:nvSpPr>
          <p:cNvPr id="11" name="check-4">
            <a:extLst xmlns:a="http://schemas.openxmlformats.org/drawingml/2006/main">
              <a:ext uri="{FF2B5EF4-FFF2-40B4-BE49-F238E27FC236}">
                <a16:creationId xmlns:a16="http://schemas.microsoft.com/office/drawing/2014/main" id="{B21EA8DD-0DC1-4812-BB0D-A1119BD4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33842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2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A4C1EFE6-742C-4AD0-BFBC-CD58E662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Assess related symptoms</a:t>
            </a:r>
          </a:p>
        </p:txBody>
      </p:sp>
      <p:sp>
        <p:nvSpPr>
          <p:cNvPr id="13" name="check-5">
            <a:extLst xmlns:a="http://schemas.openxmlformats.org/drawingml/2006/main">
              <a:ext uri="{FF2B5EF4-FFF2-40B4-BE49-F238E27FC236}">
                <a16:creationId xmlns:a16="http://schemas.microsoft.com/office/drawing/2014/main" id="{1597BA89-3359-47C8-B843-9BAE70BC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56206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4" name="check-label-5">
            <a:extLst xmlns:a="http://schemas.openxmlformats.org/drawingml/2006/main">
              <a:ext uri="{FF2B5EF4-FFF2-40B4-BE49-F238E27FC236}">
                <a16:creationId xmlns:a16="http://schemas.microsoft.com/office/drawing/2014/main" id="{40489C3E-CA2D-421C-971A-99C70C68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Document and report the trend</a:t>
            </a:r>
          </a:p>
        </p:txBody>
      </p:sp>
    </p:spTree>
    <p:extLst>
      <p:ext uri="{BB962C8B-B14F-4D97-AF65-F5344CB8AC3E}">
        <p14:creationId xmlns:p14="http://schemas.microsoft.com/office/powerpoint/2010/main" val="373051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DBCBE3CB-4FCD-479F-863B-3FBCA377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 →  ACT  →  REPORT</a:t>
            </a:r>
          </a:p>
        </p:txBody>
      </p:sp>
      <p:sp>
        <p:nvSpPr>
          <p:cNvPr id="2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D196FB98-F857-46B0-8155-4A1B64C4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Measure accurately.
Compare the trend.
Report the change.</a:t>
            </a:r>
          </a:p>
        </p:txBody>
      </p:sp>
      <p:sp>
        <p:nvSpPr>
          <p:cNvPr id="3" name="closing-prompt">
            <a:extLst xmlns:a="http://schemas.openxmlformats.org/drawingml/2006/main">
              <a:ext uri="{FF2B5EF4-FFF2-40B4-BE49-F238E27FC236}">
                <a16:creationId xmlns:a16="http://schemas.microsoft.com/office/drawing/2014/main" id="{674F37DF-B291-4C05-9055-810C07FF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8572500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Before moving on, explain the cue, your immediate action within scope, and the facts you would report.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066E3C7-61CF-471A-BF0B-0CC6DB2C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9700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2026-07-30T05:24:55.3970000Z</dcterms:created>
  <dcterms:modified xsi:type="dcterms:W3CDTF">2026-07-30T05:24:55.3970000Z</dcterms:modified>
</coreProperties>
</file>