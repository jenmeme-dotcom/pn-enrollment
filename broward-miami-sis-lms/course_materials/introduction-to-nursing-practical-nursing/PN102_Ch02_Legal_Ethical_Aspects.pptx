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24"/>
  </p:notesMasterIdLst>
  <p:handoutMasterIdLst>
    <p:handoutMasterId r:id="rId25"/>
  </p:handoutMasterIdLst>
  <p:sldIdLst>
    <p:sldId id="454" r:id="rId3"/>
    <p:sldId id="372" r:id="rId4"/>
    <p:sldId id="455" r:id="rId5"/>
    <p:sldId id="456" r:id="rId6"/>
    <p:sldId id="457" r:id="rId7"/>
    <p:sldId id="458" r:id="rId8"/>
    <p:sldId id="459" r:id="rId9"/>
    <p:sldId id="460" r:id="rId10"/>
    <p:sldId id="461" r:id="rId11"/>
    <p:sldId id="462" r:id="rId12"/>
    <p:sldId id="463" r:id="rId13"/>
    <p:sldId id="464" r:id="rId14"/>
    <p:sldId id="465" r:id="rId15"/>
    <p:sldId id="466" r:id="rId16"/>
    <p:sldId id="472" r:id="rId17"/>
    <p:sldId id="473" r:id="rId18"/>
    <p:sldId id="467" r:id="rId19"/>
    <p:sldId id="468" r:id="rId20"/>
    <p:sldId id="469" r:id="rId21"/>
    <p:sldId id="471" r:id="rId22"/>
    <p:sldId id="470" r:id="rId23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9768EA-A657-4241-863C-1A75455974A9}" v="173" dt="2021-12-27T15:21:27.8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6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140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5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commentAuthors" Target="commentAuthor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9C9768EA-A657-4241-863C-1A75455974A9}"/>
    <pc:docChg chg="modSld">
      <pc:chgData name="Daya Spindler" userId="S::daya.spindler@g.austincc.edu::d47267c9-b69c-4d84-8d8d-9eb6067b7650" providerId="AD" clId="Web-{9C9768EA-A657-4241-863C-1A75455974A9}" dt="2021-12-27T15:21:27.871" v="174"/>
      <pc:docMkLst>
        <pc:docMk/>
      </pc:docMkLst>
      <pc:sldChg chg="modSp">
        <pc:chgData name="Daya Spindler" userId="S::daya.spindler@g.austincc.edu::d47267c9-b69c-4d84-8d8d-9eb6067b7650" providerId="AD" clId="Web-{9C9768EA-A657-4241-863C-1A75455974A9}" dt="2021-12-27T15:20:25.869" v="155"/>
        <pc:sldMkLst>
          <pc:docMk/>
          <pc:sldMk cId="0" sldId="372"/>
        </pc:sldMkLst>
        <pc:spChg chg="mod ord">
          <ac:chgData name="Daya Spindler" userId="S::daya.spindler@g.austincc.edu::d47267c9-b69c-4d84-8d8d-9eb6067b7650" providerId="AD" clId="Web-{9C9768EA-A657-4241-863C-1A75455974A9}" dt="2021-12-27T15:20:25.869" v="155"/>
          <ac:spMkLst>
            <pc:docMk/>
            <pc:sldMk cId="0" sldId="372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4:38:20.066" v="2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9C9768EA-A657-4241-863C-1A75455974A9}" dt="2021-12-27T14:38:20.066" v="2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29.510" v="156"/>
        <pc:sldMkLst>
          <pc:docMk/>
          <pc:sldMk cId="1647174395" sldId="455"/>
        </pc:sldMkLst>
        <pc:spChg chg="mod ord">
          <ac:chgData name="Daya Spindler" userId="S::daya.spindler@g.austincc.edu::d47267c9-b69c-4d84-8d8d-9eb6067b7650" providerId="AD" clId="Web-{9C9768EA-A657-4241-863C-1A75455974A9}" dt="2021-12-27T15:20:29.510" v="156"/>
          <ac:spMkLst>
            <pc:docMk/>
            <pc:sldMk cId="1647174395" sldId="455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34.651" v="157"/>
        <pc:sldMkLst>
          <pc:docMk/>
          <pc:sldMk cId="2521778724" sldId="456"/>
        </pc:sldMkLst>
        <pc:spChg chg="mod ord">
          <ac:chgData name="Daya Spindler" userId="S::daya.spindler@g.austincc.edu::d47267c9-b69c-4d84-8d8d-9eb6067b7650" providerId="AD" clId="Web-{9C9768EA-A657-4241-863C-1A75455974A9}" dt="2021-12-27T15:20:34.651" v="157"/>
          <ac:spMkLst>
            <pc:docMk/>
            <pc:sldMk cId="2521778724" sldId="456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37.182" v="158"/>
        <pc:sldMkLst>
          <pc:docMk/>
          <pc:sldMk cId="3431353133" sldId="457"/>
        </pc:sldMkLst>
        <pc:spChg chg="mod ord">
          <ac:chgData name="Daya Spindler" userId="S::daya.spindler@g.austincc.edu::d47267c9-b69c-4d84-8d8d-9eb6067b7650" providerId="AD" clId="Web-{9C9768EA-A657-4241-863C-1A75455974A9}" dt="2021-12-27T15:20:37.182" v="158"/>
          <ac:spMkLst>
            <pc:docMk/>
            <pc:sldMk cId="3431353133" sldId="457"/>
            <ac:spMk id="5" creationId="{AC726155-D6CB-43D3-AF4E-1BBAD04B15C1}"/>
          </ac:spMkLst>
        </pc:spChg>
      </pc:sldChg>
      <pc:sldChg chg="modSp modNotes">
        <pc:chgData name="Daya Spindler" userId="S::daya.spindler@g.austincc.edu::d47267c9-b69c-4d84-8d8d-9eb6067b7650" providerId="AD" clId="Web-{9C9768EA-A657-4241-863C-1A75455974A9}" dt="2021-12-27T15:20:39.323" v="159"/>
        <pc:sldMkLst>
          <pc:docMk/>
          <pc:sldMk cId="2945017644" sldId="458"/>
        </pc:sldMkLst>
        <pc:spChg chg="mod ord">
          <ac:chgData name="Daya Spindler" userId="S::daya.spindler@g.austincc.edu::d47267c9-b69c-4d84-8d8d-9eb6067b7650" providerId="AD" clId="Web-{9C9768EA-A657-4241-863C-1A75455974A9}" dt="2021-12-27T15:20:39.323" v="159"/>
          <ac:spMkLst>
            <pc:docMk/>
            <pc:sldMk cId="2945017644" sldId="458"/>
            <ac:spMk id="5" creationId="{AC726155-D6CB-43D3-AF4E-1BBAD04B15C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41.573" v="160"/>
        <pc:sldMkLst>
          <pc:docMk/>
          <pc:sldMk cId="1995363345" sldId="459"/>
        </pc:sldMkLst>
        <pc:spChg chg="mod ord">
          <ac:chgData name="Daya Spindler" userId="S::daya.spindler@g.austincc.edu::d47267c9-b69c-4d84-8d8d-9eb6067b7650" providerId="AD" clId="Web-{9C9768EA-A657-4241-863C-1A75455974A9}" dt="2021-12-27T15:20:41.573" v="160"/>
          <ac:spMkLst>
            <pc:docMk/>
            <pc:sldMk cId="1995363345" sldId="459"/>
            <ac:spMk id="5" creationId="{A72CA063-1EAD-4EA1-AE8E-4F232620B7BC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57.714" v="164"/>
        <pc:sldMkLst>
          <pc:docMk/>
          <pc:sldMk cId="1858484898" sldId="460"/>
        </pc:sldMkLst>
        <pc:spChg chg="ord">
          <ac:chgData name="Daya Spindler" userId="S::daya.spindler@g.austincc.edu::d47267c9-b69c-4d84-8d8d-9eb6067b7650" providerId="AD" clId="Web-{9C9768EA-A657-4241-863C-1A75455974A9}" dt="2021-12-27T15:20:49.963" v="162"/>
          <ac:spMkLst>
            <pc:docMk/>
            <pc:sldMk cId="1858484898" sldId="460"/>
            <ac:spMk id="4" creationId="{AFC22AC9-00DD-4451-B02F-6BA85555B472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0:57.714" v="164"/>
          <ac:spMkLst>
            <pc:docMk/>
            <pc:sldMk cId="1858484898" sldId="460"/>
            <ac:spMk id="5" creationId="{E8A427CE-615E-4A05-A90D-27258792C0D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0:53.854" v="163"/>
        <pc:sldMkLst>
          <pc:docMk/>
          <pc:sldMk cId="612772290" sldId="461"/>
        </pc:sldMkLst>
        <pc:spChg chg="mod">
          <ac:chgData name="Daya Spindler" userId="S::daya.spindler@g.austincc.edu::d47267c9-b69c-4d84-8d8d-9eb6067b7650" providerId="AD" clId="Web-{9C9768EA-A657-4241-863C-1A75455974A9}" dt="2021-12-27T15:03:50.733" v="92" actId="20577"/>
          <ac:spMkLst>
            <pc:docMk/>
            <pc:sldMk cId="612772290" sldId="461"/>
            <ac:spMk id="3" creationId="{AA67C4B4-DB13-424F-9636-8DE9D6C2770F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0:53.854" v="163"/>
          <ac:spMkLst>
            <pc:docMk/>
            <pc:sldMk cId="612772290" sldId="461"/>
            <ac:spMk id="5" creationId="{80C31E6C-E04B-4B7E-9F48-F1A9E6BF536A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03.729" v="165"/>
        <pc:sldMkLst>
          <pc:docMk/>
          <pc:sldMk cId="3210365870" sldId="462"/>
        </pc:sldMkLst>
        <pc:spChg chg="mod">
          <ac:chgData name="Daya Spindler" userId="S::daya.spindler@g.austincc.edu::d47267c9-b69c-4d84-8d8d-9eb6067b7650" providerId="AD" clId="Web-{9C9768EA-A657-4241-863C-1A75455974A9}" dt="2021-12-27T15:04:59.891" v="99" actId="20577"/>
          <ac:spMkLst>
            <pc:docMk/>
            <pc:sldMk cId="3210365870" sldId="462"/>
            <ac:spMk id="3" creationId="{6E7AC6B8-F551-4681-BAB8-4A0EEB129A50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1:03.729" v="165"/>
          <ac:spMkLst>
            <pc:docMk/>
            <pc:sldMk cId="3210365870" sldId="462"/>
            <ac:spMk id="5" creationId="{E7C4059A-4CC8-489A-BACB-1443EA7D7292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05.089" v="166"/>
        <pc:sldMkLst>
          <pc:docMk/>
          <pc:sldMk cId="231574764" sldId="463"/>
        </pc:sldMkLst>
        <pc:spChg chg="mod">
          <ac:chgData name="Daya Spindler" userId="S::daya.spindler@g.austincc.edu::d47267c9-b69c-4d84-8d8d-9eb6067b7650" providerId="AD" clId="Web-{9C9768EA-A657-4241-863C-1A75455974A9}" dt="2021-12-27T15:08:17.489" v="110" actId="20577"/>
          <ac:spMkLst>
            <pc:docMk/>
            <pc:sldMk cId="231574764" sldId="463"/>
            <ac:spMk id="3" creationId="{B7A80531-E58A-42AB-9D48-3FAEAC6B9358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1:05.089" v="166"/>
          <ac:spMkLst>
            <pc:docMk/>
            <pc:sldMk cId="231574764" sldId="463"/>
            <ac:spMk id="5" creationId="{956C31C7-8664-4FBC-B84F-D48731ECBE71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10.105" v="167"/>
        <pc:sldMkLst>
          <pc:docMk/>
          <pc:sldMk cId="759124956" sldId="464"/>
        </pc:sldMkLst>
        <pc:spChg chg="mod">
          <ac:chgData name="Daya Spindler" userId="S::daya.spindler@g.austincc.edu::d47267c9-b69c-4d84-8d8d-9eb6067b7650" providerId="AD" clId="Web-{9C9768EA-A657-4241-863C-1A75455974A9}" dt="2021-12-27T15:10:47.681" v="117" actId="20577"/>
          <ac:spMkLst>
            <pc:docMk/>
            <pc:sldMk cId="759124956" sldId="464"/>
            <ac:spMk id="3" creationId="{B23E907C-CA91-49C3-967B-6E17C3A281F9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1:10.105" v="167"/>
          <ac:spMkLst>
            <pc:docMk/>
            <pc:sldMk cId="759124956" sldId="464"/>
            <ac:spMk id="5" creationId="{E5B9EA38-3D7C-4C0E-A90A-4BF61EC2633F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12.105" v="168"/>
        <pc:sldMkLst>
          <pc:docMk/>
          <pc:sldMk cId="265448243" sldId="465"/>
        </pc:sldMkLst>
        <pc:spChg chg="mod">
          <ac:chgData name="Daya Spindler" userId="S::daya.spindler@g.austincc.edu::d47267c9-b69c-4d84-8d8d-9eb6067b7650" providerId="AD" clId="Web-{9C9768EA-A657-4241-863C-1A75455974A9}" dt="2021-12-27T15:13:24.310" v="142" actId="20577"/>
          <ac:spMkLst>
            <pc:docMk/>
            <pc:sldMk cId="265448243" sldId="465"/>
            <ac:spMk id="3" creationId="{294E6BFC-0E34-4103-A112-B2ECE0C9D221}"/>
          </ac:spMkLst>
        </pc:spChg>
        <pc:spChg chg="mod ord">
          <ac:chgData name="Daya Spindler" userId="S::daya.spindler@g.austincc.edu::d47267c9-b69c-4d84-8d8d-9eb6067b7650" providerId="AD" clId="Web-{9C9768EA-A657-4241-863C-1A75455974A9}" dt="2021-12-27T15:21:12.105" v="168"/>
          <ac:spMkLst>
            <pc:docMk/>
            <pc:sldMk cId="265448243" sldId="465"/>
            <ac:spMk id="5" creationId="{215A147D-AB9F-42DE-BC40-6E2232ECB145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13.636" v="169"/>
        <pc:sldMkLst>
          <pc:docMk/>
          <pc:sldMk cId="1850605978" sldId="466"/>
        </pc:sldMkLst>
        <pc:spChg chg="mod ord">
          <ac:chgData name="Daya Spindler" userId="S::daya.spindler@g.austincc.edu::d47267c9-b69c-4d84-8d8d-9eb6067b7650" providerId="AD" clId="Web-{9C9768EA-A657-4241-863C-1A75455974A9}" dt="2021-12-27T15:21:13.636" v="169"/>
          <ac:spMkLst>
            <pc:docMk/>
            <pc:sldMk cId="1850605978" sldId="466"/>
            <ac:spMk id="5" creationId="{B7331E12-0965-41BC-9E01-CCACB975829E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15.230" v="170"/>
        <pc:sldMkLst>
          <pc:docMk/>
          <pc:sldMk cId="327192473" sldId="467"/>
        </pc:sldMkLst>
        <pc:spChg chg="mod ord">
          <ac:chgData name="Daya Spindler" userId="S::daya.spindler@g.austincc.edu::d47267c9-b69c-4d84-8d8d-9eb6067b7650" providerId="AD" clId="Web-{9C9768EA-A657-4241-863C-1A75455974A9}" dt="2021-12-27T15:21:15.230" v="170"/>
          <ac:spMkLst>
            <pc:docMk/>
            <pc:sldMk cId="327192473" sldId="467"/>
            <ac:spMk id="5" creationId="{73553655-C38D-4E45-83C2-D0C6A42FECED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17.152" v="171"/>
        <pc:sldMkLst>
          <pc:docMk/>
          <pc:sldMk cId="3126626823" sldId="468"/>
        </pc:sldMkLst>
        <pc:spChg chg="mod ord">
          <ac:chgData name="Daya Spindler" userId="S::daya.spindler@g.austincc.edu::d47267c9-b69c-4d84-8d8d-9eb6067b7650" providerId="AD" clId="Web-{9C9768EA-A657-4241-863C-1A75455974A9}" dt="2021-12-27T15:21:17.152" v="171"/>
          <ac:spMkLst>
            <pc:docMk/>
            <pc:sldMk cId="3126626823" sldId="468"/>
            <ac:spMk id="5" creationId="{A88E4FA6-1731-442E-9294-E49C921E78FE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24.027" v="172"/>
        <pc:sldMkLst>
          <pc:docMk/>
          <pc:sldMk cId="1513561951" sldId="469"/>
        </pc:sldMkLst>
        <pc:spChg chg="mod ord">
          <ac:chgData name="Daya Spindler" userId="S::daya.spindler@g.austincc.edu::d47267c9-b69c-4d84-8d8d-9eb6067b7650" providerId="AD" clId="Web-{9C9768EA-A657-4241-863C-1A75455974A9}" dt="2021-12-27T15:21:24.027" v="172"/>
          <ac:spMkLst>
            <pc:docMk/>
            <pc:sldMk cId="1513561951" sldId="469"/>
            <ac:spMk id="5" creationId="{3B772808-FD33-4F55-B6EA-BE3B2EED91E3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27.871" v="174"/>
        <pc:sldMkLst>
          <pc:docMk/>
          <pc:sldMk cId="2537215245" sldId="470"/>
        </pc:sldMkLst>
        <pc:spChg chg="mod ord">
          <ac:chgData name="Daya Spindler" userId="S::daya.spindler@g.austincc.edu::d47267c9-b69c-4d84-8d8d-9eb6067b7650" providerId="AD" clId="Web-{9C9768EA-A657-4241-863C-1A75455974A9}" dt="2021-12-27T15:21:27.871" v="174"/>
          <ac:spMkLst>
            <pc:docMk/>
            <pc:sldMk cId="2537215245" sldId="470"/>
            <ac:spMk id="5" creationId="{F5408789-46E7-4E77-93FC-368D9BB8596C}"/>
          </ac:spMkLst>
        </pc:spChg>
      </pc:sldChg>
      <pc:sldChg chg="modSp">
        <pc:chgData name="Daya Spindler" userId="S::daya.spindler@g.austincc.edu::d47267c9-b69c-4d84-8d8d-9eb6067b7650" providerId="AD" clId="Web-{9C9768EA-A657-4241-863C-1A75455974A9}" dt="2021-12-27T15:21:26.230" v="173"/>
        <pc:sldMkLst>
          <pc:docMk/>
          <pc:sldMk cId="1221529349" sldId="471"/>
        </pc:sldMkLst>
        <pc:spChg chg="mod ord">
          <ac:chgData name="Daya Spindler" userId="S::daya.spindler@g.austincc.edu::d47267c9-b69c-4d84-8d8d-9eb6067b7650" providerId="AD" clId="Web-{9C9768EA-A657-4241-863C-1A75455974A9}" dt="2021-12-27T15:21:26.230" v="173"/>
          <ac:spMkLst>
            <pc:docMk/>
            <pc:sldMk cId="1221529349" sldId="471"/>
            <ac:spMk id="5" creationId="{DFE49A1E-88F4-4887-8876-A35BAC85F53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60E9C2-8023-A418-AB50-C31BABCAF1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110324" y="0"/>
            <a:ext cx="5203183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2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008339-C953-E171-4E30-649882B4BF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03D06-4E39-D67E-3D8E-6DAFCCAA75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D711D44A-5BB6-4F9D-A854-B71B19859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2531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3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63284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4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12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Why is it important for the LPN/LVN to understand the legal system?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238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What is the difference between common and statutory law? Give examples of both.</a:t>
            </a:r>
          </a:p>
          <a:p>
            <a:pPr marL="181240" indent="-181240" defTabSz="966612">
              <a:defRPr/>
            </a:pPr>
            <a:endParaRPr lang="en-US" altLang="en-US" dirty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792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what each of the four key elements is and give examples of each related to malpractice.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9878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ways in which a nurse is accountable for his/her actions.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examples of the nurse-patient relationship.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ways a nurse should act as an advocate for a patient.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851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are some examples of standards of care?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the consequences a nurse might encounter if he/she does not follow standards of care.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97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different types of breaches of the standards of care.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where the standards of practice can be found for each state.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Why is the nurse practice act important?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2845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What is the purpose of the Patient’s Bill of Rights?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1263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it important for the nurse to maintain confidentiality?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ramifications might occur if a nurse violates a patient’s confidentiality?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5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what can happen to a nurse’s license if there is a lawsuit.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it important for the nurse to ensure a trusting relationship with the patient?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examples of situations in which the Good Samaritan law applies.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65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why a nurse would want to get professional liability insurance.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disciplinary defense insurance.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the different types of sanctions against a nursing license.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7732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15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1575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16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37326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differences between a living will and a durable power of attorney.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Give examples of both a living will and durable power of attorney.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2120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the difference among values, value clarification, and ethical dilemma. Give examples of each of the three.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249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importance of autonomy to patients.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Give an example of a situation in which a patient does not have autonomy.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72319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does PAS differ from euthanasia?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examples of why a patient might refuse treatment.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is the nurse’s responsibility regarding a DNR order?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61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E43EE7-427C-4BBD-F7CF-F6FE2B900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6FD890-1175-6414-691F-FACEE3E02A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2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Legal and Ethical Aspects of Nursing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2.1: Legal Aspects of Nursing</a:t>
            </a:r>
            <a:br>
              <a:rPr lang="en-US" sz="3400" dirty="0"/>
            </a:br>
            <a:r>
              <a:rPr lang="en-US" sz="1600" dirty="0"/>
              <a:t>(Slide 1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Summarize the structure and function of the legal system.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Compare and contrast nursing negligence and malpractice.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the legal relationship that exists between the nurse and the patient.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Explain the importance of maintaining standards of care.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Give examples of ways the nursing profession is regulated.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Give examples of legal issues in health care.</a:t>
            </a:r>
          </a:p>
          <a:p>
            <a:pPr lvl="0"/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2.1: Legal Aspects of Nursing</a:t>
            </a:r>
            <a:br>
              <a:rPr lang="en-US" sz="3400" dirty="0"/>
            </a:br>
            <a:r>
              <a:rPr lang="en-US" sz="1600" dirty="0"/>
              <a:t>(Slide 2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7"/>
            </a:pPr>
            <a:r>
              <a:rPr lang="en-US" dirty="0"/>
              <a:t>Discuss federal regulations of the Health Insurance Portability and Accountability Act of 1996 (HIPAA) privacy rule and its impact on the health care system.</a:t>
            </a:r>
          </a:p>
          <a:p>
            <a:pPr marL="514350" lvl="0" indent="-514350">
              <a:buFont typeface="+mj-lt"/>
              <a:buAutoNum type="arabicPeriod" startAt="7"/>
            </a:pPr>
            <a:r>
              <a:rPr lang="en-US" dirty="0"/>
              <a:t>Give examples of ways the licensed practical/vocational nurse can avoid being involved in a lawsuit.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3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74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2.1: Legal Aspects of Nursing</a:t>
            </a:r>
            <a:br>
              <a:rPr lang="en-US" sz="3400" dirty="0"/>
            </a:br>
            <a:r>
              <a:rPr lang="en-US" sz="1600" dirty="0"/>
              <a:t>(Slide 3 of 3)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Identify how values affect decision making.</a:t>
            </a:r>
          </a:p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Distinguish between ethical and unethical behavior.</a:t>
            </a:r>
          </a:p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Explain the meaning of a code of ethics.</a:t>
            </a:r>
          </a:p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Explain the nurse’s role in reporting unethical behavior.</a:t>
            </a:r>
          </a:p>
          <a:p>
            <a:pPr marL="514350" indent="-514350">
              <a:buFont typeface="+mj-lt"/>
              <a:buAutoNum type="arabicPeriod" startAt="12"/>
            </a:pPr>
            <a:r>
              <a:rPr lang="en-US" dirty="0"/>
              <a:t>Give examples of ethical issues common in health care.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4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1778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EA71-06B7-4DCB-AD12-CF33A9B5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Overview of the Legal System</a:t>
            </a:r>
            <a:br>
              <a:rPr lang="en-US" altLang="en-US" dirty="0"/>
            </a:br>
            <a:r>
              <a:rPr lang="en-US" altLang="en-US" sz="1600" dirty="0"/>
              <a:t>(Slide 1 of 2)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4015C-243A-4AC6-97FA-F7BBA72B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Laws</a:t>
            </a:r>
          </a:p>
          <a:p>
            <a:pPr lvl="1"/>
            <a:r>
              <a:rPr lang="en-US" altLang="en-US" dirty="0"/>
              <a:t>Prescribe how a person should act in society</a:t>
            </a:r>
          </a:p>
          <a:p>
            <a:pPr lvl="1"/>
            <a:r>
              <a:rPr lang="en-US" altLang="en-US" dirty="0"/>
              <a:t>Sanction acceptable behavior and prohibit unacceptable behavior</a:t>
            </a:r>
          </a:p>
          <a:p>
            <a:pPr lvl="1"/>
            <a:r>
              <a:rPr lang="en-US" altLang="en-US" dirty="0"/>
              <a:t>Provide protection for all members of the health care system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4ADD0-5323-49DE-89CF-0D589DC812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135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EA71-06B7-4DCB-AD12-CF33A9B5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Overview of the Legal System</a:t>
            </a:r>
            <a:br>
              <a:rPr lang="en-US" altLang="en-US" dirty="0"/>
            </a:br>
            <a:r>
              <a:rPr lang="en-US" altLang="en-US" sz="1600" dirty="0"/>
              <a:t>(Slide 2 of 2)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4015C-243A-4AC6-97FA-F7BBA72B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Criminal law</a:t>
            </a:r>
          </a:p>
          <a:p>
            <a:r>
              <a:rPr lang="en-US" altLang="en-US" dirty="0"/>
              <a:t>Civil law</a:t>
            </a:r>
          </a:p>
          <a:p>
            <a:r>
              <a:rPr lang="en-US" altLang="en-US" dirty="0"/>
              <a:t>Two ways laws are established</a:t>
            </a:r>
          </a:p>
          <a:p>
            <a:pPr lvl="1"/>
            <a:r>
              <a:rPr lang="en-US" altLang="en-US" dirty="0"/>
              <a:t>Statutory law</a:t>
            </a:r>
          </a:p>
          <a:p>
            <a:pPr lvl="1"/>
            <a:r>
              <a:rPr lang="en-US" altLang="en-US" dirty="0"/>
              <a:t>Common law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4ADD0-5323-49DE-89CF-0D589DC812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5017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CEC5-F94F-42D6-8E49-E266B74C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Malpractice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6919A-B43E-49EA-9B45-8A43BA3C3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Refers to professional negligence</a:t>
            </a:r>
          </a:p>
          <a:p>
            <a:r>
              <a:rPr lang="en-US" altLang="en-US" dirty="0"/>
              <a:t>Nursing responsibilities include actions taken as well as omitted</a:t>
            </a:r>
          </a:p>
          <a:p>
            <a:r>
              <a:rPr lang="en-US" altLang="en-US" dirty="0"/>
              <a:t>Must contain four key elements</a:t>
            </a:r>
          </a:p>
          <a:p>
            <a:pPr lvl="1"/>
            <a:r>
              <a:rPr lang="en-US" altLang="en-US" dirty="0"/>
              <a:t>Duty</a:t>
            </a:r>
          </a:p>
          <a:p>
            <a:pPr lvl="1"/>
            <a:r>
              <a:rPr lang="en-US" altLang="en-US" dirty="0"/>
              <a:t>Breach</a:t>
            </a:r>
          </a:p>
          <a:p>
            <a:pPr lvl="1"/>
            <a:r>
              <a:rPr lang="en-US" altLang="en-US" dirty="0"/>
              <a:t>Harm</a:t>
            </a:r>
          </a:p>
          <a:p>
            <a:pPr lvl="1"/>
            <a:r>
              <a:rPr lang="en-US" altLang="en-US" dirty="0"/>
              <a:t>Proximate cause of harm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149CF-B00A-4582-9C4A-BD5AF788DF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5363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DA847-4A16-493E-A694-4315308D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Legal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909C4-2E3C-48CD-AB09-55582C7A8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3000" dirty="0"/>
              <a:t>Accountability</a:t>
            </a:r>
          </a:p>
          <a:p>
            <a:pPr>
              <a:defRPr/>
            </a:pPr>
            <a:r>
              <a:rPr lang="en-US" sz="3000" dirty="0"/>
              <a:t>Liability</a:t>
            </a:r>
          </a:p>
          <a:p>
            <a:pPr>
              <a:defRPr/>
            </a:pPr>
            <a:r>
              <a:rPr lang="en-US" sz="3000" dirty="0"/>
              <a:t>Legal relationship</a:t>
            </a:r>
          </a:p>
          <a:p>
            <a:pPr lvl="1">
              <a:defRPr/>
            </a:pPr>
            <a:r>
              <a:rPr lang="en-US" dirty="0"/>
              <a:t>Nurse-patient relationship</a:t>
            </a:r>
          </a:p>
          <a:p>
            <a:pPr lvl="2">
              <a:defRPr/>
            </a:pPr>
            <a:r>
              <a:rPr lang="en-US" sz="2100" dirty="0"/>
              <a:t>When the nurse assumes responsibility for the patient’s care</a:t>
            </a:r>
          </a:p>
          <a:p>
            <a:pPr lvl="2">
              <a:defRPr/>
            </a:pPr>
            <a:r>
              <a:rPr lang="en-US" sz="2100" dirty="0"/>
              <a:t>Failure to provide care to the expected level of expertise gives rise to legal liability</a:t>
            </a:r>
          </a:p>
          <a:p>
            <a:pPr lvl="1">
              <a:defRPr/>
            </a:pPr>
            <a:r>
              <a:rPr lang="en-US" dirty="0"/>
              <a:t>Advocate</a:t>
            </a:r>
          </a:p>
          <a:p>
            <a:pPr lvl="2">
              <a:defRPr/>
            </a:pPr>
            <a:r>
              <a:rPr lang="en-US" dirty="0"/>
              <a:t>One who will defend or plead a cause or issue on behalf of another</a:t>
            </a:r>
          </a:p>
          <a:p>
            <a:pPr lvl="2">
              <a:defRPr/>
            </a:pPr>
            <a:r>
              <a:rPr lang="en-US" dirty="0"/>
              <a:t>The nurse accepts the role of advocate for the patient </a:t>
            </a:r>
          </a:p>
          <a:p>
            <a:pPr lvl="2">
              <a:defRPr/>
            </a:pPr>
            <a:r>
              <a:rPr lang="en-US" dirty="0"/>
              <a:t>A nurse advocate has a legal and ethical obligation to safeguard the patient’s interests</a:t>
            </a:r>
            <a:endParaRPr lang="en-US" sz="1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22AC9-00DD-4451-B02F-6BA85555B4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8484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926AB-7E2C-46D9-A4D5-E9FA99907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Standards of Care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7C4B4-DB13-424F-9636-8DE9D6C27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Acts whose performance is required, permitter, or prohibited</a:t>
            </a:r>
          </a:p>
          <a:p>
            <a:r>
              <a:rPr lang="en-US" altLang="en-US" dirty="0"/>
              <a:t>Give directions to the practicing nurse</a:t>
            </a:r>
          </a:p>
          <a:p>
            <a:r>
              <a:rPr lang="en-US" altLang="en-US" dirty="0"/>
              <a:t>Defines the obligations of the nurse, including activities that are obligatory and those that are prohibited</a:t>
            </a:r>
          </a:p>
          <a:p>
            <a:r>
              <a:rPr lang="en-US" altLang="en-US" dirty="0"/>
              <a:t>Failure to adhere to the standards gives rise to legal liability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443E-74C3-4DE2-B571-3F3CB9281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2772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00EBB-5EF2-4F2B-BE19-2498A2959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Regulation of Practice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AC6B8-F551-4681-BAB8-4A0EEB12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en-US" dirty="0"/>
              <a:t>Scope of nursing practice coupled with standards of care</a:t>
            </a:r>
          </a:p>
          <a:p>
            <a:pPr lvl="1"/>
            <a:r>
              <a:rPr lang="en-US" altLang="en-US" dirty="0"/>
              <a:t>Give direction to the practicing nurse</a:t>
            </a:r>
          </a:p>
          <a:p>
            <a:pPr lvl="1"/>
            <a:r>
              <a:rPr lang="en-US" altLang="en-US" dirty="0"/>
              <a:t>Follow the laws of individual states</a:t>
            </a:r>
          </a:p>
          <a:p>
            <a:pPr lvl="1"/>
            <a:r>
              <a:rPr lang="en-US" altLang="en-US" dirty="0"/>
              <a:t>Defines the obligations of the nurse including prohibited standards </a:t>
            </a:r>
          </a:p>
          <a:p>
            <a:r>
              <a:rPr lang="en-US" altLang="en-US" dirty="0"/>
              <a:t>It is the nurse’s responsibility to know the specific nurse practice act(s) in the state or states he/she practices in</a:t>
            </a:r>
          </a:p>
          <a:p>
            <a:r>
              <a:rPr lang="en-US" altLang="en-US" dirty="0"/>
              <a:t>Institution has the right to establish policies and procedures for nursing within the nurse practice act</a:t>
            </a:r>
          </a:p>
          <a:p>
            <a:pPr lvl="1"/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00FFEE-1C0C-4350-8AFB-9DBE0BB92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365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88850-71E0-41A2-910D-3A61DE487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Legal Issues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80531-E58A-42AB-9D48-3FAEAC6B9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dirty="0"/>
              <a:t>Statutory and common law can both play important roles defining the rights of others</a:t>
            </a:r>
          </a:p>
          <a:p>
            <a:r>
              <a:rPr lang="en-US" altLang="en-US" dirty="0"/>
              <a:t>Patient’s Bill of Rights</a:t>
            </a:r>
          </a:p>
          <a:p>
            <a:r>
              <a:rPr lang="en-US" altLang="en-US" dirty="0"/>
              <a:t>Informed consent</a:t>
            </a:r>
          </a:p>
          <a:p>
            <a:r>
              <a:rPr lang="en-US" altLang="en-US" dirty="0"/>
              <a:t>Confidentiality</a:t>
            </a:r>
          </a:p>
          <a:p>
            <a:r>
              <a:rPr lang="en-US" altLang="en-US" dirty="0"/>
              <a:t>Social media</a:t>
            </a:r>
          </a:p>
          <a:p>
            <a:r>
              <a:rPr lang="en-US" altLang="en-US" dirty="0"/>
              <a:t>Medical records</a:t>
            </a:r>
          </a:p>
          <a:p>
            <a:r>
              <a:rPr lang="en-US" altLang="en-US" dirty="0"/>
              <a:t>Invasion of privacy</a:t>
            </a:r>
          </a:p>
          <a:p>
            <a:r>
              <a:rPr lang="en-US" altLang="en-US" dirty="0"/>
              <a:t>Reporting abuse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908B7-69A6-4E62-9157-A82440D09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574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243D4-92F2-4B2C-941D-2A52C717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HIPAA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E907C-CA91-49C3-967B-6E17C3A28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Health Insurance Portability and Accountability Act of 1996 (HIPAA)</a:t>
            </a:r>
          </a:p>
          <a:p>
            <a:pPr lvl="1"/>
            <a:r>
              <a:rPr lang="en-US" altLang="en-US" dirty="0"/>
              <a:t>Health care institution is obligated to uphold certain provisions to the patient</a:t>
            </a:r>
          </a:p>
          <a:p>
            <a:pPr lvl="1"/>
            <a:r>
              <a:rPr lang="en-US" altLang="en-US" dirty="0"/>
              <a:t>Right to have care without prejudice</a:t>
            </a:r>
          </a:p>
          <a:p>
            <a:pPr lvl="1"/>
            <a:r>
              <a:rPr lang="en-US" altLang="en-US" dirty="0"/>
              <a:t>Right to be treated with respect and dignity </a:t>
            </a:r>
          </a:p>
          <a:p>
            <a:pPr lvl="1"/>
            <a:r>
              <a:rPr lang="en-US" altLang="en-US" dirty="0"/>
              <a:t>Right to privacy and confidentiality</a:t>
            </a:r>
          </a:p>
          <a:p>
            <a:pPr lvl="1"/>
            <a:r>
              <a:rPr lang="en-US" altLang="en-US" dirty="0"/>
              <a:t>Right to personal safety</a:t>
            </a:r>
          </a:p>
          <a:p>
            <a:pPr lvl="1"/>
            <a:r>
              <a:rPr lang="en-US" altLang="en-US" dirty="0"/>
              <a:t>Right to complete information about one’s own condition and treatment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6DA9B-D1E9-424B-BBFD-B7547DE580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9124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32F7E-658E-4FA0-A9AF-3FBE5D4A2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to Avoid a Lawsuit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E6BFC-0E34-4103-A112-B2ECE0C9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en-US" dirty="0"/>
              <a:t>Provide compassionate, competent nursing care</a:t>
            </a:r>
          </a:p>
          <a:p>
            <a:r>
              <a:rPr lang="en-US" altLang="en-US" dirty="0"/>
              <a:t>Nurse-patient relationship must be one based on trust and respect</a:t>
            </a:r>
          </a:p>
          <a:p>
            <a:r>
              <a:rPr lang="en-US" altLang="en-US" dirty="0"/>
              <a:t>Use of open and honest communication</a:t>
            </a:r>
          </a:p>
          <a:p>
            <a:r>
              <a:rPr lang="en-US" altLang="en-US" dirty="0"/>
              <a:t>Maintain and adhere to the standards of care and scope of practice </a:t>
            </a:r>
          </a:p>
          <a:p>
            <a:r>
              <a:rPr lang="en-US" altLang="en-US" dirty="0"/>
              <a:t>Good Samaritan law provides immunity from lawsuits in certain circumstances</a:t>
            </a:r>
          </a:p>
          <a:p>
            <a:r>
              <a:rPr lang="en-US" altLang="en-US" dirty="0"/>
              <a:t>Proper documentation— </a:t>
            </a:r>
            <a:r>
              <a:rPr lang="en-US" altLang="en-US" sz="2700" b="1" dirty="0"/>
              <a:t>"Care was not given if it was not charted"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3DFD0-21D2-4B0F-B907-B0BDC576A1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448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D9BB6-20F7-469F-B086-EA13FFAC2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Insurance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D3799-C760-47DC-98B5-1D7544AB7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Professional liability insurance</a:t>
            </a:r>
          </a:p>
          <a:p>
            <a:pPr lvl="1"/>
            <a:r>
              <a:rPr lang="en-US" altLang="en-US" dirty="0"/>
              <a:t>Two types of policies</a:t>
            </a:r>
          </a:p>
          <a:p>
            <a:pPr lvl="2"/>
            <a:r>
              <a:rPr lang="en-US" altLang="en-US" dirty="0"/>
              <a:t>Claims-made policy</a:t>
            </a:r>
          </a:p>
          <a:p>
            <a:pPr lvl="2"/>
            <a:r>
              <a:rPr lang="en-US" altLang="en-US" dirty="0"/>
              <a:t>Occurrence-basis policy</a:t>
            </a:r>
          </a:p>
          <a:p>
            <a:r>
              <a:rPr lang="en-US" altLang="en-US" dirty="0"/>
              <a:t>Disciplinary defense insurance</a:t>
            </a:r>
          </a:p>
          <a:p>
            <a:pPr lvl="1"/>
            <a:r>
              <a:rPr lang="en-US" altLang="en-US" dirty="0"/>
              <a:t>The disciplinary process</a:t>
            </a:r>
          </a:p>
          <a:p>
            <a:r>
              <a:rPr lang="en-US" altLang="en-US" dirty="0"/>
              <a:t>Potential sanctions against a nursing license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D9310-B2A3-498A-A30C-B4954A8EC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605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2.2: Ethical Aspects of Nursing</a:t>
            </a:r>
            <a:br>
              <a:rPr lang="en-US" sz="3400" dirty="0"/>
            </a:br>
            <a:r>
              <a:rPr lang="en-US" sz="1600" dirty="0"/>
              <a:t>(Slide 1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Differentiate between a legal duty and an ethical duty.</a:t>
            </a:r>
          </a:p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Explain advance directives.</a:t>
            </a:r>
          </a:p>
          <a:p>
            <a:pPr marL="514350" lvl="0" indent="-514350">
              <a:buFont typeface="+mj-lt"/>
              <a:buAutoNum type="arabicPeriod" startAt="9"/>
            </a:pPr>
            <a:r>
              <a:rPr lang="en-US" dirty="0"/>
              <a:t>Summarize how culture affects an individual’s beliefs, morals, and values.</a:t>
            </a:r>
          </a:p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Identify how values affect decision making.</a:t>
            </a:r>
          </a:p>
          <a:p>
            <a:pPr marL="514350" lvl="0" indent="-514350">
              <a:buFont typeface="+mj-lt"/>
              <a:buAutoNum type="arabicPeriod" startAt="12"/>
            </a:pPr>
            <a:r>
              <a:rPr lang="en-US" dirty="0"/>
              <a:t>Distinguish between ethical and unethical behavior.</a:t>
            </a:r>
          </a:p>
          <a:p>
            <a:pPr marL="514350" lvl="0" indent="-514350">
              <a:buFont typeface="+mj-lt"/>
              <a:buAutoNum type="arabicPeriod" startAt="9"/>
            </a:pP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15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9427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2.2: Ethical Aspects of Nursing</a:t>
            </a:r>
            <a:br>
              <a:rPr lang="en-US" sz="3400" dirty="0"/>
            </a:br>
            <a:r>
              <a:rPr lang="en-US" sz="1600" dirty="0"/>
              <a:t>(Slide 2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14"/>
            </a:pPr>
            <a:r>
              <a:rPr lang="en-US" dirty="0"/>
              <a:t>Explain the meaning of a code of ethics.</a:t>
            </a:r>
          </a:p>
          <a:p>
            <a:pPr marL="514350" lvl="0" indent="-514350">
              <a:buFont typeface="+mj-lt"/>
              <a:buAutoNum type="arabicPeriod" startAt="14"/>
            </a:pPr>
            <a:r>
              <a:rPr lang="en-US" dirty="0"/>
              <a:t>Explain the nurse’s role in reporting unethical behavior.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Give examples of ethical issues common in health care.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16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0840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ECF7-C023-408E-961C-BE67E7CF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Ethical Aspects of Nursing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0AD87-7A5C-4CB7-AD1C-AEF64643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Define </a:t>
            </a:r>
            <a:r>
              <a:rPr lang="en-US" altLang="en-US" i="1" dirty="0"/>
              <a:t>ethics</a:t>
            </a:r>
            <a:endParaRPr lang="en-US" altLang="en-US" dirty="0"/>
          </a:p>
          <a:p>
            <a:r>
              <a:rPr lang="en-US" altLang="en-US" dirty="0"/>
              <a:t>Advance directives</a:t>
            </a:r>
          </a:p>
          <a:p>
            <a:pPr lvl="1"/>
            <a:r>
              <a:rPr lang="en-US" altLang="en-US" dirty="0"/>
              <a:t>Two types</a:t>
            </a:r>
          </a:p>
          <a:p>
            <a:pPr lvl="2"/>
            <a:r>
              <a:rPr lang="en-US" altLang="en-US" dirty="0"/>
              <a:t>Living wills</a:t>
            </a:r>
          </a:p>
          <a:p>
            <a:pPr lvl="2"/>
            <a:r>
              <a:rPr lang="en-US" altLang="en-US" dirty="0"/>
              <a:t>Durable power of attorney</a:t>
            </a:r>
          </a:p>
          <a:p>
            <a:pPr lvl="1"/>
            <a:r>
              <a:rPr lang="en-US" altLang="en-US" dirty="0"/>
              <a:t>Patient Self-Determination Act (PSDA) of 1991 requires all health care institutions to provide written information to patients regarding their right to make decisions about their health care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25F55-F6EF-46F4-9DAB-E070A360B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192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52E45-3C4E-4BC5-B312-90026425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Development of Ethical Principles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8D4A7-85BD-4B4F-BD55-287FC214A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Define </a:t>
            </a:r>
            <a:r>
              <a:rPr lang="en-US" altLang="en-US" i="1" dirty="0"/>
              <a:t>values</a:t>
            </a:r>
            <a:endParaRPr lang="en-US" altLang="en-US" dirty="0"/>
          </a:p>
          <a:p>
            <a:r>
              <a:rPr lang="en-US" altLang="en-US" dirty="0"/>
              <a:t>Define </a:t>
            </a:r>
            <a:r>
              <a:rPr lang="en-US" altLang="en-US" i="1" dirty="0"/>
              <a:t>value clarification</a:t>
            </a:r>
            <a:endParaRPr lang="en-US" altLang="en-US" dirty="0"/>
          </a:p>
          <a:p>
            <a:r>
              <a:rPr lang="en-US" altLang="en-US" dirty="0"/>
              <a:t>Define </a:t>
            </a:r>
            <a:r>
              <a:rPr lang="en-US" altLang="en-US" i="1" dirty="0"/>
              <a:t>ethical dilemma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F2FBB-4CD1-47F9-932C-3C09D74A50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6626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AAF99-7B42-4EC7-BC30-8FF53A7F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Ethical Principles in Nursing Practice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310F3-39C9-40B2-9AD0-8A4E9AF78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Most fundamental principle is respect for people</a:t>
            </a:r>
          </a:p>
          <a:p>
            <a:r>
              <a:rPr lang="en-US" altLang="en-US" dirty="0"/>
              <a:t>Autonomy—freedom of personal choice</a:t>
            </a:r>
          </a:p>
          <a:p>
            <a:r>
              <a:rPr lang="en-US" altLang="en-US" dirty="0"/>
              <a:t>Beneficence—acting for someone’s good</a:t>
            </a:r>
          </a:p>
          <a:p>
            <a:r>
              <a:rPr lang="en-US" altLang="en-US" dirty="0"/>
              <a:t>Nonmaleficence—means to do no harm</a:t>
            </a:r>
          </a:p>
          <a:p>
            <a:r>
              <a:rPr lang="en-US" altLang="en-US" dirty="0"/>
              <a:t>Justice—concept of what is fair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E8AE6-A2C1-445F-A6C3-AC6674344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61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400C9-0038-43DF-9796-641DF525B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Reporting Unethical Behavior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A4839-DF44-451F-A778-4DCC35A8C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Nurses have a duty to report behavior witnessed that does not meet the established standards</a:t>
            </a:r>
          </a:p>
          <a:p>
            <a:r>
              <a:rPr lang="en-US" dirty="0"/>
              <a:t>Always follow the proper chain of command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3BE3D-EF3D-4225-9655-3B1BB26DF9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1529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2BCE-8DC8-4815-AD49-50CB9FA36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Ethical Issues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F0702-C88E-49A7-9EA7-63FFA2F98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Change as society changes</a:t>
            </a:r>
          </a:p>
          <a:p>
            <a:r>
              <a:rPr lang="en-US" altLang="en-US" dirty="0"/>
              <a:t>Practitioner-assisted suicide (PAS)</a:t>
            </a:r>
          </a:p>
          <a:p>
            <a:r>
              <a:rPr lang="en-US" altLang="en-US" dirty="0"/>
              <a:t>Refusal to treat</a:t>
            </a:r>
          </a:p>
          <a:p>
            <a:r>
              <a:rPr lang="en-US" altLang="en-US" dirty="0"/>
              <a:t>Do not resuscitate (DNR) orders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68633-5A83-4C07-988C-4F496EBA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7215245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6770</TotalTime>
  <Words>1294</Words>
  <Application>Microsoft Office PowerPoint</Application>
  <PresentationFormat>On-screen Show (4:3)</PresentationFormat>
  <Paragraphs>194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ArialMT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2  </vt:lpstr>
      <vt:lpstr>Lesson 2.1: Legal Aspects of Nursing (Slide 1 of 2)</vt:lpstr>
      <vt:lpstr>Lesson 2.1: Legal Aspects of Nursing (Slide 2 of 2)</vt:lpstr>
      <vt:lpstr>Lesson 2.1: Legal Aspects of Nursing (Slide 3 of 3)</vt:lpstr>
      <vt:lpstr>Overview of the Legal System (Slide 1 of 2)</vt:lpstr>
      <vt:lpstr>Overview of the Legal System (Slide 2 of 2)</vt:lpstr>
      <vt:lpstr>Malpractice</vt:lpstr>
      <vt:lpstr>Legal Relationships</vt:lpstr>
      <vt:lpstr>Standards of Care</vt:lpstr>
      <vt:lpstr>Regulation of Practice </vt:lpstr>
      <vt:lpstr>Legal Issues</vt:lpstr>
      <vt:lpstr>HIPAA</vt:lpstr>
      <vt:lpstr>How to Avoid a Lawsuit</vt:lpstr>
      <vt:lpstr>Insurance</vt:lpstr>
      <vt:lpstr>Lesson 2.2: Ethical Aspects of Nursing (Slide 1 of 2)</vt:lpstr>
      <vt:lpstr>Lesson 2.2: Ethical Aspects of Nursing (Slide 2 of 2)</vt:lpstr>
      <vt:lpstr>Ethical Aspects of Nursing </vt:lpstr>
      <vt:lpstr>Development of Ethical Principles</vt:lpstr>
      <vt:lpstr>Ethical Principles in Nursing Practice</vt:lpstr>
      <vt:lpstr>Reporting Unethical Behavior</vt:lpstr>
      <vt:lpstr>Ethical Issues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726</cp:revision>
  <cp:lastPrinted>2022-07-01T16:11:03Z</cp:lastPrinted>
  <dcterms:created xsi:type="dcterms:W3CDTF">2005-01-16T17:28:53Z</dcterms:created>
  <dcterms:modified xsi:type="dcterms:W3CDTF">2022-07-06T06:40:44Z</dcterms:modified>
</cp:coreProperties>
</file>