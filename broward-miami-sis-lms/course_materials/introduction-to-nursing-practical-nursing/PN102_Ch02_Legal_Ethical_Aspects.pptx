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c583a7c8a04990" /><Relationship Type="http://schemas.openxmlformats.org/officeDocument/2006/relationships/extended-properties" Target="/docProps/app.xml" Id="Rea6ceb5857304634" /><Relationship Type="http://schemas.openxmlformats.org/officeDocument/2006/relationships/officeDocument" Target="/ppt/presentation.xml" Id="R5f876795ce1641dc" /></Relationships>
</file>

<file path=ppt/presentation.xml><?xml version="1.0" encoding="utf-8"?>
<p:presentation xmlns:p="http://schemas.openxmlformats.org/presentationml/2006/main">
  <p:sldMasterIdLst>
    <p:sldMasterId xmlns:r="http://schemas.openxmlformats.org/officeDocument/2006/relationships" id="2147483648" r:id="Rc8766608854b42bf"/>
  </p:sldMasterIdLst>
  <p:notesMasterIdLst>
    <p:notesMasterId xmlns:r="http://schemas.openxmlformats.org/officeDocument/2006/relationships" r:id="Ra3b82983c70f4985"/>
  </p:notesMasterIdLst>
  <p:sldIdLst>
    <p:sldId xmlns:r="http://schemas.openxmlformats.org/officeDocument/2006/relationships" id="256" r:id="R21219160137f463d"/>
    <p:sldId xmlns:r="http://schemas.openxmlformats.org/officeDocument/2006/relationships" id="257" r:id="Ra89cdae4ae174d8f"/>
    <p:sldId xmlns:r="http://schemas.openxmlformats.org/officeDocument/2006/relationships" id="258" r:id="Rf0c0890f2d864966"/>
    <p:sldId xmlns:r="http://schemas.openxmlformats.org/officeDocument/2006/relationships" id="259" r:id="R78a46d4a073b40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d664efcb6a4a53" /><Relationship Type="http://schemas.openxmlformats.org/officeDocument/2006/relationships/slideMaster" Target="/ppt/slideMasters/slideMaster1.xml" Id="Rc8766608854b42bf" /><Relationship Type="http://schemas.openxmlformats.org/officeDocument/2006/relationships/notesMaster" Target="/ppt/notesMasters/notesMaster1.xml" Id="Ra3b82983c70f4985" /><Relationship Type="http://schemas.openxmlformats.org/officeDocument/2006/relationships/presProps" Target="/ppt/presProps.xml" Id="R17b5ff6f6550474f" /><Relationship Type="http://schemas.openxmlformats.org/officeDocument/2006/relationships/tableStyles" Target="/ppt/tableStyles.xml" Id="Ra437e54c27dc44b1" /><Relationship Type="http://schemas.openxmlformats.org/officeDocument/2006/relationships/slide" Target="/ppt/slides/slide1.xml" Id="R21219160137f463d" /><Relationship Type="http://schemas.openxmlformats.org/officeDocument/2006/relationships/slide" Target="/ppt/slides/slide2.xml" Id="Ra89cdae4ae174d8f" /><Relationship Type="http://schemas.openxmlformats.org/officeDocument/2006/relationships/slide" Target="/ppt/slides/slide3.xml" Id="Rf0c0890f2d864966" /><Relationship Type="http://schemas.openxmlformats.org/officeDocument/2006/relationships/slide" Target="/ppt/slides/slide4.xml" Id="R78a46d4a073b40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e17498e46143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13f60673304c29" /><Relationship Type="http://schemas.openxmlformats.org/officeDocument/2006/relationships/notesMaster" Target="/ppt/notesMasters/notesMaster1.xml" Id="Reea19fbce87243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b2713bd2ce479f" /><Relationship Type="http://schemas.openxmlformats.org/officeDocument/2006/relationships/notesMaster" Target="/ppt/notesMasters/notesMaster1.xml" Id="Rb846c2bde28d4e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48beef98774d3b" /><Relationship Type="http://schemas.openxmlformats.org/officeDocument/2006/relationships/notesMaster" Target="/ppt/notesMasters/notesMaster1.xml" Id="Rd41bc0ef2f9949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ced3d815fe474c" /><Relationship Type="http://schemas.openxmlformats.org/officeDocument/2006/relationships/notesMaster" Target="/ppt/notesMasters/notesMaster1.xml" Id="Rf60615730a484d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chapter and connect it to the assigned textbook reading.</a:t>
            </a:r>
          </a:p>
          <a:p xmlns:a="http://schemas.openxmlformats.org/drawingml/2006/main">
            <a:r>
              <a:t/>
            </a:r>
          </a:p>
          <a:p xmlns:a="http://schemas.openxmlformats.org/drawingml/2006/main">
            <a:r>
              <a:t>[Sources]</a:t>
            </a:r>
          </a:p>
          <a:p xmlns:a="http://schemas.openxmlformats.org/drawingml/2006/main">
            <a:r>
              <a:t>- src/introNursingBuildout.js — Chapter 2 extendedWeekChapters and readingFocusExplanations (local course source; accessed 2026-07-30).</a:t>
            </a:r>
          </a:p>
          <a:p xmlns:a="http://schemas.openxmlformats.org/drawingml/2006/main">
            <a:r>
              <a:t>- Cooper, K., &amp; Gosnell, K. (2023). Foundations of Nursing (9th ed.), Chapter 2, pp. 22–39 (course-assigned textbook).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the four reading-focus concepts fit together before applying them to care.</a:t>
            </a:r>
          </a:p>
          <a:p xmlns:a="http://schemas.openxmlformats.org/drawingml/2006/main">
            <a:r>
              <a:t/>
            </a:r>
          </a:p>
          <a:p xmlns:a="http://schemas.openxmlformats.org/drawingml/2006/main">
            <a:r>
              <a:t>[Sources]</a:t>
            </a:r>
          </a:p>
          <a:p xmlns:a="http://schemas.openxmlformats.org/drawingml/2006/main">
            <a:r>
              <a:t>- src/introNursingBuildout.js — Chapter 2 extendedWeekChapters and readingFocusExplanations (local course source; accessed 2026-07-30).</a:t>
            </a:r>
          </a:p>
          <a:p xmlns:a="http://schemas.openxmlformats.org/drawingml/2006/main">
            <a:r>
              <a:t>- Cooper, K., &amp; Gosnell, K. (2023). Foundations of Nursing (9th ed.), Chapter 2, pp. 22–39 (course-assigned textbook).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the chapter concepts to the practical nurse’s observation, action, documentation, and reporting responsibilities.</a:t>
            </a:r>
          </a:p>
          <a:p xmlns:a="http://schemas.openxmlformats.org/drawingml/2006/main">
            <a:r>
              <a:t/>
            </a:r>
          </a:p>
          <a:p xmlns:a="http://schemas.openxmlformats.org/drawingml/2006/main">
            <a:r>
              <a:t>[Sources]</a:t>
            </a:r>
          </a:p>
          <a:p xmlns:a="http://schemas.openxmlformats.org/drawingml/2006/main">
            <a:r>
              <a:t>- src/introNursingBuildout.js — Chapter 2 extendedWeekChapters and readingFocusExplanations (local course source; accessed 2026-07-30).</a:t>
            </a:r>
          </a:p>
          <a:p xmlns:a="http://schemas.openxmlformats.org/drawingml/2006/main">
            <a:r>
              <a:t>- Cooper, K., &amp; Gosnell, K. (2023). Foundations of Nursing (9th ed.), Chapter 2, pp. 22–39 (course-assigned textbook).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recall-and-application prompt: recognize the cue, act safely within scope, and report exact findings.</a:t>
            </a:r>
          </a:p>
          <a:p xmlns:a="http://schemas.openxmlformats.org/drawingml/2006/main">
            <a:r>
              <a:t/>
            </a:r>
          </a:p>
          <a:p xmlns:a="http://schemas.openxmlformats.org/drawingml/2006/main">
            <a:r>
              <a:t>[Sources]</a:t>
            </a:r>
          </a:p>
          <a:p xmlns:a="http://schemas.openxmlformats.org/drawingml/2006/main">
            <a:r>
              <a:t>- src/introNursingBuildout.js — Chapter 2 extendedWeekChapters and readingFocusExplanations (local course source; accessed 2026-07-30).</a:t>
            </a:r>
          </a:p>
          <a:p xmlns:a="http://schemas.openxmlformats.org/drawingml/2006/main">
            <a:r>
              <a:t>- Cooper, K., &amp; Gosnell, K. (2023). Foundations of Nursing (9th ed.), Chapter 2, pp. 22–39 (course-assigned textbook).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520992624e4d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46a164999d4d8f" /><Relationship Type="http://schemas.openxmlformats.org/officeDocument/2006/relationships/slideLayout" Target="/ppt/slideLayouts/slideLayout1.xml" Id="Rd76d51c194f74b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6d51c194f74b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f8decef2134fe2" /><Relationship Type="http://schemas.openxmlformats.org/officeDocument/2006/relationships/notesSlide" Target="/ppt/notesSlides/notesSlide1.xml" Id="R214b89ecca724d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e1479dcbdd435a" /><Relationship Type="http://schemas.openxmlformats.org/officeDocument/2006/relationships/notesSlide" Target="/ppt/notesSlides/notesSlide2.xml" Id="R2ba121d0bcdd4f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e25756014a44d9" /><Relationship Type="http://schemas.openxmlformats.org/officeDocument/2006/relationships/notesSlide" Target="/ppt/notesSlides/notesSlide3.xml" Id="R0a1e3982271a4c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d21456d31748c6" /><Relationship Type="http://schemas.openxmlformats.org/officeDocument/2006/relationships/notesSlide" Target="/ppt/notesSlides/notesSlide4.xml" Id="R1dac7f1ad14144a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course-eyebrow">
            <a:extLst xmlns:a="http://schemas.openxmlformats.org/drawingml/2006/main">
              <a:ext uri="{FF2B5EF4-FFF2-40B4-BE49-F238E27FC236}">
                <a16:creationId xmlns:a16="http://schemas.microsoft.com/office/drawing/2014/main" id="{24EC2B50-1686-4C12-8E50-622D96B3A840}"/>
              </a:ext>
            </a:extLst>
          </p:cNvPr>
          <p:cNvSpPr>
            <a:spLocks xmlns:a="http://schemas.openxmlformats.org/drawingml/2006/main" noGrp="1"/>
          </p:cNvSpPr>
          <p:nvPr/>
        </p:nvSpPr>
        <p:spPr>
          <a:xfrm xmlns:a="http://schemas.openxmlformats.org/drawingml/2006/main">
            <a:off x="393668" y="392240"/>
            <a:ext cx="6858000"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BROWARD–MIAMI HEALTH INSTITUTE</a:t>
            </a:r>
          </a:p>
        </p:txBody>
      </p:sp>
      <p:sp>
        <p:nvSpPr>
          <p:cNvPr id="2" name="chapter-title">
            <a:extLst xmlns:a="http://schemas.openxmlformats.org/drawingml/2006/main">
              <a:ext uri="{FF2B5EF4-FFF2-40B4-BE49-F238E27FC236}">
                <a16:creationId xmlns:a16="http://schemas.microsoft.com/office/drawing/2014/main" id="{1D21C48C-D746-4685-ADCB-6184372CB088}"/>
              </a:ext>
            </a:extLst>
          </p:cNvPr>
          <p:cNvSpPr>
            <a:spLocks xmlns:a="http://schemas.openxmlformats.org/drawingml/2006/main" noGrp="1"/>
          </p:cNvSpPr>
          <p:nvPr/>
        </p:nvSpPr>
        <p:spPr>
          <a:xfrm xmlns:a="http://schemas.openxmlformats.org/drawingml/2006/main">
            <a:off x="393668" y="1738789"/>
            <a:ext cx="1000125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5100" b="1">
                <a:solidFill>
                  <a:srgbClr val="18232F"/>
                </a:solidFill>
                <a:latin typeface="Helvetica Neue"/>
                <a:ea typeface="Helvetica Neue"/>
                <a:cs typeface="Helvetica Neue"/>
              </a:defRPr>
            </a:pPr>
            <a:r>
              <a:t>Legal and Ethical Aspects of Nursing</a:t>
            </a:r>
          </a:p>
        </p:txBody>
      </p:sp>
      <p:sp>
        <p:nvSpPr>
          <p:cNvPr id="3" name="chapter-subtitle">
            <a:extLst xmlns:a="http://schemas.openxmlformats.org/drawingml/2006/main">
              <a:ext uri="{FF2B5EF4-FFF2-40B4-BE49-F238E27FC236}">
                <a16:creationId xmlns:a16="http://schemas.microsoft.com/office/drawing/2014/main" id="{199899CA-2769-4976-A4FE-DE1946CFB713}"/>
              </a:ext>
            </a:extLst>
          </p:cNvPr>
          <p:cNvSpPr>
            <a:spLocks xmlns:a="http://schemas.openxmlformats.org/drawingml/2006/main" noGrp="1"/>
          </p:cNvSpPr>
          <p:nvPr/>
        </p:nvSpPr>
        <p:spPr>
          <a:xfrm xmlns:a="http://schemas.openxmlformats.org/drawingml/2006/main">
            <a:off x="393668" y="4742212"/>
            <a:ext cx="9525000" cy="7620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100">
                <a:solidFill>
                  <a:srgbClr val="596B7B"/>
                </a:solidFill>
                <a:latin typeface="Helvetica Neue"/>
                <a:ea typeface="Helvetica Neue"/>
                <a:cs typeface="Helvetica Neue"/>
              </a:defRPr>
            </a:pPr>
            <a:r>
              <a:t>PN 102  •  Chapter 2  •  Foundations of Nursing, 9th ed.  •  pp. 22–39</a:t>
            </a:r>
          </a:p>
        </p:txBody>
      </p:sp>
    </p:spTree>
    <p:extLst>
      <p:ext uri="{BB962C8B-B14F-4D97-AF65-F5344CB8AC3E}">
        <p14:creationId xmlns:p14="http://schemas.microsoft.com/office/powerpoint/2010/main" val="12129918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cepts-title">
            <a:extLst xmlns:a="http://schemas.openxmlformats.org/drawingml/2006/main">
              <a:ext uri="{FF2B5EF4-FFF2-40B4-BE49-F238E27FC236}">
                <a16:creationId xmlns:a16="http://schemas.microsoft.com/office/drawing/2014/main" id="{D40A6F46-8D8B-4D40-B253-264265F1CA8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8232F"/>
                </a:solidFill>
                <a:latin typeface="Helvetica Neue"/>
                <a:ea typeface="Helvetica Neue"/>
                <a:cs typeface="Helvetica Neue"/>
              </a:defRPr>
            </a:pPr>
            <a:r>
              <a:t>Chapter 2: four ideas to connect</a:t>
            </a:r>
          </a:p>
        </p:txBody>
      </p:sp>
      <p:sp>
        <p:nvSpPr>
          <p:cNvPr id="2" name="slide-number">
            <a:extLst xmlns:a="http://schemas.openxmlformats.org/drawingml/2006/main">
              <a:ext uri="{FF2B5EF4-FFF2-40B4-BE49-F238E27FC236}">
                <a16:creationId xmlns:a16="http://schemas.microsoft.com/office/drawing/2014/main" id="{0AE40841-B311-4000-B372-8CAFC7E6251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200">
                <a:solidFill>
                  <a:srgbClr val="596B7B"/>
                </a:solidFill>
                <a:latin typeface="Helvetica Neue"/>
                <a:ea typeface="Helvetica Neue"/>
                <a:cs typeface="Helvetica Neue"/>
              </a:defRPr>
            </a:pPr>
            <a:r>
              <a:t>2</a:t>
            </a:r>
          </a:p>
        </p:txBody>
      </p:sp>
      <p:sp>
        <p:nvSpPr>
          <p:cNvPr id="3" name="concept-1-title">
            <a:extLst xmlns:a="http://schemas.openxmlformats.org/drawingml/2006/main">
              <a:ext uri="{FF2B5EF4-FFF2-40B4-BE49-F238E27FC236}">
                <a16:creationId xmlns:a16="http://schemas.microsoft.com/office/drawing/2014/main" id="{9F73CB0C-E284-4364-8130-70691AB4148F}"/>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2B6976"/>
                </a:solidFill>
                <a:latin typeface="Helvetica Neue"/>
                <a:ea typeface="Helvetica Neue"/>
                <a:cs typeface="Helvetica Neue"/>
              </a:defRPr>
            </a:pPr>
            <a:r>
              <a:t>Regulation of practice</a:t>
            </a:r>
          </a:p>
        </p:txBody>
      </p:sp>
      <p:sp>
        <p:nvSpPr>
          <p:cNvPr id="4" name="concept-1-explanation">
            <a:extLst xmlns:a="http://schemas.openxmlformats.org/drawingml/2006/main">
              <a:ext uri="{FF2B5EF4-FFF2-40B4-BE49-F238E27FC236}">
                <a16:creationId xmlns:a16="http://schemas.microsoft.com/office/drawing/2014/main" id="{BA644BAA-BBC2-4A55-885C-CB26F222FB14}"/>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8232F"/>
                </a:solidFill>
                <a:latin typeface="Helvetica Neue"/>
                <a:ea typeface="Helvetica Neue"/>
                <a:cs typeface="Helvetica Neue"/>
              </a:defRPr>
            </a:pPr>
            <a:r>
              <a:t>Use the nurse practice act, board rules, facility policy, and standards of care to define safe practice.</a:t>
            </a:r>
          </a:p>
        </p:txBody>
      </p:sp>
      <p:sp>
        <p:nvSpPr>
          <p:cNvPr id="5" name="concept-2-title">
            <a:extLst xmlns:a="http://schemas.openxmlformats.org/drawingml/2006/main">
              <a:ext uri="{FF2B5EF4-FFF2-40B4-BE49-F238E27FC236}">
                <a16:creationId xmlns:a16="http://schemas.microsoft.com/office/drawing/2014/main" id="{90361AAE-3DD8-4289-AFE4-BACC7B6BF9A1}"/>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8232F"/>
                </a:solidFill>
                <a:latin typeface="Helvetica Neue"/>
                <a:ea typeface="Helvetica Neue"/>
                <a:cs typeface="Helvetica Neue"/>
              </a:defRPr>
            </a:pPr>
            <a:r>
              <a:t>Liability prevention</a:t>
            </a:r>
          </a:p>
        </p:txBody>
      </p:sp>
      <p:sp>
        <p:nvSpPr>
          <p:cNvPr id="6" name="concept-2-explanation">
            <a:extLst xmlns:a="http://schemas.openxmlformats.org/drawingml/2006/main">
              <a:ext uri="{FF2B5EF4-FFF2-40B4-BE49-F238E27FC236}">
                <a16:creationId xmlns:a16="http://schemas.microsoft.com/office/drawing/2014/main" id="{1868B80A-9118-49ED-96CF-9B4113943621}"/>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8232F"/>
                </a:solidFill>
                <a:latin typeface="Helvetica Neue"/>
                <a:ea typeface="Helvetica Neue"/>
                <a:cs typeface="Helvetica Neue"/>
              </a:defRPr>
            </a:pPr>
            <a:r>
              <a:t>Follow policy, report changes promptly, document accurately, and seek help before an unfamiliar task.</a:t>
            </a:r>
          </a:p>
        </p:txBody>
      </p:sp>
      <p:sp>
        <p:nvSpPr>
          <p:cNvPr id="7" name="concept-3-title">
            <a:extLst xmlns:a="http://schemas.openxmlformats.org/drawingml/2006/main">
              <a:ext uri="{FF2B5EF4-FFF2-40B4-BE49-F238E27FC236}">
                <a16:creationId xmlns:a16="http://schemas.microsoft.com/office/drawing/2014/main" id="{36537403-E4F9-48FB-8F71-C697658567F7}"/>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8232F"/>
                </a:solidFill>
                <a:latin typeface="Helvetica Neue"/>
                <a:ea typeface="Helvetica Neue"/>
                <a:cs typeface="Helvetica Neue"/>
              </a:defRPr>
            </a:pPr>
            <a:r>
              <a:t>Ethical principles</a:t>
            </a:r>
          </a:p>
        </p:txBody>
      </p:sp>
      <p:sp>
        <p:nvSpPr>
          <p:cNvPr id="8" name="concept-3-explanation">
            <a:extLst xmlns:a="http://schemas.openxmlformats.org/drawingml/2006/main">
              <a:ext uri="{FF2B5EF4-FFF2-40B4-BE49-F238E27FC236}">
                <a16:creationId xmlns:a16="http://schemas.microsoft.com/office/drawing/2014/main" id="{DB152A53-CF4E-4E71-A55A-E982348E1AA4}"/>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8232F"/>
                </a:solidFill>
                <a:latin typeface="Helvetica Neue"/>
                <a:ea typeface="Helvetica Neue"/>
                <a:cs typeface="Helvetica Neue"/>
              </a:defRPr>
            </a:pPr>
            <a:r>
              <a:t>Use autonomy, beneficence, nonmaleficence, justice, fidelity, and veracity in patient-centered decisions.</a:t>
            </a:r>
          </a:p>
        </p:txBody>
      </p:sp>
      <p:sp>
        <p:nvSpPr>
          <p:cNvPr id="9" name="concept-4-title">
            <a:extLst xmlns:a="http://schemas.openxmlformats.org/drawingml/2006/main">
              <a:ext uri="{FF2B5EF4-FFF2-40B4-BE49-F238E27FC236}">
                <a16:creationId xmlns:a16="http://schemas.microsoft.com/office/drawing/2014/main" id="{226FF609-A63A-42A3-A907-F2D90647CA14}"/>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8232F"/>
                </a:solidFill>
                <a:latin typeface="Helvetica Neue"/>
                <a:ea typeface="Helvetica Neue"/>
                <a:cs typeface="Helvetica Neue"/>
              </a:defRPr>
            </a:pPr>
            <a:r>
              <a:t>Rights and reporting</a:t>
            </a:r>
          </a:p>
        </p:txBody>
      </p:sp>
      <p:sp>
        <p:nvSpPr>
          <p:cNvPr id="10" name="concept-4-explanation">
            <a:extLst xmlns:a="http://schemas.openxmlformats.org/drawingml/2006/main">
              <a:ext uri="{FF2B5EF4-FFF2-40B4-BE49-F238E27FC236}">
                <a16:creationId xmlns:a16="http://schemas.microsoft.com/office/drawing/2014/main" id="{0BC3D437-3B5F-402D-A6F9-672ECBBAE974}"/>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8232F"/>
                </a:solidFill>
                <a:latin typeface="Helvetica Neue"/>
                <a:ea typeface="Helvetica Neue"/>
                <a:cs typeface="Helvetica Neue"/>
              </a:defRPr>
            </a:pPr>
            <a:r>
              <a:t>Respect advance directives and use the chain of command when care appears unsafe or unethical.</a:t>
            </a:r>
          </a:p>
        </p:txBody>
      </p:sp>
    </p:spTree>
    <p:extLst>
      <p:ext uri="{BB962C8B-B14F-4D97-AF65-F5344CB8AC3E}">
        <p14:creationId xmlns:p14="http://schemas.microsoft.com/office/powerpoint/2010/main" val="2794314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ractice-title">
            <a:extLst xmlns:a="http://schemas.openxmlformats.org/drawingml/2006/main">
              <a:ext uri="{FF2B5EF4-FFF2-40B4-BE49-F238E27FC236}">
                <a16:creationId xmlns:a16="http://schemas.microsoft.com/office/drawing/2014/main" id="{54CBEC75-ABA5-4A18-B160-3FF3B59946E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8232F"/>
                </a:solidFill>
                <a:latin typeface="Helvetica Neue"/>
                <a:ea typeface="Helvetica Neue"/>
                <a:cs typeface="Helvetica Neue"/>
              </a:defRPr>
            </a:pPr>
            <a:r>
              <a:t>Put the chapter into safe practical nursing care</a:t>
            </a:r>
          </a:p>
        </p:txBody>
      </p:sp>
      <p:sp>
        <p:nvSpPr>
          <p:cNvPr id="2" name="practice-lead">
            <a:extLst xmlns:a="http://schemas.openxmlformats.org/drawingml/2006/main">
              <a:ext uri="{FF2B5EF4-FFF2-40B4-BE49-F238E27FC236}">
                <a16:creationId xmlns:a16="http://schemas.microsoft.com/office/drawing/2014/main" id="{AA80F8FA-896E-45C2-81BE-B343BAE50657}"/>
              </a:ext>
            </a:extLst>
          </p:cNvPr>
          <p:cNvSpPr>
            <a:spLocks xmlns:a="http://schemas.openxmlformats.org/drawingml/2006/main" noGrp="1"/>
          </p:cNvSpPr>
          <p:nvPr/>
        </p:nvSpPr>
        <p:spPr>
          <a:xfrm xmlns:a="http://schemas.openxmlformats.org/drawingml/2006/main">
            <a:off x="393668" y="1722406"/>
            <a:ext cx="5537168"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2B6976"/>
                </a:solidFill>
                <a:latin typeface="Helvetica Neue"/>
                <a:ea typeface="Helvetica Neue"/>
                <a:cs typeface="Helvetica Neue"/>
              </a:defRPr>
            </a:pPr>
            <a:r>
              <a:t>Safe care stays inside scope and protects patient rights.</a:t>
            </a:r>
          </a:p>
        </p:txBody>
      </p:sp>
      <p:sp>
        <p:nvSpPr>
          <p:cNvPr id="3" name="practice-body">
            <a:extLst xmlns:a="http://schemas.openxmlformats.org/drawingml/2006/main">
              <a:ext uri="{FF2B5EF4-FFF2-40B4-BE49-F238E27FC236}">
                <a16:creationId xmlns:a16="http://schemas.microsoft.com/office/drawing/2014/main" id="{80DA5B03-A93E-4180-B7BB-6C719D22C479}"/>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725">
                <a:solidFill>
                  <a:srgbClr val="18232F"/>
                </a:solidFill>
                <a:latin typeface="Helvetica Neue"/>
                <a:ea typeface="Helvetica Neue"/>
                <a:cs typeface="Helvetica Neue"/>
              </a:defRPr>
            </a:pPr>
            <a:r>
              <a:t>Confirm that the task is authorized, that the patient understands and agrees, and that privacy is protected. Question unclear or unsafe directions and report concerns through the correct chain of command.</a:t>
            </a:r>
          </a:p>
        </p:txBody>
      </p:sp>
      <p:sp>
        <p:nvSpPr>
          <p:cNvPr id="4" name="slide-number">
            <a:extLst xmlns:a="http://schemas.openxmlformats.org/drawingml/2006/main">
              <a:ext uri="{FF2B5EF4-FFF2-40B4-BE49-F238E27FC236}">
                <a16:creationId xmlns:a16="http://schemas.microsoft.com/office/drawing/2014/main" id="{E999BA34-1805-4CF6-A44F-4633B3B28AB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200">
                <a:solidFill>
                  <a:srgbClr val="596B7B"/>
                </a:solidFill>
                <a:latin typeface="Helvetica Neue"/>
                <a:ea typeface="Helvetica Neue"/>
                <a:cs typeface="Helvetica Neue"/>
              </a:defRPr>
            </a:pPr>
            <a:r>
              <a:t>3</a:t>
            </a:r>
          </a:p>
        </p:txBody>
      </p:sp>
      <p:sp>
        <p:nvSpPr>
          <p:cNvPr id="5" name="check-1">
            <a:extLst xmlns:a="http://schemas.openxmlformats.org/drawingml/2006/main">
              <a:ext uri="{FF2B5EF4-FFF2-40B4-BE49-F238E27FC236}">
                <a16:creationId xmlns:a16="http://schemas.microsoft.com/office/drawing/2014/main" id="{5FE495AD-E96A-402A-934A-6E8B568EF55A}"/>
              </a:ext>
            </a:extLst>
          </p:cNvPr>
          <p:cNvSpPr>
            <a:spLocks xmlns:a="http://schemas.openxmlformats.org/drawingml/2006/main" noGrp="1"/>
          </p:cNvSpPr>
          <p:nvPr/>
        </p:nvSpPr>
        <p:spPr>
          <a:xfrm xmlns:a="http://schemas.openxmlformats.org/drawingml/2006/main">
            <a:off x="7507700" y="2999804"/>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6" name="check-label-1">
            <a:extLst xmlns:a="http://schemas.openxmlformats.org/drawingml/2006/main">
              <a:ext uri="{FF2B5EF4-FFF2-40B4-BE49-F238E27FC236}">
                <a16:creationId xmlns:a16="http://schemas.microsoft.com/office/drawing/2014/main" id="{4945B76B-2197-4BF3-A8F4-1B12FA905C59}"/>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Confirm scope and supervision</a:t>
            </a:r>
          </a:p>
        </p:txBody>
      </p:sp>
      <p:sp>
        <p:nvSpPr>
          <p:cNvPr id="7" name="check-2">
            <a:extLst xmlns:a="http://schemas.openxmlformats.org/drawingml/2006/main">
              <a:ext uri="{FF2B5EF4-FFF2-40B4-BE49-F238E27FC236}">
                <a16:creationId xmlns:a16="http://schemas.microsoft.com/office/drawing/2014/main" id="{7E499836-7710-4465-80FD-E20CA3DF2E0F}"/>
              </a:ext>
            </a:extLst>
          </p:cNvPr>
          <p:cNvSpPr>
            <a:spLocks xmlns:a="http://schemas.openxmlformats.org/drawingml/2006/main" noGrp="1"/>
          </p:cNvSpPr>
          <p:nvPr/>
        </p:nvSpPr>
        <p:spPr>
          <a:xfrm xmlns:a="http://schemas.openxmlformats.org/drawingml/2006/main">
            <a:off x="7507700" y="3609404"/>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8" name="check-label-2">
            <a:extLst xmlns:a="http://schemas.openxmlformats.org/drawingml/2006/main">
              <a:ext uri="{FF2B5EF4-FFF2-40B4-BE49-F238E27FC236}">
                <a16:creationId xmlns:a16="http://schemas.microsoft.com/office/drawing/2014/main" id="{D6B2FBE8-9E69-4421-9646-7B0DFF28B076}"/>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Protect privacy</a:t>
            </a:r>
          </a:p>
        </p:txBody>
      </p:sp>
      <p:sp>
        <p:nvSpPr>
          <p:cNvPr id="9" name="check-3">
            <a:extLst xmlns:a="http://schemas.openxmlformats.org/drawingml/2006/main">
              <a:ext uri="{FF2B5EF4-FFF2-40B4-BE49-F238E27FC236}">
                <a16:creationId xmlns:a16="http://schemas.microsoft.com/office/drawing/2014/main" id="{E6FBB8EC-B3C7-4139-89D7-6600DBEFFFCA}"/>
              </a:ext>
            </a:extLst>
          </p:cNvPr>
          <p:cNvSpPr>
            <a:spLocks xmlns:a="http://schemas.openxmlformats.org/drawingml/2006/main" noGrp="1"/>
          </p:cNvSpPr>
          <p:nvPr/>
        </p:nvSpPr>
        <p:spPr>
          <a:xfrm xmlns:a="http://schemas.openxmlformats.org/drawingml/2006/main">
            <a:off x="7507700" y="4224338"/>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10" name="check-label-3">
            <a:extLst xmlns:a="http://schemas.openxmlformats.org/drawingml/2006/main">
              <a:ext uri="{FF2B5EF4-FFF2-40B4-BE49-F238E27FC236}">
                <a16:creationId xmlns:a16="http://schemas.microsoft.com/office/drawing/2014/main" id="{599F6D03-F95C-433F-9A33-88CFCC0C6828}"/>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Respect informed choices</a:t>
            </a:r>
          </a:p>
        </p:txBody>
      </p:sp>
      <p:sp>
        <p:nvSpPr>
          <p:cNvPr id="11" name="check-4">
            <a:extLst xmlns:a="http://schemas.openxmlformats.org/drawingml/2006/main">
              <a:ext uri="{FF2B5EF4-FFF2-40B4-BE49-F238E27FC236}">
                <a16:creationId xmlns:a16="http://schemas.microsoft.com/office/drawing/2014/main" id="{F3F8745D-85C3-4D44-8B68-EF5E98B4CDAD}"/>
              </a:ext>
            </a:extLst>
          </p:cNvPr>
          <p:cNvSpPr>
            <a:spLocks xmlns:a="http://schemas.openxmlformats.org/drawingml/2006/main" noGrp="1"/>
          </p:cNvSpPr>
          <p:nvPr/>
        </p:nvSpPr>
        <p:spPr>
          <a:xfrm xmlns:a="http://schemas.openxmlformats.org/drawingml/2006/main">
            <a:off x="7507700" y="4833842"/>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12" name="check-label-4">
            <a:extLst xmlns:a="http://schemas.openxmlformats.org/drawingml/2006/main">
              <a:ext uri="{FF2B5EF4-FFF2-40B4-BE49-F238E27FC236}">
                <a16:creationId xmlns:a16="http://schemas.microsoft.com/office/drawing/2014/main" id="{3A5E1A6C-B19A-4E3F-9EAA-2DC77EE5F428}"/>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Question unsafe directions</a:t>
            </a:r>
          </a:p>
        </p:txBody>
      </p:sp>
      <p:sp>
        <p:nvSpPr>
          <p:cNvPr id="13" name="check-5">
            <a:extLst xmlns:a="http://schemas.openxmlformats.org/drawingml/2006/main">
              <a:ext uri="{FF2B5EF4-FFF2-40B4-BE49-F238E27FC236}">
                <a16:creationId xmlns:a16="http://schemas.microsoft.com/office/drawing/2014/main" id="{6777C2E9-36AA-446F-8937-6E28E5053E14}"/>
              </a:ext>
            </a:extLst>
          </p:cNvPr>
          <p:cNvSpPr>
            <a:spLocks xmlns:a="http://schemas.openxmlformats.org/drawingml/2006/main" noGrp="1"/>
          </p:cNvSpPr>
          <p:nvPr/>
        </p:nvSpPr>
        <p:spPr>
          <a:xfrm xmlns:a="http://schemas.openxmlformats.org/drawingml/2006/main">
            <a:off x="7507700" y="5456206"/>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14" name="check-label-5">
            <a:extLst xmlns:a="http://schemas.openxmlformats.org/drawingml/2006/main">
              <a:ext uri="{FF2B5EF4-FFF2-40B4-BE49-F238E27FC236}">
                <a16:creationId xmlns:a16="http://schemas.microsoft.com/office/drawing/2014/main" id="{AF0A7CEE-45E1-43D5-9A90-0048267E6684}"/>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Document facts promptly</a:t>
            </a:r>
          </a:p>
        </p:txBody>
      </p:sp>
    </p:spTree>
    <p:extLst>
      <p:ext uri="{BB962C8B-B14F-4D97-AF65-F5344CB8AC3E}">
        <p14:creationId xmlns:p14="http://schemas.microsoft.com/office/powerpoint/2010/main" val="14329863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losing-eyebrow">
            <a:extLst xmlns:a="http://schemas.openxmlformats.org/drawingml/2006/main">
              <a:ext uri="{FF2B5EF4-FFF2-40B4-BE49-F238E27FC236}">
                <a16:creationId xmlns:a16="http://schemas.microsoft.com/office/drawing/2014/main" id="{42A8391D-5FAE-429C-8BB0-CAAD0FD3EAD8}"/>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RECOGNIZE  →  ACT  →  REPORT</a:t>
            </a:r>
          </a:p>
        </p:txBody>
      </p:sp>
      <p:sp>
        <p:nvSpPr>
          <p:cNvPr id="2" name="closing-message">
            <a:extLst xmlns:a="http://schemas.openxmlformats.org/drawingml/2006/main">
              <a:ext uri="{FF2B5EF4-FFF2-40B4-BE49-F238E27FC236}">
                <a16:creationId xmlns:a16="http://schemas.microsoft.com/office/drawing/2014/main" id="{A2765D46-7085-405A-BF8B-96EB4B87FF0E}"/>
              </a:ext>
            </a:extLst>
          </p:cNvPr>
          <p:cNvSpPr>
            <a:spLocks xmlns:a="http://schemas.openxmlformats.org/drawingml/2006/main" noGrp="1"/>
          </p:cNvSpPr>
          <p:nvPr/>
        </p:nvSpPr>
        <p:spPr>
          <a:xfrm xmlns:a="http://schemas.openxmlformats.org/drawingml/2006/main">
            <a:off x="393668" y="1738789"/>
            <a:ext cx="1000125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4800" b="1">
                <a:solidFill>
                  <a:srgbClr val="18232F"/>
                </a:solidFill>
                <a:latin typeface="Helvetica Neue"/>
                <a:ea typeface="Helvetica Neue"/>
                <a:cs typeface="Helvetica Neue"/>
              </a:defRPr>
            </a:pPr>
            <a:r>
              <a:t>Protect the right.
Prevent the harm.
Report the concern.</a:t>
            </a:r>
          </a:p>
        </p:txBody>
      </p:sp>
      <p:sp>
        <p:nvSpPr>
          <p:cNvPr id="3" name="closing-prompt">
            <a:extLst xmlns:a="http://schemas.openxmlformats.org/drawingml/2006/main">
              <a:ext uri="{FF2B5EF4-FFF2-40B4-BE49-F238E27FC236}">
                <a16:creationId xmlns:a16="http://schemas.microsoft.com/office/drawing/2014/main" id="{187EA6AC-F155-4E13-AFD5-230CC78A7A0B}"/>
              </a:ext>
            </a:extLst>
          </p:cNvPr>
          <p:cNvSpPr>
            <a:spLocks xmlns:a="http://schemas.openxmlformats.org/drawingml/2006/main" noGrp="1"/>
          </p:cNvSpPr>
          <p:nvPr/>
        </p:nvSpPr>
        <p:spPr>
          <a:xfrm xmlns:a="http://schemas.openxmlformats.org/drawingml/2006/main">
            <a:off x="393668" y="4742212"/>
            <a:ext cx="8572500"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025">
                <a:solidFill>
                  <a:srgbClr val="596B7B"/>
                </a:solidFill>
                <a:latin typeface="Helvetica Neue"/>
                <a:ea typeface="Helvetica Neue"/>
                <a:cs typeface="Helvetica Neue"/>
              </a:defRPr>
            </a:pPr>
            <a:r>
              <a:t>Before moving on, explain the cue, your immediate action within scope, and the facts you would report.</a:t>
            </a:r>
          </a:p>
        </p:txBody>
      </p:sp>
      <p:sp>
        <p:nvSpPr>
          <p:cNvPr id="4" name="slide-number">
            <a:extLst xmlns:a="http://schemas.openxmlformats.org/drawingml/2006/main">
              <a:ext uri="{FF2B5EF4-FFF2-40B4-BE49-F238E27FC236}">
                <a16:creationId xmlns:a16="http://schemas.microsoft.com/office/drawing/2014/main" id="{8FB36EB5-BC64-4A42-8DDB-D97182CDBDD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200">
                <a:solidFill>
                  <a:srgbClr val="596B7B"/>
                </a:solidFill>
                <a:latin typeface="Helvetica Neue"/>
                <a:ea typeface="Helvetica Neue"/>
                <a:cs typeface="Helvetica Neue"/>
              </a:defRPr>
            </a:pPr>
            <a:r>
              <a:t>4</a:t>
            </a:r>
          </a:p>
        </p:txBody>
      </p:sp>
    </p:spTree>
    <p:extLst>
      <p:ext uri="{BB962C8B-B14F-4D97-AF65-F5344CB8AC3E}">
        <p14:creationId xmlns:p14="http://schemas.microsoft.com/office/powerpoint/2010/main" val="1163400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2026-07-30T05:24:52.6230000Z</dcterms:created>
  <dcterms:modified xsi:type="dcterms:W3CDTF">2026-07-30T05:24:52.6230000Z</dcterms:modified>
</coreProperties>
</file>