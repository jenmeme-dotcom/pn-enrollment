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ddafc340d454c" /><Relationship Type="http://schemas.openxmlformats.org/officeDocument/2006/relationships/extended-properties" Target="/docProps/app.xml" Id="R33c5531e81da453f" /><Relationship Type="http://schemas.openxmlformats.org/officeDocument/2006/relationships/officeDocument" Target="/ppt/presentation.xml" Id="R8ce3cb8f2eb742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2b0fcca9e741e4"/>
  </p:sldMasterIdLst>
  <p:notesMasterIdLst>
    <p:notesMasterId xmlns:r="http://schemas.openxmlformats.org/officeDocument/2006/relationships" r:id="Rc73957a68c7349a2"/>
  </p:notesMasterIdLst>
  <p:sldIdLst>
    <p:sldId xmlns:r="http://schemas.openxmlformats.org/officeDocument/2006/relationships" id="256" r:id="R6e26dd7515a14519"/>
    <p:sldId xmlns:r="http://schemas.openxmlformats.org/officeDocument/2006/relationships" id="257" r:id="R328170918a224281"/>
    <p:sldId xmlns:r="http://schemas.openxmlformats.org/officeDocument/2006/relationships" id="258" r:id="R2f5ce9d6c1814a49"/>
    <p:sldId xmlns:r="http://schemas.openxmlformats.org/officeDocument/2006/relationships" id="259" r:id="R9ca24d8c428e43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a113cd6814242" /><Relationship Type="http://schemas.openxmlformats.org/officeDocument/2006/relationships/slideMaster" Target="/ppt/slideMasters/slideMaster1.xml" Id="R092b0fcca9e741e4" /><Relationship Type="http://schemas.openxmlformats.org/officeDocument/2006/relationships/notesMaster" Target="/ppt/notesMasters/notesMaster1.xml" Id="Rc73957a68c7349a2" /><Relationship Type="http://schemas.openxmlformats.org/officeDocument/2006/relationships/presProps" Target="/ppt/presProps.xml" Id="Rd66171c1a53148d6" /><Relationship Type="http://schemas.openxmlformats.org/officeDocument/2006/relationships/tableStyles" Target="/ppt/tableStyles.xml" Id="R31c789648e0f46d3" /><Relationship Type="http://schemas.openxmlformats.org/officeDocument/2006/relationships/slide" Target="/ppt/slides/slide1.xml" Id="R6e26dd7515a14519" /><Relationship Type="http://schemas.openxmlformats.org/officeDocument/2006/relationships/slide" Target="/ppt/slides/slide2.xml" Id="R328170918a224281" /><Relationship Type="http://schemas.openxmlformats.org/officeDocument/2006/relationships/slide" Target="/ppt/slides/slide3.xml" Id="R2f5ce9d6c1814a49" /><Relationship Type="http://schemas.openxmlformats.org/officeDocument/2006/relationships/slide" Target="/ppt/slides/slide4.xml" Id="R9ca24d8c428e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ee0cb472b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e5308a73b4047" /><Relationship Type="http://schemas.openxmlformats.org/officeDocument/2006/relationships/notesMaster" Target="/ppt/notesMasters/notesMaster1.xml" Id="Ra530d5d94cc4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fc426d4eee464a" /><Relationship Type="http://schemas.openxmlformats.org/officeDocument/2006/relationships/notesMaster" Target="/ppt/notesMasters/notesMaster1.xml" Id="Re37e2733da2b4f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33f9d501004a4d" /><Relationship Type="http://schemas.openxmlformats.org/officeDocument/2006/relationships/notesMaster" Target="/ppt/notesMasters/notesMaster1.xml" Id="R751171db12784a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fa0a95a384abd" /><Relationship Type="http://schemas.openxmlformats.org/officeDocument/2006/relationships/notesMaster" Target="/ppt/notesMasters/notesMaster1.xml" Id="Rfbf93fb24b5645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chapter and connect it to the assigned textbook reading.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9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9, pp. 189–236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the four reading-focus concepts fit together before applying them to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9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9, pp. 189–236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chapter concepts to the practical nurse’s observation, action, documentation, and reporting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9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9, pp. 189–236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recall-and-application prompt: recognize the cue, act safely within scope, and report exact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9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9, pp. 189–236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1c71ad94a4a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08c61706e4b3f" /><Relationship Type="http://schemas.openxmlformats.org/officeDocument/2006/relationships/slideLayout" Target="/ppt/slideLayouts/slideLayout1.xml" Id="R57237e3152a245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37e3152a245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13776fee14398" /><Relationship Type="http://schemas.openxmlformats.org/officeDocument/2006/relationships/notesSlide" Target="/ppt/notesSlides/notesSlide1.xml" Id="R216632dda9134b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9bb685bd24c5e" /><Relationship Type="http://schemas.openxmlformats.org/officeDocument/2006/relationships/notesSlide" Target="/ppt/notesSlides/notesSlide2.xml" Id="R6827b17b495d4b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c6d2046694bf8" /><Relationship Type="http://schemas.openxmlformats.org/officeDocument/2006/relationships/notesSlide" Target="/ppt/notesSlides/notesSlide3.xml" Id="Rc3591492aa074e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2edc354f44149" /><Relationship Type="http://schemas.openxmlformats.org/officeDocument/2006/relationships/notesSlide" Target="/ppt/notesSlides/notesSlide4.xml" Id="R6a911b83419a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urse-eyebrow">
            <a:extLst xmlns:a="http://schemas.openxmlformats.org/drawingml/2006/main">
              <a:ext uri="{FF2B5EF4-FFF2-40B4-BE49-F238E27FC236}">
                <a16:creationId xmlns:a16="http://schemas.microsoft.com/office/drawing/2014/main" id="{57A1744C-20DB-4D65-AAC9-1ED871E1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858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BROWARD–MIAMI HEALTH INSTITUTE</a:t>
            </a:r>
          </a:p>
        </p:txBody>
      </p:sp>
      <p:sp>
        <p:nvSpPr>
          <p:cNvPr id="2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69283FC0-9F5F-4C21-BCAA-EFEC28B3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Hygiene and Care of the Patient’s Environment</a:t>
            </a:r>
          </a:p>
        </p:txBody>
      </p:sp>
      <p:sp>
        <p:nvSpPr>
          <p:cNvPr id="3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7EF7FBB8-574C-4F9A-8A6F-E54523E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9525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PN 102  •  Chapter 9  •  Foundations of Nursing, 9th ed.  •  pp. 189–236</a:t>
            </a:r>
          </a:p>
        </p:txBody>
      </p:sp>
    </p:spTree>
    <p:extLst>
      <p:ext uri="{BB962C8B-B14F-4D97-AF65-F5344CB8AC3E}">
        <p14:creationId xmlns:p14="http://schemas.microsoft.com/office/powerpoint/2010/main" val="1659802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52F56A63-D571-4D14-8A6F-A17EA2C9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Chapter 9: four ideas to connect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32F2C8-8001-41B4-940D-B83E994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concept-1-title">
            <a:extLst xmlns:a="http://schemas.openxmlformats.org/drawingml/2006/main">
              <a:ext uri="{FF2B5EF4-FFF2-40B4-BE49-F238E27FC236}">
                <a16:creationId xmlns:a16="http://schemas.microsoft.com/office/drawing/2014/main" id="{227524EB-6E31-43F4-A262-48B7B006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Personal and oral hygiene</a:t>
            </a:r>
          </a:p>
        </p:txBody>
      </p:sp>
      <p:sp>
        <p:nvSpPr>
          <p:cNvPr id="4" name="concept-1-explanation">
            <a:extLst xmlns:a="http://schemas.openxmlformats.org/drawingml/2006/main">
              <a:ext uri="{FF2B5EF4-FFF2-40B4-BE49-F238E27FC236}">
                <a16:creationId xmlns:a16="http://schemas.microsoft.com/office/drawing/2014/main" id="{53A56BA1-B383-4B8A-B7C5-4BAF291C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Individualize care to promote comfort, prevent infection, and protect the mouth and skin.</a:t>
            </a:r>
          </a:p>
        </p:txBody>
      </p:sp>
      <p:sp>
        <p:nvSpPr>
          <p:cNvPr id="5" name="concept-2-title">
            <a:extLst xmlns:a="http://schemas.openxmlformats.org/drawingml/2006/main">
              <a:ext uri="{FF2B5EF4-FFF2-40B4-BE49-F238E27FC236}">
                <a16:creationId xmlns:a16="http://schemas.microsoft.com/office/drawing/2014/main" id="{CD54B9DE-9F3E-4A76-9ABD-5268D5E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Bathing and grooming</a:t>
            </a:r>
          </a:p>
        </p:txBody>
      </p:sp>
      <p:sp>
        <p:nvSpPr>
          <p:cNvPr id="6" name="concept-2-explanation">
            <a:extLst xmlns:a="http://schemas.openxmlformats.org/drawingml/2006/main">
              <a:ext uri="{FF2B5EF4-FFF2-40B4-BE49-F238E27FC236}">
                <a16:creationId xmlns:a16="http://schemas.microsoft.com/office/drawing/2014/main" id="{0F46A08D-0CE5-4116-A3B5-54B04BF2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Support cleanliness and self-esteem while preserving privacy and safe independence.</a:t>
            </a:r>
          </a:p>
        </p:txBody>
      </p:sp>
      <p:sp>
        <p:nvSpPr>
          <p:cNvPr id="7" name="concept-3-title">
            <a:extLst xmlns:a="http://schemas.openxmlformats.org/drawingml/2006/main">
              <a:ext uri="{FF2B5EF4-FFF2-40B4-BE49-F238E27FC236}">
                <a16:creationId xmlns:a16="http://schemas.microsoft.com/office/drawing/2014/main" id="{A67A44F6-DAD8-49E5-94F8-D0C802FA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Bed and environment</a:t>
            </a:r>
          </a:p>
        </p:txBody>
      </p:sp>
      <p:sp>
        <p:nvSpPr>
          <p:cNvPr id="8" name="concept-3-explanation">
            <a:extLst xmlns:a="http://schemas.openxmlformats.org/drawingml/2006/main">
              <a:ext uri="{FF2B5EF4-FFF2-40B4-BE49-F238E27FC236}">
                <a16:creationId xmlns:a16="http://schemas.microsoft.com/office/drawing/2014/main" id="{9040EA96-CA85-4468-9E73-34D5B4FC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Maintain clean, dry linens and an organized setting that supports rest and skin protection.</a:t>
            </a:r>
          </a:p>
        </p:txBody>
      </p:sp>
      <p:sp>
        <p:nvSpPr>
          <p:cNvPr id="9" name="concept-4-title">
            <a:extLst xmlns:a="http://schemas.openxmlformats.org/drawingml/2006/main">
              <a:ext uri="{FF2B5EF4-FFF2-40B4-BE49-F238E27FC236}">
                <a16:creationId xmlns:a16="http://schemas.microsoft.com/office/drawing/2014/main" id="{2527CD27-AD2F-40E7-8C9D-9332F91E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Skin and dignity</a:t>
            </a:r>
          </a:p>
        </p:txBody>
      </p:sp>
      <p:sp>
        <p:nvSpPr>
          <p:cNvPr id="10" name="concept-4-explanation">
            <a:extLst xmlns:a="http://schemas.openxmlformats.org/drawingml/2006/main">
              <a:ext uri="{FF2B5EF4-FFF2-40B4-BE49-F238E27FC236}">
                <a16:creationId xmlns:a16="http://schemas.microsoft.com/office/drawing/2014/main" id="{5A626D66-95C2-4763-931B-9BF3576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skin during care, report changes, and encourage the patient to do what is safely possible.</a:t>
            </a:r>
          </a:p>
        </p:txBody>
      </p:sp>
    </p:spTree>
    <p:extLst>
      <p:ext uri="{BB962C8B-B14F-4D97-AF65-F5344CB8AC3E}">
        <p14:creationId xmlns:p14="http://schemas.microsoft.com/office/powerpoint/2010/main" val="247853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E75D3B7D-AD49-4975-83BA-9AC39145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Put the chapter into safe practical nursing care</a:t>
            </a:r>
          </a:p>
        </p:txBody>
      </p:sp>
      <p:sp>
        <p:nvSpPr>
          <p:cNvPr id="2" name="practice-lead">
            <a:extLst xmlns:a="http://schemas.openxmlformats.org/drawingml/2006/main">
              <a:ext uri="{FF2B5EF4-FFF2-40B4-BE49-F238E27FC236}">
                <a16:creationId xmlns:a16="http://schemas.microsoft.com/office/drawing/2014/main" id="{E45D54E0-7006-4CB9-ADBB-3DC5000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Hygiene is care, assessment, comfort, and dignity at the same time.</a:t>
            </a:r>
          </a:p>
        </p:txBody>
      </p:sp>
      <p:sp>
        <p:nvSpPr>
          <p:cNvPr id="3" name="practice-body">
            <a:extLst xmlns:a="http://schemas.openxmlformats.org/drawingml/2006/main">
              <a:ext uri="{FF2B5EF4-FFF2-40B4-BE49-F238E27FC236}">
                <a16:creationId xmlns:a16="http://schemas.microsoft.com/office/drawing/2014/main" id="{2D1B3BBE-7FD8-44C3-A563-73F5B7C1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Offer choices, protect privacy, and encourage safe participation. Observe the mouth, skin, mobility, pain, and tolerance during care, then report redness, breakdown, or other concerning changes.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2975C8-AA3C-42DC-BA37-8DACEF3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check-1">
            <a:extLst xmlns:a="http://schemas.openxmlformats.org/drawingml/2006/main">
              <a:ext uri="{FF2B5EF4-FFF2-40B4-BE49-F238E27FC236}">
                <a16:creationId xmlns:a16="http://schemas.microsoft.com/office/drawing/2014/main" id="{26E755B0-65A3-4A53-814C-1926C2A5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29998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6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E5947E4C-A40B-4E36-8314-D30E76C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and offer choices</a:t>
            </a:r>
          </a:p>
        </p:txBody>
      </p:sp>
      <p:sp>
        <p:nvSpPr>
          <p:cNvPr id="7" name="check-2">
            <a:extLst xmlns:a="http://schemas.openxmlformats.org/drawingml/2006/main">
              <a:ext uri="{FF2B5EF4-FFF2-40B4-BE49-F238E27FC236}">
                <a16:creationId xmlns:a16="http://schemas.microsoft.com/office/drawing/2014/main" id="{A206E913-F7B5-4777-9127-9EB2C938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094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8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0D598DC0-2ECA-41CE-9D25-09852486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privacy and warmth</a:t>
            </a:r>
          </a:p>
        </p:txBody>
      </p:sp>
      <p:sp>
        <p:nvSpPr>
          <p:cNvPr id="9" name="check-3">
            <a:extLst xmlns:a="http://schemas.openxmlformats.org/drawingml/2006/main">
              <a:ext uri="{FF2B5EF4-FFF2-40B4-BE49-F238E27FC236}">
                <a16:creationId xmlns:a16="http://schemas.microsoft.com/office/drawing/2014/main" id="{AE06F55C-007F-4886-AA6F-C97B02C9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24338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0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718A1DC4-95B4-41B1-8EFE-EA30870F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Encourage independence</a:t>
            </a:r>
          </a:p>
        </p:txBody>
      </p:sp>
      <p:sp>
        <p:nvSpPr>
          <p:cNvPr id="11" name="check-4">
            <a:extLst xmlns:a="http://schemas.openxmlformats.org/drawingml/2006/main">
              <a:ext uri="{FF2B5EF4-FFF2-40B4-BE49-F238E27FC236}">
                <a16:creationId xmlns:a16="http://schemas.microsoft.com/office/drawing/2014/main" id="{F3BC5F0B-0799-4C3E-8936-5C6506CC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33842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2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2B37BCD0-BC7C-4D3A-AA3B-C785824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Observe mouth and skin</a:t>
            </a:r>
          </a:p>
        </p:txBody>
      </p:sp>
      <p:sp>
        <p:nvSpPr>
          <p:cNvPr id="13" name="check-5">
            <a:extLst xmlns:a="http://schemas.openxmlformats.org/drawingml/2006/main">
              <a:ext uri="{FF2B5EF4-FFF2-40B4-BE49-F238E27FC236}">
                <a16:creationId xmlns:a16="http://schemas.microsoft.com/office/drawing/2014/main" id="{3D9614C3-55E7-4F89-9418-1A8F417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56206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4" name="check-label-5">
            <a:extLst xmlns:a="http://schemas.openxmlformats.org/drawingml/2006/main">
              <a:ext uri="{FF2B5EF4-FFF2-40B4-BE49-F238E27FC236}">
                <a16:creationId xmlns:a16="http://schemas.microsoft.com/office/drawing/2014/main" id="{F4A465F3-D941-4473-99CF-ED73AD6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Leave the environment safe</a:t>
            </a:r>
          </a:p>
        </p:txBody>
      </p:sp>
    </p:spTree>
    <p:extLst>
      <p:ext uri="{BB962C8B-B14F-4D97-AF65-F5344CB8AC3E}">
        <p14:creationId xmlns:p14="http://schemas.microsoft.com/office/powerpoint/2010/main" val="1733848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433F4FBD-7564-4FF5-B52D-95AD146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RECOGNIZE  →  ACT  →  REPORT</a:t>
            </a:r>
          </a:p>
        </p:txBody>
      </p:sp>
      <p:sp>
        <p:nvSpPr>
          <p:cNvPr id="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2D357DC0-A0B0-4DCA-953B-03CD0B73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Protect dignity.
Observe the skin.
Leave a safe space.</a:t>
            </a:r>
          </a:p>
        </p:txBody>
      </p:sp>
      <p:sp>
        <p:nvSpPr>
          <p:cNvPr id="3" name="closing-prompt">
            <a:extLst xmlns:a="http://schemas.openxmlformats.org/drawingml/2006/main">
              <a:ext uri="{FF2B5EF4-FFF2-40B4-BE49-F238E27FC236}">
                <a16:creationId xmlns:a16="http://schemas.microsoft.com/office/drawing/2014/main" id="{F4AF865E-A926-43F9-ABB5-5D353BB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8572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Before moving on, explain the cue, your immediate action within scope, and the facts you would report.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433C28-98A6-4D35-BCC3-2E85451B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47335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2026-07-30T05:24:54.5850000Z</dcterms:created>
  <dcterms:modified xsi:type="dcterms:W3CDTF">2026-07-30T05:24:54.5850000Z</dcterms:modified>
</coreProperties>
</file>