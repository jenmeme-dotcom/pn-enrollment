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21"/>
  </p:notesMasterIdLst>
  <p:handoutMasterIdLst>
    <p:handoutMasterId r:id="rId22"/>
  </p:handoutMasterIdLst>
  <p:sldIdLst>
    <p:sldId id="454" r:id="rId3"/>
    <p:sldId id="372" r:id="rId4"/>
    <p:sldId id="457" r:id="rId5"/>
    <p:sldId id="460" r:id="rId6"/>
    <p:sldId id="459" r:id="rId7"/>
    <p:sldId id="456" r:id="rId8"/>
    <p:sldId id="458" r:id="rId9"/>
    <p:sldId id="461" r:id="rId10"/>
    <p:sldId id="463" r:id="rId11"/>
    <p:sldId id="464" r:id="rId12"/>
    <p:sldId id="466" r:id="rId13"/>
    <p:sldId id="465" r:id="rId14"/>
    <p:sldId id="462" r:id="rId15"/>
    <p:sldId id="455" r:id="rId16"/>
    <p:sldId id="467" r:id="rId17"/>
    <p:sldId id="468" r:id="rId18"/>
    <p:sldId id="469" r:id="rId19"/>
    <p:sldId id="470" r:id="rId2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5FE0B6-1A5E-8CCA-C715-4638714DBD71}" v="144" dt="2021-12-28T16:53:57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333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78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5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CF5FE0B6-1A5E-8CCA-C715-4638714DBD71}"/>
    <pc:docChg chg="modSld">
      <pc:chgData name="Daya Spindler" userId="S::daya.spindler@g.austincc.edu::d47267c9-b69c-4d84-8d8d-9eb6067b7650" providerId="AD" clId="Web-{CF5FE0B6-1A5E-8CCA-C715-4638714DBD71}" dt="2021-12-28T16:53:57.423" v="149"/>
      <pc:docMkLst>
        <pc:docMk/>
      </pc:docMkLst>
      <pc:sldChg chg="modSp">
        <pc:chgData name="Daya Spindler" userId="S::daya.spindler@g.austincc.edu::d47267c9-b69c-4d84-8d8d-9eb6067b7650" providerId="AD" clId="Web-{CF5FE0B6-1A5E-8CCA-C715-4638714DBD71}" dt="2021-12-28T16:53:29.016" v="133"/>
        <pc:sldMkLst>
          <pc:docMk/>
          <pc:sldMk cId="0" sldId="372"/>
        </pc:sldMkLst>
        <pc:spChg chg="mod ord">
          <ac:chgData name="Daya Spindler" userId="S::daya.spindler@g.austincc.edu::d47267c9-b69c-4d84-8d8d-9eb6067b7650" providerId="AD" clId="Web-{CF5FE0B6-1A5E-8CCA-C715-4638714DBD71}" dt="2021-12-28T16:53:29.016" v="133"/>
          <ac:spMkLst>
            <pc:docMk/>
            <pc:sldMk cId="0" sldId="372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14:34.923" v="1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CF5FE0B6-1A5E-8CCA-C715-4638714DBD71}" dt="2021-12-28T16:14:34.923" v="1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49.360" v="145"/>
        <pc:sldMkLst>
          <pc:docMk/>
          <pc:sldMk cId="477450918" sldId="455"/>
        </pc:sldMkLst>
        <pc:spChg chg="mod ord">
          <ac:chgData name="Daya Spindler" userId="S::daya.spindler@g.austincc.edu::d47267c9-b69c-4d84-8d8d-9eb6067b7650" providerId="AD" clId="Web-{CF5FE0B6-1A5E-8CCA-C715-4638714DBD71}" dt="2021-12-28T16:53:49.360" v="145"/>
          <ac:spMkLst>
            <pc:docMk/>
            <pc:sldMk cId="477450918" sldId="455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6.282" v="137"/>
        <pc:sldMkLst>
          <pc:docMk/>
          <pc:sldMk cId="3433692026" sldId="456"/>
        </pc:sldMkLst>
        <pc:spChg chg="mod">
          <ac:chgData name="Daya Spindler" userId="S::daya.spindler@g.austincc.edu::d47267c9-b69c-4d84-8d8d-9eb6067b7650" providerId="AD" clId="Web-{CF5FE0B6-1A5E-8CCA-C715-4638714DBD71}" dt="2021-12-28T16:22:47.284" v="22" actId="20577"/>
          <ac:spMkLst>
            <pc:docMk/>
            <pc:sldMk cId="3433692026" sldId="456"/>
            <ac:spMk id="3" creationId="{3A524D28-57CB-4C79-AC1C-D9B6A6BD9AC5}"/>
          </ac:spMkLst>
        </pc:spChg>
        <pc:spChg chg="mod ord">
          <ac:chgData name="Daya Spindler" userId="S::daya.spindler@g.austincc.edu::d47267c9-b69c-4d84-8d8d-9eb6067b7650" providerId="AD" clId="Web-{CF5FE0B6-1A5E-8CCA-C715-4638714DBD71}" dt="2021-12-28T16:53:36.282" v="137"/>
          <ac:spMkLst>
            <pc:docMk/>
            <pc:sldMk cId="3433692026" sldId="456"/>
            <ac:spMk id="5" creationId="{2F7DCA00-D7DF-4CF9-8754-16D45E47E220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1.297" v="134"/>
        <pc:sldMkLst>
          <pc:docMk/>
          <pc:sldMk cId="1418200048" sldId="457"/>
        </pc:sldMkLst>
        <pc:spChg chg="mod ord">
          <ac:chgData name="Daya Spindler" userId="S::daya.spindler@g.austincc.edu::d47267c9-b69c-4d84-8d8d-9eb6067b7650" providerId="AD" clId="Web-{CF5FE0B6-1A5E-8CCA-C715-4638714DBD71}" dt="2021-12-28T16:53:31.297" v="134"/>
          <ac:spMkLst>
            <pc:docMk/>
            <pc:sldMk cId="1418200048" sldId="457"/>
            <ac:spMk id="5" creationId="{B78FC4A9-3C08-464F-876D-1B2375DF6BEF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7.563" v="138"/>
        <pc:sldMkLst>
          <pc:docMk/>
          <pc:sldMk cId="2538493538" sldId="458"/>
        </pc:sldMkLst>
        <pc:spChg chg="mod ord">
          <ac:chgData name="Daya Spindler" userId="S::daya.spindler@g.austincc.edu::d47267c9-b69c-4d84-8d8d-9eb6067b7650" providerId="AD" clId="Web-{CF5FE0B6-1A5E-8CCA-C715-4638714DBD71}" dt="2021-12-28T16:53:37.563" v="138"/>
          <ac:spMkLst>
            <pc:docMk/>
            <pc:sldMk cId="2538493538" sldId="458"/>
            <ac:spMk id="5" creationId="{90A93B53-E206-461B-8A3D-745F6CA70C00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4.751" v="136"/>
        <pc:sldMkLst>
          <pc:docMk/>
          <pc:sldMk cId="1804502596" sldId="459"/>
        </pc:sldMkLst>
        <pc:spChg chg="mod ord">
          <ac:chgData name="Daya Spindler" userId="S::daya.spindler@g.austincc.edu::d47267c9-b69c-4d84-8d8d-9eb6067b7650" providerId="AD" clId="Web-{CF5FE0B6-1A5E-8CCA-C715-4638714DBD71}" dt="2021-12-28T16:53:34.751" v="136"/>
          <ac:spMkLst>
            <pc:docMk/>
            <pc:sldMk cId="1804502596" sldId="459"/>
            <ac:spMk id="5" creationId="{B40D2C25-4DC3-401D-895D-5F7C11BFE0C2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2.860" v="135"/>
        <pc:sldMkLst>
          <pc:docMk/>
          <pc:sldMk cId="2611972491" sldId="460"/>
        </pc:sldMkLst>
        <pc:spChg chg="mod ord">
          <ac:chgData name="Daya Spindler" userId="S::daya.spindler@g.austincc.edu::d47267c9-b69c-4d84-8d8d-9eb6067b7650" providerId="AD" clId="Web-{CF5FE0B6-1A5E-8CCA-C715-4638714DBD71}" dt="2021-12-28T16:53:32.860" v="135"/>
          <ac:spMkLst>
            <pc:docMk/>
            <pc:sldMk cId="2611972491" sldId="460"/>
            <ac:spMk id="5" creationId="{E936E663-9DA4-4698-BB3D-F7DEFB726293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39.313" v="139"/>
        <pc:sldMkLst>
          <pc:docMk/>
          <pc:sldMk cId="1801841091" sldId="461"/>
        </pc:sldMkLst>
        <pc:spChg chg="mod">
          <ac:chgData name="Daya Spindler" userId="S::daya.spindler@g.austincc.edu::d47267c9-b69c-4d84-8d8d-9eb6067b7650" providerId="AD" clId="Web-{CF5FE0B6-1A5E-8CCA-C715-4638714DBD71}" dt="2021-12-28T16:29:37.483" v="58" actId="20577"/>
          <ac:spMkLst>
            <pc:docMk/>
            <pc:sldMk cId="1801841091" sldId="461"/>
            <ac:spMk id="3" creationId="{6AEF99F2-FC38-421D-8711-6652F9146674}"/>
          </ac:spMkLst>
        </pc:spChg>
        <pc:spChg chg="mod ord">
          <ac:chgData name="Daya Spindler" userId="S::daya.spindler@g.austincc.edu::d47267c9-b69c-4d84-8d8d-9eb6067b7650" providerId="AD" clId="Web-{CF5FE0B6-1A5E-8CCA-C715-4638714DBD71}" dt="2021-12-28T16:53:39.313" v="139"/>
          <ac:spMkLst>
            <pc:docMk/>
            <pc:sldMk cId="1801841091" sldId="461"/>
            <ac:spMk id="5" creationId="{B617AA88-071C-47A0-91E6-9D271590AD66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47.860" v="144"/>
        <pc:sldMkLst>
          <pc:docMk/>
          <pc:sldMk cId="1548420465" sldId="462"/>
        </pc:sldMkLst>
        <pc:spChg chg="mod ord">
          <ac:chgData name="Daya Spindler" userId="S::daya.spindler@g.austincc.edu::d47267c9-b69c-4d84-8d8d-9eb6067b7650" providerId="AD" clId="Web-{CF5FE0B6-1A5E-8CCA-C715-4638714DBD71}" dt="2021-12-28T16:53:47.860" v="144"/>
          <ac:spMkLst>
            <pc:docMk/>
            <pc:sldMk cId="1548420465" sldId="462"/>
            <ac:spMk id="5" creationId="{0AD3D750-8A41-46E8-8146-1C303BFBB4ED}"/>
          </ac:spMkLst>
        </pc:spChg>
      </pc:sldChg>
      <pc:sldChg chg="modSp modNotes">
        <pc:chgData name="Daya Spindler" userId="S::daya.spindler@g.austincc.edu::d47267c9-b69c-4d84-8d8d-9eb6067b7650" providerId="AD" clId="Web-{CF5FE0B6-1A5E-8CCA-C715-4638714DBD71}" dt="2021-12-28T16:53:41.079" v="140"/>
        <pc:sldMkLst>
          <pc:docMk/>
          <pc:sldMk cId="858806708" sldId="463"/>
        </pc:sldMkLst>
        <pc:spChg chg="mod">
          <ac:chgData name="Daya Spindler" userId="S::daya.spindler@g.austincc.edu::d47267c9-b69c-4d84-8d8d-9eb6067b7650" providerId="AD" clId="Web-{CF5FE0B6-1A5E-8CCA-C715-4638714DBD71}" dt="2021-12-28T16:32:38.035" v="74" actId="20577"/>
          <ac:spMkLst>
            <pc:docMk/>
            <pc:sldMk cId="858806708" sldId="463"/>
            <ac:spMk id="3" creationId="{4EC8498A-F9D6-438F-8C6F-4B54500F9458}"/>
          </ac:spMkLst>
        </pc:spChg>
        <pc:spChg chg="mod ord">
          <ac:chgData name="Daya Spindler" userId="S::daya.spindler@g.austincc.edu::d47267c9-b69c-4d84-8d8d-9eb6067b7650" providerId="AD" clId="Web-{CF5FE0B6-1A5E-8CCA-C715-4638714DBD71}" dt="2021-12-28T16:53:41.079" v="140"/>
          <ac:spMkLst>
            <pc:docMk/>
            <pc:sldMk cId="858806708" sldId="463"/>
            <ac:spMk id="5" creationId="{B66E8664-994E-4D21-ACA8-EBC3FF08D301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42.548" v="141"/>
        <pc:sldMkLst>
          <pc:docMk/>
          <pc:sldMk cId="1641556462" sldId="464"/>
        </pc:sldMkLst>
        <pc:spChg chg="mod ord">
          <ac:chgData name="Daya Spindler" userId="S::daya.spindler@g.austincc.edu::d47267c9-b69c-4d84-8d8d-9eb6067b7650" providerId="AD" clId="Web-{CF5FE0B6-1A5E-8CCA-C715-4638714DBD71}" dt="2021-12-28T16:53:42.548" v="141"/>
          <ac:spMkLst>
            <pc:docMk/>
            <pc:sldMk cId="1641556462" sldId="464"/>
            <ac:spMk id="5" creationId="{111521C9-C27E-4866-B552-7E6D67BCEBCE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46.360" v="143"/>
        <pc:sldMkLst>
          <pc:docMk/>
          <pc:sldMk cId="3484331429" sldId="465"/>
        </pc:sldMkLst>
        <pc:spChg chg="mod">
          <ac:chgData name="Daya Spindler" userId="S::daya.spindler@g.austincc.edu::d47267c9-b69c-4d84-8d8d-9eb6067b7650" providerId="AD" clId="Web-{CF5FE0B6-1A5E-8CCA-C715-4638714DBD71}" dt="2021-12-28T16:38:46.863" v="94" actId="20577"/>
          <ac:spMkLst>
            <pc:docMk/>
            <pc:sldMk cId="3484331429" sldId="465"/>
            <ac:spMk id="3" creationId="{0BBD270E-8447-4696-9085-4280704A1F3D}"/>
          </ac:spMkLst>
        </pc:spChg>
        <pc:spChg chg="mod ord">
          <ac:chgData name="Daya Spindler" userId="S::daya.spindler@g.austincc.edu::d47267c9-b69c-4d84-8d8d-9eb6067b7650" providerId="AD" clId="Web-{CF5FE0B6-1A5E-8CCA-C715-4638714DBD71}" dt="2021-12-28T16:53:46.360" v="143"/>
          <ac:spMkLst>
            <pc:docMk/>
            <pc:sldMk cId="3484331429" sldId="465"/>
            <ac:spMk id="5" creationId="{E560F0DC-759E-435F-BAF2-30B43C42FA0B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44.642" v="142"/>
        <pc:sldMkLst>
          <pc:docMk/>
          <pc:sldMk cId="3547805344" sldId="466"/>
        </pc:sldMkLst>
        <pc:spChg chg="mod ord">
          <ac:chgData name="Daya Spindler" userId="S::daya.spindler@g.austincc.edu::d47267c9-b69c-4d84-8d8d-9eb6067b7650" providerId="AD" clId="Web-{CF5FE0B6-1A5E-8CCA-C715-4638714DBD71}" dt="2021-12-28T16:53:44.642" v="142"/>
          <ac:spMkLst>
            <pc:docMk/>
            <pc:sldMk cId="3547805344" sldId="466"/>
            <ac:spMk id="5" creationId="{62987134-8335-49FF-AD63-4283AFEC41A0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50.923" v="146"/>
        <pc:sldMkLst>
          <pc:docMk/>
          <pc:sldMk cId="1375930150" sldId="467"/>
        </pc:sldMkLst>
        <pc:spChg chg="mod ord">
          <ac:chgData name="Daya Spindler" userId="S::daya.spindler@g.austincc.edu::d47267c9-b69c-4d84-8d8d-9eb6067b7650" providerId="AD" clId="Web-{CF5FE0B6-1A5E-8CCA-C715-4638714DBD71}" dt="2021-12-28T16:53:50.923" v="146"/>
          <ac:spMkLst>
            <pc:docMk/>
            <pc:sldMk cId="1375930150" sldId="467"/>
            <ac:spMk id="5" creationId="{45FA664B-47F4-448D-B47D-F167CCFFFE5B}"/>
          </ac:spMkLst>
        </pc:spChg>
      </pc:sldChg>
      <pc:sldChg chg="modSp">
        <pc:chgData name="Daya Spindler" userId="S::daya.spindler@g.austincc.edu::d47267c9-b69c-4d84-8d8d-9eb6067b7650" providerId="AD" clId="Web-{CF5FE0B6-1A5E-8CCA-C715-4638714DBD71}" dt="2021-12-28T16:53:53.970" v="147"/>
        <pc:sldMkLst>
          <pc:docMk/>
          <pc:sldMk cId="2903594984" sldId="468"/>
        </pc:sldMkLst>
        <pc:spChg chg="mod ord">
          <ac:chgData name="Daya Spindler" userId="S::daya.spindler@g.austincc.edu::d47267c9-b69c-4d84-8d8d-9eb6067b7650" providerId="AD" clId="Web-{CF5FE0B6-1A5E-8CCA-C715-4638714DBD71}" dt="2021-12-28T16:53:53.970" v="147"/>
          <ac:spMkLst>
            <pc:docMk/>
            <pc:sldMk cId="2903594984" sldId="468"/>
            <ac:spMk id="5" creationId="{3D6C1391-841A-44F6-A3C6-CC0144EE7840}"/>
          </ac:spMkLst>
        </pc:spChg>
      </pc:sldChg>
      <pc:sldChg chg="modSp modNotes">
        <pc:chgData name="Daya Spindler" userId="S::daya.spindler@g.austincc.edu::d47267c9-b69c-4d84-8d8d-9eb6067b7650" providerId="AD" clId="Web-{CF5FE0B6-1A5E-8CCA-C715-4638714DBD71}" dt="2021-12-28T16:53:55.876" v="148"/>
        <pc:sldMkLst>
          <pc:docMk/>
          <pc:sldMk cId="2809438961" sldId="469"/>
        </pc:sldMkLst>
        <pc:spChg chg="mod">
          <ac:chgData name="Daya Spindler" userId="S::daya.spindler@g.austincc.edu::d47267c9-b69c-4d84-8d8d-9eb6067b7650" providerId="AD" clId="Web-{CF5FE0B6-1A5E-8CCA-C715-4638714DBD71}" dt="2021-12-28T16:48:52.676" v="121" actId="20577"/>
          <ac:spMkLst>
            <pc:docMk/>
            <pc:sldMk cId="2809438961" sldId="469"/>
            <ac:spMk id="3" creationId="{E6BD0164-4804-47EC-9FA2-75F5B4E94E6A}"/>
          </ac:spMkLst>
        </pc:spChg>
        <pc:spChg chg="mod ord">
          <ac:chgData name="Daya Spindler" userId="S::daya.spindler@g.austincc.edu::d47267c9-b69c-4d84-8d8d-9eb6067b7650" providerId="AD" clId="Web-{CF5FE0B6-1A5E-8CCA-C715-4638714DBD71}" dt="2021-12-28T16:53:55.876" v="148"/>
          <ac:spMkLst>
            <pc:docMk/>
            <pc:sldMk cId="2809438961" sldId="469"/>
            <ac:spMk id="5" creationId="{DDFEBB33-067C-4A5D-BCC5-EF98B6375183}"/>
          </ac:spMkLst>
        </pc:spChg>
      </pc:sldChg>
      <pc:sldChg chg="modSp modNotes">
        <pc:chgData name="Daya Spindler" userId="S::daya.spindler@g.austincc.edu::d47267c9-b69c-4d84-8d8d-9eb6067b7650" providerId="AD" clId="Web-{CF5FE0B6-1A5E-8CCA-C715-4638714DBD71}" dt="2021-12-28T16:53:57.423" v="149"/>
        <pc:sldMkLst>
          <pc:docMk/>
          <pc:sldMk cId="2094324618" sldId="470"/>
        </pc:sldMkLst>
        <pc:spChg chg="mod ord">
          <ac:chgData name="Daya Spindler" userId="S::daya.spindler@g.austincc.edu::d47267c9-b69c-4d84-8d8d-9eb6067b7650" providerId="AD" clId="Web-{CF5FE0B6-1A5E-8CCA-C715-4638714DBD71}" dt="2021-12-28T16:53:57.423" v="149"/>
          <ac:spMkLst>
            <pc:docMk/>
            <pc:sldMk cId="2094324618" sldId="470"/>
            <ac:spMk id="5" creationId="{92FEB100-6A45-4489-8257-7DC57E780EE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0DBF26-9F52-0642-16BB-95927484A08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013358" y="-16778"/>
            <a:ext cx="484305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9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8BC4E8-EC80-9172-A2E5-F7DE589E1B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09D51-C007-7A4A-50BE-173EBDBC497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1C5F68-4126-462D-9C7A-23E41817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483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it important to consider room temperature?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it necessary to keep stale air and odors from lingering in the room?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it important to decrease noise and odors?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does lighting affect the patient’s comfort?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17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hygiene practices in Life Span Considerations box.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how the nurse maintains dignity of the older adult while bathing him/her.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700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purpose of equipment in room and how it’s incorporated when providing hygiene to the patient.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Show picture of room with equipment.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69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are nurses role models for hygiene?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personal hygiene should nurses practice daily?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340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that prior to delegating to UAP, ROM (range of motion) requires skills unique to the nurse.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cool water tub baths and when they may be used.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warm water tub baths and when they may be used.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contraindications for hot water tub baths and dangers of the hot water bath.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appliances used for sitz baths.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296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When are complete bed baths, partial baths, tepid baths, or medicated baths given?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5005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are the normal characteristics of skin?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the comparison between intact and nonintact skin and how each is cared for. </a:t>
            </a:r>
          </a:p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Where do pressure injuries usually appear?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Define </a:t>
            </a:r>
            <a:r>
              <a:rPr lang="en-US" altLang="en-US" i="1" dirty="0">
                <a:latin typeface="Arial" panose="020B0604020202020204" pitchFamily="34" charset="0"/>
              </a:rPr>
              <a:t>shearing</a:t>
            </a:r>
            <a:r>
              <a:rPr lang="en-US" altLang="en-US" dirty="0">
                <a:latin typeface="Arial" panose="020B0604020202020204" pitchFamily="34" charset="0"/>
              </a:rPr>
              <a:t> and </a:t>
            </a:r>
            <a:r>
              <a:rPr lang="en-US" altLang="en-US" i="1" dirty="0">
                <a:latin typeface="Arial" panose="020B0604020202020204" pitchFamily="34" charset="0"/>
              </a:rPr>
              <a:t>friction</a:t>
            </a:r>
            <a:r>
              <a:rPr lang="en-US" altLang="en-US" dirty="0">
                <a:latin typeface="Arial" panose="020B0604020202020204" pitchFamily="34" charset="0"/>
              </a:rPr>
              <a:t>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those at risk for pressure ulcers.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45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various stages of pressure ulcers.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Show pressure ulcers in various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7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it important to maintain a healthy mouth?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often should hair care be performed?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it important for a nurse to shave a disoriented or depressed patient?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Why should patients with diabetes or peripheral vascular disease be observed for conditions of the feet?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Why is the eye cleansed from the inner to outer canthus?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6801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observations for skin abnormalities during a back rub.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are contraindications for back rubs?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971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14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94647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a patient with an indwelling catheter at risk for infection?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signs and symptoms indicate infection of the perineum, vagina, or urethra?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catheter care required twice a day?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887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How does the nurse make an occupied bed? </a:t>
            </a:r>
            <a:endParaRPr lang="en-US" altLang="en-US" dirty="0">
              <a:latin typeface="Arial" panose="020B0604020202020204" pitchFamily="34" charset="0"/>
              <a:cs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9187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How do you place a patient on a bedpan?</a:t>
            </a:r>
          </a:p>
          <a:p>
            <a:pPr>
              <a:defRPr/>
            </a:pPr>
            <a:r>
              <a:rPr lang="en-US" dirty="0"/>
              <a:t>What can assist in removing the bedpan from a patient? </a:t>
            </a:r>
          </a:p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How might the nurse manage an incontinent patient?</a:t>
            </a:r>
          </a:p>
          <a:p>
            <a:endParaRPr lang="en-US" dirty="0">
              <a:cs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158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2651F-51BD-3E6F-ABF5-50B634AE3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65189-45ED-925F-18E2-4B133324B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9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Hygiene and Care of the Patient’s Environment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9.1: Hygiene and Care of the Patient’s Environment</a:t>
            </a:r>
            <a:endParaRPr lang="en-US" sz="1600" dirty="0"/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the therapeutic hospital room environment.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Describe personal hygienic practices.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variations of the bath procedure determined by a patient’s condition and physician’s orders.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Describe the procedure for a bed bath.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Identify nursing interventions for the prevention and treatment of a pressure ulcer/injury.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heat and cold therapy and related procedures.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Describe the procedures for oral hygiene, shaving, hair care, nail care, and eye, ear, and nose care.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Outline the procedure for a back rub.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7C85-B512-402F-BCAF-DBB7C76C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Patient’s Room Environment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368E4-0795-4B71-965F-23BA90283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Keep comfortable and safe</a:t>
            </a:r>
          </a:p>
          <a:p>
            <a:r>
              <a:rPr lang="en-US" altLang="en-US" dirty="0"/>
              <a:t>Factors affecting environment</a:t>
            </a:r>
          </a:p>
          <a:p>
            <a:pPr lvl="1"/>
            <a:r>
              <a:rPr lang="en-US" altLang="en-US" dirty="0"/>
              <a:t>Temperature</a:t>
            </a:r>
          </a:p>
          <a:p>
            <a:pPr lvl="1"/>
            <a:r>
              <a:rPr lang="en-US" altLang="en-US" dirty="0"/>
              <a:t>Ventilation</a:t>
            </a:r>
          </a:p>
          <a:p>
            <a:pPr lvl="1"/>
            <a:r>
              <a:rPr lang="en-US" altLang="en-US" dirty="0"/>
              <a:t>Noise</a:t>
            </a:r>
          </a:p>
          <a:p>
            <a:pPr lvl="1"/>
            <a:r>
              <a:rPr lang="en-US" altLang="en-US" dirty="0"/>
              <a:t>Odors</a:t>
            </a:r>
          </a:p>
          <a:p>
            <a:pPr lvl="1"/>
            <a:r>
              <a:rPr lang="en-US" altLang="en-US" dirty="0"/>
              <a:t>Lighting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CFADC-A77D-48B1-A22B-5456250B97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820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FFF1-0BDA-4D97-84F8-D9990619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Life Span Considerations (Older Adults)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8EFE8-42D8-46B0-B21A-6A6E647F9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Become chilled</a:t>
            </a:r>
          </a:p>
          <a:p>
            <a:r>
              <a:rPr lang="en-US" altLang="en-US" dirty="0"/>
              <a:t>Mobility limited</a:t>
            </a:r>
          </a:p>
          <a:p>
            <a:r>
              <a:rPr lang="en-US" altLang="en-US" dirty="0"/>
              <a:t>Impaired circulation</a:t>
            </a:r>
          </a:p>
          <a:p>
            <a:r>
              <a:rPr lang="en-US" altLang="en-US" dirty="0"/>
              <a:t>Effects of soap and detergents on skin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8C5A2-8A8A-4DD5-BE19-E5C061B58E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1972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87647-7A7F-40E0-8D71-37AF8F452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Room Equipment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DD478-CD54-4C3E-B801-02E6B6A96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Bedside stand</a:t>
            </a:r>
          </a:p>
          <a:p>
            <a:r>
              <a:rPr lang="en-US" altLang="en-US" dirty="0"/>
              <a:t>Bed </a:t>
            </a:r>
          </a:p>
          <a:p>
            <a:r>
              <a:rPr lang="en-US" altLang="en-US" dirty="0"/>
              <a:t>Overbed table</a:t>
            </a:r>
          </a:p>
          <a:p>
            <a:r>
              <a:rPr lang="en-US" altLang="en-US" dirty="0"/>
              <a:t>Chair</a:t>
            </a:r>
          </a:p>
          <a:p>
            <a:r>
              <a:rPr lang="en-US" altLang="en-US" dirty="0"/>
              <a:t>Lights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B1464-44BC-495A-82CD-9D53EF6A2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4502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E7F46-86D0-4C62-BD1D-8B6287B98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Hygiene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24D28-57CB-4C79-AC1C-D9B6A6BD9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Principles of health</a:t>
            </a:r>
          </a:p>
          <a:p>
            <a:r>
              <a:rPr lang="en-US" altLang="en-US" dirty="0"/>
              <a:t>Includes care of skin, hair, hands, feet, eyes, ears, nose, mouth, back, and perineum </a:t>
            </a:r>
          </a:p>
          <a:p>
            <a:r>
              <a:rPr lang="en-US" altLang="en-US" dirty="0"/>
              <a:t>Personal hygiene</a:t>
            </a:r>
          </a:p>
          <a:p>
            <a:pPr lvl="1"/>
            <a:r>
              <a:rPr lang="en-US" altLang="en-US" dirty="0"/>
              <a:t>Self-care measures people use to maintain their health and prevent disease</a:t>
            </a:r>
          </a:p>
          <a:p>
            <a:r>
              <a:rPr lang="en-US" altLang="en-US" dirty="0"/>
              <a:t>Nurses are role models and teach by example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7A434-027D-44DC-9844-A3D3DD33C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3692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EB433-ADC9-4D65-A387-D260EC426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Bathing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370F0-F387-4C86-AB49-F17BD5DBB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Often delegated to unlicensed assistive personnel</a:t>
            </a:r>
          </a:p>
          <a:p>
            <a:r>
              <a:rPr lang="en-US" altLang="en-US" dirty="0"/>
              <a:t>Therapeutic baths </a:t>
            </a:r>
          </a:p>
          <a:p>
            <a:pPr lvl="1"/>
            <a:r>
              <a:rPr lang="en-US" altLang="en-US" dirty="0"/>
              <a:t>Cool water tub bath</a:t>
            </a:r>
          </a:p>
          <a:p>
            <a:pPr lvl="1"/>
            <a:r>
              <a:rPr lang="en-US" altLang="en-US" dirty="0"/>
              <a:t>Warm water tub bath</a:t>
            </a:r>
          </a:p>
          <a:p>
            <a:pPr lvl="1"/>
            <a:r>
              <a:rPr lang="en-US" altLang="en-US" dirty="0"/>
              <a:t>Hot water tub bath</a:t>
            </a:r>
          </a:p>
          <a:p>
            <a:pPr lvl="1"/>
            <a:r>
              <a:rPr lang="en-US" altLang="en-US" dirty="0"/>
              <a:t>Sitz bath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075E5-76F7-47F4-A588-49619A962A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8493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DCBD3-21E8-4B9D-8D66-BD78B9546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Other Baths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F99F2-FC38-421D-8711-6652F9146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Complete bed bath</a:t>
            </a:r>
          </a:p>
          <a:p>
            <a:r>
              <a:rPr lang="en-US" altLang="en-US" dirty="0"/>
              <a:t>Partial assistance</a:t>
            </a:r>
          </a:p>
          <a:p>
            <a:r>
              <a:rPr lang="en-US" altLang="en-US" dirty="0"/>
              <a:t>Tepid sponge bath</a:t>
            </a:r>
          </a:p>
          <a:p>
            <a:r>
              <a:rPr lang="en-US" altLang="en-US" dirty="0"/>
              <a:t>Medicated bath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B8456-D1F5-4363-B6EC-343C937F5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1841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8C022-E0D1-460B-A998-26985AFD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Pressure Injuries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8498A-F9D6-438F-8C6F-4B54500F9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 of normal skin</a:t>
            </a:r>
          </a:p>
          <a:p>
            <a:r>
              <a:rPr lang="en-US" altLang="en-US" dirty="0"/>
              <a:t>Impaired skin integrity</a:t>
            </a:r>
          </a:p>
          <a:p>
            <a:pPr lvl="1"/>
            <a:r>
              <a:rPr lang="en-US" altLang="en-US" dirty="0"/>
              <a:t>Pressure injuries</a:t>
            </a:r>
          </a:p>
          <a:p>
            <a:pPr lvl="2"/>
            <a:r>
              <a:rPr lang="en-US" altLang="en-US" dirty="0"/>
              <a:t>Occur when there is sufficient pressure on the skin to cause the blood vessels in an area to collapse</a:t>
            </a:r>
          </a:p>
          <a:p>
            <a:pPr lvl="2"/>
            <a:r>
              <a:rPr lang="en-US" altLang="en-US" dirty="0"/>
              <a:t>Factors that play role in pressure injuries</a:t>
            </a:r>
          </a:p>
          <a:p>
            <a:pPr lvl="3"/>
            <a:r>
              <a:rPr lang="en-US" altLang="en-US" dirty="0"/>
              <a:t>Shearing force</a:t>
            </a:r>
          </a:p>
          <a:p>
            <a:pPr lvl="3"/>
            <a:r>
              <a:rPr lang="en-US" altLang="en-US" dirty="0"/>
              <a:t>Friction</a:t>
            </a:r>
          </a:p>
          <a:p>
            <a:r>
              <a:rPr lang="en-US" altLang="en-US" dirty="0"/>
              <a:t>Prevention/interventions</a:t>
            </a:r>
          </a:p>
          <a:p>
            <a:pPr lvl="3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CAC4D-F4E7-4AAB-96D3-0DDA8C48AD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8806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FF41-5AD1-4050-9D7B-2D2C5FB5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Stages of Pressure Injuries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488F4-B040-4167-9A92-566878E81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en-US" dirty="0"/>
              <a:t>Stage I – localized area of skin intact with nonblanchable redness</a:t>
            </a:r>
          </a:p>
          <a:p>
            <a:r>
              <a:rPr lang="en-US" altLang="en-US" dirty="0"/>
              <a:t>Stage II – partial-thickness loss of dermis</a:t>
            </a:r>
          </a:p>
          <a:p>
            <a:r>
              <a:rPr lang="en-US" altLang="en-US" dirty="0"/>
              <a:t>Stage III – full-thickness tissue loss in which subcutaneous fat is sometimes visible, but bone, tendon, and muscle are not exposed</a:t>
            </a:r>
          </a:p>
          <a:p>
            <a:r>
              <a:rPr lang="en-US" altLang="en-US" dirty="0"/>
              <a:t>Stage IV – involves full-thickness tissue loss with exposed bone, tendon, or muscle</a:t>
            </a:r>
          </a:p>
          <a:p>
            <a:r>
              <a:rPr lang="en-US" altLang="en-US" dirty="0"/>
              <a:t>Unstageable/unclassified – full-thickness tissue loss, a wound base covered by slough and/or eschar in the wound bed that will usually be tan, brown, or black</a:t>
            </a:r>
          </a:p>
          <a:p>
            <a:r>
              <a:rPr lang="en-US" altLang="en-US" dirty="0"/>
              <a:t>Suspected deep tissue injury – wound appears as a localized purple or maroon area of discolored intact skin or a blood-filled blister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2B65B-1B98-4FFC-8DFD-5B4E98E8D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1556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7BF6E-212D-4CBE-9FA8-04641DBB6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and Cold Therapy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98F53-2062-4D03-B0FA-78B4783F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Patients with injury may benefit from the application of heat or cold therapy</a:t>
            </a:r>
          </a:p>
          <a:p>
            <a:pPr lvl="1"/>
            <a:r>
              <a:rPr lang="en-US" dirty="0"/>
              <a:t>Can be either dry or moist</a:t>
            </a:r>
          </a:p>
          <a:p>
            <a:pPr lvl="1"/>
            <a:r>
              <a:rPr lang="en-US" dirty="0"/>
              <a:t>Heat applications generally are used to provide comfort and to speed healing</a:t>
            </a:r>
          </a:p>
          <a:p>
            <a:pPr lvl="1"/>
            <a:r>
              <a:rPr lang="en-US" dirty="0"/>
              <a:t>Cold normally is used to decrease swelling and to reduce pain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B75CD-5F46-48E0-92AD-F7EB55199B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7805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DC5DD-061B-4D78-9F4D-3B69FCE0E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Components of Patient’s </a:t>
            </a:r>
            <a:br>
              <a:rPr lang="en-US" altLang="en-US" dirty="0"/>
            </a:br>
            <a:r>
              <a:rPr lang="en-US" altLang="en-US" dirty="0"/>
              <a:t>Hygiene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D270E-8447-4696-9085-4280704A1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Oral hygiene</a:t>
            </a:r>
          </a:p>
          <a:p>
            <a:r>
              <a:rPr lang="en-US" altLang="en-US" dirty="0"/>
              <a:t>Hair care</a:t>
            </a:r>
          </a:p>
          <a:p>
            <a:r>
              <a:rPr lang="en-US" altLang="en-US" dirty="0"/>
              <a:t>Shaving</a:t>
            </a:r>
          </a:p>
          <a:p>
            <a:r>
              <a:rPr lang="en-US" altLang="en-US" dirty="0"/>
              <a:t>Hand, foot, and nail care</a:t>
            </a:r>
          </a:p>
          <a:p>
            <a:r>
              <a:rPr lang="en-US" altLang="en-US" dirty="0"/>
              <a:t>Perineal care</a:t>
            </a:r>
          </a:p>
          <a:p>
            <a:r>
              <a:rPr lang="en-US" altLang="en-US" dirty="0"/>
              <a:t>Eye, ear, and nose care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2F76F-1C45-40E9-90B3-3D30838344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4331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8D5-DE28-47EC-94A0-D687D779B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Back Care and Back Rubs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DF0AF-48FB-4BDD-B08F-0F7A686A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Given after baths</a:t>
            </a:r>
          </a:p>
          <a:p>
            <a:r>
              <a:rPr lang="en-US" altLang="en-US" dirty="0"/>
              <a:t>Promote relaxation, relieve muscle tension, and stimulate circulation</a:t>
            </a:r>
          </a:p>
          <a:p>
            <a:r>
              <a:rPr lang="en-US" altLang="en-US" dirty="0"/>
              <a:t>Contraindications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AB375-4C9A-4611-A34A-374597381E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8420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9.2: Further Hygiene and Care of the Patient’s Environment</a:t>
            </a:r>
            <a:endParaRPr lang="en-US" sz="1600" dirty="0"/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Summarize the procedure for perineal care for a male patient and a female patient.</a:t>
            </a:r>
          </a:p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Discuss the procedures for skin care.</a:t>
            </a:r>
          </a:p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Describe the procedure for making an unoccupied bed.</a:t>
            </a:r>
          </a:p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Describe the procedure for making an occupied bed.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Discuss assisting a patient in the use of the bedpan, the urinal, and the bedside commode.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14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7450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A7FD-C8DA-4A15-8D24-514F956DA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Perineal Care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70CF2-80E2-400B-8078-F471D0520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Care of the genitalia (male and female)</a:t>
            </a:r>
          </a:p>
          <a:p>
            <a:r>
              <a:rPr lang="en-US" altLang="en-US" dirty="0"/>
              <a:t>Catheter care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14B33-8397-4E8B-BFBA-655CEE4F18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5930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E73F1-709B-4BEF-8922-2FF46A9CA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Skin Care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19498-E84D-4087-BEDA-AC8DC1AB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When physical condition changes, skin often reflects this with changes in color, texture, thickness, turgor, temperature, and hydration</a:t>
            </a:r>
          </a:p>
          <a:p>
            <a:r>
              <a:rPr lang="en-US" altLang="en-US" dirty="0"/>
              <a:t>As long as skin remains intact and healthy, its physiologic function remains optimal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A786-24CC-402E-B7F4-CA61E1097B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3594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52F0D-F41F-4859-9CAB-203C4176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Bedmaking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D0164-4804-47EC-9FA2-75F5B4E94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The patient’s bed is usually made in the morning after the bath</a:t>
            </a:r>
          </a:p>
          <a:p>
            <a:r>
              <a:rPr lang="en-US" altLang="en-US" dirty="0"/>
              <a:t>When possible, the bed is made while it is not occupied; when the patient is unable to be out of bed, the nurse will make an occupied bed</a:t>
            </a:r>
          </a:p>
          <a:p>
            <a:r>
              <a:rPr lang="en-US" altLang="en-US" dirty="0"/>
              <a:t>The patient’s safety is a top priority; comfort and privacy are also important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61BD5-6E6F-41E0-852A-230665B584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9438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A1540-139B-4735-A291-6C9B1C6D5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Assisting the Patient with Elimination</a:t>
            </a:r>
            <a:br>
              <a:rPr lang="en-US" alt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68519-66A8-4524-A53F-C1615A532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Bedpan</a:t>
            </a:r>
          </a:p>
          <a:p>
            <a:r>
              <a:rPr lang="en-US" altLang="en-US" dirty="0"/>
              <a:t>Urinal</a:t>
            </a:r>
          </a:p>
          <a:p>
            <a:r>
              <a:rPr lang="en-US" altLang="en-US" dirty="0"/>
              <a:t>Care of the incontinent patient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11A0B-3114-4F1B-8FF7-FDDE642FF1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4324618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6948</TotalTime>
  <Words>1135</Words>
  <Application>Microsoft Office PowerPoint</Application>
  <PresentationFormat>On-screen Show (4:3)</PresentationFormat>
  <Paragraphs>169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ArialMT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9  </vt:lpstr>
      <vt:lpstr>Lesson 9.1: Hygiene and Care of the Patient’s Environment</vt:lpstr>
      <vt:lpstr>Patient’s Room Environment</vt:lpstr>
      <vt:lpstr>Life Span Considerations (Older Adults)</vt:lpstr>
      <vt:lpstr>Room Equipment </vt:lpstr>
      <vt:lpstr>Hygiene</vt:lpstr>
      <vt:lpstr>Bathing</vt:lpstr>
      <vt:lpstr>Other Baths</vt:lpstr>
      <vt:lpstr>Pressure Injuries</vt:lpstr>
      <vt:lpstr>Stages of Pressure Injuries</vt:lpstr>
      <vt:lpstr>Heat and Cold Therapy</vt:lpstr>
      <vt:lpstr>Components of Patient’s  Hygiene</vt:lpstr>
      <vt:lpstr>Back Care and Back Rubs</vt:lpstr>
      <vt:lpstr>Lesson 9.2: Further Hygiene and Care of the Patient’s Environment</vt:lpstr>
      <vt:lpstr>Perineal Care</vt:lpstr>
      <vt:lpstr>Skin Care</vt:lpstr>
      <vt:lpstr>Bedmaking</vt:lpstr>
      <vt:lpstr>Assisting the Patient with Elimination 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740</cp:revision>
  <cp:lastPrinted>2022-06-01T21:31:16Z</cp:lastPrinted>
  <dcterms:created xsi:type="dcterms:W3CDTF">2005-01-16T17:28:53Z</dcterms:created>
  <dcterms:modified xsi:type="dcterms:W3CDTF">2022-07-06T06:34:51Z</dcterms:modified>
</cp:coreProperties>
</file>