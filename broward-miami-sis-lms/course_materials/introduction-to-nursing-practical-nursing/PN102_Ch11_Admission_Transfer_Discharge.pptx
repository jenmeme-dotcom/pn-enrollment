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cccc8359a0440d" /><Relationship Type="http://schemas.openxmlformats.org/officeDocument/2006/relationships/extended-properties" Target="/docProps/app.xml" Id="R4b6983668f3549ca" /><Relationship Type="http://schemas.openxmlformats.org/officeDocument/2006/relationships/officeDocument" Target="/ppt/presentation.xml" Id="Rd44883e1a9164d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7a3c4ff71440ef"/>
  </p:sldMasterIdLst>
  <p:notesMasterIdLst>
    <p:notesMasterId xmlns:r="http://schemas.openxmlformats.org/officeDocument/2006/relationships" r:id="R26f4bb2dde81410e"/>
  </p:notesMasterIdLst>
  <p:sldIdLst>
    <p:sldId xmlns:r="http://schemas.openxmlformats.org/officeDocument/2006/relationships" id="256" r:id="R24e023c15bf146bc"/>
    <p:sldId xmlns:r="http://schemas.openxmlformats.org/officeDocument/2006/relationships" id="257" r:id="R61720048fae14df6"/>
    <p:sldId xmlns:r="http://schemas.openxmlformats.org/officeDocument/2006/relationships" id="258" r:id="Rd768fff88a534581"/>
    <p:sldId xmlns:r="http://schemas.openxmlformats.org/officeDocument/2006/relationships" id="259" r:id="R3a6f0d3d0a164e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b159e2c6654603" /><Relationship Type="http://schemas.openxmlformats.org/officeDocument/2006/relationships/slideMaster" Target="/ppt/slideMasters/slideMaster1.xml" Id="R497a3c4ff71440ef" /><Relationship Type="http://schemas.openxmlformats.org/officeDocument/2006/relationships/notesMaster" Target="/ppt/notesMasters/notesMaster1.xml" Id="R26f4bb2dde81410e" /><Relationship Type="http://schemas.openxmlformats.org/officeDocument/2006/relationships/presProps" Target="/ppt/presProps.xml" Id="Rea43c5228e3c4a60" /><Relationship Type="http://schemas.openxmlformats.org/officeDocument/2006/relationships/tableStyles" Target="/ppt/tableStyles.xml" Id="R833c3bdbbc3647fd" /><Relationship Type="http://schemas.openxmlformats.org/officeDocument/2006/relationships/slide" Target="/ppt/slides/slide1.xml" Id="R24e023c15bf146bc" /><Relationship Type="http://schemas.openxmlformats.org/officeDocument/2006/relationships/slide" Target="/ppt/slides/slide2.xml" Id="R61720048fae14df6" /><Relationship Type="http://schemas.openxmlformats.org/officeDocument/2006/relationships/slide" Target="/ppt/slides/slide3.xml" Id="Rd768fff88a534581" /><Relationship Type="http://schemas.openxmlformats.org/officeDocument/2006/relationships/slide" Target="/ppt/slides/slide4.xml" Id="R3a6f0d3d0a164e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99edbaa5494f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37fe4d59e940ac" /><Relationship Type="http://schemas.openxmlformats.org/officeDocument/2006/relationships/notesMaster" Target="/ppt/notesMasters/notesMaster1.xml" Id="R8489ac1350074b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324151391c4e34" /><Relationship Type="http://schemas.openxmlformats.org/officeDocument/2006/relationships/notesMaster" Target="/ppt/notesMasters/notesMaster1.xml" Id="R78d1dfb7375145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2c7c87c9b640bd" /><Relationship Type="http://schemas.openxmlformats.org/officeDocument/2006/relationships/notesMaster" Target="/ppt/notesMasters/notesMaster1.xml" Id="R404bbf8a84c043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e0b4bdf46a4294" /><Relationship Type="http://schemas.openxmlformats.org/officeDocument/2006/relationships/notesMaster" Target="/ppt/notesMasters/notesMaster1.xml" Id="Rb172406909db40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chapter and connect it to the assigned textbook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11, pp. 262–279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the four reading-focus concepts fit together before applying them to care.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11, pp. 262–279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Apply the chapter concepts to the practical nurse’s observation, action, documentation, and reporting responsibilities.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11, pp. 262–279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recall-and-application prompt: recognize the cue, act safely within scope, and report exact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11, pp. 262–279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24f7d012e4e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5b7fc3d3df44a4" /><Relationship Type="http://schemas.openxmlformats.org/officeDocument/2006/relationships/slideLayout" Target="/ppt/slideLayouts/slideLayout1.xml" Id="Rcd72dc42eeb14d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72dc42eeb14d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822c33cea491c" /><Relationship Type="http://schemas.openxmlformats.org/officeDocument/2006/relationships/notesSlide" Target="/ppt/notesSlides/notesSlide1.xml" Id="R2eae8e5badc24e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8fdcb76f74424" /><Relationship Type="http://schemas.openxmlformats.org/officeDocument/2006/relationships/notesSlide" Target="/ppt/notesSlides/notesSlide2.xml" Id="R805ef274847249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8a8049abc41ae" /><Relationship Type="http://schemas.openxmlformats.org/officeDocument/2006/relationships/notesSlide" Target="/ppt/notesSlides/notesSlide3.xml" Id="R5d45fbe1204d40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ab32fbf3b43ff" /><Relationship Type="http://schemas.openxmlformats.org/officeDocument/2006/relationships/notesSlide" Target="/ppt/notesSlides/notesSlide4.xml" Id="R852ebcd30f9e45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urse-eyebrow">
            <a:extLst xmlns:a="http://schemas.openxmlformats.org/drawingml/2006/main">
              <a:ext uri="{FF2B5EF4-FFF2-40B4-BE49-F238E27FC236}">
                <a16:creationId xmlns:a16="http://schemas.microsoft.com/office/drawing/2014/main" id="{124B94A7-3880-4BB9-BB79-5261B50D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858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BROWARD–MIAMI HEALTH INSTITUTE</a:t>
            </a:r>
          </a:p>
        </p:txBody>
      </p:sp>
      <p:sp>
        <p:nvSpPr>
          <p:cNvPr id="2" name="chapter-title">
            <a:extLst xmlns:a="http://schemas.openxmlformats.org/drawingml/2006/main">
              <a:ext uri="{FF2B5EF4-FFF2-40B4-BE49-F238E27FC236}">
                <a16:creationId xmlns:a16="http://schemas.microsoft.com/office/drawing/2014/main" id="{8CDD21BD-EBA4-4CD4-A296-384FB1A8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Admission, Transfer, and Discharge</a:t>
            </a:r>
          </a:p>
        </p:txBody>
      </p:sp>
      <p:sp>
        <p:nvSpPr>
          <p:cNvPr id="3" name="chapter-subtitle">
            <a:extLst xmlns:a="http://schemas.openxmlformats.org/drawingml/2006/main">
              <a:ext uri="{FF2B5EF4-FFF2-40B4-BE49-F238E27FC236}">
                <a16:creationId xmlns:a16="http://schemas.microsoft.com/office/drawing/2014/main" id="{3664F8B2-F20C-4EBC-802C-B6704806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9525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PN 102  •  Chapter 11  •  Foundations of Nursing, 9th ed.  •  pp. 262–279</a:t>
            </a:r>
          </a:p>
        </p:txBody>
      </p:sp>
    </p:spTree>
    <p:extLst>
      <p:ext uri="{BB962C8B-B14F-4D97-AF65-F5344CB8AC3E}">
        <p14:creationId xmlns:p14="http://schemas.microsoft.com/office/powerpoint/2010/main" val="16650174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B33743BD-F75E-40F1-AB4E-710C168E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Chapter 11: four ideas to connect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924CFD5-76E2-4679-8039-27A187C7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concept-1-title">
            <a:extLst xmlns:a="http://schemas.openxmlformats.org/drawingml/2006/main">
              <a:ext uri="{FF2B5EF4-FFF2-40B4-BE49-F238E27FC236}">
                <a16:creationId xmlns:a16="http://schemas.microsoft.com/office/drawing/2014/main" id="{EB5C5B1E-9836-4E71-BEF8-E975A1F5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Admission</a:t>
            </a:r>
          </a:p>
        </p:txBody>
      </p:sp>
      <p:sp>
        <p:nvSpPr>
          <p:cNvPr id="4" name="concept-1-explanation">
            <a:extLst xmlns:a="http://schemas.openxmlformats.org/drawingml/2006/main">
              <a:ext uri="{FF2B5EF4-FFF2-40B4-BE49-F238E27FC236}">
                <a16:creationId xmlns:a16="http://schemas.microsoft.com/office/drawing/2014/main" id="{230EFEDD-F379-4BC7-BB38-9CBA1D02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Verify identity, collect key information, protect belongings, and orient the patient to safety.</a:t>
            </a:r>
          </a:p>
        </p:txBody>
      </p:sp>
      <p:sp>
        <p:nvSpPr>
          <p:cNvPr id="5" name="concept-2-title">
            <a:extLst xmlns:a="http://schemas.openxmlformats.org/drawingml/2006/main">
              <a:ext uri="{FF2B5EF4-FFF2-40B4-BE49-F238E27FC236}">
                <a16:creationId xmlns:a16="http://schemas.microsoft.com/office/drawing/2014/main" id="{99412362-8A39-4C77-95C7-E120EF02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Transfer</a:t>
            </a:r>
          </a:p>
        </p:txBody>
      </p:sp>
      <p:sp>
        <p:nvSpPr>
          <p:cNvPr id="6" name="concept-2-explanation">
            <a:extLst xmlns:a="http://schemas.openxmlformats.org/drawingml/2006/main">
              <a:ext uri="{FF2B5EF4-FFF2-40B4-BE49-F238E27FC236}">
                <a16:creationId xmlns:a16="http://schemas.microsoft.com/office/drawing/2014/main" id="{10ACFBCE-768F-4845-90B5-E80C871D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Communicate needs, medications, risks, and pending care as responsibility changes.</a:t>
            </a:r>
          </a:p>
        </p:txBody>
      </p:sp>
      <p:sp>
        <p:nvSpPr>
          <p:cNvPr id="7" name="concept-3-title">
            <a:extLst xmlns:a="http://schemas.openxmlformats.org/drawingml/2006/main">
              <a:ext uri="{FF2B5EF4-FFF2-40B4-BE49-F238E27FC236}">
                <a16:creationId xmlns:a16="http://schemas.microsoft.com/office/drawing/2014/main" id="{C6D0B44F-5FD3-423A-BD5E-DB90E547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Discharge teaching</a:t>
            </a:r>
          </a:p>
        </p:txBody>
      </p:sp>
      <p:sp>
        <p:nvSpPr>
          <p:cNvPr id="8" name="concept-3-explanation">
            <a:extLst xmlns:a="http://schemas.openxmlformats.org/drawingml/2006/main">
              <a:ext uri="{FF2B5EF4-FFF2-40B4-BE49-F238E27FC236}">
                <a16:creationId xmlns:a16="http://schemas.microsoft.com/office/drawing/2014/main" id="{7364F3AB-2F4F-4284-BE10-5E192D07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clear language and teach-back for medications, follow-up, warnings, and resources.</a:t>
            </a:r>
          </a:p>
        </p:txBody>
      </p:sp>
      <p:sp>
        <p:nvSpPr>
          <p:cNvPr id="9" name="concept-4-title">
            <a:extLst xmlns:a="http://schemas.openxmlformats.org/drawingml/2006/main">
              <a:ext uri="{FF2B5EF4-FFF2-40B4-BE49-F238E27FC236}">
                <a16:creationId xmlns:a16="http://schemas.microsoft.com/office/drawing/2014/main" id="{9E4A6689-32B5-4A6A-9D42-D04AE713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Continuity</a:t>
            </a:r>
          </a:p>
        </p:txBody>
      </p:sp>
      <p:sp>
        <p:nvSpPr>
          <p:cNvPr id="10" name="concept-4-explanation">
            <a:extLst xmlns:a="http://schemas.openxmlformats.org/drawingml/2006/main">
              <a:ext uri="{FF2B5EF4-FFF2-40B4-BE49-F238E27FC236}">
                <a16:creationId xmlns:a16="http://schemas.microsoft.com/office/drawing/2014/main" id="{94481087-BAB8-44E0-AFC2-CB0412A1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Document accurately and communicate unresolved needs so the next caregiver can continue safely.</a:t>
            </a:r>
          </a:p>
        </p:txBody>
      </p:sp>
    </p:spTree>
    <p:extLst>
      <p:ext uri="{BB962C8B-B14F-4D97-AF65-F5344CB8AC3E}">
        <p14:creationId xmlns:p14="http://schemas.microsoft.com/office/powerpoint/2010/main" val="1674032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BEF14316-D29D-46E6-ACC4-A5E0763F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Put the chapter into safe practical nursing care</a:t>
            </a:r>
          </a:p>
        </p:txBody>
      </p:sp>
      <p:sp>
        <p:nvSpPr>
          <p:cNvPr id="2" name="practice-lead">
            <a:extLst xmlns:a="http://schemas.openxmlformats.org/drawingml/2006/main">
              <a:ext uri="{FF2B5EF4-FFF2-40B4-BE49-F238E27FC236}">
                <a16:creationId xmlns:a16="http://schemas.microsoft.com/office/drawing/2014/main" id="{C71A882C-D617-4341-95F7-BFCBD1B4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Transitions are safe only when essential information travels with the patient.</a:t>
            </a:r>
          </a:p>
        </p:txBody>
      </p:sp>
      <p:sp>
        <p:nvSpPr>
          <p:cNvPr id="3" name="practice-body">
            <a:extLst xmlns:a="http://schemas.openxmlformats.org/drawingml/2006/main">
              <a:ext uri="{FF2B5EF4-FFF2-40B4-BE49-F238E27FC236}">
                <a16:creationId xmlns:a16="http://schemas.microsoft.com/office/drawing/2014/main" id="{B696F77F-091C-4B7A-8257-D029AFA5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Confirm identity and destination, protect belongings and equipment, and give a focused handoff. Before discharge, reinforce the plan and use teach-back to identify misunderstandings.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5C3818A-B61F-4218-8753-7CD44F76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check-1">
            <a:extLst xmlns:a="http://schemas.openxmlformats.org/drawingml/2006/main">
              <a:ext uri="{FF2B5EF4-FFF2-40B4-BE49-F238E27FC236}">
                <a16:creationId xmlns:a16="http://schemas.microsoft.com/office/drawing/2014/main" id="{85F9CCA3-F2F4-47C3-93A2-B420CE69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29998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6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1F992733-1FA8-4B10-816D-1E3B7702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Verify patient and destination</a:t>
            </a:r>
          </a:p>
        </p:txBody>
      </p:sp>
      <p:sp>
        <p:nvSpPr>
          <p:cNvPr id="7" name="check-2">
            <a:extLst xmlns:a="http://schemas.openxmlformats.org/drawingml/2006/main">
              <a:ext uri="{FF2B5EF4-FFF2-40B4-BE49-F238E27FC236}">
                <a16:creationId xmlns:a16="http://schemas.microsoft.com/office/drawing/2014/main" id="{6B4CA984-81EF-402E-AE58-75C45E20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094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8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80E15CE4-91F4-4F5F-9624-103CB173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Protect belongings and equipment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E87AC100-911E-4E95-8F9A-D518FD3D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24338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0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6BD8903D-6984-4D78-AF05-F9FEBAD4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Give a focused handoff</a:t>
            </a:r>
          </a:p>
        </p:txBody>
      </p:sp>
      <p:sp>
        <p:nvSpPr>
          <p:cNvPr id="11" name="check-4">
            <a:extLst xmlns:a="http://schemas.openxmlformats.org/drawingml/2006/main">
              <a:ext uri="{FF2B5EF4-FFF2-40B4-BE49-F238E27FC236}">
                <a16:creationId xmlns:a16="http://schemas.microsoft.com/office/drawing/2014/main" id="{31E7E27A-F7B0-43D9-8EB9-A8C428D9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33842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2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A9CAA6D3-C376-4533-94E0-F313A20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Reinforce the care plan</a:t>
            </a:r>
          </a:p>
        </p:txBody>
      </p:sp>
      <p:sp>
        <p:nvSpPr>
          <p:cNvPr id="13" name="check-5">
            <a:extLst xmlns:a="http://schemas.openxmlformats.org/drawingml/2006/main">
              <a:ext uri="{FF2B5EF4-FFF2-40B4-BE49-F238E27FC236}">
                <a16:creationId xmlns:a16="http://schemas.microsoft.com/office/drawing/2014/main" id="{58363C12-7B58-4529-B913-3667EB62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56206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4" name="check-label-5">
            <a:extLst xmlns:a="http://schemas.openxmlformats.org/drawingml/2006/main">
              <a:ext uri="{FF2B5EF4-FFF2-40B4-BE49-F238E27FC236}">
                <a16:creationId xmlns:a16="http://schemas.microsoft.com/office/drawing/2014/main" id="{0134653F-7933-4974-AAAD-87D143C3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Confirm with teach-back</a:t>
            </a:r>
          </a:p>
        </p:txBody>
      </p:sp>
    </p:spTree>
    <p:extLst>
      <p:ext uri="{BB962C8B-B14F-4D97-AF65-F5344CB8AC3E}">
        <p14:creationId xmlns:p14="http://schemas.microsoft.com/office/powerpoint/2010/main" val="18359086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4BF0C92A-1F7A-400C-B579-1AE6E841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 →  ACT  →  REPORT</a:t>
            </a:r>
          </a:p>
        </p:txBody>
      </p:sp>
      <p:sp>
        <p:nvSpPr>
          <p:cNvPr id="2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AECE4D67-65A2-4128-9579-D2F799BB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Verify the move.
Transfer the facts.
Confirm the plan.</a:t>
            </a:r>
          </a:p>
        </p:txBody>
      </p:sp>
      <p:sp>
        <p:nvSpPr>
          <p:cNvPr id="3" name="closing-prompt">
            <a:extLst xmlns:a="http://schemas.openxmlformats.org/drawingml/2006/main">
              <a:ext uri="{FF2B5EF4-FFF2-40B4-BE49-F238E27FC236}">
                <a16:creationId xmlns:a16="http://schemas.microsoft.com/office/drawing/2014/main" id="{2F2F055B-0DEE-4E79-B325-B3D3DA62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8572500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Before moving on, explain the cue, your immediate action within scope, and the facts you would report.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E9AB2D6-76DF-427F-AD77-030A42DA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367549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2026-07-30T05:24:55.1210000Z</dcterms:created>
  <dcterms:modified xsi:type="dcterms:W3CDTF">2026-07-30T05:24:55.1210000Z</dcterms:modified>
</coreProperties>
</file>