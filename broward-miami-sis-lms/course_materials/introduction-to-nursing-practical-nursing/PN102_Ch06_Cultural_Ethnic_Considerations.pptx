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f8a02f757141cf" /><Relationship Type="http://schemas.openxmlformats.org/officeDocument/2006/relationships/extended-properties" Target="/docProps/app.xml" Id="R8e24c5038415423c" /><Relationship Type="http://schemas.openxmlformats.org/officeDocument/2006/relationships/officeDocument" Target="/ppt/presentation.xml" Id="R2df7fa919da142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e5588053f7454f"/>
  </p:sldMasterIdLst>
  <p:notesMasterIdLst>
    <p:notesMasterId xmlns:r="http://schemas.openxmlformats.org/officeDocument/2006/relationships" r:id="R9126d9e2830b478a"/>
  </p:notesMasterIdLst>
  <p:sldIdLst>
    <p:sldId xmlns:r="http://schemas.openxmlformats.org/officeDocument/2006/relationships" id="256" r:id="Rcd0dcae6a2b94635"/>
    <p:sldId xmlns:r="http://schemas.openxmlformats.org/officeDocument/2006/relationships" id="257" r:id="R4829138958884b91"/>
    <p:sldId xmlns:r="http://schemas.openxmlformats.org/officeDocument/2006/relationships" id="258" r:id="Rfaa71d24aaf64700"/>
    <p:sldId xmlns:r="http://schemas.openxmlformats.org/officeDocument/2006/relationships" id="259" r:id="R6f6ac0143ff946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a33aa102f94253" /><Relationship Type="http://schemas.openxmlformats.org/officeDocument/2006/relationships/slideMaster" Target="/ppt/slideMasters/slideMaster1.xml" Id="Re4e5588053f7454f" /><Relationship Type="http://schemas.openxmlformats.org/officeDocument/2006/relationships/notesMaster" Target="/ppt/notesMasters/notesMaster1.xml" Id="R9126d9e2830b478a" /><Relationship Type="http://schemas.openxmlformats.org/officeDocument/2006/relationships/presProps" Target="/ppt/presProps.xml" Id="R395212e98b624253" /><Relationship Type="http://schemas.openxmlformats.org/officeDocument/2006/relationships/tableStyles" Target="/ppt/tableStyles.xml" Id="R03b118dc61834d9b" /><Relationship Type="http://schemas.openxmlformats.org/officeDocument/2006/relationships/slide" Target="/ppt/slides/slide1.xml" Id="Rcd0dcae6a2b94635" /><Relationship Type="http://schemas.openxmlformats.org/officeDocument/2006/relationships/slide" Target="/ppt/slides/slide2.xml" Id="R4829138958884b91" /><Relationship Type="http://schemas.openxmlformats.org/officeDocument/2006/relationships/slide" Target="/ppt/slides/slide3.xml" Id="Rfaa71d24aaf64700" /><Relationship Type="http://schemas.openxmlformats.org/officeDocument/2006/relationships/slide" Target="/ppt/slides/slide4.xml" Id="R6f6ac0143ff946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588b4246fa49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63f9d98cbc40b2" /><Relationship Type="http://schemas.openxmlformats.org/officeDocument/2006/relationships/notesMaster" Target="/ppt/notesMasters/notesMaster1.xml" Id="R20593032fc194d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da0eef49f94037" /><Relationship Type="http://schemas.openxmlformats.org/officeDocument/2006/relationships/notesMaster" Target="/ppt/notesMasters/notesMaster1.xml" Id="Rbff6f58cb6a648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45107565514e0a" /><Relationship Type="http://schemas.openxmlformats.org/officeDocument/2006/relationships/notesMaster" Target="/ppt/notesMasters/notesMaster1.xml" Id="Rc8d2cacbab474c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1be10841624032" /><Relationship Type="http://schemas.openxmlformats.org/officeDocument/2006/relationships/notesMaster" Target="/ppt/notesMasters/notesMaster1.xml" Id="R51152ea1ef1c47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chapter and connect it to the assigned textbook reading.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src/introNursingBuildout.js — Chapter 6 extendedWeekChapters and readingFocusExplanations (local course source; accessed 2026-07-30).</a:t>
            </a:r>
          </a:p>
          <a:p xmlns:a="http://schemas.openxmlformats.org/drawingml/2006/main">
            <a:r>
              <a:t>- Cooper, K., &amp; Gosnell, K. (2023). Foundations of Nursing (9th ed.), Chapter 6, pp. 97–116 (course-assigned textbook).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how the four reading-focus concepts fit together before applying them to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src/introNursingBuildout.js — Chapter 6 extendedWeekChapters and readingFocusExplanations (local course source; accessed 2026-07-30).</a:t>
            </a:r>
          </a:p>
          <a:p xmlns:a="http://schemas.openxmlformats.org/drawingml/2006/main">
            <a:r>
              <a:t>- Cooper, K., &amp; Gosnell, K. (2023). Foundations of Nursing (9th ed.), Chapter 6, pp. 97–116 (course-assigned textbook).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chapter concepts to the practical nurse’s observation, action, documentation, and reporting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src/introNursingBuildout.js — Chapter 6 extendedWeekChapters and readingFocusExplanations (local course source; accessed 2026-07-30).</a:t>
            </a:r>
          </a:p>
          <a:p xmlns:a="http://schemas.openxmlformats.org/drawingml/2006/main">
            <a:r>
              <a:t>- Cooper, K., &amp; Gosnell, K. (2023). Foundations of Nursing (9th ed.), Chapter 6, pp. 97–116 (course-assigned textbook).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recall-and-application prompt: recognize the cue, act safely within scope, and report exact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src/introNursingBuildout.js — Chapter 6 extendedWeekChapters and readingFocusExplanations (local course source; accessed 2026-07-30).</a:t>
            </a:r>
          </a:p>
          <a:p xmlns:a="http://schemas.openxmlformats.org/drawingml/2006/main">
            <a:r>
              <a:t>- Cooper, K., &amp; Gosnell, K. (2023). Foundations of Nursing (9th ed.), Chapter 6, pp. 97–116 (course-assigned textbook).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2c28bc23d42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acf36102f84e6f" /><Relationship Type="http://schemas.openxmlformats.org/officeDocument/2006/relationships/slideLayout" Target="/ppt/slideLayouts/slideLayout1.xml" Id="R9f7d7a2900dd42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7d7a2900dd42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8332159fe487d" /><Relationship Type="http://schemas.openxmlformats.org/officeDocument/2006/relationships/notesSlide" Target="/ppt/notesSlides/notesSlide1.xml" Id="Re7198d6e53e040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82ff4b2bf43f7" /><Relationship Type="http://schemas.openxmlformats.org/officeDocument/2006/relationships/notesSlide" Target="/ppt/notesSlides/notesSlide2.xml" Id="R922922a1fcee47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5b1b8f907463b" /><Relationship Type="http://schemas.openxmlformats.org/officeDocument/2006/relationships/notesSlide" Target="/ppt/notesSlides/notesSlide3.xml" Id="R8f4c74ee5e3b4e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bfc548e184126" /><Relationship Type="http://schemas.openxmlformats.org/officeDocument/2006/relationships/notesSlide" Target="/ppt/notesSlides/notesSlide4.xml" Id="Rfe2e32e7df3749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urse-eyebrow">
            <a:extLst xmlns:a="http://schemas.openxmlformats.org/drawingml/2006/main">
              <a:ext uri="{FF2B5EF4-FFF2-40B4-BE49-F238E27FC236}">
                <a16:creationId xmlns:a16="http://schemas.microsoft.com/office/drawing/2014/main" id="{981B586A-410B-466E-9EC9-5C73D1DA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858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BROWARD–MIAMI HEALTH INSTITUTE</a:t>
            </a:r>
          </a:p>
        </p:txBody>
      </p:sp>
      <p:sp>
        <p:nvSpPr>
          <p:cNvPr id="2" name="chapter-title">
            <a:extLst xmlns:a="http://schemas.openxmlformats.org/drawingml/2006/main">
              <a:ext uri="{FF2B5EF4-FFF2-40B4-BE49-F238E27FC236}">
                <a16:creationId xmlns:a16="http://schemas.microsoft.com/office/drawing/2014/main" id="{1CF9A148-55FA-44A9-9BF7-C0859E5C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0125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Cultural and Ethnic Considerations</a:t>
            </a:r>
          </a:p>
        </p:txBody>
      </p:sp>
      <p:sp>
        <p:nvSpPr>
          <p:cNvPr id="3" name="chapter-subtitle">
            <a:extLst xmlns:a="http://schemas.openxmlformats.org/drawingml/2006/main">
              <a:ext uri="{FF2B5EF4-FFF2-40B4-BE49-F238E27FC236}">
                <a16:creationId xmlns:a16="http://schemas.microsoft.com/office/drawing/2014/main" id="{17E66007-67E1-4C9C-B1A1-28C3AEFF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9525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PN 102  •  Chapter 6  •  Foundations of Nursing, 9th ed.  •  pp. 97–116</a:t>
            </a:r>
          </a:p>
        </p:txBody>
      </p:sp>
    </p:spTree>
    <p:extLst>
      <p:ext uri="{BB962C8B-B14F-4D97-AF65-F5344CB8AC3E}">
        <p14:creationId xmlns:p14="http://schemas.microsoft.com/office/powerpoint/2010/main" val="110320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C450ADA5-2072-4BE6-A3C0-8EB3ED28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Chapter 6: four ideas to connect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FD14166-AC46-40AD-A35D-8133FC84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3" name="concept-1-title">
            <a:extLst xmlns:a="http://schemas.openxmlformats.org/drawingml/2006/main">
              <a:ext uri="{FF2B5EF4-FFF2-40B4-BE49-F238E27FC236}">
                <a16:creationId xmlns:a16="http://schemas.microsoft.com/office/drawing/2014/main" id="{9AF5AEDF-8A86-466C-8375-67B063B5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Health beliefs</a:t>
            </a:r>
          </a:p>
        </p:txBody>
      </p:sp>
      <p:sp>
        <p:nvSpPr>
          <p:cNvPr id="4" name="concept-1-explanation">
            <a:extLst xmlns:a="http://schemas.openxmlformats.org/drawingml/2006/main">
              <a:ext uri="{FF2B5EF4-FFF2-40B4-BE49-F238E27FC236}">
                <a16:creationId xmlns:a16="http://schemas.microsoft.com/office/drawing/2014/main" id="{46C0DA3D-FCDB-452B-AD22-8C32D580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Explore how background and experience may shape practices, decisions, communication, and trust.</a:t>
            </a:r>
          </a:p>
        </p:txBody>
      </p:sp>
      <p:sp>
        <p:nvSpPr>
          <p:cNvPr id="5" name="concept-2-title">
            <a:extLst xmlns:a="http://schemas.openxmlformats.org/drawingml/2006/main">
              <a:ext uri="{FF2B5EF4-FFF2-40B4-BE49-F238E27FC236}">
                <a16:creationId xmlns:a16="http://schemas.microsoft.com/office/drawing/2014/main" id="{113D08FF-B511-463C-BFFE-5E5F9411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Cultural humility</a:t>
            </a:r>
          </a:p>
        </p:txBody>
      </p:sp>
      <p:sp>
        <p:nvSpPr>
          <p:cNvPr id="6" name="concept-2-explanation">
            <a:extLst xmlns:a="http://schemas.openxmlformats.org/drawingml/2006/main">
              <a:ext uri="{FF2B5EF4-FFF2-40B4-BE49-F238E27FC236}">
                <a16:creationId xmlns:a16="http://schemas.microsoft.com/office/drawing/2014/main" id="{F572367E-0AB6-42EA-ADD8-4FFB88D0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Use self-awareness and respectful questions instead of assumptions about a group.</a:t>
            </a:r>
          </a:p>
        </p:txBody>
      </p:sp>
      <p:sp>
        <p:nvSpPr>
          <p:cNvPr id="7" name="concept-3-title">
            <a:extLst xmlns:a="http://schemas.openxmlformats.org/drawingml/2006/main">
              <a:ext uri="{FF2B5EF4-FFF2-40B4-BE49-F238E27FC236}">
                <a16:creationId xmlns:a16="http://schemas.microsoft.com/office/drawing/2014/main" id="{64B1A6ED-9172-45D4-A171-8A33F917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Language access</a:t>
            </a:r>
          </a:p>
        </p:txBody>
      </p:sp>
      <p:sp>
        <p:nvSpPr>
          <p:cNvPr id="8" name="concept-3-explanation">
            <a:extLst xmlns:a="http://schemas.openxmlformats.org/drawingml/2006/main">
              <a:ext uri="{FF2B5EF4-FFF2-40B4-BE49-F238E27FC236}">
                <a16:creationId xmlns:a16="http://schemas.microsoft.com/office/drawing/2014/main" id="{E1B5C440-72D4-4F9C-B482-7D311A19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Use qualified interpreters, plain language, and teach-back to support participation.</a:t>
            </a:r>
          </a:p>
        </p:txBody>
      </p:sp>
      <p:sp>
        <p:nvSpPr>
          <p:cNvPr id="9" name="concept-4-title">
            <a:extLst xmlns:a="http://schemas.openxmlformats.org/drawingml/2006/main">
              <a:ext uri="{FF2B5EF4-FFF2-40B4-BE49-F238E27FC236}">
                <a16:creationId xmlns:a16="http://schemas.microsoft.com/office/drawing/2014/main" id="{119012E1-ACEA-4BC2-94D1-7A34EDE1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Individualized care</a:t>
            </a:r>
          </a:p>
        </p:txBody>
      </p:sp>
      <p:sp>
        <p:nvSpPr>
          <p:cNvPr id="10" name="concept-4-explanation">
            <a:extLst xmlns:a="http://schemas.openxmlformats.org/drawingml/2006/main">
              <a:ext uri="{FF2B5EF4-FFF2-40B4-BE49-F238E27FC236}">
                <a16:creationId xmlns:a16="http://schemas.microsoft.com/office/drawing/2014/main" id="{EFF36157-3804-4277-9A53-922299B7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Adapt care safely, protect dignity, and include patient preferences and support persons.</a:t>
            </a:r>
          </a:p>
        </p:txBody>
      </p:sp>
    </p:spTree>
    <p:extLst>
      <p:ext uri="{BB962C8B-B14F-4D97-AF65-F5344CB8AC3E}">
        <p14:creationId xmlns:p14="http://schemas.microsoft.com/office/powerpoint/2010/main" val="508801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744E792D-E9A2-44FF-B653-81CBD7DB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Put the chapter into safe practical nursing care</a:t>
            </a:r>
          </a:p>
        </p:txBody>
      </p:sp>
      <p:sp>
        <p:nvSpPr>
          <p:cNvPr id="2" name="practice-lead">
            <a:extLst xmlns:a="http://schemas.openxmlformats.org/drawingml/2006/main">
              <a:ext uri="{FF2B5EF4-FFF2-40B4-BE49-F238E27FC236}">
                <a16:creationId xmlns:a16="http://schemas.microsoft.com/office/drawing/2014/main" id="{C90B285F-477B-4102-823D-C7B03354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Respectful care starts with curiosity—not assumptions.</a:t>
            </a:r>
          </a:p>
        </p:txBody>
      </p:sp>
      <p:sp>
        <p:nvSpPr>
          <p:cNvPr id="3" name="practice-body">
            <a:extLst xmlns:a="http://schemas.openxmlformats.org/drawingml/2006/main">
              <a:ext uri="{FF2B5EF4-FFF2-40B4-BE49-F238E27FC236}">
                <a16:creationId xmlns:a16="http://schemas.microsoft.com/office/drawing/2014/main" id="{38F7C22E-8A42-4009-95A3-EB037210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Ask what matters to the individual patient, explain before touching, and protect privacy and dignity. Use qualified language assistance and work with the team to adapt care safely.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790EB32-6E6A-4613-9C58-B1CD39AB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check-1">
            <a:extLst xmlns:a="http://schemas.openxmlformats.org/drawingml/2006/main">
              <a:ext uri="{FF2B5EF4-FFF2-40B4-BE49-F238E27FC236}">
                <a16:creationId xmlns:a16="http://schemas.microsoft.com/office/drawing/2014/main" id="{E537A137-5146-4CB4-936F-83C9BEF6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2999804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6" name="check-label-1">
            <a:extLst xmlns:a="http://schemas.openxmlformats.org/drawingml/2006/main">
              <a:ext uri="{FF2B5EF4-FFF2-40B4-BE49-F238E27FC236}">
                <a16:creationId xmlns:a16="http://schemas.microsoft.com/office/drawing/2014/main" id="{F47817F8-A762-45F0-B99B-AE460C73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Ask about preferences</a:t>
            </a:r>
          </a:p>
        </p:txBody>
      </p:sp>
      <p:sp>
        <p:nvSpPr>
          <p:cNvPr id="7" name="check-2">
            <a:extLst xmlns:a="http://schemas.openxmlformats.org/drawingml/2006/main">
              <a:ext uri="{FF2B5EF4-FFF2-40B4-BE49-F238E27FC236}">
                <a16:creationId xmlns:a16="http://schemas.microsoft.com/office/drawing/2014/main" id="{845CD222-D839-4BEF-ACE4-1532A7EA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09404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8" name="check-label-2">
            <a:extLst xmlns:a="http://schemas.openxmlformats.org/drawingml/2006/main">
              <a:ext uri="{FF2B5EF4-FFF2-40B4-BE49-F238E27FC236}">
                <a16:creationId xmlns:a16="http://schemas.microsoft.com/office/drawing/2014/main" id="{434B5DAF-19D0-40EB-ADB1-6A73FFEC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Examine your assumptions</a:t>
            </a:r>
          </a:p>
        </p:txBody>
      </p:sp>
      <p:sp>
        <p:nvSpPr>
          <p:cNvPr id="9" name="check-3">
            <a:extLst xmlns:a="http://schemas.openxmlformats.org/drawingml/2006/main">
              <a:ext uri="{FF2B5EF4-FFF2-40B4-BE49-F238E27FC236}">
                <a16:creationId xmlns:a16="http://schemas.microsoft.com/office/drawing/2014/main" id="{30472D99-CB4F-4ADC-A93C-0897EBC3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24338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0" name="check-label-3">
            <a:extLst xmlns:a="http://schemas.openxmlformats.org/drawingml/2006/main">
              <a:ext uri="{FF2B5EF4-FFF2-40B4-BE49-F238E27FC236}">
                <a16:creationId xmlns:a16="http://schemas.microsoft.com/office/drawing/2014/main" id="{3C49A477-135C-44EC-AD08-5F5600ED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Use a qualified interpreter</a:t>
            </a:r>
          </a:p>
        </p:txBody>
      </p:sp>
      <p:sp>
        <p:nvSpPr>
          <p:cNvPr id="11" name="check-4">
            <a:extLst xmlns:a="http://schemas.openxmlformats.org/drawingml/2006/main">
              <a:ext uri="{FF2B5EF4-FFF2-40B4-BE49-F238E27FC236}">
                <a16:creationId xmlns:a16="http://schemas.microsoft.com/office/drawing/2014/main" id="{3C155026-FCA7-4C9A-B480-77B975EF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33842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2" name="check-label-4">
            <a:extLst xmlns:a="http://schemas.openxmlformats.org/drawingml/2006/main">
              <a:ext uri="{FF2B5EF4-FFF2-40B4-BE49-F238E27FC236}">
                <a16:creationId xmlns:a16="http://schemas.microsoft.com/office/drawing/2014/main" id="{486C0613-0E08-48E5-8605-D1EA8C17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Protect dignity and privacy</a:t>
            </a:r>
          </a:p>
        </p:txBody>
      </p:sp>
      <p:sp>
        <p:nvSpPr>
          <p:cNvPr id="13" name="check-5">
            <a:extLst xmlns:a="http://schemas.openxmlformats.org/drawingml/2006/main">
              <a:ext uri="{FF2B5EF4-FFF2-40B4-BE49-F238E27FC236}">
                <a16:creationId xmlns:a16="http://schemas.microsoft.com/office/drawing/2014/main" id="{498E35E5-4F05-438E-B786-6379AA88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56206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4" name="check-label-5">
            <a:extLst xmlns:a="http://schemas.openxmlformats.org/drawingml/2006/main">
              <a:ext uri="{FF2B5EF4-FFF2-40B4-BE49-F238E27FC236}">
                <a16:creationId xmlns:a16="http://schemas.microsoft.com/office/drawing/2014/main" id="{160E4428-0AA1-4B1D-A67B-427D02F7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understanding</a:t>
            </a:r>
          </a:p>
        </p:txBody>
      </p:sp>
    </p:spTree>
    <p:extLst>
      <p:ext uri="{BB962C8B-B14F-4D97-AF65-F5344CB8AC3E}">
        <p14:creationId xmlns:p14="http://schemas.microsoft.com/office/powerpoint/2010/main" val="1037507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28E804E3-4B7C-4A82-ACCE-6722D927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RECOGNIZE  →  ACT  →  REPORT</a:t>
            </a:r>
          </a:p>
        </p:txBody>
      </p:sp>
      <p:sp>
        <p:nvSpPr>
          <p:cNvPr id="2" name="closing-message">
            <a:extLst xmlns:a="http://schemas.openxmlformats.org/drawingml/2006/main">
              <a:ext uri="{FF2B5EF4-FFF2-40B4-BE49-F238E27FC236}">
                <a16:creationId xmlns:a16="http://schemas.microsoft.com/office/drawing/2014/main" id="{A343A427-C289-4A81-A98E-E2931A1B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0125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Ask with respect.
Adapt the care.
Confirm the plan.</a:t>
            </a:r>
          </a:p>
        </p:txBody>
      </p:sp>
      <p:sp>
        <p:nvSpPr>
          <p:cNvPr id="3" name="closing-prompt">
            <a:extLst xmlns:a="http://schemas.openxmlformats.org/drawingml/2006/main">
              <a:ext uri="{FF2B5EF4-FFF2-40B4-BE49-F238E27FC236}">
                <a16:creationId xmlns:a16="http://schemas.microsoft.com/office/drawing/2014/main" id="{7BB0DB06-3CA5-4994-8AA7-C2AB2C8E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85725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Before moving on, explain the cue, your immediate action within scope, and the facts you would report.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BA5801A-E643-4B8D-8C8E-4390666C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26854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2026-07-30T05:24:53.7740000Z</dcterms:created>
  <dcterms:modified xsi:type="dcterms:W3CDTF">2026-07-30T05:24:53.7740000Z</dcterms:modified>
</coreProperties>
</file>