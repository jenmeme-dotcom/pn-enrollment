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14"/>
  </p:notesMasterIdLst>
  <p:handoutMasterIdLst>
    <p:handoutMasterId r:id="rId15"/>
  </p:handoutMasterIdLst>
  <p:sldIdLst>
    <p:sldId id="454" r:id="rId3"/>
    <p:sldId id="372" r:id="rId4"/>
    <p:sldId id="455" r:id="rId5"/>
    <p:sldId id="463" r:id="rId6"/>
    <p:sldId id="456" r:id="rId7"/>
    <p:sldId id="457" r:id="rId8"/>
    <p:sldId id="458" r:id="rId9"/>
    <p:sldId id="459" r:id="rId10"/>
    <p:sldId id="460" r:id="rId11"/>
    <p:sldId id="461" r:id="rId12"/>
    <p:sldId id="462" r:id="rId1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FE6C67-62EE-268A-CBD2-DB0A48039908}" v="290" dt="2021-12-27T18:04:57.7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68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122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5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3CFE6C67-62EE-268A-CBD2-DB0A48039908}"/>
    <pc:docChg chg="addSld modSld">
      <pc:chgData name="Daya Spindler" userId="S::daya.spindler@g.austincc.edu::d47267c9-b69c-4d84-8d8d-9eb6067b7650" providerId="AD" clId="Web-{3CFE6C67-62EE-268A-CBD2-DB0A48039908}" dt="2021-12-27T18:04:57.757" v="301"/>
      <pc:docMkLst>
        <pc:docMk/>
      </pc:docMkLst>
      <pc:sldChg chg="addSp delSp modSp">
        <pc:chgData name="Daya Spindler" userId="S::daya.spindler@g.austincc.edu::d47267c9-b69c-4d84-8d8d-9eb6067b7650" providerId="AD" clId="Web-{3CFE6C67-62EE-268A-CBD2-DB0A48039908}" dt="2021-12-27T18:04:39.741" v="292"/>
        <pc:sldMkLst>
          <pc:docMk/>
          <pc:sldMk cId="0" sldId="372"/>
        </pc:sldMkLst>
        <pc:spChg chg="add del">
          <ac:chgData name="Daya Spindler" userId="S::daya.spindler@g.austincc.edu::d47267c9-b69c-4d84-8d8d-9eb6067b7650" providerId="AD" clId="Web-{3CFE6C67-62EE-268A-CBD2-DB0A48039908}" dt="2021-12-27T17:37:46.564" v="5"/>
          <ac:spMkLst>
            <pc:docMk/>
            <pc:sldMk cId="0" sldId="372"/>
            <ac:spMk id="2" creationId="{5AD1AE70-3F55-4640-A756-6F388148D372}"/>
          </ac:spMkLst>
        </pc:spChg>
        <pc:spChg chg="mod ord">
          <ac:chgData name="Daya Spindler" userId="S::daya.spindler@g.austincc.edu::d47267c9-b69c-4d84-8d8d-9eb6067b7650" providerId="AD" clId="Web-{3CFE6C67-62EE-268A-CBD2-DB0A48039908}" dt="2021-12-27T18:04:39.741" v="292"/>
          <ac:spMkLst>
            <pc:docMk/>
            <pc:sldMk cId="0" sldId="372"/>
            <ac:spMk id="7" creationId="{02598B23-8599-4380-8CAC-73D86CAD3A51}"/>
          </ac:spMkLst>
        </pc:spChg>
        <pc:spChg chg="mod">
          <ac:chgData name="Daya Spindler" userId="S::daya.spindler@g.austincc.edu::d47267c9-b69c-4d84-8d8d-9eb6067b7650" providerId="AD" clId="Web-{3CFE6C67-62EE-268A-CBD2-DB0A48039908}" dt="2021-12-27T17:38:56.269" v="42" actId="20577"/>
          <ac:spMkLst>
            <pc:docMk/>
            <pc:sldMk cId="0" sldId="372"/>
            <ac:spMk id="1963015" creationId="{00000000-0000-0000-0000-000000000000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7:37:03.735" v="1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3CFE6C67-62EE-268A-CBD2-DB0A48039908}" dt="2021-12-27T17:37:03.735" v="1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41.741" v="293"/>
        <pc:sldMkLst>
          <pc:docMk/>
          <pc:sldMk cId="4169384686" sldId="455"/>
        </pc:sldMkLst>
        <pc:spChg chg="mod ord">
          <ac:chgData name="Daya Spindler" userId="S::daya.spindler@g.austincc.edu::d47267c9-b69c-4d84-8d8d-9eb6067b7650" providerId="AD" clId="Web-{3CFE6C67-62EE-268A-CBD2-DB0A48039908}" dt="2021-12-27T18:04:41.741" v="293"/>
          <ac:spMkLst>
            <pc:docMk/>
            <pc:sldMk cId="4169384686" sldId="455"/>
            <ac:spMk id="5" creationId="{D151356A-F2DB-4496-B795-E2C36A8B6C91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45.506" v="295"/>
        <pc:sldMkLst>
          <pc:docMk/>
          <pc:sldMk cId="1306587778" sldId="456"/>
        </pc:sldMkLst>
        <pc:spChg chg="mod ord">
          <ac:chgData name="Daya Spindler" userId="S::daya.spindler@g.austincc.edu::d47267c9-b69c-4d84-8d8d-9eb6067b7650" providerId="AD" clId="Web-{3CFE6C67-62EE-268A-CBD2-DB0A48039908}" dt="2021-12-27T18:04:45.506" v="295"/>
          <ac:spMkLst>
            <pc:docMk/>
            <pc:sldMk cId="1306587778" sldId="456"/>
            <ac:spMk id="5" creationId="{419BE848-A242-4F5B-9B59-5178AFBD4744}"/>
          </ac:spMkLst>
        </pc:spChg>
      </pc:sldChg>
      <pc:sldChg chg="addSp delSp modSp">
        <pc:chgData name="Daya Spindler" userId="S::daya.spindler@g.austincc.edu::d47267c9-b69c-4d84-8d8d-9eb6067b7650" providerId="AD" clId="Web-{3CFE6C67-62EE-268A-CBD2-DB0A48039908}" dt="2021-12-27T18:04:47.225" v="296"/>
        <pc:sldMkLst>
          <pc:docMk/>
          <pc:sldMk cId="2941451878" sldId="457"/>
        </pc:sldMkLst>
        <pc:spChg chg="mod">
          <ac:chgData name="Daya Spindler" userId="S::daya.spindler@g.austincc.edu::d47267c9-b69c-4d84-8d8d-9eb6067b7650" providerId="AD" clId="Web-{3CFE6C67-62EE-268A-CBD2-DB0A48039908}" dt="2021-12-27T17:54:33.336" v="258" actId="20577"/>
          <ac:spMkLst>
            <pc:docMk/>
            <pc:sldMk cId="2941451878" sldId="457"/>
            <ac:spMk id="3" creationId="{9E0091F3-8340-4C80-8819-553CAA11A466}"/>
          </ac:spMkLst>
        </pc:spChg>
        <pc:spChg chg="mod ord">
          <ac:chgData name="Daya Spindler" userId="S::daya.spindler@g.austincc.edu::d47267c9-b69c-4d84-8d8d-9eb6067b7650" providerId="AD" clId="Web-{3CFE6C67-62EE-268A-CBD2-DB0A48039908}" dt="2021-12-27T18:04:47.225" v="296"/>
          <ac:spMkLst>
            <pc:docMk/>
            <pc:sldMk cId="2941451878" sldId="457"/>
            <ac:spMk id="5" creationId="{F01477E3-74B7-4503-A42F-4A2034697281}"/>
          </ac:spMkLst>
        </pc:spChg>
        <pc:spChg chg="add del">
          <ac:chgData name="Daya Spindler" userId="S::daya.spindler@g.austincc.edu::d47267c9-b69c-4d84-8d8d-9eb6067b7650" providerId="AD" clId="Web-{3CFE6C67-62EE-268A-CBD2-DB0A48039908}" dt="2021-12-27T17:47:55.437" v="138"/>
          <ac:spMkLst>
            <pc:docMk/>
            <pc:sldMk cId="2941451878" sldId="457"/>
            <ac:spMk id="6" creationId="{B922B921-75CD-40E6-A842-63733ADE311A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49.163" v="297"/>
        <pc:sldMkLst>
          <pc:docMk/>
          <pc:sldMk cId="4080677647" sldId="458"/>
        </pc:sldMkLst>
        <pc:spChg chg="mod">
          <ac:chgData name="Daya Spindler" userId="S::daya.spindler@g.austincc.edu::d47267c9-b69c-4d84-8d8d-9eb6067b7650" providerId="AD" clId="Web-{3CFE6C67-62EE-268A-CBD2-DB0A48039908}" dt="2021-12-27T17:55:49.401" v="260" actId="20577"/>
          <ac:spMkLst>
            <pc:docMk/>
            <pc:sldMk cId="4080677647" sldId="458"/>
            <ac:spMk id="3" creationId="{20AD6299-9299-4B2C-BECE-BB5FB3BFA53A}"/>
          </ac:spMkLst>
        </pc:spChg>
        <pc:spChg chg="mod ord">
          <ac:chgData name="Daya Spindler" userId="S::daya.spindler@g.austincc.edu::d47267c9-b69c-4d84-8d8d-9eb6067b7650" providerId="AD" clId="Web-{3CFE6C67-62EE-268A-CBD2-DB0A48039908}" dt="2021-12-27T18:04:49.163" v="297"/>
          <ac:spMkLst>
            <pc:docMk/>
            <pc:sldMk cId="4080677647" sldId="458"/>
            <ac:spMk id="5" creationId="{1DD34A7D-906D-44AC-8E24-7BE803C4D73B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50.631" v="298"/>
        <pc:sldMkLst>
          <pc:docMk/>
          <pc:sldMk cId="1073023940" sldId="459"/>
        </pc:sldMkLst>
        <pc:spChg chg="mod ord">
          <ac:chgData name="Daya Spindler" userId="S::daya.spindler@g.austincc.edu::d47267c9-b69c-4d84-8d8d-9eb6067b7650" providerId="AD" clId="Web-{3CFE6C67-62EE-268A-CBD2-DB0A48039908}" dt="2021-12-27T18:04:50.631" v="298"/>
          <ac:spMkLst>
            <pc:docMk/>
            <pc:sldMk cId="1073023940" sldId="459"/>
            <ac:spMk id="5" creationId="{4A2BD16A-9C21-496D-9C76-6CC62A4A420E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52.022" v="299"/>
        <pc:sldMkLst>
          <pc:docMk/>
          <pc:sldMk cId="878777944" sldId="460"/>
        </pc:sldMkLst>
        <pc:spChg chg="mod ord">
          <ac:chgData name="Daya Spindler" userId="S::daya.spindler@g.austincc.edu::d47267c9-b69c-4d84-8d8d-9eb6067b7650" providerId="AD" clId="Web-{3CFE6C67-62EE-268A-CBD2-DB0A48039908}" dt="2021-12-27T18:04:52.022" v="299"/>
          <ac:spMkLst>
            <pc:docMk/>
            <pc:sldMk cId="878777944" sldId="460"/>
            <ac:spMk id="5" creationId="{0F0C9F70-B812-4B5F-8F75-02AED90E3D5A}"/>
          </ac:spMkLst>
        </pc:spChg>
      </pc:sldChg>
      <pc:sldChg chg="modSp">
        <pc:chgData name="Daya Spindler" userId="S::daya.spindler@g.austincc.edu::d47267c9-b69c-4d84-8d8d-9eb6067b7650" providerId="AD" clId="Web-{3CFE6C67-62EE-268A-CBD2-DB0A48039908}" dt="2021-12-27T18:04:53.366" v="300"/>
        <pc:sldMkLst>
          <pc:docMk/>
          <pc:sldMk cId="280165716" sldId="461"/>
        </pc:sldMkLst>
        <pc:spChg chg="mod">
          <ac:chgData name="Daya Spindler" userId="S::daya.spindler@g.austincc.edu::d47267c9-b69c-4d84-8d8d-9eb6067b7650" providerId="AD" clId="Web-{3CFE6C67-62EE-268A-CBD2-DB0A48039908}" dt="2021-12-27T18:01:28.033" v="273" actId="20577"/>
          <ac:spMkLst>
            <pc:docMk/>
            <pc:sldMk cId="280165716" sldId="461"/>
            <ac:spMk id="3" creationId="{07582AAF-CA52-4B67-BEE8-C2EC49D81F8C}"/>
          </ac:spMkLst>
        </pc:spChg>
        <pc:spChg chg="mod ord">
          <ac:chgData name="Daya Spindler" userId="S::daya.spindler@g.austincc.edu::d47267c9-b69c-4d84-8d8d-9eb6067b7650" providerId="AD" clId="Web-{3CFE6C67-62EE-268A-CBD2-DB0A48039908}" dt="2021-12-27T18:04:53.366" v="300"/>
          <ac:spMkLst>
            <pc:docMk/>
            <pc:sldMk cId="280165716" sldId="461"/>
            <ac:spMk id="5" creationId="{DE4AA64E-2214-468F-934A-3D050EDE0937}"/>
          </ac:spMkLst>
        </pc:spChg>
      </pc:sldChg>
      <pc:sldChg chg="modSp modNotes">
        <pc:chgData name="Daya Spindler" userId="S::daya.spindler@g.austincc.edu::d47267c9-b69c-4d84-8d8d-9eb6067b7650" providerId="AD" clId="Web-{3CFE6C67-62EE-268A-CBD2-DB0A48039908}" dt="2021-12-27T18:04:57.757" v="301"/>
        <pc:sldMkLst>
          <pc:docMk/>
          <pc:sldMk cId="2415852481" sldId="462"/>
        </pc:sldMkLst>
        <pc:spChg chg="mod ord">
          <ac:chgData name="Daya Spindler" userId="S::daya.spindler@g.austincc.edu::d47267c9-b69c-4d84-8d8d-9eb6067b7650" providerId="AD" clId="Web-{3CFE6C67-62EE-268A-CBD2-DB0A48039908}" dt="2021-12-27T18:04:57.757" v="301"/>
          <ac:spMkLst>
            <pc:docMk/>
            <pc:sldMk cId="2415852481" sldId="462"/>
            <ac:spMk id="5" creationId="{B3DEEC40-3D99-464F-AA30-70DFADF37C77}"/>
          </ac:spMkLst>
        </pc:spChg>
      </pc:sldChg>
      <pc:sldChg chg="modSp new">
        <pc:chgData name="Daya Spindler" userId="S::daya.spindler@g.austincc.edu::d47267c9-b69c-4d84-8d8d-9eb6067b7650" providerId="AD" clId="Web-{3CFE6C67-62EE-268A-CBD2-DB0A48039908}" dt="2021-12-27T18:04:43.631" v="294"/>
        <pc:sldMkLst>
          <pc:docMk/>
          <pc:sldMk cId="1821286419" sldId="463"/>
        </pc:sldMkLst>
        <pc:spChg chg="mod">
          <ac:chgData name="Daya Spindler" userId="S::daya.spindler@g.austincc.edu::d47267c9-b69c-4d84-8d8d-9eb6067b7650" providerId="AD" clId="Web-{3CFE6C67-62EE-268A-CBD2-DB0A48039908}" dt="2021-12-27T17:41:47.694" v="59" actId="20577"/>
          <ac:spMkLst>
            <pc:docMk/>
            <pc:sldMk cId="1821286419" sldId="463"/>
            <ac:spMk id="2" creationId="{B0A983BE-CF32-4052-B361-DDBCFE0C594C}"/>
          </ac:spMkLst>
        </pc:spChg>
        <pc:spChg chg="mod">
          <ac:chgData name="Daya Spindler" userId="S::daya.spindler@g.austincc.edu::d47267c9-b69c-4d84-8d8d-9eb6067b7650" providerId="AD" clId="Web-{3CFE6C67-62EE-268A-CBD2-DB0A48039908}" dt="2021-12-27T17:44:02.729" v="134" actId="20577"/>
          <ac:spMkLst>
            <pc:docMk/>
            <pc:sldMk cId="1821286419" sldId="463"/>
            <ac:spMk id="3" creationId="{F2833451-8687-4646-9ACE-E3254EC034F1}"/>
          </ac:spMkLst>
        </pc:spChg>
        <pc:spChg chg="mod ord">
          <ac:chgData name="Daya Spindler" userId="S::daya.spindler@g.austincc.edu::d47267c9-b69c-4d84-8d8d-9eb6067b7650" providerId="AD" clId="Web-{3CFE6C67-62EE-268A-CBD2-DB0A48039908}" dt="2021-12-27T18:04:43.631" v="294"/>
          <ac:spMkLst>
            <pc:docMk/>
            <pc:sldMk cId="1821286419" sldId="463"/>
            <ac:spMk id="5" creationId="{6146A50B-786D-4565-A4D7-360B7F944E8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E98028-1DBA-51E8-051B-626DBFF9D4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795244" y="-16778"/>
            <a:ext cx="5061169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6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C6B3-22C0-54BF-457C-0046D71196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EFD7F3-9864-E425-A2B0-698554C15E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D38C8-C13D-4415-BB59-E32B331DE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975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types of values, religious beliefs, communication styles, and health practices do we share in the United States?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Describe a culture within your community.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What types of cultural adjustments to a patient’s care might a nurse incorporate to respect the patient’s cultural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22353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What cultures do we have in the United States? What subcultures do we have? Provide examples.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differences do you see in your culture for another culture?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Are there religious, gender, and socioeconomic differences within one’s culture?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7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Provide examples of how a nurse might stereotype a culture.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beliefs about culture cause a person to stereotype a member of that culture?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7322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are some ethnic groups in the United States?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might a nurse alter his/her assumptions about a patient’s beliefs and practices?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781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How does communication affect the nurse-patient relationship?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What’s the difference in regard to space between Western and Eastern cultures?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How do different cultures view time?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Provide examples of social organization.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do the terms </a:t>
            </a:r>
            <a:r>
              <a:rPr lang="en-US" altLang="en-US" i="1" dirty="0">
                <a:latin typeface="Arial" panose="020B0604020202020204" pitchFamily="34" charset="0"/>
              </a:rPr>
              <a:t>patriarchal</a:t>
            </a:r>
            <a:r>
              <a:rPr lang="en-US" altLang="en-US" dirty="0">
                <a:latin typeface="Arial" panose="020B0604020202020204" pitchFamily="34" charset="0"/>
              </a:rPr>
              <a:t> and </a:t>
            </a:r>
            <a:r>
              <a:rPr lang="en-US" altLang="en-US" i="1" dirty="0">
                <a:latin typeface="Arial" panose="020B0604020202020204" pitchFamily="34" charset="0"/>
              </a:rPr>
              <a:t>matriarchal</a:t>
            </a:r>
            <a:r>
              <a:rPr lang="en-US" altLang="en-US" dirty="0">
                <a:latin typeface="Arial" panose="020B0604020202020204" pitchFamily="34" charset="0"/>
              </a:rPr>
              <a:t>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106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do religious beliefs affect patient care?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adjustments might a nurse have to make to accommodate a patient’s religious beliefs?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Provide examples of biologic characteristics for different cultures.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7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might a nurse develop a nursing diagnosis since NANDA does not have culturally diverse nursing diagnoses?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Provide examples of how a nurse or health care organization might have to accommodate a patient’s health beliefs.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73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Calibri"/>
                <a:ea typeface="ＭＳ Ｐゴシック"/>
                <a:cs typeface="Calibri"/>
              </a:rPr>
              <a:t>Refer to Table 6.4</a:t>
            </a:r>
            <a:endParaRPr lang="en-US" dirty="0">
              <a:latin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731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63366F-F42C-69E7-BB14-E104562FA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EE8F85-B66B-73B2-893F-DB058EADD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6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Cultural and Ethnic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6.1: Cultural and Ethnic Considerations</a:t>
            </a:r>
            <a:endParaRPr lang="en-US" sz="1600" dirty="0"/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Identify the importance of transcultural nursing.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Explain what health disparities are and what nurses can do to improve health care in these populations.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Explain how personal cultural beliefs and practices affect nurse-patient and nurse-nurse relationships.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Identify and discuss cultural variables that potentially influence health behaviors.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Explain how cultural data can be used to help develop therapeutic relationships with the patient.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cultural and religious influences as they relate to the older adult.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the use of the nursing process in the care of culturally diverse patients.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034F5-BC01-42E1-B9A8-FB15D1819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Transcultural Nursing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0CF3A-3AC9-43BE-8E7F-A2C5BED1C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United States described as “melting pot” from many different countries</a:t>
            </a:r>
          </a:p>
          <a:p>
            <a:r>
              <a:rPr lang="en-US" dirty="0"/>
              <a:t>More people are identifying as biracial, Hispanic, and black (U.S. Census Bureau, 2012)</a:t>
            </a:r>
          </a:p>
          <a:p>
            <a:r>
              <a:rPr lang="en-US" altLang="en-US" dirty="0"/>
              <a:t>Transcultural nursing</a:t>
            </a:r>
          </a:p>
          <a:p>
            <a:pPr lvl="1"/>
            <a:r>
              <a:rPr lang="en-US" altLang="en-US" dirty="0"/>
              <a:t>Understanding and integrating variables into all aspects of nursing care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80CBC-B03A-4948-8938-E8C13597B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93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83BE-CF32-4052-B361-DDBCFE0C5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Health Disparities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3451-8687-4646-9ACE-E3254EC03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Preventable, negative health outcomes that are disproportionately affect socially and economically disadvantaged populations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E2FF8-8773-4658-9D75-FDECDF935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286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F678B-FD0E-4D3E-B089-C963C792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Culture Defined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E5972-8110-4CEC-A678-2D101E26A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Set of learned values, beliefs, customs, and practices that are shared by a group and passed from one generation to another</a:t>
            </a:r>
          </a:p>
          <a:p>
            <a:r>
              <a:rPr lang="en-US" altLang="en-US" dirty="0"/>
              <a:t>Subculture</a:t>
            </a:r>
          </a:p>
          <a:p>
            <a:pPr lvl="1"/>
            <a:r>
              <a:rPr lang="en-US" altLang="en-US" dirty="0"/>
              <a:t>Share characteristics with primary culture</a:t>
            </a:r>
          </a:p>
          <a:p>
            <a:pPr lvl="1"/>
            <a:r>
              <a:rPr lang="en-US" altLang="en-US" dirty="0"/>
              <a:t>Has characteristic patterns of behavior and ideals that distinguish it from the rest of cultural group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8EBC1-8E5A-4CDF-8B3F-0C89EBCA4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6587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51B0A-A05D-425C-8FE8-E60680654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Cultural Competence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091F3-8340-4C80-8819-553CAA11A4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Nurses need to deliver culturally competent care and avoid stereotyping</a:t>
            </a:r>
          </a:p>
          <a:p>
            <a:r>
              <a:rPr lang="en-US" altLang="en-US" dirty="0"/>
              <a:t>Unconscious bias</a:t>
            </a:r>
          </a:p>
          <a:p>
            <a:pPr lvl="1"/>
            <a:r>
              <a:rPr lang="en-US" altLang="en-US" dirty="0"/>
              <a:t>Unintentional bias that occurs from one's cultural stereotype</a:t>
            </a:r>
          </a:p>
          <a:p>
            <a:r>
              <a:rPr lang="en-US" altLang="en-US" dirty="0"/>
              <a:t>Cultural bias</a:t>
            </a:r>
          </a:p>
          <a:p>
            <a:pPr lvl="1"/>
            <a:r>
              <a:rPr lang="en-US" altLang="en-US" dirty="0"/>
              <a:t>Belief that the beliefs and practices of one's culture is best</a:t>
            </a:r>
          </a:p>
          <a:p>
            <a:pPr lvl="1">
              <a:buFont typeface="Wingdings"/>
              <a:buChar char="Ø"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C7060-B34D-4E14-82CF-6BCCA816F0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145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8C95B-7E73-4696-92D9-8587A17B0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Cultural Influences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6299-9299-4B2C-BECE-BB5FB3BFA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Race and ethnicity</a:t>
            </a:r>
          </a:p>
          <a:p>
            <a:pPr lvl="1"/>
            <a:r>
              <a:rPr lang="en-US" altLang="en-US" dirty="0"/>
              <a:t>Race</a:t>
            </a:r>
          </a:p>
          <a:p>
            <a:pPr lvl="2"/>
            <a:r>
              <a:rPr lang="en-US" altLang="en-US" dirty="0"/>
              <a:t>Group of people who share biologic physical characteristics and hereditary factors</a:t>
            </a:r>
          </a:p>
          <a:p>
            <a:pPr lvl="1"/>
            <a:r>
              <a:rPr lang="en-US" altLang="en-US" dirty="0"/>
              <a:t>Ethnicity</a:t>
            </a:r>
          </a:p>
          <a:p>
            <a:pPr lvl="2"/>
            <a:r>
              <a:rPr lang="en-US" altLang="en-US" dirty="0"/>
              <a:t>Group of people who share a common social and cultural heritage based on shared traditions, national origin, and physical and biological characteristics</a:t>
            </a:r>
          </a:p>
          <a:p>
            <a:r>
              <a:rPr lang="en-US" altLang="en-US" dirty="0"/>
              <a:t>Important not to make assumptions about a patient’s belief or practice based on name, skin color, or language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6CADE-C6E8-4165-9EE2-813321D1E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677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BAA24-D539-44A1-9E92-06805EED2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Cultural Assessment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F0154-568E-40C0-AE8C-F7DD21E3F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Communication</a:t>
            </a:r>
          </a:p>
          <a:p>
            <a:r>
              <a:rPr lang="en-US" altLang="en-US" dirty="0"/>
              <a:t>Space</a:t>
            </a:r>
          </a:p>
          <a:p>
            <a:r>
              <a:rPr lang="en-US" altLang="en-US" dirty="0"/>
              <a:t>Time</a:t>
            </a:r>
          </a:p>
          <a:p>
            <a:r>
              <a:rPr lang="en-US" altLang="en-US" dirty="0"/>
              <a:t>Social organization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492C1-504C-49F0-B490-3766952400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3023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384C-FD01-44CB-839A-B3C3E43E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Cultural and Religious Influences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F17A8-88D7-40E2-8B85-F2FD6A5F7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Religious beliefs and health care</a:t>
            </a:r>
          </a:p>
          <a:p>
            <a:r>
              <a:rPr lang="en-US" altLang="en-US" dirty="0"/>
              <a:t>Health practices</a:t>
            </a:r>
          </a:p>
          <a:p>
            <a:r>
              <a:rPr lang="en-US" altLang="en-US" dirty="0"/>
              <a:t>Biological variations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81D2D-9C74-4FE4-94D5-4FC1477247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777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3442E-5102-44CE-94C8-A15AC15D8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Nursing Process and </a:t>
            </a:r>
            <a:br>
              <a:rPr lang="en-US" altLang="en-US" dirty="0"/>
            </a:br>
            <a:r>
              <a:rPr lang="en-US" altLang="en-US" dirty="0"/>
              <a:t>Cultural Factors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82AAF-CA52-4B67-BEE8-C2EC49D81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en-US" dirty="0"/>
              <a:t>Nurse develops a care plan based on cultural background after assessing patient</a:t>
            </a:r>
          </a:p>
          <a:p>
            <a:r>
              <a:rPr lang="en-US" altLang="en-US" dirty="0"/>
              <a:t>North American Nursing Diagnosis Association-International (NANDA-I) nursing diagnoses may not apply to culturally diverse patients</a:t>
            </a:r>
          </a:p>
          <a:p>
            <a:r>
              <a:rPr lang="en-US" altLang="en-US" dirty="0"/>
              <a:t>To provide care and lessen limitations of the NANDA nursing diagnoses, the nurse must evaluate behavior of the prospective patient’s culture</a:t>
            </a:r>
          </a:p>
          <a:p>
            <a:r>
              <a:rPr lang="en-US" altLang="en-US" dirty="0"/>
              <a:t>The nurse, health care system, or both may be required to change in order to accommodate, maintain, or reinforce patients’ health beliefs and practices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F136F-9F3C-46D9-A154-C507A1F950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165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75FB-6DD2-4FD0-9065-60EB8F40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Cultural Practices of </a:t>
            </a:r>
            <a:br>
              <a:rPr lang="en-US" altLang="en-US" dirty="0"/>
            </a:br>
            <a:r>
              <a:rPr lang="en-US" altLang="en-US" dirty="0"/>
              <a:t>Specific Groups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461DB-ADD8-4BEA-A342-D9382C1BD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Mexican Americans</a:t>
            </a:r>
          </a:p>
          <a:p>
            <a:r>
              <a:rPr lang="en-US" altLang="en-US" dirty="0"/>
              <a:t>African Americans</a:t>
            </a:r>
          </a:p>
          <a:p>
            <a:r>
              <a:rPr lang="en-US" altLang="en-US" dirty="0"/>
              <a:t>Chinese Americans</a:t>
            </a:r>
          </a:p>
          <a:p>
            <a:r>
              <a:rPr lang="en-US" altLang="en-US" dirty="0"/>
              <a:t>Muslim Americans</a:t>
            </a:r>
          </a:p>
          <a:p>
            <a:r>
              <a:rPr lang="en-US" altLang="en-US" dirty="0"/>
              <a:t>American Indians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D115B-6CED-433A-B9DB-E29405E899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5852481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6867</TotalTime>
  <Words>726</Words>
  <Application>Microsoft Office PowerPoint</Application>
  <PresentationFormat>On-screen Show (4:3)</PresentationFormat>
  <Paragraphs>95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ArialMT</vt:lpstr>
      <vt:lpstr>Calibri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6  </vt:lpstr>
      <vt:lpstr>Lesson 6.1: Cultural and Ethnic Considerations</vt:lpstr>
      <vt:lpstr>Transcultural Nursing</vt:lpstr>
      <vt:lpstr>Health Disparities</vt:lpstr>
      <vt:lpstr>Culture Defined</vt:lpstr>
      <vt:lpstr>Cultural Competence</vt:lpstr>
      <vt:lpstr>Cultural Influences</vt:lpstr>
      <vt:lpstr>Cultural Assessment </vt:lpstr>
      <vt:lpstr>Cultural and Religious Influences</vt:lpstr>
      <vt:lpstr>Nursing Process and  Cultural Factors</vt:lpstr>
      <vt:lpstr>Cultural Practices of  Specific Groups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733</cp:revision>
  <dcterms:created xsi:type="dcterms:W3CDTF">2005-01-16T17:28:53Z</dcterms:created>
  <dcterms:modified xsi:type="dcterms:W3CDTF">2022-07-06T06:37:36Z</dcterms:modified>
</cp:coreProperties>
</file>