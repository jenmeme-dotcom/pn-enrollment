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105"/>
  </p:notesMasterIdLst>
  <p:handoutMasterIdLst>
    <p:handoutMasterId r:id="rId106"/>
  </p:handoutMasterIdLst>
  <p:sldIdLst>
    <p:sldId id="332" r:id="rId2"/>
    <p:sldId id="333" r:id="rId3"/>
    <p:sldId id="339" r:id="rId4"/>
    <p:sldId id="340" r:id="rId5"/>
    <p:sldId id="341" r:id="rId6"/>
    <p:sldId id="342" r:id="rId7"/>
    <p:sldId id="343" r:id="rId8"/>
    <p:sldId id="344" r:id="rId9"/>
    <p:sldId id="345" r:id="rId10"/>
    <p:sldId id="346" r:id="rId11"/>
    <p:sldId id="347" r:id="rId12"/>
    <p:sldId id="348" r:id="rId13"/>
    <p:sldId id="349" r:id="rId14"/>
    <p:sldId id="350" r:id="rId15"/>
    <p:sldId id="451" r:id="rId16"/>
    <p:sldId id="352" r:id="rId17"/>
    <p:sldId id="450" r:id="rId18"/>
    <p:sldId id="354" r:id="rId19"/>
    <p:sldId id="355" r:id="rId20"/>
    <p:sldId id="356" r:id="rId21"/>
    <p:sldId id="357" r:id="rId22"/>
    <p:sldId id="358" r:id="rId23"/>
    <p:sldId id="359" r:id="rId24"/>
    <p:sldId id="360" r:id="rId25"/>
    <p:sldId id="361" r:id="rId26"/>
    <p:sldId id="362" r:id="rId27"/>
    <p:sldId id="363" r:id="rId28"/>
    <p:sldId id="368" r:id="rId29"/>
    <p:sldId id="369" r:id="rId30"/>
    <p:sldId id="370" r:id="rId31"/>
    <p:sldId id="371" r:id="rId32"/>
    <p:sldId id="374" r:id="rId33"/>
    <p:sldId id="375" r:id="rId34"/>
    <p:sldId id="376" r:id="rId35"/>
    <p:sldId id="377" r:id="rId36"/>
    <p:sldId id="378" r:id="rId37"/>
    <p:sldId id="379" r:id="rId38"/>
    <p:sldId id="380" r:id="rId39"/>
    <p:sldId id="381" r:id="rId40"/>
    <p:sldId id="384" r:id="rId41"/>
    <p:sldId id="385" r:id="rId42"/>
    <p:sldId id="387" r:id="rId43"/>
    <p:sldId id="388"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402" r:id="rId57"/>
    <p:sldId id="403" r:id="rId58"/>
    <p:sldId id="404" r:id="rId59"/>
    <p:sldId id="405" r:id="rId60"/>
    <p:sldId id="406" r:id="rId61"/>
    <p:sldId id="407" r:id="rId62"/>
    <p:sldId id="408" r:id="rId63"/>
    <p:sldId id="409" r:id="rId64"/>
    <p:sldId id="410" r:id="rId65"/>
    <p:sldId id="411" r:id="rId66"/>
    <p:sldId id="412" r:id="rId67"/>
    <p:sldId id="413" r:id="rId68"/>
    <p:sldId id="414" r:id="rId69"/>
    <p:sldId id="415" r:id="rId70"/>
    <p:sldId id="416" r:id="rId71"/>
    <p:sldId id="417" r:id="rId72"/>
    <p:sldId id="418" r:id="rId73"/>
    <p:sldId id="419" r:id="rId74"/>
    <p:sldId id="420" r:id="rId75"/>
    <p:sldId id="421" r:id="rId76"/>
    <p:sldId id="422" r:id="rId77"/>
    <p:sldId id="423" r:id="rId78"/>
    <p:sldId id="424" r:id="rId79"/>
    <p:sldId id="425" r:id="rId80"/>
    <p:sldId id="426" r:id="rId81"/>
    <p:sldId id="427" r:id="rId82"/>
    <p:sldId id="428" r:id="rId83"/>
    <p:sldId id="429" r:id="rId84"/>
    <p:sldId id="430" r:id="rId85"/>
    <p:sldId id="431" r:id="rId86"/>
    <p:sldId id="432" r:id="rId87"/>
    <p:sldId id="433" r:id="rId88"/>
    <p:sldId id="434" r:id="rId89"/>
    <p:sldId id="435" r:id="rId90"/>
    <p:sldId id="436" r:id="rId91"/>
    <p:sldId id="437" r:id="rId92"/>
    <p:sldId id="438" r:id="rId93"/>
    <p:sldId id="439" r:id="rId94"/>
    <p:sldId id="440" r:id="rId95"/>
    <p:sldId id="441" r:id="rId96"/>
    <p:sldId id="442" r:id="rId97"/>
    <p:sldId id="443" r:id="rId98"/>
    <p:sldId id="444" r:id="rId99"/>
    <p:sldId id="445" r:id="rId100"/>
    <p:sldId id="446" r:id="rId101"/>
    <p:sldId id="447" r:id="rId102"/>
    <p:sldId id="448" r:id="rId103"/>
    <p:sldId id="449" r:id="rId10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48" autoAdjust="0"/>
    <p:restoredTop sz="80755" autoAdjust="0"/>
  </p:normalViewPr>
  <p:slideViewPr>
    <p:cSldViewPr>
      <p:cViewPr varScale="1">
        <p:scale>
          <a:sx n="51" d="100"/>
          <a:sy n="51" d="100"/>
        </p:scale>
        <p:origin x="1496" y="40"/>
      </p:cViewPr>
      <p:guideLst>
        <p:guide orient="horz" pos="1008"/>
        <p:guide pos="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296792AB-314E-4E55-AA77-5B6F19137AE8}"/>
    <pc:docChg chg="modSld">
      <pc:chgData name="Ben Pfeifer" userId="fb68dd40a6c6cee7" providerId="LiveId" clId="{296792AB-314E-4E55-AA77-5B6F19137AE8}" dt="2023-09-26T07:52:10.622" v="20" actId="12385"/>
      <pc:docMkLst>
        <pc:docMk/>
      </pc:docMkLst>
      <pc:sldChg chg="modSp mod">
        <pc:chgData name="Ben Pfeifer" userId="fb68dd40a6c6cee7" providerId="LiveId" clId="{296792AB-314E-4E55-AA77-5B6F19137AE8}" dt="2023-09-26T07:49:48.871" v="0" actId="13244"/>
        <pc:sldMkLst>
          <pc:docMk/>
          <pc:sldMk cId="1326462390" sldId="355"/>
        </pc:sldMkLst>
        <pc:spChg chg="ord">
          <ac:chgData name="Ben Pfeifer" userId="fb68dd40a6c6cee7" providerId="LiveId" clId="{296792AB-314E-4E55-AA77-5B6F19137AE8}" dt="2023-09-26T07:49:48.871" v="0" actId="13244"/>
          <ac:spMkLst>
            <pc:docMk/>
            <pc:sldMk cId="1326462390" sldId="355"/>
            <ac:spMk id="6" creationId="{00000000-0000-0000-0000-000000000000}"/>
          </ac:spMkLst>
        </pc:spChg>
      </pc:sldChg>
      <pc:sldChg chg="modSp mod">
        <pc:chgData name="Ben Pfeifer" userId="fb68dd40a6c6cee7" providerId="LiveId" clId="{296792AB-314E-4E55-AA77-5B6F19137AE8}" dt="2023-09-26T07:49:58.745" v="1" actId="13244"/>
        <pc:sldMkLst>
          <pc:docMk/>
          <pc:sldMk cId="1566192684" sldId="358"/>
        </pc:sldMkLst>
        <pc:spChg chg="ord">
          <ac:chgData name="Ben Pfeifer" userId="fb68dd40a6c6cee7" providerId="LiveId" clId="{296792AB-314E-4E55-AA77-5B6F19137AE8}" dt="2023-09-26T07:49:58.745" v="1" actId="13244"/>
          <ac:spMkLst>
            <pc:docMk/>
            <pc:sldMk cId="1566192684" sldId="358"/>
            <ac:spMk id="5" creationId="{00000000-0000-0000-0000-000000000000}"/>
          </ac:spMkLst>
        </pc:spChg>
      </pc:sldChg>
      <pc:sldChg chg="modSp mod">
        <pc:chgData name="Ben Pfeifer" userId="fb68dd40a6c6cee7" providerId="LiveId" clId="{296792AB-314E-4E55-AA77-5B6F19137AE8}" dt="2023-09-26T07:50:13.580" v="2" actId="13244"/>
        <pc:sldMkLst>
          <pc:docMk/>
          <pc:sldMk cId="1333718463" sldId="360"/>
        </pc:sldMkLst>
        <pc:spChg chg="ord">
          <ac:chgData name="Ben Pfeifer" userId="fb68dd40a6c6cee7" providerId="LiveId" clId="{296792AB-314E-4E55-AA77-5B6F19137AE8}" dt="2023-09-26T07:50:13.580" v="2" actId="13244"/>
          <ac:spMkLst>
            <pc:docMk/>
            <pc:sldMk cId="1333718463" sldId="360"/>
            <ac:spMk id="5" creationId="{00000000-0000-0000-0000-000000000000}"/>
          </ac:spMkLst>
        </pc:spChg>
      </pc:sldChg>
      <pc:sldChg chg="modSp mod">
        <pc:chgData name="Ben Pfeifer" userId="fb68dd40a6c6cee7" providerId="LiveId" clId="{296792AB-314E-4E55-AA77-5B6F19137AE8}" dt="2023-09-26T07:51:23.567" v="3" actId="12385"/>
        <pc:sldMkLst>
          <pc:docMk/>
          <pc:sldMk cId="2565539431" sldId="384"/>
        </pc:sldMkLst>
        <pc:graphicFrameChg chg="modGraphic">
          <ac:chgData name="Ben Pfeifer" userId="fb68dd40a6c6cee7" providerId="LiveId" clId="{296792AB-314E-4E55-AA77-5B6F19137AE8}" dt="2023-09-26T07:51:23.567" v="3" actId="12385"/>
          <ac:graphicFrameMkLst>
            <pc:docMk/>
            <pc:sldMk cId="2565539431" sldId="384"/>
            <ac:graphicFrameMk id="8" creationId="{00000000-0000-0000-0000-000000000000}"/>
          </ac:graphicFrameMkLst>
        </pc:graphicFrameChg>
      </pc:sldChg>
      <pc:sldChg chg="modSp mod">
        <pc:chgData name="Ben Pfeifer" userId="fb68dd40a6c6cee7" providerId="LiveId" clId="{296792AB-314E-4E55-AA77-5B6F19137AE8}" dt="2023-09-26T07:51:26.070" v="4" actId="12385"/>
        <pc:sldMkLst>
          <pc:docMk/>
          <pc:sldMk cId="3101981761" sldId="385"/>
        </pc:sldMkLst>
        <pc:graphicFrameChg chg="modGraphic">
          <ac:chgData name="Ben Pfeifer" userId="fb68dd40a6c6cee7" providerId="LiveId" clId="{296792AB-314E-4E55-AA77-5B6F19137AE8}" dt="2023-09-26T07:51:26.070" v="4" actId="12385"/>
          <ac:graphicFrameMkLst>
            <pc:docMk/>
            <pc:sldMk cId="3101981761" sldId="385"/>
            <ac:graphicFrameMk id="8" creationId="{00000000-0000-0000-0000-000000000000}"/>
          </ac:graphicFrameMkLst>
        </pc:graphicFrameChg>
      </pc:sldChg>
      <pc:sldChg chg="modSp mod">
        <pc:chgData name="Ben Pfeifer" userId="fb68dd40a6c6cee7" providerId="LiveId" clId="{296792AB-314E-4E55-AA77-5B6F19137AE8}" dt="2023-09-26T07:51:28.601" v="5" actId="12385"/>
        <pc:sldMkLst>
          <pc:docMk/>
          <pc:sldMk cId="2313963938" sldId="387"/>
        </pc:sldMkLst>
        <pc:graphicFrameChg chg="modGraphic">
          <ac:chgData name="Ben Pfeifer" userId="fb68dd40a6c6cee7" providerId="LiveId" clId="{296792AB-314E-4E55-AA77-5B6F19137AE8}" dt="2023-09-26T07:51:28.601" v="5" actId="12385"/>
          <ac:graphicFrameMkLst>
            <pc:docMk/>
            <pc:sldMk cId="2313963938" sldId="387"/>
            <ac:graphicFrameMk id="8" creationId="{00000000-0000-0000-0000-000000000000}"/>
          </ac:graphicFrameMkLst>
        </pc:graphicFrameChg>
      </pc:sldChg>
      <pc:sldChg chg="modSp mod">
        <pc:chgData name="Ben Pfeifer" userId="fb68dd40a6c6cee7" providerId="LiveId" clId="{296792AB-314E-4E55-AA77-5B6F19137AE8}" dt="2023-09-26T07:51:31.550" v="6" actId="12385"/>
        <pc:sldMkLst>
          <pc:docMk/>
          <pc:sldMk cId="2241941135" sldId="388"/>
        </pc:sldMkLst>
        <pc:graphicFrameChg chg="modGraphic">
          <ac:chgData name="Ben Pfeifer" userId="fb68dd40a6c6cee7" providerId="LiveId" clId="{296792AB-314E-4E55-AA77-5B6F19137AE8}" dt="2023-09-26T07:51:31.550" v="6" actId="12385"/>
          <ac:graphicFrameMkLst>
            <pc:docMk/>
            <pc:sldMk cId="2241941135" sldId="388"/>
            <ac:graphicFrameMk id="8" creationId="{00000000-0000-0000-0000-000000000000}"/>
          </ac:graphicFrameMkLst>
        </pc:graphicFrameChg>
      </pc:sldChg>
      <pc:sldChg chg="modSp mod">
        <pc:chgData name="Ben Pfeifer" userId="fb68dd40a6c6cee7" providerId="LiveId" clId="{296792AB-314E-4E55-AA77-5B6F19137AE8}" dt="2023-09-26T07:51:33.802" v="7" actId="12385"/>
        <pc:sldMkLst>
          <pc:docMk/>
          <pc:sldMk cId="4020886332" sldId="390"/>
        </pc:sldMkLst>
        <pc:graphicFrameChg chg="modGraphic">
          <ac:chgData name="Ben Pfeifer" userId="fb68dd40a6c6cee7" providerId="LiveId" clId="{296792AB-314E-4E55-AA77-5B6F19137AE8}" dt="2023-09-26T07:51:33.802" v="7" actId="12385"/>
          <ac:graphicFrameMkLst>
            <pc:docMk/>
            <pc:sldMk cId="4020886332" sldId="390"/>
            <ac:graphicFrameMk id="8" creationId="{00000000-0000-0000-0000-000000000000}"/>
          </ac:graphicFrameMkLst>
        </pc:graphicFrameChg>
      </pc:sldChg>
      <pc:sldChg chg="modSp mod">
        <pc:chgData name="Ben Pfeifer" userId="fb68dd40a6c6cee7" providerId="LiveId" clId="{296792AB-314E-4E55-AA77-5B6F19137AE8}" dt="2023-09-26T07:51:36.054" v="8" actId="12385"/>
        <pc:sldMkLst>
          <pc:docMk/>
          <pc:sldMk cId="4064912400" sldId="391"/>
        </pc:sldMkLst>
        <pc:graphicFrameChg chg="modGraphic">
          <ac:chgData name="Ben Pfeifer" userId="fb68dd40a6c6cee7" providerId="LiveId" clId="{296792AB-314E-4E55-AA77-5B6F19137AE8}" dt="2023-09-26T07:51:36.054" v="8" actId="12385"/>
          <ac:graphicFrameMkLst>
            <pc:docMk/>
            <pc:sldMk cId="4064912400" sldId="391"/>
            <ac:graphicFrameMk id="8" creationId="{00000000-0000-0000-0000-000000000000}"/>
          </ac:graphicFrameMkLst>
        </pc:graphicFrameChg>
      </pc:sldChg>
      <pc:sldChg chg="modSp mod">
        <pc:chgData name="Ben Pfeifer" userId="fb68dd40a6c6cee7" providerId="LiveId" clId="{296792AB-314E-4E55-AA77-5B6F19137AE8}" dt="2023-09-26T07:51:38.256" v="9" actId="12385"/>
        <pc:sldMkLst>
          <pc:docMk/>
          <pc:sldMk cId="199936046" sldId="392"/>
        </pc:sldMkLst>
        <pc:graphicFrameChg chg="modGraphic">
          <ac:chgData name="Ben Pfeifer" userId="fb68dd40a6c6cee7" providerId="LiveId" clId="{296792AB-314E-4E55-AA77-5B6F19137AE8}" dt="2023-09-26T07:51:38.256" v="9" actId="12385"/>
          <ac:graphicFrameMkLst>
            <pc:docMk/>
            <pc:sldMk cId="199936046" sldId="392"/>
            <ac:graphicFrameMk id="8" creationId="{00000000-0000-0000-0000-000000000000}"/>
          </ac:graphicFrameMkLst>
        </pc:graphicFrameChg>
      </pc:sldChg>
      <pc:sldChg chg="modSp mod">
        <pc:chgData name="Ben Pfeifer" userId="fb68dd40a6c6cee7" providerId="LiveId" clId="{296792AB-314E-4E55-AA77-5B6F19137AE8}" dt="2023-09-26T07:51:40.469" v="10" actId="12385"/>
        <pc:sldMkLst>
          <pc:docMk/>
          <pc:sldMk cId="2419124346" sldId="393"/>
        </pc:sldMkLst>
        <pc:graphicFrameChg chg="modGraphic">
          <ac:chgData name="Ben Pfeifer" userId="fb68dd40a6c6cee7" providerId="LiveId" clId="{296792AB-314E-4E55-AA77-5B6F19137AE8}" dt="2023-09-26T07:51:40.469" v="10" actId="12385"/>
          <ac:graphicFrameMkLst>
            <pc:docMk/>
            <pc:sldMk cId="2419124346" sldId="393"/>
            <ac:graphicFrameMk id="8" creationId="{00000000-0000-0000-0000-000000000000}"/>
          </ac:graphicFrameMkLst>
        </pc:graphicFrameChg>
      </pc:sldChg>
      <pc:sldChg chg="modSp mod">
        <pc:chgData name="Ben Pfeifer" userId="fb68dd40a6c6cee7" providerId="LiveId" clId="{296792AB-314E-4E55-AA77-5B6F19137AE8}" dt="2023-09-26T07:51:42.478" v="11" actId="12385"/>
        <pc:sldMkLst>
          <pc:docMk/>
          <pc:sldMk cId="3672044813" sldId="394"/>
        </pc:sldMkLst>
        <pc:graphicFrameChg chg="modGraphic">
          <ac:chgData name="Ben Pfeifer" userId="fb68dd40a6c6cee7" providerId="LiveId" clId="{296792AB-314E-4E55-AA77-5B6F19137AE8}" dt="2023-09-26T07:51:42.478" v="11" actId="12385"/>
          <ac:graphicFrameMkLst>
            <pc:docMk/>
            <pc:sldMk cId="3672044813" sldId="394"/>
            <ac:graphicFrameMk id="8" creationId="{00000000-0000-0000-0000-000000000000}"/>
          </ac:graphicFrameMkLst>
        </pc:graphicFrameChg>
      </pc:sldChg>
      <pc:sldChg chg="modSp mod">
        <pc:chgData name="Ben Pfeifer" userId="fb68dd40a6c6cee7" providerId="LiveId" clId="{296792AB-314E-4E55-AA77-5B6F19137AE8}" dt="2023-09-26T07:51:46.171" v="12" actId="12385"/>
        <pc:sldMkLst>
          <pc:docMk/>
          <pc:sldMk cId="3002559629" sldId="395"/>
        </pc:sldMkLst>
        <pc:graphicFrameChg chg="modGraphic">
          <ac:chgData name="Ben Pfeifer" userId="fb68dd40a6c6cee7" providerId="LiveId" clId="{296792AB-314E-4E55-AA77-5B6F19137AE8}" dt="2023-09-26T07:51:46.171" v="12" actId="12385"/>
          <ac:graphicFrameMkLst>
            <pc:docMk/>
            <pc:sldMk cId="3002559629" sldId="395"/>
            <ac:graphicFrameMk id="8" creationId="{00000000-0000-0000-0000-000000000000}"/>
          </ac:graphicFrameMkLst>
        </pc:graphicFrameChg>
      </pc:sldChg>
      <pc:sldChg chg="modSp mod">
        <pc:chgData name="Ben Pfeifer" userId="fb68dd40a6c6cee7" providerId="LiveId" clId="{296792AB-314E-4E55-AA77-5B6F19137AE8}" dt="2023-09-26T07:51:48.430" v="13" actId="12385"/>
        <pc:sldMkLst>
          <pc:docMk/>
          <pc:sldMk cId="3540628311" sldId="396"/>
        </pc:sldMkLst>
        <pc:graphicFrameChg chg="modGraphic">
          <ac:chgData name="Ben Pfeifer" userId="fb68dd40a6c6cee7" providerId="LiveId" clId="{296792AB-314E-4E55-AA77-5B6F19137AE8}" dt="2023-09-26T07:51:48.430" v="13" actId="12385"/>
          <ac:graphicFrameMkLst>
            <pc:docMk/>
            <pc:sldMk cId="3540628311" sldId="396"/>
            <ac:graphicFrameMk id="8" creationId="{00000000-0000-0000-0000-000000000000}"/>
          </ac:graphicFrameMkLst>
        </pc:graphicFrameChg>
      </pc:sldChg>
      <pc:sldChg chg="modSp mod">
        <pc:chgData name="Ben Pfeifer" userId="fb68dd40a6c6cee7" providerId="LiveId" clId="{296792AB-314E-4E55-AA77-5B6F19137AE8}" dt="2023-09-26T07:51:50.691" v="14" actId="12385"/>
        <pc:sldMkLst>
          <pc:docMk/>
          <pc:sldMk cId="2848316486" sldId="397"/>
        </pc:sldMkLst>
        <pc:graphicFrameChg chg="modGraphic">
          <ac:chgData name="Ben Pfeifer" userId="fb68dd40a6c6cee7" providerId="LiveId" clId="{296792AB-314E-4E55-AA77-5B6F19137AE8}" dt="2023-09-26T07:51:50.691" v="14" actId="12385"/>
          <ac:graphicFrameMkLst>
            <pc:docMk/>
            <pc:sldMk cId="2848316486" sldId="397"/>
            <ac:graphicFrameMk id="8" creationId="{00000000-0000-0000-0000-000000000000}"/>
          </ac:graphicFrameMkLst>
        </pc:graphicFrameChg>
      </pc:sldChg>
      <pc:sldChg chg="modSp mod">
        <pc:chgData name="Ben Pfeifer" userId="fb68dd40a6c6cee7" providerId="LiveId" clId="{296792AB-314E-4E55-AA77-5B6F19137AE8}" dt="2023-09-26T07:51:54.033" v="15" actId="12385"/>
        <pc:sldMkLst>
          <pc:docMk/>
          <pc:sldMk cId="59140378" sldId="418"/>
        </pc:sldMkLst>
        <pc:graphicFrameChg chg="modGraphic">
          <ac:chgData name="Ben Pfeifer" userId="fb68dd40a6c6cee7" providerId="LiveId" clId="{296792AB-314E-4E55-AA77-5B6F19137AE8}" dt="2023-09-26T07:51:54.033" v="15" actId="12385"/>
          <ac:graphicFrameMkLst>
            <pc:docMk/>
            <pc:sldMk cId="59140378" sldId="418"/>
            <ac:graphicFrameMk id="7" creationId="{00000000-0000-0000-0000-000000000000}"/>
          </ac:graphicFrameMkLst>
        </pc:graphicFrameChg>
      </pc:sldChg>
      <pc:sldChg chg="modSp mod">
        <pc:chgData name="Ben Pfeifer" userId="fb68dd40a6c6cee7" providerId="LiveId" clId="{296792AB-314E-4E55-AA77-5B6F19137AE8}" dt="2023-09-26T07:51:58.103" v="16" actId="12385"/>
        <pc:sldMkLst>
          <pc:docMk/>
          <pc:sldMk cId="2373578396" sldId="419"/>
        </pc:sldMkLst>
        <pc:graphicFrameChg chg="modGraphic">
          <ac:chgData name="Ben Pfeifer" userId="fb68dd40a6c6cee7" providerId="LiveId" clId="{296792AB-314E-4E55-AA77-5B6F19137AE8}" dt="2023-09-26T07:51:58.103" v="16" actId="12385"/>
          <ac:graphicFrameMkLst>
            <pc:docMk/>
            <pc:sldMk cId="2373578396" sldId="419"/>
            <ac:graphicFrameMk id="7" creationId="{00000000-0000-0000-0000-000000000000}"/>
          </ac:graphicFrameMkLst>
        </pc:graphicFrameChg>
      </pc:sldChg>
      <pc:sldChg chg="modSp mod">
        <pc:chgData name="Ben Pfeifer" userId="fb68dd40a6c6cee7" providerId="LiveId" clId="{296792AB-314E-4E55-AA77-5B6F19137AE8}" dt="2023-09-26T07:52:01.070" v="17" actId="12385"/>
        <pc:sldMkLst>
          <pc:docMk/>
          <pc:sldMk cId="2089268491" sldId="420"/>
        </pc:sldMkLst>
        <pc:graphicFrameChg chg="modGraphic">
          <ac:chgData name="Ben Pfeifer" userId="fb68dd40a6c6cee7" providerId="LiveId" clId="{296792AB-314E-4E55-AA77-5B6F19137AE8}" dt="2023-09-26T07:52:01.070" v="17" actId="12385"/>
          <ac:graphicFrameMkLst>
            <pc:docMk/>
            <pc:sldMk cId="2089268491" sldId="420"/>
            <ac:graphicFrameMk id="7" creationId="{00000000-0000-0000-0000-000000000000}"/>
          </ac:graphicFrameMkLst>
        </pc:graphicFrameChg>
      </pc:sldChg>
      <pc:sldChg chg="modSp mod">
        <pc:chgData name="Ben Pfeifer" userId="fb68dd40a6c6cee7" providerId="LiveId" clId="{296792AB-314E-4E55-AA77-5B6F19137AE8}" dt="2023-09-26T07:52:04.245" v="18" actId="12385"/>
        <pc:sldMkLst>
          <pc:docMk/>
          <pc:sldMk cId="2302088367" sldId="421"/>
        </pc:sldMkLst>
        <pc:graphicFrameChg chg="modGraphic">
          <ac:chgData name="Ben Pfeifer" userId="fb68dd40a6c6cee7" providerId="LiveId" clId="{296792AB-314E-4E55-AA77-5B6F19137AE8}" dt="2023-09-26T07:52:04.245" v="18" actId="12385"/>
          <ac:graphicFrameMkLst>
            <pc:docMk/>
            <pc:sldMk cId="2302088367" sldId="421"/>
            <ac:graphicFrameMk id="7" creationId="{00000000-0000-0000-0000-000000000000}"/>
          </ac:graphicFrameMkLst>
        </pc:graphicFrameChg>
      </pc:sldChg>
      <pc:sldChg chg="modSp mod">
        <pc:chgData name="Ben Pfeifer" userId="fb68dd40a6c6cee7" providerId="LiveId" clId="{296792AB-314E-4E55-AA77-5B6F19137AE8}" dt="2023-09-26T07:52:07.147" v="19" actId="12385"/>
        <pc:sldMkLst>
          <pc:docMk/>
          <pc:sldMk cId="3174759189" sldId="422"/>
        </pc:sldMkLst>
        <pc:graphicFrameChg chg="modGraphic">
          <ac:chgData name="Ben Pfeifer" userId="fb68dd40a6c6cee7" providerId="LiveId" clId="{296792AB-314E-4E55-AA77-5B6F19137AE8}" dt="2023-09-26T07:52:07.147" v="19" actId="12385"/>
          <ac:graphicFrameMkLst>
            <pc:docMk/>
            <pc:sldMk cId="3174759189" sldId="422"/>
            <ac:graphicFrameMk id="7" creationId="{00000000-0000-0000-0000-000000000000}"/>
          </ac:graphicFrameMkLst>
        </pc:graphicFrameChg>
      </pc:sldChg>
      <pc:sldChg chg="modSp mod">
        <pc:chgData name="Ben Pfeifer" userId="fb68dd40a6c6cee7" providerId="LiveId" clId="{296792AB-314E-4E55-AA77-5B6F19137AE8}" dt="2023-09-26T07:52:10.622" v="20" actId="12385"/>
        <pc:sldMkLst>
          <pc:docMk/>
          <pc:sldMk cId="3201673584" sldId="423"/>
        </pc:sldMkLst>
        <pc:graphicFrameChg chg="modGraphic">
          <ac:chgData name="Ben Pfeifer" userId="fb68dd40a6c6cee7" providerId="LiveId" clId="{296792AB-314E-4E55-AA77-5B6F19137AE8}" dt="2023-09-26T07:52:10.622" v="20" actId="12385"/>
          <ac:graphicFrameMkLst>
            <pc:docMk/>
            <pc:sldMk cId="3201673584" sldId="423"/>
            <ac:graphicFrameMk id="7" creationId="{00000000-0000-0000-0000-000000000000}"/>
          </ac:graphicFrameMkLst>
        </pc:graphicFrameChg>
      </pc:sldChg>
    </pc:docChg>
  </pc:docChgLst>
  <pc:docChgLst>
    <pc:chgData name="Ben Prescott" userId="fb68dd40a6c6cee7" providerId="LiveId" clId="{296792AB-314E-4E55-AA77-5B6F19137AE8}"/>
    <pc:docChg chg="modSld modMainMaster">
      <pc:chgData name="Ben Prescott" userId="fb68dd40a6c6cee7" providerId="LiveId" clId="{296792AB-314E-4E55-AA77-5B6F19137AE8}" dt="2023-09-26T06:45:32.482" v="35" actId="20577"/>
      <pc:docMkLst>
        <pc:docMk/>
      </pc:docMkLst>
      <pc:sldChg chg="modSp mod">
        <pc:chgData name="Ben Prescott" userId="fb68dd40a6c6cee7" providerId="LiveId" clId="{296792AB-314E-4E55-AA77-5B6F19137AE8}" dt="2023-09-26T06:45:32.482" v="35" actId="20577"/>
        <pc:sldMkLst>
          <pc:docMk/>
          <pc:sldMk cId="1428288934" sldId="332"/>
        </pc:sldMkLst>
        <pc:spChg chg="mod">
          <ac:chgData name="Ben Prescott" userId="fb68dd40a6c6cee7" providerId="LiveId" clId="{296792AB-314E-4E55-AA77-5B6F19137AE8}" dt="2023-09-26T06:45:32.482" v="35" actId="20577"/>
          <ac:spMkLst>
            <pc:docMk/>
            <pc:sldMk cId="1428288934" sldId="332"/>
            <ac:spMk id="2" creationId="{00000000-0000-0000-0000-000000000000}"/>
          </ac:spMkLst>
        </pc:spChg>
      </pc:sldChg>
      <pc:sldChg chg="modSp mod">
        <pc:chgData name="Ben Prescott" userId="fb68dd40a6c6cee7" providerId="LiveId" clId="{296792AB-314E-4E55-AA77-5B6F19137AE8}" dt="2023-09-26T06:37:18.317" v="28" actId="20577"/>
        <pc:sldMkLst>
          <pc:docMk/>
          <pc:sldMk cId="2385303997" sldId="375"/>
        </pc:sldMkLst>
        <pc:graphicFrameChg chg="modGraphic">
          <ac:chgData name="Ben Prescott" userId="fb68dd40a6c6cee7" providerId="LiveId" clId="{296792AB-314E-4E55-AA77-5B6F19137AE8}" dt="2023-09-26T06:37:18.317" v="28" actId="20577"/>
          <ac:graphicFrameMkLst>
            <pc:docMk/>
            <pc:sldMk cId="2385303997" sldId="375"/>
            <ac:graphicFrameMk id="7" creationId="{00000000-0000-0000-0000-000000000000}"/>
          </ac:graphicFrameMkLst>
        </pc:graphicFrameChg>
      </pc:sldChg>
      <pc:sldChg chg="modSp mod">
        <pc:chgData name="Ben Prescott" userId="fb68dd40a6c6cee7" providerId="LiveId" clId="{296792AB-314E-4E55-AA77-5B6F19137AE8}" dt="2023-09-26T06:38:27.967" v="33" actId="20577"/>
        <pc:sldMkLst>
          <pc:docMk/>
          <pc:sldMk cId="1681516989" sldId="403"/>
        </pc:sldMkLst>
        <pc:spChg chg="mod">
          <ac:chgData name="Ben Prescott" userId="fb68dd40a6c6cee7" providerId="LiveId" clId="{296792AB-314E-4E55-AA77-5B6F19137AE8}" dt="2023-09-26T06:38:27.967" v="33" actId="20577"/>
          <ac:spMkLst>
            <pc:docMk/>
            <pc:sldMk cId="1681516989" sldId="403"/>
            <ac:spMk id="76803" creationId="{00000000-0000-0000-0000-000000000000}"/>
          </ac:spMkLst>
        </pc:spChg>
      </pc:sldChg>
      <pc:sldMasterChg chg="modSp mod">
        <pc:chgData name="Ben Prescott" userId="fb68dd40a6c6cee7" providerId="LiveId" clId="{296792AB-314E-4E55-AA77-5B6F19137AE8}" dt="2023-09-26T06:32:13.045" v="26" actId="6549"/>
        <pc:sldMasterMkLst>
          <pc:docMk/>
          <pc:sldMasterMk cId="0" sldId="2147483762"/>
        </pc:sldMasterMkLst>
        <pc:spChg chg="mod">
          <ac:chgData name="Ben Prescott" userId="fb68dd40a6c6cee7" providerId="LiveId" clId="{296792AB-314E-4E55-AA77-5B6F19137AE8}" dt="2023-09-26T06:32:13.045" v="26" actId="6549"/>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29A776A-2380-4AF3-8972-A9B954076246}" type="slidenum">
              <a:rPr lang="en-US" altLang="en-US" sz="1200"/>
              <a:pPr/>
              <a:t>2</a:t>
            </a:fld>
            <a:endParaRPr lang="en-US" altLang="en-US" sz="120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3379146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4C8B2F-EFDC-4195-B6C2-AAE639452B43}" type="slidenum">
              <a:rPr lang="en-US" altLang="en-US" sz="1200"/>
              <a:pPr/>
              <a:t>3</a:t>
            </a:fld>
            <a:endParaRPr lang="en-US" altLang="en-US" sz="1200"/>
          </a:p>
        </p:txBody>
      </p:sp>
      <p:sp>
        <p:nvSpPr>
          <p:cNvPr id="128003" name="Rectangle 2"/>
          <p:cNvSpPr>
            <a:spLocks noGrp="1" noRot="1" noChangeAspect="1" noChangeArrowheads="1" noTextEdit="1"/>
          </p:cNvSpPr>
          <p:nvPr>
            <p:ph type="sldImg"/>
          </p:nvPr>
        </p:nvSpPr>
        <p:spPr>
          <a:xfrm>
            <a:off x="1219200" y="838200"/>
            <a:ext cx="4648200" cy="3486150"/>
          </a:xfrm>
          <a:ln/>
        </p:spPr>
      </p:sp>
      <p:sp>
        <p:nvSpPr>
          <p:cNvPr id="12800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Tx/>
              <a:buNone/>
            </a:pPr>
            <a:r>
              <a:rPr lang="en-US" altLang="en-US"/>
              <a:t>  </a:t>
            </a:r>
          </a:p>
        </p:txBody>
      </p:sp>
    </p:spTree>
    <p:extLst>
      <p:ext uri="{BB962C8B-B14F-4D97-AF65-F5344CB8AC3E}">
        <p14:creationId xmlns:p14="http://schemas.microsoft.com/office/powerpoint/2010/main" val="967476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B403985-F06D-4EB5-B24B-8A295C8AF9F2}" type="slidenum">
              <a:rPr lang="en-US" altLang="en-US" sz="1200"/>
              <a:pPr/>
              <a:t>4</a:t>
            </a:fld>
            <a:endParaRPr lang="en-US" altLang="en-US" sz="120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787044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E660EEC-70A7-47A2-B573-9DDB7004ED79}" type="slidenum">
              <a:rPr lang="en-US" altLang="en-US" sz="1200"/>
              <a:pPr/>
              <a:t>5</a:t>
            </a:fld>
            <a:endParaRPr lang="en-US" alt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2244548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CBC37C3-498A-435F-8B53-43E7EE11963E}" type="slidenum">
              <a:rPr lang="en-US" altLang="en-US" sz="1200"/>
              <a:pPr/>
              <a:t>6</a:t>
            </a:fld>
            <a:endParaRPr lang="en-US" altLang="en-US" sz="120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Why is nitrogenous waste excreted from the body in a soluble rather than gaseous form?</a:t>
            </a:r>
          </a:p>
          <a:p>
            <a:r>
              <a:rPr lang="en-US" altLang="en-US"/>
              <a:t> By what medium does urea travel to the kidneys?</a:t>
            </a:r>
          </a:p>
        </p:txBody>
      </p:sp>
    </p:spTree>
    <p:extLst>
      <p:ext uri="{BB962C8B-B14F-4D97-AF65-F5344CB8AC3E}">
        <p14:creationId xmlns:p14="http://schemas.microsoft.com/office/powerpoint/2010/main" val="445188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kidneys also adjust the amount of water and electrolytes for proper muscle and nerve function.</a:t>
            </a:r>
          </a:p>
          <a:p>
            <a:r>
              <a:rPr lang="en-US" altLang="en-US"/>
              <a:t> Are there other important functions performed by the kidneys?</a:t>
            </a:r>
          </a:p>
          <a:p>
            <a:endParaRPr lang="en-US" altLang="en-US"/>
          </a:p>
        </p:txBody>
      </p:sp>
      <p:sp>
        <p:nvSpPr>
          <p:cNvPr id="132100" name="Slide Number Placeholder 3"/>
          <p:cNvSpPr>
            <a:spLocks noGrp="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5EAE2B1-442B-460B-8D89-38CD5488CCA6}" type="slidenum">
              <a:rPr lang="en-US" altLang="en-US" sz="1200"/>
              <a:pPr/>
              <a:t>7</a:t>
            </a:fld>
            <a:endParaRPr lang="en-US" altLang="en-US" sz="1200"/>
          </a:p>
        </p:txBody>
      </p:sp>
    </p:spTree>
    <p:extLst>
      <p:ext uri="{BB962C8B-B14F-4D97-AF65-F5344CB8AC3E}">
        <p14:creationId xmlns:p14="http://schemas.microsoft.com/office/powerpoint/2010/main" val="2116051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EA77DA8-89E0-49AF-966F-A62572FF302A}" type="slidenum">
              <a:rPr lang="en-US" altLang="en-US" sz="1200"/>
              <a:pPr/>
              <a:t>8</a:t>
            </a:fld>
            <a:endParaRPr lang="en-US" altLang="en-US" sz="1200"/>
          </a:p>
        </p:txBody>
      </p:sp>
      <p:sp>
        <p:nvSpPr>
          <p:cNvPr id="133123" name="Rectangle 2"/>
          <p:cNvSpPr>
            <a:spLocks noGrp="1" noRot="1" noChangeAspect="1" noChangeArrowheads="1" noTextEdit="1"/>
          </p:cNvSpPr>
          <p:nvPr>
            <p:ph type="sldImg"/>
          </p:nvPr>
        </p:nvSpPr>
        <p:spPr>
          <a:solidFill>
            <a:srgbClr val="FFFFFF"/>
          </a:solidFill>
          <a:ln/>
        </p:spPr>
      </p:sp>
      <p:sp>
        <p:nvSpPr>
          <p:cNvPr id="133124" name="Rectangle 3"/>
          <p:cNvSpPr>
            <a:spLocks noGrp="1" noChangeArrowheads="1"/>
          </p:cNvSpPr>
          <p:nvPr>
            <p:ph type="body" idx="1"/>
          </p:nvPr>
        </p:nvSpPr>
        <p:spPr>
          <a:solidFill>
            <a:srgbClr val="FFFFFF"/>
          </a:solidFill>
          <a:ln>
            <a:solidFill>
              <a:srgbClr val="000000"/>
            </a:solidFill>
          </a:ln>
        </p:spPr>
        <p:txBody>
          <a:bodyPr/>
          <a:lstStyle/>
          <a:p>
            <a:r>
              <a:rPr lang="en-US" altLang="en-US"/>
              <a:t> Have students name the organs of the urinary system labeled 1-4 in the figure.</a:t>
            </a:r>
          </a:p>
          <a:p>
            <a:r>
              <a:rPr lang="en-US" altLang="en-US"/>
              <a:t> What is the size and weight of a normal kidney?</a:t>
            </a:r>
          </a:p>
          <a:p>
            <a:r>
              <a:rPr lang="en-US" altLang="en-US"/>
              <a:t> What function is performed by the ureters?</a:t>
            </a:r>
          </a:p>
          <a:p>
            <a:r>
              <a:rPr lang="en-US" altLang="en-US"/>
              <a:t> What function is performed by the urinary bladder?</a:t>
            </a:r>
          </a:p>
          <a:p>
            <a:r>
              <a:rPr lang="en-US" altLang="en-US"/>
              <a:t> What function is performed by the urethra?</a:t>
            </a:r>
          </a:p>
        </p:txBody>
      </p:sp>
    </p:spTree>
    <p:extLst>
      <p:ext uri="{BB962C8B-B14F-4D97-AF65-F5344CB8AC3E}">
        <p14:creationId xmlns:p14="http://schemas.microsoft.com/office/powerpoint/2010/main" val="3039689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1062861-EBDB-4EA9-9F77-2E8A5E45E91B}" type="slidenum">
              <a:rPr lang="en-US" altLang="en-US" sz="1200"/>
              <a:pPr/>
              <a:t>9</a:t>
            </a:fld>
            <a:endParaRPr lang="en-US" altLang="en-US" sz="1200"/>
          </a:p>
        </p:txBody>
      </p:sp>
      <p:sp>
        <p:nvSpPr>
          <p:cNvPr id="134147" name="Rectangle 2"/>
          <p:cNvSpPr>
            <a:spLocks noGrp="1" noRot="1" noChangeAspect="1" noChangeArrowheads="1" noTextEdit="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r>
              <a:rPr lang="en-US" altLang="en-US"/>
              <a:t> Have students name the organs of the urinary system labeled 1-4 in the figure.</a:t>
            </a:r>
          </a:p>
          <a:p>
            <a:r>
              <a:rPr lang="en-US" altLang="en-US"/>
              <a:t> What is the size and weight of a normal kidney?</a:t>
            </a:r>
          </a:p>
          <a:p>
            <a:r>
              <a:rPr lang="en-US" altLang="en-US"/>
              <a:t> What function is performed by the ureters?</a:t>
            </a:r>
          </a:p>
          <a:p>
            <a:r>
              <a:rPr lang="en-US" altLang="en-US"/>
              <a:t> What function is performed by the urinary bladder?</a:t>
            </a:r>
          </a:p>
          <a:p>
            <a:r>
              <a:rPr lang="en-US" altLang="en-US"/>
              <a:t> What function is performed by the urethra?</a:t>
            </a:r>
          </a:p>
        </p:txBody>
      </p:sp>
    </p:spTree>
    <p:extLst>
      <p:ext uri="{BB962C8B-B14F-4D97-AF65-F5344CB8AC3E}">
        <p14:creationId xmlns:p14="http://schemas.microsoft.com/office/powerpoint/2010/main" val="3411882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B88626A-D101-4B57-BD68-B981C31496CA}" type="slidenum">
              <a:rPr lang="en-US" altLang="en-US" sz="1200"/>
              <a:pPr/>
              <a:t>10</a:t>
            </a:fld>
            <a:endParaRPr lang="en-US" altLang="en-US" sz="1200"/>
          </a:p>
        </p:txBody>
      </p:sp>
      <p:sp>
        <p:nvSpPr>
          <p:cNvPr id="135171" name="Rectangle 2"/>
          <p:cNvSpPr>
            <a:spLocks noGrp="1" noRot="1" noChangeAspect="1" noChangeArrowheads="1" noTextEdit="1"/>
          </p:cNvSpPr>
          <p:nvPr>
            <p:ph type="sldImg"/>
          </p:nvPr>
        </p:nvSpPr>
        <p:spPr>
          <a:solidFill>
            <a:srgbClr val="FFFFFF"/>
          </a:solidFill>
          <a:ln/>
        </p:spPr>
      </p:sp>
      <p:sp>
        <p:nvSpPr>
          <p:cNvPr id="135172" name="Rectangle 3"/>
          <p:cNvSpPr>
            <a:spLocks noGrp="1" noChangeArrowheads="1"/>
          </p:cNvSpPr>
          <p:nvPr>
            <p:ph type="body" idx="1"/>
          </p:nvPr>
        </p:nvSpPr>
        <p:spPr>
          <a:solidFill>
            <a:srgbClr val="FFFFFF"/>
          </a:solidFill>
          <a:ln>
            <a:solidFill>
              <a:srgbClr val="000000"/>
            </a:solidFill>
          </a:ln>
        </p:spPr>
        <p:txBody>
          <a:bodyPr/>
          <a:lstStyle/>
          <a:p>
            <a:r>
              <a:rPr lang="en-US" altLang="en-US"/>
              <a:t> How does the female urinary system differ from the male urinary system?</a:t>
            </a:r>
          </a:p>
          <a:p>
            <a:r>
              <a:rPr lang="en-US" altLang="en-US"/>
              <a:t> What is the trigone? What function does it perform?</a:t>
            </a:r>
          </a:p>
          <a:p>
            <a:r>
              <a:rPr lang="en-US" altLang="en-US"/>
              <a:t> What is micturition?</a:t>
            </a:r>
          </a:p>
        </p:txBody>
      </p:sp>
    </p:spTree>
    <p:extLst>
      <p:ext uri="{BB962C8B-B14F-4D97-AF65-F5344CB8AC3E}">
        <p14:creationId xmlns:p14="http://schemas.microsoft.com/office/powerpoint/2010/main" val="3474576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335EE4-678E-45C0-872E-39468750B7BE}" type="slidenum">
              <a:rPr lang="en-US" altLang="en-US" sz="1200"/>
              <a:pPr/>
              <a:t>11</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How does the female urinary system differ from the male urinary system?</a:t>
            </a:r>
          </a:p>
          <a:p>
            <a:r>
              <a:rPr lang="en-US" altLang="en-US"/>
              <a:t> What is the trigone? What function does it perform?</a:t>
            </a:r>
          </a:p>
          <a:p>
            <a:r>
              <a:rPr lang="en-US" altLang="en-US"/>
              <a:t> What is micturition?</a:t>
            </a:r>
          </a:p>
        </p:txBody>
      </p:sp>
    </p:spTree>
    <p:extLst>
      <p:ext uri="{BB962C8B-B14F-4D97-AF65-F5344CB8AC3E}">
        <p14:creationId xmlns:p14="http://schemas.microsoft.com/office/powerpoint/2010/main" val="255650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35ADAC-EE58-4E7C-AE85-44C80D05373A}" type="slidenum">
              <a:rPr lang="en-US" altLang="en-US" sz="1200"/>
              <a:pPr/>
              <a:t>12</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B: urination.</a:t>
            </a:r>
          </a:p>
        </p:txBody>
      </p:sp>
    </p:spTree>
    <p:extLst>
      <p:ext uri="{BB962C8B-B14F-4D97-AF65-F5344CB8AC3E}">
        <p14:creationId xmlns:p14="http://schemas.microsoft.com/office/powerpoint/2010/main" val="3077652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96CDB3F-5DD9-459B-A712-A2AC1430B95E}" type="slidenum">
              <a:rPr lang="en-US" altLang="en-US" sz="1200"/>
              <a:pPr/>
              <a:t>13</a:t>
            </a:fld>
            <a:endParaRPr lang="en-US" altLang="en-US" sz="1200"/>
          </a:p>
        </p:txBody>
      </p:sp>
      <p:sp>
        <p:nvSpPr>
          <p:cNvPr id="138243" name="Rectangle 2"/>
          <p:cNvSpPr>
            <a:spLocks noGrp="1" noRot="1" noChangeAspect="1" noChangeArrowheads="1" noTextEdit="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r>
              <a:rPr lang="en-US" altLang="en-US"/>
              <a:t> The renal artery branches into smaller arteries, arterioles, and glomeruli located throughout the cortex of the kidneys.</a:t>
            </a:r>
          </a:p>
          <a:p>
            <a:r>
              <a:rPr lang="en-US" altLang="en-US"/>
              <a:t> What is a glomerulus?</a:t>
            </a:r>
          </a:p>
          <a:p>
            <a:r>
              <a:rPr lang="en-US" altLang="en-US"/>
              <a:t> There are approximately one million glomeruli in the cortex of each kidney.</a:t>
            </a:r>
          </a:p>
          <a:p>
            <a:r>
              <a:rPr lang="en-US" altLang="en-US"/>
              <a:t> How does the kidney regulate blood pressure?</a:t>
            </a:r>
          </a:p>
          <a:p>
            <a:r>
              <a:rPr lang="en-US" altLang="en-US"/>
              <a:t> Why is maintenance of proper blood pressure important to the kidneys</a:t>
            </a:r>
            <a:r>
              <a:rPr lang="ja-JP" altLang="en-US"/>
              <a:t>’</a:t>
            </a:r>
            <a:r>
              <a:rPr lang="en-US" altLang="ja-JP"/>
              <a:t> function?</a:t>
            </a:r>
            <a:endParaRPr lang="en-US" altLang="en-US"/>
          </a:p>
        </p:txBody>
      </p:sp>
    </p:spTree>
    <p:extLst>
      <p:ext uri="{BB962C8B-B14F-4D97-AF65-F5344CB8AC3E}">
        <p14:creationId xmlns:p14="http://schemas.microsoft.com/office/powerpoint/2010/main" val="2969579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647963A-709D-4A18-AA91-8A2BA0AE6064}" type="slidenum">
              <a:rPr lang="en-US" altLang="en-US" sz="1200"/>
              <a:pPr/>
              <a:t>14</a:t>
            </a:fld>
            <a:endParaRPr lang="en-US" altLang="en-US" sz="1200"/>
          </a:p>
        </p:txBody>
      </p:sp>
      <p:sp>
        <p:nvSpPr>
          <p:cNvPr id="139267" name="Rectangle 2"/>
          <p:cNvSpPr>
            <a:spLocks noGrp="1" noRot="1" noChangeAspect="1" noChangeArrowheads="1" noTextEdit="1"/>
          </p:cNvSpPr>
          <p:nvPr>
            <p:ph type="sldImg"/>
          </p:nvPr>
        </p:nvSpPr>
        <p:spPr>
          <a:solidFill>
            <a:srgbClr val="FFFFFF"/>
          </a:solidFill>
          <a:ln/>
        </p:spPr>
      </p:sp>
      <p:sp>
        <p:nvSpPr>
          <p:cNvPr id="139268" name="Rectangle 3"/>
          <p:cNvSpPr>
            <a:spLocks noGrp="1" noChangeArrowheads="1"/>
          </p:cNvSpPr>
          <p:nvPr>
            <p:ph type="body" idx="1"/>
          </p:nvPr>
        </p:nvSpPr>
        <p:spPr>
          <a:solidFill>
            <a:srgbClr val="FFFFFF"/>
          </a:solidFill>
          <a:ln>
            <a:solidFill>
              <a:srgbClr val="000000"/>
            </a:solidFill>
          </a:ln>
        </p:spPr>
        <p:txBody>
          <a:bodyPr/>
          <a:lstStyle/>
          <a:p>
            <a:r>
              <a:rPr lang="en-US" altLang="en-US"/>
              <a:t> The renal artery branches into smaller arteries, arterioles, and glomeruli located throughout the cortex of the kidneys.</a:t>
            </a:r>
          </a:p>
          <a:p>
            <a:r>
              <a:rPr lang="en-US" altLang="en-US"/>
              <a:t> What is a glomerulus?</a:t>
            </a:r>
          </a:p>
          <a:p>
            <a:r>
              <a:rPr lang="en-US" altLang="en-US"/>
              <a:t> There are approximately one million glomeruli in the cortex of each kidney.</a:t>
            </a:r>
          </a:p>
          <a:p>
            <a:r>
              <a:rPr lang="en-US" altLang="en-US"/>
              <a:t> How does the kidney regulate blood pressure?</a:t>
            </a:r>
          </a:p>
          <a:p>
            <a:r>
              <a:rPr lang="en-US" altLang="en-US"/>
              <a:t> Why is maintenance of proper blood pressure important to the kidneys</a:t>
            </a:r>
            <a:r>
              <a:rPr lang="ja-JP" altLang="en-US"/>
              <a:t>’</a:t>
            </a:r>
            <a:r>
              <a:rPr lang="en-US" altLang="ja-JP"/>
              <a:t> function?</a:t>
            </a:r>
            <a:endParaRPr lang="en-US" altLang="en-US"/>
          </a:p>
        </p:txBody>
      </p:sp>
    </p:spTree>
    <p:extLst>
      <p:ext uri="{BB962C8B-B14F-4D97-AF65-F5344CB8AC3E}">
        <p14:creationId xmlns:p14="http://schemas.microsoft.com/office/powerpoint/2010/main" val="3739579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 What functions do the glomerulus, Bowman capsule, and renal tubule perform in the production of urine?</a:t>
            </a:r>
          </a:p>
          <a:p>
            <a:r>
              <a:rPr lang="en-US" altLang="en-US" dirty="0"/>
              <a:t> Why don</a:t>
            </a:r>
            <a:r>
              <a:rPr lang="ja-JP" altLang="en-US" dirty="0"/>
              <a:t>’</a:t>
            </a:r>
            <a:r>
              <a:rPr lang="en-US" altLang="ja-JP" dirty="0"/>
              <a:t>t proteins and blood cells usually appear in the urine?</a:t>
            </a:r>
          </a:p>
          <a:p>
            <a:r>
              <a:rPr lang="en-US" altLang="en-US" dirty="0"/>
              <a:t> What is the process of reabsorption?</a:t>
            </a:r>
          </a:p>
          <a:p>
            <a:r>
              <a:rPr lang="en-US" altLang="en-US" dirty="0"/>
              <a:t> What is secretion?</a:t>
            </a:r>
          </a:p>
          <a:p>
            <a:r>
              <a:rPr lang="en-US" altLang="en-US" dirty="0"/>
              <a:t> What substances make up urine? (Note: These substances become toxic if allowed to accumulate.)</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15</a:t>
            </a:fld>
            <a:endParaRPr lang="en-US" altLang="en-US"/>
          </a:p>
        </p:txBody>
      </p:sp>
    </p:spTree>
    <p:extLst>
      <p:ext uri="{BB962C8B-B14F-4D97-AF65-F5344CB8AC3E}">
        <p14:creationId xmlns:p14="http://schemas.microsoft.com/office/powerpoint/2010/main" val="1789240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46C4DF6-624B-4BB1-98D9-1D8BFD1F5121}" type="slidenum">
              <a:rPr lang="en-US" altLang="en-US" sz="1200"/>
              <a:pPr/>
              <a:t>16</a:t>
            </a:fld>
            <a:endParaRPr lang="en-US" altLang="en-US" sz="1200"/>
          </a:p>
        </p:txBody>
      </p:sp>
      <p:sp>
        <p:nvSpPr>
          <p:cNvPr id="141315" name="Rectangle 2"/>
          <p:cNvSpPr>
            <a:spLocks noGrp="1" noRot="1" noChangeAspect="1" noChangeArrowheads="1" noTextEdit="1"/>
          </p:cNvSpPr>
          <p:nvPr>
            <p:ph type="sldImg"/>
          </p:nvPr>
        </p:nvSpPr>
        <p:spPr>
          <a:solidFill>
            <a:srgbClr val="FFFFFF"/>
          </a:solidFill>
          <a:ln/>
        </p:spPr>
      </p:sp>
      <p:sp>
        <p:nvSpPr>
          <p:cNvPr id="141316" name="Rectangle 3"/>
          <p:cNvSpPr>
            <a:spLocks noGrp="1" noChangeArrowheads="1"/>
          </p:cNvSpPr>
          <p:nvPr>
            <p:ph type="body" idx="1"/>
          </p:nvPr>
        </p:nvSpPr>
        <p:spPr>
          <a:solidFill>
            <a:srgbClr val="FFFFFF"/>
          </a:solidFill>
          <a:ln>
            <a:solidFill>
              <a:srgbClr val="000000"/>
            </a:solidFill>
          </a:ln>
        </p:spPr>
        <p:txBody>
          <a:bodyPr/>
          <a:lstStyle/>
          <a:p>
            <a:r>
              <a:rPr lang="en-US" altLang="en-US"/>
              <a:t> What functions do the glomerulus, Bowman capsule, and renal tubule perform in the production of urine?</a:t>
            </a:r>
          </a:p>
          <a:p>
            <a:r>
              <a:rPr lang="en-US" altLang="en-US"/>
              <a:t> Why don</a:t>
            </a:r>
            <a:r>
              <a:rPr lang="ja-JP" altLang="en-US"/>
              <a:t>’</a:t>
            </a:r>
            <a:r>
              <a:rPr lang="en-US" altLang="ja-JP"/>
              <a:t>t proteins and blood cells usually appear in the urine?</a:t>
            </a:r>
          </a:p>
          <a:p>
            <a:r>
              <a:rPr lang="en-US" altLang="en-US"/>
              <a:t> What is the process of reabsorption?</a:t>
            </a:r>
          </a:p>
          <a:p>
            <a:r>
              <a:rPr lang="en-US" altLang="en-US"/>
              <a:t> What is secretion?</a:t>
            </a:r>
          </a:p>
          <a:p>
            <a:r>
              <a:rPr lang="en-US" altLang="en-US"/>
              <a:t> What substances make up urine? (Note: These substances become toxic if allowed to accumulate.)</a:t>
            </a:r>
          </a:p>
        </p:txBody>
      </p:sp>
    </p:spTree>
    <p:extLst>
      <p:ext uri="{BB962C8B-B14F-4D97-AF65-F5344CB8AC3E}">
        <p14:creationId xmlns:p14="http://schemas.microsoft.com/office/powerpoint/2010/main" val="2901246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What functions are performed in each of the three steps in the formation of urine?</a:t>
            </a:r>
          </a:p>
          <a:p>
            <a:r>
              <a:rPr lang="en-US" altLang="en-US" dirty="0"/>
              <a:t> The combination of a glomerulus and a renal tubule is called a nephron. There are more than one million nephrons in a kidney.</a:t>
            </a:r>
          </a:p>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17</a:t>
            </a:fld>
            <a:endParaRPr lang="en-US" altLang="en-US"/>
          </a:p>
        </p:txBody>
      </p:sp>
    </p:spTree>
    <p:extLst>
      <p:ext uri="{BB962C8B-B14F-4D97-AF65-F5344CB8AC3E}">
        <p14:creationId xmlns:p14="http://schemas.microsoft.com/office/powerpoint/2010/main" val="525598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C608D3B-5126-4571-AA49-E6191A7DC638}" type="slidenum">
              <a:rPr lang="en-US" altLang="en-US" sz="1200"/>
              <a:pPr/>
              <a:t>18</a:t>
            </a:fld>
            <a:endParaRPr lang="en-US" altLang="en-US" sz="120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What functions are performed in each of the three steps in the formation of urine?</a:t>
            </a:r>
          </a:p>
          <a:p>
            <a:r>
              <a:rPr lang="en-US" altLang="en-US"/>
              <a:t> The combination of a glomerulus and a renal tubule is called a nephron. There are more than one million nephrons in a kidney.</a:t>
            </a:r>
          </a:p>
        </p:txBody>
      </p:sp>
    </p:spTree>
    <p:extLst>
      <p:ext uri="{BB962C8B-B14F-4D97-AF65-F5344CB8AC3E}">
        <p14:creationId xmlns:p14="http://schemas.microsoft.com/office/powerpoint/2010/main" val="2803320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526CA6D-6CB0-4F89-87D3-F3D75705BA1C}" type="slidenum">
              <a:rPr lang="en-US" altLang="en-US" sz="1200"/>
              <a:pPr/>
              <a:t>19</a:t>
            </a:fld>
            <a:endParaRPr lang="en-US"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3973445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D4E8CEF-2199-4621-8779-C5B004E05E86}" type="slidenum">
              <a:rPr lang="en-US" altLang="en-US" sz="1200"/>
              <a:pPr/>
              <a:t>20</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1579801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01556CE-BF7F-438D-B5E6-0C0E0FEEB267}" type="slidenum">
              <a:rPr lang="en-US" altLang="en-US" sz="1200"/>
              <a:pPr/>
              <a:t>21</a:t>
            </a:fld>
            <a:endParaRPr lang="en-US" altLang="en-US"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C: one million.</a:t>
            </a:r>
          </a:p>
        </p:txBody>
      </p:sp>
    </p:spTree>
    <p:extLst>
      <p:ext uri="{BB962C8B-B14F-4D97-AF65-F5344CB8AC3E}">
        <p14:creationId xmlns:p14="http://schemas.microsoft.com/office/powerpoint/2010/main" val="3348028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53123A2-9401-46E7-BEEF-64FF17708993}" type="slidenum">
              <a:rPr lang="en-US" altLang="en-US" sz="1200"/>
              <a:pPr/>
              <a:t>22</a:t>
            </a:fld>
            <a:endParaRPr lang="en-US" altLang="en-US" sz="120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Notice how secretion and reabsorption are functions of the same organs.</a:t>
            </a:r>
          </a:p>
          <a:p>
            <a:r>
              <a:rPr lang="en-US" altLang="en-US"/>
              <a:t> Cup-like regions in the renal pelvis are called calyces or calices.</a:t>
            </a:r>
          </a:p>
          <a:p>
            <a:r>
              <a:rPr lang="en-US" altLang="en-US"/>
              <a:t> Where do all connecting tubules lead?</a:t>
            </a:r>
          </a:p>
          <a:p>
            <a:r>
              <a:rPr lang="en-US" altLang="en-US"/>
              <a:t> The renal pelvis narrows to form the ureter.</a:t>
            </a:r>
          </a:p>
          <a:p>
            <a:r>
              <a:rPr lang="en-US" altLang="en-US"/>
              <a:t> To which organ does the ureter lead?</a:t>
            </a:r>
          </a:p>
        </p:txBody>
      </p:sp>
    </p:spTree>
    <p:extLst>
      <p:ext uri="{BB962C8B-B14F-4D97-AF65-F5344CB8AC3E}">
        <p14:creationId xmlns:p14="http://schemas.microsoft.com/office/powerpoint/2010/main" val="1046273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5877971-8C7E-4EB6-B83D-7CF3663B8978}" type="slidenum">
              <a:rPr lang="en-US" altLang="en-US" sz="1200"/>
              <a:pPr/>
              <a:t>23</a:t>
            </a:fld>
            <a:endParaRPr lang="en-US" altLang="en-US" sz="120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Notice how secretion and reabsorption are functions of the same organs.</a:t>
            </a:r>
          </a:p>
          <a:p>
            <a:r>
              <a:rPr lang="en-US" altLang="en-US"/>
              <a:t> Cup-like regions in the renal pelvis are called calyces or calices.</a:t>
            </a:r>
          </a:p>
          <a:p>
            <a:r>
              <a:rPr lang="en-US" altLang="en-US"/>
              <a:t> Where do all connecting tubules lead?</a:t>
            </a:r>
          </a:p>
          <a:p>
            <a:r>
              <a:rPr lang="en-US" altLang="en-US"/>
              <a:t> The renal pelvis narrows to form the ureter.</a:t>
            </a:r>
          </a:p>
          <a:p>
            <a:r>
              <a:rPr lang="en-US" altLang="en-US"/>
              <a:t> To which organ does the ureter lead?</a:t>
            </a:r>
          </a:p>
        </p:txBody>
      </p:sp>
    </p:spTree>
    <p:extLst>
      <p:ext uri="{BB962C8B-B14F-4D97-AF65-F5344CB8AC3E}">
        <p14:creationId xmlns:p14="http://schemas.microsoft.com/office/powerpoint/2010/main" val="5726853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63F26B4-C69D-4FFD-B6AD-117307894614}" type="slidenum">
              <a:rPr lang="en-US" altLang="en-US" sz="1200"/>
              <a:pPr/>
              <a:t>24</a:t>
            </a:fld>
            <a:endParaRPr lang="en-US"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How is urine flow from the bladder to the urethra controlled?</a:t>
            </a:r>
          </a:p>
          <a:p>
            <a:r>
              <a:rPr lang="en-US" altLang="en-US"/>
              <a:t> What triggers the need to urinate?</a:t>
            </a:r>
          </a:p>
          <a:p>
            <a:r>
              <a:rPr lang="en-US" altLang="en-US"/>
              <a:t> Urine finally exits the body through the urinary meatus.</a:t>
            </a:r>
          </a:p>
        </p:txBody>
      </p:sp>
    </p:spTree>
    <p:extLst>
      <p:ext uri="{BB962C8B-B14F-4D97-AF65-F5344CB8AC3E}">
        <p14:creationId xmlns:p14="http://schemas.microsoft.com/office/powerpoint/2010/main" val="3730825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62289A0-03E6-4DCF-BB69-B763774EDE87}" type="slidenum">
              <a:rPr lang="en-US" altLang="en-US" sz="1200"/>
              <a:pPr/>
              <a:t>25</a:t>
            </a:fld>
            <a:endParaRPr lang="en-US" altLang="en-US"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How is urine flow from the bladder to the urethra controlled?</a:t>
            </a:r>
          </a:p>
          <a:p>
            <a:r>
              <a:rPr lang="en-US" altLang="en-US"/>
              <a:t> What triggers the need to urinate?</a:t>
            </a:r>
          </a:p>
          <a:p>
            <a:r>
              <a:rPr lang="en-US" altLang="en-US"/>
              <a:t> Urine finally exits the body through the urinary meatus.</a:t>
            </a:r>
          </a:p>
        </p:txBody>
      </p:sp>
    </p:spTree>
    <p:extLst>
      <p:ext uri="{BB962C8B-B14F-4D97-AF65-F5344CB8AC3E}">
        <p14:creationId xmlns:p14="http://schemas.microsoft.com/office/powerpoint/2010/main" val="32307377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26</a:t>
            </a:fld>
            <a:endParaRPr lang="en-US" altLang="en-US"/>
          </a:p>
        </p:txBody>
      </p:sp>
    </p:spTree>
    <p:extLst>
      <p:ext uri="{BB962C8B-B14F-4D97-AF65-F5344CB8AC3E}">
        <p14:creationId xmlns:p14="http://schemas.microsoft.com/office/powerpoint/2010/main" val="9663681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27</a:t>
            </a:fld>
            <a:endParaRPr lang="en-US" altLang="en-US"/>
          </a:p>
        </p:txBody>
      </p:sp>
    </p:spTree>
    <p:extLst>
      <p:ext uri="{BB962C8B-B14F-4D97-AF65-F5344CB8AC3E}">
        <p14:creationId xmlns:p14="http://schemas.microsoft.com/office/powerpoint/2010/main" val="2792840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29</a:t>
            </a:fld>
            <a:endParaRPr lang="en-US" altLang="en-US"/>
          </a:p>
        </p:txBody>
      </p:sp>
    </p:spTree>
    <p:extLst>
      <p:ext uri="{BB962C8B-B14F-4D97-AF65-F5344CB8AC3E}">
        <p14:creationId xmlns:p14="http://schemas.microsoft.com/office/powerpoint/2010/main" val="3043661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39</a:t>
            </a:fld>
            <a:endParaRPr lang="en-US" altLang="en-US"/>
          </a:p>
        </p:txBody>
      </p:sp>
    </p:spTree>
    <p:extLst>
      <p:ext uri="{BB962C8B-B14F-4D97-AF65-F5344CB8AC3E}">
        <p14:creationId xmlns:p14="http://schemas.microsoft.com/office/powerpoint/2010/main" val="4257144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4030AEC-3F23-4363-A52C-187952C65172}" type="slidenum">
              <a:rPr lang="en-US" altLang="en-US" sz="1200"/>
              <a:pPr/>
              <a:t>52</a:t>
            </a:fld>
            <a:endParaRPr lang="en-US" altLang="en-US" sz="120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t> Colorless urine = large amount of water in the urine. Smoky-red or brown = presence of blood in the urine.</a:t>
            </a:r>
          </a:p>
          <a:p>
            <a:pPr>
              <a:buFont typeface="Times" panose="02020603050405020304" pitchFamily="18" charset="0"/>
              <a:buChar char="•"/>
            </a:pPr>
            <a:r>
              <a:rPr lang="en-US" altLang="en-US"/>
              <a:t> Normal pH is 6.5 (slightly acidic).</a:t>
            </a:r>
          </a:p>
          <a:p>
            <a:pPr>
              <a:buFont typeface="Times" panose="02020603050405020304" pitchFamily="18" charset="0"/>
              <a:buChar char="•"/>
            </a:pPr>
            <a:r>
              <a:rPr lang="en-US" altLang="en-US"/>
              <a:t> Protein test looks for albumin, which indicates a leak in the glomerular membrane.</a:t>
            </a:r>
          </a:p>
          <a:p>
            <a:pPr>
              <a:buFont typeface="Times" panose="02020603050405020304" pitchFamily="18" charset="0"/>
              <a:buChar char="•"/>
            </a:pPr>
            <a:r>
              <a:rPr lang="en-US" altLang="en-US"/>
              <a:t> Glucose presence signals possibility of diabetes.</a:t>
            </a:r>
          </a:p>
        </p:txBody>
      </p:sp>
    </p:spTree>
    <p:extLst>
      <p:ext uri="{BB962C8B-B14F-4D97-AF65-F5344CB8AC3E}">
        <p14:creationId xmlns:p14="http://schemas.microsoft.com/office/powerpoint/2010/main" val="1443411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88C6F7E-3A2F-4E31-9343-7B9DB7CD800A}" type="slidenum">
              <a:rPr lang="en-US" altLang="en-US" sz="1200"/>
              <a:pPr/>
              <a:t>53</a:t>
            </a:fld>
            <a:endParaRPr lang="en-US" altLang="en-US" sz="1200"/>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t> Specific gravity reflects the amount of wastes and minerals.</a:t>
            </a:r>
          </a:p>
          <a:p>
            <a:pPr>
              <a:buFont typeface="Times" panose="02020603050405020304" pitchFamily="18" charset="0"/>
              <a:buChar char="•"/>
            </a:pPr>
            <a:r>
              <a:rPr lang="en-US" altLang="en-US"/>
              <a:t> Ketone bodies appear when the body breaks down fat.</a:t>
            </a:r>
          </a:p>
          <a:p>
            <a:pPr>
              <a:buFont typeface="Times" panose="02020603050405020304" pitchFamily="18" charset="0"/>
              <a:buChar char="•"/>
            </a:pPr>
            <a:r>
              <a:rPr lang="en-US" altLang="en-US"/>
              <a:t> Sediment are abnormal particles.</a:t>
            </a:r>
          </a:p>
          <a:p>
            <a:pPr>
              <a:buFont typeface="Times" panose="02020603050405020304" pitchFamily="18" charset="0"/>
              <a:buChar char="•"/>
            </a:pPr>
            <a:r>
              <a:rPr lang="en-US" altLang="en-US"/>
              <a:t> Phenylketonuria indicates a lack of enzyme, especially in infants. PKU test measures this.</a:t>
            </a:r>
          </a:p>
          <a:p>
            <a:pPr>
              <a:buFont typeface="Times" panose="02020603050405020304" pitchFamily="18" charset="0"/>
              <a:buChar char="•"/>
            </a:pPr>
            <a:r>
              <a:rPr lang="en-US" altLang="en-US"/>
              <a:t> Bilirubin results from a hemoglobin breakdown.</a:t>
            </a:r>
          </a:p>
        </p:txBody>
      </p:sp>
    </p:spTree>
    <p:extLst>
      <p:ext uri="{BB962C8B-B14F-4D97-AF65-F5344CB8AC3E}">
        <p14:creationId xmlns:p14="http://schemas.microsoft.com/office/powerpoint/2010/main" val="27991136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D4D8544-2279-4FF7-9954-03D06961E645}" type="slidenum">
              <a:rPr lang="en-US" altLang="en-US" sz="1200"/>
              <a:pPr/>
              <a:t>54</a:t>
            </a:fld>
            <a:endParaRPr lang="en-US" altLang="en-US" sz="120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D.  Specific gravity compares the density of urine with that of water.</a:t>
            </a:r>
          </a:p>
        </p:txBody>
      </p:sp>
    </p:spTree>
    <p:extLst>
      <p:ext uri="{BB962C8B-B14F-4D97-AF65-F5344CB8AC3E}">
        <p14:creationId xmlns:p14="http://schemas.microsoft.com/office/powerpoint/2010/main" val="2063052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C8B74B1-B81A-4B62-AB51-57BA5152B607}" type="slidenum">
              <a:rPr lang="en-US" altLang="en-US" sz="1200"/>
              <a:pPr/>
              <a:t>55</a:t>
            </a:fld>
            <a:endParaRPr lang="en-US" altLang="en-US" sz="1200"/>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p>
        </p:txBody>
      </p:sp>
    </p:spTree>
    <p:extLst>
      <p:ext uri="{BB962C8B-B14F-4D97-AF65-F5344CB8AC3E}">
        <p14:creationId xmlns:p14="http://schemas.microsoft.com/office/powerpoint/2010/main" val="1201266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A84400C-7A3F-4249-B808-EB5E28CEEA12}" type="slidenum">
              <a:rPr lang="en-US" altLang="en-US" sz="1200"/>
              <a:pPr/>
              <a:t>56</a:t>
            </a:fld>
            <a:endParaRPr lang="en-US" altLang="en-US" sz="1200"/>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Clr>
                <a:schemeClr val="tx1"/>
              </a:buClr>
              <a:buFont typeface="Times" panose="02020603050405020304" pitchFamily="18" charset="0"/>
              <a:buChar char="•"/>
            </a:pPr>
            <a:r>
              <a:rPr lang="en-US" altLang="en-US"/>
              <a:t> Glomerulonephritis is the inflammation of the glomeruli within the kidney due to infection; it can lead to hypertension and renal failure if untreated.</a:t>
            </a:r>
          </a:p>
          <a:p>
            <a:pPr>
              <a:lnSpc>
                <a:spcPct val="90000"/>
              </a:lnSpc>
              <a:buClr>
                <a:schemeClr val="tx1"/>
              </a:buClr>
              <a:buSzPct val="80000"/>
              <a:buFont typeface="Times" panose="02020603050405020304" pitchFamily="18" charset="0"/>
              <a:buChar char="•"/>
            </a:pPr>
            <a:r>
              <a:rPr lang="en-US" altLang="en-US"/>
              <a:t> What is interstitial nephritis?</a:t>
            </a:r>
          </a:p>
          <a:p>
            <a:pPr>
              <a:lnSpc>
                <a:spcPct val="90000"/>
              </a:lnSpc>
              <a:buClr>
                <a:schemeClr val="tx1"/>
              </a:buClr>
              <a:buSzPct val="80000"/>
              <a:buFont typeface="Times" panose="02020603050405020304" pitchFamily="18" charset="0"/>
              <a:buChar char="•"/>
            </a:pPr>
            <a:r>
              <a:rPr lang="en-US" altLang="en-US"/>
              <a:t> What procedure might a physician recommend for a patient with nephrolithiasis?</a:t>
            </a:r>
          </a:p>
          <a:p>
            <a:pPr>
              <a:lnSpc>
                <a:spcPct val="90000"/>
              </a:lnSpc>
              <a:buClr>
                <a:schemeClr val="tx1"/>
              </a:buClr>
              <a:buSzPct val="80000"/>
              <a:buFont typeface="Times" panose="02020603050405020304" pitchFamily="18" charset="0"/>
              <a:buChar char="•"/>
            </a:pPr>
            <a:r>
              <a:rPr lang="en-US" altLang="en-US"/>
              <a:t> Nephrotic syndrome is a collection of symptoms caused by excessive protein loss in urine.</a:t>
            </a:r>
          </a:p>
          <a:p>
            <a:pPr>
              <a:lnSpc>
                <a:spcPct val="90000"/>
              </a:lnSpc>
              <a:buClr>
                <a:schemeClr val="tx1"/>
              </a:buClr>
              <a:buSzPct val="80000"/>
              <a:buFont typeface="Times" panose="02020603050405020304" pitchFamily="18" charset="0"/>
              <a:buChar char="•"/>
            </a:pPr>
            <a:r>
              <a:rPr lang="en-US" altLang="en-US"/>
              <a:t> Polycystic kidneys are a hereditary condition characterized by a progressive growth of cysts. There are two types of hereditary PKD. One type is usually asymptomatic until middle age and then is marked by maturia, urinary tract infections, and nephrolithiasis. The other type of PKD occurs in infants or children and results in renal failure.</a:t>
            </a:r>
          </a:p>
        </p:txBody>
      </p:sp>
    </p:spTree>
    <p:extLst>
      <p:ext uri="{BB962C8B-B14F-4D97-AF65-F5344CB8AC3E}">
        <p14:creationId xmlns:p14="http://schemas.microsoft.com/office/powerpoint/2010/main" val="1875251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27B4730-4DC6-4A38-A4A1-BDB21A90133A}" type="slidenum">
              <a:rPr lang="en-US" altLang="en-US" sz="1200"/>
              <a:pPr/>
              <a:t>57</a:t>
            </a:fld>
            <a:endParaRPr lang="en-US" altLang="en-US" sz="1200"/>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lnSpc>
                <a:spcPct val="90000"/>
              </a:lnSpc>
              <a:buClr>
                <a:schemeClr val="tx1"/>
              </a:buClr>
              <a:buSzPct val="80000"/>
              <a:buFont typeface="Times" panose="02020603050405020304" pitchFamily="18" charset="0"/>
              <a:buChar char="•"/>
            </a:pPr>
            <a:r>
              <a:rPr lang="en-US" altLang="en-US"/>
              <a:t> Polycystic kidneys are a hereditary condition characterized by a progressive growth of cysts.</a:t>
            </a:r>
          </a:p>
        </p:txBody>
      </p:sp>
    </p:spTree>
    <p:extLst>
      <p:ext uri="{BB962C8B-B14F-4D97-AF65-F5344CB8AC3E}">
        <p14:creationId xmlns:p14="http://schemas.microsoft.com/office/powerpoint/2010/main" val="4148404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C1802D5-C5A1-4242-961A-ECA6C5BA916D}" type="slidenum">
              <a:rPr lang="en-US" altLang="en-US" sz="1200"/>
              <a:pPr/>
              <a:t>58</a:t>
            </a:fld>
            <a:endParaRPr lang="en-US" altLang="en-US" sz="1200"/>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t> Pyelonephritis is the inflammation of the lining of the renal pelvis and renal parenchyma. </a:t>
            </a:r>
          </a:p>
          <a:p>
            <a:pPr>
              <a:buFont typeface="Times" panose="02020603050405020304" pitchFamily="18" charset="0"/>
              <a:buChar char="•"/>
            </a:pPr>
            <a:r>
              <a:rPr lang="en-US" altLang="en-US"/>
              <a:t> Renal cell carcinoma is adult cancer of the kidney—2% of all adult cancers.</a:t>
            </a:r>
          </a:p>
          <a:p>
            <a:pPr>
              <a:lnSpc>
                <a:spcPct val="90000"/>
              </a:lnSpc>
              <a:buSzPct val="80000"/>
              <a:buFont typeface="Times" panose="02020603050405020304" pitchFamily="18" charset="0"/>
              <a:buChar char="•"/>
            </a:pPr>
            <a:r>
              <a:rPr lang="en-US" altLang="en-US"/>
              <a:t> What occurs during renal failure?</a:t>
            </a:r>
          </a:p>
          <a:p>
            <a:pPr>
              <a:lnSpc>
                <a:spcPct val="90000"/>
              </a:lnSpc>
              <a:buSzPct val="80000"/>
              <a:buFont typeface="Times" panose="02020603050405020304" pitchFamily="18" charset="0"/>
              <a:buChar char="•"/>
            </a:pPr>
            <a:r>
              <a:rPr lang="en-US" altLang="en-US"/>
              <a:t> How does renal hypertension differ from essential hypertension?</a:t>
            </a:r>
          </a:p>
          <a:p>
            <a:pPr>
              <a:lnSpc>
                <a:spcPct val="90000"/>
              </a:lnSpc>
              <a:buSzPct val="80000"/>
              <a:buFont typeface="Times" panose="02020603050405020304" pitchFamily="18" charset="0"/>
              <a:buChar char="•"/>
            </a:pPr>
            <a:r>
              <a:rPr lang="en-US" altLang="en-US"/>
              <a:t> Wilms tumor is a malignant tumor of the kidney occurring in childhood and is an example of an eponym.</a:t>
            </a:r>
          </a:p>
        </p:txBody>
      </p:sp>
    </p:spTree>
    <p:extLst>
      <p:ext uri="{BB962C8B-B14F-4D97-AF65-F5344CB8AC3E}">
        <p14:creationId xmlns:p14="http://schemas.microsoft.com/office/powerpoint/2010/main" val="14585447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738BA16-C5DD-4E79-BFC2-FBD7B992F870}" type="slidenum">
              <a:rPr lang="en-US" altLang="en-US" sz="1200"/>
              <a:pPr/>
              <a:t>59</a:t>
            </a:fld>
            <a:endParaRPr lang="en-US" altLang="en-US" sz="1200"/>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Clr>
                <a:schemeClr val="tx1"/>
              </a:buClr>
              <a:buFont typeface="Times" panose="02020603050405020304" pitchFamily="18" charset="0"/>
              <a:buChar char="•"/>
            </a:pPr>
            <a:endParaRPr lang="en-US" altLang="en-US"/>
          </a:p>
        </p:txBody>
      </p:sp>
    </p:spTree>
    <p:extLst>
      <p:ext uri="{BB962C8B-B14F-4D97-AF65-F5344CB8AC3E}">
        <p14:creationId xmlns:p14="http://schemas.microsoft.com/office/powerpoint/2010/main" val="17429590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70D7BE3-7C01-46BD-AF1B-030E2228A1A0}" type="slidenum">
              <a:rPr lang="en-US" altLang="en-US" sz="1200"/>
              <a:pPr/>
              <a:t>60</a:t>
            </a:fld>
            <a:endParaRPr lang="en-US" altLang="en-US" sz="120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lnSpc>
                <a:spcPct val="90000"/>
              </a:lnSpc>
              <a:buClr>
                <a:schemeClr val="tx1"/>
              </a:buClr>
              <a:buFont typeface="Times" panose="02020603050405020304" pitchFamily="18" charset="0"/>
              <a:buChar char="•"/>
            </a:pPr>
            <a:r>
              <a:rPr lang="en-US" altLang="en-US"/>
              <a:t> What risk factors are associated with bladder cancer?</a:t>
            </a:r>
          </a:p>
          <a:p>
            <a:pPr>
              <a:lnSpc>
                <a:spcPct val="90000"/>
              </a:lnSpc>
              <a:buClr>
                <a:schemeClr val="tx1"/>
              </a:buClr>
              <a:buSzPct val="80000"/>
              <a:buFont typeface="Times" panose="02020603050405020304" pitchFamily="18" charset="0"/>
              <a:buChar char="•"/>
            </a:pPr>
            <a:r>
              <a:rPr lang="en-US" altLang="en-US"/>
              <a:t> Diabetes insipidus: Antidiuretic hormone is not secreted adequately or the kidney is resistant to its effect.</a:t>
            </a:r>
          </a:p>
          <a:p>
            <a:pPr>
              <a:lnSpc>
                <a:spcPct val="90000"/>
              </a:lnSpc>
              <a:buClr>
                <a:schemeClr val="tx1"/>
              </a:buClr>
              <a:buSzPct val="80000"/>
              <a:buFont typeface="Times" panose="02020603050405020304" pitchFamily="18" charset="0"/>
              <a:buChar char="•"/>
            </a:pPr>
            <a:r>
              <a:rPr lang="en-US" altLang="en-US"/>
              <a:t> Diabetes mellitus:  Insulin is not secreted adequately or not used properly in the body.</a:t>
            </a:r>
          </a:p>
          <a:p>
            <a:pPr>
              <a:lnSpc>
                <a:spcPct val="90000"/>
              </a:lnSpc>
              <a:buClr>
                <a:schemeClr val="tx1"/>
              </a:buClr>
              <a:buSzPct val="80000"/>
              <a:buFont typeface="Times" panose="02020603050405020304" pitchFamily="18" charset="0"/>
              <a:buChar char="•"/>
            </a:pPr>
            <a:r>
              <a:rPr lang="en-US" altLang="en-US"/>
              <a:t> How does each of these conditions affect the kidneys?</a:t>
            </a:r>
          </a:p>
        </p:txBody>
      </p:sp>
    </p:spTree>
    <p:extLst>
      <p:ext uri="{BB962C8B-B14F-4D97-AF65-F5344CB8AC3E}">
        <p14:creationId xmlns:p14="http://schemas.microsoft.com/office/powerpoint/2010/main" val="2788522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5E55C6E-A1D3-4903-B1A7-A7621AB4B642}" type="slidenum">
              <a:rPr lang="en-US" altLang="en-US" sz="1200"/>
              <a:pPr/>
              <a:t>61</a:t>
            </a:fld>
            <a:endParaRPr lang="en-US" altLang="en-US" sz="120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The correct answer is B: nocturia.</a:t>
            </a:r>
          </a:p>
        </p:txBody>
      </p:sp>
    </p:spTree>
    <p:extLst>
      <p:ext uri="{BB962C8B-B14F-4D97-AF65-F5344CB8AC3E}">
        <p14:creationId xmlns:p14="http://schemas.microsoft.com/office/powerpoint/2010/main" val="2785407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B2DD909-42F2-4299-9B0F-27054DC25F96}" type="slidenum">
              <a:rPr lang="en-US" altLang="en-US" sz="1200"/>
              <a:pPr/>
              <a:t>62</a:t>
            </a:fld>
            <a:endParaRPr lang="en-US" altLang="en-US" sz="1200"/>
          </a:p>
        </p:txBody>
      </p:sp>
      <p:sp>
        <p:nvSpPr>
          <p:cNvPr id="200707" name="Rectangle 2"/>
          <p:cNvSpPr>
            <a:spLocks noGrp="1" noRot="1" noChangeAspect="1" noChangeArrowheads="1" noTextEdit="1"/>
          </p:cNvSpPr>
          <p:nvPr>
            <p:ph type="sldImg"/>
          </p:nvPr>
        </p:nvSpPr>
        <p:spPr>
          <a:solidFill>
            <a:srgbClr val="FFFFFF"/>
          </a:solidFill>
          <a:ln/>
        </p:spPr>
      </p:sp>
      <p:sp>
        <p:nvSpPr>
          <p:cNvPr id="200708" name="Rectangle 3"/>
          <p:cNvSpPr>
            <a:spLocks noGrp="1" noChangeArrowheads="1"/>
          </p:cNvSpPr>
          <p:nvPr>
            <p:ph type="body" idx="1"/>
          </p:nvPr>
        </p:nvSpPr>
        <p:spPr>
          <a:solidFill>
            <a:srgbClr val="FFFFFF"/>
          </a:solidFill>
          <a:ln>
            <a:solidFill>
              <a:srgbClr val="000000"/>
            </a:solidFill>
          </a:ln>
        </p:spPr>
        <p:txBody>
          <a:bodyPr/>
          <a:lstStyle/>
          <a:p>
            <a:r>
              <a:rPr lang="en-US" altLang="en-US"/>
              <a:t> Which procedure tests for uremia?</a:t>
            </a:r>
          </a:p>
          <a:p>
            <a:r>
              <a:rPr lang="en-US" altLang="en-US"/>
              <a:t> Which test measures the rate at which creatinine is cleared from the blood?</a:t>
            </a:r>
          </a:p>
          <a:p>
            <a:r>
              <a:rPr lang="en-US" altLang="en-US"/>
              <a:t> What is azotemia?</a:t>
            </a:r>
          </a:p>
          <a:p>
            <a:r>
              <a:rPr lang="en-US" altLang="en-US"/>
              <a:t> What role do the kidneys play in BUN levels? </a:t>
            </a:r>
          </a:p>
        </p:txBody>
      </p:sp>
    </p:spTree>
    <p:extLst>
      <p:ext uri="{BB962C8B-B14F-4D97-AF65-F5344CB8AC3E}">
        <p14:creationId xmlns:p14="http://schemas.microsoft.com/office/powerpoint/2010/main" val="31123524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A644C67-2974-4DD5-BAC1-323F93268901}" type="slidenum">
              <a:rPr lang="en-US" altLang="en-US" sz="1200"/>
              <a:pPr/>
              <a:t>63</a:t>
            </a:fld>
            <a:endParaRPr lang="en-US" altLang="en-US" sz="1200"/>
          </a:p>
        </p:txBody>
      </p:sp>
      <p:sp>
        <p:nvSpPr>
          <p:cNvPr id="201731" name="Rectangle 2"/>
          <p:cNvSpPr>
            <a:spLocks noGrp="1" noRot="1" noChangeAspect="1" noChangeArrowheads="1" noTextEdit="1"/>
          </p:cNvSpPr>
          <p:nvPr>
            <p:ph type="sldImg"/>
          </p:nvPr>
        </p:nvSpPr>
        <p:spPr>
          <a:solidFill>
            <a:srgbClr val="FFFFFF"/>
          </a:solidFill>
          <a:ln/>
        </p:spPr>
      </p:sp>
      <p:sp>
        <p:nvSpPr>
          <p:cNvPr id="201732" name="Rectangle 3"/>
          <p:cNvSpPr>
            <a:spLocks noGrp="1" noChangeArrowheads="1"/>
          </p:cNvSpPr>
          <p:nvPr>
            <p:ph type="body" idx="1"/>
          </p:nvPr>
        </p:nvSpPr>
        <p:spPr>
          <a:solidFill>
            <a:srgbClr val="FFFFFF"/>
          </a:solidFill>
          <a:ln>
            <a:solidFill>
              <a:srgbClr val="000000"/>
            </a:solidFill>
          </a:ln>
        </p:spPr>
        <p:txBody>
          <a:bodyPr/>
          <a:lstStyle/>
          <a:p>
            <a:r>
              <a:rPr lang="en-US" altLang="en-US">
                <a:cs typeface="Times New Roman" panose="02020603050405020304" pitchFamily="18" charset="0"/>
              </a:rPr>
              <a:t> How do these x-rays differ? </a:t>
            </a:r>
          </a:p>
          <a:p>
            <a:r>
              <a:rPr lang="en-US" altLang="en-US">
                <a:cs typeface="Times New Roman" panose="02020603050405020304" pitchFamily="18" charset="0"/>
              </a:rPr>
              <a:t> Which tests require contrast material? </a:t>
            </a:r>
          </a:p>
          <a:p>
            <a:r>
              <a:rPr lang="en-US" altLang="en-US">
                <a:cs typeface="Times New Roman" panose="02020603050405020304" pitchFamily="18" charset="0"/>
              </a:rPr>
              <a:t> Why is it important to measure the size of the kidneys (KUB)?</a:t>
            </a:r>
          </a:p>
          <a:p>
            <a:r>
              <a:rPr lang="en-US" altLang="en-US">
                <a:cs typeface="Times New Roman" panose="02020603050405020304" pitchFamily="18" charset="0"/>
              </a:rPr>
              <a:t> Which tests require urinary catheterization? </a:t>
            </a:r>
          </a:p>
          <a:p>
            <a:r>
              <a:rPr lang="en-US" altLang="en-US"/>
              <a:t> Why would someone have RP instead of IVP?</a:t>
            </a:r>
          </a:p>
        </p:txBody>
      </p:sp>
    </p:spTree>
    <p:extLst>
      <p:ext uri="{BB962C8B-B14F-4D97-AF65-F5344CB8AC3E}">
        <p14:creationId xmlns:p14="http://schemas.microsoft.com/office/powerpoint/2010/main" val="4280445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9052454-13E9-42FA-8433-7DEAB156B707}" type="slidenum">
              <a:rPr lang="en-US" altLang="en-US" sz="1200"/>
              <a:pPr/>
              <a:t>64</a:t>
            </a:fld>
            <a:endParaRPr lang="en-US" altLang="en-US" sz="1200"/>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US" altLang="en-US"/>
          </a:p>
        </p:txBody>
      </p:sp>
    </p:spTree>
    <p:extLst>
      <p:ext uri="{BB962C8B-B14F-4D97-AF65-F5344CB8AC3E}">
        <p14:creationId xmlns:p14="http://schemas.microsoft.com/office/powerpoint/2010/main" val="14811664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848271F1-6C3E-4CD6-9BA8-55913C7CB1B1}" type="slidenum">
              <a:rPr lang="en-US" altLang="en-US" sz="1200"/>
              <a:pPr/>
              <a:t>65</a:t>
            </a:fld>
            <a:endParaRPr lang="en-US" altLang="en-US" sz="1200"/>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US" altLang="en-US"/>
          </a:p>
        </p:txBody>
      </p:sp>
    </p:spTree>
    <p:extLst>
      <p:ext uri="{BB962C8B-B14F-4D97-AF65-F5344CB8AC3E}">
        <p14:creationId xmlns:p14="http://schemas.microsoft.com/office/powerpoint/2010/main" val="1372754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65F2BD2-8194-4010-AD0E-089BC3D6ED82}" type="slidenum">
              <a:rPr lang="en-US" altLang="en-US" sz="1200"/>
              <a:pPr/>
              <a:t>66</a:t>
            </a:fld>
            <a:endParaRPr lang="en-US" altLang="en-US" sz="1200"/>
          </a:p>
        </p:txBody>
      </p:sp>
      <p:sp>
        <p:nvSpPr>
          <p:cNvPr id="204803" name="Rectangle 2"/>
          <p:cNvSpPr>
            <a:spLocks noGrp="1" noRot="1" noChangeAspect="1" noChangeArrowheads="1" noTextEdit="1"/>
          </p:cNvSpPr>
          <p:nvPr>
            <p:ph type="sldImg"/>
          </p:nvPr>
        </p:nvSpPr>
        <p:spPr>
          <a:solidFill>
            <a:srgbClr val="FFFFFF"/>
          </a:solidFill>
          <a:ln/>
        </p:spPr>
      </p:sp>
      <p:sp>
        <p:nvSpPr>
          <p:cNvPr id="204804" name="Rectangle 3"/>
          <p:cNvSpPr>
            <a:spLocks noGrp="1" noChangeArrowheads="1"/>
          </p:cNvSpPr>
          <p:nvPr>
            <p:ph type="body" idx="1"/>
          </p:nvPr>
        </p:nvSpPr>
        <p:spPr>
          <a:solidFill>
            <a:srgbClr val="FFFFFF"/>
          </a:solidFill>
          <a:ln>
            <a:solidFill>
              <a:srgbClr val="000000"/>
            </a:solidFill>
          </a:ln>
        </p:spPr>
        <p:txBody>
          <a:bodyPr/>
          <a:lstStyle/>
          <a:p>
            <a:r>
              <a:rPr lang="en-US" altLang="en-US">
                <a:cs typeface="Times New Roman" panose="02020603050405020304" pitchFamily="18" charset="0"/>
              </a:rPr>
              <a:t> What is hydronephrosis? </a:t>
            </a:r>
          </a:p>
          <a:p>
            <a:r>
              <a:rPr lang="en-US" altLang="en-US">
                <a:cs typeface="Times New Roman" panose="02020603050405020304" pitchFamily="18" charset="0"/>
              </a:rPr>
              <a:t> What might cause the kidney to be enlarged?</a:t>
            </a:r>
          </a:p>
          <a:p>
            <a:r>
              <a:rPr lang="en-US" altLang="en-US">
                <a:cs typeface="Times New Roman" panose="02020603050405020304" pitchFamily="18" charset="0"/>
              </a:rPr>
              <a:t> What can be diagnosed in the urinary system using sound waves?</a:t>
            </a:r>
            <a:endParaRPr lang="en-US" altLang="en-US"/>
          </a:p>
        </p:txBody>
      </p:sp>
    </p:spTree>
    <p:extLst>
      <p:ext uri="{BB962C8B-B14F-4D97-AF65-F5344CB8AC3E}">
        <p14:creationId xmlns:p14="http://schemas.microsoft.com/office/powerpoint/2010/main" val="4002602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1746E9F-E5E7-4AAC-BB84-553ABDD1CC82}" type="slidenum">
              <a:rPr lang="en-US" altLang="en-US" sz="1200"/>
              <a:pPr/>
              <a:t>67</a:t>
            </a:fld>
            <a:endParaRPr lang="en-US" altLang="en-US" sz="1200"/>
          </a:p>
        </p:txBody>
      </p:sp>
      <p:sp>
        <p:nvSpPr>
          <p:cNvPr id="205827" name="Rectangle 2"/>
          <p:cNvSpPr>
            <a:spLocks noGrp="1" noRot="1" noChangeAspect="1" noChangeArrowheads="1" noTextEdit="1"/>
          </p:cNvSpPr>
          <p:nvPr>
            <p:ph type="sldImg"/>
          </p:nvPr>
        </p:nvSpPr>
        <p:spPr>
          <a:solidFill>
            <a:srgbClr val="FFFFFF"/>
          </a:solidFill>
          <a:ln/>
        </p:spPr>
      </p:sp>
      <p:sp>
        <p:nvSpPr>
          <p:cNvPr id="205828" name="Rectangle 3"/>
          <p:cNvSpPr>
            <a:spLocks noGrp="1" noChangeArrowheads="1"/>
          </p:cNvSpPr>
          <p:nvPr>
            <p:ph type="body" idx="1"/>
          </p:nvPr>
        </p:nvSpPr>
        <p:spPr>
          <a:solidFill>
            <a:srgbClr val="FFFFFF"/>
          </a:solidFill>
          <a:ln>
            <a:solidFill>
              <a:srgbClr val="000000"/>
            </a:solidFill>
          </a:ln>
        </p:spPr>
        <p:txBody>
          <a:bodyPr/>
          <a:lstStyle/>
          <a:p>
            <a:r>
              <a:rPr lang="en-US" altLang="en-US"/>
              <a:t> How is an MRI of the kidney performed?</a:t>
            </a:r>
          </a:p>
        </p:txBody>
      </p:sp>
    </p:spTree>
    <p:extLst>
      <p:ext uri="{BB962C8B-B14F-4D97-AF65-F5344CB8AC3E}">
        <p14:creationId xmlns:p14="http://schemas.microsoft.com/office/powerpoint/2010/main" val="16169701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8544D04-245A-40E3-B6A6-FFB8EE49963F}" type="slidenum">
              <a:rPr lang="en-US" altLang="en-US" sz="1200"/>
              <a:pPr/>
              <a:t>68</a:t>
            </a:fld>
            <a:endParaRPr lang="en-US" altLang="en-US" sz="1200"/>
          </a:p>
        </p:txBody>
      </p:sp>
      <p:sp>
        <p:nvSpPr>
          <p:cNvPr id="206851" name="Rectangle 2"/>
          <p:cNvSpPr>
            <a:spLocks noGrp="1" noRot="1" noChangeAspect="1" noChangeArrowheads="1" noTextEdit="1"/>
          </p:cNvSpPr>
          <p:nvPr>
            <p:ph type="sldImg"/>
          </p:nvPr>
        </p:nvSpPr>
        <p:spPr>
          <a:solidFill>
            <a:srgbClr val="FFFFFF"/>
          </a:solidFill>
          <a:ln/>
        </p:spPr>
      </p:sp>
      <p:sp>
        <p:nvSpPr>
          <p:cNvPr id="206852" name="Rectangle 3"/>
          <p:cNvSpPr>
            <a:spLocks noGrp="1" noChangeArrowheads="1"/>
          </p:cNvSpPr>
          <p:nvPr>
            <p:ph type="body" idx="1"/>
          </p:nvPr>
        </p:nvSpPr>
        <p:spPr>
          <a:solidFill>
            <a:srgbClr val="FFFFFF"/>
          </a:solidFill>
          <a:ln>
            <a:solidFill>
              <a:srgbClr val="000000"/>
            </a:solidFill>
          </a:ln>
        </p:spPr>
        <p:txBody>
          <a:bodyPr/>
          <a:lstStyle/>
          <a:p>
            <a:pPr>
              <a:lnSpc>
                <a:spcPct val="90000"/>
              </a:lnSpc>
              <a:buClr>
                <a:schemeClr val="tx1"/>
              </a:buClr>
              <a:buSzPct val="80000"/>
              <a:buFont typeface="Times" panose="02020603050405020304" pitchFamily="18" charset="0"/>
              <a:buChar char="•"/>
            </a:pPr>
            <a:r>
              <a:rPr lang="en-US" altLang="en-US"/>
              <a:t> Cystoscopy  allows for visual examination through a hollow metal tube.</a:t>
            </a:r>
          </a:p>
          <a:p>
            <a:pPr>
              <a:lnSpc>
                <a:spcPct val="90000"/>
              </a:lnSpc>
              <a:buClr>
                <a:schemeClr val="tx1"/>
              </a:buClr>
              <a:buSzPct val="80000"/>
              <a:buFont typeface="Times" panose="02020603050405020304" pitchFamily="18" charset="0"/>
              <a:buChar char="•"/>
            </a:pPr>
            <a:r>
              <a:rPr lang="en-US" altLang="en-US"/>
              <a:t> What is the difference between hemodialysis and peritoneal dialysis?</a:t>
            </a:r>
          </a:p>
          <a:p>
            <a:pPr>
              <a:lnSpc>
                <a:spcPct val="90000"/>
              </a:lnSpc>
              <a:buClr>
                <a:schemeClr val="tx1"/>
              </a:buClr>
              <a:buSzPct val="80000"/>
              <a:buFont typeface="Times" panose="02020603050405020304" pitchFamily="18" charset="0"/>
              <a:buChar char="•"/>
            </a:pPr>
            <a:r>
              <a:rPr lang="en-US" altLang="en-US"/>
              <a:t> What procedure might be required to remove kidney stones? </a:t>
            </a:r>
          </a:p>
          <a:p>
            <a:pPr>
              <a:lnSpc>
                <a:spcPct val="90000"/>
              </a:lnSpc>
              <a:buClr>
                <a:schemeClr val="tx1"/>
              </a:buClr>
              <a:buSzPct val="80000"/>
              <a:buFont typeface="Times" panose="02020603050405020304" pitchFamily="18" charset="0"/>
              <a:buChar char="•"/>
            </a:pPr>
            <a:r>
              <a:rPr lang="en-US" altLang="en-US"/>
              <a:t> Describe the process of catheterization. </a:t>
            </a:r>
          </a:p>
        </p:txBody>
      </p:sp>
    </p:spTree>
    <p:extLst>
      <p:ext uri="{BB962C8B-B14F-4D97-AF65-F5344CB8AC3E}">
        <p14:creationId xmlns:p14="http://schemas.microsoft.com/office/powerpoint/2010/main" val="3564221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561E2F6-F64E-4612-95F5-4970C9FD071F}" type="slidenum">
              <a:rPr lang="en-US" altLang="en-US" sz="1200"/>
              <a:pPr/>
              <a:t>69</a:t>
            </a:fld>
            <a:endParaRPr lang="en-US" altLang="en-US" sz="1200"/>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How is a cytoscopy performed?</a:t>
            </a:r>
          </a:p>
        </p:txBody>
      </p:sp>
    </p:spTree>
    <p:extLst>
      <p:ext uri="{BB962C8B-B14F-4D97-AF65-F5344CB8AC3E}">
        <p14:creationId xmlns:p14="http://schemas.microsoft.com/office/powerpoint/2010/main" val="6588706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18B3D6A-D59C-4C3A-9454-D742A342C60F}" type="slidenum">
              <a:rPr lang="en-US" altLang="en-US" sz="1200"/>
              <a:pPr/>
              <a:t>70</a:t>
            </a:fld>
            <a:endParaRPr lang="en-US" altLang="en-US" sz="1200"/>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US" altLang="en-US"/>
          </a:p>
        </p:txBody>
      </p:sp>
    </p:spTree>
    <p:extLst>
      <p:ext uri="{BB962C8B-B14F-4D97-AF65-F5344CB8AC3E}">
        <p14:creationId xmlns:p14="http://schemas.microsoft.com/office/powerpoint/2010/main" val="21207212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E21591D-1999-4495-BD71-D76449CCA076}" type="slidenum">
              <a:rPr lang="en-US" altLang="en-US" sz="1200"/>
              <a:pPr/>
              <a:t>71</a:t>
            </a:fld>
            <a:endParaRPr lang="en-US" altLang="en-US" sz="1200"/>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CAPD can be performed continuously by the patient without artificial support.</a:t>
            </a:r>
          </a:p>
          <a:p>
            <a:r>
              <a:rPr lang="en-US" altLang="en-US"/>
              <a:t> What other peritoneal dialysis procedures may be performed?</a:t>
            </a:r>
          </a:p>
        </p:txBody>
      </p:sp>
    </p:spTree>
    <p:extLst>
      <p:ext uri="{BB962C8B-B14F-4D97-AF65-F5344CB8AC3E}">
        <p14:creationId xmlns:p14="http://schemas.microsoft.com/office/powerpoint/2010/main" val="11007665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72</a:t>
            </a:fld>
            <a:endParaRPr lang="en-US" altLang="en-US"/>
          </a:p>
        </p:txBody>
      </p:sp>
    </p:spTree>
    <p:extLst>
      <p:ext uri="{BB962C8B-B14F-4D97-AF65-F5344CB8AC3E}">
        <p14:creationId xmlns:p14="http://schemas.microsoft.com/office/powerpoint/2010/main" val="3803124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77</a:t>
            </a:fld>
            <a:endParaRPr lang="en-US" altLang="en-US"/>
          </a:p>
        </p:txBody>
      </p:sp>
    </p:spTree>
    <p:extLst>
      <p:ext uri="{BB962C8B-B14F-4D97-AF65-F5344CB8AC3E}">
        <p14:creationId xmlns:p14="http://schemas.microsoft.com/office/powerpoint/2010/main" val="8669294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EDF6679-21BB-4841-984D-193BBE5528EF}" type="slidenum">
              <a:rPr lang="en-US" altLang="en-US" sz="1200"/>
              <a:pPr/>
              <a:t>78</a:t>
            </a:fld>
            <a:endParaRPr lang="en-US" altLang="en-US" sz="1200"/>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B; this is the abbreviation for retrograde pyelogram. </a:t>
            </a:r>
          </a:p>
          <a:p>
            <a:r>
              <a:rPr lang="en-US" altLang="en-US"/>
              <a:t> Incorrect answer A is CAPD—continuous ambulatory periotoneal dialysis. </a:t>
            </a:r>
          </a:p>
          <a:p>
            <a:r>
              <a:rPr lang="en-US" altLang="en-US"/>
              <a:t> Incorrect answer C is HD—hemodialysis. </a:t>
            </a:r>
          </a:p>
          <a:p>
            <a:r>
              <a:rPr lang="en-US" altLang="en-US"/>
              <a:t> Incorrect answer D is K</a:t>
            </a:r>
            <a:r>
              <a:rPr lang="en-US" altLang="en-US" baseline="30000"/>
              <a:t>+</a:t>
            </a:r>
            <a:r>
              <a:rPr lang="en-US" altLang="en-US"/>
              <a:t> potassium.</a:t>
            </a:r>
          </a:p>
        </p:txBody>
      </p:sp>
    </p:spTree>
    <p:extLst>
      <p:ext uri="{BB962C8B-B14F-4D97-AF65-F5344CB8AC3E}">
        <p14:creationId xmlns:p14="http://schemas.microsoft.com/office/powerpoint/2010/main" val="21344940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100</a:t>
            </a:fld>
            <a:endParaRPr lang="en-US" altLang="en-US"/>
          </a:p>
        </p:txBody>
      </p:sp>
    </p:spTree>
    <p:extLst>
      <p:ext uri="{BB962C8B-B14F-4D97-AF65-F5344CB8AC3E}">
        <p14:creationId xmlns:p14="http://schemas.microsoft.com/office/powerpoint/2010/main" val="42108839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E888862-9E3B-46E1-A4BD-6AF6662A5008}" type="slidenum">
              <a:rPr lang="en-US" altLang="en-US" sz="1200"/>
              <a:pPr/>
              <a:t>101</a:t>
            </a:fld>
            <a:endParaRPr lang="en-US" altLang="en-US" sz="1200"/>
          </a:p>
        </p:txBody>
      </p:sp>
      <p:sp>
        <p:nvSpPr>
          <p:cNvPr id="240643" name="Rectangle 2"/>
          <p:cNvSpPr>
            <a:spLocks noGrp="1" noRot="1" noChangeAspect="1" noChangeArrowheads="1" noTextEdit="1"/>
          </p:cNvSpPr>
          <p:nvPr>
            <p:ph type="sldImg"/>
          </p:nvPr>
        </p:nvSpPr>
        <p:spPr>
          <a:ln/>
        </p:spPr>
      </p:sp>
      <p:sp>
        <p:nvSpPr>
          <p:cNvPr id="24064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C: thirst.</a:t>
            </a:r>
          </a:p>
        </p:txBody>
      </p:sp>
    </p:spTree>
    <p:extLst>
      <p:ext uri="{BB962C8B-B14F-4D97-AF65-F5344CB8AC3E}">
        <p14:creationId xmlns:p14="http://schemas.microsoft.com/office/powerpoint/2010/main" val="25905397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69F52F5-EF69-4A07-9511-75D9C88FAEF4}" type="slidenum">
              <a:rPr lang="en-US" altLang="en-US" sz="1200"/>
              <a:pPr/>
              <a:t>102</a:t>
            </a:fld>
            <a:endParaRPr lang="en-US" altLang="en-US" sz="1200"/>
          </a:p>
        </p:txBody>
      </p:sp>
      <p:sp>
        <p:nvSpPr>
          <p:cNvPr id="241667" name="Rectangle 2"/>
          <p:cNvSpPr>
            <a:spLocks noGrp="1" noRot="1" noChangeAspect="1" noChangeArrowheads="1" noTextEdit="1"/>
          </p:cNvSpPr>
          <p:nvPr>
            <p:ph type="sldImg"/>
          </p:nvPr>
        </p:nvSpPr>
        <p:spPr>
          <a:ln/>
        </p:spPr>
      </p:sp>
      <p:sp>
        <p:nvSpPr>
          <p:cNvPr id="24166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D: py/o.</a:t>
            </a:r>
          </a:p>
        </p:txBody>
      </p:sp>
    </p:spTree>
    <p:extLst>
      <p:ext uri="{BB962C8B-B14F-4D97-AF65-F5344CB8AC3E}">
        <p14:creationId xmlns:p14="http://schemas.microsoft.com/office/powerpoint/2010/main" val="369278929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B8C0F1F-E682-4CB9-A955-4F5251F4DB01}" type="slidenum">
              <a:rPr lang="en-US" altLang="en-US" sz="1200"/>
              <a:pPr/>
              <a:t>103</a:t>
            </a:fld>
            <a:endParaRPr lang="en-US" altLang="en-US" sz="1200"/>
          </a:p>
        </p:txBody>
      </p:sp>
      <p:sp>
        <p:nvSpPr>
          <p:cNvPr id="242691" name="Rectangle 2"/>
          <p:cNvSpPr>
            <a:spLocks noGrp="1" noRot="1" noChangeAspect="1" noChangeArrowheads="1" noTextEdit="1"/>
          </p:cNvSpPr>
          <p:nvPr>
            <p:ph type="sldImg"/>
          </p:nvPr>
        </p:nvSpPr>
        <p:spPr>
          <a:ln/>
        </p:spPr>
      </p:sp>
      <p:sp>
        <p:nvSpPr>
          <p:cNvPr id="24269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t> The correct answer is B: to hold back.</a:t>
            </a:r>
          </a:p>
        </p:txBody>
      </p:sp>
    </p:spTree>
    <p:extLst>
      <p:ext uri="{BB962C8B-B14F-4D97-AF65-F5344CB8AC3E}">
        <p14:creationId xmlns:p14="http://schemas.microsoft.com/office/powerpoint/2010/main" val="2112255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514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41475"/>
            <a:ext cx="3810000" cy="4454525"/>
          </a:xfrm>
        </p:spPr>
        <p:txBody>
          <a:bodyPr rtlCol="0">
            <a:normAutofit/>
          </a:bodyPr>
          <a:lstStyle/>
          <a:p>
            <a:pPr lvl="0"/>
            <a:endParaRPr lang="en-US" noProof="0"/>
          </a:p>
        </p:txBody>
      </p:sp>
    </p:spTree>
    <p:extLst>
      <p:ext uri="{BB962C8B-B14F-4D97-AF65-F5344CB8AC3E}">
        <p14:creationId xmlns:p14="http://schemas.microsoft.com/office/powerpoint/2010/main" val="627673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7772400" cy="2151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44938"/>
            <a:ext cx="7772400" cy="215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50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618C9E6A-01F2-F26E-2422-4B75DA90932E}"/>
              </a:ext>
            </a:extLst>
          </p:cNvPr>
          <p:cNvPicPr>
            <a:picLocks noChangeAspect="1"/>
          </p:cNvPicPr>
          <p:nvPr userDrawn="1"/>
        </p:nvPicPr>
        <p:blipFill>
          <a:blip r:embed="rId17"/>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 id="2147483954" r:id="rId15"/>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a:br>
            <a:r>
              <a:rPr lang="en-US"/>
              <a:t>13</a:t>
            </a:r>
            <a:r>
              <a:rPr lang="en-US" baseline="30000"/>
              <a:t>th</a:t>
            </a:r>
            <a:r>
              <a:rPr lang="en-US"/>
              <a:t> </a:t>
            </a:r>
            <a:r>
              <a:rPr lang="en-US" dirty="0"/>
              <a:t>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7 </a:t>
            </a:r>
            <a:br>
              <a:rPr lang="en-US" dirty="0"/>
            </a:br>
            <a:r>
              <a:rPr lang="en-US" dirty="0"/>
              <a:t>Urinary System</a:t>
            </a:r>
            <a:endParaRPr lang="es-419" dirty="0"/>
          </a:p>
        </p:txBody>
      </p:sp>
    </p:spTree>
    <p:extLst>
      <p:ext uri="{BB962C8B-B14F-4D97-AF65-F5344CB8AC3E}">
        <p14:creationId xmlns:p14="http://schemas.microsoft.com/office/powerpoint/2010/main" val="285588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r>
              <a:rPr lang="en-US" altLang="en-US" dirty="0"/>
              <a:t>Chapter Goals (Slide 1 of 2)</a:t>
            </a:r>
          </a:p>
        </p:txBody>
      </p:sp>
      <p:sp>
        <p:nvSpPr>
          <p:cNvPr id="9219" name="Rectangle 5"/>
          <p:cNvSpPr>
            <a:spLocks noGrp="1" noChangeArrowheads="1"/>
          </p:cNvSpPr>
          <p:nvPr>
            <p:ph idx="1"/>
          </p:nvPr>
        </p:nvSpPr>
        <p:spPr/>
        <p:txBody>
          <a:bodyPr/>
          <a:lstStyle/>
          <a:p>
            <a:pPr eaLnBrk="1" hangingPunct="1"/>
            <a:r>
              <a:rPr lang="en-US" altLang="en-US"/>
              <a:t>Name essential organs of the urinary system and describe their locations and functions.</a:t>
            </a:r>
          </a:p>
          <a:p>
            <a:pPr eaLnBrk="1" hangingPunct="1"/>
            <a:r>
              <a:rPr lang="en-US" altLang="en-US"/>
              <a:t>Identify common pathological conditions.</a:t>
            </a:r>
          </a:p>
          <a:p>
            <a:pPr eaLnBrk="1" hangingPunct="1"/>
            <a:r>
              <a:rPr lang="en-US" altLang="en-US"/>
              <a:t>Recognize how urinalysis is used and interpreted as a diagnostic test.</a:t>
            </a:r>
          </a:p>
          <a:p>
            <a:pPr eaLnBrk="1" hangingPunct="1"/>
            <a:r>
              <a:rPr lang="en-US" altLang="en-US"/>
              <a:t>Define urinary-system-related combining forms, prefixes, and suffixes.</a:t>
            </a:r>
          </a:p>
        </p:txBody>
      </p:sp>
    </p:spTree>
    <p:extLst>
      <p:ext uri="{BB962C8B-B14F-4D97-AF65-F5344CB8AC3E}">
        <p14:creationId xmlns:p14="http://schemas.microsoft.com/office/powerpoint/2010/main" val="897254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p:txBody>
          <a:bodyPr/>
          <a:lstStyle/>
          <a:p>
            <a:pPr eaLnBrk="1" hangingPunct="1"/>
            <a:r>
              <a:rPr lang="en-US" altLang="en-US" dirty="0"/>
              <a:t>Chapter Goals (Slide 2 of 2)</a:t>
            </a:r>
          </a:p>
        </p:txBody>
      </p:sp>
      <p:sp>
        <p:nvSpPr>
          <p:cNvPr id="10243" name="Rectangle 5"/>
          <p:cNvSpPr>
            <a:spLocks noGrp="1" noChangeArrowheads="1"/>
          </p:cNvSpPr>
          <p:nvPr>
            <p:ph idx="1"/>
          </p:nvPr>
        </p:nvSpPr>
        <p:spPr/>
        <p:txBody>
          <a:bodyPr/>
          <a:lstStyle/>
          <a:p>
            <a:pPr eaLnBrk="1" hangingPunct="1"/>
            <a:r>
              <a:rPr lang="en-US" altLang="en-US"/>
              <a:t>List and explain clinical procedures, laboratory tests, and abbreviations that pertain to the urinary system. </a:t>
            </a:r>
          </a:p>
          <a:p>
            <a:pPr eaLnBrk="1" hangingPunct="1"/>
            <a:r>
              <a:rPr lang="en-US" altLang="en-US"/>
              <a:t>Understand medical terms in their proper contexts, such as medical reports and records.</a:t>
            </a:r>
          </a:p>
        </p:txBody>
      </p:sp>
    </p:spTree>
    <p:extLst>
      <p:ext uri="{BB962C8B-B14F-4D97-AF65-F5344CB8AC3E}">
        <p14:creationId xmlns:p14="http://schemas.microsoft.com/office/powerpoint/2010/main" val="4067551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1"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7 </a:t>
            </a:r>
            <a:br>
              <a:rPr lang="en-US" dirty="0"/>
            </a:br>
            <a:r>
              <a:rPr lang="en-US" dirty="0"/>
              <a:t>Lesson 7.1</a:t>
            </a:r>
          </a:p>
        </p:txBody>
      </p:sp>
    </p:spTree>
    <p:extLst>
      <p:ext uri="{BB962C8B-B14F-4D97-AF65-F5344CB8AC3E}">
        <p14:creationId xmlns:p14="http://schemas.microsoft.com/office/powerpoint/2010/main" val="63320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title"/>
          </p:nvPr>
        </p:nvSpPr>
        <p:spPr/>
        <p:txBody>
          <a:bodyPr/>
          <a:lstStyle/>
          <a:p>
            <a:pPr eaLnBrk="1" hangingPunct="1"/>
            <a:r>
              <a:rPr lang="en-US" altLang="en-US" dirty="0"/>
              <a:t>Introduction (Slide 1 of 2)</a:t>
            </a:r>
          </a:p>
        </p:txBody>
      </p:sp>
      <p:sp>
        <p:nvSpPr>
          <p:cNvPr id="12291" name="Rectangle 6"/>
          <p:cNvSpPr>
            <a:spLocks noGrp="1" noChangeArrowheads="1"/>
          </p:cNvSpPr>
          <p:nvPr>
            <p:ph idx="1"/>
          </p:nvPr>
        </p:nvSpPr>
        <p:spPr>
          <a:xfrm>
            <a:off x="838200" y="1600200"/>
            <a:ext cx="6858000" cy="4343400"/>
          </a:xfrm>
        </p:spPr>
        <p:txBody>
          <a:bodyPr/>
          <a:lstStyle/>
          <a:p>
            <a:pPr eaLnBrk="1" hangingPunct="1">
              <a:lnSpc>
                <a:spcPct val="90000"/>
              </a:lnSpc>
            </a:pPr>
            <a:r>
              <a:rPr lang="en-US" altLang="en-US" b="1">
                <a:ea typeface="MS PGothic" panose="020B0600070205080204" pitchFamily="34" charset="-128"/>
              </a:rPr>
              <a:t>Nitrogenous wastes</a:t>
            </a:r>
            <a:endParaRPr lang="en-US" altLang="en-US">
              <a:ea typeface="MS PGothic" panose="020B0600070205080204" pitchFamily="34" charset="-128"/>
            </a:endParaRPr>
          </a:p>
          <a:p>
            <a:pPr lvl="1" eaLnBrk="1" hangingPunct="1">
              <a:lnSpc>
                <a:spcPct val="90000"/>
              </a:lnSpc>
              <a:buFont typeface="Wingdings" panose="05000000000000000000" pitchFamily="2" charset="2"/>
              <a:buChar char="Ø"/>
            </a:pPr>
            <a:r>
              <a:rPr lang="en-US" altLang="en-US" b="1">
                <a:ea typeface="MS PGothic" panose="020B0600070205080204" pitchFamily="34" charset="-128"/>
              </a:rPr>
              <a:t>Urea </a:t>
            </a:r>
          </a:p>
          <a:p>
            <a:pPr lvl="1" eaLnBrk="1" hangingPunct="1">
              <a:lnSpc>
                <a:spcPct val="90000"/>
              </a:lnSpc>
              <a:buFont typeface="Wingdings" panose="05000000000000000000" pitchFamily="2" charset="2"/>
              <a:buChar char="Ø"/>
            </a:pPr>
            <a:r>
              <a:rPr lang="en-US" altLang="en-US" b="1">
                <a:ea typeface="MS PGothic" panose="020B0600070205080204" pitchFamily="34" charset="-128"/>
              </a:rPr>
              <a:t>Creatinine </a:t>
            </a:r>
          </a:p>
          <a:p>
            <a:pPr lvl="1" eaLnBrk="1" hangingPunct="1">
              <a:lnSpc>
                <a:spcPct val="90000"/>
              </a:lnSpc>
              <a:buFont typeface="Wingdings" panose="05000000000000000000" pitchFamily="2" charset="2"/>
              <a:buChar char="Ø"/>
            </a:pPr>
            <a:r>
              <a:rPr lang="en-US" altLang="en-US" b="1">
                <a:ea typeface="MS PGothic" panose="020B0600070205080204" pitchFamily="34" charset="-128"/>
              </a:rPr>
              <a:t>Uric acid</a:t>
            </a:r>
          </a:p>
          <a:p>
            <a:pPr lvl="1" eaLnBrk="1" hangingPunct="1">
              <a:lnSpc>
                <a:spcPct val="90000"/>
              </a:lnSpc>
              <a:buFont typeface="Wingdings" panose="05000000000000000000" pitchFamily="2" charset="2"/>
              <a:buChar char="Ø"/>
            </a:pPr>
            <a:endParaRPr lang="en-US" altLang="en-US" sz="900" b="1">
              <a:ea typeface="MS PGothic" panose="020B0600070205080204" pitchFamily="34" charset="-128"/>
            </a:endParaRPr>
          </a:p>
        </p:txBody>
      </p:sp>
    </p:spTree>
    <p:extLst>
      <p:ext uri="{BB962C8B-B14F-4D97-AF65-F5344CB8AC3E}">
        <p14:creationId xmlns:p14="http://schemas.microsoft.com/office/powerpoint/2010/main" val="4077182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Introduction (Slide 2 of 2)</a:t>
            </a:r>
          </a:p>
        </p:txBody>
      </p:sp>
      <p:sp>
        <p:nvSpPr>
          <p:cNvPr id="13315" name="Content Placeholder 2"/>
          <p:cNvSpPr>
            <a:spLocks noGrp="1"/>
          </p:cNvSpPr>
          <p:nvPr>
            <p:ph idx="1"/>
          </p:nvPr>
        </p:nvSpPr>
        <p:spPr>
          <a:xfrm>
            <a:off x="304800" y="1371600"/>
            <a:ext cx="8686800" cy="5257800"/>
          </a:xfrm>
        </p:spPr>
        <p:txBody>
          <a:bodyPr/>
          <a:lstStyle/>
          <a:p>
            <a:pPr eaLnBrk="1" hangingPunct="1">
              <a:lnSpc>
                <a:spcPct val="90000"/>
              </a:lnSpc>
            </a:pPr>
            <a:r>
              <a:rPr lang="en-US" altLang="en-US" b="1" dirty="0">
                <a:ea typeface="MS PGothic" panose="020B0600070205080204" pitchFamily="34" charset="-128"/>
              </a:rPr>
              <a:t>Functions of the kidney</a:t>
            </a:r>
          </a:p>
          <a:p>
            <a:pPr lvl="1" eaLnBrk="1" hangingPunct="1">
              <a:lnSpc>
                <a:spcPct val="90000"/>
              </a:lnSpc>
              <a:buFont typeface="Wingdings" panose="05000000000000000000" pitchFamily="2" charset="2"/>
              <a:buChar char="Ø"/>
            </a:pPr>
            <a:r>
              <a:rPr lang="en-US" altLang="en-US" sz="2400" dirty="0">
                <a:ea typeface="MS PGothic" panose="020B0600070205080204" pitchFamily="34" charset="-128"/>
              </a:rPr>
              <a:t>Filter nitrogenous wastes to form urine; about 200 quarts of blood are filtered every day to form 2 quarts of urine</a:t>
            </a:r>
          </a:p>
          <a:p>
            <a:pPr lvl="1" eaLnBrk="1" hangingPunct="1">
              <a:lnSpc>
                <a:spcPct val="90000"/>
              </a:lnSpc>
              <a:buFont typeface="Wingdings" panose="05000000000000000000" pitchFamily="2" charset="2"/>
              <a:buChar char="Ø"/>
            </a:pPr>
            <a:r>
              <a:rPr lang="en-US" altLang="en-US" sz="2400" dirty="0">
                <a:ea typeface="MS PGothic" panose="020B0600070205080204" pitchFamily="34" charset="-128"/>
              </a:rPr>
              <a:t>Maintain proper balance of water, electrolytes (sodium, potassium), and acids</a:t>
            </a:r>
          </a:p>
          <a:p>
            <a:pPr lvl="1" eaLnBrk="1" hangingPunct="1">
              <a:lnSpc>
                <a:spcPct val="90000"/>
              </a:lnSpc>
              <a:buFont typeface="Wingdings" panose="05000000000000000000" pitchFamily="2" charset="2"/>
              <a:buChar char="Ø"/>
            </a:pPr>
            <a:r>
              <a:rPr lang="en-US" altLang="en-US" sz="2400" dirty="0">
                <a:ea typeface="MS PGothic" panose="020B0600070205080204" pitchFamily="34" charset="-128"/>
              </a:rPr>
              <a:t>Release hormones:</a:t>
            </a:r>
          </a:p>
          <a:p>
            <a:pPr lvl="2" eaLnBrk="1" hangingPunct="1">
              <a:lnSpc>
                <a:spcPct val="90000"/>
              </a:lnSpc>
            </a:pPr>
            <a:r>
              <a:rPr lang="en-US" altLang="en-US" sz="2000" b="1" dirty="0">
                <a:ea typeface="MS PGothic" panose="020B0600070205080204" pitchFamily="34" charset="-128"/>
              </a:rPr>
              <a:t>Renin:</a:t>
            </a:r>
            <a:r>
              <a:rPr lang="en-US" altLang="en-US" sz="2000" dirty="0">
                <a:ea typeface="MS PGothic" panose="020B0600070205080204" pitchFamily="34" charset="-128"/>
              </a:rPr>
              <a:t> enzyme important in adjusting blood pressure</a:t>
            </a:r>
          </a:p>
          <a:p>
            <a:pPr lvl="2" eaLnBrk="1" hangingPunct="1">
              <a:lnSpc>
                <a:spcPct val="90000"/>
              </a:lnSpc>
            </a:pPr>
            <a:r>
              <a:rPr lang="en-US" altLang="en-US" sz="2000" b="1" dirty="0">
                <a:ea typeface="MS PGothic" panose="020B0600070205080204" pitchFamily="34" charset="-128"/>
              </a:rPr>
              <a:t>Erythropoietin (EPO): </a:t>
            </a:r>
            <a:r>
              <a:rPr lang="en-US" altLang="en-US" sz="2000" dirty="0">
                <a:ea typeface="MS PGothic" panose="020B0600070205080204" pitchFamily="34" charset="-128"/>
              </a:rPr>
              <a:t>hormone that stimulates red blood cell production in the bone marrow</a:t>
            </a:r>
          </a:p>
          <a:p>
            <a:pPr lvl="2" eaLnBrk="1" hangingPunct="1">
              <a:lnSpc>
                <a:spcPct val="90000"/>
              </a:lnSpc>
            </a:pPr>
            <a:r>
              <a:rPr lang="en-US" altLang="en-US" sz="2000" b="1" dirty="0" err="1">
                <a:ea typeface="MS PGothic" panose="020B0600070205080204" pitchFamily="34" charset="-128"/>
              </a:rPr>
              <a:t>Calciferol</a:t>
            </a:r>
            <a:r>
              <a:rPr lang="en-US" altLang="en-US" sz="2000" b="1" dirty="0">
                <a:ea typeface="MS PGothic" panose="020B0600070205080204" pitchFamily="34" charset="-128"/>
              </a:rPr>
              <a:t>:  </a:t>
            </a:r>
            <a:r>
              <a:rPr lang="en-US" altLang="en-US" sz="2000" dirty="0">
                <a:ea typeface="MS PGothic" panose="020B0600070205080204" pitchFamily="34" charset="-128"/>
              </a:rPr>
              <a:t>active form of vitamin D necessary for the absorption of calcium from the intestine</a:t>
            </a:r>
          </a:p>
          <a:p>
            <a:pPr lvl="1" eaLnBrk="1" hangingPunct="1">
              <a:lnSpc>
                <a:spcPct val="90000"/>
              </a:lnSpc>
              <a:buFont typeface="Wingdings" panose="05000000000000000000" pitchFamily="2" charset="2"/>
              <a:buChar char="Ø"/>
            </a:pPr>
            <a:r>
              <a:rPr lang="en-US" altLang="en-US" sz="2400" dirty="0">
                <a:ea typeface="MS PGothic" panose="020B0600070205080204" pitchFamily="34" charset="-128"/>
              </a:rPr>
              <a:t>Degrade and eliminate hormones from the bloodstream</a:t>
            </a:r>
          </a:p>
          <a:p>
            <a:pPr eaLnBrk="1" hangingPunct="1">
              <a:buFont typeface="Wingdings 2" panose="05020102010507070707" pitchFamily="18" charset="2"/>
              <a:buChar char=""/>
            </a:pPr>
            <a:endParaRPr lang="en-US" altLang="en-US" dirty="0">
              <a:ea typeface="MS PGothic" panose="020B0600070205080204" pitchFamily="34" charset="-128"/>
            </a:endParaRPr>
          </a:p>
          <a:p>
            <a:pPr eaLnBrk="1" hangingPunct="1">
              <a:buFont typeface="Wingdings 2" panose="05020102010507070707" pitchFamily="18" charset="2"/>
              <a:buChar char=""/>
            </a:pPr>
            <a:endParaRPr lang="en-US" altLang="en-US" dirty="0">
              <a:ea typeface="MS PGothic" panose="020B0600070205080204" pitchFamily="34" charset="-128"/>
            </a:endParaRPr>
          </a:p>
        </p:txBody>
      </p:sp>
    </p:spTree>
    <p:extLst>
      <p:ext uri="{BB962C8B-B14F-4D97-AF65-F5344CB8AC3E}">
        <p14:creationId xmlns:p14="http://schemas.microsoft.com/office/powerpoint/2010/main" val="1931587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dirty="0"/>
              <a:t>Anatomy of the Major Organs (Slide 1 of 4)</a:t>
            </a:r>
          </a:p>
        </p:txBody>
      </p:sp>
      <p:sp>
        <p:nvSpPr>
          <p:cNvPr id="14339" name="Rectangle 3"/>
          <p:cNvSpPr>
            <a:spLocks noGrp="1" noChangeArrowheads="1"/>
          </p:cNvSpPr>
          <p:nvPr>
            <p:ph type="body" sz="half" idx="1"/>
          </p:nvPr>
        </p:nvSpPr>
        <p:spPr>
          <a:xfrm>
            <a:off x="1447800" y="2057400"/>
            <a:ext cx="6248400" cy="3048000"/>
          </a:xfrm>
        </p:spPr>
        <p:txBody>
          <a:bodyPr/>
          <a:lstStyle/>
          <a:p>
            <a:pPr eaLnBrk="1" hangingPunct="1">
              <a:buFont typeface="Wingdings 2" panose="05020102010507070707" pitchFamily="18" charset="2"/>
              <a:buNone/>
            </a:pPr>
            <a:r>
              <a:rPr lang="en-US" altLang="en-US" b="1" dirty="0"/>
              <a:t>Organs of the male urinary system:</a:t>
            </a:r>
          </a:p>
          <a:p>
            <a:pPr eaLnBrk="1" hangingPunct="1"/>
            <a:r>
              <a:rPr lang="en-US" altLang="en-US" sz="2400" b="1" dirty="0"/>
              <a:t>Kidney</a:t>
            </a:r>
          </a:p>
          <a:p>
            <a:pPr eaLnBrk="1" hangingPunct="1"/>
            <a:r>
              <a:rPr lang="en-US" altLang="en-US" sz="2400" b="1" dirty="0" err="1"/>
              <a:t>Ureter</a:t>
            </a:r>
            <a:endParaRPr lang="en-US" altLang="en-US" sz="2400" b="1" dirty="0"/>
          </a:p>
          <a:p>
            <a:pPr eaLnBrk="1" hangingPunct="1"/>
            <a:r>
              <a:rPr lang="en-US" altLang="en-US" sz="2400" b="1" dirty="0"/>
              <a:t>Urinary bladder</a:t>
            </a:r>
          </a:p>
          <a:p>
            <a:pPr eaLnBrk="1" hangingPunct="1"/>
            <a:r>
              <a:rPr lang="en-US" altLang="en-US" sz="2400" b="1" dirty="0"/>
              <a:t>Urethra</a:t>
            </a:r>
            <a:r>
              <a:rPr lang="en-US" altLang="en-US" b="1" dirty="0"/>
              <a:t> </a:t>
            </a:r>
          </a:p>
        </p:txBody>
      </p:sp>
    </p:spTree>
    <p:extLst>
      <p:ext uri="{BB962C8B-B14F-4D97-AF65-F5344CB8AC3E}">
        <p14:creationId xmlns:p14="http://schemas.microsoft.com/office/powerpoint/2010/main" val="3510204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Anatomy of the </a:t>
            </a:r>
            <a:br>
              <a:rPr lang="en-US" altLang="en-US" dirty="0"/>
            </a:br>
            <a:r>
              <a:rPr lang="en-US" altLang="en-US" dirty="0"/>
              <a:t>Major Organs (slide 2 of 4</a:t>
            </a:r>
            <a:r>
              <a:rPr lang="en-US" altLang="ja-JP" dirty="0"/>
              <a:t>)</a:t>
            </a:r>
            <a:endParaRPr lang="en-US" altLang="en-US" dirty="0"/>
          </a:p>
        </p:txBody>
      </p:sp>
      <p:sp>
        <p:nvSpPr>
          <p:cNvPr id="15363" name="Rectangle 3"/>
          <p:cNvSpPr>
            <a:spLocks noGrp="1" noChangeArrowheads="1"/>
          </p:cNvSpPr>
          <p:nvPr>
            <p:ph sz="half" idx="1"/>
          </p:nvPr>
        </p:nvSpPr>
        <p:spPr/>
        <p:txBody>
          <a:bodyPr/>
          <a:lstStyle/>
          <a:p>
            <a:pPr eaLnBrk="1" hangingPunct="1">
              <a:buFont typeface="Wingdings 2" panose="05020102010507070707" pitchFamily="18" charset="2"/>
              <a:buNone/>
            </a:pPr>
            <a:r>
              <a:rPr lang="en-US" altLang="en-US" b="1" dirty="0"/>
              <a:t>Organs of the male urinary system</a:t>
            </a:r>
          </a:p>
        </p:txBody>
      </p:sp>
      <p:pic>
        <p:nvPicPr>
          <p:cNvPr id="6" name="Picture 7" descr="Major organs of the male urinary system are kidneys (two bean-shaped organs behind abdominal cavity on either side of spine in lumbar region), ureters (muscular tubes that carry urine to bladder), urinary bladder (reservoir for urine), and urethra (a tube that carries urine from bladder to outside of bod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038600" y="1600200"/>
            <a:ext cx="3431654" cy="480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363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228600"/>
            <a:ext cx="9144000" cy="1143000"/>
          </a:xfrm>
        </p:spPr>
        <p:txBody>
          <a:bodyPr/>
          <a:lstStyle/>
          <a:p>
            <a:pPr eaLnBrk="1" hangingPunct="1"/>
            <a:r>
              <a:rPr lang="en-US" altLang="en-US" dirty="0"/>
              <a:t>Anatomy of the </a:t>
            </a:r>
            <a:br>
              <a:rPr lang="en-US" altLang="en-US" dirty="0"/>
            </a:br>
            <a:r>
              <a:rPr lang="en-US" altLang="en-US" dirty="0"/>
              <a:t>Major Organs (slide 3 of 4</a:t>
            </a:r>
            <a:r>
              <a:rPr lang="en-US" altLang="ja-JP" dirty="0"/>
              <a:t>)</a:t>
            </a:r>
            <a:endParaRPr lang="en-US" altLang="en-US" dirty="0"/>
          </a:p>
        </p:txBody>
      </p:sp>
      <p:sp>
        <p:nvSpPr>
          <p:cNvPr id="16387" name="Rectangle 3"/>
          <p:cNvSpPr>
            <a:spLocks noGrp="1" noChangeArrowheads="1"/>
          </p:cNvSpPr>
          <p:nvPr>
            <p:ph type="body" sz="half" idx="1"/>
          </p:nvPr>
        </p:nvSpPr>
        <p:spPr>
          <a:xfrm>
            <a:off x="1219200" y="2514600"/>
            <a:ext cx="6705600" cy="2590800"/>
          </a:xfrm>
        </p:spPr>
        <p:txBody>
          <a:bodyPr/>
          <a:lstStyle/>
          <a:p>
            <a:pPr marL="0" indent="0" eaLnBrk="1" hangingPunct="1">
              <a:buFont typeface="Wingdings 2" panose="05020102010507070707" pitchFamily="18" charset="2"/>
              <a:buNone/>
            </a:pPr>
            <a:r>
              <a:rPr lang="en-US" altLang="en-US" b="1" dirty="0"/>
              <a:t>Organs of the female urinary system:</a:t>
            </a:r>
          </a:p>
          <a:p>
            <a:pPr marL="0" indent="0" eaLnBrk="1" hangingPunct="1"/>
            <a:r>
              <a:rPr lang="en-US" altLang="en-US" sz="1800" b="1" dirty="0"/>
              <a:t> </a:t>
            </a:r>
            <a:r>
              <a:rPr lang="en-US" altLang="en-US" sz="2400" b="1" dirty="0"/>
              <a:t>Kidney</a:t>
            </a:r>
          </a:p>
          <a:p>
            <a:pPr marL="0" indent="0" eaLnBrk="1" hangingPunct="1"/>
            <a:r>
              <a:rPr lang="en-US" altLang="en-US" sz="2400" b="1" dirty="0"/>
              <a:t> </a:t>
            </a:r>
            <a:r>
              <a:rPr lang="en-US" altLang="en-US" sz="2400" b="1" dirty="0" err="1"/>
              <a:t>Ureter</a:t>
            </a:r>
            <a:endParaRPr lang="en-US" altLang="en-US" sz="2400" b="1" dirty="0"/>
          </a:p>
          <a:p>
            <a:pPr marL="0" indent="0" eaLnBrk="1" hangingPunct="1"/>
            <a:r>
              <a:rPr lang="en-US" altLang="en-US" sz="2400" b="1" dirty="0"/>
              <a:t> Urinary bladder</a:t>
            </a:r>
          </a:p>
          <a:p>
            <a:pPr marL="0" indent="0" eaLnBrk="1" hangingPunct="1"/>
            <a:r>
              <a:rPr lang="en-US" altLang="en-US" sz="2400" b="1" dirty="0"/>
              <a:t> Urethra</a:t>
            </a:r>
          </a:p>
          <a:p>
            <a:pPr marL="0" indent="0" eaLnBrk="1" hangingPunct="1">
              <a:buNone/>
            </a:pPr>
            <a:endParaRPr lang="en-US" altLang="en-US" sz="2400" b="1" dirty="0"/>
          </a:p>
          <a:p>
            <a:pPr marL="0" indent="0" eaLnBrk="1" hangingPunct="1">
              <a:buNone/>
            </a:pPr>
            <a:endParaRPr lang="en-US" altLang="en-US" sz="1800" dirty="0"/>
          </a:p>
        </p:txBody>
      </p:sp>
    </p:spTree>
    <p:extLst>
      <p:ext uri="{BB962C8B-B14F-4D97-AF65-F5344CB8AC3E}">
        <p14:creationId xmlns:p14="http://schemas.microsoft.com/office/powerpoint/2010/main" val="786327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title"/>
          </p:nvPr>
        </p:nvSpPr>
        <p:spPr/>
        <p:txBody>
          <a:bodyPr/>
          <a:lstStyle/>
          <a:p>
            <a:pPr eaLnBrk="1" hangingPunct="1"/>
            <a:r>
              <a:rPr lang="en-US" altLang="en-US" dirty="0"/>
              <a:t>Anatomy of the </a:t>
            </a:r>
            <a:br>
              <a:rPr lang="en-US" altLang="en-US" dirty="0"/>
            </a:br>
            <a:r>
              <a:rPr lang="en-US" altLang="en-US" dirty="0"/>
              <a:t>Major Organs (slide 4 of 4</a:t>
            </a:r>
            <a:r>
              <a:rPr lang="en-US" altLang="ja-JP" dirty="0"/>
              <a:t>)</a:t>
            </a:r>
            <a:endParaRPr lang="en-US" altLang="en-US" dirty="0"/>
          </a:p>
        </p:txBody>
      </p:sp>
      <p:sp>
        <p:nvSpPr>
          <p:cNvPr id="17411" name="Rectangle 3"/>
          <p:cNvSpPr>
            <a:spLocks noGrp="1" noChangeArrowheads="1"/>
          </p:cNvSpPr>
          <p:nvPr>
            <p:ph sz="half" idx="1"/>
          </p:nvPr>
        </p:nvSpPr>
        <p:spPr>
          <a:xfrm>
            <a:off x="457200" y="2057400"/>
            <a:ext cx="4038600" cy="609600"/>
          </a:xfrm>
        </p:spPr>
        <p:txBody>
          <a:bodyPr/>
          <a:lstStyle/>
          <a:p>
            <a:pPr marL="0" indent="0" eaLnBrk="1" hangingPunct="1">
              <a:buFont typeface="Wingdings 2" panose="05020102010507070707" pitchFamily="18" charset="2"/>
              <a:buNone/>
            </a:pPr>
            <a:r>
              <a:rPr lang="en-US" altLang="en-US" b="1" dirty="0"/>
              <a:t>Female urinary system</a:t>
            </a:r>
            <a:endParaRPr lang="en-US" altLang="en-US" sz="2400" dirty="0"/>
          </a:p>
        </p:txBody>
      </p:sp>
      <p:pic>
        <p:nvPicPr>
          <p:cNvPr id="6" name="Picture 7" descr="Major organs of the female urinary system are kidneys (two bean-shaped organs behind abdominal cavity on either side of spine in lumbar region), ureters (muscular tubes that carry urine to bladder), urinary bladder (reservoir for urine), and urethra (a tube that carries urine from bladder to outside of bod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667000" y="2653411"/>
            <a:ext cx="4114800" cy="36553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7905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228600"/>
            <a:ext cx="7772400" cy="1219200"/>
          </a:xfrm>
        </p:spPr>
        <p:txBody>
          <a:bodyPr/>
          <a:lstStyle/>
          <a:p>
            <a:pPr eaLnBrk="1" hangingPunct="1"/>
            <a:r>
              <a:rPr lang="en-US" altLang="en-US" dirty="0"/>
              <a:t>      </a:t>
            </a:r>
            <a:r>
              <a:rPr lang="en-US" altLang="en-US" sz="5400" b="1" dirty="0"/>
              <a:t>QUICK QUIZ </a:t>
            </a:r>
            <a:r>
              <a:rPr lang="en-US" altLang="en-US" dirty="0"/>
              <a:t>(Slide 1 of 8)</a:t>
            </a:r>
          </a:p>
        </p:txBody>
      </p:sp>
      <p:sp>
        <p:nvSpPr>
          <p:cNvPr id="18435" name="Rectangle 3"/>
          <p:cNvSpPr>
            <a:spLocks noGrp="1" noChangeArrowheads="1"/>
          </p:cNvSpPr>
          <p:nvPr>
            <p:ph idx="1"/>
          </p:nvPr>
        </p:nvSpPr>
        <p:spPr/>
        <p:txBody>
          <a:bodyPr/>
          <a:lstStyle/>
          <a:p>
            <a:pPr marL="533400" indent="-533400" eaLnBrk="1" hangingPunct="1">
              <a:buFont typeface="Wingdings 2" panose="05020102010507070707" pitchFamily="18" charset="2"/>
              <a:buNone/>
            </a:pPr>
            <a:r>
              <a:rPr lang="en-US" altLang="en-US" b="1" dirty="0"/>
              <a:t>1. What is voiding?</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Nitrogenous waste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Urination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Outer section of the kidney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Triangular area in the bladder</a:t>
            </a:r>
          </a:p>
          <a:p>
            <a:pPr marL="914400" lvl="1" indent="-457200" eaLnBrk="1" hangingPunct="1">
              <a:buFont typeface="Webdings" panose="05030102010509060703" pitchFamily="18" charset="2"/>
              <a:buAutoNum type="alphaUcPeriod"/>
            </a:pPr>
            <a:endParaRPr lang="en-US" altLang="en-US" sz="3200" dirty="0">
              <a:ea typeface="MS PGothic" panose="020B0600070205080204" pitchFamily="34" charset="-128"/>
            </a:endParaRPr>
          </a:p>
        </p:txBody>
      </p:sp>
    </p:spTree>
    <p:extLst>
      <p:ext uri="{BB962C8B-B14F-4D97-AF65-F5344CB8AC3E}">
        <p14:creationId xmlns:p14="http://schemas.microsoft.com/office/powerpoint/2010/main" val="1287557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6"/>
          <p:cNvSpPr>
            <a:spLocks noGrp="1" noChangeArrowheads="1"/>
          </p:cNvSpPr>
          <p:nvPr>
            <p:ph type="title"/>
          </p:nvPr>
        </p:nvSpPr>
        <p:spPr>
          <a:xfrm>
            <a:off x="685800" y="365760"/>
            <a:ext cx="7772400" cy="1219200"/>
          </a:xfrm>
        </p:spPr>
        <p:txBody>
          <a:bodyPr/>
          <a:lstStyle/>
          <a:p>
            <a:pPr eaLnBrk="1" hangingPunct="1"/>
            <a:r>
              <a:rPr lang="en-US" altLang="en-US" b="1" dirty="0"/>
              <a:t>How Kidneys Produce Urine </a:t>
            </a:r>
            <a:br>
              <a:rPr lang="en-US" altLang="en-US" b="1" dirty="0"/>
            </a:br>
            <a:r>
              <a:rPr lang="en-US" altLang="en-US" sz="3200" dirty="0"/>
              <a:t>(Slide 1 of 12)</a:t>
            </a:r>
          </a:p>
        </p:txBody>
      </p:sp>
      <p:sp>
        <p:nvSpPr>
          <p:cNvPr id="19459" name="Rectangle 17"/>
          <p:cNvSpPr>
            <a:spLocks noGrp="1" noChangeArrowheads="1"/>
          </p:cNvSpPr>
          <p:nvPr>
            <p:ph type="body" sz="half" idx="1"/>
          </p:nvPr>
        </p:nvSpPr>
        <p:spPr>
          <a:xfrm>
            <a:off x="1219200" y="2209800"/>
            <a:ext cx="6705600" cy="2438400"/>
          </a:xfrm>
        </p:spPr>
        <p:txBody>
          <a:bodyPr/>
          <a:lstStyle/>
          <a:p>
            <a:pPr eaLnBrk="1" hangingPunct="1"/>
            <a:r>
              <a:rPr lang="en-US" altLang="en-US" sz="2800" dirty="0"/>
              <a:t>Blood enters the kidneys through the right and left </a:t>
            </a:r>
            <a:r>
              <a:rPr lang="en-US" altLang="en-US" sz="2800" b="1" dirty="0"/>
              <a:t>renal arteries</a:t>
            </a:r>
          </a:p>
          <a:p>
            <a:pPr eaLnBrk="1" hangingPunct="1"/>
            <a:r>
              <a:rPr lang="en-US" altLang="en-US" sz="2800" b="1" dirty="0"/>
              <a:t>Arterioles</a:t>
            </a:r>
            <a:r>
              <a:rPr lang="en-US" altLang="en-US" sz="2800" dirty="0"/>
              <a:t> carry blood to the </a:t>
            </a:r>
            <a:r>
              <a:rPr lang="en-US" altLang="en-US" sz="2800" b="1" dirty="0"/>
              <a:t>capillaries</a:t>
            </a:r>
          </a:p>
          <a:p>
            <a:pPr eaLnBrk="1" hangingPunct="1"/>
            <a:r>
              <a:rPr lang="en-US" altLang="en-US" sz="2800" b="1" dirty="0" err="1"/>
              <a:t>Glomeruli</a:t>
            </a:r>
            <a:r>
              <a:rPr lang="en-US" altLang="en-US" sz="2800" dirty="0"/>
              <a:t> filter the blood</a:t>
            </a:r>
          </a:p>
        </p:txBody>
      </p:sp>
    </p:spTree>
    <p:extLst>
      <p:ext uri="{BB962C8B-B14F-4D97-AF65-F5344CB8AC3E}">
        <p14:creationId xmlns:p14="http://schemas.microsoft.com/office/powerpoint/2010/main" val="3489062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2 of 12)</a:t>
            </a:r>
          </a:p>
        </p:txBody>
      </p:sp>
      <p:sp>
        <p:nvSpPr>
          <p:cNvPr id="20483" name="Rectangle 3"/>
          <p:cNvSpPr>
            <a:spLocks noGrp="1" noChangeArrowheads="1"/>
          </p:cNvSpPr>
          <p:nvPr>
            <p:ph sz="half" idx="1"/>
          </p:nvPr>
        </p:nvSpPr>
        <p:spPr>
          <a:xfrm>
            <a:off x="838200" y="1830769"/>
            <a:ext cx="3276600" cy="4525963"/>
          </a:xfrm>
        </p:spPr>
        <p:txBody>
          <a:bodyPr/>
          <a:lstStyle/>
          <a:p>
            <a:pPr eaLnBrk="1" hangingPunct="1">
              <a:buFont typeface="Wingdings" panose="05000000000000000000" pitchFamily="2" charset="2"/>
              <a:buChar char="Ø"/>
            </a:pPr>
            <a:r>
              <a:rPr lang="en-US" altLang="en-US" sz="2800" dirty="0"/>
              <a:t>Blood enters the kidneys through the right and left </a:t>
            </a:r>
            <a:r>
              <a:rPr lang="en-US" altLang="en-US" sz="2800" b="1" dirty="0"/>
              <a:t>renal arteries</a:t>
            </a:r>
          </a:p>
          <a:p>
            <a:pPr eaLnBrk="1" hangingPunct="1">
              <a:buFont typeface="Wingdings" panose="05000000000000000000" pitchFamily="2" charset="2"/>
              <a:buChar char="Ø"/>
            </a:pPr>
            <a:r>
              <a:rPr lang="en-US" altLang="en-US" sz="2800" b="1" dirty="0"/>
              <a:t>Arterioles</a:t>
            </a:r>
            <a:r>
              <a:rPr lang="en-US" altLang="en-US" sz="2800" dirty="0"/>
              <a:t> carry blood to the </a:t>
            </a:r>
            <a:r>
              <a:rPr lang="en-US" altLang="en-US" sz="2800" b="1" dirty="0"/>
              <a:t>capillaries</a:t>
            </a:r>
          </a:p>
          <a:p>
            <a:pPr eaLnBrk="1" hangingPunct="1">
              <a:buFont typeface="Wingdings" panose="05000000000000000000" pitchFamily="2" charset="2"/>
              <a:buChar char="Ø"/>
            </a:pPr>
            <a:r>
              <a:rPr lang="en-US" altLang="en-US" sz="2800" b="1" dirty="0"/>
              <a:t>Glomeruli</a:t>
            </a:r>
            <a:r>
              <a:rPr lang="en-US" altLang="en-US" sz="2800" dirty="0"/>
              <a:t> filter the blood</a:t>
            </a:r>
          </a:p>
        </p:txBody>
      </p:sp>
      <p:pic>
        <p:nvPicPr>
          <p:cNvPr id="6" name="Picture 7" descr="Cross-section of kidney showing renal artery branching to form smaller arteries, arterioles, and glomeruli."/>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572000" y="1905000"/>
            <a:ext cx="4038600" cy="43775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7295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How Kidneys Produce Urine </a:t>
            </a:r>
            <a:br>
              <a:rPr lang="en-US" altLang="en-US" b="1" dirty="0"/>
            </a:br>
            <a:r>
              <a:rPr lang="en-US" altLang="en-US" sz="3200" dirty="0"/>
              <a:t>(Slide 3 of 12)</a:t>
            </a:r>
            <a:endParaRPr lang="es-419" dirty="0"/>
          </a:p>
        </p:txBody>
      </p:sp>
      <p:sp>
        <p:nvSpPr>
          <p:cNvPr id="3" name="Content Placeholder 2"/>
          <p:cNvSpPr>
            <a:spLocks noGrp="1"/>
          </p:cNvSpPr>
          <p:nvPr>
            <p:ph sz="half" idx="1"/>
          </p:nvPr>
        </p:nvSpPr>
        <p:spPr>
          <a:xfrm>
            <a:off x="457200" y="1600201"/>
            <a:ext cx="4038600" cy="1600200"/>
          </a:xfrm>
        </p:spPr>
        <p:txBody>
          <a:bodyPr/>
          <a:lstStyle/>
          <a:p>
            <a:r>
              <a:rPr lang="en-US" altLang="en-US" b="1" dirty="0">
                <a:latin typeface="Arial" panose="020B0604020202020204" pitchFamily="34" charset="0"/>
              </a:rPr>
              <a:t>Glomerulus and glomerular/Bowman capsule</a:t>
            </a:r>
          </a:p>
          <a:p>
            <a:endParaRPr lang="es-419" dirty="0"/>
          </a:p>
        </p:txBody>
      </p:sp>
      <p:sp>
        <p:nvSpPr>
          <p:cNvPr id="4" name="Content Placeholder 3"/>
          <p:cNvSpPr>
            <a:spLocks noGrp="1"/>
          </p:cNvSpPr>
          <p:nvPr>
            <p:ph sz="half" idx="2"/>
          </p:nvPr>
        </p:nvSpPr>
        <p:spPr/>
        <p:txBody>
          <a:bodyPr/>
          <a:lstStyle/>
          <a:p>
            <a:pPr eaLnBrk="1" hangingPunct="1"/>
            <a:r>
              <a:rPr lang="en-US" altLang="en-US" dirty="0"/>
              <a:t>Blood passes through the glomeruli</a:t>
            </a:r>
          </a:p>
          <a:p>
            <a:pPr eaLnBrk="1" hangingPunct="1"/>
            <a:r>
              <a:rPr lang="en-US" altLang="en-US" dirty="0"/>
              <a:t>Glomerular (Bowman) capsule surrounds each glomerulus</a:t>
            </a:r>
          </a:p>
          <a:p>
            <a:pPr eaLnBrk="1" hangingPunct="1"/>
            <a:r>
              <a:rPr lang="en-US" altLang="en-US" dirty="0"/>
              <a:t>Renal tubule is attached to each Bowman capsule</a:t>
            </a:r>
          </a:p>
          <a:p>
            <a:endParaRPr lang="es-419" dirty="0"/>
          </a:p>
        </p:txBody>
      </p:sp>
    </p:spTree>
    <p:extLst>
      <p:ext uri="{BB962C8B-B14F-4D97-AF65-F5344CB8AC3E}">
        <p14:creationId xmlns:p14="http://schemas.microsoft.com/office/powerpoint/2010/main" val="3963573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4 of 12)</a:t>
            </a:r>
          </a:p>
        </p:txBody>
      </p:sp>
      <p:sp>
        <p:nvSpPr>
          <p:cNvPr id="4" name="Content Placeholder 3"/>
          <p:cNvSpPr>
            <a:spLocks noGrp="1"/>
          </p:cNvSpPr>
          <p:nvPr>
            <p:ph sz="half" idx="1"/>
          </p:nvPr>
        </p:nvSpPr>
        <p:spPr>
          <a:xfrm>
            <a:off x="457200" y="2286000"/>
            <a:ext cx="8229600" cy="632619"/>
          </a:xfrm>
        </p:spPr>
        <p:txBody>
          <a:bodyPr/>
          <a:lstStyle/>
          <a:p>
            <a:r>
              <a:rPr lang="en-US" b="1" dirty="0">
                <a:latin typeface="Arial" charset="0"/>
              </a:rPr>
              <a:t>Glomerulus and glomerular/Bowman capsule</a:t>
            </a:r>
            <a:endParaRPr lang="en-US" dirty="0">
              <a:latin typeface="Arial" charset="0"/>
            </a:endParaRPr>
          </a:p>
          <a:p>
            <a:endParaRPr lang="es-419" dirty="0"/>
          </a:p>
        </p:txBody>
      </p:sp>
      <p:pic>
        <p:nvPicPr>
          <p:cNvPr id="10" name="Picture 7" descr="Afferent arteriole carries blood toward the glomerulus. Efferent arteriole carries blood away from the glomerulu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730152" y="3003311"/>
            <a:ext cx="3823047" cy="33164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659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How Kidneys Produce Urine </a:t>
            </a:r>
            <a:br>
              <a:rPr lang="en-US" altLang="en-US" b="1" dirty="0"/>
            </a:br>
            <a:r>
              <a:rPr lang="en-US" altLang="en-US" sz="3200" dirty="0"/>
              <a:t>(Slide 5 of 12)</a:t>
            </a:r>
            <a:endParaRPr lang="es-419" dirty="0"/>
          </a:p>
        </p:txBody>
      </p:sp>
      <p:sp>
        <p:nvSpPr>
          <p:cNvPr id="6" name="Content Placeholder 5"/>
          <p:cNvSpPr>
            <a:spLocks noGrp="1"/>
          </p:cNvSpPr>
          <p:nvPr>
            <p:ph idx="1"/>
          </p:nvPr>
        </p:nvSpPr>
        <p:spPr>
          <a:xfrm>
            <a:off x="762000" y="2438400"/>
            <a:ext cx="8229600" cy="3124200"/>
          </a:xfrm>
        </p:spPr>
        <p:txBody>
          <a:bodyPr/>
          <a:lstStyle/>
          <a:p>
            <a:pPr marL="0" indent="0" eaLnBrk="1" hangingPunct="1">
              <a:buFont typeface="Wingdings 2" pitchFamily="18" charset="2"/>
              <a:buNone/>
              <a:defRPr/>
            </a:pPr>
            <a:r>
              <a:rPr lang="en-US" b="1" dirty="0"/>
              <a:t>Three steps in the formation of urine</a:t>
            </a:r>
          </a:p>
          <a:p>
            <a:pPr eaLnBrk="1" hangingPunct="1">
              <a:defRPr/>
            </a:pPr>
            <a:r>
              <a:rPr lang="en-US" dirty="0"/>
              <a:t>Glomerular filtration (water, sugar, wastes, salts)</a:t>
            </a:r>
          </a:p>
          <a:p>
            <a:pPr eaLnBrk="1" hangingPunct="1">
              <a:defRPr/>
            </a:pPr>
            <a:r>
              <a:rPr lang="en-US" dirty="0"/>
              <a:t>Tubular reabsorption (water, sugar, sodium)</a:t>
            </a:r>
          </a:p>
          <a:p>
            <a:pPr eaLnBrk="1" hangingPunct="1">
              <a:defRPr/>
            </a:pPr>
            <a:r>
              <a:rPr lang="en-US" dirty="0"/>
              <a:t>Tubular secretion (acids, potassium, drugs)</a:t>
            </a:r>
          </a:p>
          <a:p>
            <a:endParaRPr lang="es-419" dirty="0"/>
          </a:p>
        </p:txBody>
      </p:sp>
    </p:spTree>
    <p:extLst>
      <p:ext uri="{BB962C8B-B14F-4D97-AF65-F5344CB8AC3E}">
        <p14:creationId xmlns:p14="http://schemas.microsoft.com/office/powerpoint/2010/main" val="1895632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6 of 12)</a:t>
            </a:r>
          </a:p>
        </p:txBody>
      </p:sp>
      <p:pic>
        <p:nvPicPr>
          <p:cNvPr id="6" name="Picture 7" descr="Three steps in the formation of urine are glomerular filtration, tubular reabsorption, and tubular secre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49251" y="1600200"/>
            <a:ext cx="264549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6177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7 of 12)</a:t>
            </a:r>
          </a:p>
        </p:txBody>
      </p:sp>
      <p:sp>
        <p:nvSpPr>
          <p:cNvPr id="25603" name="Rectangle 5"/>
          <p:cNvSpPr>
            <a:spLocks noGrp="1" noChangeArrowheads="1"/>
          </p:cNvSpPr>
          <p:nvPr>
            <p:ph type="body" sz="half" idx="1"/>
          </p:nvPr>
        </p:nvSpPr>
        <p:spPr>
          <a:xfrm>
            <a:off x="1181100" y="2286000"/>
            <a:ext cx="6781800" cy="2438400"/>
          </a:xfrm>
        </p:spPr>
        <p:txBody>
          <a:bodyPr/>
          <a:lstStyle/>
          <a:p>
            <a:pPr eaLnBrk="1" hangingPunct="1"/>
            <a:r>
              <a:rPr lang="en-US" altLang="en-US" sz="3600" dirty="0"/>
              <a:t>The </a:t>
            </a:r>
            <a:r>
              <a:rPr lang="en-US" altLang="en-US" sz="3600" dirty="0" err="1"/>
              <a:t>glomerulus</a:t>
            </a:r>
            <a:r>
              <a:rPr lang="en-US" altLang="en-US" sz="3600" dirty="0"/>
              <a:t> and a renal tubule combine to form a unit called a </a:t>
            </a:r>
            <a:r>
              <a:rPr lang="en-US" altLang="en-US" sz="3600" b="1" dirty="0" err="1"/>
              <a:t>nephron</a:t>
            </a:r>
            <a:r>
              <a:rPr lang="en-US" altLang="en-US" sz="3600" dirty="0"/>
              <a:t>.</a:t>
            </a:r>
          </a:p>
        </p:txBody>
      </p:sp>
    </p:spTree>
    <p:extLst>
      <p:ext uri="{BB962C8B-B14F-4D97-AF65-F5344CB8AC3E}">
        <p14:creationId xmlns:p14="http://schemas.microsoft.com/office/powerpoint/2010/main" val="1326462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8 of 12)</a:t>
            </a:r>
          </a:p>
        </p:txBody>
      </p:sp>
      <p:pic>
        <p:nvPicPr>
          <p:cNvPr id="6" name="Picture 1030" descr="Waste materials collect in a tiny, cuplike structure (glomerular capsule) that surrounds each glomerulus. A nephron is the combination of a glomerulus and a renal tubul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00295" y="1905000"/>
            <a:ext cx="3743409"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3299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28600"/>
            <a:ext cx="7772400" cy="1219200"/>
          </a:xfrm>
        </p:spPr>
        <p:txBody>
          <a:bodyPr/>
          <a:lstStyle/>
          <a:p>
            <a:pPr eaLnBrk="1" hangingPunct="1"/>
            <a:r>
              <a:rPr lang="en-US" altLang="en-US" sz="4800" dirty="0"/>
              <a:t>      </a:t>
            </a:r>
            <a:r>
              <a:rPr lang="en-US" altLang="en-US" sz="5400" b="1" dirty="0"/>
              <a:t>QUICK QUIZ </a:t>
            </a:r>
            <a:r>
              <a:rPr lang="en-US" altLang="en-US" dirty="0"/>
              <a:t>(Slide 2 of 8)</a:t>
            </a:r>
          </a:p>
        </p:txBody>
      </p:sp>
      <p:sp>
        <p:nvSpPr>
          <p:cNvPr id="27651" name="Rectangle 3"/>
          <p:cNvSpPr>
            <a:spLocks noGrp="1" noChangeArrowheads="1"/>
          </p:cNvSpPr>
          <p:nvPr>
            <p:ph idx="1"/>
          </p:nvPr>
        </p:nvSpPr>
        <p:spPr/>
        <p:txBody>
          <a:bodyPr/>
          <a:lstStyle/>
          <a:p>
            <a:pPr marL="533400" indent="-533400" eaLnBrk="1" hangingPunct="1">
              <a:buFont typeface="Arial" panose="020B0604020202020204" pitchFamily="34" charset="0"/>
              <a:buAutoNum type="arabicPeriod" startAt="2"/>
            </a:pPr>
            <a:r>
              <a:rPr lang="en-US" altLang="en-US" b="1"/>
              <a:t>Approximately how many nephrons are in a kidney?</a:t>
            </a:r>
            <a:endParaRPr lang="en-US" altLang="en-US" sz="1600" b="1"/>
          </a:p>
          <a:p>
            <a:pPr marL="914400" lvl="1" indent="-457200" eaLnBrk="1" hangingPunct="1">
              <a:buFont typeface="Arial" panose="020B0604020202020204" pitchFamily="34" charset="0"/>
              <a:buAutoNum type="alphaUcPeriod"/>
            </a:pPr>
            <a:r>
              <a:rPr lang="en-US" altLang="en-US" sz="3200"/>
              <a:t>100,000,000</a:t>
            </a:r>
          </a:p>
          <a:p>
            <a:pPr marL="914400" lvl="1" indent="-457200" eaLnBrk="1" hangingPunct="1">
              <a:buFont typeface="Arial" panose="020B0604020202020204" pitchFamily="34" charset="0"/>
              <a:buAutoNum type="alphaUcPeriod"/>
            </a:pPr>
            <a:r>
              <a:rPr lang="en-US" altLang="en-US" sz="3200"/>
              <a:t>10,000,000</a:t>
            </a:r>
          </a:p>
          <a:p>
            <a:pPr marL="914400" lvl="1" indent="-457200" eaLnBrk="1" hangingPunct="1">
              <a:buFont typeface="Arial" panose="020B0604020202020204" pitchFamily="34" charset="0"/>
              <a:buAutoNum type="alphaUcPeriod"/>
            </a:pPr>
            <a:r>
              <a:rPr lang="en-US" altLang="en-US" sz="3200"/>
              <a:t>1,000,000</a:t>
            </a:r>
          </a:p>
          <a:p>
            <a:pPr marL="914400" lvl="1" indent="-457200" eaLnBrk="1" hangingPunct="1">
              <a:buFont typeface="Arial" panose="020B0604020202020204" pitchFamily="34" charset="0"/>
              <a:buAutoNum type="alphaUcPeriod"/>
            </a:pPr>
            <a:r>
              <a:rPr lang="en-US" altLang="en-US" sz="3200"/>
              <a:t>100,000</a:t>
            </a:r>
          </a:p>
        </p:txBody>
      </p:sp>
    </p:spTree>
    <p:extLst>
      <p:ext uri="{BB962C8B-B14F-4D97-AF65-F5344CB8AC3E}">
        <p14:creationId xmlns:p14="http://schemas.microsoft.com/office/powerpoint/2010/main" val="151927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9 of 12)</a:t>
            </a:r>
          </a:p>
        </p:txBody>
      </p:sp>
      <p:sp>
        <p:nvSpPr>
          <p:cNvPr id="28675" name="Rectangle 8"/>
          <p:cNvSpPr>
            <a:spLocks noGrp="1" noChangeArrowheads="1"/>
          </p:cNvSpPr>
          <p:nvPr>
            <p:ph type="body" sz="half" idx="1"/>
          </p:nvPr>
        </p:nvSpPr>
        <p:spPr>
          <a:xfrm>
            <a:off x="1295400" y="1981200"/>
            <a:ext cx="6553200" cy="4114800"/>
          </a:xfrm>
        </p:spPr>
        <p:txBody>
          <a:bodyPr/>
          <a:lstStyle/>
          <a:p>
            <a:pPr eaLnBrk="1" hangingPunct="1">
              <a:buFont typeface="Wingdings" panose="05000000000000000000" pitchFamily="2" charset="2"/>
              <a:buChar char="§"/>
            </a:pPr>
            <a:r>
              <a:rPr lang="en-US" altLang="en-US" dirty="0"/>
              <a:t>All collecting tubules lead to the</a:t>
            </a:r>
            <a:r>
              <a:rPr lang="en-US" altLang="en-US" b="1" dirty="0"/>
              <a:t>  renal pelvis.</a:t>
            </a:r>
          </a:p>
          <a:p>
            <a:pPr marL="0" indent="0" eaLnBrk="1" hangingPunct="1">
              <a:buFont typeface="Wingdings 2" panose="05020102010507070707" pitchFamily="18" charset="2"/>
              <a:buNone/>
            </a:pPr>
            <a:endParaRPr lang="en-US" altLang="en-US" b="1" dirty="0"/>
          </a:p>
          <a:p>
            <a:pPr eaLnBrk="1" hangingPunct="1">
              <a:buFont typeface="Wingdings" panose="05000000000000000000" pitchFamily="2" charset="2"/>
              <a:buChar char="§"/>
            </a:pPr>
            <a:r>
              <a:rPr lang="en-US" altLang="en-US" b="1" dirty="0"/>
              <a:t>Calyces or calices </a:t>
            </a:r>
            <a:r>
              <a:rPr lang="en-US" altLang="en-US" dirty="0"/>
              <a:t>are small, cuplike regions of the renal pelvis; the term comes from the Greek, </a:t>
            </a:r>
            <a:r>
              <a:rPr lang="en-US" altLang="en-US" i="1" dirty="0" err="1"/>
              <a:t>kalux</a:t>
            </a:r>
            <a:r>
              <a:rPr lang="en-US" altLang="en-US" dirty="0"/>
              <a:t>, meaning a cup or case surrounding a flower bud.</a:t>
            </a:r>
          </a:p>
          <a:p>
            <a:pPr marL="0" indent="0" eaLnBrk="1" hangingPunct="1">
              <a:buFont typeface="Wingdings 2" panose="05020102010507070707" pitchFamily="18" charset="2"/>
              <a:buNone/>
            </a:pPr>
            <a:endParaRPr lang="en-US" altLang="en-US" sz="2400" dirty="0"/>
          </a:p>
        </p:txBody>
      </p:sp>
    </p:spTree>
    <p:extLst>
      <p:ext uri="{BB962C8B-B14F-4D97-AF65-F5344CB8AC3E}">
        <p14:creationId xmlns:p14="http://schemas.microsoft.com/office/powerpoint/2010/main" val="1566192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10 of 12)</a:t>
            </a:r>
          </a:p>
        </p:txBody>
      </p:sp>
      <p:pic>
        <p:nvPicPr>
          <p:cNvPr id="6" name="Picture 7" descr="Small, cuplike regions of the renal pelvis are called calyc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4600" y="1638300"/>
            <a:ext cx="4331208" cy="45511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865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11 of 12)</a:t>
            </a:r>
          </a:p>
        </p:txBody>
      </p:sp>
      <p:sp>
        <p:nvSpPr>
          <p:cNvPr id="30723" name="Rectangle 8"/>
          <p:cNvSpPr>
            <a:spLocks noGrp="1" noChangeArrowheads="1"/>
          </p:cNvSpPr>
          <p:nvPr>
            <p:ph type="body" sz="half" idx="1"/>
          </p:nvPr>
        </p:nvSpPr>
        <p:spPr>
          <a:xfrm>
            <a:off x="1676400" y="2286000"/>
            <a:ext cx="6248400" cy="3429000"/>
          </a:xfrm>
        </p:spPr>
        <p:txBody>
          <a:bodyPr/>
          <a:lstStyle/>
          <a:p>
            <a:pPr marL="0" indent="0" eaLnBrk="1" hangingPunct="1">
              <a:buFont typeface="Wingdings 2" panose="05020102010507070707" pitchFamily="18" charset="2"/>
              <a:buNone/>
            </a:pPr>
            <a:r>
              <a:rPr lang="en-US" altLang="en-US" sz="4000" b="1" dirty="0"/>
              <a:t>Functions of the Kidneys</a:t>
            </a:r>
          </a:p>
          <a:p>
            <a:pPr marL="0" indent="0" eaLnBrk="1" hangingPunct="1"/>
            <a:r>
              <a:rPr lang="en-US" altLang="en-US" b="1" dirty="0"/>
              <a:t> </a:t>
            </a:r>
            <a:r>
              <a:rPr lang="en-US" altLang="en-US" dirty="0"/>
              <a:t>Remove nitrogenous wastes</a:t>
            </a:r>
          </a:p>
          <a:p>
            <a:pPr marL="0" indent="0" eaLnBrk="1" hangingPunct="1"/>
            <a:r>
              <a:rPr lang="en-US" altLang="en-US" dirty="0"/>
              <a:t> Balance water and electrolytes</a:t>
            </a:r>
          </a:p>
          <a:p>
            <a:pPr marL="0" indent="0" eaLnBrk="1" hangingPunct="1"/>
            <a:r>
              <a:rPr lang="en-US" altLang="en-US" dirty="0"/>
              <a:t> Release hormones</a:t>
            </a:r>
          </a:p>
          <a:p>
            <a:pPr marL="0" indent="0" eaLnBrk="1" hangingPunct="1"/>
            <a:r>
              <a:rPr lang="en-US" altLang="en-US" dirty="0"/>
              <a:t> Degrade and eliminate hormones</a:t>
            </a:r>
          </a:p>
        </p:txBody>
      </p:sp>
    </p:spTree>
    <p:extLst>
      <p:ext uri="{BB962C8B-B14F-4D97-AF65-F5344CB8AC3E}">
        <p14:creationId xmlns:p14="http://schemas.microsoft.com/office/powerpoint/2010/main" val="1333718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title"/>
          </p:nvPr>
        </p:nvSpPr>
        <p:spPr/>
        <p:txBody>
          <a:bodyPr/>
          <a:lstStyle/>
          <a:p>
            <a:pPr eaLnBrk="1" hangingPunct="1"/>
            <a:r>
              <a:rPr lang="en-US" altLang="en-US" b="1" dirty="0"/>
              <a:t>How Kidneys Produce Urine </a:t>
            </a:r>
            <a:br>
              <a:rPr lang="en-US" altLang="en-US" b="1" dirty="0"/>
            </a:br>
            <a:r>
              <a:rPr lang="en-US" altLang="en-US" sz="3200" dirty="0"/>
              <a:t>(Slide 12 of 12)</a:t>
            </a:r>
          </a:p>
        </p:txBody>
      </p:sp>
      <p:pic>
        <p:nvPicPr>
          <p:cNvPr id="6" name="Picture 7" descr="The process of forming and expelling urine begins with the bloodstream, which enters through the glomerulus, glomerular capsule, and renal tubule, then passes to the renal pelvis that narrows into the ureter. Urine is carried to the bladder where it is stored temporarily. Urine exits the body via the urethra and urinary meatu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43200" y="1600200"/>
            <a:ext cx="3909307" cy="4754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341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t>Vocabulary (Slide 1 of 14)</a:t>
            </a:r>
            <a:endParaRPr lang="en-US" sz="3200" dirty="0"/>
          </a:p>
        </p:txBody>
      </p:sp>
      <p:graphicFrame>
        <p:nvGraphicFramePr>
          <p:cNvPr id="7" name="Content Placeholder 6" descr="Group 1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94172880"/>
              </p:ext>
            </p:extLst>
          </p:nvPr>
        </p:nvGraphicFramePr>
        <p:xfrm>
          <a:off x="2571221" y="1905000"/>
          <a:ext cx="4001558" cy="4114803"/>
        </p:xfrm>
        <a:graphic>
          <a:graphicData uri="http://schemas.openxmlformats.org/drawingml/2006/table">
            <a:tbl>
              <a:tblPr firstRow="1" bandRow="1">
                <a:tableStyleId>{5C22544A-7EE6-4342-B048-85BDC9FD1C3A}</a:tableStyleId>
              </a:tblPr>
              <a:tblGrid>
                <a:gridCol w="4001558">
                  <a:extLst>
                    <a:ext uri="{9D8B030D-6E8A-4147-A177-3AD203B41FA5}">
                      <a16:colId xmlns:a16="http://schemas.microsoft.com/office/drawing/2014/main" val="20000"/>
                    </a:ext>
                  </a:extLst>
                </a:gridCol>
              </a:tblGrid>
              <a:tr h="587829">
                <a:tc>
                  <a:txBody>
                    <a:bodyPr/>
                    <a:lstStyle/>
                    <a:p>
                      <a:r>
                        <a:rPr lang="en-US" sz="2400" dirty="0"/>
                        <a:t>Term</a:t>
                      </a:r>
                    </a:p>
                  </a:txBody>
                  <a:tcPr/>
                </a:tc>
                <a:extLst>
                  <a:ext uri="{0D108BD9-81ED-4DB2-BD59-A6C34878D82A}">
                    <a16:rowId xmlns:a16="http://schemas.microsoft.com/office/drawing/2014/main" val="10000"/>
                  </a:ext>
                </a:extLst>
              </a:tr>
              <a:tr h="587829">
                <a:tc>
                  <a:txBody>
                    <a:bodyPr/>
                    <a:lstStyle/>
                    <a:p>
                      <a:r>
                        <a:rPr lang="en-US" altLang="en-US" sz="2400" dirty="0"/>
                        <a:t>arteriole</a:t>
                      </a:r>
                      <a:endParaRPr lang="en-US" sz="2400" dirty="0"/>
                    </a:p>
                  </a:txBody>
                  <a:tcPr/>
                </a:tc>
                <a:extLst>
                  <a:ext uri="{0D108BD9-81ED-4DB2-BD59-A6C34878D82A}">
                    <a16:rowId xmlns:a16="http://schemas.microsoft.com/office/drawing/2014/main" val="10001"/>
                  </a:ext>
                </a:extLst>
              </a:tr>
              <a:tr h="5878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calyx or calix</a:t>
                      </a:r>
                    </a:p>
                  </a:txBody>
                  <a:tcPr/>
                </a:tc>
                <a:extLst>
                  <a:ext uri="{0D108BD9-81ED-4DB2-BD59-A6C34878D82A}">
                    <a16:rowId xmlns:a16="http://schemas.microsoft.com/office/drawing/2014/main" val="10002"/>
                  </a:ext>
                </a:extLst>
              </a:tr>
              <a:tr h="587829">
                <a:tc>
                  <a:txBody>
                    <a:bodyPr/>
                    <a:lstStyle/>
                    <a:p>
                      <a:r>
                        <a:rPr lang="en-US" altLang="en-US" sz="2400" dirty="0"/>
                        <a:t>catheter</a:t>
                      </a:r>
                      <a:endParaRPr lang="en-US" sz="2400" dirty="0"/>
                    </a:p>
                  </a:txBody>
                  <a:tcPr/>
                </a:tc>
                <a:extLst>
                  <a:ext uri="{0D108BD9-81ED-4DB2-BD59-A6C34878D82A}">
                    <a16:rowId xmlns:a16="http://schemas.microsoft.com/office/drawing/2014/main" val="3544468467"/>
                  </a:ext>
                </a:extLst>
              </a:tr>
              <a:tr h="587829">
                <a:tc>
                  <a:txBody>
                    <a:bodyPr/>
                    <a:lstStyle/>
                    <a:p>
                      <a:r>
                        <a:rPr lang="en-US" altLang="en-US" sz="2400" dirty="0"/>
                        <a:t>cortex</a:t>
                      </a:r>
                      <a:endParaRPr lang="en-US" sz="2400" dirty="0"/>
                    </a:p>
                  </a:txBody>
                  <a:tcPr/>
                </a:tc>
                <a:extLst>
                  <a:ext uri="{0D108BD9-81ED-4DB2-BD59-A6C34878D82A}">
                    <a16:rowId xmlns:a16="http://schemas.microsoft.com/office/drawing/2014/main" val="3079299016"/>
                  </a:ext>
                </a:extLst>
              </a:tr>
              <a:tr h="587829">
                <a:tc>
                  <a:txBody>
                    <a:bodyPr/>
                    <a:lstStyle/>
                    <a:p>
                      <a:r>
                        <a:rPr lang="en-US" altLang="en-US" sz="2400" dirty="0" err="1"/>
                        <a:t>creatinine</a:t>
                      </a:r>
                      <a:endParaRPr lang="en-US" sz="2400" dirty="0"/>
                    </a:p>
                  </a:txBody>
                  <a:tcPr/>
                </a:tc>
                <a:extLst>
                  <a:ext uri="{0D108BD9-81ED-4DB2-BD59-A6C34878D82A}">
                    <a16:rowId xmlns:a16="http://schemas.microsoft.com/office/drawing/2014/main" val="3908854220"/>
                  </a:ext>
                </a:extLst>
              </a:tr>
              <a:tr h="587829">
                <a:tc>
                  <a:txBody>
                    <a:bodyPr/>
                    <a:lstStyle/>
                    <a:p>
                      <a:r>
                        <a:rPr lang="en-US" sz="2400" dirty="0"/>
                        <a:t>electrolyte</a:t>
                      </a:r>
                    </a:p>
                  </a:txBody>
                  <a:tcPr/>
                </a:tc>
                <a:extLst>
                  <a:ext uri="{0D108BD9-81ED-4DB2-BD59-A6C34878D82A}">
                    <a16:rowId xmlns:a16="http://schemas.microsoft.com/office/drawing/2014/main" val="1600583929"/>
                  </a:ext>
                </a:extLst>
              </a:tr>
            </a:tbl>
          </a:graphicData>
        </a:graphic>
      </p:graphicFrame>
    </p:spTree>
    <p:extLst>
      <p:ext uri="{BB962C8B-B14F-4D97-AF65-F5344CB8AC3E}">
        <p14:creationId xmlns:p14="http://schemas.microsoft.com/office/powerpoint/2010/main" val="374845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29768"/>
            <a:ext cx="8229600" cy="1143000"/>
          </a:xfrm>
        </p:spPr>
        <p:txBody>
          <a:bodyPr/>
          <a:lstStyle/>
          <a:p>
            <a:r>
              <a:rPr lang="en-US" b="1" dirty="0"/>
              <a:t>Vocabulary (Slide 2 of 14)</a:t>
            </a:r>
            <a:endParaRPr lang="en-US" dirty="0"/>
          </a:p>
        </p:txBody>
      </p:sp>
      <p:graphicFrame>
        <p:nvGraphicFramePr>
          <p:cNvPr id="7" name="Content Placeholder 6" descr="Group 1 of 7 of vocabulary terms  with corresponding meanings or definitions. "/>
          <p:cNvGraphicFramePr>
            <a:graphicFrameLocks noGrp="1"/>
          </p:cNvGraphicFramePr>
          <p:nvPr>
            <p:ph idx="1"/>
            <p:extLst>
              <p:ext uri="{D42A27DB-BD31-4B8C-83A1-F6EECF244321}">
                <p14:modId xmlns:p14="http://schemas.microsoft.com/office/powerpoint/2010/main" val="3074330665"/>
              </p:ext>
            </p:extLst>
          </p:nvPr>
        </p:nvGraphicFramePr>
        <p:xfrm>
          <a:off x="457200" y="1752600"/>
          <a:ext cx="8229600" cy="4663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arteriole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Small artery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calyx or calix</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Cuplike collecting region of the renal pelvis; the term comes from the Greek, </a:t>
                      </a:r>
                      <a:r>
                        <a:rPr lang="en-US" altLang="en-US" sz="2400" i="1" dirty="0" err="1"/>
                        <a:t>kalux</a:t>
                      </a:r>
                      <a:r>
                        <a:rPr lang="en-US" altLang="en-US" sz="2400" i="1" dirty="0"/>
                        <a:t>,</a:t>
                      </a:r>
                      <a:r>
                        <a:rPr lang="en-US" altLang="en-US" sz="2400" dirty="0"/>
                        <a:t> meaning a cup or case surrounding a flower bud</a:t>
                      </a:r>
                    </a:p>
                  </a:txBody>
                  <a:tcPr/>
                </a:tc>
                <a:extLst>
                  <a:ext uri="{0D108BD9-81ED-4DB2-BD59-A6C34878D82A}">
                    <a16:rowId xmlns:a16="http://schemas.microsoft.com/office/drawing/2014/main" val="10002"/>
                  </a:ext>
                </a:extLst>
              </a:tr>
              <a:tr h="370840">
                <a:tc>
                  <a:txBody>
                    <a:bodyPr/>
                    <a:lstStyle/>
                    <a:p>
                      <a:r>
                        <a:rPr lang="en-US" altLang="en-US" sz="2400" dirty="0"/>
                        <a:t>catheter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Tube for injecting or removing fluids</a:t>
                      </a:r>
                    </a:p>
                  </a:txBody>
                  <a:tcPr/>
                </a:tc>
                <a:extLst>
                  <a:ext uri="{0D108BD9-81ED-4DB2-BD59-A6C34878D82A}">
                    <a16:rowId xmlns:a16="http://schemas.microsoft.com/office/drawing/2014/main" val="619713732"/>
                  </a:ext>
                </a:extLst>
              </a:tr>
              <a:tr h="370840">
                <a:tc>
                  <a:txBody>
                    <a:bodyPr/>
                    <a:lstStyle/>
                    <a:p>
                      <a:r>
                        <a:rPr lang="en-US" altLang="en-US" sz="2400" dirty="0"/>
                        <a:t>cortex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Outer region of an organ</a:t>
                      </a:r>
                    </a:p>
                  </a:txBody>
                  <a:tcPr/>
                </a:tc>
                <a:extLst>
                  <a:ext uri="{0D108BD9-81ED-4DB2-BD59-A6C34878D82A}">
                    <a16:rowId xmlns:a16="http://schemas.microsoft.com/office/drawing/2014/main" val="2156403714"/>
                  </a:ext>
                </a:extLst>
              </a:tr>
              <a:tr h="370840">
                <a:tc>
                  <a:txBody>
                    <a:bodyPr/>
                    <a:lstStyle/>
                    <a:p>
                      <a:r>
                        <a:rPr lang="en-US" altLang="en-US" sz="2400" dirty="0" err="1"/>
                        <a:t>creatinine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Nitrogenous waste excreted in urine</a:t>
                      </a:r>
                    </a:p>
                  </a:txBody>
                  <a:tcPr/>
                </a:tc>
                <a:extLst>
                  <a:ext uri="{0D108BD9-81ED-4DB2-BD59-A6C34878D82A}">
                    <a16:rowId xmlns:a16="http://schemas.microsoft.com/office/drawing/2014/main" val="3532481583"/>
                  </a:ext>
                </a:extLst>
              </a:tr>
              <a:tr h="370840">
                <a:tc>
                  <a:txBody>
                    <a:bodyPr/>
                    <a:lstStyle/>
                    <a:p>
                      <a:r>
                        <a:rPr lang="en-US" sz="2400" dirty="0"/>
                        <a:t>electrolyte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Chemical element that carries an electrical charge when dissolved in water.</a:t>
                      </a:r>
                    </a:p>
                  </a:txBody>
                  <a:tcPr/>
                </a:tc>
                <a:extLst>
                  <a:ext uri="{0D108BD9-81ED-4DB2-BD59-A6C34878D82A}">
                    <a16:rowId xmlns:a16="http://schemas.microsoft.com/office/drawing/2014/main" val="1992521824"/>
                  </a:ext>
                </a:extLst>
              </a:tr>
            </a:tbl>
          </a:graphicData>
        </a:graphic>
      </p:graphicFrame>
    </p:spTree>
    <p:extLst>
      <p:ext uri="{BB962C8B-B14F-4D97-AF65-F5344CB8AC3E}">
        <p14:creationId xmlns:p14="http://schemas.microsoft.com/office/powerpoint/2010/main" val="3194326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38912"/>
            <a:ext cx="8229600" cy="1143000"/>
          </a:xfrm>
        </p:spPr>
        <p:txBody>
          <a:bodyPr/>
          <a:lstStyle/>
          <a:p>
            <a:r>
              <a:rPr lang="en-US" b="1" dirty="0"/>
              <a:t>Vocabulary (Slide 3 of 14)</a:t>
            </a:r>
            <a:endParaRPr lang="en-US" dirty="0"/>
          </a:p>
        </p:txBody>
      </p:sp>
      <p:graphicFrame>
        <p:nvGraphicFramePr>
          <p:cNvPr id="7" name="Content Placeholder 6" descr="Group 2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1956399214"/>
              </p:ext>
            </p:extLst>
          </p:nvPr>
        </p:nvGraphicFramePr>
        <p:xfrm>
          <a:off x="2552700" y="2133600"/>
          <a:ext cx="4038600" cy="3581399"/>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604966">
                <a:tc>
                  <a:txBody>
                    <a:bodyPr/>
                    <a:lstStyle/>
                    <a:p>
                      <a:r>
                        <a:rPr lang="en-US" sz="2400" dirty="0"/>
                        <a:t>Term</a:t>
                      </a:r>
                    </a:p>
                  </a:txBody>
                  <a:tcPr/>
                </a:tc>
                <a:extLst>
                  <a:ext uri="{0D108BD9-81ED-4DB2-BD59-A6C34878D82A}">
                    <a16:rowId xmlns:a16="http://schemas.microsoft.com/office/drawing/2014/main" val="10000"/>
                  </a:ext>
                </a:extLst>
              </a:tr>
              <a:tr h="6049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erythropoietin (EPO)</a:t>
                      </a:r>
                    </a:p>
                  </a:txBody>
                  <a:tcPr/>
                </a:tc>
                <a:extLst>
                  <a:ext uri="{0D108BD9-81ED-4DB2-BD59-A6C34878D82A}">
                    <a16:rowId xmlns:a16="http://schemas.microsoft.com/office/drawing/2014/main" val="1635788231"/>
                  </a:ext>
                </a:extLst>
              </a:tr>
              <a:tr h="604966">
                <a:tc>
                  <a:txBody>
                    <a:bodyPr/>
                    <a:lstStyle/>
                    <a:p>
                      <a:r>
                        <a:rPr lang="en-US" altLang="en-US" sz="2400" dirty="0"/>
                        <a:t>filtration</a:t>
                      </a:r>
                      <a:endParaRPr lang="en-US" sz="2400" dirty="0"/>
                    </a:p>
                  </a:txBody>
                  <a:tcPr/>
                </a:tc>
                <a:extLst>
                  <a:ext uri="{0D108BD9-81ED-4DB2-BD59-A6C34878D82A}">
                    <a16:rowId xmlns:a16="http://schemas.microsoft.com/office/drawing/2014/main" val="10001"/>
                  </a:ext>
                </a:extLst>
              </a:tr>
              <a:tr h="556569">
                <a:tc>
                  <a:txBody>
                    <a:bodyPr/>
                    <a:lstStyle/>
                    <a:p>
                      <a:pPr eaLnBrk="1" hangingPunct="1">
                        <a:lnSpc>
                          <a:spcPct val="90000"/>
                        </a:lnSpc>
                      </a:pPr>
                      <a:r>
                        <a:rPr lang="en-US" altLang="en-US" sz="2400" dirty="0"/>
                        <a:t>glomerular capsule</a:t>
                      </a:r>
                    </a:p>
                  </a:txBody>
                  <a:tcPr/>
                </a:tc>
                <a:extLst>
                  <a:ext uri="{0D108BD9-81ED-4DB2-BD59-A6C34878D82A}">
                    <a16:rowId xmlns:a16="http://schemas.microsoft.com/office/drawing/2014/main" val="10002"/>
                  </a:ext>
                </a:extLst>
              </a:tr>
              <a:tr h="604966">
                <a:tc>
                  <a:txBody>
                    <a:bodyPr/>
                    <a:lstStyle/>
                    <a:p>
                      <a:r>
                        <a:rPr lang="en-US" altLang="en-US" sz="2400" dirty="0"/>
                        <a:t>glomerulus </a:t>
                      </a:r>
                      <a:endParaRPr lang="en-US" sz="2400" dirty="0"/>
                    </a:p>
                  </a:txBody>
                  <a:tcPr/>
                </a:tc>
                <a:extLst>
                  <a:ext uri="{0D108BD9-81ED-4DB2-BD59-A6C34878D82A}">
                    <a16:rowId xmlns:a16="http://schemas.microsoft.com/office/drawing/2014/main" val="10003"/>
                  </a:ext>
                </a:extLst>
              </a:tr>
              <a:tr h="604966">
                <a:tc>
                  <a:txBody>
                    <a:bodyPr/>
                    <a:lstStyle/>
                    <a:p>
                      <a:r>
                        <a:rPr lang="en-US" altLang="en-US" sz="2400" dirty="0"/>
                        <a:t>hilum</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37665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Vocabulary (Slide 4 of 14)</a:t>
            </a:r>
            <a:endParaRPr lang="en-US" dirty="0"/>
          </a:p>
        </p:txBody>
      </p:sp>
      <p:graphicFrame>
        <p:nvGraphicFramePr>
          <p:cNvPr id="7" name="Content Placeholder 6" descr="Group 2 of 7 of vocabulary terms  with corresponding meanings or definitions. "/>
          <p:cNvGraphicFramePr>
            <a:graphicFrameLocks noGrp="1"/>
          </p:cNvGraphicFramePr>
          <p:nvPr>
            <p:ph idx="1"/>
            <p:extLst>
              <p:ext uri="{D42A27DB-BD31-4B8C-83A1-F6EECF244321}">
                <p14:modId xmlns:p14="http://schemas.microsoft.com/office/powerpoint/2010/main" val="1693100532"/>
              </p:ext>
            </p:extLst>
          </p:nvPr>
        </p:nvGraphicFramePr>
        <p:xfrm>
          <a:off x="457200" y="1371600"/>
          <a:ext cx="8229600" cy="4937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erythropoietin (EPO)</a:t>
                      </a:r>
                    </a:p>
                  </a:txBody>
                  <a:tcPr/>
                </a:tc>
                <a:tc>
                  <a:txBody>
                    <a:bodyPr/>
                    <a:lstStyle/>
                    <a:p>
                      <a:pPr eaLnBrk="1" hangingPunct="1">
                        <a:buFont typeface="Arial" panose="020B0604020202020204" pitchFamily="34" charset="0"/>
                        <a:buNone/>
                      </a:pPr>
                      <a:r>
                        <a:rPr lang="en-US" altLang="en-US" sz="2400" dirty="0"/>
                        <a:t>Hormone secreted by the kidney to stimulate production of red blood cells by bone marrow</a:t>
                      </a:r>
                      <a:r>
                        <a:rPr lang="en-US" altLang="en-US" sz="2000" dirty="0"/>
                        <a:t>; </a:t>
                      </a:r>
                    </a:p>
                    <a:p>
                      <a:pPr eaLnBrk="1" hangingPunct="1">
                        <a:buFont typeface="Arial" panose="020B0604020202020204" pitchFamily="34" charset="0"/>
                        <a:buNone/>
                      </a:pPr>
                      <a:r>
                        <a:rPr lang="en-US" altLang="en-US" sz="2000" dirty="0"/>
                        <a:t>-</a:t>
                      </a:r>
                      <a:r>
                        <a:rPr lang="en-US" altLang="en-US" sz="2400" dirty="0" err="1"/>
                        <a:t>poietin</a:t>
                      </a:r>
                      <a:r>
                        <a:rPr lang="en-US" altLang="en-US" sz="2400" dirty="0"/>
                        <a:t> means a substance that forms</a:t>
                      </a:r>
                      <a:endParaRPr lang="en-US" altLang="en-US" sz="2000" dirty="0"/>
                    </a:p>
                  </a:txBody>
                  <a:tcPr/>
                </a:tc>
                <a:extLst>
                  <a:ext uri="{0D108BD9-81ED-4DB2-BD59-A6C34878D82A}">
                    <a16:rowId xmlns:a16="http://schemas.microsoft.com/office/drawing/2014/main" val="1423801154"/>
                  </a:ext>
                </a:extLst>
              </a:tr>
              <a:tr h="370840">
                <a:tc>
                  <a:txBody>
                    <a:bodyPr/>
                    <a:lstStyle/>
                    <a:p>
                      <a:r>
                        <a:rPr lang="en-US" altLang="en-US" sz="2400" dirty="0"/>
                        <a:t>filtration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Process whereby some substances pass through a filter </a:t>
                      </a:r>
                    </a:p>
                  </a:txBody>
                  <a:tcPr/>
                </a:tc>
                <a:extLst>
                  <a:ext uri="{0D108BD9-81ED-4DB2-BD59-A6C34878D82A}">
                    <a16:rowId xmlns:a16="http://schemas.microsoft.com/office/drawing/2014/main" val="10001"/>
                  </a:ext>
                </a:extLst>
              </a:tr>
              <a:tr h="370840">
                <a:tc>
                  <a:txBody>
                    <a:bodyPr/>
                    <a:lstStyle/>
                    <a:p>
                      <a:pPr eaLnBrk="1" hangingPunct="1">
                        <a:lnSpc>
                          <a:spcPct val="90000"/>
                        </a:lnSpc>
                      </a:pPr>
                      <a:r>
                        <a:rPr lang="en-US" altLang="en-US" sz="2400" dirty="0"/>
                        <a:t>glomerular </a:t>
                      </a:r>
                    </a:p>
                    <a:p>
                      <a:pPr eaLnBrk="1" hangingPunct="1">
                        <a:lnSpc>
                          <a:spcPct val="90000"/>
                        </a:lnSpc>
                        <a:buFont typeface="Arial" panose="020B0604020202020204" pitchFamily="34" charset="0"/>
                        <a:buNone/>
                      </a:pPr>
                      <a:r>
                        <a:rPr lang="en-US" altLang="en-US" sz="2400" dirty="0"/>
                        <a:t>capsule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Enclosing structure surrounding each glomerulus; also called Bowman capsule </a:t>
                      </a:r>
                    </a:p>
                  </a:txBody>
                  <a:tcPr/>
                </a:tc>
                <a:extLst>
                  <a:ext uri="{0D108BD9-81ED-4DB2-BD59-A6C34878D82A}">
                    <a16:rowId xmlns:a16="http://schemas.microsoft.com/office/drawing/2014/main" val="10002"/>
                  </a:ext>
                </a:extLst>
              </a:tr>
              <a:tr h="370840">
                <a:tc>
                  <a:txBody>
                    <a:bodyPr/>
                    <a:lstStyle/>
                    <a:p>
                      <a:r>
                        <a:rPr lang="en-US" altLang="en-US" sz="2400" dirty="0"/>
                        <a:t>glomerulus </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Tiny ball of capillaries in the kidney </a:t>
                      </a:r>
                    </a:p>
                  </a:txBody>
                  <a:tcPr/>
                </a:tc>
                <a:extLst>
                  <a:ext uri="{0D108BD9-81ED-4DB2-BD59-A6C34878D82A}">
                    <a16:rowId xmlns:a16="http://schemas.microsoft.com/office/drawing/2014/main" val="10003"/>
                  </a:ext>
                </a:extLst>
              </a:tr>
              <a:tr h="370840">
                <a:tc>
                  <a:txBody>
                    <a:bodyPr/>
                    <a:lstStyle/>
                    <a:p>
                      <a:r>
                        <a:rPr lang="en-US" altLang="en-US" sz="2400" dirty="0"/>
                        <a:t>hilum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Depression in the part of an organ where blood vessels  and nerves enter and leave; comes from the Latin meaning </a:t>
                      </a:r>
                      <a:r>
                        <a:rPr lang="en-US" altLang="en-US" sz="2400" i="1" dirty="0">
                          <a:ea typeface="MS PGothic" panose="020B0600070205080204" pitchFamily="34" charset="-128"/>
                        </a:rPr>
                        <a:t>a small thing</a:t>
                      </a:r>
                      <a:endParaRPr lang="en-US" altLang="en-US" sz="2400" dirty="0">
                        <a:ea typeface="MS PGothic" panose="020B0600070205080204" pitchFamily="34" charset="-128"/>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06942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29768"/>
            <a:ext cx="8229600" cy="1143000"/>
          </a:xfrm>
        </p:spPr>
        <p:txBody>
          <a:bodyPr/>
          <a:lstStyle/>
          <a:p>
            <a:r>
              <a:rPr lang="en-US" b="1" dirty="0"/>
              <a:t>Vocabulary (Slide 5 of 14)</a:t>
            </a:r>
            <a:endParaRPr lang="en-US" dirty="0"/>
          </a:p>
        </p:txBody>
      </p:sp>
      <p:graphicFrame>
        <p:nvGraphicFramePr>
          <p:cNvPr id="7" name="Content Placeholder 6" descr="Group 3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437811524"/>
              </p:ext>
            </p:extLst>
          </p:nvPr>
        </p:nvGraphicFramePr>
        <p:xfrm>
          <a:off x="2590800" y="1828800"/>
          <a:ext cx="3657600" cy="37338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tblGrid>
              <a:tr h="746760">
                <a:tc>
                  <a:txBody>
                    <a:bodyPr/>
                    <a:lstStyle/>
                    <a:p>
                      <a:r>
                        <a:rPr lang="en-US" sz="2400" dirty="0"/>
                        <a:t>Term</a:t>
                      </a:r>
                    </a:p>
                  </a:txBody>
                  <a:tcPr/>
                </a:tc>
                <a:extLst>
                  <a:ext uri="{0D108BD9-81ED-4DB2-BD59-A6C34878D82A}">
                    <a16:rowId xmlns:a16="http://schemas.microsoft.com/office/drawing/2014/main" val="10000"/>
                  </a:ext>
                </a:extLst>
              </a:tr>
              <a:tr h="746760">
                <a:tc>
                  <a:txBody>
                    <a:bodyPr/>
                    <a:lstStyle/>
                    <a:p>
                      <a:r>
                        <a:rPr lang="en-US" altLang="en-US" sz="2400" dirty="0"/>
                        <a:t>kidney</a:t>
                      </a:r>
                      <a:endParaRPr lang="en-US" sz="2400" dirty="0"/>
                    </a:p>
                  </a:txBody>
                  <a:tcPr/>
                </a:tc>
                <a:extLst>
                  <a:ext uri="{0D108BD9-81ED-4DB2-BD59-A6C34878D82A}">
                    <a16:rowId xmlns:a16="http://schemas.microsoft.com/office/drawing/2014/main" val="10001"/>
                  </a:ext>
                </a:extLst>
              </a:tr>
              <a:tr h="746760">
                <a:tc>
                  <a:txBody>
                    <a:bodyPr/>
                    <a:lstStyle/>
                    <a:p>
                      <a:r>
                        <a:rPr lang="en-US" altLang="en-US" sz="2400" dirty="0"/>
                        <a:t>meatus </a:t>
                      </a:r>
                      <a:endParaRPr lang="en-US" sz="2400" dirty="0"/>
                    </a:p>
                  </a:txBody>
                  <a:tcPr/>
                </a:tc>
                <a:extLst>
                  <a:ext uri="{0D108BD9-81ED-4DB2-BD59-A6C34878D82A}">
                    <a16:rowId xmlns:a16="http://schemas.microsoft.com/office/drawing/2014/main" val="10002"/>
                  </a:ext>
                </a:extLst>
              </a:tr>
              <a:tr h="746760">
                <a:tc>
                  <a:txBody>
                    <a:bodyPr/>
                    <a:lstStyle/>
                    <a:p>
                      <a:r>
                        <a:rPr lang="en-US" altLang="en-US" sz="2400" dirty="0"/>
                        <a:t>medulla</a:t>
                      </a:r>
                      <a:endParaRPr lang="en-US" sz="2400" dirty="0"/>
                    </a:p>
                  </a:txBody>
                  <a:tcPr/>
                </a:tc>
                <a:extLst>
                  <a:ext uri="{0D108BD9-81ED-4DB2-BD59-A6C34878D82A}">
                    <a16:rowId xmlns:a16="http://schemas.microsoft.com/office/drawing/2014/main" val="10003"/>
                  </a:ext>
                </a:extLst>
              </a:tr>
              <a:tr h="746760">
                <a:tc>
                  <a:txBody>
                    <a:bodyPr/>
                    <a:lstStyle/>
                    <a:p>
                      <a:r>
                        <a:rPr lang="en-US" altLang="en-US" sz="2400" dirty="0"/>
                        <a:t>nephron</a:t>
                      </a:r>
                      <a:endParaRPr lang="en-US" sz="2400" dirty="0"/>
                    </a:p>
                  </a:txBody>
                  <a:tcPr/>
                </a:tc>
                <a:extLst>
                  <a:ext uri="{0D108BD9-81ED-4DB2-BD59-A6C34878D82A}">
                    <a16:rowId xmlns:a16="http://schemas.microsoft.com/office/drawing/2014/main" val="598554548"/>
                  </a:ext>
                </a:extLst>
              </a:tr>
            </a:tbl>
          </a:graphicData>
        </a:graphic>
      </p:graphicFrame>
    </p:spTree>
    <p:extLst>
      <p:ext uri="{BB962C8B-B14F-4D97-AF65-F5344CB8AC3E}">
        <p14:creationId xmlns:p14="http://schemas.microsoft.com/office/powerpoint/2010/main" val="12472774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1104"/>
            <a:ext cx="8229600" cy="1143000"/>
          </a:xfrm>
        </p:spPr>
        <p:txBody>
          <a:bodyPr/>
          <a:lstStyle/>
          <a:p>
            <a:r>
              <a:rPr lang="en-US" b="1" dirty="0"/>
              <a:t>Vocabulary (Slide 6 of 14)</a:t>
            </a:r>
            <a:endParaRPr lang="en-US" dirty="0"/>
          </a:p>
        </p:txBody>
      </p:sp>
      <p:graphicFrame>
        <p:nvGraphicFramePr>
          <p:cNvPr id="7" name="Content Placeholder 6" descr="Group 3 of 7 of vocabulary terms  with corresponding meanings or definitions. "/>
          <p:cNvGraphicFramePr>
            <a:graphicFrameLocks noGrp="1"/>
          </p:cNvGraphicFramePr>
          <p:nvPr>
            <p:ph idx="1"/>
            <p:extLst>
              <p:ext uri="{D42A27DB-BD31-4B8C-83A1-F6EECF244321}">
                <p14:modId xmlns:p14="http://schemas.microsoft.com/office/powerpoint/2010/main" val="1812576064"/>
              </p:ext>
            </p:extLst>
          </p:nvPr>
        </p:nvGraphicFramePr>
        <p:xfrm>
          <a:off x="457200" y="1828800"/>
          <a:ext cx="8229600" cy="4480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kidney</a:t>
                      </a:r>
                      <a:endParaRPr lang="en-US" sz="2400" dirty="0"/>
                    </a:p>
                  </a:txBody>
                  <a:tcPr/>
                </a:tc>
                <a:tc>
                  <a:txBody>
                    <a:bodyPr/>
                    <a:lstStyle/>
                    <a:p>
                      <a:r>
                        <a:rPr lang="en-US" sz="2400" dirty="0"/>
                        <a:t>One of two bean-shaped organs that filter nitrogenous waste from the bloodstream to form urine</a:t>
                      </a:r>
                    </a:p>
                  </a:txBody>
                  <a:tcPr/>
                </a:tc>
                <a:extLst>
                  <a:ext uri="{0D108BD9-81ED-4DB2-BD59-A6C34878D82A}">
                    <a16:rowId xmlns:a16="http://schemas.microsoft.com/office/drawing/2014/main" val="10001"/>
                  </a:ext>
                </a:extLst>
              </a:tr>
              <a:tr h="370840">
                <a:tc>
                  <a:txBody>
                    <a:bodyPr/>
                    <a:lstStyle/>
                    <a:p>
                      <a:r>
                        <a:rPr lang="en-US" altLang="en-US" sz="2400" dirty="0"/>
                        <a:t>meatus </a:t>
                      </a:r>
                      <a:endParaRPr lang="en-US" sz="2400" dirty="0"/>
                    </a:p>
                  </a:txBody>
                  <a:tcPr/>
                </a:tc>
                <a:tc>
                  <a:txBody>
                    <a:bodyPr/>
                    <a:lstStyle/>
                    <a:p>
                      <a:r>
                        <a:rPr lang="en-US" sz="2400" dirty="0"/>
                        <a:t>Opening or canal</a:t>
                      </a:r>
                    </a:p>
                  </a:txBody>
                  <a:tcPr/>
                </a:tc>
                <a:extLst>
                  <a:ext uri="{0D108BD9-81ED-4DB2-BD59-A6C34878D82A}">
                    <a16:rowId xmlns:a16="http://schemas.microsoft.com/office/drawing/2014/main" val="10002"/>
                  </a:ext>
                </a:extLst>
              </a:tr>
              <a:tr h="370840">
                <a:tc>
                  <a:txBody>
                    <a:bodyPr/>
                    <a:lstStyle/>
                    <a:p>
                      <a:r>
                        <a:rPr lang="en-US" altLang="en-US" sz="2400" dirty="0"/>
                        <a:t>medulla</a:t>
                      </a:r>
                      <a:endParaRPr lang="en-US" sz="2400" dirty="0"/>
                    </a:p>
                  </a:txBody>
                  <a:tcPr/>
                </a:tc>
                <a:tc>
                  <a:txBody>
                    <a:bodyPr/>
                    <a:lstStyle/>
                    <a:p>
                      <a:r>
                        <a:rPr lang="en-US" sz="2400" dirty="0"/>
                        <a:t>Inner region of an organ; the term comes from the Latin, </a:t>
                      </a:r>
                      <a:r>
                        <a:rPr lang="en-US" sz="2400" i="1" dirty="0"/>
                        <a:t>medulla,</a:t>
                      </a:r>
                      <a:r>
                        <a:rPr lang="en-US" sz="2400" dirty="0"/>
                        <a:t> meaning marrow</a:t>
                      </a:r>
                    </a:p>
                  </a:txBody>
                  <a:tcPr/>
                </a:tc>
                <a:extLst>
                  <a:ext uri="{0D108BD9-81ED-4DB2-BD59-A6C34878D82A}">
                    <a16:rowId xmlns:a16="http://schemas.microsoft.com/office/drawing/2014/main" val="10003"/>
                  </a:ext>
                </a:extLst>
              </a:tr>
              <a:tr h="370840">
                <a:tc>
                  <a:txBody>
                    <a:bodyPr/>
                    <a:lstStyle/>
                    <a:p>
                      <a:r>
                        <a:rPr lang="en-US" altLang="en-US" sz="2400" dirty="0"/>
                        <a:t>nephron</a:t>
                      </a:r>
                      <a:endParaRPr lang="en-US" sz="2400" dirty="0"/>
                    </a:p>
                  </a:txBody>
                  <a:tcPr/>
                </a:tc>
                <a:tc>
                  <a:txBody>
                    <a:bodyPr/>
                    <a:lstStyle/>
                    <a:p>
                      <a:pPr eaLnBrk="1" hangingPunct="1">
                        <a:buFont typeface="Arial" panose="020B0604020202020204" pitchFamily="34" charset="0"/>
                        <a:buNone/>
                      </a:pPr>
                      <a:r>
                        <a:rPr lang="en-US" altLang="en-US" sz="2400" dirty="0"/>
                        <a:t>The functional unit of the</a:t>
                      </a:r>
                    </a:p>
                    <a:p>
                      <a:pPr eaLnBrk="1" hangingPunct="1">
                        <a:buFont typeface="Arial" panose="020B0604020202020204" pitchFamily="34" charset="0"/>
                        <a:buNone/>
                      </a:pPr>
                      <a:r>
                        <a:rPr lang="en-US" altLang="en-US" sz="2400" dirty="0"/>
                        <a:t>kidney where filtration,</a:t>
                      </a:r>
                    </a:p>
                    <a:p>
                      <a:pPr eaLnBrk="1" hangingPunct="1">
                        <a:buFont typeface="Arial" panose="020B0604020202020204" pitchFamily="34" charset="0"/>
                        <a:buNone/>
                      </a:pPr>
                      <a:r>
                        <a:rPr lang="en-US" altLang="en-US" sz="2400" dirty="0"/>
                        <a:t>reabsorption, and secretion</a:t>
                      </a:r>
                    </a:p>
                    <a:p>
                      <a:pPr eaLnBrk="1" hangingPunct="1">
                        <a:buFont typeface="Arial" panose="020B0604020202020204" pitchFamily="34" charset="0"/>
                        <a:buNone/>
                      </a:pPr>
                      <a:r>
                        <a:rPr lang="en-US" altLang="en-US" sz="2400" dirty="0"/>
                        <a:t>take place</a:t>
                      </a:r>
                    </a:p>
                  </a:txBody>
                  <a:tcPr/>
                </a:tc>
                <a:extLst>
                  <a:ext uri="{0D108BD9-81ED-4DB2-BD59-A6C34878D82A}">
                    <a16:rowId xmlns:a16="http://schemas.microsoft.com/office/drawing/2014/main" val="2332148795"/>
                  </a:ext>
                </a:extLst>
              </a:tr>
            </a:tbl>
          </a:graphicData>
        </a:graphic>
      </p:graphicFrame>
    </p:spTree>
    <p:extLst>
      <p:ext uri="{BB962C8B-B14F-4D97-AF65-F5344CB8AC3E}">
        <p14:creationId xmlns:p14="http://schemas.microsoft.com/office/powerpoint/2010/main" val="3458559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t>Vocabulary (Slide 7 of 14)</a:t>
            </a:r>
            <a:endParaRPr lang="en-US" dirty="0"/>
          </a:p>
        </p:txBody>
      </p:sp>
      <p:graphicFrame>
        <p:nvGraphicFramePr>
          <p:cNvPr id="7" name="Content Placeholder 6" descr="Group 4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3477041198"/>
              </p:ext>
            </p:extLst>
          </p:nvPr>
        </p:nvGraphicFramePr>
        <p:xfrm>
          <a:off x="2705100" y="1981200"/>
          <a:ext cx="3733800" cy="379171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tblGrid>
              <a:tr h="758342">
                <a:tc>
                  <a:txBody>
                    <a:bodyPr/>
                    <a:lstStyle/>
                    <a:p>
                      <a:r>
                        <a:rPr lang="en-US" sz="2400" dirty="0"/>
                        <a:t>Term</a:t>
                      </a:r>
                    </a:p>
                  </a:txBody>
                  <a:tcPr/>
                </a:tc>
                <a:extLst>
                  <a:ext uri="{0D108BD9-81ED-4DB2-BD59-A6C34878D82A}">
                    <a16:rowId xmlns:a16="http://schemas.microsoft.com/office/drawing/2014/main" val="10000"/>
                  </a:ext>
                </a:extLst>
              </a:tr>
              <a:tr h="7583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nitrogenous waste</a:t>
                      </a:r>
                    </a:p>
                  </a:txBody>
                  <a:tcPr/>
                </a:tc>
                <a:extLst>
                  <a:ext uri="{0D108BD9-81ED-4DB2-BD59-A6C34878D82A}">
                    <a16:rowId xmlns:a16="http://schemas.microsoft.com/office/drawing/2014/main" val="1795682846"/>
                  </a:ext>
                </a:extLst>
              </a:tr>
              <a:tr h="758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potassium (K</a:t>
                      </a:r>
                      <a:r>
                        <a:rPr lang="en-US" sz="2400" baseline="30000" dirty="0"/>
                        <a:t>+</a:t>
                      </a:r>
                      <a:r>
                        <a:rPr lang="en-US" sz="2400" dirty="0"/>
                        <a:t>)</a:t>
                      </a:r>
                    </a:p>
                  </a:txBody>
                  <a:tcPr/>
                </a:tc>
                <a:extLst>
                  <a:ext uri="{0D108BD9-81ED-4DB2-BD59-A6C34878D82A}">
                    <a16:rowId xmlns:a16="http://schemas.microsoft.com/office/drawing/2014/main" val="10001"/>
                  </a:ext>
                </a:extLst>
              </a:tr>
              <a:tr h="758342">
                <a:tc>
                  <a:txBody>
                    <a:bodyPr/>
                    <a:lstStyle/>
                    <a:p>
                      <a:r>
                        <a:rPr lang="en-US" sz="2400" dirty="0"/>
                        <a:t>reabsorption</a:t>
                      </a:r>
                    </a:p>
                  </a:txBody>
                  <a:tcPr/>
                </a:tc>
                <a:extLst>
                  <a:ext uri="{0D108BD9-81ED-4DB2-BD59-A6C34878D82A}">
                    <a16:rowId xmlns:a16="http://schemas.microsoft.com/office/drawing/2014/main" val="10002"/>
                  </a:ext>
                </a:extLst>
              </a:tr>
              <a:tr h="758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renal artery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45426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48056"/>
            <a:ext cx="8229600" cy="1143000"/>
          </a:xfrm>
        </p:spPr>
        <p:txBody>
          <a:bodyPr/>
          <a:lstStyle/>
          <a:p>
            <a:r>
              <a:rPr lang="en-US" b="1" dirty="0"/>
              <a:t>Vocabulary (Slide 8 of 14)</a:t>
            </a:r>
            <a:endParaRPr lang="en-US" dirty="0"/>
          </a:p>
        </p:txBody>
      </p:sp>
      <p:graphicFrame>
        <p:nvGraphicFramePr>
          <p:cNvPr id="7" name="Content Placeholder 6" descr="Group 4 of 7 of vocabulary terms  with corresponding meanings or definitions. "/>
          <p:cNvGraphicFramePr>
            <a:graphicFrameLocks noGrp="1"/>
          </p:cNvGraphicFramePr>
          <p:nvPr>
            <p:ph idx="1"/>
            <p:extLst>
              <p:ext uri="{D42A27DB-BD31-4B8C-83A1-F6EECF244321}">
                <p14:modId xmlns:p14="http://schemas.microsoft.com/office/powerpoint/2010/main" val="2348553164"/>
              </p:ext>
            </p:extLst>
          </p:nvPr>
        </p:nvGraphicFramePr>
        <p:xfrm>
          <a:off x="457200" y="1828800"/>
          <a:ext cx="8229600" cy="41148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nitrogenous waste</a:t>
                      </a:r>
                    </a:p>
                  </a:txBody>
                  <a:tcPr/>
                </a:tc>
                <a:tc>
                  <a:txBody>
                    <a:bodyPr/>
                    <a:lstStyle/>
                    <a:p>
                      <a:pPr eaLnBrk="1" hangingPunct="1">
                        <a:buFont typeface="Arial" panose="020B0604020202020204" pitchFamily="34" charset="0"/>
                        <a:buNone/>
                      </a:pPr>
                      <a:r>
                        <a:rPr lang="en-US" altLang="en-US" sz="2400" dirty="0"/>
                        <a:t>Substance containing nitrogen</a:t>
                      </a:r>
                    </a:p>
                    <a:p>
                      <a:pPr eaLnBrk="1" hangingPunct="1">
                        <a:buFont typeface="Arial" panose="020B0604020202020204" pitchFamily="34" charset="0"/>
                        <a:buNone/>
                      </a:pPr>
                      <a:r>
                        <a:rPr lang="en-US" altLang="en-US" sz="2400" dirty="0"/>
                        <a:t>and excreted in urine;</a:t>
                      </a:r>
                    </a:p>
                    <a:p>
                      <a:pPr eaLnBrk="1" hangingPunct="1">
                        <a:buFont typeface="Arial" panose="020B0604020202020204" pitchFamily="34" charset="0"/>
                        <a:buNone/>
                      </a:pPr>
                      <a:r>
                        <a:rPr lang="en-US" altLang="en-US" sz="2400" dirty="0"/>
                        <a:t>examples are urea, uric acid,</a:t>
                      </a:r>
                    </a:p>
                    <a:p>
                      <a:pPr eaLnBrk="1" hangingPunct="1">
                        <a:buFont typeface="Arial" panose="020B0604020202020204" pitchFamily="34" charset="0"/>
                        <a:buNone/>
                      </a:pPr>
                      <a:r>
                        <a:rPr lang="en-US" altLang="en-US" sz="2400" dirty="0"/>
                        <a:t>and creatinine</a:t>
                      </a:r>
                      <a:endParaRPr lang="en-US" sz="2400" dirty="0"/>
                    </a:p>
                  </a:txBody>
                  <a:tcPr/>
                </a:tc>
                <a:extLst>
                  <a:ext uri="{0D108BD9-81ED-4DB2-BD59-A6C34878D82A}">
                    <a16:rowId xmlns:a16="http://schemas.microsoft.com/office/drawing/2014/main" val="73422245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potassium (K</a:t>
                      </a:r>
                      <a:r>
                        <a:rPr lang="en-US" sz="2400" baseline="30000" dirty="0"/>
                        <a:t>+</a:t>
                      </a:r>
                      <a:r>
                        <a:rPr 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electrolyte regulated by the kidney</a:t>
                      </a:r>
                    </a:p>
                  </a:txBody>
                  <a:tcPr/>
                </a:tc>
                <a:extLst>
                  <a:ext uri="{0D108BD9-81ED-4DB2-BD59-A6C34878D82A}">
                    <a16:rowId xmlns:a16="http://schemas.microsoft.com/office/drawing/2014/main" val="10001"/>
                  </a:ext>
                </a:extLst>
              </a:tr>
              <a:tr h="370840">
                <a:tc>
                  <a:txBody>
                    <a:bodyPr/>
                    <a:lstStyle/>
                    <a:p>
                      <a:r>
                        <a:rPr lang="en-US" sz="2400" dirty="0"/>
                        <a:t>reabsorption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Renal tubules return materials necessary to the body back into the bloodstream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renal artery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Blood vessel that carries blood to the kidney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85303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t>Vocabulary (Slide 9 of 14)</a:t>
            </a:r>
            <a:endParaRPr lang="en-US" dirty="0"/>
          </a:p>
        </p:txBody>
      </p:sp>
      <p:graphicFrame>
        <p:nvGraphicFramePr>
          <p:cNvPr id="7" name="Content Placeholder 6" descr="Group 5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550891099"/>
              </p:ext>
            </p:extLst>
          </p:nvPr>
        </p:nvGraphicFramePr>
        <p:xfrm>
          <a:off x="2514600" y="1981200"/>
          <a:ext cx="4114800" cy="3124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781050">
                <a:tc>
                  <a:txBody>
                    <a:bodyPr/>
                    <a:lstStyle/>
                    <a:p>
                      <a:r>
                        <a:rPr lang="en-US" sz="2400" dirty="0"/>
                        <a:t>Term</a:t>
                      </a:r>
                    </a:p>
                  </a:txBody>
                  <a:tcPr/>
                </a:tc>
                <a:extLst>
                  <a:ext uri="{0D108BD9-81ED-4DB2-BD59-A6C34878D82A}">
                    <a16:rowId xmlns:a16="http://schemas.microsoft.com/office/drawing/2014/main" val="10000"/>
                  </a:ext>
                </a:extLst>
              </a:tr>
              <a:tr h="781050">
                <a:tc>
                  <a:txBody>
                    <a:bodyPr/>
                    <a:lstStyle/>
                    <a:p>
                      <a:r>
                        <a:rPr lang="en-US" altLang="en-US" sz="2400" dirty="0"/>
                        <a:t>renal pelvis</a:t>
                      </a:r>
                      <a:endParaRPr lang="en-US" sz="2400" dirty="0"/>
                    </a:p>
                  </a:txBody>
                  <a:tcPr/>
                </a:tc>
                <a:extLst>
                  <a:ext uri="{0D108BD9-81ED-4DB2-BD59-A6C34878D82A}">
                    <a16:rowId xmlns:a16="http://schemas.microsoft.com/office/drawing/2014/main" val="10001"/>
                  </a:ext>
                </a:extLst>
              </a:tr>
              <a:tr h="7810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renal tubules</a:t>
                      </a:r>
                    </a:p>
                  </a:txBody>
                  <a:tcPr/>
                </a:tc>
                <a:extLst>
                  <a:ext uri="{0D108BD9-81ED-4DB2-BD59-A6C34878D82A}">
                    <a16:rowId xmlns:a16="http://schemas.microsoft.com/office/drawing/2014/main" val="10002"/>
                  </a:ext>
                </a:extLst>
              </a:tr>
              <a:tr h="7810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renal vein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24944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20624"/>
            <a:ext cx="8229600" cy="1143000"/>
          </a:xfrm>
        </p:spPr>
        <p:txBody>
          <a:bodyPr/>
          <a:lstStyle/>
          <a:p>
            <a:r>
              <a:rPr lang="en-US" b="1" dirty="0"/>
              <a:t>Vocabulary (Slide 10 of 14)</a:t>
            </a:r>
            <a:endParaRPr lang="en-US" dirty="0"/>
          </a:p>
        </p:txBody>
      </p:sp>
      <p:graphicFrame>
        <p:nvGraphicFramePr>
          <p:cNvPr id="7" name="Content Placeholder 6" descr="Group 5 of 7 of vocabulary terms  with corresponding meanings or definitions. "/>
          <p:cNvGraphicFramePr>
            <a:graphicFrameLocks noGrp="1"/>
          </p:cNvGraphicFramePr>
          <p:nvPr>
            <p:ph idx="1"/>
            <p:extLst>
              <p:ext uri="{D42A27DB-BD31-4B8C-83A1-F6EECF244321}">
                <p14:modId xmlns:p14="http://schemas.microsoft.com/office/powerpoint/2010/main" val="282215926"/>
              </p:ext>
            </p:extLst>
          </p:nvPr>
        </p:nvGraphicFramePr>
        <p:xfrm>
          <a:off x="457200" y="2133600"/>
          <a:ext cx="8229600" cy="256032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renal pelvis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collection region in  the kidney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renal tubules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Microscopic tubes in the kidney where urine is formed after filtration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renal vein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Blood vessel that carries blood away from the kidney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95048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38912"/>
            <a:ext cx="8229600" cy="1143000"/>
          </a:xfrm>
        </p:spPr>
        <p:txBody>
          <a:bodyPr/>
          <a:lstStyle/>
          <a:p>
            <a:r>
              <a:rPr lang="en-US" b="1" dirty="0"/>
              <a:t>Vocabulary (Slide 11 of 14)</a:t>
            </a:r>
            <a:endParaRPr lang="en-US" dirty="0"/>
          </a:p>
        </p:txBody>
      </p:sp>
      <p:graphicFrame>
        <p:nvGraphicFramePr>
          <p:cNvPr id="7" name="Content Placeholder 6" descr="Group 6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688923264"/>
              </p:ext>
            </p:extLst>
          </p:nvPr>
        </p:nvGraphicFramePr>
        <p:xfrm>
          <a:off x="2628900" y="2057400"/>
          <a:ext cx="3886200" cy="34290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685800">
                <a:tc>
                  <a:txBody>
                    <a:bodyPr/>
                    <a:lstStyle/>
                    <a:p>
                      <a:r>
                        <a:rPr lang="en-US" sz="2400" dirty="0"/>
                        <a:t>Term</a:t>
                      </a:r>
                    </a:p>
                  </a:txBody>
                  <a:tcPr/>
                </a:tc>
                <a:extLst>
                  <a:ext uri="{0D108BD9-81ED-4DB2-BD59-A6C34878D82A}">
                    <a16:rowId xmlns:a16="http://schemas.microsoft.com/office/drawing/2014/main" val="10000"/>
                  </a:ext>
                </a:extLst>
              </a:tr>
              <a:tr h="685800">
                <a:tc>
                  <a:txBody>
                    <a:bodyPr/>
                    <a:lstStyle/>
                    <a:p>
                      <a:r>
                        <a:rPr lang="en-US" altLang="en-US" sz="2400" dirty="0"/>
                        <a:t>renin</a:t>
                      </a:r>
                      <a:endParaRPr lang="en-US" sz="2400" dirty="0"/>
                    </a:p>
                  </a:txBody>
                  <a:tcPr/>
                </a:tc>
                <a:extLst>
                  <a:ext uri="{0D108BD9-81ED-4DB2-BD59-A6C34878D82A}">
                    <a16:rowId xmlns:a16="http://schemas.microsoft.com/office/drawing/2014/main" val="10001"/>
                  </a:ext>
                </a:extLst>
              </a:tr>
              <a:tr h="6858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sodium (Na</a:t>
                      </a:r>
                      <a:r>
                        <a:rPr lang="en-US" altLang="en-US" sz="2400" baseline="30000" dirty="0"/>
                        <a:t>+</a:t>
                      </a:r>
                      <a:r>
                        <a:rPr lang="en-US" altLang="en-US" sz="2400" dirty="0"/>
                        <a:t>)</a:t>
                      </a:r>
                    </a:p>
                  </a:txBody>
                  <a:tcPr/>
                </a:tc>
                <a:extLst>
                  <a:ext uri="{0D108BD9-81ED-4DB2-BD59-A6C34878D82A}">
                    <a16:rowId xmlns:a16="http://schemas.microsoft.com/office/drawing/2014/main" val="10002"/>
                  </a:ext>
                </a:extLst>
              </a:tr>
              <a:tr h="685800">
                <a:tc>
                  <a:txBody>
                    <a:bodyPr/>
                    <a:lstStyle/>
                    <a:p>
                      <a:r>
                        <a:rPr lang="en-US" altLang="en-US" sz="2400" dirty="0" err="1"/>
                        <a:t>trigone</a:t>
                      </a:r>
                      <a:endParaRPr lang="en-US" sz="2400" dirty="0"/>
                    </a:p>
                  </a:txBody>
                  <a:tcPr/>
                </a:tc>
                <a:extLst>
                  <a:ext uri="{0D108BD9-81ED-4DB2-BD59-A6C34878D82A}">
                    <a16:rowId xmlns:a16="http://schemas.microsoft.com/office/drawing/2014/main" val="10003"/>
                  </a:ext>
                </a:extLst>
              </a:tr>
              <a:tr h="685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t>urea</a:t>
                      </a:r>
                      <a:endParaRPr lang="en-US" sz="2400" dirty="0"/>
                    </a:p>
                  </a:txBody>
                  <a:tcPr/>
                </a:tc>
                <a:extLst>
                  <a:ext uri="{0D108BD9-81ED-4DB2-BD59-A6C34878D82A}">
                    <a16:rowId xmlns:a16="http://schemas.microsoft.com/office/drawing/2014/main" val="1018223117"/>
                  </a:ext>
                </a:extLst>
              </a:tr>
            </a:tbl>
          </a:graphicData>
        </a:graphic>
      </p:graphicFrame>
    </p:spTree>
    <p:extLst>
      <p:ext uri="{BB962C8B-B14F-4D97-AF65-F5344CB8AC3E}">
        <p14:creationId xmlns:p14="http://schemas.microsoft.com/office/powerpoint/2010/main" val="3741705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t>Vocabulary (Slide 12 of 14)</a:t>
            </a:r>
            <a:endParaRPr lang="en-US" dirty="0"/>
          </a:p>
        </p:txBody>
      </p:sp>
      <p:graphicFrame>
        <p:nvGraphicFramePr>
          <p:cNvPr id="7" name="Content Placeholder 6" descr="Group 6 of 7 of vocabulary terms  with corresponding meanings or definitions. "/>
          <p:cNvGraphicFramePr>
            <a:graphicFrameLocks noGrp="1"/>
          </p:cNvGraphicFramePr>
          <p:nvPr>
            <p:ph idx="1"/>
            <p:extLst>
              <p:ext uri="{D42A27DB-BD31-4B8C-83A1-F6EECF244321}">
                <p14:modId xmlns:p14="http://schemas.microsoft.com/office/powerpoint/2010/main" val="464837397"/>
              </p:ext>
            </p:extLst>
          </p:nvPr>
        </p:nvGraphicFramePr>
        <p:xfrm>
          <a:off x="457200" y="2057400"/>
          <a:ext cx="8229600" cy="33832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renin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Enzyme</a:t>
                      </a:r>
                      <a:r>
                        <a:rPr lang="en-US" altLang="en-US" sz="2400" baseline="0" dirty="0"/>
                        <a:t> </a:t>
                      </a:r>
                      <a:r>
                        <a:rPr lang="en-US" altLang="en-US" sz="2400" dirty="0"/>
                        <a:t>secreted by the kidney that raises blood pressure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sodium (Na</a:t>
                      </a:r>
                      <a:r>
                        <a:rPr lang="en-US" altLang="en-US" sz="2400" baseline="30000" dirty="0"/>
                        <a:t>+</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 electrolyte regulated in the blood and urine by the kidneys; a common form of sodium is sodium chloride (salt)</a:t>
                      </a:r>
                    </a:p>
                  </a:txBody>
                  <a:tcPr/>
                </a:tc>
                <a:extLst>
                  <a:ext uri="{0D108BD9-81ED-4DB2-BD59-A6C34878D82A}">
                    <a16:rowId xmlns:a16="http://schemas.microsoft.com/office/drawing/2014/main" val="10002"/>
                  </a:ext>
                </a:extLst>
              </a:tr>
              <a:tr h="370840">
                <a:tc>
                  <a:txBody>
                    <a:bodyPr/>
                    <a:lstStyle/>
                    <a:p>
                      <a:r>
                        <a:rPr lang="en-US" altLang="en-US" sz="2400" dirty="0" err="1"/>
                        <a:t>trigone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Triangular area in the urinary bladder</a:t>
                      </a:r>
                    </a:p>
                  </a:txBody>
                  <a:tcPr/>
                </a:tc>
                <a:extLst>
                  <a:ext uri="{0D108BD9-81ED-4DB2-BD59-A6C34878D82A}">
                    <a16:rowId xmlns:a16="http://schemas.microsoft.com/office/drawing/2014/main" val="10003"/>
                  </a:ext>
                </a:extLst>
              </a:tr>
              <a:tr h="370840">
                <a:tc>
                  <a:txBody>
                    <a:bodyPr/>
                    <a:lstStyle/>
                    <a:p>
                      <a:r>
                        <a:rPr lang="en-US" altLang="en-US" sz="2400" dirty="0"/>
                        <a:t>urea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Major nitrogenous waste excreted in urine </a:t>
                      </a:r>
                    </a:p>
                  </a:txBody>
                  <a:tcPr/>
                </a:tc>
                <a:extLst>
                  <a:ext uri="{0D108BD9-81ED-4DB2-BD59-A6C34878D82A}">
                    <a16:rowId xmlns:a16="http://schemas.microsoft.com/office/drawing/2014/main" val="1307378971"/>
                  </a:ext>
                </a:extLst>
              </a:tr>
            </a:tbl>
          </a:graphicData>
        </a:graphic>
      </p:graphicFrame>
    </p:spTree>
    <p:extLst>
      <p:ext uri="{BB962C8B-B14F-4D97-AF65-F5344CB8AC3E}">
        <p14:creationId xmlns:p14="http://schemas.microsoft.com/office/powerpoint/2010/main" val="2497948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t>Vocabulary (Slide 13 of 14)</a:t>
            </a:r>
            <a:endParaRPr lang="en-US" dirty="0"/>
          </a:p>
        </p:txBody>
      </p:sp>
      <p:graphicFrame>
        <p:nvGraphicFramePr>
          <p:cNvPr id="7" name="Content Placeholder 6" descr="Group 7 of 7 vocabulary terms.  This table lists a group of vocabulary terms.  The same list is repeated on the next slide with corresponding definitions."/>
          <p:cNvGraphicFramePr>
            <a:graphicFrameLocks noGrp="1"/>
          </p:cNvGraphicFramePr>
          <p:nvPr>
            <p:ph idx="1"/>
            <p:extLst>
              <p:ext uri="{D42A27DB-BD31-4B8C-83A1-F6EECF244321}">
                <p14:modId xmlns:p14="http://schemas.microsoft.com/office/powerpoint/2010/main" val="3026725727"/>
              </p:ext>
            </p:extLst>
          </p:nvPr>
        </p:nvGraphicFramePr>
        <p:xfrm>
          <a:off x="2514600" y="2057400"/>
          <a:ext cx="4114800" cy="40386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673100">
                <a:tc>
                  <a:txBody>
                    <a:bodyPr/>
                    <a:lstStyle/>
                    <a:p>
                      <a:r>
                        <a:rPr lang="en-US" sz="2400" dirty="0"/>
                        <a:t>Term</a:t>
                      </a:r>
                    </a:p>
                  </a:txBody>
                  <a:tcPr/>
                </a:tc>
                <a:extLst>
                  <a:ext uri="{0D108BD9-81ED-4DB2-BD59-A6C34878D82A}">
                    <a16:rowId xmlns:a16="http://schemas.microsoft.com/office/drawing/2014/main" val="10000"/>
                  </a:ext>
                </a:extLst>
              </a:tr>
              <a:tr h="673100">
                <a:tc>
                  <a:txBody>
                    <a:bodyPr/>
                    <a:lstStyle/>
                    <a:p>
                      <a:r>
                        <a:rPr lang="en-US" altLang="en-US" sz="2400" dirty="0"/>
                        <a:t>ureter</a:t>
                      </a:r>
                      <a:endParaRPr lang="en-US" sz="2400" dirty="0"/>
                    </a:p>
                  </a:txBody>
                  <a:tcPr/>
                </a:tc>
                <a:extLst>
                  <a:ext uri="{0D108BD9-81ED-4DB2-BD59-A6C34878D82A}">
                    <a16:rowId xmlns:a16="http://schemas.microsoft.com/office/drawing/2014/main" val="10002"/>
                  </a:ext>
                </a:extLst>
              </a:tr>
              <a:tr h="673100">
                <a:tc>
                  <a:txBody>
                    <a:bodyPr/>
                    <a:lstStyle/>
                    <a:p>
                      <a:r>
                        <a:rPr lang="en-US" altLang="en-US" sz="2400" dirty="0"/>
                        <a:t>urethra</a:t>
                      </a:r>
                      <a:endParaRPr lang="en-US" sz="2400" dirty="0"/>
                    </a:p>
                  </a:txBody>
                  <a:tcPr/>
                </a:tc>
                <a:extLst>
                  <a:ext uri="{0D108BD9-81ED-4DB2-BD59-A6C34878D82A}">
                    <a16:rowId xmlns:a16="http://schemas.microsoft.com/office/drawing/2014/main" val="10003"/>
                  </a:ext>
                </a:extLst>
              </a:tr>
              <a:tr h="6731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uric acid</a:t>
                      </a:r>
                    </a:p>
                  </a:txBody>
                  <a:tcPr/>
                </a:tc>
                <a:extLst>
                  <a:ext uri="{0D108BD9-81ED-4DB2-BD59-A6C34878D82A}">
                    <a16:rowId xmlns:a16="http://schemas.microsoft.com/office/drawing/2014/main" val="3884697120"/>
                  </a:ext>
                </a:extLst>
              </a:tr>
              <a:tr h="6731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urinary bladder</a:t>
                      </a:r>
                    </a:p>
                  </a:txBody>
                  <a:tcPr/>
                </a:tc>
                <a:extLst>
                  <a:ext uri="{0D108BD9-81ED-4DB2-BD59-A6C34878D82A}">
                    <a16:rowId xmlns:a16="http://schemas.microsoft.com/office/drawing/2014/main" val="1503486013"/>
                  </a:ext>
                </a:extLst>
              </a:tr>
              <a:tr h="673100">
                <a:tc>
                  <a:txBody>
                    <a:bodyPr/>
                    <a:lstStyle/>
                    <a:p>
                      <a:pPr eaLnBrk="1" hangingPunct="1"/>
                      <a:r>
                        <a:rPr lang="en-US" altLang="en-US" sz="2400" dirty="0"/>
                        <a:t>urination (voiding)</a:t>
                      </a:r>
                    </a:p>
                  </a:txBody>
                  <a:tcPr/>
                </a:tc>
                <a:extLst>
                  <a:ext uri="{0D108BD9-81ED-4DB2-BD59-A6C34878D82A}">
                    <a16:rowId xmlns:a16="http://schemas.microsoft.com/office/drawing/2014/main" val="1399991714"/>
                  </a:ext>
                </a:extLst>
              </a:tr>
            </a:tbl>
          </a:graphicData>
        </a:graphic>
      </p:graphicFrame>
    </p:spTree>
    <p:extLst>
      <p:ext uri="{BB962C8B-B14F-4D97-AF65-F5344CB8AC3E}">
        <p14:creationId xmlns:p14="http://schemas.microsoft.com/office/powerpoint/2010/main" val="1242422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29768"/>
            <a:ext cx="8229600" cy="1143000"/>
          </a:xfrm>
        </p:spPr>
        <p:txBody>
          <a:bodyPr/>
          <a:lstStyle/>
          <a:p>
            <a:r>
              <a:rPr lang="en-US" b="1" dirty="0"/>
              <a:t>Vocabulary (Slide 14 of 14)</a:t>
            </a:r>
            <a:endParaRPr lang="en-US" dirty="0"/>
          </a:p>
        </p:txBody>
      </p:sp>
      <p:graphicFrame>
        <p:nvGraphicFramePr>
          <p:cNvPr id="7" name="Content Placeholder 6" descr="Group 7 of 7 of vocabulary terms  with corresponding meanings or definitions. "/>
          <p:cNvGraphicFramePr>
            <a:graphicFrameLocks noGrp="1"/>
          </p:cNvGraphicFramePr>
          <p:nvPr>
            <p:ph idx="1"/>
            <p:extLst>
              <p:ext uri="{D42A27DB-BD31-4B8C-83A1-F6EECF244321}">
                <p14:modId xmlns:p14="http://schemas.microsoft.com/office/powerpoint/2010/main" val="1793278845"/>
              </p:ext>
            </p:extLst>
          </p:nvPr>
        </p:nvGraphicFramePr>
        <p:xfrm>
          <a:off x="457200" y="1828800"/>
          <a:ext cx="8229600" cy="457200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ureter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One of two tubes leading from the kidneys to the urinary bladder </a:t>
                      </a:r>
                    </a:p>
                  </a:txBody>
                  <a:tcPr/>
                </a:tc>
                <a:extLst>
                  <a:ext uri="{0D108BD9-81ED-4DB2-BD59-A6C34878D82A}">
                    <a16:rowId xmlns:a16="http://schemas.microsoft.com/office/drawing/2014/main" val="10002"/>
                  </a:ext>
                </a:extLst>
              </a:tr>
              <a:tr h="370840">
                <a:tc>
                  <a:txBody>
                    <a:bodyPr/>
                    <a:lstStyle/>
                    <a:p>
                      <a:r>
                        <a:rPr lang="en-US" altLang="en-US" sz="2400" dirty="0"/>
                        <a:t>urethra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Tube leading from the urinary bladder to the outside of the body </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uric acid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Nitrogenous waste product excreted in the urine</a:t>
                      </a:r>
                    </a:p>
                  </a:txBody>
                  <a:tcPr/>
                </a:tc>
                <a:extLst>
                  <a:ext uri="{0D108BD9-81ED-4DB2-BD59-A6C34878D82A}">
                    <a16:rowId xmlns:a16="http://schemas.microsoft.com/office/drawing/2014/main" val="297321298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urinary bladder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Hollow, muscular sac that holds  and stores urine</a:t>
                      </a:r>
                    </a:p>
                  </a:txBody>
                  <a:tcPr/>
                </a:tc>
                <a:extLst>
                  <a:ext uri="{0D108BD9-81ED-4DB2-BD59-A6C34878D82A}">
                    <a16:rowId xmlns:a16="http://schemas.microsoft.com/office/drawing/2014/main" val="3257627478"/>
                  </a:ext>
                </a:extLst>
              </a:tr>
              <a:tr h="370840">
                <a:tc>
                  <a:txBody>
                    <a:bodyPr/>
                    <a:lstStyle/>
                    <a:p>
                      <a:pPr eaLnBrk="1" hangingPunct="1"/>
                      <a:r>
                        <a:rPr lang="en-US" altLang="en-US" sz="2400" dirty="0"/>
                        <a:t>urination (voiding)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Process of expelling urine; also called micturition</a:t>
                      </a:r>
                    </a:p>
                  </a:txBody>
                  <a:tcPr/>
                </a:tc>
                <a:extLst>
                  <a:ext uri="{0D108BD9-81ED-4DB2-BD59-A6C34878D82A}">
                    <a16:rowId xmlns:a16="http://schemas.microsoft.com/office/drawing/2014/main" val="825265213"/>
                  </a:ext>
                </a:extLst>
              </a:tr>
            </a:tbl>
          </a:graphicData>
        </a:graphic>
      </p:graphicFrame>
    </p:spTree>
    <p:extLst>
      <p:ext uri="{BB962C8B-B14F-4D97-AF65-F5344CB8AC3E}">
        <p14:creationId xmlns:p14="http://schemas.microsoft.com/office/powerpoint/2010/main" val="34466913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2392362"/>
          </a:xfrm>
        </p:spPr>
        <p:txBody>
          <a:bodyPr/>
          <a:lstStyle/>
          <a:p>
            <a:r>
              <a:rPr lang="en-US" b="1" dirty="0"/>
              <a:t>Terminology:  </a:t>
            </a:r>
            <a:br>
              <a:rPr lang="en-US" b="1" dirty="0"/>
            </a:br>
            <a:r>
              <a:rPr lang="en-US" sz="4000" b="1" dirty="0">
                <a:solidFill>
                  <a:prstClr val="black"/>
                </a:solidFill>
              </a:rPr>
              <a:t>Structures </a:t>
            </a:r>
            <a:r>
              <a:rPr lang="en-US" sz="3200" b="1" dirty="0">
                <a:solidFill>
                  <a:prstClr val="black"/>
                </a:solidFill>
              </a:rPr>
              <a:t>(Slide 1 of 6)</a:t>
            </a:r>
            <a:endParaRPr lang="en-US" sz="3200" dirty="0"/>
          </a:p>
        </p:txBody>
      </p:sp>
      <p:graphicFrame>
        <p:nvGraphicFramePr>
          <p:cNvPr id="8" name="Content Placeholder 7" descr="Group 1 of 3 combining forms from the Terminology:  Structures section of the textbook. "/>
          <p:cNvGraphicFramePr>
            <a:graphicFrameLocks noGrp="1"/>
          </p:cNvGraphicFramePr>
          <p:nvPr>
            <p:ph idx="1"/>
            <p:extLst>
              <p:ext uri="{D42A27DB-BD31-4B8C-83A1-F6EECF244321}">
                <p14:modId xmlns:p14="http://schemas.microsoft.com/office/powerpoint/2010/main" val="601947991"/>
              </p:ext>
            </p:extLst>
          </p:nvPr>
        </p:nvGraphicFramePr>
        <p:xfrm>
          <a:off x="2705100" y="2392362"/>
          <a:ext cx="3733800" cy="2971800"/>
        </p:xfrm>
        <a:graphic>
          <a:graphicData uri="http://schemas.openxmlformats.org/drawingml/2006/table">
            <a:tbl>
              <a:tblPr firstRow="1" bandRow="1">
                <a:tableStyleId>{68D230F3-CF80-4859-8CE7-A43EE81993B5}</a:tableStyleId>
              </a:tblPr>
              <a:tblGrid>
                <a:gridCol w="3733800">
                  <a:extLst>
                    <a:ext uri="{9D8B030D-6E8A-4147-A177-3AD203B41FA5}">
                      <a16:colId xmlns:a16="http://schemas.microsoft.com/office/drawing/2014/main" val="20000"/>
                    </a:ext>
                  </a:extLst>
                </a:gridCol>
              </a:tblGrid>
              <a:tr h="59436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594360">
                <a:tc>
                  <a:txBody>
                    <a:bodyPr/>
                    <a:lstStyle/>
                    <a:p>
                      <a:r>
                        <a:rPr lang="en-US" altLang="en-US" sz="2400" b="1" dirty="0" err="1"/>
                        <a:t>cali</a:t>
                      </a:r>
                      <a:r>
                        <a:rPr lang="en-US" altLang="en-US" sz="2400" b="1" dirty="0"/>
                        <a:t>/o</a:t>
                      </a:r>
                      <a:r>
                        <a:rPr lang="en-US" altLang="en-US" sz="2400" dirty="0"/>
                        <a:t>, </a:t>
                      </a:r>
                      <a:r>
                        <a:rPr lang="en-US" altLang="en-US" sz="2400" b="1" dirty="0" err="1"/>
                        <a:t>calic</a:t>
                      </a:r>
                      <a:r>
                        <a:rPr lang="en-US" altLang="en-US" sz="2400" b="1" dirty="0"/>
                        <a:t>/o</a:t>
                      </a:r>
                      <a:endParaRPr lang="en-US" sz="2400" dirty="0"/>
                    </a:p>
                  </a:txBody>
                  <a:tcPr/>
                </a:tc>
                <a:extLst>
                  <a:ext uri="{0D108BD9-81ED-4DB2-BD59-A6C34878D82A}">
                    <a16:rowId xmlns:a16="http://schemas.microsoft.com/office/drawing/2014/main" val="10001"/>
                  </a:ext>
                </a:extLst>
              </a:tr>
              <a:tr h="594360">
                <a:tc>
                  <a:txBody>
                    <a:bodyPr/>
                    <a:lstStyle/>
                    <a:p>
                      <a:r>
                        <a:rPr lang="en-US" altLang="en-US" sz="2400" b="1" dirty="0"/>
                        <a:t>cyst/o</a:t>
                      </a:r>
                      <a:endParaRPr lang="en-US" sz="2400" dirty="0"/>
                    </a:p>
                  </a:txBody>
                  <a:tcPr/>
                </a:tc>
                <a:extLst>
                  <a:ext uri="{0D108BD9-81ED-4DB2-BD59-A6C34878D82A}">
                    <a16:rowId xmlns:a16="http://schemas.microsoft.com/office/drawing/2014/main" val="10002"/>
                  </a:ext>
                </a:extLst>
              </a:tr>
              <a:tr h="594360">
                <a:tc>
                  <a:txBody>
                    <a:bodyPr/>
                    <a:lstStyle/>
                    <a:p>
                      <a:r>
                        <a:rPr lang="en-US" altLang="en-US" sz="2400" b="1" dirty="0" err="1"/>
                        <a:t>glomerul</a:t>
                      </a:r>
                      <a:r>
                        <a:rPr lang="en-US" altLang="en-US" sz="2400" b="1" dirty="0"/>
                        <a:t>/o</a:t>
                      </a:r>
                      <a:endParaRPr lang="en-US" sz="2400" dirty="0"/>
                    </a:p>
                  </a:txBody>
                  <a:tcPr/>
                </a:tc>
                <a:extLst>
                  <a:ext uri="{0D108BD9-81ED-4DB2-BD59-A6C34878D82A}">
                    <a16:rowId xmlns:a16="http://schemas.microsoft.com/office/drawing/2014/main" val="10003"/>
                  </a:ext>
                </a:extLst>
              </a:tr>
              <a:tr h="594360">
                <a:tc>
                  <a:txBody>
                    <a:bodyPr/>
                    <a:lstStyle/>
                    <a:p>
                      <a:r>
                        <a:rPr lang="en-US" altLang="en-US" sz="2400" b="1" dirty="0"/>
                        <a:t>meat/o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55394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382000" cy="1219200"/>
          </a:xfrm>
        </p:spPr>
        <p:txBody>
          <a:bodyPr/>
          <a:lstStyle/>
          <a:p>
            <a:r>
              <a:rPr lang="en-US" b="1" dirty="0">
                <a:solidFill>
                  <a:prstClr val="black"/>
                </a:solidFill>
              </a:rPr>
              <a:t>Terminology:  </a:t>
            </a:r>
            <a:br>
              <a:rPr lang="en-US" b="1" dirty="0">
                <a:solidFill>
                  <a:prstClr val="black"/>
                </a:solidFill>
              </a:rPr>
            </a:br>
            <a:r>
              <a:rPr lang="en-US" sz="4000" b="1" dirty="0">
                <a:solidFill>
                  <a:prstClr val="black"/>
                </a:solidFill>
              </a:rPr>
              <a:t>Structures </a:t>
            </a:r>
            <a:r>
              <a:rPr lang="en-US" sz="3200" b="1" dirty="0">
                <a:solidFill>
                  <a:prstClr val="black"/>
                </a:solidFill>
              </a:rPr>
              <a:t>(Slide 2 of 6)</a:t>
            </a:r>
            <a:endParaRPr lang="en-US" sz="3500" dirty="0"/>
          </a:p>
        </p:txBody>
      </p:sp>
      <p:graphicFrame>
        <p:nvGraphicFramePr>
          <p:cNvPr id="8" name="Content Placeholder 7" descr="Group 1 of 3 combining forms from the Terminology:  Structures section of the textbook  with corresponding meanings or definitions. "/>
          <p:cNvGraphicFramePr>
            <a:graphicFrameLocks noGrp="1"/>
          </p:cNvGraphicFramePr>
          <p:nvPr>
            <p:ph idx="1"/>
            <p:extLst>
              <p:ext uri="{D42A27DB-BD31-4B8C-83A1-F6EECF244321}">
                <p14:modId xmlns:p14="http://schemas.microsoft.com/office/powerpoint/2010/main" val="1722053171"/>
              </p:ext>
            </p:extLst>
          </p:nvPr>
        </p:nvGraphicFramePr>
        <p:xfrm>
          <a:off x="914400" y="2819400"/>
          <a:ext cx="7467600" cy="2286000"/>
        </p:xfrm>
        <a:graphic>
          <a:graphicData uri="http://schemas.openxmlformats.org/drawingml/2006/table">
            <a:tbl>
              <a:tblPr firstRow="1" bandRow="1">
                <a:tableStyleId>{68D230F3-CF80-4859-8CE7-A43EE81993B5}</a:tableStyleId>
              </a:tblPr>
              <a:tblGrid>
                <a:gridCol w="2834922">
                  <a:extLst>
                    <a:ext uri="{9D8B030D-6E8A-4147-A177-3AD203B41FA5}">
                      <a16:colId xmlns:a16="http://schemas.microsoft.com/office/drawing/2014/main" val="20000"/>
                    </a:ext>
                  </a:extLst>
                </a:gridCol>
                <a:gridCol w="4632678">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cali</a:t>
                      </a:r>
                      <a:r>
                        <a:rPr lang="en-US" altLang="en-US" sz="2400" b="1" dirty="0"/>
                        <a:t>/o</a:t>
                      </a:r>
                      <a:r>
                        <a:rPr lang="en-US" altLang="en-US" sz="2400" dirty="0"/>
                        <a:t>, </a:t>
                      </a:r>
                      <a:r>
                        <a:rPr lang="en-US" altLang="en-US" sz="2400" b="1" dirty="0" err="1"/>
                        <a:t>calic</a:t>
                      </a:r>
                      <a:r>
                        <a:rPr lang="en-US" altLang="en-US" sz="2400" b="1" dirty="0"/>
                        <a:t>/o</a:t>
                      </a:r>
                      <a:endParaRPr lang="en-US" sz="2400" dirty="0"/>
                    </a:p>
                  </a:txBody>
                  <a:tcPr/>
                </a:tc>
                <a:tc>
                  <a:txBody>
                    <a:bodyPr/>
                    <a:lstStyle/>
                    <a:p>
                      <a:r>
                        <a:rPr lang="en-US" altLang="en-US" sz="2400" dirty="0"/>
                        <a:t>calyx (calix); cup-shaped</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cyst/o</a:t>
                      </a:r>
                      <a:endParaRPr lang="en-US" sz="2400" dirty="0"/>
                    </a:p>
                  </a:txBody>
                  <a:tcPr/>
                </a:tc>
                <a:tc>
                  <a:txBody>
                    <a:bodyPr/>
                    <a:lstStyle/>
                    <a:p>
                      <a:r>
                        <a:rPr lang="en-US" altLang="en-US" sz="2400" dirty="0"/>
                        <a:t>urinary bladder</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glomerul</a:t>
                      </a:r>
                      <a:r>
                        <a:rPr lang="en-US" altLang="en-US" sz="2400" b="1" dirty="0"/>
                        <a:t>/o</a:t>
                      </a:r>
                      <a:endParaRPr lang="en-US" sz="2400" dirty="0"/>
                    </a:p>
                  </a:txBody>
                  <a:tcPr/>
                </a:tc>
                <a:tc>
                  <a:txBody>
                    <a:bodyPr/>
                    <a:lstStyle/>
                    <a:p>
                      <a:r>
                        <a:rPr lang="en-US" altLang="en-US" sz="2400" dirty="0"/>
                        <a:t>glomerulus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meat/o</a:t>
                      </a:r>
                      <a:endParaRPr lang="en-US" sz="2400" dirty="0"/>
                    </a:p>
                  </a:txBody>
                  <a:tcPr/>
                </a:tc>
                <a:tc>
                  <a:txBody>
                    <a:bodyPr/>
                    <a:lstStyle/>
                    <a:p>
                      <a:r>
                        <a:rPr lang="en-US" altLang="en-US" sz="2400" dirty="0"/>
                        <a:t>meatus</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01981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028700"/>
            <a:ext cx="8229600" cy="1143000"/>
          </a:xfrm>
        </p:spPr>
        <p:txBody>
          <a:bodyPr/>
          <a:lstStyle/>
          <a:p>
            <a:r>
              <a:rPr lang="en-US" b="1" dirty="0">
                <a:solidFill>
                  <a:prstClr val="black"/>
                </a:solidFill>
              </a:rPr>
              <a:t>Terminology:  </a:t>
            </a:r>
            <a:br>
              <a:rPr lang="en-US" b="1" dirty="0">
                <a:solidFill>
                  <a:prstClr val="black"/>
                </a:solidFill>
              </a:rPr>
            </a:br>
            <a:r>
              <a:rPr lang="en-US" sz="4000" b="1" dirty="0">
                <a:solidFill>
                  <a:prstClr val="black"/>
                </a:solidFill>
              </a:rPr>
              <a:t>Structures </a:t>
            </a:r>
            <a:r>
              <a:rPr lang="en-US" sz="3200" b="1" dirty="0">
                <a:solidFill>
                  <a:prstClr val="black"/>
                </a:solidFill>
              </a:rPr>
              <a:t>(Slide 3 of 6)</a:t>
            </a:r>
            <a:br>
              <a:rPr lang="en-US" sz="3500" dirty="0">
                <a:solidFill>
                  <a:prstClr val="black"/>
                </a:solidFill>
              </a:rPr>
            </a:br>
            <a:endParaRPr lang="en-US" sz="3500" dirty="0"/>
          </a:p>
        </p:txBody>
      </p:sp>
      <p:graphicFrame>
        <p:nvGraphicFramePr>
          <p:cNvPr id="8" name="Content Placeholder 7" descr="Group 2 of 3 combining forms from the Terminology:  Structures section of the textbook. "/>
          <p:cNvGraphicFramePr>
            <a:graphicFrameLocks noGrp="1"/>
          </p:cNvGraphicFramePr>
          <p:nvPr>
            <p:ph idx="1"/>
            <p:extLst>
              <p:ext uri="{D42A27DB-BD31-4B8C-83A1-F6EECF244321}">
                <p14:modId xmlns:p14="http://schemas.microsoft.com/office/powerpoint/2010/main" val="2499488207"/>
              </p:ext>
            </p:extLst>
          </p:nvPr>
        </p:nvGraphicFramePr>
        <p:xfrm>
          <a:off x="2686050" y="2743200"/>
          <a:ext cx="3771900" cy="2895600"/>
        </p:xfrm>
        <a:graphic>
          <a:graphicData uri="http://schemas.openxmlformats.org/drawingml/2006/table">
            <a:tbl>
              <a:tblPr firstRow="1" bandRow="1">
                <a:tableStyleId>{68D230F3-CF80-4859-8CE7-A43EE81993B5}</a:tableStyleId>
              </a:tblPr>
              <a:tblGrid>
                <a:gridCol w="3771900">
                  <a:extLst>
                    <a:ext uri="{9D8B030D-6E8A-4147-A177-3AD203B41FA5}">
                      <a16:colId xmlns:a16="http://schemas.microsoft.com/office/drawing/2014/main" val="20000"/>
                    </a:ext>
                  </a:extLst>
                </a:gridCol>
              </a:tblGrid>
              <a:tr h="57912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579120">
                <a:tc>
                  <a:txBody>
                    <a:bodyPr/>
                    <a:lstStyle/>
                    <a:p>
                      <a:r>
                        <a:rPr lang="en-US" altLang="en-US" sz="2400" b="1" dirty="0" err="1"/>
                        <a:t>nephr</a:t>
                      </a:r>
                      <a:r>
                        <a:rPr lang="en-US" altLang="en-US" sz="2400" b="1" dirty="0"/>
                        <a:t>/o</a:t>
                      </a:r>
                      <a:endParaRPr lang="en-US" sz="2400" dirty="0"/>
                    </a:p>
                  </a:txBody>
                  <a:tcPr/>
                </a:tc>
                <a:extLst>
                  <a:ext uri="{0D108BD9-81ED-4DB2-BD59-A6C34878D82A}">
                    <a16:rowId xmlns:a16="http://schemas.microsoft.com/office/drawing/2014/main" val="10001"/>
                  </a:ext>
                </a:extLst>
              </a:tr>
              <a:tr h="579120">
                <a:tc>
                  <a:txBody>
                    <a:bodyPr/>
                    <a:lstStyle/>
                    <a:p>
                      <a:r>
                        <a:rPr lang="en-US" altLang="en-US" sz="2400" b="1" dirty="0" err="1"/>
                        <a:t>pyel</a:t>
                      </a:r>
                      <a:r>
                        <a:rPr lang="en-US" altLang="en-US" sz="2400" b="1" dirty="0"/>
                        <a:t>/o</a:t>
                      </a:r>
                      <a:endParaRPr lang="en-US" sz="2400" dirty="0"/>
                    </a:p>
                  </a:txBody>
                  <a:tcPr/>
                </a:tc>
                <a:extLst>
                  <a:ext uri="{0D108BD9-81ED-4DB2-BD59-A6C34878D82A}">
                    <a16:rowId xmlns:a16="http://schemas.microsoft.com/office/drawing/2014/main" val="10002"/>
                  </a:ext>
                </a:extLst>
              </a:tr>
              <a:tr h="579120">
                <a:tc>
                  <a:txBody>
                    <a:bodyPr/>
                    <a:lstStyle/>
                    <a:p>
                      <a:r>
                        <a:rPr lang="en-US" altLang="en-US" sz="2400" b="1" dirty="0" err="1"/>
                        <a:t>ren</a:t>
                      </a:r>
                      <a:r>
                        <a:rPr lang="en-US" altLang="en-US" sz="2400" b="1" dirty="0"/>
                        <a:t>/o</a:t>
                      </a:r>
                      <a:endParaRPr lang="en-US" sz="2400" dirty="0"/>
                    </a:p>
                  </a:txBody>
                  <a:tcPr/>
                </a:tc>
                <a:extLst>
                  <a:ext uri="{0D108BD9-81ED-4DB2-BD59-A6C34878D82A}">
                    <a16:rowId xmlns:a16="http://schemas.microsoft.com/office/drawing/2014/main" val="10003"/>
                  </a:ext>
                </a:extLst>
              </a:tr>
              <a:tr h="579120">
                <a:tc>
                  <a:txBody>
                    <a:bodyPr/>
                    <a:lstStyle/>
                    <a:p>
                      <a:r>
                        <a:rPr lang="en-US" altLang="en-US" sz="2400" b="1" dirty="0"/>
                        <a:t>trigon/o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139639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028700"/>
            <a:ext cx="8229600" cy="1143000"/>
          </a:xfrm>
        </p:spPr>
        <p:txBody>
          <a:bodyPr/>
          <a:lstStyle/>
          <a:p>
            <a:r>
              <a:rPr lang="en-US" b="1" dirty="0">
                <a:solidFill>
                  <a:prstClr val="black"/>
                </a:solidFill>
              </a:rPr>
              <a:t>Terminology:  </a:t>
            </a:r>
            <a:br>
              <a:rPr lang="en-US" b="1" dirty="0">
                <a:solidFill>
                  <a:prstClr val="black"/>
                </a:solidFill>
              </a:rPr>
            </a:br>
            <a:r>
              <a:rPr lang="en-US" sz="4000" b="1" dirty="0">
                <a:solidFill>
                  <a:prstClr val="black"/>
                </a:solidFill>
              </a:rPr>
              <a:t>Structures </a:t>
            </a:r>
            <a:r>
              <a:rPr lang="en-US" sz="3200" b="1" dirty="0">
                <a:solidFill>
                  <a:prstClr val="black"/>
                </a:solidFill>
              </a:rPr>
              <a:t>(Slide 4 of 6)</a:t>
            </a:r>
            <a:br>
              <a:rPr lang="en-US" sz="3500" dirty="0">
                <a:solidFill>
                  <a:prstClr val="black"/>
                </a:solidFill>
              </a:rPr>
            </a:br>
            <a:endParaRPr lang="en-US" sz="3500" dirty="0"/>
          </a:p>
        </p:txBody>
      </p:sp>
      <p:graphicFrame>
        <p:nvGraphicFramePr>
          <p:cNvPr id="8" name="Content Placeholder 7" descr="Group 2 of 3 combining forms from the Terminology:  Structures section of the textbook  with corresponding meanings or definitions. "/>
          <p:cNvGraphicFramePr>
            <a:graphicFrameLocks noGrp="1"/>
          </p:cNvGraphicFramePr>
          <p:nvPr>
            <p:ph idx="1"/>
            <p:extLst>
              <p:ext uri="{D42A27DB-BD31-4B8C-83A1-F6EECF244321}">
                <p14:modId xmlns:p14="http://schemas.microsoft.com/office/powerpoint/2010/main" val="3831465948"/>
              </p:ext>
            </p:extLst>
          </p:nvPr>
        </p:nvGraphicFramePr>
        <p:xfrm>
          <a:off x="729996" y="3124200"/>
          <a:ext cx="7684008" cy="2286000"/>
        </p:xfrm>
        <a:graphic>
          <a:graphicData uri="http://schemas.openxmlformats.org/drawingml/2006/table">
            <a:tbl>
              <a:tblPr firstRow="1" bandRow="1">
                <a:tableStyleId>{68D230F3-CF80-4859-8CE7-A43EE81993B5}</a:tableStyleId>
              </a:tblPr>
              <a:tblGrid>
                <a:gridCol w="2917077">
                  <a:extLst>
                    <a:ext uri="{9D8B030D-6E8A-4147-A177-3AD203B41FA5}">
                      <a16:colId xmlns:a16="http://schemas.microsoft.com/office/drawing/2014/main" val="20000"/>
                    </a:ext>
                  </a:extLst>
                </a:gridCol>
                <a:gridCol w="4766931">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nephr</a:t>
                      </a:r>
                      <a:r>
                        <a:rPr lang="en-US" altLang="en-US" sz="2400" b="1" dirty="0"/>
                        <a:t>/o</a:t>
                      </a:r>
                      <a:endParaRPr lang="en-US" sz="2400" dirty="0"/>
                    </a:p>
                  </a:txBody>
                  <a:tcPr/>
                </a:tc>
                <a:tc>
                  <a:txBody>
                    <a:bodyPr/>
                    <a:lstStyle/>
                    <a:p>
                      <a:r>
                        <a:rPr lang="en-US" altLang="en-US" sz="2400" dirty="0"/>
                        <a:t>kidney</a:t>
                      </a:r>
                      <a:r>
                        <a:rPr lang="en-US" altLang="en-US" sz="2400" b="1" dirty="0"/>
                        <a:t> </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pyel</a:t>
                      </a:r>
                      <a:r>
                        <a:rPr lang="en-US" altLang="en-US" sz="2400" b="1" dirty="0"/>
                        <a:t>/o</a:t>
                      </a:r>
                      <a:endParaRPr lang="en-US" sz="2400" dirty="0"/>
                    </a:p>
                  </a:txBody>
                  <a:tcPr/>
                </a:tc>
                <a:tc>
                  <a:txBody>
                    <a:bodyPr/>
                    <a:lstStyle/>
                    <a:p>
                      <a:r>
                        <a:rPr lang="en-US" altLang="en-US" sz="2400" dirty="0"/>
                        <a:t>renal pelvis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ren</a:t>
                      </a:r>
                      <a:r>
                        <a:rPr lang="en-US" altLang="en-US" sz="2400" b="1" dirty="0"/>
                        <a:t>/o</a:t>
                      </a:r>
                      <a:endParaRPr lang="en-US" sz="2400" dirty="0"/>
                    </a:p>
                  </a:txBody>
                  <a:tcPr/>
                </a:tc>
                <a:tc>
                  <a:txBody>
                    <a:bodyPr/>
                    <a:lstStyle/>
                    <a:p>
                      <a:r>
                        <a:rPr lang="en-US" altLang="en-US" sz="2400" dirty="0"/>
                        <a:t>kidney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trigon/o</a:t>
                      </a:r>
                      <a:endParaRPr lang="en-US" sz="2400" dirty="0"/>
                    </a:p>
                  </a:txBody>
                  <a:tcPr/>
                </a:tc>
                <a:tc>
                  <a:txBody>
                    <a:bodyPr/>
                    <a:lstStyle/>
                    <a:p>
                      <a:r>
                        <a:rPr lang="en-US" altLang="en-US" sz="2400" dirty="0" err="1"/>
                        <a:t>trigone</a:t>
                      </a:r>
                      <a:r>
                        <a:rPr lang="en-US" altLang="en-US" sz="2400" b="1" dirty="0"/>
                        <a:t> </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41941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9392" y="1219200"/>
            <a:ext cx="8229600" cy="1143000"/>
          </a:xfrm>
        </p:spPr>
        <p:txBody>
          <a:bodyPr/>
          <a:lstStyle/>
          <a:p>
            <a:r>
              <a:rPr lang="en-US" b="1" dirty="0">
                <a:solidFill>
                  <a:prstClr val="black"/>
                </a:solidFill>
              </a:rPr>
              <a:t>Terminology:  </a:t>
            </a:r>
            <a:br>
              <a:rPr lang="en-US" b="1" dirty="0">
                <a:solidFill>
                  <a:prstClr val="black"/>
                </a:solidFill>
              </a:rPr>
            </a:br>
            <a:r>
              <a:rPr lang="en-US" sz="4000" b="1" dirty="0">
                <a:solidFill>
                  <a:prstClr val="black"/>
                </a:solidFill>
              </a:rPr>
              <a:t>Structures </a:t>
            </a:r>
            <a:r>
              <a:rPr lang="en-US" sz="3200" b="1" dirty="0">
                <a:solidFill>
                  <a:prstClr val="black"/>
                </a:solidFill>
              </a:rPr>
              <a:t>(Slide 5 of 6)</a:t>
            </a:r>
            <a:br>
              <a:rPr lang="en-US" sz="3500" dirty="0">
                <a:solidFill>
                  <a:prstClr val="black"/>
                </a:solidFill>
              </a:rPr>
            </a:br>
            <a:endParaRPr lang="en-US" sz="3500" dirty="0"/>
          </a:p>
        </p:txBody>
      </p:sp>
      <p:graphicFrame>
        <p:nvGraphicFramePr>
          <p:cNvPr id="8" name="Content Placeholder 7" descr="Group 3 of 3 combining forms from the Terminology:  Structures section of the textbook. "/>
          <p:cNvGraphicFramePr>
            <a:graphicFrameLocks noGrp="1"/>
          </p:cNvGraphicFramePr>
          <p:nvPr>
            <p:ph idx="1"/>
            <p:extLst>
              <p:ext uri="{D42A27DB-BD31-4B8C-83A1-F6EECF244321}">
                <p14:modId xmlns:p14="http://schemas.microsoft.com/office/powerpoint/2010/main" val="3719768720"/>
              </p:ext>
            </p:extLst>
          </p:nvPr>
        </p:nvGraphicFramePr>
        <p:xfrm>
          <a:off x="2667000" y="2819400"/>
          <a:ext cx="4216908" cy="2514600"/>
        </p:xfrm>
        <a:graphic>
          <a:graphicData uri="http://schemas.openxmlformats.org/drawingml/2006/table">
            <a:tbl>
              <a:tblPr firstRow="1" bandRow="1">
                <a:tableStyleId>{68D230F3-CF80-4859-8CE7-A43EE81993B5}</a:tableStyleId>
              </a:tblPr>
              <a:tblGrid>
                <a:gridCol w="4216908">
                  <a:extLst>
                    <a:ext uri="{9D8B030D-6E8A-4147-A177-3AD203B41FA5}">
                      <a16:colId xmlns:a16="http://schemas.microsoft.com/office/drawing/2014/main" val="20000"/>
                    </a:ext>
                  </a:extLst>
                </a:gridCol>
              </a:tblGrid>
              <a:tr h="62865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628650">
                <a:tc>
                  <a:txBody>
                    <a:bodyPr/>
                    <a:lstStyle/>
                    <a:p>
                      <a:r>
                        <a:rPr lang="en-US" altLang="en-US" sz="2400" b="1" dirty="0"/>
                        <a:t>ureter/o</a:t>
                      </a:r>
                      <a:endParaRPr lang="en-US" sz="2400" dirty="0"/>
                    </a:p>
                  </a:txBody>
                  <a:tcPr/>
                </a:tc>
                <a:extLst>
                  <a:ext uri="{0D108BD9-81ED-4DB2-BD59-A6C34878D82A}">
                    <a16:rowId xmlns:a16="http://schemas.microsoft.com/office/drawing/2014/main" val="10001"/>
                  </a:ext>
                </a:extLst>
              </a:tr>
              <a:tr h="628650">
                <a:tc>
                  <a:txBody>
                    <a:bodyPr/>
                    <a:lstStyle/>
                    <a:p>
                      <a:r>
                        <a:rPr lang="en-US" altLang="en-US" sz="2400" b="1" dirty="0" err="1"/>
                        <a:t>urethr</a:t>
                      </a:r>
                      <a:r>
                        <a:rPr lang="en-US" altLang="en-US" sz="2400" b="1" dirty="0"/>
                        <a:t>/o</a:t>
                      </a:r>
                      <a:endParaRPr lang="en-US" sz="2400" dirty="0"/>
                    </a:p>
                  </a:txBody>
                  <a:tcPr/>
                </a:tc>
                <a:extLst>
                  <a:ext uri="{0D108BD9-81ED-4DB2-BD59-A6C34878D82A}">
                    <a16:rowId xmlns:a16="http://schemas.microsoft.com/office/drawing/2014/main" val="10002"/>
                  </a:ext>
                </a:extLst>
              </a:tr>
              <a:tr h="628650">
                <a:tc>
                  <a:txBody>
                    <a:bodyPr/>
                    <a:lstStyle/>
                    <a:p>
                      <a:r>
                        <a:rPr lang="en-US" altLang="en-US" sz="2400" b="1" dirty="0" err="1"/>
                        <a:t>vesic</a:t>
                      </a:r>
                      <a:r>
                        <a:rPr lang="en-US" altLang="en-US" sz="2400" b="1" dirty="0"/>
                        <a:t>/o</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20886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42950"/>
            <a:ext cx="8229600" cy="1714500"/>
          </a:xfrm>
        </p:spPr>
        <p:txBody>
          <a:bodyPr/>
          <a:lstStyle/>
          <a:p>
            <a:r>
              <a:rPr lang="en-US" b="1" dirty="0">
                <a:solidFill>
                  <a:prstClr val="black"/>
                </a:solidFill>
              </a:rPr>
              <a:t>Terminology:  </a:t>
            </a:r>
            <a:br>
              <a:rPr lang="en-US" b="1" dirty="0">
                <a:solidFill>
                  <a:prstClr val="black"/>
                </a:solidFill>
              </a:rPr>
            </a:br>
            <a:r>
              <a:rPr lang="en-US" sz="4000" b="1" dirty="0">
                <a:solidFill>
                  <a:prstClr val="black"/>
                </a:solidFill>
              </a:rPr>
              <a:t>Structures </a:t>
            </a:r>
            <a:r>
              <a:rPr lang="en-US" sz="3200" b="1" dirty="0">
                <a:solidFill>
                  <a:prstClr val="black"/>
                </a:solidFill>
              </a:rPr>
              <a:t>(Slide 6 of 6)</a:t>
            </a:r>
            <a:endParaRPr lang="en-US" sz="3500" dirty="0"/>
          </a:p>
        </p:txBody>
      </p:sp>
      <p:graphicFrame>
        <p:nvGraphicFramePr>
          <p:cNvPr id="8" name="Content Placeholder 7" descr="Group 3 of 3 combining forms from the Terminology:  Structures section of the textbook  with corresponding meanings or definitions. "/>
          <p:cNvGraphicFramePr>
            <a:graphicFrameLocks noGrp="1"/>
          </p:cNvGraphicFramePr>
          <p:nvPr>
            <p:ph idx="1"/>
            <p:extLst>
              <p:ext uri="{D42A27DB-BD31-4B8C-83A1-F6EECF244321}">
                <p14:modId xmlns:p14="http://schemas.microsoft.com/office/powerpoint/2010/main" val="2381198642"/>
              </p:ext>
            </p:extLst>
          </p:nvPr>
        </p:nvGraphicFramePr>
        <p:xfrm>
          <a:off x="1122426" y="2971800"/>
          <a:ext cx="6899148" cy="1828800"/>
        </p:xfrm>
        <a:graphic>
          <a:graphicData uri="http://schemas.openxmlformats.org/drawingml/2006/table">
            <a:tbl>
              <a:tblPr firstRow="1" bandRow="1">
                <a:tableStyleId>{68D230F3-CF80-4859-8CE7-A43EE81993B5}</a:tableStyleId>
              </a:tblPr>
              <a:tblGrid>
                <a:gridCol w="2619121">
                  <a:extLst>
                    <a:ext uri="{9D8B030D-6E8A-4147-A177-3AD203B41FA5}">
                      <a16:colId xmlns:a16="http://schemas.microsoft.com/office/drawing/2014/main" val="20000"/>
                    </a:ext>
                  </a:extLst>
                </a:gridCol>
                <a:gridCol w="4280027">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ureter/o</a:t>
                      </a:r>
                      <a:endParaRPr lang="en-US" sz="2400" dirty="0"/>
                    </a:p>
                  </a:txBody>
                  <a:tcPr/>
                </a:tc>
                <a:tc>
                  <a:txBody>
                    <a:bodyPr/>
                    <a:lstStyle/>
                    <a:p>
                      <a:r>
                        <a:rPr lang="en-US" altLang="en-US" sz="2400" dirty="0"/>
                        <a:t>ureter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urethr</a:t>
                      </a:r>
                      <a:r>
                        <a:rPr lang="en-US" altLang="en-US" sz="2400" b="1" dirty="0"/>
                        <a:t>/o</a:t>
                      </a:r>
                      <a:endParaRPr lang="en-US" sz="2400" dirty="0"/>
                    </a:p>
                  </a:txBody>
                  <a:tcPr/>
                </a:tc>
                <a:tc>
                  <a:txBody>
                    <a:bodyPr/>
                    <a:lstStyle/>
                    <a:p>
                      <a:r>
                        <a:rPr lang="en-US" altLang="en-US" sz="2400" dirty="0"/>
                        <a:t>urethra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vesic</a:t>
                      </a:r>
                      <a:r>
                        <a:rPr lang="en-US" altLang="en-US" sz="2400" b="1" dirty="0"/>
                        <a:t>/o</a:t>
                      </a:r>
                      <a:endParaRPr lang="en-US" sz="2400" dirty="0"/>
                    </a:p>
                  </a:txBody>
                  <a:tcPr/>
                </a:tc>
                <a:tc>
                  <a:txBody>
                    <a:bodyPr/>
                    <a:lstStyle/>
                    <a:p>
                      <a:r>
                        <a:rPr lang="en-US" altLang="en-US" sz="2400" dirty="0"/>
                        <a:t>urinary bladder</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64912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13519"/>
            <a:ext cx="8229600" cy="2773362"/>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1 of 6)</a:t>
            </a:r>
            <a:endParaRPr lang="en-US" sz="3500" dirty="0"/>
          </a:p>
        </p:txBody>
      </p:sp>
      <p:graphicFrame>
        <p:nvGraphicFramePr>
          <p:cNvPr id="8" name="Content Placeholder 7" descr="Group 1 of 3 combining forms from the Terminology:  Substances and Urinary Symptoms section of the textbook. "/>
          <p:cNvGraphicFramePr>
            <a:graphicFrameLocks noGrp="1"/>
          </p:cNvGraphicFramePr>
          <p:nvPr>
            <p:ph idx="1"/>
            <p:extLst>
              <p:ext uri="{D42A27DB-BD31-4B8C-83A1-F6EECF244321}">
                <p14:modId xmlns:p14="http://schemas.microsoft.com/office/powerpoint/2010/main" val="3701377870"/>
              </p:ext>
            </p:extLst>
          </p:nvPr>
        </p:nvGraphicFramePr>
        <p:xfrm>
          <a:off x="3009900" y="2956689"/>
          <a:ext cx="3124200" cy="2286000"/>
        </p:xfrm>
        <a:graphic>
          <a:graphicData uri="http://schemas.openxmlformats.org/drawingml/2006/table">
            <a:tbl>
              <a:tblPr firstRow="1" bandRow="1">
                <a:tableStyleId>{68D230F3-CF80-4859-8CE7-A43EE81993B5}</a:tableStyleId>
              </a:tblPr>
              <a:tblGrid>
                <a:gridCol w="31242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a:t>albumin/o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azot</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bacteri</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dips/o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9936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1295400"/>
            <a:ext cx="8229600" cy="1143000"/>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2 of 6)</a:t>
            </a:r>
            <a:br>
              <a:rPr lang="en-US" sz="3600" dirty="0">
                <a:solidFill>
                  <a:prstClr val="black"/>
                </a:solidFill>
              </a:rPr>
            </a:br>
            <a:endParaRPr lang="en-US" sz="3500" dirty="0"/>
          </a:p>
        </p:txBody>
      </p:sp>
      <p:graphicFrame>
        <p:nvGraphicFramePr>
          <p:cNvPr id="8" name="Content Placeholder 7" descr="Group 1 of 3 combining forms from the Terminology:  Substances and Urinary Symptoms section of the textbook with the corresponding meanings."/>
          <p:cNvGraphicFramePr>
            <a:graphicFrameLocks noGrp="1"/>
          </p:cNvGraphicFramePr>
          <p:nvPr>
            <p:ph idx="1"/>
            <p:extLst>
              <p:ext uri="{D42A27DB-BD31-4B8C-83A1-F6EECF244321}">
                <p14:modId xmlns:p14="http://schemas.microsoft.com/office/powerpoint/2010/main" val="4021577866"/>
              </p:ext>
            </p:extLst>
          </p:nvPr>
        </p:nvGraphicFramePr>
        <p:xfrm>
          <a:off x="914400" y="2895600"/>
          <a:ext cx="7162800" cy="2286000"/>
        </p:xfrm>
        <a:graphic>
          <a:graphicData uri="http://schemas.openxmlformats.org/drawingml/2006/table">
            <a:tbl>
              <a:tblPr firstRow="1" bandRow="1">
                <a:tableStyleId>{68D230F3-CF80-4859-8CE7-A43EE81993B5}</a:tableStyleId>
              </a:tblPr>
              <a:tblGrid>
                <a:gridCol w="2719211">
                  <a:extLst>
                    <a:ext uri="{9D8B030D-6E8A-4147-A177-3AD203B41FA5}">
                      <a16:colId xmlns:a16="http://schemas.microsoft.com/office/drawing/2014/main" val="20000"/>
                    </a:ext>
                  </a:extLst>
                </a:gridCol>
                <a:gridCol w="4443589">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albumin/o</a:t>
                      </a:r>
                      <a:endParaRPr lang="en-US" sz="2400" dirty="0"/>
                    </a:p>
                  </a:txBody>
                  <a:tcPr/>
                </a:tc>
                <a:tc>
                  <a:txBody>
                    <a:bodyPr/>
                    <a:lstStyle/>
                    <a:p>
                      <a:r>
                        <a:rPr lang="en-US" sz="2400" dirty="0"/>
                        <a:t>albumin</a:t>
                      </a:r>
                    </a:p>
                  </a:txBody>
                  <a:tcPr/>
                </a:tc>
                <a:extLst>
                  <a:ext uri="{0D108BD9-81ED-4DB2-BD59-A6C34878D82A}">
                    <a16:rowId xmlns:a16="http://schemas.microsoft.com/office/drawing/2014/main" val="10001"/>
                  </a:ext>
                </a:extLst>
              </a:tr>
              <a:tr h="370840">
                <a:tc>
                  <a:txBody>
                    <a:bodyPr/>
                    <a:lstStyle/>
                    <a:p>
                      <a:r>
                        <a:rPr lang="en-US" altLang="en-US" sz="2400" b="1" dirty="0" err="1"/>
                        <a:t>azot</a:t>
                      </a:r>
                      <a:r>
                        <a:rPr lang="en-US" altLang="en-US" sz="2400" b="1" dirty="0"/>
                        <a:t>/o</a:t>
                      </a:r>
                      <a:endParaRPr lang="en-US" sz="2400" dirty="0"/>
                    </a:p>
                  </a:txBody>
                  <a:tcPr/>
                </a:tc>
                <a:tc>
                  <a:txBody>
                    <a:bodyPr/>
                    <a:lstStyle/>
                    <a:p>
                      <a:r>
                        <a:rPr lang="en-US" sz="2400" dirty="0"/>
                        <a:t>nitrogen</a:t>
                      </a:r>
                    </a:p>
                  </a:txBody>
                  <a:tcPr/>
                </a:tc>
                <a:extLst>
                  <a:ext uri="{0D108BD9-81ED-4DB2-BD59-A6C34878D82A}">
                    <a16:rowId xmlns:a16="http://schemas.microsoft.com/office/drawing/2014/main" val="10002"/>
                  </a:ext>
                </a:extLst>
              </a:tr>
              <a:tr h="370840">
                <a:tc>
                  <a:txBody>
                    <a:bodyPr/>
                    <a:lstStyle/>
                    <a:p>
                      <a:r>
                        <a:rPr lang="en-US" altLang="en-US" sz="2400" b="1" dirty="0" err="1"/>
                        <a:t>bacteri</a:t>
                      </a:r>
                      <a:r>
                        <a:rPr lang="en-US" altLang="en-US" sz="2400" b="1" dirty="0"/>
                        <a:t>/o</a:t>
                      </a:r>
                      <a:endParaRPr lang="en-US" sz="2400" dirty="0"/>
                    </a:p>
                  </a:txBody>
                  <a:tcPr/>
                </a:tc>
                <a:tc>
                  <a:txBody>
                    <a:bodyPr/>
                    <a:lstStyle/>
                    <a:p>
                      <a:r>
                        <a:rPr lang="en-US" sz="2400" dirty="0"/>
                        <a:t>bacteria</a:t>
                      </a:r>
                    </a:p>
                  </a:txBody>
                  <a:tcPr/>
                </a:tc>
                <a:extLst>
                  <a:ext uri="{0D108BD9-81ED-4DB2-BD59-A6C34878D82A}">
                    <a16:rowId xmlns:a16="http://schemas.microsoft.com/office/drawing/2014/main" val="10003"/>
                  </a:ext>
                </a:extLst>
              </a:tr>
              <a:tr h="370840">
                <a:tc>
                  <a:txBody>
                    <a:bodyPr/>
                    <a:lstStyle/>
                    <a:p>
                      <a:r>
                        <a:rPr lang="en-US" altLang="en-US" sz="2400" b="1" dirty="0"/>
                        <a:t>dips/o</a:t>
                      </a:r>
                      <a:endParaRPr lang="en-US" sz="2400" dirty="0"/>
                    </a:p>
                  </a:txBody>
                  <a:tcPr/>
                </a:tc>
                <a:tc>
                  <a:txBody>
                    <a:bodyPr/>
                    <a:lstStyle/>
                    <a:p>
                      <a:r>
                        <a:rPr lang="en-US" sz="2400" dirty="0"/>
                        <a:t>thirst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191243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1960" y="1028700"/>
            <a:ext cx="8229600" cy="1143000"/>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3 of 6)</a:t>
            </a:r>
            <a:br>
              <a:rPr lang="en-US" sz="3600" dirty="0">
                <a:solidFill>
                  <a:prstClr val="black"/>
                </a:solidFill>
              </a:rPr>
            </a:br>
            <a:endParaRPr lang="en-US" sz="3500" dirty="0"/>
          </a:p>
        </p:txBody>
      </p:sp>
      <p:graphicFrame>
        <p:nvGraphicFramePr>
          <p:cNvPr id="8" name="Content Placeholder 7" descr="Group 2 of 3 combining forms from the Terminology:  Substances and Urinary Symptoms section of the textbook. "/>
          <p:cNvGraphicFramePr>
            <a:graphicFrameLocks noGrp="1"/>
          </p:cNvGraphicFramePr>
          <p:nvPr>
            <p:ph idx="1"/>
            <p:extLst>
              <p:ext uri="{D42A27DB-BD31-4B8C-83A1-F6EECF244321}">
                <p14:modId xmlns:p14="http://schemas.microsoft.com/office/powerpoint/2010/main" val="4293277758"/>
              </p:ext>
            </p:extLst>
          </p:nvPr>
        </p:nvGraphicFramePr>
        <p:xfrm>
          <a:off x="2842260" y="2590800"/>
          <a:ext cx="3429000" cy="3200400"/>
        </p:xfrm>
        <a:graphic>
          <a:graphicData uri="http://schemas.openxmlformats.org/drawingml/2006/table">
            <a:tbl>
              <a:tblPr firstRow="1" bandRow="1">
                <a:tableStyleId>{68D230F3-CF80-4859-8CE7-A43EE81993B5}</a:tableStyleId>
              </a:tblPr>
              <a:tblGrid>
                <a:gridCol w="34290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a:t>
                      </a:r>
                      <a:endParaRPr lang="en-US" sz="2400" dirty="0"/>
                    </a:p>
                  </a:txBody>
                  <a:tcPr/>
                </a:tc>
                <a:extLst>
                  <a:ext uri="{0D108BD9-81ED-4DB2-BD59-A6C34878D82A}">
                    <a16:rowId xmlns:a16="http://schemas.microsoft.com/office/drawing/2014/main" val="10000"/>
                  </a:ext>
                </a:extLst>
              </a:tr>
              <a:tr h="370840">
                <a:tc>
                  <a:txBody>
                    <a:bodyPr/>
                    <a:lstStyle/>
                    <a:p>
                      <a:r>
                        <a:rPr lang="en-US" sz="2400" b="1" dirty="0" err="1"/>
                        <a:t>kal</a:t>
                      </a:r>
                      <a:r>
                        <a:rPr 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ket</a:t>
                      </a:r>
                      <a:r>
                        <a:rPr lang="en-US" sz="2400" b="1" dirty="0"/>
                        <a:t>/o, </a:t>
                      </a:r>
                      <a:r>
                        <a:rPr lang="en-US" sz="2400" b="1" dirty="0" err="1"/>
                        <a:t>keton</a:t>
                      </a:r>
                      <a:r>
                        <a:rPr 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sz="2400" b="1" dirty="0" err="1"/>
                        <a:t>lith</a:t>
                      </a:r>
                      <a:r>
                        <a:rPr 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sz="2400" b="1" dirty="0" err="1"/>
                        <a:t>natr</a:t>
                      </a:r>
                      <a:r>
                        <a:rPr 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sz="2400" b="1" dirty="0" err="1"/>
                        <a:t>noct</a:t>
                      </a:r>
                      <a:r>
                        <a:rPr 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sz="2400" b="1" dirty="0" err="1"/>
                        <a:t>olig</a:t>
                      </a:r>
                      <a:r>
                        <a:rPr 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72044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32816" y="1219200"/>
            <a:ext cx="8229600" cy="1143000"/>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4 of 6)</a:t>
            </a:r>
            <a:br>
              <a:rPr lang="en-US" sz="3600" dirty="0">
                <a:solidFill>
                  <a:prstClr val="black"/>
                </a:solidFill>
              </a:rPr>
            </a:br>
            <a:endParaRPr lang="en-US" sz="3500" dirty="0"/>
          </a:p>
        </p:txBody>
      </p:sp>
      <p:graphicFrame>
        <p:nvGraphicFramePr>
          <p:cNvPr id="8" name="Content Placeholder 7" descr="Group 2 of 3 combining forms from the Terminology:  Substances and Urinary Symptoms section of the textbook with the corresponding meanings."/>
          <p:cNvGraphicFramePr>
            <a:graphicFrameLocks noGrp="1"/>
          </p:cNvGraphicFramePr>
          <p:nvPr>
            <p:ph idx="1"/>
            <p:extLst>
              <p:ext uri="{D42A27DB-BD31-4B8C-83A1-F6EECF244321}">
                <p14:modId xmlns:p14="http://schemas.microsoft.com/office/powerpoint/2010/main" val="3970063315"/>
              </p:ext>
            </p:extLst>
          </p:nvPr>
        </p:nvGraphicFramePr>
        <p:xfrm>
          <a:off x="1004316" y="2667000"/>
          <a:ext cx="7086600" cy="3200400"/>
        </p:xfrm>
        <a:graphic>
          <a:graphicData uri="http://schemas.openxmlformats.org/drawingml/2006/table">
            <a:tbl>
              <a:tblPr firstRow="1" bandRow="1">
                <a:tableStyleId>{68D230F3-CF80-4859-8CE7-A43EE81993B5}</a:tableStyleId>
              </a:tblPr>
              <a:tblGrid>
                <a:gridCol w="2952750">
                  <a:extLst>
                    <a:ext uri="{9D8B030D-6E8A-4147-A177-3AD203B41FA5}">
                      <a16:colId xmlns:a16="http://schemas.microsoft.com/office/drawing/2014/main" val="20000"/>
                    </a:ext>
                  </a:extLst>
                </a:gridCol>
                <a:gridCol w="413385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 </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kal</a:t>
                      </a:r>
                      <a:r>
                        <a:rPr lang="en-US" sz="2400" b="1" dirty="0"/>
                        <a:t>/o</a:t>
                      </a:r>
                      <a:endParaRPr lang="en-US" sz="2400" dirty="0"/>
                    </a:p>
                  </a:txBody>
                  <a:tcPr/>
                </a:tc>
                <a:tc>
                  <a:txBody>
                    <a:bodyPr/>
                    <a:lstStyle/>
                    <a:p>
                      <a:r>
                        <a:rPr lang="en-US" sz="2400" dirty="0"/>
                        <a:t>potassium</a:t>
                      </a:r>
                    </a:p>
                  </a:txBody>
                  <a:tcPr/>
                </a:tc>
                <a:extLst>
                  <a:ext uri="{0D108BD9-81ED-4DB2-BD59-A6C34878D82A}">
                    <a16:rowId xmlns:a16="http://schemas.microsoft.com/office/drawing/2014/main" val="10001"/>
                  </a:ext>
                </a:extLst>
              </a:tr>
              <a:tr h="370840">
                <a:tc>
                  <a:txBody>
                    <a:bodyPr/>
                    <a:lstStyle/>
                    <a:p>
                      <a:r>
                        <a:rPr lang="en-US" sz="2400" b="1" dirty="0" err="1"/>
                        <a:t>ket</a:t>
                      </a:r>
                      <a:r>
                        <a:rPr lang="en-US" sz="2400" b="1" dirty="0"/>
                        <a:t>/o, </a:t>
                      </a:r>
                      <a:r>
                        <a:rPr lang="en-US" sz="2400" b="1" dirty="0" err="1"/>
                        <a:t>keton</a:t>
                      </a:r>
                      <a:r>
                        <a:rPr lang="en-US" sz="2400" b="1" dirty="0"/>
                        <a:t>/o</a:t>
                      </a:r>
                      <a:endParaRPr lang="en-US" sz="2400" dirty="0"/>
                    </a:p>
                  </a:txBody>
                  <a:tcPr/>
                </a:tc>
                <a:tc>
                  <a:txBody>
                    <a:bodyPr/>
                    <a:lstStyle/>
                    <a:p>
                      <a:r>
                        <a:rPr lang="en-US" sz="2400" dirty="0"/>
                        <a:t>ketone bodies</a:t>
                      </a:r>
                    </a:p>
                  </a:txBody>
                  <a:tcPr/>
                </a:tc>
                <a:extLst>
                  <a:ext uri="{0D108BD9-81ED-4DB2-BD59-A6C34878D82A}">
                    <a16:rowId xmlns:a16="http://schemas.microsoft.com/office/drawing/2014/main" val="10002"/>
                  </a:ext>
                </a:extLst>
              </a:tr>
              <a:tr h="370840">
                <a:tc>
                  <a:txBody>
                    <a:bodyPr/>
                    <a:lstStyle/>
                    <a:p>
                      <a:r>
                        <a:rPr lang="en-US" sz="2400" b="1" dirty="0" err="1"/>
                        <a:t>lith</a:t>
                      </a:r>
                      <a:r>
                        <a:rPr lang="en-US" sz="2400" b="1" dirty="0"/>
                        <a:t>/o</a:t>
                      </a:r>
                      <a:endParaRPr lang="en-US" sz="2400" dirty="0"/>
                    </a:p>
                  </a:txBody>
                  <a:tcPr/>
                </a:tc>
                <a:tc>
                  <a:txBody>
                    <a:bodyPr/>
                    <a:lstStyle/>
                    <a:p>
                      <a:r>
                        <a:rPr lang="en-US" sz="2400" dirty="0"/>
                        <a:t>stone</a:t>
                      </a:r>
                    </a:p>
                  </a:txBody>
                  <a:tcPr/>
                </a:tc>
                <a:extLst>
                  <a:ext uri="{0D108BD9-81ED-4DB2-BD59-A6C34878D82A}">
                    <a16:rowId xmlns:a16="http://schemas.microsoft.com/office/drawing/2014/main" val="10003"/>
                  </a:ext>
                </a:extLst>
              </a:tr>
              <a:tr h="370840">
                <a:tc>
                  <a:txBody>
                    <a:bodyPr/>
                    <a:lstStyle/>
                    <a:p>
                      <a:r>
                        <a:rPr lang="en-US" sz="2400" b="1" dirty="0" err="1"/>
                        <a:t>natr</a:t>
                      </a:r>
                      <a:r>
                        <a:rPr lang="en-US" sz="2400" b="1" dirty="0"/>
                        <a:t>/o</a:t>
                      </a:r>
                      <a:endParaRPr lang="en-US" sz="2400" dirty="0"/>
                    </a:p>
                  </a:txBody>
                  <a:tcPr/>
                </a:tc>
                <a:tc>
                  <a:txBody>
                    <a:bodyPr/>
                    <a:lstStyle/>
                    <a:p>
                      <a:r>
                        <a:rPr lang="en-US" sz="2400" dirty="0"/>
                        <a:t>sodium</a:t>
                      </a:r>
                    </a:p>
                  </a:txBody>
                  <a:tcPr/>
                </a:tc>
                <a:extLst>
                  <a:ext uri="{0D108BD9-81ED-4DB2-BD59-A6C34878D82A}">
                    <a16:rowId xmlns:a16="http://schemas.microsoft.com/office/drawing/2014/main" val="10004"/>
                  </a:ext>
                </a:extLst>
              </a:tr>
              <a:tr h="370840">
                <a:tc>
                  <a:txBody>
                    <a:bodyPr/>
                    <a:lstStyle/>
                    <a:p>
                      <a:r>
                        <a:rPr lang="en-US" sz="2400" b="1" dirty="0" err="1"/>
                        <a:t>noct</a:t>
                      </a:r>
                      <a:r>
                        <a:rPr lang="en-US" sz="2400" b="1" dirty="0"/>
                        <a:t>/o</a:t>
                      </a:r>
                      <a:endParaRPr lang="en-US" sz="2400" dirty="0"/>
                    </a:p>
                  </a:txBody>
                  <a:tcPr/>
                </a:tc>
                <a:tc>
                  <a:txBody>
                    <a:bodyPr/>
                    <a:lstStyle/>
                    <a:p>
                      <a:r>
                        <a:rPr lang="en-US" sz="2400" dirty="0"/>
                        <a:t>night</a:t>
                      </a:r>
                    </a:p>
                  </a:txBody>
                  <a:tcPr/>
                </a:tc>
                <a:extLst>
                  <a:ext uri="{0D108BD9-81ED-4DB2-BD59-A6C34878D82A}">
                    <a16:rowId xmlns:a16="http://schemas.microsoft.com/office/drawing/2014/main" val="10005"/>
                  </a:ext>
                </a:extLst>
              </a:tr>
              <a:tr h="370840">
                <a:tc>
                  <a:txBody>
                    <a:bodyPr/>
                    <a:lstStyle/>
                    <a:p>
                      <a:r>
                        <a:rPr lang="en-US" sz="2400" b="1" dirty="0" err="1"/>
                        <a:t>olig</a:t>
                      </a:r>
                      <a:r>
                        <a:rPr lang="en-US" sz="2400" b="1" dirty="0"/>
                        <a:t>/o</a:t>
                      </a:r>
                      <a:endParaRPr lang="en-US" sz="2400" dirty="0"/>
                    </a:p>
                  </a:txBody>
                  <a:tcPr/>
                </a:tc>
                <a:tc>
                  <a:txBody>
                    <a:bodyPr/>
                    <a:lstStyle/>
                    <a:p>
                      <a:r>
                        <a:rPr lang="en-US" sz="2400" dirty="0"/>
                        <a:t>scanty</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02559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028700"/>
            <a:ext cx="8229600" cy="1143000"/>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5 of 6)</a:t>
            </a:r>
            <a:endParaRPr lang="en-US" sz="3500" dirty="0"/>
          </a:p>
        </p:txBody>
      </p:sp>
      <p:graphicFrame>
        <p:nvGraphicFramePr>
          <p:cNvPr id="8" name="Content Placeholder 7" descr="Group 3 of 3 combining forms or suffixes from the Terminology:  Substances and Urinary Symptoms section of the textbook. "/>
          <p:cNvGraphicFramePr>
            <a:graphicFrameLocks noGrp="1"/>
          </p:cNvGraphicFramePr>
          <p:nvPr>
            <p:ph idx="1"/>
            <p:extLst>
              <p:ext uri="{D42A27DB-BD31-4B8C-83A1-F6EECF244321}">
                <p14:modId xmlns:p14="http://schemas.microsoft.com/office/powerpoint/2010/main" val="744204395"/>
              </p:ext>
            </p:extLst>
          </p:nvPr>
        </p:nvGraphicFramePr>
        <p:xfrm>
          <a:off x="2819400" y="2590800"/>
          <a:ext cx="3505200" cy="3200400"/>
        </p:xfrm>
        <a:graphic>
          <a:graphicData uri="http://schemas.openxmlformats.org/drawingml/2006/table">
            <a:tbl>
              <a:tblPr firstRow="1" bandRow="1">
                <a:tableStyleId>{68D230F3-CF80-4859-8CE7-A43EE81993B5}</a:tableStyleId>
              </a:tblPr>
              <a:tblGrid>
                <a:gridCol w="3505200">
                  <a:extLst>
                    <a:ext uri="{9D8B030D-6E8A-4147-A177-3AD203B41FA5}">
                      <a16:colId xmlns:a16="http://schemas.microsoft.com/office/drawing/2014/main" val="20000"/>
                    </a:ext>
                  </a:extLst>
                </a:gridCol>
              </a:tblGrid>
              <a:tr h="370840">
                <a:tc>
                  <a:txBody>
                    <a:bodyPr/>
                    <a:lstStyle/>
                    <a:p>
                      <a:r>
                        <a:rPr lang="en-US" sz="2400" dirty="0"/>
                        <a:t>Combining</a:t>
                      </a:r>
                      <a:r>
                        <a:rPr lang="en-US" sz="2400" baseline="0" dirty="0"/>
                        <a:t> Form or Suffix</a:t>
                      </a:r>
                      <a:endParaRPr lang="en-US" sz="2400" dirty="0"/>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poietin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py</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tripsy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ur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uria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urin</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06283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98492" y="594519"/>
            <a:ext cx="8229600" cy="2011362"/>
          </a:xfrm>
        </p:spPr>
        <p:txBody>
          <a:bodyPr/>
          <a:lstStyle/>
          <a:p>
            <a:r>
              <a:rPr lang="en-US" b="1" dirty="0">
                <a:solidFill>
                  <a:prstClr val="black"/>
                </a:solidFill>
              </a:rPr>
              <a:t>Terminology: </a:t>
            </a:r>
            <a:br>
              <a:rPr lang="en-US" sz="2800" i="1" dirty="0">
                <a:solidFill>
                  <a:prstClr val="black"/>
                </a:solidFill>
              </a:rPr>
            </a:br>
            <a:r>
              <a:rPr lang="en-US" sz="3600" b="1" dirty="0">
                <a:solidFill>
                  <a:prstClr val="black"/>
                </a:solidFill>
              </a:rPr>
              <a:t>Substances and Symptoms (Slide 6 of 6)</a:t>
            </a:r>
            <a:endParaRPr lang="en-US" sz="3500" dirty="0"/>
          </a:p>
        </p:txBody>
      </p:sp>
      <p:graphicFrame>
        <p:nvGraphicFramePr>
          <p:cNvPr id="8" name="Content Placeholder 7" descr="Group 3 of 3 combining forms and suffixes from the Terminology:  Substances and Urinary Symptoms section of the textbook with the corresponding meanings."/>
          <p:cNvGraphicFramePr>
            <a:graphicFrameLocks noGrp="1"/>
          </p:cNvGraphicFramePr>
          <p:nvPr>
            <p:ph idx="1"/>
            <p:extLst>
              <p:ext uri="{D42A27DB-BD31-4B8C-83A1-F6EECF244321}">
                <p14:modId xmlns:p14="http://schemas.microsoft.com/office/powerpoint/2010/main" val="3610062492"/>
              </p:ext>
            </p:extLst>
          </p:nvPr>
        </p:nvGraphicFramePr>
        <p:xfrm>
          <a:off x="476926" y="2819400"/>
          <a:ext cx="8229600" cy="3200400"/>
        </p:xfrm>
        <a:graphic>
          <a:graphicData uri="http://schemas.openxmlformats.org/drawingml/2006/table">
            <a:tbl>
              <a:tblPr firstRow="1" bandRow="1">
                <a:tableStyleId>{68D230F3-CF80-4859-8CE7-A43EE81993B5}</a:tableStyleId>
              </a:tblPr>
              <a:tblGrid>
                <a:gridCol w="3505200">
                  <a:extLst>
                    <a:ext uri="{9D8B030D-6E8A-4147-A177-3AD203B41FA5}">
                      <a16:colId xmlns:a16="http://schemas.microsoft.com/office/drawing/2014/main" val="20000"/>
                    </a:ext>
                  </a:extLst>
                </a:gridCol>
                <a:gridCol w="4724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 or Suffix</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poietin</a:t>
                      </a:r>
                      <a:endParaRPr lang="en-US" sz="2400" dirty="0"/>
                    </a:p>
                  </a:txBody>
                  <a:tcPr/>
                </a:tc>
                <a:tc>
                  <a:txBody>
                    <a:bodyPr/>
                    <a:lstStyle/>
                    <a:p>
                      <a:r>
                        <a:rPr lang="en-US" sz="2400" dirty="0"/>
                        <a:t>substance that forms</a:t>
                      </a:r>
                    </a:p>
                  </a:txBody>
                  <a:tcPr/>
                </a:tc>
                <a:extLst>
                  <a:ext uri="{0D108BD9-81ED-4DB2-BD59-A6C34878D82A}">
                    <a16:rowId xmlns:a16="http://schemas.microsoft.com/office/drawing/2014/main" val="10001"/>
                  </a:ext>
                </a:extLst>
              </a:tr>
              <a:tr h="370840">
                <a:tc>
                  <a:txBody>
                    <a:bodyPr/>
                    <a:lstStyle/>
                    <a:p>
                      <a:r>
                        <a:rPr lang="en-US" altLang="en-US" sz="2400" b="1" dirty="0" err="1"/>
                        <a:t>py</a:t>
                      </a:r>
                      <a:r>
                        <a:rPr lang="en-US" altLang="en-US" sz="2400" b="1" dirty="0"/>
                        <a:t>/o</a:t>
                      </a:r>
                      <a:endParaRPr lang="en-US" sz="2400" dirty="0"/>
                    </a:p>
                  </a:txBody>
                  <a:tcPr/>
                </a:tc>
                <a:tc>
                  <a:txBody>
                    <a:bodyPr/>
                    <a:lstStyle/>
                    <a:p>
                      <a:r>
                        <a:rPr lang="en-US" sz="2400" dirty="0"/>
                        <a:t>pus</a:t>
                      </a:r>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tripsy</a:t>
                      </a:r>
                      <a:endParaRPr lang="en-US" sz="2400" dirty="0"/>
                    </a:p>
                  </a:txBody>
                  <a:tcPr/>
                </a:tc>
                <a:tc>
                  <a:txBody>
                    <a:bodyPr/>
                    <a:lstStyle/>
                    <a:p>
                      <a:r>
                        <a:rPr lang="en-US" sz="2400" dirty="0"/>
                        <a:t>to crush</a:t>
                      </a:r>
                    </a:p>
                  </a:txBody>
                  <a:tcPr/>
                </a:tc>
                <a:extLst>
                  <a:ext uri="{0D108BD9-81ED-4DB2-BD59-A6C34878D82A}">
                    <a16:rowId xmlns:a16="http://schemas.microsoft.com/office/drawing/2014/main" val="10003"/>
                  </a:ext>
                </a:extLst>
              </a:tr>
              <a:tr h="370840">
                <a:tc>
                  <a:txBody>
                    <a:bodyPr/>
                    <a:lstStyle/>
                    <a:p>
                      <a:r>
                        <a:rPr lang="en-US" altLang="en-US" sz="2400" b="1" dirty="0" err="1"/>
                        <a:t>ur</a:t>
                      </a:r>
                      <a:r>
                        <a:rPr lang="en-US" altLang="en-US" sz="2400" b="1" dirty="0"/>
                        <a:t>/o</a:t>
                      </a:r>
                      <a:endParaRPr lang="en-US" sz="2400" dirty="0"/>
                    </a:p>
                  </a:txBody>
                  <a:tcPr/>
                </a:tc>
                <a:tc>
                  <a:txBody>
                    <a:bodyPr/>
                    <a:lstStyle/>
                    <a:p>
                      <a:r>
                        <a:rPr lang="en-US" sz="2400" dirty="0"/>
                        <a:t>urea</a:t>
                      </a:r>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uria</a:t>
                      </a:r>
                      <a:endParaRPr lang="en-US" sz="2400" dirty="0"/>
                    </a:p>
                  </a:txBody>
                  <a:tcPr/>
                </a:tc>
                <a:tc>
                  <a:txBody>
                    <a:bodyPr/>
                    <a:lstStyle/>
                    <a:p>
                      <a:r>
                        <a:rPr lang="en-US" sz="2400" dirty="0"/>
                        <a:t>urination; urine condition</a:t>
                      </a:r>
                    </a:p>
                  </a:txBody>
                  <a:tcPr/>
                </a:tc>
                <a:extLst>
                  <a:ext uri="{0D108BD9-81ED-4DB2-BD59-A6C34878D82A}">
                    <a16:rowId xmlns:a16="http://schemas.microsoft.com/office/drawing/2014/main" val="10005"/>
                  </a:ext>
                </a:extLst>
              </a:tr>
              <a:tr h="370840">
                <a:tc>
                  <a:txBody>
                    <a:bodyPr/>
                    <a:lstStyle/>
                    <a:p>
                      <a:r>
                        <a:rPr lang="en-US" altLang="en-US" sz="2400" b="1" dirty="0" err="1"/>
                        <a:t>urin</a:t>
                      </a:r>
                      <a:r>
                        <a:rPr lang="en-US" altLang="en-US" sz="2400" b="1" dirty="0"/>
                        <a:t>/o</a:t>
                      </a:r>
                      <a:endParaRPr lang="en-US" sz="2400" dirty="0"/>
                    </a:p>
                  </a:txBody>
                  <a:tcPr/>
                </a:tc>
                <a:tc>
                  <a:txBody>
                    <a:bodyPr/>
                    <a:lstStyle/>
                    <a:p>
                      <a:r>
                        <a:rPr lang="en-US" sz="2400" dirty="0"/>
                        <a:t>urine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483164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Grp="1" noChangeArrowheads="1"/>
          </p:cNvSpPr>
          <p:nvPr>
            <p:ph type="title"/>
          </p:nvPr>
        </p:nvSpPr>
        <p:spPr>
          <a:xfrm>
            <a:off x="1482852" y="609600"/>
            <a:ext cx="6553200" cy="1143000"/>
          </a:xfrm>
        </p:spPr>
        <p:txBody>
          <a:bodyPr/>
          <a:lstStyle/>
          <a:p>
            <a:pPr eaLnBrk="1" hangingPunct="1"/>
            <a:r>
              <a:rPr lang="en-US" altLang="en-US" sz="5400" b="1" dirty="0"/>
              <a:t>Urinalysis</a:t>
            </a:r>
            <a:r>
              <a:rPr lang="en-US" altLang="en-US" b="1" dirty="0"/>
              <a:t> (Slide 1 of 2)</a:t>
            </a:r>
          </a:p>
        </p:txBody>
      </p:sp>
      <p:sp>
        <p:nvSpPr>
          <p:cNvPr id="71683" name="Rectangle 5"/>
          <p:cNvSpPr>
            <a:spLocks noGrp="1" noChangeArrowheads="1"/>
          </p:cNvSpPr>
          <p:nvPr>
            <p:ph idx="1"/>
          </p:nvPr>
        </p:nvSpPr>
        <p:spPr>
          <a:xfrm>
            <a:off x="1673352" y="2057400"/>
            <a:ext cx="6172200" cy="4419600"/>
          </a:xfrm>
        </p:spPr>
        <p:txBody>
          <a:bodyPr/>
          <a:lstStyle/>
          <a:p>
            <a:pPr marL="533400" indent="-533400" eaLnBrk="1" hangingPunct="1">
              <a:buFont typeface="Wingdings 2" panose="05020102010507070707" pitchFamily="18" charset="2"/>
              <a:buNone/>
            </a:pPr>
            <a:r>
              <a:rPr lang="en-US" altLang="en-US" sz="3600" b="1" dirty="0"/>
              <a:t>Tests Included in a Urinalysis</a:t>
            </a:r>
            <a:endParaRPr lang="en-US" altLang="en-US" b="1" dirty="0"/>
          </a:p>
          <a:p>
            <a:pPr marL="933450" lvl="1" indent="-533400" eaLnBrk="1" hangingPunct="1">
              <a:lnSpc>
                <a:spcPct val="135000"/>
              </a:lnSpc>
              <a:buFont typeface="Arial" panose="020B0604020202020204" pitchFamily="34" charset="0"/>
              <a:buAutoNum type="arabicPeriod"/>
            </a:pPr>
            <a:r>
              <a:rPr lang="en-US" altLang="en-US" sz="3200" b="1" dirty="0"/>
              <a:t>Color</a:t>
            </a:r>
          </a:p>
          <a:p>
            <a:pPr marL="933450" lvl="1" indent="-533400" eaLnBrk="1" hangingPunct="1">
              <a:lnSpc>
                <a:spcPct val="135000"/>
              </a:lnSpc>
              <a:buFont typeface="Arial" panose="020B0604020202020204" pitchFamily="34" charset="0"/>
              <a:buAutoNum type="arabicPeriod"/>
            </a:pPr>
            <a:r>
              <a:rPr lang="en-US" altLang="en-US" sz="3200" b="1" dirty="0"/>
              <a:t>Appearance</a:t>
            </a:r>
          </a:p>
          <a:p>
            <a:pPr marL="933450" lvl="1" indent="-533400" eaLnBrk="1" hangingPunct="1">
              <a:lnSpc>
                <a:spcPct val="135000"/>
              </a:lnSpc>
              <a:buFont typeface="Arial" panose="020B0604020202020204" pitchFamily="34" charset="0"/>
              <a:buAutoNum type="arabicPeriod"/>
            </a:pPr>
            <a:r>
              <a:rPr lang="en-US" altLang="en-US" sz="3200" b="1" dirty="0"/>
              <a:t>pH</a:t>
            </a:r>
          </a:p>
          <a:p>
            <a:pPr marL="933450" lvl="1" indent="-533400" eaLnBrk="1" hangingPunct="1">
              <a:lnSpc>
                <a:spcPct val="135000"/>
              </a:lnSpc>
              <a:buFont typeface="Arial" panose="020B0604020202020204" pitchFamily="34" charset="0"/>
              <a:buAutoNum type="arabicPeriod"/>
            </a:pPr>
            <a:r>
              <a:rPr lang="en-US" altLang="en-US" sz="3200" b="1" dirty="0"/>
              <a:t>Protein</a:t>
            </a:r>
          </a:p>
          <a:p>
            <a:pPr marL="933450" lvl="1" indent="-533400" eaLnBrk="1" hangingPunct="1">
              <a:lnSpc>
                <a:spcPct val="135000"/>
              </a:lnSpc>
              <a:buFont typeface="Arial" panose="020B0604020202020204" pitchFamily="34" charset="0"/>
              <a:buAutoNum type="arabicPeriod"/>
            </a:pPr>
            <a:r>
              <a:rPr lang="en-US" altLang="en-US" sz="3200" b="1" dirty="0"/>
              <a:t>Glucose</a:t>
            </a:r>
          </a:p>
          <a:p>
            <a:pPr marL="533400" indent="-533400" eaLnBrk="1" hangingPunct="1">
              <a:buFont typeface="Webdings" panose="05030102010509060703" pitchFamily="18" charset="2"/>
              <a:buNone/>
            </a:pPr>
            <a:endParaRPr lang="en-US" altLang="en-US" sz="2400" dirty="0"/>
          </a:p>
        </p:txBody>
      </p:sp>
    </p:spTree>
    <p:extLst>
      <p:ext uri="{BB962C8B-B14F-4D97-AF65-F5344CB8AC3E}">
        <p14:creationId xmlns:p14="http://schemas.microsoft.com/office/powerpoint/2010/main" val="11905801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838200" y="493776"/>
            <a:ext cx="8229600" cy="1143000"/>
          </a:xfrm>
        </p:spPr>
        <p:txBody>
          <a:bodyPr/>
          <a:lstStyle/>
          <a:p>
            <a:pPr eaLnBrk="1" hangingPunct="1"/>
            <a:r>
              <a:rPr lang="en-US" altLang="en-US" sz="5400" b="1" dirty="0"/>
              <a:t>Urinalysis</a:t>
            </a:r>
            <a:r>
              <a:rPr lang="en-US" altLang="en-US" b="1" dirty="0"/>
              <a:t> (Slide 2 of 2</a:t>
            </a:r>
            <a:r>
              <a:rPr lang="en-US" altLang="ja-JP" b="1" dirty="0"/>
              <a:t>)</a:t>
            </a:r>
            <a:endParaRPr lang="en-US" altLang="en-US" b="1" dirty="0"/>
          </a:p>
        </p:txBody>
      </p:sp>
      <p:sp>
        <p:nvSpPr>
          <p:cNvPr id="72707" name="Rectangle 3"/>
          <p:cNvSpPr>
            <a:spLocks noGrp="1" noChangeArrowheads="1"/>
          </p:cNvSpPr>
          <p:nvPr>
            <p:ph idx="1"/>
          </p:nvPr>
        </p:nvSpPr>
        <p:spPr>
          <a:xfrm>
            <a:off x="1219200" y="1828800"/>
            <a:ext cx="7467600" cy="4721292"/>
          </a:xfrm>
        </p:spPr>
        <p:txBody>
          <a:bodyPr wrap="square">
            <a:spAutoFit/>
          </a:bodyPr>
          <a:lstStyle/>
          <a:p>
            <a:pPr marL="533400" indent="-533400" eaLnBrk="1" hangingPunct="1">
              <a:spcBef>
                <a:spcPct val="0"/>
              </a:spcBef>
              <a:buClr>
                <a:schemeClr val="bg1"/>
              </a:buClr>
              <a:buFontTx/>
              <a:buNone/>
            </a:pPr>
            <a:r>
              <a:rPr lang="en-US" altLang="en-US" sz="3600" b="1" dirty="0"/>
              <a:t>Tests Included in a Urinalysis </a:t>
            </a:r>
            <a:r>
              <a:rPr lang="en-US" altLang="en-US" sz="2800" b="1" i="1" dirty="0"/>
              <a:t>(continued)</a:t>
            </a:r>
          </a:p>
          <a:p>
            <a:pPr marL="533400" indent="-533400" eaLnBrk="1" hangingPunct="1">
              <a:spcBef>
                <a:spcPct val="0"/>
              </a:spcBef>
              <a:buClr>
                <a:schemeClr val="bg1"/>
              </a:buClr>
              <a:buFontTx/>
              <a:buNone/>
            </a:pPr>
            <a:endParaRPr lang="en-US" altLang="en-US" sz="2800" b="1" i="1" dirty="0"/>
          </a:p>
          <a:p>
            <a:pPr marL="933450" lvl="1" indent="-533400" eaLnBrk="1" hangingPunct="1">
              <a:spcBef>
                <a:spcPct val="0"/>
              </a:spcBef>
              <a:buFont typeface="Arial" panose="020B0604020202020204" pitchFamily="34" charset="0"/>
              <a:buAutoNum type="arabicPeriod" startAt="6"/>
            </a:pPr>
            <a:r>
              <a:rPr lang="en-US" altLang="en-US" sz="3200" b="1" dirty="0"/>
              <a:t> Specific gravity </a:t>
            </a:r>
          </a:p>
          <a:p>
            <a:pPr marL="933450" lvl="1" indent="-533400" eaLnBrk="1" hangingPunct="1">
              <a:lnSpc>
                <a:spcPct val="140000"/>
              </a:lnSpc>
              <a:buFont typeface="Arial" panose="020B0604020202020204" pitchFamily="34" charset="0"/>
              <a:buAutoNum type="arabicPeriod" startAt="6"/>
            </a:pPr>
            <a:r>
              <a:rPr lang="en-US" altLang="en-US" sz="3200" b="1" dirty="0"/>
              <a:t> Ketone bodies</a:t>
            </a:r>
          </a:p>
          <a:p>
            <a:pPr marL="933450" lvl="1" indent="-533400" eaLnBrk="1" hangingPunct="1">
              <a:lnSpc>
                <a:spcPct val="140000"/>
              </a:lnSpc>
              <a:buFont typeface="Arial" panose="020B0604020202020204" pitchFamily="34" charset="0"/>
              <a:buAutoNum type="arabicPeriod" startAt="6"/>
            </a:pPr>
            <a:r>
              <a:rPr lang="en-US" altLang="en-US" sz="3200" b="1" dirty="0"/>
              <a:t> Sediment</a:t>
            </a:r>
          </a:p>
          <a:p>
            <a:pPr marL="933450" lvl="1" indent="-533400" eaLnBrk="1" hangingPunct="1">
              <a:lnSpc>
                <a:spcPct val="140000"/>
              </a:lnSpc>
              <a:buFont typeface="Arial" panose="020B0604020202020204" pitchFamily="34" charset="0"/>
              <a:buAutoNum type="arabicPeriod" startAt="6"/>
            </a:pPr>
            <a:r>
              <a:rPr lang="en-US" altLang="en-US" sz="3200" b="1" dirty="0"/>
              <a:t> Phenylketonuria</a:t>
            </a:r>
          </a:p>
          <a:p>
            <a:pPr marL="933450" lvl="1" indent="-533400" eaLnBrk="1" hangingPunct="1">
              <a:lnSpc>
                <a:spcPct val="140000"/>
              </a:lnSpc>
              <a:buFont typeface="Arial" panose="020B0604020202020204" pitchFamily="34" charset="0"/>
              <a:buAutoNum type="arabicPeriod" startAt="6"/>
            </a:pPr>
            <a:r>
              <a:rPr lang="en-US" altLang="en-US" sz="3200" b="1" dirty="0"/>
              <a:t> Bilirubin</a:t>
            </a:r>
          </a:p>
        </p:txBody>
      </p:sp>
    </p:spTree>
    <p:extLst>
      <p:ext uri="{BB962C8B-B14F-4D97-AF65-F5344CB8AC3E}">
        <p14:creationId xmlns:p14="http://schemas.microsoft.com/office/powerpoint/2010/main" val="39933375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57784" y="371856"/>
            <a:ext cx="7772400" cy="1219200"/>
          </a:xfrm>
        </p:spPr>
        <p:txBody>
          <a:bodyPr/>
          <a:lstStyle/>
          <a:p>
            <a:pPr eaLnBrk="1" hangingPunct="1"/>
            <a:r>
              <a:rPr lang="en-US" altLang="en-US" sz="4800" dirty="0"/>
              <a:t>      </a:t>
            </a:r>
            <a:r>
              <a:rPr lang="en-US" altLang="en-US" sz="5400" b="1" dirty="0"/>
              <a:t>QUICK QUIZ </a:t>
            </a:r>
            <a:r>
              <a:rPr lang="en-US" altLang="en-US" dirty="0"/>
              <a:t>(Slide 3 of 8)	</a:t>
            </a:r>
          </a:p>
        </p:txBody>
      </p:sp>
      <p:sp>
        <p:nvSpPr>
          <p:cNvPr id="73731" name="Rectangle 3"/>
          <p:cNvSpPr>
            <a:spLocks noGrp="1" noChangeArrowheads="1"/>
          </p:cNvSpPr>
          <p:nvPr>
            <p:ph idx="1"/>
          </p:nvPr>
        </p:nvSpPr>
        <p:spPr>
          <a:xfrm>
            <a:off x="1167384" y="2133600"/>
            <a:ext cx="6553200" cy="4114800"/>
          </a:xfrm>
        </p:spPr>
        <p:txBody>
          <a:bodyPr/>
          <a:lstStyle/>
          <a:p>
            <a:pPr marL="533400" indent="-533400" eaLnBrk="1" hangingPunct="1">
              <a:lnSpc>
                <a:spcPct val="90000"/>
              </a:lnSpc>
              <a:buFont typeface="Arial" panose="020B0604020202020204" pitchFamily="34" charset="0"/>
              <a:buAutoNum type="arabicPeriod" startAt="3"/>
            </a:pPr>
            <a:r>
              <a:rPr lang="en-US" altLang="en-US" b="1" dirty="0"/>
              <a:t>In a urinalysis, what does the test of specific gravity reflect?</a:t>
            </a:r>
          </a:p>
          <a:p>
            <a:pPr marL="533400" indent="-533400" eaLnBrk="1" hangingPunct="1">
              <a:lnSpc>
                <a:spcPct val="90000"/>
              </a:lnSpc>
              <a:buFont typeface="Webdings" panose="05030102010509060703" pitchFamily="18" charset="2"/>
              <a:buNone/>
            </a:pPr>
            <a:r>
              <a:rPr lang="en-US" altLang="en-US" dirty="0"/>
              <a:t>	A.  The chemical nature of urine</a:t>
            </a:r>
          </a:p>
          <a:p>
            <a:pPr marL="533400" indent="-533400" eaLnBrk="1" hangingPunct="1">
              <a:lnSpc>
                <a:spcPct val="90000"/>
              </a:lnSpc>
              <a:buFont typeface="Webdings" panose="05030102010509060703" pitchFamily="18" charset="2"/>
              <a:buNone/>
            </a:pPr>
            <a:r>
              <a:rPr lang="en-US" altLang="en-US" dirty="0"/>
              <a:t>	B.  The presence of albumin</a:t>
            </a:r>
          </a:p>
          <a:p>
            <a:pPr marL="533400" indent="-533400" eaLnBrk="1" hangingPunct="1">
              <a:lnSpc>
                <a:spcPct val="90000"/>
              </a:lnSpc>
              <a:buFont typeface="Webdings" panose="05030102010509060703" pitchFamily="18" charset="2"/>
              <a:buNone/>
            </a:pPr>
            <a:r>
              <a:rPr lang="en-US" altLang="en-US" dirty="0"/>
              <a:t>	C.  Blood in the urine</a:t>
            </a:r>
          </a:p>
          <a:p>
            <a:pPr marL="533400" indent="-533400" eaLnBrk="1" hangingPunct="1">
              <a:lnSpc>
                <a:spcPct val="90000"/>
              </a:lnSpc>
              <a:buFont typeface="Webdings" panose="05030102010509060703" pitchFamily="18" charset="2"/>
              <a:buNone/>
            </a:pPr>
            <a:r>
              <a:rPr lang="en-US" altLang="en-US" dirty="0"/>
              <a:t>	D.  The amount of wastes, </a:t>
            </a:r>
            <a:br>
              <a:rPr lang="en-US" altLang="en-US" dirty="0"/>
            </a:br>
            <a:r>
              <a:rPr lang="en-US" altLang="en-US" dirty="0"/>
              <a:t>      minerals, and solids in the urine</a:t>
            </a:r>
          </a:p>
          <a:p>
            <a:pPr marL="533400" indent="-533400" eaLnBrk="1" hangingPunct="1">
              <a:lnSpc>
                <a:spcPct val="90000"/>
              </a:lnSpc>
              <a:buFont typeface="Webdings" panose="05030102010509060703" pitchFamily="18" charset="2"/>
              <a:buChar char="&lt;"/>
            </a:pPr>
            <a:endParaRPr lang="en-US" altLang="en-US" dirty="0"/>
          </a:p>
        </p:txBody>
      </p:sp>
    </p:spTree>
    <p:extLst>
      <p:ext uri="{BB962C8B-B14F-4D97-AF65-F5344CB8AC3E}">
        <p14:creationId xmlns:p14="http://schemas.microsoft.com/office/powerpoint/2010/main" val="29472131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9"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7</a:t>
            </a:r>
            <a:br>
              <a:rPr lang="en-US" dirty="0"/>
            </a:br>
            <a:r>
              <a:rPr lang="en-US" dirty="0"/>
              <a:t>Lesson 7.2</a:t>
            </a:r>
          </a:p>
        </p:txBody>
      </p:sp>
    </p:spTree>
    <p:extLst>
      <p:ext uri="{BB962C8B-B14F-4D97-AF65-F5344CB8AC3E}">
        <p14:creationId xmlns:p14="http://schemas.microsoft.com/office/powerpoint/2010/main" val="4113905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p:cNvSpPr>
            <a:spLocks noGrp="1" noChangeArrowheads="1"/>
          </p:cNvSpPr>
          <p:nvPr>
            <p:ph type="title"/>
          </p:nvPr>
        </p:nvSpPr>
        <p:spPr>
          <a:xfrm>
            <a:off x="1333500" y="441960"/>
            <a:ext cx="6477000" cy="1143000"/>
          </a:xfrm>
        </p:spPr>
        <p:txBody>
          <a:bodyPr/>
          <a:lstStyle/>
          <a:p>
            <a:pPr eaLnBrk="1" hangingPunct="1"/>
            <a:r>
              <a:rPr lang="en-US" altLang="en-US" b="1" dirty="0"/>
              <a:t>Pathologic Conditions (Slide 1 of 5)</a:t>
            </a:r>
          </a:p>
        </p:txBody>
      </p:sp>
      <p:sp>
        <p:nvSpPr>
          <p:cNvPr id="75779" name="Rectangle 5"/>
          <p:cNvSpPr>
            <a:spLocks noGrp="1" noChangeArrowheads="1"/>
          </p:cNvSpPr>
          <p:nvPr>
            <p:ph idx="1"/>
          </p:nvPr>
        </p:nvSpPr>
        <p:spPr>
          <a:xfrm>
            <a:off x="2133600" y="1981200"/>
            <a:ext cx="4876800" cy="4525963"/>
          </a:xfrm>
        </p:spPr>
        <p:txBody>
          <a:bodyPr/>
          <a:lstStyle/>
          <a:p>
            <a:pPr eaLnBrk="1" hangingPunct="1">
              <a:buFont typeface="Wingdings 2" panose="05020102010507070707" pitchFamily="18" charset="2"/>
              <a:buNone/>
            </a:pPr>
            <a:r>
              <a:rPr lang="en-US" altLang="en-US" b="1" dirty="0"/>
              <a:t>Kidney</a:t>
            </a:r>
          </a:p>
          <a:p>
            <a:pPr eaLnBrk="1" hangingPunct="1">
              <a:lnSpc>
                <a:spcPct val="135000"/>
              </a:lnSpc>
            </a:pPr>
            <a:r>
              <a:rPr lang="en-US" altLang="en-US" b="1" dirty="0"/>
              <a:t>Glomerulonephritis</a:t>
            </a:r>
          </a:p>
          <a:p>
            <a:pPr eaLnBrk="1" hangingPunct="1">
              <a:lnSpc>
                <a:spcPct val="135000"/>
              </a:lnSpc>
            </a:pPr>
            <a:r>
              <a:rPr lang="en-US" altLang="en-US" b="1" dirty="0"/>
              <a:t>Interstitial nephritis</a:t>
            </a:r>
          </a:p>
          <a:p>
            <a:pPr eaLnBrk="1" hangingPunct="1">
              <a:lnSpc>
                <a:spcPct val="135000"/>
              </a:lnSpc>
            </a:pPr>
            <a:r>
              <a:rPr lang="en-US" altLang="en-US" b="1" dirty="0"/>
              <a:t>Nephrolithiasis</a:t>
            </a:r>
          </a:p>
          <a:p>
            <a:pPr eaLnBrk="1" hangingPunct="1">
              <a:lnSpc>
                <a:spcPct val="135000"/>
              </a:lnSpc>
            </a:pPr>
            <a:r>
              <a:rPr lang="en-US" altLang="en-US" b="1" dirty="0"/>
              <a:t>Nephrotic syndrome</a:t>
            </a:r>
          </a:p>
        </p:txBody>
      </p:sp>
    </p:spTree>
    <p:extLst>
      <p:ext uri="{BB962C8B-B14F-4D97-AF65-F5344CB8AC3E}">
        <p14:creationId xmlns:p14="http://schemas.microsoft.com/office/powerpoint/2010/main" val="1423188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altLang="en-US" b="1" dirty="0"/>
              <a:t>Pathologic Conditions </a:t>
            </a:r>
            <a:br>
              <a:rPr lang="en-US" altLang="en-US" b="1" dirty="0"/>
            </a:br>
            <a:r>
              <a:rPr lang="en-US" altLang="en-US" b="1" dirty="0"/>
              <a:t>(Slide 2 of 5)</a:t>
            </a:r>
          </a:p>
        </p:txBody>
      </p:sp>
      <p:sp>
        <p:nvSpPr>
          <p:cNvPr id="76803" name="Rectangle 3"/>
          <p:cNvSpPr>
            <a:spLocks noGrp="1" noChangeArrowheads="1"/>
          </p:cNvSpPr>
          <p:nvPr>
            <p:ph sz="half" idx="1"/>
          </p:nvPr>
        </p:nvSpPr>
        <p:spPr/>
        <p:txBody>
          <a:bodyPr/>
          <a:lstStyle/>
          <a:p>
            <a:pPr eaLnBrk="1" hangingPunct="1">
              <a:buFont typeface="Wingdings 2" panose="05020102010507070707" pitchFamily="18" charset="2"/>
              <a:buNone/>
            </a:pPr>
            <a:r>
              <a:rPr lang="en-US" altLang="en-US" b="1" dirty="0"/>
              <a:t>Kidney</a:t>
            </a:r>
          </a:p>
          <a:p>
            <a:pPr eaLnBrk="1" hangingPunct="1"/>
            <a:r>
              <a:rPr lang="en-US" altLang="en-US" b="1" dirty="0"/>
              <a:t>Polycystic </a:t>
            </a:r>
          </a:p>
          <a:p>
            <a:pPr eaLnBrk="1" hangingPunct="1">
              <a:buFont typeface="Wingdings 2" panose="05020102010507070707" pitchFamily="18" charset="2"/>
              <a:buNone/>
            </a:pPr>
            <a:r>
              <a:rPr lang="en-US" altLang="en-US" b="1" dirty="0"/>
              <a:t>    kidney</a:t>
            </a:r>
            <a:r>
              <a:rPr lang="en-US" altLang="en-US" sz="2400" dirty="0"/>
              <a:t> </a:t>
            </a:r>
          </a:p>
          <a:p>
            <a:pPr eaLnBrk="1" hangingPunct="1">
              <a:buFont typeface="Wingdings 2" panose="05020102010507070707" pitchFamily="18" charset="2"/>
              <a:buNone/>
            </a:pPr>
            <a:r>
              <a:rPr lang="en-US" altLang="en-US" sz="2400" dirty="0"/>
              <a:t>     </a:t>
            </a:r>
            <a:r>
              <a:rPr lang="en-US" altLang="en-US" b="1" dirty="0"/>
              <a:t>disease</a:t>
            </a:r>
            <a:r>
              <a:rPr lang="en-US" altLang="en-US" sz="2400" b="1" dirty="0"/>
              <a:t> (PKD)</a:t>
            </a:r>
          </a:p>
          <a:p>
            <a:pPr eaLnBrk="1" hangingPunct="1">
              <a:buFont typeface="Wingdings 2" panose="05020102010507070707" pitchFamily="18" charset="2"/>
              <a:buNone/>
            </a:pPr>
            <a:endParaRPr lang="en-US" altLang="en-US" sz="2400" dirty="0"/>
          </a:p>
          <a:p>
            <a:pPr eaLnBrk="1" hangingPunct="1">
              <a:buFont typeface="Wingdings 2" panose="05020102010507070707" pitchFamily="18" charset="2"/>
              <a:buNone/>
            </a:pPr>
            <a:r>
              <a:rPr lang="en-US" altLang="en-US" sz="2400" b="1" i="1" dirty="0"/>
              <a:t>PKD—</a:t>
            </a:r>
            <a:r>
              <a:rPr lang="en-US" altLang="en-US" sz="2400" i="1" dirty="0"/>
              <a:t>The kidneys contain masses of cysts. </a:t>
            </a:r>
            <a:r>
              <a:rPr lang="en-US" altLang="en-US" sz="2400" i="1"/>
              <a:t>Typically, </a:t>
            </a:r>
            <a:r>
              <a:rPr lang="en-US" altLang="en-US" sz="2400" i="1" dirty="0"/>
              <a:t>polycystic kidneys weigh 20 times more than their usual weight.</a:t>
            </a:r>
          </a:p>
          <a:p>
            <a:pPr eaLnBrk="1" hangingPunct="1">
              <a:buFont typeface="Wingdings 2" panose="05020102010507070707" pitchFamily="18" charset="2"/>
              <a:buNone/>
            </a:pPr>
            <a:endParaRPr lang="en-US" altLang="en-US" sz="2400" i="1" dirty="0"/>
          </a:p>
          <a:p>
            <a:pPr eaLnBrk="1" hangingPunct="1"/>
            <a:endParaRPr lang="en-US" altLang="en-US" sz="2400" i="1" dirty="0"/>
          </a:p>
        </p:txBody>
      </p:sp>
      <p:pic>
        <p:nvPicPr>
          <p:cNvPr id="6" name="Picture 8" descr="polycystic kidney disease specimen showing multiple fluid-filled sacs (cysts) within and on the kidne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535492"/>
            <a:ext cx="4038600" cy="26553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15169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title"/>
          </p:nvPr>
        </p:nvSpPr>
        <p:spPr>
          <a:xfrm>
            <a:off x="1409700" y="429768"/>
            <a:ext cx="6324600" cy="1143000"/>
          </a:xfrm>
        </p:spPr>
        <p:txBody>
          <a:bodyPr/>
          <a:lstStyle/>
          <a:p>
            <a:pPr eaLnBrk="1" hangingPunct="1"/>
            <a:r>
              <a:rPr lang="en-US" altLang="en-US" b="1" dirty="0"/>
              <a:t>Pathologic Conditions (Slide 3 of 5)</a:t>
            </a:r>
          </a:p>
        </p:txBody>
      </p:sp>
      <p:sp>
        <p:nvSpPr>
          <p:cNvPr id="77827" name="Rectangle 5"/>
          <p:cNvSpPr>
            <a:spLocks noGrp="1" noChangeArrowheads="1"/>
          </p:cNvSpPr>
          <p:nvPr>
            <p:ph idx="1"/>
          </p:nvPr>
        </p:nvSpPr>
        <p:spPr>
          <a:xfrm>
            <a:off x="1790700" y="1905000"/>
            <a:ext cx="5562600" cy="3657600"/>
          </a:xfrm>
        </p:spPr>
        <p:txBody>
          <a:bodyPr/>
          <a:lstStyle/>
          <a:p>
            <a:pPr eaLnBrk="1" hangingPunct="1">
              <a:buFont typeface="Wingdings 2" panose="05020102010507070707" pitchFamily="18" charset="2"/>
              <a:buNone/>
            </a:pPr>
            <a:r>
              <a:rPr lang="en-US" altLang="en-US" b="1" dirty="0"/>
              <a:t>Kidney</a:t>
            </a:r>
            <a:endParaRPr lang="en-US" altLang="en-US" dirty="0"/>
          </a:p>
          <a:p>
            <a:pPr eaLnBrk="1" hangingPunct="1"/>
            <a:r>
              <a:rPr lang="en-US" altLang="en-US" b="1" dirty="0" err="1"/>
              <a:t>Pyelonephritis</a:t>
            </a:r>
            <a:r>
              <a:rPr lang="en-US" altLang="en-US" b="1" dirty="0"/>
              <a:t> </a:t>
            </a:r>
          </a:p>
          <a:p>
            <a:pPr eaLnBrk="1" hangingPunct="1"/>
            <a:r>
              <a:rPr lang="en-US" altLang="en-US" b="1" dirty="0"/>
              <a:t>Renal cell carcinoma</a:t>
            </a:r>
          </a:p>
          <a:p>
            <a:pPr eaLnBrk="1" hangingPunct="1"/>
            <a:r>
              <a:rPr lang="en-US" altLang="en-US" b="1" dirty="0"/>
              <a:t>Renal failure</a:t>
            </a:r>
          </a:p>
          <a:p>
            <a:pPr eaLnBrk="1" hangingPunct="1"/>
            <a:r>
              <a:rPr lang="en-US" altLang="en-US" b="1" dirty="0"/>
              <a:t>Renal hypertension</a:t>
            </a:r>
          </a:p>
          <a:p>
            <a:pPr eaLnBrk="1" hangingPunct="1"/>
            <a:r>
              <a:rPr lang="en-US" altLang="en-US" b="1" dirty="0" err="1"/>
              <a:t>Wilms</a:t>
            </a:r>
            <a:r>
              <a:rPr lang="en-US" altLang="en-US" b="1" dirty="0"/>
              <a:t> tumor</a:t>
            </a:r>
          </a:p>
        </p:txBody>
      </p:sp>
    </p:spTree>
    <p:extLst>
      <p:ext uri="{BB962C8B-B14F-4D97-AF65-F5344CB8AC3E}">
        <p14:creationId xmlns:p14="http://schemas.microsoft.com/office/powerpoint/2010/main" val="3390898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274638"/>
            <a:ext cx="8382000" cy="1143000"/>
          </a:xfrm>
        </p:spPr>
        <p:txBody>
          <a:bodyPr/>
          <a:lstStyle/>
          <a:p>
            <a:pPr eaLnBrk="1" hangingPunct="1"/>
            <a:r>
              <a:rPr lang="en-US" altLang="en-US" b="1" dirty="0"/>
              <a:t>Pathologic Conditions (Slide 4 of 5)</a:t>
            </a:r>
          </a:p>
        </p:txBody>
      </p:sp>
      <p:sp>
        <p:nvSpPr>
          <p:cNvPr id="78851" name="Rectangle 3"/>
          <p:cNvSpPr>
            <a:spLocks noGrp="1" noChangeArrowheads="1"/>
          </p:cNvSpPr>
          <p:nvPr>
            <p:ph sz="half" idx="1"/>
          </p:nvPr>
        </p:nvSpPr>
        <p:spPr>
          <a:xfrm>
            <a:off x="685800" y="2438400"/>
            <a:ext cx="3581400" cy="2209800"/>
          </a:xfrm>
        </p:spPr>
        <p:txBody>
          <a:bodyPr/>
          <a:lstStyle/>
          <a:p>
            <a:pPr eaLnBrk="1" hangingPunct="1">
              <a:buFont typeface="Wingdings 2" panose="05020102010507070707" pitchFamily="18" charset="2"/>
              <a:buNone/>
            </a:pPr>
            <a:r>
              <a:rPr lang="en-US" altLang="en-US" b="1" dirty="0"/>
              <a:t>Kidney</a:t>
            </a:r>
          </a:p>
          <a:p>
            <a:pPr eaLnBrk="1" hangingPunct="1"/>
            <a:r>
              <a:rPr lang="en-US" altLang="en-US" b="1" dirty="0"/>
              <a:t>Renal cell</a:t>
            </a:r>
          </a:p>
          <a:p>
            <a:pPr eaLnBrk="1" hangingPunct="1">
              <a:buFont typeface="Wingdings 2" panose="05020102010507070707" pitchFamily="18" charset="2"/>
              <a:buNone/>
            </a:pPr>
            <a:r>
              <a:rPr lang="en-US" altLang="en-US" sz="2400" b="1" dirty="0"/>
              <a:t>	</a:t>
            </a:r>
            <a:r>
              <a:rPr lang="en-US" altLang="en-US" b="1" dirty="0"/>
              <a:t>carcinoma</a:t>
            </a:r>
          </a:p>
          <a:p>
            <a:pPr eaLnBrk="1" hangingPunct="1">
              <a:buFont typeface="Wingdings 2" panose="05020102010507070707" pitchFamily="18" charset="2"/>
              <a:buNone/>
            </a:pPr>
            <a:endParaRPr lang="en-US" altLang="en-US" sz="2400" dirty="0"/>
          </a:p>
          <a:p>
            <a:pPr eaLnBrk="1" hangingPunct="1"/>
            <a:endParaRPr lang="en-US" altLang="en-US" sz="2400" i="1" dirty="0"/>
          </a:p>
        </p:txBody>
      </p:sp>
      <p:pic>
        <p:nvPicPr>
          <p:cNvPr id="6" name="Picture 7" descr="Renal cell carcinoma is a cancerous tumor of the kidne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876800" y="1927766"/>
            <a:ext cx="3223285" cy="41983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2737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title"/>
          </p:nvPr>
        </p:nvSpPr>
        <p:spPr>
          <a:xfrm>
            <a:off x="1714500" y="448056"/>
            <a:ext cx="5715000" cy="1143000"/>
          </a:xfrm>
        </p:spPr>
        <p:txBody>
          <a:bodyPr/>
          <a:lstStyle/>
          <a:p>
            <a:pPr eaLnBrk="1" hangingPunct="1"/>
            <a:r>
              <a:rPr lang="en-US" altLang="en-US" b="1" dirty="0"/>
              <a:t>Pathologic Conditions (Slide 5 of 5)</a:t>
            </a:r>
          </a:p>
        </p:txBody>
      </p:sp>
      <p:sp>
        <p:nvSpPr>
          <p:cNvPr id="79875" name="Rectangle 5"/>
          <p:cNvSpPr>
            <a:spLocks noGrp="1" noChangeArrowheads="1"/>
          </p:cNvSpPr>
          <p:nvPr>
            <p:ph idx="1"/>
          </p:nvPr>
        </p:nvSpPr>
        <p:spPr>
          <a:xfrm>
            <a:off x="2400300" y="1905000"/>
            <a:ext cx="5029200" cy="4525963"/>
          </a:xfrm>
        </p:spPr>
        <p:txBody>
          <a:bodyPr/>
          <a:lstStyle/>
          <a:p>
            <a:pPr eaLnBrk="1" hangingPunct="1">
              <a:buFont typeface="Wingdings 2" panose="05020102010507070707" pitchFamily="18" charset="2"/>
              <a:buNone/>
            </a:pPr>
            <a:r>
              <a:rPr lang="en-US" altLang="en-US" b="1" dirty="0"/>
              <a:t>Urinary bladder</a:t>
            </a:r>
            <a:r>
              <a:rPr lang="en-US" altLang="en-US" dirty="0"/>
              <a:t>    </a:t>
            </a:r>
          </a:p>
          <a:p>
            <a:pPr eaLnBrk="1" hangingPunct="1"/>
            <a:r>
              <a:rPr lang="en-US" altLang="en-US" dirty="0"/>
              <a:t>Bladder cancer</a:t>
            </a:r>
          </a:p>
          <a:p>
            <a:pPr eaLnBrk="1" hangingPunct="1">
              <a:buFont typeface="Wingdings 2" panose="05020102010507070707" pitchFamily="18" charset="2"/>
              <a:buNone/>
            </a:pPr>
            <a:endParaRPr lang="en-US" altLang="en-US" b="1" dirty="0"/>
          </a:p>
          <a:p>
            <a:pPr eaLnBrk="1" hangingPunct="1">
              <a:buFont typeface="Wingdings 2" panose="05020102010507070707" pitchFamily="18" charset="2"/>
              <a:buNone/>
            </a:pPr>
            <a:r>
              <a:rPr lang="en-US" altLang="en-US" b="1" dirty="0"/>
              <a:t>Associated conditions    </a:t>
            </a:r>
          </a:p>
          <a:p>
            <a:pPr eaLnBrk="1" hangingPunct="1"/>
            <a:r>
              <a:rPr lang="en-US" altLang="en-US" dirty="0"/>
              <a:t>Diabetes </a:t>
            </a:r>
            <a:r>
              <a:rPr lang="en-US" altLang="en-US" dirty="0" err="1"/>
              <a:t>insipidus</a:t>
            </a:r>
            <a:r>
              <a:rPr lang="en-US" altLang="en-US" dirty="0"/>
              <a:t> (DI)</a:t>
            </a:r>
          </a:p>
          <a:p>
            <a:pPr eaLnBrk="1" hangingPunct="1"/>
            <a:r>
              <a:rPr lang="en-US" altLang="en-US" dirty="0"/>
              <a:t>Diabetes mellitus (DM)</a:t>
            </a:r>
          </a:p>
        </p:txBody>
      </p:sp>
    </p:spTree>
    <p:extLst>
      <p:ext uri="{BB962C8B-B14F-4D97-AF65-F5344CB8AC3E}">
        <p14:creationId xmlns:p14="http://schemas.microsoft.com/office/powerpoint/2010/main" val="30319035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a:xfrm>
            <a:off x="685800" y="381000"/>
            <a:ext cx="7772400" cy="1219200"/>
          </a:xfrm>
        </p:spPr>
        <p:txBody>
          <a:bodyPr/>
          <a:lstStyle/>
          <a:p>
            <a:pPr eaLnBrk="1" hangingPunct="1"/>
            <a:r>
              <a:rPr lang="en-US" altLang="en-US" dirty="0"/>
              <a:t>      </a:t>
            </a:r>
            <a:r>
              <a:rPr lang="en-US" altLang="en-US" sz="5400" b="1" dirty="0"/>
              <a:t>QUICK QUIZ </a:t>
            </a:r>
            <a:r>
              <a:rPr lang="en-US" altLang="en-US" dirty="0"/>
              <a:t>(Slide 4 of 8)	</a:t>
            </a:r>
          </a:p>
        </p:txBody>
      </p:sp>
      <p:sp>
        <p:nvSpPr>
          <p:cNvPr id="80899" name="Rectangle 1027"/>
          <p:cNvSpPr>
            <a:spLocks noGrp="1" noChangeArrowheads="1"/>
          </p:cNvSpPr>
          <p:nvPr>
            <p:ph idx="1"/>
          </p:nvPr>
        </p:nvSpPr>
        <p:spPr>
          <a:xfrm>
            <a:off x="1104900" y="1828800"/>
            <a:ext cx="6934200" cy="4114800"/>
          </a:xfrm>
        </p:spPr>
        <p:txBody>
          <a:bodyPr/>
          <a:lstStyle/>
          <a:p>
            <a:pPr marL="533400" indent="-533400" eaLnBrk="1" hangingPunct="1">
              <a:buFont typeface="Arial" panose="020B0604020202020204" pitchFamily="34" charset="0"/>
              <a:buAutoNum type="arabicPeriod" startAt="4"/>
            </a:pPr>
            <a:r>
              <a:rPr lang="en-US" altLang="en-US" b="1" dirty="0"/>
              <a:t>A term that means frequent (voluntary) urination at night is:</a:t>
            </a:r>
          </a:p>
          <a:p>
            <a:pPr marL="914400" lvl="1" indent="-457200" eaLnBrk="1" hangingPunct="1">
              <a:buFont typeface="Arial" panose="020B0604020202020204" pitchFamily="34" charset="0"/>
              <a:buAutoNum type="alphaUcPeriod"/>
            </a:pPr>
            <a:r>
              <a:rPr lang="en-US" altLang="en-US" sz="3200" dirty="0"/>
              <a:t>anuria</a:t>
            </a:r>
          </a:p>
          <a:p>
            <a:pPr marL="914400" lvl="1" indent="-457200" eaLnBrk="1" hangingPunct="1">
              <a:buFont typeface="Arial" panose="020B0604020202020204" pitchFamily="34" charset="0"/>
              <a:buAutoNum type="alphaUcPeriod"/>
            </a:pPr>
            <a:r>
              <a:rPr lang="en-US" altLang="en-US" sz="3200" dirty="0" err="1"/>
              <a:t>nocturia</a:t>
            </a:r>
            <a:endParaRPr lang="en-US" altLang="en-US" sz="3200" dirty="0"/>
          </a:p>
          <a:p>
            <a:pPr marL="914400" lvl="1" indent="-457200" eaLnBrk="1" hangingPunct="1">
              <a:buFont typeface="Arial" panose="020B0604020202020204" pitchFamily="34" charset="0"/>
              <a:buAutoNum type="alphaUcPeriod"/>
            </a:pPr>
            <a:r>
              <a:rPr lang="en-US" altLang="en-US" sz="3200" dirty="0"/>
              <a:t>diuresis</a:t>
            </a:r>
          </a:p>
          <a:p>
            <a:pPr marL="914400" lvl="1" indent="-457200" eaLnBrk="1" hangingPunct="1">
              <a:buFont typeface="Arial" panose="020B0604020202020204" pitchFamily="34" charset="0"/>
              <a:buAutoNum type="alphaUcPeriod"/>
            </a:pPr>
            <a:r>
              <a:rPr lang="en-US" altLang="en-US" sz="3200" dirty="0"/>
              <a:t>hematuria</a:t>
            </a:r>
          </a:p>
        </p:txBody>
      </p:sp>
    </p:spTree>
    <p:extLst>
      <p:ext uri="{BB962C8B-B14F-4D97-AF65-F5344CB8AC3E}">
        <p14:creationId xmlns:p14="http://schemas.microsoft.com/office/powerpoint/2010/main" val="17724911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title"/>
          </p:nvPr>
        </p:nvSpPr>
        <p:spPr>
          <a:xfrm>
            <a:off x="457200" y="457200"/>
            <a:ext cx="7924800" cy="1143000"/>
          </a:xfrm>
        </p:spPr>
        <p:txBody>
          <a:bodyPr/>
          <a:lstStyle/>
          <a:p>
            <a:pPr eaLnBrk="1" hangingPunct="1"/>
            <a:r>
              <a:rPr lang="en-US" altLang="en-US" b="1" dirty="0"/>
              <a:t>Laboratory Tests and </a:t>
            </a:r>
            <a:br>
              <a:rPr lang="en-US" altLang="en-US" b="1" dirty="0"/>
            </a:br>
            <a:r>
              <a:rPr lang="en-US" altLang="en-US" b="1" dirty="0"/>
              <a:t>Clinical Procedures (Slide 1 of 10)</a:t>
            </a:r>
          </a:p>
        </p:txBody>
      </p:sp>
      <p:sp>
        <p:nvSpPr>
          <p:cNvPr id="81923" name="Rectangle 5"/>
          <p:cNvSpPr>
            <a:spLocks noGrp="1" noChangeArrowheads="1"/>
          </p:cNvSpPr>
          <p:nvPr>
            <p:ph idx="1"/>
          </p:nvPr>
        </p:nvSpPr>
        <p:spPr>
          <a:xfrm>
            <a:off x="1752600" y="2514600"/>
            <a:ext cx="5334000" cy="2895600"/>
          </a:xfrm>
        </p:spPr>
        <p:txBody>
          <a:bodyPr/>
          <a:lstStyle/>
          <a:p>
            <a:pPr eaLnBrk="1" hangingPunct="1">
              <a:buFont typeface="Wingdings 2" panose="05020102010507070707" pitchFamily="18" charset="2"/>
              <a:buNone/>
            </a:pPr>
            <a:r>
              <a:rPr lang="en-US" altLang="en-US" sz="3600" b="1" dirty="0"/>
              <a:t>Laboratory tests</a:t>
            </a:r>
            <a:endParaRPr lang="en-US" altLang="en-US" sz="3600" dirty="0"/>
          </a:p>
          <a:p>
            <a:pPr eaLnBrk="1" hangingPunct="1"/>
            <a:r>
              <a:rPr lang="en-US" altLang="en-US" dirty="0"/>
              <a:t>Blood urea nitrogen (BUN)</a:t>
            </a:r>
          </a:p>
          <a:p>
            <a:pPr eaLnBrk="1" hangingPunct="1"/>
            <a:r>
              <a:rPr lang="en-US" altLang="en-US" dirty="0"/>
              <a:t>Creatinine clearance test</a:t>
            </a:r>
          </a:p>
        </p:txBody>
      </p:sp>
    </p:spTree>
    <p:extLst>
      <p:ext uri="{BB962C8B-B14F-4D97-AF65-F5344CB8AC3E}">
        <p14:creationId xmlns:p14="http://schemas.microsoft.com/office/powerpoint/2010/main" val="19228211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Grp="1" noChangeArrowheads="1"/>
          </p:cNvSpPr>
          <p:nvPr>
            <p:ph type="title"/>
          </p:nvPr>
        </p:nvSpPr>
        <p:spPr>
          <a:xfrm>
            <a:off x="685800" y="435864"/>
            <a:ext cx="8001000" cy="1143000"/>
          </a:xfrm>
        </p:spPr>
        <p:txBody>
          <a:bodyPr/>
          <a:lstStyle/>
          <a:p>
            <a:pPr eaLnBrk="1" hangingPunct="1"/>
            <a:r>
              <a:rPr lang="en-US" altLang="en-US" b="1" dirty="0"/>
              <a:t>Laboratory Tests and </a:t>
            </a:r>
            <a:br>
              <a:rPr lang="en-US" altLang="en-US" b="1" dirty="0"/>
            </a:br>
            <a:r>
              <a:rPr lang="en-US" altLang="en-US" b="1" dirty="0"/>
              <a:t>Clinical Procedures (Slide 2 of 10)</a:t>
            </a:r>
          </a:p>
        </p:txBody>
      </p:sp>
      <p:sp>
        <p:nvSpPr>
          <p:cNvPr id="82947" name="Rectangle 6"/>
          <p:cNvSpPr>
            <a:spLocks noGrp="1" noChangeArrowheads="1"/>
          </p:cNvSpPr>
          <p:nvPr>
            <p:ph idx="1"/>
          </p:nvPr>
        </p:nvSpPr>
        <p:spPr>
          <a:xfrm>
            <a:off x="1181100" y="1905000"/>
            <a:ext cx="7010400" cy="4419600"/>
          </a:xfrm>
        </p:spPr>
        <p:txBody>
          <a:bodyPr/>
          <a:lstStyle/>
          <a:p>
            <a:pPr eaLnBrk="1" hangingPunct="1">
              <a:buFont typeface="Wingdings 2" panose="05020102010507070707" pitchFamily="18" charset="2"/>
              <a:buNone/>
            </a:pPr>
            <a:r>
              <a:rPr lang="en-US" altLang="en-US" sz="3600" b="1" dirty="0"/>
              <a:t>Clinical procedures </a:t>
            </a:r>
          </a:p>
          <a:p>
            <a:pPr eaLnBrk="1" hangingPunct="1">
              <a:buFont typeface="Wingdings 2" panose="05020102010507070707" pitchFamily="18" charset="2"/>
              <a:buNone/>
            </a:pPr>
            <a:r>
              <a:rPr lang="en-US" altLang="en-US" b="1" i="1" dirty="0"/>
              <a:t>	X-ray Studies</a:t>
            </a:r>
          </a:p>
          <a:p>
            <a:pPr lvl="1" eaLnBrk="1" hangingPunct="1">
              <a:lnSpc>
                <a:spcPct val="125000"/>
              </a:lnSpc>
              <a:buFont typeface="Wingdings" panose="05000000000000000000" pitchFamily="2" charset="2"/>
              <a:buChar char="Ø"/>
            </a:pPr>
            <a:r>
              <a:rPr lang="en-US" altLang="en-US" dirty="0"/>
              <a:t> </a:t>
            </a:r>
            <a:r>
              <a:rPr lang="en-US" altLang="en-US" b="1" dirty="0"/>
              <a:t>CT urography</a:t>
            </a:r>
          </a:p>
          <a:p>
            <a:pPr lvl="1" eaLnBrk="1" hangingPunct="1">
              <a:lnSpc>
                <a:spcPct val="125000"/>
              </a:lnSpc>
              <a:buFont typeface="Wingdings" panose="05000000000000000000" pitchFamily="2" charset="2"/>
              <a:buChar char="Ø"/>
            </a:pPr>
            <a:r>
              <a:rPr lang="en-US" altLang="en-US" b="1" dirty="0"/>
              <a:t> Kidneys, ureters, and bladder (KUB)</a:t>
            </a:r>
          </a:p>
          <a:p>
            <a:pPr lvl="1" eaLnBrk="1" hangingPunct="1">
              <a:lnSpc>
                <a:spcPct val="125000"/>
              </a:lnSpc>
              <a:buFont typeface="Wingdings" panose="05000000000000000000" pitchFamily="2" charset="2"/>
              <a:buChar char="Ø"/>
            </a:pPr>
            <a:r>
              <a:rPr lang="en-US" altLang="en-US" b="1" dirty="0"/>
              <a:t> Renal angiography</a:t>
            </a:r>
          </a:p>
          <a:p>
            <a:pPr lvl="1" eaLnBrk="1" hangingPunct="1">
              <a:lnSpc>
                <a:spcPct val="125000"/>
              </a:lnSpc>
              <a:buFont typeface="Wingdings" panose="05000000000000000000" pitchFamily="2" charset="2"/>
              <a:buChar char="Ø"/>
            </a:pPr>
            <a:r>
              <a:rPr lang="en-US" altLang="en-US" b="1" dirty="0"/>
              <a:t> Retrograde pyelogram (RP)</a:t>
            </a:r>
          </a:p>
          <a:p>
            <a:pPr lvl="1" eaLnBrk="1" hangingPunct="1">
              <a:lnSpc>
                <a:spcPct val="125000"/>
              </a:lnSpc>
              <a:buFont typeface="Wingdings" panose="05000000000000000000" pitchFamily="2" charset="2"/>
              <a:buChar char="Ø"/>
            </a:pPr>
            <a:r>
              <a:rPr lang="en-US" altLang="en-US" b="1" dirty="0"/>
              <a:t> Voiding </a:t>
            </a:r>
            <a:r>
              <a:rPr lang="en-US" altLang="en-US" b="1" dirty="0" err="1"/>
              <a:t>cystourethrogram</a:t>
            </a:r>
            <a:r>
              <a:rPr lang="en-US" altLang="en-US" b="1" dirty="0"/>
              <a:t> (VCUG)</a:t>
            </a:r>
          </a:p>
        </p:txBody>
      </p:sp>
    </p:spTree>
    <p:extLst>
      <p:ext uri="{BB962C8B-B14F-4D97-AF65-F5344CB8AC3E}">
        <p14:creationId xmlns:p14="http://schemas.microsoft.com/office/powerpoint/2010/main" val="37938124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8"/>
          <p:cNvSpPr>
            <a:spLocks noGrp="1" noChangeArrowheads="1"/>
          </p:cNvSpPr>
          <p:nvPr>
            <p:ph type="title"/>
          </p:nvPr>
        </p:nvSpPr>
        <p:spPr/>
        <p:txBody>
          <a:bodyPr/>
          <a:lstStyle/>
          <a:p>
            <a:pPr eaLnBrk="1" hangingPunct="1"/>
            <a:r>
              <a:rPr lang="en-US" altLang="en-US" b="1" dirty="0"/>
              <a:t>Laboratory Tests and </a:t>
            </a:r>
            <a:br>
              <a:rPr lang="en-US" altLang="en-US" b="1" dirty="0"/>
            </a:br>
            <a:r>
              <a:rPr lang="en-US" altLang="en-US" b="1" dirty="0"/>
              <a:t>Clinical Procedures (Slide 3 of 10)</a:t>
            </a:r>
          </a:p>
        </p:txBody>
      </p:sp>
      <p:sp>
        <p:nvSpPr>
          <p:cNvPr id="83971" name="Rectangle 3"/>
          <p:cNvSpPr>
            <a:spLocks noGrp="1" noChangeArrowheads="1"/>
          </p:cNvSpPr>
          <p:nvPr>
            <p:ph sz="half" idx="1"/>
          </p:nvPr>
        </p:nvSpPr>
        <p:spPr>
          <a:xfrm>
            <a:off x="990600" y="2234502"/>
            <a:ext cx="7086600" cy="2514600"/>
          </a:xfrm>
        </p:spPr>
        <p:txBody>
          <a:bodyPr/>
          <a:lstStyle/>
          <a:p>
            <a:pPr eaLnBrk="1" hangingPunct="1"/>
            <a:r>
              <a:rPr lang="en-US" altLang="en-US" sz="3600" b="1" dirty="0"/>
              <a:t>CT-Computed tomography </a:t>
            </a:r>
          </a:p>
          <a:p>
            <a:pPr eaLnBrk="1" hangingPunct="1">
              <a:buFont typeface="Wingdings 2" panose="05020102010507070707" pitchFamily="18" charset="2"/>
              <a:buNone/>
            </a:pPr>
            <a:r>
              <a:rPr lang="en-US" altLang="en-US" sz="2400" b="1" dirty="0"/>
              <a:t>	</a:t>
            </a:r>
            <a:r>
              <a:rPr lang="en-US" altLang="en-US" sz="2800" b="1" dirty="0"/>
              <a:t>The scan with contrast shows a benign cyst on the kidney.  </a:t>
            </a:r>
          </a:p>
        </p:txBody>
      </p:sp>
      <p:pic>
        <p:nvPicPr>
          <p:cNvPr id="6" name="Picture 6" descr="CT urography are x-ray images obtained using computed tomography that shows cross-sectional view or other views of kidne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429000" y="3491802"/>
            <a:ext cx="4038600" cy="28169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67638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8"/>
          <p:cNvSpPr>
            <a:spLocks noGrp="1" noChangeArrowheads="1"/>
          </p:cNvSpPr>
          <p:nvPr>
            <p:ph type="title"/>
          </p:nvPr>
        </p:nvSpPr>
        <p:spPr/>
        <p:txBody>
          <a:bodyPr/>
          <a:lstStyle/>
          <a:p>
            <a:pPr eaLnBrk="1" hangingPunct="1"/>
            <a:r>
              <a:rPr lang="en-US" altLang="en-US" b="1" dirty="0"/>
              <a:t>Laboratory Tests and </a:t>
            </a:r>
            <a:br>
              <a:rPr lang="en-US" altLang="en-US" b="1" dirty="0"/>
            </a:br>
            <a:r>
              <a:rPr lang="en-US" altLang="en-US" b="1" dirty="0"/>
              <a:t>Clinical Procedures (Slide 4 of 10)</a:t>
            </a:r>
          </a:p>
        </p:txBody>
      </p:sp>
      <p:sp>
        <p:nvSpPr>
          <p:cNvPr id="84995" name="Rectangle 3"/>
          <p:cNvSpPr>
            <a:spLocks noGrp="1" noChangeArrowheads="1"/>
          </p:cNvSpPr>
          <p:nvPr>
            <p:ph sz="half" idx="1"/>
          </p:nvPr>
        </p:nvSpPr>
        <p:spPr>
          <a:xfrm>
            <a:off x="1104900" y="1981351"/>
            <a:ext cx="6934200" cy="2895600"/>
          </a:xfrm>
        </p:spPr>
        <p:txBody>
          <a:bodyPr/>
          <a:lstStyle/>
          <a:p>
            <a:pPr eaLnBrk="1" hangingPunct="1">
              <a:lnSpc>
                <a:spcPct val="80000"/>
              </a:lnSpc>
              <a:buFont typeface="Wingdings 2" panose="05020102010507070707" pitchFamily="18" charset="2"/>
              <a:buNone/>
            </a:pPr>
            <a:r>
              <a:rPr lang="en-US" altLang="en-US" sz="3600" b="1" dirty="0"/>
              <a:t>Voiding </a:t>
            </a:r>
            <a:r>
              <a:rPr lang="en-US" altLang="en-US" sz="3600" b="1" dirty="0" err="1"/>
              <a:t>cystourethrogram</a:t>
            </a:r>
            <a:endParaRPr lang="en-US" altLang="en-US" sz="3600" b="1" dirty="0"/>
          </a:p>
          <a:p>
            <a:pPr eaLnBrk="1" hangingPunct="1">
              <a:lnSpc>
                <a:spcPct val="105000"/>
              </a:lnSpc>
            </a:pPr>
            <a:r>
              <a:rPr lang="en-US" altLang="en-US" sz="2400" b="1" dirty="0"/>
              <a:t>(VCUG) showing a normal female urethra.  The bladder is filled with contrast material, followed by x-ray imaging.</a:t>
            </a:r>
          </a:p>
        </p:txBody>
      </p:sp>
      <p:pic>
        <p:nvPicPr>
          <p:cNvPr id="6" name="Picture 6" descr="Voiding cystourethrogram is an x-ray image (with contrast) of the urinary bladder and urethra obtained while the patient is voiding."/>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038295" y="3458909"/>
            <a:ext cx="3200095" cy="28360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4678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title"/>
          </p:nvPr>
        </p:nvSpPr>
        <p:spPr>
          <a:xfrm>
            <a:off x="685800" y="435864"/>
            <a:ext cx="8153400" cy="1143000"/>
          </a:xfrm>
        </p:spPr>
        <p:txBody>
          <a:bodyPr/>
          <a:lstStyle/>
          <a:p>
            <a:pPr eaLnBrk="1" hangingPunct="1"/>
            <a:r>
              <a:rPr lang="en-US" altLang="en-US" b="1" dirty="0"/>
              <a:t>Laboratory Tests and </a:t>
            </a:r>
            <a:br>
              <a:rPr lang="en-US" altLang="en-US" b="1" dirty="0"/>
            </a:br>
            <a:r>
              <a:rPr lang="en-US" altLang="en-US" b="1" dirty="0"/>
              <a:t>Clinical Procedures (Slide 5 of 10)</a:t>
            </a:r>
          </a:p>
        </p:txBody>
      </p:sp>
      <p:sp>
        <p:nvSpPr>
          <p:cNvPr id="86019" name="Rectangle 5"/>
          <p:cNvSpPr>
            <a:spLocks noGrp="1" noChangeArrowheads="1"/>
          </p:cNvSpPr>
          <p:nvPr>
            <p:ph idx="1"/>
          </p:nvPr>
        </p:nvSpPr>
        <p:spPr>
          <a:xfrm>
            <a:off x="877824" y="2209800"/>
            <a:ext cx="7924800" cy="4038600"/>
          </a:xfrm>
        </p:spPr>
        <p:txBody>
          <a:bodyPr/>
          <a:lstStyle/>
          <a:p>
            <a:pPr eaLnBrk="1" hangingPunct="1">
              <a:buFont typeface="Wingdings 2" panose="05020102010507070707" pitchFamily="18" charset="2"/>
              <a:buNone/>
            </a:pPr>
            <a:r>
              <a:rPr lang="en-US" altLang="en-US" sz="3600" b="1" dirty="0"/>
              <a:t>Clinical Procedures</a:t>
            </a:r>
          </a:p>
          <a:p>
            <a:pPr lvl="1" eaLnBrk="1" hangingPunct="1">
              <a:buFont typeface="Wingdings" panose="05000000000000000000" pitchFamily="2" charset="2"/>
              <a:buNone/>
            </a:pPr>
            <a:r>
              <a:rPr lang="en-US" altLang="en-US" sz="3200" b="1" i="1" dirty="0"/>
              <a:t>Ultrasound examination</a:t>
            </a:r>
          </a:p>
          <a:p>
            <a:pPr lvl="2" eaLnBrk="1" hangingPunct="1">
              <a:buFont typeface="Wingdings" panose="05000000000000000000" pitchFamily="2" charset="2"/>
              <a:buChar char="Ø"/>
            </a:pPr>
            <a:r>
              <a:rPr lang="en-US" altLang="en-US" sz="2800" b="1" dirty="0"/>
              <a:t>Ultrasonography:</a:t>
            </a:r>
            <a:r>
              <a:rPr lang="en-US" altLang="en-US" sz="2800" dirty="0"/>
              <a:t> imaging urinary tract structures using high frequency sound waves</a:t>
            </a:r>
          </a:p>
          <a:p>
            <a:pPr lvl="1" eaLnBrk="1" hangingPunct="1">
              <a:buFont typeface="Wingdings" panose="05000000000000000000" pitchFamily="2" charset="2"/>
              <a:buNone/>
            </a:pPr>
            <a:r>
              <a:rPr lang="en-US" altLang="en-US" sz="3200" b="1" i="1" dirty="0"/>
              <a:t>Radioactive studies</a:t>
            </a:r>
            <a:endParaRPr lang="en-US" altLang="en-US" b="1" i="1" dirty="0"/>
          </a:p>
          <a:p>
            <a:pPr lvl="2" eaLnBrk="1" hangingPunct="1">
              <a:buFont typeface="Wingdings" panose="05000000000000000000" pitchFamily="2" charset="2"/>
              <a:buChar char="Ø"/>
            </a:pPr>
            <a:r>
              <a:rPr lang="en-US" altLang="en-US" sz="2800" b="1" dirty="0"/>
              <a:t>Radioisotope scan: </a:t>
            </a:r>
            <a:r>
              <a:rPr lang="en-US" altLang="en-US" sz="2800" dirty="0"/>
              <a:t>image of kidney after injecting a radioisotope into the bloodstream</a:t>
            </a:r>
          </a:p>
        </p:txBody>
      </p:sp>
    </p:spTree>
    <p:extLst>
      <p:ext uri="{BB962C8B-B14F-4D97-AF65-F5344CB8AC3E}">
        <p14:creationId xmlns:p14="http://schemas.microsoft.com/office/powerpoint/2010/main" val="35916679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
          <p:cNvSpPr>
            <a:spLocks noGrp="1" noChangeArrowheads="1"/>
          </p:cNvSpPr>
          <p:nvPr>
            <p:ph type="title"/>
          </p:nvPr>
        </p:nvSpPr>
        <p:spPr>
          <a:xfrm>
            <a:off x="676656" y="435864"/>
            <a:ext cx="8153400" cy="1143000"/>
          </a:xfrm>
        </p:spPr>
        <p:txBody>
          <a:bodyPr/>
          <a:lstStyle/>
          <a:p>
            <a:pPr eaLnBrk="1" hangingPunct="1"/>
            <a:r>
              <a:rPr lang="en-US" altLang="en-US" b="1" dirty="0"/>
              <a:t>Laboratory Tests and </a:t>
            </a:r>
            <a:br>
              <a:rPr lang="en-US" altLang="en-US" b="1" dirty="0"/>
            </a:br>
            <a:r>
              <a:rPr lang="en-US" altLang="en-US" b="1" dirty="0"/>
              <a:t>Clinical Procedures (Slide 6 of 10)</a:t>
            </a:r>
          </a:p>
        </p:txBody>
      </p:sp>
      <p:sp>
        <p:nvSpPr>
          <p:cNvPr id="87043" name="Rectangle 5"/>
          <p:cNvSpPr>
            <a:spLocks noGrp="1" noChangeArrowheads="1"/>
          </p:cNvSpPr>
          <p:nvPr>
            <p:ph idx="1"/>
          </p:nvPr>
        </p:nvSpPr>
        <p:spPr>
          <a:xfrm>
            <a:off x="867156" y="2209800"/>
            <a:ext cx="7772400" cy="3629025"/>
          </a:xfrm>
        </p:spPr>
        <p:txBody>
          <a:bodyPr/>
          <a:lstStyle/>
          <a:p>
            <a:pPr eaLnBrk="1" hangingPunct="1">
              <a:buFont typeface="Wingdings 2" panose="05020102010507070707" pitchFamily="18" charset="2"/>
              <a:buNone/>
            </a:pPr>
            <a:r>
              <a:rPr lang="en-US" altLang="en-US" sz="3600" b="1" dirty="0"/>
              <a:t>Clinical Procedures</a:t>
            </a:r>
          </a:p>
          <a:p>
            <a:pPr lvl="1" eaLnBrk="1" hangingPunct="1">
              <a:buFont typeface="Wingdings 2" panose="05020102010507070707" pitchFamily="18" charset="2"/>
              <a:buNone/>
            </a:pPr>
            <a:r>
              <a:rPr lang="en-US" altLang="en-US" sz="3200" b="1" i="1" dirty="0"/>
              <a:t>Magnetic imaging</a:t>
            </a:r>
          </a:p>
          <a:p>
            <a:pPr lvl="1" eaLnBrk="1" hangingPunct="1">
              <a:buFont typeface="Wingdings" panose="05000000000000000000" pitchFamily="2" charset="2"/>
              <a:buChar char="Ø"/>
            </a:pPr>
            <a:r>
              <a:rPr lang="en-US" altLang="en-US" b="1" dirty="0"/>
              <a:t>Magnetic resonance imaging (MRI) urography: </a:t>
            </a:r>
            <a:r>
              <a:rPr lang="en-US" altLang="en-US" sz="2800" dirty="0"/>
              <a:t>A changing magnetic field produces images of an organ and surrounding structures in three planes of the body</a:t>
            </a:r>
          </a:p>
        </p:txBody>
      </p:sp>
    </p:spTree>
    <p:extLst>
      <p:ext uri="{BB962C8B-B14F-4D97-AF65-F5344CB8AC3E}">
        <p14:creationId xmlns:p14="http://schemas.microsoft.com/office/powerpoint/2010/main" val="26057689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title"/>
          </p:nvPr>
        </p:nvSpPr>
        <p:spPr>
          <a:xfrm>
            <a:off x="647700" y="457200"/>
            <a:ext cx="7924800" cy="1143000"/>
          </a:xfrm>
        </p:spPr>
        <p:txBody>
          <a:bodyPr/>
          <a:lstStyle/>
          <a:p>
            <a:pPr eaLnBrk="1" hangingPunct="1"/>
            <a:r>
              <a:rPr lang="en-US" altLang="en-US" b="1" dirty="0"/>
              <a:t>Laboratory Tests and </a:t>
            </a:r>
            <a:br>
              <a:rPr lang="en-US" altLang="en-US" b="1" dirty="0"/>
            </a:br>
            <a:r>
              <a:rPr lang="en-US" altLang="en-US" b="1" dirty="0"/>
              <a:t>Clinical Procedures (Slide 7 of 10)</a:t>
            </a:r>
          </a:p>
        </p:txBody>
      </p:sp>
      <p:sp>
        <p:nvSpPr>
          <p:cNvPr id="88067" name="Rectangle 5"/>
          <p:cNvSpPr>
            <a:spLocks noGrp="1" noChangeArrowheads="1"/>
          </p:cNvSpPr>
          <p:nvPr>
            <p:ph idx="1"/>
          </p:nvPr>
        </p:nvSpPr>
        <p:spPr>
          <a:xfrm>
            <a:off x="1333500" y="1981200"/>
            <a:ext cx="6553200" cy="4419600"/>
          </a:xfrm>
        </p:spPr>
        <p:txBody>
          <a:bodyPr/>
          <a:lstStyle/>
          <a:p>
            <a:pPr eaLnBrk="1" hangingPunct="1">
              <a:lnSpc>
                <a:spcPct val="90000"/>
              </a:lnSpc>
              <a:buFont typeface="Wingdings 2" panose="05020102010507070707" pitchFamily="18" charset="2"/>
              <a:buNone/>
            </a:pPr>
            <a:r>
              <a:rPr lang="en-US" altLang="en-US" sz="3600" b="1" dirty="0"/>
              <a:t>Other Clinical Procedures</a:t>
            </a:r>
          </a:p>
          <a:p>
            <a:pPr lvl="1" eaLnBrk="1" hangingPunct="1">
              <a:lnSpc>
                <a:spcPct val="90000"/>
              </a:lnSpc>
              <a:buFont typeface="Wingdings" panose="05000000000000000000" pitchFamily="2" charset="2"/>
              <a:buChar char="Ø"/>
            </a:pPr>
            <a:r>
              <a:rPr lang="en-US" altLang="en-US" sz="3200" dirty="0"/>
              <a:t>Cystoscopy</a:t>
            </a:r>
          </a:p>
          <a:p>
            <a:pPr lvl="1" eaLnBrk="1" hangingPunct="1">
              <a:lnSpc>
                <a:spcPct val="90000"/>
              </a:lnSpc>
              <a:buFont typeface="Wingdings" panose="05000000000000000000" pitchFamily="2" charset="2"/>
              <a:buChar char="Ø"/>
            </a:pPr>
            <a:r>
              <a:rPr lang="en-US" altLang="en-US" sz="3200" dirty="0"/>
              <a:t>Dialysis</a:t>
            </a:r>
          </a:p>
          <a:p>
            <a:pPr lvl="1" eaLnBrk="1" hangingPunct="1">
              <a:lnSpc>
                <a:spcPct val="90000"/>
              </a:lnSpc>
              <a:buFont typeface="Wingdings" panose="05000000000000000000" pitchFamily="2" charset="2"/>
              <a:buChar char="Ø"/>
            </a:pPr>
            <a:r>
              <a:rPr lang="en-US" altLang="en-US" sz="3200" dirty="0"/>
              <a:t>Lithotripsy </a:t>
            </a:r>
          </a:p>
          <a:p>
            <a:pPr lvl="1" eaLnBrk="1" hangingPunct="1">
              <a:lnSpc>
                <a:spcPct val="90000"/>
              </a:lnSpc>
              <a:buFont typeface="Wingdings" panose="05000000000000000000" pitchFamily="2" charset="2"/>
              <a:buChar char="Ø"/>
            </a:pPr>
            <a:r>
              <a:rPr lang="en-US" altLang="en-US" sz="3200" dirty="0"/>
              <a:t>Renal angioplasty</a:t>
            </a:r>
          </a:p>
          <a:p>
            <a:pPr lvl="1" eaLnBrk="1" hangingPunct="1">
              <a:lnSpc>
                <a:spcPct val="90000"/>
              </a:lnSpc>
              <a:buFont typeface="Wingdings" panose="05000000000000000000" pitchFamily="2" charset="2"/>
              <a:buChar char="Ø"/>
            </a:pPr>
            <a:r>
              <a:rPr lang="en-US" altLang="en-US" sz="3200" dirty="0"/>
              <a:t>Renal biopsy</a:t>
            </a:r>
          </a:p>
          <a:p>
            <a:pPr lvl="1" eaLnBrk="1" hangingPunct="1">
              <a:lnSpc>
                <a:spcPct val="90000"/>
              </a:lnSpc>
              <a:buFont typeface="Wingdings" panose="05000000000000000000" pitchFamily="2" charset="2"/>
              <a:buChar char="Ø"/>
            </a:pPr>
            <a:r>
              <a:rPr lang="en-US" altLang="en-US" sz="3200" dirty="0"/>
              <a:t>Renal transplantation</a:t>
            </a:r>
          </a:p>
          <a:p>
            <a:pPr lvl="1" eaLnBrk="1" hangingPunct="1">
              <a:lnSpc>
                <a:spcPct val="90000"/>
              </a:lnSpc>
              <a:buFont typeface="Wingdings" panose="05000000000000000000" pitchFamily="2" charset="2"/>
              <a:buChar char="Ø"/>
            </a:pPr>
            <a:r>
              <a:rPr lang="en-US" altLang="en-US" sz="3200" dirty="0"/>
              <a:t>Urinary catheterization</a:t>
            </a:r>
          </a:p>
        </p:txBody>
      </p:sp>
    </p:spTree>
    <p:extLst>
      <p:ext uri="{BB962C8B-B14F-4D97-AF65-F5344CB8AC3E}">
        <p14:creationId xmlns:p14="http://schemas.microsoft.com/office/powerpoint/2010/main" val="14817174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4"/>
          <p:cNvSpPr>
            <a:spLocks noGrp="1" noChangeArrowheads="1"/>
          </p:cNvSpPr>
          <p:nvPr>
            <p:ph type="title"/>
          </p:nvPr>
        </p:nvSpPr>
        <p:spPr/>
        <p:txBody>
          <a:bodyPr/>
          <a:lstStyle/>
          <a:p>
            <a:pPr eaLnBrk="1" hangingPunct="1"/>
            <a:r>
              <a:rPr lang="en-US" altLang="en-US" b="1" dirty="0"/>
              <a:t>Laboratory Tests and </a:t>
            </a:r>
            <a:br>
              <a:rPr lang="en-US" altLang="en-US" b="1" dirty="0"/>
            </a:br>
            <a:r>
              <a:rPr lang="en-US" altLang="en-US" b="1" dirty="0"/>
              <a:t>Clinical Procedures (Slide 8 of 10)</a:t>
            </a:r>
          </a:p>
        </p:txBody>
      </p:sp>
      <p:sp>
        <p:nvSpPr>
          <p:cNvPr id="89091" name="Rectangle 9"/>
          <p:cNvSpPr>
            <a:spLocks noGrp="1" noChangeArrowheads="1"/>
          </p:cNvSpPr>
          <p:nvPr>
            <p:ph sz="half" idx="1"/>
          </p:nvPr>
        </p:nvSpPr>
        <p:spPr>
          <a:xfrm>
            <a:off x="838200" y="2209800"/>
            <a:ext cx="7010400" cy="1143000"/>
          </a:xfrm>
        </p:spPr>
        <p:txBody>
          <a:bodyPr/>
          <a:lstStyle/>
          <a:p>
            <a:pPr eaLnBrk="1" hangingPunct="1">
              <a:buFont typeface="Wingdings 2" panose="05020102010507070707" pitchFamily="18" charset="2"/>
              <a:buNone/>
            </a:pPr>
            <a:r>
              <a:rPr lang="en-US" altLang="en-US" sz="3200" b="1" dirty="0"/>
              <a:t>Cystoscopy—direct visual examination of urinary bladder with an endoscope</a:t>
            </a:r>
            <a:endParaRPr lang="en-US" altLang="en-US" sz="3200" dirty="0"/>
          </a:p>
        </p:txBody>
      </p:sp>
      <p:pic>
        <p:nvPicPr>
          <p:cNvPr id="6" name="Picture 12" descr="A cystoscopy is direction visualization of the urethra and urinary bladder with an endoscop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752600" y="3505200"/>
            <a:ext cx="5105400" cy="27994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5287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
          <p:cNvSpPr>
            <a:spLocks noGrp="1" noChangeArrowheads="1"/>
          </p:cNvSpPr>
          <p:nvPr>
            <p:ph type="title"/>
          </p:nvPr>
        </p:nvSpPr>
        <p:spPr/>
        <p:txBody>
          <a:bodyPr/>
          <a:lstStyle/>
          <a:p>
            <a:pPr eaLnBrk="1" hangingPunct="1"/>
            <a:r>
              <a:rPr lang="en-US" altLang="en-US" b="1" dirty="0"/>
              <a:t>Laboratory Tests and </a:t>
            </a:r>
            <a:br>
              <a:rPr lang="en-US" altLang="en-US" b="1" dirty="0"/>
            </a:br>
            <a:r>
              <a:rPr lang="en-US" altLang="en-US" b="1" dirty="0"/>
              <a:t>Clinical Procedures (Slide 9 of 10)</a:t>
            </a:r>
          </a:p>
        </p:txBody>
      </p:sp>
      <p:sp>
        <p:nvSpPr>
          <p:cNvPr id="90115" name="Rectangle 4"/>
          <p:cNvSpPr>
            <a:spLocks noGrp="1" noChangeArrowheads="1"/>
          </p:cNvSpPr>
          <p:nvPr>
            <p:ph sz="half" idx="1"/>
          </p:nvPr>
        </p:nvSpPr>
        <p:spPr>
          <a:xfrm>
            <a:off x="1066800" y="2298478"/>
            <a:ext cx="4038600" cy="533400"/>
          </a:xfrm>
        </p:spPr>
        <p:txBody>
          <a:bodyPr/>
          <a:lstStyle/>
          <a:p>
            <a:pPr marL="0" indent="0" eaLnBrk="1" hangingPunct="1">
              <a:buNone/>
            </a:pPr>
            <a:r>
              <a:rPr lang="en-US" altLang="en-US" sz="3200" b="1" dirty="0" err="1"/>
              <a:t>Hemodialysis</a:t>
            </a:r>
            <a:r>
              <a:rPr lang="en-US" altLang="en-US" sz="3200" b="1" dirty="0"/>
              <a:t> (HD)</a:t>
            </a:r>
            <a:endParaRPr lang="en-US" altLang="en-US" sz="3200" dirty="0"/>
          </a:p>
        </p:txBody>
      </p:sp>
      <p:pic>
        <p:nvPicPr>
          <p:cNvPr id="7" name="Picture 7" descr="A seated patient receiving hemodialysis. "/>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3048000"/>
            <a:ext cx="3408492" cy="3340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11727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3"/>
          <p:cNvSpPr>
            <a:spLocks noGrp="1" noChangeArrowheads="1"/>
          </p:cNvSpPr>
          <p:nvPr>
            <p:ph type="title"/>
          </p:nvPr>
        </p:nvSpPr>
        <p:spPr/>
        <p:txBody>
          <a:bodyPr/>
          <a:lstStyle/>
          <a:p>
            <a:pPr eaLnBrk="1" hangingPunct="1"/>
            <a:r>
              <a:rPr lang="en-US" altLang="en-US" b="1" dirty="0"/>
              <a:t>Laboratory Tests and </a:t>
            </a:r>
            <a:br>
              <a:rPr lang="en-US" altLang="en-US" b="1" dirty="0"/>
            </a:br>
            <a:r>
              <a:rPr lang="en-US" altLang="en-US" b="1" dirty="0"/>
              <a:t>Clinical Procedures (Slide 10 of 10)</a:t>
            </a:r>
          </a:p>
        </p:txBody>
      </p:sp>
      <p:sp>
        <p:nvSpPr>
          <p:cNvPr id="91139" name="Rectangle 8"/>
          <p:cNvSpPr>
            <a:spLocks noGrp="1" noChangeArrowheads="1"/>
          </p:cNvSpPr>
          <p:nvPr>
            <p:ph sz="half" idx="1"/>
          </p:nvPr>
        </p:nvSpPr>
        <p:spPr>
          <a:xfrm>
            <a:off x="685800" y="1981200"/>
            <a:ext cx="7772400" cy="609599"/>
          </a:xfrm>
        </p:spPr>
        <p:txBody>
          <a:bodyPr/>
          <a:lstStyle/>
          <a:p>
            <a:pPr marL="0" indent="0" eaLnBrk="1" hangingPunct="1">
              <a:buFont typeface="Wingdings 2" panose="05020102010507070707" pitchFamily="18" charset="2"/>
              <a:buNone/>
            </a:pPr>
            <a:r>
              <a:rPr lang="en-US" altLang="en-US" sz="2800" b="1" dirty="0"/>
              <a:t>Continuous ambulatory peritoneal dialysis (CAPD)</a:t>
            </a:r>
            <a:endParaRPr lang="en-US" altLang="en-US" sz="2800" dirty="0"/>
          </a:p>
        </p:txBody>
      </p:sp>
      <p:pic>
        <p:nvPicPr>
          <p:cNvPr id="6" name="Picture 11" descr="Peritoneal dialysis uses a catheter to introduce fluid into the peritoneal (abdominal) cavit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628900" y="2590799"/>
            <a:ext cx="3886200" cy="37696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677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1143000"/>
          </a:xfrm>
        </p:spPr>
        <p:txBody>
          <a:bodyPr/>
          <a:lstStyle/>
          <a:p>
            <a:r>
              <a:rPr lang="en-US" b="1" dirty="0">
                <a:solidFill>
                  <a:prstClr val="black"/>
                </a:solidFill>
              </a:rPr>
              <a:t>Abbreviations (Slide 1 of 6)</a:t>
            </a:r>
            <a:endParaRPr lang="en-US" dirty="0"/>
          </a:p>
        </p:txBody>
      </p:sp>
      <p:graphicFrame>
        <p:nvGraphicFramePr>
          <p:cNvPr id="7" name="Content Placeholder 6" descr="Group 1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2910265790"/>
              </p:ext>
            </p:extLst>
          </p:nvPr>
        </p:nvGraphicFramePr>
        <p:xfrm>
          <a:off x="3390900" y="1752600"/>
          <a:ext cx="2362200" cy="4572000"/>
        </p:xfrm>
        <a:graphic>
          <a:graphicData uri="http://schemas.openxmlformats.org/drawingml/2006/table">
            <a:tbl>
              <a:tblPr firstRow="1" bandRow="1">
                <a:tableStyleId>{C083E6E3-FA7D-4D7B-A595-EF9225AFEA82}</a:tableStyleId>
              </a:tblPr>
              <a:tblGrid>
                <a:gridCol w="2362200">
                  <a:extLst>
                    <a:ext uri="{9D8B030D-6E8A-4147-A177-3AD203B41FA5}">
                      <a16:colId xmlns:a16="http://schemas.microsoft.com/office/drawing/2014/main" val="20000"/>
                    </a:ext>
                  </a:extLst>
                </a:gridCol>
              </a:tblGrid>
              <a:tr h="2946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altLang="en-US" sz="2400" dirty="0"/>
                        <a:t>ADH</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AKI</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ARF</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BILI</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BUN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CAPD</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err="1"/>
                        <a:t>Cath</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CCPD</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dirty="0"/>
                        <a:t>CKD</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91403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prstClr val="black"/>
                </a:solidFill>
              </a:rPr>
              <a:t>Abbreviations (Slide 2 of 6)</a:t>
            </a:r>
            <a:endParaRPr lang="en-US" dirty="0"/>
          </a:p>
        </p:txBody>
      </p:sp>
      <p:graphicFrame>
        <p:nvGraphicFramePr>
          <p:cNvPr id="7" name="Content Placeholder 6" descr="Group 1of 3 Abbreviations with corresponding meanings."/>
          <p:cNvGraphicFramePr>
            <a:graphicFrameLocks noGrp="1"/>
          </p:cNvGraphicFramePr>
          <p:nvPr>
            <p:ph idx="1"/>
            <p:extLst>
              <p:ext uri="{D42A27DB-BD31-4B8C-83A1-F6EECF244321}">
                <p14:modId xmlns:p14="http://schemas.microsoft.com/office/powerpoint/2010/main" val="2821364497"/>
              </p:ext>
            </p:extLst>
          </p:nvPr>
        </p:nvGraphicFramePr>
        <p:xfrm>
          <a:off x="457200" y="1828800"/>
          <a:ext cx="8229600" cy="4572000"/>
        </p:xfrm>
        <a:graphic>
          <a:graphicData uri="http://schemas.openxmlformats.org/drawingml/2006/table">
            <a:tbl>
              <a:tblPr firstRow="1" bandRow="1">
                <a:tableStyleId>{C083E6E3-FA7D-4D7B-A595-EF9225AFEA82}</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2946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ADH</a:t>
                      </a:r>
                      <a:endParaRPr lang="en-US" sz="2400" dirty="0"/>
                    </a:p>
                  </a:txBody>
                  <a:tcPr/>
                </a:tc>
                <a:tc>
                  <a:txBody>
                    <a:bodyPr/>
                    <a:lstStyle/>
                    <a:p>
                      <a:r>
                        <a:rPr lang="en-US" altLang="en-US" sz="2400" dirty="0"/>
                        <a:t>Antidiuretic hormone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AKI</a:t>
                      </a:r>
                      <a:endParaRPr lang="en-US" sz="2400" dirty="0"/>
                    </a:p>
                  </a:txBody>
                  <a:tcPr/>
                </a:tc>
                <a:tc>
                  <a:txBody>
                    <a:bodyPr/>
                    <a:lstStyle/>
                    <a:p>
                      <a:r>
                        <a:rPr lang="en-US" altLang="en-US" sz="2400" dirty="0"/>
                        <a:t>Acute renal injury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ARF</a:t>
                      </a:r>
                      <a:endParaRPr lang="en-US" sz="2400" dirty="0"/>
                    </a:p>
                  </a:txBody>
                  <a:tcPr/>
                </a:tc>
                <a:tc>
                  <a:txBody>
                    <a:bodyPr/>
                    <a:lstStyle/>
                    <a:p>
                      <a:r>
                        <a:rPr lang="en-US" altLang="en-US" sz="2400" dirty="0"/>
                        <a:t>Acute renal failure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BILI</a:t>
                      </a:r>
                      <a:endParaRPr lang="en-US" sz="2400" dirty="0"/>
                    </a:p>
                  </a:txBody>
                  <a:tcPr/>
                </a:tc>
                <a:tc>
                  <a:txBody>
                    <a:bodyPr/>
                    <a:lstStyle/>
                    <a:p>
                      <a:r>
                        <a:rPr lang="en-US" altLang="en-US" sz="2400" dirty="0"/>
                        <a:t>Bilirubin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BUN</a:t>
                      </a:r>
                      <a:endParaRPr lang="en-US" sz="2400" dirty="0"/>
                    </a:p>
                  </a:txBody>
                  <a:tcPr/>
                </a:tc>
                <a:tc>
                  <a:txBody>
                    <a:bodyPr/>
                    <a:lstStyle/>
                    <a:p>
                      <a:r>
                        <a:rPr lang="en-US" altLang="en-US" sz="2400" dirty="0"/>
                        <a:t>Blood urea nitrogen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CAPD</a:t>
                      </a:r>
                      <a:endParaRPr lang="en-US" sz="2400" dirty="0"/>
                    </a:p>
                  </a:txBody>
                  <a:tcPr/>
                </a:tc>
                <a:tc>
                  <a:txBody>
                    <a:bodyPr/>
                    <a:lstStyle/>
                    <a:p>
                      <a:r>
                        <a:rPr lang="en-US" altLang="en-US" sz="2400" dirty="0"/>
                        <a:t>Continuous ambulatory peritoneal dialysis</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err="1"/>
                        <a:t>Cath</a:t>
                      </a:r>
                      <a:endParaRPr lang="en-US" sz="2400" dirty="0"/>
                    </a:p>
                  </a:txBody>
                  <a:tcPr/>
                </a:tc>
                <a:tc>
                  <a:txBody>
                    <a:bodyPr/>
                    <a:lstStyle/>
                    <a:p>
                      <a:r>
                        <a:rPr lang="en-US" altLang="en-US" sz="2400" dirty="0"/>
                        <a:t>Catheter; catheterization</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dirty="0"/>
                        <a:t>CCPD</a:t>
                      </a:r>
                      <a:endParaRPr lang="en-US" sz="2400" dirty="0"/>
                    </a:p>
                  </a:txBody>
                  <a:tcPr/>
                </a:tc>
                <a:tc>
                  <a:txBody>
                    <a:bodyPr/>
                    <a:lstStyle/>
                    <a:p>
                      <a:r>
                        <a:rPr lang="en-US" altLang="en-US" sz="2400" dirty="0"/>
                        <a:t>Continuous cycling peritoneal dialysis</a:t>
                      </a:r>
                      <a:endParaRPr lang="en-US" sz="2400" dirty="0"/>
                    </a:p>
                  </a:txBody>
                  <a:tcPr/>
                </a:tc>
                <a:extLst>
                  <a:ext uri="{0D108BD9-81ED-4DB2-BD59-A6C34878D82A}">
                    <a16:rowId xmlns:a16="http://schemas.microsoft.com/office/drawing/2014/main" val="10008"/>
                  </a:ext>
                </a:extLst>
              </a:tr>
              <a:tr h="370840">
                <a:tc>
                  <a:txBody>
                    <a:bodyPr/>
                    <a:lstStyle/>
                    <a:p>
                      <a:r>
                        <a:rPr lang="en-US" altLang="en-US" sz="2400" dirty="0"/>
                        <a:t>CKD</a:t>
                      </a:r>
                      <a:endParaRPr lang="en-US" sz="2400" dirty="0"/>
                    </a:p>
                  </a:txBody>
                  <a:tcPr/>
                </a:tc>
                <a:tc>
                  <a:txBody>
                    <a:bodyPr/>
                    <a:lstStyle/>
                    <a:p>
                      <a:r>
                        <a:rPr lang="en-US" altLang="en-US" sz="2400" dirty="0"/>
                        <a:t>Chronic kidney disease</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735783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prstClr val="black"/>
                </a:solidFill>
              </a:rPr>
              <a:t>Abbreviations (Slide 3 of 6)</a:t>
            </a:r>
            <a:endParaRPr lang="en-US" dirty="0"/>
          </a:p>
        </p:txBody>
      </p:sp>
      <p:graphicFrame>
        <p:nvGraphicFramePr>
          <p:cNvPr id="7" name="Content Placeholder 6" descr="Group 2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294979000"/>
              </p:ext>
            </p:extLst>
          </p:nvPr>
        </p:nvGraphicFramePr>
        <p:xfrm>
          <a:off x="3390900" y="1219200"/>
          <a:ext cx="2362200" cy="5151120"/>
        </p:xfrm>
        <a:graphic>
          <a:graphicData uri="http://schemas.openxmlformats.org/drawingml/2006/table">
            <a:tbl>
              <a:tblPr firstRow="1" bandRow="1">
                <a:tableStyleId>{C083E6E3-FA7D-4D7B-A595-EF9225AFEA82}</a:tableStyleId>
              </a:tblPr>
              <a:tblGrid>
                <a:gridCol w="2362200">
                  <a:extLst>
                    <a:ext uri="{9D8B030D-6E8A-4147-A177-3AD203B41FA5}">
                      <a16:colId xmlns:a16="http://schemas.microsoft.com/office/drawing/2014/main" val="20000"/>
                    </a:ext>
                  </a:extLst>
                </a:gridCol>
              </a:tblGrid>
              <a:tr h="2946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altLang="en-US" sz="2200" dirty="0"/>
                        <a:t>CL</a:t>
                      </a:r>
                      <a:r>
                        <a:rPr lang="en-US" altLang="en-US" sz="2200" baseline="30000" dirty="0"/>
                        <a:t>-</a:t>
                      </a:r>
                      <a:endParaRPr lang="en-US" sz="2200" dirty="0"/>
                    </a:p>
                  </a:txBody>
                  <a:tcPr/>
                </a:tc>
                <a:extLst>
                  <a:ext uri="{0D108BD9-81ED-4DB2-BD59-A6C34878D82A}">
                    <a16:rowId xmlns:a16="http://schemas.microsoft.com/office/drawing/2014/main" val="10001"/>
                  </a:ext>
                </a:extLst>
              </a:tr>
              <a:tr h="370840">
                <a:tc>
                  <a:txBody>
                    <a:bodyPr/>
                    <a:lstStyle/>
                    <a:p>
                      <a:r>
                        <a:rPr lang="en-US" altLang="en-US" sz="2200" dirty="0" err="1"/>
                        <a:t>CrCl</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CRF</a:t>
                      </a:r>
                      <a:endParaRPr lang="en-US" sz="2200" dirty="0"/>
                    </a:p>
                  </a:txBody>
                  <a:tcPr/>
                </a:tc>
                <a:extLst>
                  <a:ext uri="{0D108BD9-81ED-4DB2-BD59-A6C34878D82A}">
                    <a16:rowId xmlns:a16="http://schemas.microsoft.com/office/drawing/2014/main" val="10003"/>
                  </a:ext>
                </a:extLst>
              </a:tr>
              <a:tr h="370840">
                <a:tc>
                  <a:txBody>
                    <a:bodyPr/>
                    <a:lstStyle/>
                    <a:p>
                      <a:r>
                        <a:rPr lang="en-US" altLang="en-US" sz="2200" dirty="0"/>
                        <a:t>C &amp; S</a:t>
                      </a:r>
                      <a:endParaRPr lang="en-US" sz="2200" dirty="0"/>
                    </a:p>
                  </a:txBody>
                  <a:tcPr/>
                </a:tc>
                <a:extLst>
                  <a:ext uri="{0D108BD9-81ED-4DB2-BD59-A6C34878D82A}">
                    <a16:rowId xmlns:a16="http://schemas.microsoft.com/office/drawing/2014/main" val="10004"/>
                  </a:ext>
                </a:extLst>
              </a:tr>
              <a:tr h="370840">
                <a:tc>
                  <a:txBody>
                    <a:bodyPr/>
                    <a:lstStyle/>
                    <a:p>
                      <a:r>
                        <a:rPr lang="en-US" altLang="en-US" sz="2200" dirty="0" err="1"/>
                        <a:t>Cysto</a:t>
                      </a:r>
                      <a:endParaRPr lang="en-US" sz="2200" dirty="0"/>
                    </a:p>
                  </a:txBody>
                  <a:tcPr/>
                </a:tc>
                <a:extLst>
                  <a:ext uri="{0D108BD9-81ED-4DB2-BD59-A6C34878D82A}">
                    <a16:rowId xmlns:a16="http://schemas.microsoft.com/office/drawing/2014/main" val="10005"/>
                  </a:ext>
                </a:extLst>
              </a:tr>
              <a:tr h="370840">
                <a:tc>
                  <a:txBody>
                    <a:bodyPr/>
                    <a:lstStyle/>
                    <a:p>
                      <a:r>
                        <a:rPr lang="en-US" altLang="en-US" sz="2200" dirty="0" err="1"/>
                        <a:t>eGFR</a:t>
                      </a:r>
                      <a:endParaRPr lang="en-US" sz="2200" dirty="0"/>
                    </a:p>
                  </a:txBody>
                  <a:tcPr/>
                </a:tc>
                <a:extLst>
                  <a:ext uri="{0D108BD9-81ED-4DB2-BD59-A6C34878D82A}">
                    <a16:rowId xmlns:a16="http://schemas.microsoft.com/office/drawing/2014/main" val="10006"/>
                  </a:ext>
                </a:extLst>
              </a:tr>
              <a:tr h="370840">
                <a:tc>
                  <a:txBody>
                    <a:bodyPr/>
                    <a:lstStyle/>
                    <a:p>
                      <a:r>
                        <a:rPr lang="en-US" altLang="en-US" sz="2200" dirty="0"/>
                        <a:t>ESRD</a:t>
                      </a:r>
                      <a:endParaRPr lang="en-US" sz="2200" dirty="0"/>
                    </a:p>
                  </a:txBody>
                  <a:tcPr/>
                </a:tc>
                <a:extLst>
                  <a:ext uri="{0D108BD9-81ED-4DB2-BD59-A6C34878D82A}">
                    <a16:rowId xmlns:a16="http://schemas.microsoft.com/office/drawing/2014/main" val="10007"/>
                  </a:ext>
                </a:extLst>
              </a:tr>
              <a:tr h="370840">
                <a:tc>
                  <a:txBody>
                    <a:bodyPr/>
                    <a:lstStyle/>
                    <a:p>
                      <a:r>
                        <a:rPr lang="en-US" altLang="en-US" sz="2200" dirty="0"/>
                        <a:t>ESWL</a:t>
                      </a:r>
                      <a:endParaRPr lang="en-US" sz="2200" dirty="0"/>
                    </a:p>
                  </a:txBody>
                  <a:tcPr/>
                </a:tc>
                <a:extLst>
                  <a:ext uri="{0D108BD9-81ED-4DB2-BD59-A6C34878D82A}">
                    <a16:rowId xmlns:a16="http://schemas.microsoft.com/office/drawing/2014/main" val="10008"/>
                  </a:ext>
                </a:extLst>
              </a:tr>
              <a:tr h="370840">
                <a:tc>
                  <a:txBody>
                    <a:bodyPr/>
                    <a:lstStyle/>
                    <a:p>
                      <a:r>
                        <a:rPr lang="en-US" altLang="en-US" sz="2200" dirty="0"/>
                        <a:t>HCO</a:t>
                      </a:r>
                      <a:r>
                        <a:rPr lang="en-US" altLang="en-US" sz="2200" baseline="-25000" dirty="0"/>
                        <a:t>3</a:t>
                      </a:r>
                      <a:r>
                        <a:rPr lang="en-US" altLang="en-US" sz="2200" baseline="30000" dirty="0"/>
                        <a:t>-</a:t>
                      </a:r>
                      <a:endParaRPr lang="en-US" sz="2200" dirty="0"/>
                    </a:p>
                  </a:txBody>
                  <a:tcPr/>
                </a:tc>
                <a:extLst>
                  <a:ext uri="{0D108BD9-81ED-4DB2-BD59-A6C34878D82A}">
                    <a16:rowId xmlns:a16="http://schemas.microsoft.com/office/drawing/2014/main" val="10009"/>
                  </a:ext>
                </a:extLst>
              </a:tr>
              <a:tr h="370840">
                <a:tc>
                  <a:txBody>
                    <a:bodyPr/>
                    <a:lstStyle/>
                    <a:p>
                      <a:r>
                        <a:rPr lang="en-US" altLang="en-US" sz="2200" dirty="0"/>
                        <a:t>HD</a:t>
                      </a:r>
                      <a:endParaRPr lang="en-US" sz="2200" dirty="0"/>
                    </a:p>
                  </a:txBody>
                  <a:tcPr/>
                </a:tc>
                <a:extLst>
                  <a:ext uri="{0D108BD9-81ED-4DB2-BD59-A6C34878D82A}">
                    <a16:rowId xmlns:a16="http://schemas.microsoft.com/office/drawing/2014/main" val="10010"/>
                  </a:ext>
                </a:extLst>
              </a:tr>
              <a:tr h="370840">
                <a:tc>
                  <a:txBody>
                    <a:bodyPr/>
                    <a:lstStyle/>
                    <a:p>
                      <a:r>
                        <a:rPr lang="en-US" altLang="en-US" sz="2200" dirty="0"/>
                        <a:t>IC</a:t>
                      </a:r>
                      <a:endParaRPr lang="en-US" sz="22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0892684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prstClr val="black"/>
                </a:solidFill>
              </a:rPr>
              <a:t>Abbreviations (Slide 4 of 6)</a:t>
            </a:r>
            <a:endParaRPr lang="en-US" dirty="0"/>
          </a:p>
        </p:txBody>
      </p:sp>
      <p:graphicFrame>
        <p:nvGraphicFramePr>
          <p:cNvPr id="7" name="Content Placeholder 6" descr="Group 2 of 3 Abbreviations with corresponding meanings."/>
          <p:cNvGraphicFramePr>
            <a:graphicFrameLocks noGrp="1"/>
          </p:cNvGraphicFramePr>
          <p:nvPr>
            <p:ph idx="1"/>
            <p:extLst>
              <p:ext uri="{D42A27DB-BD31-4B8C-83A1-F6EECF244321}">
                <p14:modId xmlns:p14="http://schemas.microsoft.com/office/powerpoint/2010/main" val="69565832"/>
              </p:ext>
            </p:extLst>
          </p:nvPr>
        </p:nvGraphicFramePr>
        <p:xfrm>
          <a:off x="457200" y="1600200"/>
          <a:ext cx="8229600" cy="4815840"/>
        </p:xfrm>
        <a:graphic>
          <a:graphicData uri="http://schemas.openxmlformats.org/drawingml/2006/table">
            <a:tbl>
              <a:tblPr firstRow="1" bandRow="1">
                <a:tableStyleId>{C083E6E3-FA7D-4D7B-A595-EF9225AFEA82}</a:tableStyleId>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2946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000" dirty="0"/>
                        <a:t>CL</a:t>
                      </a:r>
                      <a:r>
                        <a:rPr lang="en-US" altLang="en-US" sz="2000" baseline="30000" dirty="0"/>
                        <a:t>-</a:t>
                      </a:r>
                      <a:endParaRPr lang="en-US" sz="2000" dirty="0"/>
                    </a:p>
                  </a:txBody>
                  <a:tcPr/>
                </a:tc>
                <a:tc>
                  <a:txBody>
                    <a:bodyPr/>
                    <a:lstStyle/>
                    <a:p>
                      <a:r>
                        <a:rPr lang="en-US" altLang="en-US" sz="2000" dirty="0"/>
                        <a:t>Chloride, a kidney excretion</a:t>
                      </a:r>
                      <a:endParaRPr lang="en-US" sz="2000" dirty="0"/>
                    </a:p>
                  </a:txBody>
                  <a:tcPr/>
                </a:tc>
                <a:extLst>
                  <a:ext uri="{0D108BD9-81ED-4DB2-BD59-A6C34878D82A}">
                    <a16:rowId xmlns:a16="http://schemas.microsoft.com/office/drawing/2014/main" val="10001"/>
                  </a:ext>
                </a:extLst>
              </a:tr>
              <a:tr h="370840">
                <a:tc>
                  <a:txBody>
                    <a:bodyPr/>
                    <a:lstStyle/>
                    <a:p>
                      <a:r>
                        <a:rPr lang="en-US" altLang="en-US" sz="2000" dirty="0" err="1"/>
                        <a:t>CrCl</a:t>
                      </a:r>
                      <a:endParaRPr lang="en-US" sz="2000" dirty="0"/>
                    </a:p>
                  </a:txBody>
                  <a:tcPr/>
                </a:tc>
                <a:tc>
                  <a:txBody>
                    <a:bodyPr/>
                    <a:lstStyle/>
                    <a:p>
                      <a:r>
                        <a:rPr lang="en-US" altLang="en-US" sz="2000" dirty="0" err="1"/>
                        <a:t>Creatinine</a:t>
                      </a:r>
                      <a:r>
                        <a:rPr lang="en-US" altLang="en-US" sz="2000" dirty="0"/>
                        <a:t> clearance</a:t>
                      </a:r>
                      <a:endParaRPr lang="en-US" sz="2000" dirty="0"/>
                    </a:p>
                  </a:txBody>
                  <a:tcPr/>
                </a:tc>
                <a:extLst>
                  <a:ext uri="{0D108BD9-81ED-4DB2-BD59-A6C34878D82A}">
                    <a16:rowId xmlns:a16="http://schemas.microsoft.com/office/drawing/2014/main" val="10002"/>
                  </a:ext>
                </a:extLst>
              </a:tr>
              <a:tr h="370840">
                <a:tc>
                  <a:txBody>
                    <a:bodyPr/>
                    <a:lstStyle/>
                    <a:p>
                      <a:r>
                        <a:rPr lang="en-US" altLang="en-US" sz="2000" dirty="0"/>
                        <a:t>CRF</a:t>
                      </a:r>
                      <a:endParaRPr lang="en-US" sz="2000" dirty="0"/>
                    </a:p>
                  </a:txBody>
                  <a:tcPr/>
                </a:tc>
                <a:tc>
                  <a:txBody>
                    <a:bodyPr/>
                    <a:lstStyle/>
                    <a:p>
                      <a:r>
                        <a:rPr lang="en-US" altLang="en-US" sz="2000" dirty="0"/>
                        <a:t>Chronic renal failure</a:t>
                      </a:r>
                      <a:endParaRPr lang="en-US" sz="2000" dirty="0"/>
                    </a:p>
                  </a:txBody>
                  <a:tcPr/>
                </a:tc>
                <a:extLst>
                  <a:ext uri="{0D108BD9-81ED-4DB2-BD59-A6C34878D82A}">
                    <a16:rowId xmlns:a16="http://schemas.microsoft.com/office/drawing/2014/main" val="10003"/>
                  </a:ext>
                </a:extLst>
              </a:tr>
              <a:tr h="370840">
                <a:tc>
                  <a:txBody>
                    <a:bodyPr/>
                    <a:lstStyle/>
                    <a:p>
                      <a:r>
                        <a:rPr lang="en-US" altLang="en-US" sz="2000" dirty="0"/>
                        <a:t>C &amp; S</a:t>
                      </a:r>
                      <a:endParaRPr lang="en-US" sz="2000" dirty="0"/>
                    </a:p>
                  </a:txBody>
                  <a:tcPr/>
                </a:tc>
                <a:tc>
                  <a:txBody>
                    <a:bodyPr/>
                    <a:lstStyle/>
                    <a:p>
                      <a:r>
                        <a:rPr lang="en-US" altLang="en-US" sz="2000" dirty="0"/>
                        <a:t>Culture and sensitivity testing</a:t>
                      </a:r>
                      <a:endParaRPr lang="en-US" sz="2000" dirty="0"/>
                    </a:p>
                  </a:txBody>
                  <a:tcPr/>
                </a:tc>
                <a:extLst>
                  <a:ext uri="{0D108BD9-81ED-4DB2-BD59-A6C34878D82A}">
                    <a16:rowId xmlns:a16="http://schemas.microsoft.com/office/drawing/2014/main" val="10004"/>
                  </a:ext>
                </a:extLst>
              </a:tr>
              <a:tr h="370840">
                <a:tc>
                  <a:txBody>
                    <a:bodyPr/>
                    <a:lstStyle/>
                    <a:p>
                      <a:r>
                        <a:rPr lang="en-US" altLang="en-US" sz="2000" dirty="0" err="1"/>
                        <a:t>Cysto</a:t>
                      </a:r>
                      <a:endParaRPr lang="en-US" sz="2000" dirty="0"/>
                    </a:p>
                  </a:txBody>
                  <a:tcPr/>
                </a:tc>
                <a:tc>
                  <a:txBody>
                    <a:bodyPr/>
                    <a:lstStyle/>
                    <a:p>
                      <a:r>
                        <a:rPr lang="en-US" altLang="en-US" sz="2000" dirty="0" err="1"/>
                        <a:t>Cystoscopic</a:t>
                      </a:r>
                      <a:r>
                        <a:rPr lang="en-US" altLang="en-US" sz="2000" dirty="0"/>
                        <a:t> examination</a:t>
                      </a:r>
                      <a:endParaRPr lang="en-US" sz="2000" dirty="0"/>
                    </a:p>
                  </a:txBody>
                  <a:tcPr/>
                </a:tc>
                <a:extLst>
                  <a:ext uri="{0D108BD9-81ED-4DB2-BD59-A6C34878D82A}">
                    <a16:rowId xmlns:a16="http://schemas.microsoft.com/office/drawing/2014/main" val="10005"/>
                  </a:ext>
                </a:extLst>
              </a:tr>
              <a:tr h="370840">
                <a:tc>
                  <a:txBody>
                    <a:bodyPr/>
                    <a:lstStyle/>
                    <a:p>
                      <a:r>
                        <a:rPr lang="en-US" altLang="en-US" sz="2000" dirty="0" err="1"/>
                        <a:t>eGFR</a:t>
                      </a:r>
                      <a:endParaRPr lang="en-US" sz="2000" dirty="0"/>
                    </a:p>
                  </a:txBody>
                  <a:tcPr/>
                </a:tc>
                <a:tc>
                  <a:txBody>
                    <a:bodyPr/>
                    <a:lstStyle/>
                    <a:p>
                      <a:r>
                        <a:rPr lang="en-US" altLang="en-US" sz="2000" dirty="0"/>
                        <a:t>Estimated glomerular filtration rate</a:t>
                      </a:r>
                      <a:endParaRPr lang="en-US" sz="2000" dirty="0"/>
                    </a:p>
                  </a:txBody>
                  <a:tcPr/>
                </a:tc>
                <a:extLst>
                  <a:ext uri="{0D108BD9-81ED-4DB2-BD59-A6C34878D82A}">
                    <a16:rowId xmlns:a16="http://schemas.microsoft.com/office/drawing/2014/main" val="10006"/>
                  </a:ext>
                </a:extLst>
              </a:tr>
              <a:tr h="370840">
                <a:tc>
                  <a:txBody>
                    <a:bodyPr/>
                    <a:lstStyle/>
                    <a:p>
                      <a:r>
                        <a:rPr lang="en-US" altLang="en-US" sz="2000" dirty="0"/>
                        <a:t>ESRD</a:t>
                      </a:r>
                      <a:endParaRPr lang="en-US" sz="2000" dirty="0"/>
                    </a:p>
                  </a:txBody>
                  <a:tcPr/>
                </a:tc>
                <a:tc>
                  <a:txBody>
                    <a:bodyPr/>
                    <a:lstStyle/>
                    <a:p>
                      <a:r>
                        <a:rPr lang="en-US" altLang="en-US" sz="2000" dirty="0"/>
                        <a:t>End-stage renal disease</a:t>
                      </a:r>
                      <a:endParaRPr lang="en-US" sz="2000" dirty="0"/>
                    </a:p>
                  </a:txBody>
                  <a:tcPr/>
                </a:tc>
                <a:extLst>
                  <a:ext uri="{0D108BD9-81ED-4DB2-BD59-A6C34878D82A}">
                    <a16:rowId xmlns:a16="http://schemas.microsoft.com/office/drawing/2014/main" val="10007"/>
                  </a:ext>
                </a:extLst>
              </a:tr>
              <a:tr h="370840">
                <a:tc>
                  <a:txBody>
                    <a:bodyPr/>
                    <a:lstStyle/>
                    <a:p>
                      <a:r>
                        <a:rPr lang="en-US" altLang="en-US" sz="2000" dirty="0"/>
                        <a:t>ESWL</a:t>
                      </a:r>
                      <a:endParaRPr lang="en-US" sz="2000" dirty="0"/>
                    </a:p>
                  </a:txBody>
                  <a:tcPr/>
                </a:tc>
                <a:tc>
                  <a:txBody>
                    <a:bodyPr/>
                    <a:lstStyle/>
                    <a:p>
                      <a:r>
                        <a:rPr lang="en-US" altLang="en-US" sz="2000" dirty="0"/>
                        <a:t>Extracorporeal shockwave </a:t>
                      </a:r>
                      <a:r>
                        <a:rPr lang="en-US" altLang="en-US" sz="2000" dirty="0" err="1"/>
                        <a:t>lithrotripsy</a:t>
                      </a:r>
                      <a:endParaRPr lang="en-US" sz="2000" dirty="0"/>
                    </a:p>
                  </a:txBody>
                  <a:tcPr/>
                </a:tc>
                <a:extLst>
                  <a:ext uri="{0D108BD9-81ED-4DB2-BD59-A6C34878D82A}">
                    <a16:rowId xmlns:a16="http://schemas.microsoft.com/office/drawing/2014/main" val="10008"/>
                  </a:ext>
                </a:extLst>
              </a:tr>
              <a:tr h="370840">
                <a:tc>
                  <a:txBody>
                    <a:bodyPr/>
                    <a:lstStyle/>
                    <a:p>
                      <a:r>
                        <a:rPr lang="en-US" altLang="en-US" sz="2000" dirty="0"/>
                        <a:t>HCO</a:t>
                      </a:r>
                      <a:r>
                        <a:rPr lang="en-US" altLang="en-US" sz="2000" baseline="-25000" dirty="0"/>
                        <a:t>3</a:t>
                      </a:r>
                      <a:r>
                        <a:rPr lang="en-US" altLang="en-US" sz="2000" baseline="30000" dirty="0"/>
                        <a:t>-</a:t>
                      </a:r>
                      <a:endParaRPr lang="en-US" sz="2000" dirty="0"/>
                    </a:p>
                  </a:txBody>
                  <a:tcPr/>
                </a:tc>
                <a:tc>
                  <a:txBody>
                    <a:bodyPr/>
                    <a:lstStyle/>
                    <a:p>
                      <a:r>
                        <a:rPr lang="en-US" altLang="en-US" sz="2000" dirty="0"/>
                        <a:t>Bicarbonate, an electrolyte conserved by the kidney</a:t>
                      </a:r>
                      <a:endParaRPr lang="en-US" sz="2000" dirty="0"/>
                    </a:p>
                  </a:txBody>
                  <a:tcPr/>
                </a:tc>
                <a:extLst>
                  <a:ext uri="{0D108BD9-81ED-4DB2-BD59-A6C34878D82A}">
                    <a16:rowId xmlns:a16="http://schemas.microsoft.com/office/drawing/2014/main" val="10009"/>
                  </a:ext>
                </a:extLst>
              </a:tr>
              <a:tr h="370840">
                <a:tc>
                  <a:txBody>
                    <a:bodyPr/>
                    <a:lstStyle/>
                    <a:p>
                      <a:r>
                        <a:rPr lang="en-US" altLang="en-US" sz="2000" dirty="0"/>
                        <a:t>HD</a:t>
                      </a:r>
                      <a:endParaRPr lang="en-US" sz="2000" dirty="0"/>
                    </a:p>
                  </a:txBody>
                  <a:tcPr/>
                </a:tc>
                <a:tc>
                  <a:txBody>
                    <a:bodyPr/>
                    <a:lstStyle/>
                    <a:p>
                      <a:r>
                        <a:rPr lang="en-US" altLang="en-US" sz="2000" dirty="0"/>
                        <a:t>Hemodialysis</a:t>
                      </a:r>
                      <a:endParaRPr lang="en-US" sz="2000" dirty="0"/>
                    </a:p>
                  </a:txBody>
                  <a:tcPr/>
                </a:tc>
                <a:extLst>
                  <a:ext uri="{0D108BD9-81ED-4DB2-BD59-A6C34878D82A}">
                    <a16:rowId xmlns:a16="http://schemas.microsoft.com/office/drawing/2014/main" val="10010"/>
                  </a:ext>
                </a:extLst>
              </a:tr>
              <a:tr h="370840">
                <a:tc>
                  <a:txBody>
                    <a:bodyPr/>
                    <a:lstStyle/>
                    <a:p>
                      <a:r>
                        <a:rPr lang="en-US" altLang="en-US" sz="2000" dirty="0"/>
                        <a:t>IC</a:t>
                      </a:r>
                      <a:endParaRPr lang="en-US" sz="2000" dirty="0"/>
                    </a:p>
                  </a:txBody>
                  <a:tcPr/>
                </a:tc>
                <a:tc>
                  <a:txBody>
                    <a:bodyPr/>
                    <a:lstStyle/>
                    <a:p>
                      <a:r>
                        <a:rPr lang="en-US" altLang="en-US" sz="2000" dirty="0"/>
                        <a:t>Interstitial cystitis, chronic inflammation of the bladder wall</a:t>
                      </a:r>
                      <a:endParaRPr lang="en-US" sz="20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3020883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0"/>
            <a:ext cx="8229600" cy="1143000"/>
          </a:xfrm>
        </p:spPr>
        <p:txBody>
          <a:bodyPr/>
          <a:lstStyle/>
          <a:p>
            <a:r>
              <a:rPr lang="en-US" b="1" dirty="0">
                <a:solidFill>
                  <a:prstClr val="black"/>
                </a:solidFill>
              </a:rPr>
              <a:t>Abbreviations (Slide 5 of 6)</a:t>
            </a:r>
            <a:endParaRPr lang="en-US" dirty="0"/>
          </a:p>
        </p:txBody>
      </p:sp>
      <p:graphicFrame>
        <p:nvGraphicFramePr>
          <p:cNvPr id="7" name="Content Placeholder 6" descr="Group 3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3180535584"/>
              </p:ext>
            </p:extLst>
          </p:nvPr>
        </p:nvGraphicFramePr>
        <p:xfrm>
          <a:off x="3390900" y="1295400"/>
          <a:ext cx="2362200" cy="5151120"/>
        </p:xfrm>
        <a:graphic>
          <a:graphicData uri="http://schemas.openxmlformats.org/drawingml/2006/table">
            <a:tbl>
              <a:tblPr firstRow="1" bandRow="1">
                <a:tableStyleId>{C083E6E3-FA7D-4D7B-A595-EF9225AFEA82}</a:tableStyleId>
              </a:tblPr>
              <a:tblGrid>
                <a:gridCol w="2362200">
                  <a:extLst>
                    <a:ext uri="{9D8B030D-6E8A-4147-A177-3AD203B41FA5}">
                      <a16:colId xmlns:a16="http://schemas.microsoft.com/office/drawing/2014/main" val="20000"/>
                    </a:ext>
                  </a:extLst>
                </a:gridCol>
              </a:tblGrid>
              <a:tr h="294640">
                <a:tc>
                  <a:txBody>
                    <a:bodyPr/>
                    <a:lstStyle/>
                    <a:p>
                      <a:r>
                        <a:rPr lang="en-US" sz="2400" dirty="0"/>
                        <a:t>Abbreviation</a:t>
                      </a:r>
                    </a:p>
                  </a:txBody>
                  <a:tcPr/>
                </a:tc>
                <a:extLst>
                  <a:ext uri="{0D108BD9-81ED-4DB2-BD59-A6C34878D82A}">
                    <a16:rowId xmlns:a16="http://schemas.microsoft.com/office/drawing/2014/main" val="10000"/>
                  </a:ext>
                </a:extLst>
              </a:tr>
              <a:tr h="370840">
                <a:tc>
                  <a:txBody>
                    <a:bodyPr/>
                    <a:lstStyle/>
                    <a:p>
                      <a:r>
                        <a:rPr lang="en-US" altLang="en-US" sz="2200" dirty="0"/>
                        <a:t>IVP</a:t>
                      </a:r>
                      <a:endParaRPr lang="en-US" sz="2200" dirty="0"/>
                    </a:p>
                  </a:txBody>
                  <a:tcPr/>
                </a:tc>
                <a:extLst>
                  <a:ext uri="{0D108BD9-81ED-4DB2-BD59-A6C34878D82A}">
                    <a16:rowId xmlns:a16="http://schemas.microsoft.com/office/drawing/2014/main" val="10001"/>
                  </a:ext>
                </a:extLst>
              </a:tr>
              <a:tr h="370840">
                <a:tc>
                  <a:txBody>
                    <a:bodyPr/>
                    <a:lstStyle/>
                    <a:p>
                      <a:r>
                        <a:rPr lang="en-US" altLang="en-US" sz="2200" dirty="0"/>
                        <a:t>K</a:t>
                      </a:r>
                      <a:r>
                        <a:rPr lang="en-US" altLang="en-US" sz="2200" baseline="30000" dirty="0"/>
                        <a:t>+</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KUB</a:t>
                      </a:r>
                      <a:endParaRPr lang="en-US" sz="2200" dirty="0"/>
                    </a:p>
                  </a:txBody>
                  <a:tcPr/>
                </a:tc>
                <a:extLst>
                  <a:ext uri="{0D108BD9-81ED-4DB2-BD59-A6C34878D82A}">
                    <a16:rowId xmlns:a16="http://schemas.microsoft.com/office/drawing/2014/main" val="10003"/>
                  </a:ext>
                </a:extLst>
              </a:tr>
              <a:tr h="370840">
                <a:tc>
                  <a:txBody>
                    <a:bodyPr/>
                    <a:lstStyle/>
                    <a:p>
                      <a:r>
                        <a:rPr lang="en-US" altLang="en-US" sz="2200" dirty="0"/>
                        <a:t>Na</a:t>
                      </a:r>
                      <a:r>
                        <a:rPr lang="en-US" altLang="en-US" sz="2200" baseline="30000" dirty="0"/>
                        <a:t>+</a:t>
                      </a:r>
                      <a:endParaRPr lang="en-US" sz="2200" dirty="0"/>
                    </a:p>
                  </a:txBody>
                  <a:tcPr/>
                </a:tc>
                <a:extLst>
                  <a:ext uri="{0D108BD9-81ED-4DB2-BD59-A6C34878D82A}">
                    <a16:rowId xmlns:a16="http://schemas.microsoft.com/office/drawing/2014/main" val="10004"/>
                  </a:ext>
                </a:extLst>
              </a:tr>
              <a:tr h="370840">
                <a:tc>
                  <a:txBody>
                    <a:bodyPr/>
                    <a:lstStyle/>
                    <a:p>
                      <a:r>
                        <a:rPr lang="en-US" altLang="en-US" sz="2200" dirty="0"/>
                        <a:t>PD</a:t>
                      </a:r>
                      <a:endParaRPr lang="en-US" sz="2200" dirty="0"/>
                    </a:p>
                  </a:txBody>
                  <a:tcPr/>
                </a:tc>
                <a:extLst>
                  <a:ext uri="{0D108BD9-81ED-4DB2-BD59-A6C34878D82A}">
                    <a16:rowId xmlns:a16="http://schemas.microsoft.com/office/drawing/2014/main" val="10005"/>
                  </a:ext>
                </a:extLst>
              </a:tr>
              <a:tr h="370840">
                <a:tc>
                  <a:txBody>
                    <a:bodyPr/>
                    <a:lstStyle/>
                    <a:p>
                      <a:r>
                        <a:rPr lang="en-US" altLang="en-US" sz="2200" dirty="0"/>
                        <a:t>pH</a:t>
                      </a:r>
                      <a:endParaRPr lang="en-US" sz="2200" dirty="0"/>
                    </a:p>
                  </a:txBody>
                  <a:tcPr/>
                </a:tc>
                <a:extLst>
                  <a:ext uri="{0D108BD9-81ED-4DB2-BD59-A6C34878D82A}">
                    <a16:rowId xmlns:a16="http://schemas.microsoft.com/office/drawing/2014/main" val="10006"/>
                  </a:ext>
                </a:extLst>
              </a:tr>
              <a:tr h="370840">
                <a:tc>
                  <a:txBody>
                    <a:bodyPr/>
                    <a:lstStyle/>
                    <a:p>
                      <a:r>
                        <a:rPr lang="en-US" altLang="en-US" sz="2200" dirty="0"/>
                        <a:t>PKD </a:t>
                      </a:r>
                      <a:endParaRPr lang="en-US" sz="2200" dirty="0"/>
                    </a:p>
                  </a:txBody>
                  <a:tcPr/>
                </a:tc>
                <a:extLst>
                  <a:ext uri="{0D108BD9-81ED-4DB2-BD59-A6C34878D82A}">
                    <a16:rowId xmlns:a16="http://schemas.microsoft.com/office/drawing/2014/main" val="10007"/>
                  </a:ext>
                </a:extLst>
              </a:tr>
              <a:tr h="370840">
                <a:tc>
                  <a:txBody>
                    <a:bodyPr/>
                    <a:lstStyle/>
                    <a:p>
                      <a:r>
                        <a:rPr lang="en-US" altLang="en-US" sz="2200" dirty="0" err="1"/>
                        <a:t>sp</a:t>
                      </a:r>
                      <a:r>
                        <a:rPr lang="en-US" altLang="en-US" sz="2200" dirty="0"/>
                        <a:t> gr</a:t>
                      </a:r>
                      <a:endParaRPr lang="en-US" sz="2200" dirty="0"/>
                    </a:p>
                  </a:txBody>
                  <a:tcPr/>
                </a:tc>
                <a:extLst>
                  <a:ext uri="{0D108BD9-81ED-4DB2-BD59-A6C34878D82A}">
                    <a16:rowId xmlns:a16="http://schemas.microsoft.com/office/drawing/2014/main" val="10008"/>
                  </a:ext>
                </a:extLst>
              </a:tr>
              <a:tr h="370840">
                <a:tc>
                  <a:txBody>
                    <a:bodyPr/>
                    <a:lstStyle/>
                    <a:p>
                      <a:r>
                        <a:rPr lang="en-US" altLang="en-US" sz="2200" dirty="0"/>
                        <a:t>UA</a:t>
                      </a:r>
                      <a:endParaRPr lang="en-US" sz="2200" dirty="0"/>
                    </a:p>
                  </a:txBody>
                  <a:tcPr/>
                </a:tc>
                <a:extLst>
                  <a:ext uri="{0D108BD9-81ED-4DB2-BD59-A6C34878D82A}">
                    <a16:rowId xmlns:a16="http://schemas.microsoft.com/office/drawing/2014/main" val="10009"/>
                  </a:ext>
                </a:extLst>
              </a:tr>
              <a:tr h="370840">
                <a:tc>
                  <a:txBody>
                    <a:bodyPr/>
                    <a:lstStyle/>
                    <a:p>
                      <a:r>
                        <a:rPr lang="en-US" altLang="en-US" sz="2200" dirty="0"/>
                        <a:t>UTI</a:t>
                      </a:r>
                      <a:endParaRPr lang="en-US" sz="2200" dirty="0"/>
                    </a:p>
                  </a:txBody>
                  <a:tcPr/>
                </a:tc>
                <a:extLst>
                  <a:ext uri="{0D108BD9-81ED-4DB2-BD59-A6C34878D82A}">
                    <a16:rowId xmlns:a16="http://schemas.microsoft.com/office/drawing/2014/main" val="10010"/>
                  </a:ext>
                </a:extLst>
              </a:tr>
              <a:tr h="370840">
                <a:tc>
                  <a:txBody>
                    <a:bodyPr/>
                    <a:lstStyle/>
                    <a:p>
                      <a:r>
                        <a:rPr lang="en-US" altLang="en-US" sz="2200" dirty="0"/>
                        <a:t>VCUG</a:t>
                      </a:r>
                      <a:endParaRPr lang="en-US" sz="22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1747591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prstClr val="black"/>
                </a:solidFill>
              </a:rPr>
              <a:t>Abbreviations (Slide 6 of 6)</a:t>
            </a:r>
            <a:endParaRPr lang="en-US" dirty="0"/>
          </a:p>
        </p:txBody>
      </p:sp>
      <p:graphicFrame>
        <p:nvGraphicFramePr>
          <p:cNvPr id="7" name="Content Placeholder 6" descr="Group 3 of 3 Abbreviations with corresponding meanings."/>
          <p:cNvGraphicFramePr>
            <a:graphicFrameLocks noGrp="1"/>
          </p:cNvGraphicFramePr>
          <p:nvPr>
            <p:ph idx="1"/>
            <p:extLst>
              <p:ext uri="{D42A27DB-BD31-4B8C-83A1-F6EECF244321}">
                <p14:modId xmlns:p14="http://schemas.microsoft.com/office/powerpoint/2010/main" val="2139418476"/>
              </p:ext>
            </p:extLst>
          </p:nvPr>
        </p:nvGraphicFramePr>
        <p:xfrm>
          <a:off x="947468" y="1143000"/>
          <a:ext cx="7696200" cy="5151120"/>
        </p:xfrm>
        <a:graphic>
          <a:graphicData uri="http://schemas.openxmlformats.org/drawingml/2006/table">
            <a:tbl>
              <a:tblPr firstRow="1" bandRow="1">
                <a:tableStyleId>{C083E6E3-FA7D-4D7B-A595-EF9225AFEA82}</a:tableStyleId>
              </a:tblPr>
              <a:tblGrid>
                <a:gridCol w="2209094">
                  <a:extLst>
                    <a:ext uri="{9D8B030D-6E8A-4147-A177-3AD203B41FA5}">
                      <a16:colId xmlns:a16="http://schemas.microsoft.com/office/drawing/2014/main" val="20000"/>
                    </a:ext>
                  </a:extLst>
                </a:gridCol>
                <a:gridCol w="5487106">
                  <a:extLst>
                    <a:ext uri="{9D8B030D-6E8A-4147-A177-3AD203B41FA5}">
                      <a16:colId xmlns:a16="http://schemas.microsoft.com/office/drawing/2014/main" val="20001"/>
                    </a:ext>
                  </a:extLst>
                </a:gridCol>
              </a:tblGrid>
              <a:tr h="2946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IVP</a:t>
                      </a:r>
                      <a:endParaRPr lang="en-US" sz="2200" dirty="0"/>
                    </a:p>
                  </a:txBody>
                  <a:tcPr/>
                </a:tc>
                <a:tc>
                  <a:txBody>
                    <a:bodyPr/>
                    <a:lstStyle/>
                    <a:p>
                      <a:r>
                        <a:rPr lang="en-US" altLang="en-US" sz="2000" dirty="0"/>
                        <a:t>Intravenous </a:t>
                      </a:r>
                      <a:r>
                        <a:rPr lang="en-US" altLang="en-US" sz="2000" dirty="0" err="1"/>
                        <a:t>pyelogram</a:t>
                      </a:r>
                      <a:endParaRPr lang="en-US" sz="2200" dirty="0"/>
                    </a:p>
                  </a:txBody>
                  <a:tcPr/>
                </a:tc>
                <a:extLst>
                  <a:ext uri="{0D108BD9-81ED-4DB2-BD59-A6C34878D82A}">
                    <a16:rowId xmlns:a16="http://schemas.microsoft.com/office/drawing/2014/main" val="10001"/>
                  </a:ext>
                </a:extLst>
              </a:tr>
              <a:tr h="370840">
                <a:tc>
                  <a:txBody>
                    <a:bodyPr/>
                    <a:lstStyle/>
                    <a:p>
                      <a:r>
                        <a:rPr lang="en-US" altLang="en-US" sz="2200" dirty="0"/>
                        <a:t>K</a:t>
                      </a:r>
                      <a:r>
                        <a:rPr lang="en-US" altLang="en-US" sz="2200" baseline="30000" dirty="0"/>
                        <a:t>+</a:t>
                      </a:r>
                      <a:endParaRPr lang="en-US" sz="2200" dirty="0"/>
                    </a:p>
                  </a:txBody>
                  <a:tcPr/>
                </a:tc>
                <a:tc>
                  <a:txBody>
                    <a:bodyPr/>
                    <a:lstStyle/>
                    <a:p>
                      <a:r>
                        <a:rPr lang="en-US" altLang="en-US" sz="2000" dirty="0"/>
                        <a:t>Potassium, an electrolyte</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KUB</a:t>
                      </a:r>
                      <a:endParaRPr lang="en-US" sz="2200" dirty="0"/>
                    </a:p>
                  </a:txBody>
                  <a:tcPr/>
                </a:tc>
                <a:tc>
                  <a:txBody>
                    <a:bodyPr/>
                    <a:lstStyle/>
                    <a:p>
                      <a:r>
                        <a:rPr lang="en-US" altLang="en-US" sz="2000" dirty="0"/>
                        <a:t>Kidney ureter and bladder</a:t>
                      </a:r>
                      <a:endParaRPr lang="en-US" sz="2200" dirty="0"/>
                    </a:p>
                  </a:txBody>
                  <a:tcPr/>
                </a:tc>
                <a:extLst>
                  <a:ext uri="{0D108BD9-81ED-4DB2-BD59-A6C34878D82A}">
                    <a16:rowId xmlns:a16="http://schemas.microsoft.com/office/drawing/2014/main" val="10003"/>
                  </a:ext>
                </a:extLst>
              </a:tr>
              <a:tr h="370840">
                <a:tc>
                  <a:txBody>
                    <a:bodyPr/>
                    <a:lstStyle/>
                    <a:p>
                      <a:r>
                        <a:rPr lang="en-US" altLang="en-US" sz="2200" dirty="0"/>
                        <a:t>Na</a:t>
                      </a:r>
                      <a:r>
                        <a:rPr lang="en-US" altLang="en-US" sz="2200" baseline="30000" dirty="0"/>
                        <a:t>+</a:t>
                      </a:r>
                      <a:endParaRPr lang="en-US" sz="2200" dirty="0"/>
                    </a:p>
                  </a:txBody>
                  <a:tcPr/>
                </a:tc>
                <a:tc>
                  <a:txBody>
                    <a:bodyPr/>
                    <a:lstStyle/>
                    <a:p>
                      <a:r>
                        <a:rPr lang="en-US" altLang="en-US" sz="2000" dirty="0"/>
                        <a:t>Sodium, an electrolyte</a:t>
                      </a:r>
                      <a:endParaRPr lang="en-US" sz="2200" dirty="0"/>
                    </a:p>
                  </a:txBody>
                  <a:tcPr/>
                </a:tc>
                <a:extLst>
                  <a:ext uri="{0D108BD9-81ED-4DB2-BD59-A6C34878D82A}">
                    <a16:rowId xmlns:a16="http://schemas.microsoft.com/office/drawing/2014/main" val="10004"/>
                  </a:ext>
                </a:extLst>
              </a:tr>
              <a:tr h="370840">
                <a:tc>
                  <a:txBody>
                    <a:bodyPr/>
                    <a:lstStyle/>
                    <a:p>
                      <a:r>
                        <a:rPr lang="en-US" altLang="en-US" sz="2200" dirty="0"/>
                        <a:t>PD</a:t>
                      </a:r>
                      <a:endParaRPr lang="en-US" sz="2200" dirty="0"/>
                    </a:p>
                  </a:txBody>
                  <a:tcPr/>
                </a:tc>
                <a:tc>
                  <a:txBody>
                    <a:bodyPr/>
                    <a:lstStyle/>
                    <a:p>
                      <a:r>
                        <a:rPr lang="en-US" altLang="en-US" sz="2000" dirty="0"/>
                        <a:t>Peritoneal dialysis</a:t>
                      </a:r>
                      <a:endParaRPr lang="en-US" sz="2200" dirty="0"/>
                    </a:p>
                  </a:txBody>
                  <a:tcPr/>
                </a:tc>
                <a:extLst>
                  <a:ext uri="{0D108BD9-81ED-4DB2-BD59-A6C34878D82A}">
                    <a16:rowId xmlns:a16="http://schemas.microsoft.com/office/drawing/2014/main" val="10005"/>
                  </a:ext>
                </a:extLst>
              </a:tr>
              <a:tr h="370840">
                <a:tc>
                  <a:txBody>
                    <a:bodyPr/>
                    <a:lstStyle/>
                    <a:p>
                      <a:r>
                        <a:rPr lang="en-US" altLang="en-US" sz="2200" dirty="0"/>
                        <a:t>pH</a:t>
                      </a:r>
                      <a:endParaRPr lang="en-US" sz="2200" dirty="0"/>
                    </a:p>
                  </a:txBody>
                  <a:tcPr/>
                </a:tc>
                <a:tc>
                  <a:txBody>
                    <a:bodyPr/>
                    <a:lstStyle/>
                    <a:p>
                      <a:r>
                        <a:rPr lang="en-US" altLang="en-US" sz="2000" dirty="0"/>
                        <a:t>Potential hydrogen; degree of acidity or alkalinity</a:t>
                      </a:r>
                      <a:endParaRPr lang="en-US" sz="2200" dirty="0"/>
                    </a:p>
                  </a:txBody>
                  <a:tcPr/>
                </a:tc>
                <a:extLst>
                  <a:ext uri="{0D108BD9-81ED-4DB2-BD59-A6C34878D82A}">
                    <a16:rowId xmlns:a16="http://schemas.microsoft.com/office/drawing/2014/main" val="10006"/>
                  </a:ext>
                </a:extLst>
              </a:tr>
              <a:tr h="370840">
                <a:tc>
                  <a:txBody>
                    <a:bodyPr/>
                    <a:lstStyle/>
                    <a:p>
                      <a:r>
                        <a:rPr lang="en-US" altLang="en-US" sz="2200" dirty="0"/>
                        <a:t>PKD </a:t>
                      </a:r>
                      <a:endParaRPr lang="en-US" sz="2200" dirty="0"/>
                    </a:p>
                  </a:txBody>
                  <a:tcPr/>
                </a:tc>
                <a:tc>
                  <a:txBody>
                    <a:bodyPr/>
                    <a:lstStyle/>
                    <a:p>
                      <a:r>
                        <a:rPr lang="en-US" altLang="en-US" sz="2000" dirty="0"/>
                        <a:t>Phenylketonuria</a:t>
                      </a:r>
                      <a:endParaRPr lang="en-US" sz="2200" dirty="0"/>
                    </a:p>
                  </a:txBody>
                  <a:tcPr/>
                </a:tc>
                <a:extLst>
                  <a:ext uri="{0D108BD9-81ED-4DB2-BD59-A6C34878D82A}">
                    <a16:rowId xmlns:a16="http://schemas.microsoft.com/office/drawing/2014/main" val="10007"/>
                  </a:ext>
                </a:extLst>
              </a:tr>
              <a:tr h="370840">
                <a:tc>
                  <a:txBody>
                    <a:bodyPr/>
                    <a:lstStyle/>
                    <a:p>
                      <a:r>
                        <a:rPr lang="en-US" altLang="en-US" sz="2200" dirty="0" err="1"/>
                        <a:t>sp</a:t>
                      </a:r>
                      <a:r>
                        <a:rPr lang="en-US" altLang="en-US" sz="2200" dirty="0"/>
                        <a:t> gr</a:t>
                      </a:r>
                      <a:endParaRPr lang="en-US" sz="2200" dirty="0"/>
                    </a:p>
                  </a:txBody>
                  <a:tcPr/>
                </a:tc>
                <a:tc>
                  <a:txBody>
                    <a:bodyPr/>
                    <a:lstStyle/>
                    <a:p>
                      <a:r>
                        <a:rPr lang="en-US" altLang="en-US" sz="2000" dirty="0"/>
                        <a:t>Specific gravity</a:t>
                      </a:r>
                      <a:endParaRPr lang="en-US" sz="2200" dirty="0"/>
                    </a:p>
                  </a:txBody>
                  <a:tcPr/>
                </a:tc>
                <a:extLst>
                  <a:ext uri="{0D108BD9-81ED-4DB2-BD59-A6C34878D82A}">
                    <a16:rowId xmlns:a16="http://schemas.microsoft.com/office/drawing/2014/main" val="10008"/>
                  </a:ext>
                </a:extLst>
              </a:tr>
              <a:tr h="370840">
                <a:tc>
                  <a:txBody>
                    <a:bodyPr/>
                    <a:lstStyle/>
                    <a:p>
                      <a:r>
                        <a:rPr lang="en-US" altLang="en-US" sz="2200" dirty="0"/>
                        <a:t>UA</a:t>
                      </a:r>
                      <a:endParaRPr lang="en-US" sz="2200" dirty="0"/>
                    </a:p>
                  </a:txBody>
                  <a:tcPr/>
                </a:tc>
                <a:tc>
                  <a:txBody>
                    <a:bodyPr/>
                    <a:lstStyle/>
                    <a:p>
                      <a:r>
                        <a:rPr lang="en-US" altLang="en-US" sz="2000" dirty="0"/>
                        <a:t>Urinalysis</a:t>
                      </a:r>
                      <a:endParaRPr lang="en-US" sz="2200" dirty="0"/>
                    </a:p>
                  </a:txBody>
                  <a:tcPr/>
                </a:tc>
                <a:extLst>
                  <a:ext uri="{0D108BD9-81ED-4DB2-BD59-A6C34878D82A}">
                    <a16:rowId xmlns:a16="http://schemas.microsoft.com/office/drawing/2014/main" val="10009"/>
                  </a:ext>
                </a:extLst>
              </a:tr>
              <a:tr h="370840">
                <a:tc>
                  <a:txBody>
                    <a:bodyPr/>
                    <a:lstStyle/>
                    <a:p>
                      <a:r>
                        <a:rPr lang="en-US" altLang="en-US" sz="2200" dirty="0"/>
                        <a:t>UTI</a:t>
                      </a:r>
                      <a:endParaRPr lang="en-US" sz="2200" dirty="0"/>
                    </a:p>
                  </a:txBody>
                  <a:tcPr/>
                </a:tc>
                <a:tc>
                  <a:txBody>
                    <a:bodyPr/>
                    <a:lstStyle/>
                    <a:p>
                      <a:r>
                        <a:rPr lang="en-US" altLang="en-US" sz="2000" dirty="0"/>
                        <a:t>Urinary tract infection</a:t>
                      </a:r>
                      <a:endParaRPr lang="en-US" sz="2200" dirty="0"/>
                    </a:p>
                  </a:txBody>
                  <a:tcPr/>
                </a:tc>
                <a:extLst>
                  <a:ext uri="{0D108BD9-81ED-4DB2-BD59-A6C34878D82A}">
                    <a16:rowId xmlns:a16="http://schemas.microsoft.com/office/drawing/2014/main" val="10010"/>
                  </a:ext>
                </a:extLst>
              </a:tr>
              <a:tr h="370840">
                <a:tc>
                  <a:txBody>
                    <a:bodyPr/>
                    <a:lstStyle/>
                    <a:p>
                      <a:r>
                        <a:rPr lang="en-US" altLang="en-US" sz="2200" dirty="0"/>
                        <a:t>VCUG</a:t>
                      </a:r>
                      <a:endParaRPr lang="en-US" sz="2200" dirty="0"/>
                    </a:p>
                  </a:txBody>
                  <a:tcPr/>
                </a:tc>
                <a:tc>
                  <a:txBody>
                    <a:bodyPr/>
                    <a:lstStyle/>
                    <a:p>
                      <a:r>
                        <a:rPr lang="en-US" altLang="en-US" sz="2000" dirty="0"/>
                        <a:t>Voiding </a:t>
                      </a:r>
                      <a:r>
                        <a:rPr lang="en-US" altLang="en-US" sz="2000" dirty="0" err="1"/>
                        <a:t>cystourethrogram</a:t>
                      </a:r>
                      <a:endParaRPr lang="en-US" sz="22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2016735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661416" y="344424"/>
            <a:ext cx="7772400" cy="1219200"/>
          </a:xfrm>
        </p:spPr>
        <p:txBody>
          <a:bodyPr/>
          <a:lstStyle/>
          <a:p>
            <a:pPr eaLnBrk="1" hangingPunct="1"/>
            <a:r>
              <a:rPr lang="en-US" altLang="en-US" dirty="0"/>
              <a:t>      </a:t>
            </a:r>
            <a:r>
              <a:rPr lang="en-US" altLang="en-US" sz="5400" b="1" dirty="0"/>
              <a:t>QUICK QUIZ </a:t>
            </a:r>
            <a:r>
              <a:rPr lang="en-US" altLang="en-US" dirty="0"/>
              <a:t>(Slide 5 of 8)</a:t>
            </a:r>
            <a:endParaRPr lang="en-US" altLang="en-US" sz="4800" dirty="0"/>
          </a:p>
        </p:txBody>
      </p:sp>
      <p:sp>
        <p:nvSpPr>
          <p:cNvPr id="98307" name="Rectangle 3"/>
          <p:cNvSpPr>
            <a:spLocks noGrp="1" noChangeArrowheads="1"/>
          </p:cNvSpPr>
          <p:nvPr>
            <p:ph idx="1"/>
          </p:nvPr>
        </p:nvSpPr>
        <p:spPr>
          <a:xfrm>
            <a:off x="1080516" y="1828800"/>
            <a:ext cx="6934200" cy="4495800"/>
          </a:xfrm>
        </p:spPr>
        <p:txBody>
          <a:bodyPr/>
          <a:lstStyle/>
          <a:p>
            <a:pPr marL="533400" indent="-533400" eaLnBrk="1" hangingPunct="1">
              <a:lnSpc>
                <a:spcPct val="80000"/>
              </a:lnSpc>
              <a:buFont typeface="Arial" panose="020B0604020202020204" pitchFamily="34" charset="0"/>
              <a:buAutoNum type="arabicPeriod" startAt="5"/>
            </a:pPr>
            <a:r>
              <a:rPr lang="en-US" altLang="en-US" b="1" dirty="0"/>
              <a:t>The abbreviation RP is associated with which of the following?</a:t>
            </a:r>
            <a:endParaRPr lang="en-US" altLang="en-US" sz="2000" b="1" dirty="0"/>
          </a:p>
          <a:p>
            <a:pPr marL="533400" indent="-533400" eaLnBrk="1" hangingPunct="1">
              <a:lnSpc>
                <a:spcPct val="80000"/>
              </a:lnSpc>
              <a:buFont typeface="Webdings" panose="05030102010509060703" pitchFamily="18" charset="2"/>
              <a:buAutoNum type="arabicPeriod" startAt="5"/>
            </a:pPr>
            <a:endParaRPr lang="en-US" altLang="en-US" sz="2000" dirty="0"/>
          </a:p>
          <a:p>
            <a:pPr marL="533400" indent="-533400" eaLnBrk="1" hangingPunct="1">
              <a:lnSpc>
                <a:spcPct val="65000"/>
              </a:lnSpc>
              <a:buFont typeface="Wingdings 2" panose="05020102010507070707" pitchFamily="18" charset="2"/>
              <a:buNone/>
            </a:pPr>
            <a:r>
              <a:rPr lang="en-US" altLang="en-US" sz="1600" dirty="0"/>
              <a:t>	</a:t>
            </a:r>
            <a:r>
              <a:rPr lang="en-US" altLang="en-US" sz="2800" dirty="0"/>
              <a:t>A. Fluid is injected into the peritoneal </a:t>
            </a:r>
          </a:p>
          <a:p>
            <a:pPr marL="533400" indent="-533400" eaLnBrk="1" hangingPunct="1">
              <a:lnSpc>
                <a:spcPct val="65000"/>
              </a:lnSpc>
              <a:buFont typeface="Wingdings 2" panose="05020102010507070707" pitchFamily="18" charset="2"/>
              <a:buNone/>
            </a:pPr>
            <a:r>
              <a:rPr lang="en-US" altLang="en-US" sz="2800" dirty="0"/>
              <a:t>		cavity and then drained out.</a:t>
            </a:r>
          </a:p>
          <a:p>
            <a:pPr marL="533400" indent="-533400" eaLnBrk="1" hangingPunct="1">
              <a:lnSpc>
                <a:spcPct val="65000"/>
              </a:lnSpc>
              <a:buFont typeface="Wingdings 2" panose="05020102010507070707" pitchFamily="18" charset="2"/>
              <a:buNone/>
            </a:pPr>
            <a:r>
              <a:rPr lang="en-US" altLang="en-US" sz="2800" dirty="0"/>
              <a:t>	B. Contrast is injected into the urinary  </a:t>
            </a:r>
          </a:p>
          <a:p>
            <a:pPr marL="533400" indent="-533400" eaLnBrk="1" hangingPunct="1">
              <a:lnSpc>
                <a:spcPct val="65000"/>
              </a:lnSpc>
              <a:buFont typeface="Wingdings 2" panose="05020102010507070707" pitchFamily="18" charset="2"/>
              <a:buNone/>
            </a:pPr>
            <a:r>
              <a:rPr lang="en-US" altLang="en-US" sz="2800" dirty="0"/>
              <a:t>           bladder and ureters, and x-rays are      </a:t>
            </a:r>
          </a:p>
          <a:p>
            <a:pPr marL="533400" indent="-533400" eaLnBrk="1" hangingPunct="1">
              <a:lnSpc>
                <a:spcPct val="65000"/>
              </a:lnSpc>
              <a:buFont typeface="Wingdings 2" panose="05020102010507070707" pitchFamily="18" charset="2"/>
              <a:buNone/>
            </a:pPr>
            <a:r>
              <a:rPr lang="en-US" altLang="en-US" sz="2800" dirty="0"/>
              <a:t>           taken of the urinary tract.</a:t>
            </a:r>
          </a:p>
          <a:p>
            <a:pPr marL="533400" indent="-533400" eaLnBrk="1" hangingPunct="1">
              <a:lnSpc>
                <a:spcPct val="65000"/>
              </a:lnSpc>
              <a:buFont typeface="Wingdings 2" panose="05020102010507070707" pitchFamily="18" charset="2"/>
              <a:buNone/>
            </a:pPr>
            <a:r>
              <a:rPr lang="en-US" altLang="en-US" sz="2800" dirty="0"/>
              <a:t>	C. Nitrogenous wastes are removed from       </a:t>
            </a:r>
          </a:p>
          <a:p>
            <a:pPr marL="533400" indent="-533400" eaLnBrk="1" hangingPunct="1">
              <a:lnSpc>
                <a:spcPct val="65000"/>
              </a:lnSpc>
              <a:buFont typeface="Wingdings 2" panose="05020102010507070707" pitchFamily="18" charset="2"/>
              <a:buNone/>
            </a:pPr>
            <a:r>
              <a:rPr lang="en-US" altLang="en-US" sz="2800" dirty="0"/>
              <a:t>           the patient’</a:t>
            </a:r>
            <a:r>
              <a:rPr lang="en-US" altLang="ja-JP" sz="2800" dirty="0"/>
              <a:t>s blood.</a:t>
            </a:r>
          </a:p>
          <a:p>
            <a:pPr marL="533400" indent="-533400" eaLnBrk="1" hangingPunct="1">
              <a:lnSpc>
                <a:spcPct val="80000"/>
              </a:lnSpc>
              <a:buFont typeface="Wingdings 2" panose="05020102010507070707" pitchFamily="18" charset="2"/>
              <a:buNone/>
            </a:pPr>
            <a:r>
              <a:rPr lang="en-US" altLang="en-US" sz="2800" dirty="0"/>
              <a:t>	D. An electrolyte is secreted by renal  	tubules.</a:t>
            </a:r>
            <a:r>
              <a:rPr lang="en-US" altLang="en-US" sz="1800" dirty="0"/>
              <a:t>	</a:t>
            </a:r>
          </a:p>
        </p:txBody>
      </p:sp>
    </p:spTree>
    <p:extLst>
      <p:ext uri="{BB962C8B-B14F-4D97-AF65-F5344CB8AC3E}">
        <p14:creationId xmlns:p14="http://schemas.microsoft.com/office/powerpoint/2010/main" val="2424151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t>Review Sheet:</a:t>
            </a:r>
            <a:br>
              <a:rPr lang="en-US" b="1" dirty="0"/>
            </a:br>
            <a:r>
              <a:rPr lang="en-US" sz="3600" b="1" dirty="0"/>
              <a:t>Combining Forms (Slide 1 of 10)</a:t>
            </a:r>
            <a:br>
              <a:rPr lang="en-US" sz="3600" b="1" dirty="0"/>
            </a:br>
            <a:endParaRPr lang="en-US" sz="3200" b="1" dirty="0"/>
          </a:p>
        </p:txBody>
      </p:sp>
      <p:graphicFrame>
        <p:nvGraphicFramePr>
          <p:cNvPr id="7" name="Content Placeholder 6" descr="Group 1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823528129"/>
              </p:ext>
            </p:extLst>
          </p:nvPr>
        </p:nvGraphicFramePr>
        <p:xfrm>
          <a:off x="3200400" y="2514600"/>
          <a:ext cx="27432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albumino</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angi</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azot</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bacteri</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cali</a:t>
                      </a:r>
                      <a:r>
                        <a:rPr lang="en-US" altLang="en-US" sz="2400" b="1" dirty="0"/>
                        <a:t>/o, </a:t>
                      </a:r>
                      <a:r>
                        <a:rPr lang="en-US" altLang="en-US" sz="2400" b="1" dirty="0" err="1"/>
                        <a:t>calic</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cyst/o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35254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2 of 10)</a:t>
            </a:r>
            <a:br>
              <a:rPr lang="en-US" sz="3600" b="1" dirty="0">
                <a:solidFill>
                  <a:prstClr val="black"/>
                </a:solidFill>
              </a:rPr>
            </a:br>
            <a:endParaRPr lang="en-US" sz="4000" dirty="0"/>
          </a:p>
        </p:txBody>
      </p:sp>
      <p:graphicFrame>
        <p:nvGraphicFramePr>
          <p:cNvPr id="7" name="Content Placeholder 6" descr="Group 1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047526494"/>
              </p:ext>
            </p:extLst>
          </p:nvPr>
        </p:nvGraphicFramePr>
        <p:xfrm>
          <a:off x="1143000" y="2438400"/>
          <a:ext cx="68580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albumino</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albumin (protein)</a:t>
                      </a:r>
                    </a:p>
                  </a:txBody>
                  <a:tcPr/>
                </a:tc>
                <a:extLst>
                  <a:ext uri="{0D108BD9-81ED-4DB2-BD59-A6C34878D82A}">
                    <a16:rowId xmlns:a16="http://schemas.microsoft.com/office/drawing/2014/main" val="10001"/>
                  </a:ext>
                </a:extLst>
              </a:tr>
              <a:tr h="370840">
                <a:tc>
                  <a:txBody>
                    <a:bodyPr/>
                    <a:lstStyle/>
                    <a:p>
                      <a:r>
                        <a:rPr lang="en-US" altLang="en-US" sz="2400" b="1" dirty="0" err="1"/>
                        <a:t>angi</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vessel (blood)</a:t>
                      </a:r>
                    </a:p>
                  </a:txBody>
                  <a:tcPr/>
                </a:tc>
                <a:extLst>
                  <a:ext uri="{0D108BD9-81ED-4DB2-BD59-A6C34878D82A}">
                    <a16:rowId xmlns:a16="http://schemas.microsoft.com/office/drawing/2014/main" val="10002"/>
                  </a:ext>
                </a:extLst>
              </a:tr>
              <a:tr h="370840">
                <a:tc>
                  <a:txBody>
                    <a:bodyPr/>
                    <a:lstStyle/>
                    <a:p>
                      <a:r>
                        <a:rPr lang="en-US" altLang="en-US" sz="2400" b="1" dirty="0" err="1"/>
                        <a:t>azot</a:t>
                      </a:r>
                      <a:r>
                        <a:rPr lang="en-US" altLang="en-US" sz="2400" b="1" dirty="0"/>
                        <a:t>/o</a:t>
                      </a:r>
                      <a:endParaRPr lang="en-US" sz="2400" dirty="0"/>
                    </a:p>
                  </a:txBody>
                  <a:tcPr/>
                </a:tc>
                <a:tc>
                  <a:txBody>
                    <a:bodyPr/>
                    <a:lstStyle/>
                    <a:p>
                      <a:r>
                        <a:rPr lang="en-US" altLang="en-US" sz="2400" dirty="0"/>
                        <a:t>urea; nitrogen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bacteri</a:t>
                      </a:r>
                      <a:r>
                        <a:rPr lang="en-US" altLang="en-US" sz="2400" b="1" dirty="0"/>
                        <a:t>/o</a:t>
                      </a:r>
                      <a:endParaRPr lang="en-US" sz="2400" dirty="0"/>
                    </a:p>
                  </a:txBody>
                  <a:tcPr/>
                </a:tc>
                <a:tc>
                  <a:txBody>
                    <a:bodyPr/>
                    <a:lstStyle/>
                    <a:p>
                      <a:r>
                        <a:rPr lang="en-US" altLang="en-US" sz="2400" dirty="0"/>
                        <a:t>bacteria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cali</a:t>
                      </a:r>
                      <a:r>
                        <a:rPr lang="en-US" altLang="en-US" sz="2400" b="1" dirty="0"/>
                        <a:t>/o, </a:t>
                      </a:r>
                      <a:r>
                        <a:rPr lang="en-US" altLang="en-US" sz="2400" b="1" dirty="0" err="1"/>
                        <a:t>calic</a:t>
                      </a:r>
                      <a:r>
                        <a:rPr lang="en-US" altLang="en-US" sz="2400" b="1" dirty="0"/>
                        <a:t>/o</a:t>
                      </a:r>
                      <a:endParaRPr lang="en-US" sz="2400" dirty="0"/>
                    </a:p>
                  </a:txBody>
                  <a:tcPr/>
                </a:tc>
                <a:tc>
                  <a:txBody>
                    <a:bodyPr/>
                    <a:lstStyle/>
                    <a:p>
                      <a:r>
                        <a:rPr lang="en-US" altLang="en-US" sz="2400" dirty="0"/>
                        <a:t>calyx (calix); cup-shaped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cyst/o</a:t>
                      </a:r>
                      <a:endParaRPr lang="en-US" sz="2400" dirty="0"/>
                    </a:p>
                  </a:txBody>
                  <a:tcPr/>
                </a:tc>
                <a:tc>
                  <a:txBody>
                    <a:bodyPr/>
                    <a:lstStyle/>
                    <a:p>
                      <a:r>
                        <a:rPr lang="en-US" altLang="en-US" sz="2400" dirty="0"/>
                        <a:t>urinary bladder</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82875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3 of 10)</a:t>
            </a:r>
            <a:br>
              <a:rPr lang="en-US" sz="3600" b="1" dirty="0">
                <a:solidFill>
                  <a:prstClr val="black"/>
                </a:solidFill>
              </a:rPr>
            </a:br>
            <a:endParaRPr lang="en-US" sz="4000" dirty="0"/>
          </a:p>
        </p:txBody>
      </p:sp>
      <p:graphicFrame>
        <p:nvGraphicFramePr>
          <p:cNvPr id="7" name="Content Placeholder 6" descr="Group 2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761535526"/>
              </p:ext>
            </p:extLst>
          </p:nvPr>
        </p:nvGraphicFramePr>
        <p:xfrm>
          <a:off x="3200400" y="2209800"/>
          <a:ext cx="2743200" cy="36576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dips/o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glomerul</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glycos</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hydr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isch</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kal</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ket</a:t>
                      </a:r>
                      <a:r>
                        <a:rPr lang="en-US" altLang="en-US" sz="2400" b="1" dirty="0"/>
                        <a:t>/o; </a:t>
                      </a:r>
                      <a:r>
                        <a:rPr lang="en-US" altLang="en-US" sz="2400" b="1" dirty="0" err="1"/>
                        <a:t>keton</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999762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6858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4 of 10)</a:t>
            </a:r>
            <a:br>
              <a:rPr lang="en-US" sz="3600" b="1" dirty="0">
                <a:solidFill>
                  <a:prstClr val="black"/>
                </a:solidFill>
              </a:rPr>
            </a:br>
            <a:endParaRPr lang="en-US" sz="4000" dirty="0"/>
          </a:p>
        </p:txBody>
      </p:sp>
      <p:graphicFrame>
        <p:nvGraphicFramePr>
          <p:cNvPr id="7" name="Content Placeholder 6" descr="Group 2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915839272"/>
              </p:ext>
            </p:extLst>
          </p:nvPr>
        </p:nvGraphicFramePr>
        <p:xfrm>
          <a:off x="1219200" y="2209800"/>
          <a:ext cx="6705600" cy="3657600"/>
        </p:xfrm>
        <a:graphic>
          <a:graphicData uri="http://schemas.openxmlformats.org/drawingml/2006/table">
            <a:tbl>
              <a:tblPr firstRow="1" bandRow="1">
                <a:tableStyleId>{21E4AEA4-8DFA-4A89-87EB-49C32662AFE0}</a:tableStyleId>
              </a:tblPr>
              <a:tblGrid>
                <a:gridCol w="28956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dips/o</a:t>
                      </a:r>
                      <a:endParaRPr lang="en-US" sz="2400" dirty="0"/>
                    </a:p>
                  </a:txBody>
                  <a:tcPr/>
                </a:tc>
                <a:tc>
                  <a:txBody>
                    <a:bodyPr/>
                    <a:lstStyle/>
                    <a:p>
                      <a:r>
                        <a:rPr lang="en-US" altLang="en-US" sz="2400" dirty="0"/>
                        <a:t>thirst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glomerul</a:t>
                      </a:r>
                      <a:r>
                        <a:rPr lang="en-US" altLang="en-US" sz="2400" b="1" dirty="0"/>
                        <a:t>/o</a:t>
                      </a:r>
                      <a:endParaRPr lang="en-US" sz="2400" dirty="0"/>
                    </a:p>
                  </a:txBody>
                  <a:tcPr/>
                </a:tc>
                <a:tc>
                  <a:txBody>
                    <a:bodyPr/>
                    <a:lstStyle/>
                    <a:p>
                      <a:r>
                        <a:rPr lang="en-US" altLang="en-US" sz="2400" dirty="0"/>
                        <a:t>glomerulus</a:t>
                      </a:r>
                      <a:r>
                        <a:rPr lang="en-US" altLang="en-US" sz="2400" b="1" dirty="0"/>
                        <a:t>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glycos</a:t>
                      </a:r>
                      <a:r>
                        <a:rPr lang="en-US" altLang="en-US" sz="2400" b="1" dirty="0"/>
                        <a:t>/o</a:t>
                      </a:r>
                      <a:endParaRPr lang="en-US" sz="2400" dirty="0"/>
                    </a:p>
                  </a:txBody>
                  <a:tcPr/>
                </a:tc>
                <a:tc>
                  <a:txBody>
                    <a:bodyPr/>
                    <a:lstStyle/>
                    <a:p>
                      <a:r>
                        <a:rPr lang="en-US" altLang="en-US" sz="2400" dirty="0"/>
                        <a:t>sugar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hydr</a:t>
                      </a:r>
                      <a:r>
                        <a:rPr lang="en-US" altLang="en-US" sz="2400" b="1" dirty="0"/>
                        <a:t>/o</a:t>
                      </a:r>
                      <a:endParaRPr lang="en-US" sz="2400" dirty="0"/>
                    </a:p>
                  </a:txBody>
                  <a:tcPr/>
                </a:tc>
                <a:tc>
                  <a:txBody>
                    <a:bodyPr/>
                    <a:lstStyle/>
                    <a:p>
                      <a:r>
                        <a:rPr lang="en-US" altLang="en-US" sz="2400" dirty="0"/>
                        <a:t>water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isch</a:t>
                      </a:r>
                      <a:r>
                        <a:rPr lang="en-US" altLang="en-US" sz="2400" b="1" dirty="0"/>
                        <a:t>/o</a:t>
                      </a:r>
                      <a:endParaRPr lang="en-US" sz="2400" dirty="0"/>
                    </a:p>
                  </a:txBody>
                  <a:tcPr/>
                </a:tc>
                <a:tc>
                  <a:txBody>
                    <a:bodyPr/>
                    <a:lstStyle/>
                    <a:p>
                      <a:r>
                        <a:rPr lang="en-US" altLang="en-US" sz="2400" dirty="0"/>
                        <a:t>to hold back; back</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kal</a:t>
                      </a:r>
                      <a:r>
                        <a:rPr lang="en-US" altLang="en-US" sz="2400" b="1" dirty="0"/>
                        <a:t>/o</a:t>
                      </a:r>
                      <a:endParaRPr lang="en-US" sz="2400" dirty="0"/>
                    </a:p>
                  </a:txBody>
                  <a:tcPr/>
                </a:tc>
                <a:tc>
                  <a:txBody>
                    <a:bodyPr/>
                    <a:lstStyle/>
                    <a:p>
                      <a:r>
                        <a:rPr lang="en-US" altLang="en-US" sz="2400" dirty="0"/>
                        <a:t>potassium</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ket</a:t>
                      </a:r>
                      <a:r>
                        <a:rPr lang="en-US" altLang="en-US" sz="2400" b="1" dirty="0"/>
                        <a:t>/o; </a:t>
                      </a:r>
                      <a:r>
                        <a:rPr lang="en-US" altLang="en-US" sz="2400" b="1" dirty="0" err="1"/>
                        <a:t>keton</a:t>
                      </a:r>
                      <a:r>
                        <a:rPr lang="en-US" altLang="en-US" sz="2400" b="1" dirty="0"/>
                        <a:t>/o</a:t>
                      </a:r>
                      <a:endParaRPr lang="en-US" sz="2400" dirty="0"/>
                    </a:p>
                  </a:txBody>
                  <a:tcPr/>
                </a:tc>
                <a:tc>
                  <a:txBody>
                    <a:bodyPr/>
                    <a:lstStyle/>
                    <a:p>
                      <a:r>
                        <a:rPr lang="en-US" altLang="en-US" sz="2400" dirty="0"/>
                        <a:t>ketones; acetones</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041280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5 of 10)</a:t>
            </a:r>
            <a:br>
              <a:rPr lang="en-US" sz="3600" b="1" dirty="0">
                <a:solidFill>
                  <a:prstClr val="black"/>
                </a:solidFill>
              </a:rPr>
            </a:br>
            <a:endParaRPr lang="en-US" sz="4000" dirty="0"/>
          </a:p>
        </p:txBody>
      </p:sp>
      <p:graphicFrame>
        <p:nvGraphicFramePr>
          <p:cNvPr id="7" name="Content Placeholder 6" descr="Group 3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258810287"/>
              </p:ext>
            </p:extLst>
          </p:nvPr>
        </p:nvGraphicFramePr>
        <p:xfrm>
          <a:off x="3200400" y="2133600"/>
          <a:ext cx="2743200" cy="36576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lith</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meat/o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natr</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necr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nephr</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noct</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ogli</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100190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6 of 10)</a:t>
            </a:r>
            <a:br>
              <a:rPr lang="en-US" sz="3600" b="1" dirty="0">
                <a:solidFill>
                  <a:prstClr val="black"/>
                </a:solidFill>
              </a:rPr>
            </a:br>
            <a:endParaRPr lang="en-US" sz="4000" dirty="0"/>
          </a:p>
        </p:txBody>
      </p:sp>
      <p:graphicFrame>
        <p:nvGraphicFramePr>
          <p:cNvPr id="7" name="Content Placeholder 6" descr="Group 3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639456851"/>
              </p:ext>
            </p:extLst>
          </p:nvPr>
        </p:nvGraphicFramePr>
        <p:xfrm>
          <a:off x="1210056" y="2362200"/>
          <a:ext cx="6723888" cy="3657600"/>
        </p:xfrm>
        <a:graphic>
          <a:graphicData uri="http://schemas.openxmlformats.org/drawingml/2006/table">
            <a:tbl>
              <a:tblPr firstRow="1" bandRow="1">
                <a:tableStyleId>{21E4AEA4-8DFA-4A89-87EB-49C32662AFE0}</a:tableStyleId>
              </a:tblPr>
              <a:tblGrid>
                <a:gridCol w="2685288">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lith</a:t>
                      </a:r>
                      <a:r>
                        <a:rPr lang="en-US" altLang="en-US" sz="2400" b="1" dirty="0"/>
                        <a:t>/o</a:t>
                      </a:r>
                      <a:endParaRPr lang="en-US" sz="2400" dirty="0"/>
                    </a:p>
                  </a:txBody>
                  <a:tcPr/>
                </a:tc>
                <a:tc>
                  <a:txBody>
                    <a:bodyPr/>
                    <a:lstStyle/>
                    <a:p>
                      <a:r>
                        <a:rPr lang="en-US" altLang="en-US" sz="2400" dirty="0"/>
                        <a:t>stone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meat/o</a:t>
                      </a:r>
                      <a:endParaRPr lang="en-US" sz="2400" dirty="0"/>
                    </a:p>
                  </a:txBody>
                  <a:tcPr/>
                </a:tc>
                <a:tc>
                  <a:txBody>
                    <a:bodyPr/>
                    <a:lstStyle/>
                    <a:p>
                      <a:r>
                        <a:rPr lang="en-US" altLang="en-US" sz="2400" dirty="0"/>
                        <a:t>meatus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natr</a:t>
                      </a:r>
                      <a:r>
                        <a:rPr lang="en-US" altLang="en-US" sz="2400" b="1" dirty="0"/>
                        <a:t>/o</a:t>
                      </a:r>
                      <a:endParaRPr lang="en-US" sz="2400" dirty="0"/>
                    </a:p>
                  </a:txBody>
                  <a:tcPr/>
                </a:tc>
                <a:tc>
                  <a:txBody>
                    <a:bodyPr/>
                    <a:lstStyle/>
                    <a:p>
                      <a:r>
                        <a:rPr lang="en-US" altLang="en-US" sz="2400" dirty="0"/>
                        <a:t>sodium</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necr</a:t>
                      </a:r>
                      <a:r>
                        <a:rPr lang="en-US" altLang="en-US" sz="2400" b="1" dirty="0"/>
                        <a:t>/o</a:t>
                      </a:r>
                      <a:endParaRPr lang="en-US" sz="2400" dirty="0"/>
                    </a:p>
                  </a:txBody>
                  <a:tcPr/>
                </a:tc>
                <a:tc>
                  <a:txBody>
                    <a:bodyPr/>
                    <a:lstStyle/>
                    <a:p>
                      <a:r>
                        <a:rPr lang="en-US" altLang="en-US" sz="2400" dirty="0"/>
                        <a:t>death</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nephr</a:t>
                      </a:r>
                      <a:r>
                        <a:rPr lang="en-US" altLang="en-US" sz="2400" b="1" dirty="0"/>
                        <a:t>/o</a:t>
                      </a:r>
                      <a:endParaRPr lang="en-US" sz="2400" dirty="0"/>
                    </a:p>
                  </a:txBody>
                  <a:tcPr/>
                </a:tc>
                <a:tc>
                  <a:txBody>
                    <a:bodyPr/>
                    <a:lstStyle/>
                    <a:p>
                      <a:r>
                        <a:rPr lang="en-US" altLang="en-US" sz="2400" dirty="0"/>
                        <a:t>kidney</a:t>
                      </a:r>
                      <a:r>
                        <a:rPr lang="en-US" altLang="en-US" sz="2400" b="1" dirty="0"/>
                        <a:t> </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noct</a:t>
                      </a:r>
                      <a:r>
                        <a:rPr lang="en-US" altLang="en-US" sz="2400" b="1" dirty="0"/>
                        <a:t>/o</a:t>
                      </a:r>
                      <a:endParaRPr lang="en-US" sz="2400" dirty="0"/>
                    </a:p>
                  </a:txBody>
                  <a:tcPr/>
                </a:tc>
                <a:tc>
                  <a:txBody>
                    <a:bodyPr/>
                    <a:lstStyle/>
                    <a:p>
                      <a:r>
                        <a:rPr lang="en-US" altLang="en-US" sz="2400" dirty="0"/>
                        <a:t>night</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ogli</a:t>
                      </a:r>
                      <a:r>
                        <a:rPr lang="en-US" altLang="en-US" sz="2400" b="1" dirty="0"/>
                        <a:t>/o</a:t>
                      </a:r>
                      <a:endParaRPr lang="en-US" sz="2400" dirty="0"/>
                    </a:p>
                  </a:txBody>
                  <a:tcPr/>
                </a:tc>
                <a:tc>
                  <a:txBody>
                    <a:bodyPr/>
                    <a:lstStyle/>
                    <a:p>
                      <a:r>
                        <a:rPr lang="en-US" altLang="en-US" sz="2400" dirty="0"/>
                        <a:t>scanty</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756465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7 of 10)</a:t>
            </a:r>
            <a:br>
              <a:rPr lang="en-US" sz="3600" b="1" dirty="0">
                <a:solidFill>
                  <a:prstClr val="black"/>
                </a:solidFill>
              </a:rPr>
            </a:br>
            <a:endParaRPr lang="en-US" sz="4000" dirty="0"/>
          </a:p>
        </p:txBody>
      </p:sp>
      <p:graphicFrame>
        <p:nvGraphicFramePr>
          <p:cNvPr id="7" name="Content Placeholder 6" descr="Group 4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903536408"/>
              </p:ext>
            </p:extLst>
          </p:nvPr>
        </p:nvGraphicFramePr>
        <p:xfrm>
          <a:off x="3200400" y="2362200"/>
          <a:ext cx="2743200" cy="27432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py</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pyel</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ren</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trigon/o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ur</a:t>
                      </a:r>
                      <a:r>
                        <a:rPr lang="en-US" altLang="en-US" sz="2400" b="1" dirty="0"/>
                        <a:t>/o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062079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10287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8 of 10)</a:t>
            </a:r>
            <a:br>
              <a:rPr lang="en-US" sz="3600" b="1" dirty="0">
                <a:solidFill>
                  <a:prstClr val="black"/>
                </a:solidFill>
              </a:rPr>
            </a:br>
            <a:endParaRPr lang="en-US" sz="4000" dirty="0"/>
          </a:p>
        </p:txBody>
      </p:sp>
      <p:graphicFrame>
        <p:nvGraphicFramePr>
          <p:cNvPr id="7" name="Content Placeholder 6" descr="Group 4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769618391"/>
              </p:ext>
            </p:extLst>
          </p:nvPr>
        </p:nvGraphicFramePr>
        <p:xfrm>
          <a:off x="876300" y="2514600"/>
          <a:ext cx="7086600" cy="27432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py</a:t>
                      </a:r>
                      <a:r>
                        <a:rPr lang="en-US" altLang="en-US" sz="2400" b="1" dirty="0"/>
                        <a:t>/o</a:t>
                      </a:r>
                      <a:endParaRPr lang="en-US" sz="2400" dirty="0"/>
                    </a:p>
                  </a:txBody>
                  <a:tcPr/>
                </a:tc>
                <a:tc>
                  <a:txBody>
                    <a:bodyPr/>
                    <a:lstStyle/>
                    <a:p>
                      <a:r>
                        <a:rPr lang="en-US" altLang="en-US" sz="2400" dirty="0"/>
                        <a:t>pus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pyel</a:t>
                      </a:r>
                      <a:r>
                        <a:rPr lang="en-US" altLang="en-US" sz="2400" b="1" dirty="0"/>
                        <a:t>/o</a:t>
                      </a:r>
                      <a:endParaRPr lang="en-US" sz="2400" dirty="0"/>
                    </a:p>
                  </a:txBody>
                  <a:tcPr/>
                </a:tc>
                <a:tc>
                  <a:txBody>
                    <a:bodyPr/>
                    <a:lstStyle/>
                    <a:p>
                      <a:r>
                        <a:rPr lang="en-US" altLang="en-US" sz="2400" dirty="0"/>
                        <a:t>renal pelvis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ren</a:t>
                      </a:r>
                      <a:r>
                        <a:rPr lang="en-US" altLang="en-US" sz="2400" b="1" dirty="0"/>
                        <a:t>/o</a:t>
                      </a:r>
                      <a:endParaRPr lang="en-US" sz="2400" dirty="0"/>
                    </a:p>
                  </a:txBody>
                  <a:tcPr/>
                </a:tc>
                <a:tc>
                  <a:txBody>
                    <a:bodyPr/>
                    <a:lstStyle/>
                    <a:p>
                      <a:r>
                        <a:rPr lang="en-US" altLang="en-US" sz="2400" dirty="0"/>
                        <a:t>kidney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trigon/o</a:t>
                      </a:r>
                      <a:endParaRPr lang="en-US" sz="2400" dirty="0"/>
                    </a:p>
                  </a:txBody>
                  <a:tcPr/>
                </a:tc>
                <a:tc>
                  <a:txBody>
                    <a:bodyPr/>
                    <a:lstStyle/>
                    <a:p>
                      <a:r>
                        <a:rPr lang="en-US" altLang="en-US" sz="2400" dirty="0" err="1"/>
                        <a:t>trigone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ur</a:t>
                      </a:r>
                      <a:r>
                        <a:rPr lang="en-US" altLang="en-US" sz="2400" b="1" dirty="0"/>
                        <a:t>/o</a:t>
                      </a:r>
                      <a:endParaRPr lang="en-US" sz="2400" dirty="0"/>
                    </a:p>
                  </a:txBody>
                  <a:tcPr/>
                </a:tc>
                <a:tc>
                  <a:txBody>
                    <a:bodyPr/>
                    <a:lstStyle/>
                    <a:p>
                      <a:r>
                        <a:rPr lang="en-US" altLang="en-US" sz="2400" dirty="0"/>
                        <a:t>urine; urinary tract</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055813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9 of 10)</a:t>
            </a:r>
            <a:br>
              <a:rPr lang="en-US" sz="3600" b="1" dirty="0">
                <a:solidFill>
                  <a:prstClr val="black"/>
                </a:solidFill>
              </a:rPr>
            </a:br>
            <a:endParaRPr lang="en-US" sz="4000" dirty="0"/>
          </a:p>
        </p:txBody>
      </p:sp>
      <p:graphicFrame>
        <p:nvGraphicFramePr>
          <p:cNvPr id="7" name="Content Placeholder 6" descr="Group 5 of 5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586371601"/>
              </p:ext>
            </p:extLst>
          </p:nvPr>
        </p:nvGraphicFramePr>
        <p:xfrm>
          <a:off x="2971800" y="2667000"/>
          <a:ext cx="2743200" cy="22860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ureter/o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urethr</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urin</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vesic</a:t>
                      </a:r>
                      <a:r>
                        <a:rPr lang="en-US" altLang="en-US" sz="2400" b="1" dirty="0"/>
                        <a:t>/o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909244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Combining Forms (Slide 10 of 10)</a:t>
            </a:r>
            <a:br>
              <a:rPr lang="en-US" sz="3600" b="1" dirty="0">
                <a:solidFill>
                  <a:prstClr val="black"/>
                </a:solidFill>
              </a:rPr>
            </a:br>
            <a:endParaRPr lang="en-US" sz="4000" dirty="0"/>
          </a:p>
        </p:txBody>
      </p:sp>
      <p:graphicFrame>
        <p:nvGraphicFramePr>
          <p:cNvPr id="7" name="Content Placeholder 6" descr="Group 5 of 5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4050885021"/>
              </p:ext>
            </p:extLst>
          </p:nvPr>
        </p:nvGraphicFramePr>
        <p:xfrm>
          <a:off x="1112520" y="2743200"/>
          <a:ext cx="6918960" cy="2286000"/>
        </p:xfrm>
        <a:graphic>
          <a:graphicData uri="http://schemas.openxmlformats.org/drawingml/2006/table">
            <a:tbl>
              <a:tblPr firstRow="1" bandRow="1">
                <a:tableStyleId>{21E4AEA4-8DFA-4A89-87EB-49C32662AFE0}</a:tableStyleId>
              </a:tblPr>
              <a:tblGrid>
                <a:gridCol w="272796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ureter/o</a:t>
                      </a:r>
                      <a:endParaRPr lang="en-US" sz="2400" dirty="0"/>
                    </a:p>
                  </a:txBody>
                  <a:tcPr/>
                </a:tc>
                <a:tc>
                  <a:txBody>
                    <a:bodyPr/>
                    <a:lstStyle/>
                    <a:p>
                      <a:r>
                        <a:rPr lang="en-US" altLang="en-US" sz="2400" dirty="0"/>
                        <a:t>ureter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urethr</a:t>
                      </a:r>
                      <a:r>
                        <a:rPr lang="en-US" altLang="en-US" sz="2400" b="1" dirty="0"/>
                        <a:t>/o</a:t>
                      </a:r>
                      <a:endParaRPr lang="en-US" sz="2400" dirty="0"/>
                    </a:p>
                  </a:txBody>
                  <a:tcPr/>
                </a:tc>
                <a:tc>
                  <a:txBody>
                    <a:bodyPr/>
                    <a:lstStyle/>
                    <a:p>
                      <a:r>
                        <a:rPr lang="en-US" altLang="en-US" sz="2400" dirty="0"/>
                        <a:t>urethra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urin</a:t>
                      </a:r>
                      <a:r>
                        <a:rPr lang="en-US" altLang="en-US" sz="2400" b="1" dirty="0"/>
                        <a:t>/o</a:t>
                      </a:r>
                      <a:endParaRPr lang="en-US" sz="2400" dirty="0"/>
                    </a:p>
                  </a:txBody>
                  <a:tcPr/>
                </a:tc>
                <a:tc>
                  <a:txBody>
                    <a:bodyPr/>
                    <a:lstStyle/>
                    <a:p>
                      <a:r>
                        <a:rPr lang="en-US" altLang="en-US" sz="2400" dirty="0"/>
                        <a:t>urine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vesic</a:t>
                      </a:r>
                      <a:r>
                        <a:rPr lang="en-US" altLang="en-US" sz="2400" b="1" dirty="0"/>
                        <a:t>/o</a:t>
                      </a:r>
                      <a:endParaRPr lang="en-US" sz="2400" dirty="0"/>
                    </a:p>
                  </a:txBody>
                  <a:tcPr/>
                </a:tc>
                <a:tc>
                  <a:txBody>
                    <a:bodyPr/>
                    <a:lstStyle/>
                    <a:p>
                      <a:r>
                        <a:rPr lang="en-US" altLang="en-US" sz="2400" dirty="0"/>
                        <a:t>urinary bladder</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361455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1 of 8)</a:t>
            </a:r>
            <a:br>
              <a:rPr lang="en-US" sz="3600" b="1" dirty="0">
                <a:solidFill>
                  <a:prstClr val="black"/>
                </a:solidFill>
              </a:rPr>
            </a:br>
            <a:endParaRPr lang="en-US" sz="4200" dirty="0"/>
          </a:p>
        </p:txBody>
      </p:sp>
      <p:graphicFrame>
        <p:nvGraphicFramePr>
          <p:cNvPr id="7" name="Content Placeholder 6" descr="Group 1 of 4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470409923"/>
              </p:ext>
            </p:extLst>
          </p:nvPr>
        </p:nvGraphicFramePr>
        <p:xfrm>
          <a:off x="3200400" y="2438400"/>
          <a:ext cx="27432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ectasis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ectomy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emia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esis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-gram</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lithiasis</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206511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29768" y="7620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2 of 8)</a:t>
            </a:r>
            <a:br>
              <a:rPr lang="en-US" sz="3600" b="1" dirty="0">
                <a:solidFill>
                  <a:prstClr val="black"/>
                </a:solidFill>
              </a:rPr>
            </a:br>
            <a:endParaRPr lang="en-US" sz="4200" dirty="0"/>
          </a:p>
        </p:txBody>
      </p:sp>
      <p:graphicFrame>
        <p:nvGraphicFramePr>
          <p:cNvPr id="7" name="Content Placeholder 6" descr="Group 1 of 4 suffixes  from the Review Sheet of the text with their corresponding meanings."/>
          <p:cNvGraphicFramePr>
            <a:graphicFrameLocks noGrp="1"/>
          </p:cNvGraphicFramePr>
          <p:nvPr>
            <p:ph idx="1"/>
            <p:extLst>
              <p:ext uri="{D42A27DB-BD31-4B8C-83A1-F6EECF244321}">
                <p14:modId xmlns:p14="http://schemas.microsoft.com/office/powerpoint/2010/main" val="312862548"/>
              </p:ext>
            </p:extLst>
          </p:nvPr>
        </p:nvGraphicFramePr>
        <p:xfrm>
          <a:off x="1115568" y="2667000"/>
          <a:ext cx="6858000" cy="3200400"/>
        </p:xfrm>
        <a:graphic>
          <a:graphicData uri="http://schemas.openxmlformats.org/drawingml/2006/table">
            <a:tbl>
              <a:tblPr firstRow="1" bandRow="1">
                <a:tableStyleId>{21E4AEA4-8DFA-4A89-87EB-49C32662AFE0}</a:tableStyleId>
              </a:tblPr>
              <a:tblGrid>
                <a:gridCol w="228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ectasis</a:t>
                      </a:r>
                      <a:endParaRPr lang="en-US" sz="2400" dirty="0"/>
                    </a:p>
                  </a:txBody>
                  <a:tcPr/>
                </a:tc>
                <a:tc>
                  <a:txBody>
                    <a:bodyPr/>
                    <a:lstStyle/>
                    <a:p>
                      <a:r>
                        <a:rPr lang="en-US" altLang="en-US" sz="2400" dirty="0"/>
                        <a:t>stretching; dilation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ectomy</a:t>
                      </a:r>
                      <a:endParaRPr lang="en-US" sz="2400" dirty="0"/>
                    </a:p>
                  </a:txBody>
                  <a:tcPr/>
                </a:tc>
                <a:tc>
                  <a:txBody>
                    <a:bodyPr/>
                    <a:lstStyle/>
                    <a:p>
                      <a:r>
                        <a:rPr lang="en-US" altLang="en-US" sz="2400" dirty="0"/>
                        <a:t>removal; excision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emia</a:t>
                      </a:r>
                      <a:endParaRPr lang="en-US" sz="2400" dirty="0"/>
                    </a:p>
                  </a:txBody>
                  <a:tcPr/>
                </a:tc>
                <a:tc>
                  <a:txBody>
                    <a:bodyPr/>
                    <a:lstStyle/>
                    <a:p>
                      <a:r>
                        <a:rPr lang="en-US" altLang="en-US" sz="2400" dirty="0"/>
                        <a:t>blood condition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esis</a:t>
                      </a:r>
                      <a:endParaRPr lang="en-US" sz="2400" dirty="0"/>
                    </a:p>
                  </a:txBody>
                  <a:tcPr/>
                </a:tc>
                <a:tc>
                  <a:txBody>
                    <a:bodyPr/>
                    <a:lstStyle/>
                    <a:p>
                      <a:r>
                        <a:rPr lang="en-US" altLang="en-US" sz="2400" dirty="0"/>
                        <a:t>condition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-gram</a:t>
                      </a:r>
                      <a:endParaRPr lang="en-US" sz="2400" dirty="0"/>
                    </a:p>
                  </a:txBody>
                  <a:tcPr/>
                </a:tc>
                <a:tc>
                  <a:txBody>
                    <a:bodyPr/>
                    <a:lstStyle/>
                    <a:p>
                      <a:r>
                        <a:rPr lang="en-US" altLang="en-US" sz="2400" dirty="0"/>
                        <a:t>record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lithiasis</a:t>
                      </a:r>
                      <a:endParaRPr lang="en-US" sz="2400" dirty="0"/>
                    </a:p>
                  </a:txBody>
                  <a:tcPr/>
                </a:tc>
                <a:tc>
                  <a:txBody>
                    <a:bodyPr/>
                    <a:lstStyle/>
                    <a:p>
                      <a:r>
                        <a:rPr lang="en-US" altLang="en-US" sz="2400" dirty="0"/>
                        <a:t>condition of stones</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30297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3 of 8)</a:t>
            </a:r>
            <a:br>
              <a:rPr lang="en-US" sz="3600" b="1" dirty="0">
                <a:solidFill>
                  <a:prstClr val="black"/>
                </a:solidFill>
              </a:rPr>
            </a:br>
            <a:endParaRPr lang="en-US" sz="4200" dirty="0"/>
          </a:p>
        </p:txBody>
      </p:sp>
      <p:graphicFrame>
        <p:nvGraphicFramePr>
          <p:cNvPr id="7" name="Content Placeholder 6" descr="Group 2 of 4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891949568"/>
              </p:ext>
            </p:extLst>
          </p:nvPr>
        </p:nvGraphicFramePr>
        <p:xfrm>
          <a:off x="3200400" y="2667000"/>
          <a:ext cx="27432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-lithotomy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lysis</a:t>
                      </a:r>
                      <a:r>
                        <a:rPr lang="en-US" altLang="en-US" sz="2400" b="1" dirty="0"/>
                        <a:t>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megaly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-ole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osis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pathy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981353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4 of 8)</a:t>
            </a:r>
            <a:br>
              <a:rPr lang="en-US" sz="3600" b="1" dirty="0">
                <a:solidFill>
                  <a:prstClr val="black"/>
                </a:solidFill>
              </a:rPr>
            </a:br>
            <a:endParaRPr lang="en-US" sz="4200" dirty="0"/>
          </a:p>
        </p:txBody>
      </p:sp>
      <p:graphicFrame>
        <p:nvGraphicFramePr>
          <p:cNvPr id="7" name="Content Placeholder 6" descr="Group 2 of 4 suffixes  from the Review Sheet of the text with their corresponding meanings."/>
          <p:cNvGraphicFramePr>
            <a:graphicFrameLocks noGrp="1"/>
          </p:cNvGraphicFramePr>
          <p:nvPr>
            <p:ph idx="1"/>
            <p:extLst>
              <p:ext uri="{D42A27DB-BD31-4B8C-83A1-F6EECF244321}">
                <p14:modId xmlns:p14="http://schemas.microsoft.com/office/powerpoint/2010/main" val="209077476"/>
              </p:ext>
            </p:extLst>
          </p:nvPr>
        </p:nvGraphicFramePr>
        <p:xfrm>
          <a:off x="1371600" y="2743200"/>
          <a:ext cx="7010400" cy="3200400"/>
        </p:xfrm>
        <a:graphic>
          <a:graphicData uri="http://schemas.openxmlformats.org/drawingml/2006/table">
            <a:tbl>
              <a:tblPr firstRow="1" bandRow="1">
                <a:tableStyleId>{21E4AEA4-8DFA-4A89-87EB-49C32662AFE0}</a:tableStyleId>
              </a:tblPr>
              <a:tblGrid>
                <a:gridCol w="2667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-lithotomy</a:t>
                      </a:r>
                      <a:endParaRPr lang="en-US" sz="2400" dirty="0"/>
                    </a:p>
                  </a:txBody>
                  <a:tcPr/>
                </a:tc>
                <a:tc>
                  <a:txBody>
                    <a:bodyPr/>
                    <a:lstStyle/>
                    <a:p>
                      <a:r>
                        <a:rPr lang="en-US" altLang="en-US" sz="2400" dirty="0"/>
                        <a:t>incision for removal of a stone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lysis</a:t>
                      </a:r>
                      <a:r>
                        <a:rPr lang="en-US" altLang="en-US" sz="2400" b="1" dirty="0"/>
                        <a:t> </a:t>
                      </a:r>
                      <a:endParaRPr lang="en-US" sz="2400" dirty="0"/>
                    </a:p>
                  </a:txBody>
                  <a:tcPr/>
                </a:tc>
                <a:tc>
                  <a:txBody>
                    <a:bodyPr/>
                    <a:lstStyle/>
                    <a:p>
                      <a:r>
                        <a:rPr lang="en-US" altLang="en-US" sz="2400" dirty="0"/>
                        <a:t>breakdown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megaly</a:t>
                      </a:r>
                      <a:endParaRPr lang="en-US" sz="2400" dirty="0"/>
                    </a:p>
                  </a:txBody>
                  <a:tcPr/>
                </a:tc>
                <a:tc>
                  <a:txBody>
                    <a:bodyPr/>
                    <a:lstStyle/>
                    <a:p>
                      <a:r>
                        <a:rPr lang="en-US" altLang="en-US" sz="2400" dirty="0"/>
                        <a:t>enlargement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-ole</a:t>
                      </a:r>
                      <a:endParaRPr lang="en-US" sz="2400" dirty="0"/>
                    </a:p>
                  </a:txBody>
                  <a:tcPr/>
                </a:tc>
                <a:tc>
                  <a:txBody>
                    <a:bodyPr/>
                    <a:lstStyle/>
                    <a:p>
                      <a:r>
                        <a:rPr lang="en-US" altLang="en-US" sz="2400" dirty="0"/>
                        <a:t>little; small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osis</a:t>
                      </a:r>
                      <a:endParaRPr lang="en-US" sz="2400" dirty="0"/>
                    </a:p>
                  </a:txBody>
                  <a:tcPr/>
                </a:tc>
                <a:tc>
                  <a:txBody>
                    <a:bodyPr/>
                    <a:lstStyle/>
                    <a:p>
                      <a:r>
                        <a:rPr lang="en-US" altLang="en-US" sz="2400" dirty="0"/>
                        <a:t>condition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pathy</a:t>
                      </a:r>
                      <a:endParaRPr lang="en-US" sz="2400" dirty="0"/>
                    </a:p>
                  </a:txBody>
                  <a:tcPr/>
                </a:tc>
                <a:tc>
                  <a:txBody>
                    <a:bodyPr/>
                    <a:lstStyle/>
                    <a:p>
                      <a:r>
                        <a:rPr lang="en-US" altLang="en-US" sz="2400" dirty="0"/>
                        <a:t>disease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611141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5 of 8)</a:t>
            </a:r>
            <a:br>
              <a:rPr lang="en-US" sz="3600" b="1" dirty="0">
                <a:solidFill>
                  <a:prstClr val="black"/>
                </a:solidFill>
              </a:rPr>
            </a:br>
            <a:endParaRPr lang="en-US" sz="4200" dirty="0"/>
          </a:p>
        </p:txBody>
      </p:sp>
      <p:graphicFrame>
        <p:nvGraphicFramePr>
          <p:cNvPr id="7" name="Content Placeholder 6" descr="Group 3 of 4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531047598"/>
              </p:ext>
            </p:extLst>
          </p:nvPr>
        </p:nvGraphicFramePr>
        <p:xfrm>
          <a:off x="3200400" y="2438400"/>
          <a:ext cx="2743200" cy="32004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plasty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poietin</a:t>
                      </a:r>
                      <a:r>
                        <a:rPr lang="en-US" altLang="en-US" sz="2400" b="1" dirty="0"/>
                        <a:t>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-ptosis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rrhea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-sclerosis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stomy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603423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6 of 8)</a:t>
            </a:r>
            <a:br>
              <a:rPr lang="en-US" sz="3600" b="1" dirty="0">
                <a:solidFill>
                  <a:prstClr val="black"/>
                </a:solidFill>
              </a:rPr>
            </a:br>
            <a:endParaRPr lang="en-US" sz="4200" dirty="0"/>
          </a:p>
        </p:txBody>
      </p:sp>
      <p:graphicFrame>
        <p:nvGraphicFramePr>
          <p:cNvPr id="7" name="Content Placeholder 6" descr="Group 3 of 4 suffixes  from the Review Sheet of the text with their corresponding meanings."/>
          <p:cNvGraphicFramePr>
            <a:graphicFrameLocks noGrp="1"/>
          </p:cNvGraphicFramePr>
          <p:nvPr>
            <p:ph idx="1"/>
            <p:extLst>
              <p:ext uri="{D42A27DB-BD31-4B8C-83A1-F6EECF244321}">
                <p14:modId xmlns:p14="http://schemas.microsoft.com/office/powerpoint/2010/main" val="2422056285"/>
              </p:ext>
            </p:extLst>
          </p:nvPr>
        </p:nvGraphicFramePr>
        <p:xfrm>
          <a:off x="856488" y="2590800"/>
          <a:ext cx="7431024" cy="3200400"/>
        </p:xfrm>
        <a:graphic>
          <a:graphicData uri="http://schemas.openxmlformats.org/drawingml/2006/table">
            <a:tbl>
              <a:tblPr firstRow="1" bandRow="1">
                <a:tableStyleId>{21E4AEA4-8DFA-4A89-87EB-49C32662AFE0}</a:tableStyleId>
              </a:tblPr>
              <a:tblGrid>
                <a:gridCol w="2477008">
                  <a:extLst>
                    <a:ext uri="{9D8B030D-6E8A-4147-A177-3AD203B41FA5}">
                      <a16:colId xmlns:a16="http://schemas.microsoft.com/office/drawing/2014/main" val="20000"/>
                    </a:ext>
                  </a:extLst>
                </a:gridCol>
                <a:gridCol w="4954016">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plasty</a:t>
                      </a:r>
                      <a:endParaRPr lang="en-US" sz="2400" dirty="0"/>
                    </a:p>
                  </a:txBody>
                  <a:tcPr/>
                </a:tc>
                <a:tc>
                  <a:txBody>
                    <a:bodyPr/>
                    <a:lstStyle/>
                    <a:p>
                      <a:r>
                        <a:rPr lang="en-US" altLang="en-US" sz="2400" dirty="0"/>
                        <a:t>surgical repair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poietin</a:t>
                      </a:r>
                      <a:r>
                        <a:rPr lang="en-US" altLang="en-US" sz="2400" b="1" dirty="0"/>
                        <a:t> </a:t>
                      </a:r>
                      <a:endParaRPr lang="en-US" sz="2400" dirty="0"/>
                    </a:p>
                  </a:txBody>
                  <a:tcPr/>
                </a:tc>
                <a:tc>
                  <a:txBody>
                    <a:bodyPr/>
                    <a:lstStyle/>
                    <a:p>
                      <a:r>
                        <a:rPr lang="en-US" altLang="en-US" sz="2400" dirty="0"/>
                        <a:t>substance that forms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-ptosis</a:t>
                      </a:r>
                      <a:endParaRPr lang="en-US" sz="2400" dirty="0"/>
                    </a:p>
                  </a:txBody>
                  <a:tcPr/>
                </a:tc>
                <a:tc>
                  <a:txBody>
                    <a:bodyPr/>
                    <a:lstStyle/>
                    <a:p>
                      <a:r>
                        <a:rPr lang="en-US" altLang="en-US" sz="2400" dirty="0"/>
                        <a:t>droop; sag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rrhea</a:t>
                      </a:r>
                      <a:endParaRPr lang="en-US" sz="2400" dirty="0"/>
                    </a:p>
                  </a:txBody>
                  <a:tcPr/>
                </a:tc>
                <a:tc>
                  <a:txBody>
                    <a:bodyPr/>
                    <a:lstStyle/>
                    <a:p>
                      <a:r>
                        <a:rPr lang="en-US" altLang="en-US" sz="2400" dirty="0"/>
                        <a:t>flow; discharge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-sclerosis</a:t>
                      </a:r>
                      <a:endParaRPr lang="en-US" sz="2400" dirty="0"/>
                    </a:p>
                  </a:txBody>
                  <a:tcPr/>
                </a:tc>
                <a:tc>
                  <a:txBody>
                    <a:bodyPr/>
                    <a:lstStyle/>
                    <a:p>
                      <a:r>
                        <a:rPr lang="en-US" altLang="en-US" sz="2400" dirty="0"/>
                        <a:t>hardening</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a:t>
                      </a:r>
                      <a:r>
                        <a:rPr lang="en-US" altLang="en-US" sz="2400" b="1" dirty="0" err="1"/>
                        <a:t>stomy</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new opening (to form a mouth)</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87079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0287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7 of 8)</a:t>
            </a:r>
            <a:br>
              <a:rPr lang="en-US" sz="3600" b="1" dirty="0">
                <a:solidFill>
                  <a:prstClr val="black"/>
                </a:solidFill>
              </a:rPr>
            </a:br>
            <a:endParaRPr lang="en-US" sz="4200" dirty="0"/>
          </a:p>
        </p:txBody>
      </p:sp>
      <p:graphicFrame>
        <p:nvGraphicFramePr>
          <p:cNvPr id="7" name="Content Placeholder 6" descr="Group 4 of 4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909841065"/>
              </p:ext>
            </p:extLst>
          </p:nvPr>
        </p:nvGraphicFramePr>
        <p:xfrm>
          <a:off x="3200400" y="2895600"/>
          <a:ext cx="2743200" cy="18288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tomy</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tripsy</a:t>
                      </a:r>
                      <a:r>
                        <a:rPr lang="en-US" altLang="en-US" sz="2400" b="1" dirty="0"/>
                        <a:t>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uria</a:t>
                      </a:r>
                      <a:r>
                        <a:rPr lang="en-US" altLang="en-US" sz="2400" b="1" dirty="0"/>
                        <a:t> </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604724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0287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Suffixes (Slide 8 of 8)</a:t>
            </a:r>
            <a:br>
              <a:rPr lang="en-US" sz="3600" b="1" dirty="0">
                <a:solidFill>
                  <a:prstClr val="black"/>
                </a:solidFill>
              </a:rPr>
            </a:br>
            <a:endParaRPr lang="en-US" sz="4200" dirty="0"/>
          </a:p>
        </p:txBody>
      </p:sp>
      <p:graphicFrame>
        <p:nvGraphicFramePr>
          <p:cNvPr id="7" name="Content Placeholder 6" descr="Group 4 of 4 suffixes  from the Review Sheet of the text with their corresponding meanings."/>
          <p:cNvGraphicFramePr>
            <a:graphicFrameLocks noGrp="1"/>
          </p:cNvGraphicFramePr>
          <p:nvPr>
            <p:ph idx="1"/>
            <p:extLst>
              <p:ext uri="{D42A27DB-BD31-4B8C-83A1-F6EECF244321}">
                <p14:modId xmlns:p14="http://schemas.microsoft.com/office/powerpoint/2010/main" val="1923740546"/>
              </p:ext>
            </p:extLst>
          </p:nvPr>
        </p:nvGraphicFramePr>
        <p:xfrm>
          <a:off x="1232916" y="2895600"/>
          <a:ext cx="6678168" cy="1828800"/>
        </p:xfrm>
        <a:graphic>
          <a:graphicData uri="http://schemas.openxmlformats.org/drawingml/2006/table">
            <a:tbl>
              <a:tblPr firstRow="1" bandRow="1">
                <a:tableStyleId>{21E4AEA4-8DFA-4A89-87EB-49C32662AFE0}</a:tableStyleId>
              </a:tblPr>
              <a:tblGrid>
                <a:gridCol w="2410968">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tomy</a:t>
                      </a:r>
                      <a:endParaRPr lang="en-US" sz="2400" dirty="0"/>
                    </a:p>
                  </a:txBody>
                  <a:tcPr/>
                </a:tc>
                <a:tc>
                  <a:txBody>
                    <a:bodyPr/>
                    <a:lstStyle/>
                    <a:p>
                      <a:r>
                        <a:rPr lang="en-US" altLang="en-US" sz="2400" dirty="0"/>
                        <a:t>process of cutting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tripsy</a:t>
                      </a:r>
                      <a:r>
                        <a:rPr lang="en-US" altLang="en-US" sz="2400" b="1" dirty="0"/>
                        <a:t> </a:t>
                      </a:r>
                      <a:endParaRPr lang="en-US" sz="2400" dirty="0"/>
                    </a:p>
                  </a:txBody>
                  <a:tcPr/>
                </a:tc>
                <a:tc>
                  <a:txBody>
                    <a:bodyPr/>
                    <a:lstStyle/>
                    <a:p>
                      <a:r>
                        <a:rPr lang="en-US" altLang="en-US" sz="2400" dirty="0"/>
                        <a:t>to crush</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uria</a:t>
                      </a:r>
                      <a:r>
                        <a:rPr lang="en-US" altLang="en-US" sz="2400" b="1" dirty="0"/>
                        <a:t> </a:t>
                      </a:r>
                      <a:endParaRPr lang="en-US" sz="2400" dirty="0"/>
                    </a:p>
                  </a:txBody>
                  <a:tcPr/>
                </a:tc>
                <a:tc>
                  <a:txBody>
                    <a:bodyPr/>
                    <a:lstStyle/>
                    <a:p>
                      <a:r>
                        <a:rPr lang="en-US" altLang="en-US" sz="2400" dirty="0"/>
                        <a:t>urination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272476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8382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Prefixes (Slide 1 of 4)</a:t>
            </a:r>
            <a:br>
              <a:rPr lang="en-US" sz="3600" b="1" dirty="0">
                <a:solidFill>
                  <a:prstClr val="black"/>
                </a:solidFill>
              </a:rPr>
            </a:br>
            <a:endParaRPr lang="en-US" sz="4200" dirty="0"/>
          </a:p>
        </p:txBody>
      </p:sp>
      <p:graphicFrame>
        <p:nvGraphicFramePr>
          <p:cNvPr id="7" name="Content Placeholder 6" descr="Group 1 of 2 pre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86503341"/>
              </p:ext>
            </p:extLst>
          </p:nvPr>
        </p:nvGraphicFramePr>
        <p:xfrm>
          <a:off x="3200400" y="2667000"/>
          <a:ext cx="2743200" cy="22860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a:t>a-, an-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anti-</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dia</a:t>
                      </a:r>
                      <a:r>
                        <a:rPr lang="en-US" altLang="en-US" sz="2400" b="1" dirty="0"/>
                        <a: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dys</a:t>
                      </a:r>
                      <a:r>
                        <a:rPr lang="en-US" altLang="en-US" sz="2400" b="1" dirty="0"/>
                        <a:t>-</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127097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9392" y="10287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Prefixes (Slide 2 of 4)</a:t>
            </a:r>
            <a:br>
              <a:rPr lang="en-US" sz="3600" b="1" dirty="0">
                <a:solidFill>
                  <a:prstClr val="black"/>
                </a:solidFill>
              </a:rPr>
            </a:br>
            <a:endParaRPr lang="en-US" sz="4200" dirty="0"/>
          </a:p>
        </p:txBody>
      </p:sp>
      <p:graphicFrame>
        <p:nvGraphicFramePr>
          <p:cNvPr id="7" name="Content Placeholder 6" descr="Group 1 of 2 prefixes from the Review Sheet of the text with their corresponding meanings."/>
          <p:cNvGraphicFramePr>
            <a:graphicFrameLocks noGrp="1"/>
          </p:cNvGraphicFramePr>
          <p:nvPr>
            <p:ph idx="1"/>
            <p:extLst>
              <p:ext uri="{D42A27DB-BD31-4B8C-83A1-F6EECF244321}">
                <p14:modId xmlns:p14="http://schemas.microsoft.com/office/powerpoint/2010/main" val="3338822278"/>
              </p:ext>
            </p:extLst>
          </p:nvPr>
        </p:nvGraphicFramePr>
        <p:xfrm>
          <a:off x="1123188" y="2895600"/>
          <a:ext cx="6922008" cy="2286000"/>
        </p:xfrm>
        <a:graphic>
          <a:graphicData uri="http://schemas.openxmlformats.org/drawingml/2006/table">
            <a:tbl>
              <a:tblPr firstRow="1" bandRow="1">
                <a:tableStyleId>{21E4AEA4-8DFA-4A89-87EB-49C32662AFE0}</a:tableStyleId>
              </a:tblPr>
              <a:tblGrid>
                <a:gridCol w="2307336">
                  <a:extLst>
                    <a:ext uri="{9D8B030D-6E8A-4147-A177-3AD203B41FA5}">
                      <a16:colId xmlns:a16="http://schemas.microsoft.com/office/drawing/2014/main" val="20000"/>
                    </a:ext>
                  </a:extLst>
                </a:gridCol>
                <a:gridCol w="4614672">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 an-</a:t>
                      </a:r>
                      <a:endParaRPr lang="en-US" sz="2400" dirty="0"/>
                    </a:p>
                  </a:txBody>
                  <a:tcPr/>
                </a:tc>
                <a:tc>
                  <a:txBody>
                    <a:bodyPr/>
                    <a:lstStyle/>
                    <a:p>
                      <a:r>
                        <a:rPr lang="en-US" altLang="en-US" sz="2400" dirty="0"/>
                        <a:t>not; without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anti-</a:t>
                      </a:r>
                      <a:endParaRPr lang="en-US" sz="2400" dirty="0"/>
                    </a:p>
                  </a:txBody>
                  <a:tcPr/>
                </a:tc>
                <a:tc>
                  <a:txBody>
                    <a:bodyPr/>
                    <a:lstStyle/>
                    <a:p>
                      <a:r>
                        <a:rPr lang="en-US" altLang="en-US" sz="2400" dirty="0"/>
                        <a:t>again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dia</a:t>
                      </a:r>
                      <a:r>
                        <a:rPr lang="en-US" altLang="en-US" sz="2400" b="1" dirty="0"/>
                        <a:t>-</a:t>
                      </a:r>
                      <a:endParaRPr lang="en-US" sz="2400" dirty="0"/>
                    </a:p>
                  </a:txBody>
                  <a:tcPr/>
                </a:tc>
                <a:tc>
                  <a:txBody>
                    <a:bodyPr/>
                    <a:lstStyle/>
                    <a:p>
                      <a:r>
                        <a:rPr lang="en-US" altLang="en-US" sz="2400" dirty="0"/>
                        <a:t>complete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dys</a:t>
                      </a:r>
                      <a:r>
                        <a:rPr lang="en-US" altLang="en-US" sz="2400" b="1" dirty="0"/>
                        <a:t>-</a:t>
                      </a:r>
                      <a:endParaRPr lang="en-US" sz="2400" dirty="0"/>
                    </a:p>
                  </a:txBody>
                  <a:tcPr/>
                </a:tc>
                <a:tc>
                  <a:txBody>
                    <a:bodyPr/>
                    <a:lstStyle/>
                    <a:p>
                      <a:r>
                        <a:rPr lang="en-US" altLang="en-US" sz="2400" dirty="0"/>
                        <a:t>bad; painful</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219436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Prefixes (Slide 3 of 4)</a:t>
            </a:r>
            <a:br>
              <a:rPr lang="en-US" sz="3600" b="1" dirty="0">
                <a:solidFill>
                  <a:prstClr val="black"/>
                </a:solidFill>
              </a:rPr>
            </a:br>
            <a:endParaRPr lang="en-US" sz="4200" dirty="0"/>
          </a:p>
        </p:txBody>
      </p:sp>
      <p:graphicFrame>
        <p:nvGraphicFramePr>
          <p:cNvPr id="7" name="Content Placeholder 6" descr="Group 2 of 2 pre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933192190"/>
              </p:ext>
            </p:extLst>
          </p:nvPr>
        </p:nvGraphicFramePr>
        <p:xfrm>
          <a:off x="3200400" y="2819400"/>
          <a:ext cx="2743200" cy="2286000"/>
        </p:xfrm>
        <a:graphic>
          <a:graphicData uri="http://schemas.openxmlformats.org/drawingml/2006/table">
            <a:tbl>
              <a:tblPr firstRow="1" bandRow="1">
                <a:tableStyleId>{21E4AEA4-8DFA-4A89-87EB-49C32662AFE0}</a:tableStyleId>
              </a:tblPr>
              <a:tblGrid>
                <a:gridCol w="2743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400" b="1" dirty="0"/>
                        <a:t>en-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peri</a:t>
                      </a:r>
                      <a:r>
                        <a:rPr lang="en-US" altLang="en-US" sz="2400" b="1" dirty="0"/>
                        <a: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poly-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retro-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072866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914400"/>
            <a:ext cx="8229600" cy="1143000"/>
          </a:xfrm>
        </p:spPr>
        <p:txBody>
          <a:bodyPr/>
          <a:lstStyle/>
          <a:p>
            <a:r>
              <a:rPr lang="en-US" b="1" dirty="0">
                <a:solidFill>
                  <a:prstClr val="black"/>
                </a:solidFill>
              </a:rPr>
              <a:t>Review Sheet:</a:t>
            </a:r>
            <a:br>
              <a:rPr lang="en-US" b="1" dirty="0">
                <a:solidFill>
                  <a:prstClr val="black"/>
                </a:solidFill>
              </a:rPr>
            </a:br>
            <a:r>
              <a:rPr lang="en-US" sz="3600" b="1" dirty="0">
                <a:solidFill>
                  <a:prstClr val="black"/>
                </a:solidFill>
              </a:rPr>
              <a:t>Prefixes (Slide 4 of 4)</a:t>
            </a:r>
            <a:br>
              <a:rPr lang="en-US" sz="3600" b="1" dirty="0">
                <a:solidFill>
                  <a:prstClr val="black"/>
                </a:solidFill>
              </a:rPr>
            </a:br>
            <a:endParaRPr lang="en-US" sz="4200" dirty="0"/>
          </a:p>
        </p:txBody>
      </p:sp>
      <p:graphicFrame>
        <p:nvGraphicFramePr>
          <p:cNvPr id="7" name="Content Placeholder 6" descr="Group 2 of 2 prefixes from the Review Sheet of the text with their corresponding meanings."/>
          <p:cNvGraphicFramePr>
            <a:graphicFrameLocks noGrp="1"/>
          </p:cNvGraphicFramePr>
          <p:nvPr>
            <p:ph idx="1"/>
            <p:extLst>
              <p:ext uri="{D42A27DB-BD31-4B8C-83A1-F6EECF244321}">
                <p14:modId xmlns:p14="http://schemas.microsoft.com/office/powerpoint/2010/main" val="3491256557"/>
              </p:ext>
            </p:extLst>
          </p:nvPr>
        </p:nvGraphicFramePr>
        <p:xfrm>
          <a:off x="1447800" y="2819400"/>
          <a:ext cx="6248400" cy="2286000"/>
        </p:xfrm>
        <a:graphic>
          <a:graphicData uri="http://schemas.openxmlformats.org/drawingml/2006/table">
            <a:tbl>
              <a:tblPr firstRow="1" bandRow="1">
                <a:tableStyleId>{21E4AEA4-8DFA-4A89-87EB-49C32662AFE0}</a:tableStyleId>
              </a:tblPr>
              <a:tblGrid>
                <a:gridCol w="2082800">
                  <a:extLst>
                    <a:ext uri="{9D8B030D-6E8A-4147-A177-3AD203B41FA5}">
                      <a16:colId xmlns:a16="http://schemas.microsoft.com/office/drawing/2014/main" val="20000"/>
                    </a:ext>
                  </a:extLst>
                </a:gridCol>
                <a:gridCol w="41656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en-</a:t>
                      </a:r>
                      <a:endParaRPr lang="en-US" sz="2400" dirty="0"/>
                    </a:p>
                  </a:txBody>
                  <a:tcPr/>
                </a:tc>
                <a:tc>
                  <a:txBody>
                    <a:bodyPr/>
                    <a:lstStyle/>
                    <a:p>
                      <a:r>
                        <a:rPr lang="en-US" altLang="en-US" sz="2400" dirty="0"/>
                        <a:t>in; within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peri</a:t>
                      </a:r>
                      <a:r>
                        <a:rPr lang="en-US" altLang="en-US" sz="2400" b="1" dirty="0"/>
                        <a:t>-</a:t>
                      </a:r>
                      <a:endParaRPr lang="en-US" sz="2400" dirty="0"/>
                    </a:p>
                  </a:txBody>
                  <a:tcPr/>
                </a:tc>
                <a:tc>
                  <a:txBody>
                    <a:bodyPr/>
                    <a:lstStyle/>
                    <a:p>
                      <a:r>
                        <a:rPr lang="en-US" altLang="en-US" sz="2400" dirty="0"/>
                        <a:t>surrounding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poly-</a:t>
                      </a:r>
                      <a:endParaRPr lang="en-US" sz="2400" dirty="0"/>
                    </a:p>
                  </a:txBody>
                  <a:tcPr/>
                </a:tc>
                <a:tc>
                  <a:txBody>
                    <a:bodyPr/>
                    <a:lstStyle/>
                    <a:p>
                      <a:r>
                        <a:rPr lang="en-US" altLang="en-US" sz="2400" dirty="0"/>
                        <a:t>many, much</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retro-</a:t>
                      </a:r>
                      <a:endParaRPr lang="en-US" sz="2400" dirty="0"/>
                    </a:p>
                  </a:txBody>
                  <a:tcPr/>
                </a:tc>
                <a:tc>
                  <a:txBody>
                    <a:bodyPr/>
                    <a:lstStyle/>
                    <a:p>
                      <a:r>
                        <a:rPr lang="en-US" altLang="en-US" sz="2400" dirty="0"/>
                        <a:t>behind; back</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498574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9"/>
          <p:cNvSpPr>
            <a:spLocks noGrp="1" noChangeArrowheads="1"/>
          </p:cNvSpPr>
          <p:nvPr>
            <p:ph type="title"/>
          </p:nvPr>
        </p:nvSpPr>
        <p:spPr>
          <a:xfrm>
            <a:off x="419100" y="381000"/>
            <a:ext cx="7772400" cy="1219200"/>
          </a:xfrm>
        </p:spPr>
        <p:txBody>
          <a:bodyPr/>
          <a:lstStyle/>
          <a:p>
            <a:pPr eaLnBrk="1" hangingPunct="1"/>
            <a:r>
              <a:rPr lang="en-US" altLang="en-US" sz="4800" dirty="0"/>
              <a:t>      </a:t>
            </a:r>
            <a:r>
              <a:rPr lang="en-US" altLang="en-US" sz="5400" b="1" dirty="0"/>
              <a:t>QUICK QUIZ </a:t>
            </a:r>
            <a:r>
              <a:rPr lang="en-US" altLang="en-US" dirty="0"/>
              <a:t>(Slide 6 of 8)</a:t>
            </a:r>
            <a:r>
              <a:rPr lang="en-US" altLang="en-US" sz="2800" dirty="0"/>
              <a:t> </a:t>
            </a:r>
          </a:p>
        </p:txBody>
      </p:sp>
      <p:sp>
        <p:nvSpPr>
          <p:cNvPr id="121859" name="Rectangle 3"/>
          <p:cNvSpPr>
            <a:spLocks noGrp="1" noChangeArrowheads="1"/>
          </p:cNvSpPr>
          <p:nvPr>
            <p:ph idx="1"/>
          </p:nvPr>
        </p:nvSpPr>
        <p:spPr>
          <a:xfrm>
            <a:off x="1409700" y="2209800"/>
            <a:ext cx="6781800" cy="3276600"/>
          </a:xfrm>
        </p:spPr>
        <p:txBody>
          <a:bodyPr/>
          <a:lstStyle/>
          <a:p>
            <a:pPr marL="533400" indent="-533400" eaLnBrk="1" hangingPunct="1">
              <a:buFont typeface="Arial" panose="020B0604020202020204" pitchFamily="34" charset="0"/>
              <a:buAutoNum type="arabicPeriod" startAt="6"/>
            </a:pPr>
            <a:r>
              <a:rPr lang="en-US" altLang="en-US" b="1" dirty="0"/>
              <a:t>The combining form dips/o means:</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stone</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scanty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thirst</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water</a:t>
            </a:r>
            <a:endParaRPr lang="en-US" altLang="en-US" sz="3200" b="1" dirty="0">
              <a:ea typeface="MS PGothic" panose="020B0600070205080204" pitchFamily="34" charset="-128"/>
            </a:endParaRPr>
          </a:p>
          <a:p>
            <a:pPr marL="533400" indent="-533400" eaLnBrk="1" hangingPunct="1">
              <a:buFont typeface="Wingdings 2" panose="05020102010507070707" pitchFamily="18" charset="2"/>
              <a:buNone/>
            </a:pPr>
            <a:endParaRPr lang="en-US" altLang="en-US" b="1" dirty="0"/>
          </a:p>
        </p:txBody>
      </p:sp>
    </p:spTree>
    <p:extLst>
      <p:ext uri="{BB962C8B-B14F-4D97-AF65-F5344CB8AC3E}">
        <p14:creationId xmlns:p14="http://schemas.microsoft.com/office/powerpoint/2010/main" val="19749388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title"/>
          </p:nvPr>
        </p:nvSpPr>
        <p:spPr>
          <a:xfrm>
            <a:off x="457200" y="381000"/>
            <a:ext cx="7772400" cy="1219200"/>
          </a:xfrm>
        </p:spPr>
        <p:txBody>
          <a:bodyPr/>
          <a:lstStyle/>
          <a:p>
            <a:pPr eaLnBrk="1" hangingPunct="1"/>
            <a:r>
              <a:rPr lang="en-US" altLang="en-US" sz="4800" dirty="0"/>
              <a:t>      </a:t>
            </a:r>
            <a:r>
              <a:rPr lang="en-US" altLang="en-US" sz="5400" b="1" dirty="0"/>
              <a:t>QUICK QUIZ </a:t>
            </a:r>
            <a:r>
              <a:rPr lang="en-US" altLang="en-US" dirty="0"/>
              <a:t>(Slide 7 of 8</a:t>
            </a:r>
            <a:r>
              <a:rPr lang="en-US" altLang="ja-JP" dirty="0"/>
              <a:t>)</a:t>
            </a:r>
            <a:endParaRPr lang="en-US" altLang="en-US" dirty="0"/>
          </a:p>
        </p:txBody>
      </p:sp>
      <p:sp>
        <p:nvSpPr>
          <p:cNvPr id="122883" name="Rectangle 3"/>
          <p:cNvSpPr>
            <a:spLocks noGrp="1" noChangeArrowheads="1"/>
          </p:cNvSpPr>
          <p:nvPr>
            <p:ph idx="1"/>
          </p:nvPr>
        </p:nvSpPr>
        <p:spPr>
          <a:xfrm>
            <a:off x="1267968" y="2057400"/>
            <a:ext cx="6934200" cy="3441700"/>
          </a:xfrm>
        </p:spPr>
        <p:txBody>
          <a:bodyPr>
            <a:spAutoFit/>
          </a:bodyPr>
          <a:lstStyle/>
          <a:p>
            <a:pPr marL="533400" indent="-533400" eaLnBrk="1" hangingPunct="1">
              <a:buFont typeface="Arial" panose="020B0604020202020204" pitchFamily="34" charset="0"/>
              <a:buAutoNum type="arabicPeriod" startAt="7"/>
            </a:pPr>
            <a:r>
              <a:rPr lang="en-US" altLang="en-US" b="1" dirty="0"/>
              <a:t>Which combining form means pus?</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pyel</a:t>
            </a:r>
            <a:r>
              <a:rPr lang="en-US" altLang="en-US" sz="3200" dirty="0">
                <a:ea typeface="MS PGothic" panose="020B0600070205080204" pitchFamily="34" charset="-128"/>
              </a:rPr>
              <a:t>/o</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lith</a:t>
            </a:r>
            <a:r>
              <a:rPr lang="en-US" altLang="en-US" sz="3200" dirty="0">
                <a:ea typeface="MS PGothic" panose="020B0600070205080204" pitchFamily="34" charset="-128"/>
              </a:rPr>
              <a:t>/o</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ogli</a:t>
            </a:r>
            <a:r>
              <a:rPr lang="en-US" altLang="en-US" sz="3200" dirty="0">
                <a:ea typeface="MS PGothic" panose="020B0600070205080204" pitchFamily="34" charset="-128"/>
              </a:rPr>
              <a:t>/o</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py</a:t>
            </a:r>
            <a:r>
              <a:rPr lang="en-US" altLang="en-US" sz="3200" dirty="0">
                <a:ea typeface="MS PGothic" panose="020B0600070205080204" pitchFamily="34" charset="-128"/>
              </a:rPr>
              <a:t>/o</a:t>
            </a:r>
            <a:endParaRPr lang="en-US" altLang="en-US" sz="3200" b="1" dirty="0">
              <a:ea typeface="MS PGothic" panose="020B0600070205080204" pitchFamily="34" charset="-128"/>
            </a:endParaRPr>
          </a:p>
        </p:txBody>
      </p:sp>
    </p:spTree>
    <p:extLst>
      <p:ext uri="{BB962C8B-B14F-4D97-AF65-F5344CB8AC3E}">
        <p14:creationId xmlns:p14="http://schemas.microsoft.com/office/powerpoint/2010/main" val="17093588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8"/>
          <p:cNvSpPr>
            <a:spLocks noGrp="1" noChangeArrowheads="1"/>
          </p:cNvSpPr>
          <p:nvPr>
            <p:ph type="title"/>
          </p:nvPr>
        </p:nvSpPr>
        <p:spPr>
          <a:xfrm>
            <a:off x="457200" y="362712"/>
            <a:ext cx="7772400" cy="1219200"/>
          </a:xfrm>
        </p:spPr>
        <p:txBody>
          <a:bodyPr/>
          <a:lstStyle/>
          <a:p>
            <a:pPr eaLnBrk="1" hangingPunct="1"/>
            <a:r>
              <a:rPr lang="en-US" altLang="en-US" sz="5400" b="1" dirty="0"/>
              <a:t>       QUICK QUIZ</a:t>
            </a:r>
            <a:r>
              <a:rPr lang="en-US" altLang="en-US" sz="5400" b="1" dirty="0">
                <a:sym typeface="Wingdings" panose="05000000000000000000" pitchFamily="2" charset="2"/>
              </a:rPr>
              <a:t> </a:t>
            </a:r>
            <a:r>
              <a:rPr lang="en-US" altLang="en-US" dirty="0">
                <a:sym typeface="Wingdings" panose="05000000000000000000" pitchFamily="2" charset="2"/>
              </a:rPr>
              <a:t>(Slide 8 of 8</a:t>
            </a:r>
            <a:r>
              <a:rPr lang="en-US" altLang="ja-JP" dirty="0">
                <a:sym typeface="Wingdings" panose="05000000000000000000" pitchFamily="2" charset="2"/>
              </a:rPr>
              <a:t>)</a:t>
            </a:r>
            <a:endParaRPr lang="en-US" altLang="en-US" dirty="0"/>
          </a:p>
        </p:txBody>
      </p:sp>
      <p:sp>
        <p:nvSpPr>
          <p:cNvPr id="123907" name="Rectangle 3"/>
          <p:cNvSpPr>
            <a:spLocks noGrp="1" noChangeArrowheads="1"/>
          </p:cNvSpPr>
          <p:nvPr>
            <p:ph idx="1"/>
          </p:nvPr>
        </p:nvSpPr>
        <p:spPr>
          <a:xfrm>
            <a:off x="1295400" y="1905000"/>
            <a:ext cx="6934200" cy="3352800"/>
          </a:xfrm>
        </p:spPr>
        <p:txBody>
          <a:bodyPr/>
          <a:lstStyle/>
          <a:p>
            <a:pPr marL="533400" indent="-533400" eaLnBrk="1" hangingPunct="1">
              <a:buFont typeface="Wingdings 2" panose="05020102010507070707" pitchFamily="18" charset="2"/>
              <a:buNone/>
            </a:pPr>
            <a:r>
              <a:rPr lang="en-US" altLang="en-US" b="1" dirty="0"/>
              <a:t>8. The combining form </a:t>
            </a:r>
            <a:r>
              <a:rPr lang="en-US" altLang="en-US" b="1" dirty="0" err="1"/>
              <a:t>isch</a:t>
            </a:r>
            <a:r>
              <a:rPr lang="en-US" altLang="en-US" b="1" dirty="0"/>
              <a:t>/o means:</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scanty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to hold back; back</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night</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trigon</a:t>
            </a:r>
            <a:endParaRPr lang="en-US" altLang="en-US" dirty="0">
              <a:ea typeface="MS PGothic" panose="020B0600070205080204" pitchFamily="34" charset="-128"/>
            </a:endParaRPr>
          </a:p>
        </p:txBody>
      </p:sp>
    </p:spTree>
    <p:extLst>
      <p:ext uri="{BB962C8B-B14F-4D97-AF65-F5344CB8AC3E}">
        <p14:creationId xmlns:p14="http://schemas.microsoft.com/office/powerpoint/2010/main" val="3819063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7907</TotalTime>
  <Words>4801</Words>
  <Application>Microsoft Office PowerPoint</Application>
  <PresentationFormat>On-screen Show (4:3)</PresentationFormat>
  <Paragraphs>976</Paragraphs>
  <Slides>103</Slides>
  <Notes>55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MS PGothic</vt:lpstr>
      <vt:lpstr>Arial</vt:lpstr>
      <vt:lpstr>Calibri</vt:lpstr>
      <vt:lpstr>Times</vt:lpstr>
      <vt:lpstr>Times New Roman</vt:lpstr>
      <vt:lpstr>Webdings</vt:lpstr>
      <vt:lpstr>Wingdings</vt:lpstr>
      <vt:lpstr>Wingdings 2</vt:lpstr>
      <vt:lpstr>Office Theme</vt:lpstr>
      <vt:lpstr>The Language of Medicine 13th edition</vt:lpstr>
      <vt:lpstr>Chapter 7  Urinary System</vt:lpstr>
      <vt:lpstr>Chapter Goals (Slide 1 of 2)</vt:lpstr>
      <vt:lpstr>Chapter Goals (Slide 2 of 2)</vt:lpstr>
      <vt:lpstr>Chapter 7  Lesson 7.1</vt:lpstr>
      <vt:lpstr>Introduction (Slide 1 of 2)</vt:lpstr>
      <vt:lpstr>Introduction (Slide 2 of 2)</vt:lpstr>
      <vt:lpstr>Anatomy of the Major Organs (Slide 1 of 4)</vt:lpstr>
      <vt:lpstr>Anatomy of the  Major Organs (slide 2 of 4)</vt:lpstr>
      <vt:lpstr>Anatomy of the  Major Organs (slide 3 of 4)</vt:lpstr>
      <vt:lpstr>Anatomy of the  Major Organs (slide 4 of 4)</vt:lpstr>
      <vt:lpstr>      QUICK QUIZ (Slide 1 of 8)</vt:lpstr>
      <vt:lpstr>How Kidneys Produce Urine  (Slide 1 of 12)</vt:lpstr>
      <vt:lpstr>How Kidneys Produce Urine  (Slide 2 of 12)</vt:lpstr>
      <vt:lpstr>How Kidneys Produce Urine  (Slide 3 of 12)</vt:lpstr>
      <vt:lpstr>How Kidneys Produce Urine  (Slide 4 of 12)</vt:lpstr>
      <vt:lpstr>How Kidneys Produce Urine  (Slide 5 of 12)</vt:lpstr>
      <vt:lpstr>How Kidneys Produce Urine  (Slide 6 of 12)</vt:lpstr>
      <vt:lpstr>How Kidneys Produce Urine  (Slide 7 of 12)</vt:lpstr>
      <vt:lpstr>How Kidneys Produce Urine  (Slide 8 of 12)</vt:lpstr>
      <vt:lpstr>      QUICK QUIZ (Slide 2 of 8)</vt:lpstr>
      <vt:lpstr>How Kidneys Produce Urine  (Slide 9 of 12)</vt:lpstr>
      <vt:lpstr>How Kidneys Produce Urine  (Slide 10 of 12)</vt:lpstr>
      <vt:lpstr>How Kidneys Produce Urine  (Slide 11 of 12)</vt:lpstr>
      <vt:lpstr>How Kidneys Produce Urine  (Slide 12 of 12)</vt:lpstr>
      <vt:lpstr>Vocabulary (Slide 1 of 14)</vt:lpstr>
      <vt:lpstr>Vocabulary (Slide 2 of 14)</vt:lpstr>
      <vt:lpstr>Vocabulary (Slide 3 of 14)</vt:lpstr>
      <vt:lpstr>Vocabulary (Slide 4 of 14)</vt:lpstr>
      <vt:lpstr>Vocabulary (Slide 5 of 14)</vt:lpstr>
      <vt:lpstr>Vocabulary (Slide 6 of 14)</vt:lpstr>
      <vt:lpstr>Vocabulary (Slide 7 of 14)</vt:lpstr>
      <vt:lpstr>Vocabulary (Slide 8 of 14)</vt:lpstr>
      <vt:lpstr>Vocabulary (Slide 9 of 14)</vt:lpstr>
      <vt:lpstr>Vocabulary (Slide 10 of 14)</vt:lpstr>
      <vt:lpstr>Vocabulary (Slide 11 of 14)</vt:lpstr>
      <vt:lpstr>Vocabulary (Slide 12 of 14)</vt:lpstr>
      <vt:lpstr>Vocabulary (Slide 13 of 14)</vt:lpstr>
      <vt:lpstr>Vocabulary (Slide 14 of 14)</vt:lpstr>
      <vt:lpstr>Terminology:   Structures (Slide 1 of 6)</vt:lpstr>
      <vt:lpstr>Terminology:   Structures (Slide 2 of 6)</vt:lpstr>
      <vt:lpstr>Terminology:   Structures (Slide 3 of 6) </vt:lpstr>
      <vt:lpstr>Terminology:   Structures (Slide 4 of 6) </vt:lpstr>
      <vt:lpstr>Terminology:   Structures (Slide 5 of 6) </vt:lpstr>
      <vt:lpstr>Terminology:   Structures (Slide 6 of 6)</vt:lpstr>
      <vt:lpstr>Terminology:  Substances and Symptoms (Slide 1 of 6)</vt:lpstr>
      <vt:lpstr>Terminology:  Substances and Symptoms (Slide 2 of 6) </vt:lpstr>
      <vt:lpstr>Terminology:  Substances and Symptoms (Slide 3 of 6) </vt:lpstr>
      <vt:lpstr>Terminology:  Substances and Symptoms (Slide 4 of 6) </vt:lpstr>
      <vt:lpstr>Terminology:  Substances and Symptoms (Slide 5 of 6)</vt:lpstr>
      <vt:lpstr>Terminology:  Substances and Symptoms (Slide 6 of 6)</vt:lpstr>
      <vt:lpstr>Urinalysis (Slide 1 of 2)</vt:lpstr>
      <vt:lpstr>Urinalysis (Slide 2 of 2)</vt:lpstr>
      <vt:lpstr>      QUICK QUIZ (Slide 3 of 8) </vt:lpstr>
      <vt:lpstr>Chapter 7 Lesson 7.2</vt:lpstr>
      <vt:lpstr>Pathologic Conditions (Slide 1 of 5)</vt:lpstr>
      <vt:lpstr>Pathologic Conditions  (Slide 2 of 5)</vt:lpstr>
      <vt:lpstr>Pathologic Conditions (Slide 3 of 5)</vt:lpstr>
      <vt:lpstr>Pathologic Conditions (Slide 4 of 5)</vt:lpstr>
      <vt:lpstr>Pathologic Conditions (Slide 5 of 5)</vt:lpstr>
      <vt:lpstr>      QUICK QUIZ (Slide 4 of 8) </vt:lpstr>
      <vt:lpstr>Laboratory Tests and  Clinical Procedures (Slide 1 of 10)</vt:lpstr>
      <vt:lpstr>Laboratory Tests and  Clinical Procedures (Slide 2 of 10)</vt:lpstr>
      <vt:lpstr>Laboratory Tests and  Clinical Procedures (Slide 3 of 10)</vt:lpstr>
      <vt:lpstr>Laboratory Tests and  Clinical Procedures (Slide 4 of 10)</vt:lpstr>
      <vt:lpstr>Laboratory Tests and  Clinical Procedures (Slide 5 of 10)</vt:lpstr>
      <vt:lpstr>Laboratory Tests and  Clinical Procedures (Slide 6 of 10)</vt:lpstr>
      <vt:lpstr>Laboratory Tests and  Clinical Procedures (Slide 7 of 10)</vt:lpstr>
      <vt:lpstr>Laboratory Tests and  Clinical Procedures (Slide 8 of 10)</vt:lpstr>
      <vt:lpstr>Laboratory Tests and  Clinical Procedures (Slide 9 of 10)</vt:lpstr>
      <vt:lpstr>Laboratory Tests and  Clinical Procedures (Slide 10 of 10)</vt:lpstr>
      <vt:lpstr>Abbreviations (Slide 1 of 6)</vt:lpstr>
      <vt:lpstr>Abbreviations (Slide 2 of 6)</vt:lpstr>
      <vt:lpstr>Abbreviations (Slide 3 of 6)</vt:lpstr>
      <vt:lpstr>Abbreviations (Slide 4 of 6)</vt:lpstr>
      <vt:lpstr>Abbreviations (Slide 5 of 6)</vt:lpstr>
      <vt:lpstr>Abbreviations (Slide 6 of 6)</vt:lpstr>
      <vt:lpstr>      QUICK QUIZ (Slide 5 of 8)</vt:lpstr>
      <vt:lpstr>Review Sheet: Combining Forms (Slide 1 of 10) </vt:lpstr>
      <vt:lpstr>Review Sheet: Combining Forms (Slide 2 of 10) </vt:lpstr>
      <vt:lpstr>Review Sheet: Combining Forms (Slide 3 of 10) </vt:lpstr>
      <vt:lpstr>Review Sheet: Combining Forms (Slide 4 of 10) </vt:lpstr>
      <vt:lpstr>Review Sheet: Combining Forms (Slide 5 of 10) </vt:lpstr>
      <vt:lpstr>Review Sheet: Combining Forms (Slide 6 of 10) </vt:lpstr>
      <vt:lpstr>Review Sheet: Combining Forms (Slide 7 of 10) </vt:lpstr>
      <vt:lpstr>Review Sheet: Combining Forms (Slide 8 of 10) </vt:lpstr>
      <vt:lpstr>Review Sheet: Combining Forms (Slide 9 of 10) </vt:lpstr>
      <vt:lpstr>Review Sheet: Combining Forms (Slide 10 of 10) </vt:lpstr>
      <vt:lpstr>Review Sheet: Suffixes (Slide 1 of 8) </vt:lpstr>
      <vt:lpstr>Review Sheet: Suffixes (Slide 2 of 8) </vt:lpstr>
      <vt:lpstr>Review Sheet: Suffixes (Slide 3 of 8) </vt:lpstr>
      <vt:lpstr>Review Sheet: Suffixes (Slide 4 of 8) </vt:lpstr>
      <vt:lpstr>Review Sheet: Suffixes (Slide 5 of 8) </vt:lpstr>
      <vt:lpstr>Review Sheet: Suffixes (Slide 6 of 8) </vt:lpstr>
      <vt:lpstr>Review Sheet: Suffixes (Slide 7 of 8) </vt:lpstr>
      <vt:lpstr>Review Sheet: Suffixes (Slide 8 of 8) </vt:lpstr>
      <vt:lpstr>Review Sheet: Prefixes (Slide 1 of 4) </vt:lpstr>
      <vt:lpstr>Review Sheet: Prefixes (Slide 2 of 4) </vt:lpstr>
      <vt:lpstr>Review Sheet: Prefixes (Slide 3 of 4) </vt:lpstr>
      <vt:lpstr>Review Sheet: Prefixes (Slide 4 of 4) </vt:lpstr>
      <vt:lpstr>      QUICK QUIZ (Slide 6 of 8) </vt:lpstr>
      <vt:lpstr>      QUICK QUIZ (Slide 7 of 8)</vt:lpstr>
      <vt:lpstr>       QUICK QUIZ (Slide 8 of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dell;MMPfeifer</dc:creator>
  <cp:lastModifiedBy>Jyoti Tyagi (IL-IN)</cp:lastModifiedBy>
  <cp:revision>335</cp:revision>
  <cp:lastPrinted>2007-04-13T22:20:09Z</cp:lastPrinted>
  <dcterms:created xsi:type="dcterms:W3CDTF">2004-11-01T16:15:23Z</dcterms:created>
  <dcterms:modified xsi:type="dcterms:W3CDTF">2023-12-07T04:19:40Z</dcterms:modified>
</cp:coreProperties>
</file>