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62" r:id="rId1"/>
  </p:sldMasterIdLst>
  <p:notesMasterIdLst>
    <p:notesMasterId r:id="rId122"/>
  </p:notesMasterIdLst>
  <p:handoutMasterIdLst>
    <p:handoutMasterId r:id="rId123"/>
  </p:handoutMasterIdLst>
  <p:sldIdLst>
    <p:sldId id="332" r:id="rId2"/>
    <p:sldId id="341" r:id="rId3"/>
    <p:sldId id="342" r:id="rId4"/>
    <p:sldId id="343" r:id="rId5"/>
    <p:sldId id="344" r:id="rId6"/>
    <p:sldId id="460" r:id="rId7"/>
    <p:sldId id="459" r:id="rId8"/>
    <p:sldId id="347" r:id="rId9"/>
    <p:sldId id="348" r:id="rId10"/>
    <p:sldId id="349" r:id="rId11"/>
    <p:sldId id="350" r:id="rId12"/>
    <p:sldId id="351" r:id="rId13"/>
    <p:sldId id="352" r:id="rId14"/>
    <p:sldId id="353" r:id="rId15"/>
    <p:sldId id="354" r:id="rId16"/>
    <p:sldId id="355" r:id="rId17"/>
    <p:sldId id="356" r:id="rId18"/>
    <p:sldId id="357" r:id="rId19"/>
    <p:sldId id="358" r:id="rId20"/>
    <p:sldId id="359" r:id="rId21"/>
    <p:sldId id="360" r:id="rId22"/>
    <p:sldId id="361" r:id="rId23"/>
    <p:sldId id="362" r:id="rId24"/>
    <p:sldId id="363" r:id="rId25"/>
    <p:sldId id="364" r:id="rId26"/>
    <p:sldId id="365" r:id="rId27"/>
    <p:sldId id="366" r:id="rId28"/>
    <p:sldId id="367" r:id="rId29"/>
    <p:sldId id="368" r:id="rId30"/>
    <p:sldId id="369" r:id="rId31"/>
    <p:sldId id="370" r:id="rId32"/>
    <p:sldId id="371" r:id="rId33"/>
    <p:sldId id="372" r:id="rId34"/>
    <p:sldId id="373" r:id="rId35"/>
    <p:sldId id="374" r:id="rId36"/>
    <p:sldId id="375" r:id="rId37"/>
    <p:sldId id="376" r:id="rId38"/>
    <p:sldId id="377" r:id="rId39"/>
    <p:sldId id="378" r:id="rId40"/>
    <p:sldId id="379" r:id="rId41"/>
    <p:sldId id="380" r:id="rId42"/>
    <p:sldId id="381" r:id="rId43"/>
    <p:sldId id="382" r:id="rId44"/>
    <p:sldId id="383" r:id="rId45"/>
    <p:sldId id="384" r:id="rId46"/>
    <p:sldId id="385" r:id="rId47"/>
    <p:sldId id="386" r:id="rId48"/>
    <p:sldId id="387" r:id="rId49"/>
    <p:sldId id="388" r:id="rId50"/>
    <p:sldId id="389" r:id="rId51"/>
    <p:sldId id="390" r:id="rId52"/>
    <p:sldId id="391" r:id="rId53"/>
    <p:sldId id="392" r:id="rId54"/>
    <p:sldId id="393" r:id="rId55"/>
    <p:sldId id="394" r:id="rId56"/>
    <p:sldId id="395" r:id="rId57"/>
    <p:sldId id="396" r:id="rId58"/>
    <p:sldId id="397" r:id="rId59"/>
    <p:sldId id="398" r:id="rId60"/>
    <p:sldId id="399" r:id="rId61"/>
    <p:sldId id="400" r:id="rId62"/>
    <p:sldId id="401" r:id="rId63"/>
    <p:sldId id="402" r:id="rId64"/>
    <p:sldId id="403" r:id="rId65"/>
    <p:sldId id="404" r:id="rId66"/>
    <p:sldId id="405" r:id="rId67"/>
    <p:sldId id="406" r:id="rId68"/>
    <p:sldId id="407" r:id="rId69"/>
    <p:sldId id="408" r:id="rId70"/>
    <p:sldId id="409" r:id="rId71"/>
    <p:sldId id="410" r:id="rId72"/>
    <p:sldId id="411" r:id="rId73"/>
    <p:sldId id="412" r:id="rId74"/>
    <p:sldId id="413" r:id="rId75"/>
    <p:sldId id="414" r:id="rId76"/>
    <p:sldId id="415" r:id="rId77"/>
    <p:sldId id="416" r:id="rId78"/>
    <p:sldId id="417" r:id="rId79"/>
    <p:sldId id="418" r:id="rId80"/>
    <p:sldId id="419" r:id="rId81"/>
    <p:sldId id="420" r:id="rId82"/>
    <p:sldId id="421" r:id="rId83"/>
    <p:sldId id="422" r:id="rId84"/>
    <p:sldId id="423" r:id="rId85"/>
    <p:sldId id="424" r:id="rId86"/>
    <p:sldId id="425" r:id="rId87"/>
    <p:sldId id="426" r:id="rId88"/>
    <p:sldId id="427" r:id="rId89"/>
    <p:sldId id="428" r:id="rId90"/>
    <p:sldId id="429" r:id="rId91"/>
    <p:sldId id="430" r:id="rId92"/>
    <p:sldId id="431" r:id="rId93"/>
    <p:sldId id="432" r:id="rId94"/>
    <p:sldId id="433" r:id="rId95"/>
    <p:sldId id="434" r:id="rId96"/>
    <p:sldId id="435" r:id="rId97"/>
    <p:sldId id="436" r:id="rId98"/>
    <p:sldId id="437" r:id="rId99"/>
    <p:sldId id="438" r:id="rId100"/>
    <p:sldId id="462" r:id="rId101"/>
    <p:sldId id="439" r:id="rId102"/>
    <p:sldId id="440" r:id="rId103"/>
    <p:sldId id="441" r:id="rId104"/>
    <p:sldId id="442" r:id="rId105"/>
    <p:sldId id="443" r:id="rId106"/>
    <p:sldId id="444" r:id="rId107"/>
    <p:sldId id="445" r:id="rId108"/>
    <p:sldId id="446" r:id="rId109"/>
    <p:sldId id="447" r:id="rId110"/>
    <p:sldId id="448" r:id="rId111"/>
    <p:sldId id="449" r:id="rId112"/>
    <p:sldId id="450" r:id="rId113"/>
    <p:sldId id="451" r:id="rId114"/>
    <p:sldId id="452" r:id="rId115"/>
    <p:sldId id="453" r:id="rId116"/>
    <p:sldId id="454" r:id="rId117"/>
    <p:sldId id="455" r:id="rId118"/>
    <p:sldId id="456" r:id="rId119"/>
    <p:sldId id="457" r:id="rId120"/>
    <p:sldId id="458" r:id="rId121"/>
  </p:sldIdLst>
  <p:sldSz cx="9144000" cy="6858000" type="screen4x3"/>
  <p:notesSz cx="6858000" cy="9144000"/>
  <p:defaultTextStyle>
    <a:defPPr>
      <a:defRPr lang="en-US"/>
    </a:defPPr>
    <a:lvl1pPr algn="l" rtl="0" eaLnBrk="0" fontAlgn="base" hangingPunct="0">
      <a:spcBef>
        <a:spcPct val="0"/>
      </a:spcBef>
      <a:spcAft>
        <a:spcPct val="0"/>
      </a:spcAft>
      <a:defRPr sz="2400" kern="1200">
        <a:solidFill>
          <a:schemeClr val="tx1"/>
        </a:solidFill>
        <a:latin typeface="Times New Roman" panose="02020603050405020304" pitchFamily="18" charset="0"/>
        <a:ea typeface="MS PGothic" panose="020B0600070205080204" pitchFamily="34" charset="-128"/>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S PGothic" panose="020B0600070205080204" pitchFamily="34" charset="-128"/>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S PGothic" panose="020B0600070205080204" pitchFamily="34" charset="-128"/>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S PGothic" panose="020B0600070205080204" pitchFamily="34" charset="-128"/>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S PGothic" panose="020B0600070205080204" pitchFamily="34" charset="-128"/>
        <a:cs typeface="+mn-cs"/>
      </a:defRPr>
    </a:lvl5pPr>
    <a:lvl6pPr marL="2286000" algn="l" defTabSz="914400" rtl="0" eaLnBrk="1" latinLnBrk="0" hangingPunct="1">
      <a:defRPr sz="2400" kern="1200">
        <a:solidFill>
          <a:schemeClr val="tx1"/>
        </a:solidFill>
        <a:latin typeface="Times New Roman" panose="02020603050405020304" pitchFamily="18" charset="0"/>
        <a:ea typeface="MS PGothic" panose="020B0600070205080204" pitchFamily="34" charset="-128"/>
        <a:cs typeface="+mn-cs"/>
      </a:defRPr>
    </a:lvl6pPr>
    <a:lvl7pPr marL="2743200" algn="l" defTabSz="914400" rtl="0" eaLnBrk="1" latinLnBrk="0" hangingPunct="1">
      <a:defRPr sz="2400" kern="1200">
        <a:solidFill>
          <a:schemeClr val="tx1"/>
        </a:solidFill>
        <a:latin typeface="Times New Roman" panose="02020603050405020304" pitchFamily="18" charset="0"/>
        <a:ea typeface="MS PGothic" panose="020B0600070205080204" pitchFamily="34" charset="-128"/>
        <a:cs typeface="+mn-cs"/>
      </a:defRPr>
    </a:lvl7pPr>
    <a:lvl8pPr marL="3200400" algn="l" defTabSz="914400" rtl="0" eaLnBrk="1" latinLnBrk="0" hangingPunct="1">
      <a:defRPr sz="2400" kern="1200">
        <a:solidFill>
          <a:schemeClr val="tx1"/>
        </a:solidFill>
        <a:latin typeface="Times New Roman" panose="02020603050405020304" pitchFamily="18" charset="0"/>
        <a:ea typeface="MS PGothic" panose="020B0600070205080204" pitchFamily="34" charset="-128"/>
        <a:cs typeface="+mn-cs"/>
      </a:defRPr>
    </a:lvl8pPr>
    <a:lvl9pPr marL="3657600" algn="l" defTabSz="914400" rtl="0" eaLnBrk="1" latinLnBrk="0" hangingPunct="1">
      <a:defRPr sz="2400" kern="1200">
        <a:solidFill>
          <a:schemeClr val="tx1"/>
        </a:solidFill>
        <a:latin typeface="Times New Roman" panose="02020603050405020304" pitchFamily="18" charset="0"/>
        <a:ea typeface="MS PGothic" panose="020B0600070205080204" pitchFamily="34" charset="-128"/>
        <a:cs typeface="+mn-cs"/>
      </a:defRPr>
    </a:lvl9pPr>
  </p:defaultTextStyle>
  <p:extLst>
    <p:ext uri="{EFAFB233-063F-42B5-8137-9DF3F51BA10A}">
      <p15:sldGuideLst xmlns:p15="http://schemas.microsoft.com/office/powerpoint/2012/main">
        <p15:guide id="1" orient="horz" pos="1008">
          <p15:clr>
            <a:srgbClr val="A4A3A4"/>
          </p15:clr>
        </p15:guide>
        <p15:guide id="2" pos="432">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8452" autoAdjust="0"/>
    <p:restoredTop sz="80755" autoAdjust="0"/>
  </p:normalViewPr>
  <p:slideViewPr>
    <p:cSldViewPr>
      <p:cViewPr varScale="1">
        <p:scale>
          <a:sx n="51" d="100"/>
          <a:sy n="51" d="100"/>
        </p:scale>
        <p:origin x="1228" y="40"/>
      </p:cViewPr>
      <p:guideLst>
        <p:guide orient="horz" pos="1008"/>
        <p:guide pos="432"/>
      </p:guideLst>
    </p:cSldViewPr>
  </p:slideViewPr>
  <p:outlineViewPr>
    <p:cViewPr>
      <p:scale>
        <a:sx n="33" d="100"/>
        <a:sy n="33" d="100"/>
      </p:scale>
      <p:origin x="0" y="1192"/>
    </p:cViewPr>
    <p:sldLst>
      <p:sld r:id="rId1" collapse="1"/>
      <p:sld r:id="rId2" collapse="1"/>
    </p:sldLst>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handoutMaster" Target="handoutMasters/handoutMaster1.xml"/><Relationship Id="rId128" Type="http://schemas.microsoft.com/office/2016/11/relationships/changesInfo" Target="changesInfos/changesInfo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presProps" Target="presProps.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s>
</file>

<file path=ppt/_rels/viewProps.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slide" Target="slides/slide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en Pfeifer" userId="fb68dd40a6c6cee7" providerId="LiveId" clId="{8FF9D434-A2B5-45B6-9C4C-EB1CBD510159}"/>
    <pc:docChg chg="undo custSel modSld modMainMaster">
      <pc:chgData name="Ben Pfeifer" userId="fb68dd40a6c6cee7" providerId="LiveId" clId="{8FF9D434-A2B5-45B6-9C4C-EB1CBD510159}" dt="2023-09-26T08:16:23.837" v="142" actId="12385"/>
      <pc:docMkLst>
        <pc:docMk/>
      </pc:docMkLst>
      <pc:sldChg chg="modSp mod">
        <pc:chgData name="Ben Pfeifer" userId="fb68dd40a6c6cee7" providerId="LiveId" clId="{8FF9D434-A2B5-45B6-9C4C-EB1CBD510159}" dt="2023-09-26T07:59:25.514" v="1" actId="20577"/>
        <pc:sldMkLst>
          <pc:docMk/>
          <pc:sldMk cId="1428288934" sldId="332"/>
        </pc:sldMkLst>
        <pc:spChg chg="mod">
          <ac:chgData name="Ben Pfeifer" userId="fb68dd40a6c6cee7" providerId="LiveId" clId="{8FF9D434-A2B5-45B6-9C4C-EB1CBD510159}" dt="2023-09-26T07:59:25.514" v="1" actId="20577"/>
          <ac:spMkLst>
            <pc:docMk/>
            <pc:sldMk cId="1428288934" sldId="332"/>
            <ac:spMk id="2" creationId="{00000000-0000-0000-0000-000000000000}"/>
          </ac:spMkLst>
        </pc:spChg>
      </pc:sldChg>
      <pc:sldChg chg="modSp mod">
        <pc:chgData name="Ben Pfeifer" userId="fb68dd40a6c6cee7" providerId="LiveId" clId="{8FF9D434-A2B5-45B6-9C4C-EB1CBD510159}" dt="2023-09-26T08:00:53.480" v="14" actId="1076"/>
        <pc:sldMkLst>
          <pc:docMk/>
          <pc:sldMk cId="3188949722" sldId="349"/>
        </pc:sldMkLst>
        <pc:spChg chg="mod">
          <ac:chgData name="Ben Pfeifer" userId="fb68dd40a6c6cee7" providerId="LiveId" clId="{8FF9D434-A2B5-45B6-9C4C-EB1CBD510159}" dt="2023-09-26T08:00:53.480" v="14" actId="1076"/>
          <ac:spMkLst>
            <pc:docMk/>
            <pc:sldMk cId="3188949722" sldId="349"/>
            <ac:spMk id="17411" creationId="{00000000-0000-0000-0000-000000000000}"/>
          </ac:spMkLst>
        </pc:spChg>
        <pc:spChg chg="mod">
          <ac:chgData name="Ben Pfeifer" userId="fb68dd40a6c6cee7" providerId="LiveId" clId="{8FF9D434-A2B5-45B6-9C4C-EB1CBD510159}" dt="2023-09-26T08:00:46.859" v="13" actId="20577"/>
          <ac:spMkLst>
            <pc:docMk/>
            <pc:sldMk cId="3188949722" sldId="349"/>
            <ac:spMk id="531465" creationId="{00000000-0000-0000-0000-000000000000}"/>
          </ac:spMkLst>
        </pc:spChg>
      </pc:sldChg>
      <pc:sldChg chg="modSp mod">
        <pc:chgData name="Ben Pfeifer" userId="fb68dd40a6c6cee7" providerId="LiveId" clId="{8FF9D434-A2B5-45B6-9C4C-EB1CBD510159}" dt="2023-09-26T08:03:04.793" v="55" actId="20577"/>
        <pc:sldMkLst>
          <pc:docMk/>
          <pc:sldMk cId="2178663732" sldId="364"/>
        </pc:sldMkLst>
        <pc:graphicFrameChg chg="modGraphic">
          <ac:chgData name="Ben Pfeifer" userId="fb68dd40a6c6cee7" providerId="LiveId" clId="{8FF9D434-A2B5-45B6-9C4C-EB1CBD510159}" dt="2023-09-26T08:03:04.793" v="55" actId="20577"/>
          <ac:graphicFrameMkLst>
            <pc:docMk/>
            <pc:sldMk cId="2178663732" sldId="364"/>
            <ac:graphicFrameMk id="8" creationId="{00000000-0000-0000-0000-000000000000}"/>
          </ac:graphicFrameMkLst>
        </pc:graphicFrameChg>
      </pc:sldChg>
      <pc:sldChg chg="modSp mod">
        <pc:chgData name="Ben Pfeifer" userId="fb68dd40a6c6cee7" providerId="LiveId" clId="{8FF9D434-A2B5-45B6-9C4C-EB1CBD510159}" dt="2023-09-26T08:03:32.211" v="86" actId="20577"/>
        <pc:sldMkLst>
          <pc:docMk/>
          <pc:sldMk cId="3012334210" sldId="365"/>
        </pc:sldMkLst>
        <pc:graphicFrameChg chg="modGraphic">
          <ac:chgData name="Ben Pfeifer" userId="fb68dd40a6c6cee7" providerId="LiveId" clId="{8FF9D434-A2B5-45B6-9C4C-EB1CBD510159}" dt="2023-09-26T08:03:32.211" v="86" actId="20577"/>
          <ac:graphicFrameMkLst>
            <pc:docMk/>
            <pc:sldMk cId="3012334210" sldId="365"/>
            <ac:graphicFrameMk id="8" creationId="{00000000-0000-0000-0000-000000000000}"/>
          </ac:graphicFrameMkLst>
        </pc:graphicFrameChg>
      </pc:sldChg>
      <pc:sldChg chg="modSp mod">
        <pc:chgData name="Ben Pfeifer" userId="fb68dd40a6c6cee7" providerId="LiveId" clId="{8FF9D434-A2B5-45B6-9C4C-EB1CBD510159}" dt="2023-09-26T08:15:41.346" v="125" actId="12385"/>
        <pc:sldMkLst>
          <pc:docMk/>
          <pc:sldMk cId="2531740280" sldId="399"/>
        </pc:sldMkLst>
        <pc:graphicFrameChg chg="modGraphic">
          <ac:chgData name="Ben Pfeifer" userId="fb68dd40a6c6cee7" providerId="LiveId" clId="{8FF9D434-A2B5-45B6-9C4C-EB1CBD510159}" dt="2023-09-26T08:15:41.346" v="125" actId="12385"/>
          <ac:graphicFrameMkLst>
            <pc:docMk/>
            <pc:sldMk cId="2531740280" sldId="399"/>
            <ac:graphicFrameMk id="7" creationId="{00000000-0000-0000-0000-000000000000}"/>
          </ac:graphicFrameMkLst>
        </pc:graphicFrameChg>
      </pc:sldChg>
      <pc:sldChg chg="modSp mod">
        <pc:chgData name="Ben Pfeifer" userId="fb68dd40a6c6cee7" providerId="LiveId" clId="{8FF9D434-A2B5-45B6-9C4C-EB1CBD510159}" dt="2023-09-26T08:15:43.940" v="126" actId="12385"/>
        <pc:sldMkLst>
          <pc:docMk/>
          <pc:sldMk cId="3312848152" sldId="400"/>
        </pc:sldMkLst>
        <pc:graphicFrameChg chg="modGraphic">
          <ac:chgData name="Ben Pfeifer" userId="fb68dd40a6c6cee7" providerId="LiveId" clId="{8FF9D434-A2B5-45B6-9C4C-EB1CBD510159}" dt="2023-09-26T08:15:43.940" v="126" actId="12385"/>
          <ac:graphicFrameMkLst>
            <pc:docMk/>
            <pc:sldMk cId="3312848152" sldId="400"/>
            <ac:graphicFrameMk id="7" creationId="{00000000-0000-0000-0000-000000000000}"/>
          </ac:graphicFrameMkLst>
        </pc:graphicFrameChg>
      </pc:sldChg>
      <pc:sldChg chg="modSp mod">
        <pc:chgData name="Ben Pfeifer" userId="fb68dd40a6c6cee7" providerId="LiveId" clId="{8FF9D434-A2B5-45B6-9C4C-EB1CBD510159}" dt="2023-09-26T08:15:46.045" v="127" actId="12385"/>
        <pc:sldMkLst>
          <pc:docMk/>
          <pc:sldMk cId="1177508503" sldId="401"/>
        </pc:sldMkLst>
        <pc:graphicFrameChg chg="modGraphic">
          <ac:chgData name="Ben Pfeifer" userId="fb68dd40a6c6cee7" providerId="LiveId" clId="{8FF9D434-A2B5-45B6-9C4C-EB1CBD510159}" dt="2023-09-26T08:15:46.045" v="127" actId="12385"/>
          <ac:graphicFrameMkLst>
            <pc:docMk/>
            <pc:sldMk cId="1177508503" sldId="401"/>
            <ac:graphicFrameMk id="7" creationId="{00000000-0000-0000-0000-000000000000}"/>
          </ac:graphicFrameMkLst>
        </pc:graphicFrameChg>
      </pc:sldChg>
      <pc:sldChg chg="modSp mod">
        <pc:chgData name="Ben Pfeifer" userId="fb68dd40a6c6cee7" providerId="LiveId" clId="{8FF9D434-A2B5-45B6-9C4C-EB1CBD510159}" dt="2023-09-26T08:15:48.011" v="128" actId="12385"/>
        <pc:sldMkLst>
          <pc:docMk/>
          <pc:sldMk cId="2815160767" sldId="402"/>
        </pc:sldMkLst>
        <pc:graphicFrameChg chg="modGraphic">
          <ac:chgData name="Ben Pfeifer" userId="fb68dd40a6c6cee7" providerId="LiveId" clId="{8FF9D434-A2B5-45B6-9C4C-EB1CBD510159}" dt="2023-09-26T08:15:48.011" v="128" actId="12385"/>
          <ac:graphicFrameMkLst>
            <pc:docMk/>
            <pc:sldMk cId="2815160767" sldId="402"/>
            <ac:graphicFrameMk id="7" creationId="{00000000-0000-0000-0000-000000000000}"/>
          </ac:graphicFrameMkLst>
        </pc:graphicFrameChg>
      </pc:sldChg>
      <pc:sldChg chg="modSp mod">
        <pc:chgData name="Ben Pfeifer" userId="fb68dd40a6c6cee7" providerId="LiveId" clId="{8FF9D434-A2B5-45B6-9C4C-EB1CBD510159}" dt="2023-09-26T08:15:50.416" v="129" actId="12385"/>
        <pc:sldMkLst>
          <pc:docMk/>
          <pc:sldMk cId="1999884041" sldId="403"/>
        </pc:sldMkLst>
        <pc:graphicFrameChg chg="modGraphic">
          <ac:chgData name="Ben Pfeifer" userId="fb68dd40a6c6cee7" providerId="LiveId" clId="{8FF9D434-A2B5-45B6-9C4C-EB1CBD510159}" dt="2023-09-26T08:15:50.416" v="129" actId="12385"/>
          <ac:graphicFrameMkLst>
            <pc:docMk/>
            <pc:sldMk cId="1999884041" sldId="403"/>
            <ac:graphicFrameMk id="7" creationId="{00000000-0000-0000-0000-000000000000}"/>
          </ac:graphicFrameMkLst>
        </pc:graphicFrameChg>
      </pc:sldChg>
      <pc:sldChg chg="modSp mod">
        <pc:chgData name="Ben Pfeifer" userId="fb68dd40a6c6cee7" providerId="LiveId" clId="{8FF9D434-A2B5-45B6-9C4C-EB1CBD510159}" dt="2023-09-26T08:15:52.751" v="130" actId="12385"/>
        <pc:sldMkLst>
          <pc:docMk/>
          <pc:sldMk cId="217422143" sldId="404"/>
        </pc:sldMkLst>
        <pc:graphicFrameChg chg="modGraphic">
          <ac:chgData name="Ben Pfeifer" userId="fb68dd40a6c6cee7" providerId="LiveId" clId="{8FF9D434-A2B5-45B6-9C4C-EB1CBD510159}" dt="2023-09-26T08:15:52.751" v="130" actId="12385"/>
          <ac:graphicFrameMkLst>
            <pc:docMk/>
            <pc:sldMk cId="217422143" sldId="404"/>
            <ac:graphicFrameMk id="7" creationId="{00000000-0000-0000-0000-000000000000}"/>
          </ac:graphicFrameMkLst>
        </pc:graphicFrameChg>
      </pc:sldChg>
      <pc:sldChg chg="modSp mod">
        <pc:chgData name="Ben Pfeifer" userId="fb68dd40a6c6cee7" providerId="LiveId" clId="{8FF9D434-A2B5-45B6-9C4C-EB1CBD510159}" dt="2023-09-26T08:15:54.579" v="131" actId="12385"/>
        <pc:sldMkLst>
          <pc:docMk/>
          <pc:sldMk cId="1032183352" sldId="405"/>
        </pc:sldMkLst>
        <pc:graphicFrameChg chg="modGraphic">
          <ac:chgData name="Ben Pfeifer" userId="fb68dd40a6c6cee7" providerId="LiveId" clId="{8FF9D434-A2B5-45B6-9C4C-EB1CBD510159}" dt="2023-09-26T08:15:54.579" v="131" actId="12385"/>
          <ac:graphicFrameMkLst>
            <pc:docMk/>
            <pc:sldMk cId="1032183352" sldId="405"/>
            <ac:graphicFrameMk id="7" creationId="{00000000-0000-0000-0000-000000000000}"/>
          </ac:graphicFrameMkLst>
        </pc:graphicFrameChg>
      </pc:sldChg>
      <pc:sldChg chg="modSp mod">
        <pc:chgData name="Ben Pfeifer" userId="fb68dd40a6c6cee7" providerId="LiveId" clId="{8FF9D434-A2B5-45B6-9C4C-EB1CBD510159}" dt="2023-09-26T08:15:57.057" v="132" actId="12385"/>
        <pc:sldMkLst>
          <pc:docMk/>
          <pc:sldMk cId="3828414272" sldId="406"/>
        </pc:sldMkLst>
        <pc:graphicFrameChg chg="modGraphic">
          <ac:chgData name="Ben Pfeifer" userId="fb68dd40a6c6cee7" providerId="LiveId" clId="{8FF9D434-A2B5-45B6-9C4C-EB1CBD510159}" dt="2023-09-26T08:15:57.057" v="132" actId="12385"/>
          <ac:graphicFrameMkLst>
            <pc:docMk/>
            <pc:sldMk cId="3828414272" sldId="406"/>
            <ac:graphicFrameMk id="7" creationId="{00000000-0000-0000-0000-000000000000}"/>
          </ac:graphicFrameMkLst>
        </pc:graphicFrameChg>
      </pc:sldChg>
      <pc:sldChg chg="modSp mod">
        <pc:chgData name="Ben Pfeifer" userId="fb68dd40a6c6cee7" providerId="LiveId" clId="{8FF9D434-A2B5-45B6-9C4C-EB1CBD510159}" dt="2023-09-26T08:15:59.042" v="133" actId="12385"/>
        <pc:sldMkLst>
          <pc:docMk/>
          <pc:sldMk cId="922020230" sldId="407"/>
        </pc:sldMkLst>
        <pc:graphicFrameChg chg="modGraphic">
          <ac:chgData name="Ben Pfeifer" userId="fb68dd40a6c6cee7" providerId="LiveId" clId="{8FF9D434-A2B5-45B6-9C4C-EB1CBD510159}" dt="2023-09-26T08:15:59.042" v="133" actId="12385"/>
          <ac:graphicFrameMkLst>
            <pc:docMk/>
            <pc:sldMk cId="922020230" sldId="407"/>
            <ac:graphicFrameMk id="7" creationId="{00000000-0000-0000-0000-000000000000}"/>
          </ac:graphicFrameMkLst>
        </pc:graphicFrameChg>
      </pc:sldChg>
      <pc:sldChg chg="modSp mod">
        <pc:chgData name="Ben Pfeifer" userId="fb68dd40a6c6cee7" providerId="LiveId" clId="{8FF9D434-A2B5-45B6-9C4C-EB1CBD510159}" dt="2023-09-26T08:16:01.022" v="134" actId="12385"/>
        <pc:sldMkLst>
          <pc:docMk/>
          <pc:sldMk cId="4027851193" sldId="408"/>
        </pc:sldMkLst>
        <pc:graphicFrameChg chg="modGraphic">
          <ac:chgData name="Ben Pfeifer" userId="fb68dd40a6c6cee7" providerId="LiveId" clId="{8FF9D434-A2B5-45B6-9C4C-EB1CBD510159}" dt="2023-09-26T08:16:01.022" v="134" actId="12385"/>
          <ac:graphicFrameMkLst>
            <pc:docMk/>
            <pc:sldMk cId="4027851193" sldId="408"/>
            <ac:graphicFrameMk id="7" creationId="{00000000-0000-0000-0000-000000000000}"/>
          </ac:graphicFrameMkLst>
        </pc:graphicFrameChg>
      </pc:sldChg>
      <pc:sldChg chg="addSp delSp modSp mod">
        <pc:chgData name="Ben Pfeifer" userId="fb68dd40a6c6cee7" providerId="LiveId" clId="{8FF9D434-A2B5-45B6-9C4C-EB1CBD510159}" dt="2023-09-26T08:15:33.666" v="124" actId="13244"/>
        <pc:sldMkLst>
          <pc:docMk/>
          <pc:sldMk cId="2590287680" sldId="415"/>
        </pc:sldMkLst>
        <pc:spChg chg="mod ord">
          <ac:chgData name="Ben Pfeifer" userId="fb68dd40a6c6cee7" providerId="LiveId" clId="{8FF9D434-A2B5-45B6-9C4C-EB1CBD510159}" dt="2023-09-26T08:15:18.600" v="123" actId="13244"/>
          <ac:spMkLst>
            <pc:docMk/>
            <pc:sldMk cId="2590287680" sldId="415"/>
            <ac:spMk id="3" creationId="{00000000-0000-0000-0000-000000000000}"/>
          </ac:spMkLst>
        </pc:spChg>
        <pc:spChg chg="add del mod">
          <ac:chgData name="Ben Pfeifer" userId="fb68dd40a6c6cee7" providerId="LiveId" clId="{8FF9D434-A2B5-45B6-9C4C-EB1CBD510159}" dt="2023-09-26T08:10:01.414" v="101" actId="478"/>
          <ac:spMkLst>
            <pc:docMk/>
            <pc:sldMk cId="2590287680" sldId="415"/>
            <ac:spMk id="4" creationId="{E00505B0-0CDD-2C6F-ACB2-74E034FAF11C}"/>
          </ac:spMkLst>
        </pc:spChg>
        <pc:spChg chg="mod ord">
          <ac:chgData name="Ben Pfeifer" userId="fb68dd40a6c6cee7" providerId="LiveId" clId="{8FF9D434-A2B5-45B6-9C4C-EB1CBD510159}" dt="2023-09-26T08:14:45.433" v="120" actId="1076"/>
          <ac:spMkLst>
            <pc:docMk/>
            <pc:sldMk cId="2590287680" sldId="415"/>
            <ac:spMk id="5" creationId="{00000000-0000-0000-0000-000000000000}"/>
          </ac:spMkLst>
        </pc:spChg>
        <pc:spChg chg="add del mod">
          <ac:chgData name="Ben Pfeifer" userId="fb68dd40a6c6cee7" providerId="LiveId" clId="{8FF9D434-A2B5-45B6-9C4C-EB1CBD510159}" dt="2023-09-26T08:12:09.671" v="109" actId="20577"/>
          <ac:spMkLst>
            <pc:docMk/>
            <pc:sldMk cId="2590287680" sldId="415"/>
            <ac:spMk id="84994" creationId="{00000000-0000-0000-0000-000000000000}"/>
          </ac:spMkLst>
        </pc:spChg>
        <pc:picChg chg="mod ord">
          <ac:chgData name="Ben Pfeifer" userId="fb68dd40a6c6cee7" providerId="LiveId" clId="{8FF9D434-A2B5-45B6-9C4C-EB1CBD510159}" dt="2023-09-26T08:14:53.823" v="121" actId="1076"/>
          <ac:picMkLst>
            <pc:docMk/>
            <pc:sldMk cId="2590287680" sldId="415"/>
            <ac:picMk id="12" creationId="{00000000-0000-0000-0000-000000000000}"/>
          </ac:picMkLst>
        </pc:picChg>
        <pc:picChg chg="mod ord">
          <ac:chgData name="Ben Pfeifer" userId="fb68dd40a6c6cee7" providerId="LiveId" clId="{8FF9D434-A2B5-45B6-9C4C-EB1CBD510159}" dt="2023-09-26T08:15:33.666" v="124" actId="13244"/>
          <ac:picMkLst>
            <pc:docMk/>
            <pc:sldMk cId="2590287680" sldId="415"/>
            <ac:picMk id="13" creationId="{00000000-0000-0000-0000-000000000000}"/>
          </ac:picMkLst>
        </pc:picChg>
      </pc:sldChg>
      <pc:sldChg chg="modSp mod">
        <pc:chgData name="Ben Pfeifer" userId="fb68dd40a6c6cee7" providerId="LiveId" clId="{8FF9D434-A2B5-45B6-9C4C-EB1CBD510159}" dt="2023-09-26T08:16:04.129" v="135" actId="12385"/>
        <pc:sldMkLst>
          <pc:docMk/>
          <pc:sldMk cId="2731347225" sldId="424"/>
        </pc:sldMkLst>
        <pc:graphicFrameChg chg="modGraphic">
          <ac:chgData name="Ben Pfeifer" userId="fb68dd40a6c6cee7" providerId="LiveId" clId="{8FF9D434-A2B5-45B6-9C4C-EB1CBD510159}" dt="2023-09-26T08:16:04.129" v="135" actId="12385"/>
          <ac:graphicFrameMkLst>
            <pc:docMk/>
            <pc:sldMk cId="2731347225" sldId="424"/>
            <ac:graphicFrameMk id="7" creationId="{00000000-0000-0000-0000-000000000000}"/>
          </ac:graphicFrameMkLst>
        </pc:graphicFrameChg>
      </pc:sldChg>
      <pc:sldChg chg="modSp mod">
        <pc:chgData name="Ben Pfeifer" userId="fb68dd40a6c6cee7" providerId="LiveId" clId="{8FF9D434-A2B5-45B6-9C4C-EB1CBD510159}" dt="2023-09-26T08:16:06.794" v="136" actId="12385"/>
        <pc:sldMkLst>
          <pc:docMk/>
          <pc:sldMk cId="1353056617" sldId="425"/>
        </pc:sldMkLst>
        <pc:graphicFrameChg chg="modGraphic">
          <ac:chgData name="Ben Pfeifer" userId="fb68dd40a6c6cee7" providerId="LiveId" clId="{8FF9D434-A2B5-45B6-9C4C-EB1CBD510159}" dt="2023-09-26T08:16:06.794" v="136" actId="12385"/>
          <ac:graphicFrameMkLst>
            <pc:docMk/>
            <pc:sldMk cId="1353056617" sldId="425"/>
            <ac:graphicFrameMk id="7" creationId="{00000000-0000-0000-0000-000000000000}"/>
          </ac:graphicFrameMkLst>
        </pc:graphicFrameChg>
      </pc:sldChg>
      <pc:sldChg chg="modSp mod">
        <pc:chgData name="Ben Pfeifer" userId="fb68dd40a6c6cee7" providerId="LiveId" clId="{8FF9D434-A2B5-45B6-9C4C-EB1CBD510159}" dt="2023-09-26T08:16:09.938" v="137" actId="12385"/>
        <pc:sldMkLst>
          <pc:docMk/>
          <pc:sldMk cId="2505435045" sldId="426"/>
        </pc:sldMkLst>
        <pc:graphicFrameChg chg="modGraphic">
          <ac:chgData name="Ben Pfeifer" userId="fb68dd40a6c6cee7" providerId="LiveId" clId="{8FF9D434-A2B5-45B6-9C4C-EB1CBD510159}" dt="2023-09-26T08:16:09.938" v="137" actId="12385"/>
          <ac:graphicFrameMkLst>
            <pc:docMk/>
            <pc:sldMk cId="2505435045" sldId="426"/>
            <ac:graphicFrameMk id="7" creationId="{00000000-0000-0000-0000-000000000000}"/>
          </ac:graphicFrameMkLst>
        </pc:graphicFrameChg>
      </pc:sldChg>
      <pc:sldChg chg="modSp mod">
        <pc:chgData name="Ben Pfeifer" userId="fb68dd40a6c6cee7" providerId="LiveId" clId="{8FF9D434-A2B5-45B6-9C4C-EB1CBD510159}" dt="2023-09-26T08:16:13.332" v="138" actId="12385"/>
        <pc:sldMkLst>
          <pc:docMk/>
          <pc:sldMk cId="612972396" sldId="427"/>
        </pc:sldMkLst>
        <pc:graphicFrameChg chg="modGraphic">
          <ac:chgData name="Ben Pfeifer" userId="fb68dd40a6c6cee7" providerId="LiveId" clId="{8FF9D434-A2B5-45B6-9C4C-EB1CBD510159}" dt="2023-09-26T08:16:13.332" v="138" actId="12385"/>
          <ac:graphicFrameMkLst>
            <pc:docMk/>
            <pc:sldMk cId="612972396" sldId="427"/>
            <ac:graphicFrameMk id="7" creationId="{00000000-0000-0000-0000-000000000000}"/>
          </ac:graphicFrameMkLst>
        </pc:graphicFrameChg>
      </pc:sldChg>
      <pc:sldChg chg="modSp mod">
        <pc:chgData name="Ben Pfeifer" userId="fb68dd40a6c6cee7" providerId="LiveId" clId="{8FF9D434-A2B5-45B6-9C4C-EB1CBD510159}" dt="2023-09-26T08:16:15.943" v="139" actId="12385"/>
        <pc:sldMkLst>
          <pc:docMk/>
          <pc:sldMk cId="3628893553" sldId="428"/>
        </pc:sldMkLst>
        <pc:graphicFrameChg chg="modGraphic">
          <ac:chgData name="Ben Pfeifer" userId="fb68dd40a6c6cee7" providerId="LiveId" clId="{8FF9D434-A2B5-45B6-9C4C-EB1CBD510159}" dt="2023-09-26T08:16:15.943" v="139" actId="12385"/>
          <ac:graphicFrameMkLst>
            <pc:docMk/>
            <pc:sldMk cId="3628893553" sldId="428"/>
            <ac:graphicFrameMk id="7" creationId="{00000000-0000-0000-0000-000000000000}"/>
          </ac:graphicFrameMkLst>
        </pc:graphicFrameChg>
      </pc:sldChg>
      <pc:sldChg chg="modSp mod">
        <pc:chgData name="Ben Pfeifer" userId="fb68dd40a6c6cee7" providerId="LiveId" clId="{8FF9D434-A2B5-45B6-9C4C-EB1CBD510159}" dt="2023-09-26T08:16:18.805" v="140" actId="12385"/>
        <pc:sldMkLst>
          <pc:docMk/>
          <pc:sldMk cId="3009152792" sldId="429"/>
        </pc:sldMkLst>
        <pc:graphicFrameChg chg="modGraphic">
          <ac:chgData name="Ben Pfeifer" userId="fb68dd40a6c6cee7" providerId="LiveId" clId="{8FF9D434-A2B5-45B6-9C4C-EB1CBD510159}" dt="2023-09-26T08:16:18.805" v="140" actId="12385"/>
          <ac:graphicFrameMkLst>
            <pc:docMk/>
            <pc:sldMk cId="3009152792" sldId="429"/>
            <ac:graphicFrameMk id="7" creationId="{00000000-0000-0000-0000-000000000000}"/>
          </ac:graphicFrameMkLst>
        </pc:graphicFrameChg>
      </pc:sldChg>
      <pc:sldChg chg="modSp mod">
        <pc:chgData name="Ben Pfeifer" userId="fb68dd40a6c6cee7" providerId="LiveId" clId="{8FF9D434-A2B5-45B6-9C4C-EB1CBD510159}" dt="2023-09-26T08:16:21.291" v="141" actId="12385"/>
        <pc:sldMkLst>
          <pc:docMk/>
          <pc:sldMk cId="2888621851" sldId="430"/>
        </pc:sldMkLst>
        <pc:graphicFrameChg chg="modGraphic">
          <ac:chgData name="Ben Pfeifer" userId="fb68dd40a6c6cee7" providerId="LiveId" clId="{8FF9D434-A2B5-45B6-9C4C-EB1CBD510159}" dt="2023-09-26T08:16:21.291" v="141" actId="12385"/>
          <ac:graphicFrameMkLst>
            <pc:docMk/>
            <pc:sldMk cId="2888621851" sldId="430"/>
            <ac:graphicFrameMk id="7" creationId="{00000000-0000-0000-0000-000000000000}"/>
          </ac:graphicFrameMkLst>
        </pc:graphicFrameChg>
      </pc:sldChg>
      <pc:sldChg chg="modSp mod">
        <pc:chgData name="Ben Pfeifer" userId="fb68dd40a6c6cee7" providerId="LiveId" clId="{8FF9D434-A2B5-45B6-9C4C-EB1CBD510159}" dt="2023-09-26T08:16:23.837" v="142" actId="12385"/>
        <pc:sldMkLst>
          <pc:docMk/>
          <pc:sldMk cId="4159035482" sldId="431"/>
        </pc:sldMkLst>
        <pc:graphicFrameChg chg="modGraphic">
          <ac:chgData name="Ben Pfeifer" userId="fb68dd40a6c6cee7" providerId="LiveId" clId="{8FF9D434-A2B5-45B6-9C4C-EB1CBD510159}" dt="2023-09-26T08:16:23.837" v="142" actId="12385"/>
          <ac:graphicFrameMkLst>
            <pc:docMk/>
            <pc:sldMk cId="4159035482" sldId="431"/>
            <ac:graphicFrameMk id="7" creationId="{00000000-0000-0000-0000-000000000000}"/>
          </ac:graphicFrameMkLst>
        </pc:graphicFrameChg>
      </pc:sldChg>
      <pc:sldChg chg="delSp mod">
        <pc:chgData name="Ben Pfeifer" userId="fb68dd40a6c6cee7" providerId="LiveId" clId="{8FF9D434-A2B5-45B6-9C4C-EB1CBD510159}" dt="2023-09-26T08:00:24.875" v="7" actId="478"/>
        <pc:sldMkLst>
          <pc:docMk/>
          <pc:sldMk cId="1746203313" sldId="459"/>
        </pc:sldMkLst>
        <pc:spChg chg="del">
          <ac:chgData name="Ben Pfeifer" userId="fb68dd40a6c6cee7" providerId="LiveId" clId="{8FF9D434-A2B5-45B6-9C4C-EB1CBD510159}" dt="2023-09-26T08:00:24.875" v="7" actId="478"/>
          <ac:spMkLst>
            <pc:docMk/>
            <pc:sldMk cId="1746203313" sldId="459"/>
            <ac:spMk id="5" creationId="{00000000-0000-0000-0000-000000000000}"/>
          </ac:spMkLst>
        </pc:spChg>
      </pc:sldChg>
      <pc:sldMasterChg chg="modSp mod">
        <pc:chgData name="Ben Pfeifer" userId="fb68dd40a6c6cee7" providerId="LiveId" clId="{8FF9D434-A2B5-45B6-9C4C-EB1CBD510159}" dt="2023-09-26T07:59:51.018" v="6" actId="20577"/>
        <pc:sldMasterMkLst>
          <pc:docMk/>
          <pc:sldMasterMk cId="0" sldId="2147483762"/>
        </pc:sldMasterMkLst>
        <pc:spChg chg="mod">
          <ac:chgData name="Ben Pfeifer" userId="fb68dd40a6c6cee7" providerId="LiveId" clId="{8FF9D434-A2B5-45B6-9C4C-EB1CBD510159}" dt="2023-09-26T07:59:51.018" v="6" actId="20577"/>
          <ac:spMkLst>
            <pc:docMk/>
            <pc:sldMasterMk cId="0" sldId="2147483762"/>
            <ac:spMk id="1031" creationId="{00000000-0000-0000-0000-000000000000}"/>
          </ac:spMkLst>
        </pc:sp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8002" name="Rectangle 2"/>
          <p:cNvSpPr>
            <a:spLocks noGrp="1" noChangeArrowheads="1"/>
          </p:cNvSpPr>
          <p:nvPr>
            <p:ph type="hdr" sz="quarter"/>
          </p:nvPr>
        </p:nvSpPr>
        <p:spPr bwMode="auto">
          <a:xfrm>
            <a:off x="0" y="0"/>
            <a:ext cx="2971800" cy="457200"/>
          </a:xfrm>
          <a:prstGeom prst="rect">
            <a:avLst/>
          </a:prstGeom>
          <a:noFill/>
          <a:ln w="12700" cap="sq">
            <a:noFill/>
            <a:miter lim="800000"/>
            <a:headEnd type="none" w="sm" len="sm"/>
            <a:tailEnd type="none" w="sm" len="sm"/>
          </a:ln>
          <a:effectLst/>
        </p:spPr>
        <p:txBody>
          <a:bodyPr vert="horz" wrap="none" lIns="91440" tIns="45720" rIns="91440" bIns="45720" numCol="1" anchor="t" anchorCtr="0" compatLnSpc="1">
            <a:prstTxWarp prst="textNoShape">
              <a:avLst/>
            </a:prstTxWarp>
          </a:bodyPr>
          <a:lstStyle>
            <a:lvl1pPr eaLnBrk="1" hangingPunct="1">
              <a:defRPr sz="1200">
                <a:latin typeface="Times New Roman" pitchFamily="80" charset="0"/>
                <a:ea typeface="+mn-ea"/>
                <a:cs typeface="+mn-cs"/>
              </a:defRPr>
            </a:lvl1pPr>
          </a:lstStyle>
          <a:p>
            <a:pPr>
              <a:defRPr/>
            </a:pPr>
            <a:endParaRPr lang="en-US"/>
          </a:p>
        </p:txBody>
      </p:sp>
      <p:sp>
        <p:nvSpPr>
          <p:cNvPr id="128003" name="Rectangle 3"/>
          <p:cNvSpPr>
            <a:spLocks noGrp="1" noChangeArrowheads="1"/>
          </p:cNvSpPr>
          <p:nvPr>
            <p:ph type="dt" sz="quarter" idx="1"/>
          </p:nvPr>
        </p:nvSpPr>
        <p:spPr bwMode="auto">
          <a:xfrm>
            <a:off x="3886200" y="0"/>
            <a:ext cx="2971800" cy="457200"/>
          </a:xfrm>
          <a:prstGeom prst="rect">
            <a:avLst/>
          </a:prstGeom>
          <a:noFill/>
          <a:ln w="12700" cap="sq">
            <a:noFill/>
            <a:miter lim="800000"/>
            <a:headEnd type="none" w="sm" len="sm"/>
            <a:tailEnd type="none" w="sm" len="sm"/>
          </a:ln>
          <a:effectLst/>
        </p:spPr>
        <p:txBody>
          <a:bodyPr vert="horz" wrap="none" lIns="91440" tIns="45720" rIns="91440" bIns="45720" numCol="1" anchor="t" anchorCtr="0" compatLnSpc="1">
            <a:prstTxWarp prst="textNoShape">
              <a:avLst/>
            </a:prstTxWarp>
          </a:bodyPr>
          <a:lstStyle>
            <a:lvl1pPr algn="r" eaLnBrk="1" hangingPunct="1">
              <a:defRPr sz="1200">
                <a:latin typeface="Times New Roman" pitchFamily="80" charset="0"/>
                <a:ea typeface="+mn-ea"/>
                <a:cs typeface="+mn-cs"/>
              </a:defRPr>
            </a:lvl1pPr>
          </a:lstStyle>
          <a:p>
            <a:pPr>
              <a:defRPr/>
            </a:pPr>
            <a:endParaRPr lang="en-US"/>
          </a:p>
        </p:txBody>
      </p:sp>
      <p:sp>
        <p:nvSpPr>
          <p:cNvPr id="128004" name="Rectangle 4"/>
          <p:cNvSpPr>
            <a:spLocks noGrp="1" noChangeArrowheads="1"/>
          </p:cNvSpPr>
          <p:nvPr>
            <p:ph type="ftr" sz="quarter" idx="2"/>
          </p:nvPr>
        </p:nvSpPr>
        <p:spPr bwMode="auto">
          <a:xfrm>
            <a:off x="0" y="8686800"/>
            <a:ext cx="2971800" cy="457200"/>
          </a:xfrm>
          <a:prstGeom prst="rect">
            <a:avLst/>
          </a:prstGeom>
          <a:noFill/>
          <a:ln w="12700" cap="sq">
            <a:noFill/>
            <a:miter lim="800000"/>
            <a:headEnd type="none" w="sm" len="sm"/>
            <a:tailEnd type="none" w="sm" len="sm"/>
          </a:ln>
          <a:effectLst/>
        </p:spPr>
        <p:txBody>
          <a:bodyPr vert="horz" wrap="none" lIns="91440" tIns="45720" rIns="91440" bIns="45720" numCol="1" anchor="b" anchorCtr="0" compatLnSpc="1">
            <a:prstTxWarp prst="textNoShape">
              <a:avLst/>
            </a:prstTxWarp>
          </a:bodyPr>
          <a:lstStyle>
            <a:lvl1pPr eaLnBrk="1" hangingPunct="1">
              <a:defRPr sz="1200">
                <a:latin typeface="Times New Roman" pitchFamily="80" charset="0"/>
                <a:ea typeface="+mn-ea"/>
                <a:cs typeface="+mn-cs"/>
              </a:defRPr>
            </a:lvl1pPr>
          </a:lstStyle>
          <a:p>
            <a:pPr>
              <a:defRPr/>
            </a:pPr>
            <a:endParaRPr lang="en-US"/>
          </a:p>
        </p:txBody>
      </p:sp>
      <p:sp>
        <p:nvSpPr>
          <p:cNvPr id="128005" name="Rectangle 5"/>
          <p:cNvSpPr>
            <a:spLocks noGrp="1" noChangeArrowheads="1"/>
          </p:cNvSpPr>
          <p:nvPr>
            <p:ph type="sldNum" sz="quarter" idx="3"/>
          </p:nvPr>
        </p:nvSpPr>
        <p:spPr bwMode="auto">
          <a:xfrm>
            <a:off x="3886200" y="8686800"/>
            <a:ext cx="2971800" cy="457200"/>
          </a:xfrm>
          <a:prstGeom prst="rect">
            <a:avLst/>
          </a:prstGeom>
          <a:noFill/>
          <a:ln w="12700" cap="sq">
            <a:noFill/>
            <a:miter lim="800000"/>
            <a:headEnd type="none" w="sm" len="sm"/>
            <a:tailEnd type="none" w="sm" len="sm"/>
          </a:ln>
          <a:effectLst/>
        </p:spPr>
        <p:txBody>
          <a:bodyPr vert="horz" wrap="none" lIns="91440" tIns="45720" rIns="91440" bIns="45720" numCol="1" anchor="b" anchorCtr="0" compatLnSpc="1">
            <a:prstTxWarp prst="textNoShape">
              <a:avLst/>
            </a:prstTxWarp>
          </a:bodyPr>
          <a:lstStyle>
            <a:lvl1pPr algn="r" eaLnBrk="1" hangingPunct="1">
              <a:defRPr sz="1200"/>
            </a:lvl1pPr>
          </a:lstStyle>
          <a:p>
            <a:fld id="{5FB9E71A-E6C8-4FD3-B040-DCC6247393BF}" type="slidenum">
              <a:rPr lang="en-US" altLang="en-US"/>
              <a:pPr/>
              <a:t>‹#›</a:t>
            </a:fld>
            <a:endParaRPr lang="en-US" altLang="en-US"/>
          </a:p>
        </p:txBody>
      </p:sp>
    </p:spTree>
    <p:extLst>
      <p:ext uri="{BB962C8B-B14F-4D97-AF65-F5344CB8AC3E}">
        <p14:creationId xmlns:p14="http://schemas.microsoft.com/office/powerpoint/2010/main" val="150746506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atin typeface="Arial" charset="0"/>
                <a:ea typeface="+mn-ea"/>
                <a:cs typeface="+mn-cs"/>
              </a:defRPr>
            </a:lvl1pPr>
          </a:lstStyle>
          <a:p>
            <a:pPr>
              <a:defRPr/>
            </a:pPr>
            <a:endParaRPr lang="en-US"/>
          </a:p>
        </p:txBody>
      </p:sp>
      <p:sp>
        <p:nvSpPr>
          <p:cNvPr id="5123"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Arial" charset="0"/>
                <a:ea typeface="+mn-ea"/>
                <a:cs typeface="+mn-cs"/>
              </a:defRPr>
            </a:lvl1pPr>
          </a:lstStyle>
          <a:p>
            <a:pPr>
              <a:defRPr/>
            </a:pPr>
            <a:endParaRPr lang="en-US"/>
          </a:p>
        </p:txBody>
      </p:sp>
      <p:sp>
        <p:nvSpPr>
          <p:cNvPr id="36868"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 xmlns:a14="http://schemas.microsoft.com/office/drawing/2010/main">
                <a:solidFill>
                  <a:srgbClr val="FFFFFF"/>
                </a:solidFill>
              </a14:hiddenFill>
            </a:ext>
          </a:extLst>
        </p:spPr>
      </p:sp>
      <p:sp>
        <p:nvSpPr>
          <p:cNvPr id="5125"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126"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Arial" charset="0"/>
                <a:ea typeface="+mn-ea"/>
                <a:cs typeface="+mn-cs"/>
              </a:defRPr>
            </a:lvl1pPr>
          </a:lstStyle>
          <a:p>
            <a:pPr>
              <a:defRPr/>
            </a:pPr>
            <a:endParaRPr lang="en-US"/>
          </a:p>
        </p:txBody>
      </p:sp>
      <p:sp>
        <p:nvSpPr>
          <p:cNvPr id="5127"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atin typeface="Arial" panose="020B0604020202020204" pitchFamily="34" charset="0"/>
              </a:defRPr>
            </a:lvl1pPr>
          </a:lstStyle>
          <a:p>
            <a:fld id="{9DD8956B-8F79-4131-A174-E4232C945132}" type="slidenum">
              <a:rPr lang="en-US" altLang="en-US"/>
              <a:pPr/>
              <a:t>‹#›</a:t>
            </a:fld>
            <a:endParaRPr lang="en-US" altLang="en-US"/>
          </a:p>
        </p:txBody>
      </p:sp>
    </p:spTree>
    <p:extLst>
      <p:ext uri="{BB962C8B-B14F-4D97-AF65-F5344CB8AC3E}">
        <p14:creationId xmlns:p14="http://schemas.microsoft.com/office/powerpoint/2010/main" val="3327361912"/>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S PGothic" pitchFamily="34" charset="-128"/>
        <a:cs typeface="ＭＳ Ｐゴシック" charset="0"/>
      </a:defRPr>
    </a:lvl1pPr>
    <a:lvl2pPr marL="457200" algn="l" rtl="0" eaLnBrk="0" fontAlgn="base" hangingPunct="0">
      <a:spcBef>
        <a:spcPct val="30000"/>
      </a:spcBef>
      <a:spcAft>
        <a:spcPct val="0"/>
      </a:spcAft>
      <a:defRPr sz="1200" kern="1200">
        <a:solidFill>
          <a:schemeClr val="tx1"/>
        </a:solidFill>
        <a:latin typeface="Arial" charset="0"/>
        <a:ea typeface="MS PGothic" pitchFamily="34" charset="-128"/>
        <a:cs typeface="+mn-cs"/>
      </a:defRPr>
    </a:lvl2pPr>
    <a:lvl3pPr marL="914400" algn="l" rtl="0" eaLnBrk="0" fontAlgn="base" hangingPunct="0">
      <a:spcBef>
        <a:spcPct val="30000"/>
      </a:spcBef>
      <a:spcAft>
        <a:spcPct val="0"/>
      </a:spcAft>
      <a:defRPr sz="1200" kern="1200">
        <a:solidFill>
          <a:schemeClr val="tx1"/>
        </a:solidFill>
        <a:latin typeface="Arial" charset="0"/>
        <a:ea typeface="MS PGothic" pitchFamily="34" charset="-128"/>
        <a:cs typeface="+mn-cs"/>
      </a:defRPr>
    </a:lvl3pPr>
    <a:lvl4pPr marL="1371600" algn="l" rtl="0" eaLnBrk="0" fontAlgn="base" hangingPunct="0">
      <a:spcBef>
        <a:spcPct val="30000"/>
      </a:spcBef>
      <a:spcAft>
        <a:spcPct val="0"/>
      </a:spcAft>
      <a:defRPr sz="1200" kern="1200">
        <a:solidFill>
          <a:schemeClr val="tx1"/>
        </a:solidFill>
        <a:latin typeface="Arial" charset="0"/>
        <a:ea typeface="MS PGothic" pitchFamily="34" charset="-128"/>
        <a:cs typeface="+mn-cs"/>
      </a:defRPr>
    </a:lvl4pPr>
    <a:lvl5pPr marL="1828800" algn="l" rtl="0" eaLnBrk="0" fontAlgn="base" hangingPunct="0">
      <a:spcBef>
        <a:spcPct val="30000"/>
      </a:spcBef>
      <a:spcAft>
        <a:spcPct val="0"/>
      </a:spcAft>
      <a:defRPr sz="1200" kern="1200">
        <a:solidFill>
          <a:schemeClr val="tx1"/>
        </a:solidFill>
        <a:latin typeface="Arial" charset="0"/>
        <a:ea typeface="MS PGothic" pitchFamily="34"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7"/>
          <p:cNvSpPr>
            <a:spLocks noGrp="1" noChangeArrowheads="1"/>
          </p:cNvSpPr>
          <p:nvPr>
            <p:ph type="sldNum" sz="quarter" idx="5"/>
          </p:nvPr>
        </p:nvSpPr>
        <p:spPr>
          <a:noFill/>
          <a:ln w="9525"/>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a:lstStyle>
            <a:lvl1pPr defTabSz="931863">
              <a:defRPr sz="2400">
                <a:solidFill>
                  <a:schemeClr val="tx1"/>
                </a:solidFill>
                <a:latin typeface="Times New Roman" panose="02020603050405020304" pitchFamily="18" charset="0"/>
                <a:ea typeface="MS PGothic" panose="020B0600070205080204" pitchFamily="34" charset="-128"/>
              </a:defRPr>
            </a:lvl1pPr>
            <a:lvl2pPr marL="742950" indent="-285750" defTabSz="931863">
              <a:defRPr sz="2400">
                <a:solidFill>
                  <a:schemeClr val="tx1"/>
                </a:solidFill>
                <a:latin typeface="Times New Roman" panose="02020603050405020304" pitchFamily="18" charset="0"/>
                <a:ea typeface="MS PGothic" panose="020B0600070205080204" pitchFamily="34" charset="-128"/>
              </a:defRPr>
            </a:lvl2pPr>
            <a:lvl3pPr marL="1143000" indent="-228600" defTabSz="931863">
              <a:defRPr sz="2400">
                <a:solidFill>
                  <a:schemeClr val="tx1"/>
                </a:solidFill>
                <a:latin typeface="Times New Roman" panose="02020603050405020304" pitchFamily="18" charset="0"/>
                <a:ea typeface="MS PGothic" panose="020B0600070205080204" pitchFamily="34" charset="-128"/>
              </a:defRPr>
            </a:lvl3pPr>
            <a:lvl4pPr marL="1600200" indent="-228600" defTabSz="931863">
              <a:defRPr sz="2400">
                <a:solidFill>
                  <a:schemeClr val="tx1"/>
                </a:solidFill>
                <a:latin typeface="Times New Roman" panose="02020603050405020304" pitchFamily="18" charset="0"/>
                <a:ea typeface="MS PGothic" panose="020B0600070205080204" pitchFamily="34" charset="-128"/>
              </a:defRPr>
            </a:lvl4pPr>
            <a:lvl5pPr marL="2057400" indent="-228600" defTabSz="931863">
              <a:defRPr sz="2400">
                <a:solidFill>
                  <a:schemeClr val="tx1"/>
                </a:solidFill>
                <a:latin typeface="Times New Roman" panose="02020603050405020304" pitchFamily="18" charset="0"/>
                <a:ea typeface="MS PGothic" panose="020B0600070205080204" pitchFamily="34" charset="-128"/>
              </a:defRPr>
            </a:lvl5pPr>
            <a:lvl6pPr marL="25146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8B758787-3ACA-434E-9185-D7373591E837}" type="slidenum">
              <a:rPr lang="en-US" altLang="en-US" sz="1200"/>
              <a:pPr/>
              <a:t>2</a:t>
            </a:fld>
            <a:endParaRPr lang="en-US" altLang="en-US" sz="1200"/>
          </a:p>
        </p:txBody>
      </p:sp>
      <p:sp>
        <p:nvSpPr>
          <p:cNvPr id="135171" name="Rectangle 2"/>
          <p:cNvSpPr>
            <a:spLocks noGrp="1" noRot="1" noChangeAspect="1" noChangeArrowheads="1" noTextEdit="1"/>
          </p:cNvSpPr>
          <p:nvPr>
            <p:ph type="sldImg"/>
          </p:nvPr>
        </p:nvSpPr>
        <p:spPr>
          <a:ln/>
        </p:spPr>
      </p:sp>
      <p:sp>
        <p:nvSpPr>
          <p:cNvPr id="135172" name="Rectangle 3"/>
          <p:cNvSpPr>
            <a:spLocks noGrp="1" noChangeArrowheads="1"/>
          </p:cNvSpPr>
          <p:nvPr>
            <p:ph type="body" idx="1"/>
          </p:nvPr>
        </p:nvSpPr>
        <p:spPr>
          <a:noFill/>
          <a:ln w="9525"/>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type="none" w="sm" len="sm"/>
                <a:tailEnd type="none" w="sm" len="sm"/>
              </a14:hiddenLine>
            </a:ext>
          </a:extLst>
        </p:spPr>
        <p:txBody>
          <a:bodyPr/>
          <a:lstStyle/>
          <a:p>
            <a:endParaRPr lang="en-GB" altLang="en-US">
              <a:latin typeface="Times New Roman" panose="02020603050405020304" pitchFamily="18" charset="0"/>
            </a:endParaRPr>
          </a:p>
        </p:txBody>
      </p:sp>
    </p:spTree>
    <p:extLst>
      <p:ext uri="{BB962C8B-B14F-4D97-AF65-F5344CB8AC3E}">
        <p14:creationId xmlns:p14="http://schemas.microsoft.com/office/powerpoint/2010/main" val="10340214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7"/>
          <p:cNvSpPr>
            <a:spLocks noGrp="1" noChangeArrowheads="1"/>
          </p:cNvSpPr>
          <p:nvPr>
            <p:ph type="sldNum" sz="quarter" idx="5"/>
          </p:nvPr>
        </p:nvSpPr>
        <p:spPr>
          <a:noFill/>
          <a:ln w="9525"/>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a:lstStyle>
            <a:lvl1pPr defTabSz="931863">
              <a:defRPr sz="2400">
                <a:solidFill>
                  <a:schemeClr val="tx1"/>
                </a:solidFill>
                <a:latin typeface="Times New Roman" panose="02020603050405020304" pitchFamily="18" charset="0"/>
                <a:ea typeface="MS PGothic" panose="020B0600070205080204" pitchFamily="34" charset="-128"/>
              </a:defRPr>
            </a:lvl1pPr>
            <a:lvl2pPr marL="742950" indent="-285750" defTabSz="931863">
              <a:defRPr sz="2400">
                <a:solidFill>
                  <a:schemeClr val="tx1"/>
                </a:solidFill>
                <a:latin typeface="Times New Roman" panose="02020603050405020304" pitchFamily="18" charset="0"/>
                <a:ea typeface="MS PGothic" panose="020B0600070205080204" pitchFamily="34" charset="-128"/>
              </a:defRPr>
            </a:lvl2pPr>
            <a:lvl3pPr marL="1143000" indent="-228600" defTabSz="931863">
              <a:defRPr sz="2400">
                <a:solidFill>
                  <a:schemeClr val="tx1"/>
                </a:solidFill>
                <a:latin typeface="Times New Roman" panose="02020603050405020304" pitchFamily="18" charset="0"/>
                <a:ea typeface="MS PGothic" panose="020B0600070205080204" pitchFamily="34" charset="-128"/>
              </a:defRPr>
            </a:lvl3pPr>
            <a:lvl4pPr marL="1600200" indent="-228600" defTabSz="931863">
              <a:defRPr sz="2400">
                <a:solidFill>
                  <a:schemeClr val="tx1"/>
                </a:solidFill>
                <a:latin typeface="Times New Roman" panose="02020603050405020304" pitchFamily="18" charset="0"/>
                <a:ea typeface="MS PGothic" panose="020B0600070205080204" pitchFamily="34" charset="-128"/>
              </a:defRPr>
            </a:lvl4pPr>
            <a:lvl5pPr marL="2057400" indent="-228600" defTabSz="931863">
              <a:defRPr sz="2400">
                <a:solidFill>
                  <a:schemeClr val="tx1"/>
                </a:solidFill>
                <a:latin typeface="Times New Roman" panose="02020603050405020304" pitchFamily="18" charset="0"/>
                <a:ea typeface="MS PGothic" panose="020B0600070205080204" pitchFamily="34" charset="-128"/>
              </a:defRPr>
            </a:lvl5pPr>
            <a:lvl6pPr marL="25146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0141BCAD-28C4-4F82-9B4A-BAC118B12993}" type="slidenum">
              <a:rPr lang="en-US" altLang="en-US" sz="1200"/>
              <a:pPr/>
              <a:t>3</a:t>
            </a:fld>
            <a:endParaRPr lang="en-US" altLang="en-US" sz="1200"/>
          </a:p>
        </p:txBody>
      </p:sp>
      <p:sp>
        <p:nvSpPr>
          <p:cNvPr id="136195" name="Rectangle 2"/>
          <p:cNvSpPr>
            <a:spLocks noGrp="1" noRot="1" noChangeAspect="1" noChangeArrowheads="1" noTextEdit="1"/>
          </p:cNvSpPr>
          <p:nvPr>
            <p:ph type="sldImg"/>
          </p:nvPr>
        </p:nvSpPr>
        <p:spPr>
          <a:ln/>
        </p:spPr>
      </p:sp>
      <p:sp>
        <p:nvSpPr>
          <p:cNvPr id="136196" name="Rectangle 3"/>
          <p:cNvSpPr>
            <a:spLocks noGrp="1" noChangeArrowheads="1"/>
          </p:cNvSpPr>
          <p:nvPr>
            <p:ph type="body" idx="1"/>
          </p:nvPr>
        </p:nvSpPr>
        <p:spPr>
          <a:noFill/>
          <a:ln w="9525"/>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type="none" w="sm" len="sm"/>
                <a:tailEnd type="none" w="sm" len="sm"/>
              </a14:hiddenLine>
            </a:ext>
          </a:extLst>
        </p:spPr>
        <p:txBody>
          <a:bodyPr/>
          <a:lstStyle/>
          <a:p>
            <a:pPr marL="0" indent="0">
              <a:buFontTx/>
              <a:buNone/>
            </a:pPr>
            <a:endParaRPr lang="en-US" altLang="en-US">
              <a:latin typeface="Times New Roman" panose="02020603050405020304" pitchFamily="18" charset="0"/>
            </a:endParaRPr>
          </a:p>
        </p:txBody>
      </p:sp>
    </p:spTree>
    <p:extLst>
      <p:ext uri="{BB962C8B-B14F-4D97-AF65-F5344CB8AC3E}">
        <p14:creationId xmlns:p14="http://schemas.microsoft.com/office/powerpoint/2010/main" val="15431340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Rectangle 7"/>
          <p:cNvSpPr>
            <a:spLocks noGrp="1" noChangeArrowheads="1"/>
          </p:cNvSpPr>
          <p:nvPr>
            <p:ph type="sldNum" sz="quarter" idx="5"/>
          </p:nvPr>
        </p:nvSpPr>
        <p:spPr>
          <a:noFill/>
          <a:ln w="9525"/>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a:lstStyle>
            <a:lvl1pPr defTabSz="931863">
              <a:defRPr sz="2400">
                <a:solidFill>
                  <a:schemeClr val="tx1"/>
                </a:solidFill>
                <a:latin typeface="Times New Roman" panose="02020603050405020304" pitchFamily="18" charset="0"/>
                <a:ea typeface="MS PGothic" panose="020B0600070205080204" pitchFamily="34" charset="-128"/>
              </a:defRPr>
            </a:lvl1pPr>
            <a:lvl2pPr marL="742950" indent="-285750" defTabSz="931863">
              <a:defRPr sz="2400">
                <a:solidFill>
                  <a:schemeClr val="tx1"/>
                </a:solidFill>
                <a:latin typeface="Times New Roman" panose="02020603050405020304" pitchFamily="18" charset="0"/>
                <a:ea typeface="MS PGothic" panose="020B0600070205080204" pitchFamily="34" charset="-128"/>
              </a:defRPr>
            </a:lvl2pPr>
            <a:lvl3pPr marL="1143000" indent="-228600" defTabSz="931863">
              <a:defRPr sz="2400">
                <a:solidFill>
                  <a:schemeClr val="tx1"/>
                </a:solidFill>
                <a:latin typeface="Times New Roman" panose="02020603050405020304" pitchFamily="18" charset="0"/>
                <a:ea typeface="MS PGothic" panose="020B0600070205080204" pitchFamily="34" charset="-128"/>
              </a:defRPr>
            </a:lvl3pPr>
            <a:lvl4pPr marL="1600200" indent="-228600" defTabSz="931863">
              <a:defRPr sz="2400">
                <a:solidFill>
                  <a:schemeClr val="tx1"/>
                </a:solidFill>
                <a:latin typeface="Times New Roman" panose="02020603050405020304" pitchFamily="18" charset="0"/>
                <a:ea typeface="MS PGothic" panose="020B0600070205080204" pitchFamily="34" charset="-128"/>
              </a:defRPr>
            </a:lvl4pPr>
            <a:lvl5pPr marL="2057400" indent="-228600" defTabSz="931863">
              <a:defRPr sz="2400">
                <a:solidFill>
                  <a:schemeClr val="tx1"/>
                </a:solidFill>
                <a:latin typeface="Times New Roman" panose="02020603050405020304" pitchFamily="18" charset="0"/>
                <a:ea typeface="MS PGothic" panose="020B0600070205080204" pitchFamily="34" charset="-128"/>
              </a:defRPr>
            </a:lvl5pPr>
            <a:lvl6pPr marL="25146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83403D59-AC79-482E-9710-32B61DFD04FB}" type="slidenum">
              <a:rPr lang="en-US" altLang="en-US" sz="1200"/>
              <a:pPr/>
              <a:t>4</a:t>
            </a:fld>
            <a:endParaRPr lang="en-US" altLang="en-US" sz="1200"/>
          </a:p>
        </p:txBody>
      </p:sp>
      <p:sp>
        <p:nvSpPr>
          <p:cNvPr id="137219" name="Rectangle 2"/>
          <p:cNvSpPr>
            <a:spLocks noGrp="1" noRot="1" noChangeAspect="1" noChangeArrowheads="1" noTextEdit="1"/>
          </p:cNvSpPr>
          <p:nvPr>
            <p:ph type="sldImg"/>
          </p:nvPr>
        </p:nvSpPr>
        <p:spPr>
          <a:ln/>
        </p:spPr>
      </p:sp>
      <p:sp>
        <p:nvSpPr>
          <p:cNvPr id="137220" name="Rectangle 3"/>
          <p:cNvSpPr>
            <a:spLocks noGrp="1" noChangeArrowheads="1"/>
          </p:cNvSpPr>
          <p:nvPr>
            <p:ph type="body" idx="1"/>
          </p:nvPr>
        </p:nvSpPr>
        <p:spPr>
          <a:noFill/>
          <a:ln w="9525"/>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type="none" w="sm" len="sm"/>
                <a:tailEnd type="none" w="sm" len="sm"/>
              </a14:hiddenLine>
            </a:ext>
          </a:extLst>
        </p:spPr>
        <p:txBody>
          <a:bodyPr/>
          <a:lstStyle/>
          <a:p>
            <a:pPr marL="0" indent="0">
              <a:buFontTx/>
              <a:buNone/>
            </a:pPr>
            <a:r>
              <a:rPr lang="en-US" altLang="en-US">
                <a:latin typeface="Times New Roman" panose="02020603050405020304" pitchFamily="18" charset="0"/>
              </a:rPr>
              <a:t> </a:t>
            </a:r>
          </a:p>
        </p:txBody>
      </p:sp>
    </p:spTree>
    <p:extLst>
      <p:ext uri="{BB962C8B-B14F-4D97-AF65-F5344CB8AC3E}">
        <p14:creationId xmlns:p14="http://schemas.microsoft.com/office/powerpoint/2010/main" val="73194226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Rectangle 7"/>
          <p:cNvSpPr>
            <a:spLocks noGrp="1" noChangeArrowheads="1"/>
          </p:cNvSpPr>
          <p:nvPr>
            <p:ph type="sldNum" sz="quarter" idx="5"/>
          </p:nvPr>
        </p:nvSpPr>
        <p:spPr>
          <a:noFill/>
          <a:ln w="9525"/>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a:lstStyle>
            <a:lvl1pPr defTabSz="931863">
              <a:defRPr sz="2400">
                <a:solidFill>
                  <a:schemeClr val="tx1"/>
                </a:solidFill>
                <a:latin typeface="Times New Roman" panose="02020603050405020304" pitchFamily="18" charset="0"/>
                <a:ea typeface="MS PGothic" panose="020B0600070205080204" pitchFamily="34" charset="-128"/>
              </a:defRPr>
            </a:lvl1pPr>
            <a:lvl2pPr marL="742950" indent="-285750" defTabSz="931863">
              <a:defRPr sz="2400">
                <a:solidFill>
                  <a:schemeClr val="tx1"/>
                </a:solidFill>
                <a:latin typeface="Times New Roman" panose="02020603050405020304" pitchFamily="18" charset="0"/>
                <a:ea typeface="MS PGothic" panose="020B0600070205080204" pitchFamily="34" charset="-128"/>
              </a:defRPr>
            </a:lvl2pPr>
            <a:lvl3pPr marL="1143000" indent="-228600" defTabSz="931863">
              <a:defRPr sz="2400">
                <a:solidFill>
                  <a:schemeClr val="tx1"/>
                </a:solidFill>
                <a:latin typeface="Times New Roman" panose="02020603050405020304" pitchFamily="18" charset="0"/>
                <a:ea typeface="MS PGothic" panose="020B0600070205080204" pitchFamily="34" charset="-128"/>
              </a:defRPr>
            </a:lvl3pPr>
            <a:lvl4pPr marL="1600200" indent="-228600" defTabSz="931863">
              <a:defRPr sz="2400">
                <a:solidFill>
                  <a:schemeClr val="tx1"/>
                </a:solidFill>
                <a:latin typeface="Times New Roman" panose="02020603050405020304" pitchFamily="18" charset="0"/>
                <a:ea typeface="MS PGothic" panose="020B0600070205080204" pitchFamily="34" charset="-128"/>
              </a:defRPr>
            </a:lvl4pPr>
            <a:lvl5pPr marL="2057400" indent="-228600" defTabSz="931863">
              <a:defRPr sz="2400">
                <a:solidFill>
                  <a:schemeClr val="tx1"/>
                </a:solidFill>
                <a:latin typeface="Times New Roman" panose="02020603050405020304" pitchFamily="18" charset="0"/>
                <a:ea typeface="MS PGothic" panose="020B0600070205080204" pitchFamily="34" charset="-128"/>
              </a:defRPr>
            </a:lvl5pPr>
            <a:lvl6pPr marL="25146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D5D49C80-7DB5-49F5-A3DD-4AF0412B4F75}" type="slidenum">
              <a:rPr lang="en-US" altLang="en-US" sz="1200"/>
              <a:pPr/>
              <a:t>5</a:t>
            </a:fld>
            <a:endParaRPr lang="en-US" altLang="en-US" sz="1200"/>
          </a:p>
        </p:txBody>
      </p:sp>
      <p:sp>
        <p:nvSpPr>
          <p:cNvPr id="138243" name="Rectangle 2"/>
          <p:cNvSpPr>
            <a:spLocks noGrp="1" noRot="1" noChangeAspect="1" noChangeArrowheads="1" noTextEdit="1"/>
          </p:cNvSpPr>
          <p:nvPr>
            <p:ph type="sldImg"/>
          </p:nvPr>
        </p:nvSpPr>
        <p:spPr>
          <a:ln/>
        </p:spPr>
      </p:sp>
      <p:sp>
        <p:nvSpPr>
          <p:cNvPr id="138244" name="Rectangle 3"/>
          <p:cNvSpPr>
            <a:spLocks noGrp="1" noChangeArrowheads="1"/>
          </p:cNvSpPr>
          <p:nvPr>
            <p:ph type="body" idx="1"/>
          </p:nvPr>
        </p:nvSpPr>
        <p:spPr>
          <a:noFill/>
          <a:ln w="9525"/>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type="none" w="sm" len="sm"/>
                <a:tailEnd type="none" w="sm" len="sm"/>
              </a14:hiddenLine>
            </a:ext>
          </a:extLst>
        </p:spPr>
        <p:txBody>
          <a:bodyPr/>
          <a:lstStyle/>
          <a:p>
            <a:pPr>
              <a:buFontTx/>
              <a:buNone/>
            </a:pPr>
            <a:endParaRPr lang="en-GB" altLang="en-US">
              <a:latin typeface="Times New Roman" panose="02020603050405020304" pitchFamily="18" charset="0"/>
            </a:endParaRPr>
          </a:p>
        </p:txBody>
      </p:sp>
    </p:spTree>
    <p:extLst>
      <p:ext uri="{BB962C8B-B14F-4D97-AF65-F5344CB8AC3E}">
        <p14:creationId xmlns:p14="http://schemas.microsoft.com/office/powerpoint/2010/main" val="1552827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pPr>
            <a:r>
              <a:rPr lang="en-US" dirty="0">
                <a:latin typeface="Times New Roman" pitchFamily="18" charset="0"/>
              </a:rPr>
              <a:t>Students should label the figure:  </a:t>
            </a:r>
          </a:p>
          <a:p>
            <a:pPr marL="0" indent="0">
              <a:buFontTx/>
              <a:buNone/>
              <a:defRPr/>
            </a:pPr>
            <a:r>
              <a:rPr lang="en-US" dirty="0">
                <a:latin typeface="Times New Roman" pitchFamily="18" charset="0"/>
              </a:rPr>
              <a:t>	1. Ovaries</a:t>
            </a:r>
          </a:p>
          <a:p>
            <a:pPr marL="0" indent="0">
              <a:buFontTx/>
              <a:buNone/>
              <a:defRPr/>
            </a:pPr>
            <a:r>
              <a:rPr lang="en-US" dirty="0">
                <a:latin typeface="Times New Roman" pitchFamily="18" charset="0"/>
              </a:rPr>
              <a:t>	2. Fallopian tube  </a:t>
            </a:r>
          </a:p>
          <a:p>
            <a:pPr marL="0" indent="0">
              <a:buFontTx/>
              <a:buNone/>
              <a:defRPr/>
            </a:pPr>
            <a:r>
              <a:rPr lang="en-US" dirty="0">
                <a:latin typeface="Times New Roman" pitchFamily="18" charset="0"/>
              </a:rPr>
              <a:t>	3. Uterus </a:t>
            </a:r>
          </a:p>
          <a:p>
            <a:pPr marL="0" indent="0">
              <a:buFontTx/>
              <a:buNone/>
              <a:defRPr/>
            </a:pPr>
            <a:r>
              <a:rPr lang="en-US" dirty="0">
                <a:latin typeface="Times New Roman" pitchFamily="18" charset="0"/>
              </a:rPr>
              <a:t>	4. Cul-de-sac</a:t>
            </a:r>
          </a:p>
          <a:p>
            <a:pPr marL="0" indent="0">
              <a:buFontTx/>
              <a:buNone/>
              <a:defRPr/>
            </a:pPr>
            <a:r>
              <a:rPr lang="en-US" dirty="0">
                <a:latin typeface="Times New Roman" pitchFamily="18" charset="0"/>
              </a:rPr>
              <a:t>	5. Vagina</a:t>
            </a:r>
          </a:p>
          <a:p>
            <a:pPr marL="0" indent="0">
              <a:buFontTx/>
              <a:buNone/>
              <a:defRPr/>
            </a:pPr>
            <a:r>
              <a:rPr lang="en-US" dirty="0">
                <a:latin typeface="Times New Roman" pitchFamily="18" charset="0"/>
              </a:rPr>
              <a:t>	6. Bartholin glands</a:t>
            </a:r>
          </a:p>
          <a:p>
            <a:pPr marL="0" indent="0">
              <a:buFontTx/>
              <a:buNone/>
              <a:defRPr/>
            </a:pPr>
            <a:r>
              <a:rPr lang="en-US" dirty="0">
                <a:latin typeface="Times New Roman" pitchFamily="18" charset="0"/>
              </a:rPr>
              <a:t>	7. Clitoris</a:t>
            </a:r>
          </a:p>
          <a:p>
            <a:pPr marL="0" indent="0">
              <a:buFontTx/>
              <a:buNone/>
              <a:defRPr/>
            </a:pPr>
            <a:r>
              <a:rPr lang="en-US" dirty="0">
                <a:latin typeface="Times New Roman" pitchFamily="18" charset="0"/>
              </a:rPr>
              <a:t>	8. </a:t>
            </a:r>
            <a:r>
              <a:rPr lang="en-US">
                <a:latin typeface="Times New Roman" pitchFamily="18" charset="0"/>
              </a:rPr>
              <a:t>Perineum</a:t>
            </a:r>
          </a:p>
          <a:p>
            <a:endParaRPr lang="es-419"/>
          </a:p>
        </p:txBody>
      </p:sp>
      <p:sp>
        <p:nvSpPr>
          <p:cNvPr id="4" name="Slide Number Placeholder 3"/>
          <p:cNvSpPr>
            <a:spLocks noGrp="1"/>
          </p:cNvSpPr>
          <p:nvPr>
            <p:ph type="sldNum" sz="quarter" idx="10"/>
          </p:nvPr>
        </p:nvSpPr>
        <p:spPr/>
        <p:txBody>
          <a:bodyPr/>
          <a:lstStyle/>
          <a:p>
            <a:fld id="{9DD8956B-8F79-4131-A174-E4232C945132}" type="slidenum">
              <a:rPr lang="en-US" altLang="en-US" smtClean="0"/>
              <a:pPr/>
              <a:t>6</a:t>
            </a:fld>
            <a:endParaRPr lang="en-US" altLang="en-US"/>
          </a:p>
        </p:txBody>
      </p:sp>
    </p:spTree>
    <p:extLst>
      <p:ext uri="{BB962C8B-B14F-4D97-AF65-F5344CB8AC3E}">
        <p14:creationId xmlns:p14="http://schemas.microsoft.com/office/powerpoint/2010/main" val="5045612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Rectangle 7"/>
          <p:cNvSpPr>
            <a:spLocks noGrp="1" noChangeArrowheads="1"/>
          </p:cNvSpPr>
          <p:nvPr>
            <p:ph type="sldNum" sz="quarter" idx="5"/>
          </p:nvPr>
        </p:nvSpPr>
        <p:spPr>
          <a:noFill/>
          <a:ln w="9525"/>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a:lstStyle>
            <a:lvl1pPr defTabSz="931863">
              <a:defRPr sz="2400">
                <a:solidFill>
                  <a:schemeClr val="tx1"/>
                </a:solidFill>
                <a:latin typeface="Times New Roman" panose="02020603050405020304" pitchFamily="18" charset="0"/>
                <a:ea typeface="MS PGothic" panose="020B0600070205080204" pitchFamily="34" charset="-128"/>
              </a:defRPr>
            </a:lvl1pPr>
            <a:lvl2pPr marL="742950" indent="-285750" defTabSz="931863">
              <a:defRPr sz="2400">
                <a:solidFill>
                  <a:schemeClr val="tx1"/>
                </a:solidFill>
                <a:latin typeface="Times New Roman" panose="02020603050405020304" pitchFamily="18" charset="0"/>
                <a:ea typeface="MS PGothic" panose="020B0600070205080204" pitchFamily="34" charset="-128"/>
              </a:defRPr>
            </a:lvl2pPr>
            <a:lvl3pPr marL="1143000" indent="-228600" defTabSz="931863">
              <a:defRPr sz="2400">
                <a:solidFill>
                  <a:schemeClr val="tx1"/>
                </a:solidFill>
                <a:latin typeface="Times New Roman" panose="02020603050405020304" pitchFamily="18" charset="0"/>
                <a:ea typeface="MS PGothic" panose="020B0600070205080204" pitchFamily="34" charset="-128"/>
              </a:defRPr>
            </a:lvl3pPr>
            <a:lvl4pPr marL="1600200" indent="-228600" defTabSz="931863">
              <a:defRPr sz="2400">
                <a:solidFill>
                  <a:schemeClr val="tx1"/>
                </a:solidFill>
                <a:latin typeface="Times New Roman" panose="02020603050405020304" pitchFamily="18" charset="0"/>
                <a:ea typeface="MS PGothic" panose="020B0600070205080204" pitchFamily="34" charset="-128"/>
              </a:defRPr>
            </a:lvl4pPr>
            <a:lvl5pPr marL="2057400" indent="-228600" defTabSz="931863">
              <a:defRPr sz="2400">
                <a:solidFill>
                  <a:schemeClr val="tx1"/>
                </a:solidFill>
                <a:latin typeface="Times New Roman" panose="02020603050405020304" pitchFamily="18" charset="0"/>
                <a:ea typeface="MS PGothic" panose="020B0600070205080204" pitchFamily="34" charset="-128"/>
              </a:defRPr>
            </a:lvl5pPr>
            <a:lvl6pPr marL="25146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031D39F2-6483-4039-AE77-13C659B8F724}" type="slidenum">
              <a:rPr lang="en-US" altLang="en-US" sz="1200"/>
              <a:pPr/>
              <a:t>8</a:t>
            </a:fld>
            <a:endParaRPr lang="en-US" altLang="en-US" sz="1200"/>
          </a:p>
        </p:txBody>
      </p:sp>
      <p:sp>
        <p:nvSpPr>
          <p:cNvPr id="141315" name="Rectangle 2"/>
          <p:cNvSpPr>
            <a:spLocks noGrp="1" noRot="1" noChangeAspect="1" noChangeArrowheads="1" noTextEdit="1"/>
          </p:cNvSpPr>
          <p:nvPr>
            <p:ph type="sldImg"/>
          </p:nvPr>
        </p:nvSpPr>
        <p:spPr>
          <a:ln/>
        </p:spPr>
      </p:sp>
      <p:sp>
        <p:nvSpPr>
          <p:cNvPr id="141316" name="Rectangle 3"/>
          <p:cNvSpPr>
            <a:spLocks noGrp="1" noChangeArrowheads="1"/>
          </p:cNvSpPr>
          <p:nvPr>
            <p:ph type="body" idx="1"/>
          </p:nvPr>
        </p:nvSpPr>
        <p:spPr>
          <a:noFill/>
          <a:ln w="9525"/>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type="none" w="sm" len="sm"/>
                <a:tailEnd type="none" w="sm" len="sm"/>
              </a14:hiddenLine>
            </a:ext>
          </a:extLst>
        </p:spPr>
        <p:txBody>
          <a:bodyPr/>
          <a:lstStyle/>
          <a:p>
            <a:r>
              <a:rPr lang="en-US" altLang="en-US">
                <a:latin typeface="Times New Roman" panose="02020603050405020304" pitchFamily="18" charset="0"/>
              </a:rPr>
              <a:t>The correct answer is D: zygote.</a:t>
            </a:r>
          </a:p>
        </p:txBody>
      </p:sp>
    </p:spTree>
    <p:extLst>
      <p:ext uri="{BB962C8B-B14F-4D97-AF65-F5344CB8AC3E}">
        <p14:creationId xmlns:p14="http://schemas.microsoft.com/office/powerpoint/2010/main" val="1650035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7"/>
          <p:cNvSpPr>
            <a:spLocks noGrp="1" noChangeArrowheads="1"/>
          </p:cNvSpPr>
          <p:nvPr>
            <p:ph type="sldNum" sz="quarter" idx="5"/>
          </p:nvPr>
        </p:nvSpPr>
        <p:spPr>
          <a:noFill/>
          <a:ln w="9525"/>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a:lstStyle>
            <a:lvl1pPr defTabSz="931863">
              <a:defRPr sz="2400">
                <a:solidFill>
                  <a:schemeClr val="tx1"/>
                </a:solidFill>
                <a:latin typeface="Times New Roman" panose="02020603050405020304" pitchFamily="18" charset="0"/>
                <a:ea typeface="MS PGothic" panose="020B0600070205080204" pitchFamily="34" charset="-128"/>
              </a:defRPr>
            </a:lvl1pPr>
            <a:lvl2pPr marL="742950" indent="-285750" defTabSz="931863">
              <a:defRPr sz="2400">
                <a:solidFill>
                  <a:schemeClr val="tx1"/>
                </a:solidFill>
                <a:latin typeface="Times New Roman" panose="02020603050405020304" pitchFamily="18" charset="0"/>
                <a:ea typeface="MS PGothic" panose="020B0600070205080204" pitchFamily="34" charset="-128"/>
              </a:defRPr>
            </a:lvl2pPr>
            <a:lvl3pPr marL="1143000" indent="-228600" defTabSz="931863">
              <a:defRPr sz="2400">
                <a:solidFill>
                  <a:schemeClr val="tx1"/>
                </a:solidFill>
                <a:latin typeface="Times New Roman" panose="02020603050405020304" pitchFamily="18" charset="0"/>
                <a:ea typeface="MS PGothic" panose="020B0600070205080204" pitchFamily="34" charset="-128"/>
              </a:defRPr>
            </a:lvl3pPr>
            <a:lvl4pPr marL="1600200" indent="-228600" defTabSz="931863">
              <a:defRPr sz="2400">
                <a:solidFill>
                  <a:schemeClr val="tx1"/>
                </a:solidFill>
                <a:latin typeface="Times New Roman" panose="02020603050405020304" pitchFamily="18" charset="0"/>
                <a:ea typeface="MS PGothic" panose="020B0600070205080204" pitchFamily="34" charset="-128"/>
              </a:defRPr>
            </a:lvl4pPr>
            <a:lvl5pPr marL="2057400" indent="-228600" defTabSz="931863">
              <a:defRPr sz="2400">
                <a:solidFill>
                  <a:schemeClr val="tx1"/>
                </a:solidFill>
                <a:latin typeface="Times New Roman" panose="02020603050405020304" pitchFamily="18" charset="0"/>
                <a:ea typeface="MS PGothic" panose="020B0600070205080204" pitchFamily="34" charset="-128"/>
              </a:defRPr>
            </a:lvl5pPr>
            <a:lvl6pPr marL="25146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4E72127F-936E-441A-9086-AC4745054B04}" type="slidenum">
              <a:rPr lang="en-US" altLang="en-US" sz="1200"/>
              <a:pPr/>
              <a:t>9</a:t>
            </a:fld>
            <a:endParaRPr lang="en-US" altLang="en-US" sz="1200"/>
          </a:p>
        </p:txBody>
      </p:sp>
      <p:sp>
        <p:nvSpPr>
          <p:cNvPr id="142339" name="Rectangle 2"/>
          <p:cNvSpPr>
            <a:spLocks noGrp="1" noRot="1" noChangeAspect="1" noChangeArrowheads="1" noTextEdit="1"/>
          </p:cNvSpPr>
          <p:nvPr>
            <p:ph type="sldImg"/>
          </p:nvPr>
        </p:nvSpPr>
        <p:spPr>
          <a:solidFill>
            <a:srgbClr val="FFFFFF"/>
          </a:solidFill>
          <a:ln/>
        </p:spPr>
      </p:sp>
      <p:sp>
        <p:nvSpPr>
          <p:cNvPr id="142340" name="Rectangle 3"/>
          <p:cNvSpPr>
            <a:spLocks noGrp="1" noChangeArrowheads="1"/>
          </p:cNvSpPr>
          <p:nvPr>
            <p:ph type="body" idx="1"/>
          </p:nvPr>
        </p:nvSpPr>
        <p:spPr>
          <a:solidFill>
            <a:srgbClr val="FFFFFF"/>
          </a:solidFill>
          <a:ln>
            <a:solidFill>
              <a:srgbClr val="000000"/>
            </a:solidFill>
          </a:ln>
        </p:spPr>
        <p:txBody>
          <a:bodyPr/>
          <a:lstStyle/>
          <a:p>
            <a:r>
              <a:rPr lang="en-US" altLang="en-US">
                <a:latin typeface="Times New Roman" panose="02020603050405020304" pitchFamily="18" charset="0"/>
              </a:rPr>
              <a:t>See the next slide for answers.</a:t>
            </a:r>
          </a:p>
        </p:txBody>
      </p:sp>
    </p:spTree>
    <p:extLst>
      <p:ext uri="{BB962C8B-B14F-4D97-AF65-F5344CB8AC3E}">
        <p14:creationId xmlns:p14="http://schemas.microsoft.com/office/powerpoint/2010/main" val="6851437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Rectangle 7"/>
          <p:cNvSpPr>
            <a:spLocks noGrp="1" noChangeArrowheads="1"/>
          </p:cNvSpPr>
          <p:nvPr>
            <p:ph type="sldNum" sz="quarter" idx="5"/>
          </p:nvPr>
        </p:nvSpPr>
        <p:spPr>
          <a:noFill/>
          <a:ln w="9525"/>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a:lstStyle>
            <a:lvl1pPr defTabSz="931863">
              <a:defRPr sz="2400">
                <a:solidFill>
                  <a:schemeClr val="tx1"/>
                </a:solidFill>
                <a:latin typeface="Times New Roman" panose="02020603050405020304" pitchFamily="18" charset="0"/>
                <a:ea typeface="MS PGothic" panose="020B0600070205080204" pitchFamily="34" charset="-128"/>
              </a:defRPr>
            </a:lvl1pPr>
            <a:lvl2pPr marL="742950" indent="-285750" defTabSz="931863">
              <a:defRPr sz="2400">
                <a:solidFill>
                  <a:schemeClr val="tx1"/>
                </a:solidFill>
                <a:latin typeface="Times New Roman" panose="02020603050405020304" pitchFamily="18" charset="0"/>
                <a:ea typeface="MS PGothic" panose="020B0600070205080204" pitchFamily="34" charset="-128"/>
              </a:defRPr>
            </a:lvl2pPr>
            <a:lvl3pPr marL="1143000" indent="-228600" defTabSz="931863">
              <a:defRPr sz="2400">
                <a:solidFill>
                  <a:schemeClr val="tx1"/>
                </a:solidFill>
                <a:latin typeface="Times New Roman" panose="02020603050405020304" pitchFamily="18" charset="0"/>
                <a:ea typeface="MS PGothic" panose="020B0600070205080204" pitchFamily="34" charset="-128"/>
              </a:defRPr>
            </a:lvl3pPr>
            <a:lvl4pPr marL="1600200" indent="-228600" defTabSz="931863">
              <a:defRPr sz="2400">
                <a:solidFill>
                  <a:schemeClr val="tx1"/>
                </a:solidFill>
                <a:latin typeface="Times New Roman" panose="02020603050405020304" pitchFamily="18" charset="0"/>
                <a:ea typeface="MS PGothic" panose="020B0600070205080204" pitchFamily="34" charset="-128"/>
              </a:defRPr>
            </a:lvl4pPr>
            <a:lvl5pPr marL="2057400" indent="-228600" defTabSz="931863">
              <a:defRPr sz="2400">
                <a:solidFill>
                  <a:schemeClr val="tx1"/>
                </a:solidFill>
                <a:latin typeface="Times New Roman" panose="02020603050405020304" pitchFamily="18" charset="0"/>
                <a:ea typeface="MS PGothic" panose="020B0600070205080204" pitchFamily="34" charset="-128"/>
              </a:defRPr>
            </a:lvl5pPr>
            <a:lvl6pPr marL="25146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0070266A-85A7-4B49-972B-F7BE6312E0C0}" type="slidenum">
              <a:rPr lang="en-US" altLang="en-US" sz="1200"/>
              <a:pPr/>
              <a:t>10</a:t>
            </a:fld>
            <a:endParaRPr lang="en-US" altLang="en-US" sz="1200"/>
          </a:p>
        </p:txBody>
      </p:sp>
      <p:sp>
        <p:nvSpPr>
          <p:cNvPr id="143363" name="Rectangle 2"/>
          <p:cNvSpPr>
            <a:spLocks noGrp="1" noRot="1" noChangeAspect="1" noChangeArrowheads="1" noTextEdit="1"/>
          </p:cNvSpPr>
          <p:nvPr>
            <p:ph type="sldImg"/>
          </p:nvPr>
        </p:nvSpPr>
        <p:spPr>
          <a:solidFill>
            <a:srgbClr val="FFFFFF"/>
          </a:solidFill>
          <a:ln/>
        </p:spPr>
      </p:sp>
      <p:sp>
        <p:nvSpPr>
          <p:cNvPr id="143364" name="Rectangle 3"/>
          <p:cNvSpPr>
            <a:spLocks noGrp="1" noChangeArrowheads="1"/>
          </p:cNvSpPr>
          <p:nvPr>
            <p:ph type="body" idx="1"/>
          </p:nvPr>
        </p:nvSpPr>
        <p:spPr>
          <a:solidFill>
            <a:srgbClr val="FFFFFF"/>
          </a:solidFill>
          <a:ln>
            <a:solidFill>
              <a:srgbClr val="000000"/>
            </a:solidFill>
          </a:ln>
        </p:spPr>
        <p:txBody>
          <a:bodyPr/>
          <a:lstStyle/>
          <a:p>
            <a:pPr marL="0" indent="0">
              <a:buFontTx/>
              <a:buNone/>
            </a:pPr>
            <a:endParaRPr lang="en-US" altLang="en-US">
              <a:latin typeface="Times New Roman" panose="02020603050405020304" pitchFamily="18" charset="0"/>
            </a:endParaRPr>
          </a:p>
        </p:txBody>
      </p:sp>
    </p:spTree>
    <p:extLst>
      <p:ext uri="{BB962C8B-B14F-4D97-AF65-F5344CB8AC3E}">
        <p14:creationId xmlns:p14="http://schemas.microsoft.com/office/powerpoint/2010/main" val="418457650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Rectangle 7"/>
          <p:cNvSpPr>
            <a:spLocks noGrp="1" noChangeArrowheads="1"/>
          </p:cNvSpPr>
          <p:nvPr>
            <p:ph type="sldNum" sz="quarter" idx="5"/>
          </p:nvPr>
        </p:nvSpPr>
        <p:spPr>
          <a:noFill/>
          <a:ln w="9525"/>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a:lstStyle>
            <a:lvl1pPr defTabSz="931863">
              <a:defRPr sz="2400">
                <a:solidFill>
                  <a:schemeClr val="tx1"/>
                </a:solidFill>
                <a:latin typeface="Times New Roman" panose="02020603050405020304" pitchFamily="18" charset="0"/>
                <a:ea typeface="MS PGothic" panose="020B0600070205080204" pitchFamily="34" charset="-128"/>
              </a:defRPr>
            </a:lvl1pPr>
            <a:lvl2pPr marL="742950" indent="-285750" defTabSz="931863">
              <a:defRPr sz="2400">
                <a:solidFill>
                  <a:schemeClr val="tx1"/>
                </a:solidFill>
                <a:latin typeface="Times New Roman" panose="02020603050405020304" pitchFamily="18" charset="0"/>
                <a:ea typeface="MS PGothic" panose="020B0600070205080204" pitchFamily="34" charset="-128"/>
              </a:defRPr>
            </a:lvl2pPr>
            <a:lvl3pPr marL="1143000" indent="-228600" defTabSz="931863">
              <a:defRPr sz="2400">
                <a:solidFill>
                  <a:schemeClr val="tx1"/>
                </a:solidFill>
                <a:latin typeface="Times New Roman" panose="02020603050405020304" pitchFamily="18" charset="0"/>
                <a:ea typeface="MS PGothic" panose="020B0600070205080204" pitchFamily="34" charset="-128"/>
              </a:defRPr>
            </a:lvl3pPr>
            <a:lvl4pPr marL="1600200" indent="-228600" defTabSz="931863">
              <a:defRPr sz="2400">
                <a:solidFill>
                  <a:schemeClr val="tx1"/>
                </a:solidFill>
                <a:latin typeface="Times New Roman" panose="02020603050405020304" pitchFamily="18" charset="0"/>
                <a:ea typeface="MS PGothic" panose="020B0600070205080204" pitchFamily="34" charset="-128"/>
              </a:defRPr>
            </a:lvl4pPr>
            <a:lvl5pPr marL="2057400" indent="-228600" defTabSz="931863">
              <a:defRPr sz="2400">
                <a:solidFill>
                  <a:schemeClr val="tx1"/>
                </a:solidFill>
                <a:latin typeface="Times New Roman" panose="02020603050405020304" pitchFamily="18" charset="0"/>
                <a:ea typeface="MS PGothic" panose="020B0600070205080204" pitchFamily="34" charset="-128"/>
              </a:defRPr>
            </a:lvl5pPr>
            <a:lvl6pPr marL="25146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9E358F21-D087-4232-961E-42B944531F93}" type="slidenum">
              <a:rPr lang="en-US" altLang="en-US" sz="1200"/>
              <a:pPr/>
              <a:t>11</a:t>
            </a:fld>
            <a:endParaRPr lang="en-US" altLang="en-US" sz="1200"/>
          </a:p>
        </p:txBody>
      </p:sp>
      <p:sp>
        <p:nvSpPr>
          <p:cNvPr id="144387" name="Rectangle 2"/>
          <p:cNvSpPr>
            <a:spLocks noGrp="1" noRot="1" noChangeAspect="1" noChangeArrowheads="1" noTextEdit="1"/>
          </p:cNvSpPr>
          <p:nvPr>
            <p:ph type="sldImg"/>
          </p:nvPr>
        </p:nvSpPr>
        <p:spPr>
          <a:solidFill>
            <a:srgbClr val="FFFFFF"/>
          </a:solidFill>
          <a:ln/>
        </p:spPr>
      </p:sp>
      <p:sp>
        <p:nvSpPr>
          <p:cNvPr id="144388" name="Rectangle 3"/>
          <p:cNvSpPr>
            <a:spLocks noGrp="1" noChangeArrowheads="1"/>
          </p:cNvSpPr>
          <p:nvPr>
            <p:ph type="body" idx="1"/>
          </p:nvPr>
        </p:nvSpPr>
        <p:spPr>
          <a:solidFill>
            <a:srgbClr val="FFFFFF"/>
          </a:solidFill>
          <a:ln>
            <a:solidFill>
              <a:srgbClr val="000000"/>
            </a:solidFill>
          </a:ln>
        </p:spPr>
        <p:txBody>
          <a:bodyPr/>
          <a:lstStyle/>
          <a:p>
            <a:r>
              <a:rPr lang="en-US" altLang="en-US">
                <a:latin typeface="Times New Roman" panose="02020603050405020304" pitchFamily="18" charset="0"/>
              </a:rPr>
              <a:t>What is the role of the sinuses in the breast?</a:t>
            </a:r>
          </a:p>
          <a:p>
            <a:r>
              <a:rPr lang="en-US" altLang="en-US">
                <a:latin typeface="Times New Roman" panose="02020603050405020304" pitchFamily="18" charset="0"/>
              </a:rPr>
              <a:t>Name the parts of the breast nipple.</a:t>
            </a:r>
          </a:p>
          <a:p>
            <a:r>
              <a:rPr lang="en-US" altLang="en-US">
                <a:latin typeface="Times New Roman" panose="02020603050405020304" pitchFamily="18" charset="0"/>
              </a:rPr>
              <a:t>Which hormones stimulate lactation?</a:t>
            </a:r>
          </a:p>
          <a:p>
            <a:endParaRPr lang="en-US" altLang="en-US">
              <a:latin typeface="Times New Roman" panose="02020603050405020304" pitchFamily="18" charset="0"/>
            </a:endParaRPr>
          </a:p>
        </p:txBody>
      </p:sp>
    </p:spTree>
    <p:extLst>
      <p:ext uri="{BB962C8B-B14F-4D97-AF65-F5344CB8AC3E}">
        <p14:creationId xmlns:p14="http://schemas.microsoft.com/office/powerpoint/2010/main" val="373791103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Rectangle 7"/>
          <p:cNvSpPr>
            <a:spLocks noGrp="1" noChangeArrowheads="1"/>
          </p:cNvSpPr>
          <p:nvPr>
            <p:ph type="sldNum" sz="quarter" idx="5"/>
          </p:nvPr>
        </p:nvSpPr>
        <p:spPr>
          <a:noFill/>
          <a:ln w="9525"/>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a:lstStyle>
            <a:lvl1pPr defTabSz="931863">
              <a:defRPr sz="2400">
                <a:solidFill>
                  <a:schemeClr val="tx1"/>
                </a:solidFill>
                <a:latin typeface="Times New Roman" panose="02020603050405020304" pitchFamily="18" charset="0"/>
                <a:ea typeface="MS PGothic" panose="020B0600070205080204" pitchFamily="34" charset="-128"/>
              </a:defRPr>
            </a:lvl1pPr>
            <a:lvl2pPr marL="742950" indent="-285750" defTabSz="931863">
              <a:defRPr sz="2400">
                <a:solidFill>
                  <a:schemeClr val="tx1"/>
                </a:solidFill>
                <a:latin typeface="Times New Roman" panose="02020603050405020304" pitchFamily="18" charset="0"/>
                <a:ea typeface="MS PGothic" panose="020B0600070205080204" pitchFamily="34" charset="-128"/>
              </a:defRPr>
            </a:lvl2pPr>
            <a:lvl3pPr marL="1143000" indent="-228600" defTabSz="931863">
              <a:defRPr sz="2400">
                <a:solidFill>
                  <a:schemeClr val="tx1"/>
                </a:solidFill>
                <a:latin typeface="Times New Roman" panose="02020603050405020304" pitchFamily="18" charset="0"/>
                <a:ea typeface="MS PGothic" panose="020B0600070205080204" pitchFamily="34" charset="-128"/>
              </a:defRPr>
            </a:lvl3pPr>
            <a:lvl4pPr marL="1600200" indent="-228600" defTabSz="931863">
              <a:defRPr sz="2400">
                <a:solidFill>
                  <a:schemeClr val="tx1"/>
                </a:solidFill>
                <a:latin typeface="Times New Roman" panose="02020603050405020304" pitchFamily="18" charset="0"/>
                <a:ea typeface="MS PGothic" panose="020B0600070205080204" pitchFamily="34" charset="-128"/>
              </a:defRPr>
            </a:lvl4pPr>
            <a:lvl5pPr marL="2057400" indent="-228600" defTabSz="931863">
              <a:defRPr sz="2400">
                <a:solidFill>
                  <a:schemeClr val="tx1"/>
                </a:solidFill>
                <a:latin typeface="Times New Roman" panose="02020603050405020304" pitchFamily="18" charset="0"/>
                <a:ea typeface="MS PGothic" panose="020B0600070205080204" pitchFamily="34" charset="-128"/>
              </a:defRPr>
            </a:lvl5pPr>
            <a:lvl6pPr marL="25146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3E7E44BA-7300-43D0-982C-A04287750855}" type="slidenum">
              <a:rPr lang="en-US" altLang="en-US" sz="1200"/>
              <a:pPr/>
              <a:t>12</a:t>
            </a:fld>
            <a:endParaRPr lang="en-US" altLang="en-US" sz="1200"/>
          </a:p>
        </p:txBody>
      </p:sp>
      <p:sp>
        <p:nvSpPr>
          <p:cNvPr id="145411" name="Rectangle 2"/>
          <p:cNvSpPr>
            <a:spLocks noGrp="1" noRot="1" noChangeAspect="1" noChangeArrowheads="1" noTextEdit="1"/>
          </p:cNvSpPr>
          <p:nvPr>
            <p:ph type="sldImg"/>
          </p:nvPr>
        </p:nvSpPr>
        <p:spPr>
          <a:solidFill>
            <a:srgbClr val="FFFFFF"/>
          </a:solidFill>
          <a:ln/>
        </p:spPr>
      </p:sp>
      <p:sp>
        <p:nvSpPr>
          <p:cNvPr id="145412" name="Rectangle 3"/>
          <p:cNvSpPr>
            <a:spLocks noGrp="1" noChangeArrowheads="1"/>
          </p:cNvSpPr>
          <p:nvPr>
            <p:ph type="body" idx="1"/>
          </p:nvPr>
        </p:nvSpPr>
        <p:spPr>
          <a:solidFill>
            <a:srgbClr val="FFFFFF"/>
          </a:solidFill>
          <a:ln>
            <a:solidFill>
              <a:srgbClr val="000000"/>
            </a:solidFill>
          </a:ln>
        </p:spPr>
        <p:txBody>
          <a:bodyPr/>
          <a:lstStyle/>
          <a:p>
            <a:r>
              <a:rPr lang="en-US" altLang="en-US">
                <a:latin typeface="Times New Roman" panose="02020603050405020304" pitchFamily="18" charset="0"/>
              </a:rPr>
              <a:t>What is the role of the sinuses in the breast?</a:t>
            </a:r>
          </a:p>
          <a:p>
            <a:r>
              <a:rPr lang="en-US" altLang="en-US">
                <a:latin typeface="Times New Roman" panose="02020603050405020304" pitchFamily="18" charset="0"/>
              </a:rPr>
              <a:t>Name the parts of the breast nipple.</a:t>
            </a:r>
          </a:p>
          <a:p>
            <a:r>
              <a:rPr lang="en-US" altLang="en-US">
                <a:latin typeface="Times New Roman" panose="02020603050405020304" pitchFamily="18" charset="0"/>
              </a:rPr>
              <a:t>Which hormones stimulate lactation?</a:t>
            </a:r>
          </a:p>
          <a:p>
            <a:endParaRPr lang="en-US" altLang="en-US">
              <a:latin typeface="Times New Roman" panose="02020603050405020304" pitchFamily="18" charset="0"/>
            </a:endParaRPr>
          </a:p>
        </p:txBody>
      </p:sp>
    </p:spTree>
    <p:extLst>
      <p:ext uri="{BB962C8B-B14F-4D97-AF65-F5344CB8AC3E}">
        <p14:creationId xmlns:p14="http://schemas.microsoft.com/office/powerpoint/2010/main" val="93664992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Rectangle 7"/>
          <p:cNvSpPr>
            <a:spLocks noGrp="1" noChangeArrowheads="1"/>
          </p:cNvSpPr>
          <p:nvPr>
            <p:ph type="sldNum" sz="quarter" idx="5"/>
          </p:nvPr>
        </p:nvSpPr>
        <p:spPr>
          <a:noFill/>
          <a:ln w="9525"/>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a:lstStyle>
            <a:lvl1pPr defTabSz="931863">
              <a:defRPr sz="2400">
                <a:solidFill>
                  <a:schemeClr val="tx1"/>
                </a:solidFill>
                <a:latin typeface="Times New Roman" panose="02020603050405020304" pitchFamily="18" charset="0"/>
                <a:ea typeface="MS PGothic" panose="020B0600070205080204" pitchFamily="34" charset="-128"/>
              </a:defRPr>
            </a:lvl1pPr>
            <a:lvl2pPr marL="742950" indent="-285750" defTabSz="931863">
              <a:defRPr sz="2400">
                <a:solidFill>
                  <a:schemeClr val="tx1"/>
                </a:solidFill>
                <a:latin typeface="Times New Roman" panose="02020603050405020304" pitchFamily="18" charset="0"/>
                <a:ea typeface="MS PGothic" panose="020B0600070205080204" pitchFamily="34" charset="-128"/>
              </a:defRPr>
            </a:lvl2pPr>
            <a:lvl3pPr marL="1143000" indent="-228600" defTabSz="931863">
              <a:defRPr sz="2400">
                <a:solidFill>
                  <a:schemeClr val="tx1"/>
                </a:solidFill>
                <a:latin typeface="Times New Roman" panose="02020603050405020304" pitchFamily="18" charset="0"/>
                <a:ea typeface="MS PGothic" panose="020B0600070205080204" pitchFamily="34" charset="-128"/>
              </a:defRPr>
            </a:lvl3pPr>
            <a:lvl4pPr marL="1600200" indent="-228600" defTabSz="931863">
              <a:defRPr sz="2400">
                <a:solidFill>
                  <a:schemeClr val="tx1"/>
                </a:solidFill>
                <a:latin typeface="Times New Roman" panose="02020603050405020304" pitchFamily="18" charset="0"/>
                <a:ea typeface="MS PGothic" panose="020B0600070205080204" pitchFamily="34" charset="-128"/>
              </a:defRPr>
            </a:lvl4pPr>
            <a:lvl5pPr marL="2057400" indent="-228600" defTabSz="931863">
              <a:defRPr sz="2400">
                <a:solidFill>
                  <a:schemeClr val="tx1"/>
                </a:solidFill>
                <a:latin typeface="Times New Roman" panose="02020603050405020304" pitchFamily="18" charset="0"/>
                <a:ea typeface="MS PGothic" panose="020B0600070205080204" pitchFamily="34" charset="-128"/>
              </a:defRPr>
            </a:lvl5pPr>
            <a:lvl6pPr marL="25146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7218694E-7C4A-4174-A8A9-27E40E789AA2}" type="slidenum">
              <a:rPr lang="en-US" altLang="en-US" sz="1200"/>
              <a:pPr/>
              <a:t>13</a:t>
            </a:fld>
            <a:endParaRPr lang="en-US" altLang="en-US" sz="1200"/>
          </a:p>
        </p:txBody>
      </p:sp>
      <p:sp>
        <p:nvSpPr>
          <p:cNvPr id="146435" name="Rectangle 2"/>
          <p:cNvSpPr>
            <a:spLocks noGrp="1" noRot="1" noChangeAspect="1" noChangeArrowheads="1" noTextEdit="1"/>
          </p:cNvSpPr>
          <p:nvPr>
            <p:ph type="sldImg"/>
          </p:nvPr>
        </p:nvSpPr>
        <p:spPr>
          <a:solidFill>
            <a:srgbClr val="FFFFFF"/>
          </a:solidFill>
          <a:ln/>
        </p:spPr>
      </p:sp>
      <p:sp>
        <p:nvSpPr>
          <p:cNvPr id="146436" name="Rectangle 3"/>
          <p:cNvSpPr>
            <a:spLocks noGrp="1" noChangeArrowheads="1"/>
          </p:cNvSpPr>
          <p:nvPr>
            <p:ph type="body" idx="1"/>
          </p:nvPr>
        </p:nvSpPr>
        <p:spPr>
          <a:solidFill>
            <a:srgbClr val="FFFFFF"/>
          </a:solidFill>
          <a:ln>
            <a:solidFill>
              <a:srgbClr val="000000"/>
            </a:solidFill>
          </a:ln>
        </p:spPr>
        <p:txBody>
          <a:bodyPr/>
          <a:lstStyle/>
          <a:p>
            <a:r>
              <a:rPr lang="en-US" altLang="en-US">
                <a:latin typeface="Times New Roman" panose="02020603050405020304" pitchFamily="18" charset="0"/>
              </a:rPr>
              <a:t>Describe the menstrual cycle.</a:t>
            </a:r>
          </a:p>
          <a:p>
            <a:r>
              <a:rPr lang="en-US" altLang="en-US">
                <a:latin typeface="Times New Roman" panose="02020603050405020304" pitchFamily="18" charset="0"/>
              </a:rPr>
              <a:t>What is the first menstrual cycle called? </a:t>
            </a:r>
            <a:r>
              <a:rPr lang="en-US" altLang="en-US" i="1">
                <a:latin typeface="Times New Roman" panose="02020603050405020304" pitchFamily="18" charset="0"/>
              </a:rPr>
              <a:t>(Menarche)</a:t>
            </a:r>
          </a:p>
          <a:p>
            <a:endParaRPr lang="en-US" altLang="en-US">
              <a:latin typeface="Arial" panose="020B0604020202020204" pitchFamily="34" charset="0"/>
            </a:endParaRPr>
          </a:p>
          <a:p>
            <a:endParaRPr lang="en-US" altLang="en-US">
              <a:latin typeface="Arial" panose="020B0604020202020204" pitchFamily="34" charset="0"/>
            </a:endParaRPr>
          </a:p>
          <a:p>
            <a:endParaRPr lang="en-US" altLang="en-US">
              <a:latin typeface="Times New Roman" panose="02020603050405020304" pitchFamily="18" charset="0"/>
            </a:endParaRPr>
          </a:p>
          <a:p>
            <a:endParaRPr lang="en-US" altLang="en-US">
              <a:latin typeface="Times New Roman" panose="02020603050405020304" pitchFamily="18" charset="0"/>
            </a:endParaRPr>
          </a:p>
        </p:txBody>
      </p:sp>
    </p:spTree>
    <p:extLst>
      <p:ext uri="{BB962C8B-B14F-4D97-AF65-F5344CB8AC3E}">
        <p14:creationId xmlns:p14="http://schemas.microsoft.com/office/powerpoint/2010/main" val="57873664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Rectangle 7"/>
          <p:cNvSpPr>
            <a:spLocks noGrp="1" noChangeArrowheads="1"/>
          </p:cNvSpPr>
          <p:nvPr>
            <p:ph type="sldNum" sz="quarter" idx="5"/>
          </p:nvPr>
        </p:nvSpPr>
        <p:spPr>
          <a:noFill/>
          <a:ln w="9525"/>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a:lstStyle>
            <a:lvl1pPr defTabSz="931863">
              <a:defRPr sz="2400">
                <a:solidFill>
                  <a:schemeClr val="tx1"/>
                </a:solidFill>
                <a:latin typeface="Times New Roman" panose="02020603050405020304" pitchFamily="18" charset="0"/>
                <a:ea typeface="MS PGothic" panose="020B0600070205080204" pitchFamily="34" charset="-128"/>
              </a:defRPr>
            </a:lvl1pPr>
            <a:lvl2pPr marL="742950" indent="-285750" defTabSz="931863">
              <a:defRPr sz="2400">
                <a:solidFill>
                  <a:schemeClr val="tx1"/>
                </a:solidFill>
                <a:latin typeface="Times New Roman" panose="02020603050405020304" pitchFamily="18" charset="0"/>
                <a:ea typeface="MS PGothic" panose="020B0600070205080204" pitchFamily="34" charset="-128"/>
              </a:defRPr>
            </a:lvl2pPr>
            <a:lvl3pPr marL="1143000" indent="-228600" defTabSz="931863">
              <a:defRPr sz="2400">
                <a:solidFill>
                  <a:schemeClr val="tx1"/>
                </a:solidFill>
                <a:latin typeface="Times New Roman" panose="02020603050405020304" pitchFamily="18" charset="0"/>
                <a:ea typeface="MS PGothic" panose="020B0600070205080204" pitchFamily="34" charset="-128"/>
              </a:defRPr>
            </a:lvl3pPr>
            <a:lvl4pPr marL="1600200" indent="-228600" defTabSz="931863">
              <a:defRPr sz="2400">
                <a:solidFill>
                  <a:schemeClr val="tx1"/>
                </a:solidFill>
                <a:latin typeface="Times New Roman" panose="02020603050405020304" pitchFamily="18" charset="0"/>
                <a:ea typeface="MS PGothic" panose="020B0600070205080204" pitchFamily="34" charset="-128"/>
              </a:defRPr>
            </a:lvl4pPr>
            <a:lvl5pPr marL="2057400" indent="-228600" defTabSz="931863">
              <a:defRPr sz="2400">
                <a:solidFill>
                  <a:schemeClr val="tx1"/>
                </a:solidFill>
                <a:latin typeface="Times New Roman" panose="02020603050405020304" pitchFamily="18" charset="0"/>
                <a:ea typeface="MS PGothic" panose="020B0600070205080204" pitchFamily="34" charset="-128"/>
              </a:defRPr>
            </a:lvl5pPr>
            <a:lvl6pPr marL="25146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228BB0D4-30EB-4AC6-BBA2-FE635B7E6074}" type="slidenum">
              <a:rPr lang="en-US" altLang="en-US" sz="1200"/>
              <a:pPr/>
              <a:t>14</a:t>
            </a:fld>
            <a:endParaRPr lang="en-US" altLang="en-US" sz="1200"/>
          </a:p>
        </p:txBody>
      </p:sp>
      <p:sp>
        <p:nvSpPr>
          <p:cNvPr id="147459" name="Rectangle 2"/>
          <p:cNvSpPr>
            <a:spLocks noGrp="1" noRot="1" noChangeAspect="1" noChangeArrowheads="1" noTextEdit="1"/>
          </p:cNvSpPr>
          <p:nvPr>
            <p:ph type="sldImg"/>
          </p:nvPr>
        </p:nvSpPr>
        <p:spPr>
          <a:solidFill>
            <a:srgbClr val="FFFFFF"/>
          </a:solidFill>
          <a:ln/>
        </p:spPr>
      </p:sp>
      <p:sp>
        <p:nvSpPr>
          <p:cNvPr id="147460" name="Rectangle 3"/>
          <p:cNvSpPr>
            <a:spLocks noGrp="1" noChangeArrowheads="1"/>
          </p:cNvSpPr>
          <p:nvPr>
            <p:ph type="body" idx="1"/>
          </p:nvPr>
        </p:nvSpPr>
        <p:spPr>
          <a:solidFill>
            <a:srgbClr val="FFFFFF"/>
          </a:solidFill>
          <a:ln>
            <a:solidFill>
              <a:srgbClr val="000000"/>
            </a:solidFill>
          </a:ln>
        </p:spPr>
        <p:txBody>
          <a:bodyPr/>
          <a:lstStyle/>
          <a:p>
            <a:r>
              <a:rPr lang="en-US" altLang="en-US">
                <a:latin typeface="Arial" panose="020B0604020202020204" pitchFamily="34" charset="0"/>
              </a:rPr>
              <a:t>Does lack of fertilization cause low or high levels of progesterone and estrogen? </a:t>
            </a:r>
          </a:p>
          <a:p>
            <a:r>
              <a:rPr lang="en-US" altLang="en-US">
                <a:latin typeface="Arial" panose="020B0604020202020204" pitchFamily="34" charset="0"/>
              </a:rPr>
              <a:t>At what stage is the egg most likely to be fertilized?</a:t>
            </a:r>
          </a:p>
          <a:p>
            <a:endParaRPr lang="en-US" altLang="en-US">
              <a:latin typeface="Times New Roman" panose="02020603050405020304" pitchFamily="18" charset="0"/>
            </a:endParaRPr>
          </a:p>
          <a:p>
            <a:endParaRPr lang="en-US" altLang="en-US">
              <a:latin typeface="Times New Roman" panose="02020603050405020304" pitchFamily="18" charset="0"/>
            </a:endParaRPr>
          </a:p>
        </p:txBody>
      </p:sp>
    </p:spTree>
    <p:extLst>
      <p:ext uri="{BB962C8B-B14F-4D97-AF65-F5344CB8AC3E}">
        <p14:creationId xmlns:p14="http://schemas.microsoft.com/office/powerpoint/2010/main" val="361944735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Rectangle 7"/>
          <p:cNvSpPr>
            <a:spLocks noGrp="1" noChangeArrowheads="1"/>
          </p:cNvSpPr>
          <p:nvPr>
            <p:ph type="sldNum" sz="quarter" idx="5"/>
          </p:nvPr>
        </p:nvSpPr>
        <p:spPr>
          <a:noFill/>
          <a:ln w="9525"/>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a:lstStyle>
            <a:lvl1pPr defTabSz="931863">
              <a:defRPr sz="2400">
                <a:solidFill>
                  <a:schemeClr val="tx1"/>
                </a:solidFill>
                <a:latin typeface="Times New Roman" panose="02020603050405020304" pitchFamily="18" charset="0"/>
                <a:ea typeface="MS PGothic" panose="020B0600070205080204" pitchFamily="34" charset="-128"/>
              </a:defRPr>
            </a:lvl1pPr>
            <a:lvl2pPr marL="742950" indent="-285750" defTabSz="931863">
              <a:defRPr sz="2400">
                <a:solidFill>
                  <a:schemeClr val="tx1"/>
                </a:solidFill>
                <a:latin typeface="Times New Roman" panose="02020603050405020304" pitchFamily="18" charset="0"/>
                <a:ea typeface="MS PGothic" panose="020B0600070205080204" pitchFamily="34" charset="-128"/>
              </a:defRPr>
            </a:lvl2pPr>
            <a:lvl3pPr marL="1143000" indent="-228600" defTabSz="931863">
              <a:defRPr sz="2400">
                <a:solidFill>
                  <a:schemeClr val="tx1"/>
                </a:solidFill>
                <a:latin typeface="Times New Roman" panose="02020603050405020304" pitchFamily="18" charset="0"/>
                <a:ea typeface="MS PGothic" panose="020B0600070205080204" pitchFamily="34" charset="-128"/>
              </a:defRPr>
            </a:lvl3pPr>
            <a:lvl4pPr marL="1600200" indent="-228600" defTabSz="931863">
              <a:defRPr sz="2400">
                <a:solidFill>
                  <a:schemeClr val="tx1"/>
                </a:solidFill>
                <a:latin typeface="Times New Roman" panose="02020603050405020304" pitchFamily="18" charset="0"/>
                <a:ea typeface="MS PGothic" panose="020B0600070205080204" pitchFamily="34" charset="-128"/>
              </a:defRPr>
            </a:lvl4pPr>
            <a:lvl5pPr marL="2057400" indent="-228600" defTabSz="931863">
              <a:defRPr sz="2400">
                <a:solidFill>
                  <a:schemeClr val="tx1"/>
                </a:solidFill>
                <a:latin typeface="Times New Roman" panose="02020603050405020304" pitchFamily="18" charset="0"/>
                <a:ea typeface="MS PGothic" panose="020B0600070205080204" pitchFamily="34" charset="-128"/>
              </a:defRPr>
            </a:lvl5pPr>
            <a:lvl6pPr marL="25146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548069BE-EFEC-4E89-8DE1-65984311529E}" type="slidenum">
              <a:rPr lang="en-US" altLang="en-US" sz="1200"/>
              <a:pPr/>
              <a:t>15</a:t>
            </a:fld>
            <a:endParaRPr lang="en-US" altLang="en-US" sz="1200"/>
          </a:p>
        </p:txBody>
      </p:sp>
      <p:sp>
        <p:nvSpPr>
          <p:cNvPr id="148483" name="Rectangle 2"/>
          <p:cNvSpPr>
            <a:spLocks noGrp="1" noRot="1" noChangeAspect="1" noChangeArrowheads="1" noTextEdit="1"/>
          </p:cNvSpPr>
          <p:nvPr>
            <p:ph type="sldImg"/>
          </p:nvPr>
        </p:nvSpPr>
        <p:spPr>
          <a:solidFill>
            <a:srgbClr val="FFFFFF"/>
          </a:solidFill>
          <a:ln/>
        </p:spPr>
      </p:sp>
      <p:sp>
        <p:nvSpPr>
          <p:cNvPr id="148484" name="Rectangle 3"/>
          <p:cNvSpPr>
            <a:spLocks noGrp="1" noChangeArrowheads="1"/>
          </p:cNvSpPr>
          <p:nvPr>
            <p:ph type="body" idx="1"/>
          </p:nvPr>
        </p:nvSpPr>
        <p:spPr>
          <a:solidFill>
            <a:srgbClr val="FFFFFF"/>
          </a:solidFill>
          <a:ln>
            <a:solidFill>
              <a:srgbClr val="000000"/>
            </a:solidFill>
          </a:ln>
        </p:spPr>
        <p:txBody>
          <a:bodyPr/>
          <a:lstStyle/>
          <a:p>
            <a:r>
              <a:rPr lang="en-US" altLang="en-US">
                <a:latin typeface="Arial" panose="020B0604020202020204" pitchFamily="34" charset="0"/>
              </a:rPr>
              <a:t>What is the placenta derived from? </a:t>
            </a:r>
          </a:p>
          <a:p>
            <a:r>
              <a:rPr lang="en-US" altLang="en-US">
                <a:latin typeface="Arial" panose="020B0604020202020204" pitchFamily="34" charset="0"/>
              </a:rPr>
              <a:t>What are the chorion and the amnion?</a:t>
            </a:r>
          </a:p>
          <a:p>
            <a:r>
              <a:rPr lang="en-US" altLang="en-US">
                <a:latin typeface="Arial" panose="020B0604020202020204" pitchFamily="34" charset="0"/>
              </a:rPr>
              <a:t>What is amniotic fluid?</a:t>
            </a:r>
          </a:p>
          <a:p>
            <a:endParaRPr lang="en-US" altLang="en-US">
              <a:latin typeface="Arial" panose="020B0604020202020204" pitchFamily="34" charset="0"/>
            </a:endParaRPr>
          </a:p>
          <a:p>
            <a:endParaRPr lang="en-US" altLang="en-US">
              <a:latin typeface="Times New Roman" panose="02020603050405020304" pitchFamily="18" charset="0"/>
            </a:endParaRPr>
          </a:p>
          <a:p>
            <a:endParaRPr lang="en-US" altLang="en-US">
              <a:latin typeface="Times New Roman" panose="02020603050405020304" pitchFamily="18" charset="0"/>
            </a:endParaRPr>
          </a:p>
        </p:txBody>
      </p:sp>
    </p:spTree>
    <p:extLst>
      <p:ext uri="{BB962C8B-B14F-4D97-AF65-F5344CB8AC3E}">
        <p14:creationId xmlns:p14="http://schemas.microsoft.com/office/powerpoint/2010/main" val="122184480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Rectangle 7"/>
          <p:cNvSpPr>
            <a:spLocks noGrp="1" noChangeArrowheads="1"/>
          </p:cNvSpPr>
          <p:nvPr>
            <p:ph type="sldNum" sz="quarter" idx="5"/>
          </p:nvPr>
        </p:nvSpPr>
        <p:spPr>
          <a:noFill/>
          <a:ln w="9525"/>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a:lstStyle>
            <a:lvl1pPr defTabSz="931863">
              <a:defRPr sz="2400">
                <a:solidFill>
                  <a:schemeClr val="tx1"/>
                </a:solidFill>
                <a:latin typeface="Times New Roman" panose="02020603050405020304" pitchFamily="18" charset="0"/>
                <a:ea typeface="MS PGothic" panose="020B0600070205080204" pitchFamily="34" charset="-128"/>
              </a:defRPr>
            </a:lvl1pPr>
            <a:lvl2pPr marL="742950" indent="-285750" defTabSz="931863">
              <a:defRPr sz="2400">
                <a:solidFill>
                  <a:schemeClr val="tx1"/>
                </a:solidFill>
                <a:latin typeface="Times New Roman" panose="02020603050405020304" pitchFamily="18" charset="0"/>
                <a:ea typeface="MS PGothic" panose="020B0600070205080204" pitchFamily="34" charset="-128"/>
              </a:defRPr>
            </a:lvl2pPr>
            <a:lvl3pPr marL="1143000" indent="-228600" defTabSz="931863">
              <a:defRPr sz="2400">
                <a:solidFill>
                  <a:schemeClr val="tx1"/>
                </a:solidFill>
                <a:latin typeface="Times New Roman" panose="02020603050405020304" pitchFamily="18" charset="0"/>
                <a:ea typeface="MS PGothic" panose="020B0600070205080204" pitchFamily="34" charset="-128"/>
              </a:defRPr>
            </a:lvl3pPr>
            <a:lvl4pPr marL="1600200" indent="-228600" defTabSz="931863">
              <a:defRPr sz="2400">
                <a:solidFill>
                  <a:schemeClr val="tx1"/>
                </a:solidFill>
                <a:latin typeface="Times New Roman" panose="02020603050405020304" pitchFamily="18" charset="0"/>
                <a:ea typeface="MS PGothic" panose="020B0600070205080204" pitchFamily="34" charset="-128"/>
              </a:defRPr>
            </a:lvl4pPr>
            <a:lvl5pPr marL="2057400" indent="-228600" defTabSz="931863">
              <a:defRPr sz="2400">
                <a:solidFill>
                  <a:schemeClr val="tx1"/>
                </a:solidFill>
                <a:latin typeface="Times New Roman" panose="02020603050405020304" pitchFamily="18" charset="0"/>
                <a:ea typeface="MS PGothic" panose="020B0600070205080204" pitchFamily="34" charset="-128"/>
              </a:defRPr>
            </a:lvl5pPr>
            <a:lvl6pPr marL="25146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A268B4D4-BECC-4C98-88EC-5725BDAE3707}" type="slidenum">
              <a:rPr lang="en-US" altLang="en-US" sz="1200"/>
              <a:pPr/>
              <a:t>16</a:t>
            </a:fld>
            <a:endParaRPr lang="en-US" altLang="en-US" sz="1200"/>
          </a:p>
        </p:txBody>
      </p:sp>
      <p:sp>
        <p:nvSpPr>
          <p:cNvPr id="149507" name="Rectangle 2"/>
          <p:cNvSpPr>
            <a:spLocks noGrp="1" noRot="1" noChangeAspect="1" noChangeArrowheads="1" noTextEdit="1"/>
          </p:cNvSpPr>
          <p:nvPr>
            <p:ph type="sldImg"/>
          </p:nvPr>
        </p:nvSpPr>
        <p:spPr>
          <a:solidFill>
            <a:srgbClr val="FFFFFF"/>
          </a:solidFill>
          <a:ln/>
        </p:spPr>
      </p:sp>
      <p:sp>
        <p:nvSpPr>
          <p:cNvPr id="149508" name="Rectangle 3"/>
          <p:cNvSpPr>
            <a:spLocks noGrp="1" noChangeArrowheads="1"/>
          </p:cNvSpPr>
          <p:nvPr>
            <p:ph type="body" idx="1"/>
          </p:nvPr>
        </p:nvSpPr>
        <p:spPr>
          <a:solidFill>
            <a:srgbClr val="FFFFFF"/>
          </a:solidFill>
          <a:ln>
            <a:solidFill>
              <a:srgbClr val="000000"/>
            </a:solidFill>
          </a:ln>
        </p:spPr>
        <p:txBody>
          <a:bodyPr/>
          <a:lstStyle/>
          <a:p>
            <a:pPr lvl="2"/>
            <a:r>
              <a:rPr lang="en-US" altLang="en-US">
                <a:latin typeface="Arial" panose="020B0604020202020204" pitchFamily="34" charset="0"/>
              </a:rPr>
              <a:t>See next slide for labels</a:t>
            </a:r>
          </a:p>
          <a:p>
            <a:endParaRPr lang="en-US" altLang="en-US">
              <a:latin typeface="Arial" panose="020B0604020202020204" pitchFamily="34" charset="0"/>
            </a:endParaRPr>
          </a:p>
          <a:p>
            <a:endParaRPr lang="en-US" altLang="en-US">
              <a:latin typeface="Times New Roman" panose="02020603050405020304" pitchFamily="18" charset="0"/>
            </a:endParaRPr>
          </a:p>
          <a:p>
            <a:endParaRPr lang="en-US" altLang="en-US">
              <a:latin typeface="Times New Roman" panose="02020603050405020304" pitchFamily="18" charset="0"/>
            </a:endParaRPr>
          </a:p>
        </p:txBody>
      </p:sp>
    </p:spTree>
    <p:extLst>
      <p:ext uri="{BB962C8B-B14F-4D97-AF65-F5344CB8AC3E}">
        <p14:creationId xmlns:p14="http://schemas.microsoft.com/office/powerpoint/2010/main" val="308276023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Rectangle 7"/>
          <p:cNvSpPr>
            <a:spLocks noGrp="1" noChangeArrowheads="1"/>
          </p:cNvSpPr>
          <p:nvPr>
            <p:ph type="sldNum" sz="quarter" idx="5"/>
          </p:nvPr>
        </p:nvSpPr>
        <p:spPr>
          <a:noFill/>
          <a:ln w="9525"/>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a:lstStyle>
            <a:lvl1pPr defTabSz="931863">
              <a:defRPr sz="2400">
                <a:solidFill>
                  <a:schemeClr val="tx1"/>
                </a:solidFill>
                <a:latin typeface="Times New Roman" panose="02020603050405020304" pitchFamily="18" charset="0"/>
                <a:ea typeface="MS PGothic" panose="020B0600070205080204" pitchFamily="34" charset="-128"/>
              </a:defRPr>
            </a:lvl1pPr>
            <a:lvl2pPr marL="742950" indent="-285750" defTabSz="931863">
              <a:defRPr sz="2400">
                <a:solidFill>
                  <a:schemeClr val="tx1"/>
                </a:solidFill>
                <a:latin typeface="Times New Roman" panose="02020603050405020304" pitchFamily="18" charset="0"/>
                <a:ea typeface="MS PGothic" panose="020B0600070205080204" pitchFamily="34" charset="-128"/>
              </a:defRPr>
            </a:lvl2pPr>
            <a:lvl3pPr marL="1143000" indent="-228600" defTabSz="931863">
              <a:defRPr sz="2400">
                <a:solidFill>
                  <a:schemeClr val="tx1"/>
                </a:solidFill>
                <a:latin typeface="Times New Roman" panose="02020603050405020304" pitchFamily="18" charset="0"/>
                <a:ea typeface="MS PGothic" panose="020B0600070205080204" pitchFamily="34" charset="-128"/>
              </a:defRPr>
            </a:lvl3pPr>
            <a:lvl4pPr marL="1600200" indent="-228600" defTabSz="931863">
              <a:defRPr sz="2400">
                <a:solidFill>
                  <a:schemeClr val="tx1"/>
                </a:solidFill>
                <a:latin typeface="Times New Roman" panose="02020603050405020304" pitchFamily="18" charset="0"/>
                <a:ea typeface="MS PGothic" panose="020B0600070205080204" pitchFamily="34" charset="-128"/>
              </a:defRPr>
            </a:lvl4pPr>
            <a:lvl5pPr marL="2057400" indent="-228600" defTabSz="931863">
              <a:defRPr sz="2400">
                <a:solidFill>
                  <a:schemeClr val="tx1"/>
                </a:solidFill>
                <a:latin typeface="Times New Roman" panose="02020603050405020304" pitchFamily="18" charset="0"/>
                <a:ea typeface="MS PGothic" panose="020B0600070205080204" pitchFamily="34" charset="-128"/>
              </a:defRPr>
            </a:lvl5pPr>
            <a:lvl6pPr marL="25146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DACD2C63-B0D0-4A3C-A6C4-BA0F945188D2}" type="slidenum">
              <a:rPr lang="en-US" altLang="en-US" sz="1200"/>
              <a:pPr/>
              <a:t>17</a:t>
            </a:fld>
            <a:endParaRPr lang="en-US" altLang="en-US" sz="1200"/>
          </a:p>
        </p:txBody>
      </p:sp>
      <p:sp>
        <p:nvSpPr>
          <p:cNvPr id="150531" name="Rectangle 2"/>
          <p:cNvSpPr>
            <a:spLocks noGrp="1" noRot="1" noChangeAspect="1" noChangeArrowheads="1" noTextEdit="1"/>
          </p:cNvSpPr>
          <p:nvPr>
            <p:ph type="sldImg"/>
          </p:nvPr>
        </p:nvSpPr>
        <p:spPr>
          <a:solidFill>
            <a:srgbClr val="FFFFFF"/>
          </a:solidFill>
          <a:ln/>
        </p:spPr>
      </p:sp>
      <p:sp>
        <p:nvSpPr>
          <p:cNvPr id="150532" name="Rectangle 3"/>
          <p:cNvSpPr>
            <a:spLocks noGrp="1" noChangeArrowheads="1"/>
          </p:cNvSpPr>
          <p:nvPr>
            <p:ph type="body" idx="1"/>
          </p:nvPr>
        </p:nvSpPr>
        <p:spPr>
          <a:solidFill>
            <a:srgbClr val="FFFFFF"/>
          </a:solidFill>
          <a:ln>
            <a:solidFill>
              <a:srgbClr val="000000"/>
            </a:solidFill>
          </a:ln>
        </p:spPr>
        <p:txBody>
          <a:bodyPr/>
          <a:lstStyle/>
          <a:p>
            <a:pPr lvl="2"/>
            <a:endParaRPr lang="en-US" altLang="en-US">
              <a:latin typeface="Arial" panose="020B0604020202020204" pitchFamily="34" charset="0"/>
            </a:endParaRPr>
          </a:p>
          <a:p>
            <a:endParaRPr lang="en-US" altLang="en-US">
              <a:latin typeface="Arial" panose="020B0604020202020204" pitchFamily="34" charset="0"/>
            </a:endParaRPr>
          </a:p>
          <a:p>
            <a:endParaRPr lang="en-US" altLang="en-US">
              <a:latin typeface="Times New Roman" panose="02020603050405020304" pitchFamily="18" charset="0"/>
            </a:endParaRPr>
          </a:p>
          <a:p>
            <a:endParaRPr lang="en-US" altLang="en-US">
              <a:latin typeface="Times New Roman" panose="02020603050405020304" pitchFamily="18" charset="0"/>
            </a:endParaRPr>
          </a:p>
        </p:txBody>
      </p:sp>
    </p:spTree>
    <p:extLst>
      <p:ext uri="{BB962C8B-B14F-4D97-AF65-F5344CB8AC3E}">
        <p14:creationId xmlns:p14="http://schemas.microsoft.com/office/powerpoint/2010/main" val="215130687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Rectangle 7"/>
          <p:cNvSpPr>
            <a:spLocks noGrp="1" noChangeArrowheads="1"/>
          </p:cNvSpPr>
          <p:nvPr>
            <p:ph type="sldNum" sz="quarter" idx="5"/>
          </p:nvPr>
        </p:nvSpPr>
        <p:spPr>
          <a:noFill/>
          <a:ln w="9525"/>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a:lstStyle>
            <a:lvl1pPr defTabSz="931863">
              <a:defRPr sz="2400">
                <a:solidFill>
                  <a:schemeClr val="tx1"/>
                </a:solidFill>
                <a:latin typeface="Times New Roman" panose="02020603050405020304" pitchFamily="18" charset="0"/>
                <a:ea typeface="MS PGothic" panose="020B0600070205080204" pitchFamily="34" charset="-128"/>
              </a:defRPr>
            </a:lvl1pPr>
            <a:lvl2pPr marL="742950" indent="-285750" defTabSz="931863">
              <a:defRPr sz="2400">
                <a:solidFill>
                  <a:schemeClr val="tx1"/>
                </a:solidFill>
                <a:latin typeface="Times New Roman" panose="02020603050405020304" pitchFamily="18" charset="0"/>
                <a:ea typeface="MS PGothic" panose="020B0600070205080204" pitchFamily="34" charset="-128"/>
              </a:defRPr>
            </a:lvl2pPr>
            <a:lvl3pPr marL="1143000" indent="-228600" defTabSz="931863">
              <a:defRPr sz="2400">
                <a:solidFill>
                  <a:schemeClr val="tx1"/>
                </a:solidFill>
                <a:latin typeface="Times New Roman" panose="02020603050405020304" pitchFamily="18" charset="0"/>
                <a:ea typeface="MS PGothic" panose="020B0600070205080204" pitchFamily="34" charset="-128"/>
              </a:defRPr>
            </a:lvl3pPr>
            <a:lvl4pPr marL="1600200" indent="-228600" defTabSz="931863">
              <a:defRPr sz="2400">
                <a:solidFill>
                  <a:schemeClr val="tx1"/>
                </a:solidFill>
                <a:latin typeface="Times New Roman" panose="02020603050405020304" pitchFamily="18" charset="0"/>
                <a:ea typeface="MS PGothic" panose="020B0600070205080204" pitchFamily="34" charset="-128"/>
              </a:defRPr>
            </a:lvl4pPr>
            <a:lvl5pPr marL="2057400" indent="-228600" defTabSz="931863">
              <a:defRPr sz="2400">
                <a:solidFill>
                  <a:schemeClr val="tx1"/>
                </a:solidFill>
                <a:latin typeface="Times New Roman" panose="02020603050405020304" pitchFamily="18" charset="0"/>
                <a:ea typeface="MS PGothic" panose="020B0600070205080204" pitchFamily="34" charset="-128"/>
              </a:defRPr>
            </a:lvl5pPr>
            <a:lvl6pPr marL="25146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1A7915D6-495F-468C-A04D-632C9F742580}" type="slidenum">
              <a:rPr lang="en-US" altLang="en-US" sz="1200"/>
              <a:pPr/>
              <a:t>18</a:t>
            </a:fld>
            <a:endParaRPr lang="en-US" altLang="en-US" sz="1200"/>
          </a:p>
        </p:txBody>
      </p:sp>
      <p:sp>
        <p:nvSpPr>
          <p:cNvPr id="151555" name="Rectangle 2"/>
          <p:cNvSpPr>
            <a:spLocks noGrp="1" noRot="1" noChangeAspect="1" noChangeArrowheads="1" noTextEdit="1"/>
          </p:cNvSpPr>
          <p:nvPr>
            <p:ph type="sldImg"/>
          </p:nvPr>
        </p:nvSpPr>
        <p:spPr>
          <a:ln/>
        </p:spPr>
      </p:sp>
      <p:sp>
        <p:nvSpPr>
          <p:cNvPr id="151556" name="Rectangle 3"/>
          <p:cNvSpPr>
            <a:spLocks noGrp="1" noChangeArrowheads="1"/>
          </p:cNvSpPr>
          <p:nvPr>
            <p:ph type="body" idx="1"/>
          </p:nvPr>
        </p:nvSpPr>
        <p:spPr>
          <a:noFill/>
          <a:ln w="9525"/>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type="none" w="sm" len="sm"/>
                <a:tailEnd type="none" w="sm" len="sm"/>
              </a14:hiddenLine>
            </a:ext>
          </a:extLst>
        </p:spPr>
        <p:txBody>
          <a:bodyPr/>
          <a:lstStyle/>
          <a:p>
            <a:r>
              <a:rPr lang="en-US" altLang="en-US">
                <a:latin typeface="Times New Roman" panose="02020603050405020304" pitchFamily="18" charset="0"/>
              </a:rPr>
              <a:t>The correct answer is C: progesterone.</a:t>
            </a:r>
          </a:p>
        </p:txBody>
      </p:sp>
    </p:spTree>
    <p:extLst>
      <p:ext uri="{BB962C8B-B14F-4D97-AF65-F5344CB8AC3E}">
        <p14:creationId xmlns:p14="http://schemas.microsoft.com/office/powerpoint/2010/main" val="123846755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Rectangle 7"/>
          <p:cNvSpPr>
            <a:spLocks noGrp="1" noChangeArrowheads="1"/>
          </p:cNvSpPr>
          <p:nvPr>
            <p:ph type="sldNum" sz="quarter" idx="5"/>
          </p:nvPr>
        </p:nvSpPr>
        <p:spPr>
          <a:noFill/>
          <a:ln w="9525"/>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a:lstStyle>
            <a:lvl1pPr defTabSz="931863">
              <a:defRPr sz="2400">
                <a:solidFill>
                  <a:schemeClr val="tx1"/>
                </a:solidFill>
                <a:latin typeface="Times New Roman" panose="02020603050405020304" pitchFamily="18" charset="0"/>
                <a:ea typeface="MS PGothic" panose="020B0600070205080204" pitchFamily="34" charset="-128"/>
              </a:defRPr>
            </a:lvl1pPr>
            <a:lvl2pPr marL="742950" indent="-285750" defTabSz="931863">
              <a:defRPr sz="2400">
                <a:solidFill>
                  <a:schemeClr val="tx1"/>
                </a:solidFill>
                <a:latin typeface="Times New Roman" panose="02020603050405020304" pitchFamily="18" charset="0"/>
                <a:ea typeface="MS PGothic" panose="020B0600070205080204" pitchFamily="34" charset="-128"/>
              </a:defRPr>
            </a:lvl2pPr>
            <a:lvl3pPr marL="1143000" indent="-228600" defTabSz="931863">
              <a:defRPr sz="2400">
                <a:solidFill>
                  <a:schemeClr val="tx1"/>
                </a:solidFill>
                <a:latin typeface="Times New Roman" panose="02020603050405020304" pitchFamily="18" charset="0"/>
                <a:ea typeface="MS PGothic" panose="020B0600070205080204" pitchFamily="34" charset="-128"/>
              </a:defRPr>
            </a:lvl3pPr>
            <a:lvl4pPr marL="1600200" indent="-228600" defTabSz="931863">
              <a:defRPr sz="2400">
                <a:solidFill>
                  <a:schemeClr val="tx1"/>
                </a:solidFill>
                <a:latin typeface="Times New Roman" panose="02020603050405020304" pitchFamily="18" charset="0"/>
                <a:ea typeface="MS PGothic" panose="020B0600070205080204" pitchFamily="34" charset="-128"/>
              </a:defRPr>
            </a:lvl4pPr>
            <a:lvl5pPr marL="2057400" indent="-228600" defTabSz="931863">
              <a:defRPr sz="2400">
                <a:solidFill>
                  <a:schemeClr val="tx1"/>
                </a:solidFill>
                <a:latin typeface="Times New Roman" panose="02020603050405020304" pitchFamily="18" charset="0"/>
                <a:ea typeface="MS PGothic" panose="020B0600070205080204" pitchFamily="34" charset="-128"/>
              </a:defRPr>
            </a:lvl5pPr>
            <a:lvl6pPr marL="25146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AD5E37F1-1642-439C-8917-AB13D910A5A1}" type="slidenum">
              <a:rPr lang="en-US" altLang="en-US" sz="1200"/>
              <a:pPr/>
              <a:t>19</a:t>
            </a:fld>
            <a:endParaRPr lang="en-US" altLang="en-US" sz="1200"/>
          </a:p>
        </p:txBody>
      </p:sp>
      <p:sp>
        <p:nvSpPr>
          <p:cNvPr id="152579" name="Rectangle 2"/>
          <p:cNvSpPr>
            <a:spLocks noGrp="1" noRot="1" noChangeAspect="1" noChangeArrowheads="1" noTextEdit="1"/>
          </p:cNvSpPr>
          <p:nvPr>
            <p:ph type="sldImg"/>
          </p:nvPr>
        </p:nvSpPr>
        <p:spPr>
          <a:ln/>
        </p:spPr>
      </p:sp>
      <p:sp>
        <p:nvSpPr>
          <p:cNvPr id="152580" name="Rectangle 3"/>
          <p:cNvSpPr>
            <a:spLocks noGrp="1" noChangeArrowheads="1"/>
          </p:cNvSpPr>
          <p:nvPr>
            <p:ph type="body" idx="1"/>
          </p:nvPr>
        </p:nvSpPr>
        <p:spPr>
          <a:noFill/>
          <a:ln w="9525"/>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type="none" w="sm" len="sm"/>
                <a:tailEnd type="none" w="sm" len="sm"/>
              </a14:hiddenLine>
            </a:ext>
          </a:extLst>
        </p:spPr>
        <p:txBody>
          <a:bodyPr/>
          <a:lstStyle/>
          <a:p>
            <a:r>
              <a:rPr lang="en-US" altLang="en-US">
                <a:latin typeface="Times New Roman" panose="02020603050405020304" pitchFamily="18" charset="0"/>
              </a:rPr>
              <a:t>The correct answer is B: hGC (human chorionic gonadotropin).</a:t>
            </a:r>
          </a:p>
        </p:txBody>
      </p:sp>
    </p:spTree>
    <p:extLst>
      <p:ext uri="{BB962C8B-B14F-4D97-AF65-F5344CB8AC3E}">
        <p14:creationId xmlns:p14="http://schemas.microsoft.com/office/powerpoint/2010/main" val="17509976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Rectangle 7"/>
          <p:cNvSpPr>
            <a:spLocks noGrp="1" noChangeArrowheads="1"/>
          </p:cNvSpPr>
          <p:nvPr>
            <p:ph type="sldNum" sz="quarter" idx="5"/>
          </p:nvPr>
        </p:nvSpPr>
        <p:spPr>
          <a:noFill/>
          <a:ln w="9525"/>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a:lstStyle>
            <a:lvl1pPr defTabSz="931863">
              <a:defRPr sz="2400">
                <a:solidFill>
                  <a:schemeClr val="tx1"/>
                </a:solidFill>
                <a:latin typeface="Times New Roman" panose="02020603050405020304" pitchFamily="18" charset="0"/>
                <a:ea typeface="MS PGothic" panose="020B0600070205080204" pitchFamily="34" charset="-128"/>
              </a:defRPr>
            </a:lvl1pPr>
            <a:lvl2pPr marL="742950" indent="-285750" defTabSz="931863">
              <a:defRPr sz="2400">
                <a:solidFill>
                  <a:schemeClr val="tx1"/>
                </a:solidFill>
                <a:latin typeface="Times New Roman" panose="02020603050405020304" pitchFamily="18" charset="0"/>
                <a:ea typeface="MS PGothic" panose="020B0600070205080204" pitchFamily="34" charset="-128"/>
              </a:defRPr>
            </a:lvl2pPr>
            <a:lvl3pPr marL="1143000" indent="-228600" defTabSz="931863">
              <a:defRPr sz="2400">
                <a:solidFill>
                  <a:schemeClr val="tx1"/>
                </a:solidFill>
                <a:latin typeface="Times New Roman" panose="02020603050405020304" pitchFamily="18" charset="0"/>
                <a:ea typeface="MS PGothic" panose="020B0600070205080204" pitchFamily="34" charset="-128"/>
              </a:defRPr>
            </a:lvl3pPr>
            <a:lvl4pPr marL="1600200" indent="-228600" defTabSz="931863">
              <a:defRPr sz="2400">
                <a:solidFill>
                  <a:schemeClr val="tx1"/>
                </a:solidFill>
                <a:latin typeface="Times New Roman" panose="02020603050405020304" pitchFamily="18" charset="0"/>
                <a:ea typeface="MS PGothic" panose="020B0600070205080204" pitchFamily="34" charset="-128"/>
              </a:defRPr>
            </a:lvl4pPr>
            <a:lvl5pPr marL="2057400" indent="-228600" defTabSz="931863">
              <a:defRPr sz="2400">
                <a:solidFill>
                  <a:schemeClr val="tx1"/>
                </a:solidFill>
                <a:latin typeface="Times New Roman" panose="02020603050405020304" pitchFamily="18" charset="0"/>
                <a:ea typeface="MS PGothic" panose="020B0600070205080204" pitchFamily="34" charset="-128"/>
              </a:defRPr>
            </a:lvl5pPr>
            <a:lvl6pPr marL="25146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E1878EF3-22E4-4B30-B3DE-238AABD884FE}" type="slidenum">
              <a:rPr lang="en-US" altLang="en-US" sz="1200"/>
              <a:pPr/>
              <a:t>20</a:t>
            </a:fld>
            <a:endParaRPr lang="en-US" altLang="en-US" sz="1200"/>
          </a:p>
        </p:txBody>
      </p:sp>
      <p:sp>
        <p:nvSpPr>
          <p:cNvPr id="153603" name="Rectangle 2"/>
          <p:cNvSpPr>
            <a:spLocks noGrp="1" noRot="1" noChangeAspect="1" noChangeArrowheads="1" noTextEdit="1"/>
          </p:cNvSpPr>
          <p:nvPr>
            <p:ph type="sldImg"/>
          </p:nvPr>
        </p:nvSpPr>
        <p:spPr>
          <a:solidFill>
            <a:srgbClr val="FFFFFF"/>
          </a:solidFill>
          <a:ln/>
        </p:spPr>
      </p:sp>
      <p:sp>
        <p:nvSpPr>
          <p:cNvPr id="153604" name="Rectangle 3"/>
          <p:cNvSpPr>
            <a:spLocks noGrp="1" noChangeArrowheads="1"/>
          </p:cNvSpPr>
          <p:nvPr>
            <p:ph type="body" idx="1"/>
          </p:nvPr>
        </p:nvSpPr>
        <p:spPr>
          <a:solidFill>
            <a:srgbClr val="FFFFFF"/>
          </a:solidFill>
          <a:ln>
            <a:solidFill>
              <a:srgbClr val="000000"/>
            </a:solidFill>
          </a:ln>
        </p:spPr>
        <p:txBody>
          <a:bodyPr/>
          <a:lstStyle/>
          <a:p>
            <a:r>
              <a:rPr lang="en-US" altLang="en-US">
                <a:latin typeface="Times New Roman" panose="02020603050405020304" pitchFamily="18" charset="0"/>
              </a:rPr>
              <a:t>Which hormone does the placenta produce?</a:t>
            </a:r>
          </a:p>
          <a:p>
            <a:r>
              <a:rPr lang="en-US" altLang="en-US">
                <a:latin typeface="Times New Roman" panose="02020603050405020304" pitchFamily="18" charset="0"/>
              </a:rPr>
              <a:t>What does a pregnancy test look for?</a:t>
            </a:r>
            <a:r>
              <a:rPr lang="en-US" altLang="en-US" i="1">
                <a:latin typeface="Times New Roman" panose="02020603050405020304" pitchFamily="18" charset="0"/>
              </a:rPr>
              <a:t> (Urine vs. blood)</a:t>
            </a:r>
          </a:p>
          <a:p>
            <a:r>
              <a:rPr lang="en-US" altLang="en-US">
                <a:latin typeface="Times New Roman" panose="02020603050405020304" pitchFamily="18" charset="0"/>
              </a:rPr>
              <a:t>How long does it take the fetus to reach the epigastric region? </a:t>
            </a:r>
          </a:p>
        </p:txBody>
      </p:sp>
    </p:spTree>
    <p:extLst>
      <p:ext uri="{BB962C8B-B14F-4D97-AF65-F5344CB8AC3E}">
        <p14:creationId xmlns:p14="http://schemas.microsoft.com/office/powerpoint/2010/main" val="216905437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7"/>
          <p:cNvSpPr>
            <a:spLocks noGrp="1" noChangeArrowheads="1"/>
          </p:cNvSpPr>
          <p:nvPr>
            <p:ph type="sldNum" sz="quarter" idx="5"/>
          </p:nvPr>
        </p:nvSpPr>
        <p:spPr>
          <a:noFill/>
          <a:ln w="9525"/>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a:lstStyle>
            <a:lvl1pPr defTabSz="931863">
              <a:defRPr sz="2400">
                <a:solidFill>
                  <a:schemeClr val="tx1"/>
                </a:solidFill>
                <a:latin typeface="Times New Roman" panose="02020603050405020304" pitchFamily="18" charset="0"/>
                <a:ea typeface="MS PGothic" panose="020B0600070205080204" pitchFamily="34" charset="-128"/>
              </a:defRPr>
            </a:lvl1pPr>
            <a:lvl2pPr marL="742950" indent="-285750" defTabSz="931863">
              <a:defRPr sz="2400">
                <a:solidFill>
                  <a:schemeClr val="tx1"/>
                </a:solidFill>
                <a:latin typeface="Times New Roman" panose="02020603050405020304" pitchFamily="18" charset="0"/>
                <a:ea typeface="MS PGothic" panose="020B0600070205080204" pitchFamily="34" charset="-128"/>
              </a:defRPr>
            </a:lvl2pPr>
            <a:lvl3pPr marL="1143000" indent="-228600" defTabSz="931863">
              <a:defRPr sz="2400">
                <a:solidFill>
                  <a:schemeClr val="tx1"/>
                </a:solidFill>
                <a:latin typeface="Times New Roman" panose="02020603050405020304" pitchFamily="18" charset="0"/>
                <a:ea typeface="MS PGothic" panose="020B0600070205080204" pitchFamily="34" charset="-128"/>
              </a:defRPr>
            </a:lvl3pPr>
            <a:lvl4pPr marL="1600200" indent="-228600" defTabSz="931863">
              <a:defRPr sz="2400">
                <a:solidFill>
                  <a:schemeClr val="tx1"/>
                </a:solidFill>
                <a:latin typeface="Times New Roman" panose="02020603050405020304" pitchFamily="18" charset="0"/>
                <a:ea typeface="MS PGothic" panose="020B0600070205080204" pitchFamily="34" charset="-128"/>
              </a:defRPr>
            </a:lvl4pPr>
            <a:lvl5pPr marL="2057400" indent="-228600" defTabSz="931863">
              <a:defRPr sz="2400">
                <a:solidFill>
                  <a:schemeClr val="tx1"/>
                </a:solidFill>
                <a:latin typeface="Times New Roman" panose="02020603050405020304" pitchFamily="18" charset="0"/>
                <a:ea typeface="MS PGothic" panose="020B0600070205080204" pitchFamily="34" charset="-128"/>
              </a:defRPr>
            </a:lvl5pPr>
            <a:lvl6pPr marL="25146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29B615CF-7488-4120-BC82-25060ADD4296}" type="slidenum">
              <a:rPr lang="en-US" altLang="en-US" sz="1200"/>
              <a:pPr/>
              <a:t>21</a:t>
            </a:fld>
            <a:endParaRPr lang="en-US" altLang="en-US" sz="1200"/>
          </a:p>
        </p:txBody>
      </p:sp>
      <p:sp>
        <p:nvSpPr>
          <p:cNvPr id="154627" name="Rectangle 2"/>
          <p:cNvSpPr>
            <a:spLocks noGrp="1" noRot="1" noChangeAspect="1" noChangeArrowheads="1" noTextEdit="1"/>
          </p:cNvSpPr>
          <p:nvPr>
            <p:ph type="sldImg"/>
          </p:nvPr>
        </p:nvSpPr>
        <p:spPr>
          <a:solidFill>
            <a:srgbClr val="FFFFFF"/>
          </a:solidFill>
          <a:ln/>
        </p:spPr>
      </p:sp>
      <p:sp>
        <p:nvSpPr>
          <p:cNvPr id="154628" name="Rectangle 3"/>
          <p:cNvSpPr>
            <a:spLocks noGrp="1" noChangeArrowheads="1"/>
          </p:cNvSpPr>
          <p:nvPr>
            <p:ph type="body" idx="1"/>
          </p:nvPr>
        </p:nvSpPr>
        <p:spPr>
          <a:solidFill>
            <a:srgbClr val="FFFFFF"/>
          </a:solidFill>
          <a:ln>
            <a:solidFill>
              <a:srgbClr val="000000"/>
            </a:solidFill>
          </a:ln>
        </p:spPr>
        <p:txBody>
          <a:bodyPr/>
          <a:lstStyle/>
          <a:p>
            <a:r>
              <a:rPr lang="en-US" altLang="en-US">
                <a:latin typeface="Times New Roman" panose="02020603050405020304" pitchFamily="18" charset="0"/>
              </a:rPr>
              <a:t>Which hormone does the placenta produce?</a:t>
            </a:r>
          </a:p>
          <a:p>
            <a:r>
              <a:rPr lang="en-US" altLang="en-US">
                <a:latin typeface="Times New Roman" panose="02020603050405020304" pitchFamily="18" charset="0"/>
              </a:rPr>
              <a:t>What does a pregnancy test look for? </a:t>
            </a:r>
            <a:r>
              <a:rPr lang="en-US" altLang="en-US" i="1">
                <a:latin typeface="Times New Roman" panose="02020603050405020304" pitchFamily="18" charset="0"/>
              </a:rPr>
              <a:t>(Urine vs. blood)</a:t>
            </a:r>
          </a:p>
          <a:p>
            <a:r>
              <a:rPr lang="en-US" altLang="en-US">
                <a:latin typeface="Times New Roman" panose="02020603050405020304" pitchFamily="18" charset="0"/>
              </a:rPr>
              <a:t>How long does it take the fetus to reach the epigastric region? </a:t>
            </a:r>
          </a:p>
        </p:txBody>
      </p:sp>
    </p:spTree>
    <p:extLst>
      <p:ext uri="{BB962C8B-B14F-4D97-AF65-F5344CB8AC3E}">
        <p14:creationId xmlns:p14="http://schemas.microsoft.com/office/powerpoint/2010/main" val="380065462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Rectangle 7"/>
          <p:cNvSpPr>
            <a:spLocks noGrp="1" noChangeArrowheads="1"/>
          </p:cNvSpPr>
          <p:nvPr>
            <p:ph type="sldNum" sz="quarter" idx="5"/>
          </p:nvPr>
        </p:nvSpPr>
        <p:spPr>
          <a:noFill/>
          <a:ln w="9525"/>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a:lstStyle>
            <a:lvl1pPr defTabSz="931863">
              <a:defRPr sz="2400">
                <a:solidFill>
                  <a:schemeClr val="tx1"/>
                </a:solidFill>
                <a:latin typeface="Times New Roman" panose="02020603050405020304" pitchFamily="18" charset="0"/>
                <a:ea typeface="MS PGothic" panose="020B0600070205080204" pitchFamily="34" charset="-128"/>
              </a:defRPr>
            </a:lvl1pPr>
            <a:lvl2pPr marL="742950" indent="-285750" defTabSz="931863">
              <a:defRPr sz="2400">
                <a:solidFill>
                  <a:schemeClr val="tx1"/>
                </a:solidFill>
                <a:latin typeface="Times New Roman" panose="02020603050405020304" pitchFamily="18" charset="0"/>
                <a:ea typeface="MS PGothic" panose="020B0600070205080204" pitchFamily="34" charset="-128"/>
              </a:defRPr>
            </a:lvl2pPr>
            <a:lvl3pPr marL="1143000" indent="-228600" defTabSz="931863">
              <a:defRPr sz="2400">
                <a:solidFill>
                  <a:schemeClr val="tx1"/>
                </a:solidFill>
                <a:latin typeface="Times New Roman" panose="02020603050405020304" pitchFamily="18" charset="0"/>
                <a:ea typeface="MS PGothic" panose="020B0600070205080204" pitchFamily="34" charset="-128"/>
              </a:defRPr>
            </a:lvl3pPr>
            <a:lvl4pPr marL="1600200" indent="-228600" defTabSz="931863">
              <a:defRPr sz="2400">
                <a:solidFill>
                  <a:schemeClr val="tx1"/>
                </a:solidFill>
                <a:latin typeface="Times New Roman" panose="02020603050405020304" pitchFamily="18" charset="0"/>
                <a:ea typeface="MS PGothic" panose="020B0600070205080204" pitchFamily="34" charset="-128"/>
              </a:defRPr>
            </a:lvl4pPr>
            <a:lvl5pPr marL="2057400" indent="-228600" defTabSz="931863">
              <a:defRPr sz="2400">
                <a:solidFill>
                  <a:schemeClr val="tx1"/>
                </a:solidFill>
                <a:latin typeface="Times New Roman" panose="02020603050405020304" pitchFamily="18" charset="0"/>
                <a:ea typeface="MS PGothic" panose="020B0600070205080204" pitchFamily="34" charset="-128"/>
              </a:defRPr>
            </a:lvl5pPr>
            <a:lvl6pPr marL="25146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A9E4E8AD-D841-4C36-8F1A-31B534027892}" type="slidenum">
              <a:rPr lang="en-US" altLang="en-US" sz="1200"/>
              <a:pPr/>
              <a:t>22</a:t>
            </a:fld>
            <a:endParaRPr lang="en-US" altLang="en-US" sz="1200"/>
          </a:p>
        </p:txBody>
      </p:sp>
      <p:sp>
        <p:nvSpPr>
          <p:cNvPr id="155651" name="Rectangle 2"/>
          <p:cNvSpPr>
            <a:spLocks noGrp="1" noRot="1" noChangeAspect="1" noChangeArrowheads="1" noTextEdit="1"/>
          </p:cNvSpPr>
          <p:nvPr>
            <p:ph type="sldImg"/>
          </p:nvPr>
        </p:nvSpPr>
        <p:spPr>
          <a:ln/>
        </p:spPr>
      </p:sp>
      <p:sp>
        <p:nvSpPr>
          <p:cNvPr id="155652" name="Rectangle 3"/>
          <p:cNvSpPr>
            <a:spLocks noGrp="1" noChangeArrowheads="1"/>
          </p:cNvSpPr>
          <p:nvPr>
            <p:ph type="body" idx="1"/>
          </p:nvPr>
        </p:nvSpPr>
        <p:spPr>
          <a:noFill/>
          <a:ln w="9525"/>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type="none" w="sm" len="sm"/>
                <a:tailEnd type="none" w="sm" len="sm"/>
              </a14:hiddenLine>
            </a:ext>
          </a:extLst>
        </p:spPr>
        <p:txBody>
          <a:bodyPr/>
          <a:lstStyle/>
          <a:p>
            <a:endParaRPr lang="en-GB" altLang="en-US">
              <a:latin typeface="Times New Roman" panose="02020603050405020304" pitchFamily="18" charset="0"/>
            </a:endParaRPr>
          </a:p>
        </p:txBody>
      </p:sp>
    </p:spTree>
    <p:extLst>
      <p:ext uri="{BB962C8B-B14F-4D97-AF65-F5344CB8AC3E}">
        <p14:creationId xmlns:p14="http://schemas.microsoft.com/office/powerpoint/2010/main" val="379436087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Rectangle 7"/>
          <p:cNvSpPr>
            <a:spLocks noGrp="1" noChangeArrowheads="1"/>
          </p:cNvSpPr>
          <p:nvPr>
            <p:ph type="sldNum" sz="quarter" idx="5"/>
          </p:nvPr>
        </p:nvSpPr>
        <p:spPr>
          <a:noFill/>
          <a:ln w="9525"/>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a:lstStyle>
            <a:lvl1pPr defTabSz="931863">
              <a:defRPr sz="2400">
                <a:solidFill>
                  <a:schemeClr val="tx1"/>
                </a:solidFill>
                <a:latin typeface="Times New Roman" panose="02020603050405020304" pitchFamily="18" charset="0"/>
                <a:ea typeface="MS PGothic" panose="020B0600070205080204" pitchFamily="34" charset="-128"/>
              </a:defRPr>
            </a:lvl1pPr>
            <a:lvl2pPr marL="742950" indent="-285750" defTabSz="931863">
              <a:defRPr sz="2400">
                <a:solidFill>
                  <a:schemeClr val="tx1"/>
                </a:solidFill>
                <a:latin typeface="Times New Roman" panose="02020603050405020304" pitchFamily="18" charset="0"/>
                <a:ea typeface="MS PGothic" panose="020B0600070205080204" pitchFamily="34" charset="-128"/>
              </a:defRPr>
            </a:lvl2pPr>
            <a:lvl3pPr marL="1143000" indent="-228600" defTabSz="931863">
              <a:defRPr sz="2400">
                <a:solidFill>
                  <a:schemeClr val="tx1"/>
                </a:solidFill>
                <a:latin typeface="Times New Roman" panose="02020603050405020304" pitchFamily="18" charset="0"/>
                <a:ea typeface="MS PGothic" panose="020B0600070205080204" pitchFamily="34" charset="-128"/>
              </a:defRPr>
            </a:lvl3pPr>
            <a:lvl4pPr marL="1600200" indent="-228600" defTabSz="931863">
              <a:defRPr sz="2400">
                <a:solidFill>
                  <a:schemeClr val="tx1"/>
                </a:solidFill>
                <a:latin typeface="Times New Roman" panose="02020603050405020304" pitchFamily="18" charset="0"/>
                <a:ea typeface="MS PGothic" panose="020B0600070205080204" pitchFamily="34" charset="-128"/>
              </a:defRPr>
            </a:lvl4pPr>
            <a:lvl5pPr marL="2057400" indent="-228600" defTabSz="931863">
              <a:defRPr sz="2400">
                <a:solidFill>
                  <a:schemeClr val="tx1"/>
                </a:solidFill>
                <a:latin typeface="Times New Roman" panose="02020603050405020304" pitchFamily="18" charset="0"/>
                <a:ea typeface="MS PGothic" panose="020B0600070205080204" pitchFamily="34" charset="-128"/>
              </a:defRPr>
            </a:lvl5pPr>
            <a:lvl6pPr marL="25146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8C134B99-D56F-4E61-8D03-71FAD0549EE2}" type="slidenum">
              <a:rPr lang="en-US" altLang="en-US" sz="1200"/>
              <a:pPr/>
              <a:t>23</a:t>
            </a:fld>
            <a:endParaRPr lang="en-US" altLang="en-US" sz="1200"/>
          </a:p>
        </p:txBody>
      </p:sp>
      <p:sp>
        <p:nvSpPr>
          <p:cNvPr id="156675" name="Rectangle 2"/>
          <p:cNvSpPr>
            <a:spLocks noGrp="1" noRot="1" noChangeAspect="1" noChangeArrowheads="1" noTextEdit="1"/>
          </p:cNvSpPr>
          <p:nvPr>
            <p:ph type="sldImg"/>
          </p:nvPr>
        </p:nvSpPr>
        <p:spPr>
          <a:ln/>
        </p:spPr>
      </p:sp>
      <p:sp>
        <p:nvSpPr>
          <p:cNvPr id="156676" name="Rectangle 3"/>
          <p:cNvSpPr>
            <a:spLocks noGrp="1" noChangeArrowheads="1"/>
          </p:cNvSpPr>
          <p:nvPr>
            <p:ph type="body" idx="1"/>
          </p:nvPr>
        </p:nvSpPr>
        <p:spPr>
          <a:noFill/>
          <a:ln w="9525"/>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type="none" w="sm" len="sm"/>
                <a:tailEnd type="none" w="sm" len="sm"/>
              </a14:hiddenLine>
            </a:ext>
          </a:extLst>
        </p:spPr>
        <p:txBody>
          <a:bodyPr/>
          <a:lstStyle/>
          <a:p>
            <a:r>
              <a:rPr lang="en-US" altLang="en-US">
                <a:latin typeface="Times New Roman" panose="02020603050405020304" pitchFamily="18" charset="0"/>
              </a:rPr>
              <a:t>What is negative feedback?</a:t>
            </a:r>
          </a:p>
          <a:p>
            <a:r>
              <a:rPr lang="en-US" altLang="en-US">
                <a:latin typeface="Times New Roman" panose="02020603050405020304" pitchFamily="18" charset="0"/>
              </a:rPr>
              <a:t>How do oral contraceptives work?</a:t>
            </a:r>
          </a:p>
        </p:txBody>
      </p:sp>
    </p:spTree>
    <p:extLst>
      <p:ext uri="{BB962C8B-B14F-4D97-AF65-F5344CB8AC3E}">
        <p14:creationId xmlns:p14="http://schemas.microsoft.com/office/powerpoint/2010/main" val="24241399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Rectangle 7"/>
          <p:cNvSpPr>
            <a:spLocks noGrp="1" noChangeArrowheads="1"/>
          </p:cNvSpPr>
          <p:nvPr>
            <p:ph type="sldNum" sz="quarter" idx="5"/>
          </p:nvPr>
        </p:nvSpPr>
        <p:spPr>
          <a:noFill/>
          <a:ln w="9525"/>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a:lstStyle>
            <a:lvl1pPr defTabSz="931863">
              <a:defRPr sz="2400">
                <a:solidFill>
                  <a:schemeClr val="tx1"/>
                </a:solidFill>
                <a:latin typeface="Times New Roman" panose="02020603050405020304" pitchFamily="18" charset="0"/>
                <a:ea typeface="MS PGothic" panose="020B0600070205080204" pitchFamily="34" charset="-128"/>
              </a:defRPr>
            </a:lvl1pPr>
            <a:lvl2pPr marL="742950" indent="-285750" defTabSz="931863">
              <a:defRPr sz="2400">
                <a:solidFill>
                  <a:schemeClr val="tx1"/>
                </a:solidFill>
                <a:latin typeface="Times New Roman" panose="02020603050405020304" pitchFamily="18" charset="0"/>
                <a:ea typeface="MS PGothic" panose="020B0600070205080204" pitchFamily="34" charset="-128"/>
              </a:defRPr>
            </a:lvl2pPr>
            <a:lvl3pPr marL="1143000" indent="-228600" defTabSz="931863">
              <a:defRPr sz="2400">
                <a:solidFill>
                  <a:schemeClr val="tx1"/>
                </a:solidFill>
                <a:latin typeface="Times New Roman" panose="02020603050405020304" pitchFamily="18" charset="0"/>
                <a:ea typeface="MS PGothic" panose="020B0600070205080204" pitchFamily="34" charset="-128"/>
              </a:defRPr>
            </a:lvl3pPr>
            <a:lvl4pPr marL="1600200" indent="-228600" defTabSz="931863">
              <a:defRPr sz="2400">
                <a:solidFill>
                  <a:schemeClr val="tx1"/>
                </a:solidFill>
                <a:latin typeface="Times New Roman" panose="02020603050405020304" pitchFamily="18" charset="0"/>
                <a:ea typeface="MS PGothic" panose="020B0600070205080204" pitchFamily="34" charset="-128"/>
              </a:defRPr>
            </a:lvl4pPr>
            <a:lvl5pPr marL="2057400" indent="-228600" defTabSz="931863">
              <a:defRPr sz="2400">
                <a:solidFill>
                  <a:schemeClr val="tx1"/>
                </a:solidFill>
                <a:latin typeface="Times New Roman" panose="02020603050405020304" pitchFamily="18" charset="0"/>
                <a:ea typeface="MS PGothic" panose="020B0600070205080204" pitchFamily="34" charset="-128"/>
              </a:defRPr>
            </a:lvl5pPr>
            <a:lvl6pPr marL="25146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BB3A383F-5438-463E-A011-0712355C2FFC}" type="slidenum">
              <a:rPr lang="en-US" altLang="en-US" sz="1200"/>
              <a:pPr/>
              <a:t>24</a:t>
            </a:fld>
            <a:endParaRPr lang="en-US" altLang="en-US" sz="1200"/>
          </a:p>
        </p:txBody>
      </p:sp>
      <p:sp>
        <p:nvSpPr>
          <p:cNvPr id="157699" name="Rectangle 2"/>
          <p:cNvSpPr>
            <a:spLocks noGrp="1" noRot="1" noChangeAspect="1" noChangeArrowheads="1" noTextEdit="1"/>
          </p:cNvSpPr>
          <p:nvPr>
            <p:ph type="sldImg"/>
          </p:nvPr>
        </p:nvSpPr>
        <p:spPr>
          <a:ln/>
        </p:spPr>
      </p:sp>
      <p:sp>
        <p:nvSpPr>
          <p:cNvPr id="157700" name="Rectangle 3"/>
          <p:cNvSpPr>
            <a:spLocks noGrp="1" noChangeArrowheads="1"/>
          </p:cNvSpPr>
          <p:nvPr>
            <p:ph type="body" idx="1"/>
          </p:nvPr>
        </p:nvSpPr>
        <p:spPr>
          <a:noFill/>
          <a:ln w="9525"/>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type="none" w="sm" len="sm"/>
                <a:tailEnd type="none" w="sm" len="sm"/>
              </a14:hiddenLine>
            </a:ext>
          </a:extLst>
        </p:spPr>
        <p:txBody>
          <a:bodyPr/>
          <a:lstStyle/>
          <a:p>
            <a:r>
              <a:rPr lang="en-US" altLang="en-US">
                <a:latin typeface="Times New Roman" panose="02020603050405020304" pitchFamily="18" charset="0"/>
              </a:rPr>
              <a:t>How does the IUD function to prevent pregnancy? </a:t>
            </a:r>
          </a:p>
          <a:p>
            <a:r>
              <a:rPr lang="en-US" altLang="en-US">
                <a:latin typeface="Times New Roman" panose="02020603050405020304" pitchFamily="18" charset="0"/>
              </a:rPr>
              <a:t>How does the diaphragm work to prevent pregnancy?</a:t>
            </a:r>
          </a:p>
          <a:p>
            <a:r>
              <a:rPr lang="en-US" altLang="en-US">
                <a:latin typeface="Times New Roman" panose="02020603050405020304" pitchFamily="18" charset="0"/>
              </a:rPr>
              <a:t>What are the risks of either method?</a:t>
            </a:r>
          </a:p>
          <a:p>
            <a:endParaRPr lang="en-US" altLang="en-US">
              <a:latin typeface="Times New Roman" panose="02020603050405020304" pitchFamily="18" charset="0"/>
            </a:endParaRPr>
          </a:p>
        </p:txBody>
      </p:sp>
    </p:spTree>
    <p:extLst>
      <p:ext uri="{BB962C8B-B14F-4D97-AF65-F5344CB8AC3E}">
        <p14:creationId xmlns:p14="http://schemas.microsoft.com/office/powerpoint/2010/main" val="362525547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4" name="Rectangle 7"/>
          <p:cNvSpPr>
            <a:spLocks noGrp="1" noChangeArrowheads="1"/>
          </p:cNvSpPr>
          <p:nvPr>
            <p:ph type="sldNum" sz="quarter" idx="5"/>
          </p:nvPr>
        </p:nvSpPr>
        <p:spPr>
          <a:noFill/>
          <a:ln w="9525"/>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a:lstStyle>
            <a:lvl1pPr defTabSz="931863">
              <a:defRPr sz="2400">
                <a:solidFill>
                  <a:schemeClr val="tx1"/>
                </a:solidFill>
                <a:latin typeface="Times New Roman" panose="02020603050405020304" pitchFamily="18" charset="0"/>
                <a:ea typeface="MS PGothic" panose="020B0600070205080204" pitchFamily="34" charset="-128"/>
              </a:defRPr>
            </a:lvl1pPr>
            <a:lvl2pPr marL="742950" indent="-285750" defTabSz="931863">
              <a:defRPr sz="2400">
                <a:solidFill>
                  <a:schemeClr val="tx1"/>
                </a:solidFill>
                <a:latin typeface="Times New Roman" panose="02020603050405020304" pitchFamily="18" charset="0"/>
                <a:ea typeface="MS PGothic" panose="020B0600070205080204" pitchFamily="34" charset="-128"/>
              </a:defRPr>
            </a:lvl2pPr>
            <a:lvl3pPr marL="1143000" indent="-228600" defTabSz="931863">
              <a:defRPr sz="2400">
                <a:solidFill>
                  <a:schemeClr val="tx1"/>
                </a:solidFill>
                <a:latin typeface="Times New Roman" panose="02020603050405020304" pitchFamily="18" charset="0"/>
                <a:ea typeface="MS PGothic" panose="020B0600070205080204" pitchFamily="34" charset="-128"/>
              </a:defRPr>
            </a:lvl3pPr>
            <a:lvl4pPr marL="1600200" indent="-228600" defTabSz="931863">
              <a:defRPr sz="2400">
                <a:solidFill>
                  <a:schemeClr val="tx1"/>
                </a:solidFill>
                <a:latin typeface="Times New Roman" panose="02020603050405020304" pitchFamily="18" charset="0"/>
                <a:ea typeface="MS PGothic" panose="020B0600070205080204" pitchFamily="34" charset="-128"/>
              </a:defRPr>
            </a:lvl4pPr>
            <a:lvl5pPr marL="2057400" indent="-228600" defTabSz="931863">
              <a:defRPr sz="2400">
                <a:solidFill>
                  <a:schemeClr val="tx1"/>
                </a:solidFill>
                <a:latin typeface="Times New Roman" panose="02020603050405020304" pitchFamily="18" charset="0"/>
                <a:ea typeface="MS PGothic" panose="020B0600070205080204" pitchFamily="34" charset="-128"/>
              </a:defRPr>
            </a:lvl5pPr>
            <a:lvl6pPr marL="25146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9EAE3C15-F170-448D-834D-01937FF3EFB7}" type="slidenum">
              <a:rPr lang="en-US" altLang="en-US" sz="1200"/>
              <a:pPr/>
              <a:t>59</a:t>
            </a:fld>
            <a:endParaRPr lang="en-US" altLang="en-US" sz="1200"/>
          </a:p>
        </p:txBody>
      </p:sp>
      <p:sp>
        <p:nvSpPr>
          <p:cNvPr id="177155" name="Rectangle 2"/>
          <p:cNvSpPr>
            <a:spLocks noGrp="1" noRot="1" noChangeAspect="1" noChangeArrowheads="1" noTextEdit="1"/>
          </p:cNvSpPr>
          <p:nvPr>
            <p:ph type="sldImg"/>
          </p:nvPr>
        </p:nvSpPr>
        <p:spPr>
          <a:ln/>
        </p:spPr>
      </p:sp>
      <p:sp>
        <p:nvSpPr>
          <p:cNvPr id="177156" name="Rectangle 3"/>
          <p:cNvSpPr>
            <a:spLocks noGrp="1" noChangeArrowheads="1"/>
          </p:cNvSpPr>
          <p:nvPr>
            <p:ph type="body" idx="1"/>
          </p:nvPr>
        </p:nvSpPr>
        <p:spPr>
          <a:noFill/>
          <a:ln w="9525"/>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type="none" w="sm" len="sm"/>
                <a:tailEnd type="none" w="sm" len="sm"/>
              </a14:hiddenLine>
            </a:ext>
          </a:extLst>
        </p:spPr>
        <p:txBody>
          <a:bodyPr/>
          <a:lstStyle/>
          <a:p>
            <a:r>
              <a:rPr lang="en-US" altLang="en-US">
                <a:latin typeface="Times New Roman" panose="02020603050405020304" pitchFamily="18" charset="0"/>
              </a:rPr>
              <a:t>The correct answer is A: endometrium.</a:t>
            </a:r>
          </a:p>
        </p:txBody>
      </p:sp>
    </p:spTree>
    <p:extLst>
      <p:ext uri="{BB962C8B-B14F-4D97-AF65-F5344CB8AC3E}">
        <p14:creationId xmlns:p14="http://schemas.microsoft.com/office/powerpoint/2010/main" val="312368473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8" name="Rectangle 7"/>
          <p:cNvSpPr>
            <a:spLocks noGrp="1" noChangeArrowheads="1"/>
          </p:cNvSpPr>
          <p:nvPr>
            <p:ph type="sldNum" sz="quarter" idx="5"/>
          </p:nvPr>
        </p:nvSpPr>
        <p:spPr>
          <a:noFill/>
          <a:ln w="9525"/>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a:lstStyle>
            <a:lvl1pPr defTabSz="931863">
              <a:defRPr sz="2400">
                <a:solidFill>
                  <a:schemeClr val="tx1"/>
                </a:solidFill>
                <a:latin typeface="Times New Roman" panose="02020603050405020304" pitchFamily="18" charset="0"/>
                <a:ea typeface="MS PGothic" panose="020B0600070205080204" pitchFamily="34" charset="-128"/>
              </a:defRPr>
            </a:lvl1pPr>
            <a:lvl2pPr marL="742950" indent="-285750" defTabSz="931863">
              <a:defRPr sz="2400">
                <a:solidFill>
                  <a:schemeClr val="tx1"/>
                </a:solidFill>
                <a:latin typeface="Times New Roman" panose="02020603050405020304" pitchFamily="18" charset="0"/>
                <a:ea typeface="MS PGothic" panose="020B0600070205080204" pitchFamily="34" charset="-128"/>
              </a:defRPr>
            </a:lvl2pPr>
            <a:lvl3pPr marL="1143000" indent="-228600" defTabSz="931863">
              <a:defRPr sz="2400">
                <a:solidFill>
                  <a:schemeClr val="tx1"/>
                </a:solidFill>
                <a:latin typeface="Times New Roman" panose="02020603050405020304" pitchFamily="18" charset="0"/>
                <a:ea typeface="MS PGothic" panose="020B0600070205080204" pitchFamily="34" charset="-128"/>
              </a:defRPr>
            </a:lvl3pPr>
            <a:lvl4pPr marL="1600200" indent="-228600" defTabSz="931863">
              <a:defRPr sz="2400">
                <a:solidFill>
                  <a:schemeClr val="tx1"/>
                </a:solidFill>
                <a:latin typeface="Times New Roman" panose="02020603050405020304" pitchFamily="18" charset="0"/>
                <a:ea typeface="MS PGothic" panose="020B0600070205080204" pitchFamily="34" charset="-128"/>
              </a:defRPr>
            </a:lvl4pPr>
            <a:lvl5pPr marL="2057400" indent="-228600" defTabSz="931863">
              <a:defRPr sz="2400">
                <a:solidFill>
                  <a:schemeClr val="tx1"/>
                </a:solidFill>
                <a:latin typeface="Times New Roman" panose="02020603050405020304" pitchFamily="18" charset="0"/>
                <a:ea typeface="MS PGothic" panose="020B0600070205080204" pitchFamily="34" charset="-128"/>
              </a:defRPr>
            </a:lvl5pPr>
            <a:lvl6pPr marL="25146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74F40C85-6762-49F9-B9C4-FB1481DE184A}" type="slidenum">
              <a:rPr lang="en-US" altLang="en-US" sz="1200"/>
              <a:pPr/>
              <a:t>70</a:t>
            </a:fld>
            <a:endParaRPr lang="en-US" altLang="en-US" sz="1200"/>
          </a:p>
        </p:txBody>
      </p:sp>
      <p:sp>
        <p:nvSpPr>
          <p:cNvPr id="188419" name="Rectangle 2"/>
          <p:cNvSpPr>
            <a:spLocks noGrp="1" noRot="1" noChangeAspect="1" noChangeArrowheads="1" noTextEdit="1"/>
          </p:cNvSpPr>
          <p:nvPr>
            <p:ph type="sldImg"/>
          </p:nvPr>
        </p:nvSpPr>
        <p:spPr>
          <a:ln/>
        </p:spPr>
      </p:sp>
      <p:sp>
        <p:nvSpPr>
          <p:cNvPr id="188420" name="Rectangle 3"/>
          <p:cNvSpPr>
            <a:spLocks noGrp="1" noChangeArrowheads="1"/>
          </p:cNvSpPr>
          <p:nvPr>
            <p:ph type="body" idx="1"/>
          </p:nvPr>
        </p:nvSpPr>
        <p:spPr>
          <a:noFill/>
          <a:ln w="9525"/>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type="none" w="sm" len="sm"/>
                <a:tailEnd type="none" w="sm" len="sm"/>
              </a14:hiddenLine>
            </a:ext>
          </a:extLst>
        </p:spPr>
        <p:txBody>
          <a:bodyPr/>
          <a:lstStyle/>
          <a:p>
            <a:r>
              <a:rPr lang="en-US" altLang="en-US">
                <a:latin typeface="Times New Roman" panose="02020603050405020304" pitchFamily="18" charset="0"/>
              </a:rPr>
              <a:t>The correct answer is B: mastectomy. Mammoplasty means surgical repair of the breast; mastitis means inflammation of the breast; hysterectomy means removal of the uterus.</a:t>
            </a:r>
          </a:p>
        </p:txBody>
      </p:sp>
    </p:spTree>
    <p:extLst>
      <p:ext uri="{BB962C8B-B14F-4D97-AF65-F5344CB8AC3E}">
        <p14:creationId xmlns:p14="http://schemas.microsoft.com/office/powerpoint/2010/main" val="405054833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2" name="Rectangle 7"/>
          <p:cNvSpPr>
            <a:spLocks noGrp="1" noChangeArrowheads="1"/>
          </p:cNvSpPr>
          <p:nvPr>
            <p:ph type="sldNum" sz="quarter" idx="5"/>
          </p:nvPr>
        </p:nvSpPr>
        <p:spPr>
          <a:noFill/>
          <a:ln w="9525"/>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a:lstStyle>
            <a:lvl1pPr defTabSz="931863">
              <a:defRPr sz="2400">
                <a:solidFill>
                  <a:schemeClr val="tx1"/>
                </a:solidFill>
                <a:latin typeface="Times New Roman" panose="02020603050405020304" pitchFamily="18" charset="0"/>
                <a:ea typeface="MS PGothic" panose="020B0600070205080204" pitchFamily="34" charset="-128"/>
              </a:defRPr>
            </a:lvl1pPr>
            <a:lvl2pPr marL="742950" indent="-285750" defTabSz="931863">
              <a:defRPr sz="2400">
                <a:solidFill>
                  <a:schemeClr val="tx1"/>
                </a:solidFill>
                <a:latin typeface="Times New Roman" panose="02020603050405020304" pitchFamily="18" charset="0"/>
                <a:ea typeface="MS PGothic" panose="020B0600070205080204" pitchFamily="34" charset="-128"/>
              </a:defRPr>
            </a:lvl2pPr>
            <a:lvl3pPr marL="1143000" indent="-228600" defTabSz="931863">
              <a:defRPr sz="2400">
                <a:solidFill>
                  <a:schemeClr val="tx1"/>
                </a:solidFill>
                <a:latin typeface="Times New Roman" panose="02020603050405020304" pitchFamily="18" charset="0"/>
                <a:ea typeface="MS PGothic" panose="020B0600070205080204" pitchFamily="34" charset="-128"/>
              </a:defRPr>
            </a:lvl3pPr>
            <a:lvl4pPr marL="1600200" indent="-228600" defTabSz="931863">
              <a:defRPr sz="2400">
                <a:solidFill>
                  <a:schemeClr val="tx1"/>
                </a:solidFill>
                <a:latin typeface="Times New Roman" panose="02020603050405020304" pitchFamily="18" charset="0"/>
                <a:ea typeface="MS PGothic" panose="020B0600070205080204" pitchFamily="34" charset="-128"/>
              </a:defRPr>
            </a:lvl4pPr>
            <a:lvl5pPr marL="2057400" indent="-228600" defTabSz="931863">
              <a:defRPr sz="2400">
                <a:solidFill>
                  <a:schemeClr val="tx1"/>
                </a:solidFill>
                <a:latin typeface="Times New Roman" panose="02020603050405020304" pitchFamily="18" charset="0"/>
                <a:ea typeface="MS PGothic" panose="020B0600070205080204" pitchFamily="34" charset="-128"/>
              </a:defRPr>
            </a:lvl5pPr>
            <a:lvl6pPr marL="25146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9B180AB4-DBF1-49CC-A97D-3D1D4324D2B3}" type="slidenum">
              <a:rPr lang="en-US" altLang="en-US" sz="1200"/>
              <a:pPr/>
              <a:t>71</a:t>
            </a:fld>
            <a:endParaRPr lang="en-US" altLang="en-US" sz="1200"/>
          </a:p>
        </p:txBody>
      </p:sp>
      <p:sp>
        <p:nvSpPr>
          <p:cNvPr id="189443" name="Rectangle 2"/>
          <p:cNvSpPr>
            <a:spLocks noGrp="1" noRot="1" noChangeAspect="1" noChangeArrowheads="1" noTextEdit="1"/>
          </p:cNvSpPr>
          <p:nvPr>
            <p:ph type="sldImg"/>
          </p:nvPr>
        </p:nvSpPr>
        <p:spPr>
          <a:ln/>
        </p:spPr>
      </p:sp>
      <p:sp>
        <p:nvSpPr>
          <p:cNvPr id="189444" name="Rectangle 3"/>
          <p:cNvSpPr>
            <a:spLocks noGrp="1" noChangeArrowheads="1"/>
          </p:cNvSpPr>
          <p:nvPr>
            <p:ph type="body" idx="1"/>
          </p:nvPr>
        </p:nvSpPr>
        <p:spPr>
          <a:noFill/>
          <a:ln w="9525"/>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type="none" w="sm" len="sm"/>
                <a:tailEnd type="none" w="sm" len="sm"/>
              </a14:hiddenLine>
            </a:ext>
          </a:extLst>
        </p:spPr>
        <p:txBody>
          <a:bodyPr/>
          <a:lstStyle/>
          <a:p>
            <a:endParaRPr lang="en-GB" altLang="en-US">
              <a:latin typeface="Times New Roman" panose="02020603050405020304" pitchFamily="18" charset="0"/>
            </a:endParaRPr>
          </a:p>
        </p:txBody>
      </p:sp>
    </p:spTree>
    <p:extLst>
      <p:ext uri="{BB962C8B-B14F-4D97-AF65-F5344CB8AC3E}">
        <p14:creationId xmlns:p14="http://schemas.microsoft.com/office/powerpoint/2010/main" val="76314063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6" name="Rectangle 7"/>
          <p:cNvSpPr>
            <a:spLocks noGrp="1" noChangeArrowheads="1"/>
          </p:cNvSpPr>
          <p:nvPr>
            <p:ph type="sldNum" sz="quarter" idx="5"/>
          </p:nvPr>
        </p:nvSpPr>
        <p:spPr>
          <a:noFill/>
          <a:ln w="9525"/>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a:lstStyle>
            <a:lvl1pPr defTabSz="931863">
              <a:defRPr sz="2400">
                <a:solidFill>
                  <a:schemeClr val="tx1"/>
                </a:solidFill>
                <a:latin typeface="Times New Roman" panose="02020603050405020304" pitchFamily="18" charset="0"/>
                <a:ea typeface="MS PGothic" panose="020B0600070205080204" pitchFamily="34" charset="-128"/>
              </a:defRPr>
            </a:lvl1pPr>
            <a:lvl2pPr marL="742950" indent="-285750" defTabSz="931863">
              <a:defRPr sz="2400">
                <a:solidFill>
                  <a:schemeClr val="tx1"/>
                </a:solidFill>
                <a:latin typeface="Times New Roman" panose="02020603050405020304" pitchFamily="18" charset="0"/>
                <a:ea typeface="MS PGothic" panose="020B0600070205080204" pitchFamily="34" charset="-128"/>
              </a:defRPr>
            </a:lvl2pPr>
            <a:lvl3pPr marL="1143000" indent="-228600" defTabSz="931863">
              <a:defRPr sz="2400">
                <a:solidFill>
                  <a:schemeClr val="tx1"/>
                </a:solidFill>
                <a:latin typeface="Times New Roman" panose="02020603050405020304" pitchFamily="18" charset="0"/>
                <a:ea typeface="MS PGothic" panose="020B0600070205080204" pitchFamily="34" charset="-128"/>
              </a:defRPr>
            </a:lvl3pPr>
            <a:lvl4pPr marL="1600200" indent="-228600" defTabSz="931863">
              <a:defRPr sz="2400">
                <a:solidFill>
                  <a:schemeClr val="tx1"/>
                </a:solidFill>
                <a:latin typeface="Times New Roman" panose="02020603050405020304" pitchFamily="18" charset="0"/>
                <a:ea typeface="MS PGothic" panose="020B0600070205080204" pitchFamily="34" charset="-128"/>
              </a:defRPr>
            </a:lvl4pPr>
            <a:lvl5pPr marL="2057400" indent="-228600" defTabSz="931863">
              <a:defRPr sz="2400">
                <a:solidFill>
                  <a:schemeClr val="tx1"/>
                </a:solidFill>
                <a:latin typeface="Times New Roman" panose="02020603050405020304" pitchFamily="18" charset="0"/>
                <a:ea typeface="MS PGothic" panose="020B0600070205080204" pitchFamily="34" charset="-128"/>
              </a:defRPr>
            </a:lvl5pPr>
            <a:lvl6pPr marL="25146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C0008F0B-909E-4F1F-8BDA-99D13964A582}" type="slidenum">
              <a:rPr lang="en-US" altLang="en-US" sz="1200"/>
              <a:pPr/>
              <a:t>72</a:t>
            </a:fld>
            <a:endParaRPr lang="en-US" altLang="en-US" sz="1200"/>
          </a:p>
        </p:txBody>
      </p:sp>
      <p:sp>
        <p:nvSpPr>
          <p:cNvPr id="190467" name="Rectangle 2"/>
          <p:cNvSpPr>
            <a:spLocks noGrp="1" noRot="1" noChangeAspect="1" noChangeArrowheads="1" noTextEdit="1"/>
          </p:cNvSpPr>
          <p:nvPr>
            <p:ph type="sldImg"/>
          </p:nvPr>
        </p:nvSpPr>
        <p:spPr>
          <a:ln/>
        </p:spPr>
      </p:sp>
      <p:sp>
        <p:nvSpPr>
          <p:cNvPr id="190468" name="Rectangle 3"/>
          <p:cNvSpPr>
            <a:spLocks noGrp="1" noChangeArrowheads="1"/>
          </p:cNvSpPr>
          <p:nvPr>
            <p:ph type="body" idx="1"/>
          </p:nvPr>
        </p:nvSpPr>
        <p:spPr>
          <a:noFill/>
          <a:ln w="9525"/>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type="none" w="sm" len="sm"/>
                <a:tailEnd type="none" w="sm" len="sm"/>
              </a14:hiddenLine>
            </a:ext>
          </a:extLst>
        </p:spPr>
        <p:txBody>
          <a:bodyPr/>
          <a:lstStyle/>
          <a:p>
            <a:r>
              <a:rPr lang="en-US" altLang="en-US">
                <a:latin typeface="Times New Roman" panose="02020603050405020304" pitchFamily="18" charset="0"/>
              </a:rPr>
              <a:t>Name the risk factors for carcinoma of the cervix.</a:t>
            </a:r>
          </a:p>
        </p:txBody>
      </p:sp>
    </p:spTree>
    <p:extLst>
      <p:ext uri="{BB962C8B-B14F-4D97-AF65-F5344CB8AC3E}">
        <p14:creationId xmlns:p14="http://schemas.microsoft.com/office/powerpoint/2010/main" val="68022752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90" name="Rectangle 7"/>
          <p:cNvSpPr>
            <a:spLocks noGrp="1" noChangeArrowheads="1"/>
          </p:cNvSpPr>
          <p:nvPr>
            <p:ph type="sldNum" sz="quarter" idx="5"/>
          </p:nvPr>
        </p:nvSpPr>
        <p:spPr>
          <a:noFill/>
          <a:ln w="9525"/>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a:lstStyle>
            <a:lvl1pPr defTabSz="931863">
              <a:defRPr sz="2400">
                <a:solidFill>
                  <a:schemeClr val="tx1"/>
                </a:solidFill>
                <a:latin typeface="Times New Roman" panose="02020603050405020304" pitchFamily="18" charset="0"/>
                <a:ea typeface="MS PGothic" panose="020B0600070205080204" pitchFamily="34" charset="-128"/>
              </a:defRPr>
            </a:lvl1pPr>
            <a:lvl2pPr marL="742950" indent="-285750" defTabSz="931863">
              <a:defRPr sz="2400">
                <a:solidFill>
                  <a:schemeClr val="tx1"/>
                </a:solidFill>
                <a:latin typeface="Times New Roman" panose="02020603050405020304" pitchFamily="18" charset="0"/>
                <a:ea typeface="MS PGothic" panose="020B0600070205080204" pitchFamily="34" charset="-128"/>
              </a:defRPr>
            </a:lvl2pPr>
            <a:lvl3pPr marL="1143000" indent="-228600" defTabSz="931863">
              <a:defRPr sz="2400">
                <a:solidFill>
                  <a:schemeClr val="tx1"/>
                </a:solidFill>
                <a:latin typeface="Times New Roman" panose="02020603050405020304" pitchFamily="18" charset="0"/>
                <a:ea typeface="MS PGothic" panose="020B0600070205080204" pitchFamily="34" charset="-128"/>
              </a:defRPr>
            </a:lvl3pPr>
            <a:lvl4pPr marL="1600200" indent="-228600" defTabSz="931863">
              <a:defRPr sz="2400">
                <a:solidFill>
                  <a:schemeClr val="tx1"/>
                </a:solidFill>
                <a:latin typeface="Times New Roman" panose="02020603050405020304" pitchFamily="18" charset="0"/>
                <a:ea typeface="MS PGothic" panose="020B0600070205080204" pitchFamily="34" charset="-128"/>
              </a:defRPr>
            </a:lvl4pPr>
            <a:lvl5pPr marL="2057400" indent="-228600" defTabSz="931863">
              <a:defRPr sz="2400">
                <a:solidFill>
                  <a:schemeClr val="tx1"/>
                </a:solidFill>
                <a:latin typeface="Times New Roman" panose="02020603050405020304" pitchFamily="18" charset="0"/>
                <a:ea typeface="MS PGothic" panose="020B0600070205080204" pitchFamily="34" charset="-128"/>
              </a:defRPr>
            </a:lvl5pPr>
            <a:lvl6pPr marL="25146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1286DC57-5857-46D8-A515-F546F0D45F1F}" type="slidenum">
              <a:rPr lang="en-US" altLang="en-US" sz="1200"/>
              <a:pPr/>
              <a:t>73</a:t>
            </a:fld>
            <a:endParaRPr lang="en-US" altLang="en-US" sz="1200"/>
          </a:p>
        </p:txBody>
      </p:sp>
      <p:sp>
        <p:nvSpPr>
          <p:cNvPr id="191491" name="Rectangle 2"/>
          <p:cNvSpPr>
            <a:spLocks noGrp="1" noRot="1" noChangeAspect="1" noChangeArrowheads="1" noTextEdit="1"/>
          </p:cNvSpPr>
          <p:nvPr>
            <p:ph type="sldImg"/>
          </p:nvPr>
        </p:nvSpPr>
        <p:spPr>
          <a:ln/>
        </p:spPr>
      </p:sp>
      <p:sp>
        <p:nvSpPr>
          <p:cNvPr id="191492" name="Rectangle 3"/>
          <p:cNvSpPr>
            <a:spLocks noGrp="1" noChangeArrowheads="1"/>
          </p:cNvSpPr>
          <p:nvPr>
            <p:ph type="body" idx="1"/>
          </p:nvPr>
        </p:nvSpPr>
        <p:spPr>
          <a:noFill/>
          <a:ln w="9525"/>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type="none" w="sm" len="sm"/>
                <a:tailEnd type="none" w="sm" len="sm"/>
              </a14:hiddenLine>
            </a:ext>
          </a:extLst>
        </p:spPr>
        <p:txBody>
          <a:bodyPr/>
          <a:lstStyle/>
          <a:p>
            <a:r>
              <a:rPr lang="en-US" altLang="en-US" dirty="0">
                <a:latin typeface="Times New Roman" panose="02020603050405020304" pitchFamily="18" charset="0"/>
              </a:rPr>
              <a:t>Name the risk factors for carcinoma of the cervix.</a:t>
            </a:r>
          </a:p>
          <a:p>
            <a:r>
              <a:rPr lang="en-US" altLang="en-US" dirty="0">
                <a:latin typeface="Times New Roman" panose="02020603050405020304" pitchFamily="18" charset="0"/>
              </a:rPr>
              <a:t>What is </a:t>
            </a:r>
            <a:r>
              <a:rPr lang="en-US" altLang="en-US" dirty="0" err="1">
                <a:latin typeface="Times New Roman" panose="02020603050405020304" pitchFamily="18" charset="0"/>
              </a:rPr>
              <a:t>conization</a:t>
            </a:r>
            <a:r>
              <a:rPr lang="en-US" altLang="en-US" dirty="0">
                <a:latin typeface="Times New Roman" panose="02020603050405020304" pitchFamily="18" charset="0"/>
              </a:rPr>
              <a:t>? </a:t>
            </a:r>
          </a:p>
          <a:p>
            <a:r>
              <a:rPr lang="en-US" altLang="en-US" dirty="0">
                <a:latin typeface="Times New Roman" panose="02020603050405020304" pitchFamily="18" charset="0"/>
              </a:rPr>
              <a:t>How is </a:t>
            </a:r>
            <a:r>
              <a:rPr lang="en-US" altLang="en-US" dirty="0" err="1">
                <a:latin typeface="Times New Roman" panose="02020603050405020304" pitchFamily="18" charset="0"/>
              </a:rPr>
              <a:t>conization</a:t>
            </a:r>
            <a:r>
              <a:rPr lang="en-US" altLang="en-US" dirty="0">
                <a:latin typeface="Times New Roman" panose="02020603050405020304" pitchFamily="18" charset="0"/>
              </a:rPr>
              <a:t> used to diagnose and treat CIS?</a:t>
            </a:r>
          </a:p>
          <a:p>
            <a:endParaRPr lang="en-US" altLang="en-US" dirty="0">
              <a:latin typeface="Times New Roman" panose="02020603050405020304" pitchFamily="18" charset="0"/>
            </a:endParaRPr>
          </a:p>
        </p:txBody>
      </p:sp>
    </p:spTree>
    <p:extLst>
      <p:ext uri="{BB962C8B-B14F-4D97-AF65-F5344CB8AC3E}">
        <p14:creationId xmlns:p14="http://schemas.microsoft.com/office/powerpoint/2010/main" val="406460201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4" name="Rectangle 7"/>
          <p:cNvSpPr>
            <a:spLocks noGrp="1" noChangeArrowheads="1"/>
          </p:cNvSpPr>
          <p:nvPr>
            <p:ph type="sldNum" sz="quarter" idx="5"/>
          </p:nvPr>
        </p:nvSpPr>
        <p:spPr>
          <a:noFill/>
          <a:ln w="9525"/>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a:lstStyle>
            <a:lvl1pPr defTabSz="931863">
              <a:defRPr sz="2400">
                <a:solidFill>
                  <a:schemeClr val="tx1"/>
                </a:solidFill>
                <a:latin typeface="Times New Roman" panose="02020603050405020304" pitchFamily="18" charset="0"/>
                <a:ea typeface="MS PGothic" panose="020B0600070205080204" pitchFamily="34" charset="-128"/>
              </a:defRPr>
            </a:lvl1pPr>
            <a:lvl2pPr marL="742950" indent="-285750" defTabSz="931863">
              <a:defRPr sz="2400">
                <a:solidFill>
                  <a:schemeClr val="tx1"/>
                </a:solidFill>
                <a:latin typeface="Times New Roman" panose="02020603050405020304" pitchFamily="18" charset="0"/>
                <a:ea typeface="MS PGothic" panose="020B0600070205080204" pitchFamily="34" charset="-128"/>
              </a:defRPr>
            </a:lvl2pPr>
            <a:lvl3pPr marL="1143000" indent="-228600" defTabSz="931863">
              <a:defRPr sz="2400">
                <a:solidFill>
                  <a:schemeClr val="tx1"/>
                </a:solidFill>
                <a:latin typeface="Times New Roman" panose="02020603050405020304" pitchFamily="18" charset="0"/>
                <a:ea typeface="MS PGothic" panose="020B0600070205080204" pitchFamily="34" charset="-128"/>
              </a:defRPr>
            </a:lvl3pPr>
            <a:lvl4pPr marL="1600200" indent="-228600" defTabSz="931863">
              <a:defRPr sz="2400">
                <a:solidFill>
                  <a:schemeClr val="tx1"/>
                </a:solidFill>
                <a:latin typeface="Times New Roman" panose="02020603050405020304" pitchFamily="18" charset="0"/>
                <a:ea typeface="MS PGothic" panose="020B0600070205080204" pitchFamily="34" charset="-128"/>
              </a:defRPr>
            </a:lvl4pPr>
            <a:lvl5pPr marL="2057400" indent="-228600" defTabSz="931863">
              <a:defRPr sz="2400">
                <a:solidFill>
                  <a:schemeClr val="tx1"/>
                </a:solidFill>
                <a:latin typeface="Times New Roman" panose="02020603050405020304" pitchFamily="18" charset="0"/>
                <a:ea typeface="MS PGothic" panose="020B0600070205080204" pitchFamily="34" charset="-128"/>
              </a:defRPr>
            </a:lvl5pPr>
            <a:lvl6pPr marL="25146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47E46136-CAFD-4CF8-B426-02096934A8A0}" type="slidenum">
              <a:rPr lang="en-US" altLang="en-US" sz="1200"/>
              <a:pPr/>
              <a:t>74</a:t>
            </a:fld>
            <a:endParaRPr lang="en-US" altLang="en-US" sz="1200"/>
          </a:p>
        </p:txBody>
      </p:sp>
      <p:sp>
        <p:nvSpPr>
          <p:cNvPr id="192515" name="Rectangle 2"/>
          <p:cNvSpPr>
            <a:spLocks noGrp="1" noRot="1" noChangeAspect="1" noChangeArrowheads="1" noTextEdit="1"/>
          </p:cNvSpPr>
          <p:nvPr>
            <p:ph type="sldImg"/>
          </p:nvPr>
        </p:nvSpPr>
        <p:spPr>
          <a:ln/>
        </p:spPr>
      </p:sp>
      <p:sp>
        <p:nvSpPr>
          <p:cNvPr id="192516" name="Rectangle 3"/>
          <p:cNvSpPr>
            <a:spLocks noGrp="1" noChangeArrowheads="1"/>
          </p:cNvSpPr>
          <p:nvPr>
            <p:ph type="body" idx="1"/>
          </p:nvPr>
        </p:nvSpPr>
        <p:spPr>
          <a:noFill/>
          <a:ln w="9525"/>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type="none" w="sm" len="sm"/>
                <a:tailEnd type="none" w="sm" len="sm"/>
              </a14:hiddenLine>
            </a:ext>
          </a:extLst>
        </p:spPr>
        <p:txBody>
          <a:bodyPr/>
          <a:lstStyle/>
          <a:p>
            <a:pPr>
              <a:buFontTx/>
              <a:buNone/>
            </a:pPr>
            <a:r>
              <a:rPr lang="en-US" altLang="en-US">
                <a:latin typeface="Times New Roman" panose="02020603050405020304" pitchFamily="18" charset="0"/>
              </a:rPr>
              <a:t> </a:t>
            </a:r>
          </a:p>
        </p:txBody>
      </p:sp>
    </p:spTree>
    <p:extLst>
      <p:ext uri="{BB962C8B-B14F-4D97-AF65-F5344CB8AC3E}">
        <p14:creationId xmlns:p14="http://schemas.microsoft.com/office/powerpoint/2010/main" val="29199450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538" name="Rectangle 7"/>
          <p:cNvSpPr>
            <a:spLocks noGrp="1" noChangeArrowheads="1"/>
          </p:cNvSpPr>
          <p:nvPr>
            <p:ph type="sldNum" sz="quarter" idx="5"/>
          </p:nvPr>
        </p:nvSpPr>
        <p:spPr>
          <a:noFill/>
          <a:ln w="9525"/>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a:lstStyle>
            <a:lvl1pPr defTabSz="931863">
              <a:defRPr sz="2400">
                <a:solidFill>
                  <a:schemeClr val="tx1"/>
                </a:solidFill>
                <a:latin typeface="Times New Roman" panose="02020603050405020304" pitchFamily="18" charset="0"/>
                <a:ea typeface="MS PGothic" panose="020B0600070205080204" pitchFamily="34" charset="-128"/>
              </a:defRPr>
            </a:lvl1pPr>
            <a:lvl2pPr marL="742950" indent="-285750" defTabSz="931863">
              <a:defRPr sz="2400">
                <a:solidFill>
                  <a:schemeClr val="tx1"/>
                </a:solidFill>
                <a:latin typeface="Times New Roman" panose="02020603050405020304" pitchFamily="18" charset="0"/>
                <a:ea typeface="MS PGothic" panose="020B0600070205080204" pitchFamily="34" charset="-128"/>
              </a:defRPr>
            </a:lvl2pPr>
            <a:lvl3pPr marL="1143000" indent="-228600" defTabSz="931863">
              <a:defRPr sz="2400">
                <a:solidFill>
                  <a:schemeClr val="tx1"/>
                </a:solidFill>
                <a:latin typeface="Times New Roman" panose="02020603050405020304" pitchFamily="18" charset="0"/>
                <a:ea typeface="MS PGothic" panose="020B0600070205080204" pitchFamily="34" charset="-128"/>
              </a:defRPr>
            </a:lvl3pPr>
            <a:lvl4pPr marL="1600200" indent="-228600" defTabSz="931863">
              <a:defRPr sz="2400">
                <a:solidFill>
                  <a:schemeClr val="tx1"/>
                </a:solidFill>
                <a:latin typeface="Times New Roman" panose="02020603050405020304" pitchFamily="18" charset="0"/>
                <a:ea typeface="MS PGothic" panose="020B0600070205080204" pitchFamily="34" charset="-128"/>
              </a:defRPr>
            </a:lvl4pPr>
            <a:lvl5pPr marL="2057400" indent="-228600" defTabSz="931863">
              <a:defRPr sz="2400">
                <a:solidFill>
                  <a:schemeClr val="tx1"/>
                </a:solidFill>
                <a:latin typeface="Times New Roman" panose="02020603050405020304" pitchFamily="18" charset="0"/>
                <a:ea typeface="MS PGothic" panose="020B0600070205080204" pitchFamily="34" charset="-128"/>
              </a:defRPr>
            </a:lvl5pPr>
            <a:lvl6pPr marL="25146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3B609794-11EC-4813-8AE2-5CE4679CFA70}" type="slidenum">
              <a:rPr lang="en-US" altLang="en-US" sz="1200"/>
              <a:pPr/>
              <a:t>75</a:t>
            </a:fld>
            <a:endParaRPr lang="en-US" altLang="en-US" sz="1200"/>
          </a:p>
        </p:txBody>
      </p:sp>
      <p:sp>
        <p:nvSpPr>
          <p:cNvPr id="193539" name="Rectangle 2"/>
          <p:cNvSpPr>
            <a:spLocks noGrp="1" noRot="1" noChangeAspect="1" noChangeArrowheads="1" noTextEdit="1"/>
          </p:cNvSpPr>
          <p:nvPr>
            <p:ph type="sldImg"/>
          </p:nvPr>
        </p:nvSpPr>
        <p:spPr>
          <a:ln/>
        </p:spPr>
      </p:sp>
      <p:sp>
        <p:nvSpPr>
          <p:cNvPr id="193540" name="Rectangle 3"/>
          <p:cNvSpPr>
            <a:spLocks noGrp="1" noChangeArrowheads="1"/>
          </p:cNvSpPr>
          <p:nvPr>
            <p:ph type="body" idx="1"/>
          </p:nvPr>
        </p:nvSpPr>
        <p:spPr>
          <a:noFill/>
          <a:ln w="9525"/>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type="none" w="sm" len="sm"/>
                <a:tailEnd type="none" w="sm" len="sm"/>
              </a14:hiddenLine>
            </a:ext>
          </a:extLst>
        </p:spPr>
        <p:txBody>
          <a:bodyPr/>
          <a:lstStyle/>
          <a:p>
            <a:r>
              <a:rPr lang="en-US" altLang="en-US">
                <a:latin typeface="Times New Roman" panose="02020603050405020304" pitchFamily="18" charset="0"/>
              </a:rPr>
              <a:t> What is the most common type of breast cancer?</a:t>
            </a:r>
          </a:p>
          <a:p>
            <a:endParaRPr lang="en-US" altLang="en-US">
              <a:latin typeface="Times New Roman" panose="02020603050405020304" pitchFamily="18" charset="0"/>
            </a:endParaRPr>
          </a:p>
        </p:txBody>
      </p:sp>
    </p:spTree>
    <p:extLst>
      <p:ext uri="{BB962C8B-B14F-4D97-AF65-F5344CB8AC3E}">
        <p14:creationId xmlns:p14="http://schemas.microsoft.com/office/powerpoint/2010/main" val="9737308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62" name="Rectangle 7"/>
          <p:cNvSpPr>
            <a:spLocks noGrp="1" noChangeArrowheads="1"/>
          </p:cNvSpPr>
          <p:nvPr>
            <p:ph type="sldNum" sz="quarter" idx="5"/>
          </p:nvPr>
        </p:nvSpPr>
        <p:spPr>
          <a:noFill/>
          <a:ln w="9525"/>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a:lstStyle>
            <a:lvl1pPr defTabSz="931863">
              <a:defRPr sz="2400">
                <a:solidFill>
                  <a:schemeClr val="tx1"/>
                </a:solidFill>
                <a:latin typeface="Times New Roman" panose="02020603050405020304" pitchFamily="18" charset="0"/>
                <a:ea typeface="MS PGothic" panose="020B0600070205080204" pitchFamily="34" charset="-128"/>
              </a:defRPr>
            </a:lvl1pPr>
            <a:lvl2pPr marL="742950" indent="-285750" defTabSz="931863">
              <a:defRPr sz="2400">
                <a:solidFill>
                  <a:schemeClr val="tx1"/>
                </a:solidFill>
                <a:latin typeface="Times New Roman" panose="02020603050405020304" pitchFamily="18" charset="0"/>
                <a:ea typeface="MS PGothic" panose="020B0600070205080204" pitchFamily="34" charset="-128"/>
              </a:defRPr>
            </a:lvl2pPr>
            <a:lvl3pPr marL="1143000" indent="-228600" defTabSz="931863">
              <a:defRPr sz="2400">
                <a:solidFill>
                  <a:schemeClr val="tx1"/>
                </a:solidFill>
                <a:latin typeface="Times New Roman" panose="02020603050405020304" pitchFamily="18" charset="0"/>
                <a:ea typeface="MS PGothic" panose="020B0600070205080204" pitchFamily="34" charset="-128"/>
              </a:defRPr>
            </a:lvl3pPr>
            <a:lvl4pPr marL="1600200" indent="-228600" defTabSz="931863">
              <a:defRPr sz="2400">
                <a:solidFill>
                  <a:schemeClr val="tx1"/>
                </a:solidFill>
                <a:latin typeface="Times New Roman" panose="02020603050405020304" pitchFamily="18" charset="0"/>
                <a:ea typeface="MS PGothic" panose="020B0600070205080204" pitchFamily="34" charset="-128"/>
              </a:defRPr>
            </a:lvl4pPr>
            <a:lvl5pPr marL="2057400" indent="-228600" defTabSz="931863">
              <a:defRPr sz="2400">
                <a:solidFill>
                  <a:schemeClr val="tx1"/>
                </a:solidFill>
                <a:latin typeface="Times New Roman" panose="02020603050405020304" pitchFamily="18" charset="0"/>
                <a:ea typeface="MS PGothic" panose="020B0600070205080204" pitchFamily="34" charset="-128"/>
              </a:defRPr>
            </a:lvl5pPr>
            <a:lvl6pPr marL="25146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281D9220-CB2D-42AA-9018-22CC5CF998B7}" type="slidenum">
              <a:rPr lang="en-US" altLang="en-US" sz="1200"/>
              <a:pPr/>
              <a:t>76</a:t>
            </a:fld>
            <a:endParaRPr lang="en-US" altLang="en-US" sz="1200"/>
          </a:p>
        </p:txBody>
      </p:sp>
      <p:sp>
        <p:nvSpPr>
          <p:cNvPr id="194563" name="Rectangle 2"/>
          <p:cNvSpPr>
            <a:spLocks noGrp="1" noRot="1" noChangeAspect="1" noChangeArrowheads="1" noTextEdit="1"/>
          </p:cNvSpPr>
          <p:nvPr>
            <p:ph type="sldImg"/>
          </p:nvPr>
        </p:nvSpPr>
        <p:spPr>
          <a:ln/>
        </p:spPr>
      </p:sp>
      <p:sp>
        <p:nvSpPr>
          <p:cNvPr id="194564" name="Rectangle 3"/>
          <p:cNvSpPr>
            <a:spLocks noGrp="1" noChangeArrowheads="1"/>
          </p:cNvSpPr>
          <p:nvPr>
            <p:ph type="body" idx="1"/>
          </p:nvPr>
        </p:nvSpPr>
        <p:spPr>
          <a:noFill/>
          <a:ln w="9525"/>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type="none" w="sm" len="sm"/>
                <a:tailEnd type="none" w="sm" len="sm"/>
              </a14:hiddenLine>
            </a:ext>
          </a:extLst>
        </p:spPr>
        <p:txBody>
          <a:bodyPr/>
          <a:lstStyle/>
          <a:p>
            <a:pPr>
              <a:buFontTx/>
              <a:buNone/>
            </a:pPr>
            <a:r>
              <a:rPr lang="en-US" altLang="en-US">
                <a:latin typeface="Times New Roman" panose="02020603050405020304" pitchFamily="18" charset="0"/>
              </a:rPr>
              <a:t> </a:t>
            </a:r>
          </a:p>
          <a:p>
            <a:endParaRPr lang="en-US" altLang="en-US">
              <a:latin typeface="Times New Roman" panose="02020603050405020304" pitchFamily="18" charset="0"/>
            </a:endParaRPr>
          </a:p>
        </p:txBody>
      </p:sp>
    </p:spTree>
    <p:extLst>
      <p:ext uri="{BB962C8B-B14F-4D97-AF65-F5344CB8AC3E}">
        <p14:creationId xmlns:p14="http://schemas.microsoft.com/office/powerpoint/2010/main" val="298404235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586" name="Rectangle 7"/>
          <p:cNvSpPr>
            <a:spLocks noGrp="1" noChangeArrowheads="1"/>
          </p:cNvSpPr>
          <p:nvPr>
            <p:ph type="sldNum" sz="quarter" idx="5"/>
          </p:nvPr>
        </p:nvSpPr>
        <p:spPr>
          <a:noFill/>
          <a:ln w="9525"/>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a:lstStyle>
            <a:lvl1pPr defTabSz="931863">
              <a:defRPr sz="2400">
                <a:solidFill>
                  <a:schemeClr val="tx1"/>
                </a:solidFill>
                <a:latin typeface="Times New Roman" panose="02020603050405020304" pitchFamily="18" charset="0"/>
                <a:ea typeface="MS PGothic" panose="020B0600070205080204" pitchFamily="34" charset="-128"/>
              </a:defRPr>
            </a:lvl1pPr>
            <a:lvl2pPr marL="742950" indent="-285750" defTabSz="931863">
              <a:defRPr sz="2400">
                <a:solidFill>
                  <a:schemeClr val="tx1"/>
                </a:solidFill>
                <a:latin typeface="Times New Roman" panose="02020603050405020304" pitchFamily="18" charset="0"/>
                <a:ea typeface="MS PGothic" panose="020B0600070205080204" pitchFamily="34" charset="-128"/>
              </a:defRPr>
            </a:lvl2pPr>
            <a:lvl3pPr marL="1143000" indent="-228600" defTabSz="931863">
              <a:defRPr sz="2400">
                <a:solidFill>
                  <a:schemeClr val="tx1"/>
                </a:solidFill>
                <a:latin typeface="Times New Roman" panose="02020603050405020304" pitchFamily="18" charset="0"/>
                <a:ea typeface="MS PGothic" panose="020B0600070205080204" pitchFamily="34" charset="-128"/>
              </a:defRPr>
            </a:lvl3pPr>
            <a:lvl4pPr marL="1600200" indent="-228600" defTabSz="931863">
              <a:defRPr sz="2400">
                <a:solidFill>
                  <a:schemeClr val="tx1"/>
                </a:solidFill>
                <a:latin typeface="Times New Roman" panose="02020603050405020304" pitchFamily="18" charset="0"/>
                <a:ea typeface="MS PGothic" panose="020B0600070205080204" pitchFamily="34" charset="-128"/>
              </a:defRPr>
            </a:lvl4pPr>
            <a:lvl5pPr marL="2057400" indent="-228600" defTabSz="931863">
              <a:defRPr sz="2400">
                <a:solidFill>
                  <a:schemeClr val="tx1"/>
                </a:solidFill>
                <a:latin typeface="Times New Roman" panose="02020603050405020304" pitchFamily="18" charset="0"/>
                <a:ea typeface="MS PGothic" panose="020B0600070205080204" pitchFamily="34" charset="-128"/>
              </a:defRPr>
            </a:lvl5pPr>
            <a:lvl6pPr marL="25146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AF3E64CE-92C9-4DEC-B84E-CC5CA630C931}" type="slidenum">
              <a:rPr lang="en-US" altLang="en-US" sz="1200"/>
              <a:pPr/>
              <a:t>77</a:t>
            </a:fld>
            <a:endParaRPr lang="en-US" altLang="en-US" sz="1200"/>
          </a:p>
        </p:txBody>
      </p:sp>
      <p:sp>
        <p:nvSpPr>
          <p:cNvPr id="195587" name="Rectangle 2"/>
          <p:cNvSpPr>
            <a:spLocks noGrp="1" noRot="1" noChangeAspect="1" noChangeArrowheads="1" noTextEdit="1"/>
          </p:cNvSpPr>
          <p:nvPr>
            <p:ph type="sldImg"/>
          </p:nvPr>
        </p:nvSpPr>
        <p:spPr>
          <a:ln/>
        </p:spPr>
      </p:sp>
      <p:sp>
        <p:nvSpPr>
          <p:cNvPr id="195588" name="Rectangle 3"/>
          <p:cNvSpPr>
            <a:spLocks noGrp="1" noChangeArrowheads="1"/>
          </p:cNvSpPr>
          <p:nvPr>
            <p:ph type="body" idx="1"/>
          </p:nvPr>
        </p:nvSpPr>
        <p:spPr>
          <a:noFill/>
          <a:ln w="9525"/>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type="none" w="sm" len="sm"/>
                <a:tailEnd type="none" w="sm" len="sm"/>
              </a14:hiddenLine>
            </a:ext>
          </a:extLst>
        </p:spPr>
        <p:txBody>
          <a:bodyPr/>
          <a:lstStyle/>
          <a:p>
            <a:endParaRPr lang="en-GB" altLang="en-US">
              <a:latin typeface="Times New Roman" panose="02020603050405020304" pitchFamily="18" charset="0"/>
            </a:endParaRPr>
          </a:p>
        </p:txBody>
      </p:sp>
    </p:spTree>
    <p:extLst>
      <p:ext uri="{BB962C8B-B14F-4D97-AF65-F5344CB8AC3E}">
        <p14:creationId xmlns:p14="http://schemas.microsoft.com/office/powerpoint/2010/main" val="17280161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610" name="Rectangle 7"/>
          <p:cNvSpPr>
            <a:spLocks noGrp="1" noChangeArrowheads="1"/>
          </p:cNvSpPr>
          <p:nvPr>
            <p:ph type="sldNum" sz="quarter" idx="5"/>
          </p:nvPr>
        </p:nvSpPr>
        <p:spPr>
          <a:noFill/>
          <a:ln w="9525"/>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a:lstStyle>
            <a:lvl1pPr defTabSz="931863">
              <a:defRPr sz="2400">
                <a:solidFill>
                  <a:schemeClr val="tx1"/>
                </a:solidFill>
                <a:latin typeface="Times New Roman" panose="02020603050405020304" pitchFamily="18" charset="0"/>
                <a:ea typeface="MS PGothic" panose="020B0600070205080204" pitchFamily="34" charset="-128"/>
              </a:defRPr>
            </a:lvl1pPr>
            <a:lvl2pPr marL="742950" indent="-285750" defTabSz="931863">
              <a:defRPr sz="2400">
                <a:solidFill>
                  <a:schemeClr val="tx1"/>
                </a:solidFill>
                <a:latin typeface="Times New Roman" panose="02020603050405020304" pitchFamily="18" charset="0"/>
                <a:ea typeface="MS PGothic" panose="020B0600070205080204" pitchFamily="34" charset="-128"/>
              </a:defRPr>
            </a:lvl2pPr>
            <a:lvl3pPr marL="1143000" indent="-228600" defTabSz="931863">
              <a:defRPr sz="2400">
                <a:solidFill>
                  <a:schemeClr val="tx1"/>
                </a:solidFill>
                <a:latin typeface="Times New Roman" panose="02020603050405020304" pitchFamily="18" charset="0"/>
                <a:ea typeface="MS PGothic" panose="020B0600070205080204" pitchFamily="34" charset="-128"/>
              </a:defRPr>
            </a:lvl3pPr>
            <a:lvl4pPr marL="1600200" indent="-228600" defTabSz="931863">
              <a:defRPr sz="2400">
                <a:solidFill>
                  <a:schemeClr val="tx1"/>
                </a:solidFill>
                <a:latin typeface="Times New Roman" panose="02020603050405020304" pitchFamily="18" charset="0"/>
                <a:ea typeface="MS PGothic" panose="020B0600070205080204" pitchFamily="34" charset="-128"/>
              </a:defRPr>
            </a:lvl4pPr>
            <a:lvl5pPr marL="2057400" indent="-228600" defTabSz="931863">
              <a:defRPr sz="2400">
                <a:solidFill>
                  <a:schemeClr val="tx1"/>
                </a:solidFill>
                <a:latin typeface="Times New Roman" panose="02020603050405020304" pitchFamily="18" charset="0"/>
                <a:ea typeface="MS PGothic" panose="020B0600070205080204" pitchFamily="34" charset="-128"/>
              </a:defRPr>
            </a:lvl5pPr>
            <a:lvl6pPr marL="25146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D2243F68-A519-4648-8180-E692226D3539}" type="slidenum">
              <a:rPr lang="en-US" altLang="en-US" sz="1200"/>
              <a:pPr/>
              <a:t>78</a:t>
            </a:fld>
            <a:endParaRPr lang="en-US" altLang="en-US" sz="1200"/>
          </a:p>
        </p:txBody>
      </p:sp>
      <p:sp>
        <p:nvSpPr>
          <p:cNvPr id="196611" name="Rectangle 2"/>
          <p:cNvSpPr>
            <a:spLocks noGrp="1" noRot="1" noChangeAspect="1" noChangeArrowheads="1" noTextEdit="1"/>
          </p:cNvSpPr>
          <p:nvPr>
            <p:ph type="sldImg"/>
          </p:nvPr>
        </p:nvSpPr>
        <p:spPr>
          <a:ln/>
        </p:spPr>
      </p:sp>
      <p:sp>
        <p:nvSpPr>
          <p:cNvPr id="196612" name="Rectangle 3"/>
          <p:cNvSpPr>
            <a:spLocks noGrp="1" noChangeArrowheads="1"/>
          </p:cNvSpPr>
          <p:nvPr>
            <p:ph type="body" idx="1"/>
          </p:nvPr>
        </p:nvSpPr>
        <p:spPr>
          <a:noFill/>
          <a:ln w="9525"/>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type="none" w="sm" len="sm"/>
                <a:tailEnd type="none" w="sm" len="sm"/>
              </a14:hiddenLine>
            </a:ext>
          </a:extLst>
        </p:spPr>
        <p:txBody>
          <a:bodyPr/>
          <a:lstStyle/>
          <a:p>
            <a:r>
              <a:rPr lang="en-US" altLang="en-US">
                <a:latin typeface="Times New Roman" panose="02020603050405020304" pitchFamily="18" charset="0"/>
              </a:rPr>
              <a:t>What is an ectopic pregnancy?</a:t>
            </a:r>
          </a:p>
          <a:p>
            <a:r>
              <a:rPr lang="en-US" altLang="en-US">
                <a:latin typeface="Times New Roman" panose="02020603050405020304" pitchFamily="18" charset="0"/>
              </a:rPr>
              <a:t>Which term describes the emergence of the placenta before the baby?</a:t>
            </a:r>
          </a:p>
          <a:p>
            <a:endParaRPr lang="en-US" altLang="en-US">
              <a:latin typeface="Times New Roman" panose="02020603050405020304" pitchFamily="18" charset="0"/>
            </a:endParaRPr>
          </a:p>
          <a:p>
            <a:endParaRPr lang="en-US" altLang="en-US">
              <a:latin typeface="Times New Roman" panose="02020603050405020304" pitchFamily="18" charset="0"/>
            </a:endParaRPr>
          </a:p>
        </p:txBody>
      </p:sp>
    </p:spTree>
    <p:extLst>
      <p:ext uri="{BB962C8B-B14F-4D97-AF65-F5344CB8AC3E}">
        <p14:creationId xmlns:p14="http://schemas.microsoft.com/office/powerpoint/2010/main" val="276442010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4" name="Rectangle 7"/>
          <p:cNvSpPr>
            <a:spLocks noGrp="1" noChangeArrowheads="1"/>
          </p:cNvSpPr>
          <p:nvPr>
            <p:ph type="sldNum" sz="quarter" idx="5"/>
          </p:nvPr>
        </p:nvSpPr>
        <p:spPr>
          <a:noFill/>
          <a:ln w="9525"/>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a:lstStyle>
            <a:lvl1pPr defTabSz="931863">
              <a:defRPr sz="2400">
                <a:solidFill>
                  <a:schemeClr val="tx1"/>
                </a:solidFill>
                <a:latin typeface="Times New Roman" panose="02020603050405020304" pitchFamily="18" charset="0"/>
                <a:ea typeface="MS PGothic" panose="020B0600070205080204" pitchFamily="34" charset="-128"/>
              </a:defRPr>
            </a:lvl1pPr>
            <a:lvl2pPr marL="742950" indent="-285750" defTabSz="931863">
              <a:defRPr sz="2400">
                <a:solidFill>
                  <a:schemeClr val="tx1"/>
                </a:solidFill>
                <a:latin typeface="Times New Roman" panose="02020603050405020304" pitchFamily="18" charset="0"/>
                <a:ea typeface="MS PGothic" panose="020B0600070205080204" pitchFamily="34" charset="-128"/>
              </a:defRPr>
            </a:lvl2pPr>
            <a:lvl3pPr marL="1143000" indent="-228600" defTabSz="931863">
              <a:defRPr sz="2400">
                <a:solidFill>
                  <a:schemeClr val="tx1"/>
                </a:solidFill>
                <a:latin typeface="Times New Roman" panose="02020603050405020304" pitchFamily="18" charset="0"/>
                <a:ea typeface="MS PGothic" panose="020B0600070205080204" pitchFamily="34" charset="-128"/>
              </a:defRPr>
            </a:lvl3pPr>
            <a:lvl4pPr marL="1600200" indent="-228600" defTabSz="931863">
              <a:defRPr sz="2400">
                <a:solidFill>
                  <a:schemeClr val="tx1"/>
                </a:solidFill>
                <a:latin typeface="Times New Roman" panose="02020603050405020304" pitchFamily="18" charset="0"/>
                <a:ea typeface="MS PGothic" panose="020B0600070205080204" pitchFamily="34" charset="-128"/>
              </a:defRPr>
            </a:lvl4pPr>
            <a:lvl5pPr marL="2057400" indent="-228600" defTabSz="931863">
              <a:defRPr sz="2400">
                <a:solidFill>
                  <a:schemeClr val="tx1"/>
                </a:solidFill>
                <a:latin typeface="Times New Roman" panose="02020603050405020304" pitchFamily="18" charset="0"/>
                <a:ea typeface="MS PGothic" panose="020B0600070205080204" pitchFamily="34" charset="-128"/>
              </a:defRPr>
            </a:lvl5pPr>
            <a:lvl6pPr marL="25146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DE84FE9F-C567-492C-9D90-F1B301A40EB8}" type="slidenum">
              <a:rPr lang="en-US" altLang="en-US" sz="1200"/>
              <a:pPr/>
              <a:t>79</a:t>
            </a:fld>
            <a:endParaRPr lang="en-US" altLang="en-US" sz="1200"/>
          </a:p>
        </p:txBody>
      </p:sp>
      <p:sp>
        <p:nvSpPr>
          <p:cNvPr id="197635" name="Rectangle 2"/>
          <p:cNvSpPr>
            <a:spLocks noGrp="1" noRot="1" noChangeAspect="1" noChangeArrowheads="1" noTextEdit="1"/>
          </p:cNvSpPr>
          <p:nvPr>
            <p:ph type="sldImg"/>
          </p:nvPr>
        </p:nvSpPr>
        <p:spPr>
          <a:ln/>
        </p:spPr>
      </p:sp>
      <p:sp>
        <p:nvSpPr>
          <p:cNvPr id="197636" name="Rectangle 3"/>
          <p:cNvSpPr>
            <a:spLocks noGrp="1" noChangeArrowheads="1"/>
          </p:cNvSpPr>
          <p:nvPr>
            <p:ph type="body" idx="1"/>
          </p:nvPr>
        </p:nvSpPr>
        <p:spPr>
          <a:noFill/>
          <a:ln w="9525"/>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type="none" w="sm" len="sm"/>
                <a:tailEnd type="none" w="sm" len="sm"/>
              </a14:hiddenLine>
            </a:ext>
          </a:extLst>
        </p:spPr>
        <p:txBody>
          <a:bodyPr/>
          <a:lstStyle/>
          <a:p>
            <a:pPr marL="0" indent="0">
              <a:buFontTx/>
              <a:buNone/>
            </a:pPr>
            <a:endParaRPr lang="en-US" altLang="en-US">
              <a:latin typeface="Times New Roman" panose="02020603050405020304" pitchFamily="18" charset="0"/>
            </a:endParaRPr>
          </a:p>
        </p:txBody>
      </p:sp>
    </p:spTree>
    <p:extLst>
      <p:ext uri="{BB962C8B-B14F-4D97-AF65-F5344CB8AC3E}">
        <p14:creationId xmlns:p14="http://schemas.microsoft.com/office/powerpoint/2010/main" val="151736304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658" name="Rectangle 7"/>
          <p:cNvSpPr>
            <a:spLocks noGrp="1" noChangeArrowheads="1"/>
          </p:cNvSpPr>
          <p:nvPr>
            <p:ph type="sldNum" sz="quarter" idx="5"/>
          </p:nvPr>
        </p:nvSpPr>
        <p:spPr>
          <a:noFill/>
          <a:ln w="9525"/>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a:lstStyle>
            <a:lvl1pPr defTabSz="931863">
              <a:defRPr sz="2400">
                <a:solidFill>
                  <a:schemeClr val="tx1"/>
                </a:solidFill>
                <a:latin typeface="Times New Roman" panose="02020603050405020304" pitchFamily="18" charset="0"/>
                <a:ea typeface="MS PGothic" panose="020B0600070205080204" pitchFamily="34" charset="-128"/>
              </a:defRPr>
            </a:lvl1pPr>
            <a:lvl2pPr marL="742950" indent="-285750" defTabSz="931863">
              <a:defRPr sz="2400">
                <a:solidFill>
                  <a:schemeClr val="tx1"/>
                </a:solidFill>
                <a:latin typeface="Times New Roman" panose="02020603050405020304" pitchFamily="18" charset="0"/>
                <a:ea typeface="MS PGothic" panose="020B0600070205080204" pitchFamily="34" charset="-128"/>
              </a:defRPr>
            </a:lvl2pPr>
            <a:lvl3pPr marL="1143000" indent="-228600" defTabSz="931863">
              <a:defRPr sz="2400">
                <a:solidFill>
                  <a:schemeClr val="tx1"/>
                </a:solidFill>
                <a:latin typeface="Times New Roman" panose="02020603050405020304" pitchFamily="18" charset="0"/>
                <a:ea typeface="MS PGothic" panose="020B0600070205080204" pitchFamily="34" charset="-128"/>
              </a:defRPr>
            </a:lvl3pPr>
            <a:lvl4pPr marL="1600200" indent="-228600" defTabSz="931863">
              <a:defRPr sz="2400">
                <a:solidFill>
                  <a:schemeClr val="tx1"/>
                </a:solidFill>
                <a:latin typeface="Times New Roman" panose="02020603050405020304" pitchFamily="18" charset="0"/>
                <a:ea typeface="MS PGothic" panose="020B0600070205080204" pitchFamily="34" charset="-128"/>
              </a:defRPr>
            </a:lvl4pPr>
            <a:lvl5pPr marL="2057400" indent="-228600" defTabSz="931863">
              <a:defRPr sz="2400">
                <a:solidFill>
                  <a:schemeClr val="tx1"/>
                </a:solidFill>
                <a:latin typeface="Times New Roman" panose="02020603050405020304" pitchFamily="18" charset="0"/>
                <a:ea typeface="MS PGothic" panose="020B0600070205080204" pitchFamily="34" charset="-128"/>
              </a:defRPr>
            </a:lvl5pPr>
            <a:lvl6pPr marL="25146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E20E3B92-C716-4BF1-AFE1-D930C445C57E}" type="slidenum">
              <a:rPr lang="en-US" altLang="en-US" sz="1200"/>
              <a:pPr/>
              <a:t>80</a:t>
            </a:fld>
            <a:endParaRPr lang="en-US" altLang="en-US" sz="1200"/>
          </a:p>
        </p:txBody>
      </p:sp>
      <p:sp>
        <p:nvSpPr>
          <p:cNvPr id="198659" name="Rectangle 2"/>
          <p:cNvSpPr>
            <a:spLocks noGrp="1" noRot="1" noChangeAspect="1" noChangeArrowheads="1" noTextEdit="1"/>
          </p:cNvSpPr>
          <p:nvPr>
            <p:ph type="sldImg"/>
          </p:nvPr>
        </p:nvSpPr>
        <p:spPr>
          <a:ln/>
        </p:spPr>
      </p:sp>
      <p:sp>
        <p:nvSpPr>
          <p:cNvPr id="198660" name="Rectangle 3"/>
          <p:cNvSpPr>
            <a:spLocks noGrp="1" noChangeArrowheads="1"/>
          </p:cNvSpPr>
          <p:nvPr>
            <p:ph type="body" idx="1"/>
          </p:nvPr>
        </p:nvSpPr>
        <p:spPr>
          <a:noFill/>
          <a:ln w="9525"/>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type="none" w="sm" len="sm"/>
                <a:tailEnd type="none" w="sm" len="sm"/>
              </a14:hiddenLine>
            </a:ext>
          </a:extLst>
        </p:spPr>
        <p:txBody>
          <a:bodyPr/>
          <a:lstStyle/>
          <a:p>
            <a:pPr marL="0" indent="0">
              <a:buFontTx/>
              <a:buNone/>
            </a:pPr>
            <a:endParaRPr lang="en-US" altLang="en-US">
              <a:latin typeface="Times New Roman" panose="02020603050405020304" pitchFamily="18" charset="0"/>
            </a:endParaRPr>
          </a:p>
        </p:txBody>
      </p:sp>
    </p:spTree>
    <p:extLst>
      <p:ext uri="{BB962C8B-B14F-4D97-AF65-F5344CB8AC3E}">
        <p14:creationId xmlns:p14="http://schemas.microsoft.com/office/powerpoint/2010/main" val="79663080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682" name="Rectangle 7"/>
          <p:cNvSpPr>
            <a:spLocks noGrp="1" noChangeArrowheads="1"/>
          </p:cNvSpPr>
          <p:nvPr>
            <p:ph type="sldNum" sz="quarter" idx="5"/>
          </p:nvPr>
        </p:nvSpPr>
        <p:spPr>
          <a:noFill/>
          <a:ln w="9525"/>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a:lstStyle>
            <a:lvl1pPr defTabSz="931863">
              <a:defRPr sz="2400">
                <a:solidFill>
                  <a:schemeClr val="tx1"/>
                </a:solidFill>
                <a:latin typeface="Times New Roman" panose="02020603050405020304" pitchFamily="18" charset="0"/>
                <a:ea typeface="MS PGothic" panose="020B0600070205080204" pitchFamily="34" charset="-128"/>
              </a:defRPr>
            </a:lvl1pPr>
            <a:lvl2pPr marL="742950" indent="-285750" defTabSz="931863">
              <a:defRPr sz="2400">
                <a:solidFill>
                  <a:schemeClr val="tx1"/>
                </a:solidFill>
                <a:latin typeface="Times New Roman" panose="02020603050405020304" pitchFamily="18" charset="0"/>
                <a:ea typeface="MS PGothic" panose="020B0600070205080204" pitchFamily="34" charset="-128"/>
              </a:defRPr>
            </a:lvl2pPr>
            <a:lvl3pPr marL="1143000" indent="-228600" defTabSz="931863">
              <a:defRPr sz="2400">
                <a:solidFill>
                  <a:schemeClr val="tx1"/>
                </a:solidFill>
                <a:latin typeface="Times New Roman" panose="02020603050405020304" pitchFamily="18" charset="0"/>
                <a:ea typeface="MS PGothic" panose="020B0600070205080204" pitchFamily="34" charset="-128"/>
              </a:defRPr>
            </a:lvl3pPr>
            <a:lvl4pPr marL="1600200" indent="-228600" defTabSz="931863">
              <a:defRPr sz="2400">
                <a:solidFill>
                  <a:schemeClr val="tx1"/>
                </a:solidFill>
                <a:latin typeface="Times New Roman" panose="02020603050405020304" pitchFamily="18" charset="0"/>
                <a:ea typeface="MS PGothic" panose="020B0600070205080204" pitchFamily="34" charset="-128"/>
              </a:defRPr>
            </a:lvl4pPr>
            <a:lvl5pPr marL="2057400" indent="-228600" defTabSz="931863">
              <a:defRPr sz="2400">
                <a:solidFill>
                  <a:schemeClr val="tx1"/>
                </a:solidFill>
                <a:latin typeface="Times New Roman" panose="02020603050405020304" pitchFamily="18" charset="0"/>
                <a:ea typeface="MS PGothic" panose="020B0600070205080204" pitchFamily="34" charset="-128"/>
              </a:defRPr>
            </a:lvl5pPr>
            <a:lvl6pPr marL="25146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DA27C2D9-5036-46C2-9CF4-3D167AB0A37A}" type="slidenum">
              <a:rPr lang="en-US" altLang="en-US" sz="1200"/>
              <a:pPr/>
              <a:t>81</a:t>
            </a:fld>
            <a:endParaRPr lang="en-US" altLang="en-US" sz="1200"/>
          </a:p>
        </p:txBody>
      </p:sp>
      <p:sp>
        <p:nvSpPr>
          <p:cNvPr id="199683" name="Rectangle 2"/>
          <p:cNvSpPr>
            <a:spLocks noGrp="1" noRot="1" noChangeAspect="1" noChangeArrowheads="1" noTextEdit="1"/>
          </p:cNvSpPr>
          <p:nvPr>
            <p:ph type="sldImg"/>
          </p:nvPr>
        </p:nvSpPr>
        <p:spPr>
          <a:ln/>
        </p:spPr>
      </p:sp>
      <p:sp>
        <p:nvSpPr>
          <p:cNvPr id="199684" name="Rectangle 3"/>
          <p:cNvSpPr>
            <a:spLocks noGrp="1" noChangeArrowheads="1"/>
          </p:cNvSpPr>
          <p:nvPr>
            <p:ph type="body" idx="1"/>
          </p:nvPr>
        </p:nvSpPr>
        <p:spPr>
          <a:noFill/>
          <a:ln w="9525"/>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type="none" w="sm" len="sm"/>
                <a:tailEnd type="none" w="sm" len="sm"/>
              </a14:hiddenLine>
            </a:ext>
          </a:extLst>
        </p:spPr>
        <p:txBody>
          <a:bodyPr/>
          <a:lstStyle/>
          <a:p>
            <a:r>
              <a:rPr lang="en-US" altLang="en-US">
                <a:latin typeface="Times New Roman" panose="02020603050405020304" pitchFamily="18" charset="0"/>
              </a:rPr>
              <a:t>For what tests is a speculum used?</a:t>
            </a:r>
          </a:p>
          <a:p>
            <a:r>
              <a:rPr lang="en-US" altLang="en-US">
                <a:latin typeface="Times New Roman" panose="02020603050405020304" pitchFamily="18" charset="0"/>
              </a:rPr>
              <a:t>What types of x-rays are used to examine the reproductive organs?</a:t>
            </a:r>
          </a:p>
          <a:p>
            <a:r>
              <a:rPr lang="en-US" altLang="en-US">
                <a:latin typeface="Times New Roman" panose="02020603050405020304" pitchFamily="18" charset="0"/>
              </a:rPr>
              <a:t>What is the purpose of hysterosalpingography (HSG)?</a:t>
            </a:r>
          </a:p>
        </p:txBody>
      </p:sp>
    </p:spTree>
    <p:extLst>
      <p:ext uri="{BB962C8B-B14F-4D97-AF65-F5344CB8AC3E}">
        <p14:creationId xmlns:p14="http://schemas.microsoft.com/office/powerpoint/2010/main" val="163876911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6" name="Rectangle 7"/>
          <p:cNvSpPr>
            <a:spLocks noGrp="1" noChangeArrowheads="1"/>
          </p:cNvSpPr>
          <p:nvPr>
            <p:ph type="sldNum" sz="quarter" idx="5"/>
          </p:nvPr>
        </p:nvSpPr>
        <p:spPr>
          <a:noFill/>
          <a:ln w="9525"/>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a:lstStyle>
            <a:lvl1pPr defTabSz="931863">
              <a:defRPr sz="2400">
                <a:solidFill>
                  <a:schemeClr val="tx1"/>
                </a:solidFill>
                <a:latin typeface="Times New Roman" panose="02020603050405020304" pitchFamily="18" charset="0"/>
                <a:ea typeface="MS PGothic" panose="020B0600070205080204" pitchFamily="34" charset="-128"/>
              </a:defRPr>
            </a:lvl1pPr>
            <a:lvl2pPr marL="742950" indent="-285750" defTabSz="931863">
              <a:defRPr sz="2400">
                <a:solidFill>
                  <a:schemeClr val="tx1"/>
                </a:solidFill>
                <a:latin typeface="Times New Roman" panose="02020603050405020304" pitchFamily="18" charset="0"/>
                <a:ea typeface="MS PGothic" panose="020B0600070205080204" pitchFamily="34" charset="-128"/>
              </a:defRPr>
            </a:lvl2pPr>
            <a:lvl3pPr marL="1143000" indent="-228600" defTabSz="931863">
              <a:defRPr sz="2400">
                <a:solidFill>
                  <a:schemeClr val="tx1"/>
                </a:solidFill>
                <a:latin typeface="Times New Roman" panose="02020603050405020304" pitchFamily="18" charset="0"/>
                <a:ea typeface="MS PGothic" panose="020B0600070205080204" pitchFamily="34" charset="-128"/>
              </a:defRPr>
            </a:lvl3pPr>
            <a:lvl4pPr marL="1600200" indent="-228600" defTabSz="931863">
              <a:defRPr sz="2400">
                <a:solidFill>
                  <a:schemeClr val="tx1"/>
                </a:solidFill>
                <a:latin typeface="Times New Roman" panose="02020603050405020304" pitchFamily="18" charset="0"/>
                <a:ea typeface="MS PGothic" panose="020B0600070205080204" pitchFamily="34" charset="-128"/>
              </a:defRPr>
            </a:lvl4pPr>
            <a:lvl5pPr marL="2057400" indent="-228600" defTabSz="931863">
              <a:defRPr sz="2400">
                <a:solidFill>
                  <a:schemeClr val="tx1"/>
                </a:solidFill>
                <a:latin typeface="Times New Roman" panose="02020603050405020304" pitchFamily="18" charset="0"/>
                <a:ea typeface="MS PGothic" panose="020B0600070205080204" pitchFamily="34" charset="-128"/>
              </a:defRPr>
            </a:lvl5pPr>
            <a:lvl6pPr marL="25146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4DE30427-0A38-4247-8B09-28B73DE6D360}" type="slidenum">
              <a:rPr lang="en-US" altLang="en-US" sz="1200"/>
              <a:pPr/>
              <a:t>82</a:t>
            </a:fld>
            <a:endParaRPr lang="en-US" altLang="en-US" sz="1200"/>
          </a:p>
        </p:txBody>
      </p:sp>
      <p:sp>
        <p:nvSpPr>
          <p:cNvPr id="200707" name="Rectangle 2"/>
          <p:cNvSpPr>
            <a:spLocks noGrp="1" noRot="1" noChangeAspect="1" noChangeArrowheads="1" noTextEdit="1"/>
          </p:cNvSpPr>
          <p:nvPr>
            <p:ph type="sldImg"/>
          </p:nvPr>
        </p:nvSpPr>
        <p:spPr>
          <a:ln/>
        </p:spPr>
      </p:sp>
      <p:sp>
        <p:nvSpPr>
          <p:cNvPr id="200708" name="Rectangle 3"/>
          <p:cNvSpPr>
            <a:spLocks noGrp="1" noChangeArrowheads="1"/>
          </p:cNvSpPr>
          <p:nvPr>
            <p:ph type="body" idx="1"/>
          </p:nvPr>
        </p:nvSpPr>
        <p:spPr>
          <a:noFill/>
          <a:ln w="9525"/>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type="none" w="sm" len="sm"/>
                <a:tailEnd type="none" w="sm" len="sm"/>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49670170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730" name="Rectangle 7"/>
          <p:cNvSpPr>
            <a:spLocks noGrp="1" noChangeArrowheads="1"/>
          </p:cNvSpPr>
          <p:nvPr>
            <p:ph type="sldNum" sz="quarter" idx="5"/>
          </p:nvPr>
        </p:nvSpPr>
        <p:spPr>
          <a:noFill/>
          <a:ln w="9525"/>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a:lstStyle>
            <a:lvl1pPr defTabSz="931863">
              <a:defRPr sz="2400">
                <a:solidFill>
                  <a:schemeClr val="tx1"/>
                </a:solidFill>
                <a:latin typeface="Times New Roman" panose="02020603050405020304" pitchFamily="18" charset="0"/>
                <a:ea typeface="MS PGothic" panose="020B0600070205080204" pitchFamily="34" charset="-128"/>
              </a:defRPr>
            </a:lvl1pPr>
            <a:lvl2pPr marL="742950" indent="-285750" defTabSz="931863">
              <a:defRPr sz="2400">
                <a:solidFill>
                  <a:schemeClr val="tx1"/>
                </a:solidFill>
                <a:latin typeface="Times New Roman" panose="02020603050405020304" pitchFamily="18" charset="0"/>
                <a:ea typeface="MS PGothic" panose="020B0600070205080204" pitchFamily="34" charset="-128"/>
              </a:defRPr>
            </a:lvl2pPr>
            <a:lvl3pPr marL="1143000" indent="-228600" defTabSz="931863">
              <a:defRPr sz="2400">
                <a:solidFill>
                  <a:schemeClr val="tx1"/>
                </a:solidFill>
                <a:latin typeface="Times New Roman" panose="02020603050405020304" pitchFamily="18" charset="0"/>
                <a:ea typeface="MS PGothic" panose="020B0600070205080204" pitchFamily="34" charset="-128"/>
              </a:defRPr>
            </a:lvl3pPr>
            <a:lvl4pPr marL="1600200" indent="-228600" defTabSz="931863">
              <a:defRPr sz="2400">
                <a:solidFill>
                  <a:schemeClr val="tx1"/>
                </a:solidFill>
                <a:latin typeface="Times New Roman" panose="02020603050405020304" pitchFamily="18" charset="0"/>
                <a:ea typeface="MS PGothic" panose="020B0600070205080204" pitchFamily="34" charset="-128"/>
              </a:defRPr>
            </a:lvl4pPr>
            <a:lvl5pPr marL="2057400" indent="-228600" defTabSz="931863">
              <a:defRPr sz="2400">
                <a:solidFill>
                  <a:schemeClr val="tx1"/>
                </a:solidFill>
                <a:latin typeface="Times New Roman" panose="02020603050405020304" pitchFamily="18" charset="0"/>
                <a:ea typeface="MS PGothic" panose="020B0600070205080204" pitchFamily="34" charset="-128"/>
              </a:defRPr>
            </a:lvl5pPr>
            <a:lvl6pPr marL="25146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5513BCDA-F8D0-47DB-A3E3-9CED01175A96}" type="slidenum">
              <a:rPr lang="en-US" altLang="en-US" sz="1200"/>
              <a:pPr/>
              <a:t>83</a:t>
            </a:fld>
            <a:endParaRPr lang="en-US" altLang="en-US" sz="1200"/>
          </a:p>
        </p:txBody>
      </p:sp>
      <p:sp>
        <p:nvSpPr>
          <p:cNvPr id="201731" name="Rectangle 2"/>
          <p:cNvSpPr>
            <a:spLocks noGrp="1" noRot="1" noChangeAspect="1" noChangeArrowheads="1" noTextEdit="1"/>
          </p:cNvSpPr>
          <p:nvPr>
            <p:ph type="sldImg"/>
          </p:nvPr>
        </p:nvSpPr>
        <p:spPr>
          <a:ln/>
        </p:spPr>
      </p:sp>
      <p:sp>
        <p:nvSpPr>
          <p:cNvPr id="201732" name="Rectangle 3"/>
          <p:cNvSpPr>
            <a:spLocks noGrp="1" noChangeArrowheads="1"/>
          </p:cNvSpPr>
          <p:nvPr>
            <p:ph type="body" idx="1"/>
          </p:nvPr>
        </p:nvSpPr>
        <p:spPr>
          <a:noFill/>
          <a:ln w="9525"/>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type="none" w="sm" len="sm"/>
                <a:tailEnd type="none" w="sm" len="sm"/>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75368181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754" name="Rectangle 7"/>
          <p:cNvSpPr>
            <a:spLocks noGrp="1" noChangeArrowheads="1"/>
          </p:cNvSpPr>
          <p:nvPr>
            <p:ph type="sldNum" sz="quarter" idx="5"/>
          </p:nvPr>
        </p:nvSpPr>
        <p:spPr>
          <a:noFill/>
          <a:ln w="9525"/>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a:lstStyle>
            <a:lvl1pPr defTabSz="931863">
              <a:defRPr sz="2400">
                <a:solidFill>
                  <a:schemeClr val="tx1"/>
                </a:solidFill>
                <a:latin typeface="Times New Roman" panose="02020603050405020304" pitchFamily="18" charset="0"/>
                <a:ea typeface="MS PGothic" panose="020B0600070205080204" pitchFamily="34" charset="-128"/>
              </a:defRPr>
            </a:lvl1pPr>
            <a:lvl2pPr marL="742950" indent="-285750" defTabSz="931863">
              <a:defRPr sz="2400">
                <a:solidFill>
                  <a:schemeClr val="tx1"/>
                </a:solidFill>
                <a:latin typeface="Times New Roman" panose="02020603050405020304" pitchFamily="18" charset="0"/>
                <a:ea typeface="MS PGothic" panose="020B0600070205080204" pitchFamily="34" charset="-128"/>
              </a:defRPr>
            </a:lvl2pPr>
            <a:lvl3pPr marL="1143000" indent="-228600" defTabSz="931863">
              <a:defRPr sz="2400">
                <a:solidFill>
                  <a:schemeClr val="tx1"/>
                </a:solidFill>
                <a:latin typeface="Times New Roman" panose="02020603050405020304" pitchFamily="18" charset="0"/>
                <a:ea typeface="MS PGothic" panose="020B0600070205080204" pitchFamily="34" charset="-128"/>
              </a:defRPr>
            </a:lvl3pPr>
            <a:lvl4pPr marL="1600200" indent="-228600" defTabSz="931863">
              <a:defRPr sz="2400">
                <a:solidFill>
                  <a:schemeClr val="tx1"/>
                </a:solidFill>
                <a:latin typeface="Times New Roman" panose="02020603050405020304" pitchFamily="18" charset="0"/>
                <a:ea typeface="MS PGothic" panose="020B0600070205080204" pitchFamily="34" charset="-128"/>
              </a:defRPr>
            </a:lvl4pPr>
            <a:lvl5pPr marL="2057400" indent="-228600" defTabSz="931863">
              <a:defRPr sz="2400">
                <a:solidFill>
                  <a:schemeClr val="tx1"/>
                </a:solidFill>
                <a:latin typeface="Times New Roman" panose="02020603050405020304" pitchFamily="18" charset="0"/>
                <a:ea typeface="MS PGothic" panose="020B0600070205080204" pitchFamily="34" charset="-128"/>
              </a:defRPr>
            </a:lvl5pPr>
            <a:lvl6pPr marL="25146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A180D5CA-0B38-4E08-9812-50E26B375EB6}" type="slidenum">
              <a:rPr lang="en-US" altLang="en-US" sz="1200"/>
              <a:pPr/>
              <a:t>84</a:t>
            </a:fld>
            <a:endParaRPr lang="en-US" altLang="en-US" sz="1200"/>
          </a:p>
        </p:txBody>
      </p:sp>
      <p:sp>
        <p:nvSpPr>
          <p:cNvPr id="202755" name="Rectangle 2"/>
          <p:cNvSpPr>
            <a:spLocks noGrp="1" noRot="1" noChangeAspect="1" noChangeArrowheads="1" noTextEdit="1"/>
          </p:cNvSpPr>
          <p:nvPr>
            <p:ph type="sldImg"/>
          </p:nvPr>
        </p:nvSpPr>
        <p:spPr>
          <a:ln/>
        </p:spPr>
      </p:sp>
      <p:sp>
        <p:nvSpPr>
          <p:cNvPr id="202756" name="Rectangle 3"/>
          <p:cNvSpPr>
            <a:spLocks noGrp="1" noChangeArrowheads="1"/>
          </p:cNvSpPr>
          <p:nvPr>
            <p:ph type="body" idx="1"/>
          </p:nvPr>
        </p:nvSpPr>
        <p:spPr>
          <a:noFill/>
          <a:ln w="9525"/>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type="none" w="sm" len="sm"/>
                <a:tailEnd type="none" w="sm" len="sm"/>
              </a14:hiddenLine>
            </a:ext>
          </a:extLst>
        </p:spPr>
        <p:txBody>
          <a:bodyPr/>
          <a:lstStyle/>
          <a:p>
            <a:pPr>
              <a:buFontTx/>
              <a:buNone/>
            </a:pPr>
            <a:r>
              <a:rPr lang="en-US" altLang="en-US" dirty="0">
                <a:latin typeface="Times New Roman" panose="02020603050405020304" pitchFamily="18" charset="0"/>
              </a:rPr>
              <a:t> </a:t>
            </a:r>
          </a:p>
        </p:txBody>
      </p:sp>
    </p:spTree>
    <p:extLst>
      <p:ext uri="{BB962C8B-B14F-4D97-AF65-F5344CB8AC3E}">
        <p14:creationId xmlns:p14="http://schemas.microsoft.com/office/powerpoint/2010/main" val="152761643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5" name="Text Box 5"/>
          <p:cNvSpPr txBox="1">
            <a:spLocks noChangeArrowheads="1"/>
          </p:cNvSpPr>
          <p:nvPr userDrawn="1"/>
        </p:nvSpPr>
        <p:spPr bwMode="auto">
          <a:xfrm>
            <a:off x="7696200" y="6461125"/>
            <a:ext cx="1143000" cy="2444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pPr algn="r" eaLnBrk="1" hangingPunct="1">
              <a:spcBef>
                <a:spcPct val="50000"/>
              </a:spcBef>
            </a:pPr>
            <a:fld id="{4F46A433-53BE-44F2-B0BE-CD4AA7F6F7B2}" type="slidenum">
              <a:rPr lang="en-US" altLang="en-US" sz="1000">
                <a:latin typeface="Arial" panose="020B0604020202020204" pitchFamily="34" charset="0"/>
                <a:cs typeface="Arial" panose="020B0604020202020204" pitchFamily="34" charset="0"/>
              </a:rPr>
              <a:pPr algn="r" eaLnBrk="1" hangingPunct="1">
                <a:spcBef>
                  <a:spcPct val="50000"/>
                </a:spcBef>
              </a:pPr>
              <a:t>‹#›</a:t>
            </a:fld>
            <a:endParaRPr lang="en-US" altLang="en-US" sz="1000">
              <a:latin typeface="Arial" panose="020B0604020202020204" pitchFamily="34" charset="0"/>
              <a:cs typeface="Arial" panose="020B0604020202020204" pitchFamily="34" charset="0"/>
            </a:endParaRPr>
          </a:p>
        </p:txBody>
      </p:sp>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9" name="Date Placeholder 8"/>
          <p:cNvSpPr>
            <a:spLocks noGrp="1"/>
          </p:cNvSpPr>
          <p:nvPr>
            <p:ph type="dt" sz="half" idx="10"/>
          </p:nvPr>
        </p:nvSpPr>
        <p:spPr/>
        <p:txBody>
          <a:bodyPr/>
          <a:lstStyle/>
          <a:p>
            <a:pPr>
              <a:defRPr/>
            </a:pPr>
            <a:fld id="{401F176B-337D-4B0C-9E0F-CF98E924232A}" type="datetimeFigureOut">
              <a:rPr lang="en-US" smtClean="0"/>
              <a:pPr>
                <a:defRPr/>
              </a:pPr>
              <a:t>12/11/2023</a:t>
            </a:fld>
            <a:endParaRPr lang="en-US"/>
          </a:p>
        </p:txBody>
      </p:sp>
      <p:sp>
        <p:nvSpPr>
          <p:cNvPr id="10" name="Footer Placeholder 9"/>
          <p:cNvSpPr>
            <a:spLocks noGrp="1"/>
          </p:cNvSpPr>
          <p:nvPr>
            <p:ph type="ftr" sz="quarter" idx="11"/>
          </p:nvPr>
        </p:nvSpPr>
        <p:spPr>
          <a:xfrm>
            <a:off x="3124200" y="5859295"/>
            <a:ext cx="2895600" cy="365125"/>
          </a:xfrm>
          <a:prstGeom prst="rect">
            <a:avLst/>
          </a:prstGeom>
        </p:spPr>
        <p:txBody>
          <a:bodyPr/>
          <a:lstStyle/>
          <a:p>
            <a:pPr>
              <a:defRPr/>
            </a:pPr>
            <a:endParaRPr lang="en-US" dirty="0"/>
          </a:p>
        </p:txBody>
      </p:sp>
      <p:sp>
        <p:nvSpPr>
          <p:cNvPr id="11" name="Slide Number Placeholder 10"/>
          <p:cNvSpPr>
            <a:spLocks noGrp="1"/>
          </p:cNvSpPr>
          <p:nvPr>
            <p:ph type="sldNum" sz="quarter" idx="12"/>
          </p:nvPr>
        </p:nvSpPr>
        <p:spPr/>
        <p:txBody>
          <a:bodyPr/>
          <a:lstStyle/>
          <a:p>
            <a:fld id="{28A3EFAA-5F29-4212-A320-E00D10714EB8}" type="slidenum">
              <a:rPr lang="en-US" altLang="en-US" smtClean="0"/>
              <a:pPr/>
              <a:t>‹#›</a:t>
            </a:fld>
            <a:endParaRPr lang="en-US" altLang="en-US"/>
          </a:p>
        </p:txBody>
      </p:sp>
      <p:sp>
        <p:nvSpPr>
          <p:cNvPr id="4" name="Rectangle 8"/>
          <p:cNvSpPr txBox="1">
            <a:spLocks noGrp="1" noChangeArrowheads="1"/>
          </p:cNvSpPr>
          <p:nvPr userDrawn="1"/>
        </p:nvSpPr>
        <p:spPr bwMode="auto">
          <a:xfrm>
            <a:off x="917575" y="6444916"/>
            <a:ext cx="7769225" cy="3810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ea typeface="MS PGothic" pitchFamily="34" charset="-128"/>
              </a:defRPr>
            </a:lvl1pPr>
            <a:lvl2pPr marL="742950" indent="-285750" eaLnBrk="0" hangingPunct="0">
              <a:defRPr sz="2400">
                <a:solidFill>
                  <a:schemeClr val="tx1"/>
                </a:solidFill>
                <a:latin typeface="Times New Roman" pitchFamily="18" charset="0"/>
                <a:ea typeface="MS PGothic" pitchFamily="34" charset="-128"/>
              </a:defRPr>
            </a:lvl2pPr>
            <a:lvl3pPr marL="1143000" indent="-228600" eaLnBrk="0" hangingPunct="0">
              <a:defRPr sz="2400">
                <a:solidFill>
                  <a:schemeClr val="tx1"/>
                </a:solidFill>
                <a:latin typeface="Times New Roman" pitchFamily="18" charset="0"/>
                <a:ea typeface="MS PGothic" pitchFamily="34" charset="-128"/>
              </a:defRPr>
            </a:lvl3pPr>
            <a:lvl4pPr marL="1600200" indent="-228600" eaLnBrk="0" hangingPunct="0">
              <a:defRPr sz="2400">
                <a:solidFill>
                  <a:schemeClr val="tx1"/>
                </a:solidFill>
                <a:latin typeface="Times New Roman" pitchFamily="18" charset="0"/>
                <a:ea typeface="MS PGothic" pitchFamily="34" charset="-128"/>
              </a:defRPr>
            </a:lvl4pPr>
            <a:lvl5pPr marL="2057400" indent="-228600" eaLnBrk="0" hangingPunct="0">
              <a:defRPr sz="2400">
                <a:solidFill>
                  <a:schemeClr val="tx1"/>
                </a:solidFill>
                <a:latin typeface="Times New Roman" pitchFamily="18" charset="0"/>
                <a:ea typeface="MS PGothic"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pPr algn="ctr" eaLnBrk="1" hangingPunct="1">
              <a:defRPr/>
            </a:pPr>
            <a:endParaRPr lang="en-US" dirty="0"/>
          </a:p>
        </p:txBody>
      </p:sp>
    </p:spTree>
    <p:extLst>
      <p:ext uri="{BB962C8B-B14F-4D97-AF65-F5344CB8AC3E}">
        <p14:creationId xmlns:p14="http://schemas.microsoft.com/office/powerpoint/2010/main" val="1569383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s-419"/>
          </a:p>
        </p:txBody>
      </p:sp>
      <p:sp>
        <p:nvSpPr>
          <p:cNvPr id="3" name="Date Placeholder 2"/>
          <p:cNvSpPr>
            <a:spLocks noGrp="1"/>
          </p:cNvSpPr>
          <p:nvPr>
            <p:ph type="dt" sz="half" idx="10"/>
          </p:nvPr>
        </p:nvSpPr>
        <p:spPr/>
        <p:txBody>
          <a:bodyPr/>
          <a:lstStyle/>
          <a:p>
            <a:pPr>
              <a:defRPr/>
            </a:pPr>
            <a:fld id="{401F176B-337D-4B0C-9E0F-CF98E924232A}" type="datetimeFigureOut">
              <a:rPr lang="en-US" smtClean="0"/>
              <a:pPr>
                <a:defRPr/>
              </a:pPr>
              <a:t>12/11/2023</a:t>
            </a:fld>
            <a:endParaRPr lang="en-US"/>
          </a:p>
        </p:txBody>
      </p:sp>
      <p:sp>
        <p:nvSpPr>
          <p:cNvPr id="4" name="Footer Placeholder 3"/>
          <p:cNvSpPr>
            <a:spLocks noGrp="1"/>
          </p:cNvSpPr>
          <p:nvPr>
            <p:ph type="ftr" sz="quarter" idx="11"/>
          </p:nvPr>
        </p:nvSpPr>
        <p:spPr>
          <a:xfrm>
            <a:off x="3124200" y="6356350"/>
            <a:ext cx="2895600" cy="365125"/>
          </a:xfrm>
          <a:prstGeom prst="rect">
            <a:avLst/>
          </a:prstGeom>
        </p:spPr>
        <p:txBody>
          <a:bodyPr/>
          <a:lstStyle/>
          <a:p>
            <a:pPr>
              <a:defRPr/>
            </a:pPr>
            <a:endParaRPr lang="en-US" dirty="0"/>
          </a:p>
        </p:txBody>
      </p:sp>
      <p:sp>
        <p:nvSpPr>
          <p:cNvPr id="5" name="Slide Number Placeholder 4"/>
          <p:cNvSpPr>
            <a:spLocks noGrp="1"/>
          </p:cNvSpPr>
          <p:nvPr>
            <p:ph type="sldNum" sz="quarter" idx="12"/>
          </p:nvPr>
        </p:nvSpPr>
        <p:spPr/>
        <p:txBody>
          <a:bodyPr/>
          <a:lstStyle/>
          <a:p>
            <a:fld id="{28A3EFAA-5F29-4212-A320-E00D10714EB8}" type="slidenum">
              <a:rPr lang="en-US" altLang="en-US" smtClean="0"/>
              <a:pPr/>
              <a:t>‹#›</a:t>
            </a:fld>
            <a:endParaRPr lang="en-US" altLang="en-US"/>
          </a:p>
        </p:txBody>
      </p:sp>
    </p:spTree>
    <p:extLst>
      <p:ext uri="{BB962C8B-B14F-4D97-AF65-F5344CB8AC3E}">
        <p14:creationId xmlns:p14="http://schemas.microsoft.com/office/powerpoint/2010/main" val="3486592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3B2D8646-B954-479C-A337-986E442FC1A9}" type="datetimeFigureOut">
              <a:rPr lang="en-US"/>
              <a:pPr>
                <a:defRPr/>
              </a:pPr>
              <a:t>12/11/2023</a:t>
            </a:fld>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fld id="{67C3B6F8-FB65-40D1-9D78-3B0834AA2902}" type="slidenum">
              <a:rPr lang="en-US" altLang="en-US"/>
              <a:pPr/>
              <a:t>‹#›</a:t>
            </a:fld>
            <a:endParaRPr lang="en-US" altLang="en-US"/>
          </a:p>
        </p:txBody>
      </p:sp>
    </p:spTree>
    <p:extLst>
      <p:ext uri="{BB962C8B-B14F-4D97-AF65-F5344CB8AC3E}">
        <p14:creationId xmlns:p14="http://schemas.microsoft.com/office/powerpoint/2010/main" val="10425524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fld id="{4026FB1C-0B93-4FFC-AFAC-202B5BB6FD8D}" type="datetimeFigureOut">
              <a:rPr lang="en-US"/>
              <a:pPr>
                <a:defRPr/>
              </a:pPr>
              <a:t>12/11/2023</a:t>
            </a:fld>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fld id="{8AD0EB3D-4C75-400C-847F-27CED06B6053}" type="slidenum">
              <a:rPr lang="en-US" altLang="en-US"/>
              <a:pPr/>
              <a:t>‹#›</a:t>
            </a:fld>
            <a:endParaRPr lang="en-US" altLang="en-US"/>
          </a:p>
        </p:txBody>
      </p:sp>
    </p:spTree>
    <p:extLst>
      <p:ext uri="{BB962C8B-B14F-4D97-AF65-F5344CB8AC3E}">
        <p14:creationId xmlns:p14="http://schemas.microsoft.com/office/powerpoint/2010/main" val="29846592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fld id="{9C71BE0B-DC10-4A86-884B-421A21A3786F}" type="datetimeFigureOut">
              <a:rPr lang="en-US"/>
              <a:pPr>
                <a:defRPr/>
              </a:pPr>
              <a:t>12/11/2023</a:t>
            </a:fld>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fld id="{EA7988B2-9A38-4469-A73A-3A8A3875C86B}" type="slidenum">
              <a:rPr lang="en-US" altLang="en-US"/>
              <a:pPr/>
              <a:t>‹#›</a:t>
            </a:fld>
            <a:endParaRPr lang="en-US" altLang="en-US"/>
          </a:p>
        </p:txBody>
      </p:sp>
    </p:spTree>
    <p:extLst>
      <p:ext uri="{BB962C8B-B14F-4D97-AF65-F5344CB8AC3E}">
        <p14:creationId xmlns:p14="http://schemas.microsoft.com/office/powerpoint/2010/main" val="14841103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a:defRPr/>
            </a:pPr>
            <a:fld id="{43F8196F-BB54-4DF1-9DDF-EB61181FD455}" type="datetimeFigureOut">
              <a:rPr lang="en-US"/>
              <a:pPr>
                <a:defRPr/>
              </a:pPr>
              <a:t>12/11/2023</a:t>
            </a:fld>
            <a:endParaRPr lang="en-US"/>
          </a:p>
        </p:txBody>
      </p:sp>
      <p:sp>
        <p:nvSpPr>
          <p:cNvPr id="8"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fld id="{1069FD97-2CE7-4101-9BDA-A6CDF9D7F198}" type="slidenum">
              <a:rPr lang="en-US" altLang="en-US"/>
              <a:pPr/>
              <a:t>‹#›</a:t>
            </a:fld>
            <a:endParaRPr lang="en-US" altLang="en-US"/>
          </a:p>
        </p:txBody>
      </p:sp>
    </p:spTree>
    <p:extLst>
      <p:ext uri="{BB962C8B-B14F-4D97-AF65-F5344CB8AC3E}">
        <p14:creationId xmlns:p14="http://schemas.microsoft.com/office/powerpoint/2010/main" val="14988138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6" name="Date Placeholder 5"/>
          <p:cNvSpPr>
            <a:spLocks noGrp="1"/>
          </p:cNvSpPr>
          <p:nvPr>
            <p:ph type="dt" sz="half" idx="10"/>
          </p:nvPr>
        </p:nvSpPr>
        <p:spPr/>
        <p:txBody>
          <a:bodyPr/>
          <a:lstStyle/>
          <a:p>
            <a:pPr>
              <a:defRPr/>
            </a:pPr>
            <a:fld id="{401F176B-337D-4B0C-9E0F-CF98E924232A}" type="datetimeFigureOut">
              <a:rPr lang="en-US" smtClean="0"/>
              <a:pPr>
                <a:defRPr/>
              </a:pPr>
              <a:t>12/11/2023</a:t>
            </a:fld>
            <a:endParaRPr lang="en-US"/>
          </a:p>
        </p:txBody>
      </p:sp>
      <p:sp>
        <p:nvSpPr>
          <p:cNvPr id="7" name="Footer Placeholder 6"/>
          <p:cNvSpPr>
            <a:spLocks noGrp="1"/>
          </p:cNvSpPr>
          <p:nvPr>
            <p:ph type="ftr" sz="quarter" idx="11"/>
          </p:nvPr>
        </p:nvSpPr>
        <p:spPr>
          <a:xfrm>
            <a:off x="3124200" y="6356350"/>
            <a:ext cx="2895600" cy="365125"/>
          </a:xfrm>
          <a:prstGeom prst="rect">
            <a:avLst/>
          </a:prstGeom>
        </p:spPr>
        <p:txBody>
          <a:bodyPr/>
          <a:lstStyle/>
          <a:p>
            <a:pPr>
              <a:defRPr/>
            </a:pPr>
            <a:endParaRPr lang="en-US" dirty="0"/>
          </a:p>
        </p:txBody>
      </p:sp>
      <p:sp>
        <p:nvSpPr>
          <p:cNvPr id="8" name="Slide Number Placeholder 7"/>
          <p:cNvSpPr>
            <a:spLocks noGrp="1"/>
          </p:cNvSpPr>
          <p:nvPr>
            <p:ph type="sldNum" sz="quarter" idx="12"/>
          </p:nvPr>
        </p:nvSpPr>
        <p:spPr/>
        <p:txBody>
          <a:bodyPr/>
          <a:lstStyle/>
          <a:p>
            <a:fld id="{28A3EFAA-5F29-4212-A320-E00D10714EB8}" type="slidenum">
              <a:rPr lang="en-US" altLang="en-US" smtClean="0"/>
              <a:pPr/>
              <a:t>‹#›</a:t>
            </a:fld>
            <a:endParaRPr lang="en-US" altLang="en-US"/>
          </a:p>
        </p:txBody>
      </p:sp>
    </p:spTree>
    <p:extLst>
      <p:ext uri="{BB962C8B-B14F-4D97-AF65-F5344CB8AC3E}">
        <p14:creationId xmlns:p14="http://schemas.microsoft.com/office/powerpoint/2010/main" val="15011345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A7EF424A-0666-4F8A-AE0B-042263A2F523}" type="datetimeFigureOut">
              <a:rPr lang="en-US"/>
              <a:pPr>
                <a:defRPr/>
              </a:pPr>
              <a:t>12/11/2023</a:t>
            </a:fld>
            <a:endParaRPr lang="en-US"/>
          </a:p>
        </p:txBody>
      </p:sp>
      <p:sp>
        <p:nvSpPr>
          <p:cNvPr id="3" name="Footer Placeholder 4"/>
          <p:cNvSpPr>
            <a:spLocks noGrp="1"/>
          </p:cNvSpPr>
          <p:nvPr>
            <p:ph type="ftr" sz="quarter" idx="11"/>
          </p:nvPr>
        </p:nvSpPr>
        <p:spPr>
          <a:xfrm>
            <a:off x="3124200" y="6356350"/>
            <a:ext cx="2895600" cy="365125"/>
          </a:xfrm>
          <a:prstGeom prst="rect">
            <a:avLst/>
          </a:prstGeom>
        </p:spPr>
        <p:txBody>
          <a:bodyPr/>
          <a:lstStyle>
            <a:lvl1pPr>
              <a:defRPr sz="1000" baseline="0">
                <a:latin typeface="Arial" pitchFamily="34" charset="0"/>
                <a:cs typeface="Arial" pitchFamily="34" charset="0"/>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fld id="{98923256-9629-4751-9FC7-D9A617797BD9}" type="slidenum">
              <a:rPr lang="en-US" altLang="en-US"/>
              <a:pPr/>
              <a:t>‹#›</a:t>
            </a:fld>
            <a:endParaRPr lang="en-US" altLang="en-US"/>
          </a:p>
        </p:txBody>
      </p:sp>
    </p:spTree>
    <p:extLst>
      <p:ext uri="{BB962C8B-B14F-4D97-AF65-F5344CB8AC3E}">
        <p14:creationId xmlns:p14="http://schemas.microsoft.com/office/powerpoint/2010/main" val="3502221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DFBC957C-8A28-4346-A91E-3181E23B9FCE}" type="datetimeFigureOut">
              <a:rPr lang="en-US"/>
              <a:pPr>
                <a:defRPr/>
              </a:pPr>
              <a:t>12/11/2023</a:t>
            </a:fld>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fld id="{9223BBEA-FBE4-4D1C-948E-35E3FD648AC7}" type="slidenum">
              <a:rPr lang="en-US" altLang="en-US"/>
              <a:pPr/>
              <a:t>‹#›</a:t>
            </a:fld>
            <a:endParaRPr lang="en-US" altLang="en-US"/>
          </a:p>
        </p:txBody>
      </p:sp>
    </p:spTree>
    <p:extLst>
      <p:ext uri="{BB962C8B-B14F-4D97-AF65-F5344CB8AC3E}">
        <p14:creationId xmlns:p14="http://schemas.microsoft.com/office/powerpoint/2010/main" val="29191257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ABD414B3-CE71-4CAC-BF20-28E9BC6B1BBE}" type="datetimeFigureOut">
              <a:rPr lang="en-US"/>
              <a:pPr>
                <a:defRPr/>
              </a:pPr>
              <a:t>12/11/2023</a:t>
            </a:fld>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fld id="{BB0C2544-6AE1-4FFD-9204-B2754DEAA11A}" type="slidenum">
              <a:rPr lang="en-US" altLang="en-US"/>
              <a:pPr/>
              <a:t>‹#›</a:t>
            </a:fld>
            <a:endParaRPr lang="en-US" altLang="en-US"/>
          </a:p>
        </p:txBody>
      </p:sp>
    </p:spTree>
    <p:extLst>
      <p:ext uri="{BB962C8B-B14F-4D97-AF65-F5344CB8AC3E}">
        <p14:creationId xmlns:p14="http://schemas.microsoft.com/office/powerpoint/2010/main" val="37806670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2A489D59-B1E6-4DCF-8F4C-326D6ED2C2BE}" type="datetimeFigureOut">
              <a:rPr lang="en-US"/>
              <a:pPr>
                <a:defRPr/>
              </a:pPr>
              <a:t>12/11/2023</a:t>
            </a:fld>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fld id="{7DB8DA79-2483-40AE-83CF-C031752A90C3}" type="slidenum">
              <a:rPr lang="en-US" altLang="en-US"/>
              <a:pPr/>
              <a:t>‹#›</a:t>
            </a:fld>
            <a:endParaRPr lang="en-US" altLang="en-US"/>
          </a:p>
        </p:txBody>
      </p:sp>
    </p:spTree>
    <p:extLst>
      <p:ext uri="{BB962C8B-B14F-4D97-AF65-F5344CB8AC3E}">
        <p14:creationId xmlns:p14="http://schemas.microsoft.com/office/powerpoint/2010/main" val="243053786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F4BF2560-A50C-4A12-98A3-C5D77FC1843E}" type="datetimeFigureOut">
              <a:rPr lang="en-US"/>
              <a:pPr>
                <a:defRPr/>
              </a:pPr>
              <a:t>12/11/2023</a:t>
            </a:fld>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fld id="{BE28CD66-7605-4E45-9E45-CFA0ED8972E6}" type="slidenum">
              <a:rPr lang="en-US" altLang="en-US"/>
              <a:pPr/>
              <a:t>‹#›</a:t>
            </a:fld>
            <a:endParaRPr lang="en-US" altLang="en-US"/>
          </a:p>
        </p:txBody>
      </p:sp>
    </p:spTree>
    <p:extLst>
      <p:ext uri="{BB962C8B-B14F-4D97-AF65-F5344CB8AC3E}">
        <p14:creationId xmlns:p14="http://schemas.microsoft.com/office/powerpoint/2010/main" val="165566903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85800" y="228600"/>
            <a:ext cx="7772400" cy="1219200"/>
          </a:xfrm>
        </p:spPr>
        <p:txBody>
          <a:bodyPr/>
          <a:lstStyle/>
          <a:p>
            <a:r>
              <a:rPr lang="en-US"/>
              <a:t>Click to edit Master title style</a:t>
            </a:r>
          </a:p>
        </p:txBody>
      </p:sp>
      <p:sp>
        <p:nvSpPr>
          <p:cNvPr id="3" name="Text Placeholder 2"/>
          <p:cNvSpPr>
            <a:spLocks noGrp="1"/>
          </p:cNvSpPr>
          <p:nvPr>
            <p:ph type="body" sz="half" idx="1"/>
          </p:nvPr>
        </p:nvSpPr>
        <p:spPr>
          <a:xfrm>
            <a:off x="685800" y="1641475"/>
            <a:ext cx="3810000" cy="44545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41475"/>
            <a:ext cx="3810000" cy="44545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74918662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OverTx">
  <p:cSld name="Title and Content over Text">
    <p:spTree>
      <p:nvGrpSpPr>
        <p:cNvPr id="1" name=""/>
        <p:cNvGrpSpPr/>
        <p:nvPr/>
      </p:nvGrpSpPr>
      <p:grpSpPr>
        <a:xfrm>
          <a:off x="0" y="0"/>
          <a:ext cx="0" cy="0"/>
          <a:chOff x="0" y="0"/>
          <a:chExt cx="0" cy="0"/>
        </a:xfrm>
      </p:grpSpPr>
      <p:sp>
        <p:nvSpPr>
          <p:cNvPr id="2" name="Title 1"/>
          <p:cNvSpPr>
            <a:spLocks noGrp="1"/>
          </p:cNvSpPr>
          <p:nvPr>
            <p:ph type="title"/>
          </p:nvPr>
        </p:nvSpPr>
        <p:spPr>
          <a:xfrm>
            <a:off x="685800" y="228600"/>
            <a:ext cx="7772400" cy="1219200"/>
          </a:xfrm>
        </p:spPr>
        <p:txBody>
          <a:bodyPr/>
          <a:lstStyle/>
          <a:p>
            <a:r>
              <a:rPr lang="en-US"/>
              <a:t>Click to edit Master title style</a:t>
            </a:r>
          </a:p>
        </p:txBody>
      </p:sp>
      <p:sp>
        <p:nvSpPr>
          <p:cNvPr id="3" name="Content Placeholder 2"/>
          <p:cNvSpPr>
            <a:spLocks noGrp="1"/>
          </p:cNvSpPr>
          <p:nvPr>
            <p:ph sz="half" idx="1"/>
          </p:nvPr>
        </p:nvSpPr>
        <p:spPr>
          <a:xfrm>
            <a:off x="685800" y="1641475"/>
            <a:ext cx="7772400" cy="21510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85800" y="3944938"/>
            <a:ext cx="7772400" cy="21510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8082588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Text Placeholder 2"/>
          <p:cNvSpPr>
            <a:spLocks noGrp="1"/>
          </p:cNvSpPr>
          <p:nvPr>
            <p:ph type="body" idx="1"/>
          </p:nvPr>
        </p:nvSpPr>
        <p:spPr bwMode="auto">
          <a:xfrm>
            <a:off x="457200" y="1600200"/>
            <a:ext cx="8229600" cy="452596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eaLnBrk="1" hangingPunct="1">
              <a:defRPr sz="1200">
                <a:solidFill>
                  <a:schemeClr val="tx1">
                    <a:tint val="75000"/>
                  </a:schemeClr>
                </a:solidFill>
              </a:defRPr>
            </a:lvl1pPr>
          </a:lstStyle>
          <a:p>
            <a:pPr>
              <a:defRPr/>
            </a:pPr>
            <a:fld id="{401F176B-337D-4B0C-9E0F-CF98E924232A}" type="datetimeFigureOut">
              <a:rPr lang="en-US"/>
              <a:pPr>
                <a:defRPr/>
              </a:pPr>
              <a:t>12/11/2023</a:t>
            </a:fld>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a:solidFill>
                  <a:srgbClr val="898989"/>
                </a:solidFill>
              </a:defRPr>
            </a:lvl1pPr>
          </a:lstStyle>
          <a:p>
            <a:fld id="{28A3EFAA-5F29-4212-A320-E00D10714EB8}" type="slidenum">
              <a:rPr lang="en-US" altLang="en-US"/>
              <a:pPr/>
              <a:t>‹#›</a:t>
            </a:fld>
            <a:endParaRPr lang="en-US" altLang="en-US"/>
          </a:p>
        </p:txBody>
      </p:sp>
      <p:sp>
        <p:nvSpPr>
          <p:cNvPr id="1032" name="Text Box 5"/>
          <p:cNvSpPr txBox="1">
            <a:spLocks noChangeArrowheads="1"/>
          </p:cNvSpPr>
          <p:nvPr userDrawn="1"/>
        </p:nvSpPr>
        <p:spPr bwMode="auto">
          <a:xfrm>
            <a:off x="7696200" y="6461125"/>
            <a:ext cx="1143000" cy="2444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pPr algn="r" eaLnBrk="1" hangingPunct="1">
              <a:spcBef>
                <a:spcPct val="50000"/>
              </a:spcBef>
            </a:pPr>
            <a:fld id="{0FF5DB33-233E-420C-BB96-6F4A112866E6}" type="slidenum">
              <a:rPr lang="en-US" altLang="en-US" sz="1000">
                <a:latin typeface="Arial" panose="020B0604020202020204" pitchFamily="34" charset="0"/>
                <a:cs typeface="Arial" panose="020B0604020202020204" pitchFamily="34" charset="0"/>
              </a:rPr>
              <a:pPr algn="r" eaLnBrk="1" hangingPunct="1">
                <a:spcBef>
                  <a:spcPct val="50000"/>
                </a:spcBef>
              </a:pPr>
              <a:t>‹#›</a:t>
            </a:fld>
            <a:endParaRPr lang="en-US" altLang="en-US" sz="1000">
              <a:latin typeface="Arial" panose="020B0604020202020204" pitchFamily="34" charset="0"/>
              <a:cs typeface="Arial" panose="020B0604020202020204" pitchFamily="34" charset="0"/>
            </a:endParaRPr>
          </a:p>
        </p:txBody>
      </p:sp>
      <p:pic>
        <p:nvPicPr>
          <p:cNvPr id="7" name="Picture 6">
            <a:extLst>
              <a:ext uri="{FF2B5EF4-FFF2-40B4-BE49-F238E27FC236}">
                <a16:creationId xmlns:a16="http://schemas.microsoft.com/office/drawing/2014/main" id="{0A06362F-DEBD-3673-2A8E-C2E953284F09}"/>
              </a:ext>
            </a:extLst>
          </p:cNvPr>
          <p:cNvPicPr>
            <a:picLocks noChangeAspect="1"/>
          </p:cNvPicPr>
          <p:nvPr userDrawn="1"/>
        </p:nvPicPr>
        <p:blipFill>
          <a:blip r:embed="rId16"/>
          <a:stretch>
            <a:fillRect/>
          </a:stretch>
        </p:blipFill>
        <p:spPr>
          <a:xfrm>
            <a:off x="3041871" y="6478581"/>
            <a:ext cx="3118010" cy="209561"/>
          </a:xfrm>
          <a:prstGeom prst="rect">
            <a:avLst/>
          </a:prstGeom>
        </p:spPr>
      </p:pic>
    </p:spTree>
  </p:cSld>
  <p:clrMap bg1="lt1" tx1="dk1" bg2="lt2" tx2="dk2" accent1="accent1" accent2="accent2" accent3="accent3" accent4="accent4" accent5="accent5" accent6="accent6" hlink="hlink" folHlink="folHlink"/>
  <p:sldLayoutIdLst>
    <p:sldLayoutId id="2147483948" r:id="rId1"/>
    <p:sldLayoutId id="2147483951" r:id="rId2"/>
    <p:sldLayoutId id="2147483939" r:id="rId3"/>
    <p:sldLayoutId id="2147483940" r:id="rId4"/>
    <p:sldLayoutId id="2147483941" r:id="rId5"/>
    <p:sldLayoutId id="2147483942" r:id="rId6"/>
    <p:sldLayoutId id="2147483943" r:id="rId7"/>
    <p:sldLayoutId id="2147483949" r:id="rId8"/>
    <p:sldLayoutId id="2147483944" r:id="rId9"/>
    <p:sldLayoutId id="2147483945" r:id="rId10"/>
    <p:sldLayoutId id="2147483946" r:id="rId11"/>
    <p:sldLayoutId id="2147483947" r:id="rId12"/>
    <p:sldLayoutId id="2147483952" r:id="rId13"/>
    <p:sldLayoutId id="2147483953" r:id="rId14"/>
  </p:sldLayoutIdLst>
  <p:hf sldNum="0" hd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20.xml"/><Relationship Id="rId1" Type="http://schemas.openxmlformats.org/officeDocument/2006/relationships/slideLayout" Target="../slideLayouts/slideLayout6.xml"/><Relationship Id="rId4" Type="http://schemas.openxmlformats.org/officeDocument/2006/relationships/image" Target="../media/image9.jpe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73.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76.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30.xml"/><Relationship Id="rId1" Type="http://schemas.openxmlformats.org/officeDocument/2006/relationships/slideLayout" Target="../slideLayouts/slideLayout6.xml"/><Relationship Id="rId4" Type="http://schemas.openxmlformats.org/officeDocument/2006/relationships/image" Target="../media/image12.jpeg"/></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80.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34.xml"/><Relationship Id="rId1" Type="http://schemas.openxmlformats.org/officeDocument/2006/relationships/slideLayout" Target="../slideLayouts/slideLayout5.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82.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36.xml"/><Relationship Id="rId1" Type="http://schemas.openxmlformats.org/officeDocument/2006/relationships/slideLayout" Target="../slideLayouts/slideLayout5.xml"/></Relationships>
</file>

<file path=ppt/slides/_rels/slide83.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37.xml"/><Relationship Id="rId1" Type="http://schemas.openxmlformats.org/officeDocument/2006/relationships/slideLayout" Target="../slideLayouts/slideLayout5.xml"/></Relationships>
</file>

<file path=ppt/slides/_rels/slide84.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38.xml"/><Relationship Id="rId1" Type="http://schemas.openxmlformats.org/officeDocument/2006/relationships/slideLayout" Target="../slideLayouts/slideLayout5.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The Language of Medicine</a:t>
            </a:r>
            <a:br>
              <a:rPr lang="en-US" dirty="0"/>
            </a:br>
            <a:r>
              <a:rPr lang="en-US" dirty="0"/>
              <a:t>13</a:t>
            </a:r>
            <a:r>
              <a:rPr lang="en-US" baseline="30000" dirty="0"/>
              <a:t>th</a:t>
            </a:r>
            <a:r>
              <a:rPr lang="en-US" dirty="0"/>
              <a:t> edition</a:t>
            </a:r>
          </a:p>
        </p:txBody>
      </p:sp>
      <p:sp>
        <p:nvSpPr>
          <p:cNvPr id="3" name="Subtitle 2"/>
          <p:cNvSpPr>
            <a:spLocks noGrp="1"/>
          </p:cNvSpPr>
          <p:nvPr>
            <p:ph type="subTitle" idx="1"/>
          </p:nvPr>
        </p:nvSpPr>
        <p:spPr/>
        <p:txBody>
          <a:bodyPr/>
          <a:lstStyle/>
          <a:p>
            <a:r>
              <a:rPr lang="en-US" dirty="0" err="1">
                <a:solidFill>
                  <a:schemeClr val="tx1"/>
                </a:solidFill>
              </a:rPr>
              <a:t>Davi</a:t>
            </a:r>
            <a:r>
              <a:rPr lang="en-US" dirty="0">
                <a:solidFill>
                  <a:schemeClr val="tx1"/>
                </a:solidFill>
              </a:rPr>
              <a:t>-Ellen </a:t>
            </a:r>
            <a:r>
              <a:rPr lang="en-US" dirty="0" err="1">
                <a:solidFill>
                  <a:schemeClr val="tx1"/>
                </a:solidFill>
              </a:rPr>
              <a:t>Chabner</a:t>
            </a:r>
            <a:endParaRPr lang="en-US" dirty="0">
              <a:solidFill>
                <a:schemeClr val="tx1"/>
              </a:solidFill>
            </a:endParaRPr>
          </a:p>
        </p:txBody>
      </p:sp>
    </p:spTree>
    <p:extLst>
      <p:ext uri="{BB962C8B-B14F-4D97-AF65-F5344CB8AC3E}">
        <p14:creationId xmlns:p14="http://schemas.microsoft.com/office/powerpoint/2010/main" val="14282889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4741" name="Rectangle 5"/>
          <p:cNvSpPr>
            <a:spLocks noGrp="1" noChangeArrowheads="1"/>
          </p:cNvSpPr>
          <p:nvPr>
            <p:ph type="title"/>
          </p:nvPr>
        </p:nvSpPr>
        <p:spPr>
          <a:xfrm>
            <a:off x="1371600" y="230188"/>
            <a:ext cx="6477000" cy="1219200"/>
          </a:xfrm>
        </p:spPr>
        <p:txBody>
          <a:bodyPr rtlCol="0">
            <a:normAutofit fontScale="90000"/>
          </a:bodyPr>
          <a:lstStyle/>
          <a:p>
            <a:pPr eaLnBrk="1" fontAlgn="auto" hangingPunct="1">
              <a:spcAft>
                <a:spcPts val="0"/>
              </a:spcAft>
              <a:defRPr/>
            </a:pPr>
            <a:r>
              <a:rPr lang="en-US" dirty="0"/>
              <a:t>Chapter 8 </a:t>
            </a:r>
            <a:br>
              <a:rPr lang="en-US" dirty="0"/>
            </a:br>
            <a:r>
              <a:rPr lang="en-US" dirty="0"/>
              <a:t>Female Reproductive System</a:t>
            </a:r>
          </a:p>
        </p:txBody>
      </p:sp>
    </p:spTree>
    <p:extLst>
      <p:ext uri="{BB962C8B-B14F-4D97-AF65-F5344CB8AC3E}">
        <p14:creationId xmlns:p14="http://schemas.microsoft.com/office/powerpoint/2010/main" val="20657210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914400" y="228600"/>
            <a:ext cx="7315200" cy="1143000"/>
          </a:xfrm>
        </p:spPr>
        <p:txBody>
          <a:bodyPr/>
          <a:lstStyle/>
          <a:p>
            <a:pPr eaLnBrk="1" hangingPunct="1"/>
            <a:r>
              <a:rPr lang="en-US" altLang="en-US" sz="4800" dirty="0"/>
              <a:t>I</a:t>
            </a:r>
            <a:r>
              <a:rPr lang="en-US" altLang="en-US" dirty="0"/>
              <a:t>ntroduction (Slide 1 of 3)</a:t>
            </a:r>
          </a:p>
        </p:txBody>
      </p:sp>
      <p:sp>
        <p:nvSpPr>
          <p:cNvPr id="10243" name="Rectangle 3"/>
          <p:cNvSpPr>
            <a:spLocks noGrp="1" noChangeArrowheads="1"/>
          </p:cNvSpPr>
          <p:nvPr>
            <p:ph idx="1"/>
          </p:nvPr>
        </p:nvSpPr>
        <p:spPr>
          <a:xfrm>
            <a:off x="685800" y="1600200"/>
            <a:ext cx="6400800" cy="4724400"/>
          </a:xfrm>
        </p:spPr>
        <p:txBody>
          <a:bodyPr/>
          <a:lstStyle/>
          <a:p>
            <a:pPr eaLnBrk="1" hangingPunct="1">
              <a:buFont typeface="Wingdings 2" panose="05020102010507070707" pitchFamily="18" charset="2"/>
              <a:buNone/>
            </a:pPr>
            <a:r>
              <a:rPr lang="en-US" altLang="en-US" b="1"/>
              <a:t>Sexual reproduction </a:t>
            </a:r>
          </a:p>
          <a:p>
            <a:pPr lvl="1" eaLnBrk="1" hangingPunct="1">
              <a:buFont typeface="Wingdings" panose="05000000000000000000" pitchFamily="2" charset="2"/>
              <a:buChar char="Ø"/>
            </a:pPr>
            <a:r>
              <a:rPr lang="en-US" altLang="en-US"/>
              <a:t>This is the union of the nuclei of ovum and sperm cell.</a:t>
            </a:r>
          </a:p>
          <a:p>
            <a:pPr lvl="1" eaLnBrk="1" hangingPunct="1">
              <a:buFont typeface="Wingdings" panose="05000000000000000000" pitchFamily="2" charset="2"/>
              <a:buChar char="Ø"/>
            </a:pPr>
            <a:r>
              <a:rPr lang="en-US" altLang="en-US"/>
              <a:t>Ovum and sperm cells are called gametes.</a:t>
            </a:r>
          </a:p>
          <a:p>
            <a:pPr lvl="1" eaLnBrk="1" hangingPunct="1">
              <a:buFont typeface="Wingdings" panose="05000000000000000000" pitchFamily="2" charset="2"/>
              <a:buChar char="Ø"/>
            </a:pPr>
            <a:r>
              <a:rPr lang="en-US" altLang="en-US"/>
              <a:t>Each gamete contains half the number of chromosomes of a normal body cell.</a:t>
            </a:r>
          </a:p>
        </p:txBody>
      </p:sp>
    </p:spTree>
    <p:extLst>
      <p:ext uri="{BB962C8B-B14F-4D97-AF65-F5344CB8AC3E}">
        <p14:creationId xmlns:p14="http://schemas.microsoft.com/office/powerpoint/2010/main" val="28550562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7"/>
          <p:cNvSpPr>
            <a:spLocks noGrp="1" noChangeArrowheads="1"/>
          </p:cNvSpPr>
          <p:nvPr>
            <p:ph type="title"/>
          </p:nvPr>
        </p:nvSpPr>
        <p:spPr>
          <a:xfrm>
            <a:off x="914400" y="228600"/>
            <a:ext cx="7315200" cy="1143000"/>
          </a:xfrm>
        </p:spPr>
        <p:txBody>
          <a:bodyPr/>
          <a:lstStyle/>
          <a:p>
            <a:pPr eaLnBrk="1" hangingPunct="1"/>
            <a:r>
              <a:rPr lang="en-US" altLang="en-US" sz="4800" dirty="0"/>
              <a:t>I</a:t>
            </a:r>
            <a:r>
              <a:rPr lang="en-US" altLang="en-US" dirty="0"/>
              <a:t>ntroduction (Slide 2 of 3)</a:t>
            </a:r>
          </a:p>
        </p:txBody>
      </p:sp>
      <p:sp>
        <p:nvSpPr>
          <p:cNvPr id="11267" name="Rectangle 8"/>
          <p:cNvSpPr>
            <a:spLocks noGrp="1" noChangeArrowheads="1"/>
          </p:cNvSpPr>
          <p:nvPr>
            <p:ph idx="1"/>
          </p:nvPr>
        </p:nvSpPr>
        <p:spPr>
          <a:xfrm>
            <a:off x="685800" y="1600200"/>
            <a:ext cx="6400800" cy="4724400"/>
          </a:xfrm>
        </p:spPr>
        <p:txBody>
          <a:bodyPr/>
          <a:lstStyle/>
          <a:p>
            <a:pPr eaLnBrk="1" hangingPunct="1">
              <a:buFont typeface="Wingdings 2" panose="05020102010507070707" pitchFamily="18" charset="2"/>
              <a:buNone/>
            </a:pPr>
            <a:r>
              <a:rPr lang="en-US" altLang="en-US" b="1"/>
              <a:t>Gametes </a:t>
            </a:r>
            <a:r>
              <a:rPr lang="en-US" altLang="en-US" b="1" i="1"/>
              <a:t>(ovum and sperm cell)</a:t>
            </a:r>
          </a:p>
          <a:p>
            <a:pPr lvl="1" eaLnBrk="1" hangingPunct="1">
              <a:buFont typeface="Wingdings" panose="05000000000000000000" pitchFamily="2" charset="2"/>
              <a:buChar char="Ø"/>
            </a:pPr>
            <a:r>
              <a:rPr lang="en-US" altLang="en-US"/>
              <a:t>Gametes are produced in the gonads.</a:t>
            </a:r>
          </a:p>
          <a:p>
            <a:pPr lvl="1" eaLnBrk="1" hangingPunct="1">
              <a:buFont typeface="Wingdings" panose="05000000000000000000" pitchFamily="2" charset="2"/>
              <a:buChar char="Ø"/>
            </a:pPr>
            <a:r>
              <a:rPr lang="en-US" altLang="en-US"/>
              <a:t>Female gonads are the ovaries; male gonads are the testes.</a:t>
            </a:r>
          </a:p>
        </p:txBody>
      </p:sp>
    </p:spTree>
    <p:extLst>
      <p:ext uri="{BB962C8B-B14F-4D97-AF65-F5344CB8AC3E}">
        <p14:creationId xmlns:p14="http://schemas.microsoft.com/office/powerpoint/2010/main" val="29164400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11"/>
          <p:cNvSpPr>
            <a:spLocks noGrp="1" noChangeArrowheads="1"/>
          </p:cNvSpPr>
          <p:nvPr>
            <p:ph type="title"/>
          </p:nvPr>
        </p:nvSpPr>
        <p:spPr>
          <a:xfrm>
            <a:off x="914400" y="228600"/>
            <a:ext cx="7315200" cy="1143000"/>
          </a:xfrm>
        </p:spPr>
        <p:txBody>
          <a:bodyPr/>
          <a:lstStyle/>
          <a:p>
            <a:pPr eaLnBrk="1" hangingPunct="1"/>
            <a:r>
              <a:rPr lang="en-US" altLang="en-US" sz="4800" dirty="0"/>
              <a:t>I</a:t>
            </a:r>
            <a:r>
              <a:rPr lang="en-US" altLang="en-US" dirty="0"/>
              <a:t>ntroduction (Slide 3 of 3)</a:t>
            </a:r>
          </a:p>
        </p:txBody>
      </p:sp>
      <p:sp>
        <p:nvSpPr>
          <p:cNvPr id="12291" name="Rectangle 8"/>
          <p:cNvSpPr>
            <a:spLocks noGrp="1" noChangeArrowheads="1"/>
          </p:cNvSpPr>
          <p:nvPr>
            <p:ph idx="1"/>
          </p:nvPr>
        </p:nvSpPr>
        <p:spPr>
          <a:xfrm>
            <a:off x="685800" y="1600200"/>
            <a:ext cx="7315200" cy="4114800"/>
          </a:xfrm>
        </p:spPr>
        <p:txBody>
          <a:bodyPr/>
          <a:lstStyle/>
          <a:p>
            <a:pPr eaLnBrk="1" hangingPunct="1">
              <a:buFont typeface="Wingdings 2" panose="05020102010507070707" pitchFamily="18" charset="2"/>
              <a:buNone/>
            </a:pPr>
            <a:r>
              <a:rPr lang="en-US" altLang="en-US" b="1"/>
              <a:t>Fertilization</a:t>
            </a:r>
            <a:endParaRPr lang="en-US" altLang="en-US"/>
          </a:p>
          <a:p>
            <a:pPr lvl="1" eaLnBrk="1" hangingPunct="1">
              <a:buFont typeface="Wingdings" panose="05000000000000000000" pitchFamily="2" charset="2"/>
              <a:buChar char="Ø"/>
            </a:pPr>
            <a:r>
              <a:rPr lang="en-US" altLang="en-US"/>
              <a:t>An ovum leaves the ovaries and travels through the fallopian tube.</a:t>
            </a:r>
          </a:p>
          <a:p>
            <a:pPr lvl="1" eaLnBrk="1" hangingPunct="1">
              <a:buFont typeface="Wingdings" panose="05000000000000000000" pitchFamily="2" charset="2"/>
              <a:buChar char="Ø"/>
            </a:pPr>
            <a:r>
              <a:rPr lang="en-US" altLang="en-US"/>
              <a:t>Fertilization takes place if sperm cells are present and unite with the ovum. </a:t>
            </a:r>
          </a:p>
          <a:p>
            <a:pPr lvl="1" eaLnBrk="1" hangingPunct="1">
              <a:buFont typeface="Wingdings" panose="05000000000000000000" pitchFamily="2" charset="2"/>
              <a:buChar char="Ø"/>
            </a:pPr>
            <a:r>
              <a:rPr lang="en-US" altLang="en-US"/>
              <a:t>The fertilized egg implants then divides to form a ball of cells, called a zygote (and later an embryo and then a fetus).</a:t>
            </a:r>
          </a:p>
        </p:txBody>
      </p:sp>
    </p:spTree>
    <p:extLst>
      <p:ext uri="{BB962C8B-B14F-4D97-AF65-F5344CB8AC3E}">
        <p14:creationId xmlns:p14="http://schemas.microsoft.com/office/powerpoint/2010/main" val="27570627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600" dirty="0"/>
              <a:t>Organs of the </a:t>
            </a:r>
            <a:br>
              <a:rPr lang="en-US" altLang="en-US" sz="3600" dirty="0"/>
            </a:br>
            <a:r>
              <a:rPr lang="en-US" altLang="en-US" sz="3600" dirty="0"/>
              <a:t>  Female Reproductive System (slide 1 of 6)</a:t>
            </a:r>
            <a:endParaRPr lang="es-419" sz="3600" dirty="0"/>
          </a:p>
        </p:txBody>
      </p:sp>
      <p:sp>
        <p:nvSpPr>
          <p:cNvPr id="3" name="Content Placeholder 2"/>
          <p:cNvSpPr>
            <a:spLocks noGrp="1"/>
          </p:cNvSpPr>
          <p:nvPr>
            <p:ph idx="1"/>
          </p:nvPr>
        </p:nvSpPr>
        <p:spPr>
          <a:xfrm>
            <a:off x="457200" y="1600200"/>
            <a:ext cx="8229600" cy="4756150"/>
          </a:xfrm>
        </p:spPr>
        <p:txBody>
          <a:bodyPr/>
          <a:lstStyle/>
          <a:p>
            <a:pPr eaLnBrk="1" hangingPunct="1">
              <a:buNone/>
            </a:pPr>
            <a:r>
              <a:rPr lang="en-US" altLang="en-US" sz="3600" dirty="0"/>
              <a:t>Organs of the female reproductive system (lateral view):</a:t>
            </a:r>
          </a:p>
          <a:p>
            <a:pPr lvl="1" eaLnBrk="1" hangingPunct="1">
              <a:buFont typeface="Wingdings" panose="05000000000000000000" pitchFamily="2" charset="2"/>
              <a:buChar char="§"/>
            </a:pPr>
            <a:r>
              <a:rPr lang="en-US" altLang="en-US" sz="2400" dirty="0"/>
              <a:t> Ovaries</a:t>
            </a:r>
          </a:p>
          <a:p>
            <a:pPr lvl="1" eaLnBrk="1" hangingPunct="1">
              <a:buFont typeface="Wingdings" panose="05000000000000000000" pitchFamily="2" charset="2"/>
              <a:buChar char="§"/>
            </a:pPr>
            <a:r>
              <a:rPr lang="en-US" altLang="en-US" sz="2400" dirty="0"/>
              <a:t>Fallopian tubes</a:t>
            </a:r>
          </a:p>
          <a:p>
            <a:pPr lvl="1" eaLnBrk="1" hangingPunct="1">
              <a:buFont typeface="Wingdings" panose="05000000000000000000" pitchFamily="2" charset="2"/>
              <a:buChar char="§"/>
            </a:pPr>
            <a:r>
              <a:rPr lang="en-US" altLang="en-US" sz="2400" dirty="0"/>
              <a:t>Uterus</a:t>
            </a:r>
          </a:p>
          <a:p>
            <a:pPr lvl="1" eaLnBrk="1" hangingPunct="1">
              <a:buFont typeface="Wingdings" panose="05000000000000000000" pitchFamily="2" charset="2"/>
              <a:buChar char="§"/>
            </a:pPr>
            <a:r>
              <a:rPr lang="en-US" altLang="en-US" sz="2400" dirty="0"/>
              <a:t>Cul-de-sac</a:t>
            </a:r>
          </a:p>
          <a:p>
            <a:pPr lvl="1" eaLnBrk="1" hangingPunct="1">
              <a:buFont typeface="Wingdings" panose="05000000000000000000" pitchFamily="2" charset="2"/>
              <a:buChar char="§"/>
            </a:pPr>
            <a:r>
              <a:rPr lang="en-US" altLang="en-US" sz="2400" dirty="0"/>
              <a:t>Vagina</a:t>
            </a:r>
          </a:p>
          <a:p>
            <a:pPr lvl="1" eaLnBrk="1" hangingPunct="1">
              <a:buFont typeface="Wingdings" panose="05000000000000000000" pitchFamily="2" charset="2"/>
              <a:buChar char="§"/>
            </a:pPr>
            <a:r>
              <a:rPr lang="en-US" altLang="en-US" sz="2400" dirty="0"/>
              <a:t>Bartholin glands</a:t>
            </a:r>
          </a:p>
          <a:p>
            <a:pPr lvl="1" eaLnBrk="1" hangingPunct="1">
              <a:buFont typeface="Wingdings" panose="05000000000000000000" pitchFamily="2" charset="2"/>
              <a:buChar char="§"/>
            </a:pPr>
            <a:r>
              <a:rPr lang="en-US" altLang="en-US" sz="2400" dirty="0"/>
              <a:t>Clitoris</a:t>
            </a:r>
          </a:p>
          <a:p>
            <a:pPr lvl="1" eaLnBrk="1" hangingPunct="1">
              <a:buFont typeface="Wingdings" panose="05000000000000000000" pitchFamily="2" charset="2"/>
              <a:buChar char="§"/>
            </a:pPr>
            <a:r>
              <a:rPr lang="en-US" altLang="en-US" sz="2400" dirty="0"/>
              <a:t>Perineum</a:t>
            </a:r>
          </a:p>
          <a:p>
            <a:endParaRPr lang="es-419" dirty="0"/>
          </a:p>
        </p:txBody>
      </p:sp>
    </p:spTree>
    <p:extLst>
      <p:ext uri="{BB962C8B-B14F-4D97-AF65-F5344CB8AC3E}">
        <p14:creationId xmlns:p14="http://schemas.microsoft.com/office/powerpoint/2010/main" val="32302614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414068"/>
            <a:ext cx="8305800" cy="1141413"/>
          </a:xfrm>
        </p:spPr>
        <p:txBody>
          <a:bodyPr/>
          <a:lstStyle/>
          <a:p>
            <a:r>
              <a:rPr lang="en-US" altLang="en-US" sz="3600" dirty="0"/>
              <a:t>Organs of the </a:t>
            </a:r>
            <a:br>
              <a:rPr lang="en-US" altLang="en-US" sz="3600" dirty="0"/>
            </a:br>
            <a:r>
              <a:rPr lang="en-US" altLang="en-US" sz="3600" dirty="0"/>
              <a:t>  Female Reproductive System </a:t>
            </a:r>
            <a:r>
              <a:rPr lang="en-US" altLang="en-US" sz="3200" dirty="0"/>
              <a:t>(slide 2 of 6)</a:t>
            </a:r>
            <a:br>
              <a:rPr lang="en-US" dirty="0"/>
            </a:br>
            <a:endParaRPr lang="es-419" dirty="0"/>
          </a:p>
        </p:txBody>
      </p:sp>
      <p:sp>
        <p:nvSpPr>
          <p:cNvPr id="3" name="Content Placeholder 2"/>
          <p:cNvSpPr>
            <a:spLocks noGrp="1"/>
          </p:cNvSpPr>
          <p:nvPr>
            <p:ph sz="half" idx="1"/>
          </p:nvPr>
        </p:nvSpPr>
        <p:spPr>
          <a:xfrm>
            <a:off x="836543" y="1600200"/>
            <a:ext cx="4038600" cy="1447800"/>
          </a:xfrm>
        </p:spPr>
        <p:txBody>
          <a:bodyPr/>
          <a:lstStyle/>
          <a:p>
            <a:r>
              <a:rPr lang="en-US" altLang="en-US" dirty="0"/>
              <a:t>Organs of the female reproductive system (lateral view)</a:t>
            </a:r>
          </a:p>
          <a:p>
            <a:endParaRPr lang="es-419" dirty="0"/>
          </a:p>
        </p:txBody>
      </p:sp>
      <p:pic>
        <p:nvPicPr>
          <p:cNvPr id="6" name="Picture 11" descr="Organs of the female reproductive system (lateral view) include the ovaries, fallopian tubes, uterus, cul-de-sac, vagina Bartholin glands, clitoris, and perineum."/>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3733800" y="2590800"/>
            <a:ext cx="4953000" cy="337366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462033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xfrm>
            <a:off x="381000" y="228600"/>
            <a:ext cx="7772400" cy="1219200"/>
          </a:xfrm>
        </p:spPr>
        <p:txBody>
          <a:bodyPr/>
          <a:lstStyle/>
          <a:p>
            <a:pPr eaLnBrk="1" hangingPunct="1"/>
            <a:r>
              <a:rPr lang="en-US" altLang="en-US" dirty="0"/>
              <a:t>      QUICK QUIZ (Slide 1 of 5)	</a:t>
            </a:r>
          </a:p>
        </p:txBody>
      </p:sp>
      <p:sp>
        <p:nvSpPr>
          <p:cNvPr id="15363" name="Rectangle 3"/>
          <p:cNvSpPr>
            <a:spLocks noGrp="1" noChangeArrowheads="1"/>
          </p:cNvSpPr>
          <p:nvPr>
            <p:ph idx="1"/>
          </p:nvPr>
        </p:nvSpPr>
        <p:spPr>
          <a:xfrm>
            <a:off x="685800" y="1600200"/>
            <a:ext cx="6934200" cy="4078681"/>
          </a:xfrm>
        </p:spPr>
        <p:txBody>
          <a:bodyPr>
            <a:spAutoFit/>
          </a:bodyPr>
          <a:lstStyle/>
          <a:p>
            <a:pPr marL="533400" indent="-533400" eaLnBrk="1" hangingPunct="1">
              <a:lnSpc>
                <a:spcPct val="80000"/>
              </a:lnSpc>
              <a:buFont typeface="Arial" panose="020B0604020202020204" pitchFamily="34" charset="0"/>
              <a:buAutoNum type="arabicPeriod"/>
            </a:pPr>
            <a:r>
              <a:rPr lang="en-US" altLang="en-US" b="1" dirty="0"/>
              <a:t>The fertilized egg implants, then divides to form a ball of cells, called a(n):</a:t>
            </a:r>
          </a:p>
          <a:p>
            <a:pPr marL="533400" indent="-533400" eaLnBrk="1" hangingPunct="1">
              <a:lnSpc>
                <a:spcPct val="80000"/>
              </a:lnSpc>
              <a:buFont typeface="Arial" panose="020B0604020202020204" pitchFamily="34" charset="0"/>
              <a:buAutoNum type="arabicPeriod"/>
            </a:pPr>
            <a:endParaRPr lang="en-US" altLang="en-US" sz="3600" dirty="0"/>
          </a:p>
          <a:p>
            <a:pPr marL="914400" lvl="1" indent="-457200" eaLnBrk="1" hangingPunct="1">
              <a:lnSpc>
                <a:spcPct val="65000"/>
              </a:lnSpc>
              <a:buFont typeface="Arial" panose="020B0604020202020204" pitchFamily="34" charset="0"/>
              <a:buAutoNum type="alphaUcPeriod"/>
            </a:pPr>
            <a:r>
              <a:rPr lang="en-US" altLang="en-US" sz="3200" dirty="0"/>
              <a:t>embryo</a:t>
            </a:r>
          </a:p>
          <a:p>
            <a:pPr marL="914400" lvl="1" indent="-457200" eaLnBrk="1" hangingPunct="1">
              <a:lnSpc>
                <a:spcPct val="65000"/>
              </a:lnSpc>
              <a:buFont typeface="Arial" panose="020B0604020202020204" pitchFamily="34" charset="0"/>
              <a:buAutoNum type="alphaUcPeriod"/>
            </a:pPr>
            <a:r>
              <a:rPr lang="en-US" altLang="en-US" sz="3200" dirty="0"/>
              <a:t>fetus</a:t>
            </a:r>
          </a:p>
          <a:p>
            <a:pPr marL="914400" lvl="1" indent="-457200" eaLnBrk="1" hangingPunct="1">
              <a:lnSpc>
                <a:spcPct val="65000"/>
              </a:lnSpc>
              <a:buFont typeface="Arial" panose="020B0604020202020204" pitchFamily="34" charset="0"/>
              <a:buAutoNum type="alphaUcPeriod"/>
            </a:pPr>
            <a:r>
              <a:rPr lang="en-US" altLang="en-US" sz="3200" dirty="0"/>
              <a:t>follicle</a:t>
            </a:r>
          </a:p>
          <a:p>
            <a:pPr marL="914400" lvl="1" indent="-457200" eaLnBrk="1" hangingPunct="1">
              <a:lnSpc>
                <a:spcPct val="80000"/>
              </a:lnSpc>
              <a:buFont typeface="Arial" panose="020B0604020202020204" pitchFamily="34" charset="0"/>
              <a:buAutoNum type="alphaUcPeriod"/>
            </a:pPr>
            <a:r>
              <a:rPr lang="en-US" altLang="en-US" sz="3200" dirty="0"/>
              <a:t>zygote</a:t>
            </a:r>
            <a:endParaRPr lang="en-US" altLang="en-US" dirty="0"/>
          </a:p>
          <a:p>
            <a:pPr marL="533400" indent="-533400" eaLnBrk="1" hangingPunct="1">
              <a:lnSpc>
                <a:spcPct val="80000"/>
              </a:lnSpc>
              <a:buFont typeface="Wingdings 2" panose="05020102010507070707" pitchFamily="18" charset="2"/>
              <a:buNone/>
            </a:pPr>
            <a:endParaRPr lang="en-US" altLang="en-US" dirty="0"/>
          </a:p>
        </p:txBody>
      </p:sp>
    </p:spTree>
    <p:extLst>
      <p:ext uri="{BB962C8B-B14F-4D97-AF65-F5344CB8AC3E}">
        <p14:creationId xmlns:p14="http://schemas.microsoft.com/office/powerpoint/2010/main" val="34946306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8394" name="Rectangle 10"/>
          <p:cNvSpPr>
            <a:spLocks noGrp="1" noChangeArrowheads="1"/>
          </p:cNvSpPr>
          <p:nvPr>
            <p:ph type="title"/>
          </p:nvPr>
        </p:nvSpPr>
        <p:spPr/>
        <p:txBody>
          <a:bodyPr rtlCol="0">
            <a:normAutofit fontScale="90000"/>
          </a:bodyPr>
          <a:lstStyle/>
          <a:p>
            <a:pPr eaLnBrk="1" fontAlgn="auto" hangingPunct="1">
              <a:spcAft>
                <a:spcPts val="0"/>
              </a:spcAft>
              <a:defRPr/>
            </a:pPr>
            <a:r>
              <a:rPr lang="en-US" dirty="0"/>
              <a:t>Organs of the Female</a:t>
            </a:r>
            <a:br>
              <a:rPr lang="en-US" dirty="0"/>
            </a:br>
            <a:r>
              <a:rPr lang="en-US" dirty="0"/>
              <a:t> Reproductive System (slide 3 of 6</a:t>
            </a:r>
            <a:r>
              <a:rPr lang="en-US" altLang="ja-JP" dirty="0"/>
              <a:t>)</a:t>
            </a:r>
            <a:endParaRPr lang="en-US" dirty="0"/>
          </a:p>
        </p:txBody>
      </p:sp>
      <p:sp>
        <p:nvSpPr>
          <p:cNvPr id="2" name="Content Placeholder 1"/>
          <p:cNvSpPr>
            <a:spLocks noGrp="1"/>
          </p:cNvSpPr>
          <p:nvPr>
            <p:ph idx="1"/>
          </p:nvPr>
        </p:nvSpPr>
        <p:spPr>
          <a:xfrm>
            <a:off x="457200" y="1600200"/>
            <a:ext cx="8229600" cy="4953000"/>
          </a:xfrm>
        </p:spPr>
        <p:txBody>
          <a:bodyPr numCol="2"/>
          <a:lstStyle/>
          <a:p>
            <a:r>
              <a:rPr lang="en-US" altLang="en-US" sz="2800" b="1" dirty="0"/>
              <a:t>Organs of the female reproductive system (anterior view):</a:t>
            </a:r>
          </a:p>
          <a:p>
            <a:r>
              <a:rPr lang="en-US" altLang="en-US" sz="2800" dirty="0"/>
              <a:t> Ovary</a:t>
            </a:r>
          </a:p>
          <a:p>
            <a:r>
              <a:rPr lang="en-US" altLang="en-US" sz="2800" dirty="0"/>
              <a:t> Utero-ovarian ligament</a:t>
            </a:r>
          </a:p>
          <a:p>
            <a:r>
              <a:rPr lang="en-US" altLang="en-US" sz="2800" dirty="0"/>
              <a:t> Ovarian follicles</a:t>
            </a:r>
          </a:p>
          <a:p>
            <a:r>
              <a:rPr lang="en-US" altLang="en-US" sz="2800" dirty="0"/>
              <a:t> Ovum</a:t>
            </a:r>
          </a:p>
          <a:p>
            <a:r>
              <a:rPr lang="en-US" altLang="en-US" sz="2800" dirty="0"/>
              <a:t> Corpus luteum</a:t>
            </a:r>
          </a:p>
          <a:p>
            <a:r>
              <a:rPr lang="en-US" altLang="en-US" sz="2800" dirty="0"/>
              <a:t> Fallopian tube</a:t>
            </a:r>
          </a:p>
          <a:p>
            <a:endParaRPr lang="en-US" altLang="en-US" sz="2800" dirty="0"/>
          </a:p>
          <a:p>
            <a:endParaRPr lang="en-US" altLang="en-US" sz="2800" dirty="0"/>
          </a:p>
          <a:p>
            <a:endParaRPr lang="en-US" altLang="en-US" sz="2800" dirty="0"/>
          </a:p>
          <a:p>
            <a:r>
              <a:rPr lang="en-US" altLang="en-US" sz="2800" dirty="0"/>
              <a:t> Fimbriae</a:t>
            </a:r>
          </a:p>
          <a:p>
            <a:r>
              <a:rPr lang="en-US" altLang="en-US" sz="2800" dirty="0"/>
              <a:t> Uterus</a:t>
            </a:r>
          </a:p>
          <a:p>
            <a:r>
              <a:rPr lang="en-US" altLang="en-US" sz="2800" dirty="0"/>
              <a:t> Endometrium</a:t>
            </a:r>
          </a:p>
          <a:p>
            <a:r>
              <a:rPr lang="en-US" altLang="en-US" sz="2800" dirty="0"/>
              <a:t> Myometrium</a:t>
            </a:r>
          </a:p>
          <a:p>
            <a:r>
              <a:rPr lang="en-US" altLang="en-US" sz="2800" dirty="0"/>
              <a:t> Uterine serosa</a:t>
            </a:r>
          </a:p>
          <a:p>
            <a:r>
              <a:rPr lang="en-US" altLang="en-US" sz="2800" dirty="0"/>
              <a:t> Cervix</a:t>
            </a:r>
          </a:p>
          <a:p>
            <a:r>
              <a:rPr lang="en-US" altLang="en-US" sz="2800" dirty="0"/>
              <a:t> Vagina</a:t>
            </a:r>
          </a:p>
          <a:p>
            <a:endParaRPr lang="es-419" dirty="0"/>
          </a:p>
        </p:txBody>
      </p:sp>
    </p:spTree>
    <p:extLst>
      <p:ext uri="{BB962C8B-B14F-4D97-AF65-F5344CB8AC3E}">
        <p14:creationId xmlns:p14="http://schemas.microsoft.com/office/powerpoint/2010/main" val="41183082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1465" name="Rectangle 9"/>
          <p:cNvSpPr>
            <a:spLocks noGrp="1" noChangeArrowheads="1"/>
          </p:cNvSpPr>
          <p:nvPr>
            <p:ph type="title"/>
          </p:nvPr>
        </p:nvSpPr>
        <p:spPr/>
        <p:txBody>
          <a:bodyPr rtlCol="0">
            <a:normAutofit fontScale="90000"/>
          </a:bodyPr>
          <a:lstStyle/>
          <a:p>
            <a:pPr eaLnBrk="1" fontAlgn="auto" hangingPunct="1">
              <a:spcAft>
                <a:spcPts val="0"/>
              </a:spcAft>
              <a:defRPr/>
            </a:pPr>
            <a:r>
              <a:rPr lang="en-US" dirty="0"/>
              <a:t>Organs of the </a:t>
            </a:r>
            <a:br>
              <a:rPr lang="en-US" dirty="0"/>
            </a:br>
            <a:r>
              <a:rPr lang="en-US" dirty="0"/>
              <a:t>  Female Reproduction System       (slide 4 of 6</a:t>
            </a:r>
            <a:r>
              <a:rPr lang="en-US" altLang="ja-JP" dirty="0"/>
              <a:t>)</a:t>
            </a:r>
            <a:endParaRPr lang="en-US" dirty="0"/>
          </a:p>
        </p:txBody>
      </p:sp>
      <p:sp>
        <p:nvSpPr>
          <p:cNvPr id="17411" name="Rectangle 4"/>
          <p:cNvSpPr>
            <a:spLocks noGrp="1" noChangeArrowheads="1"/>
          </p:cNvSpPr>
          <p:nvPr>
            <p:ph sz="half" idx="1"/>
          </p:nvPr>
        </p:nvSpPr>
        <p:spPr>
          <a:xfrm>
            <a:off x="457200" y="1981200"/>
            <a:ext cx="4038600" cy="978202"/>
          </a:xfrm>
        </p:spPr>
        <p:txBody>
          <a:bodyPr anchor="b"/>
          <a:lstStyle/>
          <a:p>
            <a:pPr eaLnBrk="1" hangingPunct="1">
              <a:lnSpc>
                <a:spcPct val="90000"/>
              </a:lnSpc>
              <a:buNone/>
            </a:pPr>
            <a:r>
              <a:rPr lang="en-US" altLang="en-US" sz="2400" dirty="0"/>
              <a:t>Organs of the female reproductive system (anterior view)</a:t>
            </a:r>
          </a:p>
        </p:txBody>
      </p:sp>
      <p:pic>
        <p:nvPicPr>
          <p:cNvPr id="7" name="Picture 10" descr="Organs of the female reproductive system (anterior view) include the ovary, utero-ovarian ligament, ovarian follicles, ovum, corpus luteum, fallopian tube, fimbriae, uterus, endometrium, myometrium, uterine serosa, cervix, and vagina."/>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bwMode="auto">
          <a:xfrm>
            <a:off x="4648200" y="2578402"/>
            <a:ext cx="4038600" cy="256955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889497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3165" name="Rectangle 13"/>
          <p:cNvSpPr>
            <a:spLocks noGrp="1" noChangeArrowheads="1"/>
          </p:cNvSpPr>
          <p:nvPr>
            <p:ph type="title"/>
          </p:nvPr>
        </p:nvSpPr>
        <p:spPr>
          <a:xfrm>
            <a:off x="0" y="228600"/>
            <a:ext cx="9067800" cy="1143000"/>
          </a:xfrm>
        </p:spPr>
        <p:txBody>
          <a:bodyPr rtlCol="0">
            <a:normAutofit fontScale="90000"/>
          </a:bodyPr>
          <a:lstStyle/>
          <a:p>
            <a:pPr eaLnBrk="1" fontAlgn="auto" hangingPunct="1">
              <a:spcAft>
                <a:spcPts val="0"/>
              </a:spcAft>
              <a:defRPr/>
            </a:pPr>
            <a:r>
              <a:rPr lang="en-US" dirty="0"/>
              <a:t>Organs of the </a:t>
            </a:r>
            <a:br>
              <a:rPr lang="en-US" dirty="0"/>
            </a:br>
            <a:r>
              <a:rPr lang="en-US" dirty="0"/>
              <a:t>  Female Reproductive System (slide 5 of 6</a:t>
            </a:r>
            <a:r>
              <a:rPr lang="en-US" altLang="ja-JP" dirty="0"/>
              <a:t>)</a:t>
            </a:r>
            <a:endParaRPr lang="en-US" dirty="0"/>
          </a:p>
        </p:txBody>
      </p:sp>
      <p:sp>
        <p:nvSpPr>
          <p:cNvPr id="18435" name="Rectangle 8"/>
          <p:cNvSpPr>
            <a:spLocks noGrp="1" noChangeArrowheads="1"/>
          </p:cNvSpPr>
          <p:nvPr>
            <p:ph sz="half" idx="1"/>
          </p:nvPr>
        </p:nvSpPr>
        <p:spPr>
          <a:xfrm>
            <a:off x="685800" y="1600200"/>
            <a:ext cx="7467600" cy="4114800"/>
          </a:xfrm>
        </p:spPr>
        <p:txBody>
          <a:bodyPr/>
          <a:lstStyle/>
          <a:p>
            <a:pPr eaLnBrk="1" hangingPunct="1">
              <a:buNone/>
            </a:pPr>
            <a:r>
              <a:rPr lang="en-US" altLang="en-US" dirty="0"/>
              <a:t>Anatomic structures of the breast</a:t>
            </a:r>
            <a:r>
              <a:rPr lang="en-US" altLang="en-US" sz="2400" b="1" dirty="0"/>
              <a:t> </a:t>
            </a:r>
            <a:r>
              <a:rPr lang="en-US" altLang="en-US" sz="2400" dirty="0"/>
              <a:t>(</a:t>
            </a:r>
            <a:r>
              <a:rPr lang="en-US" altLang="en-US" sz="2400" dirty="0" err="1"/>
              <a:t>sagittal</a:t>
            </a:r>
            <a:r>
              <a:rPr lang="en-US" altLang="en-US" sz="2400" dirty="0"/>
              <a:t> view):</a:t>
            </a:r>
          </a:p>
          <a:p>
            <a:pPr eaLnBrk="1" hangingPunct="1"/>
            <a:r>
              <a:rPr lang="en-US" altLang="en-US" sz="2000" dirty="0"/>
              <a:t> </a:t>
            </a:r>
            <a:r>
              <a:rPr lang="en-US" altLang="en-US" dirty="0"/>
              <a:t>Glandular tissue</a:t>
            </a:r>
          </a:p>
          <a:p>
            <a:pPr eaLnBrk="1" hangingPunct="1"/>
            <a:r>
              <a:rPr lang="en-US" altLang="en-US" dirty="0"/>
              <a:t> Fatty tissue</a:t>
            </a:r>
          </a:p>
          <a:p>
            <a:pPr eaLnBrk="1" hangingPunct="1"/>
            <a:r>
              <a:rPr lang="en-US" altLang="en-US" dirty="0"/>
              <a:t> Ducts</a:t>
            </a:r>
          </a:p>
          <a:p>
            <a:pPr eaLnBrk="1" hangingPunct="1"/>
            <a:r>
              <a:rPr lang="en-US" altLang="en-US" dirty="0"/>
              <a:t> Sinuses</a:t>
            </a:r>
          </a:p>
        </p:txBody>
      </p:sp>
    </p:spTree>
    <p:extLst>
      <p:ext uri="{BB962C8B-B14F-4D97-AF65-F5344CB8AC3E}">
        <p14:creationId xmlns:p14="http://schemas.microsoft.com/office/powerpoint/2010/main" val="5800642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4232" name="Rectangle 8"/>
          <p:cNvSpPr>
            <a:spLocks noGrp="1" noChangeArrowheads="1"/>
          </p:cNvSpPr>
          <p:nvPr>
            <p:ph type="title"/>
          </p:nvPr>
        </p:nvSpPr>
        <p:spPr/>
        <p:txBody>
          <a:bodyPr rtlCol="0">
            <a:normAutofit fontScale="90000"/>
          </a:bodyPr>
          <a:lstStyle/>
          <a:p>
            <a:pPr eaLnBrk="1" fontAlgn="auto" hangingPunct="1">
              <a:spcAft>
                <a:spcPts val="0"/>
              </a:spcAft>
              <a:defRPr/>
            </a:pPr>
            <a:r>
              <a:rPr lang="en-US" dirty="0"/>
              <a:t>Organs of the Female </a:t>
            </a:r>
            <a:br>
              <a:rPr lang="en-US" dirty="0"/>
            </a:br>
            <a:r>
              <a:rPr lang="en-US" dirty="0"/>
              <a:t>Reproductive System (slide 6 of 6</a:t>
            </a:r>
            <a:r>
              <a:rPr lang="en-US" altLang="ja-JP" dirty="0"/>
              <a:t>)</a:t>
            </a:r>
            <a:endParaRPr lang="en-US" dirty="0"/>
          </a:p>
        </p:txBody>
      </p:sp>
      <p:sp>
        <p:nvSpPr>
          <p:cNvPr id="19459" name="Rectangle 3"/>
          <p:cNvSpPr>
            <a:spLocks noGrp="1" noChangeArrowheads="1"/>
          </p:cNvSpPr>
          <p:nvPr>
            <p:ph sz="half" idx="1"/>
          </p:nvPr>
        </p:nvSpPr>
        <p:spPr/>
        <p:txBody>
          <a:bodyPr/>
          <a:lstStyle/>
          <a:p>
            <a:pPr eaLnBrk="1" hangingPunct="1">
              <a:buNone/>
            </a:pPr>
            <a:r>
              <a:rPr lang="en-US" altLang="en-US" dirty="0"/>
              <a:t>The breast</a:t>
            </a:r>
            <a:r>
              <a:rPr lang="en-US" altLang="en-US" sz="2400" dirty="0"/>
              <a:t>    (</a:t>
            </a:r>
            <a:r>
              <a:rPr lang="en-US" altLang="en-US" sz="2400" dirty="0" err="1"/>
              <a:t>sagittal</a:t>
            </a:r>
            <a:r>
              <a:rPr lang="en-US" altLang="en-US" sz="2400" dirty="0"/>
              <a:t> view)</a:t>
            </a:r>
          </a:p>
        </p:txBody>
      </p:sp>
      <p:pic>
        <p:nvPicPr>
          <p:cNvPr id="6" name="Picture 9" descr="The anatomic structures of the female breast (sagittal view) contain glandular tissue, fatty tissue, lactiferous (milk-carrying) ducts, and sinuses (cavities)."/>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bwMode="auto">
          <a:xfrm>
            <a:off x="4772435" y="1600200"/>
            <a:ext cx="3790129" cy="452596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887415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6"/>
          <p:cNvSpPr>
            <a:spLocks noGrp="1" noChangeArrowheads="1"/>
          </p:cNvSpPr>
          <p:nvPr>
            <p:ph type="title"/>
          </p:nvPr>
        </p:nvSpPr>
        <p:spPr>
          <a:xfrm>
            <a:off x="990600" y="228600"/>
            <a:ext cx="7315200" cy="1143000"/>
          </a:xfrm>
        </p:spPr>
        <p:txBody>
          <a:bodyPr/>
          <a:lstStyle/>
          <a:p>
            <a:pPr eaLnBrk="1" hangingPunct="1"/>
            <a:r>
              <a:rPr lang="en-US" altLang="en-US" dirty="0"/>
              <a:t>Menstruation (slide 1 of 2)</a:t>
            </a:r>
          </a:p>
        </p:txBody>
      </p:sp>
      <p:sp>
        <p:nvSpPr>
          <p:cNvPr id="20483" name="Rectangle 7"/>
          <p:cNvSpPr>
            <a:spLocks noGrp="1" noChangeArrowheads="1"/>
          </p:cNvSpPr>
          <p:nvPr>
            <p:ph idx="1"/>
          </p:nvPr>
        </p:nvSpPr>
        <p:spPr>
          <a:xfrm>
            <a:off x="685800" y="1600200"/>
            <a:ext cx="7315200" cy="4572000"/>
          </a:xfrm>
        </p:spPr>
        <p:txBody>
          <a:bodyPr/>
          <a:lstStyle/>
          <a:p>
            <a:pPr eaLnBrk="1" hangingPunct="1">
              <a:lnSpc>
                <a:spcPct val="90000"/>
              </a:lnSpc>
              <a:buFont typeface="Wingdings 2" panose="05020102010507070707" pitchFamily="18" charset="2"/>
              <a:buNone/>
            </a:pPr>
            <a:r>
              <a:rPr lang="en-US" altLang="en-US" b="1" dirty="0"/>
              <a:t>Menstrual cycle</a:t>
            </a:r>
          </a:p>
          <a:p>
            <a:pPr lvl="1" eaLnBrk="1" hangingPunct="1">
              <a:lnSpc>
                <a:spcPct val="90000"/>
              </a:lnSpc>
              <a:buFont typeface="Wingdings" panose="05000000000000000000" pitchFamily="2" charset="2"/>
              <a:buChar char="Ø"/>
            </a:pPr>
            <a:r>
              <a:rPr lang="en-US" altLang="en-US" sz="2000" b="1" dirty="0">
                <a:ea typeface="MS PGothic" panose="020B0600070205080204" pitchFamily="34" charset="-128"/>
              </a:rPr>
              <a:t>Day 1-5</a:t>
            </a:r>
            <a:r>
              <a:rPr lang="en-US" altLang="en-US" sz="2000" dirty="0">
                <a:ea typeface="MS PGothic" panose="020B0600070205080204" pitchFamily="34" charset="-128"/>
              </a:rPr>
              <a:t>      Blood cells, endometrial cells, and glandular     </a:t>
            </a:r>
          </a:p>
          <a:p>
            <a:pPr lvl="1" eaLnBrk="1" hangingPunct="1">
              <a:lnSpc>
                <a:spcPct val="90000"/>
              </a:lnSpc>
              <a:buFont typeface="Wingdings" panose="05000000000000000000" pitchFamily="2" charset="2"/>
              <a:buNone/>
            </a:pPr>
            <a:r>
              <a:rPr lang="en-US" altLang="en-US" sz="2000" dirty="0">
                <a:ea typeface="MS PGothic" panose="020B0600070205080204" pitchFamily="34" charset="-128"/>
              </a:rPr>
              <a:t>	                    secretions discharge from the body.</a:t>
            </a:r>
          </a:p>
          <a:p>
            <a:pPr lvl="1" eaLnBrk="1" hangingPunct="1">
              <a:lnSpc>
                <a:spcPct val="90000"/>
              </a:lnSpc>
              <a:buFont typeface="Wingdings" panose="05000000000000000000" pitchFamily="2" charset="2"/>
              <a:buChar char="Ø"/>
            </a:pPr>
            <a:endParaRPr lang="en-US" altLang="en-US" sz="2000" dirty="0">
              <a:ea typeface="MS PGothic" panose="020B0600070205080204" pitchFamily="34" charset="-128"/>
            </a:endParaRPr>
          </a:p>
          <a:p>
            <a:pPr lvl="1" eaLnBrk="1" hangingPunct="1">
              <a:lnSpc>
                <a:spcPct val="90000"/>
              </a:lnSpc>
              <a:buFont typeface="Wingdings" panose="05000000000000000000" pitchFamily="2" charset="2"/>
              <a:buChar char="Ø"/>
            </a:pPr>
            <a:r>
              <a:rPr lang="en-US" altLang="en-US" sz="2000" b="1" dirty="0">
                <a:ea typeface="MS PGothic" panose="020B0600070205080204" pitchFamily="34" charset="-128"/>
              </a:rPr>
              <a:t>Day 6-12</a:t>
            </a:r>
            <a:r>
              <a:rPr lang="en-US" altLang="en-US" sz="2000" dirty="0">
                <a:ea typeface="MS PGothic" panose="020B0600070205080204" pitchFamily="34" charset="-128"/>
              </a:rPr>
              <a:t>    Estrogen aids repair of </a:t>
            </a:r>
            <a:r>
              <a:rPr lang="en-US" altLang="en-US" sz="2000" dirty="0" err="1">
                <a:ea typeface="MS PGothic" panose="020B0600070205080204" pitchFamily="34" charset="-128"/>
              </a:rPr>
              <a:t>endometrium</a:t>
            </a:r>
            <a:r>
              <a:rPr lang="en-US" altLang="en-US" sz="2000" dirty="0">
                <a:ea typeface="MS PGothic" panose="020B0600070205080204" pitchFamily="34" charset="-128"/>
              </a:rPr>
              <a:t>.  </a:t>
            </a:r>
          </a:p>
          <a:p>
            <a:pPr lvl="1" eaLnBrk="1" hangingPunct="1">
              <a:lnSpc>
                <a:spcPct val="90000"/>
              </a:lnSpc>
              <a:buFont typeface="Wingdings" panose="05000000000000000000" pitchFamily="2" charset="2"/>
              <a:buNone/>
            </a:pPr>
            <a:r>
              <a:rPr lang="en-US" altLang="en-US" sz="2000" dirty="0">
                <a:ea typeface="MS PGothic" panose="020B0600070205080204" pitchFamily="34" charset="-128"/>
              </a:rPr>
              <a:t>                         The ovum grows in the follicle.</a:t>
            </a:r>
          </a:p>
          <a:p>
            <a:pPr lvl="1" eaLnBrk="1" hangingPunct="1">
              <a:lnSpc>
                <a:spcPct val="90000"/>
              </a:lnSpc>
              <a:buFont typeface="Wingdings" panose="05000000000000000000" pitchFamily="2" charset="2"/>
              <a:buChar char="Ø"/>
            </a:pPr>
            <a:endParaRPr lang="en-US" altLang="en-US" sz="2000" dirty="0">
              <a:ea typeface="MS PGothic" panose="020B0600070205080204" pitchFamily="34" charset="-128"/>
            </a:endParaRPr>
          </a:p>
          <a:p>
            <a:pPr lvl="1" eaLnBrk="1" hangingPunct="1">
              <a:lnSpc>
                <a:spcPct val="90000"/>
              </a:lnSpc>
              <a:buFont typeface="Wingdings" panose="05000000000000000000" pitchFamily="2" charset="2"/>
              <a:buChar char="Ø"/>
            </a:pPr>
            <a:r>
              <a:rPr lang="en-US" altLang="en-US" sz="2000" b="1" dirty="0">
                <a:ea typeface="MS PGothic" panose="020B0600070205080204" pitchFamily="34" charset="-128"/>
              </a:rPr>
              <a:t>Day 13-14</a:t>
            </a:r>
            <a:r>
              <a:rPr lang="en-US" altLang="en-US" sz="2000" dirty="0">
                <a:ea typeface="MS PGothic" panose="020B0600070205080204" pitchFamily="34" charset="-128"/>
              </a:rPr>
              <a:t>  The egg leaves the ovary and passes through </a:t>
            </a:r>
          </a:p>
          <a:p>
            <a:pPr lvl="1" eaLnBrk="1" hangingPunct="1">
              <a:lnSpc>
                <a:spcPct val="90000"/>
              </a:lnSpc>
              <a:buFont typeface="Wingdings" panose="05000000000000000000" pitchFamily="2" charset="2"/>
              <a:buNone/>
            </a:pPr>
            <a:r>
              <a:rPr lang="en-US" altLang="en-US" sz="2000" dirty="0">
                <a:ea typeface="MS PGothic" panose="020B0600070205080204" pitchFamily="34" charset="-128"/>
              </a:rPr>
              <a:t>			  the fallopian tube.</a:t>
            </a:r>
          </a:p>
          <a:p>
            <a:pPr lvl="1" eaLnBrk="1" hangingPunct="1">
              <a:lnSpc>
                <a:spcPct val="90000"/>
              </a:lnSpc>
              <a:buFont typeface="Wingdings" panose="05000000000000000000" pitchFamily="2" charset="2"/>
              <a:buChar char="Ø"/>
            </a:pPr>
            <a:endParaRPr lang="en-US" altLang="en-US" sz="2000" dirty="0">
              <a:ea typeface="MS PGothic" panose="020B0600070205080204" pitchFamily="34" charset="-128"/>
            </a:endParaRPr>
          </a:p>
          <a:p>
            <a:pPr lvl="1" eaLnBrk="1" hangingPunct="1">
              <a:lnSpc>
                <a:spcPct val="90000"/>
              </a:lnSpc>
              <a:buFont typeface="Wingdings" panose="05000000000000000000" pitchFamily="2" charset="2"/>
              <a:buChar char="Ø"/>
            </a:pPr>
            <a:r>
              <a:rPr lang="en-US" altLang="en-US" sz="2000" b="1" dirty="0">
                <a:ea typeface="MS PGothic" panose="020B0600070205080204" pitchFamily="34" charset="-128"/>
              </a:rPr>
              <a:t>Day 15-28</a:t>
            </a:r>
            <a:r>
              <a:rPr lang="en-US" altLang="en-US" sz="2000" dirty="0">
                <a:ea typeface="MS PGothic" panose="020B0600070205080204" pitchFamily="34" charset="-128"/>
              </a:rPr>
              <a:t>   The corpus </a:t>
            </a:r>
            <a:r>
              <a:rPr lang="en-US" altLang="en-US" sz="2000" dirty="0" err="1">
                <a:ea typeface="MS PGothic" panose="020B0600070205080204" pitchFamily="34" charset="-128"/>
              </a:rPr>
              <a:t>luteum</a:t>
            </a:r>
            <a:r>
              <a:rPr lang="en-US" altLang="en-US" sz="2000" dirty="0">
                <a:ea typeface="MS PGothic" panose="020B0600070205080204" pitchFamily="34" charset="-128"/>
              </a:rPr>
              <a:t> secretes progesterone; </a:t>
            </a:r>
          </a:p>
          <a:p>
            <a:pPr lvl="1" eaLnBrk="1" hangingPunct="1">
              <a:lnSpc>
                <a:spcPct val="90000"/>
              </a:lnSpc>
              <a:buFont typeface="Wingdings" panose="05000000000000000000" pitchFamily="2" charset="2"/>
              <a:buNone/>
            </a:pPr>
            <a:r>
              <a:rPr lang="en-US" altLang="en-US" sz="2000" dirty="0">
                <a:ea typeface="MS PGothic" panose="020B0600070205080204" pitchFamily="34" charset="-128"/>
              </a:rPr>
              <a:t>	                     the uterus lining builds up.</a:t>
            </a:r>
          </a:p>
          <a:p>
            <a:pPr eaLnBrk="1" hangingPunct="1">
              <a:lnSpc>
                <a:spcPct val="90000"/>
              </a:lnSpc>
            </a:pPr>
            <a:endParaRPr lang="en-US" altLang="en-US" sz="2400" dirty="0"/>
          </a:p>
        </p:txBody>
      </p:sp>
    </p:spTree>
    <p:extLst>
      <p:ext uri="{BB962C8B-B14F-4D97-AF65-F5344CB8AC3E}">
        <p14:creationId xmlns:p14="http://schemas.microsoft.com/office/powerpoint/2010/main" val="42556394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4"/>
          <p:cNvSpPr>
            <a:spLocks noGrp="1" noChangeArrowheads="1"/>
          </p:cNvSpPr>
          <p:nvPr>
            <p:ph type="title"/>
          </p:nvPr>
        </p:nvSpPr>
        <p:spPr/>
        <p:txBody>
          <a:bodyPr/>
          <a:lstStyle/>
          <a:p>
            <a:pPr eaLnBrk="1" hangingPunct="1"/>
            <a:r>
              <a:rPr lang="en-US" altLang="en-US" dirty="0"/>
              <a:t>Menstruation (slide 2 of 2</a:t>
            </a:r>
            <a:r>
              <a:rPr lang="en-US" altLang="ja-JP" dirty="0"/>
              <a:t>)</a:t>
            </a:r>
            <a:endParaRPr lang="en-US" altLang="en-US" dirty="0"/>
          </a:p>
        </p:txBody>
      </p:sp>
      <p:sp>
        <p:nvSpPr>
          <p:cNvPr id="2" name="Content Placeholder 1"/>
          <p:cNvSpPr>
            <a:spLocks noGrp="1"/>
          </p:cNvSpPr>
          <p:nvPr>
            <p:ph sz="half" idx="1"/>
          </p:nvPr>
        </p:nvSpPr>
        <p:spPr>
          <a:xfrm>
            <a:off x="2552700" y="1828800"/>
            <a:ext cx="4038600" cy="4525963"/>
          </a:xfrm>
        </p:spPr>
        <p:txBody>
          <a:bodyPr/>
          <a:lstStyle/>
          <a:p>
            <a:r>
              <a:rPr lang="en-US" b="1" dirty="0">
                <a:latin typeface="Arial" pitchFamily="34" charset="0"/>
              </a:rPr>
              <a:t> Menstrual</a:t>
            </a:r>
            <a:r>
              <a:rPr lang="en-US" b="1" dirty="0">
                <a:effectLst>
                  <a:outerShdw blurRad="38100" dist="38100" dir="2700000" algn="tl">
                    <a:srgbClr val="000000"/>
                  </a:outerShdw>
                </a:effectLst>
                <a:latin typeface="Arial" pitchFamily="34" charset="0"/>
              </a:rPr>
              <a:t> </a:t>
            </a:r>
            <a:r>
              <a:rPr lang="en-US" b="1" dirty="0">
                <a:latin typeface="Arial" pitchFamily="34" charset="0"/>
              </a:rPr>
              <a:t>cycle</a:t>
            </a:r>
            <a:endParaRPr lang="es-419" dirty="0"/>
          </a:p>
        </p:txBody>
      </p:sp>
      <p:pic>
        <p:nvPicPr>
          <p:cNvPr id="7" name="Picture 7" descr="The average menstrual cycle lasts for 28 days. In the ovary, as the ovum matures, hormone levels rise, culminating in ovulation (days 13 and 14). At the same time in the uterus, the endometrium is building up in anticipation pregnancy. If pregnancy does not occur, hormone levels drop and menstruation begins."/>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bwMode="auto">
          <a:xfrm>
            <a:off x="990600" y="2655965"/>
            <a:ext cx="6858000" cy="347712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0106368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6"/>
          <p:cNvSpPr>
            <a:spLocks noGrp="1" noChangeArrowheads="1"/>
          </p:cNvSpPr>
          <p:nvPr>
            <p:ph type="title"/>
          </p:nvPr>
        </p:nvSpPr>
        <p:spPr>
          <a:xfrm>
            <a:off x="990600" y="228600"/>
            <a:ext cx="7315200" cy="1143000"/>
          </a:xfrm>
        </p:spPr>
        <p:txBody>
          <a:bodyPr/>
          <a:lstStyle/>
          <a:p>
            <a:pPr eaLnBrk="1" hangingPunct="1"/>
            <a:r>
              <a:rPr lang="en-US" altLang="en-US" dirty="0"/>
              <a:t>Pregnancy (slide 1 of 6</a:t>
            </a:r>
            <a:r>
              <a:rPr lang="en-US" altLang="ja-JP" dirty="0"/>
              <a:t>)</a:t>
            </a:r>
            <a:endParaRPr lang="en-US" altLang="en-US" dirty="0"/>
          </a:p>
        </p:txBody>
      </p:sp>
      <p:sp>
        <p:nvSpPr>
          <p:cNvPr id="435207" name="Rectangle 7"/>
          <p:cNvSpPr>
            <a:spLocks noGrp="1" noChangeArrowheads="1"/>
          </p:cNvSpPr>
          <p:nvPr>
            <p:ph idx="1"/>
          </p:nvPr>
        </p:nvSpPr>
        <p:spPr>
          <a:xfrm>
            <a:off x="685800" y="1600200"/>
            <a:ext cx="7315200" cy="4114800"/>
          </a:xfrm>
        </p:spPr>
        <p:txBody>
          <a:bodyPr rtlCol="0">
            <a:normAutofit fontScale="92500" lnSpcReduction="10000"/>
          </a:bodyPr>
          <a:lstStyle/>
          <a:p>
            <a:pPr eaLnBrk="1" fontAlgn="auto" hangingPunct="1">
              <a:spcAft>
                <a:spcPts val="0"/>
              </a:spcAft>
              <a:buFont typeface="Wingdings 2" pitchFamily="18" charset="2"/>
              <a:buNone/>
              <a:defRPr/>
            </a:pPr>
            <a:r>
              <a:rPr lang="en-US" b="1" dirty="0"/>
              <a:t>Pregnancy</a:t>
            </a:r>
          </a:p>
          <a:p>
            <a:pPr lvl="1" eaLnBrk="1" fontAlgn="auto" hangingPunct="1">
              <a:spcAft>
                <a:spcPts val="0"/>
              </a:spcAft>
              <a:buFont typeface="Wingdings" pitchFamily="80" charset="2"/>
              <a:buChar char="Ø"/>
              <a:defRPr/>
            </a:pPr>
            <a:r>
              <a:rPr lang="en-US" dirty="0">
                <a:ea typeface="ＭＳ Ｐゴシック" charset="0"/>
              </a:rPr>
              <a:t>If fertilization occurs, the egg implants in the uterine endometrium.</a:t>
            </a:r>
          </a:p>
          <a:p>
            <a:pPr lvl="1" eaLnBrk="1" fontAlgn="auto" hangingPunct="1">
              <a:spcAft>
                <a:spcPts val="0"/>
              </a:spcAft>
              <a:buFont typeface="Wingdings" pitchFamily="80" charset="2"/>
              <a:buChar char="Ø"/>
              <a:defRPr/>
            </a:pPr>
            <a:r>
              <a:rPr lang="en-US" dirty="0">
                <a:ea typeface="ＭＳ Ｐゴシック" charset="0"/>
              </a:rPr>
              <a:t>The placenta forms, attaches to the uterine wall.</a:t>
            </a:r>
          </a:p>
          <a:p>
            <a:pPr lvl="1" eaLnBrk="1" fontAlgn="auto" hangingPunct="1">
              <a:spcAft>
                <a:spcPts val="0"/>
              </a:spcAft>
              <a:buFont typeface="Wingdings" pitchFamily="80" charset="2"/>
              <a:buChar char="Ø"/>
              <a:defRPr/>
            </a:pPr>
            <a:r>
              <a:rPr lang="en-US" dirty="0">
                <a:ea typeface="ＭＳ Ｐゴシック" charset="0"/>
              </a:rPr>
              <a:t>Amnion holds the fetus in an amniotic cavity.</a:t>
            </a:r>
          </a:p>
          <a:p>
            <a:pPr lvl="1" eaLnBrk="1" fontAlgn="auto" hangingPunct="1">
              <a:spcAft>
                <a:spcPts val="0"/>
              </a:spcAft>
              <a:buFont typeface="Wingdings" pitchFamily="80" charset="2"/>
              <a:buChar char="Ø"/>
              <a:defRPr/>
            </a:pPr>
            <a:r>
              <a:rPr lang="en-US" dirty="0">
                <a:ea typeface="ＭＳ Ｐゴシック" charset="0"/>
              </a:rPr>
              <a:t>Nutrients, oxygen, and wastes exchange between the fetus and mother.</a:t>
            </a:r>
          </a:p>
          <a:p>
            <a:pPr lvl="1" eaLnBrk="1" fontAlgn="auto" hangingPunct="1">
              <a:spcAft>
                <a:spcPts val="0"/>
              </a:spcAft>
              <a:buFont typeface="Wingdings" pitchFamily="80" charset="2"/>
              <a:buChar char="Ø"/>
              <a:defRPr/>
            </a:pPr>
            <a:r>
              <a:rPr lang="en-US" dirty="0">
                <a:ea typeface="ＭＳ Ｐゴシック" charset="0"/>
              </a:rPr>
              <a:t>The placenta produces human chorionic gonadotropin (</a:t>
            </a:r>
            <a:r>
              <a:rPr lang="en-US" dirty="0" err="1">
                <a:ea typeface="ＭＳ Ｐゴシック" charset="0"/>
              </a:rPr>
              <a:t>hCG</a:t>
            </a:r>
            <a:r>
              <a:rPr lang="en-US" dirty="0">
                <a:ea typeface="ＭＳ Ｐゴシック" charset="0"/>
              </a:rPr>
              <a:t>).</a:t>
            </a:r>
          </a:p>
          <a:p>
            <a:pPr lvl="1" eaLnBrk="1" fontAlgn="auto" hangingPunct="1">
              <a:spcAft>
                <a:spcPts val="0"/>
              </a:spcAft>
              <a:buFont typeface="Wingdings" pitchFamily="80" charset="2"/>
              <a:buChar char="Ø"/>
              <a:defRPr/>
            </a:pPr>
            <a:endParaRPr lang="en-US" dirty="0">
              <a:ea typeface="ＭＳ Ｐゴシック" charset="0"/>
            </a:endParaRPr>
          </a:p>
          <a:p>
            <a:pPr eaLnBrk="1" fontAlgn="auto" hangingPunct="1">
              <a:spcAft>
                <a:spcPts val="0"/>
              </a:spcAft>
              <a:defRPr/>
            </a:pPr>
            <a:endParaRPr lang="en-US" dirty="0"/>
          </a:p>
        </p:txBody>
      </p:sp>
    </p:spTree>
    <p:extLst>
      <p:ext uri="{BB962C8B-B14F-4D97-AF65-F5344CB8AC3E}">
        <p14:creationId xmlns:p14="http://schemas.microsoft.com/office/powerpoint/2010/main" val="36607815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pPr eaLnBrk="1" hangingPunct="1"/>
            <a:r>
              <a:rPr lang="en-US" altLang="en-US" dirty="0"/>
              <a:t>Pregnancy (slide 2 of 6</a:t>
            </a:r>
            <a:r>
              <a:rPr lang="en-US" altLang="ja-JP" dirty="0"/>
              <a:t>)</a:t>
            </a:r>
            <a:endParaRPr lang="en-US" altLang="en-US" dirty="0"/>
          </a:p>
        </p:txBody>
      </p:sp>
      <p:sp>
        <p:nvSpPr>
          <p:cNvPr id="2" name="Content Placeholder 1"/>
          <p:cNvSpPr>
            <a:spLocks noGrp="1"/>
          </p:cNvSpPr>
          <p:nvPr>
            <p:ph sz="half" idx="1"/>
          </p:nvPr>
        </p:nvSpPr>
        <p:spPr>
          <a:xfrm>
            <a:off x="838200" y="1752600"/>
            <a:ext cx="5562600" cy="870045"/>
          </a:xfrm>
        </p:spPr>
        <p:txBody>
          <a:bodyPr/>
          <a:lstStyle/>
          <a:p>
            <a:r>
              <a:rPr lang="en-US" altLang="en-US" dirty="0">
                <a:latin typeface="Arial" panose="020B0604020202020204" pitchFamily="34" charset="0"/>
              </a:rPr>
              <a:t>Implantation in the uterus</a:t>
            </a:r>
          </a:p>
          <a:p>
            <a:endParaRPr lang="es-419" dirty="0"/>
          </a:p>
        </p:txBody>
      </p:sp>
      <p:pic>
        <p:nvPicPr>
          <p:cNvPr id="7" name="Picture 12" descr="The fertilized egg travels to the uterus and implants in the uterine endometrium."/>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bwMode="auto">
          <a:xfrm>
            <a:off x="4295933" y="2622645"/>
            <a:ext cx="3933667" cy="299614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64099929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4"/>
          <p:cNvSpPr>
            <a:spLocks noGrp="1" noChangeArrowheads="1"/>
          </p:cNvSpPr>
          <p:nvPr>
            <p:ph type="title"/>
          </p:nvPr>
        </p:nvSpPr>
        <p:spPr>
          <a:xfrm>
            <a:off x="457200" y="274638"/>
            <a:ext cx="8229600" cy="1143000"/>
          </a:xfrm>
        </p:spPr>
        <p:txBody>
          <a:bodyPr/>
          <a:lstStyle/>
          <a:p>
            <a:pPr eaLnBrk="1" hangingPunct="1"/>
            <a:r>
              <a:rPr lang="en-US" altLang="en-US" dirty="0"/>
              <a:t>Pregnancy (slide 3 of 6</a:t>
            </a:r>
            <a:r>
              <a:rPr lang="en-US" altLang="ja-JP" dirty="0"/>
              <a:t>)</a:t>
            </a:r>
            <a:endParaRPr lang="en-US" altLang="en-US" dirty="0"/>
          </a:p>
        </p:txBody>
      </p:sp>
      <p:sp>
        <p:nvSpPr>
          <p:cNvPr id="2" name="Content Placeholder 1"/>
          <p:cNvSpPr>
            <a:spLocks noGrp="1"/>
          </p:cNvSpPr>
          <p:nvPr>
            <p:ph sz="half" idx="1"/>
          </p:nvPr>
        </p:nvSpPr>
        <p:spPr>
          <a:xfrm>
            <a:off x="800100" y="1905000"/>
            <a:ext cx="3848100" cy="1455579"/>
          </a:xfrm>
        </p:spPr>
        <p:txBody>
          <a:bodyPr/>
          <a:lstStyle/>
          <a:p>
            <a:r>
              <a:rPr lang="en-US" altLang="en-US" dirty="0">
                <a:latin typeface="Arial" panose="020B0604020202020204" pitchFamily="34" charset="0"/>
              </a:rPr>
              <a:t>The placenta, chorion, and   amnion membranes</a:t>
            </a:r>
          </a:p>
          <a:p>
            <a:endParaRPr lang="es-419" dirty="0"/>
          </a:p>
        </p:txBody>
      </p:sp>
      <p:pic>
        <p:nvPicPr>
          <p:cNvPr id="7" name="Picture 13" descr="Placenta is derived from maternal endometrium and from chorion, the outermost membrane surrounding the developing embryo. Amnion, the innermost of the embryonic membranes, holds the fetus suspended in an amniotic cavity surrounded by amniotic fluid."/>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bwMode="auto">
          <a:xfrm>
            <a:off x="4838700" y="2354421"/>
            <a:ext cx="3657600" cy="301752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49936626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a:xfrm>
            <a:off x="685800" y="152400"/>
            <a:ext cx="7543800" cy="1219200"/>
          </a:xfrm>
        </p:spPr>
        <p:txBody>
          <a:bodyPr/>
          <a:lstStyle/>
          <a:p>
            <a:pPr eaLnBrk="1" hangingPunct="1"/>
            <a:r>
              <a:rPr lang="en-US" altLang="en-US" dirty="0"/>
              <a:t>      QUICK QUIZ (Slide 2 of 5)</a:t>
            </a:r>
            <a:endParaRPr lang="en-US" altLang="en-US" sz="4800" dirty="0"/>
          </a:p>
        </p:txBody>
      </p:sp>
      <p:sp>
        <p:nvSpPr>
          <p:cNvPr id="25603" name="Rectangle 3"/>
          <p:cNvSpPr>
            <a:spLocks noGrp="1" noChangeArrowheads="1"/>
          </p:cNvSpPr>
          <p:nvPr>
            <p:ph idx="1"/>
          </p:nvPr>
        </p:nvSpPr>
        <p:spPr>
          <a:xfrm>
            <a:off x="685800" y="1600200"/>
            <a:ext cx="6934200" cy="4495800"/>
          </a:xfrm>
        </p:spPr>
        <p:txBody>
          <a:bodyPr/>
          <a:lstStyle/>
          <a:p>
            <a:pPr marL="533400" indent="-533400" eaLnBrk="1" hangingPunct="1">
              <a:buFont typeface="Arial" panose="020B0604020202020204" pitchFamily="34" charset="0"/>
              <a:buAutoNum type="arabicPeriod" startAt="2"/>
            </a:pPr>
            <a:r>
              <a:rPr lang="en-US" altLang="en-US" b="1" dirty="0"/>
              <a:t>The corpus luteum secretes this monthly to build up the lining of the uterus.</a:t>
            </a:r>
          </a:p>
          <a:p>
            <a:pPr marL="533400" indent="-533400" eaLnBrk="1" hangingPunct="1">
              <a:buFont typeface="Arial" panose="020B0604020202020204" pitchFamily="34" charset="0"/>
              <a:buAutoNum type="arabicPeriod" startAt="2"/>
            </a:pPr>
            <a:endParaRPr lang="en-US" altLang="en-US" b="1" dirty="0"/>
          </a:p>
          <a:p>
            <a:pPr marL="533400" indent="-533400" eaLnBrk="1" hangingPunct="1">
              <a:lnSpc>
                <a:spcPct val="65000"/>
              </a:lnSpc>
              <a:buFont typeface="Wingdings 2" panose="05020102010507070707" pitchFamily="18" charset="2"/>
              <a:buNone/>
            </a:pPr>
            <a:r>
              <a:rPr lang="en-US" altLang="en-US" dirty="0"/>
              <a:t>	A.  Adrenaline</a:t>
            </a:r>
          </a:p>
          <a:p>
            <a:pPr marL="533400" indent="-533400" eaLnBrk="1" hangingPunct="1">
              <a:lnSpc>
                <a:spcPct val="65000"/>
              </a:lnSpc>
              <a:buFont typeface="Wingdings 2" panose="05020102010507070707" pitchFamily="18" charset="2"/>
              <a:buNone/>
            </a:pPr>
            <a:r>
              <a:rPr lang="en-US" altLang="en-US" dirty="0"/>
              <a:t>	B.  Estrogen</a:t>
            </a:r>
          </a:p>
          <a:p>
            <a:pPr marL="533400" indent="-533400" eaLnBrk="1" hangingPunct="1">
              <a:lnSpc>
                <a:spcPct val="65000"/>
              </a:lnSpc>
              <a:buFont typeface="Wingdings 2" panose="05020102010507070707" pitchFamily="18" charset="2"/>
              <a:buNone/>
            </a:pPr>
            <a:r>
              <a:rPr lang="en-US" altLang="en-US" dirty="0"/>
              <a:t>	C.  Progesterone</a:t>
            </a:r>
          </a:p>
          <a:p>
            <a:pPr marL="533400" indent="-533400" eaLnBrk="1" hangingPunct="1">
              <a:lnSpc>
                <a:spcPct val="65000"/>
              </a:lnSpc>
              <a:buFont typeface="Wingdings 2" panose="05020102010507070707" pitchFamily="18" charset="2"/>
              <a:buNone/>
            </a:pPr>
            <a:r>
              <a:rPr lang="en-US" altLang="en-US" dirty="0"/>
              <a:t>	D.  </a:t>
            </a:r>
            <a:r>
              <a:rPr lang="en-US" altLang="en-US" dirty="0" err="1"/>
              <a:t>hCG</a:t>
            </a:r>
            <a:endParaRPr lang="en-US" altLang="en-US" dirty="0"/>
          </a:p>
          <a:p>
            <a:pPr marL="533400" indent="-533400" eaLnBrk="1" hangingPunct="1">
              <a:buFont typeface="Wingdings 2" panose="05020102010507070707" pitchFamily="18" charset="2"/>
              <a:buNone/>
            </a:pPr>
            <a:endParaRPr lang="en-US" altLang="en-US" dirty="0"/>
          </a:p>
        </p:txBody>
      </p:sp>
    </p:spTree>
    <p:extLst>
      <p:ext uri="{BB962C8B-B14F-4D97-AF65-F5344CB8AC3E}">
        <p14:creationId xmlns:p14="http://schemas.microsoft.com/office/powerpoint/2010/main" val="223947325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1026"/>
          <p:cNvSpPr>
            <a:spLocks noGrp="1" noChangeArrowheads="1"/>
          </p:cNvSpPr>
          <p:nvPr>
            <p:ph type="title"/>
          </p:nvPr>
        </p:nvSpPr>
        <p:spPr>
          <a:xfrm>
            <a:off x="457200" y="152400"/>
            <a:ext cx="7772400" cy="1219200"/>
          </a:xfrm>
        </p:spPr>
        <p:txBody>
          <a:bodyPr/>
          <a:lstStyle/>
          <a:p>
            <a:pPr eaLnBrk="1" hangingPunct="1"/>
            <a:r>
              <a:rPr lang="en-US" altLang="en-US" dirty="0"/>
              <a:t>      QUICK QUIZ (Slide 3 of 5) </a:t>
            </a:r>
            <a:r>
              <a:rPr lang="en-US" altLang="ja-JP" sz="4800" dirty="0"/>
              <a:t>	</a:t>
            </a:r>
            <a:endParaRPr lang="en-US" altLang="en-US" sz="4800" dirty="0"/>
          </a:p>
        </p:txBody>
      </p:sp>
      <p:sp>
        <p:nvSpPr>
          <p:cNvPr id="26627" name="Rectangle 1027"/>
          <p:cNvSpPr>
            <a:spLocks noGrp="1" noChangeArrowheads="1"/>
          </p:cNvSpPr>
          <p:nvPr>
            <p:ph idx="1"/>
          </p:nvPr>
        </p:nvSpPr>
        <p:spPr>
          <a:xfrm>
            <a:off x="685800" y="1600200"/>
            <a:ext cx="6934200" cy="4495800"/>
          </a:xfrm>
        </p:spPr>
        <p:txBody>
          <a:bodyPr/>
          <a:lstStyle/>
          <a:p>
            <a:pPr marL="533400" indent="-533400" eaLnBrk="1" hangingPunct="1">
              <a:lnSpc>
                <a:spcPct val="90000"/>
              </a:lnSpc>
              <a:buFont typeface="Wingdings 2" panose="05020102010507070707" pitchFamily="18" charset="2"/>
              <a:buNone/>
            </a:pPr>
            <a:r>
              <a:rPr lang="en-US" altLang="en-US" b="1" dirty="0"/>
              <a:t>3. What does the placenta secrete  during pregnancy?</a:t>
            </a:r>
          </a:p>
          <a:p>
            <a:pPr marL="533400" indent="-533400" eaLnBrk="1" hangingPunct="1">
              <a:lnSpc>
                <a:spcPct val="90000"/>
              </a:lnSpc>
              <a:buFont typeface="Wingdings 2" panose="05020102010507070707" pitchFamily="18" charset="2"/>
              <a:buNone/>
            </a:pPr>
            <a:endParaRPr lang="en-US" altLang="en-US" b="1" dirty="0"/>
          </a:p>
          <a:p>
            <a:pPr marL="914400" lvl="1" indent="-457200" eaLnBrk="1" hangingPunct="1">
              <a:lnSpc>
                <a:spcPct val="65000"/>
              </a:lnSpc>
              <a:buFont typeface="Arial" panose="020B0604020202020204" pitchFamily="34" charset="0"/>
              <a:buAutoNum type="alphaUcPeriod"/>
            </a:pPr>
            <a:r>
              <a:rPr lang="en-US" altLang="en-US" sz="3200" dirty="0">
                <a:ea typeface="MS PGothic" panose="020B0600070205080204" pitchFamily="34" charset="-128"/>
              </a:rPr>
              <a:t>Adrenaline</a:t>
            </a:r>
          </a:p>
          <a:p>
            <a:pPr marL="914400" lvl="1" indent="-457200" eaLnBrk="1" hangingPunct="1">
              <a:lnSpc>
                <a:spcPct val="65000"/>
              </a:lnSpc>
              <a:buFont typeface="Arial" panose="020B0604020202020204" pitchFamily="34" charset="0"/>
              <a:buAutoNum type="alphaUcPeriod"/>
            </a:pPr>
            <a:r>
              <a:rPr lang="en-US" altLang="en-US" sz="3200" dirty="0" err="1">
                <a:ea typeface="MS PGothic" panose="020B0600070205080204" pitchFamily="34" charset="-128"/>
              </a:rPr>
              <a:t>hCG</a:t>
            </a:r>
            <a:endParaRPr lang="en-US" altLang="en-US" sz="3200" dirty="0">
              <a:ea typeface="MS PGothic" panose="020B0600070205080204" pitchFamily="34" charset="-128"/>
            </a:endParaRPr>
          </a:p>
          <a:p>
            <a:pPr marL="914400" lvl="1" indent="-457200" eaLnBrk="1" hangingPunct="1">
              <a:lnSpc>
                <a:spcPct val="65000"/>
              </a:lnSpc>
              <a:buFont typeface="Arial" panose="020B0604020202020204" pitchFamily="34" charset="0"/>
              <a:buAutoNum type="alphaUcPeriod"/>
            </a:pPr>
            <a:r>
              <a:rPr lang="en-US" altLang="en-US" sz="3200" dirty="0">
                <a:ea typeface="MS PGothic" panose="020B0600070205080204" pitchFamily="34" charset="-128"/>
              </a:rPr>
              <a:t>Progesterone</a:t>
            </a:r>
          </a:p>
          <a:p>
            <a:pPr marL="914400" lvl="1" indent="-457200" eaLnBrk="1" hangingPunct="1">
              <a:lnSpc>
                <a:spcPct val="90000"/>
              </a:lnSpc>
              <a:buFont typeface="Arial" panose="020B0604020202020204" pitchFamily="34" charset="0"/>
              <a:buAutoNum type="alphaUcPeriod"/>
            </a:pPr>
            <a:r>
              <a:rPr lang="en-US" altLang="en-US" sz="3200" dirty="0">
                <a:ea typeface="MS PGothic" panose="020B0600070205080204" pitchFamily="34" charset="-128"/>
              </a:rPr>
              <a:t>Estrogen</a:t>
            </a:r>
          </a:p>
          <a:p>
            <a:pPr marL="533400" indent="-533400" eaLnBrk="1" hangingPunct="1">
              <a:lnSpc>
                <a:spcPct val="90000"/>
              </a:lnSpc>
              <a:buFont typeface="Wingdings 2" panose="05020102010507070707" pitchFamily="18" charset="2"/>
              <a:buNone/>
            </a:pPr>
            <a:endParaRPr lang="en-US" altLang="en-US" dirty="0"/>
          </a:p>
          <a:p>
            <a:pPr marL="533400" indent="-533400" eaLnBrk="1" hangingPunct="1">
              <a:lnSpc>
                <a:spcPct val="90000"/>
              </a:lnSpc>
              <a:buFont typeface="Wingdings 2" panose="05020102010507070707" pitchFamily="18" charset="2"/>
              <a:buNone/>
            </a:pPr>
            <a:endParaRPr lang="en-US" altLang="en-US" dirty="0"/>
          </a:p>
        </p:txBody>
      </p:sp>
    </p:spTree>
    <p:extLst>
      <p:ext uri="{BB962C8B-B14F-4D97-AF65-F5344CB8AC3E}">
        <p14:creationId xmlns:p14="http://schemas.microsoft.com/office/powerpoint/2010/main" val="203321485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6"/>
          <p:cNvSpPr>
            <a:spLocks noGrp="1" noChangeArrowheads="1"/>
          </p:cNvSpPr>
          <p:nvPr>
            <p:ph type="title"/>
          </p:nvPr>
        </p:nvSpPr>
        <p:spPr>
          <a:xfrm>
            <a:off x="914400" y="228600"/>
            <a:ext cx="7315200" cy="1143000"/>
          </a:xfrm>
        </p:spPr>
        <p:txBody>
          <a:bodyPr/>
          <a:lstStyle/>
          <a:p>
            <a:pPr eaLnBrk="1" hangingPunct="1"/>
            <a:r>
              <a:rPr lang="en-US" altLang="en-US" dirty="0"/>
              <a:t>Pregnancy (slide 4 of 6</a:t>
            </a:r>
            <a:r>
              <a:rPr lang="en-US" altLang="ja-JP" dirty="0"/>
              <a:t>)</a:t>
            </a:r>
            <a:endParaRPr lang="en-US" altLang="en-US" dirty="0"/>
          </a:p>
        </p:txBody>
      </p:sp>
      <p:sp>
        <p:nvSpPr>
          <p:cNvPr id="27651" name="Rectangle 7"/>
          <p:cNvSpPr>
            <a:spLocks noGrp="1" noChangeArrowheads="1"/>
          </p:cNvSpPr>
          <p:nvPr>
            <p:ph idx="1"/>
          </p:nvPr>
        </p:nvSpPr>
        <p:spPr>
          <a:xfrm>
            <a:off x="685800" y="1641475"/>
            <a:ext cx="7367588" cy="4041775"/>
          </a:xfrm>
        </p:spPr>
        <p:txBody>
          <a:bodyPr/>
          <a:lstStyle/>
          <a:p>
            <a:pPr eaLnBrk="1" hangingPunct="1">
              <a:buFont typeface="Wingdings 2" panose="05020102010507070707" pitchFamily="18" charset="2"/>
              <a:buNone/>
            </a:pPr>
            <a:r>
              <a:rPr lang="en-US" altLang="en-US" b="1"/>
              <a:t>Pregnancy</a:t>
            </a:r>
          </a:p>
          <a:p>
            <a:pPr lvl="1" eaLnBrk="1" hangingPunct="1">
              <a:buFont typeface="Wingdings" panose="05000000000000000000" pitchFamily="2" charset="2"/>
              <a:buChar char="Ø"/>
            </a:pPr>
            <a:r>
              <a:rPr lang="en-US" altLang="en-US">
                <a:ea typeface="MS PGothic" panose="020B0600070205080204" pitchFamily="34" charset="-128"/>
              </a:rPr>
              <a:t>Progesterone maintains placenta development.</a:t>
            </a:r>
          </a:p>
          <a:p>
            <a:pPr lvl="1" eaLnBrk="1" hangingPunct="1">
              <a:buFont typeface="Wingdings" panose="05000000000000000000" pitchFamily="2" charset="2"/>
              <a:buChar char="Ø"/>
            </a:pPr>
            <a:r>
              <a:rPr lang="en-US" altLang="en-US">
                <a:ea typeface="MS PGothic" panose="020B0600070205080204" pitchFamily="34" charset="-128"/>
              </a:rPr>
              <a:t>The uterus expands as the fetus grows.</a:t>
            </a:r>
          </a:p>
          <a:p>
            <a:pPr lvl="1" eaLnBrk="1" hangingPunct="1">
              <a:buFont typeface="Wingdings" panose="05000000000000000000" pitchFamily="2" charset="2"/>
              <a:buChar char="Ø"/>
            </a:pPr>
            <a:r>
              <a:rPr lang="en-US" altLang="en-US">
                <a:ea typeface="MS PGothic" panose="020B0600070205080204" pitchFamily="34" charset="-128"/>
              </a:rPr>
              <a:t>Normal delivery fetal position is cephalic presentation (head first).</a:t>
            </a:r>
          </a:p>
          <a:p>
            <a:pPr lvl="1" eaLnBrk="1" hangingPunct="1">
              <a:buFont typeface="Wingdings" panose="05000000000000000000" pitchFamily="2" charset="2"/>
              <a:buNone/>
            </a:pPr>
            <a:endParaRPr lang="en-US" altLang="en-US">
              <a:ea typeface="MS PGothic" panose="020B0600070205080204" pitchFamily="34" charset="-128"/>
            </a:endParaRPr>
          </a:p>
        </p:txBody>
      </p:sp>
    </p:spTree>
    <p:extLst>
      <p:ext uri="{BB962C8B-B14F-4D97-AF65-F5344CB8AC3E}">
        <p14:creationId xmlns:p14="http://schemas.microsoft.com/office/powerpoint/2010/main" val="150291614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1026"/>
          <p:cNvSpPr>
            <a:spLocks noGrp="1" noChangeArrowheads="1"/>
          </p:cNvSpPr>
          <p:nvPr>
            <p:ph type="title"/>
          </p:nvPr>
        </p:nvSpPr>
        <p:spPr>
          <a:xfrm>
            <a:off x="914400" y="228600"/>
            <a:ext cx="7315200" cy="1143000"/>
          </a:xfrm>
        </p:spPr>
        <p:txBody>
          <a:bodyPr/>
          <a:lstStyle/>
          <a:p>
            <a:pPr eaLnBrk="1" hangingPunct="1"/>
            <a:r>
              <a:rPr lang="en-US" altLang="en-US" dirty="0"/>
              <a:t>Pregnancy (slide 5 of 6</a:t>
            </a:r>
            <a:r>
              <a:rPr lang="en-US" altLang="ja-JP" dirty="0"/>
              <a:t>)</a:t>
            </a:r>
            <a:endParaRPr lang="en-US" altLang="en-US" dirty="0"/>
          </a:p>
        </p:txBody>
      </p:sp>
      <p:sp>
        <p:nvSpPr>
          <p:cNvPr id="28675" name="Rectangle 1027"/>
          <p:cNvSpPr>
            <a:spLocks noGrp="1" noChangeArrowheads="1"/>
          </p:cNvSpPr>
          <p:nvPr>
            <p:ph idx="1"/>
          </p:nvPr>
        </p:nvSpPr>
        <p:spPr>
          <a:xfrm>
            <a:off x="685800" y="1600200"/>
            <a:ext cx="6934200" cy="3733800"/>
          </a:xfrm>
        </p:spPr>
        <p:txBody>
          <a:bodyPr/>
          <a:lstStyle/>
          <a:p>
            <a:pPr marL="533400" indent="-533400" eaLnBrk="1" hangingPunct="1">
              <a:buFont typeface="Wingdings 2" panose="05020102010507070707" pitchFamily="18" charset="2"/>
              <a:buNone/>
            </a:pPr>
            <a:r>
              <a:rPr lang="en-US" altLang="en-US" b="1"/>
              <a:t>Pregnancy</a:t>
            </a:r>
            <a:endParaRPr lang="en-US" altLang="en-US" sz="1500" b="1">
              <a:solidFill>
                <a:srgbClr val="333399"/>
              </a:solidFill>
            </a:endParaRPr>
          </a:p>
          <a:p>
            <a:pPr marL="914400" lvl="1" indent="-457200" eaLnBrk="1" hangingPunct="1">
              <a:buFont typeface="Wingdings" panose="05000000000000000000" pitchFamily="2" charset="2"/>
              <a:buChar char="Ø"/>
            </a:pPr>
            <a:r>
              <a:rPr lang="en-US" altLang="en-US" sz="3200" b="1">
                <a:ea typeface="MS PGothic" panose="020B0600070205080204" pitchFamily="34" charset="-128"/>
              </a:rPr>
              <a:t>Three phases of labor</a:t>
            </a:r>
          </a:p>
          <a:p>
            <a:pPr marL="1295400" lvl="2" indent="-381000" eaLnBrk="1" hangingPunct="1">
              <a:buFontTx/>
              <a:buAutoNum type="arabicPeriod"/>
            </a:pPr>
            <a:r>
              <a:rPr lang="en-US" altLang="en-US" sz="2800">
                <a:ea typeface="MS PGothic" panose="020B0600070205080204" pitchFamily="34" charset="-128"/>
              </a:rPr>
              <a:t>Dilation and thinning of the cervix</a:t>
            </a:r>
          </a:p>
          <a:p>
            <a:pPr marL="1295400" lvl="2" indent="-381000" eaLnBrk="1" hangingPunct="1">
              <a:buFontTx/>
              <a:buAutoNum type="arabicPeriod"/>
            </a:pPr>
            <a:r>
              <a:rPr lang="en-US" altLang="en-US" sz="2800">
                <a:ea typeface="MS PGothic" panose="020B0600070205080204" pitchFamily="34" charset="-128"/>
              </a:rPr>
              <a:t>Birth of the infant</a:t>
            </a:r>
          </a:p>
          <a:p>
            <a:pPr marL="1295400" lvl="2" indent="-381000" eaLnBrk="1" hangingPunct="1">
              <a:buFontTx/>
              <a:buAutoNum type="arabicPeriod"/>
            </a:pPr>
            <a:r>
              <a:rPr lang="en-US" altLang="en-US" sz="2800">
                <a:ea typeface="MS PGothic" panose="020B0600070205080204" pitchFamily="34" charset="-128"/>
              </a:rPr>
              <a:t>Delivery of the placenta</a:t>
            </a:r>
          </a:p>
          <a:p>
            <a:pPr marL="914400" lvl="1" indent="-457200" eaLnBrk="1" hangingPunct="1">
              <a:buFont typeface="Webdings" panose="05030102010509060703" pitchFamily="18" charset="2"/>
              <a:buAutoNum type="arabicPeriod"/>
            </a:pPr>
            <a:endParaRPr lang="en-US" altLang="en-US">
              <a:ea typeface="MS PGothic" panose="020B0600070205080204" pitchFamily="34" charset="-128"/>
            </a:endParaRPr>
          </a:p>
        </p:txBody>
      </p:sp>
    </p:spTree>
    <p:extLst>
      <p:ext uri="{BB962C8B-B14F-4D97-AF65-F5344CB8AC3E}">
        <p14:creationId xmlns:p14="http://schemas.microsoft.com/office/powerpoint/2010/main" val="166367003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1029"/>
          <p:cNvSpPr>
            <a:spLocks noGrp="1" noChangeArrowheads="1"/>
          </p:cNvSpPr>
          <p:nvPr>
            <p:ph type="title"/>
          </p:nvPr>
        </p:nvSpPr>
        <p:spPr/>
        <p:txBody>
          <a:bodyPr/>
          <a:lstStyle/>
          <a:p>
            <a:pPr eaLnBrk="1" hangingPunct="1"/>
            <a:r>
              <a:rPr lang="en-US" altLang="en-US" dirty="0"/>
              <a:t>Pregnancy (slide 6 of 6</a:t>
            </a:r>
            <a:r>
              <a:rPr lang="en-US" altLang="ja-JP" dirty="0"/>
              <a:t>)</a:t>
            </a:r>
            <a:endParaRPr lang="en-US" altLang="en-US" dirty="0"/>
          </a:p>
        </p:txBody>
      </p:sp>
      <p:sp>
        <p:nvSpPr>
          <p:cNvPr id="2" name="Text Placeholder 1"/>
          <p:cNvSpPr>
            <a:spLocks noGrp="1"/>
          </p:cNvSpPr>
          <p:nvPr>
            <p:ph type="body" idx="1"/>
          </p:nvPr>
        </p:nvSpPr>
        <p:spPr/>
        <p:txBody>
          <a:bodyPr/>
          <a:lstStyle/>
          <a:p>
            <a:r>
              <a:rPr lang="en-US" altLang="en-US" sz="2000" dirty="0">
                <a:latin typeface="Arial" panose="020B0604020202020204" pitchFamily="34" charset="0"/>
              </a:rPr>
              <a:t>A, Cephalic presentation.            </a:t>
            </a:r>
            <a:endParaRPr lang="es-419" sz="2000" dirty="0"/>
          </a:p>
        </p:txBody>
      </p:sp>
      <p:sp>
        <p:nvSpPr>
          <p:cNvPr id="4" name="Text Placeholder 3"/>
          <p:cNvSpPr>
            <a:spLocks noGrp="1"/>
          </p:cNvSpPr>
          <p:nvPr>
            <p:ph type="body" sz="quarter" idx="3"/>
          </p:nvPr>
        </p:nvSpPr>
        <p:spPr>
          <a:xfrm>
            <a:off x="4645025" y="1553706"/>
            <a:ext cx="4041775" cy="639762"/>
          </a:xfrm>
        </p:spPr>
        <p:txBody>
          <a:bodyPr/>
          <a:lstStyle/>
          <a:p>
            <a:r>
              <a:rPr lang="en-US" altLang="en-US" sz="2000" dirty="0">
                <a:latin typeface="Arial" panose="020B0604020202020204" pitchFamily="34" charset="0"/>
              </a:rPr>
              <a:t>B, Delivery of the placenta.</a:t>
            </a:r>
          </a:p>
        </p:txBody>
      </p:sp>
      <p:pic>
        <p:nvPicPr>
          <p:cNvPr id="10" name="Picture 1036" descr="In a normal delivery position, the baby’s head appears first (cephalic presentation)."/>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bwMode="auto">
          <a:xfrm>
            <a:off x="648494" y="2663095"/>
            <a:ext cx="3657600" cy="297484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11" name="Picture 1037" descr="After vaginal delivery of the baby, the placenta separates from the uterine wall and expelled."/>
          <p:cNvPicPr>
            <a:picLocks noGrp="1" noChangeAspect="1" noChangeArrowheads="1"/>
          </p:cNvPicPr>
          <p:nvPr>
            <p:ph sz="quarter" idx="4"/>
          </p:nvPr>
        </p:nvPicPr>
        <p:blipFill>
          <a:blip r:embed="rId4">
            <a:extLst>
              <a:ext uri="{28A0092B-C50C-407E-A947-70E740481C1C}">
                <a14:useLocalDpi xmlns:a14="http://schemas.microsoft.com/office/drawing/2010/main" val="0"/>
              </a:ext>
            </a:extLst>
          </a:blip>
          <a:srcRect/>
          <a:stretch>
            <a:fillRect/>
          </a:stretch>
        </p:blipFill>
        <p:spPr bwMode="auto">
          <a:xfrm>
            <a:off x="4837112" y="2833783"/>
            <a:ext cx="3657600" cy="263347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25028560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6"/>
          <p:cNvSpPr>
            <a:spLocks noGrp="1" noChangeArrowheads="1"/>
          </p:cNvSpPr>
          <p:nvPr>
            <p:ph type="title"/>
          </p:nvPr>
        </p:nvSpPr>
        <p:spPr/>
        <p:txBody>
          <a:bodyPr/>
          <a:lstStyle/>
          <a:p>
            <a:pPr eaLnBrk="1" hangingPunct="1"/>
            <a:r>
              <a:rPr lang="en-US" altLang="en-US" dirty="0"/>
              <a:t>Hormonal Interactions</a:t>
            </a:r>
            <a:br>
              <a:rPr lang="en-US" altLang="en-US" dirty="0"/>
            </a:br>
            <a:r>
              <a:rPr lang="en-US" altLang="en-US" sz="4000" dirty="0"/>
              <a:t>(Slide 1 of 2)</a:t>
            </a:r>
          </a:p>
        </p:txBody>
      </p:sp>
      <p:sp>
        <p:nvSpPr>
          <p:cNvPr id="30723" name="Rectangle 7"/>
          <p:cNvSpPr>
            <a:spLocks noGrp="1" noChangeArrowheads="1"/>
          </p:cNvSpPr>
          <p:nvPr>
            <p:ph idx="1"/>
          </p:nvPr>
        </p:nvSpPr>
        <p:spPr/>
        <p:txBody>
          <a:bodyPr/>
          <a:lstStyle/>
          <a:p>
            <a:pPr eaLnBrk="1" hangingPunct="1"/>
            <a:r>
              <a:rPr lang="en-US" altLang="en-US"/>
              <a:t>The pituitary secretes: </a:t>
            </a:r>
          </a:p>
          <a:p>
            <a:pPr lvl="1" eaLnBrk="1" hangingPunct="1">
              <a:buFont typeface="Wingdings" panose="05000000000000000000" pitchFamily="2" charset="2"/>
              <a:buChar char="Ø"/>
            </a:pPr>
            <a:r>
              <a:rPr lang="en-US" altLang="en-US">
                <a:ea typeface="MS PGothic" panose="020B0600070205080204" pitchFamily="34" charset="-128"/>
              </a:rPr>
              <a:t>Follicle-stimulating hormone (FSH) </a:t>
            </a:r>
          </a:p>
          <a:p>
            <a:pPr lvl="1" eaLnBrk="1" hangingPunct="1">
              <a:buFont typeface="Wingdings" panose="05000000000000000000" pitchFamily="2" charset="2"/>
              <a:buChar char="Ø"/>
            </a:pPr>
            <a:r>
              <a:rPr lang="en-US" altLang="en-US">
                <a:ea typeface="MS PGothic" panose="020B0600070205080204" pitchFamily="34" charset="-128"/>
              </a:rPr>
              <a:t>Luteinizing hormone (LH)</a:t>
            </a:r>
          </a:p>
          <a:p>
            <a:pPr eaLnBrk="1" hangingPunct="1"/>
            <a:endParaRPr lang="en-US" altLang="en-US"/>
          </a:p>
          <a:p>
            <a:pPr eaLnBrk="1" hangingPunct="1"/>
            <a:r>
              <a:rPr lang="en-US" altLang="en-US"/>
              <a:t>The pituitary stops producing FSH and LH</a:t>
            </a:r>
          </a:p>
          <a:p>
            <a:pPr lvl="1" eaLnBrk="1" hangingPunct="1">
              <a:buFont typeface="Wingdings" panose="05000000000000000000" pitchFamily="2" charset="2"/>
              <a:buChar char="Ø"/>
            </a:pPr>
            <a:r>
              <a:rPr lang="en-US" altLang="en-US">
                <a:ea typeface="MS PGothic" panose="020B0600070205080204" pitchFamily="34" charset="-128"/>
              </a:rPr>
              <a:t>During pregnancy</a:t>
            </a:r>
          </a:p>
          <a:p>
            <a:pPr lvl="1" eaLnBrk="1" hangingPunct="1">
              <a:buFont typeface="Wingdings" panose="05000000000000000000" pitchFamily="2" charset="2"/>
              <a:buChar char="Ø"/>
            </a:pPr>
            <a:r>
              <a:rPr lang="en-US" altLang="en-US">
                <a:ea typeface="MS PGothic" panose="020B0600070205080204" pitchFamily="34" charset="-128"/>
              </a:rPr>
              <a:t>With oral contraceptives</a:t>
            </a:r>
          </a:p>
          <a:p>
            <a:pPr lvl="1" eaLnBrk="1" hangingPunct="1">
              <a:buFont typeface="Wingdings" panose="05000000000000000000" pitchFamily="2" charset="2"/>
              <a:buChar char="Ø"/>
            </a:pPr>
            <a:endParaRPr lang="en-US" altLang="en-US">
              <a:ea typeface="MS PGothic" panose="020B0600070205080204" pitchFamily="34" charset="-128"/>
            </a:endParaRPr>
          </a:p>
        </p:txBody>
      </p:sp>
    </p:spTree>
    <p:extLst>
      <p:ext uri="{BB962C8B-B14F-4D97-AF65-F5344CB8AC3E}">
        <p14:creationId xmlns:p14="http://schemas.microsoft.com/office/powerpoint/2010/main" val="105598084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030"/>
          <p:cNvSpPr>
            <a:spLocks noGrp="1" noChangeArrowheads="1"/>
          </p:cNvSpPr>
          <p:nvPr>
            <p:ph type="title"/>
          </p:nvPr>
        </p:nvSpPr>
        <p:spPr/>
        <p:txBody>
          <a:bodyPr/>
          <a:lstStyle/>
          <a:p>
            <a:pPr eaLnBrk="1" hangingPunct="1"/>
            <a:r>
              <a:rPr lang="en-US" altLang="en-US" dirty="0"/>
              <a:t>Hormonal Interactions</a:t>
            </a:r>
            <a:br>
              <a:rPr lang="en-US" altLang="en-US" dirty="0"/>
            </a:br>
            <a:r>
              <a:rPr lang="en-US" altLang="en-US" sz="4000" dirty="0"/>
              <a:t>(Slide 2 of 2)</a:t>
            </a:r>
          </a:p>
        </p:txBody>
      </p:sp>
      <p:sp>
        <p:nvSpPr>
          <p:cNvPr id="31747" name="Rectangle 1031"/>
          <p:cNvSpPr>
            <a:spLocks noGrp="1" noChangeArrowheads="1"/>
          </p:cNvSpPr>
          <p:nvPr>
            <p:ph idx="1"/>
          </p:nvPr>
        </p:nvSpPr>
        <p:spPr/>
        <p:txBody>
          <a:bodyPr/>
          <a:lstStyle/>
          <a:p>
            <a:pPr eaLnBrk="1" hangingPunct="1"/>
            <a:r>
              <a:rPr lang="en-US" altLang="en-US"/>
              <a:t>Menopause	</a:t>
            </a:r>
          </a:p>
          <a:p>
            <a:pPr lvl="1" eaLnBrk="1" hangingPunct="1">
              <a:buFont typeface="Wingdings" panose="05000000000000000000" pitchFamily="2" charset="2"/>
              <a:buChar char="Ø"/>
            </a:pPr>
            <a:r>
              <a:rPr lang="en-US" altLang="en-US">
                <a:ea typeface="MS PGothic" panose="020B0600070205080204" pitchFamily="34" charset="-128"/>
              </a:rPr>
              <a:t>Gradual ending of the menstrual cycle </a:t>
            </a:r>
          </a:p>
          <a:p>
            <a:pPr lvl="1" eaLnBrk="1" hangingPunct="1">
              <a:buFont typeface="Wingdings" panose="05000000000000000000" pitchFamily="2" charset="2"/>
              <a:buChar char="Ø"/>
            </a:pPr>
            <a:r>
              <a:rPr lang="en-US" altLang="en-US">
                <a:ea typeface="MS PGothic" panose="020B0600070205080204" pitchFamily="34" charset="-128"/>
              </a:rPr>
              <a:t>Normally begins between ages 45 and 55</a:t>
            </a:r>
          </a:p>
          <a:p>
            <a:pPr lvl="1" eaLnBrk="1" hangingPunct="1">
              <a:buFont typeface="Wingdings" panose="05000000000000000000" pitchFamily="2" charset="2"/>
              <a:buChar char="Ø"/>
            </a:pPr>
            <a:r>
              <a:rPr lang="en-US" altLang="en-US">
                <a:ea typeface="MS PGothic" panose="020B0600070205080204" pitchFamily="34" charset="-128"/>
              </a:rPr>
              <a:t>Falling estrogen levels</a:t>
            </a:r>
          </a:p>
          <a:p>
            <a:pPr lvl="1" eaLnBrk="1" hangingPunct="1">
              <a:buFont typeface="Wingdings" panose="05000000000000000000" pitchFamily="2" charset="2"/>
              <a:buChar char="Ø"/>
            </a:pPr>
            <a:r>
              <a:rPr lang="en-US" altLang="en-US">
                <a:ea typeface="MS PGothic" panose="020B0600070205080204" pitchFamily="34" charset="-128"/>
              </a:rPr>
              <a:t>Option for estrogen replacement therapy (careful consideration of risks required)</a:t>
            </a:r>
          </a:p>
          <a:p>
            <a:pPr eaLnBrk="1" hangingPunct="1"/>
            <a:endParaRPr lang="en-US" altLang="en-US"/>
          </a:p>
        </p:txBody>
      </p:sp>
    </p:spTree>
    <p:extLst>
      <p:ext uri="{BB962C8B-B14F-4D97-AF65-F5344CB8AC3E}">
        <p14:creationId xmlns:p14="http://schemas.microsoft.com/office/powerpoint/2010/main" val="207878353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Vocabulary (Slide 1 of 34)</a:t>
            </a:r>
          </a:p>
        </p:txBody>
      </p:sp>
      <p:graphicFrame>
        <p:nvGraphicFramePr>
          <p:cNvPr id="8" name="Content Placeholder 7" descr="Group 1 of 17:  This table lists a group of vocabulary terms from the text.  The same terms are repeated on the next slide with corresponding definitions."/>
          <p:cNvGraphicFramePr>
            <a:graphicFrameLocks noGrp="1"/>
          </p:cNvGraphicFramePr>
          <p:nvPr>
            <p:ph idx="1"/>
            <p:extLst>
              <p:ext uri="{D42A27DB-BD31-4B8C-83A1-F6EECF244321}">
                <p14:modId xmlns:p14="http://schemas.microsoft.com/office/powerpoint/2010/main" val="3442557594"/>
              </p:ext>
            </p:extLst>
          </p:nvPr>
        </p:nvGraphicFramePr>
        <p:xfrm>
          <a:off x="2743200" y="1752600"/>
          <a:ext cx="3276600" cy="2819400"/>
        </p:xfrm>
        <a:graphic>
          <a:graphicData uri="http://schemas.openxmlformats.org/drawingml/2006/table">
            <a:tbl>
              <a:tblPr firstRow="1" bandRow="1">
                <a:tableStyleId>{5C22544A-7EE6-4342-B048-85BDC9FD1C3A}</a:tableStyleId>
              </a:tblPr>
              <a:tblGrid>
                <a:gridCol w="3276600">
                  <a:extLst>
                    <a:ext uri="{9D8B030D-6E8A-4147-A177-3AD203B41FA5}">
                      <a16:colId xmlns:a16="http://schemas.microsoft.com/office/drawing/2014/main" val="20000"/>
                    </a:ext>
                  </a:extLst>
                </a:gridCol>
              </a:tblGrid>
              <a:tr h="704850">
                <a:tc>
                  <a:txBody>
                    <a:bodyPr/>
                    <a:lstStyle/>
                    <a:p>
                      <a:r>
                        <a:rPr lang="en-US" sz="2400" dirty="0"/>
                        <a:t>Term</a:t>
                      </a:r>
                    </a:p>
                  </a:txBody>
                  <a:tcPr/>
                </a:tc>
                <a:extLst>
                  <a:ext uri="{0D108BD9-81ED-4DB2-BD59-A6C34878D82A}">
                    <a16:rowId xmlns:a16="http://schemas.microsoft.com/office/drawing/2014/main" val="10000"/>
                  </a:ext>
                </a:extLst>
              </a:tr>
              <a:tr h="70485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dirty="0">
                          <a:ea typeface="ＭＳ Ｐゴシック" charset="0"/>
                        </a:rPr>
                        <a:t>adnexa of the uterus</a:t>
                      </a:r>
                    </a:p>
                  </a:txBody>
                  <a:tcPr/>
                </a:tc>
                <a:extLst>
                  <a:ext uri="{0D108BD9-81ED-4DB2-BD59-A6C34878D82A}">
                    <a16:rowId xmlns:a16="http://schemas.microsoft.com/office/drawing/2014/main" val="10001"/>
                  </a:ext>
                </a:extLst>
              </a:tr>
              <a:tr h="704850">
                <a:tc>
                  <a:txBody>
                    <a:bodyPr/>
                    <a:lstStyle/>
                    <a:p>
                      <a:r>
                        <a:rPr lang="en-US" sz="2400" dirty="0">
                          <a:ea typeface="ＭＳ Ｐゴシック" charset="0"/>
                          <a:cs typeface="Arial"/>
                        </a:rPr>
                        <a:t>amnion</a:t>
                      </a:r>
                      <a:endParaRPr lang="en-US" sz="2400" dirty="0"/>
                    </a:p>
                  </a:txBody>
                  <a:tcPr/>
                </a:tc>
                <a:extLst>
                  <a:ext uri="{0D108BD9-81ED-4DB2-BD59-A6C34878D82A}">
                    <a16:rowId xmlns:a16="http://schemas.microsoft.com/office/drawing/2014/main" val="10002"/>
                  </a:ext>
                </a:extLst>
              </a:tr>
              <a:tr h="704850">
                <a:tc>
                  <a:txBody>
                    <a:bodyPr/>
                    <a:lstStyle/>
                    <a:p>
                      <a:r>
                        <a:rPr lang="en-US" sz="2400" dirty="0">
                          <a:ea typeface="ＭＳ Ｐゴシック" charset="0"/>
                          <a:cs typeface="Arial"/>
                        </a:rPr>
                        <a:t>areola</a:t>
                      </a:r>
                      <a:endParaRPr lang="en-US" sz="2400" dirty="0"/>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17866373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Vocabulary (Slide 2 of 34)</a:t>
            </a:r>
          </a:p>
        </p:txBody>
      </p:sp>
      <p:graphicFrame>
        <p:nvGraphicFramePr>
          <p:cNvPr id="8" name="Content Placeholder 7" descr="Group 1 of 17.  List of vocabulary terms  with corresponding meanings or definitions."/>
          <p:cNvGraphicFramePr>
            <a:graphicFrameLocks noGrp="1"/>
          </p:cNvGraphicFramePr>
          <p:nvPr>
            <p:ph idx="1"/>
            <p:extLst>
              <p:ext uri="{D42A27DB-BD31-4B8C-83A1-F6EECF244321}">
                <p14:modId xmlns:p14="http://schemas.microsoft.com/office/powerpoint/2010/main" val="925487806"/>
              </p:ext>
            </p:extLst>
          </p:nvPr>
        </p:nvGraphicFramePr>
        <p:xfrm>
          <a:off x="457200" y="1600200"/>
          <a:ext cx="8229600" cy="2926080"/>
        </p:xfrm>
        <a:graphic>
          <a:graphicData uri="http://schemas.openxmlformats.org/drawingml/2006/table">
            <a:tbl>
              <a:tblPr firstRow="1" bandRow="1">
                <a:tableStyleId>{5C22544A-7EE6-4342-B048-85BDC9FD1C3A}</a:tableStyleId>
              </a:tblPr>
              <a:tblGrid>
                <a:gridCol w="2514600">
                  <a:extLst>
                    <a:ext uri="{9D8B030D-6E8A-4147-A177-3AD203B41FA5}">
                      <a16:colId xmlns:a16="http://schemas.microsoft.com/office/drawing/2014/main" val="20000"/>
                    </a:ext>
                  </a:extLst>
                </a:gridCol>
                <a:gridCol w="5715000">
                  <a:extLst>
                    <a:ext uri="{9D8B030D-6E8A-4147-A177-3AD203B41FA5}">
                      <a16:colId xmlns:a16="http://schemas.microsoft.com/office/drawing/2014/main" val="20001"/>
                    </a:ext>
                  </a:extLst>
                </a:gridCol>
              </a:tblGrid>
              <a:tr h="370840">
                <a:tc>
                  <a:txBody>
                    <a:bodyPr/>
                    <a:lstStyle/>
                    <a:p>
                      <a:r>
                        <a:rPr lang="en-US" sz="2400" dirty="0"/>
                        <a:t>Term</a:t>
                      </a:r>
                    </a:p>
                  </a:txBody>
                  <a:tcPr/>
                </a:tc>
                <a:tc>
                  <a:txBody>
                    <a:bodyPr/>
                    <a:lstStyle/>
                    <a:p>
                      <a:r>
                        <a:rPr lang="en-US" sz="2400" dirty="0"/>
                        <a:t>Meaning/Definition</a:t>
                      </a:r>
                    </a:p>
                  </a:txBody>
                  <a:tcPr/>
                </a:tc>
                <a:extLst>
                  <a:ext uri="{0D108BD9-81ED-4DB2-BD59-A6C34878D82A}">
                    <a16:rowId xmlns:a16="http://schemas.microsoft.com/office/drawing/2014/main" val="1000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dirty="0">
                          <a:ea typeface="ＭＳ Ｐゴシック" charset="0"/>
                        </a:rPr>
                        <a:t>adnexa of the </a:t>
                      </a:r>
                    </a:p>
                    <a:p>
                      <a:pPr marL="0" marR="0" indent="0" algn="l" defTabSz="914400" rtl="0" eaLnBrk="1" fontAlgn="auto" latinLnBrk="0" hangingPunct="1">
                        <a:lnSpc>
                          <a:spcPct val="100000"/>
                        </a:lnSpc>
                        <a:spcBef>
                          <a:spcPts val="0"/>
                        </a:spcBef>
                        <a:spcAft>
                          <a:spcPts val="0"/>
                        </a:spcAft>
                        <a:buClrTx/>
                        <a:buSzTx/>
                        <a:buFontTx/>
                        <a:buNone/>
                        <a:tabLst/>
                        <a:defRPr/>
                      </a:pPr>
                      <a:r>
                        <a:rPr lang="en-US" sz="2400" dirty="0">
                          <a:ea typeface="ＭＳ Ｐゴシック" charset="0"/>
                        </a:rPr>
                        <a:t>    uterus</a:t>
                      </a:r>
                    </a:p>
                  </a:txBody>
                  <a:tcPr/>
                </a:tc>
                <a:tc>
                  <a:txBody>
                    <a:bodyPr/>
                    <a:lstStyle/>
                    <a:p>
                      <a:pPr eaLnBrk="1" hangingPunct="1">
                        <a:buClr>
                          <a:srgbClr val="FFFF00"/>
                        </a:buClr>
                        <a:defRPr/>
                      </a:pPr>
                      <a:r>
                        <a:rPr lang="en-US" sz="2400" dirty="0">
                          <a:latin typeface="+mn-lt"/>
                          <a:ea typeface="ＭＳ Ｐゴシック" charset="0"/>
                          <a:cs typeface="Arial"/>
                        </a:rPr>
                        <a:t>Fallopian tubes, ovaries, and supporting </a:t>
                      </a:r>
                    </a:p>
                    <a:p>
                      <a:pPr eaLnBrk="1" hangingPunct="1">
                        <a:defRPr/>
                      </a:pPr>
                      <a:r>
                        <a:rPr lang="en-US" sz="2400" dirty="0">
                          <a:latin typeface="+mn-lt"/>
                          <a:ea typeface="ＭＳ Ｐゴシック" charset="0"/>
                          <a:cs typeface="Arial"/>
                        </a:rPr>
                        <a:t>ligaments</a:t>
                      </a:r>
                    </a:p>
                  </a:txBody>
                  <a:tcPr/>
                </a:tc>
                <a:extLst>
                  <a:ext uri="{0D108BD9-81ED-4DB2-BD59-A6C34878D82A}">
                    <a16:rowId xmlns:a16="http://schemas.microsoft.com/office/drawing/2014/main" val="10001"/>
                  </a:ext>
                </a:extLst>
              </a:tr>
              <a:tr h="370840">
                <a:tc>
                  <a:txBody>
                    <a:bodyPr/>
                    <a:lstStyle/>
                    <a:p>
                      <a:r>
                        <a:rPr lang="en-US" sz="2400" dirty="0">
                          <a:ea typeface="ＭＳ Ｐゴシック" charset="0"/>
                          <a:cs typeface="Arial"/>
                        </a:rPr>
                        <a:t>amnion</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dirty="0">
                          <a:latin typeface="+mn-lt"/>
                          <a:ea typeface="ＭＳ Ｐゴシック" charset="0"/>
                          <a:cs typeface="Arial"/>
                        </a:rPr>
                        <a:t>Innermost membranous sac surrounding the developing fetus</a:t>
                      </a:r>
                    </a:p>
                  </a:txBody>
                  <a:tcPr/>
                </a:tc>
                <a:extLst>
                  <a:ext uri="{0D108BD9-81ED-4DB2-BD59-A6C34878D82A}">
                    <a16:rowId xmlns:a16="http://schemas.microsoft.com/office/drawing/2014/main" val="10002"/>
                  </a:ext>
                </a:extLst>
              </a:tr>
              <a:tr h="370840">
                <a:tc>
                  <a:txBody>
                    <a:bodyPr/>
                    <a:lstStyle/>
                    <a:p>
                      <a:r>
                        <a:rPr lang="en-US" sz="2400" dirty="0">
                          <a:ea typeface="ＭＳ Ｐゴシック" charset="0"/>
                          <a:cs typeface="Arial"/>
                        </a:rPr>
                        <a:t>areola</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dirty="0">
                          <a:latin typeface="+mn-lt"/>
                          <a:ea typeface="ＭＳ Ｐゴシック" charset="0"/>
                          <a:cs typeface="Arial"/>
                        </a:rPr>
                        <a:t>Dark-pigmented area surrounding the breast nipple</a:t>
                      </a: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01233421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Vocabulary (Slide 3 of 34)</a:t>
            </a:r>
          </a:p>
        </p:txBody>
      </p:sp>
      <p:graphicFrame>
        <p:nvGraphicFramePr>
          <p:cNvPr id="8" name="Content Placeholder 7" descr="Group 2 of 17:  This table lists a group of vocabulary terms from the text.  The same terms are repeated on the next slide with corresponding definitions."/>
          <p:cNvGraphicFramePr>
            <a:graphicFrameLocks noGrp="1"/>
          </p:cNvGraphicFramePr>
          <p:nvPr>
            <p:ph idx="1"/>
            <p:extLst>
              <p:ext uri="{D42A27DB-BD31-4B8C-83A1-F6EECF244321}">
                <p14:modId xmlns:p14="http://schemas.microsoft.com/office/powerpoint/2010/main" val="109258183"/>
              </p:ext>
            </p:extLst>
          </p:nvPr>
        </p:nvGraphicFramePr>
        <p:xfrm>
          <a:off x="2209800" y="2133600"/>
          <a:ext cx="3886200" cy="2971800"/>
        </p:xfrm>
        <a:graphic>
          <a:graphicData uri="http://schemas.openxmlformats.org/drawingml/2006/table">
            <a:tbl>
              <a:tblPr firstRow="1" bandRow="1">
                <a:tableStyleId>{5C22544A-7EE6-4342-B048-85BDC9FD1C3A}</a:tableStyleId>
              </a:tblPr>
              <a:tblGrid>
                <a:gridCol w="3886200">
                  <a:extLst>
                    <a:ext uri="{9D8B030D-6E8A-4147-A177-3AD203B41FA5}">
                      <a16:colId xmlns:a16="http://schemas.microsoft.com/office/drawing/2014/main" val="20000"/>
                    </a:ext>
                  </a:extLst>
                </a:gridCol>
              </a:tblGrid>
              <a:tr h="742950">
                <a:tc>
                  <a:txBody>
                    <a:bodyPr/>
                    <a:lstStyle/>
                    <a:p>
                      <a:r>
                        <a:rPr lang="en-US" sz="2400" dirty="0"/>
                        <a:t>Term</a:t>
                      </a:r>
                    </a:p>
                  </a:txBody>
                  <a:tcPr/>
                </a:tc>
                <a:extLst>
                  <a:ext uri="{0D108BD9-81ED-4DB2-BD59-A6C34878D82A}">
                    <a16:rowId xmlns:a16="http://schemas.microsoft.com/office/drawing/2014/main" val="10000"/>
                  </a:ext>
                </a:extLst>
              </a:tr>
              <a:tr h="74295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dirty="0" err="1"/>
                        <a:t>Bartholin</a:t>
                      </a:r>
                      <a:r>
                        <a:rPr lang="en-US" sz="2400" dirty="0"/>
                        <a:t> glands</a:t>
                      </a:r>
                    </a:p>
                  </a:txBody>
                  <a:tcPr/>
                </a:tc>
                <a:extLst>
                  <a:ext uri="{0D108BD9-81ED-4DB2-BD59-A6C34878D82A}">
                    <a16:rowId xmlns:a16="http://schemas.microsoft.com/office/drawing/2014/main" val="10001"/>
                  </a:ext>
                </a:extLst>
              </a:tr>
              <a:tr h="742950">
                <a:tc>
                  <a:txBody>
                    <a:bodyPr/>
                    <a:lstStyle/>
                    <a:p>
                      <a:r>
                        <a:rPr lang="en-US" sz="2400" dirty="0"/>
                        <a:t>cervix</a:t>
                      </a:r>
                    </a:p>
                  </a:txBody>
                  <a:tcPr/>
                </a:tc>
                <a:extLst>
                  <a:ext uri="{0D108BD9-81ED-4DB2-BD59-A6C34878D82A}">
                    <a16:rowId xmlns:a16="http://schemas.microsoft.com/office/drawing/2014/main" val="10002"/>
                  </a:ext>
                </a:extLst>
              </a:tr>
              <a:tr h="742950">
                <a:tc>
                  <a:txBody>
                    <a:bodyPr/>
                    <a:lstStyle/>
                    <a:p>
                      <a:r>
                        <a:rPr lang="en-US" sz="2400" dirty="0" err="1"/>
                        <a:t>chorion</a:t>
                      </a:r>
                      <a:endParaRPr lang="en-US" sz="2400" dirty="0"/>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410251510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Vocabulary (Slide 4 of 34)</a:t>
            </a:r>
          </a:p>
        </p:txBody>
      </p:sp>
      <p:graphicFrame>
        <p:nvGraphicFramePr>
          <p:cNvPr id="8" name="Content Placeholder 7" descr="Group 2 of 17.  List of vocabulary terms  with corresponding meanings or definitions."/>
          <p:cNvGraphicFramePr>
            <a:graphicFrameLocks noGrp="1"/>
          </p:cNvGraphicFramePr>
          <p:nvPr>
            <p:ph idx="1"/>
            <p:extLst>
              <p:ext uri="{D42A27DB-BD31-4B8C-83A1-F6EECF244321}">
                <p14:modId xmlns:p14="http://schemas.microsoft.com/office/powerpoint/2010/main" val="2084230148"/>
              </p:ext>
            </p:extLst>
          </p:nvPr>
        </p:nvGraphicFramePr>
        <p:xfrm>
          <a:off x="457200" y="1600200"/>
          <a:ext cx="8229600" cy="3291840"/>
        </p:xfrm>
        <a:graphic>
          <a:graphicData uri="http://schemas.openxmlformats.org/drawingml/2006/table">
            <a:tbl>
              <a:tblPr firstRow="1" bandRow="1">
                <a:tableStyleId>{5C22544A-7EE6-4342-B048-85BDC9FD1C3A}</a:tableStyleId>
              </a:tblPr>
              <a:tblGrid>
                <a:gridCol w="2514600">
                  <a:extLst>
                    <a:ext uri="{9D8B030D-6E8A-4147-A177-3AD203B41FA5}">
                      <a16:colId xmlns:a16="http://schemas.microsoft.com/office/drawing/2014/main" val="20000"/>
                    </a:ext>
                  </a:extLst>
                </a:gridCol>
                <a:gridCol w="5715000">
                  <a:extLst>
                    <a:ext uri="{9D8B030D-6E8A-4147-A177-3AD203B41FA5}">
                      <a16:colId xmlns:a16="http://schemas.microsoft.com/office/drawing/2014/main" val="20001"/>
                    </a:ext>
                  </a:extLst>
                </a:gridCol>
              </a:tblGrid>
              <a:tr h="370840">
                <a:tc>
                  <a:txBody>
                    <a:bodyPr/>
                    <a:lstStyle/>
                    <a:p>
                      <a:r>
                        <a:rPr lang="en-US" sz="2400" dirty="0"/>
                        <a:t>Term</a:t>
                      </a:r>
                    </a:p>
                  </a:txBody>
                  <a:tcPr/>
                </a:tc>
                <a:tc>
                  <a:txBody>
                    <a:bodyPr/>
                    <a:lstStyle/>
                    <a:p>
                      <a:r>
                        <a:rPr lang="en-US" sz="2400" dirty="0"/>
                        <a:t>Meaning/Definition</a:t>
                      </a:r>
                    </a:p>
                  </a:txBody>
                  <a:tcPr/>
                </a:tc>
                <a:extLst>
                  <a:ext uri="{0D108BD9-81ED-4DB2-BD59-A6C34878D82A}">
                    <a16:rowId xmlns:a16="http://schemas.microsoft.com/office/drawing/2014/main" val="1000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dirty="0" err="1"/>
                        <a:t>Bartholin</a:t>
                      </a:r>
                      <a:r>
                        <a:rPr lang="en-US" sz="2400" dirty="0"/>
                        <a:t> glands</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dirty="0">
                          <a:ea typeface="ＭＳ Ｐゴシック" charset="0"/>
                        </a:rPr>
                        <a:t>Small, mucus-secreting exocrine glands at the vaginal orifice; named for Caspar </a:t>
                      </a:r>
                      <a:r>
                        <a:rPr lang="en-US" sz="2400" dirty="0" err="1">
                          <a:ea typeface="ＭＳ Ｐゴシック" charset="0"/>
                        </a:rPr>
                        <a:t>Bartholin</a:t>
                      </a:r>
                      <a:r>
                        <a:rPr lang="en-US" sz="2400" dirty="0">
                          <a:ea typeface="ＭＳ Ｐゴシック" charset="0"/>
                        </a:rPr>
                        <a:t>, a Danish anatomist who described them in 1637</a:t>
                      </a:r>
                    </a:p>
                  </a:txBody>
                  <a:tcPr/>
                </a:tc>
                <a:extLst>
                  <a:ext uri="{0D108BD9-81ED-4DB2-BD59-A6C34878D82A}">
                    <a16:rowId xmlns:a16="http://schemas.microsoft.com/office/drawing/2014/main" val="10001"/>
                  </a:ext>
                </a:extLst>
              </a:tr>
              <a:tr h="370840">
                <a:tc>
                  <a:txBody>
                    <a:bodyPr/>
                    <a:lstStyle/>
                    <a:p>
                      <a:r>
                        <a:rPr lang="en-US" sz="2400" dirty="0"/>
                        <a:t>cervix</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dirty="0">
                          <a:ea typeface="ＭＳ Ｐゴシック" charset="0"/>
                        </a:rPr>
                        <a:t>Lower, neck-like portion of the uterus</a:t>
                      </a:r>
                    </a:p>
                  </a:txBody>
                  <a:tcPr/>
                </a:tc>
                <a:extLst>
                  <a:ext uri="{0D108BD9-81ED-4DB2-BD59-A6C34878D82A}">
                    <a16:rowId xmlns:a16="http://schemas.microsoft.com/office/drawing/2014/main" val="10002"/>
                  </a:ext>
                </a:extLst>
              </a:tr>
              <a:tr h="370840">
                <a:tc>
                  <a:txBody>
                    <a:bodyPr/>
                    <a:lstStyle/>
                    <a:p>
                      <a:r>
                        <a:rPr lang="en-US" sz="2400" dirty="0" err="1"/>
                        <a:t>chorion</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dirty="0">
                          <a:ea typeface="ＭＳ Ｐゴシック" charset="0"/>
                        </a:rPr>
                        <a:t>Outermost layer of the two membranes surrounding the embryo</a:t>
                      </a: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31876765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Vocabulary (Slide 5 of 34)</a:t>
            </a:r>
          </a:p>
        </p:txBody>
      </p:sp>
      <p:graphicFrame>
        <p:nvGraphicFramePr>
          <p:cNvPr id="8" name="Content Placeholder 7" descr="Group 3 of 17:  This table lists a group of vocabulary terms from the text.  The same terms are repeated on the next slide with corresponding definitions."/>
          <p:cNvGraphicFramePr>
            <a:graphicFrameLocks noGrp="1"/>
          </p:cNvGraphicFramePr>
          <p:nvPr>
            <p:ph idx="1"/>
            <p:extLst>
              <p:ext uri="{D42A27DB-BD31-4B8C-83A1-F6EECF244321}">
                <p14:modId xmlns:p14="http://schemas.microsoft.com/office/powerpoint/2010/main" val="866014233"/>
              </p:ext>
            </p:extLst>
          </p:nvPr>
        </p:nvGraphicFramePr>
        <p:xfrm>
          <a:off x="2286000" y="2286000"/>
          <a:ext cx="3810000" cy="2971800"/>
        </p:xfrm>
        <a:graphic>
          <a:graphicData uri="http://schemas.openxmlformats.org/drawingml/2006/table">
            <a:tbl>
              <a:tblPr firstRow="1" bandRow="1">
                <a:tableStyleId>{5C22544A-7EE6-4342-B048-85BDC9FD1C3A}</a:tableStyleId>
              </a:tblPr>
              <a:tblGrid>
                <a:gridCol w="3810000">
                  <a:extLst>
                    <a:ext uri="{9D8B030D-6E8A-4147-A177-3AD203B41FA5}">
                      <a16:colId xmlns:a16="http://schemas.microsoft.com/office/drawing/2014/main" val="20000"/>
                    </a:ext>
                  </a:extLst>
                </a:gridCol>
              </a:tblGrid>
              <a:tr h="742950">
                <a:tc>
                  <a:txBody>
                    <a:bodyPr/>
                    <a:lstStyle/>
                    <a:p>
                      <a:r>
                        <a:rPr lang="en-US" sz="2400" dirty="0"/>
                        <a:t>Term</a:t>
                      </a:r>
                    </a:p>
                  </a:txBody>
                  <a:tcPr/>
                </a:tc>
                <a:extLst>
                  <a:ext uri="{0D108BD9-81ED-4DB2-BD59-A6C34878D82A}">
                    <a16:rowId xmlns:a16="http://schemas.microsoft.com/office/drawing/2014/main" val="10000"/>
                  </a:ext>
                </a:extLst>
              </a:tr>
              <a:tr h="742950">
                <a:tc>
                  <a:txBody>
                    <a:bodyPr/>
                    <a:lstStyle/>
                    <a:p>
                      <a:r>
                        <a:rPr lang="en-US" altLang="en-US" sz="2400" dirty="0"/>
                        <a:t>clitoris</a:t>
                      </a:r>
                      <a:endParaRPr lang="en-US" sz="2400" dirty="0"/>
                    </a:p>
                  </a:txBody>
                  <a:tcPr/>
                </a:tc>
                <a:extLst>
                  <a:ext uri="{0D108BD9-81ED-4DB2-BD59-A6C34878D82A}">
                    <a16:rowId xmlns:a16="http://schemas.microsoft.com/office/drawing/2014/main" val="10001"/>
                  </a:ext>
                </a:extLst>
              </a:tr>
              <a:tr h="742950">
                <a:tc>
                  <a:txBody>
                    <a:bodyPr/>
                    <a:lstStyle/>
                    <a:p>
                      <a:r>
                        <a:rPr lang="en-US" altLang="en-US" sz="2400" dirty="0"/>
                        <a:t>coitus</a:t>
                      </a:r>
                      <a:endParaRPr lang="en-US" sz="2400" dirty="0"/>
                    </a:p>
                  </a:txBody>
                  <a:tcPr/>
                </a:tc>
                <a:extLst>
                  <a:ext uri="{0D108BD9-81ED-4DB2-BD59-A6C34878D82A}">
                    <a16:rowId xmlns:a16="http://schemas.microsoft.com/office/drawing/2014/main" val="10002"/>
                  </a:ext>
                </a:extLst>
              </a:tr>
              <a:tr h="74295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corpus </a:t>
                      </a:r>
                      <a:r>
                        <a:rPr lang="en-US" altLang="en-US" sz="2400" dirty="0" err="1"/>
                        <a:t>luteum</a:t>
                      </a:r>
                      <a:endParaRPr lang="en-US" altLang="en-US" sz="2400" dirty="0"/>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68759090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Vocabulary (Slide 6 of 34)</a:t>
            </a:r>
          </a:p>
        </p:txBody>
      </p:sp>
      <p:graphicFrame>
        <p:nvGraphicFramePr>
          <p:cNvPr id="8" name="Content Placeholder 7" descr="Group 3 of 17.  List of vocabulary terms  with corresponding meanings or definitions."/>
          <p:cNvGraphicFramePr>
            <a:graphicFrameLocks noGrp="1"/>
          </p:cNvGraphicFramePr>
          <p:nvPr>
            <p:ph idx="1"/>
            <p:extLst>
              <p:ext uri="{D42A27DB-BD31-4B8C-83A1-F6EECF244321}">
                <p14:modId xmlns:p14="http://schemas.microsoft.com/office/powerpoint/2010/main" val="1300292395"/>
              </p:ext>
            </p:extLst>
          </p:nvPr>
        </p:nvGraphicFramePr>
        <p:xfrm>
          <a:off x="457200" y="1600200"/>
          <a:ext cx="8229600" cy="2926080"/>
        </p:xfrm>
        <a:graphic>
          <a:graphicData uri="http://schemas.openxmlformats.org/drawingml/2006/table">
            <a:tbl>
              <a:tblPr firstRow="1" bandRow="1">
                <a:tableStyleId>{5C22544A-7EE6-4342-B048-85BDC9FD1C3A}</a:tableStyleId>
              </a:tblPr>
              <a:tblGrid>
                <a:gridCol w="2514600">
                  <a:extLst>
                    <a:ext uri="{9D8B030D-6E8A-4147-A177-3AD203B41FA5}">
                      <a16:colId xmlns:a16="http://schemas.microsoft.com/office/drawing/2014/main" val="20000"/>
                    </a:ext>
                  </a:extLst>
                </a:gridCol>
                <a:gridCol w="5715000">
                  <a:extLst>
                    <a:ext uri="{9D8B030D-6E8A-4147-A177-3AD203B41FA5}">
                      <a16:colId xmlns:a16="http://schemas.microsoft.com/office/drawing/2014/main" val="20001"/>
                    </a:ext>
                  </a:extLst>
                </a:gridCol>
              </a:tblGrid>
              <a:tr h="370840">
                <a:tc>
                  <a:txBody>
                    <a:bodyPr/>
                    <a:lstStyle/>
                    <a:p>
                      <a:r>
                        <a:rPr lang="en-US" sz="2400" dirty="0"/>
                        <a:t>Term</a:t>
                      </a:r>
                    </a:p>
                  </a:txBody>
                  <a:tcPr/>
                </a:tc>
                <a:tc>
                  <a:txBody>
                    <a:bodyPr/>
                    <a:lstStyle/>
                    <a:p>
                      <a:r>
                        <a:rPr lang="en-US" sz="2400" dirty="0"/>
                        <a:t>Meaning/Definition</a:t>
                      </a:r>
                    </a:p>
                  </a:txBody>
                  <a:tcPr/>
                </a:tc>
                <a:extLst>
                  <a:ext uri="{0D108BD9-81ED-4DB2-BD59-A6C34878D82A}">
                    <a16:rowId xmlns:a16="http://schemas.microsoft.com/office/drawing/2014/main" val="10000"/>
                  </a:ext>
                </a:extLst>
              </a:tr>
              <a:tr h="370840">
                <a:tc>
                  <a:txBody>
                    <a:bodyPr/>
                    <a:lstStyle/>
                    <a:p>
                      <a:r>
                        <a:rPr lang="en-US" altLang="en-US" sz="2400" dirty="0"/>
                        <a:t>clitoris</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Sensitive erectile tissue anterior to the opening of the female urethra</a:t>
                      </a:r>
                    </a:p>
                  </a:txBody>
                  <a:tcPr/>
                </a:tc>
                <a:extLst>
                  <a:ext uri="{0D108BD9-81ED-4DB2-BD59-A6C34878D82A}">
                    <a16:rowId xmlns:a16="http://schemas.microsoft.com/office/drawing/2014/main" val="10001"/>
                  </a:ext>
                </a:extLst>
              </a:tr>
              <a:tr h="370840">
                <a:tc>
                  <a:txBody>
                    <a:bodyPr/>
                    <a:lstStyle/>
                    <a:p>
                      <a:r>
                        <a:rPr lang="en-US" altLang="en-US" sz="2400" dirty="0"/>
                        <a:t>coitus</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Sexual intercourse; copulation</a:t>
                      </a:r>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corpus </a:t>
                      </a:r>
                      <a:r>
                        <a:rPr lang="en-US" altLang="en-US" sz="2400" dirty="0" err="1"/>
                        <a:t>luteum</a:t>
                      </a:r>
                      <a:endParaRPr lang="en-US" alt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Empty ovarian follicle; secretes progesterone after release of egg cell;  means “yellow body”</a:t>
                      </a: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45556376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Vocabulary (Slide 7 of 34)</a:t>
            </a:r>
          </a:p>
        </p:txBody>
      </p:sp>
      <p:graphicFrame>
        <p:nvGraphicFramePr>
          <p:cNvPr id="8" name="Content Placeholder 7" descr="Group 4 of 17:  This table lists a group of vocabulary terms from the text.  The same terms are repeated on the next slide with corresponding definitions."/>
          <p:cNvGraphicFramePr>
            <a:graphicFrameLocks noGrp="1"/>
          </p:cNvGraphicFramePr>
          <p:nvPr>
            <p:ph idx="1"/>
            <p:extLst>
              <p:ext uri="{D42A27DB-BD31-4B8C-83A1-F6EECF244321}">
                <p14:modId xmlns:p14="http://schemas.microsoft.com/office/powerpoint/2010/main" val="2060458293"/>
              </p:ext>
            </p:extLst>
          </p:nvPr>
        </p:nvGraphicFramePr>
        <p:xfrm>
          <a:off x="2585049" y="1905000"/>
          <a:ext cx="3973902" cy="3124200"/>
        </p:xfrm>
        <a:graphic>
          <a:graphicData uri="http://schemas.openxmlformats.org/drawingml/2006/table">
            <a:tbl>
              <a:tblPr firstRow="1" bandRow="1">
                <a:tableStyleId>{5C22544A-7EE6-4342-B048-85BDC9FD1C3A}</a:tableStyleId>
              </a:tblPr>
              <a:tblGrid>
                <a:gridCol w="3973902">
                  <a:extLst>
                    <a:ext uri="{9D8B030D-6E8A-4147-A177-3AD203B41FA5}">
                      <a16:colId xmlns:a16="http://schemas.microsoft.com/office/drawing/2014/main" val="20000"/>
                    </a:ext>
                  </a:extLst>
                </a:gridCol>
              </a:tblGrid>
              <a:tr h="781050">
                <a:tc>
                  <a:txBody>
                    <a:bodyPr/>
                    <a:lstStyle/>
                    <a:p>
                      <a:r>
                        <a:rPr lang="en-US" sz="2400" dirty="0"/>
                        <a:t>Term</a:t>
                      </a:r>
                    </a:p>
                  </a:txBody>
                  <a:tcPr/>
                </a:tc>
                <a:extLst>
                  <a:ext uri="{0D108BD9-81ED-4DB2-BD59-A6C34878D82A}">
                    <a16:rowId xmlns:a16="http://schemas.microsoft.com/office/drawing/2014/main" val="10000"/>
                  </a:ext>
                </a:extLst>
              </a:tr>
              <a:tr h="78105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cul-de-sac</a:t>
                      </a:r>
                    </a:p>
                  </a:txBody>
                  <a:tcPr/>
                </a:tc>
                <a:extLst>
                  <a:ext uri="{0D108BD9-81ED-4DB2-BD59-A6C34878D82A}">
                    <a16:rowId xmlns:a16="http://schemas.microsoft.com/office/drawing/2014/main" val="10001"/>
                  </a:ext>
                </a:extLst>
              </a:tr>
              <a:tr h="781050">
                <a:tc>
                  <a:txBody>
                    <a:bodyPr/>
                    <a:lstStyle/>
                    <a:p>
                      <a:r>
                        <a:rPr lang="en-US" altLang="en-US" sz="2400" dirty="0"/>
                        <a:t>embryo</a:t>
                      </a:r>
                      <a:endParaRPr lang="en-US" sz="2400" dirty="0"/>
                    </a:p>
                  </a:txBody>
                  <a:tcPr/>
                </a:tc>
                <a:extLst>
                  <a:ext uri="{0D108BD9-81ED-4DB2-BD59-A6C34878D82A}">
                    <a16:rowId xmlns:a16="http://schemas.microsoft.com/office/drawing/2014/main" val="10002"/>
                  </a:ext>
                </a:extLst>
              </a:tr>
              <a:tr h="781050">
                <a:tc>
                  <a:txBody>
                    <a:bodyPr/>
                    <a:lstStyle/>
                    <a:p>
                      <a:r>
                        <a:rPr lang="en-US" altLang="en-US" sz="2400" dirty="0"/>
                        <a:t>endometrium</a:t>
                      </a:r>
                      <a:endParaRPr lang="en-US" sz="2400" dirty="0"/>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35439527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Vocabulary (Slide 8 of 34)</a:t>
            </a:r>
          </a:p>
        </p:txBody>
      </p:sp>
      <p:graphicFrame>
        <p:nvGraphicFramePr>
          <p:cNvPr id="8" name="Content Placeholder 7" descr="Group 4 of 17.  List of vocabulary terms  with corresponding meanings or definitions."/>
          <p:cNvGraphicFramePr>
            <a:graphicFrameLocks noGrp="1"/>
          </p:cNvGraphicFramePr>
          <p:nvPr>
            <p:ph idx="1"/>
            <p:extLst>
              <p:ext uri="{D42A27DB-BD31-4B8C-83A1-F6EECF244321}">
                <p14:modId xmlns:p14="http://schemas.microsoft.com/office/powerpoint/2010/main" val="2282339732"/>
              </p:ext>
            </p:extLst>
          </p:nvPr>
        </p:nvGraphicFramePr>
        <p:xfrm>
          <a:off x="457200" y="1600200"/>
          <a:ext cx="8229600" cy="2926080"/>
        </p:xfrm>
        <a:graphic>
          <a:graphicData uri="http://schemas.openxmlformats.org/drawingml/2006/table">
            <a:tbl>
              <a:tblPr firstRow="1" bandRow="1">
                <a:tableStyleId>{5C22544A-7EE6-4342-B048-85BDC9FD1C3A}</a:tableStyleId>
              </a:tblPr>
              <a:tblGrid>
                <a:gridCol w="2514600">
                  <a:extLst>
                    <a:ext uri="{9D8B030D-6E8A-4147-A177-3AD203B41FA5}">
                      <a16:colId xmlns:a16="http://schemas.microsoft.com/office/drawing/2014/main" val="20000"/>
                    </a:ext>
                  </a:extLst>
                </a:gridCol>
                <a:gridCol w="5715000">
                  <a:extLst>
                    <a:ext uri="{9D8B030D-6E8A-4147-A177-3AD203B41FA5}">
                      <a16:colId xmlns:a16="http://schemas.microsoft.com/office/drawing/2014/main" val="20001"/>
                    </a:ext>
                  </a:extLst>
                </a:gridCol>
              </a:tblGrid>
              <a:tr h="370840">
                <a:tc>
                  <a:txBody>
                    <a:bodyPr/>
                    <a:lstStyle/>
                    <a:p>
                      <a:r>
                        <a:rPr lang="en-US" sz="2400" dirty="0"/>
                        <a:t>Term</a:t>
                      </a:r>
                    </a:p>
                  </a:txBody>
                  <a:tcPr/>
                </a:tc>
                <a:tc>
                  <a:txBody>
                    <a:bodyPr/>
                    <a:lstStyle/>
                    <a:p>
                      <a:r>
                        <a:rPr lang="en-US" sz="2400" dirty="0"/>
                        <a:t>Meaning/Definition</a:t>
                      </a:r>
                    </a:p>
                  </a:txBody>
                  <a:tcPr/>
                </a:tc>
                <a:extLst>
                  <a:ext uri="{0D108BD9-81ED-4DB2-BD59-A6C34878D82A}">
                    <a16:rowId xmlns:a16="http://schemas.microsoft.com/office/drawing/2014/main" val="1000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cul-de-sac</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Region in lower abdomen, midway between the rectum and the uterus</a:t>
                      </a:r>
                    </a:p>
                  </a:txBody>
                  <a:tcPr/>
                </a:tc>
                <a:extLst>
                  <a:ext uri="{0D108BD9-81ED-4DB2-BD59-A6C34878D82A}">
                    <a16:rowId xmlns:a16="http://schemas.microsoft.com/office/drawing/2014/main" val="10001"/>
                  </a:ext>
                </a:extLst>
              </a:tr>
              <a:tr h="370840">
                <a:tc>
                  <a:txBody>
                    <a:bodyPr/>
                    <a:lstStyle/>
                    <a:p>
                      <a:r>
                        <a:rPr lang="en-US" altLang="en-US" sz="2400" dirty="0"/>
                        <a:t>embryo</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Stage in prenatal development from 2 to 8 weeks</a:t>
                      </a:r>
                    </a:p>
                  </a:txBody>
                  <a:tcPr/>
                </a:tc>
                <a:extLst>
                  <a:ext uri="{0D108BD9-81ED-4DB2-BD59-A6C34878D82A}">
                    <a16:rowId xmlns:a16="http://schemas.microsoft.com/office/drawing/2014/main" val="10002"/>
                  </a:ext>
                </a:extLst>
              </a:tr>
              <a:tr h="370840">
                <a:tc>
                  <a:txBody>
                    <a:bodyPr/>
                    <a:lstStyle/>
                    <a:p>
                      <a:r>
                        <a:rPr lang="en-US" altLang="en-US" sz="2400" dirty="0"/>
                        <a:t>endometrium</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Inner, mucous membrane lining of the uterus  </a:t>
                      </a: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50155838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Vocabulary (Slide 9 of 34)</a:t>
            </a:r>
          </a:p>
        </p:txBody>
      </p:sp>
      <p:graphicFrame>
        <p:nvGraphicFramePr>
          <p:cNvPr id="8" name="Content Placeholder 7" descr="Group 5 of 17:  This table lists a group of vocabulary terms from the text.  The same terms are repeated on the next slide with corresponding definitions."/>
          <p:cNvGraphicFramePr>
            <a:graphicFrameLocks noGrp="1"/>
          </p:cNvGraphicFramePr>
          <p:nvPr>
            <p:ph idx="1"/>
            <p:extLst>
              <p:ext uri="{D42A27DB-BD31-4B8C-83A1-F6EECF244321}">
                <p14:modId xmlns:p14="http://schemas.microsoft.com/office/powerpoint/2010/main" val="3421093662"/>
              </p:ext>
            </p:extLst>
          </p:nvPr>
        </p:nvGraphicFramePr>
        <p:xfrm>
          <a:off x="2286000" y="2133600"/>
          <a:ext cx="4114800" cy="3200400"/>
        </p:xfrm>
        <a:graphic>
          <a:graphicData uri="http://schemas.openxmlformats.org/drawingml/2006/table">
            <a:tbl>
              <a:tblPr firstRow="1" bandRow="1">
                <a:tableStyleId>{5C22544A-7EE6-4342-B048-85BDC9FD1C3A}</a:tableStyleId>
              </a:tblPr>
              <a:tblGrid>
                <a:gridCol w="4114800">
                  <a:extLst>
                    <a:ext uri="{9D8B030D-6E8A-4147-A177-3AD203B41FA5}">
                      <a16:colId xmlns:a16="http://schemas.microsoft.com/office/drawing/2014/main" val="20000"/>
                    </a:ext>
                  </a:extLst>
                </a:gridCol>
              </a:tblGrid>
              <a:tr h="800100">
                <a:tc>
                  <a:txBody>
                    <a:bodyPr/>
                    <a:lstStyle/>
                    <a:p>
                      <a:r>
                        <a:rPr lang="en-US" sz="2400" dirty="0"/>
                        <a:t>Term</a:t>
                      </a:r>
                    </a:p>
                  </a:txBody>
                  <a:tcPr/>
                </a:tc>
                <a:extLst>
                  <a:ext uri="{0D108BD9-81ED-4DB2-BD59-A6C34878D82A}">
                    <a16:rowId xmlns:a16="http://schemas.microsoft.com/office/drawing/2014/main" val="10000"/>
                  </a:ext>
                </a:extLst>
              </a:tr>
              <a:tr h="800100">
                <a:tc>
                  <a:txBody>
                    <a:bodyPr/>
                    <a:lstStyle/>
                    <a:p>
                      <a:r>
                        <a:rPr lang="en-US" altLang="en-US" sz="2400" dirty="0"/>
                        <a:t>estrogen</a:t>
                      </a:r>
                      <a:endParaRPr lang="en-US" sz="2400" dirty="0"/>
                    </a:p>
                  </a:txBody>
                  <a:tcPr/>
                </a:tc>
                <a:extLst>
                  <a:ext uri="{0D108BD9-81ED-4DB2-BD59-A6C34878D82A}">
                    <a16:rowId xmlns:a16="http://schemas.microsoft.com/office/drawing/2014/main" val="10001"/>
                  </a:ext>
                </a:extLst>
              </a:tr>
              <a:tr h="80010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fallopian tube</a:t>
                      </a:r>
                    </a:p>
                  </a:txBody>
                  <a:tcPr/>
                </a:tc>
                <a:extLst>
                  <a:ext uri="{0D108BD9-81ED-4DB2-BD59-A6C34878D82A}">
                    <a16:rowId xmlns:a16="http://schemas.microsoft.com/office/drawing/2014/main" val="10002"/>
                  </a:ext>
                </a:extLst>
              </a:tr>
              <a:tr h="800100">
                <a:tc>
                  <a:txBody>
                    <a:bodyPr/>
                    <a:lstStyle/>
                    <a:p>
                      <a:r>
                        <a:rPr lang="en-US" altLang="en-US" sz="2400" dirty="0"/>
                        <a:t>fertilization</a:t>
                      </a:r>
                      <a:endParaRPr lang="en-US" sz="2400" dirty="0"/>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93762100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Vocabulary (Slide 10 of 34)</a:t>
            </a:r>
          </a:p>
        </p:txBody>
      </p:sp>
      <p:graphicFrame>
        <p:nvGraphicFramePr>
          <p:cNvPr id="8" name="Content Placeholder 7" descr="Group 5 of 17.  List of vocabulary terms  with corresponding meanings or definitions."/>
          <p:cNvGraphicFramePr>
            <a:graphicFrameLocks noGrp="1"/>
          </p:cNvGraphicFramePr>
          <p:nvPr>
            <p:ph idx="1"/>
            <p:extLst>
              <p:ext uri="{D42A27DB-BD31-4B8C-83A1-F6EECF244321}">
                <p14:modId xmlns:p14="http://schemas.microsoft.com/office/powerpoint/2010/main" val="2239374947"/>
              </p:ext>
            </p:extLst>
          </p:nvPr>
        </p:nvGraphicFramePr>
        <p:xfrm>
          <a:off x="457200" y="1600200"/>
          <a:ext cx="8229600" cy="3657600"/>
        </p:xfrm>
        <a:graphic>
          <a:graphicData uri="http://schemas.openxmlformats.org/drawingml/2006/table">
            <a:tbl>
              <a:tblPr firstRow="1" bandRow="1">
                <a:tableStyleId>{5C22544A-7EE6-4342-B048-85BDC9FD1C3A}</a:tableStyleId>
              </a:tblPr>
              <a:tblGrid>
                <a:gridCol w="2514600">
                  <a:extLst>
                    <a:ext uri="{9D8B030D-6E8A-4147-A177-3AD203B41FA5}">
                      <a16:colId xmlns:a16="http://schemas.microsoft.com/office/drawing/2014/main" val="20000"/>
                    </a:ext>
                  </a:extLst>
                </a:gridCol>
                <a:gridCol w="5715000">
                  <a:extLst>
                    <a:ext uri="{9D8B030D-6E8A-4147-A177-3AD203B41FA5}">
                      <a16:colId xmlns:a16="http://schemas.microsoft.com/office/drawing/2014/main" val="20001"/>
                    </a:ext>
                  </a:extLst>
                </a:gridCol>
              </a:tblGrid>
              <a:tr h="370840">
                <a:tc>
                  <a:txBody>
                    <a:bodyPr/>
                    <a:lstStyle/>
                    <a:p>
                      <a:r>
                        <a:rPr lang="en-US" sz="2400" dirty="0"/>
                        <a:t>Term</a:t>
                      </a:r>
                    </a:p>
                  </a:txBody>
                  <a:tcPr/>
                </a:tc>
                <a:tc>
                  <a:txBody>
                    <a:bodyPr/>
                    <a:lstStyle/>
                    <a:p>
                      <a:r>
                        <a:rPr lang="en-US" sz="2400" dirty="0"/>
                        <a:t>Meaning/Definition</a:t>
                      </a:r>
                    </a:p>
                  </a:txBody>
                  <a:tcPr/>
                </a:tc>
                <a:extLst>
                  <a:ext uri="{0D108BD9-81ED-4DB2-BD59-A6C34878D82A}">
                    <a16:rowId xmlns:a16="http://schemas.microsoft.com/office/drawing/2014/main" val="10000"/>
                  </a:ext>
                </a:extLst>
              </a:tr>
              <a:tr h="370840">
                <a:tc>
                  <a:txBody>
                    <a:bodyPr/>
                    <a:lstStyle/>
                    <a:p>
                      <a:r>
                        <a:rPr lang="en-US" altLang="en-US" sz="2400" dirty="0"/>
                        <a:t>estrogen</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Hormone produced by the ovaries that promotes female secondary sex characteristics</a:t>
                      </a:r>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fallopian tube</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One of a pair of ducts through which the ovum travels to the uterus;  oviduct; named for </a:t>
                      </a:r>
                      <a:r>
                        <a:rPr lang="en-US" altLang="en-US" sz="2400" dirty="0" err="1"/>
                        <a:t>Gabriello</a:t>
                      </a:r>
                      <a:r>
                        <a:rPr lang="en-US" altLang="en-US" sz="2400" dirty="0"/>
                        <a:t> </a:t>
                      </a:r>
                      <a:r>
                        <a:rPr lang="en-US" altLang="en-US" sz="2400" dirty="0" err="1"/>
                        <a:t>Fallopia</a:t>
                      </a:r>
                      <a:r>
                        <a:rPr lang="en-US" altLang="en-US" sz="2400" dirty="0"/>
                        <a:t>, an Italian anatomist</a:t>
                      </a:r>
                    </a:p>
                  </a:txBody>
                  <a:tcPr/>
                </a:tc>
                <a:extLst>
                  <a:ext uri="{0D108BD9-81ED-4DB2-BD59-A6C34878D82A}">
                    <a16:rowId xmlns:a16="http://schemas.microsoft.com/office/drawing/2014/main" val="10002"/>
                  </a:ext>
                </a:extLst>
              </a:tr>
              <a:tr h="370840">
                <a:tc>
                  <a:txBody>
                    <a:bodyPr/>
                    <a:lstStyle/>
                    <a:p>
                      <a:r>
                        <a:rPr lang="en-US" altLang="en-US" sz="2400" dirty="0"/>
                        <a:t>fertilization</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Union of sperm cell and ovum from which the embryo develops</a:t>
                      </a: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8887792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Vocabulary (Slide 11 of 34)</a:t>
            </a:r>
          </a:p>
        </p:txBody>
      </p:sp>
      <p:graphicFrame>
        <p:nvGraphicFramePr>
          <p:cNvPr id="8" name="Content Placeholder 7" descr="Group 6 of 17:  This table lists a group of vocabulary terms from the text.  The same terms are repeated on the next slide with corresponding definitions."/>
          <p:cNvGraphicFramePr>
            <a:graphicFrameLocks noGrp="1"/>
          </p:cNvGraphicFramePr>
          <p:nvPr>
            <p:ph idx="1"/>
            <p:extLst>
              <p:ext uri="{D42A27DB-BD31-4B8C-83A1-F6EECF244321}">
                <p14:modId xmlns:p14="http://schemas.microsoft.com/office/powerpoint/2010/main" val="3485454835"/>
              </p:ext>
            </p:extLst>
          </p:nvPr>
        </p:nvGraphicFramePr>
        <p:xfrm>
          <a:off x="2590800" y="2133600"/>
          <a:ext cx="2514600" cy="2560320"/>
        </p:xfrm>
        <a:graphic>
          <a:graphicData uri="http://schemas.openxmlformats.org/drawingml/2006/table">
            <a:tbl>
              <a:tblPr firstRow="1" bandRow="1">
                <a:tableStyleId>{5C22544A-7EE6-4342-B048-85BDC9FD1C3A}</a:tableStyleId>
              </a:tblPr>
              <a:tblGrid>
                <a:gridCol w="2514600">
                  <a:extLst>
                    <a:ext uri="{9D8B030D-6E8A-4147-A177-3AD203B41FA5}">
                      <a16:colId xmlns:a16="http://schemas.microsoft.com/office/drawing/2014/main" val="20000"/>
                    </a:ext>
                  </a:extLst>
                </a:gridCol>
              </a:tblGrid>
              <a:tr h="370840">
                <a:tc>
                  <a:txBody>
                    <a:bodyPr/>
                    <a:lstStyle/>
                    <a:p>
                      <a:r>
                        <a:rPr lang="en-US" sz="2400" dirty="0"/>
                        <a:t>Term</a:t>
                      </a:r>
                    </a:p>
                  </a:txBody>
                  <a:tcPr/>
                </a:tc>
                <a:extLst>
                  <a:ext uri="{0D108BD9-81ED-4DB2-BD59-A6C34878D82A}">
                    <a16:rowId xmlns:a16="http://schemas.microsoft.com/office/drawing/2014/main" val="10000"/>
                  </a:ext>
                </a:extLst>
              </a:tr>
              <a:tr h="370840">
                <a:tc>
                  <a:txBody>
                    <a:bodyPr/>
                    <a:lstStyle/>
                    <a:p>
                      <a:r>
                        <a:rPr lang="en-US" altLang="en-US" sz="2400" dirty="0"/>
                        <a:t>fetus</a:t>
                      </a:r>
                      <a:endParaRPr lang="en-US" sz="2400" dirty="0"/>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fimbriae                    (</a:t>
                      </a:r>
                      <a:r>
                        <a:rPr lang="en-US" altLang="en-US" sz="2400" i="1" dirty="0"/>
                        <a:t>sing.: </a:t>
                      </a:r>
                      <a:r>
                        <a:rPr lang="en-US" altLang="en-US" sz="2400" dirty="0"/>
                        <a:t>fimbria)</a:t>
                      </a:r>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follicle-stimulating hormone (FSH)</a:t>
                      </a: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84473436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Vocabulary (Slide 12 of 34)</a:t>
            </a:r>
          </a:p>
        </p:txBody>
      </p:sp>
      <p:graphicFrame>
        <p:nvGraphicFramePr>
          <p:cNvPr id="8" name="Content Placeholder 7" descr="Group 6 of 17.  List of vocabulary terms  with corresponding meanings or definitions."/>
          <p:cNvGraphicFramePr>
            <a:graphicFrameLocks noGrp="1"/>
          </p:cNvGraphicFramePr>
          <p:nvPr>
            <p:ph idx="1"/>
            <p:extLst>
              <p:ext uri="{D42A27DB-BD31-4B8C-83A1-F6EECF244321}">
                <p14:modId xmlns:p14="http://schemas.microsoft.com/office/powerpoint/2010/main" val="2881100212"/>
              </p:ext>
            </p:extLst>
          </p:nvPr>
        </p:nvGraphicFramePr>
        <p:xfrm>
          <a:off x="457200" y="1600200"/>
          <a:ext cx="8229600" cy="2926080"/>
        </p:xfrm>
        <a:graphic>
          <a:graphicData uri="http://schemas.openxmlformats.org/drawingml/2006/table">
            <a:tbl>
              <a:tblPr firstRow="1" bandRow="1">
                <a:tableStyleId>{5C22544A-7EE6-4342-B048-85BDC9FD1C3A}</a:tableStyleId>
              </a:tblPr>
              <a:tblGrid>
                <a:gridCol w="2514600">
                  <a:extLst>
                    <a:ext uri="{9D8B030D-6E8A-4147-A177-3AD203B41FA5}">
                      <a16:colId xmlns:a16="http://schemas.microsoft.com/office/drawing/2014/main" val="20000"/>
                    </a:ext>
                  </a:extLst>
                </a:gridCol>
                <a:gridCol w="5715000">
                  <a:extLst>
                    <a:ext uri="{9D8B030D-6E8A-4147-A177-3AD203B41FA5}">
                      <a16:colId xmlns:a16="http://schemas.microsoft.com/office/drawing/2014/main" val="20001"/>
                    </a:ext>
                  </a:extLst>
                </a:gridCol>
              </a:tblGrid>
              <a:tr h="370840">
                <a:tc>
                  <a:txBody>
                    <a:bodyPr/>
                    <a:lstStyle/>
                    <a:p>
                      <a:r>
                        <a:rPr lang="en-US" sz="2400" dirty="0"/>
                        <a:t>Term</a:t>
                      </a:r>
                    </a:p>
                  </a:txBody>
                  <a:tcPr/>
                </a:tc>
                <a:tc>
                  <a:txBody>
                    <a:bodyPr/>
                    <a:lstStyle/>
                    <a:p>
                      <a:r>
                        <a:rPr lang="en-US" sz="2400" dirty="0"/>
                        <a:t>Meaning/Definition</a:t>
                      </a:r>
                    </a:p>
                  </a:txBody>
                  <a:tcPr/>
                </a:tc>
                <a:extLst>
                  <a:ext uri="{0D108BD9-81ED-4DB2-BD59-A6C34878D82A}">
                    <a16:rowId xmlns:a16="http://schemas.microsoft.com/office/drawing/2014/main" val="10000"/>
                  </a:ext>
                </a:extLst>
              </a:tr>
              <a:tr h="370840">
                <a:tc>
                  <a:txBody>
                    <a:bodyPr/>
                    <a:lstStyle/>
                    <a:p>
                      <a:r>
                        <a:rPr lang="en-US" altLang="en-US" sz="2400" dirty="0"/>
                        <a:t>fetus</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Stage in prenatal development from 8 to 39 or 40 weeks</a:t>
                      </a:r>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fimbriae                    (</a:t>
                      </a:r>
                      <a:r>
                        <a:rPr lang="en-US" altLang="en-US" sz="2400" i="1" dirty="0"/>
                        <a:t>sing.: </a:t>
                      </a:r>
                      <a:r>
                        <a:rPr lang="en-US" altLang="en-US" sz="2400" dirty="0"/>
                        <a:t>fimbria)</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Finger- or fringe-like projections at the end of the fallopian tubes</a:t>
                      </a:r>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follicle-stimulating hormone (FSH)</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Secreted by the pituitary gland to stimulate maturation of the ovum</a:t>
                      </a: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69430412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Vocabulary (Slide 13 of 34)</a:t>
            </a:r>
          </a:p>
        </p:txBody>
      </p:sp>
      <p:graphicFrame>
        <p:nvGraphicFramePr>
          <p:cNvPr id="8" name="Content Placeholder 7" descr="Group 7 of 17:  This table lists a group of vocabulary terms from the text.  The same terms are repeated on the next slide with corresponding definitions."/>
          <p:cNvGraphicFramePr>
            <a:graphicFrameLocks noGrp="1"/>
          </p:cNvGraphicFramePr>
          <p:nvPr>
            <p:ph idx="1"/>
            <p:extLst>
              <p:ext uri="{D42A27DB-BD31-4B8C-83A1-F6EECF244321}">
                <p14:modId xmlns:p14="http://schemas.microsoft.com/office/powerpoint/2010/main" val="1858471916"/>
              </p:ext>
            </p:extLst>
          </p:nvPr>
        </p:nvGraphicFramePr>
        <p:xfrm>
          <a:off x="2362200" y="2057400"/>
          <a:ext cx="4419600" cy="2743200"/>
        </p:xfrm>
        <a:graphic>
          <a:graphicData uri="http://schemas.openxmlformats.org/drawingml/2006/table">
            <a:tbl>
              <a:tblPr firstRow="1" bandRow="1">
                <a:tableStyleId>{5C22544A-7EE6-4342-B048-85BDC9FD1C3A}</a:tableStyleId>
              </a:tblPr>
              <a:tblGrid>
                <a:gridCol w="4419600">
                  <a:extLst>
                    <a:ext uri="{9D8B030D-6E8A-4147-A177-3AD203B41FA5}">
                      <a16:colId xmlns:a16="http://schemas.microsoft.com/office/drawing/2014/main" val="20000"/>
                    </a:ext>
                  </a:extLst>
                </a:gridCol>
              </a:tblGrid>
              <a:tr h="685800">
                <a:tc>
                  <a:txBody>
                    <a:bodyPr/>
                    <a:lstStyle/>
                    <a:p>
                      <a:r>
                        <a:rPr lang="en-US" sz="2400" dirty="0"/>
                        <a:t>Term</a:t>
                      </a:r>
                    </a:p>
                  </a:txBody>
                  <a:tcPr/>
                </a:tc>
                <a:extLst>
                  <a:ext uri="{0D108BD9-81ED-4DB2-BD59-A6C34878D82A}">
                    <a16:rowId xmlns:a16="http://schemas.microsoft.com/office/drawing/2014/main" val="10000"/>
                  </a:ext>
                </a:extLst>
              </a:tr>
              <a:tr h="685800">
                <a:tc>
                  <a:txBody>
                    <a:bodyPr/>
                    <a:lstStyle/>
                    <a:p>
                      <a:r>
                        <a:rPr lang="en-US" sz="2400" dirty="0"/>
                        <a:t>gamete</a:t>
                      </a:r>
                    </a:p>
                  </a:txBody>
                  <a:tcPr/>
                </a:tc>
                <a:extLst>
                  <a:ext uri="{0D108BD9-81ED-4DB2-BD59-A6C34878D82A}">
                    <a16:rowId xmlns:a16="http://schemas.microsoft.com/office/drawing/2014/main" val="10001"/>
                  </a:ext>
                </a:extLst>
              </a:tr>
              <a:tr h="685800">
                <a:tc>
                  <a:txBody>
                    <a:bodyPr/>
                    <a:lstStyle/>
                    <a:p>
                      <a:r>
                        <a:rPr lang="en-US" sz="2400" dirty="0"/>
                        <a:t>genitalia</a:t>
                      </a:r>
                    </a:p>
                  </a:txBody>
                  <a:tcPr/>
                </a:tc>
                <a:extLst>
                  <a:ext uri="{0D108BD9-81ED-4DB2-BD59-A6C34878D82A}">
                    <a16:rowId xmlns:a16="http://schemas.microsoft.com/office/drawing/2014/main" val="10002"/>
                  </a:ext>
                </a:extLst>
              </a:tr>
              <a:tr h="685800">
                <a:tc>
                  <a:txBody>
                    <a:bodyPr/>
                    <a:lstStyle/>
                    <a:p>
                      <a:r>
                        <a:rPr lang="en-US" sz="2400" dirty="0"/>
                        <a:t>gestation</a:t>
                      </a: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09912380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Vocabulary (Slide 14 of 34)</a:t>
            </a:r>
          </a:p>
        </p:txBody>
      </p:sp>
      <p:graphicFrame>
        <p:nvGraphicFramePr>
          <p:cNvPr id="8" name="Content Placeholder 7" descr="Group 7 of 17.  List of vocabulary terms  with corresponding meanings or definitions."/>
          <p:cNvGraphicFramePr>
            <a:graphicFrameLocks noGrp="1"/>
          </p:cNvGraphicFramePr>
          <p:nvPr>
            <p:ph idx="1"/>
            <p:extLst>
              <p:ext uri="{D42A27DB-BD31-4B8C-83A1-F6EECF244321}">
                <p14:modId xmlns:p14="http://schemas.microsoft.com/office/powerpoint/2010/main" val="2844405007"/>
              </p:ext>
            </p:extLst>
          </p:nvPr>
        </p:nvGraphicFramePr>
        <p:xfrm>
          <a:off x="457200" y="1600200"/>
          <a:ext cx="8229600" cy="2194560"/>
        </p:xfrm>
        <a:graphic>
          <a:graphicData uri="http://schemas.openxmlformats.org/drawingml/2006/table">
            <a:tbl>
              <a:tblPr firstRow="1" bandRow="1">
                <a:tableStyleId>{5C22544A-7EE6-4342-B048-85BDC9FD1C3A}</a:tableStyleId>
              </a:tblPr>
              <a:tblGrid>
                <a:gridCol w="2514600">
                  <a:extLst>
                    <a:ext uri="{9D8B030D-6E8A-4147-A177-3AD203B41FA5}">
                      <a16:colId xmlns:a16="http://schemas.microsoft.com/office/drawing/2014/main" val="20000"/>
                    </a:ext>
                  </a:extLst>
                </a:gridCol>
                <a:gridCol w="5715000">
                  <a:extLst>
                    <a:ext uri="{9D8B030D-6E8A-4147-A177-3AD203B41FA5}">
                      <a16:colId xmlns:a16="http://schemas.microsoft.com/office/drawing/2014/main" val="20001"/>
                    </a:ext>
                  </a:extLst>
                </a:gridCol>
              </a:tblGrid>
              <a:tr h="370840">
                <a:tc>
                  <a:txBody>
                    <a:bodyPr/>
                    <a:lstStyle/>
                    <a:p>
                      <a:r>
                        <a:rPr lang="en-US" sz="2400" dirty="0"/>
                        <a:t>Term</a:t>
                      </a:r>
                    </a:p>
                  </a:txBody>
                  <a:tcPr/>
                </a:tc>
                <a:tc>
                  <a:txBody>
                    <a:bodyPr/>
                    <a:lstStyle/>
                    <a:p>
                      <a:r>
                        <a:rPr lang="en-US" sz="2400" dirty="0"/>
                        <a:t>Meaning/Definition</a:t>
                      </a:r>
                    </a:p>
                  </a:txBody>
                  <a:tcPr/>
                </a:tc>
                <a:extLst>
                  <a:ext uri="{0D108BD9-81ED-4DB2-BD59-A6C34878D82A}">
                    <a16:rowId xmlns:a16="http://schemas.microsoft.com/office/drawing/2014/main" val="10000"/>
                  </a:ext>
                </a:extLst>
              </a:tr>
              <a:tr h="370840">
                <a:tc>
                  <a:txBody>
                    <a:bodyPr/>
                    <a:lstStyle/>
                    <a:p>
                      <a:r>
                        <a:rPr lang="en-US" sz="2400" dirty="0"/>
                        <a:t>gamete</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Male or female sexual reproductive cell; sperm cell or ovum</a:t>
                      </a:r>
                    </a:p>
                  </a:txBody>
                  <a:tcPr/>
                </a:tc>
                <a:extLst>
                  <a:ext uri="{0D108BD9-81ED-4DB2-BD59-A6C34878D82A}">
                    <a16:rowId xmlns:a16="http://schemas.microsoft.com/office/drawing/2014/main" val="10001"/>
                  </a:ext>
                </a:extLst>
              </a:tr>
              <a:tr h="370840">
                <a:tc>
                  <a:txBody>
                    <a:bodyPr/>
                    <a:lstStyle/>
                    <a:p>
                      <a:r>
                        <a:rPr lang="en-US" sz="2400" dirty="0"/>
                        <a:t>genitalia</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Reproductive organs;  also called genitals</a:t>
                      </a:r>
                    </a:p>
                  </a:txBody>
                  <a:tcPr/>
                </a:tc>
                <a:extLst>
                  <a:ext uri="{0D108BD9-81ED-4DB2-BD59-A6C34878D82A}">
                    <a16:rowId xmlns:a16="http://schemas.microsoft.com/office/drawing/2014/main" val="10002"/>
                  </a:ext>
                </a:extLst>
              </a:tr>
              <a:tr h="370840">
                <a:tc>
                  <a:txBody>
                    <a:bodyPr/>
                    <a:lstStyle/>
                    <a:p>
                      <a:r>
                        <a:rPr lang="en-US" sz="2400" dirty="0"/>
                        <a:t>gestation</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Period from fertilization of the ovum to birth</a:t>
                      </a: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80615198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Vocabulary (Slide 15 of 34)</a:t>
            </a:r>
          </a:p>
        </p:txBody>
      </p:sp>
      <p:graphicFrame>
        <p:nvGraphicFramePr>
          <p:cNvPr id="8" name="Content Placeholder 7" descr="Group 8 of 17:  This table lists a group of vocabulary terms from the text.  The same terms are repeated on the next slide with corresponding definitions."/>
          <p:cNvGraphicFramePr>
            <a:graphicFrameLocks noGrp="1"/>
          </p:cNvGraphicFramePr>
          <p:nvPr>
            <p:ph idx="1"/>
            <p:extLst>
              <p:ext uri="{D42A27DB-BD31-4B8C-83A1-F6EECF244321}">
                <p14:modId xmlns:p14="http://schemas.microsoft.com/office/powerpoint/2010/main" val="3867471468"/>
              </p:ext>
            </p:extLst>
          </p:nvPr>
        </p:nvGraphicFramePr>
        <p:xfrm>
          <a:off x="2057400" y="1981201"/>
          <a:ext cx="5029200" cy="2918604"/>
        </p:xfrm>
        <a:graphic>
          <a:graphicData uri="http://schemas.openxmlformats.org/drawingml/2006/table">
            <a:tbl>
              <a:tblPr firstRow="1" bandRow="1">
                <a:tableStyleId>{5C22544A-7EE6-4342-B048-85BDC9FD1C3A}</a:tableStyleId>
              </a:tblPr>
              <a:tblGrid>
                <a:gridCol w="5029200">
                  <a:extLst>
                    <a:ext uri="{9D8B030D-6E8A-4147-A177-3AD203B41FA5}">
                      <a16:colId xmlns:a16="http://schemas.microsoft.com/office/drawing/2014/main" val="20000"/>
                    </a:ext>
                  </a:extLst>
                </a:gridCol>
              </a:tblGrid>
              <a:tr h="521180">
                <a:tc>
                  <a:txBody>
                    <a:bodyPr/>
                    <a:lstStyle/>
                    <a:p>
                      <a:r>
                        <a:rPr lang="en-US" sz="2400" dirty="0"/>
                        <a:t>Term</a:t>
                      </a:r>
                    </a:p>
                  </a:txBody>
                  <a:tcPr/>
                </a:tc>
                <a:extLst>
                  <a:ext uri="{0D108BD9-81ED-4DB2-BD59-A6C34878D82A}">
                    <a16:rowId xmlns:a16="http://schemas.microsoft.com/office/drawing/2014/main" val="10000"/>
                  </a:ext>
                </a:extLst>
              </a:tr>
              <a:tr h="521180">
                <a:tc>
                  <a:txBody>
                    <a:bodyPr/>
                    <a:lstStyle/>
                    <a:p>
                      <a:r>
                        <a:rPr lang="en-US" altLang="en-US" sz="2400" dirty="0"/>
                        <a:t>gonad</a:t>
                      </a:r>
                      <a:endParaRPr lang="en-US" sz="2400" dirty="0"/>
                    </a:p>
                  </a:txBody>
                  <a:tcPr/>
                </a:tc>
                <a:extLst>
                  <a:ext uri="{0D108BD9-81ED-4DB2-BD59-A6C34878D82A}">
                    <a16:rowId xmlns:a16="http://schemas.microsoft.com/office/drawing/2014/main" val="10001"/>
                  </a:ext>
                </a:extLst>
              </a:tr>
              <a:tr h="521180">
                <a:tc>
                  <a:txBody>
                    <a:bodyPr/>
                    <a:lstStyle/>
                    <a:p>
                      <a:r>
                        <a:rPr lang="en-US" altLang="en-US" sz="2400" dirty="0"/>
                        <a:t>gynecology</a:t>
                      </a:r>
                      <a:endParaRPr lang="en-US" sz="2400" dirty="0"/>
                    </a:p>
                  </a:txBody>
                  <a:tcPr/>
                </a:tc>
                <a:extLst>
                  <a:ext uri="{0D108BD9-81ED-4DB2-BD59-A6C34878D82A}">
                    <a16:rowId xmlns:a16="http://schemas.microsoft.com/office/drawing/2014/main" val="10002"/>
                  </a:ext>
                </a:extLst>
              </a:tr>
              <a:tr h="1355064">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human chorionic gonadotropin (</a:t>
                      </a:r>
                      <a:r>
                        <a:rPr lang="en-US" altLang="en-US" sz="2400" dirty="0" err="1"/>
                        <a:t>hCG</a:t>
                      </a:r>
                      <a:r>
                        <a:rPr lang="en-US" altLang="en-US" sz="2400" dirty="0"/>
                        <a:t>)</a:t>
                      </a: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56835682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Vocabulary (Slide 16 of 34)</a:t>
            </a:r>
          </a:p>
        </p:txBody>
      </p:sp>
      <p:graphicFrame>
        <p:nvGraphicFramePr>
          <p:cNvPr id="8" name="Content Placeholder 7" descr="Group 8 of 17.  List of vocabulary terms  with corresponding meanings or definitions."/>
          <p:cNvGraphicFramePr>
            <a:graphicFrameLocks noGrp="1"/>
          </p:cNvGraphicFramePr>
          <p:nvPr>
            <p:ph idx="1"/>
            <p:extLst>
              <p:ext uri="{D42A27DB-BD31-4B8C-83A1-F6EECF244321}">
                <p14:modId xmlns:p14="http://schemas.microsoft.com/office/powerpoint/2010/main" val="2038354614"/>
              </p:ext>
            </p:extLst>
          </p:nvPr>
        </p:nvGraphicFramePr>
        <p:xfrm>
          <a:off x="457200" y="1600200"/>
          <a:ext cx="8229600" cy="3657600"/>
        </p:xfrm>
        <a:graphic>
          <a:graphicData uri="http://schemas.openxmlformats.org/drawingml/2006/table">
            <a:tbl>
              <a:tblPr firstRow="1" bandRow="1">
                <a:tableStyleId>{5C22544A-7EE6-4342-B048-85BDC9FD1C3A}</a:tableStyleId>
              </a:tblPr>
              <a:tblGrid>
                <a:gridCol w="2514600">
                  <a:extLst>
                    <a:ext uri="{9D8B030D-6E8A-4147-A177-3AD203B41FA5}">
                      <a16:colId xmlns:a16="http://schemas.microsoft.com/office/drawing/2014/main" val="20000"/>
                    </a:ext>
                  </a:extLst>
                </a:gridCol>
                <a:gridCol w="5715000">
                  <a:extLst>
                    <a:ext uri="{9D8B030D-6E8A-4147-A177-3AD203B41FA5}">
                      <a16:colId xmlns:a16="http://schemas.microsoft.com/office/drawing/2014/main" val="20001"/>
                    </a:ext>
                  </a:extLst>
                </a:gridCol>
              </a:tblGrid>
              <a:tr h="370840">
                <a:tc>
                  <a:txBody>
                    <a:bodyPr/>
                    <a:lstStyle/>
                    <a:p>
                      <a:r>
                        <a:rPr lang="en-US" sz="2400" dirty="0"/>
                        <a:t>Term</a:t>
                      </a:r>
                    </a:p>
                  </a:txBody>
                  <a:tcPr/>
                </a:tc>
                <a:tc>
                  <a:txBody>
                    <a:bodyPr/>
                    <a:lstStyle/>
                    <a:p>
                      <a:r>
                        <a:rPr lang="en-US" sz="2400" dirty="0"/>
                        <a:t>Meaning/Definition</a:t>
                      </a:r>
                    </a:p>
                  </a:txBody>
                  <a:tcPr/>
                </a:tc>
                <a:extLst>
                  <a:ext uri="{0D108BD9-81ED-4DB2-BD59-A6C34878D82A}">
                    <a16:rowId xmlns:a16="http://schemas.microsoft.com/office/drawing/2014/main" val="10000"/>
                  </a:ext>
                </a:extLst>
              </a:tr>
              <a:tr h="370840">
                <a:tc>
                  <a:txBody>
                    <a:bodyPr/>
                    <a:lstStyle/>
                    <a:p>
                      <a:r>
                        <a:rPr lang="en-US" altLang="en-US" sz="2400" dirty="0"/>
                        <a:t>gonad</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Female or male reproductive organ that produces sex cells and hormones;  ovary or testis</a:t>
                      </a:r>
                    </a:p>
                  </a:txBody>
                  <a:tcPr/>
                </a:tc>
                <a:extLst>
                  <a:ext uri="{0D108BD9-81ED-4DB2-BD59-A6C34878D82A}">
                    <a16:rowId xmlns:a16="http://schemas.microsoft.com/office/drawing/2014/main" val="10001"/>
                  </a:ext>
                </a:extLst>
              </a:tr>
              <a:tr h="370840">
                <a:tc>
                  <a:txBody>
                    <a:bodyPr/>
                    <a:lstStyle/>
                    <a:p>
                      <a:r>
                        <a:rPr lang="en-US" altLang="en-US" sz="2400" dirty="0"/>
                        <a:t>gynecology</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Study of the female reproductive organs, including the breasts</a:t>
                      </a:r>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human chorionic gonadotropin (</a:t>
                      </a:r>
                      <a:r>
                        <a:rPr lang="en-US" altLang="en-US" sz="2400" dirty="0" err="1"/>
                        <a:t>hCG</a:t>
                      </a:r>
                      <a:r>
                        <a:rPr lang="en-US" altLang="en-US" sz="2400" dirty="0"/>
                        <a:t>)</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Hormone produced by the placenta to sustain pregnancy by stimulating ovaries to produce estrogen and progesterone</a:t>
                      </a: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415792902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Vocabulary (Slide 17 of 34)</a:t>
            </a:r>
          </a:p>
        </p:txBody>
      </p:sp>
      <p:graphicFrame>
        <p:nvGraphicFramePr>
          <p:cNvPr id="8" name="Content Placeholder 7" descr="Group 9 of 17:  This table lists a group of vocabulary terms from the text.  The same terms are repeated on the next slide with corresponding definitions."/>
          <p:cNvGraphicFramePr>
            <a:graphicFrameLocks noGrp="1"/>
          </p:cNvGraphicFramePr>
          <p:nvPr>
            <p:ph idx="1"/>
            <p:extLst>
              <p:ext uri="{D42A27DB-BD31-4B8C-83A1-F6EECF244321}">
                <p14:modId xmlns:p14="http://schemas.microsoft.com/office/powerpoint/2010/main" val="217340075"/>
              </p:ext>
            </p:extLst>
          </p:nvPr>
        </p:nvGraphicFramePr>
        <p:xfrm>
          <a:off x="2514600" y="2209800"/>
          <a:ext cx="3810000" cy="2743200"/>
        </p:xfrm>
        <a:graphic>
          <a:graphicData uri="http://schemas.openxmlformats.org/drawingml/2006/table">
            <a:tbl>
              <a:tblPr firstRow="1" bandRow="1">
                <a:tableStyleId>{5C22544A-7EE6-4342-B048-85BDC9FD1C3A}</a:tableStyleId>
              </a:tblPr>
              <a:tblGrid>
                <a:gridCol w="3810000">
                  <a:extLst>
                    <a:ext uri="{9D8B030D-6E8A-4147-A177-3AD203B41FA5}">
                      <a16:colId xmlns:a16="http://schemas.microsoft.com/office/drawing/2014/main" val="20000"/>
                    </a:ext>
                  </a:extLst>
                </a:gridCol>
              </a:tblGrid>
              <a:tr h="685800">
                <a:tc>
                  <a:txBody>
                    <a:bodyPr/>
                    <a:lstStyle/>
                    <a:p>
                      <a:r>
                        <a:rPr lang="en-US" sz="2400" dirty="0"/>
                        <a:t>Term</a:t>
                      </a:r>
                    </a:p>
                  </a:txBody>
                  <a:tcPr/>
                </a:tc>
                <a:extLst>
                  <a:ext uri="{0D108BD9-81ED-4DB2-BD59-A6C34878D82A}">
                    <a16:rowId xmlns:a16="http://schemas.microsoft.com/office/drawing/2014/main" val="10000"/>
                  </a:ext>
                </a:extLst>
              </a:tr>
              <a:tr h="685800">
                <a:tc>
                  <a:txBody>
                    <a:bodyPr/>
                    <a:lstStyle/>
                    <a:p>
                      <a:r>
                        <a:rPr lang="en-US" altLang="en-US" sz="2400" dirty="0"/>
                        <a:t>hymen</a:t>
                      </a:r>
                      <a:endParaRPr lang="en-US" sz="2400" dirty="0"/>
                    </a:p>
                  </a:txBody>
                  <a:tcPr/>
                </a:tc>
                <a:extLst>
                  <a:ext uri="{0D108BD9-81ED-4DB2-BD59-A6C34878D82A}">
                    <a16:rowId xmlns:a16="http://schemas.microsoft.com/office/drawing/2014/main" val="10001"/>
                  </a:ext>
                </a:extLst>
              </a:tr>
              <a:tr h="685800">
                <a:tc>
                  <a:txBody>
                    <a:bodyPr/>
                    <a:lstStyle/>
                    <a:p>
                      <a:r>
                        <a:rPr lang="en-US" altLang="en-US" sz="2400" dirty="0"/>
                        <a:t>labia</a:t>
                      </a:r>
                      <a:endParaRPr lang="en-US" sz="2400" dirty="0"/>
                    </a:p>
                  </a:txBody>
                  <a:tcPr/>
                </a:tc>
                <a:extLst>
                  <a:ext uri="{0D108BD9-81ED-4DB2-BD59-A6C34878D82A}">
                    <a16:rowId xmlns:a16="http://schemas.microsoft.com/office/drawing/2014/main" val="10002"/>
                  </a:ext>
                </a:extLst>
              </a:tr>
              <a:tr h="68580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lactiferous ducts</a:t>
                      </a: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40722929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Vocabulary (Slide 18 of 34)</a:t>
            </a:r>
          </a:p>
        </p:txBody>
      </p:sp>
      <p:graphicFrame>
        <p:nvGraphicFramePr>
          <p:cNvPr id="8" name="Content Placeholder 7" descr="Group 9 of 17.  List of vocabulary terms  with corresponding meanings or definitions."/>
          <p:cNvGraphicFramePr>
            <a:graphicFrameLocks noGrp="1"/>
          </p:cNvGraphicFramePr>
          <p:nvPr>
            <p:ph idx="1"/>
            <p:extLst>
              <p:ext uri="{D42A27DB-BD31-4B8C-83A1-F6EECF244321}">
                <p14:modId xmlns:p14="http://schemas.microsoft.com/office/powerpoint/2010/main" val="2209402298"/>
              </p:ext>
            </p:extLst>
          </p:nvPr>
        </p:nvGraphicFramePr>
        <p:xfrm>
          <a:off x="457200" y="1600200"/>
          <a:ext cx="8229600" cy="2194560"/>
        </p:xfrm>
        <a:graphic>
          <a:graphicData uri="http://schemas.openxmlformats.org/drawingml/2006/table">
            <a:tbl>
              <a:tblPr firstRow="1" bandRow="1">
                <a:tableStyleId>{5C22544A-7EE6-4342-B048-85BDC9FD1C3A}</a:tableStyleId>
              </a:tblPr>
              <a:tblGrid>
                <a:gridCol w="2514600">
                  <a:extLst>
                    <a:ext uri="{9D8B030D-6E8A-4147-A177-3AD203B41FA5}">
                      <a16:colId xmlns:a16="http://schemas.microsoft.com/office/drawing/2014/main" val="20000"/>
                    </a:ext>
                  </a:extLst>
                </a:gridCol>
                <a:gridCol w="5715000">
                  <a:extLst>
                    <a:ext uri="{9D8B030D-6E8A-4147-A177-3AD203B41FA5}">
                      <a16:colId xmlns:a16="http://schemas.microsoft.com/office/drawing/2014/main" val="20001"/>
                    </a:ext>
                  </a:extLst>
                </a:gridCol>
              </a:tblGrid>
              <a:tr h="370840">
                <a:tc>
                  <a:txBody>
                    <a:bodyPr/>
                    <a:lstStyle/>
                    <a:p>
                      <a:r>
                        <a:rPr lang="en-US" sz="2400" dirty="0"/>
                        <a:t>Term</a:t>
                      </a:r>
                    </a:p>
                  </a:txBody>
                  <a:tcPr/>
                </a:tc>
                <a:tc>
                  <a:txBody>
                    <a:bodyPr/>
                    <a:lstStyle/>
                    <a:p>
                      <a:r>
                        <a:rPr lang="en-US" sz="2400" dirty="0"/>
                        <a:t>Meaning/Definition</a:t>
                      </a:r>
                    </a:p>
                  </a:txBody>
                  <a:tcPr/>
                </a:tc>
                <a:extLst>
                  <a:ext uri="{0D108BD9-81ED-4DB2-BD59-A6C34878D82A}">
                    <a16:rowId xmlns:a16="http://schemas.microsoft.com/office/drawing/2014/main" val="10000"/>
                  </a:ext>
                </a:extLst>
              </a:tr>
              <a:tr h="370840">
                <a:tc>
                  <a:txBody>
                    <a:bodyPr/>
                    <a:lstStyle/>
                    <a:p>
                      <a:r>
                        <a:rPr lang="en-US" altLang="en-US" sz="2400" dirty="0"/>
                        <a:t>hymen</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Mucous membrane partially or completely covering the opening to the vagina</a:t>
                      </a:r>
                    </a:p>
                  </a:txBody>
                  <a:tcPr/>
                </a:tc>
                <a:extLst>
                  <a:ext uri="{0D108BD9-81ED-4DB2-BD59-A6C34878D82A}">
                    <a16:rowId xmlns:a16="http://schemas.microsoft.com/office/drawing/2014/main" val="10001"/>
                  </a:ext>
                </a:extLst>
              </a:tr>
              <a:tr h="370840">
                <a:tc>
                  <a:txBody>
                    <a:bodyPr/>
                    <a:lstStyle/>
                    <a:p>
                      <a:r>
                        <a:rPr lang="en-US" altLang="en-US" sz="2400" dirty="0"/>
                        <a:t>labia</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Lips of the vagina</a:t>
                      </a:r>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lactiferous ducts</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Tubes that carry milk within the breast</a:t>
                      </a: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61977553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Vocabulary (Slide 19 of 34)</a:t>
            </a:r>
          </a:p>
        </p:txBody>
      </p:sp>
      <p:graphicFrame>
        <p:nvGraphicFramePr>
          <p:cNvPr id="8" name="Content Placeholder 7" descr="Group 10 of 17:  This table lists a group of vocabulary terms from the text.  The same terms are repeated on the next slide with corresponding definitions."/>
          <p:cNvGraphicFramePr>
            <a:graphicFrameLocks noGrp="1"/>
          </p:cNvGraphicFramePr>
          <p:nvPr>
            <p:ph idx="1"/>
            <p:extLst>
              <p:ext uri="{D42A27DB-BD31-4B8C-83A1-F6EECF244321}">
                <p14:modId xmlns:p14="http://schemas.microsoft.com/office/powerpoint/2010/main" val="2242243490"/>
              </p:ext>
            </p:extLst>
          </p:nvPr>
        </p:nvGraphicFramePr>
        <p:xfrm>
          <a:off x="2286000" y="2209800"/>
          <a:ext cx="4495800" cy="3124200"/>
        </p:xfrm>
        <a:graphic>
          <a:graphicData uri="http://schemas.openxmlformats.org/drawingml/2006/table">
            <a:tbl>
              <a:tblPr firstRow="1" bandRow="1">
                <a:tableStyleId>{5C22544A-7EE6-4342-B048-85BDC9FD1C3A}</a:tableStyleId>
              </a:tblPr>
              <a:tblGrid>
                <a:gridCol w="4495800">
                  <a:extLst>
                    <a:ext uri="{9D8B030D-6E8A-4147-A177-3AD203B41FA5}">
                      <a16:colId xmlns:a16="http://schemas.microsoft.com/office/drawing/2014/main" val="20000"/>
                    </a:ext>
                  </a:extLst>
                </a:gridCol>
              </a:tblGrid>
              <a:tr h="650875">
                <a:tc>
                  <a:txBody>
                    <a:bodyPr/>
                    <a:lstStyle/>
                    <a:p>
                      <a:r>
                        <a:rPr lang="en-US" sz="2400" dirty="0"/>
                        <a:t>Term</a:t>
                      </a:r>
                    </a:p>
                  </a:txBody>
                  <a:tcPr/>
                </a:tc>
                <a:extLst>
                  <a:ext uri="{0D108BD9-81ED-4DB2-BD59-A6C34878D82A}">
                    <a16:rowId xmlns:a16="http://schemas.microsoft.com/office/drawing/2014/main" val="10000"/>
                  </a:ext>
                </a:extLst>
              </a:tr>
              <a:tr h="1171575">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luteinizing hormone (LH)</a:t>
                      </a:r>
                    </a:p>
                  </a:txBody>
                  <a:tcPr/>
                </a:tc>
                <a:extLst>
                  <a:ext uri="{0D108BD9-81ED-4DB2-BD59-A6C34878D82A}">
                    <a16:rowId xmlns:a16="http://schemas.microsoft.com/office/drawing/2014/main" val="10001"/>
                  </a:ext>
                </a:extLst>
              </a:tr>
              <a:tr h="650875">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mammary papilla</a:t>
                      </a:r>
                    </a:p>
                  </a:txBody>
                  <a:tcPr/>
                </a:tc>
                <a:extLst>
                  <a:ext uri="{0D108BD9-81ED-4DB2-BD59-A6C34878D82A}">
                    <a16:rowId xmlns:a16="http://schemas.microsoft.com/office/drawing/2014/main" val="10002"/>
                  </a:ext>
                </a:extLst>
              </a:tr>
              <a:tr h="650875">
                <a:tc>
                  <a:txBody>
                    <a:bodyPr/>
                    <a:lstStyle/>
                    <a:p>
                      <a:r>
                        <a:rPr lang="en-US" altLang="en-US" sz="2400" dirty="0"/>
                        <a:t>menarche</a:t>
                      </a:r>
                      <a:endParaRPr lang="en-US" sz="2400" dirty="0"/>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98178769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Vocabulary (Slide 20 of 34)</a:t>
            </a:r>
          </a:p>
        </p:txBody>
      </p:sp>
      <p:graphicFrame>
        <p:nvGraphicFramePr>
          <p:cNvPr id="8" name="Content Placeholder 7" descr="Group 10 of 17.  List of vocabulary terms  with corresponding meanings or definitions."/>
          <p:cNvGraphicFramePr>
            <a:graphicFrameLocks noGrp="1"/>
          </p:cNvGraphicFramePr>
          <p:nvPr>
            <p:ph idx="1"/>
            <p:extLst>
              <p:ext uri="{D42A27DB-BD31-4B8C-83A1-F6EECF244321}">
                <p14:modId xmlns:p14="http://schemas.microsoft.com/office/powerpoint/2010/main" val="1829277199"/>
              </p:ext>
            </p:extLst>
          </p:nvPr>
        </p:nvGraphicFramePr>
        <p:xfrm>
          <a:off x="457200" y="1600200"/>
          <a:ext cx="8229600" cy="2560320"/>
        </p:xfrm>
        <a:graphic>
          <a:graphicData uri="http://schemas.openxmlformats.org/drawingml/2006/table">
            <a:tbl>
              <a:tblPr firstRow="1" bandRow="1">
                <a:tableStyleId>{5C22544A-7EE6-4342-B048-85BDC9FD1C3A}</a:tableStyleId>
              </a:tblPr>
              <a:tblGrid>
                <a:gridCol w="2514600">
                  <a:extLst>
                    <a:ext uri="{9D8B030D-6E8A-4147-A177-3AD203B41FA5}">
                      <a16:colId xmlns:a16="http://schemas.microsoft.com/office/drawing/2014/main" val="20000"/>
                    </a:ext>
                  </a:extLst>
                </a:gridCol>
                <a:gridCol w="5715000">
                  <a:extLst>
                    <a:ext uri="{9D8B030D-6E8A-4147-A177-3AD203B41FA5}">
                      <a16:colId xmlns:a16="http://schemas.microsoft.com/office/drawing/2014/main" val="20001"/>
                    </a:ext>
                  </a:extLst>
                </a:gridCol>
              </a:tblGrid>
              <a:tr h="370840">
                <a:tc>
                  <a:txBody>
                    <a:bodyPr/>
                    <a:lstStyle/>
                    <a:p>
                      <a:r>
                        <a:rPr lang="en-US" sz="2400" dirty="0"/>
                        <a:t>Term</a:t>
                      </a:r>
                    </a:p>
                  </a:txBody>
                  <a:tcPr/>
                </a:tc>
                <a:tc>
                  <a:txBody>
                    <a:bodyPr/>
                    <a:lstStyle/>
                    <a:p>
                      <a:r>
                        <a:rPr lang="en-US" sz="2400" dirty="0"/>
                        <a:t>Meaning/Definition</a:t>
                      </a:r>
                    </a:p>
                  </a:txBody>
                  <a:tcPr/>
                </a:tc>
                <a:extLst>
                  <a:ext uri="{0D108BD9-81ED-4DB2-BD59-A6C34878D82A}">
                    <a16:rowId xmlns:a16="http://schemas.microsoft.com/office/drawing/2014/main" val="1000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luteinizing hormone (LH)</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Secreted by the pituitary gland to promote ovulation</a:t>
                      </a:r>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mammary papilla</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Nipple of the breast</a:t>
                      </a:r>
                    </a:p>
                  </a:txBody>
                  <a:tcPr/>
                </a:tc>
                <a:extLst>
                  <a:ext uri="{0D108BD9-81ED-4DB2-BD59-A6C34878D82A}">
                    <a16:rowId xmlns:a16="http://schemas.microsoft.com/office/drawing/2014/main" val="10002"/>
                  </a:ext>
                </a:extLst>
              </a:tr>
              <a:tr h="370840">
                <a:tc>
                  <a:txBody>
                    <a:bodyPr/>
                    <a:lstStyle/>
                    <a:p>
                      <a:r>
                        <a:rPr lang="en-US" altLang="en-US" sz="2400" dirty="0"/>
                        <a:t>menarche</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Beginning of the first menstrual period and ability to reproduce</a:t>
                      </a: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95526542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Vocabulary (Slide 21 of 34)</a:t>
            </a:r>
          </a:p>
        </p:txBody>
      </p:sp>
      <p:graphicFrame>
        <p:nvGraphicFramePr>
          <p:cNvPr id="8" name="Content Placeholder 7" descr="Group 11 of 17:  This table lists a group of vocabulary terms from the text.  The same terms are repeated on the next slide with corresponding definitions."/>
          <p:cNvGraphicFramePr>
            <a:graphicFrameLocks noGrp="1"/>
          </p:cNvGraphicFramePr>
          <p:nvPr>
            <p:ph idx="1"/>
            <p:extLst>
              <p:ext uri="{D42A27DB-BD31-4B8C-83A1-F6EECF244321}">
                <p14:modId xmlns:p14="http://schemas.microsoft.com/office/powerpoint/2010/main" val="2428192495"/>
              </p:ext>
            </p:extLst>
          </p:nvPr>
        </p:nvGraphicFramePr>
        <p:xfrm>
          <a:off x="2580736" y="2209800"/>
          <a:ext cx="3982528" cy="2971800"/>
        </p:xfrm>
        <a:graphic>
          <a:graphicData uri="http://schemas.openxmlformats.org/drawingml/2006/table">
            <a:tbl>
              <a:tblPr firstRow="1" bandRow="1">
                <a:tableStyleId>{5C22544A-7EE6-4342-B048-85BDC9FD1C3A}</a:tableStyleId>
              </a:tblPr>
              <a:tblGrid>
                <a:gridCol w="3982528">
                  <a:extLst>
                    <a:ext uri="{9D8B030D-6E8A-4147-A177-3AD203B41FA5}">
                      <a16:colId xmlns:a16="http://schemas.microsoft.com/office/drawing/2014/main" val="20000"/>
                    </a:ext>
                  </a:extLst>
                </a:gridCol>
              </a:tblGrid>
              <a:tr h="594360">
                <a:tc>
                  <a:txBody>
                    <a:bodyPr/>
                    <a:lstStyle/>
                    <a:p>
                      <a:r>
                        <a:rPr lang="en-US" sz="2400" dirty="0"/>
                        <a:t>Term</a:t>
                      </a:r>
                    </a:p>
                  </a:txBody>
                  <a:tcPr/>
                </a:tc>
                <a:extLst>
                  <a:ext uri="{0D108BD9-81ED-4DB2-BD59-A6C34878D82A}">
                    <a16:rowId xmlns:a16="http://schemas.microsoft.com/office/drawing/2014/main" val="10000"/>
                  </a:ext>
                </a:extLst>
              </a:tr>
              <a:tr h="594360">
                <a:tc>
                  <a:txBody>
                    <a:bodyPr/>
                    <a:lstStyle/>
                    <a:p>
                      <a:r>
                        <a:rPr lang="en-US" sz="2400" dirty="0">
                          <a:ea typeface="ＭＳ Ｐゴシック" charset="0"/>
                        </a:rPr>
                        <a:t>menopause</a:t>
                      </a:r>
                      <a:endParaRPr lang="en-US" sz="2400" dirty="0"/>
                    </a:p>
                  </a:txBody>
                  <a:tcPr/>
                </a:tc>
                <a:extLst>
                  <a:ext uri="{0D108BD9-81ED-4DB2-BD59-A6C34878D82A}">
                    <a16:rowId xmlns:a16="http://schemas.microsoft.com/office/drawing/2014/main" val="10001"/>
                  </a:ext>
                </a:extLst>
              </a:tr>
              <a:tr h="594360">
                <a:tc>
                  <a:txBody>
                    <a:bodyPr/>
                    <a:lstStyle/>
                    <a:p>
                      <a:r>
                        <a:rPr lang="en-US" sz="2400" dirty="0">
                          <a:ea typeface="ＭＳ Ｐゴシック" charset="0"/>
                        </a:rPr>
                        <a:t>menstruation</a:t>
                      </a:r>
                      <a:endParaRPr lang="en-US" sz="2400" dirty="0"/>
                    </a:p>
                  </a:txBody>
                  <a:tcPr/>
                </a:tc>
                <a:extLst>
                  <a:ext uri="{0D108BD9-81ED-4DB2-BD59-A6C34878D82A}">
                    <a16:rowId xmlns:a16="http://schemas.microsoft.com/office/drawing/2014/main" val="10002"/>
                  </a:ext>
                </a:extLst>
              </a:tr>
              <a:tr h="594360">
                <a:tc>
                  <a:txBody>
                    <a:bodyPr/>
                    <a:lstStyle/>
                    <a:p>
                      <a:r>
                        <a:rPr lang="en-US" sz="2400" dirty="0">
                          <a:ea typeface="ＭＳ Ｐゴシック" charset="0"/>
                        </a:rPr>
                        <a:t>myometrium</a:t>
                      </a:r>
                      <a:endParaRPr lang="en-US" sz="2400" dirty="0"/>
                    </a:p>
                  </a:txBody>
                  <a:tcPr/>
                </a:tc>
                <a:extLst>
                  <a:ext uri="{0D108BD9-81ED-4DB2-BD59-A6C34878D82A}">
                    <a16:rowId xmlns:a16="http://schemas.microsoft.com/office/drawing/2014/main" val="10003"/>
                  </a:ext>
                </a:extLst>
              </a:tr>
              <a:tr h="594360">
                <a:tc>
                  <a:txBody>
                    <a:bodyPr/>
                    <a:lstStyle/>
                    <a:p>
                      <a:r>
                        <a:rPr lang="en-US" sz="2400" dirty="0">
                          <a:ea typeface="ＭＳ Ｐゴシック" charset="0"/>
                        </a:rPr>
                        <a:t>neonatology</a:t>
                      </a:r>
                      <a:endParaRPr lang="en-US" sz="2400" dirty="0"/>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51189327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Vocabulary (Slide 22 of 34)</a:t>
            </a:r>
          </a:p>
        </p:txBody>
      </p:sp>
      <p:graphicFrame>
        <p:nvGraphicFramePr>
          <p:cNvPr id="8" name="Content Placeholder 7" descr="Group 11 of 17.  List of vocabulary terms  with corresponding meanings or definitions."/>
          <p:cNvGraphicFramePr>
            <a:graphicFrameLocks noGrp="1"/>
          </p:cNvGraphicFramePr>
          <p:nvPr>
            <p:ph idx="1"/>
            <p:extLst>
              <p:ext uri="{D42A27DB-BD31-4B8C-83A1-F6EECF244321}">
                <p14:modId xmlns:p14="http://schemas.microsoft.com/office/powerpoint/2010/main" val="2941200941"/>
              </p:ext>
            </p:extLst>
          </p:nvPr>
        </p:nvGraphicFramePr>
        <p:xfrm>
          <a:off x="457200" y="1600200"/>
          <a:ext cx="8229600" cy="3017520"/>
        </p:xfrm>
        <a:graphic>
          <a:graphicData uri="http://schemas.openxmlformats.org/drawingml/2006/table">
            <a:tbl>
              <a:tblPr firstRow="1" bandRow="1">
                <a:tableStyleId>{5C22544A-7EE6-4342-B048-85BDC9FD1C3A}</a:tableStyleId>
              </a:tblPr>
              <a:tblGrid>
                <a:gridCol w="2514600">
                  <a:extLst>
                    <a:ext uri="{9D8B030D-6E8A-4147-A177-3AD203B41FA5}">
                      <a16:colId xmlns:a16="http://schemas.microsoft.com/office/drawing/2014/main" val="20000"/>
                    </a:ext>
                  </a:extLst>
                </a:gridCol>
                <a:gridCol w="5715000">
                  <a:extLst>
                    <a:ext uri="{9D8B030D-6E8A-4147-A177-3AD203B41FA5}">
                      <a16:colId xmlns:a16="http://schemas.microsoft.com/office/drawing/2014/main" val="20001"/>
                    </a:ext>
                  </a:extLst>
                </a:gridCol>
              </a:tblGrid>
              <a:tr h="370840">
                <a:tc>
                  <a:txBody>
                    <a:bodyPr/>
                    <a:lstStyle/>
                    <a:p>
                      <a:r>
                        <a:rPr lang="en-US" sz="2400" dirty="0"/>
                        <a:t>Term</a:t>
                      </a:r>
                    </a:p>
                  </a:txBody>
                  <a:tcPr/>
                </a:tc>
                <a:tc>
                  <a:txBody>
                    <a:bodyPr/>
                    <a:lstStyle/>
                    <a:p>
                      <a:r>
                        <a:rPr lang="en-US" sz="2400" dirty="0"/>
                        <a:t>Meaning/Definition</a:t>
                      </a:r>
                    </a:p>
                  </a:txBody>
                  <a:tcPr/>
                </a:tc>
                <a:extLst>
                  <a:ext uri="{0D108BD9-81ED-4DB2-BD59-A6C34878D82A}">
                    <a16:rowId xmlns:a16="http://schemas.microsoft.com/office/drawing/2014/main" val="10000"/>
                  </a:ext>
                </a:extLst>
              </a:tr>
              <a:tr h="370840">
                <a:tc>
                  <a:txBody>
                    <a:bodyPr/>
                    <a:lstStyle/>
                    <a:p>
                      <a:r>
                        <a:rPr lang="en-US" sz="2400" dirty="0">
                          <a:ea typeface="ＭＳ Ｐゴシック" charset="0"/>
                        </a:rPr>
                        <a:t>menopause</a:t>
                      </a:r>
                      <a:endParaRPr lang="en-US" sz="2400" dirty="0"/>
                    </a:p>
                  </a:txBody>
                  <a:tcPr/>
                </a:tc>
                <a:tc>
                  <a:txBody>
                    <a:bodyPr/>
                    <a:lstStyle/>
                    <a:p>
                      <a:pPr marL="0" indent="0" eaLnBrk="1" hangingPunct="1">
                        <a:lnSpc>
                          <a:spcPct val="90000"/>
                        </a:lnSpc>
                        <a:buFont typeface="Wingdings 2" panose="05020102010507070707" pitchFamily="18" charset="2"/>
                        <a:buNone/>
                      </a:pPr>
                      <a:r>
                        <a:rPr lang="en-US" altLang="en-US" sz="2400" dirty="0"/>
                        <a:t>Gradual ending of menstruation</a:t>
                      </a:r>
                    </a:p>
                  </a:txBody>
                  <a:tcPr/>
                </a:tc>
                <a:extLst>
                  <a:ext uri="{0D108BD9-81ED-4DB2-BD59-A6C34878D82A}">
                    <a16:rowId xmlns:a16="http://schemas.microsoft.com/office/drawing/2014/main" val="10001"/>
                  </a:ext>
                </a:extLst>
              </a:tr>
              <a:tr h="370840">
                <a:tc>
                  <a:txBody>
                    <a:bodyPr/>
                    <a:lstStyle/>
                    <a:p>
                      <a:r>
                        <a:rPr lang="en-US" sz="2400" dirty="0">
                          <a:ea typeface="ＭＳ Ｐゴシック" charset="0"/>
                        </a:rPr>
                        <a:t>menstruation</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Monthly shedding of the uterine lining</a:t>
                      </a:r>
                    </a:p>
                  </a:txBody>
                  <a:tcPr/>
                </a:tc>
                <a:extLst>
                  <a:ext uri="{0D108BD9-81ED-4DB2-BD59-A6C34878D82A}">
                    <a16:rowId xmlns:a16="http://schemas.microsoft.com/office/drawing/2014/main" val="10002"/>
                  </a:ext>
                </a:extLst>
              </a:tr>
              <a:tr h="370840">
                <a:tc>
                  <a:txBody>
                    <a:bodyPr/>
                    <a:lstStyle/>
                    <a:p>
                      <a:r>
                        <a:rPr lang="en-US" sz="2400" dirty="0">
                          <a:ea typeface="ＭＳ Ｐゴシック" charset="0"/>
                        </a:rPr>
                        <a:t>myometrium</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Muscle layer of the uterus</a:t>
                      </a:r>
                    </a:p>
                  </a:txBody>
                  <a:tcPr/>
                </a:tc>
                <a:extLst>
                  <a:ext uri="{0D108BD9-81ED-4DB2-BD59-A6C34878D82A}">
                    <a16:rowId xmlns:a16="http://schemas.microsoft.com/office/drawing/2014/main" val="10003"/>
                  </a:ext>
                </a:extLst>
              </a:tr>
              <a:tr h="370840">
                <a:tc>
                  <a:txBody>
                    <a:bodyPr/>
                    <a:lstStyle/>
                    <a:p>
                      <a:r>
                        <a:rPr lang="en-US" sz="2400" dirty="0">
                          <a:ea typeface="ＭＳ Ｐゴシック" charset="0"/>
                        </a:rPr>
                        <a:t>neonatology</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Branch of medicine that studies the disorders and care of the newborn (neonate)</a:t>
                      </a:r>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05063075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Vocabulary (Slide 23 of 34)</a:t>
            </a:r>
          </a:p>
        </p:txBody>
      </p:sp>
      <p:graphicFrame>
        <p:nvGraphicFramePr>
          <p:cNvPr id="8" name="Content Placeholder 7" descr="Group 12 of 17:  This table lists a group of vocabulary terms from the text.  The same terms are repeated on the next slide with corresponding definitions."/>
          <p:cNvGraphicFramePr>
            <a:graphicFrameLocks noGrp="1"/>
          </p:cNvGraphicFramePr>
          <p:nvPr>
            <p:ph idx="1"/>
            <p:extLst>
              <p:ext uri="{D42A27DB-BD31-4B8C-83A1-F6EECF244321}">
                <p14:modId xmlns:p14="http://schemas.microsoft.com/office/powerpoint/2010/main" val="3875408381"/>
              </p:ext>
            </p:extLst>
          </p:nvPr>
        </p:nvGraphicFramePr>
        <p:xfrm>
          <a:off x="2133600" y="2133600"/>
          <a:ext cx="4876800" cy="3124200"/>
        </p:xfrm>
        <a:graphic>
          <a:graphicData uri="http://schemas.openxmlformats.org/drawingml/2006/table">
            <a:tbl>
              <a:tblPr firstRow="1" bandRow="1">
                <a:tableStyleId>{5C22544A-7EE6-4342-B048-85BDC9FD1C3A}</a:tableStyleId>
              </a:tblPr>
              <a:tblGrid>
                <a:gridCol w="4876800">
                  <a:extLst>
                    <a:ext uri="{9D8B030D-6E8A-4147-A177-3AD203B41FA5}">
                      <a16:colId xmlns:a16="http://schemas.microsoft.com/office/drawing/2014/main" val="20000"/>
                    </a:ext>
                  </a:extLst>
                </a:gridCol>
              </a:tblGrid>
              <a:tr h="781050">
                <a:tc>
                  <a:txBody>
                    <a:bodyPr/>
                    <a:lstStyle/>
                    <a:p>
                      <a:r>
                        <a:rPr lang="en-US" sz="2400" dirty="0"/>
                        <a:t>Term</a:t>
                      </a:r>
                    </a:p>
                  </a:txBody>
                  <a:tcPr/>
                </a:tc>
                <a:extLst>
                  <a:ext uri="{0D108BD9-81ED-4DB2-BD59-A6C34878D82A}">
                    <a16:rowId xmlns:a16="http://schemas.microsoft.com/office/drawing/2014/main" val="10000"/>
                  </a:ext>
                </a:extLst>
              </a:tr>
              <a:tr h="781050">
                <a:tc>
                  <a:txBody>
                    <a:bodyPr/>
                    <a:lstStyle/>
                    <a:p>
                      <a:r>
                        <a:rPr lang="en-US" sz="2400" dirty="0">
                          <a:ea typeface="ＭＳ Ｐゴシック" charset="0"/>
                        </a:rPr>
                        <a:t>obstetrics</a:t>
                      </a:r>
                      <a:endParaRPr lang="en-US" sz="2400" dirty="0"/>
                    </a:p>
                  </a:txBody>
                  <a:tcPr/>
                </a:tc>
                <a:extLst>
                  <a:ext uri="{0D108BD9-81ED-4DB2-BD59-A6C34878D82A}">
                    <a16:rowId xmlns:a16="http://schemas.microsoft.com/office/drawing/2014/main" val="10001"/>
                  </a:ext>
                </a:extLst>
              </a:tr>
              <a:tr h="781050">
                <a:tc>
                  <a:txBody>
                    <a:bodyPr/>
                    <a:lstStyle/>
                    <a:p>
                      <a:r>
                        <a:rPr lang="en-US" sz="2400" dirty="0">
                          <a:ea typeface="ＭＳ Ｐゴシック" charset="0"/>
                        </a:rPr>
                        <a:t>orifice</a:t>
                      </a:r>
                      <a:endParaRPr lang="en-US" sz="2400" dirty="0"/>
                    </a:p>
                  </a:txBody>
                  <a:tcPr/>
                </a:tc>
                <a:extLst>
                  <a:ext uri="{0D108BD9-81ED-4DB2-BD59-A6C34878D82A}">
                    <a16:rowId xmlns:a16="http://schemas.microsoft.com/office/drawing/2014/main" val="10002"/>
                  </a:ext>
                </a:extLst>
              </a:tr>
              <a:tr h="78105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dirty="0">
                          <a:ea typeface="ＭＳ Ｐゴシック" charset="0"/>
                        </a:rPr>
                        <a:t>ovarian follicle</a:t>
                      </a: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64675252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Vocabulary (Slide 24 of 34)</a:t>
            </a:r>
          </a:p>
        </p:txBody>
      </p:sp>
      <p:graphicFrame>
        <p:nvGraphicFramePr>
          <p:cNvPr id="8" name="Content Placeholder 7" descr="Group 12 of 17.  List of vocabulary terms  with corresponding meanings or definitions."/>
          <p:cNvGraphicFramePr>
            <a:graphicFrameLocks noGrp="1"/>
          </p:cNvGraphicFramePr>
          <p:nvPr>
            <p:ph idx="1"/>
            <p:extLst>
              <p:ext uri="{D42A27DB-BD31-4B8C-83A1-F6EECF244321}">
                <p14:modId xmlns:p14="http://schemas.microsoft.com/office/powerpoint/2010/main" val="715096547"/>
              </p:ext>
            </p:extLst>
          </p:nvPr>
        </p:nvGraphicFramePr>
        <p:xfrm>
          <a:off x="457200" y="1600200"/>
          <a:ext cx="8229600" cy="2560320"/>
        </p:xfrm>
        <a:graphic>
          <a:graphicData uri="http://schemas.openxmlformats.org/drawingml/2006/table">
            <a:tbl>
              <a:tblPr firstRow="1" bandRow="1">
                <a:tableStyleId>{5C22544A-7EE6-4342-B048-85BDC9FD1C3A}</a:tableStyleId>
              </a:tblPr>
              <a:tblGrid>
                <a:gridCol w="2514600">
                  <a:extLst>
                    <a:ext uri="{9D8B030D-6E8A-4147-A177-3AD203B41FA5}">
                      <a16:colId xmlns:a16="http://schemas.microsoft.com/office/drawing/2014/main" val="20000"/>
                    </a:ext>
                  </a:extLst>
                </a:gridCol>
                <a:gridCol w="5715000">
                  <a:extLst>
                    <a:ext uri="{9D8B030D-6E8A-4147-A177-3AD203B41FA5}">
                      <a16:colId xmlns:a16="http://schemas.microsoft.com/office/drawing/2014/main" val="20001"/>
                    </a:ext>
                  </a:extLst>
                </a:gridCol>
              </a:tblGrid>
              <a:tr h="370840">
                <a:tc>
                  <a:txBody>
                    <a:bodyPr/>
                    <a:lstStyle/>
                    <a:p>
                      <a:r>
                        <a:rPr lang="en-US" sz="2400" dirty="0"/>
                        <a:t>Term</a:t>
                      </a:r>
                    </a:p>
                  </a:txBody>
                  <a:tcPr/>
                </a:tc>
                <a:tc>
                  <a:txBody>
                    <a:bodyPr/>
                    <a:lstStyle/>
                    <a:p>
                      <a:r>
                        <a:rPr lang="en-US" sz="2400" dirty="0"/>
                        <a:t>Meaning/Definition</a:t>
                      </a:r>
                    </a:p>
                  </a:txBody>
                  <a:tcPr/>
                </a:tc>
                <a:extLst>
                  <a:ext uri="{0D108BD9-81ED-4DB2-BD59-A6C34878D82A}">
                    <a16:rowId xmlns:a16="http://schemas.microsoft.com/office/drawing/2014/main" val="10000"/>
                  </a:ext>
                </a:extLst>
              </a:tr>
              <a:tr h="370840">
                <a:tc>
                  <a:txBody>
                    <a:bodyPr/>
                    <a:lstStyle/>
                    <a:p>
                      <a:r>
                        <a:rPr lang="en-US" sz="2400" dirty="0">
                          <a:ea typeface="ＭＳ Ｐゴシック" charset="0"/>
                        </a:rPr>
                        <a:t>obstetrics</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The branch of medicine concerned with pregnancy and childbirth</a:t>
                      </a:r>
                    </a:p>
                  </a:txBody>
                  <a:tcPr/>
                </a:tc>
                <a:extLst>
                  <a:ext uri="{0D108BD9-81ED-4DB2-BD59-A6C34878D82A}">
                    <a16:rowId xmlns:a16="http://schemas.microsoft.com/office/drawing/2014/main" val="10001"/>
                  </a:ext>
                </a:extLst>
              </a:tr>
              <a:tr h="370840">
                <a:tc>
                  <a:txBody>
                    <a:bodyPr/>
                    <a:lstStyle/>
                    <a:p>
                      <a:r>
                        <a:rPr lang="en-US" sz="2400" dirty="0">
                          <a:ea typeface="ＭＳ Ｐゴシック" charset="0"/>
                        </a:rPr>
                        <a:t>orifice</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An opening</a:t>
                      </a:r>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dirty="0">
                          <a:ea typeface="ＭＳ Ｐゴシック" charset="0"/>
                        </a:rPr>
                        <a:t>ovarian follicle</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Developing sac enclosing each ovum within the ovary</a:t>
                      </a: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57105213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Vocabulary (Slide 25 of 34)</a:t>
            </a:r>
          </a:p>
        </p:txBody>
      </p:sp>
      <p:graphicFrame>
        <p:nvGraphicFramePr>
          <p:cNvPr id="8" name="Content Placeholder 7" descr="Group 13 of 17:  This table lists a group of vocabulary terms from the text.  The same terms are repeated on the next slide with corresponding definitions."/>
          <p:cNvGraphicFramePr>
            <a:graphicFrameLocks noGrp="1"/>
          </p:cNvGraphicFramePr>
          <p:nvPr>
            <p:ph idx="1"/>
            <p:extLst>
              <p:ext uri="{D42A27DB-BD31-4B8C-83A1-F6EECF244321}">
                <p14:modId xmlns:p14="http://schemas.microsoft.com/office/powerpoint/2010/main" val="858032739"/>
              </p:ext>
            </p:extLst>
          </p:nvPr>
        </p:nvGraphicFramePr>
        <p:xfrm>
          <a:off x="2324100" y="2209800"/>
          <a:ext cx="4495800" cy="2971800"/>
        </p:xfrm>
        <a:graphic>
          <a:graphicData uri="http://schemas.openxmlformats.org/drawingml/2006/table">
            <a:tbl>
              <a:tblPr firstRow="1" bandRow="1">
                <a:tableStyleId>{5C22544A-7EE6-4342-B048-85BDC9FD1C3A}</a:tableStyleId>
              </a:tblPr>
              <a:tblGrid>
                <a:gridCol w="4495800">
                  <a:extLst>
                    <a:ext uri="{9D8B030D-6E8A-4147-A177-3AD203B41FA5}">
                      <a16:colId xmlns:a16="http://schemas.microsoft.com/office/drawing/2014/main" val="20000"/>
                    </a:ext>
                  </a:extLst>
                </a:gridCol>
              </a:tblGrid>
              <a:tr h="742950">
                <a:tc>
                  <a:txBody>
                    <a:bodyPr/>
                    <a:lstStyle/>
                    <a:p>
                      <a:r>
                        <a:rPr lang="en-US" sz="2400" dirty="0"/>
                        <a:t>Term</a:t>
                      </a:r>
                    </a:p>
                  </a:txBody>
                  <a:tcPr/>
                </a:tc>
                <a:extLst>
                  <a:ext uri="{0D108BD9-81ED-4DB2-BD59-A6C34878D82A}">
                    <a16:rowId xmlns:a16="http://schemas.microsoft.com/office/drawing/2014/main" val="10000"/>
                  </a:ext>
                </a:extLst>
              </a:tr>
              <a:tr h="742950">
                <a:tc>
                  <a:txBody>
                    <a:bodyPr/>
                    <a:lstStyle/>
                    <a:p>
                      <a:r>
                        <a:rPr lang="en-US" altLang="en-US" sz="2400" dirty="0"/>
                        <a:t>ovary</a:t>
                      </a:r>
                      <a:endParaRPr lang="en-US" sz="2400" dirty="0"/>
                    </a:p>
                  </a:txBody>
                  <a:tcPr/>
                </a:tc>
                <a:extLst>
                  <a:ext uri="{0D108BD9-81ED-4DB2-BD59-A6C34878D82A}">
                    <a16:rowId xmlns:a16="http://schemas.microsoft.com/office/drawing/2014/main" val="10001"/>
                  </a:ext>
                </a:extLst>
              </a:tr>
              <a:tr h="742950">
                <a:tc>
                  <a:txBody>
                    <a:bodyPr/>
                    <a:lstStyle/>
                    <a:p>
                      <a:r>
                        <a:rPr lang="en-US" altLang="en-US" sz="2400" dirty="0"/>
                        <a:t>ovulation</a:t>
                      </a:r>
                      <a:endParaRPr lang="en-US" sz="2400" dirty="0"/>
                    </a:p>
                  </a:txBody>
                  <a:tcPr/>
                </a:tc>
                <a:extLst>
                  <a:ext uri="{0D108BD9-81ED-4DB2-BD59-A6C34878D82A}">
                    <a16:rowId xmlns:a16="http://schemas.microsoft.com/office/drawing/2014/main" val="10002"/>
                  </a:ext>
                </a:extLst>
              </a:tr>
              <a:tr h="74295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ovum (</a:t>
                      </a:r>
                      <a:r>
                        <a:rPr lang="en-US" altLang="en-US" sz="2400" i="1" dirty="0"/>
                        <a:t>pl.: </a:t>
                      </a:r>
                      <a:r>
                        <a:rPr lang="en-US" altLang="en-US" sz="2400" dirty="0"/>
                        <a:t>ova)</a:t>
                      </a: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43958323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Vocabulary (Slide 26 of 34)</a:t>
            </a:r>
          </a:p>
        </p:txBody>
      </p:sp>
      <p:graphicFrame>
        <p:nvGraphicFramePr>
          <p:cNvPr id="8" name="Content Placeholder 7" descr="Group 13 of 17.  List of vocabulary terms  with corresponding meanings or definitions."/>
          <p:cNvGraphicFramePr>
            <a:graphicFrameLocks noGrp="1"/>
          </p:cNvGraphicFramePr>
          <p:nvPr>
            <p:ph idx="1"/>
            <p:extLst>
              <p:ext uri="{D42A27DB-BD31-4B8C-83A1-F6EECF244321}">
                <p14:modId xmlns:p14="http://schemas.microsoft.com/office/powerpoint/2010/main" val="3496786104"/>
              </p:ext>
            </p:extLst>
          </p:nvPr>
        </p:nvGraphicFramePr>
        <p:xfrm>
          <a:off x="457200" y="1600200"/>
          <a:ext cx="8229600" cy="2560320"/>
        </p:xfrm>
        <a:graphic>
          <a:graphicData uri="http://schemas.openxmlformats.org/drawingml/2006/table">
            <a:tbl>
              <a:tblPr firstRow="1" bandRow="1">
                <a:tableStyleId>{5C22544A-7EE6-4342-B048-85BDC9FD1C3A}</a:tableStyleId>
              </a:tblPr>
              <a:tblGrid>
                <a:gridCol w="2514600">
                  <a:extLst>
                    <a:ext uri="{9D8B030D-6E8A-4147-A177-3AD203B41FA5}">
                      <a16:colId xmlns:a16="http://schemas.microsoft.com/office/drawing/2014/main" val="20000"/>
                    </a:ext>
                  </a:extLst>
                </a:gridCol>
                <a:gridCol w="5715000">
                  <a:extLst>
                    <a:ext uri="{9D8B030D-6E8A-4147-A177-3AD203B41FA5}">
                      <a16:colId xmlns:a16="http://schemas.microsoft.com/office/drawing/2014/main" val="20001"/>
                    </a:ext>
                  </a:extLst>
                </a:gridCol>
              </a:tblGrid>
              <a:tr h="370840">
                <a:tc>
                  <a:txBody>
                    <a:bodyPr/>
                    <a:lstStyle/>
                    <a:p>
                      <a:r>
                        <a:rPr lang="en-US" sz="2400" dirty="0"/>
                        <a:t>Term</a:t>
                      </a:r>
                    </a:p>
                  </a:txBody>
                  <a:tcPr/>
                </a:tc>
                <a:tc>
                  <a:txBody>
                    <a:bodyPr/>
                    <a:lstStyle/>
                    <a:p>
                      <a:r>
                        <a:rPr lang="en-US" sz="2400" dirty="0"/>
                        <a:t>Meaning/Definition</a:t>
                      </a:r>
                    </a:p>
                  </a:txBody>
                  <a:tcPr/>
                </a:tc>
                <a:extLst>
                  <a:ext uri="{0D108BD9-81ED-4DB2-BD59-A6C34878D82A}">
                    <a16:rowId xmlns:a16="http://schemas.microsoft.com/office/drawing/2014/main" val="10000"/>
                  </a:ext>
                </a:extLst>
              </a:tr>
              <a:tr h="370840">
                <a:tc>
                  <a:txBody>
                    <a:bodyPr/>
                    <a:lstStyle/>
                    <a:p>
                      <a:r>
                        <a:rPr lang="en-US" altLang="en-US" sz="2400" dirty="0"/>
                        <a:t>ovary</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One of a pair of female organs on each side of the pelvis; almond-shaped; produced egg cells and hormones</a:t>
                      </a:r>
                    </a:p>
                  </a:txBody>
                  <a:tcPr/>
                </a:tc>
                <a:extLst>
                  <a:ext uri="{0D108BD9-81ED-4DB2-BD59-A6C34878D82A}">
                    <a16:rowId xmlns:a16="http://schemas.microsoft.com/office/drawing/2014/main" val="10001"/>
                  </a:ext>
                </a:extLst>
              </a:tr>
              <a:tr h="370840">
                <a:tc>
                  <a:txBody>
                    <a:bodyPr/>
                    <a:lstStyle/>
                    <a:p>
                      <a:r>
                        <a:rPr lang="en-US" altLang="en-US" sz="2400" dirty="0"/>
                        <a:t>ovulation</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Release of the ovum from the ovary</a:t>
                      </a:r>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ovum (</a:t>
                      </a:r>
                      <a:r>
                        <a:rPr lang="en-US" altLang="en-US" sz="2400" i="1" dirty="0"/>
                        <a:t>pl.: </a:t>
                      </a:r>
                      <a:r>
                        <a:rPr lang="en-US" altLang="en-US" sz="2400" dirty="0"/>
                        <a:t>ova)</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Mature egg cell (female gamete)</a:t>
                      </a: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83790551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Vocabulary (Slide 27 of 34)</a:t>
            </a:r>
          </a:p>
        </p:txBody>
      </p:sp>
      <p:graphicFrame>
        <p:nvGraphicFramePr>
          <p:cNvPr id="8" name="Content Placeholder 7" descr="Group 14 of 17:  This table lists a group of vocabulary terms from the text.  The same terms are repeated on the next slide with corresponding definitions."/>
          <p:cNvGraphicFramePr>
            <a:graphicFrameLocks noGrp="1"/>
          </p:cNvGraphicFramePr>
          <p:nvPr>
            <p:ph idx="1"/>
            <p:extLst>
              <p:ext uri="{D42A27DB-BD31-4B8C-83A1-F6EECF244321}">
                <p14:modId xmlns:p14="http://schemas.microsoft.com/office/powerpoint/2010/main" val="1044763240"/>
              </p:ext>
            </p:extLst>
          </p:nvPr>
        </p:nvGraphicFramePr>
        <p:xfrm>
          <a:off x="2628900" y="2286000"/>
          <a:ext cx="3886200" cy="2819400"/>
        </p:xfrm>
        <a:graphic>
          <a:graphicData uri="http://schemas.openxmlformats.org/drawingml/2006/table">
            <a:tbl>
              <a:tblPr firstRow="1" bandRow="1">
                <a:tableStyleId>{5C22544A-7EE6-4342-B048-85BDC9FD1C3A}</a:tableStyleId>
              </a:tblPr>
              <a:tblGrid>
                <a:gridCol w="3886200">
                  <a:extLst>
                    <a:ext uri="{9D8B030D-6E8A-4147-A177-3AD203B41FA5}">
                      <a16:colId xmlns:a16="http://schemas.microsoft.com/office/drawing/2014/main" val="20000"/>
                    </a:ext>
                  </a:extLst>
                </a:gridCol>
              </a:tblGrid>
              <a:tr h="704850">
                <a:tc>
                  <a:txBody>
                    <a:bodyPr/>
                    <a:lstStyle/>
                    <a:p>
                      <a:r>
                        <a:rPr lang="en-US" sz="2400" dirty="0"/>
                        <a:t>Term</a:t>
                      </a:r>
                    </a:p>
                  </a:txBody>
                  <a:tcPr/>
                </a:tc>
                <a:extLst>
                  <a:ext uri="{0D108BD9-81ED-4DB2-BD59-A6C34878D82A}">
                    <a16:rowId xmlns:a16="http://schemas.microsoft.com/office/drawing/2014/main" val="10000"/>
                  </a:ext>
                </a:extLst>
              </a:tr>
              <a:tr h="704850">
                <a:tc>
                  <a:txBody>
                    <a:bodyPr/>
                    <a:lstStyle/>
                    <a:p>
                      <a:r>
                        <a:rPr lang="en-US" altLang="en-US" sz="2400" dirty="0">
                          <a:ea typeface="MS PGothic" panose="020B0600070205080204" pitchFamily="34" charset="-128"/>
                        </a:rPr>
                        <a:t>parturition</a:t>
                      </a:r>
                      <a:endParaRPr lang="en-US" sz="2400" dirty="0"/>
                    </a:p>
                  </a:txBody>
                  <a:tcPr/>
                </a:tc>
                <a:extLst>
                  <a:ext uri="{0D108BD9-81ED-4DB2-BD59-A6C34878D82A}">
                    <a16:rowId xmlns:a16="http://schemas.microsoft.com/office/drawing/2014/main" val="10001"/>
                  </a:ext>
                </a:extLst>
              </a:tr>
              <a:tr h="704850">
                <a:tc>
                  <a:txBody>
                    <a:bodyPr/>
                    <a:lstStyle/>
                    <a:p>
                      <a:r>
                        <a:rPr lang="en-US" altLang="en-US" sz="2400" dirty="0">
                          <a:ea typeface="MS PGothic" panose="020B0600070205080204" pitchFamily="34" charset="-128"/>
                        </a:rPr>
                        <a:t>perineum</a:t>
                      </a:r>
                      <a:endParaRPr lang="en-US" sz="2400" dirty="0"/>
                    </a:p>
                  </a:txBody>
                  <a:tcPr/>
                </a:tc>
                <a:extLst>
                  <a:ext uri="{0D108BD9-81ED-4DB2-BD59-A6C34878D82A}">
                    <a16:rowId xmlns:a16="http://schemas.microsoft.com/office/drawing/2014/main" val="10002"/>
                  </a:ext>
                </a:extLst>
              </a:tr>
              <a:tr h="70485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ea typeface="MS PGothic" panose="020B0600070205080204" pitchFamily="34" charset="-128"/>
                        </a:rPr>
                        <a:t>pituitary gland</a:t>
                      </a: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2235197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Vocabulary (Slide 28 of 34)</a:t>
            </a:r>
          </a:p>
        </p:txBody>
      </p:sp>
      <p:graphicFrame>
        <p:nvGraphicFramePr>
          <p:cNvPr id="8" name="Content Placeholder 7" descr="Group 14 of 17.  List of vocabulary terms  with corresponding meanings or definitions."/>
          <p:cNvGraphicFramePr>
            <a:graphicFrameLocks noGrp="1"/>
          </p:cNvGraphicFramePr>
          <p:nvPr>
            <p:ph idx="1"/>
            <p:extLst>
              <p:ext uri="{D42A27DB-BD31-4B8C-83A1-F6EECF244321}">
                <p14:modId xmlns:p14="http://schemas.microsoft.com/office/powerpoint/2010/main" val="3769592698"/>
              </p:ext>
            </p:extLst>
          </p:nvPr>
        </p:nvGraphicFramePr>
        <p:xfrm>
          <a:off x="457200" y="1600200"/>
          <a:ext cx="8229600" cy="3145536"/>
        </p:xfrm>
        <a:graphic>
          <a:graphicData uri="http://schemas.openxmlformats.org/drawingml/2006/table">
            <a:tbl>
              <a:tblPr firstRow="1" bandRow="1">
                <a:tableStyleId>{5C22544A-7EE6-4342-B048-85BDC9FD1C3A}</a:tableStyleId>
              </a:tblPr>
              <a:tblGrid>
                <a:gridCol w="2514600">
                  <a:extLst>
                    <a:ext uri="{9D8B030D-6E8A-4147-A177-3AD203B41FA5}">
                      <a16:colId xmlns:a16="http://schemas.microsoft.com/office/drawing/2014/main" val="20000"/>
                    </a:ext>
                  </a:extLst>
                </a:gridCol>
                <a:gridCol w="5715000">
                  <a:extLst>
                    <a:ext uri="{9D8B030D-6E8A-4147-A177-3AD203B41FA5}">
                      <a16:colId xmlns:a16="http://schemas.microsoft.com/office/drawing/2014/main" val="20001"/>
                    </a:ext>
                  </a:extLst>
                </a:gridCol>
              </a:tblGrid>
              <a:tr h="370840">
                <a:tc>
                  <a:txBody>
                    <a:bodyPr/>
                    <a:lstStyle/>
                    <a:p>
                      <a:r>
                        <a:rPr lang="en-US" sz="2400" dirty="0"/>
                        <a:t>Term</a:t>
                      </a:r>
                    </a:p>
                  </a:txBody>
                  <a:tcPr/>
                </a:tc>
                <a:tc>
                  <a:txBody>
                    <a:bodyPr/>
                    <a:lstStyle/>
                    <a:p>
                      <a:r>
                        <a:rPr lang="en-US" sz="2400" dirty="0"/>
                        <a:t>Meaning/Definition</a:t>
                      </a:r>
                    </a:p>
                  </a:txBody>
                  <a:tcPr/>
                </a:tc>
                <a:extLst>
                  <a:ext uri="{0D108BD9-81ED-4DB2-BD59-A6C34878D82A}">
                    <a16:rowId xmlns:a16="http://schemas.microsoft.com/office/drawing/2014/main" val="10000"/>
                  </a:ext>
                </a:extLst>
              </a:tr>
              <a:tr h="370840">
                <a:tc>
                  <a:txBody>
                    <a:bodyPr/>
                    <a:lstStyle/>
                    <a:p>
                      <a:r>
                        <a:rPr lang="en-US" altLang="en-US" sz="2400" dirty="0">
                          <a:ea typeface="MS PGothic" panose="020B0600070205080204" pitchFamily="34" charset="-128"/>
                        </a:rPr>
                        <a:t>parturition</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Act of giving birth</a:t>
                      </a:r>
                    </a:p>
                  </a:txBody>
                  <a:tcPr/>
                </a:tc>
                <a:extLst>
                  <a:ext uri="{0D108BD9-81ED-4DB2-BD59-A6C34878D82A}">
                    <a16:rowId xmlns:a16="http://schemas.microsoft.com/office/drawing/2014/main" val="10001"/>
                  </a:ext>
                </a:extLst>
              </a:tr>
              <a:tr h="370840">
                <a:tc>
                  <a:txBody>
                    <a:bodyPr/>
                    <a:lstStyle/>
                    <a:p>
                      <a:r>
                        <a:rPr lang="en-US" altLang="en-US" sz="2400" dirty="0">
                          <a:ea typeface="MS PGothic" panose="020B0600070205080204" pitchFamily="34" charset="-128"/>
                        </a:rPr>
                        <a:t>perineum</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Area between the anus and the vagina in females</a:t>
                      </a:r>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ea typeface="MS PGothic" panose="020B0600070205080204" pitchFamily="34" charset="-128"/>
                        </a:rPr>
                        <a:t>pituitary gland</a:t>
                      </a:r>
                    </a:p>
                  </a:txBody>
                  <a:tcPr/>
                </a:tc>
                <a:tc>
                  <a:txBody>
                    <a:bodyPr/>
                    <a:lstStyle/>
                    <a:p>
                      <a:pPr marL="0" indent="0" eaLnBrk="1" hangingPunct="1">
                        <a:lnSpc>
                          <a:spcPct val="90000"/>
                        </a:lnSpc>
                        <a:buFont typeface="Wingdings 2" panose="05020102010507070707" pitchFamily="18" charset="2"/>
                        <a:buNone/>
                      </a:pPr>
                      <a:r>
                        <a:rPr lang="en-US" altLang="en-US" sz="2400" dirty="0"/>
                        <a:t>Endocrine gland at the base of the brain that produces hormones to stimulate the ovaries;  also regulates other endocrine organs</a:t>
                      </a: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86441581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Vocabulary (Slide 29 of 34)</a:t>
            </a:r>
          </a:p>
        </p:txBody>
      </p:sp>
      <p:graphicFrame>
        <p:nvGraphicFramePr>
          <p:cNvPr id="8" name="Content Placeholder 7" descr="Group 15 of 17:  This table lists a group of vocabulary terms from the text.  The same terms are repeated on the next slide with corresponding definitions."/>
          <p:cNvGraphicFramePr>
            <a:graphicFrameLocks noGrp="1"/>
          </p:cNvGraphicFramePr>
          <p:nvPr>
            <p:ph idx="1"/>
            <p:extLst>
              <p:ext uri="{D42A27DB-BD31-4B8C-83A1-F6EECF244321}">
                <p14:modId xmlns:p14="http://schemas.microsoft.com/office/powerpoint/2010/main" val="4030387326"/>
              </p:ext>
            </p:extLst>
          </p:nvPr>
        </p:nvGraphicFramePr>
        <p:xfrm>
          <a:off x="2590800" y="2514600"/>
          <a:ext cx="3886200" cy="2667000"/>
        </p:xfrm>
        <a:graphic>
          <a:graphicData uri="http://schemas.openxmlformats.org/drawingml/2006/table">
            <a:tbl>
              <a:tblPr firstRow="1" bandRow="1">
                <a:tableStyleId>{5C22544A-7EE6-4342-B048-85BDC9FD1C3A}</a:tableStyleId>
              </a:tblPr>
              <a:tblGrid>
                <a:gridCol w="3886200">
                  <a:extLst>
                    <a:ext uri="{9D8B030D-6E8A-4147-A177-3AD203B41FA5}">
                      <a16:colId xmlns:a16="http://schemas.microsoft.com/office/drawing/2014/main" val="20000"/>
                    </a:ext>
                  </a:extLst>
                </a:gridCol>
              </a:tblGrid>
              <a:tr h="666750">
                <a:tc>
                  <a:txBody>
                    <a:bodyPr/>
                    <a:lstStyle/>
                    <a:p>
                      <a:r>
                        <a:rPr lang="en-US" sz="2400" dirty="0"/>
                        <a:t>Term</a:t>
                      </a:r>
                    </a:p>
                  </a:txBody>
                  <a:tcPr/>
                </a:tc>
                <a:extLst>
                  <a:ext uri="{0D108BD9-81ED-4DB2-BD59-A6C34878D82A}">
                    <a16:rowId xmlns:a16="http://schemas.microsoft.com/office/drawing/2014/main" val="10000"/>
                  </a:ext>
                </a:extLst>
              </a:tr>
              <a:tr h="666750">
                <a:tc>
                  <a:txBody>
                    <a:bodyPr/>
                    <a:lstStyle/>
                    <a:p>
                      <a:r>
                        <a:rPr lang="en-US" altLang="en-US" sz="2400" dirty="0"/>
                        <a:t>placenta</a:t>
                      </a:r>
                      <a:endParaRPr lang="en-US" sz="2400" dirty="0"/>
                    </a:p>
                  </a:txBody>
                  <a:tcPr/>
                </a:tc>
                <a:extLst>
                  <a:ext uri="{0D108BD9-81ED-4DB2-BD59-A6C34878D82A}">
                    <a16:rowId xmlns:a16="http://schemas.microsoft.com/office/drawing/2014/main" val="10001"/>
                  </a:ext>
                </a:extLst>
              </a:tr>
              <a:tr h="666750">
                <a:tc>
                  <a:txBody>
                    <a:bodyPr/>
                    <a:lstStyle/>
                    <a:p>
                      <a:r>
                        <a:rPr lang="en-US" altLang="en-US" sz="2400" dirty="0"/>
                        <a:t>pregnancy</a:t>
                      </a:r>
                      <a:endParaRPr lang="en-US" sz="2400" dirty="0"/>
                    </a:p>
                  </a:txBody>
                  <a:tcPr/>
                </a:tc>
                <a:extLst>
                  <a:ext uri="{0D108BD9-81ED-4DB2-BD59-A6C34878D82A}">
                    <a16:rowId xmlns:a16="http://schemas.microsoft.com/office/drawing/2014/main" val="10002"/>
                  </a:ext>
                </a:extLst>
              </a:tr>
              <a:tr h="666750">
                <a:tc>
                  <a:txBody>
                    <a:bodyPr/>
                    <a:lstStyle/>
                    <a:p>
                      <a:r>
                        <a:rPr lang="en-US" altLang="en-US" sz="2400" dirty="0"/>
                        <a:t>progesterone</a:t>
                      </a:r>
                      <a:endParaRPr lang="en-US" sz="2400" dirty="0"/>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77201017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Vocabulary (Slide 30 of 34)</a:t>
            </a:r>
          </a:p>
        </p:txBody>
      </p:sp>
      <p:graphicFrame>
        <p:nvGraphicFramePr>
          <p:cNvPr id="8" name="Content Placeholder 7" descr="Group 15 of 17.  List of vocabulary terms  with corresponding meanings or definitions."/>
          <p:cNvGraphicFramePr>
            <a:graphicFrameLocks noGrp="1"/>
          </p:cNvGraphicFramePr>
          <p:nvPr>
            <p:ph idx="1"/>
            <p:extLst>
              <p:ext uri="{D42A27DB-BD31-4B8C-83A1-F6EECF244321}">
                <p14:modId xmlns:p14="http://schemas.microsoft.com/office/powerpoint/2010/main" val="1392011682"/>
              </p:ext>
            </p:extLst>
          </p:nvPr>
        </p:nvGraphicFramePr>
        <p:xfrm>
          <a:off x="457200" y="1600200"/>
          <a:ext cx="8229600" cy="4023360"/>
        </p:xfrm>
        <a:graphic>
          <a:graphicData uri="http://schemas.openxmlformats.org/drawingml/2006/table">
            <a:tbl>
              <a:tblPr firstRow="1" bandRow="1">
                <a:tableStyleId>{5C22544A-7EE6-4342-B048-85BDC9FD1C3A}</a:tableStyleId>
              </a:tblPr>
              <a:tblGrid>
                <a:gridCol w="2514600">
                  <a:extLst>
                    <a:ext uri="{9D8B030D-6E8A-4147-A177-3AD203B41FA5}">
                      <a16:colId xmlns:a16="http://schemas.microsoft.com/office/drawing/2014/main" val="20000"/>
                    </a:ext>
                  </a:extLst>
                </a:gridCol>
                <a:gridCol w="5715000">
                  <a:extLst>
                    <a:ext uri="{9D8B030D-6E8A-4147-A177-3AD203B41FA5}">
                      <a16:colId xmlns:a16="http://schemas.microsoft.com/office/drawing/2014/main" val="20001"/>
                    </a:ext>
                  </a:extLst>
                </a:gridCol>
              </a:tblGrid>
              <a:tr h="370840">
                <a:tc>
                  <a:txBody>
                    <a:bodyPr/>
                    <a:lstStyle/>
                    <a:p>
                      <a:r>
                        <a:rPr lang="en-US" sz="2400" dirty="0"/>
                        <a:t>Term</a:t>
                      </a:r>
                    </a:p>
                  </a:txBody>
                  <a:tcPr/>
                </a:tc>
                <a:tc>
                  <a:txBody>
                    <a:bodyPr/>
                    <a:lstStyle/>
                    <a:p>
                      <a:r>
                        <a:rPr lang="en-US" sz="2400" dirty="0"/>
                        <a:t>Meaning/Definition</a:t>
                      </a:r>
                    </a:p>
                  </a:txBody>
                  <a:tcPr/>
                </a:tc>
                <a:extLst>
                  <a:ext uri="{0D108BD9-81ED-4DB2-BD59-A6C34878D82A}">
                    <a16:rowId xmlns:a16="http://schemas.microsoft.com/office/drawing/2014/main" val="10000"/>
                  </a:ext>
                </a:extLst>
              </a:tr>
              <a:tr h="370840">
                <a:tc>
                  <a:txBody>
                    <a:bodyPr/>
                    <a:lstStyle/>
                    <a:p>
                      <a:r>
                        <a:rPr lang="en-US" altLang="en-US" sz="2400" dirty="0"/>
                        <a:t>placenta</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Vascular organ attached to uterine wall during pregnancy;  allows exchange of oxygen, nutrients, and fetal waste products between mother and fetus</a:t>
                      </a:r>
                    </a:p>
                  </a:txBody>
                  <a:tcPr/>
                </a:tc>
                <a:extLst>
                  <a:ext uri="{0D108BD9-81ED-4DB2-BD59-A6C34878D82A}">
                    <a16:rowId xmlns:a16="http://schemas.microsoft.com/office/drawing/2014/main" val="10001"/>
                  </a:ext>
                </a:extLst>
              </a:tr>
              <a:tr h="370840">
                <a:tc>
                  <a:txBody>
                    <a:bodyPr/>
                    <a:lstStyle/>
                    <a:p>
                      <a:r>
                        <a:rPr lang="en-US" altLang="en-US" sz="2400" dirty="0"/>
                        <a:t>pregnancy</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Condition of having a developing embryo and fetus in female uterus for about 40 weeks</a:t>
                      </a:r>
                    </a:p>
                  </a:txBody>
                  <a:tcPr/>
                </a:tc>
                <a:extLst>
                  <a:ext uri="{0D108BD9-81ED-4DB2-BD59-A6C34878D82A}">
                    <a16:rowId xmlns:a16="http://schemas.microsoft.com/office/drawing/2014/main" val="10002"/>
                  </a:ext>
                </a:extLst>
              </a:tr>
              <a:tr h="370840">
                <a:tc>
                  <a:txBody>
                    <a:bodyPr/>
                    <a:lstStyle/>
                    <a:p>
                      <a:r>
                        <a:rPr lang="en-US" altLang="en-US" sz="2400" dirty="0"/>
                        <a:t>progesterone</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Hormone produced by corpus </a:t>
                      </a:r>
                      <a:r>
                        <a:rPr lang="en-US" altLang="en-US" sz="2400" dirty="0" err="1"/>
                        <a:t>luteum</a:t>
                      </a:r>
                      <a:r>
                        <a:rPr lang="en-US" altLang="en-US" sz="2400" dirty="0"/>
                        <a:t> in ovary and placenta of pregnant women</a:t>
                      </a: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05035818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Vocabulary (Slide 31 of 34)</a:t>
            </a:r>
          </a:p>
        </p:txBody>
      </p:sp>
      <p:graphicFrame>
        <p:nvGraphicFramePr>
          <p:cNvPr id="8" name="Content Placeholder 7" descr="Group 16 of 17:  This table lists a group of vocabulary terms from the text.  The same terms are repeated on the next slide with corresponding definitions."/>
          <p:cNvGraphicFramePr>
            <a:graphicFrameLocks noGrp="1"/>
          </p:cNvGraphicFramePr>
          <p:nvPr>
            <p:ph idx="1"/>
            <p:extLst>
              <p:ext uri="{D42A27DB-BD31-4B8C-83A1-F6EECF244321}">
                <p14:modId xmlns:p14="http://schemas.microsoft.com/office/powerpoint/2010/main" val="2241728804"/>
              </p:ext>
            </p:extLst>
          </p:nvPr>
        </p:nvGraphicFramePr>
        <p:xfrm>
          <a:off x="2599785" y="2057400"/>
          <a:ext cx="3944429" cy="2667000"/>
        </p:xfrm>
        <a:graphic>
          <a:graphicData uri="http://schemas.openxmlformats.org/drawingml/2006/table">
            <a:tbl>
              <a:tblPr firstRow="1" bandRow="1">
                <a:tableStyleId>{5C22544A-7EE6-4342-B048-85BDC9FD1C3A}</a:tableStyleId>
              </a:tblPr>
              <a:tblGrid>
                <a:gridCol w="3944429">
                  <a:extLst>
                    <a:ext uri="{9D8B030D-6E8A-4147-A177-3AD203B41FA5}">
                      <a16:colId xmlns:a16="http://schemas.microsoft.com/office/drawing/2014/main" val="20000"/>
                    </a:ext>
                  </a:extLst>
                </a:gridCol>
              </a:tblGrid>
              <a:tr h="666750">
                <a:tc>
                  <a:txBody>
                    <a:bodyPr/>
                    <a:lstStyle/>
                    <a:p>
                      <a:r>
                        <a:rPr lang="en-US" sz="2400" dirty="0"/>
                        <a:t>Term</a:t>
                      </a:r>
                    </a:p>
                  </a:txBody>
                  <a:tcPr/>
                </a:tc>
                <a:extLst>
                  <a:ext uri="{0D108BD9-81ED-4DB2-BD59-A6C34878D82A}">
                    <a16:rowId xmlns:a16="http://schemas.microsoft.com/office/drawing/2014/main" val="10000"/>
                  </a:ext>
                </a:extLst>
              </a:tr>
              <a:tr h="666750">
                <a:tc>
                  <a:txBody>
                    <a:bodyPr/>
                    <a:lstStyle/>
                    <a:p>
                      <a:r>
                        <a:rPr lang="en-US" altLang="en-US" sz="2400" dirty="0"/>
                        <a:t>puberty</a:t>
                      </a:r>
                      <a:endParaRPr lang="en-US" sz="2400" dirty="0"/>
                    </a:p>
                  </a:txBody>
                  <a:tcPr/>
                </a:tc>
                <a:extLst>
                  <a:ext uri="{0D108BD9-81ED-4DB2-BD59-A6C34878D82A}">
                    <a16:rowId xmlns:a16="http://schemas.microsoft.com/office/drawing/2014/main" val="10001"/>
                  </a:ext>
                </a:extLst>
              </a:tr>
              <a:tr h="66675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uterine serosa</a:t>
                      </a:r>
                    </a:p>
                  </a:txBody>
                  <a:tcPr/>
                </a:tc>
                <a:extLst>
                  <a:ext uri="{0D108BD9-81ED-4DB2-BD59-A6C34878D82A}">
                    <a16:rowId xmlns:a16="http://schemas.microsoft.com/office/drawing/2014/main" val="10002"/>
                  </a:ext>
                </a:extLst>
              </a:tr>
              <a:tr h="666750">
                <a:tc>
                  <a:txBody>
                    <a:bodyPr/>
                    <a:lstStyle/>
                    <a:p>
                      <a:r>
                        <a:rPr lang="en-US" altLang="en-US" sz="2400" dirty="0"/>
                        <a:t>uterus</a:t>
                      </a:r>
                      <a:endParaRPr lang="en-US" sz="2400" dirty="0"/>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9540309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Vocabulary (Slide 32 of 34)</a:t>
            </a:r>
          </a:p>
        </p:txBody>
      </p:sp>
      <p:graphicFrame>
        <p:nvGraphicFramePr>
          <p:cNvPr id="8" name="Content Placeholder 7" descr="Group 16 of 17.  List of vocabulary terms  with corresponding meanings or definitions."/>
          <p:cNvGraphicFramePr>
            <a:graphicFrameLocks noGrp="1"/>
          </p:cNvGraphicFramePr>
          <p:nvPr>
            <p:ph idx="1"/>
            <p:extLst>
              <p:ext uri="{D42A27DB-BD31-4B8C-83A1-F6EECF244321}">
                <p14:modId xmlns:p14="http://schemas.microsoft.com/office/powerpoint/2010/main" val="1017531549"/>
              </p:ext>
            </p:extLst>
          </p:nvPr>
        </p:nvGraphicFramePr>
        <p:xfrm>
          <a:off x="457200" y="1600200"/>
          <a:ext cx="8229600" cy="3291840"/>
        </p:xfrm>
        <a:graphic>
          <a:graphicData uri="http://schemas.openxmlformats.org/drawingml/2006/table">
            <a:tbl>
              <a:tblPr firstRow="1" bandRow="1">
                <a:tableStyleId>{5C22544A-7EE6-4342-B048-85BDC9FD1C3A}</a:tableStyleId>
              </a:tblPr>
              <a:tblGrid>
                <a:gridCol w="2514600">
                  <a:extLst>
                    <a:ext uri="{9D8B030D-6E8A-4147-A177-3AD203B41FA5}">
                      <a16:colId xmlns:a16="http://schemas.microsoft.com/office/drawing/2014/main" val="20000"/>
                    </a:ext>
                  </a:extLst>
                </a:gridCol>
                <a:gridCol w="5715000">
                  <a:extLst>
                    <a:ext uri="{9D8B030D-6E8A-4147-A177-3AD203B41FA5}">
                      <a16:colId xmlns:a16="http://schemas.microsoft.com/office/drawing/2014/main" val="20001"/>
                    </a:ext>
                  </a:extLst>
                </a:gridCol>
              </a:tblGrid>
              <a:tr h="370840">
                <a:tc>
                  <a:txBody>
                    <a:bodyPr/>
                    <a:lstStyle/>
                    <a:p>
                      <a:r>
                        <a:rPr lang="en-US" sz="2400" dirty="0"/>
                        <a:t>Term</a:t>
                      </a:r>
                    </a:p>
                  </a:txBody>
                  <a:tcPr/>
                </a:tc>
                <a:tc>
                  <a:txBody>
                    <a:bodyPr/>
                    <a:lstStyle/>
                    <a:p>
                      <a:r>
                        <a:rPr lang="en-US" sz="2400" dirty="0"/>
                        <a:t>Meaning/Definition</a:t>
                      </a:r>
                    </a:p>
                  </a:txBody>
                  <a:tcPr/>
                </a:tc>
                <a:extLst>
                  <a:ext uri="{0D108BD9-81ED-4DB2-BD59-A6C34878D82A}">
                    <a16:rowId xmlns:a16="http://schemas.microsoft.com/office/drawing/2014/main" val="10000"/>
                  </a:ext>
                </a:extLst>
              </a:tr>
              <a:tr h="370840">
                <a:tc>
                  <a:txBody>
                    <a:bodyPr/>
                    <a:lstStyle/>
                    <a:p>
                      <a:r>
                        <a:rPr lang="en-US" altLang="en-US" sz="2400" dirty="0"/>
                        <a:t>puberty</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Point in life cycle at which sex characteristics appear and gametes are produced</a:t>
                      </a:r>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err="1"/>
                        <a:t>Perimetrium</a:t>
                      </a:r>
                      <a:r>
                        <a:rPr lang="en-US" altLang="en-US" sz="2400" baseline="0" dirty="0"/>
                        <a:t> (</a:t>
                      </a:r>
                      <a:r>
                        <a:rPr lang="en-US" altLang="en-US" sz="2400" dirty="0"/>
                        <a:t>uterine serosa)</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Outermost layer surrounding the uterus</a:t>
                      </a:r>
                    </a:p>
                  </a:txBody>
                  <a:tcPr/>
                </a:tc>
                <a:extLst>
                  <a:ext uri="{0D108BD9-81ED-4DB2-BD59-A6C34878D82A}">
                    <a16:rowId xmlns:a16="http://schemas.microsoft.com/office/drawing/2014/main" val="10002"/>
                  </a:ext>
                </a:extLst>
              </a:tr>
              <a:tr h="370840">
                <a:tc>
                  <a:txBody>
                    <a:bodyPr/>
                    <a:lstStyle/>
                    <a:p>
                      <a:r>
                        <a:rPr lang="en-US" altLang="en-US" sz="2400" dirty="0"/>
                        <a:t>uterus</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Hollow, pear-shaped muscular female organ in which embryo and fetus develop, and from which menstruation occurs</a:t>
                      </a: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28565340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Vocabulary (Slide 33 of 34)</a:t>
            </a:r>
          </a:p>
        </p:txBody>
      </p:sp>
      <p:graphicFrame>
        <p:nvGraphicFramePr>
          <p:cNvPr id="8" name="Content Placeholder 7" descr="Group 17 of 17:  This table lists a group of vocabulary terms from the text.  The same terms are repeated on the next slide with corresponding definitions."/>
          <p:cNvGraphicFramePr>
            <a:graphicFrameLocks noGrp="1"/>
          </p:cNvGraphicFramePr>
          <p:nvPr>
            <p:ph idx="1"/>
            <p:extLst>
              <p:ext uri="{D42A27DB-BD31-4B8C-83A1-F6EECF244321}">
                <p14:modId xmlns:p14="http://schemas.microsoft.com/office/powerpoint/2010/main" val="2725780197"/>
              </p:ext>
            </p:extLst>
          </p:nvPr>
        </p:nvGraphicFramePr>
        <p:xfrm>
          <a:off x="2590800" y="2133600"/>
          <a:ext cx="3962400" cy="2971800"/>
        </p:xfrm>
        <a:graphic>
          <a:graphicData uri="http://schemas.openxmlformats.org/drawingml/2006/table">
            <a:tbl>
              <a:tblPr firstRow="1" bandRow="1">
                <a:tableStyleId>{5C22544A-7EE6-4342-B048-85BDC9FD1C3A}</a:tableStyleId>
              </a:tblPr>
              <a:tblGrid>
                <a:gridCol w="3962400">
                  <a:extLst>
                    <a:ext uri="{9D8B030D-6E8A-4147-A177-3AD203B41FA5}">
                      <a16:colId xmlns:a16="http://schemas.microsoft.com/office/drawing/2014/main" val="20000"/>
                    </a:ext>
                  </a:extLst>
                </a:gridCol>
              </a:tblGrid>
              <a:tr h="742950">
                <a:tc>
                  <a:txBody>
                    <a:bodyPr/>
                    <a:lstStyle/>
                    <a:p>
                      <a:r>
                        <a:rPr lang="en-US" sz="2400" dirty="0"/>
                        <a:t>Term</a:t>
                      </a:r>
                    </a:p>
                  </a:txBody>
                  <a:tcPr/>
                </a:tc>
                <a:extLst>
                  <a:ext uri="{0D108BD9-81ED-4DB2-BD59-A6C34878D82A}">
                    <a16:rowId xmlns:a16="http://schemas.microsoft.com/office/drawing/2014/main" val="10000"/>
                  </a:ext>
                </a:extLst>
              </a:tr>
              <a:tr h="742950">
                <a:tc>
                  <a:txBody>
                    <a:bodyPr/>
                    <a:lstStyle/>
                    <a:p>
                      <a:r>
                        <a:rPr lang="en-US" altLang="en-US" sz="2400" dirty="0"/>
                        <a:t>vagina</a:t>
                      </a:r>
                      <a:endParaRPr lang="en-US" sz="2400" dirty="0"/>
                    </a:p>
                  </a:txBody>
                  <a:tcPr/>
                </a:tc>
                <a:extLst>
                  <a:ext uri="{0D108BD9-81ED-4DB2-BD59-A6C34878D82A}">
                    <a16:rowId xmlns:a16="http://schemas.microsoft.com/office/drawing/2014/main" val="10001"/>
                  </a:ext>
                </a:extLst>
              </a:tr>
              <a:tr h="742950">
                <a:tc>
                  <a:txBody>
                    <a:bodyPr/>
                    <a:lstStyle/>
                    <a:p>
                      <a:r>
                        <a:rPr lang="en-US" altLang="en-US" sz="2400" dirty="0"/>
                        <a:t>vulva</a:t>
                      </a:r>
                      <a:endParaRPr lang="en-US" sz="2400" dirty="0"/>
                    </a:p>
                  </a:txBody>
                  <a:tcPr/>
                </a:tc>
                <a:extLst>
                  <a:ext uri="{0D108BD9-81ED-4DB2-BD59-A6C34878D82A}">
                    <a16:rowId xmlns:a16="http://schemas.microsoft.com/office/drawing/2014/main" val="10002"/>
                  </a:ext>
                </a:extLst>
              </a:tr>
              <a:tr h="742950">
                <a:tc>
                  <a:txBody>
                    <a:bodyPr/>
                    <a:lstStyle/>
                    <a:p>
                      <a:r>
                        <a:rPr lang="en-US" altLang="en-US" sz="2400" dirty="0"/>
                        <a:t>zygote</a:t>
                      </a:r>
                      <a:endParaRPr lang="en-US" sz="2400" dirty="0"/>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404674264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Vocabulary (Slide 34 of 34)</a:t>
            </a:r>
          </a:p>
        </p:txBody>
      </p:sp>
      <p:graphicFrame>
        <p:nvGraphicFramePr>
          <p:cNvPr id="8" name="Content Placeholder 7" descr="Group 17 of 17.  List of vocabulary terms  with corresponding meanings or definitions."/>
          <p:cNvGraphicFramePr>
            <a:graphicFrameLocks noGrp="1"/>
          </p:cNvGraphicFramePr>
          <p:nvPr>
            <p:ph idx="1"/>
            <p:extLst>
              <p:ext uri="{D42A27DB-BD31-4B8C-83A1-F6EECF244321}">
                <p14:modId xmlns:p14="http://schemas.microsoft.com/office/powerpoint/2010/main" val="601201126"/>
              </p:ext>
            </p:extLst>
          </p:nvPr>
        </p:nvGraphicFramePr>
        <p:xfrm>
          <a:off x="457200" y="1600200"/>
          <a:ext cx="8229600" cy="2926080"/>
        </p:xfrm>
        <a:graphic>
          <a:graphicData uri="http://schemas.openxmlformats.org/drawingml/2006/table">
            <a:tbl>
              <a:tblPr firstRow="1" bandRow="1">
                <a:tableStyleId>{5C22544A-7EE6-4342-B048-85BDC9FD1C3A}</a:tableStyleId>
              </a:tblPr>
              <a:tblGrid>
                <a:gridCol w="2514600">
                  <a:extLst>
                    <a:ext uri="{9D8B030D-6E8A-4147-A177-3AD203B41FA5}">
                      <a16:colId xmlns:a16="http://schemas.microsoft.com/office/drawing/2014/main" val="20000"/>
                    </a:ext>
                  </a:extLst>
                </a:gridCol>
                <a:gridCol w="5715000">
                  <a:extLst>
                    <a:ext uri="{9D8B030D-6E8A-4147-A177-3AD203B41FA5}">
                      <a16:colId xmlns:a16="http://schemas.microsoft.com/office/drawing/2014/main" val="20001"/>
                    </a:ext>
                  </a:extLst>
                </a:gridCol>
              </a:tblGrid>
              <a:tr h="370840">
                <a:tc>
                  <a:txBody>
                    <a:bodyPr/>
                    <a:lstStyle/>
                    <a:p>
                      <a:r>
                        <a:rPr lang="en-US" sz="2400" dirty="0"/>
                        <a:t>Term</a:t>
                      </a:r>
                    </a:p>
                  </a:txBody>
                  <a:tcPr/>
                </a:tc>
                <a:tc>
                  <a:txBody>
                    <a:bodyPr/>
                    <a:lstStyle/>
                    <a:p>
                      <a:r>
                        <a:rPr lang="en-US" sz="2400" dirty="0"/>
                        <a:t>Meaning/Definition</a:t>
                      </a:r>
                    </a:p>
                  </a:txBody>
                  <a:tcPr/>
                </a:tc>
                <a:extLst>
                  <a:ext uri="{0D108BD9-81ED-4DB2-BD59-A6C34878D82A}">
                    <a16:rowId xmlns:a16="http://schemas.microsoft.com/office/drawing/2014/main" val="10000"/>
                  </a:ext>
                </a:extLst>
              </a:tr>
              <a:tr h="370840">
                <a:tc>
                  <a:txBody>
                    <a:bodyPr/>
                    <a:lstStyle/>
                    <a:p>
                      <a:r>
                        <a:rPr lang="en-US" altLang="en-US" sz="2400" dirty="0"/>
                        <a:t>vagina</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Muscular, mucosa-lined canal extending from the uterus to the exterior of the body</a:t>
                      </a:r>
                    </a:p>
                  </a:txBody>
                  <a:tcPr/>
                </a:tc>
                <a:extLst>
                  <a:ext uri="{0D108BD9-81ED-4DB2-BD59-A6C34878D82A}">
                    <a16:rowId xmlns:a16="http://schemas.microsoft.com/office/drawing/2014/main" val="10001"/>
                  </a:ext>
                </a:extLst>
              </a:tr>
              <a:tr h="370840">
                <a:tc>
                  <a:txBody>
                    <a:bodyPr/>
                    <a:lstStyle/>
                    <a:p>
                      <a:r>
                        <a:rPr lang="en-US" altLang="en-US" sz="2400" dirty="0"/>
                        <a:t>vulva</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External female genitalia; includes the labia, hymen, clitoris, and vaginal orifice</a:t>
                      </a:r>
                    </a:p>
                  </a:txBody>
                  <a:tcPr/>
                </a:tc>
                <a:extLst>
                  <a:ext uri="{0D108BD9-81ED-4DB2-BD59-A6C34878D82A}">
                    <a16:rowId xmlns:a16="http://schemas.microsoft.com/office/drawing/2014/main" val="10002"/>
                  </a:ext>
                </a:extLst>
              </a:tr>
              <a:tr h="370840">
                <a:tc>
                  <a:txBody>
                    <a:bodyPr/>
                    <a:lstStyle/>
                    <a:p>
                      <a:r>
                        <a:rPr lang="en-US" altLang="en-US" sz="2400" dirty="0"/>
                        <a:t>zygote</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The stage in prenatal development from fertilization and implantation to 2 weeks</a:t>
                      </a: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11398814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1026"/>
          <p:cNvSpPr>
            <a:spLocks noGrp="1" noChangeArrowheads="1"/>
          </p:cNvSpPr>
          <p:nvPr>
            <p:ph type="title"/>
          </p:nvPr>
        </p:nvSpPr>
        <p:spPr>
          <a:xfrm>
            <a:off x="533400" y="152400"/>
            <a:ext cx="7772400" cy="1219200"/>
          </a:xfrm>
        </p:spPr>
        <p:txBody>
          <a:bodyPr/>
          <a:lstStyle/>
          <a:p>
            <a:pPr eaLnBrk="1" hangingPunct="1"/>
            <a:r>
              <a:rPr lang="en-US" altLang="en-US" dirty="0"/>
              <a:t>      QUICK QUIZ (Slide 4 of 5)</a:t>
            </a:r>
            <a:r>
              <a:rPr lang="en-US" altLang="en-US" sz="4800" dirty="0"/>
              <a:t>	</a:t>
            </a:r>
          </a:p>
        </p:txBody>
      </p:sp>
      <p:sp>
        <p:nvSpPr>
          <p:cNvPr id="67587" name="Rectangle 1027"/>
          <p:cNvSpPr>
            <a:spLocks noGrp="1" noChangeArrowheads="1"/>
          </p:cNvSpPr>
          <p:nvPr>
            <p:ph idx="1"/>
          </p:nvPr>
        </p:nvSpPr>
        <p:spPr>
          <a:xfrm>
            <a:off x="685800" y="1600200"/>
            <a:ext cx="6934200" cy="4495800"/>
          </a:xfrm>
        </p:spPr>
        <p:txBody>
          <a:bodyPr/>
          <a:lstStyle/>
          <a:p>
            <a:pPr marL="533400" indent="-533400" eaLnBrk="1" hangingPunct="1">
              <a:buFont typeface="Wingdings 2" panose="05020102010507070707" pitchFamily="18" charset="2"/>
              <a:buAutoNum type="arabicPeriod" startAt="4"/>
            </a:pPr>
            <a:r>
              <a:rPr lang="en-US" altLang="en-US" b="1" dirty="0"/>
              <a:t>Which term refers to the inner, mucous membrane lining of the uterus?</a:t>
            </a:r>
          </a:p>
          <a:p>
            <a:pPr marL="533400" indent="-533400" eaLnBrk="1" hangingPunct="1">
              <a:buFont typeface="Wingdings 2" panose="05020102010507070707" pitchFamily="18" charset="2"/>
              <a:buAutoNum type="arabicPeriod" startAt="4"/>
            </a:pPr>
            <a:endParaRPr lang="en-US" altLang="en-US" b="1" dirty="0"/>
          </a:p>
          <a:p>
            <a:pPr marL="533400" indent="-533400" eaLnBrk="1" hangingPunct="1">
              <a:lnSpc>
                <a:spcPct val="65000"/>
              </a:lnSpc>
              <a:buFont typeface="Wingdings 2" panose="05020102010507070707" pitchFamily="18" charset="2"/>
              <a:buNone/>
            </a:pPr>
            <a:r>
              <a:rPr lang="en-US" altLang="en-US" dirty="0"/>
              <a:t>	A.  Endometrium</a:t>
            </a:r>
          </a:p>
          <a:p>
            <a:pPr marL="533400" indent="-533400" eaLnBrk="1" hangingPunct="1">
              <a:lnSpc>
                <a:spcPct val="65000"/>
              </a:lnSpc>
              <a:buFont typeface="Wingdings 2" panose="05020102010507070707" pitchFamily="18" charset="2"/>
              <a:buNone/>
            </a:pPr>
            <a:r>
              <a:rPr lang="en-US" altLang="en-US" dirty="0"/>
              <a:t>	B.  Fallopian tube</a:t>
            </a:r>
          </a:p>
          <a:p>
            <a:pPr marL="533400" indent="-533400" eaLnBrk="1" hangingPunct="1">
              <a:lnSpc>
                <a:spcPct val="65000"/>
              </a:lnSpc>
              <a:buFont typeface="Wingdings 2" panose="05020102010507070707" pitchFamily="18" charset="2"/>
              <a:buNone/>
            </a:pPr>
            <a:r>
              <a:rPr lang="en-US" altLang="en-US" dirty="0"/>
              <a:t>	C.  Chorion</a:t>
            </a:r>
          </a:p>
          <a:p>
            <a:pPr marL="533400" indent="-533400" eaLnBrk="1" hangingPunct="1">
              <a:lnSpc>
                <a:spcPct val="65000"/>
              </a:lnSpc>
              <a:buFont typeface="Wingdings 2" panose="05020102010507070707" pitchFamily="18" charset="2"/>
              <a:buNone/>
            </a:pPr>
            <a:r>
              <a:rPr lang="en-US" altLang="en-US" dirty="0"/>
              <a:t>	D.  Amnion</a:t>
            </a:r>
          </a:p>
          <a:p>
            <a:pPr marL="533400" indent="-533400" eaLnBrk="1" hangingPunct="1">
              <a:buFont typeface="Wingdings 2" panose="05020102010507070707" pitchFamily="18" charset="2"/>
              <a:buNone/>
            </a:pPr>
            <a:endParaRPr lang="en-US" altLang="en-US" dirty="0"/>
          </a:p>
        </p:txBody>
      </p:sp>
    </p:spTree>
    <p:extLst>
      <p:ext uri="{BB962C8B-B14F-4D97-AF65-F5344CB8AC3E}">
        <p14:creationId xmlns:p14="http://schemas.microsoft.com/office/powerpoint/2010/main" val="193896983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Terminology: Combining Forms, Suffixes, and Prefixes (Slide 1 of 6)</a:t>
            </a:r>
          </a:p>
        </p:txBody>
      </p:sp>
      <p:graphicFrame>
        <p:nvGraphicFramePr>
          <p:cNvPr id="7" name="Content Placeholder 6" descr="Group 1 of 6 combining forms from the Terminology:  Combining Forms, Suffixes and Prefixes section of the textbook  with corresponding meanings or definitions. "/>
          <p:cNvGraphicFramePr>
            <a:graphicFrameLocks noGrp="1"/>
          </p:cNvGraphicFramePr>
          <p:nvPr>
            <p:ph idx="1"/>
            <p:extLst>
              <p:ext uri="{D42A27DB-BD31-4B8C-83A1-F6EECF244321}">
                <p14:modId xmlns:p14="http://schemas.microsoft.com/office/powerpoint/2010/main" val="1866641909"/>
              </p:ext>
            </p:extLst>
          </p:nvPr>
        </p:nvGraphicFramePr>
        <p:xfrm>
          <a:off x="457200" y="1600200"/>
          <a:ext cx="8229600" cy="3200400"/>
        </p:xfrm>
        <a:graphic>
          <a:graphicData uri="http://schemas.openxmlformats.org/drawingml/2006/table">
            <a:tbl>
              <a:tblPr firstRow="1" bandRow="1">
                <a:tableStyleId>{68D230F3-CF80-4859-8CE7-A43EE81993B5}</a:tableStyleId>
              </a:tblPr>
              <a:tblGrid>
                <a:gridCol w="2590800">
                  <a:extLst>
                    <a:ext uri="{9D8B030D-6E8A-4147-A177-3AD203B41FA5}">
                      <a16:colId xmlns:a16="http://schemas.microsoft.com/office/drawing/2014/main" val="20000"/>
                    </a:ext>
                  </a:extLst>
                </a:gridCol>
                <a:gridCol w="5638800">
                  <a:extLst>
                    <a:ext uri="{9D8B030D-6E8A-4147-A177-3AD203B41FA5}">
                      <a16:colId xmlns:a16="http://schemas.microsoft.com/office/drawing/2014/main" val="20001"/>
                    </a:ext>
                  </a:extLst>
                </a:gridCol>
              </a:tblGrid>
              <a:tr h="370840">
                <a:tc>
                  <a:txBody>
                    <a:bodyPr/>
                    <a:lstStyle/>
                    <a:p>
                      <a:r>
                        <a:rPr lang="en-US" sz="2400" dirty="0"/>
                        <a:t>Combining Form</a:t>
                      </a:r>
                    </a:p>
                  </a:txBody>
                  <a:tcPr/>
                </a:tc>
                <a:tc>
                  <a:txBody>
                    <a:bodyPr/>
                    <a:lstStyle/>
                    <a:p>
                      <a:r>
                        <a:rPr lang="en-US" sz="2400" dirty="0"/>
                        <a:t>Meaning</a:t>
                      </a:r>
                    </a:p>
                  </a:txBody>
                  <a:tcPr/>
                </a:tc>
                <a:extLst>
                  <a:ext uri="{0D108BD9-81ED-4DB2-BD59-A6C34878D82A}">
                    <a16:rowId xmlns:a16="http://schemas.microsoft.com/office/drawing/2014/main" val="10000"/>
                  </a:ext>
                </a:extLst>
              </a:tr>
              <a:tr h="370840">
                <a:tc>
                  <a:txBody>
                    <a:bodyPr/>
                    <a:lstStyle/>
                    <a:p>
                      <a:r>
                        <a:rPr lang="en-US" sz="2400" b="1" dirty="0" err="1"/>
                        <a:t>amni</a:t>
                      </a:r>
                      <a:r>
                        <a:rPr lang="en-US" sz="2400" b="1" dirty="0"/>
                        <a:t>/o</a:t>
                      </a:r>
                      <a:endParaRPr lang="en-US" sz="2400" dirty="0"/>
                    </a:p>
                  </a:txBody>
                  <a:tcPr/>
                </a:tc>
                <a:tc>
                  <a:txBody>
                    <a:bodyPr/>
                    <a:lstStyle/>
                    <a:p>
                      <a:r>
                        <a:rPr lang="en-US" sz="2400" dirty="0"/>
                        <a:t>amnion</a:t>
                      </a:r>
                    </a:p>
                  </a:txBody>
                  <a:tcPr/>
                </a:tc>
                <a:extLst>
                  <a:ext uri="{0D108BD9-81ED-4DB2-BD59-A6C34878D82A}">
                    <a16:rowId xmlns:a16="http://schemas.microsoft.com/office/drawing/2014/main" val="10001"/>
                  </a:ext>
                </a:extLst>
              </a:tr>
              <a:tr h="370840">
                <a:tc>
                  <a:txBody>
                    <a:bodyPr/>
                    <a:lstStyle/>
                    <a:p>
                      <a:r>
                        <a:rPr lang="en-US" sz="2400" b="1" dirty="0" err="1"/>
                        <a:t>bartholin</a:t>
                      </a:r>
                      <a:r>
                        <a:rPr lang="en-US" sz="2400" b="1" dirty="0"/>
                        <a:t>/o</a:t>
                      </a:r>
                      <a:endParaRPr lang="en-US" sz="2400" dirty="0"/>
                    </a:p>
                  </a:txBody>
                  <a:tcPr/>
                </a:tc>
                <a:tc>
                  <a:txBody>
                    <a:bodyPr/>
                    <a:lstStyle/>
                    <a:p>
                      <a:r>
                        <a:rPr lang="en-US" sz="2400" dirty="0" err="1"/>
                        <a:t>Bartholin</a:t>
                      </a:r>
                      <a:r>
                        <a:rPr lang="en-US" sz="2400" dirty="0"/>
                        <a:t> gland</a:t>
                      </a:r>
                    </a:p>
                  </a:txBody>
                  <a:tcPr/>
                </a:tc>
                <a:extLst>
                  <a:ext uri="{0D108BD9-81ED-4DB2-BD59-A6C34878D82A}">
                    <a16:rowId xmlns:a16="http://schemas.microsoft.com/office/drawing/2014/main" val="10002"/>
                  </a:ext>
                </a:extLst>
              </a:tr>
              <a:tr h="370840">
                <a:tc>
                  <a:txBody>
                    <a:bodyPr/>
                    <a:lstStyle/>
                    <a:p>
                      <a:r>
                        <a:rPr lang="en-US" sz="2400" b="1" dirty="0" err="1"/>
                        <a:t>cervic</a:t>
                      </a:r>
                      <a:r>
                        <a:rPr lang="en-US" sz="2400" b="1" dirty="0"/>
                        <a:t>/o</a:t>
                      </a:r>
                      <a:endParaRPr lang="en-US" sz="2400" dirty="0"/>
                    </a:p>
                  </a:txBody>
                  <a:tcPr/>
                </a:tc>
                <a:tc>
                  <a:txBody>
                    <a:bodyPr/>
                    <a:lstStyle/>
                    <a:p>
                      <a:r>
                        <a:rPr lang="en-US" sz="2400" dirty="0"/>
                        <a:t>cervix, neck</a:t>
                      </a:r>
                    </a:p>
                  </a:txBody>
                  <a:tcPr/>
                </a:tc>
                <a:extLst>
                  <a:ext uri="{0D108BD9-81ED-4DB2-BD59-A6C34878D82A}">
                    <a16:rowId xmlns:a16="http://schemas.microsoft.com/office/drawing/2014/main" val="10003"/>
                  </a:ext>
                </a:extLst>
              </a:tr>
              <a:tr h="370840">
                <a:tc>
                  <a:txBody>
                    <a:bodyPr/>
                    <a:lstStyle/>
                    <a:p>
                      <a:r>
                        <a:rPr lang="en-US" sz="2400" b="1" dirty="0" err="1"/>
                        <a:t>chori</a:t>
                      </a:r>
                      <a:r>
                        <a:rPr lang="en-US" sz="2400" b="1" dirty="0"/>
                        <a:t>/o</a:t>
                      </a:r>
                      <a:endParaRPr lang="en-US" sz="2400" dirty="0"/>
                    </a:p>
                  </a:txBody>
                  <a:tcPr/>
                </a:tc>
                <a:tc>
                  <a:txBody>
                    <a:bodyPr/>
                    <a:lstStyle/>
                    <a:p>
                      <a:r>
                        <a:rPr lang="en-US" sz="2400" dirty="0" err="1"/>
                        <a:t>chorion</a:t>
                      </a:r>
                      <a:endParaRPr lang="en-US" sz="2400" dirty="0"/>
                    </a:p>
                  </a:txBody>
                  <a:tcPr/>
                </a:tc>
                <a:extLst>
                  <a:ext uri="{0D108BD9-81ED-4DB2-BD59-A6C34878D82A}">
                    <a16:rowId xmlns:a16="http://schemas.microsoft.com/office/drawing/2014/main" val="10004"/>
                  </a:ext>
                </a:extLst>
              </a:tr>
              <a:tr h="370840">
                <a:tc>
                  <a:txBody>
                    <a:bodyPr/>
                    <a:lstStyle/>
                    <a:p>
                      <a:r>
                        <a:rPr lang="en-US" sz="2400" b="1" dirty="0" err="1"/>
                        <a:t>chorion</a:t>
                      </a:r>
                      <a:r>
                        <a:rPr lang="en-US" sz="2400" b="1" dirty="0"/>
                        <a:t>/o</a:t>
                      </a:r>
                      <a:endParaRPr lang="en-US" sz="2400" dirty="0"/>
                    </a:p>
                  </a:txBody>
                  <a:tcPr/>
                </a:tc>
                <a:tc>
                  <a:txBody>
                    <a:bodyPr/>
                    <a:lstStyle/>
                    <a:p>
                      <a:r>
                        <a:rPr lang="en-US" sz="2400" dirty="0" err="1"/>
                        <a:t>chorion</a:t>
                      </a:r>
                      <a:endParaRPr lang="en-US" sz="2400" dirty="0"/>
                    </a:p>
                  </a:txBody>
                  <a:tcPr/>
                </a:tc>
                <a:extLst>
                  <a:ext uri="{0D108BD9-81ED-4DB2-BD59-A6C34878D82A}">
                    <a16:rowId xmlns:a16="http://schemas.microsoft.com/office/drawing/2014/main" val="10005"/>
                  </a:ext>
                </a:extLst>
              </a:tr>
              <a:tr h="370840">
                <a:tc>
                  <a:txBody>
                    <a:bodyPr/>
                    <a:lstStyle/>
                    <a:p>
                      <a:r>
                        <a:rPr lang="en-US" sz="2400" b="1" dirty="0" err="1"/>
                        <a:t>colp</a:t>
                      </a:r>
                      <a:r>
                        <a:rPr lang="en-US" sz="2400" b="1" dirty="0"/>
                        <a:t>/o</a:t>
                      </a:r>
                      <a:endParaRPr lang="en-US" sz="2400" dirty="0"/>
                    </a:p>
                  </a:txBody>
                  <a:tcPr/>
                </a:tc>
                <a:tc>
                  <a:txBody>
                    <a:bodyPr/>
                    <a:lstStyle/>
                    <a:p>
                      <a:r>
                        <a:rPr lang="en-US" sz="2400" dirty="0"/>
                        <a:t>vagina</a:t>
                      </a:r>
                    </a:p>
                  </a:txBody>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253174028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Terminology: Combining Forms, Suffixes, and Prefixes (Slide 2 of 6)</a:t>
            </a:r>
          </a:p>
        </p:txBody>
      </p:sp>
      <p:graphicFrame>
        <p:nvGraphicFramePr>
          <p:cNvPr id="7" name="Content Placeholder 6" descr="Group 2 of 6 combining forms from the Terminology:  Combining Forms, Suffixes and Prefixes section of the textbook  with corresponding meanings or definitions. "/>
          <p:cNvGraphicFramePr>
            <a:graphicFrameLocks noGrp="1"/>
          </p:cNvGraphicFramePr>
          <p:nvPr>
            <p:ph idx="1"/>
            <p:extLst>
              <p:ext uri="{D42A27DB-BD31-4B8C-83A1-F6EECF244321}">
                <p14:modId xmlns:p14="http://schemas.microsoft.com/office/powerpoint/2010/main" val="659162373"/>
              </p:ext>
            </p:extLst>
          </p:nvPr>
        </p:nvGraphicFramePr>
        <p:xfrm>
          <a:off x="457200" y="1600200"/>
          <a:ext cx="8229600" cy="2743200"/>
        </p:xfrm>
        <a:graphic>
          <a:graphicData uri="http://schemas.openxmlformats.org/drawingml/2006/table">
            <a:tbl>
              <a:tblPr firstRow="1" bandRow="1">
                <a:tableStyleId>{68D230F3-CF80-4859-8CE7-A43EE81993B5}</a:tableStyleId>
              </a:tblPr>
              <a:tblGrid>
                <a:gridCol w="2590800">
                  <a:extLst>
                    <a:ext uri="{9D8B030D-6E8A-4147-A177-3AD203B41FA5}">
                      <a16:colId xmlns:a16="http://schemas.microsoft.com/office/drawing/2014/main" val="20000"/>
                    </a:ext>
                  </a:extLst>
                </a:gridCol>
                <a:gridCol w="5638800">
                  <a:extLst>
                    <a:ext uri="{9D8B030D-6E8A-4147-A177-3AD203B41FA5}">
                      <a16:colId xmlns:a16="http://schemas.microsoft.com/office/drawing/2014/main" val="20001"/>
                    </a:ext>
                  </a:extLst>
                </a:gridCol>
              </a:tblGrid>
              <a:tr h="370840">
                <a:tc>
                  <a:txBody>
                    <a:bodyPr/>
                    <a:lstStyle/>
                    <a:p>
                      <a:r>
                        <a:rPr lang="en-US" sz="2400" dirty="0"/>
                        <a:t>Combining Form</a:t>
                      </a:r>
                    </a:p>
                  </a:txBody>
                  <a:tcPr/>
                </a:tc>
                <a:tc>
                  <a:txBody>
                    <a:bodyPr/>
                    <a:lstStyle/>
                    <a:p>
                      <a:r>
                        <a:rPr lang="en-US" sz="2400" dirty="0"/>
                        <a:t>Meaning</a:t>
                      </a:r>
                    </a:p>
                  </a:txBody>
                  <a:tcPr/>
                </a:tc>
                <a:extLst>
                  <a:ext uri="{0D108BD9-81ED-4DB2-BD59-A6C34878D82A}">
                    <a16:rowId xmlns:a16="http://schemas.microsoft.com/office/drawing/2014/main" val="10000"/>
                  </a:ext>
                </a:extLst>
              </a:tr>
              <a:tr h="370840">
                <a:tc>
                  <a:txBody>
                    <a:bodyPr/>
                    <a:lstStyle/>
                    <a:p>
                      <a:r>
                        <a:rPr lang="en-US" altLang="en-US" sz="2400" b="1" dirty="0" err="1"/>
                        <a:t>culd</a:t>
                      </a:r>
                      <a:r>
                        <a:rPr lang="en-US" altLang="en-US" sz="2400" b="1" dirty="0"/>
                        <a:t>/o</a:t>
                      </a:r>
                      <a:endParaRPr lang="en-US" sz="2400" dirty="0"/>
                    </a:p>
                  </a:txBody>
                  <a:tcPr/>
                </a:tc>
                <a:tc>
                  <a:txBody>
                    <a:bodyPr/>
                    <a:lstStyle/>
                    <a:p>
                      <a:r>
                        <a:rPr lang="en-US" altLang="en-US" sz="2400" dirty="0"/>
                        <a:t>cul-de-sac</a:t>
                      </a:r>
                      <a:endParaRPr lang="en-US" sz="2400" dirty="0"/>
                    </a:p>
                  </a:txBody>
                  <a:tcPr/>
                </a:tc>
                <a:extLst>
                  <a:ext uri="{0D108BD9-81ED-4DB2-BD59-A6C34878D82A}">
                    <a16:rowId xmlns:a16="http://schemas.microsoft.com/office/drawing/2014/main" val="10001"/>
                  </a:ext>
                </a:extLst>
              </a:tr>
              <a:tr h="370840">
                <a:tc>
                  <a:txBody>
                    <a:bodyPr/>
                    <a:lstStyle/>
                    <a:p>
                      <a:r>
                        <a:rPr lang="en-US" altLang="en-US" sz="2400" b="1" dirty="0" err="1"/>
                        <a:t>episi</a:t>
                      </a:r>
                      <a:r>
                        <a:rPr lang="en-US" altLang="en-US" sz="2400" b="1" dirty="0"/>
                        <a:t>/o</a:t>
                      </a:r>
                      <a:endParaRPr lang="en-US" sz="2400" dirty="0"/>
                    </a:p>
                  </a:txBody>
                  <a:tcPr/>
                </a:tc>
                <a:tc>
                  <a:txBody>
                    <a:bodyPr/>
                    <a:lstStyle/>
                    <a:p>
                      <a:r>
                        <a:rPr lang="en-US" altLang="en-US" sz="2400" dirty="0"/>
                        <a:t>vulva</a:t>
                      </a:r>
                      <a:endParaRPr lang="en-US" sz="2400" dirty="0"/>
                    </a:p>
                  </a:txBody>
                  <a:tcPr/>
                </a:tc>
                <a:extLst>
                  <a:ext uri="{0D108BD9-81ED-4DB2-BD59-A6C34878D82A}">
                    <a16:rowId xmlns:a16="http://schemas.microsoft.com/office/drawing/2014/main" val="10002"/>
                  </a:ext>
                </a:extLst>
              </a:tr>
              <a:tr h="370840">
                <a:tc>
                  <a:txBody>
                    <a:bodyPr/>
                    <a:lstStyle/>
                    <a:p>
                      <a:r>
                        <a:rPr lang="en-US" altLang="en-US" sz="2400" b="1" dirty="0" err="1"/>
                        <a:t>galact</a:t>
                      </a:r>
                      <a:r>
                        <a:rPr lang="en-US" altLang="en-US" sz="2400" b="1" dirty="0"/>
                        <a:t>/o</a:t>
                      </a:r>
                      <a:endParaRPr lang="en-US" sz="2400" dirty="0"/>
                    </a:p>
                  </a:txBody>
                  <a:tcPr/>
                </a:tc>
                <a:tc>
                  <a:txBody>
                    <a:bodyPr/>
                    <a:lstStyle/>
                    <a:p>
                      <a:r>
                        <a:rPr lang="en-US" altLang="en-US" sz="2400" dirty="0"/>
                        <a:t>milk</a:t>
                      </a:r>
                      <a:endParaRPr lang="en-US" sz="2400" dirty="0"/>
                    </a:p>
                  </a:txBody>
                  <a:tcPr/>
                </a:tc>
                <a:extLst>
                  <a:ext uri="{0D108BD9-81ED-4DB2-BD59-A6C34878D82A}">
                    <a16:rowId xmlns:a16="http://schemas.microsoft.com/office/drawing/2014/main" val="10003"/>
                  </a:ext>
                </a:extLst>
              </a:tr>
              <a:tr h="370840">
                <a:tc>
                  <a:txBody>
                    <a:bodyPr/>
                    <a:lstStyle/>
                    <a:p>
                      <a:r>
                        <a:rPr lang="en-US" altLang="en-US" sz="2400" b="1" dirty="0" err="1"/>
                        <a:t>gynec</a:t>
                      </a:r>
                      <a:r>
                        <a:rPr lang="en-US" altLang="en-US" sz="2400" b="1" dirty="0"/>
                        <a:t>/o</a:t>
                      </a:r>
                      <a:endParaRPr lang="en-US" sz="2400" dirty="0"/>
                    </a:p>
                  </a:txBody>
                  <a:tcPr/>
                </a:tc>
                <a:tc>
                  <a:txBody>
                    <a:bodyPr/>
                    <a:lstStyle/>
                    <a:p>
                      <a:r>
                        <a:rPr lang="en-US" altLang="en-US" sz="2400" dirty="0"/>
                        <a:t>woman, female</a:t>
                      </a:r>
                      <a:endParaRPr lang="en-US" sz="2400" dirty="0"/>
                    </a:p>
                  </a:txBody>
                  <a:tcPr/>
                </a:tc>
                <a:extLst>
                  <a:ext uri="{0D108BD9-81ED-4DB2-BD59-A6C34878D82A}">
                    <a16:rowId xmlns:a16="http://schemas.microsoft.com/office/drawing/2014/main" val="10004"/>
                  </a:ext>
                </a:extLst>
              </a:tr>
              <a:tr h="370840">
                <a:tc>
                  <a:txBody>
                    <a:bodyPr/>
                    <a:lstStyle/>
                    <a:p>
                      <a:r>
                        <a:rPr lang="en-US" altLang="en-US" sz="2400" b="1" dirty="0" err="1"/>
                        <a:t>hyster</a:t>
                      </a:r>
                      <a:r>
                        <a:rPr lang="en-US" altLang="en-US" sz="2400" b="1" dirty="0"/>
                        <a:t>/o</a:t>
                      </a:r>
                      <a:endParaRPr lang="en-US" sz="2400" dirty="0"/>
                    </a:p>
                  </a:txBody>
                  <a:tcPr/>
                </a:tc>
                <a:tc>
                  <a:txBody>
                    <a:bodyPr/>
                    <a:lstStyle/>
                    <a:p>
                      <a:r>
                        <a:rPr lang="en-US" altLang="en-US" sz="2400" dirty="0"/>
                        <a:t>uterus, womb</a:t>
                      </a:r>
                      <a:endParaRPr lang="en-US" sz="2400" dirty="0"/>
                    </a:p>
                  </a:txBody>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31284815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Terminology: Combining Forms, Suffixes, and Prefixes (Slide 3 of 6)</a:t>
            </a:r>
          </a:p>
        </p:txBody>
      </p:sp>
      <p:graphicFrame>
        <p:nvGraphicFramePr>
          <p:cNvPr id="7" name="Content Placeholder 6" descr="Group 3 of 6 combining forms from the Terminology:  Combining Forms, Suffixes and Prefixes section of the textbook  with corresponding meanings or definitions. "/>
          <p:cNvGraphicFramePr>
            <a:graphicFrameLocks noGrp="1"/>
          </p:cNvGraphicFramePr>
          <p:nvPr>
            <p:ph idx="1"/>
            <p:extLst>
              <p:ext uri="{D42A27DB-BD31-4B8C-83A1-F6EECF244321}">
                <p14:modId xmlns:p14="http://schemas.microsoft.com/office/powerpoint/2010/main" val="2708836986"/>
              </p:ext>
            </p:extLst>
          </p:nvPr>
        </p:nvGraphicFramePr>
        <p:xfrm>
          <a:off x="457200" y="1600200"/>
          <a:ext cx="8229600" cy="2743200"/>
        </p:xfrm>
        <a:graphic>
          <a:graphicData uri="http://schemas.openxmlformats.org/drawingml/2006/table">
            <a:tbl>
              <a:tblPr firstRow="1" bandRow="1">
                <a:tableStyleId>{68D230F3-CF80-4859-8CE7-A43EE81993B5}</a:tableStyleId>
              </a:tblPr>
              <a:tblGrid>
                <a:gridCol w="2590800">
                  <a:extLst>
                    <a:ext uri="{9D8B030D-6E8A-4147-A177-3AD203B41FA5}">
                      <a16:colId xmlns:a16="http://schemas.microsoft.com/office/drawing/2014/main" val="20000"/>
                    </a:ext>
                  </a:extLst>
                </a:gridCol>
                <a:gridCol w="5638800">
                  <a:extLst>
                    <a:ext uri="{9D8B030D-6E8A-4147-A177-3AD203B41FA5}">
                      <a16:colId xmlns:a16="http://schemas.microsoft.com/office/drawing/2014/main" val="20001"/>
                    </a:ext>
                  </a:extLst>
                </a:gridCol>
              </a:tblGrid>
              <a:tr h="370840">
                <a:tc>
                  <a:txBody>
                    <a:bodyPr/>
                    <a:lstStyle/>
                    <a:p>
                      <a:r>
                        <a:rPr lang="en-US" sz="2400" dirty="0"/>
                        <a:t>Combining Form</a:t>
                      </a:r>
                    </a:p>
                  </a:txBody>
                  <a:tcPr/>
                </a:tc>
                <a:tc>
                  <a:txBody>
                    <a:bodyPr/>
                    <a:lstStyle/>
                    <a:p>
                      <a:r>
                        <a:rPr lang="en-US" sz="2400" dirty="0"/>
                        <a:t>Meaning</a:t>
                      </a:r>
                    </a:p>
                  </a:txBody>
                  <a:tcPr/>
                </a:tc>
                <a:extLst>
                  <a:ext uri="{0D108BD9-81ED-4DB2-BD59-A6C34878D82A}">
                    <a16:rowId xmlns:a16="http://schemas.microsoft.com/office/drawing/2014/main" val="10000"/>
                  </a:ext>
                </a:extLst>
              </a:tr>
              <a:tr h="370840">
                <a:tc>
                  <a:txBody>
                    <a:bodyPr/>
                    <a:lstStyle/>
                    <a:p>
                      <a:r>
                        <a:rPr lang="en-US" altLang="en-US" sz="2400" b="1" dirty="0" err="1"/>
                        <a:t>lact</a:t>
                      </a:r>
                      <a:r>
                        <a:rPr lang="en-US" altLang="en-US" sz="2400" b="1" dirty="0"/>
                        <a:t>/o</a:t>
                      </a:r>
                      <a:endParaRPr lang="en-US" sz="2400" dirty="0"/>
                    </a:p>
                  </a:txBody>
                  <a:tcPr/>
                </a:tc>
                <a:tc>
                  <a:txBody>
                    <a:bodyPr/>
                    <a:lstStyle/>
                    <a:p>
                      <a:r>
                        <a:rPr lang="en-US" altLang="en-US" sz="2400" dirty="0"/>
                        <a:t>milk</a:t>
                      </a:r>
                      <a:endParaRPr lang="en-US" sz="2400" dirty="0"/>
                    </a:p>
                  </a:txBody>
                  <a:tcPr/>
                </a:tc>
                <a:extLst>
                  <a:ext uri="{0D108BD9-81ED-4DB2-BD59-A6C34878D82A}">
                    <a16:rowId xmlns:a16="http://schemas.microsoft.com/office/drawing/2014/main" val="10001"/>
                  </a:ext>
                </a:extLst>
              </a:tr>
              <a:tr h="370840">
                <a:tc>
                  <a:txBody>
                    <a:bodyPr/>
                    <a:lstStyle/>
                    <a:p>
                      <a:r>
                        <a:rPr lang="en-US" altLang="en-US" sz="2400" b="1" dirty="0" err="1"/>
                        <a:t>mamm</a:t>
                      </a:r>
                      <a:r>
                        <a:rPr lang="en-US" altLang="en-US" sz="2400" b="1" dirty="0"/>
                        <a:t>/o</a:t>
                      </a:r>
                      <a:endParaRPr lang="en-US" sz="2400" dirty="0"/>
                    </a:p>
                  </a:txBody>
                  <a:tcPr/>
                </a:tc>
                <a:tc>
                  <a:txBody>
                    <a:bodyPr/>
                    <a:lstStyle/>
                    <a:p>
                      <a:r>
                        <a:rPr lang="en-US" altLang="en-US" sz="2400" dirty="0"/>
                        <a:t>breast</a:t>
                      </a:r>
                      <a:endParaRPr lang="en-US" sz="2400" dirty="0"/>
                    </a:p>
                  </a:txBody>
                  <a:tcPr/>
                </a:tc>
                <a:extLst>
                  <a:ext uri="{0D108BD9-81ED-4DB2-BD59-A6C34878D82A}">
                    <a16:rowId xmlns:a16="http://schemas.microsoft.com/office/drawing/2014/main" val="10002"/>
                  </a:ext>
                </a:extLst>
              </a:tr>
              <a:tr h="370840">
                <a:tc>
                  <a:txBody>
                    <a:bodyPr/>
                    <a:lstStyle/>
                    <a:p>
                      <a:r>
                        <a:rPr lang="en-US" altLang="en-US" sz="2400" b="1" dirty="0"/>
                        <a:t>mast/o</a:t>
                      </a:r>
                      <a:endParaRPr lang="en-US" sz="2400" dirty="0"/>
                    </a:p>
                  </a:txBody>
                  <a:tcPr/>
                </a:tc>
                <a:tc>
                  <a:txBody>
                    <a:bodyPr/>
                    <a:lstStyle/>
                    <a:p>
                      <a:r>
                        <a:rPr lang="en-US" altLang="en-US" sz="2400" dirty="0"/>
                        <a:t>breast</a:t>
                      </a:r>
                      <a:endParaRPr lang="en-US" sz="2400" dirty="0"/>
                    </a:p>
                  </a:txBody>
                  <a:tcPr/>
                </a:tc>
                <a:extLst>
                  <a:ext uri="{0D108BD9-81ED-4DB2-BD59-A6C34878D82A}">
                    <a16:rowId xmlns:a16="http://schemas.microsoft.com/office/drawing/2014/main" val="10003"/>
                  </a:ext>
                </a:extLst>
              </a:tr>
              <a:tr h="370840">
                <a:tc>
                  <a:txBody>
                    <a:bodyPr/>
                    <a:lstStyle/>
                    <a:p>
                      <a:r>
                        <a:rPr lang="en-US" altLang="en-US" sz="2400" b="1" dirty="0"/>
                        <a:t>men/o</a:t>
                      </a:r>
                      <a:endParaRPr lang="en-US" sz="2400" dirty="0"/>
                    </a:p>
                  </a:txBody>
                  <a:tcPr/>
                </a:tc>
                <a:tc>
                  <a:txBody>
                    <a:bodyPr/>
                    <a:lstStyle/>
                    <a:p>
                      <a:r>
                        <a:rPr lang="en-US" altLang="en-US" sz="2400" dirty="0"/>
                        <a:t>menses, menstruation</a:t>
                      </a:r>
                      <a:endParaRPr lang="en-US" sz="2400" dirty="0"/>
                    </a:p>
                  </a:txBody>
                  <a:tcPr/>
                </a:tc>
                <a:extLst>
                  <a:ext uri="{0D108BD9-81ED-4DB2-BD59-A6C34878D82A}">
                    <a16:rowId xmlns:a16="http://schemas.microsoft.com/office/drawing/2014/main" val="10004"/>
                  </a:ext>
                </a:extLst>
              </a:tr>
              <a:tr h="370840">
                <a:tc>
                  <a:txBody>
                    <a:bodyPr/>
                    <a:lstStyle/>
                    <a:p>
                      <a:r>
                        <a:rPr lang="en-US" altLang="en-US" sz="2400" b="1" dirty="0" err="1"/>
                        <a:t>metr</a:t>
                      </a:r>
                      <a:r>
                        <a:rPr lang="en-US" altLang="en-US" sz="2400" b="1" dirty="0"/>
                        <a:t>/o</a:t>
                      </a:r>
                      <a:endParaRPr lang="en-US" sz="2400" dirty="0"/>
                    </a:p>
                  </a:txBody>
                  <a:tcPr/>
                </a:tc>
                <a:tc>
                  <a:txBody>
                    <a:bodyPr/>
                    <a:lstStyle/>
                    <a:p>
                      <a:r>
                        <a:rPr lang="en-US" altLang="en-US" sz="2400" dirty="0"/>
                        <a:t>uterus</a:t>
                      </a:r>
                      <a:endParaRPr lang="en-US" sz="2400" dirty="0"/>
                    </a:p>
                  </a:txBody>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17750850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Terminology: Combining Forms, Suffixes, and Prefixes (Slide 4 of 6)</a:t>
            </a:r>
          </a:p>
        </p:txBody>
      </p:sp>
      <p:graphicFrame>
        <p:nvGraphicFramePr>
          <p:cNvPr id="7" name="Content Placeholder 6" descr="Group 4 of 6 combining forms from the Terminology:  Combining Forms, Suffixes and Prefixes section of the textbook  with corresponding meanings or definitions. "/>
          <p:cNvGraphicFramePr>
            <a:graphicFrameLocks noGrp="1"/>
          </p:cNvGraphicFramePr>
          <p:nvPr>
            <p:ph idx="1"/>
            <p:extLst>
              <p:ext uri="{D42A27DB-BD31-4B8C-83A1-F6EECF244321}">
                <p14:modId xmlns:p14="http://schemas.microsoft.com/office/powerpoint/2010/main" val="4280175855"/>
              </p:ext>
            </p:extLst>
          </p:nvPr>
        </p:nvGraphicFramePr>
        <p:xfrm>
          <a:off x="457200" y="1600200"/>
          <a:ext cx="8229600" cy="2743200"/>
        </p:xfrm>
        <a:graphic>
          <a:graphicData uri="http://schemas.openxmlformats.org/drawingml/2006/table">
            <a:tbl>
              <a:tblPr firstRow="1" bandRow="1">
                <a:tableStyleId>{68D230F3-CF80-4859-8CE7-A43EE81993B5}</a:tableStyleId>
              </a:tblPr>
              <a:tblGrid>
                <a:gridCol w="2590800">
                  <a:extLst>
                    <a:ext uri="{9D8B030D-6E8A-4147-A177-3AD203B41FA5}">
                      <a16:colId xmlns:a16="http://schemas.microsoft.com/office/drawing/2014/main" val="20000"/>
                    </a:ext>
                  </a:extLst>
                </a:gridCol>
                <a:gridCol w="5638800">
                  <a:extLst>
                    <a:ext uri="{9D8B030D-6E8A-4147-A177-3AD203B41FA5}">
                      <a16:colId xmlns:a16="http://schemas.microsoft.com/office/drawing/2014/main" val="20001"/>
                    </a:ext>
                  </a:extLst>
                </a:gridCol>
              </a:tblGrid>
              <a:tr h="370840">
                <a:tc>
                  <a:txBody>
                    <a:bodyPr/>
                    <a:lstStyle/>
                    <a:p>
                      <a:r>
                        <a:rPr lang="en-US" sz="2400" dirty="0"/>
                        <a:t>Combining Form</a:t>
                      </a:r>
                    </a:p>
                  </a:txBody>
                  <a:tcPr/>
                </a:tc>
                <a:tc>
                  <a:txBody>
                    <a:bodyPr/>
                    <a:lstStyle/>
                    <a:p>
                      <a:r>
                        <a:rPr lang="en-US" sz="2400" dirty="0"/>
                        <a:t>Meaning</a:t>
                      </a:r>
                    </a:p>
                  </a:txBody>
                  <a:tcPr/>
                </a:tc>
                <a:extLst>
                  <a:ext uri="{0D108BD9-81ED-4DB2-BD59-A6C34878D82A}">
                    <a16:rowId xmlns:a16="http://schemas.microsoft.com/office/drawing/2014/main" val="10000"/>
                  </a:ext>
                </a:extLst>
              </a:tr>
              <a:tr h="370840">
                <a:tc>
                  <a:txBody>
                    <a:bodyPr/>
                    <a:lstStyle/>
                    <a:p>
                      <a:r>
                        <a:rPr lang="en-US" altLang="en-US" sz="2400" b="1" dirty="0"/>
                        <a:t>my/o</a:t>
                      </a:r>
                      <a:endParaRPr lang="en-US" sz="2400" dirty="0"/>
                    </a:p>
                  </a:txBody>
                  <a:tcPr/>
                </a:tc>
                <a:tc>
                  <a:txBody>
                    <a:bodyPr/>
                    <a:lstStyle/>
                    <a:p>
                      <a:r>
                        <a:rPr lang="en-US" altLang="en-US" sz="2400" dirty="0"/>
                        <a:t>muscle</a:t>
                      </a:r>
                      <a:endParaRPr lang="en-US" sz="2400" dirty="0"/>
                    </a:p>
                  </a:txBody>
                  <a:tcPr/>
                </a:tc>
                <a:extLst>
                  <a:ext uri="{0D108BD9-81ED-4DB2-BD59-A6C34878D82A}">
                    <a16:rowId xmlns:a16="http://schemas.microsoft.com/office/drawing/2014/main" val="10001"/>
                  </a:ext>
                </a:extLst>
              </a:tr>
              <a:tr h="370840">
                <a:tc>
                  <a:txBody>
                    <a:bodyPr/>
                    <a:lstStyle/>
                    <a:p>
                      <a:r>
                        <a:rPr lang="en-US" altLang="en-US" sz="2400" b="1" dirty="0" err="1"/>
                        <a:t>myom</a:t>
                      </a:r>
                      <a:r>
                        <a:rPr lang="en-US" altLang="en-US" sz="2400" b="1" dirty="0"/>
                        <a:t>/o</a:t>
                      </a:r>
                      <a:endParaRPr lang="en-US" sz="2400" dirty="0"/>
                    </a:p>
                  </a:txBody>
                  <a:tcPr/>
                </a:tc>
                <a:tc>
                  <a:txBody>
                    <a:bodyPr/>
                    <a:lstStyle/>
                    <a:p>
                      <a:r>
                        <a:rPr lang="en-US" altLang="en-US" sz="2400" dirty="0"/>
                        <a:t>muscle tumor</a:t>
                      </a:r>
                      <a:endParaRPr lang="en-US" sz="2400" dirty="0"/>
                    </a:p>
                  </a:txBody>
                  <a:tcPr/>
                </a:tc>
                <a:extLst>
                  <a:ext uri="{0D108BD9-81ED-4DB2-BD59-A6C34878D82A}">
                    <a16:rowId xmlns:a16="http://schemas.microsoft.com/office/drawing/2014/main" val="10002"/>
                  </a:ext>
                </a:extLst>
              </a:tr>
              <a:tr h="370840">
                <a:tc>
                  <a:txBody>
                    <a:bodyPr/>
                    <a:lstStyle/>
                    <a:p>
                      <a:r>
                        <a:rPr lang="en-US" altLang="en-US" sz="2400" b="1" dirty="0" err="1"/>
                        <a:t>nat</a:t>
                      </a:r>
                      <a:r>
                        <a:rPr lang="en-US" altLang="en-US" sz="2400" b="1" dirty="0"/>
                        <a:t>/</a:t>
                      </a:r>
                      <a:r>
                        <a:rPr lang="en-US" altLang="en-US" sz="2400" b="1" dirty="0" err="1"/>
                        <a:t>i</a:t>
                      </a:r>
                      <a:endParaRPr lang="en-US" sz="2400" dirty="0"/>
                    </a:p>
                  </a:txBody>
                  <a:tcPr/>
                </a:tc>
                <a:tc>
                  <a:txBody>
                    <a:bodyPr/>
                    <a:lstStyle/>
                    <a:p>
                      <a:r>
                        <a:rPr lang="en-US" altLang="en-US" sz="2400" dirty="0"/>
                        <a:t>birth</a:t>
                      </a:r>
                      <a:endParaRPr lang="en-US" sz="2400" dirty="0"/>
                    </a:p>
                  </a:txBody>
                  <a:tcPr/>
                </a:tc>
                <a:extLst>
                  <a:ext uri="{0D108BD9-81ED-4DB2-BD59-A6C34878D82A}">
                    <a16:rowId xmlns:a16="http://schemas.microsoft.com/office/drawing/2014/main" val="10003"/>
                  </a:ext>
                </a:extLst>
              </a:tr>
              <a:tr h="370840">
                <a:tc>
                  <a:txBody>
                    <a:bodyPr/>
                    <a:lstStyle/>
                    <a:p>
                      <a:r>
                        <a:rPr lang="en-US" altLang="en-US" sz="2400" b="1" dirty="0" err="1"/>
                        <a:t>obstetr</a:t>
                      </a:r>
                      <a:r>
                        <a:rPr lang="en-US" altLang="en-US" sz="2400" b="1" dirty="0"/>
                        <a:t>/o</a:t>
                      </a:r>
                      <a:endParaRPr lang="en-US" sz="2400" dirty="0"/>
                    </a:p>
                  </a:txBody>
                  <a:tcPr/>
                </a:tc>
                <a:tc>
                  <a:txBody>
                    <a:bodyPr/>
                    <a:lstStyle/>
                    <a:p>
                      <a:r>
                        <a:rPr lang="en-US" altLang="en-US" sz="2400" dirty="0"/>
                        <a:t>midwife</a:t>
                      </a:r>
                      <a:endParaRPr lang="en-US" sz="2400" dirty="0"/>
                    </a:p>
                  </a:txBody>
                  <a:tcPr/>
                </a:tc>
                <a:extLst>
                  <a:ext uri="{0D108BD9-81ED-4DB2-BD59-A6C34878D82A}">
                    <a16:rowId xmlns:a16="http://schemas.microsoft.com/office/drawing/2014/main" val="10004"/>
                  </a:ext>
                </a:extLst>
              </a:tr>
              <a:tr h="370840">
                <a:tc>
                  <a:txBody>
                    <a:bodyPr/>
                    <a:lstStyle/>
                    <a:p>
                      <a:r>
                        <a:rPr lang="en-US" altLang="en-US" sz="2400" b="1" dirty="0"/>
                        <a:t>o/o</a:t>
                      </a:r>
                      <a:endParaRPr lang="en-US" sz="2400" dirty="0"/>
                    </a:p>
                  </a:txBody>
                  <a:tcPr/>
                </a:tc>
                <a:tc>
                  <a:txBody>
                    <a:bodyPr/>
                    <a:lstStyle/>
                    <a:p>
                      <a:r>
                        <a:rPr lang="en-US" altLang="en-US" sz="2400" dirty="0"/>
                        <a:t>egg</a:t>
                      </a:r>
                      <a:endParaRPr lang="en-US" sz="2400" dirty="0"/>
                    </a:p>
                  </a:txBody>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281516076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Terminology: Combining Forms, Suffixes, and Prefixes (Slide 5 of 6)</a:t>
            </a:r>
          </a:p>
        </p:txBody>
      </p:sp>
      <p:graphicFrame>
        <p:nvGraphicFramePr>
          <p:cNvPr id="7" name="Content Placeholder 6" descr="Group 5 of 6 combining forms from the Terminology:  Combining Forms, Suffixes and Prefixes section of the textbook  with corresponding meanings or definitions. "/>
          <p:cNvGraphicFramePr>
            <a:graphicFrameLocks noGrp="1"/>
          </p:cNvGraphicFramePr>
          <p:nvPr>
            <p:ph idx="1"/>
            <p:extLst>
              <p:ext uri="{D42A27DB-BD31-4B8C-83A1-F6EECF244321}">
                <p14:modId xmlns:p14="http://schemas.microsoft.com/office/powerpoint/2010/main" val="3229804444"/>
              </p:ext>
            </p:extLst>
          </p:nvPr>
        </p:nvGraphicFramePr>
        <p:xfrm>
          <a:off x="457200" y="2057400"/>
          <a:ext cx="8229600" cy="2743200"/>
        </p:xfrm>
        <a:graphic>
          <a:graphicData uri="http://schemas.openxmlformats.org/drawingml/2006/table">
            <a:tbl>
              <a:tblPr firstRow="1" bandRow="1">
                <a:tableStyleId>{68D230F3-CF80-4859-8CE7-A43EE81993B5}</a:tableStyleId>
              </a:tblPr>
              <a:tblGrid>
                <a:gridCol w="2590800">
                  <a:extLst>
                    <a:ext uri="{9D8B030D-6E8A-4147-A177-3AD203B41FA5}">
                      <a16:colId xmlns:a16="http://schemas.microsoft.com/office/drawing/2014/main" val="20000"/>
                    </a:ext>
                  </a:extLst>
                </a:gridCol>
                <a:gridCol w="5638800">
                  <a:extLst>
                    <a:ext uri="{9D8B030D-6E8A-4147-A177-3AD203B41FA5}">
                      <a16:colId xmlns:a16="http://schemas.microsoft.com/office/drawing/2014/main" val="20001"/>
                    </a:ext>
                  </a:extLst>
                </a:gridCol>
              </a:tblGrid>
              <a:tr h="370840">
                <a:tc>
                  <a:txBody>
                    <a:bodyPr/>
                    <a:lstStyle/>
                    <a:p>
                      <a:r>
                        <a:rPr lang="en-US" sz="2400" dirty="0"/>
                        <a:t>Combining Form</a:t>
                      </a:r>
                    </a:p>
                  </a:txBody>
                  <a:tcPr/>
                </a:tc>
                <a:tc>
                  <a:txBody>
                    <a:bodyPr/>
                    <a:lstStyle/>
                    <a:p>
                      <a:r>
                        <a:rPr lang="en-US" sz="2400" dirty="0"/>
                        <a:t>Meaning</a:t>
                      </a:r>
                    </a:p>
                  </a:txBody>
                  <a:tcPr/>
                </a:tc>
                <a:extLst>
                  <a:ext uri="{0D108BD9-81ED-4DB2-BD59-A6C34878D82A}">
                    <a16:rowId xmlns:a16="http://schemas.microsoft.com/office/drawing/2014/main" val="10000"/>
                  </a:ext>
                </a:extLst>
              </a:tr>
              <a:tr h="370840">
                <a:tc>
                  <a:txBody>
                    <a:bodyPr/>
                    <a:lstStyle/>
                    <a:p>
                      <a:r>
                        <a:rPr lang="en-US" altLang="en-US" sz="2400" b="1" dirty="0" err="1"/>
                        <a:t>oophor</a:t>
                      </a:r>
                      <a:r>
                        <a:rPr lang="en-US" altLang="en-US" sz="2400" b="1" dirty="0"/>
                        <a:t>/o</a:t>
                      </a:r>
                      <a:endParaRPr lang="en-US" sz="2400" dirty="0"/>
                    </a:p>
                  </a:txBody>
                  <a:tcPr/>
                </a:tc>
                <a:tc>
                  <a:txBody>
                    <a:bodyPr/>
                    <a:lstStyle/>
                    <a:p>
                      <a:r>
                        <a:rPr lang="en-US" altLang="en-US" sz="2400" dirty="0"/>
                        <a:t>ovary</a:t>
                      </a:r>
                      <a:endParaRPr lang="en-US" sz="2400" dirty="0"/>
                    </a:p>
                  </a:txBody>
                  <a:tcPr/>
                </a:tc>
                <a:extLst>
                  <a:ext uri="{0D108BD9-81ED-4DB2-BD59-A6C34878D82A}">
                    <a16:rowId xmlns:a16="http://schemas.microsoft.com/office/drawing/2014/main" val="10001"/>
                  </a:ext>
                </a:extLst>
              </a:tr>
              <a:tr h="370840">
                <a:tc>
                  <a:txBody>
                    <a:bodyPr/>
                    <a:lstStyle/>
                    <a:p>
                      <a:r>
                        <a:rPr lang="en-US" altLang="en-US" sz="2400" b="1" dirty="0" err="1"/>
                        <a:t>ov</a:t>
                      </a:r>
                      <a:r>
                        <a:rPr lang="en-US" altLang="en-US" sz="2400" b="1" dirty="0"/>
                        <a:t>/o</a:t>
                      </a:r>
                      <a:endParaRPr lang="en-US" sz="2400" dirty="0"/>
                    </a:p>
                  </a:txBody>
                  <a:tcPr/>
                </a:tc>
                <a:tc>
                  <a:txBody>
                    <a:bodyPr/>
                    <a:lstStyle/>
                    <a:p>
                      <a:r>
                        <a:rPr lang="en-US" altLang="en-US" sz="2400" dirty="0"/>
                        <a:t>egg</a:t>
                      </a:r>
                      <a:endParaRPr lang="en-US" sz="2400" dirty="0"/>
                    </a:p>
                  </a:txBody>
                  <a:tcPr/>
                </a:tc>
                <a:extLst>
                  <a:ext uri="{0D108BD9-81ED-4DB2-BD59-A6C34878D82A}">
                    <a16:rowId xmlns:a16="http://schemas.microsoft.com/office/drawing/2014/main" val="10002"/>
                  </a:ext>
                </a:extLst>
              </a:tr>
              <a:tr h="370840">
                <a:tc>
                  <a:txBody>
                    <a:bodyPr/>
                    <a:lstStyle/>
                    <a:p>
                      <a:r>
                        <a:rPr lang="en-US" altLang="en-US" sz="2400" b="1" dirty="0" err="1"/>
                        <a:t>ovari</a:t>
                      </a:r>
                      <a:r>
                        <a:rPr lang="en-US" altLang="en-US" sz="2400" b="1" dirty="0"/>
                        <a:t>/o</a:t>
                      </a:r>
                      <a:endParaRPr lang="en-US" sz="2400" dirty="0"/>
                    </a:p>
                  </a:txBody>
                  <a:tcPr/>
                </a:tc>
                <a:tc>
                  <a:txBody>
                    <a:bodyPr/>
                    <a:lstStyle/>
                    <a:p>
                      <a:r>
                        <a:rPr lang="en-US" altLang="en-US" sz="2400" dirty="0"/>
                        <a:t>ovary</a:t>
                      </a:r>
                      <a:endParaRPr lang="en-US" sz="2400" dirty="0"/>
                    </a:p>
                  </a:txBody>
                  <a:tcPr/>
                </a:tc>
                <a:extLst>
                  <a:ext uri="{0D108BD9-81ED-4DB2-BD59-A6C34878D82A}">
                    <a16:rowId xmlns:a16="http://schemas.microsoft.com/office/drawing/2014/main" val="10003"/>
                  </a:ext>
                </a:extLst>
              </a:tr>
              <a:tr h="370840">
                <a:tc>
                  <a:txBody>
                    <a:bodyPr/>
                    <a:lstStyle/>
                    <a:p>
                      <a:r>
                        <a:rPr lang="en-US" altLang="en-US" sz="2400" b="1" dirty="0" err="1"/>
                        <a:t>ovul</a:t>
                      </a:r>
                      <a:r>
                        <a:rPr lang="en-US" altLang="en-US" sz="2400" b="1" dirty="0"/>
                        <a:t>/o</a:t>
                      </a:r>
                      <a:endParaRPr lang="en-US" sz="2400" dirty="0"/>
                    </a:p>
                  </a:txBody>
                  <a:tcPr/>
                </a:tc>
                <a:tc>
                  <a:txBody>
                    <a:bodyPr/>
                    <a:lstStyle/>
                    <a:p>
                      <a:r>
                        <a:rPr lang="en-US" altLang="en-US" sz="2400" dirty="0"/>
                        <a:t>egg</a:t>
                      </a:r>
                      <a:endParaRPr lang="en-US" sz="2400" dirty="0"/>
                    </a:p>
                  </a:txBody>
                  <a:tcPr/>
                </a:tc>
                <a:extLst>
                  <a:ext uri="{0D108BD9-81ED-4DB2-BD59-A6C34878D82A}">
                    <a16:rowId xmlns:a16="http://schemas.microsoft.com/office/drawing/2014/main" val="10004"/>
                  </a:ext>
                </a:extLst>
              </a:tr>
              <a:tr h="370840">
                <a:tc>
                  <a:txBody>
                    <a:bodyPr/>
                    <a:lstStyle/>
                    <a:p>
                      <a:r>
                        <a:rPr lang="en-US" altLang="en-US" sz="2400" b="1" dirty="0" err="1"/>
                        <a:t>perine</a:t>
                      </a:r>
                      <a:r>
                        <a:rPr lang="en-US" altLang="en-US" sz="2400" b="1" dirty="0"/>
                        <a:t>/o</a:t>
                      </a:r>
                      <a:endParaRPr lang="en-US" sz="2400" dirty="0"/>
                    </a:p>
                  </a:txBody>
                  <a:tcPr/>
                </a:tc>
                <a:tc>
                  <a:txBody>
                    <a:bodyPr/>
                    <a:lstStyle/>
                    <a:p>
                      <a:r>
                        <a:rPr lang="en-US" altLang="en-US" sz="2400" dirty="0"/>
                        <a:t>perineum</a:t>
                      </a:r>
                      <a:endParaRPr lang="en-US" sz="2400" dirty="0"/>
                    </a:p>
                  </a:txBody>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99988404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Terminology: Combining Forms, Suffixes, and Prefixes (Slide 6 of 6)</a:t>
            </a:r>
          </a:p>
        </p:txBody>
      </p:sp>
      <p:graphicFrame>
        <p:nvGraphicFramePr>
          <p:cNvPr id="7" name="Content Placeholder 6" descr="Group 6 of 6 combining forms from the Terminology:  Combining Forms, Suffixes and Prefixes section of the textbook  with corresponding meanings or definitions. "/>
          <p:cNvGraphicFramePr>
            <a:graphicFrameLocks noGrp="1"/>
          </p:cNvGraphicFramePr>
          <p:nvPr>
            <p:ph idx="1"/>
            <p:extLst>
              <p:ext uri="{D42A27DB-BD31-4B8C-83A1-F6EECF244321}">
                <p14:modId xmlns:p14="http://schemas.microsoft.com/office/powerpoint/2010/main" val="2439364865"/>
              </p:ext>
            </p:extLst>
          </p:nvPr>
        </p:nvGraphicFramePr>
        <p:xfrm>
          <a:off x="457200" y="1600200"/>
          <a:ext cx="8229600" cy="2743200"/>
        </p:xfrm>
        <a:graphic>
          <a:graphicData uri="http://schemas.openxmlformats.org/drawingml/2006/table">
            <a:tbl>
              <a:tblPr firstRow="1" bandRow="1">
                <a:tableStyleId>{68D230F3-CF80-4859-8CE7-A43EE81993B5}</a:tableStyleId>
              </a:tblPr>
              <a:tblGrid>
                <a:gridCol w="2590800">
                  <a:extLst>
                    <a:ext uri="{9D8B030D-6E8A-4147-A177-3AD203B41FA5}">
                      <a16:colId xmlns:a16="http://schemas.microsoft.com/office/drawing/2014/main" val="20000"/>
                    </a:ext>
                  </a:extLst>
                </a:gridCol>
                <a:gridCol w="5638800">
                  <a:extLst>
                    <a:ext uri="{9D8B030D-6E8A-4147-A177-3AD203B41FA5}">
                      <a16:colId xmlns:a16="http://schemas.microsoft.com/office/drawing/2014/main" val="20001"/>
                    </a:ext>
                  </a:extLst>
                </a:gridCol>
              </a:tblGrid>
              <a:tr h="370840">
                <a:tc>
                  <a:txBody>
                    <a:bodyPr/>
                    <a:lstStyle/>
                    <a:p>
                      <a:r>
                        <a:rPr lang="en-US" sz="2400" dirty="0"/>
                        <a:t>Combining Form</a:t>
                      </a:r>
                    </a:p>
                  </a:txBody>
                  <a:tcPr/>
                </a:tc>
                <a:tc>
                  <a:txBody>
                    <a:bodyPr/>
                    <a:lstStyle/>
                    <a:p>
                      <a:r>
                        <a:rPr lang="en-US" sz="2400" dirty="0"/>
                        <a:t>Meaning</a:t>
                      </a:r>
                    </a:p>
                  </a:txBody>
                  <a:tcPr/>
                </a:tc>
                <a:extLst>
                  <a:ext uri="{0D108BD9-81ED-4DB2-BD59-A6C34878D82A}">
                    <a16:rowId xmlns:a16="http://schemas.microsoft.com/office/drawing/2014/main" val="10000"/>
                  </a:ext>
                </a:extLst>
              </a:tr>
              <a:tr h="370840">
                <a:tc>
                  <a:txBody>
                    <a:bodyPr/>
                    <a:lstStyle/>
                    <a:p>
                      <a:r>
                        <a:rPr lang="en-US" altLang="en-US" sz="2400" b="1" dirty="0" err="1"/>
                        <a:t>phor</a:t>
                      </a:r>
                      <a:r>
                        <a:rPr lang="en-US" altLang="en-US" sz="2400" b="1" dirty="0"/>
                        <a:t>/o</a:t>
                      </a:r>
                      <a:endParaRPr lang="en-US" sz="2400" dirty="0"/>
                    </a:p>
                  </a:txBody>
                  <a:tcPr/>
                </a:tc>
                <a:tc>
                  <a:txBody>
                    <a:bodyPr/>
                    <a:lstStyle/>
                    <a:p>
                      <a:r>
                        <a:rPr lang="en-US" altLang="en-US" sz="2400" dirty="0"/>
                        <a:t>to bear</a:t>
                      </a:r>
                      <a:endParaRPr lang="en-US" sz="2400" dirty="0"/>
                    </a:p>
                  </a:txBody>
                  <a:tcPr/>
                </a:tc>
                <a:extLst>
                  <a:ext uri="{0D108BD9-81ED-4DB2-BD59-A6C34878D82A}">
                    <a16:rowId xmlns:a16="http://schemas.microsoft.com/office/drawing/2014/main" val="10001"/>
                  </a:ext>
                </a:extLst>
              </a:tr>
              <a:tr h="370840">
                <a:tc>
                  <a:txBody>
                    <a:bodyPr/>
                    <a:lstStyle/>
                    <a:p>
                      <a:r>
                        <a:rPr lang="en-US" altLang="en-US" sz="2400" b="1" dirty="0" err="1"/>
                        <a:t>salping</a:t>
                      </a:r>
                      <a:r>
                        <a:rPr lang="en-US" altLang="en-US" sz="2400" b="1" dirty="0"/>
                        <a:t>/o</a:t>
                      </a:r>
                      <a:endParaRPr lang="en-US" sz="2400" dirty="0"/>
                    </a:p>
                  </a:txBody>
                  <a:tcPr/>
                </a:tc>
                <a:tc>
                  <a:txBody>
                    <a:bodyPr/>
                    <a:lstStyle/>
                    <a:p>
                      <a:r>
                        <a:rPr lang="en-US" altLang="en-US" sz="2400" dirty="0"/>
                        <a:t>fallopian tubes</a:t>
                      </a:r>
                      <a:endParaRPr lang="en-US" sz="2400" dirty="0"/>
                    </a:p>
                  </a:txBody>
                  <a:tcPr/>
                </a:tc>
                <a:extLst>
                  <a:ext uri="{0D108BD9-81ED-4DB2-BD59-A6C34878D82A}">
                    <a16:rowId xmlns:a16="http://schemas.microsoft.com/office/drawing/2014/main" val="10002"/>
                  </a:ext>
                </a:extLst>
              </a:tr>
              <a:tr h="370840">
                <a:tc>
                  <a:txBody>
                    <a:bodyPr/>
                    <a:lstStyle/>
                    <a:p>
                      <a:r>
                        <a:rPr lang="en-US" altLang="en-US" sz="2400" b="1" dirty="0" err="1"/>
                        <a:t>uter</a:t>
                      </a:r>
                      <a:r>
                        <a:rPr lang="en-US" altLang="en-US" sz="2400" b="1" dirty="0"/>
                        <a:t>/o</a:t>
                      </a:r>
                      <a:endParaRPr lang="en-US" sz="2400" dirty="0"/>
                    </a:p>
                  </a:txBody>
                  <a:tcPr/>
                </a:tc>
                <a:tc>
                  <a:txBody>
                    <a:bodyPr/>
                    <a:lstStyle/>
                    <a:p>
                      <a:r>
                        <a:rPr lang="en-US" altLang="en-US" sz="2400" dirty="0"/>
                        <a:t>uterus</a:t>
                      </a:r>
                      <a:endParaRPr lang="en-US" sz="2400" dirty="0"/>
                    </a:p>
                  </a:txBody>
                  <a:tcPr/>
                </a:tc>
                <a:extLst>
                  <a:ext uri="{0D108BD9-81ED-4DB2-BD59-A6C34878D82A}">
                    <a16:rowId xmlns:a16="http://schemas.microsoft.com/office/drawing/2014/main" val="10003"/>
                  </a:ext>
                </a:extLst>
              </a:tr>
              <a:tr h="370840">
                <a:tc>
                  <a:txBody>
                    <a:bodyPr/>
                    <a:lstStyle/>
                    <a:p>
                      <a:r>
                        <a:rPr lang="en-US" altLang="en-US" sz="2400" b="1" dirty="0" err="1"/>
                        <a:t>vagin</a:t>
                      </a:r>
                      <a:r>
                        <a:rPr lang="en-US" altLang="en-US" sz="2400" b="1" dirty="0"/>
                        <a:t>/o</a:t>
                      </a:r>
                      <a:endParaRPr lang="en-US" sz="2400" dirty="0"/>
                    </a:p>
                  </a:txBody>
                  <a:tcPr/>
                </a:tc>
                <a:tc>
                  <a:txBody>
                    <a:bodyPr/>
                    <a:lstStyle/>
                    <a:p>
                      <a:r>
                        <a:rPr lang="en-US" altLang="en-US" sz="2400" dirty="0"/>
                        <a:t>vagina</a:t>
                      </a:r>
                      <a:endParaRPr lang="en-US" sz="2400" dirty="0"/>
                    </a:p>
                  </a:txBody>
                  <a:tcPr/>
                </a:tc>
                <a:extLst>
                  <a:ext uri="{0D108BD9-81ED-4DB2-BD59-A6C34878D82A}">
                    <a16:rowId xmlns:a16="http://schemas.microsoft.com/office/drawing/2014/main" val="10004"/>
                  </a:ext>
                </a:extLst>
              </a:tr>
              <a:tr h="370840">
                <a:tc>
                  <a:txBody>
                    <a:bodyPr/>
                    <a:lstStyle/>
                    <a:p>
                      <a:r>
                        <a:rPr lang="en-US" altLang="en-US" sz="2400" b="1" dirty="0" err="1"/>
                        <a:t>vulv</a:t>
                      </a:r>
                      <a:r>
                        <a:rPr lang="en-US" altLang="en-US" sz="2400" b="1" dirty="0"/>
                        <a:t>/o</a:t>
                      </a:r>
                      <a:endParaRPr lang="en-US" sz="2400" dirty="0"/>
                    </a:p>
                  </a:txBody>
                  <a:tcPr/>
                </a:tc>
                <a:tc>
                  <a:txBody>
                    <a:bodyPr/>
                    <a:lstStyle/>
                    <a:p>
                      <a:r>
                        <a:rPr lang="en-US" altLang="en-US" sz="2400" dirty="0"/>
                        <a:t>vulva</a:t>
                      </a:r>
                      <a:endParaRPr lang="en-US" sz="2400" dirty="0"/>
                    </a:p>
                  </a:txBody>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21742214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Terminology: Combining Forms, Suffixes, and Prefixes (Slide 1 of 2)</a:t>
            </a:r>
          </a:p>
        </p:txBody>
      </p:sp>
      <p:graphicFrame>
        <p:nvGraphicFramePr>
          <p:cNvPr id="7" name="Content Placeholder 6" descr="Group 1 of 2 suffixes from the Terminology:  Combining Forms, Suffixes and Prefixes section of the textbook  with corresponding meanings or definitions. "/>
          <p:cNvGraphicFramePr>
            <a:graphicFrameLocks noGrp="1"/>
          </p:cNvGraphicFramePr>
          <p:nvPr>
            <p:ph idx="1"/>
            <p:extLst>
              <p:ext uri="{D42A27DB-BD31-4B8C-83A1-F6EECF244321}">
                <p14:modId xmlns:p14="http://schemas.microsoft.com/office/powerpoint/2010/main" val="3677041884"/>
              </p:ext>
            </p:extLst>
          </p:nvPr>
        </p:nvGraphicFramePr>
        <p:xfrm>
          <a:off x="457200" y="1600200"/>
          <a:ext cx="8229600" cy="2286000"/>
        </p:xfrm>
        <a:graphic>
          <a:graphicData uri="http://schemas.openxmlformats.org/drawingml/2006/table">
            <a:tbl>
              <a:tblPr firstRow="1" bandRow="1">
                <a:tableStyleId>{68D230F3-CF80-4859-8CE7-A43EE81993B5}</a:tableStyleId>
              </a:tblPr>
              <a:tblGrid>
                <a:gridCol w="2590800">
                  <a:extLst>
                    <a:ext uri="{9D8B030D-6E8A-4147-A177-3AD203B41FA5}">
                      <a16:colId xmlns:a16="http://schemas.microsoft.com/office/drawing/2014/main" val="20000"/>
                    </a:ext>
                  </a:extLst>
                </a:gridCol>
                <a:gridCol w="5638800">
                  <a:extLst>
                    <a:ext uri="{9D8B030D-6E8A-4147-A177-3AD203B41FA5}">
                      <a16:colId xmlns:a16="http://schemas.microsoft.com/office/drawing/2014/main" val="20001"/>
                    </a:ext>
                  </a:extLst>
                </a:gridCol>
              </a:tblGrid>
              <a:tr h="370840">
                <a:tc>
                  <a:txBody>
                    <a:bodyPr/>
                    <a:lstStyle/>
                    <a:p>
                      <a:r>
                        <a:rPr lang="en-US" sz="2400" dirty="0"/>
                        <a:t>Suffix</a:t>
                      </a:r>
                    </a:p>
                  </a:txBody>
                  <a:tcPr/>
                </a:tc>
                <a:tc>
                  <a:txBody>
                    <a:bodyPr/>
                    <a:lstStyle/>
                    <a:p>
                      <a:r>
                        <a:rPr lang="en-US" sz="2400" dirty="0"/>
                        <a:t>Meaning</a:t>
                      </a:r>
                    </a:p>
                  </a:txBody>
                  <a:tcPr/>
                </a:tc>
                <a:extLst>
                  <a:ext uri="{0D108BD9-81ED-4DB2-BD59-A6C34878D82A}">
                    <a16:rowId xmlns:a16="http://schemas.microsoft.com/office/drawing/2014/main" val="10000"/>
                  </a:ext>
                </a:extLst>
              </a:tr>
              <a:tr h="370840">
                <a:tc>
                  <a:txBody>
                    <a:bodyPr/>
                    <a:lstStyle/>
                    <a:p>
                      <a:r>
                        <a:rPr lang="en-US" altLang="en-US" sz="2400" b="1" dirty="0"/>
                        <a:t>-</a:t>
                      </a:r>
                      <a:r>
                        <a:rPr lang="en-US" altLang="en-US" sz="2400" b="1" dirty="0" err="1"/>
                        <a:t>arche</a:t>
                      </a:r>
                      <a:endParaRPr lang="en-US" sz="2400" dirty="0"/>
                    </a:p>
                  </a:txBody>
                  <a:tcPr/>
                </a:tc>
                <a:tc>
                  <a:txBody>
                    <a:bodyPr/>
                    <a:lstStyle/>
                    <a:p>
                      <a:r>
                        <a:rPr lang="en-US" altLang="en-US" sz="2400" dirty="0"/>
                        <a:t>beginning</a:t>
                      </a:r>
                      <a:endParaRPr lang="en-US" sz="2400" dirty="0"/>
                    </a:p>
                  </a:txBody>
                  <a:tcPr/>
                </a:tc>
                <a:extLst>
                  <a:ext uri="{0D108BD9-81ED-4DB2-BD59-A6C34878D82A}">
                    <a16:rowId xmlns:a16="http://schemas.microsoft.com/office/drawing/2014/main" val="10001"/>
                  </a:ext>
                </a:extLst>
              </a:tr>
              <a:tr h="370840">
                <a:tc>
                  <a:txBody>
                    <a:bodyPr/>
                    <a:lstStyle/>
                    <a:p>
                      <a:r>
                        <a:rPr lang="en-US" altLang="en-US" sz="2400" b="1" dirty="0"/>
                        <a:t>-</a:t>
                      </a:r>
                      <a:r>
                        <a:rPr lang="en-US" altLang="en-US" sz="2400" b="1" dirty="0" err="1"/>
                        <a:t>cyesis</a:t>
                      </a:r>
                      <a:endParaRPr lang="en-US" sz="2400" dirty="0"/>
                    </a:p>
                  </a:txBody>
                  <a:tcPr/>
                </a:tc>
                <a:tc>
                  <a:txBody>
                    <a:bodyPr/>
                    <a:lstStyle/>
                    <a:p>
                      <a:r>
                        <a:rPr lang="en-US" altLang="en-US" sz="2400" dirty="0"/>
                        <a:t>pregnancy</a:t>
                      </a:r>
                      <a:endParaRPr lang="en-US" sz="2400" dirty="0"/>
                    </a:p>
                  </a:txBody>
                  <a:tcPr/>
                </a:tc>
                <a:extLst>
                  <a:ext uri="{0D108BD9-81ED-4DB2-BD59-A6C34878D82A}">
                    <a16:rowId xmlns:a16="http://schemas.microsoft.com/office/drawing/2014/main" val="10002"/>
                  </a:ext>
                </a:extLst>
              </a:tr>
              <a:tr h="370840">
                <a:tc>
                  <a:txBody>
                    <a:bodyPr/>
                    <a:lstStyle/>
                    <a:p>
                      <a:r>
                        <a:rPr lang="en-US" altLang="en-US" sz="2400" b="1" dirty="0"/>
                        <a:t>-</a:t>
                      </a:r>
                      <a:r>
                        <a:rPr lang="en-US" altLang="en-US" sz="2400" b="1" dirty="0" err="1"/>
                        <a:t>gravida</a:t>
                      </a:r>
                      <a:endParaRPr lang="en-US" sz="2400" dirty="0"/>
                    </a:p>
                  </a:txBody>
                  <a:tcPr/>
                </a:tc>
                <a:tc>
                  <a:txBody>
                    <a:bodyPr/>
                    <a:lstStyle/>
                    <a:p>
                      <a:r>
                        <a:rPr lang="en-US" altLang="en-US" sz="2400" dirty="0"/>
                        <a:t>pregnancy</a:t>
                      </a:r>
                      <a:endParaRPr lang="en-US" sz="2400" dirty="0"/>
                    </a:p>
                  </a:txBody>
                  <a:tcPr/>
                </a:tc>
                <a:extLst>
                  <a:ext uri="{0D108BD9-81ED-4DB2-BD59-A6C34878D82A}">
                    <a16:rowId xmlns:a16="http://schemas.microsoft.com/office/drawing/2014/main" val="10003"/>
                  </a:ext>
                </a:extLst>
              </a:tr>
              <a:tr h="370840">
                <a:tc>
                  <a:txBody>
                    <a:bodyPr/>
                    <a:lstStyle/>
                    <a:p>
                      <a:r>
                        <a:rPr lang="en-US" altLang="en-US" sz="2400" b="1" dirty="0"/>
                        <a:t>-</a:t>
                      </a:r>
                      <a:r>
                        <a:rPr lang="en-US" altLang="en-US" sz="2400" b="1" dirty="0" err="1"/>
                        <a:t>parous</a:t>
                      </a:r>
                      <a:endParaRPr lang="en-US" sz="2400" dirty="0"/>
                    </a:p>
                  </a:txBody>
                  <a:tcPr/>
                </a:tc>
                <a:tc>
                  <a:txBody>
                    <a:bodyPr/>
                    <a:lstStyle/>
                    <a:p>
                      <a:r>
                        <a:rPr lang="en-US" altLang="en-US" sz="2400" dirty="0"/>
                        <a:t>to bear, bring forth</a:t>
                      </a:r>
                      <a:endParaRPr lang="en-US" sz="2400" dirty="0"/>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03218335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Terminology: Combining Forms, Suffixes, and Prefixes (Slide 2 of 2)</a:t>
            </a:r>
          </a:p>
        </p:txBody>
      </p:sp>
      <p:graphicFrame>
        <p:nvGraphicFramePr>
          <p:cNvPr id="7" name="Content Placeholder 6" descr="Group 2 of 2 Suffixes from the Terminology:  Combining Forms, Suffixes and Prefixes section of the textbook  with corresponding meanings or definitions. "/>
          <p:cNvGraphicFramePr>
            <a:graphicFrameLocks noGrp="1"/>
          </p:cNvGraphicFramePr>
          <p:nvPr>
            <p:ph idx="1"/>
            <p:extLst>
              <p:ext uri="{D42A27DB-BD31-4B8C-83A1-F6EECF244321}">
                <p14:modId xmlns:p14="http://schemas.microsoft.com/office/powerpoint/2010/main" val="1638281180"/>
              </p:ext>
            </p:extLst>
          </p:nvPr>
        </p:nvGraphicFramePr>
        <p:xfrm>
          <a:off x="457200" y="1600200"/>
          <a:ext cx="8229600" cy="2286000"/>
        </p:xfrm>
        <a:graphic>
          <a:graphicData uri="http://schemas.openxmlformats.org/drawingml/2006/table">
            <a:tbl>
              <a:tblPr firstRow="1" bandRow="1">
                <a:tableStyleId>{68D230F3-CF80-4859-8CE7-A43EE81993B5}</a:tableStyleId>
              </a:tblPr>
              <a:tblGrid>
                <a:gridCol w="2590800">
                  <a:extLst>
                    <a:ext uri="{9D8B030D-6E8A-4147-A177-3AD203B41FA5}">
                      <a16:colId xmlns:a16="http://schemas.microsoft.com/office/drawing/2014/main" val="20000"/>
                    </a:ext>
                  </a:extLst>
                </a:gridCol>
                <a:gridCol w="5638800">
                  <a:extLst>
                    <a:ext uri="{9D8B030D-6E8A-4147-A177-3AD203B41FA5}">
                      <a16:colId xmlns:a16="http://schemas.microsoft.com/office/drawing/2014/main" val="20001"/>
                    </a:ext>
                  </a:extLst>
                </a:gridCol>
              </a:tblGrid>
              <a:tr h="370840">
                <a:tc>
                  <a:txBody>
                    <a:bodyPr/>
                    <a:lstStyle/>
                    <a:p>
                      <a:r>
                        <a:rPr lang="en-US" sz="2400" dirty="0"/>
                        <a:t>Suffix</a:t>
                      </a:r>
                    </a:p>
                  </a:txBody>
                  <a:tcPr/>
                </a:tc>
                <a:tc>
                  <a:txBody>
                    <a:bodyPr/>
                    <a:lstStyle/>
                    <a:p>
                      <a:r>
                        <a:rPr lang="en-US" sz="2400" dirty="0"/>
                        <a:t>Meaning</a:t>
                      </a:r>
                    </a:p>
                  </a:txBody>
                  <a:tcPr/>
                </a:tc>
                <a:extLst>
                  <a:ext uri="{0D108BD9-81ED-4DB2-BD59-A6C34878D82A}">
                    <a16:rowId xmlns:a16="http://schemas.microsoft.com/office/drawing/2014/main" val="10000"/>
                  </a:ext>
                </a:extLst>
              </a:tr>
              <a:tr h="370840">
                <a:tc>
                  <a:txBody>
                    <a:bodyPr/>
                    <a:lstStyle/>
                    <a:p>
                      <a:r>
                        <a:rPr lang="en-US" altLang="en-US" sz="2400" b="1" dirty="0"/>
                        <a:t>-</a:t>
                      </a:r>
                      <a:r>
                        <a:rPr lang="en-US" altLang="en-US" sz="2400" b="1" dirty="0" err="1"/>
                        <a:t>rrhea</a:t>
                      </a:r>
                      <a:endParaRPr lang="en-US" sz="2400" dirty="0"/>
                    </a:p>
                  </a:txBody>
                  <a:tcPr/>
                </a:tc>
                <a:tc>
                  <a:txBody>
                    <a:bodyPr/>
                    <a:lstStyle/>
                    <a:p>
                      <a:r>
                        <a:rPr lang="en-US" altLang="en-US" sz="2400" dirty="0"/>
                        <a:t>discharge</a:t>
                      </a:r>
                      <a:endParaRPr lang="en-US" sz="2400" dirty="0"/>
                    </a:p>
                  </a:txBody>
                  <a:tcPr/>
                </a:tc>
                <a:extLst>
                  <a:ext uri="{0D108BD9-81ED-4DB2-BD59-A6C34878D82A}">
                    <a16:rowId xmlns:a16="http://schemas.microsoft.com/office/drawing/2014/main" val="10001"/>
                  </a:ext>
                </a:extLst>
              </a:tr>
              <a:tr h="370840">
                <a:tc>
                  <a:txBody>
                    <a:bodyPr/>
                    <a:lstStyle/>
                    <a:p>
                      <a:r>
                        <a:rPr lang="en-US" altLang="en-US" sz="2400" b="1" dirty="0"/>
                        <a:t>-</a:t>
                      </a:r>
                      <a:r>
                        <a:rPr lang="en-US" altLang="en-US" sz="2400" b="1" dirty="0" err="1"/>
                        <a:t>salpinx</a:t>
                      </a:r>
                      <a:endParaRPr lang="en-US" sz="2400" dirty="0"/>
                    </a:p>
                  </a:txBody>
                  <a:tcPr/>
                </a:tc>
                <a:tc>
                  <a:txBody>
                    <a:bodyPr/>
                    <a:lstStyle/>
                    <a:p>
                      <a:r>
                        <a:rPr lang="en-US" altLang="en-US" sz="2400" dirty="0"/>
                        <a:t>uterine tube</a:t>
                      </a:r>
                      <a:endParaRPr lang="en-US" sz="2400" dirty="0"/>
                    </a:p>
                  </a:txBody>
                  <a:tcPr/>
                </a:tc>
                <a:extLst>
                  <a:ext uri="{0D108BD9-81ED-4DB2-BD59-A6C34878D82A}">
                    <a16:rowId xmlns:a16="http://schemas.microsoft.com/office/drawing/2014/main" val="10002"/>
                  </a:ext>
                </a:extLst>
              </a:tr>
              <a:tr h="370840">
                <a:tc>
                  <a:txBody>
                    <a:bodyPr/>
                    <a:lstStyle/>
                    <a:p>
                      <a:r>
                        <a:rPr lang="en-US" altLang="en-US" sz="2400" b="1" dirty="0"/>
                        <a:t>-</a:t>
                      </a:r>
                      <a:r>
                        <a:rPr lang="en-US" altLang="en-US" sz="2400" b="1" dirty="0" err="1"/>
                        <a:t>tocia</a:t>
                      </a:r>
                      <a:endParaRPr lang="en-US" sz="2400" dirty="0"/>
                    </a:p>
                  </a:txBody>
                  <a:tcPr/>
                </a:tc>
                <a:tc>
                  <a:txBody>
                    <a:bodyPr/>
                    <a:lstStyle/>
                    <a:p>
                      <a:r>
                        <a:rPr lang="en-US" altLang="en-US" sz="2400" dirty="0"/>
                        <a:t>labor, birth</a:t>
                      </a:r>
                      <a:endParaRPr lang="en-US" sz="2400" dirty="0"/>
                    </a:p>
                  </a:txBody>
                  <a:tcPr/>
                </a:tc>
                <a:extLst>
                  <a:ext uri="{0D108BD9-81ED-4DB2-BD59-A6C34878D82A}">
                    <a16:rowId xmlns:a16="http://schemas.microsoft.com/office/drawing/2014/main" val="10003"/>
                  </a:ext>
                </a:extLst>
              </a:tr>
              <a:tr h="370840">
                <a:tc>
                  <a:txBody>
                    <a:bodyPr/>
                    <a:lstStyle/>
                    <a:p>
                      <a:r>
                        <a:rPr lang="en-US" altLang="en-US" sz="2400" b="1" dirty="0"/>
                        <a:t>-version</a:t>
                      </a:r>
                      <a:endParaRPr lang="en-US" sz="2400" dirty="0"/>
                    </a:p>
                  </a:txBody>
                  <a:tcPr/>
                </a:tc>
                <a:tc>
                  <a:txBody>
                    <a:bodyPr/>
                    <a:lstStyle/>
                    <a:p>
                      <a:r>
                        <a:rPr lang="en-US" altLang="en-US" sz="2400" dirty="0"/>
                        <a:t>act of turning</a:t>
                      </a:r>
                      <a:endParaRPr lang="en-US" sz="2400" dirty="0"/>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82841427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Terminology: Combining Forms, Suffixes, Prefixes (Slide 1 of 2)</a:t>
            </a:r>
          </a:p>
        </p:txBody>
      </p:sp>
      <p:graphicFrame>
        <p:nvGraphicFramePr>
          <p:cNvPr id="7" name="Content Placeholder 6" descr="Group 1 of 2 Prefixes from the Terminology:  Combining Forms, Suffixes and Prefixes section of the textbook  with corresponding meanings or definitions. "/>
          <p:cNvGraphicFramePr>
            <a:graphicFrameLocks noGrp="1"/>
          </p:cNvGraphicFramePr>
          <p:nvPr>
            <p:ph idx="1"/>
            <p:extLst>
              <p:ext uri="{D42A27DB-BD31-4B8C-83A1-F6EECF244321}">
                <p14:modId xmlns:p14="http://schemas.microsoft.com/office/powerpoint/2010/main" val="1396149536"/>
              </p:ext>
            </p:extLst>
          </p:nvPr>
        </p:nvGraphicFramePr>
        <p:xfrm>
          <a:off x="457200" y="1600200"/>
          <a:ext cx="8229600" cy="2743200"/>
        </p:xfrm>
        <a:graphic>
          <a:graphicData uri="http://schemas.openxmlformats.org/drawingml/2006/table">
            <a:tbl>
              <a:tblPr firstRow="1" bandRow="1">
                <a:tableStyleId>{68D230F3-CF80-4859-8CE7-A43EE81993B5}</a:tableStyleId>
              </a:tblPr>
              <a:tblGrid>
                <a:gridCol w="2590800">
                  <a:extLst>
                    <a:ext uri="{9D8B030D-6E8A-4147-A177-3AD203B41FA5}">
                      <a16:colId xmlns:a16="http://schemas.microsoft.com/office/drawing/2014/main" val="20000"/>
                    </a:ext>
                  </a:extLst>
                </a:gridCol>
                <a:gridCol w="5638800">
                  <a:extLst>
                    <a:ext uri="{9D8B030D-6E8A-4147-A177-3AD203B41FA5}">
                      <a16:colId xmlns:a16="http://schemas.microsoft.com/office/drawing/2014/main" val="20001"/>
                    </a:ext>
                  </a:extLst>
                </a:gridCol>
              </a:tblGrid>
              <a:tr h="370840">
                <a:tc>
                  <a:txBody>
                    <a:bodyPr/>
                    <a:lstStyle/>
                    <a:p>
                      <a:r>
                        <a:rPr lang="en-US" sz="2400" dirty="0"/>
                        <a:t>Prefix</a:t>
                      </a:r>
                    </a:p>
                  </a:txBody>
                  <a:tcPr/>
                </a:tc>
                <a:tc>
                  <a:txBody>
                    <a:bodyPr/>
                    <a:lstStyle/>
                    <a:p>
                      <a:r>
                        <a:rPr lang="en-US" sz="2400" dirty="0"/>
                        <a:t>Meaning</a:t>
                      </a:r>
                    </a:p>
                  </a:txBody>
                  <a:tcPr/>
                </a:tc>
                <a:extLst>
                  <a:ext uri="{0D108BD9-81ED-4DB2-BD59-A6C34878D82A}">
                    <a16:rowId xmlns:a16="http://schemas.microsoft.com/office/drawing/2014/main" val="10000"/>
                  </a:ext>
                </a:extLst>
              </a:tr>
              <a:tr h="370840">
                <a:tc>
                  <a:txBody>
                    <a:bodyPr/>
                    <a:lstStyle/>
                    <a:p>
                      <a:r>
                        <a:rPr lang="en-US" altLang="en-US" sz="2400" b="1" dirty="0" err="1"/>
                        <a:t>dys</a:t>
                      </a:r>
                      <a:r>
                        <a:rPr lang="en-US" altLang="en-US" sz="2400" b="1" dirty="0"/>
                        <a:t>-</a:t>
                      </a:r>
                      <a:endParaRPr lang="en-US" sz="2400" dirty="0"/>
                    </a:p>
                  </a:txBody>
                  <a:tcPr/>
                </a:tc>
                <a:tc>
                  <a:txBody>
                    <a:bodyPr/>
                    <a:lstStyle/>
                    <a:p>
                      <a:r>
                        <a:rPr lang="en-US" altLang="en-US" sz="2400" dirty="0"/>
                        <a:t>painful</a:t>
                      </a:r>
                      <a:endParaRPr lang="en-US" sz="2400" dirty="0"/>
                    </a:p>
                  </a:txBody>
                  <a:tcPr/>
                </a:tc>
                <a:extLst>
                  <a:ext uri="{0D108BD9-81ED-4DB2-BD59-A6C34878D82A}">
                    <a16:rowId xmlns:a16="http://schemas.microsoft.com/office/drawing/2014/main" val="10001"/>
                  </a:ext>
                </a:extLst>
              </a:tr>
              <a:tr h="370840">
                <a:tc>
                  <a:txBody>
                    <a:bodyPr/>
                    <a:lstStyle/>
                    <a:p>
                      <a:r>
                        <a:rPr lang="en-US" altLang="en-US" sz="2400" b="1" dirty="0" err="1"/>
                        <a:t>endo</a:t>
                      </a:r>
                      <a:r>
                        <a:rPr lang="en-US" altLang="en-US" sz="2400" b="1" dirty="0"/>
                        <a:t>-</a:t>
                      </a:r>
                      <a:endParaRPr lang="en-US" sz="2400" dirty="0"/>
                    </a:p>
                  </a:txBody>
                  <a:tcPr/>
                </a:tc>
                <a:tc>
                  <a:txBody>
                    <a:bodyPr/>
                    <a:lstStyle/>
                    <a:p>
                      <a:r>
                        <a:rPr lang="en-US" altLang="en-US" sz="2400" dirty="0"/>
                        <a:t>within</a:t>
                      </a:r>
                      <a:endParaRPr lang="en-US" sz="2400" dirty="0"/>
                    </a:p>
                  </a:txBody>
                  <a:tcPr/>
                </a:tc>
                <a:extLst>
                  <a:ext uri="{0D108BD9-81ED-4DB2-BD59-A6C34878D82A}">
                    <a16:rowId xmlns:a16="http://schemas.microsoft.com/office/drawing/2014/main" val="10002"/>
                  </a:ext>
                </a:extLst>
              </a:tr>
              <a:tr h="370840">
                <a:tc>
                  <a:txBody>
                    <a:bodyPr/>
                    <a:lstStyle/>
                    <a:p>
                      <a:r>
                        <a:rPr lang="en-US" altLang="en-US" sz="2400" b="1" dirty="0"/>
                        <a:t>in-</a:t>
                      </a:r>
                      <a:endParaRPr lang="en-US" sz="2400" dirty="0"/>
                    </a:p>
                  </a:txBody>
                  <a:tcPr/>
                </a:tc>
                <a:tc>
                  <a:txBody>
                    <a:bodyPr/>
                    <a:lstStyle/>
                    <a:p>
                      <a:r>
                        <a:rPr lang="en-US" altLang="en-US" sz="2400" dirty="0"/>
                        <a:t>in</a:t>
                      </a:r>
                      <a:endParaRPr lang="en-US" sz="2400" dirty="0"/>
                    </a:p>
                  </a:txBody>
                  <a:tcPr/>
                </a:tc>
                <a:extLst>
                  <a:ext uri="{0D108BD9-81ED-4DB2-BD59-A6C34878D82A}">
                    <a16:rowId xmlns:a16="http://schemas.microsoft.com/office/drawing/2014/main" val="10003"/>
                  </a:ext>
                </a:extLst>
              </a:tr>
              <a:tr h="370840">
                <a:tc>
                  <a:txBody>
                    <a:bodyPr/>
                    <a:lstStyle/>
                    <a:p>
                      <a:r>
                        <a:rPr lang="en-US" altLang="en-US" sz="2400" b="1" dirty="0"/>
                        <a:t>intra-</a:t>
                      </a:r>
                      <a:endParaRPr lang="en-US" sz="2400" dirty="0"/>
                    </a:p>
                  </a:txBody>
                  <a:tcPr/>
                </a:tc>
                <a:tc>
                  <a:txBody>
                    <a:bodyPr/>
                    <a:lstStyle/>
                    <a:p>
                      <a:r>
                        <a:rPr lang="en-US" altLang="en-US" sz="2400" dirty="0"/>
                        <a:t>within</a:t>
                      </a:r>
                      <a:endParaRPr lang="en-US" sz="2400" dirty="0"/>
                    </a:p>
                  </a:txBody>
                  <a:tcPr/>
                </a:tc>
                <a:extLst>
                  <a:ext uri="{0D108BD9-81ED-4DB2-BD59-A6C34878D82A}">
                    <a16:rowId xmlns:a16="http://schemas.microsoft.com/office/drawing/2014/main" val="10004"/>
                  </a:ext>
                </a:extLst>
              </a:tr>
              <a:tr h="370840">
                <a:tc>
                  <a:txBody>
                    <a:bodyPr/>
                    <a:lstStyle/>
                    <a:p>
                      <a:r>
                        <a:rPr lang="en-US" altLang="en-US" sz="2400" b="1" dirty="0"/>
                        <a:t>multi-</a:t>
                      </a:r>
                      <a:endParaRPr lang="en-US" sz="2400" dirty="0"/>
                    </a:p>
                  </a:txBody>
                  <a:tcPr/>
                </a:tc>
                <a:tc>
                  <a:txBody>
                    <a:bodyPr/>
                    <a:lstStyle/>
                    <a:p>
                      <a:r>
                        <a:rPr lang="en-US" altLang="en-US" sz="2400" dirty="0"/>
                        <a:t>many</a:t>
                      </a:r>
                      <a:endParaRPr lang="en-US" sz="2400" dirty="0"/>
                    </a:p>
                  </a:txBody>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92202023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Terminology: Combining Forms, Suffixes, &amp; Prefixes (Slide 2 of 2)</a:t>
            </a:r>
          </a:p>
        </p:txBody>
      </p:sp>
      <p:graphicFrame>
        <p:nvGraphicFramePr>
          <p:cNvPr id="7" name="Content Placeholder 6" descr="Group 2 of 2 prefixes from the Terminology:  Combining Forms, Suffixes and Prefixes section of the textbook  with corresponding meanings or definitions. "/>
          <p:cNvGraphicFramePr>
            <a:graphicFrameLocks noGrp="1"/>
          </p:cNvGraphicFramePr>
          <p:nvPr>
            <p:ph idx="1"/>
            <p:extLst>
              <p:ext uri="{D42A27DB-BD31-4B8C-83A1-F6EECF244321}">
                <p14:modId xmlns:p14="http://schemas.microsoft.com/office/powerpoint/2010/main" val="752564243"/>
              </p:ext>
            </p:extLst>
          </p:nvPr>
        </p:nvGraphicFramePr>
        <p:xfrm>
          <a:off x="457200" y="1600200"/>
          <a:ext cx="8229600" cy="2286000"/>
        </p:xfrm>
        <a:graphic>
          <a:graphicData uri="http://schemas.openxmlformats.org/drawingml/2006/table">
            <a:tbl>
              <a:tblPr firstRow="1" bandRow="1">
                <a:tableStyleId>{68D230F3-CF80-4859-8CE7-A43EE81993B5}</a:tableStyleId>
              </a:tblPr>
              <a:tblGrid>
                <a:gridCol w="2590800">
                  <a:extLst>
                    <a:ext uri="{9D8B030D-6E8A-4147-A177-3AD203B41FA5}">
                      <a16:colId xmlns:a16="http://schemas.microsoft.com/office/drawing/2014/main" val="20000"/>
                    </a:ext>
                  </a:extLst>
                </a:gridCol>
                <a:gridCol w="5638800">
                  <a:extLst>
                    <a:ext uri="{9D8B030D-6E8A-4147-A177-3AD203B41FA5}">
                      <a16:colId xmlns:a16="http://schemas.microsoft.com/office/drawing/2014/main" val="20001"/>
                    </a:ext>
                  </a:extLst>
                </a:gridCol>
              </a:tblGrid>
              <a:tr h="370840">
                <a:tc>
                  <a:txBody>
                    <a:bodyPr/>
                    <a:lstStyle/>
                    <a:p>
                      <a:r>
                        <a:rPr lang="en-US" sz="2400" dirty="0"/>
                        <a:t>Prefix</a:t>
                      </a:r>
                    </a:p>
                  </a:txBody>
                  <a:tcPr/>
                </a:tc>
                <a:tc>
                  <a:txBody>
                    <a:bodyPr/>
                    <a:lstStyle/>
                    <a:p>
                      <a:r>
                        <a:rPr lang="en-US" sz="2400" dirty="0"/>
                        <a:t>Meaning</a:t>
                      </a:r>
                    </a:p>
                  </a:txBody>
                  <a:tcPr/>
                </a:tc>
                <a:extLst>
                  <a:ext uri="{0D108BD9-81ED-4DB2-BD59-A6C34878D82A}">
                    <a16:rowId xmlns:a16="http://schemas.microsoft.com/office/drawing/2014/main" val="10000"/>
                  </a:ext>
                </a:extLst>
              </a:tr>
              <a:tr h="370840">
                <a:tc>
                  <a:txBody>
                    <a:bodyPr/>
                    <a:lstStyle/>
                    <a:p>
                      <a:r>
                        <a:rPr lang="en-US" altLang="en-US" sz="2400" b="1" dirty="0" err="1"/>
                        <a:t>nulli</a:t>
                      </a:r>
                      <a:r>
                        <a:rPr lang="en-US" altLang="en-US" sz="2400" b="1" dirty="0"/>
                        <a:t>-</a:t>
                      </a:r>
                      <a:endParaRPr lang="en-US" sz="2400" dirty="0"/>
                    </a:p>
                  </a:txBody>
                  <a:tcPr/>
                </a:tc>
                <a:tc>
                  <a:txBody>
                    <a:bodyPr/>
                    <a:lstStyle/>
                    <a:p>
                      <a:r>
                        <a:rPr lang="en-US" altLang="en-US" sz="2400" dirty="0"/>
                        <a:t>no, not, none</a:t>
                      </a:r>
                      <a:endParaRPr lang="en-US" sz="2400" dirty="0"/>
                    </a:p>
                  </a:txBody>
                  <a:tcPr/>
                </a:tc>
                <a:extLst>
                  <a:ext uri="{0D108BD9-81ED-4DB2-BD59-A6C34878D82A}">
                    <a16:rowId xmlns:a16="http://schemas.microsoft.com/office/drawing/2014/main" val="10001"/>
                  </a:ext>
                </a:extLst>
              </a:tr>
              <a:tr h="370840">
                <a:tc>
                  <a:txBody>
                    <a:bodyPr/>
                    <a:lstStyle/>
                    <a:p>
                      <a:r>
                        <a:rPr lang="en-US" altLang="en-US" sz="2400" b="1" dirty="0"/>
                        <a:t>pre-</a:t>
                      </a:r>
                      <a:endParaRPr lang="en-US" sz="2400" dirty="0"/>
                    </a:p>
                  </a:txBody>
                  <a:tcPr/>
                </a:tc>
                <a:tc>
                  <a:txBody>
                    <a:bodyPr/>
                    <a:lstStyle/>
                    <a:p>
                      <a:r>
                        <a:rPr lang="en-US" altLang="en-US" sz="2400" dirty="0"/>
                        <a:t>before</a:t>
                      </a:r>
                      <a:endParaRPr lang="en-US" sz="2400" dirty="0"/>
                    </a:p>
                  </a:txBody>
                  <a:tcPr/>
                </a:tc>
                <a:extLst>
                  <a:ext uri="{0D108BD9-81ED-4DB2-BD59-A6C34878D82A}">
                    <a16:rowId xmlns:a16="http://schemas.microsoft.com/office/drawing/2014/main" val="10002"/>
                  </a:ext>
                </a:extLst>
              </a:tr>
              <a:tr h="370840">
                <a:tc>
                  <a:txBody>
                    <a:bodyPr/>
                    <a:lstStyle/>
                    <a:p>
                      <a:r>
                        <a:rPr lang="en-US" altLang="en-US" sz="2400" b="1" dirty="0" err="1"/>
                        <a:t>primi</a:t>
                      </a:r>
                      <a:r>
                        <a:rPr lang="en-US" altLang="en-US" sz="2400" b="1" dirty="0"/>
                        <a:t>-</a:t>
                      </a:r>
                      <a:endParaRPr lang="en-US" sz="2400" dirty="0"/>
                    </a:p>
                  </a:txBody>
                  <a:tcPr/>
                </a:tc>
                <a:tc>
                  <a:txBody>
                    <a:bodyPr/>
                    <a:lstStyle/>
                    <a:p>
                      <a:r>
                        <a:rPr lang="en-US" altLang="en-US" sz="2400" dirty="0"/>
                        <a:t>first</a:t>
                      </a:r>
                      <a:endParaRPr lang="en-US" sz="2400" dirty="0"/>
                    </a:p>
                  </a:txBody>
                  <a:tcPr/>
                </a:tc>
                <a:extLst>
                  <a:ext uri="{0D108BD9-81ED-4DB2-BD59-A6C34878D82A}">
                    <a16:rowId xmlns:a16="http://schemas.microsoft.com/office/drawing/2014/main" val="10003"/>
                  </a:ext>
                </a:extLst>
              </a:tr>
              <a:tr h="370840">
                <a:tc>
                  <a:txBody>
                    <a:bodyPr/>
                    <a:lstStyle/>
                    <a:p>
                      <a:r>
                        <a:rPr lang="en-US" altLang="en-US" sz="2400" b="1" dirty="0"/>
                        <a:t>retro-</a:t>
                      </a:r>
                      <a:endParaRPr lang="en-US" sz="2400" dirty="0"/>
                    </a:p>
                  </a:txBody>
                  <a:tcPr/>
                </a:tc>
                <a:tc>
                  <a:txBody>
                    <a:bodyPr/>
                    <a:lstStyle/>
                    <a:p>
                      <a:r>
                        <a:rPr lang="en-US" altLang="en-US" sz="2400" dirty="0"/>
                        <a:t>backward</a:t>
                      </a:r>
                      <a:endParaRPr lang="en-US" sz="2400" dirty="0"/>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402785119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1026"/>
          <p:cNvSpPr>
            <a:spLocks noGrp="1" noChangeArrowheads="1"/>
          </p:cNvSpPr>
          <p:nvPr>
            <p:ph type="title"/>
          </p:nvPr>
        </p:nvSpPr>
        <p:spPr>
          <a:xfrm>
            <a:off x="381000" y="228600"/>
            <a:ext cx="7772400" cy="1219200"/>
          </a:xfrm>
        </p:spPr>
        <p:txBody>
          <a:bodyPr/>
          <a:lstStyle/>
          <a:p>
            <a:pPr eaLnBrk="1" hangingPunct="1"/>
            <a:r>
              <a:rPr lang="en-US" altLang="en-US" dirty="0"/>
              <a:t>      QUICK QUIZ (Slide 5 of 5)</a:t>
            </a:r>
            <a:endParaRPr lang="en-US" altLang="en-US" sz="4800" dirty="0"/>
          </a:p>
        </p:txBody>
      </p:sp>
      <p:sp>
        <p:nvSpPr>
          <p:cNvPr id="78851" name="Rectangle 1027"/>
          <p:cNvSpPr>
            <a:spLocks noGrp="1" noChangeArrowheads="1"/>
          </p:cNvSpPr>
          <p:nvPr>
            <p:ph idx="1"/>
          </p:nvPr>
        </p:nvSpPr>
        <p:spPr>
          <a:xfrm>
            <a:off x="685800" y="1600200"/>
            <a:ext cx="6934200" cy="4495800"/>
          </a:xfrm>
        </p:spPr>
        <p:txBody>
          <a:bodyPr/>
          <a:lstStyle/>
          <a:p>
            <a:pPr marL="533400" indent="-533400" eaLnBrk="1" hangingPunct="1">
              <a:buFont typeface="Wingdings 2" panose="05020102010507070707" pitchFamily="18" charset="2"/>
              <a:buAutoNum type="arabicPeriod" startAt="5"/>
            </a:pPr>
            <a:r>
              <a:rPr lang="en-US" altLang="en-US" b="1" dirty="0"/>
              <a:t>Which term means removal of the breast?</a:t>
            </a:r>
          </a:p>
          <a:p>
            <a:pPr marL="533400" indent="-533400" eaLnBrk="1" hangingPunct="1">
              <a:buFont typeface="Wingdings 2" panose="05020102010507070707" pitchFamily="18" charset="2"/>
              <a:buAutoNum type="arabicPeriod" startAt="5"/>
            </a:pPr>
            <a:endParaRPr lang="en-US" altLang="en-US" b="1" dirty="0"/>
          </a:p>
          <a:p>
            <a:pPr marL="533400" indent="-533400" eaLnBrk="1" hangingPunct="1">
              <a:lnSpc>
                <a:spcPct val="65000"/>
              </a:lnSpc>
              <a:buFont typeface="Wingdings 2" panose="05020102010507070707" pitchFamily="18" charset="2"/>
              <a:buNone/>
            </a:pPr>
            <a:r>
              <a:rPr lang="en-US" altLang="en-US" dirty="0"/>
              <a:t>	A.  Hysterectomy</a:t>
            </a:r>
          </a:p>
          <a:p>
            <a:pPr marL="533400" indent="-533400" eaLnBrk="1" hangingPunct="1">
              <a:lnSpc>
                <a:spcPct val="65000"/>
              </a:lnSpc>
              <a:buFont typeface="Wingdings 2" panose="05020102010507070707" pitchFamily="18" charset="2"/>
              <a:buNone/>
            </a:pPr>
            <a:r>
              <a:rPr lang="en-US" altLang="en-US" dirty="0"/>
              <a:t>	B.  Mastectomy</a:t>
            </a:r>
          </a:p>
          <a:p>
            <a:pPr marL="533400" indent="-533400" eaLnBrk="1" hangingPunct="1">
              <a:lnSpc>
                <a:spcPct val="65000"/>
              </a:lnSpc>
              <a:buFont typeface="Wingdings 2" panose="05020102010507070707" pitchFamily="18" charset="2"/>
              <a:buNone/>
            </a:pPr>
            <a:r>
              <a:rPr lang="en-US" altLang="en-US" dirty="0"/>
              <a:t>	C.  Mastitis</a:t>
            </a:r>
          </a:p>
          <a:p>
            <a:pPr marL="533400" indent="-533400" eaLnBrk="1" hangingPunct="1">
              <a:lnSpc>
                <a:spcPct val="65000"/>
              </a:lnSpc>
              <a:buFont typeface="Wingdings 2" panose="05020102010507070707" pitchFamily="18" charset="2"/>
              <a:buNone/>
            </a:pPr>
            <a:r>
              <a:rPr lang="en-US" altLang="en-US" dirty="0"/>
              <a:t>	D</a:t>
            </a:r>
            <a:r>
              <a:rPr lang="en-US" altLang="en-US" dirty="0">
                <a:solidFill>
                  <a:schemeClr val="tx2"/>
                </a:solidFill>
              </a:rPr>
              <a:t>.</a:t>
            </a:r>
            <a:r>
              <a:rPr lang="en-US" altLang="en-US" dirty="0"/>
              <a:t>  Mammoplasty</a:t>
            </a:r>
          </a:p>
        </p:txBody>
      </p:sp>
    </p:spTree>
    <p:extLst>
      <p:ext uri="{BB962C8B-B14F-4D97-AF65-F5344CB8AC3E}">
        <p14:creationId xmlns:p14="http://schemas.microsoft.com/office/powerpoint/2010/main" val="100452426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2674" name="Rectangle 2"/>
          <p:cNvSpPr>
            <a:spLocks noGrp="1" noChangeArrowheads="1"/>
          </p:cNvSpPr>
          <p:nvPr>
            <p:ph type="title"/>
          </p:nvPr>
        </p:nvSpPr>
        <p:spPr>
          <a:xfrm>
            <a:off x="685800" y="457200"/>
            <a:ext cx="7286625" cy="1219200"/>
          </a:xfrm>
        </p:spPr>
        <p:txBody>
          <a:bodyPr rtlCol="0">
            <a:normAutofit fontScale="90000"/>
          </a:bodyPr>
          <a:lstStyle/>
          <a:p>
            <a:pPr eaLnBrk="1" fontAlgn="auto" hangingPunct="1">
              <a:spcAft>
                <a:spcPts val="0"/>
              </a:spcAft>
              <a:buClr>
                <a:srgbClr val="5454C6"/>
              </a:buClr>
              <a:buSzPct val="80000"/>
              <a:buFont typeface="Wingdings" pitchFamily="2" charset="2"/>
              <a:buNone/>
              <a:defRPr/>
            </a:pPr>
            <a:r>
              <a:rPr kumimoji="1" lang="en-US" dirty="0"/>
              <a:t>Chapter 8</a:t>
            </a:r>
            <a:br>
              <a:rPr kumimoji="1" lang="en-US" dirty="0"/>
            </a:br>
            <a:r>
              <a:rPr kumimoji="1" lang="en-US" dirty="0"/>
              <a:t>Lesson 8.2</a:t>
            </a:r>
          </a:p>
        </p:txBody>
      </p:sp>
      <p:sp>
        <p:nvSpPr>
          <p:cNvPr id="79875" name="Rectangle 3"/>
          <p:cNvSpPr>
            <a:spLocks noGrp="1" noChangeArrowheads="1"/>
          </p:cNvSpPr>
          <p:nvPr>
            <p:ph idx="1"/>
          </p:nvPr>
        </p:nvSpPr>
        <p:spPr>
          <a:xfrm>
            <a:off x="609600" y="1752600"/>
            <a:ext cx="8305800" cy="4406900"/>
          </a:xfrm>
        </p:spPr>
        <p:txBody>
          <a:bodyPr/>
          <a:lstStyle/>
          <a:p>
            <a:pPr eaLnBrk="1" hangingPunct="1">
              <a:buFont typeface="Wingdings 2" panose="05020102010507070707" pitchFamily="18" charset="2"/>
              <a:buNone/>
            </a:pPr>
            <a:r>
              <a:rPr kumimoji="1" lang="en-US" altLang="en-US" b="1">
                <a:solidFill>
                  <a:schemeClr val="folHlink"/>
                </a:solidFill>
              </a:rPr>
              <a:t> </a:t>
            </a:r>
            <a:endParaRPr kumimoji="1" lang="en-US" altLang="en-US"/>
          </a:p>
        </p:txBody>
      </p:sp>
    </p:spTree>
    <p:extLst>
      <p:ext uri="{BB962C8B-B14F-4D97-AF65-F5344CB8AC3E}">
        <p14:creationId xmlns:p14="http://schemas.microsoft.com/office/powerpoint/2010/main" val="405472263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a:spLocks noGrp="1" noChangeArrowheads="1"/>
          </p:cNvSpPr>
          <p:nvPr>
            <p:ph type="title"/>
          </p:nvPr>
        </p:nvSpPr>
        <p:spPr>
          <a:xfrm>
            <a:off x="914400" y="228600"/>
            <a:ext cx="7315200" cy="1143000"/>
          </a:xfrm>
        </p:spPr>
        <p:txBody>
          <a:bodyPr/>
          <a:lstStyle/>
          <a:p>
            <a:pPr eaLnBrk="1" hangingPunct="1"/>
            <a:r>
              <a:rPr lang="en-US" altLang="en-US" dirty="0"/>
              <a:t>Pathology: Uterus (slide 1 of 2)</a:t>
            </a:r>
          </a:p>
        </p:txBody>
      </p:sp>
      <p:sp>
        <p:nvSpPr>
          <p:cNvPr id="422920" name="Rectangle 8"/>
          <p:cNvSpPr>
            <a:spLocks noGrp="1" noChangeArrowheads="1"/>
          </p:cNvSpPr>
          <p:nvPr>
            <p:ph idx="1"/>
          </p:nvPr>
        </p:nvSpPr>
        <p:spPr>
          <a:xfrm>
            <a:off x="685800" y="1600200"/>
            <a:ext cx="7772400" cy="4343400"/>
          </a:xfrm>
        </p:spPr>
        <p:txBody>
          <a:bodyPr rtlCol="0">
            <a:normAutofit fontScale="92500" lnSpcReduction="20000"/>
          </a:bodyPr>
          <a:lstStyle/>
          <a:p>
            <a:pPr eaLnBrk="1" fontAlgn="auto" hangingPunct="1">
              <a:lnSpc>
                <a:spcPct val="90000"/>
              </a:lnSpc>
              <a:spcAft>
                <a:spcPts val="0"/>
              </a:spcAft>
              <a:defRPr/>
            </a:pPr>
            <a:r>
              <a:rPr lang="en-US" dirty="0"/>
              <a:t>Cervical cancer</a:t>
            </a:r>
          </a:p>
          <a:p>
            <a:pPr lvl="2" eaLnBrk="1" fontAlgn="auto" hangingPunct="1">
              <a:lnSpc>
                <a:spcPct val="90000"/>
              </a:lnSpc>
              <a:spcAft>
                <a:spcPts val="0"/>
              </a:spcAft>
              <a:defRPr/>
            </a:pPr>
            <a:r>
              <a:rPr lang="en-US" sz="3000" dirty="0">
                <a:ea typeface="ＭＳ Ｐゴシック" charset="0"/>
              </a:rPr>
              <a:t>Malignant cells within the cervix</a:t>
            </a:r>
          </a:p>
          <a:p>
            <a:pPr lvl="2" eaLnBrk="1" fontAlgn="auto" hangingPunct="1">
              <a:lnSpc>
                <a:spcPct val="90000"/>
              </a:lnSpc>
              <a:spcAft>
                <a:spcPts val="0"/>
              </a:spcAft>
              <a:buFontTx/>
              <a:buNone/>
              <a:defRPr/>
            </a:pPr>
            <a:endParaRPr lang="en-US" sz="1600" dirty="0">
              <a:ea typeface="ＭＳ Ｐゴシック" charset="0"/>
            </a:endParaRPr>
          </a:p>
          <a:p>
            <a:pPr eaLnBrk="1" fontAlgn="auto" hangingPunct="1">
              <a:lnSpc>
                <a:spcPct val="90000"/>
              </a:lnSpc>
              <a:spcAft>
                <a:spcPts val="0"/>
              </a:spcAft>
              <a:defRPr/>
            </a:pPr>
            <a:r>
              <a:rPr lang="en-US" dirty="0"/>
              <a:t>Cervicitis</a:t>
            </a:r>
          </a:p>
          <a:p>
            <a:pPr lvl="2" eaLnBrk="1" fontAlgn="auto" hangingPunct="1">
              <a:lnSpc>
                <a:spcPct val="90000"/>
              </a:lnSpc>
              <a:spcAft>
                <a:spcPts val="0"/>
              </a:spcAft>
              <a:defRPr/>
            </a:pPr>
            <a:r>
              <a:rPr lang="en-US" sz="3000" dirty="0">
                <a:ea typeface="ＭＳ Ｐゴシック" charset="0"/>
              </a:rPr>
              <a:t>Inflammation of the cervix</a:t>
            </a:r>
          </a:p>
          <a:p>
            <a:pPr lvl="2" eaLnBrk="1" fontAlgn="auto" hangingPunct="1">
              <a:lnSpc>
                <a:spcPct val="90000"/>
              </a:lnSpc>
              <a:spcAft>
                <a:spcPts val="0"/>
              </a:spcAft>
              <a:defRPr/>
            </a:pPr>
            <a:endParaRPr lang="en-US" sz="1600" dirty="0">
              <a:ea typeface="ＭＳ Ｐゴシック" charset="0"/>
            </a:endParaRPr>
          </a:p>
          <a:p>
            <a:pPr eaLnBrk="1" fontAlgn="auto" hangingPunct="1">
              <a:lnSpc>
                <a:spcPct val="90000"/>
              </a:lnSpc>
              <a:spcAft>
                <a:spcPts val="0"/>
              </a:spcAft>
              <a:defRPr/>
            </a:pPr>
            <a:r>
              <a:rPr lang="en-US" dirty="0"/>
              <a:t>Endometrial cancer</a:t>
            </a:r>
          </a:p>
          <a:p>
            <a:pPr lvl="2" eaLnBrk="1" fontAlgn="auto" hangingPunct="1">
              <a:lnSpc>
                <a:spcPct val="90000"/>
              </a:lnSpc>
              <a:spcAft>
                <a:spcPts val="0"/>
              </a:spcAft>
              <a:defRPr/>
            </a:pPr>
            <a:r>
              <a:rPr lang="en-US" sz="3000" dirty="0">
                <a:ea typeface="ＭＳ Ｐゴシック" charset="0"/>
              </a:rPr>
              <a:t>Malignant tumor of the uterine lining</a:t>
            </a:r>
          </a:p>
          <a:p>
            <a:pPr lvl="1" eaLnBrk="1" fontAlgn="auto" hangingPunct="1">
              <a:lnSpc>
                <a:spcPct val="90000"/>
              </a:lnSpc>
              <a:spcAft>
                <a:spcPts val="0"/>
              </a:spcAft>
              <a:buFont typeface="Wingdings" pitchFamily="80" charset="2"/>
              <a:buChar char="Ø"/>
              <a:defRPr/>
            </a:pPr>
            <a:endParaRPr lang="en-US" sz="1600" dirty="0">
              <a:ea typeface="ＭＳ Ｐゴシック" charset="0"/>
            </a:endParaRPr>
          </a:p>
          <a:p>
            <a:pPr eaLnBrk="1" fontAlgn="auto" hangingPunct="1">
              <a:lnSpc>
                <a:spcPct val="90000"/>
              </a:lnSpc>
              <a:spcAft>
                <a:spcPts val="0"/>
              </a:spcAft>
              <a:defRPr/>
            </a:pPr>
            <a:r>
              <a:rPr lang="en-US" dirty="0"/>
              <a:t>Endometriosis</a:t>
            </a:r>
          </a:p>
          <a:p>
            <a:pPr lvl="2" eaLnBrk="1" fontAlgn="auto" hangingPunct="1">
              <a:lnSpc>
                <a:spcPct val="90000"/>
              </a:lnSpc>
              <a:spcAft>
                <a:spcPts val="0"/>
              </a:spcAft>
              <a:defRPr/>
            </a:pPr>
            <a:r>
              <a:rPr lang="en-US" sz="3000" dirty="0">
                <a:ea typeface="ＭＳ Ｐゴシック" charset="0"/>
              </a:rPr>
              <a:t>Endometrial tissue located outside the uterus</a:t>
            </a:r>
          </a:p>
          <a:p>
            <a:pPr eaLnBrk="1" fontAlgn="auto" hangingPunct="1">
              <a:lnSpc>
                <a:spcPct val="90000"/>
              </a:lnSpc>
              <a:spcAft>
                <a:spcPts val="0"/>
              </a:spcAft>
              <a:defRPr/>
            </a:pPr>
            <a:endParaRPr lang="en-US" sz="1600" dirty="0"/>
          </a:p>
        </p:txBody>
      </p:sp>
    </p:spTree>
    <p:extLst>
      <p:ext uri="{BB962C8B-B14F-4D97-AF65-F5344CB8AC3E}">
        <p14:creationId xmlns:p14="http://schemas.microsoft.com/office/powerpoint/2010/main" val="1908967815"/>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noChangeArrowheads="1"/>
          </p:cNvSpPr>
          <p:nvPr>
            <p:ph type="title"/>
          </p:nvPr>
        </p:nvSpPr>
        <p:spPr/>
        <p:txBody>
          <a:bodyPr/>
          <a:lstStyle/>
          <a:p>
            <a:pPr eaLnBrk="1" hangingPunct="1"/>
            <a:r>
              <a:rPr lang="en-US" altLang="en-US" dirty="0"/>
              <a:t>Pathology: Uterus (slide 2 of 2</a:t>
            </a:r>
            <a:r>
              <a:rPr lang="en-US" altLang="ja-JP" dirty="0"/>
              <a:t>)</a:t>
            </a:r>
            <a:endParaRPr lang="en-US" altLang="en-US" dirty="0"/>
          </a:p>
        </p:txBody>
      </p:sp>
      <p:sp>
        <p:nvSpPr>
          <p:cNvPr id="81923" name="Rectangle 5"/>
          <p:cNvSpPr>
            <a:spLocks noGrp="1" noChangeArrowheads="1"/>
          </p:cNvSpPr>
          <p:nvPr>
            <p:ph sz="half" idx="1"/>
          </p:nvPr>
        </p:nvSpPr>
        <p:spPr/>
        <p:txBody>
          <a:bodyPr/>
          <a:lstStyle/>
          <a:p>
            <a:pPr eaLnBrk="1" hangingPunct="1"/>
            <a:r>
              <a:rPr lang="en-US" altLang="en-US" dirty="0"/>
              <a:t>Fibroids are benign tumors of the uterus</a:t>
            </a:r>
          </a:p>
        </p:txBody>
      </p:sp>
      <p:pic>
        <p:nvPicPr>
          <p:cNvPr id="8" name="Picture 13" descr="Location of uterine fibroids. Pedunculated growths protrude on stalks. Subserosal mass lies under the outermost layer of the uterus. Submucosal leiomyoma grows under the innermost layer. Intramural masses arise within the muscular uterine wall."/>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bwMode="auto">
          <a:xfrm>
            <a:off x="4173572" y="2590800"/>
            <a:ext cx="4513227" cy="353536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72710663"/>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1026"/>
          <p:cNvSpPr>
            <a:spLocks noGrp="1" noChangeArrowheads="1"/>
          </p:cNvSpPr>
          <p:nvPr>
            <p:ph type="title"/>
          </p:nvPr>
        </p:nvSpPr>
        <p:spPr>
          <a:xfrm>
            <a:off x="914400" y="228600"/>
            <a:ext cx="7315200" cy="1143000"/>
          </a:xfrm>
        </p:spPr>
        <p:txBody>
          <a:bodyPr/>
          <a:lstStyle/>
          <a:p>
            <a:pPr eaLnBrk="1" hangingPunct="1"/>
            <a:r>
              <a:rPr lang="en-US" altLang="en-US" dirty="0"/>
              <a:t>Pathology: Gynecological </a:t>
            </a:r>
            <a:br>
              <a:rPr lang="en-US" altLang="en-US" dirty="0"/>
            </a:br>
            <a:endParaRPr lang="en-US" altLang="en-US" dirty="0"/>
          </a:p>
        </p:txBody>
      </p:sp>
      <p:sp>
        <p:nvSpPr>
          <p:cNvPr id="591875" name="Rectangle 1027"/>
          <p:cNvSpPr>
            <a:spLocks noGrp="1" noChangeArrowheads="1"/>
          </p:cNvSpPr>
          <p:nvPr>
            <p:ph idx="1"/>
          </p:nvPr>
        </p:nvSpPr>
        <p:spPr>
          <a:xfrm>
            <a:off x="685800" y="1600200"/>
            <a:ext cx="8153400" cy="4648200"/>
          </a:xfrm>
        </p:spPr>
        <p:txBody>
          <a:bodyPr rtlCol="0">
            <a:normAutofit fontScale="92500" lnSpcReduction="20000"/>
          </a:bodyPr>
          <a:lstStyle/>
          <a:p>
            <a:pPr eaLnBrk="1" fontAlgn="auto" hangingPunct="1">
              <a:spcAft>
                <a:spcPts val="0"/>
              </a:spcAft>
              <a:buFont typeface="Wingdings 2" pitchFamily="18" charset="2"/>
              <a:buNone/>
              <a:defRPr/>
            </a:pPr>
            <a:r>
              <a:rPr lang="en-US" b="1" dirty="0"/>
              <a:t>Ovaries</a:t>
            </a:r>
          </a:p>
          <a:p>
            <a:pPr lvl="1" eaLnBrk="1" fontAlgn="auto" hangingPunct="1">
              <a:spcAft>
                <a:spcPts val="0"/>
              </a:spcAft>
              <a:buFont typeface="Wingdings" pitchFamily="80" charset="2"/>
              <a:buChar char="Ø"/>
              <a:defRPr/>
            </a:pPr>
            <a:r>
              <a:rPr lang="en-US" dirty="0">
                <a:ea typeface="ＭＳ Ｐゴシック" charset="0"/>
              </a:rPr>
              <a:t>Ovarian cancer</a:t>
            </a:r>
          </a:p>
          <a:p>
            <a:pPr lvl="2" eaLnBrk="1" fontAlgn="auto" hangingPunct="1">
              <a:spcAft>
                <a:spcPts val="0"/>
              </a:spcAft>
              <a:defRPr/>
            </a:pPr>
            <a:r>
              <a:rPr lang="en-US" sz="2800" dirty="0">
                <a:ea typeface="ＭＳ Ｐゴシック" charset="0"/>
              </a:rPr>
              <a:t>Malignant tumor of the ovary</a:t>
            </a:r>
          </a:p>
          <a:p>
            <a:pPr lvl="1" eaLnBrk="1" fontAlgn="auto" hangingPunct="1">
              <a:spcAft>
                <a:spcPts val="0"/>
              </a:spcAft>
              <a:buFont typeface="Wingdings" charset="2"/>
              <a:buChar char="Ø"/>
              <a:defRPr/>
            </a:pPr>
            <a:r>
              <a:rPr lang="en-US" dirty="0">
                <a:ea typeface="ＭＳ Ｐゴシック" charset="0"/>
              </a:rPr>
              <a:t>Ovarian cysts</a:t>
            </a:r>
          </a:p>
          <a:p>
            <a:pPr lvl="2" eaLnBrk="1" fontAlgn="auto" hangingPunct="1">
              <a:spcAft>
                <a:spcPts val="0"/>
              </a:spcAft>
              <a:defRPr/>
            </a:pPr>
            <a:r>
              <a:rPr lang="en-US" sz="2800" dirty="0">
                <a:ea typeface="ＭＳ Ｐゴシック" charset="0"/>
              </a:rPr>
              <a:t>Collections of fluid within a sac in the ovary</a:t>
            </a:r>
          </a:p>
          <a:p>
            <a:pPr lvl="1" eaLnBrk="1" fontAlgn="auto" hangingPunct="1">
              <a:spcAft>
                <a:spcPts val="0"/>
              </a:spcAft>
              <a:buFont typeface="Wingdings" pitchFamily="80" charset="2"/>
              <a:buChar char="Ø"/>
              <a:defRPr/>
            </a:pPr>
            <a:endParaRPr lang="en-US" dirty="0">
              <a:ea typeface="ＭＳ Ｐゴシック" charset="0"/>
            </a:endParaRPr>
          </a:p>
          <a:p>
            <a:pPr eaLnBrk="1" fontAlgn="auto" hangingPunct="1">
              <a:spcAft>
                <a:spcPts val="0"/>
              </a:spcAft>
              <a:buFont typeface="Wingdings 2" pitchFamily="18" charset="2"/>
              <a:buNone/>
              <a:defRPr/>
            </a:pPr>
            <a:r>
              <a:rPr lang="en-US" b="1" dirty="0"/>
              <a:t>Fallopian tubes</a:t>
            </a:r>
          </a:p>
          <a:p>
            <a:pPr lvl="1" eaLnBrk="1" fontAlgn="auto" hangingPunct="1">
              <a:spcAft>
                <a:spcPts val="0"/>
              </a:spcAft>
              <a:buFont typeface="Wingdings" pitchFamily="80" charset="2"/>
              <a:buChar char="Ø"/>
              <a:defRPr/>
            </a:pPr>
            <a:r>
              <a:rPr lang="en-US" sz="3000" dirty="0">
                <a:ea typeface="ＭＳ Ｐゴシック" charset="0"/>
              </a:rPr>
              <a:t>Pelvic inflammatory disease</a:t>
            </a:r>
          </a:p>
          <a:p>
            <a:pPr lvl="2" eaLnBrk="1" fontAlgn="auto" hangingPunct="1">
              <a:spcAft>
                <a:spcPts val="0"/>
              </a:spcAft>
              <a:defRPr/>
            </a:pPr>
            <a:r>
              <a:rPr lang="en-US" sz="3000" dirty="0">
                <a:ea typeface="ＭＳ Ｐゴシック" charset="0"/>
              </a:rPr>
              <a:t>Examples:  </a:t>
            </a:r>
            <a:r>
              <a:rPr lang="en-US" sz="3000" dirty="0" err="1">
                <a:ea typeface="ＭＳ Ｐゴシック" charset="0"/>
              </a:rPr>
              <a:t>salpingitis</a:t>
            </a:r>
            <a:r>
              <a:rPr lang="en-US" sz="3000" dirty="0">
                <a:ea typeface="ＭＳ Ｐゴシック" charset="0"/>
              </a:rPr>
              <a:t>, </a:t>
            </a:r>
            <a:r>
              <a:rPr lang="en-US" sz="3000" dirty="0" err="1">
                <a:ea typeface="ＭＳ Ｐゴシック" charset="0"/>
              </a:rPr>
              <a:t>oophoritis</a:t>
            </a:r>
            <a:r>
              <a:rPr lang="en-US" sz="3000" dirty="0">
                <a:ea typeface="ＭＳ Ｐゴシック" charset="0"/>
              </a:rPr>
              <a:t>, </a:t>
            </a:r>
            <a:r>
              <a:rPr lang="en-US" sz="3000" dirty="0" err="1">
                <a:ea typeface="ＭＳ Ｐゴシック" charset="0"/>
              </a:rPr>
              <a:t>endometritis</a:t>
            </a:r>
            <a:endParaRPr lang="en-US" sz="3000" dirty="0">
              <a:ea typeface="ＭＳ Ｐゴシック" charset="0"/>
            </a:endParaRPr>
          </a:p>
          <a:p>
            <a:pPr lvl="2" eaLnBrk="1" fontAlgn="auto" hangingPunct="1">
              <a:spcAft>
                <a:spcPts val="0"/>
              </a:spcAft>
              <a:defRPr/>
            </a:pPr>
            <a:r>
              <a:rPr lang="en-US" sz="3000" dirty="0">
                <a:ea typeface="ＭＳ Ｐゴシック" charset="0"/>
              </a:rPr>
              <a:t>Leading causes of PID are sexually transmitted diseases</a:t>
            </a:r>
          </a:p>
          <a:p>
            <a:pPr lvl="1" eaLnBrk="1" fontAlgn="auto" hangingPunct="1">
              <a:spcAft>
                <a:spcPts val="0"/>
              </a:spcAft>
              <a:buFont typeface="Wingdings" pitchFamily="80" charset="2"/>
              <a:buChar char="Ø"/>
              <a:defRPr/>
            </a:pPr>
            <a:endParaRPr lang="en-US" dirty="0">
              <a:ea typeface="ＭＳ Ｐゴシック" charset="0"/>
            </a:endParaRPr>
          </a:p>
        </p:txBody>
      </p:sp>
    </p:spTree>
    <p:extLst>
      <p:ext uri="{BB962C8B-B14F-4D97-AF65-F5344CB8AC3E}">
        <p14:creationId xmlns:p14="http://schemas.microsoft.com/office/powerpoint/2010/main" val="210663140"/>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1" name="Rectangle 7"/>
          <p:cNvSpPr>
            <a:spLocks noGrp="1" noChangeArrowheads="1"/>
          </p:cNvSpPr>
          <p:nvPr>
            <p:ph type="title"/>
          </p:nvPr>
        </p:nvSpPr>
        <p:spPr>
          <a:xfrm>
            <a:off x="457200" y="274638"/>
            <a:ext cx="8229600" cy="1401762"/>
          </a:xfrm>
        </p:spPr>
        <p:txBody>
          <a:bodyPr/>
          <a:lstStyle/>
          <a:p>
            <a:pPr eaLnBrk="1" hangingPunct="1"/>
            <a:r>
              <a:rPr lang="en-US" altLang="en-US" dirty="0"/>
              <a:t>Pathology: Breast (slide 1 of 2)</a:t>
            </a:r>
          </a:p>
        </p:txBody>
      </p:sp>
      <p:sp>
        <p:nvSpPr>
          <p:cNvPr id="83972" name="Rectangle 8"/>
          <p:cNvSpPr>
            <a:spLocks noGrp="1" noChangeArrowheads="1"/>
          </p:cNvSpPr>
          <p:nvPr>
            <p:ph idx="1"/>
          </p:nvPr>
        </p:nvSpPr>
        <p:spPr/>
        <p:txBody>
          <a:bodyPr/>
          <a:lstStyle/>
          <a:p>
            <a:pPr eaLnBrk="1" hangingPunct="1"/>
            <a:r>
              <a:rPr lang="en-US" altLang="en-US" dirty="0"/>
              <a:t>Breast</a:t>
            </a:r>
          </a:p>
          <a:p>
            <a:pPr lvl="1" eaLnBrk="1" hangingPunct="1">
              <a:buFont typeface="Wingdings" panose="05000000000000000000" pitchFamily="2" charset="2"/>
              <a:buChar char="Ø"/>
            </a:pPr>
            <a:r>
              <a:rPr lang="en-US" altLang="en-US" dirty="0"/>
              <a:t>Breast cancer</a:t>
            </a:r>
          </a:p>
          <a:p>
            <a:pPr lvl="1" eaLnBrk="1" hangingPunct="1">
              <a:buFont typeface="Wingdings" panose="05000000000000000000" pitchFamily="2" charset="2"/>
              <a:buChar char="Ø"/>
            </a:pPr>
            <a:r>
              <a:rPr lang="en-US" altLang="en-US" dirty="0"/>
              <a:t>Fibrocystic disease</a:t>
            </a:r>
          </a:p>
        </p:txBody>
      </p:sp>
    </p:spTree>
    <p:extLst>
      <p:ext uri="{BB962C8B-B14F-4D97-AF65-F5344CB8AC3E}">
        <p14:creationId xmlns:p14="http://schemas.microsoft.com/office/powerpoint/2010/main" val="2487670229"/>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1028"/>
          <p:cNvSpPr>
            <a:spLocks noGrp="1" noChangeArrowheads="1"/>
          </p:cNvSpPr>
          <p:nvPr>
            <p:ph type="title"/>
          </p:nvPr>
        </p:nvSpPr>
        <p:spPr>
          <a:xfrm>
            <a:off x="457200" y="395069"/>
            <a:ext cx="8229600" cy="1357531"/>
          </a:xfrm>
        </p:spPr>
        <p:txBody>
          <a:bodyPr/>
          <a:lstStyle/>
          <a:p>
            <a:pPr eaLnBrk="1" hangingPunct="1">
              <a:defRPr/>
            </a:pPr>
            <a:r>
              <a:rPr lang="en-US" sz="3600" b="1" dirty="0"/>
              <a:t>Pathology: Breast (slide 2 of 2)</a:t>
            </a:r>
            <a:br>
              <a:rPr lang="en-US" sz="3600" b="1" dirty="0"/>
            </a:br>
            <a:r>
              <a:rPr lang="en-US" sz="3600" b="1" dirty="0"/>
              <a:t>Breast Cancer</a:t>
            </a:r>
            <a:endParaRPr lang="en-US" altLang="en-US" b="1" dirty="0">
              <a:solidFill>
                <a:srgbClr val="FFFFFF"/>
              </a:solidFill>
            </a:endParaRPr>
          </a:p>
        </p:txBody>
      </p:sp>
      <p:sp>
        <p:nvSpPr>
          <p:cNvPr id="3" name="Text Placeholder 2"/>
          <p:cNvSpPr>
            <a:spLocks noGrp="1"/>
          </p:cNvSpPr>
          <p:nvPr>
            <p:ph type="body" idx="1"/>
          </p:nvPr>
        </p:nvSpPr>
        <p:spPr>
          <a:xfrm>
            <a:off x="685800" y="1752600"/>
            <a:ext cx="3581400" cy="1199412"/>
          </a:xfrm>
        </p:spPr>
        <p:txBody>
          <a:bodyPr/>
          <a:lstStyle/>
          <a:p>
            <a:r>
              <a:rPr lang="en-US" dirty="0"/>
              <a:t>Arrows in mammogram point to invasive carcinoma of the breast.</a:t>
            </a:r>
          </a:p>
        </p:txBody>
      </p:sp>
      <p:pic>
        <p:nvPicPr>
          <p:cNvPr id="13" name="Picture 1035" descr="A mammogram that shows invasive carcinoma of the breast."/>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bwMode="auto">
          <a:xfrm>
            <a:off x="4022943" y="1845799"/>
            <a:ext cx="1740564" cy="252866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5" name="Text Placeholder 4"/>
          <p:cNvSpPr>
            <a:spLocks noGrp="1"/>
          </p:cNvSpPr>
          <p:nvPr>
            <p:ph type="body" sz="quarter" idx="3"/>
          </p:nvPr>
        </p:nvSpPr>
        <p:spPr>
          <a:xfrm>
            <a:off x="2133600" y="4578277"/>
            <a:ext cx="3200399" cy="1361326"/>
          </a:xfrm>
        </p:spPr>
        <p:txBody>
          <a:bodyPr/>
          <a:lstStyle/>
          <a:p>
            <a:r>
              <a:rPr lang="en-US" dirty="0"/>
              <a:t>Cut section of invasive ductal carcinoma of the breast.</a:t>
            </a:r>
          </a:p>
        </p:txBody>
      </p:sp>
      <p:pic>
        <p:nvPicPr>
          <p:cNvPr id="12" name="Picture 1036" descr="Cut section of invasive ductal carcinoma of the breast."/>
          <p:cNvPicPr>
            <a:picLocks noGrp="1" noChangeAspect="1" noChangeArrowheads="1"/>
          </p:cNvPicPr>
          <p:nvPr>
            <p:ph sz="quarter" idx="4"/>
          </p:nvPr>
        </p:nvPicPr>
        <p:blipFill>
          <a:blip r:embed="rId4">
            <a:extLst>
              <a:ext uri="{28A0092B-C50C-407E-A947-70E740481C1C}">
                <a14:useLocalDpi xmlns:a14="http://schemas.microsoft.com/office/drawing/2010/main" val="0"/>
              </a:ext>
            </a:extLst>
          </a:blip>
          <a:srcRect/>
          <a:stretch>
            <a:fillRect/>
          </a:stretch>
        </p:blipFill>
        <p:spPr bwMode="auto">
          <a:xfrm>
            <a:off x="5404980" y="3993589"/>
            <a:ext cx="2871280" cy="222362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590287680"/>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1890" name="Rectangle 2"/>
          <p:cNvSpPr>
            <a:spLocks noGrp="1" noChangeArrowheads="1"/>
          </p:cNvSpPr>
          <p:nvPr>
            <p:ph type="title"/>
          </p:nvPr>
        </p:nvSpPr>
        <p:spPr/>
        <p:txBody>
          <a:bodyPr rtlCol="0">
            <a:normAutofit fontScale="90000"/>
          </a:bodyPr>
          <a:lstStyle/>
          <a:p>
            <a:pPr eaLnBrk="1" fontAlgn="auto" hangingPunct="1">
              <a:spcAft>
                <a:spcPts val="0"/>
              </a:spcAft>
              <a:defRPr/>
            </a:pPr>
            <a:r>
              <a:rPr kumimoji="1" lang="en-US" dirty="0"/>
              <a:t>Chapter 8</a:t>
            </a:r>
            <a:br>
              <a:rPr kumimoji="1" lang="en-US" dirty="0"/>
            </a:br>
            <a:r>
              <a:rPr kumimoji="1" lang="en-US" dirty="0"/>
              <a:t>Lesson 8.3</a:t>
            </a:r>
          </a:p>
        </p:txBody>
      </p:sp>
    </p:spTree>
    <p:extLst>
      <p:ext uri="{BB962C8B-B14F-4D97-AF65-F5344CB8AC3E}">
        <p14:creationId xmlns:p14="http://schemas.microsoft.com/office/powerpoint/2010/main" val="2331723095"/>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6"/>
          <p:cNvSpPr>
            <a:spLocks noGrp="1" noChangeArrowheads="1"/>
          </p:cNvSpPr>
          <p:nvPr>
            <p:ph type="title"/>
          </p:nvPr>
        </p:nvSpPr>
        <p:spPr>
          <a:xfrm>
            <a:off x="990600" y="228600"/>
            <a:ext cx="7315200" cy="1143000"/>
          </a:xfrm>
        </p:spPr>
        <p:txBody>
          <a:bodyPr/>
          <a:lstStyle/>
          <a:p>
            <a:pPr eaLnBrk="1" hangingPunct="1"/>
            <a:r>
              <a:rPr lang="en-US" altLang="en-US"/>
              <a:t>Pathology: Pregnancy</a:t>
            </a:r>
          </a:p>
        </p:txBody>
      </p:sp>
      <p:sp>
        <p:nvSpPr>
          <p:cNvPr id="456711" name="Rectangle 7"/>
          <p:cNvSpPr>
            <a:spLocks noGrp="1" noChangeArrowheads="1"/>
          </p:cNvSpPr>
          <p:nvPr>
            <p:ph idx="1"/>
          </p:nvPr>
        </p:nvSpPr>
        <p:spPr>
          <a:xfrm>
            <a:off x="685800" y="1600200"/>
            <a:ext cx="7620000" cy="4114800"/>
          </a:xfrm>
        </p:spPr>
        <p:txBody>
          <a:bodyPr rtlCol="0">
            <a:normAutofit fontScale="92500" lnSpcReduction="20000"/>
          </a:bodyPr>
          <a:lstStyle/>
          <a:p>
            <a:pPr eaLnBrk="1" fontAlgn="auto" hangingPunct="1">
              <a:spcAft>
                <a:spcPts val="0"/>
              </a:spcAft>
              <a:defRPr/>
            </a:pPr>
            <a:r>
              <a:rPr lang="en-US" dirty="0" err="1"/>
              <a:t>Abruptio</a:t>
            </a:r>
            <a:r>
              <a:rPr lang="en-US" dirty="0"/>
              <a:t> placentae</a:t>
            </a:r>
          </a:p>
          <a:p>
            <a:pPr lvl="1" eaLnBrk="1" fontAlgn="auto" hangingPunct="1">
              <a:spcAft>
                <a:spcPts val="0"/>
              </a:spcAft>
              <a:buFont typeface="Wingdings" pitchFamily="80" charset="2"/>
              <a:buChar char="Ø"/>
              <a:defRPr/>
            </a:pPr>
            <a:r>
              <a:rPr lang="en-US" sz="3000" dirty="0">
                <a:ea typeface="ＭＳ Ｐゴシック" charset="0"/>
              </a:rPr>
              <a:t>Premature separation of the normally implanted placenta</a:t>
            </a:r>
          </a:p>
          <a:p>
            <a:pPr eaLnBrk="1" fontAlgn="auto" hangingPunct="1">
              <a:spcAft>
                <a:spcPts val="0"/>
              </a:spcAft>
              <a:defRPr/>
            </a:pPr>
            <a:r>
              <a:rPr lang="en-US" dirty="0" err="1"/>
              <a:t>Choriocarcinoma</a:t>
            </a:r>
            <a:endParaRPr lang="en-US" dirty="0"/>
          </a:p>
          <a:p>
            <a:pPr lvl="1" eaLnBrk="1" fontAlgn="auto" hangingPunct="1">
              <a:spcAft>
                <a:spcPts val="0"/>
              </a:spcAft>
              <a:buFont typeface="Wingdings" pitchFamily="80" charset="2"/>
              <a:buChar char="Ø"/>
              <a:defRPr/>
            </a:pPr>
            <a:r>
              <a:rPr lang="en-US" sz="3000" dirty="0">
                <a:ea typeface="ＭＳ Ｐゴシック" charset="0"/>
              </a:rPr>
              <a:t>Malignant tumor of the placenta</a:t>
            </a:r>
          </a:p>
          <a:p>
            <a:pPr eaLnBrk="1" fontAlgn="auto" hangingPunct="1">
              <a:spcAft>
                <a:spcPts val="0"/>
              </a:spcAft>
              <a:defRPr/>
            </a:pPr>
            <a:r>
              <a:rPr lang="en-US" dirty="0"/>
              <a:t>Ectopic pregnancy</a:t>
            </a:r>
          </a:p>
          <a:p>
            <a:pPr lvl="1" eaLnBrk="1" fontAlgn="auto" hangingPunct="1">
              <a:spcAft>
                <a:spcPts val="0"/>
              </a:spcAft>
              <a:buFont typeface="Wingdings" pitchFamily="80" charset="2"/>
              <a:buChar char="Ø"/>
              <a:defRPr/>
            </a:pPr>
            <a:r>
              <a:rPr lang="en-US" sz="3000" dirty="0">
                <a:ea typeface="ＭＳ Ｐゴシック" charset="0"/>
              </a:rPr>
              <a:t>Misplaced implantation of egg</a:t>
            </a:r>
          </a:p>
          <a:p>
            <a:pPr eaLnBrk="1" fontAlgn="auto" hangingPunct="1">
              <a:spcAft>
                <a:spcPts val="0"/>
              </a:spcAft>
              <a:defRPr/>
            </a:pPr>
            <a:r>
              <a:rPr lang="en-US" dirty="0"/>
              <a:t>Placenta </a:t>
            </a:r>
            <a:r>
              <a:rPr lang="en-US" dirty="0" err="1"/>
              <a:t>previa</a:t>
            </a:r>
            <a:endParaRPr lang="en-US" dirty="0"/>
          </a:p>
          <a:p>
            <a:pPr eaLnBrk="1" fontAlgn="auto" hangingPunct="1">
              <a:spcAft>
                <a:spcPts val="0"/>
              </a:spcAft>
              <a:defRPr/>
            </a:pPr>
            <a:r>
              <a:rPr lang="en-US" dirty="0"/>
              <a:t>Preeclampsia</a:t>
            </a:r>
          </a:p>
          <a:p>
            <a:pPr eaLnBrk="1" fontAlgn="auto" hangingPunct="1">
              <a:spcAft>
                <a:spcPts val="0"/>
              </a:spcAft>
              <a:defRPr/>
            </a:pPr>
            <a:endParaRPr lang="en-US" dirty="0"/>
          </a:p>
          <a:p>
            <a:pPr eaLnBrk="1" fontAlgn="auto" hangingPunct="1">
              <a:spcAft>
                <a:spcPts val="0"/>
              </a:spcAft>
              <a:defRPr/>
            </a:pPr>
            <a:endParaRPr lang="en-US" dirty="0"/>
          </a:p>
        </p:txBody>
      </p:sp>
    </p:spTree>
    <p:extLst>
      <p:ext uri="{BB962C8B-B14F-4D97-AF65-F5344CB8AC3E}">
        <p14:creationId xmlns:p14="http://schemas.microsoft.com/office/powerpoint/2010/main" val="858729532"/>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1026"/>
          <p:cNvSpPr>
            <a:spLocks noGrp="1" noChangeArrowheads="1"/>
          </p:cNvSpPr>
          <p:nvPr>
            <p:ph type="title"/>
          </p:nvPr>
        </p:nvSpPr>
        <p:spPr>
          <a:xfrm>
            <a:off x="990600" y="228600"/>
            <a:ext cx="7315200" cy="1143000"/>
          </a:xfrm>
        </p:spPr>
        <p:txBody>
          <a:bodyPr/>
          <a:lstStyle/>
          <a:p>
            <a:pPr eaLnBrk="1" hangingPunct="1"/>
            <a:r>
              <a:rPr lang="en-US" altLang="en-US" sz="4000" dirty="0"/>
              <a:t>Pathology: Neonatal (slide 1 of 2)</a:t>
            </a:r>
          </a:p>
        </p:txBody>
      </p:sp>
      <p:sp>
        <p:nvSpPr>
          <p:cNvPr id="593923" name="Rectangle 1027"/>
          <p:cNvSpPr>
            <a:spLocks noGrp="1" noChangeArrowheads="1"/>
          </p:cNvSpPr>
          <p:nvPr>
            <p:ph idx="1"/>
          </p:nvPr>
        </p:nvSpPr>
        <p:spPr>
          <a:xfrm>
            <a:off x="685800" y="1600200"/>
            <a:ext cx="7696200" cy="3352800"/>
          </a:xfrm>
        </p:spPr>
        <p:txBody>
          <a:bodyPr rtlCol="0">
            <a:normAutofit lnSpcReduction="10000"/>
          </a:bodyPr>
          <a:lstStyle/>
          <a:p>
            <a:pPr eaLnBrk="1" fontAlgn="auto" hangingPunct="1">
              <a:spcAft>
                <a:spcPts val="0"/>
              </a:spcAft>
              <a:defRPr/>
            </a:pPr>
            <a:r>
              <a:rPr lang="en-US" dirty="0"/>
              <a:t>Down syndrome</a:t>
            </a:r>
          </a:p>
          <a:p>
            <a:pPr eaLnBrk="1" fontAlgn="auto" hangingPunct="1">
              <a:spcAft>
                <a:spcPts val="0"/>
              </a:spcAft>
              <a:defRPr/>
            </a:pPr>
            <a:r>
              <a:rPr lang="en-US" dirty="0"/>
              <a:t>Hemolytic disease of the newborn</a:t>
            </a:r>
          </a:p>
          <a:p>
            <a:pPr eaLnBrk="1" fontAlgn="auto" hangingPunct="1">
              <a:spcAft>
                <a:spcPts val="0"/>
              </a:spcAft>
              <a:defRPr/>
            </a:pPr>
            <a:r>
              <a:rPr lang="en-US" dirty="0"/>
              <a:t>Hyaline membrane disease</a:t>
            </a:r>
          </a:p>
          <a:p>
            <a:pPr eaLnBrk="1" fontAlgn="auto" hangingPunct="1">
              <a:spcAft>
                <a:spcPts val="0"/>
              </a:spcAft>
              <a:defRPr/>
            </a:pPr>
            <a:r>
              <a:rPr lang="en-US" dirty="0"/>
              <a:t>Hydrocephalus</a:t>
            </a:r>
          </a:p>
          <a:p>
            <a:pPr eaLnBrk="1" fontAlgn="auto" hangingPunct="1">
              <a:spcAft>
                <a:spcPts val="0"/>
              </a:spcAft>
              <a:defRPr/>
            </a:pPr>
            <a:r>
              <a:rPr lang="en-US" dirty="0" err="1"/>
              <a:t>Meconium</a:t>
            </a:r>
            <a:r>
              <a:rPr lang="en-US" dirty="0"/>
              <a:t> aspiration syndrome</a:t>
            </a:r>
          </a:p>
          <a:p>
            <a:pPr eaLnBrk="1" fontAlgn="auto" hangingPunct="1">
              <a:spcAft>
                <a:spcPts val="0"/>
              </a:spcAft>
              <a:defRPr/>
            </a:pPr>
            <a:r>
              <a:rPr lang="en-US" dirty="0"/>
              <a:t>Pyloric </a:t>
            </a:r>
            <a:r>
              <a:rPr lang="en-US" dirty="0" err="1"/>
              <a:t>stenosis</a:t>
            </a:r>
            <a:endParaRPr lang="en-US" dirty="0"/>
          </a:p>
        </p:txBody>
      </p:sp>
    </p:spTree>
    <p:extLst>
      <p:ext uri="{BB962C8B-B14F-4D97-AF65-F5344CB8AC3E}">
        <p14:creationId xmlns:p14="http://schemas.microsoft.com/office/powerpoint/2010/main" val="1387526508"/>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p:cNvSpPr>
            <a:spLocks noGrp="1" noChangeArrowheads="1"/>
          </p:cNvSpPr>
          <p:nvPr>
            <p:ph type="title"/>
          </p:nvPr>
        </p:nvSpPr>
        <p:spPr/>
        <p:txBody>
          <a:bodyPr/>
          <a:lstStyle/>
          <a:p>
            <a:pPr eaLnBrk="1" hangingPunct="1"/>
            <a:r>
              <a:rPr lang="en-US" altLang="en-US" sz="4000" dirty="0"/>
              <a:t>Pathology: Neonatal (slide 2 of 2</a:t>
            </a:r>
            <a:r>
              <a:rPr lang="en-US" altLang="ja-JP" sz="4000" dirty="0"/>
              <a:t>)</a:t>
            </a:r>
            <a:endParaRPr lang="en-US" altLang="en-US" sz="4000" dirty="0"/>
          </a:p>
        </p:txBody>
      </p:sp>
      <p:sp>
        <p:nvSpPr>
          <p:cNvPr id="89091" name="Rectangle 3"/>
          <p:cNvSpPr>
            <a:spLocks noGrp="1" noChangeArrowheads="1"/>
          </p:cNvSpPr>
          <p:nvPr>
            <p:ph sz="half" idx="1"/>
          </p:nvPr>
        </p:nvSpPr>
        <p:spPr>
          <a:xfrm>
            <a:off x="990600" y="1776859"/>
            <a:ext cx="6858000" cy="1447799"/>
          </a:xfrm>
        </p:spPr>
        <p:txBody>
          <a:bodyPr/>
          <a:lstStyle/>
          <a:p>
            <a:pPr eaLnBrk="1" hangingPunct="1"/>
            <a:r>
              <a:rPr lang="en-US" altLang="en-US" b="1" dirty="0"/>
              <a:t>APGAR scoring chart</a:t>
            </a:r>
          </a:p>
          <a:p>
            <a:pPr lvl="1" eaLnBrk="1" hangingPunct="1">
              <a:buFont typeface="Wingdings" panose="05000000000000000000" pitchFamily="2" charset="2"/>
              <a:buChar char="Ø"/>
            </a:pPr>
            <a:r>
              <a:rPr lang="en-US" altLang="en-US" dirty="0"/>
              <a:t>Assessment of newborn</a:t>
            </a:r>
          </a:p>
          <a:p>
            <a:pPr lvl="1" eaLnBrk="1" hangingPunct="1">
              <a:buFont typeface="Wingdings" panose="05000000000000000000" pitchFamily="2" charset="2"/>
              <a:buChar char="Ø"/>
            </a:pPr>
            <a:r>
              <a:rPr lang="en-US" altLang="en-US" dirty="0"/>
              <a:t>Scoring 1 to 5 min after birth</a:t>
            </a:r>
          </a:p>
        </p:txBody>
      </p:sp>
      <p:pic>
        <p:nvPicPr>
          <p:cNvPr id="6" name="Picture 6" descr="The Apgar score is a system of scoring an infant’s physical condition at 1 and again 5 minutes after birth. Heart rate, respiration, color, muscle tone, and response to stimuli each are rated 0, 1, or 2. Maximum total score is 10."/>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bwMode="auto">
          <a:xfrm>
            <a:off x="1447800" y="3429000"/>
            <a:ext cx="6668886" cy="245637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097586177"/>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6"/>
          <p:cNvSpPr>
            <a:spLocks noGrp="1" noChangeArrowheads="1"/>
          </p:cNvSpPr>
          <p:nvPr>
            <p:ph type="title"/>
          </p:nvPr>
        </p:nvSpPr>
        <p:spPr>
          <a:xfrm>
            <a:off x="990600" y="228600"/>
            <a:ext cx="7315200" cy="1143000"/>
          </a:xfrm>
        </p:spPr>
        <p:txBody>
          <a:bodyPr/>
          <a:lstStyle/>
          <a:p>
            <a:pPr eaLnBrk="1" hangingPunct="1"/>
            <a:r>
              <a:rPr lang="en-US" altLang="en-US"/>
              <a:t>Clinical Tests and Procedures</a:t>
            </a:r>
          </a:p>
        </p:txBody>
      </p:sp>
      <p:sp>
        <p:nvSpPr>
          <p:cNvPr id="90115" name="Rectangle 7"/>
          <p:cNvSpPr>
            <a:spLocks noGrp="1" noChangeArrowheads="1"/>
          </p:cNvSpPr>
          <p:nvPr>
            <p:ph idx="1"/>
          </p:nvPr>
        </p:nvSpPr>
        <p:spPr>
          <a:xfrm>
            <a:off x="685800" y="1600200"/>
            <a:ext cx="7315200" cy="4114800"/>
          </a:xfrm>
        </p:spPr>
        <p:txBody>
          <a:bodyPr/>
          <a:lstStyle/>
          <a:p>
            <a:pPr eaLnBrk="1" hangingPunct="1">
              <a:buFont typeface="Wingdings 2" panose="05020102010507070707" pitchFamily="18" charset="2"/>
              <a:buNone/>
            </a:pPr>
            <a:r>
              <a:rPr lang="en-US" altLang="en-US" b="1"/>
              <a:t>Clinical tests</a:t>
            </a:r>
          </a:p>
          <a:p>
            <a:pPr lvl="1" eaLnBrk="1" hangingPunct="1">
              <a:buFont typeface="Wingdings" panose="05000000000000000000" pitchFamily="2" charset="2"/>
              <a:buChar char="Ø"/>
            </a:pPr>
            <a:r>
              <a:rPr lang="en-US" altLang="en-US">
                <a:ea typeface="MS PGothic" panose="020B0600070205080204" pitchFamily="34" charset="-128"/>
              </a:rPr>
              <a:t>Pap test (Pap smear)</a:t>
            </a:r>
          </a:p>
          <a:p>
            <a:pPr lvl="1" eaLnBrk="1" hangingPunct="1">
              <a:buFont typeface="Wingdings" panose="05000000000000000000" pitchFamily="2" charset="2"/>
              <a:buChar char="Ø"/>
            </a:pPr>
            <a:r>
              <a:rPr lang="en-US" altLang="en-US">
                <a:ea typeface="MS PGothic" panose="020B0600070205080204" pitchFamily="34" charset="-128"/>
              </a:rPr>
              <a:t>Pregnancy test</a:t>
            </a:r>
          </a:p>
          <a:p>
            <a:pPr lvl="1" eaLnBrk="1" hangingPunct="1">
              <a:buFont typeface="Wingdings" panose="05000000000000000000" pitchFamily="2" charset="2"/>
              <a:buChar char="Ø"/>
            </a:pPr>
            <a:endParaRPr lang="en-US" altLang="en-US" sz="2000">
              <a:ea typeface="MS PGothic" panose="020B0600070205080204" pitchFamily="34" charset="-128"/>
            </a:endParaRPr>
          </a:p>
          <a:p>
            <a:pPr eaLnBrk="1" hangingPunct="1">
              <a:buFont typeface="Wingdings 2" panose="05020102010507070707" pitchFamily="18" charset="2"/>
              <a:buNone/>
            </a:pPr>
            <a:r>
              <a:rPr lang="en-US" altLang="en-US" b="1"/>
              <a:t>Procedures</a:t>
            </a:r>
          </a:p>
          <a:p>
            <a:pPr lvl="1" eaLnBrk="1" hangingPunct="1">
              <a:buFont typeface="Wingdings" panose="05000000000000000000" pitchFamily="2" charset="2"/>
              <a:buChar char="Ø"/>
            </a:pPr>
            <a:r>
              <a:rPr lang="en-US" altLang="en-US"/>
              <a:t>Hystersalpingography </a:t>
            </a:r>
          </a:p>
          <a:p>
            <a:pPr lvl="1" eaLnBrk="1" hangingPunct="1">
              <a:buFont typeface="Wingdings" panose="05000000000000000000" pitchFamily="2" charset="2"/>
              <a:buChar char="Ø"/>
            </a:pPr>
            <a:r>
              <a:rPr lang="en-US" altLang="en-US"/>
              <a:t>Mammography </a:t>
            </a:r>
          </a:p>
          <a:p>
            <a:pPr lvl="1" eaLnBrk="1" hangingPunct="1">
              <a:buFont typeface="Wingdings" panose="05000000000000000000" pitchFamily="2" charset="2"/>
              <a:buChar char="Ø"/>
            </a:pPr>
            <a:r>
              <a:rPr lang="en-US" altLang="en-US"/>
              <a:t>Breast ultrasound/breast MRI </a:t>
            </a:r>
          </a:p>
          <a:p>
            <a:pPr lvl="1" eaLnBrk="1" hangingPunct="1">
              <a:buFont typeface="Wingdings" panose="05000000000000000000" pitchFamily="2" charset="2"/>
              <a:buChar char="Ø"/>
            </a:pPr>
            <a:r>
              <a:rPr lang="en-US" altLang="en-US"/>
              <a:t>Pelvic ultrasonography</a:t>
            </a:r>
            <a:endParaRPr lang="en-US" altLang="en-US" sz="2000">
              <a:ea typeface="MS PGothic" panose="020B0600070205080204" pitchFamily="34" charset="-128"/>
            </a:endParaRPr>
          </a:p>
        </p:txBody>
      </p:sp>
    </p:spTree>
    <p:extLst>
      <p:ext uri="{BB962C8B-B14F-4D97-AF65-F5344CB8AC3E}">
        <p14:creationId xmlns:p14="http://schemas.microsoft.com/office/powerpoint/2010/main" val="2245712521"/>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Grp="1" noChangeArrowheads="1"/>
          </p:cNvSpPr>
          <p:nvPr>
            <p:ph type="title"/>
          </p:nvPr>
        </p:nvSpPr>
        <p:spPr/>
        <p:txBody>
          <a:bodyPr/>
          <a:lstStyle/>
          <a:p>
            <a:pPr eaLnBrk="1" hangingPunct="1"/>
            <a:r>
              <a:rPr lang="en-US" altLang="en-US" dirty="0"/>
              <a:t>Clinical Procedures </a:t>
            </a:r>
            <a:r>
              <a:rPr lang="en-US" altLang="en-US" sz="4000" dirty="0"/>
              <a:t>(Slide 1 of 2)</a:t>
            </a:r>
          </a:p>
        </p:txBody>
      </p:sp>
      <p:sp>
        <p:nvSpPr>
          <p:cNvPr id="91139" name="Rectangle 3"/>
          <p:cNvSpPr>
            <a:spLocks noGrp="1" noChangeArrowheads="1"/>
          </p:cNvSpPr>
          <p:nvPr>
            <p:ph sz="half" idx="1"/>
          </p:nvPr>
        </p:nvSpPr>
        <p:spPr/>
        <p:txBody>
          <a:bodyPr/>
          <a:lstStyle/>
          <a:p>
            <a:pPr eaLnBrk="1" hangingPunct="1">
              <a:buFont typeface="Wingdings 2" panose="05020102010507070707" pitchFamily="18" charset="2"/>
              <a:buNone/>
            </a:pPr>
            <a:r>
              <a:rPr lang="en-US" altLang="en-US" sz="2400" b="1">
                <a:solidFill>
                  <a:schemeClr val="tx2"/>
                </a:solidFill>
              </a:rPr>
              <a:t>Gynecological procedures</a:t>
            </a:r>
          </a:p>
          <a:p>
            <a:pPr eaLnBrk="1" hangingPunct="1"/>
            <a:r>
              <a:rPr lang="en-US" altLang="en-US" sz="2800" b="1"/>
              <a:t>Conization</a:t>
            </a:r>
          </a:p>
          <a:p>
            <a:pPr lvl="1" eaLnBrk="1" hangingPunct="1">
              <a:buFont typeface="Wingdings" panose="05000000000000000000" pitchFamily="2" charset="2"/>
              <a:buChar char="Ø"/>
            </a:pPr>
            <a:r>
              <a:rPr lang="en-US" altLang="en-US">
                <a:ea typeface="MS PGothic" panose="020B0600070205080204" pitchFamily="34" charset="-128"/>
              </a:rPr>
              <a:t>Removal of a cone-shaped section of the cervix.</a:t>
            </a:r>
          </a:p>
          <a:p>
            <a:pPr lvl="1" eaLnBrk="1" hangingPunct="1">
              <a:buFont typeface="Wingdings" panose="05000000000000000000" pitchFamily="2" charset="2"/>
              <a:buChar char="Ø"/>
            </a:pPr>
            <a:r>
              <a:rPr lang="en-US" altLang="en-US">
                <a:ea typeface="MS PGothic" panose="020B0600070205080204" pitchFamily="34" charset="-128"/>
              </a:rPr>
              <a:t>Figure shows LEEP for cone biopsy</a:t>
            </a:r>
          </a:p>
          <a:p>
            <a:pPr lvl="1" eaLnBrk="1" hangingPunct="1">
              <a:buFont typeface="Wingdings" panose="05000000000000000000" pitchFamily="2" charset="2"/>
              <a:buChar char="Ø"/>
            </a:pPr>
            <a:endParaRPr lang="en-US" altLang="en-US">
              <a:ea typeface="MS PGothic" panose="020B0600070205080204" pitchFamily="34" charset="-128"/>
            </a:endParaRPr>
          </a:p>
          <a:p>
            <a:pPr lvl="1" eaLnBrk="1" hangingPunct="1">
              <a:buFont typeface="Wingdings" panose="05000000000000000000" pitchFamily="2" charset="2"/>
              <a:buChar char="Ø"/>
            </a:pPr>
            <a:endParaRPr lang="en-US" altLang="en-US" sz="1800">
              <a:ea typeface="MS PGothic" panose="020B0600070205080204" pitchFamily="34" charset="-128"/>
            </a:endParaRPr>
          </a:p>
        </p:txBody>
      </p:sp>
      <p:pic>
        <p:nvPicPr>
          <p:cNvPr id="6" name="Picture 7" descr="Cervical loop electrocautery excision procedure (LEEP) for cone biopsy of the cervix."/>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bwMode="auto">
          <a:xfrm>
            <a:off x="4724400" y="1796265"/>
            <a:ext cx="2743200" cy="432989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192513110"/>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p:cNvSpPr>
            <a:spLocks noGrp="1" noChangeArrowheads="1"/>
          </p:cNvSpPr>
          <p:nvPr>
            <p:ph type="title"/>
          </p:nvPr>
        </p:nvSpPr>
        <p:spPr/>
        <p:txBody>
          <a:bodyPr/>
          <a:lstStyle/>
          <a:p>
            <a:pPr eaLnBrk="1" hangingPunct="1"/>
            <a:r>
              <a:rPr lang="en-US" altLang="en-US" dirty="0"/>
              <a:t>Clinical Procedures </a:t>
            </a:r>
            <a:r>
              <a:rPr lang="en-US" altLang="en-US" sz="4000" dirty="0"/>
              <a:t>(Slide 2 of 2)</a:t>
            </a:r>
          </a:p>
        </p:txBody>
      </p:sp>
      <p:sp>
        <p:nvSpPr>
          <p:cNvPr id="92163" name="Rectangle 3"/>
          <p:cNvSpPr>
            <a:spLocks noGrp="1" noChangeArrowheads="1"/>
          </p:cNvSpPr>
          <p:nvPr>
            <p:ph sz="half" idx="1"/>
          </p:nvPr>
        </p:nvSpPr>
        <p:spPr/>
        <p:txBody>
          <a:bodyPr/>
          <a:lstStyle/>
          <a:p>
            <a:pPr eaLnBrk="1" hangingPunct="1">
              <a:buFont typeface="Wingdings 2" panose="05020102010507070707" pitchFamily="18" charset="2"/>
              <a:buNone/>
            </a:pPr>
            <a:r>
              <a:rPr lang="en-US" altLang="en-US" sz="2400" b="1" dirty="0">
                <a:solidFill>
                  <a:schemeClr val="tx2"/>
                </a:solidFill>
              </a:rPr>
              <a:t>Gynecological procedures</a:t>
            </a:r>
          </a:p>
          <a:p>
            <a:pPr eaLnBrk="1" hangingPunct="1">
              <a:buFont typeface="Wingdings 2" panose="05020102010507070707" pitchFamily="18" charset="2"/>
              <a:buNone/>
            </a:pPr>
            <a:endParaRPr lang="en-US" altLang="en-US" sz="1000" dirty="0"/>
          </a:p>
          <a:p>
            <a:pPr eaLnBrk="1" hangingPunct="1">
              <a:lnSpc>
                <a:spcPct val="85000"/>
              </a:lnSpc>
              <a:spcBef>
                <a:spcPct val="0"/>
              </a:spcBef>
            </a:pPr>
            <a:r>
              <a:rPr lang="en-US" altLang="en-US" sz="2800" b="1" dirty="0"/>
              <a:t>Laparoscopic</a:t>
            </a:r>
          </a:p>
          <a:p>
            <a:pPr eaLnBrk="1" hangingPunct="1">
              <a:lnSpc>
                <a:spcPct val="85000"/>
              </a:lnSpc>
              <a:spcBef>
                <a:spcPct val="0"/>
              </a:spcBef>
              <a:buFont typeface="Wingdings 2" panose="05020102010507070707" pitchFamily="18" charset="2"/>
              <a:buNone/>
            </a:pPr>
            <a:r>
              <a:rPr lang="en-US" altLang="en-US" sz="2800" b="1" dirty="0"/>
              <a:t>            </a:t>
            </a:r>
            <a:r>
              <a:rPr lang="en-US" altLang="en-US" sz="2800" b="1" dirty="0" err="1"/>
              <a:t>oophorectomy</a:t>
            </a:r>
            <a:endParaRPr lang="en-US" altLang="en-US" sz="2800" b="1" dirty="0"/>
          </a:p>
          <a:p>
            <a:pPr lvl="1" eaLnBrk="1" hangingPunct="1">
              <a:buFont typeface="Wingdings" panose="05000000000000000000" pitchFamily="2" charset="2"/>
              <a:buChar char="Ø"/>
            </a:pPr>
            <a:r>
              <a:rPr lang="en-US" altLang="en-US" dirty="0">
                <a:ea typeface="MS PGothic" panose="020B0600070205080204" pitchFamily="34" charset="-128"/>
              </a:rPr>
              <a:t>A, Ovary placed in plastic bag</a:t>
            </a:r>
          </a:p>
          <a:p>
            <a:pPr lvl="1" eaLnBrk="1" hangingPunct="1">
              <a:buFont typeface="Wingdings" panose="05000000000000000000" pitchFamily="2" charset="2"/>
              <a:buChar char="Ø"/>
            </a:pPr>
            <a:r>
              <a:rPr lang="en-US" altLang="en-US" dirty="0">
                <a:ea typeface="MS PGothic" panose="020B0600070205080204" pitchFamily="34" charset="-128"/>
              </a:rPr>
              <a:t>B, Extracted through      the laparoscope</a:t>
            </a:r>
          </a:p>
          <a:p>
            <a:pPr lvl="1" eaLnBrk="1" hangingPunct="1">
              <a:buFont typeface="Wingdings" panose="05000000000000000000" pitchFamily="2" charset="2"/>
              <a:buChar char="Ø"/>
            </a:pPr>
            <a:endParaRPr lang="en-US" altLang="en-US" dirty="0">
              <a:ea typeface="MS PGothic" panose="020B0600070205080204" pitchFamily="34" charset="-128"/>
            </a:endParaRPr>
          </a:p>
          <a:p>
            <a:pPr lvl="1" eaLnBrk="1" hangingPunct="1">
              <a:buFont typeface="Wingdings" panose="05000000000000000000" pitchFamily="2" charset="2"/>
              <a:buChar char="Ø"/>
            </a:pPr>
            <a:endParaRPr lang="en-US" altLang="en-US" sz="1800" dirty="0">
              <a:ea typeface="MS PGothic" panose="020B0600070205080204" pitchFamily="34" charset="-128"/>
            </a:endParaRPr>
          </a:p>
        </p:txBody>
      </p:sp>
      <p:pic>
        <p:nvPicPr>
          <p:cNvPr id="6" name="Picture 7" descr="Laparoscopic oophorectomy. Ovary is placed in a plastic bag. The bag is inserted through the laparoscope and then opened, then the ovary is placed inside. It is extracted through the laparoscope, leaving the uterus and the cut end of the fallopian tube."/>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bwMode="auto">
          <a:xfrm>
            <a:off x="4648200" y="2261203"/>
            <a:ext cx="4038600" cy="320395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82086272"/>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p:cNvSpPr>
            <a:spLocks noGrp="1" noChangeArrowheads="1"/>
          </p:cNvSpPr>
          <p:nvPr>
            <p:ph type="title"/>
          </p:nvPr>
        </p:nvSpPr>
        <p:spPr>
          <a:xfrm>
            <a:off x="457200" y="274638"/>
            <a:ext cx="8229600" cy="1143000"/>
          </a:xfrm>
        </p:spPr>
        <p:txBody>
          <a:bodyPr/>
          <a:lstStyle/>
          <a:p>
            <a:pPr eaLnBrk="1" hangingPunct="1"/>
            <a:r>
              <a:rPr lang="en-US" altLang="en-US" dirty="0"/>
              <a:t>Clinical Tests &amp; Procedures</a:t>
            </a:r>
          </a:p>
        </p:txBody>
      </p:sp>
      <p:sp>
        <p:nvSpPr>
          <p:cNvPr id="93187" name="Rectangle 3"/>
          <p:cNvSpPr>
            <a:spLocks noGrp="1" noChangeArrowheads="1"/>
          </p:cNvSpPr>
          <p:nvPr>
            <p:ph sz="half" idx="1"/>
          </p:nvPr>
        </p:nvSpPr>
        <p:spPr>
          <a:xfrm>
            <a:off x="457200" y="1600200"/>
            <a:ext cx="3962400" cy="3047999"/>
          </a:xfrm>
        </p:spPr>
        <p:txBody>
          <a:bodyPr/>
          <a:lstStyle/>
          <a:p>
            <a:pPr eaLnBrk="1" hangingPunct="1">
              <a:buFont typeface="Wingdings 2" panose="05020102010507070707" pitchFamily="18" charset="2"/>
              <a:buNone/>
            </a:pPr>
            <a:r>
              <a:rPr lang="en-US" altLang="en-US" b="1" dirty="0">
                <a:solidFill>
                  <a:schemeClr val="tx2"/>
                </a:solidFill>
              </a:rPr>
              <a:t>Procedures</a:t>
            </a:r>
          </a:p>
          <a:p>
            <a:pPr eaLnBrk="1" hangingPunct="1"/>
            <a:r>
              <a:rPr lang="en-US" altLang="en-US" b="1" dirty="0"/>
              <a:t>Procedures during pregnancy</a:t>
            </a:r>
          </a:p>
          <a:p>
            <a:pPr lvl="1" eaLnBrk="1" hangingPunct="1">
              <a:buFont typeface="Wingdings" panose="05000000000000000000" pitchFamily="2" charset="2"/>
              <a:buChar char="Ø"/>
            </a:pPr>
            <a:r>
              <a:rPr lang="en-US" altLang="en-US" b="1" dirty="0">
                <a:ea typeface="MS PGothic" panose="020B0600070205080204" pitchFamily="34" charset="-128"/>
              </a:rPr>
              <a:t>Amniocentesis</a:t>
            </a:r>
          </a:p>
          <a:p>
            <a:pPr lvl="1" eaLnBrk="1" hangingPunct="1">
              <a:buFont typeface="Wingdings" panose="05000000000000000000" pitchFamily="2" charset="2"/>
              <a:buNone/>
            </a:pPr>
            <a:r>
              <a:rPr lang="en-US" altLang="en-US" dirty="0">
                <a:solidFill>
                  <a:srgbClr val="333399"/>
                </a:solidFill>
                <a:ea typeface="MS PGothic" panose="020B0600070205080204" pitchFamily="34" charset="-128"/>
              </a:rPr>
              <a:t>    </a:t>
            </a:r>
            <a:r>
              <a:rPr lang="en-US" altLang="en-US" dirty="0">
                <a:ea typeface="MS PGothic" panose="020B0600070205080204" pitchFamily="34" charset="-128"/>
              </a:rPr>
              <a:t>Needle placement guided by ultrasound images</a:t>
            </a:r>
            <a:r>
              <a:rPr lang="en-US" altLang="en-US" b="1" dirty="0">
                <a:ea typeface="MS PGothic" panose="020B0600070205080204" pitchFamily="34" charset="-128"/>
              </a:rPr>
              <a:t>  </a:t>
            </a:r>
            <a:endParaRPr lang="en-US" altLang="en-US" b="1" dirty="0">
              <a:solidFill>
                <a:srgbClr val="333399"/>
              </a:solidFill>
              <a:ea typeface="MS PGothic" panose="020B0600070205080204" pitchFamily="34" charset="-128"/>
            </a:endParaRPr>
          </a:p>
          <a:p>
            <a:pPr lvl="1" eaLnBrk="1" hangingPunct="1">
              <a:buFont typeface="Wingdings" panose="05000000000000000000" pitchFamily="2" charset="2"/>
              <a:buChar char="Ø"/>
            </a:pPr>
            <a:endParaRPr lang="en-US" altLang="en-US" sz="1800" dirty="0">
              <a:ea typeface="MS PGothic" panose="020B0600070205080204" pitchFamily="34" charset="-128"/>
            </a:endParaRPr>
          </a:p>
        </p:txBody>
      </p:sp>
      <p:pic>
        <p:nvPicPr>
          <p:cNvPr id="6" name="Picture 7" descr="Amniocentesis is a procedure where a long needle is placed through the pregnant woman’s abdominal wall into the amniotic cavity to withdraw amniotic fluid for analysis."/>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bwMode="auto">
          <a:xfrm>
            <a:off x="4114800" y="3047999"/>
            <a:ext cx="4572000" cy="32004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92764514"/>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Abbreviations (Slide 1 of 8)</a:t>
            </a:r>
          </a:p>
        </p:txBody>
      </p:sp>
      <p:graphicFrame>
        <p:nvGraphicFramePr>
          <p:cNvPr id="7" name="Content Placeholder 6" descr="Group 1 of 4 Abbreviations.  The following slide lists the abbreviaitons again with their corresponding meanings."/>
          <p:cNvGraphicFramePr>
            <a:graphicFrameLocks noGrp="1"/>
          </p:cNvGraphicFramePr>
          <p:nvPr>
            <p:ph idx="1"/>
            <p:extLst>
              <p:ext uri="{D42A27DB-BD31-4B8C-83A1-F6EECF244321}">
                <p14:modId xmlns:p14="http://schemas.microsoft.com/office/powerpoint/2010/main" val="1591803172"/>
              </p:ext>
            </p:extLst>
          </p:nvPr>
        </p:nvGraphicFramePr>
        <p:xfrm>
          <a:off x="3505200" y="1219200"/>
          <a:ext cx="2133600" cy="5151120"/>
        </p:xfrm>
        <a:graphic>
          <a:graphicData uri="http://schemas.openxmlformats.org/drawingml/2006/table">
            <a:tbl>
              <a:tblPr firstRow="1" bandRow="1">
                <a:tableStyleId>{C083E6E3-FA7D-4D7B-A595-EF9225AFEA82}</a:tableStyleId>
              </a:tblPr>
              <a:tblGrid>
                <a:gridCol w="2133600">
                  <a:extLst>
                    <a:ext uri="{9D8B030D-6E8A-4147-A177-3AD203B41FA5}">
                      <a16:colId xmlns:a16="http://schemas.microsoft.com/office/drawing/2014/main" val="20000"/>
                    </a:ext>
                  </a:extLst>
                </a:gridCol>
              </a:tblGrid>
              <a:tr h="370840">
                <a:tc>
                  <a:txBody>
                    <a:bodyPr/>
                    <a:lstStyle/>
                    <a:p>
                      <a:r>
                        <a:rPr lang="en-US" sz="2400" dirty="0"/>
                        <a:t>Abbreviation</a:t>
                      </a:r>
                    </a:p>
                  </a:txBody>
                  <a:tcPr/>
                </a:tc>
                <a:extLst>
                  <a:ext uri="{0D108BD9-81ED-4DB2-BD59-A6C34878D82A}">
                    <a16:rowId xmlns:a16="http://schemas.microsoft.com/office/drawing/2014/main" val="10000"/>
                  </a:ext>
                </a:extLst>
              </a:tr>
              <a:tr h="370840">
                <a:tc>
                  <a:txBody>
                    <a:bodyPr/>
                    <a:lstStyle/>
                    <a:p>
                      <a:r>
                        <a:rPr lang="en-US" sz="2200" dirty="0"/>
                        <a:t>AB</a:t>
                      </a:r>
                    </a:p>
                  </a:txBody>
                  <a:tcPr/>
                </a:tc>
                <a:extLst>
                  <a:ext uri="{0D108BD9-81ED-4DB2-BD59-A6C34878D82A}">
                    <a16:rowId xmlns:a16="http://schemas.microsoft.com/office/drawing/2014/main" val="10001"/>
                  </a:ext>
                </a:extLst>
              </a:tr>
              <a:tr h="370840">
                <a:tc>
                  <a:txBody>
                    <a:bodyPr/>
                    <a:lstStyle/>
                    <a:p>
                      <a:r>
                        <a:rPr lang="en-US" sz="2200" dirty="0"/>
                        <a:t>AFP</a:t>
                      </a:r>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200" dirty="0"/>
                        <a:t>BRCA1/BRCA2</a:t>
                      </a:r>
                      <a:endParaRPr lang="en-US" sz="2200" dirty="0">
                        <a:ea typeface="ＭＳ Ｐゴシック" charset="0"/>
                      </a:endParaRPr>
                    </a:p>
                  </a:txBody>
                  <a:tcPr/>
                </a:tc>
                <a:extLst>
                  <a:ext uri="{0D108BD9-81ED-4DB2-BD59-A6C34878D82A}">
                    <a16:rowId xmlns:a16="http://schemas.microsoft.com/office/drawing/2014/main" val="10003"/>
                  </a:ext>
                </a:extLst>
              </a:tr>
              <a:tr h="370840">
                <a:tc>
                  <a:txBody>
                    <a:bodyPr/>
                    <a:lstStyle/>
                    <a:p>
                      <a:r>
                        <a:rPr lang="en-US" sz="2200" dirty="0"/>
                        <a:t>BSE</a:t>
                      </a:r>
                    </a:p>
                  </a:txBody>
                  <a:tcPr/>
                </a:tc>
                <a:extLst>
                  <a:ext uri="{0D108BD9-81ED-4DB2-BD59-A6C34878D82A}">
                    <a16:rowId xmlns:a16="http://schemas.microsoft.com/office/drawing/2014/main" val="10004"/>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200" dirty="0"/>
                        <a:t>CA 125</a:t>
                      </a:r>
                      <a:endParaRPr lang="en-US" sz="2200" dirty="0">
                        <a:ea typeface="ＭＳ Ｐゴシック" charset="0"/>
                      </a:endParaRPr>
                    </a:p>
                  </a:txBody>
                  <a:tcPr/>
                </a:tc>
                <a:extLst>
                  <a:ext uri="{0D108BD9-81ED-4DB2-BD59-A6C34878D82A}">
                    <a16:rowId xmlns:a16="http://schemas.microsoft.com/office/drawing/2014/main" val="10005"/>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200" dirty="0"/>
                        <a:t>C-section, CS</a:t>
                      </a:r>
                      <a:endParaRPr lang="en-US" sz="2200" dirty="0">
                        <a:ea typeface="ＭＳ Ｐゴシック" charset="0"/>
                      </a:endParaRPr>
                    </a:p>
                  </a:txBody>
                  <a:tcPr/>
                </a:tc>
                <a:extLst>
                  <a:ext uri="{0D108BD9-81ED-4DB2-BD59-A6C34878D82A}">
                    <a16:rowId xmlns:a16="http://schemas.microsoft.com/office/drawing/2014/main" val="10006"/>
                  </a:ext>
                </a:extLst>
              </a:tr>
              <a:tr h="370840">
                <a:tc>
                  <a:txBody>
                    <a:bodyPr/>
                    <a:lstStyle/>
                    <a:p>
                      <a:r>
                        <a:rPr lang="en-US" sz="2200" dirty="0"/>
                        <a:t>CIN</a:t>
                      </a:r>
                    </a:p>
                  </a:txBody>
                  <a:tcPr/>
                </a:tc>
                <a:extLst>
                  <a:ext uri="{0D108BD9-81ED-4DB2-BD59-A6C34878D82A}">
                    <a16:rowId xmlns:a16="http://schemas.microsoft.com/office/drawing/2014/main" val="10007"/>
                  </a:ext>
                </a:extLst>
              </a:tr>
              <a:tr h="370840">
                <a:tc>
                  <a:txBody>
                    <a:bodyPr/>
                    <a:lstStyle/>
                    <a:p>
                      <a:r>
                        <a:rPr lang="en-US" sz="2200" dirty="0"/>
                        <a:t>CIS</a:t>
                      </a:r>
                    </a:p>
                  </a:txBody>
                  <a:tcPr/>
                </a:tc>
                <a:extLst>
                  <a:ext uri="{0D108BD9-81ED-4DB2-BD59-A6C34878D82A}">
                    <a16:rowId xmlns:a16="http://schemas.microsoft.com/office/drawing/2014/main" val="10008"/>
                  </a:ext>
                </a:extLst>
              </a:tr>
              <a:tr h="370840">
                <a:tc>
                  <a:txBody>
                    <a:bodyPr/>
                    <a:lstStyle/>
                    <a:p>
                      <a:r>
                        <a:rPr lang="en-US" sz="2200" dirty="0"/>
                        <a:t>CVS</a:t>
                      </a:r>
                    </a:p>
                  </a:txBody>
                  <a:tcPr/>
                </a:tc>
                <a:extLst>
                  <a:ext uri="{0D108BD9-81ED-4DB2-BD59-A6C34878D82A}">
                    <a16:rowId xmlns:a16="http://schemas.microsoft.com/office/drawing/2014/main" val="10009"/>
                  </a:ext>
                </a:extLst>
              </a:tr>
              <a:tr h="370840">
                <a:tc>
                  <a:txBody>
                    <a:bodyPr/>
                    <a:lstStyle/>
                    <a:p>
                      <a:r>
                        <a:rPr lang="en-US" sz="2200" dirty="0" err="1"/>
                        <a:t>Cx</a:t>
                      </a:r>
                      <a:endParaRPr lang="en-US" sz="2200" dirty="0"/>
                    </a:p>
                  </a:txBody>
                  <a:tcPr/>
                </a:tc>
                <a:extLst>
                  <a:ext uri="{0D108BD9-81ED-4DB2-BD59-A6C34878D82A}">
                    <a16:rowId xmlns:a16="http://schemas.microsoft.com/office/drawing/2014/main" val="1001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200" dirty="0"/>
                        <a:t>D &amp; C</a:t>
                      </a:r>
                      <a:endParaRPr lang="en-US" sz="2200" dirty="0">
                        <a:ea typeface="ＭＳ Ｐゴシック" charset="0"/>
                      </a:endParaRPr>
                    </a:p>
                  </a:txBody>
                  <a:tcPr/>
                </a:tc>
                <a:extLst>
                  <a:ext uri="{0D108BD9-81ED-4DB2-BD59-A6C34878D82A}">
                    <a16:rowId xmlns:a16="http://schemas.microsoft.com/office/drawing/2014/main" val="10011"/>
                  </a:ext>
                </a:extLst>
              </a:tr>
            </a:tbl>
          </a:graphicData>
        </a:graphic>
      </p:graphicFrame>
    </p:spTree>
    <p:extLst>
      <p:ext uri="{BB962C8B-B14F-4D97-AF65-F5344CB8AC3E}">
        <p14:creationId xmlns:p14="http://schemas.microsoft.com/office/powerpoint/2010/main" val="2731347225"/>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Abbreviations (Slide 2 of 8)</a:t>
            </a:r>
          </a:p>
        </p:txBody>
      </p:sp>
      <p:graphicFrame>
        <p:nvGraphicFramePr>
          <p:cNvPr id="7" name="Content Placeholder 6" descr="Group 1of 4 Abbreviations with corresponding meanings."/>
          <p:cNvGraphicFramePr>
            <a:graphicFrameLocks noGrp="1"/>
          </p:cNvGraphicFramePr>
          <p:nvPr>
            <p:ph idx="1"/>
            <p:extLst>
              <p:ext uri="{D42A27DB-BD31-4B8C-83A1-F6EECF244321}">
                <p14:modId xmlns:p14="http://schemas.microsoft.com/office/powerpoint/2010/main" val="2211099511"/>
              </p:ext>
            </p:extLst>
          </p:nvPr>
        </p:nvGraphicFramePr>
        <p:xfrm>
          <a:off x="457200" y="1219200"/>
          <a:ext cx="8229600" cy="5257800"/>
        </p:xfrm>
        <a:graphic>
          <a:graphicData uri="http://schemas.openxmlformats.org/drawingml/2006/table">
            <a:tbl>
              <a:tblPr firstRow="1" bandRow="1">
                <a:tableStyleId>{C083E6E3-FA7D-4D7B-A595-EF9225AFEA82}</a:tableStyleId>
              </a:tblPr>
              <a:tblGrid>
                <a:gridCol w="2133600">
                  <a:extLst>
                    <a:ext uri="{9D8B030D-6E8A-4147-A177-3AD203B41FA5}">
                      <a16:colId xmlns:a16="http://schemas.microsoft.com/office/drawing/2014/main" val="20000"/>
                    </a:ext>
                  </a:extLst>
                </a:gridCol>
                <a:gridCol w="6096000">
                  <a:extLst>
                    <a:ext uri="{9D8B030D-6E8A-4147-A177-3AD203B41FA5}">
                      <a16:colId xmlns:a16="http://schemas.microsoft.com/office/drawing/2014/main" val="20001"/>
                    </a:ext>
                  </a:extLst>
                </a:gridCol>
              </a:tblGrid>
              <a:tr h="370840">
                <a:tc>
                  <a:txBody>
                    <a:bodyPr/>
                    <a:lstStyle/>
                    <a:p>
                      <a:r>
                        <a:rPr lang="en-US" sz="2200" dirty="0"/>
                        <a:t>Abbreviation</a:t>
                      </a:r>
                    </a:p>
                  </a:txBody>
                  <a:tcPr/>
                </a:tc>
                <a:tc>
                  <a:txBody>
                    <a:bodyPr/>
                    <a:lstStyle/>
                    <a:p>
                      <a:r>
                        <a:rPr lang="en-US" sz="2200" dirty="0"/>
                        <a:t>Meaning</a:t>
                      </a:r>
                    </a:p>
                  </a:txBody>
                  <a:tcPr/>
                </a:tc>
                <a:extLst>
                  <a:ext uri="{0D108BD9-81ED-4DB2-BD59-A6C34878D82A}">
                    <a16:rowId xmlns:a16="http://schemas.microsoft.com/office/drawing/2014/main" val="10000"/>
                  </a:ext>
                </a:extLst>
              </a:tr>
              <a:tr h="370840">
                <a:tc>
                  <a:txBody>
                    <a:bodyPr/>
                    <a:lstStyle/>
                    <a:p>
                      <a:r>
                        <a:rPr lang="en-US" sz="1900" dirty="0"/>
                        <a:t>AB</a:t>
                      </a:r>
                    </a:p>
                  </a:txBody>
                  <a:tcPr/>
                </a:tc>
                <a:tc>
                  <a:txBody>
                    <a:bodyPr/>
                    <a:lstStyle/>
                    <a:p>
                      <a:r>
                        <a:rPr lang="en-US" sz="1900" dirty="0"/>
                        <a:t>Abortion</a:t>
                      </a:r>
                    </a:p>
                  </a:txBody>
                  <a:tcPr/>
                </a:tc>
                <a:extLst>
                  <a:ext uri="{0D108BD9-81ED-4DB2-BD59-A6C34878D82A}">
                    <a16:rowId xmlns:a16="http://schemas.microsoft.com/office/drawing/2014/main" val="10001"/>
                  </a:ext>
                </a:extLst>
              </a:tr>
              <a:tr h="370840">
                <a:tc>
                  <a:txBody>
                    <a:bodyPr/>
                    <a:lstStyle/>
                    <a:p>
                      <a:r>
                        <a:rPr lang="en-US" sz="1900" dirty="0"/>
                        <a:t>AFP</a:t>
                      </a:r>
                    </a:p>
                  </a:txBody>
                  <a:tcPr/>
                </a:tc>
                <a:tc>
                  <a:txBody>
                    <a:bodyPr/>
                    <a:lstStyle/>
                    <a:p>
                      <a:pPr eaLnBrk="1" fontAlgn="auto" hangingPunct="1">
                        <a:spcAft>
                          <a:spcPts val="0"/>
                        </a:spcAft>
                        <a:defRPr/>
                      </a:pPr>
                      <a:r>
                        <a:rPr lang="en-US" sz="1900" dirty="0"/>
                        <a:t>Alpha-fetoprotein-high levels in amniotic fluid of</a:t>
                      </a:r>
                      <a:r>
                        <a:rPr lang="en-US" sz="1900" baseline="0" dirty="0"/>
                        <a:t> </a:t>
                      </a:r>
                      <a:r>
                        <a:rPr lang="en-US" sz="1900" dirty="0"/>
                        <a:t>fetus or maternal serum</a:t>
                      </a:r>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900" dirty="0"/>
                        <a:t>BRCA1/BRCA2</a:t>
                      </a:r>
                      <a:endParaRPr lang="en-US" sz="1900" dirty="0">
                        <a:ea typeface="ＭＳ Ｐゴシック" charset="0"/>
                      </a:endParaRPr>
                    </a:p>
                  </a:txBody>
                  <a:tcPr/>
                </a:tc>
                <a:tc>
                  <a:txBody>
                    <a:bodyPr/>
                    <a:lstStyle/>
                    <a:p>
                      <a:r>
                        <a:rPr lang="en-US" sz="1900" dirty="0"/>
                        <a:t>Breast cancer 1 and 2 - genetic mutations associated with increased risk for breast cancer</a:t>
                      </a:r>
                    </a:p>
                  </a:txBody>
                  <a:tcPr/>
                </a:tc>
                <a:extLst>
                  <a:ext uri="{0D108BD9-81ED-4DB2-BD59-A6C34878D82A}">
                    <a16:rowId xmlns:a16="http://schemas.microsoft.com/office/drawing/2014/main" val="10003"/>
                  </a:ext>
                </a:extLst>
              </a:tr>
              <a:tr h="370840">
                <a:tc>
                  <a:txBody>
                    <a:bodyPr/>
                    <a:lstStyle/>
                    <a:p>
                      <a:r>
                        <a:rPr lang="en-US" sz="1900" dirty="0"/>
                        <a:t>BSE</a:t>
                      </a:r>
                    </a:p>
                  </a:txBody>
                  <a:tcPr/>
                </a:tc>
                <a:tc>
                  <a:txBody>
                    <a:bodyPr/>
                    <a:lstStyle/>
                    <a:p>
                      <a:r>
                        <a:rPr lang="en-US" sz="1900" dirty="0"/>
                        <a:t>Breast self-examination</a:t>
                      </a:r>
                    </a:p>
                  </a:txBody>
                  <a:tcPr/>
                </a:tc>
                <a:extLst>
                  <a:ext uri="{0D108BD9-81ED-4DB2-BD59-A6C34878D82A}">
                    <a16:rowId xmlns:a16="http://schemas.microsoft.com/office/drawing/2014/main" val="10004"/>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900" dirty="0"/>
                        <a:t>CA 125</a:t>
                      </a:r>
                      <a:endParaRPr lang="en-US" sz="1900" dirty="0">
                        <a:ea typeface="ＭＳ Ｐゴシック" charset="0"/>
                      </a:endParaRPr>
                    </a:p>
                  </a:txBody>
                  <a:tcPr/>
                </a:tc>
                <a:tc>
                  <a:txBody>
                    <a:bodyPr/>
                    <a:lstStyle/>
                    <a:p>
                      <a:r>
                        <a:rPr lang="en-US" sz="1900" dirty="0"/>
                        <a:t>Protein marker elevated in ovarian cancer</a:t>
                      </a:r>
                    </a:p>
                  </a:txBody>
                  <a:tcPr/>
                </a:tc>
                <a:extLst>
                  <a:ext uri="{0D108BD9-81ED-4DB2-BD59-A6C34878D82A}">
                    <a16:rowId xmlns:a16="http://schemas.microsoft.com/office/drawing/2014/main" val="10005"/>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900" dirty="0"/>
                        <a:t>C-section, CS</a:t>
                      </a:r>
                      <a:endParaRPr lang="en-US" sz="1900" dirty="0">
                        <a:ea typeface="ＭＳ Ｐゴシック" charset="0"/>
                      </a:endParaRPr>
                    </a:p>
                  </a:txBody>
                  <a:tcPr/>
                </a:tc>
                <a:tc>
                  <a:txBody>
                    <a:bodyPr/>
                    <a:lstStyle/>
                    <a:p>
                      <a:r>
                        <a:rPr lang="en-US" sz="1900" dirty="0"/>
                        <a:t>Cesarean section</a:t>
                      </a:r>
                    </a:p>
                  </a:txBody>
                  <a:tcPr/>
                </a:tc>
                <a:extLst>
                  <a:ext uri="{0D108BD9-81ED-4DB2-BD59-A6C34878D82A}">
                    <a16:rowId xmlns:a16="http://schemas.microsoft.com/office/drawing/2014/main" val="10006"/>
                  </a:ext>
                </a:extLst>
              </a:tr>
              <a:tr h="370840">
                <a:tc>
                  <a:txBody>
                    <a:bodyPr/>
                    <a:lstStyle/>
                    <a:p>
                      <a:r>
                        <a:rPr lang="en-US" sz="1900" dirty="0"/>
                        <a:t>CIN</a:t>
                      </a:r>
                    </a:p>
                  </a:txBody>
                  <a:tcPr/>
                </a:tc>
                <a:tc>
                  <a:txBody>
                    <a:bodyPr/>
                    <a:lstStyle/>
                    <a:p>
                      <a:r>
                        <a:rPr lang="en-US" sz="1900" dirty="0"/>
                        <a:t>Cervical intraepithelial </a:t>
                      </a:r>
                      <a:r>
                        <a:rPr lang="en-US" sz="1900" dirty="0" err="1"/>
                        <a:t>neoplasia</a:t>
                      </a:r>
                      <a:endParaRPr lang="en-US" sz="1900" dirty="0"/>
                    </a:p>
                  </a:txBody>
                  <a:tcPr/>
                </a:tc>
                <a:extLst>
                  <a:ext uri="{0D108BD9-81ED-4DB2-BD59-A6C34878D82A}">
                    <a16:rowId xmlns:a16="http://schemas.microsoft.com/office/drawing/2014/main" val="10007"/>
                  </a:ext>
                </a:extLst>
              </a:tr>
              <a:tr h="370840">
                <a:tc>
                  <a:txBody>
                    <a:bodyPr/>
                    <a:lstStyle/>
                    <a:p>
                      <a:r>
                        <a:rPr lang="en-US" sz="1900" dirty="0"/>
                        <a:t>CIS</a:t>
                      </a:r>
                    </a:p>
                  </a:txBody>
                  <a:tcPr/>
                </a:tc>
                <a:tc>
                  <a:txBody>
                    <a:bodyPr/>
                    <a:lstStyle/>
                    <a:p>
                      <a:r>
                        <a:rPr lang="en-US" sz="2000" dirty="0"/>
                        <a:t>Carcinoma in situ</a:t>
                      </a:r>
                      <a:endParaRPr lang="en-US" sz="1900" dirty="0"/>
                    </a:p>
                  </a:txBody>
                  <a:tcPr/>
                </a:tc>
                <a:extLst>
                  <a:ext uri="{0D108BD9-81ED-4DB2-BD59-A6C34878D82A}">
                    <a16:rowId xmlns:a16="http://schemas.microsoft.com/office/drawing/2014/main" val="10008"/>
                  </a:ext>
                </a:extLst>
              </a:tr>
              <a:tr h="370840">
                <a:tc>
                  <a:txBody>
                    <a:bodyPr/>
                    <a:lstStyle/>
                    <a:p>
                      <a:r>
                        <a:rPr lang="en-US" sz="1900" dirty="0"/>
                        <a:t>CVS</a:t>
                      </a:r>
                    </a:p>
                  </a:txBody>
                  <a:tcPr/>
                </a:tc>
                <a:tc>
                  <a:txBody>
                    <a:bodyPr/>
                    <a:lstStyle/>
                    <a:p>
                      <a:r>
                        <a:rPr lang="en-US" sz="2000" dirty="0"/>
                        <a:t>Chorionic villus sampling</a:t>
                      </a:r>
                      <a:endParaRPr lang="en-US" sz="1900" dirty="0"/>
                    </a:p>
                  </a:txBody>
                  <a:tcPr/>
                </a:tc>
                <a:extLst>
                  <a:ext uri="{0D108BD9-81ED-4DB2-BD59-A6C34878D82A}">
                    <a16:rowId xmlns:a16="http://schemas.microsoft.com/office/drawing/2014/main" val="10009"/>
                  </a:ext>
                </a:extLst>
              </a:tr>
              <a:tr h="370840">
                <a:tc>
                  <a:txBody>
                    <a:bodyPr/>
                    <a:lstStyle/>
                    <a:p>
                      <a:r>
                        <a:rPr lang="en-US" sz="1900" dirty="0" err="1"/>
                        <a:t>Cx</a:t>
                      </a:r>
                      <a:endParaRPr lang="en-US" sz="1900" dirty="0"/>
                    </a:p>
                  </a:txBody>
                  <a:tcPr/>
                </a:tc>
                <a:tc>
                  <a:txBody>
                    <a:bodyPr/>
                    <a:lstStyle/>
                    <a:p>
                      <a:r>
                        <a:rPr lang="en-US" sz="2000" dirty="0"/>
                        <a:t>Cervix</a:t>
                      </a:r>
                      <a:endParaRPr lang="en-US" sz="1900" dirty="0"/>
                    </a:p>
                  </a:txBody>
                  <a:tcPr/>
                </a:tc>
                <a:extLst>
                  <a:ext uri="{0D108BD9-81ED-4DB2-BD59-A6C34878D82A}">
                    <a16:rowId xmlns:a16="http://schemas.microsoft.com/office/drawing/2014/main" val="1001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900" dirty="0"/>
                        <a:t>D &amp; C</a:t>
                      </a:r>
                      <a:endParaRPr lang="en-US" sz="1900" dirty="0">
                        <a:ea typeface="ＭＳ Ｐゴシック" charset="0"/>
                      </a:endParaRPr>
                    </a:p>
                  </a:txBody>
                  <a:tcPr/>
                </a:tc>
                <a:tc>
                  <a:txBody>
                    <a:bodyPr/>
                    <a:lstStyle/>
                    <a:p>
                      <a:r>
                        <a:rPr lang="en-US" sz="2000" dirty="0"/>
                        <a:t>Dilation (dilation and curettage</a:t>
                      </a:r>
                      <a:endParaRPr lang="en-US" sz="1900" dirty="0"/>
                    </a:p>
                  </a:txBody>
                  <a:tcPr/>
                </a:tc>
                <a:extLst>
                  <a:ext uri="{0D108BD9-81ED-4DB2-BD59-A6C34878D82A}">
                    <a16:rowId xmlns:a16="http://schemas.microsoft.com/office/drawing/2014/main" val="10011"/>
                  </a:ext>
                </a:extLst>
              </a:tr>
            </a:tbl>
          </a:graphicData>
        </a:graphic>
      </p:graphicFrame>
    </p:spTree>
    <p:extLst>
      <p:ext uri="{BB962C8B-B14F-4D97-AF65-F5344CB8AC3E}">
        <p14:creationId xmlns:p14="http://schemas.microsoft.com/office/powerpoint/2010/main" val="1353056617"/>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Abbreviations (Slide 3 of 8)</a:t>
            </a:r>
          </a:p>
        </p:txBody>
      </p:sp>
      <p:graphicFrame>
        <p:nvGraphicFramePr>
          <p:cNvPr id="7" name="Content Placeholder 6" descr="Group 2 of 4 Abbreviations.  The following slide lists the abbreviaitons again with their corresponding meanings."/>
          <p:cNvGraphicFramePr>
            <a:graphicFrameLocks noGrp="1"/>
          </p:cNvGraphicFramePr>
          <p:nvPr>
            <p:ph idx="1"/>
            <p:extLst>
              <p:ext uri="{D42A27DB-BD31-4B8C-83A1-F6EECF244321}">
                <p14:modId xmlns:p14="http://schemas.microsoft.com/office/powerpoint/2010/main" val="2832921315"/>
              </p:ext>
            </p:extLst>
          </p:nvPr>
        </p:nvGraphicFramePr>
        <p:xfrm>
          <a:off x="3505200" y="1143000"/>
          <a:ext cx="2133600" cy="5247640"/>
        </p:xfrm>
        <a:graphic>
          <a:graphicData uri="http://schemas.openxmlformats.org/drawingml/2006/table">
            <a:tbl>
              <a:tblPr firstRow="1" bandRow="1">
                <a:tableStyleId>{C083E6E3-FA7D-4D7B-A595-EF9225AFEA82}</a:tableStyleId>
              </a:tblPr>
              <a:tblGrid>
                <a:gridCol w="2133600">
                  <a:extLst>
                    <a:ext uri="{9D8B030D-6E8A-4147-A177-3AD203B41FA5}">
                      <a16:colId xmlns:a16="http://schemas.microsoft.com/office/drawing/2014/main" val="20000"/>
                    </a:ext>
                  </a:extLst>
                </a:gridCol>
              </a:tblGrid>
              <a:tr h="370840">
                <a:tc>
                  <a:txBody>
                    <a:bodyPr/>
                    <a:lstStyle/>
                    <a:p>
                      <a:r>
                        <a:rPr lang="en-US" sz="2200" dirty="0"/>
                        <a:t>Abbreviation</a:t>
                      </a:r>
                    </a:p>
                  </a:txBody>
                  <a:tcPr/>
                </a:tc>
                <a:extLst>
                  <a:ext uri="{0D108BD9-81ED-4DB2-BD59-A6C34878D82A}">
                    <a16:rowId xmlns:a16="http://schemas.microsoft.com/office/drawing/2014/main" val="10000"/>
                  </a:ext>
                </a:extLst>
              </a:tr>
              <a:tr h="370840">
                <a:tc>
                  <a:txBody>
                    <a:bodyPr/>
                    <a:lstStyle/>
                    <a:p>
                      <a:r>
                        <a:rPr lang="en-US" altLang="en-US" sz="1800" dirty="0"/>
                        <a:t>DCIS</a:t>
                      </a:r>
                      <a:endParaRPr lang="en-US" sz="1800" dirty="0"/>
                    </a:p>
                  </a:txBody>
                  <a:tcPr/>
                </a:tc>
                <a:extLst>
                  <a:ext uri="{0D108BD9-81ED-4DB2-BD59-A6C34878D82A}">
                    <a16:rowId xmlns:a16="http://schemas.microsoft.com/office/drawing/2014/main" val="10001"/>
                  </a:ext>
                </a:extLst>
              </a:tr>
              <a:tr h="370840">
                <a:tc>
                  <a:txBody>
                    <a:bodyPr/>
                    <a:lstStyle/>
                    <a:p>
                      <a:r>
                        <a:rPr lang="en-US" altLang="en-US" sz="1800" dirty="0"/>
                        <a:t>DUB</a:t>
                      </a:r>
                      <a:endParaRPr lang="en-US" sz="1800" dirty="0"/>
                    </a:p>
                  </a:txBody>
                  <a:tcPr/>
                </a:tc>
                <a:extLst>
                  <a:ext uri="{0D108BD9-81ED-4DB2-BD59-A6C34878D82A}">
                    <a16:rowId xmlns:a16="http://schemas.microsoft.com/office/drawing/2014/main" val="10002"/>
                  </a:ext>
                </a:extLst>
              </a:tr>
              <a:tr h="370840">
                <a:tc>
                  <a:txBody>
                    <a:bodyPr/>
                    <a:lstStyle/>
                    <a:p>
                      <a:r>
                        <a:rPr lang="en-US" altLang="en-US" sz="1800" dirty="0"/>
                        <a:t>FHR</a:t>
                      </a:r>
                      <a:endParaRPr lang="en-US" sz="1800" dirty="0"/>
                    </a:p>
                  </a:txBody>
                  <a:tcPr/>
                </a:tc>
                <a:extLst>
                  <a:ext uri="{0D108BD9-81ED-4DB2-BD59-A6C34878D82A}">
                    <a16:rowId xmlns:a16="http://schemas.microsoft.com/office/drawing/2014/main" val="10003"/>
                  </a:ext>
                </a:extLst>
              </a:tr>
              <a:tr h="370840">
                <a:tc>
                  <a:txBody>
                    <a:bodyPr/>
                    <a:lstStyle/>
                    <a:p>
                      <a:r>
                        <a:rPr lang="en-US" altLang="en-US" sz="1800" dirty="0"/>
                        <a:t>FSH</a:t>
                      </a:r>
                      <a:endParaRPr lang="en-US" sz="1800" dirty="0"/>
                    </a:p>
                  </a:txBody>
                  <a:tcPr/>
                </a:tc>
                <a:extLst>
                  <a:ext uri="{0D108BD9-81ED-4DB2-BD59-A6C34878D82A}">
                    <a16:rowId xmlns:a16="http://schemas.microsoft.com/office/drawing/2014/main" val="10004"/>
                  </a:ext>
                </a:extLst>
              </a:tr>
              <a:tr h="370840">
                <a:tc>
                  <a:txBody>
                    <a:bodyPr/>
                    <a:lstStyle/>
                    <a:p>
                      <a:r>
                        <a:rPr lang="en-US" altLang="en-US" sz="1800" dirty="0"/>
                        <a:t>G</a:t>
                      </a:r>
                      <a:endParaRPr lang="en-US" sz="1800" dirty="0"/>
                    </a:p>
                  </a:txBody>
                  <a:tcPr/>
                </a:tc>
                <a:extLst>
                  <a:ext uri="{0D108BD9-81ED-4DB2-BD59-A6C34878D82A}">
                    <a16:rowId xmlns:a16="http://schemas.microsoft.com/office/drawing/2014/main" val="10005"/>
                  </a:ext>
                </a:extLst>
              </a:tr>
              <a:tr h="370840">
                <a:tc>
                  <a:txBody>
                    <a:bodyPr/>
                    <a:lstStyle/>
                    <a:p>
                      <a:r>
                        <a:rPr lang="en-US" altLang="en-US" sz="1800" dirty="0" err="1"/>
                        <a:t>GnRH</a:t>
                      </a:r>
                      <a:endParaRPr lang="en-US" sz="1800" dirty="0"/>
                    </a:p>
                  </a:txBody>
                  <a:tcPr/>
                </a:tc>
                <a:extLst>
                  <a:ext uri="{0D108BD9-81ED-4DB2-BD59-A6C34878D82A}">
                    <a16:rowId xmlns:a16="http://schemas.microsoft.com/office/drawing/2014/main" val="10006"/>
                  </a:ext>
                </a:extLst>
              </a:tr>
              <a:tr h="370840">
                <a:tc>
                  <a:txBody>
                    <a:bodyPr/>
                    <a:lstStyle/>
                    <a:p>
                      <a:r>
                        <a:rPr lang="en-US" altLang="en-US" sz="1800" dirty="0"/>
                        <a:t>GYN</a:t>
                      </a:r>
                      <a:endParaRPr lang="en-US" sz="1800" dirty="0"/>
                    </a:p>
                  </a:txBody>
                  <a:tcPr/>
                </a:tc>
                <a:extLst>
                  <a:ext uri="{0D108BD9-81ED-4DB2-BD59-A6C34878D82A}">
                    <a16:rowId xmlns:a16="http://schemas.microsoft.com/office/drawing/2014/main" val="10007"/>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1800" dirty="0" err="1"/>
                        <a:t>hCG</a:t>
                      </a:r>
                      <a:r>
                        <a:rPr lang="en-US" altLang="en-US" sz="1800" dirty="0"/>
                        <a:t> OR HCG</a:t>
                      </a:r>
                    </a:p>
                  </a:txBody>
                  <a:tcPr/>
                </a:tc>
                <a:extLst>
                  <a:ext uri="{0D108BD9-81ED-4DB2-BD59-A6C34878D82A}">
                    <a16:rowId xmlns:a16="http://schemas.microsoft.com/office/drawing/2014/main" val="10008"/>
                  </a:ext>
                </a:extLst>
              </a:tr>
              <a:tr h="370840">
                <a:tc>
                  <a:txBody>
                    <a:bodyPr/>
                    <a:lstStyle/>
                    <a:p>
                      <a:r>
                        <a:rPr lang="en-US" altLang="en-US" sz="1800" dirty="0"/>
                        <a:t>HDN</a:t>
                      </a:r>
                      <a:endParaRPr lang="en-US" sz="1800" dirty="0"/>
                    </a:p>
                  </a:txBody>
                  <a:tcPr/>
                </a:tc>
                <a:extLst>
                  <a:ext uri="{0D108BD9-81ED-4DB2-BD59-A6C34878D82A}">
                    <a16:rowId xmlns:a16="http://schemas.microsoft.com/office/drawing/2014/main" val="10009"/>
                  </a:ext>
                </a:extLst>
              </a:tr>
              <a:tr h="370840">
                <a:tc>
                  <a:txBody>
                    <a:bodyPr/>
                    <a:lstStyle/>
                    <a:p>
                      <a:r>
                        <a:rPr lang="en-US" altLang="en-US" sz="1800" dirty="0"/>
                        <a:t>HPV</a:t>
                      </a:r>
                      <a:endParaRPr lang="en-US" sz="1800" dirty="0"/>
                    </a:p>
                  </a:txBody>
                  <a:tcPr/>
                </a:tc>
                <a:extLst>
                  <a:ext uri="{0D108BD9-81ED-4DB2-BD59-A6C34878D82A}">
                    <a16:rowId xmlns:a16="http://schemas.microsoft.com/office/drawing/2014/main" val="10010"/>
                  </a:ext>
                </a:extLst>
              </a:tr>
              <a:tr h="370840">
                <a:tc>
                  <a:txBody>
                    <a:bodyPr/>
                    <a:lstStyle/>
                    <a:p>
                      <a:r>
                        <a:rPr lang="en-US" altLang="en-US" sz="1800" dirty="0"/>
                        <a:t>HRT</a:t>
                      </a:r>
                      <a:endParaRPr lang="en-US" sz="1800" dirty="0"/>
                    </a:p>
                  </a:txBody>
                  <a:tcPr/>
                </a:tc>
                <a:extLst>
                  <a:ext uri="{0D108BD9-81ED-4DB2-BD59-A6C34878D82A}">
                    <a16:rowId xmlns:a16="http://schemas.microsoft.com/office/drawing/2014/main" val="10011"/>
                  </a:ext>
                </a:extLst>
              </a:tr>
              <a:tr h="370840">
                <a:tc>
                  <a:txBody>
                    <a:bodyPr/>
                    <a:lstStyle/>
                    <a:p>
                      <a:r>
                        <a:rPr lang="en-US" altLang="en-US" sz="1800" dirty="0"/>
                        <a:t>HSG</a:t>
                      </a:r>
                      <a:endParaRPr lang="en-US" sz="1800" dirty="0"/>
                    </a:p>
                  </a:txBody>
                  <a:tcPr/>
                </a:tc>
                <a:extLst>
                  <a:ext uri="{0D108BD9-81ED-4DB2-BD59-A6C34878D82A}">
                    <a16:rowId xmlns:a16="http://schemas.microsoft.com/office/drawing/2014/main" val="10012"/>
                  </a:ext>
                </a:extLst>
              </a:tr>
              <a:tr h="370840">
                <a:tc>
                  <a:txBody>
                    <a:bodyPr/>
                    <a:lstStyle/>
                    <a:p>
                      <a:r>
                        <a:rPr lang="en-US" altLang="en-US" sz="1800" dirty="0"/>
                        <a:t>IUD</a:t>
                      </a:r>
                      <a:endParaRPr lang="en-US" sz="1800" dirty="0"/>
                    </a:p>
                  </a:txBody>
                  <a:tcPr/>
                </a:tc>
                <a:extLst>
                  <a:ext uri="{0D108BD9-81ED-4DB2-BD59-A6C34878D82A}">
                    <a16:rowId xmlns:a16="http://schemas.microsoft.com/office/drawing/2014/main" val="10013"/>
                  </a:ext>
                </a:extLst>
              </a:tr>
            </a:tbl>
          </a:graphicData>
        </a:graphic>
      </p:graphicFrame>
    </p:spTree>
    <p:extLst>
      <p:ext uri="{BB962C8B-B14F-4D97-AF65-F5344CB8AC3E}">
        <p14:creationId xmlns:p14="http://schemas.microsoft.com/office/powerpoint/2010/main" val="2505435045"/>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Abbreviations (Slide 4 of 8)</a:t>
            </a:r>
          </a:p>
        </p:txBody>
      </p:sp>
      <p:graphicFrame>
        <p:nvGraphicFramePr>
          <p:cNvPr id="7" name="Content Placeholder 6" descr="Group 2 of 4 Abbreviations with corresponding meanings."/>
          <p:cNvGraphicFramePr>
            <a:graphicFrameLocks noGrp="1"/>
          </p:cNvGraphicFramePr>
          <p:nvPr>
            <p:ph idx="1"/>
            <p:extLst>
              <p:ext uri="{D42A27DB-BD31-4B8C-83A1-F6EECF244321}">
                <p14:modId xmlns:p14="http://schemas.microsoft.com/office/powerpoint/2010/main" val="2123758520"/>
              </p:ext>
            </p:extLst>
          </p:nvPr>
        </p:nvGraphicFramePr>
        <p:xfrm>
          <a:off x="457200" y="1219200"/>
          <a:ext cx="8229600" cy="5247640"/>
        </p:xfrm>
        <a:graphic>
          <a:graphicData uri="http://schemas.openxmlformats.org/drawingml/2006/table">
            <a:tbl>
              <a:tblPr firstRow="1" bandRow="1">
                <a:tableStyleId>{C083E6E3-FA7D-4D7B-A595-EF9225AFEA82}</a:tableStyleId>
              </a:tblPr>
              <a:tblGrid>
                <a:gridCol w="2133600">
                  <a:extLst>
                    <a:ext uri="{9D8B030D-6E8A-4147-A177-3AD203B41FA5}">
                      <a16:colId xmlns:a16="http://schemas.microsoft.com/office/drawing/2014/main" val="20000"/>
                    </a:ext>
                  </a:extLst>
                </a:gridCol>
                <a:gridCol w="6096000">
                  <a:extLst>
                    <a:ext uri="{9D8B030D-6E8A-4147-A177-3AD203B41FA5}">
                      <a16:colId xmlns:a16="http://schemas.microsoft.com/office/drawing/2014/main" val="20001"/>
                    </a:ext>
                  </a:extLst>
                </a:gridCol>
              </a:tblGrid>
              <a:tr h="370840">
                <a:tc>
                  <a:txBody>
                    <a:bodyPr/>
                    <a:lstStyle/>
                    <a:p>
                      <a:r>
                        <a:rPr lang="en-US" sz="2200" dirty="0"/>
                        <a:t>Abbreviation</a:t>
                      </a:r>
                    </a:p>
                  </a:txBody>
                  <a:tcPr/>
                </a:tc>
                <a:tc>
                  <a:txBody>
                    <a:bodyPr/>
                    <a:lstStyle/>
                    <a:p>
                      <a:r>
                        <a:rPr lang="en-US" sz="2200" dirty="0"/>
                        <a:t>Meaning</a:t>
                      </a:r>
                    </a:p>
                  </a:txBody>
                  <a:tcPr/>
                </a:tc>
                <a:extLst>
                  <a:ext uri="{0D108BD9-81ED-4DB2-BD59-A6C34878D82A}">
                    <a16:rowId xmlns:a16="http://schemas.microsoft.com/office/drawing/2014/main" val="10000"/>
                  </a:ext>
                </a:extLst>
              </a:tr>
              <a:tr h="370840">
                <a:tc>
                  <a:txBody>
                    <a:bodyPr/>
                    <a:lstStyle/>
                    <a:p>
                      <a:r>
                        <a:rPr lang="en-US" altLang="en-US" sz="1800" dirty="0"/>
                        <a:t>DCIS</a:t>
                      </a:r>
                      <a:endParaRPr lang="en-US" sz="1800" dirty="0"/>
                    </a:p>
                  </a:txBody>
                  <a:tcPr/>
                </a:tc>
                <a:tc>
                  <a:txBody>
                    <a:bodyPr/>
                    <a:lstStyle/>
                    <a:p>
                      <a:r>
                        <a:rPr lang="en-US" altLang="en-US" sz="1800" dirty="0"/>
                        <a:t>Ductal carcinoma in situ</a:t>
                      </a:r>
                      <a:endParaRPr lang="en-US" sz="1800" dirty="0"/>
                    </a:p>
                  </a:txBody>
                  <a:tcPr/>
                </a:tc>
                <a:extLst>
                  <a:ext uri="{0D108BD9-81ED-4DB2-BD59-A6C34878D82A}">
                    <a16:rowId xmlns:a16="http://schemas.microsoft.com/office/drawing/2014/main" val="10001"/>
                  </a:ext>
                </a:extLst>
              </a:tr>
              <a:tr h="370840">
                <a:tc>
                  <a:txBody>
                    <a:bodyPr/>
                    <a:lstStyle/>
                    <a:p>
                      <a:r>
                        <a:rPr lang="en-US" altLang="en-US" sz="1800" dirty="0"/>
                        <a:t>DUB</a:t>
                      </a:r>
                      <a:endParaRPr lang="en-US" sz="1800" dirty="0"/>
                    </a:p>
                  </a:txBody>
                  <a:tcPr/>
                </a:tc>
                <a:tc>
                  <a:txBody>
                    <a:bodyPr/>
                    <a:lstStyle/>
                    <a:p>
                      <a:r>
                        <a:rPr lang="en-US" altLang="en-US" sz="1800" dirty="0"/>
                        <a:t>Dysfunctional uterine bleeding</a:t>
                      </a:r>
                      <a:endParaRPr lang="en-US" sz="1800" dirty="0"/>
                    </a:p>
                  </a:txBody>
                  <a:tcPr/>
                </a:tc>
                <a:extLst>
                  <a:ext uri="{0D108BD9-81ED-4DB2-BD59-A6C34878D82A}">
                    <a16:rowId xmlns:a16="http://schemas.microsoft.com/office/drawing/2014/main" val="10002"/>
                  </a:ext>
                </a:extLst>
              </a:tr>
              <a:tr h="370840">
                <a:tc>
                  <a:txBody>
                    <a:bodyPr/>
                    <a:lstStyle/>
                    <a:p>
                      <a:r>
                        <a:rPr lang="en-US" altLang="en-US" sz="1800" dirty="0"/>
                        <a:t>FHR</a:t>
                      </a:r>
                      <a:endParaRPr lang="en-US" sz="1800" dirty="0"/>
                    </a:p>
                  </a:txBody>
                  <a:tcPr/>
                </a:tc>
                <a:tc>
                  <a:txBody>
                    <a:bodyPr/>
                    <a:lstStyle/>
                    <a:p>
                      <a:r>
                        <a:rPr lang="en-US" altLang="en-US" sz="1800" dirty="0"/>
                        <a:t>Fetal heart rate</a:t>
                      </a:r>
                      <a:endParaRPr lang="en-US" sz="1800" dirty="0"/>
                    </a:p>
                  </a:txBody>
                  <a:tcPr/>
                </a:tc>
                <a:extLst>
                  <a:ext uri="{0D108BD9-81ED-4DB2-BD59-A6C34878D82A}">
                    <a16:rowId xmlns:a16="http://schemas.microsoft.com/office/drawing/2014/main" val="10003"/>
                  </a:ext>
                </a:extLst>
              </a:tr>
              <a:tr h="370840">
                <a:tc>
                  <a:txBody>
                    <a:bodyPr/>
                    <a:lstStyle/>
                    <a:p>
                      <a:r>
                        <a:rPr lang="en-US" altLang="en-US" sz="1800" dirty="0"/>
                        <a:t>FSH</a:t>
                      </a:r>
                      <a:endParaRPr lang="en-US" sz="1800" dirty="0"/>
                    </a:p>
                  </a:txBody>
                  <a:tcPr/>
                </a:tc>
                <a:tc>
                  <a:txBody>
                    <a:bodyPr/>
                    <a:lstStyle/>
                    <a:p>
                      <a:r>
                        <a:rPr lang="en-US" altLang="en-US" sz="1800" dirty="0"/>
                        <a:t>Follicle-stimulating hormone</a:t>
                      </a:r>
                      <a:endParaRPr lang="en-US" sz="1800" dirty="0"/>
                    </a:p>
                  </a:txBody>
                  <a:tcPr/>
                </a:tc>
                <a:extLst>
                  <a:ext uri="{0D108BD9-81ED-4DB2-BD59-A6C34878D82A}">
                    <a16:rowId xmlns:a16="http://schemas.microsoft.com/office/drawing/2014/main" val="10004"/>
                  </a:ext>
                </a:extLst>
              </a:tr>
              <a:tr h="370840">
                <a:tc>
                  <a:txBody>
                    <a:bodyPr/>
                    <a:lstStyle/>
                    <a:p>
                      <a:r>
                        <a:rPr lang="en-US" altLang="en-US" sz="1800" dirty="0"/>
                        <a:t>G</a:t>
                      </a:r>
                      <a:endParaRPr lang="en-US" sz="18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1800" dirty="0" err="1"/>
                        <a:t>Gravida</a:t>
                      </a:r>
                      <a:r>
                        <a:rPr lang="en-US" altLang="en-US" sz="1800" dirty="0"/>
                        <a:t> (pregnant)</a:t>
                      </a:r>
                      <a:endParaRPr lang="en-US" altLang="en-US" sz="2000" dirty="0"/>
                    </a:p>
                  </a:txBody>
                  <a:tcPr/>
                </a:tc>
                <a:extLst>
                  <a:ext uri="{0D108BD9-81ED-4DB2-BD59-A6C34878D82A}">
                    <a16:rowId xmlns:a16="http://schemas.microsoft.com/office/drawing/2014/main" val="10005"/>
                  </a:ext>
                </a:extLst>
              </a:tr>
              <a:tr h="370840">
                <a:tc>
                  <a:txBody>
                    <a:bodyPr/>
                    <a:lstStyle/>
                    <a:p>
                      <a:r>
                        <a:rPr lang="en-US" altLang="en-US" sz="1800" dirty="0" err="1"/>
                        <a:t>GnRH</a:t>
                      </a:r>
                      <a:endParaRPr lang="en-US" sz="18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1800" dirty="0"/>
                        <a:t>Gonadotropin-releasing hormone</a:t>
                      </a:r>
                      <a:endParaRPr lang="en-US" altLang="en-US" sz="2000" dirty="0"/>
                    </a:p>
                  </a:txBody>
                  <a:tcPr/>
                </a:tc>
                <a:extLst>
                  <a:ext uri="{0D108BD9-81ED-4DB2-BD59-A6C34878D82A}">
                    <a16:rowId xmlns:a16="http://schemas.microsoft.com/office/drawing/2014/main" val="10006"/>
                  </a:ext>
                </a:extLst>
              </a:tr>
              <a:tr h="370840">
                <a:tc>
                  <a:txBody>
                    <a:bodyPr/>
                    <a:lstStyle/>
                    <a:p>
                      <a:r>
                        <a:rPr lang="en-US" altLang="en-US" sz="1800" dirty="0"/>
                        <a:t>GYN</a:t>
                      </a:r>
                      <a:endParaRPr lang="en-US" sz="1800" dirty="0"/>
                    </a:p>
                  </a:txBody>
                  <a:tcPr/>
                </a:tc>
                <a:tc>
                  <a:txBody>
                    <a:bodyPr/>
                    <a:lstStyle/>
                    <a:p>
                      <a:r>
                        <a:rPr lang="en-US" altLang="en-US" sz="1800" dirty="0"/>
                        <a:t>Gynecology</a:t>
                      </a:r>
                      <a:endParaRPr lang="en-US" sz="1800" dirty="0"/>
                    </a:p>
                  </a:txBody>
                  <a:tcPr/>
                </a:tc>
                <a:extLst>
                  <a:ext uri="{0D108BD9-81ED-4DB2-BD59-A6C34878D82A}">
                    <a16:rowId xmlns:a16="http://schemas.microsoft.com/office/drawing/2014/main" val="10007"/>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1800" dirty="0" err="1"/>
                        <a:t>hCG</a:t>
                      </a:r>
                      <a:r>
                        <a:rPr lang="en-US" altLang="en-US" sz="1800" dirty="0"/>
                        <a:t> OR HCG</a:t>
                      </a:r>
                    </a:p>
                  </a:txBody>
                  <a:tcPr/>
                </a:tc>
                <a:tc>
                  <a:txBody>
                    <a:bodyPr/>
                    <a:lstStyle/>
                    <a:p>
                      <a:r>
                        <a:rPr lang="en-US" altLang="en-US" sz="1800" dirty="0"/>
                        <a:t>Human chorionic gonadotropin</a:t>
                      </a:r>
                      <a:endParaRPr lang="en-US" sz="1800" dirty="0"/>
                    </a:p>
                  </a:txBody>
                  <a:tcPr/>
                </a:tc>
                <a:extLst>
                  <a:ext uri="{0D108BD9-81ED-4DB2-BD59-A6C34878D82A}">
                    <a16:rowId xmlns:a16="http://schemas.microsoft.com/office/drawing/2014/main" val="10008"/>
                  </a:ext>
                </a:extLst>
              </a:tr>
              <a:tr h="370840">
                <a:tc>
                  <a:txBody>
                    <a:bodyPr/>
                    <a:lstStyle/>
                    <a:p>
                      <a:r>
                        <a:rPr lang="en-US" altLang="en-US" sz="1800" dirty="0"/>
                        <a:t>HDN</a:t>
                      </a:r>
                      <a:endParaRPr lang="en-US" sz="1800" dirty="0"/>
                    </a:p>
                  </a:txBody>
                  <a:tcPr/>
                </a:tc>
                <a:tc>
                  <a:txBody>
                    <a:bodyPr/>
                    <a:lstStyle/>
                    <a:p>
                      <a:r>
                        <a:rPr lang="en-US" altLang="en-US" sz="1800" dirty="0"/>
                        <a:t>Hemolytic disease of the newborn</a:t>
                      </a:r>
                      <a:endParaRPr lang="en-US" sz="1800" dirty="0"/>
                    </a:p>
                  </a:txBody>
                  <a:tcPr/>
                </a:tc>
                <a:extLst>
                  <a:ext uri="{0D108BD9-81ED-4DB2-BD59-A6C34878D82A}">
                    <a16:rowId xmlns:a16="http://schemas.microsoft.com/office/drawing/2014/main" val="10009"/>
                  </a:ext>
                </a:extLst>
              </a:tr>
              <a:tr h="370840">
                <a:tc>
                  <a:txBody>
                    <a:bodyPr/>
                    <a:lstStyle/>
                    <a:p>
                      <a:r>
                        <a:rPr lang="en-US" altLang="en-US" sz="1800" dirty="0"/>
                        <a:t>HPV</a:t>
                      </a:r>
                      <a:endParaRPr lang="en-US" sz="1800" dirty="0"/>
                    </a:p>
                  </a:txBody>
                  <a:tcPr/>
                </a:tc>
                <a:tc>
                  <a:txBody>
                    <a:bodyPr/>
                    <a:lstStyle/>
                    <a:p>
                      <a:r>
                        <a:rPr lang="en-US" altLang="en-US" sz="1800" dirty="0"/>
                        <a:t>Human papillomavirus</a:t>
                      </a:r>
                      <a:endParaRPr lang="en-US" sz="1800" dirty="0"/>
                    </a:p>
                  </a:txBody>
                  <a:tcPr/>
                </a:tc>
                <a:extLst>
                  <a:ext uri="{0D108BD9-81ED-4DB2-BD59-A6C34878D82A}">
                    <a16:rowId xmlns:a16="http://schemas.microsoft.com/office/drawing/2014/main" val="10010"/>
                  </a:ext>
                </a:extLst>
              </a:tr>
              <a:tr h="370840">
                <a:tc>
                  <a:txBody>
                    <a:bodyPr/>
                    <a:lstStyle/>
                    <a:p>
                      <a:r>
                        <a:rPr lang="en-US" altLang="en-US" sz="1800" dirty="0"/>
                        <a:t>HRT</a:t>
                      </a:r>
                      <a:endParaRPr lang="en-US" sz="1800" dirty="0"/>
                    </a:p>
                  </a:txBody>
                  <a:tcPr/>
                </a:tc>
                <a:tc>
                  <a:txBody>
                    <a:bodyPr/>
                    <a:lstStyle/>
                    <a:p>
                      <a:r>
                        <a:rPr lang="en-US" altLang="en-US" sz="1800" dirty="0"/>
                        <a:t>Hormone replacement therapy</a:t>
                      </a:r>
                      <a:endParaRPr lang="en-US" sz="1800" dirty="0"/>
                    </a:p>
                  </a:txBody>
                  <a:tcPr/>
                </a:tc>
                <a:extLst>
                  <a:ext uri="{0D108BD9-81ED-4DB2-BD59-A6C34878D82A}">
                    <a16:rowId xmlns:a16="http://schemas.microsoft.com/office/drawing/2014/main" val="10011"/>
                  </a:ext>
                </a:extLst>
              </a:tr>
              <a:tr h="370840">
                <a:tc>
                  <a:txBody>
                    <a:bodyPr/>
                    <a:lstStyle/>
                    <a:p>
                      <a:r>
                        <a:rPr lang="en-US" altLang="en-US" sz="1800" dirty="0"/>
                        <a:t>HSG</a:t>
                      </a:r>
                      <a:endParaRPr lang="en-US" sz="1800" dirty="0"/>
                    </a:p>
                  </a:txBody>
                  <a:tcPr/>
                </a:tc>
                <a:tc>
                  <a:txBody>
                    <a:bodyPr/>
                    <a:lstStyle/>
                    <a:p>
                      <a:r>
                        <a:rPr lang="en-US" altLang="en-US" sz="1800" dirty="0" err="1"/>
                        <a:t>Hysterosalpingography</a:t>
                      </a:r>
                      <a:endParaRPr lang="en-US" sz="1800" dirty="0"/>
                    </a:p>
                  </a:txBody>
                  <a:tcPr/>
                </a:tc>
                <a:extLst>
                  <a:ext uri="{0D108BD9-81ED-4DB2-BD59-A6C34878D82A}">
                    <a16:rowId xmlns:a16="http://schemas.microsoft.com/office/drawing/2014/main" val="10012"/>
                  </a:ext>
                </a:extLst>
              </a:tr>
              <a:tr h="370840">
                <a:tc>
                  <a:txBody>
                    <a:bodyPr/>
                    <a:lstStyle/>
                    <a:p>
                      <a:r>
                        <a:rPr lang="en-US" altLang="en-US" sz="1800" dirty="0"/>
                        <a:t>IUD</a:t>
                      </a:r>
                      <a:endParaRPr lang="en-US" sz="1800" dirty="0"/>
                    </a:p>
                  </a:txBody>
                  <a:tcPr/>
                </a:tc>
                <a:tc>
                  <a:txBody>
                    <a:bodyPr/>
                    <a:lstStyle/>
                    <a:p>
                      <a:r>
                        <a:rPr lang="en-US" altLang="en-US" sz="1800" dirty="0"/>
                        <a:t>Intrauterine device; contraceptive</a:t>
                      </a:r>
                      <a:endParaRPr lang="en-US" sz="1800" dirty="0"/>
                    </a:p>
                  </a:txBody>
                  <a:tcPr/>
                </a:tc>
                <a:extLst>
                  <a:ext uri="{0D108BD9-81ED-4DB2-BD59-A6C34878D82A}">
                    <a16:rowId xmlns:a16="http://schemas.microsoft.com/office/drawing/2014/main" val="10013"/>
                  </a:ext>
                </a:extLst>
              </a:tr>
            </a:tbl>
          </a:graphicData>
        </a:graphic>
      </p:graphicFrame>
    </p:spTree>
    <p:extLst>
      <p:ext uri="{BB962C8B-B14F-4D97-AF65-F5344CB8AC3E}">
        <p14:creationId xmlns:p14="http://schemas.microsoft.com/office/powerpoint/2010/main" val="612972396"/>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Abbreviations (Slide 5 of 8)</a:t>
            </a:r>
          </a:p>
        </p:txBody>
      </p:sp>
      <p:graphicFrame>
        <p:nvGraphicFramePr>
          <p:cNvPr id="7" name="Content Placeholder 6" descr="Group 3 of 4 Abbreviations.  The following slide lists the abbreviaitons again with their corresponding meanings."/>
          <p:cNvGraphicFramePr>
            <a:graphicFrameLocks noGrp="1"/>
          </p:cNvGraphicFramePr>
          <p:nvPr>
            <p:ph idx="1"/>
            <p:extLst>
              <p:ext uri="{D42A27DB-BD31-4B8C-83A1-F6EECF244321}">
                <p14:modId xmlns:p14="http://schemas.microsoft.com/office/powerpoint/2010/main" val="958142962"/>
              </p:ext>
            </p:extLst>
          </p:nvPr>
        </p:nvGraphicFramePr>
        <p:xfrm>
          <a:off x="3505200" y="1417638"/>
          <a:ext cx="2133600" cy="5029200"/>
        </p:xfrm>
        <a:graphic>
          <a:graphicData uri="http://schemas.openxmlformats.org/drawingml/2006/table">
            <a:tbl>
              <a:tblPr firstRow="1" bandRow="1">
                <a:tableStyleId>{C083E6E3-FA7D-4D7B-A595-EF9225AFEA82}</a:tableStyleId>
              </a:tblPr>
              <a:tblGrid>
                <a:gridCol w="2133600">
                  <a:extLst>
                    <a:ext uri="{9D8B030D-6E8A-4147-A177-3AD203B41FA5}">
                      <a16:colId xmlns:a16="http://schemas.microsoft.com/office/drawing/2014/main" val="20000"/>
                    </a:ext>
                  </a:extLst>
                </a:gridCol>
              </a:tblGrid>
              <a:tr h="370840">
                <a:tc>
                  <a:txBody>
                    <a:bodyPr/>
                    <a:lstStyle/>
                    <a:p>
                      <a:r>
                        <a:rPr lang="en-US" sz="2400" dirty="0"/>
                        <a:t>Abbreviation</a:t>
                      </a:r>
                    </a:p>
                  </a:txBody>
                  <a:tcPr/>
                </a:tc>
                <a:extLst>
                  <a:ext uri="{0D108BD9-81ED-4DB2-BD59-A6C34878D82A}">
                    <a16:rowId xmlns:a16="http://schemas.microsoft.com/office/drawing/2014/main" val="10000"/>
                  </a:ext>
                </a:extLst>
              </a:tr>
              <a:tr h="370840">
                <a:tc>
                  <a:txBody>
                    <a:bodyPr/>
                    <a:lstStyle/>
                    <a:p>
                      <a:r>
                        <a:rPr lang="en-US" sz="2400" dirty="0"/>
                        <a:t>IVF</a:t>
                      </a:r>
                    </a:p>
                  </a:txBody>
                  <a:tcPr/>
                </a:tc>
                <a:extLst>
                  <a:ext uri="{0D108BD9-81ED-4DB2-BD59-A6C34878D82A}">
                    <a16:rowId xmlns:a16="http://schemas.microsoft.com/office/drawing/2014/main" val="10001"/>
                  </a:ext>
                </a:extLst>
              </a:tr>
              <a:tr h="370840">
                <a:tc>
                  <a:txBody>
                    <a:bodyPr/>
                    <a:lstStyle/>
                    <a:p>
                      <a:r>
                        <a:rPr lang="en-US" sz="2400" dirty="0"/>
                        <a:t>LEEP</a:t>
                      </a:r>
                    </a:p>
                  </a:txBody>
                  <a:tcPr/>
                </a:tc>
                <a:extLst>
                  <a:ext uri="{0D108BD9-81ED-4DB2-BD59-A6C34878D82A}">
                    <a16:rowId xmlns:a16="http://schemas.microsoft.com/office/drawing/2014/main" val="10002"/>
                  </a:ext>
                </a:extLst>
              </a:tr>
              <a:tr h="370840">
                <a:tc>
                  <a:txBody>
                    <a:bodyPr/>
                    <a:lstStyle/>
                    <a:p>
                      <a:r>
                        <a:rPr lang="en-US" sz="2400" dirty="0"/>
                        <a:t>LH</a:t>
                      </a:r>
                    </a:p>
                  </a:txBody>
                  <a:tcPr/>
                </a:tc>
                <a:extLst>
                  <a:ext uri="{0D108BD9-81ED-4DB2-BD59-A6C34878D82A}">
                    <a16:rowId xmlns:a16="http://schemas.microsoft.com/office/drawing/2014/main" val="10003"/>
                  </a:ext>
                </a:extLst>
              </a:tr>
              <a:tr h="370840">
                <a:tc>
                  <a:txBody>
                    <a:bodyPr/>
                    <a:lstStyle/>
                    <a:p>
                      <a:r>
                        <a:rPr lang="en-US" sz="2400" dirty="0"/>
                        <a:t>LMP</a:t>
                      </a:r>
                    </a:p>
                  </a:txBody>
                  <a:tcPr/>
                </a:tc>
                <a:extLst>
                  <a:ext uri="{0D108BD9-81ED-4DB2-BD59-A6C34878D82A}">
                    <a16:rowId xmlns:a16="http://schemas.microsoft.com/office/drawing/2014/main" val="10004"/>
                  </a:ext>
                </a:extLst>
              </a:tr>
              <a:tr h="370840">
                <a:tc>
                  <a:txBody>
                    <a:bodyPr/>
                    <a:lstStyle/>
                    <a:p>
                      <a:r>
                        <a:rPr lang="en-US" sz="2400" dirty="0" err="1"/>
                        <a:t>multip</a:t>
                      </a:r>
                      <a:endParaRPr lang="en-US" sz="2400" dirty="0"/>
                    </a:p>
                  </a:txBody>
                  <a:tcPr/>
                </a:tc>
                <a:extLst>
                  <a:ext uri="{0D108BD9-81ED-4DB2-BD59-A6C34878D82A}">
                    <a16:rowId xmlns:a16="http://schemas.microsoft.com/office/drawing/2014/main" val="10005"/>
                  </a:ext>
                </a:extLst>
              </a:tr>
              <a:tr h="370840">
                <a:tc>
                  <a:txBody>
                    <a:bodyPr/>
                    <a:lstStyle/>
                    <a:p>
                      <a:r>
                        <a:rPr lang="en-US" sz="2400" dirty="0"/>
                        <a:t>OB</a:t>
                      </a:r>
                    </a:p>
                  </a:txBody>
                  <a:tcPr/>
                </a:tc>
                <a:extLst>
                  <a:ext uri="{0D108BD9-81ED-4DB2-BD59-A6C34878D82A}">
                    <a16:rowId xmlns:a16="http://schemas.microsoft.com/office/drawing/2014/main" val="10006"/>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dirty="0" err="1"/>
                        <a:t>para</a:t>
                      </a:r>
                      <a:r>
                        <a:rPr lang="en-US" sz="2400" dirty="0"/>
                        <a:t> 2-0-1-2</a:t>
                      </a:r>
                      <a:endParaRPr lang="en-US" sz="2400" dirty="0">
                        <a:ea typeface="ＭＳ Ｐゴシック" charset="0"/>
                      </a:endParaRPr>
                    </a:p>
                  </a:txBody>
                  <a:tcPr/>
                </a:tc>
                <a:extLst>
                  <a:ext uri="{0D108BD9-81ED-4DB2-BD59-A6C34878D82A}">
                    <a16:rowId xmlns:a16="http://schemas.microsoft.com/office/drawing/2014/main" val="10007"/>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dirty="0"/>
                        <a:t>Pap test</a:t>
                      </a:r>
                      <a:endParaRPr lang="en-US" sz="2400" dirty="0">
                        <a:ea typeface="ＭＳ Ｐゴシック" charset="0"/>
                      </a:endParaRPr>
                    </a:p>
                  </a:txBody>
                  <a:tcPr/>
                </a:tc>
                <a:extLst>
                  <a:ext uri="{0D108BD9-81ED-4DB2-BD59-A6C34878D82A}">
                    <a16:rowId xmlns:a16="http://schemas.microsoft.com/office/drawing/2014/main" val="10008"/>
                  </a:ext>
                </a:extLst>
              </a:tr>
              <a:tr h="370840">
                <a:tc>
                  <a:txBody>
                    <a:bodyPr/>
                    <a:lstStyle/>
                    <a:p>
                      <a:r>
                        <a:rPr lang="en-US" sz="2400" dirty="0"/>
                        <a:t>PID</a:t>
                      </a:r>
                    </a:p>
                  </a:txBody>
                  <a:tcPr/>
                </a:tc>
                <a:extLst>
                  <a:ext uri="{0D108BD9-81ED-4DB2-BD59-A6C34878D82A}">
                    <a16:rowId xmlns:a16="http://schemas.microsoft.com/office/drawing/2014/main" val="10009"/>
                  </a:ext>
                </a:extLst>
              </a:tr>
              <a:tr h="370840">
                <a:tc>
                  <a:txBody>
                    <a:bodyPr/>
                    <a:lstStyle/>
                    <a:p>
                      <a:r>
                        <a:rPr lang="en-US" sz="2400" dirty="0"/>
                        <a:t>PMS</a:t>
                      </a:r>
                    </a:p>
                  </a:txBody>
                  <a:tcPr/>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3628893553"/>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Abbreviations (Slide 6 of 8)</a:t>
            </a:r>
          </a:p>
        </p:txBody>
      </p:sp>
      <p:graphicFrame>
        <p:nvGraphicFramePr>
          <p:cNvPr id="7" name="Content Placeholder 6" descr="Group 3 of 4 Abbreviations with corresponding meanings."/>
          <p:cNvGraphicFramePr>
            <a:graphicFrameLocks noGrp="1"/>
          </p:cNvGraphicFramePr>
          <p:nvPr>
            <p:ph idx="1"/>
            <p:extLst>
              <p:ext uri="{D42A27DB-BD31-4B8C-83A1-F6EECF244321}">
                <p14:modId xmlns:p14="http://schemas.microsoft.com/office/powerpoint/2010/main" val="595716470"/>
              </p:ext>
            </p:extLst>
          </p:nvPr>
        </p:nvGraphicFramePr>
        <p:xfrm>
          <a:off x="457200" y="1371600"/>
          <a:ext cx="8229600" cy="5059680"/>
        </p:xfrm>
        <a:graphic>
          <a:graphicData uri="http://schemas.openxmlformats.org/drawingml/2006/table">
            <a:tbl>
              <a:tblPr firstRow="1" bandRow="1">
                <a:tableStyleId>{C083E6E3-FA7D-4D7B-A595-EF9225AFEA82}</a:tableStyleId>
              </a:tblPr>
              <a:tblGrid>
                <a:gridCol w="2133600">
                  <a:extLst>
                    <a:ext uri="{9D8B030D-6E8A-4147-A177-3AD203B41FA5}">
                      <a16:colId xmlns:a16="http://schemas.microsoft.com/office/drawing/2014/main" val="20000"/>
                    </a:ext>
                  </a:extLst>
                </a:gridCol>
                <a:gridCol w="6096000">
                  <a:extLst>
                    <a:ext uri="{9D8B030D-6E8A-4147-A177-3AD203B41FA5}">
                      <a16:colId xmlns:a16="http://schemas.microsoft.com/office/drawing/2014/main" val="20001"/>
                    </a:ext>
                  </a:extLst>
                </a:gridCol>
              </a:tblGrid>
              <a:tr h="370840">
                <a:tc>
                  <a:txBody>
                    <a:bodyPr/>
                    <a:lstStyle/>
                    <a:p>
                      <a:r>
                        <a:rPr lang="en-US" sz="2400" dirty="0"/>
                        <a:t>Abbreviation</a:t>
                      </a:r>
                    </a:p>
                  </a:txBody>
                  <a:tcPr/>
                </a:tc>
                <a:tc>
                  <a:txBody>
                    <a:bodyPr/>
                    <a:lstStyle/>
                    <a:p>
                      <a:r>
                        <a:rPr lang="en-US" sz="2400" dirty="0"/>
                        <a:t>Meaning</a:t>
                      </a:r>
                    </a:p>
                  </a:txBody>
                  <a:tcPr/>
                </a:tc>
                <a:extLst>
                  <a:ext uri="{0D108BD9-81ED-4DB2-BD59-A6C34878D82A}">
                    <a16:rowId xmlns:a16="http://schemas.microsoft.com/office/drawing/2014/main" val="10000"/>
                  </a:ext>
                </a:extLst>
              </a:tr>
              <a:tr h="370840">
                <a:tc>
                  <a:txBody>
                    <a:bodyPr/>
                    <a:lstStyle/>
                    <a:p>
                      <a:r>
                        <a:rPr lang="en-US" sz="2200" dirty="0"/>
                        <a:t>IVF</a:t>
                      </a:r>
                    </a:p>
                  </a:txBody>
                  <a:tcPr/>
                </a:tc>
                <a:tc>
                  <a:txBody>
                    <a:bodyPr/>
                    <a:lstStyle/>
                    <a:p>
                      <a:r>
                        <a:rPr lang="en-US" sz="2200" dirty="0"/>
                        <a:t>In vitro fertilization</a:t>
                      </a:r>
                    </a:p>
                  </a:txBody>
                  <a:tcPr/>
                </a:tc>
                <a:extLst>
                  <a:ext uri="{0D108BD9-81ED-4DB2-BD59-A6C34878D82A}">
                    <a16:rowId xmlns:a16="http://schemas.microsoft.com/office/drawing/2014/main" val="10001"/>
                  </a:ext>
                </a:extLst>
              </a:tr>
              <a:tr h="370840">
                <a:tc>
                  <a:txBody>
                    <a:bodyPr/>
                    <a:lstStyle/>
                    <a:p>
                      <a:r>
                        <a:rPr lang="en-US" sz="2200" dirty="0"/>
                        <a:t>LEEP</a:t>
                      </a:r>
                    </a:p>
                  </a:txBody>
                  <a:tcPr/>
                </a:tc>
                <a:tc>
                  <a:txBody>
                    <a:bodyPr/>
                    <a:lstStyle/>
                    <a:p>
                      <a:r>
                        <a:rPr lang="en-US" sz="2200" dirty="0"/>
                        <a:t>Loop </a:t>
                      </a:r>
                      <a:r>
                        <a:rPr lang="en-US" sz="2200" dirty="0" err="1"/>
                        <a:t>electrocautery</a:t>
                      </a:r>
                      <a:r>
                        <a:rPr lang="en-US" sz="2200" dirty="0"/>
                        <a:t> excision procedure</a:t>
                      </a:r>
                    </a:p>
                  </a:txBody>
                  <a:tcPr/>
                </a:tc>
                <a:extLst>
                  <a:ext uri="{0D108BD9-81ED-4DB2-BD59-A6C34878D82A}">
                    <a16:rowId xmlns:a16="http://schemas.microsoft.com/office/drawing/2014/main" val="10002"/>
                  </a:ext>
                </a:extLst>
              </a:tr>
              <a:tr h="370840">
                <a:tc>
                  <a:txBody>
                    <a:bodyPr/>
                    <a:lstStyle/>
                    <a:p>
                      <a:r>
                        <a:rPr lang="en-US" sz="2200" dirty="0"/>
                        <a:t>LH</a:t>
                      </a:r>
                    </a:p>
                  </a:txBody>
                  <a:tcPr/>
                </a:tc>
                <a:tc>
                  <a:txBody>
                    <a:bodyPr/>
                    <a:lstStyle/>
                    <a:p>
                      <a:r>
                        <a:rPr lang="en-US" sz="2200" dirty="0"/>
                        <a:t>Luteinizing hormone</a:t>
                      </a:r>
                    </a:p>
                  </a:txBody>
                  <a:tcPr/>
                </a:tc>
                <a:extLst>
                  <a:ext uri="{0D108BD9-81ED-4DB2-BD59-A6C34878D82A}">
                    <a16:rowId xmlns:a16="http://schemas.microsoft.com/office/drawing/2014/main" val="10003"/>
                  </a:ext>
                </a:extLst>
              </a:tr>
              <a:tr h="370840">
                <a:tc>
                  <a:txBody>
                    <a:bodyPr/>
                    <a:lstStyle/>
                    <a:p>
                      <a:r>
                        <a:rPr lang="en-US" sz="2200" dirty="0"/>
                        <a:t>LMP</a:t>
                      </a:r>
                    </a:p>
                  </a:txBody>
                  <a:tcPr/>
                </a:tc>
                <a:tc>
                  <a:txBody>
                    <a:bodyPr/>
                    <a:lstStyle/>
                    <a:p>
                      <a:r>
                        <a:rPr lang="en-US" sz="2200" dirty="0"/>
                        <a:t>Last menstrual period</a:t>
                      </a:r>
                    </a:p>
                  </a:txBody>
                  <a:tcPr/>
                </a:tc>
                <a:extLst>
                  <a:ext uri="{0D108BD9-81ED-4DB2-BD59-A6C34878D82A}">
                    <a16:rowId xmlns:a16="http://schemas.microsoft.com/office/drawing/2014/main" val="10004"/>
                  </a:ext>
                </a:extLst>
              </a:tr>
              <a:tr h="370840">
                <a:tc>
                  <a:txBody>
                    <a:bodyPr/>
                    <a:lstStyle/>
                    <a:p>
                      <a:r>
                        <a:rPr lang="en-US" sz="2200" dirty="0" err="1"/>
                        <a:t>multip</a:t>
                      </a:r>
                      <a:endParaRPr lang="en-US" sz="2200" dirty="0"/>
                    </a:p>
                  </a:txBody>
                  <a:tcPr/>
                </a:tc>
                <a:tc>
                  <a:txBody>
                    <a:bodyPr/>
                    <a:lstStyle/>
                    <a:p>
                      <a:r>
                        <a:rPr lang="en-US" sz="2200" dirty="0"/>
                        <a:t>Multipara; multiparous</a:t>
                      </a:r>
                    </a:p>
                  </a:txBody>
                  <a:tcPr/>
                </a:tc>
                <a:extLst>
                  <a:ext uri="{0D108BD9-81ED-4DB2-BD59-A6C34878D82A}">
                    <a16:rowId xmlns:a16="http://schemas.microsoft.com/office/drawing/2014/main" val="10005"/>
                  </a:ext>
                </a:extLst>
              </a:tr>
              <a:tr h="370840">
                <a:tc>
                  <a:txBody>
                    <a:bodyPr/>
                    <a:lstStyle/>
                    <a:p>
                      <a:r>
                        <a:rPr lang="en-US" sz="2200" dirty="0"/>
                        <a:t>OB</a:t>
                      </a:r>
                    </a:p>
                  </a:txBody>
                  <a:tcPr/>
                </a:tc>
                <a:tc>
                  <a:txBody>
                    <a:bodyPr/>
                    <a:lstStyle/>
                    <a:p>
                      <a:r>
                        <a:rPr lang="en-US" sz="2200" dirty="0"/>
                        <a:t>Obstetrics</a:t>
                      </a:r>
                    </a:p>
                  </a:txBody>
                  <a:tcPr/>
                </a:tc>
                <a:extLst>
                  <a:ext uri="{0D108BD9-81ED-4DB2-BD59-A6C34878D82A}">
                    <a16:rowId xmlns:a16="http://schemas.microsoft.com/office/drawing/2014/main" val="10006"/>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200" dirty="0" err="1"/>
                        <a:t>para</a:t>
                      </a:r>
                      <a:r>
                        <a:rPr lang="en-US" sz="2200" dirty="0"/>
                        <a:t> 2-0-1-2</a:t>
                      </a:r>
                      <a:endParaRPr lang="en-US" sz="2200" dirty="0">
                        <a:ea typeface="ＭＳ Ｐゴシック" charset="0"/>
                      </a:endParaRPr>
                    </a:p>
                  </a:txBody>
                  <a:tcPr/>
                </a:tc>
                <a:tc>
                  <a:txBody>
                    <a:bodyPr/>
                    <a:lstStyle/>
                    <a:p>
                      <a:pPr eaLnBrk="1" fontAlgn="auto" hangingPunct="1">
                        <a:spcAft>
                          <a:spcPts val="0"/>
                        </a:spcAft>
                        <a:defRPr/>
                      </a:pPr>
                      <a:r>
                        <a:rPr lang="en-US" sz="2200" dirty="0"/>
                        <a:t>A woman</a:t>
                      </a:r>
                      <a:r>
                        <a:rPr lang="en-US" altLang="en-US" sz="2200" dirty="0"/>
                        <a:t>’</a:t>
                      </a:r>
                      <a:r>
                        <a:rPr lang="en-US" sz="2200" dirty="0"/>
                        <a:t>s reproductive history:  2 full-term </a:t>
                      </a:r>
                    </a:p>
                    <a:p>
                      <a:pPr marL="0" indent="0" eaLnBrk="1" fontAlgn="auto" hangingPunct="1">
                        <a:spcAft>
                          <a:spcPts val="0"/>
                        </a:spcAft>
                        <a:buFont typeface="Arial" charset="0"/>
                        <a:buNone/>
                        <a:defRPr/>
                      </a:pPr>
                      <a:r>
                        <a:rPr lang="en-US" sz="2200" dirty="0"/>
                        <a:t>infants, 0 preterm, 1 abortion, and 2 living children </a:t>
                      </a:r>
                    </a:p>
                  </a:txBody>
                  <a:tcPr/>
                </a:tc>
                <a:extLst>
                  <a:ext uri="{0D108BD9-81ED-4DB2-BD59-A6C34878D82A}">
                    <a16:rowId xmlns:a16="http://schemas.microsoft.com/office/drawing/2014/main" val="10007"/>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200" dirty="0"/>
                        <a:t>Pap test</a:t>
                      </a:r>
                      <a:endParaRPr lang="en-US" sz="2200" dirty="0">
                        <a:ea typeface="ＭＳ Ｐゴシック" charset="0"/>
                      </a:endParaRPr>
                    </a:p>
                  </a:txBody>
                  <a:tcPr/>
                </a:tc>
                <a:tc>
                  <a:txBody>
                    <a:bodyPr/>
                    <a:lstStyle/>
                    <a:p>
                      <a:r>
                        <a:rPr lang="en-US" sz="2200" dirty="0" err="1"/>
                        <a:t>Papanicolaou</a:t>
                      </a:r>
                      <a:r>
                        <a:rPr lang="en-US" sz="2200" dirty="0"/>
                        <a:t> smear-test</a:t>
                      </a:r>
                    </a:p>
                  </a:txBody>
                  <a:tcPr/>
                </a:tc>
                <a:extLst>
                  <a:ext uri="{0D108BD9-81ED-4DB2-BD59-A6C34878D82A}">
                    <a16:rowId xmlns:a16="http://schemas.microsoft.com/office/drawing/2014/main" val="10008"/>
                  </a:ext>
                </a:extLst>
              </a:tr>
              <a:tr h="370840">
                <a:tc>
                  <a:txBody>
                    <a:bodyPr/>
                    <a:lstStyle/>
                    <a:p>
                      <a:r>
                        <a:rPr lang="en-US" sz="2200" dirty="0"/>
                        <a:t>PID</a:t>
                      </a:r>
                    </a:p>
                  </a:txBody>
                  <a:tcPr/>
                </a:tc>
                <a:tc>
                  <a:txBody>
                    <a:bodyPr/>
                    <a:lstStyle/>
                    <a:p>
                      <a:r>
                        <a:rPr lang="en-US" sz="2200" dirty="0"/>
                        <a:t>Pelvic inflammatory disease</a:t>
                      </a:r>
                    </a:p>
                  </a:txBody>
                  <a:tcPr/>
                </a:tc>
                <a:extLst>
                  <a:ext uri="{0D108BD9-81ED-4DB2-BD59-A6C34878D82A}">
                    <a16:rowId xmlns:a16="http://schemas.microsoft.com/office/drawing/2014/main" val="10009"/>
                  </a:ext>
                </a:extLst>
              </a:tr>
              <a:tr h="370840">
                <a:tc>
                  <a:txBody>
                    <a:bodyPr/>
                    <a:lstStyle/>
                    <a:p>
                      <a:r>
                        <a:rPr lang="en-US" sz="2200" dirty="0"/>
                        <a:t>PMS</a:t>
                      </a:r>
                    </a:p>
                  </a:txBody>
                  <a:tcPr/>
                </a:tc>
                <a:tc>
                  <a:txBody>
                    <a:bodyPr/>
                    <a:lstStyle/>
                    <a:p>
                      <a:r>
                        <a:rPr lang="en-US" sz="2200" dirty="0"/>
                        <a:t>Premenstrual syndrome</a:t>
                      </a:r>
                    </a:p>
                  </a:txBody>
                  <a:tcPr/>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3009152792"/>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Abbreviations (Slide 7 of 8)</a:t>
            </a:r>
          </a:p>
        </p:txBody>
      </p:sp>
      <p:graphicFrame>
        <p:nvGraphicFramePr>
          <p:cNvPr id="7" name="Content Placeholder 6" descr="Group 4 of 4  Abbreviations.  The following slide lists the abbreviaitons again with their corresponding meanings."/>
          <p:cNvGraphicFramePr>
            <a:graphicFrameLocks noGrp="1"/>
          </p:cNvGraphicFramePr>
          <p:nvPr>
            <p:ph idx="1"/>
            <p:extLst>
              <p:ext uri="{D42A27DB-BD31-4B8C-83A1-F6EECF244321}">
                <p14:modId xmlns:p14="http://schemas.microsoft.com/office/powerpoint/2010/main" val="2450192920"/>
              </p:ext>
            </p:extLst>
          </p:nvPr>
        </p:nvGraphicFramePr>
        <p:xfrm>
          <a:off x="3124200" y="2209800"/>
          <a:ext cx="2895600" cy="2743200"/>
        </p:xfrm>
        <a:graphic>
          <a:graphicData uri="http://schemas.openxmlformats.org/drawingml/2006/table">
            <a:tbl>
              <a:tblPr firstRow="1" bandRow="1">
                <a:tableStyleId>{C083E6E3-FA7D-4D7B-A595-EF9225AFEA82}</a:tableStyleId>
              </a:tblPr>
              <a:tblGrid>
                <a:gridCol w="2895600">
                  <a:extLst>
                    <a:ext uri="{9D8B030D-6E8A-4147-A177-3AD203B41FA5}">
                      <a16:colId xmlns:a16="http://schemas.microsoft.com/office/drawing/2014/main" val="20000"/>
                    </a:ext>
                  </a:extLst>
                </a:gridCol>
              </a:tblGrid>
              <a:tr h="370840">
                <a:tc>
                  <a:txBody>
                    <a:bodyPr/>
                    <a:lstStyle/>
                    <a:p>
                      <a:r>
                        <a:rPr lang="en-US" sz="2400" dirty="0"/>
                        <a:t>Abbreviation</a:t>
                      </a:r>
                    </a:p>
                  </a:txBody>
                  <a:tcPr/>
                </a:tc>
                <a:extLst>
                  <a:ext uri="{0D108BD9-81ED-4DB2-BD59-A6C34878D82A}">
                    <a16:rowId xmlns:a16="http://schemas.microsoft.com/office/drawing/2014/main" val="10000"/>
                  </a:ext>
                </a:extLst>
              </a:tr>
              <a:tr h="370840">
                <a:tc>
                  <a:txBody>
                    <a:bodyPr/>
                    <a:lstStyle/>
                    <a:p>
                      <a:r>
                        <a:rPr lang="en-US" altLang="en-US" sz="2400" dirty="0" err="1"/>
                        <a:t>primip</a:t>
                      </a:r>
                      <a:endParaRPr lang="en-US" sz="2400" dirty="0"/>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SLN biopsy or SNB</a:t>
                      </a:r>
                      <a:endParaRPr lang="en-US" altLang="en-US" sz="2400" dirty="0">
                        <a:ea typeface="MS PGothic" panose="020B0600070205080204" pitchFamily="34" charset="-128"/>
                      </a:endParaRPr>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TAH-BSO</a:t>
                      </a:r>
                      <a:endParaRPr lang="en-US" altLang="en-US" sz="2400" dirty="0">
                        <a:ea typeface="MS PGothic" panose="020B0600070205080204" pitchFamily="34" charset="-128"/>
                      </a:endParaRPr>
                    </a:p>
                  </a:txBody>
                  <a:tcPr/>
                </a:tc>
                <a:extLst>
                  <a:ext uri="{0D108BD9-81ED-4DB2-BD59-A6C34878D82A}">
                    <a16:rowId xmlns:a16="http://schemas.microsoft.com/office/drawing/2014/main" val="10003"/>
                  </a:ext>
                </a:extLst>
              </a:tr>
              <a:tr h="370840">
                <a:tc>
                  <a:txBody>
                    <a:bodyPr/>
                    <a:lstStyle/>
                    <a:p>
                      <a:r>
                        <a:rPr lang="en-US" altLang="en-US" sz="2400" dirty="0"/>
                        <a:t>UAE</a:t>
                      </a:r>
                      <a:endParaRPr lang="en-US" sz="2400" dirty="0"/>
                    </a:p>
                  </a:txBody>
                  <a:tcPr/>
                </a:tc>
                <a:extLst>
                  <a:ext uri="{0D108BD9-81ED-4DB2-BD59-A6C34878D82A}">
                    <a16:rowId xmlns:a16="http://schemas.microsoft.com/office/drawing/2014/main" val="10004"/>
                  </a:ext>
                </a:extLst>
              </a:tr>
              <a:tr h="370840">
                <a:tc>
                  <a:txBody>
                    <a:bodyPr/>
                    <a:lstStyle/>
                    <a:p>
                      <a:r>
                        <a:rPr lang="en-US" altLang="en-US" sz="2400" dirty="0"/>
                        <a:t>VH</a:t>
                      </a:r>
                      <a:endParaRPr lang="en-US" sz="2400" dirty="0"/>
                    </a:p>
                  </a:txBody>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2888621851"/>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Abbreviations (Slide 8 of 8)</a:t>
            </a:r>
          </a:p>
        </p:txBody>
      </p:sp>
      <p:graphicFrame>
        <p:nvGraphicFramePr>
          <p:cNvPr id="7" name="Content Placeholder 6" descr="Group 4 of 4 Abbreviations with corresponding meanings."/>
          <p:cNvGraphicFramePr>
            <a:graphicFrameLocks noGrp="1"/>
          </p:cNvGraphicFramePr>
          <p:nvPr>
            <p:ph idx="1"/>
            <p:extLst>
              <p:ext uri="{D42A27DB-BD31-4B8C-83A1-F6EECF244321}">
                <p14:modId xmlns:p14="http://schemas.microsoft.com/office/powerpoint/2010/main" val="1177707418"/>
              </p:ext>
            </p:extLst>
          </p:nvPr>
        </p:nvGraphicFramePr>
        <p:xfrm>
          <a:off x="457200" y="1371600"/>
          <a:ext cx="8229600" cy="3108960"/>
        </p:xfrm>
        <a:graphic>
          <a:graphicData uri="http://schemas.openxmlformats.org/drawingml/2006/table">
            <a:tbl>
              <a:tblPr firstRow="1" bandRow="1">
                <a:tableStyleId>{C083E6E3-FA7D-4D7B-A595-EF9225AFEA82}</a:tableStyleId>
              </a:tblPr>
              <a:tblGrid>
                <a:gridCol w="2895600">
                  <a:extLst>
                    <a:ext uri="{9D8B030D-6E8A-4147-A177-3AD203B41FA5}">
                      <a16:colId xmlns:a16="http://schemas.microsoft.com/office/drawing/2014/main" val="20000"/>
                    </a:ext>
                  </a:extLst>
                </a:gridCol>
                <a:gridCol w="5334000">
                  <a:extLst>
                    <a:ext uri="{9D8B030D-6E8A-4147-A177-3AD203B41FA5}">
                      <a16:colId xmlns:a16="http://schemas.microsoft.com/office/drawing/2014/main" val="20001"/>
                    </a:ext>
                  </a:extLst>
                </a:gridCol>
              </a:tblGrid>
              <a:tr h="370840">
                <a:tc>
                  <a:txBody>
                    <a:bodyPr/>
                    <a:lstStyle/>
                    <a:p>
                      <a:r>
                        <a:rPr lang="en-US" sz="2400" dirty="0"/>
                        <a:t>Abbreviation</a:t>
                      </a:r>
                    </a:p>
                  </a:txBody>
                  <a:tcPr/>
                </a:tc>
                <a:tc>
                  <a:txBody>
                    <a:bodyPr/>
                    <a:lstStyle/>
                    <a:p>
                      <a:r>
                        <a:rPr lang="en-US" sz="2400" dirty="0"/>
                        <a:t>Meaning</a:t>
                      </a:r>
                    </a:p>
                  </a:txBody>
                  <a:tcPr/>
                </a:tc>
                <a:extLst>
                  <a:ext uri="{0D108BD9-81ED-4DB2-BD59-A6C34878D82A}">
                    <a16:rowId xmlns:a16="http://schemas.microsoft.com/office/drawing/2014/main" val="10000"/>
                  </a:ext>
                </a:extLst>
              </a:tr>
              <a:tr h="370840">
                <a:tc>
                  <a:txBody>
                    <a:bodyPr/>
                    <a:lstStyle/>
                    <a:p>
                      <a:r>
                        <a:rPr lang="en-US" altLang="en-US" sz="2400" dirty="0" err="1"/>
                        <a:t>primip</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err="1"/>
                        <a:t>Primipara</a:t>
                      </a:r>
                      <a:r>
                        <a:rPr lang="en-US" altLang="en-US" sz="2400" dirty="0"/>
                        <a:t>; </a:t>
                      </a:r>
                      <a:r>
                        <a:rPr lang="en-US" altLang="en-US" sz="2400" dirty="0" err="1"/>
                        <a:t>primiparous</a:t>
                      </a:r>
                      <a:endParaRPr lang="en-US" altLang="en-US" sz="2400" dirty="0">
                        <a:ea typeface="MS PGothic" panose="020B0600070205080204" pitchFamily="34" charset="-128"/>
                      </a:endParaRPr>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SLN biopsy or SNB</a:t>
                      </a:r>
                      <a:endParaRPr lang="en-US" altLang="en-US" sz="2400" dirty="0">
                        <a:ea typeface="MS PGothic" panose="020B0600070205080204" pitchFamily="34" charset="-128"/>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Sentinel lymph node biopsy</a:t>
                      </a:r>
                      <a:endParaRPr lang="en-US" altLang="en-US" sz="2400" dirty="0">
                        <a:ea typeface="MS PGothic" panose="020B0600070205080204" pitchFamily="34" charset="-128"/>
                      </a:endParaRPr>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TAH-BSO</a:t>
                      </a:r>
                      <a:endParaRPr lang="en-US" altLang="en-US" sz="2400" dirty="0">
                        <a:ea typeface="MS PGothic" panose="020B0600070205080204" pitchFamily="34" charset="-128"/>
                      </a:endParaRPr>
                    </a:p>
                  </a:txBody>
                  <a:tcPr/>
                </a:tc>
                <a:tc>
                  <a:txBody>
                    <a:bodyPr/>
                    <a:lstStyle/>
                    <a:p>
                      <a:pPr marL="0" indent="0" eaLnBrk="1" hangingPunct="1">
                        <a:buFont typeface="Wingdings 2" panose="05020102010507070707" pitchFamily="18" charset="2"/>
                        <a:buNone/>
                      </a:pPr>
                      <a:r>
                        <a:rPr lang="en-US" altLang="en-US" sz="2400" dirty="0"/>
                        <a:t>Total abdominal hysterectomy with bilateral </a:t>
                      </a:r>
                      <a:r>
                        <a:rPr lang="en-US" altLang="en-US" sz="2400" dirty="0" err="1"/>
                        <a:t>salpingo</a:t>
                      </a:r>
                      <a:r>
                        <a:rPr lang="en-US" altLang="en-US" sz="2400" dirty="0"/>
                        <a:t>-oophorectomy</a:t>
                      </a:r>
                      <a:endParaRPr lang="en-US" altLang="en-US" sz="2400" dirty="0">
                        <a:ea typeface="MS PGothic" panose="020B0600070205080204" pitchFamily="34" charset="-128"/>
                      </a:endParaRPr>
                    </a:p>
                  </a:txBody>
                  <a:tcPr/>
                </a:tc>
                <a:extLst>
                  <a:ext uri="{0D108BD9-81ED-4DB2-BD59-A6C34878D82A}">
                    <a16:rowId xmlns:a16="http://schemas.microsoft.com/office/drawing/2014/main" val="10003"/>
                  </a:ext>
                </a:extLst>
              </a:tr>
              <a:tr h="370840">
                <a:tc>
                  <a:txBody>
                    <a:bodyPr/>
                    <a:lstStyle/>
                    <a:p>
                      <a:r>
                        <a:rPr lang="en-US" altLang="en-US" sz="2400" dirty="0"/>
                        <a:t>UAE</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Uterine artery embolization</a:t>
                      </a:r>
                      <a:endParaRPr lang="en-US" altLang="en-US" sz="2400" dirty="0">
                        <a:ea typeface="MS PGothic" panose="020B0600070205080204" pitchFamily="34" charset="-128"/>
                      </a:endParaRPr>
                    </a:p>
                  </a:txBody>
                  <a:tcPr/>
                </a:tc>
                <a:extLst>
                  <a:ext uri="{0D108BD9-81ED-4DB2-BD59-A6C34878D82A}">
                    <a16:rowId xmlns:a16="http://schemas.microsoft.com/office/drawing/2014/main" val="10004"/>
                  </a:ext>
                </a:extLst>
              </a:tr>
              <a:tr h="370840">
                <a:tc>
                  <a:txBody>
                    <a:bodyPr/>
                    <a:lstStyle/>
                    <a:p>
                      <a:r>
                        <a:rPr lang="en-US" altLang="en-US" sz="2400" dirty="0"/>
                        <a:t>VH</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Vaginal hysterectomy</a:t>
                      </a:r>
                      <a:endParaRPr lang="en-US" altLang="en-US" sz="2400" dirty="0">
                        <a:ea typeface="MS PGothic" panose="020B0600070205080204" pitchFamily="34" charset="-128"/>
                      </a:endParaRPr>
                    </a:p>
                  </a:txBody>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4159035482"/>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Review Sheet – Combining Forms</a:t>
            </a:r>
            <a:br>
              <a:rPr lang="en-US" dirty="0"/>
            </a:br>
            <a:r>
              <a:rPr lang="en-US" sz="4000" dirty="0"/>
              <a:t>(Slide 1 of 12)</a:t>
            </a:r>
          </a:p>
        </p:txBody>
      </p:sp>
      <p:graphicFrame>
        <p:nvGraphicFramePr>
          <p:cNvPr id="7" name="Content Placeholder 6" descr="Group 1 of 6 combining forms from the Review Sheet of the text.  The following slide lists these same combining forms with corresponding meanings."/>
          <p:cNvGraphicFramePr>
            <a:graphicFrameLocks noGrp="1"/>
          </p:cNvGraphicFramePr>
          <p:nvPr>
            <p:ph idx="1"/>
            <p:extLst>
              <p:ext uri="{D42A27DB-BD31-4B8C-83A1-F6EECF244321}">
                <p14:modId xmlns:p14="http://schemas.microsoft.com/office/powerpoint/2010/main" val="2308614355"/>
              </p:ext>
            </p:extLst>
          </p:nvPr>
        </p:nvGraphicFramePr>
        <p:xfrm>
          <a:off x="3238500" y="1905000"/>
          <a:ext cx="2667000" cy="3200400"/>
        </p:xfrm>
        <a:graphic>
          <a:graphicData uri="http://schemas.openxmlformats.org/drawingml/2006/table">
            <a:tbl>
              <a:tblPr firstRow="1" bandRow="1">
                <a:tableStyleId>{21E4AEA4-8DFA-4A89-87EB-49C32662AFE0}</a:tableStyleId>
              </a:tblPr>
              <a:tblGrid>
                <a:gridCol w="2667000">
                  <a:extLst>
                    <a:ext uri="{9D8B030D-6E8A-4147-A177-3AD203B41FA5}">
                      <a16:colId xmlns:a16="http://schemas.microsoft.com/office/drawing/2014/main" val="20000"/>
                    </a:ext>
                  </a:extLst>
                </a:gridCol>
              </a:tblGrid>
              <a:tr h="370840">
                <a:tc>
                  <a:txBody>
                    <a:bodyPr/>
                    <a:lstStyle/>
                    <a:p>
                      <a:r>
                        <a:rPr lang="en-US" sz="2400" dirty="0"/>
                        <a:t>Combining Form</a:t>
                      </a:r>
                    </a:p>
                  </a:txBody>
                  <a:tcPr/>
                </a:tc>
                <a:extLst>
                  <a:ext uri="{0D108BD9-81ED-4DB2-BD59-A6C34878D82A}">
                    <a16:rowId xmlns:a16="http://schemas.microsoft.com/office/drawing/2014/main" val="10000"/>
                  </a:ext>
                </a:extLst>
              </a:tr>
              <a:tr h="370840">
                <a:tc>
                  <a:txBody>
                    <a:bodyPr/>
                    <a:lstStyle/>
                    <a:p>
                      <a:r>
                        <a:rPr lang="en-US" sz="2400" b="1" dirty="0" err="1"/>
                        <a:t>amni</a:t>
                      </a:r>
                      <a:r>
                        <a:rPr lang="en-US" sz="2400" b="1" dirty="0"/>
                        <a:t>/o</a:t>
                      </a:r>
                      <a:endParaRPr lang="en-US" sz="2400" dirty="0"/>
                    </a:p>
                  </a:txBody>
                  <a:tcPr/>
                </a:tc>
                <a:extLst>
                  <a:ext uri="{0D108BD9-81ED-4DB2-BD59-A6C34878D82A}">
                    <a16:rowId xmlns:a16="http://schemas.microsoft.com/office/drawing/2014/main" val="10001"/>
                  </a:ext>
                </a:extLst>
              </a:tr>
              <a:tr h="370840">
                <a:tc>
                  <a:txBody>
                    <a:bodyPr/>
                    <a:lstStyle/>
                    <a:p>
                      <a:r>
                        <a:rPr lang="en-US" sz="2400" b="1" dirty="0" err="1"/>
                        <a:t>bartholin</a:t>
                      </a:r>
                      <a:r>
                        <a:rPr lang="en-US" sz="2400" b="1" dirty="0"/>
                        <a:t>/o</a:t>
                      </a:r>
                      <a:endParaRPr lang="en-US" sz="2400" dirty="0"/>
                    </a:p>
                  </a:txBody>
                  <a:tcPr/>
                </a:tc>
                <a:extLst>
                  <a:ext uri="{0D108BD9-81ED-4DB2-BD59-A6C34878D82A}">
                    <a16:rowId xmlns:a16="http://schemas.microsoft.com/office/drawing/2014/main" val="10002"/>
                  </a:ext>
                </a:extLst>
              </a:tr>
              <a:tr h="370840">
                <a:tc>
                  <a:txBody>
                    <a:bodyPr/>
                    <a:lstStyle/>
                    <a:p>
                      <a:r>
                        <a:rPr lang="en-US" sz="2400" b="1" dirty="0" err="1"/>
                        <a:t>cephal</a:t>
                      </a:r>
                      <a:r>
                        <a:rPr lang="en-US" sz="2400" b="1" dirty="0"/>
                        <a:t>/o</a:t>
                      </a:r>
                      <a:endParaRPr lang="en-US" sz="2400" dirty="0"/>
                    </a:p>
                  </a:txBody>
                  <a:tcPr/>
                </a:tc>
                <a:extLst>
                  <a:ext uri="{0D108BD9-81ED-4DB2-BD59-A6C34878D82A}">
                    <a16:rowId xmlns:a16="http://schemas.microsoft.com/office/drawing/2014/main" val="10003"/>
                  </a:ext>
                </a:extLst>
              </a:tr>
              <a:tr h="370840">
                <a:tc>
                  <a:txBody>
                    <a:bodyPr/>
                    <a:lstStyle/>
                    <a:p>
                      <a:r>
                        <a:rPr lang="en-US" sz="2400" b="1" dirty="0" err="1"/>
                        <a:t>cervic</a:t>
                      </a:r>
                      <a:r>
                        <a:rPr lang="en-US" sz="2400" b="1" dirty="0"/>
                        <a:t>/o</a:t>
                      </a:r>
                      <a:endParaRPr lang="en-US" sz="2400" dirty="0"/>
                    </a:p>
                  </a:txBody>
                  <a:tcPr/>
                </a:tc>
                <a:extLst>
                  <a:ext uri="{0D108BD9-81ED-4DB2-BD59-A6C34878D82A}">
                    <a16:rowId xmlns:a16="http://schemas.microsoft.com/office/drawing/2014/main" val="10004"/>
                  </a:ext>
                </a:extLst>
              </a:tr>
              <a:tr h="370840">
                <a:tc>
                  <a:txBody>
                    <a:bodyPr/>
                    <a:lstStyle/>
                    <a:p>
                      <a:r>
                        <a:rPr lang="en-US" sz="2400" b="1" dirty="0" err="1"/>
                        <a:t>chori</a:t>
                      </a:r>
                      <a:r>
                        <a:rPr lang="en-US" sz="2400" b="1" dirty="0"/>
                        <a:t>/o, </a:t>
                      </a:r>
                      <a:r>
                        <a:rPr lang="en-US" sz="2400" b="1" dirty="0" err="1"/>
                        <a:t>chorion</a:t>
                      </a:r>
                      <a:r>
                        <a:rPr lang="en-US" sz="2400" b="1" dirty="0"/>
                        <a:t>/o</a:t>
                      </a:r>
                      <a:endParaRPr lang="en-US" sz="2400" dirty="0"/>
                    </a:p>
                  </a:txBody>
                  <a:tcPr/>
                </a:tc>
                <a:extLst>
                  <a:ext uri="{0D108BD9-81ED-4DB2-BD59-A6C34878D82A}">
                    <a16:rowId xmlns:a16="http://schemas.microsoft.com/office/drawing/2014/main" val="10005"/>
                  </a:ext>
                </a:extLst>
              </a:tr>
              <a:tr h="370840">
                <a:tc>
                  <a:txBody>
                    <a:bodyPr/>
                    <a:lstStyle/>
                    <a:p>
                      <a:r>
                        <a:rPr lang="en-US" sz="2400" b="1" dirty="0" err="1"/>
                        <a:t>colp</a:t>
                      </a:r>
                      <a:r>
                        <a:rPr lang="en-US" sz="2400" b="1" dirty="0"/>
                        <a:t>/o</a:t>
                      </a:r>
                      <a:endParaRPr lang="en-US" sz="2400" dirty="0"/>
                    </a:p>
                  </a:txBody>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1793865225"/>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Review Sheet – Combining Forms</a:t>
            </a:r>
            <a:br>
              <a:rPr lang="en-US" dirty="0"/>
            </a:br>
            <a:r>
              <a:rPr lang="en-US" sz="4000" dirty="0"/>
              <a:t>(Slide 2 of 12)</a:t>
            </a:r>
          </a:p>
        </p:txBody>
      </p:sp>
      <p:graphicFrame>
        <p:nvGraphicFramePr>
          <p:cNvPr id="7" name="Content Placeholder 6" descr="Group 1 of 6 combining forms from the Review Sheet of the text with their corresponding meanings."/>
          <p:cNvGraphicFramePr>
            <a:graphicFrameLocks noGrp="1"/>
          </p:cNvGraphicFramePr>
          <p:nvPr>
            <p:ph idx="1"/>
            <p:extLst>
              <p:ext uri="{D42A27DB-BD31-4B8C-83A1-F6EECF244321}">
                <p14:modId xmlns:p14="http://schemas.microsoft.com/office/powerpoint/2010/main" val="1714339307"/>
              </p:ext>
            </p:extLst>
          </p:nvPr>
        </p:nvGraphicFramePr>
        <p:xfrm>
          <a:off x="457200" y="1600200"/>
          <a:ext cx="8229600" cy="3200400"/>
        </p:xfrm>
        <a:graphic>
          <a:graphicData uri="http://schemas.openxmlformats.org/drawingml/2006/table">
            <a:tbl>
              <a:tblPr firstRow="1" bandRow="1">
                <a:tableStyleId>{21E4AEA4-8DFA-4A89-87EB-49C32662AFE0}</a:tableStyleId>
              </a:tblPr>
              <a:tblGrid>
                <a:gridCol w="2667000">
                  <a:extLst>
                    <a:ext uri="{9D8B030D-6E8A-4147-A177-3AD203B41FA5}">
                      <a16:colId xmlns:a16="http://schemas.microsoft.com/office/drawing/2014/main" val="20000"/>
                    </a:ext>
                  </a:extLst>
                </a:gridCol>
                <a:gridCol w="5562600">
                  <a:extLst>
                    <a:ext uri="{9D8B030D-6E8A-4147-A177-3AD203B41FA5}">
                      <a16:colId xmlns:a16="http://schemas.microsoft.com/office/drawing/2014/main" val="20001"/>
                    </a:ext>
                  </a:extLst>
                </a:gridCol>
              </a:tblGrid>
              <a:tr h="370840">
                <a:tc>
                  <a:txBody>
                    <a:bodyPr/>
                    <a:lstStyle/>
                    <a:p>
                      <a:r>
                        <a:rPr lang="en-US" sz="2400" dirty="0"/>
                        <a:t>Combining Form</a:t>
                      </a:r>
                    </a:p>
                  </a:txBody>
                  <a:tcPr/>
                </a:tc>
                <a:tc>
                  <a:txBody>
                    <a:bodyPr/>
                    <a:lstStyle/>
                    <a:p>
                      <a:r>
                        <a:rPr lang="en-US" sz="2400" dirty="0"/>
                        <a:t>Meaning</a:t>
                      </a:r>
                    </a:p>
                  </a:txBody>
                  <a:tcPr/>
                </a:tc>
                <a:extLst>
                  <a:ext uri="{0D108BD9-81ED-4DB2-BD59-A6C34878D82A}">
                    <a16:rowId xmlns:a16="http://schemas.microsoft.com/office/drawing/2014/main" val="10000"/>
                  </a:ext>
                </a:extLst>
              </a:tr>
              <a:tr h="370840">
                <a:tc>
                  <a:txBody>
                    <a:bodyPr/>
                    <a:lstStyle/>
                    <a:p>
                      <a:r>
                        <a:rPr lang="en-US" sz="2400" b="1" dirty="0" err="1"/>
                        <a:t>amni</a:t>
                      </a:r>
                      <a:r>
                        <a:rPr lang="en-US" sz="2400" b="1" dirty="0"/>
                        <a:t>/o</a:t>
                      </a:r>
                      <a:endParaRPr lang="en-US" sz="2400" dirty="0"/>
                    </a:p>
                  </a:txBody>
                  <a:tcPr/>
                </a:tc>
                <a:tc>
                  <a:txBody>
                    <a:bodyPr/>
                    <a:lstStyle/>
                    <a:p>
                      <a:r>
                        <a:rPr lang="en-US" sz="2400" dirty="0"/>
                        <a:t>amnion</a:t>
                      </a:r>
                    </a:p>
                  </a:txBody>
                  <a:tcPr/>
                </a:tc>
                <a:extLst>
                  <a:ext uri="{0D108BD9-81ED-4DB2-BD59-A6C34878D82A}">
                    <a16:rowId xmlns:a16="http://schemas.microsoft.com/office/drawing/2014/main" val="10001"/>
                  </a:ext>
                </a:extLst>
              </a:tr>
              <a:tr h="370840">
                <a:tc>
                  <a:txBody>
                    <a:bodyPr/>
                    <a:lstStyle/>
                    <a:p>
                      <a:r>
                        <a:rPr lang="en-US" sz="2400" b="1" dirty="0" err="1"/>
                        <a:t>bartholin</a:t>
                      </a:r>
                      <a:r>
                        <a:rPr lang="en-US" sz="2400" b="1" dirty="0"/>
                        <a:t>/o</a:t>
                      </a:r>
                      <a:endParaRPr lang="en-US" sz="2400" dirty="0"/>
                    </a:p>
                  </a:txBody>
                  <a:tcPr/>
                </a:tc>
                <a:tc>
                  <a:txBody>
                    <a:bodyPr/>
                    <a:lstStyle/>
                    <a:p>
                      <a:r>
                        <a:rPr lang="en-US" sz="2400" dirty="0" err="1"/>
                        <a:t>Bartholin</a:t>
                      </a:r>
                      <a:r>
                        <a:rPr lang="en-US" sz="2400" dirty="0"/>
                        <a:t> gland</a:t>
                      </a:r>
                    </a:p>
                  </a:txBody>
                  <a:tcPr/>
                </a:tc>
                <a:extLst>
                  <a:ext uri="{0D108BD9-81ED-4DB2-BD59-A6C34878D82A}">
                    <a16:rowId xmlns:a16="http://schemas.microsoft.com/office/drawing/2014/main" val="10002"/>
                  </a:ext>
                </a:extLst>
              </a:tr>
              <a:tr h="370840">
                <a:tc>
                  <a:txBody>
                    <a:bodyPr/>
                    <a:lstStyle/>
                    <a:p>
                      <a:r>
                        <a:rPr lang="en-US" sz="2400" b="1" dirty="0" err="1"/>
                        <a:t>cephal</a:t>
                      </a:r>
                      <a:r>
                        <a:rPr lang="en-US" sz="2400" b="1" dirty="0"/>
                        <a:t>/o</a:t>
                      </a:r>
                      <a:endParaRPr lang="en-US" sz="2400" dirty="0"/>
                    </a:p>
                  </a:txBody>
                  <a:tcPr/>
                </a:tc>
                <a:tc>
                  <a:txBody>
                    <a:bodyPr/>
                    <a:lstStyle/>
                    <a:p>
                      <a:r>
                        <a:rPr lang="en-US" sz="2400" dirty="0"/>
                        <a:t>head</a:t>
                      </a:r>
                    </a:p>
                  </a:txBody>
                  <a:tcPr/>
                </a:tc>
                <a:extLst>
                  <a:ext uri="{0D108BD9-81ED-4DB2-BD59-A6C34878D82A}">
                    <a16:rowId xmlns:a16="http://schemas.microsoft.com/office/drawing/2014/main" val="10003"/>
                  </a:ext>
                </a:extLst>
              </a:tr>
              <a:tr h="370840">
                <a:tc>
                  <a:txBody>
                    <a:bodyPr/>
                    <a:lstStyle/>
                    <a:p>
                      <a:r>
                        <a:rPr lang="en-US" sz="2400" b="1" dirty="0" err="1"/>
                        <a:t>cervic</a:t>
                      </a:r>
                      <a:r>
                        <a:rPr lang="en-US" sz="2400" b="1" dirty="0"/>
                        <a:t>/o</a:t>
                      </a:r>
                      <a:endParaRPr lang="en-US" sz="2400" dirty="0"/>
                    </a:p>
                  </a:txBody>
                  <a:tcPr/>
                </a:tc>
                <a:tc>
                  <a:txBody>
                    <a:bodyPr/>
                    <a:lstStyle/>
                    <a:p>
                      <a:r>
                        <a:rPr lang="en-US" sz="2400" dirty="0"/>
                        <a:t>cervix, neck</a:t>
                      </a:r>
                    </a:p>
                  </a:txBody>
                  <a:tcPr/>
                </a:tc>
                <a:extLst>
                  <a:ext uri="{0D108BD9-81ED-4DB2-BD59-A6C34878D82A}">
                    <a16:rowId xmlns:a16="http://schemas.microsoft.com/office/drawing/2014/main" val="10004"/>
                  </a:ext>
                </a:extLst>
              </a:tr>
              <a:tr h="370840">
                <a:tc>
                  <a:txBody>
                    <a:bodyPr/>
                    <a:lstStyle/>
                    <a:p>
                      <a:r>
                        <a:rPr lang="en-US" sz="2400" b="1" dirty="0" err="1"/>
                        <a:t>chori</a:t>
                      </a:r>
                      <a:r>
                        <a:rPr lang="en-US" sz="2400" b="1" dirty="0"/>
                        <a:t>/o, </a:t>
                      </a:r>
                      <a:r>
                        <a:rPr lang="en-US" sz="2400" b="1" dirty="0" err="1"/>
                        <a:t>chorion</a:t>
                      </a:r>
                      <a:r>
                        <a:rPr lang="en-US" sz="2400" b="1" dirty="0"/>
                        <a:t>/o</a:t>
                      </a:r>
                      <a:endParaRPr lang="en-US" sz="2400" dirty="0"/>
                    </a:p>
                  </a:txBody>
                  <a:tcPr/>
                </a:tc>
                <a:tc>
                  <a:txBody>
                    <a:bodyPr/>
                    <a:lstStyle/>
                    <a:p>
                      <a:r>
                        <a:rPr lang="en-US" sz="2400" dirty="0" err="1"/>
                        <a:t>chorion</a:t>
                      </a:r>
                      <a:endParaRPr lang="en-US" sz="2400" dirty="0"/>
                    </a:p>
                  </a:txBody>
                  <a:tcPr/>
                </a:tc>
                <a:extLst>
                  <a:ext uri="{0D108BD9-81ED-4DB2-BD59-A6C34878D82A}">
                    <a16:rowId xmlns:a16="http://schemas.microsoft.com/office/drawing/2014/main" val="10005"/>
                  </a:ext>
                </a:extLst>
              </a:tr>
              <a:tr h="370840">
                <a:tc>
                  <a:txBody>
                    <a:bodyPr/>
                    <a:lstStyle/>
                    <a:p>
                      <a:r>
                        <a:rPr lang="en-US" sz="2400" b="1" dirty="0" err="1"/>
                        <a:t>colp</a:t>
                      </a:r>
                      <a:r>
                        <a:rPr lang="en-US" sz="2400" b="1" dirty="0"/>
                        <a:t>/o</a:t>
                      </a:r>
                      <a:endParaRPr lang="en-US" sz="2400" dirty="0"/>
                    </a:p>
                  </a:txBody>
                  <a:tcPr/>
                </a:tc>
                <a:tc>
                  <a:txBody>
                    <a:bodyPr/>
                    <a:lstStyle/>
                    <a:p>
                      <a:r>
                        <a:rPr lang="en-US" sz="2400" dirty="0"/>
                        <a:t>vagina</a:t>
                      </a:r>
                    </a:p>
                  </a:txBody>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389151397"/>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Review Sheet – Combining Forms</a:t>
            </a:r>
            <a:br>
              <a:rPr lang="en-US" dirty="0"/>
            </a:br>
            <a:r>
              <a:rPr lang="en-US" sz="4000" dirty="0"/>
              <a:t>(Slide 3 of 12)</a:t>
            </a:r>
          </a:p>
        </p:txBody>
      </p:sp>
      <p:graphicFrame>
        <p:nvGraphicFramePr>
          <p:cNvPr id="7" name="Content Placeholder 6" descr="Group 2 of 6 combining forms from the Review Sheet of the text.  The following slide lists these same combining forms with corresponding meanings."/>
          <p:cNvGraphicFramePr>
            <a:graphicFrameLocks noGrp="1"/>
          </p:cNvGraphicFramePr>
          <p:nvPr>
            <p:ph idx="1"/>
            <p:extLst>
              <p:ext uri="{D42A27DB-BD31-4B8C-83A1-F6EECF244321}">
                <p14:modId xmlns:p14="http://schemas.microsoft.com/office/powerpoint/2010/main" val="2159424840"/>
              </p:ext>
            </p:extLst>
          </p:nvPr>
        </p:nvGraphicFramePr>
        <p:xfrm>
          <a:off x="3238500" y="2286000"/>
          <a:ext cx="2667000" cy="2743200"/>
        </p:xfrm>
        <a:graphic>
          <a:graphicData uri="http://schemas.openxmlformats.org/drawingml/2006/table">
            <a:tbl>
              <a:tblPr firstRow="1" bandRow="1">
                <a:tableStyleId>{21E4AEA4-8DFA-4A89-87EB-49C32662AFE0}</a:tableStyleId>
              </a:tblPr>
              <a:tblGrid>
                <a:gridCol w="2667000">
                  <a:extLst>
                    <a:ext uri="{9D8B030D-6E8A-4147-A177-3AD203B41FA5}">
                      <a16:colId xmlns:a16="http://schemas.microsoft.com/office/drawing/2014/main" val="20000"/>
                    </a:ext>
                  </a:extLst>
                </a:gridCol>
              </a:tblGrid>
              <a:tr h="370840">
                <a:tc>
                  <a:txBody>
                    <a:bodyPr/>
                    <a:lstStyle/>
                    <a:p>
                      <a:r>
                        <a:rPr lang="en-US" sz="2400" dirty="0"/>
                        <a:t>Combining Form</a:t>
                      </a:r>
                    </a:p>
                  </a:txBody>
                  <a:tcPr/>
                </a:tc>
                <a:extLst>
                  <a:ext uri="{0D108BD9-81ED-4DB2-BD59-A6C34878D82A}">
                    <a16:rowId xmlns:a16="http://schemas.microsoft.com/office/drawing/2014/main" val="10000"/>
                  </a:ext>
                </a:extLst>
              </a:tr>
              <a:tr h="370840">
                <a:tc>
                  <a:txBody>
                    <a:bodyPr/>
                    <a:lstStyle/>
                    <a:p>
                      <a:r>
                        <a:rPr lang="en-US" altLang="en-US" sz="2400" b="1" dirty="0" err="1"/>
                        <a:t>culd</a:t>
                      </a:r>
                      <a:r>
                        <a:rPr lang="en-US" altLang="en-US" sz="2400" b="1" dirty="0"/>
                        <a:t>/o</a:t>
                      </a:r>
                      <a:endParaRPr lang="en-US" sz="2400" dirty="0"/>
                    </a:p>
                  </a:txBody>
                  <a:tcPr/>
                </a:tc>
                <a:extLst>
                  <a:ext uri="{0D108BD9-81ED-4DB2-BD59-A6C34878D82A}">
                    <a16:rowId xmlns:a16="http://schemas.microsoft.com/office/drawing/2014/main" val="10001"/>
                  </a:ext>
                </a:extLst>
              </a:tr>
              <a:tr h="370840">
                <a:tc>
                  <a:txBody>
                    <a:bodyPr/>
                    <a:lstStyle/>
                    <a:p>
                      <a:r>
                        <a:rPr lang="en-US" altLang="en-US" sz="2400" b="1" dirty="0" err="1"/>
                        <a:t>episi</a:t>
                      </a:r>
                      <a:r>
                        <a:rPr lang="en-US" altLang="en-US" sz="2400" b="1" dirty="0"/>
                        <a:t>/o</a:t>
                      </a:r>
                      <a:endParaRPr lang="en-US" sz="2400" dirty="0"/>
                    </a:p>
                  </a:txBody>
                  <a:tcPr/>
                </a:tc>
                <a:extLst>
                  <a:ext uri="{0D108BD9-81ED-4DB2-BD59-A6C34878D82A}">
                    <a16:rowId xmlns:a16="http://schemas.microsoft.com/office/drawing/2014/main" val="10002"/>
                  </a:ext>
                </a:extLst>
              </a:tr>
              <a:tr h="370840">
                <a:tc>
                  <a:txBody>
                    <a:bodyPr/>
                    <a:lstStyle/>
                    <a:p>
                      <a:r>
                        <a:rPr lang="en-US" altLang="en-US" sz="2400" b="1" dirty="0" err="1"/>
                        <a:t>galact</a:t>
                      </a:r>
                      <a:r>
                        <a:rPr lang="en-US" altLang="en-US" sz="2400" b="1" dirty="0"/>
                        <a:t>/o</a:t>
                      </a:r>
                      <a:endParaRPr lang="en-US" sz="2400" dirty="0"/>
                    </a:p>
                  </a:txBody>
                  <a:tcPr/>
                </a:tc>
                <a:extLst>
                  <a:ext uri="{0D108BD9-81ED-4DB2-BD59-A6C34878D82A}">
                    <a16:rowId xmlns:a16="http://schemas.microsoft.com/office/drawing/2014/main" val="10003"/>
                  </a:ext>
                </a:extLst>
              </a:tr>
              <a:tr h="370840">
                <a:tc>
                  <a:txBody>
                    <a:bodyPr/>
                    <a:lstStyle/>
                    <a:p>
                      <a:r>
                        <a:rPr lang="en-US" altLang="en-US" sz="2400" b="1" dirty="0" err="1"/>
                        <a:t>gynec</a:t>
                      </a:r>
                      <a:r>
                        <a:rPr lang="en-US" altLang="en-US" sz="2400" b="1" dirty="0"/>
                        <a:t>/o</a:t>
                      </a:r>
                      <a:endParaRPr lang="en-US" sz="2400" dirty="0"/>
                    </a:p>
                  </a:txBody>
                  <a:tcPr/>
                </a:tc>
                <a:extLst>
                  <a:ext uri="{0D108BD9-81ED-4DB2-BD59-A6C34878D82A}">
                    <a16:rowId xmlns:a16="http://schemas.microsoft.com/office/drawing/2014/main" val="10004"/>
                  </a:ext>
                </a:extLst>
              </a:tr>
              <a:tr h="370840">
                <a:tc>
                  <a:txBody>
                    <a:bodyPr/>
                    <a:lstStyle/>
                    <a:p>
                      <a:r>
                        <a:rPr lang="en-US" altLang="en-US" sz="2400" b="1" dirty="0" err="1"/>
                        <a:t>hyster</a:t>
                      </a:r>
                      <a:r>
                        <a:rPr lang="en-US" altLang="en-US" sz="2400" b="1" dirty="0"/>
                        <a:t>/o</a:t>
                      </a:r>
                      <a:endParaRPr lang="en-US" sz="2400" dirty="0"/>
                    </a:p>
                  </a:txBody>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2489879532"/>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Review Sheet – Combining Forms</a:t>
            </a:r>
            <a:br>
              <a:rPr lang="en-US" dirty="0"/>
            </a:br>
            <a:r>
              <a:rPr lang="en-US" sz="4000" dirty="0"/>
              <a:t>(Slide 4 of 12)</a:t>
            </a:r>
          </a:p>
        </p:txBody>
      </p:sp>
      <p:graphicFrame>
        <p:nvGraphicFramePr>
          <p:cNvPr id="7" name="Content Placeholder 6" descr="Group 2 of 6 combining forms from the Review Sheet of the text with their corresponding meanings."/>
          <p:cNvGraphicFramePr>
            <a:graphicFrameLocks noGrp="1"/>
          </p:cNvGraphicFramePr>
          <p:nvPr>
            <p:ph idx="1"/>
            <p:extLst>
              <p:ext uri="{D42A27DB-BD31-4B8C-83A1-F6EECF244321}">
                <p14:modId xmlns:p14="http://schemas.microsoft.com/office/powerpoint/2010/main" val="4294799667"/>
              </p:ext>
            </p:extLst>
          </p:nvPr>
        </p:nvGraphicFramePr>
        <p:xfrm>
          <a:off x="457200" y="1600200"/>
          <a:ext cx="8229600" cy="2743200"/>
        </p:xfrm>
        <a:graphic>
          <a:graphicData uri="http://schemas.openxmlformats.org/drawingml/2006/table">
            <a:tbl>
              <a:tblPr firstRow="1" bandRow="1">
                <a:tableStyleId>{21E4AEA4-8DFA-4A89-87EB-49C32662AFE0}</a:tableStyleId>
              </a:tblPr>
              <a:tblGrid>
                <a:gridCol w="2667000">
                  <a:extLst>
                    <a:ext uri="{9D8B030D-6E8A-4147-A177-3AD203B41FA5}">
                      <a16:colId xmlns:a16="http://schemas.microsoft.com/office/drawing/2014/main" val="20000"/>
                    </a:ext>
                  </a:extLst>
                </a:gridCol>
                <a:gridCol w="5562600">
                  <a:extLst>
                    <a:ext uri="{9D8B030D-6E8A-4147-A177-3AD203B41FA5}">
                      <a16:colId xmlns:a16="http://schemas.microsoft.com/office/drawing/2014/main" val="20001"/>
                    </a:ext>
                  </a:extLst>
                </a:gridCol>
              </a:tblGrid>
              <a:tr h="370840">
                <a:tc>
                  <a:txBody>
                    <a:bodyPr/>
                    <a:lstStyle/>
                    <a:p>
                      <a:r>
                        <a:rPr lang="en-US" sz="2400" dirty="0"/>
                        <a:t>Combining Form</a:t>
                      </a:r>
                    </a:p>
                  </a:txBody>
                  <a:tcPr/>
                </a:tc>
                <a:tc>
                  <a:txBody>
                    <a:bodyPr/>
                    <a:lstStyle/>
                    <a:p>
                      <a:r>
                        <a:rPr lang="en-US" sz="2400" dirty="0"/>
                        <a:t>Meaning</a:t>
                      </a:r>
                    </a:p>
                  </a:txBody>
                  <a:tcPr/>
                </a:tc>
                <a:extLst>
                  <a:ext uri="{0D108BD9-81ED-4DB2-BD59-A6C34878D82A}">
                    <a16:rowId xmlns:a16="http://schemas.microsoft.com/office/drawing/2014/main" val="10000"/>
                  </a:ext>
                </a:extLst>
              </a:tr>
              <a:tr h="370840">
                <a:tc>
                  <a:txBody>
                    <a:bodyPr/>
                    <a:lstStyle/>
                    <a:p>
                      <a:r>
                        <a:rPr lang="en-US" altLang="en-US" sz="2400" b="1" dirty="0" err="1"/>
                        <a:t>culd</a:t>
                      </a:r>
                      <a:r>
                        <a:rPr lang="en-US" altLang="en-US" sz="2400" b="1" dirty="0"/>
                        <a:t>/o</a:t>
                      </a:r>
                      <a:endParaRPr lang="en-US" sz="2400" dirty="0"/>
                    </a:p>
                  </a:txBody>
                  <a:tcPr/>
                </a:tc>
                <a:tc>
                  <a:txBody>
                    <a:bodyPr/>
                    <a:lstStyle/>
                    <a:p>
                      <a:r>
                        <a:rPr lang="en-US" altLang="en-US" sz="2400" dirty="0"/>
                        <a:t>cul-de-sac</a:t>
                      </a:r>
                      <a:endParaRPr lang="en-US" sz="2400" dirty="0"/>
                    </a:p>
                  </a:txBody>
                  <a:tcPr/>
                </a:tc>
                <a:extLst>
                  <a:ext uri="{0D108BD9-81ED-4DB2-BD59-A6C34878D82A}">
                    <a16:rowId xmlns:a16="http://schemas.microsoft.com/office/drawing/2014/main" val="10001"/>
                  </a:ext>
                </a:extLst>
              </a:tr>
              <a:tr h="370840">
                <a:tc>
                  <a:txBody>
                    <a:bodyPr/>
                    <a:lstStyle/>
                    <a:p>
                      <a:r>
                        <a:rPr lang="en-US" altLang="en-US" sz="2400" b="1" dirty="0" err="1"/>
                        <a:t>episi</a:t>
                      </a:r>
                      <a:r>
                        <a:rPr lang="en-US" altLang="en-US" sz="2400" b="1" dirty="0"/>
                        <a:t>/o</a:t>
                      </a:r>
                      <a:endParaRPr lang="en-US" sz="2400" dirty="0"/>
                    </a:p>
                  </a:txBody>
                  <a:tcPr/>
                </a:tc>
                <a:tc>
                  <a:txBody>
                    <a:bodyPr/>
                    <a:lstStyle/>
                    <a:p>
                      <a:r>
                        <a:rPr lang="en-US" altLang="en-US" sz="2400" dirty="0"/>
                        <a:t>vulva</a:t>
                      </a:r>
                      <a:endParaRPr lang="en-US" sz="2400" dirty="0"/>
                    </a:p>
                  </a:txBody>
                  <a:tcPr/>
                </a:tc>
                <a:extLst>
                  <a:ext uri="{0D108BD9-81ED-4DB2-BD59-A6C34878D82A}">
                    <a16:rowId xmlns:a16="http://schemas.microsoft.com/office/drawing/2014/main" val="10002"/>
                  </a:ext>
                </a:extLst>
              </a:tr>
              <a:tr h="370840">
                <a:tc>
                  <a:txBody>
                    <a:bodyPr/>
                    <a:lstStyle/>
                    <a:p>
                      <a:r>
                        <a:rPr lang="en-US" altLang="en-US" sz="2400" b="1" dirty="0" err="1"/>
                        <a:t>galact</a:t>
                      </a:r>
                      <a:r>
                        <a:rPr lang="en-US" altLang="en-US" sz="2400" b="1" dirty="0"/>
                        <a:t>/o</a:t>
                      </a:r>
                      <a:endParaRPr lang="en-US" sz="2400" dirty="0"/>
                    </a:p>
                  </a:txBody>
                  <a:tcPr/>
                </a:tc>
                <a:tc>
                  <a:txBody>
                    <a:bodyPr/>
                    <a:lstStyle/>
                    <a:p>
                      <a:r>
                        <a:rPr lang="en-US" altLang="en-US" sz="2400" dirty="0"/>
                        <a:t>milk</a:t>
                      </a:r>
                      <a:endParaRPr lang="en-US" sz="2400" dirty="0"/>
                    </a:p>
                  </a:txBody>
                  <a:tcPr/>
                </a:tc>
                <a:extLst>
                  <a:ext uri="{0D108BD9-81ED-4DB2-BD59-A6C34878D82A}">
                    <a16:rowId xmlns:a16="http://schemas.microsoft.com/office/drawing/2014/main" val="10003"/>
                  </a:ext>
                </a:extLst>
              </a:tr>
              <a:tr h="370840">
                <a:tc>
                  <a:txBody>
                    <a:bodyPr/>
                    <a:lstStyle/>
                    <a:p>
                      <a:r>
                        <a:rPr lang="en-US" altLang="en-US" sz="2400" b="1" dirty="0" err="1"/>
                        <a:t>gynec</a:t>
                      </a:r>
                      <a:r>
                        <a:rPr lang="en-US" altLang="en-US" sz="2400" b="1" dirty="0"/>
                        <a:t>/o</a:t>
                      </a:r>
                      <a:endParaRPr lang="en-US" sz="2400" dirty="0"/>
                    </a:p>
                  </a:txBody>
                  <a:tcPr/>
                </a:tc>
                <a:tc>
                  <a:txBody>
                    <a:bodyPr/>
                    <a:lstStyle/>
                    <a:p>
                      <a:r>
                        <a:rPr lang="en-US" altLang="en-US" sz="2400" dirty="0"/>
                        <a:t>woman, female</a:t>
                      </a:r>
                      <a:endParaRPr lang="en-US" sz="2400" dirty="0"/>
                    </a:p>
                  </a:txBody>
                  <a:tcPr/>
                </a:tc>
                <a:extLst>
                  <a:ext uri="{0D108BD9-81ED-4DB2-BD59-A6C34878D82A}">
                    <a16:rowId xmlns:a16="http://schemas.microsoft.com/office/drawing/2014/main" val="10004"/>
                  </a:ext>
                </a:extLst>
              </a:tr>
              <a:tr h="370840">
                <a:tc>
                  <a:txBody>
                    <a:bodyPr/>
                    <a:lstStyle/>
                    <a:p>
                      <a:r>
                        <a:rPr lang="en-US" altLang="en-US" sz="2400" b="1" dirty="0" err="1"/>
                        <a:t>hyster</a:t>
                      </a:r>
                      <a:r>
                        <a:rPr lang="en-US" altLang="en-US" sz="2400" b="1" dirty="0"/>
                        <a:t>/o</a:t>
                      </a:r>
                      <a:endParaRPr lang="en-US" sz="2400" dirty="0"/>
                    </a:p>
                  </a:txBody>
                  <a:tcPr/>
                </a:tc>
                <a:tc>
                  <a:txBody>
                    <a:bodyPr/>
                    <a:lstStyle/>
                    <a:p>
                      <a:r>
                        <a:rPr lang="en-US" altLang="en-US" sz="2400" dirty="0"/>
                        <a:t>uterus, womb</a:t>
                      </a:r>
                      <a:endParaRPr lang="en-US" sz="2400" dirty="0"/>
                    </a:p>
                  </a:txBody>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124438075"/>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Review Sheet – Combining Forms</a:t>
            </a:r>
            <a:br>
              <a:rPr lang="en-US" dirty="0"/>
            </a:br>
            <a:r>
              <a:rPr lang="en-US" sz="4000" dirty="0"/>
              <a:t>(Slide 5 of 12)</a:t>
            </a:r>
          </a:p>
        </p:txBody>
      </p:sp>
      <p:graphicFrame>
        <p:nvGraphicFramePr>
          <p:cNvPr id="7" name="Content Placeholder 6" descr="Group 3 of 6 combining forms from the Review Sheet of the text.  The following slide lists these same combining forms with corresponding meanings."/>
          <p:cNvGraphicFramePr>
            <a:graphicFrameLocks noGrp="1"/>
          </p:cNvGraphicFramePr>
          <p:nvPr>
            <p:ph idx="1"/>
            <p:extLst>
              <p:ext uri="{D42A27DB-BD31-4B8C-83A1-F6EECF244321}">
                <p14:modId xmlns:p14="http://schemas.microsoft.com/office/powerpoint/2010/main" val="296089147"/>
              </p:ext>
            </p:extLst>
          </p:nvPr>
        </p:nvGraphicFramePr>
        <p:xfrm>
          <a:off x="3238500" y="2133600"/>
          <a:ext cx="2667000" cy="2743200"/>
        </p:xfrm>
        <a:graphic>
          <a:graphicData uri="http://schemas.openxmlformats.org/drawingml/2006/table">
            <a:tbl>
              <a:tblPr firstRow="1" bandRow="1">
                <a:tableStyleId>{21E4AEA4-8DFA-4A89-87EB-49C32662AFE0}</a:tableStyleId>
              </a:tblPr>
              <a:tblGrid>
                <a:gridCol w="2667000">
                  <a:extLst>
                    <a:ext uri="{9D8B030D-6E8A-4147-A177-3AD203B41FA5}">
                      <a16:colId xmlns:a16="http://schemas.microsoft.com/office/drawing/2014/main" val="20000"/>
                    </a:ext>
                  </a:extLst>
                </a:gridCol>
              </a:tblGrid>
              <a:tr h="370840">
                <a:tc>
                  <a:txBody>
                    <a:bodyPr/>
                    <a:lstStyle/>
                    <a:p>
                      <a:r>
                        <a:rPr lang="en-US" sz="2400" dirty="0"/>
                        <a:t>Combining Form</a:t>
                      </a:r>
                    </a:p>
                  </a:txBody>
                  <a:tcPr/>
                </a:tc>
                <a:extLst>
                  <a:ext uri="{0D108BD9-81ED-4DB2-BD59-A6C34878D82A}">
                    <a16:rowId xmlns:a16="http://schemas.microsoft.com/office/drawing/2014/main" val="10000"/>
                  </a:ext>
                </a:extLst>
              </a:tr>
              <a:tr h="370840">
                <a:tc>
                  <a:txBody>
                    <a:bodyPr/>
                    <a:lstStyle/>
                    <a:p>
                      <a:r>
                        <a:rPr lang="en-US" altLang="en-US" sz="2400" b="1" dirty="0" err="1"/>
                        <a:t>lact</a:t>
                      </a:r>
                      <a:r>
                        <a:rPr lang="en-US" altLang="en-US" sz="2400" b="1" dirty="0"/>
                        <a:t>/o</a:t>
                      </a:r>
                      <a:endParaRPr lang="en-US" sz="2400" dirty="0"/>
                    </a:p>
                  </a:txBody>
                  <a:tcPr/>
                </a:tc>
                <a:extLst>
                  <a:ext uri="{0D108BD9-81ED-4DB2-BD59-A6C34878D82A}">
                    <a16:rowId xmlns:a16="http://schemas.microsoft.com/office/drawing/2014/main" val="10001"/>
                  </a:ext>
                </a:extLst>
              </a:tr>
              <a:tr h="370840">
                <a:tc>
                  <a:txBody>
                    <a:bodyPr/>
                    <a:lstStyle/>
                    <a:p>
                      <a:r>
                        <a:rPr lang="en-US" altLang="en-US" sz="2400" b="1" dirty="0" err="1"/>
                        <a:t>mamm</a:t>
                      </a:r>
                      <a:r>
                        <a:rPr lang="en-US" altLang="en-US" sz="2400" b="1" dirty="0"/>
                        <a:t>/o</a:t>
                      </a:r>
                      <a:endParaRPr lang="en-US" sz="2400" dirty="0"/>
                    </a:p>
                  </a:txBody>
                  <a:tcPr/>
                </a:tc>
                <a:extLst>
                  <a:ext uri="{0D108BD9-81ED-4DB2-BD59-A6C34878D82A}">
                    <a16:rowId xmlns:a16="http://schemas.microsoft.com/office/drawing/2014/main" val="10002"/>
                  </a:ext>
                </a:extLst>
              </a:tr>
              <a:tr h="370840">
                <a:tc>
                  <a:txBody>
                    <a:bodyPr/>
                    <a:lstStyle/>
                    <a:p>
                      <a:r>
                        <a:rPr lang="en-US" altLang="en-US" sz="2400" b="1" dirty="0"/>
                        <a:t>mast/o</a:t>
                      </a:r>
                      <a:endParaRPr lang="en-US" sz="2400" dirty="0"/>
                    </a:p>
                  </a:txBody>
                  <a:tcPr/>
                </a:tc>
                <a:extLst>
                  <a:ext uri="{0D108BD9-81ED-4DB2-BD59-A6C34878D82A}">
                    <a16:rowId xmlns:a16="http://schemas.microsoft.com/office/drawing/2014/main" val="10003"/>
                  </a:ext>
                </a:extLst>
              </a:tr>
              <a:tr h="370840">
                <a:tc>
                  <a:txBody>
                    <a:bodyPr/>
                    <a:lstStyle/>
                    <a:p>
                      <a:r>
                        <a:rPr lang="en-US" altLang="en-US" sz="2400" b="1" dirty="0"/>
                        <a:t>men/o</a:t>
                      </a:r>
                      <a:endParaRPr lang="en-US" sz="2400" dirty="0"/>
                    </a:p>
                  </a:txBody>
                  <a:tcPr/>
                </a:tc>
                <a:extLst>
                  <a:ext uri="{0D108BD9-81ED-4DB2-BD59-A6C34878D82A}">
                    <a16:rowId xmlns:a16="http://schemas.microsoft.com/office/drawing/2014/main" val="10004"/>
                  </a:ext>
                </a:extLst>
              </a:tr>
              <a:tr h="370840">
                <a:tc>
                  <a:txBody>
                    <a:bodyPr/>
                    <a:lstStyle/>
                    <a:p>
                      <a:r>
                        <a:rPr lang="en-US" altLang="en-US" sz="2400" b="1" dirty="0" err="1"/>
                        <a:t>metr</a:t>
                      </a:r>
                      <a:r>
                        <a:rPr lang="en-US" altLang="en-US" sz="2400" b="1" dirty="0"/>
                        <a:t>/o</a:t>
                      </a:r>
                      <a:endParaRPr lang="en-US" sz="2400" dirty="0"/>
                    </a:p>
                  </a:txBody>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070449684"/>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Review Sheet – Combining Forms</a:t>
            </a:r>
            <a:br>
              <a:rPr lang="en-US" dirty="0"/>
            </a:br>
            <a:r>
              <a:rPr lang="en-US" sz="4000" dirty="0"/>
              <a:t>(Slide 6 of 12)</a:t>
            </a:r>
          </a:p>
        </p:txBody>
      </p:sp>
      <p:graphicFrame>
        <p:nvGraphicFramePr>
          <p:cNvPr id="7" name="Content Placeholder 6" descr="Group 3 of 6 combining forms from the Review Sheet of the text with their corresponding meanings."/>
          <p:cNvGraphicFramePr>
            <a:graphicFrameLocks noGrp="1"/>
          </p:cNvGraphicFramePr>
          <p:nvPr>
            <p:ph idx="1"/>
            <p:extLst>
              <p:ext uri="{D42A27DB-BD31-4B8C-83A1-F6EECF244321}">
                <p14:modId xmlns:p14="http://schemas.microsoft.com/office/powerpoint/2010/main" val="1492059418"/>
              </p:ext>
            </p:extLst>
          </p:nvPr>
        </p:nvGraphicFramePr>
        <p:xfrm>
          <a:off x="457200" y="1600200"/>
          <a:ext cx="8229600" cy="2743200"/>
        </p:xfrm>
        <a:graphic>
          <a:graphicData uri="http://schemas.openxmlformats.org/drawingml/2006/table">
            <a:tbl>
              <a:tblPr firstRow="1" bandRow="1">
                <a:tableStyleId>{21E4AEA4-8DFA-4A89-87EB-49C32662AFE0}</a:tableStyleId>
              </a:tblPr>
              <a:tblGrid>
                <a:gridCol w="2667000">
                  <a:extLst>
                    <a:ext uri="{9D8B030D-6E8A-4147-A177-3AD203B41FA5}">
                      <a16:colId xmlns:a16="http://schemas.microsoft.com/office/drawing/2014/main" val="20000"/>
                    </a:ext>
                  </a:extLst>
                </a:gridCol>
                <a:gridCol w="5562600">
                  <a:extLst>
                    <a:ext uri="{9D8B030D-6E8A-4147-A177-3AD203B41FA5}">
                      <a16:colId xmlns:a16="http://schemas.microsoft.com/office/drawing/2014/main" val="20001"/>
                    </a:ext>
                  </a:extLst>
                </a:gridCol>
              </a:tblGrid>
              <a:tr h="370840">
                <a:tc>
                  <a:txBody>
                    <a:bodyPr/>
                    <a:lstStyle/>
                    <a:p>
                      <a:r>
                        <a:rPr lang="en-US" sz="2400" dirty="0"/>
                        <a:t>Combining Form</a:t>
                      </a:r>
                    </a:p>
                  </a:txBody>
                  <a:tcPr/>
                </a:tc>
                <a:tc>
                  <a:txBody>
                    <a:bodyPr/>
                    <a:lstStyle/>
                    <a:p>
                      <a:r>
                        <a:rPr lang="en-US" sz="2400" dirty="0"/>
                        <a:t>Meaning</a:t>
                      </a:r>
                    </a:p>
                  </a:txBody>
                  <a:tcPr/>
                </a:tc>
                <a:extLst>
                  <a:ext uri="{0D108BD9-81ED-4DB2-BD59-A6C34878D82A}">
                    <a16:rowId xmlns:a16="http://schemas.microsoft.com/office/drawing/2014/main" val="10000"/>
                  </a:ext>
                </a:extLst>
              </a:tr>
              <a:tr h="370840">
                <a:tc>
                  <a:txBody>
                    <a:bodyPr/>
                    <a:lstStyle/>
                    <a:p>
                      <a:r>
                        <a:rPr lang="en-US" altLang="en-US" sz="2400" b="1" dirty="0" err="1"/>
                        <a:t>lact</a:t>
                      </a:r>
                      <a:r>
                        <a:rPr lang="en-US" altLang="en-US" sz="2400" b="1" dirty="0"/>
                        <a:t>/o</a:t>
                      </a:r>
                      <a:endParaRPr lang="en-US" sz="2400" dirty="0"/>
                    </a:p>
                  </a:txBody>
                  <a:tcPr/>
                </a:tc>
                <a:tc>
                  <a:txBody>
                    <a:bodyPr/>
                    <a:lstStyle/>
                    <a:p>
                      <a:r>
                        <a:rPr lang="en-US" altLang="en-US" sz="2400" dirty="0"/>
                        <a:t>milk</a:t>
                      </a:r>
                      <a:endParaRPr lang="en-US" sz="2400" dirty="0"/>
                    </a:p>
                  </a:txBody>
                  <a:tcPr/>
                </a:tc>
                <a:extLst>
                  <a:ext uri="{0D108BD9-81ED-4DB2-BD59-A6C34878D82A}">
                    <a16:rowId xmlns:a16="http://schemas.microsoft.com/office/drawing/2014/main" val="10001"/>
                  </a:ext>
                </a:extLst>
              </a:tr>
              <a:tr h="370840">
                <a:tc>
                  <a:txBody>
                    <a:bodyPr/>
                    <a:lstStyle/>
                    <a:p>
                      <a:r>
                        <a:rPr lang="en-US" altLang="en-US" sz="2400" b="1" dirty="0" err="1"/>
                        <a:t>mamm</a:t>
                      </a:r>
                      <a:r>
                        <a:rPr lang="en-US" altLang="en-US" sz="2400" b="1" dirty="0"/>
                        <a:t>/o</a:t>
                      </a:r>
                      <a:endParaRPr lang="en-US" sz="2400" dirty="0"/>
                    </a:p>
                  </a:txBody>
                  <a:tcPr/>
                </a:tc>
                <a:tc>
                  <a:txBody>
                    <a:bodyPr/>
                    <a:lstStyle/>
                    <a:p>
                      <a:r>
                        <a:rPr lang="en-US" altLang="en-US" sz="2400" dirty="0"/>
                        <a:t>breast</a:t>
                      </a:r>
                      <a:endParaRPr lang="en-US" sz="2400" dirty="0"/>
                    </a:p>
                  </a:txBody>
                  <a:tcPr/>
                </a:tc>
                <a:extLst>
                  <a:ext uri="{0D108BD9-81ED-4DB2-BD59-A6C34878D82A}">
                    <a16:rowId xmlns:a16="http://schemas.microsoft.com/office/drawing/2014/main" val="10002"/>
                  </a:ext>
                </a:extLst>
              </a:tr>
              <a:tr h="370840">
                <a:tc>
                  <a:txBody>
                    <a:bodyPr/>
                    <a:lstStyle/>
                    <a:p>
                      <a:r>
                        <a:rPr lang="en-US" altLang="en-US" sz="2400" b="1" dirty="0"/>
                        <a:t>mast/o</a:t>
                      </a:r>
                      <a:endParaRPr lang="en-US" sz="2400" dirty="0"/>
                    </a:p>
                  </a:txBody>
                  <a:tcPr/>
                </a:tc>
                <a:tc>
                  <a:txBody>
                    <a:bodyPr/>
                    <a:lstStyle/>
                    <a:p>
                      <a:r>
                        <a:rPr lang="en-US" altLang="en-US" sz="2400" dirty="0"/>
                        <a:t>breast</a:t>
                      </a:r>
                      <a:endParaRPr lang="en-US" sz="2400" dirty="0"/>
                    </a:p>
                  </a:txBody>
                  <a:tcPr/>
                </a:tc>
                <a:extLst>
                  <a:ext uri="{0D108BD9-81ED-4DB2-BD59-A6C34878D82A}">
                    <a16:rowId xmlns:a16="http://schemas.microsoft.com/office/drawing/2014/main" val="10003"/>
                  </a:ext>
                </a:extLst>
              </a:tr>
              <a:tr h="370840">
                <a:tc>
                  <a:txBody>
                    <a:bodyPr/>
                    <a:lstStyle/>
                    <a:p>
                      <a:r>
                        <a:rPr lang="en-US" altLang="en-US" sz="2400" b="1" dirty="0"/>
                        <a:t>men/o</a:t>
                      </a:r>
                      <a:endParaRPr lang="en-US" sz="2400" dirty="0"/>
                    </a:p>
                  </a:txBody>
                  <a:tcPr/>
                </a:tc>
                <a:tc>
                  <a:txBody>
                    <a:bodyPr/>
                    <a:lstStyle/>
                    <a:p>
                      <a:r>
                        <a:rPr lang="en-US" altLang="en-US" sz="2400" dirty="0"/>
                        <a:t>menses, menstruation</a:t>
                      </a:r>
                      <a:endParaRPr lang="en-US" sz="2400" dirty="0"/>
                    </a:p>
                  </a:txBody>
                  <a:tcPr/>
                </a:tc>
                <a:extLst>
                  <a:ext uri="{0D108BD9-81ED-4DB2-BD59-A6C34878D82A}">
                    <a16:rowId xmlns:a16="http://schemas.microsoft.com/office/drawing/2014/main" val="10004"/>
                  </a:ext>
                </a:extLst>
              </a:tr>
              <a:tr h="370840">
                <a:tc>
                  <a:txBody>
                    <a:bodyPr/>
                    <a:lstStyle/>
                    <a:p>
                      <a:r>
                        <a:rPr lang="en-US" altLang="en-US" sz="2400" b="1" dirty="0" err="1"/>
                        <a:t>metr</a:t>
                      </a:r>
                      <a:r>
                        <a:rPr lang="en-US" altLang="en-US" sz="2400" b="1" dirty="0"/>
                        <a:t>/o</a:t>
                      </a:r>
                      <a:endParaRPr lang="en-US" sz="2400" dirty="0"/>
                    </a:p>
                  </a:txBody>
                  <a:tcPr/>
                </a:tc>
                <a:tc>
                  <a:txBody>
                    <a:bodyPr/>
                    <a:lstStyle/>
                    <a:p>
                      <a:r>
                        <a:rPr lang="en-US" altLang="en-US" sz="2400" dirty="0"/>
                        <a:t>uterus</a:t>
                      </a:r>
                      <a:endParaRPr lang="en-US" sz="2400" dirty="0"/>
                    </a:p>
                  </a:txBody>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692525449"/>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Review Sheet – Combining Forms</a:t>
            </a:r>
            <a:br>
              <a:rPr lang="en-US" dirty="0"/>
            </a:br>
            <a:r>
              <a:rPr lang="en-US" sz="4000" dirty="0"/>
              <a:t>(Slide 7 of 12)</a:t>
            </a:r>
          </a:p>
        </p:txBody>
      </p:sp>
      <p:graphicFrame>
        <p:nvGraphicFramePr>
          <p:cNvPr id="7" name="Content Placeholder 6" descr="Group 4 of 6 combining forms from the Review Sheet of the text.  The following slide lists these same combining forms with corresponding meanings."/>
          <p:cNvGraphicFramePr>
            <a:graphicFrameLocks noGrp="1"/>
          </p:cNvGraphicFramePr>
          <p:nvPr>
            <p:ph idx="1"/>
            <p:extLst>
              <p:ext uri="{D42A27DB-BD31-4B8C-83A1-F6EECF244321}">
                <p14:modId xmlns:p14="http://schemas.microsoft.com/office/powerpoint/2010/main" val="980242783"/>
              </p:ext>
            </p:extLst>
          </p:nvPr>
        </p:nvGraphicFramePr>
        <p:xfrm>
          <a:off x="3238500" y="2057400"/>
          <a:ext cx="2667000" cy="3200400"/>
        </p:xfrm>
        <a:graphic>
          <a:graphicData uri="http://schemas.openxmlformats.org/drawingml/2006/table">
            <a:tbl>
              <a:tblPr firstRow="1" bandRow="1">
                <a:tableStyleId>{21E4AEA4-8DFA-4A89-87EB-49C32662AFE0}</a:tableStyleId>
              </a:tblPr>
              <a:tblGrid>
                <a:gridCol w="2667000">
                  <a:extLst>
                    <a:ext uri="{9D8B030D-6E8A-4147-A177-3AD203B41FA5}">
                      <a16:colId xmlns:a16="http://schemas.microsoft.com/office/drawing/2014/main" val="20000"/>
                    </a:ext>
                  </a:extLst>
                </a:gridCol>
              </a:tblGrid>
              <a:tr h="370840">
                <a:tc>
                  <a:txBody>
                    <a:bodyPr/>
                    <a:lstStyle/>
                    <a:p>
                      <a:r>
                        <a:rPr lang="en-US" sz="2400" dirty="0"/>
                        <a:t>Combining Form</a:t>
                      </a:r>
                    </a:p>
                  </a:txBody>
                  <a:tcPr/>
                </a:tc>
                <a:extLst>
                  <a:ext uri="{0D108BD9-81ED-4DB2-BD59-A6C34878D82A}">
                    <a16:rowId xmlns:a16="http://schemas.microsoft.com/office/drawing/2014/main" val="10000"/>
                  </a:ext>
                </a:extLst>
              </a:tr>
              <a:tr h="370840">
                <a:tc>
                  <a:txBody>
                    <a:bodyPr/>
                    <a:lstStyle/>
                    <a:p>
                      <a:r>
                        <a:rPr lang="en-US" altLang="en-US" sz="2400" b="1" dirty="0"/>
                        <a:t>my/o</a:t>
                      </a:r>
                      <a:endParaRPr lang="en-US" sz="2400" dirty="0"/>
                    </a:p>
                  </a:txBody>
                  <a:tcPr/>
                </a:tc>
                <a:extLst>
                  <a:ext uri="{0D108BD9-81ED-4DB2-BD59-A6C34878D82A}">
                    <a16:rowId xmlns:a16="http://schemas.microsoft.com/office/drawing/2014/main" val="10001"/>
                  </a:ext>
                </a:extLst>
              </a:tr>
              <a:tr h="370840">
                <a:tc>
                  <a:txBody>
                    <a:bodyPr/>
                    <a:lstStyle/>
                    <a:p>
                      <a:r>
                        <a:rPr lang="en-US" altLang="en-US" sz="2400" b="1" dirty="0" err="1"/>
                        <a:t>myom</a:t>
                      </a:r>
                      <a:r>
                        <a:rPr lang="en-US" altLang="en-US" sz="2400" b="1" dirty="0"/>
                        <a:t>/o</a:t>
                      </a:r>
                      <a:endParaRPr lang="en-US" sz="2400" dirty="0"/>
                    </a:p>
                  </a:txBody>
                  <a:tcPr/>
                </a:tc>
                <a:extLst>
                  <a:ext uri="{0D108BD9-81ED-4DB2-BD59-A6C34878D82A}">
                    <a16:rowId xmlns:a16="http://schemas.microsoft.com/office/drawing/2014/main" val="10002"/>
                  </a:ext>
                </a:extLst>
              </a:tr>
              <a:tr h="370840">
                <a:tc>
                  <a:txBody>
                    <a:bodyPr/>
                    <a:lstStyle/>
                    <a:p>
                      <a:r>
                        <a:rPr lang="en-US" altLang="en-US" sz="2400" b="1" dirty="0" err="1"/>
                        <a:t>nat</a:t>
                      </a:r>
                      <a:r>
                        <a:rPr lang="en-US" altLang="en-US" sz="2400" b="1" dirty="0"/>
                        <a:t>/</a:t>
                      </a:r>
                      <a:r>
                        <a:rPr lang="en-US" altLang="en-US" sz="2400" b="1" dirty="0" err="1"/>
                        <a:t>i</a:t>
                      </a:r>
                      <a:endParaRPr lang="en-US" sz="2400" dirty="0"/>
                    </a:p>
                  </a:txBody>
                  <a:tcPr/>
                </a:tc>
                <a:extLst>
                  <a:ext uri="{0D108BD9-81ED-4DB2-BD59-A6C34878D82A}">
                    <a16:rowId xmlns:a16="http://schemas.microsoft.com/office/drawing/2014/main" val="10003"/>
                  </a:ext>
                </a:extLst>
              </a:tr>
              <a:tr h="370840">
                <a:tc>
                  <a:txBody>
                    <a:bodyPr/>
                    <a:lstStyle/>
                    <a:p>
                      <a:r>
                        <a:rPr lang="en-US" altLang="en-US" sz="2400" b="1" dirty="0" err="1"/>
                        <a:t>obstetr</a:t>
                      </a:r>
                      <a:r>
                        <a:rPr lang="en-US" altLang="en-US" sz="2400" b="1" dirty="0"/>
                        <a:t>/o</a:t>
                      </a:r>
                      <a:endParaRPr lang="en-US" sz="2400" dirty="0"/>
                    </a:p>
                  </a:txBody>
                  <a:tcPr/>
                </a:tc>
                <a:extLst>
                  <a:ext uri="{0D108BD9-81ED-4DB2-BD59-A6C34878D82A}">
                    <a16:rowId xmlns:a16="http://schemas.microsoft.com/office/drawing/2014/main" val="10004"/>
                  </a:ext>
                </a:extLst>
              </a:tr>
              <a:tr h="370840">
                <a:tc>
                  <a:txBody>
                    <a:bodyPr/>
                    <a:lstStyle/>
                    <a:p>
                      <a:r>
                        <a:rPr lang="en-US" altLang="en-US" sz="2400" b="1" dirty="0" err="1"/>
                        <a:t>olig</a:t>
                      </a:r>
                      <a:r>
                        <a:rPr lang="en-US" altLang="en-US" sz="2400" b="1" dirty="0"/>
                        <a:t>/o</a:t>
                      </a:r>
                      <a:endParaRPr lang="en-US" sz="2400" dirty="0"/>
                    </a:p>
                  </a:txBody>
                  <a:tcPr/>
                </a:tc>
                <a:extLst>
                  <a:ext uri="{0D108BD9-81ED-4DB2-BD59-A6C34878D82A}">
                    <a16:rowId xmlns:a16="http://schemas.microsoft.com/office/drawing/2014/main" val="10005"/>
                  </a:ext>
                </a:extLst>
              </a:tr>
              <a:tr h="370840">
                <a:tc>
                  <a:txBody>
                    <a:bodyPr/>
                    <a:lstStyle/>
                    <a:p>
                      <a:r>
                        <a:rPr lang="en-US" altLang="en-US" sz="2400" b="1" dirty="0"/>
                        <a:t>o/o</a:t>
                      </a:r>
                      <a:endParaRPr lang="en-US" sz="2400" dirty="0"/>
                    </a:p>
                  </a:txBody>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349700543"/>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Review Sheet – Combining Forms</a:t>
            </a:r>
            <a:br>
              <a:rPr lang="en-US" dirty="0"/>
            </a:br>
            <a:r>
              <a:rPr lang="en-US" sz="4000" dirty="0"/>
              <a:t>(Slide 8 of 12)</a:t>
            </a:r>
          </a:p>
        </p:txBody>
      </p:sp>
      <p:graphicFrame>
        <p:nvGraphicFramePr>
          <p:cNvPr id="7" name="Content Placeholder 6" descr="Group 4 of 6 combining forms from the Review Sheet of the text with their corresponding meanings."/>
          <p:cNvGraphicFramePr>
            <a:graphicFrameLocks noGrp="1"/>
          </p:cNvGraphicFramePr>
          <p:nvPr>
            <p:ph idx="1"/>
            <p:extLst>
              <p:ext uri="{D42A27DB-BD31-4B8C-83A1-F6EECF244321}">
                <p14:modId xmlns:p14="http://schemas.microsoft.com/office/powerpoint/2010/main" val="28837354"/>
              </p:ext>
            </p:extLst>
          </p:nvPr>
        </p:nvGraphicFramePr>
        <p:xfrm>
          <a:off x="457200" y="1600200"/>
          <a:ext cx="8229600" cy="3200400"/>
        </p:xfrm>
        <a:graphic>
          <a:graphicData uri="http://schemas.openxmlformats.org/drawingml/2006/table">
            <a:tbl>
              <a:tblPr firstRow="1" bandRow="1">
                <a:tableStyleId>{21E4AEA4-8DFA-4A89-87EB-49C32662AFE0}</a:tableStyleId>
              </a:tblPr>
              <a:tblGrid>
                <a:gridCol w="2667000">
                  <a:extLst>
                    <a:ext uri="{9D8B030D-6E8A-4147-A177-3AD203B41FA5}">
                      <a16:colId xmlns:a16="http://schemas.microsoft.com/office/drawing/2014/main" val="20000"/>
                    </a:ext>
                  </a:extLst>
                </a:gridCol>
                <a:gridCol w="5562600">
                  <a:extLst>
                    <a:ext uri="{9D8B030D-6E8A-4147-A177-3AD203B41FA5}">
                      <a16:colId xmlns:a16="http://schemas.microsoft.com/office/drawing/2014/main" val="20001"/>
                    </a:ext>
                  </a:extLst>
                </a:gridCol>
              </a:tblGrid>
              <a:tr h="370840">
                <a:tc>
                  <a:txBody>
                    <a:bodyPr/>
                    <a:lstStyle/>
                    <a:p>
                      <a:r>
                        <a:rPr lang="en-US" sz="2400" dirty="0"/>
                        <a:t>Combining Form</a:t>
                      </a:r>
                    </a:p>
                  </a:txBody>
                  <a:tcPr/>
                </a:tc>
                <a:tc>
                  <a:txBody>
                    <a:bodyPr/>
                    <a:lstStyle/>
                    <a:p>
                      <a:r>
                        <a:rPr lang="en-US" sz="2400" dirty="0"/>
                        <a:t>Meaning</a:t>
                      </a:r>
                    </a:p>
                  </a:txBody>
                  <a:tcPr/>
                </a:tc>
                <a:extLst>
                  <a:ext uri="{0D108BD9-81ED-4DB2-BD59-A6C34878D82A}">
                    <a16:rowId xmlns:a16="http://schemas.microsoft.com/office/drawing/2014/main" val="10000"/>
                  </a:ext>
                </a:extLst>
              </a:tr>
              <a:tr h="370840">
                <a:tc>
                  <a:txBody>
                    <a:bodyPr/>
                    <a:lstStyle/>
                    <a:p>
                      <a:r>
                        <a:rPr lang="en-US" altLang="en-US" sz="2400" b="1" dirty="0"/>
                        <a:t>my/o</a:t>
                      </a:r>
                      <a:endParaRPr lang="en-US" sz="2400" dirty="0"/>
                    </a:p>
                  </a:txBody>
                  <a:tcPr/>
                </a:tc>
                <a:tc>
                  <a:txBody>
                    <a:bodyPr/>
                    <a:lstStyle/>
                    <a:p>
                      <a:r>
                        <a:rPr lang="en-US" sz="2400" dirty="0"/>
                        <a:t>muscle</a:t>
                      </a:r>
                    </a:p>
                  </a:txBody>
                  <a:tcPr/>
                </a:tc>
                <a:extLst>
                  <a:ext uri="{0D108BD9-81ED-4DB2-BD59-A6C34878D82A}">
                    <a16:rowId xmlns:a16="http://schemas.microsoft.com/office/drawing/2014/main" val="10001"/>
                  </a:ext>
                </a:extLst>
              </a:tr>
              <a:tr h="370840">
                <a:tc>
                  <a:txBody>
                    <a:bodyPr/>
                    <a:lstStyle/>
                    <a:p>
                      <a:r>
                        <a:rPr lang="en-US" altLang="en-US" sz="2400" b="1" dirty="0" err="1"/>
                        <a:t>myom</a:t>
                      </a:r>
                      <a:r>
                        <a:rPr lang="en-US" altLang="en-US" sz="2400" b="1" dirty="0"/>
                        <a:t>/o</a:t>
                      </a:r>
                      <a:endParaRPr lang="en-US" sz="2400" dirty="0"/>
                    </a:p>
                  </a:txBody>
                  <a:tcPr/>
                </a:tc>
                <a:tc>
                  <a:txBody>
                    <a:bodyPr/>
                    <a:lstStyle/>
                    <a:p>
                      <a:r>
                        <a:rPr lang="en-US" sz="2400" dirty="0"/>
                        <a:t>muscle</a:t>
                      </a:r>
                      <a:r>
                        <a:rPr lang="en-US" sz="2400" baseline="0" dirty="0"/>
                        <a:t> tumor</a:t>
                      </a:r>
                      <a:endParaRPr lang="en-US" sz="2400" dirty="0"/>
                    </a:p>
                  </a:txBody>
                  <a:tcPr/>
                </a:tc>
                <a:extLst>
                  <a:ext uri="{0D108BD9-81ED-4DB2-BD59-A6C34878D82A}">
                    <a16:rowId xmlns:a16="http://schemas.microsoft.com/office/drawing/2014/main" val="10002"/>
                  </a:ext>
                </a:extLst>
              </a:tr>
              <a:tr h="370840">
                <a:tc>
                  <a:txBody>
                    <a:bodyPr/>
                    <a:lstStyle/>
                    <a:p>
                      <a:r>
                        <a:rPr lang="en-US" altLang="en-US" sz="2400" b="1" dirty="0" err="1"/>
                        <a:t>nat</a:t>
                      </a:r>
                      <a:r>
                        <a:rPr lang="en-US" altLang="en-US" sz="2400" b="1" dirty="0"/>
                        <a:t>/</a:t>
                      </a:r>
                      <a:r>
                        <a:rPr lang="en-US" altLang="en-US" sz="2400" b="1" dirty="0" err="1"/>
                        <a:t>i</a:t>
                      </a:r>
                      <a:endParaRPr lang="en-US" sz="2400" dirty="0"/>
                    </a:p>
                  </a:txBody>
                  <a:tcPr/>
                </a:tc>
                <a:tc>
                  <a:txBody>
                    <a:bodyPr/>
                    <a:lstStyle/>
                    <a:p>
                      <a:r>
                        <a:rPr lang="en-US" sz="2400" dirty="0"/>
                        <a:t>birth</a:t>
                      </a:r>
                    </a:p>
                  </a:txBody>
                  <a:tcPr/>
                </a:tc>
                <a:extLst>
                  <a:ext uri="{0D108BD9-81ED-4DB2-BD59-A6C34878D82A}">
                    <a16:rowId xmlns:a16="http://schemas.microsoft.com/office/drawing/2014/main" val="10003"/>
                  </a:ext>
                </a:extLst>
              </a:tr>
              <a:tr h="370840">
                <a:tc>
                  <a:txBody>
                    <a:bodyPr/>
                    <a:lstStyle/>
                    <a:p>
                      <a:r>
                        <a:rPr lang="en-US" altLang="en-US" sz="2400" b="1" dirty="0" err="1"/>
                        <a:t>obstetr</a:t>
                      </a:r>
                      <a:r>
                        <a:rPr lang="en-US" altLang="en-US" sz="2400" b="1" dirty="0"/>
                        <a:t>/o</a:t>
                      </a:r>
                      <a:endParaRPr lang="en-US" sz="2400" dirty="0"/>
                    </a:p>
                  </a:txBody>
                  <a:tcPr/>
                </a:tc>
                <a:tc>
                  <a:txBody>
                    <a:bodyPr/>
                    <a:lstStyle/>
                    <a:p>
                      <a:r>
                        <a:rPr lang="en-US" sz="2400" dirty="0"/>
                        <a:t>pregnancy and childbirth</a:t>
                      </a:r>
                    </a:p>
                  </a:txBody>
                  <a:tcPr/>
                </a:tc>
                <a:extLst>
                  <a:ext uri="{0D108BD9-81ED-4DB2-BD59-A6C34878D82A}">
                    <a16:rowId xmlns:a16="http://schemas.microsoft.com/office/drawing/2014/main" val="10004"/>
                  </a:ext>
                </a:extLst>
              </a:tr>
              <a:tr h="370840">
                <a:tc>
                  <a:txBody>
                    <a:bodyPr/>
                    <a:lstStyle/>
                    <a:p>
                      <a:r>
                        <a:rPr lang="en-US" altLang="en-US" sz="2400" b="1" dirty="0" err="1"/>
                        <a:t>olig</a:t>
                      </a:r>
                      <a:r>
                        <a:rPr lang="en-US" altLang="en-US" sz="2400" b="1" dirty="0"/>
                        <a:t>/o</a:t>
                      </a:r>
                      <a:endParaRPr lang="en-US" sz="2400" dirty="0"/>
                    </a:p>
                  </a:txBody>
                  <a:tcPr/>
                </a:tc>
                <a:tc>
                  <a:txBody>
                    <a:bodyPr/>
                    <a:lstStyle/>
                    <a:p>
                      <a:r>
                        <a:rPr lang="en-US" sz="2400" dirty="0"/>
                        <a:t>scanty</a:t>
                      </a:r>
                    </a:p>
                  </a:txBody>
                  <a:tcPr/>
                </a:tc>
                <a:extLst>
                  <a:ext uri="{0D108BD9-81ED-4DB2-BD59-A6C34878D82A}">
                    <a16:rowId xmlns:a16="http://schemas.microsoft.com/office/drawing/2014/main" val="10005"/>
                  </a:ext>
                </a:extLst>
              </a:tr>
              <a:tr h="370840">
                <a:tc>
                  <a:txBody>
                    <a:bodyPr/>
                    <a:lstStyle/>
                    <a:p>
                      <a:r>
                        <a:rPr lang="en-US" altLang="en-US" sz="2400" b="1" dirty="0"/>
                        <a:t>o/o</a:t>
                      </a:r>
                      <a:endParaRPr lang="en-US" sz="2400" dirty="0"/>
                    </a:p>
                  </a:txBody>
                  <a:tcPr/>
                </a:tc>
                <a:tc>
                  <a:txBody>
                    <a:bodyPr/>
                    <a:lstStyle/>
                    <a:p>
                      <a:r>
                        <a:rPr lang="en-US" sz="2400" dirty="0"/>
                        <a:t>egg</a:t>
                      </a:r>
                    </a:p>
                  </a:txBody>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2345283710"/>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Review Sheet – Combining Forms</a:t>
            </a:r>
            <a:br>
              <a:rPr lang="en-US" dirty="0"/>
            </a:br>
            <a:r>
              <a:rPr lang="en-US" sz="4000" dirty="0"/>
              <a:t>(Slide 9 of 12)</a:t>
            </a:r>
          </a:p>
        </p:txBody>
      </p:sp>
      <p:graphicFrame>
        <p:nvGraphicFramePr>
          <p:cNvPr id="7" name="Content Placeholder 6" descr="Group 5 of 6 combining forms from the Review Sheet of the text.  The following slide lists these same combining forms with corresponding meanings."/>
          <p:cNvGraphicFramePr>
            <a:graphicFrameLocks noGrp="1"/>
          </p:cNvGraphicFramePr>
          <p:nvPr>
            <p:ph idx="1"/>
            <p:extLst>
              <p:ext uri="{D42A27DB-BD31-4B8C-83A1-F6EECF244321}">
                <p14:modId xmlns:p14="http://schemas.microsoft.com/office/powerpoint/2010/main" val="165483234"/>
              </p:ext>
            </p:extLst>
          </p:nvPr>
        </p:nvGraphicFramePr>
        <p:xfrm>
          <a:off x="3238500" y="2057400"/>
          <a:ext cx="2667000" cy="2743200"/>
        </p:xfrm>
        <a:graphic>
          <a:graphicData uri="http://schemas.openxmlformats.org/drawingml/2006/table">
            <a:tbl>
              <a:tblPr firstRow="1" bandRow="1">
                <a:tableStyleId>{21E4AEA4-8DFA-4A89-87EB-49C32662AFE0}</a:tableStyleId>
              </a:tblPr>
              <a:tblGrid>
                <a:gridCol w="2667000">
                  <a:extLst>
                    <a:ext uri="{9D8B030D-6E8A-4147-A177-3AD203B41FA5}">
                      <a16:colId xmlns:a16="http://schemas.microsoft.com/office/drawing/2014/main" val="20000"/>
                    </a:ext>
                  </a:extLst>
                </a:gridCol>
              </a:tblGrid>
              <a:tr h="370840">
                <a:tc>
                  <a:txBody>
                    <a:bodyPr/>
                    <a:lstStyle/>
                    <a:p>
                      <a:r>
                        <a:rPr lang="en-US" sz="2400" dirty="0"/>
                        <a:t>Combining Form</a:t>
                      </a:r>
                    </a:p>
                  </a:txBody>
                  <a:tcPr/>
                </a:tc>
                <a:extLst>
                  <a:ext uri="{0D108BD9-81ED-4DB2-BD59-A6C34878D82A}">
                    <a16:rowId xmlns:a16="http://schemas.microsoft.com/office/drawing/2014/main" val="10000"/>
                  </a:ext>
                </a:extLst>
              </a:tr>
              <a:tr h="370840">
                <a:tc>
                  <a:txBody>
                    <a:bodyPr/>
                    <a:lstStyle/>
                    <a:p>
                      <a:r>
                        <a:rPr lang="en-US" altLang="en-US" sz="2400" b="1" dirty="0" err="1"/>
                        <a:t>oophor</a:t>
                      </a:r>
                      <a:r>
                        <a:rPr lang="en-US" altLang="en-US" sz="2400" b="1" dirty="0"/>
                        <a:t>/o</a:t>
                      </a:r>
                      <a:endParaRPr lang="en-US" sz="2400" dirty="0"/>
                    </a:p>
                  </a:txBody>
                  <a:tcPr/>
                </a:tc>
                <a:extLst>
                  <a:ext uri="{0D108BD9-81ED-4DB2-BD59-A6C34878D82A}">
                    <a16:rowId xmlns:a16="http://schemas.microsoft.com/office/drawing/2014/main" val="10001"/>
                  </a:ext>
                </a:extLst>
              </a:tr>
              <a:tr h="370840">
                <a:tc>
                  <a:txBody>
                    <a:bodyPr/>
                    <a:lstStyle/>
                    <a:p>
                      <a:r>
                        <a:rPr lang="en-US" altLang="en-US" sz="2400" b="1" dirty="0" err="1"/>
                        <a:t>ov</a:t>
                      </a:r>
                      <a:r>
                        <a:rPr lang="en-US" altLang="en-US" sz="2400" b="1" dirty="0"/>
                        <a:t>/o</a:t>
                      </a:r>
                      <a:endParaRPr lang="en-US" sz="2400" dirty="0"/>
                    </a:p>
                  </a:txBody>
                  <a:tcPr/>
                </a:tc>
                <a:extLst>
                  <a:ext uri="{0D108BD9-81ED-4DB2-BD59-A6C34878D82A}">
                    <a16:rowId xmlns:a16="http://schemas.microsoft.com/office/drawing/2014/main" val="10002"/>
                  </a:ext>
                </a:extLst>
              </a:tr>
              <a:tr h="370840">
                <a:tc>
                  <a:txBody>
                    <a:bodyPr/>
                    <a:lstStyle/>
                    <a:p>
                      <a:r>
                        <a:rPr lang="en-US" altLang="en-US" sz="2400" b="1" dirty="0" err="1"/>
                        <a:t>ovari</a:t>
                      </a:r>
                      <a:r>
                        <a:rPr lang="en-US" altLang="en-US" sz="2400" b="1" dirty="0"/>
                        <a:t>/o</a:t>
                      </a:r>
                      <a:endParaRPr lang="en-US" sz="2400" dirty="0"/>
                    </a:p>
                  </a:txBody>
                  <a:tcPr/>
                </a:tc>
                <a:extLst>
                  <a:ext uri="{0D108BD9-81ED-4DB2-BD59-A6C34878D82A}">
                    <a16:rowId xmlns:a16="http://schemas.microsoft.com/office/drawing/2014/main" val="10003"/>
                  </a:ext>
                </a:extLst>
              </a:tr>
              <a:tr h="370840">
                <a:tc>
                  <a:txBody>
                    <a:bodyPr/>
                    <a:lstStyle/>
                    <a:p>
                      <a:r>
                        <a:rPr lang="en-US" altLang="en-US" sz="2400" b="1" dirty="0" err="1"/>
                        <a:t>ovul</a:t>
                      </a:r>
                      <a:r>
                        <a:rPr lang="en-US" altLang="en-US" sz="2400" b="1" dirty="0"/>
                        <a:t>/o</a:t>
                      </a:r>
                      <a:endParaRPr lang="en-US" sz="2400" dirty="0"/>
                    </a:p>
                  </a:txBody>
                  <a:tcPr/>
                </a:tc>
                <a:extLst>
                  <a:ext uri="{0D108BD9-81ED-4DB2-BD59-A6C34878D82A}">
                    <a16:rowId xmlns:a16="http://schemas.microsoft.com/office/drawing/2014/main" val="10004"/>
                  </a:ext>
                </a:extLst>
              </a:tr>
              <a:tr h="370840">
                <a:tc>
                  <a:txBody>
                    <a:bodyPr/>
                    <a:lstStyle/>
                    <a:p>
                      <a:r>
                        <a:rPr lang="en-US" altLang="en-US" sz="2400" b="1" dirty="0" err="1"/>
                        <a:t>perine</a:t>
                      </a:r>
                      <a:r>
                        <a:rPr lang="en-US" altLang="en-US" sz="2400" b="1" dirty="0"/>
                        <a:t>/o</a:t>
                      </a:r>
                      <a:endParaRPr lang="en-US" sz="2400" dirty="0"/>
                    </a:p>
                  </a:txBody>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416392016"/>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Review Sheet – Combining Forms</a:t>
            </a:r>
            <a:br>
              <a:rPr lang="en-US" dirty="0"/>
            </a:br>
            <a:r>
              <a:rPr lang="en-US" sz="4000" dirty="0"/>
              <a:t>(Slide 10 of 12)</a:t>
            </a:r>
          </a:p>
        </p:txBody>
      </p:sp>
      <p:graphicFrame>
        <p:nvGraphicFramePr>
          <p:cNvPr id="7" name="Content Placeholder 6" descr="Group 5 of 6 combining forms from the Review Sheet of the text with their corresponding meanings."/>
          <p:cNvGraphicFramePr>
            <a:graphicFrameLocks noGrp="1"/>
          </p:cNvGraphicFramePr>
          <p:nvPr>
            <p:ph idx="1"/>
            <p:extLst>
              <p:ext uri="{D42A27DB-BD31-4B8C-83A1-F6EECF244321}">
                <p14:modId xmlns:p14="http://schemas.microsoft.com/office/powerpoint/2010/main" val="3467542039"/>
              </p:ext>
            </p:extLst>
          </p:nvPr>
        </p:nvGraphicFramePr>
        <p:xfrm>
          <a:off x="457200" y="1600200"/>
          <a:ext cx="8229600" cy="2743200"/>
        </p:xfrm>
        <a:graphic>
          <a:graphicData uri="http://schemas.openxmlformats.org/drawingml/2006/table">
            <a:tbl>
              <a:tblPr firstRow="1" bandRow="1">
                <a:tableStyleId>{21E4AEA4-8DFA-4A89-87EB-49C32662AFE0}</a:tableStyleId>
              </a:tblPr>
              <a:tblGrid>
                <a:gridCol w="2667000">
                  <a:extLst>
                    <a:ext uri="{9D8B030D-6E8A-4147-A177-3AD203B41FA5}">
                      <a16:colId xmlns:a16="http://schemas.microsoft.com/office/drawing/2014/main" val="20000"/>
                    </a:ext>
                  </a:extLst>
                </a:gridCol>
                <a:gridCol w="5562600">
                  <a:extLst>
                    <a:ext uri="{9D8B030D-6E8A-4147-A177-3AD203B41FA5}">
                      <a16:colId xmlns:a16="http://schemas.microsoft.com/office/drawing/2014/main" val="20001"/>
                    </a:ext>
                  </a:extLst>
                </a:gridCol>
              </a:tblGrid>
              <a:tr h="370840">
                <a:tc>
                  <a:txBody>
                    <a:bodyPr/>
                    <a:lstStyle/>
                    <a:p>
                      <a:r>
                        <a:rPr lang="en-US" sz="2400" dirty="0"/>
                        <a:t>Combining Form</a:t>
                      </a:r>
                    </a:p>
                  </a:txBody>
                  <a:tcPr/>
                </a:tc>
                <a:tc>
                  <a:txBody>
                    <a:bodyPr/>
                    <a:lstStyle/>
                    <a:p>
                      <a:r>
                        <a:rPr lang="en-US" sz="2400" dirty="0"/>
                        <a:t>Meaning</a:t>
                      </a:r>
                    </a:p>
                  </a:txBody>
                  <a:tcPr/>
                </a:tc>
                <a:extLst>
                  <a:ext uri="{0D108BD9-81ED-4DB2-BD59-A6C34878D82A}">
                    <a16:rowId xmlns:a16="http://schemas.microsoft.com/office/drawing/2014/main" val="10000"/>
                  </a:ext>
                </a:extLst>
              </a:tr>
              <a:tr h="370840">
                <a:tc>
                  <a:txBody>
                    <a:bodyPr/>
                    <a:lstStyle/>
                    <a:p>
                      <a:r>
                        <a:rPr lang="en-US" altLang="en-US" sz="2400" b="1" dirty="0" err="1"/>
                        <a:t>oophor</a:t>
                      </a:r>
                      <a:r>
                        <a:rPr lang="en-US" altLang="en-US" sz="2400" b="1" dirty="0"/>
                        <a:t>/o</a:t>
                      </a:r>
                      <a:endParaRPr lang="en-US" sz="2400" dirty="0"/>
                    </a:p>
                  </a:txBody>
                  <a:tcPr/>
                </a:tc>
                <a:tc>
                  <a:txBody>
                    <a:bodyPr/>
                    <a:lstStyle/>
                    <a:p>
                      <a:r>
                        <a:rPr lang="en-US" altLang="en-US" sz="2400" dirty="0"/>
                        <a:t>ovary</a:t>
                      </a:r>
                      <a:endParaRPr lang="en-US" sz="2400" dirty="0"/>
                    </a:p>
                  </a:txBody>
                  <a:tcPr/>
                </a:tc>
                <a:extLst>
                  <a:ext uri="{0D108BD9-81ED-4DB2-BD59-A6C34878D82A}">
                    <a16:rowId xmlns:a16="http://schemas.microsoft.com/office/drawing/2014/main" val="10001"/>
                  </a:ext>
                </a:extLst>
              </a:tr>
              <a:tr h="370840">
                <a:tc>
                  <a:txBody>
                    <a:bodyPr/>
                    <a:lstStyle/>
                    <a:p>
                      <a:r>
                        <a:rPr lang="en-US" altLang="en-US" sz="2400" b="1" dirty="0" err="1"/>
                        <a:t>ov</a:t>
                      </a:r>
                      <a:r>
                        <a:rPr lang="en-US" altLang="en-US" sz="2400" b="1" dirty="0"/>
                        <a:t>/o</a:t>
                      </a:r>
                      <a:endParaRPr lang="en-US" sz="2400" dirty="0"/>
                    </a:p>
                  </a:txBody>
                  <a:tcPr/>
                </a:tc>
                <a:tc>
                  <a:txBody>
                    <a:bodyPr/>
                    <a:lstStyle/>
                    <a:p>
                      <a:r>
                        <a:rPr lang="en-US" altLang="en-US" sz="2400" dirty="0"/>
                        <a:t>egg</a:t>
                      </a:r>
                      <a:endParaRPr lang="en-US" sz="2400" dirty="0"/>
                    </a:p>
                  </a:txBody>
                  <a:tcPr/>
                </a:tc>
                <a:extLst>
                  <a:ext uri="{0D108BD9-81ED-4DB2-BD59-A6C34878D82A}">
                    <a16:rowId xmlns:a16="http://schemas.microsoft.com/office/drawing/2014/main" val="10002"/>
                  </a:ext>
                </a:extLst>
              </a:tr>
              <a:tr h="370840">
                <a:tc>
                  <a:txBody>
                    <a:bodyPr/>
                    <a:lstStyle/>
                    <a:p>
                      <a:r>
                        <a:rPr lang="en-US" altLang="en-US" sz="2400" b="1" dirty="0" err="1"/>
                        <a:t>ovari</a:t>
                      </a:r>
                      <a:r>
                        <a:rPr lang="en-US" altLang="en-US" sz="2400" b="1" dirty="0"/>
                        <a:t>/o</a:t>
                      </a:r>
                      <a:endParaRPr lang="en-US" sz="2400" dirty="0"/>
                    </a:p>
                  </a:txBody>
                  <a:tcPr/>
                </a:tc>
                <a:tc>
                  <a:txBody>
                    <a:bodyPr/>
                    <a:lstStyle/>
                    <a:p>
                      <a:r>
                        <a:rPr lang="en-US" altLang="en-US" sz="2400" dirty="0"/>
                        <a:t>ovary</a:t>
                      </a:r>
                      <a:endParaRPr lang="en-US" sz="2400" dirty="0"/>
                    </a:p>
                  </a:txBody>
                  <a:tcPr/>
                </a:tc>
                <a:extLst>
                  <a:ext uri="{0D108BD9-81ED-4DB2-BD59-A6C34878D82A}">
                    <a16:rowId xmlns:a16="http://schemas.microsoft.com/office/drawing/2014/main" val="10003"/>
                  </a:ext>
                </a:extLst>
              </a:tr>
              <a:tr h="370840">
                <a:tc>
                  <a:txBody>
                    <a:bodyPr/>
                    <a:lstStyle/>
                    <a:p>
                      <a:r>
                        <a:rPr lang="en-US" altLang="en-US" sz="2400" b="1" dirty="0" err="1"/>
                        <a:t>ovul</a:t>
                      </a:r>
                      <a:r>
                        <a:rPr lang="en-US" altLang="en-US" sz="2400" b="1" dirty="0"/>
                        <a:t>/o</a:t>
                      </a:r>
                      <a:endParaRPr lang="en-US" sz="2400" dirty="0"/>
                    </a:p>
                  </a:txBody>
                  <a:tcPr/>
                </a:tc>
                <a:tc>
                  <a:txBody>
                    <a:bodyPr/>
                    <a:lstStyle/>
                    <a:p>
                      <a:r>
                        <a:rPr lang="en-US" altLang="en-US" sz="2400" dirty="0"/>
                        <a:t>egg</a:t>
                      </a:r>
                      <a:endParaRPr lang="en-US" sz="2400" dirty="0"/>
                    </a:p>
                  </a:txBody>
                  <a:tcPr/>
                </a:tc>
                <a:extLst>
                  <a:ext uri="{0D108BD9-81ED-4DB2-BD59-A6C34878D82A}">
                    <a16:rowId xmlns:a16="http://schemas.microsoft.com/office/drawing/2014/main" val="10004"/>
                  </a:ext>
                </a:extLst>
              </a:tr>
              <a:tr h="370840">
                <a:tc>
                  <a:txBody>
                    <a:bodyPr/>
                    <a:lstStyle/>
                    <a:p>
                      <a:r>
                        <a:rPr lang="en-US" altLang="en-US" sz="2400" b="1" dirty="0" err="1"/>
                        <a:t>perine</a:t>
                      </a:r>
                      <a:r>
                        <a:rPr lang="en-US" altLang="en-US" sz="2400" b="1" dirty="0"/>
                        <a:t>/o</a:t>
                      </a:r>
                      <a:endParaRPr lang="en-US" sz="2400" dirty="0"/>
                    </a:p>
                  </a:txBody>
                  <a:tcPr/>
                </a:tc>
                <a:tc>
                  <a:txBody>
                    <a:bodyPr/>
                    <a:lstStyle/>
                    <a:p>
                      <a:r>
                        <a:rPr lang="en-US" altLang="en-US" sz="2400" dirty="0"/>
                        <a:t>perineum</a:t>
                      </a:r>
                      <a:endParaRPr lang="en-US" sz="2400" dirty="0"/>
                    </a:p>
                  </a:txBody>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056046336"/>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Review Sheet – Combining Forms</a:t>
            </a:r>
            <a:br>
              <a:rPr lang="en-US" dirty="0"/>
            </a:br>
            <a:r>
              <a:rPr lang="en-US" sz="4000" dirty="0"/>
              <a:t>(Slide 11 of 12)</a:t>
            </a:r>
          </a:p>
        </p:txBody>
      </p:sp>
      <p:graphicFrame>
        <p:nvGraphicFramePr>
          <p:cNvPr id="7" name="Content Placeholder 6" descr="Group 6 of 6 combining forms from the Review Sheet of the text.  The following slide lists these same combining forms with corresponding meanings."/>
          <p:cNvGraphicFramePr>
            <a:graphicFrameLocks noGrp="1"/>
          </p:cNvGraphicFramePr>
          <p:nvPr>
            <p:ph idx="1"/>
            <p:extLst>
              <p:ext uri="{D42A27DB-BD31-4B8C-83A1-F6EECF244321}">
                <p14:modId xmlns:p14="http://schemas.microsoft.com/office/powerpoint/2010/main" val="4056213777"/>
              </p:ext>
            </p:extLst>
          </p:nvPr>
        </p:nvGraphicFramePr>
        <p:xfrm>
          <a:off x="3238500" y="2057400"/>
          <a:ext cx="2667000" cy="3200400"/>
        </p:xfrm>
        <a:graphic>
          <a:graphicData uri="http://schemas.openxmlformats.org/drawingml/2006/table">
            <a:tbl>
              <a:tblPr firstRow="1" bandRow="1">
                <a:tableStyleId>{21E4AEA4-8DFA-4A89-87EB-49C32662AFE0}</a:tableStyleId>
              </a:tblPr>
              <a:tblGrid>
                <a:gridCol w="2667000">
                  <a:extLst>
                    <a:ext uri="{9D8B030D-6E8A-4147-A177-3AD203B41FA5}">
                      <a16:colId xmlns:a16="http://schemas.microsoft.com/office/drawing/2014/main" val="20000"/>
                    </a:ext>
                  </a:extLst>
                </a:gridCol>
              </a:tblGrid>
              <a:tr h="370840">
                <a:tc>
                  <a:txBody>
                    <a:bodyPr/>
                    <a:lstStyle/>
                    <a:p>
                      <a:r>
                        <a:rPr lang="en-US" sz="2400" dirty="0"/>
                        <a:t>Combining Form</a:t>
                      </a:r>
                    </a:p>
                  </a:txBody>
                  <a:tcPr/>
                </a:tc>
                <a:extLst>
                  <a:ext uri="{0D108BD9-81ED-4DB2-BD59-A6C34878D82A}">
                    <a16:rowId xmlns:a16="http://schemas.microsoft.com/office/drawing/2014/main" val="10000"/>
                  </a:ext>
                </a:extLst>
              </a:tr>
              <a:tr h="370840">
                <a:tc>
                  <a:txBody>
                    <a:bodyPr/>
                    <a:lstStyle/>
                    <a:p>
                      <a:r>
                        <a:rPr lang="en-US" sz="2400" b="1" dirty="0" err="1"/>
                        <a:t>phor</a:t>
                      </a:r>
                      <a:r>
                        <a:rPr lang="en-US" sz="2400" b="1" dirty="0"/>
                        <a:t>/o</a:t>
                      </a:r>
                      <a:endParaRPr lang="en-US" sz="2400" dirty="0"/>
                    </a:p>
                  </a:txBody>
                  <a:tcPr/>
                </a:tc>
                <a:extLst>
                  <a:ext uri="{0D108BD9-81ED-4DB2-BD59-A6C34878D82A}">
                    <a16:rowId xmlns:a16="http://schemas.microsoft.com/office/drawing/2014/main" val="10001"/>
                  </a:ext>
                </a:extLst>
              </a:tr>
              <a:tr h="370840">
                <a:tc>
                  <a:txBody>
                    <a:bodyPr/>
                    <a:lstStyle/>
                    <a:p>
                      <a:r>
                        <a:rPr lang="en-US" sz="2400" b="1" dirty="0" err="1"/>
                        <a:t>py</a:t>
                      </a:r>
                      <a:r>
                        <a:rPr lang="en-US" sz="2400" b="1" dirty="0"/>
                        <a:t>/o</a:t>
                      </a:r>
                      <a:endParaRPr lang="en-US" sz="2400" dirty="0"/>
                    </a:p>
                  </a:txBody>
                  <a:tcPr/>
                </a:tc>
                <a:extLst>
                  <a:ext uri="{0D108BD9-81ED-4DB2-BD59-A6C34878D82A}">
                    <a16:rowId xmlns:a16="http://schemas.microsoft.com/office/drawing/2014/main" val="10002"/>
                  </a:ext>
                </a:extLst>
              </a:tr>
              <a:tr h="370840">
                <a:tc>
                  <a:txBody>
                    <a:bodyPr/>
                    <a:lstStyle/>
                    <a:p>
                      <a:r>
                        <a:rPr lang="en-US" sz="2400" b="1" dirty="0" err="1"/>
                        <a:t>salping</a:t>
                      </a:r>
                      <a:r>
                        <a:rPr lang="en-US" sz="2400" b="1" dirty="0"/>
                        <a:t>/o</a:t>
                      </a:r>
                      <a:endParaRPr lang="en-US" sz="2400" dirty="0"/>
                    </a:p>
                  </a:txBody>
                  <a:tcPr/>
                </a:tc>
                <a:extLst>
                  <a:ext uri="{0D108BD9-81ED-4DB2-BD59-A6C34878D82A}">
                    <a16:rowId xmlns:a16="http://schemas.microsoft.com/office/drawing/2014/main" val="10003"/>
                  </a:ext>
                </a:extLst>
              </a:tr>
              <a:tr h="370840">
                <a:tc>
                  <a:txBody>
                    <a:bodyPr/>
                    <a:lstStyle/>
                    <a:p>
                      <a:r>
                        <a:rPr lang="en-US" sz="2400" b="1" dirty="0" err="1"/>
                        <a:t>uter</a:t>
                      </a:r>
                      <a:r>
                        <a:rPr lang="en-US" sz="2400" b="1" dirty="0"/>
                        <a:t>/o</a:t>
                      </a:r>
                      <a:endParaRPr lang="en-US" sz="2400" dirty="0"/>
                    </a:p>
                  </a:txBody>
                  <a:tcPr/>
                </a:tc>
                <a:extLst>
                  <a:ext uri="{0D108BD9-81ED-4DB2-BD59-A6C34878D82A}">
                    <a16:rowId xmlns:a16="http://schemas.microsoft.com/office/drawing/2014/main" val="10004"/>
                  </a:ext>
                </a:extLst>
              </a:tr>
              <a:tr h="370840">
                <a:tc>
                  <a:txBody>
                    <a:bodyPr/>
                    <a:lstStyle/>
                    <a:p>
                      <a:r>
                        <a:rPr lang="en-US" sz="2400" b="1" dirty="0" err="1"/>
                        <a:t>vagin</a:t>
                      </a:r>
                      <a:r>
                        <a:rPr lang="en-US" sz="2400" b="1" dirty="0"/>
                        <a:t>/o</a:t>
                      </a:r>
                      <a:endParaRPr lang="en-US" sz="2400" dirty="0"/>
                    </a:p>
                  </a:txBody>
                  <a:tcPr/>
                </a:tc>
                <a:extLst>
                  <a:ext uri="{0D108BD9-81ED-4DB2-BD59-A6C34878D82A}">
                    <a16:rowId xmlns:a16="http://schemas.microsoft.com/office/drawing/2014/main" val="10005"/>
                  </a:ext>
                </a:extLst>
              </a:tr>
              <a:tr h="370840">
                <a:tc>
                  <a:txBody>
                    <a:bodyPr/>
                    <a:lstStyle/>
                    <a:p>
                      <a:r>
                        <a:rPr lang="en-US" sz="2400" b="1" dirty="0" err="1"/>
                        <a:t>vulv</a:t>
                      </a:r>
                      <a:r>
                        <a:rPr lang="en-US" sz="2400" b="1" dirty="0"/>
                        <a:t>/o</a:t>
                      </a:r>
                      <a:endParaRPr lang="en-US" sz="2400" dirty="0"/>
                    </a:p>
                  </a:txBody>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3468633879"/>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Review Sheet – Combining Forms</a:t>
            </a:r>
            <a:br>
              <a:rPr lang="en-US" dirty="0"/>
            </a:br>
            <a:r>
              <a:rPr lang="en-US" sz="4000" dirty="0"/>
              <a:t>(Slide 12 of 12)</a:t>
            </a:r>
          </a:p>
        </p:txBody>
      </p:sp>
      <p:graphicFrame>
        <p:nvGraphicFramePr>
          <p:cNvPr id="7" name="Content Placeholder 6" descr="Group 6 of 6 combining forms from the Review Sheet of the text with their corresponding meanings."/>
          <p:cNvGraphicFramePr>
            <a:graphicFrameLocks noGrp="1"/>
          </p:cNvGraphicFramePr>
          <p:nvPr>
            <p:ph idx="1"/>
            <p:extLst>
              <p:ext uri="{D42A27DB-BD31-4B8C-83A1-F6EECF244321}">
                <p14:modId xmlns:p14="http://schemas.microsoft.com/office/powerpoint/2010/main" val="4226930416"/>
              </p:ext>
            </p:extLst>
          </p:nvPr>
        </p:nvGraphicFramePr>
        <p:xfrm>
          <a:off x="457200" y="1600200"/>
          <a:ext cx="8229600" cy="3200400"/>
        </p:xfrm>
        <a:graphic>
          <a:graphicData uri="http://schemas.openxmlformats.org/drawingml/2006/table">
            <a:tbl>
              <a:tblPr firstRow="1" bandRow="1">
                <a:tableStyleId>{21E4AEA4-8DFA-4A89-87EB-49C32662AFE0}</a:tableStyleId>
              </a:tblPr>
              <a:tblGrid>
                <a:gridCol w="2667000">
                  <a:extLst>
                    <a:ext uri="{9D8B030D-6E8A-4147-A177-3AD203B41FA5}">
                      <a16:colId xmlns:a16="http://schemas.microsoft.com/office/drawing/2014/main" val="20000"/>
                    </a:ext>
                  </a:extLst>
                </a:gridCol>
                <a:gridCol w="5562600">
                  <a:extLst>
                    <a:ext uri="{9D8B030D-6E8A-4147-A177-3AD203B41FA5}">
                      <a16:colId xmlns:a16="http://schemas.microsoft.com/office/drawing/2014/main" val="20001"/>
                    </a:ext>
                  </a:extLst>
                </a:gridCol>
              </a:tblGrid>
              <a:tr h="370840">
                <a:tc>
                  <a:txBody>
                    <a:bodyPr/>
                    <a:lstStyle/>
                    <a:p>
                      <a:r>
                        <a:rPr lang="en-US" sz="2400" dirty="0"/>
                        <a:t>Combining Form</a:t>
                      </a:r>
                    </a:p>
                  </a:txBody>
                  <a:tcPr/>
                </a:tc>
                <a:tc>
                  <a:txBody>
                    <a:bodyPr/>
                    <a:lstStyle/>
                    <a:p>
                      <a:r>
                        <a:rPr lang="en-US" sz="2400" dirty="0"/>
                        <a:t>Meaning</a:t>
                      </a:r>
                    </a:p>
                  </a:txBody>
                  <a:tcPr/>
                </a:tc>
                <a:extLst>
                  <a:ext uri="{0D108BD9-81ED-4DB2-BD59-A6C34878D82A}">
                    <a16:rowId xmlns:a16="http://schemas.microsoft.com/office/drawing/2014/main" val="10000"/>
                  </a:ext>
                </a:extLst>
              </a:tr>
              <a:tr h="370840">
                <a:tc>
                  <a:txBody>
                    <a:bodyPr/>
                    <a:lstStyle/>
                    <a:p>
                      <a:r>
                        <a:rPr lang="en-US" sz="2400" b="1" dirty="0" err="1"/>
                        <a:t>phor</a:t>
                      </a:r>
                      <a:r>
                        <a:rPr lang="en-US" sz="2400" b="1" dirty="0"/>
                        <a:t>/o</a:t>
                      </a:r>
                      <a:endParaRPr lang="en-US" sz="2400" dirty="0"/>
                    </a:p>
                  </a:txBody>
                  <a:tcPr/>
                </a:tc>
                <a:tc>
                  <a:txBody>
                    <a:bodyPr/>
                    <a:lstStyle/>
                    <a:p>
                      <a:r>
                        <a:rPr lang="en-US" sz="2400" dirty="0"/>
                        <a:t>to bear</a:t>
                      </a:r>
                    </a:p>
                  </a:txBody>
                  <a:tcPr/>
                </a:tc>
                <a:extLst>
                  <a:ext uri="{0D108BD9-81ED-4DB2-BD59-A6C34878D82A}">
                    <a16:rowId xmlns:a16="http://schemas.microsoft.com/office/drawing/2014/main" val="10001"/>
                  </a:ext>
                </a:extLst>
              </a:tr>
              <a:tr h="370840">
                <a:tc>
                  <a:txBody>
                    <a:bodyPr/>
                    <a:lstStyle/>
                    <a:p>
                      <a:r>
                        <a:rPr lang="en-US" sz="2400" b="1" dirty="0" err="1"/>
                        <a:t>py</a:t>
                      </a:r>
                      <a:r>
                        <a:rPr lang="en-US" sz="2400" b="1" dirty="0"/>
                        <a:t>/o</a:t>
                      </a:r>
                      <a:endParaRPr lang="en-US" sz="2400" dirty="0"/>
                    </a:p>
                  </a:txBody>
                  <a:tcPr/>
                </a:tc>
                <a:tc>
                  <a:txBody>
                    <a:bodyPr/>
                    <a:lstStyle/>
                    <a:p>
                      <a:r>
                        <a:rPr lang="en-US" sz="2400" dirty="0"/>
                        <a:t>pus</a:t>
                      </a:r>
                    </a:p>
                  </a:txBody>
                  <a:tcPr/>
                </a:tc>
                <a:extLst>
                  <a:ext uri="{0D108BD9-81ED-4DB2-BD59-A6C34878D82A}">
                    <a16:rowId xmlns:a16="http://schemas.microsoft.com/office/drawing/2014/main" val="10002"/>
                  </a:ext>
                </a:extLst>
              </a:tr>
              <a:tr h="370840">
                <a:tc>
                  <a:txBody>
                    <a:bodyPr/>
                    <a:lstStyle/>
                    <a:p>
                      <a:r>
                        <a:rPr lang="en-US" sz="2400" b="1" dirty="0" err="1"/>
                        <a:t>salping</a:t>
                      </a:r>
                      <a:r>
                        <a:rPr lang="en-US" sz="2400" b="1" dirty="0"/>
                        <a:t>/o</a:t>
                      </a:r>
                      <a:endParaRPr lang="en-US" sz="2400" dirty="0"/>
                    </a:p>
                  </a:txBody>
                  <a:tcPr/>
                </a:tc>
                <a:tc>
                  <a:txBody>
                    <a:bodyPr/>
                    <a:lstStyle/>
                    <a:p>
                      <a:r>
                        <a:rPr lang="en-US" sz="2400" dirty="0"/>
                        <a:t>fallopian tubes</a:t>
                      </a:r>
                    </a:p>
                  </a:txBody>
                  <a:tcPr/>
                </a:tc>
                <a:extLst>
                  <a:ext uri="{0D108BD9-81ED-4DB2-BD59-A6C34878D82A}">
                    <a16:rowId xmlns:a16="http://schemas.microsoft.com/office/drawing/2014/main" val="10003"/>
                  </a:ext>
                </a:extLst>
              </a:tr>
              <a:tr h="370840">
                <a:tc>
                  <a:txBody>
                    <a:bodyPr/>
                    <a:lstStyle/>
                    <a:p>
                      <a:r>
                        <a:rPr lang="en-US" sz="2400" b="1" dirty="0" err="1"/>
                        <a:t>uter</a:t>
                      </a:r>
                      <a:r>
                        <a:rPr lang="en-US" sz="2400" b="1" dirty="0"/>
                        <a:t>/o</a:t>
                      </a:r>
                      <a:endParaRPr lang="en-US" sz="2400" dirty="0"/>
                    </a:p>
                  </a:txBody>
                  <a:tcPr/>
                </a:tc>
                <a:tc>
                  <a:txBody>
                    <a:bodyPr/>
                    <a:lstStyle/>
                    <a:p>
                      <a:r>
                        <a:rPr lang="en-US" sz="2400" dirty="0"/>
                        <a:t>uterus</a:t>
                      </a:r>
                    </a:p>
                  </a:txBody>
                  <a:tcPr/>
                </a:tc>
                <a:extLst>
                  <a:ext uri="{0D108BD9-81ED-4DB2-BD59-A6C34878D82A}">
                    <a16:rowId xmlns:a16="http://schemas.microsoft.com/office/drawing/2014/main" val="10004"/>
                  </a:ext>
                </a:extLst>
              </a:tr>
              <a:tr h="370840">
                <a:tc>
                  <a:txBody>
                    <a:bodyPr/>
                    <a:lstStyle/>
                    <a:p>
                      <a:r>
                        <a:rPr lang="en-US" sz="2400" b="1" dirty="0" err="1"/>
                        <a:t>vagin</a:t>
                      </a:r>
                      <a:r>
                        <a:rPr lang="en-US" sz="2400" b="1" dirty="0"/>
                        <a:t>/o</a:t>
                      </a:r>
                      <a:endParaRPr lang="en-US" sz="2400" dirty="0"/>
                    </a:p>
                  </a:txBody>
                  <a:tcPr/>
                </a:tc>
                <a:tc>
                  <a:txBody>
                    <a:bodyPr/>
                    <a:lstStyle/>
                    <a:p>
                      <a:r>
                        <a:rPr lang="en-US" sz="2400" dirty="0"/>
                        <a:t>vagina</a:t>
                      </a:r>
                    </a:p>
                  </a:txBody>
                  <a:tcPr/>
                </a:tc>
                <a:extLst>
                  <a:ext uri="{0D108BD9-81ED-4DB2-BD59-A6C34878D82A}">
                    <a16:rowId xmlns:a16="http://schemas.microsoft.com/office/drawing/2014/main" val="10005"/>
                  </a:ext>
                </a:extLst>
              </a:tr>
              <a:tr h="370840">
                <a:tc>
                  <a:txBody>
                    <a:bodyPr/>
                    <a:lstStyle/>
                    <a:p>
                      <a:r>
                        <a:rPr lang="en-US" sz="2400" b="1" dirty="0" err="1"/>
                        <a:t>vulv</a:t>
                      </a:r>
                      <a:r>
                        <a:rPr lang="en-US" sz="2400" b="1" dirty="0"/>
                        <a:t>/o</a:t>
                      </a:r>
                      <a:endParaRPr lang="en-US" sz="2400" dirty="0"/>
                    </a:p>
                  </a:txBody>
                  <a:tcPr/>
                </a:tc>
                <a:tc>
                  <a:txBody>
                    <a:bodyPr/>
                    <a:lstStyle/>
                    <a:p>
                      <a:r>
                        <a:rPr lang="en-US" sz="2400" dirty="0"/>
                        <a:t>vulva</a:t>
                      </a:r>
                    </a:p>
                  </a:txBody>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95851008"/>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Review Sheet – Suffixes</a:t>
            </a:r>
            <a:br>
              <a:rPr lang="en-US" dirty="0"/>
            </a:br>
            <a:r>
              <a:rPr lang="en-US" sz="4000" dirty="0"/>
              <a:t>(Slide 1 of 10)</a:t>
            </a:r>
          </a:p>
        </p:txBody>
      </p:sp>
      <p:graphicFrame>
        <p:nvGraphicFramePr>
          <p:cNvPr id="7" name="Content Placeholder 6" descr="Group 1 of 5 Suffixes from the Review Sheet of the text.  The following slide lists these same list  with corresponding meanings."/>
          <p:cNvGraphicFramePr>
            <a:graphicFrameLocks noGrp="1"/>
          </p:cNvGraphicFramePr>
          <p:nvPr>
            <p:ph idx="1"/>
            <p:extLst>
              <p:ext uri="{D42A27DB-BD31-4B8C-83A1-F6EECF244321}">
                <p14:modId xmlns:p14="http://schemas.microsoft.com/office/powerpoint/2010/main" val="3419821096"/>
              </p:ext>
            </p:extLst>
          </p:nvPr>
        </p:nvGraphicFramePr>
        <p:xfrm>
          <a:off x="3390900" y="2057400"/>
          <a:ext cx="2362200" cy="2743200"/>
        </p:xfrm>
        <a:graphic>
          <a:graphicData uri="http://schemas.openxmlformats.org/drawingml/2006/table">
            <a:tbl>
              <a:tblPr firstRow="1" bandRow="1">
                <a:tableStyleId>{21E4AEA4-8DFA-4A89-87EB-49C32662AFE0}</a:tableStyleId>
              </a:tblPr>
              <a:tblGrid>
                <a:gridCol w="2362200">
                  <a:extLst>
                    <a:ext uri="{9D8B030D-6E8A-4147-A177-3AD203B41FA5}">
                      <a16:colId xmlns:a16="http://schemas.microsoft.com/office/drawing/2014/main" val="20000"/>
                    </a:ext>
                  </a:extLst>
                </a:gridCol>
              </a:tblGrid>
              <a:tr h="370840">
                <a:tc>
                  <a:txBody>
                    <a:bodyPr/>
                    <a:lstStyle/>
                    <a:p>
                      <a:r>
                        <a:rPr lang="en-US" sz="2400" dirty="0"/>
                        <a:t>Suffix</a:t>
                      </a:r>
                    </a:p>
                  </a:txBody>
                  <a:tcPr/>
                </a:tc>
                <a:extLst>
                  <a:ext uri="{0D108BD9-81ED-4DB2-BD59-A6C34878D82A}">
                    <a16:rowId xmlns:a16="http://schemas.microsoft.com/office/drawing/2014/main" val="10000"/>
                  </a:ext>
                </a:extLst>
              </a:tr>
              <a:tr h="370840">
                <a:tc>
                  <a:txBody>
                    <a:bodyPr/>
                    <a:lstStyle/>
                    <a:p>
                      <a:r>
                        <a:rPr lang="en-US" altLang="en-US" sz="2400" b="1" dirty="0"/>
                        <a:t>-</a:t>
                      </a:r>
                      <a:r>
                        <a:rPr lang="en-US" altLang="en-US" sz="2400" b="1" dirty="0" err="1"/>
                        <a:t>arche</a:t>
                      </a:r>
                      <a:endParaRPr lang="en-US" sz="2400" dirty="0"/>
                    </a:p>
                  </a:txBody>
                  <a:tcPr/>
                </a:tc>
                <a:extLst>
                  <a:ext uri="{0D108BD9-81ED-4DB2-BD59-A6C34878D82A}">
                    <a16:rowId xmlns:a16="http://schemas.microsoft.com/office/drawing/2014/main" val="10001"/>
                  </a:ext>
                </a:extLst>
              </a:tr>
              <a:tr h="370840">
                <a:tc>
                  <a:txBody>
                    <a:bodyPr/>
                    <a:lstStyle/>
                    <a:p>
                      <a:r>
                        <a:rPr lang="en-US" altLang="en-US" sz="2400" b="1" dirty="0"/>
                        <a:t>-</a:t>
                      </a:r>
                      <a:r>
                        <a:rPr lang="en-US" altLang="en-US" sz="2400" b="1" dirty="0" err="1"/>
                        <a:t>cele</a:t>
                      </a:r>
                      <a:endParaRPr lang="en-US" sz="2400" dirty="0"/>
                    </a:p>
                  </a:txBody>
                  <a:tcPr/>
                </a:tc>
                <a:extLst>
                  <a:ext uri="{0D108BD9-81ED-4DB2-BD59-A6C34878D82A}">
                    <a16:rowId xmlns:a16="http://schemas.microsoft.com/office/drawing/2014/main" val="10002"/>
                  </a:ext>
                </a:extLst>
              </a:tr>
              <a:tr h="370840">
                <a:tc>
                  <a:txBody>
                    <a:bodyPr/>
                    <a:lstStyle/>
                    <a:p>
                      <a:r>
                        <a:rPr lang="en-US" altLang="en-US" sz="2400" b="1" dirty="0"/>
                        <a:t>-</a:t>
                      </a:r>
                      <a:r>
                        <a:rPr lang="en-US" altLang="en-US" sz="2400" b="1" dirty="0" err="1"/>
                        <a:t>cyesis</a:t>
                      </a:r>
                      <a:endParaRPr lang="en-US" sz="2400" dirty="0"/>
                    </a:p>
                  </a:txBody>
                  <a:tcPr/>
                </a:tc>
                <a:extLst>
                  <a:ext uri="{0D108BD9-81ED-4DB2-BD59-A6C34878D82A}">
                    <a16:rowId xmlns:a16="http://schemas.microsoft.com/office/drawing/2014/main" val="10003"/>
                  </a:ext>
                </a:extLst>
              </a:tr>
              <a:tr h="370840">
                <a:tc>
                  <a:txBody>
                    <a:bodyPr/>
                    <a:lstStyle/>
                    <a:p>
                      <a:r>
                        <a:rPr lang="en-US" altLang="en-US" sz="2400" b="1" dirty="0"/>
                        <a:t>-</a:t>
                      </a:r>
                      <a:r>
                        <a:rPr lang="en-US" altLang="en-US" sz="2400" b="1" dirty="0" err="1"/>
                        <a:t>ectasis</a:t>
                      </a:r>
                      <a:endParaRPr lang="en-US" sz="2400" dirty="0"/>
                    </a:p>
                  </a:txBody>
                  <a:tcPr/>
                </a:tc>
                <a:extLst>
                  <a:ext uri="{0D108BD9-81ED-4DB2-BD59-A6C34878D82A}">
                    <a16:rowId xmlns:a16="http://schemas.microsoft.com/office/drawing/2014/main" val="10004"/>
                  </a:ext>
                </a:extLst>
              </a:tr>
              <a:tr h="370840">
                <a:tc>
                  <a:txBody>
                    <a:bodyPr/>
                    <a:lstStyle/>
                    <a:p>
                      <a:r>
                        <a:rPr lang="en-US" altLang="en-US" sz="2400" b="1" dirty="0"/>
                        <a:t>-</a:t>
                      </a:r>
                      <a:r>
                        <a:rPr lang="en-US" altLang="en-US" sz="2400" b="1" dirty="0" err="1"/>
                        <a:t>ectomy</a:t>
                      </a:r>
                      <a:endParaRPr lang="en-US" sz="2400" dirty="0"/>
                    </a:p>
                  </a:txBody>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987855508"/>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Review Sheet – Suffixes</a:t>
            </a:r>
            <a:br>
              <a:rPr lang="en-US" sz="4000" dirty="0"/>
            </a:br>
            <a:r>
              <a:rPr lang="en-US" sz="4000" dirty="0"/>
              <a:t>(Slide 2 of 10)</a:t>
            </a:r>
          </a:p>
        </p:txBody>
      </p:sp>
      <p:graphicFrame>
        <p:nvGraphicFramePr>
          <p:cNvPr id="7" name="Content Placeholder 6" descr="Group 1 of 5 Suffixes from the Review Sheet of the text with their corresponding meanings."/>
          <p:cNvGraphicFramePr>
            <a:graphicFrameLocks noGrp="1"/>
          </p:cNvGraphicFramePr>
          <p:nvPr>
            <p:ph idx="1"/>
            <p:extLst>
              <p:ext uri="{D42A27DB-BD31-4B8C-83A1-F6EECF244321}">
                <p14:modId xmlns:p14="http://schemas.microsoft.com/office/powerpoint/2010/main" val="3594714928"/>
              </p:ext>
            </p:extLst>
          </p:nvPr>
        </p:nvGraphicFramePr>
        <p:xfrm>
          <a:off x="457200" y="1600200"/>
          <a:ext cx="8229600" cy="2743200"/>
        </p:xfrm>
        <a:graphic>
          <a:graphicData uri="http://schemas.openxmlformats.org/drawingml/2006/table">
            <a:tbl>
              <a:tblPr firstRow="1" bandRow="1">
                <a:tableStyleId>{21E4AEA4-8DFA-4A89-87EB-49C32662AFE0}</a:tableStyleId>
              </a:tblPr>
              <a:tblGrid>
                <a:gridCol w="2362200">
                  <a:extLst>
                    <a:ext uri="{9D8B030D-6E8A-4147-A177-3AD203B41FA5}">
                      <a16:colId xmlns:a16="http://schemas.microsoft.com/office/drawing/2014/main" val="20000"/>
                    </a:ext>
                  </a:extLst>
                </a:gridCol>
                <a:gridCol w="5867400">
                  <a:extLst>
                    <a:ext uri="{9D8B030D-6E8A-4147-A177-3AD203B41FA5}">
                      <a16:colId xmlns:a16="http://schemas.microsoft.com/office/drawing/2014/main" val="20001"/>
                    </a:ext>
                  </a:extLst>
                </a:gridCol>
              </a:tblGrid>
              <a:tr h="370840">
                <a:tc>
                  <a:txBody>
                    <a:bodyPr/>
                    <a:lstStyle/>
                    <a:p>
                      <a:r>
                        <a:rPr lang="en-US" sz="2400" dirty="0"/>
                        <a:t>Suffix</a:t>
                      </a:r>
                    </a:p>
                  </a:txBody>
                  <a:tcPr/>
                </a:tc>
                <a:tc>
                  <a:txBody>
                    <a:bodyPr/>
                    <a:lstStyle/>
                    <a:p>
                      <a:r>
                        <a:rPr lang="en-US" sz="2400" dirty="0"/>
                        <a:t>Meaning</a:t>
                      </a:r>
                    </a:p>
                  </a:txBody>
                  <a:tcPr/>
                </a:tc>
                <a:extLst>
                  <a:ext uri="{0D108BD9-81ED-4DB2-BD59-A6C34878D82A}">
                    <a16:rowId xmlns:a16="http://schemas.microsoft.com/office/drawing/2014/main" val="10000"/>
                  </a:ext>
                </a:extLst>
              </a:tr>
              <a:tr h="370840">
                <a:tc>
                  <a:txBody>
                    <a:bodyPr/>
                    <a:lstStyle/>
                    <a:p>
                      <a:r>
                        <a:rPr lang="en-US" altLang="en-US" sz="2400" b="1" dirty="0"/>
                        <a:t>-</a:t>
                      </a:r>
                      <a:r>
                        <a:rPr lang="en-US" altLang="en-US" sz="2400" b="1" dirty="0" err="1"/>
                        <a:t>arche</a:t>
                      </a:r>
                      <a:endParaRPr lang="en-US" sz="2400" dirty="0"/>
                    </a:p>
                  </a:txBody>
                  <a:tcPr/>
                </a:tc>
                <a:tc>
                  <a:txBody>
                    <a:bodyPr/>
                    <a:lstStyle/>
                    <a:p>
                      <a:r>
                        <a:rPr lang="en-US" altLang="en-US" sz="2400" dirty="0"/>
                        <a:t>beginning</a:t>
                      </a:r>
                      <a:endParaRPr lang="en-US" sz="2400" dirty="0"/>
                    </a:p>
                  </a:txBody>
                  <a:tcPr/>
                </a:tc>
                <a:extLst>
                  <a:ext uri="{0D108BD9-81ED-4DB2-BD59-A6C34878D82A}">
                    <a16:rowId xmlns:a16="http://schemas.microsoft.com/office/drawing/2014/main" val="10001"/>
                  </a:ext>
                </a:extLst>
              </a:tr>
              <a:tr h="370840">
                <a:tc>
                  <a:txBody>
                    <a:bodyPr/>
                    <a:lstStyle/>
                    <a:p>
                      <a:r>
                        <a:rPr lang="en-US" altLang="en-US" sz="2400" b="1" dirty="0"/>
                        <a:t>-</a:t>
                      </a:r>
                      <a:r>
                        <a:rPr lang="en-US" altLang="en-US" sz="2400" b="1" dirty="0" err="1"/>
                        <a:t>cele</a:t>
                      </a:r>
                      <a:endParaRPr lang="en-US" sz="2400" dirty="0"/>
                    </a:p>
                  </a:txBody>
                  <a:tcPr/>
                </a:tc>
                <a:tc>
                  <a:txBody>
                    <a:bodyPr/>
                    <a:lstStyle/>
                    <a:p>
                      <a:r>
                        <a:rPr lang="en-US" altLang="en-US" sz="2400" dirty="0"/>
                        <a:t>hernia</a:t>
                      </a:r>
                      <a:endParaRPr lang="en-US" sz="2400" dirty="0"/>
                    </a:p>
                  </a:txBody>
                  <a:tcPr/>
                </a:tc>
                <a:extLst>
                  <a:ext uri="{0D108BD9-81ED-4DB2-BD59-A6C34878D82A}">
                    <a16:rowId xmlns:a16="http://schemas.microsoft.com/office/drawing/2014/main" val="10002"/>
                  </a:ext>
                </a:extLst>
              </a:tr>
              <a:tr h="370840">
                <a:tc>
                  <a:txBody>
                    <a:bodyPr/>
                    <a:lstStyle/>
                    <a:p>
                      <a:r>
                        <a:rPr lang="en-US" altLang="en-US" sz="2400" b="1" dirty="0"/>
                        <a:t>-</a:t>
                      </a:r>
                      <a:r>
                        <a:rPr lang="en-US" altLang="en-US" sz="2400" b="1" dirty="0" err="1"/>
                        <a:t>cyesis</a:t>
                      </a:r>
                      <a:endParaRPr lang="en-US" sz="2400" dirty="0"/>
                    </a:p>
                  </a:txBody>
                  <a:tcPr/>
                </a:tc>
                <a:tc>
                  <a:txBody>
                    <a:bodyPr/>
                    <a:lstStyle/>
                    <a:p>
                      <a:r>
                        <a:rPr lang="en-US" altLang="en-US" sz="2400" dirty="0"/>
                        <a:t>pregnancy</a:t>
                      </a:r>
                      <a:endParaRPr lang="en-US" sz="2400" dirty="0"/>
                    </a:p>
                  </a:txBody>
                  <a:tcPr/>
                </a:tc>
                <a:extLst>
                  <a:ext uri="{0D108BD9-81ED-4DB2-BD59-A6C34878D82A}">
                    <a16:rowId xmlns:a16="http://schemas.microsoft.com/office/drawing/2014/main" val="10003"/>
                  </a:ext>
                </a:extLst>
              </a:tr>
              <a:tr h="370840">
                <a:tc>
                  <a:txBody>
                    <a:bodyPr/>
                    <a:lstStyle/>
                    <a:p>
                      <a:r>
                        <a:rPr lang="en-US" altLang="en-US" sz="2400" b="1" dirty="0"/>
                        <a:t>-</a:t>
                      </a:r>
                      <a:r>
                        <a:rPr lang="en-US" altLang="en-US" sz="2400" b="1" dirty="0" err="1"/>
                        <a:t>ectasis</a:t>
                      </a:r>
                      <a:endParaRPr lang="en-US" sz="2400" dirty="0"/>
                    </a:p>
                  </a:txBody>
                  <a:tcPr/>
                </a:tc>
                <a:tc>
                  <a:txBody>
                    <a:bodyPr/>
                    <a:lstStyle/>
                    <a:p>
                      <a:r>
                        <a:rPr lang="en-US" altLang="en-US" sz="2400" dirty="0"/>
                        <a:t>stretching, dilation</a:t>
                      </a:r>
                      <a:endParaRPr lang="en-US" sz="2400" dirty="0"/>
                    </a:p>
                  </a:txBody>
                  <a:tcPr/>
                </a:tc>
                <a:extLst>
                  <a:ext uri="{0D108BD9-81ED-4DB2-BD59-A6C34878D82A}">
                    <a16:rowId xmlns:a16="http://schemas.microsoft.com/office/drawing/2014/main" val="10004"/>
                  </a:ext>
                </a:extLst>
              </a:tr>
              <a:tr h="370840">
                <a:tc>
                  <a:txBody>
                    <a:bodyPr/>
                    <a:lstStyle/>
                    <a:p>
                      <a:r>
                        <a:rPr lang="en-US" altLang="en-US" sz="2400" b="1" dirty="0"/>
                        <a:t>-</a:t>
                      </a:r>
                      <a:r>
                        <a:rPr lang="en-US" altLang="en-US" sz="2400" b="1" dirty="0" err="1"/>
                        <a:t>ectomy</a:t>
                      </a:r>
                      <a:endParaRPr lang="en-US" sz="2400" dirty="0"/>
                    </a:p>
                  </a:txBody>
                  <a:tcPr/>
                </a:tc>
                <a:tc>
                  <a:txBody>
                    <a:bodyPr/>
                    <a:lstStyle/>
                    <a:p>
                      <a:r>
                        <a:rPr lang="en-US" altLang="en-US" sz="2400" dirty="0"/>
                        <a:t>removal, excision</a:t>
                      </a:r>
                      <a:endParaRPr lang="en-US" sz="2400" dirty="0"/>
                    </a:p>
                  </a:txBody>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54993604"/>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Review Sheet – Suffixes</a:t>
            </a:r>
            <a:br>
              <a:rPr lang="en-US" dirty="0"/>
            </a:br>
            <a:r>
              <a:rPr lang="en-US" sz="4000" dirty="0"/>
              <a:t>(Slide 3 of 10)</a:t>
            </a:r>
          </a:p>
        </p:txBody>
      </p:sp>
      <p:graphicFrame>
        <p:nvGraphicFramePr>
          <p:cNvPr id="7" name="Content Placeholder 6" descr="Group 2 of 5 Suffixes from the Review Sheet of the text.  The following slide lists these same list  with corresponding meanings."/>
          <p:cNvGraphicFramePr>
            <a:graphicFrameLocks noGrp="1"/>
          </p:cNvGraphicFramePr>
          <p:nvPr>
            <p:ph idx="1"/>
            <p:extLst>
              <p:ext uri="{D42A27DB-BD31-4B8C-83A1-F6EECF244321}">
                <p14:modId xmlns:p14="http://schemas.microsoft.com/office/powerpoint/2010/main" val="958091958"/>
              </p:ext>
            </p:extLst>
          </p:nvPr>
        </p:nvGraphicFramePr>
        <p:xfrm>
          <a:off x="3390900" y="1981200"/>
          <a:ext cx="2362200" cy="3200400"/>
        </p:xfrm>
        <a:graphic>
          <a:graphicData uri="http://schemas.openxmlformats.org/drawingml/2006/table">
            <a:tbl>
              <a:tblPr firstRow="1" bandRow="1">
                <a:tableStyleId>{21E4AEA4-8DFA-4A89-87EB-49C32662AFE0}</a:tableStyleId>
              </a:tblPr>
              <a:tblGrid>
                <a:gridCol w="2362200">
                  <a:extLst>
                    <a:ext uri="{9D8B030D-6E8A-4147-A177-3AD203B41FA5}">
                      <a16:colId xmlns:a16="http://schemas.microsoft.com/office/drawing/2014/main" val="20000"/>
                    </a:ext>
                  </a:extLst>
                </a:gridCol>
              </a:tblGrid>
              <a:tr h="370840">
                <a:tc>
                  <a:txBody>
                    <a:bodyPr/>
                    <a:lstStyle/>
                    <a:p>
                      <a:r>
                        <a:rPr lang="en-US" sz="2400" dirty="0"/>
                        <a:t>Suffix</a:t>
                      </a:r>
                    </a:p>
                  </a:txBody>
                  <a:tcPr/>
                </a:tc>
                <a:extLst>
                  <a:ext uri="{0D108BD9-81ED-4DB2-BD59-A6C34878D82A}">
                    <a16:rowId xmlns:a16="http://schemas.microsoft.com/office/drawing/2014/main" val="10000"/>
                  </a:ext>
                </a:extLst>
              </a:tr>
              <a:tr h="370840">
                <a:tc>
                  <a:txBody>
                    <a:bodyPr/>
                    <a:lstStyle/>
                    <a:p>
                      <a:r>
                        <a:rPr lang="en-US" sz="2400" b="1" dirty="0"/>
                        <a:t>-flexion</a:t>
                      </a:r>
                      <a:endParaRPr lang="en-US" sz="2400" dirty="0"/>
                    </a:p>
                  </a:txBody>
                  <a:tcPr/>
                </a:tc>
                <a:extLst>
                  <a:ext uri="{0D108BD9-81ED-4DB2-BD59-A6C34878D82A}">
                    <a16:rowId xmlns:a16="http://schemas.microsoft.com/office/drawing/2014/main" val="10001"/>
                  </a:ext>
                </a:extLst>
              </a:tr>
              <a:tr h="370840">
                <a:tc>
                  <a:txBody>
                    <a:bodyPr/>
                    <a:lstStyle/>
                    <a:p>
                      <a:r>
                        <a:rPr lang="en-US" sz="2400" b="1" dirty="0"/>
                        <a:t>-genesis</a:t>
                      </a:r>
                      <a:endParaRPr lang="en-US" sz="2400" dirty="0"/>
                    </a:p>
                  </a:txBody>
                  <a:tcPr/>
                </a:tc>
                <a:extLst>
                  <a:ext uri="{0D108BD9-81ED-4DB2-BD59-A6C34878D82A}">
                    <a16:rowId xmlns:a16="http://schemas.microsoft.com/office/drawing/2014/main" val="10002"/>
                  </a:ext>
                </a:extLst>
              </a:tr>
              <a:tr h="370840">
                <a:tc>
                  <a:txBody>
                    <a:bodyPr/>
                    <a:lstStyle/>
                    <a:p>
                      <a:r>
                        <a:rPr lang="en-US" sz="2400" b="1" dirty="0"/>
                        <a:t>-</a:t>
                      </a:r>
                      <a:r>
                        <a:rPr lang="en-US" sz="2400" b="1" dirty="0" err="1"/>
                        <a:t>gravida</a:t>
                      </a:r>
                      <a:endParaRPr lang="en-US" sz="2400" dirty="0"/>
                    </a:p>
                  </a:txBody>
                  <a:tcPr/>
                </a:tc>
                <a:extLst>
                  <a:ext uri="{0D108BD9-81ED-4DB2-BD59-A6C34878D82A}">
                    <a16:rowId xmlns:a16="http://schemas.microsoft.com/office/drawing/2014/main" val="10003"/>
                  </a:ext>
                </a:extLst>
              </a:tr>
              <a:tr h="370840">
                <a:tc>
                  <a:txBody>
                    <a:bodyPr/>
                    <a:lstStyle/>
                    <a:p>
                      <a:r>
                        <a:rPr lang="en-US" sz="2400" b="1" dirty="0"/>
                        <a:t>-</a:t>
                      </a:r>
                      <a:r>
                        <a:rPr lang="en-US" sz="2400" b="1" dirty="0" err="1"/>
                        <a:t>itis</a:t>
                      </a:r>
                      <a:endParaRPr lang="en-US" sz="2400" dirty="0"/>
                    </a:p>
                  </a:txBody>
                  <a:tcPr/>
                </a:tc>
                <a:extLst>
                  <a:ext uri="{0D108BD9-81ED-4DB2-BD59-A6C34878D82A}">
                    <a16:rowId xmlns:a16="http://schemas.microsoft.com/office/drawing/2014/main" val="10004"/>
                  </a:ext>
                </a:extLst>
              </a:tr>
              <a:tr h="370840">
                <a:tc>
                  <a:txBody>
                    <a:bodyPr/>
                    <a:lstStyle/>
                    <a:p>
                      <a:r>
                        <a:rPr lang="en-US" sz="2400" b="1" dirty="0"/>
                        <a:t>-</a:t>
                      </a:r>
                      <a:r>
                        <a:rPr lang="en-US" sz="2400" b="1" dirty="0" err="1"/>
                        <a:t>pareunia</a:t>
                      </a:r>
                      <a:endParaRPr lang="en-US" sz="2400" dirty="0"/>
                    </a:p>
                  </a:txBody>
                  <a:tcPr/>
                </a:tc>
                <a:extLst>
                  <a:ext uri="{0D108BD9-81ED-4DB2-BD59-A6C34878D82A}">
                    <a16:rowId xmlns:a16="http://schemas.microsoft.com/office/drawing/2014/main" val="10005"/>
                  </a:ext>
                </a:extLst>
              </a:tr>
              <a:tr h="370840">
                <a:tc>
                  <a:txBody>
                    <a:bodyPr/>
                    <a:lstStyle/>
                    <a:p>
                      <a:r>
                        <a:rPr lang="en-US" sz="2400" b="1" dirty="0"/>
                        <a:t>-</a:t>
                      </a:r>
                      <a:r>
                        <a:rPr lang="en-US" sz="2400" b="1" dirty="0" err="1"/>
                        <a:t>parous</a:t>
                      </a:r>
                      <a:endParaRPr lang="en-US" sz="2400" dirty="0"/>
                    </a:p>
                  </a:txBody>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875370326"/>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Review Sheet – Suffixes</a:t>
            </a:r>
            <a:br>
              <a:rPr lang="en-US" sz="4000" dirty="0"/>
            </a:br>
            <a:r>
              <a:rPr lang="en-US" sz="4000" dirty="0"/>
              <a:t>(Slide 4 of 10)</a:t>
            </a:r>
          </a:p>
        </p:txBody>
      </p:sp>
      <p:graphicFrame>
        <p:nvGraphicFramePr>
          <p:cNvPr id="7" name="Content Placeholder 6" descr="Group 2 of 5 Suffixes from the Review Sheet of the text with their corresponding meanings."/>
          <p:cNvGraphicFramePr>
            <a:graphicFrameLocks noGrp="1"/>
          </p:cNvGraphicFramePr>
          <p:nvPr>
            <p:ph idx="1"/>
            <p:extLst>
              <p:ext uri="{D42A27DB-BD31-4B8C-83A1-F6EECF244321}">
                <p14:modId xmlns:p14="http://schemas.microsoft.com/office/powerpoint/2010/main" val="3646774402"/>
              </p:ext>
            </p:extLst>
          </p:nvPr>
        </p:nvGraphicFramePr>
        <p:xfrm>
          <a:off x="457200" y="1600200"/>
          <a:ext cx="8229600" cy="3200400"/>
        </p:xfrm>
        <a:graphic>
          <a:graphicData uri="http://schemas.openxmlformats.org/drawingml/2006/table">
            <a:tbl>
              <a:tblPr firstRow="1" bandRow="1">
                <a:tableStyleId>{21E4AEA4-8DFA-4A89-87EB-49C32662AFE0}</a:tableStyleId>
              </a:tblPr>
              <a:tblGrid>
                <a:gridCol w="2362200">
                  <a:extLst>
                    <a:ext uri="{9D8B030D-6E8A-4147-A177-3AD203B41FA5}">
                      <a16:colId xmlns:a16="http://schemas.microsoft.com/office/drawing/2014/main" val="20000"/>
                    </a:ext>
                  </a:extLst>
                </a:gridCol>
                <a:gridCol w="5867400">
                  <a:extLst>
                    <a:ext uri="{9D8B030D-6E8A-4147-A177-3AD203B41FA5}">
                      <a16:colId xmlns:a16="http://schemas.microsoft.com/office/drawing/2014/main" val="20001"/>
                    </a:ext>
                  </a:extLst>
                </a:gridCol>
              </a:tblGrid>
              <a:tr h="370840">
                <a:tc>
                  <a:txBody>
                    <a:bodyPr/>
                    <a:lstStyle/>
                    <a:p>
                      <a:r>
                        <a:rPr lang="en-US" sz="2400" dirty="0"/>
                        <a:t>Suffix</a:t>
                      </a:r>
                    </a:p>
                  </a:txBody>
                  <a:tcPr/>
                </a:tc>
                <a:tc>
                  <a:txBody>
                    <a:bodyPr/>
                    <a:lstStyle/>
                    <a:p>
                      <a:r>
                        <a:rPr lang="en-US" sz="2400" dirty="0"/>
                        <a:t>Meaning</a:t>
                      </a:r>
                    </a:p>
                  </a:txBody>
                  <a:tcPr/>
                </a:tc>
                <a:extLst>
                  <a:ext uri="{0D108BD9-81ED-4DB2-BD59-A6C34878D82A}">
                    <a16:rowId xmlns:a16="http://schemas.microsoft.com/office/drawing/2014/main" val="10000"/>
                  </a:ext>
                </a:extLst>
              </a:tr>
              <a:tr h="370840">
                <a:tc>
                  <a:txBody>
                    <a:bodyPr/>
                    <a:lstStyle/>
                    <a:p>
                      <a:r>
                        <a:rPr lang="en-US" sz="2400" b="1" dirty="0"/>
                        <a:t>-flexion</a:t>
                      </a:r>
                      <a:endParaRPr lang="en-US" sz="2400" dirty="0"/>
                    </a:p>
                  </a:txBody>
                  <a:tcPr/>
                </a:tc>
                <a:tc>
                  <a:txBody>
                    <a:bodyPr/>
                    <a:lstStyle/>
                    <a:p>
                      <a:r>
                        <a:rPr lang="en-US" sz="2400" dirty="0"/>
                        <a:t>flexible</a:t>
                      </a:r>
                    </a:p>
                  </a:txBody>
                  <a:tcPr/>
                </a:tc>
                <a:extLst>
                  <a:ext uri="{0D108BD9-81ED-4DB2-BD59-A6C34878D82A}">
                    <a16:rowId xmlns:a16="http://schemas.microsoft.com/office/drawing/2014/main" val="10001"/>
                  </a:ext>
                </a:extLst>
              </a:tr>
              <a:tr h="370840">
                <a:tc>
                  <a:txBody>
                    <a:bodyPr/>
                    <a:lstStyle/>
                    <a:p>
                      <a:r>
                        <a:rPr lang="en-US" sz="2400" b="1" dirty="0"/>
                        <a:t>-genesis</a:t>
                      </a:r>
                      <a:endParaRPr lang="en-US" sz="2400" dirty="0"/>
                    </a:p>
                  </a:txBody>
                  <a:tcPr/>
                </a:tc>
                <a:tc>
                  <a:txBody>
                    <a:bodyPr/>
                    <a:lstStyle/>
                    <a:p>
                      <a:r>
                        <a:rPr lang="en-US" sz="2400" dirty="0"/>
                        <a:t>producing; forming</a:t>
                      </a:r>
                    </a:p>
                  </a:txBody>
                  <a:tcPr/>
                </a:tc>
                <a:extLst>
                  <a:ext uri="{0D108BD9-81ED-4DB2-BD59-A6C34878D82A}">
                    <a16:rowId xmlns:a16="http://schemas.microsoft.com/office/drawing/2014/main" val="10002"/>
                  </a:ext>
                </a:extLst>
              </a:tr>
              <a:tr h="370840">
                <a:tc>
                  <a:txBody>
                    <a:bodyPr/>
                    <a:lstStyle/>
                    <a:p>
                      <a:r>
                        <a:rPr lang="en-US" sz="2400" b="1" dirty="0"/>
                        <a:t>-</a:t>
                      </a:r>
                      <a:r>
                        <a:rPr lang="en-US" sz="2400" b="1" dirty="0" err="1"/>
                        <a:t>gravida</a:t>
                      </a:r>
                      <a:endParaRPr lang="en-US" sz="2400" dirty="0"/>
                    </a:p>
                  </a:txBody>
                  <a:tcPr/>
                </a:tc>
                <a:tc>
                  <a:txBody>
                    <a:bodyPr/>
                    <a:lstStyle/>
                    <a:p>
                      <a:r>
                        <a:rPr lang="en-US" sz="2400" dirty="0"/>
                        <a:t>pregnancy</a:t>
                      </a:r>
                    </a:p>
                  </a:txBody>
                  <a:tcPr/>
                </a:tc>
                <a:extLst>
                  <a:ext uri="{0D108BD9-81ED-4DB2-BD59-A6C34878D82A}">
                    <a16:rowId xmlns:a16="http://schemas.microsoft.com/office/drawing/2014/main" val="10003"/>
                  </a:ext>
                </a:extLst>
              </a:tr>
              <a:tr h="370840">
                <a:tc>
                  <a:txBody>
                    <a:bodyPr/>
                    <a:lstStyle/>
                    <a:p>
                      <a:r>
                        <a:rPr lang="en-US" sz="2400" b="1" dirty="0"/>
                        <a:t>-</a:t>
                      </a:r>
                      <a:r>
                        <a:rPr lang="en-US" sz="2400" b="1" dirty="0" err="1"/>
                        <a:t>itis</a:t>
                      </a:r>
                      <a:endParaRPr lang="en-US" sz="2400" dirty="0"/>
                    </a:p>
                  </a:txBody>
                  <a:tcPr/>
                </a:tc>
                <a:tc>
                  <a:txBody>
                    <a:bodyPr/>
                    <a:lstStyle/>
                    <a:p>
                      <a:r>
                        <a:rPr lang="en-US" sz="2400" dirty="0"/>
                        <a:t>inflammation</a:t>
                      </a:r>
                    </a:p>
                  </a:txBody>
                  <a:tcPr/>
                </a:tc>
                <a:extLst>
                  <a:ext uri="{0D108BD9-81ED-4DB2-BD59-A6C34878D82A}">
                    <a16:rowId xmlns:a16="http://schemas.microsoft.com/office/drawing/2014/main" val="10004"/>
                  </a:ext>
                </a:extLst>
              </a:tr>
              <a:tr h="370840">
                <a:tc>
                  <a:txBody>
                    <a:bodyPr/>
                    <a:lstStyle/>
                    <a:p>
                      <a:r>
                        <a:rPr lang="en-US" sz="2400" b="1" dirty="0"/>
                        <a:t>-</a:t>
                      </a:r>
                      <a:r>
                        <a:rPr lang="en-US" sz="2400" b="1" dirty="0" err="1"/>
                        <a:t>pareunia</a:t>
                      </a:r>
                      <a:endParaRPr lang="en-US" sz="2400" dirty="0"/>
                    </a:p>
                  </a:txBody>
                  <a:tcPr/>
                </a:tc>
                <a:tc>
                  <a:txBody>
                    <a:bodyPr/>
                    <a:lstStyle/>
                    <a:p>
                      <a:r>
                        <a:rPr lang="en-US" sz="2400" dirty="0"/>
                        <a:t>sexual intercourse</a:t>
                      </a:r>
                    </a:p>
                  </a:txBody>
                  <a:tcPr/>
                </a:tc>
                <a:extLst>
                  <a:ext uri="{0D108BD9-81ED-4DB2-BD59-A6C34878D82A}">
                    <a16:rowId xmlns:a16="http://schemas.microsoft.com/office/drawing/2014/main" val="10005"/>
                  </a:ext>
                </a:extLst>
              </a:tr>
              <a:tr h="370840">
                <a:tc>
                  <a:txBody>
                    <a:bodyPr/>
                    <a:lstStyle/>
                    <a:p>
                      <a:r>
                        <a:rPr lang="en-US" sz="2400" b="1" dirty="0"/>
                        <a:t>-</a:t>
                      </a:r>
                      <a:r>
                        <a:rPr lang="en-US" sz="2400" b="1" dirty="0" err="1"/>
                        <a:t>parous</a:t>
                      </a:r>
                      <a:endParaRPr lang="en-US" sz="2400" dirty="0"/>
                    </a:p>
                  </a:txBody>
                  <a:tcPr/>
                </a:tc>
                <a:tc>
                  <a:txBody>
                    <a:bodyPr/>
                    <a:lstStyle/>
                    <a:p>
                      <a:r>
                        <a:rPr lang="en-US" sz="2400" dirty="0"/>
                        <a:t>to bear, bring forth</a:t>
                      </a:r>
                    </a:p>
                  </a:txBody>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940557839"/>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Review Sheet – Suffixes</a:t>
            </a:r>
            <a:br>
              <a:rPr lang="en-US" dirty="0"/>
            </a:br>
            <a:r>
              <a:rPr lang="en-US" sz="4000" dirty="0"/>
              <a:t>(Slide 5 of 10)</a:t>
            </a:r>
          </a:p>
        </p:txBody>
      </p:sp>
      <p:graphicFrame>
        <p:nvGraphicFramePr>
          <p:cNvPr id="7" name="Content Placeholder 6" descr="Group 3 of 5 Suffixes from the Review Sheet of the text.  The following slide lists these same list  with corresponding meanings."/>
          <p:cNvGraphicFramePr>
            <a:graphicFrameLocks noGrp="1"/>
          </p:cNvGraphicFramePr>
          <p:nvPr>
            <p:ph idx="1"/>
            <p:extLst>
              <p:ext uri="{D42A27DB-BD31-4B8C-83A1-F6EECF244321}">
                <p14:modId xmlns:p14="http://schemas.microsoft.com/office/powerpoint/2010/main" val="35160973"/>
              </p:ext>
            </p:extLst>
          </p:nvPr>
        </p:nvGraphicFramePr>
        <p:xfrm>
          <a:off x="3390900" y="2286000"/>
          <a:ext cx="2362200" cy="2743200"/>
        </p:xfrm>
        <a:graphic>
          <a:graphicData uri="http://schemas.openxmlformats.org/drawingml/2006/table">
            <a:tbl>
              <a:tblPr firstRow="1" bandRow="1">
                <a:tableStyleId>{21E4AEA4-8DFA-4A89-87EB-49C32662AFE0}</a:tableStyleId>
              </a:tblPr>
              <a:tblGrid>
                <a:gridCol w="2362200">
                  <a:extLst>
                    <a:ext uri="{9D8B030D-6E8A-4147-A177-3AD203B41FA5}">
                      <a16:colId xmlns:a16="http://schemas.microsoft.com/office/drawing/2014/main" val="20000"/>
                    </a:ext>
                  </a:extLst>
                </a:gridCol>
              </a:tblGrid>
              <a:tr h="370840">
                <a:tc>
                  <a:txBody>
                    <a:bodyPr/>
                    <a:lstStyle/>
                    <a:p>
                      <a:r>
                        <a:rPr lang="en-US" sz="2400" dirty="0"/>
                        <a:t>Suffix</a:t>
                      </a:r>
                    </a:p>
                  </a:txBody>
                  <a:tcPr/>
                </a:tc>
                <a:extLst>
                  <a:ext uri="{0D108BD9-81ED-4DB2-BD59-A6C34878D82A}">
                    <a16:rowId xmlns:a16="http://schemas.microsoft.com/office/drawing/2014/main" val="10000"/>
                  </a:ext>
                </a:extLst>
              </a:tr>
              <a:tr h="370840">
                <a:tc>
                  <a:txBody>
                    <a:bodyPr/>
                    <a:lstStyle/>
                    <a:p>
                      <a:r>
                        <a:rPr lang="en-US" sz="2400" b="1" dirty="0"/>
                        <a:t>-</a:t>
                      </a:r>
                      <a:r>
                        <a:rPr lang="en-US" sz="2400" b="1" dirty="0" err="1"/>
                        <a:t>plasia</a:t>
                      </a:r>
                      <a:endParaRPr lang="en-US" sz="2400" dirty="0"/>
                    </a:p>
                  </a:txBody>
                  <a:tcPr/>
                </a:tc>
                <a:extLst>
                  <a:ext uri="{0D108BD9-81ED-4DB2-BD59-A6C34878D82A}">
                    <a16:rowId xmlns:a16="http://schemas.microsoft.com/office/drawing/2014/main" val="10001"/>
                  </a:ext>
                </a:extLst>
              </a:tr>
              <a:tr h="370840">
                <a:tc>
                  <a:txBody>
                    <a:bodyPr/>
                    <a:lstStyle/>
                    <a:p>
                      <a:r>
                        <a:rPr lang="en-US" sz="2400" b="1" dirty="0"/>
                        <a:t>-</a:t>
                      </a:r>
                      <a:r>
                        <a:rPr lang="en-US" sz="2400" b="1" dirty="0" err="1"/>
                        <a:t>plasty</a:t>
                      </a:r>
                      <a:endParaRPr lang="en-US" sz="2400" dirty="0"/>
                    </a:p>
                  </a:txBody>
                  <a:tcPr/>
                </a:tc>
                <a:extLst>
                  <a:ext uri="{0D108BD9-81ED-4DB2-BD59-A6C34878D82A}">
                    <a16:rowId xmlns:a16="http://schemas.microsoft.com/office/drawing/2014/main" val="10002"/>
                  </a:ext>
                </a:extLst>
              </a:tr>
              <a:tr h="370840">
                <a:tc>
                  <a:txBody>
                    <a:bodyPr/>
                    <a:lstStyle/>
                    <a:p>
                      <a:r>
                        <a:rPr lang="en-US" sz="2400" b="1" dirty="0"/>
                        <a:t>-ptosis</a:t>
                      </a:r>
                      <a:endParaRPr lang="en-US" sz="2400" dirty="0"/>
                    </a:p>
                  </a:txBody>
                  <a:tcPr/>
                </a:tc>
                <a:extLst>
                  <a:ext uri="{0D108BD9-81ED-4DB2-BD59-A6C34878D82A}">
                    <a16:rowId xmlns:a16="http://schemas.microsoft.com/office/drawing/2014/main" val="10003"/>
                  </a:ext>
                </a:extLst>
              </a:tr>
              <a:tr h="370840">
                <a:tc>
                  <a:txBody>
                    <a:bodyPr/>
                    <a:lstStyle/>
                    <a:p>
                      <a:r>
                        <a:rPr lang="en-US" sz="2400" b="1" dirty="0"/>
                        <a:t>-</a:t>
                      </a:r>
                      <a:r>
                        <a:rPr lang="en-US" sz="2400" b="1" dirty="0" err="1"/>
                        <a:t>rrhagia</a:t>
                      </a:r>
                      <a:endParaRPr lang="en-US" sz="2400" dirty="0"/>
                    </a:p>
                  </a:txBody>
                  <a:tcPr/>
                </a:tc>
                <a:extLst>
                  <a:ext uri="{0D108BD9-81ED-4DB2-BD59-A6C34878D82A}">
                    <a16:rowId xmlns:a16="http://schemas.microsoft.com/office/drawing/2014/main" val="10004"/>
                  </a:ext>
                </a:extLst>
              </a:tr>
              <a:tr h="370840">
                <a:tc>
                  <a:txBody>
                    <a:bodyPr/>
                    <a:lstStyle/>
                    <a:p>
                      <a:r>
                        <a:rPr lang="en-US" sz="2400" b="1" dirty="0"/>
                        <a:t>-</a:t>
                      </a:r>
                      <a:r>
                        <a:rPr lang="en-US" sz="2400" b="1" dirty="0" err="1"/>
                        <a:t>rrhaphy</a:t>
                      </a:r>
                      <a:endParaRPr lang="en-US" sz="2400" dirty="0"/>
                    </a:p>
                  </a:txBody>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586398266"/>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Review Sheet – Suffixes</a:t>
            </a:r>
            <a:br>
              <a:rPr lang="en-US" sz="4000" dirty="0"/>
            </a:br>
            <a:r>
              <a:rPr lang="en-US" sz="4000" dirty="0"/>
              <a:t>(Slide 6 of 10)</a:t>
            </a:r>
          </a:p>
        </p:txBody>
      </p:sp>
      <p:graphicFrame>
        <p:nvGraphicFramePr>
          <p:cNvPr id="7" name="Content Placeholder 6" descr="Group 3 of 5 Suffixes from the Review Sheet of the text with their corresponding meanings."/>
          <p:cNvGraphicFramePr>
            <a:graphicFrameLocks noGrp="1"/>
          </p:cNvGraphicFramePr>
          <p:nvPr>
            <p:ph idx="1"/>
            <p:extLst>
              <p:ext uri="{D42A27DB-BD31-4B8C-83A1-F6EECF244321}">
                <p14:modId xmlns:p14="http://schemas.microsoft.com/office/powerpoint/2010/main" val="501268996"/>
              </p:ext>
            </p:extLst>
          </p:nvPr>
        </p:nvGraphicFramePr>
        <p:xfrm>
          <a:off x="457200" y="1600200"/>
          <a:ext cx="8229600" cy="2743200"/>
        </p:xfrm>
        <a:graphic>
          <a:graphicData uri="http://schemas.openxmlformats.org/drawingml/2006/table">
            <a:tbl>
              <a:tblPr firstRow="1" bandRow="1">
                <a:tableStyleId>{21E4AEA4-8DFA-4A89-87EB-49C32662AFE0}</a:tableStyleId>
              </a:tblPr>
              <a:tblGrid>
                <a:gridCol w="2362200">
                  <a:extLst>
                    <a:ext uri="{9D8B030D-6E8A-4147-A177-3AD203B41FA5}">
                      <a16:colId xmlns:a16="http://schemas.microsoft.com/office/drawing/2014/main" val="20000"/>
                    </a:ext>
                  </a:extLst>
                </a:gridCol>
                <a:gridCol w="5867400">
                  <a:extLst>
                    <a:ext uri="{9D8B030D-6E8A-4147-A177-3AD203B41FA5}">
                      <a16:colId xmlns:a16="http://schemas.microsoft.com/office/drawing/2014/main" val="20001"/>
                    </a:ext>
                  </a:extLst>
                </a:gridCol>
              </a:tblGrid>
              <a:tr h="370840">
                <a:tc>
                  <a:txBody>
                    <a:bodyPr/>
                    <a:lstStyle/>
                    <a:p>
                      <a:r>
                        <a:rPr lang="en-US" sz="2400" dirty="0"/>
                        <a:t>Suffix</a:t>
                      </a:r>
                    </a:p>
                  </a:txBody>
                  <a:tcPr/>
                </a:tc>
                <a:tc>
                  <a:txBody>
                    <a:bodyPr/>
                    <a:lstStyle/>
                    <a:p>
                      <a:r>
                        <a:rPr lang="en-US" sz="2400" dirty="0"/>
                        <a:t>Meaning</a:t>
                      </a:r>
                    </a:p>
                  </a:txBody>
                  <a:tcPr/>
                </a:tc>
                <a:extLst>
                  <a:ext uri="{0D108BD9-81ED-4DB2-BD59-A6C34878D82A}">
                    <a16:rowId xmlns:a16="http://schemas.microsoft.com/office/drawing/2014/main" val="10000"/>
                  </a:ext>
                </a:extLst>
              </a:tr>
              <a:tr h="370840">
                <a:tc>
                  <a:txBody>
                    <a:bodyPr/>
                    <a:lstStyle/>
                    <a:p>
                      <a:r>
                        <a:rPr lang="en-US" sz="2400" b="1" dirty="0"/>
                        <a:t>-</a:t>
                      </a:r>
                      <a:r>
                        <a:rPr lang="en-US" sz="2400" b="1" dirty="0" err="1"/>
                        <a:t>plasia</a:t>
                      </a:r>
                      <a:endParaRPr lang="en-US" sz="2400" dirty="0"/>
                    </a:p>
                  </a:txBody>
                  <a:tcPr/>
                </a:tc>
                <a:tc>
                  <a:txBody>
                    <a:bodyPr/>
                    <a:lstStyle/>
                    <a:p>
                      <a:r>
                        <a:rPr lang="en-US" sz="2400" dirty="0"/>
                        <a:t>development, formation</a:t>
                      </a:r>
                    </a:p>
                  </a:txBody>
                  <a:tcPr/>
                </a:tc>
                <a:extLst>
                  <a:ext uri="{0D108BD9-81ED-4DB2-BD59-A6C34878D82A}">
                    <a16:rowId xmlns:a16="http://schemas.microsoft.com/office/drawing/2014/main" val="10001"/>
                  </a:ext>
                </a:extLst>
              </a:tr>
              <a:tr h="370840">
                <a:tc>
                  <a:txBody>
                    <a:bodyPr/>
                    <a:lstStyle/>
                    <a:p>
                      <a:r>
                        <a:rPr lang="en-US" sz="2400" b="1" dirty="0"/>
                        <a:t>-</a:t>
                      </a:r>
                      <a:r>
                        <a:rPr lang="en-US" sz="2400" b="1" dirty="0" err="1"/>
                        <a:t>plasty</a:t>
                      </a:r>
                      <a:endParaRPr lang="en-US" sz="2400" dirty="0"/>
                    </a:p>
                  </a:txBody>
                  <a:tcPr/>
                </a:tc>
                <a:tc>
                  <a:txBody>
                    <a:bodyPr/>
                    <a:lstStyle/>
                    <a:p>
                      <a:r>
                        <a:rPr lang="en-US" sz="2400" dirty="0"/>
                        <a:t>surgical repair</a:t>
                      </a:r>
                    </a:p>
                  </a:txBody>
                  <a:tcPr/>
                </a:tc>
                <a:extLst>
                  <a:ext uri="{0D108BD9-81ED-4DB2-BD59-A6C34878D82A}">
                    <a16:rowId xmlns:a16="http://schemas.microsoft.com/office/drawing/2014/main" val="10002"/>
                  </a:ext>
                </a:extLst>
              </a:tr>
              <a:tr h="370840">
                <a:tc>
                  <a:txBody>
                    <a:bodyPr/>
                    <a:lstStyle/>
                    <a:p>
                      <a:r>
                        <a:rPr lang="en-US" sz="2400" b="1" dirty="0"/>
                        <a:t>-ptosis</a:t>
                      </a:r>
                      <a:endParaRPr lang="en-US" sz="2400" dirty="0"/>
                    </a:p>
                  </a:txBody>
                  <a:tcPr/>
                </a:tc>
                <a:tc>
                  <a:txBody>
                    <a:bodyPr/>
                    <a:lstStyle/>
                    <a:p>
                      <a:r>
                        <a:rPr lang="en-US" sz="2400" dirty="0"/>
                        <a:t>dropping, sagging</a:t>
                      </a:r>
                    </a:p>
                  </a:txBody>
                  <a:tcPr/>
                </a:tc>
                <a:extLst>
                  <a:ext uri="{0D108BD9-81ED-4DB2-BD59-A6C34878D82A}">
                    <a16:rowId xmlns:a16="http://schemas.microsoft.com/office/drawing/2014/main" val="10003"/>
                  </a:ext>
                </a:extLst>
              </a:tr>
              <a:tr h="370840">
                <a:tc>
                  <a:txBody>
                    <a:bodyPr/>
                    <a:lstStyle/>
                    <a:p>
                      <a:r>
                        <a:rPr lang="en-US" sz="2400" b="1" dirty="0"/>
                        <a:t>-</a:t>
                      </a:r>
                      <a:r>
                        <a:rPr lang="en-US" sz="2400" b="1" dirty="0" err="1"/>
                        <a:t>rrhagia</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dirty="0"/>
                        <a:t>bursting forth (blood)</a:t>
                      </a:r>
                    </a:p>
                  </a:txBody>
                  <a:tcPr/>
                </a:tc>
                <a:extLst>
                  <a:ext uri="{0D108BD9-81ED-4DB2-BD59-A6C34878D82A}">
                    <a16:rowId xmlns:a16="http://schemas.microsoft.com/office/drawing/2014/main" val="10004"/>
                  </a:ext>
                </a:extLst>
              </a:tr>
              <a:tr h="370840">
                <a:tc>
                  <a:txBody>
                    <a:bodyPr/>
                    <a:lstStyle/>
                    <a:p>
                      <a:r>
                        <a:rPr lang="en-US" sz="2400" b="1" dirty="0"/>
                        <a:t>-</a:t>
                      </a:r>
                      <a:r>
                        <a:rPr lang="en-US" sz="2400" b="1" dirty="0" err="1"/>
                        <a:t>rrhaphy</a:t>
                      </a:r>
                      <a:endParaRPr lang="en-US" sz="2400" dirty="0"/>
                    </a:p>
                  </a:txBody>
                  <a:tcPr/>
                </a:tc>
                <a:tc>
                  <a:txBody>
                    <a:bodyPr/>
                    <a:lstStyle/>
                    <a:p>
                      <a:r>
                        <a:rPr lang="en-US" sz="2400" dirty="0"/>
                        <a:t>suture</a:t>
                      </a:r>
                    </a:p>
                  </a:txBody>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609534750"/>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Review Sheet – Suffixes</a:t>
            </a:r>
            <a:br>
              <a:rPr lang="en-US" dirty="0"/>
            </a:br>
            <a:r>
              <a:rPr lang="en-US" sz="4000" dirty="0"/>
              <a:t>(Slide 7 of 10)</a:t>
            </a:r>
          </a:p>
        </p:txBody>
      </p:sp>
      <p:graphicFrame>
        <p:nvGraphicFramePr>
          <p:cNvPr id="7" name="Content Placeholder 6" descr="Group 4 of 5 Suffixes from the Review Sheet of the text.  The following slide lists these same list  with corresponding meanings."/>
          <p:cNvGraphicFramePr>
            <a:graphicFrameLocks noGrp="1"/>
          </p:cNvGraphicFramePr>
          <p:nvPr>
            <p:ph idx="1"/>
            <p:extLst>
              <p:ext uri="{D42A27DB-BD31-4B8C-83A1-F6EECF244321}">
                <p14:modId xmlns:p14="http://schemas.microsoft.com/office/powerpoint/2010/main" val="2509760792"/>
              </p:ext>
            </p:extLst>
          </p:nvPr>
        </p:nvGraphicFramePr>
        <p:xfrm>
          <a:off x="3390900" y="2057400"/>
          <a:ext cx="2362200" cy="2743200"/>
        </p:xfrm>
        <a:graphic>
          <a:graphicData uri="http://schemas.openxmlformats.org/drawingml/2006/table">
            <a:tbl>
              <a:tblPr firstRow="1" bandRow="1">
                <a:tableStyleId>{21E4AEA4-8DFA-4A89-87EB-49C32662AFE0}</a:tableStyleId>
              </a:tblPr>
              <a:tblGrid>
                <a:gridCol w="2362200">
                  <a:extLst>
                    <a:ext uri="{9D8B030D-6E8A-4147-A177-3AD203B41FA5}">
                      <a16:colId xmlns:a16="http://schemas.microsoft.com/office/drawing/2014/main" val="20000"/>
                    </a:ext>
                  </a:extLst>
                </a:gridCol>
              </a:tblGrid>
              <a:tr h="370840">
                <a:tc>
                  <a:txBody>
                    <a:bodyPr/>
                    <a:lstStyle/>
                    <a:p>
                      <a:r>
                        <a:rPr lang="en-US" sz="2400" dirty="0"/>
                        <a:t>Suffix</a:t>
                      </a:r>
                    </a:p>
                  </a:txBody>
                  <a:tcPr/>
                </a:tc>
                <a:extLst>
                  <a:ext uri="{0D108BD9-81ED-4DB2-BD59-A6C34878D82A}">
                    <a16:rowId xmlns:a16="http://schemas.microsoft.com/office/drawing/2014/main" val="10000"/>
                  </a:ext>
                </a:extLst>
              </a:tr>
              <a:tr h="370840">
                <a:tc>
                  <a:txBody>
                    <a:bodyPr/>
                    <a:lstStyle/>
                    <a:p>
                      <a:r>
                        <a:rPr lang="en-US" altLang="en-US" sz="2400" b="1" dirty="0"/>
                        <a:t>-</a:t>
                      </a:r>
                      <a:r>
                        <a:rPr lang="en-US" altLang="en-US" sz="2400" b="1" dirty="0" err="1"/>
                        <a:t>rrhea</a:t>
                      </a:r>
                      <a:endParaRPr lang="en-US" sz="2400" dirty="0"/>
                    </a:p>
                  </a:txBody>
                  <a:tcPr/>
                </a:tc>
                <a:extLst>
                  <a:ext uri="{0D108BD9-81ED-4DB2-BD59-A6C34878D82A}">
                    <a16:rowId xmlns:a16="http://schemas.microsoft.com/office/drawing/2014/main" val="10001"/>
                  </a:ext>
                </a:extLst>
              </a:tr>
              <a:tr h="370840">
                <a:tc>
                  <a:txBody>
                    <a:bodyPr/>
                    <a:lstStyle/>
                    <a:p>
                      <a:r>
                        <a:rPr lang="en-US" altLang="en-US" sz="2400" b="1" dirty="0"/>
                        <a:t>-</a:t>
                      </a:r>
                      <a:r>
                        <a:rPr lang="en-US" altLang="en-US" sz="2400" b="1" dirty="0" err="1"/>
                        <a:t>salpinx</a:t>
                      </a:r>
                      <a:endParaRPr lang="en-US" sz="2400" dirty="0"/>
                    </a:p>
                  </a:txBody>
                  <a:tcPr/>
                </a:tc>
                <a:extLst>
                  <a:ext uri="{0D108BD9-81ED-4DB2-BD59-A6C34878D82A}">
                    <a16:rowId xmlns:a16="http://schemas.microsoft.com/office/drawing/2014/main" val="10002"/>
                  </a:ext>
                </a:extLst>
              </a:tr>
              <a:tr h="370840">
                <a:tc>
                  <a:txBody>
                    <a:bodyPr/>
                    <a:lstStyle/>
                    <a:p>
                      <a:r>
                        <a:rPr lang="en-US" altLang="en-US" sz="2400" b="1" dirty="0"/>
                        <a:t>-</a:t>
                      </a:r>
                      <a:r>
                        <a:rPr lang="en-US" altLang="en-US" sz="2400" b="1" dirty="0" err="1"/>
                        <a:t>scopy</a:t>
                      </a:r>
                      <a:endParaRPr lang="en-US" sz="2400" dirty="0"/>
                    </a:p>
                  </a:txBody>
                  <a:tcPr/>
                </a:tc>
                <a:extLst>
                  <a:ext uri="{0D108BD9-81ED-4DB2-BD59-A6C34878D82A}">
                    <a16:rowId xmlns:a16="http://schemas.microsoft.com/office/drawing/2014/main" val="10003"/>
                  </a:ext>
                </a:extLst>
              </a:tr>
              <a:tr h="370840">
                <a:tc>
                  <a:txBody>
                    <a:bodyPr/>
                    <a:lstStyle/>
                    <a:p>
                      <a:r>
                        <a:rPr lang="en-US" altLang="en-US" sz="2400" b="1" dirty="0"/>
                        <a:t>-stenosis</a:t>
                      </a:r>
                      <a:endParaRPr lang="en-US" sz="2400" dirty="0"/>
                    </a:p>
                  </a:txBody>
                  <a:tcPr/>
                </a:tc>
                <a:extLst>
                  <a:ext uri="{0D108BD9-81ED-4DB2-BD59-A6C34878D82A}">
                    <a16:rowId xmlns:a16="http://schemas.microsoft.com/office/drawing/2014/main" val="10004"/>
                  </a:ext>
                </a:extLst>
              </a:tr>
              <a:tr h="370840">
                <a:tc>
                  <a:txBody>
                    <a:bodyPr/>
                    <a:lstStyle/>
                    <a:p>
                      <a:r>
                        <a:rPr lang="en-US" altLang="en-US" sz="2400" b="1" dirty="0"/>
                        <a:t>-</a:t>
                      </a:r>
                      <a:r>
                        <a:rPr lang="en-US" altLang="en-US" sz="2400" b="1" dirty="0" err="1"/>
                        <a:t>stomy</a:t>
                      </a:r>
                      <a:endParaRPr lang="en-US" sz="2400" dirty="0"/>
                    </a:p>
                  </a:txBody>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550691454"/>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Review Sheet – Suffixes</a:t>
            </a:r>
            <a:br>
              <a:rPr lang="en-US" sz="4000" dirty="0"/>
            </a:br>
            <a:r>
              <a:rPr lang="en-US" sz="4000" dirty="0"/>
              <a:t>(Slide 8 of 10)</a:t>
            </a:r>
          </a:p>
        </p:txBody>
      </p:sp>
      <p:graphicFrame>
        <p:nvGraphicFramePr>
          <p:cNvPr id="7" name="Content Placeholder 6" descr="Group 4 of 5 Suffixes from the Review Sheet of the text with their corresponding meanings."/>
          <p:cNvGraphicFramePr>
            <a:graphicFrameLocks noGrp="1"/>
          </p:cNvGraphicFramePr>
          <p:nvPr>
            <p:ph idx="1"/>
            <p:extLst>
              <p:ext uri="{D42A27DB-BD31-4B8C-83A1-F6EECF244321}">
                <p14:modId xmlns:p14="http://schemas.microsoft.com/office/powerpoint/2010/main" val="4218355233"/>
              </p:ext>
            </p:extLst>
          </p:nvPr>
        </p:nvGraphicFramePr>
        <p:xfrm>
          <a:off x="457200" y="1600200"/>
          <a:ext cx="8229600" cy="2743200"/>
        </p:xfrm>
        <a:graphic>
          <a:graphicData uri="http://schemas.openxmlformats.org/drawingml/2006/table">
            <a:tbl>
              <a:tblPr firstRow="1" bandRow="1">
                <a:tableStyleId>{21E4AEA4-8DFA-4A89-87EB-49C32662AFE0}</a:tableStyleId>
              </a:tblPr>
              <a:tblGrid>
                <a:gridCol w="2362200">
                  <a:extLst>
                    <a:ext uri="{9D8B030D-6E8A-4147-A177-3AD203B41FA5}">
                      <a16:colId xmlns:a16="http://schemas.microsoft.com/office/drawing/2014/main" val="20000"/>
                    </a:ext>
                  </a:extLst>
                </a:gridCol>
                <a:gridCol w="5867400">
                  <a:extLst>
                    <a:ext uri="{9D8B030D-6E8A-4147-A177-3AD203B41FA5}">
                      <a16:colId xmlns:a16="http://schemas.microsoft.com/office/drawing/2014/main" val="20001"/>
                    </a:ext>
                  </a:extLst>
                </a:gridCol>
              </a:tblGrid>
              <a:tr h="370840">
                <a:tc>
                  <a:txBody>
                    <a:bodyPr/>
                    <a:lstStyle/>
                    <a:p>
                      <a:r>
                        <a:rPr lang="en-US" sz="2400" dirty="0"/>
                        <a:t>Suffix</a:t>
                      </a:r>
                    </a:p>
                  </a:txBody>
                  <a:tcPr/>
                </a:tc>
                <a:tc>
                  <a:txBody>
                    <a:bodyPr/>
                    <a:lstStyle/>
                    <a:p>
                      <a:r>
                        <a:rPr lang="en-US" sz="2400" dirty="0"/>
                        <a:t>Meaning</a:t>
                      </a:r>
                    </a:p>
                  </a:txBody>
                  <a:tcPr/>
                </a:tc>
                <a:extLst>
                  <a:ext uri="{0D108BD9-81ED-4DB2-BD59-A6C34878D82A}">
                    <a16:rowId xmlns:a16="http://schemas.microsoft.com/office/drawing/2014/main" val="10000"/>
                  </a:ext>
                </a:extLst>
              </a:tr>
              <a:tr h="370840">
                <a:tc>
                  <a:txBody>
                    <a:bodyPr/>
                    <a:lstStyle/>
                    <a:p>
                      <a:r>
                        <a:rPr lang="en-US" altLang="en-US" sz="2400" b="1" dirty="0"/>
                        <a:t>-</a:t>
                      </a:r>
                      <a:r>
                        <a:rPr lang="en-US" altLang="en-US" sz="2400" b="1" dirty="0" err="1"/>
                        <a:t>rrhea</a:t>
                      </a:r>
                      <a:endParaRPr lang="en-US" sz="2400" dirty="0"/>
                    </a:p>
                  </a:txBody>
                  <a:tcPr/>
                </a:tc>
                <a:tc>
                  <a:txBody>
                    <a:bodyPr/>
                    <a:lstStyle/>
                    <a:p>
                      <a:r>
                        <a:rPr lang="en-US" altLang="en-US" sz="2400" dirty="0"/>
                        <a:t>discharge</a:t>
                      </a:r>
                      <a:endParaRPr lang="en-US" sz="2400" dirty="0"/>
                    </a:p>
                  </a:txBody>
                  <a:tcPr/>
                </a:tc>
                <a:extLst>
                  <a:ext uri="{0D108BD9-81ED-4DB2-BD59-A6C34878D82A}">
                    <a16:rowId xmlns:a16="http://schemas.microsoft.com/office/drawing/2014/main" val="10001"/>
                  </a:ext>
                </a:extLst>
              </a:tr>
              <a:tr h="370840">
                <a:tc>
                  <a:txBody>
                    <a:bodyPr/>
                    <a:lstStyle/>
                    <a:p>
                      <a:r>
                        <a:rPr lang="en-US" altLang="en-US" sz="2400" b="1" dirty="0"/>
                        <a:t>-</a:t>
                      </a:r>
                      <a:r>
                        <a:rPr lang="en-US" altLang="en-US" sz="2400" b="1" dirty="0" err="1"/>
                        <a:t>salpinx</a:t>
                      </a:r>
                      <a:endParaRPr lang="en-US" sz="2400" dirty="0"/>
                    </a:p>
                  </a:txBody>
                  <a:tcPr/>
                </a:tc>
                <a:tc>
                  <a:txBody>
                    <a:bodyPr/>
                    <a:lstStyle/>
                    <a:p>
                      <a:r>
                        <a:rPr lang="en-US" altLang="en-US" sz="2400" dirty="0"/>
                        <a:t>uterine tube</a:t>
                      </a:r>
                      <a:endParaRPr lang="en-US" sz="2400" dirty="0"/>
                    </a:p>
                  </a:txBody>
                  <a:tcPr/>
                </a:tc>
                <a:extLst>
                  <a:ext uri="{0D108BD9-81ED-4DB2-BD59-A6C34878D82A}">
                    <a16:rowId xmlns:a16="http://schemas.microsoft.com/office/drawing/2014/main" val="10002"/>
                  </a:ext>
                </a:extLst>
              </a:tr>
              <a:tr h="370840">
                <a:tc>
                  <a:txBody>
                    <a:bodyPr/>
                    <a:lstStyle/>
                    <a:p>
                      <a:r>
                        <a:rPr lang="en-US" altLang="en-US" sz="2400" b="1" dirty="0"/>
                        <a:t>-</a:t>
                      </a:r>
                      <a:r>
                        <a:rPr lang="en-US" altLang="en-US" sz="2400" b="1" dirty="0" err="1"/>
                        <a:t>scopy</a:t>
                      </a:r>
                      <a:endParaRPr lang="en-US" sz="2400" dirty="0"/>
                    </a:p>
                  </a:txBody>
                  <a:tcPr/>
                </a:tc>
                <a:tc>
                  <a:txBody>
                    <a:bodyPr/>
                    <a:lstStyle/>
                    <a:p>
                      <a:r>
                        <a:rPr lang="en-US" altLang="en-US" sz="2400" dirty="0"/>
                        <a:t>visual examination</a:t>
                      </a:r>
                      <a:endParaRPr lang="en-US" sz="2400" dirty="0"/>
                    </a:p>
                  </a:txBody>
                  <a:tcPr/>
                </a:tc>
                <a:extLst>
                  <a:ext uri="{0D108BD9-81ED-4DB2-BD59-A6C34878D82A}">
                    <a16:rowId xmlns:a16="http://schemas.microsoft.com/office/drawing/2014/main" val="10003"/>
                  </a:ext>
                </a:extLst>
              </a:tr>
              <a:tr h="370840">
                <a:tc>
                  <a:txBody>
                    <a:bodyPr/>
                    <a:lstStyle/>
                    <a:p>
                      <a:r>
                        <a:rPr lang="en-US" altLang="en-US" sz="2400" b="1" dirty="0"/>
                        <a:t>-stenosis</a:t>
                      </a:r>
                      <a:endParaRPr lang="en-US" sz="2400" dirty="0"/>
                    </a:p>
                  </a:txBody>
                  <a:tcPr/>
                </a:tc>
                <a:tc>
                  <a:txBody>
                    <a:bodyPr/>
                    <a:lstStyle/>
                    <a:p>
                      <a:r>
                        <a:rPr lang="en-US" altLang="en-US" sz="2400" dirty="0"/>
                        <a:t>tightening</a:t>
                      </a:r>
                      <a:endParaRPr lang="en-US" sz="2400" dirty="0"/>
                    </a:p>
                  </a:txBody>
                  <a:tcPr/>
                </a:tc>
                <a:extLst>
                  <a:ext uri="{0D108BD9-81ED-4DB2-BD59-A6C34878D82A}">
                    <a16:rowId xmlns:a16="http://schemas.microsoft.com/office/drawing/2014/main" val="10004"/>
                  </a:ext>
                </a:extLst>
              </a:tr>
              <a:tr h="370840">
                <a:tc>
                  <a:txBody>
                    <a:bodyPr/>
                    <a:lstStyle/>
                    <a:p>
                      <a:r>
                        <a:rPr lang="en-US" altLang="en-US" sz="2400" b="1" dirty="0"/>
                        <a:t>-</a:t>
                      </a:r>
                      <a:r>
                        <a:rPr lang="en-US" altLang="en-US" sz="2400" b="1" dirty="0" err="1"/>
                        <a:t>stomy</a:t>
                      </a:r>
                      <a:endParaRPr lang="en-US" sz="2400" dirty="0"/>
                    </a:p>
                  </a:txBody>
                  <a:tcPr/>
                </a:tc>
                <a:tc>
                  <a:txBody>
                    <a:bodyPr/>
                    <a:lstStyle/>
                    <a:p>
                      <a:r>
                        <a:rPr lang="en-US" altLang="en-US" sz="2400" dirty="0"/>
                        <a:t>new opening</a:t>
                      </a:r>
                      <a:endParaRPr lang="en-US" sz="2400" dirty="0"/>
                    </a:p>
                  </a:txBody>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4004729477"/>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Review Sheet – Suffixes</a:t>
            </a:r>
            <a:br>
              <a:rPr lang="en-US" sz="4000" dirty="0"/>
            </a:br>
            <a:r>
              <a:rPr lang="en-US" sz="4000" dirty="0"/>
              <a:t>(Slide 9 of 10)</a:t>
            </a:r>
          </a:p>
        </p:txBody>
      </p:sp>
      <p:graphicFrame>
        <p:nvGraphicFramePr>
          <p:cNvPr id="7" name="Content Placeholder 6" descr="Group 5 of 5 Suffixes from the Review Sheet of the text.  The following slide lists these same list  with corresponding meanings."/>
          <p:cNvGraphicFramePr>
            <a:graphicFrameLocks noGrp="1"/>
          </p:cNvGraphicFramePr>
          <p:nvPr>
            <p:ph idx="1"/>
            <p:extLst>
              <p:ext uri="{D42A27DB-BD31-4B8C-83A1-F6EECF244321}">
                <p14:modId xmlns:p14="http://schemas.microsoft.com/office/powerpoint/2010/main" val="1576325550"/>
              </p:ext>
            </p:extLst>
          </p:nvPr>
        </p:nvGraphicFramePr>
        <p:xfrm>
          <a:off x="3390900" y="1905000"/>
          <a:ext cx="2362200" cy="2286000"/>
        </p:xfrm>
        <a:graphic>
          <a:graphicData uri="http://schemas.openxmlformats.org/drawingml/2006/table">
            <a:tbl>
              <a:tblPr firstRow="1" bandRow="1">
                <a:tableStyleId>{21E4AEA4-8DFA-4A89-87EB-49C32662AFE0}</a:tableStyleId>
              </a:tblPr>
              <a:tblGrid>
                <a:gridCol w="2362200">
                  <a:extLst>
                    <a:ext uri="{9D8B030D-6E8A-4147-A177-3AD203B41FA5}">
                      <a16:colId xmlns:a16="http://schemas.microsoft.com/office/drawing/2014/main" val="20000"/>
                    </a:ext>
                  </a:extLst>
                </a:gridCol>
              </a:tblGrid>
              <a:tr h="370840">
                <a:tc>
                  <a:txBody>
                    <a:bodyPr/>
                    <a:lstStyle/>
                    <a:p>
                      <a:r>
                        <a:rPr lang="en-US" sz="2400" dirty="0"/>
                        <a:t>Suffix</a:t>
                      </a:r>
                    </a:p>
                  </a:txBody>
                  <a:tcPr/>
                </a:tc>
                <a:extLst>
                  <a:ext uri="{0D108BD9-81ED-4DB2-BD59-A6C34878D82A}">
                    <a16:rowId xmlns:a16="http://schemas.microsoft.com/office/drawing/2014/main" val="10000"/>
                  </a:ext>
                </a:extLst>
              </a:tr>
              <a:tr h="370840">
                <a:tc>
                  <a:txBody>
                    <a:bodyPr/>
                    <a:lstStyle/>
                    <a:p>
                      <a:r>
                        <a:rPr lang="en-US" altLang="en-US" sz="2400" b="1" dirty="0"/>
                        <a:t>-</a:t>
                      </a:r>
                      <a:r>
                        <a:rPr lang="en-US" altLang="en-US" sz="2400" b="1" dirty="0" err="1"/>
                        <a:t>tocia</a:t>
                      </a:r>
                      <a:endParaRPr lang="en-US" sz="2400" dirty="0"/>
                    </a:p>
                  </a:txBody>
                  <a:tcPr/>
                </a:tc>
                <a:extLst>
                  <a:ext uri="{0D108BD9-81ED-4DB2-BD59-A6C34878D82A}">
                    <a16:rowId xmlns:a16="http://schemas.microsoft.com/office/drawing/2014/main" val="10001"/>
                  </a:ext>
                </a:extLst>
              </a:tr>
              <a:tr h="370840">
                <a:tc>
                  <a:txBody>
                    <a:bodyPr/>
                    <a:lstStyle/>
                    <a:p>
                      <a:r>
                        <a:rPr lang="en-US" altLang="en-US" sz="2400" b="1" dirty="0"/>
                        <a:t>-</a:t>
                      </a:r>
                      <a:r>
                        <a:rPr lang="en-US" altLang="en-US" sz="2400" b="1" dirty="0" err="1"/>
                        <a:t>tomy</a:t>
                      </a:r>
                      <a:endParaRPr lang="en-US" sz="2400" dirty="0"/>
                    </a:p>
                  </a:txBody>
                  <a:tcPr/>
                </a:tc>
                <a:extLst>
                  <a:ext uri="{0D108BD9-81ED-4DB2-BD59-A6C34878D82A}">
                    <a16:rowId xmlns:a16="http://schemas.microsoft.com/office/drawing/2014/main" val="10002"/>
                  </a:ext>
                </a:extLst>
              </a:tr>
              <a:tr h="370840">
                <a:tc>
                  <a:txBody>
                    <a:bodyPr/>
                    <a:lstStyle/>
                    <a:p>
                      <a:r>
                        <a:rPr lang="en-US" altLang="en-US" sz="2400" b="1" dirty="0"/>
                        <a:t>-</a:t>
                      </a:r>
                      <a:r>
                        <a:rPr lang="en-US" altLang="en-US" sz="2400" b="1" dirty="0" err="1"/>
                        <a:t>tresia</a:t>
                      </a:r>
                      <a:endParaRPr lang="en-US" sz="2400" dirty="0"/>
                    </a:p>
                  </a:txBody>
                  <a:tcPr/>
                </a:tc>
                <a:extLst>
                  <a:ext uri="{0D108BD9-81ED-4DB2-BD59-A6C34878D82A}">
                    <a16:rowId xmlns:a16="http://schemas.microsoft.com/office/drawing/2014/main" val="10003"/>
                  </a:ext>
                </a:extLst>
              </a:tr>
              <a:tr h="370840">
                <a:tc>
                  <a:txBody>
                    <a:bodyPr/>
                    <a:lstStyle/>
                    <a:p>
                      <a:r>
                        <a:rPr lang="en-US" altLang="en-US" sz="2400" b="1" dirty="0"/>
                        <a:t>-version</a:t>
                      </a:r>
                      <a:endParaRPr lang="en-US" sz="2400" dirty="0"/>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572687788"/>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Review Sheet – Suffixes</a:t>
            </a:r>
            <a:br>
              <a:rPr lang="en-US" sz="4000" dirty="0"/>
            </a:br>
            <a:r>
              <a:rPr lang="en-US" sz="4000" dirty="0"/>
              <a:t>(Slide 10 of 10)</a:t>
            </a:r>
          </a:p>
        </p:txBody>
      </p:sp>
      <p:graphicFrame>
        <p:nvGraphicFramePr>
          <p:cNvPr id="7" name="Content Placeholder 6" descr="Group 5 of 5 Suffixes from the Review Sheet of the text with their corresponding meanings."/>
          <p:cNvGraphicFramePr>
            <a:graphicFrameLocks noGrp="1"/>
          </p:cNvGraphicFramePr>
          <p:nvPr>
            <p:ph idx="1"/>
            <p:extLst>
              <p:ext uri="{D42A27DB-BD31-4B8C-83A1-F6EECF244321}">
                <p14:modId xmlns:p14="http://schemas.microsoft.com/office/powerpoint/2010/main" val="1733814050"/>
              </p:ext>
            </p:extLst>
          </p:nvPr>
        </p:nvGraphicFramePr>
        <p:xfrm>
          <a:off x="457200" y="1600200"/>
          <a:ext cx="8229600" cy="2286000"/>
        </p:xfrm>
        <a:graphic>
          <a:graphicData uri="http://schemas.openxmlformats.org/drawingml/2006/table">
            <a:tbl>
              <a:tblPr firstRow="1" bandRow="1">
                <a:tableStyleId>{21E4AEA4-8DFA-4A89-87EB-49C32662AFE0}</a:tableStyleId>
              </a:tblPr>
              <a:tblGrid>
                <a:gridCol w="2362200">
                  <a:extLst>
                    <a:ext uri="{9D8B030D-6E8A-4147-A177-3AD203B41FA5}">
                      <a16:colId xmlns:a16="http://schemas.microsoft.com/office/drawing/2014/main" val="20000"/>
                    </a:ext>
                  </a:extLst>
                </a:gridCol>
                <a:gridCol w="5867400">
                  <a:extLst>
                    <a:ext uri="{9D8B030D-6E8A-4147-A177-3AD203B41FA5}">
                      <a16:colId xmlns:a16="http://schemas.microsoft.com/office/drawing/2014/main" val="20001"/>
                    </a:ext>
                  </a:extLst>
                </a:gridCol>
              </a:tblGrid>
              <a:tr h="370840">
                <a:tc>
                  <a:txBody>
                    <a:bodyPr/>
                    <a:lstStyle/>
                    <a:p>
                      <a:r>
                        <a:rPr lang="en-US" sz="2400" dirty="0"/>
                        <a:t>Suffix</a:t>
                      </a:r>
                    </a:p>
                  </a:txBody>
                  <a:tcPr/>
                </a:tc>
                <a:tc>
                  <a:txBody>
                    <a:bodyPr/>
                    <a:lstStyle/>
                    <a:p>
                      <a:r>
                        <a:rPr lang="en-US" sz="2400" dirty="0"/>
                        <a:t>Meaning</a:t>
                      </a:r>
                    </a:p>
                  </a:txBody>
                  <a:tcPr/>
                </a:tc>
                <a:extLst>
                  <a:ext uri="{0D108BD9-81ED-4DB2-BD59-A6C34878D82A}">
                    <a16:rowId xmlns:a16="http://schemas.microsoft.com/office/drawing/2014/main" val="10000"/>
                  </a:ext>
                </a:extLst>
              </a:tr>
              <a:tr h="370840">
                <a:tc>
                  <a:txBody>
                    <a:bodyPr/>
                    <a:lstStyle/>
                    <a:p>
                      <a:r>
                        <a:rPr lang="en-US" altLang="en-US" sz="2400" b="1" dirty="0"/>
                        <a:t>-</a:t>
                      </a:r>
                      <a:r>
                        <a:rPr lang="en-US" altLang="en-US" sz="2400" b="1" dirty="0" err="1"/>
                        <a:t>tocia</a:t>
                      </a:r>
                      <a:endParaRPr lang="en-US" sz="2400" dirty="0"/>
                    </a:p>
                  </a:txBody>
                  <a:tcPr/>
                </a:tc>
                <a:tc>
                  <a:txBody>
                    <a:bodyPr/>
                    <a:lstStyle/>
                    <a:p>
                      <a:r>
                        <a:rPr lang="en-US" altLang="en-US" sz="2400" dirty="0"/>
                        <a:t>labor, birth</a:t>
                      </a:r>
                      <a:endParaRPr lang="en-US" sz="2400" dirty="0"/>
                    </a:p>
                  </a:txBody>
                  <a:tcPr/>
                </a:tc>
                <a:extLst>
                  <a:ext uri="{0D108BD9-81ED-4DB2-BD59-A6C34878D82A}">
                    <a16:rowId xmlns:a16="http://schemas.microsoft.com/office/drawing/2014/main" val="10001"/>
                  </a:ext>
                </a:extLst>
              </a:tr>
              <a:tr h="370840">
                <a:tc>
                  <a:txBody>
                    <a:bodyPr/>
                    <a:lstStyle/>
                    <a:p>
                      <a:r>
                        <a:rPr lang="en-US" altLang="en-US" sz="2400" b="1" dirty="0"/>
                        <a:t>-</a:t>
                      </a:r>
                      <a:r>
                        <a:rPr lang="en-US" altLang="en-US" sz="2400" b="1" dirty="0" err="1"/>
                        <a:t>tomy</a:t>
                      </a:r>
                      <a:endParaRPr lang="en-US" sz="2400" dirty="0"/>
                    </a:p>
                  </a:txBody>
                  <a:tcPr/>
                </a:tc>
                <a:tc>
                  <a:txBody>
                    <a:bodyPr/>
                    <a:lstStyle/>
                    <a:p>
                      <a:r>
                        <a:rPr lang="en-US" altLang="en-US" sz="2400" dirty="0"/>
                        <a:t>process of cutting</a:t>
                      </a:r>
                      <a:endParaRPr lang="en-US" sz="2400" dirty="0"/>
                    </a:p>
                  </a:txBody>
                  <a:tcPr/>
                </a:tc>
                <a:extLst>
                  <a:ext uri="{0D108BD9-81ED-4DB2-BD59-A6C34878D82A}">
                    <a16:rowId xmlns:a16="http://schemas.microsoft.com/office/drawing/2014/main" val="10002"/>
                  </a:ext>
                </a:extLst>
              </a:tr>
              <a:tr h="370840">
                <a:tc>
                  <a:txBody>
                    <a:bodyPr/>
                    <a:lstStyle/>
                    <a:p>
                      <a:r>
                        <a:rPr lang="en-US" altLang="en-US" sz="2400" b="1" dirty="0"/>
                        <a:t>-</a:t>
                      </a:r>
                      <a:r>
                        <a:rPr lang="en-US" altLang="en-US" sz="2400" b="1" dirty="0" err="1"/>
                        <a:t>tresia</a:t>
                      </a:r>
                      <a:endParaRPr lang="en-US" sz="2400" dirty="0"/>
                    </a:p>
                  </a:txBody>
                  <a:tcPr/>
                </a:tc>
                <a:tc>
                  <a:txBody>
                    <a:bodyPr/>
                    <a:lstStyle/>
                    <a:p>
                      <a:r>
                        <a:rPr lang="en-US" altLang="en-US" sz="2400" dirty="0"/>
                        <a:t>opening</a:t>
                      </a:r>
                      <a:endParaRPr lang="en-US" sz="2400" dirty="0"/>
                    </a:p>
                  </a:txBody>
                  <a:tcPr/>
                </a:tc>
                <a:extLst>
                  <a:ext uri="{0D108BD9-81ED-4DB2-BD59-A6C34878D82A}">
                    <a16:rowId xmlns:a16="http://schemas.microsoft.com/office/drawing/2014/main" val="10003"/>
                  </a:ext>
                </a:extLst>
              </a:tr>
              <a:tr h="370840">
                <a:tc>
                  <a:txBody>
                    <a:bodyPr/>
                    <a:lstStyle/>
                    <a:p>
                      <a:r>
                        <a:rPr lang="en-US" altLang="en-US" sz="2400" b="1" dirty="0"/>
                        <a:t>-version</a:t>
                      </a:r>
                      <a:endParaRPr lang="en-US" sz="2400" dirty="0"/>
                    </a:p>
                  </a:txBody>
                  <a:tcPr/>
                </a:tc>
                <a:tc>
                  <a:txBody>
                    <a:bodyPr/>
                    <a:lstStyle/>
                    <a:p>
                      <a:r>
                        <a:rPr lang="en-US" altLang="en-US" sz="2400" dirty="0"/>
                        <a:t>act of turning</a:t>
                      </a:r>
                      <a:endParaRPr lang="en-US" sz="2400" dirty="0"/>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894670957"/>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Review Sheet – Prefixes</a:t>
            </a:r>
            <a:br>
              <a:rPr lang="en-US" dirty="0"/>
            </a:br>
            <a:r>
              <a:rPr lang="en-US" sz="4000" dirty="0"/>
              <a:t>(Slide 1 of 6)</a:t>
            </a:r>
          </a:p>
        </p:txBody>
      </p:sp>
      <p:graphicFrame>
        <p:nvGraphicFramePr>
          <p:cNvPr id="7" name="Content Placeholder 6" descr="Group 1 of 3 Prefixes from the Review Sheet of the text.  The following slide lists these same list  with corresponding meanings."/>
          <p:cNvGraphicFramePr>
            <a:graphicFrameLocks noGrp="1"/>
          </p:cNvGraphicFramePr>
          <p:nvPr>
            <p:ph idx="1"/>
            <p:extLst>
              <p:ext uri="{D42A27DB-BD31-4B8C-83A1-F6EECF244321}">
                <p14:modId xmlns:p14="http://schemas.microsoft.com/office/powerpoint/2010/main" val="2655280334"/>
              </p:ext>
            </p:extLst>
          </p:nvPr>
        </p:nvGraphicFramePr>
        <p:xfrm>
          <a:off x="3390900" y="1611086"/>
          <a:ext cx="2362200" cy="3200400"/>
        </p:xfrm>
        <a:graphic>
          <a:graphicData uri="http://schemas.openxmlformats.org/drawingml/2006/table">
            <a:tbl>
              <a:tblPr firstRow="1" bandRow="1">
                <a:tableStyleId>{21E4AEA4-8DFA-4A89-87EB-49C32662AFE0}</a:tableStyleId>
              </a:tblPr>
              <a:tblGrid>
                <a:gridCol w="2362200">
                  <a:extLst>
                    <a:ext uri="{9D8B030D-6E8A-4147-A177-3AD203B41FA5}">
                      <a16:colId xmlns:a16="http://schemas.microsoft.com/office/drawing/2014/main" val="20000"/>
                    </a:ext>
                  </a:extLst>
                </a:gridCol>
              </a:tblGrid>
              <a:tr h="370840">
                <a:tc>
                  <a:txBody>
                    <a:bodyPr/>
                    <a:lstStyle/>
                    <a:p>
                      <a:r>
                        <a:rPr lang="en-US" sz="2400" dirty="0"/>
                        <a:t>Prefix</a:t>
                      </a:r>
                    </a:p>
                  </a:txBody>
                  <a:tcPr/>
                </a:tc>
                <a:extLst>
                  <a:ext uri="{0D108BD9-81ED-4DB2-BD59-A6C34878D82A}">
                    <a16:rowId xmlns:a16="http://schemas.microsoft.com/office/drawing/2014/main" val="10000"/>
                  </a:ext>
                </a:extLst>
              </a:tr>
              <a:tr h="370840">
                <a:tc>
                  <a:txBody>
                    <a:bodyPr/>
                    <a:lstStyle/>
                    <a:p>
                      <a:r>
                        <a:rPr lang="en-US" altLang="en-US" sz="2400" b="1" dirty="0"/>
                        <a:t>bi-</a:t>
                      </a:r>
                      <a:endParaRPr lang="en-US" sz="2400" dirty="0"/>
                    </a:p>
                  </a:txBody>
                  <a:tcPr/>
                </a:tc>
                <a:extLst>
                  <a:ext uri="{0D108BD9-81ED-4DB2-BD59-A6C34878D82A}">
                    <a16:rowId xmlns:a16="http://schemas.microsoft.com/office/drawing/2014/main" val="10001"/>
                  </a:ext>
                </a:extLst>
              </a:tr>
              <a:tr h="370840">
                <a:tc>
                  <a:txBody>
                    <a:bodyPr/>
                    <a:lstStyle/>
                    <a:p>
                      <a:r>
                        <a:rPr lang="en-US" altLang="en-US" sz="2400" b="1" dirty="0" err="1"/>
                        <a:t>dys</a:t>
                      </a:r>
                      <a:r>
                        <a:rPr lang="en-US" altLang="en-US" sz="2400" b="1" dirty="0"/>
                        <a:t>-</a:t>
                      </a:r>
                      <a:endParaRPr lang="en-US" sz="2400" dirty="0"/>
                    </a:p>
                  </a:txBody>
                  <a:tcPr/>
                </a:tc>
                <a:extLst>
                  <a:ext uri="{0D108BD9-81ED-4DB2-BD59-A6C34878D82A}">
                    <a16:rowId xmlns:a16="http://schemas.microsoft.com/office/drawing/2014/main" val="10002"/>
                  </a:ext>
                </a:extLst>
              </a:tr>
              <a:tr h="370840">
                <a:tc>
                  <a:txBody>
                    <a:bodyPr/>
                    <a:lstStyle/>
                    <a:p>
                      <a:r>
                        <a:rPr lang="en-US" altLang="en-US" sz="2400" b="1" dirty="0" err="1"/>
                        <a:t>endo</a:t>
                      </a:r>
                      <a:r>
                        <a:rPr lang="en-US" altLang="en-US" sz="2400" b="1" dirty="0"/>
                        <a:t>-</a:t>
                      </a:r>
                      <a:endParaRPr lang="en-US" sz="2400" dirty="0"/>
                    </a:p>
                  </a:txBody>
                  <a:tcPr/>
                </a:tc>
                <a:extLst>
                  <a:ext uri="{0D108BD9-81ED-4DB2-BD59-A6C34878D82A}">
                    <a16:rowId xmlns:a16="http://schemas.microsoft.com/office/drawing/2014/main" val="10003"/>
                  </a:ext>
                </a:extLst>
              </a:tr>
              <a:tr h="370840">
                <a:tc>
                  <a:txBody>
                    <a:bodyPr/>
                    <a:lstStyle/>
                    <a:p>
                      <a:r>
                        <a:rPr lang="en-US" altLang="en-US" sz="2400" b="1" dirty="0"/>
                        <a:t>in-</a:t>
                      </a:r>
                      <a:endParaRPr lang="en-US" sz="2400" dirty="0"/>
                    </a:p>
                  </a:txBody>
                  <a:tcPr/>
                </a:tc>
                <a:extLst>
                  <a:ext uri="{0D108BD9-81ED-4DB2-BD59-A6C34878D82A}">
                    <a16:rowId xmlns:a16="http://schemas.microsoft.com/office/drawing/2014/main" val="10004"/>
                  </a:ext>
                </a:extLst>
              </a:tr>
              <a:tr h="370840">
                <a:tc>
                  <a:txBody>
                    <a:bodyPr/>
                    <a:lstStyle/>
                    <a:p>
                      <a:r>
                        <a:rPr lang="en-US" altLang="en-US" sz="2400" b="1" dirty="0"/>
                        <a:t>intra-</a:t>
                      </a:r>
                      <a:endParaRPr lang="en-US" sz="2400" dirty="0"/>
                    </a:p>
                  </a:txBody>
                  <a:tcPr/>
                </a:tc>
                <a:extLst>
                  <a:ext uri="{0D108BD9-81ED-4DB2-BD59-A6C34878D82A}">
                    <a16:rowId xmlns:a16="http://schemas.microsoft.com/office/drawing/2014/main" val="10005"/>
                  </a:ext>
                </a:extLst>
              </a:tr>
              <a:tr h="370840">
                <a:tc>
                  <a:txBody>
                    <a:bodyPr/>
                    <a:lstStyle/>
                    <a:p>
                      <a:r>
                        <a:rPr lang="en-US" altLang="en-US" sz="2400" b="1" dirty="0"/>
                        <a:t>multi-</a:t>
                      </a:r>
                      <a:endParaRPr lang="en-US" sz="2400" dirty="0"/>
                    </a:p>
                  </a:txBody>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2718265079"/>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Review Sheet – Prefixes</a:t>
            </a:r>
            <a:br>
              <a:rPr lang="en-US" dirty="0"/>
            </a:br>
            <a:r>
              <a:rPr lang="en-US" sz="4000" dirty="0"/>
              <a:t>(Slide 2 of 6)</a:t>
            </a:r>
          </a:p>
        </p:txBody>
      </p:sp>
      <p:graphicFrame>
        <p:nvGraphicFramePr>
          <p:cNvPr id="7" name="Content Placeholder 6" descr="Group 1 of 3 Prefixes from the Review Sheet of the text with their corresponding meanings."/>
          <p:cNvGraphicFramePr>
            <a:graphicFrameLocks noGrp="1"/>
          </p:cNvGraphicFramePr>
          <p:nvPr>
            <p:ph idx="1"/>
            <p:extLst>
              <p:ext uri="{D42A27DB-BD31-4B8C-83A1-F6EECF244321}">
                <p14:modId xmlns:p14="http://schemas.microsoft.com/office/powerpoint/2010/main" val="3700940758"/>
              </p:ext>
            </p:extLst>
          </p:nvPr>
        </p:nvGraphicFramePr>
        <p:xfrm>
          <a:off x="457200" y="1600200"/>
          <a:ext cx="8229600" cy="3200400"/>
        </p:xfrm>
        <a:graphic>
          <a:graphicData uri="http://schemas.openxmlformats.org/drawingml/2006/table">
            <a:tbl>
              <a:tblPr firstRow="1" bandRow="1">
                <a:tableStyleId>{21E4AEA4-8DFA-4A89-87EB-49C32662AFE0}</a:tableStyleId>
              </a:tblPr>
              <a:tblGrid>
                <a:gridCol w="2362200">
                  <a:extLst>
                    <a:ext uri="{9D8B030D-6E8A-4147-A177-3AD203B41FA5}">
                      <a16:colId xmlns:a16="http://schemas.microsoft.com/office/drawing/2014/main" val="20000"/>
                    </a:ext>
                  </a:extLst>
                </a:gridCol>
                <a:gridCol w="5867400">
                  <a:extLst>
                    <a:ext uri="{9D8B030D-6E8A-4147-A177-3AD203B41FA5}">
                      <a16:colId xmlns:a16="http://schemas.microsoft.com/office/drawing/2014/main" val="20001"/>
                    </a:ext>
                  </a:extLst>
                </a:gridCol>
              </a:tblGrid>
              <a:tr h="370840">
                <a:tc>
                  <a:txBody>
                    <a:bodyPr/>
                    <a:lstStyle/>
                    <a:p>
                      <a:r>
                        <a:rPr lang="en-US" sz="2400" dirty="0"/>
                        <a:t>Prefix</a:t>
                      </a:r>
                    </a:p>
                  </a:txBody>
                  <a:tcPr/>
                </a:tc>
                <a:tc>
                  <a:txBody>
                    <a:bodyPr/>
                    <a:lstStyle/>
                    <a:p>
                      <a:r>
                        <a:rPr lang="en-US" sz="2400" dirty="0"/>
                        <a:t>Meaning</a:t>
                      </a:r>
                    </a:p>
                  </a:txBody>
                  <a:tcPr/>
                </a:tc>
                <a:extLst>
                  <a:ext uri="{0D108BD9-81ED-4DB2-BD59-A6C34878D82A}">
                    <a16:rowId xmlns:a16="http://schemas.microsoft.com/office/drawing/2014/main" val="10000"/>
                  </a:ext>
                </a:extLst>
              </a:tr>
              <a:tr h="370840">
                <a:tc>
                  <a:txBody>
                    <a:bodyPr/>
                    <a:lstStyle/>
                    <a:p>
                      <a:r>
                        <a:rPr lang="en-US" altLang="en-US" sz="2400" b="1" dirty="0"/>
                        <a:t>bi-</a:t>
                      </a:r>
                      <a:endParaRPr lang="en-US" sz="2400" dirty="0"/>
                    </a:p>
                  </a:txBody>
                  <a:tcPr/>
                </a:tc>
                <a:tc>
                  <a:txBody>
                    <a:bodyPr/>
                    <a:lstStyle/>
                    <a:p>
                      <a:r>
                        <a:rPr lang="en-US" altLang="en-US" sz="2400" dirty="0"/>
                        <a:t>two</a:t>
                      </a:r>
                      <a:endParaRPr lang="en-US" sz="2400" dirty="0"/>
                    </a:p>
                  </a:txBody>
                  <a:tcPr/>
                </a:tc>
                <a:extLst>
                  <a:ext uri="{0D108BD9-81ED-4DB2-BD59-A6C34878D82A}">
                    <a16:rowId xmlns:a16="http://schemas.microsoft.com/office/drawing/2014/main" val="10001"/>
                  </a:ext>
                </a:extLst>
              </a:tr>
              <a:tr h="370840">
                <a:tc>
                  <a:txBody>
                    <a:bodyPr/>
                    <a:lstStyle/>
                    <a:p>
                      <a:r>
                        <a:rPr lang="en-US" altLang="en-US" sz="2400" b="1" dirty="0" err="1"/>
                        <a:t>dys</a:t>
                      </a:r>
                      <a:r>
                        <a:rPr lang="en-US" altLang="en-US" sz="2400" b="1" dirty="0"/>
                        <a:t>-</a:t>
                      </a:r>
                      <a:endParaRPr lang="en-US" sz="2400" dirty="0"/>
                    </a:p>
                  </a:txBody>
                  <a:tcPr/>
                </a:tc>
                <a:tc>
                  <a:txBody>
                    <a:bodyPr/>
                    <a:lstStyle/>
                    <a:p>
                      <a:r>
                        <a:rPr lang="en-US" altLang="en-US" sz="2400" dirty="0"/>
                        <a:t>painful</a:t>
                      </a:r>
                      <a:endParaRPr lang="en-US" sz="2400" dirty="0"/>
                    </a:p>
                  </a:txBody>
                  <a:tcPr/>
                </a:tc>
                <a:extLst>
                  <a:ext uri="{0D108BD9-81ED-4DB2-BD59-A6C34878D82A}">
                    <a16:rowId xmlns:a16="http://schemas.microsoft.com/office/drawing/2014/main" val="10002"/>
                  </a:ext>
                </a:extLst>
              </a:tr>
              <a:tr h="370840">
                <a:tc>
                  <a:txBody>
                    <a:bodyPr/>
                    <a:lstStyle/>
                    <a:p>
                      <a:r>
                        <a:rPr lang="en-US" altLang="en-US" sz="2400" b="1" dirty="0" err="1"/>
                        <a:t>endo</a:t>
                      </a:r>
                      <a:r>
                        <a:rPr lang="en-US" altLang="en-US" sz="2400" b="1" dirty="0"/>
                        <a:t>-</a:t>
                      </a:r>
                      <a:endParaRPr lang="en-US" sz="2400" dirty="0"/>
                    </a:p>
                  </a:txBody>
                  <a:tcPr/>
                </a:tc>
                <a:tc>
                  <a:txBody>
                    <a:bodyPr/>
                    <a:lstStyle/>
                    <a:p>
                      <a:r>
                        <a:rPr lang="en-US" altLang="en-US" sz="2400" dirty="0"/>
                        <a:t>within</a:t>
                      </a:r>
                      <a:endParaRPr lang="en-US" sz="2400" dirty="0"/>
                    </a:p>
                  </a:txBody>
                  <a:tcPr/>
                </a:tc>
                <a:extLst>
                  <a:ext uri="{0D108BD9-81ED-4DB2-BD59-A6C34878D82A}">
                    <a16:rowId xmlns:a16="http://schemas.microsoft.com/office/drawing/2014/main" val="10003"/>
                  </a:ext>
                </a:extLst>
              </a:tr>
              <a:tr h="370840">
                <a:tc>
                  <a:txBody>
                    <a:bodyPr/>
                    <a:lstStyle/>
                    <a:p>
                      <a:r>
                        <a:rPr lang="en-US" altLang="en-US" sz="2400" b="1" dirty="0"/>
                        <a:t>in-</a:t>
                      </a:r>
                      <a:endParaRPr lang="en-US" sz="2400" dirty="0"/>
                    </a:p>
                  </a:txBody>
                  <a:tcPr/>
                </a:tc>
                <a:tc>
                  <a:txBody>
                    <a:bodyPr/>
                    <a:lstStyle/>
                    <a:p>
                      <a:r>
                        <a:rPr lang="en-US" altLang="en-US" sz="2400" dirty="0"/>
                        <a:t>in</a:t>
                      </a:r>
                      <a:endParaRPr lang="en-US" sz="2400" dirty="0"/>
                    </a:p>
                  </a:txBody>
                  <a:tcPr/>
                </a:tc>
                <a:extLst>
                  <a:ext uri="{0D108BD9-81ED-4DB2-BD59-A6C34878D82A}">
                    <a16:rowId xmlns:a16="http://schemas.microsoft.com/office/drawing/2014/main" val="10004"/>
                  </a:ext>
                </a:extLst>
              </a:tr>
              <a:tr h="370840">
                <a:tc>
                  <a:txBody>
                    <a:bodyPr/>
                    <a:lstStyle/>
                    <a:p>
                      <a:r>
                        <a:rPr lang="en-US" altLang="en-US" sz="2400" b="1" dirty="0"/>
                        <a:t>intra-</a:t>
                      </a:r>
                      <a:endParaRPr lang="en-US" sz="2400" dirty="0"/>
                    </a:p>
                  </a:txBody>
                  <a:tcPr/>
                </a:tc>
                <a:tc>
                  <a:txBody>
                    <a:bodyPr/>
                    <a:lstStyle/>
                    <a:p>
                      <a:r>
                        <a:rPr lang="en-US" altLang="en-US" sz="2400" dirty="0"/>
                        <a:t>within</a:t>
                      </a:r>
                      <a:endParaRPr lang="en-US" sz="2400" dirty="0"/>
                    </a:p>
                  </a:txBody>
                  <a:tcPr/>
                </a:tc>
                <a:extLst>
                  <a:ext uri="{0D108BD9-81ED-4DB2-BD59-A6C34878D82A}">
                    <a16:rowId xmlns:a16="http://schemas.microsoft.com/office/drawing/2014/main" val="10005"/>
                  </a:ext>
                </a:extLst>
              </a:tr>
              <a:tr h="370840">
                <a:tc>
                  <a:txBody>
                    <a:bodyPr/>
                    <a:lstStyle/>
                    <a:p>
                      <a:r>
                        <a:rPr lang="en-US" altLang="en-US" sz="2400" b="1" dirty="0"/>
                        <a:t>multi-</a:t>
                      </a:r>
                      <a:endParaRPr lang="en-US" sz="2400" dirty="0"/>
                    </a:p>
                  </a:txBody>
                  <a:tcPr/>
                </a:tc>
                <a:tc>
                  <a:txBody>
                    <a:bodyPr/>
                    <a:lstStyle/>
                    <a:p>
                      <a:r>
                        <a:rPr lang="en-US" altLang="en-US" sz="2400" dirty="0"/>
                        <a:t>many</a:t>
                      </a:r>
                      <a:endParaRPr lang="en-US" sz="2400" dirty="0"/>
                    </a:p>
                  </a:txBody>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1923752356"/>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Review Sheet – Prefixes</a:t>
            </a:r>
            <a:br>
              <a:rPr lang="en-US" dirty="0"/>
            </a:br>
            <a:r>
              <a:rPr lang="en-US" sz="4000" dirty="0"/>
              <a:t>(Slide 3 of 6)</a:t>
            </a:r>
          </a:p>
        </p:txBody>
      </p:sp>
      <p:graphicFrame>
        <p:nvGraphicFramePr>
          <p:cNvPr id="7" name="Content Placeholder 6" descr="Group 2 of 3 Prefixes from the Review Sheet of the text.  The following slide lists these same list  with corresponding meanings."/>
          <p:cNvGraphicFramePr>
            <a:graphicFrameLocks noGrp="1"/>
          </p:cNvGraphicFramePr>
          <p:nvPr>
            <p:ph idx="1"/>
            <p:extLst>
              <p:ext uri="{D42A27DB-BD31-4B8C-83A1-F6EECF244321}">
                <p14:modId xmlns:p14="http://schemas.microsoft.com/office/powerpoint/2010/main" val="3114733267"/>
              </p:ext>
            </p:extLst>
          </p:nvPr>
        </p:nvGraphicFramePr>
        <p:xfrm>
          <a:off x="3390900" y="2209800"/>
          <a:ext cx="2362200" cy="2286000"/>
        </p:xfrm>
        <a:graphic>
          <a:graphicData uri="http://schemas.openxmlformats.org/drawingml/2006/table">
            <a:tbl>
              <a:tblPr firstRow="1" bandRow="1">
                <a:tableStyleId>{21E4AEA4-8DFA-4A89-87EB-49C32662AFE0}</a:tableStyleId>
              </a:tblPr>
              <a:tblGrid>
                <a:gridCol w="2362200">
                  <a:extLst>
                    <a:ext uri="{9D8B030D-6E8A-4147-A177-3AD203B41FA5}">
                      <a16:colId xmlns:a16="http://schemas.microsoft.com/office/drawing/2014/main" val="20000"/>
                    </a:ext>
                  </a:extLst>
                </a:gridCol>
              </a:tblGrid>
              <a:tr h="370840">
                <a:tc>
                  <a:txBody>
                    <a:bodyPr/>
                    <a:lstStyle/>
                    <a:p>
                      <a:r>
                        <a:rPr lang="en-US" sz="2400" dirty="0"/>
                        <a:t>Prefix</a:t>
                      </a:r>
                    </a:p>
                  </a:txBody>
                  <a:tcPr/>
                </a:tc>
                <a:extLst>
                  <a:ext uri="{0D108BD9-81ED-4DB2-BD59-A6C34878D82A}">
                    <a16:rowId xmlns:a16="http://schemas.microsoft.com/office/drawing/2014/main" val="10000"/>
                  </a:ext>
                </a:extLst>
              </a:tr>
              <a:tr h="370840">
                <a:tc>
                  <a:txBody>
                    <a:bodyPr/>
                    <a:lstStyle/>
                    <a:p>
                      <a:r>
                        <a:rPr lang="en-US" altLang="en-US" sz="2400" b="1" dirty="0" err="1"/>
                        <a:t>nulli</a:t>
                      </a:r>
                      <a:r>
                        <a:rPr lang="en-US" altLang="en-US" sz="2400" b="1" dirty="0"/>
                        <a:t>-</a:t>
                      </a:r>
                      <a:endParaRPr lang="en-US" sz="2400" dirty="0"/>
                    </a:p>
                  </a:txBody>
                  <a:tcPr/>
                </a:tc>
                <a:extLst>
                  <a:ext uri="{0D108BD9-81ED-4DB2-BD59-A6C34878D82A}">
                    <a16:rowId xmlns:a16="http://schemas.microsoft.com/office/drawing/2014/main" val="10001"/>
                  </a:ext>
                </a:extLst>
              </a:tr>
              <a:tr h="370840">
                <a:tc>
                  <a:txBody>
                    <a:bodyPr/>
                    <a:lstStyle/>
                    <a:p>
                      <a:r>
                        <a:rPr lang="en-US" altLang="en-US" sz="2400" b="1" dirty="0"/>
                        <a:t>oxy-</a:t>
                      </a:r>
                      <a:endParaRPr lang="en-US" sz="2400" dirty="0"/>
                    </a:p>
                  </a:txBody>
                  <a:tcPr/>
                </a:tc>
                <a:extLst>
                  <a:ext uri="{0D108BD9-81ED-4DB2-BD59-A6C34878D82A}">
                    <a16:rowId xmlns:a16="http://schemas.microsoft.com/office/drawing/2014/main" val="10002"/>
                  </a:ext>
                </a:extLst>
              </a:tr>
              <a:tr h="370840">
                <a:tc>
                  <a:txBody>
                    <a:bodyPr/>
                    <a:lstStyle/>
                    <a:p>
                      <a:r>
                        <a:rPr lang="en-US" altLang="en-US" sz="2400" b="1" dirty="0" err="1"/>
                        <a:t>peri</a:t>
                      </a:r>
                      <a:r>
                        <a:rPr lang="en-US" altLang="en-US" sz="2400" b="1" dirty="0"/>
                        <a:t>-</a:t>
                      </a:r>
                      <a:endParaRPr lang="en-US" sz="2400" dirty="0"/>
                    </a:p>
                  </a:txBody>
                  <a:tcPr/>
                </a:tc>
                <a:extLst>
                  <a:ext uri="{0D108BD9-81ED-4DB2-BD59-A6C34878D82A}">
                    <a16:rowId xmlns:a16="http://schemas.microsoft.com/office/drawing/2014/main" val="10003"/>
                  </a:ext>
                </a:extLst>
              </a:tr>
              <a:tr h="370840">
                <a:tc>
                  <a:txBody>
                    <a:bodyPr/>
                    <a:lstStyle/>
                    <a:p>
                      <a:r>
                        <a:rPr lang="en-US" altLang="en-US" sz="2400" b="1" dirty="0"/>
                        <a:t>pre-</a:t>
                      </a:r>
                      <a:endParaRPr lang="en-US" sz="2400" dirty="0"/>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604277380"/>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Review Sheet – Prefixes</a:t>
            </a:r>
            <a:br>
              <a:rPr lang="en-US" dirty="0"/>
            </a:br>
            <a:r>
              <a:rPr lang="en-US" sz="4000" dirty="0"/>
              <a:t>(Slide 4 of 6)</a:t>
            </a:r>
          </a:p>
        </p:txBody>
      </p:sp>
      <p:graphicFrame>
        <p:nvGraphicFramePr>
          <p:cNvPr id="7" name="Content Placeholder 6" descr="Group 2 of 3 Prefixes from the Review Sheet of the text with their corresponding meanings."/>
          <p:cNvGraphicFramePr>
            <a:graphicFrameLocks noGrp="1"/>
          </p:cNvGraphicFramePr>
          <p:nvPr>
            <p:ph idx="1"/>
            <p:extLst>
              <p:ext uri="{D42A27DB-BD31-4B8C-83A1-F6EECF244321}">
                <p14:modId xmlns:p14="http://schemas.microsoft.com/office/powerpoint/2010/main" val="3870383946"/>
              </p:ext>
            </p:extLst>
          </p:nvPr>
        </p:nvGraphicFramePr>
        <p:xfrm>
          <a:off x="457200" y="1600200"/>
          <a:ext cx="8229600" cy="2286000"/>
        </p:xfrm>
        <a:graphic>
          <a:graphicData uri="http://schemas.openxmlformats.org/drawingml/2006/table">
            <a:tbl>
              <a:tblPr firstRow="1" bandRow="1">
                <a:tableStyleId>{21E4AEA4-8DFA-4A89-87EB-49C32662AFE0}</a:tableStyleId>
              </a:tblPr>
              <a:tblGrid>
                <a:gridCol w="2362200">
                  <a:extLst>
                    <a:ext uri="{9D8B030D-6E8A-4147-A177-3AD203B41FA5}">
                      <a16:colId xmlns:a16="http://schemas.microsoft.com/office/drawing/2014/main" val="20000"/>
                    </a:ext>
                  </a:extLst>
                </a:gridCol>
                <a:gridCol w="5867400">
                  <a:extLst>
                    <a:ext uri="{9D8B030D-6E8A-4147-A177-3AD203B41FA5}">
                      <a16:colId xmlns:a16="http://schemas.microsoft.com/office/drawing/2014/main" val="20001"/>
                    </a:ext>
                  </a:extLst>
                </a:gridCol>
              </a:tblGrid>
              <a:tr h="370840">
                <a:tc>
                  <a:txBody>
                    <a:bodyPr/>
                    <a:lstStyle/>
                    <a:p>
                      <a:r>
                        <a:rPr lang="en-US" sz="2400" dirty="0"/>
                        <a:t>Prefix</a:t>
                      </a:r>
                    </a:p>
                  </a:txBody>
                  <a:tcPr/>
                </a:tc>
                <a:tc>
                  <a:txBody>
                    <a:bodyPr/>
                    <a:lstStyle/>
                    <a:p>
                      <a:r>
                        <a:rPr lang="en-US" sz="2400" dirty="0"/>
                        <a:t>Meaning</a:t>
                      </a:r>
                    </a:p>
                  </a:txBody>
                  <a:tcPr/>
                </a:tc>
                <a:extLst>
                  <a:ext uri="{0D108BD9-81ED-4DB2-BD59-A6C34878D82A}">
                    <a16:rowId xmlns:a16="http://schemas.microsoft.com/office/drawing/2014/main" val="10000"/>
                  </a:ext>
                </a:extLst>
              </a:tr>
              <a:tr h="370840">
                <a:tc>
                  <a:txBody>
                    <a:bodyPr/>
                    <a:lstStyle/>
                    <a:p>
                      <a:r>
                        <a:rPr lang="en-US" altLang="en-US" sz="2400" b="1" dirty="0" err="1"/>
                        <a:t>nulli</a:t>
                      </a:r>
                      <a:r>
                        <a:rPr lang="en-US" altLang="en-US" sz="2400" b="1" dirty="0"/>
                        <a:t>-</a:t>
                      </a:r>
                      <a:endParaRPr lang="en-US" sz="2400" dirty="0"/>
                    </a:p>
                  </a:txBody>
                  <a:tcPr/>
                </a:tc>
                <a:tc>
                  <a:txBody>
                    <a:bodyPr/>
                    <a:lstStyle/>
                    <a:p>
                      <a:r>
                        <a:rPr lang="en-US" altLang="en-US" sz="2400" dirty="0"/>
                        <a:t>no, not, none</a:t>
                      </a:r>
                      <a:endParaRPr lang="en-US" sz="2400" dirty="0"/>
                    </a:p>
                  </a:txBody>
                  <a:tcPr/>
                </a:tc>
                <a:extLst>
                  <a:ext uri="{0D108BD9-81ED-4DB2-BD59-A6C34878D82A}">
                    <a16:rowId xmlns:a16="http://schemas.microsoft.com/office/drawing/2014/main" val="10001"/>
                  </a:ext>
                </a:extLst>
              </a:tr>
              <a:tr h="370840">
                <a:tc>
                  <a:txBody>
                    <a:bodyPr/>
                    <a:lstStyle/>
                    <a:p>
                      <a:r>
                        <a:rPr lang="en-US" altLang="en-US" sz="2400" b="1" dirty="0"/>
                        <a:t>oxy-</a:t>
                      </a:r>
                      <a:endParaRPr lang="en-US" sz="2400" dirty="0"/>
                    </a:p>
                  </a:txBody>
                  <a:tcPr/>
                </a:tc>
                <a:tc>
                  <a:txBody>
                    <a:bodyPr/>
                    <a:lstStyle/>
                    <a:p>
                      <a:r>
                        <a:rPr lang="en-US" altLang="en-US" sz="2400" dirty="0"/>
                        <a:t>swift, sharp</a:t>
                      </a:r>
                      <a:endParaRPr lang="en-US" sz="2400" dirty="0"/>
                    </a:p>
                  </a:txBody>
                  <a:tcPr/>
                </a:tc>
                <a:extLst>
                  <a:ext uri="{0D108BD9-81ED-4DB2-BD59-A6C34878D82A}">
                    <a16:rowId xmlns:a16="http://schemas.microsoft.com/office/drawing/2014/main" val="10002"/>
                  </a:ext>
                </a:extLst>
              </a:tr>
              <a:tr h="370840">
                <a:tc>
                  <a:txBody>
                    <a:bodyPr/>
                    <a:lstStyle/>
                    <a:p>
                      <a:r>
                        <a:rPr lang="en-US" altLang="en-US" sz="2400" b="1" dirty="0" err="1"/>
                        <a:t>peri</a:t>
                      </a:r>
                      <a:r>
                        <a:rPr lang="en-US" altLang="en-US" sz="2400" b="1" dirty="0"/>
                        <a:t>-</a:t>
                      </a:r>
                      <a:endParaRPr lang="en-US" sz="2400" dirty="0"/>
                    </a:p>
                  </a:txBody>
                  <a:tcPr/>
                </a:tc>
                <a:tc>
                  <a:txBody>
                    <a:bodyPr/>
                    <a:lstStyle/>
                    <a:p>
                      <a:r>
                        <a:rPr lang="en-US" altLang="en-US" sz="2400" dirty="0"/>
                        <a:t>surrounding</a:t>
                      </a:r>
                      <a:endParaRPr lang="en-US" sz="2400" dirty="0"/>
                    </a:p>
                  </a:txBody>
                  <a:tcPr/>
                </a:tc>
                <a:extLst>
                  <a:ext uri="{0D108BD9-81ED-4DB2-BD59-A6C34878D82A}">
                    <a16:rowId xmlns:a16="http://schemas.microsoft.com/office/drawing/2014/main" val="10003"/>
                  </a:ext>
                </a:extLst>
              </a:tr>
              <a:tr h="370840">
                <a:tc>
                  <a:txBody>
                    <a:bodyPr/>
                    <a:lstStyle/>
                    <a:p>
                      <a:r>
                        <a:rPr lang="en-US" altLang="en-US" sz="2400" b="1" dirty="0"/>
                        <a:t>pre-</a:t>
                      </a:r>
                      <a:endParaRPr lang="en-US" sz="2400" dirty="0"/>
                    </a:p>
                  </a:txBody>
                  <a:tcPr/>
                </a:tc>
                <a:tc>
                  <a:txBody>
                    <a:bodyPr/>
                    <a:lstStyle/>
                    <a:p>
                      <a:r>
                        <a:rPr lang="en-US" altLang="en-US" sz="2400" dirty="0"/>
                        <a:t>before</a:t>
                      </a:r>
                      <a:endParaRPr lang="en-US" sz="2400" dirty="0"/>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138123275"/>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Review Sheet – Prefixes</a:t>
            </a:r>
            <a:br>
              <a:rPr lang="en-US" dirty="0"/>
            </a:br>
            <a:r>
              <a:rPr lang="en-US" sz="4000" dirty="0"/>
              <a:t>(Slide 5 of 6)</a:t>
            </a:r>
          </a:p>
        </p:txBody>
      </p:sp>
      <p:graphicFrame>
        <p:nvGraphicFramePr>
          <p:cNvPr id="7" name="Content Placeholder 6" descr="Group 3 of 3 Prefixes from the Review Sheet of the text.  The following slide lists these same list  with corresponding meanings."/>
          <p:cNvGraphicFramePr>
            <a:graphicFrameLocks noGrp="1"/>
          </p:cNvGraphicFramePr>
          <p:nvPr>
            <p:ph idx="1"/>
            <p:extLst>
              <p:ext uri="{D42A27DB-BD31-4B8C-83A1-F6EECF244321}">
                <p14:modId xmlns:p14="http://schemas.microsoft.com/office/powerpoint/2010/main" val="3880951638"/>
              </p:ext>
            </p:extLst>
          </p:nvPr>
        </p:nvGraphicFramePr>
        <p:xfrm>
          <a:off x="3390900" y="2057400"/>
          <a:ext cx="2362200" cy="2286000"/>
        </p:xfrm>
        <a:graphic>
          <a:graphicData uri="http://schemas.openxmlformats.org/drawingml/2006/table">
            <a:tbl>
              <a:tblPr firstRow="1" bandRow="1">
                <a:tableStyleId>{21E4AEA4-8DFA-4A89-87EB-49C32662AFE0}</a:tableStyleId>
              </a:tblPr>
              <a:tblGrid>
                <a:gridCol w="2362200">
                  <a:extLst>
                    <a:ext uri="{9D8B030D-6E8A-4147-A177-3AD203B41FA5}">
                      <a16:colId xmlns:a16="http://schemas.microsoft.com/office/drawing/2014/main" val="20000"/>
                    </a:ext>
                  </a:extLst>
                </a:gridCol>
              </a:tblGrid>
              <a:tr h="370840">
                <a:tc>
                  <a:txBody>
                    <a:bodyPr/>
                    <a:lstStyle/>
                    <a:p>
                      <a:r>
                        <a:rPr lang="en-US" sz="2400" dirty="0"/>
                        <a:t>Prefix</a:t>
                      </a:r>
                    </a:p>
                  </a:txBody>
                  <a:tcPr/>
                </a:tc>
                <a:extLst>
                  <a:ext uri="{0D108BD9-81ED-4DB2-BD59-A6C34878D82A}">
                    <a16:rowId xmlns:a16="http://schemas.microsoft.com/office/drawing/2014/main" val="10000"/>
                  </a:ext>
                </a:extLst>
              </a:tr>
              <a:tr h="370840">
                <a:tc>
                  <a:txBody>
                    <a:bodyPr/>
                    <a:lstStyle/>
                    <a:p>
                      <a:r>
                        <a:rPr lang="en-US" altLang="en-US" sz="2400" b="1" dirty="0" err="1"/>
                        <a:t>primi</a:t>
                      </a:r>
                      <a:r>
                        <a:rPr lang="en-US" altLang="en-US" sz="2400" b="1" dirty="0"/>
                        <a:t>-</a:t>
                      </a:r>
                      <a:endParaRPr lang="en-US" sz="2400" dirty="0"/>
                    </a:p>
                  </a:txBody>
                  <a:tcPr/>
                </a:tc>
                <a:extLst>
                  <a:ext uri="{0D108BD9-81ED-4DB2-BD59-A6C34878D82A}">
                    <a16:rowId xmlns:a16="http://schemas.microsoft.com/office/drawing/2014/main" val="10001"/>
                  </a:ext>
                </a:extLst>
              </a:tr>
              <a:tr h="370840">
                <a:tc>
                  <a:txBody>
                    <a:bodyPr/>
                    <a:lstStyle/>
                    <a:p>
                      <a:r>
                        <a:rPr lang="en-US" altLang="en-US" sz="2400" b="1" dirty="0"/>
                        <a:t>pseudo-</a:t>
                      </a:r>
                      <a:endParaRPr lang="en-US" sz="2400" dirty="0"/>
                    </a:p>
                  </a:txBody>
                  <a:tcPr/>
                </a:tc>
                <a:extLst>
                  <a:ext uri="{0D108BD9-81ED-4DB2-BD59-A6C34878D82A}">
                    <a16:rowId xmlns:a16="http://schemas.microsoft.com/office/drawing/2014/main" val="10002"/>
                  </a:ext>
                </a:extLst>
              </a:tr>
              <a:tr h="370840">
                <a:tc>
                  <a:txBody>
                    <a:bodyPr/>
                    <a:lstStyle/>
                    <a:p>
                      <a:r>
                        <a:rPr lang="en-US" altLang="en-US" sz="2400" b="1" dirty="0"/>
                        <a:t>retro-</a:t>
                      </a:r>
                      <a:endParaRPr lang="en-US" sz="2400" dirty="0"/>
                    </a:p>
                  </a:txBody>
                  <a:tcPr/>
                </a:tc>
                <a:extLst>
                  <a:ext uri="{0D108BD9-81ED-4DB2-BD59-A6C34878D82A}">
                    <a16:rowId xmlns:a16="http://schemas.microsoft.com/office/drawing/2014/main" val="10003"/>
                  </a:ext>
                </a:extLst>
              </a:tr>
              <a:tr h="370840">
                <a:tc>
                  <a:txBody>
                    <a:bodyPr/>
                    <a:lstStyle/>
                    <a:p>
                      <a:r>
                        <a:rPr lang="en-US" altLang="en-US" sz="2400" b="1" dirty="0" err="1"/>
                        <a:t>uni</a:t>
                      </a:r>
                      <a:r>
                        <a:rPr lang="en-US" altLang="en-US" sz="2400" b="1" dirty="0"/>
                        <a:t>-</a:t>
                      </a:r>
                      <a:endParaRPr lang="en-US" sz="2400" dirty="0"/>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217367026"/>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Review Sheet – Prefixes</a:t>
            </a:r>
            <a:br>
              <a:rPr lang="en-US" dirty="0"/>
            </a:br>
            <a:r>
              <a:rPr lang="en-US" sz="4000" dirty="0"/>
              <a:t>(Slide 6 of 6)</a:t>
            </a:r>
          </a:p>
        </p:txBody>
      </p:sp>
      <p:graphicFrame>
        <p:nvGraphicFramePr>
          <p:cNvPr id="7" name="Content Placeholder 6" descr="Group 3 of 3 Prefixes from the Review Sheet of the text with their corresponding meanings."/>
          <p:cNvGraphicFramePr>
            <a:graphicFrameLocks noGrp="1"/>
          </p:cNvGraphicFramePr>
          <p:nvPr>
            <p:ph idx="1"/>
            <p:extLst>
              <p:ext uri="{D42A27DB-BD31-4B8C-83A1-F6EECF244321}">
                <p14:modId xmlns:p14="http://schemas.microsoft.com/office/powerpoint/2010/main" val="3110560409"/>
              </p:ext>
            </p:extLst>
          </p:nvPr>
        </p:nvGraphicFramePr>
        <p:xfrm>
          <a:off x="457200" y="1600200"/>
          <a:ext cx="8229600" cy="2286000"/>
        </p:xfrm>
        <a:graphic>
          <a:graphicData uri="http://schemas.openxmlformats.org/drawingml/2006/table">
            <a:tbl>
              <a:tblPr firstRow="1" bandRow="1">
                <a:tableStyleId>{21E4AEA4-8DFA-4A89-87EB-49C32662AFE0}</a:tableStyleId>
              </a:tblPr>
              <a:tblGrid>
                <a:gridCol w="2362200">
                  <a:extLst>
                    <a:ext uri="{9D8B030D-6E8A-4147-A177-3AD203B41FA5}">
                      <a16:colId xmlns:a16="http://schemas.microsoft.com/office/drawing/2014/main" val="20000"/>
                    </a:ext>
                  </a:extLst>
                </a:gridCol>
                <a:gridCol w="5867400">
                  <a:extLst>
                    <a:ext uri="{9D8B030D-6E8A-4147-A177-3AD203B41FA5}">
                      <a16:colId xmlns:a16="http://schemas.microsoft.com/office/drawing/2014/main" val="20001"/>
                    </a:ext>
                  </a:extLst>
                </a:gridCol>
              </a:tblGrid>
              <a:tr h="370840">
                <a:tc>
                  <a:txBody>
                    <a:bodyPr/>
                    <a:lstStyle/>
                    <a:p>
                      <a:r>
                        <a:rPr lang="en-US" sz="2400" dirty="0"/>
                        <a:t>Prefix</a:t>
                      </a:r>
                    </a:p>
                  </a:txBody>
                  <a:tcPr/>
                </a:tc>
                <a:tc>
                  <a:txBody>
                    <a:bodyPr/>
                    <a:lstStyle/>
                    <a:p>
                      <a:r>
                        <a:rPr lang="en-US" sz="2400" dirty="0"/>
                        <a:t>Meaning</a:t>
                      </a:r>
                    </a:p>
                  </a:txBody>
                  <a:tcPr/>
                </a:tc>
                <a:extLst>
                  <a:ext uri="{0D108BD9-81ED-4DB2-BD59-A6C34878D82A}">
                    <a16:rowId xmlns:a16="http://schemas.microsoft.com/office/drawing/2014/main" val="10000"/>
                  </a:ext>
                </a:extLst>
              </a:tr>
              <a:tr h="370840">
                <a:tc>
                  <a:txBody>
                    <a:bodyPr/>
                    <a:lstStyle/>
                    <a:p>
                      <a:r>
                        <a:rPr lang="en-US" altLang="en-US" sz="2400" b="1" dirty="0" err="1"/>
                        <a:t>primi</a:t>
                      </a:r>
                      <a:r>
                        <a:rPr lang="en-US" altLang="en-US" sz="2400" b="1" dirty="0"/>
                        <a:t>-</a:t>
                      </a:r>
                      <a:endParaRPr lang="en-US" sz="2400" dirty="0"/>
                    </a:p>
                  </a:txBody>
                  <a:tcPr/>
                </a:tc>
                <a:tc>
                  <a:txBody>
                    <a:bodyPr/>
                    <a:lstStyle/>
                    <a:p>
                      <a:r>
                        <a:rPr lang="en-US" altLang="en-US" sz="2400" dirty="0"/>
                        <a:t>first</a:t>
                      </a:r>
                      <a:endParaRPr lang="en-US" sz="2400" dirty="0"/>
                    </a:p>
                  </a:txBody>
                  <a:tcPr/>
                </a:tc>
                <a:extLst>
                  <a:ext uri="{0D108BD9-81ED-4DB2-BD59-A6C34878D82A}">
                    <a16:rowId xmlns:a16="http://schemas.microsoft.com/office/drawing/2014/main" val="10001"/>
                  </a:ext>
                </a:extLst>
              </a:tr>
              <a:tr h="370840">
                <a:tc>
                  <a:txBody>
                    <a:bodyPr/>
                    <a:lstStyle/>
                    <a:p>
                      <a:r>
                        <a:rPr lang="en-US" altLang="en-US" sz="2400" b="1" dirty="0"/>
                        <a:t>pseudo-</a:t>
                      </a:r>
                      <a:endParaRPr lang="en-US" sz="2400" dirty="0"/>
                    </a:p>
                  </a:txBody>
                  <a:tcPr/>
                </a:tc>
                <a:tc>
                  <a:txBody>
                    <a:bodyPr/>
                    <a:lstStyle/>
                    <a:p>
                      <a:r>
                        <a:rPr lang="en-US" altLang="en-US" sz="2400" dirty="0"/>
                        <a:t>false</a:t>
                      </a:r>
                      <a:endParaRPr lang="en-US" sz="2400" dirty="0"/>
                    </a:p>
                  </a:txBody>
                  <a:tcPr/>
                </a:tc>
                <a:extLst>
                  <a:ext uri="{0D108BD9-81ED-4DB2-BD59-A6C34878D82A}">
                    <a16:rowId xmlns:a16="http://schemas.microsoft.com/office/drawing/2014/main" val="10002"/>
                  </a:ext>
                </a:extLst>
              </a:tr>
              <a:tr h="370840">
                <a:tc>
                  <a:txBody>
                    <a:bodyPr/>
                    <a:lstStyle/>
                    <a:p>
                      <a:r>
                        <a:rPr lang="en-US" altLang="en-US" sz="2400" b="1" dirty="0"/>
                        <a:t>retro-</a:t>
                      </a:r>
                      <a:endParaRPr lang="en-US" sz="2400" dirty="0"/>
                    </a:p>
                  </a:txBody>
                  <a:tcPr/>
                </a:tc>
                <a:tc>
                  <a:txBody>
                    <a:bodyPr/>
                    <a:lstStyle/>
                    <a:p>
                      <a:r>
                        <a:rPr lang="en-US" altLang="en-US" sz="2400" dirty="0"/>
                        <a:t>backward</a:t>
                      </a:r>
                      <a:endParaRPr lang="en-US" sz="2400" dirty="0"/>
                    </a:p>
                  </a:txBody>
                  <a:tcPr/>
                </a:tc>
                <a:extLst>
                  <a:ext uri="{0D108BD9-81ED-4DB2-BD59-A6C34878D82A}">
                    <a16:rowId xmlns:a16="http://schemas.microsoft.com/office/drawing/2014/main" val="10003"/>
                  </a:ext>
                </a:extLst>
              </a:tr>
              <a:tr h="370840">
                <a:tc>
                  <a:txBody>
                    <a:bodyPr/>
                    <a:lstStyle/>
                    <a:p>
                      <a:r>
                        <a:rPr lang="en-US" altLang="en-US" sz="2400" b="1" dirty="0" err="1"/>
                        <a:t>uni</a:t>
                      </a:r>
                      <a:r>
                        <a:rPr lang="en-US" altLang="en-US" sz="2400" b="1" dirty="0"/>
                        <a:t>-</a:t>
                      </a:r>
                      <a:endParaRPr lang="en-US" sz="2400" dirty="0"/>
                    </a:p>
                  </a:txBody>
                  <a:tcPr/>
                </a:tc>
                <a:tc>
                  <a:txBody>
                    <a:bodyPr/>
                    <a:lstStyle/>
                    <a:p>
                      <a:r>
                        <a:rPr lang="en-US" altLang="en-US" sz="2400" dirty="0"/>
                        <a:t>one</a:t>
                      </a:r>
                      <a:endParaRPr lang="en-US" sz="2400" dirty="0"/>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68078831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9633</TotalTime>
  <Words>4198</Words>
  <Application>Microsoft Office PowerPoint</Application>
  <PresentationFormat>On-screen Show (4:3)</PresentationFormat>
  <Paragraphs>1119</Paragraphs>
  <Slides>120</Slides>
  <Notes>38</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120</vt:i4>
      </vt:variant>
    </vt:vector>
  </HeadingPairs>
  <TitlesOfParts>
    <vt:vector size="129" baseType="lpstr">
      <vt:lpstr>ＭＳ Ｐゴシック</vt:lpstr>
      <vt:lpstr>ＭＳ Ｐゴシック</vt:lpstr>
      <vt:lpstr>Arial</vt:lpstr>
      <vt:lpstr>Calibri</vt:lpstr>
      <vt:lpstr>Times New Roman</vt:lpstr>
      <vt:lpstr>Webdings</vt:lpstr>
      <vt:lpstr>Wingdings</vt:lpstr>
      <vt:lpstr>Wingdings 2</vt:lpstr>
      <vt:lpstr>Office Theme</vt:lpstr>
      <vt:lpstr>The Language of Medicine 13th edition</vt:lpstr>
      <vt:lpstr>Chapter 8  Female Reproductive System</vt:lpstr>
      <vt:lpstr>Introduction (Slide 1 of 3)</vt:lpstr>
      <vt:lpstr>Introduction (Slide 2 of 3)</vt:lpstr>
      <vt:lpstr>Introduction (Slide 3 of 3)</vt:lpstr>
      <vt:lpstr>Organs of the    Female Reproductive System (slide 1 of 6)</vt:lpstr>
      <vt:lpstr>Organs of the    Female Reproductive System (slide 2 of 6) </vt:lpstr>
      <vt:lpstr>      QUICK QUIZ (Slide 1 of 5) </vt:lpstr>
      <vt:lpstr>Organs of the Female  Reproductive System (slide 3 of 6)</vt:lpstr>
      <vt:lpstr>Organs of the    Female Reproduction System       (slide 4 of 6)</vt:lpstr>
      <vt:lpstr>Organs of the    Female Reproductive System (slide 5 of 6)</vt:lpstr>
      <vt:lpstr>Organs of the Female  Reproductive System (slide 6 of 6)</vt:lpstr>
      <vt:lpstr>Menstruation (slide 1 of 2)</vt:lpstr>
      <vt:lpstr>Menstruation (slide 2 of 2)</vt:lpstr>
      <vt:lpstr>Pregnancy (slide 1 of 6)</vt:lpstr>
      <vt:lpstr>Pregnancy (slide 2 of 6)</vt:lpstr>
      <vt:lpstr>Pregnancy (slide 3 of 6)</vt:lpstr>
      <vt:lpstr>      QUICK QUIZ (Slide 2 of 5)</vt:lpstr>
      <vt:lpstr>      QUICK QUIZ (Slide 3 of 5)  </vt:lpstr>
      <vt:lpstr>Pregnancy (slide 4 of 6)</vt:lpstr>
      <vt:lpstr>Pregnancy (slide 5 of 6)</vt:lpstr>
      <vt:lpstr>Pregnancy (slide 6 of 6)</vt:lpstr>
      <vt:lpstr>Hormonal Interactions (Slide 1 of 2)</vt:lpstr>
      <vt:lpstr>Hormonal Interactions (Slide 2 of 2)</vt:lpstr>
      <vt:lpstr>Vocabulary (Slide 1 of 34)</vt:lpstr>
      <vt:lpstr>Vocabulary (Slide 2 of 34)</vt:lpstr>
      <vt:lpstr>Vocabulary (Slide 3 of 34)</vt:lpstr>
      <vt:lpstr>Vocabulary (Slide 4 of 34)</vt:lpstr>
      <vt:lpstr>Vocabulary (Slide 5 of 34)</vt:lpstr>
      <vt:lpstr>Vocabulary (Slide 6 of 34)</vt:lpstr>
      <vt:lpstr>Vocabulary (Slide 7 of 34)</vt:lpstr>
      <vt:lpstr>Vocabulary (Slide 8 of 34)</vt:lpstr>
      <vt:lpstr>Vocabulary (Slide 9 of 34)</vt:lpstr>
      <vt:lpstr>Vocabulary (Slide 10 of 34)</vt:lpstr>
      <vt:lpstr>Vocabulary (Slide 11 of 34)</vt:lpstr>
      <vt:lpstr>Vocabulary (Slide 12 of 34)</vt:lpstr>
      <vt:lpstr>Vocabulary (Slide 13 of 34)</vt:lpstr>
      <vt:lpstr>Vocabulary (Slide 14 of 34)</vt:lpstr>
      <vt:lpstr>Vocabulary (Slide 15 of 34)</vt:lpstr>
      <vt:lpstr>Vocabulary (Slide 16 of 34)</vt:lpstr>
      <vt:lpstr>Vocabulary (Slide 17 of 34)</vt:lpstr>
      <vt:lpstr>Vocabulary (Slide 18 of 34)</vt:lpstr>
      <vt:lpstr>Vocabulary (Slide 19 of 34)</vt:lpstr>
      <vt:lpstr>Vocabulary (Slide 20 of 34)</vt:lpstr>
      <vt:lpstr>Vocabulary (Slide 21 of 34)</vt:lpstr>
      <vt:lpstr>Vocabulary (Slide 22 of 34)</vt:lpstr>
      <vt:lpstr>Vocabulary (Slide 23 of 34)</vt:lpstr>
      <vt:lpstr>Vocabulary (Slide 24 of 34)</vt:lpstr>
      <vt:lpstr>Vocabulary (Slide 25 of 34)</vt:lpstr>
      <vt:lpstr>Vocabulary (Slide 26 of 34)</vt:lpstr>
      <vt:lpstr>Vocabulary (Slide 27 of 34)</vt:lpstr>
      <vt:lpstr>Vocabulary (Slide 28 of 34)</vt:lpstr>
      <vt:lpstr>Vocabulary (Slide 29 of 34)</vt:lpstr>
      <vt:lpstr>Vocabulary (Slide 30 of 34)</vt:lpstr>
      <vt:lpstr>Vocabulary (Slide 31 of 34)</vt:lpstr>
      <vt:lpstr>Vocabulary (Slide 32 of 34)</vt:lpstr>
      <vt:lpstr>Vocabulary (Slide 33 of 34)</vt:lpstr>
      <vt:lpstr>Vocabulary (Slide 34 of 34)</vt:lpstr>
      <vt:lpstr>      QUICK QUIZ (Slide 4 of 5) </vt:lpstr>
      <vt:lpstr>Terminology: Combining Forms, Suffixes, and Prefixes (Slide 1 of 6)</vt:lpstr>
      <vt:lpstr>Terminology: Combining Forms, Suffixes, and Prefixes (Slide 2 of 6)</vt:lpstr>
      <vt:lpstr>Terminology: Combining Forms, Suffixes, and Prefixes (Slide 3 of 6)</vt:lpstr>
      <vt:lpstr>Terminology: Combining Forms, Suffixes, and Prefixes (Slide 4 of 6)</vt:lpstr>
      <vt:lpstr>Terminology: Combining Forms, Suffixes, and Prefixes (Slide 5 of 6)</vt:lpstr>
      <vt:lpstr>Terminology: Combining Forms, Suffixes, and Prefixes (Slide 6 of 6)</vt:lpstr>
      <vt:lpstr>Terminology: Combining Forms, Suffixes, and Prefixes (Slide 1 of 2)</vt:lpstr>
      <vt:lpstr>Terminology: Combining Forms, Suffixes, and Prefixes (Slide 2 of 2)</vt:lpstr>
      <vt:lpstr>Terminology: Combining Forms, Suffixes, Prefixes (Slide 1 of 2)</vt:lpstr>
      <vt:lpstr>Terminology: Combining Forms, Suffixes, &amp; Prefixes (Slide 2 of 2)</vt:lpstr>
      <vt:lpstr>      QUICK QUIZ (Slide 5 of 5)</vt:lpstr>
      <vt:lpstr>Chapter 8 Lesson 8.2</vt:lpstr>
      <vt:lpstr>Pathology: Uterus (slide 1 of 2)</vt:lpstr>
      <vt:lpstr>Pathology: Uterus (slide 2 of 2)</vt:lpstr>
      <vt:lpstr>Pathology: Gynecological  </vt:lpstr>
      <vt:lpstr>Pathology: Breast (slide 1 of 2)</vt:lpstr>
      <vt:lpstr>Pathology: Breast (slide 2 of 2) Breast Cancer</vt:lpstr>
      <vt:lpstr>Chapter 8 Lesson 8.3</vt:lpstr>
      <vt:lpstr>Pathology: Pregnancy</vt:lpstr>
      <vt:lpstr>Pathology: Neonatal (slide 1 of 2)</vt:lpstr>
      <vt:lpstr>Pathology: Neonatal (slide 2 of 2)</vt:lpstr>
      <vt:lpstr>Clinical Tests and Procedures</vt:lpstr>
      <vt:lpstr>Clinical Procedures (Slide 1 of 2)</vt:lpstr>
      <vt:lpstr>Clinical Procedures (Slide 2 of 2)</vt:lpstr>
      <vt:lpstr>Clinical Tests &amp; Procedures</vt:lpstr>
      <vt:lpstr>Abbreviations (Slide 1 of 8)</vt:lpstr>
      <vt:lpstr>Abbreviations (Slide 2 of 8)</vt:lpstr>
      <vt:lpstr>Abbreviations (Slide 3 of 8)</vt:lpstr>
      <vt:lpstr>Abbreviations (Slide 4 of 8)</vt:lpstr>
      <vt:lpstr>Abbreviations (Slide 5 of 8)</vt:lpstr>
      <vt:lpstr>Abbreviations (Slide 6 of 8)</vt:lpstr>
      <vt:lpstr>Abbreviations (Slide 7 of 8)</vt:lpstr>
      <vt:lpstr>Abbreviations (Slide 8 of 8)</vt:lpstr>
      <vt:lpstr>Review Sheet – Combining Forms (Slide 1 of 12)</vt:lpstr>
      <vt:lpstr>Review Sheet – Combining Forms (Slide 2 of 12)</vt:lpstr>
      <vt:lpstr>Review Sheet – Combining Forms (Slide 3 of 12)</vt:lpstr>
      <vt:lpstr>Review Sheet – Combining Forms (Slide 4 of 12)</vt:lpstr>
      <vt:lpstr>Review Sheet – Combining Forms (Slide 5 of 12)</vt:lpstr>
      <vt:lpstr>Review Sheet – Combining Forms (Slide 6 of 12)</vt:lpstr>
      <vt:lpstr>Review Sheet – Combining Forms (Slide 7 of 12)</vt:lpstr>
      <vt:lpstr>Review Sheet – Combining Forms (Slide 8 of 12)</vt:lpstr>
      <vt:lpstr>Review Sheet – Combining Forms (Slide 9 of 12)</vt:lpstr>
      <vt:lpstr>Review Sheet – Combining Forms (Slide 10 of 12)</vt:lpstr>
      <vt:lpstr>Review Sheet – Combining Forms (Slide 11 of 12)</vt:lpstr>
      <vt:lpstr>Review Sheet – Combining Forms (Slide 12 of 12)</vt:lpstr>
      <vt:lpstr>Review Sheet – Suffixes (Slide 1 of 10)</vt:lpstr>
      <vt:lpstr>Review Sheet – Suffixes (Slide 2 of 10)</vt:lpstr>
      <vt:lpstr>Review Sheet – Suffixes (Slide 3 of 10)</vt:lpstr>
      <vt:lpstr>Review Sheet – Suffixes (Slide 4 of 10)</vt:lpstr>
      <vt:lpstr>Review Sheet – Suffixes (Slide 5 of 10)</vt:lpstr>
      <vt:lpstr>Review Sheet – Suffixes (Slide 6 of 10)</vt:lpstr>
      <vt:lpstr>Review Sheet – Suffixes (Slide 7 of 10)</vt:lpstr>
      <vt:lpstr>Review Sheet – Suffixes (Slide 8 of 10)</vt:lpstr>
      <vt:lpstr>Review Sheet – Suffixes (Slide 9 of 10)</vt:lpstr>
      <vt:lpstr>Review Sheet – Suffixes (Slide 10 of 10)</vt:lpstr>
      <vt:lpstr>Review Sheet – Prefixes (Slide 1 of 6)</vt:lpstr>
      <vt:lpstr>Review Sheet – Prefixes (Slide 2 of 6)</vt:lpstr>
      <vt:lpstr>Review Sheet – Prefixes (Slide 3 of 6)</vt:lpstr>
      <vt:lpstr>Review Sheet – Prefixes (Slide 4 of 6)</vt:lpstr>
      <vt:lpstr>Review Sheet – Prefixes (Slide 5 of 6)</vt:lpstr>
      <vt:lpstr>Review Sheet – Prefixes (Slide 6 of 6)</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Language of Medicine A Write-in Text Explaining Medical Terms 7th Edition Davi-Ellen Chabner, B.A., M.A.T.</dc:title>
  <dc:creator>dell</dc:creator>
  <cp:lastModifiedBy>Jyoti Tyagi (IL-IN)</cp:lastModifiedBy>
  <cp:revision>314</cp:revision>
  <cp:lastPrinted>2007-04-13T22:20:09Z</cp:lastPrinted>
  <dcterms:created xsi:type="dcterms:W3CDTF">2004-11-01T16:15:23Z</dcterms:created>
  <dcterms:modified xsi:type="dcterms:W3CDTF">2023-12-11T06:37:59Z</dcterms:modified>
</cp:coreProperties>
</file>