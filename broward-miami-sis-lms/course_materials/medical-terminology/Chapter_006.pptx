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</p:sldMasterIdLst>
  <p:notesMasterIdLst>
    <p:notesMasterId r:id="rId44"/>
  </p:notesMasterIdLst>
  <p:handoutMasterIdLst>
    <p:handoutMasterId r:id="rId45"/>
  </p:handoutMasterIdLst>
  <p:sldIdLst>
    <p:sldId id="332" r:id="rId2"/>
    <p:sldId id="379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CEEE0B-9333-4340-9316-061C0FA45AB0}" v="2" dt="2023-09-26T07:30:19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8" autoAdjust="0"/>
    <p:restoredTop sz="80777" autoAdjust="0"/>
  </p:normalViewPr>
  <p:slideViewPr>
    <p:cSldViewPr>
      <p:cViewPr varScale="1">
        <p:scale>
          <a:sx n="66" d="100"/>
          <a:sy n="66" d="100"/>
        </p:scale>
        <p:origin x="1704" y="62"/>
      </p:cViewPr>
      <p:guideLst>
        <p:guide orient="horz" pos="1008"/>
        <p:guide pos="432"/>
      </p:guideLst>
    </p:cSldViewPr>
  </p:slideViewPr>
  <p:outlineViewPr>
    <p:cViewPr>
      <p:scale>
        <a:sx n="33" d="100"/>
        <a:sy n="33" d="100"/>
      </p:scale>
      <p:origin x="0" y="11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FB9E71A-E6C8-4FD3-B040-DCC6247393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465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9DD8956B-8F79-4131-A174-E4232C9451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361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0069497-3EE1-4A27-A7DC-81FE783BF064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17632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7F64677-A161-40DC-973B-CF67F7D3F9E2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95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8EAF74F-4D71-40C7-8E25-9CBEF95221AC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Use two of these terms in a sentence. </a:t>
            </a:r>
          </a:p>
        </p:txBody>
      </p:sp>
    </p:spTree>
    <p:extLst>
      <p:ext uri="{BB962C8B-B14F-4D97-AF65-F5344CB8AC3E}">
        <p14:creationId xmlns:p14="http://schemas.microsoft.com/office/powerpoint/2010/main" val="91562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FD669F-9684-4B4C-8604-DAAE11744F40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The correct answer is B: dysphagia.  (Answer A, dysphasia, means difficulty speaking; answer C, dysplasia, means abnormal formation or development; answer D, polyphagia, means excessive appetite.)</a:t>
            </a:r>
          </a:p>
        </p:txBody>
      </p:sp>
    </p:spTree>
    <p:extLst>
      <p:ext uri="{BB962C8B-B14F-4D97-AF65-F5344CB8AC3E}">
        <p14:creationId xmlns:p14="http://schemas.microsoft.com/office/powerpoint/2010/main" val="236157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5F81D19-DBB0-4C57-B2C5-0ACF0EB03208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The correct answer is A: hemostasis.</a:t>
            </a:r>
          </a:p>
        </p:txBody>
      </p:sp>
    </p:spTree>
    <p:extLst>
      <p:ext uri="{BB962C8B-B14F-4D97-AF65-F5344CB8AC3E}">
        <p14:creationId xmlns:p14="http://schemas.microsoft.com/office/powerpoint/2010/main" val="674564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2FD3500-76F1-447C-A168-7B33C53ACD2D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The correct answer is C: hepatomegaly. </a:t>
            </a:r>
          </a:p>
        </p:txBody>
      </p:sp>
    </p:spTree>
    <p:extLst>
      <p:ext uri="{BB962C8B-B14F-4D97-AF65-F5344CB8AC3E}">
        <p14:creationId xmlns:p14="http://schemas.microsoft.com/office/powerpoint/2010/main" val="443753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C82CDBD-F59C-4AE4-B7AD-A0B0887AB9D3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 screening test for colon cancer? 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How does it work?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Describe the enzymes LFTs measure. </a:t>
            </a:r>
          </a:p>
        </p:txBody>
      </p:sp>
    </p:spTree>
    <p:extLst>
      <p:ext uri="{BB962C8B-B14F-4D97-AF65-F5344CB8AC3E}">
        <p14:creationId xmlns:p14="http://schemas.microsoft.com/office/powerpoint/2010/main" val="2356229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FB604A1-240C-4C27-B0C1-3F0672ED4A34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The correct answer is D: LFTs—liver function tests. LFTs test for the presence of enzymes and bilirubin in serum.  </a:t>
            </a:r>
          </a:p>
        </p:txBody>
      </p:sp>
    </p:spTree>
    <p:extLst>
      <p:ext uri="{BB962C8B-B14F-4D97-AF65-F5344CB8AC3E}">
        <p14:creationId xmlns:p14="http://schemas.microsoft.com/office/powerpoint/2010/main" val="118006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2482FBF-A27F-4AD1-B8EC-91E6AF0ACD13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test uses a contrast medium? 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In a cholangiography, how does the contrast material enter the body?</a:t>
            </a:r>
          </a:p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37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76F0E81-2F8C-4677-9727-405533437044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test is used to examine the gallbladder? 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test creates a scan of the liver? </a:t>
            </a:r>
          </a:p>
        </p:txBody>
      </p:sp>
    </p:spTree>
    <p:extLst>
      <p:ext uri="{BB962C8B-B14F-4D97-AF65-F5344CB8AC3E}">
        <p14:creationId xmlns:p14="http://schemas.microsoft.com/office/powerpoint/2010/main" val="3911504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739457B-8622-4E34-AA69-CD31BAB248BE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procedure is a visual examination of the gastrointestinal tract? 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procedure removes fluid after surgery?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procedure is also called gastrojejunostomy? What is this an example of? </a:t>
            </a:r>
            <a:r>
              <a:rPr lang="en-US" altLang="en-US" i="1">
                <a:latin typeface="Times New Roman" panose="02020603050405020304" pitchFamily="18" charset="0"/>
              </a:rPr>
              <a:t>(Anastomosis)</a:t>
            </a:r>
          </a:p>
          <a:p>
            <a:pPr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procedure is used to pump out stomach contents?</a:t>
            </a:r>
          </a:p>
        </p:txBody>
      </p:sp>
    </p:spTree>
    <p:extLst>
      <p:ext uri="{BB962C8B-B14F-4D97-AF65-F5344CB8AC3E}">
        <p14:creationId xmlns:p14="http://schemas.microsoft.com/office/powerpoint/2010/main" val="45657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587FACE-FFE3-438E-B7CC-B8BAE4D60A2D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The correct answer is D: </a:t>
            </a:r>
            <a:r>
              <a:rPr lang="en-US" altLang="en-US" dirty="0" err="1">
                <a:latin typeface="Times New Roman" panose="02020603050405020304" pitchFamily="18" charset="0"/>
              </a:rPr>
              <a:t>abdominocentesis</a:t>
            </a:r>
            <a:r>
              <a:rPr lang="en-US" altLang="en-US" dirty="0">
                <a:latin typeface="Times New Roman" panose="02020603050405020304" pitchFamily="18" charset="0"/>
              </a:rPr>
              <a:t>. The suffix -</a:t>
            </a:r>
            <a:r>
              <a:rPr lang="en-US" altLang="en-US" dirty="0" err="1">
                <a:latin typeface="Times New Roman" panose="02020603050405020304" pitchFamily="18" charset="0"/>
              </a:rPr>
              <a:t>centesis</a:t>
            </a:r>
            <a:r>
              <a:rPr lang="en-US" altLang="en-US" dirty="0">
                <a:latin typeface="Times New Roman" panose="02020603050405020304" pitchFamily="18" charset="0"/>
              </a:rPr>
              <a:t> means to puncture to remove fluid.</a:t>
            </a:r>
          </a:p>
        </p:txBody>
      </p:sp>
    </p:spTree>
    <p:extLst>
      <p:ext uri="{BB962C8B-B14F-4D97-AF65-F5344CB8AC3E}">
        <p14:creationId xmlns:p14="http://schemas.microsoft.com/office/powerpoint/2010/main" val="3764627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4F46A433-53BE-44F2-B0BE-CD4AA7F6F7B2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2/5/2024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124200" y="5859295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Rectangle 8"/>
          <p:cNvSpPr txBox="1">
            <a:spLocks noGrp="1" noChangeArrowheads="1"/>
          </p:cNvSpPr>
          <p:nvPr userDrawn="1"/>
        </p:nvSpPr>
        <p:spPr bwMode="auto">
          <a:xfrm>
            <a:off x="917575" y="6444916"/>
            <a:ext cx="7769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5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D8646-B954-479C-A337-986E442FC1A9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C3B6F8-FB65-40D1-9D78-3B0834AA29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55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6FB1C-0B93-4FFC-AFAC-202B5BB6FD8D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0EB3D-4C75-400C-847F-27CED06B60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65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1BE0B-DC10-4A86-884B-421A21A3786F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988B2-9A38-4469-A73A-3A8A3875C8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11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8196F-BB54-4DF1-9DDF-EB61181FD455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9FD97-2CE7-4101-9BDA-A6CDF9D7F1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81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2/5/2024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13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F424A-0666-4F8A-AE0B-042263A2F523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z="1000" baseline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23256-9629-4751-9FC7-D9A617797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2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C957C-8A28-4346-A91E-3181E23B9FCE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3BBEA-FBE4-4D1C-948E-35E3FD648A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12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414B3-CE71-4CAC-BF20-28E9BC6B1BBE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C2544-6AE1-4FFD-9204-B2754DEAA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66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89D59-B1E6-4DCF-8F4C-326D6ED2C2BE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8DA79-2483-40AE-83CF-C031752A9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537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F2560-A50C-4A12-98A3-C5D77FC1843E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8CD66-7605-4E45-9E45-CFA0ED8972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6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1F176B-337D-4B0C-9E0F-CF98E924232A}" type="datetimeFigureOut">
              <a:rPr lang="en-US"/>
              <a:pPr>
                <a:defRPr/>
              </a:pPr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8A3EFAA-5F29-4212-A320-E00D10714EB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0FF5DB33-233E-420C-BB96-6F4A112866E6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3D0AFB-2FA1-C64C-4985-50B859F4CE5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041871" y="6478581"/>
            <a:ext cx="3118010" cy="2095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51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9" r:id="rId8"/>
    <p:sldLayoutId id="2147483944" r:id="rId9"/>
    <p:sldLayoutId id="2147483945" r:id="rId10"/>
    <p:sldLayoutId id="2147483946" r:id="rId11"/>
    <p:sldLayoutId id="2147483947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Language of Medicine</a:t>
            </a:r>
            <a:br>
              <a:rPr lang="en-US" dirty="0"/>
            </a:br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Davi</a:t>
            </a:r>
            <a:r>
              <a:rPr lang="en-US" dirty="0">
                <a:solidFill>
                  <a:schemeClr val="tx1"/>
                </a:solidFill>
              </a:rPr>
              <a:t>-Ellen </a:t>
            </a:r>
            <a:r>
              <a:rPr lang="en-US" dirty="0" err="1">
                <a:solidFill>
                  <a:schemeClr val="tx1"/>
                </a:solidFill>
              </a:rPr>
              <a:t>Chabner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8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1143000"/>
          </a:xfrm>
        </p:spPr>
        <p:txBody>
          <a:bodyPr/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Additional Suffixes and Digestive System Terminology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6047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Chapter Goals</a:t>
            </a:r>
          </a:p>
        </p:txBody>
      </p:sp>
      <p:sp>
        <p:nvSpPr>
          <p:cNvPr id="5123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Define new suffixes and use them with digestive system combining forms.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List and explain laboratory tests, clinical procedures, and abbreviations common to the digestive system.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Apply your new knowledge to understanding medical terms in their proper context, such as medical reports and records.  </a:t>
            </a:r>
          </a:p>
        </p:txBody>
      </p:sp>
    </p:spTree>
    <p:extLst>
      <p:ext uri="{BB962C8B-B14F-4D97-AF65-F5344CB8AC3E}">
        <p14:creationId xmlns:p14="http://schemas.microsoft.com/office/powerpoint/2010/main" val="151706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Lesson 6.1 </a:t>
            </a:r>
          </a:p>
        </p:txBody>
      </p:sp>
    </p:spTree>
    <p:extLst>
      <p:ext uri="{BB962C8B-B14F-4D97-AF65-F5344CB8AC3E}">
        <p14:creationId xmlns:p14="http://schemas.microsoft.com/office/powerpoint/2010/main" val="429188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42900" y="484632"/>
            <a:ext cx="8229600" cy="1143000"/>
          </a:xfrm>
        </p:spPr>
        <p:txBody>
          <a:bodyPr/>
          <a:lstStyle/>
          <a:p>
            <a:r>
              <a:rPr lang="en-US" dirty="0"/>
              <a:t>Suffixes (Slide 1 of 4)</a:t>
            </a:r>
          </a:p>
        </p:txBody>
      </p:sp>
      <p:graphicFrame>
        <p:nvGraphicFramePr>
          <p:cNvPr id="7" name="Content Placeholder 6" descr="Group 1 of 2:  List of suffixes from the chapter.  The following pag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380803"/>
              </p:ext>
            </p:extLst>
          </p:nvPr>
        </p:nvGraphicFramePr>
        <p:xfrm>
          <a:off x="3048000" y="1905000"/>
          <a:ext cx="28194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-emesis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pepsia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phagia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plasty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ptysis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3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r>
              <a:rPr lang="en-US" dirty="0"/>
              <a:t>Suffixes (Slide 2 of 5)</a:t>
            </a:r>
          </a:p>
        </p:txBody>
      </p:sp>
      <p:graphicFrame>
        <p:nvGraphicFramePr>
          <p:cNvPr id="7" name="Content Placeholder 6" descr="Group 1 of 2:  List of suffixe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256409"/>
              </p:ext>
            </p:extLst>
          </p:nvPr>
        </p:nvGraphicFramePr>
        <p:xfrm>
          <a:off x="1371600" y="2209800"/>
          <a:ext cx="6705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-emesis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vomiting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pepsia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digestion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phagia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eating, swallowing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plasty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surgical repair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ptysis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spitting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78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r>
              <a:rPr lang="en-US" dirty="0"/>
              <a:t>Suffixes (Slide 3 of 5)</a:t>
            </a:r>
          </a:p>
        </p:txBody>
      </p:sp>
      <p:graphicFrame>
        <p:nvGraphicFramePr>
          <p:cNvPr id="7" name="Content Placeholder 6" descr="Group 2 of 2:  List of suffixes from the chapter.  The following pag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884748"/>
              </p:ext>
            </p:extLst>
          </p:nvPr>
        </p:nvGraphicFramePr>
        <p:xfrm>
          <a:off x="3162300" y="2133600"/>
          <a:ext cx="28194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rrhage</a:t>
                      </a:r>
                      <a:r>
                        <a:rPr lang="en-US" altLang="en-US" sz="2400" b="1" dirty="0"/>
                        <a:t>,  -</a:t>
                      </a:r>
                      <a:r>
                        <a:rPr lang="en-US" altLang="en-US" sz="2400" b="1" dirty="0" err="1"/>
                        <a:t>rrhagia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rrhaphy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rrhea</a:t>
                      </a:r>
                      <a:r>
                        <a:rPr lang="en-US" altLang="en-US" sz="2400" b="1" dirty="0"/>
                        <a:t>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-spasm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-stasis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-stenosis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tresia</a:t>
                      </a:r>
                      <a:r>
                        <a:rPr lang="en-US" altLang="en-US" sz="2400" b="1" dirty="0"/>
                        <a:t>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74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/>
              <a:t>Suffixes (Slide 4 of 5)</a:t>
            </a:r>
          </a:p>
        </p:txBody>
      </p:sp>
      <p:graphicFrame>
        <p:nvGraphicFramePr>
          <p:cNvPr id="7" name="Content Placeholder 6" descr="Group 2 of 2:  List of suffixe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296469"/>
              </p:ext>
            </p:extLst>
          </p:nvPr>
        </p:nvGraphicFramePr>
        <p:xfrm>
          <a:off x="914400" y="2133600"/>
          <a:ext cx="73152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rrhage</a:t>
                      </a:r>
                      <a:r>
                        <a:rPr lang="en-US" altLang="en-US" sz="2400" b="1" dirty="0"/>
                        <a:t>,  -</a:t>
                      </a:r>
                      <a:r>
                        <a:rPr lang="en-US" altLang="en-US" sz="2400" b="1" dirty="0" err="1"/>
                        <a:t>rrhagia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bursting forth (of blood)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rrhaphy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suture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rrhea</a:t>
                      </a:r>
                      <a:r>
                        <a:rPr lang="en-US" altLang="en-US" sz="2400" b="1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flow, discharge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-spasm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involuntary contraction of muscles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-stasis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stopping; controlling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-stenosis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narrowing, tightening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tresia</a:t>
                      </a:r>
                      <a:r>
                        <a:rPr lang="en-US" altLang="en-US" sz="2400" b="1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opening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15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Suffixes (</a:t>
            </a:r>
            <a:r>
              <a:rPr lang="en-US" altLang="en-US"/>
              <a:t>Slide 5 of 5</a:t>
            </a:r>
            <a:r>
              <a:rPr lang="en-US" altLang="ja-JP"/>
              <a:t>)</a:t>
            </a:r>
            <a:endParaRPr lang="en-US" altLang="en-US" dirty="0"/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Suffixes that are also used alone as separate terms: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1200">
              <a:ea typeface="MS PGothic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Emesis (emetic)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Lysis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Spasm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Stasis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Stenosis</a:t>
            </a:r>
          </a:p>
          <a:p>
            <a:pPr lvl="2" eaLnBrk="1" hangingPunct="1">
              <a:buFontTx/>
              <a:buNone/>
            </a:pPr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876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57045" y="5334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1 of 5)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86000"/>
            <a:ext cx="8229600" cy="3352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1.  Which term means difficulty in swallowing?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Dysphasia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Dysphagia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Dysplasia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Polyphagia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914400" lvl="1" indent="-457200" eaLnBrk="1" hangingPunct="1">
              <a:buFont typeface="Webdings" panose="05030102010509060703" pitchFamily="18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3611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4676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2 of 5</a:t>
            </a:r>
            <a:r>
              <a:rPr lang="en-US" altLang="ja-JP" dirty="0"/>
              <a:t>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7239000" cy="35814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2.  Which term means to control or stop bleeding?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Hemostasis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Hematoma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Hemoptysis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Cholestasis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661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of 1 of 10)</a:t>
            </a:r>
          </a:p>
        </p:txBody>
      </p:sp>
      <p:graphicFrame>
        <p:nvGraphicFramePr>
          <p:cNvPr id="7" name="Content Placeholder 6" descr="Group 1 of 5:  List of combining form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31972"/>
              </p:ext>
            </p:extLst>
          </p:nvPr>
        </p:nvGraphicFramePr>
        <p:xfrm>
          <a:off x="3086100" y="2057400"/>
          <a:ext cx="29718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bucc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cec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celi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cheil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</a:t>
                      </a:r>
                      <a:r>
                        <a:rPr lang="en-US" sz="2400" b="1" dirty="0"/>
                        <a:t>/e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cholangi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cholecyst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choledoch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618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2 of 10 )</a:t>
            </a:r>
          </a:p>
        </p:txBody>
      </p:sp>
      <p:graphicFrame>
        <p:nvGraphicFramePr>
          <p:cNvPr id="7" name="Content Placeholder 6" descr="Group 1 of 5:  List of combining form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808640"/>
              </p:ext>
            </p:extLst>
          </p:nvPr>
        </p:nvGraphicFramePr>
        <p:xfrm>
          <a:off x="1409700" y="2057400"/>
          <a:ext cx="63246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bucc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cheek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cec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cecum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celi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abdomen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cheil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</a:t>
                      </a:r>
                      <a:r>
                        <a:rPr lang="en-US" sz="2400" b="1" dirty="0"/>
                        <a:t>/e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gall, bile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cholangi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bile duct (vessel)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cholecyst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gallbladder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choledoch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common bile 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652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19819"/>
            <a:ext cx="8229600" cy="1143000"/>
          </a:xfrm>
        </p:spPr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3 of 10 )</a:t>
            </a:r>
          </a:p>
        </p:txBody>
      </p:sp>
      <p:graphicFrame>
        <p:nvGraphicFramePr>
          <p:cNvPr id="7" name="Content Placeholder 6" descr="Group 2 of 5:  List of combining form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729601"/>
              </p:ext>
            </p:extLst>
          </p:nvPr>
        </p:nvGraphicFramePr>
        <p:xfrm>
          <a:off x="3086100" y="1905000"/>
          <a:ext cx="29718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col/o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colon/o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dent/</a:t>
                      </a:r>
                      <a:r>
                        <a:rPr lang="en-US" sz="2400" b="1" dirty="0" err="1"/>
                        <a:t>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duoden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enter/o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esophag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gastr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gingiv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683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4 of 10)</a:t>
            </a:r>
          </a:p>
        </p:txBody>
      </p:sp>
      <p:graphicFrame>
        <p:nvGraphicFramePr>
          <p:cNvPr id="7" name="Content Placeholder 6" descr="Group 2 of 5:  List of combining form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209929"/>
              </p:ext>
            </p:extLst>
          </p:nvPr>
        </p:nvGraphicFramePr>
        <p:xfrm>
          <a:off x="1676400" y="1981200"/>
          <a:ext cx="63246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col/o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colon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colon/o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colon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dent/</a:t>
                      </a:r>
                      <a:r>
                        <a:rPr lang="en-US" sz="2400" b="1" dirty="0" err="1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duoden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duodenum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enter/o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intestines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esophag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esophagus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gastr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stomach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gingiv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gums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8517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5 of 10 )</a:t>
            </a:r>
          </a:p>
        </p:txBody>
      </p:sp>
      <p:graphicFrame>
        <p:nvGraphicFramePr>
          <p:cNvPr id="7" name="Content Placeholder 6" descr="Group 3 of 5:  List of combining form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672882"/>
              </p:ext>
            </p:extLst>
          </p:nvPr>
        </p:nvGraphicFramePr>
        <p:xfrm>
          <a:off x="3086100" y="1981200"/>
          <a:ext cx="29718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gloss/o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gluc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glyc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hepat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herni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ile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jejun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labi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379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6 of 10 )</a:t>
            </a:r>
          </a:p>
        </p:txBody>
      </p:sp>
      <p:graphicFrame>
        <p:nvGraphicFramePr>
          <p:cNvPr id="7" name="Content Placeholder 6" descr="Group 3 of 5:  List of combining form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056902"/>
              </p:ext>
            </p:extLst>
          </p:nvPr>
        </p:nvGraphicFramePr>
        <p:xfrm>
          <a:off x="1752600" y="1828800"/>
          <a:ext cx="59436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gloss/o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tongue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gluc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glyc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hepat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herni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hernia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ile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ileum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jejun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jejunum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labi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416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7 of 10 )</a:t>
            </a:r>
          </a:p>
        </p:txBody>
      </p:sp>
      <p:graphicFrame>
        <p:nvGraphicFramePr>
          <p:cNvPr id="7" name="Content Placeholder 6" descr="Group 4 of 5:  List of combining form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371336"/>
              </p:ext>
            </p:extLst>
          </p:nvPr>
        </p:nvGraphicFramePr>
        <p:xfrm>
          <a:off x="3276600" y="1981200"/>
          <a:ext cx="29718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lingu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lip/o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lith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odont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palat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pancreat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865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8 of 10)</a:t>
            </a:r>
          </a:p>
        </p:txBody>
      </p:sp>
      <p:graphicFrame>
        <p:nvGraphicFramePr>
          <p:cNvPr id="7" name="Content Placeholder 6" descr="Group 4 of 5:  List of combining form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875494"/>
              </p:ext>
            </p:extLst>
          </p:nvPr>
        </p:nvGraphicFramePr>
        <p:xfrm>
          <a:off x="1752600" y="1981200"/>
          <a:ext cx="62484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lingu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tongue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lip/o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fat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lith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stone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odont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tooth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mouth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palat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palate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pancreat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pancreas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432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9 of 10 )</a:t>
            </a:r>
          </a:p>
        </p:txBody>
      </p:sp>
      <p:graphicFrame>
        <p:nvGraphicFramePr>
          <p:cNvPr id="7" name="Content Placeholder 6" descr="Group 5 of 5:  List of combining form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898241"/>
              </p:ext>
            </p:extLst>
          </p:nvPr>
        </p:nvGraphicFramePr>
        <p:xfrm>
          <a:off x="3086100" y="2057400"/>
          <a:ext cx="29718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proct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pylor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rect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sialaden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splen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steat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stomat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641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143000"/>
          </a:xfrm>
        </p:spPr>
        <p:txBody>
          <a:bodyPr/>
          <a:lstStyle/>
          <a:p>
            <a:r>
              <a:rPr lang="en-US" dirty="0"/>
              <a:t>Combining Forms and Terminology</a:t>
            </a:r>
            <a:br>
              <a:rPr lang="en-US" dirty="0"/>
            </a:br>
            <a:r>
              <a:rPr lang="en-US" sz="4000" dirty="0"/>
              <a:t>(Slide 10 of 10)</a:t>
            </a:r>
          </a:p>
        </p:txBody>
      </p:sp>
      <p:graphicFrame>
        <p:nvGraphicFramePr>
          <p:cNvPr id="7" name="Content Placeholder 6" descr="Group 5 of 5:  List of combining form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5798241"/>
              </p:ext>
            </p:extLst>
          </p:nvPr>
        </p:nvGraphicFramePr>
        <p:xfrm>
          <a:off x="1447800" y="2133600"/>
          <a:ext cx="6705600" cy="3657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  <a:r>
                        <a:rPr lang="en-US" sz="2400" baseline="0" dirty="0"/>
                        <a:t>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proct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anus and rectum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pylor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pyloric sphincter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rect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rectum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sialaden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salivary gland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splen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spleen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steat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fat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en-US" sz="2400" b="1" dirty="0" err="1"/>
                        <a:t>stomat</a:t>
                      </a:r>
                      <a:r>
                        <a:rPr kumimoji="1"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en-US" sz="2400" dirty="0"/>
                        <a:t>mouth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723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sz="5400" b="1" dirty="0"/>
              <a:t>     QUICK QUIZ </a:t>
            </a:r>
            <a:r>
              <a:rPr lang="en-US" altLang="en-US" dirty="0"/>
              <a:t>(Slide 3 of 5)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275272" y="2286000"/>
            <a:ext cx="7030528" cy="31242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3.  Which term means enlarged liver?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Acromegaly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Cardiomegaly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Hepatomegaly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Hepatitis</a:t>
            </a: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1606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Laboratory Tests and</a:t>
            </a:r>
            <a:br>
              <a:rPr lang="en-US" altLang="en-US"/>
            </a:br>
            <a:r>
              <a:rPr lang="en-US" altLang="en-US"/>
              <a:t>Clinical Procedures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Laboratory tests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Lipase tests:  </a:t>
            </a:r>
            <a:r>
              <a:rPr lang="en-US" altLang="en-US" dirty="0">
                <a:ea typeface="MS PGothic" panose="020B0600070205080204" pitchFamily="34" charset="-128"/>
              </a:rPr>
              <a:t>tests for the level of lipase enzyme in blood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Liver function tests (LFTs):</a:t>
            </a:r>
            <a:r>
              <a:rPr lang="en-US" altLang="en-US" dirty="0">
                <a:ea typeface="MS PGothic" panose="020B0600070205080204" pitchFamily="34" charset="-128"/>
              </a:rPr>
              <a:t> tests for enzymes and bilirubin in blood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Stool culture:</a:t>
            </a:r>
            <a:r>
              <a:rPr lang="en-US" altLang="en-US" dirty="0">
                <a:ea typeface="MS PGothic" panose="020B0600070205080204" pitchFamily="34" charset="-128"/>
              </a:rPr>
              <a:t> test for microorganisms in stool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Stool guaiac test or Hemoccult test:</a:t>
            </a:r>
            <a:r>
              <a:rPr lang="en-US" altLang="en-US" dirty="0">
                <a:ea typeface="MS PGothic" panose="020B0600070205080204" pitchFamily="34" charset="-128"/>
              </a:rPr>
              <a:t> test to detect blood in feces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4018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sz="5400" b="1" dirty="0"/>
              <a:t>     QUICK QUIZ </a:t>
            </a:r>
            <a:r>
              <a:rPr lang="en-US" altLang="en-US" dirty="0"/>
              <a:t>(Slide 4 of 5)</a:t>
            </a:r>
            <a:endParaRPr lang="en-US" altLang="en-US" u="sng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057400"/>
            <a:ext cx="7391400" cy="4114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4.  Which of the following tests for the clear fluid that remains after blood has clotted (serum)?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Stool guaiac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 err="1">
                <a:ea typeface="MS PGothic" panose="020B0600070205080204" pitchFamily="34" charset="-128"/>
              </a:rPr>
              <a:t>Hemoccult</a:t>
            </a:r>
            <a:endParaRPr lang="en-US" altLang="en-US" sz="3200" dirty="0">
              <a:ea typeface="MS PGothic" panose="020B0600070205080204" pitchFamily="34" charset="-128"/>
            </a:endParaRP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Stool culture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>
                <a:ea typeface="MS PGothic" panose="020B0600070205080204" pitchFamily="34" charset="-128"/>
              </a:rPr>
              <a:t>LFTs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5067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2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2390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Laboratory Tests and</a:t>
            </a:r>
            <a:br>
              <a:rPr lang="en-US" dirty="0"/>
            </a:br>
            <a:r>
              <a:rPr lang="en-US" dirty="0"/>
              <a:t>Clinical Procedures (Slide 1 of 3)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Clinical procedures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X-rays</a:t>
            </a:r>
          </a:p>
          <a:p>
            <a:pPr lvl="2" eaLnBrk="1" hangingPunct="1"/>
            <a:r>
              <a:rPr lang="en-US" altLang="en-US" sz="2800"/>
              <a:t>Lower gastrointestinal series (barium enema)</a:t>
            </a:r>
          </a:p>
          <a:p>
            <a:pPr lvl="2" eaLnBrk="1" hangingPunct="1"/>
            <a:r>
              <a:rPr lang="en-US" altLang="en-US" sz="2800"/>
              <a:t>Upper gastrointestinal series</a:t>
            </a:r>
          </a:p>
          <a:p>
            <a:pPr lvl="2" eaLnBrk="1" hangingPunct="1"/>
            <a:r>
              <a:rPr lang="en-US" altLang="en-US" sz="2800"/>
              <a:t>Cholangiography </a:t>
            </a:r>
          </a:p>
          <a:p>
            <a:pPr lvl="2" eaLnBrk="1" hangingPunct="1"/>
            <a:r>
              <a:rPr lang="en-US" altLang="en-US" sz="2800"/>
              <a:t>Computed tomography (CT scan)</a:t>
            </a:r>
          </a:p>
        </p:txBody>
      </p:sp>
    </p:spTree>
    <p:extLst>
      <p:ext uri="{BB962C8B-B14F-4D97-AF65-F5344CB8AC3E}">
        <p14:creationId xmlns:p14="http://schemas.microsoft.com/office/powerpoint/2010/main" val="3966894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8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2390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Laboratory Tests and</a:t>
            </a:r>
            <a:br>
              <a:rPr lang="en-US" dirty="0"/>
            </a:br>
            <a:r>
              <a:rPr lang="en-US" dirty="0"/>
              <a:t>Clinical Procedures (Slide 2 of 3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497669" name="Rectangle 5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b="1" dirty="0"/>
              <a:t>Clinical procedures</a:t>
            </a:r>
          </a:p>
          <a:p>
            <a:pPr lvl="1" eaLnBrk="1" fontAlgn="auto" hangingPunct="1">
              <a:spcAft>
                <a:spcPts val="0"/>
              </a:spcAft>
              <a:buFont typeface="Wingdings" pitchFamily="80" charset="2"/>
              <a:buChar char="Ø"/>
              <a:defRPr/>
            </a:pPr>
            <a:r>
              <a:rPr lang="en-US" dirty="0">
                <a:ea typeface="ＭＳ Ｐゴシック" charset="0"/>
              </a:rPr>
              <a:t>Ultrasound examination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3000" dirty="0">
                <a:ea typeface="ＭＳ Ｐゴシック" charset="0"/>
              </a:rPr>
              <a:t>Abdominal ultrasonography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3000" dirty="0">
                <a:ea typeface="ＭＳ Ｐゴシック" charset="0"/>
              </a:rPr>
              <a:t>Endoscopic ultrasonography (EUS)</a:t>
            </a:r>
          </a:p>
          <a:p>
            <a:pPr lvl="1" eaLnBrk="1" fontAlgn="auto" hangingPunct="1">
              <a:spcAft>
                <a:spcPts val="0"/>
              </a:spcAft>
              <a:buFont typeface="Wingdings" pitchFamily="80" charset="2"/>
              <a:buChar char="Ø"/>
              <a:defRPr/>
            </a:pPr>
            <a:endParaRPr lang="en-US" dirty="0">
              <a:ea typeface="ＭＳ Ｐゴシック" charset="0"/>
            </a:endParaRPr>
          </a:p>
          <a:p>
            <a:pPr lvl="1" eaLnBrk="1" fontAlgn="auto" hangingPunct="1">
              <a:spcAft>
                <a:spcPts val="0"/>
              </a:spcAft>
              <a:buFont typeface="Wingdings" pitchFamily="80" charset="2"/>
              <a:buChar char="Ø"/>
              <a:defRPr/>
            </a:pPr>
            <a:r>
              <a:rPr lang="en-US" dirty="0">
                <a:ea typeface="ＭＳ Ｐゴシック" charset="0"/>
              </a:rPr>
              <a:t>Magnetic resonance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sz="3000" dirty="0">
                <a:ea typeface="ＭＳ Ｐゴシック" charset="0"/>
              </a:rPr>
              <a:t>Magnetic resonance imaging (MRI)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dirty="0">
              <a:ea typeface="ＭＳ Ｐゴシック" charset="0"/>
            </a:endParaRPr>
          </a:p>
          <a:p>
            <a:pPr lvl="1" eaLnBrk="1" fontAlgn="auto" hangingPunct="1">
              <a:spcAft>
                <a:spcPts val="0"/>
              </a:spcAft>
              <a:buFont typeface="Wingdings" charset="2"/>
              <a:buChar char="Ø"/>
              <a:defRPr/>
            </a:pPr>
            <a:r>
              <a:rPr lang="en-US" dirty="0"/>
              <a:t>Nuclear medicine test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3000" dirty="0" err="1"/>
              <a:t>Hepatobiliary</a:t>
            </a:r>
            <a:r>
              <a:rPr lang="en-US" sz="3000" dirty="0"/>
              <a:t> </a:t>
            </a:r>
            <a:r>
              <a:rPr lang="en-US" sz="3000" dirty="0" err="1"/>
              <a:t>iminodiacetic</a:t>
            </a:r>
            <a:r>
              <a:rPr lang="en-US" sz="3000" dirty="0"/>
              <a:t> acid scan (HIDA scan)</a:t>
            </a:r>
          </a:p>
          <a:p>
            <a:pPr marL="457200" lvl="1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96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7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2390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Laboratory Tests and</a:t>
            </a:r>
            <a:br>
              <a:rPr lang="en-US" dirty="0"/>
            </a:br>
            <a:r>
              <a:rPr lang="en-US" dirty="0"/>
              <a:t>Clinical Procedures (Slide 3 of 3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29699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b="1" i="1"/>
              <a:t>Other procedures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Gastric bypass or bariatric surgery:</a:t>
            </a:r>
            <a:r>
              <a:rPr lang="en-US" altLang="en-US" sz="2400"/>
              <a:t> reduces stomach size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Gastrointestinal endoscopy:</a:t>
            </a:r>
            <a:r>
              <a:rPr lang="en-US" altLang="en-US" sz="2400"/>
              <a:t> visual examination of the GI tract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Laparoscopy:</a:t>
            </a:r>
            <a:r>
              <a:rPr lang="en-US" altLang="en-US" sz="2400"/>
              <a:t> visual examination of the abdomen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Liver biopsy:</a:t>
            </a:r>
            <a:r>
              <a:rPr lang="en-US" altLang="en-US" sz="2400"/>
              <a:t> removal of liver tissue for microscopic examination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Nasogastric intubation:</a:t>
            </a:r>
            <a:r>
              <a:rPr lang="en-US" altLang="en-US" sz="2400"/>
              <a:t> insertion of a tube through the nose into the stomach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Paracentesis (abdominocentesis):</a:t>
            </a:r>
            <a:r>
              <a:rPr lang="en-US" altLang="en-US" sz="2400"/>
              <a:t>  puncture to remove fluid from abdomen</a:t>
            </a:r>
          </a:p>
        </p:txBody>
      </p:sp>
    </p:spTree>
    <p:extLst>
      <p:ext uri="{BB962C8B-B14F-4D97-AF65-F5344CB8AC3E}">
        <p14:creationId xmlns:p14="http://schemas.microsoft.com/office/powerpoint/2010/main" val="406356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sz="5400" b="1" dirty="0"/>
              <a:t>     QUICK QUIZ </a:t>
            </a:r>
            <a:r>
              <a:rPr lang="en-US" altLang="en-US" dirty="0"/>
              <a:t>(Slide 5 of 5)</a:t>
            </a:r>
            <a:endParaRPr lang="en-US" altLang="en-US" u="sng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057400"/>
            <a:ext cx="7620000" cy="35814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/>
              <a:t>5. Which procedure is a surgical puncture to remove fluid from the abdomen?</a:t>
            </a: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r>
              <a:rPr lang="en-US" altLang="en-US" sz="3200" dirty="0"/>
              <a:t>A. Laparoscopy</a:t>
            </a:r>
          </a:p>
          <a:p>
            <a:pPr marL="914400" lvl="1" indent="-457200" eaLnBrk="1" hangingPunct="1">
              <a:buFont typeface="Arial" panose="020B0604020202020204" pitchFamily="34" charset="0"/>
              <a:buNone/>
            </a:pPr>
            <a:r>
              <a:rPr lang="en-US" altLang="en-US" sz="3200" dirty="0"/>
              <a:t>B. Laparotomy</a:t>
            </a:r>
          </a:p>
          <a:p>
            <a:pPr marL="914400" lvl="1" indent="-457200" eaLnBrk="1" hangingPunct="1">
              <a:buFont typeface="Arial" panose="020B0604020202020204" pitchFamily="34" charset="0"/>
              <a:buNone/>
            </a:pPr>
            <a:r>
              <a:rPr lang="en-US" altLang="en-US" sz="3200" dirty="0"/>
              <a:t>C. </a:t>
            </a:r>
            <a:r>
              <a:rPr lang="en-US" altLang="en-US" sz="3200" dirty="0" err="1"/>
              <a:t>Abdominectomy</a:t>
            </a:r>
            <a:endParaRPr lang="en-US" altLang="en-US" sz="3200" dirty="0"/>
          </a:p>
          <a:p>
            <a:pPr marL="914400" lvl="1" indent="-457200" eaLnBrk="1" hangingPunct="1">
              <a:buFont typeface="Arial" panose="020B0604020202020204" pitchFamily="34" charset="0"/>
              <a:buNone/>
            </a:pPr>
            <a:r>
              <a:rPr lang="en-US" altLang="en-US" sz="3200" dirty="0"/>
              <a:t>D. </a:t>
            </a:r>
            <a:r>
              <a:rPr lang="en-US" altLang="en-US" sz="3200" dirty="0" err="1"/>
              <a:t>Abdominocentesis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05221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1 of 6)</a:t>
            </a:r>
          </a:p>
        </p:txBody>
      </p:sp>
      <p:graphicFrame>
        <p:nvGraphicFramePr>
          <p:cNvPr id="8" name="Content Placeholder 7" descr="Group 1 of 3:  List of abbreviation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25919"/>
              </p:ext>
            </p:extLst>
          </p:nvPr>
        </p:nvGraphicFramePr>
        <p:xfrm>
          <a:off x="3505200" y="1417638"/>
          <a:ext cx="2133600" cy="5029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alk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phos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ALT, AST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BRBPR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EGD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ERCP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049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2 of 6)</a:t>
            </a:r>
          </a:p>
        </p:txBody>
      </p:sp>
      <p:graphicFrame>
        <p:nvGraphicFramePr>
          <p:cNvPr id="8" name="Content Placeholder 7" descr="Group 1 of 3:  List of abbreviation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731561"/>
              </p:ext>
            </p:extLst>
          </p:nvPr>
        </p:nvGraphicFramePr>
        <p:xfrm>
          <a:off x="500332" y="1417638"/>
          <a:ext cx="8229600" cy="5029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ea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en-US" sz="2400" dirty="0"/>
                        <a:t>Alpha-Fetoprotein--tumor marker for liver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alk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phos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Alkaline phosphatase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ALT, AST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Alanine transaminase, aspartate transaminase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Barium enema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Bowel movement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BRBPR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Bright red blood per rectum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Celiac 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Computed tomography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Esophagogastroduodenoscopy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ERCP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Endoscopic retrograde </a:t>
                      </a:r>
                      <a:r>
                        <a:rPr lang="en-US" altLang="en-US" sz="2200" dirty="0" err="1"/>
                        <a:t>cholangiopancreatography</a:t>
                      </a:r>
                      <a:endParaRPr lang="en-US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046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3 of 6)</a:t>
            </a:r>
          </a:p>
        </p:txBody>
      </p:sp>
      <p:graphicFrame>
        <p:nvGraphicFramePr>
          <p:cNvPr id="8" name="Content Placeholder 7" descr="Group 2 of 3:  List of abbreviation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818712"/>
              </p:ext>
            </p:extLst>
          </p:nvPr>
        </p:nvGraphicFramePr>
        <p:xfrm>
          <a:off x="3505200" y="1295400"/>
          <a:ext cx="2133600" cy="5120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EUS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FOBT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G-tube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GB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GERD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GI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HBV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IBD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J-tube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LAC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LFTs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129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4 of 6)</a:t>
            </a:r>
          </a:p>
        </p:txBody>
      </p:sp>
      <p:graphicFrame>
        <p:nvGraphicFramePr>
          <p:cNvPr id="8" name="Content Placeholder 7" descr="Group 2 of 3:  List of abbreviation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970791"/>
              </p:ext>
            </p:extLst>
          </p:nvPr>
        </p:nvGraphicFramePr>
        <p:xfrm>
          <a:off x="1143000" y="1295400"/>
          <a:ext cx="6858000" cy="5120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EUS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Endoscopic ultrasonography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FOBT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Fecal occult blood test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G-tube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gastrostomy tube – feeding tube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GB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Gallbladder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GERD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err="1"/>
                        <a:t>Gastroesophageal</a:t>
                      </a:r>
                      <a:r>
                        <a:rPr lang="en-US" altLang="en-US" sz="2000" dirty="0"/>
                        <a:t> reflux disease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GI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Gastrointestinal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HBV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Hepatitis B virus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IBD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Inflammatory bowel disease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J-tube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err="1"/>
                        <a:t>jejuostomy</a:t>
                      </a:r>
                      <a:r>
                        <a:rPr lang="en-US" altLang="en-US" sz="2000" dirty="0"/>
                        <a:t> tube; feeding tube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LAC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Laparoscopic-assisted colectomy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LFTs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Liver function tests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082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5 of 6)</a:t>
            </a:r>
          </a:p>
        </p:txBody>
      </p:sp>
      <p:graphicFrame>
        <p:nvGraphicFramePr>
          <p:cNvPr id="8" name="Content Placeholder 7" descr="Group 3 of 3:  List of abbreviations from the chapter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921503"/>
              </p:ext>
            </p:extLst>
          </p:nvPr>
        </p:nvGraphicFramePr>
        <p:xfrm>
          <a:off x="3505200" y="1417638"/>
          <a:ext cx="2133600" cy="5029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MRI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NASH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NG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NPO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PEG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PEJ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PTHC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PUD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TPN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537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Abbreviations (Slide 6 of 6)</a:t>
            </a:r>
          </a:p>
        </p:txBody>
      </p:sp>
      <p:graphicFrame>
        <p:nvGraphicFramePr>
          <p:cNvPr id="8" name="Content Placeholder 7" descr="Group 3 of 3:  List of abbreviations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218643"/>
              </p:ext>
            </p:extLst>
          </p:nvPr>
        </p:nvGraphicFramePr>
        <p:xfrm>
          <a:off x="1066800" y="1417638"/>
          <a:ext cx="7391400" cy="5059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MRI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Magnetic resonance imaging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NASH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non-alcoholic steatohepatitis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NG 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Nasogastric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NPO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Nothing by mouth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PEG 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Percutaneous endoscopic gastrostomy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PEJ 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Percutaneous endoscopic </a:t>
                      </a:r>
                      <a:r>
                        <a:rPr lang="en-US" altLang="en-US" sz="2200" dirty="0" err="1"/>
                        <a:t>jejunostomy</a:t>
                      </a:r>
                      <a:r>
                        <a:rPr lang="en-US" altLang="en-US" sz="2200" dirty="0"/>
                        <a:t> 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PTHC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Percutaneous </a:t>
                      </a:r>
                      <a:r>
                        <a:rPr lang="en-US" altLang="en-US" sz="2200" dirty="0" err="1"/>
                        <a:t>transhepatic</a:t>
                      </a:r>
                      <a:r>
                        <a:rPr lang="en-US" altLang="en-US" sz="2200" dirty="0"/>
                        <a:t> cholangiography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PUD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Peptic ulcer 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200" dirty="0"/>
                        <a:t>TPN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Total parenteral nutrition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T 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dirty="0"/>
                        <a:t>Tube placed in the bile duct for drainage into a small pouch on the outside of the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427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1 of 8)</a:t>
            </a:r>
          </a:p>
        </p:txBody>
      </p:sp>
      <p:graphicFrame>
        <p:nvGraphicFramePr>
          <p:cNvPr id="8" name="Content Placeholder 7" descr="Group 1 of 4:  List of suffixes from the Review Sheet from the chapter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896185"/>
              </p:ext>
            </p:extLst>
          </p:nvPr>
        </p:nvGraphicFramePr>
        <p:xfrm>
          <a:off x="3429000" y="1600200"/>
          <a:ext cx="1981200" cy="45720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ase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centesis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chezia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ectomy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-emesis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emia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-genesis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534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2 of 8)</a:t>
            </a:r>
          </a:p>
        </p:txBody>
      </p:sp>
      <p:graphicFrame>
        <p:nvGraphicFramePr>
          <p:cNvPr id="8" name="Content Placeholder 7" descr="Group 1 of 4:  List of suffixes from the Review Sheet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006069"/>
              </p:ext>
            </p:extLst>
          </p:nvPr>
        </p:nvGraphicFramePr>
        <p:xfrm>
          <a:off x="1295400" y="1752600"/>
          <a:ext cx="7086600" cy="45720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ase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enzyme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centesis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puncture to remove fluid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chezia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defecation; elimination of wastes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ectomy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removal; excision; resection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-emesis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vomiting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emia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 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-genesis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producing; forming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9925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3 of 8)</a:t>
            </a:r>
          </a:p>
        </p:txBody>
      </p:sp>
      <p:graphicFrame>
        <p:nvGraphicFramePr>
          <p:cNvPr id="8" name="Content Placeholder 7" descr="Group 2 of 4:  List of suffixes from the Review Sheet from the chapter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873194"/>
              </p:ext>
            </p:extLst>
          </p:nvPr>
        </p:nvGraphicFramePr>
        <p:xfrm>
          <a:off x="3581400" y="1905000"/>
          <a:ext cx="1981200" cy="41148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graphy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iasis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lysis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megaly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orexia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pathy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pepsia</a:t>
                      </a:r>
                      <a:r>
                        <a:rPr lang="en-US" altLang="en-US" sz="240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phagia</a:t>
                      </a:r>
                      <a:r>
                        <a:rPr lang="en-US" altLang="en-US" sz="240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192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4 of 8)</a:t>
            </a:r>
          </a:p>
        </p:txBody>
      </p:sp>
      <p:graphicFrame>
        <p:nvGraphicFramePr>
          <p:cNvPr id="8" name="Content Placeholder 7" descr="Group 2 of 4:  List of suffixes from the Review Sheet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705121"/>
              </p:ext>
            </p:extLst>
          </p:nvPr>
        </p:nvGraphicFramePr>
        <p:xfrm>
          <a:off x="1562100" y="1752600"/>
          <a:ext cx="6019800" cy="44805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graphy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 of recording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iasis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abnormal 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lysis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breakdown; separation; destruction; loosening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megaly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enlargement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orexia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appetite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pathy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disease; emotion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pepsia</a:t>
                      </a:r>
                      <a:r>
                        <a:rPr lang="en-US" altLang="en-US" sz="240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digestion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phagia</a:t>
                      </a:r>
                      <a:r>
                        <a:rPr lang="en-US" altLang="en-US" sz="240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eating; swallowing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842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5 of 8)</a:t>
            </a:r>
          </a:p>
        </p:txBody>
      </p:sp>
      <p:graphicFrame>
        <p:nvGraphicFramePr>
          <p:cNvPr id="8" name="Content Placeholder 7" descr="Group 3 of 4:  List of suffixes from the Review Sheet from the chapter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792368"/>
              </p:ext>
            </p:extLst>
          </p:nvPr>
        </p:nvGraphicFramePr>
        <p:xfrm>
          <a:off x="3581400" y="1752600"/>
          <a:ext cx="1981200" cy="41148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-prandial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plasty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-ptosis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ptysis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rrhage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rrhagia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rrhaphy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rrhea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84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6 of 8)</a:t>
            </a:r>
          </a:p>
        </p:txBody>
      </p:sp>
      <p:graphicFrame>
        <p:nvGraphicFramePr>
          <p:cNvPr id="8" name="Content Placeholder 7" descr="Group 3 of 4:  List of suffixes from the Review Sheet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133561"/>
              </p:ext>
            </p:extLst>
          </p:nvPr>
        </p:nvGraphicFramePr>
        <p:xfrm>
          <a:off x="1524000" y="1981200"/>
          <a:ext cx="6629400" cy="41148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-prandial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meal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plasty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surgical repair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-ptosis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droop; sag; prolapse; fall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ptysis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spitting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bursting forth (of blood)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rrhagia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bursting forth (of blood)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rrhaphy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suture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rrhea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flow; discharge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4479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7 of 8)</a:t>
            </a:r>
          </a:p>
        </p:txBody>
      </p:sp>
      <p:graphicFrame>
        <p:nvGraphicFramePr>
          <p:cNvPr id="8" name="Content Placeholder 7" descr="Group 4 of 4:  List of suffixes from the Review Sheet from the chapter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712214"/>
              </p:ext>
            </p:extLst>
          </p:nvPr>
        </p:nvGraphicFramePr>
        <p:xfrm>
          <a:off x="3581400" y="2133600"/>
          <a:ext cx="1981200" cy="3657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scopy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-spasm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-stasis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-stenosis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stomy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tomy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tresia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442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-- Suffixes (Slide 8 of 8)</a:t>
            </a:r>
          </a:p>
        </p:txBody>
      </p:sp>
      <p:graphicFrame>
        <p:nvGraphicFramePr>
          <p:cNvPr id="8" name="Content Placeholder 7" descr="Group 4 of 4:  List of suffixes from the Review Sheet from the chapter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770903"/>
              </p:ext>
            </p:extLst>
          </p:nvPr>
        </p:nvGraphicFramePr>
        <p:xfrm>
          <a:off x="1104900" y="2057400"/>
          <a:ext cx="6934200" cy="3657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scopy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visual examination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-spasm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sudden contraction of muscles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-stasis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stop; control; place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-stenosis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tightening; stricture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stomy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new opening (to form a mouth)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 of cutting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-</a:t>
                      </a:r>
                      <a:r>
                        <a:rPr lang="en-US" altLang="en-US" sz="2400" dirty="0" err="1"/>
                        <a:t>tresia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opening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4292</TotalTime>
  <Words>1737</Words>
  <Application>Microsoft Office PowerPoint</Application>
  <PresentationFormat>On-screen Show (4:3)</PresentationFormat>
  <Paragraphs>512</Paragraphs>
  <Slides>42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MS PGothic</vt:lpstr>
      <vt:lpstr>MS PGothic</vt:lpstr>
      <vt:lpstr>Arial</vt:lpstr>
      <vt:lpstr>Calibri</vt:lpstr>
      <vt:lpstr>Times New Roman</vt:lpstr>
      <vt:lpstr>Webdings</vt:lpstr>
      <vt:lpstr>Wingdings</vt:lpstr>
      <vt:lpstr>Wingdings 2</vt:lpstr>
      <vt:lpstr>Office Theme</vt:lpstr>
      <vt:lpstr>The Language of Medicine 13th edition</vt:lpstr>
      <vt:lpstr>Chapter 6 Additional Suffixes and Digestive System Terminology</vt:lpstr>
      <vt:lpstr>Chapter Goals</vt:lpstr>
      <vt:lpstr>Chapter 6 Lesson 6.1 </vt:lpstr>
      <vt:lpstr>Suffixes (Slide 1 of 4)</vt:lpstr>
      <vt:lpstr>Suffixes (Slide 2 of 5)</vt:lpstr>
      <vt:lpstr>Suffixes (Slide 3 of 5)</vt:lpstr>
      <vt:lpstr>Suffixes (Slide 4 of 5)</vt:lpstr>
      <vt:lpstr>Suffixes (Slide 5 of 5)</vt:lpstr>
      <vt:lpstr>     QUICK QUIZ (Slide 1 of 5)</vt:lpstr>
      <vt:lpstr>     QUICK QUIZ (Slide 2 of 5)</vt:lpstr>
      <vt:lpstr>Combining Forms and Terminology (Slide of 1 of 10)</vt:lpstr>
      <vt:lpstr>Combining Forms and Terminology (Slide 2 of 10 )</vt:lpstr>
      <vt:lpstr>Combining Forms and Terminology (Slide 3 of 10 )</vt:lpstr>
      <vt:lpstr>Combining Forms and Terminology (Slide 4 of 10)</vt:lpstr>
      <vt:lpstr>Combining Forms and Terminology (Slide 5 of 10 )</vt:lpstr>
      <vt:lpstr>Combining Forms and Terminology (Slide 6 of 10 )</vt:lpstr>
      <vt:lpstr>Combining Forms and Terminology (Slide 7 of 10 )</vt:lpstr>
      <vt:lpstr>Combining Forms and Terminology (Slide 8 of 10)</vt:lpstr>
      <vt:lpstr>Combining Forms and Terminology (Slide 9 of 10 )</vt:lpstr>
      <vt:lpstr>Combining Forms and Terminology (Slide 10 of 10)</vt:lpstr>
      <vt:lpstr>     QUICK QUIZ (Slide 3 of 5)</vt:lpstr>
      <vt:lpstr>Laboratory Tests and Clinical Procedures</vt:lpstr>
      <vt:lpstr>     QUICK QUIZ (Slide 4 of 5)</vt:lpstr>
      <vt:lpstr>Laboratory Tests and Clinical Procedures (Slide 1 of 3)</vt:lpstr>
      <vt:lpstr>Laboratory Tests and Clinical Procedures (Slide 2 of 3)</vt:lpstr>
      <vt:lpstr>Laboratory Tests and Clinical Procedures (Slide 3 of 3)</vt:lpstr>
      <vt:lpstr>     QUICK QUIZ (Slide 5 of 5)</vt:lpstr>
      <vt:lpstr>Abbreviations (Slide 1 of 6)</vt:lpstr>
      <vt:lpstr>Abbreviations (Slide 2 of 6)</vt:lpstr>
      <vt:lpstr>Abbreviations (Slide 3 of 6)</vt:lpstr>
      <vt:lpstr>Abbreviations (Slide 4 of 6)</vt:lpstr>
      <vt:lpstr>Abbreviations (Slide 5 of 6)</vt:lpstr>
      <vt:lpstr>Abbreviations (Slide 6 of 6)</vt:lpstr>
      <vt:lpstr>Review -- Suffixes (Slide 1 of 8)</vt:lpstr>
      <vt:lpstr>Review -- Suffixes (Slide 2 of 8)</vt:lpstr>
      <vt:lpstr>Review -- Suffixes (Slide 3 of 8)</vt:lpstr>
      <vt:lpstr>Review -- Suffixes (Slide 4 of 8)</vt:lpstr>
      <vt:lpstr>Review -- Suffixes (Slide 5 of 8)</vt:lpstr>
      <vt:lpstr>Review -- Suffixes (Slide 6 of 8)</vt:lpstr>
      <vt:lpstr>Review -- Suffixes (Slide 7 of 8)</vt:lpstr>
      <vt:lpstr>Review -- Suffixes (Slide 8 of 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Language of Medicine A Write-in Text Explaining Medical Terms 7th Edition Davi-Ellen Chabner, B.A., M.A.T.</dc:title>
  <dc:creator>dell</dc:creator>
  <cp:lastModifiedBy>mpfeifer</cp:lastModifiedBy>
  <cp:revision>302</cp:revision>
  <cp:lastPrinted>2007-04-13T22:20:09Z</cp:lastPrinted>
  <dcterms:created xsi:type="dcterms:W3CDTF">2004-11-01T16:15:23Z</dcterms:created>
  <dcterms:modified xsi:type="dcterms:W3CDTF">2024-02-06T05:06:26Z</dcterms:modified>
</cp:coreProperties>
</file>