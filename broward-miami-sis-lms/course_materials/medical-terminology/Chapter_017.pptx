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62" r:id="rId1"/>
  </p:sldMasterIdLst>
  <p:notesMasterIdLst>
    <p:notesMasterId r:id="rId105"/>
  </p:notesMasterIdLst>
  <p:handoutMasterIdLst>
    <p:handoutMasterId r:id="rId106"/>
  </p:handoutMasterIdLst>
  <p:sldIdLst>
    <p:sldId id="332" r:id="rId2"/>
    <p:sldId id="338" r:id="rId3"/>
    <p:sldId id="339" r:id="rId4"/>
    <p:sldId id="340" r:id="rId5"/>
    <p:sldId id="341" r:id="rId6"/>
    <p:sldId id="342" r:id="rId7"/>
    <p:sldId id="343" r:id="rId8"/>
    <p:sldId id="344" r:id="rId9"/>
    <p:sldId id="345" r:id="rId10"/>
    <p:sldId id="346" r:id="rId11"/>
    <p:sldId id="347" r:id="rId12"/>
    <p:sldId id="348" r:id="rId13"/>
    <p:sldId id="349" r:id="rId14"/>
    <p:sldId id="350" r:id="rId15"/>
    <p:sldId id="351" r:id="rId16"/>
    <p:sldId id="352" r:id="rId17"/>
    <p:sldId id="353" r:id="rId18"/>
    <p:sldId id="354" r:id="rId19"/>
    <p:sldId id="355" r:id="rId20"/>
    <p:sldId id="356" r:id="rId21"/>
    <p:sldId id="357" r:id="rId22"/>
    <p:sldId id="358" r:id="rId23"/>
    <p:sldId id="359" r:id="rId24"/>
    <p:sldId id="360" r:id="rId25"/>
    <p:sldId id="361" r:id="rId26"/>
    <p:sldId id="362" r:id="rId27"/>
    <p:sldId id="363" r:id="rId28"/>
    <p:sldId id="364" r:id="rId29"/>
    <p:sldId id="365" r:id="rId30"/>
    <p:sldId id="366" r:id="rId31"/>
    <p:sldId id="367" r:id="rId32"/>
    <p:sldId id="368" r:id="rId33"/>
    <p:sldId id="369" r:id="rId34"/>
    <p:sldId id="370" r:id="rId35"/>
    <p:sldId id="371" r:id="rId36"/>
    <p:sldId id="372" r:id="rId37"/>
    <p:sldId id="373" r:id="rId38"/>
    <p:sldId id="374" r:id="rId39"/>
    <p:sldId id="375" r:id="rId40"/>
    <p:sldId id="376" r:id="rId41"/>
    <p:sldId id="377" r:id="rId42"/>
    <p:sldId id="378" r:id="rId43"/>
    <p:sldId id="379" r:id="rId44"/>
    <p:sldId id="380" r:id="rId45"/>
    <p:sldId id="381" r:id="rId46"/>
    <p:sldId id="382" r:id="rId47"/>
    <p:sldId id="383" r:id="rId48"/>
    <p:sldId id="384" r:id="rId49"/>
    <p:sldId id="385" r:id="rId50"/>
    <p:sldId id="386" r:id="rId51"/>
    <p:sldId id="387" r:id="rId52"/>
    <p:sldId id="389" r:id="rId53"/>
    <p:sldId id="391" r:id="rId54"/>
    <p:sldId id="392" r:id="rId55"/>
    <p:sldId id="393" r:id="rId56"/>
    <p:sldId id="394" r:id="rId57"/>
    <p:sldId id="395" r:id="rId58"/>
    <p:sldId id="396" r:id="rId59"/>
    <p:sldId id="397" r:id="rId60"/>
    <p:sldId id="398" r:id="rId61"/>
    <p:sldId id="399" r:id="rId62"/>
    <p:sldId id="400" r:id="rId63"/>
    <p:sldId id="401" r:id="rId64"/>
    <p:sldId id="402" r:id="rId65"/>
    <p:sldId id="403" r:id="rId66"/>
    <p:sldId id="404" r:id="rId67"/>
    <p:sldId id="405" r:id="rId68"/>
    <p:sldId id="406" r:id="rId69"/>
    <p:sldId id="407" r:id="rId70"/>
    <p:sldId id="408" r:id="rId71"/>
    <p:sldId id="409" r:id="rId72"/>
    <p:sldId id="410" r:id="rId73"/>
    <p:sldId id="411" r:id="rId74"/>
    <p:sldId id="412" r:id="rId75"/>
    <p:sldId id="413" r:id="rId76"/>
    <p:sldId id="414" r:id="rId77"/>
    <p:sldId id="415" r:id="rId78"/>
    <p:sldId id="416" r:id="rId79"/>
    <p:sldId id="417" r:id="rId80"/>
    <p:sldId id="418" r:id="rId81"/>
    <p:sldId id="419" r:id="rId82"/>
    <p:sldId id="420" r:id="rId83"/>
    <p:sldId id="421" r:id="rId84"/>
    <p:sldId id="422" r:id="rId85"/>
    <p:sldId id="424" r:id="rId86"/>
    <p:sldId id="425" r:id="rId87"/>
    <p:sldId id="426" r:id="rId88"/>
    <p:sldId id="427" r:id="rId89"/>
    <p:sldId id="428" r:id="rId90"/>
    <p:sldId id="429" r:id="rId91"/>
    <p:sldId id="430" r:id="rId92"/>
    <p:sldId id="431" r:id="rId93"/>
    <p:sldId id="432" r:id="rId94"/>
    <p:sldId id="433" r:id="rId95"/>
    <p:sldId id="434" r:id="rId96"/>
    <p:sldId id="435" r:id="rId97"/>
    <p:sldId id="436" r:id="rId98"/>
    <p:sldId id="437" r:id="rId99"/>
    <p:sldId id="438" r:id="rId100"/>
    <p:sldId id="439" r:id="rId101"/>
    <p:sldId id="440" r:id="rId102"/>
    <p:sldId id="441" r:id="rId103"/>
    <p:sldId id="442" r:id="rId104"/>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MS PGothic"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1008">
          <p15:clr>
            <a:srgbClr val="A4A3A4"/>
          </p15:clr>
        </p15:guide>
        <p15:guide id="2" pos="43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287" autoAdjust="0"/>
    <p:restoredTop sz="80777" autoAdjust="0"/>
  </p:normalViewPr>
  <p:slideViewPr>
    <p:cSldViewPr>
      <p:cViewPr varScale="1">
        <p:scale>
          <a:sx n="51" d="100"/>
          <a:sy n="51" d="100"/>
        </p:scale>
        <p:origin x="1540" y="40"/>
      </p:cViewPr>
      <p:guideLst>
        <p:guide orient="horz" pos="1008"/>
        <p:guide pos="432"/>
      </p:guideLst>
    </p:cSldViewPr>
  </p:slideViewPr>
  <p:outlineViewPr>
    <p:cViewPr>
      <p:scale>
        <a:sx n="33" d="100"/>
        <a:sy n="33" d="100"/>
      </p:scale>
      <p:origin x="0" y="1192"/>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presProps" Target="pres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viewProps" Target="viewProps.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handoutMaster" Target="handoutMasters/handout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heme" Target="theme/theme1.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tableStyles" Target="tableStyle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en Pfeifer" userId="fb68dd40a6c6cee7" providerId="LiveId" clId="{CE24496B-0C00-4A59-85F2-26F34F805C70}"/>
    <pc:docChg chg="modSld modMainMaster">
      <pc:chgData name="Ben Pfeifer" userId="fb68dd40a6c6cee7" providerId="LiveId" clId="{CE24496B-0C00-4A59-85F2-26F34F805C70}" dt="2023-09-26T09:00:04.215" v="19" actId="12385"/>
      <pc:docMkLst>
        <pc:docMk/>
      </pc:docMkLst>
      <pc:sldChg chg="modSp mod">
        <pc:chgData name="Ben Pfeifer" userId="fb68dd40a6c6cee7" providerId="LiveId" clId="{CE24496B-0C00-4A59-85F2-26F34F805C70}" dt="2023-09-26T08:57:40.672" v="1" actId="20577"/>
        <pc:sldMkLst>
          <pc:docMk/>
          <pc:sldMk cId="1428288934" sldId="332"/>
        </pc:sldMkLst>
        <pc:spChg chg="mod">
          <ac:chgData name="Ben Pfeifer" userId="fb68dd40a6c6cee7" providerId="LiveId" clId="{CE24496B-0C00-4A59-85F2-26F34F805C70}" dt="2023-09-26T08:57:40.672" v="1" actId="20577"/>
          <ac:spMkLst>
            <pc:docMk/>
            <pc:sldMk cId="1428288934" sldId="332"/>
            <ac:spMk id="2" creationId="{00000000-0000-0000-0000-000000000000}"/>
          </ac:spMkLst>
        </pc:spChg>
      </pc:sldChg>
      <pc:sldChg chg="modSp mod">
        <pc:chgData name="Ben Pfeifer" userId="fb68dd40a6c6cee7" providerId="LiveId" clId="{CE24496B-0C00-4A59-85F2-26F34F805C70}" dt="2023-09-26T08:59:33.242" v="7" actId="12385"/>
        <pc:sldMkLst>
          <pc:docMk/>
          <pc:sldMk cId="535362673" sldId="364"/>
        </pc:sldMkLst>
        <pc:graphicFrameChg chg="modGraphic">
          <ac:chgData name="Ben Pfeifer" userId="fb68dd40a6c6cee7" providerId="LiveId" clId="{CE24496B-0C00-4A59-85F2-26F34F805C70}" dt="2023-09-26T08:59:33.242" v="7" actId="12385"/>
          <ac:graphicFrameMkLst>
            <pc:docMk/>
            <pc:sldMk cId="535362673" sldId="364"/>
            <ac:graphicFrameMk id="8" creationId="{00000000-0000-0000-0000-000000000000}"/>
          </ac:graphicFrameMkLst>
        </pc:graphicFrameChg>
      </pc:sldChg>
      <pc:sldChg chg="modSp mod">
        <pc:chgData name="Ben Pfeifer" userId="fb68dd40a6c6cee7" providerId="LiveId" clId="{CE24496B-0C00-4A59-85F2-26F34F805C70}" dt="2023-09-26T08:59:35.870" v="8" actId="12385"/>
        <pc:sldMkLst>
          <pc:docMk/>
          <pc:sldMk cId="3667090471" sldId="365"/>
        </pc:sldMkLst>
        <pc:graphicFrameChg chg="modGraphic">
          <ac:chgData name="Ben Pfeifer" userId="fb68dd40a6c6cee7" providerId="LiveId" clId="{CE24496B-0C00-4A59-85F2-26F34F805C70}" dt="2023-09-26T08:59:35.870" v="8" actId="12385"/>
          <ac:graphicFrameMkLst>
            <pc:docMk/>
            <pc:sldMk cId="3667090471" sldId="365"/>
            <ac:graphicFrameMk id="8" creationId="{00000000-0000-0000-0000-000000000000}"/>
          </ac:graphicFrameMkLst>
        </pc:graphicFrameChg>
      </pc:sldChg>
      <pc:sldChg chg="modSp mod">
        <pc:chgData name="Ben Pfeifer" userId="fb68dd40a6c6cee7" providerId="LiveId" clId="{CE24496B-0C00-4A59-85F2-26F34F805C70}" dt="2023-09-26T08:59:38.080" v="9" actId="12385"/>
        <pc:sldMkLst>
          <pc:docMk/>
          <pc:sldMk cId="2009334305" sldId="366"/>
        </pc:sldMkLst>
        <pc:graphicFrameChg chg="modGraphic">
          <ac:chgData name="Ben Pfeifer" userId="fb68dd40a6c6cee7" providerId="LiveId" clId="{CE24496B-0C00-4A59-85F2-26F34F805C70}" dt="2023-09-26T08:59:38.080" v="9" actId="12385"/>
          <ac:graphicFrameMkLst>
            <pc:docMk/>
            <pc:sldMk cId="2009334305" sldId="366"/>
            <ac:graphicFrameMk id="8" creationId="{00000000-0000-0000-0000-000000000000}"/>
          </ac:graphicFrameMkLst>
        </pc:graphicFrameChg>
      </pc:sldChg>
      <pc:sldChg chg="modSp mod">
        <pc:chgData name="Ben Pfeifer" userId="fb68dd40a6c6cee7" providerId="LiveId" clId="{CE24496B-0C00-4A59-85F2-26F34F805C70}" dt="2023-09-26T08:59:40.070" v="10" actId="12385"/>
        <pc:sldMkLst>
          <pc:docMk/>
          <pc:sldMk cId="2635513840" sldId="367"/>
        </pc:sldMkLst>
        <pc:graphicFrameChg chg="modGraphic">
          <ac:chgData name="Ben Pfeifer" userId="fb68dd40a6c6cee7" providerId="LiveId" clId="{CE24496B-0C00-4A59-85F2-26F34F805C70}" dt="2023-09-26T08:59:40.070" v="10" actId="12385"/>
          <ac:graphicFrameMkLst>
            <pc:docMk/>
            <pc:sldMk cId="2635513840" sldId="367"/>
            <ac:graphicFrameMk id="8" creationId="{00000000-0000-0000-0000-000000000000}"/>
          </ac:graphicFrameMkLst>
        </pc:graphicFrameChg>
      </pc:sldChg>
      <pc:sldChg chg="modSp mod">
        <pc:chgData name="Ben Pfeifer" userId="fb68dd40a6c6cee7" providerId="LiveId" clId="{CE24496B-0C00-4A59-85F2-26F34F805C70}" dt="2023-09-26T08:59:42.013" v="11" actId="12385"/>
        <pc:sldMkLst>
          <pc:docMk/>
          <pc:sldMk cId="2076295228" sldId="368"/>
        </pc:sldMkLst>
        <pc:graphicFrameChg chg="modGraphic">
          <ac:chgData name="Ben Pfeifer" userId="fb68dd40a6c6cee7" providerId="LiveId" clId="{CE24496B-0C00-4A59-85F2-26F34F805C70}" dt="2023-09-26T08:59:42.013" v="11" actId="12385"/>
          <ac:graphicFrameMkLst>
            <pc:docMk/>
            <pc:sldMk cId="2076295228" sldId="368"/>
            <ac:graphicFrameMk id="8" creationId="{00000000-0000-0000-0000-000000000000}"/>
          </ac:graphicFrameMkLst>
        </pc:graphicFrameChg>
      </pc:sldChg>
      <pc:sldChg chg="modSp mod">
        <pc:chgData name="Ben Pfeifer" userId="fb68dd40a6c6cee7" providerId="LiveId" clId="{CE24496B-0C00-4A59-85F2-26F34F805C70}" dt="2023-09-26T08:59:43.972" v="12" actId="12385"/>
        <pc:sldMkLst>
          <pc:docMk/>
          <pc:sldMk cId="2689325889" sldId="369"/>
        </pc:sldMkLst>
        <pc:graphicFrameChg chg="modGraphic">
          <ac:chgData name="Ben Pfeifer" userId="fb68dd40a6c6cee7" providerId="LiveId" clId="{CE24496B-0C00-4A59-85F2-26F34F805C70}" dt="2023-09-26T08:59:43.972" v="12" actId="12385"/>
          <ac:graphicFrameMkLst>
            <pc:docMk/>
            <pc:sldMk cId="2689325889" sldId="369"/>
            <ac:graphicFrameMk id="8" creationId="{00000000-0000-0000-0000-000000000000}"/>
          </ac:graphicFrameMkLst>
        </pc:graphicFrameChg>
      </pc:sldChg>
      <pc:sldChg chg="modSp mod">
        <pc:chgData name="Ben Pfeifer" userId="fb68dd40a6c6cee7" providerId="LiveId" clId="{CE24496B-0C00-4A59-85F2-26F34F805C70}" dt="2023-09-26T08:59:45.866" v="13" actId="12385"/>
        <pc:sldMkLst>
          <pc:docMk/>
          <pc:sldMk cId="2667922515" sldId="370"/>
        </pc:sldMkLst>
        <pc:graphicFrameChg chg="modGraphic">
          <ac:chgData name="Ben Pfeifer" userId="fb68dd40a6c6cee7" providerId="LiveId" clId="{CE24496B-0C00-4A59-85F2-26F34F805C70}" dt="2023-09-26T08:59:45.866" v="13" actId="12385"/>
          <ac:graphicFrameMkLst>
            <pc:docMk/>
            <pc:sldMk cId="2667922515" sldId="370"/>
            <ac:graphicFrameMk id="8" creationId="{00000000-0000-0000-0000-000000000000}"/>
          </ac:graphicFrameMkLst>
        </pc:graphicFrameChg>
      </pc:sldChg>
      <pc:sldChg chg="modSp mod">
        <pc:chgData name="Ben Pfeifer" userId="fb68dd40a6c6cee7" providerId="LiveId" clId="{CE24496B-0C00-4A59-85F2-26F34F805C70}" dt="2023-09-26T08:59:48.531" v="14" actId="12385"/>
        <pc:sldMkLst>
          <pc:docMk/>
          <pc:sldMk cId="338843021" sldId="389"/>
        </pc:sldMkLst>
        <pc:graphicFrameChg chg="modGraphic">
          <ac:chgData name="Ben Pfeifer" userId="fb68dd40a6c6cee7" providerId="LiveId" clId="{CE24496B-0C00-4A59-85F2-26F34F805C70}" dt="2023-09-26T08:59:48.531" v="14" actId="12385"/>
          <ac:graphicFrameMkLst>
            <pc:docMk/>
            <pc:sldMk cId="338843021" sldId="389"/>
            <ac:graphicFrameMk id="8" creationId="{00000000-0000-0000-0000-000000000000}"/>
          </ac:graphicFrameMkLst>
        </pc:graphicFrameChg>
      </pc:sldChg>
      <pc:sldChg chg="modSp mod">
        <pc:chgData name="Ben Pfeifer" userId="fb68dd40a6c6cee7" providerId="LiveId" clId="{CE24496B-0C00-4A59-85F2-26F34F805C70}" dt="2023-09-26T08:59:51.602" v="15" actId="12385"/>
        <pc:sldMkLst>
          <pc:docMk/>
          <pc:sldMk cId="3544069248" sldId="391"/>
        </pc:sldMkLst>
        <pc:graphicFrameChg chg="modGraphic">
          <ac:chgData name="Ben Pfeifer" userId="fb68dd40a6c6cee7" providerId="LiveId" clId="{CE24496B-0C00-4A59-85F2-26F34F805C70}" dt="2023-09-26T08:59:51.602" v="15" actId="12385"/>
          <ac:graphicFrameMkLst>
            <pc:docMk/>
            <pc:sldMk cId="3544069248" sldId="391"/>
            <ac:graphicFrameMk id="8" creationId="{00000000-0000-0000-0000-000000000000}"/>
          </ac:graphicFrameMkLst>
        </pc:graphicFrameChg>
      </pc:sldChg>
      <pc:sldChg chg="modSp mod">
        <pc:chgData name="Ben Pfeifer" userId="fb68dd40a6c6cee7" providerId="LiveId" clId="{CE24496B-0C00-4A59-85F2-26F34F805C70}" dt="2023-09-26T08:59:54.690" v="16" actId="12385"/>
        <pc:sldMkLst>
          <pc:docMk/>
          <pc:sldMk cId="4215965893" sldId="415"/>
        </pc:sldMkLst>
        <pc:graphicFrameChg chg="modGraphic">
          <ac:chgData name="Ben Pfeifer" userId="fb68dd40a6c6cee7" providerId="LiveId" clId="{CE24496B-0C00-4A59-85F2-26F34F805C70}" dt="2023-09-26T08:59:54.690" v="16" actId="12385"/>
          <ac:graphicFrameMkLst>
            <pc:docMk/>
            <pc:sldMk cId="4215965893" sldId="415"/>
            <ac:graphicFrameMk id="8" creationId="{00000000-0000-0000-0000-000000000000}"/>
          </ac:graphicFrameMkLst>
        </pc:graphicFrameChg>
      </pc:sldChg>
      <pc:sldChg chg="modSp mod">
        <pc:chgData name="Ben Pfeifer" userId="fb68dd40a6c6cee7" providerId="LiveId" clId="{CE24496B-0C00-4A59-85F2-26F34F805C70}" dt="2023-09-26T08:59:56.852" v="17" actId="12385"/>
        <pc:sldMkLst>
          <pc:docMk/>
          <pc:sldMk cId="2575515365" sldId="416"/>
        </pc:sldMkLst>
        <pc:graphicFrameChg chg="modGraphic">
          <ac:chgData name="Ben Pfeifer" userId="fb68dd40a6c6cee7" providerId="LiveId" clId="{CE24496B-0C00-4A59-85F2-26F34F805C70}" dt="2023-09-26T08:59:56.852" v="17" actId="12385"/>
          <ac:graphicFrameMkLst>
            <pc:docMk/>
            <pc:sldMk cId="2575515365" sldId="416"/>
            <ac:graphicFrameMk id="8" creationId="{00000000-0000-0000-0000-000000000000}"/>
          </ac:graphicFrameMkLst>
        </pc:graphicFrameChg>
      </pc:sldChg>
      <pc:sldChg chg="modSp mod">
        <pc:chgData name="Ben Pfeifer" userId="fb68dd40a6c6cee7" providerId="LiveId" clId="{CE24496B-0C00-4A59-85F2-26F34F805C70}" dt="2023-09-26T09:00:01.348" v="18" actId="12385"/>
        <pc:sldMkLst>
          <pc:docMk/>
          <pc:sldMk cId="520300748" sldId="417"/>
        </pc:sldMkLst>
        <pc:graphicFrameChg chg="modGraphic">
          <ac:chgData name="Ben Pfeifer" userId="fb68dd40a6c6cee7" providerId="LiveId" clId="{CE24496B-0C00-4A59-85F2-26F34F805C70}" dt="2023-09-26T09:00:01.348" v="18" actId="12385"/>
          <ac:graphicFrameMkLst>
            <pc:docMk/>
            <pc:sldMk cId="520300748" sldId="417"/>
            <ac:graphicFrameMk id="8" creationId="{00000000-0000-0000-0000-000000000000}"/>
          </ac:graphicFrameMkLst>
        </pc:graphicFrameChg>
      </pc:sldChg>
      <pc:sldChg chg="modSp mod">
        <pc:chgData name="Ben Pfeifer" userId="fb68dd40a6c6cee7" providerId="LiveId" clId="{CE24496B-0C00-4A59-85F2-26F34F805C70}" dt="2023-09-26T09:00:04.215" v="19" actId="12385"/>
        <pc:sldMkLst>
          <pc:docMk/>
          <pc:sldMk cId="3188709134" sldId="424"/>
        </pc:sldMkLst>
        <pc:graphicFrameChg chg="modGraphic">
          <ac:chgData name="Ben Pfeifer" userId="fb68dd40a6c6cee7" providerId="LiveId" clId="{CE24496B-0C00-4A59-85F2-26F34F805C70}" dt="2023-09-26T09:00:04.215" v="19" actId="12385"/>
          <ac:graphicFrameMkLst>
            <pc:docMk/>
            <pc:sldMk cId="3188709134" sldId="424"/>
            <ac:graphicFrameMk id="8" creationId="{00000000-0000-0000-0000-000000000000}"/>
          </ac:graphicFrameMkLst>
        </pc:graphicFrameChg>
      </pc:sldChg>
      <pc:sldMasterChg chg="modSp mod">
        <pc:chgData name="Ben Pfeifer" userId="fb68dd40a6c6cee7" providerId="LiveId" clId="{CE24496B-0C00-4A59-85F2-26F34F805C70}" dt="2023-09-26T08:57:58.731" v="6" actId="20577"/>
        <pc:sldMasterMkLst>
          <pc:docMk/>
          <pc:sldMasterMk cId="0" sldId="2147483762"/>
        </pc:sldMasterMkLst>
        <pc:spChg chg="mod">
          <ac:chgData name="Ben Pfeifer" userId="fb68dd40a6c6cee7" providerId="LiveId" clId="{CE24496B-0C00-4A59-85F2-26F34F805C70}" dt="2023-09-26T08:57:58.731" v="6" actId="20577"/>
          <ac:spMkLst>
            <pc:docMk/>
            <pc:sldMasterMk cId="0" sldId="2147483762"/>
            <ac:spMk id="1031" creationId="{00000000-0000-0000-0000-000000000000}"/>
          </ac:spMkLst>
        </pc:spChg>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28002" name="Rectangle 2"/>
          <p:cNvSpPr>
            <a:spLocks noGrp="1" noChangeArrowheads="1"/>
          </p:cNvSpPr>
          <p:nvPr>
            <p:ph type="hdr" sz="quarter"/>
          </p:nvPr>
        </p:nvSpPr>
        <p:spPr bwMode="auto">
          <a:xfrm>
            <a:off x="0" y="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t" anchorCtr="0" compatLnSpc="1">
            <a:prstTxWarp prst="textNoShape">
              <a:avLst/>
            </a:prstTxWarp>
          </a:bodyPr>
          <a:lstStyle>
            <a:lvl1pPr eaLnBrk="1" hangingPunct="1">
              <a:defRPr sz="1200">
                <a:latin typeface="Times New Roman" pitchFamily="80" charset="0"/>
                <a:ea typeface="+mn-ea"/>
                <a:cs typeface="+mn-cs"/>
              </a:defRPr>
            </a:lvl1pPr>
          </a:lstStyle>
          <a:p>
            <a:pPr>
              <a:defRPr/>
            </a:pPr>
            <a:endParaRPr lang="en-US"/>
          </a:p>
        </p:txBody>
      </p:sp>
      <p:sp>
        <p:nvSpPr>
          <p:cNvPr id="128003" name="Rectangle 3"/>
          <p:cNvSpPr>
            <a:spLocks noGrp="1" noChangeArrowheads="1"/>
          </p:cNvSpPr>
          <p:nvPr>
            <p:ph type="dt" sz="quarter" idx="1"/>
          </p:nvPr>
        </p:nvSpPr>
        <p:spPr bwMode="auto">
          <a:xfrm>
            <a:off x="3886200" y="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t" anchorCtr="0" compatLnSpc="1">
            <a:prstTxWarp prst="textNoShape">
              <a:avLst/>
            </a:prstTxWarp>
          </a:bodyPr>
          <a:lstStyle>
            <a:lvl1pPr algn="r" eaLnBrk="1" hangingPunct="1">
              <a:defRPr sz="1200">
                <a:latin typeface="Times New Roman" pitchFamily="80" charset="0"/>
                <a:ea typeface="+mn-ea"/>
                <a:cs typeface="+mn-cs"/>
              </a:defRPr>
            </a:lvl1pPr>
          </a:lstStyle>
          <a:p>
            <a:pPr>
              <a:defRPr/>
            </a:pPr>
            <a:endParaRPr lang="en-US"/>
          </a:p>
        </p:txBody>
      </p:sp>
      <p:sp>
        <p:nvSpPr>
          <p:cNvPr id="128004" name="Rectangle 4"/>
          <p:cNvSpPr>
            <a:spLocks noGrp="1" noChangeArrowheads="1"/>
          </p:cNvSpPr>
          <p:nvPr>
            <p:ph type="ftr" sz="quarter" idx="2"/>
          </p:nvPr>
        </p:nvSpPr>
        <p:spPr bwMode="auto">
          <a:xfrm>
            <a:off x="0" y="868680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b" anchorCtr="0" compatLnSpc="1">
            <a:prstTxWarp prst="textNoShape">
              <a:avLst/>
            </a:prstTxWarp>
          </a:bodyPr>
          <a:lstStyle>
            <a:lvl1pPr eaLnBrk="1" hangingPunct="1">
              <a:defRPr sz="1200">
                <a:latin typeface="Times New Roman" pitchFamily="80" charset="0"/>
                <a:ea typeface="+mn-ea"/>
                <a:cs typeface="+mn-cs"/>
              </a:defRPr>
            </a:lvl1pPr>
          </a:lstStyle>
          <a:p>
            <a:pPr>
              <a:defRPr/>
            </a:pPr>
            <a:endParaRPr lang="en-US"/>
          </a:p>
        </p:txBody>
      </p:sp>
      <p:sp>
        <p:nvSpPr>
          <p:cNvPr id="128005" name="Rectangle 5"/>
          <p:cNvSpPr>
            <a:spLocks noGrp="1" noChangeArrowheads="1"/>
          </p:cNvSpPr>
          <p:nvPr>
            <p:ph type="sldNum" sz="quarter" idx="3"/>
          </p:nvPr>
        </p:nvSpPr>
        <p:spPr bwMode="auto">
          <a:xfrm>
            <a:off x="3886200" y="8686800"/>
            <a:ext cx="2971800" cy="457200"/>
          </a:xfrm>
          <a:prstGeom prst="rect">
            <a:avLst/>
          </a:prstGeom>
          <a:noFill/>
          <a:ln w="12700" cap="sq">
            <a:noFill/>
            <a:miter lim="800000"/>
            <a:headEnd type="none" w="sm" len="sm"/>
            <a:tailEnd type="none" w="sm" len="sm"/>
          </a:ln>
          <a:effectLst/>
        </p:spPr>
        <p:txBody>
          <a:bodyPr vert="horz" wrap="none" lIns="91440" tIns="45720" rIns="91440" bIns="45720" numCol="1" anchor="b" anchorCtr="0" compatLnSpc="1">
            <a:prstTxWarp prst="textNoShape">
              <a:avLst/>
            </a:prstTxWarp>
          </a:bodyPr>
          <a:lstStyle>
            <a:lvl1pPr algn="r" eaLnBrk="1" hangingPunct="1">
              <a:defRPr sz="1200"/>
            </a:lvl1pPr>
          </a:lstStyle>
          <a:p>
            <a:fld id="{5FB9E71A-E6C8-4FD3-B040-DCC6247393BF}" type="slidenum">
              <a:rPr lang="en-US" altLang="en-US"/>
              <a:pPr/>
              <a:t>‹#›</a:t>
            </a:fld>
            <a:endParaRPr lang="en-US" altLang="en-US"/>
          </a:p>
        </p:txBody>
      </p:sp>
    </p:spTree>
    <p:extLst>
      <p:ext uri="{BB962C8B-B14F-4D97-AF65-F5344CB8AC3E}">
        <p14:creationId xmlns:p14="http://schemas.microsoft.com/office/powerpoint/2010/main" val="15074650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5123"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mn-ea"/>
                <a:cs typeface="+mn-cs"/>
              </a:defRPr>
            </a:lvl1pPr>
          </a:lstStyle>
          <a:p>
            <a:pPr>
              <a:defRPr/>
            </a:pPr>
            <a:endParaRPr lang="en-US"/>
          </a:p>
        </p:txBody>
      </p:sp>
      <p:sp>
        <p:nvSpPr>
          <p:cNvPr id="36868"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5125"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5126"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ea typeface="+mn-ea"/>
                <a:cs typeface="+mn-cs"/>
              </a:defRPr>
            </a:lvl1pPr>
          </a:lstStyle>
          <a:p>
            <a:pPr>
              <a:defRPr/>
            </a:pPr>
            <a:endParaRPr lang="en-US"/>
          </a:p>
        </p:txBody>
      </p:sp>
      <p:sp>
        <p:nvSpPr>
          <p:cNvPr id="5127"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Arial" panose="020B0604020202020204" pitchFamily="34" charset="0"/>
              </a:defRPr>
            </a:lvl1pPr>
          </a:lstStyle>
          <a:p>
            <a:fld id="{9DD8956B-8F79-4131-A174-E4232C945132}" type="slidenum">
              <a:rPr lang="en-US" altLang="en-US"/>
              <a:pPr/>
              <a:t>‹#›</a:t>
            </a:fld>
            <a:endParaRPr lang="en-US" altLang="en-US"/>
          </a:p>
        </p:txBody>
      </p:sp>
    </p:spTree>
    <p:extLst>
      <p:ext uri="{BB962C8B-B14F-4D97-AF65-F5344CB8AC3E}">
        <p14:creationId xmlns:p14="http://schemas.microsoft.com/office/powerpoint/2010/main" val="3327361912"/>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S PGothic" pitchFamily="34" charset="-128"/>
        <a:cs typeface="ＭＳ Ｐゴシック" charset="0"/>
      </a:defRPr>
    </a:lvl1pPr>
    <a:lvl2pPr marL="4572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2pPr>
    <a:lvl3pPr marL="9144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3pPr>
    <a:lvl4pPr marL="13716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4pPr>
    <a:lvl5pPr marL="1828800" algn="l" rtl="0" eaLnBrk="0" fontAlgn="base" hangingPunct="0">
      <a:spcBef>
        <a:spcPct val="30000"/>
      </a:spcBef>
      <a:spcAft>
        <a:spcPct val="0"/>
      </a:spcAft>
      <a:defRPr sz="1200" kern="1200">
        <a:solidFill>
          <a:schemeClr val="tx1"/>
        </a:solidFill>
        <a:latin typeface="Arial" charset="0"/>
        <a:ea typeface="MS PGothic" pitchFamily="34"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3EFCD2A2-73C9-47ED-B234-2928B0F995CD}" type="slidenum">
              <a:rPr lang="en-US" altLang="en-US" sz="1200"/>
              <a:pPr/>
              <a:t>2</a:t>
            </a:fld>
            <a:endParaRPr lang="en-US" altLang="en-US" sz="1200"/>
          </a:p>
        </p:txBody>
      </p:sp>
      <p:sp>
        <p:nvSpPr>
          <p:cNvPr id="114691" name="Rectangle 2"/>
          <p:cNvSpPr>
            <a:spLocks noGrp="1" noRot="1" noChangeAspect="1" noChangeArrowheads="1" noTextEdit="1"/>
          </p:cNvSpPr>
          <p:nvPr>
            <p:ph type="sldImg"/>
          </p:nvPr>
        </p:nvSpPr>
        <p:spPr>
          <a:ln/>
        </p:spPr>
      </p:sp>
      <p:sp>
        <p:nvSpPr>
          <p:cNvPr id="11469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24333231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878E637E-5807-4FC4-9FDE-8EE2488D1393}" type="slidenum">
              <a:rPr lang="en-US" altLang="en-US" sz="1200"/>
              <a:pPr/>
              <a:t>3</a:t>
            </a:fld>
            <a:endParaRPr lang="en-US" altLang="en-US" sz="1200"/>
          </a:p>
        </p:txBody>
      </p:sp>
      <p:sp>
        <p:nvSpPr>
          <p:cNvPr id="115715" name="Rectangle 2"/>
          <p:cNvSpPr>
            <a:spLocks noGrp="1" noRot="1" noChangeAspect="1" noChangeArrowheads="1" noTextEdit="1"/>
          </p:cNvSpPr>
          <p:nvPr>
            <p:ph type="sldImg"/>
          </p:nvPr>
        </p:nvSpPr>
        <p:spPr>
          <a:ln/>
        </p:spPr>
      </p:sp>
      <p:sp>
        <p:nvSpPr>
          <p:cNvPr id="11571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15022190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936F4C97-0434-4531-88E3-3EB364826375}" type="slidenum">
              <a:rPr lang="en-US" altLang="en-US" sz="1200"/>
              <a:pPr/>
              <a:t>4</a:t>
            </a:fld>
            <a:endParaRPr lang="en-US" altLang="en-US" sz="1200"/>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29779429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7AE0886A-DAF2-41D7-A2DF-BEB4A3E61A29}" type="slidenum">
              <a:rPr lang="en-US" altLang="en-US" sz="1200"/>
              <a:pPr/>
              <a:t>5</a:t>
            </a:fld>
            <a:endParaRPr lang="en-US" altLang="en-US" sz="1200"/>
          </a:p>
        </p:txBody>
      </p:sp>
      <p:sp>
        <p:nvSpPr>
          <p:cNvPr id="117763" name="Rectangle 2"/>
          <p:cNvSpPr>
            <a:spLocks noGrp="1" noRot="1" noChangeAspect="1" noChangeArrowheads="1" noTextEdit="1"/>
          </p:cNvSpPr>
          <p:nvPr>
            <p:ph type="sldImg"/>
          </p:nvPr>
        </p:nvSpPr>
        <p:spPr>
          <a:ln/>
        </p:spPr>
      </p:sp>
      <p:sp>
        <p:nvSpPr>
          <p:cNvPr id="11776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179399423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47B08050-190C-4A76-AAB8-6CA01C7FD3D7}" type="slidenum">
              <a:rPr lang="en-US" altLang="en-US" sz="1200"/>
              <a:pPr/>
              <a:t>6</a:t>
            </a:fld>
            <a:endParaRPr lang="en-US" altLang="en-US" sz="120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Light and sound applied to the sense organs of the eye and ear activate receptors that send signals to the appropriate brain regions in the cortex where they are translated into images and sounds.</a:t>
            </a:r>
          </a:p>
          <a:p>
            <a:pPr eaLnBrk="1" hangingPunct="1"/>
            <a:r>
              <a:rPr lang="en-US" altLang="en-US">
                <a:latin typeface="Times New Roman" panose="02020603050405020304" pitchFamily="18" charset="0"/>
              </a:rPr>
              <a:t> What types of receptors exist to process information about our environment? </a:t>
            </a:r>
          </a:p>
        </p:txBody>
      </p:sp>
    </p:spTree>
    <p:extLst>
      <p:ext uri="{BB962C8B-B14F-4D97-AF65-F5344CB8AC3E}">
        <p14:creationId xmlns:p14="http://schemas.microsoft.com/office/powerpoint/2010/main" val="28115583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7B806A23-FCEC-4574-A1D7-FACDEFF6B485}" type="slidenum">
              <a:rPr lang="en-US" altLang="en-US" sz="1200"/>
              <a:pPr/>
              <a:t>7</a:t>
            </a:fld>
            <a:endParaRPr lang="en-US" altLang="en-US" sz="1200"/>
          </a:p>
        </p:txBody>
      </p:sp>
      <p:sp>
        <p:nvSpPr>
          <p:cNvPr id="119811" name="Rectangle 2"/>
          <p:cNvSpPr>
            <a:spLocks noGrp="1" noRot="1" noChangeAspect="1" noChangeArrowheads="1" noTextEdit="1"/>
          </p:cNvSpPr>
          <p:nvPr>
            <p:ph type="sldImg"/>
          </p:nvPr>
        </p:nvSpPr>
        <p:spPr>
          <a:ln/>
        </p:spPr>
      </p:sp>
      <p:sp>
        <p:nvSpPr>
          <p:cNvPr id="11981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rPr>
              <a:t> What are the parts of the eye labeled in the diagram? </a:t>
            </a:r>
          </a:p>
          <a:p>
            <a:pPr eaLnBrk="1" hangingPunct="1"/>
            <a:r>
              <a:rPr lang="en-US" altLang="en-US" dirty="0">
                <a:latin typeface="Times New Roman" panose="02020603050405020304" pitchFamily="18" charset="0"/>
              </a:rPr>
              <a:t> What are the functions of the different parts of the eye?</a:t>
            </a:r>
          </a:p>
          <a:p>
            <a:pPr eaLnBrk="1" hangingPunct="1"/>
            <a:r>
              <a:rPr lang="en-US" altLang="en-US" dirty="0">
                <a:latin typeface="Times New Roman" panose="02020603050405020304" pitchFamily="18" charset="0"/>
              </a:rPr>
              <a:t> See the Vocabulary</a:t>
            </a:r>
            <a:r>
              <a:rPr lang="en-US" altLang="en-US" baseline="0" dirty="0">
                <a:latin typeface="Times New Roman" panose="02020603050405020304" pitchFamily="18" charset="0"/>
              </a:rPr>
              <a:t> section in the text</a:t>
            </a:r>
            <a:r>
              <a:rPr lang="en-US" altLang="en-US" dirty="0">
                <a:latin typeface="Times New Roman" panose="02020603050405020304" pitchFamily="18" charset="0"/>
              </a:rPr>
              <a:t> for definitions of the parts of the eye and their functions.</a:t>
            </a:r>
          </a:p>
        </p:txBody>
      </p:sp>
    </p:spTree>
    <p:extLst>
      <p:ext uri="{BB962C8B-B14F-4D97-AF65-F5344CB8AC3E}">
        <p14:creationId xmlns:p14="http://schemas.microsoft.com/office/powerpoint/2010/main" val="394855960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614F392A-64C9-4B85-9F86-D12BEE5B490E}" type="slidenum">
              <a:rPr lang="en-US" altLang="en-US" sz="1200"/>
              <a:pPr/>
              <a:t>8</a:t>
            </a:fld>
            <a:endParaRPr lang="en-US" altLang="en-US" sz="1200"/>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What are the parts of the eye labeled in the diagram? </a:t>
            </a:r>
          </a:p>
          <a:p>
            <a:pPr eaLnBrk="1" hangingPunct="1"/>
            <a:r>
              <a:rPr lang="en-US" altLang="en-US">
                <a:latin typeface="Times New Roman" panose="02020603050405020304" pitchFamily="18" charset="0"/>
              </a:rPr>
              <a:t> What are the functions of the different parts of the eye?</a:t>
            </a:r>
          </a:p>
          <a:p>
            <a:pPr eaLnBrk="1" hangingPunct="1"/>
            <a:r>
              <a:rPr lang="en-US" altLang="en-US">
                <a:latin typeface="Times New Roman" panose="02020603050405020304" pitchFamily="18" charset="0"/>
              </a:rPr>
              <a:t> See Vocabulary list in the text for definitions of the parts of the eye and their functions.</a:t>
            </a:r>
          </a:p>
        </p:txBody>
      </p:sp>
    </p:spTree>
    <p:extLst>
      <p:ext uri="{BB962C8B-B14F-4D97-AF65-F5344CB8AC3E}">
        <p14:creationId xmlns:p14="http://schemas.microsoft.com/office/powerpoint/2010/main" val="32130862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6BC00D50-38ED-4199-855A-AFA1D38B6588}" type="slidenum">
              <a:rPr lang="en-US" altLang="en-US" sz="1200"/>
              <a:pPr/>
              <a:t>9</a:t>
            </a:fld>
            <a:endParaRPr lang="en-US" altLang="en-US" sz="1200"/>
          </a:p>
        </p:txBody>
      </p:sp>
      <p:sp>
        <p:nvSpPr>
          <p:cNvPr id="121859" name="Rectangle 2"/>
          <p:cNvSpPr>
            <a:spLocks noGrp="1" noRot="1" noChangeAspect="1" noChangeArrowheads="1" noTextEdit="1"/>
          </p:cNvSpPr>
          <p:nvPr>
            <p:ph type="sldImg"/>
          </p:nvPr>
        </p:nvSpPr>
        <p:spPr>
          <a:solidFill>
            <a:srgbClr val="FFFFFF"/>
          </a:solidFill>
          <a:ln/>
        </p:spPr>
      </p:sp>
      <p:sp>
        <p:nvSpPr>
          <p:cNvPr id="121860" name="Rectangle 3"/>
          <p:cNvSpPr>
            <a:spLocks noGrp="1" noChangeArrowheads="1"/>
          </p:cNvSpPr>
          <p:nvPr>
            <p:ph type="body" idx="1"/>
          </p:nvPr>
        </p:nvSpPr>
        <p:spPr>
          <a:solidFill>
            <a:srgbClr val="FFFFFF"/>
          </a:solidFill>
          <a:ln>
            <a:solidFill>
              <a:srgbClr val="000000"/>
            </a:solidFill>
          </a:ln>
        </p:spPr>
        <p:txBody>
          <a:bodyPr/>
          <a:lstStyle/>
          <a:p>
            <a:pPr eaLnBrk="1" hangingPunct="1"/>
            <a:r>
              <a:rPr lang="en-US" altLang="en-US">
                <a:latin typeface="Times New Roman" panose="02020603050405020304" pitchFamily="18" charset="0"/>
              </a:rPr>
              <a:t> Why are corneal transplants often successful?</a:t>
            </a:r>
          </a:p>
          <a:p>
            <a:pPr eaLnBrk="1" hangingPunct="1"/>
            <a:r>
              <a:rPr lang="en-US" altLang="en-US">
                <a:latin typeface="Times New Roman" panose="02020603050405020304" pitchFamily="18" charset="0"/>
              </a:rPr>
              <a:t> How many cones and rods are in the retina? </a:t>
            </a:r>
            <a:r>
              <a:rPr lang="en-US" altLang="en-US" i="1">
                <a:latin typeface="Times New Roman" panose="02020603050405020304" pitchFamily="18" charset="0"/>
              </a:rPr>
              <a:t>(There are approximately 6.5 million cones and 120 million rods in the retina.)</a:t>
            </a:r>
          </a:p>
          <a:p>
            <a:pPr eaLnBrk="1" hangingPunct="1"/>
            <a:r>
              <a:rPr lang="en-US" altLang="en-US">
                <a:latin typeface="Times New Roman" panose="02020603050405020304" pitchFamily="18" charset="0"/>
              </a:rPr>
              <a:t> There are three types of cones, each stimulated by one of the primary colors of light </a:t>
            </a:r>
            <a:r>
              <a:rPr lang="en-US" altLang="en-US" i="1">
                <a:latin typeface="Times New Roman" panose="02020603050405020304" pitchFamily="18" charset="0"/>
              </a:rPr>
              <a:t>(red, blue, and green).</a:t>
            </a:r>
          </a:p>
          <a:p>
            <a:pPr eaLnBrk="1" hangingPunct="1"/>
            <a:r>
              <a:rPr lang="en-US" altLang="en-US">
                <a:latin typeface="Times New Roman" panose="02020603050405020304" pitchFamily="18" charset="0"/>
              </a:rPr>
              <a:t> Which cones are most affected by color blindness? </a:t>
            </a:r>
            <a:r>
              <a:rPr lang="en-US" altLang="en-US" i="1">
                <a:latin typeface="Times New Roman" panose="02020603050405020304" pitchFamily="18" charset="0"/>
              </a:rPr>
              <a:t>(Either the red or green cones)</a:t>
            </a:r>
          </a:p>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4590335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87BE1738-8591-4D3D-84AF-55A22F45AD2B}" type="slidenum">
              <a:rPr lang="en-US" altLang="en-US" sz="1200"/>
              <a:pPr/>
              <a:t>10</a:t>
            </a:fld>
            <a:endParaRPr lang="en-US" altLang="en-US" sz="1200"/>
          </a:p>
        </p:txBody>
      </p:sp>
      <p:sp>
        <p:nvSpPr>
          <p:cNvPr id="122883" name="Rectangle 2"/>
          <p:cNvSpPr>
            <a:spLocks noGrp="1" noRot="1" noChangeAspect="1" noChangeArrowheads="1" noTextEdit="1"/>
          </p:cNvSpPr>
          <p:nvPr>
            <p:ph type="sldImg"/>
          </p:nvPr>
        </p:nvSpPr>
        <p:spPr>
          <a:ln/>
        </p:spPr>
      </p:sp>
      <p:sp>
        <p:nvSpPr>
          <p:cNvPr id="12288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dirty="0">
                <a:latin typeface="Times New Roman" panose="02020603050405020304" pitchFamily="18" charset="0"/>
              </a:rPr>
              <a:t> Describe how light travels through the eye by following the pathways of the color coordinated tracts and visual fields. </a:t>
            </a:r>
          </a:p>
          <a:p>
            <a:pPr eaLnBrk="1" hangingPunct="1"/>
            <a:r>
              <a:rPr lang="en-US" altLang="en-US" dirty="0">
                <a:latin typeface="Times New Roman" panose="02020603050405020304" pitchFamily="18" charset="0"/>
              </a:rPr>
              <a:t> What might happen if there are lesions in areas along the pathway leading to the right and left cerebral cortices? </a:t>
            </a:r>
          </a:p>
          <a:p>
            <a:pPr eaLnBrk="1" hangingPunct="1"/>
            <a:r>
              <a:rPr lang="en-US" altLang="en-US" dirty="0">
                <a:latin typeface="Times New Roman" panose="02020603050405020304" pitchFamily="18" charset="0"/>
              </a:rPr>
              <a:t> Lesions of the cortical areas of the occipital lobe will likewise cause visual disturbance in the areas of the visual field where the information is normally interpreted by the brain. </a:t>
            </a:r>
          </a:p>
        </p:txBody>
      </p:sp>
    </p:spTree>
    <p:extLst>
      <p:ext uri="{BB962C8B-B14F-4D97-AF65-F5344CB8AC3E}">
        <p14:creationId xmlns:p14="http://schemas.microsoft.com/office/powerpoint/2010/main" val="9526921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FA1C0BEE-9015-4419-A4C7-78A0383365DF}" type="slidenum">
              <a:rPr lang="en-US" altLang="en-US" sz="1200"/>
              <a:pPr/>
              <a:t>11</a:t>
            </a:fld>
            <a:endParaRPr lang="en-US" altLang="en-US" sz="1200"/>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The correct answer is B: vitreous humor.</a:t>
            </a:r>
          </a:p>
        </p:txBody>
      </p:sp>
    </p:spTree>
    <p:extLst>
      <p:ext uri="{BB962C8B-B14F-4D97-AF65-F5344CB8AC3E}">
        <p14:creationId xmlns:p14="http://schemas.microsoft.com/office/powerpoint/2010/main" val="304548856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7490F494-C4AA-4D2C-8981-6927881EAD7C}" type="slidenum">
              <a:rPr lang="en-US" altLang="en-US" sz="1200"/>
              <a:pPr/>
              <a:t>35</a:t>
            </a:fld>
            <a:endParaRPr lang="en-US" altLang="en-US" sz="1200"/>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The correct answer is C: blepharitis.</a:t>
            </a:r>
          </a:p>
        </p:txBody>
      </p:sp>
    </p:spTree>
    <p:extLst>
      <p:ext uri="{BB962C8B-B14F-4D97-AF65-F5344CB8AC3E}">
        <p14:creationId xmlns:p14="http://schemas.microsoft.com/office/powerpoint/2010/main" val="128489422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D2F09945-651B-4C92-8A43-E4EF55D3FC7F}" type="slidenum">
              <a:rPr lang="en-US" altLang="en-US" sz="1200"/>
              <a:pPr/>
              <a:t>36</a:t>
            </a:fld>
            <a:endParaRPr lang="en-US" altLang="en-US" sz="1200"/>
          </a:p>
        </p:txBody>
      </p:sp>
      <p:sp>
        <p:nvSpPr>
          <p:cNvPr id="133123" name="Rectangle 2"/>
          <p:cNvSpPr>
            <a:spLocks noGrp="1" noRot="1" noChangeAspect="1" noChangeArrowheads="1" noTextEdit="1"/>
          </p:cNvSpPr>
          <p:nvPr>
            <p:ph type="sldImg"/>
          </p:nvPr>
        </p:nvSpPr>
        <p:spPr>
          <a:ln/>
        </p:spPr>
      </p:sp>
      <p:sp>
        <p:nvSpPr>
          <p:cNvPr id="13312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Do any of the students have any of these conditions?  What are the causes?</a:t>
            </a:r>
          </a:p>
          <a:p>
            <a:pPr eaLnBrk="1" hangingPunct="1"/>
            <a:r>
              <a:rPr lang="en-US" altLang="en-US">
                <a:latin typeface="Times New Roman" panose="02020603050405020304" pitchFamily="18" charset="0"/>
              </a:rPr>
              <a:t> How are these conditions corrected? </a:t>
            </a:r>
            <a:r>
              <a:rPr lang="en-US" altLang="en-US" i="1">
                <a:latin typeface="Times New Roman" panose="02020603050405020304" pitchFamily="18" charset="0"/>
              </a:rPr>
              <a:t>(The following slide provides images of the errors and the correction.)</a:t>
            </a:r>
          </a:p>
          <a:p>
            <a:pPr eaLnBrk="1" hangingPunct="1"/>
            <a:r>
              <a:rPr lang="en-US" altLang="en-US">
                <a:latin typeface="Times New Roman" panose="02020603050405020304" pitchFamily="18" charset="0"/>
              </a:rPr>
              <a:t> What is lens accommodation?</a:t>
            </a:r>
            <a:r>
              <a:rPr lang="en-US" altLang="en-US" i="1">
                <a:latin typeface="Times New Roman" panose="02020603050405020304" pitchFamily="18" charset="0"/>
              </a:rPr>
              <a:t> (The refractory adjustment resulting when the muscles of the ciliary body produce flattening of the lens [for distant vision] and thickening and rounding [for close vision].)</a:t>
            </a:r>
            <a:endParaRPr lang="en-US" altLang="en-US">
              <a:latin typeface="Times New Roman" panose="02020603050405020304" pitchFamily="18" charset="0"/>
            </a:endParaRPr>
          </a:p>
        </p:txBody>
      </p:sp>
    </p:spTree>
    <p:extLst>
      <p:ext uri="{BB962C8B-B14F-4D97-AF65-F5344CB8AC3E}">
        <p14:creationId xmlns:p14="http://schemas.microsoft.com/office/powerpoint/2010/main" val="259157121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412B56C0-83EB-40D6-A635-315CA58C42B4}" type="slidenum">
              <a:rPr lang="en-US" altLang="en-US" sz="1200"/>
              <a:pPr/>
              <a:t>37</a:t>
            </a:fld>
            <a:endParaRPr lang="en-US" altLang="en-US" sz="1200"/>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The dashed lines indicate the contour and size of the normal eye.</a:t>
            </a:r>
          </a:p>
          <a:p>
            <a:pPr eaLnBrk="1" hangingPunct="1"/>
            <a:r>
              <a:rPr lang="en-US" altLang="en-US">
                <a:latin typeface="Times New Roman" panose="02020603050405020304" pitchFamily="18" charset="0"/>
              </a:rPr>
              <a:t> What error of refraction is associated with presbyopia? </a:t>
            </a:r>
            <a:r>
              <a:rPr lang="en-US" altLang="en-US" i="1">
                <a:latin typeface="Times New Roman" panose="02020603050405020304" pitchFamily="18" charset="0"/>
              </a:rPr>
              <a:t>(An inability to adjust the lens for accommodation to near vision)</a:t>
            </a:r>
          </a:p>
        </p:txBody>
      </p:sp>
    </p:spTree>
    <p:extLst>
      <p:ext uri="{BB962C8B-B14F-4D97-AF65-F5344CB8AC3E}">
        <p14:creationId xmlns:p14="http://schemas.microsoft.com/office/powerpoint/2010/main" val="187534882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6DC92C39-8253-4856-A552-5E57E24FD26C}" type="slidenum">
              <a:rPr lang="en-US" altLang="en-US" sz="1200"/>
              <a:pPr/>
              <a:t>38</a:t>
            </a:fld>
            <a:endParaRPr lang="en-US" altLang="en-US" sz="1200"/>
          </a:p>
        </p:txBody>
      </p:sp>
      <p:sp>
        <p:nvSpPr>
          <p:cNvPr id="135171" name="Rectangle 2"/>
          <p:cNvSpPr>
            <a:spLocks noGrp="1" noRot="1" noChangeAspect="1" noChangeArrowheads="1" noTextEdit="1"/>
          </p:cNvSpPr>
          <p:nvPr>
            <p:ph type="sldImg"/>
          </p:nvPr>
        </p:nvSpPr>
        <p:spPr>
          <a:ln/>
        </p:spPr>
      </p:sp>
      <p:sp>
        <p:nvSpPr>
          <p:cNvPr id="13517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What is the surgical treatment for cataracts? How can vision be corrected in this process?</a:t>
            </a:r>
          </a:p>
          <a:p>
            <a:pPr eaLnBrk="1" hangingPunct="1"/>
            <a:r>
              <a:rPr lang="en-US" altLang="en-US">
                <a:latin typeface="Times New Roman" panose="02020603050405020304" pitchFamily="18" charset="0"/>
              </a:rPr>
              <a:t> Surgical removal of the lens and implantation of an artificial lens behind the iris are treatments for cataracts.</a:t>
            </a:r>
          </a:p>
          <a:p>
            <a:pPr eaLnBrk="1" hangingPunct="1"/>
            <a:r>
              <a:rPr lang="en-US" altLang="en-US">
                <a:latin typeface="Times New Roman" panose="02020603050405020304" pitchFamily="18" charset="0"/>
              </a:rPr>
              <a:t> If surgery isn</a:t>
            </a:r>
            <a:r>
              <a:rPr lang="ja-JP" altLang="en-US">
                <a:latin typeface="Times New Roman" panose="02020603050405020304" pitchFamily="18" charset="0"/>
              </a:rPr>
              <a:t>’</a:t>
            </a:r>
            <a:r>
              <a:rPr lang="en-US" altLang="ja-JP">
                <a:latin typeface="Times New Roman" panose="02020603050405020304" pitchFamily="18" charset="0"/>
              </a:rPr>
              <a:t>t possible, are there other treatments?</a:t>
            </a:r>
          </a:p>
          <a:p>
            <a:pPr eaLnBrk="1" hangingPunct="1"/>
            <a:r>
              <a:rPr lang="en-US" altLang="en-US">
                <a:latin typeface="Times New Roman" panose="02020603050405020304" pitchFamily="18" charset="0"/>
              </a:rPr>
              <a:t> If an intraocular lens cannot be inserted, the patient may wear eyeglasses or contact lenses to help refraction.</a:t>
            </a:r>
          </a:p>
        </p:txBody>
      </p:sp>
    </p:spTree>
    <p:extLst>
      <p:ext uri="{BB962C8B-B14F-4D97-AF65-F5344CB8AC3E}">
        <p14:creationId xmlns:p14="http://schemas.microsoft.com/office/powerpoint/2010/main" val="418992652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3BDE7BA8-48EE-4234-815F-9F3D458C16B4}" type="slidenum">
              <a:rPr lang="en-US" altLang="en-US" sz="1200"/>
              <a:pPr/>
              <a:t>39</a:t>
            </a:fld>
            <a:endParaRPr lang="en-US" altLang="en-US" sz="1200"/>
          </a:p>
        </p:txBody>
      </p:sp>
      <p:sp>
        <p:nvSpPr>
          <p:cNvPr id="136195" name="Rectangle 2"/>
          <p:cNvSpPr>
            <a:spLocks noGrp="1" noRot="1" noChangeAspect="1" noChangeArrowheads="1" noTextEdit="1"/>
          </p:cNvSpPr>
          <p:nvPr>
            <p:ph type="sldImg"/>
          </p:nvPr>
        </p:nvSpPr>
        <p:spPr>
          <a:ln/>
        </p:spPr>
      </p:sp>
      <p:sp>
        <p:nvSpPr>
          <p:cNvPr id="13619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a:spcBef>
                <a:spcPct val="0"/>
              </a:spcBef>
            </a:pPr>
            <a:r>
              <a:rPr lang="en-US" altLang="en-US" dirty="0">
                <a:latin typeface="Times New Roman" panose="02020603050405020304" pitchFamily="18" charset="0"/>
              </a:rPr>
              <a:t> What is the treatment for this condition?</a:t>
            </a:r>
          </a:p>
          <a:p>
            <a:pPr>
              <a:spcBef>
                <a:spcPct val="0"/>
              </a:spcBef>
            </a:pPr>
            <a:r>
              <a:rPr lang="en-US" altLang="en-US" dirty="0">
                <a:latin typeface="Times New Roman" panose="02020603050405020304" pitchFamily="18" charset="0"/>
              </a:rPr>
              <a:t> </a:t>
            </a:r>
            <a:r>
              <a:rPr lang="en-US" altLang="en-US" dirty="0" err="1">
                <a:latin typeface="Times New Roman" panose="02020603050405020304" pitchFamily="18" charset="0"/>
              </a:rPr>
              <a:t>Chalazions</a:t>
            </a:r>
            <a:r>
              <a:rPr lang="en-US" altLang="en-US" dirty="0">
                <a:latin typeface="Times New Roman" panose="02020603050405020304" pitchFamily="18" charset="0"/>
              </a:rPr>
              <a:t> often require incision and drainage.</a:t>
            </a:r>
          </a:p>
          <a:p>
            <a:pPr>
              <a:spcBef>
                <a:spcPct val="0"/>
              </a:spcBef>
            </a:pPr>
            <a:r>
              <a:rPr lang="en-US" altLang="en-US" dirty="0">
                <a:latin typeface="Times New Roman" panose="02020603050405020304" pitchFamily="18" charset="0"/>
              </a:rPr>
              <a:t> Besides </a:t>
            </a:r>
            <a:r>
              <a:rPr lang="en-US" altLang="en-US" dirty="0" err="1">
                <a:latin typeface="Times New Roman" panose="02020603050405020304" pitchFamily="18" charset="0"/>
              </a:rPr>
              <a:t>chalazion</a:t>
            </a:r>
            <a:r>
              <a:rPr lang="en-US" altLang="en-US" dirty="0">
                <a:latin typeface="Times New Roman" panose="02020603050405020304" pitchFamily="18" charset="0"/>
              </a:rPr>
              <a:t>, what are some of the other eyelid abnormalities? </a:t>
            </a:r>
          </a:p>
          <a:p>
            <a:pPr>
              <a:spcBef>
                <a:spcPct val="0"/>
              </a:spcBef>
            </a:pPr>
            <a:endParaRPr lang="en-US" altLang="en-US" dirty="0">
              <a:latin typeface="Times New Roman" panose="02020603050405020304" pitchFamily="18" charset="0"/>
            </a:endParaRPr>
          </a:p>
        </p:txBody>
      </p:sp>
    </p:spTree>
    <p:extLst>
      <p:ext uri="{BB962C8B-B14F-4D97-AF65-F5344CB8AC3E}">
        <p14:creationId xmlns:p14="http://schemas.microsoft.com/office/powerpoint/2010/main" val="407941725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9DB3C93B-A248-4181-87E7-3E14FD98D208}" type="slidenum">
              <a:rPr lang="en-US" altLang="en-US" sz="1200"/>
              <a:pPr/>
              <a:t>40</a:t>
            </a:fld>
            <a:endParaRPr lang="en-US" altLang="en-US" sz="1200"/>
          </a:p>
        </p:txBody>
      </p:sp>
      <p:sp>
        <p:nvSpPr>
          <p:cNvPr id="137219" name="Rectangle 2"/>
          <p:cNvSpPr>
            <a:spLocks noGrp="1" noRot="1" noChangeAspect="1" noChangeArrowheads="1" noTextEdit="1"/>
          </p:cNvSpPr>
          <p:nvPr>
            <p:ph type="sldImg"/>
          </p:nvPr>
        </p:nvSpPr>
        <p:spPr>
          <a:ln/>
        </p:spPr>
      </p:sp>
      <p:sp>
        <p:nvSpPr>
          <p:cNvPr id="13722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What is a treatment for diabetic retinopathy?</a:t>
            </a:r>
          </a:p>
          <a:p>
            <a:pPr eaLnBrk="1" hangingPunct="1"/>
            <a:r>
              <a:rPr lang="en-US" altLang="en-US">
                <a:latin typeface="Times New Roman" panose="02020603050405020304" pitchFamily="18" charset="0"/>
              </a:rPr>
              <a:t> For severe hemorrhaging, laser photocoagulation and vitrectomy are helpful. </a:t>
            </a:r>
          </a:p>
          <a:p>
            <a:pPr eaLnBrk="1" hangingPunct="1"/>
            <a:r>
              <a:rPr lang="en-US" altLang="en-US">
                <a:latin typeface="Times New Roman" panose="02020603050405020304" pitchFamily="18" charset="0"/>
              </a:rPr>
              <a:t> What is neovascularization?</a:t>
            </a:r>
          </a:p>
          <a:p>
            <a:pPr eaLnBrk="1" hangingPunct="1"/>
            <a:r>
              <a:rPr lang="en-US" altLang="en-US">
                <a:latin typeface="Times New Roman" panose="02020603050405020304" pitchFamily="18" charset="0"/>
              </a:rPr>
              <a:t> An Internet search will lead to multiple sites focused on diabetes and vision.</a:t>
            </a:r>
          </a:p>
        </p:txBody>
      </p:sp>
    </p:spTree>
    <p:extLst>
      <p:ext uri="{BB962C8B-B14F-4D97-AF65-F5344CB8AC3E}">
        <p14:creationId xmlns:p14="http://schemas.microsoft.com/office/powerpoint/2010/main" val="425326551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D3815A5C-76DB-433A-A35B-00C72AAF356C}" type="slidenum">
              <a:rPr lang="en-US" altLang="en-US" sz="1200"/>
              <a:pPr/>
              <a:t>41</a:t>
            </a:fld>
            <a:endParaRPr lang="en-US" altLang="en-US" sz="1200"/>
          </a:p>
        </p:txBody>
      </p:sp>
      <p:sp>
        <p:nvSpPr>
          <p:cNvPr id="138243" name="Rectangle 2"/>
          <p:cNvSpPr>
            <a:spLocks noGrp="1" noRot="1" noChangeAspect="1" noChangeArrowheads="1" noTextEdit="1"/>
          </p:cNvSpPr>
          <p:nvPr>
            <p:ph type="sldImg"/>
          </p:nvPr>
        </p:nvSpPr>
        <p:spPr>
          <a:ln/>
        </p:spPr>
      </p:sp>
      <p:sp>
        <p:nvSpPr>
          <p:cNvPr id="13824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Discuss the many forms of glaucoma.</a:t>
            </a:r>
          </a:p>
          <a:p>
            <a:pPr eaLnBrk="1" hangingPunct="1"/>
            <a:r>
              <a:rPr lang="en-US" altLang="en-US">
                <a:latin typeface="Times New Roman" panose="02020603050405020304" pitchFamily="18" charset="0"/>
              </a:rPr>
              <a:t> Do most people have glaucoma in one eye or both eyes? Why? </a:t>
            </a:r>
          </a:p>
          <a:p>
            <a:pPr eaLnBrk="1" hangingPunct="1"/>
            <a:r>
              <a:rPr lang="en-US" altLang="en-US">
                <a:latin typeface="Times New Roman" panose="02020603050405020304" pitchFamily="18" charset="0"/>
              </a:rPr>
              <a:t> If a patient has glaucoma in one eye, what is the likely cause? What is the likely treatment?</a:t>
            </a:r>
          </a:p>
          <a:p>
            <a:pPr eaLnBrk="1" hangingPunct="1"/>
            <a:r>
              <a:rPr lang="en-US" altLang="en-US">
                <a:latin typeface="Times New Roman" panose="02020603050405020304" pitchFamily="18" charset="0"/>
              </a:rPr>
              <a:t> What is tonometry?</a:t>
            </a:r>
          </a:p>
          <a:p>
            <a:pPr eaLnBrk="1" hangingPunct="1"/>
            <a:r>
              <a:rPr lang="en-US" altLang="en-US">
                <a:latin typeface="Times New Roman" panose="02020603050405020304" pitchFamily="18" charset="0"/>
              </a:rPr>
              <a:t> Tonometry measures intraocular pressure to detect glaucoma.</a:t>
            </a:r>
          </a:p>
        </p:txBody>
      </p:sp>
    </p:spTree>
    <p:extLst>
      <p:ext uri="{BB962C8B-B14F-4D97-AF65-F5344CB8AC3E}">
        <p14:creationId xmlns:p14="http://schemas.microsoft.com/office/powerpoint/2010/main" val="100885243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2695441A-EF4C-42E4-9D23-7CFF8CCC4774}" type="slidenum">
              <a:rPr lang="en-US" altLang="en-US" sz="1200"/>
              <a:pPr/>
              <a:t>42</a:t>
            </a:fld>
            <a:endParaRPr lang="en-US" altLang="en-US" sz="1200"/>
          </a:p>
        </p:txBody>
      </p:sp>
      <p:sp>
        <p:nvSpPr>
          <p:cNvPr id="139267" name="Rectangle 2"/>
          <p:cNvSpPr>
            <a:spLocks noGrp="1" noRot="1" noChangeAspect="1" noChangeArrowheads="1" noTextEdit="1"/>
          </p:cNvSpPr>
          <p:nvPr>
            <p:ph type="sldImg"/>
          </p:nvPr>
        </p:nvSpPr>
        <p:spPr>
          <a:ln/>
        </p:spPr>
      </p:sp>
      <p:sp>
        <p:nvSpPr>
          <p:cNvPr id="13926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Discuss the location of the retina and macula. </a:t>
            </a:r>
          </a:p>
          <a:p>
            <a:pPr eaLnBrk="1" hangingPunct="1"/>
            <a:r>
              <a:rPr lang="en-US" altLang="en-US">
                <a:latin typeface="Times New Roman" panose="02020603050405020304" pitchFamily="18" charset="0"/>
              </a:rPr>
              <a:t> Which form of macular degeneration (dry or wet) has a better prognosis and possible treatment? </a:t>
            </a:r>
          </a:p>
          <a:p>
            <a:pPr eaLnBrk="1" hangingPunct="1"/>
            <a:r>
              <a:rPr lang="en-US" altLang="en-US">
                <a:latin typeface="Times New Roman" panose="02020603050405020304" pitchFamily="18" charset="0"/>
              </a:rPr>
              <a:t> Why is it important to treat strabismus in early childhood?</a:t>
            </a:r>
          </a:p>
        </p:txBody>
      </p:sp>
    </p:spTree>
    <p:extLst>
      <p:ext uri="{BB962C8B-B14F-4D97-AF65-F5344CB8AC3E}">
        <p14:creationId xmlns:p14="http://schemas.microsoft.com/office/powerpoint/2010/main" val="77589857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7F3E2C07-5D4B-4BD9-8496-F2D48FA1F605}" type="slidenum">
              <a:rPr lang="en-US" altLang="en-US" sz="1200"/>
              <a:pPr/>
              <a:t>43</a:t>
            </a:fld>
            <a:endParaRPr lang="en-US" altLang="en-US" sz="1200"/>
          </a:p>
        </p:txBody>
      </p:sp>
      <p:sp>
        <p:nvSpPr>
          <p:cNvPr id="140291" name="Rectangle 2"/>
          <p:cNvSpPr>
            <a:spLocks noGrp="1" noRot="1" noChangeAspect="1" noChangeArrowheads="1" noTextEdit="1"/>
          </p:cNvSpPr>
          <p:nvPr>
            <p:ph type="sldImg"/>
          </p:nvPr>
        </p:nvSpPr>
        <p:spPr>
          <a:ln/>
        </p:spPr>
      </p:sp>
      <p:sp>
        <p:nvSpPr>
          <p:cNvPr id="14029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What are the symptoms, causes, and treatments for retinal detachments?</a:t>
            </a:r>
          </a:p>
        </p:txBody>
      </p:sp>
    </p:spTree>
    <p:extLst>
      <p:ext uri="{BB962C8B-B14F-4D97-AF65-F5344CB8AC3E}">
        <p14:creationId xmlns:p14="http://schemas.microsoft.com/office/powerpoint/2010/main" val="296890442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AFDC8CFC-4EB2-4FE6-B301-10DF6911FC45}" type="slidenum">
              <a:rPr lang="en-US" altLang="en-US" sz="1200"/>
              <a:pPr/>
              <a:t>44</a:t>
            </a:fld>
            <a:endParaRPr lang="en-US" altLang="en-US" sz="1200"/>
          </a:p>
        </p:txBody>
      </p:sp>
      <p:sp>
        <p:nvSpPr>
          <p:cNvPr id="141315" name="Rectangle 2"/>
          <p:cNvSpPr>
            <a:spLocks noGrp="1" noRot="1" noChangeAspect="1" noChangeArrowheads="1" noTextEdit="1"/>
          </p:cNvSpPr>
          <p:nvPr>
            <p:ph type="sldImg"/>
          </p:nvPr>
        </p:nvSpPr>
        <p:spPr>
          <a:ln/>
        </p:spPr>
      </p:sp>
      <p:sp>
        <p:nvSpPr>
          <p:cNvPr id="14131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12854828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700513DE-5924-4BCA-BF4A-B9943A70739B}" type="slidenum">
              <a:rPr lang="en-US" altLang="en-US" sz="1200"/>
              <a:pPr/>
              <a:t>45</a:t>
            </a:fld>
            <a:endParaRPr lang="en-US" altLang="en-US" sz="1200"/>
          </a:p>
        </p:txBody>
      </p:sp>
      <p:sp>
        <p:nvSpPr>
          <p:cNvPr id="142339" name="Rectangle 2"/>
          <p:cNvSpPr>
            <a:spLocks noGrp="1" noRot="1" noChangeAspect="1" noChangeArrowheads="1" noTextEdit="1"/>
          </p:cNvSpPr>
          <p:nvPr>
            <p:ph type="sldImg"/>
          </p:nvPr>
        </p:nvSpPr>
        <p:spPr>
          <a:ln/>
        </p:spPr>
      </p:sp>
      <p:sp>
        <p:nvSpPr>
          <p:cNvPr id="14234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Ask students to name conditions that are diagnosed by the tests listed.</a:t>
            </a:r>
          </a:p>
          <a:p>
            <a:pPr eaLnBrk="1" hangingPunct="1"/>
            <a:r>
              <a:rPr lang="en-US" altLang="en-US">
                <a:latin typeface="Times New Roman" panose="02020603050405020304" pitchFamily="18" charset="0"/>
              </a:rPr>
              <a:t> What type of eyedrop dilates the pupil?</a:t>
            </a:r>
            <a:r>
              <a:rPr lang="en-US" altLang="en-US" i="1">
                <a:latin typeface="Times New Roman" panose="02020603050405020304" pitchFamily="18" charset="0"/>
              </a:rPr>
              <a:t> (Mydriatic)</a:t>
            </a:r>
          </a:p>
        </p:txBody>
      </p:sp>
    </p:spTree>
    <p:extLst>
      <p:ext uri="{BB962C8B-B14F-4D97-AF65-F5344CB8AC3E}">
        <p14:creationId xmlns:p14="http://schemas.microsoft.com/office/powerpoint/2010/main" val="362649419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2AC3C3FA-287A-4420-AF7C-9620FFBEE04F}" type="slidenum">
              <a:rPr lang="en-US" altLang="en-US" sz="1200"/>
              <a:pPr/>
              <a:t>46</a:t>
            </a:fld>
            <a:endParaRPr lang="en-US" altLang="en-US" sz="1200"/>
          </a:p>
        </p:txBody>
      </p:sp>
      <p:sp>
        <p:nvSpPr>
          <p:cNvPr id="143363" name="Rectangle 2"/>
          <p:cNvSpPr>
            <a:spLocks noGrp="1" noRot="1" noChangeAspect="1" noChangeArrowheads="1" noTextEdit="1"/>
          </p:cNvSpPr>
          <p:nvPr>
            <p:ph type="sldImg"/>
          </p:nvPr>
        </p:nvSpPr>
        <p:spPr>
          <a:ln/>
        </p:spPr>
      </p:sp>
      <p:sp>
        <p:nvSpPr>
          <p:cNvPr id="14336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How is the Snellen chart used? </a:t>
            </a:r>
          </a:p>
          <a:p>
            <a:pPr eaLnBrk="1" hangingPunct="1"/>
            <a:r>
              <a:rPr lang="en-US" altLang="en-US">
                <a:latin typeface="Times New Roman" panose="02020603050405020304" pitchFamily="18" charset="0"/>
              </a:rPr>
              <a:t> How is the ratio that describes visual acuity interpreted?</a:t>
            </a:r>
          </a:p>
          <a:p>
            <a:pPr eaLnBrk="1" hangingPunct="1"/>
            <a:r>
              <a:rPr lang="en-US" altLang="en-US">
                <a:latin typeface="Times New Roman" panose="02020603050405020304" pitchFamily="18" charset="0"/>
              </a:rPr>
              <a:t> Have students perform the visual acuity test on each other.</a:t>
            </a:r>
          </a:p>
        </p:txBody>
      </p:sp>
    </p:spTree>
    <p:extLst>
      <p:ext uri="{BB962C8B-B14F-4D97-AF65-F5344CB8AC3E}">
        <p14:creationId xmlns:p14="http://schemas.microsoft.com/office/powerpoint/2010/main" val="174184363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8BE5A375-B59C-4911-B733-5B6477791694}" type="slidenum">
              <a:rPr lang="en-US" altLang="en-US" sz="1200"/>
              <a:pPr/>
              <a:t>47</a:t>
            </a:fld>
            <a:endParaRPr lang="en-US" altLang="en-US" sz="1200"/>
          </a:p>
        </p:txBody>
      </p:sp>
      <p:sp>
        <p:nvSpPr>
          <p:cNvPr id="144387" name="Rectangle 2"/>
          <p:cNvSpPr>
            <a:spLocks noGrp="1" noRot="1" noChangeAspect="1" noChangeArrowheads="1" noTextEdit="1"/>
          </p:cNvSpPr>
          <p:nvPr>
            <p:ph type="sldImg"/>
          </p:nvPr>
        </p:nvSpPr>
        <p:spPr>
          <a:ln/>
        </p:spPr>
      </p:sp>
      <p:sp>
        <p:nvSpPr>
          <p:cNvPr id="14438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Have students take the visual field test in class (noted in lesson plan).</a:t>
            </a:r>
          </a:p>
          <a:p>
            <a:pPr eaLnBrk="1" hangingPunct="1"/>
            <a:r>
              <a:rPr lang="en-US" altLang="en-US">
                <a:latin typeface="Times New Roman" panose="02020603050405020304" pitchFamily="18" charset="0"/>
              </a:rPr>
              <a:t> Are students surprised by the results of the test? Why or why not?</a:t>
            </a:r>
          </a:p>
        </p:txBody>
      </p:sp>
    </p:spTree>
    <p:extLst>
      <p:ext uri="{BB962C8B-B14F-4D97-AF65-F5344CB8AC3E}">
        <p14:creationId xmlns:p14="http://schemas.microsoft.com/office/powerpoint/2010/main" val="137205828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11C97DD4-7362-457F-BE99-2238F78367A4}" type="slidenum">
              <a:rPr lang="en-US" altLang="en-US" sz="1200"/>
              <a:pPr/>
              <a:t>48</a:t>
            </a:fld>
            <a:endParaRPr lang="en-US" altLang="en-US" sz="1200"/>
          </a:p>
        </p:txBody>
      </p:sp>
      <p:sp>
        <p:nvSpPr>
          <p:cNvPr id="145411" name="Rectangle 2"/>
          <p:cNvSpPr>
            <a:spLocks noGrp="1" noRot="1" noChangeAspect="1" noChangeArrowheads="1" noTextEdit="1"/>
          </p:cNvSpPr>
          <p:nvPr>
            <p:ph type="sldImg"/>
          </p:nvPr>
        </p:nvSpPr>
        <p:spPr>
          <a:ln/>
        </p:spPr>
      </p:sp>
      <p:sp>
        <p:nvSpPr>
          <p:cNvPr id="14541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LASIK is an acronym for </a:t>
            </a:r>
            <a:r>
              <a:rPr lang="en-US" altLang="en-US" i="1">
                <a:latin typeface="Times New Roman" panose="02020603050405020304" pitchFamily="18" charset="0"/>
              </a:rPr>
              <a:t>laser in situ keratomileusis </a:t>
            </a:r>
            <a:r>
              <a:rPr lang="en-US" altLang="en-US">
                <a:latin typeface="Times New Roman" panose="02020603050405020304" pitchFamily="18" charset="0"/>
              </a:rPr>
              <a:t>(shaping of the cornea).</a:t>
            </a:r>
          </a:p>
          <a:p>
            <a:pPr eaLnBrk="1" hangingPunct="1"/>
            <a:r>
              <a:rPr lang="en-US" altLang="en-US">
                <a:latin typeface="Times New Roman" panose="02020603050405020304" pitchFamily="18" charset="0"/>
              </a:rPr>
              <a:t> Why can</a:t>
            </a:r>
            <a:r>
              <a:rPr lang="ja-JP" altLang="en-US">
                <a:latin typeface="Times New Roman" panose="02020603050405020304" pitchFamily="18" charset="0"/>
              </a:rPr>
              <a:t>’</a:t>
            </a:r>
            <a:r>
              <a:rPr lang="en-US" altLang="ja-JP">
                <a:latin typeface="Times New Roman" panose="02020603050405020304" pitchFamily="18" charset="0"/>
              </a:rPr>
              <a:t>t LASIK correct presbyopia?</a:t>
            </a:r>
            <a:endParaRPr lang="en-US" altLang="en-US" i="1">
              <a:latin typeface="Times New Roman" panose="02020603050405020304" pitchFamily="18" charset="0"/>
            </a:endParaRPr>
          </a:p>
        </p:txBody>
      </p:sp>
    </p:spTree>
    <p:extLst>
      <p:ext uri="{BB962C8B-B14F-4D97-AF65-F5344CB8AC3E}">
        <p14:creationId xmlns:p14="http://schemas.microsoft.com/office/powerpoint/2010/main" val="407528958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5D882829-6F18-4979-8506-13AC343DE736}" type="slidenum">
              <a:rPr lang="en-US" altLang="en-US" sz="1200"/>
              <a:pPr/>
              <a:t>49</a:t>
            </a:fld>
            <a:endParaRPr lang="en-US" altLang="en-US" sz="1200"/>
          </a:p>
        </p:txBody>
      </p:sp>
      <p:sp>
        <p:nvSpPr>
          <p:cNvPr id="146435" name="Rectangle 2"/>
          <p:cNvSpPr>
            <a:spLocks noGrp="1" noRot="1" noChangeAspect="1" noChangeArrowheads="1" noTextEdit="1"/>
          </p:cNvSpPr>
          <p:nvPr>
            <p:ph type="sldImg"/>
          </p:nvPr>
        </p:nvSpPr>
        <p:spPr>
          <a:ln/>
        </p:spPr>
      </p:sp>
      <p:sp>
        <p:nvSpPr>
          <p:cNvPr id="14643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Keratoplasty: Also known as corneal transplant, the patient</a:t>
            </a:r>
            <a:r>
              <a:rPr lang="ja-JP" altLang="en-US">
                <a:latin typeface="Times New Roman" panose="02020603050405020304" pitchFamily="18" charset="0"/>
              </a:rPr>
              <a:t>’</a:t>
            </a:r>
            <a:r>
              <a:rPr lang="en-US" altLang="ja-JP">
                <a:latin typeface="Times New Roman" panose="02020603050405020304" pitchFamily="18" charset="0"/>
              </a:rPr>
              <a:t>s scarred or opaque cornea is replaced with a donor cornea.</a:t>
            </a:r>
          </a:p>
          <a:p>
            <a:pPr eaLnBrk="1" hangingPunct="1"/>
            <a:r>
              <a:rPr lang="en-US" altLang="en-US">
                <a:latin typeface="Times New Roman" panose="02020603050405020304" pitchFamily="18" charset="0"/>
              </a:rPr>
              <a:t> Why does this procedure have such a high success rate compared to other transplants?</a:t>
            </a:r>
          </a:p>
        </p:txBody>
      </p:sp>
    </p:spTree>
    <p:extLst>
      <p:ext uri="{BB962C8B-B14F-4D97-AF65-F5344CB8AC3E}">
        <p14:creationId xmlns:p14="http://schemas.microsoft.com/office/powerpoint/2010/main" val="64810779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D66BD4B3-CA82-4FF0-922E-CFC0EB7DBAAC}" type="slidenum">
              <a:rPr lang="en-US" altLang="en-US" sz="1200"/>
              <a:pPr/>
              <a:t>50</a:t>
            </a:fld>
            <a:endParaRPr lang="en-US" altLang="en-US" sz="1200"/>
          </a:p>
        </p:txBody>
      </p:sp>
      <p:sp>
        <p:nvSpPr>
          <p:cNvPr id="147459" name="Rectangle 2"/>
          <p:cNvSpPr>
            <a:spLocks noGrp="1" noRot="1" noChangeAspect="1" noChangeArrowheads="1" noTextEdit="1"/>
          </p:cNvSpPr>
          <p:nvPr>
            <p:ph type="sldImg"/>
          </p:nvPr>
        </p:nvSpPr>
        <p:spPr>
          <a:ln/>
        </p:spPr>
      </p:sp>
      <p:sp>
        <p:nvSpPr>
          <p:cNvPr id="14746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In this procedure, the band pushes the two parts of the retina against each other to bring together the two layers of the detached retina.</a:t>
            </a:r>
          </a:p>
        </p:txBody>
      </p:sp>
    </p:spTree>
    <p:extLst>
      <p:ext uri="{BB962C8B-B14F-4D97-AF65-F5344CB8AC3E}">
        <p14:creationId xmlns:p14="http://schemas.microsoft.com/office/powerpoint/2010/main" val="302589758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10E29AAC-95BA-4BA1-B8A9-88F0459F69D7}" type="slidenum">
              <a:rPr lang="en-US" altLang="en-US" sz="1200"/>
              <a:pPr/>
              <a:t>51</a:t>
            </a:fld>
            <a:endParaRPr lang="en-US" altLang="en-US" sz="1200"/>
          </a:p>
        </p:txBody>
      </p:sp>
      <p:sp>
        <p:nvSpPr>
          <p:cNvPr id="148483" name="Rectangle 2"/>
          <p:cNvSpPr>
            <a:spLocks noGrp="1" noRot="1" noChangeAspect="1" noChangeArrowheads="1" noTextEdit="1"/>
          </p:cNvSpPr>
          <p:nvPr>
            <p:ph type="sldImg"/>
          </p:nvPr>
        </p:nvSpPr>
        <p:spPr>
          <a:ln/>
        </p:spPr>
      </p:sp>
      <p:sp>
        <p:nvSpPr>
          <p:cNvPr id="14848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What sorts of conditions use these treatments? </a:t>
            </a:r>
          </a:p>
          <a:p>
            <a:pPr eaLnBrk="1" hangingPunct="1"/>
            <a:r>
              <a:rPr lang="en-US" altLang="en-US">
                <a:latin typeface="Times New Roman" panose="02020603050405020304" pitchFamily="18" charset="0"/>
              </a:rPr>
              <a:t> Are they successful in curing both the symptoms and the cause?</a:t>
            </a:r>
          </a:p>
        </p:txBody>
      </p:sp>
    </p:spTree>
    <p:extLst>
      <p:ext uri="{BB962C8B-B14F-4D97-AF65-F5344CB8AC3E}">
        <p14:creationId xmlns:p14="http://schemas.microsoft.com/office/powerpoint/2010/main" val="67388754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8C80491C-44B1-4985-A8DE-8BDC5CA3C2B0}" type="slidenum">
              <a:rPr lang="en-US" altLang="en-US" sz="1200"/>
              <a:pPr/>
              <a:t>54</a:t>
            </a:fld>
            <a:endParaRPr lang="en-US" altLang="en-US" sz="1200"/>
          </a:p>
        </p:txBody>
      </p:sp>
      <p:sp>
        <p:nvSpPr>
          <p:cNvPr id="149507" name="Rectangle 2"/>
          <p:cNvSpPr>
            <a:spLocks noGrp="1" noRot="1" noChangeAspect="1" noChangeArrowheads="1" noTextEdit="1"/>
          </p:cNvSpPr>
          <p:nvPr>
            <p:ph type="sldImg"/>
          </p:nvPr>
        </p:nvSpPr>
        <p:spPr>
          <a:ln/>
        </p:spPr>
      </p:sp>
      <p:sp>
        <p:nvSpPr>
          <p:cNvPr id="14950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151566024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B5E45C4F-7257-4D93-9273-370A24411D1C}" type="slidenum">
              <a:rPr lang="en-US" altLang="en-US" sz="1200"/>
              <a:pPr/>
              <a:t>55</a:t>
            </a:fld>
            <a:endParaRPr lang="en-US" altLang="en-US" sz="1200"/>
          </a:p>
        </p:txBody>
      </p:sp>
      <p:sp>
        <p:nvSpPr>
          <p:cNvPr id="150531" name="Rectangle 4"/>
          <p:cNvSpPr>
            <a:spLocks noGrp="1" noRot="1" noChangeAspect="1" noChangeArrowheads="1" noTextEdit="1"/>
          </p:cNvSpPr>
          <p:nvPr>
            <p:ph type="sldImg"/>
          </p:nvPr>
        </p:nvSpPr>
        <p:spPr>
          <a:ln/>
        </p:spPr>
      </p:sp>
      <p:sp>
        <p:nvSpPr>
          <p:cNvPr id="150532" name="Rectangle 5"/>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Name the three bones in the middle ear that move in response to vibrations of the tympanic membrane? </a:t>
            </a:r>
            <a:r>
              <a:rPr lang="en-US" altLang="en-US" i="1">
                <a:latin typeface="Times New Roman" panose="02020603050405020304" pitchFamily="18" charset="0"/>
              </a:rPr>
              <a:t>(Malleus, incus, stapes)</a:t>
            </a:r>
          </a:p>
          <a:p>
            <a:pPr eaLnBrk="1" hangingPunct="1"/>
            <a:r>
              <a:rPr lang="en-US" altLang="en-US">
                <a:latin typeface="Times New Roman" panose="02020603050405020304" pitchFamily="18" charset="0"/>
              </a:rPr>
              <a:t> What is another name for the inner ear, and why is it referred to by this name? </a:t>
            </a:r>
            <a:r>
              <a:rPr lang="en-US" altLang="en-US" i="1">
                <a:latin typeface="Times New Roman" panose="02020603050405020304" pitchFamily="18" charset="0"/>
              </a:rPr>
              <a:t>(It is called the labyrinth due to its circular, mazelike structure</a:t>
            </a:r>
            <a:r>
              <a:rPr lang="en-US" altLang="en-US">
                <a:latin typeface="Times New Roman" panose="02020603050405020304" pitchFamily="18" charset="0"/>
              </a:rPr>
              <a:t>.</a:t>
            </a:r>
            <a:r>
              <a:rPr lang="en-US" altLang="en-US" i="1">
                <a:latin typeface="Times New Roman" panose="02020603050405020304" pitchFamily="18" charset="0"/>
              </a:rPr>
              <a:t>)</a:t>
            </a:r>
          </a:p>
          <a:p>
            <a:pPr eaLnBrk="1" hangingPunct="1"/>
            <a:r>
              <a:rPr lang="en-US" altLang="en-US">
                <a:latin typeface="Times New Roman" panose="02020603050405020304" pitchFamily="18" charset="0"/>
              </a:rPr>
              <a:t> What is the name of the bony, snail-shaped structure of the inner ear? </a:t>
            </a:r>
            <a:r>
              <a:rPr lang="en-US" altLang="en-US" i="1">
                <a:latin typeface="Times New Roman" panose="02020603050405020304" pitchFamily="18" charset="0"/>
              </a:rPr>
              <a:t>(Cochlea)</a:t>
            </a:r>
          </a:p>
          <a:p>
            <a:pPr eaLnBrk="1" hangingPunct="1"/>
            <a:r>
              <a:rPr lang="en-US" altLang="en-US">
                <a:latin typeface="Times New Roman" panose="02020603050405020304" pitchFamily="18" charset="0"/>
              </a:rPr>
              <a:t> In addition to being the organ for hearing, what other important function is performed by the ear? </a:t>
            </a:r>
            <a:r>
              <a:rPr lang="en-US" altLang="en-US" i="1">
                <a:latin typeface="Times New Roman" panose="02020603050405020304" pitchFamily="18" charset="0"/>
              </a:rPr>
              <a:t>(Equilibrium)</a:t>
            </a:r>
          </a:p>
        </p:txBody>
      </p:sp>
    </p:spTree>
    <p:extLst>
      <p:ext uri="{BB962C8B-B14F-4D97-AF65-F5344CB8AC3E}">
        <p14:creationId xmlns:p14="http://schemas.microsoft.com/office/powerpoint/2010/main" val="35469975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B06C6288-DFCC-4B32-8B8B-31CDB9447216}" type="slidenum">
              <a:rPr lang="en-US" altLang="en-US" sz="1200"/>
              <a:pPr/>
              <a:t>56</a:t>
            </a:fld>
            <a:endParaRPr lang="en-US" altLang="en-US" sz="1200"/>
          </a:p>
        </p:txBody>
      </p:sp>
      <p:sp>
        <p:nvSpPr>
          <p:cNvPr id="151555" name="Rectangle 2"/>
          <p:cNvSpPr>
            <a:spLocks noGrp="1" noRot="1" noChangeAspect="1" noChangeArrowheads="1" noTextEdit="1"/>
          </p:cNvSpPr>
          <p:nvPr>
            <p:ph type="sldImg"/>
          </p:nvPr>
        </p:nvSpPr>
        <p:spPr>
          <a:ln/>
        </p:spPr>
      </p:sp>
      <p:sp>
        <p:nvSpPr>
          <p:cNvPr id="15155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395281458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4F662A41-E6E7-4CE3-9602-854FC485B9E5}" type="slidenum">
              <a:rPr lang="en-US" altLang="en-US" sz="1200"/>
              <a:pPr/>
              <a:t>57</a:t>
            </a:fld>
            <a:endParaRPr lang="en-US" altLang="en-US" sz="1200"/>
          </a:p>
        </p:txBody>
      </p:sp>
      <p:sp>
        <p:nvSpPr>
          <p:cNvPr id="152579" name="Rectangle 2"/>
          <p:cNvSpPr>
            <a:spLocks noGrp="1" noRot="1" noChangeAspect="1" noChangeArrowheads="1" noTextEdit="1"/>
          </p:cNvSpPr>
          <p:nvPr>
            <p:ph type="sldImg"/>
          </p:nvPr>
        </p:nvSpPr>
        <p:spPr>
          <a:ln/>
        </p:spPr>
      </p:sp>
      <p:sp>
        <p:nvSpPr>
          <p:cNvPr id="15258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endParaRPr lang="en-GB" altLang="en-US">
              <a:latin typeface="Times New Roman" panose="02020603050405020304" pitchFamily="18" charset="0"/>
            </a:endParaRPr>
          </a:p>
        </p:txBody>
      </p:sp>
    </p:spTree>
    <p:extLst>
      <p:ext uri="{BB962C8B-B14F-4D97-AF65-F5344CB8AC3E}">
        <p14:creationId xmlns:p14="http://schemas.microsoft.com/office/powerpoint/2010/main" val="1410687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0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21EAEE13-0EC3-46CC-BB7C-FD72D6EE0731}" type="slidenum">
              <a:rPr lang="en-US" altLang="en-US" sz="1200"/>
              <a:pPr/>
              <a:t>58</a:t>
            </a:fld>
            <a:endParaRPr lang="en-US" altLang="en-US" sz="1200"/>
          </a:p>
        </p:txBody>
      </p:sp>
      <p:sp>
        <p:nvSpPr>
          <p:cNvPr id="153603" name="Rectangle 2"/>
          <p:cNvSpPr>
            <a:spLocks noGrp="1" noRot="1" noChangeAspect="1" noChangeArrowheads="1" noTextEdit="1"/>
          </p:cNvSpPr>
          <p:nvPr>
            <p:ph type="sldImg"/>
          </p:nvPr>
        </p:nvSpPr>
        <p:spPr>
          <a:ln/>
        </p:spPr>
      </p:sp>
      <p:sp>
        <p:nvSpPr>
          <p:cNvPr id="15360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The external auditory meatus is lined with numerous cerumen glands that produce a waxy substance that lubricates and protects the ear.</a:t>
            </a:r>
          </a:p>
          <a:p>
            <a:pPr eaLnBrk="1" hangingPunct="1"/>
            <a:r>
              <a:rPr lang="en-US" altLang="en-US">
                <a:latin typeface="Times New Roman" panose="02020603050405020304" pitchFamily="18" charset="0"/>
              </a:rPr>
              <a:t> Which part of the ear is most often pierced?</a:t>
            </a:r>
          </a:p>
          <a:p>
            <a:pPr eaLnBrk="1" hangingPunct="1"/>
            <a:endParaRPr lang="en-US" altLang="en-US">
              <a:latin typeface="Times New Roman" panose="02020603050405020304" pitchFamily="18" charset="0"/>
            </a:endParaRPr>
          </a:p>
        </p:txBody>
      </p:sp>
    </p:spTree>
    <p:extLst>
      <p:ext uri="{BB962C8B-B14F-4D97-AF65-F5344CB8AC3E}">
        <p14:creationId xmlns:p14="http://schemas.microsoft.com/office/powerpoint/2010/main" val="398632486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ED306937-35C1-4488-A0E1-6B793BF8EFE6}" type="slidenum">
              <a:rPr lang="en-US" altLang="en-US" sz="1200"/>
              <a:pPr/>
              <a:t>59</a:t>
            </a:fld>
            <a:endParaRPr lang="en-US" altLang="en-US" sz="1200"/>
          </a:p>
        </p:txBody>
      </p:sp>
      <p:sp>
        <p:nvSpPr>
          <p:cNvPr id="154627" name="Rectangle 2"/>
          <p:cNvSpPr>
            <a:spLocks noGrp="1" noRot="1" noChangeAspect="1" noChangeArrowheads="1" noTextEdit="1"/>
          </p:cNvSpPr>
          <p:nvPr>
            <p:ph type="sldImg"/>
          </p:nvPr>
        </p:nvSpPr>
        <p:spPr>
          <a:ln/>
        </p:spPr>
      </p:sp>
      <p:sp>
        <p:nvSpPr>
          <p:cNvPr id="15462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How do these structures contribute to vibration? </a:t>
            </a:r>
          </a:p>
          <a:p>
            <a:pPr eaLnBrk="1" hangingPunct="1"/>
            <a:r>
              <a:rPr lang="en-US" altLang="en-US">
                <a:latin typeface="Times New Roman" panose="02020603050405020304" pitchFamily="18" charset="0"/>
              </a:rPr>
              <a:t> Why are they susceptible to infection? </a:t>
            </a:r>
          </a:p>
          <a:p>
            <a:pPr eaLnBrk="1" hangingPunct="1"/>
            <a:r>
              <a:rPr lang="en-US" altLang="en-US">
                <a:latin typeface="Times New Roman" panose="02020603050405020304" pitchFamily="18" charset="0"/>
              </a:rPr>
              <a:t> Why do conditions that affect the respiratory system also affect these structures?</a:t>
            </a:r>
          </a:p>
          <a:p>
            <a:pPr eaLnBrk="1" hangingPunct="1"/>
            <a:r>
              <a:rPr lang="en-US" altLang="en-US">
                <a:latin typeface="Times New Roman" panose="02020603050405020304" pitchFamily="18" charset="0"/>
              </a:rPr>
              <a:t> The malleus, incus, and stapes make up the ossicles. </a:t>
            </a:r>
          </a:p>
        </p:txBody>
      </p:sp>
    </p:spTree>
    <p:extLst>
      <p:ext uri="{BB962C8B-B14F-4D97-AF65-F5344CB8AC3E}">
        <p14:creationId xmlns:p14="http://schemas.microsoft.com/office/powerpoint/2010/main" val="91874303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ADBAE527-A4E8-4E08-9633-0B89353E6ACA}" type="slidenum">
              <a:rPr lang="en-US" altLang="en-US" sz="1200"/>
              <a:pPr/>
              <a:t>60</a:t>
            </a:fld>
            <a:endParaRPr lang="en-US" altLang="en-US" sz="1200"/>
          </a:p>
        </p:txBody>
      </p:sp>
      <p:sp>
        <p:nvSpPr>
          <p:cNvPr id="155651" name="Rectangle 2"/>
          <p:cNvSpPr>
            <a:spLocks noGrp="1" noRot="1" noChangeAspect="1" noChangeArrowheads="1" noTextEdit="1"/>
          </p:cNvSpPr>
          <p:nvPr>
            <p:ph type="sldImg"/>
          </p:nvPr>
        </p:nvSpPr>
        <p:spPr>
          <a:ln/>
        </p:spPr>
      </p:sp>
      <p:sp>
        <p:nvSpPr>
          <p:cNvPr id="15565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The oval window separates the middle and inner ear. </a:t>
            </a:r>
          </a:p>
          <a:p>
            <a:pPr eaLnBrk="1" hangingPunct="1"/>
            <a:r>
              <a:rPr lang="en-US" altLang="en-US">
                <a:latin typeface="Times New Roman" panose="02020603050405020304" pitchFamily="18" charset="0"/>
              </a:rPr>
              <a:t> The cochlea contains perilymph and endolymph through which vibrations travel.</a:t>
            </a:r>
          </a:p>
          <a:p>
            <a:pPr eaLnBrk="1" hangingPunct="1"/>
            <a:r>
              <a:rPr lang="en-US" altLang="en-US">
                <a:latin typeface="Times New Roman" panose="02020603050405020304" pitchFamily="18" charset="0"/>
              </a:rPr>
              <a:t> The cochlea also contains the organ of Corti in which tiny hair cells receive vibrations from the auditory liquids and relay the sound waves to the auditory nerve fibers.</a:t>
            </a:r>
          </a:p>
        </p:txBody>
      </p:sp>
    </p:spTree>
    <p:extLst>
      <p:ext uri="{BB962C8B-B14F-4D97-AF65-F5344CB8AC3E}">
        <p14:creationId xmlns:p14="http://schemas.microsoft.com/office/powerpoint/2010/main" val="226837585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8D2FB8D4-6FDC-40EE-8FC3-35A354F15744}" type="slidenum">
              <a:rPr lang="en-US" altLang="en-US" sz="1200"/>
              <a:pPr/>
              <a:t>61</a:t>
            </a:fld>
            <a:endParaRPr lang="en-US" altLang="en-US" sz="1200"/>
          </a:p>
        </p:txBody>
      </p:sp>
      <p:sp>
        <p:nvSpPr>
          <p:cNvPr id="156675" name="Rectangle 2"/>
          <p:cNvSpPr>
            <a:spLocks noGrp="1" noRot="1" noChangeAspect="1" noChangeArrowheads="1" noTextEdit="1"/>
          </p:cNvSpPr>
          <p:nvPr>
            <p:ph type="sldImg"/>
          </p:nvPr>
        </p:nvSpPr>
        <p:spPr>
          <a:ln/>
        </p:spPr>
      </p:sp>
      <p:sp>
        <p:nvSpPr>
          <p:cNvPr id="15667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buClr>
                <a:schemeClr val="tx1"/>
              </a:buClr>
              <a:buFont typeface="Times" panose="02020603050405020304" pitchFamily="18" charset="0"/>
              <a:buChar char="•"/>
            </a:pPr>
            <a:r>
              <a:rPr lang="en-US" altLang="en-US">
                <a:latin typeface="Times New Roman" panose="02020603050405020304" pitchFamily="18" charset="0"/>
              </a:rPr>
              <a:t> The semicircular canals contain the saccule and utricle. </a:t>
            </a:r>
          </a:p>
          <a:p>
            <a:pPr eaLnBrk="1" hangingPunct="1">
              <a:buClr>
                <a:schemeClr val="tx1"/>
              </a:buClr>
              <a:buFont typeface="Times" panose="02020603050405020304" pitchFamily="18" charset="0"/>
              <a:buChar char="•"/>
            </a:pPr>
            <a:r>
              <a:rPr lang="en-US" altLang="en-US">
                <a:latin typeface="Times New Roman" panose="02020603050405020304" pitchFamily="18" charset="0"/>
              </a:rPr>
              <a:t> The canals contain endolymph and hair cells.</a:t>
            </a:r>
          </a:p>
          <a:p>
            <a:pPr eaLnBrk="1" hangingPunct="1">
              <a:buClr>
                <a:schemeClr val="tx1"/>
              </a:buClr>
              <a:buFont typeface="Times" panose="02020603050405020304" pitchFamily="18" charset="0"/>
              <a:buChar char="•"/>
            </a:pPr>
            <a:r>
              <a:rPr lang="en-US" altLang="en-US">
                <a:latin typeface="Times New Roman" panose="02020603050405020304" pitchFamily="18" charset="0"/>
              </a:rPr>
              <a:t> Fluid and hair cells fluctuate in response to movement of the head. This information is transmitted through nerve fibers to the brain.</a:t>
            </a:r>
          </a:p>
          <a:p>
            <a:pPr eaLnBrk="1" hangingPunct="1">
              <a:buClr>
                <a:schemeClr val="tx1"/>
              </a:buClr>
              <a:buFont typeface="Times" panose="02020603050405020304" pitchFamily="18" charset="0"/>
              <a:buChar char="•"/>
            </a:pPr>
            <a:r>
              <a:rPr lang="en-US" altLang="en-US">
                <a:latin typeface="Times New Roman" panose="02020603050405020304" pitchFamily="18" charset="0"/>
              </a:rPr>
              <a:t> The brain sends information to the body</a:t>
            </a:r>
            <a:r>
              <a:rPr lang="ja-JP" altLang="en-US">
                <a:latin typeface="Times New Roman" panose="02020603050405020304" pitchFamily="18" charset="0"/>
              </a:rPr>
              <a:t>’</a:t>
            </a:r>
            <a:r>
              <a:rPr lang="en-US" altLang="ja-JP">
                <a:latin typeface="Times New Roman" panose="02020603050405020304" pitchFamily="18" charset="0"/>
              </a:rPr>
              <a:t>s muscles to maintain equilibrium.</a:t>
            </a:r>
            <a:endParaRPr lang="en-US" altLang="en-US">
              <a:latin typeface="Times New Roman" panose="02020603050405020304" pitchFamily="18" charset="0"/>
            </a:endParaRPr>
          </a:p>
        </p:txBody>
      </p:sp>
    </p:spTree>
    <p:extLst>
      <p:ext uri="{BB962C8B-B14F-4D97-AF65-F5344CB8AC3E}">
        <p14:creationId xmlns:p14="http://schemas.microsoft.com/office/powerpoint/2010/main" val="332690310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170A975E-2978-4B12-8639-CE4039BE34D3}" type="slidenum">
              <a:rPr lang="en-US" altLang="en-US" sz="1200"/>
              <a:pPr/>
              <a:t>76</a:t>
            </a:fld>
            <a:endParaRPr lang="en-US" altLang="en-US" sz="1200"/>
          </a:p>
        </p:txBody>
      </p:sp>
      <p:sp>
        <p:nvSpPr>
          <p:cNvPr id="157699" name="Rectangle 2"/>
          <p:cNvSpPr>
            <a:spLocks noGrp="1" noRot="1" noChangeAspect="1" noChangeArrowheads="1" noTextEdit="1"/>
          </p:cNvSpPr>
          <p:nvPr>
            <p:ph type="sldImg"/>
          </p:nvPr>
        </p:nvSpPr>
        <p:spPr>
          <a:ln/>
        </p:spPr>
      </p:sp>
      <p:sp>
        <p:nvSpPr>
          <p:cNvPr id="15770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The correct answer is D: cochlea.</a:t>
            </a:r>
          </a:p>
        </p:txBody>
      </p:sp>
    </p:spTree>
    <p:extLst>
      <p:ext uri="{BB962C8B-B14F-4D97-AF65-F5344CB8AC3E}">
        <p14:creationId xmlns:p14="http://schemas.microsoft.com/office/powerpoint/2010/main" val="85008719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11F17C53-5177-42E8-A477-912A9B00C42C}" type="slidenum">
              <a:rPr lang="en-US" altLang="en-US" sz="1200"/>
              <a:pPr/>
              <a:t>80</a:t>
            </a:fld>
            <a:endParaRPr lang="en-US" altLang="en-US" sz="1200"/>
          </a:p>
        </p:txBody>
      </p:sp>
      <p:sp>
        <p:nvSpPr>
          <p:cNvPr id="161795" name="Rectangle 2"/>
          <p:cNvSpPr>
            <a:spLocks noGrp="1" noRot="1" noChangeAspect="1" noChangeArrowheads="1" noTextEdit="1"/>
          </p:cNvSpPr>
          <p:nvPr>
            <p:ph type="sldImg"/>
          </p:nvPr>
        </p:nvSpPr>
        <p:spPr>
          <a:ln/>
        </p:spPr>
      </p:sp>
      <p:sp>
        <p:nvSpPr>
          <p:cNvPr id="161796"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Why can surgery for acoustic neuroma lead to deafness and facial paralysis?</a:t>
            </a:r>
          </a:p>
          <a:p>
            <a:pPr eaLnBrk="1" hangingPunct="1"/>
            <a:r>
              <a:rPr lang="en-US" altLang="en-US">
                <a:latin typeface="Times New Roman" panose="02020603050405020304" pitchFamily="18" charset="0"/>
              </a:rPr>
              <a:t> Nerve deafness (sensorineural hearing loss) results from impairment of the cochlea or auditory nerve. </a:t>
            </a:r>
          </a:p>
          <a:p>
            <a:pPr eaLnBrk="1" hangingPunct="1"/>
            <a:r>
              <a:rPr lang="en-US" altLang="en-US">
                <a:latin typeface="Times New Roman" panose="02020603050405020304" pitchFamily="18" charset="0"/>
              </a:rPr>
              <a:t> What constitutes conductive deafness?</a:t>
            </a:r>
            <a:r>
              <a:rPr lang="en-US" altLang="en-US" i="1">
                <a:latin typeface="Times New Roman" panose="02020603050405020304" pitchFamily="18" charset="0"/>
              </a:rPr>
              <a:t> (It results from impairment of the middle ear ossicles and membranes transmitting sound waves into the cochlea</a:t>
            </a:r>
            <a:r>
              <a:rPr lang="en-US" altLang="en-US">
                <a:latin typeface="Times New Roman" panose="02020603050405020304" pitchFamily="18" charset="0"/>
              </a:rPr>
              <a:t>.</a:t>
            </a:r>
            <a:r>
              <a:rPr lang="en-US" altLang="en-US" i="1">
                <a:latin typeface="Times New Roman" panose="02020603050405020304" pitchFamily="18" charset="0"/>
              </a:rPr>
              <a:t>)</a:t>
            </a:r>
          </a:p>
        </p:txBody>
      </p:sp>
    </p:spTree>
    <p:extLst>
      <p:ext uri="{BB962C8B-B14F-4D97-AF65-F5344CB8AC3E}">
        <p14:creationId xmlns:p14="http://schemas.microsoft.com/office/powerpoint/2010/main" val="154391220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ED5129D3-A873-4507-92A8-61DF100DCD73}" type="slidenum">
              <a:rPr lang="en-US" altLang="en-US" sz="1200"/>
              <a:pPr/>
              <a:t>81</a:t>
            </a:fld>
            <a:endParaRPr lang="en-US" altLang="en-US" sz="1200"/>
          </a:p>
        </p:txBody>
      </p:sp>
      <p:sp>
        <p:nvSpPr>
          <p:cNvPr id="162819" name="Rectangle 2"/>
          <p:cNvSpPr>
            <a:spLocks noGrp="1" noRot="1" noChangeAspect="1" noChangeArrowheads="1" noTextEdit="1"/>
          </p:cNvSpPr>
          <p:nvPr>
            <p:ph type="sldImg"/>
          </p:nvPr>
        </p:nvSpPr>
        <p:spPr>
          <a:ln/>
        </p:spPr>
      </p:sp>
      <p:sp>
        <p:nvSpPr>
          <p:cNvPr id="162820"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Why does fixation of the stapes bone cause deafness? What is the current therapy for this condition? </a:t>
            </a:r>
          </a:p>
          <a:p>
            <a:pPr eaLnBrk="1" hangingPunct="1"/>
            <a:r>
              <a:rPr lang="en-US" altLang="en-US">
                <a:latin typeface="Times New Roman" panose="02020603050405020304" pitchFamily="18" charset="0"/>
              </a:rPr>
              <a:t> What is the current therapy for Ménière disease? How effective is the therapy?</a:t>
            </a:r>
          </a:p>
          <a:p>
            <a:pPr eaLnBrk="1" hangingPunct="1"/>
            <a:r>
              <a:rPr lang="en-US" altLang="en-US">
                <a:latin typeface="Times New Roman" panose="02020603050405020304" pitchFamily="18" charset="0"/>
              </a:rPr>
              <a:t> Why do doctors put tubes in the ears? </a:t>
            </a:r>
          </a:p>
          <a:p>
            <a:pPr eaLnBrk="1" hangingPunct="1"/>
            <a:r>
              <a:rPr lang="en-US" altLang="en-US">
                <a:latin typeface="Times New Roman" panose="02020603050405020304" pitchFamily="18" charset="0"/>
              </a:rPr>
              <a:t> What is the proper term for a surgical incision in the tympanic membrane and the insertion of a draining tube device?</a:t>
            </a:r>
          </a:p>
          <a:p>
            <a:pPr eaLnBrk="1" hangingPunct="1"/>
            <a:r>
              <a:rPr lang="en-US" altLang="en-US">
                <a:latin typeface="Times New Roman" panose="02020603050405020304" pitchFamily="18" charset="0"/>
              </a:rPr>
              <a:t> Why does the anatomical structure of the Eustachian tube in children make them more susceptible to otitis media?</a:t>
            </a:r>
          </a:p>
        </p:txBody>
      </p:sp>
    </p:spTree>
    <p:extLst>
      <p:ext uri="{BB962C8B-B14F-4D97-AF65-F5344CB8AC3E}">
        <p14:creationId xmlns:p14="http://schemas.microsoft.com/office/powerpoint/2010/main" val="335907691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2"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D71D533B-FDDC-4E10-BDAA-201A1ACB2597}" type="slidenum">
              <a:rPr lang="en-US" altLang="en-US" sz="1200"/>
              <a:pPr/>
              <a:t>82</a:t>
            </a:fld>
            <a:endParaRPr lang="en-US" altLang="en-US" sz="1200"/>
          </a:p>
        </p:txBody>
      </p:sp>
      <p:sp>
        <p:nvSpPr>
          <p:cNvPr id="163843" name="Rectangle 2"/>
          <p:cNvSpPr>
            <a:spLocks noGrp="1" noRot="1" noChangeAspect="1" noChangeArrowheads="1" noTextEdit="1"/>
          </p:cNvSpPr>
          <p:nvPr>
            <p:ph type="sldImg"/>
          </p:nvPr>
        </p:nvSpPr>
        <p:spPr>
          <a:ln/>
        </p:spPr>
      </p:sp>
      <p:sp>
        <p:nvSpPr>
          <p:cNvPr id="163844"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Ask students to make some quick head movements and ask if any students are experiencing vertigo.</a:t>
            </a:r>
          </a:p>
          <a:p>
            <a:pPr eaLnBrk="1" hangingPunct="1"/>
            <a:r>
              <a:rPr lang="en-US" altLang="en-US">
                <a:latin typeface="Times New Roman" panose="02020603050405020304" pitchFamily="18" charset="0"/>
              </a:rPr>
              <a:t> What sorts of situations induce vertigo (for example, rides at amusement parks, ear infections, elevator rides, and so on)? Does the vertigo described in these situations stem from the wrong message being carried by the vestibular nerve or from movement of the fluids in the semicircular canals?</a:t>
            </a:r>
          </a:p>
        </p:txBody>
      </p:sp>
    </p:spTree>
    <p:extLst>
      <p:ext uri="{BB962C8B-B14F-4D97-AF65-F5344CB8AC3E}">
        <p14:creationId xmlns:p14="http://schemas.microsoft.com/office/powerpoint/2010/main" val="280491051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6"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C1BF28C3-9F71-4B82-BBEC-29829E3198AF}" type="slidenum">
              <a:rPr lang="en-US" altLang="en-US" sz="1200"/>
              <a:pPr/>
              <a:t>83</a:t>
            </a:fld>
            <a:endParaRPr lang="en-US" altLang="en-US" sz="1200"/>
          </a:p>
        </p:txBody>
      </p:sp>
      <p:sp>
        <p:nvSpPr>
          <p:cNvPr id="164867" name="Rectangle 2"/>
          <p:cNvSpPr>
            <a:spLocks noGrp="1" noRot="1" noChangeAspect="1" noChangeArrowheads="1" noTextEdit="1"/>
          </p:cNvSpPr>
          <p:nvPr>
            <p:ph type="sldImg"/>
          </p:nvPr>
        </p:nvSpPr>
        <p:spPr>
          <a:ln/>
        </p:spPr>
      </p:sp>
      <p:sp>
        <p:nvSpPr>
          <p:cNvPr id="164868"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How is audiometry performed? </a:t>
            </a:r>
          </a:p>
          <a:p>
            <a:pPr eaLnBrk="1" hangingPunct="1"/>
            <a:r>
              <a:rPr lang="en-US" altLang="en-US">
                <a:latin typeface="Times New Roman" panose="02020603050405020304" pitchFamily="18" charset="0"/>
              </a:rPr>
              <a:t> With a cochlear implant, a small computer converts sound waves to electronic impulses that stimulate nerve fibers in ears.</a:t>
            </a:r>
          </a:p>
          <a:p>
            <a:pPr eaLnBrk="1" hangingPunct="1"/>
            <a:r>
              <a:rPr lang="en-US" altLang="en-US">
                <a:latin typeface="Times New Roman" panose="02020603050405020304" pitchFamily="18" charset="0"/>
              </a:rPr>
              <a:t> What types of pathologies might require a cochlear implant for treatment?</a:t>
            </a:r>
          </a:p>
        </p:txBody>
      </p:sp>
    </p:spTree>
    <p:extLst>
      <p:ext uri="{BB962C8B-B14F-4D97-AF65-F5344CB8AC3E}">
        <p14:creationId xmlns:p14="http://schemas.microsoft.com/office/powerpoint/2010/main" val="304160383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0" name="Rectangle 7"/>
          <p:cNvSpPr>
            <a:spLocks noGrp="1" noChangeArrowheads="1"/>
          </p:cNvSpPr>
          <p:nvPr>
            <p:ph type="sldNum" sz="quarter" idx="5"/>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a:defRPr sz="4000">
                <a:solidFill>
                  <a:schemeClr val="tx1"/>
                </a:solidFill>
                <a:latin typeface="Times New Roman" panose="02020603050405020304" pitchFamily="18" charset="0"/>
                <a:ea typeface="MS PGothic" panose="020B0600070205080204" pitchFamily="34" charset="-128"/>
              </a:defRPr>
            </a:lvl1pPr>
            <a:lvl2pPr marL="742950" indent="-285750">
              <a:defRPr sz="4000">
                <a:solidFill>
                  <a:schemeClr val="tx1"/>
                </a:solidFill>
                <a:latin typeface="Times New Roman" panose="02020603050405020304" pitchFamily="18" charset="0"/>
                <a:ea typeface="MS PGothic" panose="020B0600070205080204" pitchFamily="34" charset="-128"/>
              </a:defRPr>
            </a:lvl2pPr>
            <a:lvl3pPr marL="1143000" indent="-228600">
              <a:defRPr sz="4000">
                <a:solidFill>
                  <a:schemeClr val="tx1"/>
                </a:solidFill>
                <a:latin typeface="Times New Roman" panose="02020603050405020304" pitchFamily="18" charset="0"/>
                <a:ea typeface="MS PGothic" panose="020B0600070205080204" pitchFamily="34" charset="-128"/>
              </a:defRPr>
            </a:lvl3pPr>
            <a:lvl4pPr marL="1600200" indent="-228600">
              <a:defRPr sz="4000">
                <a:solidFill>
                  <a:schemeClr val="tx1"/>
                </a:solidFill>
                <a:latin typeface="Times New Roman" panose="02020603050405020304" pitchFamily="18" charset="0"/>
                <a:ea typeface="MS PGothic" panose="020B0600070205080204" pitchFamily="34" charset="-128"/>
              </a:defRPr>
            </a:lvl4pPr>
            <a:lvl5pPr marL="2057400" indent="-228600">
              <a:defRPr sz="4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4000">
                <a:solidFill>
                  <a:schemeClr val="tx1"/>
                </a:solidFill>
                <a:latin typeface="Times New Roman" panose="02020603050405020304" pitchFamily="18" charset="0"/>
                <a:ea typeface="MS PGothic" panose="020B0600070205080204" pitchFamily="34" charset="-128"/>
              </a:defRPr>
            </a:lvl9pPr>
          </a:lstStyle>
          <a:p>
            <a:fld id="{D2578D23-A36C-43FD-BF8D-429F1FB4AB42}" type="slidenum">
              <a:rPr lang="en-US" altLang="en-US" sz="1200"/>
              <a:pPr/>
              <a:t>84</a:t>
            </a:fld>
            <a:endParaRPr lang="en-US" altLang="en-US" sz="1200"/>
          </a:p>
        </p:txBody>
      </p:sp>
      <p:sp>
        <p:nvSpPr>
          <p:cNvPr id="165891" name="Rectangle 2"/>
          <p:cNvSpPr>
            <a:spLocks noGrp="1" noRot="1" noChangeAspect="1" noChangeArrowheads="1" noTextEdit="1"/>
          </p:cNvSpPr>
          <p:nvPr>
            <p:ph type="sldImg"/>
          </p:nvPr>
        </p:nvSpPr>
        <p:spPr>
          <a:ln/>
        </p:spPr>
      </p:sp>
      <p:sp>
        <p:nvSpPr>
          <p:cNvPr id="165892" name="Rectangle 3"/>
          <p:cNvSpPr>
            <a:spLocks noGrp="1" noChangeArrowheads="1"/>
          </p:cNvSpPr>
          <p:nvPr>
            <p:ph type="body" idx="1"/>
          </p:nvPr>
        </p:nvSpPr>
        <p:spPr>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p>
            <a:pPr eaLnBrk="1" hangingPunct="1"/>
            <a:r>
              <a:rPr lang="en-US" altLang="en-US">
                <a:latin typeface="Times New Roman" panose="02020603050405020304" pitchFamily="18" charset="0"/>
              </a:rPr>
              <a:t> Obtain tuning forks and ask students to perform the Rinne and Weber tests on each other.</a:t>
            </a:r>
          </a:p>
          <a:p>
            <a:pPr eaLnBrk="1" hangingPunct="1"/>
            <a:r>
              <a:rPr lang="en-US" altLang="en-US">
                <a:latin typeface="Times New Roman" panose="02020603050405020304" pitchFamily="18" charset="0"/>
              </a:rPr>
              <a:t> Obtain ear and oral thermometers. Ask students to compare their temperatures using both methods.</a:t>
            </a:r>
          </a:p>
          <a:p>
            <a:pPr eaLnBrk="1" hangingPunct="1"/>
            <a:r>
              <a:rPr lang="en-US" altLang="en-US">
                <a:latin typeface="Times New Roman" panose="02020603050405020304" pitchFamily="18" charset="0"/>
              </a:rPr>
              <a:t> Is there a difference between the methods? If so, why?</a:t>
            </a:r>
          </a:p>
        </p:txBody>
      </p:sp>
    </p:spTree>
    <p:extLst>
      <p:ext uri="{BB962C8B-B14F-4D97-AF65-F5344CB8AC3E}">
        <p14:creationId xmlns:p14="http://schemas.microsoft.com/office/powerpoint/2010/main" val="24084178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5" name="Text Box 5"/>
          <p:cNvSpPr txBox="1">
            <a:spLocks noChangeArrowheads="1"/>
          </p:cNvSpPr>
          <p:nvPr userDrawn="1"/>
        </p:nvSpPr>
        <p:spPr bwMode="auto">
          <a:xfrm>
            <a:off x="7696200" y="6461125"/>
            <a:ext cx="11430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r" eaLnBrk="1" hangingPunct="1">
              <a:spcBef>
                <a:spcPct val="50000"/>
              </a:spcBef>
            </a:pPr>
            <a:fld id="{4F46A433-53BE-44F2-B0BE-CD4AA7F6F7B2}" type="slidenum">
              <a:rPr lang="en-US" altLang="en-US" sz="1000">
                <a:latin typeface="Arial" panose="020B0604020202020204" pitchFamily="34" charset="0"/>
                <a:cs typeface="Arial" panose="020B0604020202020204" pitchFamily="34" charset="0"/>
              </a:rPr>
              <a:pPr algn="r" eaLnBrk="1" hangingPunct="1">
                <a:spcBef>
                  <a:spcPct val="50000"/>
                </a:spcBef>
              </a:pPr>
              <a:t>‹#›</a:t>
            </a:fld>
            <a:endParaRPr lang="en-US" altLang="en-US" sz="1000">
              <a:latin typeface="Arial" panose="020B0604020202020204" pitchFamily="34" charset="0"/>
              <a:cs typeface="Arial" panose="020B0604020202020204" pitchFamily="34" charset="0"/>
            </a:endParaRPr>
          </a:p>
        </p:txBody>
      </p:sp>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9" name="Date Placeholder 8"/>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10" name="Footer Placeholder 9"/>
          <p:cNvSpPr>
            <a:spLocks noGrp="1"/>
          </p:cNvSpPr>
          <p:nvPr>
            <p:ph type="ftr" sz="quarter" idx="11"/>
          </p:nvPr>
        </p:nvSpPr>
        <p:spPr>
          <a:xfrm>
            <a:off x="3124200" y="5859295"/>
            <a:ext cx="2895600" cy="365125"/>
          </a:xfrm>
          <a:prstGeom prst="rect">
            <a:avLst/>
          </a:prstGeom>
        </p:spPr>
        <p:txBody>
          <a:bodyPr/>
          <a:lstStyle/>
          <a:p>
            <a:pPr>
              <a:defRPr/>
            </a:pPr>
            <a:endParaRPr lang="en-US" dirty="0"/>
          </a:p>
        </p:txBody>
      </p:sp>
      <p:sp>
        <p:nvSpPr>
          <p:cNvPr id="11" name="Slide Number Placeholder 10"/>
          <p:cNvSpPr>
            <a:spLocks noGrp="1"/>
          </p:cNvSpPr>
          <p:nvPr>
            <p:ph type="sldNum" sz="quarter" idx="12"/>
          </p:nvPr>
        </p:nvSpPr>
        <p:spPr/>
        <p:txBody>
          <a:bodyPr/>
          <a:lstStyle/>
          <a:p>
            <a:fld id="{28A3EFAA-5F29-4212-A320-E00D10714EB8}" type="slidenum">
              <a:rPr lang="en-US" altLang="en-US" smtClean="0"/>
              <a:pPr/>
              <a:t>‹#›</a:t>
            </a:fld>
            <a:endParaRPr lang="en-US" altLang="en-US"/>
          </a:p>
        </p:txBody>
      </p:sp>
      <p:sp>
        <p:nvSpPr>
          <p:cNvPr id="4" name="Rectangle 8"/>
          <p:cNvSpPr txBox="1">
            <a:spLocks noGrp="1" noChangeArrowheads="1"/>
          </p:cNvSpPr>
          <p:nvPr userDrawn="1"/>
        </p:nvSpPr>
        <p:spPr bwMode="auto">
          <a:xfrm>
            <a:off x="917575" y="6444916"/>
            <a:ext cx="7769225" cy="381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eaLnBrk="0" hangingPunct="0">
              <a:defRPr sz="2400">
                <a:solidFill>
                  <a:schemeClr val="tx1"/>
                </a:solidFill>
                <a:latin typeface="Times New Roman" pitchFamily="18" charset="0"/>
                <a:ea typeface="MS PGothic" pitchFamily="34" charset="-128"/>
              </a:defRPr>
            </a:lvl1pPr>
            <a:lvl2pPr marL="742950" indent="-285750" eaLnBrk="0" hangingPunct="0">
              <a:defRPr sz="2400">
                <a:solidFill>
                  <a:schemeClr val="tx1"/>
                </a:solidFill>
                <a:latin typeface="Times New Roman" pitchFamily="18" charset="0"/>
                <a:ea typeface="MS PGothic" pitchFamily="34" charset="-128"/>
              </a:defRPr>
            </a:lvl2pPr>
            <a:lvl3pPr marL="1143000" indent="-228600" eaLnBrk="0" hangingPunct="0">
              <a:defRPr sz="2400">
                <a:solidFill>
                  <a:schemeClr val="tx1"/>
                </a:solidFill>
                <a:latin typeface="Times New Roman" pitchFamily="18" charset="0"/>
                <a:ea typeface="MS PGothic" pitchFamily="34" charset="-128"/>
              </a:defRPr>
            </a:lvl3pPr>
            <a:lvl4pPr marL="1600200" indent="-228600" eaLnBrk="0" hangingPunct="0">
              <a:defRPr sz="2400">
                <a:solidFill>
                  <a:schemeClr val="tx1"/>
                </a:solidFill>
                <a:latin typeface="Times New Roman" pitchFamily="18" charset="0"/>
                <a:ea typeface="MS PGothic" pitchFamily="34" charset="-128"/>
              </a:defRPr>
            </a:lvl4pPr>
            <a:lvl5pPr marL="2057400" indent="-228600" eaLnBrk="0" hangingPunct="0">
              <a:defRPr sz="2400">
                <a:solidFill>
                  <a:schemeClr val="tx1"/>
                </a:solidFill>
                <a:latin typeface="Times New Roman" pitchFamily="18" charset="0"/>
                <a:ea typeface="MS PGothic" pitchFamily="34" charset="-128"/>
              </a:defRPr>
            </a:lvl5pPr>
            <a:lvl6pPr marL="2514600" indent="-228600" eaLnBrk="0" fontAlgn="base" hangingPunct="0">
              <a:spcBef>
                <a:spcPct val="0"/>
              </a:spcBef>
              <a:spcAft>
                <a:spcPct val="0"/>
              </a:spcAft>
              <a:defRPr sz="2400">
                <a:solidFill>
                  <a:schemeClr val="tx1"/>
                </a:solidFill>
                <a:latin typeface="Times New Roman" pitchFamily="18" charset="0"/>
                <a:ea typeface="MS PGothic" pitchFamily="34" charset="-128"/>
              </a:defRPr>
            </a:lvl6pPr>
            <a:lvl7pPr marL="2971800" indent="-228600" eaLnBrk="0" fontAlgn="base" hangingPunct="0">
              <a:spcBef>
                <a:spcPct val="0"/>
              </a:spcBef>
              <a:spcAft>
                <a:spcPct val="0"/>
              </a:spcAft>
              <a:defRPr sz="2400">
                <a:solidFill>
                  <a:schemeClr val="tx1"/>
                </a:solidFill>
                <a:latin typeface="Times New Roman" pitchFamily="18" charset="0"/>
                <a:ea typeface="MS PGothic" pitchFamily="34" charset="-128"/>
              </a:defRPr>
            </a:lvl7pPr>
            <a:lvl8pPr marL="3429000" indent="-228600" eaLnBrk="0" fontAlgn="base" hangingPunct="0">
              <a:spcBef>
                <a:spcPct val="0"/>
              </a:spcBef>
              <a:spcAft>
                <a:spcPct val="0"/>
              </a:spcAft>
              <a:defRPr sz="2400">
                <a:solidFill>
                  <a:schemeClr val="tx1"/>
                </a:solidFill>
                <a:latin typeface="Times New Roman" pitchFamily="18" charset="0"/>
                <a:ea typeface="MS PGothic" pitchFamily="34" charset="-128"/>
              </a:defRPr>
            </a:lvl8pPr>
            <a:lvl9pPr marL="3886200" indent="-228600" eaLnBrk="0" fontAlgn="base" hangingPunct="0">
              <a:spcBef>
                <a:spcPct val="0"/>
              </a:spcBef>
              <a:spcAft>
                <a:spcPct val="0"/>
              </a:spcAft>
              <a:defRPr sz="2400">
                <a:solidFill>
                  <a:schemeClr val="tx1"/>
                </a:solidFill>
                <a:latin typeface="Times New Roman" pitchFamily="18" charset="0"/>
                <a:ea typeface="MS PGothic" pitchFamily="34" charset="-128"/>
              </a:defRPr>
            </a:lvl9pPr>
          </a:lstStyle>
          <a:p>
            <a:pPr algn="ctr" eaLnBrk="1" hangingPunct="1">
              <a:defRPr/>
            </a:pPr>
            <a:endParaRPr lang="en-US" dirty="0"/>
          </a:p>
        </p:txBody>
      </p:sp>
    </p:spTree>
    <p:extLst>
      <p:ext uri="{BB962C8B-B14F-4D97-AF65-F5344CB8AC3E}">
        <p14:creationId xmlns:p14="http://schemas.microsoft.com/office/powerpoint/2010/main" val="1569383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s-419"/>
          </a:p>
        </p:txBody>
      </p:sp>
      <p:sp>
        <p:nvSpPr>
          <p:cNvPr id="3" name="Date Placeholder 2"/>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4" name="Footer Placeholder 3"/>
          <p:cNvSpPr>
            <a:spLocks noGrp="1"/>
          </p:cNvSpPr>
          <p:nvPr>
            <p:ph type="ftr" sz="quarter" idx="11"/>
          </p:nvPr>
        </p:nvSpPr>
        <p:spPr>
          <a:xfrm>
            <a:off x="3124200" y="6356350"/>
            <a:ext cx="2895600" cy="365125"/>
          </a:xfrm>
          <a:prstGeom prst="rect">
            <a:avLst/>
          </a:prstGeom>
        </p:spPr>
        <p:txBody>
          <a:bodyPr/>
          <a:lstStyle/>
          <a:p>
            <a:pPr>
              <a:defRPr/>
            </a:pPr>
            <a:endParaRPr lang="en-US" dirty="0"/>
          </a:p>
        </p:txBody>
      </p:sp>
      <p:sp>
        <p:nvSpPr>
          <p:cNvPr id="5" name="Slide Number Placeholder 4"/>
          <p:cNvSpPr>
            <a:spLocks noGrp="1"/>
          </p:cNvSpPr>
          <p:nvPr>
            <p:ph type="sldNum" sz="quarter" idx="12"/>
          </p:nvPr>
        </p:nvSpPr>
        <p:spPr/>
        <p:txBody>
          <a:bodyPr/>
          <a:lstStyle/>
          <a:p>
            <a:fld id="{28A3EFAA-5F29-4212-A320-E00D10714EB8}" type="slidenum">
              <a:rPr lang="en-US" altLang="en-US" smtClean="0"/>
              <a:pPr/>
              <a:t>‹#›</a:t>
            </a:fld>
            <a:endParaRPr lang="en-US" altLang="en-US"/>
          </a:p>
        </p:txBody>
      </p:sp>
    </p:spTree>
    <p:extLst>
      <p:ext uri="{BB962C8B-B14F-4D97-AF65-F5344CB8AC3E}">
        <p14:creationId xmlns:p14="http://schemas.microsoft.com/office/powerpoint/2010/main" val="3486592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3B2D8646-B954-479C-A337-986E442FC1A9}"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67C3B6F8-FB65-40D1-9D78-3B0834AA2902}" type="slidenum">
              <a:rPr lang="en-US" altLang="en-US"/>
              <a:pPr/>
              <a:t>‹#›</a:t>
            </a:fld>
            <a:endParaRPr lang="en-US" altLang="en-US"/>
          </a:p>
        </p:txBody>
      </p:sp>
    </p:spTree>
    <p:extLst>
      <p:ext uri="{BB962C8B-B14F-4D97-AF65-F5344CB8AC3E}">
        <p14:creationId xmlns:p14="http://schemas.microsoft.com/office/powerpoint/2010/main" val="1042552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4026FB1C-0B93-4FFC-AFAC-202B5BB6FD8D}"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8AD0EB3D-4C75-400C-847F-27CED06B6053}" type="slidenum">
              <a:rPr lang="en-US" altLang="en-US"/>
              <a:pPr/>
              <a:t>‹#›</a:t>
            </a:fld>
            <a:endParaRPr lang="en-US" altLang="en-US"/>
          </a:p>
        </p:txBody>
      </p:sp>
    </p:spTree>
    <p:extLst>
      <p:ext uri="{BB962C8B-B14F-4D97-AF65-F5344CB8AC3E}">
        <p14:creationId xmlns:p14="http://schemas.microsoft.com/office/powerpoint/2010/main" val="29846592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9C71BE0B-DC10-4A86-884B-421A21A3786F}" type="datetimeFigureOut">
              <a:rPr lang="en-US"/>
              <a:pPr>
                <a:defRPr/>
              </a:pPr>
              <a:t>12/7/2023</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EA7988B2-9A38-4469-A73A-3A8A3875C86B}" type="slidenum">
              <a:rPr lang="en-US" altLang="en-US"/>
              <a:pPr/>
              <a:t>‹#›</a:t>
            </a:fld>
            <a:endParaRPr lang="en-US" altLang="en-US"/>
          </a:p>
        </p:txBody>
      </p:sp>
    </p:spTree>
    <p:extLst>
      <p:ext uri="{BB962C8B-B14F-4D97-AF65-F5344CB8AC3E}">
        <p14:creationId xmlns:p14="http://schemas.microsoft.com/office/powerpoint/2010/main" val="1484110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43F8196F-BB54-4DF1-9DDF-EB61181FD455}" type="datetimeFigureOut">
              <a:rPr lang="en-US"/>
              <a:pPr>
                <a:defRPr/>
              </a:pPr>
              <a:t>12/7/2023</a:t>
            </a:fld>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fld id="{1069FD97-2CE7-4101-9BDA-A6CDF9D7F198}" type="slidenum">
              <a:rPr lang="en-US" altLang="en-US"/>
              <a:pPr/>
              <a:t>‹#›</a:t>
            </a:fld>
            <a:endParaRPr lang="en-US" altLang="en-US"/>
          </a:p>
        </p:txBody>
      </p:sp>
    </p:spTree>
    <p:extLst>
      <p:ext uri="{BB962C8B-B14F-4D97-AF65-F5344CB8AC3E}">
        <p14:creationId xmlns:p14="http://schemas.microsoft.com/office/powerpoint/2010/main" val="14988138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6" name="Date Placeholder 5"/>
          <p:cNvSpPr>
            <a:spLocks noGrp="1"/>
          </p:cNvSpPr>
          <p:nvPr>
            <p:ph type="dt" sz="half" idx="10"/>
          </p:nvPr>
        </p:nvSpPr>
        <p:spPr/>
        <p:txBody>
          <a:bodyPr/>
          <a:lstStyle/>
          <a:p>
            <a:pPr>
              <a:defRPr/>
            </a:pPr>
            <a:fld id="{401F176B-337D-4B0C-9E0F-CF98E924232A}" type="datetimeFigureOut">
              <a:rPr lang="en-US" smtClean="0"/>
              <a:pPr>
                <a:defRPr/>
              </a:pPr>
              <a:t>12/7/2023</a:t>
            </a:fld>
            <a:endParaRPr lang="en-US"/>
          </a:p>
        </p:txBody>
      </p:sp>
      <p:sp>
        <p:nvSpPr>
          <p:cNvPr id="7" name="Footer Placeholder 6"/>
          <p:cNvSpPr>
            <a:spLocks noGrp="1"/>
          </p:cNvSpPr>
          <p:nvPr>
            <p:ph type="ftr" sz="quarter" idx="11"/>
          </p:nvPr>
        </p:nvSpPr>
        <p:spPr>
          <a:xfrm>
            <a:off x="3124200" y="6356350"/>
            <a:ext cx="2895600" cy="365125"/>
          </a:xfrm>
          <a:prstGeom prst="rect">
            <a:avLst/>
          </a:prstGeom>
        </p:spPr>
        <p:txBody>
          <a:bodyPr/>
          <a:lstStyle/>
          <a:p>
            <a:pPr>
              <a:defRPr/>
            </a:pPr>
            <a:endParaRPr lang="en-US" dirty="0"/>
          </a:p>
        </p:txBody>
      </p:sp>
      <p:sp>
        <p:nvSpPr>
          <p:cNvPr id="8" name="Slide Number Placeholder 7"/>
          <p:cNvSpPr>
            <a:spLocks noGrp="1"/>
          </p:cNvSpPr>
          <p:nvPr>
            <p:ph type="sldNum" sz="quarter" idx="12"/>
          </p:nvPr>
        </p:nvSpPr>
        <p:spPr/>
        <p:txBody>
          <a:bodyPr/>
          <a:lstStyle/>
          <a:p>
            <a:fld id="{28A3EFAA-5F29-4212-A320-E00D10714EB8}" type="slidenum">
              <a:rPr lang="en-US" altLang="en-US" smtClean="0"/>
              <a:pPr/>
              <a:t>‹#›</a:t>
            </a:fld>
            <a:endParaRPr lang="en-US" altLang="en-US"/>
          </a:p>
        </p:txBody>
      </p:sp>
    </p:spTree>
    <p:extLst>
      <p:ext uri="{BB962C8B-B14F-4D97-AF65-F5344CB8AC3E}">
        <p14:creationId xmlns:p14="http://schemas.microsoft.com/office/powerpoint/2010/main" val="15011345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A7EF424A-0666-4F8A-AE0B-042263A2F523}" type="datetimeFigureOut">
              <a:rPr lang="en-US"/>
              <a:pPr>
                <a:defRPr/>
              </a:pPr>
              <a:t>12/7/2023</a:t>
            </a:fld>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sz="1000" baseline="0">
                <a:latin typeface="Arial" pitchFamily="34" charset="0"/>
                <a:cs typeface="Arial" pitchFamily="34" charset="0"/>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fld id="{98923256-9629-4751-9FC7-D9A617797BD9}" type="slidenum">
              <a:rPr lang="en-US" altLang="en-US"/>
              <a:pPr/>
              <a:t>‹#›</a:t>
            </a:fld>
            <a:endParaRPr lang="en-US" altLang="en-US"/>
          </a:p>
        </p:txBody>
      </p:sp>
    </p:spTree>
    <p:extLst>
      <p:ext uri="{BB962C8B-B14F-4D97-AF65-F5344CB8AC3E}">
        <p14:creationId xmlns:p14="http://schemas.microsoft.com/office/powerpoint/2010/main" val="3502221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DFBC957C-8A28-4346-A91E-3181E23B9FCE}" type="datetimeFigureOut">
              <a:rPr lang="en-US"/>
              <a:pPr>
                <a:defRPr/>
              </a:pPr>
              <a:t>12/7/2023</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9223BBEA-FBE4-4D1C-948E-35E3FD648AC7}" type="slidenum">
              <a:rPr lang="en-US" altLang="en-US"/>
              <a:pPr/>
              <a:t>‹#›</a:t>
            </a:fld>
            <a:endParaRPr lang="en-US" altLang="en-US"/>
          </a:p>
        </p:txBody>
      </p:sp>
    </p:spTree>
    <p:extLst>
      <p:ext uri="{BB962C8B-B14F-4D97-AF65-F5344CB8AC3E}">
        <p14:creationId xmlns:p14="http://schemas.microsoft.com/office/powerpoint/2010/main" val="29191257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ABD414B3-CE71-4CAC-BF20-28E9BC6B1BBE}" type="datetimeFigureOut">
              <a:rPr lang="en-US"/>
              <a:pPr>
                <a:defRPr/>
              </a:pPr>
              <a:t>12/7/2023</a:t>
            </a:fld>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fld id="{BB0C2544-6AE1-4FFD-9204-B2754DEAA11A}" type="slidenum">
              <a:rPr lang="en-US" altLang="en-US"/>
              <a:pPr/>
              <a:t>‹#›</a:t>
            </a:fld>
            <a:endParaRPr lang="en-US" altLang="en-US"/>
          </a:p>
        </p:txBody>
      </p:sp>
    </p:spTree>
    <p:extLst>
      <p:ext uri="{BB962C8B-B14F-4D97-AF65-F5344CB8AC3E}">
        <p14:creationId xmlns:p14="http://schemas.microsoft.com/office/powerpoint/2010/main" val="37806670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2A489D59-B1E6-4DCF-8F4C-326D6ED2C2BE}"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7DB8DA79-2483-40AE-83CF-C031752A90C3}" type="slidenum">
              <a:rPr lang="en-US" altLang="en-US"/>
              <a:pPr/>
              <a:t>‹#›</a:t>
            </a:fld>
            <a:endParaRPr lang="en-US" altLang="en-US"/>
          </a:p>
        </p:txBody>
      </p:sp>
    </p:spTree>
    <p:extLst>
      <p:ext uri="{BB962C8B-B14F-4D97-AF65-F5344CB8AC3E}">
        <p14:creationId xmlns:p14="http://schemas.microsoft.com/office/powerpoint/2010/main" val="243053786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4BF2560-A50C-4A12-98A3-C5D77FC1843E}" type="datetimeFigureOut">
              <a:rPr lang="en-US"/>
              <a:pPr>
                <a:defRPr/>
              </a:pPr>
              <a:t>12/7/2023</a:t>
            </a:fld>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fld id="{BE28CD66-7605-4E45-9E45-CFA0ED8972E6}" type="slidenum">
              <a:rPr lang="en-US" altLang="en-US"/>
              <a:pPr/>
              <a:t>‹#›</a:t>
            </a:fld>
            <a:endParaRPr lang="en-US" altLang="en-US"/>
          </a:p>
        </p:txBody>
      </p:sp>
    </p:spTree>
    <p:extLst>
      <p:ext uri="{BB962C8B-B14F-4D97-AF65-F5344CB8AC3E}">
        <p14:creationId xmlns:p14="http://schemas.microsoft.com/office/powerpoint/2010/main" val="16556690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685800" y="228600"/>
            <a:ext cx="7772400" cy="1219200"/>
          </a:xfrm>
        </p:spPr>
        <p:txBody>
          <a:bodyPr/>
          <a:lstStyle/>
          <a:p>
            <a:r>
              <a:rPr lang="en-US"/>
              <a:t>Click to edit Master title style</a:t>
            </a:r>
          </a:p>
        </p:txBody>
      </p:sp>
      <p:sp>
        <p:nvSpPr>
          <p:cNvPr id="3" name="Text Placeholder 2"/>
          <p:cNvSpPr>
            <a:spLocks noGrp="1"/>
          </p:cNvSpPr>
          <p:nvPr>
            <p:ph type="body" sz="half" idx="1"/>
          </p:nvPr>
        </p:nvSpPr>
        <p:spPr>
          <a:xfrm>
            <a:off x="685800" y="1641475"/>
            <a:ext cx="7772400" cy="21510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85800" y="3944938"/>
            <a:ext cx="7772400" cy="2151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6059200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p:cNvSpPr>
            <a:spLocks noGrp="1"/>
          </p:cNvSpPr>
          <p:nvPr>
            <p:ph type="body" idx="1"/>
          </p:nvPr>
        </p:nvSpPr>
        <p:spPr bwMode="auto">
          <a:xfrm>
            <a:off x="457200" y="1600200"/>
            <a:ext cx="8229600" cy="45259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dirty="0"/>
              <a:t>Click to edit Master text styles</a:t>
            </a:r>
          </a:p>
          <a:p>
            <a:pPr lvl="1"/>
            <a:r>
              <a:rPr lang="en-US" altLang="en-US" dirty="0"/>
              <a:t>Second level</a:t>
            </a:r>
          </a:p>
          <a:p>
            <a:pPr lvl="2"/>
            <a:r>
              <a:rPr lang="en-US" altLang="en-US" dirty="0"/>
              <a:t>Third level</a:t>
            </a:r>
          </a:p>
          <a:p>
            <a:pPr lvl="3"/>
            <a:r>
              <a:rPr lang="en-US" altLang="en-US" dirty="0"/>
              <a:t>Fourth level</a:t>
            </a:r>
          </a:p>
          <a:p>
            <a:pPr lvl="4"/>
            <a:r>
              <a:rPr lang="en-US" alt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defRPr>
            </a:lvl1pPr>
          </a:lstStyle>
          <a:p>
            <a:pPr>
              <a:defRPr/>
            </a:pPr>
            <a:fld id="{401F176B-337D-4B0C-9E0F-CF98E924232A}" type="datetimeFigureOut">
              <a:rPr lang="en-US"/>
              <a:pPr>
                <a:defRPr/>
              </a:pPr>
              <a:t>12/7/2023</a:t>
            </a:fld>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28A3EFAA-5F29-4212-A320-E00D10714EB8}" type="slidenum">
              <a:rPr lang="en-US" altLang="en-US"/>
              <a:pPr/>
              <a:t>‹#›</a:t>
            </a:fld>
            <a:endParaRPr lang="en-US" altLang="en-US"/>
          </a:p>
        </p:txBody>
      </p:sp>
      <p:sp>
        <p:nvSpPr>
          <p:cNvPr id="1032" name="Text Box 5"/>
          <p:cNvSpPr txBox="1">
            <a:spLocks noChangeArrowheads="1"/>
          </p:cNvSpPr>
          <p:nvPr userDrawn="1"/>
        </p:nvSpPr>
        <p:spPr bwMode="auto">
          <a:xfrm>
            <a:off x="7696200" y="6461125"/>
            <a:ext cx="1143000" cy="2444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MS PGothic" panose="020B0600070205080204" pitchFamily="34" charset="-128"/>
              </a:defRPr>
            </a:lvl1pPr>
            <a:lvl2pPr marL="742950" indent="-285750">
              <a:defRPr sz="2400">
                <a:solidFill>
                  <a:schemeClr val="tx1"/>
                </a:solidFill>
                <a:latin typeface="Times New Roman" panose="02020603050405020304" pitchFamily="18" charset="0"/>
                <a:ea typeface="MS PGothic" panose="020B0600070205080204" pitchFamily="34" charset="-128"/>
              </a:defRPr>
            </a:lvl2pPr>
            <a:lvl3pPr marL="1143000" indent="-228600">
              <a:defRPr sz="2400">
                <a:solidFill>
                  <a:schemeClr val="tx1"/>
                </a:solidFill>
                <a:latin typeface="Times New Roman" panose="02020603050405020304" pitchFamily="18" charset="0"/>
                <a:ea typeface="MS PGothic" panose="020B0600070205080204" pitchFamily="34" charset="-128"/>
              </a:defRPr>
            </a:lvl3pPr>
            <a:lvl4pPr marL="1600200" indent="-228600">
              <a:defRPr sz="2400">
                <a:solidFill>
                  <a:schemeClr val="tx1"/>
                </a:solidFill>
                <a:latin typeface="Times New Roman" panose="02020603050405020304" pitchFamily="18" charset="0"/>
                <a:ea typeface="MS PGothic" panose="020B0600070205080204" pitchFamily="34" charset="-128"/>
              </a:defRPr>
            </a:lvl4pPr>
            <a:lvl5pPr marL="2057400" indent="-228600">
              <a:defRPr sz="24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MS PGothic" panose="020B0600070205080204" pitchFamily="34" charset="-128"/>
              </a:defRPr>
            </a:lvl9pPr>
          </a:lstStyle>
          <a:p>
            <a:pPr algn="r" eaLnBrk="1" hangingPunct="1">
              <a:spcBef>
                <a:spcPct val="50000"/>
              </a:spcBef>
            </a:pPr>
            <a:fld id="{0FF5DB33-233E-420C-BB96-6F4A112866E6}" type="slidenum">
              <a:rPr lang="en-US" altLang="en-US" sz="1000">
                <a:latin typeface="Arial" panose="020B0604020202020204" pitchFamily="34" charset="0"/>
                <a:cs typeface="Arial" panose="020B0604020202020204" pitchFamily="34" charset="0"/>
              </a:rPr>
              <a:pPr algn="r" eaLnBrk="1" hangingPunct="1">
                <a:spcBef>
                  <a:spcPct val="50000"/>
                </a:spcBef>
              </a:pPr>
              <a:t>‹#›</a:t>
            </a:fld>
            <a:endParaRPr lang="en-US" altLang="en-US" sz="1000">
              <a:latin typeface="Arial" panose="020B0604020202020204" pitchFamily="34" charset="0"/>
              <a:cs typeface="Arial" panose="020B0604020202020204" pitchFamily="34" charset="0"/>
            </a:endParaRPr>
          </a:p>
        </p:txBody>
      </p:sp>
      <p:pic>
        <p:nvPicPr>
          <p:cNvPr id="2" name="Picture 1">
            <a:extLst>
              <a:ext uri="{FF2B5EF4-FFF2-40B4-BE49-F238E27FC236}">
                <a16:creationId xmlns:a16="http://schemas.microsoft.com/office/drawing/2014/main" id="{2EABF4FC-4D12-243D-EDB9-CE2023C3787D}"/>
              </a:ext>
            </a:extLst>
          </p:cNvPr>
          <p:cNvPicPr>
            <a:picLocks noChangeAspect="1"/>
          </p:cNvPicPr>
          <p:nvPr userDrawn="1"/>
        </p:nvPicPr>
        <p:blipFill>
          <a:blip r:embed="rId15"/>
          <a:stretch>
            <a:fillRect/>
          </a:stretch>
        </p:blipFill>
        <p:spPr>
          <a:xfrm>
            <a:off x="3041871" y="6478581"/>
            <a:ext cx="3118010" cy="209561"/>
          </a:xfrm>
          <a:prstGeom prst="rect">
            <a:avLst/>
          </a:prstGeom>
        </p:spPr>
      </p:pic>
    </p:spTree>
  </p:cSld>
  <p:clrMap bg1="lt1" tx1="dk1" bg2="lt2" tx2="dk2" accent1="accent1" accent2="accent2" accent3="accent3" accent4="accent4" accent5="accent5" accent6="accent6" hlink="hlink" folHlink="folHlink"/>
  <p:sldLayoutIdLst>
    <p:sldLayoutId id="2147483948" r:id="rId1"/>
    <p:sldLayoutId id="2147483951" r:id="rId2"/>
    <p:sldLayoutId id="2147483939" r:id="rId3"/>
    <p:sldLayoutId id="2147483940" r:id="rId4"/>
    <p:sldLayoutId id="2147483941" r:id="rId5"/>
    <p:sldLayoutId id="2147483942" r:id="rId6"/>
    <p:sldLayoutId id="2147483943" r:id="rId7"/>
    <p:sldLayoutId id="2147483949" r:id="rId8"/>
    <p:sldLayoutId id="2147483944" r:id="rId9"/>
    <p:sldLayoutId id="2147483945" r:id="rId10"/>
    <p:sldLayoutId id="2147483946" r:id="rId11"/>
    <p:sldLayoutId id="2147483947" r:id="rId12"/>
    <p:sldLayoutId id="2147483952" r:id="rId13"/>
  </p:sldLayoutIdLst>
  <p:hf sldNum="0" hd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22.xml"/><Relationship Id="rId1" Type="http://schemas.openxmlformats.org/officeDocument/2006/relationships/slideLayout" Target="../slideLayouts/slideLayout5.xml"/></Relationships>
</file>

<file path=ppt/slides/_rels/slide4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23.xml"/><Relationship Id="rId1" Type="http://schemas.openxmlformats.org/officeDocument/2006/relationships/slideLayout" Target="../slideLayouts/slideLayout5.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5.xml"/><Relationship Id="rId1" Type="http://schemas.openxmlformats.org/officeDocument/2006/relationships/slideLayout" Target="../slideLayouts/slideLayout5.xml"/></Relationships>
</file>

<file path=ppt/slides/_rels/slide5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6.xml"/><Relationship Id="rId1" Type="http://schemas.openxmlformats.org/officeDocument/2006/relationships/slideLayout" Target="../slideLayouts/slideLayout5.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The Language of Medicine</a:t>
            </a:r>
            <a:br>
              <a:rPr lang="en-US" dirty="0"/>
            </a:br>
            <a:r>
              <a:rPr lang="en-US" dirty="0"/>
              <a:t>13</a:t>
            </a:r>
            <a:r>
              <a:rPr lang="en-US" baseline="30000" dirty="0"/>
              <a:t>th</a:t>
            </a:r>
            <a:r>
              <a:rPr lang="en-US" dirty="0"/>
              <a:t> edition</a:t>
            </a:r>
          </a:p>
        </p:txBody>
      </p:sp>
      <p:sp>
        <p:nvSpPr>
          <p:cNvPr id="3" name="Subtitle 2"/>
          <p:cNvSpPr>
            <a:spLocks noGrp="1"/>
          </p:cNvSpPr>
          <p:nvPr>
            <p:ph type="subTitle" idx="1"/>
          </p:nvPr>
        </p:nvSpPr>
        <p:spPr/>
        <p:txBody>
          <a:bodyPr/>
          <a:lstStyle/>
          <a:p>
            <a:r>
              <a:rPr lang="en-US" dirty="0" err="1">
                <a:solidFill>
                  <a:schemeClr val="tx1"/>
                </a:solidFill>
              </a:rPr>
              <a:t>Davi</a:t>
            </a:r>
            <a:r>
              <a:rPr lang="en-US" dirty="0">
                <a:solidFill>
                  <a:schemeClr val="tx1"/>
                </a:solidFill>
              </a:rPr>
              <a:t>-Ellen </a:t>
            </a:r>
            <a:r>
              <a:rPr lang="en-US" dirty="0" err="1">
                <a:solidFill>
                  <a:schemeClr val="tx1"/>
                </a:solidFill>
              </a:rPr>
              <a:t>Chabner</a:t>
            </a:r>
            <a:endParaRPr lang="en-US" dirty="0">
              <a:solidFill>
                <a:schemeClr val="tx1"/>
              </a:solidFill>
            </a:endParaRPr>
          </a:p>
        </p:txBody>
      </p:sp>
    </p:spTree>
    <p:extLst>
      <p:ext uri="{BB962C8B-B14F-4D97-AF65-F5344CB8AC3E}">
        <p14:creationId xmlns:p14="http://schemas.microsoft.com/office/powerpoint/2010/main" val="14282889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3"/>
          <p:cNvSpPr>
            <a:spLocks noGrp="1" noChangeArrowheads="1"/>
          </p:cNvSpPr>
          <p:nvPr>
            <p:ph type="title"/>
          </p:nvPr>
        </p:nvSpPr>
        <p:spPr>
          <a:xfrm>
            <a:off x="1524000" y="533400"/>
            <a:ext cx="6248400" cy="2133600"/>
          </a:xfrm>
        </p:spPr>
        <p:txBody>
          <a:bodyPr/>
          <a:lstStyle/>
          <a:p>
            <a:pPr eaLnBrk="1" hangingPunct="1"/>
            <a:r>
              <a:rPr lang="en-US" altLang="en-US" sz="4000"/>
              <a:t>Chapter 17</a:t>
            </a:r>
            <a:br>
              <a:rPr lang="en-US" altLang="en-US" sz="4000"/>
            </a:br>
            <a:r>
              <a:rPr lang="en-US" altLang="en-US" sz="4000"/>
              <a:t>Sense Organs: </a:t>
            </a:r>
            <a:br>
              <a:rPr lang="en-US" altLang="en-US" sz="4000"/>
            </a:br>
            <a:r>
              <a:rPr lang="en-US" altLang="en-US" sz="4000"/>
              <a:t>The Eye and Ear</a:t>
            </a:r>
          </a:p>
        </p:txBody>
      </p:sp>
    </p:spTree>
    <p:extLst>
      <p:ext uri="{BB962C8B-B14F-4D97-AF65-F5344CB8AC3E}">
        <p14:creationId xmlns:p14="http://schemas.microsoft.com/office/powerpoint/2010/main" val="115155986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6"/>
          <p:cNvSpPr>
            <a:spLocks noGrp="1" noChangeArrowheads="1"/>
          </p:cNvSpPr>
          <p:nvPr>
            <p:ph type="title"/>
          </p:nvPr>
        </p:nvSpPr>
        <p:spPr/>
        <p:txBody>
          <a:bodyPr/>
          <a:lstStyle/>
          <a:p>
            <a:pPr eaLnBrk="1" hangingPunct="1"/>
            <a:r>
              <a:rPr lang="en-US" altLang="en-US" dirty="0"/>
              <a:t>Chapter Goals (Slide 1 of 2)</a:t>
            </a:r>
          </a:p>
        </p:txBody>
      </p:sp>
      <p:sp>
        <p:nvSpPr>
          <p:cNvPr id="6147" name="Rectangle 7"/>
          <p:cNvSpPr>
            <a:spLocks noGrp="1" noChangeArrowheads="1"/>
          </p:cNvSpPr>
          <p:nvPr>
            <p:ph idx="1"/>
          </p:nvPr>
        </p:nvSpPr>
        <p:spPr/>
        <p:txBody>
          <a:bodyPr/>
          <a:lstStyle/>
          <a:p>
            <a:pPr eaLnBrk="1" hangingPunct="1">
              <a:lnSpc>
                <a:spcPct val="90000"/>
              </a:lnSpc>
            </a:pPr>
            <a:r>
              <a:rPr lang="en-US" altLang="en-US" dirty="0"/>
              <a:t>Identify locations and functions of the major parts of the eye and ear.</a:t>
            </a:r>
          </a:p>
          <a:p>
            <a:pPr eaLnBrk="1" hangingPunct="1">
              <a:lnSpc>
                <a:spcPct val="90000"/>
              </a:lnSpc>
            </a:pPr>
            <a:r>
              <a:rPr lang="en-US" altLang="en-US" dirty="0"/>
              <a:t>Name the combining forms, prefixes, and suffixes most commonly used to describe these organs and their parts.</a:t>
            </a:r>
          </a:p>
          <a:p>
            <a:pPr eaLnBrk="1" hangingPunct="1">
              <a:lnSpc>
                <a:spcPct val="90000"/>
              </a:lnSpc>
            </a:pPr>
            <a:r>
              <a:rPr lang="en-US" altLang="en-US" dirty="0"/>
              <a:t>Describe the abnormal conditions that may affect the eye and ear.</a:t>
            </a:r>
          </a:p>
          <a:p>
            <a:pPr eaLnBrk="1" hangingPunct="1">
              <a:lnSpc>
                <a:spcPct val="90000"/>
              </a:lnSpc>
            </a:pPr>
            <a:endParaRPr lang="en-US" altLang="en-US" dirty="0"/>
          </a:p>
        </p:txBody>
      </p:sp>
    </p:spTree>
    <p:extLst>
      <p:ext uri="{BB962C8B-B14F-4D97-AF65-F5344CB8AC3E}">
        <p14:creationId xmlns:p14="http://schemas.microsoft.com/office/powerpoint/2010/main" val="923302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6"/>
          <p:cNvSpPr>
            <a:spLocks noGrp="1" noChangeArrowheads="1"/>
          </p:cNvSpPr>
          <p:nvPr>
            <p:ph type="title"/>
          </p:nvPr>
        </p:nvSpPr>
        <p:spPr/>
        <p:txBody>
          <a:bodyPr/>
          <a:lstStyle/>
          <a:p>
            <a:pPr eaLnBrk="1" hangingPunct="1"/>
            <a:r>
              <a:rPr lang="en-US" altLang="en-US" dirty="0"/>
              <a:t>Chapter Goals (Slide 2 of 2</a:t>
            </a:r>
            <a:r>
              <a:rPr lang="en-US" altLang="ja-JP" dirty="0"/>
              <a:t>)</a:t>
            </a:r>
            <a:endParaRPr lang="en-US" altLang="en-US" dirty="0"/>
          </a:p>
        </p:txBody>
      </p:sp>
      <p:sp>
        <p:nvSpPr>
          <p:cNvPr id="7171" name="Rectangle 7"/>
          <p:cNvSpPr>
            <a:spLocks noGrp="1" noChangeArrowheads="1"/>
          </p:cNvSpPr>
          <p:nvPr>
            <p:ph idx="1"/>
          </p:nvPr>
        </p:nvSpPr>
        <p:spPr>
          <a:xfrm>
            <a:off x="685800" y="1600200"/>
            <a:ext cx="7848600" cy="3429000"/>
          </a:xfrm>
        </p:spPr>
        <p:txBody>
          <a:bodyPr/>
          <a:lstStyle/>
          <a:p>
            <a:pPr eaLnBrk="1" hangingPunct="1"/>
            <a:r>
              <a:rPr lang="en-US" altLang="en-US"/>
              <a:t>Identify clinical procedures that pertain to ophthalmology and otology.</a:t>
            </a:r>
          </a:p>
          <a:p>
            <a:pPr eaLnBrk="1" hangingPunct="1"/>
            <a:r>
              <a:rPr lang="en-US" altLang="en-US"/>
              <a:t>Apply your new knowledge to understanding medical terms in their proper contexts, such as medical reports and records.</a:t>
            </a:r>
          </a:p>
        </p:txBody>
      </p:sp>
    </p:spTree>
    <p:extLst>
      <p:ext uri="{BB962C8B-B14F-4D97-AF65-F5344CB8AC3E}">
        <p14:creationId xmlns:p14="http://schemas.microsoft.com/office/powerpoint/2010/main" val="2522467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2"/>
          <p:cNvSpPr>
            <a:spLocks noGrp="1" noChangeArrowheads="1"/>
          </p:cNvSpPr>
          <p:nvPr>
            <p:ph type="title"/>
          </p:nvPr>
        </p:nvSpPr>
        <p:spPr/>
        <p:txBody>
          <a:bodyPr rtlCol="0">
            <a:normAutofit fontScale="90000"/>
          </a:bodyPr>
          <a:lstStyle/>
          <a:p>
            <a:pPr eaLnBrk="1" fontAlgn="auto" hangingPunct="1">
              <a:spcAft>
                <a:spcPts val="0"/>
              </a:spcAft>
              <a:defRPr/>
            </a:pPr>
            <a:r>
              <a:rPr lang="en-US" dirty="0"/>
              <a:t>Chapter 17 </a:t>
            </a:r>
            <a:br>
              <a:rPr lang="en-US" dirty="0"/>
            </a:br>
            <a:r>
              <a:rPr lang="en-US" dirty="0"/>
              <a:t>Lesson 17.1</a:t>
            </a:r>
          </a:p>
        </p:txBody>
      </p:sp>
    </p:spTree>
    <p:extLst>
      <p:ext uri="{BB962C8B-B14F-4D97-AF65-F5344CB8AC3E}">
        <p14:creationId xmlns:p14="http://schemas.microsoft.com/office/powerpoint/2010/main" val="23734731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pPr eaLnBrk="1" hangingPunct="1"/>
            <a:r>
              <a:rPr lang="en-US" altLang="en-US"/>
              <a:t>Introduction </a:t>
            </a:r>
          </a:p>
        </p:txBody>
      </p:sp>
      <p:pic>
        <p:nvPicPr>
          <p:cNvPr id="5" name="Picture 9" descr="The general pattern of events that occur when stimuli such as light and sound are received by sense organs such as the eye and the ear. Stimulus is applied to receptor cells in ear and eye, which excite nerve fibers that carry impulses to the brain. These nerve impulses are translated into sound sensations and visual images."/>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023076" y="3124200"/>
            <a:ext cx="7097848" cy="9818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3261307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p:txBody>
          <a:bodyPr/>
          <a:lstStyle/>
          <a:p>
            <a:pPr eaLnBrk="1" hangingPunct="1"/>
            <a:r>
              <a:rPr lang="en-US" altLang="en-US" dirty="0"/>
              <a:t>The Eye (Slide 1 of 3)</a:t>
            </a:r>
          </a:p>
        </p:txBody>
      </p:sp>
      <p:pic>
        <p:nvPicPr>
          <p:cNvPr id="5" name="Picture 10" descr="The basic structure of the eye include the eyelid, iris, pupil, and sclera."/>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714500" y="2591594"/>
            <a:ext cx="5715000" cy="25431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3846800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050"/>
          <p:cNvSpPr>
            <a:spLocks noGrp="1" noChangeArrowheads="1"/>
          </p:cNvSpPr>
          <p:nvPr>
            <p:ph type="title"/>
          </p:nvPr>
        </p:nvSpPr>
        <p:spPr/>
        <p:txBody>
          <a:bodyPr/>
          <a:lstStyle/>
          <a:p>
            <a:pPr eaLnBrk="1" hangingPunct="1"/>
            <a:r>
              <a:rPr lang="en-US" altLang="en-US" dirty="0"/>
              <a:t>The Eye (Slide 2 of 3</a:t>
            </a:r>
            <a:r>
              <a:rPr lang="en-US" altLang="ja-JP" dirty="0"/>
              <a:t>)</a:t>
            </a:r>
            <a:endParaRPr lang="en-US" altLang="en-US" dirty="0"/>
          </a:p>
        </p:txBody>
      </p:sp>
      <p:pic>
        <p:nvPicPr>
          <p:cNvPr id="5" name="Picture 2055" descr="The detailed structure of the eye include the pupil, conjunctiva, cornea, sclera, choroid, iris, ciliary body, lens, anterior chamber, vitreous humor, retina, optic nerve, optic disc, macula, and fovea centralis."/>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175405" y="1600200"/>
            <a:ext cx="6793190"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2648880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3081"/>
          <p:cNvSpPr>
            <a:spLocks noGrp="1" noChangeArrowheads="1"/>
          </p:cNvSpPr>
          <p:nvPr>
            <p:ph type="title"/>
          </p:nvPr>
        </p:nvSpPr>
        <p:spPr/>
        <p:txBody>
          <a:bodyPr/>
          <a:lstStyle/>
          <a:p>
            <a:pPr eaLnBrk="1" hangingPunct="1"/>
            <a:r>
              <a:rPr lang="en-US" altLang="en-US" dirty="0"/>
              <a:t>The Eye (Slide 3 of 3</a:t>
            </a:r>
            <a:r>
              <a:rPr lang="en-US" altLang="ja-JP" dirty="0"/>
              <a:t>)</a:t>
            </a:r>
            <a:endParaRPr lang="en-US" altLang="en-US" dirty="0"/>
          </a:p>
        </p:txBody>
      </p:sp>
      <p:sp>
        <p:nvSpPr>
          <p:cNvPr id="12291" name="Rectangle 3082"/>
          <p:cNvSpPr>
            <a:spLocks noGrp="1" noChangeArrowheads="1"/>
          </p:cNvSpPr>
          <p:nvPr>
            <p:ph sz="half" idx="1"/>
          </p:nvPr>
        </p:nvSpPr>
        <p:spPr>
          <a:xfrm>
            <a:off x="685800" y="1641475"/>
            <a:ext cx="3794125" cy="4454525"/>
          </a:xfrm>
        </p:spPr>
        <p:txBody>
          <a:bodyPr/>
          <a:lstStyle/>
          <a:p>
            <a:pPr eaLnBrk="1" hangingPunct="1"/>
            <a:r>
              <a:rPr lang="en-US" altLang="en-US" dirty="0"/>
              <a:t>Pupil</a:t>
            </a:r>
          </a:p>
          <a:p>
            <a:pPr eaLnBrk="1" hangingPunct="1"/>
            <a:r>
              <a:rPr lang="en-US" altLang="en-US" dirty="0"/>
              <a:t>Conjunctiva</a:t>
            </a:r>
          </a:p>
          <a:p>
            <a:pPr eaLnBrk="1" hangingPunct="1"/>
            <a:r>
              <a:rPr lang="en-US" altLang="en-US" dirty="0"/>
              <a:t>Cornea</a:t>
            </a:r>
          </a:p>
          <a:p>
            <a:pPr eaLnBrk="1" hangingPunct="1"/>
            <a:r>
              <a:rPr lang="en-US" altLang="en-US" dirty="0"/>
              <a:t>Sclera</a:t>
            </a:r>
          </a:p>
          <a:p>
            <a:pPr eaLnBrk="1" hangingPunct="1"/>
            <a:r>
              <a:rPr lang="en-US" altLang="en-US" dirty="0"/>
              <a:t>Choroid</a:t>
            </a:r>
          </a:p>
          <a:p>
            <a:pPr eaLnBrk="1" hangingPunct="1"/>
            <a:r>
              <a:rPr lang="en-US" altLang="en-US" dirty="0"/>
              <a:t>Iris</a:t>
            </a:r>
          </a:p>
          <a:p>
            <a:pPr eaLnBrk="1" hangingPunct="1"/>
            <a:r>
              <a:rPr lang="en-US" altLang="en-US" dirty="0" err="1"/>
              <a:t>Ciliary</a:t>
            </a:r>
            <a:r>
              <a:rPr lang="en-US" altLang="en-US" dirty="0"/>
              <a:t> body</a:t>
            </a:r>
          </a:p>
          <a:p>
            <a:pPr eaLnBrk="1" hangingPunct="1"/>
            <a:r>
              <a:rPr lang="en-US" altLang="en-US" dirty="0"/>
              <a:t>Lens</a:t>
            </a:r>
          </a:p>
          <a:p>
            <a:pPr eaLnBrk="1" hangingPunct="1"/>
            <a:r>
              <a:rPr lang="en-US" altLang="en-US" dirty="0" err="1"/>
              <a:t>Fundus</a:t>
            </a:r>
            <a:endParaRPr lang="en-US" altLang="en-US" dirty="0"/>
          </a:p>
          <a:p>
            <a:pPr eaLnBrk="1" hangingPunct="1"/>
            <a:endParaRPr lang="en-US" altLang="en-US" sz="2400" dirty="0"/>
          </a:p>
        </p:txBody>
      </p:sp>
      <p:sp>
        <p:nvSpPr>
          <p:cNvPr id="12292" name="Rectangle 3083"/>
          <p:cNvSpPr>
            <a:spLocks noGrp="1" noChangeArrowheads="1"/>
          </p:cNvSpPr>
          <p:nvPr>
            <p:ph sz="half" idx="2"/>
          </p:nvPr>
        </p:nvSpPr>
        <p:spPr>
          <a:xfrm>
            <a:off x="4664075" y="1641475"/>
            <a:ext cx="3794125" cy="4454525"/>
          </a:xfrm>
        </p:spPr>
        <p:txBody>
          <a:bodyPr/>
          <a:lstStyle/>
          <a:p>
            <a:pPr eaLnBrk="1" hangingPunct="1">
              <a:lnSpc>
                <a:spcPct val="90000"/>
              </a:lnSpc>
            </a:pPr>
            <a:r>
              <a:rPr lang="en-US" altLang="en-US" dirty="0"/>
              <a:t>Anterior chamber</a:t>
            </a:r>
          </a:p>
          <a:p>
            <a:pPr eaLnBrk="1" hangingPunct="1">
              <a:lnSpc>
                <a:spcPct val="90000"/>
              </a:lnSpc>
            </a:pPr>
            <a:r>
              <a:rPr lang="en-US" altLang="en-US" dirty="0"/>
              <a:t>Aqueous humor</a:t>
            </a:r>
          </a:p>
          <a:p>
            <a:pPr eaLnBrk="1" hangingPunct="1">
              <a:lnSpc>
                <a:spcPct val="90000"/>
              </a:lnSpc>
            </a:pPr>
            <a:r>
              <a:rPr lang="en-US" altLang="en-US" dirty="0"/>
              <a:t>Vitreous chamber</a:t>
            </a:r>
          </a:p>
          <a:p>
            <a:pPr eaLnBrk="1" hangingPunct="1">
              <a:lnSpc>
                <a:spcPct val="90000"/>
              </a:lnSpc>
            </a:pPr>
            <a:r>
              <a:rPr lang="en-US" altLang="en-US" dirty="0"/>
              <a:t>Vitreous humor</a:t>
            </a:r>
          </a:p>
          <a:p>
            <a:pPr eaLnBrk="1" hangingPunct="1">
              <a:lnSpc>
                <a:spcPct val="90000"/>
              </a:lnSpc>
            </a:pPr>
            <a:r>
              <a:rPr lang="en-US" altLang="en-US" dirty="0"/>
              <a:t>Retina</a:t>
            </a:r>
          </a:p>
          <a:p>
            <a:pPr eaLnBrk="1" hangingPunct="1">
              <a:lnSpc>
                <a:spcPct val="90000"/>
              </a:lnSpc>
            </a:pPr>
            <a:r>
              <a:rPr lang="en-US" altLang="en-US" dirty="0"/>
              <a:t>Optic nerve</a:t>
            </a:r>
          </a:p>
          <a:p>
            <a:pPr eaLnBrk="1" hangingPunct="1">
              <a:lnSpc>
                <a:spcPct val="90000"/>
              </a:lnSpc>
            </a:pPr>
            <a:r>
              <a:rPr lang="en-US" altLang="en-US" dirty="0"/>
              <a:t>Optic disc</a:t>
            </a:r>
          </a:p>
          <a:p>
            <a:pPr eaLnBrk="1" hangingPunct="1">
              <a:lnSpc>
                <a:spcPct val="90000"/>
              </a:lnSpc>
            </a:pPr>
            <a:r>
              <a:rPr lang="en-US" altLang="en-US" dirty="0"/>
              <a:t>Macula</a:t>
            </a:r>
          </a:p>
          <a:p>
            <a:pPr eaLnBrk="1" hangingPunct="1">
              <a:lnSpc>
                <a:spcPct val="90000"/>
              </a:lnSpc>
            </a:pPr>
            <a:r>
              <a:rPr lang="en-US" altLang="en-US" dirty="0"/>
              <a:t>Fovea </a:t>
            </a:r>
            <a:r>
              <a:rPr lang="en-US" altLang="en-US" dirty="0" err="1"/>
              <a:t>centralis</a:t>
            </a:r>
            <a:endParaRPr lang="en-US" altLang="en-US" dirty="0"/>
          </a:p>
          <a:p>
            <a:pPr eaLnBrk="1" hangingPunct="1">
              <a:lnSpc>
                <a:spcPct val="90000"/>
              </a:lnSpc>
            </a:pPr>
            <a:endParaRPr lang="en-US" altLang="en-US" sz="2400" dirty="0"/>
          </a:p>
        </p:txBody>
      </p:sp>
    </p:spTree>
    <p:extLst>
      <p:ext uri="{BB962C8B-B14F-4D97-AF65-F5344CB8AC3E}">
        <p14:creationId xmlns:p14="http://schemas.microsoft.com/office/powerpoint/2010/main" val="14789766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altLang="en-US"/>
              <a:t>Visual Pathways from Retina to Cortex</a:t>
            </a:r>
          </a:p>
        </p:txBody>
      </p:sp>
      <p:pic>
        <p:nvPicPr>
          <p:cNvPr id="5" name="Picture 9" descr="Visual pathway from retina to the visual cerebral cortex (occipital lobe of the brain). Objects in the left visual field are “seen” by the right side of the brain, whereas objects in the right visual field are projected into the left visual cerebral cortex."/>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524002" y="1600200"/>
            <a:ext cx="4095996"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6560234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533400" y="228600"/>
            <a:ext cx="7772400" cy="1219200"/>
          </a:xfrm>
        </p:spPr>
        <p:txBody>
          <a:bodyPr/>
          <a:lstStyle/>
          <a:p>
            <a:pPr eaLnBrk="1" hangingPunct="1"/>
            <a:r>
              <a:rPr lang="en-US" altLang="en-US" dirty="0"/>
              <a:t>      QUICK QUIZ (Slide 1 of 3) 	</a:t>
            </a:r>
          </a:p>
        </p:txBody>
      </p:sp>
      <p:sp>
        <p:nvSpPr>
          <p:cNvPr id="14339" name="Rectangle 3"/>
          <p:cNvSpPr>
            <a:spLocks noGrp="1" noChangeArrowheads="1"/>
          </p:cNvSpPr>
          <p:nvPr>
            <p:ph idx="1"/>
          </p:nvPr>
        </p:nvSpPr>
        <p:spPr>
          <a:xfrm>
            <a:off x="685800" y="1600200"/>
            <a:ext cx="8001000" cy="3933825"/>
          </a:xfrm>
        </p:spPr>
        <p:txBody>
          <a:bodyPr>
            <a:spAutoFit/>
          </a:bodyPr>
          <a:lstStyle/>
          <a:p>
            <a:pPr marL="533400" indent="-533400" eaLnBrk="1" hangingPunct="1">
              <a:buFont typeface="Arial" panose="020B0604020202020204" pitchFamily="34" charset="0"/>
              <a:buAutoNum type="arabicPeriod"/>
            </a:pPr>
            <a:r>
              <a:rPr lang="en-US" altLang="en-US" b="1" dirty="0"/>
              <a:t>What is the soft, jellylike material behind the lens in the vitreous chamber that helps maintain the shape of the eyeball?</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Sclera</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Vitreous humor</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Aqueous humor</a:t>
            </a: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Fovea </a:t>
            </a:r>
            <a:r>
              <a:rPr lang="en-US" altLang="en-US" sz="3200" dirty="0" err="1">
                <a:ea typeface="MS PGothic" panose="020B0600070205080204" pitchFamily="34" charset="-128"/>
              </a:rPr>
              <a:t>centralis</a:t>
            </a:r>
            <a:endParaRPr lang="en-US" altLang="en-US" dirty="0">
              <a:ea typeface="MS PGothic" panose="020B0600070205080204" pitchFamily="34" charset="-128"/>
            </a:endParaRPr>
          </a:p>
        </p:txBody>
      </p:sp>
    </p:spTree>
    <p:extLst>
      <p:ext uri="{BB962C8B-B14F-4D97-AF65-F5344CB8AC3E}">
        <p14:creationId xmlns:p14="http://schemas.microsoft.com/office/powerpoint/2010/main" val="3564895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Vocabulary – The Eye (Slide 1 of 16)</a:t>
            </a:r>
          </a:p>
        </p:txBody>
      </p:sp>
      <p:graphicFrame>
        <p:nvGraphicFramePr>
          <p:cNvPr id="8" name="Content Placeholder 7" descr="Group 1 of 8:  This table lists a group of Vocabulary--The Eye listing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4273786225"/>
              </p:ext>
            </p:extLst>
          </p:nvPr>
        </p:nvGraphicFramePr>
        <p:xfrm>
          <a:off x="3238500" y="2209800"/>
          <a:ext cx="2667000" cy="182880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accommodation</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anterior chamber</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aqueous humor</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7158557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Vocabulary – The Eye (Slide 2 of 16)</a:t>
            </a:r>
          </a:p>
        </p:txBody>
      </p:sp>
      <p:graphicFrame>
        <p:nvGraphicFramePr>
          <p:cNvPr id="8" name="Content Placeholder 7" descr="Group 1 of 8.  List of Vocabulary terms--The Eye,  with corresponding meanings or definitions."/>
          <p:cNvGraphicFramePr>
            <a:graphicFrameLocks noGrp="1"/>
          </p:cNvGraphicFramePr>
          <p:nvPr>
            <p:ph idx="1"/>
            <p:extLst>
              <p:ext uri="{D42A27DB-BD31-4B8C-83A1-F6EECF244321}">
                <p14:modId xmlns:p14="http://schemas.microsoft.com/office/powerpoint/2010/main" val="2713322814"/>
              </p:ext>
            </p:extLst>
          </p:nvPr>
        </p:nvGraphicFramePr>
        <p:xfrm>
          <a:off x="457200" y="1600200"/>
          <a:ext cx="8229600" cy="292608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accommodation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Normal adjustment of the eye to focus on objects from far to near</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anterior chamber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The area behind the cornea and in front of the lens and iris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aqueous humor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Fluid produced by the </a:t>
                      </a:r>
                      <a:r>
                        <a:rPr lang="en-US" altLang="en-US" sz="2400" dirty="0" err="1"/>
                        <a:t>ciliary</a:t>
                      </a:r>
                      <a:r>
                        <a:rPr lang="en-US" altLang="en-US" sz="2400" dirty="0"/>
                        <a:t> body and found in anterior chamber</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0878504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Vocabulary – The Eye (Slide 3 of 16)</a:t>
            </a:r>
          </a:p>
        </p:txBody>
      </p:sp>
      <p:graphicFrame>
        <p:nvGraphicFramePr>
          <p:cNvPr id="8" name="Content Placeholder 7" descr="Group 2 of 8:  This table lists a group of Vocabulary--The Eye listing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573127882"/>
              </p:ext>
            </p:extLst>
          </p:nvPr>
        </p:nvGraphicFramePr>
        <p:xfrm>
          <a:off x="3238500" y="2133600"/>
          <a:ext cx="2667000" cy="182880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biconvex</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a:t>choroid</a:t>
                      </a:r>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ciliary</a:t>
                      </a:r>
                      <a:r>
                        <a:rPr lang="en-US" altLang="en-US" sz="2400" dirty="0"/>
                        <a:t> body</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7848861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Vocabulary – The Eye (Slide 4 of 16)</a:t>
            </a:r>
          </a:p>
        </p:txBody>
      </p:sp>
      <p:graphicFrame>
        <p:nvGraphicFramePr>
          <p:cNvPr id="8" name="Content Placeholder 7" descr="Group 2 of 8.  List of Vocabulary terms--The Eye,  with corresponding meanings or definitions."/>
          <p:cNvGraphicFramePr>
            <a:graphicFrameLocks noGrp="1"/>
          </p:cNvGraphicFramePr>
          <p:nvPr>
            <p:ph idx="1"/>
            <p:extLst>
              <p:ext uri="{D42A27DB-BD31-4B8C-83A1-F6EECF244321}">
                <p14:modId xmlns:p14="http://schemas.microsoft.com/office/powerpoint/2010/main" val="1444061763"/>
              </p:ext>
            </p:extLst>
          </p:nvPr>
        </p:nvGraphicFramePr>
        <p:xfrm>
          <a:off x="457200" y="1600200"/>
          <a:ext cx="8229600" cy="365760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biconvex</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Consisting of two surfaces that are rounded, elevated, and curved evenly; lens of the eye is biconvex</a:t>
                      </a:r>
                    </a:p>
                  </a:txBody>
                  <a:tcPr/>
                </a:tc>
                <a:extLst>
                  <a:ext uri="{0D108BD9-81ED-4DB2-BD59-A6C34878D82A}">
                    <a16:rowId xmlns:a16="http://schemas.microsoft.com/office/drawing/2014/main" val="10001"/>
                  </a:ext>
                </a:extLst>
              </a:tr>
              <a:tr h="370840">
                <a:tc>
                  <a:txBody>
                    <a:bodyPr/>
                    <a:lstStyle/>
                    <a:p>
                      <a:r>
                        <a:rPr lang="en-US" altLang="en-US" sz="2400" dirty="0"/>
                        <a:t>choroid</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Middle, vascular layer of the eye, between the retina and the sclera</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ciliary</a:t>
                      </a:r>
                      <a:r>
                        <a:rPr lang="en-US" altLang="en-US" sz="2400" dirty="0"/>
                        <a:t> body</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Structure surrounding the lens that connects the choroid and iris; controls shape of lens and secretes aqueous humor</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479246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Vocabulary – The Eye (Slide 5 of 16)</a:t>
            </a:r>
          </a:p>
        </p:txBody>
      </p:sp>
      <p:graphicFrame>
        <p:nvGraphicFramePr>
          <p:cNvPr id="8" name="Content Placeholder 7" descr="Group 3 of 8:  This table lists a group of Vocabulary--The Eye listing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031195059"/>
              </p:ext>
            </p:extLst>
          </p:nvPr>
        </p:nvGraphicFramePr>
        <p:xfrm>
          <a:off x="3238500" y="2286000"/>
          <a:ext cx="2667000" cy="182880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sz="2400" dirty="0">
                          <a:ea typeface="ＭＳ Ｐゴシック" charset="0"/>
                        </a:rPr>
                        <a:t>cone</a:t>
                      </a:r>
                      <a:endParaRPr lang="en-US" sz="2400" dirty="0"/>
                    </a:p>
                  </a:txBody>
                  <a:tcPr/>
                </a:tc>
                <a:extLst>
                  <a:ext uri="{0D108BD9-81ED-4DB2-BD59-A6C34878D82A}">
                    <a16:rowId xmlns:a16="http://schemas.microsoft.com/office/drawing/2014/main" val="10001"/>
                  </a:ext>
                </a:extLst>
              </a:tr>
              <a:tr h="370840">
                <a:tc>
                  <a:txBody>
                    <a:bodyPr/>
                    <a:lstStyle/>
                    <a:p>
                      <a:r>
                        <a:rPr lang="en-US" sz="2400" dirty="0">
                          <a:ea typeface="ＭＳ Ｐゴシック" charset="0"/>
                        </a:rPr>
                        <a:t>conjunctiva</a:t>
                      </a:r>
                      <a:endParaRPr lang="en-US" sz="2400" dirty="0"/>
                    </a:p>
                  </a:txBody>
                  <a:tcPr/>
                </a:tc>
                <a:extLst>
                  <a:ext uri="{0D108BD9-81ED-4DB2-BD59-A6C34878D82A}">
                    <a16:rowId xmlns:a16="http://schemas.microsoft.com/office/drawing/2014/main" val="10002"/>
                  </a:ext>
                </a:extLst>
              </a:tr>
              <a:tr h="370840">
                <a:tc>
                  <a:txBody>
                    <a:bodyPr/>
                    <a:lstStyle/>
                    <a:p>
                      <a:r>
                        <a:rPr lang="en-US" sz="2400" dirty="0">
                          <a:ea typeface="ＭＳ Ｐゴシック" charset="0"/>
                        </a:rPr>
                        <a:t>cornea</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258137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Vocabulary – The Eye (Slide 6 of 16)</a:t>
            </a:r>
          </a:p>
        </p:txBody>
      </p:sp>
      <p:graphicFrame>
        <p:nvGraphicFramePr>
          <p:cNvPr id="8" name="Content Placeholder 7" descr="Group 3 of 8.  List of Vocabulary terms--The Eye,  with corresponding meanings or definitions."/>
          <p:cNvGraphicFramePr>
            <a:graphicFrameLocks noGrp="1"/>
          </p:cNvGraphicFramePr>
          <p:nvPr>
            <p:ph idx="1"/>
            <p:extLst>
              <p:ext uri="{D42A27DB-BD31-4B8C-83A1-F6EECF244321}">
                <p14:modId xmlns:p14="http://schemas.microsoft.com/office/powerpoint/2010/main" val="3556060895"/>
              </p:ext>
            </p:extLst>
          </p:nvPr>
        </p:nvGraphicFramePr>
        <p:xfrm>
          <a:off x="457200" y="1600200"/>
          <a:ext cx="8229600" cy="438912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sz="2400" dirty="0">
                          <a:ea typeface="ＭＳ Ｐゴシック" charset="0"/>
                        </a:rPr>
                        <a:t>cone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Photoreceptor cell in the retina that transforms light energy into a nerve impulse; responsible for color and central vision</a:t>
                      </a:r>
                    </a:p>
                  </a:txBody>
                  <a:tcPr/>
                </a:tc>
                <a:extLst>
                  <a:ext uri="{0D108BD9-81ED-4DB2-BD59-A6C34878D82A}">
                    <a16:rowId xmlns:a16="http://schemas.microsoft.com/office/drawing/2014/main" val="10001"/>
                  </a:ext>
                </a:extLst>
              </a:tr>
              <a:tr h="370840">
                <a:tc>
                  <a:txBody>
                    <a:bodyPr/>
                    <a:lstStyle/>
                    <a:p>
                      <a:r>
                        <a:rPr lang="en-US" sz="2400" dirty="0">
                          <a:ea typeface="ＭＳ Ｐゴシック" charset="0"/>
                        </a:rPr>
                        <a:t>conjunctiva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Delicate membrane that lines the undersurface of eyelids and covers anterior eyeball</a:t>
                      </a:r>
                    </a:p>
                  </a:txBody>
                  <a:tcPr/>
                </a:tc>
                <a:extLst>
                  <a:ext uri="{0D108BD9-81ED-4DB2-BD59-A6C34878D82A}">
                    <a16:rowId xmlns:a16="http://schemas.microsoft.com/office/drawing/2014/main" val="10002"/>
                  </a:ext>
                </a:extLst>
              </a:tr>
              <a:tr h="370840">
                <a:tc>
                  <a:txBody>
                    <a:bodyPr/>
                    <a:lstStyle/>
                    <a:p>
                      <a:r>
                        <a:rPr lang="en-US" sz="2400" dirty="0">
                          <a:ea typeface="ＭＳ Ｐゴシック" charset="0"/>
                        </a:rPr>
                        <a:t>cornea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Fibrous transparent layer of clear tissue that extends over the anterior portion of eyeball</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9915031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Vocabulary – The Eye (Slide 7 of 16)</a:t>
            </a:r>
          </a:p>
        </p:txBody>
      </p:sp>
      <p:graphicFrame>
        <p:nvGraphicFramePr>
          <p:cNvPr id="8" name="Content Placeholder 7" descr="Group 4 of 8:  This table lists a group of Vocabulary--The Eye listing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58282879"/>
              </p:ext>
            </p:extLst>
          </p:nvPr>
        </p:nvGraphicFramePr>
        <p:xfrm>
          <a:off x="3238500" y="2209800"/>
          <a:ext cx="2667000" cy="182880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fovea </a:t>
                      </a:r>
                      <a:r>
                        <a:rPr lang="en-US" altLang="en-US" sz="2400" dirty="0" err="1"/>
                        <a:t>centralis</a:t>
                      </a:r>
                      <a:endParaRPr lang="en-US" alt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fundus of the eye</a:t>
                      </a:r>
                    </a:p>
                  </a:txBody>
                  <a:tcPr/>
                </a:tc>
                <a:extLst>
                  <a:ext uri="{0D108BD9-81ED-4DB2-BD59-A6C34878D82A}">
                    <a16:rowId xmlns:a16="http://schemas.microsoft.com/office/drawing/2014/main" val="10002"/>
                  </a:ext>
                </a:extLst>
              </a:tr>
              <a:tr h="370840">
                <a:tc>
                  <a:txBody>
                    <a:bodyPr/>
                    <a:lstStyle/>
                    <a:p>
                      <a:r>
                        <a:rPr lang="en-US" altLang="en-US" sz="2400" dirty="0"/>
                        <a:t>iris</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152826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Vocabulary – The Eye (Slide 8 of 16)</a:t>
            </a:r>
          </a:p>
        </p:txBody>
      </p:sp>
      <p:graphicFrame>
        <p:nvGraphicFramePr>
          <p:cNvPr id="8" name="Content Placeholder 7" descr="Group 4 of 8.  List of Vocabulary terms--The Eye,  with corresponding meanings or definitions."/>
          <p:cNvGraphicFramePr>
            <a:graphicFrameLocks noGrp="1"/>
          </p:cNvGraphicFramePr>
          <p:nvPr>
            <p:ph idx="1"/>
            <p:extLst>
              <p:ext uri="{D42A27DB-BD31-4B8C-83A1-F6EECF244321}">
                <p14:modId xmlns:p14="http://schemas.microsoft.com/office/powerpoint/2010/main" val="5480959"/>
              </p:ext>
            </p:extLst>
          </p:nvPr>
        </p:nvGraphicFramePr>
        <p:xfrm>
          <a:off x="457200" y="1600200"/>
          <a:ext cx="8229600" cy="256032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fovea </a:t>
                      </a:r>
                      <a:r>
                        <a:rPr lang="en-US" altLang="en-US" sz="2400" dirty="0" err="1"/>
                        <a:t>centralis</a:t>
                      </a:r>
                      <a:endParaRPr lang="en-US"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Tiny depression in the retina that is the region of clearest vision</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fundus of the eye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Posterior, inner part of the eye</a:t>
                      </a:r>
                    </a:p>
                  </a:txBody>
                  <a:tcPr/>
                </a:tc>
                <a:extLst>
                  <a:ext uri="{0D108BD9-81ED-4DB2-BD59-A6C34878D82A}">
                    <a16:rowId xmlns:a16="http://schemas.microsoft.com/office/drawing/2014/main" val="10002"/>
                  </a:ext>
                </a:extLst>
              </a:tr>
              <a:tr h="370840">
                <a:tc>
                  <a:txBody>
                    <a:bodyPr/>
                    <a:lstStyle/>
                    <a:p>
                      <a:r>
                        <a:rPr lang="en-US" altLang="en-US" sz="2400" dirty="0"/>
                        <a:t>iris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Pigmented layer that opens and closes to allow more or less light into the eye</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5861822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Vocabulary – The Eye (Slide 9 of 16)</a:t>
            </a:r>
          </a:p>
        </p:txBody>
      </p:sp>
      <p:graphicFrame>
        <p:nvGraphicFramePr>
          <p:cNvPr id="8" name="Content Placeholder 7" descr="Group 5 of 8:  This table lists a group of Vocabulary--The Eye listing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1405104086"/>
              </p:ext>
            </p:extLst>
          </p:nvPr>
        </p:nvGraphicFramePr>
        <p:xfrm>
          <a:off x="3238500" y="2286000"/>
          <a:ext cx="2667000" cy="182880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lens</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a:t>macula</a:t>
                      </a:r>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optic chiasm</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337550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Vocabulary – The Eye (Slide 10 of 16)</a:t>
            </a:r>
          </a:p>
        </p:txBody>
      </p:sp>
      <p:graphicFrame>
        <p:nvGraphicFramePr>
          <p:cNvPr id="8" name="Content Placeholder 7" descr="Group 5 of 8.  List of Vocabulary terms--The Eye,  with corresponding meanings or definitions."/>
          <p:cNvGraphicFramePr>
            <a:graphicFrameLocks noGrp="1"/>
          </p:cNvGraphicFramePr>
          <p:nvPr>
            <p:ph idx="1"/>
            <p:extLst>
              <p:ext uri="{D42A27DB-BD31-4B8C-83A1-F6EECF244321}">
                <p14:modId xmlns:p14="http://schemas.microsoft.com/office/powerpoint/2010/main" val="3611284612"/>
              </p:ext>
            </p:extLst>
          </p:nvPr>
        </p:nvGraphicFramePr>
        <p:xfrm>
          <a:off x="457200" y="1600200"/>
          <a:ext cx="8229600" cy="292608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lens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Transparent, biconvex body behind the pupil of the eye</a:t>
                      </a:r>
                    </a:p>
                  </a:txBody>
                  <a:tcPr/>
                </a:tc>
                <a:extLst>
                  <a:ext uri="{0D108BD9-81ED-4DB2-BD59-A6C34878D82A}">
                    <a16:rowId xmlns:a16="http://schemas.microsoft.com/office/drawing/2014/main" val="10001"/>
                  </a:ext>
                </a:extLst>
              </a:tr>
              <a:tr h="370840">
                <a:tc>
                  <a:txBody>
                    <a:bodyPr/>
                    <a:lstStyle/>
                    <a:p>
                      <a:r>
                        <a:rPr lang="en-US" altLang="en-US" sz="2400" dirty="0"/>
                        <a:t>macula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Yellowish region on the retina lateral to and slightly below the optic disc</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optic chiasm</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The point at which optic nerve fibers cross in the brain</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74244793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Vocabulary – The Eye (Slide 11 of 16)</a:t>
            </a:r>
          </a:p>
        </p:txBody>
      </p:sp>
      <p:graphicFrame>
        <p:nvGraphicFramePr>
          <p:cNvPr id="8" name="Content Placeholder 7" descr="Group 5 of 8:  This table lists a group of Vocabulary--The Eye listing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441617016"/>
              </p:ext>
            </p:extLst>
          </p:nvPr>
        </p:nvGraphicFramePr>
        <p:xfrm>
          <a:off x="3238500" y="2286000"/>
          <a:ext cx="2667000" cy="182880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optic disc</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optic nerve</a:t>
                      </a:r>
                    </a:p>
                  </a:txBody>
                  <a:tcPr/>
                </a:tc>
                <a:extLst>
                  <a:ext uri="{0D108BD9-81ED-4DB2-BD59-A6C34878D82A}">
                    <a16:rowId xmlns:a16="http://schemas.microsoft.com/office/drawing/2014/main" val="10002"/>
                  </a:ext>
                </a:extLst>
              </a:tr>
              <a:tr h="370840">
                <a:tc>
                  <a:txBody>
                    <a:bodyPr/>
                    <a:lstStyle/>
                    <a:p>
                      <a:r>
                        <a:rPr lang="en-US" altLang="en-US" sz="2400" dirty="0"/>
                        <a:t>pupil</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9556735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Vocabulary – The Eye (Slide 12 of 16)</a:t>
            </a:r>
          </a:p>
        </p:txBody>
      </p:sp>
      <p:graphicFrame>
        <p:nvGraphicFramePr>
          <p:cNvPr id="8" name="Content Placeholder 7" descr="Group 6 of 8.  List of Vocabulary terms--The Eye,  with corresponding meanings or definitions."/>
          <p:cNvGraphicFramePr>
            <a:graphicFrameLocks noGrp="1"/>
          </p:cNvGraphicFramePr>
          <p:nvPr>
            <p:ph idx="1"/>
            <p:extLst>
              <p:ext uri="{D42A27DB-BD31-4B8C-83A1-F6EECF244321}">
                <p14:modId xmlns:p14="http://schemas.microsoft.com/office/powerpoint/2010/main" val="81562394"/>
              </p:ext>
            </p:extLst>
          </p:nvPr>
        </p:nvGraphicFramePr>
        <p:xfrm>
          <a:off x="457200" y="1600200"/>
          <a:ext cx="8229600" cy="292608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optic disc</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The region at the back of the eye where the optic nerve meets the retina; blind spot</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optic nerve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Cranial nerve carrying impulses from the retina to the brain</a:t>
                      </a:r>
                    </a:p>
                  </a:txBody>
                  <a:tcPr/>
                </a:tc>
                <a:extLst>
                  <a:ext uri="{0D108BD9-81ED-4DB2-BD59-A6C34878D82A}">
                    <a16:rowId xmlns:a16="http://schemas.microsoft.com/office/drawing/2014/main" val="10002"/>
                  </a:ext>
                </a:extLst>
              </a:tr>
              <a:tr h="370840">
                <a:tc>
                  <a:txBody>
                    <a:bodyPr/>
                    <a:lstStyle/>
                    <a:p>
                      <a:r>
                        <a:rPr lang="en-US" altLang="en-US" sz="2400" dirty="0"/>
                        <a:t>pupil</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Central opening of the eye, surrounded by the iris, through which light rays pass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52197697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Vocabulary – The Eye (Slide 13 of 16)</a:t>
            </a:r>
          </a:p>
        </p:txBody>
      </p:sp>
      <p:graphicFrame>
        <p:nvGraphicFramePr>
          <p:cNvPr id="8" name="Content Placeholder 7" descr="Group 7 of 8:  This table lists a group of Vocabulary--The Eye listing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578042877"/>
              </p:ext>
            </p:extLst>
          </p:nvPr>
        </p:nvGraphicFramePr>
        <p:xfrm>
          <a:off x="3238500" y="2286000"/>
          <a:ext cx="2667000" cy="182880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refraction</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a:t>retina</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dirty="0"/>
                        <a:t>rod</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1301761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Vocabulary – The Eye (Slide 14 of 16)</a:t>
            </a:r>
          </a:p>
        </p:txBody>
      </p:sp>
      <p:graphicFrame>
        <p:nvGraphicFramePr>
          <p:cNvPr id="8" name="Content Placeholder 7" descr="Group 7 of 8.  List of Vocabulary terms--The Eye,  with corresponding meanings or definitions."/>
          <p:cNvGraphicFramePr>
            <a:graphicFrameLocks noGrp="1"/>
          </p:cNvGraphicFramePr>
          <p:nvPr>
            <p:ph idx="1"/>
            <p:extLst>
              <p:ext uri="{D42A27DB-BD31-4B8C-83A1-F6EECF244321}">
                <p14:modId xmlns:p14="http://schemas.microsoft.com/office/powerpoint/2010/main" val="1942407062"/>
              </p:ext>
            </p:extLst>
          </p:nvPr>
        </p:nvGraphicFramePr>
        <p:xfrm>
          <a:off x="457200" y="1600200"/>
          <a:ext cx="8229600" cy="329184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refraction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Bending of light rays by the cornea, lens, and fluids of the eye to bring the rays into focus on the retina</a:t>
                      </a:r>
                    </a:p>
                  </a:txBody>
                  <a:tcPr/>
                </a:tc>
                <a:extLst>
                  <a:ext uri="{0D108BD9-81ED-4DB2-BD59-A6C34878D82A}">
                    <a16:rowId xmlns:a16="http://schemas.microsoft.com/office/drawing/2014/main" val="10001"/>
                  </a:ext>
                </a:extLst>
              </a:tr>
              <a:tr h="370840">
                <a:tc>
                  <a:txBody>
                    <a:bodyPr/>
                    <a:lstStyle/>
                    <a:p>
                      <a:r>
                        <a:rPr lang="en-US" altLang="en-US" sz="2400" dirty="0"/>
                        <a:t>retina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Light-sensitive nerve cell layer of the eye containing photoreceptor cells</a:t>
                      </a:r>
                    </a:p>
                  </a:txBody>
                  <a:tcPr/>
                </a:tc>
                <a:extLst>
                  <a:ext uri="{0D108BD9-81ED-4DB2-BD59-A6C34878D82A}">
                    <a16:rowId xmlns:a16="http://schemas.microsoft.com/office/drawing/2014/main" val="10002"/>
                  </a:ext>
                </a:extLst>
              </a:tr>
              <a:tr h="370840">
                <a:tc>
                  <a:txBody>
                    <a:bodyPr/>
                    <a:lstStyle/>
                    <a:p>
                      <a:r>
                        <a:rPr lang="en-US" altLang="en-US" sz="2400" dirty="0"/>
                        <a:t>rod</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Photoreceptor cell of retina essential for vision in dim light and for peripheral vision</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86324931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Vocabulary – The Eye (Slide 15 of 16)</a:t>
            </a:r>
          </a:p>
        </p:txBody>
      </p:sp>
      <p:graphicFrame>
        <p:nvGraphicFramePr>
          <p:cNvPr id="8" name="Content Placeholder 7" descr="Group 8 of 8:  This table lists a group of Vocabulary--The Eye listing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1342885855"/>
              </p:ext>
            </p:extLst>
          </p:nvPr>
        </p:nvGraphicFramePr>
        <p:xfrm>
          <a:off x="3238500" y="2133600"/>
          <a:ext cx="2667000" cy="182880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sclera</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a:t>thalamus</a:t>
                      </a:r>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vitreous humor</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212875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Vocabulary – The Eye (Slide 16 of 16)</a:t>
            </a:r>
          </a:p>
        </p:txBody>
      </p:sp>
      <p:graphicFrame>
        <p:nvGraphicFramePr>
          <p:cNvPr id="8" name="Content Placeholder 7" descr="Group 8 of 8.  List of Vocabulary terms--The Eye,  with corresponding meanings or definitions."/>
          <p:cNvGraphicFramePr>
            <a:graphicFrameLocks noGrp="1"/>
          </p:cNvGraphicFramePr>
          <p:nvPr>
            <p:ph idx="1"/>
            <p:extLst>
              <p:ext uri="{D42A27DB-BD31-4B8C-83A1-F6EECF244321}">
                <p14:modId xmlns:p14="http://schemas.microsoft.com/office/powerpoint/2010/main" val="1546312574"/>
              </p:ext>
            </p:extLst>
          </p:nvPr>
        </p:nvGraphicFramePr>
        <p:xfrm>
          <a:off x="457200" y="1600200"/>
          <a:ext cx="8229600" cy="2194560"/>
        </p:xfrm>
        <a:graphic>
          <a:graphicData uri="http://schemas.openxmlformats.org/drawingml/2006/table">
            <a:tbl>
              <a:tblPr firstRow="1" bandRow="1">
                <a:tableStyleId>{5C22544A-7EE6-4342-B048-85BDC9FD1C3A}</a:tableStyleId>
              </a:tblPr>
              <a:tblGrid>
                <a:gridCol w="2667000">
                  <a:extLst>
                    <a:ext uri="{9D8B030D-6E8A-4147-A177-3AD203B41FA5}">
                      <a16:colId xmlns:a16="http://schemas.microsoft.com/office/drawing/2014/main" val="20000"/>
                    </a:ext>
                  </a:extLst>
                </a:gridCol>
                <a:gridCol w="55626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sclera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Tough, white outer coat of the eyeball</a:t>
                      </a:r>
                    </a:p>
                  </a:txBody>
                  <a:tcPr/>
                </a:tc>
                <a:extLst>
                  <a:ext uri="{0D108BD9-81ED-4DB2-BD59-A6C34878D82A}">
                    <a16:rowId xmlns:a16="http://schemas.microsoft.com/office/drawing/2014/main" val="10001"/>
                  </a:ext>
                </a:extLst>
              </a:tr>
              <a:tr h="370840">
                <a:tc>
                  <a:txBody>
                    <a:bodyPr/>
                    <a:lstStyle/>
                    <a:p>
                      <a:r>
                        <a:rPr lang="en-US" altLang="en-US" sz="2400" dirty="0"/>
                        <a:t>thalamus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Relay center of the brain</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vitreous humor</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Soft, jelly-like material behind the lens in the vitreous chamber</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1132279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4000" dirty="0"/>
              <a:t>Terminology – Structures and Fluids (Slide 1 of 4)</a:t>
            </a:r>
          </a:p>
        </p:txBody>
      </p:sp>
      <p:graphicFrame>
        <p:nvGraphicFramePr>
          <p:cNvPr id="8" name="Content Placeholder 7" descr="Group 1 of 4 combining forms  from the Terminology:  Combining Forms, Structures and Fluids section of the textbook  with corresponding meanings or definitions. "/>
          <p:cNvGraphicFramePr>
            <a:graphicFrameLocks noGrp="1"/>
          </p:cNvGraphicFramePr>
          <p:nvPr>
            <p:ph idx="1"/>
            <p:extLst>
              <p:ext uri="{D42A27DB-BD31-4B8C-83A1-F6EECF244321}">
                <p14:modId xmlns:p14="http://schemas.microsoft.com/office/powerpoint/2010/main" val="2756097704"/>
              </p:ext>
            </p:extLst>
          </p:nvPr>
        </p:nvGraphicFramePr>
        <p:xfrm>
          <a:off x="457200" y="1600200"/>
          <a:ext cx="8229600" cy="3200400"/>
        </p:xfrm>
        <a:graphic>
          <a:graphicData uri="http://schemas.openxmlformats.org/drawingml/2006/table">
            <a:tbl>
              <a:tblPr firstRow="1" bandRow="1">
                <a:tableStyleId>{68D230F3-CF80-4859-8CE7-A43EE81993B5}</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400" b="1" dirty="0" err="1"/>
                        <a:t>aque</a:t>
                      </a:r>
                      <a:r>
                        <a:rPr lang="en-US" sz="2400" b="1" dirty="0"/>
                        <a:t>/o</a:t>
                      </a:r>
                      <a:endParaRPr lang="en-US" sz="2400" dirty="0"/>
                    </a:p>
                  </a:txBody>
                  <a:tcPr/>
                </a:tc>
                <a:tc>
                  <a:txBody>
                    <a:bodyPr/>
                    <a:lstStyle/>
                    <a:p>
                      <a:r>
                        <a:rPr lang="en-US" sz="2400" dirty="0"/>
                        <a:t>water</a:t>
                      </a:r>
                    </a:p>
                  </a:txBody>
                  <a:tcPr/>
                </a:tc>
                <a:extLst>
                  <a:ext uri="{0D108BD9-81ED-4DB2-BD59-A6C34878D82A}">
                    <a16:rowId xmlns:a16="http://schemas.microsoft.com/office/drawing/2014/main" val="10001"/>
                  </a:ext>
                </a:extLst>
              </a:tr>
              <a:tr h="370840">
                <a:tc>
                  <a:txBody>
                    <a:bodyPr/>
                    <a:lstStyle/>
                    <a:p>
                      <a:r>
                        <a:rPr lang="en-US" sz="2400" b="1" dirty="0" err="1"/>
                        <a:t>blephar</a:t>
                      </a:r>
                      <a:r>
                        <a:rPr lang="en-US" sz="2400" b="1" dirty="0"/>
                        <a:t>/o</a:t>
                      </a:r>
                      <a:endParaRPr lang="en-US" sz="2400" dirty="0"/>
                    </a:p>
                  </a:txBody>
                  <a:tcPr/>
                </a:tc>
                <a:tc>
                  <a:txBody>
                    <a:bodyPr/>
                    <a:lstStyle/>
                    <a:p>
                      <a:r>
                        <a:rPr lang="en-US" sz="2400" dirty="0"/>
                        <a:t>eyelid</a:t>
                      </a:r>
                    </a:p>
                  </a:txBody>
                  <a:tcPr/>
                </a:tc>
                <a:extLst>
                  <a:ext uri="{0D108BD9-81ED-4DB2-BD59-A6C34878D82A}">
                    <a16:rowId xmlns:a16="http://schemas.microsoft.com/office/drawing/2014/main" val="10002"/>
                  </a:ext>
                </a:extLst>
              </a:tr>
              <a:tr h="370840">
                <a:tc>
                  <a:txBody>
                    <a:bodyPr/>
                    <a:lstStyle/>
                    <a:p>
                      <a:r>
                        <a:rPr lang="en-US" sz="2400" b="1" dirty="0" err="1"/>
                        <a:t>conjunctiv</a:t>
                      </a:r>
                      <a:r>
                        <a:rPr lang="en-US" sz="2400" b="1" dirty="0"/>
                        <a:t>/o</a:t>
                      </a:r>
                      <a:endParaRPr lang="en-US" sz="2400" dirty="0"/>
                    </a:p>
                  </a:txBody>
                  <a:tcPr/>
                </a:tc>
                <a:tc>
                  <a:txBody>
                    <a:bodyPr/>
                    <a:lstStyle/>
                    <a:p>
                      <a:r>
                        <a:rPr lang="en-US" sz="2400" dirty="0"/>
                        <a:t>conjunctiva</a:t>
                      </a:r>
                    </a:p>
                  </a:txBody>
                  <a:tcPr/>
                </a:tc>
                <a:extLst>
                  <a:ext uri="{0D108BD9-81ED-4DB2-BD59-A6C34878D82A}">
                    <a16:rowId xmlns:a16="http://schemas.microsoft.com/office/drawing/2014/main" val="10003"/>
                  </a:ext>
                </a:extLst>
              </a:tr>
              <a:tr h="370840">
                <a:tc>
                  <a:txBody>
                    <a:bodyPr/>
                    <a:lstStyle/>
                    <a:p>
                      <a:r>
                        <a:rPr lang="en-US" sz="2400" b="1" dirty="0" err="1"/>
                        <a:t>cor</a:t>
                      </a:r>
                      <a:r>
                        <a:rPr lang="en-US" sz="2400" b="1" dirty="0"/>
                        <a:t>/o</a:t>
                      </a:r>
                      <a:endParaRPr lang="en-US" sz="2400" dirty="0"/>
                    </a:p>
                  </a:txBody>
                  <a:tcPr/>
                </a:tc>
                <a:tc>
                  <a:txBody>
                    <a:bodyPr/>
                    <a:lstStyle/>
                    <a:p>
                      <a:r>
                        <a:rPr lang="en-US" sz="2400" dirty="0"/>
                        <a:t>pupil</a:t>
                      </a:r>
                    </a:p>
                  </a:txBody>
                  <a:tcPr/>
                </a:tc>
                <a:extLst>
                  <a:ext uri="{0D108BD9-81ED-4DB2-BD59-A6C34878D82A}">
                    <a16:rowId xmlns:a16="http://schemas.microsoft.com/office/drawing/2014/main" val="10004"/>
                  </a:ext>
                </a:extLst>
              </a:tr>
              <a:tr h="370840">
                <a:tc>
                  <a:txBody>
                    <a:bodyPr/>
                    <a:lstStyle/>
                    <a:p>
                      <a:r>
                        <a:rPr lang="en-US" sz="2400" b="1" dirty="0" err="1"/>
                        <a:t>corne</a:t>
                      </a:r>
                      <a:r>
                        <a:rPr lang="en-US" sz="2400" b="1" dirty="0"/>
                        <a:t>/o</a:t>
                      </a:r>
                      <a:endParaRPr lang="en-US" sz="2400" dirty="0"/>
                    </a:p>
                  </a:txBody>
                  <a:tcPr/>
                </a:tc>
                <a:tc>
                  <a:txBody>
                    <a:bodyPr/>
                    <a:lstStyle/>
                    <a:p>
                      <a:r>
                        <a:rPr lang="en-US" sz="2400" dirty="0"/>
                        <a:t>cornea</a:t>
                      </a:r>
                    </a:p>
                  </a:txBody>
                  <a:tcPr/>
                </a:tc>
                <a:extLst>
                  <a:ext uri="{0D108BD9-81ED-4DB2-BD59-A6C34878D82A}">
                    <a16:rowId xmlns:a16="http://schemas.microsoft.com/office/drawing/2014/main" val="10005"/>
                  </a:ext>
                </a:extLst>
              </a:tr>
              <a:tr h="370840">
                <a:tc>
                  <a:txBody>
                    <a:bodyPr/>
                    <a:lstStyle/>
                    <a:p>
                      <a:r>
                        <a:rPr lang="en-US" sz="2400" b="1" dirty="0" err="1"/>
                        <a:t>cycl</a:t>
                      </a:r>
                      <a:r>
                        <a:rPr lang="en-US" sz="2400" b="1" dirty="0"/>
                        <a:t>/o</a:t>
                      </a:r>
                      <a:endParaRPr lang="en-US" sz="2400" dirty="0"/>
                    </a:p>
                  </a:txBody>
                  <a:tcPr/>
                </a:tc>
                <a:tc>
                  <a:txBody>
                    <a:bodyPr/>
                    <a:lstStyle/>
                    <a:p>
                      <a:r>
                        <a:rPr lang="en-US" sz="2400" dirty="0" err="1"/>
                        <a:t>ciliary</a:t>
                      </a:r>
                      <a:r>
                        <a:rPr lang="en-US" sz="2400" dirty="0"/>
                        <a:t> body</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5353626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4000" dirty="0"/>
              <a:t>Terminology – Structures and Fluids (Slide 2 of 4)</a:t>
            </a:r>
          </a:p>
        </p:txBody>
      </p:sp>
      <p:graphicFrame>
        <p:nvGraphicFramePr>
          <p:cNvPr id="8" name="Content Placeholder 7" descr="Group 2 of 4 combining forms  from the Terminology:  Combining Forms, Structures and Fluids section of the textbook  with corresponding meanings or definitions. "/>
          <p:cNvGraphicFramePr>
            <a:graphicFrameLocks noGrp="1"/>
          </p:cNvGraphicFramePr>
          <p:nvPr>
            <p:ph idx="1"/>
            <p:extLst>
              <p:ext uri="{D42A27DB-BD31-4B8C-83A1-F6EECF244321}">
                <p14:modId xmlns:p14="http://schemas.microsoft.com/office/powerpoint/2010/main" val="456722853"/>
              </p:ext>
            </p:extLst>
          </p:nvPr>
        </p:nvGraphicFramePr>
        <p:xfrm>
          <a:off x="457200" y="1600200"/>
          <a:ext cx="8229600" cy="3200400"/>
        </p:xfrm>
        <a:graphic>
          <a:graphicData uri="http://schemas.openxmlformats.org/drawingml/2006/table">
            <a:tbl>
              <a:tblPr firstRow="1" bandRow="1">
                <a:tableStyleId>{68D230F3-CF80-4859-8CE7-A43EE81993B5}</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400" b="1" dirty="0" err="1"/>
                        <a:t>dacry</a:t>
                      </a:r>
                      <a:r>
                        <a:rPr lang="en-US" sz="2400" b="1" dirty="0"/>
                        <a:t>/o</a:t>
                      </a:r>
                      <a:endParaRPr lang="en-US" sz="2400" dirty="0"/>
                    </a:p>
                  </a:txBody>
                  <a:tcPr/>
                </a:tc>
                <a:tc>
                  <a:txBody>
                    <a:bodyPr/>
                    <a:lstStyle/>
                    <a:p>
                      <a:r>
                        <a:rPr lang="en-US" sz="2400" dirty="0"/>
                        <a:t>tears, tear duct</a:t>
                      </a:r>
                    </a:p>
                  </a:txBody>
                  <a:tcPr/>
                </a:tc>
                <a:extLst>
                  <a:ext uri="{0D108BD9-81ED-4DB2-BD59-A6C34878D82A}">
                    <a16:rowId xmlns:a16="http://schemas.microsoft.com/office/drawing/2014/main" val="10001"/>
                  </a:ext>
                </a:extLst>
              </a:tr>
              <a:tr h="370840">
                <a:tc>
                  <a:txBody>
                    <a:bodyPr/>
                    <a:lstStyle/>
                    <a:p>
                      <a:r>
                        <a:rPr lang="en-US" sz="2400" b="1" dirty="0" err="1"/>
                        <a:t>ir</a:t>
                      </a:r>
                      <a:r>
                        <a:rPr lang="en-US" sz="2400" b="1" dirty="0"/>
                        <a:t>/o</a:t>
                      </a:r>
                      <a:endParaRPr lang="en-US" sz="2400" dirty="0"/>
                    </a:p>
                  </a:txBody>
                  <a:tcPr/>
                </a:tc>
                <a:tc>
                  <a:txBody>
                    <a:bodyPr/>
                    <a:lstStyle/>
                    <a:p>
                      <a:r>
                        <a:rPr lang="en-US" sz="2400" dirty="0"/>
                        <a:t>iris</a:t>
                      </a:r>
                    </a:p>
                  </a:txBody>
                  <a:tcPr/>
                </a:tc>
                <a:extLst>
                  <a:ext uri="{0D108BD9-81ED-4DB2-BD59-A6C34878D82A}">
                    <a16:rowId xmlns:a16="http://schemas.microsoft.com/office/drawing/2014/main" val="10002"/>
                  </a:ext>
                </a:extLst>
              </a:tr>
              <a:tr h="370840">
                <a:tc>
                  <a:txBody>
                    <a:bodyPr/>
                    <a:lstStyle/>
                    <a:p>
                      <a:r>
                        <a:rPr lang="en-US" sz="2400" b="1" dirty="0" err="1"/>
                        <a:t>irid</a:t>
                      </a:r>
                      <a:r>
                        <a:rPr lang="en-US" sz="2400" b="1" dirty="0"/>
                        <a:t>/o</a:t>
                      </a:r>
                      <a:endParaRPr lang="en-US" sz="2400" dirty="0"/>
                    </a:p>
                  </a:txBody>
                  <a:tcPr/>
                </a:tc>
                <a:tc>
                  <a:txBody>
                    <a:bodyPr/>
                    <a:lstStyle/>
                    <a:p>
                      <a:r>
                        <a:rPr lang="en-US" sz="2400" dirty="0"/>
                        <a:t>iris</a:t>
                      </a:r>
                    </a:p>
                  </a:txBody>
                  <a:tcPr/>
                </a:tc>
                <a:extLst>
                  <a:ext uri="{0D108BD9-81ED-4DB2-BD59-A6C34878D82A}">
                    <a16:rowId xmlns:a16="http://schemas.microsoft.com/office/drawing/2014/main" val="10003"/>
                  </a:ext>
                </a:extLst>
              </a:tr>
              <a:tr h="370840">
                <a:tc>
                  <a:txBody>
                    <a:bodyPr/>
                    <a:lstStyle/>
                    <a:p>
                      <a:r>
                        <a:rPr lang="en-US" sz="2400" b="1" dirty="0" err="1"/>
                        <a:t>kerat</a:t>
                      </a:r>
                      <a:r>
                        <a:rPr lang="en-US" sz="2400" b="1" dirty="0"/>
                        <a:t>/o</a:t>
                      </a:r>
                      <a:endParaRPr lang="en-US" sz="2400" dirty="0"/>
                    </a:p>
                  </a:txBody>
                  <a:tcPr/>
                </a:tc>
                <a:tc>
                  <a:txBody>
                    <a:bodyPr/>
                    <a:lstStyle/>
                    <a:p>
                      <a:r>
                        <a:rPr lang="en-US" sz="2400" dirty="0"/>
                        <a:t>cornea</a:t>
                      </a:r>
                    </a:p>
                  </a:txBody>
                  <a:tcPr/>
                </a:tc>
                <a:extLst>
                  <a:ext uri="{0D108BD9-81ED-4DB2-BD59-A6C34878D82A}">
                    <a16:rowId xmlns:a16="http://schemas.microsoft.com/office/drawing/2014/main" val="10004"/>
                  </a:ext>
                </a:extLst>
              </a:tr>
              <a:tr h="370840">
                <a:tc>
                  <a:txBody>
                    <a:bodyPr/>
                    <a:lstStyle/>
                    <a:p>
                      <a:r>
                        <a:rPr lang="en-US" sz="2400" b="1" dirty="0" err="1"/>
                        <a:t>lacrim</a:t>
                      </a:r>
                      <a:r>
                        <a:rPr lang="en-US" sz="2400" b="1" dirty="0"/>
                        <a:t>/o</a:t>
                      </a:r>
                      <a:endParaRPr lang="en-US" sz="2400" dirty="0"/>
                    </a:p>
                  </a:txBody>
                  <a:tcPr/>
                </a:tc>
                <a:tc>
                  <a:txBody>
                    <a:bodyPr/>
                    <a:lstStyle/>
                    <a:p>
                      <a:r>
                        <a:rPr lang="en-US" sz="2400" dirty="0"/>
                        <a:t>tears</a:t>
                      </a:r>
                    </a:p>
                  </a:txBody>
                  <a:tcPr/>
                </a:tc>
                <a:extLst>
                  <a:ext uri="{0D108BD9-81ED-4DB2-BD59-A6C34878D82A}">
                    <a16:rowId xmlns:a16="http://schemas.microsoft.com/office/drawing/2014/main" val="10005"/>
                  </a:ext>
                </a:extLst>
              </a:tr>
              <a:tr h="370840">
                <a:tc>
                  <a:txBody>
                    <a:bodyPr/>
                    <a:lstStyle/>
                    <a:p>
                      <a:r>
                        <a:rPr lang="en-US" sz="2400" b="1" dirty="0" err="1"/>
                        <a:t>ocul</a:t>
                      </a:r>
                      <a:r>
                        <a:rPr lang="en-US" sz="2400" b="1" dirty="0"/>
                        <a:t>/o</a:t>
                      </a:r>
                      <a:endParaRPr lang="en-US" sz="2400" dirty="0"/>
                    </a:p>
                  </a:txBody>
                  <a:tcPr/>
                </a:tc>
                <a:tc>
                  <a:txBody>
                    <a:bodyPr/>
                    <a:lstStyle/>
                    <a:p>
                      <a:r>
                        <a:rPr lang="en-US" sz="2400" dirty="0"/>
                        <a:t>eye</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66709047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4000" dirty="0"/>
              <a:t>Terminology – Structures and Fluids (Slide 3 of 4)</a:t>
            </a:r>
          </a:p>
        </p:txBody>
      </p:sp>
      <p:graphicFrame>
        <p:nvGraphicFramePr>
          <p:cNvPr id="8" name="Content Placeholder 7" descr="Group 3 of 4 combining forms  from the Terminology:  Combining Forms, Structures and Fluids section of the textbook  with corresponding meanings or definitions. "/>
          <p:cNvGraphicFramePr>
            <a:graphicFrameLocks noGrp="1"/>
          </p:cNvGraphicFramePr>
          <p:nvPr>
            <p:ph idx="1"/>
            <p:extLst>
              <p:ext uri="{D42A27DB-BD31-4B8C-83A1-F6EECF244321}">
                <p14:modId xmlns:p14="http://schemas.microsoft.com/office/powerpoint/2010/main" val="1940113788"/>
              </p:ext>
            </p:extLst>
          </p:nvPr>
        </p:nvGraphicFramePr>
        <p:xfrm>
          <a:off x="457200" y="1600200"/>
          <a:ext cx="8229600" cy="3200400"/>
        </p:xfrm>
        <a:graphic>
          <a:graphicData uri="http://schemas.openxmlformats.org/drawingml/2006/table">
            <a:tbl>
              <a:tblPr firstRow="1" bandRow="1">
                <a:tableStyleId>{68D230F3-CF80-4859-8CE7-A43EE81993B5}</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400" b="1" dirty="0" err="1"/>
                        <a:t>ophthalm</a:t>
                      </a:r>
                      <a:r>
                        <a:rPr lang="en-US" sz="2400" b="1" dirty="0"/>
                        <a:t>/o</a:t>
                      </a:r>
                      <a:endParaRPr lang="en-US" sz="2400" dirty="0"/>
                    </a:p>
                  </a:txBody>
                  <a:tcPr/>
                </a:tc>
                <a:tc>
                  <a:txBody>
                    <a:bodyPr/>
                    <a:lstStyle/>
                    <a:p>
                      <a:r>
                        <a:rPr lang="en-US" sz="2400" dirty="0"/>
                        <a:t>eye</a:t>
                      </a:r>
                    </a:p>
                  </a:txBody>
                  <a:tcPr/>
                </a:tc>
                <a:extLst>
                  <a:ext uri="{0D108BD9-81ED-4DB2-BD59-A6C34878D82A}">
                    <a16:rowId xmlns:a16="http://schemas.microsoft.com/office/drawing/2014/main" val="10001"/>
                  </a:ext>
                </a:extLst>
              </a:tr>
              <a:tr h="370840">
                <a:tc>
                  <a:txBody>
                    <a:bodyPr/>
                    <a:lstStyle/>
                    <a:p>
                      <a:r>
                        <a:rPr lang="en-US" sz="2400" b="1" dirty="0"/>
                        <a:t>opt/o</a:t>
                      </a:r>
                      <a:endParaRPr lang="en-US" sz="2400" dirty="0"/>
                    </a:p>
                  </a:txBody>
                  <a:tcPr/>
                </a:tc>
                <a:tc>
                  <a:txBody>
                    <a:bodyPr/>
                    <a:lstStyle/>
                    <a:p>
                      <a:r>
                        <a:rPr lang="en-US" sz="2400" dirty="0"/>
                        <a:t>eye, vision</a:t>
                      </a:r>
                    </a:p>
                  </a:txBody>
                  <a:tcPr/>
                </a:tc>
                <a:extLst>
                  <a:ext uri="{0D108BD9-81ED-4DB2-BD59-A6C34878D82A}">
                    <a16:rowId xmlns:a16="http://schemas.microsoft.com/office/drawing/2014/main" val="10002"/>
                  </a:ext>
                </a:extLst>
              </a:tr>
              <a:tr h="370840">
                <a:tc>
                  <a:txBody>
                    <a:bodyPr/>
                    <a:lstStyle/>
                    <a:p>
                      <a:r>
                        <a:rPr lang="en-US" sz="2400" b="1" dirty="0"/>
                        <a:t>optic/o</a:t>
                      </a:r>
                      <a:endParaRPr lang="en-US" sz="2400" dirty="0"/>
                    </a:p>
                  </a:txBody>
                  <a:tcPr/>
                </a:tc>
                <a:tc>
                  <a:txBody>
                    <a:bodyPr/>
                    <a:lstStyle/>
                    <a:p>
                      <a:r>
                        <a:rPr lang="en-US" sz="2400" dirty="0"/>
                        <a:t>eye, vision</a:t>
                      </a:r>
                    </a:p>
                  </a:txBody>
                  <a:tcPr/>
                </a:tc>
                <a:extLst>
                  <a:ext uri="{0D108BD9-81ED-4DB2-BD59-A6C34878D82A}">
                    <a16:rowId xmlns:a16="http://schemas.microsoft.com/office/drawing/2014/main" val="10003"/>
                  </a:ext>
                </a:extLst>
              </a:tr>
              <a:tr h="370840">
                <a:tc>
                  <a:txBody>
                    <a:bodyPr/>
                    <a:lstStyle/>
                    <a:p>
                      <a:r>
                        <a:rPr lang="en-US" sz="2400" b="1" dirty="0" err="1"/>
                        <a:t>palpebr</a:t>
                      </a:r>
                      <a:r>
                        <a:rPr lang="en-US" sz="2400" b="1" dirty="0"/>
                        <a:t>/o</a:t>
                      </a:r>
                      <a:endParaRPr lang="en-US" sz="2400" dirty="0"/>
                    </a:p>
                  </a:txBody>
                  <a:tcPr/>
                </a:tc>
                <a:tc>
                  <a:txBody>
                    <a:bodyPr/>
                    <a:lstStyle/>
                    <a:p>
                      <a:r>
                        <a:rPr lang="en-US" sz="2400" dirty="0"/>
                        <a:t>eyelid</a:t>
                      </a:r>
                    </a:p>
                  </a:txBody>
                  <a:tcPr/>
                </a:tc>
                <a:extLst>
                  <a:ext uri="{0D108BD9-81ED-4DB2-BD59-A6C34878D82A}">
                    <a16:rowId xmlns:a16="http://schemas.microsoft.com/office/drawing/2014/main" val="10004"/>
                  </a:ext>
                </a:extLst>
              </a:tr>
              <a:tr h="370840">
                <a:tc>
                  <a:txBody>
                    <a:bodyPr/>
                    <a:lstStyle/>
                    <a:p>
                      <a:r>
                        <a:rPr lang="en-US" sz="2400" b="1" dirty="0" err="1"/>
                        <a:t>papill</a:t>
                      </a:r>
                      <a:r>
                        <a:rPr lang="en-US" sz="2400" b="1" dirty="0"/>
                        <a:t>/o</a:t>
                      </a:r>
                      <a:endParaRPr lang="en-US" sz="2400" dirty="0"/>
                    </a:p>
                  </a:txBody>
                  <a:tcPr/>
                </a:tc>
                <a:tc>
                  <a:txBody>
                    <a:bodyPr/>
                    <a:lstStyle/>
                    <a:p>
                      <a:r>
                        <a:rPr lang="en-US" sz="2400" dirty="0"/>
                        <a:t>optic disc</a:t>
                      </a:r>
                    </a:p>
                  </a:txBody>
                  <a:tcPr/>
                </a:tc>
                <a:extLst>
                  <a:ext uri="{0D108BD9-81ED-4DB2-BD59-A6C34878D82A}">
                    <a16:rowId xmlns:a16="http://schemas.microsoft.com/office/drawing/2014/main" val="10005"/>
                  </a:ext>
                </a:extLst>
              </a:tr>
              <a:tr h="370840">
                <a:tc>
                  <a:txBody>
                    <a:bodyPr/>
                    <a:lstStyle/>
                    <a:p>
                      <a:r>
                        <a:rPr lang="en-US" sz="2400" b="1" dirty="0" err="1"/>
                        <a:t>phac</a:t>
                      </a:r>
                      <a:r>
                        <a:rPr lang="en-US" sz="2400" b="1" dirty="0"/>
                        <a:t>/o</a:t>
                      </a:r>
                      <a:endParaRPr lang="en-US" sz="2400" dirty="0"/>
                    </a:p>
                  </a:txBody>
                  <a:tcPr/>
                </a:tc>
                <a:tc>
                  <a:txBody>
                    <a:bodyPr/>
                    <a:lstStyle/>
                    <a:p>
                      <a:r>
                        <a:rPr lang="en-US" sz="2400" dirty="0"/>
                        <a:t>lens of the eye</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00933430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4000" dirty="0"/>
              <a:t>Terminology – Structures and Fluids (Slide 4 of 4)</a:t>
            </a:r>
          </a:p>
        </p:txBody>
      </p:sp>
      <p:graphicFrame>
        <p:nvGraphicFramePr>
          <p:cNvPr id="8" name="Content Placeholder 7" descr="Group 4 of 4 combining forms  from the Terminology:  Combining Forms, Structures and Fluids section of the textbook  with corresponding meanings or definitions. "/>
          <p:cNvGraphicFramePr>
            <a:graphicFrameLocks noGrp="1"/>
          </p:cNvGraphicFramePr>
          <p:nvPr>
            <p:ph idx="1"/>
            <p:extLst>
              <p:ext uri="{D42A27DB-BD31-4B8C-83A1-F6EECF244321}">
                <p14:modId xmlns:p14="http://schemas.microsoft.com/office/powerpoint/2010/main" val="772534307"/>
              </p:ext>
            </p:extLst>
          </p:nvPr>
        </p:nvGraphicFramePr>
        <p:xfrm>
          <a:off x="457200" y="1600200"/>
          <a:ext cx="8229600" cy="3200400"/>
        </p:xfrm>
        <a:graphic>
          <a:graphicData uri="http://schemas.openxmlformats.org/drawingml/2006/table">
            <a:tbl>
              <a:tblPr firstRow="1" bandRow="1">
                <a:tableStyleId>{68D230F3-CF80-4859-8CE7-A43EE81993B5}</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400" b="1" dirty="0" err="1"/>
                        <a:t>phak</a:t>
                      </a:r>
                      <a:r>
                        <a:rPr lang="en-US" sz="2400" b="1" dirty="0"/>
                        <a:t>/o</a:t>
                      </a:r>
                      <a:endParaRPr lang="en-US" sz="2400" dirty="0"/>
                    </a:p>
                  </a:txBody>
                  <a:tcPr/>
                </a:tc>
                <a:tc>
                  <a:txBody>
                    <a:bodyPr/>
                    <a:lstStyle/>
                    <a:p>
                      <a:r>
                        <a:rPr lang="en-US" sz="2400" dirty="0"/>
                        <a:t>lens of the eye</a:t>
                      </a:r>
                    </a:p>
                  </a:txBody>
                  <a:tcPr/>
                </a:tc>
                <a:extLst>
                  <a:ext uri="{0D108BD9-81ED-4DB2-BD59-A6C34878D82A}">
                    <a16:rowId xmlns:a16="http://schemas.microsoft.com/office/drawing/2014/main" val="10001"/>
                  </a:ext>
                </a:extLst>
              </a:tr>
              <a:tr h="370840">
                <a:tc>
                  <a:txBody>
                    <a:bodyPr/>
                    <a:lstStyle/>
                    <a:p>
                      <a:r>
                        <a:rPr lang="en-US" sz="2400" b="1" dirty="0" err="1"/>
                        <a:t>pupill</a:t>
                      </a:r>
                      <a:r>
                        <a:rPr lang="en-US" sz="2400" b="1" dirty="0"/>
                        <a:t>/o</a:t>
                      </a:r>
                      <a:endParaRPr lang="en-US" sz="2400" dirty="0"/>
                    </a:p>
                  </a:txBody>
                  <a:tcPr/>
                </a:tc>
                <a:tc>
                  <a:txBody>
                    <a:bodyPr/>
                    <a:lstStyle/>
                    <a:p>
                      <a:r>
                        <a:rPr lang="en-US" sz="2400" dirty="0"/>
                        <a:t>pupil</a:t>
                      </a:r>
                    </a:p>
                  </a:txBody>
                  <a:tcPr/>
                </a:tc>
                <a:extLst>
                  <a:ext uri="{0D108BD9-81ED-4DB2-BD59-A6C34878D82A}">
                    <a16:rowId xmlns:a16="http://schemas.microsoft.com/office/drawing/2014/main" val="10002"/>
                  </a:ext>
                </a:extLst>
              </a:tr>
              <a:tr h="370840">
                <a:tc>
                  <a:txBody>
                    <a:bodyPr/>
                    <a:lstStyle/>
                    <a:p>
                      <a:r>
                        <a:rPr lang="en-US" sz="2400" b="1" dirty="0" err="1"/>
                        <a:t>retin</a:t>
                      </a:r>
                      <a:r>
                        <a:rPr lang="en-US" sz="2400" b="1" dirty="0"/>
                        <a:t>/o</a:t>
                      </a:r>
                      <a:endParaRPr lang="en-US" sz="2400" dirty="0"/>
                    </a:p>
                  </a:txBody>
                  <a:tcPr/>
                </a:tc>
                <a:tc>
                  <a:txBody>
                    <a:bodyPr/>
                    <a:lstStyle/>
                    <a:p>
                      <a:r>
                        <a:rPr lang="en-US" sz="2400" dirty="0"/>
                        <a:t>retina</a:t>
                      </a:r>
                    </a:p>
                  </a:txBody>
                  <a:tcPr/>
                </a:tc>
                <a:extLst>
                  <a:ext uri="{0D108BD9-81ED-4DB2-BD59-A6C34878D82A}">
                    <a16:rowId xmlns:a16="http://schemas.microsoft.com/office/drawing/2014/main" val="10003"/>
                  </a:ext>
                </a:extLst>
              </a:tr>
              <a:tr h="370840">
                <a:tc>
                  <a:txBody>
                    <a:bodyPr/>
                    <a:lstStyle/>
                    <a:p>
                      <a:r>
                        <a:rPr lang="en-US" sz="2400" b="1" dirty="0" err="1"/>
                        <a:t>scler</a:t>
                      </a:r>
                      <a:r>
                        <a:rPr lang="en-US" sz="2400" b="1" dirty="0"/>
                        <a:t>/o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sclera (white of the eye)</a:t>
                      </a:r>
                    </a:p>
                  </a:txBody>
                  <a:tcPr/>
                </a:tc>
                <a:extLst>
                  <a:ext uri="{0D108BD9-81ED-4DB2-BD59-A6C34878D82A}">
                    <a16:rowId xmlns:a16="http://schemas.microsoft.com/office/drawing/2014/main" val="10004"/>
                  </a:ext>
                </a:extLst>
              </a:tr>
              <a:tr h="370840">
                <a:tc>
                  <a:txBody>
                    <a:bodyPr/>
                    <a:lstStyle/>
                    <a:p>
                      <a:r>
                        <a:rPr lang="en-US" sz="2400" b="1" dirty="0" err="1"/>
                        <a:t>uve</a:t>
                      </a:r>
                      <a:r>
                        <a:rPr lang="en-US" sz="2400" b="1" dirty="0"/>
                        <a:t>/o</a:t>
                      </a:r>
                      <a:endParaRPr lang="en-US" sz="2400" dirty="0"/>
                    </a:p>
                  </a:txBody>
                  <a:tcPr/>
                </a:tc>
                <a:tc>
                  <a:txBody>
                    <a:bodyPr/>
                    <a:lstStyle/>
                    <a:p>
                      <a:r>
                        <a:rPr lang="en-US" sz="2400" dirty="0"/>
                        <a:t>uvea</a:t>
                      </a:r>
                    </a:p>
                  </a:txBody>
                  <a:tcPr/>
                </a:tc>
                <a:extLst>
                  <a:ext uri="{0D108BD9-81ED-4DB2-BD59-A6C34878D82A}">
                    <a16:rowId xmlns:a16="http://schemas.microsoft.com/office/drawing/2014/main" val="10005"/>
                  </a:ext>
                </a:extLst>
              </a:tr>
              <a:tr h="370840">
                <a:tc>
                  <a:txBody>
                    <a:bodyPr/>
                    <a:lstStyle/>
                    <a:p>
                      <a:r>
                        <a:rPr lang="en-US" sz="2400" b="1" dirty="0" err="1"/>
                        <a:t>vitre</a:t>
                      </a:r>
                      <a:r>
                        <a:rPr lang="en-US" sz="2400" b="1" dirty="0"/>
                        <a:t>/o</a:t>
                      </a:r>
                      <a:endParaRPr lang="en-US" sz="2400" dirty="0"/>
                    </a:p>
                  </a:txBody>
                  <a:tcPr/>
                </a:tc>
                <a:tc>
                  <a:txBody>
                    <a:bodyPr/>
                    <a:lstStyle/>
                    <a:p>
                      <a:r>
                        <a:rPr lang="en-US" sz="2400" dirty="0"/>
                        <a:t>glassy</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63551384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4000" dirty="0"/>
              <a:t>Terminology – Conditions (Slide 1 of 2)</a:t>
            </a:r>
          </a:p>
        </p:txBody>
      </p:sp>
      <p:graphicFrame>
        <p:nvGraphicFramePr>
          <p:cNvPr id="8" name="Content Placeholder 7" descr="Group 1 of 2 combining forms  from the Terminology:  Conditions section of the textbook  with corresponding meanings or definitions. "/>
          <p:cNvGraphicFramePr>
            <a:graphicFrameLocks noGrp="1"/>
          </p:cNvGraphicFramePr>
          <p:nvPr>
            <p:ph idx="1"/>
            <p:extLst>
              <p:ext uri="{D42A27DB-BD31-4B8C-83A1-F6EECF244321}">
                <p14:modId xmlns:p14="http://schemas.microsoft.com/office/powerpoint/2010/main" val="3800676001"/>
              </p:ext>
            </p:extLst>
          </p:nvPr>
        </p:nvGraphicFramePr>
        <p:xfrm>
          <a:off x="457200" y="1600200"/>
          <a:ext cx="8229600" cy="3200400"/>
        </p:xfrm>
        <a:graphic>
          <a:graphicData uri="http://schemas.openxmlformats.org/drawingml/2006/table">
            <a:tbl>
              <a:tblPr firstRow="1" bandRow="1">
                <a:tableStyleId>{68D230F3-CF80-4859-8CE7-A43EE81993B5}</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sz="2400" b="1" dirty="0" err="1"/>
                        <a:t>ambly</a:t>
                      </a:r>
                      <a:r>
                        <a:rPr lang="en-US" sz="2400" b="1" dirty="0"/>
                        <a:t>/o</a:t>
                      </a:r>
                      <a:endParaRPr lang="en-US" sz="2400" dirty="0"/>
                    </a:p>
                  </a:txBody>
                  <a:tcPr/>
                </a:tc>
                <a:tc>
                  <a:txBody>
                    <a:bodyPr/>
                    <a:lstStyle/>
                    <a:p>
                      <a:r>
                        <a:rPr lang="en-US" sz="2400" dirty="0"/>
                        <a:t>dull, dim</a:t>
                      </a:r>
                    </a:p>
                  </a:txBody>
                  <a:tcPr/>
                </a:tc>
                <a:extLst>
                  <a:ext uri="{0D108BD9-81ED-4DB2-BD59-A6C34878D82A}">
                    <a16:rowId xmlns:a16="http://schemas.microsoft.com/office/drawing/2014/main" val="10001"/>
                  </a:ext>
                </a:extLst>
              </a:tr>
              <a:tr h="370840">
                <a:tc>
                  <a:txBody>
                    <a:bodyPr/>
                    <a:lstStyle/>
                    <a:p>
                      <a:r>
                        <a:rPr lang="en-US" sz="2400" b="1" dirty="0" err="1"/>
                        <a:t>dipl</a:t>
                      </a:r>
                      <a:r>
                        <a:rPr lang="en-US" sz="2400" b="1" dirty="0"/>
                        <a:t>/o</a:t>
                      </a:r>
                      <a:endParaRPr lang="en-US" sz="2400" dirty="0"/>
                    </a:p>
                  </a:txBody>
                  <a:tcPr/>
                </a:tc>
                <a:tc>
                  <a:txBody>
                    <a:bodyPr/>
                    <a:lstStyle/>
                    <a:p>
                      <a:r>
                        <a:rPr lang="en-US" sz="2400" dirty="0"/>
                        <a:t>double</a:t>
                      </a:r>
                    </a:p>
                  </a:txBody>
                  <a:tcPr/>
                </a:tc>
                <a:extLst>
                  <a:ext uri="{0D108BD9-81ED-4DB2-BD59-A6C34878D82A}">
                    <a16:rowId xmlns:a16="http://schemas.microsoft.com/office/drawing/2014/main" val="10002"/>
                  </a:ext>
                </a:extLst>
              </a:tr>
              <a:tr h="370840">
                <a:tc>
                  <a:txBody>
                    <a:bodyPr/>
                    <a:lstStyle/>
                    <a:p>
                      <a:r>
                        <a:rPr lang="en-US" sz="2400" b="1" dirty="0" err="1"/>
                        <a:t>glauc</a:t>
                      </a:r>
                      <a:r>
                        <a:rPr lang="en-US" sz="2400" b="1" dirty="0"/>
                        <a:t>/o</a:t>
                      </a:r>
                      <a:endParaRPr lang="en-US" sz="2400" dirty="0"/>
                    </a:p>
                  </a:txBody>
                  <a:tcPr/>
                </a:tc>
                <a:tc>
                  <a:txBody>
                    <a:bodyPr/>
                    <a:lstStyle/>
                    <a:p>
                      <a:r>
                        <a:rPr lang="en-US" sz="2400" dirty="0"/>
                        <a:t>gray</a:t>
                      </a:r>
                    </a:p>
                  </a:txBody>
                  <a:tcPr/>
                </a:tc>
                <a:extLst>
                  <a:ext uri="{0D108BD9-81ED-4DB2-BD59-A6C34878D82A}">
                    <a16:rowId xmlns:a16="http://schemas.microsoft.com/office/drawing/2014/main" val="10003"/>
                  </a:ext>
                </a:extLst>
              </a:tr>
              <a:tr h="370840">
                <a:tc>
                  <a:txBody>
                    <a:bodyPr/>
                    <a:lstStyle/>
                    <a:p>
                      <a:r>
                        <a:rPr lang="en-US" sz="2400" b="1" dirty="0"/>
                        <a:t>mi/o</a:t>
                      </a:r>
                      <a:endParaRPr lang="en-US" sz="2400" dirty="0"/>
                    </a:p>
                  </a:txBody>
                  <a:tcPr/>
                </a:tc>
                <a:tc>
                  <a:txBody>
                    <a:bodyPr/>
                    <a:lstStyle/>
                    <a:p>
                      <a:r>
                        <a:rPr lang="en-US" sz="2400" dirty="0"/>
                        <a:t>smaller, less</a:t>
                      </a:r>
                    </a:p>
                  </a:txBody>
                  <a:tcPr/>
                </a:tc>
                <a:extLst>
                  <a:ext uri="{0D108BD9-81ED-4DB2-BD59-A6C34878D82A}">
                    <a16:rowId xmlns:a16="http://schemas.microsoft.com/office/drawing/2014/main" val="10004"/>
                  </a:ext>
                </a:extLst>
              </a:tr>
              <a:tr h="370840">
                <a:tc>
                  <a:txBody>
                    <a:bodyPr/>
                    <a:lstStyle/>
                    <a:p>
                      <a:r>
                        <a:rPr lang="en-US" sz="2400" b="1" dirty="0" err="1"/>
                        <a:t>mydr</a:t>
                      </a:r>
                      <a:r>
                        <a:rPr lang="en-US" sz="2400" b="1" dirty="0"/>
                        <a:t>/o</a:t>
                      </a:r>
                      <a:endParaRPr lang="en-US" sz="2400" dirty="0"/>
                    </a:p>
                  </a:txBody>
                  <a:tcPr/>
                </a:tc>
                <a:tc>
                  <a:txBody>
                    <a:bodyPr/>
                    <a:lstStyle/>
                    <a:p>
                      <a:r>
                        <a:rPr lang="en-US" sz="2400" dirty="0"/>
                        <a:t>widen, enlarge</a:t>
                      </a:r>
                    </a:p>
                  </a:txBody>
                  <a:tcPr/>
                </a:tc>
                <a:extLst>
                  <a:ext uri="{0D108BD9-81ED-4DB2-BD59-A6C34878D82A}">
                    <a16:rowId xmlns:a16="http://schemas.microsoft.com/office/drawing/2014/main" val="10005"/>
                  </a:ext>
                </a:extLst>
              </a:tr>
              <a:tr h="370840">
                <a:tc>
                  <a:txBody>
                    <a:bodyPr/>
                    <a:lstStyle/>
                    <a:p>
                      <a:r>
                        <a:rPr lang="en-US" sz="2400" b="1" dirty="0" err="1"/>
                        <a:t>nyct</a:t>
                      </a:r>
                      <a:r>
                        <a:rPr lang="en-US" sz="2400" b="1" dirty="0"/>
                        <a:t>/o</a:t>
                      </a:r>
                      <a:endParaRPr lang="en-US" sz="2400" dirty="0"/>
                    </a:p>
                  </a:txBody>
                  <a:tcPr/>
                </a:tc>
                <a:tc>
                  <a:txBody>
                    <a:bodyPr/>
                    <a:lstStyle/>
                    <a:p>
                      <a:r>
                        <a:rPr lang="en-US" sz="2400" dirty="0"/>
                        <a:t>night</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0762952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4000" dirty="0"/>
              <a:t>Terminology – Conditions (Slide 2 of 2)</a:t>
            </a:r>
          </a:p>
        </p:txBody>
      </p:sp>
      <p:graphicFrame>
        <p:nvGraphicFramePr>
          <p:cNvPr id="8" name="Content Placeholder 7" descr="Group 2 of 2 combining forms  from the Terminology:  Conditions section of the textbook  with corresponding meanings or definitions. "/>
          <p:cNvGraphicFramePr>
            <a:graphicFrameLocks noGrp="1"/>
          </p:cNvGraphicFramePr>
          <p:nvPr>
            <p:ph idx="1"/>
            <p:extLst>
              <p:ext uri="{D42A27DB-BD31-4B8C-83A1-F6EECF244321}">
                <p14:modId xmlns:p14="http://schemas.microsoft.com/office/powerpoint/2010/main" val="4261973569"/>
              </p:ext>
            </p:extLst>
          </p:nvPr>
        </p:nvGraphicFramePr>
        <p:xfrm>
          <a:off x="457200" y="1600200"/>
          <a:ext cx="8229600" cy="2286000"/>
        </p:xfrm>
        <a:graphic>
          <a:graphicData uri="http://schemas.openxmlformats.org/drawingml/2006/table">
            <a:tbl>
              <a:tblPr firstRow="1" bandRow="1">
                <a:tableStyleId>{68D230F3-CF80-4859-8CE7-A43EE81993B5}</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phot</a:t>
                      </a:r>
                      <a:r>
                        <a:rPr lang="en-US" altLang="en-US" sz="2400" b="1" dirty="0"/>
                        <a:t>/o</a:t>
                      </a:r>
                      <a:endParaRPr lang="en-US" sz="2400" dirty="0"/>
                    </a:p>
                  </a:txBody>
                  <a:tcPr/>
                </a:tc>
                <a:tc>
                  <a:txBody>
                    <a:bodyPr/>
                    <a:lstStyle/>
                    <a:p>
                      <a:r>
                        <a:rPr lang="en-US" altLang="en-US" sz="2400" dirty="0"/>
                        <a:t>light</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presby</a:t>
                      </a:r>
                      <a:r>
                        <a:rPr lang="en-US" altLang="en-US" sz="2400" b="1" dirty="0"/>
                        <a:t>/o</a:t>
                      </a:r>
                      <a:endParaRPr lang="en-US" sz="2400" dirty="0"/>
                    </a:p>
                  </a:txBody>
                  <a:tcPr/>
                </a:tc>
                <a:tc>
                  <a:txBody>
                    <a:bodyPr/>
                    <a:lstStyle/>
                    <a:p>
                      <a:r>
                        <a:rPr lang="en-US" altLang="en-US" sz="2400" dirty="0"/>
                        <a:t>old age</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scot/o</a:t>
                      </a:r>
                      <a:endParaRPr lang="en-US" sz="2400" dirty="0"/>
                    </a:p>
                  </a:txBody>
                  <a:tcPr/>
                </a:tc>
                <a:tc>
                  <a:txBody>
                    <a:bodyPr/>
                    <a:lstStyle/>
                    <a:p>
                      <a:r>
                        <a:rPr lang="en-US" altLang="en-US" sz="2400" dirty="0"/>
                        <a:t>darkness</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xer</a:t>
                      </a:r>
                      <a:r>
                        <a:rPr lang="en-US" altLang="en-US" sz="2400" b="1" dirty="0"/>
                        <a:t>/o</a:t>
                      </a:r>
                      <a:endParaRPr lang="en-US" sz="2400" dirty="0"/>
                    </a:p>
                  </a:txBody>
                  <a:tcPr/>
                </a:tc>
                <a:tc>
                  <a:txBody>
                    <a:bodyPr/>
                    <a:lstStyle/>
                    <a:p>
                      <a:r>
                        <a:rPr lang="en-US" altLang="en-US" sz="2400" dirty="0"/>
                        <a:t>dry</a:t>
                      </a:r>
                      <a:endParaRPr lang="en-US" sz="2400" dirty="0"/>
                    </a:p>
                  </a:txBody>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68932588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4000" dirty="0"/>
              <a:t>Terminology – Suffixes--Conditions </a:t>
            </a:r>
          </a:p>
        </p:txBody>
      </p:sp>
      <p:graphicFrame>
        <p:nvGraphicFramePr>
          <p:cNvPr id="8" name="Content Placeholder 7" descr="List of Suffixes from  from the Terminology:  Conditions section of the textbook  with corresponding meanings or definitions. "/>
          <p:cNvGraphicFramePr>
            <a:graphicFrameLocks noGrp="1"/>
          </p:cNvGraphicFramePr>
          <p:nvPr>
            <p:ph idx="1"/>
            <p:extLst>
              <p:ext uri="{D42A27DB-BD31-4B8C-83A1-F6EECF244321}">
                <p14:modId xmlns:p14="http://schemas.microsoft.com/office/powerpoint/2010/main" val="1479291"/>
              </p:ext>
            </p:extLst>
          </p:nvPr>
        </p:nvGraphicFramePr>
        <p:xfrm>
          <a:off x="457200" y="1600200"/>
          <a:ext cx="8229600" cy="1828800"/>
        </p:xfrm>
        <a:graphic>
          <a:graphicData uri="http://schemas.openxmlformats.org/drawingml/2006/table">
            <a:tbl>
              <a:tblPr firstRow="1" bandRow="1">
                <a:tableStyleId>{68D230F3-CF80-4859-8CE7-A43EE81993B5}</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Suffix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a:t>
                      </a:r>
                      <a:r>
                        <a:rPr lang="en-US" altLang="en-US" sz="2400" b="1" dirty="0" err="1"/>
                        <a:t>opia</a:t>
                      </a:r>
                      <a:endParaRPr lang="en-US" sz="2400" dirty="0"/>
                    </a:p>
                  </a:txBody>
                  <a:tcPr/>
                </a:tc>
                <a:tc>
                  <a:txBody>
                    <a:bodyPr/>
                    <a:lstStyle/>
                    <a:p>
                      <a:r>
                        <a:rPr lang="en-US" altLang="en-US" sz="2400" dirty="0"/>
                        <a:t>vision</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a:t>
                      </a:r>
                      <a:r>
                        <a:rPr lang="en-US" altLang="en-US" sz="2400" b="1" dirty="0" err="1"/>
                        <a:t>opsia</a:t>
                      </a:r>
                      <a:endParaRPr lang="en-US" sz="2400" dirty="0"/>
                    </a:p>
                  </a:txBody>
                  <a:tcPr/>
                </a:tc>
                <a:tc>
                  <a:txBody>
                    <a:bodyPr/>
                    <a:lstStyle/>
                    <a:p>
                      <a:r>
                        <a:rPr lang="en-US" altLang="en-US" sz="2400" dirty="0"/>
                        <a:t>vision</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a:t>
                      </a:r>
                      <a:r>
                        <a:rPr lang="en-US" altLang="en-US" sz="2400" b="1" dirty="0" err="1"/>
                        <a:t>tropia</a:t>
                      </a:r>
                      <a:endParaRPr lang="en-US" sz="2400" dirty="0"/>
                    </a:p>
                  </a:txBody>
                  <a:tcPr/>
                </a:tc>
                <a:tc>
                  <a:txBody>
                    <a:bodyPr/>
                    <a:lstStyle/>
                    <a:p>
                      <a:r>
                        <a:rPr lang="en-US" altLang="en-US" sz="2400" dirty="0"/>
                        <a:t>to turn</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66792251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026"/>
          <p:cNvSpPr>
            <a:spLocks noGrp="1" noChangeArrowheads="1"/>
          </p:cNvSpPr>
          <p:nvPr>
            <p:ph type="title"/>
          </p:nvPr>
        </p:nvSpPr>
        <p:spPr>
          <a:xfrm>
            <a:off x="457200" y="228600"/>
            <a:ext cx="7772400" cy="1219200"/>
          </a:xfrm>
        </p:spPr>
        <p:txBody>
          <a:bodyPr/>
          <a:lstStyle/>
          <a:p>
            <a:pPr eaLnBrk="1" hangingPunct="1"/>
            <a:r>
              <a:rPr lang="en-US" altLang="en-US" dirty="0"/>
              <a:t>      QUICK QUIZ (Slide 2 of 3)</a:t>
            </a:r>
            <a:endParaRPr lang="en-US" altLang="en-US" sz="4800" dirty="0"/>
          </a:p>
        </p:txBody>
      </p:sp>
      <p:sp>
        <p:nvSpPr>
          <p:cNvPr id="38915" name="Rectangle 1027"/>
          <p:cNvSpPr>
            <a:spLocks noGrp="1" noChangeArrowheads="1"/>
          </p:cNvSpPr>
          <p:nvPr>
            <p:ph idx="1"/>
          </p:nvPr>
        </p:nvSpPr>
        <p:spPr>
          <a:xfrm>
            <a:off x="685800" y="1600200"/>
            <a:ext cx="6934200" cy="4032250"/>
          </a:xfrm>
        </p:spPr>
        <p:txBody>
          <a:bodyPr>
            <a:spAutoFit/>
          </a:bodyPr>
          <a:lstStyle/>
          <a:p>
            <a:pPr marL="533400" indent="-533400" eaLnBrk="1" hangingPunct="1">
              <a:buFont typeface="+mj-lt"/>
              <a:buAutoNum type="arabicPeriod" startAt="2"/>
            </a:pPr>
            <a:r>
              <a:rPr lang="en-US" altLang="en-US" b="1" dirty="0"/>
              <a:t>Which term means inflammation of the eyelid?</a:t>
            </a:r>
          </a:p>
          <a:p>
            <a:pPr marL="533400" indent="-533400" eaLnBrk="1" hangingPunct="1">
              <a:buFont typeface="Wingdings 2" panose="05020102010507070707" pitchFamily="18" charset="2"/>
              <a:buNone/>
            </a:pPr>
            <a:endParaRPr lang="en-US" altLang="en-US" b="1" dirty="0"/>
          </a:p>
          <a:p>
            <a:pPr marL="914400" lvl="1" indent="-457200" eaLnBrk="1" hangingPunct="1">
              <a:buFont typeface="Arial" panose="020B0604020202020204" pitchFamily="34" charset="0"/>
              <a:buAutoNum type="alphaUcPeriod"/>
            </a:pPr>
            <a:r>
              <a:rPr lang="en-US" altLang="en-US" sz="3200" dirty="0" err="1">
                <a:ea typeface="MS PGothic" panose="020B0600070205080204" pitchFamily="34" charset="-128"/>
              </a:rPr>
              <a:t>Ophthalmoplegia</a:t>
            </a:r>
            <a:endParaRPr lang="en-US" altLang="en-US" sz="3200" dirty="0">
              <a:ea typeface="MS PGothic" panose="020B0600070205080204" pitchFamily="34" charset="-128"/>
            </a:endParaRPr>
          </a:p>
          <a:p>
            <a:pPr marL="914400" lvl="1" indent="-457200" eaLnBrk="1" hangingPunct="1">
              <a:buFont typeface="Arial" panose="020B0604020202020204" pitchFamily="34" charset="0"/>
              <a:buAutoNum type="alphaUcPeriod"/>
            </a:pPr>
            <a:r>
              <a:rPr lang="en-US" altLang="en-US" sz="3200" dirty="0">
                <a:ea typeface="MS PGothic" panose="020B0600070205080204" pitchFamily="34" charset="-128"/>
              </a:rPr>
              <a:t>Keratitis</a:t>
            </a:r>
          </a:p>
          <a:p>
            <a:pPr marL="914400" lvl="1" indent="-457200" eaLnBrk="1" hangingPunct="1">
              <a:buFont typeface="Arial" panose="020B0604020202020204" pitchFamily="34" charset="0"/>
              <a:buAutoNum type="alphaUcPeriod"/>
            </a:pPr>
            <a:r>
              <a:rPr lang="en-US" altLang="en-US" sz="3200" dirty="0" err="1">
                <a:ea typeface="MS PGothic" panose="020B0600070205080204" pitchFamily="34" charset="-128"/>
              </a:rPr>
              <a:t>Blepharitis</a:t>
            </a:r>
            <a:endParaRPr lang="en-US" altLang="en-US" sz="3200" dirty="0">
              <a:ea typeface="MS PGothic" panose="020B0600070205080204" pitchFamily="34" charset="-128"/>
            </a:endParaRPr>
          </a:p>
          <a:p>
            <a:pPr marL="914400" lvl="1" indent="-457200" eaLnBrk="1" hangingPunct="1">
              <a:buFont typeface="Arial" panose="020B0604020202020204" pitchFamily="34" charset="0"/>
              <a:buAutoNum type="alphaUcPeriod"/>
            </a:pPr>
            <a:r>
              <a:rPr lang="en-US" altLang="en-US" sz="3200" dirty="0" err="1">
                <a:ea typeface="MS PGothic" panose="020B0600070205080204" pitchFamily="34" charset="-128"/>
              </a:rPr>
              <a:t>Blepharoptosis</a:t>
            </a:r>
            <a:endParaRPr lang="en-US" altLang="en-US" dirty="0">
              <a:ea typeface="MS PGothic" panose="020B0600070205080204" pitchFamily="34" charset="-128"/>
            </a:endParaRPr>
          </a:p>
        </p:txBody>
      </p:sp>
    </p:spTree>
    <p:extLst>
      <p:ext uri="{BB962C8B-B14F-4D97-AF65-F5344CB8AC3E}">
        <p14:creationId xmlns:p14="http://schemas.microsoft.com/office/powerpoint/2010/main" val="55154592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6"/>
          <p:cNvSpPr>
            <a:spLocks noGrp="1" noChangeArrowheads="1"/>
          </p:cNvSpPr>
          <p:nvPr>
            <p:ph type="title"/>
          </p:nvPr>
        </p:nvSpPr>
        <p:spPr/>
        <p:txBody>
          <a:bodyPr/>
          <a:lstStyle/>
          <a:p>
            <a:pPr eaLnBrk="1" hangingPunct="1"/>
            <a:r>
              <a:rPr lang="en-US" altLang="en-US" dirty="0"/>
              <a:t>Errors of Refraction (Slide 1 of 2)</a:t>
            </a:r>
          </a:p>
        </p:txBody>
      </p:sp>
      <p:sp>
        <p:nvSpPr>
          <p:cNvPr id="39939" name="Rectangle 7"/>
          <p:cNvSpPr>
            <a:spLocks noGrp="1" noChangeArrowheads="1"/>
          </p:cNvSpPr>
          <p:nvPr>
            <p:ph idx="1"/>
          </p:nvPr>
        </p:nvSpPr>
        <p:spPr/>
        <p:txBody>
          <a:bodyPr/>
          <a:lstStyle/>
          <a:p>
            <a:pPr eaLnBrk="1" hangingPunct="1"/>
            <a:r>
              <a:rPr lang="en-US" altLang="en-US" b="1"/>
              <a:t>Astigmatism:</a:t>
            </a:r>
            <a:r>
              <a:rPr lang="en-US" altLang="en-US"/>
              <a:t> defective curvature of the cornea or lens of the eye</a:t>
            </a:r>
          </a:p>
          <a:p>
            <a:pPr eaLnBrk="1" hangingPunct="1"/>
            <a:r>
              <a:rPr lang="en-US" altLang="en-US" b="1"/>
              <a:t>Hyperopia:</a:t>
            </a:r>
            <a:r>
              <a:rPr lang="en-US" altLang="en-US"/>
              <a:t> farsightedness</a:t>
            </a:r>
          </a:p>
          <a:p>
            <a:pPr eaLnBrk="1" hangingPunct="1"/>
            <a:r>
              <a:rPr lang="en-US" altLang="en-US" b="1"/>
              <a:t>Myopia:</a:t>
            </a:r>
            <a:r>
              <a:rPr lang="en-US" altLang="en-US"/>
              <a:t> nearsightedness</a:t>
            </a:r>
          </a:p>
          <a:p>
            <a:pPr eaLnBrk="1" hangingPunct="1"/>
            <a:r>
              <a:rPr lang="en-US" altLang="en-US" b="1"/>
              <a:t>Presbyopia:</a:t>
            </a:r>
            <a:r>
              <a:rPr lang="en-US" altLang="en-US"/>
              <a:t> impairment of vision due to old age reducing lens accommodation</a:t>
            </a:r>
          </a:p>
        </p:txBody>
      </p:sp>
    </p:spTree>
    <p:extLst>
      <p:ext uri="{BB962C8B-B14F-4D97-AF65-F5344CB8AC3E}">
        <p14:creationId xmlns:p14="http://schemas.microsoft.com/office/powerpoint/2010/main" val="277680309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altLang="en-US" dirty="0"/>
              <a:t>Errors of Refraction (Slide 2 of 2</a:t>
            </a:r>
            <a:r>
              <a:rPr lang="en-US" altLang="ja-JP" dirty="0"/>
              <a:t>)</a:t>
            </a:r>
            <a:endParaRPr lang="en-US" altLang="en-US" dirty="0"/>
          </a:p>
        </p:txBody>
      </p:sp>
      <p:pic>
        <p:nvPicPr>
          <p:cNvPr id="5" name="Picture 8" descr="Errors of refraction in the eye: Astigmatism is a defective curvature of the cornea or lens. Hyperopia (farsightedness) is a condition where the eyeball is too short or the refractive power of the lens is too weak. Myopia (nearsightedness) is a condition where the eyeball is too long or the refractive power of the lens so strong that light rays do not properly focus on the retina."/>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463656" y="1600200"/>
            <a:ext cx="4216688"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54291671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15"/>
          <p:cNvSpPr>
            <a:spLocks noGrp="1" noChangeArrowheads="1"/>
          </p:cNvSpPr>
          <p:nvPr>
            <p:ph type="title"/>
          </p:nvPr>
        </p:nvSpPr>
        <p:spPr/>
        <p:txBody>
          <a:bodyPr/>
          <a:lstStyle/>
          <a:p>
            <a:pPr eaLnBrk="1" hangingPunct="1"/>
            <a:r>
              <a:rPr lang="en-US" altLang="en-US" dirty="0"/>
              <a:t>Abnormal Conditions (Slide 1 of 6)</a:t>
            </a:r>
            <a:br>
              <a:rPr lang="en-US" altLang="en-US" dirty="0"/>
            </a:br>
            <a:r>
              <a:rPr lang="en-US" altLang="en-US" sz="3600" dirty="0"/>
              <a:t>Cataract:  Clouding of the Lens</a:t>
            </a:r>
          </a:p>
        </p:txBody>
      </p:sp>
      <p:pic>
        <p:nvPicPr>
          <p:cNvPr id="7" name="Picture 16" descr="A cataract is clouding of the lens, causing decreased vision."/>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071894" y="2057400"/>
            <a:ext cx="5000211" cy="32584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76409680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1030"/>
          <p:cNvSpPr>
            <a:spLocks noGrp="1" noChangeArrowheads="1"/>
          </p:cNvSpPr>
          <p:nvPr>
            <p:ph type="title"/>
          </p:nvPr>
        </p:nvSpPr>
        <p:spPr/>
        <p:txBody>
          <a:bodyPr/>
          <a:lstStyle/>
          <a:p>
            <a:pPr eaLnBrk="1" hangingPunct="1"/>
            <a:r>
              <a:rPr lang="en-US" altLang="en-US" dirty="0"/>
              <a:t>Abnormal Conditions (Slide 2 of 6)</a:t>
            </a:r>
          </a:p>
        </p:txBody>
      </p:sp>
      <p:sp>
        <p:nvSpPr>
          <p:cNvPr id="43011" name="Rectangle 1031"/>
          <p:cNvSpPr>
            <a:spLocks noGrp="1" noChangeArrowheads="1"/>
          </p:cNvSpPr>
          <p:nvPr>
            <p:ph sz="half" idx="1"/>
          </p:nvPr>
        </p:nvSpPr>
        <p:spPr>
          <a:xfrm>
            <a:off x="800100" y="1600200"/>
            <a:ext cx="7543800" cy="1676400"/>
          </a:xfrm>
        </p:spPr>
        <p:txBody>
          <a:bodyPr/>
          <a:lstStyle/>
          <a:p>
            <a:pPr eaLnBrk="1" hangingPunct="1">
              <a:buFont typeface="Wingdings 2" panose="05020102010507070707" pitchFamily="18" charset="2"/>
              <a:buNone/>
            </a:pPr>
            <a:r>
              <a:rPr lang="en-US" altLang="en-US" b="1" dirty="0" err="1"/>
              <a:t>Chalazion</a:t>
            </a:r>
            <a:r>
              <a:rPr lang="en-US" altLang="en-US" b="1" dirty="0"/>
              <a:t>:</a:t>
            </a:r>
            <a:r>
              <a:rPr lang="en-US" altLang="en-US" sz="2400" dirty="0"/>
              <a:t> a </a:t>
            </a:r>
            <a:r>
              <a:rPr lang="en-US" altLang="en-US" sz="2800" dirty="0"/>
              <a:t>small, hard, cystic mass on the eyelid; formed as a result of chronic inflammation of sebaceous gland along margin of eyelid</a:t>
            </a:r>
          </a:p>
        </p:txBody>
      </p:sp>
      <p:pic>
        <p:nvPicPr>
          <p:cNvPr id="6" name="Picture 1037" descr="A chalazion is a small, hard, cystic mass on the eyelid; formed as a result of chronic inflammation of sebaceous gland along margin of eyelid."/>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1752600" y="3491821"/>
            <a:ext cx="5056013" cy="264598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44332420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6"/>
          <p:cNvSpPr>
            <a:spLocks noGrp="1" noChangeArrowheads="1"/>
          </p:cNvSpPr>
          <p:nvPr>
            <p:ph type="title"/>
          </p:nvPr>
        </p:nvSpPr>
        <p:spPr/>
        <p:txBody>
          <a:bodyPr/>
          <a:lstStyle/>
          <a:p>
            <a:pPr eaLnBrk="1" hangingPunct="1"/>
            <a:r>
              <a:rPr lang="en-US" altLang="en-US" dirty="0"/>
              <a:t>Abnormal Conditions (Slide 3 of 6)</a:t>
            </a:r>
          </a:p>
        </p:txBody>
      </p:sp>
      <p:sp>
        <p:nvSpPr>
          <p:cNvPr id="44035" name="Rectangle 7"/>
          <p:cNvSpPr>
            <a:spLocks noGrp="1" noChangeArrowheads="1"/>
          </p:cNvSpPr>
          <p:nvPr>
            <p:ph idx="1"/>
          </p:nvPr>
        </p:nvSpPr>
        <p:spPr>
          <a:xfrm>
            <a:off x="685800" y="1600200"/>
            <a:ext cx="6934200" cy="3657600"/>
          </a:xfrm>
        </p:spPr>
        <p:txBody>
          <a:bodyPr/>
          <a:lstStyle/>
          <a:p>
            <a:pPr eaLnBrk="1" hangingPunct="1"/>
            <a:r>
              <a:rPr lang="en-US" altLang="en-US" b="1"/>
              <a:t>Diabetic retinopathy:</a:t>
            </a:r>
            <a:r>
              <a:rPr lang="en-US" altLang="en-US"/>
              <a:t> retinal effects caused by diabetes mellitus include: </a:t>
            </a:r>
          </a:p>
          <a:p>
            <a:pPr lvl="1" eaLnBrk="1" hangingPunct="1">
              <a:buFont typeface="Wingdings" panose="05000000000000000000" pitchFamily="2" charset="2"/>
              <a:buChar char="Ø"/>
            </a:pPr>
            <a:r>
              <a:rPr lang="en-US" altLang="en-US"/>
              <a:t>Microaneurysms </a:t>
            </a:r>
          </a:p>
          <a:p>
            <a:pPr lvl="1" eaLnBrk="1" hangingPunct="1">
              <a:buFont typeface="Wingdings" panose="05000000000000000000" pitchFamily="2" charset="2"/>
              <a:buChar char="Ø"/>
            </a:pPr>
            <a:r>
              <a:rPr lang="en-US" altLang="en-US"/>
              <a:t>Hemorrhages </a:t>
            </a:r>
          </a:p>
          <a:p>
            <a:pPr lvl="1" eaLnBrk="1" hangingPunct="1">
              <a:buFont typeface="Wingdings" panose="05000000000000000000" pitchFamily="2" charset="2"/>
              <a:buChar char="Ø"/>
            </a:pPr>
            <a:r>
              <a:rPr lang="en-US" altLang="en-US"/>
              <a:t>Dilation of retinal veins</a:t>
            </a:r>
          </a:p>
          <a:p>
            <a:pPr lvl="1" eaLnBrk="1" hangingPunct="1">
              <a:buFont typeface="Wingdings" panose="05000000000000000000" pitchFamily="2" charset="2"/>
              <a:buChar char="Ø"/>
            </a:pPr>
            <a:r>
              <a:rPr lang="en-US" altLang="en-US"/>
              <a:t>Neovascularization</a:t>
            </a:r>
          </a:p>
        </p:txBody>
      </p:sp>
    </p:spTree>
    <p:extLst>
      <p:ext uri="{BB962C8B-B14F-4D97-AF65-F5344CB8AC3E}">
        <p14:creationId xmlns:p14="http://schemas.microsoft.com/office/powerpoint/2010/main" val="1821007625"/>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p:txBody>
          <a:bodyPr/>
          <a:lstStyle/>
          <a:p>
            <a:pPr eaLnBrk="1" hangingPunct="1"/>
            <a:r>
              <a:rPr lang="en-US" altLang="en-US" dirty="0"/>
              <a:t>Abnormal Conditions </a:t>
            </a:r>
            <a:br>
              <a:rPr lang="en-US" altLang="en-US" dirty="0"/>
            </a:br>
            <a:r>
              <a:rPr lang="en-US" altLang="en-US" dirty="0"/>
              <a:t> (Slide 4 of 6)</a:t>
            </a:r>
          </a:p>
        </p:txBody>
      </p:sp>
      <p:sp>
        <p:nvSpPr>
          <p:cNvPr id="45059" name="Rectangle 3"/>
          <p:cNvSpPr>
            <a:spLocks noGrp="1" noChangeArrowheads="1"/>
          </p:cNvSpPr>
          <p:nvPr>
            <p:ph sz="half" idx="1"/>
          </p:nvPr>
        </p:nvSpPr>
        <p:spPr>
          <a:xfrm>
            <a:off x="457200" y="1600201"/>
            <a:ext cx="6705600" cy="1905000"/>
          </a:xfrm>
        </p:spPr>
        <p:txBody>
          <a:bodyPr/>
          <a:lstStyle/>
          <a:p>
            <a:pPr eaLnBrk="1" hangingPunct="1">
              <a:buClr>
                <a:srgbClr val="CC0066"/>
              </a:buClr>
              <a:buFont typeface="Wingdings" panose="05000000000000000000" pitchFamily="2" charset="2"/>
              <a:buNone/>
            </a:pPr>
            <a:r>
              <a:rPr lang="en-US" altLang="en-US" b="1" dirty="0"/>
              <a:t>Glaucoma:</a:t>
            </a:r>
            <a:r>
              <a:rPr lang="en-US" altLang="en-US" dirty="0"/>
              <a:t> increased intraocular pressure damages the retina and optic nerve</a:t>
            </a:r>
          </a:p>
        </p:txBody>
      </p:sp>
      <p:pic>
        <p:nvPicPr>
          <p:cNvPr id="6" name="Picture 9" descr="Glaucoma is a condition where increased intraocular pressure damages the retina and optic nerve."/>
          <p:cNvPicPr>
            <a:picLocks noGrp="1" noChangeAspect="1" noChangeArrowheads="1"/>
          </p:cNvPicPr>
          <p:nvPr>
            <p:ph sz="half" idx="2"/>
          </p:nvPr>
        </p:nvPicPr>
        <p:blipFill rotWithShape="1">
          <a:blip r:embed="rId3">
            <a:extLst>
              <a:ext uri="{28A0092B-C50C-407E-A947-70E740481C1C}">
                <a14:useLocalDpi xmlns:a14="http://schemas.microsoft.com/office/drawing/2010/main" val="0"/>
              </a:ext>
            </a:extLst>
          </a:blip>
          <a:srcRect r="26666" b="14351"/>
          <a:stretch/>
        </p:blipFill>
        <p:spPr bwMode="auto">
          <a:xfrm>
            <a:off x="2016011" y="2552701"/>
            <a:ext cx="5111977" cy="388075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7534762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6"/>
          <p:cNvSpPr>
            <a:spLocks noGrp="1" noChangeArrowheads="1"/>
          </p:cNvSpPr>
          <p:nvPr>
            <p:ph type="title"/>
          </p:nvPr>
        </p:nvSpPr>
        <p:spPr/>
        <p:txBody>
          <a:bodyPr/>
          <a:lstStyle/>
          <a:p>
            <a:pPr eaLnBrk="1" hangingPunct="1"/>
            <a:r>
              <a:rPr lang="en-US" altLang="en-US" dirty="0"/>
              <a:t>Abnormal Conditions (Slide 5 of 6)</a:t>
            </a:r>
          </a:p>
        </p:txBody>
      </p:sp>
      <p:sp>
        <p:nvSpPr>
          <p:cNvPr id="46083" name="Rectangle 7"/>
          <p:cNvSpPr>
            <a:spLocks noGrp="1" noChangeArrowheads="1"/>
          </p:cNvSpPr>
          <p:nvPr>
            <p:ph idx="1"/>
          </p:nvPr>
        </p:nvSpPr>
        <p:spPr/>
        <p:txBody>
          <a:bodyPr/>
          <a:lstStyle/>
          <a:p>
            <a:pPr eaLnBrk="1" hangingPunct="1"/>
            <a:r>
              <a:rPr lang="en-US" altLang="en-US" b="1" dirty="0" err="1"/>
              <a:t>Hordeolum</a:t>
            </a:r>
            <a:r>
              <a:rPr lang="en-US" altLang="en-US" b="1" dirty="0"/>
              <a:t> (</a:t>
            </a:r>
            <a:r>
              <a:rPr lang="en-US" altLang="en-US" b="1" dirty="0" err="1"/>
              <a:t>stye</a:t>
            </a:r>
            <a:r>
              <a:rPr lang="en-US" altLang="en-US" b="1" dirty="0"/>
              <a:t>):</a:t>
            </a:r>
            <a:r>
              <a:rPr lang="en-US" altLang="en-US" dirty="0"/>
              <a:t> staph infection of a sebaceous gland in the eyelid</a:t>
            </a:r>
          </a:p>
          <a:p>
            <a:pPr eaLnBrk="1" hangingPunct="1"/>
            <a:r>
              <a:rPr lang="en-US" altLang="en-US" b="1" dirty="0"/>
              <a:t>Macular degeneration:</a:t>
            </a:r>
            <a:r>
              <a:rPr lang="en-US" altLang="en-US" dirty="0"/>
              <a:t> progressive damage to the macular of the retina</a:t>
            </a:r>
          </a:p>
          <a:p>
            <a:pPr eaLnBrk="1" hangingPunct="1"/>
            <a:r>
              <a:rPr lang="en-US" altLang="en-US" b="1" dirty="0" err="1"/>
              <a:t>Nystagmus</a:t>
            </a:r>
            <a:r>
              <a:rPr lang="en-US" altLang="en-US" b="1" dirty="0"/>
              <a:t>:  </a:t>
            </a:r>
            <a:r>
              <a:rPr lang="en-US" altLang="en-US" dirty="0"/>
              <a:t>repetitive rhythmic movements of one or both eyes</a:t>
            </a:r>
            <a:endParaRPr lang="en-US" altLang="en-US" b="1" dirty="0"/>
          </a:p>
          <a:p>
            <a:pPr eaLnBrk="1" hangingPunct="1"/>
            <a:r>
              <a:rPr lang="en-US" altLang="en-US" b="1" dirty="0"/>
              <a:t>Strabismus:</a:t>
            </a:r>
            <a:r>
              <a:rPr lang="en-US" altLang="en-US" dirty="0"/>
              <a:t> abnormal deviation of the eye</a:t>
            </a:r>
          </a:p>
        </p:txBody>
      </p:sp>
    </p:spTree>
    <p:extLst>
      <p:ext uri="{BB962C8B-B14F-4D97-AF65-F5344CB8AC3E}">
        <p14:creationId xmlns:p14="http://schemas.microsoft.com/office/powerpoint/2010/main" val="40683843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6"/>
          <p:cNvSpPr>
            <a:spLocks noGrp="1" noChangeArrowheads="1"/>
          </p:cNvSpPr>
          <p:nvPr>
            <p:ph type="title"/>
          </p:nvPr>
        </p:nvSpPr>
        <p:spPr/>
        <p:txBody>
          <a:bodyPr/>
          <a:lstStyle/>
          <a:p>
            <a:pPr eaLnBrk="1" hangingPunct="1"/>
            <a:r>
              <a:rPr lang="en-US" altLang="en-US" dirty="0"/>
              <a:t>Abnormal Conditions  (Slide 6 of 6)</a:t>
            </a:r>
          </a:p>
        </p:txBody>
      </p:sp>
      <p:sp>
        <p:nvSpPr>
          <p:cNvPr id="47107" name="Rectangle 7"/>
          <p:cNvSpPr>
            <a:spLocks noGrp="1" noChangeArrowheads="1"/>
          </p:cNvSpPr>
          <p:nvPr>
            <p:ph idx="1"/>
          </p:nvPr>
        </p:nvSpPr>
        <p:spPr/>
        <p:txBody>
          <a:bodyPr/>
          <a:lstStyle/>
          <a:p>
            <a:pPr eaLnBrk="1" hangingPunct="1"/>
            <a:r>
              <a:rPr lang="en-US" altLang="en-US" b="1" dirty="0"/>
              <a:t>Retinal detachment:</a:t>
            </a:r>
            <a:r>
              <a:rPr lang="en-US" altLang="en-US" dirty="0"/>
              <a:t> two layers of the retina separate from each other</a:t>
            </a:r>
          </a:p>
          <a:p>
            <a:pPr lvl="1" eaLnBrk="1" hangingPunct="1">
              <a:buFont typeface="Wingdings" panose="05000000000000000000" pitchFamily="2" charset="2"/>
              <a:buChar char="Ø"/>
            </a:pPr>
            <a:r>
              <a:rPr lang="en-US" altLang="en-US" b="1" dirty="0" err="1"/>
              <a:t>Photopsia</a:t>
            </a:r>
            <a:r>
              <a:rPr lang="en-US" altLang="en-US" b="1" dirty="0"/>
              <a:t>:</a:t>
            </a:r>
            <a:r>
              <a:rPr lang="en-US" altLang="en-US" dirty="0"/>
              <a:t> bright flashes of light</a:t>
            </a:r>
          </a:p>
          <a:p>
            <a:pPr lvl="1" eaLnBrk="1" hangingPunct="1">
              <a:buFont typeface="Wingdings" panose="05000000000000000000" pitchFamily="2" charset="2"/>
              <a:buChar char="Ø"/>
            </a:pPr>
            <a:r>
              <a:rPr lang="en-US" altLang="en-US" b="1" dirty="0"/>
              <a:t>Floaters:</a:t>
            </a:r>
            <a:r>
              <a:rPr lang="en-US" altLang="en-US" dirty="0"/>
              <a:t> vitreous clumps of retina</a:t>
            </a:r>
          </a:p>
          <a:p>
            <a:pPr lvl="1" eaLnBrk="1" hangingPunct="1">
              <a:buFont typeface="Wingdings" panose="05000000000000000000" pitchFamily="2" charset="2"/>
              <a:buChar char="Ø"/>
            </a:pPr>
            <a:r>
              <a:rPr lang="en-US" altLang="en-US" b="1" dirty="0" err="1"/>
              <a:t>Scleral</a:t>
            </a:r>
            <a:r>
              <a:rPr lang="en-US" altLang="en-US" b="1" dirty="0"/>
              <a:t> buckle:</a:t>
            </a:r>
            <a:r>
              <a:rPr lang="en-US" altLang="en-US" dirty="0"/>
              <a:t> a belt used to buckle the retina to the sclera</a:t>
            </a:r>
          </a:p>
          <a:p>
            <a:pPr lvl="1" eaLnBrk="1" hangingPunct="1">
              <a:buFont typeface="Wingdings" panose="05000000000000000000" pitchFamily="2" charset="2"/>
              <a:buChar char="Ø"/>
            </a:pPr>
            <a:r>
              <a:rPr lang="en-US" altLang="en-US" b="1" dirty="0"/>
              <a:t>Pneumatic </a:t>
            </a:r>
            <a:r>
              <a:rPr lang="en-US" altLang="en-US" b="1" dirty="0" err="1"/>
              <a:t>retinopexy</a:t>
            </a:r>
            <a:r>
              <a:rPr lang="en-US" altLang="en-US" b="1" dirty="0"/>
              <a:t>:</a:t>
            </a:r>
            <a:r>
              <a:rPr lang="en-US" altLang="en-US" dirty="0"/>
              <a:t> a gas bubble is injected in vitreous cavity to help reattach the retina</a:t>
            </a:r>
          </a:p>
        </p:txBody>
      </p:sp>
    </p:spTree>
    <p:extLst>
      <p:ext uri="{BB962C8B-B14F-4D97-AF65-F5344CB8AC3E}">
        <p14:creationId xmlns:p14="http://schemas.microsoft.com/office/powerpoint/2010/main" val="111320236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Rectangle 2"/>
          <p:cNvSpPr>
            <a:spLocks noGrp="1" noChangeArrowheads="1"/>
          </p:cNvSpPr>
          <p:nvPr>
            <p:ph type="title"/>
          </p:nvPr>
        </p:nvSpPr>
        <p:spPr/>
        <p:txBody>
          <a:bodyPr rtlCol="0">
            <a:normAutofit fontScale="90000"/>
          </a:bodyPr>
          <a:lstStyle/>
          <a:p>
            <a:pPr eaLnBrk="1" fontAlgn="auto" hangingPunct="1">
              <a:spcAft>
                <a:spcPts val="0"/>
              </a:spcAft>
              <a:defRPr/>
            </a:pPr>
            <a:r>
              <a:rPr lang="en-US" dirty="0"/>
              <a:t>Chapter 17</a:t>
            </a:r>
            <a:br>
              <a:rPr lang="en-US" dirty="0"/>
            </a:br>
            <a:r>
              <a:rPr lang="en-US" dirty="0"/>
              <a:t>Lesson 17.2</a:t>
            </a:r>
          </a:p>
        </p:txBody>
      </p:sp>
    </p:spTree>
    <p:extLst>
      <p:ext uri="{BB962C8B-B14F-4D97-AF65-F5344CB8AC3E}">
        <p14:creationId xmlns:p14="http://schemas.microsoft.com/office/powerpoint/2010/main" val="2108993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6"/>
          <p:cNvSpPr>
            <a:spLocks noGrp="1" noChangeArrowheads="1"/>
          </p:cNvSpPr>
          <p:nvPr>
            <p:ph type="title"/>
          </p:nvPr>
        </p:nvSpPr>
        <p:spPr/>
        <p:txBody>
          <a:bodyPr/>
          <a:lstStyle/>
          <a:p>
            <a:pPr eaLnBrk="1" hangingPunct="1"/>
            <a:r>
              <a:rPr lang="en-US" altLang="en-US" dirty="0"/>
              <a:t>Diagnostic Procedures (Slide 1 of 3)</a:t>
            </a:r>
          </a:p>
        </p:txBody>
      </p:sp>
      <p:sp>
        <p:nvSpPr>
          <p:cNvPr id="49155" name="Rectangle 7"/>
          <p:cNvSpPr>
            <a:spLocks noGrp="1" noChangeArrowheads="1"/>
          </p:cNvSpPr>
          <p:nvPr>
            <p:ph idx="1"/>
          </p:nvPr>
        </p:nvSpPr>
        <p:spPr/>
        <p:txBody>
          <a:bodyPr/>
          <a:lstStyle/>
          <a:p>
            <a:pPr eaLnBrk="1" hangingPunct="1"/>
            <a:r>
              <a:rPr lang="en-US" altLang="en-US" b="1" dirty="0" err="1"/>
              <a:t>Fluorescein</a:t>
            </a:r>
            <a:r>
              <a:rPr lang="en-US" altLang="en-US" b="1" dirty="0"/>
              <a:t> angiography:</a:t>
            </a:r>
            <a:r>
              <a:rPr lang="en-US" altLang="en-US" dirty="0"/>
              <a:t> dye injection to examine blood flow in the retina</a:t>
            </a:r>
          </a:p>
          <a:p>
            <a:pPr eaLnBrk="1" hangingPunct="1"/>
            <a:r>
              <a:rPr lang="en-US" altLang="en-US" b="1" dirty="0" err="1"/>
              <a:t>Ophthalmoscopy</a:t>
            </a:r>
            <a:r>
              <a:rPr lang="en-US" altLang="en-US" b="1" dirty="0"/>
              <a:t>:</a:t>
            </a:r>
            <a:r>
              <a:rPr lang="en-US" altLang="en-US" dirty="0"/>
              <a:t> visual examination of the interior of the eye through dilated pupil</a:t>
            </a:r>
          </a:p>
          <a:p>
            <a:pPr eaLnBrk="1" hangingPunct="1"/>
            <a:r>
              <a:rPr lang="en-US" altLang="en-US" b="1" dirty="0"/>
              <a:t>Slit lamp microscopy:</a:t>
            </a:r>
            <a:r>
              <a:rPr lang="en-US" altLang="en-US" dirty="0"/>
              <a:t> magnified view of expanded number of eye structures</a:t>
            </a:r>
          </a:p>
        </p:txBody>
      </p:sp>
    </p:spTree>
    <p:extLst>
      <p:ext uri="{BB962C8B-B14F-4D97-AF65-F5344CB8AC3E}">
        <p14:creationId xmlns:p14="http://schemas.microsoft.com/office/powerpoint/2010/main" val="408710719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5"/>
          <p:cNvSpPr>
            <a:spLocks noGrp="1" noChangeArrowheads="1"/>
          </p:cNvSpPr>
          <p:nvPr>
            <p:ph type="title"/>
          </p:nvPr>
        </p:nvSpPr>
        <p:spPr/>
        <p:txBody>
          <a:bodyPr/>
          <a:lstStyle/>
          <a:p>
            <a:pPr eaLnBrk="1" hangingPunct="1"/>
            <a:r>
              <a:rPr lang="en-US" altLang="en-US" dirty="0"/>
              <a:t>Diagnostic Procedures (Slide 2 of 3)</a:t>
            </a:r>
          </a:p>
        </p:txBody>
      </p:sp>
      <p:sp>
        <p:nvSpPr>
          <p:cNvPr id="50179" name="Rectangle 6"/>
          <p:cNvSpPr>
            <a:spLocks noGrp="1" noChangeArrowheads="1"/>
          </p:cNvSpPr>
          <p:nvPr>
            <p:ph sz="half" idx="1"/>
          </p:nvPr>
        </p:nvSpPr>
        <p:spPr>
          <a:xfrm>
            <a:off x="1219200" y="1600200"/>
            <a:ext cx="6705600" cy="990599"/>
          </a:xfrm>
        </p:spPr>
        <p:txBody>
          <a:bodyPr/>
          <a:lstStyle/>
          <a:p>
            <a:pPr eaLnBrk="1" hangingPunct="1">
              <a:buFont typeface="Wingdings 2" panose="05020102010507070707" pitchFamily="18" charset="2"/>
              <a:buNone/>
            </a:pPr>
            <a:r>
              <a:rPr lang="en-US" altLang="en-US" b="1" dirty="0"/>
              <a:t>Visual acuity test:</a:t>
            </a:r>
            <a:r>
              <a:rPr lang="en-US" altLang="en-US" dirty="0"/>
              <a:t> assesses clarity of vision</a:t>
            </a:r>
          </a:p>
        </p:txBody>
      </p:sp>
      <p:pic>
        <p:nvPicPr>
          <p:cNvPr id="6" name="Picture 12" descr="A Snellen chart is used to test visual acuity, and is expressed as a ratio, such as 20/20. The first number is the distance the patient is standing from the chart. The second number is the distance at which the person with normal vision could read the same line of the chart."/>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2053767" y="2773361"/>
            <a:ext cx="5109033" cy="335280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5309501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5"/>
          <p:cNvSpPr>
            <a:spLocks noGrp="1" noChangeArrowheads="1"/>
          </p:cNvSpPr>
          <p:nvPr>
            <p:ph type="title"/>
          </p:nvPr>
        </p:nvSpPr>
        <p:spPr/>
        <p:txBody>
          <a:bodyPr/>
          <a:lstStyle/>
          <a:p>
            <a:pPr eaLnBrk="1" hangingPunct="1"/>
            <a:r>
              <a:rPr lang="en-US" altLang="en-US" dirty="0"/>
              <a:t>Diagnostic Procedures (Slide 3 of 3)</a:t>
            </a:r>
          </a:p>
        </p:txBody>
      </p:sp>
      <p:sp>
        <p:nvSpPr>
          <p:cNvPr id="51203" name="Rectangle 6"/>
          <p:cNvSpPr>
            <a:spLocks noGrp="1" noChangeArrowheads="1"/>
          </p:cNvSpPr>
          <p:nvPr>
            <p:ph sz="half" idx="1"/>
          </p:nvPr>
        </p:nvSpPr>
        <p:spPr>
          <a:xfrm>
            <a:off x="1257300" y="1578429"/>
            <a:ext cx="6629400" cy="1524000"/>
          </a:xfrm>
        </p:spPr>
        <p:txBody>
          <a:bodyPr/>
          <a:lstStyle/>
          <a:p>
            <a:pPr eaLnBrk="1" hangingPunct="1">
              <a:buFont typeface="Wingdings 2" panose="05020102010507070707" pitchFamily="18" charset="2"/>
              <a:buNone/>
            </a:pPr>
            <a:r>
              <a:rPr lang="en-US" altLang="en-US" b="1" dirty="0"/>
              <a:t>Visual field test:</a:t>
            </a:r>
            <a:r>
              <a:rPr lang="en-US" altLang="en-US" dirty="0"/>
              <a:t> measures visual fields when eyes are fixed forward</a:t>
            </a:r>
          </a:p>
        </p:txBody>
      </p:sp>
      <p:pic>
        <p:nvPicPr>
          <p:cNvPr id="6" name="Picture 12" descr="Visual field test is the measurement of the entire scope of vision (peripheral and central)."/>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2286000" y="2667000"/>
            <a:ext cx="4858024" cy="320629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3492284284"/>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6"/>
          <p:cNvSpPr>
            <a:spLocks noGrp="1" noChangeArrowheads="1"/>
          </p:cNvSpPr>
          <p:nvPr>
            <p:ph type="title"/>
          </p:nvPr>
        </p:nvSpPr>
        <p:spPr/>
        <p:txBody>
          <a:bodyPr/>
          <a:lstStyle/>
          <a:p>
            <a:pPr eaLnBrk="1" hangingPunct="1"/>
            <a:r>
              <a:rPr lang="en-US" altLang="en-US" dirty="0"/>
              <a:t>Treatment  (Slide 1 of 4)</a:t>
            </a:r>
          </a:p>
        </p:txBody>
      </p:sp>
      <p:sp>
        <p:nvSpPr>
          <p:cNvPr id="52227" name="Rectangle 7"/>
          <p:cNvSpPr>
            <a:spLocks noGrp="1" noChangeArrowheads="1"/>
          </p:cNvSpPr>
          <p:nvPr>
            <p:ph idx="1"/>
          </p:nvPr>
        </p:nvSpPr>
        <p:spPr/>
        <p:txBody>
          <a:bodyPr/>
          <a:lstStyle/>
          <a:p>
            <a:pPr eaLnBrk="1" hangingPunct="1"/>
            <a:r>
              <a:rPr lang="en-US" altLang="en-US" b="1"/>
              <a:t>Enucleation:</a:t>
            </a:r>
            <a:r>
              <a:rPr lang="en-US" altLang="en-US"/>
              <a:t> removal of the entire eyeball</a:t>
            </a:r>
          </a:p>
          <a:p>
            <a:pPr eaLnBrk="1" hangingPunct="1"/>
            <a:r>
              <a:rPr lang="en-US" altLang="en-US" b="1"/>
              <a:t>Laser photocoagulation:</a:t>
            </a:r>
            <a:r>
              <a:rPr lang="en-US" altLang="en-US"/>
              <a:t> an argon laser creates an inflammatory reaction that seals retinal tears and leaky blood vessels</a:t>
            </a:r>
          </a:p>
          <a:p>
            <a:pPr eaLnBrk="1" hangingPunct="1"/>
            <a:r>
              <a:rPr lang="en-US" altLang="en-US" b="1"/>
              <a:t>LASIK:</a:t>
            </a:r>
            <a:r>
              <a:rPr lang="en-US" altLang="en-US"/>
              <a:t> laser to correct errors of refraction by sculpting the cornea</a:t>
            </a:r>
          </a:p>
        </p:txBody>
      </p:sp>
    </p:spTree>
    <p:extLst>
      <p:ext uri="{BB962C8B-B14F-4D97-AF65-F5344CB8AC3E}">
        <p14:creationId xmlns:p14="http://schemas.microsoft.com/office/powerpoint/2010/main" val="12944027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p:txBody>
          <a:bodyPr/>
          <a:lstStyle/>
          <a:p>
            <a:pPr eaLnBrk="1" hangingPunct="1"/>
            <a:r>
              <a:rPr lang="en-US" altLang="en-US" dirty="0"/>
              <a:t>Treatment  (Slide 2 of 4)</a:t>
            </a:r>
          </a:p>
        </p:txBody>
      </p:sp>
      <p:sp>
        <p:nvSpPr>
          <p:cNvPr id="53251" name="Rectangle 3"/>
          <p:cNvSpPr>
            <a:spLocks noGrp="1" noChangeArrowheads="1"/>
          </p:cNvSpPr>
          <p:nvPr>
            <p:ph sz="half" idx="1"/>
          </p:nvPr>
        </p:nvSpPr>
        <p:spPr>
          <a:xfrm>
            <a:off x="718457" y="2053431"/>
            <a:ext cx="4038600" cy="1219200"/>
          </a:xfrm>
        </p:spPr>
        <p:txBody>
          <a:bodyPr/>
          <a:lstStyle/>
          <a:p>
            <a:pPr eaLnBrk="1" hangingPunct="1">
              <a:buClr>
                <a:srgbClr val="CC0066"/>
              </a:buClr>
              <a:buFont typeface="Wingdings" panose="05000000000000000000" pitchFamily="2" charset="2"/>
              <a:buNone/>
            </a:pPr>
            <a:r>
              <a:rPr lang="en-US" altLang="en-US" b="1" dirty="0" err="1"/>
              <a:t>Keratoplasty</a:t>
            </a:r>
            <a:r>
              <a:rPr lang="en-US" altLang="en-US" b="1" dirty="0"/>
              <a:t>:</a:t>
            </a:r>
            <a:r>
              <a:rPr lang="en-US" altLang="en-US" dirty="0"/>
              <a:t> surgical repair of the cornea</a:t>
            </a:r>
          </a:p>
        </p:txBody>
      </p:sp>
      <p:pic>
        <p:nvPicPr>
          <p:cNvPr id="6" name="Picture 9" descr="Keratoplasty is the surgical repair of the cornea, also known as corneal transplant procedure."/>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572000" y="2663031"/>
            <a:ext cx="3662363" cy="305196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106031126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lstStyle/>
          <a:p>
            <a:pPr eaLnBrk="1" hangingPunct="1"/>
            <a:r>
              <a:rPr lang="en-US" altLang="en-US" dirty="0"/>
              <a:t>Treatment (Slide 3 of 4)</a:t>
            </a:r>
          </a:p>
        </p:txBody>
      </p:sp>
      <p:sp>
        <p:nvSpPr>
          <p:cNvPr id="54275" name="Rectangle 3"/>
          <p:cNvSpPr>
            <a:spLocks noGrp="1" noChangeArrowheads="1"/>
          </p:cNvSpPr>
          <p:nvPr>
            <p:ph sz="half" idx="1"/>
          </p:nvPr>
        </p:nvSpPr>
        <p:spPr>
          <a:xfrm>
            <a:off x="990600" y="2057400"/>
            <a:ext cx="3657600" cy="2667000"/>
          </a:xfrm>
        </p:spPr>
        <p:txBody>
          <a:bodyPr/>
          <a:lstStyle/>
          <a:p>
            <a:pPr eaLnBrk="1" hangingPunct="1">
              <a:buClr>
                <a:srgbClr val="CC0066"/>
              </a:buClr>
              <a:buFont typeface="Wingdings" panose="05000000000000000000" pitchFamily="2" charset="2"/>
              <a:buNone/>
            </a:pPr>
            <a:r>
              <a:rPr lang="en-US" altLang="en-US" b="1" dirty="0" err="1"/>
              <a:t>Scleral</a:t>
            </a:r>
            <a:r>
              <a:rPr lang="en-US" altLang="en-US" b="1" dirty="0"/>
              <a:t> buckle:</a:t>
            </a:r>
            <a:r>
              <a:rPr lang="en-US" altLang="en-US" dirty="0"/>
              <a:t> suture of a silicone band to the sclera over the detached portion of retina</a:t>
            </a:r>
          </a:p>
        </p:txBody>
      </p:sp>
      <p:pic>
        <p:nvPicPr>
          <p:cNvPr id="6" name="Picture 10" descr="Scleral buckle procedure uses a suture of a silicone band to the sclera over the detached portion of retina to repair retinal detachment."/>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539343" y="2578512"/>
            <a:ext cx="3914262" cy="2785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93514480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6"/>
          <p:cNvSpPr>
            <a:spLocks noGrp="1" noChangeArrowheads="1"/>
          </p:cNvSpPr>
          <p:nvPr>
            <p:ph type="title"/>
          </p:nvPr>
        </p:nvSpPr>
        <p:spPr/>
        <p:txBody>
          <a:bodyPr/>
          <a:lstStyle/>
          <a:p>
            <a:pPr eaLnBrk="1" hangingPunct="1"/>
            <a:r>
              <a:rPr lang="en-US" altLang="en-US" dirty="0"/>
              <a:t>Treatment  (Slide 4 of 4)</a:t>
            </a:r>
          </a:p>
        </p:txBody>
      </p:sp>
      <p:sp>
        <p:nvSpPr>
          <p:cNvPr id="55299" name="Rectangle 7"/>
          <p:cNvSpPr>
            <a:spLocks noGrp="1" noChangeArrowheads="1"/>
          </p:cNvSpPr>
          <p:nvPr>
            <p:ph idx="1"/>
          </p:nvPr>
        </p:nvSpPr>
        <p:spPr/>
        <p:txBody>
          <a:bodyPr/>
          <a:lstStyle/>
          <a:p>
            <a:pPr eaLnBrk="1" hangingPunct="1"/>
            <a:r>
              <a:rPr lang="en-US" altLang="en-US" b="1"/>
              <a:t>Phacoemulsification:</a:t>
            </a:r>
            <a:r>
              <a:rPr lang="en-US" altLang="en-US"/>
              <a:t> ultrasound to break up lens for aspiration for cataract removal</a:t>
            </a:r>
          </a:p>
          <a:p>
            <a:pPr eaLnBrk="1" hangingPunct="1"/>
            <a:r>
              <a:rPr lang="en-US" altLang="en-US" b="1"/>
              <a:t>Vitrectomy:</a:t>
            </a:r>
            <a:r>
              <a:rPr lang="en-US" altLang="en-US"/>
              <a:t> removal of vitreous and replacement with a clear solution</a:t>
            </a:r>
          </a:p>
        </p:txBody>
      </p:sp>
    </p:spTree>
    <p:extLst>
      <p:ext uri="{BB962C8B-B14F-4D97-AF65-F5344CB8AC3E}">
        <p14:creationId xmlns:p14="http://schemas.microsoft.com/office/powerpoint/2010/main" val="231912087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a:t>Abbreviations – The Eye (Slide 1 of 2)</a:t>
            </a:r>
          </a:p>
        </p:txBody>
      </p:sp>
      <p:graphicFrame>
        <p:nvGraphicFramePr>
          <p:cNvPr id="8" name="Content Placeholder 7" descr="Group 1of 2 Abbreviations with corresponding meanings."/>
          <p:cNvGraphicFramePr>
            <a:graphicFrameLocks noGrp="1"/>
          </p:cNvGraphicFramePr>
          <p:nvPr>
            <p:ph idx="1"/>
            <p:extLst>
              <p:ext uri="{D42A27DB-BD31-4B8C-83A1-F6EECF244321}">
                <p14:modId xmlns:p14="http://schemas.microsoft.com/office/powerpoint/2010/main" val="217621045"/>
              </p:ext>
            </p:extLst>
          </p:nvPr>
        </p:nvGraphicFramePr>
        <p:xfrm>
          <a:off x="457200" y="1295400"/>
          <a:ext cx="8229600" cy="4724400"/>
        </p:xfrm>
        <a:graphic>
          <a:graphicData uri="http://schemas.openxmlformats.org/drawingml/2006/table">
            <a:tbl>
              <a:tblPr firstRow="1" bandRow="1">
                <a:tableStyleId>{C083E6E3-FA7D-4D7B-A595-EF9225AFEA82}</a:tableStyleId>
              </a:tblPr>
              <a:tblGrid>
                <a:gridCol w="1905000">
                  <a:extLst>
                    <a:ext uri="{9D8B030D-6E8A-4147-A177-3AD203B41FA5}">
                      <a16:colId xmlns:a16="http://schemas.microsoft.com/office/drawing/2014/main" val="20000"/>
                    </a:ext>
                  </a:extLst>
                </a:gridCol>
                <a:gridCol w="63246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200" dirty="0"/>
                        <a:t>ALT</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a:t>Argon laser </a:t>
                      </a:r>
                      <a:r>
                        <a:rPr lang="en-US" altLang="en-US" sz="2200" dirty="0" err="1"/>
                        <a:t>trabeculoplasty</a:t>
                      </a:r>
                      <a:endParaRPr lang="en-US" altLang="en-US" sz="2200" dirty="0"/>
                    </a:p>
                  </a:txBody>
                  <a:tcPr/>
                </a:tc>
                <a:extLst>
                  <a:ext uri="{0D108BD9-81ED-4DB2-BD59-A6C34878D82A}">
                    <a16:rowId xmlns:a16="http://schemas.microsoft.com/office/drawing/2014/main" val="10001"/>
                  </a:ext>
                </a:extLst>
              </a:tr>
              <a:tr h="370840">
                <a:tc>
                  <a:txBody>
                    <a:bodyPr/>
                    <a:lstStyle/>
                    <a:p>
                      <a:r>
                        <a:rPr lang="en-US" altLang="en-US" sz="2200" dirty="0"/>
                        <a:t>AMD</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a:t>Age-related macular degeneration</a:t>
                      </a:r>
                    </a:p>
                  </a:txBody>
                  <a:tcPr/>
                </a:tc>
                <a:extLst>
                  <a:ext uri="{0D108BD9-81ED-4DB2-BD59-A6C34878D82A}">
                    <a16:rowId xmlns:a16="http://schemas.microsoft.com/office/drawing/2014/main" val="10002"/>
                  </a:ext>
                </a:extLst>
              </a:tr>
              <a:tr h="370840">
                <a:tc>
                  <a:txBody>
                    <a:bodyPr/>
                    <a:lstStyle/>
                    <a:p>
                      <a:r>
                        <a:rPr lang="en-US" altLang="en-US" sz="2200" dirty="0"/>
                        <a:t>HEENT</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a:t>Head, eyes, ears, nose, and throat</a:t>
                      </a:r>
                    </a:p>
                  </a:txBody>
                  <a:tcPr/>
                </a:tc>
                <a:extLst>
                  <a:ext uri="{0D108BD9-81ED-4DB2-BD59-A6C34878D82A}">
                    <a16:rowId xmlns:a16="http://schemas.microsoft.com/office/drawing/2014/main" val="10003"/>
                  </a:ext>
                </a:extLst>
              </a:tr>
              <a:tr h="370840">
                <a:tc>
                  <a:txBody>
                    <a:bodyPr/>
                    <a:lstStyle/>
                    <a:p>
                      <a:r>
                        <a:rPr lang="en-US" altLang="en-US" sz="2200" dirty="0"/>
                        <a:t>IOL</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a:t>Intraocular lens</a:t>
                      </a:r>
                    </a:p>
                  </a:txBody>
                  <a:tcPr/>
                </a:tc>
                <a:extLst>
                  <a:ext uri="{0D108BD9-81ED-4DB2-BD59-A6C34878D82A}">
                    <a16:rowId xmlns:a16="http://schemas.microsoft.com/office/drawing/2014/main" val="10004"/>
                  </a:ext>
                </a:extLst>
              </a:tr>
              <a:tr h="370840">
                <a:tc>
                  <a:txBody>
                    <a:bodyPr/>
                    <a:lstStyle/>
                    <a:p>
                      <a:r>
                        <a:rPr lang="en-US" altLang="en-US" sz="2200" dirty="0"/>
                        <a:t>IOP</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a:t>Intraocular pressure</a:t>
                      </a:r>
                    </a:p>
                  </a:txBody>
                  <a:tcPr/>
                </a:tc>
                <a:extLst>
                  <a:ext uri="{0D108BD9-81ED-4DB2-BD59-A6C34878D82A}">
                    <a16:rowId xmlns:a16="http://schemas.microsoft.com/office/drawing/2014/main" val="10005"/>
                  </a:ext>
                </a:extLst>
              </a:tr>
              <a:tr h="370840">
                <a:tc>
                  <a:txBody>
                    <a:bodyPr/>
                    <a:lstStyle/>
                    <a:p>
                      <a:r>
                        <a:rPr lang="en-US" altLang="en-US" sz="2200" dirty="0"/>
                        <a:t>LASER</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b="1" dirty="0"/>
                        <a:t>l</a:t>
                      </a:r>
                      <a:r>
                        <a:rPr lang="en-US" altLang="en-US" sz="2200" dirty="0"/>
                        <a:t>ight </a:t>
                      </a:r>
                      <a:r>
                        <a:rPr lang="en-US" altLang="en-US" sz="2200" b="1" dirty="0"/>
                        <a:t>a</a:t>
                      </a:r>
                      <a:r>
                        <a:rPr lang="en-US" altLang="en-US" sz="2200" dirty="0"/>
                        <a:t>mplification by </a:t>
                      </a:r>
                      <a:r>
                        <a:rPr lang="en-US" altLang="en-US" sz="2200" b="1" dirty="0"/>
                        <a:t>s</a:t>
                      </a:r>
                      <a:r>
                        <a:rPr lang="en-US" altLang="en-US" sz="2200" dirty="0"/>
                        <a:t>timulated </a:t>
                      </a:r>
                      <a:r>
                        <a:rPr lang="en-US" altLang="en-US" sz="2200" b="1" dirty="0"/>
                        <a:t>e</a:t>
                      </a:r>
                      <a:r>
                        <a:rPr lang="en-US" altLang="en-US" sz="2200" dirty="0"/>
                        <a:t>mission of </a:t>
                      </a:r>
                      <a:r>
                        <a:rPr lang="en-US" altLang="en-US" sz="2200" b="1" dirty="0"/>
                        <a:t>r</a:t>
                      </a:r>
                      <a:r>
                        <a:rPr lang="en-US" altLang="en-US" sz="2200" dirty="0"/>
                        <a:t>adiation</a:t>
                      </a:r>
                    </a:p>
                  </a:txBody>
                  <a:tcPr/>
                </a:tc>
                <a:extLst>
                  <a:ext uri="{0D108BD9-81ED-4DB2-BD59-A6C34878D82A}">
                    <a16:rowId xmlns:a16="http://schemas.microsoft.com/office/drawing/2014/main" val="10006"/>
                  </a:ext>
                </a:extLst>
              </a:tr>
              <a:tr h="370840">
                <a:tc>
                  <a:txBody>
                    <a:bodyPr/>
                    <a:lstStyle/>
                    <a:p>
                      <a:r>
                        <a:rPr lang="en-US" altLang="en-US" sz="2200" dirty="0"/>
                        <a:t>LASIK</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a:t>Laser in situ </a:t>
                      </a:r>
                      <a:r>
                        <a:rPr lang="en-US" altLang="en-US" sz="2200" dirty="0" err="1"/>
                        <a:t>keratomileusis</a:t>
                      </a:r>
                      <a:endParaRPr lang="en-US" altLang="en-US" sz="2200" dirty="0"/>
                    </a:p>
                  </a:txBody>
                  <a:tcPr/>
                </a:tc>
                <a:extLst>
                  <a:ext uri="{0D108BD9-81ED-4DB2-BD59-A6C34878D82A}">
                    <a16:rowId xmlns:a16="http://schemas.microsoft.com/office/drawing/2014/main" val="10007"/>
                  </a:ext>
                </a:extLst>
              </a:tr>
              <a:tr h="370840">
                <a:tc>
                  <a:txBody>
                    <a:bodyPr/>
                    <a:lstStyle/>
                    <a:p>
                      <a:r>
                        <a:rPr lang="en-US" altLang="en-US" sz="2200" dirty="0"/>
                        <a:t>OD</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a:t>Right eye; doctor or optometry</a:t>
                      </a:r>
                    </a:p>
                  </a:txBody>
                  <a:tcPr/>
                </a:tc>
                <a:extLst>
                  <a:ext uri="{0D108BD9-81ED-4DB2-BD59-A6C34878D82A}">
                    <a16:rowId xmlns:a16="http://schemas.microsoft.com/office/drawing/2014/main" val="10008"/>
                  </a:ext>
                </a:extLst>
              </a:tr>
              <a:tr h="370840">
                <a:tc>
                  <a:txBody>
                    <a:bodyPr/>
                    <a:lstStyle/>
                    <a:p>
                      <a:r>
                        <a:rPr lang="en-US" altLang="en-US" sz="2200" dirty="0"/>
                        <a:t>OS</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200" dirty="0"/>
                        <a:t>Left eye</a:t>
                      </a:r>
                    </a:p>
                  </a:txBody>
                  <a:tcPr/>
                </a:tc>
                <a:extLst>
                  <a:ext uri="{0D108BD9-81ED-4DB2-BD59-A6C34878D82A}">
                    <a16:rowId xmlns:a16="http://schemas.microsoft.com/office/drawing/2014/main" val="10009"/>
                  </a:ext>
                </a:extLst>
              </a:tr>
              <a:tr h="370840">
                <a:tc>
                  <a:txBody>
                    <a:bodyPr/>
                    <a:lstStyle/>
                    <a:p>
                      <a:r>
                        <a:rPr lang="en-US" altLang="en-US" sz="2200" dirty="0"/>
                        <a:t>OU</a:t>
                      </a:r>
                      <a:endParaRPr lang="en-US" sz="2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000" dirty="0"/>
                        <a:t>Both eyes</a:t>
                      </a: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3884302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a:t>Abbreviations – The Eye (Slide 2 of 2)</a:t>
            </a:r>
          </a:p>
        </p:txBody>
      </p:sp>
      <p:graphicFrame>
        <p:nvGraphicFramePr>
          <p:cNvPr id="8" name="Content Placeholder 7" descr="Group 2 of 2 Abbreviations with corresponding meanings."/>
          <p:cNvGraphicFramePr>
            <a:graphicFrameLocks noGrp="1"/>
          </p:cNvGraphicFramePr>
          <p:nvPr>
            <p:ph idx="1"/>
            <p:extLst>
              <p:ext uri="{D42A27DB-BD31-4B8C-83A1-F6EECF244321}">
                <p14:modId xmlns:p14="http://schemas.microsoft.com/office/powerpoint/2010/main" val="229583754"/>
              </p:ext>
            </p:extLst>
          </p:nvPr>
        </p:nvGraphicFramePr>
        <p:xfrm>
          <a:off x="457200" y="1295400"/>
          <a:ext cx="8229600" cy="3566160"/>
        </p:xfrm>
        <a:graphic>
          <a:graphicData uri="http://schemas.openxmlformats.org/drawingml/2006/table">
            <a:tbl>
              <a:tblPr firstRow="1" bandRow="1">
                <a:tableStyleId>{C083E6E3-FA7D-4D7B-A595-EF9225AFEA82}</a:tableStyleId>
              </a:tblPr>
              <a:tblGrid>
                <a:gridCol w="1905000">
                  <a:extLst>
                    <a:ext uri="{9D8B030D-6E8A-4147-A177-3AD203B41FA5}">
                      <a16:colId xmlns:a16="http://schemas.microsoft.com/office/drawing/2014/main" val="20000"/>
                    </a:ext>
                  </a:extLst>
                </a:gridCol>
                <a:gridCol w="63246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dirty="0"/>
                        <a:t>PERRLA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Pupils equal, round, reactive to light and accommodation</a:t>
                      </a:r>
                    </a:p>
                  </a:txBody>
                  <a:tcPr/>
                </a:tc>
                <a:extLst>
                  <a:ext uri="{0D108BD9-81ED-4DB2-BD59-A6C34878D82A}">
                    <a16:rowId xmlns:a16="http://schemas.microsoft.com/office/drawing/2014/main" val="10001"/>
                  </a:ext>
                </a:extLst>
              </a:tr>
              <a:tr h="370840">
                <a:tc>
                  <a:txBody>
                    <a:bodyPr/>
                    <a:lstStyle/>
                    <a:p>
                      <a:r>
                        <a:rPr lang="en-US" altLang="en-US" sz="2400" dirty="0"/>
                        <a:t>POAG</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Primary, open-angle glaucoma</a:t>
                      </a:r>
                    </a:p>
                  </a:txBody>
                  <a:tcPr/>
                </a:tc>
                <a:extLst>
                  <a:ext uri="{0D108BD9-81ED-4DB2-BD59-A6C34878D82A}">
                    <a16:rowId xmlns:a16="http://schemas.microsoft.com/office/drawing/2014/main" val="10002"/>
                  </a:ext>
                </a:extLst>
              </a:tr>
              <a:tr h="370840">
                <a:tc>
                  <a:txBody>
                    <a:bodyPr/>
                    <a:lstStyle/>
                    <a:p>
                      <a:r>
                        <a:rPr lang="en-US" altLang="en-US" sz="2400" dirty="0"/>
                        <a:t>PRK</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Photorefractive keratectomy</a:t>
                      </a:r>
                    </a:p>
                  </a:txBody>
                  <a:tcPr/>
                </a:tc>
                <a:extLst>
                  <a:ext uri="{0D108BD9-81ED-4DB2-BD59-A6C34878D82A}">
                    <a16:rowId xmlns:a16="http://schemas.microsoft.com/office/drawing/2014/main" val="10003"/>
                  </a:ext>
                </a:extLst>
              </a:tr>
              <a:tr h="370840">
                <a:tc>
                  <a:txBody>
                    <a:bodyPr/>
                    <a:lstStyle/>
                    <a:p>
                      <a:r>
                        <a:rPr lang="en-US" altLang="en-US" sz="2400" dirty="0"/>
                        <a:t>SLT</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Selective laser </a:t>
                      </a:r>
                      <a:r>
                        <a:rPr lang="en-US" altLang="en-US" sz="2400" dirty="0" err="1"/>
                        <a:t>trabeculoplasty</a:t>
                      </a:r>
                      <a:endParaRPr lang="en-US" altLang="en-US" sz="2400" dirty="0"/>
                    </a:p>
                  </a:txBody>
                  <a:tcPr/>
                </a:tc>
                <a:extLst>
                  <a:ext uri="{0D108BD9-81ED-4DB2-BD59-A6C34878D82A}">
                    <a16:rowId xmlns:a16="http://schemas.microsoft.com/office/drawing/2014/main" val="10004"/>
                  </a:ext>
                </a:extLst>
              </a:tr>
              <a:tr h="370840">
                <a:tc>
                  <a:txBody>
                    <a:bodyPr/>
                    <a:lstStyle/>
                    <a:p>
                      <a:r>
                        <a:rPr lang="en-US" altLang="en-US" sz="2400" dirty="0"/>
                        <a:t>VA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Visual acuity</a:t>
                      </a:r>
                    </a:p>
                  </a:txBody>
                  <a:tcPr/>
                </a:tc>
                <a:extLst>
                  <a:ext uri="{0D108BD9-81ED-4DB2-BD59-A6C34878D82A}">
                    <a16:rowId xmlns:a16="http://schemas.microsoft.com/office/drawing/2014/main" val="10005"/>
                  </a:ext>
                </a:extLst>
              </a:tr>
              <a:tr h="370840">
                <a:tc>
                  <a:txBody>
                    <a:bodyPr/>
                    <a:lstStyle/>
                    <a:p>
                      <a:r>
                        <a:rPr lang="en-US" altLang="en-US" sz="2400" dirty="0"/>
                        <a:t>VF</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Visual field</a:t>
                      </a:r>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54406924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rtlCol="0">
            <a:normAutofit fontScale="90000"/>
          </a:bodyPr>
          <a:lstStyle/>
          <a:p>
            <a:pPr eaLnBrk="1" fontAlgn="auto" hangingPunct="1">
              <a:spcAft>
                <a:spcPts val="0"/>
              </a:spcAft>
              <a:defRPr/>
            </a:pPr>
            <a:r>
              <a:rPr lang="en-US" dirty="0"/>
              <a:t>Chapter 17</a:t>
            </a:r>
            <a:br>
              <a:rPr lang="en-US" dirty="0"/>
            </a:br>
            <a:r>
              <a:rPr lang="en-US" dirty="0"/>
              <a:t>Lesson 17.3</a:t>
            </a:r>
          </a:p>
        </p:txBody>
      </p:sp>
    </p:spTree>
    <p:extLst>
      <p:ext uri="{BB962C8B-B14F-4D97-AF65-F5344CB8AC3E}">
        <p14:creationId xmlns:p14="http://schemas.microsoft.com/office/powerpoint/2010/main" val="163663775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p:txBody>
          <a:bodyPr/>
          <a:lstStyle/>
          <a:p>
            <a:pPr eaLnBrk="1" hangingPunct="1"/>
            <a:r>
              <a:rPr lang="en-US" altLang="en-US"/>
              <a:t>The Ear</a:t>
            </a:r>
          </a:p>
        </p:txBody>
      </p:sp>
      <p:sp>
        <p:nvSpPr>
          <p:cNvPr id="61443" name="Rectangle 5"/>
          <p:cNvSpPr>
            <a:spLocks noGrp="1" noChangeArrowheads="1"/>
          </p:cNvSpPr>
          <p:nvPr>
            <p:ph idx="1"/>
          </p:nvPr>
        </p:nvSpPr>
        <p:spPr>
          <a:xfrm>
            <a:off x="685800" y="1600200"/>
            <a:ext cx="6477000" cy="4343400"/>
          </a:xfrm>
        </p:spPr>
        <p:txBody>
          <a:bodyPr/>
          <a:lstStyle/>
          <a:p>
            <a:pPr eaLnBrk="1" hangingPunct="1">
              <a:buFont typeface="Wingdings 2" panose="05020102010507070707" pitchFamily="18" charset="2"/>
              <a:buNone/>
            </a:pPr>
            <a:r>
              <a:rPr lang="en-US" altLang="en-US" b="1"/>
              <a:t>ANATOMY AND PHYSIOLOGY</a:t>
            </a:r>
          </a:p>
          <a:p>
            <a:pPr lvl="1" eaLnBrk="1" hangingPunct="1">
              <a:spcBef>
                <a:spcPts val="1200"/>
              </a:spcBef>
              <a:buFont typeface="Wingdings" panose="05000000000000000000" pitchFamily="2" charset="2"/>
              <a:buChar char="Ø"/>
            </a:pPr>
            <a:r>
              <a:rPr lang="en-US" altLang="en-US"/>
              <a:t>The</a:t>
            </a:r>
            <a:r>
              <a:rPr lang="en-US" altLang="en-US" i="1"/>
              <a:t> outer ear </a:t>
            </a:r>
            <a:r>
              <a:rPr lang="en-US" altLang="en-US"/>
              <a:t>receives sound waves.</a:t>
            </a:r>
          </a:p>
          <a:p>
            <a:pPr lvl="1" eaLnBrk="1" hangingPunct="1">
              <a:spcBef>
                <a:spcPts val="1200"/>
              </a:spcBef>
              <a:buFont typeface="Wingdings" panose="05000000000000000000" pitchFamily="2" charset="2"/>
              <a:buChar char="Ø"/>
            </a:pPr>
            <a:r>
              <a:rPr lang="en-US" altLang="en-US"/>
              <a:t>Sound waves travel to the </a:t>
            </a:r>
            <a:r>
              <a:rPr lang="en-US" altLang="en-US" i="1"/>
              <a:t>middle ear</a:t>
            </a:r>
            <a:r>
              <a:rPr lang="en-US" altLang="en-US"/>
              <a:t>.</a:t>
            </a:r>
          </a:p>
          <a:p>
            <a:pPr lvl="1" eaLnBrk="1" hangingPunct="1">
              <a:spcBef>
                <a:spcPts val="1200"/>
              </a:spcBef>
              <a:buFont typeface="Wingdings" panose="05000000000000000000" pitchFamily="2" charset="2"/>
              <a:buChar char="Ø"/>
            </a:pPr>
            <a:r>
              <a:rPr lang="en-US" altLang="en-US"/>
              <a:t>Sound vibrations reach the </a:t>
            </a:r>
            <a:r>
              <a:rPr lang="en-US" altLang="en-US" i="1"/>
              <a:t>inner ear</a:t>
            </a:r>
            <a:r>
              <a:rPr lang="en-US" altLang="en-US"/>
              <a:t> (labyrinth).</a:t>
            </a:r>
          </a:p>
        </p:txBody>
      </p:sp>
    </p:spTree>
    <p:extLst>
      <p:ext uri="{BB962C8B-B14F-4D97-AF65-F5344CB8AC3E}">
        <p14:creationId xmlns:p14="http://schemas.microsoft.com/office/powerpoint/2010/main" val="402255410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p:txBody>
          <a:bodyPr/>
          <a:lstStyle/>
          <a:p>
            <a:pPr eaLnBrk="1" hangingPunct="1"/>
            <a:r>
              <a:rPr lang="en-US" altLang="en-US" dirty="0"/>
              <a:t>Anatomy of the Ear (Slide 1 of 2)</a:t>
            </a:r>
          </a:p>
        </p:txBody>
      </p:sp>
      <p:sp>
        <p:nvSpPr>
          <p:cNvPr id="2" name="Content Placeholder 1"/>
          <p:cNvSpPr>
            <a:spLocks noGrp="1"/>
          </p:cNvSpPr>
          <p:nvPr>
            <p:ph idx="1"/>
          </p:nvPr>
        </p:nvSpPr>
        <p:spPr>
          <a:xfrm>
            <a:off x="685800" y="1600200"/>
            <a:ext cx="8229600" cy="4525963"/>
          </a:xfrm>
        </p:spPr>
        <p:txBody>
          <a:bodyPr numCol="2"/>
          <a:lstStyle/>
          <a:p>
            <a:r>
              <a:rPr lang="en-US" dirty="0"/>
              <a:t> Pinna (auricle)</a:t>
            </a:r>
          </a:p>
          <a:p>
            <a:r>
              <a:rPr lang="en-US" dirty="0"/>
              <a:t> External auditory meatus (auditory canal)</a:t>
            </a:r>
          </a:p>
          <a:p>
            <a:r>
              <a:rPr lang="en-US" dirty="0"/>
              <a:t> Tympanic membrane (eardrum)</a:t>
            </a:r>
          </a:p>
          <a:p>
            <a:r>
              <a:rPr lang="en-US" dirty="0"/>
              <a:t> Malleus</a:t>
            </a:r>
          </a:p>
          <a:p>
            <a:r>
              <a:rPr lang="en-US" dirty="0"/>
              <a:t> Incus</a:t>
            </a:r>
          </a:p>
          <a:p>
            <a:endParaRPr lang="en-US" dirty="0"/>
          </a:p>
          <a:p>
            <a:r>
              <a:rPr lang="en-US" dirty="0"/>
              <a:t> Stapes</a:t>
            </a:r>
          </a:p>
          <a:p>
            <a:r>
              <a:rPr lang="en-US" dirty="0"/>
              <a:t> Oval window</a:t>
            </a:r>
          </a:p>
          <a:p>
            <a:r>
              <a:rPr lang="en-US" dirty="0"/>
              <a:t> Eustachian tube</a:t>
            </a:r>
          </a:p>
          <a:p>
            <a:r>
              <a:rPr lang="en-US" dirty="0"/>
              <a:t> Cochlea</a:t>
            </a:r>
          </a:p>
          <a:p>
            <a:r>
              <a:rPr lang="en-US" dirty="0"/>
              <a:t> Auditory nerve fibers</a:t>
            </a:r>
          </a:p>
          <a:p>
            <a:r>
              <a:rPr lang="en-US" dirty="0"/>
              <a:t> Vestibule</a:t>
            </a:r>
          </a:p>
          <a:p>
            <a:r>
              <a:rPr lang="en-US" dirty="0"/>
              <a:t> Semicircular canals</a:t>
            </a:r>
          </a:p>
          <a:p>
            <a:endParaRPr lang="es-419" dirty="0"/>
          </a:p>
        </p:txBody>
      </p:sp>
    </p:spTree>
    <p:extLst>
      <p:ext uri="{BB962C8B-B14F-4D97-AF65-F5344CB8AC3E}">
        <p14:creationId xmlns:p14="http://schemas.microsoft.com/office/powerpoint/2010/main" val="128316462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p:txBody>
          <a:bodyPr/>
          <a:lstStyle/>
          <a:p>
            <a:pPr eaLnBrk="1" hangingPunct="1"/>
            <a:r>
              <a:rPr lang="en-US" altLang="en-US" dirty="0"/>
              <a:t>Anatomy of the Ear (Slide 2 of 2</a:t>
            </a:r>
            <a:r>
              <a:rPr lang="en-US" altLang="ja-JP" dirty="0"/>
              <a:t>)</a:t>
            </a:r>
            <a:endParaRPr lang="en-US" altLang="en-US" dirty="0"/>
          </a:p>
        </p:txBody>
      </p:sp>
      <p:pic>
        <p:nvPicPr>
          <p:cNvPr id="5" name="Picture 5" descr="Anatomical external structures of the ear include the pinna (or auricle) and external auditory meatus (auditory canal). Middle ear structures include tympanic membrane (eardrum), malleus, incus, stapes, and oval window. The eustachian tube is a canal leading from middle ear to pharynx. Inner ear structures include cochlea, organ of Corti, vestibule, and auditory nerve fibers."/>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702927" y="1600200"/>
            <a:ext cx="5738146" cy="4525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Tree>
    <p:extLst>
      <p:ext uri="{BB962C8B-B14F-4D97-AF65-F5344CB8AC3E}">
        <p14:creationId xmlns:p14="http://schemas.microsoft.com/office/powerpoint/2010/main" val="268047930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6"/>
          <p:cNvSpPr>
            <a:spLocks noGrp="1" noChangeArrowheads="1"/>
          </p:cNvSpPr>
          <p:nvPr>
            <p:ph type="title"/>
          </p:nvPr>
        </p:nvSpPr>
        <p:spPr/>
        <p:txBody>
          <a:bodyPr/>
          <a:lstStyle/>
          <a:p>
            <a:pPr eaLnBrk="1" hangingPunct="1"/>
            <a:r>
              <a:rPr lang="en-US" altLang="en-US" dirty="0"/>
              <a:t>Ear Anatomy and Physiology</a:t>
            </a:r>
            <a:br>
              <a:rPr lang="en-US" altLang="en-US" dirty="0"/>
            </a:br>
            <a:r>
              <a:rPr lang="en-US" altLang="en-US" dirty="0"/>
              <a:t>(Slide 1 of 4)</a:t>
            </a:r>
          </a:p>
        </p:txBody>
      </p:sp>
      <p:sp>
        <p:nvSpPr>
          <p:cNvPr id="64515" name="Rectangle 7"/>
          <p:cNvSpPr>
            <a:spLocks noGrp="1" noChangeArrowheads="1"/>
          </p:cNvSpPr>
          <p:nvPr>
            <p:ph idx="1"/>
          </p:nvPr>
        </p:nvSpPr>
        <p:spPr/>
        <p:txBody>
          <a:bodyPr/>
          <a:lstStyle/>
          <a:p>
            <a:pPr eaLnBrk="1" hangingPunct="1"/>
            <a:r>
              <a:rPr lang="en-US" altLang="en-US" b="1"/>
              <a:t>Outer ear</a:t>
            </a:r>
            <a:endParaRPr lang="en-US" altLang="en-US"/>
          </a:p>
          <a:p>
            <a:pPr lvl="1" eaLnBrk="1" hangingPunct="1">
              <a:buFont typeface="Wingdings" panose="05000000000000000000" pitchFamily="2" charset="2"/>
              <a:buChar char="Ø"/>
            </a:pPr>
            <a:r>
              <a:rPr lang="en-US" altLang="en-US"/>
              <a:t>Pinna or auricle: projecting flap</a:t>
            </a:r>
          </a:p>
          <a:p>
            <a:pPr lvl="1" eaLnBrk="1" hangingPunct="1">
              <a:buFont typeface="Wingdings" panose="05000000000000000000" pitchFamily="2" charset="2"/>
              <a:buChar char="Ø"/>
            </a:pPr>
            <a:r>
              <a:rPr lang="en-US" altLang="en-US"/>
              <a:t>External auditory meatus (auditory canal)</a:t>
            </a:r>
          </a:p>
        </p:txBody>
      </p:sp>
    </p:spTree>
    <p:extLst>
      <p:ext uri="{BB962C8B-B14F-4D97-AF65-F5344CB8AC3E}">
        <p14:creationId xmlns:p14="http://schemas.microsoft.com/office/powerpoint/2010/main" val="3474476796"/>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6" name="Rectangle 6"/>
          <p:cNvSpPr>
            <a:spLocks noGrp="1" noChangeArrowheads="1"/>
          </p:cNvSpPr>
          <p:nvPr>
            <p:ph type="title"/>
          </p:nvPr>
        </p:nvSpPr>
        <p:spPr/>
        <p:txBody>
          <a:bodyPr rtlCol="0">
            <a:normAutofit fontScale="90000"/>
          </a:bodyPr>
          <a:lstStyle/>
          <a:p>
            <a:pPr eaLnBrk="1" fontAlgn="auto" hangingPunct="1">
              <a:spcAft>
                <a:spcPts val="0"/>
              </a:spcAft>
              <a:defRPr/>
            </a:pPr>
            <a:r>
              <a:rPr lang="en-US" dirty="0"/>
              <a:t>Ear Anatomy and Physiology</a:t>
            </a:r>
            <a:br>
              <a:rPr lang="en-US" dirty="0"/>
            </a:br>
            <a:r>
              <a:rPr lang="en-US" dirty="0"/>
              <a:t>(Slide 2 of 4</a:t>
            </a:r>
            <a:r>
              <a:rPr lang="en-US" altLang="ja-JP" dirty="0"/>
              <a:t>)</a:t>
            </a:r>
            <a:endParaRPr lang="en-US" dirty="0"/>
          </a:p>
        </p:txBody>
      </p:sp>
      <p:sp>
        <p:nvSpPr>
          <p:cNvPr id="65539" name="Rectangle 7"/>
          <p:cNvSpPr>
            <a:spLocks noGrp="1" noChangeArrowheads="1"/>
          </p:cNvSpPr>
          <p:nvPr>
            <p:ph idx="1"/>
          </p:nvPr>
        </p:nvSpPr>
        <p:spPr/>
        <p:txBody>
          <a:bodyPr/>
          <a:lstStyle/>
          <a:p>
            <a:pPr eaLnBrk="1" hangingPunct="1"/>
            <a:r>
              <a:rPr lang="en-US" altLang="en-US" b="1"/>
              <a:t>Middle ear</a:t>
            </a:r>
          </a:p>
          <a:p>
            <a:pPr lvl="1" eaLnBrk="1" hangingPunct="1">
              <a:buFont typeface="Wingdings" panose="05000000000000000000" pitchFamily="2" charset="2"/>
              <a:buChar char="Ø"/>
            </a:pPr>
            <a:r>
              <a:rPr lang="en-US" altLang="en-US">
                <a:ea typeface="MS PGothic" panose="020B0600070205080204" pitchFamily="34" charset="-128"/>
              </a:rPr>
              <a:t>Tympanic membrane (eardrum)</a:t>
            </a:r>
          </a:p>
          <a:p>
            <a:pPr lvl="1" eaLnBrk="1" hangingPunct="1">
              <a:buFont typeface="Wingdings" panose="05000000000000000000" pitchFamily="2" charset="2"/>
              <a:buChar char="Ø"/>
            </a:pPr>
            <a:r>
              <a:rPr lang="en-US" altLang="en-US">
                <a:ea typeface="MS PGothic" panose="020B0600070205080204" pitchFamily="34" charset="-128"/>
              </a:rPr>
              <a:t>Malleus </a:t>
            </a:r>
          </a:p>
          <a:p>
            <a:pPr lvl="1" eaLnBrk="1" hangingPunct="1">
              <a:buFont typeface="Wingdings" panose="05000000000000000000" pitchFamily="2" charset="2"/>
              <a:buChar char="Ø"/>
            </a:pPr>
            <a:r>
              <a:rPr lang="en-US" altLang="en-US">
                <a:ea typeface="MS PGothic" panose="020B0600070205080204" pitchFamily="34" charset="-128"/>
              </a:rPr>
              <a:t>Incus </a:t>
            </a:r>
          </a:p>
          <a:p>
            <a:pPr lvl="1" eaLnBrk="1" hangingPunct="1">
              <a:buFont typeface="Wingdings" panose="05000000000000000000" pitchFamily="2" charset="2"/>
              <a:buChar char="Ø"/>
            </a:pPr>
            <a:r>
              <a:rPr lang="en-US" altLang="en-US">
                <a:ea typeface="MS PGothic" panose="020B0600070205080204" pitchFamily="34" charset="-128"/>
              </a:rPr>
              <a:t>Stapes</a:t>
            </a:r>
          </a:p>
          <a:p>
            <a:pPr lvl="1" eaLnBrk="1" hangingPunct="1">
              <a:buFont typeface="Wingdings" panose="05000000000000000000" pitchFamily="2" charset="2"/>
              <a:buChar char="Ø"/>
            </a:pPr>
            <a:r>
              <a:rPr lang="en-US" altLang="en-US">
                <a:ea typeface="MS PGothic" panose="020B0600070205080204" pitchFamily="34" charset="-128"/>
              </a:rPr>
              <a:t>Oval window</a:t>
            </a:r>
          </a:p>
          <a:p>
            <a:pPr lvl="1" eaLnBrk="1" hangingPunct="1">
              <a:buFont typeface="Wingdings" panose="05000000000000000000" pitchFamily="2" charset="2"/>
              <a:buChar char="Ø"/>
            </a:pPr>
            <a:r>
              <a:rPr lang="en-US" altLang="en-US">
                <a:ea typeface="MS PGothic" panose="020B0600070205080204" pitchFamily="34" charset="-128"/>
              </a:rPr>
              <a:t>Eustachian tube</a:t>
            </a:r>
          </a:p>
          <a:p>
            <a:pPr eaLnBrk="1" hangingPunct="1"/>
            <a:endParaRPr lang="en-US" altLang="en-US"/>
          </a:p>
        </p:txBody>
      </p:sp>
    </p:spTree>
    <p:extLst>
      <p:ext uri="{BB962C8B-B14F-4D97-AF65-F5344CB8AC3E}">
        <p14:creationId xmlns:p14="http://schemas.microsoft.com/office/powerpoint/2010/main" val="18477901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4" name="Rectangle 6"/>
          <p:cNvSpPr>
            <a:spLocks noGrp="1" noChangeArrowheads="1"/>
          </p:cNvSpPr>
          <p:nvPr>
            <p:ph type="title"/>
          </p:nvPr>
        </p:nvSpPr>
        <p:spPr/>
        <p:txBody>
          <a:bodyPr rtlCol="0">
            <a:normAutofit fontScale="90000"/>
          </a:bodyPr>
          <a:lstStyle/>
          <a:p>
            <a:pPr eaLnBrk="1" fontAlgn="auto" hangingPunct="1">
              <a:spcAft>
                <a:spcPts val="0"/>
              </a:spcAft>
              <a:defRPr/>
            </a:pPr>
            <a:r>
              <a:rPr lang="en-US" dirty="0"/>
              <a:t>Ear Anatomy and Physiology</a:t>
            </a:r>
            <a:br>
              <a:rPr lang="en-US" dirty="0"/>
            </a:br>
            <a:r>
              <a:rPr lang="en-US" dirty="0"/>
              <a:t>(Slide 3 of 4</a:t>
            </a:r>
            <a:r>
              <a:rPr lang="en-US" altLang="ja-JP" dirty="0"/>
              <a:t>)</a:t>
            </a:r>
            <a:endParaRPr lang="en-US" dirty="0"/>
          </a:p>
        </p:txBody>
      </p:sp>
      <p:sp>
        <p:nvSpPr>
          <p:cNvPr id="66563" name="Rectangle 7"/>
          <p:cNvSpPr>
            <a:spLocks noGrp="1" noChangeArrowheads="1"/>
          </p:cNvSpPr>
          <p:nvPr>
            <p:ph idx="1"/>
          </p:nvPr>
        </p:nvSpPr>
        <p:spPr/>
        <p:txBody>
          <a:bodyPr/>
          <a:lstStyle/>
          <a:p>
            <a:pPr eaLnBrk="1" hangingPunct="1"/>
            <a:r>
              <a:rPr lang="en-US" altLang="en-US" b="1"/>
              <a:t>Inner ear: labyrinth</a:t>
            </a:r>
          </a:p>
          <a:p>
            <a:pPr lvl="1" eaLnBrk="1" hangingPunct="1">
              <a:buFont typeface="Wingdings" panose="05000000000000000000" pitchFamily="2" charset="2"/>
              <a:buChar char="Ø"/>
            </a:pPr>
            <a:r>
              <a:rPr lang="en-US" altLang="en-US"/>
              <a:t>Cochlea</a:t>
            </a:r>
          </a:p>
          <a:p>
            <a:pPr lvl="1" eaLnBrk="1" hangingPunct="1">
              <a:buFont typeface="Wingdings" panose="05000000000000000000" pitchFamily="2" charset="2"/>
              <a:buChar char="Ø"/>
            </a:pPr>
            <a:r>
              <a:rPr lang="en-US" altLang="en-US"/>
              <a:t>Auditory nerve fibers</a:t>
            </a:r>
          </a:p>
        </p:txBody>
      </p:sp>
    </p:spTree>
    <p:extLst>
      <p:ext uri="{BB962C8B-B14F-4D97-AF65-F5344CB8AC3E}">
        <p14:creationId xmlns:p14="http://schemas.microsoft.com/office/powerpoint/2010/main" val="242176828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8" name="Rectangle 6"/>
          <p:cNvSpPr>
            <a:spLocks noGrp="1" noChangeArrowheads="1"/>
          </p:cNvSpPr>
          <p:nvPr>
            <p:ph type="title"/>
          </p:nvPr>
        </p:nvSpPr>
        <p:spPr/>
        <p:txBody>
          <a:bodyPr rtlCol="0">
            <a:normAutofit fontScale="90000"/>
          </a:bodyPr>
          <a:lstStyle/>
          <a:p>
            <a:pPr eaLnBrk="1" fontAlgn="auto" hangingPunct="1">
              <a:spcAft>
                <a:spcPts val="0"/>
              </a:spcAft>
              <a:defRPr/>
            </a:pPr>
            <a:r>
              <a:rPr lang="en-US" dirty="0"/>
              <a:t>Ear Anatomy and Physiology</a:t>
            </a:r>
            <a:br>
              <a:rPr lang="en-US" dirty="0"/>
            </a:br>
            <a:r>
              <a:rPr lang="en-US" dirty="0"/>
              <a:t>(Slide 4 of 4</a:t>
            </a:r>
            <a:r>
              <a:rPr lang="en-US" altLang="ja-JP" dirty="0"/>
              <a:t>)</a:t>
            </a:r>
            <a:endParaRPr lang="en-US" dirty="0"/>
          </a:p>
        </p:txBody>
      </p:sp>
      <p:sp>
        <p:nvSpPr>
          <p:cNvPr id="67587" name="Rectangle 7"/>
          <p:cNvSpPr>
            <a:spLocks noGrp="1" noChangeArrowheads="1"/>
          </p:cNvSpPr>
          <p:nvPr>
            <p:ph idx="1"/>
          </p:nvPr>
        </p:nvSpPr>
        <p:spPr/>
        <p:txBody>
          <a:bodyPr/>
          <a:lstStyle/>
          <a:p>
            <a:pPr eaLnBrk="1" hangingPunct="1"/>
            <a:r>
              <a:rPr lang="en-US" altLang="en-US" b="1"/>
              <a:t>Balance and equilibrium</a:t>
            </a:r>
          </a:p>
          <a:p>
            <a:pPr lvl="1" eaLnBrk="1" hangingPunct="1">
              <a:buFont typeface="Wingdings" panose="05000000000000000000" pitchFamily="2" charset="2"/>
              <a:buChar char="Ø"/>
            </a:pPr>
            <a:r>
              <a:rPr lang="en-US" altLang="en-US"/>
              <a:t>Vestibule </a:t>
            </a:r>
          </a:p>
          <a:p>
            <a:pPr lvl="1" eaLnBrk="1" hangingPunct="1">
              <a:buFont typeface="Wingdings" panose="05000000000000000000" pitchFamily="2" charset="2"/>
              <a:buChar char="Ø"/>
            </a:pPr>
            <a:r>
              <a:rPr lang="en-US" altLang="en-US"/>
              <a:t>Semicircular canals</a:t>
            </a:r>
          </a:p>
        </p:txBody>
      </p:sp>
    </p:spTree>
    <p:extLst>
      <p:ext uri="{BB962C8B-B14F-4D97-AF65-F5344CB8AC3E}">
        <p14:creationId xmlns:p14="http://schemas.microsoft.com/office/powerpoint/2010/main" val="51043496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Vocabulary – The Ear (Slide 1 of 14)</a:t>
            </a:r>
          </a:p>
        </p:txBody>
      </p:sp>
      <p:graphicFrame>
        <p:nvGraphicFramePr>
          <p:cNvPr id="8" name="Content Placeholder 7" descr="Group 1 of 7:  This table lists a group of Vocabulary--The Ear listing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1040916040"/>
              </p:ext>
            </p:extLst>
          </p:nvPr>
        </p:nvGraphicFramePr>
        <p:xfrm>
          <a:off x="3352800" y="2057400"/>
          <a:ext cx="2438400" cy="219456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auditory canal</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auditory meatus</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auditory nerve fibers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9377018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Vocabulary – The Ear (Slide 2 of 14)</a:t>
            </a:r>
          </a:p>
        </p:txBody>
      </p:sp>
      <p:graphicFrame>
        <p:nvGraphicFramePr>
          <p:cNvPr id="8" name="Content Placeholder 7" descr="Group 1 of 7.  List of Vocabulary terms--The Ear,  with corresponding meanings or definitions."/>
          <p:cNvGraphicFramePr>
            <a:graphicFrameLocks noGrp="1"/>
          </p:cNvGraphicFramePr>
          <p:nvPr>
            <p:ph idx="1"/>
            <p:extLst>
              <p:ext uri="{D42A27DB-BD31-4B8C-83A1-F6EECF244321}">
                <p14:modId xmlns:p14="http://schemas.microsoft.com/office/powerpoint/2010/main" val="3522915197"/>
              </p:ext>
            </p:extLst>
          </p:nvPr>
        </p:nvGraphicFramePr>
        <p:xfrm>
          <a:off x="457200" y="1600200"/>
          <a:ext cx="8229600" cy="256032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auditory canal</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Channel that leads from the pinna to the eardrum</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auditory meatus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Auditory canal</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auditory nerve fibers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Carry impulses from the inner ear to the brain</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69260780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Vocabulary – The Ear (Slide 3 of 14)</a:t>
            </a:r>
          </a:p>
        </p:txBody>
      </p:sp>
      <p:graphicFrame>
        <p:nvGraphicFramePr>
          <p:cNvPr id="8" name="Content Placeholder 7" descr="Group 2 of 7:  This table lists a group of Vocabulary--The Ear listing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2440777922"/>
              </p:ext>
            </p:extLst>
          </p:nvPr>
        </p:nvGraphicFramePr>
        <p:xfrm>
          <a:off x="3352800" y="1981200"/>
          <a:ext cx="2438400" cy="182880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auditory tube</a:t>
                      </a:r>
                    </a:p>
                  </a:txBody>
                  <a:tcPr/>
                </a:tc>
                <a:extLst>
                  <a:ext uri="{0D108BD9-81ED-4DB2-BD59-A6C34878D82A}">
                    <a16:rowId xmlns:a16="http://schemas.microsoft.com/office/drawing/2014/main" val="10001"/>
                  </a:ext>
                </a:extLst>
              </a:tr>
              <a:tr h="370840">
                <a:tc>
                  <a:txBody>
                    <a:bodyPr/>
                    <a:lstStyle/>
                    <a:p>
                      <a:r>
                        <a:rPr lang="en-US" altLang="en-US" sz="2400" dirty="0"/>
                        <a:t>auricle</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dirty="0" err="1"/>
                        <a:t>cerumen</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20782972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Vocabulary – The Ear (Slide 4 of 14)</a:t>
            </a:r>
          </a:p>
        </p:txBody>
      </p:sp>
      <p:graphicFrame>
        <p:nvGraphicFramePr>
          <p:cNvPr id="8" name="Content Placeholder 7" descr="Group 2 of 7.  List of Vocabulary terms--The Ear,  with corresponding meanings or definitions."/>
          <p:cNvGraphicFramePr>
            <a:graphicFrameLocks noGrp="1"/>
          </p:cNvGraphicFramePr>
          <p:nvPr>
            <p:ph idx="1"/>
            <p:extLst>
              <p:ext uri="{D42A27DB-BD31-4B8C-83A1-F6EECF244321}">
                <p14:modId xmlns:p14="http://schemas.microsoft.com/office/powerpoint/2010/main" val="4177008671"/>
              </p:ext>
            </p:extLst>
          </p:nvPr>
        </p:nvGraphicFramePr>
        <p:xfrm>
          <a:off x="457200" y="1600200"/>
          <a:ext cx="8229600" cy="292608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auditory tube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ea typeface="MS PGothic" panose="020B0600070205080204" pitchFamily="34" charset="-128"/>
                        </a:rPr>
                        <a:t>Channel between the middle ear and </a:t>
                      </a:r>
                      <a:r>
                        <a:rPr lang="en-US" altLang="en-US" sz="2400" dirty="0" err="1">
                          <a:ea typeface="MS PGothic" panose="020B0600070205080204" pitchFamily="34" charset="-128"/>
                        </a:rPr>
                        <a:t>nasopharynx</a:t>
                      </a:r>
                      <a:r>
                        <a:rPr lang="en-US" altLang="en-US" sz="2400" dirty="0">
                          <a:ea typeface="MS PGothic" panose="020B0600070205080204" pitchFamily="34" charset="-128"/>
                        </a:rPr>
                        <a:t>; </a:t>
                      </a:r>
                      <a:r>
                        <a:rPr lang="en-US" altLang="en-US" sz="2400" dirty="0" err="1">
                          <a:ea typeface="MS PGothic" panose="020B0600070205080204" pitchFamily="34" charset="-128"/>
                        </a:rPr>
                        <a:t>eustachian</a:t>
                      </a:r>
                      <a:r>
                        <a:rPr lang="en-US" altLang="en-US" sz="2400" dirty="0">
                          <a:ea typeface="MS PGothic" panose="020B0600070205080204" pitchFamily="34" charset="-128"/>
                        </a:rPr>
                        <a:t> tube</a:t>
                      </a:r>
                    </a:p>
                  </a:txBody>
                  <a:tcPr/>
                </a:tc>
                <a:extLst>
                  <a:ext uri="{0D108BD9-81ED-4DB2-BD59-A6C34878D82A}">
                    <a16:rowId xmlns:a16="http://schemas.microsoft.com/office/drawing/2014/main" val="10001"/>
                  </a:ext>
                </a:extLst>
              </a:tr>
              <a:tr h="370840">
                <a:tc>
                  <a:txBody>
                    <a:bodyPr/>
                    <a:lstStyle/>
                    <a:p>
                      <a:r>
                        <a:rPr lang="en-US" altLang="en-US" sz="2400" dirty="0"/>
                        <a:t>auricle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ea typeface="MS PGothic" panose="020B0600070205080204" pitchFamily="34" charset="-128"/>
                        </a:rPr>
                        <a:t>Flap of the ear; protruding part of external ear, or </a:t>
                      </a:r>
                      <a:r>
                        <a:rPr lang="en-US" altLang="en-US" sz="2400" b="1" dirty="0">
                          <a:ea typeface="MS PGothic" panose="020B0600070205080204" pitchFamily="34" charset="-128"/>
                        </a:rPr>
                        <a:t>pinna</a:t>
                      </a:r>
                    </a:p>
                  </a:txBody>
                  <a:tcPr/>
                </a:tc>
                <a:extLst>
                  <a:ext uri="{0D108BD9-81ED-4DB2-BD59-A6C34878D82A}">
                    <a16:rowId xmlns:a16="http://schemas.microsoft.com/office/drawing/2014/main" val="10002"/>
                  </a:ext>
                </a:extLst>
              </a:tr>
              <a:tr h="370840">
                <a:tc>
                  <a:txBody>
                    <a:bodyPr/>
                    <a:lstStyle/>
                    <a:p>
                      <a:r>
                        <a:rPr lang="en-US" altLang="en-US" sz="2400" dirty="0" err="1"/>
                        <a:t>cerumen</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ea typeface="MS PGothic" panose="020B0600070205080204" pitchFamily="34" charset="-128"/>
                        </a:rPr>
                        <a:t>Waxy substance secreted by the external ear; also called </a:t>
                      </a:r>
                      <a:r>
                        <a:rPr lang="en-US" altLang="en-US" sz="2400" b="1" dirty="0">
                          <a:ea typeface="MS PGothic" panose="020B0600070205080204" pitchFamily="34" charset="-128"/>
                        </a:rPr>
                        <a:t>earwax</a:t>
                      </a:r>
                      <a:endParaRPr lang="en-US" altLang="en-US" sz="2400" dirty="0">
                        <a:ea typeface="MS PGothic" panose="020B0600070205080204" pitchFamily="34" charset="-128"/>
                      </a:endParaRP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6853374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Vocabulary – The Ear (Slide 5 of 14)</a:t>
            </a:r>
          </a:p>
        </p:txBody>
      </p:sp>
      <p:graphicFrame>
        <p:nvGraphicFramePr>
          <p:cNvPr id="8" name="Content Placeholder 7" descr="Group 3 of 7:  This table lists a group of Vocabulary--The Ear listing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299011248"/>
              </p:ext>
            </p:extLst>
          </p:nvPr>
        </p:nvGraphicFramePr>
        <p:xfrm>
          <a:off x="3352800" y="1981200"/>
          <a:ext cx="2438400" cy="182880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cochlea</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err="1"/>
                        <a:t>endolymph</a:t>
                      </a:r>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eustachian</a:t>
                      </a:r>
                      <a:r>
                        <a:rPr lang="en-US" altLang="en-US" sz="2400" dirty="0"/>
                        <a:t> tube</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15740256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Vocabulary – The Ear (Slide 6 of 14)</a:t>
            </a:r>
          </a:p>
        </p:txBody>
      </p:sp>
      <p:graphicFrame>
        <p:nvGraphicFramePr>
          <p:cNvPr id="8" name="Content Placeholder 7" descr="Group 3 of 7.  List of Vocabulary terms--The Ear,  with corresponding meanings or definitions."/>
          <p:cNvGraphicFramePr>
            <a:graphicFrameLocks noGrp="1"/>
          </p:cNvGraphicFramePr>
          <p:nvPr>
            <p:ph idx="1"/>
            <p:extLst>
              <p:ext uri="{D42A27DB-BD31-4B8C-83A1-F6EECF244321}">
                <p14:modId xmlns:p14="http://schemas.microsoft.com/office/powerpoint/2010/main" val="3828391228"/>
              </p:ext>
            </p:extLst>
          </p:nvPr>
        </p:nvGraphicFramePr>
        <p:xfrm>
          <a:off x="457200" y="1600200"/>
          <a:ext cx="8229600" cy="219456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cochlea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Snail-shaped, spirally wound tube in the inner ear</a:t>
                      </a:r>
                    </a:p>
                  </a:txBody>
                  <a:tcPr/>
                </a:tc>
                <a:extLst>
                  <a:ext uri="{0D108BD9-81ED-4DB2-BD59-A6C34878D82A}">
                    <a16:rowId xmlns:a16="http://schemas.microsoft.com/office/drawing/2014/main" val="10001"/>
                  </a:ext>
                </a:extLst>
              </a:tr>
              <a:tr h="370840">
                <a:tc>
                  <a:txBody>
                    <a:bodyPr/>
                    <a:lstStyle/>
                    <a:p>
                      <a:r>
                        <a:rPr lang="en-US" altLang="en-US" sz="2400" dirty="0" err="1"/>
                        <a:t>endolymph</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Fluid within the labyrinth of the inner ear</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err="1"/>
                        <a:t>eustachian</a:t>
                      </a:r>
                      <a:r>
                        <a:rPr lang="en-US" altLang="en-US" sz="2400" dirty="0"/>
                        <a:t> tube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Auditory tube</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4261217248"/>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Vocabulary – The Ear (Slide 7 of 14)</a:t>
            </a:r>
          </a:p>
        </p:txBody>
      </p:sp>
      <p:graphicFrame>
        <p:nvGraphicFramePr>
          <p:cNvPr id="8" name="Content Placeholder 7" descr="Group 4 of 7:  This table lists a group of Vocabulary--The Ear listing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45666427"/>
              </p:ext>
            </p:extLst>
          </p:nvPr>
        </p:nvGraphicFramePr>
        <p:xfrm>
          <a:off x="3352800" y="1981200"/>
          <a:ext cx="2438400" cy="182880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incus</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a:t>labyrinth</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dirty="0"/>
                        <a:t>malleus</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78198011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Vocabulary – The Ear (Slide 8 of 14)</a:t>
            </a:r>
          </a:p>
        </p:txBody>
      </p:sp>
      <p:graphicFrame>
        <p:nvGraphicFramePr>
          <p:cNvPr id="8" name="Content Placeholder 7" descr="Group 4 of 7.  List of Vocabulary terms--The Ear,  with corresponding meanings or definitions."/>
          <p:cNvGraphicFramePr>
            <a:graphicFrameLocks noGrp="1"/>
          </p:cNvGraphicFramePr>
          <p:nvPr>
            <p:ph idx="1"/>
            <p:extLst>
              <p:ext uri="{D42A27DB-BD31-4B8C-83A1-F6EECF244321}">
                <p14:modId xmlns:p14="http://schemas.microsoft.com/office/powerpoint/2010/main" val="1074366458"/>
              </p:ext>
            </p:extLst>
          </p:nvPr>
        </p:nvGraphicFramePr>
        <p:xfrm>
          <a:off x="457200" y="1600200"/>
          <a:ext cx="8229600" cy="182880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incus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Second </a:t>
                      </a:r>
                      <a:r>
                        <a:rPr lang="en-US" altLang="en-US" sz="2400" dirty="0" err="1"/>
                        <a:t>ossicle</a:t>
                      </a:r>
                      <a:r>
                        <a:rPr lang="en-US" altLang="en-US" sz="2400" dirty="0"/>
                        <a:t> of the middle ear</a:t>
                      </a:r>
                    </a:p>
                  </a:txBody>
                  <a:tcPr/>
                </a:tc>
                <a:extLst>
                  <a:ext uri="{0D108BD9-81ED-4DB2-BD59-A6C34878D82A}">
                    <a16:rowId xmlns:a16="http://schemas.microsoft.com/office/drawing/2014/main" val="10001"/>
                  </a:ext>
                </a:extLst>
              </a:tr>
              <a:tr h="370840">
                <a:tc>
                  <a:txBody>
                    <a:bodyPr/>
                    <a:lstStyle/>
                    <a:p>
                      <a:r>
                        <a:rPr lang="en-US" altLang="en-US" sz="2400" dirty="0"/>
                        <a:t>labyrinth</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Maze-like series of canals of the inner ear</a:t>
                      </a:r>
                    </a:p>
                  </a:txBody>
                  <a:tcPr/>
                </a:tc>
                <a:extLst>
                  <a:ext uri="{0D108BD9-81ED-4DB2-BD59-A6C34878D82A}">
                    <a16:rowId xmlns:a16="http://schemas.microsoft.com/office/drawing/2014/main" val="10002"/>
                  </a:ext>
                </a:extLst>
              </a:tr>
              <a:tr h="370840">
                <a:tc>
                  <a:txBody>
                    <a:bodyPr/>
                    <a:lstStyle/>
                    <a:p>
                      <a:r>
                        <a:rPr lang="en-US" altLang="en-US" sz="2400" dirty="0"/>
                        <a:t>malleus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First </a:t>
                      </a:r>
                      <a:r>
                        <a:rPr lang="en-US" altLang="en-US" sz="2400" dirty="0" err="1"/>
                        <a:t>ossicle</a:t>
                      </a:r>
                      <a:r>
                        <a:rPr lang="en-US" altLang="en-US" sz="2400" dirty="0"/>
                        <a:t> of the middle ear</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932126429"/>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Vocabulary – The Ear (Slide 9 of 14)</a:t>
            </a:r>
          </a:p>
        </p:txBody>
      </p:sp>
      <p:graphicFrame>
        <p:nvGraphicFramePr>
          <p:cNvPr id="8" name="Content Placeholder 7" descr="Group 5 of 7:  This table lists a group of Vocabulary--The Ear listing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2507226549"/>
              </p:ext>
            </p:extLst>
          </p:nvPr>
        </p:nvGraphicFramePr>
        <p:xfrm>
          <a:off x="3352800" y="2057400"/>
          <a:ext cx="2438400" cy="182880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organ of </a:t>
                      </a:r>
                      <a:r>
                        <a:rPr lang="en-US" altLang="en-US" sz="2400" dirty="0" err="1"/>
                        <a:t>Corti</a:t>
                      </a:r>
                      <a:endParaRPr lang="en-US" altLang="en-US" sz="2400" dirty="0"/>
                    </a:p>
                  </a:txBody>
                  <a:tcPr/>
                </a:tc>
                <a:extLst>
                  <a:ext uri="{0D108BD9-81ED-4DB2-BD59-A6C34878D82A}">
                    <a16:rowId xmlns:a16="http://schemas.microsoft.com/office/drawing/2014/main" val="10001"/>
                  </a:ext>
                </a:extLst>
              </a:tr>
              <a:tr h="370840">
                <a:tc>
                  <a:txBody>
                    <a:bodyPr/>
                    <a:lstStyle/>
                    <a:p>
                      <a:r>
                        <a:rPr lang="en-US" altLang="en-US" sz="2400" dirty="0" err="1"/>
                        <a:t>ossicle</a:t>
                      </a:r>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oval window</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00347037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Vocabulary – The Ear (Slide 10 of 14)</a:t>
            </a:r>
          </a:p>
        </p:txBody>
      </p:sp>
      <p:graphicFrame>
        <p:nvGraphicFramePr>
          <p:cNvPr id="8" name="Content Placeholder 7" descr="Group 5 of 7.  List of Vocabulary terms--The Ear,  with corresponding meanings or definitions."/>
          <p:cNvGraphicFramePr>
            <a:graphicFrameLocks noGrp="1"/>
          </p:cNvGraphicFramePr>
          <p:nvPr>
            <p:ph idx="1"/>
            <p:extLst>
              <p:ext uri="{D42A27DB-BD31-4B8C-83A1-F6EECF244321}">
                <p14:modId xmlns:p14="http://schemas.microsoft.com/office/powerpoint/2010/main" val="4241852467"/>
              </p:ext>
            </p:extLst>
          </p:nvPr>
        </p:nvGraphicFramePr>
        <p:xfrm>
          <a:off x="457200" y="1600200"/>
          <a:ext cx="8229600" cy="256032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organ of </a:t>
                      </a:r>
                      <a:r>
                        <a:rPr lang="en-US" altLang="en-US" sz="2400" dirty="0" err="1"/>
                        <a:t>Corti</a:t>
                      </a:r>
                      <a:endParaRPr lang="en-US" alt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Sensitive auditory receptor area found in the cochlea of the inner ear</a:t>
                      </a:r>
                    </a:p>
                  </a:txBody>
                  <a:tcPr/>
                </a:tc>
                <a:extLst>
                  <a:ext uri="{0D108BD9-81ED-4DB2-BD59-A6C34878D82A}">
                    <a16:rowId xmlns:a16="http://schemas.microsoft.com/office/drawing/2014/main" val="10001"/>
                  </a:ext>
                </a:extLst>
              </a:tr>
              <a:tr h="370840">
                <a:tc>
                  <a:txBody>
                    <a:bodyPr/>
                    <a:lstStyle/>
                    <a:p>
                      <a:r>
                        <a:rPr lang="en-US" altLang="en-US" sz="2400" dirty="0" err="1"/>
                        <a:t>ossicle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Small bone of the ear</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oval window</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2400" dirty="0"/>
                        <a:t>Membrane between the middle ear and the inner ear</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97600892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Vocabulary – The Ear (Slide 11 of 14)</a:t>
            </a:r>
          </a:p>
        </p:txBody>
      </p:sp>
      <p:graphicFrame>
        <p:nvGraphicFramePr>
          <p:cNvPr id="8" name="Content Placeholder 7" descr="Group 6 of 7:  This table lists a group of Vocabulary--The Ear listing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2578734744"/>
              </p:ext>
            </p:extLst>
          </p:nvPr>
        </p:nvGraphicFramePr>
        <p:xfrm>
          <a:off x="2133600" y="2057400"/>
          <a:ext cx="3962400" cy="1828800"/>
        </p:xfrm>
        <a:graphic>
          <a:graphicData uri="http://schemas.openxmlformats.org/drawingml/2006/table">
            <a:tbl>
              <a:tblPr firstRow="1" bandRow="1">
                <a:tableStyleId>{5C22544A-7EE6-4342-B048-85BDC9FD1C3A}</a:tableStyleId>
              </a:tblPr>
              <a:tblGrid>
                <a:gridCol w="39624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perilymph</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dirty="0"/>
                        <a:t>pinna</a:t>
                      </a:r>
                      <a:endParaRPr lang="en-US" sz="2400" dirty="0"/>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semicircular canals</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871314834"/>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Vocabulary – The Ear (Slide 12 of 14)</a:t>
            </a:r>
          </a:p>
        </p:txBody>
      </p:sp>
      <p:graphicFrame>
        <p:nvGraphicFramePr>
          <p:cNvPr id="8" name="Content Placeholder 7" descr="Group 6 of 7.  List of Vocabulary terms--The Ear,  with corresponding meanings or definitions."/>
          <p:cNvGraphicFramePr>
            <a:graphicFrameLocks noGrp="1"/>
          </p:cNvGraphicFramePr>
          <p:nvPr>
            <p:ph idx="1"/>
            <p:extLst>
              <p:ext uri="{D42A27DB-BD31-4B8C-83A1-F6EECF244321}">
                <p14:modId xmlns:p14="http://schemas.microsoft.com/office/powerpoint/2010/main" val="1958868968"/>
              </p:ext>
            </p:extLst>
          </p:nvPr>
        </p:nvGraphicFramePr>
        <p:xfrm>
          <a:off x="457200" y="1600200"/>
          <a:ext cx="8229600" cy="256032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perilymph</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Fluid contained in the labyrinth of the inner ear</a:t>
                      </a:r>
                    </a:p>
                  </a:txBody>
                  <a:tcPr/>
                </a:tc>
                <a:extLst>
                  <a:ext uri="{0D108BD9-81ED-4DB2-BD59-A6C34878D82A}">
                    <a16:rowId xmlns:a16="http://schemas.microsoft.com/office/drawing/2014/main" val="10001"/>
                  </a:ext>
                </a:extLst>
              </a:tr>
              <a:tr h="370840">
                <a:tc>
                  <a:txBody>
                    <a:bodyPr/>
                    <a:lstStyle/>
                    <a:p>
                      <a:r>
                        <a:rPr lang="en-US" altLang="en-US" sz="2400" dirty="0"/>
                        <a:t>pinna</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Auricle; flap of the ear</a:t>
                      </a:r>
                    </a:p>
                  </a:txBody>
                  <a:tcPr/>
                </a:tc>
                <a:extLst>
                  <a:ext uri="{0D108BD9-81ED-4DB2-BD59-A6C34878D82A}">
                    <a16:rowId xmlns:a16="http://schemas.microsoft.com/office/drawing/2014/main" val="10002"/>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semicircular canals</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Passages in the inner ear associated with maintaining equilibrium</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2477302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Vocabulary – The Ear (Slide 13 of 14)</a:t>
            </a:r>
          </a:p>
        </p:txBody>
      </p:sp>
      <p:graphicFrame>
        <p:nvGraphicFramePr>
          <p:cNvPr id="8" name="Content Placeholder 7" descr="Group 7 of 7:  This table lists a group of Vocabulary--The Ear listing terms from the text.  The same terms are repeated on the next slide with corresponding definitions."/>
          <p:cNvGraphicFramePr>
            <a:graphicFrameLocks noGrp="1"/>
          </p:cNvGraphicFramePr>
          <p:nvPr>
            <p:ph idx="1"/>
            <p:extLst>
              <p:ext uri="{D42A27DB-BD31-4B8C-83A1-F6EECF244321}">
                <p14:modId xmlns:p14="http://schemas.microsoft.com/office/powerpoint/2010/main" val="3173365041"/>
              </p:ext>
            </p:extLst>
          </p:nvPr>
        </p:nvGraphicFramePr>
        <p:xfrm>
          <a:off x="2667000" y="2438400"/>
          <a:ext cx="3886200" cy="1828800"/>
        </p:xfrm>
        <a:graphic>
          <a:graphicData uri="http://schemas.openxmlformats.org/drawingml/2006/table">
            <a:tbl>
              <a:tblPr firstRow="1" bandRow="1">
                <a:tableStyleId>{5C22544A-7EE6-4342-B048-85BDC9FD1C3A}</a:tableStyleId>
              </a:tblPr>
              <a:tblGrid>
                <a:gridCol w="3886200">
                  <a:extLst>
                    <a:ext uri="{9D8B030D-6E8A-4147-A177-3AD203B41FA5}">
                      <a16:colId xmlns:a16="http://schemas.microsoft.com/office/drawing/2014/main" val="20000"/>
                    </a:ext>
                  </a:extLst>
                </a:gridCol>
              </a:tblGrid>
              <a:tr h="370840">
                <a:tc>
                  <a:txBody>
                    <a:bodyPr/>
                    <a:lstStyle/>
                    <a:p>
                      <a:r>
                        <a:rPr lang="en-US" sz="2400" dirty="0"/>
                        <a:t>Term</a:t>
                      </a:r>
                    </a:p>
                  </a:txBody>
                  <a:tcPr/>
                </a:tc>
                <a:extLst>
                  <a:ext uri="{0D108BD9-81ED-4DB2-BD59-A6C34878D82A}">
                    <a16:rowId xmlns:a16="http://schemas.microsoft.com/office/drawing/2014/main" val="10000"/>
                  </a:ext>
                </a:extLst>
              </a:tr>
              <a:tr h="370840">
                <a:tc>
                  <a:txBody>
                    <a:bodyPr/>
                    <a:lstStyle/>
                    <a:p>
                      <a:r>
                        <a:rPr lang="en-US" altLang="en-US" sz="2400" dirty="0"/>
                        <a:t>stapes</a:t>
                      </a:r>
                      <a:endParaRPr lang="en-US" sz="2400" dirty="0"/>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tympanic membrane</a:t>
                      </a:r>
                    </a:p>
                  </a:txBody>
                  <a:tcPr/>
                </a:tc>
                <a:extLst>
                  <a:ext uri="{0D108BD9-81ED-4DB2-BD59-A6C34878D82A}">
                    <a16:rowId xmlns:a16="http://schemas.microsoft.com/office/drawing/2014/main" val="10002"/>
                  </a:ext>
                </a:extLst>
              </a:tr>
              <a:tr h="370840">
                <a:tc>
                  <a:txBody>
                    <a:bodyPr/>
                    <a:lstStyle/>
                    <a:p>
                      <a:r>
                        <a:rPr lang="en-US" altLang="en-US" sz="2400" dirty="0"/>
                        <a:t>vestibule</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2466922504"/>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z="4200" dirty="0"/>
              <a:t>Vocabulary – The Ear (Slide 14 of 14)</a:t>
            </a:r>
          </a:p>
        </p:txBody>
      </p:sp>
      <p:graphicFrame>
        <p:nvGraphicFramePr>
          <p:cNvPr id="8" name="Content Placeholder 7" descr="Group 7 of 7.  List of Vocabulary terms--The Ear,  with corresponding meanings or definitions."/>
          <p:cNvGraphicFramePr>
            <a:graphicFrameLocks noGrp="1"/>
          </p:cNvGraphicFramePr>
          <p:nvPr>
            <p:ph idx="1"/>
            <p:extLst>
              <p:ext uri="{D42A27DB-BD31-4B8C-83A1-F6EECF244321}">
                <p14:modId xmlns:p14="http://schemas.microsoft.com/office/powerpoint/2010/main" val="3487500487"/>
              </p:ext>
            </p:extLst>
          </p:nvPr>
        </p:nvGraphicFramePr>
        <p:xfrm>
          <a:off x="457200" y="1600200"/>
          <a:ext cx="8229600" cy="2560320"/>
        </p:xfrm>
        <a:graphic>
          <a:graphicData uri="http://schemas.openxmlformats.org/drawingml/2006/table">
            <a:tbl>
              <a:tblPr firstRow="1" bandRow="1">
                <a:tableStyleId>{5C22544A-7EE6-4342-B048-85BDC9FD1C3A}</a:tableStyleId>
              </a:tblPr>
              <a:tblGrid>
                <a:gridCol w="2438400">
                  <a:extLst>
                    <a:ext uri="{9D8B030D-6E8A-4147-A177-3AD203B41FA5}">
                      <a16:colId xmlns:a16="http://schemas.microsoft.com/office/drawing/2014/main" val="20000"/>
                    </a:ext>
                  </a:extLst>
                </a:gridCol>
                <a:gridCol w="5791200">
                  <a:extLst>
                    <a:ext uri="{9D8B030D-6E8A-4147-A177-3AD203B41FA5}">
                      <a16:colId xmlns:a16="http://schemas.microsoft.com/office/drawing/2014/main" val="20001"/>
                    </a:ext>
                  </a:extLst>
                </a:gridCol>
              </a:tblGrid>
              <a:tr h="370840">
                <a:tc>
                  <a:txBody>
                    <a:bodyPr/>
                    <a:lstStyle/>
                    <a:p>
                      <a:r>
                        <a:rPr lang="en-US" sz="2400" dirty="0"/>
                        <a:t>Term</a:t>
                      </a:r>
                    </a:p>
                  </a:txBody>
                  <a:tcPr/>
                </a:tc>
                <a:tc>
                  <a:txBody>
                    <a:bodyPr/>
                    <a:lstStyle/>
                    <a:p>
                      <a:r>
                        <a:rPr lang="en-US" sz="2400" dirty="0"/>
                        <a:t>Meaning/Definition</a:t>
                      </a:r>
                    </a:p>
                  </a:txBody>
                  <a:tcPr/>
                </a:tc>
                <a:extLst>
                  <a:ext uri="{0D108BD9-81ED-4DB2-BD59-A6C34878D82A}">
                    <a16:rowId xmlns:a16="http://schemas.microsoft.com/office/drawing/2014/main" val="10000"/>
                  </a:ext>
                </a:extLst>
              </a:tr>
              <a:tr h="370840">
                <a:tc>
                  <a:txBody>
                    <a:bodyPr/>
                    <a:lstStyle/>
                    <a:p>
                      <a:r>
                        <a:rPr lang="en-US" altLang="en-US" sz="2400" dirty="0"/>
                        <a:t>stapes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Third </a:t>
                      </a:r>
                      <a:r>
                        <a:rPr lang="en-US" altLang="en-US" sz="2400" dirty="0" err="1"/>
                        <a:t>ossicle</a:t>
                      </a:r>
                      <a:r>
                        <a:rPr lang="en-US" altLang="en-US" sz="2400" dirty="0"/>
                        <a:t> of the middle ear</a:t>
                      </a:r>
                    </a:p>
                  </a:txBody>
                  <a:tcPr/>
                </a:tc>
                <a:extLst>
                  <a:ext uri="{0D108BD9-81ED-4DB2-BD59-A6C34878D82A}">
                    <a16:rowId xmlns:a16="http://schemas.microsoft.com/office/drawing/2014/main" val="10001"/>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tympanic membrane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Membrane between the outer and the middle ear; </a:t>
                      </a:r>
                      <a:r>
                        <a:rPr lang="en-US" altLang="en-US" sz="2400" b="1" dirty="0"/>
                        <a:t>eardrum</a:t>
                      </a:r>
                      <a:endParaRPr lang="en-US" altLang="en-US" sz="2400" dirty="0"/>
                    </a:p>
                  </a:txBody>
                  <a:tcPr/>
                </a:tc>
                <a:extLst>
                  <a:ext uri="{0D108BD9-81ED-4DB2-BD59-A6C34878D82A}">
                    <a16:rowId xmlns:a16="http://schemas.microsoft.com/office/drawing/2014/main" val="10002"/>
                  </a:ext>
                </a:extLst>
              </a:tr>
              <a:tr h="370840">
                <a:tc>
                  <a:txBody>
                    <a:bodyPr/>
                    <a:lstStyle/>
                    <a:p>
                      <a:r>
                        <a:rPr lang="en-US" altLang="en-US" sz="2400" dirty="0"/>
                        <a:t>vestibule</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Central cavity of the labyrinth, connecting the semicircular canals and the cochlea</a:t>
                      </a:r>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35212249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pPr eaLnBrk="1" hangingPunct="1"/>
            <a:r>
              <a:rPr lang="en-US" altLang="en-US" dirty="0"/>
              <a:t>      QUICK QUIZ (Slide 3 of 3) 	</a:t>
            </a:r>
          </a:p>
        </p:txBody>
      </p:sp>
      <p:sp>
        <p:nvSpPr>
          <p:cNvPr id="82947" name="Rectangle 3"/>
          <p:cNvSpPr>
            <a:spLocks noGrp="1" noChangeArrowheads="1"/>
          </p:cNvSpPr>
          <p:nvPr>
            <p:ph idx="1"/>
          </p:nvPr>
        </p:nvSpPr>
        <p:spPr>
          <a:xfrm>
            <a:off x="685800" y="1600200"/>
            <a:ext cx="8077200" cy="4265613"/>
          </a:xfrm>
        </p:spPr>
        <p:txBody>
          <a:bodyPr>
            <a:spAutoFit/>
          </a:bodyPr>
          <a:lstStyle/>
          <a:p>
            <a:pPr marL="533400" indent="-533400" eaLnBrk="1" hangingPunct="1">
              <a:buFont typeface="+mj-lt"/>
              <a:buAutoNum type="arabicPeriod" startAt="3"/>
            </a:pPr>
            <a:r>
              <a:rPr lang="en-US" altLang="en-US" b="1" dirty="0"/>
              <a:t>What is the snail-shaped, spirally wound tube in the inner ear that contains hearing-sensitive receptor cells?</a:t>
            </a:r>
          </a:p>
          <a:p>
            <a:pPr marL="533400" indent="-533400" eaLnBrk="1" hangingPunct="1">
              <a:buFont typeface="Wingdings 2" panose="05020102010507070707" pitchFamily="18" charset="2"/>
              <a:buNone/>
            </a:pPr>
            <a:endParaRPr lang="en-US" altLang="en-US" sz="1800" b="1" dirty="0"/>
          </a:p>
          <a:p>
            <a:pPr marL="914400" lvl="1" indent="-457200" eaLnBrk="1" hangingPunct="1">
              <a:buFont typeface="Arial" panose="020B0604020202020204" pitchFamily="34" charset="0"/>
              <a:buAutoNum type="alphaUcPeriod"/>
            </a:pPr>
            <a:r>
              <a:rPr lang="en-US" altLang="en-US" sz="3200" dirty="0"/>
              <a:t>Pinna</a:t>
            </a:r>
          </a:p>
          <a:p>
            <a:pPr marL="914400" lvl="1" indent="-457200" eaLnBrk="1" hangingPunct="1">
              <a:buFont typeface="Arial" panose="020B0604020202020204" pitchFamily="34" charset="0"/>
              <a:buAutoNum type="alphaUcPeriod"/>
            </a:pPr>
            <a:r>
              <a:rPr lang="en-US" altLang="en-US" sz="3200" dirty="0"/>
              <a:t>Auricle</a:t>
            </a:r>
          </a:p>
          <a:p>
            <a:pPr marL="914400" lvl="1" indent="-457200" eaLnBrk="1" hangingPunct="1">
              <a:buFont typeface="Arial" panose="020B0604020202020204" pitchFamily="34" charset="0"/>
              <a:buAutoNum type="alphaUcPeriod"/>
            </a:pPr>
            <a:r>
              <a:rPr lang="en-US" altLang="en-US" sz="3200" dirty="0" err="1"/>
              <a:t>Ossicle</a:t>
            </a:r>
            <a:endParaRPr lang="en-US" altLang="en-US" sz="3200" dirty="0"/>
          </a:p>
          <a:p>
            <a:pPr marL="914400" lvl="1" indent="-457200" eaLnBrk="1" hangingPunct="1">
              <a:buFont typeface="Arial" panose="020B0604020202020204" pitchFamily="34" charset="0"/>
              <a:buAutoNum type="alphaUcPeriod"/>
            </a:pPr>
            <a:r>
              <a:rPr lang="en-US" altLang="en-US" sz="3200" dirty="0"/>
              <a:t>Cochlea</a:t>
            </a:r>
          </a:p>
        </p:txBody>
      </p:sp>
    </p:spTree>
    <p:extLst>
      <p:ext uri="{BB962C8B-B14F-4D97-AF65-F5344CB8AC3E}">
        <p14:creationId xmlns:p14="http://schemas.microsoft.com/office/powerpoint/2010/main" val="419863136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sz="3400" dirty="0"/>
              <a:t>Combining Forms Ear Terminology  </a:t>
            </a:r>
            <a:br>
              <a:rPr lang="en-US" sz="3400" dirty="0"/>
            </a:br>
            <a:r>
              <a:rPr lang="en-US" sz="3400" dirty="0"/>
              <a:t> (Slide 1 of 2)</a:t>
            </a:r>
          </a:p>
        </p:txBody>
      </p:sp>
      <p:graphicFrame>
        <p:nvGraphicFramePr>
          <p:cNvPr id="8" name="Content Placeholder 7" descr="Group 1 of 2 combining forms  from the Terminology:  The Ear section of the textbook  with corresponding meanings or definitions. "/>
          <p:cNvGraphicFramePr>
            <a:graphicFrameLocks noGrp="1"/>
          </p:cNvGraphicFramePr>
          <p:nvPr>
            <p:ph idx="1"/>
            <p:extLst>
              <p:ext uri="{D42A27DB-BD31-4B8C-83A1-F6EECF244321}">
                <p14:modId xmlns:p14="http://schemas.microsoft.com/office/powerpoint/2010/main" val="2110503887"/>
              </p:ext>
            </p:extLst>
          </p:nvPr>
        </p:nvGraphicFramePr>
        <p:xfrm>
          <a:off x="457200" y="1600200"/>
          <a:ext cx="8229600" cy="3657600"/>
        </p:xfrm>
        <a:graphic>
          <a:graphicData uri="http://schemas.openxmlformats.org/drawingml/2006/table">
            <a:tbl>
              <a:tblPr firstRow="1" bandRow="1">
                <a:tableStyleId>{68D230F3-CF80-4859-8CE7-A43EE81993B5}</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acous</a:t>
                      </a:r>
                      <a:r>
                        <a:rPr lang="en-US" altLang="en-US" sz="2400" b="1" dirty="0"/>
                        <a:t>/o</a:t>
                      </a:r>
                      <a:endParaRPr lang="en-US" sz="2400" dirty="0"/>
                    </a:p>
                  </a:txBody>
                  <a:tcPr/>
                </a:tc>
                <a:tc>
                  <a:txBody>
                    <a:bodyPr/>
                    <a:lstStyle/>
                    <a:p>
                      <a:r>
                        <a:rPr lang="en-US" altLang="en-US" sz="2400" dirty="0"/>
                        <a:t>hearing</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audi</a:t>
                      </a:r>
                      <a:r>
                        <a:rPr lang="en-US" altLang="en-US" sz="2400" b="1" dirty="0"/>
                        <a:t>/o</a:t>
                      </a:r>
                      <a:endParaRPr lang="en-US" sz="2400" dirty="0"/>
                    </a:p>
                  </a:txBody>
                  <a:tcPr/>
                </a:tc>
                <a:tc>
                  <a:txBody>
                    <a:bodyPr/>
                    <a:lstStyle/>
                    <a:p>
                      <a:r>
                        <a:rPr lang="en-US" altLang="en-US" sz="2400" dirty="0"/>
                        <a:t>hearing</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audit/o</a:t>
                      </a:r>
                      <a:endParaRPr lang="en-US" sz="2400" dirty="0"/>
                    </a:p>
                  </a:txBody>
                  <a:tcPr/>
                </a:tc>
                <a:tc>
                  <a:txBody>
                    <a:bodyPr/>
                    <a:lstStyle/>
                    <a:p>
                      <a:r>
                        <a:rPr lang="en-US" altLang="en-US" sz="2400" dirty="0"/>
                        <a:t>hearing</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aur</a:t>
                      </a:r>
                      <a:r>
                        <a:rPr lang="en-US" altLang="en-US" sz="2400" b="1" dirty="0"/>
                        <a:t>/o</a:t>
                      </a:r>
                      <a:endParaRPr lang="en-US" sz="2400" dirty="0"/>
                    </a:p>
                  </a:txBody>
                  <a:tcPr/>
                </a:tc>
                <a:tc>
                  <a:txBody>
                    <a:bodyPr/>
                    <a:lstStyle/>
                    <a:p>
                      <a:r>
                        <a:rPr lang="en-US" altLang="en-US" sz="2400" dirty="0"/>
                        <a:t>ear</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auricul</a:t>
                      </a:r>
                      <a:r>
                        <a:rPr lang="en-US" altLang="en-US" sz="2400" b="1" dirty="0"/>
                        <a:t>/o</a:t>
                      </a:r>
                      <a:endParaRPr lang="en-US" sz="2400" dirty="0"/>
                    </a:p>
                  </a:txBody>
                  <a:tcPr/>
                </a:tc>
                <a:tc>
                  <a:txBody>
                    <a:bodyPr/>
                    <a:lstStyle/>
                    <a:p>
                      <a:r>
                        <a:rPr lang="en-US" altLang="en-US" sz="2400" dirty="0"/>
                        <a:t>ear</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cochle</a:t>
                      </a:r>
                      <a:r>
                        <a:rPr lang="en-US" altLang="en-US" sz="2400" b="1" dirty="0"/>
                        <a:t>/o</a:t>
                      </a:r>
                      <a:endParaRPr lang="en-US" sz="2400" dirty="0"/>
                    </a:p>
                  </a:txBody>
                  <a:tcPr/>
                </a:tc>
                <a:tc>
                  <a:txBody>
                    <a:bodyPr/>
                    <a:lstStyle/>
                    <a:p>
                      <a:r>
                        <a:rPr lang="en-US" altLang="en-US" sz="2400" dirty="0"/>
                        <a:t>cochlea</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b="1" dirty="0"/>
                        <a:t>mastoid/o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mastoid process</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21596589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descr="Group 2 of 2 combining forms  from the Terminology:  The Ear section of the textbook  with corresponding meanings or definitions. "/>
          <p:cNvSpPr>
            <a:spLocks noGrp="1"/>
          </p:cNvSpPr>
          <p:nvPr>
            <p:ph type="title"/>
          </p:nvPr>
        </p:nvSpPr>
        <p:spPr/>
        <p:txBody>
          <a:bodyPr/>
          <a:lstStyle/>
          <a:p>
            <a:r>
              <a:rPr lang="en-US" sz="3400" dirty="0"/>
              <a:t>Combining Forms Ear – Terminology</a:t>
            </a:r>
            <a:br>
              <a:rPr lang="en-US" sz="3400" dirty="0"/>
            </a:br>
            <a:r>
              <a:rPr lang="en-US" sz="3400" dirty="0"/>
              <a:t> (Slide 2 of 2)</a:t>
            </a:r>
          </a:p>
        </p:txBody>
      </p:sp>
      <p:graphicFrame>
        <p:nvGraphicFramePr>
          <p:cNvPr id="8" name="Content Placeholder 7" descr="Group 1 of 2 combining forms  from the Terminology:  The Ear section of the textbook  with corresponding meanings or definitions. "/>
          <p:cNvGraphicFramePr>
            <a:graphicFrameLocks noGrp="1"/>
          </p:cNvGraphicFramePr>
          <p:nvPr>
            <p:ph idx="1"/>
            <p:extLst>
              <p:ext uri="{D42A27DB-BD31-4B8C-83A1-F6EECF244321}">
                <p14:modId xmlns:p14="http://schemas.microsoft.com/office/powerpoint/2010/main" val="1322065728"/>
              </p:ext>
            </p:extLst>
          </p:nvPr>
        </p:nvGraphicFramePr>
        <p:xfrm>
          <a:off x="457200" y="1600200"/>
          <a:ext cx="8229600" cy="3657600"/>
        </p:xfrm>
        <a:graphic>
          <a:graphicData uri="http://schemas.openxmlformats.org/drawingml/2006/table">
            <a:tbl>
              <a:tblPr firstRow="1" bandRow="1">
                <a:tableStyleId>{68D230F3-CF80-4859-8CE7-A43EE81993B5}</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Combining</a:t>
                      </a:r>
                      <a:r>
                        <a:rPr lang="en-US" sz="2400" baseline="0" dirty="0"/>
                        <a:t> Form</a:t>
                      </a:r>
                      <a:endParaRPr lang="en-US" sz="2400" dirty="0"/>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myring</a:t>
                      </a:r>
                      <a:r>
                        <a:rPr lang="en-US" altLang="en-US" sz="2400" b="1" dirty="0"/>
                        <a:t>/o</a:t>
                      </a:r>
                      <a:endParaRPr lang="en-US" sz="2400" dirty="0"/>
                    </a:p>
                  </a:txBody>
                  <a:tcPr/>
                </a:tc>
                <a:tc>
                  <a:txBody>
                    <a:bodyPr/>
                    <a:lstStyle/>
                    <a:p>
                      <a:r>
                        <a:rPr lang="en-US" altLang="en-US" sz="2400" dirty="0"/>
                        <a:t>eardrum, tympanic membrane</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ossicul</a:t>
                      </a:r>
                      <a:r>
                        <a:rPr lang="en-US" altLang="en-US" sz="2400" b="1" dirty="0"/>
                        <a:t>/o</a:t>
                      </a:r>
                      <a:endParaRPr lang="en-US" sz="2400" dirty="0"/>
                    </a:p>
                  </a:txBody>
                  <a:tcPr/>
                </a:tc>
                <a:tc>
                  <a:txBody>
                    <a:bodyPr/>
                    <a:lstStyle/>
                    <a:p>
                      <a:r>
                        <a:rPr lang="en-US" altLang="en-US" sz="2400" dirty="0" err="1"/>
                        <a:t>ossicle</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ot</a:t>
                      </a:r>
                      <a:r>
                        <a:rPr lang="en-US" altLang="en-US" sz="2400" b="1" dirty="0"/>
                        <a:t>/o</a:t>
                      </a:r>
                      <a:endParaRPr lang="en-US" sz="2400" dirty="0"/>
                    </a:p>
                  </a:txBody>
                  <a:tcPr/>
                </a:tc>
                <a:tc>
                  <a:txBody>
                    <a:bodyPr/>
                    <a:lstStyle/>
                    <a:p>
                      <a:r>
                        <a:rPr lang="en-US" altLang="en-US" sz="2400" dirty="0"/>
                        <a:t>ear</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salping</a:t>
                      </a:r>
                      <a:r>
                        <a:rPr lang="en-US" altLang="en-US" sz="2400" b="1" dirty="0"/>
                        <a:t>/o</a:t>
                      </a:r>
                      <a:endParaRPr lang="en-US" sz="2400" dirty="0"/>
                    </a:p>
                  </a:txBody>
                  <a:tcPr/>
                </a:tc>
                <a:tc>
                  <a:txBody>
                    <a:bodyPr/>
                    <a:lstStyle/>
                    <a:p>
                      <a:r>
                        <a:rPr lang="en-US" altLang="en-US" sz="2400" dirty="0"/>
                        <a:t>Eustachian tube</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staped</a:t>
                      </a:r>
                      <a:r>
                        <a:rPr lang="en-US" altLang="en-US" sz="2400" b="1" dirty="0"/>
                        <a:t>/o</a:t>
                      </a:r>
                      <a:endParaRPr lang="en-US" sz="2400" dirty="0"/>
                    </a:p>
                  </a:txBody>
                  <a:tcPr/>
                </a:tc>
                <a:tc>
                  <a:txBody>
                    <a:bodyPr/>
                    <a:lstStyle/>
                    <a:p>
                      <a:r>
                        <a:rPr lang="en-US" altLang="en-US" sz="2400" dirty="0"/>
                        <a:t>stapes</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tyman</a:t>
                      </a:r>
                      <a:r>
                        <a:rPr lang="en-US" altLang="en-US" sz="2400" b="1" dirty="0"/>
                        <a:t>/o</a:t>
                      </a:r>
                      <a:endParaRPr lang="en-US" sz="2400" dirty="0"/>
                    </a:p>
                  </a:txBody>
                  <a:tcPr/>
                </a:tc>
                <a:tc>
                  <a:txBody>
                    <a:bodyPr/>
                    <a:lstStyle/>
                    <a:p>
                      <a:r>
                        <a:rPr lang="en-US" altLang="en-US" sz="2400" dirty="0"/>
                        <a:t>eardrum, tympanic membrane</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b="1" dirty="0" err="1"/>
                        <a:t>vestibul</a:t>
                      </a:r>
                      <a:r>
                        <a:rPr lang="en-US" altLang="en-US" sz="2400" b="1" dirty="0"/>
                        <a:t>/o</a:t>
                      </a:r>
                      <a:endParaRPr lang="en-US" sz="2400" dirty="0"/>
                    </a:p>
                  </a:txBody>
                  <a:tcPr/>
                </a:tc>
                <a:tc>
                  <a:txBody>
                    <a:bodyPr/>
                    <a:lstStyle/>
                    <a:p>
                      <a:r>
                        <a:rPr lang="en-US" altLang="en-US" sz="2400" dirty="0"/>
                        <a:t>vestibule</a:t>
                      </a:r>
                      <a:endParaRPr lang="en-US" sz="2400"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57551536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descr="List of Suffixes  from the Terminology:  The Ear section of the textbook  with corresponding meanings or definitions. "/>
          <p:cNvSpPr>
            <a:spLocks noGrp="1"/>
          </p:cNvSpPr>
          <p:nvPr>
            <p:ph type="title"/>
          </p:nvPr>
        </p:nvSpPr>
        <p:spPr/>
        <p:txBody>
          <a:bodyPr/>
          <a:lstStyle/>
          <a:p>
            <a:r>
              <a:rPr lang="en-US" sz="4000" dirty="0"/>
              <a:t>Terminology Ear- Suffixes (Slide 1 of 1)</a:t>
            </a:r>
          </a:p>
        </p:txBody>
      </p:sp>
      <p:graphicFrame>
        <p:nvGraphicFramePr>
          <p:cNvPr id="8" name="Content Placeholder 7" descr="Group 1 of 2 combining forms  from the Terminology:  The Ear section of the textbook  with corresponding meanings or definitions. "/>
          <p:cNvGraphicFramePr>
            <a:graphicFrameLocks noGrp="1"/>
          </p:cNvGraphicFramePr>
          <p:nvPr>
            <p:ph idx="1"/>
            <p:extLst>
              <p:ext uri="{D42A27DB-BD31-4B8C-83A1-F6EECF244321}">
                <p14:modId xmlns:p14="http://schemas.microsoft.com/office/powerpoint/2010/main" val="1585971638"/>
              </p:ext>
            </p:extLst>
          </p:nvPr>
        </p:nvGraphicFramePr>
        <p:xfrm>
          <a:off x="457200" y="1600200"/>
          <a:ext cx="8229600" cy="1828800"/>
        </p:xfrm>
        <a:graphic>
          <a:graphicData uri="http://schemas.openxmlformats.org/drawingml/2006/table">
            <a:tbl>
              <a:tblPr firstRow="1" bandRow="1">
                <a:tableStyleId>{68D230F3-CF80-4859-8CE7-A43EE81993B5}</a:tableStyleId>
              </a:tblPr>
              <a:tblGrid>
                <a:gridCol w="2743200">
                  <a:extLst>
                    <a:ext uri="{9D8B030D-6E8A-4147-A177-3AD203B41FA5}">
                      <a16:colId xmlns:a16="http://schemas.microsoft.com/office/drawing/2014/main" val="20000"/>
                    </a:ext>
                  </a:extLst>
                </a:gridCol>
                <a:gridCol w="5486400">
                  <a:extLst>
                    <a:ext uri="{9D8B030D-6E8A-4147-A177-3AD203B41FA5}">
                      <a16:colId xmlns:a16="http://schemas.microsoft.com/office/drawing/2014/main" val="20001"/>
                    </a:ext>
                  </a:extLst>
                </a:gridCol>
              </a:tblGrid>
              <a:tr h="370840">
                <a:tc>
                  <a:txBody>
                    <a:bodyPr/>
                    <a:lstStyle/>
                    <a:p>
                      <a:r>
                        <a:rPr lang="en-US" sz="2400" dirty="0"/>
                        <a:t>Suffix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a:t>
                      </a:r>
                      <a:r>
                        <a:rPr lang="en-US" altLang="en-US" sz="2400" b="1" dirty="0" err="1"/>
                        <a:t>acusis</a:t>
                      </a:r>
                      <a:r>
                        <a:rPr lang="en-US" altLang="en-US" sz="2400" b="1" dirty="0"/>
                        <a:t> or-</a:t>
                      </a:r>
                      <a:r>
                        <a:rPr lang="en-US" altLang="en-US" sz="2400" b="1" dirty="0" err="1"/>
                        <a:t>cusis</a:t>
                      </a:r>
                      <a:endParaRPr lang="en-US" sz="2400" dirty="0"/>
                    </a:p>
                  </a:txBody>
                  <a:tcPr/>
                </a:tc>
                <a:tc>
                  <a:txBody>
                    <a:bodyPr/>
                    <a:lstStyle/>
                    <a:p>
                      <a:r>
                        <a:rPr lang="en-US" altLang="en-US" sz="2400" dirty="0"/>
                        <a:t>hearing</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-meter</a:t>
                      </a:r>
                      <a:endParaRPr lang="en-US" sz="2400" dirty="0"/>
                    </a:p>
                  </a:txBody>
                  <a:tcPr/>
                </a:tc>
                <a:tc>
                  <a:txBody>
                    <a:bodyPr/>
                    <a:lstStyle/>
                    <a:p>
                      <a:r>
                        <a:rPr lang="en-US" altLang="en-US" sz="2400" dirty="0"/>
                        <a:t>instrument for measure</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a:t>
                      </a:r>
                      <a:r>
                        <a:rPr lang="en-US" altLang="en-US" sz="2400" b="1" dirty="0" err="1"/>
                        <a:t>otia</a:t>
                      </a:r>
                      <a:endParaRPr lang="en-US" sz="2400" dirty="0"/>
                    </a:p>
                  </a:txBody>
                  <a:tcPr/>
                </a:tc>
                <a:tc>
                  <a:txBody>
                    <a:bodyPr/>
                    <a:lstStyle/>
                    <a:p>
                      <a:r>
                        <a:rPr lang="en-US" altLang="en-US" sz="2400" dirty="0"/>
                        <a:t>ear condition</a:t>
                      </a:r>
                      <a:endParaRPr lang="en-US" sz="2400" dirty="0"/>
                    </a:p>
                  </a:txBody>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52030074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6"/>
          <p:cNvSpPr>
            <a:spLocks noGrp="1" noChangeArrowheads="1"/>
          </p:cNvSpPr>
          <p:nvPr>
            <p:ph type="title"/>
          </p:nvPr>
        </p:nvSpPr>
        <p:spPr>
          <a:xfrm>
            <a:off x="228600" y="228600"/>
            <a:ext cx="8915400" cy="1143000"/>
          </a:xfrm>
        </p:spPr>
        <p:txBody>
          <a:bodyPr/>
          <a:lstStyle/>
          <a:p>
            <a:pPr eaLnBrk="1" hangingPunct="1"/>
            <a:r>
              <a:rPr lang="en-US" altLang="en-US" dirty="0"/>
              <a:t>Symptoms and Pathologic Conditions</a:t>
            </a:r>
            <a:br>
              <a:rPr lang="en-US" altLang="en-US" dirty="0"/>
            </a:br>
            <a:r>
              <a:rPr lang="en-US" altLang="en-US" dirty="0"/>
              <a:t>(Slide 1 of 3)</a:t>
            </a:r>
          </a:p>
        </p:txBody>
      </p:sp>
      <p:sp>
        <p:nvSpPr>
          <p:cNvPr id="87043" name="Rectangle 7"/>
          <p:cNvSpPr>
            <a:spLocks noGrp="1" noChangeArrowheads="1"/>
          </p:cNvSpPr>
          <p:nvPr>
            <p:ph idx="1"/>
          </p:nvPr>
        </p:nvSpPr>
        <p:spPr/>
        <p:txBody>
          <a:bodyPr/>
          <a:lstStyle/>
          <a:p>
            <a:pPr eaLnBrk="1" hangingPunct="1"/>
            <a:r>
              <a:rPr lang="en-US" altLang="en-US" b="1"/>
              <a:t>Acoustic neuroma:</a:t>
            </a:r>
            <a:r>
              <a:rPr lang="en-US" altLang="en-US"/>
              <a:t> benign tumor arising from 8th cranial nerve, causes tinnitus, vertigo, dizziness, and decreased hearing</a:t>
            </a:r>
          </a:p>
          <a:p>
            <a:pPr eaLnBrk="1" hangingPunct="1"/>
            <a:r>
              <a:rPr lang="en-US" altLang="en-US" b="1"/>
              <a:t>Cholesteatoma:</a:t>
            </a:r>
            <a:r>
              <a:rPr lang="en-US" altLang="en-US"/>
              <a:t> skin cells and cholesterol in a sac in the middle ear (cyst-like mass associated with chronic infections)</a:t>
            </a:r>
          </a:p>
          <a:p>
            <a:pPr eaLnBrk="1" hangingPunct="1"/>
            <a:r>
              <a:rPr lang="en-US" altLang="en-US" b="1"/>
              <a:t>Deafness:</a:t>
            </a:r>
            <a:r>
              <a:rPr lang="en-US" altLang="en-US"/>
              <a:t> loss of ability to hear</a:t>
            </a:r>
          </a:p>
        </p:txBody>
      </p:sp>
    </p:spTree>
    <p:extLst>
      <p:ext uri="{BB962C8B-B14F-4D97-AF65-F5344CB8AC3E}">
        <p14:creationId xmlns:p14="http://schemas.microsoft.com/office/powerpoint/2010/main" val="1298438863"/>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4" name="Rectangle 6"/>
          <p:cNvSpPr>
            <a:spLocks noGrp="1" noChangeArrowheads="1"/>
          </p:cNvSpPr>
          <p:nvPr>
            <p:ph type="title"/>
          </p:nvPr>
        </p:nvSpPr>
        <p:spPr/>
        <p:txBody>
          <a:bodyPr rtlCol="0">
            <a:normAutofit fontScale="90000"/>
          </a:bodyPr>
          <a:lstStyle/>
          <a:p>
            <a:pPr eaLnBrk="1" fontAlgn="auto" hangingPunct="1">
              <a:spcAft>
                <a:spcPts val="0"/>
              </a:spcAft>
              <a:defRPr/>
            </a:pPr>
            <a:r>
              <a:rPr lang="en-US" dirty="0"/>
              <a:t>Symptoms and Pathologic Conditions (Slide 2 of 3</a:t>
            </a:r>
            <a:r>
              <a:rPr lang="en-US" altLang="ja-JP" dirty="0"/>
              <a:t>)</a:t>
            </a:r>
            <a:endParaRPr lang="en-US" dirty="0"/>
          </a:p>
        </p:txBody>
      </p:sp>
      <p:sp>
        <p:nvSpPr>
          <p:cNvPr id="88067" name="Rectangle 7"/>
          <p:cNvSpPr>
            <a:spLocks noGrp="1" noChangeArrowheads="1"/>
          </p:cNvSpPr>
          <p:nvPr>
            <p:ph idx="1"/>
          </p:nvPr>
        </p:nvSpPr>
        <p:spPr/>
        <p:txBody>
          <a:bodyPr/>
          <a:lstStyle/>
          <a:p>
            <a:pPr eaLnBrk="1" hangingPunct="1">
              <a:lnSpc>
                <a:spcPct val="90000"/>
              </a:lnSpc>
            </a:pPr>
            <a:r>
              <a:rPr lang="en-US" altLang="en-US" b="1"/>
              <a:t>Ménière disease:</a:t>
            </a:r>
            <a:r>
              <a:rPr lang="en-US" altLang="en-US"/>
              <a:t> disorder of the labyrinth with elevated endolymph pressure in the cochlea and semicircular canals causing tinnitus, sensitivity to sound, progressive hearing loss, headache, nausea, and vertigo</a:t>
            </a:r>
          </a:p>
          <a:p>
            <a:pPr eaLnBrk="1" hangingPunct="1">
              <a:lnSpc>
                <a:spcPct val="90000"/>
              </a:lnSpc>
            </a:pPr>
            <a:r>
              <a:rPr lang="en-US" altLang="en-US" b="1"/>
              <a:t>Otitis media:</a:t>
            </a:r>
            <a:r>
              <a:rPr lang="en-US" altLang="en-US"/>
              <a:t> inflammation of the middle ear</a:t>
            </a:r>
          </a:p>
          <a:p>
            <a:pPr eaLnBrk="1" hangingPunct="1">
              <a:lnSpc>
                <a:spcPct val="90000"/>
              </a:lnSpc>
            </a:pPr>
            <a:r>
              <a:rPr lang="en-US" altLang="en-US" b="1"/>
              <a:t>Otosclerosis:</a:t>
            </a:r>
            <a:r>
              <a:rPr lang="en-US" altLang="en-US"/>
              <a:t> hardening of bony tissue in the labyrinth</a:t>
            </a:r>
          </a:p>
        </p:txBody>
      </p:sp>
    </p:spTree>
    <p:extLst>
      <p:ext uri="{BB962C8B-B14F-4D97-AF65-F5344CB8AC3E}">
        <p14:creationId xmlns:p14="http://schemas.microsoft.com/office/powerpoint/2010/main" val="356908372"/>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82" name="Rectangle 6"/>
          <p:cNvSpPr>
            <a:spLocks noGrp="1" noChangeArrowheads="1"/>
          </p:cNvSpPr>
          <p:nvPr>
            <p:ph type="title"/>
          </p:nvPr>
        </p:nvSpPr>
        <p:spPr/>
        <p:txBody>
          <a:bodyPr rtlCol="0">
            <a:normAutofit fontScale="90000"/>
          </a:bodyPr>
          <a:lstStyle/>
          <a:p>
            <a:pPr eaLnBrk="1" fontAlgn="auto" hangingPunct="1">
              <a:spcAft>
                <a:spcPts val="0"/>
              </a:spcAft>
              <a:defRPr/>
            </a:pPr>
            <a:r>
              <a:rPr lang="en-US" dirty="0"/>
              <a:t>Symptoms and Pathologic Conditions (Slide 3 of 3</a:t>
            </a:r>
            <a:r>
              <a:rPr lang="en-US" altLang="ja-JP" dirty="0"/>
              <a:t>)</a:t>
            </a:r>
            <a:endParaRPr lang="en-US" dirty="0"/>
          </a:p>
        </p:txBody>
      </p:sp>
      <p:sp>
        <p:nvSpPr>
          <p:cNvPr id="89091" name="Rectangle 7"/>
          <p:cNvSpPr>
            <a:spLocks noGrp="1" noChangeArrowheads="1"/>
          </p:cNvSpPr>
          <p:nvPr>
            <p:ph idx="1"/>
          </p:nvPr>
        </p:nvSpPr>
        <p:spPr/>
        <p:txBody>
          <a:bodyPr/>
          <a:lstStyle/>
          <a:p>
            <a:pPr eaLnBrk="1" hangingPunct="1"/>
            <a:r>
              <a:rPr lang="en-US" altLang="en-US" b="1"/>
              <a:t>Tinnitus:</a:t>
            </a:r>
            <a:r>
              <a:rPr lang="en-US" altLang="en-US"/>
              <a:t> sensation of noises (ringing, buzzing, whistling, booming) in the ears</a:t>
            </a:r>
          </a:p>
          <a:p>
            <a:pPr eaLnBrk="1" hangingPunct="1"/>
            <a:r>
              <a:rPr lang="en-US" altLang="en-US" b="1"/>
              <a:t>Vertigo:</a:t>
            </a:r>
            <a:r>
              <a:rPr lang="en-US" altLang="en-US"/>
              <a:t> sensation of irregular motion (whirling) from disease of the inner ear or nerve carrying messages from the semicircular canals</a:t>
            </a:r>
          </a:p>
        </p:txBody>
      </p:sp>
    </p:spTree>
    <p:extLst>
      <p:ext uri="{BB962C8B-B14F-4D97-AF65-F5344CB8AC3E}">
        <p14:creationId xmlns:p14="http://schemas.microsoft.com/office/powerpoint/2010/main" val="270711999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6"/>
          <p:cNvSpPr>
            <a:spLocks noGrp="1" noChangeArrowheads="1"/>
          </p:cNvSpPr>
          <p:nvPr>
            <p:ph type="title"/>
          </p:nvPr>
        </p:nvSpPr>
        <p:spPr>
          <a:xfrm>
            <a:off x="685800" y="228600"/>
            <a:ext cx="7924800" cy="1143000"/>
          </a:xfrm>
        </p:spPr>
        <p:txBody>
          <a:bodyPr/>
          <a:lstStyle/>
          <a:p>
            <a:pPr eaLnBrk="1" hangingPunct="1"/>
            <a:r>
              <a:rPr lang="en-US" altLang="en-US" dirty="0"/>
              <a:t>Clinical Procedures (Slide 1 of 2)</a:t>
            </a:r>
          </a:p>
        </p:txBody>
      </p:sp>
      <p:sp>
        <p:nvSpPr>
          <p:cNvPr id="90115" name="Rectangle 7"/>
          <p:cNvSpPr>
            <a:spLocks noGrp="1" noChangeArrowheads="1"/>
          </p:cNvSpPr>
          <p:nvPr>
            <p:ph idx="1"/>
          </p:nvPr>
        </p:nvSpPr>
        <p:spPr/>
        <p:txBody>
          <a:bodyPr/>
          <a:lstStyle/>
          <a:p>
            <a:pPr eaLnBrk="1" hangingPunct="1">
              <a:lnSpc>
                <a:spcPct val="90000"/>
              </a:lnSpc>
            </a:pPr>
            <a:r>
              <a:rPr lang="en-US" altLang="en-US" b="1"/>
              <a:t>Audiometry:</a:t>
            </a:r>
            <a:r>
              <a:rPr lang="en-US" altLang="en-US"/>
              <a:t> an audiometer is an electric device used to determine hearing loss by frequency</a:t>
            </a:r>
          </a:p>
          <a:p>
            <a:pPr eaLnBrk="1" hangingPunct="1">
              <a:lnSpc>
                <a:spcPct val="90000"/>
              </a:lnSpc>
            </a:pPr>
            <a:r>
              <a:rPr lang="en-US" altLang="en-US" b="1"/>
              <a:t>Cochlear implant:</a:t>
            </a:r>
            <a:r>
              <a:rPr lang="en-US" altLang="en-US"/>
              <a:t> a surgically implanted device that allows sensorineural hearing-impaired persons to understand speech</a:t>
            </a:r>
          </a:p>
          <a:p>
            <a:pPr eaLnBrk="1" hangingPunct="1">
              <a:lnSpc>
                <a:spcPct val="90000"/>
              </a:lnSpc>
            </a:pPr>
            <a:r>
              <a:rPr lang="en-US" altLang="en-US" b="1"/>
              <a:t>Ear thermometry:</a:t>
            </a:r>
            <a:r>
              <a:rPr lang="en-US" altLang="en-US"/>
              <a:t> body temperature measured with infrared radiation from the eardrum</a:t>
            </a:r>
          </a:p>
        </p:txBody>
      </p:sp>
    </p:spTree>
    <p:extLst>
      <p:ext uri="{BB962C8B-B14F-4D97-AF65-F5344CB8AC3E}">
        <p14:creationId xmlns:p14="http://schemas.microsoft.com/office/powerpoint/2010/main" val="120861220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6"/>
          <p:cNvSpPr>
            <a:spLocks noGrp="1" noChangeArrowheads="1"/>
          </p:cNvSpPr>
          <p:nvPr>
            <p:ph type="title"/>
          </p:nvPr>
        </p:nvSpPr>
        <p:spPr/>
        <p:txBody>
          <a:bodyPr/>
          <a:lstStyle/>
          <a:p>
            <a:pPr eaLnBrk="1" hangingPunct="1"/>
            <a:r>
              <a:rPr lang="en-US" altLang="en-US" dirty="0"/>
              <a:t>Clinical Procedures (Slide 2 of 2</a:t>
            </a:r>
            <a:r>
              <a:rPr lang="en-US" altLang="ja-JP" dirty="0"/>
              <a:t>)</a:t>
            </a:r>
            <a:endParaRPr lang="en-US" altLang="en-US" dirty="0"/>
          </a:p>
        </p:txBody>
      </p:sp>
      <p:sp>
        <p:nvSpPr>
          <p:cNvPr id="91139" name="Rectangle 7"/>
          <p:cNvSpPr>
            <a:spLocks noGrp="1" noChangeArrowheads="1"/>
          </p:cNvSpPr>
          <p:nvPr>
            <p:ph idx="1"/>
          </p:nvPr>
        </p:nvSpPr>
        <p:spPr/>
        <p:txBody>
          <a:bodyPr/>
          <a:lstStyle/>
          <a:p>
            <a:pPr eaLnBrk="1" hangingPunct="1">
              <a:lnSpc>
                <a:spcPct val="90000"/>
              </a:lnSpc>
            </a:pPr>
            <a:r>
              <a:rPr lang="en-US" altLang="en-US" b="1"/>
              <a:t>Otoscopy:</a:t>
            </a:r>
            <a:r>
              <a:rPr lang="en-US" altLang="en-US"/>
              <a:t> visual examination of the ear with a small, hand-held scope</a:t>
            </a:r>
          </a:p>
          <a:p>
            <a:pPr eaLnBrk="1" hangingPunct="1">
              <a:lnSpc>
                <a:spcPct val="90000"/>
              </a:lnSpc>
            </a:pPr>
            <a:r>
              <a:rPr lang="en-US" altLang="en-US" b="1"/>
              <a:t>Tuning fork test</a:t>
            </a:r>
            <a:r>
              <a:rPr lang="en-US" altLang="en-US"/>
              <a:t>: hearing tests using a vibrating fork</a:t>
            </a:r>
          </a:p>
          <a:p>
            <a:pPr lvl="1" eaLnBrk="1" hangingPunct="1">
              <a:lnSpc>
                <a:spcPct val="90000"/>
              </a:lnSpc>
              <a:buFont typeface="Wingdings" panose="05000000000000000000" pitchFamily="2" charset="2"/>
              <a:buChar char="Ø"/>
            </a:pPr>
            <a:r>
              <a:rPr lang="en-US" altLang="en-US" b="1"/>
              <a:t>Rinne:</a:t>
            </a:r>
            <a:r>
              <a:rPr lang="en-US" altLang="en-US"/>
              <a:t> fork is place against the mastoid bone (bone conduction) and in front of the auditory meatus (air conduction)</a:t>
            </a:r>
          </a:p>
          <a:p>
            <a:pPr lvl="1" eaLnBrk="1" hangingPunct="1">
              <a:lnSpc>
                <a:spcPct val="90000"/>
              </a:lnSpc>
              <a:buFont typeface="Wingdings" panose="05000000000000000000" pitchFamily="2" charset="2"/>
              <a:buChar char="Ø"/>
            </a:pPr>
            <a:r>
              <a:rPr lang="en-US" altLang="en-US" b="1"/>
              <a:t>Weber:</a:t>
            </a:r>
            <a:r>
              <a:rPr lang="en-US" altLang="en-US"/>
              <a:t> fork is placed on the center of the forehead; normal hearing has equal loudness in both ears </a:t>
            </a:r>
          </a:p>
        </p:txBody>
      </p:sp>
    </p:spTree>
    <p:extLst>
      <p:ext uri="{BB962C8B-B14F-4D97-AF65-F5344CB8AC3E}">
        <p14:creationId xmlns:p14="http://schemas.microsoft.com/office/powerpoint/2010/main" val="290113276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200" dirty="0"/>
              <a:t>Abbreviations – The Ear</a:t>
            </a:r>
          </a:p>
        </p:txBody>
      </p:sp>
      <p:graphicFrame>
        <p:nvGraphicFramePr>
          <p:cNvPr id="8" name="Content Placeholder 7" descr="Group 1of 4 Abbreviations--The Ear with corresponding meanings."/>
          <p:cNvGraphicFramePr>
            <a:graphicFrameLocks noGrp="1"/>
          </p:cNvGraphicFramePr>
          <p:nvPr>
            <p:ph idx="1"/>
            <p:extLst>
              <p:ext uri="{D42A27DB-BD31-4B8C-83A1-F6EECF244321}">
                <p14:modId xmlns:p14="http://schemas.microsoft.com/office/powerpoint/2010/main" val="779231304"/>
              </p:ext>
            </p:extLst>
          </p:nvPr>
        </p:nvGraphicFramePr>
        <p:xfrm>
          <a:off x="457200" y="1371600"/>
          <a:ext cx="8229600" cy="5029200"/>
        </p:xfrm>
        <a:graphic>
          <a:graphicData uri="http://schemas.openxmlformats.org/drawingml/2006/table">
            <a:tbl>
              <a:tblPr firstRow="1" bandRow="1">
                <a:tableStyleId>{C083E6E3-FA7D-4D7B-A595-EF9225AFEA82}</a:tableStyleId>
              </a:tblPr>
              <a:tblGrid>
                <a:gridCol w="2133600">
                  <a:extLst>
                    <a:ext uri="{9D8B030D-6E8A-4147-A177-3AD203B41FA5}">
                      <a16:colId xmlns:a16="http://schemas.microsoft.com/office/drawing/2014/main" val="20000"/>
                    </a:ext>
                  </a:extLst>
                </a:gridCol>
                <a:gridCol w="6096000">
                  <a:extLst>
                    <a:ext uri="{9D8B030D-6E8A-4147-A177-3AD203B41FA5}">
                      <a16:colId xmlns:a16="http://schemas.microsoft.com/office/drawing/2014/main" val="20001"/>
                    </a:ext>
                  </a:extLst>
                </a:gridCol>
              </a:tblGrid>
              <a:tr h="370840">
                <a:tc>
                  <a:txBody>
                    <a:bodyPr/>
                    <a:lstStyle/>
                    <a:p>
                      <a:r>
                        <a:rPr lang="en-US" sz="2400" dirty="0"/>
                        <a:t>Abbreviation</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dirty="0"/>
                        <a:t>AD</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Right ear</a:t>
                      </a:r>
                    </a:p>
                  </a:txBody>
                  <a:tcPr/>
                </a:tc>
                <a:extLst>
                  <a:ext uri="{0D108BD9-81ED-4DB2-BD59-A6C34878D82A}">
                    <a16:rowId xmlns:a16="http://schemas.microsoft.com/office/drawing/2014/main" val="10001"/>
                  </a:ext>
                </a:extLst>
              </a:tr>
              <a:tr h="370840">
                <a:tc>
                  <a:txBody>
                    <a:bodyPr/>
                    <a:lstStyle/>
                    <a:p>
                      <a:r>
                        <a:rPr lang="en-US" altLang="en-US" sz="2400" dirty="0"/>
                        <a:t>AOM</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Acute otitis media</a:t>
                      </a:r>
                    </a:p>
                  </a:txBody>
                  <a:tcPr/>
                </a:tc>
                <a:extLst>
                  <a:ext uri="{0D108BD9-81ED-4DB2-BD59-A6C34878D82A}">
                    <a16:rowId xmlns:a16="http://schemas.microsoft.com/office/drawing/2014/main" val="10002"/>
                  </a:ext>
                </a:extLst>
              </a:tr>
              <a:tr h="370840">
                <a:tc>
                  <a:txBody>
                    <a:bodyPr/>
                    <a:lstStyle/>
                    <a:p>
                      <a:r>
                        <a:rPr lang="en-US" altLang="en-US" sz="2400" dirty="0"/>
                        <a:t>AS</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Left ear</a:t>
                      </a:r>
                    </a:p>
                  </a:txBody>
                  <a:tcPr/>
                </a:tc>
                <a:extLst>
                  <a:ext uri="{0D108BD9-81ED-4DB2-BD59-A6C34878D82A}">
                    <a16:rowId xmlns:a16="http://schemas.microsoft.com/office/drawing/2014/main" val="10003"/>
                  </a:ext>
                </a:extLst>
              </a:tr>
              <a:tr h="370840">
                <a:tc>
                  <a:txBody>
                    <a:bodyPr/>
                    <a:lstStyle/>
                    <a:p>
                      <a:r>
                        <a:rPr lang="en-US" altLang="en-US" sz="2400" dirty="0"/>
                        <a:t>EENT</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Eyes, ears, nose, and throat</a:t>
                      </a:r>
                    </a:p>
                  </a:txBody>
                  <a:tcPr/>
                </a:tc>
                <a:extLst>
                  <a:ext uri="{0D108BD9-81ED-4DB2-BD59-A6C34878D82A}">
                    <a16:rowId xmlns:a16="http://schemas.microsoft.com/office/drawing/2014/main" val="10004"/>
                  </a:ext>
                </a:extLst>
              </a:tr>
              <a:tr h="370840">
                <a:tc>
                  <a:txBody>
                    <a:bodyPr/>
                    <a:lstStyle/>
                    <a:p>
                      <a:r>
                        <a:rPr lang="en-US" altLang="en-US" sz="2400" dirty="0"/>
                        <a:t>ENG</a:t>
                      </a:r>
                      <a:endParaRPr lang="en-US" sz="2400" dirty="0"/>
                    </a:p>
                  </a:txBody>
                  <a:tcPr/>
                </a:tc>
                <a:tc>
                  <a:txBody>
                    <a:bodyPr/>
                    <a:lstStyle/>
                    <a:p>
                      <a:r>
                        <a:rPr lang="en-US" altLang="en-US" sz="2400" dirty="0"/>
                        <a:t>Electronystagmography</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dirty="0"/>
                        <a:t>ENT</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Ears, nose, and throat</a:t>
                      </a:r>
                    </a:p>
                  </a:txBody>
                  <a:tcPr/>
                </a:tc>
                <a:extLst>
                  <a:ext uri="{0D108BD9-81ED-4DB2-BD59-A6C34878D82A}">
                    <a16:rowId xmlns:a16="http://schemas.microsoft.com/office/drawing/2014/main" val="10006"/>
                  </a:ext>
                </a:extLst>
              </a:tr>
              <a:tr h="370840">
                <a:tc>
                  <a:txBody>
                    <a:bodyPr/>
                    <a:lstStyle/>
                    <a:p>
                      <a:r>
                        <a:rPr lang="en-US" altLang="en-US" sz="2400" dirty="0"/>
                        <a:t>ETD</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Eustachian tube dysfunction</a:t>
                      </a:r>
                    </a:p>
                  </a:txBody>
                  <a:tcPr/>
                </a:tc>
                <a:extLst>
                  <a:ext uri="{0D108BD9-81ED-4DB2-BD59-A6C34878D82A}">
                    <a16:rowId xmlns:a16="http://schemas.microsoft.com/office/drawing/2014/main" val="10007"/>
                  </a:ext>
                </a:extLst>
              </a:tr>
              <a:tr h="370840">
                <a:tc>
                  <a:txBody>
                    <a:bodyPr/>
                    <a:lstStyle/>
                    <a:p>
                      <a:r>
                        <a:rPr lang="en-US" altLang="en-US" sz="2400" dirty="0"/>
                        <a:t>HEENT</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Head, eyes, ears, nose, and throat</a:t>
                      </a:r>
                    </a:p>
                  </a:txBody>
                  <a:tcPr/>
                </a:tc>
                <a:extLst>
                  <a:ext uri="{0D108BD9-81ED-4DB2-BD59-A6C34878D82A}">
                    <a16:rowId xmlns:a16="http://schemas.microsoft.com/office/drawing/2014/main" val="10008"/>
                  </a:ext>
                </a:extLst>
              </a:tr>
              <a:tr h="37084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PE tube</a:t>
                      </a: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Pressure-equalizing tube</a:t>
                      </a:r>
                    </a:p>
                  </a:txBody>
                  <a:tcPr/>
                </a:tc>
                <a:extLst>
                  <a:ext uri="{0D108BD9-81ED-4DB2-BD59-A6C34878D82A}">
                    <a16:rowId xmlns:a16="http://schemas.microsoft.com/office/drawing/2014/main" val="10009"/>
                  </a:ext>
                </a:extLst>
              </a:tr>
              <a:tr h="370840">
                <a:tc>
                  <a:txBody>
                    <a:bodyPr/>
                    <a:lstStyle/>
                    <a:p>
                      <a:r>
                        <a:rPr lang="en-US" altLang="en-US" sz="2400" dirty="0"/>
                        <a:t>SOM</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Serous otitis media</a:t>
                      </a:r>
                    </a:p>
                  </a:txBody>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18870913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Review Sheet – Combining Forms</a:t>
            </a:r>
            <a:br>
              <a:rPr lang="en-US" sz="3600" dirty="0"/>
            </a:br>
            <a:r>
              <a:rPr lang="en-US" sz="3600" dirty="0"/>
              <a:t>(Slide 1 of 14)</a:t>
            </a:r>
          </a:p>
        </p:txBody>
      </p:sp>
      <p:graphicFrame>
        <p:nvGraphicFramePr>
          <p:cNvPr id="8" name="Content Placeholder 7" descr="Group 1 of 7 combining form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3828032613"/>
              </p:ext>
            </p:extLst>
          </p:nvPr>
        </p:nvGraphicFramePr>
        <p:xfrm>
          <a:off x="3429000" y="2133600"/>
          <a:ext cx="2286000" cy="3200400"/>
        </p:xfrm>
        <a:graphic>
          <a:graphicData uri="http://schemas.openxmlformats.org/drawingml/2006/table">
            <a:tbl>
              <a:tblPr firstRow="1" bandRow="1">
                <a:tableStyleId>{9DCAF9ED-07DC-4A11-8D7F-57B35C25682E}</a:tableStyleId>
              </a:tblPr>
              <a:tblGrid>
                <a:gridCol w="2286000">
                  <a:extLst>
                    <a:ext uri="{9D8B030D-6E8A-4147-A177-3AD203B41FA5}">
                      <a16:colId xmlns:a16="http://schemas.microsoft.com/office/drawing/2014/main" val="20000"/>
                    </a:ext>
                  </a:extLst>
                </a:gridCol>
              </a:tblGrid>
              <a:tr h="370840">
                <a:tc>
                  <a:txBody>
                    <a:bodyPr/>
                    <a:lstStyle/>
                    <a:p>
                      <a:r>
                        <a:rPr lang="en-US" sz="2400" dirty="0"/>
                        <a:t>Combining Form</a:t>
                      </a:r>
                    </a:p>
                  </a:txBody>
                  <a:tcPr/>
                </a:tc>
                <a:extLst>
                  <a:ext uri="{0D108BD9-81ED-4DB2-BD59-A6C34878D82A}">
                    <a16:rowId xmlns:a16="http://schemas.microsoft.com/office/drawing/2014/main" val="10000"/>
                  </a:ext>
                </a:extLst>
              </a:tr>
              <a:tr h="370840">
                <a:tc>
                  <a:txBody>
                    <a:bodyPr/>
                    <a:lstStyle/>
                    <a:p>
                      <a:r>
                        <a:rPr lang="en-US" altLang="en-US" sz="2400" b="1" dirty="0" err="1"/>
                        <a:t>acous</a:t>
                      </a:r>
                      <a:r>
                        <a:rPr lang="en-US" altLang="en-US" sz="2400" b="1" dirty="0"/>
                        <a:t>/o</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ambly</a:t>
                      </a:r>
                      <a:r>
                        <a:rPr lang="en-US" altLang="en-US" sz="2400" b="1" dirty="0"/>
                        <a:t>/o</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aque</a:t>
                      </a:r>
                      <a:r>
                        <a:rPr lang="en-US" altLang="en-US" sz="2400" b="1" dirty="0"/>
                        <a:t>/o</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audi</a:t>
                      </a:r>
                      <a:r>
                        <a:rPr lang="en-US" altLang="en-US" sz="2400" b="1" dirty="0"/>
                        <a:t>/o</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audit/o</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aur</a:t>
                      </a:r>
                      <a:r>
                        <a:rPr lang="en-US" altLang="en-US" sz="2400" b="1" dirty="0"/>
                        <a:t>/o</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124995836"/>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Review Sheet – Combining Forms</a:t>
            </a:r>
            <a:br>
              <a:rPr lang="en-US" sz="3600" dirty="0"/>
            </a:br>
            <a:r>
              <a:rPr lang="en-US" sz="3600" dirty="0"/>
              <a:t>(Slide 2 of 14)</a:t>
            </a:r>
          </a:p>
        </p:txBody>
      </p:sp>
      <p:graphicFrame>
        <p:nvGraphicFramePr>
          <p:cNvPr id="8" name="Content Placeholder 7" descr="Group 1 of 7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1316414413"/>
              </p:ext>
            </p:extLst>
          </p:nvPr>
        </p:nvGraphicFramePr>
        <p:xfrm>
          <a:off x="457200" y="1371600"/>
          <a:ext cx="8229600" cy="3200400"/>
        </p:xfrm>
        <a:graphic>
          <a:graphicData uri="http://schemas.openxmlformats.org/drawingml/2006/table">
            <a:tbl>
              <a:tblPr firstRow="1" bandRow="1">
                <a:tableStyleId>{9DCAF9ED-07DC-4A11-8D7F-57B35C25682E}</a:tableStyleId>
              </a:tblPr>
              <a:tblGrid>
                <a:gridCol w="22860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acous</a:t>
                      </a:r>
                      <a:r>
                        <a:rPr lang="en-US" altLang="en-US" sz="2400" b="1" dirty="0"/>
                        <a:t>/o</a:t>
                      </a:r>
                      <a:endParaRPr lang="en-US" sz="2400" dirty="0"/>
                    </a:p>
                  </a:txBody>
                  <a:tcPr/>
                </a:tc>
                <a:tc>
                  <a:txBody>
                    <a:bodyPr/>
                    <a:lstStyle/>
                    <a:p>
                      <a:r>
                        <a:rPr lang="en-US" altLang="en-US" sz="2400" dirty="0"/>
                        <a:t>hearing</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ambly</a:t>
                      </a:r>
                      <a:r>
                        <a:rPr lang="en-US" altLang="en-US" sz="2400" b="1" dirty="0"/>
                        <a:t>/o</a:t>
                      </a:r>
                      <a:endParaRPr lang="en-US" sz="2400" dirty="0"/>
                    </a:p>
                  </a:txBody>
                  <a:tcPr/>
                </a:tc>
                <a:tc>
                  <a:txBody>
                    <a:bodyPr/>
                    <a:lstStyle/>
                    <a:p>
                      <a:r>
                        <a:rPr lang="en-US" altLang="en-US" sz="2400" dirty="0"/>
                        <a:t>dull, dim</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aque</a:t>
                      </a:r>
                      <a:r>
                        <a:rPr lang="en-US" altLang="en-US" sz="2400" b="1" dirty="0"/>
                        <a:t>/o</a:t>
                      </a:r>
                      <a:endParaRPr lang="en-US" sz="2400" dirty="0"/>
                    </a:p>
                  </a:txBody>
                  <a:tcPr/>
                </a:tc>
                <a:tc>
                  <a:txBody>
                    <a:bodyPr/>
                    <a:lstStyle/>
                    <a:p>
                      <a:r>
                        <a:rPr lang="en-US" altLang="en-US" sz="2400" dirty="0"/>
                        <a:t>water</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audi</a:t>
                      </a:r>
                      <a:r>
                        <a:rPr lang="en-US" altLang="en-US" sz="2400" b="1" dirty="0"/>
                        <a:t>/o</a:t>
                      </a:r>
                      <a:endParaRPr lang="en-US" sz="2400" dirty="0"/>
                    </a:p>
                  </a:txBody>
                  <a:tcPr/>
                </a:tc>
                <a:tc>
                  <a:txBody>
                    <a:bodyPr/>
                    <a:lstStyle/>
                    <a:p>
                      <a:r>
                        <a:rPr lang="en-US" altLang="en-US" sz="2400" dirty="0"/>
                        <a:t>hearing</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audit/o</a:t>
                      </a:r>
                      <a:endParaRPr lang="en-US" sz="2400" dirty="0"/>
                    </a:p>
                  </a:txBody>
                  <a:tcPr/>
                </a:tc>
                <a:tc>
                  <a:txBody>
                    <a:bodyPr/>
                    <a:lstStyle/>
                    <a:p>
                      <a:r>
                        <a:rPr lang="en-US" altLang="en-US" sz="2400" dirty="0"/>
                        <a:t>hearing</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aur</a:t>
                      </a:r>
                      <a:r>
                        <a:rPr lang="en-US" altLang="en-US" sz="2400" b="1" dirty="0"/>
                        <a:t>/o</a:t>
                      </a:r>
                      <a:endParaRPr lang="en-US" sz="2400" dirty="0"/>
                    </a:p>
                  </a:txBody>
                  <a:tcPr/>
                </a:tc>
                <a:tc>
                  <a:txBody>
                    <a:bodyPr/>
                    <a:lstStyle/>
                    <a:p>
                      <a:r>
                        <a:rPr lang="en-US" altLang="en-US" sz="2400" dirty="0"/>
                        <a:t>ear</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72804721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Review Sheet – Combining Forms</a:t>
            </a:r>
            <a:br>
              <a:rPr lang="en-US" sz="3600" dirty="0"/>
            </a:br>
            <a:r>
              <a:rPr lang="en-US" sz="3600" dirty="0"/>
              <a:t>(Slide 3 of 14)</a:t>
            </a:r>
          </a:p>
        </p:txBody>
      </p:sp>
      <p:graphicFrame>
        <p:nvGraphicFramePr>
          <p:cNvPr id="8" name="Content Placeholder 7" descr="Group 2 of 7 combining form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2614720509"/>
              </p:ext>
            </p:extLst>
          </p:nvPr>
        </p:nvGraphicFramePr>
        <p:xfrm>
          <a:off x="3429000" y="2209800"/>
          <a:ext cx="2286000" cy="3200400"/>
        </p:xfrm>
        <a:graphic>
          <a:graphicData uri="http://schemas.openxmlformats.org/drawingml/2006/table">
            <a:tbl>
              <a:tblPr firstRow="1" bandRow="1">
                <a:tableStyleId>{9DCAF9ED-07DC-4A11-8D7F-57B35C25682E}</a:tableStyleId>
              </a:tblPr>
              <a:tblGrid>
                <a:gridCol w="2286000">
                  <a:extLst>
                    <a:ext uri="{9D8B030D-6E8A-4147-A177-3AD203B41FA5}">
                      <a16:colId xmlns:a16="http://schemas.microsoft.com/office/drawing/2014/main" val="20000"/>
                    </a:ext>
                  </a:extLst>
                </a:gridCol>
              </a:tblGrid>
              <a:tr h="370840">
                <a:tc>
                  <a:txBody>
                    <a:bodyPr/>
                    <a:lstStyle/>
                    <a:p>
                      <a:r>
                        <a:rPr lang="en-US" sz="2400" dirty="0"/>
                        <a:t>Combining Form</a:t>
                      </a:r>
                    </a:p>
                  </a:txBody>
                  <a:tcPr/>
                </a:tc>
                <a:extLst>
                  <a:ext uri="{0D108BD9-81ED-4DB2-BD59-A6C34878D82A}">
                    <a16:rowId xmlns:a16="http://schemas.microsoft.com/office/drawing/2014/main" val="10000"/>
                  </a:ext>
                </a:extLst>
              </a:tr>
              <a:tr h="370840">
                <a:tc>
                  <a:txBody>
                    <a:bodyPr/>
                    <a:lstStyle/>
                    <a:p>
                      <a:r>
                        <a:rPr lang="en-US" altLang="en-US" sz="2400" b="1" dirty="0" err="1"/>
                        <a:t>auricul</a:t>
                      </a:r>
                      <a:r>
                        <a:rPr lang="en-US" altLang="en-US" sz="2400" b="1" dirty="0"/>
                        <a:t>/o</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blephar</a:t>
                      </a:r>
                      <a:r>
                        <a:rPr lang="en-US" altLang="en-US" sz="2400" b="1" dirty="0"/>
                        <a:t>/o</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conjunctiv</a:t>
                      </a:r>
                      <a:r>
                        <a:rPr lang="en-US" altLang="en-US" sz="2400" b="1" dirty="0"/>
                        <a:t>/o</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cor</a:t>
                      </a:r>
                      <a:r>
                        <a:rPr lang="en-US" altLang="en-US" sz="2400" b="1" dirty="0"/>
                        <a:t>/o</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corne</a:t>
                      </a:r>
                      <a:r>
                        <a:rPr lang="en-US" altLang="en-US" sz="2400" b="1" dirty="0"/>
                        <a:t>/o</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cycl</a:t>
                      </a:r>
                      <a:r>
                        <a:rPr lang="en-US" altLang="en-US" sz="2400" b="1" dirty="0"/>
                        <a:t>/o</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6600060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Review Sheet – Combining Forms</a:t>
            </a:r>
            <a:br>
              <a:rPr lang="en-US" sz="3600" dirty="0"/>
            </a:br>
            <a:r>
              <a:rPr lang="en-US" sz="3600" dirty="0"/>
              <a:t>(Slide 4 of 14)</a:t>
            </a:r>
          </a:p>
        </p:txBody>
      </p:sp>
      <p:graphicFrame>
        <p:nvGraphicFramePr>
          <p:cNvPr id="8" name="Content Placeholder 7" descr="Group 2 of 7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1517375487"/>
              </p:ext>
            </p:extLst>
          </p:nvPr>
        </p:nvGraphicFramePr>
        <p:xfrm>
          <a:off x="457200" y="1371600"/>
          <a:ext cx="8229600" cy="3200400"/>
        </p:xfrm>
        <a:graphic>
          <a:graphicData uri="http://schemas.openxmlformats.org/drawingml/2006/table">
            <a:tbl>
              <a:tblPr firstRow="1" bandRow="1">
                <a:tableStyleId>{9DCAF9ED-07DC-4A11-8D7F-57B35C25682E}</a:tableStyleId>
              </a:tblPr>
              <a:tblGrid>
                <a:gridCol w="22860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auricul</a:t>
                      </a:r>
                      <a:r>
                        <a:rPr lang="en-US" altLang="en-US" sz="2400" b="1" dirty="0"/>
                        <a:t>/o</a:t>
                      </a:r>
                      <a:endParaRPr lang="en-US" sz="2400" dirty="0"/>
                    </a:p>
                  </a:txBody>
                  <a:tcPr/>
                </a:tc>
                <a:tc>
                  <a:txBody>
                    <a:bodyPr/>
                    <a:lstStyle/>
                    <a:p>
                      <a:r>
                        <a:rPr lang="en-US" altLang="en-US" sz="2400" dirty="0"/>
                        <a:t>ear</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blephar</a:t>
                      </a:r>
                      <a:r>
                        <a:rPr lang="en-US" altLang="en-US" sz="2400" b="1" dirty="0"/>
                        <a:t>/o</a:t>
                      </a:r>
                      <a:endParaRPr lang="en-US" sz="2400" dirty="0"/>
                    </a:p>
                  </a:txBody>
                  <a:tcPr/>
                </a:tc>
                <a:tc>
                  <a:txBody>
                    <a:bodyPr/>
                    <a:lstStyle/>
                    <a:p>
                      <a:r>
                        <a:rPr lang="en-US" altLang="en-US" sz="2400" dirty="0"/>
                        <a:t>eyelid</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conjunctiv</a:t>
                      </a:r>
                      <a:r>
                        <a:rPr lang="en-US" altLang="en-US" sz="2400" b="1" dirty="0"/>
                        <a:t>/o</a:t>
                      </a:r>
                      <a:endParaRPr lang="en-US" sz="2400" dirty="0"/>
                    </a:p>
                  </a:txBody>
                  <a:tcPr/>
                </a:tc>
                <a:tc>
                  <a:txBody>
                    <a:bodyPr/>
                    <a:lstStyle/>
                    <a:p>
                      <a:r>
                        <a:rPr lang="en-US" altLang="en-US" sz="2400" dirty="0"/>
                        <a:t>conjunctiva</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cor</a:t>
                      </a:r>
                      <a:r>
                        <a:rPr lang="en-US" altLang="en-US" sz="2400" b="1" dirty="0"/>
                        <a:t>/o</a:t>
                      </a:r>
                      <a:endParaRPr lang="en-US" sz="2400" dirty="0"/>
                    </a:p>
                  </a:txBody>
                  <a:tcPr/>
                </a:tc>
                <a:tc>
                  <a:txBody>
                    <a:bodyPr/>
                    <a:lstStyle/>
                    <a:p>
                      <a:r>
                        <a:rPr lang="en-US" altLang="en-US" sz="2400" dirty="0"/>
                        <a:t>pupil</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corne</a:t>
                      </a:r>
                      <a:r>
                        <a:rPr lang="en-US" altLang="en-US" sz="2400" b="1" dirty="0"/>
                        <a:t>/o</a:t>
                      </a:r>
                      <a:endParaRPr lang="en-US" sz="2400" dirty="0"/>
                    </a:p>
                  </a:txBody>
                  <a:tcPr/>
                </a:tc>
                <a:tc>
                  <a:txBody>
                    <a:bodyPr/>
                    <a:lstStyle/>
                    <a:p>
                      <a:r>
                        <a:rPr lang="en-US" altLang="en-US" sz="2400" dirty="0"/>
                        <a:t>cornea</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cycl</a:t>
                      </a:r>
                      <a:r>
                        <a:rPr lang="en-US" altLang="en-US" sz="2400" b="1" dirty="0"/>
                        <a:t>/o</a:t>
                      </a:r>
                      <a:endParaRPr lang="en-US" sz="2400" dirty="0"/>
                    </a:p>
                  </a:txBody>
                  <a:tcPr/>
                </a:tc>
                <a:tc>
                  <a:txBody>
                    <a:bodyPr/>
                    <a:lstStyle/>
                    <a:p>
                      <a:r>
                        <a:rPr lang="en-US" altLang="en-US" sz="2400" dirty="0" err="1"/>
                        <a:t>ciliary</a:t>
                      </a:r>
                      <a:r>
                        <a:rPr lang="en-US" altLang="en-US" sz="2400" dirty="0"/>
                        <a:t> body</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92577103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Review Sheet – Combining Forms</a:t>
            </a:r>
            <a:br>
              <a:rPr lang="en-US" sz="3600" dirty="0"/>
            </a:br>
            <a:r>
              <a:rPr lang="en-US" sz="3600" dirty="0"/>
              <a:t>(Slide 5 of 14)</a:t>
            </a:r>
          </a:p>
        </p:txBody>
      </p:sp>
      <p:graphicFrame>
        <p:nvGraphicFramePr>
          <p:cNvPr id="8" name="Content Placeholder 7" descr="Group 3 of 7 combining form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2320858772"/>
              </p:ext>
            </p:extLst>
          </p:nvPr>
        </p:nvGraphicFramePr>
        <p:xfrm>
          <a:off x="3429000" y="1981200"/>
          <a:ext cx="2286000" cy="3657600"/>
        </p:xfrm>
        <a:graphic>
          <a:graphicData uri="http://schemas.openxmlformats.org/drawingml/2006/table">
            <a:tbl>
              <a:tblPr firstRow="1" bandRow="1">
                <a:tableStyleId>{9DCAF9ED-07DC-4A11-8D7F-57B35C25682E}</a:tableStyleId>
              </a:tblPr>
              <a:tblGrid>
                <a:gridCol w="2286000">
                  <a:extLst>
                    <a:ext uri="{9D8B030D-6E8A-4147-A177-3AD203B41FA5}">
                      <a16:colId xmlns:a16="http://schemas.microsoft.com/office/drawing/2014/main" val="20000"/>
                    </a:ext>
                  </a:extLst>
                </a:gridCol>
              </a:tblGrid>
              <a:tr h="370840">
                <a:tc>
                  <a:txBody>
                    <a:bodyPr/>
                    <a:lstStyle/>
                    <a:p>
                      <a:r>
                        <a:rPr lang="en-US" sz="2400" dirty="0"/>
                        <a:t>Combining Form</a:t>
                      </a:r>
                    </a:p>
                  </a:txBody>
                  <a:tcPr/>
                </a:tc>
                <a:extLst>
                  <a:ext uri="{0D108BD9-81ED-4DB2-BD59-A6C34878D82A}">
                    <a16:rowId xmlns:a16="http://schemas.microsoft.com/office/drawing/2014/main" val="10000"/>
                  </a:ext>
                </a:extLst>
              </a:tr>
              <a:tr h="370840">
                <a:tc>
                  <a:txBody>
                    <a:bodyPr/>
                    <a:lstStyle/>
                    <a:p>
                      <a:r>
                        <a:rPr lang="en-US" altLang="en-US" sz="2400" b="1" dirty="0" err="1"/>
                        <a:t>dacry</a:t>
                      </a:r>
                      <a:r>
                        <a:rPr lang="en-US" altLang="en-US" sz="2400" b="1" dirty="0"/>
                        <a:t>/o</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dipl</a:t>
                      </a:r>
                      <a:r>
                        <a:rPr lang="en-US" altLang="en-US" sz="2400" b="1" dirty="0"/>
                        <a:t>/o</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glauc</a:t>
                      </a:r>
                      <a:r>
                        <a:rPr lang="en-US" altLang="en-US" sz="2400" b="1" dirty="0"/>
                        <a:t>/o</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ir</a:t>
                      </a:r>
                      <a:r>
                        <a:rPr lang="en-US" altLang="en-US" sz="2400" b="1" dirty="0"/>
                        <a:t>/o</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irid</a:t>
                      </a:r>
                      <a:r>
                        <a:rPr lang="en-US" altLang="en-US" sz="2400" b="1" dirty="0"/>
                        <a:t>/o</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kerat</a:t>
                      </a:r>
                      <a:r>
                        <a:rPr lang="en-US" altLang="en-US" sz="2400" b="1" dirty="0"/>
                        <a:t>/o</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b="1" dirty="0" err="1"/>
                        <a:t>lacrim</a:t>
                      </a:r>
                      <a:r>
                        <a:rPr lang="en-US" altLang="en-US" sz="2400" b="1" dirty="0"/>
                        <a:t>/o</a:t>
                      </a:r>
                      <a:endParaRPr lang="en-US" sz="2400"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49434485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Review Sheet – Combining Forms</a:t>
            </a:r>
            <a:br>
              <a:rPr lang="en-US" sz="3600" dirty="0"/>
            </a:br>
            <a:r>
              <a:rPr lang="en-US" sz="3600" dirty="0"/>
              <a:t>(Slide 6 of 14)</a:t>
            </a:r>
          </a:p>
        </p:txBody>
      </p:sp>
      <p:graphicFrame>
        <p:nvGraphicFramePr>
          <p:cNvPr id="8" name="Content Placeholder 7" descr="Group 3 of 7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3485654944"/>
              </p:ext>
            </p:extLst>
          </p:nvPr>
        </p:nvGraphicFramePr>
        <p:xfrm>
          <a:off x="457200" y="1371600"/>
          <a:ext cx="8229600" cy="3657600"/>
        </p:xfrm>
        <a:graphic>
          <a:graphicData uri="http://schemas.openxmlformats.org/drawingml/2006/table">
            <a:tbl>
              <a:tblPr firstRow="1" bandRow="1">
                <a:tableStyleId>{9DCAF9ED-07DC-4A11-8D7F-57B35C25682E}</a:tableStyleId>
              </a:tblPr>
              <a:tblGrid>
                <a:gridCol w="22860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dacry</a:t>
                      </a:r>
                      <a:r>
                        <a:rPr lang="en-US" altLang="en-US" sz="2400" b="1" dirty="0"/>
                        <a:t>/o</a:t>
                      </a:r>
                      <a:endParaRPr lang="en-US" sz="2400" dirty="0"/>
                    </a:p>
                  </a:txBody>
                  <a:tcPr/>
                </a:tc>
                <a:tc>
                  <a:txBody>
                    <a:bodyPr/>
                    <a:lstStyle/>
                    <a:p>
                      <a:r>
                        <a:rPr lang="en-US" altLang="en-US" sz="2400" dirty="0"/>
                        <a:t>tears</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dipl</a:t>
                      </a:r>
                      <a:r>
                        <a:rPr lang="en-US" altLang="en-US" sz="2400" b="1" dirty="0"/>
                        <a:t>/o</a:t>
                      </a:r>
                      <a:endParaRPr lang="en-US" sz="2400" dirty="0"/>
                    </a:p>
                  </a:txBody>
                  <a:tcPr/>
                </a:tc>
                <a:tc>
                  <a:txBody>
                    <a:bodyPr/>
                    <a:lstStyle/>
                    <a:p>
                      <a:r>
                        <a:rPr lang="en-US" altLang="en-US" sz="2400" dirty="0"/>
                        <a:t>double</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glauc</a:t>
                      </a:r>
                      <a:r>
                        <a:rPr lang="en-US" altLang="en-US" sz="2400" b="1" dirty="0"/>
                        <a:t>/o</a:t>
                      </a:r>
                      <a:endParaRPr lang="en-US" sz="2400" dirty="0"/>
                    </a:p>
                  </a:txBody>
                  <a:tcPr/>
                </a:tc>
                <a:tc>
                  <a:txBody>
                    <a:bodyPr/>
                    <a:lstStyle/>
                    <a:p>
                      <a:r>
                        <a:rPr lang="en-US" altLang="en-US" sz="2400" dirty="0"/>
                        <a:t>gray</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ir</a:t>
                      </a:r>
                      <a:r>
                        <a:rPr lang="en-US" altLang="en-US" sz="2400" b="1" dirty="0"/>
                        <a:t>/o</a:t>
                      </a:r>
                      <a:endParaRPr lang="en-US" sz="2400" dirty="0"/>
                    </a:p>
                  </a:txBody>
                  <a:tcPr/>
                </a:tc>
                <a:tc>
                  <a:txBody>
                    <a:bodyPr/>
                    <a:lstStyle/>
                    <a:p>
                      <a:r>
                        <a:rPr lang="en-US" altLang="en-US" sz="2400" dirty="0"/>
                        <a:t>iris</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irid</a:t>
                      </a:r>
                      <a:r>
                        <a:rPr lang="en-US" altLang="en-US" sz="2400" b="1" dirty="0"/>
                        <a:t>/o</a:t>
                      </a:r>
                      <a:endParaRPr lang="en-US" sz="2400" dirty="0"/>
                    </a:p>
                  </a:txBody>
                  <a:tcPr/>
                </a:tc>
                <a:tc>
                  <a:txBody>
                    <a:bodyPr/>
                    <a:lstStyle/>
                    <a:p>
                      <a:r>
                        <a:rPr lang="en-US" altLang="en-US" sz="2400" dirty="0"/>
                        <a:t>iris</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kerat</a:t>
                      </a:r>
                      <a:r>
                        <a:rPr lang="en-US" altLang="en-US" sz="2400" b="1" dirty="0"/>
                        <a:t>/o</a:t>
                      </a:r>
                      <a:endParaRPr lang="en-US" sz="2400" dirty="0"/>
                    </a:p>
                  </a:txBody>
                  <a:tcPr/>
                </a:tc>
                <a:tc>
                  <a:txBody>
                    <a:bodyPr/>
                    <a:lstStyle/>
                    <a:p>
                      <a:r>
                        <a:rPr lang="en-US" altLang="en-US" sz="2400" dirty="0"/>
                        <a:t>cornea</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b="1" dirty="0" err="1"/>
                        <a:t>lacrim</a:t>
                      </a:r>
                      <a:r>
                        <a:rPr lang="en-US" altLang="en-US" sz="2400" b="1" dirty="0"/>
                        <a:t>/o</a:t>
                      </a:r>
                      <a:endParaRPr lang="en-US" sz="2400" dirty="0"/>
                    </a:p>
                  </a:txBody>
                  <a:tcPr/>
                </a:tc>
                <a:tc>
                  <a:txBody>
                    <a:bodyPr/>
                    <a:lstStyle/>
                    <a:p>
                      <a:r>
                        <a:rPr lang="en-US" altLang="en-US" sz="2400" dirty="0"/>
                        <a:t>tears</a:t>
                      </a:r>
                      <a:endParaRPr lang="en-US" sz="2400"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866934343"/>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Review Sheet – Combining Forms</a:t>
            </a:r>
            <a:br>
              <a:rPr lang="en-US" sz="3600" dirty="0"/>
            </a:br>
            <a:r>
              <a:rPr lang="en-US" sz="3600" dirty="0"/>
              <a:t>(Slide 7 of 14)</a:t>
            </a:r>
          </a:p>
        </p:txBody>
      </p:sp>
      <p:graphicFrame>
        <p:nvGraphicFramePr>
          <p:cNvPr id="8" name="Content Placeholder 7" descr="Group 4 of 7 combining form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1695267784"/>
              </p:ext>
            </p:extLst>
          </p:nvPr>
        </p:nvGraphicFramePr>
        <p:xfrm>
          <a:off x="3429000" y="2057400"/>
          <a:ext cx="2286000" cy="3200400"/>
        </p:xfrm>
        <a:graphic>
          <a:graphicData uri="http://schemas.openxmlformats.org/drawingml/2006/table">
            <a:tbl>
              <a:tblPr firstRow="1" bandRow="1">
                <a:tableStyleId>{9DCAF9ED-07DC-4A11-8D7F-57B35C25682E}</a:tableStyleId>
              </a:tblPr>
              <a:tblGrid>
                <a:gridCol w="2286000">
                  <a:extLst>
                    <a:ext uri="{9D8B030D-6E8A-4147-A177-3AD203B41FA5}">
                      <a16:colId xmlns:a16="http://schemas.microsoft.com/office/drawing/2014/main" val="20000"/>
                    </a:ext>
                  </a:extLst>
                </a:gridCol>
              </a:tblGrid>
              <a:tr h="370840">
                <a:tc>
                  <a:txBody>
                    <a:bodyPr/>
                    <a:lstStyle/>
                    <a:p>
                      <a:r>
                        <a:rPr lang="en-US" sz="2400" dirty="0"/>
                        <a:t>Combining Form</a:t>
                      </a:r>
                    </a:p>
                  </a:txBody>
                  <a:tcPr/>
                </a:tc>
                <a:extLst>
                  <a:ext uri="{0D108BD9-81ED-4DB2-BD59-A6C34878D82A}">
                    <a16:rowId xmlns:a16="http://schemas.microsoft.com/office/drawing/2014/main" val="10000"/>
                  </a:ext>
                </a:extLst>
              </a:tr>
              <a:tr h="370840">
                <a:tc>
                  <a:txBody>
                    <a:bodyPr/>
                    <a:lstStyle/>
                    <a:p>
                      <a:r>
                        <a:rPr lang="en-US" altLang="en-US" sz="2400" b="1" dirty="0"/>
                        <a:t>mastoid/o</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mi/o</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mydr</a:t>
                      </a:r>
                      <a:r>
                        <a:rPr lang="en-US" altLang="en-US" sz="2400" b="1" dirty="0"/>
                        <a:t>/o</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myring</a:t>
                      </a:r>
                      <a:r>
                        <a:rPr lang="en-US" altLang="en-US" sz="2400" b="1" dirty="0"/>
                        <a:t>/o</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nyct</a:t>
                      </a:r>
                      <a:r>
                        <a:rPr lang="en-US" altLang="en-US" sz="2400" b="1" dirty="0"/>
                        <a:t>/o</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ocul</a:t>
                      </a:r>
                      <a:r>
                        <a:rPr lang="en-US" altLang="en-US" sz="2400" b="1" dirty="0"/>
                        <a:t>/o</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04701583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Review Sheet – Combining Forms</a:t>
            </a:r>
            <a:br>
              <a:rPr lang="en-US" sz="3600" dirty="0"/>
            </a:br>
            <a:r>
              <a:rPr lang="en-US" sz="3600" dirty="0"/>
              <a:t>(Slide 8 of 14)</a:t>
            </a:r>
          </a:p>
        </p:txBody>
      </p:sp>
      <p:graphicFrame>
        <p:nvGraphicFramePr>
          <p:cNvPr id="8" name="Content Placeholder 7" descr="Group 4 of 7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1772330271"/>
              </p:ext>
            </p:extLst>
          </p:nvPr>
        </p:nvGraphicFramePr>
        <p:xfrm>
          <a:off x="457200" y="1371600"/>
          <a:ext cx="8229600" cy="3200400"/>
        </p:xfrm>
        <a:graphic>
          <a:graphicData uri="http://schemas.openxmlformats.org/drawingml/2006/table">
            <a:tbl>
              <a:tblPr firstRow="1" bandRow="1">
                <a:tableStyleId>{9DCAF9ED-07DC-4A11-8D7F-57B35C25682E}</a:tableStyleId>
              </a:tblPr>
              <a:tblGrid>
                <a:gridCol w="22860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mastoid/o</a:t>
                      </a:r>
                      <a:endParaRPr lang="en-US" sz="2400" dirty="0"/>
                    </a:p>
                  </a:txBody>
                  <a:tcPr/>
                </a:tc>
                <a:tc>
                  <a:txBody>
                    <a:bodyPr/>
                    <a:lstStyle/>
                    <a:p>
                      <a:r>
                        <a:rPr lang="en-US" altLang="en-US" sz="2400" dirty="0"/>
                        <a:t>mastoid process</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mi/o</a:t>
                      </a:r>
                      <a:endParaRPr lang="en-US" sz="2400" dirty="0"/>
                    </a:p>
                  </a:txBody>
                  <a:tcPr/>
                </a:tc>
                <a:tc>
                  <a:txBody>
                    <a:bodyPr/>
                    <a:lstStyle/>
                    <a:p>
                      <a:r>
                        <a:rPr lang="en-US" altLang="en-US" sz="2400" dirty="0"/>
                        <a:t>smaller, less</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mydr</a:t>
                      </a:r>
                      <a:r>
                        <a:rPr lang="en-US" altLang="en-US" sz="2400" b="1" dirty="0"/>
                        <a:t>/o</a:t>
                      </a:r>
                      <a:endParaRPr lang="en-US" sz="2400" dirty="0"/>
                    </a:p>
                  </a:txBody>
                  <a:tcPr/>
                </a:tc>
                <a:tc>
                  <a:txBody>
                    <a:bodyPr/>
                    <a:lstStyle/>
                    <a:p>
                      <a:r>
                        <a:rPr lang="en-US" altLang="en-US" sz="2400" dirty="0"/>
                        <a:t>widen, enlarge</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myring</a:t>
                      </a:r>
                      <a:r>
                        <a:rPr lang="en-US" altLang="en-US" sz="2400" b="1" dirty="0"/>
                        <a:t>/o</a:t>
                      </a:r>
                      <a:endParaRPr lang="en-US" sz="2400" dirty="0"/>
                    </a:p>
                  </a:txBody>
                  <a:tcPr/>
                </a:tc>
                <a:tc>
                  <a:txBody>
                    <a:bodyPr/>
                    <a:lstStyle/>
                    <a:p>
                      <a:r>
                        <a:rPr lang="en-US" altLang="en-US" sz="2400" dirty="0"/>
                        <a:t>eardrum</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nyct</a:t>
                      </a:r>
                      <a:r>
                        <a:rPr lang="en-US" altLang="en-US" sz="2400" b="1" dirty="0"/>
                        <a:t>/o</a:t>
                      </a:r>
                      <a:endParaRPr lang="en-US" sz="2400" dirty="0"/>
                    </a:p>
                  </a:txBody>
                  <a:tcPr/>
                </a:tc>
                <a:tc>
                  <a:txBody>
                    <a:bodyPr/>
                    <a:lstStyle/>
                    <a:p>
                      <a:r>
                        <a:rPr lang="en-US" altLang="en-US" sz="2400" dirty="0"/>
                        <a:t>night</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ocul</a:t>
                      </a:r>
                      <a:r>
                        <a:rPr lang="en-US" altLang="en-US" sz="2400" b="1" dirty="0"/>
                        <a:t>/o</a:t>
                      </a:r>
                      <a:endParaRPr lang="en-US" sz="2400" dirty="0"/>
                    </a:p>
                  </a:txBody>
                  <a:tcPr/>
                </a:tc>
                <a:tc>
                  <a:txBody>
                    <a:bodyPr/>
                    <a:lstStyle/>
                    <a:p>
                      <a:r>
                        <a:rPr lang="en-US" altLang="en-US" sz="2400" dirty="0"/>
                        <a:t>eye</a:t>
                      </a:r>
                      <a:endParaRPr lang="en-US" sz="2400" dirty="0"/>
                    </a:p>
                  </a:txBody>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41325490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Review Sheet – Combining Forms</a:t>
            </a:r>
            <a:br>
              <a:rPr lang="en-US" sz="3600" dirty="0"/>
            </a:br>
            <a:r>
              <a:rPr lang="en-US" sz="3600" dirty="0"/>
              <a:t>(Slide 9 of 14)</a:t>
            </a:r>
          </a:p>
        </p:txBody>
      </p:sp>
      <p:graphicFrame>
        <p:nvGraphicFramePr>
          <p:cNvPr id="8" name="Content Placeholder 7" descr="Group 5 of 7 combining form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3799121167"/>
              </p:ext>
            </p:extLst>
          </p:nvPr>
        </p:nvGraphicFramePr>
        <p:xfrm>
          <a:off x="3429000" y="1981200"/>
          <a:ext cx="2286000" cy="3657600"/>
        </p:xfrm>
        <a:graphic>
          <a:graphicData uri="http://schemas.openxmlformats.org/drawingml/2006/table">
            <a:tbl>
              <a:tblPr firstRow="1" bandRow="1">
                <a:tableStyleId>{9DCAF9ED-07DC-4A11-8D7F-57B35C25682E}</a:tableStyleId>
              </a:tblPr>
              <a:tblGrid>
                <a:gridCol w="2286000">
                  <a:extLst>
                    <a:ext uri="{9D8B030D-6E8A-4147-A177-3AD203B41FA5}">
                      <a16:colId xmlns:a16="http://schemas.microsoft.com/office/drawing/2014/main" val="20000"/>
                    </a:ext>
                  </a:extLst>
                </a:gridCol>
              </a:tblGrid>
              <a:tr h="370840">
                <a:tc>
                  <a:txBody>
                    <a:bodyPr/>
                    <a:lstStyle/>
                    <a:p>
                      <a:r>
                        <a:rPr lang="en-US" sz="2400" dirty="0"/>
                        <a:t>Combining Form</a:t>
                      </a:r>
                    </a:p>
                  </a:txBody>
                  <a:tcPr/>
                </a:tc>
                <a:extLst>
                  <a:ext uri="{0D108BD9-81ED-4DB2-BD59-A6C34878D82A}">
                    <a16:rowId xmlns:a16="http://schemas.microsoft.com/office/drawing/2014/main" val="10000"/>
                  </a:ext>
                </a:extLst>
              </a:tr>
              <a:tr h="370840">
                <a:tc>
                  <a:txBody>
                    <a:bodyPr/>
                    <a:lstStyle/>
                    <a:p>
                      <a:r>
                        <a:rPr lang="en-US" altLang="en-US" sz="2400" b="1" dirty="0" err="1"/>
                        <a:t>ophthalm</a:t>
                      </a:r>
                      <a:r>
                        <a:rPr lang="en-US" altLang="en-US" sz="2400" b="1" dirty="0"/>
                        <a:t>/o</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opt/o</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optic/o</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ossicul</a:t>
                      </a:r>
                      <a:r>
                        <a:rPr lang="en-US" altLang="en-US" sz="2400" b="1" dirty="0"/>
                        <a:t>/o</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palpebr</a:t>
                      </a:r>
                      <a:r>
                        <a:rPr lang="en-US" altLang="en-US" sz="2400" b="1" dirty="0"/>
                        <a:t>/o</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papill</a:t>
                      </a:r>
                      <a:r>
                        <a:rPr lang="en-US" altLang="en-US" sz="2400" b="1" dirty="0"/>
                        <a:t>/o</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b="1" dirty="0" err="1"/>
                        <a:t>phac</a:t>
                      </a:r>
                      <a:r>
                        <a:rPr lang="en-US" altLang="en-US" sz="2400" b="1" dirty="0"/>
                        <a:t>/o</a:t>
                      </a:r>
                      <a:endParaRPr lang="en-US" sz="2400"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40416949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Review Sheet – Combining Forms</a:t>
            </a:r>
            <a:br>
              <a:rPr lang="en-US" sz="3600" dirty="0"/>
            </a:br>
            <a:r>
              <a:rPr lang="en-US" sz="3600" dirty="0"/>
              <a:t>(Slide 10 of 14)</a:t>
            </a:r>
          </a:p>
        </p:txBody>
      </p:sp>
      <p:graphicFrame>
        <p:nvGraphicFramePr>
          <p:cNvPr id="8" name="Content Placeholder 7" descr="Group 5 of 7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370564139"/>
              </p:ext>
            </p:extLst>
          </p:nvPr>
        </p:nvGraphicFramePr>
        <p:xfrm>
          <a:off x="457200" y="1371600"/>
          <a:ext cx="8229600" cy="3657600"/>
        </p:xfrm>
        <a:graphic>
          <a:graphicData uri="http://schemas.openxmlformats.org/drawingml/2006/table">
            <a:tbl>
              <a:tblPr firstRow="1" bandRow="1">
                <a:tableStyleId>{9DCAF9ED-07DC-4A11-8D7F-57B35C25682E}</a:tableStyleId>
              </a:tblPr>
              <a:tblGrid>
                <a:gridCol w="22860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ophthalm</a:t>
                      </a:r>
                      <a:r>
                        <a:rPr lang="en-US" altLang="en-US" sz="2400" b="1" dirty="0"/>
                        <a:t>/o</a:t>
                      </a:r>
                      <a:endParaRPr lang="en-US" sz="2400" dirty="0"/>
                    </a:p>
                  </a:txBody>
                  <a:tcPr/>
                </a:tc>
                <a:tc>
                  <a:txBody>
                    <a:bodyPr/>
                    <a:lstStyle/>
                    <a:p>
                      <a:r>
                        <a:rPr lang="en-US" altLang="en-US" sz="2400" dirty="0"/>
                        <a:t>eye</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opt/o</a:t>
                      </a:r>
                      <a:endParaRPr lang="en-US" sz="2400" dirty="0"/>
                    </a:p>
                  </a:txBody>
                  <a:tcPr/>
                </a:tc>
                <a:tc>
                  <a:txBody>
                    <a:bodyPr/>
                    <a:lstStyle/>
                    <a:p>
                      <a:r>
                        <a:rPr lang="en-US" altLang="en-US" sz="2400" dirty="0"/>
                        <a:t>eye</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optic/o</a:t>
                      </a:r>
                      <a:endParaRPr lang="en-US" sz="2400" dirty="0"/>
                    </a:p>
                  </a:txBody>
                  <a:tcPr/>
                </a:tc>
                <a:tc>
                  <a:txBody>
                    <a:bodyPr/>
                    <a:lstStyle/>
                    <a:p>
                      <a:r>
                        <a:rPr lang="en-US" altLang="en-US" sz="2400" dirty="0"/>
                        <a:t>eye</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ossicul</a:t>
                      </a:r>
                      <a:r>
                        <a:rPr lang="en-US" altLang="en-US" sz="2400" b="1" dirty="0"/>
                        <a:t>/o</a:t>
                      </a:r>
                      <a:endParaRPr lang="en-US" sz="2400" dirty="0"/>
                    </a:p>
                  </a:txBody>
                  <a:tcPr/>
                </a:tc>
                <a:tc>
                  <a:txBody>
                    <a:bodyPr/>
                    <a:lstStyle/>
                    <a:p>
                      <a:r>
                        <a:rPr lang="en-US" altLang="en-US" sz="2400" dirty="0" err="1"/>
                        <a:t>ossicle</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palpebr</a:t>
                      </a:r>
                      <a:r>
                        <a:rPr lang="en-US" altLang="en-US" sz="2400" b="1" dirty="0"/>
                        <a:t>/o</a:t>
                      </a:r>
                      <a:endParaRPr lang="en-US" sz="2400" dirty="0"/>
                    </a:p>
                  </a:txBody>
                  <a:tcPr/>
                </a:tc>
                <a:tc>
                  <a:txBody>
                    <a:bodyPr/>
                    <a:lstStyle/>
                    <a:p>
                      <a:r>
                        <a:rPr lang="en-US" altLang="en-US" sz="2400" dirty="0"/>
                        <a:t>eyelid</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papill</a:t>
                      </a:r>
                      <a:r>
                        <a:rPr lang="en-US" altLang="en-US" sz="2400" b="1" dirty="0"/>
                        <a:t>/o</a:t>
                      </a:r>
                      <a:endParaRPr lang="en-US" sz="2400" dirty="0"/>
                    </a:p>
                  </a:txBody>
                  <a:tcPr/>
                </a:tc>
                <a:tc>
                  <a:txBody>
                    <a:bodyPr/>
                    <a:lstStyle/>
                    <a:p>
                      <a:r>
                        <a:rPr lang="en-US" altLang="en-US" sz="2400" dirty="0"/>
                        <a:t>optic disc</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b="1" dirty="0" err="1"/>
                        <a:t>phac</a:t>
                      </a:r>
                      <a:r>
                        <a:rPr lang="en-US" altLang="en-US" sz="2400" b="1" dirty="0"/>
                        <a:t>/o</a:t>
                      </a:r>
                      <a:endParaRPr lang="en-US" sz="2400" dirty="0"/>
                    </a:p>
                  </a:txBody>
                  <a:tcPr/>
                </a:tc>
                <a:tc>
                  <a:txBody>
                    <a:bodyPr/>
                    <a:lstStyle/>
                    <a:p>
                      <a:r>
                        <a:rPr lang="en-US" altLang="en-US" sz="2400" dirty="0"/>
                        <a:t>lens of the eye</a:t>
                      </a:r>
                      <a:endParaRPr lang="en-US" sz="2400"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199014735"/>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Review Sheet – Combining Forms</a:t>
            </a:r>
            <a:br>
              <a:rPr lang="en-US" sz="3600" dirty="0"/>
            </a:br>
            <a:r>
              <a:rPr lang="en-US" sz="3600" dirty="0"/>
              <a:t>(Slide 11 of 14)</a:t>
            </a:r>
          </a:p>
        </p:txBody>
      </p:sp>
      <p:graphicFrame>
        <p:nvGraphicFramePr>
          <p:cNvPr id="8" name="Content Placeholder 7" descr="Group 6 of 7 combining form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53039856"/>
              </p:ext>
            </p:extLst>
          </p:nvPr>
        </p:nvGraphicFramePr>
        <p:xfrm>
          <a:off x="3429000" y="2133600"/>
          <a:ext cx="2286000" cy="3657600"/>
        </p:xfrm>
        <a:graphic>
          <a:graphicData uri="http://schemas.openxmlformats.org/drawingml/2006/table">
            <a:tbl>
              <a:tblPr firstRow="1" bandRow="1">
                <a:tableStyleId>{9DCAF9ED-07DC-4A11-8D7F-57B35C25682E}</a:tableStyleId>
              </a:tblPr>
              <a:tblGrid>
                <a:gridCol w="2286000">
                  <a:extLst>
                    <a:ext uri="{9D8B030D-6E8A-4147-A177-3AD203B41FA5}">
                      <a16:colId xmlns:a16="http://schemas.microsoft.com/office/drawing/2014/main" val="20000"/>
                    </a:ext>
                  </a:extLst>
                </a:gridCol>
              </a:tblGrid>
              <a:tr h="370840">
                <a:tc>
                  <a:txBody>
                    <a:bodyPr/>
                    <a:lstStyle/>
                    <a:p>
                      <a:r>
                        <a:rPr lang="en-US" sz="2400" dirty="0"/>
                        <a:t>Combining Form</a:t>
                      </a:r>
                    </a:p>
                  </a:txBody>
                  <a:tcPr/>
                </a:tc>
                <a:extLst>
                  <a:ext uri="{0D108BD9-81ED-4DB2-BD59-A6C34878D82A}">
                    <a16:rowId xmlns:a16="http://schemas.microsoft.com/office/drawing/2014/main" val="10000"/>
                  </a:ext>
                </a:extLst>
              </a:tr>
              <a:tr h="370840">
                <a:tc>
                  <a:txBody>
                    <a:bodyPr/>
                    <a:lstStyle/>
                    <a:p>
                      <a:r>
                        <a:rPr lang="en-US" altLang="en-US" sz="2400" b="1" dirty="0" err="1"/>
                        <a:t>phak</a:t>
                      </a:r>
                      <a:r>
                        <a:rPr lang="en-US" altLang="en-US" sz="2400" b="1" dirty="0"/>
                        <a:t>/o</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phot</a:t>
                      </a:r>
                      <a:r>
                        <a:rPr lang="en-US" altLang="en-US" sz="2400" b="1" dirty="0"/>
                        <a:t>/o</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presby</a:t>
                      </a:r>
                      <a:r>
                        <a:rPr lang="en-US" altLang="en-US" sz="2400" b="1" dirty="0"/>
                        <a:t>/o</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pupill</a:t>
                      </a:r>
                      <a:r>
                        <a:rPr lang="en-US" altLang="en-US" sz="2400" b="1" dirty="0"/>
                        <a:t>/o</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retin</a:t>
                      </a:r>
                      <a:r>
                        <a:rPr lang="en-US" altLang="en-US" sz="2400" b="1" dirty="0"/>
                        <a:t>/o</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salpin</a:t>
                      </a:r>
                      <a:r>
                        <a:rPr lang="en-US" altLang="en-US" sz="2400" b="1" dirty="0"/>
                        <a:t>/o</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b="1" dirty="0" err="1"/>
                        <a:t>scler</a:t>
                      </a:r>
                      <a:r>
                        <a:rPr lang="en-US" altLang="en-US" sz="2400" b="1" dirty="0"/>
                        <a:t>/o</a:t>
                      </a:r>
                      <a:endParaRPr lang="en-US" sz="2400"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81855475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Review Sheet – Combining Forms</a:t>
            </a:r>
            <a:br>
              <a:rPr lang="en-US" sz="3600" dirty="0"/>
            </a:br>
            <a:r>
              <a:rPr lang="en-US" sz="3600" dirty="0"/>
              <a:t>(Slide 12 of 14)</a:t>
            </a:r>
          </a:p>
        </p:txBody>
      </p:sp>
      <p:graphicFrame>
        <p:nvGraphicFramePr>
          <p:cNvPr id="8" name="Content Placeholder 7" descr="Group 6 of 7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30458135"/>
              </p:ext>
            </p:extLst>
          </p:nvPr>
        </p:nvGraphicFramePr>
        <p:xfrm>
          <a:off x="457200" y="1371600"/>
          <a:ext cx="8229600" cy="3657600"/>
        </p:xfrm>
        <a:graphic>
          <a:graphicData uri="http://schemas.openxmlformats.org/drawingml/2006/table">
            <a:tbl>
              <a:tblPr firstRow="1" bandRow="1">
                <a:tableStyleId>{9DCAF9ED-07DC-4A11-8D7F-57B35C25682E}</a:tableStyleId>
              </a:tblPr>
              <a:tblGrid>
                <a:gridCol w="22860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err="1"/>
                        <a:t>phak</a:t>
                      </a:r>
                      <a:r>
                        <a:rPr lang="en-US" altLang="en-US" sz="2400" b="1" dirty="0"/>
                        <a:t>/o</a:t>
                      </a:r>
                      <a:endParaRPr lang="en-US" sz="2400" dirty="0"/>
                    </a:p>
                  </a:txBody>
                  <a:tcPr/>
                </a:tc>
                <a:tc>
                  <a:txBody>
                    <a:bodyPr/>
                    <a:lstStyle/>
                    <a:p>
                      <a:r>
                        <a:rPr lang="en-US" altLang="en-US" sz="2400" dirty="0"/>
                        <a:t>lens of the eye</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phot</a:t>
                      </a:r>
                      <a:r>
                        <a:rPr lang="en-US" altLang="en-US" sz="2400" b="1" dirty="0"/>
                        <a:t>/o</a:t>
                      </a:r>
                      <a:endParaRPr lang="en-US" sz="2400" dirty="0"/>
                    </a:p>
                  </a:txBody>
                  <a:tcPr/>
                </a:tc>
                <a:tc>
                  <a:txBody>
                    <a:bodyPr/>
                    <a:lstStyle/>
                    <a:p>
                      <a:r>
                        <a:rPr lang="en-US" altLang="en-US" sz="2400" dirty="0"/>
                        <a:t>light</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presby</a:t>
                      </a:r>
                      <a:r>
                        <a:rPr lang="en-US" altLang="en-US" sz="2400" b="1" dirty="0"/>
                        <a:t>/o</a:t>
                      </a:r>
                      <a:endParaRPr lang="en-US" sz="2400" dirty="0"/>
                    </a:p>
                  </a:txBody>
                  <a:tcPr/>
                </a:tc>
                <a:tc>
                  <a:txBody>
                    <a:bodyPr/>
                    <a:lstStyle/>
                    <a:p>
                      <a:r>
                        <a:rPr lang="en-US" altLang="en-US" sz="2400" dirty="0"/>
                        <a:t>old age</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pupill</a:t>
                      </a:r>
                      <a:r>
                        <a:rPr lang="en-US" altLang="en-US" sz="2400" b="1" dirty="0"/>
                        <a:t>/o</a:t>
                      </a:r>
                      <a:endParaRPr lang="en-US" sz="2400" dirty="0"/>
                    </a:p>
                  </a:txBody>
                  <a:tcPr/>
                </a:tc>
                <a:tc>
                  <a:txBody>
                    <a:bodyPr/>
                    <a:lstStyle/>
                    <a:p>
                      <a:r>
                        <a:rPr lang="en-US" altLang="en-US" sz="2400" dirty="0"/>
                        <a:t>pupil</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retin</a:t>
                      </a:r>
                      <a:r>
                        <a:rPr lang="en-US" altLang="en-US" sz="2400" b="1" dirty="0"/>
                        <a:t>/o</a:t>
                      </a:r>
                      <a:endParaRPr lang="en-US" sz="2400" dirty="0"/>
                    </a:p>
                  </a:txBody>
                  <a:tcPr/>
                </a:tc>
                <a:tc>
                  <a:txBody>
                    <a:bodyPr/>
                    <a:lstStyle/>
                    <a:p>
                      <a:r>
                        <a:rPr lang="en-US" altLang="en-US" sz="2400" dirty="0"/>
                        <a:t>retina</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salpin</a:t>
                      </a:r>
                      <a:r>
                        <a:rPr lang="en-US" altLang="en-US" sz="2400" b="1" dirty="0"/>
                        <a:t>/o</a:t>
                      </a:r>
                      <a:endParaRPr lang="en-US" sz="2400" dirty="0"/>
                    </a:p>
                  </a:txBody>
                  <a:tcPr/>
                </a:tc>
                <a:tc>
                  <a:txBody>
                    <a:bodyPr/>
                    <a:lstStyle/>
                    <a:p>
                      <a:r>
                        <a:rPr lang="en-US" altLang="en-US" sz="2400" dirty="0"/>
                        <a:t>Eustachian tube</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b="1" dirty="0" err="1"/>
                        <a:t>scler</a:t>
                      </a:r>
                      <a:r>
                        <a:rPr lang="en-US" altLang="en-US" sz="2400" b="1" dirty="0"/>
                        <a:t>/o</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sclera (white of eye)</a:t>
                      </a:r>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29822171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Review Sheet – Combining Forms</a:t>
            </a:r>
            <a:br>
              <a:rPr lang="en-US" sz="3600" dirty="0"/>
            </a:br>
            <a:r>
              <a:rPr lang="en-US" sz="3600" dirty="0"/>
              <a:t>(Slide 13 of 14)</a:t>
            </a:r>
          </a:p>
        </p:txBody>
      </p:sp>
      <p:graphicFrame>
        <p:nvGraphicFramePr>
          <p:cNvPr id="8" name="Content Placeholder 7" descr="Group 7 of 7 combining form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332549653"/>
              </p:ext>
            </p:extLst>
          </p:nvPr>
        </p:nvGraphicFramePr>
        <p:xfrm>
          <a:off x="3429000" y="1981200"/>
          <a:ext cx="2286000" cy="3657600"/>
        </p:xfrm>
        <a:graphic>
          <a:graphicData uri="http://schemas.openxmlformats.org/drawingml/2006/table">
            <a:tbl>
              <a:tblPr firstRow="1" bandRow="1">
                <a:tableStyleId>{9DCAF9ED-07DC-4A11-8D7F-57B35C25682E}</a:tableStyleId>
              </a:tblPr>
              <a:tblGrid>
                <a:gridCol w="2286000">
                  <a:extLst>
                    <a:ext uri="{9D8B030D-6E8A-4147-A177-3AD203B41FA5}">
                      <a16:colId xmlns:a16="http://schemas.microsoft.com/office/drawing/2014/main" val="20000"/>
                    </a:ext>
                  </a:extLst>
                </a:gridCol>
              </a:tblGrid>
              <a:tr h="370840">
                <a:tc>
                  <a:txBody>
                    <a:bodyPr/>
                    <a:lstStyle/>
                    <a:p>
                      <a:r>
                        <a:rPr lang="en-US" sz="2400" dirty="0"/>
                        <a:t>Combining Form</a:t>
                      </a:r>
                    </a:p>
                  </a:txBody>
                  <a:tcPr/>
                </a:tc>
                <a:extLst>
                  <a:ext uri="{0D108BD9-81ED-4DB2-BD59-A6C34878D82A}">
                    <a16:rowId xmlns:a16="http://schemas.microsoft.com/office/drawing/2014/main" val="10000"/>
                  </a:ext>
                </a:extLst>
              </a:tr>
              <a:tr h="370840">
                <a:tc>
                  <a:txBody>
                    <a:bodyPr/>
                    <a:lstStyle/>
                    <a:p>
                      <a:r>
                        <a:rPr lang="en-US" altLang="en-US" sz="2400" b="1" dirty="0"/>
                        <a:t>scot/o</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staped</a:t>
                      </a:r>
                      <a:r>
                        <a:rPr lang="en-US" altLang="en-US" sz="2400" b="1" dirty="0"/>
                        <a:t>/o</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tympan</a:t>
                      </a:r>
                      <a:r>
                        <a:rPr lang="en-US" altLang="en-US" sz="2400" b="1" dirty="0"/>
                        <a:t>/o</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uve</a:t>
                      </a:r>
                      <a:r>
                        <a:rPr lang="en-US" altLang="en-US" sz="2400" b="1" dirty="0"/>
                        <a:t>/o</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vestibul</a:t>
                      </a:r>
                      <a:r>
                        <a:rPr lang="en-US" altLang="en-US" sz="2400" b="1" dirty="0"/>
                        <a:t>/o</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vitre</a:t>
                      </a:r>
                      <a:r>
                        <a:rPr lang="en-US" altLang="en-US" sz="2400" b="1" dirty="0"/>
                        <a:t>/o</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b="1" dirty="0" err="1"/>
                        <a:t>xer</a:t>
                      </a:r>
                      <a:r>
                        <a:rPr lang="en-US" altLang="en-US" sz="2400" b="1" dirty="0"/>
                        <a:t>/o</a:t>
                      </a:r>
                      <a:endParaRPr lang="en-US" sz="2400"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76773784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dirty="0"/>
              <a:t>Review Sheet – Combining Forms</a:t>
            </a:r>
            <a:br>
              <a:rPr lang="en-US" sz="3600" dirty="0"/>
            </a:br>
            <a:r>
              <a:rPr lang="en-US" sz="3600" dirty="0"/>
              <a:t>(Slide 14 of 14)</a:t>
            </a:r>
          </a:p>
        </p:txBody>
      </p:sp>
      <p:graphicFrame>
        <p:nvGraphicFramePr>
          <p:cNvPr id="8" name="Content Placeholder 7" descr="Group 7 of 7 Combining Forms from the Review Sheet of the text with their corresponding meanings."/>
          <p:cNvGraphicFramePr>
            <a:graphicFrameLocks noGrp="1"/>
          </p:cNvGraphicFramePr>
          <p:nvPr>
            <p:ph idx="1"/>
            <p:extLst>
              <p:ext uri="{D42A27DB-BD31-4B8C-83A1-F6EECF244321}">
                <p14:modId xmlns:p14="http://schemas.microsoft.com/office/powerpoint/2010/main" val="1732713804"/>
              </p:ext>
            </p:extLst>
          </p:nvPr>
        </p:nvGraphicFramePr>
        <p:xfrm>
          <a:off x="457200" y="1371600"/>
          <a:ext cx="8229600" cy="3657600"/>
        </p:xfrm>
        <a:graphic>
          <a:graphicData uri="http://schemas.openxmlformats.org/drawingml/2006/table">
            <a:tbl>
              <a:tblPr firstRow="1" bandRow="1">
                <a:tableStyleId>{9DCAF9ED-07DC-4A11-8D7F-57B35C25682E}</a:tableStyleId>
              </a:tblPr>
              <a:tblGrid>
                <a:gridCol w="22860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70840">
                <a:tc>
                  <a:txBody>
                    <a:bodyPr/>
                    <a:lstStyle/>
                    <a:p>
                      <a:r>
                        <a:rPr lang="en-US" sz="2400" dirty="0"/>
                        <a:t>Combining Form</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scot/o</a:t>
                      </a:r>
                      <a:endParaRPr lang="en-US" sz="2400" dirty="0"/>
                    </a:p>
                  </a:txBody>
                  <a:tcPr/>
                </a:tc>
                <a:tc>
                  <a:txBody>
                    <a:bodyPr/>
                    <a:lstStyle/>
                    <a:p>
                      <a:r>
                        <a:rPr lang="en-US" altLang="en-US" sz="2400" dirty="0"/>
                        <a:t>darkness</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err="1"/>
                        <a:t>staped</a:t>
                      </a:r>
                      <a:r>
                        <a:rPr lang="en-US" altLang="en-US" sz="2400" b="1" dirty="0"/>
                        <a:t>/o</a:t>
                      </a:r>
                      <a:endParaRPr lang="en-US" sz="2400" dirty="0"/>
                    </a:p>
                  </a:txBody>
                  <a:tcPr/>
                </a:tc>
                <a:tc>
                  <a:txBody>
                    <a:bodyPr/>
                    <a:lstStyle/>
                    <a:p>
                      <a:r>
                        <a:rPr lang="en-US" altLang="en-US" sz="2400" dirty="0"/>
                        <a:t>stapes</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err="1"/>
                        <a:t>tympan</a:t>
                      </a:r>
                      <a:r>
                        <a:rPr lang="en-US" altLang="en-US" sz="2400" b="1" dirty="0"/>
                        <a:t>/o</a:t>
                      </a:r>
                      <a:endParaRPr lang="en-US" sz="2400" dirty="0"/>
                    </a:p>
                  </a:txBody>
                  <a:tcPr/>
                </a:tc>
                <a:tc>
                  <a:txBody>
                    <a:bodyPr/>
                    <a:lstStyle/>
                    <a:p>
                      <a:r>
                        <a:rPr lang="en-US" altLang="en-US" sz="2400" dirty="0"/>
                        <a:t>eardrum</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err="1"/>
                        <a:t>uve</a:t>
                      </a:r>
                      <a:r>
                        <a:rPr lang="en-US" altLang="en-US" sz="2400" b="1" dirty="0"/>
                        <a:t>/o</a:t>
                      </a:r>
                      <a:endParaRPr lang="en-US" sz="2400" dirty="0"/>
                    </a:p>
                  </a:txBody>
                  <a:tcPr/>
                </a:tc>
                <a:tc>
                  <a:txBody>
                    <a:bodyPr/>
                    <a:lstStyle/>
                    <a:p>
                      <a:r>
                        <a:rPr lang="en-US" altLang="en-US" sz="2400" dirty="0"/>
                        <a:t>uvea</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err="1"/>
                        <a:t>vestibul</a:t>
                      </a:r>
                      <a:r>
                        <a:rPr lang="en-US" altLang="en-US" sz="2400" b="1" dirty="0"/>
                        <a:t>/o</a:t>
                      </a:r>
                      <a:endParaRPr lang="en-US" sz="2400" dirty="0"/>
                    </a:p>
                  </a:txBody>
                  <a:tcPr/>
                </a:tc>
                <a:tc>
                  <a:txBody>
                    <a:bodyPr/>
                    <a:lstStyle/>
                    <a:p>
                      <a:r>
                        <a:rPr lang="en-US" altLang="en-US" sz="2400" dirty="0"/>
                        <a:t>vestibule</a:t>
                      </a:r>
                      <a:endParaRPr lang="en-US" sz="2400" dirty="0"/>
                    </a:p>
                  </a:txBody>
                  <a:tcPr/>
                </a:tc>
                <a:extLst>
                  <a:ext uri="{0D108BD9-81ED-4DB2-BD59-A6C34878D82A}">
                    <a16:rowId xmlns:a16="http://schemas.microsoft.com/office/drawing/2014/main" val="10005"/>
                  </a:ext>
                </a:extLst>
              </a:tr>
              <a:tr h="370840">
                <a:tc>
                  <a:txBody>
                    <a:bodyPr/>
                    <a:lstStyle/>
                    <a:p>
                      <a:r>
                        <a:rPr lang="en-US" altLang="en-US" sz="2400" b="1" dirty="0" err="1"/>
                        <a:t>vitre</a:t>
                      </a:r>
                      <a:r>
                        <a:rPr lang="en-US" altLang="en-US" sz="2400" b="1" dirty="0"/>
                        <a:t>/o</a:t>
                      </a:r>
                      <a:endParaRPr lang="en-US" sz="2400" dirty="0"/>
                    </a:p>
                  </a:txBody>
                  <a:tcPr/>
                </a:tc>
                <a:tc>
                  <a:txBody>
                    <a:bodyPr/>
                    <a:lstStyle/>
                    <a:p>
                      <a:r>
                        <a:rPr lang="en-US" altLang="en-US" sz="2400" dirty="0"/>
                        <a:t>glassy</a:t>
                      </a:r>
                      <a:endParaRPr lang="en-US" sz="2400" dirty="0"/>
                    </a:p>
                  </a:txBody>
                  <a:tcPr/>
                </a:tc>
                <a:extLst>
                  <a:ext uri="{0D108BD9-81ED-4DB2-BD59-A6C34878D82A}">
                    <a16:rowId xmlns:a16="http://schemas.microsoft.com/office/drawing/2014/main" val="10006"/>
                  </a:ext>
                </a:extLst>
              </a:tr>
              <a:tr h="370840">
                <a:tc>
                  <a:txBody>
                    <a:bodyPr/>
                    <a:lstStyle/>
                    <a:p>
                      <a:r>
                        <a:rPr lang="en-US" altLang="en-US" sz="2400" b="1" dirty="0" err="1"/>
                        <a:t>xer</a:t>
                      </a:r>
                      <a:r>
                        <a:rPr lang="en-US" altLang="en-US" sz="2400" b="1" dirty="0"/>
                        <a:t>/o</a:t>
                      </a:r>
                      <a:endParaRPr lang="en-US" sz="2400" dirty="0"/>
                    </a:p>
                  </a:txBody>
                  <a:tcPr/>
                </a:tc>
                <a:tc>
                  <a:txBody>
                    <a:bodyPr/>
                    <a:lstStyle/>
                    <a:p>
                      <a:r>
                        <a:rPr lang="en-US" altLang="en-US" sz="2400" dirty="0"/>
                        <a:t>dry</a:t>
                      </a:r>
                      <a:endParaRPr lang="en-US" sz="2400" dirty="0"/>
                    </a:p>
                  </a:txBody>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683064061"/>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Review Sheet – Suffixes (Slide 1 of 4)</a:t>
            </a:r>
          </a:p>
        </p:txBody>
      </p:sp>
      <p:graphicFrame>
        <p:nvGraphicFramePr>
          <p:cNvPr id="8" name="Content Placeholder 7" descr="Group 1 of 2 Suffixe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2650640359"/>
              </p:ext>
            </p:extLst>
          </p:nvPr>
        </p:nvGraphicFramePr>
        <p:xfrm>
          <a:off x="3429000" y="2133600"/>
          <a:ext cx="2286000" cy="2743200"/>
        </p:xfrm>
        <a:graphic>
          <a:graphicData uri="http://schemas.openxmlformats.org/drawingml/2006/table">
            <a:tbl>
              <a:tblPr firstRow="1" bandRow="1">
                <a:tableStyleId>{9DCAF9ED-07DC-4A11-8D7F-57B35C25682E}</a:tableStyleId>
              </a:tblPr>
              <a:tblGrid>
                <a:gridCol w="2286000">
                  <a:extLst>
                    <a:ext uri="{9D8B030D-6E8A-4147-A177-3AD203B41FA5}">
                      <a16:colId xmlns:a16="http://schemas.microsoft.com/office/drawing/2014/main" val="20000"/>
                    </a:ext>
                  </a:extLst>
                </a:gridCol>
              </a:tblGrid>
              <a:tr h="370840">
                <a:tc>
                  <a:txBody>
                    <a:bodyPr/>
                    <a:lstStyle/>
                    <a:p>
                      <a:r>
                        <a:rPr lang="en-US" sz="2400" dirty="0"/>
                        <a:t>Suffix</a:t>
                      </a:r>
                    </a:p>
                  </a:txBody>
                  <a:tcPr/>
                </a:tc>
                <a:extLst>
                  <a:ext uri="{0D108BD9-81ED-4DB2-BD59-A6C34878D82A}">
                    <a16:rowId xmlns:a16="http://schemas.microsoft.com/office/drawing/2014/main" val="10000"/>
                  </a:ext>
                </a:extLst>
              </a:tr>
              <a:tr h="370840">
                <a:tc>
                  <a:txBody>
                    <a:bodyPr/>
                    <a:lstStyle/>
                    <a:p>
                      <a:r>
                        <a:rPr lang="en-US" altLang="en-US" sz="2400" b="1" dirty="0"/>
                        <a:t>-</a:t>
                      </a:r>
                      <a:r>
                        <a:rPr lang="en-US" altLang="en-US" sz="2400" b="1" dirty="0" err="1"/>
                        <a:t>acusis</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a:t>
                      </a:r>
                      <a:r>
                        <a:rPr lang="en-US" altLang="en-US" sz="2400" b="1" dirty="0" err="1"/>
                        <a:t>cusis</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-meter</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a:t>
                      </a:r>
                      <a:r>
                        <a:rPr lang="en-US" altLang="en-US" sz="2400" b="1" dirty="0" err="1"/>
                        <a:t>metry</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a:t>
                      </a:r>
                      <a:r>
                        <a:rPr lang="en-US" altLang="en-US" sz="2400" b="1" dirty="0" err="1"/>
                        <a:t>opia</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14251110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Review Sheet – Suffixes (Slide 2 of 4)</a:t>
            </a:r>
          </a:p>
        </p:txBody>
      </p:sp>
      <p:graphicFrame>
        <p:nvGraphicFramePr>
          <p:cNvPr id="8" name="Content Placeholder 7" descr="Group 1 of 2 Suffixes from the Review Sheet of the text with their corresponding meanings."/>
          <p:cNvGraphicFramePr>
            <a:graphicFrameLocks noGrp="1"/>
          </p:cNvGraphicFramePr>
          <p:nvPr>
            <p:ph idx="1"/>
            <p:extLst>
              <p:ext uri="{D42A27DB-BD31-4B8C-83A1-F6EECF244321}">
                <p14:modId xmlns:p14="http://schemas.microsoft.com/office/powerpoint/2010/main" val="174775894"/>
              </p:ext>
            </p:extLst>
          </p:nvPr>
        </p:nvGraphicFramePr>
        <p:xfrm>
          <a:off x="457200" y="1371600"/>
          <a:ext cx="8229600" cy="2743200"/>
        </p:xfrm>
        <a:graphic>
          <a:graphicData uri="http://schemas.openxmlformats.org/drawingml/2006/table">
            <a:tbl>
              <a:tblPr firstRow="1" bandRow="1">
                <a:tableStyleId>{9DCAF9ED-07DC-4A11-8D7F-57B35C25682E}</a:tableStyleId>
              </a:tblPr>
              <a:tblGrid>
                <a:gridCol w="22860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70840">
                <a:tc>
                  <a:txBody>
                    <a:bodyPr/>
                    <a:lstStyle/>
                    <a:p>
                      <a:r>
                        <a:rPr lang="en-US" sz="2400" dirty="0"/>
                        <a:t>Suffix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a:t>
                      </a:r>
                      <a:r>
                        <a:rPr lang="en-US" altLang="en-US" sz="2400" b="1" dirty="0" err="1"/>
                        <a:t>acusis</a:t>
                      </a:r>
                      <a:endParaRPr lang="en-US" sz="2400" dirty="0"/>
                    </a:p>
                  </a:txBody>
                  <a:tcPr/>
                </a:tc>
                <a:tc>
                  <a:txBody>
                    <a:bodyPr/>
                    <a:lstStyle/>
                    <a:p>
                      <a:r>
                        <a:rPr lang="en-US" altLang="en-US" sz="2400" dirty="0"/>
                        <a:t>hearing</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a:t>
                      </a:r>
                      <a:r>
                        <a:rPr lang="en-US" altLang="en-US" sz="2400" b="1" dirty="0" err="1"/>
                        <a:t>cusis</a:t>
                      </a:r>
                      <a:endParaRPr lang="en-US" sz="2400" dirty="0"/>
                    </a:p>
                  </a:txBody>
                  <a:tcPr/>
                </a:tc>
                <a:tc>
                  <a:txBody>
                    <a:bodyPr/>
                    <a:lstStyle/>
                    <a:p>
                      <a:r>
                        <a:rPr lang="en-US" altLang="en-US" sz="2400" dirty="0"/>
                        <a:t>hearing</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-meter</a:t>
                      </a:r>
                      <a:endParaRPr lang="en-US" sz="2400" dirty="0"/>
                    </a:p>
                  </a:txBody>
                  <a:tcPr/>
                </a:tc>
                <a:tc>
                  <a:txBody>
                    <a:bodyPr/>
                    <a:lstStyle/>
                    <a:p>
                      <a:r>
                        <a:rPr lang="en-US" altLang="en-US" sz="2400" dirty="0"/>
                        <a:t>instrument for measure</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a:t>
                      </a:r>
                      <a:r>
                        <a:rPr lang="en-US" altLang="en-US" sz="2400" b="1" dirty="0" err="1"/>
                        <a:t>metry</a:t>
                      </a:r>
                      <a:endParaRPr lang="en-US" sz="2400" dirty="0"/>
                    </a:p>
                  </a:txBody>
                  <a:tcPr/>
                </a:tc>
                <a:tc>
                  <a:txBody>
                    <a:bodyPr/>
                    <a:lstStyle/>
                    <a:p>
                      <a:r>
                        <a:rPr lang="en-US" altLang="en-US" sz="2400" dirty="0"/>
                        <a:t>process of measurement</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a:t>
                      </a:r>
                      <a:r>
                        <a:rPr lang="en-US" altLang="en-US" sz="2400" b="1" dirty="0" err="1"/>
                        <a:t>opia</a:t>
                      </a:r>
                      <a:endParaRPr lang="en-US" sz="2400" dirty="0"/>
                    </a:p>
                  </a:txBody>
                  <a:tcPr/>
                </a:tc>
                <a:tc>
                  <a:txBody>
                    <a:bodyPr/>
                    <a:lstStyle/>
                    <a:p>
                      <a:r>
                        <a:rPr lang="en-US" altLang="en-US" sz="2400" dirty="0"/>
                        <a:t>vision</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369706426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Review Sheet – Suffixes (Slide 3 of 4)</a:t>
            </a:r>
          </a:p>
        </p:txBody>
      </p:sp>
      <p:graphicFrame>
        <p:nvGraphicFramePr>
          <p:cNvPr id="8" name="Content Placeholder 7" descr="Group 2 of 2 Suffixes from the Review Sheet of the text.  The following slide lists these same combining forms with corresponding meanings."/>
          <p:cNvGraphicFramePr>
            <a:graphicFrameLocks noGrp="1"/>
          </p:cNvGraphicFramePr>
          <p:nvPr>
            <p:ph idx="1"/>
            <p:extLst>
              <p:ext uri="{D42A27DB-BD31-4B8C-83A1-F6EECF244321}">
                <p14:modId xmlns:p14="http://schemas.microsoft.com/office/powerpoint/2010/main" val="3771029907"/>
              </p:ext>
            </p:extLst>
          </p:nvPr>
        </p:nvGraphicFramePr>
        <p:xfrm>
          <a:off x="3429000" y="2057400"/>
          <a:ext cx="2286000" cy="2743200"/>
        </p:xfrm>
        <a:graphic>
          <a:graphicData uri="http://schemas.openxmlformats.org/drawingml/2006/table">
            <a:tbl>
              <a:tblPr firstRow="1" bandRow="1">
                <a:tableStyleId>{9DCAF9ED-07DC-4A11-8D7F-57B35C25682E}</a:tableStyleId>
              </a:tblPr>
              <a:tblGrid>
                <a:gridCol w="2286000">
                  <a:extLst>
                    <a:ext uri="{9D8B030D-6E8A-4147-A177-3AD203B41FA5}">
                      <a16:colId xmlns:a16="http://schemas.microsoft.com/office/drawing/2014/main" val="20000"/>
                    </a:ext>
                  </a:extLst>
                </a:gridCol>
              </a:tblGrid>
              <a:tr h="370840">
                <a:tc>
                  <a:txBody>
                    <a:bodyPr/>
                    <a:lstStyle/>
                    <a:p>
                      <a:r>
                        <a:rPr lang="en-US" sz="2400" dirty="0"/>
                        <a:t>Suffix</a:t>
                      </a:r>
                    </a:p>
                  </a:txBody>
                  <a:tcPr/>
                </a:tc>
                <a:extLst>
                  <a:ext uri="{0D108BD9-81ED-4DB2-BD59-A6C34878D82A}">
                    <a16:rowId xmlns:a16="http://schemas.microsoft.com/office/drawing/2014/main" val="10000"/>
                  </a:ext>
                </a:extLst>
              </a:tr>
              <a:tr h="370840">
                <a:tc>
                  <a:txBody>
                    <a:bodyPr/>
                    <a:lstStyle/>
                    <a:p>
                      <a:r>
                        <a:rPr lang="en-US" altLang="en-US" sz="2400" b="1" dirty="0"/>
                        <a:t>-</a:t>
                      </a:r>
                      <a:r>
                        <a:rPr lang="en-US" altLang="en-US" sz="2400" b="1" dirty="0" err="1"/>
                        <a:t>opsia</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a:t>
                      </a:r>
                      <a:r>
                        <a:rPr lang="en-US" altLang="en-US" sz="2400" b="1" dirty="0" err="1"/>
                        <a:t>otia</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-phobia</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a:t>
                      </a:r>
                      <a:r>
                        <a:rPr lang="en-US" altLang="en-US" sz="2400" b="1" dirty="0" err="1"/>
                        <a:t>plegic</a:t>
                      </a:r>
                      <a:endParaRPr lang="en-US" sz="2400" dirty="0"/>
                    </a:p>
                  </a:txBody>
                  <a:tcPr/>
                </a:tc>
                <a:extLst>
                  <a:ext uri="{0D108BD9-81ED-4DB2-BD59-A6C34878D82A}">
                    <a16:rowId xmlns:a16="http://schemas.microsoft.com/office/drawing/2014/main" val="10004"/>
                  </a:ext>
                </a:extLst>
              </a:tr>
              <a:tr h="370840">
                <a:tc>
                  <a:txBody>
                    <a:bodyPr/>
                    <a:lstStyle/>
                    <a:p>
                      <a:r>
                        <a:rPr lang="en-US" altLang="en-US" sz="2400" b="1" dirty="0"/>
                        <a:t>-</a:t>
                      </a:r>
                      <a:r>
                        <a:rPr lang="en-US" altLang="en-US" sz="2400" b="1" dirty="0" err="1"/>
                        <a:t>tropia</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157956281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4000" dirty="0"/>
              <a:t>Review Sheet – Suffixes (Slide 4 of 4)</a:t>
            </a:r>
          </a:p>
        </p:txBody>
      </p:sp>
      <p:graphicFrame>
        <p:nvGraphicFramePr>
          <p:cNvPr id="8" name="Content Placeholder 7" descr="Group 2 of 2 Suffixes from the Review Sheet of the text with their corresponding meanings."/>
          <p:cNvGraphicFramePr>
            <a:graphicFrameLocks noGrp="1"/>
          </p:cNvGraphicFramePr>
          <p:nvPr>
            <p:ph idx="1"/>
            <p:extLst>
              <p:ext uri="{D42A27DB-BD31-4B8C-83A1-F6EECF244321}">
                <p14:modId xmlns:p14="http://schemas.microsoft.com/office/powerpoint/2010/main" val="1672021551"/>
              </p:ext>
            </p:extLst>
          </p:nvPr>
        </p:nvGraphicFramePr>
        <p:xfrm>
          <a:off x="457200" y="1371600"/>
          <a:ext cx="8229600" cy="2743200"/>
        </p:xfrm>
        <a:graphic>
          <a:graphicData uri="http://schemas.openxmlformats.org/drawingml/2006/table">
            <a:tbl>
              <a:tblPr firstRow="1" bandRow="1">
                <a:tableStyleId>{9DCAF9ED-07DC-4A11-8D7F-57B35C25682E}</a:tableStyleId>
              </a:tblPr>
              <a:tblGrid>
                <a:gridCol w="2286000">
                  <a:extLst>
                    <a:ext uri="{9D8B030D-6E8A-4147-A177-3AD203B41FA5}">
                      <a16:colId xmlns:a16="http://schemas.microsoft.com/office/drawing/2014/main" val="20000"/>
                    </a:ext>
                  </a:extLst>
                </a:gridCol>
                <a:gridCol w="5943600">
                  <a:extLst>
                    <a:ext uri="{9D8B030D-6E8A-4147-A177-3AD203B41FA5}">
                      <a16:colId xmlns:a16="http://schemas.microsoft.com/office/drawing/2014/main" val="20001"/>
                    </a:ext>
                  </a:extLst>
                </a:gridCol>
              </a:tblGrid>
              <a:tr h="370840">
                <a:tc>
                  <a:txBody>
                    <a:bodyPr/>
                    <a:lstStyle/>
                    <a:p>
                      <a:r>
                        <a:rPr lang="en-US" sz="2400" dirty="0"/>
                        <a:t>Suffix</a:t>
                      </a:r>
                    </a:p>
                  </a:txBody>
                  <a:tcPr/>
                </a:tc>
                <a:tc>
                  <a:txBody>
                    <a:bodyPr/>
                    <a:lstStyle/>
                    <a:p>
                      <a:r>
                        <a:rPr lang="en-US" sz="2400" dirty="0"/>
                        <a:t>Meaning</a:t>
                      </a:r>
                    </a:p>
                  </a:txBody>
                  <a:tcPr/>
                </a:tc>
                <a:extLst>
                  <a:ext uri="{0D108BD9-81ED-4DB2-BD59-A6C34878D82A}">
                    <a16:rowId xmlns:a16="http://schemas.microsoft.com/office/drawing/2014/main" val="10000"/>
                  </a:ext>
                </a:extLst>
              </a:tr>
              <a:tr h="370840">
                <a:tc>
                  <a:txBody>
                    <a:bodyPr/>
                    <a:lstStyle/>
                    <a:p>
                      <a:r>
                        <a:rPr lang="en-US" altLang="en-US" sz="2400" b="1" dirty="0"/>
                        <a:t>-</a:t>
                      </a:r>
                      <a:r>
                        <a:rPr lang="en-US" altLang="en-US" sz="2400" b="1" dirty="0" err="1"/>
                        <a:t>opsia</a:t>
                      </a:r>
                      <a:endParaRPr lang="en-US" sz="2400" dirty="0"/>
                    </a:p>
                  </a:txBody>
                  <a:tcPr/>
                </a:tc>
                <a:tc>
                  <a:txBody>
                    <a:bodyPr/>
                    <a:lstStyle/>
                    <a:p>
                      <a:r>
                        <a:rPr lang="en-US" altLang="en-US" sz="2400" dirty="0"/>
                        <a:t>vision</a:t>
                      </a:r>
                      <a:endParaRPr lang="en-US" sz="2400" dirty="0"/>
                    </a:p>
                  </a:txBody>
                  <a:tcPr/>
                </a:tc>
                <a:extLst>
                  <a:ext uri="{0D108BD9-81ED-4DB2-BD59-A6C34878D82A}">
                    <a16:rowId xmlns:a16="http://schemas.microsoft.com/office/drawing/2014/main" val="10001"/>
                  </a:ext>
                </a:extLst>
              </a:tr>
              <a:tr h="370840">
                <a:tc>
                  <a:txBody>
                    <a:bodyPr/>
                    <a:lstStyle/>
                    <a:p>
                      <a:r>
                        <a:rPr lang="en-US" altLang="en-US" sz="2400" b="1" dirty="0"/>
                        <a:t>-</a:t>
                      </a:r>
                      <a:r>
                        <a:rPr lang="en-US" altLang="en-US" sz="2400" b="1" dirty="0" err="1"/>
                        <a:t>otia</a:t>
                      </a:r>
                      <a:endParaRPr lang="en-US" sz="2400" dirty="0"/>
                    </a:p>
                  </a:txBody>
                  <a:tcPr/>
                </a:tc>
                <a:tc>
                  <a:txBody>
                    <a:bodyPr/>
                    <a:lstStyle/>
                    <a:p>
                      <a:r>
                        <a:rPr lang="en-US" altLang="en-US" sz="2400" dirty="0"/>
                        <a:t>ear condition</a:t>
                      </a:r>
                      <a:endParaRPr lang="en-US" sz="2400" dirty="0"/>
                    </a:p>
                  </a:txBody>
                  <a:tcPr/>
                </a:tc>
                <a:extLst>
                  <a:ext uri="{0D108BD9-81ED-4DB2-BD59-A6C34878D82A}">
                    <a16:rowId xmlns:a16="http://schemas.microsoft.com/office/drawing/2014/main" val="10002"/>
                  </a:ext>
                </a:extLst>
              </a:tr>
              <a:tr h="370840">
                <a:tc>
                  <a:txBody>
                    <a:bodyPr/>
                    <a:lstStyle/>
                    <a:p>
                      <a:r>
                        <a:rPr lang="en-US" altLang="en-US" sz="2400" b="1" dirty="0"/>
                        <a:t>-phobia</a:t>
                      </a:r>
                      <a:endParaRPr lang="en-US" sz="2400" dirty="0"/>
                    </a:p>
                  </a:txBody>
                  <a:tcPr/>
                </a:tc>
                <a:tc>
                  <a:txBody>
                    <a:bodyPr/>
                    <a:lstStyle/>
                    <a:p>
                      <a:r>
                        <a:rPr lang="en-US" altLang="en-US" sz="2400" dirty="0"/>
                        <a:t>fear</a:t>
                      </a:r>
                      <a:endParaRPr lang="en-US" sz="2400" dirty="0"/>
                    </a:p>
                  </a:txBody>
                  <a:tcPr/>
                </a:tc>
                <a:extLst>
                  <a:ext uri="{0D108BD9-81ED-4DB2-BD59-A6C34878D82A}">
                    <a16:rowId xmlns:a16="http://schemas.microsoft.com/office/drawing/2014/main" val="10003"/>
                  </a:ext>
                </a:extLst>
              </a:tr>
              <a:tr h="370840">
                <a:tc>
                  <a:txBody>
                    <a:bodyPr/>
                    <a:lstStyle/>
                    <a:p>
                      <a:r>
                        <a:rPr lang="en-US" altLang="en-US" sz="2400" b="1" dirty="0"/>
                        <a:t>-</a:t>
                      </a:r>
                      <a:r>
                        <a:rPr lang="en-US" altLang="en-US" sz="2400" b="1" dirty="0" err="1"/>
                        <a:t>plegic</a:t>
                      </a:r>
                      <a:endParaRPr lang="en-US" sz="24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2400" dirty="0"/>
                        <a:t>paralysis; palsy</a:t>
                      </a:r>
                    </a:p>
                  </a:txBody>
                  <a:tcPr/>
                </a:tc>
                <a:extLst>
                  <a:ext uri="{0D108BD9-81ED-4DB2-BD59-A6C34878D82A}">
                    <a16:rowId xmlns:a16="http://schemas.microsoft.com/office/drawing/2014/main" val="10004"/>
                  </a:ext>
                </a:extLst>
              </a:tr>
              <a:tr h="370840">
                <a:tc>
                  <a:txBody>
                    <a:bodyPr/>
                    <a:lstStyle/>
                    <a:p>
                      <a:r>
                        <a:rPr lang="en-US" altLang="en-US" sz="2400" b="1" dirty="0"/>
                        <a:t>-</a:t>
                      </a:r>
                      <a:r>
                        <a:rPr lang="en-US" altLang="en-US" sz="2400" b="1" dirty="0" err="1"/>
                        <a:t>tropia</a:t>
                      </a:r>
                      <a:endParaRPr lang="en-US" sz="2400" dirty="0"/>
                    </a:p>
                  </a:txBody>
                  <a:tcPr/>
                </a:tc>
                <a:tc>
                  <a:txBody>
                    <a:bodyPr/>
                    <a:lstStyle/>
                    <a:p>
                      <a:r>
                        <a:rPr lang="en-US" altLang="en-US" sz="2400" dirty="0"/>
                        <a:t>to turn</a:t>
                      </a:r>
                      <a:endParaRPr lang="en-US" sz="2400" dirty="0"/>
                    </a:p>
                  </a:txBody>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23442797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4362</TotalTime>
  <Words>4929</Words>
  <Application>Microsoft Office PowerPoint</Application>
  <PresentationFormat>On-screen Show (4:3)</PresentationFormat>
  <Paragraphs>916</Paragraphs>
  <Slides>103</Slides>
  <Notes>41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103</vt:i4>
      </vt:variant>
    </vt:vector>
  </HeadingPairs>
  <TitlesOfParts>
    <vt:vector size="112" baseType="lpstr">
      <vt:lpstr>ＭＳ Ｐゴシック</vt:lpstr>
      <vt:lpstr>ＭＳ Ｐゴシック</vt:lpstr>
      <vt:lpstr>Arial</vt:lpstr>
      <vt:lpstr>Calibri</vt:lpstr>
      <vt:lpstr>Times</vt:lpstr>
      <vt:lpstr>Times New Roman</vt:lpstr>
      <vt:lpstr>Wingdings</vt:lpstr>
      <vt:lpstr>Wingdings 2</vt:lpstr>
      <vt:lpstr>Office Theme</vt:lpstr>
      <vt:lpstr>The Language of Medicine 13th edition</vt:lpstr>
      <vt:lpstr>Chapter 17 Sense Organs:  The Eye and Ear</vt:lpstr>
      <vt:lpstr>Chapter Goals (Slide 1 of 2)</vt:lpstr>
      <vt:lpstr>Chapter Goals (Slide 2 of 2)</vt:lpstr>
      <vt:lpstr>Chapter 17  Lesson 17.1</vt:lpstr>
      <vt:lpstr>Introduction </vt:lpstr>
      <vt:lpstr>The Eye (Slide 1 of 3)</vt:lpstr>
      <vt:lpstr>The Eye (Slide 2 of 3)</vt:lpstr>
      <vt:lpstr>The Eye (Slide 3 of 3)</vt:lpstr>
      <vt:lpstr>Visual Pathways from Retina to Cortex</vt:lpstr>
      <vt:lpstr>      QUICK QUIZ (Slide 1 of 3)  </vt:lpstr>
      <vt:lpstr>Vocabulary – The Eye (Slide 1 of 16)</vt:lpstr>
      <vt:lpstr>Vocabulary – The Eye (Slide 2 of 16)</vt:lpstr>
      <vt:lpstr>Vocabulary – The Eye (Slide 3 of 16)</vt:lpstr>
      <vt:lpstr>Vocabulary – The Eye (Slide 4 of 16)</vt:lpstr>
      <vt:lpstr>Vocabulary – The Eye (Slide 5 of 16)</vt:lpstr>
      <vt:lpstr>Vocabulary – The Eye (Slide 6 of 16)</vt:lpstr>
      <vt:lpstr>Vocabulary – The Eye (Slide 7 of 16)</vt:lpstr>
      <vt:lpstr>Vocabulary – The Eye (Slide 8 of 16)</vt:lpstr>
      <vt:lpstr>Vocabulary – The Eye (Slide 9 of 16)</vt:lpstr>
      <vt:lpstr>Vocabulary – The Eye (Slide 10 of 16)</vt:lpstr>
      <vt:lpstr>Vocabulary – The Eye (Slide 11 of 16)</vt:lpstr>
      <vt:lpstr>Vocabulary – The Eye (Slide 12 of 16)</vt:lpstr>
      <vt:lpstr>Vocabulary – The Eye (Slide 13 of 16)</vt:lpstr>
      <vt:lpstr>Vocabulary – The Eye (Slide 14 of 16)</vt:lpstr>
      <vt:lpstr>Vocabulary – The Eye (Slide 15 of 16)</vt:lpstr>
      <vt:lpstr>Vocabulary – The Eye (Slide 16 of 16)</vt:lpstr>
      <vt:lpstr>Terminology – Structures and Fluids (Slide 1 of 4)</vt:lpstr>
      <vt:lpstr>Terminology – Structures and Fluids (Slide 2 of 4)</vt:lpstr>
      <vt:lpstr>Terminology – Structures and Fluids (Slide 3 of 4)</vt:lpstr>
      <vt:lpstr>Terminology – Structures and Fluids (Slide 4 of 4)</vt:lpstr>
      <vt:lpstr>Terminology – Conditions (Slide 1 of 2)</vt:lpstr>
      <vt:lpstr>Terminology – Conditions (Slide 2 of 2)</vt:lpstr>
      <vt:lpstr>Terminology – Suffixes--Conditions </vt:lpstr>
      <vt:lpstr>      QUICK QUIZ (Slide 2 of 3)</vt:lpstr>
      <vt:lpstr>Errors of Refraction (Slide 1 of 2)</vt:lpstr>
      <vt:lpstr>Errors of Refraction (Slide 2 of 2)</vt:lpstr>
      <vt:lpstr>Abnormal Conditions (Slide 1 of 6) Cataract:  Clouding of the Lens</vt:lpstr>
      <vt:lpstr>Abnormal Conditions (Slide 2 of 6)</vt:lpstr>
      <vt:lpstr>Abnormal Conditions (Slide 3 of 6)</vt:lpstr>
      <vt:lpstr>Abnormal Conditions   (Slide 4 of 6)</vt:lpstr>
      <vt:lpstr>Abnormal Conditions (Slide 5 of 6)</vt:lpstr>
      <vt:lpstr>Abnormal Conditions  (Slide 6 of 6)</vt:lpstr>
      <vt:lpstr>Chapter 17 Lesson 17.2</vt:lpstr>
      <vt:lpstr>Diagnostic Procedures (Slide 1 of 3)</vt:lpstr>
      <vt:lpstr>Diagnostic Procedures (Slide 2 of 3)</vt:lpstr>
      <vt:lpstr>Diagnostic Procedures (Slide 3 of 3)</vt:lpstr>
      <vt:lpstr>Treatment  (Slide 1 of 4)</vt:lpstr>
      <vt:lpstr>Treatment  (Slide 2 of 4)</vt:lpstr>
      <vt:lpstr>Treatment (Slide 3 of 4)</vt:lpstr>
      <vt:lpstr>Treatment  (Slide 4 of 4)</vt:lpstr>
      <vt:lpstr>Abbreviations – The Eye (Slide 1 of 2)</vt:lpstr>
      <vt:lpstr>Abbreviations – The Eye (Slide 2 of 2)</vt:lpstr>
      <vt:lpstr>Chapter 17 Lesson 17.3</vt:lpstr>
      <vt:lpstr>The Ear</vt:lpstr>
      <vt:lpstr>Anatomy of the Ear (Slide 1 of 2)</vt:lpstr>
      <vt:lpstr>Anatomy of the Ear (Slide 2 of 2)</vt:lpstr>
      <vt:lpstr>Ear Anatomy and Physiology (Slide 1 of 4)</vt:lpstr>
      <vt:lpstr>Ear Anatomy and Physiology (Slide 2 of 4)</vt:lpstr>
      <vt:lpstr>Ear Anatomy and Physiology (Slide 3 of 4)</vt:lpstr>
      <vt:lpstr>Ear Anatomy and Physiology (Slide 4 of 4)</vt:lpstr>
      <vt:lpstr>Vocabulary – The Ear (Slide 1 of 14)</vt:lpstr>
      <vt:lpstr>Vocabulary – The Ear (Slide 2 of 14)</vt:lpstr>
      <vt:lpstr>Vocabulary – The Ear (Slide 3 of 14)</vt:lpstr>
      <vt:lpstr>Vocabulary – The Ear (Slide 4 of 14)</vt:lpstr>
      <vt:lpstr>Vocabulary – The Ear (Slide 5 of 14)</vt:lpstr>
      <vt:lpstr>Vocabulary – The Ear (Slide 6 of 14)</vt:lpstr>
      <vt:lpstr>Vocabulary – The Ear (Slide 7 of 14)</vt:lpstr>
      <vt:lpstr>Vocabulary – The Ear (Slide 8 of 14)</vt:lpstr>
      <vt:lpstr>Vocabulary – The Ear (Slide 9 of 14)</vt:lpstr>
      <vt:lpstr>Vocabulary – The Ear (Slide 10 of 14)</vt:lpstr>
      <vt:lpstr>Vocabulary – The Ear (Slide 11 of 14)</vt:lpstr>
      <vt:lpstr>Vocabulary – The Ear (Slide 12 of 14)</vt:lpstr>
      <vt:lpstr>Vocabulary – The Ear (Slide 13 of 14)</vt:lpstr>
      <vt:lpstr>Vocabulary – The Ear (Slide 14 of 14)</vt:lpstr>
      <vt:lpstr>      QUICK QUIZ (Slide 3 of 3)  </vt:lpstr>
      <vt:lpstr>Combining Forms Ear Terminology    (Slide 1 of 2)</vt:lpstr>
      <vt:lpstr>Combining Forms Ear – Terminology  (Slide 2 of 2)</vt:lpstr>
      <vt:lpstr>Terminology Ear- Suffixes (Slide 1 of 1)</vt:lpstr>
      <vt:lpstr>Symptoms and Pathologic Conditions (Slide 1 of 3)</vt:lpstr>
      <vt:lpstr>Symptoms and Pathologic Conditions (Slide 2 of 3)</vt:lpstr>
      <vt:lpstr>Symptoms and Pathologic Conditions (Slide 3 of 3)</vt:lpstr>
      <vt:lpstr>Clinical Procedures (Slide 1 of 2)</vt:lpstr>
      <vt:lpstr>Clinical Procedures (Slide 2 of 2)</vt:lpstr>
      <vt:lpstr>Abbreviations – The Ear</vt:lpstr>
      <vt:lpstr>Review Sheet – Combining Forms (Slide 1 of 14)</vt:lpstr>
      <vt:lpstr>Review Sheet – Combining Forms (Slide 2 of 14)</vt:lpstr>
      <vt:lpstr>Review Sheet – Combining Forms (Slide 3 of 14)</vt:lpstr>
      <vt:lpstr>Review Sheet – Combining Forms (Slide 4 of 14)</vt:lpstr>
      <vt:lpstr>Review Sheet – Combining Forms (Slide 5 of 14)</vt:lpstr>
      <vt:lpstr>Review Sheet – Combining Forms (Slide 6 of 14)</vt:lpstr>
      <vt:lpstr>Review Sheet – Combining Forms (Slide 7 of 14)</vt:lpstr>
      <vt:lpstr>Review Sheet – Combining Forms (Slide 8 of 14)</vt:lpstr>
      <vt:lpstr>Review Sheet – Combining Forms (Slide 9 of 14)</vt:lpstr>
      <vt:lpstr>Review Sheet – Combining Forms (Slide 10 of 14)</vt:lpstr>
      <vt:lpstr>Review Sheet – Combining Forms (Slide 11 of 14)</vt:lpstr>
      <vt:lpstr>Review Sheet – Combining Forms (Slide 12 of 14)</vt:lpstr>
      <vt:lpstr>Review Sheet – Combining Forms (Slide 13 of 14)</vt:lpstr>
      <vt:lpstr>Review Sheet – Combining Forms (Slide 14 of 14)</vt:lpstr>
      <vt:lpstr>Review Sheet – Suffixes (Slide 1 of 4)</vt:lpstr>
      <vt:lpstr>Review Sheet – Suffixes (Slide 2 of 4)</vt:lpstr>
      <vt:lpstr>Review Sheet – Suffixes (Slide 3 of 4)</vt:lpstr>
      <vt:lpstr>Review Sheet – Suffixes (Slide 4 of 4)</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Language of Medicine A Write-in Text Explaining Medical Terms 7th Edition Davi-Ellen Chabner, B.A., M.A.T.</dc:title>
  <dc:creator>dell</dc:creator>
  <cp:lastModifiedBy>Jyoti Tyagi (IL-IN)</cp:lastModifiedBy>
  <cp:revision>304</cp:revision>
  <cp:lastPrinted>2007-04-13T22:20:09Z</cp:lastPrinted>
  <dcterms:created xsi:type="dcterms:W3CDTF">2004-11-01T16:15:23Z</dcterms:created>
  <dcterms:modified xsi:type="dcterms:W3CDTF">2023-12-07T04:22:11Z</dcterms:modified>
</cp:coreProperties>
</file>