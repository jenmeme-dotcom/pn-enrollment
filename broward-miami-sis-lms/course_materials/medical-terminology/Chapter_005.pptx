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2" r:id="rId1"/>
  </p:sldMasterIdLst>
  <p:notesMasterIdLst>
    <p:notesMasterId r:id="rId74"/>
  </p:notesMasterIdLst>
  <p:handoutMasterIdLst>
    <p:handoutMasterId r:id="rId75"/>
  </p:handoutMasterIdLst>
  <p:sldIdLst>
    <p:sldId id="332" r:id="rId2"/>
    <p:sldId id="413" r:id="rId3"/>
    <p:sldId id="338" r:id="rId4"/>
    <p:sldId id="339" r:id="rId5"/>
    <p:sldId id="340" r:id="rId6"/>
    <p:sldId id="341" r:id="rId7"/>
    <p:sldId id="342" r:id="rId8"/>
    <p:sldId id="343" r:id="rId9"/>
    <p:sldId id="344" r:id="rId10"/>
    <p:sldId id="345" r:id="rId11"/>
    <p:sldId id="414" r:id="rId12"/>
    <p:sldId id="349" r:id="rId13"/>
    <p:sldId id="415" r:id="rId14"/>
    <p:sldId id="416" r:id="rId15"/>
    <p:sldId id="354" r:id="rId16"/>
    <p:sldId id="355" r:id="rId17"/>
    <p:sldId id="356" r:id="rId18"/>
    <p:sldId id="357" r:id="rId19"/>
    <p:sldId id="358" r:id="rId20"/>
    <p:sldId id="359" r:id="rId21"/>
    <p:sldId id="360" r:id="rId22"/>
    <p:sldId id="361" r:id="rId23"/>
    <p:sldId id="362" r:id="rId24"/>
    <p:sldId id="363" r:id="rId25"/>
    <p:sldId id="364" r:id="rId26"/>
    <p:sldId id="365" r:id="rId27"/>
    <p:sldId id="366" r:id="rId28"/>
    <p:sldId id="367" r:id="rId29"/>
    <p:sldId id="368" r:id="rId30"/>
    <p:sldId id="369" r:id="rId31"/>
    <p:sldId id="370" r:id="rId32"/>
    <p:sldId id="371" r:id="rId33"/>
    <p:sldId id="372" r:id="rId34"/>
    <p:sldId id="373" r:id="rId35"/>
    <p:sldId id="374" r:id="rId36"/>
    <p:sldId id="375" r:id="rId37"/>
    <p:sldId id="376" r:id="rId38"/>
    <p:sldId id="377" r:id="rId39"/>
    <p:sldId id="378" r:id="rId40"/>
    <p:sldId id="379" r:id="rId41"/>
    <p:sldId id="380" r:id="rId42"/>
    <p:sldId id="381" r:id="rId43"/>
    <p:sldId id="382" r:id="rId44"/>
    <p:sldId id="383" r:id="rId45"/>
    <p:sldId id="384" r:id="rId46"/>
    <p:sldId id="385" r:id="rId47"/>
    <p:sldId id="386" r:id="rId48"/>
    <p:sldId id="387" r:id="rId49"/>
    <p:sldId id="388" r:id="rId50"/>
    <p:sldId id="389" r:id="rId51"/>
    <p:sldId id="390" r:id="rId52"/>
    <p:sldId id="391" r:id="rId53"/>
    <p:sldId id="392" r:id="rId54"/>
    <p:sldId id="393" r:id="rId55"/>
    <p:sldId id="394" r:id="rId56"/>
    <p:sldId id="395" r:id="rId57"/>
    <p:sldId id="396" r:id="rId58"/>
    <p:sldId id="397" r:id="rId59"/>
    <p:sldId id="398" r:id="rId60"/>
    <p:sldId id="399" r:id="rId61"/>
    <p:sldId id="400" r:id="rId62"/>
    <p:sldId id="401" r:id="rId63"/>
    <p:sldId id="402" r:id="rId64"/>
    <p:sldId id="403" r:id="rId65"/>
    <p:sldId id="404" r:id="rId66"/>
    <p:sldId id="405" r:id="rId67"/>
    <p:sldId id="406" r:id="rId68"/>
    <p:sldId id="417" r:id="rId69"/>
    <p:sldId id="408" r:id="rId70"/>
    <p:sldId id="409" r:id="rId71"/>
    <p:sldId id="410" r:id="rId72"/>
    <p:sldId id="411" r:id="rId73"/>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008">
          <p15:clr>
            <a:srgbClr val="A4A3A4"/>
          </p15:clr>
        </p15:guide>
        <p15:guide id="2" pos="4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2D9B22-4AD8-430D-BF4B-C2359B7D84FB}" v="1" dt="2023-09-26T07:18:04.6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92" autoAdjust="0"/>
    <p:restoredTop sz="80777" autoAdjust="0"/>
  </p:normalViewPr>
  <p:slideViewPr>
    <p:cSldViewPr>
      <p:cViewPr varScale="1">
        <p:scale>
          <a:sx n="51" d="100"/>
          <a:sy n="51" d="100"/>
        </p:scale>
        <p:origin x="1496" y="40"/>
      </p:cViewPr>
      <p:guideLst>
        <p:guide orient="horz" pos="1008"/>
        <p:guide pos="432"/>
      </p:guideLst>
    </p:cSldViewPr>
  </p:slideViewPr>
  <p:outlineViewPr>
    <p:cViewPr>
      <p:scale>
        <a:sx n="33" d="100"/>
        <a:sy n="33" d="100"/>
      </p:scale>
      <p:origin x="0" y="1192"/>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 Pfeifer" userId="fb68dd40a6c6cee7" providerId="LiveId" clId="{F92D9B22-4AD8-430D-BF4B-C2359B7D84FB}"/>
    <pc:docChg chg="custSel modSld modMainMaster">
      <pc:chgData name="Ben Pfeifer" userId="fb68dd40a6c6cee7" providerId="LiveId" clId="{F92D9B22-4AD8-430D-BF4B-C2359B7D84FB}" dt="2023-09-26T07:49:01.487" v="24" actId="12385"/>
      <pc:docMkLst>
        <pc:docMk/>
      </pc:docMkLst>
      <pc:sldChg chg="modSp mod">
        <pc:chgData name="Ben Pfeifer" userId="fb68dd40a6c6cee7" providerId="LiveId" clId="{F92D9B22-4AD8-430D-BF4B-C2359B7D84FB}" dt="2023-09-26T07:22:08.580" v="16" actId="20577"/>
        <pc:sldMkLst>
          <pc:docMk/>
          <pc:sldMk cId="1268374390" sldId="372"/>
        </pc:sldMkLst>
        <pc:graphicFrameChg chg="modGraphic">
          <ac:chgData name="Ben Pfeifer" userId="fb68dd40a6c6cee7" providerId="LiveId" clId="{F92D9B22-4AD8-430D-BF4B-C2359B7D84FB}" dt="2023-09-26T07:22:08.580" v="16" actId="20577"/>
          <ac:graphicFrameMkLst>
            <pc:docMk/>
            <pc:sldMk cId="1268374390" sldId="372"/>
            <ac:graphicFrameMk id="8" creationId="{00000000-0000-0000-0000-000000000000}"/>
          </ac:graphicFrameMkLst>
        </pc:graphicFrameChg>
      </pc:sldChg>
      <pc:sldChg chg="modSp mod">
        <pc:chgData name="Ben Pfeifer" userId="fb68dd40a6c6cee7" providerId="LiveId" clId="{F92D9B22-4AD8-430D-BF4B-C2359B7D84FB}" dt="2023-09-26T07:48:44.993" v="17" actId="12385"/>
        <pc:sldMkLst>
          <pc:docMk/>
          <pc:sldMk cId="3023189969" sldId="385"/>
        </pc:sldMkLst>
        <pc:graphicFrameChg chg="modGraphic">
          <ac:chgData name="Ben Pfeifer" userId="fb68dd40a6c6cee7" providerId="LiveId" clId="{F92D9B22-4AD8-430D-BF4B-C2359B7D84FB}" dt="2023-09-26T07:48:44.993" v="17" actId="12385"/>
          <ac:graphicFrameMkLst>
            <pc:docMk/>
            <pc:sldMk cId="3023189969" sldId="385"/>
            <ac:graphicFrameMk id="8" creationId="{00000000-0000-0000-0000-000000000000}"/>
          </ac:graphicFrameMkLst>
        </pc:graphicFrameChg>
      </pc:sldChg>
      <pc:sldChg chg="modSp mod">
        <pc:chgData name="Ben Pfeifer" userId="fb68dd40a6c6cee7" providerId="LiveId" clId="{F92D9B22-4AD8-430D-BF4B-C2359B7D84FB}" dt="2023-09-26T07:48:47.601" v="18" actId="12385"/>
        <pc:sldMkLst>
          <pc:docMk/>
          <pc:sldMk cId="2176765635" sldId="386"/>
        </pc:sldMkLst>
        <pc:graphicFrameChg chg="modGraphic">
          <ac:chgData name="Ben Pfeifer" userId="fb68dd40a6c6cee7" providerId="LiveId" clId="{F92D9B22-4AD8-430D-BF4B-C2359B7D84FB}" dt="2023-09-26T07:48:47.601" v="18" actId="12385"/>
          <ac:graphicFrameMkLst>
            <pc:docMk/>
            <pc:sldMk cId="2176765635" sldId="386"/>
            <ac:graphicFrameMk id="8" creationId="{00000000-0000-0000-0000-000000000000}"/>
          </ac:graphicFrameMkLst>
        </pc:graphicFrameChg>
      </pc:sldChg>
      <pc:sldChg chg="modSp mod">
        <pc:chgData name="Ben Pfeifer" userId="fb68dd40a6c6cee7" providerId="LiveId" clId="{F92D9B22-4AD8-430D-BF4B-C2359B7D84FB}" dt="2023-09-26T07:48:49.786" v="19" actId="12385"/>
        <pc:sldMkLst>
          <pc:docMk/>
          <pc:sldMk cId="3551065675" sldId="387"/>
        </pc:sldMkLst>
        <pc:graphicFrameChg chg="modGraphic">
          <ac:chgData name="Ben Pfeifer" userId="fb68dd40a6c6cee7" providerId="LiveId" clId="{F92D9B22-4AD8-430D-BF4B-C2359B7D84FB}" dt="2023-09-26T07:48:49.786" v="19" actId="12385"/>
          <ac:graphicFrameMkLst>
            <pc:docMk/>
            <pc:sldMk cId="3551065675" sldId="387"/>
            <ac:graphicFrameMk id="8" creationId="{00000000-0000-0000-0000-000000000000}"/>
          </ac:graphicFrameMkLst>
        </pc:graphicFrameChg>
      </pc:sldChg>
      <pc:sldChg chg="modSp mod">
        <pc:chgData name="Ben Pfeifer" userId="fb68dd40a6c6cee7" providerId="LiveId" clId="{F92D9B22-4AD8-430D-BF4B-C2359B7D84FB}" dt="2023-09-26T07:48:51.889" v="20" actId="12385"/>
        <pc:sldMkLst>
          <pc:docMk/>
          <pc:sldMk cId="3068698871" sldId="388"/>
        </pc:sldMkLst>
        <pc:graphicFrameChg chg="modGraphic">
          <ac:chgData name="Ben Pfeifer" userId="fb68dd40a6c6cee7" providerId="LiveId" clId="{F92D9B22-4AD8-430D-BF4B-C2359B7D84FB}" dt="2023-09-26T07:48:51.889" v="20" actId="12385"/>
          <ac:graphicFrameMkLst>
            <pc:docMk/>
            <pc:sldMk cId="3068698871" sldId="388"/>
            <ac:graphicFrameMk id="8" creationId="{00000000-0000-0000-0000-000000000000}"/>
          </ac:graphicFrameMkLst>
        </pc:graphicFrameChg>
      </pc:sldChg>
      <pc:sldChg chg="modSp mod">
        <pc:chgData name="Ben Pfeifer" userId="fb68dd40a6c6cee7" providerId="LiveId" clId="{F92D9B22-4AD8-430D-BF4B-C2359B7D84FB}" dt="2023-09-26T07:48:53.992" v="21" actId="12385"/>
        <pc:sldMkLst>
          <pc:docMk/>
          <pc:sldMk cId="1815450032" sldId="389"/>
        </pc:sldMkLst>
        <pc:graphicFrameChg chg="modGraphic">
          <ac:chgData name="Ben Pfeifer" userId="fb68dd40a6c6cee7" providerId="LiveId" clId="{F92D9B22-4AD8-430D-BF4B-C2359B7D84FB}" dt="2023-09-26T07:48:53.992" v="21" actId="12385"/>
          <ac:graphicFrameMkLst>
            <pc:docMk/>
            <pc:sldMk cId="1815450032" sldId="389"/>
            <ac:graphicFrameMk id="8" creationId="{00000000-0000-0000-0000-000000000000}"/>
          </ac:graphicFrameMkLst>
        </pc:graphicFrameChg>
      </pc:sldChg>
      <pc:sldChg chg="modSp mod">
        <pc:chgData name="Ben Pfeifer" userId="fb68dd40a6c6cee7" providerId="LiveId" clId="{F92D9B22-4AD8-430D-BF4B-C2359B7D84FB}" dt="2023-09-26T07:48:56.616" v="22" actId="12385"/>
        <pc:sldMkLst>
          <pc:docMk/>
          <pc:sldMk cId="2756036901" sldId="390"/>
        </pc:sldMkLst>
        <pc:graphicFrameChg chg="modGraphic">
          <ac:chgData name="Ben Pfeifer" userId="fb68dd40a6c6cee7" providerId="LiveId" clId="{F92D9B22-4AD8-430D-BF4B-C2359B7D84FB}" dt="2023-09-26T07:48:56.616" v="22" actId="12385"/>
          <ac:graphicFrameMkLst>
            <pc:docMk/>
            <pc:sldMk cId="2756036901" sldId="390"/>
            <ac:graphicFrameMk id="8" creationId="{00000000-0000-0000-0000-000000000000}"/>
          </ac:graphicFrameMkLst>
        </pc:graphicFrameChg>
      </pc:sldChg>
      <pc:sldChg chg="modSp mod">
        <pc:chgData name="Ben Pfeifer" userId="fb68dd40a6c6cee7" providerId="LiveId" clId="{F92D9B22-4AD8-430D-BF4B-C2359B7D84FB}" dt="2023-09-26T07:48:58.864" v="23" actId="12385"/>
        <pc:sldMkLst>
          <pc:docMk/>
          <pc:sldMk cId="371689867" sldId="391"/>
        </pc:sldMkLst>
        <pc:graphicFrameChg chg="modGraphic">
          <ac:chgData name="Ben Pfeifer" userId="fb68dd40a6c6cee7" providerId="LiveId" clId="{F92D9B22-4AD8-430D-BF4B-C2359B7D84FB}" dt="2023-09-26T07:48:58.864" v="23" actId="12385"/>
          <ac:graphicFrameMkLst>
            <pc:docMk/>
            <pc:sldMk cId="371689867" sldId="391"/>
            <ac:graphicFrameMk id="8" creationId="{00000000-0000-0000-0000-000000000000}"/>
          </ac:graphicFrameMkLst>
        </pc:graphicFrameChg>
      </pc:sldChg>
      <pc:sldChg chg="modSp mod">
        <pc:chgData name="Ben Pfeifer" userId="fb68dd40a6c6cee7" providerId="LiveId" clId="{F92D9B22-4AD8-430D-BF4B-C2359B7D84FB}" dt="2023-09-26T07:49:01.487" v="24" actId="12385"/>
        <pc:sldMkLst>
          <pc:docMk/>
          <pc:sldMk cId="348898269" sldId="392"/>
        </pc:sldMkLst>
        <pc:graphicFrameChg chg="modGraphic">
          <ac:chgData name="Ben Pfeifer" userId="fb68dd40a6c6cee7" providerId="LiveId" clId="{F92D9B22-4AD8-430D-BF4B-C2359B7D84FB}" dt="2023-09-26T07:49:01.487" v="24" actId="12385"/>
          <ac:graphicFrameMkLst>
            <pc:docMk/>
            <pc:sldMk cId="348898269" sldId="392"/>
            <ac:graphicFrameMk id="8" creationId="{00000000-0000-0000-0000-000000000000}"/>
          </ac:graphicFrameMkLst>
        </pc:graphicFrameChg>
      </pc:sldChg>
      <pc:sldChg chg="delSp mod">
        <pc:chgData name="Ben Pfeifer" userId="fb68dd40a6c6cee7" providerId="LiveId" clId="{F92D9B22-4AD8-430D-BF4B-C2359B7D84FB}" dt="2023-09-26T07:20:43.639" v="12" actId="478"/>
        <pc:sldMkLst>
          <pc:docMk/>
          <pc:sldMk cId="1397251323" sldId="414"/>
        </pc:sldMkLst>
        <pc:spChg chg="del">
          <ac:chgData name="Ben Pfeifer" userId="fb68dd40a6c6cee7" providerId="LiveId" clId="{F92D9B22-4AD8-430D-BF4B-C2359B7D84FB}" dt="2023-09-26T07:20:43.639" v="12" actId="478"/>
          <ac:spMkLst>
            <pc:docMk/>
            <pc:sldMk cId="1397251323" sldId="414"/>
            <ac:spMk id="5" creationId="{00000000-0000-0000-0000-000000000000}"/>
          </ac:spMkLst>
        </pc:spChg>
      </pc:sldChg>
      <pc:sldChg chg="delSp mod">
        <pc:chgData name="Ben Pfeifer" userId="fb68dd40a6c6cee7" providerId="LiveId" clId="{F92D9B22-4AD8-430D-BF4B-C2359B7D84FB}" dt="2023-09-26T07:20:55.741" v="13" actId="478"/>
        <pc:sldMkLst>
          <pc:docMk/>
          <pc:sldMk cId="863874958" sldId="415"/>
        </pc:sldMkLst>
        <pc:spChg chg="del">
          <ac:chgData name="Ben Pfeifer" userId="fb68dd40a6c6cee7" providerId="LiveId" clId="{F92D9B22-4AD8-430D-BF4B-C2359B7D84FB}" dt="2023-09-26T07:20:55.741" v="13" actId="478"/>
          <ac:spMkLst>
            <pc:docMk/>
            <pc:sldMk cId="863874958" sldId="415"/>
            <ac:spMk id="5" creationId="{00000000-0000-0000-0000-000000000000}"/>
          </ac:spMkLst>
        </pc:spChg>
      </pc:sldChg>
      <pc:sldMasterChg chg="modSp mod modSldLayout">
        <pc:chgData name="Ben Pfeifer" userId="fb68dd40a6c6cee7" providerId="LiveId" clId="{F92D9B22-4AD8-430D-BF4B-C2359B7D84FB}" dt="2023-09-26T07:19:17.486" v="11" actId="20577"/>
        <pc:sldMasterMkLst>
          <pc:docMk/>
          <pc:sldMasterMk cId="0" sldId="2147483762"/>
        </pc:sldMasterMkLst>
        <pc:spChg chg="mod">
          <ac:chgData name="Ben Pfeifer" userId="fb68dd40a6c6cee7" providerId="LiveId" clId="{F92D9B22-4AD8-430D-BF4B-C2359B7D84FB}" dt="2023-09-26T07:19:17.486" v="11" actId="20577"/>
          <ac:spMkLst>
            <pc:docMk/>
            <pc:sldMasterMk cId="0" sldId="2147483762"/>
            <ac:spMk id="1031" creationId="{00000000-0000-0000-0000-000000000000}"/>
          </ac:spMkLst>
        </pc:spChg>
        <pc:sldLayoutChg chg="addSp delSp modSp mod">
          <pc:chgData name="Ben Pfeifer" userId="fb68dd40a6c6cee7" providerId="LiveId" clId="{F92D9B22-4AD8-430D-BF4B-C2359B7D84FB}" dt="2023-09-26T07:18:16.312" v="5" actId="478"/>
          <pc:sldLayoutMkLst>
            <pc:docMk/>
            <pc:sldMasterMk cId="0" sldId="2147483762"/>
            <pc:sldLayoutMk cId="156938385" sldId="2147483948"/>
          </pc:sldLayoutMkLst>
          <pc:spChg chg="mod">
            <ac:chgData name="Ben Pfeifer" userId="fb68dd40a6c6cee7" providerId="LiveId" clId="{F92D9B22-4AD8-430D-BF4B-C2359B7D84FB}" dt="2023-09-26T07:18:08.862" v="3" actId="1076"/>
            <ac:spMkLst>
              <pc:docMk/>
              <pc:sldMasterMk cId="0" sldId="2147483762"/>
              <pc:sldLayoutMk cId="156938385" sldId="2147483948"/>
              <ac:spMk id="4" creationId="{00000000-0000-0000-0000-000000000000}"/>
            </ac:spMkLst>
          </pc:spChg>
          <pc:spChg chg="add del mod">
            <ac:chgData name="Ben Pfeifer" userId="fb68dd40a6c6cee7" providerId="LiveId" clId="{F92D9B22-4AD8-430D-BF4B-C2359B7D84FB}" dt="2023-09-26T07:18:16.312" v="5" actId="478"/>
            <ac:spMkLst>
              <pc:docMk/>
              <pc:sldMasterMk cId="0" sldId="2147483762"/>
              <pc:sldLayoutMk cId="156938385" sldId="2147483948"/>
              <ac:spMk id="6" creationId="{342927DB-557B-0F75-6DC8-66A5678C4681}"/>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3" name="Rectangle 3"/>
          <p:cNvSpPr>
            <a:spLocks noGrp="1" noChangeArrowheads="1"/>
          </p:cNvSpPr>
          <p:nvPr>
            <p:ph type="dt" sz="quarter" idx="1"/>
          </p:nvPr>
        </p:nvSpPr>
        <p:spPr bwMode="auto">
          <a:xfrm>
            <a:off x="388620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algn="r" eaLnBrk="1" hangingPunct="1">
              <a:defRPr sz="1200">
                <a:latin typeface="Times New Roman" pitchFamily="80" charset="0"/>
                <a:ea typeface="+mn-ea"/>
                <a:cs typeface="+mn-cs"/>
              </a:defRPr>
            </a:lvl1pPr>
          </a:lstStyle>
          <a:p>
            <a:pPr>
              <a:defRPr/>
            </a:pPr>
            <a:endParaRPr lang="en-US"/>
          </a:p>
        </p:txBody>
      </p:sp>
      <p:sp>
        <p:nvSpPr>
          <p:cNvPr id="128004" name="Rectangle 4"/>
          <p:cNvSpPr>
            <a:spLocks noGrp="1" noChangeArrowheads="1"/>
          </p:cNvSpPr>
          <p:nvPr>
            <p:ph type="ftr" sz="quarter" idx="2"/>
          </p:nvPr>
        </p:nvSpPr>
        <p:spPr bwMode="auto">
          <a:xfrm>
            <a:off x="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5" name="Rectangle 5"/>
          <p:cNvSpPr>
            <a:spLocks noGrp="1" noChangeArrowheads="1"/>
          </p:cNvSpPr>
          <p:nvPr>
            <p:ph type="sldNum" sz="quarter" idx="3"/>
          </p:nvPr>
        </p:nvSpPr>
        <p:spPr bwMode="auto">
          <a:xfrm>
            <a:off x="388620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algn="r" eaLnBrk="1" hangingPunct="1">
              <a:defRPr sz="1200"/>
            </a:lvl1pPr>
          </a:lstStyle>
          <a:p>
            <a:fld id="{5FB9E71A-E6C8-4FD3-B040-DCC6247393BF}" type="slidenum">
              <a:rPr lang="en-US" altLang="en-US"/>
              <a:pPr/>
              <a:t>‹#›</a:t>
            </a:fld>
            <a:endParaRPr lang="en-US" altLang="en-US"/>
          </a:p>
        </p:txBody>
      </p:sp>
    </p:spTree>
    <p:extLst>
      <p:ext uri="{BB962C8B-B14F-4D97-AF65-F5344CB8AC3E}">
        <p14:creationId xmlns:p14="http://schemas.microsoft.com/office/powerpoint/2010/main" val="1507465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mn-ea"/>
                <a:cs typeface="+mn-cs"/>
              </a:defRPr>
            </a:lvl1pPr>
          </a:lstStyle>
          <a:p>
            <a:pPr>
              <a:defRPr/>
            </a:pPr>
            <a:endParaRPr lang="en-US"/>
          </a:p>
        </p:txBody>
      </p:sp>
      <p:sp>
        <p:nvSpPr>
          <p:cNvPr id="368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9DD8956B-8F79-4131-A174-E4232C945132}" type="slidenum">
              <a:rPr lang="en-US" altLang="en-US"/>
              <a:pPr/>
              <a:t>‹#›</a:t>
            </a:fld>
            <a:endParaRPr lang="en-US" altLang="en-US"/>
          </a:p>
        </p:txBody>
      </p:sp>
    </p:spTree>
    <p:extLst>
      <p:ext uri="{BB962C8B-B14F-4D97-AF65-F5344CB8AC3E}">
        <p14:creationId xmlns:p14="http://schemas.microsoft.com/office/powerpoint/2010/main" val="33273619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F8291B67-3F66-48AD-84A5-EFAB6B2922B6}" type="slidenum">
              <a:rPr lang="en-US" altLang="en-US" sz="1200">
                <a:latin typeface="Arial" panose="020B0604020202020204" pitchFamily="34" charset="0"/>
              </a:rPr>
              <a:pPr/>
              <a:t>3</a:t>
            </a:fld>
            <a:endParaRPr lang="en-US" altLang="en-US" sz="1200">
              <a:latin typeface="Arial" panose="020B0604020202020204" pitchFamily="34"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lvl="1"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33388023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73126BE9-34FF-4F72-A810-E7E53E011A3D}" type="slidenum">
              <a:rPr lang="en-US" altLang="en-US" sz="1200">
                <a:latin typeface="Arial" panose="020B0604020202020204" pitchFamily="34" charset="0"/>
              </a:rPr>
              <a:pPr/>
              <a:t>4</a:t>
            </a:fld>
            <a:endParaRPr lang="en-US" altLang="en-US" sz="1200">
              <a:latin typeface="Arial" panose="020B0604020202020204" pitchFamily="34"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4283250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5B264196-3642-4C86-89D6-78CB00668762}" type="slidenum">
              <a:rPr lang="en-US" altLang="en-US" sz="1200">
                <a:latin typeface="Arial" panose="020B0604020202020204" pitchFamily="34" charset="0"/>
              </a:rPr>
              <a:pPr/>
              <a:t>5</a:t>
            </a:fld>
            <a:endParaRPr lang="en-US" altLang="en-US" sz="1200">
              <a:latin typeface="Arial" panose="020B0604020202020204" pitchFamily="34"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Define, discuss, and describe the three main functions of the digestive system.</a:t>
            </a:r>
          </a:p>
          <a:p>
            <a:pPr eaLnBrk="1" hangingPunct="1"/>
            <a:r>
              <a:rPr lang="en-US" altLang="en-US">
                <a:latin typeface="Times New Roman" panose="02020603050405020304" pitchFamily="18" charset="0"/>
              </a:rPr>
              <a:t>What are enzymes? </a:t>
            </a:r>
          </a:p>
          <a:p>
            <a:pPr eaLnBrk="1" hangingPunct="1"/>
            <a:r>
              <a:rPr lang="en-US" altLang="en-US">
                <a:latin typeface="Times New Roman" panose="02020603050405020304" pitchFamily="18" charset="0"/>
              </a:rPr>
              <a:t>What function do they serve in the digestive process?</a:t>
            </a:r>
          </a:p>
        </p:txBody>
      </p:sp>
    </p:spTree>
    <p:extLst>
      <p:ext uri="{BB962C8B-B14F-4D97-AF65-F5344CB8AC3E}">
        <p14:creationId xmlns:p14="http://schemas.microsoft.com/office/powerpoint/2010/main" val="3378714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BA9421E-65A8-4F96-B8B7-925401C3FDDE}" type="slidenum">
              <a:rPr lang="en-US" altLang="en-US" sz="1200">
                <a:latin typeface="Arial" panose="020B0604020202020204" pitchFamily="34" charset="0"/>
              </a:rPr>
              <a:pPr/>
              <a:t>6</a:t>
            </a:fld>
            <a:endParaRPr lang="en-US" altLang="en-US" sz="1200">
              <a:latin typeface="Arial" panose="020B0604020202020204" pitchFamily="34"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175705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1E0572C9-EB0D-4B5B-8BDD-33BD3167B7B0}" type="slidenum">
              <a:rPr lang="en-US" altLang="en-US" sz="1200">
                <a:latin typeface="Arial" panose="020B0604020202020204" pitchFamily="34" charset="0"/>
              </a:rPr>
              <a:pPr/>
              <a:t>7</a:t>
            </a:fld>
            <a:endParaRPr lang="en-US" altLang="en-US" sz="1200">
              <a:latin typeface="Arial" panose="020B0604020202020204" pitchFamily="34"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1691087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8C74A921-FB95-429D-B048-0BB62329E9A1}" type="slidenum">
              <a:rPr lang="en-US" altLang="en-US" sz="1200">
                <a:latin typeface="Arial" panose="020B0604020202020204" pitchFamily="34" charset="0"/>
              </a:rPr>
              <a:pPr/>
              <a:t>8</a:t>
            </a:fld>
            <a:endParaRPr lang="en-US" altLang="en-US" sz="1200">
              <a:latin typeface="Arial" panose="020B0604020202020204" pitchFamily="34"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2004520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4C8AD948-68ED-48A3-B5EE-DA8D33D72F50}" type="slidenum">
              <a:rPr lang="en-US" altLang="en-US" sz="1200">
                <a:latin typeface="Arial" panose="020B0604020202020204" pitchFamily="34" charset="0"/>
              </a:rPr>
              <a:pPr/>
              <a:t>9</a:t>
            </a:fld>
            <a:endParaRPr lang="en-US" altLang="en-US" sz="1200">
              <a:latin typeface="Arial" panose="020B0604020202020204" pitchFamily="34" charset="0"/>
            </a:endParaRPr>
          </a:p>
        </p:txBody>
      </p:sp>
      <p:sp>
        <p:nvSpPr>
          <p:cNvPr id="93187" name="Rectangle 4"/>
          <p:cNvSpPr>
            <a:spLocks noGrp="1" noRot="1" noChangeAspect="1" noChangeArrowheads="1" noTextEdit="1"/>
          </p:cNvSpPr>
          <p:nvPr>
            <p:ph type="sldImg"/>
          </p:nvPr>
        </p:nvSpPr>
        <p:spPr>
          <a:ln/>
        </p:spPr>
      </p:sp>
      <p:sp>
        <p:nvSpPr>
          <p:cNvPr id="93188" name="Rectangle 5"/>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In which major systems of the digestive tract do digestion, absorption, and elimination occur?</a:t>
            </a:r>
          </a:p>
        </p:txBody>
      </p:sp>
    </p:spTree>
    <p:extLst>
      <p:ext uri="{BB962C8B-B14F-4D97-AF65-F5344CB8AC3E}">
        <p14:creationId xmlns:p14="http://schemas.microsoft.com/office/powerpoint/2010/main" val="9689263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1541D34A-CD00-4AEB-883E-542C065B2A2A}" type="slidenum">
              <a:rPr lang="en-US" altLang="en-US" sz="1200">
                <a:latin typeface="Arial" panose="020B0604020202020204" pitchFamily="34" charset="0"/>
              </a:rPr>
              <a:pPr/>
              <a:t>10</a:t>
            </a:fld>
            <a:endParaRPr lang="en-US" altLang="en-US" sz="1200">
              <a:latin typeface="Arial" panose="020B0604020202020204" pitchFamily="34"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rPr>
              <a:t>Quiz students to complete labels. </a:t>
            </a:r>
          </a:p>
          <a:p>
            <a:pPr eaLnBrk="1" hangingPunct="1"/>
            <a:r>
              <a:rPr lang="en-US" altLang="en-US" dirty="0">
                <a:latin typeface="Times New Roman" panose="02020603050405020304" pitchFamily="18" charset="0"/>
              </a:rPr>
              <a:t>What is mastication?</a:t>
            </a:r>
          </a:p>
          <a:p>
            <a:pPr eaLnBrk="1" hangingPunct="1"/>
            <a:r>
              <a:rPr lang="en-US" altLang="en-US" dirty="0">
                <a:latin typeface="Times New Roman" panose="02020603050405020304" pitchFamily="18" charset="0"/>
              </a:rPr>
              <a:t>What is deglutition?</a:t>
            </a:r>
          </a:p>
        </p:txBody>
      </p:sp>
    </p:spTree>
    <p:extLst>
      <p:ext uri="{BB962C8B-B14F-4D97-AF65-F5344CB8AC3E}">
        <p14:creationId xmlns:p14="http://schemas.microsoft.com/office/powerpoint/2010/main" val="4121000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latin typeface="Times New Roman" panose="02020603050405020304" pitchFamily="18" charset="0"/>
              </a:rPr>
              <a:t>Have the students check their answers. </a:t>
            </a:r>
          </a:p>
          <a:p>
            <a:pPr eaLnBrk="1" hangingPunct="1"/>
            <a:r>
              <a:rPr lang="en-US" altLang="en-US" dirty="0">
                <a:latin typeface="Times New Roman" panose="02020603050405020304" pitchFamily="18" charset="0"/>
              </a:rPr>
              <a:t>What is mastication?</a:t>
            </a:r>
          </a:p>
          <a:p>
            <a:pPr eaLnBrk="1" hangingPunct="1"/>
            <a:r>
              <a:rPr lang="en-US" altLang="en-US" dirty="0">
                <a:latin typeface="Times New Roman" panose="02020603050405020304" pitchFamily="18" charset="0"/>
              </a:rPr>
              <a:t>What is deglutition?</a:t>
            </a:r>
          </a:p>
          <a:p>
            <a:endParaRPr lang="es-419" dirty="0"/>
          </a:p>
        </p:txBody>
      </p:sp>
      <p:sp>
        <p:nvSpPr>
          <p:cNvPr id="4" name="Slide Number Placeholder 3"/>
          <p:cNvSpPr>
            <a:spLocks noGrp="1"/>
          </p:cNvSpPr>
          <p:nvPr>
            <p:ph type="sldNum" sz="quarter" idx="10"/>
          </p:nvPr>
        </p:nvSpPr>
        <p:spPr/>
        <p:txBody>
          <a:bodyPr/>
          <a:lstStyle/>
          <a:p>
            <a:fld id="{9DD8956B-8F79-4131-A174-E4232C945132}" type="slidenum">
              <a:rPr lang="en-US" altLang="en-US" smtClean="0"/>
              <a:pPr/>
              <a:t>11</a:t>
            </a:fld>
            <a:endParaRPr lang="en-US" altLang="en-US"/>
          </a:p>
        </p:txBody>
      </p:sp>
    </p:spTree>
    <p:extLst>
      <p:ext uri="{BB962C8B-B14F-4D97-AF65-F5344CB8AC3E}">
        <p14:creationId xmlns:p14="http://schemas.microsoft.com/office/powerpoint/2010/main" val="17971533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3D76960-C1D0-4F12-9D43-EFDCCA044B6F}" type="slidenum">
              <a:rPr lang="en-US" altLang="en-US" sz="1200">
                <a:latin typeface="Arial" panose="020B0604020202020204" pitchFamily="34" charset="0"/>
              </a:rPr>
              <a:pPr/>
              <a:t>12</a:t>
            </a:fld>
            <a:endParaRPr lang="en-US" altLang="en-US" sz="1200">
              <a:latin typeface="Arial" panose="020B0604020202020204" pitchFamily="34"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rPr>
              <a:t>Quiz students to complete labels.</a:t>
            </a:r>
          </a:p>
          <a:p>
            <a:pPr eaLnBrk="1" hangingPunct="1"/>
            <a:r>
              <a:rPr lang="en-US" altLang="en-US" dirty="0">
                <a:latin typeface="Times New Roman" panose="02020603050405020304" pitchFamily="18" charset="0"/>
              </a:rPr>
              <a:t>What is a root canal?</a:t>
            </a:r>
          </a:p>
          <a:p>
            <a:pPr eaLnBrk="1" hangingPunct="1"/>
            <a:r>
              <a:rPr lang="en-US" altLang="en-US" dirty="0">
                <a:latin typeface="Times New Roman" panose="02020603050405020304" pitchFamily="18" charset="0"/>
              </a:rPr>
              <a:t>Why is it performed?</a:t>
            </a:r>
          </a:p>
          <a:p>
            <a:pPr eaLnBrk="1" hangingPunct="1"/>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4034162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latin typeface="Times New Roman" panose="02020603050405020304" pitchFamily="18" charset="0"/>
              </a:rPr>
              <a:t>Have the students check their answers.</a:t>
            </a:r>
          </a:p>
          <a:p>
            <a:pPr eaLnBrk="1" hangingPunct="1"/>
            <a:r>
              <a:rPr lang="en-US" altLang="en-US" dirty="0">
                <a:latin typeface="Times New Roman" panose="02020603050405020304" pitchFamily="18" charset="0"/>
              </a:rPr>
              <a:t>What is a root canal? </a:t>
            </a:r>
          </a:p>
          <a:p>
            <a:pPr eaLnBrk="1" hangingPunct="1"/>
            <a:r>
              <a:rPr lang="en-US" altLang="en-US" dirty="0">
                <a:latin typeface="Times New Roman" panose="02020603050405020304" pitchFamily="18" charset="0"/>
              </a:rPr>
              <a:t>Why is it performed?</a:t>
            </a:r>
          </a:p>
          <a:p>
            <a:endParaRPr lang="es-419" dirty="0"/>
          </a:p>
        </p:txBody>
      </p:sp>
      <p:sp>
        <p:nvSpPr>
          <p:cNvPr id="4" name="Slide Number Placeholder 3"/>
          <p:cNvSpPr>
            <a:spLocks noGrp="1"/>
          </p:cNvSpPr>
          <p:nvPr>
            <p:ph type="sldNum" sz="quarter" idx="10"/>
          </p:nvPr>
        </p:nvSpPr>
        <p:spPr/>
        <p:txBody>
          <a:bodyPr/>
          <a:lstStyle/>
          <a:p>
            <a:fld id="{9DD8956B-8F79-4131-A174-E4232C945132}" type="slidenum">
              <a:rPr lang="en-US" altLang="en-US" smtClean="0"/>
              <a:pPr/>
              <a:t>13</a:t>
            </a:fld>
            <a:endParaRPr lang="en-US" altLang="en-US"/>
          </a:p>
        </p:txBody>
      </p:sp>
    </p:spTree>
    <p:extLst>
      <p:ext uri="{BB962C8B-B14F-4D97-AF65-F5344CB8AC3E}">
        <p14:creationId xmlns:p14="http://schemas.microsoft.com/office/powerpoint/2010/main" val="39756714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latin typeface="Times New Roman" panose="02020603050405020304" pitchFamily="18" charset="0"/>
              </a:rPr>
              <a:t>The pharynx is the common passageway for both air and food.</a:t>
            </a:r>
          </a:p>
          <a:p>
            <a:pPr eaLnBrk="1" hangingPunct="1"/>
            <a:r>
              <a:rPr lang="en-US" altLang="en-US" dirty="0">
                <a:latin typeface="Times New Roman" panose="02020603050405020304" pitchFamily="18" charset="0"/>
              </a:rPr>
              <a:t>What potential problems do you see with this arrangement?</a:t>
            </a:r>
          </a:p>
          <a:p>
            <a:pPr eaLnBrk="1" hangingPunct="1"/>
            <a:r>
              <a:rPr lang="en-US" altLang="en-US" dirty="0">
                <a:latin typeface="Times New Roman" panose="02020603050405020304" pitchFamily="18" charset="0"/>
              </a:rPr>
              <a:t>How does the body address this problem?</a:t>
            </a:r>
          </a:p>
          <a:p>
            <a:endParaRPr lang="es-419" dirty="0"/>
          </a:p>
        </p:txBody>
      </p:sp>
      <p:sp>
        <p:nvSpPr>
          <p:cNvPr id="4" name="Slide Number Placeholder 3"/>
          <p:cNvSpPr>
            <a:spLocks noGrp="1"/>
          </p:cNvSpPr>
          <p:nvPr>
            <p:ph type="sldNum" sz="quarter" idx="10"/>
          </p:nvPr>
        </p:nvSpPr>
        <p:spPr/>
        <p:txBody>
          <a:bodyPr/>
          <a:lstStyle/>
          <a:p>
            <a:fld id="{9DD8956B-8F79-4131-A174-E4232C945132}" type="slidenum">
              <a:rPr lang="en-US" altLang="en-US" smtClean="0"/>
              <a:pPr/>
              <a:t>14</a:t>
            </a:fld>
            <a:endParaRPr lang="en-US" altLang="en-US"/>
          </a:p>
        </p:txBody>
      </p:sp>
    </p:spTree>
    <p:extLst>
      <p:ext uri="{BB962C8B-B14F-4D97-AF65-F5344CB8AC3E}">
        <p14:creationId xmlns:p14="http://schemas.microsoft.com/office/powerpoint/2010/main" val="20801265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AD48BCE-4125-424B-A0DF-1D3269A96C89}" type="slidenum">
              <a:rPr lang="en-US" altLang="en-US" sz="1200">
                <a:latin typeface="Arial" panose="020B0604020202020204" pitchFamily="34" charset="0"/>
              </a:rPr>
              <a:pPr/>
              <a:t>15</a:t>
            </a:fld>
            <a:endParaRPr lang="en-US" altLang="en-US" sz="1200">
              <a:latin typeface="Arial" panose="020B0604020202020204" pitchFamily="34"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esophagus is a 9- or 10-inch muscular tube that extends from the pharynx to the stomach.</a:t>
            </a:r>
          </a:p>
          <a:p>
            <a:pPr eaLnBrk="1" hangingPunct="1"/>
            <a:r>
              <a:rPr lang="en-US" altLang="en-US">
                <a:latin typeface="Times New Roman" panose="02020603050405020304" pitchFamily="18" charset="0"/>
              </a:rPr>
              <a:t>What is a bolus?</a:t>
            </a:r>
          </a:p>
          <a:p>
            <a:pPr eaLnBrk="1" hangingPunct="1"/>
            <a:r>
              <a:rPr lang="en-US" altLang="en-US">
                <a:latin typeface="Times New Roman" panose="02020603050405020304" pitchFamily="18" charset="0"/>
              </a:rPr>
              <a:t>How does the esophagus move the bolus toward the stomach?</a:t>
            </a:r>
          </a:p>
          <a:p>
            <a:pPr eaLnBrk="1" hangingPunct="1"/>
            <a:r>
              <a:rPr lang="en-US" altLang="en-US">
                <a:latin typeface="Times New Roman" panose="02020603050405020304" pitchFamily="18" charset="0"/>
              </a:rPr>
              <a:t>What are the three parts of the stomach and what are their functions?</a:t>
            </a:r>
          </a:p>
        </p:txBody>
      </p:sp>
    </p:spTree>
    <p:extLst>
      <p:ext uri="{BB962C8B-B14F-4D97-AF65-F5344CB8AC3E}">
        <p14:creationId xmlns:p14="http://schemas.microsoft.com/office/powerpoint/2010/main" val="31578870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1DC51335-4E7B-44DE-B4DB-A042CD2471C9}" type="slidenum">
              <a:rPr lang="en-US" altLang="en-US" sz="1200">
                <a:latin typeface="Arial" panose="020B0604020202020204" pitchFamily="34" charset="0"/>
              </a:rPr>
              <a:pPr/>
              <a:t>16</a:t>
            </a:fld>
            <a:endParaRPr lang="en-US" altLang="en-US" sz="1200">
              <a:latin typeface="Arial" panose="020B0604020202020204" pitchFamily="34"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esophagus is a 9- or 10-inch muscular tube that extends from the pharynx to the stomach.</a:t>
            </a:r>
          </a:p>
          <a:p>
            <a:pPr eaLnBrk="1" hangingPunct="1"/>
            <a:r>
              <a:rPr lang="en-US" altLang="en-US">
                <a:latin typeface="Times New Roman" panose="02020603050405020304" pitchFamily="18" charset="0"/>
              </a:rPr>
              <a:t>What is a bolus?</a:t>
            </a:r>
          </a:p>
          <a:p>
            <a:pPr eaLnBrk="1" hangingPunct="1"/>
            <a:r>
              <a:rPr lang="en-US" altLang="en-US">
                <a:latin typeface="Times New Roman" panose="02020603050405020304" pitchFamily="18" charset="0"/>
              </a:rPr>
              <a:t>How does the esophagus move the bolus toward the stomach?</a:t>
            </a:r>
          </a:p>
          <a:p>
            <a:pPr eaLnBrk="1" hangingPunct="1"/>
            <a:r>
              <a:rPr lang="en-US" altLang="en-US">
                <a:latin typeface="Times New Roman" panose="02020603050405020304" pitchFamily="18" charset="0"/>
              </a:rPr>
              <a:t>What are the three parts of the stomach and what are their functions?</a:t>
            </a:r>
          </a:p>
        </p:txBody>
      </p:sp>
    </p:spTree>
    <p:extLst>
      <p:ext uri="{BB962C8B-B14F-4D97-AF65-F5344CB8AC3E}">
        <p14:creationId xmlns:p14="http://schemas.microsoft.com/office/powerpoint/2010/main" val="30141018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126A9D4C-5EAD-4F89-82E0-14EE9E0B7209}" type="slidenum">
              <a:rPr lang="en-US" altLang="en-US" sz="1200">
                <a:latin typeface="Arial" panose="020B0604020202020204" pitchFamily="34" charset="0"/>
              </a:rPr>
              <a:pPr/>
              <a:t>17</a:t>
            </a:fld>
            <a:endParaRPr lang="en-US" altLang="en-US" sz="1200">
              <a:latin typeface="Arial" panose="020B0604020202020204" pitchFamily="34" charset="0"/>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rPr>
              <a:t>Quiz students to complete labels.</a:t>
            </a:r>
          </a:p>
          <a:p>
            <a:pPr eaLnBrk="1" hangingPunct="1"/>
            <a:r>
              <a:rPr lang="en-US" altLang="en-US" dirty="0">
                <a:latin typeface="Times New Roman" panose="02020603050405020304" pitchFamily="18" charset="0"/>
              </a:rPr>
              <a:t>What is the name of the pigment produced from the breakdown of hemoglobin during red blood cell destruction?</a:t>
            </a:r>
          </a:p>
          <a:p>
            <a:pPr eaLnBrk="1" hangingPunct="1"/>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2224452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4CD5E5DE-AE92-4B3C-8569-7747344F6B5F}" type="slidenum">
              <a:rPr lang="en-US" altLang="en-US" sz="1200">
                <a:latin typeface="Arial" panose="020B0604020202020204" pitchFamily="34" charset="0"/>
              </a:rPr>
              <a:pPr/>
              <a:t>18</a:t>
            </a:fld>
            <a:endParaRPr lang="en-US" altLang="en-US" sz="1200">
              <a:latin typeface="Arial" panose="020B0604020202020204" pitchFamily="34" charset="0"/>
            </a:endParaRP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Have the students check their answers. </a:t>
            </a:r>
          </a:p>
          <a:p>
            <a:pPr eaLnBrk="1" hangingPunct="1"/>
            <a:r>
              <a:rPr lang="en-US" altLang="en-US">
                <a:latin typeface="Times New Roman" panose="02020603050405020304" pitchFamily="18" charset="0"/>
              </a:rPr>
              <a:t>What is the name of the pigment produced from the breakdown of hemoglobin during red blood cell destruction?</a:t>
            </a: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5496210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4829BC06-A9B0-405C-96BE-3B5BB12EF762}" type="slidenum">
              <a:rPr lang="en-US" altLang="en-US" sz="1200">
                <a:latin typeface="Arial" panose="020B0604020202020204" pitchFamily="34" charset="0"/>
              </a:rPr>
              <a:pPr/>
              <a:t>19</a:t>
            </a:fld>
            <a:endParaRPr lang="en-US" altLang="en-US" sz="1200">
              <a:latin typeface="Arial" panose="020B0604020202020204" pitchFamily="34"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What is the function of the villi?</a:t>
            </a: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40341751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6BAA60D3-D163-41A0-867D-DCB75CBAC820}" type="slidenum">
              <a:rPr lang="en-US" altLang="en-US" sz="1200">
                <a:latin typeface="Arial" panose="020B0604020202020204" pitchFamily="34" charset="0"/>
              </a:rPr>
              <a:pPr/>
              <a:t>20</a:t>
            </a:fld>
            <a:endParaRPr lang="en-US" altLang="en-US" sz="1200">
              <a:latin typeface="Arial" panose="020B0604020202020204" pitchFamily="34" charset="0"/>
            </a:endParaRP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Also known as the colon.</a:t>
            </a:r>
          </a:p>
          <a:p>
            <a:pPr eaLnBrk="1" hangingPunct="1"/>
            <a:r>
              <a:rPr lang="en-US" altLang="en-US">
                <a:latin typeface="Times New Roman" panose="02020603050405020304" pitchFamily="18" charset="0"/>
              </a:rPr>
              <a:t>The large intestine extends from the end of the ileum to the anus.</a:t>
            </a:r>
          </a:p>
          <a:p>
            <a:pPr eaLnBrk="1" hangingPunct="1"/>
            <a:r>
              <a:rPr lang="en-US" altLang="en-US">
                <a:latin typeface="Times New Roman" panose="02020603050405020304" pitchFamily="18" charset="0"/>
              </a:rPr>
              <a:t>The large intestine receives the fluid waste from digestion and stores it until it can be released from the body. </a:t>
            </a:r>
          </a:p>
          <a:p>
            <a:pPr eaLnBrk="1" hangingPunct="1"/>
            <a:r>
              <a:rPr lang="en-US" altLang="en-US">
                <a:latin typeface="Times New Roman" panose="02020603050405020304" pitchFamily="18" charset="0"/>
              </a:rPr>
              <a:t>What are the three sections of the colon and what are their functions?</a:t>
            </a: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3271961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11859E73-3A73-426B-80FE-CFB029E3529C}" type="slidenum">
              <a:rPr lang="en-US" altLang="en-US" sz="1200">
                <a:latin typeface="Arial" panose="020B0604020202020204" pitchFamily="34" charset="0"/>
              </a:rPr>
              <a:pPr/>
              <a:t>21</a:t>
            </a:fld>
            <a:endParaRPr lang="en-US" altLang="en-US" sz="1200">
              <a:latin typeface="Arial" panose="020B0604020202020204" pitchFamily="34" charset="0"/>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Also known as the colon.</a:t>
            </a:r>
          </a:p>
          <a:p>
            <a:pPr eaLnBrk="1" hangingPunct="1"/>
            <a:r>
              <a:rPr lang="en-US" altLang="en-US">
                <a:latin typeface="Times New Roman" panose="02020603050405020304" pitchFamily="18" charset="0"/>
              </a:rPr>
              <a:t>The large intestine extends from the end of the ileum to the anus.</a:t>
            </a:r>
          </a:p>
          <a:p>
            <a:pPr eaLnBrk="1" hangingPunct="1"/>
            <a:r>
              <a:rPr lang="en-US" altLang="en-US">
                <a:latin typeface="Times New Roman" panose="02020603050405020304" pitchFamily="18" charset="0"/>
              </a:rPr>
              <a:t>The large intestine receives the fluid waste from digestion and stores it until it can be released from the body. </a:t>
            </a:r>
          </a:p>
          <a:p>
            <a:pPr eaLnBrk="1" hangingPunct="1"/>
            <a:r>
              <a:rPr lang="en-US" altLang="en-US">
                <a:latin typeface="Times New Roman" panose="02020603050405020304" pitchFamily="18" charset="0"/>
              </a:rPr>
              <a:t>What are the three sections of the colon and what are their functions?</a:t>
            </a: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41913233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6882D05F-7D43-42E9-965C-A6CF3B896CD5}" type="slidenum">
              <a:rPr lang="en-US" altLang="en-US" sz="1200">
                <a:latin typeface="Arial" panose="020B0604020202020204" pitchFamily="34" charset="0"/>
              </a:rPr>
              <a:pPr/>
              <a:t>22</a:t>
            </a:fld>
            <a:endParaRPr lang="en-US" altLang="en-US" sz="1200">
              <a:latin typeface="Arial" panose="020B0604020202020204" pitchFamily="34" charset="0"/>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rPr>
              <a:t>Quiz students to complete the labels in this figure.</a:t>
            </a:r>
          </a:p>
          <a:p>
            <a:pPr eaLnBrk="1" hangingPunct="1"/>
            <a:r>
              <a:rPr lang="en-US" altLang="en-US" dirty="0">
                <a:latin typeface="Times New Roman" panose="02020603050405020304" pitchFamily="18" charset="0"/>
              </a:rPr>
              <a:t>What is emulsification?</a:t>
            </a:r>
          </a:p>
        </p:txBody>
      </p:sp>
    </p:spTree>
    <p:extLst>
      <p:ext uri="{BB962C8B-B14F-4D97-AF65-F5344CB8AC3E}">
        <p14:creationId xmlns:p14="http://schemas.microsoft.com/office/powerpoint/2010/main" val="19155209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01307022-F598-476A-96D9-503D05BF6ECD}" type="slidenum">
              <a:rPr lang="en-US" altLang="en-US" sz="1200">
                <a:latin typeface="Arial" panose="020B0604020202020204" pitchFamily="34" charset="0"/>
              </a:rPr>
              <a:pPr/>
              <a:t>23</a:t>
            </a:fld>
            <a:endParaRPr lang="en-US" altLang="en-US" sz="1200">
              <a:latin typeface="Arial" panose="020B0604020202020204" pitchFamily="34" charset="0"/>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Have the students check their answers.</a:t>
            </a:r>
          </a:p>
          <a:p>
            <a:pPr eaLnBrk="1" hangingPunct="1"/>
            <a:r>
              <a:rPr lang="en-US" altLang="en-US">
                <a:latin typeface="Times New Roman" panose="02020603050405020304" pitchFamily="18" charset="0"/>
              </a:rPr>
              <a:t>What is emulsification?</a:t>
            </a:r>
          </a:p>
        </p:txBody>
      </p:sp>
    </p:spTree>
    <p:extLst>
      <p:ext uri="{BB962C8B-B14F-4D97-AF65-F5344CB8AC3E}">
        <p14:creationId xmlns:p14="http://schemas.microsoft.com/office/powerpoint/2010/main" val="10121606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15E0DE08-C73C-45A9-8043-7E6E3750646F}" type="slidenum">
              <a:rPr lang="en-US" altLang="en-US" sz="1200">
                <a:latin typeface="Arial" panose="020B0604020202020204" pitchFamily="34" charset="0"/>
              </a:rPr>
              <a:pPr/>
              <a:t>24</a:t>
            </a:fld>
            <a:endParaRPr lang="en-US" altLang="en-US" sz="1200">
              <a:latin typeface="Arial" panose="020B0604020202020204" pitchFamily="34" charset="0"/>
            </a:endParaRPr>
          </a:p>
        </p:txBody>
      </p:sp>
      <p:sp>
        <p:nvSpPr>
          <p:cNvPr id="112643" name="Rectangle 2"/>
          <p:cNvSpPr>
            <a:spLocks noGrp="1" noRot="1" noChangeAspect="1" noChangeArrowheads="1" noTextEdit="1"/>
          </p:cNvSpPr>
          <p:nvPr>
            <p:ph type="sldImg"/>
          </p:nvPr>
        </p:nvSpPr>
        <p:spPr>
          <a:solidFill>
            <a:srgbClr val="FFFFFF"/>
          </a:solidFill>
          <a:ln/>
        </p:spPr>
      </p:sp>
      <p:sp>
        <p:nvSpPr>
          <p:cNvPr id="112644"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Times New Roman" panose="02020603050405020304" pitchFamily="18" charset="0"/>
              </a:rPr>
              <a:t>How does the liver maintain blood glucose levels?</a:t>
            </a:r>
          </a:p>
        </p:txBody>
      </p:sp>
    </p:spTree>
    <p:extLst>
      <p:ext uri="{BB962C8B-B14F-4D97-AF65-F5344CB8AC3E}">
        <p14:creationId xmlns:p14="http://schemas.microsoft.com/office/powerpoint/2010/main" val="1287013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76CF7EFE-F678-4B4F-AE2F-CFC19265A628}" type="slidenum">
              <a:rPr lang="en-US" altLang="en-US" sz="1200">
                <a:latin typeface="Arial" panose="020B0604020202020204" pitchFamily="34" charset="0"/>
              </a:rPr>
              <a:pPr/>
              <a:t>25</a:t>
            </a:fld>
            <a:endParaRPr lang="en-US" altLang="en-US" sz="1200">
              <a:latin typeface="Arial" panose="020B0604020202020204" pitchFamily="34"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C: hyperbilirubinemia (jaundice). Hyperbilirubinemia can show yellow discoloration of the skin, whites of the eyes, and mucous membranes.</a:t>
            </a:r>
          </a:p>
        </p:txBody>
      </p:sp>
    </p:spTree>
    <p:extLst>
      <p:ext uri="{BB962C8B-B14F-4D97-AF65-F5344CB8AC3E}">
        <p14:creationId xmlns:p14="http://schemas.microsoft.com/office/powerpoint/2010/main" val="12801029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83188229-ADD5-495C-9295-12B6340878F1}" type="slidenum">
              <a:rPr lang="en-US" altLang="en-US" sz="1200">
                <a:latin typeface="Arial" panose="020B0604020202020204" pitchFamily="34" charset="0"/>
              </a:rPr>
              <a:pPr/>
              <a:t>26</a:t>
            </a:fld>
            <a:endParaRPr lang="en-US" altLang="en-US" sz="1200">
              <a:latin typeface="Arial" panose="020B0604020202020204" pitchFamily="34" charset="0"/>
            </a:endParaRPr>
          </a:p>
        </p:txBody>
      </p:sp>
      <p:sp>
        <p:nvSpPr>
          <p:cNvPr id="114691" name="Rectangle 2"/>
          <p:cNvSpPr>
            <a:spLocks noGrp="1" noRot="1" noChangeAspect="1" noChangeArrowheads="1" noTextEdit="1"/>
          </p:cNvSpPr>
          <p:nvPr>
            <p:ph type="sldImg"/>
          </p:nvPr>
        </p:nvSpPr>
        <p:spPr>
          <a:solidFill>
            <a:srgbClr val="FFFFFF"/>
          </a:solidFill>
          <a:ln/>
        </p:spPr>
      </p:sp>
      <p:sp>
        <p:nvSpPr>
          <p:cNvPr id="114692"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Times New Roman" panose="02020603050405020304" pitchFamily="18" charset="0"/>
              </a:rPr>
              <a:t>The pancreas is both an exocrine and endocrine organ.</a:t>
            </a:r>
          </a:p>
          <a:p>
            <a:pPr eaLnBrk="1" hangingPunct="1"/>
            <a:r>
              <a:rPr lang="en-US" altLang="en-US">
                <a:latin typeface="Times New Roman" panose="02020603050405020304" pitchFamily="18" charset="0"/>
              </a:rPr>
              <a:t>As an exocrine organ, it produces enzymes to digest starch (amylase), fat (lipase), and proteins (protease).</a:t>
            </a:r>
          </a:p>
          <a:p>
            <a:pPr eaLnBrk="1" hangingPunct="1"/>
            <a:r>
              <a:rPr lang="en-US" altLang="en-US">
                <a:latin typeface="Times New Roman" panose="02020603050405020304" pitchFamily="18" charset="0"/>
              </a:rPr>
              <a:t>As an endocrine organ it secretes insulin.</a:t>
            </a:r>
          </a:p>
          <a:p>
            <a:pPr eaLnBrk="1" hangingPunct="1"/>
            <a:r>
              <a:rPr lang="en-US" altLang="en-US">
                <a:latin typeface="Times New Roman" panose="02020603050405020304" pitchFamily="18" charset="0"/>
              </a:rPr>
              <a:t>What is the function of insulin?</a:t>
            </a:r>
          </a:p>
        </p:txBody>
      </p:sp>
    </p:spTree>
    <p:extLst>
      <p:ext uri="{BB962C8B-B14F-4D97-AF65-F5344CB8AC3E}">
        <p14:creationId xmlns:p14="http://schemas.microsoft.com/office/powerpoint/2010/main" val="42509382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82841803-D426-4718-B5EE-F1331CD437D8}" type="slidenum">
              <a:rPr lang="en-US" altLang="en-US" sz="1200">
                <a:latin typeface="Arial" panose="020B0604020202020204" pitchFamily="34" charset="0"/>
              </a:rPr>
              <a:pPr/>
              <a:t>27</a:t>
            </a:fld>
            <a:endParaRPr lang="en-US" altLang="en-US" sz="1200">
              <a:latin typeface="Arial" panose="020B0604020202020204" pitchFamily="34" charset="0"/>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Quiz students by having them complete the flow chart of how food progresses through the GI tract.</a:t>
            </a:r>
          </a:p>
        </p:txBody>
      </p:sp>
    </p:spTree>
    <p:extLst>
      <p:ext uri="{BB962C8B-B14F-4D97-AF65-F5344CB8AC3E}">
        <p14:creationId xmlns:p14="http://schemas.microsoft.com/office/powerpoint/2010/main" val="37357836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BBDCE336-1937-443C-B40A-62CA5CDEB918}" type="slidenum">
              <a:rPr lang="en-US" altLang="en-US" sz="1200">
                <a:latin typeface="Arial" panose="020B0604020202020204" pitchFamily="34" charset="0"/>
              </a:rPr>
              <a:pPr/>
              <a:t>28</a:t>
            </a:fld>
            <a:endParaRPr lang="en-US" altLang="en-US" sz="1200">
              <a:latin typeface="Arial" panose="020B0604020202020204" pitchFamily="34" charset="0"/>
            </a:endParaRPr>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27604523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E3590323-BAE3-4474-95A9-EBAA8F60D3DF}" type="slidenum">
              <a:rPr lang="en-US" altLang="en-US" sz="1200">
                <a:latin typeface="Arial" panose="020B0604020202020204" pitchFamily="34" charset="0"/>
              </a:rPr>
              <a:pPr/>
              <a:t>29</a:t>
            </a:fld>
            <a:endParaRPr lang="en-US" altLang="en-US" sz="1200">
              <a:latin typeface="Arial" panose="020B0604020202020204" pitchFamily="34"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A: the cecum.  </a:t>
            </a:r>
          </a:p>
        </p:txBody>
      </p:sp>
    </p:spTree>
    <p:extLst>
      <p:ext uri="{BB962C8B-B14F-4D97-AF65-F5344CB8AC3E}">
        <p14:creationId xmlns:p14="http://schemas.microsoft.com/office/powerpoint/2010/main" val="28298336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0D07F5CF-12AC-4462-8036-112E8154A083}" type="slidenum">
              <a:rPr lang="en-US" altLang="en-US" sz="1200">
                <a:latin typeface="Arial" panose="020B0604020202020204" pitchFamily="34" charset="0"/>
              </a:rPr>
              <a:pPr/>
              <a:t>30</a:t>
            </a:fld>
            <a:endParaRPr lang="en-US" altLang="en-US" sz="1200">
              <a:latin typeface="Arial" panose="020B0604020202020204" pitchFamily="34" charset="0"/>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B: deglutition.  </a:t>
            </a:r>
          </a:p>
        </p:txBody>
      </p:sp>
    </p:spTree>
    <p:extLst>
      <p:ext uri="{BB962C8B-B14F-4D97-AF65-F5344CB8AC3E}">
        <p14:creationId xmlns:p14="http://schemas.microsoft.com/office/powerpoint/2010/main" val="22603313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489B9DA4-C8D1-483F-8CBF-32D92977559E}" type="slidenum">
              <a:rPr lang="en-US" altLang="en-US" sz="1200">
                <a:latin typeface="Arial" panose="020B0604020202020204" pitchFamily="34" charset="0"/>
              </a:rPr>
              <a:pPr/>
              <a:t>54</a:t>
            </a:fld>
            <a:endParaRPr lang="en-US" altLang="en-US" sz="1200">
              <a:latin typeface="Arial" panose="020B0604020202020204" pitchFamily="34" charset="0"/>
            </a:endParaRPr>
          </a:p>
        </p:txBody>
      </p:sp>
      <p:sp>
        <p:nvSpPr>
          <p:cNvPr id="125955" name="Rectangle 2"/>
          <p:cNvSpPr>
            <a:spLocks noGrp="1" noRot="1" noChangeAspect="1" noChangeArrowheads="1" noTextEdit="1"/>
          </p:cNvSpPr>
          <p:nvPr>
            <p:ph type="sldImg"/>
          </p:nvPr>
        </p:nvSpPr>
        <p:spPr>
          <a:solidFill>
            <a:srgbClr val="FFFFFF"/>
          </a:solidFill>
          <a:ln/>
        </p:spPr>
      </p:sp>
      <p:sp>
        <p:nvSpPr>
          <p:cNvPr id="125956"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Times New Roman" panose="02020603050405020304" pitchFamily="18" charset="0"/>
              </a:rPr>
              <a:t>When -stomy is used with two or more combining forms for organs, it means the surgical creation of an opening between those organs inside the body.</a:t>
            </a:r>
          </a:p>
          <a:p>
            <a:pPr eaLnBrk="1" hangingPunct="1"/>
            <a:r>
              <a:rPr lang="en-US" altLang="en-US">
                <a:latin typeface="Times New Roman" panose="02020603050405020304" pitchFamily="18" charset="0"/>
              </a:rPr>
              <a:t>Anastomosis is the surgical connection between two body parts such as vessels, ducts, or bowel segments.</a:t>
            </a:r>
          </a:p>
          <a:p>
            <a:pPr eaLnBrk="1" hangingPunct="1"/>
            <a:r>
              <a:rPr lang="en-US" altLang="en-US">
                <a:latin typeface="Times New Roman" panose="02020603050405020304" pitchFamily="18" charset="0"/>
              </a:rPr>
              <a:t>In what other places might anastomoses be made?</a:t>
            </a: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0708823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535DCD3-0C6F-4791-B867-D548B8A79D1A}" type="slidenum">
              <a:rPr lang="en-US" altLang="en-US" sz="1200">
                <a:latin typeface="Arial" panose="020B0604020202020204" pitchFamily="34" charset="0"/>
              </a:rPr>
              <a:pPr/>
              <a:t>55</a:t>
            </a:fld>
            <a:endParaRPr lang="en-US" altLang="en-US" sz="1200">
              <a:latin typeface="Arial" panose="020B0604020202020204" pitchFamily="34" charset="0"/>
            </a:endParaRPr>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rPr>
              <a:t>The correct answer is D: </a:t>
            </a:r>
            <a:r>
              <a:rPr lang="en-US" altLang="en-US" dirty="0" err="1">
                <a:latin typeface="Times New Roman" panose="02020603050405020304" pitchFamily="18" charset="0"/>
              </a:rPr>
              <a:t>cheilitis</a:t>
            </a:r>
            <a:r>
              <a:rPr lang="en-US" altLang="en-US" dirty="0">
                <a:latin typeface="Times New Roman" panose="02020603050405020304" pitchFamily="18" charset="0"/>
              </a:rPr>
              <a:t>.  </a:t>
            </a:r>
          </a:p>
        </p:txBody>
      </p:sp>
    </p:spTree>
    <p:extLst>
      <p:ext uri="{BB962C8B-B14F-4D97-AF65-F5344CB8AC3E}">
        <p14:creationId xmlns:p14="http://schemas.microsoft.com/office/powerpoint/2010/main" val="35898333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5A1C7E90-4703-424E-8BB8-2DDCB144FAFA}" type="slidenum">
              <a:rPr lang="en-US" altLang="en-US" sz="1200">
                <a:latin typeface="Arial" panose="020B0604020202020204" pitchFamily="34" charset="0"/>
              </a:rPr>
              <a:pPr/>
              <a:t>56</a:t>
            </a:fld>
            <a:endParaRPr lang="en-US" altLang="en-US" sz="1200">
              <a:latin typeface="Arial" panose="020B0604020202020204" pitchFamily="34" charset="0"/>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3734683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1FD1B58B-6DEC-4856-8F97-710F21D420C5}" type="slidenum">
              <a:rPr lang="en-US" altLang="en-US" sz="1200">
                <a:latin typeface="Arial" panose="020B0604020202020204" pitchFamily="34" charset="0"/>
              </a:rPr>
              <a:pPr/>
              <a:t>57</a:t>
            </a:fld>
            <a:endParaRPr lang="en-US" altLang="en-US" sz="1200">
              <a:latin typeface="Arial" panose="020B0604020202020204" pitchFamily="34" charset="0"/>
            </a:endParaRPr>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 typeface="Times" charset="0"/>
              <a:buChar char="•"/>
              <a:defRPr/>
            </a:pPr>
            <a:r>
              <a:rPr lang="en-US" dirty="0">
                <a:latin typeface="Times New Roman" pitchFamily="18" charset="0"/>
              </a:rPr>
              <a:t>Discuss symptoms such as ascites, </a:t>
            </a:r>
            <a:r>
              <a:rPr lang="en-US" dirty="0" err="1">
                <a:latin typeface="Times New Roman" pitchFamily="18" charset="0"/>
              </a:rPr>
              <a:t>borborygmus</a:t>
            </a:r>
            <a:r>
              <a:rPr lang="en-US" dirty="0">
                <a:latin typeface="Times New Roman" pitchFamily="18" charset="0"/>
              </a:rPr>
              <a:t>, constipation, diarrhea, dysphagia, flatus, </a:t>
            </a:r>
            <a:r>
              <a:rPr lang="en-US" dirty="0" err="1">
                <a:latin typeface="Times New Roman" pitchFamily="18" charset="0"/>
              </a:rPr>
              <a:t>hematochezia</a:t>
            </a:r>
            <a:r>
              <a:rPr lang="en-US" dirty="0">
                <a:latin typeface="Times New Roman" pitchFamily="18" charset="0"/>
              </a:rPr>
              <a:t>, jaundice, melena, and nausea.</a:t>
            </a:r>
          </a:p>
          <a:p>
            <a:pPr eaLnBrk="1" hangingPunct="1">
              <a:buFont typeface="Times" charset="0"/>
              <a:buChar char="•"/>
              <a:defRPr/>
            </a:pPr>
            <a:r>
              <a:rPr lang="en-US" dirty="0">
                <a:latin typeface="Times New Roman" pitchFamily="18" charset="0"/>
              </a:rPr>
              <a:t>Based on your knowledge of the functions of the liver, how might cirrhosis cause ascites?</a:t>
            </a:r>
          </a:p>
          <a:p>
            <a:pPr eaLnBrk="1" hangingPunct="1">
              <a:buFont typeface="Times" charset="0"/>
              <a:buChar char="•"/>
              <a:defRPr/>
            </a:pPr>
            <a:r>
              <a:rPr lang="en-US" dirty="0">
                <a:latin typeface="Times New Roman" pitchFamily="18" charset="0"/>
              </a:rPr>
              <a:t>For more signs and symptoms, see Chapter 5, Pathology Section.</a:t>
            </a:r>
          </a:p>
          <a:p>
            <a:pPr marL="0" indent="0" eaLnBrk="1" hangingPunct="1">
              <a:buFont typeface="Times" charset="0"/>
              <a:buNone/>
              <a:defRPr/>
            </a:pPr>
            <a:endParaRPr lang="en-US" dirty="0">
              <a:latin typeface="Times New Roman" pitchFamily="18" charset="0"/>
            </a:endParaRPr>
          </a:p>
        </p:txBody>
      </p:sp>
    </p:spTree>
    <p:extLst>
      <p:ext uri="{BB962C8B-B14F-4D97-AF65-F5344CB8AC3E}">
        <p14:creationId xmlns:p14="http://schemas.microsoft.com/office/powerpoint/2010/main" val="23665070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BCF1E524-DE43-4B0A-8359-E443D58A495B}" type="slidenum">
              <a:rPr lang="en-US" altLang="en-US" sz="1200">
                <a:latin typeface="Arial" panose="020B0604020202020204" pitchFamily="34" charset="0"/>
              </a:rPr>
              <a:pPr/>
              <a:t>60</a:t>
            </a:fld>
            <a:endParaRPr lang="en-US" altLang="en-US" sz="1200">
              <a:latin typeface="Arial" panose="020B0604020202020204" pitchFamily="34" charset="0"/>
            </a:endParaRPr>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Discuss herpetic stomatitis, oral leukoplakia, and periodontal disease.</a:t>
            </a:r>
          </a:p>
          <a:p>
            <a:pPr eaLnBrk="1" hangingPunct="1"/>
            <a:r>
              <a:rPr lang="en-US" altLang="en-US">
                <a:latin typeface="Times New Roman" panose="02020603050405020304" pitchFamily="18" charset="0"/>
              </a:rPr>
              <a:t>How does tooth decay progress? </a:t>
            </a:r>
          </a:p>
          <a:p>
            <a:pPr eaLnBrk="1" hangingPunct="1"/>
            <a:r>
              <a:rPr lang="en-US" altLang="en-US">
                <a:latin typeface="Times New Roman" panose="02020603050405020304" pitchFamily="18" charset="0"/>
              </a:rPr>
              <a:t>How is it treated?</a:t>
            </a:r>
          </a:p>
          <a:p>
            <a:pPr eaLnBrk="1" hangingPunct="1"/>
            <a:endParaRPr lang="en-US" altLang="en-US">
              <a:latin typeface="Times New Roman" panose="02020603050405020304" pitchFamily="18" charset="0"/>
            </a:endParaRP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2159433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54810952-94FD-4831-9187-22DFEA02A8BA}" type="slidenum">
              <a:rPr lang="en-US" altLang="en-US" sz="1200">
                <a:latin typeface="Arial" panose="020B0604020202020204" pitchFamily="34" charset="0"/>
              </a:rPr>
              <a:pPr/>
              <a:t>61</a:t>
            </a:fld>
            <a:endParaRPr lang="en-US" altLang="en-US" sz="1200">
              <a:latin typeface="Arial" panose="020B0604020202020204" pitchFamily="34" charset="0"/>
            </a:endParaRP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What kind of diet do physicians recommend to relieve symptoms of achalasia?</a:t>
            </a:r>
          </a:p>
        </p:txBody>
      </p:sp>
    </p:spTree>
    <p:extLst>
      <p:ext uri="{BB962C8B-B14F-4D97-AF65-F5344CB8AC3E}">
        <p14:creationId xmlns:p14="http://schemas.microsoft.com/office/powerpoint/2010/main" val="20487645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5F98E5F-B22C-4723-AA70-0E8F616CF446}" type="slidenum">
              <a:rPr lang="en-US" altLang="en-US" sz="1200">
                <a:latin typeface="Arial" panose="020B0604020202020204" pitchFamily="34" charset="0"/>
              </a:rPr>
              <a:pPr/>
              <a:t>62</a:t>
            </a:fld>
            <a:endParaRPr lang="en-US" altLang="en-US" sz="1200">
              <a:latin typeface="Arial" panose="020B0604020202020204" pitchFamily="34" charset="0"/>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Discuss the following terms: gastroesophageal reflux disease, hernia, and peptic ulcer.</a:t>
            </a:r>
          </a:p>
          <a:p>
            <a:pPr eaLnBrk="1" hangingPunct="1"/>
            <a:r>
              <a:rPr lang="en-US" altLang="en-US">
                <a:latin typeface="Times New Roman" panose="02020603050405020304" pitchFamily="18" charset="0"/>
              </a:rPr>
              <a:t>What is a major risk factor for gastric carcinoma? How is it treated?</a:t>
            </a:r>
          </a:p>
          <a:p>
            <a:pPr eaLnBrk="1" hangingPunct="1"/>
            <a:r>
              <a:rPr lang="en-US" altLang="en-US">
                <a:latin typeface="Times New Roman" panose="02020603050405020304" pitchFamily="18" charset="0"/>
              </a:rPr>
              <a:t>LES is lower esophagus sphincter.</a:t>
            </a:r>
          </a:p>
        </p:txBody>
      </p:sp>
    </p:spTree>
    <p:extLst>
      <p:ext uri="{BB962C8B-B14F-4D97-AF65-F5344CB8AC3E}">
        <p14:creationId xmlns:p14="http://schemas.microsoft.com/office/powerpoint/2010/main" val="17574754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2B95AAA2-E440-48E1-A68C-D4830ADFB39B}" type="slidenum">
              <a:rPr lang="en-US" altLang="en-US" sz="1200">
                <a:latin typeface="Arial" panose="020B0604020202020204" pitchFamily="34" charset="0"/>
              </a:rPr>
              <a:pPr/>
              <a:t>63</a:t>
            </a:fld>
            <a:endParaRPr lang="en-US" altLang="en-US" sz="1200">
              <a:latin typeface="Arial" panose="020B0604020202020204" pitchFamily="34" charset="0"/>
            </a:endParaRPr>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8641652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B8B2FC19-0F93-4C67-A22E-5DC3154C3E42}" type="slidenum">
              <a:rPr lang="en-US" altLang="en-US" sz="1200">
                <a:latin typeface="Arial" panose="020B0604020202020204" pitchFamily="34" charset="0"/>
              </a:rPr>
              <a:pPr/>
              <a:t>64</a:t>
            </a:fld>
            <a:endParaRPr lang="en-US" altLang="en-US" sz="1200">
              <a:latin typeface="Arial" panose="020B0604020202020204" pitchFamily="34" charset="0"/>
            </a:endParaRPr>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Discuss the following terms: gastroesophageal reflux disease, hernia, and peptic ulcer.</a:t>
            </a:r>
          </a:p>
        </p:txBody>
      </p:sp>
    </p:spTree>
    <p:extLst>
      <p:ext uri="{BB962C8B-B14F-4D97-AF65-F5344CB8AC3E}">
        <p14:creationId xmlns:p14="http://schemas.microsoft.com/office/powerpoint/2010/main" val="35684686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6313D0F-38C9-43B5-BB8F-872126FF9A86}" type="slidenum">
              <a:rPr lang="en-US" altLang="en-US" sz="1200">
                <a:latin typeface="Arial" panose="020B0604020202020204" pitchFamily="34" charset="0"/>
              </a:rPr>
              <a:pPr/>
              <a:t>65</a:t>
            </a:fld>
            <a:endParaRPr lang="en-US" altLang="en-US" sz="1200">
              <a:latin typeface="Arial" panose="020B0604020202020204" pitchFamily="34" charset="0"/>
            </a:endParaRPr>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397328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0451645-CBFB-4E5B-B5C6-EBBB1D0FFEE4}" type="slidenum">
              <a:rPr lang="en-US" altLang="en-US" sz="1200">
                <a:latin typeface="Arial" panose="020B0604020202020204" pitchFamily="34" charset="0"/>
              </a:rPr>
              <a:pPr/>
              <a:t>66</a:t>
            </a:fld>
            <a:endParaRPr lang="en-US" altLang="en-US" sz="1200">
              <a:latin typeface="Arial" panose="020B0604020202020204" pitchFamily="34" charset="0"/>
            </a:endParaRPr>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08287452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30A5314F-B175-4754-942B-EF64F4D2FEB8}" type="slidenum">
              <a:rPr lang="en-US" altLang="en-US" sz="1200">
                <a:latin typeface="Arial" panose="020B0604020202020204" pitchFamily="34" charset="0"/>
              </a:rPr>
              <a:pPr/>
              <a:t>67</a:t>
            </a:fld>
            <a:endParaRPr lang="en-US" altLang="en-US" sz="1200">
              <a:latin typeface="Arial" panose="020B0604020202020204" pitchFamily="34" charset="0"/>
            </a:endParaRP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8242784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58C47DE2-6A89-43BE-A0C3-4697F086FEC0}" type="slidenum">
              <a:rPr lang="en-US" altLang="en-US" sz="1200">
                <a:latin typeface="Arial" panose="020B0604020202020204" pitchFamily="34" charset="0"/>
              </a:rPr>
              <a:pPr/>
              <a:t>69</a:t>
            </a:fld>
            <a:endParaRPr lang="en-US" altLang="en-US" sz="1200">
              <a:latin typeface="Arial" panose="020B0604020202020204" pitchFamily="34" charset="0"/>
            </a:endParaRPr>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9128540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E6B35A03-77E4-4032-9137-C6AA32502253}" type="slidenum">
              <a:rPr lang="en-US" altLang="en-US" sz="1200">
                <a:latin typeface="Arial" panose="020B0604020202020204" pitchFamily="34" charset="0"/>
              </a:rPr>
              <a:pPr/>
              <a:t>70</a:t>
            </a:fld>
            <a:endParaRPr lang="en-US" altLang="en-US" sz="1200">
              <a:latin typeface="Arial" panose="020B0604020202020204" pitchFamily="34" charset="0"/>
            </a:endParaRPr>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58503835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CBC435E-2E1B-4D82-9240-FF5CE08D66AD}" type="slidenum">
              <a:rPr lang="en-US" altLang="en-US" sz="1200">
                <a:latin typeface="Arial" panose="020B0604020202020204" pitchFamily="34" charset="0"/>
              </a:rPr>
              <a:pPr/>
              <a:t>71</a:t>
            </a:fld>
            <a:endParaRPr lang="en-US" altLang="en-US" sz="1200">
              <a:latin typeface="Arial" panose="020B0604020202020204" pitchFamily="34" charset="0"/>
            </a:endParaRPr>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What causes cirrhosis of the liver?</a:t>
            </a:r>
          </a:p>
        </p:txBody>
      </p:sp>
    </p:spTree>
    <p:extLst>
      <p:ext uri="{BB962C8B-B14F-4D97-AF65-F5344CB8AC3E}">
        <p14:creationId xmlns:p14="http://schemas.microsoft.com/office/powerpoint/2010/main" val="31470135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21D07E1F-E504-4684-8CBF-2C630EC56088}" type="slidenum">
              <a:rPr lang="en-US" altLang="en-US" sz="1200">
                <a:latin typeface="Arial" panose="020B0604020202020204" pitchFamily="34" charset="0"/>
              </a:rPr>
              <a:pPr/>
              <a:t>72</a:t>
            </a:fld>
            <a:endParaRPr lang="en-US" altLang="en-US" sz="1200">
              <a:latin typeface="Arial" panose="020B0604020202020204" pitchFamily="34" charset="0"/>
            </a:endParaRPr>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What is biliary colic?</a:t>
            </a:r>
          </a:p>
          <a:p>
            <a:pPr eaLnBrk="1" hangingPunct="1"/>
            <a:r>
              <a:rPr lang="en-US" altLang="en-US">
                <a:latin typeface="Times New Roman" panose="02020603050405020304" pitchFamily="18" charset="0"/>
              </a:rPr>
              <a:t>What type of surgery is performed to remove the gallbladder and stones?</a:t>
            </a:r>
            <a:endParaRPr lang="en-US" altLang="en-US">
              <a:latin typeface="Courier" pitchFamily="1" charset="0"/>
            </a:endParaRPr>
          </a:p>
        </p:txBody>
      </p:sp>
    </p:spTree>
    <p:extLst>
      <p:ext uri="{BB962C8B-B14F-4D97-AF65-F5344CB8AC3E}">
        <p14:creationId xmlns:p14="http://schemas.microsoft.com/office/powerpoint/2010/main" val="15137106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4F46A433-53BE-44F2-B0BE-CD4AA7F6F7B2}"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Date Placeholder 8"/>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10" name="Footer Placeholder 9"/>
          <p:cNvSpPr>
            <a:spLocks noGrp="1"/>
          </p:cNvSpPr>
          <p:nvPr>
            <p:ph type="ftr" sz="quarter" idx="11"/>
          </p:nvPr>
        </p:nvSpPr>
        <p:spPr>
          <a:xfrm>
            <a:off x="3124200" y="5859295"/>
            <a:ext cx="2895600" cy="365125"/>
          </a:xfrm>
          <a:prstGeom prst="rect">
            <a:avLst/>
          </a:prstGeom>
        </p:spPr>
        <p:txBody>
          <a:bodyPr/>
          <a:lstStyle/>
          <a:p>
            <a:pPr>
              <a:defRPr/>
            </a:pPr>
            <a:endParaRPr lang="en-US" dirty="0"/>
          </a:p>
        </p:txBody>
      </p:sp>
      <p:sp>
        <p:nvSpPr>
          <p:cNvPr id="11" name="Slide Number Placeholder 10"/>
          <p:cNvSpPr>
            <a:spLocks noGrp="1"/>
          </p:cNvSpPr>
          <p:nvPr>
            <p:ph type="sldNum" sz="quarter" idx="12"/>
          </p:nvPr>
        </p:nvSpPr>
        <p:spPr/>
        <p:txBody>
          <a:bodyPr/>
          <a:lstStyle/>
          <a:p>
            <a:fld id="{28A3EFAA-5F29-4212-A320-E00D10714EB8}" type="slidenum">
              <a:rPr lang="en-US" altLang="en-US" smtClean="0"/>
              <a:pPr/>
              <a:t>‹#›</a:t>
            </a:fld>
            <a:endParaRPr lang="en-US" altLang="en-US"/>
          </a:p>
        </p:txBody>
      </p:sp>
      <p:sp>
        <p:nvSpPr>
          <p:cNvPr id="4" name="Rectangle 8"/>
          <p:cNvSpPr txBox="1">
            <a:spLocks noGrp="1" noChangeArrowheads="1"/>
          </p:cNvSpPr>
          <p:nvPr userDrawn="1"/>
        </p:nvSpPr>
        <p:spPr bwMode="auto">
          <a:xfrm>
            <a:off x="1143000" y="6340475"/>
            <a:ext cx="7769225" cy="381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1" hangingPunct="1">
              <a:defRPr/>
            </a:pPr>
            <a:endParaRPr lang="en-US" dirty="0"/>
          </a:p>
        </p:txBody>
      </p:sp>
    </p:spTree>
    <p:extLst>
      <p:ext uri="{BB962C8B-B14F-4D97-AF65-F5344CB8AC3E}">
        <p14:creationId xmlns:p14="http://schemas.microsoft.com/office/powerpoint/2010/main" val="156938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419"/>
          </a:p>
        </p:txBody>
      </p:sp>
      <p:sp>
        <p:nvSpPr>
          <p:cNvPr id="3" name="Date Placeholder 2"/>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a:defRPr/>
            </a:pPr>
            <a:endParaRPr lang="en-US" dirty="0"/>
          </a:p>
        </p:txBody>
      </p:sp>
      <p:sp>
        <p:nvSpPr>
          <p:cNvPr id="5" name="Slide Number Placeholder 4"/>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34865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B2D8646-B954-479C-A337-986E442FC1A9}"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67C3B6F8-FB65-40D1-9D78-3B0834AA2902}" type="slidenum">
              <a:rPr lang="en-US" altLang="en-US"/>
              <a:pPr/>
              <a:t>‹#›</a:t>
            </a:fld>
            <a:endParaRPr lang="en-US" altLang="en-US"/>
          </a:p>
        </p:txBody>
      </p:sp>
    </p:spTree>
    <p:extLst>
      <p:ext uri="{BB962C8B-B14F-4D97-AF65-F5344CB8AC3E}">
        <p14:creationId xmlns:p14="http://schemas.microsoft.com/office/powerpoint/2010/main" val="104255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4026FB1C-0B93-4FFC-AFAC-202B5BB6FD8D}"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AD0EB3D-4C75-400C-847F-27CED06B6053}" type="slidenum">
              <a:rPr lang="en-US" altLang="en-US"/>
              <a:pPr/>
              <a:t>‹#›</a:t>
            </a:fld>
            <a:endParaRPr lang="en-US" altLang="en-US"/>
          </a:p>
        </p:txBody>
      </p:sp>
    </p:spTree>
    <p:extLst>
      <p:ext uri="{BB962C8B-B14F-4D97-AF65-F5344CB8AC3E}">
        <p14:creationId xmlns:p14="http://schemas.microsoft.com/office/powerpoint/2010/main" val="2984659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9C71BE0B-DC10-4A86-884B-421A21A3786F}"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EA7988B2-9A38-4469-A73A-3A8A3875C86B}" type="slidenum">
              <a:rPr lang="en-US" altLang="en-US"/>
              <a:pPr/>
              <a:t>‹#›</a:t>
            </a:fld>
            <a:endParaRPr lang="en-US" altLang="en-US"/>
          </a:p>
        </p:txBody>
      </p:sp>
    </p:spTree>
    <p:extLst>
      <p:ext uri="{BB962C8B-B14F-4D97-AF65-F5344CB8AC3E}">
        <p14:creationId xmlns:p14="http://schemas.microsoft.com/office/powerpoint/2010/main" val="1484110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43F8196F-BB54-4DF1-9DDF-EB61181FD455}" type="datetimeFigureOut">
              <a:rPr lang="en-US"/>
              <a:pPr>
                <a:defRPr/>
              </a:pPr>
              <a:t>12/7/2023</a:t>
            </a:fld>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1069FD97-2CE7-4101-9BDA-A6CDF9D7F198}" type="slidenum">
              <a:rPr lang="en-US" altLang="en-US"/>
              <a:pPr/>
              <a:t>‹#›</a:t>
            </a:fld>
            <a:endParaRPr lang="en-US" altLang="en-US"/>
          </a:p>
        </p:txBody>
      </p:sp>
    </p:spTree>
    <p:extLst>
      <p:ext uri="{BB962C8B-B14F-4D97-AF65-F5344CB8AC3E}">
        <p14:creationId xmlns:p14="http://schemas.microsoft.com/office/powerpoint/2010/main" val="1498813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7" name="Footer Placeholder 6"/>
          <p:cNvSpPr>
            <a:spLocks noGrp="1"/>
          </p:cNvSpPr>
          <p:nvPr>
            <p:ph type="ftr" sz="quarter" idx="11"/>
          </p:nvPr>
        </p:nvSpPr>
        <p:spPr>
          <a:xfrm>
            <a:off x="3124200" y="6356350"/>
            <a:ext cx="2895600" cy="365125"/>
          </a:xfrm>
          <a:prstGeom prst="rect">
            <a:avLst/>
          </a:prstGeom>
        </p:spPr>
        <p:txBody>
          <a:bodyPr/>
          <a:lstStyle/>
          <a:p>
            <a:pPr>
              <a:defRPr/>
            </a:pPr>
            <a:endParaRPr lang="en-US" dirty="0"/>
          </a:p>
        </p:txBody>
      </p:sp>
      <p:sp>
        <p:nvSpPr>
          <p:cNvPr id="8" name="Slide Number Placeholder 7"/>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1501134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7EF424A-0666-4F8A-AE0B-042263A2F523}" type="datetimeFigureOut">
              <a:rPr lang="en-US"/>
              <a:pPr>
                <a:defRPr/>
              </a:pPr>
              <a:t>12/7/2023</a:t>
            </a:fld>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sz="1000" baseline="0">
                <a:latin typeface="Arial" pitchFamily="34" charset="0"/>
                <a:cs typeface="Arial" pitchFamily="34" charset="0"/>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98923256-9629-4751-9FC7-D9A617797BD9}" type="slidenum">
              <a:rPr lang="en-US" altLang="en-US"/>
              <a:pPr/>
              <a:t>‹#›</a:t>
            </a:fld>
            <a:endParaRPr lang="en-US" altLang="en-US"/>
          </a:p>
        </p:txBody>
      </p:sp>
    </p:spTree>
    <p:extLst>
      <p:ext uri="{BB962C8B-B14F-4D97-AF65-F5344CB8AC3E}">
        <p14:creationId xmlns:p14="http://schemas.microsoft.com/office/powerpoint/2010/main" val="35022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FBC957C-8A28-4346-A91E-3181E23B9FCE}"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9223BBEA-FBE4-4D1C-948E-35E3FD648AC7}" type="slidenum">
              <a:rPr lang="en-US" altLang="en-US"/>
              <a:pPr/>
              <a:t>‹#›</a:t>
            </a:fld>
            <a:endParaRPr lang="en-US" altLang="en-US"/>
          </a:p>
        </p:txBody>
      </p:sp>
    </p:spTree>
    <p:extLst>
      <p:ext uri="{BB962C8B-B14F-4D97-AF65-F5344CB8AC3E}">
        <p14:creationId xmlns:p14="http://schemas.microsoft.com/office/powerpoint/2010/main" val="2919125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BD414B3-CE71-4CAC-BF20-28E9BC6B1BBE}"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BB0C2544-6AE1-4FFD-9204-B2754DEAA11A}" type="slidenum">
              <a:rPr lang="en-US" altLang="en-US"/>
              <a:pPr/>
              <a:t>‹#›</a:t>
            </a:fld>
            <a:endParaRPr lang="en-US" altLang="en-US"/>
          </a:p>
        </p:txBody>
      </p:sp>
    </p:spTree>
    <p:extLst>
      <p:ext uri="{BB962C8B-B14F-4D97-AF65-F5344CB8AC3E}">
        <p14:creationId xmlns:p14="http://schemas.microsoft.com/office/powerpoint/2010/main" val="3780667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A489D59-B1E6-4DCF-8F4C-326D6ED2C2BE}"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7DB8DA79-2483-40AE-83CF-C031752A90C3}" type="slidenum">
              <a:rPr lang="en-US" altLang="en-US"/>
              <a:pPr/>
              <a:t>‹#›</a:t>
            </a:fld>
            <a:endParaRPr lang="en-US" altLang="en-US"/>
          </a:p>
        </p:txBody>
      </p:sp>
    </p:spTree>
    <p:extLst>
      <p:ext uri="{BB962C8B-B14F-4D97-AF65-F5344CB8AC3E}">
        <p14:creationId xmlns:p14="http://schemas.microsoft.com/office/powerpoint/2010/main" val="2430537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4BF2560-A50C-4A12-98A3-C5D77FC1843E}"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BE28CD66-7605-4E45-9E45-CFA0ED8972E6}" type="slidenum">
              <a:rPr lang="en-US" altLang="en-US"/>
              <a:pPr/>
              <a:t>‹#›</a:t>
            </a:fld>
            <a:endParaRPr lang="en-US" altLang="en-US"/>
          </a:p>
        </p:txBody>
      </p:sp>
    </p:spTree>
    <p:extLst>
      <p:ext uri="{BB962C8B-B14F-4D97-AF65-F5344CB8AC3E}">
        <p14:creationId xmlns:p14="http://schemas.microsoft.com/office/powerpoint/2010/main" val="16556690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270841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641475"/>
            <a:ext cx="7772400" cy="21510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5800" y="3944938"/>
            <a:ext cx="7772400" cy="2151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813554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641475"/>
            <a:ext cx="3810000" cy="4454525"/>
          </a:xfrm>
        </p:spPr>
        <p:txBody>
          <a:bodyPr rtlCol="0">
            <a:normAutofit/>
          </a:bodyPr>
          <a:lstStyle/>
          <a:p>
            <a:pPr lvl="0"/>
            <a:endParaRPr lang="en-US" noProof="0"/>
          </a:p>
        </p:txBody>
      </p:sp>
    </p:spTree>
    <p:extLst>
      <p:ext uri="{BB962C8B-B14F-4D97-AF65-F5344CB8AC3E}">
        <p14:creationId xmlns:p14="http://schemas.microsoft.com/office/powerpoint/2010/main" val="2297810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defRPr>
            </a:lvl1pPr>
          </a:lstStyle>
          <a:p>
            <a:pPr>
              <a:defRPr/>
            </a:pPr>
            <a:fld id="{401F176B-337D-4B0C-9E0F-CF98E924232A}" type="datetimeFigureOut">
              <a:rPr lang="en-US"/>
              <a:pPr>
                <a:defRPr/>
              </a:pPr>
              <a:t>12/7/2023</a:t>
            </a:fld>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28A3EFAA-5F29-4212-A320-E00D10714EB8}" type="slidenum">
              <a:rPr lang="en-US" altLang="en-US"/>
              <a:pPr/>
              <a:t>‹#›</a:t>
            </a:fld>
            <a:endParaRPr lang="en-US" altLang="en-US"/>
          </a:p>
        </p:txBody>
      </p:sp>
      <p:sp>
        <p:nvSpPr>
          <p:cNvPr id="1032"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0FF5DB33-233E-420C-BB96-6F4A112866E6}"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A92105BF-EF3D-928C-AD81-F0DE58F0AC5F}"/>
              </a:ext>
            </a:extLst>
          </p:cNvPr>
          <p:cNvPicPr>
            <a:picLocks noChangeAspect="1"/>
          </p:cNvPicPr>
          <p:nvPr userDrawn="1"/>
        </p:nvPicPr>
        <p:blipFill>
          <a:blip r:embed="rId17"/>
          <a:stretch>
            <a:fillRect/>
          </a:stretch>
        </p:blipFill>
        <p:spPr>
          <a:xfrm>
            <a:off x="3041871" y="6478581"/>
            <a:ext cx="3118010" cy="209561"/>
          </a:xfrm>
          <a:prstGeom prst="rect">
            <a:avLst/>
          </a:prstGeom>
        </p:spPr>
      </p:pic>
    </p:spTree>
  </p:cSld>
  <p:clrMap bg1="lt1" tx1="dk1" bg2="lt2" tx2="dk2" accent1="accent1" accent2="accent2" accent3="accent3" accent4="accent4" accent5="accent5" accent6="accent6" hlink="hlink" folHlink="folHlink"/>
  <p:sldLayoutIdLst>
    <p:sldLayoutId id="2147483948" r:id="rId1"/>
    <p:sldLayoutId id="2147483951" r:id="rId2"/>
    <p:sldLayoutId id="2147483939" r:id="rId3"/>
    <p:sldLayoutId id="2147483940" r:id="rId4"/>
    <p:sldLayoutId id="2147483941" r:id="rId5"/>
    <p:sldLayoutId id="2147483942" r:id="rId6"/>
    <p:sldLayoutId id="2147483943" r:id="rId7"/>
    <p:sldLayoutId id="2147483949" r:id="rId8"/>
    <p:sldLayoutId id="2147483944" r:id="rId9"/>
    <p:sldLayoutId id="2147483945" r:id="rId10"/>
    <p:sldLayoutId id="2147483946" r:id="rId11"/>
    <p:sldLayoutId id="2147483947" r:id="rId12"/>
    <p:sldLayoutId id="2147483952" r:id="rId13"/>
    <p:sldLayoutId id="2147483953" r:id="rId14"/>
    <p:sldLayoutId id="2147483954" r:id="rId15"/>
  </p:sldLayoutIdLst>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Language of Medicine</a:t>
            </a:r>
            <a:br>
              <a:rPr lang="en-US" dirty="0"/>
            </a:br>
            <a:r>
              <a:rPr lang="en-US" dirty="0"/>
              <a:t>13</a:t>
            </a:r>
            <a:r>
              <a:rPr lang="en-US" baseline="30000" dirty="0"/>
              <a:t>th</a:t>
            </a:r>
            <a:r>
              <a:rPr lang="en-US" dirty="0"/>
              <a:t> edition</a:t>
            </a:r>
          </a:p>
        </p:txBody>
      </p:sp>
      <p:sp>
        <p:nvSpPr>
          <p:cNvPr id="3" name="Subtitle 2"/>
          <p:cNvSpPr>
            <a:spLocks noGrp="1"/>
          </p:cNvSpPr>
          <p:nvPr>
            <p:ph type="subTitle" idx="1"/>
          </p:nvPr>
        </p:nvSpPr>
        <p:spPr/>
        <p:txBody>
          <a:bodyPr/>
          <a:lstStyle/>
          <a:p>
            <a:r>
              <a:rPr lang="en-US" dirty="0" err="1">
                <a:solidFill>
                  <a:schemeClr val="tx1"/>
                </a:solidFill>
              </a:rPr>
              <a:t>Davi</a:t>
            </a:r>
            <a:r>
              <a:rPr lang="en-US" dirty="0">
                <a:solidFill>
                  <a:schemeClr val="tx1"/>
                </a:solidFill>
              </a:rPr>
              <a:t>-Ellen </a:t>
            </a:r>
            <a:r>
              <a:rPr lang="en-US" dirty="0" err="1">
                <a:solidFill>
                  <a:schemeClr val="tx1"/>
                </a:solidFill>
              </a:rPr>
              <a:t>Chabner</a:t>
            </a:r>
            <a:endParaRPr lang="en-US" dirty="0">
              <a:solidFill>
                <a:schemeClr val="tx1"/>
              </a:solidFill>
            </a:endParaRPr>
          </a:p>
        </p:txBody>
      </p:sp>
    </p:spTree>
    <p:extLst>
      <p:ext uri="{BB962C8B-B14F-4D97-AF65-F5344CB8AC3E}">
        <p14:creationId xmlns:p14="http://schemas.microsoft.com/office/powerpoint/2010/main" val="1428288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5</a:t>
            </a:r>
            <a:br>
              <a:rPr lang="en-US" dirty="0"/>
            </a:br>
            <a:r>
              <a:rPr lang="en-US" dirty="0"/>
              <a:t>Digestive System</a:t>
            </a:r>
            <a:endParaRPr lang="es-419" dirty="0"/>
          </a:p>
        </p:txBody>
      </p:sp>
    </p:spTree>
    <p:extLst>
      <p:ext uri="{BB962C8B-B14F-4D97-AF65-F5344CB8AC3E}">
        <p14:creationId xmlns:p14="http://schemas.microsoft.com/office/powerpoint/2010/main" val="261691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p:cNvSpPr>
            <a:spLocks noGrp="1" noChangeArrowheads="1"/>
          </p:cNvSpPr>
          <p:nvPr>
            <p:ph type="title"/>
          </p:nvPr>
        </p:nvSpPr>
        <p:spPr/>
        <p:txBody>
          <a:bodyPr/>
          <a:lstStyle/>
          <a:p>
            <a:pPr eaLnBrk="1" hangingPunct="1"/>
            <a:r>
              <a:rPr lang="en-US" altLang="en-US"/>
              <a:t>Chapter Goals</a:t>
            </a:r>
          </a:p>
        </p:txBody>
      </p:sp>
      <p:sp>
        <p:nvSpPr>
          <p:cNvPr id="8195" name="Rectangle 5"/>
          <p:cNvSpPr>
            <a:spLocks noGrp="1" noChangeArrowheads="1"/>
          </p:cNvSpPr>
          <p:nvPr>
            <p:ph idx="1"/>
          </p:nvPr>
        </p:nvSpPr>
        <p:spPr/>
        <p:txBody>
          <a:bodyPr/>
          <a:lstStyle/>
          <a:p>
            <a:pPr eaLnBrk="1" hangingPunct="1"/>
            <a:r>
              <a:rPr lang="en-US" altLang="en-US" dirty="0"/>
              <a:t>Name the organs of the digestive system and describe their locations and functions.</a:t>
            </a:r>
          </a:p>
          <a:p>
            <a:pPr eaLnBrk="1" hangingPunct="1"/>
            <a:r>
              <a:rPr lang="en-US" altLang="en-US" dirty="0"/>
              <a:t>Define combining forms for organs and know the meaning of related terminology.</a:t>
            </a:r>
          </a:p>
          <a:p>
            <a:pPr eaLnBrk="1" hangingPunct="1"/>
            <a:r>
              <a:rPr lang="en-US" altLang="en-US" dirty="0"/>
              <a:t>Describe signs, symptoms, and disease conditions affecting the digestive system.</a:t>
            </a:r>
          </a:p>
          <a:p>
            <a:pPr eaLnBrk="1" hangingPunct="1">
              <a:buFont typeface="Wingdings 2" panose="05020102010507070707" pitchFamily="18" charset="2"/>
              <a:buNone/>
            </a:pPr>
            <a:endParaRPr lang="en-US" altLang="en-US" dirty="0"/>
          </a:p>
        </p:txBody>
      </p:sp>
    </p:spTree>
    <p:extLst>
      <p:ext uri="{BB962C8B-B14F-4D97-AF65-F5344CB8AC3E}">
        <p14:creationId xmlns:p14="http://schemas.microsoft.com/office/powerpoint/2010/main" val="1653555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1" name="Rectangle 11"/>
          <p:cNvSpPr>
            <a:spLocks noGrp="1" noChangeArrowheads="1"/>
          </p:cNvSpPr>
          <p:nvPr>
            <p:ph type="title"/>
          </p:nvPr>
        </p:nvSpPr>
        <p:spPr/>
        <p:txBody>
          <a:bodyPr rtlCol="0">
            <a:normAutofit fontScale="90000"/>
          </a:bodyPr>
          <a:lstStyle/>
          <a:p>
            <a:pPr eaLnBrk="1" fontAlgn="auto" hangingPunct="1">
              <a:spcAft>
                <a:spcPts val="0"/>
              </a:spcAft>
              <a:defRPr/>
            </a:pPr>
            <a:r>
              <a:rPr lang="en-US"/>
              <a:t>Chapter 5</a:t>
            </a:r>
            <a:br>
              <a:rPr lang="en-US"/>
            </a:br>
            <a:r>
              <a:rPr lang="en-US"/>
              <a:t>Lesson 5.1</a:t>
            </a:r>
          </a:p>
        </p:txBody>
      </p:sp>
    </p:spTree>
    <p:extLst>
      <p:ext uri="{BB962C8B-B14F-4D97-AF65-F5344CB8AC3E}">
        <p14:creationId xmlns:p14="http://schemas.microsoft.com/office/powerpoint/2010/main" val="3167732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8"/>
          <p:cNvSpPr>
            <a:spLocks noGrp="1" noChangeArrowheads="1"/>
          </p:cNvSpPr>
          <p:nvPr>
            <p:ph type="title"/>
          </p:nvPr>
        </p:nvSpPr>
        <p:spPr/>
        <p:txBody>
          <a:bodyPr/>
          <a:lstStyle/>
          <a:p>
            <a:pPr eaLnBrk="1" hangingPunct="1"/>
            <a:r>
              <a:rPr lang="en-US" altLang="en-US"/>
              <a:t>Introduction</a:t>
            </a:r>
          </a:p>
        </p:txBody>
      </p:sp>
      <p:sp>
        <p:nvSpPr>
          <p:cNvPr id="10243" name="Rectangle 9"/>
          <p:cNvSpPr>
            <a:spLocks noGrp="1" noChangeArrowheads="1"/>
          </p:cNvSpPr>
          <p:nvPr>
            <p:ph idx="1"/>
          </p:nvPr>
        </p:nvSpPr>
        <p:spPr/>
        <p:txBody>
          <a:bodyPr/>
          <a:lstStyle/>
          <a:p>
            <a:pPr eaLnBrk="1" hangingPunct="1">
              <a:buFont typeface="Wingdings 2" panose="05020102010507070707" pitchFamily="18" charset="2"/>
              <a:buNone/>
            </a:pPr>
            <a:r>
              <a:rPr lang="en-US" altLang="en-US"/>
              <a:t>The digestive or gastrointestinal system</a:t>
            </a:r>
          </a:p>
          <a:p>
            <a:pPr eaLnBrk="1" hangingPunct="1">
              <a:buFont typeface="Wingdings 2" panose="05020102010507070707" pitchFamily="18" charset="2"/>
              <a:buNone/>
            </a:pPr>
            <a:r>
              <a:rPr lang="en-US" altLang="en-US"/>
              <a:t>performs four main functions:</a:t>
            </a:r>
          </a:p>
          <a:p>
            <a:pPr eaLnBrk="1" hangingPunct="1"/>
            <a:r>
              <a:rPr lang="en-US" altLang="en-US"/>
              <a:t>ingestion</a:t>
            </a:r>
          </a:p>
          <a:p>
            <a:pPr eaLnBrk="1" hangingPunct="1"/>
            <a:r>
              <a:rPr lang="en-US" altLang="en-US"/>
              <a:t>digestion</a:t>
            </a:r>
          </a:p>
          <a:p>
            <a:pPr eaLnBrk="1" hangingPunct="1"/>
            <a:r>
              <a:rPr lang="en-US" altLang="en-US"/>
              <a:t>absorption</a:t>
            </a:r>
          </a:p>
          <a:p>
            <a:pPr eaLnBrk="1" hangingPunct="1"/>
            <a:r>
              <a:rPr lang="en-US" altLang="en-US"/>
              <a:t>elimination</a:t>
            </a:r>
          </a:p>
        </p:txBody>
      </p:sp>
    </p:spTree>
    <p:extLst>
      <p:ext uri="{BB962C8B-B14F-4D97-AF65-F5344CB8AC3E}">
        <p14:creationId xmlns:p14="http://schemas.microsoft.com/office/powerpoint/2010/main" val="783810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US" sz="4900" dirty="0"/>
              <a:t>Introduction:  </a:t>
            </a:r>
            <a:br>
              <a:rPr lang="en-US" sz="4900" dirty="0"/>
            </a:br>
            <a:r>
              <a:rPr lang="en-US" sz="4900" dirty="0"/>
              <a:t>    Ingestion and Digestion</a:t>
            </a:r>
            <a:r>
              <a:rPr lang="en-US" dirty="0"/>
              <a:t>	</a:t>
            </a:r>
          </a:p>
        </p:txBody>
      </p:sp>
      <p:sp>
        <p:nvSpPr>
          <p:cNvPr id="160771" name="Rectangle 3"/>
          <p:cNvSpPr>
            <a:spLocks noGrp="1" noChangeArrowheads="1"/>
          </p:cNvSpPr>
          <p:nvPr>
            <p:ph idx="1"/>
          </p:nvPr>
        </p:nvSpPr>
        <p:spPr>
          <a:xfrm>
            <a:off x="685800" y="1641475"/>
            <a:ext cx="8229600" cy="4454525"/>
          </a:xfrm>
        </p:spPr>
        <p:txBody>
          <a:bodyPr rtlCol="0">
            <a:normAutofit fontScale="92500" lnSpcReduction="10000"/>
          </a:bodyPr>
          <a:lstStyle/>
          <a:p>
            <a:pPr eaLnBrk="1" fontAlgn="auto" hangingPunct="1">
              <a:spcAft>
                <a:spcPts val="0"/>
              </a:spcAft>
              <a:defRPr/>
            </a:pPr>
            <a:r>
              <a:rPr lang="en-US" b="1" dirty="0"/>
              <a:t>Ingestion</a:t>
            </a:r>
            <a:r>
              <a:rPr lang="en-US" dirty="0"/>
              <a:t>—food material taken into mouth</a:t>
            </a:r>
          </a:p>
          <a:p>
            <a:pPr eaLnBrk="1" fontAlgn="auto" hangingPunct="1">
              <a:spcAft>
                <a:spcPts val="0"/>
              </a:spcAft>
              <a:defRPr/>
            </a:pPr>
            <a:endParaRPr lang="en-US" dirty="0"/>
          </a:p>
          <a:p>
            <a:pPr eaLnBrk="1" fontAlgn="auto" hangingPunct="1">
              <a:spcAft>
                <a:spcPts val="0"/>
              </a:spcAft>
              <a:defRPr/>
            </a:pPr>
            <a:r>
              <a:rPr lang="en-US" b="1" dirty="0"/>
              <a:t>Digestion</a:t>
            </a:r>
            <a:r>
              <a:rPr lang="en-US" dirty="0"/>
              <a:t>—food is broken down, mechanically and chemically, as it travels through the gastrointestinal tract.</a:t>
            </a:r>
          </a:p>
          <a:p>
            <a:pPr lvl="1" eaLnBrk="1" fontAlgn="auto" hangingPunct="1">
              <a:spcAft>
                <a:spcPts val="0"/>
              </a:spcAft>
              <a:buFont typeface="Wingdings" pitchFamily="2" charset="2"/>
              <a:buChar char="Ø"/>
              <a:defRPr/>
            </a:pPr>
            <a:r>
              <a:rPr lang="en-US" dirty="0"/>
              <a:t>Digestive enzymes aid the breakdown of complex nutrients.  </a:t>
            </a:r>
          </a:p>
          <a:p>
            <a:pPr lvl="2" eaLnBrk="1" fontAlgn="auto" hangingPunct="1">
              <a:spcAft>
                <a:spcPts val="0"/>
              </a:spcAft>
              <a:defRPr/>
            </a:pPr>
            <a:r>
              <a:rPr lang="en-US" dirty="0"/>
              <a:t>Proteins → amino acids</a:t>
            </a:r>
          </a:p>
          <a:p>
            <a:pPr lvl="2" eaLnBrk="1" fontAlgn="auto" hangingPunct="1">
              <a:spcAft>
                <a:spcPts val="0"/>
              </a:spcAft>
              <a:defRPr/>
            </a:pPr>
            <a:r>
              <a:rPr lang="en-US" dirty="0"/>
              <a:t>Sugars  →  glucose</a:t>
            </a:r>
          </a:p>
          <a:p>
            <a:pPr lvl="2" eaLnBrk="1" fontAlgn="auto" hangingPunct="1">
              <a:spcAft>
                <a:spcPts val="0"/>
              </a:spcAft>
              <a:defRPr/>
            </a:pPr>
            <a:r>
              <a:rPr lang="en-US" dirty="0"/>
              <a:t>Fats      →   fatty acids or triglycerides</a:t>
            </a:r>
            <a:endParaRPr lang="en-US" dirty="0">
              <a:cs typeface="Arial" pitchFamily="34" charset="0"/>
            </a:endParaRPr>
          </a:p>
        </p:txBody>
      </p:sp>
    </p:spTree>
    <p:extLst>
      <p:ext uri="{BB962C8B-B14F-4D97-AF65-F5344CB8AC3E}">
        <p14:creationId xmlns:p14="http://schemas.microsoft.com/office/powerpoint/2010/main" val="13670499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ltLang="en-US"/>
              <a:t>Introduction:</a:t>
            </a:r>
            <a:br>
              <a:rPr lang="en-US" altLang="en-US"/>
            </a:br>
            <a:r>
              <a:rPr lang="en-US" altLang="en-US"/>
              <a:t>Absorption</a:t>
            </a:r>
          </a:p>
        </p:txBody>
      </p:sp>
      <p:sp>
        <p:nvSpPr>
          <p:cNvPr id="12291" name="Rectangle 3"/>
          <p:cNvSpPr>
            <a:spLocks noGrp="1" noChangeArrowheads="1"/>
          </p:cNvSpPr>
          <p:nvPr>
            <p:ph idx="1"/>
          </p:nvPr>
        </p:nvSpPr>
        <p:spPr>
          <a:xfrm>
            <a:off x="685800" y="1600200"/>
            <a:ext cx="8001000" cy="3352800"/>
          </a:xfrm>
        </p:spPr>
        <p:txBody>
          <a:bodyPr/>
          <a:lstStyle/>
          <a:p>
            <a:pPr eaLnBrk="1" hangingPunct="1"/>
            <a:r>
              <a:rPr lang="en-US" altLang="en-US"/>
              <a:t>Digested food passes into the bloodstream through lining cells of the small intestine.  </a:t>
            </a:r>
          </a:p>
          <a:p>
            <a:pPr eaLnBrk="1" hangingPunct="1"/>
            <a:endParaRPr lang="en-US" altLang="en-US" sz="1000"/>
          </a:p>
          <a:p>
            <a:pPr eaLnBrk="1" hangingPunct="1"/>
            <a:r>
              <a:rPr lang="en-US" altLang="en-US"/>
              <a:t>Nutrients travel to all cells of the body.</a:t>
            </a:r>
          </a:p>
          <a:p>
            <a:pPr eaLnBrk="1" hangingPunct="1"/>
            <a:endParaRPr lang="en-US" altLang="en-US" sz="1000"/>
          </a:p>
          <a:p>
            <a:pPr eaLnBrk="1" hangingPunct="1"/>
            <a:r>
              <a:rPr lang="en-US" altLang="en-US"/>
              <a:t>Cells burn nutrients to release the energy stored in food.</a:t>
            </a:r>
            <a:endParaRPr lang="en-US" altLang="en-US">
              <a:cs typeface="Arial" panose="020B0604020202020204" pitchFamily="34" charset="0"/>
            </a:endParaRPr>
          </a:p>
        </p:txBody>
      </p:sp>
    </p:spTree>
    <p:extLst>
      <p:ext uri="{BB962C8B-B14F-4D97-AF65-F5344CB8AC3E}">
        <p14:creationId xmlns:p14="http://schemas.microsoft.com/office/powerpoint/2010/main" val="879024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en-US"/>
              <a:t>Introduction:</a:t>
            </a:r>
            <a:br>
              <a:rPr lang="en-US" altLang="en-US"/>
            </a:br>
            <a:r>
              <a:rPr lang="en-US" altLang="en-US"/>
              <a:t>Elimination	</a:t>
            </a:r>
          </a:p>
        </p:txBody>
      </p:sp>
      <p:sp>
        <p:nvSpPr>
          <p:cNvPr id="13315" name="Rectangle 3"/>
          <p:cNvSpPr>
            <a:spLocks noGrp="1" noChangeArrowheads="1"/>
          </p:cNvSpPr>
          <p:nvPr>
            <p:ph idx="1"/>
          </p:nvPr>
        </p:nvSpPr>
        <p:spPr>
          <a:xfrm>
            <a:off x="685800" y="1600200"/>
            <a:ext cx="7696200" cy="3352800"/>
          </a:xfrm>
        </p:spPr>
        <p:txBody>
          <a:bodyPr/>
          <a:lstStyle/>
          <a:p>
            <a:pPr eaLnBrk="1" hangingPunct="1"/>
            <a:r>
              <a:rPr lang="en-US" altLang="en-US"/>
              <a:t>The body eliminates solid waste materials that cannot be absorbed into bloodstream.</a:t>
            </a:r>
          </a:p>
          <a:p>
            <a:pPr eaLnBrk="1" hangingPunct="1"/>
            <a:r>
              <a:rPr lang="en-US" altLang="en-US"/>
              <a:t>The large intestine concentrates feces. </a:t>
            </a:r>
          </a:p>
          <a:p>
            <a:pPr eaLnBrk="1" hangingPunct="1"/>
            <a:r>
              <a:rPr lang="en-US" altLang="en-US"/>
              <a:t>The wastes pass out of the body through the anus.  </a:t>
            </a:r>
          </a:p>
        </p:txBody>
      </p:sp>
    </p:spTree>
    <p:extLst>
      <p:ext uri="{BB962C8B-B14F-4D97-AF65-F5344CB8AC3E}">
        <p14:creationId xmlns:p14="http://schemas.microsoft.com/office/powerpoint/2010/main" val="1529556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a:t>Organs of the Digestive System</a:t>
            </a:r>
          </a:p>
        </p:txBody>
      </p:sp>
      <p:sp>
        <p:nvSpPr>
          <p:cNvPr id="14339" name="Rectangle 3"/>
          <p:cNvSpPr>
            <a:spLocks noGrp="1" noChangeArrowheads="1"/>
          </p:cNvSpPr>
          <p:nvPr>
            <p:ph idx="1"/>
          </p:nvPr>
        </p:nvSpPr>
        <p:spPr/>
        <p:txBody>
          <a:bodyPr/>
          <a:lstStyle/>
          <a:p>
            <a:pPr eaLnBrk="1" hangingPunct="1"/>
            <a:r>
              <a:rPr lang="en-US" altLang="en-US"/>
              <a:t>The gastrointestinal tract begins with the oral cavity.</a:t>
            </a:r>
          </a:p>
        </p:txBody>
      </p:sp>
    </p:spTree>
    <p:extLst>
      <p:ext uri="{BB962C8B-B14F-4D97-AF65-F5344CB8AC3E}">
        <p14:creationId xmlns:p14="http://schemas.microsoft.com/office/powerpoint/2010/main" val="1607010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8"/>
          <p:cNvSpPr>
            <a:spLocks noGrp="1" noChangeArrowheads="1"/>
          </p:cNvSpPr>
          <p:nvPr>
            <p:ph type="title"/>
          </p:nvPr>
        </p:nvSpPr>
        <p:spPr/>
        <p:txBody>
          <a:bodyPr/>
          <a:lstStyle/>
          <a:p>
            <a:pPr eaLnBrk="1" hangingPunct="1"/>
            <a:r>
              <a:rPr lang="en-US" altLang="en-US" dirty="0"/>
              <a:t>Oral Cavity (slide 1 of 4)</a:t>
            </a:r>
          </a:p>
        </p:txBody>
      </p:sp>
      <p:sp>
        <p:nvSpPr>
          <p:cNvPr id="15363" name="Rectangle 9"/>
          <p:cNvSpPr>
            <a:spLocks noGrp="1" noChangeArrowheads="1"/>
          </p:cNvSpPr>
          <p:nvPr>
            <p:ph type="body" sz="half" idx="1"/>
          </p:nvPr>
        </p:nvSpPr>
        <p:spPr>
          <a:xfrm>
            <a:off x="1790700" y="1447800"/>
            <a:ext cx="5562600" cy="5029200"/>
          </a:xfrm>
        </p:spPr>
        <p:txBody>
          <a:bodyPr/>
          <a:lstStyle/>
          <a:p>
            <a:pPr marL="0" indent="0" eaLnBrk="1" hangingPunct="1">
              <a:buFont typeface="Wingdings 2" panose="05020102010507070707" pitchFamily="18" charset="2"/>
              <a:buNone/>
            </a:pPr>
            <a:r>
              <a:rPr lang="en-US" altLang="en-US" b="1" dirty="0"/>
              <a:t>Major parts of the oral cavity:</a:t>
            </a:r>
          </a:p>
          <a:p>
            <a:pPr marL="400050" lvl="1" indent="0" eaLnBrk="1" hangingPunct="1">
              <a:buFont typeface="Arial" pitchFamily="34" charset="0"/>
              <a:buChar char="•"/>
            </a:pPr>
            <a:r>
              <a:rPr lang="en-US" altLang="en-US" sz="2000" b="1" dirty="0"/>
              <a:t> Cheeks</a:t>
            </a:r>
          </a:p>
          <a:p>
            <a:pPr marL="400050" lvl="1" indent="0" eaLnBrk="1" hangingPunct="1">
              <a:buFont typeface="Arial" pitchFamily="34" charset="0"/>
              <a:buChar char="•"/>
            </a:pPr>
            <a:r>
              <a:rPr lang="en-US" altLang="en-US" sz="2000" b="1" dirty="0"/>
              <a:t> Lips</a:t>
            </a:r>
          </a:p>
          <a:p>
            <a:pPr marL="400050" lvl="1" indent="0" eaLnBrk="1" hangingPunct="1">
              <a:buFont typeface="Arial" pitchFamily="34" charset="0"/>
              <a:buChar char="•"/>
            </a:pPr>
            <a:r>
              <a:rPr lang="en-US" altLang="en-US" sz="2000" b="1" dirty="0"/>
              <a:t> Hard palate</a:t>
            </a:r>
          </a:p>
          <a:p>
            <a:pPr marL="400050" lvl="1" indent="0" eaLnBrk="1" hangingPunct="1">
              <a:buFont typeface="Arial" pitchFamily="34" charset="0"/>
              <a:buChar char="•"/>
            </a:pPr>
            <a:r>
              <a:rPr lang="en-US" altLang="en-US" sz="2000" b="1" dirty="0"/>
              <a:t> Soft palate</a:t>
            </a:r>
          </a:p>
          <a:p>
            <a:pPr marL="400050" lvl="1" indent="0" eaLnBrk="1" hangingPunct="1">
              <a:buFont typeface="Arial" pitchFamily="34" charset="0"/>
              <a:buChar char="•"/>
            </a:pPr>
            <a:r>
              <a:rPr lang="en-US" altLang="en-US" sz="2000" b="1" dirty="0"/>
              <a:t> </a:t>
            </a:r>
            <a:r>
              <a:rPr lang="en-US" altLang="en-US" sz="2000" b="1" dirty="0" err="1"/>
              <a:t>Rugae</a:t>
            </a:r>
            <a:endParaRPr lang="en-US" altLang="en-US" sz="2000" b="1" dirty="0"/>
          </a:p>
          <a:p>
            <a:pPr marL="400050" lvl="1" indent="0" eaLnBrk="1" hangingPunct="1">
              <a:buFont typeface="Arial" pitchFamily="34" charset="0"/>
              <a:buChar char="•"/>
            </a:pPr>
            <a:r>
              <a:rPr lang="en-US" altLang="en-US" sz="2000" b="1" dirty="0"/>
              <a:t> Uvula</a:t>
            </a:r>
          </a:p>
          <a:p>
            <a:pPr marL="400050" lvl="1" indent="0" eaLnBrk="1" hangingPunct="1">
              <a:buFont typeface="Arial" pitchFamily="34" charset="0"/>
              <a:buChar char="•"/>
            </a:pPr>
            <a:r>
              <a:rPr lang="en-US" altLang="en-US" sz="2000" b="1" dirty="0"/>
              <a:t> Tongue</a:t>
            </a:r>
          </a:p>
          <a:p>
            <a:pPr marL="400050" lvl="1" indent="0" eaLnBrk="1" hangingPunct="1">
              <a:buFont typeface="Arial" pitchFamily="34" charset="0"/>
              <a:buChar char="•"/>
            </a:pPr>
            <a:r>
              <a:rPr lang="en-US" altLang="en-US" sz="2000" b="1" dirty="0"/>
              <a:t> Papillae</a:t>
            </a:r>
          </a:p>
          <a:p>
            <a:pPr marL="400050" lvl="1" indent="0" eaLnBrk="1" hangingPunct="1">
              <a:buFont typeface="Arial" pitchFamily="34" charset="0"/>
              <a:buChar char="•"/>
            </a:pPr>
            <a:r>
              <a:rPr lang="en-US" altLang="en-US" sz="2000" b="1" dirty="0"/>
              <a:t> Tonsils</a:t>
            </a:r>
          </a:p>
          <a:p>
            <a:pPr marL="400050" lvl="1" indent="0" eaLnBrk="1" hangingPunct="1">
              <a:buFont typeface="Arial" pitchFamily="34" charset="0"/>
              <a:buChar char="•"/>
            </a:pPr>
            <a:r>
              <a:rPr lang="en-US" altLang="en-US" sz="2000" b="1" dirty="0"/>
              <a:t> Gums </a:t>
            </a:r>
          </a:p>
          <a:p>
            <a:pPr marL="400050" lvl="1" indent="0" eaLnBrk="1" hangingPunct="1">
              <a:buFont typeface="Arial" pitchFamily="34" charset="0"/>
              <a:buChar char="•"/>
            </a:pPr>
            <a:r>
              <a:rPr lang="en-US" altLang="en-US" sz="2000" b="1" dirty="0"/>
              <a:t> Teeth</a:t>
            </a:r>
          </a:p>
          <a:p>
            <a:pPr marL="400050" lvl="1" indent="0" eaLnBrk="1" hangingPunct="1">
              <a:buFont typeface="Arial" pitchFamily="34" charset="0"/>
              <a:buChar char="•"/>
            </a:pPr>
            <a:r>
              <a:rPr lang="en-US" altLang="en-US" sz="2000" b="1" dirty="0"/>
              <a:t> Pharynx</a:t>
            </a:r>
          </a:p>
          <a:p>
            <a:pPr marL="0" indent="0" eaLnBrk="1" hangingPunct="1"/>
            <a:endParaRPr lang="en-US" altLang="en-US" sz="1800" dirty="0"/>
          </a:p>
        </p:txBody>
      </p:sp>
    </p:spTree>
    <p:extLst>
      <p:ext uri="{BB962C8B-B14F-4D97-AF65-F5344CB8AC3E}">
        <p14:creationId xmlns:p14="http://schemas.microsoft.com/office/powerpoint/2010/main" val="3266700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Oral Cavity (slide 2 of 4</a:t>
            </a:r>
            <a:r>
              <a:rPr lang="en-US" altLang="ja-JP" dirty="0"/>
              <a:t>)</a:t>
            </a:r>
            <a:endParaRPr lang="es-419" dirty="0"/>
          </a:p>
        </p:txBody>
      </p:sp>
      <p:sp>
        <p:nvSpPr>
          <p:cNvPr id="3" name="Content Placeholder 2"/>
          <p:cNvSpPr>
            <a:spLocks noGrp="1"/>
          </p:cNvSpPr>
          <p:nvPr>
            <p:ph sz="half" idx="1"/>
          </p:nvPr>
        </p:nvSpPr>
        <p:spPr>
          <a:xfrm>
            <a:off x="1143000" y="1627034"/>
            <a:ext cx="6324600" cy="952045"/>
          </a:xfrm>
        </p:spPr>
        <p:txBody>
          <a:bodyPr/>
          <a:lstStyle/>
          <a:p>
            <a:r>
              <a:rPr lang="en-US" altLang="en-US" b="1" dirty="0"/>
              <a:t>Major parts of the oral cavity</a:t>
            </a:r>
            <a:endParaRPr lang="en-US" altLang="en-US" sz="2000" dirty="0"/>
          </a:p>
          <a:p>
            <a:endParaRPr lang="es-419" dirty="0"/>
          </a:p>
        </p:txBody>
      </p:sp>
      <p:pic>
        <p:nvPicPr>
          <p:cNvPr id="6" name="Picture 7" descr="Oral cavity consists of cheeks, sides of mouth (bucc/o); lips, front of mouth (cheil/o, labi/o); hard palate, top of mouth toward front (palat/o); soft palate, behind hard palate (palat/o); rugae, irregular ridges that cover the anterior portion of hard palate; uvula, soft tissue projection hangs from the soft palate (uvul/o); tongue, extends across floor of oral cavity (gloss/o, lingu/o); papillae, small raised areas on tongue; tonsils, lie on both sides of oropharynx behind soft palate (tonsill/o); gums, tissue surrounding sockets of teeth (gingiv/o); and teeth, located along top and bottom dental arch of mouth (dent/i, odont/o). The pharnynx is located at back of mouth."/>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3505200" y="2570612"/>
            <a:ext cx="4495800" cy="37034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397251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6"/>
          <p:cNvSpPr>
            <a:spLocks noGrp="1" noChangeArrowheads="1"/>
          </p:cNvSpPr>
          <p:nvPr>
            <p:ph type="title"/>
          </p:nvPr>
        </p:nvSpPr>
        <p:spPr/>
        <p:txBody>
          <a:bodyPr/>
          <a:lstStyle/>
          <a:p>
            <a:pPr eaLnBrk="1" hangingPunct="1"/>
            <a:r>
              <a:rPr lang="en-US" altLang="en-US" dirty="0"/>
              <a:t>Oral Cavity (slide 3 of 8</a:t>
            </a:r>
            <a:r>
              <a:rPr lang="en-US" altLang="ja-JP" dirty="0"/>
              <a:t>)</a:t>
            </a:r>
            <a:endParaRPr lang="en-US" altLang="en-US" dirty="0"/>
          </a:p>
        </p:txBody>
      </p:sp>
      <p:sp>
        <p:nvSpPr>
          <p:cNvPr id="19459" name="Rectangle 7"/>
          <p:cNvSpPr>
            <a:spLocks noGrp="1" noChangeArrowheads="1"/>
          </p:cNvSpPr>
          <p:nvPr>
            <p:ph type="body" sz="half" idx="1"/>
          </p:nvPr>
        </p:nvSpPr>
        <p:spPr>
          <a:xfrm>
            <a:off x="685800" y="1600200"/>
            <a:ext cx="6324600" cy="4648200"/>
          </a:xfrm>
        </p:spPr>
        <p:txBody>
          <a:bodyPr/>
          <a:lstStyle/>
          <a:p>
            <a:pPr marL="0" indent="0" eaLnBrk="1" hangingPunct="1">
              <a:buFont typeface="Wingdings 2" panose="05020102010507070707" pitchFamily="18" charset="2"/>
              <a:buNone/>
            </a:pPr>
            <a:r>
              <a:rPr lang="en-US" altLang="en-US" b="1" dirty="0"/>
              <a:t>Anatomical terms of a tooth:</a:t>
            </a:r>
          </a:p>
          <a:p>
            <a:pPr marL="400050" lvl="1" indent="0" eaLnBrk="1" hangingPunct="1">
              <a:buFont typeface="Arial" pitchFamily="34" charset="0"/>
              <a:buChar char="•"/>
            </a:pPr>
            <a:r>
              <a:rPr lang="en-US" altLang="en-US" sz="2400" b="1" dirty="0"/>
              <a:t> Crown</a:t>
            </a:r>
          </a:p>
          <a:p>
            <a:pPr marL="400050" lvl="1" indent="0" eaLnBrk="1" hangingPunct="1">
              <a:buFont typeface="Arial" pitchFamily="34" charset="0"/>
              <a:buChar char="•"/>
            </a:pPr>
            <a:r>
              <a:rPr lang="en-US" altLang="en-US" sz="2400" b="1" dirty="0"/>
              <a:t> Root</a:t>
            </a:r>
          </a:p>
          <a:p>
            <a:pPr marL="400050" lvl="1" indent="0" eaLnBrk="1" hangingPunct="1">
              <a:buFont typeface="Arial" pitchFamily="34" charset="0"/>
              <a:buChar char="•"/>
            </a:pPr>
            <a:r>
              <a:rPr lang="en-US" altLang="en-US" sz="2400" b="1" dirty="0"/>
              <a:t> Enamel</a:t>
            </a:r>
          </a:p>
          <a:p>
            <a:pPr marL="400050" lvl="1" indent="0" eaLnBrk="1" hangingPunct="1">
              <a:buFont typeface="Arial" pitchFamily="34" charset="0"/>
              <a:buChar char="•"/>
            </a:pPr>
            <a:r>
              <a:rPr lang="en-US" altLang="en-US" sz="2400" b="1" dirty="0"/>
              <a:t> Dentin</a:t>
            </a:r>
          </a:p>
          <a:p>
            <a:pPr marL="400050" lvl="1" indent="0" eaLnBrk="1" hangingPunct="1">
              <a:buFont typeface="Arial" pitchFamily="34" charset="0"/>
              <a:buChar char="•"/>
            </a:pPr>
            <a:r>
              <a:rPr lang="en-US" altLang="en-US" sz="2400" b="1" dirty="0"/>
              <a:t> Pulp</a:t>
            </a:r>
          </a:p>
          <a:p>
            <a:pPr marL="400050" lvl="1" indent="0" eaLnBrk="1" hangingPunct="1">
              <a:buFont typeface="Arial" pitchFamily="34" charset="0"/>
              <a:buChar char="•"/>
            </a:pPr>
            <a:r>
              <a:rPr lang="en-US" altLang="en-US" sz="2400" b="1" dirty="0"/>
              <a:t> </a:t>
            </a:r>
            <a:r>
              <a:rPr lang="en-US" altLang="en-US" sz="2400" b="1" dirty="0" err="1"/>
              <a:t>Gingiva</a:t>
            </a:r>
            <a:endParaRPr lang="en-US" altLang="en-US" sz="2400" b="1" dirty="0"/>
          </a:p>
          <a:p>
            <a:pPr marL="400050" lvl="1" indent="0" eaLnBrk="1" hangingPunct="1">
              <a:buFont typeface="Arial" pitchFamily="34" charset="0"/>
              <a:buChar char="•"/>
            </a:pPr>
            <a:r>
              <a:rPr lang="en-US" altLang="en-US" sz="2400" b="1" dirty="0"/>
              <a:t> </a:t>
            </a:r>
            <a:r>
              <a:rPr lang="en-US" altLang="en-US" sz="2400" b="1" dirty="0" err="1"/>
              <a:t>Cementum</a:t>
            </a:r>
            <a:endParaRPr lang="en-US" altLang="en-US" sz="2400" b="1" dirty="0"/>
          </a:p>
          <a:p>
            <a:pPr marL="400050" lvl="1" indent="0" eaLnBrk="1" hangingPunct="1">
              <a:buFont typeface="Arial" pitchFamily="34" charset="0"/>
              <a:buChar char="•"/>
            </a:pPr>
            <a:r>
              <a:rPr lang="en-US" altLang="en-US" sz="2400" b="1" dirty="0"/>
              <a:t> Root canal</a:t>
            </a:r>
          </a:p>
          <a:p>
            <a:pPr marL="400050" lvl="1" indent="0" eaLnBrk="1" hangingPunct="1">
              <a:buFont typeface="Arial" pitchFamily="34" charset="0"/>
              <a:buChar char="•"/>
            </a:pPr>
            <a:r>
              <a:rPr lang="en-US" altLang="en-US" sz="2400" b="1" dirty="0"/>
              <a:t> Periodontal membrane</a:t>
            </a:r>
          </a:p>
          <a:p>
            <a:pPr marL="0" indent="0" eaLnBrk="1" hangingPunct="1">
              <a:buFont typeface="Wingdings 2" panose="05020102010507070707" pitchFamily="18" charset="2"/>
              <a:buNone/>
            </a:pPr>
            <a:endParaRPr lang="en-US" altLang="en-US" b="1" dirty="0"/>
          </a:p>
          <a:p>
            <a:pPr marL="0" indent="0" eaLnBrk="1" hangingPunct="1">
              <a:buFont typeface="Wingdings 2" panose="05020102010507070707" pitchFamily="18" charset="2"/>
              <a:buNone/>
            </a:pPr>
            <a:endParaRPr lang="en-US" altLang="en-US" b="1" dirty="0"/>
          </a:p>
        </p:txBody>
      </p:sp>
    </p:spTree>
    <p:extLst>
      <p:ext uri="{BB962C8B-B14F-4D97-AF65-F5344CB8AC3E}">
        <p14:creationId xmlns:p14="http://schemas.microsoft.com/office/powerpoint/2010/main" val="2510944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Oral Cavity (slide 4 of 4</a:t>
            </a:r>
            <a:r>
              <a:rPr lang="en-US" altLang="ja-JP" dirty="0"/>
              <a:t>)</a:t>
            </a:r>
            <a:endParaRPr lang="es-419" dirty="0"/>
          </a:p>
        </p:txBody>
      </p:sp>
      <p:sp>
        <p:nvSpPr>
          <p:cNvPr id="3" name="Content Placeholder 2"/>
          <p:cNvSpPr>
            <a:spLocks noGrp="1"/>
          </p:cNvSpPr>
          <p:nvPr>
            <p:ph sz="half" idx="1"/>
          </p:nvPr>
        </p:nvSpPr>
        <p:spPr>
          <a:xfrm>
            <a:off x="1104900" y="1636806"/>
            <a:ext cx="4038600" cy="806561"/>
          </a:xfrm>
        </p:spPr>
        <p:txBody>
          <a:bodyPr/>
          <a:lstStyle/>
          <a:p>
            <a:r>
              <a:rPr lang="en-US" altLang="en-US" b="1" dirty="0"/>
              <a:t>Anatomy of a tooth</a:t>
            </a:r>
          </a:p>
          <a:p>
            <a:endParaRPr lang="es-419" dirty="0"/>
          </a:p>
        </p:txBody>
      </p:sp>
      <p:pic>
        <p:nvPicPr>
          <p:cNvPr id="6" name="Picture 1031" descr="the anatomy of a tooth consists of the crown (the top part above the gum line), root (the bottom part below the gum line), enamel (outside layer that protects the tooth), dentin (lies beneath the enamel and extends throughout the crown), pulp ( lies underneath the dentin), gingiva (protective tissue surrounding the teeth), cementum (covers, protects, and supports the dentin in the root), root canal (the space within the root of the tooth), and periodontal membrane (surrounds the cementum and holds the tooth in place). The tooth sets in the bone of the jaw. Blood vessels and nerves are located below the bony area of the jaw."/>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2114550" y="2589323"/>
            <a:ext cx="4914900" cy="35448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863874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t>Deglutition (Swallowing)</a:t>
            </a:r>
            <a:endParaRPr lang="es-419" dirty="0"/>
          </a:p>
        </p:txBody>
      </p:sp>
      <p:pic>
        <p:nvPicPr>
          <p:cNvPr id="5" name="Picture 8" descr="Deglutition means swallowing. Image on left depicts the epiglottis close over the trachea as the bolus of food pass down the pharynx toward the esophagus. Image on right shows the epiglottis open as the bolus moves down the esophagu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55174" y="1600200"/>
            <a:ext cx="7633651"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2756267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6"/>
          <p:cNvSpPr>
            <a:spLocks noGrp="1" noChangeArrowheads="1"/>
          </p:cNvSpPr>
          <p:nvPr>
            <p:ph type="title"/>
          </p:nvPr>
        </p:nvSpPr>
        <p:spPr/>
        <p:txBody>
          <a:bodyPr/>
          <a:lstStyle/>
          <a:p>
            <a:pPr eaLnBrk="1" hangingPunct="1"/>
            <a:r>
              <a:rPr lang="en-US" altLang="en-US" dirty="0"/>
              <a:t>Esophagus/Stomach (slide 1 of 2)</a:t>
            </a:r>
          </a:p>
        </p:txBody>
      </p:sp>
      <p:sp>
        <p:nvSpPr>
          <p:cNvPr id="24579" name="Rectangle 7"/>
          <p:cNvSpPr>
            <a:spLocks noGrp="1" noChangeArrowheads="1"/>
          </p:cNvSpPr>
          <p:nvPr>
            <p:ph type="body" sz="half" idx="1"/>
          </p:nvPr>
        </p:nvSpPr>
        <p:spPr>
          <a:xfrm>
            <a:off x="685800" y="1600200"/>
            <a:ext cx="6629400" cy="4648200"/>
          </a:xfrm>
        </p:spPr>
        <p:txBody>
          <a:bodyPr/>
          <a:lstStyle/>
          <a:p>
            <a:pPr marL="0" indent="0" eaLnBrk="1" hangingPunct="1">
              <a:buFont typeface="Wingdings 2" panose="05020102010507070707" pitchFamily="18" charset="2"/>
              <a:buNone/>
            </a:pPr>
            <a:r>
              <a:rPr lang="en-US" altLang="en-US" b="1" dirty="0"/>
              <a:t>Parts of the stomach include:</a:t>
            </a:r>
          </a:p>
          <a:p>
            <a:pPr marL="0" indent="0" eaLnBrk="1" hangingPunct="1"/>
            <a:r>
              <a:rPr lang="en-US" altLang="en-US" sz="2400" b="1" dirty="0"/>
              <a:t> Lower esophageal sphincter (LES)</a:t>
            </a:r>
          </a:p>
          <a:p>
            <a:pPr marL="0" indent="0" eaLnBrk="1" hangingPunct="1"/>
            <a:r>
              <a:rPr lang="en-US" altLang="en-US" sz="2400" b="1" dirty="0"/>
              <a:t> </a:t>
            </a:r>
            <a:r>
              <a:rPr lang="en-US" altLang="en-US" sz="2400" b="1" dirty="0" err="1"/>
              <a:t>Fundus</a:t>
            </a:r>
            <a:endParaRPr lang="en-US" altLang="en-US" sz="2400" b="1" dirty="0"/>
          </a:p>
          <a:p>
            <a:pPr marL="0" indent="0" eaLnBrk="1" hangingPunct="1"/>
            <a:r>
              <a:rPr lang="en-US" altLang="en-US" sz="2400" b="1" dirty="0"/>
              <a:t> Greater curvature</a:t>
            </a:r>
          </a:p>
          <a:p>
            <a:pPr marL="0" indent="0" eaLnBrk="1" hangingPunct="1"/>
            <a:r>
              <a:rPr lang="en-US" altLang="en-US" sz="2400" b="1" dirty="0"/>
              <a:t> Lesser curvature</a:t>
            </a:r>
          </a:p>
          <a:p>
            <a:pPr marL="0" indent="0" eaLnBrk="1" hangingPunct="1"/>
            <a:r>
              <a:rPr lang="en-US" altLang="en-US" sz="2400" b="1" dirty="0"/>
              <a:t> </a:t>
            </a:r>
            <a:r>
              <a:rPr lang="en-US" altLang="en-US" sz="2400" b="1" dirty="0" err="1"/>
              <a:t>Rugae</a:t>
            </a:r>
            <a:endParaRPr lang="en-US" altLang="en-US" sz="2400" b="1" dirty="0"/>
          </a:p>
          <a:p>
            <a:pPr marL="0" indent="0" eaLnBrk="1" hangingPunct="1"/>
            <a:r>
              <a:rPr lang="en-US" altLang="en-US" sz="2400" b="1" dirty="0"/>
              <a:t> Body</a:t>
            </a:r>
          </a:p>
          <a:p>
            <a:pPr marL="0" indent="0" eaLnBrk="1" hangingPunct="1"/>
            <a:r>
              <a:rPr lang="en-US" altLang="en-US" sz="2400" b="1" dirty="0"/>
              <a:t> </a:t>
            </a:r>
            <a:r>
              <a:rPr lang="en-US" altLang="en-US" sz="2400" b="1" dirty="0" err="1"/>
              <a:t>Antrum</a:t>
            </a:r>
            <a:r>
              <a:rPr lang="en-US" altLang="en-US" sz="2400" b="1" dirty="0"/>
              <a:t> </a:t>
            </a:r>
          </a:p>
          <a:p>
            <a:pPr marL="0" indent="0" eaLnBrk="1" hangingPunct="1"/>
            <a:r>
              <a:rPr lang="en-US" altLang="en-US" sz="2400" b="1" dirty="0"/>
              <a:t> Pylorus</a:t>
            </a:r>
          </a:p>
          <a:p>
            <a:pPr marL="0" indent="0" eaLnBrk="1" hangingPunct="1"/>
            <a:r>
              <a:rPr lang="en-US" altLang="en-US" sz="2400" b="1" dirty="0"/>
              <a:t> Pyloric sphincter</a:t>
            </a:r>
          </a:p>
          <a:p>
            <a:pPr marL="0" indent="0" eaLnBrk="1" hangingPunct="1"/>
            <a:endParaRPr lang="en-US" altLang="en-US" sz="2400" dirty="0"/>
          </a:p>
        </p:txBody>
      </p:sp>
    </p:spTree>
    <p:extLst>
      <p:ext uri="{BB962C8B-B14F-4D97-AF65-F5344CB8AC3E}">
        <p14:creationId xmlns:p14="http://schemas.microsoft.com/office/powerpoint/2010/main" val="2238953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Grp="1" noChangeArrowheads="1"/>
          </p:cNvSpPr>
          <p:nvPr>
            <p:ph type="title"/>
          </p:nvPr>
        </p:nvSpPr>
        <p:spPr/>
        <p:txBody>
          <a:bodyPr/>
          <a:lstStyle/>
          <a:p>
            <a:pPr eaLnBrk="1" hangingPunct="1"/>
            <a:r>
              <a:rPr lang="en-US" altLang="en-US" dirty="0"/>
              <a:t>Esophagus/Stomach (slide 2 of 2</a:t>
            </a:r>
            <a:r>
              <a:rPr lang="en-US" altLang="ja-JP" dirty="0"/>
              <a:t>)</a:t>
            </a:r>
            <a:endParaRPr lang="en-US" altLang="en-US" dirty="0"/>
          </a:p>
        </p:txBody>
      </p:sp>
      <p:sp>
        <p:nvSpPr>
          <p:cNvPr id="25603" name="Rectangle 1027"/>
          <p:cNvSpPr>
            <a:spLocks noGrp="1" noChangeArrowheads="1"/>
          </p:cNvSpPr>
          <p:nvPr>
            <p:ph sz="half" idx="1"/>
          </p:nvPr>
        </p:nvSpPr>
        <p:spPr>
          <a:xfrm>
            <a:off x="855133" y="1600200"/>
            <a:ext cx="4038600" cy="4525963"/>
          </a:xfrm>
        </p:spPr>
        <p:txBody>
          <a:bodyPr/>
          <a:lstStyle/>
          <a:p>
            <a:pPr marL="0" indent="0" eaLnBrk="1" hangingPunct="1">
              <a:buFont typeface="Wingdings 2" panose="05020102010507070707" pitchFamily="18" charset="2"/>
              <a:buNone/>
            </a:pPr>
            <a:r>
              <a:rPr lang="en-US" altLang="en-US" b="1" dirty="0"/>
              <a:t>Parts of the stomach</a:t>
            </a:r>
            <a:endParaRPr lang="en-US" altLang="en-US" sz="2400" b="1" dirty="0"/>
          </a:p>
          <a:p>
            <a:pPr marL="0" indent="0" eaLnBrk="1" hangingPunct="1"/>
            <a:endParaRPr lang="en-US" altLang="en-US" sz="2400" dirty="0"/>
          </a:p>
        </p:txBody>
      </p:sp>
      <p:pic>
        <p:nvPicPr>
          <p:cNvPr id="6" name="Picture 1031" descr="The stomach has 3 main parts: fundus, upper portion; body, middle section; and antrum, lower portion. The greater curvature is on the outer area of the stomach, the lesser curvature is on the inner area. The lower esophageal sphincter relaxes and contract to move food from the esophagus into the stomach. The pyloric sphincter allows food to leave the stomach and enter the small intestine. Rugae are folds in the mucous membrane lining the stomach. "/>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3886200" y="2593860"/>
            <a:ext cx="4038600" cy="35323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562250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6"/>
          <p:cNvSpPr>
            <a:spLocks noGrp="1" noChangeArrowheads="1"/>
          </p:cNvSpPr>
          <p:nvPr>
            <p:ph type="title"/>
          </p:nvPr>
        </p:nvSpPr>
        <p:spPr/>
        <p:txBody>
          <a:bodyPr/>
          <a:lstStyle/>
          <a:p>
            <a:pPr eaLnBrk="1" hangingPunct="1"/>
            <a:r>
              <a:rPr lang="en-US" altLang="en-US" dirty="0"/>
              <a:t>The Digestive Tract (slide 1 of 2)</a:t>
            </a:r>
          </a:p>
        </p:txBody>
      </p:sp>
      <p:sp>
        <p:nvSpPr>
          <p:cNvPr id="2" name="Content Placeholder 1"/>
          <p:cNvSpPr>
            <a:spLocks noGrp="1"/>
          </p:cNvSpPr>
          <p:nvPr>
            <p:ph idx="1"/>
          </p:nvPr>
        </p:nvSpPr>
        <p:spPr>
          <a:xfrm>
            <a:off x="889000" y="1600200"/>
            <a:ext cx="8229600" cy="4724400"/>
          </a:xfrm>
        </p:spPr>
        <p:txBody>
          <a:bodyPr numCol="2"/>
          <a:lstStyle/>
          <a:p>
            <a:pPr marL="0" indent="0">
              <a:buNone/>
            </a:pPr>
            <a:r>
              <a:rPr lang="en-US" sz="2800" b="1" dirty="0"/>
              <a:t>Anatomical terms of the digestive tract:</a:t>
            </a:r>
          </a:p>
          <a:p>
            <a:pPr lvl="1">
              <a:buFont typeface="Wingdings" panose="05000000000000000000" pitchFamily="2" charset="2"/>
              <a:buChar char="q"/>
            </a:pPr>
            <a:r>
              <a:rPr lang="en-US" sz="2400" b="1" dirty="0"/>
              <a:t> Esophagus</a:t>
            </a:r>
          </a:p>
          <a:p>
            <a:pPr lvl="1">
              <a:buFont typeface="Wingdings" panose="05000000000000000000" pitchFamily="2" charset="2"/>
              <a:buChar char="q"/>
            </a:pPr>
            <a:r>
              <a:rPr lang="en-US" sz="2400" b="1" dirty="0"/>
              <a:t> Stomach</a:t>
            </a:r>
          </a:p>
          <a:p>
            <a:pPr lvl="1">
              <a:buFont typeface="Wingdings" panose="05000000000000000000" pitchFamily="2" charset="2"/>
              <a:buChar char="q"/>
            </a:pPr>
            <a:r>
              <a:rPr lang="en-US" sz="2400" b="1" dirty="0"/>
              <a:t> Duodenum</a:t>
            </a:r>
          </a:p>
          <a:p>
            <a:pPr lvl="1">
              <a:buFont typeface="Wingdings" panose="05000000000000000000" pitchFamily="2" charset="2"/>
              <a:buChar char="q"/>
            </a:pPr>
            <a:r>
              <a:rPr lang="en-US" sz="2400" b="1" dirty="0"/>
              <a:t> Liver</a:t>
            </a:r>
          </a:p>
          <a:p>
            <a:pPr lvl="1">
              <a:buFont typeface="Wingdings" panose="05000000000000000000" pitchFamily="2" charset="2"/>
              <a:buChar char="q"/>
            </a:pPr>
            <a:r>
              <a:rPr lang="en-US" sz="2400" b="1" dirty="0"/>
              <a:t> Gallbladder</a:t>
            </a:r>
          </a:p>
          <a:p>
            <a:pPr lvl="1">
              <a:buFont typeface="Wingdings" panose="05000000000000000000" pitchFamily="2" charset="2"/>
              <a:buChar char="q"/>
            </a:pPr>
            <a:r>
              <a:rPr lang="en-US" sz="2400" b="1" dirty="0"/>
              <a:t> Pancreas</a:t>
            </a:r>
          </a:p>
          <a:p>
            <a:pPr lvl="1">
              <a:buFont typeface="Wingdings" panose="05000000000000000000" pitchFamily="2" charset="2"/>
              <a:buChar char="q"/>
            </a:pPr>
            <a:r>
              <a:rPr lang="en-US" sz="2400" b="1" dirty="0"/>
              <a:t> Jejunum</a:t>
            </a:r>
          </a:p>
          <a:p>
            <a:pPr lvl="1">
              <a:buFont typeface="Wingdings" panose="05000000000000000000" pitchFamily="2" charset="2"/>
              <a:buChar char="q"/>
            </a:pPr>
            <a:r>
              <a:rPr lang="en-US" sz="2400" b="1" dirty="0"/>
              <a:t> Ileum</a:t>
            </a:r>
          </a:p>
          <a:p>
            <a:pPr marL="457200" lvl="1" indent="0">
              <a:buNone/>
            </a:pPr>
            <a:endParaRPr lang="en-US" sz="2400" b="1" dirty="0"/>
          </a:p>
          <a:p>
            <a:pPr lvl="1">
              <a:buFont typeface="Wingdings" panose="05000000000000000000" pitchFamily="2" charset="2"/>
              <a:buChar char="q"/>
            </a:pPr>
            <a:endParaRPr lang="en-US" sz="2400" b="1" dirty="0"/>
          </a:p>
          <a:p>
            <a:pPr lvl="1">
              <a:buFont typeface="Wingdings" panose="05000000000000000000" pitchFamily="2" charset="2"/>
              <a:buChar char="q"/>
            </a:pPr>
            <a:endParaRPr lang="en-US" sz="2400" b="1" dirty="0"/>
          </a:p>
          <a:p>
            <a:pPr lvl="1">
              <a:buFont typeface="Wingdings" panose="05000000000000000000" pitchFamily="2" charset="2"/>
              <a:buChar char="q"/>
            </a:pPr>
            <a:endParaRPr lang="en-US" sz="2400" b="1" dirty="0"/>
          </a:p>
          <a:p>
            <a:pPr lvl="1">
              <a:buFont typeface="Wingdings" panose="05000000000000000000" pitchFamily="2" charset="2"/>
              <a:buChar char="q"/>
            </a:pPr>
            <a:r>
              <a:rPr lang="en-US" sz="2400" b="1" dirty="0"/>
              <a:t>Cecum</a:t>
            </a:r>
          </a:p>
          <a:p>
            <a:pPr lvl="1">
              <a:buFont typeface="Wingdings" panose="05000000000000000000" pitchFamily="2" charset="2"/>
              <a:buChar char="q"/>
            </a:pPr>
            <a:r>
              <a:rPr lang="en-US" sz="2400" b="1" dirty="0"/>
              <a:t> Appendix</a:t>
            </a:r>
          </a:p>
          <a:p>
            <a:pPr lvl="1">
              <a:buFont typeface="Wingdings" panose="05000000000000000000" pitchFamily="2" charset="2"/>
              <a:buChar char="q"/>
            </a:pPr>
            <a:r>
              <a:rPr lang="en-US" sz="2400" b="1" dirty="0"/>
              <a:t> Ascending colon</a:t>
            </a:r>
          </a:p>
          <a:p>
            <a:pPr lvl="1">
              <a:buFont typeface="Wingdings" panose="05000000000000000000" pitchFamily="2" charset="2"/>
              <a:buChar char="q"/>
            </a:pPr>
            <a:r>
              <a:rPr lang="en-US" sz="2400" b="1" dirty="0"/>
              <a:t> Transverse colon</a:t>
            </a:r>
          </a:p>
          <a:p>
            <a:pPr lvl="1">
              <a:buFont typeface="Wingdings" panose="05000000000000000000" pitchFamily="2" charset="2"/>
              <a:buChar char="q"/>
            </a:pPr>
            <a:r>
              <a:rPr lang="en-US" sz="2400" b="1" dirty="0"/>
              <a:t> Descending colon</a:t>
            </a:r>
          </a:p>
          <a:p>
            <a:pPr lvl="1">
              <a:buFont typeface="Wingdings" panose="05000000000000000000" pitchFamily="2" charset="2"/>
              <a:buChar char="q"/>
            </a:pPr>
            <a:r>
              <a:rPr lang="en-US" sz="2400" b="1" dirty="0"/>
              <a:t> Sigmoid colon</a:t>
            </a:r>
          </a:p>
          <a:p>
            <a:pPr lvl="1">
              <a:buFont typeface="Wingdings" panose="05000000000000000000" pitchFamily="2" charset="2"/>
              <a:buChar char="q"/>
            </a:pPr>
            <a:r>
              <a:rPr lang="en-US" sz="2400" b="1" dirty="0"/>
              <a:t> Rectum </a:t>
            </a:r>
          </a:p>
          <a:p>
            <a:pPr lvl="1">
              <a:buFont typeface="Wingdings" panose="05000000000000000000" pitchFamily="2" charset="2"/>
              <a:buChar char="q"/>
            </a:pPr>
            <a:r>
              <a:rPr lang="en-US" sz="2400" b="1" dirty="0"/>
              <a:t> Anus</a:t>
            </a:r>
          </a:p>
          <a:p>
            <a:endParaRPr lang="es-419" dirty="0"/>
          </a:p>
        </p:txBody>
      </p:sp>
    </p:spTree>
    <p:extLst>
      <p:ext uri="{BB962C8B-B14F-4D97-AF65-F5344CB8AC3E}">
        <p14:creationId xmlns:p14="http://schemas.microsoft.com/office/powerpoint/2010/main" val="42405647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026"/>
          <p:cNvSpPr>
            <a:spLocks noGrp="1" noChangeArrowheads="1"/>
          </p:cNvSpPr>
          <p:nvPr>
            <p:ph type="title"/>
          </p:nvPr>
        </p:nvSpPr>
        <p:spPr/>
        <p:txBody>
          <a:bodyPr/>
          <a:lstStyle/>
          <a:p>
            <a:pPr eaLnBrk="1" hangingPunct="1"/>
            <a:r>
              <a:rPr lang="en-US" altLang="en-US" dirty="0"/>
              <a:t>The Digestive Tract (slide 2 of 2</a:t>
            </a:r>
            <a:r>
              <a:rPr lang="en-US" altLang="ja-JP" dirty="0"/>
              <a:t>)</a:t>
            </a:r>
            <a:endParaRPr lang="en-US" altLang="en-US" dirty="0"/>
          </a:p>
        </p:txBody>
      </p:sp>
      <p:pic>
        <p:nvPicPr>
          <p:cNvPr id="5" name="Picture 1031" descr="The passageway for food  as it travels from the esophagus through the digestive tract from top to bottom: Esophagus, stomach, duodenum, liver, gallbladder, pancreas, jejunum, ileum, cecum, appendix, ascending colon, transverse colon, descending colon, sigmoid colon, rectum, and anu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878414" y="1600200"/>
            <a:ext cx="3387172"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724751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en-US"/>
              <a:t>Small Intestine</a:t>
            </a:r>
          </a:p>
        </p:txBody>
      </p:sp>
      <p:sp>
        <p:nvSpPr>
          <p:cNvPr id="28675" name="Rectangle 3"/>
          <p:cNvSpPr>
            <a:spLocks noGrp="1" noChangeArrowheads="1"/>
          </p:cNvSpPr>
          <p:nvPr>
            <p:ph sz="half" idx="1"/>
          </p:nvPr>
        </p:nvSpPr>
        <p:spPr>
          <a:xfrm>
            <a:off x="1104900" y="1409171"/>
            <a:ext cx="7467600" cy="990600"/>
          </a:xfrm>
        </p:spPr>
        <p:txBody>
          <a:bodyPr/>
          <a:lstStyle/>
          <a:p>
            <a:pPr marL="0" indent="0" eaLnBrk="1" hangingPunct="1">
              <a:buFont typeface="Wingdings 2" panose="05020102010507070707" pitchFamily="18" charset="2"/>
              <a:buNone/>
            </a:pPr>
            <a:r>
              <a:rPr lang="en-US" altLang="en-US" b="1" dirty="0"/>
              <a:t>Villi in the lining of the small intestine</a:t>
            </a:r>
            <a:endParaRPr lang="en-US" altLang="en-US" sz="2400" dirty="0"/>
          </a:p>
        </p:txBody>
      </p:sp>
      <p:pic>
        <p:nvPicPr>
          <p:cNvPr id="6" name="Picture 9" descr="Microscopic projections called villi line the walls of the small intestine. The tiny capillaries in the villi absorb the digested nutrients via blood and lymph vessels  into the bloodstream."/>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3276600" y="1921404"/>
            <a:ext cx="4038600" cy="42963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3653846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en-US" dirty="0"/>
              <a:t>Large Intestine (slide 1 of 2)</a:t>
            </a:r>
          </a:p>
        </p:txBody>
      </p:sp>
      <p:sp>
        <p:nvSpPr>
          <p:cNvPr id="29699" name="Rectangle 3"/>
          <p:cNvSpPr>
            <a:spLocks noGrp="1" noChangeArrowheads="1"/>
          </p:cNvSpPr>
          <p:nvPr>
            <p:ph type="body" sz="half" idx="1"/>
          </p:nvPr>
        </p:nvSpPr>
        <p:spPr>
          <a:xfrm>
            <a:off x="685800" y="1641475"/>
            <a:ext cx="7772400" cy="4683125"/>
          </a:xfrm>
        </p:spPr>
        <p:txBody>
          <a:bodyPr/>
          <a:lstStyle/>
          <a:p>
            <a:pPr marL="0" indent="0" eaLnBrk="1" hangingPunct="1">
              <a:buFont typeface="Wingdings 2" panose="05020102010507070707" pitchFamily="18" charset="2"/>
              <a:buNone/>
            </a:pPr>
            <a:r>
              <a:rPr lang="en-US" altLang="en-US" b="1" dirty="0"/>
              <a:t>Parts of the large intestine:</a:t>
            </a:r>
          </a:p>
          <a:p>
            <a:pPr marL="0" indent="0" eaLnBrk="1" hangingPunct="1"/>
            <a:r>
              <a:rPr lang="en-US" altLang="en-US" sz="1800" b="1" dirty="0"/>
              <a:t> </a:t>
            </a:r>
            <a:r>
              <a:rPr lang="en-US" altLang="en-US" sz="1800" b="1" dirty="0" err="1"/>
              <a:t>Cecum</a:t>
            </a:r>
            <a:endParaRPr lang="en-US" altLang="en-US" sz="1800" b="1" dirty="0"/>
          </a:p>
          <a:p>
            <a:pPr marL="0" indent="0" eaLnBrk="1" hangingPunct="1"/>
            <a:r>
              <a:rPr lang="en-US" altLang="en-US" sz="1800" b="1" dirty="0"/>
              <a:t> Appendix</a:t>
            </a:r>
          </a:p>
          <a:p>
            <a:pPr marL="0" indent="0" eaLnBrk="1" hangingPunct="1"/>
            <a:r>
              <a:rPr lang="en-US" altLang="en-US" sz="1800" b="1" dirty="0"/>
              <a:t> Ascending colon</a:t>
            </a:r>
          </a:p>
          <a:p>
            <a:pPr marL="0" indent="0" eaLnBrk="1" hangingPunct="1"/>
            <a:r>
              <a:rPr lang="en-US" altLang="en-US" sz="1800" b="1" dirty="0"/>
              <a:t> Transverse colon</a:t>
            </a:r>
          </a:p>
          <a:p>
            <a:pPr marL="0" indent="0" eaLnBrk="1" hangingPunct="1"/>
            <a:r>
              <a:rPr lang="en-US" altLang="en-US" sz="1800" b="1" dirty="0"/>
              <a:t> Descending colon</a:t>
            </a:r>
          </a:p>
          <a:p>
            <a:pPr marL="0" indent="0" eaLnBrk="1" hangingPunct="1"/>
            <a:r>
              <a:rPr lang="en-US" altLang="en-US" sz="1800" b="1" dirty="0"/>
              <a:t> Sigmoid colon</a:t>
            </a:r>
          </a:p>
          <a:p>
            <a:pPr marL="0" indent="0" eaLnBrk="1" hangingPunct="1"/>
            <a:r>
              <a:rPr lang="en-US" altLang="en-US" sz="1800" b="1" dirty="0"/>
              <a:t> Rectum</a:t>
            </a:r>
          </a:p>
          <a:p>
            <a:pPr marL="0" indent="0" eaLnBrk="1" hangingPunct="1"/>
            <a:r>
              <a:rPr lang="en-US" altLang="en-US" sz="1800" b="1" dirty="0"/>
              <a:t> Anus</a:t>
            </a:r>
          </a:p>
          <a:p>
            <a:pPr marL="0" indent="0" eaLnBrk="1" hangingPunct="1"/>
            <a:endParaRPr lang="en-US" altLang="en-US" sz="1800" b="1" dirty="0"/>
          </a:p>
        </p:txBody>
      </p:sp>
    </p:spTree>
    <p:extLst>
      <p:ext uri="{BB962C8B-B14F-4D97-AF65-F5344CB8AC3E}">
        <p14:creationId xmlns:p14="http://schemas.microsoft.com/office/powerpoint/2010/main" val="22662702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en-US" dirty="0"/>
              <a:t>Large Intestine (slide 2 of 2</a:t>
            </a:r>
            <a:r>
              <a:rPr lang="en-US" altLang="ja-JP" dirty="0"/>
              <a:t>)</a:t>
            </a:r>
            <a:endParaRPr lang="en-US" altLang="en-US" dirty="0"/>
          </a:p>
        </p:txBody>
      </p:sp>
      <p:sp>
        <p:nvSpPr>
          <p:cNvPr id="30723" name="Rectangle 3"/>
          <p:cNvSpPr>
            <a:spLocks noGrp="1" noChangeArrowheads="1"/>
          </p:cNvSpPr>
          <p:nvPr>
            <p:ph sz="half" idx="1"/>
          </p:nvPr>
        </p:nvSpPr>
        <p:spPr>
          <a:xfrm>
            <a:off x="702733" y="1694335"/>
            <a:ext cx="5638800" cy="838200"/>
          </a:xfrm>
        </p:spPr>
        <p:txBody>
          <a:bodyPr/>
          <a:lstStyle/>
          <a:p>
            <a:pPr marL="0" indent="0" eaLnBrk="1" hangingPunct="1">
              <a:buFont typeface="Wingdings 2" panose="05020102010507070707" pitchFamily="18" charset="2"/>
              <a:buNone/>
            </a:pPr>
            <a:r>
              <a:rPr lang="en-US" altLang="en-US" b="1" dirty="0"/>
              <a:t>Parts of the large intestine</a:t>
            </a:r>
          </a:p>
        </p:txBody>
      </p:sp>
      <p:pic>
        <p:nvPicPr>
          <p:cNvPr id="6" name="Picture 7" descr="The large intestine extends from the end of the ileum to the anus. The cecum is a pouch on the right side that connects to the ileum and ileocecal valve. The appendix hangs from the cecum. The colon has 4 segments: ascending colon, extending from the cecum to the undersurface of the liver; transverse colon, passing horizontally to the left toward the spleen and then turns downward into the descending colon. The sigmoid colon (shaped like an S), begins at the distal end of the descending colon and leads into the rectum. The rectum terminates in the lower opening of the anus. "/>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295400" y="2809233"/>
            <a:ext cx="6400800" cy="34656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997477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85800" y="152400"/>
            <a:ext cx="7772400" cy="1143000"/>
          </a:xfrm>
        </p:spPr>
        <p:txBody>
          <a:bodyPr/>
          <a:lstStyle/>
          <a:p>
            <a:pPr eaLnBrk="1" hangingPunct="1"/>
            <a:r>
              <a:rPr lang="en-US" altLang="en-US" dirty="0"/>
              <a:t>Liver, Gallbladder, and Pancreas </a:t>
            </a:r>
            <a:r>
              <a:rPr lang="en-US" altLang="en-US" sz="4000" dirty="0"/>
              <a:t>(Slide 1 of 5)</a:t>
            </a:r>
          </a:p>
        </p:txBody>
      </p:sp>
      <p:sp>
        <p:nvSpPr>
          <p:cNvPr id="31747" name="Rectangle 3"/>
          <p:cNvSpPr>
            <a:spLocks noGrp="1" noChangeArrowheads="1"/>
          </p:cNvSpPr>
          <p:nvPr>
            <p:ph type="body" sz="half" idx="1"/>
          </p:nvPr>
        </p:nvSpPr>
        <p:spPr>
          <a:xfrm>
            <a:off x="685800" y="1641475"/>
            <a:ext cx="7696200" cy="4454525"/>
          </a:xfrm>
        </p:spPr>
        <p:txBody>
          <a:bodyPr/>
          <a:lstStyle/>
          <a:p>
            <a:pPr marL="0" indent="0" eaLnBrk="1" hangingPunct="1">
              <a:buFont typeface="Wingdings 2" panose="05020102010507070707" pitchFamily="18" charset="2"/>
              <a:buNone/>
            </a:pPr>
            <a:r>
              <a:rPr lang="en-US" altLang="en-US" b="1" dirty="0"/>
              <a:t>Parts of the liver, gallbladder, and pancreas:</a:t>
            </a:r>
          </a:p>
          <a:p>
            <a:pPr marL="0" indent="0" eaLnBrk="1" hangingPunct="1"/>
            <a:r>
              <a:rPr lang="en-US" altLang="en-US" sz="1800" b="1" dirty="0"/>
              <a:t> </a:t>
            </a:r>
            <a:r>
              <a:rPr lang="en-US" altLang="en-US" sz="2400" b="1" dirty="0"/>
              <a:t>Liver</a:t>
            </a:r>
          </a:p>
          <a:p>
            <a:pPr marL="0" indent="0" eaLnBrk="1" hangingPunct="1"/>
            <a:r>
              <a:rPr lang="en-US" altLang="en-US" sz="2400" b="1" dirty="0"/>
              <a:t> Gallbladder</a:t>
            </a:r>
          </a:p>
          <a:p>
            <a:pPr marL="0" indent="0" eaLnBrk="1" hangingPunct="1"/>
            <a:r>
              <a:rPr lang="en-US" altLang="en-US" sz="2400" b="1" dirty="0"/>
              <a:t> Common bile duct</a:t>
            </a:r>
          </a:p>
          <a:p>
            <a:pPr marL="0" indent="0" eaLnBrk="1" hangingPunct="1"/>
            <a:r>
              <a:rPr lang="en-US" altLang="en-US" sz="2400" b="1" dirty="0"/>
              <a:t> Pancreas</a:t>
            </a:r>
          </a:p>
          <a:p>
            <a:pPr marL="0" indent="0" eaLnBrk="1" hangingPunct="1"/>
            <a:r>
              <a:rPr lang="en-US" altLang="en-US" sz="2400" b="1" dirty="0"/>
              <a:t> Pancreatic duct</a:t>
            </a:r>
          </a:p>
          <a:p>
            <a:pPr marL="0" indent="0" eaLnBrk="1" hangingPunct="1"/>
            <a:r>
              <a:rPr lang="en-US" altLang="en-US" sz="2400" b="1" dirty="0"/>
              <a:t> Duodenum</a:t>
            </a:r>
          </a:p>
        </p:txBody>
      </p:sp>
    </p:spTree>
    <p:extLst>
      <p:ext uri="{BB962C8B-B14F-4D97-AF65-F5344CB8AC3E}">
        <p14:creationId xmlns:p14="http://schemas.microsoft.com/office/powerpoint/2010/main" val="4128748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305" name="Rectangle 1033"/>
          <p:cNvSpPr>
            <a:spLocks noGrp="1" noChangeArrowheads="1"/>
          </p:cNvSpPr>
          <p:nvPr>
            <p:ph type="title"/>
          </p:nvPr>
        </p:nvSpPr>
        <p:spPr/>
        <p:txBody>
          <a:bodyPr rtlCol="0">
            <a:normAutofit fontScale="90000"/>
          </a:bodyPr>
          <a:lstStyle/>
          <a:p>
            <a:pPr eaLnBrk="1" fontAlgn="auto" hangingPunct="1">
              <a:spcAft>
                <a:spcPts val="0"/>
              </a:spcAft>
              <a:defRPr/>
            </a:pPr>
            <a:r>
              <a:rPr lang="en-US" dirty="0"/>
              <a:t>Liver, Gallbladder, and </a:t>
            </a:r>
            <a:br>
              <a:rPr lang="en-US" dirty="0"/>
            </a:br>
            <a:r>
              <a:rPr lang="en-US" dirty="0"/>
              <a:t>Pancreas (slide 2 of 5</a:t>
            </a:r>
            <a:r>
              <a:rPr lang="en-US" altLang="ja-JP" dirty="0"/>
              <a:t>)</a:t>
            </a:r>
            <a:endParaRPr lang="en-US" dirty="0"/>
          </a:p>
        </p:txBody>
      </p:sp>
      <p:sp>
        <p:nvSpPr>
          <p:cNvPr id="32771" name="Rectangle 1027"/>
          <p:cNvSpPr>
            <a:spLocks noGrp="1" noChangeArrowheads="1"/>
          </p:cNvSpPr>
          <p:nvPr>
            <p:ph sz="half" idx="1"/>
          </p:nvPr>
        </p:nvSpPr>
        <p:spPr>
          <a:xfrm>
            <a:off x="685800" y="1661636"/>
            <a:ext cx="7620000" cy="967369"/>
          </a:xfrm>
        </p:spPr>
        <p:txBody>
          <a:bodyPr/>
          <a:lstStyle/>
          <a:p>
            <a:pPr marL="0" indent="0" eaLnBrk="1" hangingPunct="1">
              <a:buFont typeface="Wingdings 2" panose="05020102010507070707" pitchFamily="18" charset="2"/>
              <a:buNone/>
            </a:pPr>
            <a:r>
              <a:rPr lang="en-US" altLang="en-US" b="1" dirty="0"/>
              <a:t>Parts of the liver, gallbladder, and pancreas</a:t>
            </a:r>
            <a:endParaRPr lang="en-US" altLang="en-US" b="1" dirty="0">
              <a:solidFill>
                <a:srgbClr val="FF0000"/>
              </a:solidFill>
            </a:endParaRPr>
          </a:p>
        </p:txBody>
      </p:sp>
      <p:pic>
        <p:nvPicPr>
          <p:cNvPr id="6" name="Picture 1031" descr="The liver is located in the right upper quadrant of the abdomen and produces bile. As the bile is released, it travels through the hepatic duct to the cystic duct and then to the gallbladder, a pear-shaped sac under the liver. When the gallbladder contracts, it forces bile out of the cystic duct into the common bile duct. The pancreas is located below and behind the stomach, it secretes enzymes that are released into the pancreatic duct, which joins the common bile duct just as it enters the duodenum. The duodenum receives a mixture of bile and pancreatic secretions. "/>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604962" y="2567569"/>
            <a:ext cx="5781675" cy="37580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40964939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990600" y="304800"/>
            <a:ext cx="7162800" cy="1143000"/>
          </a:xfrm>
        </p:spPr>
        <p:txBody>
          <a:bodyPr rtlCol="0">
            <a:normAutofit fontScale="90000"/>
          </a:bodyPr>
          <a:lstStyle/>
          <a:p>
            <a:pPr eaLnBrk="1" fontAlgn="auto" hangingPunct="1">
              <a:spcAft>
                <a:spcPts val="0"/>
              </a:spcAft>
              <a:defRPr/>
            </a:pPr>
            <a:r>
              <a:rPr lang="en-US" dirty="0"/>
              <a:t>Liver, Gallbladder, and Pancreas (slide 3 of 5</a:t>
            </a:r>
            <a:r>
              <a:rPr lang="en-US" altLang="ja-JP" dirty="0"/>
              <a:t>)</a:t>
            </a:r>
            <a:endParaRPr lang="en-US" dirty="0"/>
          </a:p>
        </p:txBody>
      </p:sp>
      <p:sp>
        <p:nvSpPr>
          <p:cNvPr id="33795" name="Rectangle 3"/>
          <p:cNvSpPr>
            <a:spLocks noGrp="1" noChangeArrowheads="1"/>
          </p:cNvSpPr>
          <p:nvPr>
            <p:ph idx="1"/>
          </p:nvPr>
        </p:nvSpPr>
        <p:spPr>
          <a:xfrm>
            <a:off x="685800" y="1905000"/>
            <a:ext cx="7772400" cy="4114800"/>
          </a:xfrm>
        </p:spPr>
        <p:txBody>
          <a:bodyPr/>
          <a:lstStyle/>
          <a:p>
            <a:pPr eaLnBrk="1" hangingPunct="1">
              <a:lnSpc>
                <a:spcPct val="80000"/>
              </a:lnSpc>
              <a:buFont typeface="Wingdings 2" panose="05020102010507070707" pitchFamily="18" charset="2"/>
              <a:buNone/>
            </a:pPr>
            <a:r>
              <a:rPr lang="en-US" altLang="en-US" b="1" dirty="0">
                <a:ea typeface="MS PGothic" panose="020B0600070205080204" pitchFamily="34" charset="-128"/>
              </a:rPr>
              <a:t>Besides producing bile, the liver:</a:t>
            </a:r>
          </a:p>
          <a:p>
            <a:pPr eaLnBrk="1" hangingPunct="1"/>
            <a:r>
              <a:rPr lang="en-US" altLang="en-US" dirty="0">
                <a:ea typeface="MS PGothic" panose="020B0600070205080204" pitchFamily="34" charset="-128"/>
              </a:rPr>
              <a:t>Helps maintain normal blood glucose levels</a:t>
            </a:r>
          </a:p>
          <a:p>
            <a:pPr eaLnBrk="1" hangingPunct="1"/>
            <a:r>
              <a:rPr lang="en-US" altLang="en-US" dirty="0">
                <a:ea typeface="MS PGothic" panose="020B0600070205080204" pitchFamily="34" charset="-128"/>
              </a:rPr>
              <a:t>Manufactures blood proteins necessary for clotting</a:t>
            </a:r>
          </a:p>
          <a:p>
            <a:pPr eaLnBrk="1" hangingPunct="1"/>
            <a:r>
              <a:rPr lang="en-US" altLang="en-US" dirty="0">
                <a:ea typeface="MS PGothic" panose="020B0600070205080204" pitchFamily="34" charset="-128"/>
              </a:rPr>
              <a:t>Releases bilirubin, a pigment in bile</a:t>
            </a:r>
          </a:p>
          <a:p>
            <a:pPr eaLnBrk="1" hangingPunct="1"/>
            <a:r>
              <a:rPr lang="en-US" altLang="en-US" dirty="0">
                <a:ea typeface="MS PGothic" panose="020B0600070205080204" pitchFamily="34" charset="-128"/>
              </a:rPr>
              <a:t>Removes toxins and poisons from the blood</a:t>
            </a:r>
          </a:p>
          <a:p>
            <a:pPr eaLnBrk="1" hangingPunct="1">
              <a:buFont typeface="Wingdings 2" panose="05020102010507070707" pitchFamily="18" charset="2"/>
              <a:buChar char=""/>
            </a:pPr>
            <a:endParaRPr lang="en-US" altLang="en-US" dirty="0">
              <a:ea typeface="MS PGothic" panose="020B0600070205080204" pitchFamily="34" charset="-128"/>
            </a:endParaRPr>
          </a:p>
        </p:txBody>
      </p:sp>
    </p:spTree>
    <p:extLst>
      <p:ext uri="{BB962C8B-B14F-4D97-AF65-F5344CB8AC3E}">
        <p14:creationId xmlns:p14="http://schemas.microsoft.com/office/powerpoint/2010/main" val="11307404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685800" y="609600"/>
            <a:ext cx="7772400" cy="1219200"/>
          </a:xfrm>
        </p:spPr>
        <p:txBody>
          <a:bodyPr/>
          <a:lstStyle/>
          <a:p>
            <a:pPr eaLnBrk="1" hangingPunct="1"/>
            <a:r>
              <a:rPr lang="en-US" altLang="en-US" sz="5400" b="1" dirty="0"/>
              <a:t>QUICK QUIZ </a:t>
            </a:r>
            <a:r>
              <a:rPr lang="en-US" altLang="en-US" dirty="0"/>
              <a:t>(Slide 1 of 4)</a:t>
            </a:r>
          </a:p>
        </p:txBody>
      </p:sp>
      <p:sp>
        <p:nvSpPr>
          <p:cNvPr id="34819" name="Rectangle 3"/>
          <p:cNvSpPr>
            <a:spLocks noGrp="1" noChangeArrowheads="1"/>
          </p:cNvSpPr>
          <p:nvPr>
            <p:ph idx="1"/>
          </p:nvPr>
        </p:nvSpPr>
        <p:spPr>
          <a:xfrm>
            <a:off x="1024128" y="2209800"/>
            <a:ext cx="7162800" cy="4114800"/>
          </a:xfrm>
        </p:spPr>
        <p:txBody>
          <a:bodyPr/>
          <a:lstStyle/>
          <a:p>
            <a:pPr marL="533400" indent="-533400" eaLnBrk="1" hangingPunct="1">
              <a:buFont typeface="Wingdings 2" panose="05020102010507070707" pitchFamily="18" charset="2"/>
              <a:buNone/>
            </a:pPr>
            <a:r>
              <a:rPr lang="en-US" altLang="en-US" b="1" dirty="0"/>
              <a:t>1.  What happens if bilirubin cannot leave the body and remains in the bloodstream?</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Gluconeogenesis</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Emulsification</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Hyperbilirubinemia</a:t>
            </a:r>
          </a:p>
          <a:p>
            <a:pPr marL="914400" lvl="1" indent="-457200" eaLnBrk="1" hangingPunct="1">
              <a:buFont typeface="Arial" panose="020B0604020202020204" pitchFamily="34" charset="0"/>
              <a:buAutoNum type="alphaUcPeriod"/>
            </a:pPr>
            <a:r>
              <a:rPr lang="en-US" altLang="en-US" sz="3200" dirty="0" err="1">
                <a:ea typeface="MS PGothic" panose="020B0600070205080204" pitchFamily="34" charset="-128"/>
              </a:rPr>
              <a:t>Glycogenolysis</a:t>
            </a:r>
            <a:endParaRPr lang="en-US" altLang="en-US" dirty="0">
              <a:ea typeface="MS PGothic" panose="020B0600070205080204" pitchFamily="34" charset="-128"/>
            </a:endParaRPr>
          </a:p>
          <a:p>
            <a:pPr marL="914400" lvl="1" indent="-457200" eaLnBrk="1" hangingPunct="1">
              <a:buFont typeface="Wingdings" panose="05000000000000000000" pitchFamily="2" charset="2"/>
              <a:buNone/>
            </a:pPr>
            <a:endParaRPr lang="en-US" altLang="en-US" dirty="0">
              <a:ea typeface="MS PGothic" panose="020B0600070205080204" pitchFamily="34" charset="-128"/>
            </a:endParaRPr>
          </a:p>
        </p:txBody>
      </p:sp>
    </p:spTree>
    <p:extLst>
      <p:ext uri="{BB962C8B-B14F-4D97-AF65-F5344CB8AC3E}">
        <p14:creationId xmlns:p14="http://schemas.microsoft.com/office/powerpoint/2010/main" val="32028382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en-US" dirty="0"/>
              <a:t>Liver, Gallbladder, and Pancreas (slide 5 of 5)</a:t>
            </a:r>
          </a:p>
        </p:txBody>
      </p:sp>
      <p:sp>
        <p:nvSpPr>
          <p:cNvPr id="35843" name="Rectangle 3"/>
          <p:cNvSpPr>
            <a:spLocks noGrp="1" noChangeArrowheads="1"/>
          </p:cNvSpPr>
          <p:nvPr>
            <p:ph sz="half" idx="1"/>
          </p:nvPr>
        </p:nvSpPr>
        <p:spPr>
          <a:xfrm>
            <a:off x="660400" y="2286000"/>
            <a:ext cx="6553200" cy="761999"/>
          </a:xfrm>
        </p:spPr>
        <p:txBody>
          <a:bodyPr/>
          <a:lstStyle/>
          <a:p>
            <a:pPr marL="0" indent="0" eaLnBrk="1" hangingPunct="1">
              <a:buFont typeface="Wingdings 2" panose="05020102010507070707" pitchFamily="18" charset="2"/>
              <a:buNone/>
            </a:pPr>
            <a:r>
              <a:rPr lang="en-US" altLang="en-US" b="1" dirty="0"/>
              <a:t>The pancreas and its functions</a:t>
            </a:r>
            <a:endParaRPr lang="en-US" altLang="en-US" sz="2400" dirty="0"/>
          </a:p>
        </p:txBody>
      </p:sp>
      <p:pic>
        <p:nvPicPr>
          <p:cNvPr id="6" name="Picture 8" descr="The pancreas is both an exocrine and an endocrine organ.  As an exocrine gland, it produces enzymes to digest starch, fat, and proteins. These pass into the duodenum through the pancreatic duct. As an endocrine gland, the pancreas secretes insulin. This hormone acts as a carrier to bring glucose into the cells."/>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729510" y="3871648"/>
            <a:ext cx="7684980" cy="20877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9080144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6"/>
          <p:cNvSpPr>
            <a:spLocks noGrp="1" noChangeArrowheads="1"/>
          </p:cNvSpPr>
          <p:nvPr>
            <p:ph type="title"/>
          </p:nvPr>
        </p:nvSpPr>
        <p:spPr>
          <a:xfrm>
            <a:off x="228600" y="76200"/>
            <a:ext cx="8763000" cy="1524000"/>
          </a:xfrm>
        </p:spPr>
        <p:txBody>
          <a:bodyPr/>
          <a:lstStyle/>
          <a:p>
            <a:pPr eaLnBrk="1" hangingPunct="1"/>
            <a:r>
              <a:rPr lang="en-US" altLang="en-US" dirty="0"/>
              <a:t>Food Pathway through the GI Tract (slide 1 of 2)</a:t>
            </a:r>
          </a:p>
        </p:txBody>
      </p:sp>
      <p:sp>
        <p:nvSpPr>
          <p:cNvPr id="36867" name="Rectangle 7"/>
          <p:cNvSpPr>
            <a:spLocks noGrp="1" noChangeArrowheads="1"/>
          </p:cNvSpPr>
          <p:nvPr>
            <p:ph type="body" sz="half" idx="1"/>
          </p:nvPr>
        </p:nvSpPr>
        <p:spPr>
          <a:xfrm>
            <a:off x="685800" y="1600200"/>
            <a:ext cx="7315200" cy="2286000"/>
          </a:xfrm>
        </p:spPr>
        <p:txBody>
          <a:bodyPr/>
          <a:lstStyle/>
          <a:p>
            <a:pPr marL="0" indent="0" eaLnBrk="1" hangingPunct="1">
              <a:buFont typeface="Wingdings 2" panose="05020102010507070707" pitchFamily="18" charset="2"/>
              <a:buNone/>
            </a:pPr>
            <a:r>
              <a:rPr lang="en-US" altLang="en-US" b="1" dirty="0"/>
              <a:t>Food enters through the oral cavity and exits through the anus</a:t>
            </a:r>
          </a:p>
        </p:txBody>
      </p:sp>
    </p:spTree>
    <p:extLst>
      <p:ext uri="{BB962C8B-B14F-4D97-AF65-F5344CB8AC3E}">
        <p14:creationId xmlns:p14="http://schemas.microsoft.com/office/powerpoint/2010/main" val="2387299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028"/>
          <p:cNvSpPr>
            <a:spLocks noGrp="1" noChangeArrowheads="1"/>
          </p:cNvSpPr>
          <p:nvPr>
            <p:ph type="title"/>
          </p:nvPr>
        </p:nvSpPr>
        <p:spPr/>
        <p:txBody>
          <a:bodyPr/>
          <a:lstStyle/>
          <a:p>
            <a:pPr eaLnBrk="1" hangingPunct="1"/>
            <a:r>
              <a:rPr lang="en-US" altLang="en-US" dirty="0"/>
              <a:t>Food Pathway through the GI Tract (slide 2 of 2</a:t>
            </a:r>
            <a:r>
              <a:rPr lang="en-US" altLang="ja-JP" dirty="0"/>
              <a:t>)</a:t>
            </a:r>
            <a:endParaRPr lang="en-US" altLang="en-US" dirty="0"/>
          </a:p>
        </p:txBody>
      </p:sp>
      <p:pic>
        <p:nvPicPr>
          <p:cNvPr id="5" name="Picture 1032" descr="The pathway of food as it travels from the oral cavity through the gastrointestinal tract from top to bottom: oral cavity and salivary glands, pharynx, esophagus, stomach, duodenum, liver, gallbladder, pancreas, duodenum, jejunum, ileum, cecum, ascending colon, transverse colon, descending colon, sigmoid colon, rectum, and anu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776566" y="1600200"/>
            <a:ext cx="3590867" cy="48307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6656688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26"/>
          <p:cNvSpPr>
            <a:spLocks noGrp="1" noChangeArrowheads="1"/>
          </p:cNvSpPr>
          <p:nvPr>
            <p:ph type="title"/>
          </p:nvPr>
        </p:nvSpPr>
        <p:spPr>
          <a:xfrm>
            <a:off x="1295400" y="838200"/>
            <a:ext cx="6858000" cy="1219200"/>
          </a:xfrm>
        </p:spPr>
        <p:txBody>
          <a:bodyPr/>
          <a:lstStyle/>
          <a:p>
            <a:pPr eaLnBrk="1" hangingPunct="1"/>
            <a:r>
              <a:rPr lang="en-US" altLang="en-US" sz="5400" b="1" dirty="0"/>
              <a:t>QUICK QUIZ </a:t>
            </a:r>
            <a:r>
              <a:rPr lang="en-US" altLang="en-US" dirty="0"/>
              <a:t>(Slide 2 of 4)	</a:t>
            </a:r>
            <a:endParaRPr lang="en-US" altLang="en-US" b="1" dirty="0"/>
          </a:p>
        </p:txBody>
      </p:sp>
      <p:sp>
        <p:nvSpPr>
          <p:cNvPr id="38915" name="Rectangle 1027"/>
          <p:cNvSpPr>
            <a:spLocks noGrp="1" noChangeArrowheads="1"/>
          </p:cNvSpPr>
          <p:nvPr>
            <p:ph idx="1"/>
          </p:nvPr>
        </p:nvSpPr>
        <p:spPr>
          <a:xfrm>
            <a:off x="1295400" y="2209800"/>
            <a:ext cx="7162800" cy="3657600"/>
          </a:xfrm>
        </p:spPr>
        <p:txBody>
          <a:bodyPr/>
          <a:lstStyle/>
          <a:p>
            <a:pPr marL="533400" indent="-533400" eaLnBrk="1" hangingPunct="1">
              <a:buFont typeface="Wingdings 2" panose="05020102010507070707" pitchFamily="18" charset="2"/>
              <a:buNone/>
            </a:pPr>
            <a:r>
              <a:rPr lang="en-US" altLang="en-US" b="1" dirty="0"/>
              <a:t>2.  Which term is the first part of the large intestine?</a:t>
            </a:r>
          </a:p>
          <a:p>
            <a:pPr marL="914400" lvl="1" indent="-457200" eaLnBrk="1" hangingPunct="1">
              <a:buFont typeface="Arial" panose="020B0604020202020204" pitchFamily="34" charset="0"/>
              <a:buAutoNum type="alphaUcPeriod"/>
            </a:pPr>
            <a:r>
              <a:rPr lang="en-US" altLang="en-US" sz="3200" dirty="0" err="1">
                <a:ea typeface="MS PGothic" panose="020B0600070205080204" pitchFamily="34" charset="-128"/>
              </a:rPr>
              <a:t>Cecum</a:t>
            </a:r>
            <a:endParaRPr lang="en-US" altLang="en-US" sz="3200" dirty="0">
              <a:ea typeface="MS PGothic" panose="020B0600070205080204" pitchFamily="34" charset="-128"/>
            </a:endParaRP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Duodenum</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Jejunum</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Pylorus</a:t>
            </a:r>
            <a:endParaRPr lang="en-US" altLang="en-US" dirty="0">
              <a:ea typeface="MS PGothic" panose="020B0600070205080204" pitchFamily="34" charset="-128"/>
            </a:endParaRPr>
          </a:p>
          <a:p>
            <a:pPr marL="914400" lvl="1" indent="-457200" eaLnBrk="1" hangingPunct="1">
              <a:buFont typeface="Wingdings" panose="05000000000000000000" pitchFamily="2" charset="2"/>
              <a:buNone/>
            </a:pPr>
            <a:endParaRPr lang="en-US" altLang="en-US" dirty="0">
              <a:ea typeface="MS PGothic" panose="020B0600070205080204" pitchFamily="34" charset="-128"/>
            </a:endParaRPr>
          </a:p>
        </p:txBody>
      </p:sp>
    </p:spTree>
    <p:extLst>
      <p:ext uri="{BB962C8B-B14F-4D97-AF65-F5344CB8AC3E}">
        <p14:creationId xmlns:p14="http://schemas.microsoft.com/office/powerpoint/2010/main" val="26857181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710184" y="685800"/>
            <a:ext cx="7772400" cy="1219200"/>
          </a:xfrm>
        </p:spPr>
        <p:txBody>
          <a:bodyPr/>
          <a:lstStyle/>
          <a:p>
            <a:pPr eaLnBrk="1" hangingPunct="1"/>
            <a:r>
              <a:rPr lang="en-US" altLang="en-US" sz="5400" b="1" dirty="0"/>
              <a:t>QUICK QUIZ </a:t>
            </a:r>
            <a:r>
              <a:rPr lang="en-US" altLang="en-US" dirty="0"/>
              <a:t>(Slide 3 of 4)</a:t>
            </a:r>
          </a:p>
        </p:txBody>
      </p:sp>
      <p:sp>
        <p:nvSpPr>
          <p:cNvPr id="39939" name="Rectangle 3"/>
          <p:cNvSpPr>
            <a:spLocks noGrp="1" noChangeArrowheads="1"/>
          </p:cNvSpPr>
          <p:nvPr>
            <p:ph idx="1"/>
          </p:nvPr>
        </p:nvSpPr>
        <p:spPr>
          <a:xfrm>
            <a:off x="1219200" y="2438400"/>
            <a:ext cx="6400800" cy="3124200"/>
          </a:xfrm>
        </p:spPr>
        <p:txBody>
          <a:bodyPr/>
          <a:lstStyle/>
          <a:p>
            <a:pPr marL="533400" indent="-533400" eaLnBrk="1" hangingPunct="1">
              <a:buFont typeface="Wingdings 2" panose="05020102010507070707" pitchFamily="18" charset="2"/>
              <a:buNone/>
            </a:pPr>
            <a:r>
              <a:rPr lang="en-US" altLang="en-US" b="1" dirty="0"/>
              <a:t>3.  Which term means swallowing?</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Mastication</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Deglutition</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Emulsification</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Peristalsis</a:t>
            </a:r>
            <a:endParaRPr lang="en-US" altLang="en-US" dirty="0">
              <a:ea typeface="MS PGothic" panose="020B0600070205080204" pitchFamily="34" charset="-128"/>
            </a:endParaRPr>
          </a:p>
          <a:p>
            <a:pPr marL="914400" lvl="1" indent="-457200" eaLnBrk="1" hangingPunct="1">
              <a:buFont typeface="Webdings" panose="05030102010509060703" pitchFamily="18" charset="2"/>
              <a:buNone/>
            </a:pPr>
            <a:endParaRPr lang="en-US" altLang="en-US" dirty="0">
              <a:ea typeface="MS PGothic" panose="020B0600070205080204" pitchFamily="34" charset="-128"/>
            </a:endParaRPr>
          </a:p>
        </p:txBody>
      </p:sp>
    </p:spTree>
    <p:extLst>
      <p:ext uri="{BB962C8B-B14F-4D97-AF65-F5344CB8AC3E}">
        <p14:creationId xmlns:p14="http://schemas.microsoft.com/office/powerpoint/2010/main" val="9301112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 of 15)</a:t>
            </a:r>
          </a:p>
        </p:txBody>
      </p:sp>
      <p:graphicFrame>
        <p:nvGraphicFramePr>
          <p:cNvPr id="8" name="Content Placeholder 7" descr="Group 1 of 15:  List of vocabulary terms from the chapter  with their corresponding meanings."/>
          <p:cNvGraphicFramePr>
            <a:graphicFrameLocks noGrp="1"/>
          </p:cNvGraphicFramePr>
          <p:nvPr>
            <p:ph idx="1"/>
            <p:extLst>
              <p:ext uri="{D42A27DB-BD31-4B8C-83A1-F6EECF244321}">
                <p14:modId xmlns:p14="http://schemas.microsoft.com/office/powerpoint/2010/main" val="1556351870"/>
              </p:ext>
            </p:extLst>
          </p:nvPr>
        </p:nvGraphicFramePr>
        <p:xfrm>
          <a:off x="457200" y="1600200"/>
          <a:ext cx="8229600" cy="37490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absorption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Passage of materials through the walls of the small intestine into the bloodstream</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a:t>amino acids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Small building blocks of proteins; released when proteins are digested</a:t>
                      </a:r>
                    </a:p>
                  </a:txBody>
                  <a:tcPr/>
                </a:tc>
                <a:extLst>
                  <a:ext uri="{0D108BD9-81ED-4DB2-BD59-A6C34878D82A}">
                    <a16:rowId xmlns:a16="http://schemas.microsoft.com/office/drawing/2014/main" val="10002"/>
                  </a:ext>
                </a:extLst>
              </a:tr>
              <a:tr h="370840">
                <a:tc>
                  <a:txBody>
                    <a:bodyPr/>
                    <a:lstStyle/>
                    <a:p>
                      <a:r>
                        <a:rPr lang="en-US" altLang="en-US" sz="2400" dirty="0"/>
                        <a:t>amylase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Enzyme secreted by the pancreas and salivary glands to digest starch</a:t>
                      </a:r>
                    </a:p>
                  </a:txBody>
                  <a:tcPr/>
                </a:tc>
                <a:extLst>
                  <a:ext uri="{0D108BD9-81ED-4DB2-BD59-A6C34878D82A}">
                    <a16:rowId xmlns:a16="http://schemas.microsoft.com/office/drawing/2014/main" val="10003"/>
                  </a:ext>
                </a:extLst>
              </a:tr>
              <a:tr h="370840">
                <a:tc>
                  <a:txBody>
                    <a:bodyPr/>
                    <a:lstStyle/>
                    <a:p>
                      <a:r>
                        <a:rPr lang="en-US" altLang="en-US" sz="2400" dirty="0"/>
                        <a:t>anus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Terminal end or opening of the digestive tract to the outside of body</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915237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 of 15)</a:t>
            </a:r>
          </a:p>
        </p:txBody>
      </p:sp>
      <p:graphicFrame>
        <p:nvGraphicFramePr>
          <p:cNvPr id="8" name="Content Placeholder 7" descr="Group 2 of 15:  List of vocabulary terms from the chapter  with their corresponding meanings."/>
          <p:cNvGraphicFramePr>
            <a:graphicFrameLocks noGrp="1"/>
          </p:cNvGraphicFramePr>
          <p:nvPr>
            <p:ph idx="1"/>
            <p:extLst>
              <p:ext uri="{D42A27DB-BD31-4B8C-83A1-F6EECF244321}">
                <p14:modId xmlns:p14="http://schemas.microsoft.com/office/powerpoint/2010/main" val="540915990"/>
              </p:ext>
            </p:extLst>
          </p:nvPr>
        </p:nvGraphicFramePr>
        <p:xfrm>
          <a:off x="457200" y="1600200"/>
          <a:ext cx="8229600" cy="338328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appendix</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Blind pouch hanging from the cecum</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bile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Digestive juice made in the liver and stored in the gallbladder; breaks up large fat globules; composed of bile pigments, cholesterol, and bile salts</a:t>
                      </a:r>
                    </a:p>
                  </a:txBody>
                  <a:tcPr/>
                </a:tc>
                <a:extLst>
                  <a:ext uri="{0D108BD9-81ED-4DB2-BD59-A6C34878D82A}">
                    <a16:rowId xmlns:a16="http://schemas.microsoft.com/office/drawing/2014/main" val="10002"/>
                  </a:ext>
                </a:extLst>
              </a:tr>
              <a:tr h="370840">
                <a:tc>
                  <a:txBody>
                    <a:bodyPr/>
                    <a:lstStyle/>
                    <a:p>
                      <a:r>
                        <a:rPr lang="en-US" altLang="en-US" sz="2400" dirty="0"/>
                        <a:t>bilirubin</a:t>
                      </a:r>
                      <a:endParaRPr lang="en-US" sz="2400" dirty="0"/>
                    </a:p>
                  </a:txBody>
                  <a:tcPr/>
                </a:tc>
                <a:tc>
                  <a:txBody>
                    <a:bodyPr/>
                    <a:lstStyle/>
                    <a:p>
                      <a:pPr marL="0" indent="0" eaLnBrk="1" hangingPunct="1">
                        <a:lnSpc>
                          <a:spcPct val="80000"/>
                        </a:lnSpc>
                        <a:buFont typeface="Wingdings 2" panose="05020102010507070707" pitchFamily="18" charset="2"/>
                        <a:buNone/>
                      </a:pPr>
                      <a:r>
                        <a:rPr lang="en-US" altLang="en-US" sz="2400" dirty="0"/>
                        <a:t>Pigment released by the liver in bile</a:t>
                      </a:r>
                    </a:p>
                  </a:txBody>
                  <a:tcPr/>
                </a:tc>
                <a:extLst>
                  <a:ext uri="{0D108BD9-81ED-4DB2-BD59-A6C34878D82A}">
                    <a16:rowId xmlns:a16="http://schemas.microsoft.com/office/drawing/2014/main" val="10003"/>
                  </a:ext>
                </a:extLst>
              </a:tr>
              <a:tr h="370840">
                <a:tc>
                  <a:txBody>
                    <a:bodyPr/>
                    <a:lstStyle/>
                    <a:p>
                      <a:r>
                        <a:rPr lang="en-US" altLang="en-US" sz="2400" dirty="0"/>
                        <a:t>bowel</a:t>
                      </a:r>
                      <a:endParaRPr lang="en-US" sz="2400" dirty="0"/>
                    </a:p>
                  </a:txBody>
                  <a:tcPr/>
                </a:tc>
                <a:tc>
                  <a:txBody>
                    <a:bodyPr/>
                    <a:lstStyle/>
                    <a:p>
                      <a:r>
                        <a:rPr lang="en-US" altLang="en-US" sz="2400" dirty="0"/>
                        <a:t>Intestine </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805237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3 of 15)</a:t>
            </a:r>
          </a:p>
        </p:txBody>
      </p:sp>
      <p:graphicFrame>
        <p:nvGraphicFramePr>
          <p:cNvPr id="8" name="Content Placeholder 7" descr="Group 3 of 15:  List of vocabulary terms from the chapter  with their corresponding meanings."/>
          <p:cNvGraphicFramePr>
            <a:graphicFrameLocks noGrp="1"/>
          </p:cNvGraphicFramePr>
          <p:nvPr>
            <p:ph idx="1"/>
            <p:extLst>
              <p:ext uri="{D42A27DB-BD31-4B8C-83A1-F6EECF244321}">
                <p14:modId xmlns:p14="http://schemas.microsoft.com/office/powerpoint/2010/main" val="3110237100"/>
              </p:ext>
            </p:extLst>
          </p:nvPr>
        </p:nvGraphicFramePr>
        <p:xfrm>
          <a:off x="457200" y="1600200"/>
          <a:ext cx="8229600" cy="338328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canine teeth</a:t>
                      </a:r>
                    </a:p>
                    <a:p>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Pointed, dog-like teeth next to the incisors; also called </a:t>
                      </a:r>
                      <a:r>
                        <a:rPr lang="en-US" altLang="en-US" sz="2400" dirty="0" err="1"/>
                        <a:t>cuspids</a:t>
                      </a:r>
                      <a:r>
                        <a:rPr lang="en-US" altLang="en-US" sz="2400" dirty="0"/>
                        <a:t> or eyeteeth</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cecum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First part of the large intestine</a:t>
                      </a:r>
                    </a:p>
                  </a:txBody>
                  <a:tcPr/>
                </a:tc>
                <a:extLst>
                  <a:ext uri="{0D108BD9-81ED-4DB2-BD59-A6C34878D82A}">
                    <a16:rowId xmlns:a16="http://schemas.microsoft.com/office/drawing/2014/main" val="10002"/>
                  </a:ext>
                </a:extLst>
              </a:tr>
              <a:tr h="370840">
                <a:tc>
                  <a:txBody>
                    <a:bodyPr/>
                    <a:lstStyle/>
                    <a:p>
                      <a:r>
                        <a:rPr lang="en-US" altLang="en-US" sz="2400" dirty="0"/>
                        <a:t>colon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Consists of the ascending, transverse, descending, and sigmoid segments</a:t>
                      </a:r>
                    </a:p>
                  </a:txBody>
                  <a:tcPr/>
                </a:tc>
                <a:extLst>
                  <a:ext uri="{0D108BD9-81ED-4DB2-BD59-A6C34878D82A}">
                    <a16:rowId xmlns:a16="http://schemas.microsoft.com/office/drawing/2014/main" val="10003"/>
                  </a:ext>
                </a:extLst>
              </a:tr>
              <a:tr h="370840">
                <a:tc>
                  <a:txBody>
                    <a:bodyPr/>
                    <a:lstStyle/>
                    <a:p>
                      <a:pPr eaLnBrk="1" hangingPunct="1">
                        <a:lnSpc>
                          <a:spcPct val="70000"/>
                        </a:lnSpc>
                      </a:pPr>
                      <a:r>
                        <a:rPr lang="en-US" altLang="en-US" sz="2400" dirty="0"/>
                        <a:t>common </a:t>
                      </a:r>
                    </a:p>
                    <a:p>
                      <a:pPr eaLnBrk="1" hangingPunct="1">
                        <a:lnSpc>
                          <a:spcPct val="70000"/>
                        </a:lnSpc>
                        <a:buFont typeface="Arial" panose="020B0604020202020204" pitchFamily="34" charset="0"/>
                        <a:buNone/>
                      </a:pPr>
                      <a:r>
                        <a:rPr lang="en-US" altLang="en-US" sz="2400" dirty="0"/>
                        <a:t>      bile duct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Carries bile from the liver and gallbladder to the duodenum</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683743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4 of 15)</a:t>
            </a:r>
          </a:p>
        </p:txBody>
      </p:sp>
      <p:graphicFrame>
        <p:nvGraphicFramePr>
          <p:cNvPr id="8" name="Content Placeholder 7" descr="Group 4 of 15:  List of vocabulary terms from the chapter  with their corresponding meanings."/>
          <p:cNvGraphicFramePr>
            <a:graphicFrameLocks noGrp="1"/>
          </p:cNvGraphicFramePr>
          <p:nvPr>
            <p:ph idx="1"/>
            <p:extLst>
              <p:ext uri="{D42A27DB-BD31-4B8C-83A1-F6EECF244321}">
                <p14:modId xmlns:p14="http://schemas.microsoft.com/office/powerpoint/2010/main" val="2304820024"/>
              </p:ext>
            </p:extLst>
          </p:nvPr>
        </p:nvGraphicFramePr>
        <p:xfrm>
          <a:off x="457200" y="1600200"/>
          <a:ext cx="8229600" cy="3639312"/>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defecation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Elimination of feces from the digestive tract through the anus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deglutition</a:t>
                      </a:r>
                    </a:p>
                  </a:txBody>
                  <a:tcPr/>
                </a:tc>
                <a:tc>
                  <a:txBody>
                    <a:bodyPr/>
                    <a:lstStyle/>
                    <a:p>
                      <a:r>
                        <a:rPr lang="en-US" altLang="en-US" sz="2400" dirty="0"/>
                        <a:t>Swallowing</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a:t>dentin</a:t>
                      </a:r>
                      <a:endParaRPr lang="en-US" sz="2400" dirty="0"/>
                    </a:p>
                  </a:txBody>
                  <a:tcPr/>
                </a:tc>
                <a:tc>
                  <a:txBody>
                    <a:bodyPr/>
                    <a:lstStyle/>
                    <a:p>
                      <a:pPr marL="0" indent="0" eaLnBrk="1" hangingPunct="1">
                        <a:lnSpc>
                          <a:spcPct val="90000"/>
                        </a:lnSpc>
                        <a:buFont typeface="Wingdings 2" panose="05020102010507070707" pitchFamily="18" charset="2"/>
                        <a:buNone/>
                      </a:pPr>
                      <a:r>
                        <a:rPr lang="en-US" altLang="en-US" sz="2400" dirty="0"/>
                        <a:t>Primary material found in teeth; covered by the enamel in the crown and a protective layer of </a:t>
                      </a:r>
                      <a:r>
                        <a:rPr lang="en-US" altLang="en-US" sz="2400" dirty="0" err="1"/>
                        <a:t>cementum</a:t>
                      </a:r>
                      <a:r>
                        <a:rPr lang="en-US" altLang="en-US" sz="2400" dirty="0"/>
                        <a:t> in the root</a:t>
                      </a:r>
                    </a:p>
                  </a:txBody>
                  <a:tcPr/>
                </a:tc>
                <a:extLst>
                  <a:ext uri="{0D108BD9-81ED-4DB2-BD59-A6C34878D82A}">
                    <a16:rowId xmlns:a16="http://schemas.microsoft.com/office/drawing/2014/main" val="10003"/>
                  </a:ext>
                </a:extLst>
              </a:tr>
              <a:tr h="370840">
                <a:tc>
                  <a:txBody>
                    <a:bodyPr/>
                    <a:lstStyle/>
                    <a:p>
                      <a:r>
                        <a:rPr lang="en-US" altLang="en-US" sz="2400" dirty="0"/>
                        <a:t>digestion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Breakdown of complex foods to simpler forms</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853555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5 of 15)</a:t>
            </a:r>
          </a:p>
        </p:txBody>
      </p:sp>
      <p:graphicFrame>
        <p:nvGraphicFramePr>
          <p:cNvPr id="8" name="Content Placeholder 7" descr="Group 5 of 15:  List of vocabulary terms from the chapter  with their corresponding meanings."/>
          <p:cNvGraphicFramePr>
            <a:graphicFrameLocks noGrp="1"/>
          </p:cNvGraphicFramePr>
          <p:nvPr>
            <p:ph idx="1"/>
            <p:extLst>
              <p:ext uri="{D42A27DB-BD31-4B8C-83A1-F6EECF244321}">
                <p14:modId xmlns:p14="http://schemas.microsoft.com/office/powerpoint/2010/main" val="3827000997"/>
              </p:ext>
            </p:extLst>
          </p:nvPr>
        </p:nvGraphicFramePr>
        <p:xfrm>
          <a:off x="457200" y="1600200"/>
          <a:ext cx="8229600" cy="301752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duodenum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First part of the small intestine; measures 12 inches long</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elimination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Act of removal of materials from the body</a:t>
                      </a:r>
                    </a:p>
                  </a:txBody>
                  <a:tcPr/>
                </a:tc>
                <a:extLst>
                  <a:ext uri="{0D108BD9-81ED-4DB2-BD59-A6C34878D82A}">
                    <a16:rowId xmlns:a16="http://schemas.microsoft.com/office/drawing/2014/main" val="10002"/>
                  </a:ext>
                </a:extLst>
              </a:tr>
              <a:tr h="370840">
                <a:tc>
                  <a:txBody>
                    <a:bodyPr/>
                    <a:lstStyle/>
                    <a:p>
                      <a:r>
                        <a:rPr lang="en-US" altLang="en-US" sz="2400" dirty="0"/>
                        <a:t>emulsification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Physical process of breaking up large fat globules into smaller globules</a:t>
                      </a:r>
                    </a:p>
                  </a:txBody>
                  <a:tcPr/>
                </a:tc>
                <a:extLst>
                  <a:ext uri="{0D108BD9-81ED-4DB2-BD59-A6C34878D82A}">
                    <a16:rowId xmlns:a16="http://schemas.microsoft.com/office/drawing/2014/main" val="10003"/>
                  </a:ext>
                </a:extLst>
              </a:tr>
              <a:tr h="370840">
                <a:tc>
                  <a:txBody>
                    <a:bodyPr/>
                    <a:lstStyle/>
                    <a:p>
                      <a:r>
                        <a:rPr lang="en-US" altLang="en-US" sz="2400" dirty="0"/>
                        <a:t>enamel</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Hard, outermost layer of a tooth</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1451235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6 of 15)</a:t>
            </a:r>
          </a:p>
        </p:txBody>
      </p:sp>
      <p:graphicFrame>
        <p:nvGraphicFramePr>
          <p:cNvPr id="8" name="Content Placeholder 7" descr="Group 6 of 15:  List of vocabulary terms from the chapter  with their corresponding meanings."/>
          <p:cNvGraphicFramePr>
            <a:graphicFrameLocks noGrp="1"/>
          </p:cNvGraphicFramePr>
          <p:nvPr>
            <p:ph idx="1"/>
            <p:extLst>
              <p:ext uri="{D42A27DB-BD31-4B8C-83A1-F6EECF244321}">
                <p14:modId xmlns:p14="http://schemas.microsoft.com/office/powerpoint/2010/main" val="4093355925"/>
              </p:ext>
            </p:extLst>
          </p:nvPr>
        </p:nvGraphicFramePr>
        <p:xfrm>
          <a:off x="457200" y="1600200"/>
          <a:ext cx="8229600" cy="301752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enzyme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Chemical that speeds up reactions between substances; enzyme names end in –</a:t>
                      </a:r>
                      <a:r>
                        <a:rPr lang="en-US" altLang="en-US" sz="2400" dirty="0" err="1"/>
                        <a:t>ase</a:t>
                      </a:r>
                      <a:endParaRPr lang="en-US" alt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esophagus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Tube connecting the throat to the stomach</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fatty acids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Substances produced when fats are digested; a category of lipids</a:t>
                      </a:r>
                    </a:p>
                  </a:txBody>
                  <a:tcPr/>
                </a:tc>
                <a:extLst>
                  <a:ext uri="{0D108BD9-81ED-4DB2-BD59-A6C34878D82A}">
                    <a16:rowId xmlns:a16="http://schemas.microsoft.com/office/drawing/2014/main" val="10003"/>
                  </a:ext>
                </a:extLst>
              </a:tr>
              <a:tr h="370840">
                <a:tc>
                  <a:txBody>
                    <a:bodyPr/>
                    <a:lstStyle/>
                    <a:p>
                      <a:r>
                        <a:rPr lang="en-US" altLang="en-US" sz="2400" dirty="0"/>
                        <a:t>feces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Solid wastes; stool</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24704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7 of 15)</a:t>
            </a:r>
          </a:p>
        </p:txBody>
      </p:sp>
      <p:graphicFrame>
        <p:nvGraphicFramePr>
          <p:cNvPr id="8" name="Content Placeholder 7" descr="Group 7 of 15:  List of vocabulary terms from the chapter  with their corresponding meanings."/>
          <p:cNvGraphicFramePr>
            <a:graphicFrameLocks noGrp="1"/>
          </p:cNvGraphicFramePr>
          <p:nvPr>
            <p:ph idx="1"/>
            <p:extLst>
              <p:ext uri="{D42A27DB-BD31-4B8C-83A1-F6EECF244321}">
                <p14:modId xmlns:p14="http://schemas.microsoft.com/office/powerpoint/2010/main" val="2655662330"/>
              </p:ext>
            </p:extLst>
          </p:nvPr>
        </p:nvGraphicFramePr>
        <p:xfrm>
          <a:off x="457200" y="1600200"/>
          <a:ext cx="8229600" cy="301752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gallbladder</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Small sac under the liver; stores bile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glucose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Simple sugar</a:t>
                      </a:r>
                    </a:p>
                  </a:txBody>
                  <a:tcPr/>
                </a:tc>
                <a:extLst>
                  <a:ext uri="{0D108BD9-81ED-4DB2-BD59-A6C34878D82A}">
                    <a16:rowId xmlns:a16="http://schemas.microsoft.com/office/drawing/2014/main" val="10002"/>
                  </a:ext>
                </a:extLst>
              </a:tr>
              <a:tr h="370840">
                <a:tc>
                  <a:txBody>
                    <a:bodyPr/>
                    <a:lstStyle/>
                    <a:p>
                      <a:r>
                        <a:rPr lang="en-US" altLang="en-US" sz="2400" dirty="0"/>
                        <a:t>glycogen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Starch; glucose is stored in the form of glycogen in liver cells</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hydrochloric acid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Substance produced in the stomach; necessary for digestion of food</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77433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8 of 15)</a:t>
            </a:r>
          </a:p>
        </p:txBody>
      </p:sp>
      <p:graphicFrame>
        <p:nvGraphicFramePr>
          <p:cNvPr id="8" name="Content Placeholder 7" descr="Group 8 of 15:  List of vocabulary terms from the chapter  with their corresponding meanings."/>
          <p:cNvGraphicFramePr>
            <a:graphicFrameLocks noGrp="1"/>
          </p:cNvGraphicFramePr>
          <p:nvPr>
            <p:ph idx="1"/>
            <p:extLst>
              <p:ext uri="{D42A27DB-BD31-4B8C-83A1-F6EECF244321}">
                <p14:modId xmlns:p14="http://schemas.microsoft.com/office/powerpoint/2010/main" val="3887545848"/>
              </p:ext>
            </p:extLst>
          </p:nvPr>
        </p:nvGraphicFramePr>
        <p:xfrm>
          <a:off x="457200" y="1600200"/>
          <a:ext cx="8229600" cy="338328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ileum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Third part of the small intestine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incisor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One of four front teeth in the dental arch</a:t>
                      </a:r>
                    </a:p>
                  </a:txBody>
                  <a:tcPr/>
                </a:tc>
                <a:extLst>
                  <a:ext uri="{0D108BD9-81ED-4DB2-BD59-A6C34878D82A}">
                    <a16:rowId xmlns:a16="http://schemas.microsoft.com/office/drawing/2014/main" val="10002"/>
                  </a:ext>
                </a:extLst>
              </a:tr>
              <a:tr h="370840">
                <a:tc>
                  <a:txBody>
                    <a:bodyPr/>
                    <a:lstStyle/>
                    <a:p>
                      <a:r>
                        <a:rPr lang="en-US" altLang="en-US" sz="2400" dirty="0"/>
                        <a:t>insulin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Hormone produced by endocrine cells of the pancreas; transports sugar from the blood into cells and stimulates glycogen formation by the liver</a:t>
                      </a:r>
                    </a:p>
                  </a:txBody>
                  <a:tcPr/>
                </a:tc>
                <a:extLst>
                  <a:ext uri="{0D108BD9-81ED-4DB2-BD59-A6C34878D82A}">
                    <a16:rowId xmlns:a16="http://schemas.microsoft.com/office/drawing/2014/main" val="10003"/>
                  </a:ext>
                </a:extLst>
              </a:tr>
              <a:tr h="370840">
                <a:tc>
                  <a:txBody>
                    <a:bodyPr/>
                    <a:lstStyle/>
                    <a:p>
                      <a:r>
                        <a:rPr lang="en-US" altLang="en-US" sz="2400" dirty="0"/>
                        <a:t>jejunum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Second part of the small intestine</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9397084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9 of 15)</a:t>
            </a:r>
          </a:p>
        </p:txBody>
      </p:sp>
      <p:graphicFrame>
        <p:nvGraphicFramePr>
          <p:cNvPr id="8" name="Content Placeholder 7" descr="Group 9 of 15:  List of vocabulary terms from the chapter  with their corresponding meanings."/>
          <p:cNvGraphicFramePr>
            <a:graphicFrameLocks noGrp="1"/>
          </p:cNvGraphicFramePr>
          <p:nvPr>
            <p:ph idx="1"/>
            <p:extLst>
              <p:ext uri="{D42A27DB-BD31-4B8C-83A1-F6EECF244321}">
                <p14:modId xmlns:p14="http://schemas.microsoft.com/office/powerpoint/2010/main" val="1445617395"/>
              </p:ext>
            </p:extLst>
          </p:nvPr>
        </p:nvGraphicFramePr>
        <p:xfrm>
          <a:off x="457200" y="1600200"/>
          <a:ext cx="8229600" cy="402336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sz="2400" dirty="0">
                          <a:ea typeface="MS PGothic" pitchFamily="34" charset="-128"/>
                        </a:rPr>
                        <a:t>lipase</a:t>
                      </a:r>
                      <a:endParaRPr lang="en-US" sz="2400" dirty="0"/>
                    </a:p>
                  </a:txBody>
                  <a:tcPr/>
                </a:tc>
                <a:tc>
                  <a:txBody>
                    <a:bodyPr/>
                    <a:lstStyle/>
                    <a:p>
                      <a:pPr marL="0" indent="0" eaLnBrk="1" hangingPunct="1">
                        <a:lnSpc>
                          <a:spcPct val="90000"/>
                        </a:lnSpc>
                        <a:buFont typeface="Wingdings 2" panose="05020102010507070707" pitchFamily="18" charset="2"/>
                        <a:buNone/>
                      </a:pPr>
                      <a:r>
                        <a:rPr lang="en-US" altLang="en-US" sz="2400" dirty="0"/>
                        <a:t>Pancreatic enzyme needed to digest fats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MS PGothic" pitchFamily="34" charset="-128"/>
                        </a:rPr>
                        <a:t>liver</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Large organ located in the RUQ of the abdomen; secretes bile; stores sugar, iron, and vitamins; produces blood proteins; destroys worn-out RBCs; filters out toxins; normal adult liver weighs about 2 ½ to 3 pounds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MS PGothic" pitchFamily="34" charset="-128"/>
                        </a:rPr>
                        <a:t>lower esophageal sphincter (LES)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Ring of muscles between the esophagus and stomach</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996822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10 of 15)</a:t>
            </a:r>
          </a:p>
        </p:txBody>
      </p:sp>
      <p:graphicFrame>
        <p:nvGraphicFramePr>
          <p:cNvPr id="8" name="Content Placeholder 7" descr="Group 10 of 15:  List of vocabulary terms from the chapter  with their corresponding meanings."/>
          <p:cNvGraphicFramePr>
            <a:graphicFrameLocks noGrp="1"/>
          </p:cNvGraphicFramePr>
          <p:nvPr>
            <p:ph idx="1"/>
            <p:extLst>
              <p:ext uri="{D42A27DB-BD31-4B8C-83A1-F6EECF244321}">
                <p14:modId xmlns:p14="http://schemas.microsoft.com/office/powerpoint/2010/main" val="3194634001"/>
              </p:ext>
            </p:extLst>
          </p:nvPr>
        </p:nvGraphicFramePr>
        <p:xfrm>
          <a:off x="457200" y="1600200"/>
          <a:ext cx="8229600" cy="301752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mastication</a:t>
                      </a:r>
                      <a:endParaRPr lang="en-US" sz="2400" dirty="0"/>
                    </a:p>
                  </a:txBody>
                  <a:tcPr/>
                </a:tc>
                <a:tc>
                  <a:txBody>
                    <a:bodyPr/>
                    <a:lstStyle/>
                    <a:p>
                      <a:r>
                        <a:rPr lang="en-US" altLang="en-US" sz="2400" dirty="0"/>
                        <a:t>Chewing</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molar teeth</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Sixth, seventh, and eighth teeth from the middle on either side of the dental arch</a:t>
                      </a:r>
                    </a:p>
                  </a:txBody>
                  <a:tcPr/>
                </a:tc>
                <a:extLst>
                  <a:ext uri="{0D108BD9-81ED-4DB2-BD59-A6C34878D82A}">
                    <a16:rowId xmlns:a16="http://schemas.microsoft.com/office/drawing/2014/main" val="10002"/>
                  </a:ext>
                </a:extLst>
              </a:tr>
              <a:tr h="370840">
                <a:tc>
                  <a:txBody>
                    <a:bodyPr/>
                    <a:lstStyle/>
                    <a:p>
                      <a:r>
                        <a:rPr lang="en-US" altLang="en-US" sz="2400" dirty="0"/>
                        <a:t>palate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Roof of the mouth</a:t>
                      </a:r>
                    </a:p>
                  </a:txBody>
                  <a:tcPr/>
                </a:tc>
                <a:extLst>
                  <a:ext uri="{0D108BD9-81ED-4DB2-BD59-A6C34878D82A}">
                    <a16:rowId xmlns:a16="http://schemas.microsoft.com/office/drawing/2014/main" val="10003"/>
                  </a:ext>
                </a:extLst>
              </a:tr>
              <a:tr h="370840">
                <a:tc>
                  <a:txBody>
                    <a:bodyPr/>
                    <a:lstStyle/>
                    <a:p>
                      <a:r>
                        <a:rPr lang="en-US" altLang="en-US" sz="2400" dirty="0"/>
                        <a:t>pancreas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Organ behind the stomach; produces insulin and enzymes</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738533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11 of 15)</a:t>
            </a:r>
          </a:p>
        </p:txBody>
      </p:sp>
      <p:graphicFrame>
        <p:nvGraphicFramePr>
          <p:cNvPr id="8" name="Content Placeholder 7" descr="Group 11 of 15:  List of vocabulary terms from the chapter  with their corresponding meanings."/>
          <p:cNvGraphicFramePr>
            <a:graphicFrameLocks noGrp="1"/>
          </p:cNvGraphicFramePr>
          <p:nvPr>
            <p:ph idx="1"/>
            <p:extLst>
              <p:ext uri="{D42A27DB-BD31-4B8C-83A1-F6EECF244321}">
                <p14:modId xmlns:p14="http://schemas.microsoft.com/office/powerpoint/2010/main" val="3192047884"/>
              </p:ext>
            </p:extLst>
          </p:nvPr>
        </p:nvGraphicFramePr>
        <p:xfrm>
          <a:off x="457200" y="1600200"/>
          <a:ext cx="8229600" cy="338328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papillae (</a:t>
                      </a:r>
                      <a:r>
                        <a:rPr lang="en-US" altLang="en-US" sz="2400" i="1" dirty="0"/>
                        <a:t>singular: </a:t>
                      </a:r>
                      <a:r>
                        <a:rPr lang="en-US" altLang="en-US" sz="2400" dirty="0"/>
                        <a:t>papilla)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Small, projections on the tongue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parotid gland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Salivary gland within the cheek, just anterior to the ear</a:t>
                      </a:r>
                    </a:p>
                  </a:txBody>
                  <a:tcPr/>
                </a:tc>
                <a:extLst>
                  <a:ext uri="{0D108BD9-81ED-4DB2-BD59-A6C34878D82A}">
                    <a16:rowId xmlns:a16="http://schemas.microsoft.com/office/drawing/2014/main" val="10002"/>
                  </a:ext>
                </a:extLst>
              </a:tr>
              <a:tr h="370840">
                <a:tc>
                  <a:txBody>
                    <a:bodyPr/>
                    <a:lstStyle/>
                    <a:p>
                      <a:r>
                        <a:rPr lang="en-US" altLang="en-US" sz="2400" dirty="0"/>
                        <a:t>peristalsis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Rhythmic contractions of the tubular organs</a:t>
                      </a:r>
                    </a:p>
                  </a:txBody>
                  <a:tcPr/>
                </a:tc>
                <a:extLst>
                  <a:ext uri="{0D108BD9-81ED-4DB2-BD59-A6C34878D82A}">
                    <a16:rowId xmlns:a16="http://schemas.microsoft.com/office/drawing/2014/main" val="10003"/>
                  </a:ext>
                </a:extLst>
              </a:tr>
              <a:tr h="370840">
                <a:tc>
                  <a:txBody>
                    <a:bodyPr/>
                    <a:lstStyle/>
                    <a:p>
                      <a:r>
                        <a:rPr lang="en-US" altLang="en-US" sz="2400" dirty="0"/>
                        <a:t>pharynx</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Throat, the common passageway for food from the mouth and for air from the nose</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357038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12 of 15)</a:t>
            </a:r>
          </a:p>
        </p:txBody>
      </p:sp>
      <p:graphicFrame>
        <p:nvGraphicFramePr>
          <p:cNvPr id="8" name="Content Placeholder 7" descr="Group 12 of 15:  List of vocabulary terms from the chapter  with their corresponding meanings."/>
          <p:cNvGraphicFramePr>
            <a:graphicFrameLocks noGrp="1"/>
          </p:cNvGraphicFramePr>
          <p:nvPr>
            <p:ph idx="1"/>
            <p:extLst>
              <p:ext uri="{D42A27DB-BD31-4B8C-83A1-F6EECF244321}">
                <p14:modId xmlns:p14="http://schemas.microsoft.com/office/powerpoint/2010/main" val="3160997276"/>
              </p:ext>
            </p:extLst>
          </p:nvPr>
        </p:nvGraphicFramePr>
        <p:xfrm>
          <a:off x="457200" y="1600200"/>
          <a:ext cx="8229600" cy="37490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portal vein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Large vein bringing blood to the liver from the intestines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protease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Enzyme that digests protein</a:t>
                      </a:r>
                    </a:p>
                  </a:txBody>
                  <a:tcPr/>
                </a:tc>
                <a:extLst>
                  <a:ext uri="{0D108BD9-81ED-4DB2-BD59-A6C34878D82A}">
                    <a16:rowId xmlns:a16="http://schemas.microsoft.com/office/drawing/2014/main" val="10002"/>
                  </a:ext>
                </a:extLst>
              </a:tr>
              <a:tr h="370840">
                <a:tc>
                  <a:txBody>
                    <a:bodyPr/>
                    <a:lstStyle/>
                    <a:p>
                      <a:r>
                        <a:rPr lang="en-US" altLang="en-US" sz="2400" dirty="0"/>
                        <a:t>pulp</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Soft tissue within a tooth, containing nerves and blood vessels</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pyloric sphincter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Ring of muscle at the end of the stomach, near the duodenum; opens when a wave of peristalsis passes over it</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144645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13 of 15)</a:t>
            </a:r>
          </a:p>
        </p:txBody>
      </p:sp>
      <p:graphicFrame>
        <p:nvGraphicFramePr>
          <p:cNvPr id="8" name="Content Placeholder 7" descr="Group 13 of 15:  List of vocabulary terms from the chapter  with their corresponding meanings."/>
          <p:cNvGraphicFramePr>
            <a:graphicFrameLocks noGrp="1"/>
          </p:cNvGraphicFramePr>
          <p:nvPr>
            <p:ph idx="1"/>
            <p:extLst>
              <p:ext uri="{D42A27DB-BD31-4B8C-83A1-F6EECF244321}">
                <p14:modId xmlns:p14="http://schemas.microsoft.com/office/powerpoint/2010/main" val="3777811598"/>
              </p:ext>
            </p:extLst>
          </p:nvPr>
        </p:nvGraphicFramePr>
        <p:xfrm>
          <a:off x="457200" y="1600200"/>
          <a:ext cx="8229600" cy="37490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pylorus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Distal region of the stomach, opening to the duodenum</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rectum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Last section of the large intestine, connecting the end of the colon and the anus</a:t>
                      </a:r>
                    </a:p>
                  </a:txBody>
                  <a:tcPr/>
                </a:tc>
                <a:extLst>
                  <a:ext uri="{0D108BD9-81ED-4DB2-BD59-A6C34878D82A}">
                    <a16:rowId xmlns:a16="http://schemas.microsoft.com/office/drawing/2014/main" val="10002"/>
                  </a:ext>
                </a:extLst>
              </a:tr>
              <a:tr h="370840">
                <a:tc>
                  <a:txBody>
                    <a:bodyPr/>
                    <a:lstStyle/>
                    <a:p>
                      <a:r>
                        <a:rPr lang="en-US" altLang="en-US" sz="2400" dirty="0" err="1"/>
                        <a:t>rugae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Ridges on the hard palate and the wall of the stomach</a:t>
                      </a:r>
                    </a:p>
                  </a:txBody>
                  <a:tcPr/>
                </a:tc>
                <a:extLst>
                  <a:ext uri="{0D108BD9-81ED-4DB2-BD59-A6C34878D82A}">
                    <a16:rowId xmlns:a16="http://schemas.microsoft.com/office/drawing/2014/main" val="10003"/>
                  </a:ext>
                </a:extLst>
              </a:tr>
              <a:tr h="370840">
                <a:tc>
                  <a:txBody>
                    <a:bodyPr/>
                    <a:lstStyle/>
                    <a:p>
                      <a:r>
                        <a:rPr lang="en-US" altLang="en-US" sz="2400" dirty="0"/>
                        <a:t>saliva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Digestive juice produced by salivary glands; contains the enzyme amylase</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4383417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14 of 15)</a:t>
            </a:r>
          </a:p>
        </p:txBody>
      </p:sp>
      <p:graphicFrame>
        <p:nvGraphicFramePr>
          <p:cNvPr id="8" name="Content Placeholder 7" descr="Group 14 of 15:  List of vocabulary terms from the chapter  with their corresponding meanings."/>
          <p:cNvGraphicFramePr>
            <a:graphicFrameLocks noGrp="1"/>
          </p:cNvGraphicFramePr>
          <p:nvPr>
            <p:ph idx="1"/>
            <p:extLst>
              <p:ext uri="{D42A27DB-BD31-4B8C-83A1-F6EECF244321}">
                <p14:modId xmlns:p14="http://schemas.microsoft.com/office/powerpoint/2010/main" val="3557973037"/>
              </p:ext>
            </p:extLst>
          </p:nvPr>
        </p:nvGraphicFramePr>
        <p:xfrm>
          <a:off x="457200" y="1600200"/>
          <a:ext cx="8229600" cy="41148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salivary glands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Parotid, sublingual, and submandibular glands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sigmoid colon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Fourth and last, S-shaped segment of the colon, just before the rectum; empties into the rectum</a:t>
                      </a:r>
                    </a:p>
                  </a:txBody>
                  <a:tcPr/>
                </a:tc>
                <a:extLst>
                  <a:ext uri="{0D108BD9-81ED-4DB2-BD59-A6C34878D82A}">
                    <a16:rowId xmlns:a16="http://schemas.microsoft.com/office/drawing/2014/main" val="10002"/>
                  </a:ext>
                </a:extLst>
              </a:tr>
              <a:tr h="370840">
                <a:tc>
                  <a:txBody>
                    <a:bodyPr/>
                    <a:lstStyle/>
                    <a:p>
                      <a:r>
                        <a:rPr lang="en-US" altLang="en-US" sz="2400" dirty="0"/>
                        <a:t>sphincter</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Circular ring of muscle that constricts a passage or closes a natural opening</a:t>
                      </a:r>
                    </a:p>
                  </a:txBody>
                  <a:tcPr/>
                </a:tc>
                <a:extLst>
                  <a:ext uri="{0D108BD9-81ED-4DB2-BD59-A6C34878D82A}">
                    <a16:rowId xmlns:a16="http://schemas.microsoft.com/office/drawing/2014/main" val="10003"/>
                  </a:ext>
                </a:extLst>
              </a:tr>
              <a:tr h="370840">
                <a:tc>
                  <a:txBody>
                    <a:bodyPr/>
                    <a:lstStyle/>
                    <a:p>
                      <a:r>
                        <a:rPr lang="en-US" altLang="en-US" sz="2400" dirty="0"/>
                        <a:t>stomach</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Muscular organ that receives food from the esophagus</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833540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15 of 15)</a:t>
            </a:r>
          </a:p>
        </p:txBody>
      </p:sp>
      <p:graphicFrame>
        <p:nvGraphicFramePr>
          <p:cNvPr id="8" name="Content Placeholder 7" descr="Group 15 of 15:  List of vocabulary terms from the chapter  with their corresponding meanings."/>
          <p:cNvGraphicFramePr>
            <a:graphicFrameLocks noGrp="1"/>
          </p:cNvGraphicFramePr>
          <p:nvPr>
            <p:ph idx="1"/>
            <p:extLst>
              <p:ext uri="{D42A27DB-BD31-4B8C-83A1-F6EECF244321}">
                <p14:modId xmlns:p14="http://schemas.microsoft.com/office/powerpoint/2010/main" val="2961211274"/>
              </p:ext>
            </p:extLst>
          </p:nvPr>
        </p:nvGraphicFramePr>
        <p:xfrm>
          <a:off x="457200" y="1600200"/>
          <a:ext cx="8229600" cy="37338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triglycerides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Fat molecules composed of three parts fatty acids and one part glycerol; subgroup of lipids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uvula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Soft tissue hanging from the middle of the soft palate</a:t>
                      </a:r>
                    </a:p>
                  </a:txBody>
                  <a:tcPr/>
                </a:tc>
                <a:extLst>
                  <a:ext uri="{0D108BD9-81ED-4DB2-BD59-A6C34878D82A}">
                    <a16:rowId xmlns:a16="http://schemas.microsoft.com/office/drawing/2014/main" val="10002"/>
                  </a:ext>
                </a:extLst>
              </a:tr>
              <a:tr h="12649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villi (</a:t>
                      </a:r>
                      <a:r>
                        <a:rPr lang="en-US" altLang="en-US" sz="2400" i="1" dirty="0"/>
                        <a:t>singular:  </a:t>
                      </a:r>
                      <a:r>
                        <a:rPr lang="en-US" altLang="en-US" sz="2400" dirty="0"/>
                        <a:t>villus)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Microscopic projections in the wall of the small intestine that absorb nutrients into the bloodstream</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7313228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Terminology – Combining Forms</a:t>
            </a:r>
            <a:br>
              <a:rPr lang="en-US" dirty="0"/>
            </a:br>
            <a:r>
              <a:rPr lang="en-US" sz="4000" dirty="0"/>
              <a:t>Parts of the Body (Slide 1 of 5)</a:t>
            </a:r>
          </a:p>
        </p:txBody>
      </p:sp>
      <p:graphicFrame>
        <p:nvGraphicFramePr>
          <p:cNvPr id="8" name="Content Placeholder 7" descr="Group 1 of 5:  List of combining forms related to parts of the body  with their corresponding meanings."/>
          <p:cNvGraphicFramePr>
            <a:graphicFrameLocks noGrp="1"/>
          </p:cNvGraphicFramePr>
          <p:nvPr>
            <p:ph idx="1"/>
            <p:extLst>
              <p:ext uri="{D42A27DB-BD31-4B8C-83A1-F6EECF244321}">
                <p14:modId xmlns:p14="http://schemas.microsoft.com/office/powerpoint/2010/main" val="4199922205"/>
              </p:ext>
            </p:extLst>
          </p:nvPr>
        </p:nvGraphicFramePr>
        <p:xfrm>
          <a:off x="457200" y="1600200"/>
          <a:ext cx="8229600" cy="4480560"/>
        </p:xfrm>
        <a:graphic>
          <a:graphicData uri="http://schemas.openxmlformats.org/drawingml/2006/table">
            <a:tbl>
              <a:tblPr firstRow="1" bandRow="1">
                <a:tableStyleId>{68D230F3-CF80-4859-8CE7-A43EE81993B5}</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a:t>an/o</a:t>
                      </a:r>
                    </a:p>
                  </a:txBody>
                  <a:tcPr/>
                </a:tc>
                <a:tc>
                  <a:txBody>
                    <a:bodyPr/>
                    <a:lstStyle/>
                    <a:p>
                      <a:r>
                        <a:rPr lang="en-US" altLang="en-US" sz="2400" dirty="0"/>
                        <a:t>anus</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a:t>append/o, </a:t>
                      </a:r>
                      <a:r>
                        <a:rPr lang="en-US" altLang="en-US" sz="2400" b="1" dirty="0" err="1"/>
                        <a:t>appendic</a:t>
                      </a:r>
                      <a:r>
                        <a:rPr lang="en-US" altLang="en-US" sz="2400" b="1" dirty="0"/>
                        <a:t>/o</a:t>
                      </a:r>
                    </a:p>
                  </a:txBody>
                  <a:tcPr/>
                </a:tc>
                <a:tc>
                  <a:txBody>
                    <a:bodyPr/>
                    <a:lstStyle/>
                    <a:p>
                      <a:r>
                        <a:rPr lang="en-US" altLang="en-US" sz="2400" dirty="0"/>
                        <a:t>appendix</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err="1"/>
                        <a:t>bucc</a:t>
                      </a:r>
                      <a:r>
                        <a:rPr lang="en-US" altLang="en-US" sz="2400" b="1" dirty="0"/>
                        <a:t>/o</a:t>
                      </a:r>
                    </a:p>
                  </a:txBody>
                  <a:tcPr/>
                </a:tc>
                <a:tc>
                  <a:txBody>
                    <a:bodyPr/>
                    <a:lstStyle/>
                    <a:p>
                      <a:r>
                        <a:rPr lang="en-US" altLang="en-US" sz="2400" dirty="0"/>
                        <a:t>cheek</a:t>
                      </a:r>
                      <a:endParaRPr lang="en-US" sz="24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err="1"/>
                        <a:t>cec</a:t>
                      </a:r>
                      <a:r>
                        <a:rPr lang="en-US" altLang="en-US" sz="2400" b="1" dirty="0"/>
                        <a:t>/o</a:t>
                      </a:r>
                    </a:p>
                  </a:txBody>
                  <a:tcPr/>
                </a:tc>
                <a:tc>
                  <a:txBody>
                    <a:bodyPr/>
                    <a:lstStyle/>
                    <a:p>
                      <a:r>
                        <a:rPr lang="en-US" altLang="en-US" sz="2400" dirty="0"/>
                        <a:t>cecum</a:t>
                      </a:r>
                      <a:endParaRPr lang="en-US" sz="2400" dirty="0"/>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err="1"/>
                        <a:t>celi</a:t>
                      </a:r>
                      <a:r>
                        <a:rPr lang="en-US" altLang="en-US" sz="2400" b="1" dirty="0"/>
                        <a:t>/o</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belly, abdomen</a:t>
                      </a:r>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err="1"/>
                        <a:t>cheil</a:t>
                      </a:r>
                      <a:r>
                        <a:rPr lang="en-US" altLang="en-US" sz="2400" b="1" dirty="0"/>
                        <a:t>/o</a:t>
                      </a:r>
                    </a:p>
                  </a:txBody>
                  <a:tcPr/>
                </a:tc>
                <a:tc>
                  <a:txBody>
                    <a:bodyPr/>
                    <a:lstStyle/>
                    <a:p>
                      <a:r>
                        <a:rPr lang="en-US" altLang="en-US" sz="2400" dirty="0"/>
                        <a:t>lip</a:t>
                      </a:r>
                      <a:endParaRPr lang="en-US" sz="2400" dirty="0"/>
                    </a:p>
                  </a:txBody>
                  <a:tcPr/>
                </a:tc>
                <a:extLst>
                  <a:ext uri="{0D108BD9-81ED-4DB2-BD59-A6C34878D82A}">
                    <a16:rowId xmlns:a16="http://schemas.microsoft.com/office/drawing/2014/main" val="10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err="1"/>
                        <a:t>cholecyst</a:t>
                      </a:r>
                      <a:r>
                        <a:rPr lang="en-US" altLang="en-US" sz="2400" b="1" dirty="0"/>
                        <a:t>/o</a:t>
                      </a:r>
                    </a:p>
                  </a:txBody>
                  <a:tcPr/>
                </a:tc>
                <a:tc>
                  <a:txBody>
                    <a:bodyPr/>
                    <a:lstStyle/>
                    <a:p>
                      <a:r>
                        <a:rPr lang="en-US" altLang="en-US" sz="2400" dirty="0"/>
                        <a:t>gallbladder</a:t>
                      </a:r>
                      <a:endParaRPr lang="en-US" sz="2400" dirty="0"/>
                    </a:p>
                  </a:txBody>
                  <a:tcPr/>
                </a:tc>
                <a:extLst>
                  <a:ext uri="{0D108BD9-81ED-4DB2-BD59-A6C34878D82A}">
                    <a16:rowId xmlns:a16="http://schemas.microsoft.com/office/drawing/2014/main" val="10007"/>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err="1"/>
                        <a:t>choledoch</a:t>
                      </a:r>
                      <a:r>
                        <a:rPr lang="en-US" altLang="en-US" sz="2400" b="1" dirty="0"/>
                        <a:t>/o</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common bile duct</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0231899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Terminology – Combining Forms</a:t>
            </a:r>
            <a:br>
              <a:rPr lang="en-US" dirty="0"/>
            </a:br>
            <a:r>
              <a:rPr lang="en-US" sz="4000" dirty="0"/>
              <a:t>Parts of the Body (Slide 2 of 5)</a:t>
            </a:r>
          </a:p>
        </p:txBody>
      </p:sp>
      <p:graphicFrame>
        <p:nvGraphicFramePr>
          <p:cNvPr id="8" name="Content Placeholder 7" descr="Group 2 of 5:  List of combining forms related to parts of the body  with their corresponding meanings."/>
          <p:cNvGraphicFramePr>
            <a:graphicFrameLocks noGrp="1"/>
          </p:cNvGraphicFramePr>
          <p:nvPr>
            <p:ph idx="1"/>
            <p:extLst>
              <p:ext uri="{D42A27DB-BD31-4B8C-83A1-F6EECF244321}">
                <p14:modId xmlns:p14="http://schemas.microsoft.com/office/powerpoint/2010/main" val="1775190756"/>
              </p:ext>
            </p:extLst>
          </p:nvPr>
        </p:nvGraphicFramePr>
        <p:xfrm>
          <a:off x="457200" y="1600200"/>
          <a:ext cx="8229600" cy="4572000"/>
        </p:xfrm>
        <a:graphic>
          <a:graphicData uri="http://schemas.openxmlformats.org/drawingml/2006/table">
            <a:tbl>
              <a:tblPr firstRow="1" bandRow="1">
                <a:tableStyleId>{68D230F3-CF80-4859-8CE7-A43EE81993B5}</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a:t>col/o</a:t>
                      </a:r>
                      <a:endParaRPr lang="en-US" sz="2400" dirty="0"/>
                    </a:p>
                  </a:txBody>
                  <a:tcPr/>
                </a:tc>
                <a:tc>
                  <a:txBody>
                    <a:bodyPr/>
                    <a:lstStyle/>
                    <a:p>
                      <a:r>
                        <a:rPr lang="en-US" sz="2400" dirty="0"/>
                        <a:t>colon</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t>colon/o</a:t>
                      </a:r>
                      <a:endParaRPr lang="en-US" altLang="en-US" sz="2400" dirty="0"/>
                    </a:p>
                  </a:txBody>
                  <a:tcPr/>
                </a:tc>
                <a:tc>
                  <a:txBody>
                    <a:bodyPr/>
                    <a:lstStyle/>
                    <a:p>
                      <a:r>
                        <a:rPr lang="en-US" sz="2400" dirty="0"/>
                        <a:t>colon</a:t>
                      </a:r>
                    </a:p>
                  </a:txBody>
                  <a:tcPr/>
                </a:tc>
                <a:extLst>
                  <a:ext uri="{0D108BD9-81ED-4DB2-BD59-A6C34878D82A}">
                    <a16:rowId xmlns:a16="http://schemas.microsoft.com/office/drawing/2014/main" val="10002"/>
                  </a:ext>
                </a:extLst>
              </a:tr>
              <a:tr h="370840">
                <a:tc>
                  <a:txBody>
                    <a:bodyPr/>
                    <a:lstStyle/>
                    <a:p>
                      <a:r>
                        <a:rPr lang="en-US" sz="2400" b="1" dirty="0"/>
                        <a:t>dent/</a:t>
                      </a:r>
                      <a:r>
                        <a:rPr lang="en-US" sz="2400" b="1" dirty="0" err="1"/>
                        <a:t>i</a:t>
                      </a:r>
                      <a:endParaRPr lang="en-US" sz="2400" dirty="0"/>
                    </a:p>
                  </a:txBody>
                  <a:tcPr/>
                </a:tc>
                <a:tc>
                  <a:txBody>
                    <a:bodyPr/>
                    <a:lstStyle/>
                    <a:p>
                      <a:r>
                        <a:rPr lang="en-US" sz="2400" dirty="0"/>
                        <a:t>tooth</a:t>
                      </a:r>
                    </a:p>
                  </a:txBody>
                  <a:tcPr/>
                </a:tc>
                <a:extLst>
                  <a:ext uri="{0D108BD9-81ED-4DB2-BD59-A6C34878D82A}">
                    <a16:rowId xmlns:a16="http://schemas.microsoft.com/office/drawing/2014/main" val="10003"/>
                  </a:ext>
                </a:extLst>
              </a:tr>
              <a:tr h="370840">
                <a:tc>
                  <a:txBody>
                    <a:bodyPr/>
                    <a:lstStyle/>
                    <a:p>
                      <a:r>
                        <a:rPr lang="en-US" sz="2400" b="1" dirty="0" err="1"/>
                        <a:t>duoden</a:t>
                      </a:r>
                      <a:r>
                        <a:rPr lang="en-US" sz="2400" b="1" dirty="0"/>
                        <a:t>/o</a:t>
                      </a:r>
                      <a:endParaRPr lang="en-US" sz="2400" dirty="0"/>
                    </a:p>
                  </a:txBody>
                  <a:tcPr/>
                </a:tc>
                <a:tc>
                  <a:txBody>
                    <a:bodyPr/>
                    <a:lstStyle/>
                    <a:p>
                      <a:r>
                        <a:rPr lang="en-US" sz="2400" dirty="0"/>
                        <a:t>duodenum</a:t>
                      </a:r>
                    </a:p>
                  </a:txBody>
                  <a:tcPr/>
                </a:tc>
                <a:extLst>
                  <a:ext uri="{0D108BD9-81ED-4DB2-BD59-A6C34878D82A}">
                    <a16:rowId xmlns:a16="http://schemas.microsoft.com/office/drawing/2014/main" val="10004"/>
                  </a:ext>
                </a:extLst>
              </a:tr>
              <a:tr h="370840">
                <a:tc>
                  <a:txBody>
                    <a:bodyPr/>
                    <a:lstStyle/>
                    <a:p>
                      <a:r>
                        <a:rPr lang="en-US" sz="2400" b="1" dirty="0"/>
                        <a:t>enter/o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intestines, usually small intestine</a:t>
                      </a:r>
                    </a:p>
                  </a:txBody>
                  <a:tcPr/>
                </a:tc>
                <a:extLst>
                  <a:ext uri="{0D108BD9-81ED-4DB2-BD59-A6C34878D82A}">
                    <a16:rowId xmlns:a16="http://schemas.microsoft.com/office/drawing/2014/main" val="10005"/>
                  </a:ext>
                </a:extLst>
              </a:tr>
              <a:tr h="370840">
                <a:tc>
                  <a:txBody>
                    <a:bodyPr/>
                    <a:lstStyle/>
                    <a:p>
                      <a:r>
                        <a:rPr lang="en-US" sz="2400" b="1" dirty="0" err="1"/>
                        <a:t>esophag</a:t>
                      </a:r>
                      <a:r>
                        <a:rPr lang="en-US" sz="2400" b="1" dirty="0"/>
                        <a:t>/o</a:t>
                      </a:r>
                      <a:endParaRPr lang="en-US" sz="2400" dirty="0"/>
                    </a:p>
                  </a:txBody>
                  <a:tcPr/>
                </a:tc>
                <a:tc>
                  <a:txBody>
                    <a:bodyPr/>
                    <a:lstStyle/>
                    <a:p>
                      <a:r>
                        <a:rPr lang="en-US" sz="2400" dirty="0"/>
                        <a:t>esophagus</a:t>
                      </a:r>
                    </a:p>
                  </a:txBody>
                  <a:tcPr/>
                </a:tc>
                <a:extLst>
                  <a:ext uri="{0D108BD9-81ED-4DB2-BD59-A6C34878D82A}">
                    <a16:rowId xmlns:a16="http://schemas.microsoft.com/office/drawing/2014/main" val="10006"/>
                  </a:ext>
                </a:extLst>
              </a:tr>
              <a:tr h="370840">
                <a:tc>
                  <a:txBody>
                    <a:bodyPr/>
                    <a:lstStyle/>
                    <a:p>
                      <a:r>
                        <a:rPr lang="en-US" sz="2400" b="1" dirty="0" err="1"/>
                        <a:t>faci</a:t>
                      </a:r>
                      <a:r>
                        <a:rPr lang="en-US" sz="2400" b="1" dirty="0"/>
                        <a:t>/o</a:t>
                      </a:r>
                      <a:endParaRPr lang="en-US" sz="2400" dirty="0"/>
                    </a:p>
                  </a:txBody>
                  <a:tcPr/>
                </a:tc>
                <a:tc>
                  <a:txBody>
                    <a:bodyPr/>
                    <a:lstStyle/>
                    <a:p>
                      <a:r>
                        <a:rPr lang="en-US" sz="2400" dirty="0"/>
                        <a:t>face</a:t>
                      </a:r>
                    </a:p>
                  </a:txBody>
                  <a:tcPr/>
                </a:tc>
                <a:extLst>
                  <a:ext uri="{0D108BD9-81ED-4DB2-BD59-A6C34878D82A}">
                    <a16:rowId xmlns:a16="http://schemas.microsoft.com/office/drawing/2014/main" val="10007"/>
                  </a:ext>
                </a:extLst>
              </a:tr>
              <a:tr h="370840">
                <a:tc>
                  <a:txBody>
                    <a:bodyPr/>
                    <a:lstStyle/>
                    <a:p>
                      <a:r>
                        <a:rPr lang="en-US" sz="2400" b="1" dirty="0" err="1"/>
                        <a:t>gastr</a:t>
                      </a:r>
                      <a:r>
                        <a:rPr lang="en-US" sz="2400" b="1" dirty="0"/>
                        <a:t>/o</a:t>
                      </a:r>
                      <a:endParaRPr lang="en-US" sz="2400" dirty="0"/>
                    </a:p>
                  </a:txBody>
                  <a:tcPr/>
                </a:tc>
                <a:tc>
                  <a:txBody>
                    <a:bodyPr/>
                    <a:lstStyle/>
                    <a:p>
                      <a:r>
                        <a:rPr lang="en-US" sz="2400" dirty="0"/>
                        <a:t>stomach</a:t>
                      </a:r>
                    </a:p>
                  </a:txBody>
                  <a:tcPr/>
                </a:tc>
                <a:extLst>
                  <a:ext uri="{0D108BD9-81ED-4DB2-BD59-A6C34878D82A}">
                    <a16:rowId xmlns:a16="http://schemas.microsoft.com/office/drawing/2014/main" val="10008"/>
                  </a:ext>
                </a:extLst>
              </a:tr>
              <a:tr h="370840">
                <a:tc>
                  <a:txBody>
                    <a:bodyPr/>
                    <a:lstStyle/>
                    <a:p>
                      <a:r>
                        <a:rPr lang="en-US" sz="2400" b="1" dirty="0" err="1"/>
                        <a:t>gingiv</a:t>
                      </a:r>
                      <a:r>
                        <a:rPr lang="en-US" sz="2400" b="1" dirty="0"/>
                        <a:t>/o</a:t>
                      </a:r>
                      <a:endParaRPr lang="en-US" sz="2400" dirty="0"/>
                    </a:p>
                  </a:txBody>
                  <a:tcPr/>
                </a:tc>
                <a:tc>
                  <a:txBody>
                    <a:bodyPr/>
                    <a:lstStyle/>
                    <a:p>
                      <a:r>
                        <a:rPr lang="en-US" sz="2400" dirty="0"/>
                        <a:t>gums</a:t>
                      </a:r>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1767656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Terminology – Combining Forms</a:t>
            </a:r>
            <a:br>
              <a:rPr lang="en-US" dirty="0"/>
            </a:br>
            <a:r>
              <a:rPr lang="en-US" sz="4000" dirty="0"/>
              <a:t>Parts of the Body (Slide 3 of 5)</a:t>
            </a:r>
          </a:p>
        </p:txBody>
      </p:sp>
      <p:graphicFrame>
        <p:nvGraphicFramePr>
          <p:cNvPr id="8" name="Content Placeholder 7" descr="Group 3 of 5:  List of combining forms related to parts of the body  with their corresponding meanings."/>
          <p:cNvGraphicFramePr>
            <a:graphicFrameLocks noGrp="1"/>
          </p:cNvGraphicFramePr>
          <p:nvPr>
            <p:ph idx="1"/>
            <p:extLst>
              <p:ext uri="{D42A27DB-BD31-4B8C-83A1-F6EECF244321}">
                <p14:modId xmlns:p14="http://schemas.microsoft.com/office/powerpoint/2010/main" val="4150737870"/>
              </p:ext>
            </p:extLst>
          </p:nvPr>
        </p:nvGraphicFramePr>
        <p:xfrm>
          <a:off x="457200" y="1600200"/>
          <a:ext cx="8229600" cy="4572000"/>
        </p:xfrm>
        <a:graphic>
          <a:graphicData uri="http://schemas.openxmlformats.org/drawingml/2006/table">
            <a:tbl>
              <a:tblPr firstRow="1" bandRow="1">
                <a:tableStyleId>{68D230F3-CF80-4859-8CE7-A43EE81993B5}</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gloss/o</a:t>
                      </a:r>
                      <a:endParaRPr lang="en-US" sz="2400" dirty="0"/>
                    </a:p>
                  </a:txBody>
                  <a:tcPr/>
                </a:tc>
                <a:tc>
                  <a:txBody>
                    <a:bodyPr/>
                    <a:lstStyle/>
                    <a:p>
                      <a:r>
                        <a:rPr lang="en-US" altLang="en-US" sz="2400" dirty="0"/>
                        <a:t>tongue</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err="1"/>
                        <a:t>hepat</a:t>
                      </a:r>
                      <a:r>
                        <a:rPr lang="en-US" altLang="en-US" sz="2400" b="1" dirty="0"/>
                        <a:t>/o</a:t>
                      </a:r>
                      <a:endParaRPr lang="en-US" altLang="en-US" sz="2400" dirty="0"/>
                    </a:p>
                  </a:txBody>
                  <a:tcPr/>
                </a:tc>
                <a:tc>
                  <a:txBody>
                    <a:bodyPr/>
                    <a:lstStyle/>
                    <a:p>
                      <a:r>
                        <a:rPr lang="en-US" altLang="en-US" sz="2400" dirty="0"/>
                        <a:t>liver</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ile</a:t>
                      </a:r>
                      <a:r>
                        <a:rPr lang="en-US" altLang="en-US" sz="2400" b="1" dirty="0"/>
                        <a:t>/o</a:t>
                      </a:r>
                      <a:endParaRPr lang="en-US" sz="2400" dirty="0"/>
                    </a:p>
                  </a:txBody>
                  <a:tcPr/>
                </a:tc>
                <a:tc>
                  <a:txBody>
                    <a:bodyPr/>
                    <a:lstStyle/>
                    <a:p>
                      <a:r>
                        <a:rPr lang="en-US" altLang="en-US" sz="2400" dirty="0"/>
                        <a:t>ileum</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jejun</a:t>
                      </a:r>
                      <a:r>
                        <a:rPr lang="en-US" altLang="en-US" sz="2400" b="1" dirty="0"/>
                        <a:t>/o</a:t>
                      </a:r>
                      <a:endParaRPr lang="en-US" sz="2400" dirty="0"/>
                    </a:p>
                  </a:txBody>
                  <a:tcPr/>
                </a:tc>
                <a:tc>
                  <a:txBody>
                    <a:bodyPr/>
                    <a:lstStyle/>
                    <a:p>
                      <a:r>
                        <a:rPr lang="en-US" altLang="en-US" sz="2400" dirty="0"/>
                        <a:t>jejunum</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labi</a:t>
                      </a:r>
                      <a:r>
                        <a:rPr lang="en-US" altLang="en-US" sz="2400" b="1" dirty="0"/>
                        <a:t>/o</a:t>
                      </a:r>
                      <a:endParaRPr lang="en-US" sz="2400" dirty="0"/>
                    </a:p>
                  </a:txBody>
                  <a:tcPr/>
                </a:tc>
                <a:tc>
                  <a:txBody>
                    <a:bodyPr/>
                    <a:lstStyle/>
                    <a:p>
                      <a:r>
                        <a:rPr lang="en-US" altLang="en-US" sz="2400" dirty="0"/>
                        <a:t>lip</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lapar</a:t>
                      </a:r>
                      <a:r>
                        <a:rPr lang="en-US" altLang="en-US" sz="2400" b="1" dirty="0"/>
                        <a:t>/o</a:t>
                      </a:r>
                      <a:endParaRPr lang="en-US" sz="2400" dirty="0"/>
                    </a:p>
                  </a:txBody>
                  <a:tcPr/>
                </a:tc>
                <a:tc>
                  <a:txBody>
                    <a:bodyPr/>
                    <a:lstStyle/>
                    <a:p>
                      <a:r>
                        <a:rPr lang="en-US" altLang="en-US" sz="2400" dirty="0"/>
                        <a:t>abdomen</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err="1"/>
                        <a:t>lingu</a:t>
                      </a:r>
                      <a:r>
                        <a:rPr lang="en-US" altLang="en-US" sz="2400" b="1" dirty="0"/>
                        <a:t>/o</a:t>
                      </a:r>
                      <a:endParaRPr lang="en-US" sz="2400" dirty="0"/>
                    </a:p>
                  </a:txBody>
                  <a:tcPr/>
                </a:tc>
                <a:tc>
                  <a:txBody>
                    <a:bodyPr/>
                    <a:lstStyle/>
                    <a:p>
                      <a:r>
                        <a:rPr lang="en-US" altLang="en-US" sz="2400" dirty="0"/>
                        <a:t>tongue</a:t>
                      </a:r>
                      <a:endParaRPr lang="en-US" sz="2400" dirty="0"/>
                    </a:p>
                  </a:txBody>
                  <a:tcPr/>
                </a:tc>
                <a:extLst>
                  <a:ext uri="{0D108BD9-81ED-4DB2-BD59-A6C34878D82A}">
                    <a16:rowId xmlns:a16="http://schemas.microsoft.com/office/drawing/2014/main" val="10007"/>
                  </a:ext>
                </a:extLst>
              </a:tr>
              <a:tr h="370840">
                <a:tc>
                  <a:txBody>
                    <a:bodyPr/>
                    <a:lstStyle/>
                    <a:p>
                      <a:r>
                        <a:rPr lang="en-US" altLang="en-US" sz="2400" b="1" dirty="0" err="1"/>
                        <a:t>mandibul</a:t>
                      </a:r>
                      <a:r>
                        <a:rPr lang="en-US" altLang="en-US" sz="2400" b="1" dirty="0"/>
                        <a:t>/o</a:t>
                      </a:r>
                      <a:endParaRPr lang="en-US" sz="2400" dirty="0"/>
                    </a:p>
                  </a:txBody>
                  <a:tcPr/>
                </a:tc>
                <a:tc>
                  <a:txBody>
                    <a:bodyPr/>
                    <a:lstStyle/>
                    <a:p>
                      <a:r>
                        <a:rPr lang="en-US" altLang="en-US" sz="2400" dirty="0"/>
                        <a:t>lower jaw, mandible</a:t>
                      </a:r>
                      <a:endParaRPr lang="en-US" sz="2400" dirty="0"/>
                    </a:p>
                  </a:txBody>
                  <a:tcPr/>
                </a:tc>
                <a:extLst>
                  <a:ext uri="{0D108BD9-81ED-4DB2-BD59-A6C34878D82A}">
                    <a16:rowId xmlns:a16="http://schemas.microsoft.com/office/drawing/2014/main" val="10008"/>
                  </a:ext>
                </a:extLst>
              </a:tr>
              <a:tr h="370840">
                <a:tc>
                  <a:txBody>
                    <a:bodyPr/>
                    <a:lstStyle/>
                    <a:p>
                      <a:r>
                        <a:rPr lang="en-US" altLang="en-US" sz="2400" b="1" dirty="0" err="1"/>
                        <a:t>odont</a:t>
                      </a:r>
                      <a:r>
                        <a:rPr lang="en-US" altLang="en-US" sz="2400" b="1" dirty="0"/>
                        <a:t>/o</a:t>
                      </a:r>
                      <a:endParaRPr lang="en-US" sz="2400" dirty="0"/>
                    </a:p>
                  </a:txBody>
                  <a:tcPr/>
                </a:tc>
                <a:tc>
                  <a:txBody>
                    <a:bodyPr/>
                    <a:lstStyle/>
                    <a:p>
                      <a:r>
                        <a:rPr lang="en-US" altLang="en-US" sz="2400" dirty="0"/>
                        <a:t>tooth</a:t>
                      </a:r>
                      <a:endParaRPr lang="en-US" sz="2400" dirty="0"/>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5510656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Terminology – Combining Forms</a:t>
            </a:r>
            <a:br>
              <a:rPr lang="en-US" dirty="0"/>
            </a:br>
            <a:r>
              <a:rPr lang="en-US" sz="4000" dirty="0"/>
              <a:t>Parts of the Body (Slide 4 of 5)</a:t>
            </a:r>
          </a:p>
        </p:txBody>
      </p:sp>
      <p:graphicFrame>
        <p:nvGraphicFramePr>
          <p:cNvPr id="8" name="Content Placeholder 7" descr="Group 4 of 5:  List of combining forms related to parts of the body  with their corresponding meanings."/>
          <p:cNvGraphicFramePr>
            <a:graphicFrameLocks noGrp="1"/>
          </p:cNvGraphicFramePr>
          <p:nvPr>
            <p:ph idx="1"/>
            <p:extLst>
              <p:ext uri="{D42A27DB-BD31-4B8C-83A1-F6EECF244321}">
                <p14:modId xmlns:p14="http://schemas.microsoft.com/office/powerpoint/2010/main" val="377635208"/>
              </p:ext>
            </p:extLst>
          </p:nvPr>
        </p:nvGraphicFramePr>
        <p:xfrm>
          <a:off x="457200" y="1600200"/>
          <a:ext cx="8229600" cy="4572000"/>
        </p:xfrm>
        <a:graphic>
          <a:graphicData uri="http://schemas.openxmlformats.org/drawingml/2006/table">
            <a:tbl>
              <a:tblPr firstRow="1" bandRow="1">
                <a:tableStyleId>{68D230F3-CF80-4859-8CE7-A43EE81993B5}</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or/o</a:t>
                      </a:r>
                      <a:endParaRPr lang="en-US" sz="2400" dirty="0"/>
                    </a:p>
                  </a:txBody>
                  <a:tcPr/>
                </a:tc>
                <a:tc>
                  <a:txBody>
                    <a:bodyPr/>
                    <a:lstStyle/>
                    <a:p>
                      <a:r>
                        <a:rPr lang="en-US" altLang="en-US" sz="2400" dirty="0"/>
                        <a:t>mouth</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err="1"/>
                        <a:t>palat</a:t>
                      </a:r>
                      <a:r>
                        <a:rPr lang="en-US" altLang="en-US" sz="2400" b="1" dirty="0"/>
                        <a:t>/o</a:t>
                      </a:r>
                      <a:endParaRPr lang="en-US" altLang="en-US" sz="2400" dirty="0"/>
                    </a:p>
                  </a:txBody>
                  <a:tcPr/>
                </a:tc>
                <a:tc>
                  <a:txBody>
                    <a:bodyPr/>
                    <a:lstStyle/>
                    <a:p>
                      <a:r>
                        <a:rPr lang="en-US" altLang="en-US" sz="2400" dirty="0"/>
                        <a:t>palate</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pancreat</a:t>
                      </a:r>
                      <a:r>
                        <a:rPr lang="en-US" altLang="en-US" sz="2400" b="1" dirty="0"/>
                        <a:t>/o</a:t>
                      </a:r>
                      <a:endParaRPr lang="en-US" sz="2400" dirty="0"/>
                    </a:p>
                  </a:txBody>
                  <a:tcPr/>
                </a:tc>
                <a:tc>
                  <a:txBody>
                    <a:bodyPr/>
                    <a:lstStyle/>
                    <a:p>
                      <a:r>
                        <a:rPr lang="en-US" altLang="en-US" sz="2400" dirty="0"/>
                        <a:t>pancreas</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peritone</a:t>
                      </a:r>
                      <a:r>
                        <a:rPr lang="en-US" altLang="en-US" sz="2400" b="1" dirty="0"/>
                        <a:t>/o</a:t>
                      </a:r>
                      <a:endParaRPr lang="en-US" sz="2400" dirty="0"/>
                    </a:p>
                  </a:txBody>
                  <a:tcPr/>
                </a:tc>
                <a:tc>
                  <a:txBody>
                    <a:bodyPr/>
                    <a:lstStyle/>
                    <a:p>
                      <a:r>
                        <a:rPr lang="en-US" altLang="en-US" sz="2400" dirty="0"/>
                        <a:t>peritoneum</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pharyng</a:t>
                      </a:r>
                      <a:r>
                        <a:rPr lang="en-US" altLang="en-US" sz="2400" b="1" dirty="0"/>
                        <a:t>/o</a:t>
                      </a:r>
                      <a:endParaRPr lang="en-US" sz="2400" dirty="0"/>
                    </a:p>
                  </a:txBody>
                  <a:tcPr/>
                </a:tc>
                <a:tc>
                  <a:txBody>
                    <a:bodyPr/>
                    <a:lstStyle/>
                    <a:p>
                      <a:r>
                        <a:rPr lang="en-US" altLang="en-US" sz="2400" dirty="0"/>
                        <a:t>throat</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proct</a:t>
                      </a:r>
                      <a:r>
                        <a:rPr lang="en-US" altLang="en-US" sz="2400" b="1" dirty="0"/>
                        <a:t>/o</a:t>
                      </a:r>
                      <a:endParaRPr lang="en-US" sz="2400" dirty="0"/>
                    </a:p>
                  </a:txBody>
                  <a:tcPr/>
                </a:tc>
                <a:tc>
                  <a:txBody>
                    <a:bodyPr/>
                    <a:lstStyle/>
                    <a:p>
                      <a:r>
                        <a:rPr lang="en-US" altLang="en-US" sz="2400" dirty="0"/>
                        <a:t>anus and rectum</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err="1"/>
                        <a:t>pylor</a:t>
                      </a:r>
                      <a:r>
                        <a:rPr lang="en-US" altLang="en-US" sz="2400" b="1" dirty="0"/>
                        <a:t>/o</a:t>
                      </a:r>
                      <a:endParaRPr lang="en-US" sz="2400" dirty="0"/>
                    </a:p>
                  </a:txBody>
                  <a:tcPr/>
                </a:tc>
                <a:tc>
                  <a:txBody>
                    <a:bodyPr/>
                    <a:lstStyle/>
                    <a:p>
                      <a:r>
                        <a:rPr lang="en-US" altLang="en-US" sz="2400" dirty="0"/>
                        <a:t>pyloric sphincter</a:t>
                      </a:r>
                      <a:endParaRPr lang="en-US" sz="2400" dirty="0"/>
                    </a:p>
                  </a:txBody>
                  <a:tcPr/>
                </a:tc>
                <a:extLst>
                  <a:ext uri="{0D108BD9-81ED-4DB2-BD59-A6C34878D82A}">
                    <a16:rowId xmlns:a16="http://schemas.microsoft.com/office/drawing/2014/main" val="10007"/>
                  </a:ext>
                </a:extLst>
              </a:tr>
              <a:tr h="370840">
                <a:tc>
                  <a:txBody>
                    <a:bodyPr/>
                    <a:lstStyle/>
                    <a:p>
                      <a:r>
                        <a:rPr lang="en-US" altLang="en-US" sz="2400" b="1" dirty="0" err="1"/>
                        <a:t>rect</a:t>
                      </a:r>
                      <a:r>
                        <a:rPr lang="en-US" altLang="en-US" sz="2400" b="1" dirty="0"/>
                        <a:t>/o</a:t>
                      </a:r>
                      <a:endParaRPr lang="en-US" sz="2400" dirty="0"/>
                    </a:p>
                  </a:txBody>
                  <a:tcPr/>
                </a:tc>
                <a:tc>
                  <a:txBody>
                    <a:bodyPr/>
                    <a:lstStyle/>
                    <a:p>
                      <a:r>
                        <a:rPr lang="en-US" altLang="en-US" sz="2400" dirty="0"/>
                        <a:t>rectum</a:t>
                      </a:r>
                      <a:endParaRPr lang="en-US" sz="2400" dirty="0"/>
                    </a:p>
                  </a:txBody>
                  <a:tcPr/>
                </a:tc>
                <a:extLst>
                  <a:ext uri="{0D108BD9-81ED-4DB2-BD59-A6C34878D82A}">
                    <a16:rowId xmlns:a16="http://schemas.microsoft.com/office/drawing/2014/main" val="10008"/>
                  </a:ext>
                </a:extLst>
              </a:tr>
              <a:tr h="370840">
                <a:tc>
                  <a:txBody>
                    <a:bodyPr/>
                    <a:lstStyle/>
                    <a:p>
                      <a:r>
                        <a:rPr lang="en-US" altLang="en-US" sz="2400" b="1" dirty="0" err="1"/>
                        <a:t>sialaden</a:t>
                      </a:r>
                      <a:r>
                        <a:rPr lang="en-US" altLang="en-US" sz="2400" b="1" dirty="0"/>
                        <a:t>/o</a:t>
                      </a:r>
                      <a:endParaRPr lang="en-US" sz="2400" dirty="0"/>
                    </a:p>
                  </a:txBody>
                  <a:tcPr/>
                </a:tc>
                <a:tc>
                  <a:txBody>
                    <a:bodyPr/>
                    <a:lstStyle/>
                    <a:p>
                      <a:r>
                        <a:rPr lang="en-US" altLang="en-US" sz="2400" dirty="0"/>
                        <a:t>salivary gland</a:t>
                      </a:r>
                      <a:endParaRPr lang="en-US" sz="2400" dirty="0"/>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0686988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Terminology – Combining Forms</a:t>
            </a:r>
            <a:br>
              <a:rPr lang="en-US" dirty="0"/>
            </a:br>
            <a:r>
              <a:rPr lang="en-US" sz="4000" dirty="0"/>
              <a:t>Parts of the Body (Slide 5 of 5)</a:t>
            </a:r>
          </a:p>
        </p:txBody>
      </p:sp>
      <p:graphicFrame>
        <p:nvGraphicFramePr>
          <p:cNvPr id="8" name="Content Placeholder 7" descr="Group 5 of 5:  List of combining forms related to parts of the body  with their corresponding meanings."/>
          <p:cNvGraphicFramePr>
            <a:graphicFrameLocks noGrp="1"/>
          </p:cNvGraphicFramePr>
          <p:nvPr>
            <p:ph idx="1"/>
            <p:extLst>
              <p:ext uri="{D42A27DB-BD31-4B8C-83A1-F6EECF244321}">
                <p14:modId xmlns:p14="http://schemas.microsoft.com/office/powerpoint/2010/main" val="1310538497"/>
              </p:ext>
            </p:extLst>
          </p:nvPr>
        </p:nvGraphicFramePr>
        <p:xfrm>
          <a:off x="457200" y="1600200"/>
          <a:ext cx="8229600" cy="1828800"/>
        </p:xfrm>
        <a:graphic>
          <a:graphicData uri="http://schemas.openxmlformats.org/drawingml/2006/table">
            <a:tbl>
              <a:tblPr firstRow="1" bandRow="1">
                <a:tableStyleId>{68D230F3-CF80-4859-8CE7-A43EE81993B5}</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sigmoid/o</a:t>
                      </a:r>
                      <a:endParaRPr lang="en-US" sz="2400" dirty="0"/>
                    </a:p>
                  </a:txBody>
                  <a:tcPr/>
                </a:tc>
                <a:tc>
                  <a:txBody>
                    <a:bodyPr/>
                    <a:lstStyle/>
                    <a:p>
                      <a:r>
                        <a:rPr lang="en-US" altLang="en-US" sz="2400" dirty="0"/>
                        <a:t>sigmoid colon</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err="1"/>
                        <a:t>stomat</a:t>
                      </a:r>
                      <a:r>
                        <a:rPr lang="en-US" altLang="en-US" sz="2400" b="1" dirty="0"/>
                        <a:t>/o</a:t>
                      </a:r>
                      <a:endParaRPr lang="en-US" altLang="en-US" sz="2400" dirty="0"/>
                    </a:p>
                  </a:txBody>
                  <a:tcPr/>
                </a:tc>
                <a:tc>
                  <a:txBody>
                    <a:bodyPr/>
                    <a:lstStyle/>
                    <a:p>
                      <a:r>
                        <a:rPr lang="en-US" altLang="en-US" sz="2400" dirty="0"/>
                        <a:t>mouth</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uvul</a:t>
                      </a:r>
                      <a:r>
                        <a:rPr lang="en-US" altLang="en-US" sz="2400" b="1" dirty="0"/>
                        <a:t>/o</a:t>
                      </a:r>
                      <a:endParaRPr lang="en-US" sz="2400" dirty="0"/>
                    </a:p>
                  </a:txBody>
                  <a:tcPr/>
                </a:tc>
                <a:tc>
                  <a:txBody>
                    <a:bodyPr/>
                    <a:lstStyle/>
                    <a:p>
                      <a:r>
                        <a:rPr lang="en-US" altLang="en-US" sz="2400" dirty="0"/>
                        <a:t>uvula</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154500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Terminology – Combining Forms</a:t>
            </a:r>
            <a:br>
              <a:rPr lang="en-US" dirty="0"/>
            </a:br>
            <a:r>
              <a:rPr lang="en-US" sz="4000" dirty="0"/>
              <a:t>Substances (Slide 1 of 2)</a:t>
            </a:r>
          </a:p>
        </p:txBody>
      </p:sp>
      <p:graphicFrame>
        <p:nvGraphicFramePr>
          <p:cNvPr id="8" name="Content Placeholder 7" descr="Group 1 of 2:  List of combining forms related to substances  with their corresponding meanings."/>
          <p:cNvGraphicFramePr>
            <a:graphicFrameLocks noGrp="1"/>
          </p:cNvGraphicFramePr>
          <p:nvPr>
            <p:ph idx="1"/>
            <p:extLst>
              <p:ext uri="{D42A27DB-BD31-4B8C-83A1-F6EECF244321}">
                <p14:modId xmlns:p14="http://schemas.microsoft.com/office/powerpoint/2010/main" val="2086800097"/>
              </p:ext>
            </p:extLst>
          </p:nvPr>
        </p:nvGraphicFramePr>
        <p:xfrm>
          <a:off x="457200" y="1600200"/>
          <a:ext cx="8229600" cy="3657600"/>
        </p:xfrm>
        <a:graphic>
          <a:graphicData uri="http://schemas.openxmlformats.org/drawingml/2006/table">
            <a:tbl>
              <a:tblPr firstRow="1" bandRow="1">
                <a:tableStyleId>{68D230F3-CF80-4859-8CE7-A43EE81993B5}</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amyl/o</a:t>
                      </a:r>
                      <a:endParaRPr lang="en-US" sz="2400" dirty="0"/>
                    </a:p>
                  </a:txBody>
                  <a:tcPr/>
                </a:tc>
                <a:tc>
                  <a:txBody>
                    <a:bodyPr/>
                    <a:lstStyle/>
                    <a:p>
                      <a:r>
                        <a:rPr lang="en-US" altLang="en-US" sz="2400" dirty="0"/>
                        <a:t>starch</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err="1"/>
                        <a:t>bil</a:t>
                      </a:r>
                      <a:r>
                        <a:rPr lang="en-US" altLang="en-US" sz="2400" b="1" dirty="0"/>
                        <a:t>/</a:t>
                      </a:r>
                      <a:r>
                        <a:rPr lang="en-US" altLang="en-US" sz="2400" b="1" dirty="0" err="1"/>
                        <a:t>i</a:t>
                      </a:r>
                      <a:endParaRPr lang="en-US" altLang="en-US" sz="2400" dirty="0"/>
                    </a:p>
                  </a:txBody>
                  <a:tcPr/>
                </a:tc>
                <a:tc>
                  <a:txBody>
                    <a:bodyPr/>
                    <a:lstStyle/>
                    <a:p>
                      <a:r>
                        <a:rPr lang="en-US" altLang="en-US" sz="2400" dirty="0"/>
                        <a:t>gall, bile</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bilirubin/o</a:t>
                      </a:r>
                      <a:endParaRPr lang="en-US" sz="2400" dirty="0"/>
                    </a:p>
                  </a:txBody>
                  <a:tcPr/>
                </a:tc>
                <a:tc>
                  <a:txBody>
                    <a:bodyPr/>
                    <a:lstStyle/>
                    <a:p>
                      <a:r>
                        <a:rPr lang="en-US" altLang="en-US" sz="2400" dirty="0"/>
                        <a:t>bilirubin (bile pigment)</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chol</a:t>
                      </a:r>
                      <a:r>
                        <a:rPr lang="en-US" altLang="en-US" sz="2400" b="1" dirty="0"/>
                        <a:t>/e</a:t>
                      </a:r>
                      <a:endParaRPr lang="en-US" sz="2400" dirty="0"/>
                    </a:p>
                  </a:txBody>
                  <a:tcPr/>
                </a:tc>
                <a:tc>
                  <a:txBody>
                    <a:bodyPr/>
                    <a:lstStyle/>
                    <a:p>
                      <a:r>
                        <a:rPr lang="en-US" altLang="en-US" sz="2400" dirty="0"/>
                        <a:t>gall or bile</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chlorhydr</a:t>
                      </a:r>
                      <a:r>
                        <a:rPr lang="en-US" altLang="en-US" sz="2400" b="1" dirty="0"/>
                        <a:t>/o</a:t>
                      </a:r>
                      <a:endParaRPr lang="en-US" sz="2400" dirty="0"/>
                    </a:p>
                  </a:txBody>
                  <a:tcPr/>
                </a:tc>
                <a:tc>
                  <a:txBody>
                    <a:bodyPr/>
                    <a:lstStyle/>
                    <a:p>
                      <a:r>
                        <a:rPr lang="en-US" altLang="en-US" sz="2400" dirty="0"/>
                        <a:t>hydrochloric acid</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gluc</a:t>
                      </a:r>
                      <a:r>
                        <a:rPr lang="en-US" altLang="en-US" sz="2400" b="1" dirty="0"/>
                        <a:t>/o</a:t>
                      </a:r>
                      <a:endParaRPr lang="en-US" sz="2400" dirty="0"/>
                    </a:p>
                  </a:txBody>
                  <a:tcPr/>
                </a:tc>
                <a:tc>
                  <a:txBody>
                    <a:bodyPr/>
                    <a:lstStyle/>
                    <a:p>
                      <a:r>
                        <a:rPr lang="en-US" altLang="en-US" sz="2400" dirty="0"/>
                        <a:t>sugar</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err="1"/>
                        <a:t>glyc</a:t>
                      </a:r>
                      <a:r>
                        <a:rPr lang="en-US" altLang="en-US" sz="2400" b="1" dirty="0"/>
                        <a:t>/o</a:t>
                      </a:r>
                      <a:endParaRPr lang="en-US" sz="2400" dirty="0"/>
                    </a:p>
                  </a:txBody>
                  <a:tcPr/>
                </a:tc>
                <a:tc>
                  <a:txBody>
                    <a:bodyPr/>
                    <a:lstStyle/>
                    <a:p>
                      <a:r>
                        <a:rPr lang="en-US" altLang="en-US" sz="2400" dirty="0"/>
                        <a:t>sugar</a:t>
                      </a:r>
                      <a:endParaRPr lang="en-US" sz="24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7560369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Terminology – Combining Forms</a:t>
            </a:r>
            <a:br>
              <a:rPr lang="en-US" dirty="0"/>
            </a:br>
            <a:r>
              <a:rPr lang="en-US" sz="4000" dirty="0"/>
              <a:t>Substances (Slide 2 of 2)</a:t>
            </a:r>
          </a:p>
        </p:txBody>
      </p:sp>
      <p:graphicFrame>
        <p:nvGraphicFramePr>
          <p:cNvPr id="8" name="Content Placeholder 7" descr="Group 2 of 2:  List of combining forms related to substances  with their corresponding meanings."/>
          <p:cNvGraphicFramePr>
            <a:graphicFrameLocks noGrp="1"/>
          </p:cNvGraphicFramePr>
          <p:nvPr>
            <p:ph idx="1"/>
            <p:extLst>
              <p:ext uri="{D42A27DB-BD31-4B8C-83A1-F6EECF244321}">
                <p14:modId xmlns:p14="http://schemas.microsoft.com/office/powerpoint/2010/main" val="2942386448"/>
              </p:ext>
            </p:extLst>
          </p:nvPr>
        </p:nvGraphicFramePr>
        <p:xfrm>
          <a:off x="457200" y="1600200"/>
          <a:ext cx="8229600" cy="3657600"/>
        </p:xfrm>
        <a:graphic>
          <a:graphicData uri="http://schemas.openxmlformats.org/drawingml/2006/table">
            <a:tbl>
              <a:tblPr firstRow="1" bandRow="1">
                <a:tableStyleId>{68D230F3-CF80-4859-8CE7-A43EE81993B5}</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glycogen/o</a:t>
                      </a:r>
                      <a:endParaRPr lang="en-US" sz="2400" dirty="0"/>
                    </a:p>
                  </a:txBody>
                  <a:tcPr/>
                </a:tc>
                <a:tc>
                  <a:txBody>
                    <a:bodyPr/>
                    <a:lstStyle/>
                    <a:p>
                      <a:r>
                        <a:rPr lang="en-US" altLang="en-US" sz="2400" dirty="0"/>
                        <a:t>glycogen, animal starch</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a:t>lip/o</a:t>
                      </a:r>
                      <a:endParaRPr lang="en-US" altLang="en-US" sz="2400" dirty="0"/>
                    </a:p>
                  </a:txBody>
                  <a:tcPr/>
                </a:tc>
                <a:tc>
                  <a:txBody>
                    <a:bodyPr/>
                    <a:lstStyle/>
                    <a:p>
                      <a:r>
                        <a:rPr lang="en-US" altLang="en-US" sz="2400" dirty="0"/>
                        <a:t>fat</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lith</a:t>
                      </a:r>
                      <a:r>
                        <a:rPr lang="en-US" altLang="en-US" sz="2400" b="1" dirty="0"/>
                        <a:t>/o</a:t>
                      </a:r>
                      <a:endParaRPr lang="en-US" sz="2400" dirty="0"/>
                    </a:p>
                  </a:txBody>
                  <a:tcPr/>
                </a:tc>
                <a:tc>
                  <a:txBody>
                    <a:bodyPr/>
                    <a:lstStyle/>
                    <a:p>
                      <a:r>
                        <a:rPr lang="en-US" altLang="en-US" sz="2400" dirty="0"/>
                        <a:t>stone</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prote</a:t>
                      </a:r>
                      <a:r>
                        <a:rPr lang="en-US" altLang="en-US" sz="2400" b="1" dirty="0"/>
                        <a:t>/o</a:t>
                      </a:r>
                      <a:endParaRPr lang="en-US" sz="2400" dirty="0"/>
                    </a:p>
                  </a:txBody>
                  <a:tcPr/>
                </a:tc>
                <a:tc>
                  <a:txBody>
                    <a:bodyPr/>
                    <a:lstStyle/>
                    <a:p>
                      <a:r>
                        <a:rPr lang="en-US" altLang="en-US" sz="2400" dirty="0"/>
                        <a:t>protein</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py</a:t>
                      </a:r>
                      <a:r>
                        <a:rPr lang="en-US" altLang="en-US" sz="2400" b="1" dirty="0"/>
                        <a:t>/o</a:t>
                      </a:r>
                      <a:endParaRPr lang="en-US" sz="2400" dirty="0"/>
                    </a:p>
                  </a:txBody>
                  <a:tcPr/>
                </a:tc>
                <a:tc>
                  <a:txBody>
                    <a:bodyPr/>
                    <a:lstStyle/>
                    <a:p>
                      <a:r>
                        <a:rPr lang="en-US" altLang="en-US" sz="2400" dirty="0"/>
                        <a:t>pus</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sial</a:t>
                      </a:r>
                      <a:r>
                        <a:rPr lang="en-US" altLang="en-US" sz="2400" b="1" dirty="0"/>
                        <a:t>/o</a:t>
                      </a:r>
                      <a:endParaRPr lang="en-US" sz="2400" dirty="0"/>
                    </a:p>
                  </a:txBody>
                  <a:tcPr/>
                </a:tc>
                <a:tc>
                  <a:txBody>
                    <a:bodyPr/>
                    <a:lstStyle/>
                    <a:p>
                      <a:r>
                        <a:rPr lang="en-US" altLang="en-US" sz="2400" dirty="0"/>
                        <a:t>saliva, salivary</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err="1"/>
                        <a:t>steat</a:t>
                      </a:r>
                      <a:r>
                        <a:rPr lang="en-US" altLang="en-US" sz="2400" b="1" dirty="0"/>
                        <a:t>/o</a:t>
                      </a:r>
                      <a:endParaRPr lang="en-US" sz="2400" dirty="0"/>
                    </a:p>
                  </a:txBody>
                  <a:tcPr/>
                </a:tc>
                <a:tc>
                  <a:txBody>
                    <a:bodyPr/>
                    <a:lstStyle/>
                    <a:p>
                      <a:r>
                        <a:rPr lang="en-US" altLang="en-US" sz="2400" dirty="0"/>
                        <a:t>fat</a:t>
                      </a:r>
                      <a:endParaRPr lang="en-US" sz="24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716898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Terminology – Suffixes</a:t>
            </a:r>
            <a:endParaRPr lang="en-US" sz="4000" dirty="0"/>
          </a:p>
        </p:txBody>
      </p:sp>
      <p:graphicFrame>
        <p:nvGraphicFramePr>
          <p:cNvPr id="8" name="Content Placeholder 7" descr=" List of suffixes with their corresponding meanings."/>
          <p:cNvGraphicFramePr>
            <a:graphicFrameLocks noGrp="1"/>
          </p:cNvGraphicFramePr>
          <p:nvPr>
            <p:ph idx="1"/>
            <p:extLst>
              <p:ext uri="{D42A27DB-BD31-4B8C-83A1-F6EECF244321}">
                <p14:modId xmlns:p14="http://schemas.microsoft.com/office/powerpoint/2010/main" val="2799183337"/>
              </p:ext>
            </p:extLst>
          </p:nvPr>
        </p:nvGraphicFramePr>
        <p:xfrm>
          <a:off x="457200" y="1600200"/>
          <a:ext cx="8229600" cy="2286000"/>
        </p:xfrm>
        <a:graphic>
          <a:graphicData uri="http://schemas.openxmlformats.org/drawingml/2006/table">
            <a:tbl>
              <a:tblPr firstRow="1" bandRow="1">
                <a:tableStyleId>{68D230F3-CF80-4859-8CE7-A43EE81993B5}</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ase</a:t>
                      </a:r>
                      <a:endParaRPr lang="en-US" sz="2400" dirty="0"/>
                    </a:p>
                  </a:txBody>
                  <a:tcPr/>
                </a:tc>
                <a:tc>
                  <a:txBody>
                    <a:bodyPr/>
                    <a:lstStyle/>
                    <a:p>
                      <a:r>
                        <a:rPr lang="en-US" altLang="en-US" sz="2400" dirty="0"/>
                        <a:t>enzyme</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a:t>-</a:t>
                      </a:r>
                      <a:r>
                        <a:rPr lang="en-US" altLang="en-US" sz="2400" b="1" dirty="0" err="1"/>
                        <a:t>chezia</a:t>
                      </a:r>
                      <a:endParaRPr lang="en-US" altLang="en-US" sz="2400" dirty="0"/>
                    </a:p>
                  </a:txBody>
                  <a:tcPr/>
                </a:tc>
                <a:tc>
                  <a:txBody>
                    <a:bodyPr/>
                    <a:lstStyle/>
                    <a:p>
                      <a:r>
                        <a:rPr lang="en-US" altLang="en-US" sz="2400" dirty="0"/>
                        <a:t>defecation, elimination of wastes</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iasis</a:t>
                      </a:r>
                      <a:endParaRPr lang="en-US" sz="2400" dirty="0"/>
                    </a:p>
                  </a:txBody>
                  <a:tcPr/>
                </a:tc>
                <a:tc>
                  <a:txBody>
                    <a:bodyPr/>
                    <a:lstStyle/>
                    <a:p>
                      <a:r>
                        <a:rPr lang="en-US" altLang="en-US" sz="2400" dirty="0"/>
                        <a:t>abnormal condition</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-prandial</a:t>
                      </a:r>
                      <a:endParaRPr lang="en-US" sz="2400" dirty="0"/>
                    </a:p>
                  </a:txBody>
                  <a:tcPr/>
                </a:tc>
                <a:tc>
                  <a:txBody>
                    <a:bodyPr/>
                    <a:lstStyle/>
                    <a:p>
                      <a:r>
                        <a:rPr lang="en-US" altLang="en-US" sz="2400" dirty="0"/>
                        <a:t>meal</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488982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en-US" altLang="en-US"/>
              <a:t>Anastomoses</a:t>
            </a:r>
          </a:p>
        </p:txBody>
      </p:sp>
      <p:pic>
        <p:nvPicPr>
          <p:cNvPr id="5" name="Picture 7" descr="An anastomosis is any surgical connection between two parts, such as vessels, ducts, or bowel segments. Depicted here are three types from left to right: end to end, end to side, and side to side."/>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57200" y="2998699"/>
            <a:ext cx="8229600" cy="17289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8976455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838200" y="762000"/>
            <a:ext cx="7772400" cy="1219200"/>
          </a:xfrm>
        </p:spPr>
        <p:txBody>
          <a:bodyPr/>
          <a:lstStyle/>
          <a:p>
            <a:pPr eaLnBrk="1" hangingPunct="1"/>
            <a:r>
              <a:rPr lang="en-US" altLang="en-US" sz="5400" b="1" dirty="0"/>
              <a:t>QUICK QUIZ </a:t>
            </a:r>
            <a:r>
              <a:rPr lang="en-US" altLang="en-US" dirty="0"/>
              <a:t>(Slide 4 of 4)</a:t>
            </a:r>
            <a:endParaRPr lang="en-US" altLang="en-US" b="1" dirty="0"/>
          </a:p>
        </p:txBody>
      </p:sp>
      <p:sp>
        <p:nvSpPr>
          <p:cNvPr id="65539" name="Rectangle 3"/>
          <p:cNvSpPr>
            <a:spLocks noGrp="1" noChangeArrowheads="1"/>
          </p:cNvSpPr>
          <p:nvPr>
            <p:ph idx="1"/>
          </p:nvPr>
        </p:nvSpPr>
        <p:spPr>
          <a:xfrm>
            <a:off x="1485900" y="2362200"/>
            <a:ext cx="6477000" cy="3657599"/>
          </a:xfrm>
        </p:spPr>
        <p:txBody>
          <a:bodyPr/>
          <a:lstStyle/>
          <a:p>
            <a:pPr marL="533400" indent="-533400" eaLnBrk="1" hangingPunct="1">
              <a:buFont typeface="Wingdings 2" panose="05020102010507070707" pitchFamily="18" charset="2"/>
              <a:buNone/>
            </a:pPr>
            <a:r>
              <a:rPr lang="en-US" altLang="en-US" b="1" dirty="0"/>
              <a:t>4.  Which term means inflammation of the lip?</a:t>
            </a:r>
          </a:p>
          <a:p>
            <a:pPr marL="914400" lvl="1" indent="-457200" eaLnBrk="1" hangingPunct="1">
              <a:buFont typeface="Arial" panose="020B0604020202020204" pitchFamily="34" charset="0"/>
              <a:buAutoNum type="alphaUcPeriod"/>
            </a:pPr>
            <a:r>
              <a:rPr lang="en-US" altLang="en-US" sz="3200" dirty="0" err="1">
                <a:ea typeface="MS PGothic" panose="020B0600070205080204" pitchFamily="34" charset="-128"/>
              </a:rPr>
              <a:t>Cholecystitis</a:t>
            </a:r>
            <a:endParaRPr lang="en-US" altLang="en-US" sz="3200" dirty="0">
              <a:ea typeface="MS PGothic" panose="020B0600070205080204" pitchFamily="34" charset="-128"/>
            </a:endParaRP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Celiac</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Appendicitis</a:t>
            </a:r>
          </a:p>
          <a:p>
            <a:pPr marL="914400" lvl="1" indent="-457200" eaLnBrk="1" hangingPunct="1">
              <a:buFont typeface="Arial" panose="020B0604020202020204" pitchFamily="34" charset="0"/>
              <a:buAutoNum type="alphaUcPeriod"/>
            </a:pPr>
            <a:r>
              <a:rPr lang="en-US" altLang="en-US" sz="3200" dirty="0" err="1">
                <a:ea typeface="MS PGothic" panose="020B0600070205080204" pitchFamily="34" charset="-128"/>
              </a:rPr>
              <a:t>Cheilitis</a:t>
            </a:r>
            <a:endParaRPr lang="en-US" altLang="en-US" dirty="0">
              <a:ea typeface="MS PGothic" panose="020B0600070205080204" pitchFamily="34" charset="-128"/>
            </a:endParaRPr>
          </a:p>
          <a:p>
            <a:pPr marL="914400" lvl="1" indent="-457200" eaLnBrk="1" hangingPunct="1">
              <a:buFont typeface="Webdings" panose="05030102010509060703" pitchFamily="18" charset="2"/>
              <a:buNone/>
            </a:pPr>
            <a:endParaRPr lang="en-US" altLang="en-US" dirty="0">
              <a:ea typeface="MS PGothic" panose="020B0600070205080204" pitchFamily="34" charset="-128"/>
            </a:endParaRPr>
          </a:p>
        </p:txBody>
      </p:sp>
    </p:spTree>
    <p:extLst>
      <p:ext uri="{BB962C8B-B14F-4D97-AF65-F5344CB8AC3E}">
        <p14:creationId xmlns:p14="http://schemas.microsoft.com/office/powerpoint/2010/main" val="10153943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US" dirty="0"/>
              <a:t>Chapter 5</a:t>
            </a:r>
            <a:br>
              <a:rPr lang="en-US" dirty="0"/>
            </a:br>
            <a:r>
              <a:rPr lang="en-US" dirty="0"/>
              <a:t>Lesson 5.2</a:t>
            </a:r>
          </a:p>
        </p:txBody>
      </p:sp>
    </p:spTree>
    <p:extLst>
      <p:ext uri="{BB962C8B-B14F-4D97-AF65-F5344CB8AC3E}">
        <p14:creationId xmlns:p14="http://schemas.microsoft.com/office/powerpoint/2010/main" val="31071510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6"/>
          <p:cNvSpPr>
            <a:spLocks noGrp="1" noChangeArrowheads="1"/>
          </p:cNvSpPr>
          <p:nvPr>
            <p:ph type="title"/>
          </p:nvPr>
        </p:nvSpPr>
        <p:spPr>
          <a:xfrm>
            <a:off x="304800" y="274638"/>
            <a:ext cx="8382000" cy="1143000"/>
          </a:xfrm>
        </p:spPr>
        <p:txBody>
          <a:bodyPr/>
          <a:lstStyle/>
          <a:p>
            <a:pPr eaLnBrk="1" hangingPunct="1"/>
            <a:r>
              <a:rPr lang="en-US" altLang="en-US" dirty="0"/>
              <a:t>Pathology </a:t>
            </a:r>
            <a:br>
              <a:rPr lang="en-US" altLang="en-US" dirty="0"/>
            </a:br>
            <a:r>
              <a:rPr lang="en-US" altLang="en-US" dirty="0"/>
              <a:t>of the Digestive System </a:t>
            </a:r>
            <a:r>
              <a:rPr lang="en-US" altLang="en-US" sz="3200" dirty="0"/>
              <a:t>(slide 1 of 3)</a:t>
            </a:r>
          </a:p>
        </p:txBody>
      </p:sp>
      <p:sp>
        <p:nvSpPr>
          <p:cNvPr id="96263" name="Rectangle 7"/>
          <p:cNvSpPr>
            <a:spLocks noGrp="1" noChangeArrowheads="1"/>
          </p:cNvSpPr>
          <p:nvPr>
            <p:ph idx="1"/>
          </p:nvPr>
        </p:nvSpPr>
        <p:spPr/>
        <p:txBody>
          <a:bodyPr rtlCol="0">
            <a:normAutofit lnSpcReduction="10000"/>
          </a:bodyPr>
          <a:lstStyle/>
          <a:p>
            <a:pPr eaLnBrk="1" fontAlgn="auto" hangingPunct="1">
              <a:lnSpc>
                <a:spcPct val="90000"/>
              </a:lnSpc>
              <a:spcAft>
                <a:spcPts val="0"/>
              </a:spcAft>
              <a:buFont typeface="Wingdings 2" pitchFamily="18" charset="2"/>
              <a:buNone/>
              <a:defRPr/>
            </a:pPr>
            <a:r>
              <a:rPr lang="en-US" b="1" dirty="0"/>
              <a:t>Signs and symptoms</a:t>
            </a:r>
            <a:endParaRPr lang="en-US" dirty="0"/>
          </a:p>
          <a:p>
            <a:pPr eaLnBrk="1" fontAlgn="auto" hangingPunct="1">
              <a:lnSpc>
                <a:spcPct val="90000"/>
              </a:lnSpc>
              <a:spcAft>
                <a:spcPts val="0"/>
              </a:spcAft>
              <a:defRPr/>
            </a:pPr>
            <a:r>
              <a:rPr lang="en-US" b="1" dirty="0"/>
              <a:t>Anorexia</a:t>
            </a:r>
            <a:r>
              <a:rPr lang="en-US" dirty="0"/>
              <a:t> – lack of appetite</a:t>
            </a:r>
          </a:p>
          <a:p>
            <a:pPr eaLnBrk="1" fontAlgn="auto" hangingPunct="1">
              <a:lnSpc>
                <a:spcPct val="90000"/>
              </a:lnSpc>
              <a:spcAft>
                <a:spcPts val="0"/>
              </a:spcAft>
              <a:defRPr/>
            </a:pPr>
            <a:r>
              <a:rPr lang="en-US" b="1" dirty="0"/>
              <a:t>Ascites</a:t>
            </a:r>
            <a:r>
              <a:rPr lang="en-US" dirty="0"/>
              <a:t> – abnormal accumulation of fluid in the abdomen</a:t>
            </a:r>
          </a:p>
          <a:p>
            <a:pPr eaLnBrk="1" fontAlgn="auto" hangingPunct="1">
              <a:lnSpc>
                <a:spcPct val="90000"/>
              </a:lnSpc>
              <a:spcAft>
                <a:spcPts val="0"/>
              </a:spcAft>
              <a:defRPr/>
            </a:pPr>
            <a:r>
              <a:rPr lang="en-US" b="1" dirty="0" err="1"/>
              <a:t>Borborygmi</a:t>
            </a:r>
            <a:r>
              <a:rPr lang="en-US" b="1" dirty="0"/>
              <a:t> </a:t>
            </a:r>
            <a:r>
              <a:rPr lang="en-US" dirty="0"/>
              <a:t>(</a:t>
            </a:r>
            <a:r>
              <a:rPr lang="en-US" i="1" dirty="0"/>
              <a:t>singular: </a:t>
            </a:r>
            <a:r>
              <a:rPr lang="en-US" b="1" dirty="0" err="1"/>
              <a:t>borborygmus</a:t>
            </a:r>
            <a:r>
              <a:rPr lang="en-US" dirty="0"/>
              <a:t>) – rumbling or gurgling noises produced by the movement of gas, fluid, or both in the GI tract</a:t>
            </a:r>
            <a:endParaRPr lang="en-US" b="1" dirty="0"/>
          </a:p>
          <a:p>
            <a:pPr eaLnBrk="1" fontAlgn="auto" hangingPunct="1">
              <a:lnSpc>
                <a:spcPct val="90000"/>
              </a:lnSpc>
              <a:spcAft>
                <a:spcPts val="0"/>
              </a:spcAft>
              <a:defRPr/>
            </a:pPr>
            <a:r>
              <a:rPr lang="en-US" b="1" dirty="0"/>
              <a:t>Constipation </a:t>
            </a:r>
            <a:r>
              <a:rPr lang="en-US" dirty="0"/>
              <a:t>– difficulty in passing stools</a:t>
            </a:r>
          </a:p>
          <a:p>
            <a:pPr eaLnBrk="1" fontAlgn="auto" hangingPunct="1">
              <a:lnSpc>
                <a:spcPct val="90000"/>
              </a:lnSpc>
              <a:spcAft>
                <a:spcPts val="0"/>
              </a:spcAft>
              <a:defRPr/>
            </a:pPr>
            <a:r>
              <a:rPr lang="en-US" b="1" dirty="0"/>
              <a:t>Diarrhea</a:t>
            </a:r>
            <a:r>
              <a:rPr lang="en-US" dirty="0"/>
              <a:t> – frequent passage of loose, watery stools</a:t>
            </a:r>
            <a:endParaRPr lang="en-US" b="1" dirty="0"/>
          </a:p>
        </p:txBody>
      </p:sp>
    </p:spTree>
    <p:extLst>
      <p:ext uri="{BB962C8B-B14F-4D97-AF65-F5344CB8AC3E}">
        <p14:creationId xmlns:p14="http://schemas.microsoft.com/office/powerpoint/2010/main" val="19051104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pPr eaLnBrk="1" hangingPunct="1"/>
            <a:r>
              <a:rPr lang="en-US" altLang="en-US" dirty="0"/>
              <a:t>Pathology </a:t>
            </a:r>
            <a:br>
              <a:rPr lang="en-US" altLang="en-US" dirty="0"/>
            </a:br>
            <a:r>
              <a:rPr lang="en-US" altLang="en-US" dirty="0"/>
              <a:t>of the Digestive System </a:t>
            </a:r>
            <a:r>
              <a:rPr lang="en-US" altLang="en-US" sz="3200" dirty="0"/>
              <a:t>(slide 2 of 3)</a:t>
            </a:r>
          </a:p>
        </p:txBody>
      </p:sp>
      <p:sp>
        <p:nvSpPr>
          <p:cNvPr id="3" name="Content Placeholder 2"/>
          <p:cNvSpPr>
            <a:spLocks noGrp="1"/>
          </p:cNvSpPr>
          <p:nvPr>
            <p:ph idx="1"/>
          </p:nvPr>
        </p:nvSpPr>
        <p:spPr/>
        <p:txBody>
          <a:bodyPr rtlCol="0">
            <a:normAutofit lnSpcReduction="10000"/>
          </a:bodyPr>
          <a:lstStyle/>
          <a:p>
            <a:pPr eaLnBrk="1" fontAlgn="auto" hangingPunct="1">
              <a:spcAft>
                <a:spcPts val="0"/>
              </a:spcAft>
              <a:defRPr/>
            </a:pPr>
            <a:r>
              <a:rPr lang="en-US" b="1" dirty="0"/>
              <a:t>Dysphagia </a:t>
            </a:r>
            <a:r>
              <a:rPr lang="en-US" dirty="0"/>
              <a:t>– difficulty in swallowing</a:t>
            </a:r>
          </a:p>
          <a:p>
            <a:pPr eaLnBrk="1" fontAlgn="auto" hangingPunct="1">
              <a:spcAft>
                <a:spcPts val="0"/>
              </a:spcAft>
              <a:defRPr/>
            </a:pPr>
            <a:r>
              <a:rPr lang="en-US" b="1" dirty="0"/>
              <a:t>Eructation </a:t>
            </a:r>
            <a:r>
              <a:rPr lang="en-US" dirty="0"/>
              <a:t>– gas expelled from the stomach through the mouth</a:t>
            </a:r>
          </a:p>
          <a:p>
            <a:pPr eaLnBrk="1" fontAlgn="auto" hangingPunct="1">
              <a:spcAft>
                <a:spcPts val="0"/>
              </a:spcAft>
              <a:defRPr/>
            </a:pPr>
            <a:r>
              <a:rPr lang="en-US" b="1" dirty="0"/>
              <a:t>Flatus </a:t>
            </a:r>
            <a:r>
              <a:rPr lang="en-US" dirty="0"/>
              <a:t>– gas expelled through the anus</a:t>
            </a:r>
          </a:p>
          <a:p>
            <a:pPr eaLnBrk="1" fontAlgn="auto" hangingPunct="1">
              <a:spcAft>
                <a:spcPts val="0"/>
              </a:spcAft>
              <a:defRPr/>
            </a:pPr>
            <a:r>
              <a:rPr lang="en-US" b="1" dirty="0" err="1"/>
              <a:t>Hematochezia</a:t>
            </a:r>
            <a:r>
              <a:rPr lang="en-US" b="1" dirty="0"/>
              <a:t> </a:t>
            </a:r>
            <a:r>
              <a:rPr lang="en-US" dirty="0"/>
              <a:t>– passage of fresh, bright red blood from the rectum</a:t>
            </a:r>
          </a:p>
          <a:p>
            <a:pPr eaLnBrk="1" fontAlgn="auto" hangingPunct="1">
              <a:spcAft>
                <a:spcPts val="0"/>
              </a:spcAft>
              <a:defRPr/>
            </a:pPr>
            <a:r>
              <a:rPr lang="en-US" b="1" dirty="0"/>
              <a:t>Jaundice (icterus) </a:t>
            </a:r>
            <a:r>
              <a:rPr lang="en-US" dirty="0"/>
              <a:t>– yellow-orange coloration of the skin and whites of the eyes caused by high levels of bilirubin in the blood</a:t>
            </a:r>
            <a:endParaRPr lang="en-US" b="1" dirty="0"/>
          </a:p>
        </p:txBody>
      </p:sp>
    </p:spTree>
    <p:extLst>
      <p:ext uri="{BB962C8B-B14F-4D97-AF65-F5344CB8AC3E}">
        <p14:creationId xmlns:p14="http://schemas.microsoft.com/office/powerpoint/2010/main" val="2624228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p:txBody>
          <a:bodyPr/>
          <a:lstStyle/>
          <a:p>
            <a:pPr eaLnBrk="1" hangingPunct="1"/>
            <a:r>
              <a:rPr lang="en-US" altLang="en-US" dirty="0"/>
              <a:t>Pathology </a:t>
            </a:r>
            <a:br>
              <a:rPr lang="en-US" altLang="en-US" dirty="0"/>
            </a:br>
            <a:r>
              <a:rPr lang="en-US" altLang="en-US" dirty="0"/>
              <a:t>of the Digestive System </a:t>
            </a:r>
            <a:r>
              <a:rPr lang="en-US" altLang="en-US" sz="3200" dirty="0"/>
              <a:t>(slide 3 of 3)</a:t>
            </a:r>
          </a:p>
        </p:txBody>
      </p:sp>
      <p:sp>
        <p:nvSpPr>
          <p:cNvPr id="69635" name="Content Placeholder 2"/>
          <p:cNvSpPr>
            <a:spLocks noGrp="1"/>
          </p:cNvSpPr>
          <p:nvPr>
            <p:ph idx="1"/>
          </p:nvPr>
        </p:nvSpPr>
        <p:spPr/>
        <p:txBody>
          <a:bodyPr/>
          <a:lstStyle/>
          <a:p>
            <a:pPr eaLnBrk="1" hangingPunct="1"/>
            <a:r>
              <a:rPr lang="en-US" altLang="en-US" b="1" dirty="0" err="1"/>
              <a:t>Melena</a:t>
            </a:r>
            <a:r>
              <a:rPr lang="en-US" altLang="en-US" dirty="0"/>
              <a:t> – black, tarry stools; feces containing digested blood</a:t>
            </a:r>
          </a:p>
          <a:p>
            <a:pPr eaLnBrk="1" hangingPunct="1"/>
            <a:r>
              <a:rPr lang="en-US" altLang="en-US" b="1" dirty="0"/>
              <a:t>Nausea </a:t>
            </a:r>
            <a:r>
              <a:rPr lang="en-US" altLang="en-US" dirty="0"/>
              <a:t>– unpleasant sensation in the stomach with a tendency to vomit</a:t>
            </a:r>
          </a:p>
          <a:p>
            <a:pPr eaLnBrk="1" hangingPunct="1"/>
            <a:r>
              <a:rPr lang="en-US" altLang="en-US" b="1" dirty="0" err="1"/>
              <a:t>Steatorrhea</a:t>
            </a:r>
            <a:r>
              <a:rPr lang="en-US" altLang="en-US" b="1" dirty="0"/>
              <a:t> </a:t>
            </a:r>
            <a:r>
              <a:rPr lang="en-US" altLang="en-US" dirty="0"/>
              <a:t>– fat in the feces; frothy, foul-smelling fecal matter</a:t>
            </a:r>
            <a:endParaRPr lang="en-US" altLang="en-US" b="1" dirty="0"/>
          </a:p>
        </p:txBody>
      </p:sp>
    </p:spTree>
    <p:extLst>
      <p:ext uri="{BB962C8B-B14F-4D97-AF65-F5344CB8AC3E}">
        <p14:creationId xmlns:p14="http://schemas.microsoft.com/office/powerpoint/2010/main" val="31264618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4"/>
          <p:cNvSpPr>
            <a:spLocks noGrp="1" noChangeArrowheads="1"/>
          </p:cNvSpPr>
          <p:nvPr>
            <p:ph type="title"/>
          </p:nvPr>
        </p:nvSpPr>
        <p:spPr>
          <a:xfrm>
            <a:off x="152400" y="228600"/>
            <a:ext cx="8763000" cy="1143000"/>
          </a:xfrm>
        </p:spPr>
        <p:txBody>
          <a:bodyPr/>
          <a:lstStyle/>
          <a:p>
            <a:pPr eaLnBrk="1" hangingPunct="1"/>
            <a:r>
              <a:rPr lang="en-US" altLang="en-US"/>
              <a:t>Pathologic Conditions</a:t>
            </a:r>
            <a:br>
              <a:rPr lang="en-US" altLang="en-US"/>
            </a:br>
            <a:r>
              <a:rPr lang="en-US" altLang="en-US"/>
              <a:t>Oral Cavity and Teeth</a:t>
            </a:r>
          </a:p>
        </p:txBody>
      </p:sp>
      <p:sp>
        <p:nvSpPr>
          <p:cNvPr id="70659" name="Rectangle 5"/>
          <p:cNvSpPr>
            <a:spLocks noGrp="1" noChangeArrowheads="1"/>
          </p:cNvSpPr>
          <p:nvPr>
            <p:ph idx="1"/>
          </p:nvPr>
        </p:nvSpPr>
        <p:spPr>
          <a:xfrm>
            <a:off x="685800" y="1600200"/>
            <a:ext cx="6705600" cy="4419600"/>
          </a:xfrm>
        </p:spPr>
        <p:txBody>
          <a:bodyPr/>
          <a:lstStyle/>
          <a:p>
            <a:pPr eaLnBrk="1" hangingPunct="1"/>
            <a:r>
              <a:rPr lang="en-US" altLang="en-US" sz="2400" b="1"/>
              <a:t>Aphthous stomatitis</a:t>
            </a:r>
            <a:r>
              <a:rPr lang="en-US" altLang="en-US" sz="2400"/>
              <a:t> – inflammation of the mouth with small, painful ulcers</a:t>
            </a:r>
          </a:p>
          <a:p>
            <a:pPr eaLnBrk="1" hangingPunct="1"/>
            <a:endParaRPr lang="en-US" altLang="en-US" sz="1000"/>
          </a:p>
          <a:p>
            <a:pPr eaLnBrk="1" hangingPunct="1"/>
            <a:r>
              <a:rPr lang="en-US" altLang="en-US" sz="2400" b="1"/>
              <a:t>Dental caries</a:t>
            </a:r>
            <a:r>
              <a:rPr lang="en-US" altLang="en-US" sz="2400"/>
              <a:t> – tooth decay</a:t>
            </a:r>
          </a:p>
          <a:p>
            <a:pPr eaLnBrk="1" hangingPunct="1"/>
            <a:endParaRPr lang="en-US" altLang="en-US" sz="1000"/>
          </a:p>
          <a:p>
            <a:pPr eaLnBrk="1" hangingPunct="1"/>
            <a:r>
              <a:rPr lang="en-US" altLang="en-US" sz="2400" b="1"/>
              <a:t>Herpetic stomatitis</a:t>
            </a:r>
            <a:r>
              <a:rPr lang="en-US" altLang="en-US" sz="2400"/>
              <a:t> – inflammation of the mouth by infection with the herpes virus</a:t>
            </a:r>
          </a:p>
          <a:p>
            <a:pPr eaLnBrk="1" hangingPunct="1"/>
            <a:endParaRPr lang="en-US" altLang="en-US" sz="1000"/>
          </a:p>
          <a:p>
            <a:pPr eaLnBrk="1" hangingPunct="1"/>
            <a:r>
              <a:rPr lang="en-US" altLang="en-US" sz="2400" b="1"/>
              <a:t>Oral leukoplakia</a:t>
            </a:r>
            <a:r>
              <a:rPr lang="en-US" altLang="en-US" sz="2400"/>
              <a:t> – white plaques or patches</a:t>
            </a:r>
          </a:p>
          <a:p>
            <a:pPr eaLnBrk="1" hangingPunct="1"/>
            <a:endParaRPr lang="en-US" altLang="en-US" sz="1000"/>
          </a:p>
          <a:p>
            <a:pPr eaLnBrk="1" hangingPunct="1"/>
            <a:r>
              <a:rPr lang="en-US" altLang="en-US" sz="2400" b="1"/>
              <a:t>Periodontal disease</a:t>
            </a:r>
            <a:r>
              <a:rPr lang="en-US" altLang="en-US" sz="2400"/>
              <a:t> – inflammation and degeneration of the gums, teeth and surrounding bone</a:t>
            </a:r>
          </a:p>
        </p:txBody>
      </p:sp>
    </p:spTree>
    <p:extLst>
      <p:ext uri="{BB962C8B-B14F-4D97-AF65-F5344CB8AC3E}">
        <p14:creationId xmlns:p14="http://schemas.microsoft.com/office/powerpoint/2010/main" val="30862603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1027"/>
          <p:cNvSpPr>
            <a:spLocks noGrp="1" noChangeArrowheads="1"/>
          </p:cNvSpPr>
          <p:nvPr>
            <p:ph type="title"/>
          </p:nvPr>
        </p:nvSpPr>
        <p:spPr/>
        <p:txBody>
          <a:bodyPr/>
          <a:lstStyle/>
          <a:p>
            <a:pPr eaLnBrk="1" hangingPunct="1"/>
            <a:r>
              <a:rPr lang="en-US" altLang="en-US" dirty="0"/>
              <a:t>Pathologic Conditions</a:t>
            </a:r>
            <a:br>
              <a:rPr lang="en-US" altLang="en-US" dirty="0"/>
            </a:br>
            <a:r>
              <a:rPr lang="en-US" altLang="en-US" dirty="0"/>
              <a:t>Upper Gastrointestinal Tract</a:t>
            </a:r>
            <a:br>
              <a:rPr lang="en-US" altLang="en-US" dirty="0"/>
            </a:br>
            <a:r>
              <a:rPr lang="en-US" altLang="en-US" sz="1800" dirty="0"/>
              <a:t> (slide 1 of 5)</a:t>
            </a:r>
          </a:p>
        </p:txBody>
      </p:sp>
      <p:sp>
        <p:nvSpPr>
          <p:cNvPr id="211972" name="Rectangle 1028"/>
          <p:cNvSpPr>
            <a:spLocks noGrp="1" noChangeArrowheads="1"/>
          </p:cNvSpPr>
          <p:nvPr>
            <p:ph sz="half" idx="1"/>
          </p:nvPr>
        </p:nvSpPr>
        <p:spPr>
          <a:xfrm>
            <a:off x="457200" y="1600201"/>
            <a:ext cx="8229600" cy="1633230"/>
          </a:xfrm>
        </p:spPr>
        <p:txBody>
          <a:bodyPr rtlCol="0">
            <a:normAutofit/>
          </a:bodyPr>
          <a:lstStyle/>
          <a:p>
            <a:pPr eaLnBrk="1" fontAlgn="auto" hangingPunct="1">
              <a:lnSpc>
                <a:spcPct val="80000"/>
              </a:lnSpc>
              <a:spcAft>
                <a:spcPts val="0"/>
              </a:spcAft>
              <a:buFont typeface="Wingdings 2" pitchFamily="18" charset="2"/>
              <a:buNone/>
              <a:defRPr/>
            </a:pPr>
            <a:endParaRPr lang="en-US" sz="2000" dirty="0"/>
          </a:p>
          <a:p>
            <a:pPr eaLnBrk="1" fontAlgn="auto" hangingPunct="1">
              <a:lnSpc>
                <a:spcPct val="80000"/>
              </a:lnSpc>
              <a:spcAft>
                <a:spcPts val="0"/>
              </a:spcAft>
              <a:defRPr/>
            </a:pPr>
            <a:r>
              <a:rPr lang="en-US" b="1" dirty="0"/>
              <a:t>Achalasia </a:t>
            </a:r>
            <a:r>
              <a:rPr lang="en-US" dirty="0"/>
              <a:t>–</a:t>
            </a:r>
            <a:r>
              <a:rPr lang="en-US" b="1" dirty="0"/>
              <a:t> </a:t>
            </a:r>
            <a:r>
              <a:rPr lang="en-US" dirty="0"/>
              <a:t>failure of the lower esophagus sphincter (LES) muscle to relax</a:t>
            </a:r>
            <a:endParaRPr lang="en-US" sz="2000" b="1" dirty="0"/>
          </a:p>
        </p:txBody>
      </p:sp>
      <p:pic>
        <p:nvPicPr>
          <p:cNvPr id="6" name="Picture 1032" descr="Achalasia results from the loss of peristalsis so that food cannot pass easily through the esophagus. Both failure of the lower esophageal sphincter (LES) to relax and the loss of peristalsis cause widening of the esophagus above the constriction. Mechanical stretching of the LES helps relieve symptoms."/>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676400" y="2819400"/>
            <a:ext cx="5692280" cy="37094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752193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6"/>
          <p:cNvSpPr>
            <a:spLocks noGrp="1" noChangeArrowheads="1"/>
          </p:cNvSpPr>
          <p:nvPr>
            <p:ph type="title"/>
          </p:nvPr>
        </p:nvSpPr>
        <p:spPr>
          <a:xfrm>
            <a:off x="457200" y="381000"/>
            <a:ext cx="8153400" cy="1219200"/>
          </a:xfrm>
        </p:spPr>
        <p:txBody>
          <a:bodyPr/>
          <a:lstStyle/>
          <a:p>
            <a:pPr eaLnBrk="1" hangingPunct="1"/>
            <a:r>
              <a:rPr lang="en-US" altLang="en-US" dirty="0"/>
              <a:t>Pathologic Conditions</a:t>
            </a:r>
            <a:br>
              <a:rPr lang="en-US" altLang="en-US" dirty="0"/>
            </a:br>
            <a:r>
              <a:rPr lang="en-US" altLang="en-US" dirty="0"/>
              <a:t>Upper Gastrointestinal Tract</a:t>
            </a:r>
            <a:br>
              <a:rPr lang="en-US" altLang="en-US" dirty="0"/>
            </a:br>
            <a:r>
              <a:rPr lang="en-US" altLang="en-US" sz="1800" dirty="0"/>
              <a:t> (slide 2 of 5)</a:t>
            </a:r>
          </a:p>
        </p:txBody>
      </p:sp>
      <p:sp>
        <p:nvSpPr>
          <p:cNvPr id="72707" name="Rectangle 7"/>
          <p:cNvSpPr>
            <a:spLocks noGrp="1" noChangeArrowheads="1"/>
          </p:cNvSpPr>
          <p:nvPr>
            <p:ph idx="1"/>
          </p:nvPr>
        </p:nvSpPr>
        <p:spPr>
          <a:xfrm>
            <a:off x="457200" y="2133600"/>
            <a:ext cx="8305800" cy="3992563"/>
          </a:xfrm>
        </p:spPr>
        <p:txBody>
          <a:bodyPr/>
          <a:lstStyle/>
          <a:p>
            <a:pPr eaLnBrk="1" hangingPunct="1"/>
            <a:r>
              <a:rPr lang="en-US" altLang="en-US" b="1" dirty="0"/>
              <a:t>Esophageal cancer</a:t>
            </a:r>
            <a:r>
              <a:rPr lang="en-US" altLang="en-US" dirty="0"/>
              <a:t> – malignant tumor of the esophagus</a:t>
            </a:r>
            <a:endParaRPr lang="en-US" altLang="en-US" b="1" dirty="0"/>
          </a:p>
          <a:p>
            <a:pPr eaLnBrk="1" hangingPunct="1">
              <a:buFont typeface="Wingdings 2" panose="05020102010507070707" pitchFamily="18" charset="2"/>
              <a:buNone/>
            </a:pPr>
            <a:r>
              <a:rPr lang="en-US" altLang="en-US" dirty="0"/>
              <a:t>    </a:t>
            </a:r>
          </a:p>
          <a:p>
            <a:pPr eaLnBrk="1" hangingPunct="1"/>
            <a:r>
              <a:rPr lang="en-US" altLang="en-US" b="1" dirty="0"/>
              <a:t>Gastric carcinoma</a:t>
            </a:r>
            <a:r>
              <a:rPr lang="en-US" altLang="en-US" dirty="0"/>
              <a:t> – malignant tumor of the stomach</a:t>
            </a:r>
          </a:p>
        </p:txBody>
      </p:sp>
    </p:spTree>
    <p:extLst>
      <p:ext uri="{BB962C8B-B14F-4D97-AF65-F5344CB8AC3E}">
        <p14:creationId xmlns:p14="http://schemas.microsoft.com/office/powerpoint/2010/main" val="30734425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r>
              <a:rPr lang="en-US" altLang="en-US" dirty="0"/>
              <a:t>Pathologic Conditions</a:t>
            </a:r>
            <a:br>
              <a:rPr lang="en-US" altLang="en-US" dirty="0"/>
            </a:br>
            <a:r>
              <a:rPr lang="en-US" altLang="en-US" dirty="0"/>
              <a:t>Upper Gastrointestinal Tract</a:t>
            </a:r>
            <a:br>
              <a:rPr lang="en-US" altLang="en-US" dirty="0"/>
            </a:br>
            <a:r>
              <a:rPr lang="en-US" altLang="en-US" sz="1800" dirty="0"/>
              <a:t> (slide 3 of 5)</a:t>
            </a:r>
            <a:endParaRPr lang="en-US" altLang="en-US" dirty="0"/>
          </a:p>
        </p:txBody>
      </p:sp>
      <p:sp>
        <p:nvSpPr>
          <p:cNvPr id="3" name="Content Placeholder 2"/>
          <p:cNvSpPr>
            <a:spLocks noGrp="1"/>
          </p:cNvSpPr>
          <p:nvPr>
            <p:ph sz="half" idx="1"/>
          </p:nvPr>
        </p:nvSpPr>
        <p:spPr>
          <a:xfrm>
            <a:off x="685800" y="2092667"/>
            <a:ext cx="4038600" cy="1981200"/>
          </a:xfrm>
        </p:spPr>
        <p:txBody>
          <a:bodyPr/>
          <a:lstStyle/>
          <a:p>
            <a:r>
              <a:rPr lang="en-US" altLang="en-US" b="1" dirty="0"/>
              <a:t>Esophageal varices</a:t>
            </a:r>
            <a:r>
              <a:rPr lang="en-US" altLang="en-US" dirty="0"/>
              <a:t> – swollen, varicose veins at the lower end of the esophagus  </a:t>
            </a:r>
          </a:p>
          <a:p>
            <a:endParaRPr lang="es-419" dirty="0"/>
          </a:p>
        </p:txBody>
      </p:sp>
      <p:pic>
        <p:nvPicPr>
          <p:cNvPr id="7" name="Picture 5" descr="Esophageal varices from liver disease (such as cirrhosis and chronic hepatitis) causes increased pressure in veins near and around the liver. This leads to enlarged, tortuous esophageal varices (dilated veins) with danger of hemorrhage."/>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572000" y="2016855"/>
            <a:ext cx="4038600" cy="41140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5081174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0" y="274638"/>
            <a:ext cx="9144000" cy="1143000"/>
          </a:xfrm>
        </p:spPr>
        <p:txBody>
          <a:bodyPr/>
          <a:lstStyle/>
          <a:p>
            <a:pPr eaLnBrk="1" hangingPunct="1"/>
            <a:r>
              <a:rPr lang="en-US" altLang="en-US" dirty="0"/>
              <a:t>Pathologic Conditions</a:t>
            </a:r>
            <a:br>
              <a:rPr lang="en-US" altLang="en-US" dirty="0"/>
            </a:br>
            <a:r>
              <a:rPr lang="en-US" altLang="en-US" dirty="0"/>
              <a:t>Upper Gastrointestinal Tract</a:t>
            </a:r>
            <a:br>
              <a:rPr lang="en-US" altLang="en-US" dirty="0"/>
            </a:br>
            <a:r>
              <a:rPr lang="en-US" altLang="en-US" sz="1800" dirty="0"/>
              <a:t> (slide 4 of 5)</a:t>
            </a:r>
            <a:endParaRPr lang="en-US" altLang="en-US" dirty="0"/>
          </a:p>
        </p:txBody>
      </p:sp>
      <p:sp>
        <p:nvSpPr>
          <p:cNvPr id="74755" name="Rectangle 3"/>
          <p:cNvSpPr>
            <a:spLocks noGrp="1" noChangeArrowheads="1"/>
          </p:cNvSpPr>
          <p:nvPr>
            <p:ph idx="1"/>
          </p:nvPr>
        </p:nvSpPr>
        <p:spPr>
          <a:xfrm>
            <a:off x="685800" y="1828800"/>
            <a:ext cx="6477000" cy="4114800"/>
          </a:xfrm>
        </p:spPr>
        <p:txBody>
          <a:bodyPr/>
          <a:lstStyle/>
          <a:p>
            <a:pPr eaLnBrk="1" hangingPunct="1"/>
            <a:r>
              <a:rPr lang="en-US" altLang="en-US" b="1"/>
              <a:t>Gastroesophageal reflux disease (GERD)</a:t>
            </a:r>
            <a:r>
              <a:rPr lang="en-US" altLang="en-US"/>
              <a:t> – solids and fluids return to the mouth from the stomach</a:t>
            </a:r>
          </a:p>
          <a:p>
            <a:pPr eaLnBrk="1" hangingPunct="1"/>
            <a:endParaRPr lang="en-US" altLang="en-US" sz="2000"/>
          </a:p>
          <a:p>
            <a:pPr eaLnBrk="1" hangingPunct="1"/>
            <a:r>
              <a:rPr lang="en-US" altLang="en-US" b="1"/>
              <a:t>Peptic ulcer</a:t>
            </a:r>
            <a:r>
              <a:rPr lang="en-US" altLang="en-US"/>
              <a:t> – open sore or lesion of the mucous membrane of the stomach or duodenum</a:t>
            </a:r>
          </a:p>
        </p:txBody>
      </p:sp>
    </p:spTree>
    <p:extLst>
      <p:ext uri="{BB962C8B-B14F-4D97-AF65-F5344CB8AC3E}">
        <p14:creationId xmlns:p14="http://schemas.microsoft.com/office/powerpoint/2010/main" val="32772930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1026"/>
          <p:cNvSpPr>
            <a:spLocks noGrp="1" noChangeArrowheads="1"/>
          </p:cNvSpPr>
          <p:nvPr>
            <p:ph type="title"/>
          </p:nvPr>
        </p:nvSpPr>
        <p:spPr/>
        <p:txBody>
          <a:bodyPr/>
          <a:lstStyle/>
          <a:p>
            <a:pPr eaLnBrk="1" hangingPunct="1"/>
            <a:r>
              <a:rPr lang="en-US" altLang="en-US" dirty="0"/>
              <a:t>Pathologic Conditions</a:t>
            </a:r>
            <a:br>
              <a:rPr lang="en-US" altLang="en-US" dirty="0"/>
            </a:br>
            <a:r>
              <a:rPr lang="en-US" altLang="en-US" dirty="0"/>
              <a:t>Upper Gastrointestinal Tract</a:t>
            </a:r>
            <a:br>
              <a:rPr lang="en-US" altLang="en-US" dirty="0"/>
            </a:br>
            <a:r>
              <a:rPr lang="en-US" altLang="en-US" sz="1800" dirty="0"/>
              <a:t> (slide 5 of 5)</a:t>
            </a:r>
            <a:endParaRPr lang="en-US" altLang="en-US" dirty="0"/>
          </a:p>
        </p:txBody>
      </p:sp>
      <p:sp>
        <p:nvSpPr>
          <p:cNvPr id="75779" name="Rectangle 1027"/>
          <p:cNvSpPr>
            <a:spLocks noGrp="1" noChangeArrowheads="1"/>
          </p:cNvSpPr>
          <p:nvPr>
            <p:ph sz="half" idx="1"/>
          </p:nvPr>
        </p:nvSpPr>
        <p:spPr>
          <a:xfrm>
            <a:off x="677333" y="2057400"/>
            <a:ext cx="7162800" cy="1143000"/>
          </a:xfrm>
        </p:spPr>
        <p:txBody>
          <a:bodyPr/>
          <a:lstStyle/>
          <a:p>
            <a:pPr eaLnBrk="1" hangingPunct="1"/>
            <a:r>
              <a:rPr lang="en-US" altLang="en-US" b="1" dirty="0"/>
              <a:t>Hernia </a:t>
            </a:r>
            <a:r>
              <a:rPr lang="en-US" altLang="en-US" dirty="0"/>
              <a:t>– protrusion of an organ or part through the muscle normally containing it</a:t>
            </a:r>
            <a:r>
              <a:rPr lang="en-US" altLang="en-US" b="1" dirty="0"/>
              <a:t>    </a:t>
            </a:r>
          </a:p>
        </p:txBody>
      </p:sp>
      <p:pic>
        <p:nvPicPr>
          <p:cNvPr id="6" name="Picture 1029" descr="A hiatal hernia occurs when the upper part of the stomach protrudes upward through the diaphragm. Direct inguinal hernia occurs through the abdominal wall in an area of muscular weakness. Indirect inguinal hernia occurs through the inguinal canal (passageway to the lower abdomen), where the herniated tissue or bowel descends into the scrotal sac."/>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185333" y="3234267"/>
            <a:ext cx="6620933" cy="28359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404043689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1026"/>
          <p:cNvSpPr>
            <a:spLocks noGrp="1" noChangeArrowheads="1"/>
          </p:cNvSpPr>
          <p:nvPr>
            <p:ph type="title"/>
          </p:nvPr>
        </p:nvSpPr>
        <p:spPr>
          <a:xfrm>
            <a:off x="381000" y="533400"/>
            <a:ext cx="8458200" cy="1066800"/>
          </a:xfrm>
        </p:spPr>
        <p:txBody>
          <a:bodyPr rtlCol="0">
            <a:normAutofit fontScale="90000"/>
          </a:bodyPr>
          <a:lstStyle/>
          <a:p>
            <a:pPr eaLnBrk="1" fontAlgn="auto" hangingPunct="1">
              <a:spcAft>
                <a:spcPts val="0"/>
              </a:spcAft>
              <a:defRPr/>
            </a:pPr>
            <a:r>
              <a:rPr lang="en-US" sz="4900" dirty="0"/>
              <a:t>Pathologic Conditions</a:t>
            </a:r>
            <a:br>
              <a:rPr lang="en-US" sz="4900" dirty="0"/>
            </a:br>
            <a:r>
              <a:rPr lang="en-US" sz="4900" dirty="0"/>
              <a:t>Lower Gastrointestinal Tract</a:t>
            </a:r>
            <a:br>
              <a:rPr lang="en-US" sz="4900" dirty="0"/>
            </a:br>
            <a:r>
              <a:rPr lang="en-US" sz="2800" dirty="0"/>
              <a:t>     </a:t>
            </a:r>
            <a:r>
              <a:rPr lang="en-US" sz="3100" dirty="0"/>
              <a:t>Small and Large Intestines (slide 1 of 5)</a:t>
            </a:r>
          </a:p>
        </p:txBody>
      </p:sp>
      <p:sp>
        <p:nvSpPr>
          <p:cNvPr id="209923" name="Rectangle 1027"/>
          <p:cNvSpPr>
            <a:spLocks noGrp="1" noChangeArrowheads="1"/>
          </p:cNvSpPr>
          <p:nvPr>
            <p:ph idx="1"/>
          </p:nvPr>
        </p:nvSpPr>
        <p:spPr>
          <a:xfrm>
            <a:off x="685800" y="2438400"/>
            <a:ext cx="6629400" cy="3048000"/>
          </a:xfrm>
        </p:spPr>
        <p:txBody>
          <a:bodyPr rtlCol="0">
            <a:normAutofit lnSpcReduction="10000"/>
          </a:bodyPr>
          <a:lstStyle/>
          <a:p>
            <a:pPr eaLnBrk="1" fontAlgn="auto" hangingPunct="1">
              <a:spcAft>
                <a:spcPts val="0"/>
              </a:spcAft>
              <a:defRPr/>
            </a:pPr>
            <a:r>
              <a:rPr lang="en-US" b="1" dirty="0"/>
              <a:t>Anal fistula </a:t>
            </a:r>
            <a:r>
              <a:rPr lang="en-US" dirty="0"/>
              <a:t>– abnormal </a:t>
            </a:r>
            <a:r>
              <a:rPr lang="en-US" dirty="0" err="1"/>
              <a:t>tubelike</a:t>
            </a:r>
            <a:r>
              <a:rPr lang="en-US" dirty="0"/>
              <a:t> passageway near the anus</a:t>
            </a:r>
            <a:r>
              <a:rPr lang="en-US" b="1" dirty="0"/>
              <a:t>    </a:t>
            </a:r>
          </a:p>
          <a:p>
            <a:pPr eaLnBrk="1" fontAlgn="auto" hangingPunct="1">
              <a:spcAft>
                <a:spcPts val="0"/>
              </a:spcAft>
              <a:defRPr/>
            </a:pPr>
            <a:endParaRPr lang="en-US" b="1" dirty="0"/>
          </a:p>
          <a:p>
            <a:pPr eaLnBrk="1" fontAlgn="auto" hangingPunct="1">
              <a:spcAft>
                <a:spcPts val="0"/>
              </a:spcAft>
              <a:defRPr/>
            </a:pPr>
            <a:r>
              <a:rPr lang="en-US" b="1" dirty="0"/>
              <a:t>Colonic polyposis </a:t>
            </a:r>
            <a:r>
              <a:rPr lang="en-US" dirty="0"/>
              <a:t>– polyps protrude from the mucous membrane of the colon</a:t>
            </a:r>
          </a:p>
        </p:txBody>
      </p:sp>
    </p:spTree>
    <p:extLst>
      <p:ext uri="{BB962C8B-B14F-4D97-AF65-F5344CB8AC3E}">
        <p14:creationId xmlns:p14="http://schemas.microsoft.com/office/powerpoint/2010/main" val="30505785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en-US" altLang="en-US" sz="4000" dirty="0"/>
              <a:t>Pathologic Conditions</a:t>
            </a:r>
            <a:br>
              <a:rPr lang="en-US" altLang="en-US" sz="4000" dirty="0"/>
            </a:br>
            <a:r>
              <a:rPr lang="en-US" altLang="en-US" sz="4000" dirty="0"/>
              <a:t>Lower Gastrointestinal Tract</a:t>
            </a:r>
            <a:br>
              <a:rPr lang="en-US" altLang="en-US" sz="4000" dirty="0"/>
            </a:br>
            <a:r>
              <a:rPr lang="en-US" altLang="en-US" sz="2800" dirty="0"/>
              <a:t>Small and Large Intestines (slide 2 of 5</a:t>
            </a:r>
            <a:r>
              <a:rPr lang="en-US" altLang="ja-JP" sz="2800" dirty="0"/>
              <a:t>)</a:t>
            </a:r>
            <a:endParaRPr lang="en-US" altLang="en-US" sz="2800" dirty="0"/>
          </a:p>
        </p:txBody>
      </p:sp>
      <p:sp>
        <p:nvSpPr>
          <p:cNvPr id="77827" name="Rectangle 3"/>
          <p:cNvSpPr>
            <a:spLocks noGrp="1" noChangeArrowheads="1"/>
          </p:cNvSpPr>
          <p:nvPr>
            <p:ph sz="half" idx="1"/>
          </p:nvPr>
        </p:nvSpPr>
        <p:spPr>
          <a:xfrm>
            <a:off x="457200" y="2245317"/>
            <a:ext cx="8229600" cy="914400"/>
          </a:xfrm>
        </p:spPr>
        <p:txBody>
          <a:bodyPr/>
          <a:lstStyle/>
          <a:p>
            <a:pPr eaLnBrk="1" hangingPunct="1"/>
            <a:r>
              <a:rPr lang="en-US" altLang="en-US" b="1" dirty="0"/>
              <a:t>Colorectal cancer </a:t>
            </a:r>
            <a:r>
              <a:rPr lang="en-US" altLang="en-US" dirty="0"/>
              <a:t>– </a:t>
            </a:r>
            <a:r>
              <a:rPr lang="en-US" altLang="en-US" dirty="0" err="1"/>
              <a:t>adenocarcinoma</a:t>
            </a:r>
            <a:r>
              <a:rPr lang="en-US" altLang="en-US" dirty="0"/>
              <a:t> of the colon or rectum or both   </a:t>
            </a:r>
          </a:p>
          <a:p>
            <a:pPr eaLnBrk="1" hangingPunct="1">
              <a:buFont typeface="Wingdings 2" panose="05020102010507070707" pitchFamily="18" charset="2"/>
              <a:buNone/>
            </a:pPr>
            <a:endParaRPr lang="en-US" altLang="en-US" b="1" dirty="0"/>
          </a:p>
        </p:txBody>
      </p:sp>
      <p:pic>
        <p:nvPicPr>
          <p:cNvPr id="6" name="Picture 4" descr="Adenocarcinoma of the colon can arise from polyps in the colon or rectal region. This tumor has “heaped up” edges and an ulcerated central portion."/>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2484967" y="3193584"/>
            <a:ext cx="4457700" cy="2949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81605529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Pathologic Conditions</a:t>
            </a:r>
            <a:br>
              <a:rPr lang="en-US" dirty="0"/>
            </a:br>
            <a:r>
              <a:rPr lang="en-US" dirty="0"/>
              <a:t>Lower Gastrointestinal Tract</a:t>
            </a:r>
            <a:br>
              <a:rPr lang="en-US" dirty="0"/>
            </a:br>
            <a:r>
              <a:rPr lang="en-US" sz="2400" dirty="0"/>
              <a:t>Small and Large Intestines (slide 3 of 5</a:t>
            </a:r>
            <a:r>
              <a:rPr lang="en-US" altLang="ja-JP" sz="2400" dirty="0"/>
              <a:t>)</a:t>
            </a:r>
            <a:endParaRPr lang="es-419" dirty="0"/>
          </a:p>
        </p:txBody>
      </p:sp>
      <p:sp>
        <p:nvSpPr>
          <p:cNvPr id="4" name="Content Placeholder 3"/>
          <p:cNvSpPr>
            <a:spLocks noGrp="1"/>
          </p:cNvSpPr>
          <p:nvPr>
            <p:ph sz="half" idx="2"/>
          </p:nvPr>
        </p:nvSpPr>
        <p:spPr>
          <a:xfrm>
            <a:off x="457200" y="2174875"/>
            <a:ext cx="4040188" cy="3951288"/>
          </a:xfrm>
        </p:spPr>
        <p:txBody>
          <a:bodyPr/>
          <a:lstStyle/>
          <a:p>
            <a:pPr eaLnBrk="1" hangingPunct="1"/>
            <a:r>
              <a:rPr lang="en-US" altLang="en-US" b="1" dirty="0"/>
              <a:t>Crohn disease </a:t>
            </a:r>
            <a:r>
              <a:rPr lang="en-US" altLang="en-US" dirty="0"/>
              <a:t>– chronic inflammation of the intestinal tract</a:t>
            </a:r>
          </a:p>
          <a:p>
            <a:pPr eaLnBrk="1" hangingPunct="1"/>
            <a:endParaRPr lang="en-US" altLang="en-US" b="1" dirty="0"/>
          </a:p>
          <a:p>
            <a:pPr eaLnBrk="1" hangingPunct="1"/>
            <a:r>
              <a:rPr lang="en-US" altLang="en-US" b="1" dirty="0"/>
              <a:t>Diverticulosis </a:t>
            </a:r>
            <a:r>
              <a:rPr lang="en-US" altLang="en-US" dirty="0"/>
              <a:t>– abnormal side pockets (outpouchings) in the intestinal wall</a:t>
            </a:r>
          </a:p>
          <a:p>
            <a:endParaRPr lang="es-419" dirty="0"/>
          </a:p>
        </p:txBody>
      </p:sp>
      <p:pic>
        <p:nvPicPr>
          <p:cNvPr id="8" name="Picture 4" descr="Diverticula form when the mucous membrane lining of the colon bulges through the weakened muscular wall. "/>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5105400" y="3729326"/>
            <a:ext cx="2536336" cy="23968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28440666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7" name="Rectangle 5"/>
          <p:cNvSpPr>
            <a:spLocks noGrp="1" noChangeArrowheads="1"/>
          </p:cNvSpPr>
          <p:nvPr>
            <p:ph type="title"/>
          </p:nvPr>
        </p:nvSpPr>
        <p:spPr>
          <a:xfrm>
            <a:off x="685800" y="228600"/>
            <a:ext cx="7772400" cy="1371600"/>
          </a:xfrm>
        </p:spPr>
        <p:txBody>
          <a:bodyPr rtlCol="0">
            <a:normAutofit fontScale="90000"/>
          </a:bodyPr>
          <a:lstStyle/>
          <a:p>
            <a:pPr eaLnBrk="1" fontAlgn="auto" hangingPunct="1">
              <a:spcAft>
                <a:spcPts val="0"/>
              </a:spcAft>
              <a:defRPr/>
            </a:pPr>
            <a:r>
              <a:rPr lang="en-US" sz="4900" dirty="0"/>
              <a:t>Pathologic Conditions</a:t>
            </a:r>
            <a:br>
              <a:rPr lang="en-US" sz="4900" dirty="0"/>
            </a:br>
            <a:r>
              <a:rPr lang="en-US" sz="4900" dirty="0"/>
              <a:t>Lower Gastrointestinal Tract</a:t>
            </a:r>
            <a:br>
              <a:rPr lang="en-US" sz="4900" dirty="0"/>
            </a:br>
            <a:r>
              <a:rPr lang="en-US" sz="3100" dirty="0"/>
              <a:t>Small and Large Intestines (slide 4 of 5</a:t>
            </a:r>
            <a:r>
              <a:rPr lang="en-US" altLang="ja-JP" sz="3100" dirty="0"/>
              <a:t>)</a:t>
            </a:r>
            <a:endParaRPr lang="en-US" sz="3100" dirty="0"/>
          </a:p>
        </p:txBody>
      </p:sp>
      <p:sp>
        <p:nvSpPr>
          <p:cNvPr id="218115" name="Rectangle 3"/>
          <p:cNvSpPr>
            <a:spLocks noGrp="1" noChangeArrowheads="1"/>
          </p:cNvSpPr>
          <p:nvPr>
            <p:ph idx="1"/>
          </p:nvPr>
        </p:nvSpPr>
        <p:spPr>
          <a:xfrm>
            <a:off x="685800" y="1981200"/>
            <a:ext cx="7315200" cy="3886200"/>
          </a:xfrm>
        </p:spPr>
        <p:txBody>
          <a:bodyPr rtlCol="0">
            <a:normAutofit fontScale="92500" lnSpcReduction="10000"/>
          </a:bodyPr>
          <a:lstStyle/>
          <a:p>
            <a:pPr eaLnBrk="1" fontAlgn="auto" hangingPunct="1">
              <a:spcAft>
                <a:spcPts val="0"/>
              </a:spcAft>
              <a:defRPr/>
            </a:pPr>
            <a:r>
              <a:rPr lang="en-US" b="1" dirty="0"/>
              <a:t>Dysentery </a:t>
            </a:r>
            <a:r>
              <a:rPr lang="en-US" dirty="0"/>
              <a:t>– painful, inflamed intestines</a:t>
            </a:r>
          </a:p>
          <a:p>
            <a:pPr eaLnBrk="1" fontAlgn="auto" hangingPunct="1">
              <a:spcAft>
                <a:spcPts val="0"/>
              </a:spcAft>
              <a:defRPr/>
            </a:pPr>
            <a:r>
              <a:rPr lang="en-US" b="1" dirty="0"/>
              <a:t>Hemorrhoids </a:t>
            </a:r>
            <a:r>
              <a:rPr lang="en-US" dirty="0"/>
              <a:t>– swollen, twisted, varicose veins in the rectal region</a:t>
            </a:r>
            <a:endParaRPr lang="en-US" b="1" dirty="0"/>
          </a:p>
          <a:p>
            <a:pPr eaLnBrk="1" fontAlgn="auto" hangingPunct="1">
              <a:spcAft>
                <a:spcPts val="0"/>
              </a:spcAft>
              <a:defRPr/>
            </a:pPr>
            <a:r>
              <a:rPr lang="en-US" b="1" dirty="0"/>
              <a:t>Ileus </a:t>
            </a:r>
            <a:r>
              <a:rPr lang="en-US" dirty="0"/>
              <a:t>– failure of peristalsis with resulting obstruction of the intestines</a:t>
            </a:r>
          </a:p>
          <a:p>
            <a:pPr eaLnBrk="1" fontAlgn="auto" hangingPunct="1">
              <a:spcAft>
                <a:spcPts val="0"/>
              </a:spcAft>
              <a:defRPr/>
            </a:pPr>
            <a:r>
              <a:rPr lang="en-US" b="1" dirty="0"/>
              <a:t>Inflammatory bowel disease (IBD) </a:t>
            </a:r>
            <a:r>
              <a:rPr lang="en-US" dirty="0"/>
              <a:t>–</a:t>
            </a:r>
            <a:r>
              <a:rPr lang="en-US" b="1" dirty="0"/>
              <a:t> </a:t>
            </a:r>
            <a:r>
              <a:rPr lang="en-US" dirty="0"/>
              <a:t>inflammation of the colon and small intestine</a:t>
            </a:r>
            <a:endParaRPr lang="en-US" b="1" dirty="0"/>
          </a:p>
          <a:p>
            <a:pPr eaLnBrk="1" fontAlgn="auto" hangingPunct="1">
              <a:spcAft>
                <a:spcPts val="0"/>
              </a:spcAft>
              <a:buFont typeface="Wingdings 2" pitchFamily="18" charset="2"/>
              <a:buNone/>
              <a:defRPr/>
            </a:pPr>
            <a:endParaRPr lang="en-US" b="1" dirty="0"/>
          </a:p>
        </p:txBody>
      </p:sp>
    </p:spTree>
    <p:extLst>
      <p:ext uri="{BB962C8B-B14F-4D97-AF65-F5344CB8AC3E}">
        <p14:creationId xmlns:p14="http://schemas.microsoft.com/office/powerpoint/2010/main" val="13762799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a:xfrm>
            <a:off x="685800" y="304800"/>
            <a:ext cx="7772400" cy="1447800"/>
          </a:xfrm>
        </p:spPr>
        <p:txBody>
          <a:bodyPr rtlCol="0">
            <a:normAutofit fontScale="90000"/>
          </a:bodyPr>
          <a:lstStyle/>
          <a:p>
            <a:pPr eaLnBrk="1" fontAlgn="auto" hangingPunct="1">
              <a:spcAft>
                <a:spcPts val="0"/>
              </a:spcAft>
              <a:defRPr/>
            </a:pPr>
            <a:r>
              <a:rPr lang="en-US" sz="4900" dirty="0"/>
              <a:t>Pathologic Conditions</a:t>
            </a:r>
            <a:br>
              <a:rPr lang="en-US" sz="4900" dirty="0"/>
            </a:br>
            <a:r>
              <a:rPr lang="en-US" sz="4900" dirty="0"/>
              <a:t>Lower Gastrointestinal Tract</a:t>
            </a:r>
            <a:br>
              <a:rPr lang="en-US" sz="4900" dirty="0"/>
            </a:br>
            <a:r>
              <a:rPr lang="en-US" sz="3100" dirty="0"/>
              <a:t>Small and Large Intestines (slide 5 of 5</a:t>
            </a:r>
            <a:r>
              <a:rPr lang="en-US" altLang="ja-JP" sz="3100" dirty="0"/>
              <a:t>)</a:t>
            </a:r>
            <a:endParaRPr lang="en-US" sz="3100" dirty="0"/>
          </a:p>
        </p:txBody>
      </p:sp>
      <p:sp>
        <p:nvSpPr>
          <p:cNvPr id="220163" name="Rectangle 3"/>
          <p:cNvSpPr>
            <a:spLocks noGrp="1" noChangeArrowheads="1"/>
          </p:cNvSpPr>
          <p:nvPr>
            <p:ph idx="1"/>
          </p:nvPr>
        </p:nvSpPr>
        <p:spPr>
          <a:xfrm>
            <a:off x="685800" y="2133600"/>
            <a:ext cx="7391400" cy="4191000"/>
          </a:xfrm>
        </p:spPr>
        <p:txBody>
          <a:bodyPr rtlCol="0">
            <a:normAutofit fontScale="92500"/>
          </a:bodyPr>
          <a:lstStyle/>
          <a:p>
            <a:pPr eaLnBrk="1" fontAlgn="auto" hangingPunct="1">
              <a:spcAft>
                <a:spcPts val="0"/>
              </a:spcAft>
              <a:defRPr/>
            </a:pPr>
            <a:r>
              <a:rPr lang="en-US" b="1" dirty="0"/>
              <a:t>Intussusception </a:t>
            </a:r>
            <a:r>
              <a:rPr lang="en-US" dirty="0"/>
              <a:t>– telescoping of the intestines</a:t>
            </a:r>
          </a:p>
          <a:p>
            <a:pPr eaLnBrk="1" fontAlgn="auto" hangingPunct="1">
              <a:spcAft>
                <a:spcPts val="0"/>
              </a:spcAft>
              <a:defRPr/>
            </a:pPr>
            <a:r>
              <a:rPr lang="en-US" b="1" dirty="0"/>
              <a:t>IBS </a:t>
            </a:r>
            <a:r>
              <a:rPr lang="en-US" dirty="0"/>
              <a:t>– irritable bowel syndrome – group of gastrointestinal symptoms associated with stress and tension</a:t>
            </a:r>
            <a:endParaRPr lang="en-US" b="1" dirty="0"/>
          </a:p>
          <a:p>
            <a:pPr eaLnBrk="1" fontAlgn="auto" hangingPunct="1">
              <a:spcAft>
                <a:spcPts val="0"/>
              </a:spcAft>
              <a:defRPr/>
            </a:pPr>
            <a:r>
              <a:rPr lang="en-US" b="1" dirty="0"/>
              <a:t>Ulcerative colitis </a:t>
            </a:r>
            <a:r>
              <a:rPr lang="en-US" dirty="0"/>
              <a:t>– chronic inflammation of the colon with the presence of ulcers</a:t>
            </a:r>
            <a:endParaRPr lang="en-US" b="1" dirty="0"/>
          </a:p>
          <a:p>
            <a:pPr eaLnBrk="1" fontAlgn="auto" hangingPunct="1">
              <a:spcAft>
                <a:spcPts val="0"/>
              </a:spcAft>
              <a:defRPr/>
            </a:pPr>
            <a:r>
              <a:rPr lang="en-US" b="1" dirty="0"/>
              <a:t>Volvulus </a:t>
            </a:r>
            <a:r>
              <a:rPr lang="en-US" dirty="0"/>
              <a:t>– twisting of the intestines on itself</a:t>
            </a:r>
          </a:p>
        </p:txBody>
      </p:sp>
    </p:spTree>
    <p:extLst>
      <p:ext uri="{BB962C8B-B14F-4D97-AF65-F5344CB8AC3E}">
        <p14:creationId xmlns:p14="http://schemas.microsoft.com/office/powerpoint/2010/main" val="119587936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6"/>
          <p:cNvSpPr>
            <a:spLocks noGrp="1" noChangeArrowheads="1"/>
          </p:cNvSpPr>
          <p:nvPr>
            <p:ph type="title"/>
          </p:nvPr>
        </p:nvSpPr>
        <p:spPr>
          <a:xfrm>
            <a:off x="685800" y="358775"/>
            <a:ext cx="8305800" cy="1219200"/>
          </a:xfrm>
        </p:spPr>
        <p:txBody>
          <a:bodyPr/>
          <a:lstStyle/>
          <a:p>
            <a:pPr eaLnBrk="1" hangingPunct="1"/>
            <a:r>
              <a:rPr lang="en-US" altLang="en-US" sz="4000" dirty="0"/>
              <a:t>Pathologic Conditions </a:t>
            </a:r>
            <a:br>
              <a:rPr lang="en-US" altLang="en-US" sz="4000" dirty="0"/>
            </a:br>
            <a:r>
              <a:rPr lang="en-US" altLang="en-US" sz="4000" dirty="0"/>
              <a:t>Liver Gallbladder, and Pancreas </a:t>
            </a:r>
            <a:r>
              <a:rPr lang="en-US" altLang="en-US" sz="2400" dirty="0"/>
              <a:t>(slide 1 of 2</a:t>
            </a:r>
            <a:r>
              <a:rPr lang="en-US" altLang="ja-JP" sz="2400" dirty="0"/>
              <a:t>)</a:t>
            </a:r>
            <a:endParaRPr lang="en-US" altLang="en-US" sz="3200" dirty="0"/>
          </a:p>
        </p:txBody>
      </p:sp>
      <p:sp>
        <p:nvSpPr>
          <p:cNvPr id="107527" name="Rectangle 7"/>
          <p:cNvSpPr>
            <a:spLocks noGrp="1" noChangeArrowheads="1"/>
          </p:cNvSpPr>
          <p:nvPr>
            <p:ph idx="1"/>
          </p:nvPr>
        </p:nvSpPr>
        <p:spPr>
          <a:xfrm>
            <a:off x="685800" y="2057400"/>
            <a:ext cx="7772400" cy="3048000"/>
          </a:xfrm>
        </p:spPr>
        <p:txBody>
          <a:bodyPr rtlCol="0">
            <a:normAutofit fontScale="85000" lnSpcReduction="10000"/>
          </a:bodyPr>
          <a:lstStyle/>
          <a:p>
            <a:pPr eaLnBrk="1" fontAlgn="auto" hangingPunct="1">
              <a:spcAft>
                <a:spcPts val="0"/>
              </a:spcAft>
              <a:defRPr/>
            </a:pPr>
            <a:r>
              <a:rPr lang="en-US" b="1" dirty="0"/>
              <a:t>Cirrhosis </a:t>
            </a:r>
            <a:r>
              <a:rPr lang="en-US" dirty="0"/>
              <a:t>– chronic degenerative disease of the liver</a:t>
            </a:r>
          </a:p>
          <a:p>
            <a:pPr eaLnBrk="1" fontAlgn="auto" hangingPunct="1">
              <a:spcAft>
                <a:spcPts val="0"/>
              </a:spcAft>
              <a:defRPr/>
            </a:pPr>
            <a:r>
              <a:rPr lang="en-US" b="1" dirty="0" err="1"/>
              <a:t>Hepatocellular</a:t>
            </a:r>
            <a:r>
              <a:rPr lang="en-US" b="1" dirty="0"/>
              <a:t> carcinoma (HCC) </a:t>
            </a:r>
            <a:r>
              <a:rPr lang="en-US" dirty="0"/>
              <a:t>– liver cancer</a:t>
            </a:r>
          </a:p>
          <a:p>
            <a:pPr eaLnBrk="1" fontAlgn="auto" hangingPunct="1">
              <a:spcAft>
                <a:spcPts val="0"/>
              </a:spcAft>
              <a:defRPr/>
            </a:pPr>
            <a:r>
              <a:rPr lang="en-US" b="1" dirty="0"/>
              <a:t>Pancreatic cancer </a:t>
            </a:r>
            <a:r>
              <a:rPr lang="en-US" dirty="0"/>
              <a:t>– malignant tumor of the pancreas</a:t>
            </a:r>
            <a:endParaRPr lang="en-US" b="1" dirty="0"/>
          </a:p>
          <a:p>
            <a:pPr eaLnBrk="1" fontAlgn="auto" hangingPunct="1">
              <a:spcAft>
                <a:spcPts val="0"/>
              </a:spcAft>
              <a:defRPr/>
            </a:pPr>
            <a:r>
              <a:rPr lang="en-US" b="1" dirty="0"/>
              <a:t>Pancreatitis </a:t>
            </a:r>
            <a:r>
              <a:rPr lang="en-US" dirty="0"/>
              <a:t>– inflammation of the pancreas</a:t>
            </a:r>
          </a:p>
          <a:p>
            <a:pPr eaLnBrk="1" fontAlgn="auto" hangingPunct="1">
              <a:spcAft>
                <a:spcPts val="0"/>
              </a:spcAft>
              <a:defRPr/>
            </a:pPr>
            <a:r>
              <a:rPr lang="en-US" b="1" dirty="0"/>
              <a:t>Viral hepatitis </a:t>
            </a:r>
            <a:r>
              <a:rPr lang="en-US" dirty="0"/>
              <a:t>– inflammation of the liver caused by a virus</a:t>
            </a:r>
          </a:p>
        </p:txBody>
      </p:sp>
    </p:spTree>
    <p:extLst>
      <p:ext uri="{BB962C8B-B14F-4D97-AF65-F5344CB8AC3E}">
        <p14:creationId xmlns:p14="http://schemas.microsoft.com/office/powerpoint/2010/main" val="13789954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3"/>
          <p:cNvSpPr>
            <a:spLocks noGrp="1" noChangeArrowheads="1"/>
          </p:cNvSpPr>
          <p:nvPr>
            <p:ph type="title"/>
          </p:nvPr>
        </p:nvSpPr>
        <p:spPr>
          <a:xfrm>
            <a:off x="457200" y="274638"/>
            <a:ext cx="8686800" cy="1143000"/>
          </a:xfrm>
        </p:spPr>
        <p:txBody>
          <a:bodyPr/>
          <a:lstStyle/>
          <a:p>
            <a:pPr eaLnBrk="1" hangingPunct="1"/>
            <a:r>
              <a:rPr lang="en-US" altLang="en-US" sz="4000" dirty="0"/>
              <a:t>Pathologic Conditions </a:t>
            </a:r>
            <a:br>
              <a:rPr lang="en-US" altLang="en-US" sz="4000" dirty="0"/>
            </a:br>
            <a:r>
              <a:rPr lang="en-US" altLang="en-US" sz="4000" dirty="0"/>
              <a:t>Liver Gallbladder, and Pancreas </a:t>
            </a:r>
            <a:r>
              <a:rPr lang="en-US" altLang="en-US" sz="2400" dirty="0"/>
              <a:t>(slide 2 of 2</a:t>
            </a:r>
            <a:r>
              <a:rPr lang="en-US" altLang="ja-JP" sz="2400" dirty="0"/>
              <a:t>)</a:t>
            </a:r>
            <a:endParaRPr lang="en-US" altLang="en-US" sz="2400" dirty="0"/>
          </a:p>
        </p:txBody>
      </p:sp>
      <p:sp>
        <p:nvSpPr>
          <p:cNvPr id="82947" name="Rectangle 7"/>
          <p:cNvSpPr>
            <a:spLocks noGrp="1" noChangeArrowheads="1"/>
          </p:cNvSpPr>
          <p:nvPr>
            <p:ph sz="half" idx="1"/>
          </p:nvPr>
        </p:nvSpPr>
        <p:spPr>
          <a:xfrm>
            <a:off x="685800" y="1600200"/>
            <a:ext cx="7467600" cy="1351439"/>
          </a:xfrm>
        </p:spPr>
        <p:txBody>
          <a:bodyPr/>
          <a:lstStyle/>
          <a:p>
            <a:pPr eaLnBrk="1" hangingPunct="1">
              <a:lnSpc>
                <a:spcPct val="80000"/>
              </a:lnSpc>
              <a:buFont typeface="Wingdings 2" panose="05020102010507070707" pitchFamily="18" charset="2"/>
              <a:buNone/>
            </a:pPr>
            <a:endParaRPr lang="en-US" altLang="en-US" b="1" dirty="0"/>
          </a:p>
          <a:p>
            <a:pPr eaLnBrk="1" hangingPunct="1"/>
            <a:r>
              <a:rPr lang="en-US" altLang="en-US" b="1" dirty="0" err="1"/>
              <a:t>Cholelithiasis</a:t>
            </a:r>
            <a:r>
              <a:rPr lang="en-US" altLang="en-US" sz="2400" b="1" dirty="0"/>
              <a:t> </a:t>
            </a:r>
            <a:r>
              <a:rPr lang="en-US" altLang="en-US" sz="2400" dirty="0"/>
              <a:t>– </a:t>
            </a:r>
            <a:r>
              <a:rPr lang="en-US" altLang="en-US" dirty="0"/>
              <a:t>gallstones in the gallbladder </a:t>
            </a:r>
            <a:endParaRPr lang="en-US" altLang="en-US" b="1" dirty="0"/>
          </a:p>
        </p:txBody>
      </p:sp>
      <p:pic>
        <p:nvPicPr>
          <p:cNvPr id="6" name="Picture 11" descr="Cross-section of fragmented gallstones, revealing interiors that are pigmented because of entrapped bile pigments. The gallbladder mucosa is reddened and irregular as a result."/>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2552700" y="2603262"/>
            <a:ext cx="4457700" cy="37054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8575829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6256</TotalTime>
  <Words>3552</Words>
  <Application>Microsoft Office PowerPoint</Application>
  <PresentationFormat>On-screen Show (4:3)</PresentationFormat>
  <Paragraphs>646</Paragraphs>
  <Slides>72</Slides>
  <Notes>44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72</vt:i4>
      </vt:variant>
    </vt:vector>
  </HeadingPairs>
  <TitlesOfParts>
    <vt:vector size="82" baseType="lpstr">
      <vt:lpstr>MS PGothic</vt:lpstr>
      <vt:lpstr>Arial</vt:lpstr>
      <vt:lpstr>Calibri</vt:lpstr>
      <vt:lpstr>Courier</vt:lpstr>
      <vt:lpstr>Times</vt:lpstr>
      <vt:lpstr>Times New Roman</vt:lpstr>
      <vt:lpstr>Webdings</vt:lpstr>
      <vt:lpstr>Wingdings</vt:lpstr>
      <vt:lpstr>Wingdings 2</vt:lpstr>
      <vt:lpstr>Office Theme</vt:lpstr>
      <vt:lpstr>The Language of Medicine 13th edition</vt:lpstr>
      <vt:lpstr>Chapter 5 Digestive System</vt:lpstr>
      <vt:lpstr>Chapter Goals</vt:lpstr>
      <vt:lpstr>Chapter 5 Lesson 5.1</vt:lpstr>
      <vt:lpstr>Introduction</vt:lpstr>
      <vt:lpstr>Introduction:       Ingestion and Digestion </vt:lpstr>
      <vt:lpstr>Introduction: Absorption</vt:lpstr>
      <vt:lpstr>Introduction: Elimination </vt:lpstr>
      <vt:lpstr>Organs of the Digestive System</vt:lpstr>
      <vt:lpstr>Oral Cavity (slide 1 of 4)</vt:lpstr>
      <vt:lpstr>Oral Cavity (slide 2 of 4)</vt:lpstr>
      <vt:lpstr>Oral Cavity (slide 3 of 8)</vt:lpstr>
      <vt:lpstr>Oral Cavity (slide 4 of 4)</vt:lpstr>
      <vt:lpstr>Deglutition (Swallowing)</vt:lpstr>
      <vt:lpstr>Esophagus/Stomach (slide 1 of 2)</vt:lpstr>
      <vt:lpstr>Esophagus/Stomach (slide 2 of 2)</vt:lpstr>
      <vt:lpstr>The Digestive Tract (slide 1 of 2)</vt:lpstr>
      <vt:lpstr>The Digestive Tract (slide 2 of 2)</vt:lpstr>
      <vt:lpstr>Small Intestine</vt:lpstr>
      <vt:lpstr>Large Intestine (slide 1 of 2)</vt:lpstr>
      <vt:lpstr>Large Intestine (slide 2 of 2)</vt:lpstr>
      <vt:lpstr>Liver, Gallbladder, and Pancreas (Slide 1 of 5)</vt:lpstr>
      <vt:lpstr>Liver, Gallbladder, and  Pancreas (slide 2 of 5)</vt:lpstr>
      <vt:lpstr>Liver, Gallbladder, and Pancreas (slide 3 of 5)</vt:lpstr>
      <vt:lpstr>QUICK QUIZ (Slide 1 of 4)</vt:lpstr>
      <vt:lpstr>Liver, Gallbladder, and Pancreas (slide 5 of 5)</vt:lpstr>
      <vt:lpstr>Food Pathway through the GI Tract (slide 1 of 2)</vt:lpstr>
      <vt:lpstr>Food Pathway through the GI Tract (slide 2 of 2)</vt:lpstr>
      <vt:lpstr>QUICK QUIZ (Slide 2 of 4) </vt:lpstr>
      <vt:lpstr>QUICK QUIZ (Slide 3 of 4)</vt:lpstr>
      <vt:lpstr>Vocabulary (Slide 1 of 15)</vt:lpstr>
      <vt:lpstr>Vocabulary (Slide 2 of 15)</vt:lpstr>
      <vt:lpstr>Vocabulary (Slide 3 of 15)</vt:lpstr>
      <vt:lpstr>Vocabulary (Slide 4 of 15)</vt:lpstr>
      <vt:lpstr>Vocabulary (Slide 5 of 15)</vt:lpstr>
      <vt:lpstr>Vocabulary (Slide 6 of 15)</vt:lpstr>
      <vt:lpstr>Vocabulary (Slide 7 of 15)</vt:lpstr>
      <vt:lpstr>Vocabulary (Slide 8 of 15)</vt:lpstr>
      <vt:lpstr>Vocabulary (Slide 9 of 15)</vt:lpstr>
      <vt:lpstr>Vocabulary (Slide 10 of 15)</vt:lpstr>
      <vt:lpstr>Vocabulary (Slide 11 of 15)</vt:lpstr>
      <vt:lpstr>Vocabulary (Slide 12 of 15)</vt:lpstr>
      <vt:lpstr>Vocabulary (Slide 13 of 15)</vt:lpstr>
      <vt:lpstr>Vocabulary (Slide 14 of 15)</vt:lpstr>
      <vt:lpstr>Vocabulary (Slide 15 of 15)</vt:lpstr>
      <vt:lpstr>Terminology – Combining Forms Parts of the Body (Slide 1 of 5)</vt:lpstr>
      <vt:lpstr>Terminology – Combining Forms Parts of the Body (Slide 2 of 5)</vt:lpstr>
      <vt:lpstr>Terminology – Combining Forms Parts of the Body (Slide 3 of 5)</vt:lpstr>
      <vt:lpstr>Terminology – Combining Forms Parts of the Body (Slide 4 of 5)</vt:lpstr>
      <vt:lpstr>Terminology – Combining Forms Parts of the Body (Slide 5 of 5)</vt:lpstr>
      <vt:lpstr>Terminology – Combining Forms Substances (Slide 1 of 2)</vt:lpstr>
      <vt:lpstr>Terminology – Combining Forms Substances (Slide 2 of 2)</vt:lpstr>
      <vt:lpstr>Terminology – Suffixes</vt:lpstr>
      <vt:lpstr>Anastomoses</vt:lpstr>
      <vt:lpstr>QUICK QUIZ (Slide 4 of 4)</vt:lpstr>
      <vt:lpstr>Chapter 5 Lesson 5.2</vt:lpstr>
      <vt:lpstr>Pathology  of the Digestive System (slide 1 of 3)</vt:lpstr>
      <vt:lpstr>Pathology  of the Digestive System (slide 2 of 3)</vt:lpstr>
      <vt:lpstr>Pathology  of the Digestive System (slide 3 of 3)</vt:lpstr>
      <vt:lpstr>Pathologic Conditions Oral Cavity and Teeth</vt:lpstr>
      <vt:lpstr>Pathologic Conditions Upper Gastrointestinal Tract  (slide 1 of 5)</vt:lpstr>
      <vt:lpstr>Pathologic Conditions Upper Gastrointestinal Tract  (slide 2 of 5)</vt:lpstr>
      <vt:lpstr>Pathologic Conditions Upper Gastrointestinal Tract  (slide 3 of 5)</vt:lpstr>
      <vt:lpstr>Pathologic Conditions Upper Gastrointestinal Tract  (slide 4 of 5)</vt:lpstr>
      <vt:lpstr>Pathologic Conditions Upper Gastrointestinal Tract  (slide 5 of 5)</vt:lpstr>
      <vt:lpstr>Pathologic Conditions Lower Gastrointestinal Tract      Small and Large Intestines (slide 1 of 5)</vt:lpstr>
      <vt:lpstr>Pathologic Conditions Lower Gastrointestinal Tract Small and Large Intestines (slide 2 of 5)</vt:lpstr>
      <vt:lpstr>Pathologic Conditions Lower Gastrointestinal Tract Small and Large Intestines (slide 3 of 5)</vt:lpstr>
      <vt:lpstr>Pathologic Conditions Lower Gastrointestinal Tract Small and Large Intestines (slide 4 of 5)</vt:lpstr>
      <vt:lpstr>Pathologic Conditions Lower Gastrointestinal Tract Small and Large Intestines (slide 5 of 5)</vt:lpstr>
      <vt:lpstr>Pathologic Conditions  Liver Gallbladder, and Pancreas (slide 1 of 2)</vt:lpstr>
      <vt:lpstr>Pathologic Conditions  Liver Gallbladder, and Pancreas (slide 2 of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Language of Medicine A Write-in Text Explaining Medical Terms 7th Edition Davi-Ellen Chabner, B.A., M.A.T.</dc:title>
  <dc:creator>dell</dc:creator>
  <cp:lastModifiedBy>Jyoti Tyagi (IL-IN)</cp:lastModifiedBy>
  <cp:revision>308</cp:revision>
  <cp:lastPrinted>2007-04-13T22:20:09Z</cp:lastPrinted>
  <dcterms:created xsi:type="dcterms:W3CDTF">2004-11-01T16:15:23Z</dcterms:created>
  <dcterms:modified xsi:type="dcterms:W3CDTF">2023-12-07T04:33:31Z</dcterms:modified>
</cp:coreProperties>
</file>