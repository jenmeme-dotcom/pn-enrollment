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43"/>
  </p:notesMasterIdLst>
  <p:handoutMasterIdLst>
    <p:handoutMasterId r:id="rId44"/>
  </p:handoutMasterIdLst>
  <p:sldIdLst>
    <p:sldId id="332" r:id="rId2"/>
    <p:sldId id="338" r:id="rId3"/>
    <p:sldId id="339" r:id="rId4"/>
    <p:sldId id="340" r:id="rId5"/>
    <p:sldId id="341"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8" r:id="rId22"/>
    <p:sldId id="360" r:id="rId23"/>
    <p:sldId id="362" r:id="rId24"/>
    <p:sldId id="364" r:id="rId25"/>
    <p:sldId id="366" r:id="rId26"/>
    <p:sldId id="368" r:id="rId27"/>
    <p:sldId id="370" r:id="rId28"/>
    <p:sldId id="372" r:id="rId29"/>
    <p:sldId id="374" r:id="rId30"/>
    <p:sldId id="376" r:id="rId31"/>
    <p:sldId id="378" r:id="rId32"/>
    <p:sldId id="380" r:id="rId33"/>
    <p:sldId id="382" r:id="rId34"/>
    <p:sldId id="384" r:id="rId35"/>
    <p:sldId id="386" r:id="rId36"/>
    <p:sldId id="388" r:id="rId37"/>
    <p:sldId id="390" r:id="rId38"/>
    <p:sldId id="392" r:id="rId39"/>
    <p:sldId id="394" r:id="rId40"/>
    <p:sldId id="396" r:id="rId41"/>
    <p:sldId id="397" r:id="rId42"/>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92" autoAdjust="0"/>
    <p:restoredTop sz="80777" autoAdjust="0"/>
  </p:normalViewPr>
  <p:slideViewPr>
    <p:cSldViewPr>
      <p:cViewPr varScale="1">
        <p:scale>
          <a:sx n="51" d="100"/>
          <a:sy n="51" d="100"/>
        </p:scale>
        <p:origin x="1496" y="40"/>
      </p:cViewPr>
      <p:guideLst>
        <p:guide orient="horz" pos="1008"/>
        <p:guide pos="432"/>
      </p:guideLst>
    </p:cSldViewPr>
  </p:slideViewPr>
  <p:outlineViewPr>
    <p:cViewPr>
      <p:scale>
        <a:sx n="33" d="100"/>
        <a:sy n="33" d="100"/>
      </p:scale>
      <p:origin x="0" y="11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215E4D10-9508-4C87-8059-415D93E415F7}"/>
    <pc:docChg chg="undo custSel modSld modMainMaster">
      <pc:chgData name="Ben Pfeifer" userId="fb68dd40a6c6cee7" providerId="LiveId" clId="{215E4D10-9508-4C87-8059-415D93E415F7}" dt="2023-09-26T15:23:29.737" v="92" actId="114"/>
      <pc:docMkLst>
        <pc:docMk/>
      </pc:docMkLst>
      <pc:sldChg chg="modSp mod">
        <pc:chgData name="Ben Pfeifer" userId="fb68dd40a6c6cee7" providerId="LiveId" clId="{215E4D10-9508-4C87-8059-415D93E415F7}" dt="2023-09-26T15:10:34.353" v="1" actId="20577"/>
        <pc:sldMkLst>
          <pc:docMk/>
          <pc:sldMk cId="1428288934" sldId="332"/>
        </pc:sldMkLst>
        <pc:spChg chg="mod">
          <ac:chgData name="Ben Pfeifer" userId="fb68dd40a6c6cee7" providerId="LiveId" clId="{215E4D10-9508-4C87-8059-415D93E415F7}" dt="2023-09-26T15:10:34.353" v="1" actId="20577"/>
          <ac:spMkLst>
            <pc:docMk/>
            <pc:sldMk cId="1428288934" sldId="332"/>
            <ac:spMk id="2" creationId="{00000000-0000-0000-0000-000000000000}"/>
          </ac:spMkLst>
        </pc:spChg>
      </pc:sldChg>
      <pc:sldChg chg="modSp mod">
        <pc:chgData name="Ben Pfeifer" userId="fb68dd40a6c6cee7" providerId="LiveId" clId="{215E4D10-9508-4C87-8059-415D93E415F7}" dt="2023-09-26T15:12:39.355" v="10" actId="12385"/>
        <pc:sldMkLst>
          <pc:docMk/>
          <pc:sldMk cId="3351160156" sldId="380"/>
        </pc:sldMkLst>
        <pc:graphicFrameChg chg="modGraphic">
          <ac:chgData name="Ben Pfeifer" userId="fb68dd40a6c6cee7" providerId="LiveId" clId="{215E4D10-9508-4C87-8059-415D93E415F7}" dt="2023-09-26T15:12:39.355" v="10" actId="12385"/>
          <ac:graphicFrameMkLst>
            <pc:docMk/>
            <pc:sldMk cId="3351160156" sldId="380"/>
            <ac:graphicFrameMk id="7" creationId="{00000000-0000-0000-0000-000000000000}"/>
          </ac:graphicFrameMkLst>
        </pc:graphicFrameChg>
      </pc:sldChg>
      <pc:sldChg chg="modSp mod">
        <pc:chgData name="Ben Pfeifer" userId="fb68dd40a6c6cee7" providerId="LiveId" clId="{215E4D10-9508-4C87-8059-415D93E415F7}" dt="2023-09-26T15:12:42.847" v="11" actId="12385"/>
        <pc:sldMkLst>
          <pc:docMk/>
          <pc:sldMk cId="717626034" sldId="382"/>
        </pc:sldMkLst>
        <pc:graphicFrameChg chg="modGraphic">
          <ac:chgData name="Ben Pfeifer" userId="fb68dd40a6c6cee7" providerId="LiveId" clId="{215E4D10-9508-4C87-8059-415D93E415F7}" dt="2023-09-26T15:12:42.847" v="11" actId="12385"/>
          <ac:graphicFrameMkLst>
            <pc:docMk/>
            <pc:sldMk cId="717626034" sldId="382"/>
            <ac:graphicFrameMk id="7" creationId="{00000000-0000-0000-0000-000000000000}"/>
          </ac:graphicFrameMkLst>
        </pc:graphicFrameChg>
      </pc:sldChg>
      <pc:sldChg chg="modSp mod">
        <pc:chgData name="Ben Pfeifer" userId="fb68dd40a6c6cee7" providerId="LiveId" clId="{215E4D10-9508-4C87-8059-415D93E415F7}" dt="2023-09-26T15:12:45.884" v="12" actId="12385"/>
        <pc:sldMkLst>
          <pc:docMk/>
          <pc:sldMk cId="159873406" sldId="384"/>
        </pc:sldMkLst>
        <pc:graphicFrameChg chg="modGraphic">
          <ac:chgData name="Ben Pfeifer" userId="fb68dd40a6c6cee7" providerId="LiveId" clId="{215E4D10-9508-4C87-8059-415D93E415F7}" dt="2023-09-26T15:12:45.884" v="12" actId="12385"/>
          <ac:graphicFrameMkLst>
            <pc:docMk/>
            <pc:sldMk cId="159873406" sldId="384"/>
            <ac:graphicFrameMk id="7" creationId="{00000000-0000-0000-0000-000000000000}"/>
          </ac:graphicFrameMkLst>
        </pc:graphicFrameChg>
      </pc:sldChg>
      <pc:sldChg chg="modSp mod">
        <pc:chgData name="Ben Pfeifer" userId="fb68dd40a6c6cee7" providerId="LiveId" clId="{215E4D10-9508-4C87-8059-415D93E415F7}" dt="2023-09-26T15:18:54.468" v="58" actId="12385"/>
        <pc:sldMkLst>
          <pc:docMk/>
          <pc:sldMk cId="758325279" sldId="386"/>
        </pc:sldMkLst>
        <pc:graphicFrameChg chg="modGraphic">
          <ac:chgData name="Ben Pfeifer" userId="fb68dd40a6c6cee7" providerId="LiveId" clId="{215E4D10-9508-4C87-8059-415D93E415F7}" dt="2023-09-26T15:18:54.468" v="58" actId="12385"/>
          <ac:graphicFrameMkLst>
            <pc:docMk/>
            <pc:sldMk cId="758325279" sldId="386"/>
            <ac:graphicFrameMk id="7" creationId="{00000000-0000-0000-0000-000000000000}"/>
          </ac:graphicFrameMkLst>
        </pc:graphicFrameChg>
      </pc:sldChg>
      <pc:sldChg chg="modSp mod">
        <pc:chgData name="Ben Pfeifer" userId="fb68dd40a6c6cee7" providerId="LiveId" clId="{215E4D10-9508-4C87-8059-415D93E415F7}" dt="2023-09-26T15:19:01.017" v="59" actId="12385"/>
        <pc:sldMkLst>
          <pc:docMk/>
          <pc:sldMk cId="1882333150" sldId="388"/>
        </pc:sldMkLst>
        <pc:graphicFrameChg chg="modGraphic">
          <ac:chgData name="Ben Pfeifer" userId="fb68dd40a6c6cee7" providerId="LiveId" clId="{215E4D10-9508-4C87-8059-415D93E415F7}" dt="2023-09-26T15:19:01.017" v="59" actId="12385"/>
          <ac:graphicFrameMkLst>
            <pc:docMk/>
            <pc:sldMk cId="1882333150" sldId="388"/>
            <ac:graphicFrameMk id="7" creationId="{00000000-0000-0000-0000-000000000000}"/>
          </ac:graphicFrameMkLst>
        </pc:graphicFrameChg>
      </pc:sldChg>
      <pc:sldChg chg="modSp mod">
        <pc:chgData name="Ben Pfeifer" userId="fb68dd40a6c6cee7" providerId="LiveId" clId="{215E4D10-9508-4C87-8059-415D93E415F7}" dt="2023-09-26T15:19:08.021" v="60" actId="12385"/>
        <pc:sldMkLst>
          <pc:docMk/>
          <pc:sldMk cId="651914054" sldId="390"/>
        </pc:sldMkLst>
        <pc:graphicFrameChg chg="modGraphic">
          <ac:chgData name="Ben Pfeifer" userId="fb68dd40a6c6cee7" providerId="LiveId" clId="{215E4D10-9508-4C87-8059-415D93E415F7}" dt="2023-09-26T15:19:08.021" v="60" actId="12385"/>
          <ac:graphicFrameMkLst>
            <pc:docMk/>
            <pc:sldMk cId="651914054" sldId="390"/>
            <ac:graphicFrameMk id="7" creationId="{00000000-0000-0000-0000-000000000000}"/>
          </ac:graphicFrameMkLst>
        </pc:graphicFrameChg>
      </pc:sldChg>
      <pc:sldChg chg="modSp mod">
        <pc:chgData name="Ben Pfeifer" userId="fb68dd40a6c6cee7" providerId="LiveId" clId="{215E4D10-9508-4C87-8059-415D93E415F7}" dt="2023-09-26T15:19:13.764" v="61" actId="12385"/>
        <pc:sldMkLst>
          <pc:docMk/>
          <pc:sldMk cId="992662397" sldId="392"/>
        </pc:sldMkLst>
        <pc:graphicFrameChg chg="modGraphic">
          <ac:chgData name="Ben Pfeifer" userId="fb68dd40a6c6cee7" providerId="LiveId" clId="{215E4D10-9508-4C87-8059-415D93E415F7}" dt="2023-09-26T15:19:13.764" v="61" actId="12385"/>
          <ac:graphicFrameMkLst>
            <pc:docMk/>
            <pc:sldMk cId="992662397" sldId="392"/>
            <ac:graphicFrameMk id="7" creationId="{00000000-0000-0000-0000-000000000000}"/>
          </ac:graphicFrameMkLst>
        </pc:graphicFrameChg>
      </pc:sldChg>
      <pc:sldChg chg="modSp mod">
        <pc:chgData name="Ben Pfeifer" userId="fb68dd40a6c6cee7" providerId="LiveId" clId="{215E4D10-9508-4C87-8059-415D93E415F7}" dt="2023-09-26T15:19:17.552" v="62" actId="12385"/>
        <pc:sldMkLst>
          <pc:docMk/>
          <pc:sldMk cId="951984069" sldId="394"/>
        </pc:sldMkLst>
        <pc:graphicFrameChg chg="modGraphic">
          <ac:chgData name="Ben Pfeifer" userId="fb68dd40a6c6cee7" providerId="LiveId" clId="{215E4D10-9508-4C87-8059-415D93E415F7}" dt="2023-09-26T15:19:17.552" v="62" actId="12385"/>
          <ac:graphicFrameMkLst>
            <pc:docMk/>
            <pc:sldMk cId="951984069" sldId="394"/>
            <ac:graphicFrameMk id="7" creationId="{00000000-0000-0000-0000-000000000000}"/>
          </ac:graphicFrameMkLst>
        </pc:graphicFrameChg>
      </pc:sldChg>
      <pc:sldChg chg="modSp mod">
        <pc:chgData name="Ben Pfeifer" userId="fb68dd40a6c6cee7" providerId="LiveId" clId="{215E4D10-9508-4C87-8059-415D93E415F7}" dt="2023-09-26T15:23:29.737" v="92" actId="114"/>
        <pc:sldMkLst>
          <pc:docMk/>
          <pc:sldMk cId="4105561059" sldId="396"/>
        </pc:sldMkLst>
        <pc:graphicFrameChg chg="modGraphic">
          <ac:chgData name="Ben Pfeifer" userId="fb68dd40a6c6cee7" providerId="LiveId" clId="{215E4D10-9508-4C87-8059-415D93E415F7}" dt="2023-09-26T15:23:29.737" v="92" actId="114"/>
          <ac:graphicFrameMkLst>
            <pc:docMk/>
            <pc:sldMk cId="4105561059" sldId="396"/>
            <ac:graphicFrameMk id="7" creationId="{00000000-0000-0000-0000-000000000000}"/>
          </ac:graphicFrameMkLst>
        </pc:graphicFrameChg>
      </pc:sldChg>
      <pc:sldMasterChg chg="modSp mod">
        <pc:chgData name="Ben Pfeifer" userId="fb68dd40a6c6cee7" providerId="LiveId" clId="{215E4D10-9508-4C87-8059-415D93E415F7}" dt="2023-09-26T15:11:15.162" v="9" actId="20577"/>
        <pc:sldMasterMkLst>
          <pc:docMk/>
          <pc:sldMasterMk cId="0" sldId="2147483762"/>
        </pc:sldMasterMkLst>
        <pc:spChg chg="mod">
          <ac:chgData name="Ben Pfeifer" userId="fb68dd40a6c6cee7" providerId="LiveId" clId="{215E4D10-9508-4C87-8059-415D93E415F7}" dt="2023-09-26T15:11:15.162" v="9" actId="20577"/>
          <ac:spMkLst>
            <pc:docMk/>
            <pc:sldMasterMk cId="0" sldId="2147483762"/>
            <ac:spMk id="103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572E118-0353-4672-8312-6E23490624AA}" type="slidenum">
              <a:rPr lang="en-US" altLang="en-US" sz="1200"/>
              <a:pPr/>
              <a:t>2</a:t>
            </a:fld>
            <a:endParaRPr lang="en-US" altLang="en-US" sz="1200"/>
          </a:p>
        </p:txBody>
      </p:sp>
      <p:sp>
        <p:nvSpPr>
          <p:cNvPr id="66563" name="Rectangle 2"/>
          <p:cNvSpPr>
            <a:spLocks noGrp="1" noRot="1" noChangeAspect="1" noChangeArrowheads="1" noTextEdit="1"/>
          </p:cNvSpPr>
          <p:nvPr>
            <p:ph type="sldImg"/>
          </p:nvPr>
        </p:nvSpPr>
        <p:spPr>
          <a:solidFill>
            <a:srgbClr val="FFFFFF"/>
          </a:solidFill>
          <a:ln/>
        </p:spPr>
      </p:sp>
      <p:sp>
        <p:nvSpPr>
          <p:cNvPr id="665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039772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D80B055-A220-497A-87B0-065FE4CE7F04}" type="slidenum">
              <a:rPr lang="en-US" altLang="en-US" sz="1200"/>
              <a:pPr/>
              <a:t>3</a:t>
            </a:fld>
            <a:endParaRPr lang="en-US" altLang="en-US" sz="120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188358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0CB31A5-D048-49B3-A960-05E13531FBD5}" type="slidenum">
              <a:rPr lang="en-US" altLang="en-US" sz="1200"/>
              <a:pPr/>
              <a:t>4</a:t>
            </a:fld>
            <a:endParaRPr lang="en-US" altLang="en-US" sz="120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519887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4A32ACF-5D13-419E-A469-DE041F1F909D}" type="slidenum">
              <a:rPr lang="en-US" altLang="en-US" sz="1200"/>
              <a:pPr/>
              <a:t>5</a:t>
            </a:fld>
            <a:endParaRPr lang="en-US" altLang="en-US" sz="120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444850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273C2FB-8ADD-48F5-BF0F-E3B5C23443E3}" type="slidenum">
              <a:rPr lang="en-US" altLang="en-US" sz="1200"/>
              <a:pPr/>
              <a:t>6</a:t>
            </a:fld>
            <a:endParaRPr lang="en-US" altLang="en-US" sz="120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Ask the class to give examples of what they might consider to be a </a:t>
            </a:r>
            <a:r>
              <a:rPr lang="ja-JP" altLang="en-US">
                <a:latin typeface="Times New Roman" panose="02020603050405020304" pitchFamily="18" charset="0"/>
              </a:rPr>
              <a:t>“</a:t>
            </a:r>
            <a:r>
              <a:rPr lang="en-US" altLang="ja-JP">
                <a:latin typeface="Times New Roman" panose="02020603050405020304" pitchFamily="18" charset="0"/>
              </a:rPr>
              <a:t>drug.</a:t>
            </a:r>
            <a:r>
              <a:rPr lang="ja-JP" altLang="en-US">
                <a:latin typeface="Times New Roman" panose="02020603050405020304" pitchFamily="18" charset="0"/>
              </a:rPr>
              <a:t>”</a:t>
            </a:r>
            <a:r>
              <a:rPr lang="en-US" altLang="ja-JP">
                <a:latin typeface="Times New Roman" panose="02020603050405020304" pitchFamily="18" charset="0"/>
              </a:rPr>
              <a:t> Is a drug something that can be abused?</a:t>
            </a:r>
          </a:p>
          <a:p>
            <a:pPr eaLnBrk="1" hangingPunct="1">
              <a:buFontTx/>
              <a:buChar char="•"/>
            </a:pPr>
            <a:r>
              <a:rPr lang="en-US" altLang="en-US">
                <a:latin typeface="Times New Roman" panose="02020603050405020304" pitchFamily="18" charset="0"/>
              </a:rPr>
              <a:t> Can caffeine be considered a drug? </a:t>
            </a:r>
          </a:p>
          <a:p>
            <a:pPr eaLnBrk="1" hangingPunct="1">
              <a:buFontTx/>
              <a:buChar char="•"/>
            </a:pPr>
            <a:r>
              <a:rPr lang="en-US" altLang="en-US">
                <a:latin typeface="Times New Roman" panose="02020603050405020304" pitchFamily="18" charset="0"/>
              </a:rPr>
              <a:t> Does a drug have to treat a disease in order to be classified as such?</a:t>
            </a:r>
          </a:p>
          <a:p>
            <a:pPr eaLnBrk="1" hangingPunct="1">
              <a:buFontTx/>
              <a:buChar char="•"/>
            </a:pPr>
            <a:r>
              <a:rPr lang="en-US" altLang="en-US">
                <a:latin typeface="Times New Roman" panose="02020603050405020304" pitchFamily="18" charset="0"/>
              </a:rPr>
              <a:t> Name drugs with which the class is most familiar. Which are generic names and which are brand names?</a:t>
            </a:r>
          </a:p>
          <a:p>
            <a:pPr eaLnBrk="1" hangingPunct="1">
              <a:buFontTx/>
              <a:buChar char="•"/>
            </a:pPr>
            <a:endParaRPr lang="en-US" altLang="en-US">
              <a:latin typeface="Times New Roman" panose="02020603050405020304" pitchFamily="18" charset="0"/>
            </a:endParaRPr>
          </a:p>
        </p:txBody>
      </p:sp>
    </p:spTree>
    <p:extLst>
      <p:ext uri="{BB962C8B-B14F-4D97-AF65-F5344CB8AC3E}">
        <p14:creationId xmlns:p14="http://schemas.microsoft.com/office/powerpoint/2010/main" val="1976310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452365B-370C-4220-9F10-B273CBA6B154}" type="slidenum">
              <a:rPr lang="en-US" altLang="en-US" sz="1200"/>
              <a:pPr/>
              <a:t>7</a:t>
            </a:fld>
            <a:endParaRPr lang="en-US" altLang="en-US" sz="120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Only M.D.s can prescribe drugs in the U.S. Is this the same in other countries? </a:t>
            </a:r>
          </a:p>
          <a:p>
            <a:pPr eaLnBrk="1" hangingPunct="1">
              <a:buFontTx/>
              <a:buChar char="•"/>
            </a:pPr>
            <a:r>
              <a:rPr lang="en-US" altLang="en-US">
                <a:latin typeface="Times New Roman" panose="02020603050405020304" pitchFamily="18" charset="0"/>
              </a:rPr>
              <a:t> Are there prescribed drugs in the U.S. that are available as over-the-counter drugs in other countries? </a:t>
            </a:r>
          </a:p>
        </p:txBody>
      </p:sp>
    </p:spTree>
    <p:extLst>
      <p:ext uri="{BB962C8B-B14F-4D97-AF65-F5344CB8AC3E}">
        <p14:creationId xmlns:p14="http://schemas.microsoft.com/office/powerpoint/2010/main" val="1361689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274177D-E5D6-416E-8140-932D37CE1469}" type="slidenum">
              <a:rPr lang="en-US" altLang="en-US" sz="1200"/>
              <a:pPr/>
              <a:t>8</a:t>
            </a:fld>
            <a:endParaRPr lang="en-US" altLang="en-US" sz="120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How does the body alter drugs when they are ingested? </a:t>
            </a:r>
          </a:p>
          <a:p>
            <a:pPr eaLnBrk="1" hangingPunct="1">
              <a:buFontTx/>
              <a:buChar char="•"/>
            </a:pPr>
            <a:r>
              <a:rPr lang="en-US" altLang="en-US">
                <a:latin typeface="Times New Roman" panose="02020603050405020304" pitchFamily="18" charset="0"/>
              </a:rPr>
              <a:t> What does </a:t>
            </a:r>
            <a:r>
              <a:rPr lang="ja-JP" altLang="en-US">
                <a:latin typeface="Times New Roman" panose="02020603050405020304" pitchFamily="18" charset="0"/>
              </a:rPr>
              <a:t>“</a:t>
            </a:r>
            <a:r>
              <a:rPr lang="en-US" altLang="ja-JP">
                <a:latin typeface="Times New Roman" panose="02020603050405020304" pitchFamily="18" charset="0"/>
              </a:rPr>
              <a:t>first pass</a:t>
            </a:r>
            <a:r>
              <a:rPr lang="ja-JP" altLang="en-US">
                <a:latin typeface="Times New Roman" panose="02020603050405020304" pitchFamily="18" charset="0"/>
              </a:rPr>
              <a:t>”</a:t>
            </a:r>
            <a:r>
              <a:rPr lang="en-US" altLang="ja-JP">
                <a:latin typeface="Times New Roman" panose="02020603050405020304" pitchFamily="18" charset="0"/>
              </a:rPr>
              <a:t> effect mean? Have students look up the definition of this term. </a:t>
            </a:r>
          </a:p>
          <a:p>
            <a:pPr eaLnBrk="1" hangingPunct="1">
              <a:buFontTx/>
              <a:buChar char="•"/>
            </a:pPr>
            <a:r>
              <a:rPr lang="en-US" altLang="en-US">
                <a:latin typeface="Times New Roman" panose="02020603050405020304" pitchFamily="18" charset="0"/>
              </a:rPr>
              <a:t> What sorts of things might professionals who develop medicines have to consider about pharmacokinetics when they develop a drug?</a:t>
            </a:r>
          </a:p>
        </p:txBody>
      </p:sp>
    </p:spTree>
    <p:extLst>
      <p:ext uri="{BB962C8B-B14F-4D97-AF65-F5344CB8AC3E}">
        <p14:creationId xmlns:p14="http://schemas.microsoft.com/office/powerpoint/2010/main" val="3380700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911976A-9F1F-46E1-AF9C-25FCAA32A24E}" type="slidenum">
              <a:rPr lang="en-US" altLang="en-US" sz="1200"/>
              <a:pPr/>
              <a:t>9</a:t>
            </a:fld>
            <a:endParaRPr lang="en-US" altLang="en-US" sz="120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B: subcutaneous.</a:t>
            </a:r>
          </a:p>
        </p:txBody>
      </p:sp>
    </p:spTree>
    <p:extLst>
      <p:ext uri="{BB962C8B-B14F-4D97-AF65-F5344CB8AC3E}">
        <p14:creationId xmlns:p14="http://schemas.microsoft.com/office/powerpoint/2010/main" val="3512282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5509A68-131F-42CF-B280-73C81AC0EAB2}" type="slidenum">
              <a:rPr lang="en-US" altLang="en-US" sz="1200"/>
              <a:pPr/>
              <a:t>10</a:t>
            </a:fld>
            <a:endParaRPr lang="en-US" altLang="en-US" sz="120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Look up examples in the PDR or a drug manufacturer</a:t>
            </a:r>
            <a:r>
              <a:rPr lang="ja-JP" altLang="en-US">
                <a:latin typeface="Times New Roman" panose="02020603050405020304" pitchFamily="18" charset="0"/>
              </a:rPr>
              <a:t>’</a:t>
            </a:r>
            <a:r>
              <a:rPr lang="en-US" altLang="ja-JP">
                <a:latin typeface="Times New Roman" panose="02020603050405020304" pitchFamily="18" charset="0"/>
              </a:rPr>
              <a:t>s manual and show students the many ways that drugs are listed and referenced. Also look up pictures of pills, tablets, etc. in the PDR.</a:t>
            </a:r>
          </a:p>
          <a:p>
            <a:pPr eaLnBrk="1" hangingPunct="1">
              <a:buFontTx/>
              <a:buChar char="•"/>
            </a:pPr>
            <a:r>
              <a:rPr lang="en-US" altLang="en-US">
                <a:latin typeface="Times New Roman" panose="02020603050405020304" pitchFamily="18" charset="0"/>
              </a:rPr>
              <a:t> Is there an advantage to this system?</a:t>
            </a:r>
          </a:p>
        </p:txBody>
      </p:sp>
    </p:spTree>
    <p:extLst>
      <p:ext uri="{BB962C8B-B14F-4D97-AF65-F5344CB8AC3E}">
        <p14:creationId xmlns:p14="http://schemas.microsoft.com/office/powerpoint/2010/main" val="3872632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EE0A2F9-D101-445B-AE3B-05F91C7BE3B5}" type="slidenum">
              <a:rPr lang="en-US" altLang="en-US" sz="1200"/>
              <a:pPr/>
              <a:t>11</a:t>
            </a:fld>
            <a:endParaRPr lang="en-US" altLang="en-US" sz="120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614877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D96E3C8-2485-44A2-800C-BA49DEDCD37D}" type="slidenum">
              <a:rPr lang="en-US" altLang="en-US" sz="1200"/>
              <a:pPr/>
              <a:t>12</a:t>
            </a:fld>
            <a:endParaRPr lang="en-US" altLang="en-US" sz="120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Ask students for one example of the benefits of each of these routes of drug administration. </a:t>
            </a:r>
          </a:p>
          <a:p>
            <a:pPr eaLnBrk="1" hangingPunct="1">
              <a:buFontTx/>
              <a:buChar char="•"/>
            </a:pPr>
            <a:r>
              <a:rPr lang="en-US" altLang="en-US">
                <a:latin typeface="Times New Roman" panose="02020603050405020304" pitchFamily="18" charset="0"/>
              </a:rPr>
              <a:t> Give examples of specific drugs that are more effective via a certain route. </a:t>
            </a:r>
          </a:p>
          <a:p>
            <a:pPr eaLnBrk="1" hangingPunct="1">
              <a:buFontTx/>
              <a:buChar char="•"/>
            </a:pPr>
            <a:r>
              <a:rPr lang="en-US" altLang="en-US">
                <a:latin typeface="Times New Roman" panose="02020603050405020304" pitchFamily="18" charset="0"/>
              </a:rPr>
              <a:t> Discuss how changing the route can make a therapeutic drug toxic, or easily abused. </a:t>
            </a:r>
            <a:r>
              <a:rPr lang="en-US" altLang="en-US" i="1">
                <a:latin typeface="Times New Roman" panose="02020603050405020304" pitchFamily="18" charset="0"/>
              </a:rPr>
              <a:t>(Ritalin is an example. When taken orally, it has therapeutic effects on attention. When taken intranasally or inhaled, a person gets high and might start to abuse it like cocaine</a:t>
            </a:r>
            <a:r>
              <a:rPr lang="en-US" altLang="en-US">
                <a:latin typeface="Times New Roman" panose="02020603050405020304" pitchFamily="18" charset="0"/>
              </a:rPr>
              <a:t>.</a:t>
            </a:r>
            <a:r>
              <a:rPr lang="en-US" altLang="en-US" i="1">
                <a:latin typeface="Times New Roman" panose="02020603050405020304" pitchFamily="18" charset="0"/>
              </a:rPr>
              <a:t>)</a:t>
            </a:r>
          </a:p>
        </p:txBody>
      </p:sp>
    </p:spTree>
    <p:extLst>
      <p:ext uri="{BB962C8B-B14F-4D97-AF65-F5344CB8AC3E}">
        <p14:creationId xmlns:p14="http://schemas.microsoft.com/office/powerpoint/2010/main" val="2718968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B098026-BC2E-4AEA-A050-6385336D59DD}" type="slidenum">
              <a:rPr lang="en-US" altLang="en-US" sz="1200"/>
              <a:pPr/>
              <a:t>13</a:t>
            </a:fld>
            <a:endParaRPr lang="en-US" altLang="en-US" sz="120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What is the difference between tolerance and addiction?</a:t>
            </a:r>
          </a:p>
          <a:p>
            <a:pPr eaLnBrk="1" hangingPunct="1">
              <a:buFontTx/>
              <a:buChar char="•"/>
            </a:pPr>
            <a:r>
              <a:rPr lang="en-US" altLang="en-US">
                <a:latin typeface="Times New Roman" panose="02020603050405020304" pitchFamily="18" charset="0"/>
              </a:rPr>
              <a:t> Ask students why a person can become sensitized to a drug (reverse tolerance) and be addicted even though it takes less of the drug to have the same effect. How does this phenomenon cause drug overdoses?</a:t>
            </a:r>
          </a:p>
        </p:txBody>
      </p:sp>
    </p:spTree>
    <p:extLst>
      <p:ext uri="{BB962C8B-B14F-4D97-AF65-F5344CB8AC3E}">
        <p14:creationId xmlns:p14="http://schemas.microsoft.com/office/powerpoint/2010/main" val="2519086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947E5CE-6E22-44C2-936D-AB6C9B138043}" type="slidenum">
              <a:rPr lang="en-US" altLang="en-US" sz="1200"/>
              <a:pPr/>
              <a:t>14</a:t>
            </a:fld>
            <a:endParaRPr lang="en-US" altLang="en-US" sz="120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A:  synergism.</a:t>
            </a:r>
          </a:p>
        </p:txBody>
      </p:sp>
    </p:spTree>
    <p:extLst>
      <p:ext uri="{BB962C8B-B14F-4D97-AF65-F5344CB8AC3E}">
        <p14:creationId xmlns:p14="http://schemas.microsoft.com/office/powerpoint/2010/main" val="2932168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99F8E11-F26E-4E36-A8A4-606F957A7E44}" type="slidenum">
              <a:rPr lang="en-US" altLang="en-US" sz="1200"/>
              <a:pPr/>
              <a:t>15</a:t>
            </a:fld>
            <a:endParaRPr lang="en-US" altLang="en-US" sz="120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Give examples of each of these toxic effects of drugs and make certain the student knows which effects are common and which are dangerous.</a:t>
            </a:r>
          </a:p>
          <a:p>
            <a:pPr eaLnBrk="1" hangingPunct="1">
              <a:buFontTx/>
              <a:buChar char="•"/>
            </a:pPr>
            <a:r>
              <a:rPr lang="en-US" altLang="en-US">
                <a:latin typeface="Times New Roman" panose="02020603050405020304" pitchFamily="18" charset="0"/>
              </a:rPr>
              <a:t> What are some of the things that must be considered when prescribing drugs?</a:t>
            </a:r>
          </a:p>
          <a:p>
            <a:pPr eaLnBrk="1" hangingPunct="1">
              <a:buFontTx/>
              <a:buChar char="•"/>
            </a:pPr>
            <a:r>
              <a:rPr lang="en-US" altLang="en-US">
                <a:latin typeface="Times New Roman" panose="02020603050405020304" pitchFamily="18" charset="0"/>
              </a:rPr>
              <a:t> Give examples of drugs that use the kidneys for elimination and what must be considered by the physician in this scenario. </a:t>
            </a:r>
          </a:p>
          <a:p>
            <a:pPr eaLnBrk="1" hangingPunct="1">
              <a:buFontTx/>
              <a:buChar char="•"/>
            </a:pPr>
            <a:r>
              <a:rPr lang="en-US" altLang="en-US">
                <a:latin typeface="Times New Roman" panose="02020603050405020304" pitchFamily="18" charset="0"/>
              </a:rPr>
              <a:t> Give examples of specific drugs and ask students to look up and report contraindications for each drug.</a:t>
            </a:r>
          </a:p>
          <a:p>
            <a:pPr eaLnBrk="1" hangingPunct="1">
              <a:buFontTx/>
              <a:buChar char="•"/>
            </a:pPr>
            <a:r>
              <a:rPr lang="en-US" altLang="en-US">
                <a:latin typeface="Times New Roman" panose="02020603050405020304" pitchFamily="18" charset="0"/>
              </a:rPr>
              <a:t> Pregnancy is an example of a contraindication for most drugs.</a:t>
            </a:r>
          </a:p>
          <a:p>
            <a:pPr eaLnBrk="1" hangingPunct="1">
              <a:buFontTx/>
              <a:buChar char="•"/>
            </a:pPr>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810120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9D2FDBB-8949-4E4F-A885-8A17381AC88B}" type="slidenum">
              <a:rPr lang="en-US" altLang="en-US" sz="1200"/>
              <a:pPr/>
              <a:t>16</a:t>
            </a:fld>
            <a:endParaRPr lang="en-US" altLang="en-US" sz="120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4661149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D57DE41-DA68-499F-BEE7-E1B394E084D1}" type="slidenum">
              <a:rPr lang="en-US" altLang="en-US" sz="1200"/>
              <a:pPr/>
              <a:t>17</a:t>
            </a:fld>
            <a:endParaRPr lang="en-US" altLang="en-US" sz="120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Students can look up all the examples of these drugs and be given assignments to report back to class. </a:t>
            </a:r>
          </a:p>
          <a:p>
            <a:pPr eaLnBrk="1" hangingPunct="1">
              <a:buFontTx/>
              <a:buChar char="•"/>
            </a:pPr>
            <a:r>
              <a:rPr lang="en-US" altLang="en-US">
                <a:latin typeface="Times New Roman" panose="02020603050405020304" pitchFamily="18" charset="0"/>
              </a:rPr>
              <a:t> What are the different types of analgesics, and how do they compare in potency, action, etc.?</a:t>
            </a:r>
          </a:p>
        </p:txBody>
      </p:sp>
    </p:spTree>
    <p:extLst>
      <p:ext uri="{BB962C8B-B14F-4D97-AF65-F5344CB8AC3E}">
        <p14:creationId xmlns:p14="http://schemas.microsoft.com/office/powerpoint/2010/main" val="94770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8CADCE9-7500-4CD4-9D89-A83BD03E0479}" type="slidenum">
              <a:rPr lang="en-US" altLang="en-US" sz="1200"/>
              <a:pPr/>
              <a:t>18</a:t>
            </a:fld>
            <a:endParaRPr lang="en-US" altLang="en-US" sz="120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These are the classes of cardiovascular drugs. There are complex mechanisms for making the heart work better. These mechanisms are based on principles regulating blood pressure, and the biophysics of the electrical properties of the heart muscle, which is innervated by the sympathetic and parasympathetic nervous systems. </a:t>
            </a:r>
          </a:p>
          <a:p>
            <a:pPr eaLnBrk="1" hangingPunct="1">
              <a:buFontTx/>
              <a:buChar char="•"/>
            </a:pPr>
            <a:r>
              <a:rPr lang="en-US" altLang="en-US">
                <a:latin typeface="Times New Roman" panose="02020603050405020304" pitchFamily="18" charset="0"/>
              </a:rPr>
              <a:t> Know some examples of each class of cardiac drugs and their actions on the heart. </a:t>
            </a:r>
          </a:p>
          <a:p>
            <a:pPr eaLnBrk="1" hangingPunct="1">
              <a:buFontTx/>
              <a:buChar char="•"/>
            </a:pPr>
            <a:r>
              <a:rPr lang="en-US" altLang="en-US">
                <a:latin typeface="Times New Roman" panose="02020603050405020304" pitchFamily="18" charset="0"/>
              </a:rPr>
              <a:t> Ask students how cardiovascular drugs differ in their action on the heart.</a:t>
            </a:r>
          </a:p>
        </p:txBody>
      </p:sp>
    </p:spTree>
    <p:extLst>
      <p:ext uri="{BB962C8B-B14F-4D97-AF65-F5344CB8AC3E}">
        <p14:creationId xmlns:p14="http://schemas.microsoft.com/office/powerpoint/2010/main" val="32472481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5C5A0E6-1E63-40DB-9BAE-9AAD59869B04}" type="slidenum">
              <a:rPr lang="en-US" altLang="en-US" sz="1200"/>
              <a:pPr/>
              <a:t>19</a:t>
            </a:fld>
            <a:endParaRPr lang="en-US" altLang="en-US" sz="120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Here is an expanded list of the endocrine class of drug therapy. This class is important because of our aging population and many of these drugs (e.g., tamoxifen) are used to treat not only symptoms of aging (menopause), but also degenerative diseases such as cancers that arise from the reproductive organs. </a:t>
            </a:r>
          </a:p>
          <a:p>
            <a:pPr eaLnBrk="1" hangingPunct="1">
              <a:buFontTx/>
              <a:buChar char="•"/>
            </a:pPr>
            <a:r>
              <a:rPr lang="en-US" altLang="en-US">
                <a:latin typeface="Times New Roman" panose="02020603050405020304" pitchFamily="18" charset="0"/>
              </a:rPr>
              <a:t> Students can be asked to give examples of endocrine drugs.</a:t>
            </a:r>
          </a:p>
        </p:txBody>
      </p:sp>
    </p:spTree>
    <p:extLst>
      <p:ext uri="{BB962C8B-B14F-4D97-AF65-F5344CB8AC3E}">
        <p14:creationId xmlns:p14="http://schemas.microsoft.com/office/powerpoint/2010/main" val="3733621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67E47F1-5BA3-40F0-B21F-8BB1B471B11A}" type="slidenum">
              <a:rPr lang="en-US" altLang="en-US" sz="1200"/>
              <a:pPr/>
              <a:t>20</a:t>
            </a:fld>
            <a:endParaRPr lang="en-US" altLang="en-US" sz="120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latin typeface="Times New Roman" panose="02020603050405020304" pitchFamily="18" charset="0"/>
              </a:rPr>
              <a:t> There are many mechanisms of action in this classification. Know some examples and the mechanisms. </a:t>
            </a:r>
          </a:p>
          <a:p>
            <a:pPr eaLnBrk="1" hangingPunct="1">
              <a:buFontTx/>
              <a:buChar char="•"/>
            </a:pPr>
            <a:r>
              <a:rPr lang="en-US" altLang="en-US">
                <a:latin typeface="Times New Roman" panose="02020603050405020304" pitchFamily="18" charset="0"/>
              </a:rPr>
              <a:t> It is also important to know whether the drug relieves the symptom or the cause. For example, where in a series of events leading to increased stomach acid does the drug work? </a:t>
            </a:r>
          </a:p>
          <a:p>
            <a:pPr eaLnBrk="1" hangingPunct="1">
              <a:buFontTx/>
              <a:buChar char="•"/>
            </a:pPr>
            <a:r>
              <a:rPr lang="en-US" altLang="en-US">
                <a:latin typeface="Times New Roman" panose="02020603050405020304" pitchFamily="18" charset="0"/>
              </a:rPr>
              <a:t> Ask students to provide examples of drugs that relieve symptoms and drugs that affect the cause of a disease.</a:t>
            </a:r>
          </a:p>
        </p:txBody>
      </p:sp>
    </p:spTree>
    <p:extLst>
      <p:ext uri="{BB962C8B-B14F-4D97-AF65-F5344CB8AC3E}">
        <p14:creationId xmlns:p14="http://schemas.microsoft.com/office/powerpoint/2010/main" val="624089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80EBDBB-AE6C-4EA4-BD06-61180BC26028}" type="slidenum">
              <a:rPr lang="en-US" altLang="en-US" sz="1200"/>
              <a:pPr/>
              <a:t>41</a:t>
            </a:fld>
            <a:endParaRPr lang="en-US" altLang="en-US" sz="120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D: antiemetic.</a:t>
            </a:r>
          </a:p>
        </p:txBody>
      </p:sp>
    </p:spTree>
    <p:extLst>
      <p:ext uri="{BB962C8B-B14F-4D97-AF65-F5344CB8AC3E}">
        <p14:creationId xmlns:p14="http://schemas.microsoft.com/office/powerpoint/2010/main" val="2971636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77332DDB-4FB2-4961-326F-590FCD07CF58}"/>
              </a:ext>
            </a:extLst>
          </p:cNvPr>
          <p:cNvPicPr>
            <a:picLocks noChangeAspect="1"/>
          </p:cNvPicPr>
          <p:nvPr userDrawn="1"/>
        </p:nvPicPr>
        <p:blipFill>
          <a:blip r:embed="rId14"/>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1027"/>
          <p:cNvSpPr>
            <a:spLocks noGrp="1" noChangeArrowheads="1"/>
          </p:cNvSpPr>
          <p:nvPr>
            <p:ph type="title"/>
          </p:nvPr>
        </p:nvSpPr>
        <p:spPr>
          <a:xfrm>
            <a:off x="762000" y="381000"/>
            <a:ext cx="7620000" cy="1143000"/>
          </a:xfrm>
        </p:spPr>
        <p:txBody>
          <a:bodyPr rtlCol="0">
            <a:normAutofit fontScale="90000"/>
          </a:bodyPr>
          <a:lstStyle/>
          <a:p>
            <a:pPr eaLnBrk="1" fontAlgn="auto" hangingPunct="1">
              <a:spcAft>
                <a:spcPts val="0"/>
              </a:spcAft>
              <a:defRPr/>
            </a:pPr>
            <a:r>
              <a:rPr lang="en-US"/>
              <a:t>Chapter 21</a:t>
            </a:r>
            <a:br>
              <a:rPr lang="en-US"/>
            </a:br>
            <a:r>
              <a:rPr lang="en-US"/>
              <a:t>Pharmacology</a:t>
            </a:r>
          </a:p>
        </p:txBody>
      </p:sp>
    </p:spTree>
    <p:extLst>
      <p:ext uri="{BB962C8B-B14F-4D97-AF65-F5344CB8AC3E}">
        <p14:creationId xmlns:p14="http://schemas.microsoft.com/office/powerpoint/2010/main" val="3522704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p:cNvSpPr>
            <a:spLocks noGrp="1" noChangeArrowheads="1"/>
          </p:cNvSpPr>
          <p:nvPr>
            <p:ph type="title"/>
          </p:nvPr>
        </p:nvSpPr>
        <p:spPr>
          <a:xfrm>
            <a:off x="762000" y="304800"/>
            <a:ext cx="7772400" cy="1219200"/>
          </a:xfrm>
        </p:spPr>
        <p:txBody>
          <a:bodyPr/>
          <a:lstStyle/>
          <a:p>
            <a:pPr eaLnBrk="1" hangingPunct="1"/>
            <a:r>
              <a:rPr lang="en-US" altLang="en-US" dirty="0"/>
              <a:t>Chapter Goals (Slide 1 of 2)</a:t>
            </a:r>
          </a:p>
        </p:txBody>
      </p:sp>
      <p:sp>
        <p:nvSpPr>
          <p:cNvPr id="4099" name="Rectangle 7"/>
          <p:cNvSpPr>
            <a:spLocks noGrp="1" noChangeArrowheads="1"/>
          </p:cNvSpPr>
          <p:nvPr>
            <p:ph idx="1"/>
          </p:nvPr>
        </p:nvSpPr>
        <p:spPr/>
        <p:txBody>
          <a:bodyPr/>
          <a:lstStyle/>
          <a:p>
            <a:pPr eaLnBrk="1" hangingPunct="1"/>
            <a:r>
              <a:rPr lang="en-US" altLang="en-US"/>
              <a:t>Describe the various subspecialty areas of pharmacology. </a:t>
            </a:r>
          </a:p>
          <a:p>
            <a:pPr eaLnBrk="1" hangingPunct="1"/>
            <a:r>
              <a:rPr lang="en-US" altLang="en-US"/>
              <a:t>Identify the various routes and schedule of drug administration. </a:t>
            </a:r>
          </a:p>
          <a:p>
            <a:pPr eaLnBrk="1" hangingPunct="1"/>
            <a:r>
              <a:rPr lang="en-US" altLang="en-US"/>
              <a:t>Differentiate among the various classes of drugs and name their primary actions and side effects. </a:t>
            </a:r>
          </a:p>
        </p:txBody>
      </p:sp>
    </p:spTree>
    <p:extLst>
      <p:ext uri="{BB962C8B-B14F-4D97-AF65-F5344CB8AC3E}">
        <p14:creationId xmlns:p14="http://schemas.microsoft.com/office/powerpoint/2010/main" val="4103453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8"/>
          <p:cNvSpPr>
            <a:spLocks noGrp="1" noChangeArrowheads="1"/>
          </p:cNvSpPr>
          <p:nvPr>
            <p:ph type="title"/>
          </p:nvPr>
        </p:nvSpPr>
        <p:spPr>
          <a:xfrm>
            <a:off x="762000" y="304800"/>
            <a:ext cx="7772400" cy="1219200"/>
          </a:xfrm>
        </p:spPr>
        <p:txBody>
          <a:bodyPr/>
          <a:lstStyle/>
          <a:p>
            <a:pPr eaLnBrk="1" hangingPunct="1"/>
            <a:r>
              <a:rPr lang="en-US" altLang="en-US" dirty="0"/>
              <a:t>Chapter Goals (Slide 2 of 2</a:t>
            </a:r>
            <a:r>
              <a:rPr lang="en-US" altLang="ja-JP" dirty="0"/>
              <a:t>)</a:t>
            </a:r>
            <a:endParaRPr lang="en-US" altLang="en-US" dirty="0"/>
          </a:p>
        </p:txBody>
      </p:sp>
      <p:sp>
        <p:nvSpPr>
          <p:cNvPr id="5123" name="Rectangle 9"/>
          <p:cNvSpPr>
            <a:spLocks noGrp="1" noChangeArrowheads="1"/>
          </p:cNvSpPr>
          <p:nvPr>
            <p:ph idx="1"/>
          </p:nvPr>
        </p:nvSpPr>
        <p:spPr>
          <a:xfrm>
            <a:off x="762000" y="1676400"/>
            <a:ext cx="7772400" cy="4454525"/>
          </a:xfrm>
        </p:spPr>
        <p:txBody>
          <a:bodyPr/>
          <a:lstStyle/>
          <a:p>
            <a:pPr eaLnBrk="1" hangingPunct="1"/>
            <a:r>
              <a:rPr lang="en-US" altLang="en-US"/>
              <a:t>Define medical terms using combining forms, prefixes, and suffixes that relate to pharmacology.</a:t>
            </a:r>
          </a:p>
          <a:p>
            <a:pPr eaLnBrk="1" hangingPunct="1"/>
            <a:r>
              <a:rPr lang="en-US" altLang="en-US"/>
              <a:t>Apply your new knowledge to understanding medical terms in their proper contexts, such as medical reports and records.</a:t>
            </a:r>
          </a:p>
        </p:txBody>
      </p:sp>
    </p:spTree>
    <p:extLst>
      <p:ext uri="{BB962C8B-B14F-4D97-AF65-F5344CB8AC3E}">
        <p14:creationId xmlns:p14="http://schemas.microsoft.com/office/powerpoint/2010/main" val="249885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a:xfrm>
            <a:off x="762000" y="304800"/>
            <a:ext cx="7772400" cy="1219200"/>
          </a:xfrm>
        </p:spPr>
        <p:txBody>
          <a:bodyPr rtlCol="0">
            <a:normAutofit fontScale="90000"/>
          </a:bodyPr>
          <a:lstStyle/>
          <a:p>
            <a:pPr eaLnBrk="1" fontAlgn="auto" hangingPunct="1">
              <a:spcAft>
                <a:spcPts val="0"/>
              </a:spcAft>
              <a:buClr>
                <a:srgbClr val="800080"/>
              </a:buClr>
              <a:buFont typeface="Wingdings" pitchFamily="2" charset="2"/>
              <a:buNone/>
              <a:defRPr/>
            </a:pPr>
            <a:r>
              <a:rPr lang="en-US"/>
              <a:t>Chapter 21</a:t>
            </a:r>
            <a:br>
              <a:rPr lang="en-US"/>
            </a:br>
            <a:r>
              <a:rPr lang="en-US"/>
              <a:t>Lesson 21.1</a:t>
            </a:r>
          </a:p>
        </p:txBody>
      </p:sp>
    </p:spTree>
    <p:extLst>
      <p:ext uri="{BB962C8B-B14F-4D97-AF65-F5344CB8AC3E}">
        <p14:creationId xmlns:p14="http://schemas.microsoft.com/office/powerpoint/2010/main" val="346445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
          <p:cNvSpPr>
            <a:spLocks noGrp="1" noChangeArrowheads="1"/>
          </p:cNvSpPr>
          <p:nvPr>
            <p:ph type="title"/>
          </p:nvPr>
        </p:nvSpPr>
        <p:spPr>
          <a:xfrm>
            <a:off x="762000" y="304800"/>
            <a:ext cx="7772400" cy="1219200"/>
          </a:xfrm>
        </p:spPr>
        <p:txBody>
          <a:bodyPr/>
          <a:lstStyle/>
          <a:p>
            <a:pPr eaLnBrk="1" hangingPunct="1"/>
            <a:r>
              <a:rPr lang="en-US" altLang="en-US"/>
              <a:t>Introduction</a:t>
            </a:r>
          </a:p>
        </p:txBody>
      </p:sp>
      <p:sp>
        <p:nvSpPr>
          <p:cNvPr id="7171" name="Rectangle 7"/>
          <p:cNvSpPr>
            <a:spLocks noGrp="1" noChangeArrowheads="1"/>
          </p:cNvSpPr>
          <p:nvPr>
            <p:ph idx="1"/>
          </p:nvPr>
        </p:nvSpPr>
        <p:spPr>
          <a:xfrm>
            <a:off x="762000" y="1641475"/>
            <a:ext cx="7772400" cy="4454525"/>
          </a:xfrm>
        </p:spPr>
        <p:txBody>
          <a:bodyPr/>
          <a:lstStyle/>
          <a:p>
            <a:pPr eaLnBrk="1" hangingPunct="1"/>
            <a:r>
              <a:rPr lang="en-US" altLang="en-US"/>
              <a:t>Drugs: medicines/substances used to prevent or treat a condition or disease</a:t>
            </a:r>
          </a:p>
          <a:p>
            <a:pPr eaLnBrk="1" hangingPunct="1"/>
            <a:r>
              <a:rPr lang="en-US" altLang="en-US"/>
              <a:t>Obtained from various sources:</a:t>
            </a:r>
          </a:p>
          <a:p>
            <a:pPr lvl="1" eaLnBrk="1" hangingPunct="1">
              <a:buFont typeface="Wingdings" panose="05000000000000000000" pitchFamily="2" charset="2"/>
              <a:buChar char="Ø"/>
            </a:pPr>
            <a:r>
              <a:rPr lang="en-US" altLang="en-US"/>
              <a:t>Plants: for example, digitalis</a:t>
            </a:r>
          </a:p>
          <a:p>
            <a:pPr lvl="1" eaLnBrk="1" hangingPunct="1">
              <a:buFont typeface="Wingdings" panose="05000000000000000000" pitchFamily="2" charset="2"/>
              <a:buChar char="Ø"/>
            </a:pPr>
            <a:r>
              <a:rPr lang="en-US" altLang="en-US"/>
              <a:t>Animals: for example, hormones</a:t>
            </a:r>
          </a:p>
          <a:p>
            <a:pPr lvl="1" eaLnBrk="1" hangingPunct="1">
              <a:buFont typeface="Wingdings" panose="05000000000000000000" pitchFamily="2" charset="2"/>
              <a:buChar char="Ø"/>
            </a:pPr>
            <a:r>
              <a:rPr lang="en-US" altLang="en-US"/>
              <a:t>Synthesized in lab: for example, methotrexate</a:t>
            </a:r>
          </a:p>
        </p:txBody>
      </p:sp>
    </p:spTree>
    <p:extLst>
      <p:ext uri="{BB962C8B-B14F-4D97-AF65-F5344CB8AC3E}">
        <p14:creationId xmlns:p14="http://schemas.microsoft.com/office/powerpoint/2010/main" val="3055605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
          <p:cNvSpPr>
            <a:spLocks noGrp="1" noChangeArrowheads="1"/>
          </p:cNvSpPr>
          <p:nvPr>
            <p:ph type="title"/>
          </p:nvPr>
        </p:nvSpPr>
        <p:spPr>
          <a:xfrm>
            <a:off x="762000" y="304800"/>
            <a:ext cx="7772400" cy="1219200"/>
          </a:xfrm>
        </p:spPr>
        <p:txBody>
          <a:bodyPr/>
          <a:lstStyle/>
          <a:p>
            <a:pPr eaLnBrk="1" hangingPunct="1"/>
            <a:r>
              <a:rPr lang="en-US" altLang="en-US"/>
              <a:t>Pharmacology Professionals</a:t>
            </a:r>
          </a:p>
        </p:txBody>
      </p:sp>
      <p:sp>
        <p:nvSpPr>
          <p:cNvPr id="8195" name="Rectangle 7"/>
          <p:cNvSpPr>
            <a:spLocks noGrp="1" noChangeArrowheads="1"/>
          </p:cNvSpPr>
          <p:nvPr>
            <p:ph idx="1"/>
          </p:nvPr>
        </p:nvSpPr>
        <p:spPr>
          <a:xfrm>
            <a:off x="762000" y="1447800"/>
            <a:ext cx="7772400" cy="4648200"/>
          </a:xfrm>
        </p:spPr>
        <p:txBody>
          <a:bodyPr/>
          <a:lstStyle/>
          <a:p>
            <a:pPr eaLnBrk="1" hangingPunct="1"/>
            <a:r>
              <a:rPr lang="en-US" altLang="en-US" sz="2800"/>
              <a:t>Pharmacist (PharmD)</a:t>
            </a:r>
          </a:p>
          <a:p>
            <a:pPr eaLnBrk="1" hangingPunct="1"/>
            <a:r>
              <a:rPr lang="en-US" altLang="en-US" sz="2800"/>
              <a:t>Pharmacologist (MD or PhD)</a:t>
            </a:r>
          </a:p>
          <a:p>
            <a:pPr eaLnBrk="1" hangingPunct="1"/>
            <a:r>
              <a:rPr lang="en-US" altLang="en-US" sz="2800"/>
              <a:t>Subspecialties include:</a:t>
            </a:r>
          </a:p>
          <a:p>
            <a:pPr lvl="1" eaLnBrk="1" hangingPunct="1">
              <a:buFont typeface="Wingdings" panose="05000000000000000000" pitchFamily="2" charset="2"/>
              <a:buChar char="Ø"/>
            </a:pPr>
            <a:r>
              <a:rPr lang="en-US" altLang="en-US"/>
              <a:t>Medicinal chemistry (synthesize new drugs)</a:t>
            </a:r>
          </a:p>
          <a:p>
            <a:pPr lvl="1" eaLnBrk="1" hangingPunct="1">
              <a:buFont typeface="Wingdings" panose="05000000000000000000" pitchFamily="2" charset="2"/>
              <a:buChar char="Ø"/>
            </a:pPr>
            <a:r>
              <a:rPr lang="en-US" altLang="en-US"/>
              <a:t>Molecular pharmacology (interaction of drugs and subcellular structures)</a:t>
            </a:r>
          </a:p>
          <a:p>
            <a:pPr lvl="1" eaLnBrk="1" hangingPunct="1">
              <a:buFont typeface="Wingdings" panose="05000000000000000000" pitchFamily="2" charset="2"/>
              <a:buChar char="Ø"/>
            </a:pPr>
            <a:r>
              <a:rPr lang="en-US" altLang="en-US"/>
              <a:t>Chemotherapy (drugs that destroy microorganisms, parasites, malignant cells)</a:t>
            </a:r>
          </a:p>
          <a:p>
            <a:pPr lvl="1" eaLnBrk="1" hangingPunct="1">
              <a:buFont typeface="Wingdings" panose="05000000000000000000" pitchFamily="2" charset="2"/>
              <a:buChar char="Ø"/>
            </a:pPr>
            <a:r>
              <a:rPr lang="en-US" altLang="en-US"/>
              <a:t>Toxicology (harmful effects of drugs and antidotes)</a:t>
            </a:r>
          </a:p>
        </p:txBody>
      </p:sp>
    </p:spTree>
    <p:extLst>
      <p:ext uri="{BB962C8B-B14F-4D97-AF65-F5344CB8AC3E}">
        <p14:creationId xmlns:p14="http://schemas.microsoft.com/office/powerpoint/2010/main" val="3935557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8"/>
          <p:cNvSpPr>
            <a:spLocks noGrp="1" noChangeArrowheads="1"/>
          </p:cNvSpPr>
          <p:nvPr>
            <p:ph type="title"/>
          </p:nvPr>
        </p:nvSpPr>
        <p:spPr>
          <a:xfrm>
            <a:off x="762000" y="304800"/>
            <a:ext cx="7772400" cy="1219200"/>
          </a:xfrm>
        </p:spPr>
        <p:txBody>
          <a:bodyPr/>
          <a:lstStyle/>
          <a:p>
            <a:pPr eaLnBrk="1" hangingPunct="1"/>
            <a:r>
              <a:rPr lang="en-US" altLang="en-US"/>
              <a:t>Biological Effects of Drugs</a:t>
            </a:r>
          </a:p>
        </p:txBody>
      </p:sp>
      <p:sp>
        <p:nvSpPr>
          <p:cNvPr id="9219" name="Rectangle 1029"/>
          <p:cNvSpPr>
            <a:spLocks noGrp="1" noChangeArrowheads="1"/>
          </p:cNvSpPr>
          <p:nvPr>
            <p:ph idx="1"/>
          </p:nvPr>
        </p:nvSpPr>
        <p:spPr>
          <a:xfrm>
            <a:off x="762000" y="1641475"/>
            <a:ext cx="7772400" cy="4454525"/>
          </a:xfrm>
        </p:spPr>
        <p:txBody>
          <a:bodyPr/>
          <a:lstStyle/>
          <a:p>
            <a:pPr eaLnBrk="1" hangingPunct="1"/>
            <a:r>
              <a:rPr lang="en-US" altLang="en-US" b="1"/>
              <a:t>Pharmacodynamics</a:t>
            </a:r>
            <a:r>
              <a:rPr lang="en-US" altLang="en-US"/>
              <a:t>: study of a drug’s effects in the body</a:t>
            </a:r>
          </a:p>
          <a:p>
            <a:pPr eaLnBrk="1" hangingPunct="1"/>
            <a:r>
              <a:rPr lang="en-US" altLang="en-US" b="1"/>
              <a:t>Pharmacokinetics</a:t>
            </a:r>
            <a:r>
              <a:rPr lang="en-US" altLang="en-US"/>
              <a:t>: study of a drug’s absorption, distribution into body compartments, metabolism, and excretion over a period</a:t>
            </a:r>
          </a:p>
        </p:txBody>
      </p:sp>
    </p:spTree>
    <p:extLst>
      <p:ext uri="{BB962C8B-B14F-4D97-AF65-F5344CB8AC3E}">
        <p14:creationId xmlns:p14="http://schemas.microsoft.com/office/powerpoint/2010/main" val="2272691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Grp="1" noChangeArrowheads="1"/>
          </p:cNvSpPr>
          <p:nvPr>
            <p:ph type="title"/>
          </p:nvPr>
        </p:nvSpPr>
        <p:spPr>
          <a:xfrm>
            <a:off x="762000" y="304800"/>
            <a:ext cx="7772400" cy="1219200"/>
          </a:xfrm>
        </p:spPr>
        <p:txBody>
          <a:bodyPr/>
          <a:lstStyle/>
          <a:p>
            <a:pPr eaLnBrk="1" hangingPunct="1"/>
            <a:r>
              <a:rPr lang="en-US" altLang="en-US" dirty="0"/>
              <a:t>      QUICK QUIZ (Slide 1 of 3)</a:t>
            </a:r>
          </a:p>
        </p:txBody>
      </p:sp>
      <p:sp>
        <p:nvSpPr>
          <p:cNvPr id="10243" name="Rectangle 1027"/>
          <p:cNvSpPr>
            <a:spLocks noGrp="1" noChangeArrowheads="1"/>
          </p:cNvSpPr>
          <p:nvPr>
            <p:ph idx="1"/>
          </p:nvPr>
        </p:nvSpPr>
        <p:spPr>
          <a:xfrm>
            <a:off x="762000" y="1676400"/>
            <a:ext cx="6934200" cy="3540125"/>
          </a:xfrm>
        </p:spPr>
        <p:txBody>
          <a:bodyPr>
            <a:spAutoFit/>
          </a:bodyPr>
          <a:lstStyle/>
          <a:p>
            <a:pPr marL="533400" indent="-533400" eaLnBrk="1" hangingPunct="1">
              <a:buFont typeface="Arial" panose="020B0604020202020204" pitchFamily="34" charset="0"/>
              <a:buAutoNum type="arabicPeriod"/>
            </a:pPr>
            <a:r>
              <a:rPr lang="en-US" altLang="en-US" b="1"/>
              <a:t>Which term means below the skin?</a:t>
            </a:r>
          </a:p>
          <a:p>
            <a:pPr marL="533400" indent="-533400" eaLnBrk="1" hangingPunct="1">
              <a:buFont typeface="Wingdings 2" panose="05020102010507070707" pitchFamily="18" charset="2"/>
              <a:buNone/>
            </a:pPr>
            <a:endParaRPr lang="en-US" altLang="en-US" b="1"/>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Intravenous</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Subcutaneous</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Intracavity</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Transdermal</a:t>
            </a:r>
            <a:endParaRPr lang="en-US" altLang="en-US">
              <a:ea typeface="MS PGothic" panose="020B0600070205080204" pitchFamily="34" charset="-128"/>
            </a:endParaRPr>
          </a:p>
        </p:txBody>
      </p:sp>
    </p:spTree>
    <p:extLst>
      <p:ext uri="{BB962C8B-B14F-4D97-AF65-F5344CB8AC3E}">
        <p14:creationId xmlns:p14="http://schemas.microsoft.com/office/powerpoint/2010/main" val="2962854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16"/>
          <p:cNvSpPr>
            <a:spLocks noGrp="1" noChangeArrowheads="1"/>
          </p:cNvSpPr>
          <p:nvPr>
            <p:ph type="title"/>
          </p:nvPr>
        </p:nvSpPr>
        <p:spPr>
          <a:xfrm>
            <a:off x="762000" y="304800"/>
            <a:ext cx="7772400" cy="1219200"/>
          </a:xfrm>
        </p:spPr>
        <p:txBody>
          <a:bodyPr/>
          <a:lstStyle/>
          <a:p>
            <a:pPr eaLnBrk="1" hangingPunct="1"/>
            <a:r>
              <a:rPr lang="en-US" altLang="en-US"/>
              <a:t>Drug Names, Standards, and References</a:t>
            </a:r>
          </a:p>
        </p:txBody>
      </p:sp>
      <p:sp>
        <p:nvSpPr>
          <p:cNvPr id="11268" name="Rectangle 17"/>
          <p:cNvSpPr>
            <a:spLocks noGrp="1" noChangeArrowheads="1"/>
          </p:cNvSpPr>
          <p:nvPr>
            <p:ph idx="1"/>
          </p:nvPr>
        </p:nvSpPr>
        <p:spPr>
          <a:xfrm>
            <a:off x="762000" y="1905000"/>
            <a:ext cx="7620000" cy="3657600"/>
          </a:xfrm>
        </p:spPr>
        <p:txBody>
          <a:bodyPr/>
          <a:lstStyle/>
          <a:p>
            <a:pPr eaLnBrk="1" hangingPunct="1"/>
            <a:r>
              <a:rPr lang="en-US" altLang="en-US" b="1" dirty="0"/>
              <a:t>Chemical name: </a:t>
            </a:r>
            <a:r>
              <a:rPr lang="en-US" altLang="en-US" sz="2800" dirty="0"/>
              <a:t>exact chemical makeup</a:t>
            </a:r>
          </a:p>
          <a:p>
            <a:pPr eaLnBrk="1" hangingPunct="1"/>
            <a:r>
              <a:rPr lang="en-US" altLang="en-US" b="1" dirty="0"/>
              <a:t>Generic name: </a:t>
            </a:r>
            <a:r>
              <a:rPr lang="en-US" altLang="en-US" sz="2800" dirty="0"/>
              <a:t>legal and scientific name</a:t>
            </a:r>
          </a:p>
          <a:p>
            <a:pPr eaLnBrk="1" hangingPunct="1"/>
            <a:r>
              <a:rPr lang="en-US" altLang="en-US" b="1" dirty="0"/>
              <a:t>Brand name: </a:t>
            </a:r>
            <a:r>
              <a:rPr lang="en-US" altLang="en-US" sz="2800" dirty="0"/>
              <a:t>trademark of drug manufacturer  </a:t>
            </a:r>
          </a:p>
        </p:txBody>
      </p:sp>
    </p:spTree>
    <p:extLst>
      <p:ext uri="{BB962C8B-B14F-4D97-AF65-F5344CB8AC3E}">
        <p14:creationId xmlns:p14="http://schemas.microsoft.com/office/powerpoint/2010/main" val="2705074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8"/>
          <p:cNvSpPr>
            <a:spLocks noGrp="1" noChangeArrowheads="1"/>
          </p:cNvSpPr>
          <p:nvPr>
            <p:ph type="title"/>
          </p:nvPr>
        </p:nvSpPr>
        <p:spPr>
          <a:xfrm>
            <a:off x="762000" y="304800"/>
            <a:ext cx="7772400" cy="1219200"/>
          </a:xfrm>
        </p:spPr>
        <p:txBody>
          <a:bodyPr/>
          <a:lstStyle/>
          <a:p>
            <a:pPr eaLnBrk="1" hangingPunct="1"/>
            <a:r>
              <a:rPr lang="en-US" altLang="en-US"/>
              <a:t>Drug Standards and References</a:t>
            </a:r>
          </a:p>
        </p:txBody>
      </p:sp>
      <p:sp>
        <p:nvSpPr>
          <p:cNvPr id="12291" name="Rectangle 9"/>
          <p:cNvSpPr>
            <a:spLocks noGrp="1" noChangeArrowheads="1"/>
          </p:cNvSpPr>
          <p:nvPr>
            <p:ph idx="1"/>
          </p:nvPr>
        </p:nvSpPr>
        <p:spPr>
          <a:xfrm>
            <a:off x="762000" y="1676400"/>
            <a:ext cx="6629400" cy="3505200"/>
          </a:xfrm>
        </p:spPr>
        <p:txBody>
          <a:bodyPr/>
          <a:lstStyle/>
          <a:p>
            <a:pPr eaLnBrk="1" hangingPunct="1"/>
            <a:r>
              <a:rPr lang="en-US" altLang="en-US"/>
              <a:t>Food and Drug Administration (FDA)</a:t>
            </a:r>
          </a:p>
          <a:p>
            <a:pPr eaLnBrk="1" hangingPunct="1"/>
            <a:r>
              <a:rPr lang="en-US" altLang="en-US"/>
              <a:t>United States Pharmacopeia (USP)</a:t>
            </a:r>
          </a:p>
          <a:p>
            <a:pPr eaLnBrk="1" hangingPunct="1"/>
            <a:r>
              <a:rPr lang="en-US" altLang="en-US"/>
              <a:t>Hospital Formulary</a:t>
            </a:r>
          </a:p>
          <a:p>
            <a:pPr eaLnBrk="1" hangingPunct="1"/>
            <a:r>
              <a:rPr lang="en-US" altLang="en-US" i="1"/>
              <a:t>Physicians’</a:t>
            </a:r>
            <a:r>
              <a:rPr lang="en-US" altLang="ja-JP" i="1"/>
              <a:t> Desk Reference</a:t>
            </a:r>
            <a:r>
              <a:rPr lang="en-US" altLang="ja-JP" baseline="30000"/>
              <a:t>®</a:t>
            </a:r>
            <a:r>
              <a:rPr lang="en-US" altLang="ja-JP"/>
              <a:t> (</a:t>
            </a:r>
            <a:r>
              <a:rPr lang="en-US" altLang="ja-JP" i="1"/>
              <a:t>PDR</a:t>
            </a:r>
            <a:r>
              <a:rPr lang="en-US" altLang="ja-JP" baseline="30000"/>
              <a:t>®</a:t>
            </a:r>
            <a:r>
              <a:rPr lang="en-US" altLang="ja-JP"/>
              <a:t>)</a:t>
            </a:r>
            <a:endParaRPr lang="en-US" altLang="en-US"/>
          </a:p>
        </p:txBody>
      </p:sp>
    </p:spTree>
    <p:extLst>
      <p:ext uri="{BB962C8B-B14F-4D97-AF65-F5344CB8AC3E}">
        <p14:creationId xmlns:p14="http://schemas.microsoft.com/office/powerpoint/2010/main" val="1121615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5"/>
          <p:cNvSpPr>
            <a:spLocks noGrp="1" noChangeArrowheads="1"/>
          </p:cNvSpPr>
          <p:nvPr>
            <p:ph type="title"/>
          </p:nvPr>
        </p:nvSpPr>
        <p:spPr>
          <a:xfrm>
            <a:off x="762000" y="0"/>
            <a:ext cx="7772400" cy="1219200"/>
          </a:xfrm>
        </p:spPr>
        <p:txBody>
          <a:bodyPr/>
          <a:lstStyle/>
          <a:p>
            <a:pPr eaLnBrk="1" hangingPunct="1"/>
            <a:r>
              <a:rPr lang="en-US" altLang="en-US"/>
              <a:t>Administration of Drugs</a:t>
            </a:r>
          </a:p>
        </p:txBody>
      </p:sp>
      <p:sp>
        <p:nvSpPr>
          <p:cNvPr id="9232" name="Rectangle 16"/>
          <p:cNvSpPr>
            <a:spLocks noGrp="1" noChangeArrowheads="1"/>
          </p:cNvSpPr>
          <p:nvPr>
            <p:ph idx="1"/>
          </p:nvPr>
        </p:nvSpPr>
        <p:spPr>
          <a:xfrm>
            <a:off x="762000" y="1447800"/>
            <a:ext cx="7620000" cy="4953000"/>
          </a:xfrm>
        </p:spPr>
        <p:txBody>
          <a:bodyPr rtlCol="0">
            <a:normAutofit fontScale="92500" lnSpcReduction="10000"/>
          </a:bodyPr>
          <a:lstStyle/>
          <a:p>
            <a:pPr eaLnBrk="1" fontAlgn="auto" hangingPunct="1">
              <a:lnSpc>
                <a:spcPct val="90000"/>
              </a:lnSpc>
              <a:spcAft>
                <a:spcPts val="0"/>
              </a:spcAft>
              <a:defRPr/>
            </a:pPr>
            <a:r>
              <a:rPr lang="en-US" dirty="0"/>
              <a:t>Oral</a:t>
            </a:r>
          </a:p>
          <a:p>
            <a:pPr eaLnBrk="1" fontAlgn="auto" hangingPunct="1">
              <a:lnSpc>
                <a:spcPct val="90000"/>
              </a:lnSpc>
              <a:spcAft>
                <a:spcPts val="0"/>
              </a:spcAft>
              <a:defRPr/>
            </a:pPr>
            <a:r>
              <a:rPr lang="en-US" dirty="0"/>
              <a:t>Sublingual</a:t>
            </a:r>
          </a:p>
          <a:p>
            <a:pPr eaLnBrk="1" fontAlgn="auto" hangingPunct="1">
              <a:lnSpc>
                <a:spcPct val="90000"/>
              </a:lnSpc>
              <a:spcAft>
                <a:spcPts val="0"/>
              </a:spcAft>
              <a:defRPr/>
            </a:pPr>
            <a:r>
              <a:rPr lang="en-US" dirty="0"/>
              <a:t>Rectal</a:t>
            </a:r>
          </a:p>
          <a:p>
            <a:pPr eaLnBrk="1" fontAlgn="auto" hangingPunct="1">
              <a:lnSpc>
                <a:spcPct val="90000"/>
              </a:lnSpc>
              <a:spcAft>
                <a:spcPts val="0"/>
              </a:spcAft>
              <a:defRPr/>
            </a:pPr>
            <a:r>
              <a:rPr lang="en-US" dirty="0" err="1"/>
              <a:t>Parenteral</a:t>
            </a:r>
            <a:r>
              <a:rPr lang="en-US" dirty="0"/>
              <a:t>:</a:t>
            </a:r>
          </a:p>
          <a:p>
            <a:pPr lvl="1" eaLnBrk="1" fontAlgn="auto" hangingPunct="1">
              <a:lnSpc>
                <a:spcPct val="90000"/>
              </a:lnSpc>
              <a:spcAft>
                <a:spcPts val="0"/>
              </a:spcAft>
              <a:buFont typeface="Wingdings" pitchFamily="2" charset="2"/>
              <a:buChar char="Ø"/>
              <a:defRPr/>
            </a:pPr>
            <a:r>
              <a:rPr lang="en-US" sz="2400" dirty="0" err="1"/>
              <a:t>Intracavitary</a:t>
            </a:r>
            <a:r>
              <a:rPr lang="en-US" sz="2400" dirty="0"/>
              <a:t> injection</a:t>
            </a:r>
          </a:p>
          <a:p>
            <a:pPr lvl="1" eaLnBrk="1" fontAlgn="auto" hangingPunct="1">
              <a:lnSpc>
                <a:spcPct val="90000"/>
              </a:lnSpc>
              <a:spcAft>
                <a:spcPts val="0"/>
              </a:spcAft>
              <a:buFont typeface="Wingdings" pitchFamily="2" charset="2"/>
              <a:buChar char="Ø"/>
              <a:defRPr/>
            </a:pPr>
            <a:r>
              <a:rPr lang="en-US" sz="2400" dirty="0" err="1"/>
              <a:t>Intradermal</a:t>
            </a:r>
            <a:r>
              <a:rPr lang="en-US" sz="2400" dirty="0"/>
              <a:t> injection</a:t>
            </a:r>
          </a:p>
          <a:p>
            <a:pPr lvl="1" eaLnBrk="1" fontAlgn="auto" hangingPunct="1">
              <a:lnSpc>
                <a:spcPct val="90000"/>
              </a:lnSpc>
              <a:spcAft>
                <a:spcPts val="0"/>
              </a:spcAft>
              <a:buFont typeface="Wingdings" pitchFamily="2" charset="2"/>
              <a:buChar char="Ø"/>
              <a:defRPr/>
            </a:pPr>
            <a:r>
              <a:rPr lang="en-US" sz="2400" dirty="0"/>
              <a:t>Intramuscular injection (IM)</a:t>
            </a:r>
          </a:p>
          <a:p>
            <a:pPr lvl="1" eaLnBrk="1" fontAlgn="auto" hangingPunct="1">
              <a:lnSpc>
                <a:spcPct val="90000"/>
              </a:lnSpc>
              <a:spcAft>
                <a:spcPts val="0"/>
              </a:spcAft>
              <a:buFont typeface="Wingdings" pitchFamily="2" charset="2"/>
              <a:buChar char="Ø"/>
              <a:defRPr/>
            </a:pPr>
            <a:r>
              <a:rPr lang="en-US" sz="2400" dirty="0" err="1"/>
              <a:t>Intrathecal</a:t>
            </a:r>
            <a:r>
              <a:rPr lang="en-US" sz="2400" dirty="0"/>
              <a:t> injection</a:t>
            </a:r>
          </a:p>
          <a:p>
            <a:pPr lvl="1" eaLnBrk="1" fontAlgn="auto" hangingPunct="1">
              <a:lnSpc>
                <a:spcPct val="90000"/>
              </a:lnSpc>
              <a:spcAft>
                <a:spcPts val="0"/>
              </a:spcAft>
              <a:buFont typeface="Wingdings" pitchFamily="2" charset="2"/>
              <a:buChar char="Ø"/>
              <a:defRPr/>
            </a:pPr>
            <a:r>
              <a:rPr lang="en-US" sz="2400" dirty="0"/>
              <a:t>Intravenous injection</a:t>
            </a:r>
          </a:p>
          <a:p>
            <a:pPr lvl="1" eaLnBrk="1" fontAlgn="auto" hangingPunct="1">
              <a:lnSpc>
                <a:spcPct val="90000"/>
              </a:lnSpc>
              <a:spcAft>
                <a:spcPts val="0"/>
              </a:spcAft>
              <a:buFont typeface="Wingdings" pitchFamily="2" charset="2"/>
              <a:buChar char="Ø"/>
              <a:defRPr/>
            </a:pPr>
            <a:r>
              <a:rPr lang="en-US" sz="2400" dirty="0"/>
              <a:t>Subcutaneous injection (SC)</a:t>
            </a:r>
          </a:p>
          <a:p>
            <a:pPr eaLnBrk="1" fontAlgn="auto" hangingPunct="1">
              <a:lnSpc>
                <a:spcPct val="90000"/>
              </a:lnSpc>
              <a:spcAft>
                <a:spcPts val="0"/>
              </a:spcAft>
              <a:defRPr/>
            </a:pPr>
            <a:r>
              <a:rPr lang="en-US" dirty="0"/>
              <a:t>Inhalation</a:t>
            </a:r>
          </a:p>
          <a:p>
            <a:pPr eaLnBrk="1" fontAlgn="auto" hangingPunct="1">
              <a:lnSpc>
                <a:spcPct val="90000"/>
              </a:lnSpc>
              <a:spcAft>
                <a:spcPts val="0"/>
              </a:spcAft>
              <a:defRPr/>
            </a:pPr>
            <a:r>
              <a:rPr lang="en-US" dirty="0"/>
              <a:t>Topical</a:t>
            </a:r>
          </a:p>
        </p:txBody>
      </p:sp>
    </p:spTree>
    <p:extLst>
      <p:ext uri="{BB962C8B-B14F-4D97-AF65-F5344CB8AC3E}">
        <p14:creationId xmlns:p14="http://schemas.microsoft.com/office/powerpoint/2010/main" val="1734154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8"/>
          <p:cNvSpPr>
            <a:spLocks noGrp="1" noChangeArrowheads="1"/>
          </p:cNvSpPr>
          <p:nvPr>
            <p:ph type="title"/>
          </p:nvPr>
        </p:nvSpPr>
        <p:spPr>
          <a:xfrm>
            <a:off x="762000" y="304800"/>
            <a:ext cx="7772400" cy="1219200"/>
          </a:xfrm>
        </p:spPr>
        <p:txBody>
          <a:bodyPr/>
          <a:lstStyle/>
          <a:p>
            <a:pPr eaLnBrk="1" hangingPunct="1"/>
            <a:r>
              <a:rPr lang="en-US" altLang="en-US"/>
              <a:t>Terminology of Drug Action</a:t>
            </a:r>
          </a:p>
        </p:txBody>
      </p:sp>
      <p:sp>
        <p:nvSpPr>
          <p:cNvPr id="14339" name="Rectangle 9"/>
          <p:cNvSpPr>
            <a:spLocks noGrp="1" noChangeArrowheads="1"/>
          </p:cNvSpPr>
          <p:nvPr>
            <p:ph idx="1"/>
          </p:nvPr>
        </p:nvSpPr>
        <p:spPr>
          <a:xfrm>
            <a:off x="762000" y="1717675"/>
            <a:ext cx="7772400" cy="4454525"/>
          </a:xfrm>
        </p:spPr>
        <p:txBody>
          <a:bodyPr/>
          <a:lstStyle/>
          <a:p>
            <a:pPr eaLnBrk="1" hangingPunct="1">
              <a:lnSpc>
                <a:spcPct val="90000"/>
              </a:lnSpc>
            </a:pPr>
            <a:r>
              <a:rPr lang="en-US" altLang="en-US"/>
              <a:t>Receptor: target of drug</a:t>
            </a:r>
          </a:p>
          <a:p>
            <a:pPr eaLnBrk="1" hangingPunct="1">
              <a:lnSpc>
                <a:spcPct val="90000"/>
              </a:lnSpc>
            </a:pPr>
            <a:r>
              <a:rPr lang="en-US" altLang="en-US"/>
              <a:t>Action and interaction of drugs in the body:</a:t>
            </a:r>
          </a:p>
          <a:p>
            <a:pPr lvl="1" eaLnBrk="1" hangingPunct="1">
              <a:lnSpc>
                <a:spcPct val="90000"/>
              </a:lnSpc>
              <a:buFont typeface="Wingdings" panose="05000000000000000000" pitchFamily="2" charset="2"/>
              <a:buChar char="Ø"/>
            </a:pPr>
            <a:r>
              <a:rPr lang="en-US" altLang="en-US"/>
              <a:t>Combination of two drugs</a:t>
            </a:r>
          </a:p>
          <a:p>
            <a:pPr lvl="2" eaLnBrk="1" hangingPunct="1">
              <a:lnSpc>
                <a:spcPct val="90000"/>
              </a:lnSpc>
            </a:pPr>
            <a:r>
              <a:rPr lang="en-US" altLang="en-US"/>
              <a:t>Additive action</a:t>
            </a:r>
          </a:p>
          <a:p>
            <a:pPr lvl="2" eaLnBrk="1" hangingPunct="1">
              <a:lnSpc>
                <a:spcPct val="90000"/>
              </a:lnSpc>
            </a:pPr>
            <a:r>
              <a:rPr lang="en-US" altLang="en-US"/>
              <a:t>Antagonistic </a:t>
            </a:r>
          </a:p>
          <a:p>
            <a:pPr lvl="2" eaLnBrk="1" hangingPunct="1">
              <a:lnSpc>
                <a:spcPct val="90000"/>
              </a:lnSpc>
            </a:pPr>
            <a:r>
              <a:rPr lang="en-US" altLang="en-US"/>
              <a:t>Synergistic </a:t>
            </a:r>
          </a:p>
          <a:p>
            <a:pPr eaLnBrk="1" hangingPunct="1">
              <a:lnSpc>
                <a:spcPct val="90000"/>
              </a:lnSpc>
            </a:pPr>
            <a:r>
              <a:rPr lang="en-US" altLang="en-US"/>
              <a:t>Other actions of drugs</a:t>
            </a:r>
          </a:p>
          <a:p>
            <a:pPr lvl="1" eaLnBrk="1" hangingPunct="1">
              <a:lnSpc>
                <a:spcPct val="90000"/>
              </a:lnSpc>
              <a:buFont typeface="Wingdings" panose="05000000000000000000" pitchFamily="2" charset="2"/>
              <a:buChar char="Ø"/>
            </a:pPr>
            <a:r>
              <a:rPr lang="en-US" altLang="en-US"/>
              <a:t>Tolerance</a:t>
            </a:r>
          </a:p>
          <a:p>
            <a:pPr lvl="1" eaLnBrk="1" hangingPunct="1">
              <a:lnSpc>
                <a:spcPct val="90000"/>
              </a:lnSpc>
              <a:buFont typeface="Wingdings" panose="05000000000000000000" pitchFamily="2" charset="2"/>
              <a:buChar char="Ø"/>
            </a:pPr>
            <a:r>
              <a:rPr lang="en-US" altLang="en-US"/>
              <a:t>Addiction</a:t>
            </a:r>
          </a:p>
        </p:txBody>
      </p:sp>
    </p:spTree>
    <p:extLst>
      <p:ext uri="{BB962C8B-B14F-4D97-AF65-F5344CB8AC3E}">
        <p14:creationId xmlns:p14="http://schemas.microsoft.com/office/powerpoint/2010/main" val="3685614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p:cNvSpPr>
            <a:spLocks noGrp="1" noChangeArrowheads="1"/>
          </p:cNvSpPr>
          <p:nvPr>
            <p:ph type="title"/>
          </p:nvPr>
        </p:nvSpPr>
        <p:spPr>
          <a:xfrm>
            <a:off x="609600" y="228600"/>
            <a:ext cx="7772400" cy="1219200"/>
          </a:xfrm>
        </p:spPr>
        <p:txBody>
          <a:bodyPr/>
          <a:lstStyle/>
          <a:p>
            <a:pPr eaLnBrk="1" hangingPunct="1"/>
            <a:r>
              <a:rPr lang="en-US" altLang="en-US" dirty="0"/>
              <a:t>      QUICK QUIZ (Slide 2 of 3)</a:t>
            </a:r>
            <a:endParaRPr lang="en-US" altLang="en-US" sz="4800" dirty="0"/>
          </a:p>
        </p:txBody>
      </p:sp>
      <p:sp>
        <p:nvSpPr>
          <p:cNvPr id="15363" name="Rectangle 1027"/>
          <p:cNvSpPr>
            <a:spLocks noGrp="1" noChangeArrowheads="1"/>
          </p:cNvSpPr>
          <p:nvPr>
            <p:ph idx="1"/>
          </p:nvPr>
        </p:nvSpPr>
        <p:spPr>
          <a:xfrm>
            <a:off x="762000" y="1676400"/>
            <a:ext cx="6934200" cy="4524375"/>
          </a:xfrm>
        </p:spPr>
        <p:txBody>
          <a:bodyPr>
            <a:spAutoFit/>
          </a:bodyPr>
          <a:lstStyle/>
          <a:p>
            <a:pPr marL="533400" indent="-533400" eaLnBrk="1" hangingPunct="1">
              <a:buFont typeface="Arial" charset="0"/>
              <a:buAutoNum type="arabicPeriod" startAt="2"/>
              <a:defRPr/>
            </a:pPr>
            <a:r>
              <a:rPr lang="en-US" b="1" dirty="0"/>
              <a:t>Means that the combination of two drugs is greater than the total effects of each drug by itself:</a:t>
            </a:r>
          </a:p>
          <a:p>
            <a:pPr marL="0" indent="0" eaLnBrk="1" hangingPunct="1">
              <a:buFont typeface="Arial" charset="0"/>
              <a:buNone/>
              <a:defRPr/>
            </a:pPr>
            <a:endParaRPr lang="en-US" b="1" dirty="0"/>
          </a:p>
          <a:p>
            <a:pPr marL="914400" lvl="1" indent="-457200" eaLnBrk="1" hangingPunct="1">
              <a:buFont typeface="Arial" charset="0"/>
              <a:buAutoNum type="alphaUcPeriod"/>
              <a:defRPr/>
            </a:pPr>
            <a:r>
              <a:rPr lang="en-US" sz="3200" dirty="0">
                <a:ea typeface="MS PGothic" pitchFamily="34" charset="-128"/>
              </a:rPr>
              <a:t>synergism (potentiation)</a:t>
            </a:r>
          </a:p>
          <a:p>
            <a:pPr marL="914400" lvl="1" indent="-457200" eaLnBrk="1" hangingPunct="1">
              <a:buFont typeface="Arial" charset="0"/>
              <a:buAutoNum type="alphaUcPeriod"/>
              <a:defRPr/>
            </a:pPr>
            <a:r>
              <a:rPr lang="en-US" sz="3200" dirty="0">
                <a:ea typeface="MS PGothic" pitchFamily="34" charset="-128"/>
              </a:rPr>
              <a:t>tolerance</a:t>
            </a:r>
          </a:p>
          <a:p>
            <a:pPr marL="914400" lvl="1" indent="-457200" eaLnBrk="1" hangingPunct="1">
              <a:buFont typeface="Arial" charset="0"/>
              <a:buAutoNum type="alphaUcPeriod"/>
              <a:defRPr/>
            </a:pPr>
            <a:r>
              <a:rPr lang="en-US" sz="3200" dirty="0">
                <a:ea typeface="MS PGothic" pitchFamily="34" charset="-128"/>
              </a:rPr>
              <a:t>additive action</a:t>
            </a:r>
          </a:p>
          <a:p>
            <a:pPr marL="914400" lvl="1" indent="-457200" eaLnBrk="1" hangingPunct="1">
              <a:buFont typeface="Arial" charset="0"/>
              <a:buAutoNum type="alphaUcPeriod"/>
              <a:defRPr/>
            </a:pPr>
            <a:r>
              <a:rPr lang="en-US" sz="3200" dirty="0">
                <a:ea typeface="MS PGothic" pitchFamily="34" charset="-128"/>
              </a:rPr>
              <a:t>idiosyncrasy</a:t>
            </a:r>
            <a:endParaRPr lang="en-US" dirty="0">
              <a:ea typeface="MS PGothic" pitchFamily="34" charset="-128"/>
            </a:endParaRPr>
          </a:p>
        </p:txBody>
      </p:sp>
    </p:spTree>
    <p:extLst>
      <p:ext uri="{BB962C8B-B14F-4D97-AF65-F5344CB8AC3E}">
        <p14:creationId xmlns:p14="http://schemas.microsoft.com/office/powerpoint/2010/main" val="4112829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6"/>
          <p:cNvSpPr>
            <a:spLocks noGrp="1" noChangeArrowheads="1"/>
          </p:cNvSpPr>
          <p:nvPr>
            <p:ph type="title"/>
          </p:nvPr>
        </p:nvSpPr>
        <p:spPr>
          <a:xfrm>
            <a:off x="762000" y="304800"/>
            <a:ext cx="7772400" cy="1219200"/>
          </a:xfrm>
        </p:spPr>
        <p:txBody>
          <a:bodyPr/>
          <a:lstStyle/>
          <a:p>
            <a:pPr eaLnBrk="1" hangingPunct="1"/>
            <a:r>
              <a:rPr lang="en-US" altLang="en-US"/>
              <a:t>Drug Toxicity</a:t>
            </a:r>
          </a:p>
        </p:txBody>
      </p:sp>
      <p:sp>
        <p:nvSpPr>
          <p:cNvPr id="11271" name="Rectangle 7"/>
          <p:cNvSpPr>
            <a:spLocks noGrp="1" noChangeArrowheads="1"/>
          </p:cNvSpPr>
          <p:nvPr>
            <p:ph idx="1"/>
          </p:nvPr>
        </p:nvSpPr>
        <p:spPr>
          <a:xfrm>
            <a:off x="762000" y="1641475"/>
            <a:ext cx="7772400" cy="4454525"/>
          </a:xfrm>
        </p:spPr>
        <p:txBody>
          <a:bodyPr rtlCol="0">
            <a:normAutofit fontScale="92500" lnSpcReduction="10000"/>
          </a:bodyPr>
          <a:lstStyle/>
          <a:p>
            <a:pPr eaLnBrk="1" fontAlgn="auto" hangingPunct="1">
              <a:lnSpc>
                <a:spcPct val="90000"/>
              </a:lnSpc>
              <a:spcAft>
                <a:spcPts val="0"/>
              </a:spcAft>
              <a:defRPr/>
            </a:pPr>
            <a:r>
              <a:rPr lang="en-US"/>
              <a:t>Unwanted and potentially dangerous effects of drugs</a:t>
            </a:r>
          </a:p>
          <a:p>
            <a:pPr eaLnBrk="1" fontAlgn="auto" hangingPunct="1">
              <a:lnSpc>
                <a:spcPct val="90000"/>
              </a:lnSpc>
              <a:spcAft>
                <a:spcPts val="0"/>
              </a:spcAft>
              <a:defRPr/>
            </a:pPr>
            <a:r>
              <a:rPr lang="en-US"/>
              <a:t>Idiosyncrasy (unexpected and uncommon; e.g., anaphylaxis)</a:t>
            </a:r>
          </a:p>
          <a:p>
            <a:pPr eaLnBrk="1" fontAlgn="auto" hangingPunct="1">
              <a:lnSpc>
                <a:spcPct val="90000"/>
              </a:lnSpc>
              <a:spcAft>
                <a:spcPts val="0"/>
              </a:spcAft>
              <a:defRPr/>
            </a:pPr>
            <a:r>
              <a:rPr lang="en-US"/>
              <a:t>Iatrogenic (produced by treatment)</a:t>
            </a:r>
          </a:p>
          <a:p>
            <a:pPr eaLnBrk="1" fontAlgn="auto" hangingPunct="1">
              <a:lnSpc>
                <a:spcPct val="90000"/>
              </a:lnSpc>
              <a:spcAft>
                <a:spcPts val="0"/>
              </a:spcAft>
              <a:defRPr/>
            </a:pPr>
            <a:r>
              <a:rPr lang="en-US"/>
              <a:t>Side effects (routine, often tolerable, reversible when drug is discontinued)</a:t>
            </a:r>
          </a:p>
          <a:p>
            <a:pPr eaLnBrk="1" fontAlgn="auto" hangingPunct="1">
              <a:lnSpc>
                <a:spcPct val="90000"/>
              </a:lnSpc>
              <a:spcAft>
                <a:spcPts val="0"/>
              </a:spcAft>
              <a:defRPr/>
            </a:pPr>
            <a:r>
              <a:rPr lang="en-US"/>
              <a:t>Contraindications (dangerous and ill-advised use)</a:t>
            </a:r>
          </a:p>
          <a:p>
            <a:pPr eaLnBrk="1" fontAlgn="auto" hangingPunct="1">
              <a:lnSpc>
                <a:spcPct val="90000"/>
              </a:lnSpc>
              <a:spcAft>
                <a:spcPts val="0"/>
              </a:spcAft>
              <a:defRPr/>
            </a:pPr>
            <a:r>
              <a:rPr lang="en-US"/>
              <a:t>Resistance (lack of beneficial response)</a:t>
            </a:r>
          </a:p>
        </p:txBody>
      </p:sp>
    </p:spTree>
    <p:extLst>
      <p:ext uri="{BB962C8B-B14F-4D97-AF65-F5344CB8AC3E}">
        <p14:creationId xmlns:p14="http://schemas.microsoft.com/office/powerpoint/2010/main" val="2389751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6"/>
          <p:cNvSpPr>
            <a:spLocks noGrp="1" noChangeArrowheads="1"/>
          </p:cNvSpPr>
          <p:nvPr>
            <p:ph type="title"/>
          </p:nvPr>
        </p:nvSpPr>
        <p:spPr>
          <a:xfrm>
            <a:off x="762000" y="304800"/>
            <a:ext cx="7772400" cy="1219200"/>
          </a:xfrm>
        </p:spPr>
        <p:txBody>
          <a:bodyPr rtlCol="0">
            <a:normAutofit fontScale="90000"/>
          </a:bodyPr>
          <a:lstStyle/>
          <a:p>
            <a:pPr eaLnBrk="1" fontAlgn="auto" hangingPunct="1">
              <a:spcAft>
                <a:spcPts val="0"/>
              </a:spcAft>
              <a:buClr>
                <a:srgbClr val="800080"/>
              </a:buClr>
              <a:buFont typeface="Wingdings" pitchFamily="2" charset="2"/>
              <a:buNone/>
              <a:defRPr/>
            </a:pPr>
            <a:r>
              <a:rPr lang="en-US"/>
              <a:t>Chapter 21</a:t>
            </a:r>
            <a:br>
              <a:rPr lang="en-US"/>
            </a:br>
            <a:r>
              <a:rPr lang="en-US"/>
              <a:t>Lesson 21.2</a:t>
            </a:r>
          </a:p>
        </p:txBody>
      </p:sp>
    </p:spTree>
    <p:extLst>
      <p:ext uri="{BB962C8B-B14F-4D97-AF65-F5344CB8AC3E}">
        <p14:creationId xmlns:p14="http://schemas.microsoft.com/office/powerpoint/2010/main" val="2525818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8"/>
          <p:cNvSpPr>
            <a:spLocks noGrp="1" noChangeArrowheads="1"/>
          </p:cNvSpPr>
          <p:nvPr>
            <p:ph type="title"/>
          </p:nvPr>
        </p:nvSpPr>
        <p:spPr>
          <a:xfrm>
            <a:off x="762000" y="304800"/>
            <a:ext cx="7772400" cy="1219200"/>
          </a:xfrm>
        </p:spPr>
        <p:txBody>
          <a:bodyPr/>
          <a:lstStyle/>
          <a:p>
            <a:pPr eaLnBrk="1" hangingPunct="1"/>
            <a:r>
              <a:rPr lang="en-US" altLang="en-US"/>
              <a:t>Classes of Drugs</a:t>
            </a:r>
          </a:p>
        </p:txBody>
      </p:sp>
      <p:sp>
        <p:nvSpPr>
          <p:cNvPr id="18435" name="Rectangle 9"/>
          <p:cNvSpPr>
            <a:spLocks noGrp="1" noChangeArrowheads="1"/>
          </p:cNvSpPr>
          <p:nvPr>
            <p:ph sz="half" idx="1"/>
          </p:nvPr>
        </p:nvSpPr>
        <p:spPr>
          <a:xfrm>
            <a:off x="774700" y="1641475"/>
            <a:ext cx="3797300" cy="4454525"/>
          </a:xfrm>
        </p:spPr>
        <p:txBody>
          <a:bodyPr/>
          <a:lstStyle/>
          <a:p>
            <a:pPr eaLnBrk="1" hangingPunct="1"/>
            <a:r>
              <a:rPr lang="en-US" altLang="en-US"/>
              <a:t>Analgesics</a:t>
            </a:r>
          </a:p>
          <a:p>
            <a:pPr eaLnBrk="1" hangingPunct="1"/>
            <a:r>
              <a:rPr lang="en-US" altLang="en-US"/>
              <a:t>Anesthetics</a:t>
            </a:r>
          </a:p>
          <a:p>
            <a:pPr eaLnBrk="1" hangingPunct="1"/>
            <a:r>
              <a:rPr lang="en-US" altLang="en-US"/>
              <a:t>Antibiotics and antivirals</a:t>
            </a:r>
          </a:p>
          <a:p>
            <a:pPr eaLnBrk="1" hangingPunct="1"/>
            <a:r>
              <a:rPr lang="en-US" altLang="en-US"/>
              <a:t>Anticoagulants</a:t>
            </a:r>
          </a:p>
          <a:p>
            <a:pPr eaLnBrk="1" hangingPunct="1"/>
            <a:r>
              <a:rPr lang="en-US" altLang="en-US"/>
              <a:t>Anticonvulsants</a:t>
            </a:r>
          </a:p>
          <a:p>
            <a:pPr eaLnBrk="1" hangingPunct="1"/>
            <a:r>
              <a:rPr lang="en-US" altLang="en-US"/>
              <a:t>Antidepressants</a:t>
            </a:r>
          </a:p>
          <a:p>
            <a:pPr eaLnBrk="1" hangingPunct="1"/>
            <a:r>
              <a:rPr lang="en-US" altLang="en-US"/>
              <a:t>Antidiabetics</a:t>
            </a:r>
          </a:p>
          <a:p>
            <a:pPr eaLnBrk="1" hangingPunct="1"/>
            <a:r>
              <a:rPr lang="en-US" altLang="en-US"/>
              <a:t>Antihistamines</a:t>
            </a:r>
          </a:p>
        </p:txBody>
      </p:sp>
      <p:sp>
        <p:nvSpPr>
          <p:cNvPr id="18436" name="Rectangle 10"/>
          <p:cNvSpPr>
            <a:spLocks noGrp="1" noChangeArrowheads="1"/>
          </p:cNvSpPr>
          <p:nvPr>
            <p:ph sz="half" idx="2"/>
          </p:nvPr>
        </p:nvSpPr>
        <p:spPr>
          <a:xfrm>
            <a:off x="4813300" y="1641475"/>
            <a:ext cx="3797300" cy="4454525"/>
          </a:xfrm>
        </p:spPr>
        <p:txBody>
          <a:bodyPr/>
          <a:lstStyle/>
          <a:p>
            <a:pPr eaLnBrk="1" hangingPunct="1"/>
            <a:r>
              <a:rPr lang="en-US" altLang="en-US"/>
              <a:t>Antiosteoporosis</a:t>
            </a:r>
          </a:p>
          <a:p>
            <a:pPr eaLnBrk="1" hangingPunct="1"/>
            <a:r>
              <a:rPr lang="en-US" altLang="en-US"/>
              <a:t>Cardiovascular</a:t>
            </a:r>
          </a:p>
          <a:p>
            <a:pPr eaLnBrk="1" hangingPunct="1"/>
            <a:r>
              <a:rPr lang="en-US" altLang="en-US"/>
              <a:t>Endocrine</a:t>
            </a:r>
          </a:p>
          <a:p>
            <a:pPr eaLnBrk="1" hangingPunct="1"/>
            <a:r>
              <a:rPr lang="en-US" altLang="en-US"/>
              <a:t>Gastrointestinal</a:t>
            </a:r>
          </a:p>
          <a:p>
            <a:pPr eaLnBrk="1" hangingPunct="1"/>
            <a:r>
              <a:rPr lang="en-US" altLang="en-US"/>
              <a:t>Respiratory</a:t>
            </a:r>
          </a:p>
          <a:p>
            <a:pPr eaLnBrk="1" hangingPunct="1"/>
            <a:r>
              <a:rPr lang="en-US" altLang="en-US"/>
              <a:t>Sedative-hypnotics</a:t>
            </a:r>
          </a:p>
          <a:p>
            <a:pPr eaLnBrk="1" hangingPunct="1"/>
            <a:r>
              <a:rPr lang="en-US" altLang="en-US"/>
              <a:t>Stimulants</a:t>
            </a:r>
          </a:p>
          <a:p>
            <a:pPr eaLnBrk="1" hangingPunct="1"/>
            <a:r>
              <a:rPr lang="en-US" altLang="en-US"/>
              <a:t>Tranquilizers</a:t>
            </a:r>
          </a:p>
        </p:txBody>
      </p:sp>
    </p:spTree>
    <p:extLst>
      <p:ext uri="{BB962C8B-B14F-4D97-AF65-F5344CB8AC3E}">
        <p14:creationId xmlns:p14="http://schemas.microsoft.com/office/powerpoint/2010/main" val="1510947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title"/>
          </p:nvPr>
        </p:nvSpPr>
        <p:spPr>
          <a:xfrm>
            <a:off x="762000" y="304800"/>
            <a:ext cx="7772400" cy="1219200"/>
          </a:xfrm>
        </p:spPr>
        <p:txBody>
          <a:bodyPr/>
          <a:lstStyle/>
          <a:p>
            <a:pPr eaLnBrk="1" hangingPunct="1"/>
            <a:r>
              <a:rPr lang="en-US" altLang="en-US"/>
              <a:t>Cardiovascular Drugs</a:t>
            </a:r>
          </a:p>
        </p:txBody>
      </p:sp>
      <p:sp>
        <p:nvSpPr>
          <p:cNvPr id="19459" name="Rectangle 8"/>
          <p:cNvSpPr>
            <a:spLocks noGrp="1" noChangeArrowheads="1"/>
          </p:cNvSpPr>
          <p:nvPr>
            <p:ph idx="1"/>
          </p:nvPr>
        </p:nvSpPr>
        <p:spPr>
          <a:xfrm>
            <a:off x="762000" y="1717675"/>
            <a:ext cx="7772400" cy="4454525"/>
          </a:xfrm>
        </p:spPr>
        <p:txBody>
          <a:bodyPr/>
          <a:lstStyle/>
          <a:p>
            <a:pPr eaLnBrk="1" hangingPunct="1">
              <a:lnSpc>
                <a:spcPct val="90000"/>
              </a:lnSpc>
            </a:pPr>
            <a:r>
              <a:rPr lang="en-US" altLang="en-US" sz="2800"/>
              <a:t>Angiotensin-converting enzyme (ACE) inhibitors</a:t>
            </a:r>
          </a:p>
          <a:p>
            <a:pPr eaLnBrk="1" hangingPunct="1">
              <a:lnSpc>
                <a:spcPct val="90000"/>
              </a:lnSpc>
            </a:pPr>
            <a:r>
              <a:rPr lang="en-US" altLang="en-US" sz="2800"/>
              <a:t>Angiotensin II receptor antagonists</a:t>
            </a:r>
          </a:p>
          <a:p>
            <a:pPr eaLnBrk="1" hangingPunct="1">
              <a:lnSpc>
                <a:spcPct val="90000"/>
              </a:lnSpc>
            </a:pPr>
            <a:r>
              <a:rPr lang="en-US" altLang="en-US" sz="2800"/>
              <a:t>Antiarrhythmics</a:t>
            </a:r>
          </a:p>
          <a:p>
            <a:pPr eaLnBrk="1" hangingPunct="1">
              <a:lnSpc>
                <a:spcPct val="90000"/>
              </a:lnSpc>
            </a:pPr>
            <a:r>
              <a:rPr lang="en-US" altLang="en-US" sz="2800"/>
              <a:t>Beta-blockers</a:t>
            </a:r>
          </a:p>
          <a:p>
            <a:pPr eaLnBrk="1" hangingPunct="1">
              <a:lnSpc>
                <a:spcPct val="90000"/>
              </a:lnSpc>
            </a:pPr>
            <a:r>
              <a:rPr lang="en-US" altLang="en-US" sz="2800"/>
              <a:t>Calcium antagonists or calcium channel blockers</a:t>
            </a:r>
          </a:p>
          <a:p>
            <a:pPr eaLnBrk="1" hangingPunct="1">
              <a:lnSpc>
                <a:spcPct val="90000"/>
              </a:lnSpc>
            </a:pPr>
            <a:r>
              <a:rPr lang="en-US" altLang="en-US" sz="2800"/>
              <a:t>Cholesterol-lowering drugs</a:t>
            </a:r>
          </a:p>
          <a:p>
            <a:pPr eaLnBrk="1" hangingPunct="1">
              <a:lnSpc>
                <a:spcPct val="90000"/>
              </a:lnSpc>
            </a:pPr>
            <a:r>
              <a:rPr lang="en-US" altLang="en-US" sz="2800"/>
              <a:t>Diuretics</a:t>
            </a:r>
          </a:p>
          <a:p>
            <a:pPr eaLnBrk="1" hangingPunct="1">
              <a:lnSpc>
                <a:spcPct val="90000"/>
              </a:lnSpc>
            </a:pPr>
            <a:endParaRPr lang="en-US" altLang="en-US" sz="2400"/>
          </a:p>
        </p:txBody>
      </p:sp>
    </p:spTree>
    <p:extLst>
      <p:ext uri="{BB962C8B-B14F-4D97-AF65-F5344CB8AC3E}">
        <p14:creationId xmlns:p14="http://schemas.microsoft.com/office/powerpoint/2010/main" val="3987523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title"/>
          </p:nvPr>
        </p:nvSpPr>
        <p:spPr>
          <a:xfrm>
            <a:off x="762000" y="304800"/>
            <a:ext cx="7772400" cy="1219200"/>
          </a:xfrm>
        </p:spPr>
        <p:txBody>
          <a:bodyPr/>
          <a:lstStyle/>
          <a:p>
            <a:pPr eaLnBrk="1" hangingPunct="1"/>
            <a:r>
              <a:rPr lang="en-US" altLang="en-US"/>
              <a:t>Endocrine Drugs</a:t>
            </a:r>
          </a:p>
        </p:txBody>
      </p:sp>
      <p:sp>
        <p:nvSpPr>
          <p:cNvPr id="20483" name="Rectangle 5"/>
          <p:cNvSpPr>
            <a:spLocks noGrp="1" noChangeArrowheads="1"/>
          </p:cNvSpPr>
          <p:nvPr>
            <p:ph idx="1"/>
          </p:nvPr>
        </p:nvSpPr>
        <p:spPr>
          <a:xfrm>
            <a:off x="762000" y="1641475"/>
            <a:ext cx="7772400" cy="4454525"/>
          </a:xfrm>
        </p:spPr>
        <p:txBody>
          <a:bodyPr/>
          <a:lstStyle/>
          <a:p>
            <a:pPr eaLnBrk="1" hangingPunct="1"/>
            <a:r>
              <a:rPr lang="en-US" altLang="en-US" sz="2800"/>
              <a:t>Androgens</a:t>
            </a:r>
          </a:p>
          <a:p>
            <a:pPr eaLnBrk="1" hangingPunct="1"/>
            <a:r>
              <a:rPr lang="en-US" altLang="en-US" sz="2800"/>
              <a:t>Antiandrogens</a:t>
            </a:r>
          </a:p>
          <a:p>
            <a:pPr eaLnBrk="1" hangingPunct="1"/>
            <a:r>
              <a:rPr lang="en-US" altLang="en-US" sz="2800"/>
              <a:t>Estrogens</a:t>
            </a:r>
          </a:p>
          <a:p>
            <a:pPr eaLnBrk="1" hangingPunct="1"/>
            <a:r>
              <a:rPr lang="en-US" altLang="en-US" sz="2800"/>
              <a:t>Antiestrogen</a:t>
            </a:r>
          </a:p>
          <a:p>
            <a:pPr eaLnBrk="1" hangingPunct="1"/>
            <a:r>
              <a:rPr lang="en-US" altLang="en-US" sz="2800"/>
              <a:t>Selective estrogen receptor modulator (SERM)</a:t>
            </a:r>
          </a:p>
          <a:p>
            <a:pPr eaLnBrk="1" hangingPunct="1"/>
            <a:r>
              <a:rPr lang="en-US" altLang="en-US" sz="2800"/>
              <a:t>Progestins</a:t>
            </a:r>
          </a:p>
          <a:p>
            <a:pPr eaLnBrk="1" hangingPunct="1"/>
            <a:r>
              <a:rPr lang="en-US" altLang="en-US" sz="2800"/>
              <a:t>Thyroid hormone</a:t>
            </a:r>
          </a:p>
          <a:p>
            <a:pPr eaLnBrk="1" hangingPunct="1"/>
            <a:r>
              <a:rPr lang="en-US" altLang="en-US" sz="2800"/>
              <a:t>Glucocorticoids</a:t>
            </a:r>
          </a:p>
        </p:txBody>
      </p:sp>
    </p:spTree>
    <p:extLst>
      <p:ext uri="{BB962C8B-B14F-4D97-AF65-F5344CB8AC3E}">
        <p14:creationId xmlns:p14="http://schemas.microsoft.com/office/powerpoint/2010/main" val="2644647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title"/>
          </p:nvPr>
        </p:nvSpPr>
        <p:spPr>
          <a:xfrm>
            <a:off x="762000" y="304800"/>
            <a:ext cx="7772400" cy="1219200"/>
          </a:xfrm>
        </p:spPr>
        <p:txBody>
          <a:bodyPr/>
          <a:lstStyle/>
          <a:p>
            <a:pPr eaLnBrk="1" hangingPunct="1"/>
            <a:r>
              <a:rPr lang="en-US" altLang="en-US"/>
              <a:t>Gastrointestinal Drugs</a:t>
            </a:r>
          </a:p>
        </p:txBody>
      </p:sp>
      <p:sp>
        <p:nvSpPr>
          <p:cNvPr id="21507" name="Rectangle 5"/>
          <p:cNvSpPr>
            <a:spLocks noGrp="1" noChangeArrowheads="1"/>
          </p:cNvSpPr>
          <p:nvPr>
            <p:ph idx="1"/>
          </p:nvPr>
        </p:nvSpPr>
        <p:spPr>
          <a:xfrm>
            <a:off x="762000" y="1717675"/>
            <a:ext cx="7772400" cy="4454525"/>
          </a:xfrm>
        </p:spPr>
        <p:txBody>
          <a:bodyPr/>
          <a:lstStyle/>
          <a:p>
            <a:pPr eaLnBrk="1" hangingPunct="1"/>
            <a:r>
              <a:rPr lang="en-US" altLang="en-US"/>
              <a:t>Antacids</a:t>
            </a:r>
          </a:p>
          <a:p>
            <a:pPr eaLnBrk="1" hangingPunct="1"/>
            <a:r>
              <a:rPr lang="en-US" altLang="en-US"/>
              <a:t>Antiulcer (e.g., histamine receptor blockers)</a:t>
            </a:r>
          </a:p>
          <a:p>
            <a:pPr eaLnBrk="1" hangingPunct="1"/>
            <a:r>
              <a:rPr lang="en-US" altLang="en-US"/>
              <a:t>Antidiarrheal</a:t>
            </a:r>
          </a:p>
          <a:p>
            <a:pPr eaLnBrk="1" hangingPunct="1"/>
            <a:r>
              <a:rPr lang="en-US" altLang="en-US"/>
              <a:t>Cathartics (laxatives or purgatives)</a:t>
            </a:r>
          </a:p>
          <a:p>
            <a:pPr eaLnBrk="1" hangingPunct="1"/>
            <a:r>
              <a:rPr lang="en-US" altLang="en-US"/>
              <a:t>Antinauseants (antiemetics)</a:t>
            </a:r>
          </a:p>
          <a:p>
            <a:pPr eaLnBrk="1" hangingPunct="1"/>
            <a:endParaRPr lang="en-US" altLang="en-US"/>
          </a:p>
        </p:txBody>
      </p:sp>
    </p:spTree>
    <p:extLst>
      <p:ext uri="{BB962C8B-B14F-4D97-AF65-F5344CB8AC3E}">
        <p14:creationId xmlns:p14="http://schemas.microsoft.com/office/powerpoint/2010/main" val="1403579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Vocabulary (Slide 1 of 11)</a:t>
            </a:r>
          </a:p>
        </p:txBody>
      </p:sp>
      <p:graphicFrame>
        <p:nvGraphicFramePr>
          <p:cNvPr id="7" name="Content Placeholder 6" descr="Group 1 of 11.  List of vocabulary terms  with corresponding meanings or definitions."/>
          <p:cNvGraphicFramePr>
            <a:graphicFrameLocks noGrp="1"/>
          </p:cNvGraphicFramePr>
          <p:nvPr>
            <p:ph idx="1"/>
            <p:extLst>
              <p:ext uri="{D42A27DB-BD31-4B8C-83A1-F6EECF244321}">
                <p14:modId xmlns:p14="http://schemas.microsoft.com/office/powerpoint/2010/main" val="2628395916"/>
              </p:ext>
            </p:extLst>
          </p:nvPr>
        </p:nvGraphicFramePr>
        <p:xfrm>
          <a:off x="457200" y="1600200"/>
          <a:ext cx="8229600" cy="41148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addiction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Physical and psychological dependence on and craving for a drug</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additive action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Drug action in which the combination of two similar drugs in equal to the sum of the effects of each</a:t>
                      </a:r>
                    </a:p>
                  </a:txBody>
                  <a:tcPr/>
                </a:tc>
                <a:extLst>
                  <a:ext uri="{0D108BD9-81ED-4DB2-BD59-A6C34878D82A}">
                    <a16:rowId xmlns:a16="http://schemas.microsoft.com/office/drawing/2014/main" val="10002"/>
                  </a:ext>
                </a:extLst>
              </a:tr>
              <a:tr h="370840">
                <a:tc>
                  <a:txBody>
                    <a:bodyPr/>
                    <a:lstStyle/>
                    <a:p>
                      <a:r>
                        <a:rPr lang="en-US" altLang="en-US" sz="2400" dirty="0"/>
                        <a:t>aerosol</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Particles of drug suspended in air</a:t>
                      </a:r>
                    </a:p>
                  </a:txBody>
                  <a:tcPr/>
                </a:tc>
                <a:extLst>
                  <a:ext uri="{0D108BD9-81ED-4DB2-BD59-A6C34878D82A}">
                    <a16:rowId xmlns:a16="http://schemas.microsoft.com/office/drawing/2014/main" val="10003"/>
                  </a:ext>
                </a:extLst>
              </a:tr>
              <a:tr h="370840">
                <a:tc>
                  <a:txBody>
                    <a:bodyPr/>
                    <a:lstStyle/>
                    <a:p>
                      <a:r>
                        <a:rPr lang="en-US" altLang="en-US" sz="2400" dirty="0"/>
                        <a:t>anaphylaxis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Exaggerated hypersensitivity reaction to a previously encountered drug or foreign protein</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99680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Vocabulary (Slide 2 of 11)</a:t>
            </a:r>
          </a:p>
        </p:txBody>
      </p:sp>
      <p:graphicFrame>
        <p:nvGraphicFramePr>
          <p:cNvPr id="7" name="Content Placeholder 6" descr="Group 2 of 11.  List of vocabulary terms  with corresponding meanings or definitions."/>
          <p:cNvGraphicFramePr>
            <a:graphicFrameLocks noGrp="1"/>
          </p:cNvGraphicFramePr>
          <p:nvPr>
            <p:ph idx="1"/>
            <p:extLst>
              <p:ext uri="{D42A27DB-BD31-4B8C-83A1-F6EECF244321}">
                <p14:modId xmlns:p14="http://schemas.microsoft.com/office/powerpoint/2010/main" val="3880222186"/>
              </p:ext>
            </p:extLst>
          </p:nvPr>
        </p:nvGraphicFramePr>
        <p:xfrm>
          <a:off x="457200" y="1600200"/>
          <a:ext cx="8229600" cy="338328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antagonistic action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Combination of two drugs gives less than an additive effect</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antidote</a:t>
                      </a:r>
                    </a:p>
                  </a:txBody>
                  <a:tcPr/>
                </a:tc>
                <a:tc>
                  <a:txBody>
                    <a:bodyPr/>
                    <a:lstStyle/>
                    <a:p>
                      <a:pPr marL="0" indent="0" eaLnBrk="1" hangingPunct="1">
                        <a:buFont typeface="Wingdings 2" panose="05020102010507070707" pitchFamily="18" charset="2"/>
                        <a:buNone/>
                      </a:pPr>
                      <a:r>
                        <a:rPr lang="en-US" altLang="en-US" sz="2400" dirty="0"/>
                        <a:t>Agent given to counteract an unwanted effect of a drug</a:t>
                      </a:r>
                    </a:p>
                  </a:txBody>
                  <a:tcPr/>
                </a:tc>
                <a:extLst>
                  <a:ext uri="{0D108BD9-81ED-4DB2-BD59-A6C34878D82A}">
                    <a16:rowId xmlns:a16="http://schemas.microsoft.com/office/drawing/2014/main" val="10002"/>
                  </a:ext>
                </a:extLst>
              </a:tr>
              <a:tr h="370840">
                <a:tc>
                  <a:txBody>
                    <a:bodyPr/>
                    <a:lstStyle/>
                    <a:p>
                      <a:pPr eaLnBrk="1" hangingPunct="1"/>
                      <a:r>
                        <a:rPr lang="en-US" altLang="en-US" sz="2400" dirty="0"/>
                        <a:t>brand name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Commercial name for a drug; trademark or trade name</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chemical name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Chemical formula for a drug</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61931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Vocabulary (Slide 3 of 11)</a:t>
            </a:r>
          </a:p>
        </p:txBody>
      </p:sp>
      <p:graphicFrame>
        <p:nvGraphicFramePr>
          <p:cNvPr id="7" name="Content Placeholder 6" descr="Group 3 of 11.  List of vocabulary terms  with corresponding meanings or definitions."/>
          <p:cNvGraphicFramePr>
            <a:graphicFrameLocks noGrp="1"/>
          </p:cNvGraphicFramePr>
          <p:nvPr>
            <p:ph idx="1"/>
            <p:extLst>
              <p:ext uri="{D42A27DB-BD31-4B8C-83A1-F6EECF244321}">
                <p14:modId xmlns:p14="http://schemas.microsoft.com/office/powerpoint/2010/main" val="2542873726"/>
              </p:ext>
            </p:extLst>
          </p:nvPr>
        </p:nvGraphicFramePr>
        <p:xfrm>
          <a:off x="457200" y="1600200"/>
          <a:ext cx="8229600" cy="41148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contraindications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Factors that prevent the use of a drug or treatment</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controlled substances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Drugs that produce tolerance and dependence and have potential for abuse or addiction</a:t>
                      </a:r>
                    </a:p>
                  </a:txBody>
                  <a:tcPr/>
                </a:tc>
                <a:extLst>
                  <a:ext uri="{0D108BD9-81ED-4DB2-BD59-A6C34878D82A}">
                    <a16:rowId xmlns:a16="http://schemas.microsoft.com/office/drawing/2014/main" val="10002"/>
                  </a:ext>
                </a:extLst>
              </a:tr>
              <a:tr h="370840">
                <a:tc>
                  <a:txBody>
                    <a:bodyPr/>
                    <a:lstStyle/>
                    <a:p>
                      <a:r>
                        <a:rPr lang="en-US" altLang="en-US" sz="2400" dirty="0"/>
                        <a:t>dependence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Prolonged use of a drug that may lead to a physiologic need for its actions in the body</a:t>
                      </a:r>
                    </a:p>
                  </a:txBody>
                  <a:tcPr/>
                </a:tc>
                <a:extLst>
                  <a:ext uri="{0D108BD9-81ED-4DB2-BD59-A6C34878D82A}">
                    <a16:rowId xmlns:a16="http://schemas.microsoft.com/office/drawing/2014/main" val="10003"/>
                  </a:ext>
                </a:extLst>
              </a:tr>
              <a:tr h="370840">
                <a:tc>
                  <a:txBody>
                    <a:bodyPr/>
                    <a:lstStyle/>
                    <a:p>
                      <a:r>
                        <a:rPr lang="en-US" altLang="en-US" sz="2400" dirty="0"/>
                        <a:t>dose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Amount of drug administered</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58777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Vocabulary (Slide 4 of 11)</a:t>
            </a:r>
          </a:p>
        </p:txBody>
      </p:sp>
      <p:graphicFrame>
        <p:nvGraphicFramePr>
          <p:cNvPr id="7" name="Content Placeholder 6" descr="Group 4 of 11.  List of vocabulary terms  with corresponding meanings or definitions."/>
          <p:cNvGraphicFramePr>
            <a:graphicFrameLocks noGrp="1"/>
          </p:cNvGraphicFramePr>
          <p:nvPr>
            <p:ph idx="1"/>
            <p:extLst>
              <p:ext uri="{D42A27DB-BD31-4B8C-83A1-F6EECF244321}">
                <p14:modId xmlns:p14="http://schemas.microsoft.com/office/powerpoint/2010/main" val="694129044"/>
              </p:ext>
            </p:extLst>
          </p:nvPr>
        </p:nvGraphicFramePr>
        <p:xfrm>
          <a:off x="457200" y="1600200"/>
          <a:ext cx="8229600" cy="41148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Food and Drug Administration (FDA)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U.S. government agency with legal responsibility to enforce proper drug manufacture and clinical use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generic name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Legal noncommercial name for a drug</a:t>
                      </a:r>
                    </a:p>
                  </a:txBody>
                  <a:tcPr/>
                </a:tc>
                <a:extLst>
                  <a:ext uri="{0D108BD9-81ED-4DB2-BD59-A6C34878D82A}">
                    <a16:rowId xmlns:a16="http://schemas.microsoft.com/office/drawing/2014/main" val="10002"/>
                  </a:ext>
                </a:extLst>
              </a:tr>
              <a:tr h="370840">
                <a:tc>
                  <a:txBody>
                    <a:bodyPr/>
                    <a:lstStyle/>
                    <a:p>
                      <a:r>
                        <a:rPr lang="en-US" altLang="en-US" sz="2400" dirty="0"/>
                        <a:t>iatrogenic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Condition caused by treatment given by physicians or medical personnel</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idiosyncratic reaction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Unexpected effect produced in a particularly sensitive patient, but not seen in most people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3443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Vocabulary (Slide 5 of 11)</a:t>
            </a:r>
          </a:p>
        </p:txBody>
      </p:sp>
      <p:graphicFrame>
        <p:nvGraphicFramePr>
          <p:cNvPr id="7" name="Content Placeholder 6" descr="Group 5 of 11.  List of vocabulary terms  with corresponding meanings or definitions."/>
          <p:cNvGraphicFramePr>
            <a:graphicFrameLocks noGrp="1"/>
          </p:cNvGraphicFramePr>
          <p:nvPr>
            <p:ph idx="1"/>
            <p:extLst>
              <p:ext uri="{D42A27DB-BD31-4B8C-83A1-F6EECF244321}">
                <p14:modId xmlns:p14="http://schemas.microsoft.com/office/powerpoint/2010/main" val="1727674844"/>
              </p:ext>
            </p:extLst>
          </p:nvPr>
        </p:nvGraphicFramePr>
        <p:xfrm>
          <a:off x="457200" y="1600200"/>
          <a:ext cx="8229600" cy="301752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inhalation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Administration of drugs in gaseous or vapor form through the nose or mouth</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medicinal chemistry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Study of new drug synthesis</a:t>
                      </a:r>
                    </a:p>
                  </a:txBody>
                  <a:tcPr/>
                </a:tc>
                <a:extLst>
                  <a:ext uri="{0D108BD9-81ED-4DB2-BD59-A6C34878D82A}">
                    <a16:rowId xmlns:a16="http://schemas.microsoft.com/office/drawing/2014/main" val="10002"/>
                  </a:ext>
                </a:extLst>
              </a:tr>
              <a:tr h="370840">
                <a:tc>
                  <a:txBody>
                    <a:bodyPr/>
                    <a:lstStyle/>
                    <a:p>
                      <a:pPr eaLnBrk="1" hangingPunct="1"/>
                      <a:r>
                        <a:rPr lang="en-US" altLang="en-US" sz="2400" dirty="0"/>
                        <a:t>molecular pharmacology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Study of interaction of drugs and their target molecules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oral administration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Drugs are given by mouth</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23657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Vocabulary (Slide 6 of 11)</a:t>
            </a:r>
          </a:p>
        </p:txBody>
      </p:sp>
      <p:graphicFrame>
        <p:nvGraphicFramePr>
          <p:cNvPr id="7" name="Content Placeholder 6" descr="Group 6 of 11.  List of vocabulary terms  with corresponding meanings or definitions."/>
          <p:cNvGraphicFramePr>
            <a:graphicFrameLocks noGrp="1"/>
          </p:cNvGraphicFramePr>
          <p:nvPr>
            <p:ph idx="1"/>
            <p:extLst>
              <p:ext uri="{D42A27DB-BD31-4B8C-83A1-F6EECF244321}">
                <p14:modId xmlns:p14="http://schemas.microsoft.com/office/powerpoint/2010/main" val="1955170866"/>
              </p:ext>
            </p:extLst>
          </p:nvPr>
        </p:nvGraphicFramePr>
        <p:xfrm>
          <a:off x="457200" y="1600200"/>
          <a:ext cx="8229600" cy="374904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parenteral administration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Drugs are given by injection into the skin, muscles, or veins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pharmacist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Specialist in preparing and dispensing drugs</a:t>
                      </a:r>
                    </a:p>
                  </a:txBody>
                  <a:tcPr/>
                </a:tc>
                <a:extLst>
                  <a:ext uri="{0D108BD9-81ED-4DB2-BD59-A6C34878D82A}">
                    <a16:rowId xmlns:a16="http://schemas.microsoft.com/office/drawing/2014/main" val="10002"/>
                  </a:ext>
                </a:extLst>
              </a:tr>
              <a:tr h="370840">
                <a:tc>
                  <a:txBody>
                    <a:bodyPr/>
                    <a:lstStyle/>
                    <a:p>
                      <a:r>
                        <a:rPr lang="en-US" altLang="en-US" sz="2400" dirty="0"/>
                        <a:t>pharmacy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Location for preparing and dispensing drugs; also the study of preparing and dispensing drugs</a:t>
                      </a:r>
                    </a:p>
                  </a:txBody>
                  <a:tcPr/>
                </a:tc>
                <a:extLst>
                  <a:ext uri="{0D108BD9-81ED-4DB2-BD59-A6C34878D82A}">
                    <a16:rowId xmlns:a16="http://schemas.microsoft.com/office/drawing/2014/main" val="10003"/>
                  </a:ext>
                </a:extLst>
              </a:tr>
              <a:tr h="370840">
                <a:tc>
                  <a:txBody>
                    <a:bodyPr/>
                    <a:lstStyle/>
                    <a:p>
                      <a:r>
                        <a:rPr lang="en-US" altLang="en-US" sz="2400" dirty="0"/>
                        <a:t>pharmacodynamics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Study of drug effects within the body</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04031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Vocabulary (Slide 7 of 11)</a:t>
            </a:r>
          </a:p>
        </p:txBody>
      </p:sp>
      <p:graphicFrame>
        <p:nvGraphicFramePr>
          <p:cNvPr id="7" name="Content Placeholder 6" descr="Group 7 of 11.  List of vocabulary terms  with corresponding meanings or definitions."/>
          <p:cNvGraphicFramePr>
            <a:graphicFrameLocks noGrp="1"/>
          </p:cNvGraphicFramePr>
          <p:nvPr>
            <p:ph idx="1"/>
            <p:extLst>
              <p:ext uri="{D42A27DB-BD31-4B8C-83A1-F6EECF244321}">
                <p14:modId xmlns:p14="http://schemas.microsoft.com/office/powerpoint/2010/main" val="3280289850"/>
              </p:ext>
            </p:extLst>
          </p:nvPr>
        </p:nvGraphicFramePr>
        <p:xfrm>
          <a:off x="457200" y="1600200"/>
          <a:ext cx="8229600" cy="41148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pharmacokinetics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Study of drug absorption, distribution, metabolism, and excretion over a period of time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pharmacologist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Specialist in the study of properties, uses, and side effects of drugs</a:t>
                      </a:r>
                    </a:p>
                  </a:txBody>
                  <a:tcPr/>
                </a:tc>
                <a:extLst>
                  <a:ext uri="{0D108BD9-81ED-4DB2-BD59-A6C34878D82A}">
                    <a16:rowId xmlns:a16="http://schemas.microsoft.com/office/drawing/2014/main" val="10002"/>
                  </a:ext>
                </a:extLst>
              </a:tr>
              <a:tr h="370840">
                <a:tc>
                  <a:txBody>
                    <a:bodyPr/>
                    <a:lstStyle/>
                    <a:p>
                      <a:r>
                        <a:rPr lang="en-US" altLang="en-US" sz="2400" dirty="0"/>
                        <a:t>pharmacology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Study of the preparation, properties, uses, and side effects of drug</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i="1" dirty="0"/>
                        <a:t>Physicians’ Desk Reference </a:t>
                      </a:r>
                      <a:r>
                        <a:rPr lang="en-US" altLang="en-US" sz="2400" dirty="0"/>
                        <a:t>(PDR)</a:t>
                      </a:r>
                      <a:endParaRPr lang="en-US" altLang="en-US" sz="2400" i="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Reference book that lists drug products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55083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Vocabulary (Slide 8 of 11)</a:t>
            </a:r>
          </a:p>
        </p:txBody>
      </p:sp>
      <p:graphicFrame>
        <p:nvGraphicFramePr>
          <p:cNvPr id="7" name="Content Placeholder 6" descr="Group 8 of 11.  List of vocabulary terms  with corresponding meanings or definitions."/>
          <p:cNvGraphicFramePr>
            <a:graphicFrameLocks noGrp="1"/>
          </p:cNvGraphicFramePr>
          <p:nvPr>
            <p:ph idx="1"/>
            <p:extLst>
              <p:ext uri="{D42A27DB-BD31-4B8C-83A1-F6EECF244321}">
                <p14:modId xmlns:p14="http://schemas.microsoft.com/office/powerpoint/2010/main" val="177259089"/>
              </p:ext>
            </p:extLst>
          </p:nvPr>
        </p:nvGraphicFramePr>
        <p:xfrm>
          <a:off x="457200" y="1600200"/>
          <a:ext cx="8229600" cy="301752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receptor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Target substance with which a drug interacts in the body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rectal administration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Drugs are inserted through the anus into the rectum</a:t>
                      </a:r>
                    </a:p>
                  </a:txBody>
                  <a:tcPr/>
                </a:tc>
                <a:extLst>
                  <a:ext uri="{0D108BD9-81ED-4DB2-BD59-A6C34878D82A}">
                    <a16:rowId xmlns:a16="http://schemas.microsoft.com/office/drawing/2014/main" val="10002"/>
                  </a:ext>
                </a:extLst>
              </a:tr>
              <a:tr h="370840">
                <a:tc>
                  <a:txBody>
                    <a:bodyPr/>
                    <a:lstStyle/>
                    <a:p>
                      <a:r>
                        <a:rPr lang="en-US" altLang="en-US" sz="2400" dirty="0"/>
                        <a:t>resistance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Lack of beneficial response</a:t>
                      </a:r>
                    </a:p>
                  </a:txBody>
                  <a:tcPr/>
                </a:tc>
                <a:extLst>
                  <a:ext uri="{0D108BD9-81ED-4DB2-BD59-A6C34878D82A}">
                    <a16:rowId xmlns:a16="http://schemas.microsoft.com/office/drawing/2014/main" val="10003"/>
                  </a:ext>
                </a:extLst>
              </a:tr>
              <a:tr h="370840">
                <a:tc>
                  <a:txBody>
                    <a:bodyPr/>
                    <a:lstStyle/>
                    <a:p>
                      <a:r>
                        <a:rPr lang="en-US" altLang="en-US" sz="2400" dirty="0"/>
                        <a:t>response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Desired and beneficial effect of a drug</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392100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Vocabulary (Slide 9 of 11)</a:t>
            </a:r>
          </a:p>
        </p:txBody>
      </p:sp>
      <p:graphicFrame>
        <p:nvGraphicFramePr>
          <p:cNvPr id="7" name="Content Placeholder 6" descr="Group 9 of 11.  List of vocabulary terms  with corresponding meanings or definitions."/>
          <p:cNvGraphicFramePr>
            <a:graphicFrameLocks noGrp="1"/>
          </p:cNvGraphicFramePr>
          <p:nvPr>
            <p:ph idx="1"/>
            <p:extLst>
              <p:ext uri="{D42A27DB-BD31-4B8C-83A1-F6EECF244321}">
                <p14:modId xmlns:p14="http://schemas.microsoft.com/office/powerpoint/2010/main" val="686513683"/>
              </p:ext>
            </p:extLst>
          </p:nvPr>
        </p:nvGraphicFramePr>
        <p:xfrm>
          <a:off x="457200" y="1600200"/>
          <a:ext cx="8229600" cy="41148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schedule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Exact timing and frequency of drug administration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side effect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Adverse reaction, usually minor, that routinely results from use of a drug</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sublingual administration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Drugs are given by placement under the tongue</a:t>
                      </a:r>
                    </a:p>
                  </a:txBody>
                  <a:tcPr/>
                </a:tc>
                <a:extLst>
                  <a:ext uri="{0D108BD9-81ED-4DB2-BD59-A6C34878D82A}">
                    <a16:rowId xmlns:a16="http://schemas.microsoft.com/office/drawing/2014/main" val="10003"/>
                  </a:ext>
                </a:extLst>
              </a:tr>
              <a:tr h="370840">
                <a:tc>
                  <a:txBody>
                    <a:bodyPr/>
                    <a:lstStyle/>
                    <a:p>
                      <a:r>
                        <a:rPr lang="en-US" altLang="en-US" sz="2400" dirty="0"/>
                        <a:t>synergism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Combination of two drugs causes an effect that is greater than the sum of the individual effects of each drug alone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405428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Vocabulary (Slide 10 of 11)</a:t>
            </a:r>
          </a:p>
        </p:txBody>
      </p:sp>
      <p:graphicFrame>
        <p:nvGraphicFramePr>
          <p:cNvPr id="7" name="Content Placeholder 6" descr="Group 10 of 11.  List of vocabulary terms  with corresponding meanings or definitions."/>
          <p:cNvGraphicFramePr>
            <a:graphicFrameLocks noGrp="1"/>
          </p:cNvGraphicFramePr>
          <p:nvPr>
            <p:ph idx="1"/>
            <p:extLst>
              <p:ext uri="{D42A27DB-BD31-4B8C-83A1-F6EECF244321}">
                <p14:modId xmlns:p14="http://schemas.microsoft.com/office/powerpoint/2010/main" val="3864407225"/>
              </p:ext>
            </p:extLst>
          </p:nvPr>
        </p:nvGraphicFramePr>
        <p:xfrm>
          <a:off x="457200" y="1600200"/>
          <a:ext cx="8229600" cy="338328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syringe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Instrument for introducing or withdrawing fluids from the body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tolerance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Larger and larger drug doses must be given to achieve the desired effect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topical application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Drugs are applied locally on the skin or mucous membranes of the body</a:t>
                      </a:r>
                    </a:p>
                  </a:txBody>
                  <a:tcPr/>
                </a:tc>
                <a:extLst>
                  <a:ext uri="{0D108BD9-81ED-4DB2-BD59-A6C34878D82A}">
                    <a16:rowId xmlns:a16="http://schemas.microsoft.com/office/drawing/2014/main" val="10003"/>
                  </a:ext>
                </a:extLst>
              </a:tr>
              <a:tr h="370840">
                <a:tc>
                  <a:txBody>
                    <a:bodyPr/>
                    <a:lstStyle/>
                    <a:p>
                      <a:r>
                        <a:rPr lang="en-US" altLang="en-US" sz="2400" dirty="0"/>
                        <a:t>toxicity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Harmful effects of a drug</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517861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Vocabulary (Slide 11 of 11)</a:t>
            </a:r>
          </a:p>
        </p:txBody>
      </p:sp>
      <p:graphicFrame>
        <p:nvGraphicFramePr>
          <p:cNvPr id="7" name="Content Placeholder 6" descr="Group 11 of 11.  List of vocabulary terms  with corresponding meanings or definitions."/>
          <p:cNvGraphicFramePr>
            <a:graphicFrameLocks noGrp="1"/>
          </p:cNvGraphicFramePr>
          <p:nvPr>
            <p:ph idx="1"/>
            <p:extLst>
              <p:ext uri="{D42A27DB-BD31-4B8C-83A1-F6EECF244321}">
                <p14:modId xmlns:p14="http://schemas.microsoft.com/office/powerpoint/2010/main" val="2786210765"/>
              </p:ext>
            </p:extLst>
          </p:nvPr>
        </p:nvGraphicFramePr>
        <p:xfrm>
          <a:off x="457200" y="1600200"/>
          <a:ext cx="8229600" cy="4268407"/>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toxicology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Study of harmful chemicals and their effects on the body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transport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Movement of a drug across a cell membrane into body cells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United States Pharmacopeia (USP)</a:t>
                      </a:r>
                    </a:p>
                  </a:txBody>
                  <a:tcPr/>
                </a:tc>
                <a:tc>
                  <a:txBody>
                    <a:bodyPr/>
                    <a:lstStyle/>
                    <a:p>
                      <a:pPr marL="0" indent="0" eaLnBrk="1" hangingPunct="1">
                        <a:lnSpc>
                          <a:spcPct val="80000"/>
                        </a:lnSpc>
                        <a:buFont typeface="Wingdings 2" panose="05020102010507070707" pitchFamily="18" charset="2"/>
                        <a:buNone/>
                      </a:pPr>
                      <a:r>
                        <a:rPr lang="en-US" altLang="en-US" sz="2400" dirty="0"/>
                        <a:t>Authoritative list of drugs, formulas, and preparations that sets a standard for drug manufacturing and dispensing</a:t>
                      </a:r>
                    </a:p>
                  </a:txBody>
                  <a:tcPr/>
                </a:tc>
                <a:extLst>
                  <a:ext uri="{0D108BD9-81ED-4DB2-BD59-A6C34878D82A}">
                    <a16:rowId xmlns:a16="http://schemas.microsoft.com/office/drawing/2014/main" val="10003"/>
                  </a:ext>
                </a:extLst>
              </a:tr>
              <a:tr h="370840">
                <a:tc>
                  <a:txBody>
                    <a:bodyPr/>
                    <a:lstStyle/>
                    <a:p>
                      <a:r>
                        <a:rPr lang="en-US" altLang="en-US" sz="2400" dirty="0"/>
                        <a:t>vitamin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Substance found in foods and essential in small quantities for growth and good health</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17644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and Terminology (Slide 1 of 3)</a:t>
            </a:r>
          </a:p>
        </p:txBody>
      </p:sp>
      <p:graphicFrame>
        <p:nvGraphicFramePr>
          <p:cNvPr id="7" name="Content Placeholder 6" descr="Group 1 of 3 lists combining forms from the Combining Forms, Prefixes and Terminology section of the textboo"/>
          <p:cNvGraphicFramePr>
            <a:graphicFrameLocks noGrp="1"/>
          </p:cNvGraphicFramePr>
          <p:nvPr>
            <p:ph idx="1"/>
            <p:extLst>
              <p:ext uri="{D42A27DB-BD31-4B8C-83A1-F6EECF244321}">
                <p14:modId xmlns:p14="http://schemas.microsoft.com/office/powerpoint/2010/main" val="2117851077"/>
              </p:ext>
            </p:extLst>
          </p:nvPr>
        </p:nvGraphicFramePr>
        <p:xfrm>
          <a:off x="457200" y="1600200"/>
          <a:ext cx="8229600" cy="41148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aer</a:t>
                      </a:r>
                      <a:r>
                        <a:rPr lang="en-US" sz="2400" b="1" dirty="0"/>
                        <a:t>/o</a:t>
                      </a:r>
                      <a:endParaRPr lang="en-US" sz="2400" dirty="0"/>
                    </a:p>
                  </a:txBody>
                  <a:tcPr/>
                </a:tc>
                <a:tc>
                  <a:txBody>
                    <a:bodyPr/>
                    <a:lstStyle/>
                    <a:p>
                      <a:r>
                        <a:rPr lang="en-US" sz="2400" dirty="0"/>
                        <a:t>air</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alges</a:t>
                      </a:r>
                      <a:r>
                        <a:rPr lang="en-US" sz="2400" b="1" dirty="0"/>
                        <a:t>/o</a:t>
                      </a:r>
                      <a:endParaRPr lang="en-US" altLang="en-US" sz="2400" dirty="0"/>
                    </a:p>
                  </a:txBody>
                  <a:tcPr/>
                </a:tc>
                <a:tc>
                  <a:txBody>
                    <a:bodyPr/>
                    <a:lstStyle/>
                    <a:p>
                      <a:r>
                        <a:rPr lang="en-US" sz="2400" dirty="0"/>
                        <a:t>sensitivity to pain</a:t>
                      </a:r>
                    </a:p>
                  </a:txBody>
                  <a:tcPr/>
                </a:tc>
                <a:extLst>
                  <a:ext uri="{0D108BD9-81ED-4DB2-BD59-A6C34878D82A}">
                    <a16:rowId xmlns:a16="http://schemas.microsoft.com/office/drawing/2014/main" val="10002"/>
                  </a:ext>
                </a:extLst>
              </a:tr>
              <a:tr h="370840">
                <a:tc>
                  <a:txBody>
                    <a:bodyPr/>
                    <a:lstStyle/>
                    <a:p>
                      <a:r>
                        <a:rPr lang="en-US" sz="2400" b="1" dirty="0" err="1"/>
                        <a:t>bronch</a:t>
                      </a:r>
                      <a:r>
                        <a:rPr lang="en-US" sz="2400" b="1" dirty="0"/>
                        <a:t>/o</a:t>
                      </a:r>
                      <a:endParaRPr lang="en-US" sz="2400" dirty="0"/>
                    </a:p>
                  </a:txBody>
                  <a:tcPr/>
                </a:tc>
                <a:tc>
                  <a:txBody>
                    <a:bodyPr/>
                    <a:lstStyle/>
                    <a:p>
                      <a:r>
                        <a:rPr lang="en-US" sz="2400" dirty="0"/>
                        <a:t>bronchial tube</a:t>
                      </a:r>
                    </a:p>
                  </a:txBody>
                  <a:tcPr/>
                </a:tc>
                <a:extLst>
                  <a:ext uri="{0D108BD9-81ED-4DB2-BD59-A6C34878D82A}">
                    <a16:rowId xmlns:a16="http://schemas.microsoft.com/office/drawing/2014/main" val="10003"/>
                  </a:ext>
                </a:extLst>
              </a:tr>
              <a:tr h="370840">
                <a:tc>
                  <a:txBody>
                    <a:bodyPr/>
                    <a:lstStyle/>
                    <a:p>
                      <a:r>
                        <a:rPr lang="en-US" sz="2400" b="1" dirty="0" err="1"/>
                        <a:t>chem</a:t>
                      </a:r>
                      <a:r>
                        <a:rPr lang="en-US" sz="2400" b="1" dirty="0"/>
                        <a:t>/o</a:t>
                      </a:r>
                      <a:endParaRPr lang="en-US" sz="2400" dirty="0"/>
                    </a:p>
                  </a:txBody>
                  <a:tcPr/>
                </a:tc>
                <a:tc>
                  <a:txBody>
                    <a:bodyPr/>
                    <a:lstStyle/>
                    <a:p>
                      <a:r>
                        <a:rPr lang="en-US" sz="2400" dirty="0"/>
                        <a:t>drug</a:t>
                      </a:r>
                    </a:p>
                  </a:txBody>
                  <a:tcPr/>
                </a:tc>
                <a:extLst>
                  <a:ext uri="{0D108BD9-81ED-4DB2-BD59-A6C34878D82A}">
                    <a16:rowId xmlns:a16="http://schemas.microsoft.com/office/drawing/2014/main" val="10004"/>
                  </a:ext>
                </a:extLst>
              </a:tr>
              <a:tr h="370840">
                <a:tc>
                  <a:txBody>
                    <a:bodyPr/>
                    <a:lstStyle/>
                    <a:p>
                      <a:r>
                        <a:rPr lang="en-US" sz="2400" b="1" dirty="0" err="1"/>
                        <a:t>cras</a:t>
                      </a:r>
                      <a:r>
                        <a:rPr lang="en-US" sz="2400" b="1" dirty="0"/>
                        <a:t>/o</a:t>
                      </a:r>
                      <a:endParaRPr lang="en-US" sz="2400" dirty="0"/>
                    </a:p>
                  </a:txBody>
                  <a:tcPr/>
                </a:tc>
                <a:tc>
                  <a:txBody>
                    <a:bodyPr/>
                    <a:lstStyle/>
                    <a:p>
                      <a:r>
                        <a:rPr lang="en-US" sz="2400" dirty="0"/>
                        <a:t>mixture</a:t>
                      </a:r>
                    </a:p>
                  </a:txBody>
                  <a:tcPr/>
                </a:tc>
                <a:extLst>
                  <a:ext uri="{0D108BD9-81ED-4DB2-BD59-A6C34878D82A}">
                    <a16:rowId xmlns:a16="http://schemas.microsoft.com/office/drawing/2014/main" val="10005"/>
                  </a:ext>
                </a:extLst>
              </a:tr>
              <a:tr h="370840">
                <a:tc>
                  <a:txBody>
                    <a:bodyPr/>
                    <a:lstStyle/>
                    <a:p>
                      <a:r>
                        <a:rPr lang="en-US" sz="2400" b="1" dirty="0" err="1"/>
                        <a:t>cutane</a:t>
                      </a:r>
                      <a:r>
                        <a:rPr lang="en-US" sz="2400" b="1" dirty="0"/>
                        <a:t>/o</a:t>
                      </a:r>
                      <a:endParaRPr lang="en-US" sz="2400" dirty="0"/>
                    </a:p>
                  </a:txBody>
                  <a:tcPr/>
                </a:tc>
                <a:tc>
                  <a:txBody>
                    <a:bodyPr/>
                    <a:lstStyle/>
                    <a:p>
                      <a:r>
                        <a:rPr lang="en-US" sz="2400" dirty="0"/>
                        <a:t>skin</a:t>
                      </a:r>
                    </a:p>
                  </a:txBody>
                  <a:tcPr/>
                </a:tc>
                <a:extLst>
                  <a:ext uri="{0D108BD9-81ED-4DB2-BD59-A6C34878D82A}">
                    <a16:rowId xmlns:a16="http://schemas.microsoft.com/office/drawing/2014/main" val="10006"/>
                  </a:ext>
                </a:extLst>
              </a:tr>
              <a:tr h="370840">
                <a:tc>
                  <a:txBody>
                    <a:bodyPr/>
                    <a:lstStyle/>
                    <a:p>
                      <a:r>
                        <a:rPr lang="en-US" sz="2400" b="1" dirty="0" err="1"/>
                        <a:t>derm</a:t>
                      </a:r>
                      <a:r>
                        <a:rPr lang="en-US" sz="2400" b="1" dirty="0"/>
                        <a:t>/o</a:t>
                      </a:r>
                      <a:endParaRPr lang="en-US" sz="2400" dirty="0"/>
                    </a:p>
                  </a:txBody>
                  <a:tcPr/>
                </a:tc>
                <a:tc>
                  <a:txBody>
                    <a:bodyPr/>
                    <a:lstStyle/>
                    <a:p>
                      <a:r>
                        <a:rPr lang="en-US" sz="2400" dirty="0"/>
                        <a:t>skin</a:t>
                      </a:r>
                    </a:p>
                  </a:txBody>
                  <a:tcPr/>
                </a:tc>
                <a:extLst>
                  <a:ext uri="{0D108BD9-81ED-4DB2-BD59-A6C34878D82A}">
                    <a16:rowId xmlns:a16="http://schemas.microsoft.com/office/drawing/2014/main" val="10007"/>
                  </a:ext>
                </a:extLst>
              </a:tr>
              <a:tr h="370840">
                <a:tc>
                  <a:txBody>
                    <a:bodyPr/>
                    <a:lstStyle/>
                    <a:p>
                      <a:r>
                        <a:rPr lang="en-US" sz="2400" b="1" dirty="0"/>
                        <a:t>erg/o</a:t>
                      </a:r>
                      <a:endParaRPr lang="en-US" sz="2400" dirty="0"/>
                    </a:p>
                  </a:txBody>
                  <a:tcPr/>
                </a:tc>
                <a:tc>
                  <a:txBody>
                    <a:bodyPr/>
                    <a:lstStyle/>
                    <a:p>
                      <a:r>
                        <a:rPr lang="en-US" sz="2400" dirty="0"/>
                        <a:t>work</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3511601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and Terminology (Slide 2 of 3)</a:t>
            </a:r>
          </a:p>
        </p:txBody>
      </p:sp>
      <p:graphicFrame>
        <p:nvGraphicFramePr>
          <p:cNvPr id="7" name="Content Placeholder 6" descr="Group 2 of 3 lists combining forms from the Combining Forms, Prefixes and Terminology section of the textboo"/>
          <p:cNvGraphicFramePr>
            <a:graphicFrameLocks noGrp="1"/>
          </p:cNvGraphicFramePr>
          <p:nvPr>
            <p:ph idx="1"/>
            <p:extLst>
              <p:ext uri="{D42A27DB-BD31-4B8C-83A1-F6EECF244321}">
                <p14:modId xmlns:p14="http://schemas.microsoft.com/office/powerpoint/2010/main" val="3204676955"/>
              </p:ext>
            </p:extLst>
          </p:nvPr>
        </p:nvGraphicFramePr>
        <p:xfrm>
          <a:off x="457200" y="1600200"/>
          <a:ext cx="8229600" cy="41148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esthes</a:t>
                      </a:r>
                      <a:r>
                        <a:rPr lang="en-US" sz="2400" b="1" dirty="0"/>
                        <a:t>/o</a:t>
                      </a:r>
                      <a:endParaRPr lang="en-US" sz="2400" dirty="0"/>
                    </a:p>
                  </a:txBody>
                  <a:tcPr/>
                </a:tc>
                <a:tc>
                  <a:txBody>
                    <a:bodyPr/>
                    <a:lstStyle/>
                    <a:p>
                      <a:r>
                        <a:rPr lang="en-US" sz="2400" dirty="0"/>
                        <a:t>feeling, sensation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hist</a:t>
                      </a:r>
                      <a:r>
                        <a:rPr lang="en-US" sz="2400" b="1" dirty="0"/>
                        <a:t>/o</a:t>
                      </a:r>
                      <a:endParaRPr lang="en-US" altLang="en-US" sz="2400" dirty="0"/>
                    </a:p>
                  </a:txBody>
                  <a:tcPr/>
                </a:tc>
                <a:tc>
                  <a:txBody>
                    <a:bodyPr/>
                    <a:lstStyle/>
                    <a:p>
                      <a:r>
                        <a:rPr lang="en-US" sz="2400" dirty="0"/>
                        <a:t>tissue</a:t>
                      </a:r>
                    </a:p>
                  </a:txBody>
                  <a:tcPr/>
                </a:tc>
                <a:extLst>
                  <a:ext uri="{0D108BD9-81ED-4DB2-BD59-A6C34878D82A}">
                    <a16:rowId xmlns:a16="http://schemas.microsoft.com/office/drawing/2014/main" val="10002"/>
                  </a:ext>
                </a:extLst>
              </a:tr>
              <a:tr h="370840">
                <a:tc>
                  <a:txBody>
                    <a:bodyPr/>
                    <a:lstStyle/>
                    <a:p>
                      <a:r>
                        <a:rPr lang="en-US" sz="2400" b="1" dirty="0" err="1"/>
                        <a:t>hypn</a:t>
                      </a:r>
                      <a:r>
                        <a:rPr lang="en-US" sz="2400" b="1" dirty="0"/>
                        <a:t>/o</a:t>
                      </a:r>
                      <a:endParaRPr lang="en-US" sz="2400" dirty="0"/>
                    </a:p>
                  </a:txBody>
                  <a:tcPr/>
                </a:tc>
                <a:tc>
                  <a:txBody>
                    <a:bodyPr/>
                    <a:lstStyle/>
                    <a:p>
                      <a:r>
                        <a:rPr lang="en-US" sz="2400" dirty="0"/>
                        <a:t>sleep</a:t>
                      </a:r>
                    </a:p>
                  </a:txBody>
                  <a:tcPr/>
                </a:tc>
                <a:extLst>
                  <a:ext uri="{0D108BD9-81ED-4DB2-BD59-A6C34878D82A}">
                    <a16:rowId xmlns:a16="http://schemas.microsoft.com/office/drawing/2014/main" val="10003"/>
                  </a:ext>
                </a:extLst>
              </a:tr>
              <a:tr h="370840">
                <a:tc>
                  <a:txBody>
                    <a:bodyPr/>
                    <a:lstStyle/>
                    <a:p>
                      <a:r>
                        <a:rPr lang="en-US" sz="2400" b="1" dirty="0" err="1"/>
                        <a:t>iatr</a:t>
                      </a:r>
                      <a:r>
                        <a:rPr lang="en-US" sz="2400" b="1" dirty="0"/>
                        <a:t>/o</a:t>
                      </a:r>
                      <a:endParaRPr lang="en-US" sz="2400" dirty="0"/>
                    </a:p>
                  </a:txBody>
                  <a:tcPr/>
                </a:tc>
                <a:tc>
                  <a:txBody>
                    <a:bodyPr/>
                    <a:lstStyle/>
                    <a:p>
                      <a:r>
                        <a:rPr lang="en-US" sz="2400" dirty="0"/>
                        <a:t>treatment</a:t>
                      </a:r>
                    </a:p>
                  </a:txBody>
                  <a:tcPr/>
                </a:tc>
                <a:extLst>
                  <a:ext uri="{0D108BD9-81ED-4DB2-BD59-A6C34878D82A}">
                    <a16:rowId xmlns:a16="http://schemas.microsoft.com/office/drawing/2014/main" val="10004"/>
                  </a:ext>
                </a:extLst>
              </a:tr>
              <a:tr h="370840">
                <a:tc>
                  <a:txBody>
                    <a:bodyPr/>
                    <a:lstStyle/>
                    <a:p>
                      <a:r>
                        <a:rPr lang="en-US" sz="2400" b="1" dirty="0" err="1"/>
                        <a:t>lingu</a:t>
                      </a:r>
                      <a:r>
                        <a:rPr lang="en-US" sz="2400" b="1" dirty="0"/>
                        <a:t>/o</a:t>
                      </a:r>
                      <a:endParaRPr lang="en-US" sz="2400" dirty="0"/>
                    </a:p>
                  </a:txBody>
                  <a:tcPr/>
                </a:tc>
                <a:tc>
                  <a:txBody>
                    <a:bodyPr/>
                    <a:lstStyle/>
                    <a:p>
                      <a:r>
                        <a:rPr lang="en-US" sz="2400" dirty="0"/>
                        <a:t>tongue</a:t>
                      </a:r>
                    </a:p>
                  </a:txBody>
                  <a:tcPr/>
                </a:tc>
                <a:extLst>
                  <a:ext uri="{0D108BD9-81ED-4DB2-BD59-A6C34878D82A}">
                    <a16:rowId xmlns:a16="http://schemas.microsoft.com/office/drawing/2014/main" val="10005"/>
                  </a:ext>
                </a:extLst>
              </a:tr>
              <a:tr h="370840">
                <a:tc>
                  <a:txBody>
                    <a:bodyPr/>
                    <a:lstStyle/>
                    <a:p>
                      <a:r>
                        <a:rPr lang="en-US" sz="2400" b="1" dirty="0" err="1"/>
                        <a:t>myc</a:t>
                      </a:r>
                      <a:r>
                        <a:rPr lang="en-US" sz="2400" b="1" dirty="0"/>
                        <a:t>/o</a:t>
                      </a:r>
                      <a:endParaRPr lang="en-US" sz="2400" dirty="0"/>
                    </a:p>
                  </a:txBody>
                  <a:tcPr/>
                </a:tc>
                <a:tc>
                  <a:txBody>
                    <a:bodyPr/>
                    <a:lstStyle/>
                    <a:p>
                      <a:r>
                        <a:rPr lang="en-US" sz="2400" dirty="0"/>
                        <a:t>mold, fungus</a:t>
                      </a:r>
                    </a:p>
                  </a:txBody>
                  <a:tcPr/>
                </a:tc>
                <a:extLst>
                  <a:ext uri="{0D108BD9-81ED-4DB2-BD59-A6C34878D82A}">
                    <a16:rowId xmlns:a16="http://schemas.microsoft.com/office/drawing/2014/main" val="10006"/>
                  </a:ext>
                </a:extLst>
              </a:tr>
              <a:tr h="370840">
                <a:tc>
                  <a:txBody>
                    <a:bodyPr/>
                    <a:lstStyle/>
                    <a:p>
                      <a:r>
                        <a:rPr lang="en-US" sz="2400" b="1" dirty="0"/>
                        <a:t>narc/o</a:t>
                      </a:r>
                      <a:endParaRPr lang="en-US" sz="2400" dirty="0"/>
                    </a:p>
                  </a:txBody>
                  <a:tcPr/>
                </a:tc>
                <a:tc>
                  <a:txBody>
                    <a:bodyPr/>
                    <a:lstStyle/>
                    <a:p>
                      <a:r>
                        <a:rPr lang="en-US" sz="2400" dirty="0"/>
                        <a:t>stupor</a:t>
                      </a:r>
                    </a:p>
                  </a:txBody>
                  <a:tcPr/>
                </a:tc>
                <a:extLst>
                  <a:ext uri="{0D108BD9-81ED-4DB2-BD59-A6C34878D82A}">
                    <a16:rowId xmlns:a16="http://schemas.microsoft.com/office/drawing/2014/main" val="10007"/>
                  </a:ext>
                </a:extLst>
              </a:tr>
              <a:tr h="370840">
                <a:tc>
                  <a:txBody>
                    <a:bodyPr/>
                    <a:lstStyle/>
                    <a:p>
                      <a:r>
                        <a:rPr lang="en-US" sz="2400" b="1" dirty="0"/>
                        <a:t>or/o</a:t>
                      </a:r>
                      <a:endParaRPr lang="en-US" sz="2400" dirty="0"/>
                    </a:p>
                  </a:txBody>
                  <a:tcPr/>
                </a:tc>
                <a:tc>
                  <a:txBody>
                    <a:bodyPr/>
                    <a:lstStyle/>
                    <a:p>
                      <a:r>
                        <a:rPr lang="en-US" sz="2400" dirty="0"/>
                        <a:t>mouth</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176260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and Terminology (Slide 3 of 3)</a:t>
            </a:r>
          </a:p>
        </p:txBody>
      </p:sp>
      <p:graphicFrame>
        <p:nvGraphicFramePr>
          <p:cNvPr id="7" name="Content Placeholder 6" descr="Group 3 of 3 lists combining forms from the Combining Forms, Prefixes and Terminology section of the textboo"/>
          <p:cNvGraphicFramePr>
            <a:graphicFrameLocks noGrp="1"/>
          </p:cNvGraphicFramePr>
          <p:nvPr>
            <p:ph idx="1"/>
            <p:extLst>
              <p:ext uri="{D42A27DB-BD31-4B8C-83A1-F6EECF244321}">
                <p14:modId xmlns:p14="http://schemas.microsoft.com/office/powerpoint/2010/main" val="3099267734"/>
              </p:ext>
            </p:extLst>
          </p:nvPr>
        </p:nvGraphicFramePr>
        <p:xfrm>
          <a:off x="457200" y="1600200"/>
          <a:ext cx="8229600" cy="45720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pharmac</a:t>
                      </a:r>
                      <a:r>
                        <a:rPr lang="en-US" sz="2400" b="1" dirty="0"/>
                        <a:t>/o</a:t>
                      </a:r>
                      <a:endParaRPr lang="en-US" sz="2400" dirty="0"/>
                    </a:p>
                  </a:txBody>
                  <a:tcPr/>
                </a:tc>
                <a:tc>
                  <a:txBody>
                    <a:bodyPr/>
                    <a:lstStyle/>
                    <a:p>
                      <a:r>
                        <a:rPr lang="en-US" sz="2400" dirty="0"/>
                        <a:t>drug</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err="1"/>
                        <a:t>prurit</a:t>
                      </a:r>
                      <a:r>
                        <a:rPr lang="en-US" sz="2400" b="1" dirty="0"/>
                        <a:t>/o</a:t>
                      </a:r>
                      <a:endParaRPr lang="en-US" altLang="en-US" sz="2400" dirty="0"/>
                    </a:p>
                  </a:txBody>
                  <a:tcPr/>
                </a:tc>
                <a:tc>
                  <a:txBody>
                    <a:bodyPr/>
                    <a:lstStyle/>
                    <a:p>
                      <a:r>
                        <a:rPr lang="en-US" sz="2400" dirty="0"/>
                        <a:t>itching</a:t>
                      </a:r>
                    </a:p>
                  </a:txBody>
                  <a:tcPr/>
                </a:tc>
                <a:extLst>
                  <a:ext uri="{0D108BD9-81ED-4DB2-BD59-A6C34878D82A}">
                    <a16:rowId xmlns:a16="http://schemas.microsoft.com/office/drawing/2014/main" val="10002"/>
                  </a:ext>
                </a:extLst>
              </a:tr>
              <a:tr h="370840">
                <a:tc>
                  <a:txBody>
                    <a:bodyPr/>
                    <a:lstStyle/>
                    <a:p>
                      <a:r>
                        <a:rPr lang="en-US" sz="2400" b="1" dirty="0" err="1"/>
                        <a:t>pyret</a:t>
                      </a:r>
                      <a:r>
                        <a:rPr lang="en-US" sz="2400" b="1" dirty="0"/>
                        <a:t>/o</a:t>
                      </a:r>
                      <a:endParaRPr lang="en-US" sz="2400" dirty="0"/>
                    </a:p>
                  </a:txBody>
                  <a:tcPr/>
                </a:tc>
                <a:tc>
                  <a:txBody>
                    <a:bodyPr/>
                    <a:lstStyle/>
                    <a:p>
                      <a:r>
                        <a:rPr lang="en-US" sz="2400" dirty="0"/>
                        <a:t>fever</a:t>
                      </a:r>
                    </a:p>
                  </a:txBody>
                  <a:tcPr/>
                </a:tc>
                <a:extLst>
                  <a:ext uri="{0D108BD9-81ED-4DB2-BD59-A6C34878D82A}">
                    <a16:rowId xmlns:a16="http://schemas.microsoft.com/office/drawing/2014/main" val="10003"/>
                  </a:ext>
                </a:extLst>
              </a:tr>
              <a:tr h="370840">
                <a:tc>
                  <a:txBody>
                    <a:bodyPr/>
                    <a:lstStyle/>
                    <a:p>
                      <a:r>
                        <a:rPr lang="en-US" sz="2400" b="1" dirty="0" err="1"/>
                        <a:t>thec</a:t>
                      </a:r>
                      <a:r>
                        <a:rPr 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sheath (of brain and spinal cord)</a:t>
                      </a:r>
                      <a:endParaRPr lang="en-US" sz="2400" dirty="0">
                        <a:latin typeface="+mn-lt"/>
                      </a:endParaRPr>
                    </a:p>
                  </a:txBody>
                  <a:tcPr/>
                </a:tc>
                <a:extLst>
                  <a:ext uri="{0D108BD9-81ED-4DB2-BD59-A6C34878D82A}">
                    <a16:rowId xmlns:a16="http://schemas.microsoft.com/office/drawing/2014/main" val="10004"/>
                  </a:ext>
                </a:extLst>
              </a:tr>
              <a:tr h="370840">
                <a:tc>
                  <a:txBody>
                    <a:bodyPr/>
                    <a:lstStyle/>
                    <a:p>
                      <a:r>
                        <a:rPr lang="en-US" sz="2400" b="1" dirty="0" err="1"/>
                        <a:t>tox</a:t>
                      </a:r>
                      <a:r>
                        <a:rPr lang="en-US" sz="2400" b="1" dirty="0"/>
                        <a:t>/o</a:t>
                      </a:r>
                      <a:endParaRPr lang="en-US" sz="2400" dirty="0"/>
                    </a:p>
                  </a:txBody>
                  <a:tcPr/>
                </a:tc>
                <a:tc>
                  <a:txBody>
                    <a:bodyPr/>
                    <a:lstStyle/>
                    <a:p>
                      <a:r>
                        <a:rPr lang="en-US" sz="2400" dirty="0"/>
                        <a:t>poison</a:t>
                      </a:r>
                    </a:p>
                  </a:txBody>
                  <a:tcPr/>
                </a:tc>
                <a:extLst>
                  <a:ext uri="{0D108BD9-81ED-4DB2-BD59-A6C34878D82A}">
                    <a16:rowId xmlns:a16="http://schemas.microsoft.com/office/drawing/2014/main" val="10005"/>
                  </a:ext>
                </a:extLst>
              </a:tr>
              <a:tr h="370840">
                <a:tc>
                  <a:txBody>
                    <a:bodyPr/>
                    <a:lstStyle/>
                    <a:p>
                      <a:r>
                        <a:rPr lang="en-US" sz="2400" b="1" dirty="0"/>
                        <a:t>toxic/o</a:t>
                      </a:r>
                      <a:endParaRPr lang="en-US" sz="2400" dirty="0"/>
                    </a:p>
                  </a:txBody>
                  <a:tcPr/>
                </a:tc>
                <a:tc>
                  <a:txBody>
                    <a:bodyPr/>
                    <a:lstStyle/>
                    <a:p>
                      <a:r>
                        <a:rPr lang="en-US" sz="2400" dirty="0"/>
                        <a:t>poison</a:t>
                      </a:r>
                    </a:p>
                  </a:txBody>
                  <a:tcPr/>
                </a:tc>
                <a:extLst>
                  <a:ext uri="{0D108BD9-81ED-4DB2-BD59-A6C34878D82A}">
                    <a16:rowId xmlns:a16="http://schemas.microsoft.com/office/drawing/2014/main" val="10006"/>
                  </a:ext>
                </a:extLst>
              </a:tr>
              <a:tr h="370840">
                <a:tc>
                  <a:txBody>
                    <a:bodyPr/>
                    <a:lstStyle/>
                    <a:p>
                      <a:r>
                        <a:rPr lang="en-US" sz="2400" b="1" dirty="0"/>
                        <a:t>vas/o</a:t>
                      </a:r>
                      <a:endParaRPr lang="en-US" sz="2400" dirty="0"/>
                    </a:p>
                  </a:txBody>
                  <a:tcPr/>
                </a:tc>
                <a:tc>
                  <a:txBody>
                    <a:bodyPr/>
                    <a:lstStyle/>
                    <a:p>
                      <a:r>
                        <a:rPr lang="en-US" sz="2400" dirty="0"/>
                        <a:t>vessel</a:t>
                      </a:r>
                    </a:p>
                  </a:txBody>
                  <a:tcPr/>
                </a:tc>
                <a:extLst>
                  <a:ext uri="{0D108BD9-81ED-4DB2-BD59-A6C34878D82A}">
                    <a16:rowId xmlns:a16="http://schemas.microsoft.com/office/drawing/2014/main" val="10007"/>
                  </a:ext>
                </a:extLst>
              </a:tr>
              <a:tr h="370840">
                <a:tc>
                  <a:txBody>
                    <a:bodyPr/>
                    <a:lstStyle/>
                    <a:p>
                      <a:r>
                        <a:rPr lang="en-US" sz="2400" b="1" dirty="0" err="1"/>
                        <a:t>ven</a:t>
                      </a:r>
                      <a:r>
                        <a:rPr lang="en-US" sz="2400" b="1" dirty="0"/>
                        <a:t>/o</a:t>
                      </a:r>
                      <a:endParaRPr lang="en-US" sz="2400" dirty="0"/>
                    </a:p>
                  </a:txBody>
                  <a:tcPr/>
                </a:tc>
                <a:tc>
                  <a:txBody>
                    <a:bodyPr/>
                    <a:lstStyle/>
                    <a:p>
                      <a:r>
                        <a:rPr lang="en-US" sz="2400" dirty="0"/>
                        <a:t>vein</a:t>
                      </a:r>
                    </a:p>
                  </a:txBody>
                  <a:tcPr/>
                </a:tc>
                <a:extLst>
                  <a:ext uri="{0D108BD9-81ED-4DB2-BD59-A6C34878D82A}">
                    <a16:rowId xmlns:a16="http://schemas.microsoft.com/office/drawing/2014/main" val="10008"/>
                  </a:ext>
                </a:extLst>
              </a:tr>
              <a:tr h="370840">
                <a:tc>
                  <a:txBody>
                    <a:bodyPr/>
                    <a:lstStyle/>
                    <a:p>
                      <a:r>
                        <a:rPr lang="en-US" sz="2400" b="1" dirty="0" err="1"/>
                        <a:t>vit</a:t>
                      </a:r>
                      <a:r>
                        <a:rPr lang="en-US" sz="2400" b="1" dirty="0"/>
                        <a:t>/o</a:t>
                      </a:r>
                      <a:endParaRPr lang="en-US" sz="2400" dirty="0"/>
                    </a:p>
                  </a:txBody>
                  <a:tcPr/>
                </a:tc>
                <a:tc>
                  <a:txBody>
                    <a:bodyPr/>
                    <a:lstStyle/>
                    <a:p>
                      <a:r>
                        <a:rPr lang="en-US" sz="2400" dirty="0"/>
                        <a:t>life</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59873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Prefixes and Terminology </a:t>
            </a:r>
          </a:p>
        </p:txBody>
      </p:sp>
      <p:graphicFrame>
        <p:nvGraphicFramePr>
          <p:cNvPr id="7" name="Content Placeholder 6" descr="List of Prefixes from the Combining Forms, Prefixes and Terminology section of the textboo"/>
          <p:cNvGraphicFramePr>
            <a:graphicFrameLocks noGrp="1"/>
          </p:cNvGraphicFramePr>
          <p:nvPr>
            <p:ph idx="1"/>
            <p:extLst>
              <p:ext uri="{D42A27DB-BD31-4B8C-83A1-F6EECF244321}">
                <p14:modId xmlns:p14="http://schemas.microsoft.com/office/powerpoint/2010/main" val="336084564"/>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ana</a:t>
                      </a:r>
                      <a:r>
                        <a:rPr lang="en-US" sz="2400" b="1" dirty="0"/>
                        <a:t>-</a:t>
                      </a:r>
                      <a:endParaRPr lang="en-US" sz="2400" dirty="0"/>
                    </a:p>
                  </a:txBody>
                  <a:tcPr/>
                </a:tc>
                <a:tc>
                  <a:txBody>
                    <a:bodyPr/>
                    <a:lstStyle/>
                    <a:p>
                      <a:r>
                        <a:rPr lang="en-US" sz="2400" dirty="0"/>
                        <a:t>upward, excessive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anti-</a:t>
                      </a:r>
                      <a:r>
                        <a:rPr lang="en-US" sz="2400" dirty="0"/>
                        <a:t>	</a:t>
                      </a:r>
                      <a:endParaRPr lang="en-US" altLang="en-US" sz="2400" dirty="0"/>
                    </a:p>
                  </a:txBody>
                  <a:tcPr/>
                </a:tc>
                <a:tc>
                  <a:txBody>
                    <a:bodyPr/>
                    <a:lstStyle/>
                    <a:p>
                      <a:r>
                        <a:rPr lang="en-US" sz="2400" dirty="0"/>
                        <a:t>against</a:t>
                      </a:r>
                    </a:p>
                  </a:txBody>
                  <a:tcPr/>
                </a:tc>
                <a:extLst>
                  <a:ext uri="{0D108BD9-81ED-4DB2-BD59-A6C34878D82A}">
                    <a16:rowId xmlns:a16="http://schemas.microsoft.com/office/drawing/2014/main" val="10002"/>
                  </a:ext>
                </a:extLst>
              </a:tr>
              <a:tr h="370840">
                <a:tc>
                  <a:txBody>
                    <a:bodyPr/>
                    <a:lstStyle/>
                    <a:p>
                      <a:r>
                        <a:rPr lang="en-US" sz="2400" b="1" dirty="0"/>
                        <a:t>contra-</a:t>
                      </a:r>
                      <a:endParaRPr lang="en-US" sz="2400" dirty="0"/>
                    </a:p>
                  </a:txBody>
                  <a:tcPr/>
                </a:tc>
                <a:tc>
                  <a:txBody>
                    <a:bodyPr/>
                    <a:lstStyle/>
                    <a:p>
                      <a:r>
                        <a:rPr lang="en-US" sz="2400" dirty="0"/>
                        <a:t>against, opposite</a:t>
                      </a:r>
                    </a:p>
                  </a:txBody>
                  <a:tcPr/>
                </a:tc>
                <a:extLst>
                  <a:ext uri="{0D108BD9-81ED-4DB2-BD59-A6C34878D82A}">
                    <a16:rowId xmlns:a16="http://schemas.microsoft.com/office/drawing/2014/main" val="10003"/>
                  </a:ext>
                </a:extLst>
              </a:tr>
              <a:tr h="370840">
                <a:tc>
                  <a:txBody>
                    <a:bodyPr/>
                    <a:lstStyle/>
                    <a:p>
                      <a:r>
                        <a:rPr lang="en-US" sz="2400" b="1" dirty="0"/>
                        <a:t>par-</a:t>
                      </a:r>
                      <a:endParaRPr lang="en-US" sz="2400" dirty="0"/>
                    </a:p>
                  </a:txBody>
                  <a:tcPr/>
                </a:tc>
                <a:tc>
                  <a:txBody>
                    <a:bodyPr/>
                    <a:lstStyle/>
                    <a:p>
                      <a:r>
                        <a:rPr lang="en-US" sz="2400" dirty="0"/>
                        <a:t>other than, apart</a:t>
                      </a:r>
                    </a:p>
                  </a:txBody>
                  <a:tcPr/>
                </a:tc>
                <a:extLst>
                  <a:ext uri="{0D108BD9-81ED-4DB2-BD59-A6C34878D82A}">
                    <a16:rowId xmlns:a16="http://schemas.microsoft.com/office/drawing/2014/main" val="10004"/>
                  </a:ext>
                </a:extLst>
              </a:tr>
              <a:tr h="370840">
                <a:tc>
                  <a:txBody>
                    <a:bodyPr/>
                    <a:lstStyle/>
                    <a:p>
                      <a:r>
                        <a:rPr lang="en-US" sz="2400" b="1" dirty="0" err="1"/>
                        <a:t>syn</a:t>
                      </a:r>
                      <a:r>
                        <a:rPr lang="en-US" sz="2400" b="1" dirty="0"/>
                        <a:t>-</a:t>
                      </a:r>
                      <a:endParaRPr lang="en-US" sz="2400" dirty="0"/>
                    </a:p>
                  </a:txBody>
                  <a:tcPr/>
                </a:tc>
                <a:tc>
                  <a:txBody>
                    <a:bodyPr/>
                    <a:lstStyle/>
                    <a:p>
                      <a:r>
                        <a:rPr lang="en-US" sz="2400" dirty="0"/>
                        <a:t>together, with</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583252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1 of 5)</a:t>
            </a:r>
          </a:p>
        </p:txBody>
      </p:sp>
      <p:graphicFrame>
        <p:nvGraphicFramePr>
          <p:cNvPr id="7" name="Content Placeholder 6" descr="Group 1 of 5 Abbreviations with corresponding meanings."/>
          <p:cNvGraphicFramePr>
            <a:graphicFrameLocks noGrp="1"/>
          </p:cNvGraphicFramePr>
          <p:nvPr>
            <p:ph idx="1"/>
            <p:extLst>
              <p:ext uri="{D42A27DB-BD31-4B8C-83A1-F6EECF244321}">
                <p14:modId xmlns:p14="http://schemas.microsoft.com/office/powerpoint/2010/main" val="627323545"/>
              </p:ext>
            </p:extLst>
          </p:nvPr>
        </p:nvGraphicFramePr>
        <p:xfrm>
          <a:off x="457200" y="1295400"/>
          <a:ext cx="8229600" cy="5029200"/>
        </p:xfrm>
        <a:graphic>
          <a:graphicData uri="http://schemas.openxmlformats.org/drawingml/2006/table">
            <a:tbl>
              <a:tblPr firstRow="1" bandRow="1">
                <a:tableStyleId>{C083E6E3-FA7D-4D7B-A595-EF9225AFEA82}</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a.c</a:t>
                      </a:r>
                      <a:r>
                        <a:rPr lang="en-US" altLang="en-US" sz="2400" dirty="0"/>
                        <a:t>., ac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Before meals</a:t>
                      </a:r>
                    </a:p>
                  </a:txBody>
                  <a:tcPr/>
                </a:tc>
                <a:extLst>
                  <a:ext uri="{0D108BD9-81ED-4DB2-BD59-A6C34878D82A}">
                    <a16:rowId xmlns:a16="http://schemas.microsoft.com/office/drawing/2014/main" val="10001"/>
                  </a:ext>
                </a:extLst>
              </a:tr>
              <a:tr h="370840">
                <a:tc>
                  <a:txBody>
                    <a:bodyPr/>
                    <a:lstStyle/>
                    <a:p>
                      <a:r>
                        <a:rPr lang="en-US" altLang="en-US" sz="2400" dirty="0"/>
                        <a:t>ACE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Angiotensin-converting enzyme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ad lib</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Freely, as desired</a:t>
                      </a:r>
                    </a:p>
                  </a:txBody>
                  <a:tcPr/>
                </a:tc>
                <a:extLst>
                  <a:ext uri="{0D108BD9-81ED-4DB2-BD59-A6C34878D82A}">
                    <a16:rowId xmlns:a16="http://schemas.microsoft.com/office/drawing/2014/main" val="10003"/>
                  </a:ext>
                </a:extLst>
              </a:tr>
              <a:tr h="370840">
                <a:tc>
                  <a:txBody>
                    <a:bodyPr/>
                    <a:lstStyle/>
                    <a:p>
                      <a:r>
                        <a:rPr lang="en-US" altLang="en-US" sz="2400" dirty="0"/>
                        <a:t>APAP</a:t>
                      </a:r>
                      <a:endParaRPr lang="en-US" sz="2400" dirty="0"/>
                    </a:p>
                  </a:txBody>
                  <a:tcPr/>
                </a:tc>
                <a:tc>
                  <a:txBody>
                    <a:bodyPr/>
                    <a:lstStyle/>
                    <a:p>
                      <a:r>
                        <a:rPr lang="en-US" altLang="en-US" sz="2400" dirty="0"/>
                        <a:t>Acetaminophen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a:t>ARB</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Angiotensin II receptor blocker</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b.i.d</a:t>
                      </a:r>
                      <a:r>
                        <a:rPr lang="en-US" altLang="en-US" sz="2400" dirty="0"/>
                        <a:t>., bid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Two times a day</a:t>
                      </a:r>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aseline="0" dirty="0"/>
                        <a:t>c</a:t>
                      </a:r>
                      <a:r>
                        <a:rPr lang="en-US" altLang="en-US" sz="2400" baseline="30000" dirty="0"/>
                        <a:t>-</a:t>
                      </a:r>
                      <a:endParaRPr lang="en-US" altLang="en-US" sz="2400" dirty="0"/>
                    </a:p>
                  </a:txBody>
                  <a:tcPr/>
                </a:tc>
                <a:tc>
                  <a:txBody>
                    <a:bodyPr/>
                    <a:lstStyle/>
                    <a:p>
                      <a:r>
                        <a:rPr lang="en-US" altLang="en-US" sz="2400" dirty="0"/>
                        <a:t>With</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dirty="0"/>
                        <a:t>Caps</a:t>
                      </a:r>
                      <a:endParaRPr lang="en-US" sz="2400" dirty="0"/>
                    </a:p>
                  </a:txBody>
                  <a:tcPr/>
                </a:tc>
                <a:tc>
                  <a:txBody>
                    <a:bodyPr/>
                    <a:lstStyle/>
                    <a:p>
                      <a:r>
                        <a:rPr lang="en-US" altLang="en-US" sz="2400" dirty="0"/>
                        <a:t>Capsules</a:t>
                      </a:r>
                      <a:endParaRPr lang="en-US" sz="2400" dirty="0"/>
                    </a:p>
                  </a:txBody>
                  <a:tcPr/>
                </a:tc>
                <a:extLst>
                  <a:ext uri="{0D108BD9-81ED-4DB2-BD59-A6C34878D82A}">
                    <a16:rowId xmlns:a16="http://schemas.microsoft.com/office/drawing/2014/main" val="10008"/>
                  </a:ext>
                </a:extLst>
              </a:tr>
              <a:tr h="370840">
                <a:tc>
                  <a:txBody>
                    <a:bodyPr/>
                    <a:lstStyle/>
                    <a:p>
                      <a:r>
                        <a:rPr lang="en-US" altLang="en-US" sz="2400" dirty="0"/>
                        <a:t>Cc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Cubic centimeter</a:t>
                      </a:r>
                    </a:p>
                  </a:txBody>
                  <a:tcPr/>
                </a:tc>
                <a:extLst>
                  <a:ext uri="{0D108BD9-81ED-4DB2-BD59-A6C34878D82A}">
                    <a16:rowId xmlns:a16="http://schemas.microsoft.com/office/drawing/2014/main" val="10009"/>
                  </a:ext>
                </a:extLst>
              </a:tr>
              <a:tr h="370840">
                <a:tc>
                  <a:txBody>
                    <a:bodyPr/>
                    <a:lstStyle/>
                    <a:p>
                      <a:r>
                        <a:rPr lang="en-US" altLang="en-US" sz="2400" dirty="0"/>
                        <a:t>FDA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U.S. Food and Drug Administration</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8823331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2 of 5)</a:t>
            </a:r>
          </a:p>
        </p:txBody>
      </p:sp>
      <p:graphicFrame>
        <p:nvGraphicFramePr>
          <p:cNvPr id="7" name="Content Placeholder 6" descr="Group 2 of 5 Abbreviations with corresponding meanings."/>
          <p:cNvGraphicFramePr>
            <a:graphicFrameLocks noGrp="1"/>
          </p:cNvGraphicFramePr>
          <p:nvPr>
            <p:ph idx="1"/>
            <p:extLst>
              <p:ext uri="{D42A27DB-BD31-4B8C-83A1-F6EECF244321}">
                <p14:modId xmlns:p14="http://schemas.microsoft.com/office/powerpoint/2010/main" val="3583745789"/>
              </p:ext>
            </p:extLst>
          </p:nvPr>
        </p:nvGraphicFramePr>
        <p:xfrm>
          <a:off x="457200" y="1600200"/>
          <a:ext cx="8229600" cy="4419600"/>
        </p:xfrm>
        <a:graphic>
          <a:graphicData uri="http://schemas.openxmlformats.org/drawingml/2006/table">
            <a:tbl>
              <a:tblPr firstRow="1" bandRow="1">
                <a:tableStyleId>{C083E6E3-FA7D-4D7B-A595-EF9225AFEA82}</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err="1"/>
                        <a:t>gm</a:t>
                      </a:r>
                      <a:r>
                        <a:rPr lang="en-US" altLang="en-US" sz="2000" dirty="0"/>
                        <a:t>, g</a:t>
                      </a:r>
                    </a:p>
                  </a:txBody>
                  <a:tcPr/>
                </a:tc>
                <a:tc>
                  <a:txBody>
                    <a:bodyPr/>
                    <a:lstStyle/>
                    <a:p>
                      <a:r>
                        <a:rPr lang="en-US" altLang="en-US" sz="2000" dirty="0"/>
                        <a:t>Gram</a:t>
                      </a:r>
                      <a:endParaRPr lang="en-US" sz="22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err="1"/>
                        <a:t>gtt</a:t>
                      </a:r>
                      <a:endParaRPr lang="en-US" altLang="en-US" sz="2200" dirty="0"/>
                    </a:p>
                  </a:txBody>
                  <a:tcPr/>
                </a:tc>
                <a:tc>
                  <a:txBody>
                    <a:bodyPr/>
                    <a:lstStyle/>
                    <a:p>
                      <a:r>
                        <a:rPr lang="en-US" altLang="en-US" sz="2000" dirty="0"/>
                        <a:t>Drops</a:t>
                      </a:r>
                      <a:endParaRPr lang="en-US" sz="2200" dirty="0"/>
                    </a:p>
                  </a:txBody>
                  <a:tcPr/>
                </a:tc>
                <a:extLst>
                  <a:ext uri="{0D108BD9-81ED-4DB2-BD59-A6C34878D82A}">
                    <a16:rowId xmlns:a16="http://schemas.microsoft.com/office/drawing/2014/main" val="10002"/>
                  </a:ext>
                </a:extLst>
              </a:tr>
              <a:tr h="370840">
                <a:tc>
                  <a:txBody>
                    <a:bodyPr/>
                    <a:lstStyle/>
                    <a:p>
                      <a:r>
                        <a:rPr lang="en-US" altLang="en-US" sz="2000" dirty="0"/>
                        <a:t>h</a:t>
                      </a:r>
                      <a:endParaRPr lang="en-US" sz="2200" dirty="0"/>
                    </a:p>
                  </a:txBody>
                  <a:tcPr/>
                </a:tc>
                <a:tc>
                  <a:txBody>
                    <a:bodyPr/>
                    <a:lstStyle/>
                    <a:p>
                      <a:r>
                        <a:rPr lang="en-US" altLang="en-US" sz="2000" dirty="0"/>
                        <a:t>Hour</a:t>
                      </a:r>
                      <a:endParaRPr lang="en-US" sz="22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err="1"/>
                        <a:t>h.s</a:t>
                      </a:r>
                      <a:r>
                        <a:rPr lang="en-US" altLang="en-US" sz="2000" dirty="0"/>
                        <a:t>., </a:t>
                      </a:r>
                      <a:r>
                        <a:rPr lang="en-US" altLang="en-US" sz="2000" dirty="0" err="1"/>
                        <a:t>hs</a:t>
                      </a:r>
                      <a:endParaRPr lang="en-US" alt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At bedtime</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H</a:t>
                      </a:r>
                      <a:r>
                        <a:rPr lang="en-US" altLang="en-US" sz="2000" baseline="-25000" dirty="0"/>
                        <a:t>2</a:t>
                      </a:r>
                      <a:r>
                        <a:rPr lang="en-US" altLang="en-US" sz="2000" dirty="0"/>
                        <a:t> blocker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Histamine h</a:t>
                      </a:r>
                      <a:r>
                        <a:rPr lang="en-US" altLang="en-US" sz="2000" baseline="-25000" dirty="0"/>
                        <a:t>2</a:t>
                      </a:r>
                      <a:r>
                        <a:rPr lang="en-US" altLang="en-US" sz="2000" dirty="0"/>
                        <a:t> receptor antagonist</a:t>
                      </a:r>
                    </a:p>
                  </a:txBody>
                  <a:tcPr/>
                </a:tc>
                <a:extLst>
                  <a:ext uri="{0D108BD9-81ED-4DB2-BD59-A6C34878D82A}">
                    <a16:rowId xmlns:a16="http://schemas.microsoft.com/office/drawing/2014/main" val="10005"/>
                  </a:ext>
                </a:extLst>
              </a:tr>
              <a:tr h="370840">
                <a:tc>
                  <a:txBody>
                    <a:bodyPr/>
                    <a:lstStyle/>
                    <a:p>
                      <a:r>
                        <a:rPr lang="en-US" altLang="en-US" sz="2000" dirty="0"/>
                        <a:t>HRT</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Hormone replacement therapy</a:t>
                      </a:r>
                    </a:p>
                  </a:txBody>
                  <a:tcPr/>
                </a:tc>
                <a:extLst>
                  <a:ext uri="{0D108BD9-81ED-4DB2-BD59-A6C34878D82A}">
                    <a16:rowId xmlns:a16="http://schemas.microsoft.com/office/drawing/2014/main" val="10006"/>
                  </a:ext>
                </a:extLst>
              </a:tr>
              <a:tr h="370840">
                <a:tc>
                  <a:txBody>
                    <a:bodyPr/>
                    <a:lstStyle/>
                    <a:p>
                      <a:r>
                        <a:rPr lang="en-US" altLang="en-US" sz="2000" dirty="0"/>
                        <a:t>IM</a:t>
                      </a:r>
                      <a:endParaRPr lang="en-US" sz="2200" dirty="0"/>
                    </a:p>
                  </a:txBody>
                  <a:tcPr/>
                </a:tc>
                <a:tc>
                  <a:txBody>
                    <a:bodyPr/>
                    <a:lstStyle/>
                    <a:p>
                      <a:r>
                        <a:rPr lang="en-US" altLang="en-US" sz="2000" dirty="0"/>
                        <a:t>Intramuscular</a:t>
                      </a:r>
                      <a:endParaRPr lang="en-US" sz="2200" dirty="0"/>
                    </a:p>
                  </a:txBody>
                  <a:tcPr/>
                </a:tc>
                <a:extLst>
                  <a:ext uri="{0D108BD9-81ED-4DB2-BD59-A6C34878D82A}">
                    <a16:rowId xmlns:a16="http://schemas.microsoft.com/office/drawing/2014/main" val="10007"/>
                  </a:ext>
                </a:extLst>
              </a:tr>
              <a:tr h="370840">
                <a:tc>
                  <a:txBody>
                    <a:bodyPr/>
                    <a:lstStyle/>
                    <a:p>
                      <a:r>
                        <a:rPr lang="en-US" altLang="en-US" sz="2000" dirty="0"/>
                        <a:t>INH</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Isoniazid-</a:t>
                      </a:r>
                      <a:r>
                        <a:rPr lang="en-US" altLang="en-US" sz="2000" dirty="0" err="1"/>
                        <a:t>antituberculosis</a:t>
                      </a:r>
                      <a:r>
                        <a:rPr lang="en-US" altLang="en-US" sz="2000" dirty="0"/>
                        <a:t> agent</a:t>
                      </a:r>
                    </a:p>
                  </a:txBody>
                  <a:tcPr/>
                </a:tc>
                <a:extLst>
                  <a:ext uri="{0D108BD9-81ED-4DB2-BD59-A6C34878D82A}">
                    <a16:rowId xmlns:a16="http://schemas.microsoft.com/office/drawing/2014/main" val="10008"/>
                  </a:ext>
                </a:extLst>
              </a:tr>
              <a:tr h="370840">
                <a:tc>
                  <a:txBody>
                    <a:bodyPr/>
                    <a:lstStyle/>
                    <a:p>
                      <a:r>
                        <a:rPr lang="en-US" altLang="en-US" sz="2000" dirty="0"/>
                        <a:t>IV</a:t>
                      </a:r>
                      <a:endParaRPr lang="en-US" sz="2200" dirty="0"/>
                    </a:p>
                  </a:txBody>
                  <a:tcPr/>
                </a:tc>
                <a:tc>
                  <a:txBody>
                    <a:bodyPr/>
                    <a:lstStyle/>
                    <a:p>
                      <a:r>
                        <a:rPr lang="en-US" altLang="en-US" sz="2000" dirty="0"/>
                        <a:t>Intravenous</a:t>
                      </a:r>
                      <a:endParaRPr lang="en-US" sz="2200" dirty="0"/>
                    </a:p>
                  </a:txBody>
                  <a:tcPr/>
                </a:tc>
                <a:extLst>
                  <a:ext uri="{0D108BD9-81ED-4DB2-BD59-A6C34878D82A}">
                    <a16:rowId xmlns:a16="http://schemas.microsoft.com/office/drawing/2014/main" val="10009"/>
                  </a:ext>
                </a:extLst>
              </a:tr>
              <a:tr h="370840">
                <a:tc>
                  <a:txBody>
                    <a:bodyPr/>
                    <a:lstStyle/>
                    <a:p>
                      <a:r>
                        <a:rPr lang="en-US" altLang="en-US" sz="2000" dirty="0"/>
                        <a:t>MAOI</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Monoamine oxidase inhibitor</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651914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3 of 5)</a:t>
            </a:r>
          </a:p>
        </p:txBody>
      </p:sp>
      <p:graphicFrame>
        <p:nvGraphicFramePr>
          <p:cNvPr id="7" name="Content Placeholder 6" descr="Group 3 of 5 Abbreviations with corresponding meanings."/>
          <p:cNvGraphicFramePr>
            <a:graphicFrameLocks noGrp="1"/>
          </p:cNvGraphicFramePr>
          <p:nvPr>
            <p:ph idx="1"/>
            <p:extLst>
              <p:ext uri="{D42A27DB-BD31-4B8C-83A1-F6EECF244321}">
                <p14:modId xmlns:p14="http://schemas.microsoft.com/office/powerpoint/2010/main" val="3884922310"/>
              </p:ext>
            </p:extLst>
          </p:nvPr>
        </p:nvGraphicFramePr>
        <p:xfrm>
          <a:off x="457200" y="1600200"/>
          <a:ext cx="8229600" cy="4419600"/>
        </p:xfrm>
        <a:graphic>
          <a:graphicData uri="http://schemas.openxmlformats.org/drawingml/2006/table">
            <a:tbl>
              <a:tblPr firstRow="1" bandRow="1">
                <a:tableStyleId>{C083E6E3-FA7D-4D7B-A595-EF9225AFEA82}</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000" dirty="0"/>
                        <a:t>mg</a:t>
                      </a:r>
                      <a:endParaRPr lang="en-US" sz="2200" dirty="0"/>
                    </a:p>
                  </a:txBody>
                  <a:tcPr/>
                </a:tc>
                <a:tc>
                  <a:txBody>
                    <a:bodyPr/>
                    <a:lstStyle/>
                    <a:p>
                      <a:r>
                        <a:rPr lang="en-US" altLang="en-US" sz="2000" dirty="0"/>
                        <a:t>Milligram</a:t>
                      </a:r>
                      <a:endParaRPr lang="en-US" sz="22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ml, mL</a:t>
                      </a:r>
                    </a:p>
                  </a:txBody>
                  <a:tcPr/>
                </a:tc>
                <a:tc>
                  <a:txBody>
                    <a:bodyPr/>
                    <a:lstStyle/>
                    <a:p>
                      <a:r>
                        <a:rPr lang="en-US" altLang="en-US" sz="2000" dirty="0"/>
                        <a:t>Milliliter</a:t>
                      </a:r>
                      <a:endParaRPr lang="en-US" sz="2200" dirty="0"/>
                    </a:p>
                  </a:txBody>
                  <a:tcPr/>
                </a:tc>
                <a:extLst>
                  <a:ext uri="{0D108BD9-81ED-4DB2-BD59-A6C34878D82A}">
                    <a16:rowId xmlns:a16="http://schemas.microsoft.com/office/drawing/2014/main" val="10002"/>
                  </a:ext>
                </a:extLst>
              </a:tr>
              <a:tr h="370840">
                <a:tc>
                  <a:txBody>
                    <a:bodyPr/>
                    <a:lstStyle/>
                    <a:p>
                      <a:r>
                        <a:rPr lang="en-US" altLang="en-US" sz="2000" dirty="0"/>
                        <a:t>NPO</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Nothing by mouth</a:t>
                      </a:r>
                    </a:p>
                  </a:txBody>
                  <a:tcPr/>
                </a:tc>
                <a:extLst>
                  <a:ext uri="{0D108BD9-81ED-4DB2-BD59-A6C34878D82A}">
                    <a16:rowId xmlns:a16="http://schemas.microsoft.com/office/drawing/2014/main" val="10003"/>
                  </a:ext>
                </a:extLst>
              </a:tr>
              <a:tr h="370840">
                <a:tc>
                  <a:txBody>
                    <a:bodyPr/>
                    <a:lstStyle/>
                    <a:p>
                      <a:r>
                        <a:rPr lang="en-US" altLang="en-US" sz="2000" dirty="0"/>
                        <a:t>NSAID</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err="1"/>
                        <a:t>Nonsteroidal</a:t>
                      </a:r>
                      <a:r>
                        <a:rPr lang="en-US" altLang="en-US" sz="2000" dirty="0"/>
                        <a:t> anti-inflammatory drug</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baseline="0" dirty="0"/>
                        <a:t>p</a:t>
                      </a:r>
                      <a:r>
                        <a:rPr lang="en-US" altLang="en-US" sz="2000" baseline="30000" dirty="0"/>
                        <a:t>-</a:t>
                      </a:r>
                      <a:endParaRPr lang="en-US" altLang="en-US" sz="2000" dirty="0"/>
                    </a:p>
                  </a:txBody>
                  <a:tcPr/>
                </a:tc>
                <a:tc>
                  <a:txBody>
                    <a:bodyPr/>
                    <a:lstStyle/>
                    <a:p>
                      <a:r>
                        <a:rPr lang="en-US" altLang="en-US" sz="2000" dirty="0"/>
                        <a:t>After</a:t>
                      </a:r>
                      <a:endParaRPr lang="en-US" sz="2200" dirty="0"/>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p.c., pc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After meals</a:t>
                      </a:r>
                    </a:p>
                  </a:txBody>
                  <a:tcPr/>
                </a:tc>
                <a:extLst>
                  <a:ext uri="{0D108BD9-81ED-4DB2-BD59-A6C34878D82A}">
                    <a16:rowId xmlns:a16="http://schemas.microsoft.com/office/drawing/2014/main" val="10006"/>
                  </a:ext>
                </a:extLst>
              </a:tr>
              <a:tr h="370840">
                <a:tc>
                  <a:txBody>
                    <a:bodyPr/>
                    <a:lstStyle/>
                    <a:p>
                      <a:r>
                        <a:rPr lang="en-US" altLang="en-US" sz="2000" dirty="0"/>
                        <a:t>PCA</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Patient-controlled analgesia</a:t>
                      </a:r>
                    </a:p>
                  </a:txBody>
                  <a:tcPr/>
                </a:tc>
                <a:extLst>
                  <a:ext uri="{0D108BD9-81ED-4DB2-BD59-A6C34878D82A}">
                    <a16:rowId xmlns:a16="http://schemas.microsoft.com/office/drawing/2014/main" val="10007"/>
                  </a:ext>
                </a:extLst>
              </a:tr>
              <a:tr h="370840">
                <a:tc>
                  <a:txBody>
                    <a:bodyPr/>
                    <a:lstStyle/>
                    <a:p>
                      <a:r>
                        <a:rPr lang="en-US" altLang="en-US" sz="2000" dirty="0"/>
                        <a:t>PDR</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Physicians’ Desk Reference</a:t>
                      </a:r>
                    </a:p>
                  </a:txBody>
                  <a:tcPr/>
                </a:tc>
                <a:extLst>
                  <a:ext uri="{0D108BD9-81ED-4DB2-BD59-A6C34878D82A}">
                    <a16:rowId xmlns:a16="http://schemas.microsoft.com/office/drawing/2014/main" val="1000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PO, </a:t>
                      </a:r>
                      <a:r>
                        <a:rPr lang="en-US" altLang="en-US" sz="2000" dirty="0" err="1"/>
                        <a:t>p.o.</a:t>
                      </a:r>
                      <a:r>
                        <a:rPr lang="en-US" altLang="en-US" sz="2000" dirty="0"/>
                        <a:t> </a:t>
                      </a:r>
                      <a:r>
                        <a:rPr lang="en-US" altLang="en-US" sz="2000" dirty="0" err="1"/>
                        <a:t>po</a:t>
                      </a:r>
                      <a:endParaRPr lang="en-US" alt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By mouth</a:t>
                      </a:r>
                    </a:p>
                  </a:txBody>
                  <a:tcPr/>
                </a:tc>
                <a:extLst>
                  <a:ext uri="{0D108BD9-81ED-4DB2-BD59-A6C34878D82A}">
                    <a16:rowId xmlns:a16="http://schemas.microsoft.com/office/drawing/2014/main" val="1000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err="1"/>
                        <a:t>p.r.n</a:t>
                      </a:r>
                      <a:r>
                        <a:rPr lang="en-US" altLang="en-US" sz="2000" dirty="0"/>
                        <a:t>., </a:t>
                      </a:r>
                      <a:r>
                        <a:rPr lang="en-US" altLang="en-US" sz="2000" dirty="0" err="1"/>
                        <a:t>prn</a:t>
                      </a:r>
                      <a:endParaRPr lang="en-US" alt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As needed, as necessary</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9926623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4 of 5)</a:t>
            </a:r>
          </a:p>
        </p:txBody>
      </p:sp>
      <p:graphicFrame>
        <p:nvGraphicFramePr>
          <p:cNvPr id="7" name="Content Placeholder 6" descr="Group 4 of 5 Abbreviations with corresponding meanings."/>
          <p:cNvGraphicFramePr>
            <a:graphicFrameLocks noGrp="1"/>
          </p:cNvGraphicFramePr>
          <p:nvPr>
            <p:ph idx="1"/>
            <p:extLst>
              <p:ext uri="{D42A27DB-BD31-4B8C-83A1-F6EECF244321}">
                <p14:modId xmlns:p14="http://schemas.microsoft.com/office/powerpoint/2010/main" val="4209896840"/>
              </p:ext>
            </p:extLst>
          </p:nvPr>
        </p:nvGraphicFramePr>
        <p:xfrm>
          <a:off x="457200" y="1600200"/>
          <a:ext cx="8229600" cy="4693920"/>
        </p:xfrm>
        <a:graphic>
          <a:graphicData uri="http://schemas.openxmlformats.org/drawingml/2006/table">
            <a:tbl>
              <a:tblPr firstRow="1" bandRow="1">
                <a:tableStyleId>{C083E6E3-FA7D-4D7B-A595-EF9225AFEA82}</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200" dirty="0" err="1"/>
                        <a:t>Pt</a:t>
                      </a:r>
                      <a:endParaRPr lang="en-US" sz="2200" dirty="0"/>
                    </a:p>
                  </a:txBody>
                  <a:tcPr/>
                </a:tc>
                <a:tc>
                  <a:txBody>
                    <a:bodyPr/>
                    <a:lstStyle/>
                    <a:p>
                      <a:r>
                        <a:rPr lang="en-US" altLang="en-US" sz="2000" dirty="0"/>
                        <a:t>Patient</a:t>
                      </a:r>
                      <a:endParaRPr lang="en-US" sz="22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q</a:t>
                      </a:r>
                    </a:p>
                  </a:txBody>
                  <a:tcPr/>
                </a:tc>
                <a:tc>
                  <a:txBody>
                    <a:bodyPr/>
                    <a:lstStyle/>
                    <a:p>
                      <a:r>
                        <a:rPr lang="en-US" altLang="en-US" sz="2000" dirty="0"/>
                        <a:t>Every</a:t>
                      </a:r>
                      <a:endParaRPr lang="en-US" sz="22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err="1"/>
                        <a:t>q.h</a:t>
                      </a:r>
                      <a:r>
                        <a:rPr lang="en-US" altLang="en-US" sz="2200" dirty="0"/>
                        <a:t>., </a:t>
                      </a:r>
                      <a:r>
                        <a:rPr lang="en-US" altLang="en-US" sz="2200" dirty="0" err="1"/>
                        <a:t>qh</a:t>
                      </a:r>
                      <a:endParaRPr lang="en-US" altLang="en-US" sz="2200" dirty="0">
                        <a:ea typeface="MS PGothic" panose="020B0600070205080204" pitchFamily="34" charset="-128"/>
                      </a:endParaRPr>
                    </a:p>
                  </a:txBody>
                  <a:tcPr/>
                </a:tc>
                <a:tc>
                  <a:txBody>
                    <a:bodyPr/>
                    <a:lstStyle/>
                    <a:p>
                      <a:pPr marL="0" indent="0" eaLnBrk="1" hangingPunct="1">
                        <a:buFont typeface="Wingdings 2" panose="05020102010507070707" pitchFamily="18" charset="2"/>
                        <a:buNone/>
                      </a:pPr>
                      <a:r>
                        <a:rPr lang="en-US" altLang="en-US" sz="2000" dirty="0"/>
                        <a:t>Every hour</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q2h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Every 2 hours</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err="1"/>
                        <a:t>q.i.d</a:t>
                      </a:r>
                      <a:r>
                        <a:rPr lang="en-US" altLang="en-US" sz="2200" dirty="0"/>
                        <a:t>., </a:t>
                      </a:r>
                      <a:r>
                        <a:rPr lang="en-US" altLang="en-US" sz="2200" dirty="0" err="1"/>
                        <a:t>qid</a:t>
                      </a:r>
                      <a:endParaRPr lang="en-US" altLang="en-US" sz="2200" dirty="0">
                        <a:ea typeface="MS PGothic" panose="020B0600070205080204" pitchFamily="34"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Four times a day</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q.s.,</a:t>
                      </a:r>
                      <a:r>
                        <a:rPr lang="en-US" altLang="en-US" sz="2200" dirty="0" err="1"/>
                        <a:t>qs</a:t>
                      </a:r>
                      <a:endParaRPr lang="en-US" altLang="en-US" sz="2200" dirty="0">
                        <a:ea typeface="MS PGothic" panose="020B0600070205080204" pitchFamily="34"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Sufficient quantity</a:t>
                      </a:r>
                    </a:p>
                  </a:txBody>
                  <a:tcPr/>
                </a:tc>
                <a:extLst>
                  <a:ext uri="{0D108BD9-81ED-4DB2-BD59-A6C34878D82A}">
                    <a16:rowId xmlns:a16="http://schemas.microsoft.com/office/drawing/2014/main" val="10006"/>
                  </a:ext>
                </a:extLst>
              </a:tr>
              <a:tr h="370840">
                <a:tc>
                  <a:txBody>
                    <a:bodyPr/>
                    <a:lstStyle/>
                    <a:p>
                      <a:r>
                        <a:rPr lang="en-US" altLang="en-US" sz="2200" dirty="0" err="1"/>
                        <a:t>qAM</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Every morning</a:t>
                      </a:r>
                    </a:p>
                  </a:txBody>
                  <a:tcPr/>
                </a:tc>
                <a:extLst>
                  <a:ext uri="{0D108BD9-81ED-4DB2-BD59-A6C34878D82A}">
                    <a16:rowId xmlns:a16="http://schemas.microsoft.com/office/drawing/2014/main" val="10007"/>
                  </a:ext>
                </a:extLst>
              </a:tr>
              <a:tr h="370840">
                <a:tc>
                  <a:txBody>
                    <a:bodyPr/>
                    <a:lstStyle/>
                    <a:p>
                      <a:r>
                        <a:rPr lang="en-US" altLang="en-US" sz="2200" dirty="0" err="1"/>
                        <a:t>qPM</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Every evening</a:t>
                      </a:r>
                    </a:p>
                  </a:txBody>
                  <a:tcPr/>
                </a:tc>
                <a:extLst>
                  <a:ext uri="{0D108BD9-81ED-4DB2-BD59-A6C34878D82A}">
                    <a16:rowId xmlns:a16="http://schemas.microsoft.com/office/drawing/2014/main" val="10008"/>
                  </a:ext>
                </a:extLst>
              </a:tr>
              <a:tr h="370840">
                <a:tc>
                  <a:txBody>
                    <a:bodyPr/>
                    <a:lstStyle/>
                    <a:p>
                      <a:r>
                        <a:rPr lang="en-US" altLang="en-US" sz="2200" dirty="0"/>
                        <a:t>Rx</a:t>
                      </a:r>
                      <a:endParaRPr lang="en-US" sz="2200" dirty="0"/>
                    </a:p>
                  </a:txBody>
                  <a:tcPr/>
                </a:tc>
                <a:tc>
                  <a:txBody>
                    <a:bodyPr/>
                    <a:lstStyle/>
                    <a:p>
                      <a:r>
                        <a:rPr lang="en-US" altLang="en-US" sz="2000" dirty="0"/>
                        <a:t>Prescription</a:t>
                      </a:r>
                      <a:endParaRPr lang="en-US" sz="2200" dirty="0"/>
                    </a:p>
                  </a:txBody>
                  <a:tcPr/>
                </a:tc>
                <a:extLst>
                  <a:ext uri="{0D108BD9-81ED-4DB2-BD59-A6C34878D82A}">
                    <a16:rowId xmlns:a16="http://schemas.microsoft.com/office/drawing/2014/main" val="1000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baseline="0" dirty="0"/>
                        <a:t>s</a:t>
                      </a:r>
                      <a:r>
                        <a:rPr lang="en-US" altLang="en-US" sz="2000" baseline="30000" dirty="0"/>
                        <a:t>-</a:t>
                      </a:r>
                      <a:endParaRPr lang="en-US" altLang="en-US" sz="2000" dirty="0">
                        <a:ea typeface="MS PGothic" panose="020B0600070205080204" pitchFamily="34" charset="-128"/>
                      </a:endParaRPr>
                    </a:p>
                  </a:txBody>
                  <a:tcPr/>
                </a:tc>
                <a:tc>
                  <a:txBody>
                    <a:bodyPr/>
                    <a:lstStyle/>
                    <a:p>
                      <a:r>
                        <a:rPr lang="en-US" altLang="en-US" sz="2000" dirty="0"/>
                        <a:t>Without</a:t>
                      </a:r>
                      <a:endParaRPr lang="en-US" sz="2200"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9519840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5 of 5)</a:t>
            </a:r>
          </a:p>
        </p:txBody>
      </p:sp>
      <p:graphicFrame>
        <p:nvGraphicFramePr>
          <p:cNvPr id="7" name="Content Placeholder 6" descr="Group 5 of 5 Abbreviations with corresponding meanings."/>
          <p:cNvGraphicFramePr>
            <a:graphicFrameLocks noGrp="1"/>
          </p:cNvGraphicFramePr>
          <p:nvPr>
            <p:ph idx="1"/>
            <p:extLst>
              <p:ext uri="{D42A27DB-BD31-4B8C-83A1-F6EECF244321}">
                <p14:modId xmlns:p14="http://schemas.microsoft.com/office/powerpoint/2010/main" val="2185283424"/>
              </p:ext>
            </p:extLst>
          </p:nvPr>
        </p:nvGraphicFramePr>
        <p:xfrm>
          <a:off x="457200" y="1600200"/>
          <a:ext cx="8229600" cy="4572000"/>
        </p:xfrm>
        <a:graphic>
          <a:graphicData uri="http://schemas.openxmlformats.org/drawingml/2006/table">
            <a:tbl>
              <a:tblPr firstRow="1" bandRow="1">
                <a:tableStyleId>{C083E6E3-FA7D-4D7B-A595-EF9225AFEA82}</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SERM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Selective estrogen receptor modulator</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Sig.</a:t>
                      </a:r>
                    </a:p>
                  </a:txBody>
                  <a:tcPr/>
                </a:tc>
                <a:tc>
                  <a:txBody>
                    <a:bodyPr/>
                    <a:lstStyle/>
                    <a:p>
                      <a:pPr marL="0" indent="0" eaLnBrk="1" hangingPunct="1">
                        <a:buFont typeface="Wingdings 2" panose="05020102010507070707" pitchFamily="18" charset="2"/>
                        <a:buNone/>
                      </a:pPr>
                      <a:r>
                        <a:rPr lang="en-US" altLang="en-US" sz="2400" dirty="0"/>
                        <a:t>Directions – how to take medication</a:t>
                      </a:r>
                    </a:p>
                  </a:txBody>
                  <a:tcPr/>
                </a:tc>
                <a:extLst>
                  <a:ext uri="{0D108BD9-81ED-4DB2-BD59-A6C34878D82A}">
                    <a16:rowId xmlns:a16="http://schemas.microsoft.com/office/drawing/2014/main" val="10002"/>
                  </a:ext>
                </a:extLst>
              </a:tr>
              <a:tr h="370840">
                <a:tc>
                  <a:txBody>
                    <a:bodyPr/>
                    <a:lstStyle/>
                    <a:p>
                      <a:r>
                        <a:rPr lang="en-US" altLang="en-US" sz="2400" dirty="0"/>
                        <a:t>SL</a:t>
                      </a:r>
                      <a:endParaRPr lang="en-US" sz="2400" dirty="0"/>
                    </a:p>
                  </a:txBody>
                  <a:tcPr/>
                </a:tc>
                <a:tc>
                  <a:txBody>
                    <a:bodyPr/>
                    <a:lstStyle/>
                    <a:p>
                      <a:r>
                        <a:rPr lang="en-US" altLang="en-US" sz="2400" dirty="0"/>
                        <a:t>Sublingual</a:t>
                      </a:r>
                      <a:endParaRPr 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s.o.s</a:t>
                      </a:r>
                      <a:r>
                        <a:rPr lang="en-US" altLang="en-US" sz="2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If it is necessary </a:t>
                      </a:r>
                      <a:r>
                        <a:rPr lang="en-US" altLang="en-US" sz="2400" i="1" dirty="0"/>
                        <a:t>(</a:t>
                      </a:r>
                      <a:r>
                        <a:rPr lang="en-US" altLang="en-US" sz="2400" i="1" dirty="0" err="1"/>
                        <a:t>si</a:t>
                      </a:r>
                      <a:r>
                        <a:rPr lang="en-US" altLang="en-US" sz="2400" i="1" dirty="0"/>
                        <a:t> opus sit)</a:t>
                      </a:r>
                    </a:p>
                  </a:txBody>
                  <a:tcPr/>
                </a:tc>
                <a:extLst>
                  <a:ext uri="{0D108BD9-81ED-4DB2-BD59-A6C34878D82A}">
                    <a16:rowId xmlns:a16="http://schemas.microsoft.com/office/drawing/2014/main" val="10004"/>
                  </a:ext>
                </a:extLst>
              </a:tr>
              <a:tr h="370840">
                <a:tc>
                  <a:txBody>
                    <a:bodyPr/>
                    <a:lstStyle/>
                    <a:p>
                      <a:r>
                        <a:rPr lang="en-US" altLang="en-US" sz="2400" dirty="0"/>
                        <a:t>SSRI</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Selective serotonin reuptake inhibitor</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SQ</a:t>
                      </a:r>
                    </a:p>
                  </a:txBody>
                  <a:tcPr/>
                </a:tc>
                <a:tc>
                  <a:txBody>
                    <a:bodyPr/>
                    <a:lstStyle/>
                    <a:p>
                      <a:r>
                        <a:rPr lang="en-US" altLang="en-US" sz="2400" dirty="0"/>
                        <a:t>Subcutaneous</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dirty="0"/>
                        <a:t>tab</a:t>
                      </a:r>
                      <a:endParaRPr lang="en-US" sz="2400" dirty="0"/>
                    </a:p>
                  </a:txBody>
                  <a:tcPr/>
                </a:tc>
                <a:tc>
                  <a:txBody>
                    <a:bodyPr/>
                    <a:lstStyle/>
                    <a:p>
                      <a:r>
                        <a:rPr lang="en-US" altLang="en-US" sz="2400" dirty="0"/>
                        <a:t>Tablet</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dirty="0"/>
                        <a:t>TCA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Tricyclic antidepressant</a:t>
                      </a:r>
                    </a:p>
                  </a:txBody>
                  <a:tcPr/>
                </a:tc>
                <a:extLst>
                  <a:ext uri="{0D108BD9-81ED-4DB2-BD59-A6C34878D82A}">
                    <a16:rowId xmlns:a16="http://schemas.microsoft.com/office/drawing/2014/main" val="1000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t.i.d.,</a:t>
                      </a:r>
                      <a:r>
                        <a:rPr lang="en-US" altLang="en-US" sz="2400" dirty="0" err="1"/>
                        <a:t>tid</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Three times daily </a:t>
                      </a:r>
                      <a:r>
                        <a:rPr lang="en-US" altLang="en-US" sz="2400" i="1" dirty="0"/>
                        <a:t>(</a:t>
                      </a:r>
                      <a:r>
                        <a:rPr lang="en-US" altLang="en-US" sz="2400" i="1" dirty="0" err="1"/>
                        <a:t>ter</a:t>
                      </a:r>
                      <a:r>
                        <a:rPr lang="en-US" altLang="en-US" sz="2400" i="1" dirty="0"/>
                        <a:t> in die)</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1055610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09600" y="228600"/>
            <a:ext cx="7772400" cy="1219200"/>
          </a:xfrm>
        </p:spPr>
        <p:txBody>
          <a:bodyPr/>
          <a:lstStyle/>
          <a:p>
            <a:pPr eaLnBrk="1" hangingPunct="1"/>
            <a:r>
              <a:rPr lang="en-US" altLang="en-US" dirty="0"/>
              <a:t>      QUICK QUIZ (Slide 3 of 3)</a:t>
            </a:r>
          </a:p>
        </p:txBody>
      </p:sp>
      <p:sp>
        <p:nvSpPr>
          <p:cNvPr id="63491" name="Rectangle 3"/>
          <p:cNvSpPr>
            <a:spLocks noGrp="1" noChangeArrowheads="1"/>
          </p:cNvSpPr>
          <p:nvPr>
            <p:ph idx="1"/>
          </p:nvPr>
        </p:nvSpPr>
        <p:spPr>
          <a:xfrm>
            <a:off x="762000" y="1676400"/>
            <a:ext cx="6934200" cy="4622800"/>
          </a:xfrm>
        </p:spPr>
        <p:txBody>
          <a:bodyPr>
            <a:spAutoFit/>
          </a:bodyPr>
          <a:lstStyle/>
          <a:p>
            <a:pPr marL="533400" indent="-533400" eaLnBrk="1" hangingPunct="1">
              <a:buFont typeface="Arial" panose="020B0604020202020204" pitchFamily="34" charset="0"/>
              <a:buAutoNum type="arabicPeriod" startAt="3"/>
            </a:pPr>
            <a:r>
              <a:rPr lang="en-US" altLang="en-US" b="1"/>
              <a:t>Which term means prevents nausea and vomiting?</a:t>
            </a:r>
          </a:p>
          <a:p>
            <a:pPr marL="533400" indent="-533400" eaLnBrk="1" hangingPunct="1">
              <a:buFont typeface="Wingdings 2" panose="05020102010507070707" pitchFamily="18" charset="2"/>
              <a:buNone/>
            </a:pPr>
            <a:endParaRPr lang="en-US" altLang="en-US" b="1"/>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Antibiotic</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Anticoagulant</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Antiplatelet</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Antiemetic</a:t>
            </a:r>
          </a:p>
          <a:p>
            <a:pPr marL="533400" indent="-533400" eaLnBrk="1" hangingPunct="1">
              <a:buFont typeface="Wingdings 2" panose="05020102010507070707" pitchFamily="18" charset="2"/>
              <a:buNone/>
            </a:pPr>
            <a:endParaRPr lang="en-US" altLang="en-US"/>
          </a:p>
        </p:txBody>
      </p:sp>
    </p:spTree>
    <p:extLst>
      <p:ext uri="{BB962C8B-B14F-4D97-AF65-F5344CB8AC3E}">
        <p14:creationId xmlns:p14="http://schemas.microsoft.com/office/powerpoint/2010/main" val="3052090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4248</TotalTime>
  <Words>2469</Words>
  <Application>Microsoft Office PowerPoint</Application>
  <PresentationFormat>On-screen Show (4:3)</PresentationFormat>
  <Paragraphs>489</Paragraphs>
  <Slides>41</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MS PGothic</vt:lpstr>
      <vt:lpstr>Arial</vt:lpstr>
      <vt:lpstr>Calibri</vt:lpstr>
      <vt:lpstr>Times New Roman</vt:lpstr>
      <vt:lpstr>Wingdings</vt:lpstr>
      <vt:lpstr>Wingdings 2</vt:lpstr>
      <vt:lpstr>Office Theme</vt:lpstr>
      <vt:lpstr>The Language of Medicine 13th edition</vt:lpstr>
      <vt:lpstr>Chapter 21 Pharmacology</vt:lpstr>
      <vt:lpstr>Chapter Goals (Slide 1 of 2)</vt:lpstr>
      <vt:lpstr>Chapter Goals (Slide 2 of 2)</vt:lpstr>
      <vt:lpstr>Chapter 21 Lesson 21.1</vt:lpstr>
      <vt:lpstr>Introduction</vt:lpstr>
      <vt:lpstr>Pharmacology Professionals</vt:lpstr>
      <vt:lpstr>Biological Effects of Drugs</vt:lpstr>
      <vt:lpstr>      QUICK QUIZ (Slide 1 of 3)</vt:lpstr>
      <vt:lpstr>Drug Names, Standards, and References</vt:lpstr>
      <vt:lpstr>Drug Standards and References</vt:lpstr>
      <vt:lpstr>Administration of Drugs</vt:lpstr>
      <vt:lpstr>Terminology of Drug Action</vt:lpstr>
      <vt:lpstr>      QUICK QUIZ (Slide 2 of 3)</vt:lpstr>
      <vt:lpstr>Drug Toxicity</vt:lpstr>
      <vt:lpstr>Chapter 21 Lesson 21.2</vt:lpstr>
      <vt:lpstr>Classes of Drugs</vt:lpstr>
      <vt:lpstr>Cardiovascular Drugs</vt:lpstr>
      <vt:lpstr>Endocrine Drugs</vt:lpstr>
      <vt:lpstr>Gastrointestinal Drugs</vt:lpstr>
      <vt:lpstr>Vocabulary (Slide 1 of 11)</vt:lpstr>
      <vt:lpstr>Vocabulary (Slide 2 of 11)</vt:lpstr>
      <vt:lpstr>Vocabulary (Slide 3 of 11)</vt:lpstr>
      <vt:lpstr>Vocabulary (Slide 4 of 11)</vt:lpstr>
      <vt:lpstr>Vocabulary (Slide 5 of 11)</vt:lpstr>
      <vt:lpstr>Vocabulary (Slide 6 of 11)</vt:lpstr>
      <vt:lpstr>Vocabulary (Slide 7 of 11)</vt:lpstr>
      <vt:lpstr>Vocabulary (Slide 8 of 11)</vt:lpstr>
      <vt:lpstr>Vocabulary (Slide 9 of 11)</vt:lpstr>
      <vt:lpstr>Vocabulary (Slide 10 of 11)</vt:lpstr>
      <vt:lpstr>Vocabulary (Slide 11 of 11)</vt:lpstr>
      <vt:lpstr>Combining Forms and Terminology (Slide 1 of 3)</vt:lpstr>
      <vt:lpstr>Combining Forms and Terminology (Slide 2 of 3)</vt:lpstr>
      <vt:lpstr>Combining Forms and Terminology (Slide 3 of 3)</vt:lpstr>
      <vt:lpstr>Prefixes and Terminology </vt:lpstr>
      <vt:lpstr>Abbreviations (Slide 1 of 5)</vt:lpstr>
      <vt:lpstr>Abbreviations (Slide 2 of 5)</vt:lpstr>
      <vt:lpstr>Abbreviations (Slide 3 of 5)</vt:lpstr>
      <vt:lpstr>Abbreviations (Slide 4 of 5)</vt:lpstr>
      <vt:lpstr>Abbreviations (Slide 5 of 5)</vt:lpstr>
      <vt:lpstr>      QUICK QUIZ (Slide 3 of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297</cp:revision>
  <cp:lastPrinted>2007-04-13T22:20:09Z</cp:lastPrinted>
  <dcterms:created xsi:type="dcterms:W3CDTF">2004-11-01T16:15:23Z</dcterms:created>
  <dcterms:modified xsi:type="dcterms:W3CDTF">2023-12-07T04:29:10Z</dcterms:modified>
</cp:coreProperties>
</file>