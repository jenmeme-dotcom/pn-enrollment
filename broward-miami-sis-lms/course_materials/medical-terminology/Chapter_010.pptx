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90"/>
  </p:notesMasterIdLst>
  <p:handoutMasterIdLst>
    <p:handoutMasterId r:id="rId91"/>
  </p:handoutMasterIdLst>
  <p:sldIdLst>
    <p:sldId id="332" r:id="rId2"/>
    <p:sldId id="338" r:id="rId3"/>
    <p:sldId id="339"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430" r:id="rId26"/>
    <p:sldId id="362" r:id="rId27"/>
    <p:sldId id="363" r:id="rId28"/>
    <p:sldId id="364" r:id="rId29"/>
    <p:sldId id="365" r:id="rId30"/>
    <p:sldId id="366" r:id="rId31"/>
    <p:sldId id="367" r:id="rId32"/>
    <p:sldId id="368" r:id="rId33"/>
    <p:sldId id="369"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8" r:id="rId53"/>
    <p:sldId id="389" r:id="rId54"/>
    <p:sldId id="390" r:id="rId55"/>
    <p:sldId id="391" r:id="rId56"/>
    <p:sldId id="392" r:id="rId57"/>
    <p:sldId id="393" r:id="rId58"/>
    <p:sldId id="394" r:id="rId59"/>
    <p:sldId id="395" r:id="rId60"/>
    <p:sldId id="396" r:id="rId61"/>
    <p:sldId id="397" r:id="rId62"/>
    <p:sldId id="398" r:id="rId63"/>
    <p:sldId id="399" r:id="rId64"/>
    <p:sldId id="400" r:id="rId65"/>
    <p:sldId id="401" r:id="rId66"/>
    <p:sldId id="402" r:id="rId67"/>
    <p:sldId id="403" r:id="rId68"/>
    <p:sldId id="404" r:id="rId69"/>
    <p:sldId id="405" r:id="rId70"/>
    <p:sldId id="406" r:id="rId71"/>
    <p:sldId id="407" r:id="rId72"/>
    <p:sldId id="408" r:id="rId73"/>
    <p:sldId id="409" r:id="rId74"/>
    <p:sldId id="410" r:id="rId75"/>
    <p:sldId id="411" r:id="rId76"/>
    <p:sldId id="412" r:id="rId77"/>
    <p:sldId id="413" r:id="rId78"/>
    <p:sldId id="414" r:id="rId79"/>
    <p:sldId id="415" r:id="rId80"/>
    <p:sldId id="416" r:id="rId81"/>
    <p:sldId id="417" r:id="rId82"/>
    <p:sldId id="418" r:id="rId83"/>
    <p:sldId id="419" r:id="rId84"/>
    <p:sldId id="421" r:id="rId85"/>
    <p:sldId id="423" r:id="rId86"/>
    <p:sldId id="425" r:id="rId87"/>
    <p:sldId id="427" r:id="rId88"/>
    <p:sldId id="429" r:id="rId8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EF79109B-97E8-4D9A-9104-1727018035E1}"/>
    <pc:docChg chg="modSld modMainMaster">
      <pc:chgData name="Ben Pfeifer" userId="fb68dd40a6c6cee7" providerId="LiveId" clId="{EF79109B-97E8-4D9A-9104-1727018035E1}" dt="2023-09-26T08:27:28.149" v="16" actId="12385"/>
      <pc:docMkLst>
        <pc:docMk/>
      </pc:docMkLst>
      <pc:sldChg chg="modSp mod">
        <pc:chgData name="Ben Pfeifer" userId="fb68dd40a6c6cee7" providerId="LiveId" clId="{EF79109B-97E8-4D9A-9104-1727018035E1}" dt="2023-09-26T08:23:30.964" v="1" actId="20577"/>
        <pc:sldMkLst>
          <pc:docMk/>
          <pc:sldMk cId="1428288934" sldId="332"/>
        </pc:sldMkLst>
        <pc:spChg chg="mod">
          <ac:chgData name="Ben Pfeifer" userId="fb68dd40a6c6cee7" providerId="LiveId" clId="{EF79109B-97E8-4D9A-9104-1727018035E1}" dt="2023-09-26T08:23:30.964" v="1" actId="20577"/>
          <ac:spMkLst>
            <pc:docMk/>
            <pc:sldMk cId="1428288934" sldId="332"/>
            <ac:spMk id="2" creationId="{00000000-0000-0000-0000-000000000000}"/>
          </ac:spMkLst>
        </pc:spChg>
      </pc:sldChg>
      <pc:sldChg chg="modSp mod">
        <pc:chgData name="Ben Pfeifer" userId="fb68dd40a6c6cee7" providerId="LiveId" clId="{EF79109B-97E8-4D9A-9104-1727018035E1}" dt="2023-09-26T08:27:08.769" v="8" actId="12385"/>
        <pc:sldMkLst>
          <pc:docMk/>
          <pc:sldMk cId="3073858590" sldId="400"/>
        </pc:sldMkLst>
        <pc:graphicFrameChg chg="modGraphic">
          <ac:chgData name="Ben Pfeifer" userId="fb68dd40a6c6cee7" providerId="LiveId" clId="{EF79109B-97E8-4D9A-9104-1727018035E1}" dt="2023-09-26T08:27:08.769" v="8" actId="12385"/>
          <ac:graphicFrameMkLst>
            <pc:docMk/>
            <pc:sldMk cId="3073858590" sldId="400"/>
            <ac:graphicFrameMk id="7" creationId="{00000000-0000-0000-0000-000000000000}"/>
          </ac:graphicFrameMkLst>
        </pc:graphicFrameChg>
      </pc:sldChg>
      <pc:sldChg chg="modSp mod">
        <pc:chgData name="Ben Pfeifer" userId="fb68dd40a6c6cee7" providerId="LiveId" clId="{EF79109B-97E8-4D9A-9104-1727018035E1}" dt="2023-09-26T08:27:11.245" v="9" actId="12385"/>
        <pc:sldMkLst>
          <pc:docMk/>
          <pc:sldMk cId="929832928" sldId="401"/>
        </pc:sldMkLst>
        <pc:graphicFrameChg chg="modGraphic">
          <ac:chgData name="Ben Pfeifer" userId="fb68dd40a6c6cee7" providerId="LiveId" clId="{EF79109B-97E8-4D9A-9104-1727018035E1}" dt="2023-09-26T08:27:11.245" v="9" actId="12385"/>
          <ac:graphicFrameMkLst>
            <pc:docMk/>
            <pc:sldMk cId="929832928" sldId="401"/>
            <ac:graphicFrameMk id="7" creationId="{00000000-0000-0000-0000-000000000000}"/>
          </ac:graphicFrameMkLst>
        </pc:graphicFrameChg>
      </pc:sldChg>
      <pc:sldChg chg="modSp mod">
        <pc:chgData name="Ben Pfeifer" userId="fb68dd40a6c6cee7" providerId="LiveId" clId="{EF79109B-97E8-4D9A-9104-1727018035E1}" dt="2023-09-26T08:27:13.822" v="10" actId="12385"/>
        <pc:sldMkLst>
          <pc:docMk/>
          <pc:sldMk cId="47402670" sldId="402"/>
        </pc:sldMkLst>
        <pc:graphicFrameChg chg="modGraphic">
          <ac:chgData name="Ben Pfeifer" userId="fb68dd40a6c6cee7" providerId="LiveId" clId="{EF79109B-97E8-4D9A-9104-1727018035E1}" dt="2023-09-26T08:27:13.822" v="10" actId="12385"/>
          <ac:graphicFrameMkLst>
            <pc:docMk/>
            <pc:sldMk cId="47402670" sldId="402"/>
            <ac:graphicFrameMk id="7" creationId="{00000000-0000-0000-0000-000000000000}"/>
          </ac:graphicFrameMkLst>
        </pc:graphicFrameChg>
      </pc:sldChg>
      <pc:sldChg chg="modSp mod">
        <pc:chgData name="Ben Pfeifer" userId="fb68dd40a6c6cee7" providerId="LiveId" clId="{EF79109B-97E8-4D9A-9104-1727018035E1}" dt="2023-09-26T08:27:15.893" v="11" actId="12385"/>
        <pc:sldMkLst>
          <pc:docMk/>
          <pc:sldMk cId="2391214451" sldId="403"/>
        </pc:sldMkLst>
        <pc:graphicFrameChg chg="modGraphic">
          <ac:chgData name="Ben Pfeifer" userId="fb68dd40a6c6cee7" providerId="LiveId" clId="{EF79109B-97E8-4D9A-9104-1727018035E1}" dt="2023-09-26T08:27:15.893" v="11" actId="12385"/>
          <ac:graphicFrameMkLst>
            <pc:docMk/>
            <pc:sldMk cId="2391214451" sldId="403"/>
            <ac:graphicFrameMk id="7" creationId="{00000000-0000-0000-0000-000000000000}"/>
          </ac:graphicFrameMkLst>
        </pc:graphicFrameChg>
      </pc:sldChg>
      <pc:sldChg chg="modSp mod">
        <pc:chgData name="Ben Pfeifer" userId="fb68dd40a6c6cee7" providerId="LiveId" clId="{EF79109B-97E8-4D9A-9104-1727018035E1}" dt="2023-09-26T08:27:17.973" v="12" actId="12385"/>
        <pc:sldMkLst>
          <pc:docMk/>
          <pc:sldMk cId="3817843494" sldId="404"/>
        </pc:sldMkLst>
        <pc:graphicFrameChg chg="modGraphic">
          <ac:chgData name="Ben Pfeifer" userId="fb68dd40a6c6cee7" providerId="LiveId" clId="{EF79109B-97E8-4D9A-9104-1727018035E1}" dt="2023-09-26T08:27:17.973" v="12" actId="12385"/>
          <ac:graphicFrameMkLst>
            <pc:docMk/>
            <pc:sldMk cId="3817843494" sldId="404"/>
            <ac:graphicFrameMk id="7" creationId="{00000000-0000-0000-0000-000000000000}"/>
          </ac:graphicFrameMkLst>
        </pc:graphicFrameChg>
      </pc:sldChg>
      <pc:sldChg chg="modSp mod">
        <pc:chgData name="Ben Pfeifer" userId="fb68dd40a6c6cee7" providerId="LiveId" clId="{EF79109B-97E8-4D9A-9104-1727018035E1}" dt="2023-09-26T08:27:19.901" v="13" actId="12385"/>
        <pc:sldMkLst>
          <pc:docMk/>
          <pc:sldMk cId="1737910105" sldId="405"/>
        </pc:sldMkLst>
        <pc:graphicFrameChg chg="modGraphic">
          <ac:chgData name="Ben Pfeifer" userId="fb68dd40a6c6cee7" providerId="LiveId" clId="{EF79109B-97E8-4D9A-9104-1727018035E1}" dt="2023-09-26T08:27:19.901" v="13" actId="12385"/>
          <ac:graphicFrameMkLst>
            <pc:docMk/>
            <pc:sldMk cId="1737910105" sldId="405"/>
            <ac:graphicFrameMk id="7" creationId="{00000000-0000-0000-0000-000000000000}"/>
          </ac:graphicFrameMkLst>
        </pc:graphicFrameChg>
      </pc:sldChg>
      <pc:sldChg chg="modSp mod">
        <pc:chgData name="Ben Pfeifer" userId="fb68dd40a6c6cee7" providerId="LiveId" clId="{EF79109B-97E8-4D9A-9104-1727018035E1}" dt="2023-09-26T08:27:21.891" v="14" actId="12385"/>
        <pc:sldMkLst>
          <pc:docMk/>
          <pc:sldMk cId="3343315273" sldId="416"/>
        </pc:sldMkLst>
        <pc:graphicFrameChg chg="modGraphic">
          <ac:chgData name="Ben Pfeifer" userId="fb68dd40a6c6cee7" providerId="LiveId" clId="{EF79109B-97E8-4D9A-9104-1727018035E1}" dt="2023-09-26T08:27:21.891" v="14" actId="12385"/>
          <ac:graphicFrameMkLst>
            <pc:docMk/>
            <pc:sldMk cId="3343315273" sldId="416"/>
            <ac:graphicFrameMk id="8" creationId="{00000000-0000-0000-0000-000000000000}"/>
          </ac:graphicFrameMkLst>
        </pc:graphicFrameChg>
      </pc:sldChg>
      <pc:sldChg chg="modSp mod">
        <pc:chgData name="Ben Pfeifer" userId="fb68dd40a6c6cee7" providerId="LiveId" clId="{EF79109B-97E8-4D9A-9104-1727018035E1}" dt="2023-09-26T08:27:25.182" v="15" actId="12385"/>
        <pc:sldMkLst>
          <pc:docMk/>
          <pc:sldMk cId="122600624" sldId="417"/>
        </pc:sldMkLst>
        <pc:graphicFrameChg chg="modGraphic">
          <ac:chgData name="Ben Pfeifer" userId="fb68dd40a6c6cee7" providerId="LiveId" clId="{EF79109B-97E8-4D9A-9104-1727018035E1}" dt="2023-09-26T08:27:25.182" v="15" actId="12385"/>
          <ac:graphicFrameMkLst>
            <pc:docMk/>
            <pc:sldMk cId="122600624" sldId="417"/>
            <ac:graphicFrameMk id="8" creationId="{00000000-0000-0000-0000-000000000000}"/>
          </ac:graphicFrameMkLst>
        </pc:graphicFrameChg>
      </pc:sldChg>
      <pc:sldChg chg="modSp mod">
        <pc:chgData name="Ben Pfeifer" userId="fb68dd40a6c6cee7" providerId="LiveId" clId="{EF79109B-97E8-4D9A-9104-1727018035E1}" dt="2023-09-26T08:27:28.149" v="16" actId="12385"/>
        <pc:sldMkLst>
          <pc:docMk/>
          <pc:sldMk cId="2713410732" sldId="418"/>
        </pc:sldMkLst>
        <pc:graphicFrameChg chg="modGraphic">
          <ac:chgData name="Ben Pfeifer" userId="fb68dd40a6c6cee7" providerId="LiveId" clId="{EF79109B-97E8-4D9A-9104-1727018035E1}" dt="2023-09-26T08:27:28.149" v="16" actId="12385"/>
          <ac:graphicFrameMkLst>
            <pc:docMk/>
            <pc:sldMk cId="2713410732" sldId="418"/>
            <ac:graphicFrameMk id="8" creationId="{00000000-0000-0000-0000-000000000000}"/>
          </ac:graphicFrameMkLst>
        </pc:graphicFrameChg>
      </pc:sldChg>
      <pc:sldMasterChg chg="modSp mod">
        <pc:chgData name="Ben Pfeifer" userId="fb68dd40a6c6cee7" providerId="LiveId" clId="{EF79109B-97E8-4D9A-9104-1727018035E1}" dt="2023-09-26T08:23:57.631" v="7" actId="20577"/>
        <pc:sldMasterMkLst>
          <pc:docMk/>
          <pc:sldMasterMk cId="0" sldId="2147483762"/>
        </pc:sldMasterMkLst>
        <pc:spChg chg="mod">
          <ac:chgData name="Ben Pfeifer" userId="fb68dd40a6c6cee7" providerId="LiveId" clId="{EF79109B-97E8-4D9A-9104-1727018035E1}" dt="2023-09-26T08:23:57.631" v="7"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F01E162-2A38-41C1-9CB0-9F13F584B3A0}" type="slidenum">
              <a:rPr lang="en-US" altLang="en-US" sz="1200"/>
              <a:pPr/>
              <a:t>2</a:t>
            </a:fld>
            <a:endParaRPr lang="en-US" altLang="en-US" sz="120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139535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8ED228C-062A-41DC-83B3-B7B66C7B42E2}" type="slidenum">
              <a:rPr lang="en-US" altLang="en-US" sz="1200"/>
              <a:pPr/>
              <a:t>3</a:t>
            </a:fld>
            <a:endParaRPr lang="en-US" altLang="en-US"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pPr>
              <a:buFontTx/>
              <a:buNone/>
            </a:pPr>
            <a:r>
              <a:rPr lang="en-US" altLang="en-US">
                <a:latin typeface="Times New Roman" panose="02020603050405020304" pitchFamily="18" charset="0"/>
              </a:rPr>
              <a:t>  </a:t>
            </a:r>
          </a:p>
        </p:txBody>
      </p:sp>
    </p:spTree>
    <p:extLst>
      <p:ext uri="{BB962C8B-B14F-4D97-AF65-F5344CB8AC3E}">
        <p14:creationId xmlns:p14="http://schemas.microsoft.com/office/powerpoint/2010/main" val="2832291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EC66586-713E-4CAE-BB97-78680FBC9222}" type="slidenum">
              <a:rPr lang="en-US" altLang="en-US" sz="1200"/>
              <a:pPr/>
              <a:t>4</a:t>
            </a:fld>
            <a:endParaRPr lang="en-US" altLang="en-US"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4178995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C4FA39E-378D-4B95-B3E8-6B7D01F01864}" type="slidenum">
              <a:rPr lang="en-US" altLang="en-US" sz="1200"/>
              <a:pPr/>
              <a:t>5</a:t>
            </a:fld>
            <a:endParaRPr lang="en-US" altLang="en-US" sz="120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91061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21C47C0-0A5E-4EE3-87D4-5EDF406B2FA1}" type="slidenum">
              <a:rPr lang="en-US" altLang="en-US" sz="1200"/>
              <a:pPr/>
              <a:t>6</a:t>
            </a:fld>
            <a:endParaRPr lang="en-US" altLang="en-US" sz="120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are external stimuli?</a:t>
            </a:r>
          </a:p>
          <a:p>
            <a:r>
              <a:rPr lang="en-US" altLang="en-US">
                <a:latin typeface="Times New Roman" panose="02020603050405020304" pitchFamily="18" charset="0"/>
              </a:rPr>
              <a:t>How can internal chemicals be stimuli? </a:t>
            </a:r>
          </a:p>
          <a:p>
            <a:r>
              <a:rPr lang="en-US" altLang="en-US">
                <a:latin typeface="Times New Roman" panose="02020603050405020304" pitchFamily="18" charset="0"/>
              </a:rPr>
              <a:t>What are some of the involuntary body functions controlled by the nervous system?</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3522259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9548FDC-67E6-4A29-98F7-F20412E235D6}" type="slidenum">
              <a:rPr lang="en-US" altLang="en-US" sz="1200"/>
              <a:pPr/>
              <a:t>7</a:t>
            </a:fld>
            <a:endParaRPr lang="en-US" altLang="en-US"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Internal and external stimuli activate the cell membranes to release stored electrical energy called the nervous impulse.</a:t>
            </a:r>
          </a:p>
          <a:p>
            <a:r>
              <a:rPr lang="en-US" altLang="en-US">
                <a:latin typeface="Times New Roman" panose="02020603050405020304" pitchFamily="18" charset="0"/>
              </a:rPr>
              <a:t>External and internal receptors receive and transmit these impulses to the brain and spinal cord (central nervous system).</a:t>
            </a:r>
          </a:p>
          <a:p>
            <a:r>
              <a:rPr lang="en-US" altLang="en-US">
                <a:latin typeface="Times New Roman" panose="02020603050405020304" pitchFamily="18" charset="0"/>
              </a:rPr>
              <a:t>The central nervous system recognizes, interprets, and relays impulses to other nerve cells that extend through parts of the body, such as muscles, glands, and organs. </a:t>
            </a:r>
          </a:p>
          <a:p>
            <a:r>
              <a:rPr lang="en-US" altLang="en-US">
                <a:latin typeface="Times New Roman" panose="02020603050405020304" pitchFamily="18" charset="0"/>
              </a:rPr>
              <a:t>What is the scope of influence nerve cells have on bodily function?</a:t>
            </a:r>
          </a:p>
        </p:txBody>
      </p:sp>
    </p:spTree>
    <p:extLst>
      <p:ext uri="{BB962C8B-B14F-4D97-AF65-F5344CB8AC3E}">
        <p14:creationId xmlns:p14="http://schemas.microsoft.com/office/powerpoint/2010/main" val="679575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5D79619-E1A9-46AB-B674-C688B825E1E3}" type="slidenum">
              <a:rPr lang="en-US" altLang="en-US" sz="1200"/>
              <a:pPr/>
              <a:t>8</a:t>
            </a:fld>
            <a:endParaRPr lang="en-US" altLang="en-US" sz="120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Cranial nerves carry electrical impulses between the brain and the head and neck (except the vagus nerve).</a:t>
            </a:r>
          </a:p>
          <a:p>
            <a:r>
              <a:rPr lang="en-US" altLang="en-US">
                <a:latin typeface="Times New Roman" panose="02020603050405020304" pitchFamily="18" charset="0"/>
              </a:rPr>
              <a:t>Spinal nerves carry impulses between the spinal cord and the chest, abdomen, and extremities.</a:t>
            </a:r>
          </a:p>
          <a:p>
            <a:r>
              <a:rPr lang="en-US" altLang="en-US">
                <a:latin typeface="Times New Roman" panose="02020603050405020304" pitchFamily="18" charset="0"/>
              </a:rPr>
              <a:t>Why is the 10th cranial nerve called the vagus nerve? What does it do? </a:t>
            </a: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4139625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4B08129-1AAC-434A-8BDA-9BAFC459ED5B}" type="slidenum">
              <a:rPr lang="en-US" altLang="en-US" sz="1200"/>
              <a:pPr/>
              <a:t>9</a:t>
            </a:fld>
            <a:endParaRPr lang="en-US" altLang="en-US"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is the difference between voluntary and involuntary functioning? </a:t>
            </a:r>
          </a:p>
          <a:p>
            <a:r>
              <a:rPr lang="en-US" altLang="en-US">
                <a:latin typeface="Times New Roman" panose="02020603050405020304" pitchFamily="18" charset="0"/>
              </a:rPr>
              <a:t>What are parasympathetic and sympathetic nerves?</a:t>
            </a:r>
          </a:p>
        </p:txBody>
      </p:sp>
    </p:spTree>
    <p:extLst>
      <p:ext uri="{BB962C8B-B14F-4D97-AF65-F5344CB8AC3E}">
        <p14:creationId xmlns:p14="http://schemas.microsoft.com/office/powerpoint/2010/main" val="2099589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535824C-E550-4A35-8E5E-DCC60738EDCF}" type="slidenum">
              <a:rPr lang="en-US" altLang="en-US" sz="1200"/>
              <a:pPr/>
              <a:t>10</a:t>
            </a:fld>
            <a:endParaRPr lang="en-US" altLang="en-US"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autonomic nervous system contains a large group of nerves that function automatically.</a:t>
            </a:r>
          </a:p>
          <a:p>
            <a:r>
              <a:rPr lang="en-US" altLang="en-US">
                <a:latin typeface="Times New Roman" panose="02020603050405020304" pitchFamily="18" charset="0"/>
              </a:rPr>
              <a:t>It controls the heart, blood vessels, glands, and involuntary muscles like the intestines, and hollow organs such as the stomach and urinary bladder.</a:t>
            </a:r>
          </a:p>
          <a:p>
            <a:r>
              <a:rPr lang="en-US" altLang="en-US">
                <a:latin typeface="Times New Roman" panose="02020603050405020304" pitchFamily="18" charset="0"/>
              </a:rPr>
              <a:t>Why is the autonomic nervous system necessary?</a:t>
            </a:r>
          </a:p>
        </p:txBody>
      </p:sp>
    </p:spTree>
    <p:extLst>
      <p:ext uri="{BB962C8B-B14F-4D97-AF65-F5344CB8AC3E}">
        <p14:creationId xmlns:p14="http://schemas.microsoft.com/office/powerpoint/2010/main" val="1993884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49B6C9C-7172-4185-A411-565B33CC800F}" type="slidenum">
              <a:rPr lang="en-US" altLang="en-US" sz="1200"/>
              <a:pPr/>
              <a:t>11</a:t>
            </a:fld>
            <a:endParaRPr lang="en-US" altLang="en-US" sz="12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How are stimuli processed by the nervous system? </a:t>
            </a:r>
          </a:p>
          <a:p>
            <a:r>
              <a:rPr lang="en-US" altLang="en-US">
                <a:latin typeface="Times New Roman" panose="02020603050405020304" pitchFamily="18" charset="0"/>
              </a:rPr>
              <a:t>What are the parenchymal cells of the nervous system? </a:t>
            </a:r>
          </a:p>
        </p:txBody>
      </p:sp>
    </p:spTree>
    <p:extLst>
      <p:ext uri="{BB962C8B-B14F-4D97-AF65-F5344CB8AC3E}">
        <p14:creationId xmlns:p14="http://schemas.microsoft.com/office/powerpoint/2010/main" val="1084087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EBA16EC-1D8E-47F4-8CBC-3D5A01E7F6FB}" type="slidenum">
              <a:rPr lang="en-US" altLang="en-US" sz="1200"/>
              <a:pPr/>
              <a:t>12</a:t>
            </a:fld>
            <a:endParaRPr lang="en-US" altLang="en-US" sz="1200"/>
          </a:p>
        </p:txBody>
      </p:sp>
      <p:sp>
        <p:nvSpPr>
          <p:cNvPr id="110595" name="Rectangle 4"/>
          <p:cNvSpPr>
            <a:spLocks noGrp="1" noRot="1" noChangeAspect="1" noChangeArrowheads="1" noTextEdit="1"/>
          </p:cNvSpPr>
          <p:nvPr>
            <p:ph type="sldImg"/>
          </p:nvPr>
        </p:nvSpPr>
        <p:spPr>
          <a:ln/>
        </p:spPr>
      </p:sp>
      <p:sp>
        <p:nvSpPr>
          <p:cNvPr id="110596"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structure carries the nerve impulse away from the cell body?</a:t>
            </a:r>
          </a:p>
          <a:p>
            <a:r>
              <a:rPr lang="en-US" altLang="en-US">
                <a:latin typeface="Times New Roman" panose="02020603050405020304" pitchFamily="18" charset="0"/>
              </a:rPr>
              <a:t>What substances are examples of neurotransmitters? </a:t>
            </a:r>
          </a:p>
          <a:p>
            <a:r>
              <a:rPr lang="en-US" altLang="en-US">
                <a:latin typeface="Times New Roman" panose="02020603050405020304" pitchFamily="18" charset="0"/>
              </a:rPr>
              <a:t>What is the singular form of </a:t>
            </a:r>
            <a:r>
              <a:rPr lang="ja-JP" altLang="en-US">
                <a:latin typeface="Times New Roman" panose="02020603050405020304" pitchFamily="18" charset="0"/>
              </a:rPr>
              <a:t>“</a:t>
            </a:r>
            <a:r>
              <a:rPr lang="en-US" altLang="ja-JP">
                <a:latin typeface="Times New Roman" panose="02020603050405020304" pitchFamily="18" charset="0"/>
              </a:rPr>
              <a:t>ganglia</a:t>
            </a:r>
            <a:r>
              <a:rPr lang="ja-JP" altLang="en-US">
                <a:latin typeface="Times New Roman" panose="02020603050405020304" pitchFamily="18" charset="0"/>
              </a:rPr>
              <a:t>”</a:t>
            </a:r>
            <a:r>
              <a:rPr lang="en-US" altLang="ja-JP">
                <a:latin typeface="Times New Roman" panose="02020603050405020304" pitchFamily="18" charset="0"/>
              </a:rPr>
              <a:t>?</a:t>
            </a:r>
            <a:endParaRPr lang="en-US" altLang="en-US">
              <a:latin typeface="Times New Roman" panose="02020603050405020304" pitchFamily="18" charset="0"/>
            </a:endParaRPr>
          </a:p>
        </p:txBody>
      </p:sp>
    </p:spTree>
    <p:extLst>
      <p:ext uri="{BB962C8B-B14F-4D97-AF65-F5344CB8AC3E}">
        <p14:creationId xmlns:p14="http://schemas.microsoft.com/office/powerpoint/2010/main" val="2168190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21C5F04-DB1A-4303-A547-E0E751904EFB}" type="slidenum">
              <a:rPr lang="en-US" altLang="en-US" sz="1200"/>
              <a:pPr/>
              <a:t>13</a:t>
            </a:fld>
            <a:endParaRPr lang="en-US" altLang="en-US" sz="1200"/>
          </a:p>
        </p:txBody>
      </p:sp>
      <p:sp>
        <p:nvSpPr>
          <p:cNvPr id="111619" name="Rectangle 4"/>
          <p:cNvSpPr>
            <a:spLocks noGrp="1" noRot="1" noChangeAspect="1" noChangeArrowheads="1" noTextEdit="1"/>
          </p:cNvSpPr>
          <p:nvPr>
            <p:ph type="sldImg"/>
          </p:nvPr>
        </p:nvSpPr>
        <p:spPr>
          <a:ln/>
        </p:spPr>
      </p:sp>
      <p:sp>
        <p:nvSpPr>
          <p:cNvPr id="111620"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Answers are on the next slide.</a:t>
            </a:r>
          </a:p>
          <a:p>
            <a:r>
              <a:rPr lang="en-US" altLang="en-US">
                <a:latin typeface="Times New Roman" panose="02020603050405020304" pitchFamily="18" charset="0"/>
              </a:rPr>
              <a:t>What are the parts of the neurons shown in this slide?</a:t>
            </a:r>
          </a:p>
          <a:p>
            <a:r>
              <a:rPr lang="en-US" altLang="en-US">
                <a:latin typeface="Times New Roman" panose="02020603050405020304" pitchFamily="18" charset="0"/>
              </a:rPr>
              <a:t>What structures comprise the parenchymal cells of the nervous system?</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4126421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FC8B29F-256A-4DBC-86A5-878EDD55C40B}" type="slidenum">
              <a:rPr lang="en-US" altLang="en-US" sz="1200"/>
              <a:pPr/>
              <a:t>14</a:t>
            </a:fld>
            <a:endParaRPr lang="en-US" altLang="en-US"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are the parts of the neurons shown in this slide?</a:t>
            </a:r>
          </a:p>
          <a:p>
            <a:r>
              <a:rPr lang="en-US" altLang="en-US">
                <a:latin typeface="Times New Roman" panose="02020603050405020304" pitchFamily="18" charset="0"/>
              </a:rPr>
              <a:t>What structures comprise the parenchymal cells of the nervous system?</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3366992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DB6550F-F7BB-4A8E-A5E9-8B1144B3C95C}" type="slidenum">
              <a:rPr lang="en-US" altLang="en-US" sz="1200"/>
              <a:pPr/>
              <a:t>15</a:t>
            </a:fld>
            <a:endParaRPr lang="en-US" altLang="en-US" sz="1200"/>
          </a:p>
        </p:txBody>
      </p:sp>
      <p:sp>
        <p:nvSpPr>
          <p:cNvPr id="113667" name="Rectangle 4"/>
          <p:cNvSpPr>
            <a:spLocks noGrp="1" noRot="1" noChangeAspect="1" noChangeArrowheads="1" noTextEdit="1"/>
          </p:cNvSpPr>
          <p:nvPr>
            <p:ph type="sldImg"/>
          </p:nvPr>
        </p:nvSpPr>
        <p:spPr>
          <a:ln/>
        </p:spPr>
      </p:sp>
      <p:sp>
        <p:nvSpPr>
          <p:cNvPr id="113668"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How do the glia cells keep the nervous system healthy?</a:t>
            </a:r>
          </a:p>
        </p:txBody>
      </p:sp>
    </p:spTree>
    <p:extLst>
      <p:ext uri="{BB962C8B-B14F-4D97-AF65-F5344CB8AC3E}">
        <p14:creationId xmlns:p14="http://schemas.microsoft.com/office/powerpoint/2010/main" val="2743166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666B202-BFAA-45D9-BFD7-995E221AA62C}" type="slidenum">
              <a:rPr lang="en-US" altLang="en-US" sz="1200"/>
              <a:pPr/>
              <a:t>16</a:t>
            </a:fld>
            <a:endParaRPr lang="en-US" altLang="en-US" sz="1200"/>
          </a:p>
        </p:txBody>
      </p:sp>
      <p:sp>
        <p:nvSpPr>
          <p:cNvPr id="114691" name="Rectangle 4"/>
          <p:cNvSpPr>
            <a:spLocks noGrp="1" noRot="1" noChangeAspect="1" noChangeArrowheads="1" noTextEdit="1"/>
          </p:cNvSpPr>
          <p:nvPr>
            <p:ph type="sldImg"/>
          </p:nvPr>
        </p:nvSpPr>
        <p:spPr>
          <a:ln/>
        </p:spPr>
      </p:sp>
      <p:sp>
        <p:nvSpPr>
          <p:cNvPr id="114692"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These are the supportive, protective, and connective cells of the central nervous system.</a:t>
            </a:r>
          </a:p>
          <a:p>
            <a:r>
              <a:rPr lang="en-US" altLang="en-US">
                <a:latin typeface="Times New Roman" panose="02020603050405020304" pitchFamily="18" charset="0"/>
              </a:rPr>
              <a:t>(</a:t>
            </a:r>
            <a:r>
              <a:rPr lang="en-US" altLang="en-US" b="1">
                <a:latin typeface="Times New Roman" panose="02020603050405020304" pitchFamily="18" charset="0"/>
              </a:rPr>
              <a:t>Recap</a:t>
            </a:r>
            <a:r>
              <a:rPr lang="en-US" altLang="en-US">
                <a:latin typeface="Times New Roman" panose="02020603050405020304" pitchFamily="18" charset="0"/>
              </a:rPr>
              <a:t>) What purpose does stromal tissue serve?</a:t>
            </a:r>
          </a:p>
        </p:txBody>
      </p:sp>
    </p:spTree>
    <p:extLst>
      <p:ext uri="{BB962C8B-B14F-4D97-AF65-F5344CB8AC3E}">
        <p14:creationId xmlns:p14="http://schemas.microsoft.com/office/powerpoint/2010/main" val="78698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8D5F355-B831-4637-9D88-0D672C9BEDCC}" type="slidenum">
              <a:rPr lang="en-US" altLang="en-US" sz="1200"/>
              <a:pPr/>
              <a:t>17</a:t>
            </a:fld>
            <a:endParaRPr lang="en-US" altLang="en-US" sz="120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3918987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1ABAE37-437A-4D0D-812A-1D23E24A6397}" type="slidenum">
              <a:rPr lang="en-US" altLang="en-US" sz="1200"/>
              <a:pPr/>
              <a:t>18</a:t>
            </a:fld>
            <a:endParaRPr lang="en-US" altLang="en-US" sz="1200"/>
          </a:p>
        </p:txBody>
      </p:sp>
      <p:sp>
        <p:nvSpPr>
          <p:cNvPr id="116739" name="Rectangle 4"/>
          <p:cNvSpPr>
            <a:spLocks noGrp="1" noRot="1" noChangeAspect="1" noChangeArrowheads="1" noTextEdit="1"/>
          </p:cNvSpPr>
          <p:nvPr>
            <p:ph type="sldImg"/>
          </p:nvPr>
        </p:nvSpPr>
        <p:spPr>
          <a:ln/>
        </p:spPr>
      </p:sp>
      <p:sp>
        <p:nvSpPr>
          <p:cNvPr id="116740"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pPr>
              <a:buFontTx/>
              <a:buNone/>
            </a:pPr>
            <a:r>
              <a:rPr lang="en-US" altLang="en-US">
                <a:latin typeface="Times New Roman" panose="02020603050405020304" pitchFamily="18" charset="0"/>
              </a:rPr>
              <a:t>.</a:t>
            </a:r>
          </a:p>
        </p:txBody>
      </p:sp>
    </p:spTree>
    <p:extLst>
      <p:ext uri="{BB962C8B-B14F-4D97-AF65-F5344CB8AC3E}">
        <p14:creationId xmlns:p14="http://schemas.microsoft.com/office/powerpoint/2010/main" val="40549783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B868AC9-BD79-414F-A255-6FF1202453BF}" type="slidenum">
              <a:rPr lang="en-US" altLang="en-US" sz="1200"/>
              <a:pPr/>
              <a:t>19</a:t>
            </a:fld>
            <a:endParaRPr lang="en-US" altLang="en-US" sz="120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brain is divided into right and left hemispheres.</a:t>
            </a:r>
          </a:p>
          <a:p>
            <a:r>
              <a:rPr lang="en-US" altLang="en-US">
                <a:latin typeface="Times New Roman" panose="02020603050405020304" pitchFamily="18" charset="0"/>
              </a:rPr>
              <a:t>The brain consists of four major lobes: the frontal lobe, parietal lobe, temporal lobe, and occipital lobe.</a:t>
            </a:r>
          </a:p>
          <a:p>
            <a:r>
              <a:rPr lang="en-US" altLang="en-US">
                <a:latin typeface="Times New Roman" panose="02020603050405020304" pitchFamily="18" charset="0"/>
              </a:rPr>
              <a:t>What are the parts of the left cerebral hemisphere as shown in the diagram?</a:t>
            </a:r>
          </a:p>
          <a:p>
            <a:r>
              <a:rPr lang="en-US" altLang="en-US">
                <a:latin typeface="Times New Roman" panose="02020603050405020304" pitchFamily="18" charset="0"/>
              </a:rPr>
              <a:t>What primary functions are carried out by the different lobes of the brain?</a:t>
            </a:r>
          </a:p>
        </p:txBody>
      </p:sp>
    </p:spTree>
    <p:extLst>
      <p:ext uri="{BB962C8B-B14F-4D97-AF65-F5344CB8AC3E}">
        <p14:creationId xmlns:p14="http://schemas.microsoft.com/office/powerpoint/2010/main" val="2767086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4607746-F14C-4EE1-9958-EE8CC4EF3270}" type="slidenum">
              <a:rPr lang="en-US" altLang="en-US" sz="1200"/>
              <a:pPr/>
              <a:t>20</a:t>
            </a:fld>
            <a:endParaRPr lang="en-US" altLang="en-US" sz="1200"/>
          </a:p>
        </p:txBody>
      </p:sp>
      <p:sp>
        <p:nvSpPr>
          <p:cNvPr id="118787" name="Rectangle 4"/>
          <p:cNvSpPr>
            <a:spLocks noGrp="1" noRot="1" noChangeAspect="1" noChangeArrowheads="1" noTextEdit="1"/>
          </p:cNvSpPr>
          <p:nvPr>
            <p:ph type="sldImg"/>
          </p:nvPr>
        </p:nvSpPr>
        <p:spPr>
          <a:ln/>
        </p:spPr>
      </p:sp>
      <p:sp>
        <p:nvSpPr>
          <p:cNvPr id="118788"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is the purpose of the cerebral cortex?</a:t>
            </a:r>
          </a:p>
          <a:p>
            <a:r>
              <a:rPr lang="en-US" altLang="en-US">
                <a:latin typeface="Times New Roman" panose="02020603050405020304" pitchFamily="18" charset="0"/>
              </a:rPr>
              <a:t>How many major divisions can be applied to the entire cerebral cortex?</a:t>
            </a:r>
          </a:p>
        </p:txBody>
      </p:sp>
    </p:spTree>
    <p:extLst>
      <p:ext uri="{BB962C8B-B14F-4D97-AF65-F5344CB8AC3E}">
        <p14:creationId xmlns:p14="http://schemas.microsoft.com/office/powerpoint/2010/main" val="642682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C6D98AA-A480-4392-AFD2-7DEA5562BB4F}" type="slidenum">
              <a:rPr lang="en-US" altLang="en-US" sz="1200"/>
              <a:pPr/>
              <a:t>21</a:t>
            </a:fld>
            <a:endParaRPr lang="en-US" altLang="en-US" sz="1200"/>
          </a:p>
        </p:txBody>
      </p:sp>
      <p:sp>
        <p:nvSpPr>
          <p:cNvPr id="119811" name="Rectangle 6"/>
          <p:cNvSpPr>
            <a:spLocks noGrp="1" noRot="1" noChangeAspect="1" noChangeArrowheads="1" noTextEdit="1"/>
          </p:cNvSpPr>
          <p:nvPr>
            <p:ph type="sldImg"/>
          </p:nvPr>
        </p:nvSpPr>
        <p:spPr>
          <a:ln/>
        </p:spPr>
      </p:sp>
      <p:sp>
        <p:nvSpPr>
          <p:cNvPr id="119812" name="Rectangle 7"/>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is the value of the ability to sense pain?</a:t>
            </a:r>
          </a:p>
        </p:txBody>
      </p:sp>
    </p:spTree>
    <p:extLst>
      <p:ext uri="{BB962C8B-B14F-4D97-AF65-F5344CB8AC3E}">
        <p14:creationId xmlns:p14="http://schemas.microsoft.com/office/powerpoint/2010/main" val="3101928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2BC1CEF-51D3-40E7-A6CB-BCB1C32A57A3}" type="slidenum">
              <a:rPr lang="en-US" altLang="en-US" sz="1200"/>
              <a:pPr/>
              <a:t>22</a:t>
            </a:fld>
            <a:endParaRPr lang="en-US" altLang="en-US" sz="1200"/>
          </a:p>
        </p:txBody>
      </p:sp>
      <p:sp>
        <p:nvSpPr>
          <p:cNvPr id="120835" name="Rectangle 4"/>
          <p:cNvSpPr>
            <a:spLocks noGrp="1" noRot="1" noChangeAspect="1" noChangeArrowheads="1" noTextEdit="1"/>
          </p:cNvSpPr>
          <p:nvPr>
            <p:ph type="sldImg"/>
          </p:nvPr>
        </p:nvSpPr>
        <p:spPr>
          <a:ln/>
        </p:spPr>
      </p:sp>
      <p:sp>
        <p:nvSpPr>
          <p:cNvPr id="120836"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How do messages travel from one side of the brain to another?</a:t>
            </a:r>
          </a:p>
        </p:txBody>
      </p:sp>
    </p:spTree>
    <p:extLst>
      <p:ext uri="{BB962C8B-B14F-4D97-AF65-F5344CB8AC3E}">
        <p14:creationId xmlns:p14="http://schemas.microsoft.com/office/powerpoint/2010/main" val="5682558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C7139E1-2ED5-4CC3-B193-0C9C767B2293}" type="slidenum">
              <a:rPr lang="en-US" altLang="en-US" sz="1200"/>
              <a:pPr/>
              <a:t>23</a:t>
            </a:fld>
            <a:endParaRPr lang="en-US" altLang="en-US" sz="1200"/>
          </a:p>
        </p:txBody>
      </p:sp>
      <p:sp>
        <p:nvSpPr>
          <p:cNvPr id="121859" name="Rectangle 4"/>
          <p:cNvSpPr>
            <a:spLocks noGrp="1" noRot="1" noChangeAspect="1" noChangeArrowheads="1" noTextEdit="1"/>
          </p:cNvSpPr>
          <p:nvPr>
            <p:ph type="sldImg"/>
          </p:nvPr>
        </p:nvSpPr>
        <p:spPr>
          <a:ln/>
        </p:spPr>
      </p:sp>
      <p:sp>
        <p:nvSpPr>
          <p:cNvPr id="121860"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19944685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A0BAF87-4F17-4D29-9B4B-EBA6260FE2FD}" type="slidenum">
              <a:rPr lang="en-US" altLang="en-US" sz="1200"/>
              <a:pPr/>
              <a:t>24</a:t>
            </a:fld>
            <a:endParaRPr lang="en-US" altLang="en-US" sz="1200"/>
          </a:p>
        </p:txBody>
      </p:sp>
      <p:sp>
        <p:nvSpPr>
          <p:cNvPr id="122883" name="Rectangle 4"/>
          <p:cNvSpPr>
            <a:spLocks noGrp="1" noRot="1" noChangeAspect="1" noChangeArrowheads="1" noTextEdit="1"/>
          </p:cNvSpPr>
          <p:nvPr>
            <p:ph type="sldImg"/>
          </p:nvPr>
        </p:nvSpPr>
        <p:spPr>
          <a:ln/>
        </p:spPr>
      </p:sp>
      <p:sp>
        <p:nvSpPr>
          <p:cNvPr id="122884"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How does the word </a:t>
            </a:r>
            <a:r>
              <a:rPr lang="ja-JP" altLang="en-US">
                <a:latin typeface="Times New Roman" panose="02020603050405020304" pitchFamily="18" charset="0"/>
              </a:rPr>
              <a:t>“</a:t>
            </a:r>
            <a:r>
              <a:rPr lang="en-US" altLang="ja-JP">
                <a:latin typeface="Times New Roman" panose="02020603050405020304" pitchFamily="18" charset="0"/>
              </a:rPr>
              <a:t>crossover</a:t>
            </a:r>
            <a:r>
              <a:rPr lang="ja-JP" altLang="en-US">
                <a:latin typeface="Times New Roman" panose="02020603050405020304" pitchFamily="18" charset="0"/>
              </a:rPr>
              <a:t>”</a:t>
            </a:r>
            <a:r>
              <a:rPr lang="en-US" altLang="ja-JP">
                <a:latin typeface="Times New Roman" panose="02020603050405020304" pitchFamily="18" charset="0"/>
              </a:rPr>
              <a:t> apply to a function of the medulla oblongata?</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24548943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The spinal cord is the column of nervous tissue from the medulla oblongata to the second lumbar vertebra.</a:t>
            </a:r>
          </a:p>
          <a:p>
            <a:r>
              <a:rPr lang="en-US" altLang="en-US" dirty="0">
                <a:latin typeface="Times New Roman" panose="02020603050405020304" pitchFamily="18" charset="0"/>
              </a:rPr>
              <a:t>It serves as a pathway for impulses to and from the brain.</a:t>
            </a:r>
          </a:p>
          <a:p>
            <a:r>
              <a:rPr lang="en-US" altLang="en-US" dirty="0">
                <a:latin typeface="Times New Roman" panose="02020603050405020304" pitchFamily="18" charset="0"/>
              </a:rPr>
              <a:t>The inner section of the cross section of the spinal cord is gray matter.</a:t>
            </a:r>
          </a:p>
          <a:p>
            <a:r>
              <a:rPr lang="en-US" altLang="en-US" dirty="0">
                <a:latin typeface="Times New Roman" panose="02020603050405020304" pitchFamily="18" charset="0"/>
              </a:rPr>
              <a:t>The outer section of the cross section of the spinal cord is white matter.</a:t>
            </a:r>
          </a:p>
          <a:p>
            <a:r>
              <a:rPr lang="en-US" altLang="en-US" dirty="0">
                <a:latin typeface="Times New Roman" panose="02020603050405020304" pitchFamily="18" charset="0"/>
              </a:rPr>
              <a:t>What is the difference between efferent and afferent neurons?</a:t>
            </a:r>
          </a:p>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25</a:t>
            </a:fld>
            <a:endParaRPr lang="en-US" altLang="en-US"/>
          </a:p>
        </p:txBody>
      </p:sp>
    </p:spTree>
    <p:extLst>
      <p:ext uri="{BB962C8B-B14F-4D97-AF65-F5344CB8AC3E}">
        <p14:creationId xmlns:p14="http://schemas.microsoft.com/office/powerpoint/2010/main" val="31071955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B31CB30-A23B-4FB7-A150-FE8FACAC1FE5}" type="slidenum">
              <a:rPr lang="en-US" altLang="en-US" sz="1200"/>
              <a:pPr/>
              <a:t>26</a:t>
            </a:fld>
            <a:endParaRPr lang="en-US" altLang="en-US" sz="1200"/>
          </a:p>
        </p:txBody>
      </p:sp>
      <p:sp>
        <p:nvSpPr>
          <p:cNvPr id="124931" name="Rectangle 4"/>
          <p:cNvSpPr>
            <a:spLocks noGrp="1" noRot="1" noChangeAspect="1" noChangeArrowheads="1" noTextEdit="1"/>
          </p:cNvSpPr>
          <p:nvPr>
            <p:ph type="sldImg"/>
          </p:nvPr>
        </p:nvSpPr>
        <p:spPr>
          <a:ln/>
        </p:spPr>
      </p:sp>
      <p:sp>
        <p:nvSpPr>
          <p:cNvPr id="124932"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Meninges are the three layers of connective tissue membranes that surround the brain and spinal cord.</a:t>
            </a:r>
          </a:p>
          <a:p>
            <a:r>
              <a:rPr lang="en-US" altLang="en-US">
                <a:latin typeface="Times New Roman" panose="02020603050405020304" pitchFamily="18" charset="0"/>
              </a:rPr>
              <a:t>What is the function of the outer dura mater? </a:t>
            </a:r>
            <a:r>
              <a:rPr lang="en-US" altLang="en-US" i="1">
                <a:latin typeface="Times New Roman" panose="02020603050405020304" pitchFamily="18" charset="0"/>
              </a:rPr>
              <a:t>(It channels blood to brain tissue</a:t>
            </a:r>
            <a:r>
              <a:rPr lang="en-US" altLang="en-US">
                <a:latin typeface="Times New Roman" panose="02020603050405020304" pitchFamily="18" charset="0"/>
              </a:rPr>
              <a:t>.</a:t>
            </a:r>
            <a:r>
              <a:rPr lang="en-US" altLang="en-US" i="1">
                <a:latin typeface="Times New Roman" panose="02020603050405020304" pitchFamily="18" charset="0"/>
              </a:rPr>
              <a:t>)</a:t>
            </a:r>
          </a:p>
          <a:p>
            <a:r>
              <a:rPr lang="en-US" altLang="en-US">
                <a:latin typeface="Times New Roman" panose="02020603050405020304" pitchFamily="18" charset="0"/>
              </a:rPr>
              <a:t>What fluid lies between the arachnoid membrane and the subarachnoid space? </a:t>
            </a:r>
          </a:p>
          <a:p>
            <a:r>
              <a:rPr lang="en-US" altLang="en-US">
                <a:latin typeface="Times New Roman" panose="02020603050405020304" pitchFamily="18" charset="0"/>
              </a:rPr>
              <a:t>The inner pia mater offers a rich supply of blood vessels.</a:t>
            </a:r>
          </a:p>
          <a:p>
            <a:r>
              <a:rPr lang="en-US" altLang="en-US">
                <a:latin typeface="Times New Roman" panose="02020603050405020304" pitchFamily="18" charset="0"/>
              </a:rPr>
              <a:t>Where are the layers of the meninges in the figure? </a:t>
            </a:r>
          </a:p>
          <a:p>
            <a:pPr lvl="2"/>
            <a:endParaRPr lang="en-US" altLang="en-US">
              <a:latin typeface="Times New Roman" panose="02020603050405020304" pitchFamily="18" charset="0"/>
            </a:endParaRPr>
          </a:p>
        </p:txBody>
      </p:sp>
    </p:spTree>
    <p:extLst>
      <p:ext uri="{BB962C8B-B14F-4D97-AF65-F5344CB8AC3E}">
        <p14:creationId xmlns:p14="http://schemas.microsoft.com/office/powerpoint/2010/main" val="2650094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7847FC9-346D-4358-AB96-7DFCC058AF12}" type="slidenum">
              <a:rPr lang="en-US" altLang="en-US" sz="1200"/>
              <a:pPr/>
              <a:t>27</a:t>
            </a:fld>
            <a:endParaRPr lang="en-US" altLang="en-US"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Meninges are the three layers of connective tissue membranes that surround the brain and spinal cord.</a:t>
            </a:r>
          </a:p>
          <a:p>
            <a:r>
              <a:rPr lang="en-US" altLang="en-US">
                <a:latin typeface="Times New Roman" panose="02020603050405020304" pitchFamily="18" charset="0"/>
              </a:rPr>
              <a:t>What is the function of the outer dura mater?</a:t>
            </a:r>
            <a:r>
              <a:rPr lang="en-US" altLang="en-US" i="1">
                <a:latin typeface="Times New Roman" panose="02020603050405020304" pitchFamily="18" charset="0"/>
              </a:rPr>
              <a:t> (It channels blood to brain tissue.)</a:t>
            </a:r>
          </a:p>
          <a:p>
            <a:r>
              <a:rPr lang="en-US" altLang="en-US">
                <a:latin typeface="Times New Roman" panose="02020603050405020304" pitchFamily="18" charset="0"/>
              </a:rPr>
              <a:t>What fluid lies between the arachnoid membrane and the subarachnoid space? </a:t>
            </a:r>
          </a:p>
          <a:p>
            <a:r>
              <a:rPr lang="en-US" altLang="en-US">
                <a:latin typeface="Times New Roman" panose="02020603050405020304" pitchFamily="18" charset="0"/>
              </a:rPr>
              <a:t>The inner pia mater offers a rich supply of blood vessels.</a:t>
            </a:r>
          </a:p>
          <a:p>
            <a:r>
              <a:rPr lang="en-US" altLang="en-US">
                <a:latin typeface="Times New Roman" panose="02020603050405020304" pitchFamily="18" charset="0"/>
              </a:rPr>
              <a:t>Where are the layers of the meninges in the figure? </a:t>
            </a:r>
          </a:p>
          <a:p>
            <a:pPr lvl="2"/>
            <a:endParaRPr lang="en-US" altLang="en-US">
              <a:latin typeface="Times New Roman" panose="02020603050405020304" pitchFamily="18" charset="0"/>
            </a:endParaRPr>
          </a:p>
        </p:txBody>
      </p:sp>
    </p:spTree>
    <p:extLst>
      <p:ext uri="{BB962C8B-B14F-4D97-AF65-F5344CB8AC3E}">
        <p14:creationId xmlns:p14="http://schemas.microsoft.com/office/powerpoint/2010/main" val="4807688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9A94762-0B73-4740-8472-E14FFD6C676C}" type="slidenum">
              <a:rPr lang="en-US" altLang="en-US" sz="1200"/>
              <a:pPr/>
              <a:t>62</a:t>
            </a:fld>
            <a:endParaRPr lang="en-US" altLang="en-US" sz="120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B: gyrus.</a:t>
            </a:r>
          </a:p>
        </p:txBody>
      </p:sp>
    </p:spTree>
    <p:extLst>
      <p:ext uri="{BB962C8B-B14F-4D97-AF65-F5344CB8AC3E}">
        <p14:creationId xmlns:p14="http://schemas.microsoft.com/office/powerpoint/2010/main" val="33657518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2BE5CB9-6BAA-4E30-A8B8-B903490FB93A}" type="slidenum">
              <a:rPr lang="en-US" altLang="en-US" sz="1200"/>
              <a:pPr/>
              <a:t>63</a:t>
            </a:fld>
            <a:endParaRPr lang="en-US" altLang="en-US"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A: pia mater.</a:t>
            </a:r>
          </a:p>
        </p:txBody>
      </p:sp>
    </p:spTree>
    <p:extLst>
      <p:ext uri="{BB962C8B-B14F-4D97-AF65-F5344CB8AC3E}">
        <p14:creationId xmlns:p14="http://schemas.microsoft.com/office/powerpoint/2010/main" val="8612310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66</a:t>
            </a:fld>
            <a:endParaRPr lang="en-US" altLang="en-US"/>
          </a:p>
        </p:txBody>
      </p:sp>
    </p:spTree>
    <p:extLst>
      <p:ext uri="{BB962C8B-B14F-4D97-AF65-F5344CB8AC3E}">
        <p14:creationId xmlns:p14="http://schemas.microsoft.com/office/powerpoint/2010/main" val="40485317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6431DD7-AA41-4DBE-84D2-EFCF96445A97}" type="slidenum">
              <a:rPr lang="en-US" altLang="en-US" sz="1200"/>
              <a:pPr/>
              <a:t>70</a:t>
            </a:fld>
            <a:endParaRPr lang="en-US" altLang="en-US" sz="120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D: neuralgia.</a:t>
            </a:r>
          </a:p>
        </p:txBody>
      </p:sp>
    </p:spTree>
    <p:extLst>
      <p:ext uri="{BB962C8B-B14F-4D97-AF65-F5344CB8AC3E}">
        <p14:creationId xmlns:p14="http://schemas.microsoft.com/office/powerpoint/2010/main" val="33495710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31EA31E-7097-41C7-9E98-EC64C2C7DA91}" type="slidenum">
              <a:rPr lang="en-US" altLang="en-US" sz="1200"/>
              <a:pPr/>
              <a:t>71</a:t>
            </a:fld>
            <a:endParaRPr lang="en-US" altLang="en-US" sz="120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B: epidural.  </a:t>
            </a:r>
          </a:p>
        </p:txBody>
      </p:sp>
    </p:spTree>
    <p:extLst>
      <p:ext uri="{BB962C8B-B14F-4D97-AF65-F5344CB8AC3E}">
        <p14:creationId xmlns:p14="http://schemas.microsoft.com/office/powerpoint/2010/main" val="2676967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EAE7845-20A6-4238-AD16-81814C4D2C92}" type="slidenum">
              <a:rPr lang="en-US" altLang="en-US" sz="1200"/>
              <a:pPr/>
              <a:t>72</a:t>
            </a:fld>
            <a:endParaRPr lang="en-US" altLang="en-US" sz="120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12420693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27DB0AB-9A62-4377-952E-972A251D0B16}" type="slidenum">
              <a:rPr lang="en-US" altLang="en-US" sz="1200"/>
              <a:pPr/>
              <a:t>73</a:t>
            </a:fld>
            <a:endParaRPr lang="en-US" altLang="en-US" sz="120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How is hydrocephalus treated?</a:t>
            </a:r>
          </a:p>
          <a:p>
            <a:r>
              <a:rPr lang="en-US" altLang="en-US">
                <a:latin typeface="Times New Roman" panose="02020603050405020304" pitchFamily="18" charset="0"/>
              </a:rPr>
              <a:t>What are the two types of spina bifida? Ask students to describe the differences between the two types.</a:t>
            </a:r>
          </a:p>
        </p:txBody>
      </p:sp>
    </p:spTree>
    <p:extLst>
      <p:ext uri="{BB962C8B-B14F-4D97-AF65-F5344CB8AC3E}">
        <p14:creationId xmlns:p14="http://schemas.microsoft.com/office/powerpoint/2010/main" val="5140244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32BEF2C-99D9-4A97-88FF-7B10447ED60C}" type="slidenum">
              <a:rPr lang="en-US" altLang="en-US" sz="1200"/>
              <a:pPr/>
              <a:t>74</a:t>
            </a:fld>
            <a:endParaRPr lang="en-US" altLang="en-US" sz="1200"/>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Which conditions are movement related?</a:t>
            </a:r>
          </a:p>
          <a:p>
            <a:r>
              <a:rPr lang="en-US" altLang="en-US">
                <a:latin typeface="Times New Roman" panose="02020603050405020304" pitchFamily="18" charset="0"/>
              </a:rPr>
              <a:t>Which conditions are degenerative?</a:t>
            </a:r>
          </a:p>
        </p:txBody>
      </p:sp>
    </p:spTree>
    <p:extLst>
      <p:ext uri="{BB962C8B-B14F-4D97-AF65-F5344CB8AC3E}">
        <p14:creationId xmlns:p14="http://schemas.microsoft.com/office/powerpoint/2010/main" val="14427992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EBBF8A8-54CA-428C-BA00-0C0131E41874}" type="slidenum">
              <a:rPr lang="en-US" altLang="en-US" sz="1200"/>
              <a:pPr/>
              <a:t>75</a:t>
            </a:fld>
            <a:endParaRPr lang="en-US" altLang="en-US" sz="1200"/>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is a viral infection caused by chickenpox? </a:t>
            </a:r>
          </a:p>
          <a:p>
            <a:r>
              <a:rPr lang="en-US" altLang="en-US">
                <a:latin typeface="Times New Roman" panose="02020603050405020304" pitchFamily="18" charset="0"/>
              </a:rPr>
              <a:t>What types of meningitis exist, and how is meningitis treated? </a:t>
            </a:r>
          </a:p>
          <a:p>
            <a:r>
              <a:rPr lang="en-US" altLang="en-US">
                <a:latin typeface="Times New Roman" panose="02020603050405020304" pitchFamily="18" charset="0"/>
              </a:rPr>
              <a:t>What is the most malignant form of brain tumor?</a:t>
            </a:r>
          </a:p>
        </p:txBody>
      </p:sp>
    </p:spTree>
    <p:extLst>
      <p:ext uri="{BB962C8B-B14F-4D97-AF65-F5344CB8AC3E}">
        <p14:creationId xmlns:p14="http://schemas.microsoft.com/office/powerpoint/2010/main" val="16848251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53B362A-04DF-4D2A-A7C7-3B3526F12BD0}" type="slidenum">
              <a:rPr lang="en-US" altLang="en-US" sz="1200"/>
              <a:pPr/>
              <a:t>76</a:t>
            </a:fld>
            <a:endParaRPr lang="en-US" altLang="en-US" sz="120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is the primary difference between a concussion and a contusion? </a:t>
            </a:r>
          </a:p>
        </p:txBody>
      </p:sp>
    </p:spTree>
    <p:extLst>
      <p:ext uri="{BB962C8B-B14F-4D97-AF65-F5344CB8AC3E}">
        <p14:creationId xmlns:p14="http://schemas.microsoft.com/office/powerpoint/2010/main" val="42575805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119F49D-F289-4610-826B-844E1CE6D1BE}" type="slidenum">
              <a:rPr lang="en-US" altLang="en-US" sz="1200"/>
              <a:pPr/>
              <a:t>77</a:t>
            </a:fld>
            <a:endParaRPr lang="en-US" altLang="en-US" sz="1200"/>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is the primary difference between a concussion and a contusion? </a:t>
            </a:r>
          </a:p>
        </p:txBody>
      </p:sp>
    </p:spTree>
    <p:extLst>
      <p:ext uri="{BB962C8B-B14F-4D97-AF65-F5344CB8AC3E}">
        <p14:creationId xmlns:p14="http://schemas.microsoft.com/office/powerpoint/2010/main" val="18086203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C992539-8328-45B2-8F16-59CFC39AD2BF}" type="slidenum">
              <a:rPr lang="en-US" altLang="en-US" sz="1200"/>
              <a:pPr/>
              <a:t>78</a:t>
            </a:fld>
            <a:endParaRPr lang="en-US" altLang="en-US" sz="1200"/>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There are three types of cerebrovascular accident (CVA): thrombotic, embolic, and hemorrhagic.</a:t>
            </a:r>
          </a:p>
          <a:p>
            <a:r>
              <a:rPr lang="en-US" altLang="en-US">
                <a:latin typeface="Times New Roman" panose="02020603050405020304" pitchFamily="18" charset="0"/>
              </a:rPr>
              <a:t>What is another name for CVA? </a:t>
            </a:r>
          </a:p>
          <a:p>
            <a:r>
              <a:rPr lang="en-US" altLang="en-US">
                <a:latin typeface="Times New Roman" panose="02020603050405020304" pitchFamily="18" charset="0"/>
              </a:rPr>
              <a:t>What causes a transient ischemic attack (TIA)?</a:t>
            </a:r>
            <a:endParaRPr lang="en-US" altLang="en-US" sz="1800">
              <a:latin typeface="Times New Roman" panose="02020603050405020304" pitchFamily="18" charset="0"/>
            </a:endParaRPr>
          </a:p>
          <a:p>
            <a:endParaRPr lang="en-US" altLang="en-US" sz="1800">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4404852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4F528C5-B23C-4E42-9183-B5599DB77BB2}" type="slidenum">
              <a:rPr lang="en-US" altLang="en-US" sz="1200"/>
              <a:pPr/>
              <a:t>79</a:t>
            </a:fld>
            <a:endParaRPr lang="en-US" altLang="en-US" sz="1200"/>
          </a:p>
        </p:txBody>
      </p:sp>
      <p:sp>
        <p:nvSpPr>
          <p:cNvPr id="144387" name="Rectangle 4"/>
          <p:cNvSpPr>
            <a:spLocks noGrp="1" noRot="1" noChangeAspect="1" noChangeArrowheads="1" noTextEdit="1"/>
          </p:cNvSpPr>
          <p:nvPr>
            <p:ph type="sldImg"/>
          </p:nvPr>
        </p:nvSpPr>
        <p:spPr>
          <a:ln/>
        </p:spPr>
      </p:sp>
      <p:sp>
        <p:nvSpPr>
          <p:cNvPr id="144388"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Which x-ray uses a contrast medium? </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8309170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88B0615-BF49-4353-B24D-C77EEBEDC33B}" type="slidenum">
              <a:rPr lang="en-US" altLang="en-US" sz="1200"/>
              <a:pPr/>
              <a:t>83</a:t>
            </a:fld>
            <a:endParaRPr lang="en-US" altLang="en-US" sz="1200"/>
          </a:p>
        </p:txBody>
      </p:sp>
      <p:sp>
        <p:nvSpPr>
          <p:cNvPr id="148483" name="Rectangle 4"/>
          <p:cNvSpPr>
            <a:spLocks noGrp="1" noRot="1" noChangeAspect="1" noChangeArrowheads="1" noTextEdit="1"/>
          </p:cNvSpPr>
          <p:nvPr>
            <p:ph type="sldImg"/>
          </p:nvPr>
        </p:nvSpPr>
        <p:spPr>
          <a:ln/>
        </p:spPr>
      </p:sp>
      <p:sp>
        <p:nvSpPr>
          <p:cNvPr id="148484" name="Rectangle 5"/>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a:lstStyle/>
          <a:p>
            <a:pPr>
              <a:buFontTx/>
              <a:buNone/>
            </a:pPr>
            <a:r>
              <a:rPr lang="en-US" altLang="en-US">
                <a:latin typeface="Times New Roman" panose="02020603050405020304" pitchFamily="18" charset="0"/>
              </a:rPr>
              <a:t> </a:t>
            </a:r>
          </a:p>
        </p:txBody>
      </p:sp>
    </p:spTree>
    <p:extLst>
      <p:ext uri="{BB962C8B-B14F-4D97-AF65-F5344CB8AC3E}">
        <p14:creationId xmlns:p14="http://schemas.microsoft.com/office/powerpoint/2010/main" val="543651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4BFB39E6-EAC7-3C5F-6A5F-063E8E9ABE15}"/>
              </a:ext>
            </a:extLst>
          </p:cNvPr>
          <p:cNvPicPr>
            <a:picLocks noChangeAspect="1"/>
          </p:cNvPicPr>
          <p:nvPr userDrawn="1"/>
        </p:nvPicPr>
        <p:blipFill>
          <a:blip r:embed="rId14"/>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5" name="Rectangle 3"/>
          <p:cNvSpPr>
            <a:spLocks noGrp="1" noChangeArrowheads="1"/>
          </p:cNvSpPr>
          <p:nvPr>
            <p:ph type="title"/>
          </p:nvPr>
        </p:nvSpPr>
        <p:spPr>
          <a:xfrm>
            <a:off x="914400" y="1295400"/>
            <a:ext cx="7620000" cy="1143000"/>
          </a:xfrm>
        </p:spPr>
        <p:txBody>
          <a:bodyPr rtlCol="0">
            <a:normAutofit fontScale="90000"/>
          </a:bodyPr>
          <a:lstStyle/>
          <a:p>
            <a:pPr eaLnBrk="1" fontAlgn="auto" hangingPunct="1">
              <a:spcAft>
                <a:spcPts val="0"/>
              </a:spcAft>
              <a:defRPr/>
            </a:pPr>
            <a:r>
              <a:rPr lang="en-US" dirty="0"/>
              <a:t>Chapter 10</a:t>
            </a:r>
            <a:br>
              <a:rPr lang="en-US" dirty="0"/>
            </a:br>
            <a:r>
              <a:rPr lang="en-US" dirty="0"/>
              <a:t>Nervous System</a:t>
            </a:r>
          </a:p>
        </p:txBody>
      </p:sp>
    </p:spTree>
    <p:extLst>
      <p:ext uri="{BB962C8B-B14F-4D97-AF65-F5344CB8AC3E}">
        <p14:creationId xmlns:p14="http://schemas.microsoft.com/office/powerpoint/2010/main" val="1649606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p:nvPr>
        </p:nvSpPr>
        <p:spPr/>
        <p:txBody>
          <a:bodyPr/>
          <a:lstStyle/>
          <a:p>
            <a:pPr eaLnBrk="1" hangingPunct="1"/>
            <a:r>
              <a:rPr lang="en-US" altLang="en-US" dirty="0"/>
              <a:t>Chapter Goals (Slide 1 of 2)</a:t>
            </a:r>
          </a:p>
        </p:txBody>
      </p:sp>
      <p:sp>
        <p:nvSpPr>
          <p:cNvPr id="5123" name="Rectangle 5"/>
          <p:cNvSpPr>
            <a:spLocks noGrp="1" noChangeArrowheads="1"/>
          </p:cNvSpPr>
          <p:nvPr>
            <p:ph idx="1"/>
          </p:nvPr>
        </p:nvSpPr>
        <p:spPr>
          <a:xfrm>
            <a:off x="685800" y="1600200"/>
            <a:ext cx="7772400" cy="4454525"/>
          </a:xfrm>
        </p:spPr>
        <p:txBody>
          <a:bodyPr/>
          <a:lstStyle/>
          <a:p>
            <a:pPr eaLnBrk="1" hangingPunct="1"/>
            <a:r>
              <a:rPr lang="en-US" altLang="en-US"/>
              <a:t>Name, locate, and describe major organs of the nervous system and their functions. </a:t>
            </a:r>
          </a:p>
          <a:p>
            <a:pPr eaLnBrk="1" hangingPunct="1"/>
            <a:r>
              <a:rPr lang="en-US" altLang="en-US"/>
              <a:t>Learn nervous system combining forms and use them with suffixes and prefixes.  </a:t>
            </a:r>
          </a:p>
          <a:p>
            <a:pPr eaLnBrk="1" hangingPunct="1"/>
            <a:r>
              <a:rPr lang="en-US" altLang="en-US"/>
              <a:t>Define pathologic conditions affecting the nervous system.</a:t>
            </a:r>
            <a:r>
              <a:rPr lang="en-US" altLang="en-US" sz="2400"/>
              <a:t> </a:t>
            </a:r>
          </a:p>
        </p:txBody>
      </p:sp>
    </p:spTree>
    <p:extLst>
      <p:ext uri="{BB962C8B-B14F-4D97-AF65-F5344CB8AC3E}">
        <p14:creationId xmlns:p14="http://schemas.microsoft.com/office/powerpoint/2010/main" val="1190044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p:txBody>
          <a:bodyPr/>
          <a:lstStyle/>
          <a:p>
            <a:pPr eaLnBrk="1" hangingPunct="1"/>
            <a:r>
              <a:rPr lang="en-US" altLang="en-US" dirty="0"/>
              <a:t>Chapter Goals (Slide 2 of 2)</a:t>
            </a:r>
          </a:p>
        </p:txBody>
      </p:sp>
      <p:sp>
        <p:nvSpPr>
          <p:cNvPr id="6147" name="Rectangle 5"/>
          <p:cNvSpPr>
            <a:spLocks noGrp="1" noChangeArrowheads="1"/>
          </p:cNvSpPr>
          <p:nvPr>
            <p:ph idx="1"/>
          </p:nvPr>
        </p:nvSpPr>
        <p:spPr/>
        <p:txBody>
          <a:bodyPr/>
          <a:lstStyle/>
          <a:p>
            <a:pPr eaLnBrk="1" hangingPunct="1"/>
            <a:r>
              <a:rPr lang="en-US" altLang="en-US"/>
              <a:t>Describe nervous system-related laboratory tests, clinical procedures, and abbreviations.  </a:t>
            </a:r>
          </a:p>
          <a:p>
            <a:pPr eaLnBrk="1" hangingPunct="1"/>
            <a:r>
              <a:rPr lang="en-US" altLang="en-US"/>
              <a:t>Apply your new knowledge to understanding medical terms in the proper contexts, such as medical reports and records. </a:t>
            </a:r>
          </a:p>
        </p:txBody>
      </p:sp>
    </p:spTree>
    <p:extLst>
      <p:ext uri="{BB962C8B-B14F-4D97-AF65-F5344CB8AC3E}">
        <p14:creationId xmlns:p14="http://schemas.microsoft.com/office/powerpoint/2010/main" val="1266394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1" name="Rectangle 5"/>
          <p:cNvSpPr>
            <a:spLocks noGrp="1" noChangeArrowheads="1"/>
          </p:cNvSpPr>
          <p:nvPr>
            <p:ph type="title"/>
          </p:nvPr>
        </p:nvSpPr>
        <p:spPr>
          <a:xfrm>
            <a:off x="457200" y="685800"/>
            <a:ext cx="8229600" cy="1143000"/>
          </a:xfrm>
        </p:spPr>
        <p:txBody>
          <a:bodyPr rtlCol="0">
            <a:normAutofit fontScale="90000"/>
          </a:bodyPr>
          <a:lstStyle/>
          <a:p>
            <a:pPr eaLnBrk="1" fontAlgn="auto" hangingPunct="1">
              <a:spcAft>
                <a:spcPts val="0"/>
              </a:spcAft>
              <a:defRPr/>
            </a:pPr>
            <a:r>
              <a:rPr lang="en-US" dirty="0"/>
              <a:t>Chapter 10</a:t>
            </a:r>
            <a:br>
              <a:rPr lang="en-US" dirty="0"/>
            </a:br>
            <a:r>
              <a:rPr lang="en-US" dirty="0"/>
              <a:t>Lesson 10.1</a:t>
            </a:r>
          </a:p>
        </p:txBody>
      </p:sp>
      <p:sp>
        <p:nvSpPr>
          <p:cNvPr id="7171" name="Rectangle 6"/>
          <p:cNvSpPr>
            <a:spLocks noGrp="1" noChangeArrowheads="1"/>
          </p:cNvSpPr>
          <p:nvPr>
            <p:ph idx="1"/>
          </p:nvPr>
        </p:nvSpPr>
        <p:spPr/>
        <p:txBody>
          <a:bodyPr/>
          <a:lstStyle/>
          <a:p>
            <a:pPr eaLnBrk="1" hangingPunct="1">
              <a:buFont typeface="Wingdings 2" panose="05020102010507070707" pitchFamily="18" charset="2"/>
              <a:buNone/>
            </a:pPr>
            <a:r>
              <a:rPr lang="en-US" altLang="en-US"/>
              <a:t> </a:t>
            </a:r>
          </a:p>
        </p:txBody>
      </p:sp>
    </p:spTree>
    <p:extLst>
      <p:ext uri="{BB962C8B-B14F-4D97-AF65-F5344CB8AC3E}">
        <p14:creationId xmlns:p14="http://schemas.microsoft.com/office/powerpoint/2010/main" val="1572838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Grp="1" noChangeArrowheads="1"/>
          </p:cNvSpPr>
          <p:nvPr>
            <p:ph type="title"/>
          </p:nvPr>
        </p:nvSpPr>
        <p:spPr/>
        <p:txBody>
          <a:bodyPr/>
          <a:lstStyle/>
          <a:p>
            <a:pPr eaLnBrk="1" hangingPunct="1"/>
            <a:r>
              <a:rPr lang="en-US" altLang="en-US" dirty="0"/>
              <a:t>Introduction (Slide 1 of 2)</a:t>
            </a:r>
          </a:p>
        </p:txBody>
      </p:sp>
      <p:sp>
        <p:nvSpPr>
          <p:cNvPr id="8195" name="Rectangle 6"/>
          <p:cNvSpPr>
            <a:spLocks noGrp="1" noChangeArrowheads="1"/>
          </p:cNvSpPr>
          <p:nvPr>
            <p:ph idx="1"/>
          </p:nvPr>
        </p:nvSpPr>
        <p:spPr/>
        <p:txBody>
          <a:bodyPr/>
          <a:lstStyle/>
          <a:p>
            <a:pPr eaLnBrk="1" hangingPunct="1">
              <a:buFont typeface="Wingdings 2" panose="05020102010507070707" pitchFamily="18" charset="2"/>
              <a:buNone/>
            </a:pPr>
            <a:r>
              <a:rPr lang="en-US" altLang="en-US"/>
              <a:t>Nervous system:</a:t>
            </a:r>
          </a:p>
          <a:p>
            <a:pPr eaLnBrk="1" hangingPunct="1"/>
            <a:r>
              <a:rPr lang="en-US" altLang="en-US"/>
              <a:t>Complex: 10 billion nerve cells</a:t>
            </a:r>
          </a:p>
          <a:p>
            <a:pPr eaLnBrk="1" hangingPunct="1"/>
            <a:r>
              <a:rPr lang="en-US" altLang="en-US"/>
              <a:t>Voluntary and involuntary functions</a:t>
            </a:r>
          </a:p>
          <a:p>
            <a:pPr eaLnBrk="1" hangingPunct="1"/>
            <a:r>
              <a:rPr lang="en-US" altLang="en-US"/>
              <a:t>Carries electrical messages</a:t>
            </a:r>
          </a:p>
          <a:p>
            <a:pPr eaLnBrk="1" hangingPunct="1"/>
            <a:r>
              <a:rPr lang="en-US" altLang="en-US"/>
              <a:t>External and internal receptors</a:t>
            </a:r>
          </a:p>
        </p:txBody>
      </p:sp>
    </p:spTree>
    <p:extLst>
      <p:ext uri="{BB962C8B-B14F-4D97-AF65-F5344CB8AC3E}">
        <p14:creationId xmlns:p14="http://schemas.microsoft.com/office/powerpoint/2010/main" val="3084772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eaLnBrk="1" hangingPunct="1"/>
            <a:r>
              <a:rPr lang="en-US" altLang="en-US" dirty="0"/>
              <a:t>Introduction (Slide 2 of 2)</a:t>
            </a:r>
          </a:p>
        </p:txBody>
      </p:sp>
      <p:sp>
        <p:nvSpPr>
          <p:cNvPr id="9219"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a:t>Nerve cells (neurons):</a:t>
            </a:r>
          </a:p>
          <a:p>
            <a:pPr eaLnBrk="1" hangingPunct="1"/>
            <a:r>
              <a:rPr lang="en-US" altLang="en-US"/>
              <a:t>Microscopic</a:t>
            </a:r>
          </a:p>
          <a:p>
            <a:pPr eaLnBrk="1" hangingPunct="1"/>
            <a:r>
              <a:rPr lang="en-US" altLang="en-US" dirty="0"/>
              <a:t>Collected into macroscopic nerves</a:t>
            </a:r>
          </a:p>
          <a:p>
            <a:pPr eaLnBrk="1" hangingPunct="1"/>
            <a:r>
              <a:rPr lang="en-US" altLang="en-US" dirty="0"/>
              <a:t>Carry electrical messages all over the body</a:t>
            </a:r>
          </a:p>
        </p:txBody>
      </p:sp>
    </p:spTree>
    <p:extLst>
      <p:ext uri="{BB962C8B-B14F-4D97-AF65-F5344CB8AC3E}">
        <p14:creationId xmlns:p14="http://schemas.microsoft.com/office/powerpoint/2010/main" val="279128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4" name="Rectangle 4"/>
          <p:cNvSpPr>
            <a:spLocks noGrp="1" noChangeArrowheads="1"/>
          </p:cNvSpPr>
          <p:nvPr>
            <p:ph type="title"/>
          </p:nvPr>
        </p:nvSpPr>
        <p:spPr/>
        <p:txBody>
          <a:bodyPr rtlCol="0">
            <a:normAutofit fontScale="90000"/>
          </a:bodyPr>
          <a:lstStyle/>
          <a:p>
            <a:pPr eaLnBrk="1" fontAlgn="auto" hangingPunct="1">
              <a:spcAft>
                <a:spcPts val="0"/>
              </a:spcAft>
              <a:defRPr/>
            </a:pPr>
            <a:r>
              <a:rPr lang="en-US" dirty="0"/>
              <a:t>General Structure of the </a:t>
            </a:r>
            <a:br>
              <a:rPr lang="en-US" dirty="0"/>
            </a:br>
            <a:r>
              <a:rPr lang="en-US" dirty="0"/>
              <a:t>Nervous System (Slide 1 of 3) </a:t>
            </a:r>
          </a:p>
        </p:txBody>
      </p:sp>
      <p:sp>
        <p:nvSpPr>
          <p:cNvPr id="409605" name="Rectangle 5"/>
          <p:cNvSpPr>
            <a:spLocks noGrp="1" noChangeArrowheads="1"/>
          </p:cNvSpPr>
          <p:nvPr>
            <p:ph idx="1"/>
          </p:nvPr>
        </p:nvSpPr>
        <p:spPr>
          <a:xfrm>
            <a:off x="685800" y="1447800"/>
            <a:ext cx="7772400" cy="4800600"/>
          </a:xfrm>
        </p:spPr>
        <p:txBody>
          <a:bodyPr rtlCol="0">
            <a:normAutofit fontScale="92500" lnSpcReduction="10000"/>
          </a:bodyPr>
          <a:lstStyle/>
          <a:p>
            <a:pPr eaLnBrk="1" fontAlgn="auto" hangingPunct="1">
              <a:spcAft>
                <a:spcPts val="0"/>
              </a:spcAft>
              <a:buFont typeface="Wingdings 2" pitchFamily="18" charset="2"/>
              <a:buNone/>
              <a:defRPr/>
            </a:pPr>
            <a:r>
              <a:rPr lang="en-US" dirty="0"/>
              <a:t>Two major divisions:</a:t>
            </a:r>
          </a:p>
          <a:p>
            <a:pPr eaLnBrk="1" fontAlgn="auto" hangingPunct="1">
              <a:spcAft>
                <a:spcPts val="0"/>
              </a:spcAft>
              <a:defRPr/>
            </a:pPr>
            <a:r>
              <a:rPr lang="en-US" b="1" dirty="0"/>
              <a:t>Central nervous system—CNS</a:t>
            </a:r>
          </a:p>
          <a:p>
            <a:pPr lvl="1" eaLnBrk="1" fontAlgn="auto" hangingPunct="1">
              <a:spcAft>
                <a:spcPts val="0"/>
              </a:spcAft>
              <a:buFont typeface="Wingdings" pitchFamily="2" charset="2"/>
              <a:buChar char="Ø"/>
              <a:defRPr/>
            </a:pPr>
            <a:r>
              <a:rPr lang="en-US" dirty="0"/>
              <a:t>Brain</a:t>
            </a:r>
          </a:p>
          <a:p>
            <a:pPr lvl="1" eaLnBrk="1" fontAlgn="auto" hangingPunct="1">
              <a:spcAft>
                <a:spcPts val="0"/>
              </a:spcAft>
              <a:buFont typeface="Wingdings" pitchFamily="2" charset="2"/>
              <a:buChar char="Ø"/>
              <a:defRPr/>
            </a:pPr>
            <a:r>
              <a:rPr lang="en-US" dirty="0"/>
              <a:t>Spinal cord</a:t>
            </a:r>
          </a:p>
          <a:p>
            <a:pPr lvl="1" eaLnBrk="1" fontAlgn="auto" hangingPunct="1">
              <a:spcAft>
                <a:spcPts val="0"/>
              </a:spcAft>
              <a:defRPr/>
            </a:pPr>
            <a:endParaRPr lang="en-US" dirty="0"/>
          </a:p>
          <a:p>
            <a:pPr eaLnBrk="1" fontAlgn="auto" hangingPunct="1">
              <a:spcAft>
                <a:spcPts val="0"/>
              </a:spcAft>
              <a:defRPr/>
            </a:pPr>
            <a:r>
              <a:rPr lang="en-US" b="1" dirty="0"/>
              <a:t>Peripheral nervous system—PNS</a:t>
            </a:r>
          </a:p>
          <a:p>
            <a:pPr lvl="1" eaLnBrk="1" fontAlgn="auto" hangingPunct="1">
              <a:spcAft>
                <a:spcPts val="0"/>
              </a:spcAft>
              <a:buFont typeface="Wingdings" pitchFamily="2" charset="2"/>
              <a:buChar char="Ø"/>
              <a:defRPr/>
            </a:pPr>
            <a:r>
              <a:rPr lang="en-US" dirty="0"/>
              <a:t>Cranial nerves</a:t>
            </a:r>
          </a:p>
          <a:p>
            <a:pPr lvl="1" eaLnBrk="1" fontAlgn="auto" hangingPunct="1">
              <a:spcAft>
                <a:spcPts val="0"/>
              </a:spcAft>
              <a:buFont typeface="Wingdings" pitchFamily="2" charset="2"/>
              <a:buChar char="Ø"/>
              <a:defRPr/>
            </a:pPr>
            <a:r>
              <a:rPr lang="en-US" dirty="0"/>
              <a:t>Spinal nerves</a:t>
            </a:r>
          </a:p>
          <a:p>
            <a:pPr lvl="1" eaLnBrk="1" fontAlgn="auto" hangingPunct="1">
              <a:spcAft>
                <a:spcPts val="0"/>
              </a:spcAft>
              <a:buFont typeface="Wingdings" pitchFamily="2" charset="2"/>
              <a:buChar char="Ø"/>
              <a:defRPr/>
            </a:pPr>
            <a:r>
              <a:rPr lang="en-US" dirty="0"/>
              <a:t>Plexuses</a:t>
            </a:r>
          </a:p>
          <a:p>
            <a:pPr lvl="1" eaLnBrk="1" fontAlgn="auto" hangingPunct="1">
              <a:spcAft>
                <a:spcPts val="0"/>
              </a:spcAft>
              <a:buFont typeface="Wingdings" pitchFamily="2" charset="2"/>
              <a:buChar char="Ø"/>
              <a:defRPr/>
            </a:pPr>
            <a:r>
              <a:rPr lang="en-US" dirty="0"/>
              <a:t>Peripheral nerves throughout the body</a:t>
            </a:r>
          </a:p>
        </p:txBody>
      </p:sp>
    </p:spTree>
    <p:extLst>
      <p:ext uri="{BB962C8B-B14F-4D97-AF65-F5344CB8AC3E}">
        <p14:creationId xmlns:p14="http://schemas.microsoft.com/office/powerpoint/2010/main" val="276231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2" name="Rectangle 4"/>
          <p:cNvSpPr>
            <a:spLocks noGrp="1" noChangeArrowheads="1"/>
          </p:cNvSpPr>
          <p:nvPr>
            <p:ph type="title"/>
          </p:nvPr>
        </p:nvSpPr>
        <p:spPr/>
        <p:txBody>
          <a:bodyPr rtlCol="0">
            <a:normAutofit fontScale="90000"/>
          </a:bodyPr>
          <a:lstStyle/>
          <a:p>
            <a:pPr eaLnBrk="1" fontAlgn="auto" hangingPunct="1">
              <a:spcAft>
                <a:spcPts val="0"/>
              </a:spcAft>
              <a:defRPr/>
            </a:pPr>
            <a:r>
              <a:rPr lang="en-US" dirty="0"/>
              <a:t>General Structure of the </a:t>
            </a:r>
            <a:br>
              <a:rPr lang="en-US" dirty="0"/>
            </a:br>
            <a:r>
              <a:rPr lang="en-US" dirty="0"/>
              <a:t>Nervous System (Slide 2 of 3)</a:t>
            </a:r>
          </a:p>
        </p:txBody>
      </p:sp>
      <p:sp>
        <p:nvSpPr>
          <p:cNvPr id="478213" name="Rectangle 5"/>
          <p:cNvSpPr>
            <a:spLocks noGrp="1" noChangeArrowheads="1"/>
          </p:cNvSpPr>
          <p:nvPr>
            <p:ph idx="1"/>
          </p:nvPr>
        </p:nvSpPr>
        <p:spPr>
          <a:xfrm>
            <a:off x="609600" y="2209800"/>
            <a:ext cx="7772400" cy="3048000"/>
          </a:xfrm>
        </p:spPr>
        <p:txBody>
          <a:bodyPr rtlCol="0">
            <a:normAutofit fontScale="92500"/>
          </a:bodyPr>
          <a:lstStyle/>
          <a:p>
            <a:pPr eaLnBrk="1" fontAlgn="auto" hangingPunct="1">
              <a:spcAft>
                <a:spcPts val="0"/>
              </a:spcAft>
              <a:defRPr/>
            </a:pPr>
            <a:r>
              <a:rPr lang="en-US" dirty="0"/>
              <a:t>Cranial and spinal nerves</a:t>
            </a:r>
          </a:p>
          <a:p>
            <a:pPr lvl="1" eaLnBrk="1" fontAlgn="auto" hangingPunct="1">
              <a:spcAft>
                <a:spcPts val="0"/>
              </a:spcAft>
              <a:buFont typeface="Wingdings" pitchFamily="2" charset="2"/>
              <a:buChar char="Ø"/>
              <a:defRPr/>
            </a:pPr>
            <a:r>
              <a:rPr lang="en-US" dirty="0"/>
              <a:t>Sensory nerves carry messages toward the brain</a:t>
            </a:r>
          </a:p>
          <a:p>
            <a:pPr lvl="1" eaLnBrk="1" fontAlgn="auto" hangingPunct="1">
              <a:spcAft>
                <a:spcPts val="0"/>
              </a:spcAft>
              <a:buFont typeface="Wingdings" pitchFamily="2" charset="2"/>
              <a:buChar char="Ø"/>
              <a:defRPr/>
            </a:pPr>
            <a:r>
              <a:rPr lang="en-US" dirty="0"/>
              <a:t>Motor nerves carry messages from the brain</a:t>
            </a:r>
          </a:p>
          <a:p>
            <a:pPr lvl="1" eaLnBrk="1" fontAlgn="auto" hangingPunct="1">
              <a:spcAft>
                <a:spcPts val="0"/>
              </a:spcAft>
              <a:buFont typeface="Wingdings" pitchFamily="2" charset="2"/>
              <a:buChar char="Ø"/>
              <a:defRPr/>
            </a:pPr>
            <a:r>
              <a:rPr lang="en-US" dirty="0"/>
              <a:t>Mixed nerves carry both sensory and motor fibers </a:t>
            </a:r>
          </a:p>
          <a:p>
            <a:pPr eaLnBrk="1" fontAlgn="auto" hangingPunct="1">
              <a:spcAft>
                <a:spcPts val="0"/>
              </a:spcAft>
              <a:defRPr/>
            </a:pPr>
            <a:r>
              <a:rPr lang="en-US" dirty="0"/>
              <a:t>Sensory receptors</a:t>
            </a:r>
          </a:p>
        </p:txBody>
      </p:sp>
    </p:spTree>
    <p:extLst>
      <p:ext uri="{BB962C8B-B14F-4D97-AF65-F5344CB8AC3E}">
        <p14:creationId xmlns:p14="http://schemas.microsoft.com/office/powerpoint/2010/main" val="2792308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60" name="Rectangle 4"/>
          <p:cNvSpPr>
            <a:spLocks noGrp="1" noChangeArrowheads="1"/>
          </p:cNvSpPr>
          <p:nvPr>
            <p:ph type="title"/>
          </p:nvPr>
        </p:nvSpPr>
        <p:spPr/>
        <p:txBody>
          <a:bodyPr rtlCol="0">
            <a:normAutofit fontScale="90000"/>
          </a:bodyPr>
          <a:lstStyle/>
          <a:p>
            <a:pPr eaLnBrk="1" fontAlgn="auto" hangingPunct="1">
              <a:spcAft>
                <a:spcPts val="0"/>
              </a:spcAft>
              <a:defRPr/>
            </a:pPr>
            <a:r>
              <a:rPr lang="en-US" dirty="0"/>
              <a:t>General Structure of the </a:t>
            </a:r>
            <a:br>
              <a:rPr lang="en-US" dirty="0"/>
            </a:br>
            <a:r>
              <a:rPr lang="en-US" dirty="0"/>
              <a:t>Nervous System (Slide 3 of 3)</a:t>
            </a:r>
          </a:p>
        </p:txBody>
      </p:sp>
      <p:sp>
        <p:nvSpPr>
          <p:cNvPr id="12291" name="Rectangle 5"/>
          <p:cNvSpPr>
            <a:spLocks noGrp="1" noChangeArrowheads="1"/>
          </p:cNvSpPr>
          <p:nvPr>
            <p:ph idx="1"/>
          </p:nvPr>
        </p:nvSpPr>
        <p:spPr/>
        <p:txBody>
          <a:bodyPr/>
          <a:lstStyle/>
          <a:p>
            <a:pPr eaLnBrk="1" hangingPunct="1">
              <a:lnSpc>
                <a:spcPct val="90000"/>
              </a:lnSpc>
              <a:buFont typeface="Wingdings 2" panose="05020102010507070707" pitchFamily="18" charset="2"/>
              <a:buNone/>
            </a:pPr>
            <a:r>
              <a:rPr lang="en-US" altLang="en-US" b="1"/>
              <a:t>Autonomic nervous system:</a:t>
            </a:r>
          </a:p>
          <a:p>
            <a:pPr eaLnBrk="1" hangingPunct="1">
              <a:lnSpc>
                <a:spcPct val="90000"/>
              </a:lnSpc>
            </a:pPr>
            <a:r>
              <a:rPr lang="en-US" altLang="en-US"/>
              <a:t>Carries impulses from the central nervous system to the organs</a:t>
            </a:r>
          </a:p>
          <a:p>
            <a:pPr eaLnBrk="1" hangingPunct="1">
              <a:lnSpc>
                <a:spcPct val="90000"/>
              </a:lnSpc>
            </a:pPr>
            <a:r>
              <a:rPr lang="en-US" altLang="en-US" b="1"/>
              <a:t>Sympathetic</a:t>
            </a:r>
            <a:r>
              <a:rPr lang="en-US" altLang="en-US"/>
              <a:t> nerves stimulate the body under stress</a:t>
            </a:r>
          </a:p>
          <a:p>
            <a:pPr eaLnBrk="1" hangingPunct="1">
              <a:lnSpc>
                <a:spcPct val="90000"/>
              </a:lnSpc>
            </a:pPr>
            <a:r>
              <a:rPr lang="en-US" altLang="en-US" b="1"/>
              <a:t>Parasympathetic</a:t>
            </a:r>
            <a:r>
              <a:rPr lang="en-US" altLang="en-US"/>
              <a:t> nerves balance the sympathetic system </a:t>
            </a:r>
          </a:p>
          <a:p>
            <a:pPr lvl="1" eaLnBrk="1" hangingPunct="1">
              <a:lnSpc>
                <a:spcPct val="90000"/>
              </a:lnSpc>
              <a:buFont typeface="Wingdings" panose="05000000000000000000" pitchFamily="2" charset="2"/>
              <a:buChar char="Ø"/>
            </a:pPr>
            <a:r>
              <a:rPr lang="en-US" altLang="en-US"/>
              <a:t>Slow heart rate</a:t>
            </a:r>
          </a:p>
          <a:p>
            <a:pPr lvl="1" eaLnBrk="1" hangingPunct="1">
              <a:lnSpc>
                <a:spcPct val="90000"/>
              </a:lnSpc>
              <a:buFont typeface="Wingdings" panose="05000000000000000000" pitchFamily="2" charset="2"/>
              <a:buChar char="Ø"/>
            </a:pPr>
            <a:r>
              <a:rPr lang="en-US" altLang="en-US"/>
              <a:t>Lower blood pressure</a:t>
            </a:r>
          </a:p>
        </p:txBody>
      </p:sp>
    </p:spTree>
    <p:extLst>
      <p:ext uri="{BB962C8B-B14F-4D97-AF65-F5344CB8AC3E}">
        <p14:creationId xmlns:p14="http://schemas.microsoft.com/office/powerpoint/2010/main" val="1790078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8" name="Rectangle 4"/>
          <p:cNvSpPr>
            <a:spLocks noGrp="1" noChangeArrowheads="1"/>
          </p:cNvSpPr>
          <p:nvPr>
            <p:ph type="title"/>
          </p:nvPr>
        </p:nvSpPr>
        <p:spPr>
          <a:xfrm>
            <a:off x="457200" y="274638"/>
            <a:ext cx="8229600" cy="1143000"/>
          </a:xfrm>
        </p:spPr>
        <p:txBody>
          <a:bodyPr rtlCol="0">
            <a:normAutofit fontScale="90000"/>
          </a:bodyPr>
          <a:lstStyle/>
          <a:p>
            <a:pPr eaLnBrk="1" fontAlgn="auto" hangingPunct="1">
              <a:spcAft>
                <a:spcPts val="0"/>
              </a:spcAft>
              <a:defRPr/>
            </a:pPr>
            <a:r>
              <a:rPr lang="en-US" dirty="0"/>
              <a:t>Divisions of the Central and </a:t>
            </a:r>
            <a:br>
              <a:rPr lang="en-US" dirty="0"/>
            </a:br>
            <a:r>
              <a:rPr lang="en-US" dirty="0"/>
              <a:t>Peripheral Nervous System </a:t>
            </a:r>
          </a:p>
        </p:txBody>
      </p:sp>
      <p:pic>
        <p:nvPicPr>
          <p:cNvPr id="5" name="Picture 10" descr="The central nervous system consists of the brain and spinal cord. The peripheral nervous system consists of cranial nerves, spinal nerves and autonomic nerves, which contain both parasympathetic and parasympathetic nerve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95400" y="2743200"/>
            <a:ext cx="6553200" cy="20096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189861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a:spLocks noGrp="1" noChangeArrowheads="1"/>
          </p:cNvSpPr>
          <p:nvPr>
            <p:ph type="title"/>
          </p:nvPr>
        </p:nvSpPr>
        <p:spPr/>
        <p:txBody>
          <a:bodyPr/>
          <a:lstStyle/>
          <a:p>
            <a:pPr eaLnBrk="1" hangingPunct="1"/>
            <a:r>
              <a:rPr lang="en-US" altLang="en-US" sz="4000" dirty="0"/>
              <a:t>Neurons, Nerves, and </a:t>
            </a:r>
            <a:r>
              <a:rPr lang="en-US" altLang="en-US" sz="4000" dirty="0" err="1"/>
              <a:t>Glia</a:t>
            </a:r>
            <a:r>
              <a:rPr lang="en-US" altLang="en-US" sz="4000" dirty="0"/>
              <a:t> (slide 1 of 5)</a:t>
            </a:r>
          </a:p>
        </p:txBody>
      </p:sp>
      <p:sp>
        <p:nvSpPr>
          <p:cNvPr id="14339" name="Rectangle 6"/>
          <p:cNvSpPr>
            <a:spLocks noGrp="1" noChangeArrowheads="1"/>
          </p:cNvSpPr>
          <p:nvPr>
            <p:ph idx="1"/>
          </p:nvPr>
        </p:nvSpPr>
        <p:spPr>
          <a:xfrm>
            <a:off x="685800" y="1600200"/>
            <a:ext cx="7696200" cy="4800600"/>
          </a:xfrm>
        </p:spPr>
        <p:txBody>
          <a:bodyPr/>
          <a:lstStyle/>
          <a:p>
            <a:pPr eaLnBrk="1" hangingPunct="1">
              <a:lnSpc>
                <a:spcPct val="90000"/>
              </a:lnSpc>
              <a:buFont typeface="Wingdings 2" panose="05020102010507070707" pitchFamily="18" charset="2"/>
              <a:buNone/>
            </a:pPr>
            <a:r>
              <a:rPr lang="en-US" altLang="en-US" b="1" dirty="0"/>
              <a:t>Neuron </a:t>
            </a:r>
            <a:r>
              <a:rPr lang="en-US" altLang="en-US" dirty="0"/>
              <a:t>= Individual nerve cell</a:t>
            </a:r>
          </a:p>
          <a:p>
            <a:pPr eaLnBrk="1" hangingPunct="1">
              <a:lnSpc>
                <a:spcPct val="90000"/>
              </a:lnSpc>
            </a:pPr>
            <a:r>
              <a:rPr lang="en-US" altLang="en-US" sz="2400" dirty="0"/>
              <a:t>Dendrite</a:t>
            </a:r>
          </a:p>
          <a:p>
            <a:pPr eaLnBrk="1" hangingPunct="1">
              <a:lnSpc>
                <a:spcPct val="90000"/>
              </a:lnSpc>
            </a:pPr>
            <a:r>
              <a:rPr lang="en-US" altLang="en-US" sz="2400" dirty="0"/>
              <a:t>Cell nucleus</a:t>
            </a:r>
          </a:p>
          <a:p>
            <a:pPr eaLnBrk="1" hangingPunct="1">
              <a:lnSpc>
                <a:spcPct val="90000"/>
              </a:lnSpc>
            </a:pPr>
            <a:r>
              <a:rPr lang="en-US" altLang="en-US" sz="2400" dirty="0"/>
              <a:t>Axon</a:t>
            </a:r>
          </a:p>
          <a:p>
            <a:pPr lvl="1" eaLnBrk="1" hangingPunct="1">
              <a:lnSpc>
                <a:spcPct val="90000"/>
              </a:lnSpc>
              <a:buFont typeface="Wingdings" panose="05000000000000000000" pitchFamily="2" charset="2"/>
              <a:buChar char="Ø"/>
            </a:pPr>
            <a:r>
              <a:rPr lang="en-US" altLang="en-US" sz="2000" dirty="0"/>
              <a:t>Myelin sheath</a:t>
            </a:r>
          </a:p>
          <a:p>
            <a:pPr lvl="1" eaLnBrk="1" hangingPunct="1">
              <a:lnSpc>
                <a:spcPct val="90000"/>
              </a:lnSpc>
              <a:buFont typeface="Wingdings" panose="05000000000000000000" pitchFamily="2" charset="2"/>
              <a:buChar char="Ø"/>
            </a:pPr>
            <a:r>
              <a:rPr lang="en-US" altLang="en-US" sz="2000" dirty="0" err="1"/>
              <a:t>Neurilemma</a:t>
            </a:r>
            <a:endParaRPr lang="en-US" altLang="en-US" sz="2000" dirty="0"/>
          </a:p>
          <a:p>
            <a:pPr eaLnBrk="1" hangingPunct="1">
              <a:lnSpc>
                <a:spcPct val="90000"/>
              </a:lnSpc>
            </a:pPr>
            <a:r>
              <a:rPr lang="en-US" altLang="en-US" sz="2400" dirty="0"/>
              <a:t>Terminal end fibers (secrete neurotransmitters)</a:t>
            </a:r>
          </a:p>
          <a:p>
            <a:pPr eaLnBrk="1" hangingPunct="1">
              <a:lnSpc>
                <a:spcPct val="90000"/>
              </a:lnSpc>
            </a:pPr>
            <a:r>
              <a:rPr lang="en-US" altLang="en-US" sz="2400" dirty="0"/>
              <a:t>Neurotransmitters transfer impulse across synapse</a:t>
            </a:r>
          </a:p>
          <a:p>
            <a:pPr eaLnBrk="1" hangingPunct="1">
              <a:lnSpc>
                <a:spcPct val="90000"/>
              </a:lnSpc>
              <a:buFont typeface="Wingdings 2" panose="05020102010507070707" pitchFamily="18" charset="2"/>
              <a:buNone/>
            </a:pPr>
            <a:r>
              <a:rPr lang="en-US" altLang="en-US" b="1" dirty="0"/>
              <a:t>Ganglia</a:t>
            </a:r>
            <a:r>
              <a:rPr lang="en-US" altLang="en-US" dirty="0"/>
              <a:t> = Small clusters of nerve cell bodies</a:t>
            </a:r>
          </a:p>
        </p:txBody>
      </p:sp>
    </p:spTree>
    <p:extLst>
      <p:ext uri="{BB962C8B-B14F-4D97-AF65-F5344CB8AC3E}">
        <p14:creationId xmlns:p14="http://schemas.microsoft.com/office/powerpoint/2010/main" val="2513235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p:txBody>
          <a:bodyPr/>
          <a:lstStyle/>
          <a:p>
            <a:pPr eaLnBrk="1" hangingPunct="1"/>
            <a:r>
              <a:rPr lang="en-US" altLang="en-US" sz="4000" dirty="0"/>
              <a:t>Neurons, Nerves, and </a:t>
            </a:r>
            <a:r>
              <a:rPr lang="en-US" altLang="en-US" sz="4000" dirty="0" err="1"/>
              <a:t>Glia</a:t>
            </a:r>
            <a:r>
              <a:rPr lang="en-US" altLang="en-US" sz="4000" dirty="0"/>
              <a:t> (slide 2 of 5</a:t>
            </a:r>
            <a:r>
              <a:rPr lang="en-US" altLang="ja-JP" sz="4000" dirty="0"/>
              <a:t>)</a:t>
            </a:r>
            <a:endParaRPr lang="en-US" altLang="en-US" sz="4000" dirty="0"/>
          </a:p>
        </p:txBody>
      </p:sp>
      <p:sp>
        <p:nvSpPr>
          <p:cNvPr id="2" name="Content Placeholder 1"/>
          <p:cNvSpPr>
            <a:spLocks noGrp="1"/>
          </p:cNvSpPr>
          <p:nvPr>
            <p:ph idx="1"/>
          </p:nvPr>
        </p:nvSpPr>
        <p:spPr>
          <a:xfrm>
            <a:off x="762000" y="1905000"/>
            <a:ext cx="7620000" cy="4525963"/>
          </a:xfrm>
        </p:spPr>
        <p:txBody>
          <a:bodyPr/>
          <a:lstStyle/>
          <a:p>
            <a:pPr marL="0" indent="0">
              <a:spcBef>
                <a:spcPct val="50000"/>
              </a:spcBef>
              <a:buNone/>
            </a:pPr>
            <a:r>
              <a:rPr lang="en-US" altLang="en-US" sz="2800" b="1" dirty="0">
                <a:latin typeface="Arial" panose="020B0604020202020204" pitchFamily="34" charset="0"/>
              </a:rPr>
              <a:t>The anatomical parts of a neuron contain:</a:t>
            </a:r>
          </a:p>
          <a:p>
            <a:pPr lvl="1">
              <a:spcBef>
                <a:spcPct val="50000"/>
              </a:spcBef>
              <a:buFont typeface="Wingdings" panose="05000000000000000000" pitchFamily="2" charset="2"/>
              <a:buChar char="Ø"/>
            </a:pPr>
            <a:r>
              <a:rPr lang="en-US" altLang="en-US" sz="2400" dirty="0">
                <a:latin typeface="Arial" panose="020B0604020202020204" pitchFamily="34" charset="0"/>
              </a:rPr>
              <a:t> Dendrites</a:t>
            </a:r>
          </a:p>
          <a:p>
            <a:pPr lvl="1">
              <a:spcBef>
                <a:spcPct val="50000"/>
              </a:spcBef>
              <a:buFont typeface="Wingdings" panose="05000000000000000000" pitchFamily="2" charset="2"/>
              <a:buChar char="Ø"/>
            </a:pPr>
            <a:r>
              <a:rPr lang="en-US" altLang="en-US" sz="2400" dirty="0">
                <a:latin typeface="Arial" panose="020B0604020202020204" pitchFamily="34" charset="0"/>
              </a:rPr>
              <a:t> Cell body</a:t>
            </a:r>
          </a:p>
          <a:p>
            <a:pPr lvl="1">
              <a:spcBef>
                <a:spcPct val="50000"/>
              </a:spcBef>
              <a:buFont typeface="Wingdings" panose="05000000000000000000" pitchFamily="2" charset="2"/>
              <a:buChar char="Ø"/>
            </a:pPr>
            <a:r>
              <a:rPr lang="en-US" altLang="en-US" sz="2400" dirty="0">
                <a:latin typeface="Arial" panose="020B0604020202020204" pitchFamily="34" charset="0"/>
              </a:rPr>
              <a:t> Cell nucleus</a:t>
            </a:r>
          </a:p>
          <a:p>
            <a:pPr lvl="1">
              <a:spcBef>
                <a:spcPct val="50000"/>
              </a:spcBef>
              <a:buFont typeface="Wingdings" panose="05000000000000000000" pitchFamily="2" charset="2"/>
              <a:buChar char="Ø"/>
            </a:pPr>
            <a:r>
              <a:rPr lang="en-US" altLang="en-US" sz="2400" dirty="0">
                <a:latin typeface="Arial" panose="020B0604020202020204" pitchFamily="34" charset="0"/>
              </a:rPr>
              <a:t> Axon</a:t>
            </a:r>
          </a:p>
          <a:p>
            <a:pPr lvl="1">
              <a:spcBef>
                <a:spcPct val="50000"/>
              </a:spcBef>
              <a:buFont typeface="Wingdings" panose="05000000000000000000" pitchFamily="2" charset="2"/>
              <a:buChar char="Ø"/>
            </a:pPr>
            <a:r>
              <a:rPr lang="en-US" altLang="en-US" sz="2400" dirty="0">
                <a:latin typeface="Arial" panose="020B0604020202020204" pitchFamily="34" charset="0"/>
              </a:rPr>
              <a:t> Myelin sheath</a:t>
            </a:r>
          </a:p>
          <a:p>
            <a:pPr lvl="1">
              <a:spcBef>
                <a:spcPct val="50000"/>
              </a:spcBef>
              <a:buFont typeface="Wingdings" panose="05000000000000000000" pitchFamily="2" charset="2"/>
              <a:buChar char="Ø"/>
            </a:pPr>
            <a:r>
              <a:rPr lang="en-US" altLang="en-US" sz="2400" dirty="0">
                <a:latin typeface="Arial" panose="020B0604020202020204" pitchFamily="34" charset="0"/>
              </a:rPr>
              <a:t> Terminal end fibers</a:t>
            </a:r>
          </a:p>
          <a:p>
            <a:pPr lvl="1">
              <a:spcBef>
                <a:spcPct val="50000"/>
              </a:spcBef>
              <a:buFont typeface="Wingdings" panose="05000000000000000000" pitchFamily="2" charset="2"/>
              <a:buChar char="Ø"/>
            </a:pPr>
            <a:r>
              <a:rPr lang="en-US" altLang="en-US" sz="2400" dirty="0">
                <a:latin typeface="Arial" panose="020B0604020202020204" pitchFamily="34" charset="0"/>
              </a:rPr>
              <a:t> Synapse</a:t>
            </a:r>
          </a:p>
          <a:p>
            <a:endParaRPr lang="es-419" dirty="0"/>
          </a:p>
        </p:txBody>
      </p:sp>
    </p:spTree>
    <p:extLst>
      <p:ext uri="{BB962C8B-B14F-4D97-AF65-F5344CB8AC3E}">
        <p14:creationId xmlns:p14="http://schemas.microsoft.com/office/powerpoint/2010/main" val="387996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z="4000" dirty="0"/>
              <a:t>Neurons, Nerves, and </a:t>
            </a:r>
            <a:r>
              <a:rPr lang="en-US" altLang="en-US" sz="4000" dirty="0" err="1"/>
              <a:t>Glia</a:t>
            </a:r>
            <a:r>
              <a:rPr lang="en-US" altLang="en-US" sz="4000" dirty="0"/>
              <a:t> (slide 3 of 5</a:t>
            </a:r>
            <a:r>
              <a:rPr lang="en-US" altLang="ja-JP" sz="4000" dirty="0"/>
              <a:t>)</a:t>
            </a:r>
            <a:endParaRPr lang="en-US" altLang="en-US" sz="4000" dirty="0"/>
          </a:p>
        </p:txBody>
      </p:sp>
      <p:sp>
        <p:nvSpPr>
          <p:cNvPr id="2" name="Content Placeholder 1"/>
          <p:cNvSpPr>
            <a:spLocks noGrp="1"/>
          </p:cNvSpPr>
          <p:nvPr>
            <p:ph sz="half" idx="1"/>
          </p:nvPr>
        </p:nvSpPr>
        <p:spPr>
          <a:xfrm>
            <a:off x="457200" y="1600201"/>
            <a:ext cx="4038600" cy="1981200"/>
          </a:xfrm>
        </p:spPr>
        <p:txBody>
          <a:bodyPr/>
          <a:lstStyle/>
          <a:p>
            <a:r>
              <a:rPr lang="en-US" altLang="en-US" dirty="0">
                <a:latin typeface="Arial" panose="020B0604020202020204" pitchFamily="34" charset="0"/>
              </a:rPr>
              <a:t>The image shows the parts of a neuron.  Review the path of a nervous impulse</a:t>
            </a:r>
            <a:endParaRPr lang="es-419" dirty="0"/>
          </a:p>
        </p:txBody>
      </p:sp>
      <p:pic>
        <p:nvPicPr>
          <p:cNvPr id="7" name="Picture 7" descr="Neurons are parenchymal (essential) cells of the nervous system. Anatomical parts of a neuron contain dendrites, cell body, cell nucleus, axon, myelin sheath, terminal end fibers, and synapse. Transfer of impulse across the synapse depends on release of a chemical substance (neurotransmitter) by the neuron that brings the impulse to the synapse. Tiny sacs containing the neurotransmitter are located at the ends of the neurons, and they release the neurotransmitter into the synaps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1899621"/>
            <a:ext cx="4038600" cy="3927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945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pPr eaLnBrk="1" hangingPunct="1"/>
            <a:r>
              <a:rPr lang="en-US" altLang="en-US" sz="4000" dirty="0"/>
              <a:t>Neurons, Nerves, and </a:t>
            </a:r>
            <a:r>
              <a:rPr lang="en-US" altLang="en-US" sz="4000" dirty="0" err="1"/>
              <a:t>Glia</a:t>
            </a:r>
            <a:r>
              <a:rPr lang="en-US" altLang="en-US" sz="4000" dirty="0"/>
              <a:t> (slide 4 of 5</a:t>
            </a:r>
            <a:r>
              <a:rPr lang="en-US" altLang="ja-JP" sz="4000" dirty="0"/>
              <a:t>)</a:t>
            </a:r>
            <a:endParaRPr lang="en-US" altLang="en-US" sz="4000" dirty="0"/>
          </a:p>
        </p:txBody>
      </p:sp>
      <p:sp>
        <p:nvSpPr>
          <p:cNvPr id="17411"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dirty="0" err="1"/>
              <a:t>Glia</a:t>
            </a:r>
            <a:r>
              <a:rPr lang="en-US" altLang="en-US" dirty="0"/>
              <a:t> cells: </a:t>
            </a:r>
          </a:p>
          <a:p>
            <a:pPr eaLnBrk="1" hangingPunct="1"/>
            <a:r>
              <a:rPr lang="en-US" altLang="en-US" dirty="0"/>
              <a:t>Maintain the health of the nervous system</a:t>
            </a:r>
          </a:p>
          <a:p>
            <a:pPr eaLnBrk="1" hangingPunct="1"/>
            <a:r>
              <a:rPr lang="en-US" altLang="en-US" dirty="0"/>
              <a:t>Do not transmit impulses</a:t>
            </a:r>
          </a:p>
        </p:txBody>
      </p:sp>
    </p:spTree>
    <p:extLst>
      <p:ext uri="{BB962C8B-B14F-4D97-AF65-F5344CB8AC3E}">
        <p14:creationId xmlns:p14="http://schemas.microsoft.com/office/powerpoint/2010/main" val="4020324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Grp="1" noChangeArrowheads="1"/>
          </p:cNvSpPr>
          <p:nvPr>
            <p:ph type="title"/>
          </p:nvPr>
        </p:nvSpPr>
        <p:spPr/>
        <p:txBody>
          <a:bodyPr/>
          <a:lstStyle/>
          <a:p>
            <a:pPr eaLnBrk="1" hangingPunct="1"/>
            <a:r>
              <a:rPr lang="en-US" altLang="en-US" sz="4000" dirty="0"/>
              <a:t>Neurons, Nerves, and </a:t>
            </a:r>
            <a:r>
              <a:rPr lang="en-US" altLang="en-US" sz="4000" dirty="0" err="1"/>
              <a:t>Glia</a:t>
            </a:r>
            <a:r>
              <a:rPr lang="en-US" altLang="en-US" sz="4000" dirty="0"/>
              <a:t> (slide 5 of 5</a:t>
            </a:r>
            <a:r>
              <a:rPr lang="en-US" altLang="ja-JP" sz="4000" dirty="0"/>
              <a:t>)</a:t>
            </a:r>
            <a:endParaRPr lang="en-US" altLang="en-US" sz="4000" dirty="0"/>
          </a:p>
        </p:txBody>
      </p:sp>
      <p:sp>
        <p:nvSpPr>
          <p:cNvPr id="18435" name="Rectangle 6"/>
          <p:cNvSpPr>
            <a:spLocks noGrp="1" noChangeArrowheads="1"/>
          </p:cNvSpPr>
          <p:nvPr>
            <p:ph sz="half" idx="1"/>
          </p:nvPr>
        </p:nvSpPr>
        <p:spPr>
          <a:xfrm>
            <a:off x="826477" y="1600200"/>
            <a:ext cx="4038600" cy="4525963"/>
          </a:xfrm>
        </p:spPr>
        <p:txBody>
          <a:bodyPr/>
          <a:lstStyle/>
          <a:p>
            <a:pPr eaLnBrk="1" hangingPunct="1">
              <a:buFont typeface="Wingdings 2" panose="05020102010507070707" pitchFamily="18" charset="2"/>
              <a:buNone/>
            </a:pPr>
            <a:r>
              <a:rPr lang="en-US" altLang="en-US" sz="2400" b="1" dirty="0"/>
              <a:t>Four types:</a:t>
            </a:r>
            <a:r>
              <a:rPr lang="en-US" altLang="en-US" sz="2400" dirty="0"/>
              <a:t> </a:t>
            </a:r>
          </a:p>
          <a:p>
            <a:pPr eaLnBrk="1" hangingPunct="1"/>
            <a:r>
              <a:rPr lang="en-US" altLang="en-US" sz="2400" dirty="0"/>
              <a:t>Astrocytes (</a:t>
            </a:r>
            <a:r>
              <a:rPr lang="en-US" altLang="en-US" sz="2400" dirty="0" err="1"/>
              <a:t>astroglial</a:t>
            </a:r>
            <a:r>
              <a:rPr lang="en-US" altLang="en-US" sz="2400" dirty="0"/>
              <a:t> cells)</a:t>
            </a:r>
          </a:p>
          <a:p>
            <a:pPr eaLnBrk="1" hangingPunct="1"/>
            <a:r>
              <a:rPr lang="en-US" altLang="en-US" sz="2400" dirty="0"/>
              <a:t>Microglia (microglial cells)</a:t>
            </a:r>
          </a:p>
          <a:p>
            <a:pPr eaLnBrk="1" hangingPunct="1"/>
            <a:r>
              <a:rPr lang="en-US" altLang="en-US" sz="2400" dirty="0"/>
              <a:t>Oligodendroglia (</a:t>
            </a:r>
            <a:r>
              <a:rPr lang="en-US" altLang="en-US" sz="2400" dirty="0" err="1"/>
              <a:t>oligodendroglial</a:t>
            </a:r>
            <a:r>
              <a:rPr lang="en-US" altLang="en-US" sz="2400" dirty="0"/>
              <a:t> cells)</a:t>
            </a:r>
          </a:p>
          <a:p>
            <a:pPr eaLnBrk="1" hangingPunct="1"/>
            <a:r>
              <a:rPr lang="en-US" altLang="en-US" sz="2400" dirty="0"/>
              <a:t>Ependymal cells</a:t>
            </a:r>
          </a:p>
        </p:txBody>
      </p:sp>
      <p:pic>
        <p:nvPicPr>
          <p:cNvPr id="6" name="Picture 11" descr="The four types of glial cells are astrocyte (astroglial cell), microglial cell, oligodendroglial cell, and ependymal cell."/>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276600" y="4158989"/>
            <a:ext cx="4530002" cy="19554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510461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p:txBody>
          <a:bodyPr rtlCol="0">
            <a:normAutofit fontScale="90000"/>
          </a:bodyPr>
          <a:lstStyle/>
          <a:p>
            <a:pPr eaLnBrk="1" fontAlgn="auto" hangingPunct="1">
              <a:spcAft>
                <a:spcPts val="0"/>
              </a:spcAft>
              <a:defRPr/>
            </a:pPr>
            <a:r>
              <a:rPr kumimoji="1" lang="en-US"/>
              <a:t>Chapter 10</a:t>
            </a:r>
            <a:br>
              <a:rPr kumimoji="1" lang="en-US"/>
            </a:br>
            <a:r>
              <a:rPr kumimoji="1" lang="en-US"/>
              <a:t>Lesson 10.2</a:t>
            </a:r>
          </a:p>
        </p:txBody>
      </p:sp>
    </p:spTree>
    <p:extLst>
      <p:ext uri="{BB962C8B-B14F-4D97-AF65-F5344CB8AC3E}">
        <p14:creationId xmlns:p14="http://schemas.microsoft.com/office/powerpoint/2010/main" val="2347599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5"/>
          <p:cNvSpPr>
            <a:spLocks noGrp="1" noChangeArrowheads="1"/>
          </p:cNvSpPr>
          <p:nvPr>
            <p:ph type="title"/>
          </p:nvPr>
        </p:nvSpPr>
        <p:spPr/>
        <p:txBody>
          <a:bodyPr/>
          <a:lstStyle/>
          <a:p>
            <a:pPr eaLnBrk="1" hangingPunct="1"/>
            <a:r>
              <a:rPr lang="en-US" altLang="en-US" dirty="0"/>
              <a:t>The Brain (slide 1 of 7)</a:t>
            </a:r>
          </a:p>
        </p:txBody>
      </p:sp>
      <p:sp>
        <p:nvSpPr>
          <p:cNvPr id="2" name="Content Placeholder 1"/>
          <p:cNvSpPr>
            <a:spLocks noGrp="1"/>
          </p:cNvSpPr>
          <p:nvPr>
            <p:ph idx="1"/>
          </p:nvPr>
        </p:nvSpPr>
        <p:spPr/>
        <p:txBody>
          <a:bodyPr/>
          <a:lstStyle/>
          <a:p>
            <a:pPr marL="0" indent="0">
              <a:buNone/>
            </a:pPr>
            <a:r>
              <a:rPr lang="en-US" sz="2800" b="1" dirty="0"/>
              <a:t>The anatomical structures of the brain include:</a:t>
            </a:r>
          </a:p>
          <a:p>
            <a:pPr lvl="1">
              <a:buFont typeface="Wingdings" panose="05000000000000000000" pitchFamily="2" charset="2"/>
              <a:buChar char="Ø"/>
            </a:pPr>
            <a:r>
              <a:rPr lang="en-US" sz="2400" dirty="0"/>
              <a:t> Frontal lobe</a:t>
            </a:r>
          </a:p>
          <a:p>
            <a:pPr lvl="1">
              <a:buFont typeface="Wingdings" panose="05000000000000000000" pitchFamily="2" charset="2"/>
              <a:buChar char="Ø"/>
            </a:pPr>
            <a:r>
              <a:rPr lang="en-US" sz="2400" dirty="0"/>
              <a:t> Sulci</a:t>
            </a:r>
          </a:p>
          <a:p>
            <a:pPr lvl="1">
              <a:buFont typeface="Wingdings" panose="05000000000000000000" pitchFamily="2" charset="2"/>
              <a:buChar char="Ø"/>
            </a:pPr>
            <a:r>
              <a:rPr lang="en-US" sz="2400" dirty="0"/>
              <a:t> Gyri</a:t>
            </a:r>
          </a:p>
          <a:p>
            <a:pPr lvl="1">
              <a:buFont typeface="Wingdings" panose="05000000000000000000" pitchFamily="2" charset="2"/>
              <a:buChar char="Ø"/>
            </a:pPr>
            <a:r>
              <a:rPr lang="en-US" sz="2400" dirty="0"/>
              <a:t> Parietal lobe</a:t>
            </a:r>
          </a:p>
          <a:p>
            <a:pPr lvl="1">
              <a:buFont typeface="Wingdings" panose="05000000000000000000" pitchFamily="2" charset="2"/>
              <a:buChar char="Ø"/>
            </a:pPr>
            <a:r>
              <a:rPr lang="en-US" sz="2400" dirty="0"/>
              <a:t> Occipital lobe</a:t>
            </a:r>
          </a:p>
          <a:p>
            <a:pPr lvl="1">
              <a:buFont typeface="Wingdings" panose="05000000000000000000" pitchFamily="2" charset="2"/>
              <a:buChar char="Ø"/>
            </a:pPr>
            <a:r>
              <a:rPr lang="en-US" sz="2400" dirty="0"/>
              <a:t> Wernicke area</a:t>
            </a:r>
          </a:p>
          <a:p>
            <a:pPr lvl="1">
              <a:buFont typeface="Wingdings" panose="05000000000000000000" pitchFamily="2" charset="2"/>
              <a:buChar char="Ø"/>
            </a:pPr>
            <a:r>
              <a:rPr lang="en-US" sz="2400" dirty="0"/>
              <a:t> Temporal lobe</a:t>
            </a:r>
          </a:p>
          <a:p>
            <a:pPr lvl="1">
              <a:buFont typeface="Wingdings" panose="05000000000000000000" pitchFamily="2" charset="2"/>
              <a:buChar char="Ø"/>
            </a:pPr>
            <a:r>
              <a:rPr lang="en-US" sz="2400" dirty="0" err="1"/>
              <a:t>Broca</a:t>
            </a:r>
            <a:r>
              <a:rPr lang="en-US" sz="2400" dirty="0"/>
              <a:t> area</a:t>
            </a:r>
          </a:p>
          <a:p>
            <a:endParaRPr lang="es-419" dirty="0"/>
          </a:p>
        </p:txBody>
      </p:sp>
    </p:spTree>
    <p:extLst>
      <p:ext uri="{BB962C8B-B14F-4D97-AF65-F5344CB8AC3E}">
        <p14:creationId xmlns:p14="http://schemas.microsoft.com/office/powerpoint/2010/main" val="549456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dirty="0"/>
              <a:t>The Brain (slide 2 of 7</a:t>
            </a:r>
            <a:r>
              <a:rPr lang="en-US" altLang="ja-JP" dirty="0"/>
              <a:t>)</a:t>
            </a:r>
            <a:endParaRPr lang="en-US" altLang="en-US" dirty="0"/>
          </a:p>
        </p:txBody>
      </p:sp>
      <p:pic>
        <p:nvPicPr>
          <p:cNvPr id="5" name="Picture 5" descr="The anatomical structures of the brain include (front to back) frontal lobe, sulci, gyri, parietal lobe, occipital lobe Wernicke area, temporal lobe, and broca area."/>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33758" y="1905000"/>
            <a:ext cx="6476484" cy="419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186968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8"/>
          <p:cNvSpPr>
            <a:spLocks noGrp="1" noChangeArrowheads="1"/>
          </p:cNvSpPr>
          <p:nvPr>
            <p:ph type="title"/>
          </p:nvPr>
        </p:nvSpPr>
        <p:spPr/>
        <p:txBody>
          <a:bodyPr/>
          <a:lstStyle/>
          <a:p>
            <a:pPr eaLnBrk="1" hangingPunct="1"/>
            <a:r>
              <a:rPr lang="en-US" altLang="en-US" dirty="0"/>
              <a:t>The Brain (slide 3 of 7</a:t>
            </a:r>
            <a:r>
              <a:rPr lang="en-US" altLang="ja-JP" dirty="0"/>
              <a:t>)</a:t>
            </a:r>
            <a:endParaRPr lang="en-US" altLang="en-US" dirty="0"/>
          </a:p>
        </p:txBody>
      </p:sp>
      <p:sp>
        <p:nvSpPr>
          <p:cNvPr id="22531" name="Rectangle 1029"/>
          <p:cNvSpPr>
            <a:spLocks noGrp="1" noChangeArrowheads="1"/>
          </p:cNvSpPr>
          <p:nvPr>
            <p:ph idx="1"/>
          </p:nvPr>
        </p:nvSpPr>
        <p:spPr/>
        <p:txBody>
          <a:bodyPr/>
          <a:lstStyle/>
          <a:p>
            <a:pPr eaLnBrk="1" hangingPunct="1"/>
            <a:r>
              <a:rPr lang="en-US" altLang="en-US" dirty="0"/>
              <a:t>Cerebrum</a:t>
            </a:r>
          </a:p>
          <a:p>
            <a:pPr lvl="1" eaLnBrk="1" hangingPunct="1">
              <a:buFont typeface="Wingdings" panose="05000000000000000000" pitchFamily="2" charset="2"/>
              <a:buChar char="Ø"/>
            </a:pPr>
            <a:r>
              <a:rPr lang="en-US" altLang="en-US" dirty="0"/>
              <a:t>The largest section of the brain </a:t>
            </a:r>
          </a:p>
          <a:p>
            <a:pPr lvl="1" eaLnBrk="1" hangingPunct="1">
              <a:buFont typeface="Wingdings" panose="05000000000000000000" pitchFamily="2" charset="2"/>
              <a:buChar char="Ø"/>
            </a:pPr>
            <a:r>
              <a:rPr lang="en-US" altLang="en-US" dirty="0"/>
              <a:t>Surface nerve cells called cerebral cortex</a:t>
            </a:r>
          </a:p>
          <a:p>
            <a:pPr lvl="1" eaLnBrk="1" hangingPunct="1">
              <a:buFont typeface="Wingdings" panose="05000000000000000000" pitchFamily="2" charset="2"/>
              <a:buChar char="Ø"/>
            </a:pPr>
            <a:r>
              <a:rPr lang="en-US" altLang="en-US" dirty="0"/>
              <a:t>Manages speech, vision, smell, movement, hearing, and thought</a:t>
            </a:r>
          </a:p>
        </p:txBody>
      </p:sp>
    </p:spTree>
    <p:extLst>
      <p:ext uri="{BB962C8B-B14F-4D97-AF65-F5344CB8AC3E}">
        <p14:creationId xmlns:p14="http://schemas.microsoft.com/office/powerpoint/2010/main" val="507969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p:txBody>
          <a:bodyPr/>
          <a:lstStyle/>
          <a:p>
            <a:pPr eaLnBrk="1" hangingPunct="1"/>
            <a:r>
              <a:rPr lang="en-US" altLang="en-US" dirty="0"/>
              <a:t>The Brain (slide 4 of 7</a:t>
            </a:r>
            <a:r>
              <a:rPr lang="en-US" altLang="ja-JP" dirty="0"/>
              <a:t>)</a:t>
            </a:r>
            <a:endParaRPr lang="en-US" altLang="en-US" dirty="0"/>
          </a:p>
        </p:txBody>
      </p:sp>
      <p:sp>
        <p:nvSpPr>
          <p:cNvPr id="23555" name="Rectangle 5"/>
          <p:cNvSpPr>
            <a:spLocks noGrp="1" noChangeArrowheads="1"/>
          </p:cNvSpPr>
          <p:nvPr>
            <p:ph idx="1"/>
          </p:nvPr>
        </p:nvSpPr>
        <p:spPr/>
        <p:txBody>
          <a:bodyPr/>
          <a:lstStyle/>
          <a:p>
            <a:pPr eaLnBrk="1" hangingPunct="1"/>
            <a:r>
              <a:rPr lang="en-US" altLang="en-US" dirty="0"/>
              <a:t>Cerebellum </a:t>
            </a:r>
          </a:p>
          <a:p>
            <a:pPr lvl="1" eaLnBrk="1" hangingPunct="1">
              <a:buFont typeface="Wingdings" panose="05000000000000000000" pitchFamily="2" charset="2"/>
              <a:buChar char="Ø"/>
            </a:pPr>
            <a:r>
              <a:rPr lang="en-US" altLang="en-US" dirty="0"/>
              <a:t>Coordinates voluntary movements </a:t>
            </a:r>
          </a:p>
          <a:p>
            <a:pPr lvl="1" eaLnBrk="1" hangingPunct="1">
              <a:buFont typeface="Wingdings" panose="05000000000000000000" pitchFamily="2" charset="2"/>
              <a:buChar char="Ø"/>
            </a:pPr>
            <a:r>
              <a:rPr lang="en-US" altLang="en-US" dirty="0"/>
              <a:t>Maintains balance</a:t>
            </a:r>
          </a:p>
          <a:p>
            <a:pPr eaLnBrk="1" hangingPunct="1"/>
            <a:r>
              <a:rPr lang="en-US" altLang="en-US" dirty="0"/>
              <a:t>Thalamus </a:t>
            </a:r>
          </a:p>
          <a:p>
            <a:pPr lvl="1" eaLnBrk="1" hangingPunct="1">
              <a:buFont typeface="Wingdings" panose="05000000000000000000" pitchFamily="2" charset="2"/>
              <a:buChar char="Ø"/>
            </a:pPr>
            <a:r>
              <a:rPr lang="en-US" altLang="en-US" dirty="0"/>
              <a:t>Integrates and monitors impulses from skin (pain)</a:t>
            </a:r>
          </a:p>
        </p:txBody>
      </p:sp>
    </p:spTree>
    <p:extLst>
      <p:ext uri="{BB962C8B-B14F-4D97-AF65-F5344CB8AC3E}">
        <p14:creationId xmlns:p14="http://schemas.microsoft.com/office/powerpoint/2010/main" val="4201802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8"/>
          <p:cNvSpPr>
            <a:spLocks noGrp="1" noChangeArrowheads="1"/>
          </p:cNvSpPr>
          <p:nvPr>
            <p:ph type="title"/>
          </p:nvPr>
        </p:nvSpPr>
        <p:spPr/>
        <p:txBody>
          <a:bodyPr/>
          <a:lstStyle/>
          <a:p>
            <a:pPr eaLnBrk="1" hangingPunct="1"/>
            <a:r>
              <a:rPr lang="en-US" altLang="en-US" dirty="0"/>
              <a:t>The Brain (slide 5 of 7</a:t>
            </a:r>
            <a:r>
              <a:rPr lang="en-US" altLang="ja-JP" dirty="0"/>
              <a:t>)</a:t>
            </a:r>
            <a:endParaRPr lang="en-US" altLang="en-US" dirty="0"/>
          </a:p>
        </p:txBody>
      </p:sp>
      <p:sp>
        <p:nvSpPr>
          <p:cNvPr id="24579" name="Rectangle 1029"/>
          <p:cNvSpPr>
            <a:spLocks noGrp="1" noChangeArrowheads="1"/>
          </p:cNvSpPr>
          <p:nvPr>
            <p:ph idx="1"/>
          </p:nvPr>
        </p:nvSpPr>
        <p:spPr/>
        <p:txBody>
          <a:bodyPr/>
          <a:lstStyle/>
          <a:p>
            <a:pPr eaLnBrk="1" hangingPunct="1"/>
            <a:r>
              <a:rPr lang="en-US" altLang="en-US" dirty="0"/>
              <a:t>Hypothalamus</a:t>
            </a:r>
          </a:p>
          <a:p>
            <a:pPr lvl="1" eaLnBrk="1" hangingPunct="1">
              <a:buFont typeface="Wingdings" panose="05000000000000000000" pitchFamily="2" charset="2"/>
              <a:buChar char="Ø"/>
            </a:pPr>
            <a:r>
              <a:rPr lang="en-US" altLang="en-US" dirty="0"/>
              <a:t>Controls body temperature, sleep, appetite, sexual desire, and emotions</a:t>
            </a:r>
          </a:p>
          <a:p>
            <a:pPr lvl="1" eaLnBrk="1" hangingPunct="1">
              <a:buFont typeface="Wingdings" panose="05000000000000000000" pitchFamily="2" charset="2"/>
              <a:buChar char="Ø"/>
            </a:pPr>
            <a:r>
              <a:rPr lang="en-US" altLang="en-US" dirty="0"/>
              <a:t>Regulates release of hormones from the pituitary gland</a:t>
            </a:r>
          </a:p>
          <a:p>
            <a:pPr lvl="1" eaLnBrk="1" hangingPunct="1">
              <a:buFont typeface="Wingdings" panose="05000000000000000000" pitchFamily="2" charset="2"/>
              <a:buChar char="Ø"/>
            </a:pPr>
            <a:r>
              <a:rPr lang="en-US" altLang="en-US" dirty="0"/>
              <a:t>Monitors sympathetic and parasympathetic nervous systems</a:t>
            </a:r>
          </a:p>
        </p:txBody>
      </p:sp>
    </p:spTree>
    <p:extLst>
      <p:ext uri="{BB962C8B-B14F-4D97-AF65-F5344CB8AC3E}">
        <p14:creationId xmlns:p14="http://schemas.microsoft.com/office/powerpoint/2010/main" val="2420010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title"/>
          </p:nvPr>
        </p:nvSpPr>
        <p:spPr/>
        <p:txBody>
          <a:bodyPr/>
          <a:lstStyle/>
          <a:p>
            <a:pPr eaLnBrk="1" hangingPunct="1"/>
            <a:r>
              <a:rPr lang="en-US" altLang="en-US" dirty="0"/>
              <a:t>The Brain (slide 6 of 7</a:t>
            </a:r>
            <a:r>
              <a:rPr lang="en-US" altLang="ja-JP" dirty="0"/>
              <a:t>)</a:t>
            </a:r>
            <a:endParaRPr lang="en-US" altLang="en-US" dirty="0"/>
          </a:p>
        </p:txBody>
      </p:sp>
      <p:sp>
        <p:nvSpPr>
          <p:cNvPr id="25603"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a:t>Brainstem</a:t>
            </a:r>
          </a:p>
          <a:p>
            <a:pPr eaLnBrk="1" hangingPunct="1"/>
            <a:r>
              <a:rPr lang="en-US" altLang="en-US"/>
              <a:t>Pons</a:t>
            </a:r>
          </a:p>
          <a:p>
            <a:pPr lvl="1" eaLnBrk="1" hangingPunct="1">
              <a:buFont typeface="Wingdings" panose="05000000000000000000" pitchFamily="2" charset="2"/>
              <a:buChar char="Ø"/>
            </a:pPr>
            <a:r>
              <a:rPr lang="en-US" altLang="en-US"/>
              <a:t>Bridges the cerebrum and cerebellum with the rest of the brain</a:t>
            </a:r>
          </a:p>
          <a:p>
            <a:pPr lvl="1" eaLnBrk="1" hangingPunct="1">
              <a:buFont typeface="Wingdings" panose="05000000000000000000" pitchFamily="2" charset="2"/>
              <a:buChar char="Ø"/>
            </a:pPr>
            <a:r>
              <a:rPr lang="en-US" altLang="en-US"/>
              <a:t>Houses nerves for the face and eyes</a:t>
            </a:r>
          </a:p>
          <a:p>
            <a:pPr lvl="1" eaLnBrk="1" hangingPunct="1">
              <a:buFont typeface="Wingdings" panose="05000000000000000000" pitchFamily="2" charset="2"/>
              <a:buChar char="Ø"/>
            </a:pPr>
            <a:r>
              <a:rPr lang="en-US" altLang="en-US"/>
              <a:t>Midbrain</a:t>
            </a:r>
          </a:p>
          <a:p>
            <a:pPr lvl="2" eaLnBrk="1" hangingPunct="1">
              <a:buFont typeface="Wingdings" panose="05000000000000000000" pitchFamily="2" charset="2"/>
              <a:buChar char="Ø"/>
            </a:pPr>
            <a:r>
              <a:rPr lang="en-US" altLang="en-US"/>
              <a:t>Uppermost portion of the brainstem</a:t>
            </a:r>
          </a:p>
          <a:p>
            <a:pPr lvl="2" eaLnBrk="1" hangingPunct="1">
              <a:buFont typeface="Wingdings" panose="05000000000000000000" pitchFamily="2" charset="2"/>
              <a:buChar char="Ø"/>
            </a:pPr>
            <a:r>
              <a:rPr lang="en-US" altLang="en-US"/>
              <a:t>Contains pathways connecting the cerebrum with lower portions of brain</a:t>
            </a:r>
          </a:p>
        </p:txBody>
      </p:sp>
    </p:spTree>
    <p:extLst>
      <p:ext uri="{BB962C8B-B14F-4D97-AF65-F5344CB8AC3E}">
        <p14:creationId xmlns:p14="http://schemas.microsoft.com/office/powerpoint/2010/main" val="356946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8"/>
          <p:cNvSpPr>
            <a:spLocks noGrp="1" noChangeArrowheads="1"/>
          </p:cNvSpPr>
          <p:nvPr>
            <p:ph type="title"/>
          </p:nvPr>
        </p:nvSpPr>
        <p:spPr/>
        <p:txBody>
          <a:bodyPr/>
          <a:lstStyle/>
          <a:p>
            <a:pPr eaLnBrk="1" hangingPunct="1"/>
            <a:r>
              <a:rPr lang="en-US" altLang="en-US" dirty="0"/>
              <a:t>The Brain (slide 7 of 7</a:t>
            </a:r>
            <a:r>
              <a:rPr lang="en-US" altLang="ja-JP" dirty="0"/>
              <a:t>)</a:t>
            </a:r>
            <a:endParaRPr lang="en-US" altLang="en-US" dirty="0"/>
          </a:p>
        </p:txBody>
      </p:sp>
      <p:sp>
        <p:nvSpPr>
          <p:cNvPr id="26627" name="Rectangle 1029"/>
          <p:cNvSpPr>
            <a:spLocks noGrp="1" noChangeArrowheads="1"/>
          </p:cNvSpPr>
          <p:nvPr>
            <p:ph idx="1"/>
          </p:nvPr>
        </p:nvSpPr>
        <p:spPr/>
        <p:txBody>
          <a:bodyPr/>
          <a:lstStyle/>
          <a:p>
            <a:pPr eaLnBrk="1" hangingPunct="1">
              <a:buFont typeface="Wingdings 2" panose="05020102010507070707" pitchFamily="18" charset="2"/>
              <a:buNone/>
            </a:pPr>
            <a:r>
              <a:rPr lang="en-US" altLang="en-US"/>
              <a:t>Brainstem</a:t>
            </a:r>
          </a:p>
          <a:p>
            <a:pPr eaLnBrk="1" hangingPunct="1"/>
            <a:r>
              <a:rPr lang="en-US" altLang="en-US"/>
              <a:t>Medulla oblongata</a:t>
            </a:r>
          </a:p>
          <a:p>
            <a:pPr lvl="1" eaLnBrk="1" hangingPunct="1">
              <a:buFont typeface="Wingdings" panose="05000000000000000000" pitchFamily="2" charset="2"/>
              <a:buChar char="Ø"/>
            </a:pPr>
            <a:r>
              <a:rPr lang="en-US" altLang="en-US"/>
              <a:t>Connects the spinal cord to the brain</a:t>
            </a:r>
          </a:p>
          <a:p>
            <a:pPr lvl="1" eaLnBrk="1" hangingPunct="1">
              <a:buFont typeface="Wingdings" panose="05000000000000000000" pitchFamily="2" charset="2"/>
              <a:buChar char="Ø"/>
            </a:pPr>
            <a:r>
              <a:rPr lang="en-US" altLang="en-US"/>
              <a:t>Nerve tracts from side to side</a:t>
            </a:r>
          </a:p>
          <a:p>
            <a:pPr lvl="1" eaLnBrk="1" hangingPunct="1">
              <a:buFont typeface="Wingdings" panose="05000000000000000000" pitchFamily="2" charset="2"/>
              <a:buChar char="Ø"/>
            </a:pPr>
            <a:r>
              <a:rPr lang="en-US" altLang="en-US"/>
              <a:t>Regulates:</a:t>
            </a:r>
          </a:p>
          <a:p>
            <a:pPr lvl="2" eaLnBrk="1" hangingPunct="1"/>
            <a:r>
              <a:rPr lang="en-US" altLang="en-US"/>
              <a:t>Blood vessels</a:t>
            </a:r>
          </a:p>
          <a:p>
            <a:pPr lvl="2" eaLnBrk="1" hangingPunct="1"/>
            <a:r>
              <a:rPr lang="en-US" altLang="en-US"/>
              <a:t>Heart</a:t>
            </a:r>
          </a:p>
          <a:p>
            <a:pPr lvl="2" eaLnBrk="1" hangingPunct="1"/>
            <a:r>
              <a:rPr lang="en-US" altLang="en-US"/>
              <a:t>Respiratory system</a:t>
            </a:r>
          </a:p>
        </p:txBody>
      </p:sp>
    </p:spTree>
    <p:extLst>
      <p:ext uri="{BB962C8B-B14F-4D97-AF65-F5344CB8AC3E}">
        <p14:creationId xmlns:p14="http://schemas.microsoft.com/office/powerpoint/2010/main" val="112579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Spinal Cord</a:t>
            </a:r>
            <a:endParaRPr lang="es-419" dirty="0"/>
          </a:p>
        </p:txBody>
      </p:sp>
      <p:pic>
        <p:nvPicPr>
          <p:cNvPr id="5" name="Picture 11" descr="The spinal cord is a column of nervous tissue extending from the medulla oblongata to the second lumbar vertebra within the vertebral column. Afferent neurons bring impulses from a sensory receptor into the spinal column. Efferent neurons carry impulses from the spinal cord to effector organs. Central canal is the space through which cerebral spinal fluid travel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09323" y="2207354"/>
            <a:ext cx="6186877" cy="32790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022154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9" name="Rectangle 5"/>
          <p:cNvSpPr>
            <a:spLocks noGrp="1" noChangeArrowheads="1"/>
          </p:cNvSpPr>
          <p:nvPr>
            <p:ph type="title"/>
          </p:nvPr>
        </p:nvSpPr>
        <p:spPr>
          <a:xfrm>
            <a:off x="990600" y="381000"/>
            <a:ext cx="7239000" cy="1143000"/>
          </a:xfrm>
        </p:spPr>
        <p:txBody>
          <a:bodyPr rtlCol="0">
            <a:normAutofit/>
          </a:bodyPr>
          <a:lstStyle/>
          <a:p>
            <a:pPr eaLnBrk="1" fontAlgn="auto" hangingPunct="1">
              <a:spcAft>
                <a:spcPts val="0"/>
              </a:spcAft>
              <a:defRPr/>
            </a:pPr>
            <a:r>
              <a:rPr lang="en-US" dirty="0" err="1"/>
              <a:t>Meninges</a:t>
            </a:r>
            <a:r>
              <a:rPr lang="en-US" dirty="0"/>
              <a:t> (slide 1 of 2</a:t>
            </a:r>
            <a:r>
              <a:rPr lang="en-US" altLang="ja-JP" dirty="0"/>
              <a:t>)</a:t>
            </a:r>
            <a:endParaRPr lang="en-US" dirty="0"/>
          </a:p>
        </p:txBody>
      </p:sp>
      <p:sp>
        <p:nvSpPr>
          <p:cNvPr id="28675" name="Rectangle 6"/>
          <p:cNvSpPr>
            <a:spLocks noGrp="1" noChangeArrowheads="1"/>
          </p:cNvSpPr>
          <p:nvPr>
            <p:ph idx="1"/>
          </p:nvPr>
        </p:nvSpPr>
        <p:spPr/>
        <p:txBody>
          <a:bodyPr/>
          <a:lstStyle/>
          <a:p>
            <a:pPr eaLnBrk="1" hangingPunct="1">
              <a:buFont typeface="Wingdings 2" panose="05020102010507070707" pitchFamily="18" charset="2"/>
              <a:buNone/>
            </a:pPr>
            <a:r>
              <a:rPr lang="en-US" altLang="en-US" dirty="0" err="1"/>
              <a:t>Meninges</a:t>
            </a:r>
            <a:r>
              <a:rPr lang="en-US" altLang="en-US" dirty="0"/>
              <a:t> contain:</a:t>
            </a:r>
          </a:p>
          <a:p>
            <a:pPr eaLnBrk="1" hangingPunct="1"/>
            <a:r>
              <a:rPr lang="en-US" altLang="en-US" dirty="0"/>
              <a:t>Dura mater</a:t>
            </a:r>
          </a:p>
          <a:p>
            <a:pPr eaLnBrk="1" hangingPunct="1"/>
            <a:r>
              <a:rPr lang="en-US" altLang="en-US" dirty="0"/>
              <a:t>Subdural space</a:t>
            </a:r>
          </a:p>
          <a:p>
            <a:pPr eaLnBrk="1" hangingPunct="1"/>
            <a:r>
              <a:rPr lang="en-US" altLang="en-US" dirty="0" err="1"/>
              <a:t>Arachnoid</a:t>
            </a:r>
            <a:r>
              <a:rPr lang="en-US" altLang="en-US" dirty="0"/>
              <a:t> membrane</a:t>
            </a:r>
          </a:p>
          <a:p>
            <a:pPr eaLnBrk="1" hangingPunct="1"/>
            <a:r>
              <a:rPr lang="en-US" altLang="en-US" dirty="0"/>
              <a:t>Subarachnoid space</a:t>
            </a:r>
          </a:p>
          <a:p>
            <a:pPr eaLnBrk="1" hangingPunct="1"/>
            <a:r>
              <a:rPr lang="en-US" altLang="en-US" dirty="0" err="1"/>
              <a:t>Pia</a:t>
            </a:r>
            <a:r>
              <a:rPr lang="en-US" altLang="en-US" dirty="0"/>
              <a:t> mater</a:t>
            </a:r>
          </a:p>
        </p:txBody>
      </p:sp>
    </p:spTree>
    <p:extLst>
      <p:ext uri="{BB962C8B-B14F-4D97-AF65-F5344CB8AC3E}">
        <p14:creationId xmlns:p14="http://schemas.microsoft.com/office/powerpoint/2010/main" val="204681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p:txBody>
          <a:bodyPr rtlCol="0">
            <a:normAutofit/>
          </a:bodyPr>
          <a:lstStyle/>
          <a:p>
            <a:pPr eaLnBrk="1" fontAlgn="auto" hangingPunct="1">
              <a:spcAft>
                <a:spcPts val="0"/>
              </a:spcAft>
              <a:defRPr/>
            </a:pPr>
            <a:r>
              <a:rPr lang="en-US" dirty="0" err="1"/>
              <a:t>Meninges</a:t>
            </a:r>
            <a:r>
              <a:rPr lang="en-US" dirty="0"/>
              <a:t> (slide 2 of 2</a:t>
            </a:r>
            <a:r>
              <a:rPr lang="en-US" altLang="ja-JP" dirty="0"/>
              <a:t>)</a:t>
            </a:r>
            <a:endParaRPr lang="en-US" dirty="0"/>
          </a:p>
        </p:txBody>
      </p:sp>
      <p:pic>
        <p:nvPicPr>
          <p:cNvPr id="5" name="Picture 7" descr="The meninges have three layers of connective tissue membranes that surround the brain and spinal cord. Outermost layer is the dura mater. Subdural space is below the dural membrane. Second layer is the arachnoid membrane followed by the subarachnoid space, containing cerebral spinal fluid. Pia mater is the layer closest to the brain and spinal cord."/>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64716" y="1600200"/>
            <a:ext cx="6014568"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94334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 of 34)</a:t>
            </a:r>
          </a:p>
        </p:txBody>
      </p:sp>
      <p:graphicFrame>
        <p:nvGraphicFramePr>
          <p:cNvPr id="8" name="Content Placeholder 7" descr="Group 1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593394503"/>
              </p:ext>
            </p:extLst>
          </p:nvPr>
        </p:nvGraphicFramePr>
        <p:xfrm>
          <a:off x="3238500" y="1828800"/>
          <a:ext cx="2667000" cy="21945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acetylcholine</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afferent nerve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arachnoid membrane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59037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 of 34)</a:t>
            </a:r>
          </a:p>
        </p:txBody>
      </p:sp>
      <p:graphicFrame>
        <p:nvGraphicFramePr>
          <p:cNvPr id="8" name="Content Placeholder 7" descr="Group 1 of 17.  List of vocabulary terms  with corresponding meanings or definitions."/>
          <p:cNvGraphicFramePr>
            <a:graphicFrameLocks noGrp="1"/>
          </p:cNvGraphicFramePr>
          <p:nvPr>
            <p:ph idx="1"/>
            <p:extLst>
              <p:ext uri="{D42A27DB-BD31-4B8C-83A1-F6EECF244321}">
                <p14:modId xmlns:p14="http://schemas.microsoft.com/office/powerpoint/2010/main" val="1241171287"/>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acetylcholine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Neurotransmitter chemical released at ends of nerve cells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afferent nerve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Carries messages </a:t>
                      </a:r>
                      <a:r>
                        <a:rPr lang="en-US" altLang="en-US" sz="2400" i="1" dirty="0"/>
                        <a:t>toward</a:t>
                      </a:r>
                      <a:r>
                        <a:rPr lang="en-US" altLang="en-US" sz="2400" dirty="0"/>
                        <a:t> the brain and spinal cord</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arachnoid membrane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Middle layer of the three membranes that surround the brain and spinal cord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05733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 of 34)</a:t>
            </a:r>
          </a:p>
        </p:txBody>
      </p:sp>
      <p:graphicFrame>
        <p:nvGraphicFramePr>
          <p:cNvPr id="8" name="Content Placeholder 7" descr="Group 2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115489118"/>
              </p:ext>
            </p:extLst>
          </p:nvPr>
        </p:nvGraphicFramePr>
        <p:xfrm>
          <a:off x="3352800" y="2133600"/>
          <a:ext cx="2438400" cy="21945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astrocyte</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autonomic nervous system</a:t>
                      </a:r>
                    </a:p>
                  </a:txBody>
                  <a:tcPr/>
                </a:tc>
                <a:extLst>
                  <a:ext uri="{0D108BD9-81ED-4DB2-BD59-A6C34878D82A}">
                    <a16:rowId xmlns:a16="http://schemas.microsoft.com/office/drawing/2014/main" val="10002"/>
                  </a:ext>
                </a:extLst>
              </a:tr>
              <a:tr h="370840">
                <a:tc>
                  <a:txBody>
                    <a:bodyPr/>
                    <a:lstStyle/>
                    <a:p>
                      <a:r>
                        <a:rPr lang="en-US" altLang="en-US" sz="2400" dirty="0"/>
                        <a:t>axon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10361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4 of 34)</a:t>
            </a:r>
          </a:p>
        </p:txBody>
      </p:sp>
      <p:graphicFrame>
        <p:nvGraphicFramePr>
          <p:cNvPr id="8" name="Content Placeholder 7" descr="Group 2 of 17.  List of vocabulary terms  with corresponding meanings or definitions."/>
          <p:cNvGraphicFramePr>
            <a:graphicFrameLocks noGrp="1"/>
          </p:cNvGraphicFramePr>
          <p:nvPr>
            <p:ph idx="1"/>
            <p:extLst>
              <p:ext uri="{D42A27DB-BD31-4B8C-83A1-F6EECF244321}">
                <p14:modId xmlns:p14="http://schemas.microsoft.com/office/powerpoint/2010/main" val="2419592315"/>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astrocyte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Glial cell that transports water and salts from capillaries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autonomic nervous system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Nerves that control involuntary body functions of muscles, glands, and internal organs</a:t>
                      </a:r>
                    </a:p>
                  </a:txBody>
                  <a:tcPr/>
                </a:tc>
                <a:extLst>
                  <a:ext uri="{0D108BD9-81ED-4DB2-BD59-A6C34878D82A}">
                    <a16:rowId xmlns:a16="http://schemas.microsoft.com/office/drawing/2014/main" val="10002"/>
                  </a:ext>
                </a:extLst>
              </a:tr>
              <a:tr h="370840">
                <a:tc>
                  <a:txBody>
                    <a:bodyPr/>
                    <a:lstStyle/>
                    <a:p>
                      <a:r>
                        <a:rPr lang="en-US" altLang="en-US" sz="2400" dirty="0"/>
                        <a:t>axon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Microscopic fiber that carries the nervous impulse along a nerve cell</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98959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5 of 34)</a:t>
            </a:r>
          </a:p>
        </p:txBody>
      </p:sp>
      <p:graphicFrame>
        <p:nvGraphicFramePr>
          <p:cNvPr id="8" name="Content Placeholder 7" descr="Group 3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807262722"/>
              </p:ext>
            </p:extLst>
          </p:nvPr>
        </p:nvGraphicFramePr>
        <p:xfrm>
          <a:off x="3009900" y="2209800"/>
          <a:ext cx="3124200" cy="182880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blood-brain barrier</a:t>
                      </a:r>
                    </a:p>
                  </a:txBody>
                  <a:tcPr/>
                </a:tc>
                <a:extLst>
                  <a:ext uri="{0D108BD9-81ED-4DB2-BD59-A6C34878D82A}">
                    <a16:rowId xmlns:a16="http://schemas.microsoft.com/office/drawing/2014/main" val="10001"/>
                  </a:ext>
                </a:extLst>
              </a:tr>
              <a:tr h="370840">
                <a:tc>
                  <a:txBody>
                    <a:bodyPr/>
                    <a:lstStyle/>
                    <a:p>
                      <a:r>
                        <a:rPr lang="en-US" altLang="en-US" sz="2400" dirty="0"/>
                        <a:t>brainstem</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cauda</a:t>
                      </a:r>
                      <a:r>
                        <a:rPr lang="en-US" altLang="en-US" sz="2400" dirty="0"/>
                        <a:t> </a:t>
                      </a:r>
                      <a:r>
                        <a:rPr lang="en-US" altLang="en-US" sz="2400" dirty="0" err="1"/>
                        <a:t>equina</a:t>
                      </a:r>
                      <a:endParaRPr lang="en-US" alt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05689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6 of 34)</a:t>
            </a:r>
          </a:p>
        </p:txBody>
      </p:sp>
      <p:graphicFrame>
        <p:nvGraphicFramePr>
          <p:cNvPr id="8" name="Content Placeholder 7" descr="Group 3 of 17.  List of vocabulary terms  with corresponding meanings or definitions."/>
          <p:cNvGraphicFramePr>
            <a:graphicFrameLocks noGrp="1"/>
          </p:cNvGraphicFramePr>
          <p:nvPr>
            <p:ph idx="1"/>
            <p:extLst>
              <p:ext uri="{D42A27DB-BD31-4B8C-83A1-F6EECF244321}">
                <p14:modId xmlns:p14="http://schemas.microsoft.com/office/powerpoint/2010/main" val="281634059"/>
              </p:ext>
            </p:extLst>
          </p:nvPr>
        </p:nvGraphicFramePr>
        <p:xfrm>
          <a:off x="457200" y="1600200"/>
          <a:ext cx="8229600" cy="3877056"/>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blood-brain barrier</a:t>
                      </a:r>
                    </a:p>
                  </a:txBody>
                  <a:tcPr/>
                </a:tc>
                <a:tc>
                  <a:txBody>
                    <a:bodyPr/>
                    <a:lstStyle/>
                    <a:p>
                      <a:pPr marL="0" indent="0" eaLnBrk="1" hangingPunct="1">
                        <a:lnSpc>
                          <a:spcPct val="90000"/>
                        </a:lnSpc>
                        <a:buFont typeface="Wingdings 2" panose="05020102010507070707" pitchFamily="18" charset="2"/>
                        <a:buNone/>
                      </a:pPr>
                      <a:r>
                        <a:rPr lang="en-US" altLang="en-US" sz="2400" dirty="0"/>
                        <a:t>Protective separation between the blood and brain cells that keeps substances (such as anticancer drugs) from penetrating capillary walls and entering the brain</a:t>
                      </a:r>
                    </a:p>
                  </a:txBody>
                  <a:tcPr/>
                </a:tc>
                <a:extLst>
                  <a:ext uri="{0D108BD9-81ED-4DB2-BD59-A6C34878D82A}">
                    <a16:rowId xmlns:a16="http://schemas.microsoft.com/office/drawing/2014/main" val="10001"/>
                  </a:ext>
                </a:extLst>
              </a:tr>
              <a:tr h="370840">
                <a:tc>
                  <a:txBody>
                    <a:bodyPr/>
                    <a:lstStyle/>
                    <a:p>
                      <a:r>
                        <a:rPr lang="en-US" altLang="en-US" sz="2400" dirty="0"/>
                        <a:t>brainstem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Posterior portion of the brain that connects the cerebrum with the spinal cord:  includes the midbrain, pons, and medulla oblongata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cauda</a:t>
                      </a:r>
                      <a:r>
                        <a:rPr lang="en-US" altLang="en-US" sz="2400" dirty="0"/>
                        <a:t> </a:t>
                      </a:r>
                      <a:r>
                        <a:rPr lang="en-US" altLang="en-US" sz="2400" dirty="0" err="1"/>
                        <a:t>equina</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Collection of spinal nerves below the end of the spinal cord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57909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7 of 34)</a:t>
            </a:r>
          </a:p>
        </p:txBody>
      </p:sp>
      <p:graphicFrame>
        <p:nvGraphicFramePr>
          <p:cNvPr id="8" name="Content Placeholder 7" descr="Group 4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553811818"/>
              </p:ext>
            </p:extLst>
          </p:nvPr>
        </p:nvGraphicFramePr>
        <p:xfrm>
          <a:off x="2438400" y="2209800"/>
          <a:ext cx="4267200" cy="182880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cell body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central nervous system (CNS)</a:t>
                      </a:r>
                    </a:p>
                  </a:txBody>
                  <a:tcPr/>
                </a:tc>
                <a:extLst>
                  <a:ext uri="{0D108BD9-81ED-4DB2-BD59-A6C34878D82A}">
                    <a16:rowId xmlns:a16="http://schemas.microsoft.com/office/drawing/2014/main" val="10002"/>
                  </a:ext>
                </a:extLst>
              </a:tr>
              <a:tr h="370840">
                <a:tc>
                  <a:txBody>
                    <a:bodyPr/>
                    <a:lstStyle/>
                    <a:p>
                      <a:r>
                        <a:rPr lang="en-US" altLang="en-US" sz="2400" dirty="0"/>
                        <a:t>cerebellum</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75361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8 of 34)</a:t>
            </a:r>
          </a:p>
        </p:txBody>
      </p:sp>
      <p:graphicFrame>
        <p:nvGraphicFramePr>
          <p:cNvPr id="8" name="Content Placeholder 7" descr="Group 4 of 17.  List of vocabulary terms  with corresponding meanings or definitions."/>
          <p:cNvGraphicFramePr>
            <a:graphicFrameLocks noGrp="1"/>
          </p:cNvGraphicFramePr>
          <p:nvPr>
            <p:ph idx="1"/>
            <p:extLst>
              <p:ext uri="{D42A27DB-BD31-4B8C-83A1-F6EECF244321}">
                <p14:modId xmlns:p14="http://schemas.microsoft.com/office/powerpoint/2010/main" val="3359733354"/>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cell body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part of a nerve cell that contains the nucleus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central nervous system (CNS)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brain and spinal cord</a:t>
                      </a:r>
                    </a:p>
                  </a:txBody>
                  <a:tcPr/>
                </a:tc>
                <a:extLst>
                  <a:ext uri="{0D108BD9-81ED-4DB2-BD59-A6C34878D82A}">
                    <a16:rowId xmlns:a16="http://schemas.microsoft.com/office/drawing/2014/main" val="10002"/>
                  </a:ext>
                </a:extLst>
              </a:tr>
              <a:tr h="370840">
                <a:tc>
                  <a:txBody>
                    <a:bodyPr/>
                    <a:lstStyle/>
                    <a:p>
                      <a:r>
                        <a:rPr lang="en-US" altLang="en-US" sz="2400" dirty="0"/>
                        <a:t>cerebellum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posterior part of the brain that coordinates muscle movements and maintains balance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36869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9 of 34)</a:t>
            </a:r>
          </a:p>
        </p:txBody>
      </p:sp>
      <p:graphicFrame>
        <p:nvGraphicFramePr>
          <p:cNvPr id="8" name="Content Placeholder 7" descr="Group 5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73318418"/>
              </p:ext>
            </p:extLst>
          </p:nvPr>
        </p:nvGraphicFramePr>
        <p:xfrm>
          <a:off x="3124200" y="2438400"/>
          <a:ext cx="3581400" cy="182880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cerebral cortex</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cerebrospinal fluid</a:t>
                      </a:r>
                    </a:p>
                  </a:txBody>
                  <a:tcPr/>
                </a:tc>
                <a:extLst>
                  <a:ext uri="{0D108BD9-81ED-4DB2-BD59-A6C34878D82A}">
                    <a16:rowId xmlns:a16="http://schemas.microsoft.com/office/drawing/2014/main" val="10002"/>
                  </a:ext>
                </a:extLst>
              </a:tr>
              <a:tr h="370840">
                <a:tc>
                  <a:txBody>
                    <a:bodyPr/>
                    <a:lstStyle/>
                    <a:p>
                      <a:r>
                        <a:rPr lang="en-US" altLang="en-US" sz="2400" dirty="0"/>
                        <a:t>cerebrum</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099358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10 of 34)</a:t>
            </a:r>
          </a:p>
        </p:txBody>
      </p:sp>
      <p:graphicFrame>
        <p:nvGraphicFramePr>
          <p:cNvPr id="8" name="Content Placeholder 7" descr="Group 5 of 17.  List of vocabulary terms  with corresponding meanings or definitions."/>
          <p:cNvGraphicFramePr>
            <a:graphicFrameLocks noGrp="1"/>
          </p:cNvGraphicFramePr>
          <p:nvPr>
            <p:ph idx="1"/>
            <p:extLst>
              <p:ext uri="{D42A27DB-BD31-4B8C-83A1-F6EECF244321}">
                <p14:modId xmlns:p14="http://schemas.microsoft.com/office/powerpoint/2010/main" val="1763514067"/>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cerebral cortex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Outer region of the cerebrum; contains sheets of nerve cells; gray matter</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cerebrospinal fluid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Circulates throughout the brain and spinal cord</a:t>
                      </a:r>
                    </a:p>
                  </a:txBody>
                  <a:tcPr/>
                </a:tc>
                <a:extLst>
                  <a:ext uri="{0D108BD9-81ED-4DB2-BD59-A6C34878D82A}">
                    <a16:rowId xmlns:a16="http://schemas.microsoft.com/office/drawing/2014/main" val="10002"/>
                  </a:ext>
                </a:extLst>
              </a:tr>
              <a:tr h="370840">
                <a:tc>
                  <a:txBody>
                    <a:bodyPr/>
                    <a:lstStyle/>
                    <a:p>
                      <a:r>
                        <a:rPr lang="en-US" altLang="en-US" sz="2400" dirty="0"/>
                        <a:t>cerebrum</a:t>
                      </a:r>
                      <a:endParaRPr lang="en-US" sz="2400" dirty="0"/>
                    </a:p>
                  </a:txBody>
                  <a:tcPr/>
                </a:tc>
                <a:tc>
                  <a:txBody>
                    <a:bodyPr/>
                    <a:lstStyle/>
                    <a:p>
                      <a:pPr marL="0" indent="0" eaLnBrk="1" hangingPunct="1">
                        <a:buFont typeface="Wingdings 2" panose="05020102010507070707" pitchFamily="18" charset="2"/>
                        <a:buNone/>
                      </a:pPr>
                      <a:r>
                        <a:rPr lang="en-US" altLang="en-US" sz="2400" dirty="0"/>
                        <a:t>The largest part of the brain; responsible for voluntary muscle activity, vision, speech, taste, hearing, thought, and memory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70094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11 of 34)</a:t>
            </a:r>
          </a:p>
        </p:txBody>
      </p:sp>
      <p:graphicFrame>
        <p:nvGraphicFramePr>
          <p:cNvPr id="8" name="Content Placeholder 7" descr="Group 6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655330972"/>
              </p:ext>
            </p:extLst>
          </p:nvPr>
        </p:nvGraphicFramePr>
        <p:xfrm>
          <a:off x="3352800" y="2209800"/>
          <a:ext cx="2438400" cy="1828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cranial nerves</a:t>
                      </a:r>
                    </a:p>
                  </a:txBody>
                  <a:tcPr/>
                </a:tc>
                <a:extLst>
                  <a:ext uri="{0D108BD9-81ED-4DB2-BD59-A6C34878D82A}">
                    <a16:rowId xmlns:a16="http://schemas.microsoft.com/office/drawing/2014/main" val="10001"/>
                  </a:ext>
                </a:extLst>
              </a:tr>
              <a:tr h="370840">
                <a:tc>
                  <a:txBody>
                    <a:bodyPr/>
                    <a:lstStyle/>
                    <a:p>
                      <a:r>
                        <a:rPr lang="en-US" altLang="en-US" sz="2400" dirty="0"/>
                        <a:t>dendrite</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dura</a:t>
                      </a:r>
                      <a:r>
                        <a:rPr lang="en-US" altLang="en-US" sz="2400" dirty="0"/>
                        <a:t> mater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62088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12 of 34)</a:t>
            </a:r>
          </a:p>
        </p:txBody>
      </p:sp>
      <p:graphicFrame>
        <p:nvGraphicFramePr>
          <p:cNvPr id="8" name="Content Placeholder 7" descr="Group 6 of 17.  List of vocabulary terms  with corresponding meanings or definitions."/>
          <p:cNvGraphicFramePr>
            <a:graphicFrameLocks noGrp="1"/>
          </p:cNvGraphicFramePr>
          <p:nvPr>
            <p:ph idx="1"/>
            <p:extLst>
              <p:ext uri="{D42A27DB-BD31-4B8C-83A1-F6EECF244321}">
                <p14:modId xmlns:p14="http://schemas.microsoft.com/office/powerpoint/2010/main" val="3355399005"/>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cranial nerves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Twelve pairs; carry messages to and from the brain with regard to the head and neck (except the </a:t>
                      </a:r>
                      <a:r>
                        <a:rPr lang="en-US" altLang="en-US" sz="2400" dirty="0" err="1"/>
                        <a:t>vagus</a:t>
                      </a:r>
                      <a:r>
                        <a:rPr lang="en-US" altLang="en-US" sz="2400" dirty="0"/>
                        <a:t> nerve)</a:t>
                      </a:r>
                    </a:p>
                  </a:txBody>
                  <a:tcPr/>
                </a:tc>
                <a:extLst>
                  <a:ext uri="{0D108BD9-81ED-4DB2-BD59-A6C34878D82A}">
                    <a16:rowId xmlns:a16="http://schemas.microsoft.com/office/drawing/2014/main" val="10001"/>
                  </a:ext>
                </a:extLst>
              </a:tr>
              <a:tr h="370840">
                <a:tc>
                  <a:txBody>
                    <a:bodyPr/>
                    <a:lstStyle/>
                    <a:p>
                      <a:r>
                        <a:rPr lang="en-US" altLang="en-US" sz="2400" dirty="0"/>
                        <a:t>dendrite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Microscopic branching fiber of a nerve cell; the first part to receive the nervous impulse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dura</a:t>
                      </a:r>
                      <a:r>
                        <a:rPr lang="en-US" altLang="en-US" sz="2400" dirty="0"/>
                        <a:t> mater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thick, outermost layer of the meninges surrounding and protecting the brain and spinal cord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520517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13 of 34)</a:t>
            </a:r>
          </a:p>
        </p:txBody>
      </p:sp>
      <p:graphicFrame>
        <p:nvGraphicFramePr>
          <p:cNvPr id="8" name="Content Placeholder 7" descr="Group 7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756313314"/>
              </p:ext>
            </p:extLst>
          </p:nvPr>
        </p:nvGraphicFramePr>
        <p:xfrm>
          <a:off x="2438400" y="2438400"/>
          <a:ext cx="41148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efferent nerve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ependymal cell</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ganglion (</a:t>
                      </a:r>
                      <a:r>
                        <a:rPr lang="en-US" altLang="en-US" sz="2400" i="1" dirty="0"/>
                        <a:t>plural:</a:t>
                      </a:r>
                      <a:r>
                        <a:rPr lang="en-US" altLang="en-US" sz="2400" dirty="0"/>
                        <a:t> ganglia)</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133745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14 of 34)</a:t>
            </a:r>
          </a:p>
        </p:txBody>
      </p:sp>
      <p:graphicFrame>
        <p:nvGraphicFramePr>
          <p:cNvPr id="8" name="Content Placeholder 7" descr="Group 7 of 17.  List of vocabulary terms  with corresponding meanings or definitions."/>
          <p:cNvGraphicFramePr>
            <a:graphicFrameLocks noGrp="1"/>
          </p:cNvGraphicFramePr>
          <p:nvPr>
            <p:ph idx="1"/>
            <p:extLst>
              <p:ext uri="{D42A27DB-BD31-4B8C-83A1-F6EECF244321}">
                <p14:modId xmlns:p14="http://schemas.microsoft.com/office/powerpoint/2010/main" val="985368682"/>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efferent nerve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Carries messages </a:t>
                      </a:r>
                      <a:r>
                        <a:rPr lang="en-US" altLang="en-US" sz="2400" i="1" dirty="0"/>
                        <a:t>away</a:t>
                      </a:r>
                      <a:r>
                        <a:rPr lang="en-US" altLang="en-US" sz="2400" dirty="0"/>
                        <a:t> from the brain and spinal cord; motor nerve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ependymal cell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Glial cell that lines the membranes within the brain and spinal cord; helps form cerebrospinal fluid</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ganglion (</a:t>
                      </a:r>
                      <a:r>
                        <a:rPr lang="en-US" altLang="en-US" sz="2400" i="1" dirty="0"/>
                        <a:t>plural:</a:t>
                      </a:r>
                      <a:r>
                        <a:rPr lang="en-US" altLang="en-US" sz="2400" dirty="0"/>
                        <a:t> ganglia)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Collection of nerve cell bodies in the peripheral nervous system</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469783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15 of 34)</a:t>
            </a:r>
          </a:p>
        </p:txBody>
      </p:sp>
      <p:graphicFrame>
        <p:nvGraphicFramePr>
          <p:cNvPr id="8" name="Content Placeholder 7" descr="Group 8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67196910"/>
              </p:ext>
            </p:extLst>
          </p:nvPr>
        </p:nvGraphicFramePr>
        <p:xfrm>
          <a:off x="2438400" y="2514600"/>
          <a:ext cx="4267200" cy="182880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glial cell (</a:t>
                      </a:r>
                      <a:r>
                        <a:rPr lang="en-US" altLang="en-US" sz="2400" dirty="0" err="1"/>
                        <a:t>neuroglial</a:t>
                      </a:r>
                      <a:r>
                        <a:rPr lang="en-US" altLang="en-US" sz="2400" dirty="0"/>
                        <a:t> cell)</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gyrus</a:t>
                      </a:r>
                      <a:r>
                        <a:rPr lang="en-US" altLang="en-US" sz="2400" dirty="0"/>
                        <a:t> (</a:t>
                      </a:r>
                      <a:r>
                        <a:rPr lang="en-US" altLang="en-US" sz="2400" i="1" dirty="0"/>
                        <a:t>plural:</a:t>
                      </a:r>
                      <a:r>
                        <a:rPr lang="en-US" altLang="en-US" sz="2400" dirty="0"/>
                        <a:t> </a:t>
                      </a:r>
                      <a:r>
                        <a:rPr lang="en-US" altLang="en-US" sz="2400" dirty="0" err="1"/>
                        <a:t>gyri</a:t>
                      </a:r>
                      <a:r>
                        <a:rPr lang="en-US" altLang="en-US" sz="2400" dirty="0"/>
                        <a:t>)</a:t>
                      </a:r>
                    </a:p>
                  </a:txBody>
                  <a:tcPr/>
                </a:tc>
                <a:extLst>
                  <a:ext uri="{0D108BD9-81ED-4DB2-BD59-A6C34878D82A}">
                    <a16:rowId xmlns:a16="http://schemas.microsoft.com/office/drawing/2014/main" val="10002"/>
                  </a:ext>
                </a:extLst>
              </a:tr>
              <a:tr h="370840">
                <a:tc>
                  <a:txBody>
                    <a:bodyPr/>
                    <a:lstStyle/>
                    <a:p>
                      <a:r>
                        <a:rPr lang="en-US" altLang="en-US" sz="2400" dirty="0"/>
                        <a:t>hypothalamus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280081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16 of 34)</a:t>
            </a:r>
          </a:p>
        </p:txBody>
      </p:sp>
      <p:graphicFrame>
        <p:nvGraphicFramePr>
          <p:cNvPr id="8" name="Content Placeholder 7" descr="Group 8 of 17.  List of vocabulary terms  with corresponding meanings or definitions."/>
          <p:cNvGraphicFramePr>
            <a:graphicFrameLocks noGrp="1"/>
          </p:cNvGraphicFramePr>
          <p:nvPr>
            <p:ph idx="1"/>
            <p:extLst>
              <p:ext uri="{D42A27DB-BD31-4B8C-83A1-F6EECF244321}">
                <p14:modId xmlns:p14="http://schemas.microsoft.com/office/powerpoint/2010/main" val="3664036601"/>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glial cell (</a:t>
                      </a:r>
                      <a:r>
                        <a:rPr lang="en-US" altLang="en-US" sz="2400" dirty="0" err="1"/>
                        <a:t>neuroglial</a:t>
                      </a:r>
                      <a:r>
                        <a:rPr lang="en-US" altLang="en-US" sz="2400" dirty="0"/>
                        <a:t> cell)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Supportive and connective nerve cell that does not carry nervous impulses; can reproduce itself</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gyrus</a:t>
                      </a:r>
                      <a:r>
                        <a:rPr lang="en-US" altLang="en-US" sz="2400" dirty="0"/>
                        <a:t> (</a:t>
                      </a:r>
                      <a:r>
                        <a:rPr lang="en-US" altLang="en-US" sz="2400" i="1" dirty="0"/>
                        <a:t>plural:</a:t>
                      </a:r>
                      <a:r>
                        <a:rPr lang="en-US" altLang="en-US" sz="2400" dirty="0"/>
                        <a:t> </a:t>
                      </a:r>
                      <a:r>
                        <a:rPr lang="en-US" altLang="en-US" sz="2400" dirty="0" err="1"/>
                        <a:t>gyri</a:t>
                      </a:r>
                      <a:r>
                        <a:rPr lang="en-US" alt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Sheet of nerve cells that produces a rounded ridge on the surface of the cerebral cortex; convolution</a:t>
                      </a:r>
                    </a:p>
                  </a:txBody>
                  <a:tcPr/>
                </a:tc>
                <a:extLst>
                  <a:ext uri="{0D108BD9-81ED-4DB2-BD59-A6C34878D82A}">
                    <a16:rowId xmlns:a16="http://schemas.microsoft.com/office/drawing/2014/main" val="10002"/>
                  </a:ext>
                </a:extLst>
              </a:tr>
              <a:tr h="370840">
                <a:tc>
                  <a:txBody>
                    <a:bodyPr/>
                    <a:lstStyle/>
                    <a:p>
                      <a:r>
                        <a:rPr lang="en-US" altLang="en-US" sz="2400" dirty="0"/>
                        <a:t>hypothalamus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The portion of the brain beneath the thalamus; controls sleep, appetite, body temperature, and pituitary gland secretions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47937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17 of 34)</a:t>
            </a:r>
          </a:p>
        </p:txBody>
      </p:sp>
      <p:graphicFrame>
        <p:nvGraphicFramePr>
          <p:cNvPr id="8" name="Content Placeholder 7" descr="Group 9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846320900"/>
              </p:ext>
            </p:extLst>
          </p:nvPr>
        </p:nvGraphicFramePr>
        <p:xfrm>
          <a:off x="2438400" y="2209800"/>
          <a:ext cx="4267200" cy="182880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medulla oblongata</a:t>
                      </a:r>
                    </a:p>
                  </a:txBody>
                  <a:tcPr/>
                </a:tc>
                <a:extLst>
                  <a:ext uri="{0D108BD9-81ED-4DB2-BD59-A6C34878D82A}">
                    <a16:rowId xmlns:a16="http://schemas.microsoft.com/office/drawing/2014/main" val="10001"/>
                  </a:ext>
                </a:extLst>
              </a:tr>
              <a:tr h="370840">
                <a:tc>
                  <a:txBody>
                    <a:bodyPr/>
                    <a:lstStyle/>
                    <a:p>
                      <a:r>
                        <a:rPr lang="en-US" altLang="en-US" sz="2400" dirty="0"/>
                        <a:t>meninges</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microglial cell</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278702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18 of 34)</a:t>
            </a:r>
          </a:p>
        </p:txBody>
      </p:sp>
      <p:graphicFrame>
        <p:nvGraphicFramePr>
          <p:cNvPr id="8" name="Content Placeholder 7" descr="Group 9 of 17.  List of vocabulary terms  with corresponding meanings or definitions."/>
          <p:cNvGraphicFramePr>
            <a:graphicFrameLocks noGrp="1"/>
          </p:cNvGraphicFramePr>
          <p:nvPr>
            <p:ph idx="1"/>
            <p:extLst>
              <p:ext uri="{D42A27DB-BD31-4B8C-83A1-F6EECF244321}">
                <p14:modId xmlns:p14="http://schemas.microsoft.com/office/powerpoint/2010/main" val="1092848522"/>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medulla oblongata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part of the brain just above the spinal cord; controls breathing, heartbeat, and size of blood vessels</a:t>
                      </a:r>
                    </a:p>
                  </a:txBody>
                  <a:tcPr/>
                </a:tc>
                <a:extLst>
                  <a:ext uri="{0D108BD9-81ED-4DB2-BD59-A6C34878D82A}">
                    <a16:rowId xmlns:a16="http://schemas.microsoft.com/office/drawing/2014/main" val="10001"/>
                  </a:ext>
                </a:extLst>
              </a:tr>
              <a:tr h="370840">
                <a:tc>
                  <a:txBody>
                    <a:bodyPr/>
                    <a:lstStyle/>
                    <a:p>
                      <a:r>
                        <a:rPr lang="en-US" altLang="en-US" sz="2400" dirty="0"/>
                        <a:t>meninges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Three protective membranes that surround the brain and spinal cord</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microglial cell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Phagocytic glial cell that removes waste products from the central nervous system</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373133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19 of 34)</a:t>
            </a:r>
          </a:p>
        </p:txBody>
      </p:sp>
      <p:graphicFrame>
        <p:nvGraphicFramePr>
          <p:cNvPr id="8" name="Content Placeholder 7" descr="Group 10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143523964"/>
              </p:ext>
            </p:extLst>
          </p:nvPr>
        </p:nvGraphicFramePr>
        <p:xfrm>
          <a:off x="3352800" y="2133600"/>
          <a:ext cx="2438400" cy="22860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midbrain</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motor nerve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myelin sheath</a:t>
                      </a:r>
                    </a:p>
                  </a:txBody>
                  <a:tcPr/>
                </a:tc>
                <a:extLst>
                  <a:ext uri="{0D108BD9-81ED-4DB2-BD59-A6C34878D82A}">
                    <a16:rowId xmlns:a16="http://schemas.microsoft.com/office/drawing/2014/main" val="10003"/>
                  </a:ext>
                </a:extLst>
              </a:tr>
              <a:tr h="370840">
                <a:tc>
                  <a:txBody>
                    <a:bodyPr/>
                    <a:lstStyle/>
                    <a:p>
                      <a:r>
                        <a:rPr lang="en-US" altLang="en-US" sz="2400" dirty="0"/>
                        <a:t>nerve</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088198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20 of 34)</a:t>
            </a:r>
          </a:p>
        </p:txBody>
      </p:sp>
      <p:graphicFrame>
        <p:nvGraphicFramePr>
          <p:cNvPr id="8" name="Content Placeholder 7" descr="Group 10 of 17.  List of vocabulary terms  with corresponding meanings or definitions."/>
          <p:cNvGraphicFramePr>
            <a:graphicFrameLocks noGrp="1"/>
          </p:cNvGraphicFramePr>
          <p:nvPr>
            <p:ph idx="1"/>
            <p:extLst>
              <p:ext uri="{D42A27DB-BD31-4B8C-83A1-F6EECF244321}">
                <p14:modId xmlns:p14="http://schemas.microsoft.com/office/powerpoint/2010/main" val="2927348749"/>
              </p:ext>
            </p:extLst>
          </p:nvPr>
        </p:nvGraphicFramePr>
        <p:xfrm>
          <a:off x="457200" y="1600200"/>
          <a:ext cx="8229600" cy="44805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midbrain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Uppermost portion of the brainstem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motor nerve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Carries messages away from the brain and spinal cord to muscles and organs; efferent nerve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myelin sheath</a:t>
                      </a:r>
                    </a:p>
                  </a:txBody>
                  <a:tcPr/>
                </a:tc>
                <a:tc>
                  <a:txBody>
                    <a:bodyPr/>
                    <a:lstStyle/>
                    <a:p>
                      <a:r>
                        <a:rPr lang="en-US" altLang="en-US" sz="2400" dirty="0"/>
                        <a:t>Covering of white fatty tissue that surrounds and insulates the axon of a nerve cell; speeds impulse conduction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nerve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Macroscopic cord-like collection of fibers (axons and dendrites) that carry electrical impulses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114692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21 of 34)</a:t>
            </a:r>
          </a:p>
        </p:txBody>
      </p:sp>
      <p:graphicFrame>
        <p:nvGraphicFramePr>
          <p:cNvPr id="8" name="Content Placeholder 7" descr="Group 11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63337238"/>
              </p:ext>
            </p:extLst>
          </p:nvPr>
        </p:nvGraphicFramePr>
        <p:xfrm>
          <a:off x="2819400" y="2057400"/>
          <a:ext cx="3505200" cy="18288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neuron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neurotransmitter</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oligodendroglial</a:t>
                      </a:r>
                      <a:r>
                        <a:rPr lang="en-US" altLang="en-US" sz="2400" dirty="0"/>
                        <a:t> cell</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11479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22 of 34)</a:t>
            </a:r>
          </a:p>
        </p:txBody>
      </p:sp>
      <p:graphicFrame>
        <p:nvGraphicFramePr>
          <p:cNvPr id="8" name="Content Placeholder 7" descr="Group 11 of 17.  List of vocabulary terms  with corresponding meanings or definitions."/>
          <p:cNvGraphicFramePr>
            <a:graphicFrameLocks noGrp="1"/>
          </p:cNvGraphicFramePr>
          <p:nvPr>
            <p:ph idx="1"/>
            <p:extLst>
              <p:ext uri="{D42A27DB-BD31-4B8C-83A1-F6EECF244321}">
                <p14:modId xmlns:p14="http://schemas.microsoft.com/office/powerpoint/2010/main" val="3655655887"/>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neuron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Nerve cell that carries impulses throughout body; parenchyma of the nervous system</a:t>
                      </a:r>
                    </a:p>
                  </a:txBody>
                  <a:tcPr/>
                </a:tc>
                <a:extLst>
                  <a:ext uri="{0D108BD9-81ED-4DB2-BD59-A6C34878D82A}">
                    <a16:rowId xmlns:a16="http://schemas.microsoft.com/office/drawing/2014/main" val="10001"/>
                  </a:ext>
                </a:extLst>
              </a:tr>
              <a:tr h="370840">
                <a:tc>
                  <a:txBody>
                    <a:bodyPr/>
                    <a:lstStyle/>
                    <a:p>
                      <a:r>
                        <a:rPr lang="en-US" altLang="en-US" sz="2400" dirty="0"/>
                        <a:t>neurotransmitter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Chemical messenger released at the end of a nerve cell; stimulates or inhibits another cell</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oligodendroglial</a:t>
                      </a:r>
                      <a:r>
                        <a:rPr lang="en-US" altLang="en-US" sz="2400" dirty="0"/>
                        <a:t> cell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Glial cell that forms the myelin sheath covering axons; </a:t>
                      </a:r>
                      <a:r>
                        <a:rPr lang="en-US" altLang="en-US" sz="2400" dirty="0" err="1"/>
                        <a:t>oligodendrocyte</a:t>
                      </a:r>
                      <a:endParaRPr lang="en-US" alt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18395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23 of 34)</a:t>
            </a:r>
          </a:p>
        </p:txBody>
      </p:sp>
      <p:graphicFrame>
        <p:nvGraphicFramePr>
          <p:cNvPr id="8" name="Content Placeholder 7" descr="Group 12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796081275"/>
              </p:ext>
            </p:extLst>
          </p:nvPr>
        </p:nvGraphicFramePr>
        <p:xfrm>
          <a:off x="1981200" y="2209800"/>
          <a:ext cx="5181600" cy="182880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parasympathetic nerves</a:t>
                      </a:r>
                    </a:p>
                  </a:txBody>
                  <a:tcPr/>
                </a:tc>
                <a:extLst>
                  <a:ext uri="{0D108BD9-81ED-4DB2-BD59-A6C34878D82A}">
                    <a16:rowId xmlns:a16="http://schemas.microsoft.com/office/drawing/2014/main" val="10001"/>
                  </a:ext>
                </a:extLst>
              </a:tr>
              <a:tr h="370840">
                <a:tc>
                  <a:txBody>
                    <a:bodyPr/>
                    <a:lstStyle/>
                    <a:p>
                      <a:r>
                        <a:rPr lang="en-US" altLang="en-US" sz="2400" dirty="0"/>
                        <a:t>parenchyma</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peripheral nervous system</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810855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24 of 34)</a:t>
            </a:r>
          </a:p>
        </p:txBody>
      </p:sp>
      <p:graphicFrame>
        <p:nvGraphicFramePr>
          <p:cNvPr id="8" name="Content Placeholder 7" descr="Group 12 of 17.  List of vocabulary terms  with corresponding meanings or definitions."/>
          <p:cNvGraphicFramePr>
            <a:graphicFrameLocks noGrp="1"/>
          </p:cNvGraphicFramePr>
          <p:nvPr>
            <p:ph idx="1"/>
            <p:extLst>
              <p:ext uri="{D42A27DB-BD31-4B8C-83A1-F6EECF244321}">
                <p14:modId xmlns:p14="http://schemas.microsoft.com/office/powerpoint/2010/main" val="4016153889"/>
              </p:ext>
            </p:extLst>
          </p:nvPr>
        </p:nvGraphicFramePr>
        <p:xfrm>
          <a:off x="457200" y="1600200"/>
          <a:ext cx="8229600" cy="40233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parasympathetic nerves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Involuntary, autonomic nerves that regulate normal body functions such as heart rate, breathing, and muscles of the gastrointestinal tract</a:t>
                      </a:r>
                    </a:p>
                  </a:txBody>
                  <a:tcPr/>
                </a:tc>
                <a:extLst>
                  <a:ext uri="{0D108BD9-81ED-4DB2-BD59-A6C34878D82A}">
                    <a16:rowId xmlns:a16="http://schemas.microsoft.com/office/drawing/2014/main" val="10001"/>
                  </a:ext>
                </a:extLst>
              </a:tr>
              <a:tr h="370840">
                <a:tc>
                  <a:txBody>
                    <a:bodyPr/>
                    <a:lstStyle/>
                    <a:p>
                      <a:r>
                        <a:rPr lang="en-US" altLang="en-US" sz="2400" dirty="0"/>
                        <a:t>parenchyma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Essential, distinguishing tissue of any organ or system;  for the nervous system, neurons and nerves that carry impulses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peripheral nervous system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Nerves outside the brain and spinal cord; cranial, spinal, and autonomic nerves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081681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25 of 34)</a:t>
            </a:r>
          </a:p>
        </p:txBody>
      </p:sp>
      <p:graphicFrame>
        <p:nvGraphicFramePr>
          <p:cNvPr id="8" name="Content Placeholder 7" descr="Group 13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151475712"/>
              </p:ext>
            </p:extLst>
          </p:nvPr>
        </p:nvGraphicFramePr>
        <p:xfrm>
          <a:off x="2552700" y="2133600"/>
          <a:ext cx="4038600" cy="1828800"/>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pia</a:t>
                      </a:r>
                      <a:r>
                        <a:rPr lang="en-US" altLang="en-US" sz="2400" dirty="0"/>
                        <a:t> mater</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plexus (</a:t>
                      </a:r>
                      <a:r>
                        <a:rPr lang="en-US" altLang="en-US" sz="2400" i="1" dirty="0"/>
                        <a:t>plural: </a:t>
                      </a:r>
                      <a:r>
                        <a:rPr lang="en-US" altLang="en-US" sz="2400" dirty="0"/>
                        <a:t>plexuses)</a:t>
                      </a:r>
                    </a:p>
                  </a:txBody>
                  <a:tcPr/>
                </a:tc>
                <a:extLst>
                  <a:ext uri="{0D108BD9-81ED-4DB2-BD59-A6C34878D82A}">
                    <a16:rowId xmlns:a16="http://schemas.microsoft.com/office/drawing/2014/main" val="10002"/>
                  </a:ext>
                </a:extLst>
              </a:tr>
              <a:tr h="370840">
                <a:tc>
                  <a:txBody>
                    <a:bodyPr/>
                    <a:lstStyle/>
                    <a:p>
                      <a:r>
                        <a:rPr lang="en-US" altLang="en-US" sz="2400" dirty="0"/>
                        <a:t>pons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553895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26 of 34)</a:t>
            </a:r>
          </a:p>
        </p:txBody>
      </p:sp>
      <p:graphicFrame>
        <p:nvGraphicFramePr>
          <p:cNvPr id="8" name="Content Placeholder 7" descr="Group 13 of 17.  List of vocabulary terms  with corresponding meanings or definitions."/>
          <p:cNvGraphicFramePr>
            <a:graphicFrameLocks noGrp="1"/>
          </p:cNvGraphicFramePr>
          <p:nvPr>
            <p:ph idx="1"/>
            <p:extLst>
              <p:ext uri="{D42A27DB-BD31-4B8C-83A1-F6EECF244321}">
                <p14:modId xmlns:p14="http://schemas.microsoft.com/office/powerpoint/2010/main" val="3503994831"/>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pia</a:t>
                      </a:r>
                      <a:r>
                        <a:rPr lang="en-US" altLang="en-US" sz="2400" dirty="0"/>
                        <a:t> mater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thin, delicate inner membrane of the meninges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plexus (</a:t>
                      </a:r>
                      <a:r>
                        <a:rPr lang="en-US" altLang="en-US" sz="2400" i="1" dirty="0"/>
                        <a:t>plural: </a:t>
                      </a:r>
                      <a:r>
                        <a:rPr lang="en-US" altLang="en-US" sz="2400" dirty="0"/>
                        <a:t>plexuses)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 large, interlacing network of nerves</a:t>
                      </a:r>
                    </a:p>
                  </a:txBody>
                  <a:tcPr/>
                </a:tc>
                <a:extLst>
                  <a:ext uri="{0D108BD9-81ED-4DB2-BD59-A6C34878D82A}">
                    <a16:rowId xmlns:a16="http://schemas.microsoft.com/office/drawing/2014/main" val="10002"/>
                  </a:ext>
                </a:extLst>
              </a:tr>
              <a:tr h="370840">
                <a:tc>
                  <a:txBody>
                    <a:bodyPr/>
                    <a:lstStyle/>
                    <a:p>
                      <a:r>
                        <a:rPr lang="en-US" altLang="en-US" sz="2400" dirty="0"/>
                        <a:t>pons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part of the brain anterior to the cerebellum and between the medulla and the rest of the midbrain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942883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27 of 34)</a:t>
            </a:r>
          </a:p>
        </p:txBody>
      </p:sp>
      <p:graphicFrame>
        <p:nvGraphicFramePr>
          <p:cNvPr id="8" name="Content Placeholder 7" descr="Group 14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544995423"/>
              </p:ext>
            </p:extLst>
          </p:nvPr>
        </p:nvGraphicFramePr>
        <p:xfrm>
          <a:off x="3352800" y="2057400"/>
          <a:ext cx="2438400" cy="1828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receptor</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sciatic nerve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sensory nerve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004023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28 of 34)</a:t>
            </a:r>
          </a:p>
        </p:txBody>
      </p:sp>
      <p:graphicFrame>
        <p:nvGraphicFramePr>
          <p:cNvPr id="8" name="Content Placeholder 7" descr="Group 14 of 17.  List of vocabulary terms  with corresponding meanings or definitions."/>
          <p:cNvGraphicFramePr>
            <a:graphicFrameLocks noGrp="1"/>
          </p:cNvGraphicFramePr>
          <p:nvPr>
            <p:ph idx="1"/>
            <p:extLst>
              <p:ext uri="{D42A27DB-BD31-4B8C-83A1-F6EECF244321}">
                <p14:modId xmlns:p14="http://schemas.microsoft.com/office/powerpoint/2010/main" val="4203716796"/>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receptor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 organ that receives a nervous stimulus and passes it on to afferent nerves;  the skin, ears, eyes, and taste buds are receptors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sciatic nerve</a:t>
                      </a:r>
                    </a:p>
                  </a:txBody>
                  <a:tcPr/>
                </a:tc>
                <a:tc>
                  <a:txBody>
                    <a:bodyPr/>
                    <a:lstStyle/>
                    <a:p>
                      <a:pPr marL="0" indent="0" eaLnBrk="1" hangingPunct="1">
                        <a:buFont typeface="Wingdings 2" panose="05020102010507070707" pitchFamily="18" charset="2"/>
                        <a:buNone/>
                      </a:pPr>
                      <a:r>
                        <a:rPr lang="en-US" altLang="en-US" sz="2400" dirty="0"/>
                        <a:t>The nerve extending from the base of the spine down the thigh, lower leg, and foot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sensory nerve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Carries messages toward the brain and spinal cord from receptor; afferent nerve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789623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29 of 34)</a:t>
            </a:r>
          </a:p>
        </p:txBody>
      </p:sp>
      <p:graphicFrame>
        <p:nvGraphicFramePr>
          <p:cNvPr id="8" name="Content Placeholder 7" descr="Group 15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634602940"/>
              </p:ext>
            </p:extLst>
          </p:nvPr>
        </p:nvGraphicFramePr>
        <p:xfrm>
          <a:off x="2590800" y="2133600"/>
          <a:ext cx="3962400" cy="1828800"/>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spinal nerves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stimulus (</a:t>
                      </a:r>
                      <a:r>
                        <a:rPr lang="en-US" altLang="en-US" sz="2400" i="1" dirty="0"/>
                        <a:t>plural: </a:t>
                      </a:r>
                      <a:r>
                        <a:rPr lang="en-US" altLang="en-US" sz="2400" dirty="0"/>
                        <a:t>stimuli)</a:t>
                      </a:r>
                    </a:p>
                  </a:txBody>
                  <a:tcPr/>
                </a:tc>
                <a:extLst>
                  <a:ext uri="{0D108BD9-81ED-4DB2-BD59-A6C34878D82A}">
                    <a16:rowId xmlns:a16="http://schemas.microsoft.com/office/drawing/2014/main" val="10002"/>
                  </a:ext>
                </a:extLst>
              </a:tr>
              <a:tr h="370840">
                <a:tc>
                  <a:txBody>
                    <a:bodyPr/>
                    <a:lstStyle/>
                    <a:p>
                      <a:r>
                        <a:rPr lang="en-US" altLang="en-US" sz="2400" dirty="0" err="1"/>
                        <a:t>stroma</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241589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30 of 34)</a:t>
            </a:r>
          </a:p>
        </p:txBody>
      </p:sp>
      <p:graphicFrame>
        <p:nvGraphicFramePr>
          <p:cNvPr id="8" name="Content Placeholder 7" descr="Group 15 of 17.  List of vocabulary terms  with corresponding meanings or definitions."/>
          <p:cNvGraphicFramePr>
            <a:graphicFrameLocks noGrp="1"/>
          </p:cNvGraphicFramePr>
          <p:nvPr>
            <p:ph idx="1"/>
            <p:extLst>
              <p:ext uri="{D42A27DB-BD31-4B8C-83A1-F6EECF244321}">
                <p14:modId xmlns:p14="http://schemas.microsoft.com/office/powerpoint/2010/main" val="4130515903"/>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spinal nerves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Thirty-one pairs arising from the spinal cord</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stimulus (</a:t>
                      </a:r>
                      <a:r>
                        <a:rPr lang="en-US" altLang="en-US" sz="2400" i="1" dirty="0"/>
                        <a:t>plural: </a:t>
                      </a:r>
                      <a:r>
                        <a:rPr lang="en-US" altLang="en-US" sz="2400" dirty="0"/>
                        <a:t>stimuli)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 agent of change (light, sound, touch, pressure, pain) in internal or external environment that evokes a response</a:t>
                      </a:r>
                    </a:p>
                  </a:txBody>
                  <a:tcPr/>
                </a:tc>
                <a:extLst>
                  <a:ext uri="{0D108BD9-81ED-4DB2-BD59-A6C34878D82A}">
                    <a16:rowId xmlns:a16="http://schemas.microsoft.com/office/drawing/2014/main" val="10002"/>
                  </a:ext>
                </a:extLst>
              </a:tr>
              <a:tr h="370840">
                <a:tc>
                  <a:txBody>
                    <a:bodyPr/>
                    <a:lstStyle/>
                    <a:p>
                      <a:r>
                        <a:rPr lang="en-US" altLang="en-US" sz="2400" dirty="0" err="1"/>
                        <a:t>stroma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Connective and supporting tissue of an organ; glial cells are the stromal tissue of the brain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118561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31 of 34)</a:t>
            </a:r>
          </a:p>
        </p:txBody>
      </p:sp>
      <p:graphicFrame>
        <p:nvGraphicFramePr>
          <p:cNvPr id="8" name="Content Placeholder 7" descr="Group 16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200068509"/>
              </p:ext>
            </p:extLst>
          </p:nvPr>
        </p:nvGraphicFramePr>
        <p:xfrm>
          <a:off x="2286000" y="2057400"/>
          <a:ext cx="4572000" cy="18288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sulcus (</a:t>
                      </a:r>
                      <a:r>
                        <a:rPr lang="en-US" altLang="en-US" sz="2400" i="1" dirty="0"/>
                        <a:t>plural:</a:t>
                      </a:r>
                      <a:r>
                        <a:rPr lang="en-US" altLang="en-US" sz="2400" dirty="0"/>
                        <a:t> sulci)</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sympathetic nerves</a:t>
                      </a:r>
                    </a:p>
                  </a:txBody>
                  <a:tcPr/>
                </a:tc>
                <a:extLst>
                  <a:ext uri="{0D108BD9-81ED-4DB2-BD59-A6C34878D82A}">
                    <a16:rowId xmlns:a16="http://schemas.microsoft.com/office/drawing/2014/main" val="10002"/>
                  </a:ext>
                </a:extLst>
              </a:tr>
              <a:tr h="370840">
                <a:tc>
                  <a:txBody>
                    <a:bodyPr/>
                    <a:lstStyle/>
                    <a:p>
                      <a:r>
                        <a:rPr lang="en-US" altLang="en-US" sz="2400" dirty="0"/>
                        <a:t>synapse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072354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32 of 34)</a:t>
            </a:r>
          </a:p>
        </p:txBody>
      </p:sp>
      <p:graphicFrame>
        <p:nvGraphicFramePr>
          <p:cNvPr id="8" name="Content Placeholder 7" descr="Group 16 of 17.  List of vocabulary terms  with corresponding meanings or definitions."/>
          <p:cNvGraphicFramePr>
            <a:graphicFrameLocks noGrp="1"/>
          </p:cNvGraphicFramePr>
          <p:nvPr>
            <p:ph idx="1"/>
            <p:extLst>
              <p:ext uri="{D42A27DB-BD31-4B8C-83A1-F6EECF244321}">
                <p14:modId xmlns:p14="http://schemas.microsoft.com/office/powerpoint/2010/main" val="3738698794"/>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sulcus (</a:t>
                      </a:r>
                      <a:r>
                        <a:rPr lang="en-US" altLang="en-US" sz="2400" i="1" dirty="0"/>
                        <a:t>plural:</a:t>
                      </a:r>
                      <a:r>
                        <a:rPr lang="en-US" altLang="en-US" sz="2400" dirty="0"/>
                        <a:t> sulci)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Depression or groove in the surface of the cerebral cortex; fissure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sympathetic nerves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Autonomic nerves that influence bodily functions involuntarily in times of stress</a:t>
                      </a:r>
                    </a:p>
                  </a:txBody>
                  <a:tcPr/>
                </a:tc>
                <a:extLst>
                  <a:ext uri="{0D108BD9-81ED-4DB2-BD59-A6C34878D82A}">
                    <a16:rowId xmlns:a16="http://schemas.microsoft.com/office/drawing/2014/main" val="10002"/>
                  </a:ext>
                </a:extLst>
              </a:tr>
              <a:tr h="370840">
                <a:tc>
                  <a:txBody>
                    <a:bodyPr/>
                    <a:lstStyle/>
                    <a:p>
                      <a:r>
                        <a:rPr lang="en-US" altLang="en-US" sz="2400" dirty="0"/>
                        <a:t>synapse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space through which a nervous impulse travels between nerve cells or between nerve and muscle or glandular cells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276480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33 of 34)</a:t>
            </a:r>
          </a:p>
        </p:txBody>
      </p:sp>
      <p:graphicFrame>
        <p:nvGraphicFramePr>
          <p:cNvPr id="8" name="Content Placeholder 7" descr="Group 17 of 17: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995655255"/>
              </p:ext>
            </p:extLst>
          </p:nvPr>
        </p:nvGraphicFramePr>
        <p:xfrm>
          <a:off x="2781300" y="2057400"/>
          <a:ext cx="3581400" cy="182880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thalamus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vagus</a:t>
                      </a:r>
                      <a:r>
                        <a:rPr lang="en-US" altLang="en-US" sz="2400" dirty="0"/>
                        <a:t> nerve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ventricles of the brain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027457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34 of 34)</a:t>
            </a:r>
          </a:p>
        </p:txBody>
      </p:sp>
      <p:graphicFrame>
        <p:nvGraphicFramePr>
          <p:cNvPr id="8" name="Content Placeholder 7" descr="Group 17 of 17.  List of vocabulary terms  with corresponding meanings or definitions."/>
          <p:cNvGraphicFramePr>
            <a:graphicFrameLocks noGrp="1"/>
          </p:cNvGraphicFramePr>
          <p:nvPr>
            <p:ph idx="1"/>
            <p:extLst>
              <p:ext uri="{D42A27DB-BD31-4B8C-83A1-F6EECF244321}">
                <p14:modId xmlns:p14="http://schemas.microsoft.com/office/powerpoint/2010/main" val="3356326600"/>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thalamus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Main relay center of the brain; conducts impulses between the spinal cord and the cerebrum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vagus</a:t>
                      </a:r>
                      <a:r>
                        <a:rPr lang="en-US" altLang="en-US" sz="2400" dirty="0"/>
                        <a:t> nerve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Tenth cranial nerve; branches reach to the larynx, trachea, bronchi, lungs, aorta, esophagus, and stomach</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ventricles of the brain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Canals in the brain that contain cerebrospinal fluid</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593595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609600" y="228600"/>
            <a:ext cx="7772400" cy="1219200"/>
          </a:xfrm>
        </p:spPr>
        <p:txBody>
          <a:bodyPr/>
          <a:lstStyle/>
          <a:p>
            <a:pPr eaLnBrk="1" hangingPunct="1"/>
            <a:r>
              <a:rPr lang="en-US" altLang="en-US" dirty="0"/>
              <a:t>      QUICK QUIZ (Slide 1 of 4)</a:t>
            </a:r>
            <a:r>
              <a:rPr lang="en-US" altLang="en-US" sz="4800" dirty="0"/>
              <a:t>	</a:t>
            </a:r>
          </a:p>
        </p:txBody>
      </p:sp>
      <p:sp>
        <p:nvSpPr>
          <p:cNvPr id="65539"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1.  A sheet of nerve cells that produces a rounded fold on the surface of the cerebellum is the:</a:t>
            </a:r>
          </a:p>
          <a:p>
            <a:pPr marL="533400" indent="-533400" eaLnBrk="1" hangingPunct="1">
              <a:buFont typeface="Wingdings 2" panose="05020102010507070707" pitchFamily="18" charset="2"/>
              <a:buNone/>
            </a:pPr>
            <a:endParaRPr lang="en-US" altLang="en-US" b="1"/>
          </a:p>
          <a:p>
            <a:pPr marL="533400" indent="-533400" eaLnBrk="1" hangingPunct="1">
              <a:lnSpc>
                <a:spcPct val="65000"/>
              </a:lnSpc>
              <a:buFont typeface="Wingdings 2" panose="05020102010507070707" pitchFamily="18" charset="2"/>
              <a:buNone/>
            </a:pPr>
            <a:r>
              <a:rPr lang="en-US" altLang="en-US"/>
              <a:t>	A.  microglial </a:t>
            </a:r>
          </a:p>
          <a:p>
            <a:pPr marL="533400" indent="-533400" eaLnBrk="1" hangingPunct="1">
              <a:lnSpc>
                <a:spcPct val="65000"/>
              </a:lnSpc>
              <a:buFont typeface="Wingdings 2" panose="05020102010507070707" pitchFamily="18" charset="2"/>
              <a:buNone/>
            </a:pPr>
            <a:r>
              <a:rPr lang="en-US" altLang="en-US"/>
              <a:t>	B.  gyrus</a:t>
            </a:r>
          </a:p>
          <a:p>
            <a:pPr marL="533400" indent="-533400" eaLnBrk="1" hangingPunct="1">
              <a:lnSpc>
                <a:spcPct val="65000"/>
              </a:lnSpc>
              <a:buFont typeface="Wingdings 2" panose="05020102010507070707" pitchFamily="18" charset="2"/>
              <a:buNone/>
            </a:pPr>
            <a:r>
              <a:rPr lang="en-US" altLang="en-US"/>
              <a:t>	C.  parenchyma</a:t>
            </a:r>
          </a:p>
          <a:p>
            <a:pPr marL="533400" indent="-533400" eaLnBrk="1" hangingPunct="1">
              <a:lnSpc>
                <a:spcPct val="65000"/>
              </a:lnSpc>
              <a:buFont typeface="Wingdings 2" panose="05020102010507070707" pitchFamily="18" charset="2"/>
              <a:buNone/>
            </a:pPr>
            <a:r>
              <a:rPr lang="en-US" altLang="en-US"/>
              <a:t>	D.  stroma</a:t>
            </a:r>
            <a:endParaRPr lang="en-US" altLang="en-US" sz="2400"/>
          </a:p>
        </p:txBody>
      </p:sp>
    </p:spTree>
    <p:extLst>
      <p:ext uri="{BB962C8B-B14F-4D97-AF65-F5344CB8AC3E}">
        <p14:creationId xmlns:p14="http://schemas.microsoft.com/office/powerpoint/2010/main" val="11442184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title"/>
          </p:nvPr>
        </p:nvSpPr>
        <p:spPr>
          <a:xfrm>
            <a:off x="609600" y="228600"/>
            <a:ext cx="7772400" cy="1219200"/>
          </a:xfrm>
        </p:spPr>
        <p:txBody>
          <a:bodyPr/>
          <a:lstStyle/>
          <a:p>
            <a:pPr eaLnBrk="1" hangingPunct="1"/>
            <a:r>
              <a:rPr lang="en-US" altLang="en-US" dirty="0"/>
              <a:t>         QUICK QUIZ </a:t>
            </a:r>
            <a:r>
              <a:rPr lang="en-US" altLang="en-US" dirty="0">
                <a:sym typeface="Wingdings" panose="05000000000000000000" pitchFamily="2" charset="2"/>
              </a:rPr>
              <a:t>(Slide 2 of 4</a:t>
            </a:r>
            <a:r>
              <a:rPr lang="en-US" altLang="ja-JP" dirty="0">
                <a:sym typeface="Wingdings" panose="05000000000000000000" pitchFamily="2" charset="2"/>
              </a:rPr>
              <a:t>)</a:t>
            </a:r>
            <a:r>
              <a:rPr lang="en-US" altLang="ja-JP" sz="4800" dirty="0"/>
              <a:t>	</a:t>
            </a:r>
            <a:endParaRPr lang="en-US" altLang="en-US" sz="4800" dirty="0"/>
          </a:p>
        </p:txBody>
      </p:sp>
      <p:sp>
        <p:nvSpPr>
          <p:cNvPr id="66563"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2.  The thin, delicate inner membrane of the meninges is the:</a:t>
            </a:r>
          </a:p>
          <a:p>
            <a:pPr marL="533400" indent="-533400" eaLnBrk="1" hangingPunct="1">
              <a:buFont typeface="Wingdings 2" panose="05020102010507070707" pitchFamily="18" charset="2"/>
              <a:buNone/>
            </a:pPr>
            <a:endParaRPr lang="en-US" altLang="en-US" b="1"/>
          </a:p>
          <a:p>
            <a:pPr marL="533400" indent="-533400" eaLnBrk="1" hangingPunct="1">
              <a:lnSpc>
                <a:spcPct val="65000"/>
              </a:lnSpc>
              <a:buFont typeface="Wingdings 2" panose="05020102010507070707" pitchFamily="18" charset="2"/>
              <a:buNone/>
            </a:pPr>
            <a:r>
              <a:rPr lang="en-US" altLang="en-US"/>
              <a:t>	A.  pia mater</a:t>
            </a:r>
          </a:p>
          <a:p>
            <a:pPr marL="533400" indent="-533400" eaLnBrk="1" hangingPunct="1">
              <a:lnSpc>
                <a:spcPct val="65000"/>
              </a:lnSpc>
              <a:buFont typeface="Wingdings 2" panose="05020102010507070707" pitchFamily="18" charset="2"/>
              <a:buNone/>
            </a:pPr>
            <a:r>
              <a:rPr lang="en-US" altLang="en-US"/>
              <a:t>	B.  dura mater</a:t>
            </a:r>
          </a:p>
          <a:p>
            <a:pPr marL="533400" indent="-533400" eaLnBrk="1" hangingPunct="1">
              <a:lnSpc>
                <a:spcPct val="65000"/>
              </a:lnSpc>
              <a:buFont typeface="Wingdings 2" panose="05020102010507070707" pitchFamily="18" charset="2"/>
              <a:buNone/>
            </a:pPr>
            <a:r>
              <a:rPr lang="en-US" altLang="en-US"/>
              <a:t>	C.  parenchyma</a:t>
            </a:r>
          </a:p>
          <a:p>
            <a:pPr marL="533400" indent="-533400" eaLnBrk="1" hangingPunct="1">
              <a:lnSpc>
                <a:spcPct val="65000"/>
              </a:lnSpc>
              <a:buFont typeface="Wingdings 2" panose="05020102010507070707" pitchFamily="18" charset="2"/>
              <a:buNone/>
            </a:pPr>
            <a:r>
              <a:rPr lang="en-US" altLang="en-US"/>
              <a:t>	D.  stroma</a:t>
            </a:r>
          </a:p>
        </p:txBody>
      </p:sp>
    </p:spTree>
    <p:extLst>
      <p:ext uri="{BB962C8B-B14F-4D97-AF65-F5344CB8AC3E}">
        <p14:creationId xmlns:p14="http://schemas.microsoft.com/office/powerpoint/2010/main" val="1450873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Terminology – Organs and Structures </a:t>
            </a:r>
            <a:r>
              <a:rPr lang="en-US" sz="4000" dirty="0"/>
              <a:t>(Slide 1 of 3)</a:t>
            </a:r>
          </a:p>
        </p:txBody>
      </p:sp>
      <p:graphicFrame>
        <p:nvGraphicFramePr>
          <p:cNvPr id="7" name="Content Placeholder 6" descr="Group 1 of 3:  combining forms from the Terminology: Organs and structures section of the textbook  "/>
          <p:cNvGraphicFramePr>
            <a:graphicFrameLocks noGrp="1"/>
          </p:cNvGraphicFramePr>
          <p:nvPr>
            <p:ph idx="1"/>
            <p:extLst>
              <p:ext uri="{D42A27DB-BD31-4B8C-83A1-F6EECF244321}">
                <p14:modId xmlns:p14="http://schemas.microsoft.com/office/powerpoint/2010/main" val="1243591848"/>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cerebell</a:t>
                      </a:r>
                      <a:r>
                        <a:rPr lang="en-US" altLang="en-US" sz="2400" b="1" dirty="0"/>
                        <a:t>/o</a:t>
                      </a:r>
                      <a:endParaRPr lang="en-US" sz="2400" dirty="0"/>
                    </a:p>
                  </a:txBody>
                  <a:tcPr/>
                </a:tc>
                <a:tc>
                  <a:txBody>
                    <a:bodyPr/>
                    <a:lstStyle/>
                    <a:p>
                      <a:r>
                        <a:rPr lang="en-US" altLang="en-US" sz="2400" dirty="0"/>
                        <a:t>cerebellum</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cerebr</a:t>
                      </a:r>
                      <a:r>
                        <a:rPr lang="en-US" altLang="en-US" sz="2400" b="1" dirty="0"/>
                        <a:t>/o</a:t>
                      </a:r>
                      <a:endParaRPr lang="en-US" sz="2400" dirty="0"/>
                    </a:p>
                  </a:txBody>
                  <a:tcPr/>
                </a:tc>
                <a:tc>
                  <a:txBody>
                    <a:bodyPr/>
                    <a:lstStyle/>
                    <a:p>
                      <a:r>
                        <a:rPr lang="en-US" altLang="en-US" sz="2400" dirty="0"/>
                        <a:t>cerebrum</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dur</a:t>
                      </a:r>
                      <a:r>
                        <a:rPr lang="en-US" altLang="en-US" sz="2400" b="1" dirty="0"/>
                        <a:t>/o</a:t>
                      </a:r>
                      <a:endParaRPr lang="en-US" sz="2400" dirty="0"/>
                    </a:p>
                  </a:txBody>
                  <a:tcPr/>
                </a:tc>
                <a:tc>
                  <a:txBody>
                    <a:bodyPr/>
                    <a:lstStyle/>
                    <a:p>
                      <a:r>
                        <a:rPr lang="en-US" altLang="en-US" sz="2400" dirty="0" err="1"/>
                        <a:t>dura</a:t>
                      </a:r>
                      <a:r>
                        <a:rPr lang="en-US" altLang="en-US" sz="2400" dirty="0"/>
                        <a:t> mater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encephal</a:t>
                      </a:r>
                      <a:r>
                        <a:rPr lang="en-US" altLang="en-US" sz="2400" b="1" dirty="0"/>
                        <a:t>/o</a:t>
                      </a:r>
                      <a:endParaRPr lang="en-US" sz="2400" dirty="0"/>
                    </a:p>
                  </a:txBody>
                  <a:tcPr/>
                </a:tc>
                <a:tc>
                  <a:txBody>
                    <a:bodyPr/>
                    <a:lstStyle/>
                    <a:p>
                      <a:r>
                        <a:rPr lang="en-US" altLang="en-US" sz="2400" dirty="0"/>
                        <a:t>brain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gli</a:t>
                      </a:r>
                      <a:r>
                        <a:rPr lang="en-US" altLang="en-US" sz="2400" b="1" dirty="0"/>
                        <a:t>/o</a:t>
                      </a:r>
                      <a:endParaRPr lang="en-US" sz="2400" dirty="0"/>
                    </a:p>
                  </a:txBody>
                  <a:tcPr/>
                </a:tc>
                <a:tc>
                  <a:txBody>
                    <a:bodyPr/>
                    <a:lstStyle/>
                    <a:p>
                      <a:r>
                        <a:rPr lang="en-US" altLang="en-US" sz="2400" dirty="0"/>
                        <a:t>glial cells</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738585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Terminology – Organs and Structures </a:t>
            </a:r>
            <a:r>
              <a:rPr lang="en-US" sz="4000" dirty="0"/>
              <a:t>(Slide 2 of 3)</a:t>
            </a:r>
          </a:p>
        </p:txBody>
      </p:sp>
      <p:graphicFrame>
        <p:nvGraphicFramePr>
          <p:cNvPr id="7" name="Content Placeholder 6" descr="Group 2 of 3:  combining forms from the Terminology: Organs and structures section of the textbook  "/>
          <p:cNvGraphicFramePr>
            <a:graphicFrameLocks noGrp="1"/>
          </p:cNvGraphicFramePr>
          <p:nvPr>
            <p:ph idx="1"/>
            <p:extLst>
              <p:ext uri="{D42A27DB-BD31-4B8C-83A1-F6EECF244321}">
                <p14:modId xmlns:p14="http://schemas.microsoft.com/office/powerpoint/2010/main" val="4268507933"/>
              </p:ext>
            </p:extLst>
          </p:nvPr>
        </p:nvGraphicFramePr>
        <p:xfrm>
          <a:off x="457200" y="1600200"/>
          <a:ext cx="8229600" cy="310896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lept</a:t>
                      </a:r>
                      <a:r>
                        <a:rPr lang="en-US" sz="2400" b="1" dirty="0"/>
                        <a:t>/o</a:t>
                      </a:r>
                      <a:endParaRPr lang="en-US" sz="2400" dirty="0"/>
                    </a:p>
                  </a:txBody>
                  <a:tcPr/>
                </a:tc>
                <a:tc>
                  <a:txBody>
                    <a:bodyPr/>
                    <a:lstStyle/>
                    <a:p>
                      <a:r>
                        <a:rPr lang="en-US" sz="2400" dirty="0"/>
                        <a:t>thin, slender</a:t>
                      </a:r>
                    </a:p>
                  </a:txBody>
                  <a:tcPr/>
                </a:tc>
                <a:extLst>
                  <a:ext uri="{0D108BD9-81ED-4DB2-BD59-A6C34878D82A}">
                    <a16:rowId xmlns:a16="http://schemas.microsoft.com/office/drawing/2014/main" val="10001"/>
                  </a:ext>
                </a:extLst>
              </a:tr>
              <a:tr h="370840">
                <a:tc>
                  <a:txBody>
                    <a:bodyPr/>
                    <a:lstStyle/>
                    <a:p>
                      <a:r>
                        <a:rPr lang="en-US" sz="2400" b="1" dirty="0" err="1"/>
                        <a:t>mening</a:t>
                      </a:r>
                      <a:r>
                        <a:rPr lang="en-US" sz="2400" b="1" dirty="0"/>
                        <a:t>/o, </a:t>
                      </a:r>
                      <a:r>
                        <a:rPr lang="en-US" sz="2400" b="1" dirty="0" err="1"/>
                        <a:t>meningi</a:t>
                      </a:r>
                      <a:r>
                        <a:rPr 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membranes, meninges</a:t>
                      </a:r>
                    </a:p>
                    <a:p>
                      <a:endParaRPr lang="en-US" sz="2400" dirty="0"/>
                    </a:p>
                  </a:txBody>
                  <a:tcPr/>
                </a:tc>
                <a:extLst>
                  <a:ext uri="{0D108BD9-81ED-4DB2-BD59-A6C34878D82A}">
                    <a16:rowId xmlns:a16="http://schemas.microsoft.com/office/drawing/2014/main" val="10002"/>
                  </a:ext>
                </a:extLst>
              </a:tr>
              <a:tr h="370840">
                <a:tc>
                  <a:txBody>
                    <a:bodyPr/>
                    <a:lstStyle/>
                    <a:p>
                      <a:r>
                        <a:rPr lang="en-US" sz="2400" b="1" dirty="0"/>
                        <a:t>my/o</a:t>
                      </a:r>
                      <a:endParaRPr lang="en-US" sz="2400" dirty="0"/>
                    </a:p>
                  </a:txBody>
                  <a:tcPr/>
                </a:tc>
                <a:tc>
                  <a:txBody>
                    <a:bodyPr/>
                    <a:lstStyle/>
                    <a:p>
                      <a:r>
                        <a:rPr lang="en-US" sz="2400" dirty="0"/>
                        <a:t>muscle</a:t>
                      </a:r>
                    </a:p>
                  </a:txBody>
                  <a:tcPr/>
                </a:tc>
                <a:extLst>
                  <a:ext uri="{0D108BD9-81ED-4DB2-BD59-A6C34878D82A}">
                    <a16:rowId xmlns:a16="http://schemas.microsoft.com/office/drawing/2014/main" val="10003"/>
                  </a:ext>
                </a:extLst>
              </a:tr>
              <a:tr h="370840">
                <a:tc>
                  <a:txBody>
                    <a:bodyPr/>
                    <a:lstStyle/>
                    <a:p>
                      <a:r>
                        <a:rPr lang="en-US" sz="2400" b="1" dirty="0" err="1"/>
                        <a:t>myel</a:t>
                      </a:r>
                      <a:r>
                        <a:rPr lang="en-US" sz="2400" b="1" dirty="0"/>
                        <a:t>/o</a:t>
                      </a:r>
                      <a:endParaRPr lang="en-US" sz="2400" dirty="0"/>
                    </a:p>
                  </a:txBody>
                  <a:tcPr/>
                </a:tc>
                <a:tc>
                  <a:txBody>
                    <a:bodyPr/>
                    <a:lstStyle/>
                    <a:p>
                      <a:r>
                        <a:rPr lang="en-US" sz="2400" dirty="0"/>
                        <a:t>spinal cord</a:t>
                      </a:r>
                    </a:p>
                  </a:txBody>
                  <a:tcPr/>
                </a:tc>
                <a:extLst>
                  <a:ext uri="{0D108BD9-81ED-4DB2-BD59-A6C34878D82A}">
                    <a16:rowId xmlns:a16="http://schemas.microsoft.com/office/drawing/2014/main" val="10004"/>
                  </a:ext>
                </a:extLst>
              </a:tr>
              <a:tr h="370840">
                <a:tc>
                  <a:txBody>
                    <a:bodyPr/>
                    <a:lstStyle/>
                    <a:p>
                      <a:r>
                        <a:rPr lang="en-US" sz="2400" b="1" dirty="0" err="1"/>
                        <a:t>neur</a:t>
                      </a:r>
                      <a:r>
                        <a:rPr lang="en-US" sz="2400" b="1" dirty="0"/>
                        <a:t>/o</a:t>
                      </a:r>
                      <a:endParaRPr lang="en-US" sz="2400" dirty="0"/>
                    </a:p>
                  </a:txBody>
                  <a:tcPr/>
                </a:tc>
                <a:tc>
                  <a:txBody>
                    <a:bodyPr/>
                    <a:lstStyle/>
                    <a:p>
                      <a:r>
                        <a:rPr lang="en-US" sz="2400" dirty="0"/>
                        <a:t>nerve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298329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Terminology – Organs and Structures </a:t>
            </a:r>
            <a:r>
              <a:rPr lang="en-US" sz="4000" dirty="0"/>
              <a:t>(Slide 3 of 3)</a:t>
            </a:r>
          </a:p>
        </p:txBody>
      </p:sp>
      <p:graphicFrame>
        <p:nvGraphicFramePr>
          <p:cNvPr id="7" name="Content Placeholder 6" descr="Group 3 of 3:  combining forms from the Terminology: Organs and structures section of the textbook  "/>
          <p:cNvGraphicFramePr>
            <a:graphicFrameLocks noGrp="1"/>
          </p:cNvGraphicFramePr>
          <p:nvPr>
            <p:ph idx="1"/>
            <p:extLst>
              <p:ext uri="{D42A27DB-BD31-4B8C-83A1-F6EECF244321}">
                <p14:modId xmlns:p14="http://schemas.microsoft.com/office/powerpoint/2010/main" val="3739119859"/>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pont</a:t>
                      </a:r>
                      <a:r>
                        <a:rPr lang="en-US" sz="2400" b="1" dirty="0"/>
                        <a:t>/o</a:t>
                      </a:r>
                      <a:endParaRPr lang="en-US" sz="2400" dirty="0"/>
                    </a:p>
                  </a:txBody>
                  <a:tcPr/>
                </a:tc>
                <a:tc>
                  <a:txBody>
                    <a:bodyPr/>
                    <a:lstStyle/>
                    <a:p>
                      <a:r>
                        <a:rPr lang="en-US" sz="2400" dirty="0"/>
                        <a:t>pons</a:t>
                      </a:r>
                    </a:p>
                  </a:txBody>
                  <a:tcPr/>
                </a:tc>
                <a:extLst>
                  <a:ext uri="{0D108BD9-81ED-4DB2-BD59-A6C34878D82A}">
                    <a16:rowId xmlns:a16="http://schemas.microsoft.com/office/drawing/2014/main" val="10001"/>
                  </a:ext>
                </a:extLst>
              </a:tr>
              <a:tr h="370840">
                <a:tc>
                  <a:txBody>
                    <a:bodyPr/>
                    <a:lstStyle/>
                    <a:p>
                      <a:r>
                        <a:rPr lang="en-US" sz="2400" b="1" dirty="0" err="1"/>
                        <a:t>radicul</a:t>
                      </a:r>
                      <a:r>
                        <a:rPr lang="en-US" sz="2400" b="1" dirty="0"/>
                        <a:t>/o</a:t>
                      </a:r>
                      <a:endParaRPr lang="en-US" sz="2400" dirty="0"/>
                    </a:p>
                  </a:txBody>
                  <a:tcPr/>
                </a:tc>
                <a:tc>
                  <a:txBody>
                    <a:bodyPr/>
                    <a:lstStyle/>
                    <a:p>
                      <a:r>
                        <a:rPr lang="en-US" sz="2400" dirty="0"/>
                        <a:t>nerve root</a:t>
                      </a:r>
                    </a:p>
                  </a:txBody>
                  <a:tcPr/>
                </a:tc>
                <a:extLst>
                  <a:ext uri="{0D108BD9-81ED-4DB2-BD59-A6C34878D82A}">
                    <a16:rowId xmlns:a16="http://schemas.microsoft.com/office/drawing/2014/main" val="10002"/>
                  </a:ext>
                </a:extLst>
              </a:tr>
              <a:tr h="370840">
                <a:tc>
                  <a:txBody>
                    <a:bodyPr/>
                    <a:lstStyle/>
                    <a:p>
                      <a:r>
                        <a:rPr lang="en-US" sz="2400" b="1" dirty="0" err="1"/>
                        <a:t>thalam</a:t>
                      </a:r>
                      <a:r>
                        <a:rPr 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thalamus</a:t>
                      </a:r>
                    </a:p>
                  </a:txBody>
                  <a:tcPr/>
                </a:tc>
                <a:extLst>
                  <a:ext uri="{0D108BD9-81ED-4DB2-BD59-A6C34878D82A}">
                    <a16:rowId xmlns:a16="http://schemas.microsoft.com/office/drawing/2014/main" val="10003"/>
                  </a:ext>
                </a:extLst>
              </a:tr>
              <a:tr h="370840">
                <a:tc>
                  <a:txBody>
                    <a:bodyPr/>
                    <a:lstStyle/>
                    <a:p>
                      <a:r>
                        <a:rPr lang="en-US" sz="2400" b="1" dirty="0" err="1"/>
                        <a:t>thec</a:t>
                      </a:r>
                      <a:r>
                        <a:rPr 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sheath (refers to meninges)</a:t>
                      </a:r>
                    </a:p>
                  </a:txBody>
                  <a:tcPr/>
                </a:tc>
                <a:extLst>
                  <a:ext uri="{0D108BD9-81ED-4DB2-BD59-A6C34878D82A}">
                    <a16:rowId xmlns:a16="http://schemas.microsoft.com/office/drawing/2014/main" val="10004"/>
                  </a:ext>
                </a:extLst>
              </a:tr>
              <a:tr h="370840">
                <a:tc>
                  <a:txBody>
                    <a:bodyPr/>
                    <a:lstStyle/>
                    <a:p>
                      <a:r>
                        <a:rPr lang="en-US" sz="2400" b="1" dirty="0" err="1"/>
                        <a:t>vag</a:t>
                      </a:r>
                      <a:r>
                        <a:rPr lang="en-US" sz="2400" b="1" dirty="0"/>
                        <a:t>/o</a:t>
                      </a:r>
                      <a:endParaRPr lang="en-US" sz="2400" dirty="0"/>
                    </a:p>
                  </a:txBody>
                  <a:tcPr/>
                </a:tc>
                <a:tc>
                  <a:txBody>
                    <a:bodyPr/>
                    <a:lstStyle/>
                    <a:p>
                      <a:r>
                        <a:rPr lang="en-US" sz="2400" dirty="0" err="1"/>
                        <a:t>vagus</a:t>
                      </a:r>
                      <a:r>
                        <a:rPr lang="en-US" sz="2400" dirty="0"/>
                        <a:t> nerve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74026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Terminology – Signs and Symptoms </a:t>
            </a:r>
            <a:r>
              <a:rPr lang="en-US" sz="4000" dirty="0"/>
              <a:t>(Slide 1 of 3)</a:t>
            </a:r>
          </a:p>
        </p:txBody>
      </p:sp>
      <p:graphicFrame>
        <p:nvGraphicFramePr>
          <p:cNvPr id="7" name="Content Placeholder 6" descr="Group 1 of 3:  combining forms and suffixes from the Terminology: Signs and Symptoms section of the textbook  "/>
          <p:cNvGraphicFramePr>
            <a:graphicFrameLocks noGrp="1"/>
          </p:cNvGraphicFramePr>
          <p:nvPr>
            <p:ph idx="1"/>
            <p:extLst>
              <p:ext uri="{D42A27DB-BD31-4B8C-83A1-F6EECF244321}">
                <p14:modId xmlns:p14="http://schemas.microsoft.com/office/powerpoint/2010/main" val="1771912486"/>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37338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 or Suffix</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alges</a:t>
                      </a:r>
                      <a:r>
                        <a:rPr lang="en-US" altLang="en-US" sz="2400" b="1" dirty="0"/>
                        <a:t>/o, -</a:t>
                      </a:r>
                      <a:r>
                        <a:rPr lang="en-US" altLang="en-US" sz="2400" b="1" dirty="0" err="1"/>
                        <a:t>algesia</a:t>
                      </a:r>
                      <a:endParaRPr lang="en-US" altLang="en-US" sz="2400" b="1" dirty="0"/>
                    </a:p>
                  </a:txBody>
                  <a:tcPr/>
                </a:tc>
                <a:tc>
                  <a:txBody>
                    <a:bodyPr/>
                    <a:lstStyle/>
                    <a:p>
                      <a:pPr eaLnBrk="1" hangingPunct="1">
                        <a:buFont typeface="Wingdings 2" panose="05020102010507070707" pitchFamily="18" charset="2"/>
                        <a:buNone/>
                      </a:pPr>
                      <a:r>
                        <a:rPr lang="en-US" altLang="en-US" sz="2400" dirty="0"/>
                        <a:t>excessive sensitivity to pain</a:t>
                      </a:r>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algia</a:t>
                      </a:r>
                      <a:endParaRPr lang="en-US" sz="2400" dirty="0"/>
                    </a:p>
                  </a:txBody>
                  <a:tcPr/>
                </a:tc>
                <a:tc>
                  <a:txBody>
                    <a:bodyPr/>
                    <a:lstStyle/>
                    <a:p>
                      <a:r>
                        <a:rPr lang="en-US" altLang="en-US" sz="2400" dirty="0"/>
                        <a:t>pain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caus</a:t>
                      </a:r>
                      <a:r>
                        <a:rPr lang="en-US" altLang="en-US" sz="2400" b="1" dirty="0"/>
                        <a:t>/o</a:t>
                      </a:r>
                      <a:endParaRPr lang="en-US" sz="2400" dirty="0"/>
                    </a:p>
                  </a:txBody>
                  <a:tcPr/>
                </a:tc>
                <a:tc>
                  <a:txBody>
                    <a:bodyPr/>
                    <a:lstStyle/>
                    <a:p>
                      <a:r>
                        <a:rPr lang="en-US" altLang="en-US" sz="2400" dirty="0"/>
                        <a:t>burning</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comat</a:t>
                      </a:r>
                      <a:r>
                        <a:rPr lang="en-US" altLang="en-US" sz="2400" b="1" dirty="0"/>
                        <a:t>/o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deep sleep</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esthesi</a:t>
                      </a:r>
                      <a:r>
                        <a:rPr lang="en-US" altLang="en-US" sz="2400" b="1" dirty="0"/>
                        <a:t>/o,  -</a:t>
                      </a:r>
                      <a:r>
                        <a:rPr lang="en-US" altLang="en-US" sz="2400" b="1" dirty="0" err="1"/>
                        <a:t>esthesia</a:t>
                      </a:r>
                      <a:endParaRPr lang="en-US" altLang="en-US" sz="24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feeling, nervous sensation</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kines</a:t>
                      </a:r>
                      <a:r>
                        <a:rPr lang="en-US" altLang="en-US" sz="2400" b="1" dirty="0"/>
                        <a:t>/o, -</a:t>
                      </a:r>
                      <a:r>
                        <a:rPr lang="en-US" altLang="en-US" sz="2400" b="1" dirty="0" err="1"/>
                        <a:t>kinesia</a:t>
                      </a:r>
                      <a:endParaRPr lang="en-US" altLang="en-US" sz="2400" b="1" dirty="0"/>
                    </a:p>
                  </a:txBody>
                  <a:tcPr/>
                </a:tc>
                <a:tc>
                  <a:txBody>
                    <a:bodyPr/>
                    <a:lstStyle/>
                    <a:p>
                      <a:r>
                        <a:rPr lang="en-US" altLang="en-US" sz="2400" dirty="0"/>
                        <a:t>movement</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912144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Terminology – Signs and Symptoms </a:t>
            </a:r>
            <a:r>
              <a:rPr lang="en-US" sz="4000" dirty="0"/>
              <a:t>(Slide 2 of 3)</a:t>
            </a:r>
          </a:p>
        </p:txBody>
      </p:sp>
      <p:graphicFrame>
        <p:nvGraphicFramePr>
          <p:cNvPr id="7" name="Content Placeholder 6" descr="Group 2 of 3:  combining forms and suffixes from the Terminology: Signs and Symptoms section of the textbook  "/>
          <p:cNvGraphicFramePr>
            <a:graphicFrameLocks noGrp="1"/>
          </p:cNvGraphicFramePr>
          <p:nvPr>
            <p:ph idx="1"/>
            <p:extLst>
              <p:ext uri="{D42A27DB-BD31-4B8C-83A1-F6EECF244321}">
                <p14:modId xmlns:p14="http://schemas.microsoft.com/office/powerpoint/2010/main" val="1015932684"/>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37338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 or Suffix</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-kinesis, kinetic</a:t>
                      </a:r>
                    </a:p>
                  </a:txBody>
                  <a:tcPr/>
                </a:tc>
                <a:tc>
                  <a:txBody>
                    <a:bodyPr/>
                    <a:lstStyle/>
                    <a:p>
                      <a:r>
                        <a:rPr lang="en-US" altLang="en-US" sz="2400" dirty="0"/>
                        <a:t>movement</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a:t>
                      </a:r>
                      <a:r>
                        <a:rPr lang="en-US" altLang="en-US" sz="2400" b="1" dirty="0" err="1"/>
                        <a:t>lepsy</a:t>
                      </a:r>
                      <a:endParaRPr lang="en-US" altLang="en-US" sz="2400" b="1" dirty="0"/>
                    </a:p>
                  </a:txBody>
                  <a:tcPr/>
                </a:tc>
                <a:tc>
                  <a:txBody>
                    <a:bodyPr/>
                    <a:lstStyle/>
                    <a:p>
                      <a:r>
                        <a:rPr lang="en-US" altLang="en-US" sz="2400" dirty="0"/>
                        <a:t>seizure</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lex</a:t>
                      </a:r>
                      <a:r>
                        <a:rPr lang="en-US" altLang="en-US" sz="2400" b="1" dirty="0"/>
                        <a:t>/o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word, phrase</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-paresis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slight paralysis</a:t>
                      </a:r>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phasia</a:t>
                      </a:r>
                      <a:endParaRPr lang="en-US" sz="2400" dirty="0"/>
                    </a:p>
                  </a:txBody>
                  <a:tcPr/>
                </a:tc>
                <a:tc>
                  <a:txBody>
                    <a:bodyPr/>
                    <a:lstStyle/>
                    <a:p>
                      <a:r>
                        <a:rPr lang="en-US" altLang="en-US" sz="2400" dirty="0"/>
                        <a:t>speech</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178434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Terminology – Signs and Symptoms </a:t>
            </a:r>
            <a:r>
              <a:rPr lang="en-US" sz="4000" dirty="0"/>
              <a:t>(Slide 3 of 3)</a:t>
            </a:r>
          </a:p>
        </p:txBody>
      </p:sp>
      <p:graphicFrame>
        <p:nvGraphicFramePr>
          <p:cNvPr id="7" name="Content Placeholder 6" descr="Group 3 of 3:  combining forms and suffixes from the Terminology: Signs and Symptoms section of the textbook  "/>
          <p:cNvGraphicFramePr>
            <a:graphicFrameLocks noGrp="1"/>
          </p:cNvGraphicFramePr>
          <p:nvPr>
            <p:ph idx="1"/>
            <p:extLst>
              <p:ext uri="{D42A27DB-BD31-4B8C-83A1-F6EECF244321}">
                <p14:modId xmlns:p14="http://schemas.microsoft.com/office/powerpoint/2010/main" val="67722223"/>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37338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 or Suffix</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a:t>
                      </a:r>
                      <a:r>
                        <a:rPr lang="en-US" altLang="en-US" sz="2400" b="1" dirty="0" err="1"/>
                        <a:t>plegia</a:t>
                      </a:r>
                      <a:endParaRPr lang="en-US" altLang="en-US" sz="2400" b="1" dirty="0"/>
                    </a:p>
                  </a:txBody>
                  <a:tcPr/>
                </a:tc>
                <a:tc>
                  <a:txBody>
                    <a:bodyPr/>
                    <a:lstStyle/>
                    <a:p>
                      <a:r>
                        <a:rPr lang="en-US" altLang="en-US" sz="2400" dirty="0"/>
                        <a:t>paralysis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a:t>
                      </a:r>
                      <a:r>
                        <a:rPr lang="en-US" altLang="en-US" sz="2400" b="1" dirty="0" err="1"/>
                        <a:t>praxia</a:t>
                      </a:r>
                      <a:endParaRPr lang="en-US" altLang="en-US" sz="2400" b="1" dirty="0"/>
                    </a:p>
                  </a:txBody>
                  <a:tcPr/>
                </a:tc>
                <a:tc>
                  <a:txBody>
                    <a:bodyPr/>
                    <a:lstStyle/>
                    <a:p>
                      <a:r>
                        <a:rPr lang="en-US" altLang="en-US" sz="2400" dirty="0"/>
                        <a:t>action</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a:t>
                      </a:r>
                      <a:r>
                        <a:rPr lang="en-US" altLang="en-US" sz="2400" b="1" dirty="0" err="1"/>
                        <a:t>sthenia</a:t>
                      </a:r>
                      <a:endParaRPr lang="en-US" altLang="en-US" sz="2400" b="1" dirty="0"/>
                    </a:p>
                  </a:txBody>
                  <a:tcPr/>
                </a:tc>
                <a:tc>
                  <a:txBody>
                    <a:bodyPr/>
                    <a:lstStyle/>
                    <a:p>
                      <a:r>
                        <a:rPr lang="en-US" altLang="en-US" sz="2400" dirty="0"/>
                        <a:t>strength</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err="1"/>
                        <a:t>syncop</a:t>
                      </a:r>
                      <a:r>
                        <a:rPr lang="en-US" altLang="en-US" sz="2400" b="1" dirty="0"/>
                        <a:t>/o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cut off</a:t>
                      </a:r>
                    </a:p>
                  </a:txBody>
                  <a:tcPr/>
                </a:tc>
                <a:extLst>
                  <a:ext uri="{0D108BD9-81ED-4DB2-BD59-A6C34878D82A}">
                    <a16:rowId xmlns:a16="http://schemas.microsoft.com/office/drawing/2014/main" val="10004"/>
                  </a:ext>
                </a:extLst>
              </a:tr>
              <a:tr h="370840">
                <a:tc>
                  <a:txBody>
                    <a:bodyPr/>
                    <a:lstStyle/>
                    <a:p>
                      <a:r>
                        <a:rPr lang="en-US" altLang="en-US" sz="2400" b="1" dirty="0"/>
                        <a:t>tax/o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order, coordination</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379101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33400" y="228600"/>
            <a:ext cx="7772400" cy="1219200"/>
          </a:xfrm>
        </p:spPr>
        <p:txBody>
          <a:bodyPr/>
          <a:lstStyle/>
          <a:p>
            <a:pPr eaLnBrk="1" hangingPunct="1"/>
            <a:r>
              <a:rPr lang="en-US" altLang="en-US" dirty="0"/>
              <a:t>      QUICK QUIZ (Slide 3 of 4)</a:t>
            </a:r>
            <a:endParaRPr lang="en-US" altLang="en-US" sz="4800" dirty="0"/>
          </a:p>
        </p:txBody>
      </p:sp>
      <p:sp>
        <p:nvSpPr>
          <p:cNvPr id="73731"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3.  Which term means nerve pain?</a:t>
            </a:r>
          </a:p>
          <a:p>
            <a:pPr marL="533400" indent="-533400" eaLnBrk="1" hangingPunct="1">
              <a:buFont typeface="Wingdings 2" panose="05020102010507070707" pitchFamily="18" charset="2"/>
              <a:buNone/>
            </a:pPr>
            <a:endParaRPr lang="en-US" altLang="en-US" b="1"/>
          </a:p>
          <a:p>
            <a:pPr marL="533400" indent="-533400" eaLnBrk="1" hangingPunct="1">
              <a:lnSpc>
                <a:spcPct val="65000"/>
              </a:lnSpc>
              <a:buFont typeface="Wingdings 2" panose="05020102010507070707" pitchFamily="18" charset="2"/>
              <a:buNone/>
            </a:pPr>
            <a:r>
              <a:rPr lang="en-US" altLang="en-US"/>
              <a:t>	A.  Cephalgia</a:t>
            </a:r>
          </a:p>
          <a:p>
            <a:pPr marL="533400" indent="-533400" eaLnBrk="1" hangingPunct="1">
              <a:lnSpc>
                <a:spcPct val="65000"/>
              </a:lnSpc>
              <a:buFont typeface="Wingdings 2" panose="05020102010507070707" pitchFamily="18" charset="2"/>
              <a:buNone/>
            </a:pPr>
            <a:r>
              <a:rPr lang="en-US" altLang="en-US"/>
              <a:t>	B.  Analgesia</a:t>
            </a:r>
          </a:p>
          <a:p>
            <a:pPr marL="533400" indent="-533400" eaLnBrk="1" hangingPunct="1">
              <a:lnSpc>
                <a:spcPct val="65000"/>
              </a:lnSpc>
              <a:buFont typeface="Wingdings 2" panose="05020102010507070707" pitchFamily="18" charset="2"/>
              <a:buNone/>
            </a:pPr>
            <a:r>
              <a:rPr lang="en-US" altLang="en-US"/>
              <a:t>	C.  Hypalgesia</a:t>
            </a:r>
          </a:p>
          <a:p>
            <a:pPr marL="533400" indent="-533400" eaLnBrk="1" hangingPunct="1">
              <a:lnSpc>
                <a:spcPct val="65000"/>
              </a:lnSpc>
              <a:buFont typeface="Wingdings 2" panose="05020102010507070707" pitchFamily="18" charset="2"/>
              <a:buNone/>
            </a:pPr>
            <a:r>
              <a:rPr lang="en-US" altLang="en-US"/>
              <a:t>	D.  Neuralgia</a:t>
            </a:r>
          </a:p>
          <a:p>
            <a:pPr marL="533400" indent="-533400" eaLnBrk="1" hangingPunct="1">
              <a:buFont typeface="Wingdings 2" panose="05020102010507070707" pitchFamily="18" charset="2"/>
              <a:buNone/>
            </a:pPr>
            <a:endParaRPr lang="en-US" altLang="en-US"/>
          </a:p>
        </p:txBody>
      </p:sp>
    </p:spTree>
    <p:extLst>
      <p:ext uri="{BB962C8B-B14F-4D97-AF65-F5344CB8AC3E}">
        <p14:creationId xmlns:p14="http://schemas.microsoft.com/office/powerpoint/2010/main" val="2631294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26"/>
          <p:cNvSpPr>
            <a:spLocks noGrp="1" noChangeArrowheads="1"/>
          </p:cNvSpPr>
          <p:nvPr>
            <p:ph type="title"/>
          </p:nvPr>
        </p:nvSpPr>
        <p:spPr>
          <a:xfrm>
            <a:off x="533400" y="228600"/>
            <a:ext cx="7772400" cy="1219200"/>
          </a:xfrm>
        </p:spPr>
        <p:txBody>
          <a:bodyPr/>
          <a:lstStyle/>
          <a:p>
            <a:pPr eaLnBrk="1" hangingPunct="1"/>
            <a:r>
              <a:rPr lang="en-US" altLang="en-US" dirty="0"/>
              <a:t>      QUICK QUIZ (Slide 4 of 4</a:t>
            </a:r>
            <a:r>
              <a:rPr lang="en-US" altLang="ja-JP" dirty="0"/>
              <a:t>)</a:t>
            </a:r>
            <a:r>
              <a:rPr lang="en-US" altLang="ja-JP" sz="4800" dirty="0"/>
              <a:t>	</a:t>
            </a:r>
            <a:endParaRPr lang="en-US" altLang="en-US" sz="4800" dirty="0"/>
          </a:p>
        </p:txBody>
      </p:sp>
      <p:sp>
        <p:nvSpPr>
          <p:cNvPr id="74755" name="Rectangle 1027"/>
          <p:cNvSpPr>
            <a:spLocks noGrp="1" noChangeArrowheads="1"/>
          </p:cNvSpPr>
          <p:nvPr>
            <p:ph idx="1"/>
          </p:nvPr>
        </p:nvSpPr>
        <p:spPr>
          <a:xfrm>
            <a:off x="685800" y="1600200"/>
            <a:ext cx="8001000" cy="4876800"/>
          </a:xfrm>
        </p:spPr>
        <p:txBody>
          <a:bodyPr/>
          <a:lstStyle/>
          <a:p>
            <a:pPr marL="533400" indent="-533400" eaLnBrk="1" hangingPunct="1">
              <a:buFont typeface="Wingdings 2" panose="05020102010507070707" pitchFamily="18" charset="2"/>
              <a:buNone/>
            </a:pPr>
            <a:r>
              <a:rPr lang="en-US" altLang="en-US" b="1"/>
              <a:t>4.  Which type of hematoma occurs between the skull and the dura as a result of a ruptured meningeal artery, usually after a fracture of the skull?</a:t>
            </a:r>
          </a:p>
          <a:p>
            <a:pPr marL="533400" indent="-533400" eaLnBrk="1" hangingPunct="1">
              <a:lnSpc>
                <a:spcPct val="65000"/>
              </a:lnSpc>
              <a:buFont typeface="Wingdings 2" panose="05020102010507070707" pitchFamily="18" charset="2"/>
              <a:buNone/>
            </a:pPr>
            <a:r>
              <a:rPr lang="en-US" altLang="en-US"/>
              <a:t>	</a:t>
            </a:r>
          </a:p>
          <a:p>
            <a:pPr marL="533400" indent="-533400" eaLnBrk="1" hangingPunct="1">
              <a:lnSpc>
                <a:spcPct val="65000"/>
              </a:lnSpc>
              <a:buFont typeface="Wingdings 2" panose="05020102010507070707" pitchFamily="18" charset="2"/>
              <a:buNone/>
            </a:pPr>
            <a:r>
              <a:rPr lang="en-US" altLang="en-US"/>
              <a:t>	A.  Subdural</a:t>
            </a:r>
          </a:p>
          <a:p>
            <a:pPr marL="533400" indent="-533400" eaLnBrk="1" hangingPunct="1">
              <a:lnSpc>
                <a:spcPct val="65000"/>
              </a:lnSpc>
              <a:buFont typeface="Wingdings 2" panose="05020102010507070707" pitchFamily="18" charset="2"/>
              <a:buNone/>
            </a:pPr>
            <a:r>
              <a:rPr lang="en-US" altLang="en-US"/>
              <a:t>	B.  Epidural </a:t>
            </a:r>
          </a:p>
          <a:p>
            <a:pPr marL="533400" indent="-533400" eaLnBrk="1" hangingPunct="1">
              <a:lnSpc>
                <a:spcPct val="65000"/>
              </a:lnSpc>
              <a:buFont typeface="Wingdings 2" panose="05020102010507070707" pitchFamily="18" charset="2"/>
              <a:buNone/>
            </a:pPr>
            <a:r>
              <a:rPr lang="en-US" altLang="en-US"/>
              <a:t>	C.  Intracerebral</a:t>
            </a:r>
            <a:endParaRPr lang="en-US" altLang="en-US" sz="2400"/>
          </a:p>
          <a:p>
            <a:pPr marL="533400" indent="-533400" eaLnBrk="1" hangingPunct="1">
              <a:lnSpc>
                <a:spcPct val="65000"/>
              </a:lnSpc>
              <a:buFont typeface="Wingdings 2" panose="05020102010507070707" pitchFamily="18" charset="2"/>
              <a:buNone/>
            </a:pPr>
            <a:endParaRPr lang="en-US" altLang="en-US" sz="2400"/>
          </a:p>
          <a:p>
            <a:pPr marL="533400" indent="-533400" eaLnBrk="1" hangingPunct="1">
              <a:buFont typeface="Wingdings 2" panose="05020102010507070707" pitchFamily="18" charset="2"/>
              <a:buNone/>
            </a:pPr>
            <a:endParaRPr lang="en-US" altLang="en-US"/>
          </a:p>
        </p:txBody>
      </p:sp>
    </p:spTree>
    <p:extLst>
      <p:ext uri="{BB962C8B-B14F-4D97-AF65-F5344CB8AC3E}">
        <p14:creationId xmlns:p14="http://schemas.microsoft.com/office/powerpoint/2010/main" val="22327659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8" name="Rectangle 1028"/>
          <p:cNvSpPr>
            <a:spLocks noGrp="1" noChangeArrowheads="1"/>
          </p:cNvSpPr>
          <p:nvPr>
            <p:ph type="title"/>
          </p:nvPr>
        </p:nvSpPr>
        <p:spPr/>
        <p:txBody>
          <a:bodyPr rtlCol="0">
            <a:normAutofit fontScale="90000"/>
          </a:bodyPr>
          <a:lstStyle/>
          <a:p>
            <a:pPr eaLnBrk="1" fontAlgn="auto" hangingPunct="1">
              <a:spcAft>
                <a:spcPts val="0"/>
              </a:spcAft>
              <a:defRPr/>
            </a:pPr>
            <a:r>
              <a:rPr lang="en-US"/>
              <a:t>Chapter 10</a:t>
            </a:r>
            <a:br>
              <a:rPr lang="en-US"/>
            </a:br>
            <a:r>
              <a:rPr lang="en-US"/>
              <a:t>Lesson 10.3</a:t>
            </a:r>
          </a:p>
        </p:txBody>
      </p:sp>
    </p:spTree>
    <p:extLst>
      <p:ext uri="{BB962C8B-B14F-4D97-AF65-F5344CB8AC3E}">
        <p14:creationId xmlns:p14="http://schemas.microsoft.com/office/powerpoint/2010/main" val="4138455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ChangeArrowheads="1"/>
          </p:cNvSpPr>
          <p:nvPr>
            <p:ph type="title"/>
          </p:nvPr>
        </p:nvSpPr>
        <p:spPr/>
        <p:txBody>
          <a:bodyPr/>
          <a:lstStyle/>
          <a:p>
            <a:pPr eaLnBrk="1" hangingPunct="1"/>
            <a:r>
              <a:rPr lang="en-US" altLang="en-US"/>
              <a:t>Pathology</a:t>
            </a:r>
          </a:p>
        </p:txBody>
      </p:sp>
      <p:sp>
        <p:nvSpPr>
          <p:cNvPr id="76803" name="Rectangle 5"/>
          <p:cNvSpPr>
            <a:spLocks noGrp="1" noChangeArrowheads="1"/>
          </p:cNvSpPr>
          <p:nvPr>
            <p:ph idx="1"/>
          </p:nvPr>
        </p:nvSpPr>
        <p:spPr>
          <a:xfrm>
            <a:off x="685800" y="1600200"/>
            <a:ext cx="7772400" cy="4454525"/>
          </a:xfrm>
        </p:spPr>
        <p:txBody>
          <a:bodyPr/>
          <a:lstStyle/>
          <a:p>
            <a:pPr eaLnBrk="1" hangingPunct="1">
              <a:buFont typeface="Wingdings 2" panose="05020102010507070707" pitchFamily="18" charset="2"/>
              <a:buNone/>
            </a:pPr>
            <a:r>
              <a:rPr lang="en-US" altLang="en-US" b="1"/>
              <a:t>Congenital disorders</a:t>
            </a:r>
          </a:p>
          <a:p>
            <a:pPr eaLnBrk="1" hangingPunct="1"/>
            <a:r>
              <a:rPr lang="en-US" altLang="en-US"/>
              <a:t>Hydrocephalus</a:t>
            </a:r>
          </a:p>
          <a:p>
            <a:pPr eaLnBrk="1" hangingPunct="1"/>
            <a:r>
              <a:rPr lang="en-US" altLang="en-US"/>
              <a:t>Spina bifida</a:t>
            </a:r>
          </a:p>
          <a:p>
            <a:pPr lvl="1" eaLnBrk="1" hangingPunct="1">
              <a:buFont typeface="Wingdings" panose="05000000000000000000" pitchFamily="2" charset="2"/>
              <a:buChar char="Ø"/>
            </a:pPr>
            <a:r>
              <a:rPr lang="en-US" altLang="en-US"/>
              <a:t>Spina bifida cystica</a:t>
            </a:r>
          </a:p>
          <a:p>
            <a:pPr lvl="1" eaLnBrk="1" hangingPunct="1">
              <a:buFont typeface="Wingdings" panose="05000000000000000000" pitchFamily="2" charset="2"/>
              <a:buChar char="Ø"/>
            </a:pPr>
            <a:r>
              <a:rPr lang="en-US" altLang="en-US"/>
              <a:t>Spina bifida occulta</a:t>
            </a:r>
          </a:p>
        </p:txBody>
      </p:sp>
    </p:spTree>
    <p:extLst>
      <p:ext uri="{BB962C8B-B14F-4D97-AF65-F5344CB8AC3E}">
        <p14:creationId xmlns:p14="http://schemas.microsoft.com/office/powerpoint/2010/main" val="23571157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92" name="Rectangle 12"/>
          <p:cNvSpPr>
            <a:spLocks noGrp="1" noChangeArrowheads="1"/>
          </p:cNvSpPr>
          <p:nvPr>
            <p:ph type="title"/>
          </p:nvPr>
        </p:nvSpPr>
        <p:spPr>
          <a:xfrm>
            <a:off x="1524000" y="304800"/>
            <a:ext cx="6553200" cy="1143000"/>
          </a:xfrm>
        </p:spPr>
        <p:txBody>
          <a:bodyPr rtlCol="0">
            <a:normAutofit fontScale="90000"/>
          </a:bodyPr>
          <a:lstStyle/>
          <a:p>
            <a:pPr eaLnBrk="1" fontAlgn="auto" hangingPunct="1">
              <a:spcAft>
                <a:spcPts val="0"/>
              </a:spcAft>
              <a:defRPr/>
            </a:pPr>
            <a:r>
              <a:rPr lang="en-US" dirty="0"/>
              <a:t>Degenerative Movement, </a:t>
            </a:r>
            <a:br>
              <a:rPr lang="en-US" dirty="0"/>
            </a:br>
            <a:r>
              <a:rPr lang="en-US" dirty="0"/>
              <a:t>and Seizure Disorders</a:t>
            </a:r>
          </a:p>
        </p:txBody>
      </p:sp>
      <p:sp>
        <p:nvSpPr>
          <p:cNvPr id="77827" name="Rectangle 13"/>
          <p:cNvSpPr>
            <a:spLocks noGrp="1" noChangeArrowheads="1"/>
          </p:cNvSpPr>
          <p:nvPr>
            <p:ph sz="half" idx="1"/>
          </p:nvPr>
        </p:nvSpPr>
        <p:spPr>
          <a:xfrm>
            <a:off x="685800" y="1600200"/>
            <a:ext cx="6858000" cy="1905000"/>
          </a:xfrm>
        </p:spPr>
        <p:txBody>
          <a:bodyPr/>
          <a:lstStyle/>
          <a:p>
            <a:pPr eaLnBrk="1" hangingPunct="1"/>
            <a:r>
              <a:rPr lang="en-US" altLang="en-US" sz="2400"/>
              <a:t>Alzheimer disease (AD)</a:t>
            </a:r>
          </a:p>
          <a:p>
            <a:pPr eaLnBrk="1" hangingPunct="1"/>
            <a:r>
              <a:rPr lang="en-US" altLang="en-US" sz="2400"/>
              <a:t>Amyotrophic lateral sclerosis (ALS)</a:t>
            </a:r>
          </a:p>
          <a:p>
            <a:pPr eaLnBrk="1" hangingPunct="1"/>
            <a:r>
              <a:rPr lang="en-US" altLang="en-US" sz="2400"/>
              <a:t>Epilepsy</a:t>
            </a:r>
          </a:p>
          <a:p>
            <a:pPr eaLnBrk="1" hangingPunct="1"/>
            <a:r>
              <a:rPr lang="en-US" altLang="en-US" sz="2400"/>
              <a:t>Huntington disease (Huntington chorea)</a:t>
            </a:r>
          </a:p>
        </p:txBody>
      </p:sp>
      <p:sp>
        <p:nvSpPr>
          <p:cNvPr id="77828" name="Rectangle 14"/>
          <p:cNvSpPr>
            <a:spLocks noGrp="1" noChangeArrowheads="1"/>
          </p:cNvSpPr>
          <p:nvPr>
            <p:ph sz="half" idx="2"/>
          </p:nvPr>
        </p:nvSpPr>
        <p:spPr>
          <a:xfrm>
            <a:off x="685800" y="3505200"/>
            <a:ext cx="5638800" cy="2286000"/>
          </a:xfrm>
        </p:spPr>
        <p:txBody>
          <a:bodyPr/>
          <a:lstStyle/>
          <a:p>
            <a:pPr eaLnBrk="1" hangingPunct="1"/>
            <a:r>
              <a:rPr lang="en-US" altLang="en-US" sz="2400"/>
              <a:t>Multiple sclerosis (MS)</a:t>
            </a:r>
          </a:p>
          <a:p>
            <a:pPr eaLnBrk="1" hangingPunct="1"/>
            <a:r>
              <a:rPr lang="en-US" altLang="en-US" sz="2400"/>
              <a:t>Myasthenia gravis (MG)</a:t>
            </a:r>
          </a:p>
          <a:p>
            <a:pPr eaLnBrk="1" hangingPunct="1"/>
            <a:r>
              <a:rPr lang="en-US" altLang="en-US" sz="2400"/>
              <a:t>Palsy</a:t>
            </a:r>
          </a:p>
          <a:p>
            <a:pPr eaLnBrk="1" hangingPunct="1"/>
            <a:r>
              <a:rPr lang="en-US" altLang="en-US" sz="2400"/>
              <a:t>Parkinson disease</a:t>
            </a:r>
          </a:p>
          <a:p>
            <a:pPr eaLnBrk="1" hangingPunct="1"/>
            <a:r>
              <a:rPr lang="en-US" altLang="en-US" sz="2400"/>
              <a:t>Tourette syndrome</a:t>
            </a:r>
          </a:p>
        </p:txBody>
      </p:sp>
    </p:spTree>
    <p:extLst>
      <p:ext uri="{BB962C8B-B14F-4D97-AF65-F5344CB8AC3E}">
        <p14:creationId xmlns:p14="http://schemas.microsoft.com/office/powerpoint/2010/main" val="19428258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Grp="1" noChangeArrowheads="1"/>
          </p:cNvSpPr>
          <p:nvPr>
            <p:ph type="title"/>
          </p:nvPr>
        </p:nvSpPr>
        <p:spPr/>
        <p:txBody>
          <a:bodyPr/>
          <a:lstStyle/>
          <a:p>
            <a:pPr eaLnBrk="1" hangingPunct="1"/>
            <a:r>
              <a:rPr lang="en-US" altLang="en-US"/>
              <a:t>Infectious Disorders</a:t>
            </a:r>
          </a:p>
        </p:txBody>
      </p:sp>
      <p:sp>
        <p:nvSpPr>
          <p:cNvPr id="78851" name="Rectangle 5"/>
          <p:cNvSpPr>
            <a:spLocks noGrp="1" noChangeArrowheads="1"/>
          </p:cNvSpPr>
          <p:nvPr>
            <p:ph idx="1"/>
          </p:nvPr>
        </p:nvSpPr>
        <p:spPr/>
        <p:txBody>
          <a:bodyPr/>
          <a:lstStyle/>
          <a:p>
            <a:pPr eaLnBrk="1" hangingPunct="1"/>
            <a:r>
              <a:rPr lang="en-US" altLang="en-US" sz="3000" dirty="0"/>
              <a:t>Herpes zoster (shingles)</a:t>
            </a:r>
          </a:p>
          <a:p>
            <a:pPr eaLnBrk="1" hangingPunct="1"/>
            <a:r>
              <a:rPr lang="en-US" altLang="en-US" sz="3000" dirty="0"/>
              <a:t>Meningitis</a:t>
            </a:r>
          </a:p>
          <a:p>
            <a:pPr eaLnBrk="1" hangingPunct="1"/>
            <a:r>
              <a:rPr lang="en-US" altLang="en-US" sz="3000" dirty="0"/>
              <a:t>Human immunodeficiency virus (HIV) encephalopathy</a:t>
            </a:r>
          </a:p>
        </p:txBody>
      </p:sp>
    </p:spTree>
    <p:extLst>
      <p:ext uri="{BB962C8B-B14F-4D97-AF65-F5344CB8AC3E}">
        <p14:creationId xmlns:p14="http://schemas.microsoft.com/office/powerpoint/2010/main" val="3991537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Grp="1" noChangeArrowheads="1"/>
          </p:cNvSpPr>
          <p:nvPr>
            <p:ph type="title"/>
          </p:nvPr>
        </p:nvSpPr>
        <p:spPr/>
        <p:txBody>
          <a:bodyPr/>
          <a:lstStyle/>
          <a:p>
            <a:pPr eaLnBrk="1" hangingPunct="1"/>
            <a:r>
              <a:rPr lang="en-US" altLang="en-US"/>
              <a:t>Traumatic Disorders</a:t>
            </a:r>
          </a:p>
        </p:txBody>
      </p:sp>
      <p:sp>
        <p:nvSpPr>
          <p:cNvPr id="513029" name="Rectangle 5"/>
          <p:cNvSpPr>
            <a:spLocks noGrp="1" noChangeArrowheads="1"/>
          </p:cNvSpPr>
          <p:nvPr>
            <p:ph idx="1"/>
          </p:nvPr>
        </p:nvSpPr>
        <p:spPr>
          <a:xfrm>
            <a:off x="685800" y="1295400"/>
            <a:ext cx="8229600" cy="4800600"/>
          </a:xfrm>
        </p:spPr>
        <p:txBody>
          <a:bodyPr rtlCol="0">
            <a:normAutofit fontScale="85000" lnSpcReduction="10000"/>
          </a:bodyPr>
          <a:lstStyle/>
          <a:p>
            <a:pPr eaLnBrk="1" fontAlgn="auto" hangingPunct="1">
              <a:spcAft>
                <a:spcPts val="0"/>
              </a:spcAft>
              <a:defRPr/>
            </a:pPr>
            <a:r>
              <a:rPr lang="en-US" b="1" dirty="0"/>
              <a:t>Cerebral concussion:</a:t>
            </a:r>
          </a:p>
          <a:p>
            <a:pPr lvl="1" eaLnBrk="1" fontAlgn="auto" hangingPunct="1">
              <a:spcAft>
                <a:spcPts val="0"/>
              </a:spcAft>
              <a:buFont typeface="Wingdings" pitchFamily="2" charset="2"/>
              <a:buChar char="Ø"/>
              <a:defRPr/>
            </a:pPr>
            <a:r>
              <a:rPr lang="en-US" dirty="0"/>
              <a:t>Type of traumatic brain injury caused by a blow to the head </a:t>
            </a:r>
          </a:p>
          <a:p>
            <a:pPr lvl="1" eaLnBrk="1" fontAlgn="auto" hangingPunct="1">
              <a:spcAft>
                <a:spcPts val="0"/>
              </a:spcAft>
              <a:buFont typeface="Wingdings" pitchFamily="2" charset="2"/>
              <a:buChar char="Ø"/>
              <a:defRPr/>
            </a:pPr>
            <a:r>
              <a:rPr lang="en-US" dirty="0"/>
              <a:t>Usually no evidence of structural damage to brain tissue </a:t>
            </a:r>
          </a:p>
          <a:p>
            <a:pPr lvl="1" eaLnBrk="1" fontAlgn="auto" hangingPunct="1">
              <a:spcAft>
                <a:spcPts val="0"/>
              </a:spcAft>
              <a:buFont typeface="Wingdings" pitchFamily="2" charset="2"/>
              <a:buChar char="Ø"/>
              <a:defRPr/>
            </a:pPr>
            <a:r>
              <a:rPr lang="en-US" dirty="0"/>
              <a:t>Rest is very important to allow the brain to heal </a:t>
            </a:r>
          </a:p>
          <a:p>
            <a:pPr eaLnBrk="1" fontAlgn="auto" hangingPunct="1">
              <a:spcAft>
                <a:spcPts val="0"/>
              </a:spcAft>
              <a:defRPr/>
            </a:pPr>
            <a:r>
              <a:rPr lang="en-US" b="1" dirty="0"/>
              <a:t>Cerebral contusion:</a:t>
            </a:r>
          </a:p>
          <a:p>
            <a:pPr lvl="1" eaLnBrk="1" fontAlgn="auto" hangingPunct="1">
              <a:spcAft>
                <a:spcPts val="0"/>
              </a:spcAft>
              <a:buFont typeface="Wingdings" pitchFamily="2" charset="2"/>
              <a:buChar char="Ø"/>
              <a:defRPr/>
            </a:pPr>
            <a:r>
              <a:rPr lang="en-US" dirty="0"/>
              <a:t>Bruising of brain tissue as a result of direct trauma to the head </a:t>
            </a:r>
          </a:p>
          <a:p>
            <a:pPr lvl="1" eaLnBrk="1" fontAlgn="auto" hangingPunct="1">
              <a:spcAft>
                <a:spcPts val="0"/>
              </a:spcAft>
              <a:buFont typeface="Wingdings" pitchFamily="2" charset="2"/>
              <a:buChar char="Ø"/>
              <a:defRPr/>
            </a:pPr>
            <a:r>
              <a:rPr lang="en-US" dirty="0"/>
              <a:t>May be associated with a fracture of the skull, edema and increased intracranial pressure </a:t>
            </a:r>
          </a:p>
          <a:p>
            <a:pPr lvl="1" eaLnBrk="1" fontAlgn="auto" hangingPunct="1">
              <a:spcAft>
                <a:spcPts val="0"/>
              </a:spcAft>
              <a:buFont typeface="Wingdings" pitchFamily="2" charset="2"/>
              <a:buChar char="Ø"/>
              <a:defRPr/>
            </a:pPr>
            <a:r>
              <a:rPr lang="en-US" dirty="0"/>
              <a:t>Subdural and epidural hematomas can occur leading to permanent brain injury</a:t>
            </a:r>
          </a:p>
        </p:txBody>
      </p:sp>
    </p:spTree>
    <p:extLst>
      <p:ext uri="{BB962C8B-B14F-4D97-AF65-F5344CB8AC3E}">
        <p14:creationId xmlns:p14="http://schemas.microsoft.com/office/powerpoint/2010/main" val="364009717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p:cNvSpPr>
            <a:spLocks noGrp="1" noChangeArrowheads="1"/>
          </p:cNvSpPr>
          <p:nvPr>
            <p:ph type="title"/>
          </p:nvPr>
        </p:nvSpPr>
        <p:spPr/>
        <p:txBody>
          <a:bodyPr/>
          <a:lstStyle/>
          <a:p>
            <a:pPr eaLnBrk="1" hangingPunct="1"/>
            <a:r>
              <a:rPr lang="en-US" altLang="en-US" dirty="0"/>
              <a:t>Vascular Disorders (slide 1 of 2)</a:t>
            </a:r>
          </a:p>
        </p:txBody>
      </p:sp>
      <p:sp>
        <p:nvSpPr>
          <p:cNvPr id="80899" name="Rectangle 1027"/>
          <p:cNvSpPr>
            <a:spLocks noGrp="1" noChangeArrowheads="1"/>
          </p:cNvSpPr>
          <p:nvPr>
            <p:ph idx="1"/>
          </p:nvPr>
        </p:nvSpPr>
        <p:spPr>
          <a:xfrm>
            <a:off x="685800" y="1295400"/>
            <a:ext cx="7772400" cy="4800600"/>
          </a:xfrm>
        </p:spPr>
        <p:txBody>
          <a:bodyPr/>
          <a:lstStyle/>
          <a:p>
            <a:pPr eaLnBrk="1" hangingPunct="1"/>
            <a:r>
              <a:rPr lang="en-US" altLang="en-US" b="1"/>
              <a:t>Cerebrovascular accident (CVA)</a:t>
            </a:r>
          </a:p>
          <a:p>
            <a:pPr lvl="1" eaLnBrk="1" hangingPunct="1">
              <a:buFont typeface="Wingdings" panose="05000000000000000000" pitchFamily="2" charset="2"/>
              <a:buChar char="Ø"/>
            </a:pPr>
            <a:r>
              <a:rPr lang="en-US" altLang="en-US" b="1"/>
              <a:t>Thrombotic — </a:t>
            </a:r>
            <a:r>
              <a:rPr lang="en-US" altLang="en-US"/>
              <a:t>blood clot in arteries leaving the brain</a:t>
            </a:r>
          </a:p>
          <a:p>
            <a:pPr lvl="1" eaLnBrk="1" hangingPunct="1">
              <a:buFont typeface="Wingdings" panose="05000000000000000000" pitchFamily="2" charset="2"/>
              <a:buChar char="Ø"/>
            </a:pPr>
            <a:r>
              <a:rPr lang="en-US" altLang="en-US" b="1"/>
              <a:t>Embolic — </a:t>
            </a:r>
            <a:r>
              <a:rPr lang="en-US" altLang="en-US"/>
              <a:t>dislodged blood clot travels to cerebral arteries</a:t>
            </a:r>
            <a:endParaRPr lang="en-US" altLang="en-US" b="1"/>
          </a:p>
          <a:p>
            <a:pPr lvl="1" eaLnBrk="1" hangingPunct="1">
              <a:buFont typeface="Wingdings" panose="05000000000000000000" pitchFamily="2" charset="2"/>
              <a:buChar char="Ø"/>
            </a:pPr>
            <a:r>
              <a:rPr lang="en-US" altLang="en-US" b="1"/>
              <a:t>Hemorrhagic — </a:t>
            </a:r>
            <a:r>
              <a:rPr lang="en-US" altLang="en-US"/>
              <a:t>blood vessel breaks and bleeding occurs</a:t>
            </a:r>
          </a:p>
        </p:txBody>
      </p:sp>
    </p:spTree>
    <p:extLst>
      <p:ext uri="{BB962C8B-B14F-4D97-AF65-F5344CB8AC3E}">
        <p14:creationId xmlns:p14="http://schemas.microsoft.com/office/powerpoint/2010/main" val="6373344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8"/>
          <p:cNvSpPr>
            <a:spLocks noGrp="1" noChangeArrowheads="1"/>
          </p:cNvSpPr>
          <p:nvPr>
            <p:ph type="title"/>
          </p:nvPr>
        </p:nvSpPr>
        <p:spPr/>
        <p:txBody>
          <a:bodyPr/>
          <a:lstStyle/>
          <a:p>
            <a:pPr eaLnBrk="1" hangingPunct="1"/>
            <a:r>
              <a:rPr lang="en-US" altLang="en-US" dirty="0"/>
              <a:t>Vascular Disorders (slide 2 of 2</a:t>
            </a:r>
            <a:r>
              <a:rPr lang="en-US" altLang="ja-JP" dirty="0"/>
              <a:t>)</a:t>
            </a:r>
            <a:endParaRPr lang="en-US" altLang="en-US" dirty="0"/>
          </a:p>
        </p:txBody>
      </p:sp>
      <p:sp>
        <p:nvSpPr>
          <p:cNvPr id="3" name="Content Placeholder 2"/>
          <p:cNvSpPr>
            <a:spLocks noGrp="1"/>
          </p:cNvSpPr>
          <p:nvPr>
            <p:ph sz="half" idx="1"/>
          </p:nvPr>
        </p:nvSpPr>
        <p:spPr>
          <a:xfrm>
            <a:off x="723900" y="1604349"/>
            <a:ext cx="6324600" cy="1111980"/>
          </a:xfrm>
        </p:spPr>
        <p:txBody>
          <a:bodyPr/>
          <a:lstStyle/>
          <a:p>
            <a:pPr marL="457200" indent="-457200">
              <a:defRPr/>
            </a:pPr>
            <a:r>
              <a:rPr lang="en-US" sz="3200" b="1" dirty="0"/>
              <a:t>Cerebrovascular accident (CVA)</a:t>
            </a:r>
          </a:p>
        </p:txBody>
      </p:sp>
      <p:pic>
        <p:nvPicPr>
          <p:cNvPr id="7" name="Picture 1034" descr="The three types of stroke are embolic, hemorrhagic, and thrombotic. Embolic strokes are caused by dislodged thrombi that occlude cerebral arteries. Hemorrhagic strokes are caused by cerebral arterial wall rupture. Thrombotic strokes are caused by atheromatous plaques that occlude cerebral arterie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409700" y="2712180"/>
            <a:ext cx="5638800" cy="3214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7625406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p:cNvSpPr>
            <a:spLocks noGrp="1" noChangeArrowheads="1"/>
          </p:cNvSpPr>
          <p:nvPr>
            <p:ph type="title"/>
          </p:nvPr>
        </p:nvSpPr>
        <p:spPr>
          <a:xfrm>
            <a:off x="1524000" y="381000"/>
            <a:ext cx="6781800" cy="1143000"/>
          </a:xfrm>
        </p:spPr>
        <p:txBody>
          <a:bodyPr/>
          <a:lstStyle/>
          <a:p>
            <a:pPr eaLnBrk="1" hangingPunct="1"/>
            <a:r>
              <a:rPr lang="en-US" altLang="en-US"/>
              <a:t>Clinical Procedures</a:t>
            </a:r>
          </a:p>
        </p:txBody>
      </p:sp>
      <p:sp>
        <p:nvSpPr>
          <p:cNvPr id="82947"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b="1"/>
              <a:t>X-ray tests:</a:t>
            </a:r>
          </a:p>
          <a:p>
            <a:pPr lvl="1" eaLnBrk="1" hangingPunct="1">
              <a:buFont typeface="Wingdings" panose="05000000000000000000" pitchFamily="2" charset="2"/>
              <a:buChar char="Ø"/>
            </a:pPr>
            <a:r>
              <a:rPr lang="en-US" altLang="en-US"/>
              <a:t>Cerebral angiography</a:t>
            </a:r>
          </a:p>
          <a:p>
            <a:pPr lvl="1" eaLnBrk="1" hangingPunct="1">
              <a:buFont typeface="Wingdings" panose="05000000000000000000" pitchFamily="2" charset="2"/>
              <a:buChar char="Ø"/>
            </a:pPr>
            <a:r>
              <a:rPr lang="en-US" altLang="en-US"/>
              <a:t>Computed tomography (CT) of the brain</a:t>
            </a:r>
          </a:p>
          <a:p>
            <a:pPr eaLnBrk="1" hangingPunct="1">
              <a:buFont typeface="Wingdings 2" panose="05020102010507070707" pitchFamily="18" charset="2"/>
              <a:buNone/>
            </a:pPr>
            <a:r>
              <a:rPr lang="en-US" altLang="en-US" b="1"/>
              <a:t>Other procedures:</a:t>
            </a:r>
          </a:p>
          <a:p>
            <a:pPr lvl="1" eaLnBrk="1" hangingPunct="1">
              <a:buFont typeface="Wingdings" panose="05000000000000000000" pitchFamily="2" charset="2"/>
              <a:buChar char="Ø"/>
            </a:pPr>
            <a:r>
              <a:rPr lang="en-US" altLang="en-US"/>
              <a:t>MRI—Magnetic resonance Imaging</a:t>
            </a:r>
          </a:p>
          <a:p>
            <a:pPr lvl="1" eaLnBrk="1" hangingPunct="1">
              <a:buFont typeface="Wingdings" panose="05000000000000000000" pitchFamily="2" charset="2"/>
              <a:buChar char="Ø"/>
            </a:pPr>
            <a:r>
              <a:rPr lang="en-US" altLang="en-US"/>
              <a:t>PET—Positron emission scan</a:t>
            </a:r>
          </a:p>
          <a:p>
            <a:pPr lvl="1" eaLnBrk="1" hangingPunct="1">
              <a:buFont typeface="Wingdings" panose="05000000000000000000" pitchFamily="2" charset="2"/>
              <a:buChar char="Ø"/>
            </a:pPr>
            <a:r>
              <a:rPr lang="en-US" altLang="en-US"/>
              <a:t>EEG—Electroencephalography</a:t>
            </a:r>
          </a:p>
          <a:p>
            <a:pPr lvl="1" eaLnBrk="1" hangingPunct="1">
              <a:buFont typeface="Wingdings" panose="05000000000000000000" pitchFamily="2" charset="2"/>
              <a:buChar char="Ø"/>
            </a:pPr>
            <a:r>
              <a:rPr lang="en-US" altLang="en-US"/>
              <a:t>Doppler ultrasound studies</a:t>
            </a:r>
          </a:p>
        </p:txBody>
      </p:sp>
    </p:spTree>
    <p:extLst>
      <p:ext uri="{BB962C8B-B14F-4D97-AF65-F5344CB8AC3E}">
        <p14:creationId xmlns:p14="http://schemas.microsoft.com/office/powerpoint/2010/main" val="4827446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1 of 3)</a:t>
            </a:r>
          </a:p>
        </p:txBody>
      </p:sp>
      <p:graphicFrame>
        <p:nvGraphicFramePr>
          <p:cNvPr id="8" name="Content Placeholder 7" descr="Group 1 of 3: Abbreviations with corresponding meanings."/>
          <p:cNvGraphicFramePr>
            <a:graphicFrameLocks noGrp="1"/>
          </p:cNvGraphicFramePr>
          <p:nvPr>
            <p:ph idx="1"/>
            <p:extLst>
              <p:ext uri="{D42A27DB-BD31-4B8C-83A1-F6EECF244321}">
                <p14:modId xmlns:p14="http://schemas.microsoft.com/office/powerpoint/2010/main" val="3405521527"/>
              </p:ext>
            </p:extLst>
          </p:nvPr>
        </p:nvGraphicFramePr>
        <p:xfrm>
          <a:off x="381000" y="1371600"/>
          <a:ext cx="8229600" cy="4572000"/>
        </p:xfrm>
        <a:graphic>
          <a:graphicData uri="http://schemas.openxmlformats.org/drawingml/2006/table">
            <a:tbl>
              <a:tblPr firstRow="1" bandRow="1">
                <a:tableStyleId>{68D230F3-CF80-4859-8CE7-A43EE81993B5}</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dirty="0"/>
                        <a:t>AD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Alzheimer disease</a:t>
                      </a:r>
                    </a:p>
                  </a:txBody>
                  <a:tcPr/>
                </a:tc>
                <a:extLst>
                  <a:ext uri="{0D108BD9-81ED-4DB2-BD59-A6C34878D82A}">
                    <a16:rowId xmlns:a16="http://schemas.microsoft.com/office/drawing/2014/main" val="10001"/>
                  </a:ext>
                </a:extLst>
              </a:tr>
              <a:tr h="370840">
                <a:tc>
                  <a:txBody>
                    <a:bodyPr/>
                    <a:lstStyle/>
                    <a:p>
                      <a:r>
                        <a:rPr lang="en-US" sz="2400" dirty="0"/>
                        <a:t>AFP</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alpha-fetoprotein</a:t>
                      </a:r>
                    </a:p>
                  </a:txBody>
                  <a:tcPr/>
                </a:tc>
                <a:extLst>
                  <a:ext uri="{0D108BD9-81ED-4DB2-BD59-A6C34878D82A}">
                    <a16:rowId xmlns:a16="http://schemas.microsoft.com/office/drawing/2014/main" val="10002"/>
                  </a:ext>
                </a:extLst>
              </a:tr>
              <a:tr h="370840">
                <a:tc>
                  <a:txBody>
                    <a:bodyPr/>
                    <a:lstStyle/>
                    <a:p>
                      <a:r>
                        <a:rPr lang="en-US" sz="2400" dirty="0"/>
                        <a:t>ALS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amyotrophic lateral sclerosis</a:t>
                      </a:r>
                    </a:p>
                  </a:txBody>
                  <a:tcPr/>
                </a:tc>
                <a:extLst>
                  <a:ext uri="{0D108BD9-81ED-4DB2-BD59-A6C34878D82A}">
                    <a16:rowId xmlns:a16="http://schemas.microsoft.com/office/drawing/2014/main" val="10003"/>
                  </a:ext>
                </a:extLst>
              </a:tr>
              <a:tr h="370840">
                <a:tc>
                  <a:txBody>
                    <a:bodyPr/>
                    <a:lstStyle/>
                    <a:p>
                      <a:r>
                        <a:rPr lang="en-US" sz="2400" dirty="0"/>
                        <a:t>AVM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err="1"/>
                        <a:t>arteriovenous</a:t>
                      </a:r>
                      <a:r>
                        <a:rPr lang="en-US" sz="2400" dirty="0"/>
                        <a:t> malformation</a:t>
                      </a:r>
                    </a:p>
                  </a:txBody>
                  <a:tcPr/>
                </a:tc>
                <a:extLst>
                  <a:ext uri="{0D108BD9-81ED-4DB2-BD59-A6C34878D82A}">
                    <a16:rowId xmlns:a16="http://schemas.microsoft.com/office/drawing/2014/main" val="10004"/>
                  </a:ext>
                </a:extLst>
              </a:tr>
              <a:tr h="370840">
                <a:tc>
                  <a:txBody>
                    <a:bodyPr/>
                    <a:lstStyle/>
                    <a:p>
                      <a:r>
                        <a:rPr lang="en-US" sz="2400" dirty="0"/>
                        <a:t>BBB</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blood brain barrier</a:t>
                      </a:r>
                    </a:p>
                  </a:txBody>
                  <a:tcPr/>
                </a:tc>
                <a:extLst>
                  <a:ext uri="{0D108BD9-81ED-4DB2-BD59-A6C34878D82A}">
                    <a16:rowId xmlns:a16="http://schemas.microsoft.com/office/drawing/2014/main" val="10005"/>
                  </a:ext>
                </a:extLst>
              </a:tr>
              <a:tr h="370840">
                <a:tc>
                  <a:txBody>
                    <a:bodyPr/>
                    <a:lstStyle/>
                    <a:p>
                      <a:r>
                        <a:rPr lang="en-US" sz="2400" dirty="0"/>
                        <a:t>CNS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central nervous system</a:t>
                      </a:r>
                    </a:p>
                  </a:txBody>
                  <a:tcPr/>
                </a:tc>
                <a:extLst>
                  <a:ext uri="{0D108BD9-81ED-4DB2-BD59-A6C34878D82A}">
                    <a16:rowId xmlns:a16="http://schemas.microsoft.com/office/drawing/2014/main" val="10006"/>
                  </a:ext>
                </a:extLst>
              </a:tr>
              <a:tr h="370840">
                <a:tc>
                  <a:txBody>
                    <a:bodyPr/>
                    <a:lstStyle/>
                    <a:p>
                      <a:r>
                        <a:rPr lang="en-US" sz="2400" dirty="0"/>
                        <a:t>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computed tomography</a:t>
                      </a:r>
                    </a:p>
                  </a:txBody>
                  <a:tcPr/>
                </a:tc>
                <a:extLst>
                  <a:ext uri="{0D108BD9-81ED-4DB2-BD59-A6C34878D82A}">
                    <a16:rowId xmlns:a16="http://schemas.microsoft.com/office/drawing/2014/main" val="10007"/>
                  </a:ext>
                </a:extLst>
              </a:tr>
              <a:tr h="370840">
                <a:tc>
                  <a:txBody>
                    <a:bodyPr/>
                    <a:lstStyle/>
                    <a:p>
                      <a:r>
                        <a:rPr lang="en-US" sz="2400" dirty="0"/>
                        <a:t>CSF</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cerebrospinal fluid</a:t>
                      </a:r>
                    </a:p>
                  </a:txBody>
                  <a:tcPr/>
                </a:tc>
                <a:extLst>
                  <a:ext uri="{0D108BD9-81ED-4DB2-BD59-A6C34878D82A}">
                    <a16:rowId xmlns:a16="http://schemas.microsoft.com/office/drawing/2014/main" val="10008"/>
                  </a:ext>
                </a:extLst>
              </a:tr>
              <a:tr h="370840">
                <a:tc>
                  <a:txBody>
                    <a:bodyPr/>
                    <a:lstStyle/>
                    <a:p>
                      <a:r>
                        <a:rPr lang="en-US" sz="2400" dirty="0"/>
                        <a:t>CVA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cerebrovascular accident</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433152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2 of 3)</a:t>
            </a:r>
          </a:p>
        </p:txBody>
      </p:sp>
      <p:graphicFrame>
        <p:nvGraphicFramePr>
          <p:cNvPr id="8" name="Content Placeholder 7" descr="Group 2 of 3: Abbreviations with corresponding meanings."/>
          <p:cNvGraphicFramePr>
            <a:graphicFrameLocks noGrp="1"/>
          </p:cNvGraphicFramePr>
          <p:nvPr>
            <p:ph idx="1"/>
            <p:extLst>
              <p:ext uri="{D42A27DB-BD31-4B8C-83A1-F6EECF244321}">
                <p14:modId xmlns:p14="http://schemas.microsoft.com/office/powerpoint/2010/main" val="2464173228"/>
              </p:ext>
            </p:extLst>
          </p:nvPr>
        </p:nvGraphicFramePr>
        <p:xfrm>
          <a:off x="381000" y="1371600"/>
          <a:ext cx="8229600" cy="448056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dirty="0"/>
                        <a:t>EEG</a:t>
                      </a:r>
                    </a:p>
                  </a:txBody>
                  <a:tcPr/>
                </a:tc>
                <a:tc>
                  <a:txBody>
                    <a:bodyPr/>
                    <a:lstStyle/>
                    <a:p>
                      <a:r>
                        <a:rPr lang="en-US" altLang="en-US" sz="2400" dirty="0"/>
                        <a:t>electroencephalogram</a:t>
                      </a:r>
                      <a:endParaRPr lang="en-US" sz="2400" dirty="0"/>
                    </a:p>
                  </a:txBody>
                  <a:tcPr/>
                </a:tc>
                <a:extLst>
                  <a:ext uri="{0D108BD9-81ED-4DB2-BD59-A6C34878D82A}">
                    <a16:rowId xmlns:a16="http://schemas.microsoft.com/office/drawing/2014/main" val="10001"/>
                  </a:ext>
                </a:extLst>
              </a:tr>
              <a:tr h="370840">
                <a:tc>
                  <a:txBody>
                    <a:bodyPr/>
                    <a:lstStyle/>
                    <a:p>
                      <a:r>
                        <a:rPr lang="en-US" sz="2400" dirty="0"/>
                        <a:t>GABA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gamma-</a:t>
                      </a:r>
                      <a:r>
                        <a:rPr lang="en-US" altLang="en-US" sz="2400" dirty="0" err="1"/>
                        <a:t>aminobutyric</a:t>
                      </a:r>
                      <a:r>
                        <a:rPr lang="en-US" altLang="en-US" sz="2400" dirty="0"/>
                        <a:t> acid (neurotransmitter)</a:t>
                      </a:r>
                    </a:p>
                  </a:txBody>
                  <a:tcPr/>
                </a:tc>
                <a:extLst>
                  <a:ext uri="{0D108BD9-81ED-4DB2-BD59-A6C34878D82A}">
                    <a16:rowId xmlns:a16="http://schemas.microsoft.com/office/drawing/2014/main" val="10002"/>
                  </a:ext>
                </a:extLst>
              </a:tr>
              <a:tr h="370840">
                <a:tc>
                  <a:txBody>
                    <a:bodyPr/>
                    <a:lstStyle/>
                    <a:p>
                      <a:r>
                        <a:rPr lang="en-US" sz="2400" dirty="0"/>
                        <a:t>ICP</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intracranial pressure; normal pressure is </a:t>
                      </a:r>
                      <a:br>
                        <a:rPr lang="en-US" altLang="en-US" sz="2400" dirty="0"/>
                      </a:br>
                      <a:r>
                        <a:rPr lang="en-US" altLang="en-US" sz="2400" dirty="0"/>
                        <a:t>5 to 15 </a:t>
                      </a:r>
                      <a:r>
                        <a:rPr lang="en-US" altLang="en-US" sz="2400" dirty="0" err="1"/>
                        <a:t>mmHG</a:t>
                      </a:r>
                      <a:endParaRPr lang="en-US" altLang="en-US" sz="2400" dirty="0"/>
                    </a:p>
                  </a:txBody>
                  <a:tcPr/>
                </a:tc>
                <a:extLst>
                  <a:ext uri="{0D108BD9-81ED-4DB2-BD59-A6C34878D82A}">
                    <a16:rowId xmlns:a16="http://schemas.microsoft.com/office/drawing/2014/main" val="10003"/>
                  </a:ext>
                </a:extLst>
              </a:tr>
              <a:tr h="370840">
                <a:tc>
                  <a:txBody>
                    <a:bodyPr/>
                    <a:lstStyle/>
                    <a:p>
                      <a:r>
                        <a:rPr lang="en-US" sz="2400" dirty="0"/>
                        <a:t>LP</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lumbar puncture</a:t>
                      </a:r>
                    </a:p>
                  </a:txBody>
                  <a:tcPr/>
                </a:tc>
                <a:extLst>
                  <a:ext uri="{0D108BD9-81ED-4DB2-BD59-A6C34878D82A}">
                    <a16:rowId xmlns:a16="http://schemas.microsoft.com/office/drawing/2014/main" val="10004"/>
                  </a:ext>
                </a:extLst>
              </a:tr>
              <a:tr h="370840">
                <a:tc>
                  <a:txBody>
                    <a:bodyPr/>
                    <a:lstStyle/>
                    <a:p>
                      <a:r>
                        <a:rPr lang="en-US" sz="2400" dirty="0"/>
                        <a:t>MAC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monitored anesthetic care</a:t>
                      </a:r>
                    </a:p>
                  </a:txBody>
                  <a:tcPr/>
                </a:tc>
                <a:extLst>
                  <a:ext uri="{0D108BD9-81ED-4DB2-BD59-A6C34878D82A}">
                    <a16:rowId xmlns:a16="http://schemas.microsoft.com/office/drawing/2014/main" val="10005"/>
                  </a:ext>
                </a:extLst>
              </a:tr>
              <a:tr h="370840">
                <a:tc>
                  <a:txBody>
                    <a:bodyPr/>
                    <a:lstStyle/>
                    <a:p>
                      <a:r>
                        <a:rPr lang="en-US" sz="2400" dirty="0"/>
                        <a:t>MG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myasthenia gravis</a:t>
                      </a:r>
                    </a:p>
                  </a:txBody>
                  <a:tcPr/>
                </a:tc>
                <a:extLst>
                  <a:ext uri="{0D108BD9-81ED-4DB2-BD59-A6C34878D82A}">
                    <a16:rowId xmlns:a16="http://schemas.microsoft.com/office/drawing/2014/main" val="10006"/>
                  </a:ext>
                </a:extLst>
              </a:tr>
              <a:tr h="370840">
                <a:tc>
                  <a:txBody>
                    <a:bodyPr/>
                    <a:lstStyle/>
                    <a:p>
                      <a:r>
                        <a:rPr lang="en-US" sz="2400" dirty="0"/>
                        <a:t>MRA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magnetic resonance angiography</a:t>
                      </a:r>
                    </a:p>
                  </a:txBody>
                  <a:tcPr/>
                </a:tc>
                <a:extLst>
                  <a:ext uri="{0D108BD9-81ED-4DB2-BD59-A6C34878D82A}">
                    <a16:rowId xmlns:a16="http://schemas.microsoft.com/office/drawing/2014/main" val="10007"/>
                  </a:ext>
                </a:extLst>
              </a:tr>
              <a:tr h="370840">
                <a:tc>
                  <a:txBody>
                    <a:bodyPr/>
                    <a:lstStyle/>
                    <a:p>
                      <a:r>
                        <a:rPr lang="en-US" sz="2400" dirty="0"/>
                        <a:t>MRI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magnetic resonance imaging</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26006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(Slide 3 of 3)</a:t>
            </a:r>
          </a:p>
        </p:txBody>
      </p:sp>
      <p:graphicFrame>
        <p:nvGraphicFramePr>
          <p:cNvPr id="8" name="Content Placeholder 7" descr="Group 3 of 3: Abbreviations with corresponding meanings."/>
          <p:cNvGraphicFramePr>
            <a:graphicFrameLocks noGrp="1"/>
          </p:cNvGraphicFramePr>
          <p:nvPr>
            <p:ph idx="1"/>
            <p:extLst>
              <p:ext uri="{D42A27DB-BD31-4B8C-83A1-F6EECF244321}">
                <p14:modId xmlns:p14="http://schemas.microsoft.com/office/powerpoint/2010/main" val="1399529069"/>
              </p:ext>
            </p:extLst>
          </p:nvPr>
        </p:nvGraphicFramePr>
        <p:xfrm>
          <a:off x="381000" y="1371600"/>
          <a:ext cx="8229600" cy="502920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1/2 P</a:t>
                      </a:r>
                    </a:p>
                  </a:txBody>
                  <a:tcPr/>
                </a:tc>
                <a:tc>
                  <a:txBody>
                    <a:bodyPr/>
                    <a:lstStyle/>
                    <a:p>
                      <a:r>
                        <a:rPr lang="en-US" altLang="en-US" sz="2400" dirty="0"/>
                        <a:t>hemiparesis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PCA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patient-controlled anesthesia </a:t>
                      </a:r>
                    </a:p>
                  </a:txBody>
                  <a:tcPr/>
                </a:tc>
                <a:extLst>
                  <a:ext uri="{0D108BD9-81ED-4DB2-BD59-A6C34878D82A}">
                    <a16:rowId xmlns:a16="http://schemas.microsoft.com/office/drawing/2014/main" val="10002"/>
                  </a:ext>
                </a:extLst>
              </a:tr>
              <a:tr h="370840">
                <a:tc>
                  <a:txBody>
                    <a:bodyPr/>
                    <a:lstStyle/>
                    <a:p>
                      <a:r>
                        <a:rPr lang="en-US" altLang="en-US" sz="2400" dirty="0"/>
                        <a:t>PNS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peripheral nervous system</a:t>
                      </a:r>
                    </a:p>
                  </a:txBody>
                  <a:tcPr/>
                </a:tc>
                <a:extLst>
                  <a:ext uri="{0D108BD9-81ED-4DB2-BD59-A6C34878D82A}">
                    <a16:rowId xmlns:a16="http://schemas.microsoft.com/office/drawing/2014/main" val="10003"/>
                  </a:ext>
                </a:extLst>
              </a:tr>
              <a:tr h="370840">
                <a:tc>
                  <a:txBody>
                    <a:bodyPr/>
                    <a:lstStyle/>
                    <a:p>
                      <a:r>
                        <a:rPr lang="en-US" altLang="en-US" sz="2400" dirty="0"/>
                        <a:t>PET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positron emission tomography</a:t>
                      </a:r>
                    </a:p>
                  </a:txBody>
                  <a:tcPr/>
                </a:tc>
                <a:extLst>
                  <a:ext uri="{0D108BD9-81ED-4DB2-BD59-A6C34878D82A}">
                    <a16:rowId xmlns:a16="http://schemas.microsoft.com/office/drawing/2014/main" val="10004"/>
                  </a:ext>
                </a:extLst>
              </a:tr>
              <a:tr h="370840">
                <a:tc>
                  <a:txBody>
                    <a:bodyPr/>
                    <a:lstStyle/>
                    <a:p>
                      <a:r>
                        <a:rPr lang="en-US" altLang="en-US" sz="2400" dirty="0" err="1"/>
                        <a:t>Sz</a:t>
                      </a:r>
                      <a:endParaRPr lang="en-US" sz="2400" dirty="0"/>
                    </a:p>
                  </a:txBody>
                  <a:tcPr/>
                </a:tc>
                <a:tc>
                  <a:txBody>
                    <a:bodyPr/>
                    <a:lstStyle/>
                    <a:p>
                      <a:r>
                        <a:rPr lang="en-US" altLang="en-US" sz="2400" dirty="0"/>
                        <a:t>seizure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TBI</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traumatic brain injury</a:t>
                      </a:r>
                    </a:p>
                  </a:txBody>
                  <a:tcPr/>
                </a:tc>
                <a:extLst>
                  <a:ext uri="{0D108BD9-81ED-4DB2-BD59-A6C34878D82A}">
                    <a16:rowId xmlns:a16="http://schemas.microsoft.com/office/drawing/2014/main" val="10006"/>
                  </a:ext>
                </a:extLst>
              </a:tr>
              <a:tr h="370840">
                <a:tc>
                  <a:txBody>
                    <a:bodyPr/>
                    <a:lstStyle/>
                    <a:p>
                      <a:r>
                        <a:rPr lang="en-US" altLang="en-US" sz="2400" dirty="0"/>
                        <a:t>TENS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transcutaneous electrical nerve stimulation</a:t>
                      </a:r>
                    </a:p>
                  </a:txBody>
                  <a:tcPr/>
                </a:tc>
                <a:extLst>
                  <a:ext uri="{0D108BD9-81ED-4DB2-BD59-A6C34878D82A}">
                    <a16:rowId xmlns:a16="http://schemas.microsoft.com/office/drawing/2014/main" val="10007"/>
                  </a:ext>
                </a:extLst>
              </a:tr>
              <a:tr h="370840">
                <a:tc>
                  <a:txBody>
                    <a:bodyPr/>
                    <a:lstStyle/>
                    <a:p>
                      <a:r>
                        <a:rPr lang="en-US" altLang="en-US" sz="2400" dirty="0"/>
                        <a:t>TIA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transient ischemic attack</a:t>
                      </a:r>
                    </a:p>
                  </a:txBody>
                  <a:tcPr/>
                </a:tc>
                <a:extLst>
                  <a:ext uri="{0D108BD9-81ED-4DB2-BD59-A6C34878D82A}">
                    <a16:rowId xmlns:a16="http://schemas.microsoft.com/office/drawing/2014/main" val="10008"/>
                  </a:ext>
                </a:extLst>
              </a:tr>
              <a:tr h="370840">
                <a:tc>
                  <a:txBody>
                    <a:bodyPr/>
                    <a:lstStyle/>
                    <a:p>
                      <a:r>
                        <a:rPr lang="en-US" altLang="en-US" sz="2400" dirty="0"/>
                        <a:t>TLE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temporal lobe epilepsy</a:t>
                      </a:r>
                    </a:p>
                  </a:txBody>
                  <a:tcPr/>
                </a:tc>
                <a:extLst>
                  <a:ext uri="{0D108BD9-81ED-4DB2-BD59-A6C34878D82A}">
                    <a16:rowId xmlns:a16="http://schemas.microsoft.com/office/drawing/2014/main" val="10009"/>
                  </a:ext>
                </a:extLst>
              </a:tr>
              <a:tr h="370840">
                <a:tc>
                  <a:txBody>
                    <a:bodyPr/>
                    <a:lstStyle/>
                    <a:p>
                      <a:r>
                        <a:rPr lang="en-US" altLang="en-US" sz="2400" dirty="0" err="1"/>
                        <a:t>tPA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tissue plasminogen activator</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713410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Grp="1" noChangeArrowheads="1"/>
          </p:cNvSpPr>
          <p:nvPr>
            <p:ph type="title"/>
          </p:nvPr>
        </p:nvSpPr>
        <p:spPr>
          <a:xfrm>
            <a:off x="838200" y="228600"/>
            <a:ext cx="7772400" cy="1219200"/>
          </a:xfrm>
        </p:spPr>
        <p:txBody>
          <a:bodyPr/>
          <a:lstStyle/>
          <a:p>
            <a:pPr eaLnBrk="1" hangingPunct="1"/>
            <a:r>
              <a:rPr lang="en-US" altLang="en-US"/>
              <a:t>Practical Applications</a:t>
            </a:r>
          </a:p>
        </p:txBody>
      </p:sp>
      <p:sp>
        <p:nvSpPr>
          <p:cNvPr id="87043" name="Rectangle 5"/>
          <p:cNvSpPr>
            <a:spLocks noGrp="1" noChangeArrowheads="1"/>
          </p:cNvSpPr>
          <p:nvPr>
            <p:ph idx="1"/>
          </p:nvPr>
        </p:nvSpPr>
        <p:spPr/>
        <p:txBody>
          <a:bodyPr/>
          <a:lstStyle/>
          <a:p>
            <a:pPr eaLnBrk="1" hangingPunct="1"/>
            <a:r>
              <a:rPr lang="en-US" altLang="en-US"/>
              <a:t>What symptoms signal nervous system problems? </a:t>
            </a:r>
          </a:p>
          <a:p>
            <a:pPr eaLnBrk="1" hangingPunct="1"/>
            <a:r>
              <a:rPr lang="en-US" altLang="en-US"/>
              <a:t>What tests are conducted to diagnose these problems?</a:t>
            </a:r>
          </a:p>
          <a:p>
            <a:pPr eaLnBrk="1" hangingPunct="1"/>
            <a:r>
              <a:rPr lang="en-US" altLang="en-US"/>
              <a:t>Why are an MRI and an MRA ordered?</a:t>
            </a:r>
          </a:p>
          <a:p>
            <a:pPr eaLnBrk="1" hangingPunct="1"/>
            <a:r>
              <a:rPr lang="en-US" altLang="en-US"/>
              <a:t>What are common pathologies of the nervous system?</a:t>
            </a:r>
          </a:p>
        </p:txBody>
      </p:sp>
    </p:spTree>
    <p:extLst>
      <p:ext uri="{BB962C8B-B14F-4D97-AF65-F5344CB8AC3E}">
        <p14:creationId xmlns:p14="http://schemas.microsoft.com/office/powerpoint/2010/main" val="38661277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(Slide 1 of 5)</a:t>
            </a:r>
          </a:p>
        </p:txBody>
      </p:sp>
      <p:graphicFrame>
        <p:nvGraphicFramePr>
          <p:cNvPr id="7" name="Content Placeholder 6" descr="Group 1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85156934"/>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alges</a:t>
                      </a:r>
                      <a:r>
                        <a:rPr lang="en-US" altLang="en-US" sz="2400" b="1" dirty="0"/>
                        <a:t>/o</a:t>
                      </a:r>
                      <a:endParaRPr lang="en-US" sz="2400" dirty="0"/>
                    </a:p>
                  </a:txBody>
                  <a:tcPr/>
                </a:tc>
                <a:tc>
                  <a:txBody>
                    <a:bodyPr/>
                    <a:lstStyle/>
                    <a:p>
                      <a:r>
                        <a:rPr lang="en-US" altLang="en-US" sz="2400" dirty="0"/>
                        <a:t>sensitivity to pain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angi</a:t>
                      </a:r>
                      <a:r>
                        <a:rPr lang="en-US" altLang="en-US" sz="2400" b="1" dirty="0"/>
                        <a:t>/o</a:t>
                      </a:r>
                      <a:endParaRPr lang="en-US" sz="2400" dirty="0"/>
                    </a:p>
                  </a:txBody>
                  <a:tcPr/>
                </a:tc>
                <a:tc>
                  <a:txBody>
                    <a:bodyPr/>
                    <a:lstStyle/>
                    <a:p>
                      <a:r>
                        <a:rPr lang="en-US" altLang="en-US" sz="2400" dirty="0"/>
                        <a:t>vessel, blood</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caus</a:t>
                      </a:r>
                      <a:r>
                        <a:rPr lang="en-US" altLang="en-US" sz="2400" b="1" dirty="0"/>
                        <a:t>/o</a:t>
                      </a:r>
                      <a:endParaRPr lang="en-US" sz="2400" dirty="0"/>
                    </a:p>
                  </a:txBody>
                  <a:tcPr/>
                </a:tc>
                <a:tc>
                  <a:txBody>
                    <a:bodyPr/>
                    <a:lstStyle/>
                    <a:p>
                      <a:r>
                        <a:rPr lang="en-US" altLang="en-US" sz="2400" dirty="0"/>
                        <a:t>burn, burning</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cephal</a:t>
                      </a:r>
                      <a:r>
                        <a:rPr lang="en-US" altLang="en-US" sz="2400" b="1" dirty="0"/>
                        <a:t>/o</a:t>
                      </a:r>
                      <a:endParaRPr lang="en-US" sz="2400" dirty="0"/>
                    </a:p>
                  </a:txBody>
                  <a:tcPr/>
                </a:tc>
                <a:tc>
                  <a:txBody>
                    <a:bodyPr/>
                    <a:lstStyle/>
                    <a:p>
                      <a:r>
                        <a:rPr lang="en-US" altLang="en-US" sz="2400" dirty="0"/>
                        <a:t>head</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cerebell</a:t>
                      </a:r>
                      <a:r>
                        <a:rPr lang="en-US" altLang="en-US" sz="2400" b="1" dirty="0"/>
                        <a:t>/o</a:t>
                      </a:r>
                      <a:endParaRPr lang="en-US" sz="2400" dirty="0"/>
                    </a:p>
                  </a:txBody>
                  <a:tcPr/>
                </a:tc>
                <a:tc>
                  <a:txBody>
                    <a:bodyPr/>
                    <a:lstStyle/>
                    <a:p>
                      <a:r>
                        <a:rPr lang="en-US" altLang="en-US" sz="2400" dirty="0"/>
                        <a:t>cerebellum</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cerebr</a:t>
                      </a:r>
                      <a:r>
                        <a:rPr lang="en-US" altLang="en-US" sz="2400" b="1" dirty="0"/>
                        <a:t>/o</a:t>
                      </a:r>
                      <a:endParaRPr lang="en-US" sz="2400" dirty="0"/>
                    </a:p>
                  </a:txBody>
                  <a:tcPr/>
                </a:tc>
                <a:tc>
                  <a:txBody>
                    <a:bodyPr/>
                    <a:lstStyle/>
                    <a:p>
                      <a:r>
                        <a:rPr lang="en-US" altLang="en-US" sz="2400" dirty="0"/>
                        <a:t>cerebrum</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925766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(Slide 2 of 5)</a:t>
            </a:r>
          </a:p>
        </p:txBody>
      </p:sp>
      <p:graphicFrame>
        <p:nvGraphicFramePr>
          <p:cNvPr id="7" name="Content Placeholder 6" descr="Group 2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433656745"/>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comat</a:t>
                      </a:r>
                      <a:r>
                        <a:rPr lang="en-US" altLang="en-US" sz="2400" b="1" dirty="0"/>
                        <a:t>/o</a:t>
                      </a:r>
                      <a:r>
                        <a:rPr lang="en-US" altLang="en-US" sz="2400" dirty="0"/>
                        <a:t>	</a:t>
                      </a:r>
                      <a:endParaRPr lang="en-US" sz="2400" dirty="0"/>
                    </a:p>
                  </a:txBody>
                  <a:tcPr/>
                </a:tc>
                <a:tc>
                  <a:txBody>
                    <a:bodyPr/>
                    <a:lstStyle/>
                    <a:p>
                      <a:r>
                        <a:rPr lang="en-US" altLang="en-US" sz="2400" dirty="0"/>
                        <a:t>deep sleep</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crani</a:t>
                      </a:r>
                      <a:r>
                        <a:rPr lang="en-US" altLang="en-US" sz="2400" b="1" dirty="0"/>
                        <a:t>/o</a:t>
                      </a:r>
                      <a:endParaRPr lang="en-US" sz="2400" dirty="0"/>
                    </a:p>
                  </a:txBody>
                  <a:tcPr/>
                </a:tc>
                <a:tc>
                  <a:txBody>
                    <a:bodyPr/>
                    <a:lstStyle/>
                    <a:p>
                      <a:r>
                        <a:rPr lang="en-US" altLang="en-US" sz="2400" dirty="0"/>
                        <a:t>skull</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cry/o</a:t>
                      </a:r>
                      <a:endParaRPr lang="en-US" sz="2400" dirty="0"/>
                    </a:p>
                  </a:txBody>
                  <a:tcPr/>
                </a:tc>
                <a:tc>
                  <a:txBody>
                    <a:bodyPr/>
                    <a:lstStyle/>
                    <a:p>
                      <a:r>
                        <a:rPr lang="en-US" altLang="en-US" sz="2400" dirty="0"/>
                        <a:t>cold</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dur</a:t>
                      </a:r>
                      <a:r>
                        <a:rPr lang="en-US" altLang="en-US" sz="2400" b="1" dirty="0"/>
                        <a:t>/o</a:t>
                      </a:r>
                      <a:endParaRPr lang="en-US" sz="2400" dirty="0"/>
                    </a:p>
                  </a:txBody>
                  <a:tcPr/>
                </a:tc>
                <a:tc>
                  <a:txBody>
                    <a:bodyPr/>
                    <a:lstStyle/>
                    <a:p>
                      <a:r>
                        <a:rPr lang="en-US" altLang="en-US" sz="2400" dirty="0" err="1"/>
                        <a:t>dura</a:t>
                      </a:r>
                      <a:r>
                        <a:rPr lang="en-US" altLang="en-US" sz="2400" dirty="0"/>
                        <a:t> mater</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encephal</a:t>
                      </a:r>
                      <a:r>
                        <a:rPr lang="en-US" altLang="en-US" sz="2400" b="1" dirty="0"/>
                        <a:t>/o</a:t>
                      </a:r>
                      <a:endParaRPr lang="en-US" sz="2400" dirty="0"/>
                    </a:p>
                  </a:txBody>
                  <a:tcPr/>
                </a:tc>
                <a:tc>
                  <a:txBody>
                    <a:bodyPr/>
                    <a:lstStyle/>
                    <a:p>
                      <a:r>
                        <a:rPr lang="en-US" altLang="en-US" sz="2400" dirty="0"/>
                        <a:t>brain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esthesi</a:t>
                      </a:r>
                      <a:r>
                        <a:rPr lang="en-US" altLang="en-US" sz="2400" b="1" dirty="0"/>
                        <a:t>/o</a:t>
                      </a:r>
                      <a:endParaRPr lang="en-US" sz="2400" dirty="0"/>
                    </a:p>
                  </a:txBody>
                  <a:tcPr/>
                </a:tc>
                <a:tc>
                  <a:txBody>
                    <a:bodyPr/>
                    <a:lstStyle/>
                    <a:p>
                      <a:r>
                        <a:rPr lang="en-US" altLang="en-US" sz="2400" dirty="0"/>
                        <a:t>nervous sensation</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887729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(Slide 3 of 5)</a:t>
            </a:r>
          </a:p>
        </p:txBody>
      </p:sp>
      <p:graphicFrame>
        <p:nvGraphicFramePr>
          <p:cNvPr id="7" name="Content Placeholder 6" descr="Group 3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374322723"/>
              </p:ext>
            </p:extLst>
          </p:nvPr>
        </p:nvGraphicFramePr>
        <p:xfrm>
          <a:off x="457200" y="1600200"/>
          <a:ext cx="8229600" cy="3657600"/>
        </p:xfrm>
        <a:graphic>
          <a:graphicData uri="http://schemas.openxmlformats.org/drawingml/2006/table">
            <a:tbl>
              <a:tblPr firstRow="1" bandRow="1">
                <a:tableStyleId>{21E4AEA4-8DFA-4A89-87EB-49C32662AFE0}</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gli</a:t>
                      </a:r>
                      <a:r>
                        <a:rPr lang="en-US" sz="2400" b="1" dirty="0"/>
                        <a:t>/o</a:t>
                      </a:r>
                      <a:endParaRPr lang="en-US" sz="2400" dirty="0"/>
                    </a:p>
                  </a:txBody>
                  <a:tcPr/>
                </a:tc>
                <a:tc>
                  <a:txBody>
                    <a:bodyPr/>
                    <a:lstStyle/>
                    <a:p>
                      <a:r>
                        <a:rPr lang="en-US" sz="2400" dirty="0"/>
                        <a:t>glue</a:t>
                      </a:r>
                    </a:p>
                  </a:txBody>
                  <a:tcPr/>
                </a:tc>
                <a:extLst>
                  <a:ext uri="{0D108BD9-81ED-4DB2-BD59-A6C34878D82A}">
                    <a16:rowId xmlns:a16="http://schemas.microsoft.com/office/drawing/2014/main" val="10001"/>
                  </a:ext>
                </a:extLst>
              </a:tr>
              <a:tr h="370840">
                <a:tc>
                  <a:txBody>
                    <a:bodyPr/>
                    <a:lstStyle/>
                    <a:p>
                      <a:r>
                        <a:rPr lang="en-US" sz="2400" b="1" dirty="0" err="1"/>
                        <a:t>hydr</a:t>
                      </a:r>
                      <a:r>
                        <a:rPr lang="en-US" sz="2400" b="1" dirty="0"/>
                        <a:t>/o</a:t>
                      </a:r>
                      <a:endParaRPr lang="en-US" sz="2400" dirty="0"/>
                    </a:p>
                  </a:txBody>
                  <a:tcPr/>
                </a:tc>
                <a:tc>
                  <a:txBody>
                    <a:bodyPr/>
                    <a:lstStyle/>
                    <a:p>
                      <a:r>
                        <a:rPr lang="en-US" sz="2400" dirty="0"/>
                        <a:t>water</a:t>
                      </a:r>
                    </a:p>
                  </a:txBody>
                  <a:tcPr/>
                </a:tc>
                <a:extLst>
                  <a:ext uri="{0D108BD9-81ED-4DB2-BD59-A6C34878D82A}">
                    <a16:rowId xmlns:a16="http://schemas.microsoft.com/office/drawing/2014/main" val="10002"/>
                  </a:ext>
                </a:extLst>
              </a:tr>
              <a:tr h="370840">
                <a:tc>
                  <a:txBody>
                    <a:bodyPr/>
                    <a:lstStyle/>
                    <a:p>
                      <a:r>
                        <a:rPr lang="en-US" sz="2400" b="1" dirty="0" err="1"/>
                        <a:t>kines</a:t>
                      </a:r>
                      <a:r>
                        <a:rPr lang="en-US" sz="2400" b="1" dirty="0"/>
                        <a:t>/o</a:t>
                      </a:r>
                      <a:endParaRPr lang="en-US" sz="2400" dirty="0"/>
                    </a:p>
                  </a:txBody>
                  <a:tcPr/>
                </a:tc>
                <a:tc>
                  <a:txBody>
                    <a:bodyPr/>
                    <a:lstStyle/>
                    <a:p>
                      <a:r>
                        <a:rPr lang="en-US" sz="2400" dirty="0"/>
                        <a:t>movement</a:t>
                      </a:r>
                    </a:p>
                  </a:txBody>
                  <a:tcPr/>
                </a:tc>
                <a:extLst>
                  <a:ext uri="{0D108BD9-81ED-4DB2-BD59-A6C34878D82A}">
                    <a16:rowId xmlns:a16="http://schemas.microsoft.com/office/drawing/2014/main" val="10003"/>
                  </a:ext>
                </a:extLst>
              </a:tr>
              <a:tr h="370840">
                <a:tc>
                  <a:txBody>
                    <a:bodyPr/>
                    <a:lstStyle/>
                    <a:p>
                      <a:r>
                        <a:rPr lang="en-US" sz="2400" b="1" dirty="0" err="1"/>
                        <a:t>lept</a:t>
                      </a:r>
                      <a:r>
                        <a:rPr lang="en-US" sz="2400" b="1" dirty="0"/>
                        <a:t>/o</a:t>
                      </a:r>
                      <a:endParaRPr lang="en-US" sz="2400" dirty="0"/>
                    </a:p>
                  </a:txBody>
                  <a:tcPr/>
                </a:tc>
                <a:tc>
                  <a:txBody>
                    <a:bodyPr/>
                    <a:lstStyle/>
                    <a:p>
                      <a:r>
                        <a:rPr lang="en-US" sz="2400" dirty="0"/>
                        <a:t>thin, slender</a:t>
                      </a:r>
                    </a:p>
                  </a:txBody>
                  <a:tcPr/>
                </a:tc>
                <a:extLst>
                  <a:ext uri="{0D108BD9-81ED-4DB2-BD59-A6C34878D82A}">
                    <a16:rowId xmlns:a16="http://schemas.microsoft.com/office/drawing/2014/main" val="10004"/>
                  </a:ext>
                </a:extLst>
              </a:tr>
              <a:tr h="370840">
                <a:tc>
                  <a:txBody>
                    <a:bodyPr/>
                    <a:lstStyle/>
                    <a:p>
                      <a:r>
                        <a:rPr lang="en-US" sz="2400" b="1" dirty="0" err="1"/>
                        <a:t>lex</a:t>
                      </a:r>
                      <a:r>
                        <a:rPr lang="en-US" sz="2400" b="1" dirty="0"/>
                        <a:t>/o</a:t>
                      </a:r>
                      <a:endParaRPr lang="en-US" sz="2400" dirty="0"/>
                    </a:p>
                  </a:txBody>
                  <a:tcPr/>
                </a:tc>
                <a:tc>
                  <a:txBody>
                    <a:bodyPr/>
                    <a:lstStyle/>
                    <a:p>
                      <a:r>
                        <a:rPr lang="en-US" sz="2400" dirty="0"/>
                        <a:t>word, phrase</a:t>
                      </a:r>
                    </a:p>
                  </a:txBody>
                  <a:tcPr/>
                </a:tc>
                <a:extLst>
                  <a:ext uri="{0D108BD9-81ED-4DB2-BD59-A6C34878D82A}">
                    <a16:rowId xmlns:a16="http://schemas.microsoft.com/office/drawing/2014/main" val="10005"/>
                  </a:ext>
                </a:extLst>
              </a:tr>
              <a:tr h="370840">
                <a:tc>
                  <a:txBody>
                    <a:bodyPr/>
                    <a:lstStyle/>
                    <a:p>
                      <a:r>
                        <a:rPr lang="en-US" sz="2400" b="1" dirty="0" err="1"/>
                        <a:t>mening</a:t>
                      </a:r>
                      <a:r>
                        <a:rPr lang="en-US" sz="2400" b="1" dirty="0"/>
                        <a:t>/o, </a:t>
                      </a:r>
                      <a:r>
                        <a:rPr lang="en-US" sz="2400" b="1" dirty="0" err="1"/>
                        <a:t>meningi</a:t>
                      </a:r>
                      <a:r>
                        <a:rPr lang="en-US" sz="2400" b="1" dirty="0"/>
                        <a:t>/o </a:t>
                      </a:r>
                      <a:endParaRPr lang="en-US" sz="2400" dirty="0"/>
                    </a:p>
                  </a:txBody>
                  <a:tcPr/>
                </a:tc>
                <a:tc>
                  <a:txBody>
                    <a:bodyPr/>
                    <a:lstStyle/>
                    <a:p>
                      <a:r>
                        <a:rPr lang="en-US" sz="2400" dirty="0"/>
                        <a:t>membranes, meninges</a:t>
                      </a:r>
                    </a:p>
                  </a:txBody>
                  <a:tcPr/>
                </a:tc>
                <a:extLst>
                  <a:ext uri="{0D108BD9-81ED-4DB2-BD59-A6C34878D82A}">
                    <a16:rowId xmlns:a16="http://schemas.microsoft.com/office/drawing/2014/main" val="10006"/>
                  </a:ext>
                </a:extLst>
              </a:tr>
              <a:tr h="370840">
                <a:tc>
                  <a:txBody>
                    <a:bodyPr/>
                    <a:lstStyle/>
                    <a:p>
                      <a:r>
                        <a:rPr lang="en-US" sz="2400" b="1" dirty="0"/>
                        <a:t>my/o</a:t>
                      </a:r>
                      <a:endParaRPr lang="en-US" sz="2400" dirty="0"/>
                    </a:p>
                  </a:txBody>
                  <a:tcPr/>
                </a:tc>
                <a:tc>
                  <a:txBody>
                    <a:bodyPr/>
                    <a:lstStyle/>
                    <a:p>
                      <a:r>
                        <a:rPr lang="en-US" sz="2400" dirty="0"/>
                        <a:t>muscle</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517495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(Slide 4 of 5)</a:t>
            </a:r>
          </a:p>
        </p:txBody>
      </p:sp>
      <p:graphicFrame>
        <p:nvGraphicFramePr>
          <p:cNvPr id="7" name="Content Placeholder 6" descr="Group 4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802244067"/>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myel</a:t>
                      </a:r>
                      <a:r>
                        <a:rPr lang="en-US" altLang="en-US" sz="2400" b="1" dirty="0"/>
                        <a:t>/o</a:t>
                      </a:r>
                      <a:endParaRPr lang="en-US" sz="2400" dirty="0"/>
                    </a:p>
                  </a:txBody>
                  <a:tcPr/>
                </a:tc>
                <a:tc>
                  <a:txBody>
                    <a:bodyPr/>
                    <a:lstStyle/>
                    <a:p>
                      <a:r>
                        <a:rPr lang="en-US" altLang="en-US" sz="2400" dirty="0"/>
                        <a:t>spinal cord</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narc/o</a:t>
                      </a:r>
                      <a:endParaRPr lang="en-US" sz="2400" dirty="0"/>
                    </a:p>
                  </a:txBody>
                  <a:tcPr/>
                </a:tc>
                <a:tc>
                  <a:txBody>
                    <a:bodyPr/>
                    <a:lstStyle/>
                    <a:p>
                      <a:r>
                        <a:rPr lang="en-US" altLang="en-US" sz="2400" dirty="0"/>
                        <a:t>sleep</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neur</a:t>
                      </a:r>
                      <a:r>
                        <a:rPr lang="en-US" altLang="en-US" sz="2400" b="1" dirty="0"/>
                        <a:t>/o</a:t>
                      </a:r>
                      <a:endParaRPr lang="en-US" sz="2400" dirty="0"/>
                    </a:p>
                  </a:txBody>
                  <a:tcPr/>
                </a:tc>
                <a:tc>
                  <a:txBody>
                    <a:bodyPr/>
                    <a:lstStyle/>
                    <a:p>
                      <a:r>
                        <a:rPr lang="en-US" altLang="en-US" sz="2400" dirty="0"/>
                        <a:t>nerve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olig</a:t>
                      </a:r>
                      <a:r>
                        <a:rPr lang="en-US" altLang="en-US" sz="2400" b="1" dirty="0"/>
                        <a:t>/o</a:t>
                      </a:r>
                      <a:endParaRPr lang="en-US" sz="2400" dirty="0"/>
                    </a:p>
                  </a:txBody>
                  <a:tcPr/>
                </a:tc>
                <a:tc>
                  <a:txBody>
                    <a:bodyPr/>
                    <a:lstStyle/>
                    <a:p>
                      <a:r>
                        <a:rPr lang="en-US" altLang="en-US" sz="2400" dirty="0"/>
                        <a:t>scanty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pont</a:t>
                      </a:r>
                      <a:r>
                        <a:rPr lang="en-US" altLang="en-US" sz="2400" b="1" dirty="0"/>
                        <a:t>/o</a:t>
                      </a:r>
                      <a:endParaRPr lang="en-US" sz="2400" dirty="0"/>
                    </a:p>
                  </a:txBody>
                  <a:tcPr/>
                </a:tc>
                <a:tc>
                  <a:txBody>
                    <a:bodyPr/>
                    <a:lstStyle/>
                    <a:p>
                      <a:r>
                        <a:rPr lang="en-US" altLang="en-US" sz="2400" dirty="0"/>
                        <a:t>pons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radicul</a:t>
                      </a:r>
                      <a:r>
                        <a:rPr lang="en-US" alt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nerve root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679783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(Slide 5 of 5)</a:t>
            </a:r>
          </a:p>
        </p:txBody>
      </p:sp>
      <p:graphicFrame>
        <p:nvGraphicFramePr>
          <p:cNvPr id="7" name="Content Placeholder 6" descr="Group 5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968727785"/>
              </p:ext>
            </p:extLst>
          </p:nvPr>
        </p:nvGraphicFramePr>
        <p:xfrm>
          <a:off x="457200" y="1600200"/>
          <a:ext cx="8229600" cy="36576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a:t>spin/o</a:t>
                      </a:r>
                      <a:endParaRPr lang="en-US" sz="2400" dirty="0"/>
                    </a:p>
                  </a:txBody>
                  <a:tcPr/>
                </a:tc>
                <a:tc>
                  <a:txBody>
                    <a:bodyPr/>
                    <a:lstStyle/>
                    <a:p>
                      <a:r>
                        <a:rPr lang="en-US" sz="2400" dirty="0"/>
                        <a:t>spine</a:t>
                      </a:r>
                    </a:p>
                  </a:txBody>
                  <a:tcPr/>
                </a:tc>
                <a:extLst>
                  <a:ext uri="{0D108BD9-81ED-4DB2-BD59-A6C34878D82A}">
                    <a16:rowId xmlns:a16="http://schemas.microsoft.com/office/drawing/2014/main" val="10001"/>
                  </a:ext>
                </a:extLst>
              </a:tr>
              <a:tr h="370840">
                <a:tc>
                  <a:txBody>
                    <a:bodyPr/>
                    <a:lstStyle/>
                    <a:p>
                      <a:r>
                        <a:rPr lang="en-US" sz="2400" b="1" dirty="0" err="1"/>
                        <a:t>syncop</a:t>
                      </a:r>
                      <a:r>
                        <a:rPr 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cut off</a:t>
                      </a:r>
                    </a:p>
                  </a:txBody>
                  <a:tcPr/>
                </a:tc>
                <a:extLst>
                  <a:ext uri="{0D108BD9-81ED-4DB2-BD59-A6C34878D82A}">
                    <a16:rowId xmlns:a16="http://schemas.microsoft.com/office/drawing/2014/main" val="10002"/>
                  </a:ext>
                </a:extLst>
              </a:tr>
              <a:tr h="370840">
                <a:tc>
                  <a:txBody>
                    <a:bodyPr/>
                    <a:lstStyle/>
                    <a:p>
                      <a:r>
                        <a:rPr lang="en-US" sz="2400" b="1" dirty="0"/>
                        <a:t>tax/o</a:t>
                      </a:r>
                      <a:endParaRPr lang="en-US" sz="2400" dirty="0"/>
                    </a:p>
                  </a:txBody>
                  <a:tcPr/>
                </a:tc>
                <a:tc>
                  <a:txBody>
                    <a:bodyPr/>
                    <a:lstStyle/>
                    <a:p>
                      <a:r>
                        <a:rPr lang="en-US" sz="2400" dirty="0"/>
                        <a:t>order</a:t>
                      </a:r>
                    </a:p>
                  </a:txBody>
                  <a:tcPr/>
                </a:tc>
                <a:extLst>
                  <a:ext uri="{0D108BD9-81ED-4DB2-BD59-A6C34878D82A}">
                    <a16:rowId xmlns:a16="http://schemas.microsoft.com/office/drawing/2014/main" val="10003"/>
                  </a:ext>
                </a:extLst>
              </a:tr>
              <a:tr h="370840">
                <a:tc>
                  <a:txBody>
                    <a:bodyPr/>
                    <a:lstStyle/>
                    <a:p>
                      <a:r>
                        <a:rPr lang="en-US" sz="2400" b="1" dirty="0" err="1"/>
                        <a:t>thalam</a:t>
                      </a:r>
                      <a:r>
                        <a:rPr lang="en-US" sz="2400" b="1" dirty="0"/>
                        <a:t>/o</a:t>
                      </a:r>
                      <a:endParaRPr lang="en-US" sz="2400" dirty="0"/>
                    </a:p>
                  </a:txBody>
                  <a:tcPr/>
                </a:tc>
                <a:tc>
                  <a:txBody>
                    <a:bodyPr/>
                    <a:lstStyle/>
                    <a:p>
                      <a:r>
                        <a:rPr lang="en-US" sz="2400" dirty="0"/>
                        <a:t>thalamus</a:t>
                      </a:r>
                    </a:p>
                  </a:txBody>
                  <a:tcPr/>
                </a:tc>
                <a:extLst>
                  <a:ext uri="{0D108BD9-81ED-4DB2-BD59-A6C34878D82A}">
                    <a16:rowId xmlns:a16="http://schemas.microsoft.com/office/drawing/2014/main" val="10004"/>
                  </a:ext>
                </a:extLst>
              </a:tr>
              <a:tr h="370840">
                <a:tc>
                  <a:txBody>
                    <a:bodyPr/>
                    <a:lstStyle/>
                    <a:p>
                      <a:r>
                        <a:rPr lang="en-US" sz="2400" b="1" dirty="0" err="1"/>
                        <a:t>thec</a:t>
                      </a:r>
                      <a:r>
                        <a:rPr 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sheath (refers to meninges)</a:t>
                      </a:r>
                    </a:p>
                  </a:txBody>
                  <a:tcPr/>
                </a:tc>
                <a:extLst>
                  <a:ext uri="{0D108BD9-81ED-4DB2-BD59-A6C34878D82A}">
                    <a16:rowId xmlns:a16="http://schemas.microsoft.com/office/drawing/2014/main" val="10005"/>
                  </a:ext>
                </a:extLst>
              </a:tr>
              <a:tr h="370840">
                <a:tc>
                  <a:txBody>
                    <a:bodyPr/>
                    <a:lstStyle/>
                    <a:p>
                      <a:r>
                        <a:rPr lang="en-US" sz="2400" b="1" dirty="0" err="1"/>
                        <a:t>troph</a:t>
                      </a:r>
                      <a:r>
                        <a:rPr lang="en-US" sz="2400" b="1" dirty="0"/>
                        <a:t>/o</a:t>
                      </a:r>
                      <a:endParaRPr lang="en-US" sz="2400" dirty="0"/>
                    </a:p>
                  </a:txBody>
                  <a:tcPr/>
                </a:tc>
                <a:tc>
                  <a:txBody>
                    <a:bodyPr/>
                    <a:lstStyle/>
                    <a:p>
                      <a:r>
                        <a:rPr lang="en-US" sz="2400" dirty="0"/>
                        <a:t>nourishment</a:t>
                      </a:r>
                    </a:p>
                  </a:txBody>
                  <a:tcPr/>
                </a:tc>
                <a:extLst>
                  <a:ext uri="{0D108BD9-81ED-4DB2-BD59-A6C34878D82A}">
                    <a16:rowId xmlns:a16="http://schemas.microsoft.com/office/drawing/2014/main" val="10006"/>
                  </a:ext>
                </a:extLst>
              </a:tr>
              <a:tr h="370840">
                <a:tc>
                  <a:txBody>
                    <a:bodyPr/>
                    <a:lstStyle/>
                    <a:p>
                      <a:r>
                        <a:rPr lang="en-US" sz="2400" b="1" dirty="0" err="1"/>
                        <a:t>vag</a:t>
                      </a:r>
                      <a:r>
                        <a:rPr lang="en-US" sz="2400" b="1" dirty="0"/>
                        <a:t>/o</a:t>
                      </a:r>
                      <a:endParaRPr lang="en-US" sz="2400" dirty="0"/>
                    </a:p>
                  </a:txBody>
                  <a:tcPr/>
                </a:tc>
                <a:tc>
                  <a:txBody>
                    <a:bodyPr/>
                    <a:lstStyle/>
                    <a:p>
                      <a:r>
                        <a:rPr lang="en-US" sz="2400" dirty="0" err="1"/>
                        <a:t>vagus</a:t>
                      </a:r>
                      <a:r>
                        <a:rPr lang="en-US" sz="2400" dirty="0"/>
                        <a:t> nerve</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55636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4260</TotalTime>
  <Words>3981</Words>
  <Application>Microsoft Office PowerPoint</Application>
  <PresentationFormat>On-screen Show (4:3)</PresentationFormat>
  <Paragraphs>788</Paragraphs>
  <Slides>88</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88</vt:i4>
      </vt:variant>
    </vt:vector>
  </HeadingPairs>
  <TitlesOfParts>
    <vt:vector size="94" baseType="lpstr">
      <vt:lpstr>Arial</vt:lpstr>
      <vt:lpstr>Calibri</vt:lpstr>
      <vt:lpstr>Times New Roman</vt:lpstr>
      <vt:lpstr>Wingdings</vt:lpstr>
      <vt:lpstr>Wingdings 2</vt:lpstr>
      <vt:lpstr>Office Theme</vt:lpstr>
      <vt:lpstr>The Language of Medicine 13th edition</vt:lpstr>
      <vt:lpstr>Chapter 10 Nervous System</vt:lpstr>
      <vt:lpstr>Chapter Goals (Slide 1 of 2)</vt:lpstr>
      <vt:lpstr>Chapter Goals (Slide 2 of 2)</vt:lpstr>
      <vt:lpstr>Chapter 10 Lesson 10.1</vt:lpstr>
      <vt:lpstr>Introduction (Slide 1 of 2)</vt:lpstr>
      <vt:lpstr>Introduction (Slide 2 of 2)</vt:lpstr>
      <vt:lpstr>General Structure of the  Nervous System (Slide 1 of 3) </vt:lpstr>
      <vt:lpstr>General Structure of the  Nervous System (Slide 2 of 3)</vt:lpstr>
      <vt:lpstr>General Structure of the  Nervous System (Slide 3 of 3)</vt:lpstr>
      <vt:lpstr>Divisions of the Central and  Peripheral Nervous System </vt:lpstr>
      <vt:lpstr>Neurons, Nerves, and Glia (slide 1 of 5)</vt:lpstr>
      <vt:lpstr>Neurons, Nerves, and Glia (slide 2 of 5)</vt:lpstr>
      <vt:lpstr>Neurons, Nerves, and Glia (slide 3 of 5)</vt:lpstr>
      <vt:lpstr>Neurons, Nerves, and Glia (slide 4 of 5)</vt:lpstr>
      <vt:lpstr>Neurons, Nerves, and Glia (slide 5 of 5)</vt:lpstr>
      <vt:lpstr>Chapter 10 Lesson 10.2</vt:lpstr>
      <vt:lpstr>The Brain (slide 1 of 7)</vt:lpstr>
      <vt:lpstr>The Brain (slide 2 of 7)</vt:lpstr>
      <vt:lpstr>The Brain (slide 3 of 7)</vt:lpstr>
      <vt:lpstr>The Brain (slide 4 of 7)</vt:lpstr>
      <vt:lpstr>The Brain (slide 5 of 7)</vt:lpstr>
      <vt:lpstr>The Brain (slide 6 of 7)</vt:lpstr>
      <vt:lpstr>The Brain (slide 7 of 7)</vt:lpstr>
      <vt:lpstr>The Spinal Cord</vt:lpstr>
      <vt:lpstr>Meninges (slide 1 of 2)</vt:lpstr>
      <vt:lpstr>Meninges (slide 2 of 2)</vt:lpstr>
      <vt:lpstr>Vocabulary (Slide 1 of 34)</vt:lpstr>
      <vt:lpstr>Vocabulary (Slide 2 of 34)</vt:lpstr>
      <vt:lpstr>Vocabulary (Slide 3 of 34)</vt:lpstr>
      <vt:lpstr>Vocabulary (Slide 4 of 34)</vt:lpstr>
      <vt:lpstr>Vocabulary (Slide 5 of 34)</vt:lpstr>
      <vt:lpstr>Vocabulary (Slide 6 of 34)</vt:lpstr>
      <vt:lpstr>Vocabulary (Slide 7 of 34)</vt:lpstr>
      <vt:lpstr>Vocabulary (Slide 8 of 34)</vt:lpstr>
      <vt:lpstr>Vocabulary (Slide 9 of 34)</vt:lpstr>
      <vt:lpstr>Vocabulary (Slide 10 of 34)</vt:lpstr>
      <vt:lpstr>Vocabulary (Slide 11 of 34)</vt:lpstr>
      <vt:lpstr>Vocabulary (Slide 12 of 34)</vt:lpstr>
      <vt:lpstr>Vocabulary (Slide 13 of 34)</vt:lpstr>
      <vt:lpstr>Vocabulary (Slide 14 of 34)</vt:lpstr>
      <vt:lpstr>Vocabulary (Slide 15 of 34)</vt:lpstr>
      <vt:lpstr>Vocabulary (Slide 16 of 34)</vt:lpstr>
      <vt:lpstr>Vocabulary (Slide 17 of 34)</vt:lpstr>
      <vt:lpstr>Vocabulary (Slide 18 of 34)</vt:lpstr>
      <vt:lpstr>Vocabulary (Slide 19 of 34)</vt:lpstr>
      <vt:lpstr>Vocabulary (Slide 20 of 34)</vt:lpstr>
      <vt:lpstr>Vocabulary (Slide 21 of 34)</vt:lpstr>
      <vt:lpstr>Vocabulary (Slide 22 of 34)</vt:lpstr>
      <vt:lpstr>Vocabulary (Slide 23 of 34)</vt:lpstr>
      <vt:lpstr>Vocabulary (Slide 24 of 34)</vt:lpstr>
      <vt:lpstr>Vocabulary (Slide 25 of 34)</vt:lpstr>
      <vt:lpstr>Vocabulary (Slide 26 of 34)</vt:lpstr>
      <vt:lpstr>Vocabulary (Slide 27 of 34)</vt:lpstr>
      <vt:lpstr>Vocabulary (Slide 28 of 34)</vt:lpstr>
      <vt:lpstr>Vocabulary (Slide 29 of 34)</vt:lpstr>
      <vt:lpstr>Vocabulary (Slide 30 of 34)</vt:lpstr>
      <vt:lpstr>Vocabulary (Slide 31 of 34)</vt:lpstr>
      <vt:lpstr>Vocabulary (Slide 32 of 34)</vt:lpstr>
      <vt:lpstr>Vocabulary (Slide 33 of 34)</vt:lpstr>
      <vt:lpstr>Vocabulary (Slide 34 of 34)</vt:lpstr>
      <vt:lpstr>      QUICK QUIZ (Slide 1 of 4) </vt:lpstr>
      <vt:lpstr>         QUICK QUIZ (Slide 2 of 4) </vt:lpstr>
      <vt:lpstr>Terminology – Organs and Structures (Slide 1 of 3)</vt:lpstr>
      <vt:lpstr>Terminology – Organs and Structures (Slide 2 of 3)</vt:lpstr>
      <vt:lpstr>Terminology – Organs and Structures (Slide 3 of 3)</vt:lpstr>
      <vt:lpstr>Terminology – Signs and Symptoms (Slide 1 of 3)</vt:lpstr>
      <vt:lpstr>Terminology – Signs and Symptoms (Slide 2 of 3)</vt:lpstr>
      <vt:lpstr>Terminology – Signs and Symptoms (Slide 3 of 3)</vt:lpstr>
      <vt:lpstr>      QUICK QUIZ (Slide 3 of 4)</vt:lpstr>
      <vt:lpstr>      QUICK QUIZ (Slide 4 of 4) </vt:lpstr>
      <vt:lpstr>Chapter 10 Lesson 10.3</vt:lpstr>
      <vt:lpstr>Pathology</vt:lpstr>
      <vt:lpstr>Degenerative Movement,  and Seizure Disorders</vt:lpstr>
      <vt:lpstr>Infectious Disorders</vt:lpstr>
      <vt:lpstr>Traumatic Disorders</vt:lpstr>
      <vt:lpstr>Vascular Disorders (slide 1 of 2)</vt:lpstr>
      <vt:lpstr>Vascular Disorders (slide 2 of 2)</vt:lpstr>
      <vt:lpstr>Clinical Procedures</vt:lpstr>
      <vt:lpstr>Abbreviations (Slide 1 of 3)</vt:lpstr>
      <vt:lpstr>Abbreviations (Slide 2 of 3)</vt:lpstr>
      <vt:lpstr>Abbreviations (Slide 3 of 3)</vt:lpstr>
      <vt:lpstr>Practical Applications</vt:lpstr>
      <vt:lpstr>Review Sheet (Slide 1 of 5)</vt:lpstr>
      <vt:lpstr>Review Sheet (Slide 2 of 5)</vt:lpstr>
      <vt:lpstr>Review Sheet (Slide 3 of 5)</vt:lpstr>
      <vt:lpstr>Review Sheet (Slide 4 of 5)</vt:lpstr>
      <vt:lpstr>Review Sheet (Slide 5 of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297</cp:revision>
  <cp:lastPrinted>2007-04-13T22:20:09Z</cp:lastPrinted>
  <dcterms:created xsi:type="dcterms:W3CDTF">2004-11-01T16:15:23Z</dcterms:created>
  <dcterms:modified xsi:type="dcterms:W3CDTF">2023-12-07T04:13:21Z</dcterms:modified>
</cp:coreProperties>
</file>