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79"/>
  </p:notesMasterIdLst>
  <p:handoutMasterIdLst>
    <p:handoutMasterId r:id="rId80"/>
  </p:handoutMasterIdLst>
  <p:sldIdLst>
    <p:sldId id="332" r:id="rId2"/>
    <p:sldId id="338" r:id="rId3"/>
    <p:sldId id="339" r:id="rId4"/>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361" r:id="rId26"/>
    <p:sldId id="362" r:id="rId27"/>
    <p:sldId id="363" r:id="rId28"/>
    <p:sldId id="364" r:id="rId29"/>
    <p:sldId id="365" r:id="rId30"/>
    <p:sldId id="366" r:id="rId31"/>
    <p:sldId id="367" r:id="rId32"/>
    <p:sldId id="368" r:id="rId33"/>
    <p:sldId id="369" r:id="rId34"/>
    <p:sldId id="370" r:id="rId35"/>
    <p:sldId id="371" r:id="rId36"/>
    <p:sldId id="372" r:id="rId37"/>
    <p:sldId id="373" r:id="rId38"/>
    <p:sldId id="374" r:id="rId39"/>
    <p:sldId id="375" r:id="rId40"/>
    <p:sldId id="376" r:id="rId41"/>
    <p:sldId id="377" r:id="rId42"/>
    <p:sldId id="378" r:id="rId43"/>
    <p:sldId id="380" r:id="rId44"/>
    <p:sldId id="381" r:id="rId45"/>
    <p:sldId id="382" r:id="rId46"/>
    <p:sldId id="383" r:id="rId47"/>
    <p:sldId id="384" r:id="rId48"/>
    <p:sldId id="385" r:id="rId49"/>
    <p:sldId id="386" r:id="rId50"/>
    <p:sldId id="387" r:id="rId51"/>
    <p:sldId id="388" r:id="rId52"/>
    <p:sldId id="389" r:id="rId53"/>
    <p:sldId id="390" r:id="rId54"/>
    <p:sldId id="391" r:id="rId55"/>
    <p:sldId id="393" r:id="rId56"/>
    <p:sldId id="394" r:id="rId57"/>
    <p:sldId id="395" r:id="rId58"/>
    <p:sldId id="397" r:id="rId59"/>
    <p:sldId id="398" r:id="rId60"/>
    <p:sldId id="399" r:id="rId61"/>
    <p:sldId id="400" r:id="rId62"/>
    <p:sldId id="401" r:id="rId63"/>
    <p:sldId id="402" r:id="rId64"/>
    <p:sldId id="403" r:id="rId65"/>
    <p:sldId id="404" r:id="rId66"/>
    <p:sldId id="405" r:id="rId67"/>
    <p:sldId id="406" r:id="rId68"/>
    <p:sldId id="407" r:id="rId69"/>
    <p:sldId id="408" r:id="rId70"/>
    <p:sldId id="409" r:id="rId71"/>
    <p:sldId id="410" r:id="rId72"/>
    <p:sldId id="411" r:id="rId73"/>
    <p:sldId id="412" r:id="rId74"/>
    <p:sldId id="413" r:id="rId75"/>
    <p:sldId id="414" r:id="rId76"/>
    <p:sldId id="415" r:id="rId77"/>
    <p:sldId id="416" r:id="rId7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51" d="100"/>
          <a:sy n="51" d="100"/>
        </p:scale>
        <p:origin x="1496"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B41413F6-CBFC-4678-B1F2-189E944F2652}"/>
    <pc:docChg chg="modSld modMainMaster">
      <pc:chgData name="Ben Pfeifer" userId="fb68dd40a6c6cee7" providerId="LiveId" clId="{B41413F6-CBFC-4678-B1F2-189E944F2652}" dt="2023-09-26T08:57:03.501" v="13" actId="12385"/>
      <pc:docMkLst>
        <pc:docMk/>
      </pc:docMkLst>
      <pc:sldChg chg="modSp mod">
        <pc:chgData name="Ben Pfeifer" userId="fb68dd40a6c6cee7" providerId="LiveId" clId="{B41413F6-CBFC-4678-B1F2-189E944F2652}" dt="2023-09-26T08:54:55.958" v="1" actId="20577"/>
        <pc:sldMkLst>
          <pc:docMk/>
          <pc:sldMk cId="1428288934" sldId="332"/>
        </pc:sldMkLst>
        <pc:spChg chg="mod">
          <ac:chgData name="Ben Pfeifer" userId="fb68dd40a6c6cee7" providerId="LiveId" clId="{B41413F6-CBFC-4678-B1F2-189E944F2652}" dt="2023-09-26T08:54:55.958" v="1" actId="20577"/>
          <ac:spMkLst>
            <pc:docMk/>
            <pc:sldMk cId="1428288934" sldId="332"/>
            <ac:spMk id="2" creationId="{00000000-0000-0000-0000-000000000000}"/>
          </ac:spMkLst>
        </pc:spChg>
      </pc:sldChg>
      <pc:sldChg chg="modSp mod">
        <pc:chgData name="Ben Pfeifer" userId="fb68dd40a6c6cee7" providerId="LiveId" clId="{B41413F6-CBFC-4678-B1F2-189E944F2652}" dt="2023-09-26T08:56:46.661" v="7" actId="12385"/>
        <pc:sldMkLst>
          <pc:docMk/>
          <pc:sldMk cId="4155223129" sldId="369"/>
        </pc:sldMkLst>
        <pc:graphicFrameChg chg="modGraphic">
          <ac:chgData name="Ben Pfeifer" userId="fb68dd40a6c6cee7" providerId="LiveId" clId="{B41413F6-CBFC-4678-B1F2-189E944F2652}" dt="2023-09-26T08:56:46.661" v="7" actId="12385"/>
          <ac:graphicFrameMkLst>
            <pc:docMk/>
            <pc:sldMk cId="4155223129" sldId="369"/>
            <ac:graphicFrameMk id="8" creationId="{00000000-0000-0000-0000-000000000000}"/>
          </ac:graphicFrameMkLst>
        </pc:graphicFrameChg>
      </pc:sldChg>
      <pc:sldChg chg="modSp mod">
        <pc:chgData name="Ben Pfeifer" userId="fb68dd40a6c6cee7" providerId="LiveId" clId="{B41413F6-CBFC-4678-B1F2-189E944F2652}" dt="2023-09-26T08:56:49.279" v="8" actId="12385"/>
        <pc:sldMkLst>
          <pc:docMk/>
          <pc:sldMk cId="2557389173" sldId="370"/>
        </pc:sldMkLst>
        <pc:graphicFrameChg chg="modGraphic">
          <ac:chgData name="Ben Pfeifer" userId="fb68dd40a6c6cee7" providerId="LiveId" clId="{B41413F6-CBFC-4678-B1F2-189E944F2652}" dt="2023-09-26T08:56:49.279" v="8" actId="12385"/>
          <ac:graphicFrameMkLst>
            <pc:docMk/>
            <pc:sldMk cId="2557389173" sldId="370"/>
            <ac:graphicFrameMk id="8" creationId="{00000000-0000-0000-0000-000000000000}"/>
          </ac:graphicFrameMkLst>
        </pc:graphicFrameChg>
      </pc:sldChg>
      <pc:sldChg chg="modSp mod">
        <pc:chgData name="Ben Pfeifer" userId="fb68dd40a6c6cee7" providerId="LiveId" clId="{B41413F6-CBFC-4678-B1F2-189E944F2652}" dt="2023-09-26T08:56:51.943" v="9" actId="12385"/>
        <pc:sldMkLst>
          <pc:docMk/>
          <pc:sldMk cId="477279599" sldId="371"/>
        </pc:sldMkLst>
        <pc:graphicFrameChg chg="modGraphic">
          <ac:chgData name="Ben Pfeifer" userId="fb68dd40a6c6cee7" providerId="LiveId" clId="{B41413F6-CBFC-4678-B1F2-189E944F2652}" dt="2023-09-26T08:56:51.943" v="9" actId="12385"/>
          <ac:graphicFrameMkLst>
            <pc:docMk/>
            <pc:sldMk cId="477279599" sldId="371"/>
            <ac:graphicFrameMk id="8" creationId="{00000000-0000-0000-0000-000000000000}"/>
          </ac:graphicFrameMkLst>
        </pc:graphicFrameChg>
      </pc:sldChg>
      <pc:sldChg chg="modSp mod">
        <pc:chgData name="Ben Pfeifer" userId="fb68dd40a6c6cee7" providerId="LiveId" clId="{B41413F6-CBFC-4678-B1F2-189E944F2652}" dt="2023-09-26T08:56:55.420" v="10" actId="12385"/>
        <pc:sldMkLst>
          <pc:docMk/>
          <pc:sldMk cId="2375857443" sldId="372"/>
        </pc:sldMkLst>
        <pc:graphicFrameChg chg="modGraphic">
          <ac:chgData name="Ben Pfeifer" userId="fb68dd40a6c6cee7" providerId="LiveId" clId="{B41413F6-CBFC-4678-B1F2-189E944F2652}" dt="2023-09-26T08:56:55.420" v="10" actId="12385"/>
          <ac:graphicFrameMkLst>
            <pc:docMk/>
            <pc:sldMk cId="2375857443" sldId="372"/>
            <ac:graphicFrameMk id="8" creationId="{00000000-0000-0000-0000-000000000000}"/>
          </ac:graphicFrameMkLst>
        </pc:graphicFrameChg>
      </pc:sldChg>
      <pc:sldChg chg="modSp mod">
        <pc:chgData name="Ben Pfeifer" userId="fb68dd40a6c6cee7" providerId="LiveId" clId="{B41413F6-CBFC-4678-B1F2-189E944F2652}" dt="2023-09-26T08:56:57.553" v="11" actId="12385"/>
        <pc:sldMkLst>
          <pc:docMk/>
          <pc:sldMk cId="1086534298" sldId="373"/>
        </pc:sldMkLst>
        <pc:graphicFrameChg chg="modGraphic">
          <ac:chgData name="Ben Pfeifer" userId="fb68dd40a6c6cee7" providerId="LiveId" clId="{B41413F6-CBFC-4678-B1F2-189E944F2652}" dt="2023-09-26T08:56:57.553" v="11" actId="12385"/>
          <ac:graphicFrameMkLst>
            <pc:docMk/>
            <pc:sldMk cId="1086534298" sldId="373"/>
            <ac:graphicFrameMk id="8" creationId="{00000000-0000-0000-0000-000000000000}"/>
          </ac:graphicFrameMkLst>
        </pc:graphicFrameChg>
      </pc:sldChg>
      <pc:sldChg chg="modSp mod">
        <pc:chgData name="Ben Pfeifer" userId="fb68dd40a6c6cee7" providerId="LiveId" clId="{B41413F6-CBFC-4678-B1F2-189E944F2652}" dt="2023-09-26T08:57:00.367" v="12" actId="12385"/>
        <pc:sldMkLst>
          <pc:docMk/>
          <pc:sldMk cId="1703096480" sldId="401"/>
        </pc:sldMkLst>
        <pc:graphicFrameChg chg="modGraphic">
          <ac:chgData name="Ben Pfeifer" userId="fb68dd40a6c6cee7" providerId="LiveId" clId="{B41413F6-CBFC-4678-B1F2-189E944F2652}" dt="2023-09-26T08:57:00.367" v="12" actId="12385"/>
          <ac:graphicFrameMkLst>
            <pc:docMk/>
            <pc:sldMk cId="1703096480" sldId="401"/>
            <ac:graphicFrameMk id="7" creationId="{00000000-0000-0000-0000-000000000000}"/>
          </ac:graphicFrameMkLst>
        </pc:graphicFrameChg>
      </pc:sldChg>
      <pc:sldChg chg="modSp mod">
        <pc:chgData name="Ben Pfeifer" userId="fb68dd40a6c6cee7" providerId="LiveId" clId="{B41413F6-CBFC-4678-B1F2-189E944F2652}" dt="2023-09-26T08:57:03.501" v="13" actId="12385"/>
        <pc:sldMkLst>
          <pc:docMk/>
          <pc:sldMk cId="914580966" sldId="402"/>
        </pc:sldMkLst>
        <pc:graphicFrameChg chg="modGraphic">
          <ac:chgData name="Ben Pfeifer" userId="fb68dd40a6c6cee7" providerId="LiveId" clId="{B41413F6-CBFC-4678-B1F2-189E944F2652}" dt="2023-09-26T08:57:03.501" v="13" actId="12385"/>
          <ac:graphicFrameMkLst>
            <pc:docMk/>
            <pc:sldMk cId="914580966" sldId="402"/>
            <ac:graphicFrameMk id="7" creationId="{00000000-0000-0000-0000-000000000000}"/>
          </ac:graphicFrameMkLst>
        </pc:graphicFrameChg>
      </pc:sldChg>
      <pc:sldMasterChg chg="modSp mod">
        <pc:chgData name="Ben Pfeifer" userId="fb68dd40a6c6cee7" providerId="LiveId" clId="{B41413F6-CBFC-4678-B1F2-189E944F2652}" dt="2023-09-26T08:55:24.878" v="6" actId="20577"/>
        <pc:sldMasterMkLst>
          <pc:docMk/>
          <pc:sldMasterMk cId="0" sldId="2147483762"/>
        </pc:sldMasterMkLst>
        <pc:spChg chg="mod">
          <ac:chgData name="Ben Pfeifer" userId="fb68dd40a6c6cee7" providerId="LiveId" clId="{B41413F6-CBFC-4678-B1F2-189E944F2652}" dt="2023-09-26T08:55:24.878" v="6"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4875CE0-1C5D-48DA-B6F7-70B49D8CB71C}" type="slidenum">
              <a:rPr lang="en-US" altLang="en-US" sz="1200"/>
              <a:pPr/>
              <a:t>2</a:t>
            </a:fld>
            <a:endParaRPr lang="en-US" altLang="en-US" sz="120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776715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FC9BB23-44BD-4FB5-8F8A-B31E98E61873}" type="slidenum">
              <a:rPr lang="en-US" altLang="en-US" sz="1200"/>
              <a:pPr/>
              <a:t>3</a:t>
            </a:fld>
            <a:endParaRPr lang="en-US" altLang="en-US" sz="12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54832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5F18874-A0F1-4645-A158-436254490BB6}" type="slidenum">
              <a:rPr lang="en-US" altLang="en-US" sz="1200"/>
              <a:pPr/>
              <a:t>4</a:t>
            </a:fld>
            <a:endParaRPr lang="en-US" altLang="en-US" sz="120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721651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7F32B04-E04C-498E-BE46-2772B8F791AA}" type="slidenum">
              <a:rPr lang="en-US" altLang="en-US" sz="1200"/>
              <a:pPr/>
              <a:t>5</a:t>
            </a:fld>
            <a:endParaRPr lang="en-US" altLang="en-US" sz="120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264295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DA097A6-9D89-4D27-8752-4225C5C5A865}" type="slidenum">
              <a:rPr lang="en-US" altLang="en-US" sz="1200"/>
              <a:pPr/>
              <a:t>6</a:t>
            </a:fld>
            <a:endParaRPr lang="en-US" altLang="en-US" sz="120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tissues can you predict will be integrated into this organ system? </a:t>
            </a:r>
          </a:p>
          <a:p>
            <a:pPr eaLnBrk="1" hangingPunct="1">
              <a:buFontTx/>
              <a:buChar char="•"/>
            </a:pPr>
            <a:r>
              <a:rPr lang="en-US" altLang="en-US">
                <a:latin typeface="Times New Roman" panose="02020603050405020304" pitchFamily="18" charset="0"/>
              </a:rPr>
              <a:t> What are the unique qualities of epithelium that make it a suitable tissue for covering the body? </a:t>
            </a:r>
          </a:p>
          <a:p>
            <a:pPr eaLnBrk="1" hangingPunct="1">
              <a:buFontTx/>
              <a:buChar char="•"/>
            </a:pPr>
            <a:r>
              <a:rPr lang="en-US" altLang="en-US">
                <a:latin typeface="Times New Roman" panose="02020603050405020304" pitchFamily="18" charset="0"/>
              </a:rPr>
              <a:t> How is the epithelium on the </a:t>
            </a:r>
            <a:r>
              <a:rPr lang="ja-JP" altLang="en-US">
                <a:latin typeface="Times New Roman" panose="02020603050405020304" pitchFamily="18" charset="0"/>
              </a:rPr>
              <a:t>“</a:t>
            </a:r>
            <a:r>
              <a:rPr lang="en-US" altLang="ja-JP">
                <a:latin typeface="Times New Roman" panose="02020603050405020304" pitchFamily="18" charset="0"/>
              </a:rPr>
              <a:t>outside</a:t>
            </a:r>
            <a:r>
              <a:rPr lang="ja-JP" altLang="en-US">
                <a:latin typeface="Times New Roman" panose="02020603050405020304" pitchFamily="18" charset="0"/>
              </a:rPr>
              <a:t>”</a:t>
            </a:r>
            <a:r>
              <a:rPr lang="en-US" altLang="ja-JP">
                <a:latin typeface="Times New Roman" panose="02020603050405020304" pitchFamily="18" charset="0"/>
              </a:rPr>
              <a:t> (part of the skin) similar to that on the inside of the body?</a:t>
            </a:r>
            <a:endParaRPr lang="en-US" altLang="en-US">
              <a:latin typeface="Times New Roman" panose="02020603050405020304" pitchFamily="18" charset="0"/>
            </a:endParaRPr>
          </a:p>
        </p:txBody>
      </p:sp>
    </p:spTree>
    <p:extLst>
      <p:ext uri="{BB962C8B-B14F-4D97-AF65-F5344CB8AC3E}">
        <p14:creationId xmlns:p14="http://schemas.microsoft.com/office/powerpoint/2010/main" val="2304063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CFEEA61-CEE1-4099-82B6-89AD0A45DEA2}" type="slidenum">
              <a:rPr lang="en-US" altLang="en-US" sz="1200"/>
              <a:pPr/>
              <a:t>7</a:t>
            </a:fld>
            <a:endParaRPr lang="en-US" altLang="en-US" sz="120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Have students define </a:t>
            </a:r>
            <a:r>
              <a:rPr lang="en-US" altLang="en-US" i="1">
                <a:latin typeface="Times New Roman" panose="02020603050405020304" pitchFamily="18" charset="0"/>
              </a:rPr>
              <a:t>desiccation</a:t>
            </a:r>
            <a:r>
              <a:rPr lang="en-US" altLang="en-US">
                <a:latin typeface="Times New Roman" panose="02020603050405020304" pitchFamily="18" charset="0"/>
              </a:rPr>
              <a:t>. Ask them to list three ways that skin guards against desiccation. </a:t>
            </a:r>
          </a:p>
          <a:p>
            <a:pPr eaLnBrk="1" hangingPunct="1">
              <a:buFontTx/>
              <a:buChar char="•"/>
            </a:pPr>
            <a:r>
              <a:rPr lang="en-US" altLang="en-US">
                <a:latin typeface="Times New Roman" panose="02020603050405020304" pitchFamily="18" charset="0"/>
              </a:rPr>
              <a:t> How does the skin guard against acidic secretions? </a:t>
            </a:r>
          </a:p>
        </p:txBody>
      </p:sp>
    </p:spTree>
    <p:extLst>
      <p:ext uri="{BB962C8B-B14F-4D97-AF65-F5344CB8AC3E}">
        <p14:creationId xmlns:p14="http://schemas.microsoft.com/office/powerpoint/2010/main" val="1007744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4D6A926-5240-4BB4-98ED-F7A244D9745A}" type="slidenum">
              <a:rPr lang="en-US" altLang="en-US" sz="1200"/>
              <a:pPr/>
              <a:t>8</a:t>
            </a:fld>
            <a:endParaRPr lang="en-US" altLang="en-US" sz="120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Ask the students to define the word </a:t>
            </a:r>
            <a:r>
              <a:rPr lang="en-US" altLang="en-US" i="1">
                <a:latin typeface="Times New Roman" panose="02020603050405020304" pitchFamily="18" charset="0"/>
              </a:rPr>
              <a:t>thermoregulate</a:t>
            </a:r>
            <a:r>
              <a:rPr lang="en-US" altLang="en-US">
                <a:latin typeface="Times New Roman" panose="02020603050405020304" pitchFamily="18" charset="0"/>
              </a:rPr>
              <a:t>. How does the skin thermoregulate? </a:t>
            </a:r>
          </a:p>
          <a:p>
            <a:pPr eaLnBrk="1" hangingPunct="1">
              <a:buFontTx/>
              <a:buChar char="•"/>
            </a:pPr>
            <a:r>
              <a:rPr lang="en-US" altLang="en-US">
                <a:latin typeface="Times New Roman" panose="02020603050405020304" pitchFamily="18" charset="0"/>
              </a:rPr>
              <a:t> There are multiple mechanisms for thermal control. Describe at least three or four.</a:t>
            </a:r>
          </a:p>
        </p:txBody>
      </p:sp>
    </p:spTree>
    <p:extLst>
      <p:ext uri="{BB962C8B-B14F-4D97-AF65-F5344CB8AC3E}">
        <p14:creationId xmlns:p14="http://schemas.microsoft.com/office/powerpoint/2010/main" val="1688488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FD74695-4008-4D35-8218-49FADFECC49B}" type="slidenum">
              <a:rPr lang="en-US" altLang="en-US" sz="1200"/>
              <a:pPr/>
              <a:t>9</a:t>
            </a:fld>
            <a:endParaRPr lang="en-US" altLang="en-US" sz="120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does the epidermis lack? Ask the students to describe what it is dependent upon.</a:t>
            </a:r>
          </a:p>
          <a:p>
            <a:pPr eaLnBrk="1" hangingPunct="1">
              <a:buFontTx/>
              <a:buChar char="•"/>
            </a:pPr>
            <a:r>
              <a:rPr lang="en-US" altLang="en-US">
                <a:latin typeface="Times New Roman" panose="02020603050405020304" pitchFamily="18" charset="0"/>
              </a:rPr>
              <a:t> What is the dermis composed of? Ask the students to describe what supports this layer.</a:t>
            </a:r>
          </a:p>
          <a:p>
            <a:pPr eaLnBrk="1" hangingPunct="1">
              <a:buFontTx/>
              <a:buChar char="•"/>
            </a:pPr>
            <a:r>
              <a:rPr lang="en-US" altLang="en-US">
                <a:latin typeface="Times New Roman" panose="02020603050405020304" pitchFamily="18" charset="0"/>
              </a:rPr>
              <a:t> Ask the students what lipocytes are and where they are found. </a:t>
            </a:r>
          </a:p>
        </p:txBody>
      </p:sp>
    </p:spTree>
    <p:extLst>
      <p:ext uri="{BB962C8B-B14F-4D97-AF65-F5344CB8AC3E}">
        <p14:creationId xmlns:p14="http://schemas.microsoft.com/office/powerpoint/2010/main" val="3644382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163CF0E-7852-4482-A1B1-E609A88722BA}" type="slidenum">
              <a:rPr lang="en-US" altLang="en-US" sz="1200"/>
              <a:pPr/>
              <a:t>10</a:t>
            </a:fld>
            <a:endParaRPr lang="en-US" altLang="en-US" sz="120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In the inset of this picture (upper right) you can see what are called dermal papillae. They look like wavy folds. What is the advantage of this kind of tissue architecture? </a:t>
            </a:r>
          </a:p>
          <a:p>
            <a:pPr eaLnBrk="1" hangingPunct="1">
              <a:buFontTx/>
              <a:buChar char="•"/>
            </a:pPr>
            <a:r>
              <a:rPr lang="en-US" altLang="en-US">
                <a:latin typeface="Times New Roman" panose="02020603050405020304" pitchFamily="18" charset="0"/>
              </a:rPr>
              <a:t> The dermis appears to be pushing up folds into the epidermis. Why?</a:t>
            </a:r>
          </a:p>
          <a:p>
            <a:pPr eaLnBrk="1" hangingPunct="1">
              <a:buFontTx/>
              <a:buChar char="•"/>
            </a:pPr>
            <a:r>
              <a:rPr lang="en-US" altLang="en-US">
                <a:latin typeface="Times New Roman" panose="02020603050405020304" pitchFamily="18" charset="0"/>
              </a:rPr>
              <a:t> Is the epithelium vascular? Why is that an advantage or disadvantage?</a:t>
            </a:r>
          </a:p>
        </p:txBody>
      </p:sp>
    </p:spTree>
    <p:extLst>
      <p:ext uri="{BB962C8B-B14F-4D97-AF65-F5344CB8AC3E}">
        <p14:creationId xmlns:p14="http://schemas.microsoft.com/office/powerpoint/2010/main" val="20191802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8E12CCB-449B-46BE-ABB1-2BCF0E64EAB0}" type="slidenum">
              <a:rPr lang="en-US" altLang="en-US" sz="1200"/>
              <a:pPr/>
              <a:t>11</a:t>
            </a:fld>
            <a:endParaRPr lang="en-US" altLang="en-US" sz="120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In the inset of this picture (upper right) you can see what are called dermal papillae. They look like wavy folds. What is the advantage of this kind of tissue architecture? </a:t>
            </a:r>
          </a:p>
          <a:p>
            <a:pPr eaLnBrk="1" hangingPunct="1">
              <a:buFontTx/>
              <a:buChar char="•"/>
            </a:pPr>
            <a:r>
              <a:rPr lang="en-US" altLang="en-US">
                <a:latin typeface="Times New Roman" panose="02020603050405020304" pitchFamily="18" charset="0"/>
              </a:rPr>
              <a:t> The dermis appears to be pushing up folds into the epidermis. Why?</a:t>
            </a:r>
          </a:p>
          <a:p>
            <a:pPr eaLnBrk="1" hangingPunct="1">
              <a:buFontTx/>
              <a:buChar char="•"/>
            </a:pPr>
            <a:r>
              <a:rPr lang="en-US" altLang="en-US">
                <a:latin typeface="Times New Roman" panose="02020603050405020304" pitchFamily="18" charset="0"/>
              </a:rPr>
              <a:t> Is the epithelium vascular? Why is that an advantage or disadvantage?</a:t>
            </a:r>
          </a:p>
        </p:txBody>
      </p:sp>
    </p:spTree>
    <p:extLst>
      <p:ext uri="{BB962C8B-B14F-4D97-AF65-F5344CB8AC3E}">
        <p14:creationId xmlns:p14="http://schemas.microsoft.com/office/powerpoint/2010/main" val="2771914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7ECA684-C623-47F2-A7CD-D51247CE47E8}" type="slidenum">
              <a:rPr lang="en-US" altLang="en-US" sz="1200"/>
              <a:pPr/>
              <a:t>12</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Ask the students to describe melanocytes and where they can be found.</a:t>
            </a:r>
          </a:p>
          <a:p>
            <a:pPr eaLnBrk="1" hangingPunct="1">
              <a:buFontTx/>
              <a:buChar char="•"/>
            </a:pPr>
            <a:r>
              <a:rPr lang="en-US" altLang="en-US">
                <a:latin typeface="Times New Roman" panose="02020603050405020304" pitchFamily="18" charset="0"/>
              </a:rPr>
              <a:t> What functions does hair have? </a:t>
            </a:r>
            <a:r>
              <a:rPr lang="en-US" altLang="en-US" i="1">
                <a:latin typeface="Times New Roman" panose="02020603050405020304" pitchFamily="18" charset="0"/>
              </a:rPr>
              <a:t>(Sensory, thermoregulation)</a:t>
            </a:r>
          </a:p>
          <a:p>
            <a:pPr eaLnBrk="1" hangingPunct="1"/>
            <a:r>
              <a:rPr lang="en-US" altLang="en-US">
                <a:latin typeface="Times New Roman" panose="02020603050405020304" pitchFamily="18" charset="0"/>
              </a:rPr>
              <a:t> </a:t>
            </a:r>
          </a:p>
        </p:txBody>
      </p:sp>
    </p:spTree>
    <p:extLst>
      <p:ext uri="{BB962C8B-B14F-4D97-AF65-F5344CB8AC3E}">
        <p14:creationId xmlns:p14="http://schemas.microsoft.com/office/powerpoint/2010/main" val="1761272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8BAAEFE-B95B-441F-AA71-3FA71DA9C475}" type="slidenum">
              <a:rPr lang="en-US" altLang="en-US" sz="1200"/>
              <a:pPr/>
              <a:t>13</a:t>
            </a:fld>
            <a:endParaRPr lang="en-US" altLang="en-US" sz="12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214289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E384E71-3A6B-4FA2-B9E9-4507967F49BA}" type="slidenum">
              <a:rPr lang="en-US" altLang="en-US" sz="1200"/>
              <a:pPr/>
              <a:t>14</a:t>
            </a:fld>
            <a:endParaRPr lang="en-US" altLang="en-US" sz="120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How are hair, nails, and epidermis alike?</a:t>
            </a:r>
          </a:p>
          <a:p>
            <a:pPr eaLnBrk="1" hangingPunct="1">
              <a:buFontTx/>
              <a:buChar char="•"/>
            </a:pPr>
            <a:r>
              <a:rPr lang="en-US" altLang="en-US">
                <a:latin typeface="Times New Roman" panose="02020603050405020304" pitchFamily="18" charset="0"/>
              </a:rPr>
              <a:t> How do these structures grow and slough off cells?</a:t>
            </a:r>
          </a:p>
        </p:txBody>
      </p:sp>
    </p:spTree>
    <p:extLst>
      <p:ext uri="{BB962C8B-B14F-4D97-AF65-F5344CB8AC3E}">
        <p14:creationId xmlns:p14="http://schemas.microsoft.com/office/powerpoint/2010/main" val="29786886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142C44A-9558-44D6-9D39-EEE1CF04A9EF}" type="slidenum">
              <a:rPr lang="en-US" altLang="en-US" sz="1200"/>
              <a:pPr/>
              <a:t>15</a:t>
            </a:fld>
            <a:endParaRPr lang="en-US" altLang="en-US" sz="12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Why do people have so many sweat glands?  </a:t>
            </a:r>
          </a:p>
          <a:p>
            <a:pPr eaLnBrk="1" hangingPunct="1">
              <a:buFontTx/>
              <a:buChar char="•"/>
            </a:pPr>
            <a:r>
              <a:rPr lang="en-US" altLang="en-US">
                <a:latin typeface="Times New Roman" panose="02020603050405020304" pitchFamily="18" charset="0"/>
              </a:rPr>
              <a:t> Could people live without sweat glands?</a:t>
            </a:r>
          </a:p>
          <a:p>
            <a:pPr eaLnBrk="1" hangingPunct="1">
              <a:buFontTx/>
              <a:buChar char="•"/>
            </a:pPr>
            <a:r>
              <a:rPr lang="en-US" altLang="en-US">
                <a:latin typeface="Times New Roman" panose="02020603050405020304" pitchFamily="18" charset="0"/>
              </a:rPr>
              <a:t> Do sebaceous glands make hair feel oily? </a:t>
            </a:r>
          </a:p>
        </p:txBody>
      </p:sp>
    </p:spTree>
    <p:extLst>
      <p:ext uri="{BB962C8B-B14F-4D97-AF65-F5344CB8AC3E}">
        <p14:creationId xmlns:p14="http://schemas.microsoft.com/office/powerpoint/2010/main" val="27552558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0731807-BD21-43C0-9E4B-414B8CF43C95}" type="slidenum">
              <a:rPr lang="en-US" altLang="en-US" sz="1200"/>
              <a:pPr/>
              <a:t>16</a:t>
            </a:fld>
            <a:endParaRPr lang="en-US" altLang="en-US" sz="12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Why do people have so many sweat glands?  </a:t>
            </a:r>
          </a:p>
          <a:p>
            <a:pPr eaLnBrk="1" hangingPunct="1">
              <a:buFontTx/>
              <a:buChar char="•"/>
            </a:pPr>
            <a:r>
              <a:rPr lang="en-US" altLang="en-US">
                <a:latin typeface="Times New Roman" panose="02020603050405020304" pitchFamily="18" charset="0"/>
              </a:rPr>
              <a:t> Could people live without sweat glands?</a:t>
            </a:r>
          </a:p>
          <a:p>
            <a:pPr eaLnBrk="1" hangingPunct="1">
              <a:buFontTx/>
              <a:buChar char="•"/>
            </a:pPr>
            <a:r>
              <a:rPr lang="en-US" altLang="en-US">
                <a:latin typeface="Times New Roman" panose="02020603050405020304" pitchFamily="18" charset="0"/>
              </a:rPr>
              <a:t> Do sebaceous glands make hair feel oily? </a:t>
            </a:r>
          </a:p>
        </p:txBody>
      </p:sp>
    </p:spTree>
    <p:extLst>
      <p:ext uri="{BB962C8B-B14F-4D97-AF65-F5344CB8AC3E}">
        <p14:creationId xmlns:p14="http://schemas.microsoft.com/office/powerpoint/2010/main" val="3091931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47D4209-212A-4A0A-AFF3-DAFD5A0C04D4}" type="slidenum">
              <a:rPr lang="en-US" altLang="en-US" sz="1200"/>
              <a:pPr/>
              <a:t>38</a:t>
            </a:fld>
            <a:endParaRPr lang="en-US" altLang="en-US"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D: albin/o, which means white as in albinism.</a:t>
            </a:r>
          </a:p>
        </p:txBody>
      </p:sp>
    </p:spTree>
    <p:extLst>
      <p:ext uri="{BB962C8B-B14F-4D97-AF65-F5344CB8AC3E}">
        <p14:creationId xmlns:p14="http://schemas.microsoft.com/office/powerpoint/2010/main" val="1559165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C7602C1-D601-4BAB-B5B7-F1276D12D1E0}" type="slidenum">
              <a:rPr lang="en-US" altLang="en-US" sz="1200"/>
              <a:pPr/>
              <a:t>39</a:t>
            </a:fld>
            <a:endParaRPr lang="en-US" altLang="en-US" sz="120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A: xanth/o, which means yellow as in xanthoma.</a:t>
            </a:r>
          </a:p>
        </p:txBody>
      </p:sp>
    </p:spTree>
    <p:extLst>
      <p:ext uri="{BB962C8B-B14F-4D97-AF65-F5344CB8AC3E}">
        <p14:creationId xmlns:p14="http://schemas.microsoft.com/office/powerpoint/2010/main" val="3095674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85DBC80-A8AF-4817-A03B-55D14F07C4A0}" type="slidenum">
              <a:rPr lang="en-US" altLang="en-US" sz="1200"/>
              <a:pPr/>
              <a:t>40</a:t>
            </a:fld>
            <a:endParaRPr lang="en-US" altLang="en-US" sz="120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endParaRPr lang="en-US" altLang="en-US">
              <a:latin typeface="Times New Roman" panose="02020603050405020304" pitchFamily="18" charset="0"/>
            </a:endParaRPr>
          </a:p>
        </p:txBody>
      </p:sp>
    </p:spTree>
    <p:extLst>
      <p:ext uri="{BB962C8B-B14F-4D97-AF65-F5344CB8AC3E}">
        <p14:creationId xmlns:p14="http://schemas.microsoft.com/office/powerpoint/2010/main" val="2697837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42ECDFD-460C-4972-9A16-D16001416769}" type="slidenum">
              <a:rPr lang="en-US" altLang="en-US" sz="1200"/>
              <a:pPr/>
              <a:t>41</a:t>
            </a:fld>
            <a:endParaRPr lang="en-US" altLang="en-US" sz="120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0962831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93E8FD6-E8F5-4E71-9431-0714FD20C82F}" type="slidenum">
              <a:rPr lang="en-US" altLang="en-US" sz="1200"/>
              <a:pPr/>
              <a:t>42</a:t>
            </a:fld>
            <a:endParaRPr lang="en-US" altLang="en-US" sz="12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the definition of a lesion?</a:t>
            </a:r>
          </a:p>
          <a:p>
            <a:pPr eaLnBrk="1" hangingPunct="1">
              <a:buFontTx/>
              <a:buChar char="•"/>
            </a:pPr>
            <a:r>
              <a:rPr lang="en-US" altLang="en-US">
                <a:latin typeface="Times New Roman" panose="02020603050405020304" pitchFamily="18" charset="0"/>
              </a:rPr>
              <a:t> Which of these lesions are similar but are differentiated by size?</a:t>
            </a:r>
          </a:p>
          <a:p>
            <a:pPr eaLnBrk="1" hangingPunct="1">
              <a:buFontTx/>
              <a:buChar char="•"/>
            </a:pPr>
            <a:r>
              <a:rPr lang="en-US" altLang="en-US">
                <a:latin typeface="Times New Roman" panose="02020603050405020304" pitchFamily="18" charset="0"/>
              </a:rPr>
              <a:t> Which lesions involve the dermis layer?</a:t>
            </a:r>
          </a:p>
        </p:txBody>
      </p:sp>
    </p:spTree>
    <p:extLst>
      <p:ext uri="{BB962C8B-B14F-4D97-AF65-F5344CB8AC3E}">
        <p14:creationId xmlns:p14="http://schemas.microsoft.com/office/powerpoint/2010/main" val="4793669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1CA20F1-3AD2-42A3-8D88-507562A6A264}" type="slidenum">
              <a:rPr lang="en-US" altLang="en-US" sz="1200"/>
              <a:pPr/>
              <a:t>43</a:t>
            </a:fld>
            <a:endParaRPr lang="en-US" altLang="en-US" sz="120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some causes of alopecia?</a:t>
            </a:r>
          </a:p>
          <a:p>
            <a:pPr eaLnBrk="1" hangingPunct="1">
              <a:buFontTx/>
              <a:buChar char="•"/>
            </a:pPr>
            <a:r>
              <a:rPr lang="en-US" altLang="en-US">
                <a:latin typeface="Times New Roman" panose="02020603050405020304" pitchFamily="18" charset="0"/>
              </a:rPr>
              <a:t> Are there any treatments for baldness? Are they successful?</a:t>
            </a:r>
          </a:p>
          <a:p>
            <a:pPr eaLnBrk="1" hangingPunct="1">
              <a:buFontTx/>
              <a:buChar char="•"/>
            </a:pPr>
            <a:r>
              <a:rPr lang="en-US" altLang="en-US">
                <a:latin typeface="Times New Roman" panose="02020603050405020304" pitchFamily="18" charset="0"/>
              </a:rPr>
              <a:t> Another form of alopecia is a result of trichotillomania, or obsessive hair-pulling. </a:t>
            </a:r>
          </a:p>
        </p:txBody>
      </p:sp>
    </p:spTree>
    <p:extLst>
      <p:ext uri="{BB962C8B-B14F-4D97-AF65-F5344CB8AC3E}">
        <p14:creationId xmlns:p14="http://schemas.microsoft.com/office/powerpoint/2010/main" val="661456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AE0F7C1-C867-44EC-8606-C599767B1D36}" type="slidenum">
              <a:rPr lang="en-US" altLang="en-US" sz="1200"/>
              <a:pPr/>
              <a:t>44</a:t>
            </a:fld>
            <a:endParaRPr lang="en-US" altLang="en-US" sz="120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can cause ecchymosis? </a:t>
            </a:r>
          </a:p>
          <a:p>
            <a:pPr eaLnBrk="1" hangingPunct="1">
              <a:buFontTx/>
              <a:buChar char="•"/>
            </a:pPr>
            <a:r>
              <a:rPr lang="en-US" altLang="en-US">
                <a:latin typeface="Times New Roman" panose="02020603050405020304" pitchFamily="18" charset="0"/>
              </a:rPr>
              <a:t> What is the treatment?</a:t>
            </a:r>
          </a:p>
        </p:txBody>
      </p:sp>
    </p:spTree>
    <p:extLst>
      <p:ext uri="{BB962C8B-B14F-4D97-AF65-F5344CB8AC3E}">
        <p14:creationId xmlns:p14="http://schemas.microsoft.com/office/powerpoint/2010/main" val="39977275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5F92BED-7B4B-41B5-95C7-242AC3E10D98}" type="slidenum">
              <a:rPr lang="en-US" altLang="en-US" sz="1200"/>
              <a:pPr/>
              <a:t>45</a:t>
            </a:fld>
            <a:endParaRPr lang="en-US" altLang="en-US"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Use the pictures as examples. Ask students whether they have ever been diagnosed with any of the skin conditions mentioned. </a:t>
            </a:r>
          </a:p>
          <a:p>
            <a:pPr eaLnBrk="1" hangingPunct="1">
              <a:buFontTx/>
              <a:buChar char="•"/>
            </a:pPr>
            <a:r>
              <a:rPr lang="en-US" altLang="en-US">
                <a:latin typeface="Times New Roman" panose="02020603050405020304" pitchFamily="18" charset="0"/>
              </a:rPr>
              <a:t> What diseases are associated with these symptoms?</a:t>
            </a:r>
          </a:p>
          <a:p>
            <a:pPr eaLnBrk="1" hangingPunct="1">
              <a:buFontTx/>
              <a:buChar char="•"/>
            </a:pPr>
            <a:r>
              <a:rPr lang="en-US" altLang="en-US">
                <a:latin typeface="Times New Roman" panose="02020603050405020304" pitchFamily="18" charset="0"/>
              </a:rPr>
              <a:t> What is pruritus?</a:t>
            </a:r>
          </a:p>
          <a:p>
            <a:pPr eaLnBrk="1" hangingPunct="1">
              <a:buFontTx/>
              <a:buChar char="•"/>
            </a:pPr>
            <a:r>
              <a:rPr lang="en-US" altLang="en-US">
                <a:latin typeface="Times New Roman" panose="02020603050405020304" pitchFamily="18" charset="0"/>
              </a:rPr>
              <a:t> What is purpura?</a:t>
            </a:r>
          </a:p>
        </p:txBody>
      </p:sp>
    </p:spTree>
    <p:extLst>
      <p:ext uri="{BB962C8B-B14F-4D97-AF65-F5344CB8AC3E}">
        <p14:creationId xmlns:p14="http://schemas.microsoft.com/office/powerpoint/2010/main" val="37446892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D9F0D2A-EB06-447F-A100-1B7A9CF22791}" type="slidenum">
              <a:rPr lang="en-US" altLang="en-US" sz="1200"/>
              <a:pPr/>
              <a:t>46</a:t>
            </a:fld>
            <a:endParaRPr lang="en-US" altLang="en-US" sz="120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the common term for urticaria?</a:t>
            </a:r>
          </a:p>
          <a:p>
            <a:pPr eaLnBrk="1" hangingPunct="1">
              <a:buFontTx/>
              <a:buChar char="•"/>
            </a:pPr>
            <a:r>
              <a:rPr lang="en-US" altLang="en-US">
                <a:latin typeface="Times New Roman" panose="02020603050405020304" pitchFamily="18" charset="0"/>
              </a:rPr>
              <a:t> Have students discuss their experiences (or that of someone they know) with hives. </a:t>
            </a:r>
          </a:p>
          <a:p>
            <a:pPr eaLnBrk="1" hangingPunct="1">
              <a:buFontTx/>
              <a:buChar char="•"/>
            </a:pPr>
            <a:r>
              <a:rPr lang="en-US" altLang="en-US">
                <a:latin typeface="Times New Roman" panose="02020603050405020304" pitchFamily="18" charset="0"/>
              </a:rPr>
              <a:t> What causes hives?  How long do they last?</a:t>
            </a:r>
          </a:p>
        </p:txBody>
      </p:sp>
    </p:spTree>
    <p:extLst>
      <p:ext uri="{BB962C8B-B14F-4D97-AF65-F5344CB8AC3E}">
        <p14:creationId xmlns:p14="http://schemas.microsoft.com/office/powerpoint/2010/main" val="320564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6CC1CF2-5E43-48D4-AA3C-270BB4808123}" type="slidenum">
              <a:rPr lang="en-US" altLang="en-US" sz="1200"/>
              <a:pPr/>
              <a:t>47</a:t>
            </a:fld>
            <a:endParaRPr lang="en-US" altLang="en-US"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the medical term for a blackhead?</a:t>
            </a:r>
          </a:p>
          <a:p>
            <a:pPr eaLnBrk="1" hangingPunct="1">
              <a:buFontTx/>
              <a:buChar char="•"/>
            </a:pPr>
            <a:r>
              <a:rPr lang="en-US" altLang="en-US">
                <a:latin typeface="Times New Roman" panose="02020603050405020304" pitchFamily="18" charset="0"/>
              </a:rPr>
              <a:t> Why are adolescents so prone to acne? Myths and reality. </a:t>
            </a:r>
          </a:p>
          <a:p>
            <a:pPr eaLnBrk="1" hangingPunct="1">
              <a:buFontTx/>
              <a:buChar char="•"/>
            </a:pPr>
            <a:r>
              <a:rPr lang="en-US" altLang="en-US">
                <a:latin typeface="Times New Roman" panose="02020603050405020304" pitchFamily="18" charset="0"/>
              </a:rPr>
              <a:t> Are over-the-counter treatments effective?</a:t>
            </a:r>
          </a:p>
        </p:txBody>
      </p:sp>
    </p:spTree>
    <p:extLst>
      <p:ext uri="{BB962C8B-B14F-4D97-AF65-F5344CB8AC3E}">
        <p14:creationId xmlns:p14="http://schemas.microsoft.com/office/powerpoint/2010/main" val="2787908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27FACB5-B7DC-4C72-A1CF-49BAC0AFD51B}" type="slidenum">
              <a:rPr lang="en-US" altLang="en-US" sz="1200"/>
              <a:pPr/>
              <a:t>48</a:t>
            </a:fld>
            <a:endParaRPr lang="en-US" altLang="en-US" sz="120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Go over the different degrees of burns and use a chart with the layers of the skin to demonstrate how deep the burns go. </a:t>
            </a:r>
          </a:p>
          <a:p>
            <a:pPr eaLnBrk="1" hangingPunct="1">
              <a:buFontTx/>
              <a:buChar char="•"/>
            </a:pPr>
            <a:r>
              <a:rPr lang="en-US" altLang="en-US">
                <a:latin typeface="Times New Roman" panose="02020603050405020304" pitchFamily="18" charset="0"/>
              </a:rPr>
              <a:t> What percentage of body burn results in death? Why?</a:t>
            </a:r>
          </a:p>
        </p:txBody>
      </p:sp>
    </p:spTree>
    <p:extLst>
      <p:ext uri="{BB962C8B-B14F-4D97-AF65-F5344CB8AC3E}">
        <p14:creationId xmlns:p14="http://schemas.microsoft.com/office/powerpoint/2010/main" val="2847097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F9DFAE6-F53B-4CB2-8615-420D65B28D10}" type="slidenum">
              <a:rPr lang="en-US" altLang="en-US" sz="1200"/>
              <a:pPr/>
              <a:t>49</a:t>
            </a:fld>
            <a:endParaRPr lang="en-US" altLang="en-US"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Which of these diseases is/are common in children? Why?</a:t>
            </a:r>
          </a:p>
          <a:p>
            <a:pPr eaLnBrk="1" hangingPunct="1">
              <a:buFontTx/>
              <a:buChar char="•"/>
            </a:pPr>
            <a:r>
              <a:rPr lang="en-US" altLang="en-US">
                <a:latin typeface="Times New Roman" panose="02020603050405020304" pitchFamily="18" charset="0"/>
              </a:rPr>
              <a:t> What are other diseases that are similar to eczema?  Are they all treated in the same way? </a:t>
            </a:r>
          </a:p>
        </p:txBody>
      </p:sp>
    </p:spTree>
    <p:extLst>
      <p:ext uri="{BB962C8B-B14F-4D97-AF65-F5344CB8AC3E}">
        <p14:creationId xmlns:p14="http://schemas.microsoft.com/office/powerpoint/2010/main" val="11364577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91E2989-AE78-455F-A526-75DA45CF2911}" type="slidenum">
              <a:rPr lang="en-US" altLang="en-US" sz="1200"/>
              <a:pPr/>
              <a:t>50</a:t>
            </a:fld>
            <a:endParaRPr lang="en-US" altLang="en-US" sz="120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Which of these diseases are NOT contagious?</a:t>
            </a:r>
          </a:p>
          <a:p>
            <a:pPr eaLnBrk="1" hangingPunct="1">
              <a:buFontTx/>
              <a:buChar char="•"/>
            </a:pPr>
            <a:r>
              <a:rPr lang="en-US" altLang="en-US">
                <a:latin typeface="Times New Roman" panose="02020603050405020304" pitchFamily="18" charset="0"/>
              </a:rPr>
              <a:t> Which disease may worsen if the patient experiences anxiety?</a:t>
            </a: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7892738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F84E231-4488-4BF4-B6C7-6B8958AA0875}" type="slidenum">
              <a:rPr lang="en-US" altLang="en-US" sz="1200"/>
              <a:pPr/>
              <a:t>51</a:t>
            </a:fld>
            <a:endParaRPr lang="en-US" altLang="en-US" sz="120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the current thoughts about the origin of SLE? How is it treated? </a:t>
            </a:r>
          </a:p>
          <a:p>
            <a:pPr eaLnBrk="1" hangingPunct="1">
              <a:buFontTx/>
              <a:buChar char="•"/>
            </a:pPr>
            <a:r>
              <a:rPr lang="en-US" altLang="en-US">
                <a:latin typeface="Times New Roman" panose="02020603050405020304" pitchFamily="18" charset="0"/>
              </a:rPr>
              <a:t> Where have we discussed it before because of the other organ systems it affects?</a:t>
            </a:r>
          </a:p>
        </p:txBody>
      </p:sp>
    </p:spTree>
    <p:extLst>
      <p:ext uri="{BB962C8B-B14F-4D97-AF65-F5344CB8AC3E}">
        <p14:creationId xmlns:p14="http://schemas.microsoft.com/office/powerpoint/2010/main" val="27397382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447DC62-7FD1-4366-9F23-B56E956D9725}" type="slidenum">
              <a:rPr lang="en-US" altLang="en-US" sz="1200"/>
              <a:pPr/>
              <a:t>52</a:t>
            </a:fld>
            <a:endParaRPr lang="en-US" altLang="en-US"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 What is tinea? </a:t>
            </a:r>
            <a:r>
              <a:rPr lang="en-US" altLang="en-US" i="1" dirty="0">
                <a:latin typeface="Times New Roman" panose="02020603050405020304" pitchFamily="18" charset="0"/>
              </a:rPr>
              <a:t>(A fungal infection of skin or nails, that is, ringworm, athlete</a:t>
            </a:r>
            <a:r>
              <a:rPr lang="ja-JP" altLang="en-US" i="1" dirty="0">
                <a:latin typeface="Times New Roman" panose="02020603050405020304" pitchFamily="18" charset="0"/>
              </a:rPr>
              <a:t>’</a:t>
            </a:r>
            <a:r>
              <a:rPr lang="en-US" altLang="ja-JP" i="1" dirty="0">
                <a:latin typeface="Times New Roman" panose="02020603050405020304" pitchFamily="18" charset="0"/>
              </a:rPr>
              <a:t>s foot.)</a:t>
            </a:r>
          </a:p>
          <a:p>
            <a:pPr eaLnBrk="1" hangingPunct="1">
              <a:buFontTx/>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6343300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CB5F376-1EF2-4EBC-B3C8-3F15E0CDBB54}" type="slidenum">
              <a:rPr lang="en-US" altLang="en-US" sz="1200"/>
              <a:pPr/>
              <a:t>53</a:t>
            </a:fld>
            <a:endParaRPr lang="en-US" altLang="en-US" sz="120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vitiligo? </a:t>
            </a:r>
            <a:r>
              <a:rPr lang="en-US" altLang="en-US" i="1">
                <a:latin typeface="Times New Roman" panose="02020603050405020304" pitchFamily="18" charset="0"/>
              </a:rPr>
              <a:t>(Loss of pigment in areas of skin causing milk-white patches)</a:t>
            </a:r>
          </a:p>
          <a:p>
            <a:pPr eaLnBrk="1" hangingPunct="1">
              <a:buFontTx/>
              <a:buChar char="•"/>
            </a:pPr>
            <a:endParaRPr lang="en-US" altLang="en-US">
              <a:latin typeface="Times New Roman" panose="02020603050405020304" pitchFamily="18" charset="0"/>
            </a:endParaRPr>
          </a:p>
        </p:txBody>
      </p:sp>
    </p:spTree>
    <p:extLst>
      <p:ext uri="{BB962C8B-B14F-4D97-AF65-F5344CB8AC3E}">
        <p14:creationId xmlns:p14="http://schemas.microsoft.com/office/powerpoint/2010/main" val="31238993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1670158-5903-480F-B45F-B857819EA6AC}" type="slidenum">
              <a:rPr lang="en-US" altLang="en-US" sz="1200"/>
              <a:pPr/>
              <a:t>54</a:t>
            </a:fld>
            <a:endParaRPr lang="en-US" altLang="en-US"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8964970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E96546C-6D9F-4BC0-A2E6-C93B9DD3781D}" type="slidenum">
              <a:rPr lang="en-US" altLang="en-US" sz="1200"/>
              <a:pPr/>
              <a:t>55</a:t>
            </a:fld>
            <a:endParaRPr lang="en-US" altLang="en-US" sz="120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Have students find images for abnormalities not shown in the text. Images are very useful for remembering these conditions.</a:t>
            </a:r>
          </a:p>
        </p:txBody>
      </p:sp>
    </p:spTree>
    <p:extLst>
      <p:ext uri="{BB962C8B-B14F-4D97-AF65-F5344CB8AC3E}">
        <p14:creationId xmlns:p14="http://schemas.microsoft.com/office/powerpoint/2010/main" val="4676022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8891375-A60D-42FC-A5A3-54ADFD2A4293}" type="slidenum">
              <a:rPr lang="en-US" altLang="en-US" sz="1200"/>
              <a:pPr/>
              <a:t>56</a:t>
            </a:fld>
            <a:endParaRPr lang="en-US" altLang="en-US" sz="120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Refer back to the chapter that included AIDS. </a:t>
            </a:r>
          </a:p>
          <a:p>
            <a:pPr eaLnBrk="1" hangingPunct="1">
              <a:buFontTx/>
              <a:buChar char="•"/>
            </a:pPr>
            <a:r>
              <a:rPr lang="en-US" altLang="en-US">
                <a:latin typeface="Times New Roman" panose="02020603050405020304" pitchFamily="18" charset="0"/>
              </a:rPr>
              <a:t> Why are AIDS patients susceptible to this condition? </a:t>
            </a:r>
          </a:p>
          <a:p>
            <a:pPr eaLnBrk="1" hangingPunct="1">
              <a:buFontTx/>
              <a:buChar char="•"/>
            </a:pPr>
            <a:r>
              <a:rPr lang="en-US" altLang="en-US">
                <a:latin typeface="Times New Roman" panose="02020603050405020304" pitchFamily="18" charset="0"/>
              </a:rPr>
              <a:t> Why does it rarely occur in the rest of the population?</a:t>
            </a:r>
          </a:p>
        </p:txBody>
      </p:sp>
    </p:spTree>
    <p:extLst>
      <p:ext uri="{BB962C8B-B14F-4D97-AF65-F5344CB8AC3E}">
        <p14:creationId xmlns:p14="http://schemas.microsoft.com/office/powerpoint/2010/main" val="1879471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B70A342-EB2E-4B3F-8DEF-5014C86FB2F9}" type="slidenum">
              <a:rPr lang="en-US" altLang="en-US" sz="1200"/>
              <a:pPr/>
              <a:t>57</a:t>
            </a:fld>
            <a:endParaRPr lang="en-US" altLang="en-US"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Refer back to the chapter that included AIDS. </a:t>
            </a:r>
          </a:p>
          <a:p>
            <a:pPr eaLnBrk="1" hangingPunct="1">
              <a:buFontTx/>
              <a:buChar char="•"/>
            </a:pPr>
            <a:r>
              <a:rPr lang="en-US" altLang="en-US">
                <a:latin typeface="Times New Roman" panose="02020603050405020304" pitchFamily="18" charset="0"/>
              </a:rPr>
              <a:t> Why are AIDS patients susceptible to this condition? </a:t>
            </a:r>
          </a:p>
          <a:p>
            <a:pPr eaLnBrk="1" hangingPunct="1">
              <a:buFontTx/>
              <a:buChar char="•"/>
            </a:pPr>
            <a:r>
              <a:rPr lang="en-US" altLang="en-US">
                <a:latin typeface="Times New Roman" panose="02020603050405020304" pitchFamily="18" charset="0"/>
              </a:rPr>
              <a:t> Why does it rarely occur in the rest of the population?</a:t>
            </a:r>
          </a:p>
        </p:txBody>
      </p:sp>
    </p:spTree>
    <p:extLst>
      <p:ext uri="{BB962C8B-B14F-4D97-AF65-F5344CB8AC3E}">
        <p14:creationId xmlns:p14="http://schemas.microsoft.com/office/powerpoint/2010/main" val="35924668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3CC2BF6-C201-4BA7-9D3A-8DB1A99ADB49}" type="slidenum">
              <a:rPr lang="en-US" altLang="en-US" sz="1200"/>
              <a:pPr/>
              <a:t>58</a:t>
            </a:fld>
            <a:endParaRPr lang="en-US" altLang="en-US"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Refer back to the chapter that included AIDS. </a:t>
            </a:r>
          </a:p>
          <a:p>
            <a:pPr eaLnBrk="1" hangingPunct="1">
              <a:buFontTx/>
              <a:buChar char="•"/>
            </a:pPr>
            <a:r>
              <a:rPr lang="en-US" altLang="en-US">
                <a:latin typeface="Times New Roman" panose="02020603050405020304" pitchFamily="18" charset="0"/>
              </a:rPr>
              <a:t> Why are AIDS patients susceptible to this condition? </a:t>
            </a:r>
          </a:p>
          <a:p>
            <a:pPr eaLnBrk="1" hangingPunct="1">
              <a:buFontTx/>
              <a:buChar char="•"/>
            </a:pPr>
            <a:r>
              <a:rPr lang="en-US" altLang="en-US">
                <a:latin typeface="Times New Roman" panose="02020603050405020304" pitchFamily="18" charset="0"/>
              </a:rPr>
              <a:t> Why does it rarely occur in the rest of the population?</a:t>
            </a:r>
          </a:p>
        </p:txBody>
      </p:sp>
    </p:spTree>
    <p:extLst>
      <p:ext uri="{BB962C8B-B14F-4D97-AF65-F5344CB8AC3E}">
        <p14:creationId xmlns:p14="http://schemas.microsoft.com/office/powerpoint/2010/main" val="27536384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9F9547B-4EAE-4BC0-A62B-0F6D4DFB0182}" type="slidenum">
              <a:rPr lang="en-US" altLang="en-US" sz="1200"/>
              <a:pPr/>
              <a:t>59</a:t>
            </a:fld>
            <a:endParaRPr lang="en-US" altLang="en-US" sz="1200"/>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2232476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CF112A9-0723-451C-B1DD-7C45F48ACA88}" type="slidenum">
              <a:rPr lang="en-US" altLang="en-US" sz="1200"/>
              <a:pPr/>
              <a:t>60</a:t>
            </a:fld>
            <a:endParaRPr lang="en-US" altLang="en-US"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For what conditions is electrodesiccation recommended?</a:t>
            </a:r>
          </a:p>
          <a:p>
            <a:pPr eaLnBrk="1" hangingPunct="1"/>
            <a:r>
              <a:rPr lang="en-US" altLang="en-US">
                <a:latin typeface="Times New Roman" panose="02020603050405020304" pitchFamily="18" charset="0"/>
              </a:rPr>
              <a:t> </a:t>
            </a:r>
          </a:p>
        </p:txBody>
      </p:sp>
    </p:spTree>
    <p:extLst>
      <p:ext uri="{BB962C8B-B14F-4D97-AF65-F5344CB8AC3E}">
        <p14:creationId xmlns:p14="http://schemas.microsoft.com/office/powerpoint/2010/main" val="41383469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4951141-1179-407E-B335-49ABF7EE4DEF}" type="slidenum">
              <a:rPr lang="en-US" altLang="en-US" sz="1200"/>
              <a:pPr/>
              <a:t>61</a:t>
            </a:fld>
            <a:endParaRPr lang="en-US" altLang="en-US" sz="120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Discuss how some of the surgeries are for both diagnosis and treatment. Removal is done whether or not the physician knows that the lesion is cancerous. </a:t>
            </a:r>
          </a:p>
          <a:p>
            <a:pPr eaLnBrk="1" hangingPunct="1">
              <a:buFontTx/>
              <a:buChar char="•"/>
            </a:pPr>
            <a:r>
              <a:rPr lang="en-US" altLang="en-US">
                <a:latin typeface="Times New Roman" panose="02020603050405020304" pitchFamily="18" charset="0"/>
              </a:rPr>
              <a:t> All suspicious-looking tissues removed from the body are sent to the pathology lab for analysis. Why?</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1407577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76</a:t>
            </a:fld>
            <a:endParaRPr lang="en-US" altLang="en-US"/>
          </a:p>
        </p:txBody>
      </p:sp>
    </p:spTree>
    <p:extLst>
      <p:ext uri="{BB962C8B-B14F-4D97-AF65-F5344CB8AC3E}">
        <p14:creationId xmlns:p14="http://schemas.microsoft.com/office/powerpoint/2010/main" val="850166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1" name="Rectangle 8"/>
          <p:cNvSpPr txBox="1">
            <a:spLocks noGrp="1" noChangeArrowheads="1"/>
          </p:cNvSpPr>
          <p:nvPr userDrawn="1"/>
        </p:nvSpPr>
        <p:spPr bwMode="auto">
          <a:xfrm>
            <a:off x="684213" y="6477000"/>
            <a:ext cx="7769225"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a:defRPr/>
            </a:pPr>
            <a:r>
              <a:rPr lang="en-US" sz="1000" dirty="0">
                <a:latin typeface="Arial" panose="020B0604020202020204" pitchFamily="34" charset="0"/>
                <a:cs typeface="Arial" panose="020B0604020202020204" pitchFamily="34" charset="0"/>
              </a:rPr>
              <a:t>Copyright © 2025 Saunders, an imprint of Elsevier Inc. </a:t>
            </a:r>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8"/>
          <p:cNvSpPr>
            <a:spLocks noGrp="1" noChangeArrowheads="1"/>
          </p:cNvSpPr>
          <p:nvPr>
            <p:ph type="title"/>
          </p:nvPr>
        </p:nvSpPr>
        <p:spPr>
          <a:xfrm>
            <a:off x="1333500" y="990600"/>
            <a:ext cx="6477000" cy="1447800"/>
          </a:xfrm>
        </p:spPr>
        <p:txBody>
          <a:bodyPr/>
          <a:lstStyle/>
          <a:p>
            <a:pPr eaLnBrk="1" hangingPunct="1"/>
            <a:r>
              <a:rPr lang="en-US" altLang="en-US"/>
              <a:t>Chapter 16</a:t>
            </a:r>
            <a:br>
              <a:rPr lang="en-US" altLang="en-US"/>
            </a:br>
            <a:r>
              <a:rPr lang="en-US" altLang="en-US"/>
              <a:t>Skin</a:t>
            </a:r>
          </a:p>
        </p:txBody>
      </p:sp>
    </p:spTree>
    <p:extLst>
      <p:ext uri="{BB962C8B-B14F-4D97-AF65-F5344CB8AC3E}">
        <p14:creationId xmlns:p14="http://schemas.microsoft.com/office/powerpoint/2010/main" val="4115387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p:txBody>
          <a:bodyPr/>
          <a:lstStyle/>
          <a:p>
            <a:pPr eaLnBrk="1" hangingPunct="1"/>
            <a:r>
              <a:rPr lang="en-US" altLang="en-US" dirty="0"/>
              <a:t>Chapter Goals (Slide 1 of 2)</a:t>
            </a:r>
          </a:p>
        </p:txBody>
      </p:sp>
      <p:sp>
        <p:nvSpPr>
          <p:cNvPr id="6147" name="Rectangle 5"/>
          <p:cNvSpPr>
            <a:spLocks noGrp="1" noChangeArrowheads="1"/>
          </p:cNvSpPr>
          <p:nvPr>
            <p:ph idx="1"/>
          </p:nvPr>
        </p:nvSpPr>
        <p:spPr/>
        <p:txBody>
          <a:bodyPr/>
          <a:lstStyle/>
          <a:p>
            <a:pPr eaLnBrk="1" hangingPunct="1"/>
            <a:r>
              <a:rPr lang="en-US" altLang="en-US"/>
              <a:t>Name the layers of the skin and the accessory structures associated with the skin.</a:t>
            </a:r>
          </a:p>
          <a:p>
            <a:pPr eaLnBrk="1" hangingPunct="1"/>
            <a:r>
              <a:rPr lang="en-US" altLang="en-US"/>
              <a:t>Build medical words using the combining forms that are related to the specialty of dermatology.</a:t>
            </a:r>
          </a:p>
          <a:p>
            <a:pPr eaLnBrk="1" hangingPunct="1"/>
            <a:r>
              <a:rPr lang="en-US" altLang="en-US"/>
              <a:t>Identify lesions, signs, and symptoms, and pathologic conditions that relate to the skin.</a:t>
            </a:r>
          </a:p>
        </p:txBody>
      </p:sp>
    </p:spTree>
    <p:extLst>
      <p:ext uri="{BB962C8B-B14F-4D97-AF65-F5344CB8AC3E}">
        <p14:creationId xmlns:p14="http://schemas.microsoft.com/office/powerpoint/2010/main" val="4034397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p:txBody>
          <a:bodyPr/>
          <a:lstStyle/>
          <a:p>
            <a:pPr eaLnBrk="1" hangingPunct="1"/>
            <a:r>
              <a:rPr lang="en-US" altLang="en-US" dirty="0"/>
              <a:t>Chapter Goals (Slide 2 of 2</a:t>
            </a:r>
            <a:r>
              <a:rPr lang="en-US" altLang="ja-JP" dirty="0"/>
              <a:t>)</a:t>
            </a:r>
            <a:endParaRPr lang="en-US" altLang="en-US" dirty="0"/>
          </a:p>
        </p:txBody>
      </p:sp>
      <p:sp>
        <p:nvSpPr>
          <p:cNvPr id="7171" name="Rectangle 5"/>
          <p:cNvSpPr>
            <a:spLocks noGrp="1" noChangeArrowheads="1"/>
          </p:cNvSpPr>
          <p:nvPr>
            <p:ph idx="1"/>
          </p:nvPr>
        </p:nvSpPr>
        <p:spPr>
          <a:xfrm>
            <a:off x="685800" y="1724025"/>
            <a:ext cx="7772400" cy="3876675"/>
          </a:xfrm>
        </p:spPr>
        <p:txBody>
          <a:bodyPr/>
          <a:lstStyle/>
          <a:p>
            <a:pPr eaLnBrk="1" hangingPunct="1"/>
            <a:r>
              <a:rPr lang="en-US" altLang="en-US"/>
              <a:t>Describe laboratory tests and clinical procedures that pertain to the skin and recognize relevant abbreviations.</a:t>
            </a:r>
          </a:p>
          <a:p>
            <a:pPr eaLnBrk="1" hangingPunct="1"/>
            <a:endParaRPr lang="en-US" altLang="en-US" sz="1000"/>
          </a:p>
          <a:p>
            <a:pPr eaLnBrk="1" hangingPunct="1"/>
            <a:r>
              <a:rPr lang="en-US" altLang="en-US"/>
              <a:t>Apply your new knowledge to understanding medical terms in their proper contexts, such as medical reports and records.</a:t>
            </a:r>
          </a:p>
        </p:txBody>
      </p:sp>
    </p:spTree>
    <p:extLst>
      <p:ext uri="{BB962C8B-B14F-4D97-AF65-F5344CB8AC3E}">
        <p14:creationId xmlns:p14="http://schemas.microsoft.com/office/powerpoint/2010/main" val="1361644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2" name="Rectangle 8"/>
          <p:cNvSpPr>
            <a:spLocks noGrp="1" noChangeArrowheads="1"/>
          </p:cNvSpPr>
          <p:nvPr>
            <p:ph type="title"/>
          </p:nvPr>
        </p:nvSpPr>
        <p:spPr/>
        <p:txBody>
          <a:bodyPr rtlCol="0">
            <a:normAutofit fontScale="90000"/>
          </a:bodyPr>
          <a:lstStyle/>
          <a:p>
            <a:pPr eaLnBrk="1" fontAlgn="auto" hangingPunct="1">
              <a:spcAft>
                <a:spcPts val="0"/>
              </a:spcAft>
              <a:defRPr/>
            </a:pPr>
            <a:r>
              <a:rPr lang="en-US"/>
              <a:t>Chapter 16</a:t>
            </a:r>
            <a:br>
              <a:rPr lang="en-US"/>
            </a:br>
            <a:r>
              <a:rPr lang="en-US"/>
              <a:t>Lesson 16.1</a:t>
            </a:r>
          </a:p>
        </p:txBody>
      </p:sp>
    </p:spTree>
    <p:extLst>
      <p:ext uri="{BB962C8B-B14F-4D97-AF65-F5344CB8AC3E}">
        <p14:creationId xmlns:p14="http://schemas.microsoft.com/office/powerpoint/2010/main" val="2227429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a:xfrm>
            <a:off x="1981200" y="304800"/>
            <a:ext cx="5638800" cy="1143000"/>
          </a:xfrm>
        </p:spPr>
        <p:txBody>
          <a:bodyPr/>
          <a:lstStyle/>
          <a:p>
            <a:pPr eaLnBrk="1" hangingPunct="1"/>
            <a:r>
              <a:rPr lang="en-US" altLang="en-US"/>
              <a:t>Introduction</a:t>
            </a:r>
          </a:p>
        </p:txBody>
      </p:sp>
      <p:sp>
        <p:nvSpPr>
          <p:cNvPr id="9219" name="Rectangle 5"/>
          <p:cNvSpPr>
            <a:spLocks noGrp="1" noChangeArrowheads="1"/>
          </p:cNvSpPr>
          <p:nvPr>
            <p:ph idx="1"/>
          </p:nvPr>
        </p:nvSpPr>
        <p:spPr>
          <a:xfrm>
            <a:off x="685800" y="1600200"/>
            <a:ext cx="6934200" cy="4419600"/>
          </a:xfrm>
        </p:spPr>
        <p:txBody>
          <a:bodyPr/>
          <a:lstStyle/>
          <a:p>
            <a:pPr eaLnBrk="1" hangingPunct="1">
              <a:buFont typeface="Wingdings 2" panose="05020102010507070707" pitchFamily="18" charset="2"/>
              <a:buNone/>
            </a:pPr>
            <a:r>
              <a:rPr lang="en-US" altLang="en-US" b="1"/>
              <a:t>Skin: </a:t>
            </a:r>
            <a:r>
              <a:rPr lang="en-US" altLang="en-US"/>
              <a:t>integumentary system</a:t>
            </a:r>
          </a:p>
          <a:p>
            <a:pPr eaLnBrk="1" hangingPunct="1"/>
            <a:r>
              <a:rPr lang="en-US" altLang="en-US"/>
              <a:t>Weighs 8 to 10 lbs.</a:t>
            </a:r>
          </a:p>
          <a:p>
            <a:pPr eaLnBrk="1" hangingPunct="1"/>
            <a:r>
              <a:rPr lang="en-US" altLang="en-US"/>
              <a:t>Covers 22 sq. ft. in the average adult</a:t>
            </a:r>
          </a:p>
          <a:p>
            <a:pPr eaLnBrk="1" hangingPunct="1"/>
            <a:endParaRPr lang="en-US" altLang="en-US" sz="900"/>
          </a:p>
          <a:p>
            <a:pPr eaLnBrk="1" hangingPunct="1">
              <a:buFont typeface="Wingdings 2" panose="05020102010507070707" pitchFamily="18" charset="2"/>
              <a:buNone/>
            </a:pPr>
            <a:endParaRPr lang="en-US" altLang="en-US" sz="3000" b="1">
              <a:solidFill>
                <a:srgbClr val="000066"/>
              </a:solidFill>
            </a:endParaRPr>
          </a:p>
        </p:txBody>
      </p:sp>
    </p:spTree>
    <p:extLst>
      <p:ext uri="{BB962C8B-B14F-4D97-AF65-F5344CB8AC3E}">
        <p14:creationId xmlns:p14="http://schemas.microsoft.com/office/powerpoint/2010/main" val="501881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p:cNvSpPr>
            <a:spLocks noGrp="1" noChangeArrowheads="1"/>
          </p:cNvSpPr>
          <p:nvPr>
            <p:ph type="title"/>
          </p:nvPr>
        </p:nvSpPr>
        <p:spPr/>
        <p:txBody>
          <a:bodyPr/>
          <a:lstStyle/>
          <a:p>
            <a:pPr eaLnBrk="1" hangingPunct="1"/>
            <a:r>
              <a:rPr lang="en-US" altLang="en-US" dirty="0"/>
              <a:t>Functions of Skin (Slide 1 of 2)</a:t>
            </a:r>
          </a:p>
        </p:txBody>
      </p:sp>
      <p:sp>
        <p:nvSpPr>
          <p:cNvPr id="10243" name="Rectangle 7"/>
          <p:cNvSpPr>
            <a:spLocks noGrp="1" noChangeArrowheads="1"/>
          </p:cNvSpPr>
          <p:nvPr>
            <p:ph idx="1"/>
          </p:nvPr>
        </p:nvSpPr>
        <p:spPr>
          <a:xfrm>
            <a:off x="685800" y="1600200"/>
            <a:ext cx="7543800" cy="4114800"/>
          </a:xfrm>
        </p:spPr>
        <p:txBody>
          <a:bodyPr/>
          <a:lstStyle/>
          <a:p>
            <a:pPr lvl="1" eaLnBrk="1" hangingPunct="1">
              <a:lnSpc>
                <a:spcPct val="150000"/>
              </a:lnSpc>
              <a:buFont typeface="Wingdings" panose="05000000000000000000" pitchFamily="2" charset="2"/>
              <a:buChar char="Ø"/>
            </a:pPr>
            <a:r>
              <a:rPr lang="en-US" altLang="en-US" sz="3200"/>
              <a:t>Provides </a:t>
            </a:r>
            <a:r>
              <a:rPr lang="en-US" altLang="en-US" sz="3200" b="1"/>
              <a:t>protective</a:t>
            </a:r>
            <a:r>
              <a:rPr lang="en-US" altLang="en-US" sz="3200"/>
              <a:t> membrane</a:t>
            </a:r>
          </a:p>
          <a:p>
            <a:pPr lvl="1" eaLnBrk="1" hangingPunct="1">
              <a:lnSpc>
                <a:spcPct val="150000"/>
              </a:lnSpc>
              <a:buFont typeface="Wingdings" panose="05000000000000000000" pitchFamily="2" charset="2"/>
              <a:buChar char="Ø"/>
            </a:pPr>
            <a:r>
              <a:rPr lang="en-US" altLang="en-US" sz="3200"/>
              <a:t>Skin glands </a:t>
            </a:r>
            <a:r>
              <a:rPr lang="en-US" altLang="en-US" sz="3200" b="1"/>
              <a:t>lubricate and cool</a:t>
            </a:r>
            <a:r>
              <a:rPr lang="en-US" altLang="en-US" sz="3200"/>
              <a:t> the skin</a:t>
            </a:r>
          </a:p>
          <a:p>
            <a:pPr lvl="1" eaLnBrk="1" hangingPunct="1">
              <a:lnSpc>
                <a:spcPct val="150000"/>
              </a:lnSpc>
              <a:buFont typeface="Wingdings" panose="05000000000000000000" pitchFamily="2" charset="2"/>
              <a:buChar char="Ø"/>
            </a:pPr>
            <a:r>
              <a:rPr lang="en-US" altLang="en-US" sz="3200" b="1"/>
              <a:t>Receptor</a:t>
            </a:r>
            <a:r>
              <a:rPr lang="en-US" altLang="en-US" sz="3200"/>
              <a:t> for sensations</a:t>
            </a:r>
          </a:p>
          <a:p>
            <a:pPr lvl="1" eaLnBrk="1" hangingPunct="1">
              <a:lnSpc>
                <a:spcPct val="150000"/>
              </a:lnSpc>
              <a:buFont typeface="Wingdings" panose="05000000000000000000" pitchFamily="2" charset="2"/>
              <a:buChar char="Ø"/>
            </a:pPr>
            <a:r>
              <a:rPr lang="en-US" altLang="en-US" sz="3200"/>
              <a:t>Helps maintain body </a:t>
            </a:r>
            <a:r>
              <a:rPr lang="en-US" altLang="en-US" sz="3200" b="1"/>
              <a:t>temperature</a:t>
            </a:r>
          </a:p>
        </p:txBody>
      </p:sp>
    </p:spTree>
    <p:extLst>
      <p:ext uri="{BB962C8B-B14F-4D97-AF65-F5344CB8AC3E}">
        <p14:creationId xmlns:p14="http://schemas.microsoft.com/office/powerpoint/2010/main" val="3316762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p:txBody>
          <a:bodyPr/>
          <a:lstStyle/>
          <a:p>
            <a:pPr eaLnBrk="1" hangingPunct="1"/>
            <a:r>
              <a:rPr lang="en-US" altLang="en-US" dirty="0"/>
              <a:t>Functions of Skin (Slide 2 of 2</a:t>
            </a:r>
            <a:r>
              <a:rPr lang="en-US" altLang="ja-JP" dirty="0"/>
              <a:t>)</a:t>
            </a:r>
            <a:endParaRPr lang="en-US" altLang="en-US" dirty="0"/>
          </a:p>
        </p:txBody>
      </p:sp>
      <p:sp>
        <p:nvSpPr>
          <p:cNvPr id="11267" name="Rectangle 5"/>
          <p:cNvSpPr>
            <a:spLocks noGrp="1" noChangeArrowheads="1"/>
          </p:cNvSpPr>
          <p:nvPr>
            <p:ph idx="1"/>
          </p:nvPr>
        </p:nvSpPr>
        <p:spPr>
          <a:xfrm>
            <a:off x="685800" y="1600200"/>
            <a:ext cx="7848600" cy="4419600"/>
          </a:xfrm>
        </p:spPr>
        <p:txBody>
          <a:bodyPr/>
          <a:lstStyle/>
          <a:p>
            <a:pPr marL="457200" indent="-457200" eaLnBrk="1" hangingPunct="1">
              <a:buFont typeface="Times" panose="02020603050405020304" pitchFamily="18" charset="0"/>
              <a:buNone/>
            </a:pPr>
            <a:r>
              <a:rPr lang="en-US" altLang="en-US" b="1"/>
              <a:t>Produces sweat:</a:t>
            </a:r>
            <a:r>
              <a:rPr lang="en-US" altLang="en-US"/>
              <a:t> </a:t>
            </a:r>
            <a:r>
              <a:rPr lang="en-US" altLang="en-US" sz="2800"/>
              <a:t>sweat glands produce a watery secretion that evaporates and cools</a:t>
            </a:r>
          </a:p>
          <a:p>
            <a:pPr marL="457200" indent="-457200" eaLnBrk="1" hangingPunct="1">
              <a:buFont typeface="Times" panose="02020603050405020304" pitchFamily="18" charset="0"/>
              <a:buNone/>
            </a:pPr>
            <a:r>
              <a:rPr lang="en-US" altLang="en-US" b="1"/>
              <a:t>Produces sebum:</a:t>
            </a:r>
            <a:r>
              <a:rPr lang="en-US" altLang="en-US"/>
              <a:t> </a:t>
            </a:r>
            <a:r>
              <a:rPr lang="en-US" altLang="en-US" sz="2800"/>
              <a:t>sebaceous glands produce an oily secretion that lubricates the skin and hair</a:t>
            </a:r>
          </a:p>
          <a:p>
            <a:pPr marL="457200" indent="-457200" eaLnBrk="1" hangingPunct="1">
              <a:buFont typeface="Times" panose="02020603050405020304" pitchFamily="18" charset="0"/>
              <a:buNone/>
            </a:pPr>
            <a:r>
              <a:rPr lang="en-US" altLang="en-US" b="1"/>
              <a:t>Receives sensation:</a:t>
            </a:r>
            <a:r>
              <a:rPr lang="en-US" altLang="en-US"/>
              <a:t> </a:t>
            </a:r>
            <a:r>
              <a:rPr lang="en-US" altLang="en-US" sz="2800"/>
              <a:t>pain, temperature, pressure, and touch</a:t>
            </a:r>
          </a:p>
          <a:p>
            <a:pPr marL="457200" indent="-457200" eaLnBrk="1" hangingPunct="1">
              <a:buFont typeface="Times" panose="02020603050405020304" pitchFamily="18" charset="0"/>
              <a:buNone/>
            </a:pPr>
            <a:r>
              <a:rPr lang="en-US" altLang="en-US" b="1"/>
              <a:t>Thermoregulates:</a:t>
            </a:r>
            <a:r>
              <a:rPr lang="en-US" altLang="en-US"/>
              <a:t> </a:t>
            </a:r>
            <a:r>
              <a:rPr lang="en-US" altLang="en-US" sz="2800"/>
              <a:t>interprets message from heat center in the brain</a:t>
            </a:r>
          </a:p>
        </p:txBody>
      </p:sp>
    </p:spTree>
    <p:extLst>
      <p:ext uri="{BB962C8B-B14F-4D97-AF65-F5344CB8AC3E}">
        <p14:creationId xmlns:p14="http://schemas.microsoft.com/office/powerpoint/2010/main" val="1523017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lstStyle/>
          <a:p>
            <a:pPr eaLnBrk="1" hangingPunct="1"/>
            <a:r>
              <a:rPr lang="en-US" altLang="en-US" dirty="0"/>
              <a:t>Structure of the Skin (Slide 1 of 3)</a:t>
            </a:r>
          </a:p>
        </p:txBody>
      </p:sp>
      <p:sp>
        <p:nvSpPr>
          <p:cNvPr id="12293" name="Rectangle 5"/>
          <p:cNvSpPr>
            <a:spLocks noGrp="1" noChangeArrowheads="1"/>
          </p:cNvSpPr>
          <p:nvPr>
            <p:ph idx="1"/>
          </p:nvPr>
        </p:nvSpPr>
        <p:spPr>
          <a:xfrm>
            <a:off x="685800" y="1600200"/>
            <a:ext cx="7315200" cy="3505200"/>
          </a:xfrm>
        </p:spPr>
        <p:txBody>
          <a:bodyPr rtlCol="0">
            <a:normAutofit lnSpcReduction="10000"/>
          </a:bodyPr>
          <a:lstStyle/>
          <a:p>
            <a:pPr eaLnBrk="1" fontAlgn="auto" hangingPunct="1">
              <a:lnSpc>
                <a:spcPct val="90000"/>
              </a:lnSpc>
              <a:spcAft>
                <a:spcPts val="0"/>
              </a:spcAft>
              <a:buFont typeface="Wingdings 2" pitchFamily="18" charset="2"/>
              <a:buNone/>
              <a:defRPr/>
            </a:pPr>
            <a:r>
              <a:rPr lang="en-US" b="1" dirty="0"/>
              <a:t>Epidermis:</a:t>
            </a:r>
            <a:r>
              <a:rPr lang="en-US" dirty="0"/>
              <a:t> outermost, thin cellular membrane</a:t>
            </a:r>
          </a:p>
          <a:p>
            <a:pPr eaLnBrk="1" fontAlgn="auto" hangingPunct="1">
              <a:lnSpc>
                <a:spcPct val="90000"/>
              </a:lnSpc>
              <a:spcAft>
                <a:spcPts val="0"/>
              </a:spcAft>
              <a:buFont typeface="Wingdings 2" pitchFamily="18" charset="2"/>
              <a:buNone/>
              <a:defRPr/>
            </a:pPr>
            <a:endParaRPr lang="en-US" sz="2000" b="1" dirty="0"/>
          </a:p>
          <a:p>
            <a:pPr eaLnBrk="1" fontAlgn="auto" hangingPunct="1">
              <a:lnSpc>
                <a:spcPct val="90000"/>
              </a:lnSpc>
              <a:spcAft>
                <a:spcPts val="0"/>
              </a:spcAft>
              <a:buFont typeface="Wingdings 2" pitchFamily="18" charset="2"/>
              <a:buNone/>
              <a:defRPr/>
            </a:pPr>
            <a:r>
              <a:rPr lang="en-US" b="1" dirty="0"/>
              <a:t>Dermis:</a:t>
            </a:r>
            <a:r>
              <a:rPr lang="en-US" dirty="0"/>
              <a:t> next layer; dense fibrous, connective tissue</a:t>
            </a:r>
          </a:p>
          <a:p>
            <a:pPr eaLnBrk="1" fontAlgn="auto" hangingPunct="1">
              <a:lnSpc>
                <a:spcPct val="90000"/>
              </a:lnSpc>
              <a:spcAft>
                <a:spcPts val="0"/>
              </a:spcAft>
              <a:buFont typeface="Wingdings 2" pitchFamily="18" charset="2"/>
              <a:buNone/>
              <a:defRPr/>
            </a:pPr>
            <a:endParaRPr lang="en-US" sz="2000" b="1" dirty="0"/>
          </a:p>
          <a:p>
            <a:pPr eaLnBrk="1" fontAlgn="auto" hangingPunct="1">
              <a:lnSpc>
                <a:spcPct val="90000"/>
              </a:lnSpc>
              <a:spcAft>
                <a:spcPts val="0"/>
              </a:spcAft>
              <a:buFont typeface="Wingdings 2" pitchFamily="18" charset="2"/>
              <a:buNone/>
              <a:defRPr/>
            </a:pPr>
            <a:r>
              <a:rPr lang="en-US" b="1" dirty="0"/>
              <a:t>Subcutaneous tissue</a:t>
            </a:r>
            <a:r>
              <a:rPr lang="en-US" sz="2400" b="1" dirty="0"/>
              <a:t>:</a:t>
            </a:r>
            <a:r>
              <a:rPr lang="en-US" dirty="0"/>
              <a:t> thick, fat-containing tissue</a:t>
            </a:r>
          </a:p>
        </p:txBody>
      </p:sp>
    </p:spTree>
    <p:extLst>
      <p:ext uri="{BB962C8B-B14F-4D97-AF65-F5344CB8AC3E}">
        <p14:creationId xmlns:p14="http://schemas.microsoft.com/office/powerpoint/2010/main" val="3977121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dirty="0"/>
              <a:t>Structure of the Skin (Slide 2 of 3</a:t>
            </a:r>
            <a:r>
              <a:rPr lang="en-US" altLang="ja-JP" dirty="0"/>
              <a:t>)</a:t>
            </a:r>
            <a:endParaRPr lang="en-US" altLang="en-US" dirty="0"/>
          </a:p>
        </p:txBody>
      </p:sp>
      <p:sp>
        <p:nvSpPr>
          <p:cNvPr id="2" name="Content Placeholder 1"/>
          <p:cNvSpPr>
            <a:spLocks noGrp="1"/>
          </p:cNvSpPr>
          <p:nvPr>
            <p:ph idx="1"/>
          </p:nvPr>
        </p:nvSpPr>
        <p:spPr>
          <a:xfrm>
            <a:off x="1447800" y="2057400"/>
            <a:ext cx="6248400" cy="3048000"/>
          </a:xfrm>
        </p:spPr>
        <p:txBody>
          <a:bodyPr/>
          <a:lstStyle/>
          <a:p>
            <a:r>
              <a:rPr lang="en-US" dirty="0"/>
              <a:t>Epidermis layer contains:</a:t>
            </a:r>
          </a:p>
          <a:p>
            <a:r>
              <a:rPr lang="en-US" dirty="0"/>
              <a:t> Basal layer</a:t>
            </a:r>
          </a:p>
          <a:p>
            <a:r>
              <a:rPr lang="en-US" dirty="0"/>
              <a:t> Stratum </a:t>
            </a:r>
            <a:r>
              <a:rPr lang="en-US" dirty="0" err="1"/>
              <a:t>corneum</a:t>
            </a:r>
            <a:endParaRPr lang="en-US" dirty="0"/>
          </a:p>
          <a:p>
            <a:r>
              <a:rPr lang="en-US" dirty="0"/>
              <a:t> Melanocytes</a:t>
            </a:r>
          </a:p>
          <a:p>
            <a:endParaRPr lang="es-419" dirty="0"/>
          </a:p>
        </p:txBody>
      </p:sp>
    </p:spTree>
    <p:extLst>
      <p:ext uri="{BB962C8B-B14F-4D97-AF65-F5344CB8AC3E}">
        <p14:creationId xmlns:p14="http://schemas.microsoft.com/office/powerpoint/2010/main" val="705828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dirty="0"/>
              <a:t>Structure of the Skin (Slide 3 of 3</a:t>
            </a:r>
            <a:r>
              <a:rPr lang="en-US" altLang="ja-JP" dirty="0"/>
              <a:t>)</a:t>
            </a:r>
            <a:endParaRPr lang="en-US" altLang="en-US" sz="3600" dirty="0"/>
          </a:p>
        </p:txBody>
      </p:sp>
      <p:pic>
        <p:nvPicPr>
          <p:cNvPr id="5" name="Picture 7" descr="The 3 layers of skin are the epidermis, dermis, and subcutaneous layer. The most superficial layer is the stratum corneum. The deepest layer of the epidermis is the basal layer. The basal layer also contains melanocytes that contain a pigment called melanin that is transferred to other epidermal cells and gives color to ski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853704" y="1600200"/>
            <a:ext cx="5436592"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5318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title"/>
          </p:nvPr>
        </p:nvSpPr>
        <p:spPr/>
        <p:txBody>
          <a:bodyPr/>
          <a:lstStyle/>
          <a:p>
            <a:pPr eaLnBrk="1" hangingPunct="1"/>
            <a:r>
              <a:rPr lang="en-US" altLang="en-US" dirty="0"/>
              <a:t>Accessory Organs of the Skin:</a:t>
            </a:r>
            <a:br>
              <a:rPr lang="en-US" altLang="en-US" dirty="0"/>
            </a:br>
            <a:r>
              <a:rPr lang="en-US" altLang="en-US" dirty="0"/>
              <a:t>Hair (Slide 1 of 2)</a:t>
            </a:r>
          </a:p>
        </p:txBody>
      </p:sp>
      <p:sp>
        <p:nvSpPr>
          <p:cNvPr id="15363" name="Rectangle 6"/>
          <p:cNvSpPr>
            <a:spLocks noGrp="1" noChangeArrowheads="1"/>
          </p:cNvSpPr>
          <p:nvPr>
            <p:ph idx="1"/>
          </p:nvPr>
        </p:nvSpPr>
        <p:spPr>
          <a:xfrm>
            <a:off x="685800" y="1600200"/>
            <a:ext cx="7010400" cy="4191000"/>
          </a:xfrm>
        </p:spPr>
        <p:txBody>
          <a:bodyPr/>
          <a:lstStyle/>
          <a:p>
            <a:pPr eaLnBrk="1" hangingPunct="1">
              <a:buFont typeface="Wingdings 2" panose="05020102010507070707" pitchFamily="18" charset="2"/>
              <a:buNone/>
            </a:pPr>
            <a:r>
              <a:rPr lang="en-US" altLang="en-US" dirty="0"/>
              <a:t>Hair cells are filled with the hard protein;</a:t>
            </a:r>
          </a:p>
          <a:p>
            <a:pPr eaLnBrk="1" hangingPunct="1">
              <a:buFont typeface="Wingdings 2" panose="05020102010507070707" pitchFamily="18" charset="2"/>
              <a:buNone/>
            </a:pPr>
            <a:r>
              <a:rPr lang="en-US" altLang="en-US" dirty="0"/>
              <a:t>keratin</a:t>
            </a:r>
          </a:p>
          <a:p>
            <a:pPr lvl="1" eaLnBrk="1" hangingPunct="1">
              <a:buFont typeface="Wingdings" panose="05000000000000000000" pitchFamily="2" charset="2"/>
              <a:buChar char="Ø"/>
            </a:pPr>
            <a:r>
              <a:rPr lang="en-US" altLang="en-US" b="1" dirty="0"/>
              <a:t>Hair follicles:</a:t>
            </a:r>
            <a:r>
              <a:rPr lang="en-US" altLang="en-US" dirty="0"/>
              <a:t> shafts that hold the hair</a:t>
            </a:r>
          </a:p>
          <a:p>
            <a:pPr lvl="1" eaLnBrk="1" hangingPunct="1">
              <a:buFont typeface="Wingdings" panose="05000000000000000000" pitchFamily="2" charset="2"/>
              <a:buChar char="Ø"/>
            </a:pPr>
            <a:r>
              <a:rPr lang="en-US" altLang="en-US" dirty="0"/>
              <a:t>Five million hairs on the body; 100,000 on the head</a:t>
            </a:r>
          </a:p>
          <a:p>
            <a:pPr lvl="1" eaLnBrk="1" hangingPunct="1">
              <a:buFont typeface="Wingdings" panose="05000000000000000000" pitchFamily="2" charset="2"/>
              <a:buChar char="Ø"/>
            </a:pPr>
            <a:r>
              <a:rPr lang="en-US" altLang="en-US" dirty="0" err="1"/>
              <a:t>Melanocytes</a:t>
            </a:r>
            <a:r>
              <a:rPr lang="en-US" altLang="en-US" dirty="0"/>
              <a:t> at the root form the color</a:t>
            </a:r>
          </a:p>
          <a:p>
            <a:pPr lvl="1" eaLnBrk="1" hangingPunct="1">
              <a:buFont typeface="Wingdings" panose="05000000000000000000" pitchFamily="2" charset="2"/>
              <a:buChar char="Ø"/>
            </a:pPr>
            <a:r>
              <a:rPr lang="en-US" altLang="en-US" dirty="0"/>
              <a:t>Grows .5 inch (1.3 cm) per month</a:t>
            </a:r>
          </a:p>
          <a:p>
            <a:pPr lvl="1" eaLnBrk="1" hangingPunct="1">
              <a:buFont typeface="Wingdings" panose="05000000000000000000" pitchFamily="2" charset="2"/>
              <a:buChar char="Ø"/>
            </a:pPr>
            <a:r>
              <a:rPr lang="en-US" altLang="en-US" dirty="0"/>
              <a:t>Cutting does not affect growth</a:t>
            </a:r>
          </a:p>
        </p:txBody>
      </p:sp>
    </p:spTree>
    <p:extLst>
      <p:ext uri="{BB962C8B-B14F-4D97-AF65-F5344CB8AC3E}">
        <p14:creationId xmlns:p14="http://schemas.microsoft.com/office/powerpoint/2010/main" val="1824535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dirty="0"/>
              <a:t>Accessory Organs of the Skin:</a:t>
            </a:r>
            <a:br>
              <a:rPr lang="en-US" dirty="0"/>
            </a:br>
            <a:r>
              <a:rPr lang="en-US" dirty="0"/>
              <a:t>Hair (Slide 2 of 2</a:t>
            </a:r>
            <a:r>
              <a:rPr lang="en-US" altLang="ja-JP" dirty="0"/>
              <a:t>)</a:t>
            </a:r>
            <a:endParaRPr lang="en-US" dirty="0"/>
          </a:p>
        </p:txBody>
      </p:sp>
      <p:pic>
        <p:nvPicPr>
          <p:cNvPr id="5" name="Picture 7" descr="A hair fiber is composed of a tightly fused meshwork of cells filled with the hard protein called keratin. Melanocytes are located at the root of the hair follicle, and they donate the melanin pigment to the cells of the hair fibe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90800" y="1891887"/>
            <a:ext cx="3810000" cy="3790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726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p:cNvSpPr>
            <a:spLocks noGrp="1" noChangeArrowheads="1"/>
          </p:cNvSpPr>
          <p:nvPr>
            <p:ph type="title"/>
          </p:nvPr>
        </p:nvSpPr>
        <p:spPr/>
        <p:txBody>
          <a:bodyPr/>
          <a:lstStyle/>
          <a:p>
            <a:pPr eaLnBrk="1" hangingPunct="1"/>
            <a:r>
              <a:rPr lang="en-US" altLang="en-US" dirty="0"/>
              <a:t>Accessory Organs of Skin:</a:t>
            </a:r>
            <a:br>
              <a:rPr lang="en-US" altLang="en-US" dirty="0"/>
            </a:br>
            <a:r>
              <a:rPr lang="en-US" altLang="en-US" dirty="0"/>
              <a:t>Nails</a:t>
            </a:r>
          </a:p>
        </p:txBody>
      </p:sp>
      <p:sp>
        <p:nvSpPr>
          <p:cNvPr id="17411" name="Rectangle 7"/>
          <p:cNvSpPr>
            <a:spLocks noGrp="1" noChangeArrowheads="1"/>
          </p:cNvSpPr>
          <p:nvPr>
            <p:ph sz="half" idx="1"/>
          </p:nvPr>
        </p:nvSpPr>
        <p:spPr/>
        <p:txBody>
          <a:bodyPr/>
          <a:lstStyle/>
          <a:p>
            <a:pPr eaLnBrk="1" hangingPunct="1">
              <a:lnSpc>
                <a:spcPct val="110000"/>
              </a:lnSpc>
              <a:spcBef>
                <a:spcPct val="0"/>
              </a:spcBef>
              <a:buFont typeface="Wingdings 2" panose="05020102010507070707" pitchFamily="18" charset="2"/>
              <a:buNone/>
            </a:pPr>
            <a:r>
              <a:rPr lang="en-US" altLang="en-US" sz="2400" dirty="0"/>
              <a:t>Hard keratin plates covering the toes and fingers</a:t>
            </a:r>
          </a:p>
          <a:p>
            <a:pPr lvl="1" eaLnBrk="1" hangingPunct="1">
              <a:buFont typeface="Wingdings" panose="05000000000000000000" pitchFamily="2" charset="2"/>
              <a:buChar char="Ø"/>
            </a:pPr>
            <a:r>
              <a:rPr lang="en-US" altLang="en-US" dirty="0" err="1"/>
              <a:t>Lunula</a:t>
            </a:r>
            <a:endParaRPr lang="en-US" altLang="en-US" dirty="0"/>
          </a:p>
          <a:p>
            <a:pPr lvl="1" eaLnBrk="1" hangingPunct="1">
              <a:buFont typeface="Wingdings" panose="05000000000000000000" pitchFamily="2" charset="2"/>
              <a:buChar char="Ø"/>
            </a:pPr>
            <a:r>
              <a:rPr lang="en-US" altLang="en-US" dirty="0"/>
              <a:t>Cuticle</a:t>
            </a:r>
          </a:p>
          <a:p>
            <a:pPr lvl="1" eaLnBrk="1" hangingPunct="1">
              <a:buFont typeface="Wingdings" panose="05000000000000000000" pitchFamily="2" charset="2"/>
              <a:buChar char="Ø"/>
            </a:pPr>
            <a:r>
              <a:rPr lang="en-US" altLang="en-US" dirty="0" err="1"/>
              <a:t>Paronychium</a:t>
            </a:r>
            <a:endParaRPr lang="en-US" altLang="en-US" dirty="0"/>
          </a:p>
        </p:txBody>
      </p:sp>
      <p:pic>
        <p:nvPicPr>
          <p:cNvPr id="6" name="Picture 13" descr="The structures of the nail are lunula (half-moon-shaped) whitish region at the base of the nail plate; cuticle, which is the narrow band of epidermis at the base and sides of nail plate; and paronychium, which is the soft tissue surrounding the nail borde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2025618"/>
            <a:ext cx="4038600" cy="36751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3275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p:txBody>
          <a:bodyPr/>
          <a:lstStyle/>
          <a:p>
            <a:pPr eaLnBrk="1" hangingPunct="1"/>
            <a:r>
              <a:rPr lang="en-US" altLang="en-US" dirty="0"/>
              <a:t>Accessory Organs of Skin:</a:t>
            </a:r>
            <a:br>
              <a:rPr lang="en-US" altLang="en-US" dirty="0"/>
            </a:br>
            <a:r>
              <a:rPr lang="en-US" altLang="en-US" dirty="0"/>
              <a:t>Glands (Slide 1 of 2</a:t>
            </a:r>
            <a:r>
              <a:rPr lang="en-US" altLang="ja-JP" dirty="0"/>
              <a:t>)</a:t>
            </a:r>
            <a:endParaRPr lang="en-US" altLang="en-US" sz="3600" dirty="0"/>
          </a:p>
        </p:txBody>
      </p:sp>
      <p:sp>
        <p:nvSpPr>
          <p:cNvPr id="18435" name="Rectangle 5"/>
          <p:cNvSpPr>
            <a:spLocks noGrp="1" noChangeArrowheads="1"/>
          </p:cNvSpPr>
          <p:nvPr>
            <p:ph idx="1"/>
          </p:nvPr>
        </p:nvSpPr>
        <p:spPr/>
        <p:txBody>
          <a:bodyPr/>
          <a:lstStyle/>
          <a:p>
            <a:pPr eaLnBrk="1" hangingPunct="1">
              <a:buFont typeface="Wingdings 2" panose="05020102010507070707" pitchFamily="18" charset="2"/>
              <a:buNone/>
            </a:pPr>
            <a:r>
              <a:rPr lang="en-US" altLang="en-US" b="1" dirty="0"/>
              <a:t>Glands:</a:t>
            </a:r>
            <a:r>
              <a:rPr lang="en-US" altLang="en-US" dirty="0"/>
              <a:t> sebaceous and sweat </a:t>
            </a:r>
          </a:p>
          <a:p>
            <a:pPr eaLnBrk="1" hangingPunct="1"/>
            <a:r>
              <a:rPr lang="en-US" altLang="en-US" dirty="0"/>
              <a:t>Sebaceous glands secrete oily sebum into the hair follicle to lubricate. </a:t>
            </a:r>
          </a:p>
          <a:p>
            <a:pPr eaLnBrk="1" hangingPunct="1"/>
            <a:r>
              <a:rPr lang="en-US" altLang="en-US" dirty="0"/>
              <a:t>Sweat glands secrete into pores to moisten and cool. </a:t>
            </a:r>
          </a:p>
          <a:p>
            <a:pPr eaLnBrk="1" hangingPunct="1"/>
            <a:r>
              <a:rPr lang="en-US" altLang="en-US" dirty="0"/>
              <a:t>Both are subject to bacterial growth.</a:t>
            </a:r>
          </a:p>
        </p:txBody>
      </p:sp>
    </p:spTree>
    <p:extLst>
      <p:ext uri="{BB962C8B-B14F-4D97-AF65-F5344CB8AC3E}">
        <p14:creationId xmlns:p14="http://schemas.microsoft.com/office/powerpoint/2010/main" val="494212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p:cNvSpPr>
            <a:spLocks noGrp="1" noChangeArrowheads="1"/>
          </p:cNvSpPr>
          <p:nvPr>
            <p:ph type="title"/>
          </p:nvPr>
        </p:nvSpPr>
        <p:spPr/>
        <p:txBody>
          <a:bodyPr/>
          <a:lstStyle/>
          <a:p>
            <a:pPr eaLnBrk="1" hangingPunct="1"/>
            <a:r>
              <a:rPr lang="en-US" altLang="en-US" dirty="0"/>
              <a:t>Accessory Organs of Skin: </a:t>
            </a:r>
            <a:br>
              <a:rPr lang="en-US" altLang="en-US" dirty="0"/>
            </a:br>
            <a:r>
              <a:rPr lang="en-US" altLang="en-US" dirty="0"/>
              <a:t>Glands (Slide 2 of 2</a:t>
            </a:r>
            <a:r>
              <a:rPr lang="en-US" altLang="ja-JP" dirty="0"/>
              <a:t>)</a:t>
            </a:r>
            <a:endParaRPr lang="en-US" altLang="en-US" dirty="0"/>
          </a:p>
        </p:txBody>
      </p:sp>
      <p:sp>
        <p:nvSpPr>
          <p:cNvPr id="19459" name="Rectangle 1027"/>
          <p:cNvSpPr>
            <a:spLocks noGrp="1" noChangeArrowheads="1"/>
          </p:cNvSpPr>
          <p:nvPr>
            <p:ph sz="half" idx="1"/>
          </p:nvPr>
        </p:nvSpPr>
        <p:spPr/>
        <p:txBody>
          <a:bodyPr/>
          <a:lstStyle/>
          <a:p>
            <a:pPr eaLnBrk="1" hangingPunct="1">
              <a:buFont typeface="Wingdings 2" panose="05020102010507070707" pitchFamily="18" charset="2"/>
              <a:buNone/>
            </a:pPr>
            <a:r>
              <a:rPr lang="en-US" altLang="en-US" dirty="0"/>
              <a:t>Sebaceous gland, </a:t>
            </a:r>
            <a:r>
              <a:rPr lang="en-US" altLang="en-US" dirty="0" err="1"/>
              <a:t>eccrine</a:t>
            </a:r>
            <a:r>
              <a:rPr lang="en-US" altLang="en-US" dirty="0"/>
              <a:t> sweat gland, and </a:t>
            </a:r>
            <a:r>
              <a:rPr lang="en-US" altLang="en-US" dirty="0" err="1"/>
              <a:t>apocrine</a:t>
            </a:r>
            <a:r>
              <a:rPr lang="en-US" altLang="en-US" dirty="0"/>
              <a:t> sweat gland</a:t>
            </a:r>
          </a:p>
        </p:txBody>
      </p:sp>
      <p:pic>
        <p:nvPicPr>
          <p:cNvPr id="6" name="Picture 1030" descr="Sebaceous glands are located in the dermal layer of skin over the entire body, with exception of the palms, soles, and lips. Sweat glands (most common are eccrine sweat glands) are tiny, coiled glands found on almost all body surfaces. The tiny opening on the surface is a pore. Apocrine sweat glands are a special variety of sweat gland, active only from puberty onward and larger the ordinary kind. These are concentrated in a few areas of the body near reproductive organs and the armpit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838700" y="2305653"/>
            <a:ext cx="3657600" cy="31150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4989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 of 16)</a:t>
            </a:r>
          </a:p>
        </p:txBody>
      </p:sp>
      <p:graphicFrame>
        <p:nvGraphicFramePr>
          <p:cNvPr id="8" name="Content Placeholder 7" descr="Group 1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009192299"/>
              </p:ext>
            </p:extLst>
          </p:nvPr>
        </p:nvGraphicFramePr>
        <p:xfrm>
          <a:off x="3238500" y="1905000"/>
          <a:ext cx="2667000" cy="21945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adipocyte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albino</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apocrine sweat gland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44248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 of 16)</a:t>
            </a:r>
          </a:p>
        </p:txBody>
      </p:sp>
      <p:graphicFrame>
        <p:nvGraphicFramePr>
          <p:cNvPr id="8" name="Content Placeholder 7" descr="Group 1 of 8.  List of vocabulary terms  with corresponding meanings or definitions."/>
          <p:cNvGraphicFramePr>
            <a:graphicFrameLocks noGrp="1"/>
          </p:cNvGraphicFramePr>
          <p:nvPr>
            <p:ph idx="1"/>
            <p:extLst>
              <p:ext uri="{D42A27DB-BD31-4B8C-83A1-F6EECF244321}">
                <p14:modId xmlns:p14="http://schemas.microsoft.com/office/powerpoint/2010/main" val="1338636108"/>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adipocyte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Fat cell</a:t>
                      </a:r>
                    </a:p>
                  </a:txBody>
                  <a:tcPr/>
                </a:tc>
                <a:extLst>
                  <a:ext uri="{0D108BD9-81ED-4DB2-BD59-A6C34878D82A}">
                    <a16:rowId xmlns:a16="http://schemas.microsoft.com/office/drawing/2014/main" val="10001"/>
                  </a:ext>
                </a:extLst>
              </a:tr>
              <a:tr h="370840">
                <a:tc>
                  <a:txBody>
                    <a:bodyPr/>
                    <a:lstStyle/>
                    <a:p>
                      <a:r>
                        <a:rPr lang="en-US" altLang="en-US" sz="2400" dirty="0"/>
                        <a:t>albino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Person with skin deficient in pigment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apocrine sweat gland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One of the large dermal exocrine glands located in the axilla and genital areas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06760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 of 16)</a:t>
            </a:r>
          </a:p>
        </p:txBody>
      </p:sp>
      <p:graphicFrame>
        <p:nvGraphicFramePr>
          <p:cNvPr id="8" name="Content Placeholder 7" descr="Group 2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23246593"/>
              </p:ext>
            </p:extLst>
          </p:nvPr>
        </p:nvGraphicFramePr>
        <p:xfrm>
          <a:off x="3429000" y="23622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basal layer</a:t>
                      </a:r>
                    </a:p>
                  </a:txBody>
                  <a:tcPr/>
                </a:tc>
                <a:extLst>
                  <a:ext uri="{0D108BD9-81ED-4DB2-BD59-A6C34878D82A}">
                    <a16:rowId xmlns:a16="http://schemas.microsoft.com/office/drawing/2014/main" val="10001"/>
                  </a:ext>
                </a:extLst>
              </a:tr>
              <a:tr h="370840">
                <a:tc>
                  <a:txBody>
                    <a:bodyPr/>
                    <a:lstStyle/>
                    <a:p>
                      <a:r>
                        <a:rPr lang="en-US" altLang="en-US" sz="2400" dirty="0"/>
                        <a:t>collagen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cuticle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29862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4 of 16)</a:t>
            </a:r>
          </a:p>
        </p:txBody>
      </p:sp>
      <p:graphicFrame>
        <p:nvGraphicFramePr>
          <p:cNvPr id="8" name="Content Placeholder 7" descr="Group 2 of 8.  List of vocabulary terms  with corresponding meanings or definitions."/>
          <p:cNvGraphicFramePr>
            <a:graphicFrameLocks noGrp="1"/>
          </p:cNvGraphicFramePr>
          <p:nvPr>
            <p:ph idx="1"/>
            <p:extLst>
              <p:ext uri="{D42A27DB-BD31-4B8C-83A1-F6EECF244321}">
                <p14:modId xmlns:p14="http://schemas.microsoft.com/office/powerpoint/2010/main" val="1308386470"/>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basal layer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Deepest region of the epidermis; gives rise to all the epidermal cells</a:t>
                      </a:r>
                    </a:p>
                  </a:txBody>
                  <a:tcPr/>
                </a:tc>
                <a:extLst>
                  <a:ext uri="{0D108BD9-81ED-4DB2-BD59-A6C34878D82A}">
                    <a16:rowId xmlns:a16="http://schemas.microsoft.com/office/drawing/2014/main" val="10001"/>
                  </a:ext>
                </a:extLst>
              </a:tr>
              <a:tr h="370840">
                <a:tc>
                  <a:txBody>
                    <a:bodyPr/>
                    <a:lstStyle/>
                    <a:p>
                      <a:r>
                        <a:rPr lang="en-US" altLang="en-US" sz="2400" dirty="0"/>
                        <a:t>collagen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Structural protein found in the skin and connective tissue</a:t>
                      </a:r>
                    </a:p>
                  </a:txBody>
                  <a:tcPr/>
                </a:tc>
                <a:extLst>
                  <a:ext uri="{0D108BD9-81ED-4DB2-BD59-A6C34878D82A}">
                    <a16:rowId xmlns:a16="http://schemas.microsoft.com/office/drawing/2014/main" val="10002"/>
                  </a:ext>
                </a:extLst>
              </a:tr>
              <a:tr h="370840">
                <a:tc>
                  <a:txBody>
                    <a:bodyPr/>
                    <a:lstStyle/>
                    <a:p>
                      <a:r>
                        <a:rPr lang="en-US" altLang="en-US" sz="2400" dirty="0"/>
                        <a:t>cuticle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Band of epidermis at the base and sides of the nail plate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16831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5 of 16)</a:t>
            </a:r>
          </a:p>
        </p:txBody>
      </p:sp>
      <p:graphicFrame>
        <p:nvGraphicFramePr>
          <p:cNvPr id="8" name="Content Placeholder 7" descr="Group 3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903056873"/>
              </p:ext>
            </p:extLst>
          </p:nvPr>
        </p:nvGraphicFramePr>
        <p:xfrm>
          <a:off x="3238500" y="2057400"/>
          <a:ext cx="2667000" cy="21945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dermis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ecocrine</a:t>
                      </a:r>
                      <a:r>
                        <a:rPr lang="en-US" altLang="en-US" sz="2400" dirty="0"/>
                        <a:t> sweat gland</a:t>
                      </a:r>
                    </a:p>
                  </a:txBody>
                  <a:tcPr/>
                </a:tc>
                <a:extLst>
                  <a:ext uri="{0D108BD9-81ED-4DB2-BD59-A6C34878D82A}">
                    <a16:rowId xmlns:a16="http://schemas.microsoft.com/office/drawing/2014/main" val="10002"/>
                  </a:ext>
                </a:extLst>
              </a:tr>
              <a:tr h="370840">
                <a:tc>
                  <a:txBody>
                    <a:bodyPr/>
                    <a:lstStyle/>
                    <a:p>
                      <a:r>
                        <a:rPr lang="en-US" altLang="en-US" sz="2400" dirty="0"/>
                        <a:t>epidermis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6490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6 of 16)</a:t>
            </a:r>
          </a:p>
        </p:txBody>
      </p:sp>
      <p:graphicFrame>
        <p:nvGraphicFramePr>
          <p:cNvPr id="8" name="Content Placeholder 7" descr="Group 3 of 8.  List of vocabulary terms  with corresponding meanings or definitions."/>
          <p:cNvGraphicFramePr>
            <a:graphicFrameLocks noGrp="1"/>
          </p:cNvGraphicFramePr>
          <p:nvPr>
            <p:ph idx="1"/>
            <p:extLst>
              <p:ext uri="{D42A27DB-BD31-4B8C-83A1-F6EECF244321}">
                <p14:modId xmlns:p14="http://schemas.microsoft.com/office/powerpoint/2010/main" val="1657098683"/>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dermis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Middle layer of the skin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eccrine</a:t>
                      </a:r>
                      <a:r>
                        <a:rPr lang="en-US" altLang="en-US" sz="2400" dirty="0"/>
                        <a:t> sweat gland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Most numerous sweat-producing exocrine gland in skin</a:t>
                      </a:r>
                    </a:p>
                  </a:txBody>
                  <a:tcPr/>
                </a:tc>
                <a:extLst>
                  <a:ext uri="{0D108BD9-81ED-4DB2-BD59-A6C34878D82A}">
                    <a16:rowId xmlns:a16="http://schemas.microsoft.com/office/drawing/2014/main" val="10002"/>
                  </a:ext>
                </a:extLst>
              </a:tr>
              <a:tr h="370840">
                <a:tc>
                  <a:txBody>
                    <a:bodyPr/>
                    <a:lstStyle/>
                    <a:p>
                      <a:r>
                        <a:rPr lang="en-US" altLang="en-US" sz="2400" dirty="0"/>
                        <a:t>epidermis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Outermost layer of the skin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80618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7 of 16)</a:t>
            </a:r>
          </a:p>
        </p:txBody>
      </p:sp>
      <p:graphicFrame>
        <p:nvGraphicFramePr>
          <p:cNvPr id="8" name="Content Placeholder 7" descr="Group 4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005449426"/>
              </p:ext>
            </p:extLst>
          </p:nvPr>
        </p:nvGraphicFramePr>
        <p:xfrm>
          <a:off x="2819400" y="2133600"/>
          <a:ext cx="3962400" cy="1828800"/>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epithelium</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hair follicle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integumentary system</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23170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8 of 16)</a:t>
            </a:r>
          </a:p>
        </p:txBody>
      </p:sp>
      <p:graphicFrame>
        <p:nvGraphicFramePr>
          <p:cNvPr id="8" name="Content Placeholder 7" descr="Group 4 of 8.  List of vocabulary terms  with corresponding meanings or definitions."/>
          <p:cNvGraphicFramePr>
            <a:graphicFrameLocks noGrp="1"/>
          </p:cNvGraphicFramePr>
          <p:nvPr>
            <p:ph idx="1"/>
            <p:extLst>
              <p:ext uri="{D42A27DB-BD31-4B8C-83A1-F6EECF244321}">
                <p14:modId xmlns:p14="http://schemas.microsoft.com/office/powerpoint/2010/main" val="233190296"/>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epithelium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Layer of skin cells forming the outer and inner surfaces of the body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hair follicle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Sac within which each hair grows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integumentary system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skin and its accessory structures such as hair and nails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23108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9 of 16)</a:t>
            </a:r>
          </a:p>
        </p:txBody>
      </p:sp>
      <p:graphicFrame>
        <p:nvGraphicFramePr>
          <p:cNvPr id="8" name="Content Placeholder 7" descr="Group 5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559590236"/>
              </p:ext>
            </p:extLst>
          </p:nvPr>
        </p:nvGraphicFramePr>
        <p:xfrm>
          <a:off x="3238500" y="20574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keratin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lunula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melanin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63369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10 of 16)</a:t>
            </a:r>
          </a:p>
        </p:txBody>
      </p:sp>
      <p:graphicFrame>
        <p:nvGraphicFramePr>
          <p:cNvPr id="8" name="Content Placeholder 7" descr="Group 5 of 8.  List of vocabulary terms  with corresponding meanings or definitions."/>
          <p:cNvGraphicFramePr>
            <a:graphicFrameLocks noGrp="1"/>
          </p:cNvGraphicFramePr>
          <p:nvPr>
            <p:ph idx="1"/>
            <p:extLst>
              <p:ext uri="{D42A27DB-BD31-4B8C-83A1-F6EECF244321}">
                <p14:modId xmlns:p14="http://schemas.microsoft.com/office/powerpoint/2010/main" val="54543456"/>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keratin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Hard protein material found in the epidermis, hair, and nails</a:t>
                      </a:r>
                    </a:p>
                  </a:txBody>
                  <a:tcPr/>
                </a:tc>
                <a:extLst>
                  <a:ext uri="{0D108BD9-81ED-4DB2-BD59-A6C34878D82A}">
                    <a16:rowId xmlns:a16="http://schemas.microsoft.com/office/drawing/2014/main" val="10001"/>
                  </a:ext>
                </a:extLst>
              </a:tr>
              <a:tr h="370840">
                <a:tc>
                  <a:txBody>
                    <a:bodyPr/>
                    <a:lstStyle/>
                    <a:p>
                      <a:r>
                        <a:rPr lang="en-US" altLang="en-US" sz="2400" dirty="0" err="1"/>
                        <a:t>lunula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Half-moon-shaped, whitish area at the base of a nail</a:t>
                      </a:r>
                    </a:p>
                  </a:txBody>
                  <a:tcPr/>
                </a:tc>
                <a:extLst>
                  <a:ext uri="{0D108BD9-81ED-4DB2-BD59-A6C34878D82A}">
                    <a16:rowId xmlns:a16="http://schemas.microsoft.com/office/drawing/2014/main" val="10002"/>
                  </a:ext>
                </a:extLst>
              </a:tr>
              <a:tr h="370840">
                <a:tc>
                  <a:txBody>
                    <a:bodyPr/>
                    <a:lstStyle/>
                    <a:p>
                      <a:r>
                        <a:rPr lang="en-US" altLang="en-US" sz="2400" dirty="0"/>
                        <a:t>melanin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Skin pigment formed by melanocytes in the epidermis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582249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11 of 16)</a:t>
            </a:r>
          </a:p>
        </p:txBody>
      </p:sp>
      <p:graphicFrame>
        <p:nvGraphicFramePr>
          <p:cNvPr id="8" name="Content Placeholder 7" descr="Group 6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092143953"/>
              </p:ext>
            </p:extLst>
          </p:nvPr>
        </p:nvGraphicFramePr>
        <p:xfrm>
          <a:off x="3238500" y="22860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err="1"/>
                        <a:t>paronychium</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pore</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sebaceous gland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80794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12 of 16)</a:t>
            </a:r>
          </a:p>
        </p:txBody>
      </p:sp>
      <p:graphicFrame>
        <p:nvGraphicFramePr>
          <p:cNvPr id="8" name="Content Placeholder 7" descr="Group 6 of 8.  List of vocabulary terms  with corresponding meanings or definitions."/>
          <p:cNvGraphicFramePr>
            <a:graphicFrameLocks noGrp="1"/>
          </p:cNvGraphicFramePr>
          <p:nvPr>
            <p:ph idx="1"/>
            <p:extLst>
              <p:ext uri="{D42A27DB-BD31-4B8C-83A1-F6EECF244321}">
                <p14:modId xmlns:p14="http://schemas.microsoft.com/office/powerpoint/2010/main" val="991614195"/>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err="1"/>
                        <a:t>paronychium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Soft tissue surrounding the nail border</a:t>
                      </a:r>
                    </a:p>
                  </a:txBody>
                  <a:tcPr/>
                </a:tc>
                <a:extLst>
                  <a:ext uri="{0D108BD9-81ED-4DB2-BD59-A6C34878D82A}">
                    <a16:rowId xmlns:a16="http://schemas.microsoft.com/office/drawing/2014/main" val="10001"/>
                  </a:ext>
                </a:extLst>
              </a:tr>
              <a:tr h="370840">
                <a:tc>
                  <a:txBody>
                    <a:bodyPr/>
                    <a:lstStyle/>
                    <a:p>
                      <a:r>
                        <a:rPr lang="en-US" altLang="en-US" sz="2400" dirty="0"/>
                        <a:t>pore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Tiny opening on the surface of the skin</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sebaceous gland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Oil-secreting gland in the dermis that is associated with hair follicles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98527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13 of 16)</a:t>
            </a:r>
          </a:p>
        </p:txBody>
      </p:sp>
      <p:graphicFrame>
        <p:nvGraphicFramePr>
          <p:cNvPr id="8" name="Content Placeholder 7" descr="Group 7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036983265"/>
              </p:ext>
            </p:extLst>
          </p:nvPr>
        </p:nvGraphicFramePr>
        <p:xfrm>
          <a:off x="2514600" y="2209800"/>
          <a:ext cx="4495800" cy="1828800"/>
        </p:xfrm>
        <a:graphic>
          <a:graphicData uri="http://schemas.openxmlformats.org/drawingml/2006/table">
            <a:tbl>
              <a:tblPr firstRow="1" bandRow="1">
                <a:tableStyleId>{5C22544A-7EE6-4342-B048-85BDC9FD1C3A}</a:tableStyleId>
              </a:tblPr>
              <a:tblGrid>
                <a:gridCol w="4495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sebum</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squamous epithelium</a:t>
                      </a:r>
                    </a:p>
                  </a:txBody>
                  <a:tcPr/>
                </a:tc>
                <a:extLst>
                  <a:ext uri="{0D108BD9-81ED-4DB2-BD59-A6C34878D82A}">
                    <a16:rowId xmlns:a16="http://schemas.microsoft.com/office/drawing/2014/main" val="10002"/>
                  </a:ext>
                </a:extLst>
              </a:tr>
              <a:tr h="370840">
                <a:tc>
                  <a:txBody>
                    <a:bodyPr/>
                    <a:lstStyle/>
                    <a:p>
                      <a:r>
                        <a:rPr lang="en-US" altLang="en-US" sz="2400" dirty="0"/>
                        <a:t>stratified</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74220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14 of 16)</a:t>
            </a:r>
          </a:p>
        </p:txBody>
      </p:sp>
      <p:graphicFrame>
        <p:nvGraphicFramePr>
          <p:cNvPr id="8" name="Content Placeholder 7" descr="Group 7 of 8.  List of vocabulary terms  with corresponding meanings or definitions."/>
          <p:cNvGraphicFramePr>
            <a:graphicFrameLocks noGrp="1"/>
          </p:cNvGraphicFramePr>
          <p:nvPr>
            <p:ph idx="1"/>
            <p:extLst>
              <p:ext uri="{D42A27DB-BD31-4B8C-83A1-F6EECF244321}">
                <p14:modId xmlns:p14="http://schemas.microsoft.com/office/powerpoint/2010/main" val="2589040686"/>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sebum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Oily substance secreted by sebaceous glands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squamous epithelium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Flat, scale-like cells composing the epidermis</a:t>
                      </a:r>
                    </a:p>
                  </a:txBody>
                  <a:tcPr/>
                </a:tc>
                <a:extLst>
                  <a:ext uri="{0D108BD9-81ED-4DB2-BD59-A6C34878D82A}">
                    <a16:rowId xmlns:a16="http://schemas.microsoft.com/office/drawing/2014/main" val="10002"/>
                  </a:ext>
                </a:extLst>
              </a:tr>
              <a:tr h="370840">
                <a:tc>
                  <a:txBody>
                    <a:bodyPr/>
                    <a:lstStyle/>
                    <a:p>
                      <a:r>
                        <a:rPr lang="en-US" altLang="en-US" sz="2400" dirty="0"/>
                        <a:t>stratified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Arranged in layers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75185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15 of 16)</a:t>
            </a:r>
          </a:p>
        </p:txBody>
      </p:sp>
      <p:graphicFrame>
        <p:nvGraphicFramePr>
          <p:cNvPr id="8" name="Content Placeholder 7" descr="Group 8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243826268"/>
              </p:ext>
            </p:extLst>
          </p:nvPr>
        </p:nvGraphicFramePr>
        <p:xfrm>
          <a:off x="2514600" y="1828800"/>
          <a:ext cx="41148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stratum (</a:t>
                      </a:r>
                      <a:r>
                        <a:rPr lang="en-US" altLang="en-US" sz="2400" i="1" dirty="0"/>
                        <a:t>plural:</a:t>
                      </a:r>
                      <a:r>
                        <a:rPr lang="en-US" altLang="en-US" sz="2400" dirty="0"/>
                        <a:t> strata)</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stratum </a:t>
                      </a:r>
                      <a:r>
                        <a:rPr lang="en-US" altLang="en-US" sz="2400" dirty="0" err="1"/>
                        <a:t>corneum</a:t>
                      </a:r>
                      <a:endParaRPr lang="en-US" alt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subcutaneous layer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95800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16 of 16)</a:t>
            </a:r>
          </a:p>
        </p:txBody>
      </p:sp>
      <p:graphicFrame>
        <p:nvGraphicFramePr>
          <p:cNvPr id="8" name="Content Placeholder 7" descr="Group 8 of 8.  List of vocabulary terms  with corresponding meanings or definitions."/>
          <p:cNvGraphicFramePr>
            <a:graphicFrameLocks noGrp="1"/>
          </p:cNvGraphicFramePr>
          <p:nvPr>
            <p:ph idx="1"/>
            <p:extLst>
              <p:ext uri="{D42A27DB-BD31-4B8C-83A1-F6EECF244321}">
                <p14:modId xmlns:p14="http://schemas.microsoft.com/office/powerpoint/2010/main" val="215403067"/>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stratum (</a:t>
                      </a:r>
                      <a:r>
                        <a:rPr lang="en-US" altLang="en-US" sz="2400" i="1" dirty="0"/>
                        <a:t>plural:</a:t>
                      </a:r>
                      <a:r>
                        <a:rPr lang="en-US" altLang="en-US" sz="2400" dirty="0"/>
                        <a:t> strata)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 layer (of cells)</a:t>
                      </a:r>
                    </a:p>
                    <a:p>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stratum </a:t>
                      </a:r>
                      <a:r>
                        <a:rPr lang="en-US" altLang="en-US" sz="2400" dirty="0" err="1"/>
                        <a:t>corneum</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Outermost layer of the epidermis; consists of flattened, keratinized cells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subcutaneous layer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Innermost layer of the skin, containing fat tissue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22508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(Slide 1 of 5)</a:t>
            </a:r>
          </a:p>
        </p:txBody>
      </p:sp>
      <p:graphicFrame>
        <p:nvGraphicFramePr>
          <p:cNvPr id="8" name="Content Placeholder 7" descr="Group 1 of 5 combining forms from the Terminology:  Combining Forms section of the textbook  with corresponding meanings or definitions. "/>
          <p:cNvGraphicFramePr>
            <a:graphicFrameLocks noGrp="1"/>
          </p:cNvGraphicFramePr>
          <p:nvPr>
            <p:ph idx="1"/>
            <p:extLst>
              <p:ext uri="{D42A27DB-BD31-4B8C-83A1-F6EECF244321}">
                <p14:modId xmlns:p14="http://schemas.microsoft.com/office/powerpoint/2010/main" val="1177434404"/>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adip</a:t>
                      </a:r>
                      <a:r>
                        <a:rPr lang="en-US" sz="2400" b="1" dirty="0"/>
                        <a:t>/o</a:t>
                      </a:r>
                      <a:endParaRPr lang="en-US" sz="2400" dirty="0"/>
                    </a:p>
                  </a:txBody>
                  <a:tcPr/>
                </a:tc>
                <a:tc>
                  <a:txBody>
                    <a:bodyPr/>
                    <a:lstStyle/>
                    <a:p>
                      <a:r>
                        <a:rPr lang="en-US" sz="2400" dirty="0"/>
                        <a:t>fat</a:t>
                      </a:r>
                    </a:p>
                  </a:txBody>
                  <a:tcPr/>
                </a:tc>
                <a:extLst>
                  <a:ext uri="{0D108BD9-81ED-4DB2-BD59-A6C34878D82A}">
                    <a16:rowId xmlns:a16="http://schemas.microsoft.com/office/drawing/2014/main" val="10001"/>
                  </a:ext>
                </a:extLst>
              </a:tr>
              <a:tr h="370840">
                <a:tc>
                  <a:txBody>
                    <a:bodyPr/>
                    <a:lstStyle/>
                    <a:p>
                      <a:r>
                        <a:rPr lang="en-US" sz="2400" b="1" dirty="0" err="1"/>
                        <a:t>albin</a:t>
                      </a:r>
                      <a:r>
                        <a:rPr lang="en-US" sz="2400" b="1" dirty="0"/>
                        <a:t>/o</a:t>
                      </a:r>
                      <a:endParaRPr lang="en-US" sz="2400" dirty="0"/>
                    </a:p>
                  </a:txBody>
                  <a:tcPr/>
                </a:tc>
                <a:tc>
                  <a:txBody>
                    <a:bodyPr/>
                    <a:lstStyle/>
                    <a:p>
                      <a:r>
                        <a:rPr lang="en-US" sz="2400" dirty="0"/>
                        <a:t>white</a:t>
                      </a:r>
                    </a:p>
                  </a:txBody>
                  <a:tcPr/>
                </a:tc>
                <a:extLst>
                  <a:ext uri="{0D108BD9-81ED-4DB2-BD59-A6C34878D82A}">
                    <a16:rowId xmlns:a16="http://schemas.microsoft.com/office/drawing/2014/main" val="10002"/>
                  </a:ext>
                </a:extLst>
              </a:tr>
              <a:tr h="370840">
                <a:tc>
                  <a:txBody>
                    <a:bodyPr/>
                    <a:lstStyle/>
                    <a:p>
                      <a:r>
                        <a:rPr lang="en-US" sz="2400" b="1" dirty="0" err="1"/>
                        <a:t>caus</a:t>
                      </a:r>
                      <a:r>
                        <a:rPr lang="en-US" sz="2400" b="1" dirty="0"/>
                        <a:t>/o</a:t>
                      </a:r>
                      <a:endParaRPr lang="en-US" sz="2400" dirty="0"/>
                    </a:p>
                  </a:txBody>
                  <a:tcPr/>
                </a:tc>
                <a:tc>
                  <a:txBody>
                    <a:bodyPr/>
                    <a:lstStyle/>
                    <a:p>
                      <a:r>
                        <a:rPr lang="en-US" sz="2400" dirty="0"/>
                        <a:t>burn, burning</a:t>
                      </a:r>
                    </a:p>
                  </a:txBody>
                  <a:tcPr/>
                </a:tc>
                <a:extLst>
                  <a:ext uri="{0D108BD9-81ED-4DB2-BD59-A6C34878D82A}">
                    <a16:rowId xmlns:a16="http://schemas.microsoft.com/office/drawing/2014/main" val="10003"/>
                  </a:ext>
                </a:extLst>
              </a:tr>
              <a:tr h="370840">
                <a:tc>
                  <a:txBody>
                    <a:bodyPr/>
                    <a:lstStyle/>
                    <a:p>
                      <a:r>
                        <a:rPr lang="en-US" sz="2400" b="1" dirty="0" err="1"/>
                        <a:t>cauter</a:t>
                      </a:r>
                      <a:r>
                        <a:rPr lang="en-US" sz="2400" b="1" dirty="0"/>
                        <a:t>/o</a:t>
                      </a:r>
                      <a:endParaRPr lang="en-US" sz="2400" dirty="0"/>
                    </a:p>
                  </a:txBody>
                  <a:tcPr/>
                </a:tc>
                <a:tc>
                  <a:txBody>
                    <a:bodyPr/>
                    <a:lstStyle/>
                    <a:p>
                      <a:r>
                        <a:rPr lang="en-US" sz="2400" dirty="0"/>
                        <a:t>heat, burn</a:t>
                      </a:r>
                    </a:p>
                  </a:txBody>
                  <a:tcPr/>
                </a:tc>
                <a:extLst>
                  <a:ext uri="{0D108BD9-81ED-4DB2-BD59-A6C34878D82A}">
                    <a16:rowId xmlns:a16="http://schemas.microsoft.com/office/drawing/2014/main" val="10004"/>
                  </a:ext>
                </a:extLst>
              </a:tr>
              <a:tr h="370840">
                <a:tc>
                  <a:txBody>
                    <a:bodyPr/>
                    <a:lstStyle/>
                    <a:p>
                      <a:r>
                        <a:rPr lang="en-US" sz="2400" b="1" dirty="0" err="1"/>
                        <a:t>cutane</a:t>
                      </a:r>
                      <a:r>
                        <a:rPr lang="en-US" sz="2400" b="1" dirty="0"/>
                        <a:t>/o</a:t>
                      </a:r>
                      <a:endParaRPr lang="en-US" sz="2400" dirty="0"/>
                    </a:p>
                  </a:txBody>
                  <a:tcPr/>
                </a:tc>
                <a:tc>
                  <a:txBody>
                    <a:bodyPr/>
                    <a:lstStyle/>
                    <a:p>
                      <a:r>
                        <a:rPr lang="en-US" sz="2400" dirty="0"/>
                        <a:t>skin</a:t>
                      </a:r>
                    </a:p>
                  </a:txBody>
                  <a:tcPr/>
                </a:tc>
                <a:extLst>
                  <a:ext uri="{0D108BD9-81ED-4DB2-BD59-A6C34878D82A}">
                    <a16:rowId xmlns:a16="http://schemas.microsoft.com/office/drawing/2014/main" val="10005"/>
                  </a:ext>
                </a:extLst>
              </a:tr>
              <a:tr h="370840">
                <a:tc>
                  <a:txBody>
                    <a:bodyPr/>
                    <a:lstStyle/>
                    <a:p>
                      <a:r>
                        <a:rPr lang="en-US" sz="2400" b="1" dirty="0" err="1"/>
                        <a:t>derm</a:t>
                      </a:r>
                      <a:r>
                        <a:rPr lang="en-US" sz="2400" b="1" dirty="0"/>
                        <a:t>/o</a:t>
                      </a:r>
                      <a:endParaRPr lang="en-US" sz="2400" dirty="0"/>
                    </a:p>
                  </a:txBody>
                  <a:tcPr/>
                </a:tc>
                <a:tc>
                  <a:txBody>
                    <a:bodyPr/>
                    <a:lstStyle/>
                    <a:p>
                      <a:r>
                        <a:rPr lang="en-US" sz="2400" dirty="0"/>
                        <a:t>skin</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552231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(Slide 2 of 5)</a:t>
            </a:r>
          </a:p>
        </p:txBody>
      </p:sp>
      <p:graphicFrame>
        <p:nvGraphicFramePr>
          <p:cNvPr id="8" name="Content Placeholder 7" descr="Group 2 of 5 combining forms from the Terminology:  Combining Forms section of the textbook  with corresponding meanings or definitions. "/>
          <p:cNvGraphicFramePr>
            <a:graphicFrameLocks noGrp="1"/>
          </p:cNvGraphicFramePr>
          <p:nvPr>
            <p:ph idx="1"/>
            <p:extLst>
              <p:ext uri="{D42A27DB-BD31-4B8C-83A1-F6EECF244321}">
                <p14:modId xmlns:p14="http://schemas.microsoft.com/office/powerpoint/2010/main" val="3356036140"/>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dermat</a:t>
                      </a:r>
                      <a:r>
                        <a:rPr lang="en-US" altLang="en-US" sz="2400" b="1" dirty="0"/>
                        <a:t>/o</a:t>
                      </a:r>
                      <a:endParaRPr lang="en-US" sz="2400" dirty="0"/>
                    </a:p>
                  </a:txBody>
                  <a:tcPr/>
                </a:tc>
                <a:tc>
                  <a:txBody>
                    <a:bodyPr/>
                    <a:lstStyle/>
                    <a:p>
                      <a:r>
                        <a:rPr lang="en-US" altLang="en-US" sz="2400" dirty="0"/>
                        <a:t>skin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diaphor</a:t>
                      </a:r>
                      <a:r>
                        <a:rPr lang="en-US" altLang="en-US" sz="2400" b="1" dirty="0"/>
                        <a:t>/o</a:t>
                      </a:r>
                      <a:endParaRPr lang="en-US" sz="2400" dirty="0"/>
                    </a:p>
                  </a:txBody>
                  <a:tcPr/>
                </a:tc>
                <a:tc>
                  <a:txBody>
                    <a:bodyPr/>
                    <a:lstStyle/>
                    <a:p>
                      <a:r>
                        <a:rPr lang="en-US" altLang="en-US" sz="2400" dirty="0"/>
                        <a:t>profuse sweating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erythem</a:t>
                      </a:r>
                      <a:r>
                        <a:rPr lang="en-US" altLang="en-US" sz="2400" b="1" dirty="0"/>
                        <a:t>/o</a:t>
                      </a:r>
                      <a:endParaRPr lang="en-US" sz="2400" dirty="0"/>
                    </a:p>
                  </a:txBody>
                  <a:tcPr/>
                </a:tc>
                <a:tc>
                  <a:txBody>
                    <a:bodyPr/>
                    <a:lstStyle/>
                    <a:p>
                      <a:r>
                        <a:rPr lang="en-US" altLang="en-US" sz="2400" dirty="0"/>
                        <a:t>redness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erythemat</a:t>
                      </a:r>
                      <a:r>
                        <a:rPr lang="en-US" altLang="en-US" sz="2400" b="1" dirty="0"/>
                        <a:t>/o</a:t>
                      </a:r>
                      <a:endParaRPr lang="en-US" sz="2400" dirty="0"/>
                    </a:p>
                  </a:txBody>
                  <a:tcPr/>
                </a:tc>
                <a:tc>
                  <a:txBody>
                    <a:bodyPr/>
                    <a:lstStyle/>
                    <a:p>
                      <a:r>
                        <a:rPr lang="en-US" altLang="en-US" sz="2400" dirty="0"/>
                        <a:t>redness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hidr</a:t>
                      </a:r>
                      <a:r>
                        <a:rPr lang="en-US" altLang="en-US" sz="2400" b="1" dirty="0"/>
                        <a:t>/o</a:t>
                      </a:r>
                      <a:endParaRPr lang="en-US" sz="2400" dirty="0"/>
                    </a:p>
                  </a:txBody>
                  <a:tcPr/>
                </a:tc>
                <a:tc>
                  <a:txBody>
                    <a:bodyPr/>
                    <a:lstStyle/>
                    <a:p>
                      <a:r>
                        <a:rPr lang="en-US" altLang="en-US" sz="2400" dirty="0"/>
                        <a:t>sweat</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ichthy</a:t>
                      </a:r>
                      <a:r>
                        <a:rPr lang="en-US" altLang="en-US" sz="2400" b="1" dirty="0"/>
                        <a:t>/o</a:t>
                      </a:r>
                      <a:endParaRPr lang="en-US" sz="2400" dirty="0"/>
                    </a:p>
                  </a:txBody>
                  <a:tcPr/>
                </a:tc>
                <a:tc>
                  <a:txBody>
                    <a:bodyPr/>
                    <a:lstStyle/>
                    <a:p>
                      <a:r>
                        <a:rPr lang="en-US" altLang="en-US" sz="2400" dirty="0"/>
                        <a:t>scaly, dry</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573891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(Slide 3 of 5)</a:t>
            </a:r>
          </a:p>
        </p:txBody>
      </p:sp>
      <p:graphicFrame>
        <p:nvGraphicFramePr>
          <p:cNvPr id="8" name="Content Placeholder 7" descr="Group 3 of 5 combining forms from the Terminology:  Combining Forms section of the textbook  with corresponding meanings or definitions. "/>
          <p:cNvGraphicFramePr>
            <a:graphicFrameLocks noGrp="1"/>
          </p:cNvGraphicFramePr>
          <p:nvPr>
            <p:ph idx="1"/>
            <p:extLst>
              <p:ext uri="{D42A27DB-BD31-4B8C-83A1-F6EECF244321}">
                <p14:modId xmlns:p14="http://schemas.microsoft.com/office/powerpoint/2010/main" val="2748232437"/>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kerat</a:t>
                      </a:r>
                      <a:r>
                        <a:rPr lang="en-US" sz="2400" b="1" dirty="0"/>
                        <a:t>/o</a:t>
                      </a:r>
                      <a:endParaRPr lang="en-US" sz="2400" dirty="0"/>
                    </a:p>
                  </a:txBody>
                  <a:tcPr/>
                </a:tc>
                <a:tc>
                  <a:txBody>
                    <a:bodyPr/>
                    <a:lstStyle/>
                    <a:p>
                      <a:r>
                        <a:rPr lang="en-US" sz="2400" dirty="0"/>
                        <a:t>hard, horny tissue</a:t>
                      </a:r>
                    </a:p>
                  </a:txBody>
                  <a:tcPr/>
                </a:tc>
                <a:extLst>
                  <a:ext uri="{0D108BD9-81ED-4DB2-BD59-A6C34878D82A}">
                    <a16:rowId xmlns:a16="http://schemas.microsoft.com/office/drawing/2014/main" val="10001"/>
                  </a:ext>
                </a:extLst>
              </a:tr>
              <a:tr h="370840">
                <a:tc>
                  <a:txBody>
                    <a:bodyPr/>
                    <a:lstStyle/>
                    <a:p>
                      <a:r>
                        <a:rPr lang="en-US" sz="2400" b="1" dirty="0" err="1"/>
                        <a:t>leuk</a:t>
                      </a:r>
                      <a:r>
                        <a:rPr lang="en-US" sz="2400" b="1" dirty="0"/>
                        <a:t>/o</a:t>
                      </a:r>
                      <a:endParaRPr lang="en-US" sz="2400" dirty="0"/>
                    </a:p>
                  </a:txBody>
                  <a:tcPr/>
                </a:tc>
                <a:tc>
                  <a:txBody>
                    <a:bodyPr/>
                    <a:lstStyle/>
                    <a:p>
                      <a:r>
                        <a:rPr lang="en-US" sz="2400" dirty="0"/>
                        <a:t>white</a:t>
                      </a:r>
                    </a:p>
                  </a:txBody>
                  <a:tcPr/>
                </a:tc>
                <a:extLst>
                  <a:ext uri="{0D108BD9-81ED-4DB2-BD59-A6C34878D82A}">
                    <a16:rowId xmlns:a16="http://schemas.microsoft.com/office/drawing/2014/main" val="10002"/>
                  </a:ext>
                </a:extLst>
              </a:tr>
              <a:tr h="370840">
                <a:tc>
                  <a:txBody>
                    <a:bodyPr/>
                    <a:lstStyle/>
                    <a:p>
                      <a:r>
                        <a:rPr lang="en-US" sz="2400" b="1" dirty="0"/>
                        <a:t>lip/o</a:t>
                      </a:r>
                      <a:endParaRPr lang="en-US" sz="2400" dirty="0"/>
                    </a:p>
                  </a:txBody>
                  <a:tcPr/>
                </a:tc>
                <a:tc>
                  <a:txBody>
                    <a:bodyPr/>
                    <a:lstStyle/>
                    <a:p>
                      <a:r>
                        <a:rPr lang="en-US" sz="2400" dirty="0"/>
                        <a:t>fat</a:t>
                      </a:r>
                    </a:p>
                  </a:txBody>
                  <a:tcPr/>
                </a:tc>
                <a:extLst>
                  <a:ext uri="{0D108BD9-81ED-4DB2-BD59-A6C34878D82A}">
                    <a16:rowId xmlns:a16="http://schemas.microsoft.com/office/drawing/2014/main" val="10003"/>
                  </a:ext>
                </a:extLst>
              </a:tr>
              <a:tr h="370840">
                <a:tc>
                  <a:txBody>
                    <a:bodyPr/>
                    <a:lstStyle/>
                    <a:p>
                      <a:r>
                        <a:rPr lang="en-US" sz="2400" b="1" dirty="0" err="1"/>
                        <a:t>melan</a:t>
                      </a:r>
                      <a:r>
                        <a:rPr lang="en-US" sz="2400" b="1" dirty="0"/>
                        <a:t>/o</a:t>
                      </a:r>
                      <a:endParaRPr lang="en-US" sz="2400" dirty="0"/>
                    </a:p>
                  </a:txBody>
                  <a:tcPr/>
                </a:tc>
                <a:tc>
                  <a:txBody>
                    <a:bodyPr/>
                    <a:lstStyle/>
                    <a:p>
                      <a:r>
                        <a:rPr lang="en-US" sz="2400" dirty="0"/>
                        <a:t>black</a:t>
                      </a:r>
                    </a:p>
                  </a:txBody>
                  <a:tcPr/>
                </a:tc>
                <a:extLst>
                  <a:ext uri="{0D108BD9-81ED-4DB2-BD59-A6C34878D82A}">
                    <a16:rowId xmlns:a16="http://schemas.microsoft.com/office/drawing/2014/main" val="10004"/>
                  </a:ext>
                </a:extLst>
              </a:tr>
              <a:tr h="370840">
                <a:tc>
                  <a:txBody>
                    <a:bodyPr/>
                    <a:lstStyle/>
                    <a:p>
                      <a:r>
                        <a:rPr lang="en-US" sz="2400" b="1" dirty="0" err="1"/>
                        <a:t>myc</a:t>
                      </a:r>
                      <a:r>
                        <a:rPr lang="en-US" sz="2400" b="1" dirty="0"/>
                        <a:t>/o</a:t>
                      </a:r>
                      <a:endParaRPr lang="en-US" sz="2400" dirty="0"/>
                    </a:p>
                  </a:txBody>
                  <a:tcPr/>
                </a:tc>
                <a:tc>
                  <a:txBody>
                    <a:bodyPr/>
                    <a:lstStyle/>
                    <a:p>
                      <a:r>
                        <a:rPr lang="en-US" sz="2400" dirty="0"/>
                        <a:t>fungus</a:t>
                      </a:r>
                    </a:p>
                  </a:txBody>
                  <a:tcPr/>
                </a:tc>
                <a:extLst>
                  <a:ext uri="{0D108BD9-81ED-4DB2-BD59-A6C34878D82A}">
                    <a16:rowId xmlns:a16="http://schemas.microsoft.com/office/drawing/2014/main" val="10005"/>
                  </a:ext>
                </a:extLst>
              </a:tr>
              <a:tr h="370840">
                <a:tc>
                  <a:txBody>
                    <a:bodyPr/>
                    <a:lstStyle/>
                    <a:p>
                      <a:r>
                        <a:rPr lang="en-US" sz="2400" b="1" dirty="0" err="1"/>
                        <a:t>onych</a:t>
                      </a:r>
                      <a:r>
                        <a:rPr lang="en-US" sz="2400" b="1" dirty="0"/>
                        <a:t>/o</a:t>
                      </a:r>
                      <a:endParaRPr lang="en-US" sz="2400" dirty="0"/>
                    </a:p>
                  </a:txBody>
                  <a:tcPr/>
                </a:tc>
                <a:tc>
                  <a:txBody>
                    <a:bodyPr/>
                    <a:lstStyle/>
                    <a:p>
                      <a:r>
                        <a:rPr lang="en-US" sz="2400" dirty="0"/>
                        <a:t>nail</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77279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(Slide 4 of 5)</a:t>
            </a:r>
          </a:p>
        </p:txBody>
      </p:sp>
      <p:graphicFrame>
        <p:nvGraphicFramePr>
          <p:cNvPr id="8" name="Content Placeholder 7" descr="Group 4 of 5 combining forms from the Terminology:  Combining Forms section of the textbook  with corresponding meanings or definitions. "/>
          <p:cNvGraphicFramePr>
            <a:graphicFrameLocks noGrp="1"/>
          </p:cNvGraphicFramePr>
          <p:nvPr>
            <p:ph idx="1"/>
            <p:extLst>
              <p:ext uri="{D42A27DB-BD31-4B8C-83A1-F6EECF244321}">
                <p14:modId xmlns:p14="http://schemas.microsoft.com/office/powerpoint/2010/main" val="2101134294"/>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phyt</a:t>
                      </a:r>
                      <a:r>
                        <a:rPr lang="en-US" sz="2400" b="1" dirty="0"/>
                        <a:t>/o</a:t>
                      </a:r>
                      <a:endParaRPr lang="en-US" sz="2400" dirty="0"/>
                    </a:p>
                  </a:txBody>
                  <a:tcPr/>
                </a:tc>
                <a:tc>
                  <a:txBody>
                    <a:bodyPr/>
                    <a:lstStyle/>
                    <a:p>
                      <a:r>
                        <a:rPr lang="en-US" sz="2400" dirty="0"/>
                        <a:t>plant</a:t>
                      </a:r>
                    </a:p>
                  </a:txBody>
                  <a:tcPr/>
                </a:tc>
                <a:extLst>
                  <a:ext uri="{0D108BD9-81ED-4DB2-BD59-A6C34878D82A}">
                    <a16:rowId xmlns:a16="http://schemas.microsoft.com/office/drawing/2014/main" val="10001"/>
                  </a:ext>
                </a:extLst>
              </a:tr>
              <a:tr h="370840">
                <a:tc>
                  <a:txBody>
                    <a:bodyPr/>
                    <a:lstStyle/>
                    <a:p>
                      <a:r>
                        <a:rPr lang="en-US" sz="2400" b="1" dirty="0" err="1"/>
                        <a:t>pil</a:t>
                      </a:r>
                      <a:r>
                        <a:rPr lang="en-US" sz="2400" b="1" dirty="0"/>
                        <a:t>/o</a:t>
                      </a:r>
                      <a:endParaRPr lang="en-US" sz="2400" dirty="0"/>
                    </a:p>
                  </a:txBody>
                  <a:tcPr/>
                </a:tc>
                <a:tc>
                  <a:txBody>
                    <a:bodyPr/>
                    <a:lstStyle/>
                    <a:p>
                      <a:r>
                        <a:rPr lang="en-US" sz="2400" dirty="0"/>
                        <a:t>hair, hair follicle</a:t>
                      </a:r>
                    </a:p>
                  </a:txBody>
                  <a:tcPr/>
                </a:tc>
                <a:extLst>
                  <a:ext uri="{0D108BD9-81ED-4DB2-BD59-A6C34878D82A}">
                    <a16:rowId xmlns:a16="http://schemas.microsoft.com/office/drawing/2014/main" val="10002"/>
                  </a:ext>
                </a:extLst>
              </a:tr>
              <a:tr h="370840">
                <a:tc>
                  <a:txBody>
                    <a:bodyPr/>
                    <a:lstStyle/>
                    <a:p>
                      <a:r>
                        <a:rPr lang="en-US" sz="2400" b="1" dirty="0" err="1"/>
                        <a:t>py</a:t>
                      </a:r>
                      <a:r>
                        <a:rPr lang="en-US" sz="2400" b="1" dirty="0"/>
                        <a:t>/o</a:t>
                      </a:r>
                      <a:endParaRPr lang="en-US" sz="2400" dirty="0"/>
                    </a:p>
                  </a:txBody>
                  <a:tcPr/>
                </a:tc>
                <a:tc>
                  <a:txBody>
                    <a:bodyPr/>
                    <a:lstStyle/>
                    <a:p>
                      <a:r>
                        <a:rPr lang="en-US" sz="2400" dirty="0"/>
                        <a:t>pus</a:t>
                      </a:r>
                    </a:p>
                  </a:txBody>
                  <a:tcPr/>
                </a:tc>
                <a:extLst>
                  <a:ext uri="{0D108BD9-81ED-4DB2-BD59-A6C34878D82A}">
                    <a16:rowId xmlns:a16="http://schemas.microsoft.com/office/drawing/2014/main" val="10003"/>
                  </a:ext>
                </a:extLst>
              </a:tr>
              <a:tr h="370840">
                <a:tc>
                  <a:txBody>
                    <a:bodyPr/>
                    <a:lstStyle/>
                    <a:p>
                      <a:r>
                        <a:rPr lang="en-US" sz="2400" b="1" dirty="0" err="1"/>
                        <a:t>rhythid</a:t>
                      </a:r>
                      <a:r>
                        <a:rPr lang="en-US" sz="2400" b="1" dirty="0"/>
                        <a:t>/o</a:t>
                      </a:r>
                      <a:endParaRPr lang="en-US" sz="2400" dirty="0"/>
                    </a:p>
                  </a:txBody>
                  <a:tcPr/>
                </a:tc>
                <a:tc>
                  <a:txBody>
                    <a:bodyPr/>
                    <a:lstStyle/>
                    <a:p>
                      <a:r>
                        <a:rPr lang="en-US" sz="2400" dirty="0"/>
                        <a:t>wrinkle</a:t>
                      </a:r>
                    </a:p>
                  </a:txBody>
                  <a:tcPr/>
                </a:tc>
                <a:extLst>
                  <a:ext uri="{0D108BD9-81ED-4DB2-BD59-A6C34878D82A}">
                    <a16:rowId xmlns:a16="http://schemas.microsoft.com/office/drawing/2014/main" val="10004"/>
                  </a:ext>
                </a:extLst>
              </a:tr>
              <a:tr h="370840">
                <a:tc>
                  <a:txBody>
                    <a:bodyPr/>
                    <a:lstStyle/>
                    <a:p>
                      <a:r>
                        <a:rPr lang="en-US" sz="2400" b="1" dirty="0" err="1"/>
                        <a:t>seb</a:t>
                      </a:r>
                      <a:r>
                        <a:rPr lang="en-US" sz="2400" b="1" dirty="0"/>
                        <a:t>/o</a:t>
                      </a:r>
                      <a:endParaRPr lang="en-US" sz="2400" dirty="0"/>
                    </a:p>
                  </a:txBody>
                  <a:tcPr/>
                </a:tc>
                <a:tc>
                  <a:txBody>
                    <a:bodyPr/>
                    <a:lstStyle/>
                    <a:p>
                      <a:r>
                        <a:rPr lang="en-US" sz="2400" dirty="0"/>
                        <a:t>sebum</a:t>
                      </a:r>
                    </a:p>
                  </a:txBody>
                  <a:tcPr/>
                </a:tc>
                <a:extLst>
                  <a:ext uri="{0D108BD9-81ED-4DB2-BD59-A6C34878D82A}">
                    <a16:rowId xmlns:a16="http://schemas.microsoft.com/office/drawing/2014/main" val="10005"/>
                  </a:ext>
                </a:extLst>
              </a:tr>
              <a:tr h="370840">
                <a:tc>
                  <a:txBody>
                    <a:bodyPr/>
                    <a:lstStyle/>
                    <a:p>
                      <a:r>
                        <a:rPr lang="en-US" sz="2400" b="1" dirty="0" err="1"/>
                        <a:t>squam</a:t>
                      </a:r>
                      <a:r>
                        <a:rPr lang="en-US" sz="2400" b="1" dirty="0"/>
                        <a:t>/o</a:t>
                      </a:r>
                      <a:endParaRPr lang="en-US" sz="2400" dirty="0"/>
                    </a:p>
                  </a:txBody>
                  <a:tcPr/>
                </a:tc>
                <a:tc>
                  <a:txBody>
                    <a:bodyPr/>
                    <a:lstStyle/>
                    <a:p>
                      <a:r>
                        <a:rPr lang="en-US" sz="2400" dirty="0"/>
                        <a:t>scale-like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758574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(Slide 5 of 5 )</a:t>
            </a:r>
          </a:p>
        </p:txBody>
      </p:sp>
      <p:graphicFrame>
        <p:nvGraphicFramePr>
          <p:cNvPr id="8" name="Content Placeholder 7" descr="Group 5 of 5 combining forms from the Terminology:  Combining Forms section of the textbook  with corresponding meanings or definitions. "/>
          <p:cNvGraphicFramePr>
            <a:graphicFrameLocks noGrp="1"/>
          </p:cNvGraphicFramePr>
          <p:nvPr>
            <p:ph idx="1"/>
            <p:extLst>
              <p:ext uri="{D42A27DB-BD31-4B8C-83A1-F6EECF244321}">
                <p14:modId xmlns:p14="http://schemas.microsoft.com/office/powerpoint/2010/main" val="1285540038"/>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steat</a:t>
                      </a:r>
                      <a:r>
                        <a:rPr lang="en-US" altLang="en-US" sz="2400" b="1" dirty="0"/>
                        <a:t>/o</a:t>
                      </a:r>
                      <a:endParaRPr lang="en-US" sz="2400" dirty="0"/>
                    </a:p>
                  </a:txBody>
                  <a:tcPr/>
                </a:tc>
                <a:tc>
                  <a:txBody>
                    <a:bodyPr/>
                    <a:lstStyle/>
                    <a:p>
                      <a:r>
                        <a:rPr lang="en-US" altLang="en-US" sz="2400" dirty="0"/>
                        <a:t>fat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trich</a:t>
                      </a:r>
                      <a:r>
                        <a:rPr lang="en-US" altLang="en-US" sz="2400" b="1" dirty="0"/>
                        <a:t>/o</a:t>
                      </a:r>
                      <a:endParaRPr lang="en-US" sz="2400" dirty="0"/>
                    </a:p>
                  </a:txBody>
                  <a:tcPr/>
                </a:tc>
                <a:tc>
                  <a:txBody>
                    <a:bodyPr/>
                    <a:lstStyle/>
                    <a:p>
                      <a:r>
                        <a:rPr lang="en-US" altLang="en-US" sz="2400" dirty="0"/>
                        <a:t>hair</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ungu</a:t>
                      </a:r>
                      <a:r>
                        <a:rPr lang="en-US" altLang="en-US" sz="2400" b="1" dirty="0"/>
                        <a:t>/o</a:t>
                      </a:r>
                      <a:endParaRPr lang="en-US" sz="2400" dirty="0"/>
                    </a:p>
                  </a:txBody>
                  <a:tcPr/>
                </a:tc>
                <a:tc>
                  <a:txBody>
                    <a:bodyPr/>
                    <a:lstStyle/>
                    <a:p>
                      <a:r>
                        <a:rPr lang="en-US" altLang="en-US" sz="2400" dirty="0"/>
                        <a:t>nail</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xanth</a:t>
                      </a:r>
                      <a:r>
                        <a:rPr lang="en-US" altLang="en-US" sz="2400" b="1" dirty="0"/>
                        <a:t>/o</a:t>
                      </a:r>
                      <a:endParaRPr lang="en-US" sz="2400" dirty="0"/>
                    </a:p>
                  </a:txBody>
                  <a:tcPr/>
                </a:tc>
                <a:tc>
                  <a:txBody>
                    <a:bodyPr/>
                    <a:lstStyle/>
                    <a:p>
                      <a:r>
                        <a:rPr lang="en-US" altLang="en-US" sz="2400" dirty="0"/>
                        <a:t>yellow</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xer</a:t>
                      </a:r>
                      <a:r>
                        <a:rPr lang="en-US" altLang="en-US" sz="2400" b="1" dirty="0"/>
                        <a:t>/o</a:t>
                      </a:r>
                      <a:endParaRPr lang="en-US" sz="2400" dirty="0"/>
                    </a:p>
                  </a:txBody>
                  <a:tcPr/>
                </a:tc>
                <a:tc>
                  <a:txBody>
                    <a:bodyPr/>
                    <a:lstStyle/>
                    <a:p>
                      <a:r>
                        <a:rPr lang="en-US" altLang="en-US" sz="2400" dirty="0"/>
                        <a:t>dry</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86534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en-US" dirty="0"/>
              <a:t>      QUICK QUIZ </a:t>
            </a:r>
            <a:r>
              <a:rPr lang="en-US" altLang="en-US" sz="4800" dirty="0"/>
              <a:t>	(Slide 1 of 2)</a:t>
            </a:r>
          </a:p>
        </p:txBody>
      </p:sp>
      <p:sp>
        <p:nvSpPr>
          <p:cNvPr id="41987" name="Rectangle 3"/>
          <p:cNvSpPr>
            <a:spLocks noGrp="1" noChangeArrowheads="1"/>
          </p:cNvSpPr>
          <p:nvPr>
            <p:ph idx="1"/>
          </p:nvPr>
        </p:nvSpPr>
        <p:spPr>
          <a:xfrm>
            <a:off x="685800" y="1600200"/>
            <a:ext cx="6934200" cy="4495800"/>
          </a:xfrm>
        </p:spPr>
        <p:txBody>
          <a:bodyPr/>
          <a:lstStyle/>
          <a:p>
            <a:pPr marL="533400" indent="-533400" eaLnBrk="1" hangingPunct="1">
              <a:lnSpc>
                <a:spcPct val="90000"/>
              </a:lnSpc>
              <a:buFont typeface="Arial" panose="020B0604020202020204" pitchFamily="34" charset="0"/>
              <a:buAutoNum type="arabicPeriod"/>
            </a:pPr>
            <a:r>
              <a:rPr lang="en-US" altLang="en-US" b="1"/>
              <a:t>Which combining form refers to white?</a:t>
            </a:r>
          </a:p>
          <a:p>
            <a:pPr marL="914400" lvl="1" indent="-457200" eaLnBrk="1" hangingPunct="1">
              <a:lnSpc>
                <a:spcPct val="90000"/>
              </a:lnSpc>
              <a:buFont typeface="Wingdings" panose="05000000000000000000" pitchFamily="2" charset="2"/>
              <a:buNone/>
            </a:pPr>
            <a:endParaRPr lang="en-US" altLang="en-US" sz="3200">
              <a:ea typeface="MS PGothic" panose="020B0600070205080204" pitchFamily="34" charset="-128"/>
            </a:endParaRPr>
          </a:p>
          <a:p>
            <a:pPr marL="914400" lvl="1" indent="-457200" eaLnBrk="1" hangingPunct="1">
              <a:lnSpc>
                <a:spcPct val="90000"/>
              </a:lnSpc>
              <a:buFont typeface="Arial" panose="020B0604020202020204" pitchFamily="34" charset="0"/>
              <a:buAutoNum type="alphaUcPeriod"/>
            </a:pPr>
            <a:r>
              <a:rPr lang="en-US" altLang="en-US" sz="3200">
                <a:ea typeface="MS PGothic" panose="020B0600070205080204" pitchFamily="34" charset="-128"/>
              </a:rPr>
              <a:t>chlor/o</a:t>
            </a:r>
          </a:p>
          <a:p>
            <a:pPr marL="914400" lvl="1" indent="-457200" eaLnBrk="1" hangingPunct="1">
              <a:lnSpc>
                <a:spcPct val="90000"/>
              </a:lnSpc>
              <a:buFont typeface="Arial" panose="020B0604020202020204" pitchFamily="34" charset="0"/>
              <a:buAutoNum type="alphaUcPeriod"/>
            </a:pPr>
            <a:r>
              <a:rPr lang="en-US" altLang="en-US" sz="3200">
                <a:ea typeface="MS PGothic" panose="020B0600070205080204" pitchFamily="34" charset="-128"/>
              </a:rPr>
              <a:t>jaund/o</a:t>
            </a:r>
          </a:p>
          <a:p>
            <a:pPr marL="914400" lvl="1" indent="-457200" eaLnBrk="1" hangingPunct="1">
              <a:lnSpc>
                <a:spcPct val="90000"/>
              </a:lnSpc>
              <a:buFont typeface="Arial" panose="020B0604020202020204" pitchFamily="34" charset="0"/>
              <a:buAutoNum type="alphaUcPeriod"/>
            </a:pPr>
            <a:r>
              <a:rPr lang="en-US" altLang="en-US" sz="3200">
                <a:ea typeface="MS PGothic" panose="020B0600070205080204" pitchFamily="34" charset="-128"/>
              </a:rPr>
              <a:t>melan/o</a:t>
            </a:r>
          </a:p>
          <a:p>
            <a:pPr marL="914400" lvl="1" indent="-457200" eaLnBrk="1" hangingPunct="1">
              <a:lnSpc>
                <a:spcPct val="90000"/>
              </a:lnSpc>
              <a:buFont typeface="Arial" panose="020B0604020202020204" pitchFamily="34" charset="0"/>
              <a:buAutoNum type="alphaUcPeriod"/>
            </a:pPr>
            <a:r>
              <a:rPr lang="en-US" altLang="en-US" sz="3200">
                <a:ea typeface="MS PGothic" panose="020B0600070205080204" pitchFamily="34" charset="-128"/>
              </a:rPr>
              <a:t>albin/o</a:t>
            </a:r>
          </a:p>
          <a:p>
            <a:pPr marL="533400" indent="-533400" eaLnBrk="1" hangingPunct="1">
              <a:lnSpc>
                <a:spcPct val="90000"/>
              </a:lnSpc>
              <a:buFont typeface="Wingdings 2" panose="05020102010507070707" pitchFamily="18" charset="2"/>
              <a:buNone/>
            </a:pPr>
            <a:endParaRPr lang="en-US" altLang="en-US"/>
          </a:p>
        </p:txBody>
      </p:sp>
    </p:spTree>
    <p:extLst>
      <p:ext uri="{BB962C8B-B14F-4D97-AF65-F5344CB8AC3E}">
        <p14:creationId xmlns:p14="http://schemas.microsoft.com/office/powerpoint/2010/main" val="31193192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      QUICK QUIZ (Slide 2 of 2)</a:t>
            </a:r>
            <a:r>
              <a:rPr lang="en-US" altLang="en-US" dirty="0">
                <a:sym typeface="Wingdings" panose="05000000000000000000" pitchFamily="2" charset="2"/>
              </a:rPr>
              <a:t> </a:t>
            </a:r>
            <a:r>
              <a:rPr lang="en-US" altLang="ja-JP" sz="4800" dirty="0"/>
              <a:t>	</a:t>
            </a:r>
            <a:endParaRPr lang="en-US" altLang="en-US" sz="4800" dirty="0"/>
          </a:p>
        </p:txBody>
      </p:sp>
      <p:sp>
        <p:nvSpPr>
          <p:cNvPr id="2" name="Content Placeholder 1"/>
          <p:cNvSpPr>
            <a:spLocks noGrp="1"/>
          </p:cNvSpPr>
          <p:nvPr>
            <p:ph idx="1"/>
          </p:nvPr>
        </p:nvSpPr>
        <p:spPr/>
        <p:txBody>
          <a:bodyPr/>
          <a:lstStyle/>
          <a:p>
            <a:pPr marL="533400" indent="-533400" eaLnBrk="1" hangingPunct="1">
              <a:lnSpc>
                <a:spcPct val="90000"/>
              </a:lnSpc>
              <a:buClr>
                <a:schemeClr val="tx2"/>
              </a:buClr>
              <a:defRPr/>
            </a:pPr>
            <a:r>
              <a:rPr lang="en-US" b="1" dirty="0">
                <a:latin typeface="Arial" charset="0"/>
              </a:rPr>
              <a:t>2.  Which combining form refers to the same color as </a:t>
            </a:r>
            <a:r>
              <a:rPr lang="en-US" b="1" dirty="0" err="1">
                <a:latin typeface="Arial" charset="0"/>
              </a:rPr>
              <a:t>jaund</a:t>
            </a:r>
            <a:r>
              <a:rPr lang="en-US" b="1" dirty="0">
                <a:latin typeface="Arial" charset="0"/>
              </a:rPr>
              <a:t>/o?</a:t>
            </a:r>
          </a:p>
          <a:p>
            <a:pPr marL="914400" lvl="1" indent="-457200" eaLnBrk="1" hangingPunct="1">
              <a:lnSpc>
                <a:spcPct val="90000"/>
              </a:lnSpc>
              <a:buClr>
                <a:schemeClr val="tx2"/>
              </a:buClr>
              <a:buSzPct val="80000"/>
              <a:buNone/>
              <a:defRPr/>
            </a:pPr>
            <a:endParaRPr lang="en-US" sz="3200" dirty="0">
              <a:effectLst>
                <a:outerShdw blurRad="38100" dist="38100" dir="2700000" algn="tl">
                  <a:srgbClr val="000000"/>
                </a:outerShdw>
              </a:effectLst>
              <a:latin typeface="Arial" charset="0"/>
            </a:endParaRPr>
          </a:p>
          <a:p>
            <a:pPr marL="914400" lvl="1" indent="-457200" eaLnBrk="1" hangingPunct="1">
              <a:buClr>
                <a:schemeClr val="tx2"/>
              </a:buClr>
              <a:defRPr/>
            </a:pPr>
            <a:r>
              <a:rPr lang="en-US" sz="3200" dirty="0">
                <a:latin typeface="Arial" charset="0"/>
              </a:rPr>
              <a:t>A. </a:t>
            </a:r>
            <a:r>
              <a:rPr lang="en-US" sz="3200" dirty="0" err="1">
                <a:latin typeface="Arial" charset="0"/>
              </a:rPr>
              <a:t>xanth</a:t>
            </a:r>
            <a:r>
              <a:rPr lang="en-US" sz="3200" dirty="0">
                <a:latin typeface="Arial" charset="0"/>
              </a:rPr>
              <a:t>/o</a:t>
            </a:r>
          </a:p>
          <a:p>
            <a:pPr marL="914400" lvl="1" indent="-457200" eaLnBrk="1" hangingPunct="1">
              <a:buClr>
                <a:schemeClr val="tx2"/>
              </a:buClr>
              <a:defRPr/>
            </a:pPr>
            <a:r>
              <a:rPr lang="en-US" sz="3200" dirty="0">
                <a:latin typeface="Arial" charset="0"/>
              </a:rPr>
              <a:t>B. </a:t>
            </a:r>
            <a:r>
              <a:rPr lang="en-US" sz="3200" dirty="0" err="1">
                <a:latin typeface="Arial" charset="0"/>
              </a:rPr>
              <a:t>chlor</a:t>
            </a:r>
            <a:r>
              <a:rPr lang="en-US" sz="3200" dirty="0">
                <a:latin typeface="Arial" charset="0"/>
              </a:rPr>
              <a:t>/o</a:t>
            </a:r>
          </a:p>
          <a:p>
            <a:pPr marL="914400" lvl="1" indent="-457200" eaLnBrk="1" hangingPunct="1">
              <a:buClr>
                <a:schemeClr val="tx2"/>
              </a:buClr>
              <a:defRPr/>
            </a:pPr>
            <a:r>
              <a:rPr lang="en-US" sz="3200" dirty="0">
                <a:latin typeface="Arial" charset="0"/>
              </a:rPr>
              <a:t>C. </a:t>
            </a:r>
            <a:r>
              <a:rPr lang="en-US" sz="3200" dirty="0" err="1">
                <a:latin typeface="Arial" charset="0"/>
              </a:rPr>
              <a:t>erythr</a:t>
            </a:r>
            <a:r>
              <a:rPr lang="en-US" sz="3200" dirty="0">
                <a:latin typeface="Arial" charset="0"/>
              </a:rPr>
              <a:t>/o</a:t>
            </a:r>
          </a:p>
          <a:p>
            <a:pPr marL="914400" lvl="1" indent="-457200" eaLnBrk="1" hangingPunct="1">
              <a:buClr>
                <a:schemeClr val="tx2"/>
              </a:buClr>
              <a:defRPr/>
            </a:pPr>
            <a:r>
              <a:rPr lang="en-US" sz="3200" dirty="0">
                <a:latin typeface="Arial" charset="0"/>
              </a:rPr>
              <a:t>D. cyan/o</a:t>
            </a:r>
            <a:endParaRPr lang="en-US" dirty="0">
              <a:latin typeface="Arial" charset="0"/>
            </a:endParaRPr>
          </a:p>
          <a:p>
            <a:endParaRPr lang="es-419" dirty="0"/>
          </a:p>
        </p:txBody>
      </p:sp>
    </p:spTree>
    <p:extLst>
      <p:ext uri="{BB962C8B-B14F-4D97-AF65-F5344CB8AC3E}">
        <p14:creationId xmlns:p14="http://schemas.microsoft.com/office/powerpoint/2010/main" val="28687716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en-US"/>
              <a:t>Colors</a:t>
            </a:r>
          </a:p>
        </p:txBody>
      </p:sp>
      <p:pic>
        <p:nvPicPr>
          <p:cNvPr id="5" name="Picture 6" descr="Table is set up in the following columns: &#10;Combining Forms, Meaning, Terminology&#10;albin/o, white, albinism&#10;anthrac/o, black (as coal), anthracosis&#10;chlor/o, green, chlorophyll&#10;cirrh/o, tawny yellow, cirrhosis&#10;cyan/o, blue, cyanosis&#10;eosin/o, rosy, eosinophil&#10;erythr/o, red, erythrocyte&#10;jaund/o, yellow, jaundice&#10;leuk/o, white, leukoderma&#10;lute/o, yellow, corpus luteum&#10;melan/o, black, melanocyte&#10;poli/o, gray, poliomyelitis&#10;xanth/o, yellow, xanthoma"/>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33564" y="1600200"/>
            <a:ext cx="7519836" cy="4320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86459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5"/>
          <p:cNvSpPr>
            <a:spLocks noGrp="1" noChangeArrowheads="1"/>
          </p:cNvSpPr>
          <p:nvPr>
            <p:ph type="title"/>
          </p:nvPr>
        </p:nvSpPr>
        <p:spPr/>
        <p:txBody>
          <a:bodyPr rtlCol="0">
            <a:normAutofit fontScale="90000"/>
          </a:bodyPr>
          <a:lstStyle/>
          <a:p>
            <a:pPr eaLnBrk="1" fontAlgn="auto" hangingPunct="1">
              <a:spcAft>
                <a:spcPts val="0"/>
              </a:spcAft>
              <a:defRPr/>
            </a:pPr>
            <a:r>
              <a:rPr lang="en-US" dirty="0"/>
              <a:t>Chapter 16</a:t>
            </a:r>
            <a:br>
              <a:rPr lang="en-US" dirty="0"/>
            </a:br>
            <a:r>
              <a:rPr lang="en-US" dirty="0"/>
              <a:t>Lesson 16.2</a:t>
            </a:r>
          </a:p>
        </p:txBody>
      </p:sp>
    </p:spTree>
    <p:extLst>
      <p:ext uri="{BB962C8B-B14F-4D97-AF65-F5344CB8AC3E}">
        <p14:creationId xmlns:p14="http://schemas.microsoft.com/office/powerpoint/2010/main" val="22345230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rtlCol="0">
            <a:normAutofit/>
          </a:bodyPr>
          <a:lstStyle/>
          <a:p>
            <a:pPr eaLnBrk="1" fontAlgn="auto" hangingPunct="1">
              <a:spcAft>
                <a:spcPts val="0"/>
              </a:spcAft>
              <a:defRPr/>
            </a:pPr>
            <a:r>
              <a:rPr lang="en-US" dirty="0"/>
              <a:t>Cutaneous Lesions </a:t>
            </a:r>
          </a:p>
        </p:txBody>
      </p:sp>
      <p:sp>
        <p:nvSpPr>
          <p:cNvPr id="2" name="Content Placeholder 1"/>
          <p:cNvSpPr>
            <a:spLocks noGrp="1"/>
          </p:cNvSpPr>
          <p:nvPr>
            <p:ph sz="half" idx="1"/>
          </p:nvPr>
        </p:nvSpPr>
        <p:spPr/>
        <p:txBody>
          <a:bodyPr/>
          <a:lstStyle/>
          <a:p>
            <a:r>
              <a:rPr lang="en-US" dirty="0"/>
              <a:t>Types of cutaneous lesions: </a:t>
            </a:r>
          </a:p>
          <a:p>
            <a:pPr lvl="1"/>
            <a:r>
              <a:rPr lang="en-US" dirty="0"/>
              <a:t>Crust (scab)</a:t>
            </a:r>
          </a:p>
          <a:p>
            <a:pPr lvl="1"/>
            <a:r>
              <a:rPr lang="en-US" dirty="0"/>
              <a:t>Cyst</a:t>
            </a:r>
          </a:p>
          <a:p>
            <a:pPr lvl="1"/>
            <a:r>
              <a:rPr lang="en-US" dirty="0"/>
              <a:t>Erosion</a:t>
            </a:r>
          </a:p>
          <a:p>
            <a:pPr lvl="1"/>
            <a:r>
              <a:rPr lang="en-US" dirty="0"/>
              <a:t>Fissure</a:t>
            </a:r>
          </a:p>
          <a:p>
            <a:pPr lvl="1"/>
            <a:r>
              <a:rPr lang="en-US" dirty="0"/>
              <a:t>Macule</a:t>
            </a:r>
          </a:p>
        </p:txBody>
      </p:sp>
      <p:sp>
        <p:nvSpPr>
          <p:cNvPr id="3" name="Content Placeholder 2"/>
          <p:cNvSpPr>
            <a:spLocks noGrp="1"/>
          </p:cNvSpPr>
          <p:nvPr>
            <p:ph sz="half" idx="2"/>
          </p:nvPr>
        </p:nvSpPr>
        <p:spPr/>
        <p:txBody>
          <a:bodyPr/>
          <a:lstStyle/>
          <a:p>
            <a:pPr lvl="1"/>
            <a:endParaRPr lang="en-US" dirty="0"/>
          </a:p>
          <a:p>
            <a:pPr lvl="1"/>
            <a:r>
              <a:rPr lang="en-US" dirty="0"/>
              <a:t>Nodule</a:t>
            </a:r>
          </a:p>
          <a:p>
            <a:pPr lvl="1"/>
            <a:r>
              <a:rPr lang="en-US" dirty="0"/>
              <a:t>Papule</a:t>
            </a:r>
          </a:p>
          <a:p>
            <a:pPr lvl="1"/>
            <a:r>
              <a:rPr lang="en-US" dirty="0"/>
              <a:t>Pustule</a:t>
            </a:r>
          </a:p>
          <a:p>
            <a:pPr lvl="1"/>
            <a:r>
              <a:rPr lang="en-US" dirty="0"/>
              <a:t>Ulcer</a:t>
            </a:r>
          </a:p>
          <a:p>
            <a:pPr lvl="1"/>
            <a:r>
              <a:rPr lang="en-US" dirty="0"/>
              <a:t>Vesicle</a:t>
            </a:r>
          </a:p>
          <a:p>
            <a:pPr lvl="1"/>
            <a:r>
              <a:rPr lang="en-US" dirty="0"/>
              <a:t>Wheal</a:t>
            </a:r>
          </a:p>
        </p:txBody>
      </p:sp>
    </p:spTree>
    <p:extLst>
      <p:ext uri="{BB962C8B-B14F-4D97-AF65-F5344CB8AC3E}">
        <p14:creationId xmlns:p14="http://schemas.microsoft.com/office/powerpoint/2010/main" val="2253648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Grp="1" noChangeArrowheads="1"/>
          </p:cNvSpPr>
          <p:nvPr>
            <p:ph type="title"/>
          </p:nvPr>
        </p:nvSpPr>
        <p:spPr/>
        <p:txBody>
          <a:bodyPr/>
          <a:lstStyle/>
          <a:p>
            <a:pPr eaLnBrk="1" hangingPunct="1"/>
            <a:r>
              <a:rPr lang="en-US" altLang="en-US" dirty="0"/>
              <a:t>Signs and Symptoms  (Slide 1 or 4)</a:t>
            </a:r>
          </a:p>
        </p:txBody>
      </p:sp>
      <p:sp>
        <p:nvSpPr>
          <p:cNvPr id="48131" name="Rectangle 6"/>
          <p:cNvSpPr>
            <a:spLocks noGrp="1" noChangeArrowheads="1"/>
          </p:cNvSpPr>
          <p:nvPr>
            <p:ph sz="half" idx="1"/>
          </p:nvPr>
        </p:nvSpPr>
        <p:spPr/>
        <p:txBody>
          <a:bodyPr/>
          <a:lstStyle/>
          <a:p>
            <a:pPr eaLnBrk="1" hangingPunct="1">
              <a:buFont typeface="Wingdings 2" panose="05020102010507070707" pitchFamily="18" charset="2"/>
              <a:buNone/>
            </a:pPr>
            <a:r>
              <a:rPr lang="en-US" altLang="en-US" b="1" dirty="0"/>
              <a:t>Alopecia:</a:t>
            </a:r>
            <a:r>
              <a:rPr lang="en-US" altLang="en-US" dirty="0"/>
              <a:t> the absence of hair where it normally grows</a:t>
            </a:r>
          </a:p>
          <a:p>
            <a:pPr eaLnBrk="1" hangingPunct="1">
              <a:buFont typeface="Wingdings 2" panose="05020102010507070707" pitchFamily="18" charset="2"/>
              <a:buNone/>
            </a:pPr>
            <a:endParaRPr lang="en-US" altLang="en-US" sz="2400" dirty="0"/>
          </a:p>
        </p:txBody>
      </p:sp>
      <p:pic>
        <p:nvPicPr>
          <p:cNvPr id="6" name="Picture 14" descr="Alopecia is the absence of hair from areas where it normally grow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251312" y="1975856"/>
            <a:ext cx="2597288" cy="41503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10395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p:cNvSpPr>
            <a:spLocks noGrp="1" noChangeArrowheads="1"/>
          </p:cNvSpPr>
          <p:nvPr>
            <p:ph type="title"/>
          </p:nvPr>
        </p:nvSpPr>
        <p:spPr/>
        <p:txBody>
          <a:bodyPr/>
          <a:lstStyle/>
          <a:p>
            <a:pPr eaLnBrk="1" hangingPunct="1"/>
            <a:r>
              <a:rPr lang="en-US" altLang="en-US" dirty="0"/>
              <a:t>Signs and Symptoms  (Slide 2 of 4)</a:t>
            </a:r>
          </a:p>
        </p:txBody>
      </p:sp>
      <p:sp>
        <p:nvSpPr>
          <p:cNvPr id="49155" name="Rectangle 6"/>
          <p:cNvSpPr>
            <a:spLocks noGrp="1" noChangeArrowheads="1"/>
          </p:cNvSpPr>
          <p:nvPr>
            <p:ph sz="half" idx="1"/>
          </p:nvPr>
        </p:nvSpPr>
        <p:spPr>
          <a:xfrm>
            <a:off x="723900" y="1801990"/>
            <a:ext cx="7239000" cy="380999"/>
          </a:xfrm>
        </p:spPr>
        <p:txBody>
          <a:bodyPr/>
          <a:lstStyle/>
          <a:p>
            <a:pPr eaLnBrk="1" hangingPunct="1">
              <a:buFont typeface="Wingdings 2" panose="05020102010507070707" pitchFamily="18" charset="2"/>
              <a:buNone/>
            </a:pPr>
            <a:r>
              <a:rPr lang="en-US" altLang="en-US" b="1" dirty="0" err="1"/>
              <a:t>Ecchymosis</a:t>
            </a:r>
            <a:r>
              <a:rPr lang="en-US" altLang="en-US" b="1" dirty="0"/>
              <a:t>:</a:t>
            </a:r>
            <a:r>
              <a:rPr lang="en-US" altLang="en-US" dirty="0"/>
              <a:t> blue-purple marks on the skin</a:t>
            </a:r>
          </a:p>
        </p:txBody>
      </p:sp>
      <p:pic>
        <p:nvPicPr>
          <p:cNvPr id="6" name="Content Placeholder 5" descr="Ecchymosis is bluish-purplish mark (bruise) on the skin."/>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600200" y="2491142"/>
            <a:ext cx="4876800" cy="36350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75169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
          <p:cNvSpPr>
            <a:spLocks noGrp="1" noChangeArrowheads="1"/>
          </p:cNvSpPr>
          <p:nvPr>
            <p:ph type="title"/>
          </p:nvPr>
        </p:nvSpPr>
        <p:spPr/>
        <p:txBody>
          <a:bodyPr/>
          <a:lstStyle/>
          <a:p>
            <a:pPr eaLnBrk="1" hangingPunct="1"/>
            <a:r>
              <a:rPr lang="en-US" altLang="en-US" dirty="0"/>
              <a:t>Signs and Symptoms  (Slide 3 of 4)</a:t>
            </a:r>
          </a:p>
        </p:txBody>
      </p:sp>
      <p:sp>
        <p:nvSpPr>
          <p:cNvPr id="50179" name="Rectangle 3"/>
          <p:cNvSpPr>
            <a:spLocks noGrp="1" noChangeArrowheads="1"/>
          </p:cNvSpPr>
          <p:nvPr>
            <p:ph sz="half" idx="1"/>
          </p:nvPr>
        </p:nvSpPr>
        <p:spPr>
          <a:xfrm>
            <a:off x="1066800" y="1790606"/>
            <a:ext cx="6858000" cy="761999"/>
          </a:xfrm>
        </p:spPr>
        <p:txBody>
          <a:bodyPr/>
          <a:lstStyle/>
          <a:p>
            <a:pPr eaLnBrk="1" hangingPunct="1">
              <a:buClr>
                <a:srgbClr val="CC0066"/>
              </a:buClr>
              <a:buFont typeface="Wingdings" panose="05000000000000000000" pitchFamily="2" charset="2"/>
              <a:buNone/>
            </a:pPr>
            <a:r>
              <a:rPr lang="en-US" altLang="en-US" b="1" dirty="0" err="1"/>
              <a:t>Petechia</a:t>
            </a:r>
            <a:r>
              <a:rPr lang="en-US" altLang="en-US" b="1" dirty="0"/>
              <a:t>:</a:t>
            </a:r>
            <a:r>
              <a:rPr lang="en-US" altLang="en-US" dirty="0"/>
              <a:t> small pinpoint hemorrhage</a:t>
            </a:r>
          </a:p>
        </p:txBody>
      </p:sp>
      <p:pic>
        <p:nvPicPr>
          <p:cNvPr id="6" name="Picture 11" descr="Petechia are small, pinpoint areas of hemorrhag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476500" y="2925573"/>
            <a:ext cx="4038600" cy="32005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22127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4"/>
          <p:cNvSpPr>
            <a:spLocks noGrp="1" noChangeArrowheads="1"/>
          </p:cNvSpPr>
          <p:nvPr>
            <p:ph type="title"/>
          </p:nvPr>
        </p:nvSpPr>
        <p:spPr/>
        <p:txBody>
          <a:bodyPr/>
          <a:lstStyle/>
          <a:p>
            <a:pPr eaLnBrk="1" hangingPunct="1"/>
            <a:r>
              <a:rPr lang="en-US" altLang="en-US" dirty="0"/>
              <a:t>Signs and Symptoms (Slide 4 of 4)</a:t>
            </a:r>
          </a:p>
        </p:txBody>
      </p:sp>
      <p:sp>
        <p:nvSpPr>
          <p:cNvPr id="51203" name="Rectangle 6"/>
          <p:cNvSpPr>
            <a:spLocks noGrp="1" noChangeArrowheads="1"/>
          </p:cNvSpPr>
          <p:nvPr>
            <p:ph sz="half" idx="1"/>
          </p:nvPr>
        </p:nvSpPr>
        <p:spPr>
          <a:xfrm>
            <a:off x="952500" y="1600200"/>
            <a:ext cx="6781800" cy="1219200"/>
          </a:xfrm>
        </p:spPr>
        <p:txBody>
          <a:bodyPr/>
          <a:lstStyle/>
          <a:p>
            <a:pPr eaLnBrk="1" hangingPunct="1">
              <a:buFont typeface="Wingdings 2" panose="05020102010507070707" pitchFamily="18" charset="2"/>
              <a:buNone/>
            </a:pPr>
            <a:r>
              <a:rPr lang="en-US" altLang="en-US" b="1" dirty="0" err="1"/>
              <a:t>Urticaria</a:t>
            </a:r>
            <a:r>
              <a:rPr lang="en-US" altLang="en-US" b="1" dirty="0"/>
              <a:t>:</a:t>
            </a:r>
            <a:r>
              <a:rPr lang="en-US" altLang="en-US" dirty="0"/>
              <a:t> an acute allergic reaction with red, round wheals on the skin</a:t>
            </a:r>
          </a:p>
        </p:txBody>
      </p:sp>
      <p:pic>
        <p:nvPicPr>
          <p:cNvPr id="6" name="Picture 15" descr="Urticaria is an acute allergic reaction with red, round wheals on the skin."/>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438399" y="3001962"/>
            <a:ext cx="4479141" cy="31242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394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title"/>
          </p:nvPr>
        </p:nvSpPr>
        <p:spPr/>
        <p:txBody>
          <a:bodyPr/>
          <a:lstStyle/>
          <a:p>
            <a:pPr eaLnBrk="1" hangingPunct="1"/>
            <a:r>
              <a:rPr lang="en-US" altLang="en-US" dirty="0"/>
              <a:t>Abnormal Conditions  (Slide 1 of 7)</a:t>
            </a:r>
          </a:p>
        </p:txBody>
      </p:sp>
      <p:sp>
        <p:nvSpPr>
          <p:cNvPr id="52227" name="Rectangle 6"/>
          <p:cNvSpPr>
            <a:spLocks noGrp="1" noChangeArrowheads="1"/>
          </p:cNvSpPr>
          <p:nvPr>
            <p:ph sz="half" idx="1"/>
          </p:nvPr>
        </p:nvSpPr>
        <p:spPr>
          <a:xfrm>
            <a:off x="800100" y="1600200"/>
            <a:ext cx="6667500" cy="1676400"/>
          </a:xfrm>
        </p:spPr>
        <p:txBody>
          <a:bodyPr/>
          <a:lstStyle/>
          <a:p>
            <a:pPr eaLnBrk="1" hangingPunct="1">
              <a:lnSpc>
                <a:spcPct val="80000"/>
              </a:lnSpc>
              <a:buFont typeface="Wingdings 2" panose="05020102010507070707" pitchFamily="18" charset="2"/>
              <a:buNone/>
            </a:pPr>
            <a:r>
              <a:rPr lang="en-US" altLang="en-US" b="1" dirty="0"/>
              <a:t>Acne:</a:t>
            </a:r>
            <a:r>
              <a:rPr lang="en-US" altLang="en-US" dirty="0"/>
              <a:t> </a:t>
            </a:r>
            <a:r>
              <a:rPr lang="en-US" altLang="en-US" dirty="0" err="1"/>
              <a:t>papular</a:t>
            </a:r>
            <a:r>
              <a:rPr lang="en-US" altLang="en-US" dirty="0"/>
              <a:t> and </a:t>
            </a:r>
            <a:r>
              <a:rPr lang="en-US" altLang="en-US" dirty="0" err="1"/>
              <a:t>pustular</a:t>
            </a:r>
            <a:r>
              <a:rPr lang="en-US" altLang="en-US" dirty="0"/>
              <a:t> eruption of skin with increased production of sebum</a:t>
            </a:r>
          </a:p>
          <a:p>
            <a:pPr eaLnBrk="1" hangingPunct="1">
              <a:lnSpc>
                <a:spcPct val="90000"/>
              </a:lnSpc>
            </a:pPr>
            <a:endParaRPr lang="en-US" altLang="en-US" sz="2400" dirty="0"/>
          </a:p>
        </p:txBody>
      </p:sp>
      <p:pic>
        <p:nvPicPr>
          <p:cNvPr id="6" name="Picture 12" descr="Acne is chronic papular and pustular eruption of the skin with increased production of sebum. A blackhead is called an open comedo and is filled with oxidized sebum and bacteria that partially blocks the por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743200" y="2971800"/>
            <a:ext cx="3657600" cy="33345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61871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3"/>
          <p:cNvSpPr>
            <a:spLocks noGrp="1" noChangeArrowheads="1"/>
          </p:cNvSpPr>
          <p:nvPr>
            <p:ph type="title"/>
          </p:nvPr>
        </p:nvSpPr>
        <p:spPr/>
        <p:txBody>
          <a:bodyPr/>
          <a:lstStyle/>
          <a:p>
            <a:pPr eaLnBrk="1" hangingPunct="1"/>
            <a:r>
              <a:rPr lang="en-US" altLang="en-US" dirty="0"/>
              <a:t>Abnormal Conditions  (Slide 2 of 7)</a:t>
            </a:r>
          </a:p>
        </p:txBody>
      </p:sp>
      <p:sp>
        <p:nvSpPr>
          <p:cNvPr id="53251" name="Rectangle 6"/>
          <p:cNvSpPr>
            <a:spLocks noGrp="1" noChangeArrowheads="1"/>
          </p:cNvSpPr>
          <p:nvPr>
            <p:ph sz="half" idx="1"/>
          </p:nvPr>
        </p:nvSpPr>
        <p:spPr>
          <a:xfrm>
            <a:off x="723900" y="2133600"/>
            <a:ext cx="3733800" cy="2362200"/>
          </a:xfrm>
        </p:spPr>
        <p:txBody>
          <a:bodyPr/>
          <a:lstStyle/>
          <a:p>
            <a:pPr eaLnBrk="1" hangingPunct="1">
              <a:lnSpc>
                <a:spcPct val="80000"/>
              </a:lnSpc>
              <a:buFont typeface="Wingdings 2" panose="05020102010507070707" pitchFamily="18" charset="2"/>
              <a:buNone/>
            </a:pPr>
            <a:r>
              <a:rPr lang="en-US" altLang="en-US" b="1" dirty="0"/>
              <a:t>Burns:</a:t>
            </a:r>
            <a:r>
              <a:rPr lang="en-US" altLang="en-US" dirty="0"/>
              <a:t> </a:t>
            </a:r>
            <a:r>
              <a:rPr lang="en-US" altLang="en-US" sz="2800" dirty="0"/>
              <a:t>injury to tissue due to heat, chemical, electric shock, lightning, or radiation. Second degree burn shown in figure.</a:t>
            </a:r>
          </a:p>
          <a:p>
            <a:pPr eaLnBrk="1" hangingPunct="1">
              <a:lnSpc>
                <a:spcPct val="90000"/>
              </a:lnSpc>
            </a:pPr>
            <a:endParaRPr lang="en-US" altLang="en-US" sz="2400" dirty="0"/>
          </a:p>
        </p:txBody>
      </p:sp>
      <p:pic>
        <p:nvPicPr>
          <p:cNvPr id="11" name="Picture 14" descr="Burns are injury to skin caused by heat contact. Second-degree burn has epidermal and dermal lesions, erythema, blister, and hyperesthesia. "/>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733389" y="2514600"/>
            <a:ext cx="3912469" cy="2667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72917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a:spLocks noGrp="1" noChangeArrowheads="1"/>
          </p:cNvSpPr>
          <p:nvPr>
            <p:ph type="title"/>
          </p:nvPr>
        </p:nvSpPr>
        <p:spPr/>
        <p:txBody>
          <a:bodyPr/>
          <a:lstStyle/>
          <a:p>
            <a:pPr eaLnBrk="1" hangingPunct="1"/>
            <a:r>
              <a:rPr lang="en-US" altLang="en-US" dirty="0"/>
              <a:t>Abnormal Conditions  (Slide 3 of 7)</a:t>
            </a:r>
          </a:p>
        </p:txBody>
      </p:sp>
      <p:sp>
        <p:nvSpPr>
          <p:cNvPr id="54275" name="Rectangle 5"/>
          <p:cNvSpPr>
            <a:spLocks noGrp="1" noChangeArrowheads="1"/>
          </p:cNvSpPr>
          <p:nvPr>
            <p:ph idx="1"/>
          </p:nvPr>
        </p:nvSpPr>
        <p:spPr/>
        <p:txBody>
          <a:bodyPr/>
          <a:lstStyle/>
          <a:p>
            <a:pPr eaLnBrk="1" hangingPunct="1">
              <a:lnSpc>
                <a:spcPct val="90000"/>
              </a:lnSpc>
            </a:pPr>
            <a:r>
              <a:rPr lang="en-US" altLang="en-US" b="1"/>
              <a:t>Cellulitis:</a:t>
            </a:r>
            <a:r>
              <a:rPr lang="en-US" altLang="en-US"/>
              <a:t> a diffuse acute infection of the skin</a:t>
            </a:r>
          </a:p>
          <a:p>
            <a:pPr eaLnBrk="1" hangingPunct="1">
              <a:lnSpc>
                <a:spcPct val="90000"/>
              </a:lnSpc>
            </a:pPr>
            <a:r>
              <a:rPr lang="en-US" altLang="en-US" b="1"/>
              <a:t>Eczema (atopic dermatitis):</a:t>
            </a:r>
            <a:r>
              <a:rPr lang="en-US" altLang="en-US"/>
              <a:t> inflammation of the skin with erythematous and papulovesicular lesions caused by allergy</a:t>
            </a:r>
          </a:p>
          <a:p>
            <a:pPr eaLnBrk="1" hangingPunct="1">
              <a:lnSpc>
                <a:spcPct val="90000"/>
              </a:lnSpc>
            </a:pPr>
            <a:r>
              <a:rPr lang="en-US" altLang="en-US" b="1"/>
              <a:t>Exanthematous viral diseases:</a:t>
            </a:r>
            <a:r>
              <a:rPr lang="en-US" altLang="en-US"/>
              <a:t> a rash due to virus (for example, rubella)</a:t>
            </a:r>
          </a:p>
          <a:p>
            <a:pPr eaLnBrk="1" hangingPunct="1">
              <a:lnSpc>
                <a:spcPct val="90000"/>
              </a:lnSpc>
            </a:pPr>
            <a:r>
              <a:rPr lang="en-US" altLang="en-US" b="1"/>
              <a:t>Gangrene:</a:t>
            </a:r>
            <a:r>
              <a:rPr lang="en-US" altLang="en-US"/>
              <a:t> the death of tissue with loss of blood supply</a:t>
            </a:r>
          </a:p>
        </p:txBody>
      </p:sp>
    </p:spTree>
    <p:extLst>
      <p:ext uri="{BB962C8B-B14F-4D97-AF65-F5344CB8AC3E}">
        <p14:creationId xmlns:p14="http://schemas.microsoft.com/office/powerpoint/2010/main" val="31868277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6"/>
          <p:cNvSpPr>
            <a:spLocks noGrp="1" noChangeArrowheads="1"/>
          </p:cNvSpPr>
          <p:nvPr>
            <p:ph type="title"/>
          </p:nvPr>
        </p:nvSpPr>
        <p:spPr/>
        <p:txBody>
          <a:bodyPr/>
          <a:lstStyle/>
          <a:p>
            <a:pPr eaLnBrk="1" hangingPunct="1"/>
            <a:r>
              <a:rPr lang="en-US" altLang="en-US" dirty="0"/>
              <a:t>Abnormal Conditions  (Slide 4 of 7)</a:t>
            </a:r>
          </a:p>
        </p:txBody>
      </p:sp>
      <p:sp>
        <p:nvSpPr>
          <p:cNvPr id="55299" name="Rectangle 7"/>
          <p:cNvSpPr>
            <a:spLocks noGrp="1" noChangeArrowheads="1"/>
          </p:cNvSpPr>
          <p:nvPr>
            <p:ph idx="1"/>
          </p:nvPr>
        </p:nvSpPr>
        <p:spPr/>
        <p:txBody>
          <a:bodyPr/>
          <a:lstStyle/>
          <a:p>
            <a:pPr eaLnBrk="1" hangingPunct="1"/>
            <a:r>
              <a:rPr lang="en-US" altLang="en-US" b="1"/>
              <a:t>Impetigo:</a:t>
            </a:r>
            <a:r>
              <a:rPr lang="en-US" altLang="en-US"/>
              <a:t> contagious pyoderma caused by staph or strep</a:t>
            </a:r>
          </a:p>
          <a:p>
            <a:pPr eaLnBrk="1" hangingPunct="1"/>
            <a:r>
              <a:rPr lang="en-US" altLang="en-US" b="1"/>
              <a:t>Psoriasis:</a:t>
            </a:r>
            <a:r>
              <a:rPr lang="en-US" altLang="en-US"/>
              <a:t> chronic recurrent dermatosis with silver gray scales that itch</a:t>
            </a:r>
          </a:p>
          <a:p>
            <a:pPr eaLnBrk="1" hangingPunct="1"/>
            <a:r>
              <a:rPr lang="en-US" altLang="en-US" b="1"/>
              <a:t>Scabies:</a:t>
            </a:r>
            <a:r>
              <a:rPr lang="en-US" altLang="en-US"/>
              <a:t> parasitic (tiny mites) and infectious pruritus</a:t>
            </a:r>
          </a:p>
          <a:p>
            <a:pPr eaLnBrk="1" hangingPunct="1"/>
            <a:r>
              <a:rPr lang="en-US" altLang="en-US" b="1"/>
              <a:t>Scleroderma:</a:t>
            </a:r>
            <a:r>
              <a:rPr lang="en-US" altLang="en-US"/>
              <a:t> chronic and progressive disease of the skin with hardening of connective tissue</a:t>
            </a:r>
          </a:p>
        </p:txBody>
      </p:sp>
    </p:spTree>
    <p:extLst>
      <p:ext uri="{BB962C8B-B14F-4D97-AF65-F5344CB8AC3E}">
        <p14:creationId xmlns:p14="http://schemas.microsoft.com/office/powerpoint/2010/main" val="19328556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Grp="1" noChangeArrowheads="1"/>
          </p:cNvSpPr>
          <p:nvPr>
            <p:ph type="title"/>
          </p:nvPr>
        </p:nvSpPr>
        <p:spPr/>
        <p:txBody>
          <a:bodyPr/>
          <a:lstStyle/>
          <a:p>
            <a:pPr eaLnBrk="1" hangingPunct="1"/>
            <a:r>
              <a:rPr lang="en-US" altLang="en-US" dirty="0"/>
              <a:t>Abnormal Conditions  (Slide 5 of 7)</a:t>
            </a:r>
          </a:p>
        </p:txBody>
      </p:sp>
      <p:sp>
        <p:nvSpPr>
          <p:cNvPr id="56323" name="Rectangle 5"/>
          <p:cNvSpPr>
            <a:spLocks noGrp="1" noChangeArrowheads="1"/>
          </p:cNvSpPr>
          <p:nvPr>
            <p:ph idx="1"/>
          </p:nvPr>
        </p:nvSpPr>
        <p:spPr/>
        <p:txBody>
          <a:bodyPr/>
          <a:lstStyle/>
          <a:p>
            <a:pPr eaLnBrk="1" hangingPunct="1"/>
            <a:r>
              <a:rPr lang="en-US" altLang="en-US" b="1"/>
              <a:t>Systemic lupus erythematosus (SLE):</a:t>
            </a:r>
            <a:r>
              <a:rPr lang="en-US" altLang="en-US"/>
              <a:t> an inflammatory disease of collagen in the skin, joints, and internal organs</a:t>
            </a:r>
          </a:p>
          <a:p>
            <a:pPr eaLnBrk="1" hangingPunct="1"/>
            <a:endParaRPr lang="en-US" altLang="en-US"/>
          </a:p>
          <a:p>
            <a:pPr eaLnBrk="1" hangingPunct="1"/>
            <a:r>
              <a:rPr lang="en-US" altLang="en-US" b="1"/>
              <a:t>Urticaria (hives):  </a:t>
            </a:r>
            <a:r>
              <a:rPr lang="en-US" altLang="en-US"/>
              <a:t>an</a:t>
            </a:r>
            <a:r>
              <a:rPr lang="en-US" altLang="en-US" b="1"/>
              <a:t> </a:t>
            </a:r>
            <a:r>
              <a:rPr lang="en-US" altLang="en-US"/>
              <a:t>acute allergic reaction in which red, round wheals develop on the skin</a:t>
            </a:r>
          </a:p>
        </p:txBody>
      </p:sp>
    </p:spTree>
    <p:extLst>
      <p:ext uri="{BB962C8B-B14F-4D97-AF65-F5344CB8AC3E}">
        <p14:creationId xmlns:p14="http://schemas.microsoft.com/office/powerpoint/2010/main" val="20150055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title"/>
          </p:nvPr>
        </p:nvSpPr>
        <p:spPr/>
        <p:txBody>
          <a:bodyPr/>
          <a:lstStyle/>
          <a:p>
            <a:pPr eaLnBrk="1" hangingPunct="1"/>
            <a:r>
              <a:rPr lang="en-US" altLang="en-US" dirty="0"/>
              <a:t>Abnormal Conditions (Slide 6 of 7)</a:t>
            </a:r>
          </a:p>
        </p:txBody>
      </p:sp>
      <p:sp>
        <p:nvSpPr>
          <p:cNvPr id="3" name="Content Placeholder 2"/>
          <p:cNvSpPr>
            <a:spLocks noGrp="1"/>
          </p:cNvSpPr>
          <p:nvPr>
            <p:ph sz="half" idx="1"/>
          </p:nvPr>
        </p:nvSpPr>
        <p:spPr>
          <a:xfrm>
            <a:off x="571500" y="2044730"/>
            <a:ext cx="3238500" cy="2527270"/>
          </a:xfrm>
        </p:spPr>
        <p:txBody>
          <a:bodyPr/>
          <a:lstStyle/>
          <a:p>
            <a:r>
              <a:rPr lang="en-US" b="1" dirty="0"/>
              <a:t>Tinea: </a:t>
            </a:r>
            <a:r>
              <a:rPr lang="en-US" dirty="0"/>
              <a:t>infection</a:t>
            </a:r>
            <a:r>
              <a:rPr lang="en-US" b="1" dirty="0"/>
              <a:t> </a:t>
            </a:r>
            <a:r>
              <a:rPr lang="en-US" dirty="0"/>
              <a:t>of the skin caused by a fungus—     Tinea </a:t>
            </a:r>
            <a:r>
              <a:rPr lang="en-US" dirty="0" err="1"/>
              <a:t>corporis</a:t>
            </a:r>
            <a:r>
              <a:rPr lang="en-US" dirty="0"/>
              <a:t> shown in figure</a:t>
            </a:r>
          </a:p>
          <a:p>
            <a:endParaRPr lang="es-419" dirty="0"/>
          </a:p>
        </p:txBody>
      </p:sp>
      <p:pic>
        <p:nvPicPr>
          <p:cNvPr id="14" name="Picture 14" descr="Tinea corporis (ringworm) is so-called because the infection is in a ringlike pattern, is highly contagious, and causes severe pruritu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2044730"/>
            <a:ext cx="4038600" cy="35606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32681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en-US" dirty="0"/>
              <a:t>Abnormal Conditions (Slide 7 of 7)</a:t>
            </a:r>
          </a:p>
        </p:txBody>
      </p:sp>
      <p:sp>
        <p:nvSpPr>
          <p:cNvPr id="3" name="Text Placeholder 2"/>
          <p:cNvSpPr>
            <a:spLocks noGrp="1"/>
          </p:cNvSpPr>
          <p:nvPr>
            <p:ph type="body" idx="1"/>
          </p:nvPr>
        </p:nvSpPr>
        <p:spPr>
          <a:xfrm>
            <a:off x="1143000" y="1905000"/>
            <a:ext cx="7123112" cy="622299"/>
          </a:xfrm>
        </p:spPr>
        <p:txBody>
          <a:bodyPr/>
          <a:lstStyle/>
          <a:p>
            <a:r>
              <a:rPr lang="en-US" altLang="en-US" dirty="0">
                <a:latin typeface="Arial" panose="020B0604020202020204" pitchFamily="34" charset="0"/>
              </a:rPr>
              <a:t>Vitiligo: loss of pigment in areas of the skin</a:t>
            </a:r>
          </a:p>
        </p:txBody>
      </p:sp>
      <p:pic>
        <p:nvPicPr>
          <p:cNvPr id="12" name="Picture 12" descr="Vitiligo is the loss of pigment in areas of the skin (milk-white patche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857500" y="3014661"/>
            <a:ext cx="3694112" cy="29737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8008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11" name="Rectangle 11"/>
          <p:cNvSpPr>
            <a:spLocks noGrp="1" noChangeArrowheads="1"/>
          </p:cNvSpPr>
          <p:nvPr>
            <p:ph type="title"/>
          </p:nvPr>
        </p:nvSpPr>
        <p:spPr/>
        <p:txBody>
          <a:bodyPr rtlCol="0">
            <a:normAutofit fontScale="90000"/>
          </a:bodyPr>
          <a:lstStyle/>
          <a:p>
            <a:pPr eaLnBrk="1" fontAlgn="auto" hangingPunct="1">
              <a:spcAft>
                <a:spcPts val="0"/>
              </a:spcAft>
              <a:defRPr/>
            </a:pPr>
            <a:r>
              <a:rPr lang="en-US" dirty="0"/>
              <a:t>Chapter 16</a:t>
            </a:r>
            <a:br>
              <a:rPr lang="en-US" dirty="0"/>
            </a:br>
            <a:r>
              <a:rPr lang="en-US" dirty="0"/>
              <a:t>Lesson 16.3</a:t>
            </a:r>
          </a:p>
        </p:txBody>
      </p:sp>
    </p:spTree>
    <p:extLst>
      <p:ext uri="{BB962C8B-B14F-4D97-AF65-F5344CB8AC3E}">
        <p14:creationId xmlns:p14="http://schemas.microsoft.com/office/powerpoint/2010/main" val="23507532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5"/>
          <p:cNvSpPr>
            <a:spLocks noGrp="1" noChangeArrowheads="1"/>
          </p:cNvSpPr>
          <p:nvPr>
            <p:ph type="title"/>
          </p:nvPr>
        </p:nvSpPr>
        <p:spPr/>
        <p:txBody>
          <a:bodyPr rtlCol="0">
            <a:normAutofit fontScale="90000"/>
          </a:bodyPr>
          <a:lstStyle/>
          <a:p>
            <a:pPr eaLnBrk="1" fontAlgn="auto" hangingPunct="1">
              <a:spcAft>
                <a:spcPts val="0"/>
              </a:spcAft>
              <a:defRPr/>
            </a:pPr>
            <a:r>
              <a:rPr lang="en-US" dirty="0"/>
              <a:t>Skin </a:t>
            </a:r>
            <a:r>
              <a:rPr lang="en-US" sz="4900" dirty="0"/>
              <a:t>Neoplasms</a:t>
            </a:r>
            <a:r>
              <a:rPr lang="en-US" dirty="0"/>
              <a:t> — Benign </a:t>
            </a:r>
            <a:br>
              <a:rPr lang="en-US" dirty="0"/>
            </a:br>
            <a:endParaRPr lang="en-US" dirty="0"/>
          </a:p>
        </p:txBody>
      </p:sp>
      <p:sp>
        <p:nvSpPr>
          <p:cNvPr id="61443" name="Rectangle 6"/>
          <p:cNvSpPr>
            <a:spLocks noGrp="1" noChangeArrowheads="1"/>
          </p:cNvSpPr>
          <p:nvPr>
            <p:ph idx="1"/>
          </p:nvPr>
        </p:nvSpPr>
        <p:spPr/>
        <p:txBody>
          <a:bodyPr/>
          <a:lstStyle/>
          <a:p>
            <a:pPr eaLnBrk="1" hangingPunct="1"/>
            <a:r>
              <a:rPr lang="en-US" altLang="en-US" b="1" dirty="0" err="1"/>
              <a:t>Keratosis</a:t>
            </a:r>
            <a:r>
              <a:rPr lang="en-US" altLang="en-US" b="1" dirty="0"/>
              <a:t>:</a:t>
            </a:r>
            <a:r>
              <a:rPr lang="en-US" altLang="en-US" dirty="0"/>
              <a:t> thickened area of epidermis</a:t>
            </a:r>
          </a:p>
          <a:p>
            <a:pPr eaLnBrk="1" hangingPunct="1"/>
            <a:r>
              <a:rPr lang="en-US" altLang="en-US" b="1" dirty="0" err="1"/>
              <a:t>Leukoplakia</a:t>
            </a:r>
            <a:r>
              <a:rPr lang="en-US" altLang="en-US" b="1" dirty="0"/>
              <a:t>:</a:t>
            </a:r>
            <a:r>
              <a:rPr lang="en-US" altLang="en-US" dirty="0"/>
              <a:t> white, thickened patches on tongue or cheek </a:t>
            </a:r>
          </a:p>
          <a:p>
            <a:pPr eaLnBrk="1" hangingPunct="1"/>
            <a:r>
              <a:rPr lang="en-US" altLang="en-US" b="1" dirty="0"/>
              <a:t>Nevus (</a:t>
            </a:r>
            <a:r>
              <a:rPr lang="en-US" altLang="en-US" b="1" i="1" dirty="0"/>
              <a:t>pl. </a:t>
            </a:r>
            <a:r>
              <a:rPr lang="en-US" altLang="en-US" b="1" dirty="0"/>
              <a:t>nevi):</a:t>
            </a:r>
            <a:r>
              <a:rPr lang="en-US" altLang="en-US" dirty="0"/>
              <a:t> pigmented lesion</a:t>
            </a:r>
          </a:p>
          <a:p>
            <a:pPr eaLnBrk="1" hangingPunct="1"/>
            <a:r>
              <a:rPr lang="en-US" altLang="en-US" b="1" dirty="0" err="1"/>
              <a:t>Verruca</a:t>
            </a:r>
            <a:r>
              <a:rPr lang="en-US" altLang="en-US" b="1" dirty="0"/>
              <a:t>:</a:t>
            </a:r>
            <a:r>
              <a:rPr lang="en-US" altLang="en-US" dirty="0"/>
              <a:t> warts caused by virus</a:t>
            </a:r>
          </a:p>
        </p:txBody>
      </p:sp>
    </p:spTree>
    <p:extLst>
      <p:ext uri="{BB962C8B-B14F-4D97-AF65-F5344CB8AC3E}">
        <p14:creationId xmlns:p14="http://schemas.microsoft.com/office/powerpoint/2010/main" val="1380407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ltLang="en-US" dirty="0"/>
              <a:t>Skin Neoplasms — Cancerous</a:t>
            </a:r>
            <a:br>
              <a:rPr lang="en-US" altLang="en-US" dirty="0"/>
            </a:br>
            <a:r>
              <a:rPr lang="en-US" altLang="en-US" dirty="0"/>
              <a:t>(Slide 1 of 3)</a:t>
            </a:r>
          </a:p>
        </p:txBody>
      </p:sp>
      <p:sp>
        <p:nvSpPr>
          <p:cNvPr id="62467" name="Rectangle 3"/>
          <p:cNvSpPr>
            <a:spLocks noGrp="1" noChangeArrowheads="1"/>
          </p:cNvSpPr>
          <p:nvPr>
            <p:ph sz="half" idx="1"/>
          </p:nvPr>
        </p:nvSpPr>
        <p:spPr>
          <a:xfrm>
            <a:off x="685800" y="1641475"/>
            <a:ext cx="3795713" cy="3675601"/>
          </a:xfrm>
        </p:spPr>
        <p:txBody>
          <a:bodyPr/>
          <a:lstStyle/>
          <a:p>
            <a:pPr eaLnBrk="1" hangingPunct="1">
              <a:buFont typeface="Wingdings 2" panose="05020102010507070707" pitchFamily="18" charset="2"/>
              <a:buNone/>
            </a:pPr>
            <a:r>
              <a:rPr lang="en-US" altLang="en-US" sz="3200" b="1" dirty="0"/>
              <a:t>Basal cell carcinoma—Malignant tumor of the basal cell layer of the epidermis</a:t>
            </a:r>
          </a:p>
          <a:p>
            <a:pPr eaLnBrk="1" hangingPunct="1"/>
            <a:endParaRPr lang="en-US" altLang="en-US" sz="2400" dirty="0"/>
          </a:p>
          <a:p>
            <a:pPr eaLnBrk="1" hangingPunct="1"/>
            <a:endParaRPr lang="en-US" altLang="en-US" sz="2400" dirty="0"/>
          </a:p>
        </p:txBody>
      </p:sp>
      <p:pic>
        <p:nvPicPr>
          <p:cNvPr id="7" name="Picture 8" descr="Basal cell carcinoma is a malignant tumor of the basal layer of the epidermi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2409285"/>
            <a:ext cx="4038600" cy="29077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48473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5"/>
          <p:cNvSpPr>
            <a:spLocks noGrp="1" noChangeArrowheads="1"/>
          </p:cNvSpPr>
          <p:nvPr>
            <p:ph type="title"/>
          </p:nvPr>
        </p:nvSpPr>
        <p:spPr/>
        <p:txBody>
          <a:bodyPr/>
          <a:lstStyle/>
          <a:p>
            <a:pPr eaLnBrk="1" hangingPunct="1"/>
            <a:r>
              <a:rPr lang="en-US" altLang="en-US" dirty="0"/>
              <a:t>Skin Neoplasms — Cancerous</a:t>
            </a:r>
            <a:br>
              <a:rPr lang="en-US" altLang="en-US" dirty="0"/>
            </a:br>
            <a:r>
              <a:rPr lang="en-US" altLang="en-US" dirty="0"/>
              <a:t>(Slide 2 of 3</a:t>
            </a:r>
            <a:r>
              <a:rPr lang="en-US" altLang="ja-JP" dirty="0"/>
              <a:t>)</a:t>
            </a:r>
            <a:endParaRPr lang="en-US" altLang="en-US" dirty="0"/>
          </a:p>
        </p:txBody>
      </p:sp>
      <p:sp>
        <p:nvSpPr>
          <p:cNvPr id="43014" name="Rectangle 6"/>
          <p:cNvSpPr>
            <a:spLocks noGrp="1" noChangeArrowheads="1"/>
          </p:cNvSpPr>
          <p:nvPr>
            <p:ph sz="half" idx="1"/>
          </p:nvPr>
        </p:nvSpPr>
        <p:spPr>
          <a:xfrm>
            <a:off x="457200" y="1600201"/>
            <a:ext cx="4038600" cy="3352800"/>
          </a:xfrm>
        </p:spPr>
        <p:txBody>
          <a:bodyPr rtlCol="0">
            <a:normAutofit/>
          </a:bodyPr>
          <a:lstStyle/>
          <a:p>
            <a:pPr eaLnBrk="1" fontAlgn="auto" hangingPunct="1">
              <a:spcAft>
                <a:spcPts val="0"/>
              </a:spcAft>
              <a:buFont typeface="Wingdings 2" pitchFamily="18" charset="2"/>
              <a:buNone/>
              <a:defRPr/>
            </a:pPr>
            <a:r>
              <a:rPr lang="en-US" dirty="0"/>
              <a:t>    </a:t>
            </a:r>
            <a:r>
              <a:rPr lang="en-US" sz="3600" b="1" dirty="0"/>
              <a:t>Squamous cell carcinoma-</a:t>
            </a:r>
            <a:r>
              <a:rPr lang="en-US" dirty="0"/>
              <a:t>-</a:t>
            </a:r>
            <a:r>
              <a:rPr lang="en-US" sz="3000" dirty="0"/>
              <a:t>Malignant tumor of the squamous epithelial cells of the epidermis</a:t>
            </a:r>
          </a:p>
          <a:p>
            <a:pPr eaLnBrk="1" fontAlgn="auto" hangingPunct="1">
              <a:spcAft>
                <a:spcPts val="0"/>
              </a:spcAft>
              <a:defRPr/>
            </a:pPr>
            <a:endParaRPr lang="en-US" sz="2400" dirty="0"/>
          </a:p>
        </p:txBody>
      </p:sp>
      <p:pic>
        <p:nvPicPr>
          <p:cNvPr id="8" name="Picture 13" descr="Squamous cell carcinoma is a malignant tumor of the squamous epithelial cells in the epidermi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1817485"/>
            <a:ext cx="4038600" cy="40913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77734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ltLang="en-US" dirty="0"/>
              <a:t>Skin Neoplasms — Cancerous</a:t>
            </a:r>
            <a:br>
              <a:rPr lang="en-US" altLang="en-US" dirty="0"/>
            </a:br>
            <a:r>
              <a:rPr lang="en-US" altLang="en-US" dirty="0"/>
              <a:t>(Slide 3 of 3</a:t>
            </a:r>
            <a:r>
              <a:rPr lang="en-US" altLang="ja-JP" dirty="0"/>
              <a:t>)</a:t>
            </a:r>
            <a:endParaRPr lang="en-US" altLang="en-US" dirty="0"/>
          </a:p>
        </p:txBody>
      </p:sp>
      <p:sp>
        <p:nvSpPr>
          <p:cNvPr id="65539" name="Rectangle 3"/>
          <p:cNvSpPr>
            <a:spLocks noGrp="1" noChangeArrowheads="1"/>
          </p:cNvSpPr>
          <p:nvPr>
            <p:ph sz="half" idx="1"/>
          </p:nvPr>
        </p:nvSpPr>
        <p:spPr>
          <a:xfrm>
            <a:off x="685800" y="2819400"/>
            <a:ext cx="6507163" cy="2640013"/>
          </a:xfrm>
        </p:spPr>
        <p:txBody>
          <a:bodyPr/>
          <a:lstStyle/>
          <a:p>
            <a:pPr eaLnBrk="1" hangingPunct="1">
              <a:buFont typeface="Wingdings 2" panose="05020102010507070707" pitchFamily="18" charset="2"/>
              <a:buNone/>
            </a:pPr>
            <a:r>
              <a:rPr lang="en-US" altLang="en-US"/>
              <a:t>Malignant, vascular, neoplastic growth characterized by cutaneous nodules</a:t>
            </a:r>
          </a:p>
        </p:txBody>
      </p:sp>
      <p:sp>
        <p:nvSpPr>
          <p:cNvPr id="65540" name="Rectangle 4"/>
          <p:cNvSpPr>
            <a:spLocks noGrp="1" noChangeArrowheads="1"/>
          </p:cNvSpPr>
          <p:nvPr>
            <p:ph sz="half" idx="2"/>
          </p:nvPr>
        </p:nvSpPr>
        <p:spPr>
          <a:xfrm>
            <a:off x="685800" y="1981200"/>
            <a:ext cx="3795713" cy="660400"/>
          </a:xfrm>
        </p:spPr>
        <p:txBody>
          <a:bodyPr/>
          <a:lstStyle/>
          <a:p>
            <a:pPr eaLnBrk="1" hangingPunct="1">
              <a:buFont typeface="Wingdings 2" panose="05020102010507070707" pitchFamily="18" charset="2"/>
              <a:buNone/>
            </a:pPr>
            <a:r>
              <a:rPr lang="en-US" altLang="en-US" sz="3200" b="1"/>
              <a:t>Kaposi sarcoma</a:t>
            </a:r>
          </a:p>
        </p:txBody>
      </p:sp>
    </p:spTree>
    <p:extLst>
      <p:ext uri="{BB962C8B-B14F-4D97-AF65-F5344CB8AC3E}">
        <p14:creationId xmlns:p14="http://schemas.microsoft.com/office/powerpoint/2010/main" val="17309464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Grp="1" noChangeArrowheads="1"/>
          </p:cNvSpPr>
          <p:nvPr>
            <p:ph type="title"/>
          </p:nvPr>
        </p:nvSpPr>
        <p:spPr>
          <a:xfrm>
            <a:off x="0" y="381000"/>
            <a:ext cx="9144000" cy="1143000"/>
          </a:xfrm>
        </p:spPr>
        <p:txBody>
          <a:bodyPr/>
          <a:lstStyle/>
          <a:p>
            <a:pPr eaLnBrk="1" hangingPunct="1"/>
            <a:r>
              <a:rPr lang="en-US" altLang="en-US"/>
              <a:t>Laboratory Tests</a:t>
            </a:r>
          </a:p>
        </p:txBody>
      </p:sp>
      <p:sp>
        <p:nvSpPr>
          <p:cNvPr id="66563" name="Rectangle 5"/>
          <p:cNvSpPr>
            <a:spLocks noGrp="1" noChangeArrowheads="1"/>
          </p:cNvSpPr>
          <p:nvPr>
            <p:ph idx="1"/>
          </p:nvPr>
        </p:nvSpPr>
        <p:spPr/>
        <p:txBody>
          <a:bodyPr/>
          <a:lstStyle/>
          <a:p>
            <a:pPr eaLnBrk="1" hangingPunct="1">
              <a:lnSpc>
                <a:spcPct val="80000"/>
              </a:lnSpc>
              <a:buFont typeface="Wingdings 2" panose="05020102010507070707" pitchFamily="18" charset="2"/>
              <a:buNone/>
            </a:pPr>
            <a:r>
              <a:rPr lang="en-US" altLang="en-US" b="1"/>
              <a:t>Bacterial analyses:</a:t>
            </a:r>
            <a:r>
              <a:rPr lang="en-US" altLang="en-US"/>
              <a:t> pus or fluid samples examined to detect microorganisms</a:t>
            </a:r>
          </a:p>
          <a:p>
            <a:pPr eaLnBrk="1" hangingPunct="1">
              <a:buFont typeface="Wingdings 2" panose="05020102010507070707" pitchFamily="18" charset="2"/>
              <a:buNone/>
            </a:pPr>
            <a:endParaRPr lang="en-US" altLang="en-US"/>
          </a:p>
          <a:p>
            <a:pPr eaLnBrk="1" hangingPunct="1">
              <a:lnSpc>
                <a:spcPct val="80000"/>
              </a:lnSpc>
              <a:buFont typeface="Wingdings 2" panose="05020102010507070707" pitchFamily="18" charset="2"/>
              <a:buNone/>
            </a:pPr>
            <a:r>
              <a:rPr lang="en-US" altLang="en-US" b="1"/>
              <a:t>Fungal tests:</a:t>
            </a:r>
            <a:r>
              <a:rPr lang="en-US" altLang="en-US"/>
              <a:t> scrapings for culture and microscopic examination after treatment with KOH</a:t>
            </a:r>
          </a:p>
        </p:txBody>
      </p:sp>
    </p:spTree>
    <p:extLst>
      <p:ext uri="{BB962C8B-B14F-4D97-AF65-F5344CB8AC3E}">
        <p14:creationId xmlns:p14="http://schemas.microsoft.com/office/powerpoint/2010/main" val="1079494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p:cNvSpPr>
            <a:spLocks noGrp="1" noChangeArrowheads="1"/>
          </p:cNvSpPr>
          <p:nvPr>
            <p:ph type="title"/>
          </p:nvPr>
        </p:nvSpPr>
        <p:spPr>
          <a:xfrm>
            <a:off x="0" y="304800"/>
            <a:ext cx="9144000" cy="1143000"/>
          </a:xfrm>
        </p:spPr>
        <p:txBody>
          <a:bodyPr/>
          <a:lstStyle/>
          <a:p>
            <a:pPr eaLnBrk="1" hangingPunct="1"/>
            <a:r>
              <a:rPr lang="en-US" altLang="en-US" dirty="0"/>
              <a:t>Clinical Procedures (Slide 1 of 2)</a:t>
            </a:r>
          </a:p>
        </p:txBody>
      </p:sp>
      <p:sp>
        <p:nvSpPr>
          <p:cNvPr id="67587" name="Rectangle 5"/>
          <p:cNvSpPr>
            <a:spLocks noGrp="1" noChangeArrowheads="1"/>
          </p:cNvSpPr>
          <p:nvPr>
            <p:ph idx="1"/>
          </p:nvPr>
        </p:nvSpPr>
        <p:spPr/>
        <p:txBody>
          <a:bodyPr/>
          <a:lstStyle/>
          <a:p>
            <a:pPr eaLnBrk="1" hangingPunct="1">
              <a:buFont typeface="Wingdings 2" panose="05020102010507070707" pitchFamily="18" charset="2"/>
              <a:buNone/>
            </a:pPr>
            <a:r>
              <a:rPr lang="en-US" altLang="en-US" b="1"/>
              <a:t>Cryosurgery:</a:t>
            </a:r>
            <a:r>
              <a:rPr lang="en-US" altLang="en-US"/>
              <a:t> destroy tissue with subzero temperatures using liquid nitrogen</a:t>
            </a:r>
          </a:p>
          <a:p>
            <a:pPr eaLnBrk="1" hangingPunct="1">
              <a:lnSpc>
                <a:spcPct val="80000"/>
              </a:lnSpc>
              <a:buFont typeface="Wingdings 2" panose="05020102010507070707" pitchFamily="18" charset="2"/>
              <a:buNone/>
            </a:pPr>
            <a:endParaRPr lang="en-US" altLang="en-US"/>
          </a:p>
          <a:p>
            <a:pPr eaLnBrk="1" hangingPunct="1">
              <a:lnSpc>
                <a:spcPct val="80000"/>
              </a:lnSpc>
              <a:buFont typeface="Wingdings 2" panose="05020102010507070707" pitchFamily="18" charset="2"/>
              <a:buNone/>
            </a:pPr>
            <a:r>
              <a:rPr lang="en-US" altLang="en-US" b="1"/>
              <a:t>Curettage:</a:t>
            </a:r>
            <a:r>
              <a:rPr lang="en-US" altLang="en-US"/>
              <a:t> scrape lesion with sharp curet</a:t>
            </a:r>
          </a:p>
          <a:p>
            <a:pPr eaLnBrk="1" hangingPunct="1">
              <a:lnSpc>
                <a:spcPct val="80000"/>
              </a:lnSpc>
              <a:buFont typeface="Wingdings 2" panose="05020102010507070707" pitchFamily="18" charset="2"/>
              <a:buNone/>
            </a:pPr>
            <a:endParaRPr lang="en-US" altLang="en-US"/>
          </a:p>
          <a:p>
            <a:pPr eaLnBrk="1" hangingPunct="1">
              <a:lnSpc>
                <a:spcPct val="80000"/>
              </a:lnSpc>
              <a:buFont typeface="Wingdings 2" panose="05020102010507070707" pitchFamily="18" charset="2"/>
              <a:buNone/>
            </a:pPr>
            <a:r>
              <a:rPr lang="en-US" altLang="en-US" b="1"/>
              <a:t>Electrodesiccation:</a:t>
            </a:r>
            <a:r>
              <a:rPr lang="en-US" altLang="en-US"/>
              <a:t> destroy tissue by burning with electric spark</a:t>
            </a:r>
          </a:p>
        </p:txBody>
      </p:sp>
    </p:spTree>
    <p:extLst>
      <p:ext uri="{BB962C8B-B14F-4D97-AF65-F5344CB8AC3E}">
        <p14:creationId xmlns:p14="http://schemas.microsoft.com/office/powerpoint/2010/main" val="257354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Grp="1" noChangeArrowheads="1"/>
          </p:cNvSpPr>
          <p:nvPr>
            <p:ph type="title"/>
          </p:nvPr>
        </p:nvSpPr>
        <p:spPr/>
        <p:txBody>
          <a:bodyPr/>
          <a:lstStyle/>
          <a:p>
            <a:pPr eaLnBrk="1" hangingPunct="1"/>
            <a:r>
              <a:rPr lang="en-US" altLang="en-US" dirty="0"/>
              <a:t>Clinical Procedures (Slide 2 of 2</a:t>
            </a:r>
            <a:r>
              <a:rPr lang="en-US" altLang="ja-JP" dirty="0"/>
              <a:t>)</a:t>
            </a:r>
            <a:endParaRPr lang="en-US" altLang="en-US" dirty="0"/>
          </a:p>
        </p:txBody>
      </p:sp>
      <p:sp>
        <p:nvSpPr>
          <p:cNvPr id="68611" name="Rectangle 5"/>
          <p:cNvSpPr>
            <a:spLocks noGrp="1" noChangeArrowheads="1"/>
          </p:cNvSpPr>
          <p:nvPr>
            <p:ph idx="1"/>
          </p:nvPr>
        </p:nvSpPr>
        <p:spPr/>
        <p:txBody>
          <a:bodyPr/>
          <a:lstStyle/>
          <a:p>
            <a:pPr eaLnBrk="1" hangingPunct="1">
              <a:lnSpc>
                <a:spcPct val="80000"/>
              </a:lnSpc>
              <a:buFont typeface="Wingdings 2" panose="05020102010507070707" pitchFamily="18" charset="2"/>
              <a:buNone/>
            </a:pPr>
            <a:r>
              <a:rPr lang="en-US" altLang="en-US" b="1"/>
              <a:t>Mohs surgery:</a:t>
            </a:r>
            <a:r>
              <a:rPr lang="en-US" altLang="en-US"/>
              <a:t> removes thin layers of growth to examine under a microscope (basal and squamous cell)</a:t>
            </a:r>
          </a:p>
          <a:p>
            <a:pPr eaLnBrk="1" hangingPunct="1">
              <a:buFont typeface="Wingdings 2" panose="05020102010507070707" pitchFamily="18" charset="2"/>
              <a:buNone/>
            </a:pPr>
            <a:endParaRPr lang="en-US" altLang="en-US"/>
          </a:p>
          <a:p>
            <a:pPr eaLnBrk="1" hangingPunct="1">
              <a:lnSpc>
                <a:spcPct val="80000"/>
              </a:lnSpc>
              <a:buFont typeface="Wingdings 2" panose="05020102010507070707" pitchFamily="18" charset="2"/>
              <a:buNone/>
            </a:pPr>
            <a:r>
              <a:rPr lang="en-US" altLang="en-US" b="1"/>
              <a:t>Skin biopsy:</a:t>
            </a:r>
            <a:r>
              <a:rPr lang="en-US" altLang="en-US"/>
              <a:t> punch and shave to remove for examination in path lab</a:t>
            </a:r>
          </a:p>
          <a:p>
            <a:pPr eaLnBrk="1" hangingPunct="1">
              <a:buFont typeface="Wingdings 2" panose="05020102010507070707" pitchFamily="18" charset="2"/>
              <a:buNone/>
            </a:pPr>
            <a:endParaRPr lang="en-US" altLang="en-US"/>
          </a:p>
          <a:p>
            <a:pPr eaLnBrk="1" hangingPunct="1">
              <a:lnSpc>
                <a:spcPct val="80000"/>
              </a:lnSpc>
              <a:buFont typeface="Wingdings 2" panose="05020102010507070707" pitchFamily="18" charset="2"/>
              <a:buNone/>
            </a:pPr>
            <a:r>
              <a:rPr lang="en-US" altLang="en-US" b="1"/>
              <a:t>Skin test:</a:t>
            </a:r>
            <a:r>
              <a:rPr lang="en-US" altLang="en-US"/>
              <a:t> test reaction of body to allergen with skin test (scratch or patch tests)</a:t>
            </a:r>
          </a:p>
        </p:txBody>
      </p:sp>
    </p:spTree>
    <p:extLst>
      <p:ext uri="{BB962C8B-B14F-4D97-AF65-F5344CB8AC3E}">
        <p14:creationId xmlns:p14="http://schemas.microsoft.com/office/powerpoint/2010/main" val="1537975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1 of 2)</a:t>
            </a:r>
          </a:p>
        </p:txBody>
      </p:sp>
      <p:graphicFrame>
        <p:nvGraphicFramePr>
          <p:cNvPr id="7" name="Content Placeholder 6" descr="List of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4288951561"/>
              </p:ext>
            </p:extLst>
          </p:nvPr>
        </p:nvGraphicFramePr>
        <p:xfrm>
          <a:off x="3733800" y="1752600"/>
          <a:ext cx="2133600" cy="411480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tblGrid>
              <a:tr h="370840">
                <a:tc>
                  <a:txBody>
                    <a:bodyPr/>
                    <a:lstStyle/>
                    <a:p>
                      <a:r>
                        <a:rPr lang="en-US" sz="2400" dirty="0"/>
                        <a:t>Abbreviation</a:t>
                      </a:r>
                    </a:p>
                  </a:txBody>
                  <a:tcPr/>
                </a:tc>
                <a:extLst>
                  <a:ext uri="{0D108BD9-81ED-4DB2-BD59-A6C34878D82A}">
                    <a16:rowId xmlns:a16="http://schemas.microsoft.com/office/drawing/2014/main" val="10000"/>
                  </a:ext>
                </a:extLst>
              </a:tr>
              <a:tr h="370840">
                <a:tc>
                  <a:txBody>
                    <a:bodyPr/>
                    <a:lstStyle/>
                    <a:p>
                      <a:r>
                        <a:rPr lang="en-US" altLang="en-US" sz="2400" dirty="0"/>
                        <a:t>ABCDE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Bx</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err="1"/>
                        <a:t>Derm</a:t>
                      </a:r>
                      <a:r>
                        <a:rPr lang="en-US" altLang="en-US" sz="2400" dirty="0"/>
                        <a: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DLE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PPD</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a:t>PUVA</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dirty="0"/>
                        <a:t>SLE</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dirty="0"/>
                        <a:t>SC</a:t>
                      </a:r>
                      <a:endParaRPr lang="en-US" sz="24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030964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2 of 2)</a:t>
            </a:r>
          </a:p>
        </p:txBody>
      </p:sp>
      <p:graphicFrame>
        <p:nvGraphicFramePr>
          <p:cNvPr id="7" name="Content Placeholder 6" descr="List of Abbreviations with their corresponding meanings."/>
          <p:cNvGraphicFramePr>
            <a:graphicFrameLocks noGrp="1"/>
          </p:cNvGraphicFramePr>
          <p:nvPr>
            <p:ph idx="1"/>
            <p:extLst>
              <p:ext uri="{D42A27DB-BD31-4B8C-83A1-F6EECF244321}">
                <p14:modId xmlns:p14="http://schemas.microsoft.com/office/powerpoint/2010/main" val="2444274385"/>
              </p:ext>
            </p:extLst>
          </p:nvPr>
        </p:nvGraphicFramePr>
        <p:xfrm>
          <a:off x="457200" y="1600200"/>
          <a:ext cx="8229600" cy="484632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ABCDE</a:t>
                      </a:r>
                      <a:endParaRPr lang="en-US" sz="2400" dirty="0"/>
                    </a:p>
                  </a:txBody>
                  <a:tcPr/>
                </a:tc>
                <a:tc>
                  <a:txBody>
                    <a:bodyPr/>
                    <a:lstStyle/>
                    <a:p>
                      <a:r>
                        <a:rPr lang="en-US" altLang="en-US" sz="2400" dirty="0"/>
                        <a:t>asymmetry, border, color, diameter, evolution (or change) —characteristics associated with melanoma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Bx</a:t>
                      </a:r>
                      <a:endParaRPr lang="en-US" sz="2400" dirty="0"/>
                    </a:p>
                  </a:txBody>
                  <a:tcPr/>
                </a:tc>
                <a:tc>
                  <a:txBody>
                    <a:bodyPr/>
                    <a:lstStyle/>
                    <a:p>
                      <a:r>
                        <a:rPr lang="en-US" altLang="en-US" sz="2400" dirty="0"/>
                        <a:t>biopsy</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err="1"/>
                        <a:t>Derm</a:t>
                      </a:r>
                      <a:r>
                        <a:rPr lang="en-US" altLang="en-US" sz="2400" dirty="0"/>
                        <a:t>.</a:t>
                      </a:r>
                      <a:endParaRPr lang="en-US" sz="2400" dirty="0"/>
                    </a:p>
                  </a:txBody>
                  <a:tcPr/>
                </a:tc>
                <a:tc>
                  <a:txBody>
                    <a:bodyPr/>
                    <a:lstStyle/>
                    <a:p>
                      <a:r>
                        <a:rPr lang="en-US" altLang="en-US" sz="2400" dirty="0"/>
                        <a:t>dermatology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DLE</a:t>
                      </a:r>
                      <a:endParaRPr lang="en-US" sz="2400" dirty="0"/>
                    </a:p>
                  </a:txBody>
                  <a:tcPr/>
                </a:tc>
                <a:tc>
                  <a:txBody>
                    <a:bodyPr/>
                    <a:lstStyle/>
                    <a:p>
                      <a:r>
                        <a:rPr lang="en-US" altLang="en-US" sz="2400" dirty="0"/>
                        <a:t>discoid lupus </a:t>
                      </a:r>
                      <a:r>
                        <a:rPr lang="en-US" altLang="en-US" sz="2400" dirty="0" err="1"/>
                        <a:t>erythematosus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PPD</a:t>
                      </a:r>
                      <a:endParaRPr lang="en-US" sz="2400" dirty="0"/>
                    </a:p>
                  </a:txBody>
                  <a:tcPr/>
                </a:tc>
                <a:tc>
                  <a:txBody>
                    <a:bodyPr/>
                    <a:lstStyle/>
                    <a:p>
                      <a:r>
                        <a:rPr lang="en-US" altLang="en-US" sz="2400" dirty="0"/>
                        <a:t>purified protein derivative</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a:t>PUVA</a:t>
                      </a:r>
                      <a:endParaRPr lang="en-US" sz="2400" dirty="0"/>
                    </a:p>
                  </a:txBody>
                  <a:tcPr/>
                </a:tc>
                <a:tc>
                  <a:txBody>
                    <a:bodyPr/>
                    <a:lstStyle/>
                    <a:p>
                      <a:r>
                        <a:rPr lang="en-US" altLang="en-US" sz="2400" dirty="0" err="1"/>
                        <a:t>psoralen-ultravoilet</a:t>
                      </a:r>
                      <a:r>
                        <a:rPr lang="en-US" altLang="en-US" sz="2400" dirty="0"/>
                        <a:t> A light therapy</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dirty="0"/>
                        <a:t>SLE</a:t>
                      </a:r>
                      <a:endParaRPr lang="en-US" sz="2400" dirty="0"/>
                    </a:p>
                  </a:txBody>
                  <a:tcPr/>
                </a:tc>
                <a:tc>
                  <a:txBody>
                    <a:bodyPr/>
                    <a:lstStyle/>
                    <a:p>
                      <a:r>
                        <a:rPr lang="en-US" altLang="en-US" sz="2400" dirty="0"/>
                        <a:t>systemic lupus </a:t>
                      </a:r>
                      <a:r>
                        <a:rPr lang="en-US" altLang="en-US" sz="2400" dirty="0" err="1"/>
                        <a:t>erythematosus</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dirty="0"/>
                        <a:t>SC</a:t>
                      </a:r>
                      <a:endParaRPr lang="en-US" sz="2400" dirty="0"/>
                    </a:p>
                  </a:txBody>
                  <a:tcPr/>
                </a:tc>
                <a:tc>
                  <a:txBody>
                    <a:bodyPr/>
                    <a:lstStyle/>
                    <a:p>
                      <a:r>
                        <a:rPr lang="en-US" altLang="en-US" sz="2400" dirty="0"/>
                        <a:t>subcutaneous</a:t>
                      </a:r>
                      <a:endParaRPr lang="en-US" sz="24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145809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dirty="0"/>
              <a:t>(Slide 1 of 10)</a:t>
            </a:r>
          </a:p>
        </p:txBody>
      </p:sp>
      <p:graphicFrame>
        <p:nvGraphicFramePr>
          <p:cNvPr id="7" name="Content Placeholder 6" descr="Group 1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185283997"/>
              </p:ext>
            </p:extLst>
          </p:nvPr>
        </p:nvGraphicFramePr>
        <p:xfrm>
          <a:off x="3276600" y="2057400"/>
          <a:ext cx="2590800" cy="32004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a:t>
                      </a:r>
                      <a:r>
                        <a:rPr lang="en-US" sz="2400" baseline="0" dirty="0"/>
                        <a:t> Form</a:t>
                      </a:r>
                      <a:endParaRPr lang="en-US" sz="2400" dirty="0"/>
                    </a:p>
                  </a:txBody>
                  <a:tcPr/>
                </a:tc>
                <a:extLst>
                  <a:ext uri="{0D108BD9-81ED-4DB2-BD59-A6C34878D82A}">
                    <a16:rowId xmlns:a16="http://schemas.microsoft.com/office/drawing/2014/main" val="10000"/>
                  </a:ext>
                </a:extLst>
              </a:tr>
              <a:tr h="370840">
                <a:tc>
                  <a:txBody>
                    <a:bodyPr/>
                    <a:lstStyle/>
                    <a:p>
                      <a:r>
                        <a:rPr lang="en-US" altLang="en-US" sz="2400" b="1" dirty="0" err="1"/>
                        <a:t>adip</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albin</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caus</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cauter</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cutane</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derm</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887256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dirty="0"/>
              <a:t>(Slide 2 of 10)</a:t>
            </a:r>
          </a:p>
        </p:txBody>
      </p:sp>
      <p:graphicFrame>
        <p:nvGraphicFramePr>
          <p:cNvPr id="7" name="Content Placeholder 6" descr="Group 1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836046787"/>
              </p:ext>
            </p:extLst>
          </p:nvPr>
        </p:nvGraphicFramePr>
        <p:xfrm>
          <a:off x="457200" y="1600200"/>
          <a:ext cx="8229600" cy="32004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adip</a:t>
                      </a:r>
                      <a:r>
                        <a:rPr lang="en-US" altLang="en-US" sz="2400" b="1" dirty="0"/>
                        <a:t>/o</a:t>
                      </a:r>
                      <a:endParaRPr lang="en-US" sz="2400" dirty="0"/>
                    </a:p>
                  </a:txBody>
                  <a:tcPr/>
                </a:tc>
                <a:tc>
                  <a:txBody>
                    <a:bodyPr/>
                    <a:lstStyle/>
                    <a:p>
                      <a:r>
                        <a:rPr lang="en-US" altLang="en-US" sz="2400" dirty="0"/>
                        <a:t>fat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albin</a:t>
                      </a:r>
                      <a:r>
                        <a:rPr lang="en-US" altLang="en-US" sz="2400" b="1" dirty="0"/>
                        <a:t>/o</a:t>
                      </a:r>
                      <a:endParaRPr lang="en-US" sz="2400" dirty="0"/>
                    </a:p>
                  </a:txBody>
                  <a:tcPr/>
                </a:tc>
                <a:tc>
                  <a:txBody>
                    <a:bodyPr/>
                    <a:lstStyle/>
                    <a:p>
                      <a:r>
                        <a:rPr lang="en-US" altLang="en-US" sz="2400" dirty="0"/>
                        <a:t>white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caus</a:t>
                      </a:r>
                      <a:r>
                        <a:rPr lang="en-US" altLang="en-US" sz="2400" b="1" dirty="0"/>
                        <a:t>/o</a:t>
                      </a:r>
                      <a:endParaRPr lang="en-US" sz="2400" dirty="0"/>
                    </a:p>
                  </a:txBody>
                  <a:tcPr/>
                </a:tc>
                <a:tc>
                  <a:txBody>
                    <a:bodyPr/>
                    <a:lstStyle/>
                    <a:p>
                      <a:r>
                        <a:rPr lang="en-US" altLang="en-US" sz="2400" dirty="0"/>
                        <a:t>burn, burning</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cauter</a:t>
                      </a:r>
                      <a:r>
                        <a:rPr lang="en-US" altLang="en-US" sz="2400" b="1" dirty="0"/>
                        <a:t>/o</a:t>
                      </a:r>
                      <a:endParaRPr lang="en-US" sz="2400" dirty="0"/>
                    </a:p>
                  </a:txBody>
                  <a:tcPr/>
                </a:tc>
                <a:tc>
                  <a:txBody>
                    <a:bodyPr/>
                    <a:lstStyle/>
                    <a:p>
                      <a:r>
                        <a:rPr lang="en-US" altLang="en-US" sz="2400" dirty="0"/>
                        <a:t>heat, burn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cutane</a:t>
                      </a:r>
                      <a:r>
                        <a:rPr lang="en-US" altLang="en-US" sz="2400" b="1" dirty="0"/>
                        <a:t>/o</a:t>
                      </a:r>
                      <a:endParaRPr lang="en-US" sz="2400" dirty="0"/>
                    </a:p>
                  </a:txBody>
                  <a:tcPr/>
                </a:tc>
                <a:tc>
                  <a:txBody>
                    <a:bodyPr/>
                    <a:lstStyle/>
                    <a:p>
                      <a:r>
                        <a:rPr lang="en-US" altLang="en-US" sz="2400" dirty="0"/>
                        <a:t>skin</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derm</a:t>
                      </a:r>
                      <a:r>
                        <a:rPr lang="en-US" altLang="en-US" sz="2400" b="1" dirty="0"/>
                        <a:t>/o</a:t>
                      </a:r>
                      <a:endParaRPr lang="en-US" sz="2400" dirty="0"/>
                    </a:p>
                  </a:txBody>
                  <a:tcPr/>
                </a:tc>
                <a:tc>
                  <a:txBody>
                    <a:bodyPr/>
                    <a:lstStyle/>
                    <a:p>
                      <a:r>
                        <a:rPr lang="en-US" altLang="en-US" sz="2400" dirty="0"/>
                        <a:t>skin</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524503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dirty="0"/>
              <a:t>(Slide 3 of 10)</a:t>
            </a:r>
          </a:p>
        </p:txBody>
      </p:sp>
      <p:graphicFrame>
        <p:nvGraphicFramePr>
          <p:cNvPr id="7" name="Content Placeholder 6" descr="Group 2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4054950091"/>
              </p:ext>
            </p:extLst>
          </p:nvPr>
        </p:nvGraphicFramePr>
        <p:xfrm>
          <a:off x="3276600" y="2057400"/>
          <a:ext cx="2590800" cy="32004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a:t>
                      </a:r>
                      <a:r>
                        <a:rPr lang="en-US" sz="2400" baseline="0" dirty="0"/>
                        <a:t> Form</a:t>
                      </a:r>
                      <a:endParaRPr lang="en-US" sz="2400" dirty="0"/>
                    </a:p>
                  </a:txBody>
                  <a:tcPr/>
                </a:tc>
                <a:extLst>
                  <a:ext uri="{0D108BD9-81ED-4DB2-BD59-A6C34878D82A}">
                    <a16:rowId xmlns:a16="http://schemas.microsoft.com/office/drawing/2014/main" val="10000"/>
                  </a:ext>
                </a:extLst>
              </a:tr>
              <a:tr h="370840">
                <a:tc>
                  <a:txBody>
                    <a:bodyPr/>
                    <a:lstStyle/>
                    <a:p>
                      <a:r>
                        <a:rPr lang="en-US" altLang="en-US" sz="2400" b="1" dirty="0" err="1"/>
                        <a:t>dermat</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diaphor</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erythem</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erythemat</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hidr</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ichthy</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717535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dirty="0"/>
              <a:t>(Slide 4 of 10)</a:t>
            </a:r>
          </a:p>
        </p:txBody>
      </p:sp>
      <p:graphicFrame>
        <p:nvGraphicFramePr>
          <p:cNvPr id="7" name="Content Placeholder 6" descr="Group 2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584431640"/>
              </p:ext>
            </p:extLst>
          </p:nvPr>
        </p:nvGraphicFramePr>
        <p:xfrm>
          <a:off x="457200" y="1600200"/>
          <a:ext cx="8229600" cy="32004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dermat</a:t>
                      </a:r>
                      <a:r>
                        <a:rPr lang="en-US" altLang="en-US" sz="2400" b="1" dirty="0"/>
                        <a:t>/o</a:t>
                      </a:r>
                      <a:endParaRPr lang="en-US" sz="2400" dirty="0"/>
                    </a:p>
                  </a:txBody>
                  <a:tcPr/>
                </a:tc>
                <a:tc>
                  <a:txBody>
                    <a:bodyPr/>
                    <a:lstStyle/>
                    <a:p>
                      <a:r>
                        <a:rPr lang="en-US" altLang="en-US" sz="2400" dirty="0"/>
                        <a:t>skin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diaphor</a:t>
                      </a:r>
                      <a:r>
                        <a:rPr lang="en-US" altLang="en-US" sz="2400" b="1" dirty="0"/>
                        <a:t>/o</a:t>
                      </a:r>
                      <a:endParaRPr lang="en-US" sz="2400" dirty="0"/>
                    </a:p>
                  </a:txBody>
                  <a:tcPr/>
                </a:tc>
                <a:tc>
                  <a:txBody>
                    <a:bodyPr/>
                    <a:lstStyle/>
                    <a:p>
                      <a:r>
                        <a:rPr lang="en-US" altLang="en-US" sz="2400" dirty="0"/>
                        <a:t>profuse sweating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erythem</a:t>
                      </a:r>
                      <a:r>
                        <a:rPr lang="en-US" altLang="en-US" sz="2400" b="1" dirty="0"/>
                        <a:t>/o</a:t>
                      </a:r>
                      <a:endParaRPr lang="en-US" sz="2400" dirty="0"/>
                    </a:p>
                  </a:txBody>
                  <a:tcPr/>
                </a:tc>
                <a:tc>
                  <a:txBody>
                    <a:bodyPr/>
                    <a:lstStyle/>
                    <a:p>
                      <a:r>
                        <a:rPr lang="en-US" altLang="en-US" sz="2400" dirty="0"/>
                        <a:t>redness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erythemat</a:t>
                      </a:r>
                      <a:r>
                        <a:rPr lang="en-US" altLang="en-US" sz="2400" b="1" dirty="0"/>
                        <a:t>/o</a:t>
                      </a:r>
                      <a:endParaRPr lang="en-US" sz="2400" dirty="0"/>
                    </a:p>
                  </a:txBody>
                  <a:tcPr/>
                </a:tc>
                <a:tc>
                  <a:txBody>
                    <a:bodyPr/>
                    <a:lstStyle/>
                    <a:p>
                      <a:r>
                        <a:rPr lang="en-US" altLang="en-US" sz="2400" dirty="0"/>
                        <a:t>redness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hidr</a:t>
                      </a:r>
                      <a:r>
                        <a:rPr lang="en-US" altLang="en-US" sz="2400" b="1" dirty="0"/>
                        <a:t>/o</a:t>
                      </a:r>
                      <a:endParaRPr lang="en-US" sz="2400" dirty="0"/>
                    </a:p>
                  </a:txBody>
                  <a:tcPr/>
                </a:tc>
                <a:tc>
                  <a:txBody>
                    <a:bodyPr/>
                    <a:lstStyle/>
                    <a:p>
                      <a:r>
                        <a:rPr lang="en-US" altLang="en-US" sz="2400" dirty="0"/>
                        <a:t>sweat</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ichthy</a:t>
                      </a:r>
                      <a:r>
                        <a:rPr lang="en-US" altLang="en-US" sz="2400" b="1" dirty="0"/>
                        <a:t>/o</a:t>
                      </a:r>
                      <a:endParaRPr lang="en-US" sz="2400" dirty="0"/>
                    </a:p>
                  </a:txBody>
                  <a:tcPr/>
                </a:tc>
                <a:tc>
                  <a:txBody>
                    <a:bodyPr/>
                    <a:lstStyle/>
                    <a:p>
                      <a:r>
                        <a:rPr lang="en-US" altLang="en-US" sz="2400" dirty="0"/>
                        <a:t>scaly, dry</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334651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dirty="0"/>
              <a:t>(Slide 5 of 10)</a:t>
            </a:r>
          </a:p>
        </p:txBody>
      </p:sp>
      <p:graphicFrame>
        <p:nvGraphicFramePr>
          <p:cNvPr id="7" name="Content Placeholder 6" descr="Group 3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1766491512"/>
              </p:ext>
            </p:extLst>
          </p:nvPr>
        </p:nvGraphicFramePr>
        <p:xfrm>
          <a:off x="3276600" y="1981200"/>
          <a:ext cx="2590800" cy="32004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a:t>
                      </a:r>
                      <a:r>
                        <a:rPr lang="en-US" sz="2400" baseline="0" dirty="0"/>
                        <a:t> Form</a:t>
                      </a:r>
                      <a:endParaRPr lang="en-US" sz="2400" dirty="0"/>
                    </a:p>
                  </a:txBody>
                  <a:tcPr/>
                </a:tc>
                <a:extLst>
                  <a:ext uri="{0D108BD9-81ED-4DB2-BD59-A6C34878D82A}">
                    <a16:rowId xmlns:a16="http://schemas.microsoft.com/office/drawing/2014/main" val="10000"/>
                  </a:ext>
                </a:extLst>
              </a:tr>
              <a:tr h="370840">
                <a:tc>
                  <a:txBody>
                    <a:bodyPr/>
                    <a:lstStyle/>
                    <a:p>
                      <a:r>
                        <a:rPr lang="en-US" altLang="en-US" sz="2400" b="1" dirty="0" err="1"/>
                        <a:t>kerat</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leuk</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lip/o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melan</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myc</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onych</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80401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dirty="0"/>
              <a:t>(Slide 6 of 10)</a:t>
            </a:r>
          </a:p>
        </p:txBody>
      </p:sp>
      <p:graphicFrame>
        <p:nvGraphicFramePr>
          <p:cNvPr id="7" name="Content Placeholder 6" descr="Group 3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460139081"/>
              </p:ext>
            </p:extLst>
          </p:nvPr>
        </p:nvGraphicFramePr>
        <p:xfrm>
          <a:off x="457200" y="1600200"/>
          <a:ext cx="8229600" cy="32004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kerat</a:t>
                      </a:r>
                      <a:r>
                        <a:rPr lang="en-US" altLang="en-US" sz="2400" b="1" dirty="0"/>
                        <a:t>/o</a:t>
                      </a:r>
                      <a:endParaRPr lang="en-US" sz="2400" dirty="0"/>
                    </a:p>
                  </a:txBody>
                  <a:tcPr/>
                </a:tc>
                <a:tc>
                  <a:txBody>
                    <a:bodyPr/>
                    <a:lstStyle/>
                    <a:p>
                      <a:r>
                        <a:rPr lang="en-US" altLang="en-US" sz="2400" dirty="0"/>
                        <a:t>hard, horny tissue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leuk</a:t>
                      </a:r>
                      <a:r>
                        <a:rPr lang="en-US" altLang="en-US" sz="2400" b="1" dirty="0"/>
                        <a:t>/o</a:t>
                      </a:r>
                      <a:endParaRPr lang="en-US" sz="2400" dirty="0"/>
                    </a:p>
                  </a:txBody>
                  <a:tcPr/>
                </a:tc>
                <a:tc>
                  <a:txBody>
                    <a:bodyPr/>
                    <a:lstStyle/>
                    <a:p>
                      <a:r>
                        <a:rPr lang="en-US" altLang="en-US" sz="2400" dirty="0"/>
                        <a:t>white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lip/o</a:t>
                      </a:r>
                      <a:endParaRPr lang="en-US" sz="2400" dirty="0"/>
                    </a:p>
                  </a:txBody>
                  <a:tcPr/>
                </a:tc>
                <a:tc>
                  <a:txBody>
                    <a:bodyPr/>
                    <a:lstStyle/>
                    <a:p>
                      <a:r>
                        <a:rPr lang="en-US" altLang="en-US" sz="2400" dirty="0"/>
                        <a:t>fat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melan</a:t>
                      </a:r>
                      <a:r>
                        <a:rPr lang="en-US" altLang="en-US" sz="2400" b="1" dirty="0"/>
                        <a:t>/o</a:t>
                      </a:r>
                      <a:endParaRPr lang="en-US" sz="2400" dirty="0"/>
                    </a:p>
                  </a:txBody>
                  <a:tcPr/>
                </a:tc>
                <a:tc>
                  <a:txBody>
                    <a:bodyPr/>
                    <a:lstStyle/>
                    <a:p>
                      <a:r>
                        <a:rPr lang="en-US" altLang="en-US" sz="2400" dirty="0"/>
                        <a:t>black</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myc</a:t>
                      </a:r>
                      <a:r>
                        <a:rPr lang="en-US" altLang="en-US" sz="2400" b="1" dirty="0"/>
                        <a:t>/o</a:t>
                      </a:r>
                      <a:endParaRPr lang="en-US" sz="2400" dirty="0"/>
                    </a:p>
                  </a:txBody>
                  <a:tcPr/>
                </a:tc>
                <a:tc>
                  <a:txBody>
                    <a:bodyPr/>
                    <a:lstStyle/>
                    <a:p>
                      <a:r>
                        <a:rPr lang="en-US" altLang="en-US" sz="2400" dirty="0"/>
                        <a:t>fungus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onych</a:t>
                      </a:r>
                      <a:r>
                        <a:rPr lang="en-US" altLang="en-US" sz="2400" b="1" dirty="0"/>
                        <a:t>/o</a:t>
                      </a:r>
                      <a:endParaRPr lang="en-US" sz="2400" dirty="0"/>
                    </a:p>
                  </a:txBody>
                  <a:tcPr/>
                </a:tc>
                <a:tc>
                  <a:txBody>
                    <a:bodyPr/>
                    <a:lstStyle/>
                    <a:p>
                      <a:r>
                        <a:rPr lang="en-US" altLang="en-US" sz="2400" dirty="0"/>
                        <a:t>nail</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872115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dirty="0"/>
              <a:t>(Slide 7 of 10)</a:t>
            </a:r>
          </a:p>
        </p:txBody>
      </p:sp>
      <p:graphicFrame>
        <p:nvGraphicFramePr>
          <p:cNvPr id="7" name="Content Placeholder 6" descr="Group 4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883317208"/>
              </p:ext>
            </p:extLst>
          </p:nvPr>
        </p:nvGraphicFramePr>
        <p:xfrm>
          <a:off x="3276600" y="1905000"/>
          <a:ext cx="2590800" cy="32004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a:t>
                      </a:r>
                      <a:r>
                        <a:rPr lang="en-US" sz="2400" baseline="0" dirty="0"/>
                        <a:t> Form</a:t>
                      </a:r>
                      <a:endParaRPr lang="en-US" sz="2400" dirty="0"/>
                    </a:p>
                  </a:txBody>
                  <a:tcPr/>
                </a:tc>
                <a:extLst>
                  <a:ext uri="{0D108BD9-81ED-4DB2-BD59-A6C34878D82A}">
                    <a16:rowId xmlns:a16="http://schemas.microsoft.com/office/drawing/2014/main" val="10000"/>
                  </a:ext>
                </a:extLst>
              </a:tr>
              <a:tr h="370840">
                <a:tc>
                  <a:txBody>
                    <a:bodyPr/>
                    <a:lstStyle/>
                    <a:p>
                      <a:r>
                        <a:rPr lang="en-US" sz="2400" b="1" dirty="0" err="1"/>
                        <a:t>phyt</a:t>
                      </a:r>
                      <a:r>
                        <a:rPr 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sz="2400" b="1" dirty="0" err="1"/>
                        <a:t>pil</a:t>
                      </a:r>
                      <a:r>
                        <a:rPr 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sz="2400" b="1" dirty="0" err="1"/>
                        <a:t>py</a:t>
                      </a:r>
                      <a:r>
                        <a:rPr 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sz="2400" b="1" dirty="0" err="1"/>
                        <a:t>rhythid</a:t>
                      </a:r>
                      <a:r>
                        <a:rPr 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sz="2400" b="1" dirty="0" err="1"/>
                        <a:t>seb</a:t>
                      </a:r>
                      <a:r>
                        <a:rPr 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sz="2400" b="1" dirty="0" err="1"/>
                        <a:t>squam</a:t>
                      </a:r>
                      <a:r>
                        <a:rPr lang="en-US" sz="2400" b="1" dirty="0"/>
                        <a:t>/o</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223680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dirty="0"/>
              <a:t>(Slide 8 of 10)</a:t>
            </a:r>
          </a:p>
        </p:txBody>
      </p:sp>
      <p:graphicFrame>
        <p:nvGraphicFramePr>
          <p:cNvPr id="7" name="Content Placeholder 6" descr="Group 4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3145466909"/>
              </p:ext>
            </p:extLst>
          </p:nvPr>
        </p:nvGraphicFramePr>
        <p:xfrm>
          <a:off x="457200" y="1600200"/>
          <a:ext cx="8229600" cy="32004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phyt</a:t>
                      </a:r>
                      <a:r>
                        <a:rPr lang="en-US" sz="2400" b="1" dirty="0"/>
                        <a:t>/o</a:t>
                      </a:r>
                      <a:endParaRPr lang="en-US" sz="2400" dirty="0"/>
                    </a:p>
                  </a:txBody>
                  <a:tcPr/>
                </a:tc>
                <a:tc>
                  <a:txBody>
                    <a:bodyPr/>
                    <a:lstStyle/>
                    <a:p>
                      <a:r>
                        <a:rPr lang="en-US" altLang="en-US" sz="2400" dirty="0"/>
                        <a:t>plant</a:t>
                      </a:r>
                      <a:endParaRPr lang="en-US" sz="2400" dirty="0"/>
                    </a:p>
                  </a:txBody>
                  <a:tcPr/>
                </a:tc>
                <a:extLst>
                  <a:ext uri="{0D108BD9-81ED-4DB2-BD59-A6C34878D82A}">
                    <a16:rowId xmlns:a16="http://schemas.microsoft.com/office/drawing/2014/main" val="10001"/>
                  </a:ext>
                </a:extLst>
              </a:tr>
              <a:tr h="370840">
                <a:tc>
                  <a:txBody>
                    <a:bodyPr/>
                    <a:lstStyle/>
                    <a:p>
                      <a:r>
                        <a:rPr lang="en-US" sz="2400" b="1" dirty="0" err="1"/>
                        <a:t>pil</a:t>
                      </a:r>
                      <a:r>
                        <a:rPr lang="en-US" sz="2400" b="1" dirty="0"/>
                        <a:t>/o</a:t>
                      </a:r>
                      <a:endParaRPr lang="en-US" sz="2400" dirty="0"/>
                    </a:p>
                  </a:txBody>
                  <a:tcPr/>
                </a:tc>
                <a:tc>
                  <a:txBody>
                    <a:bodyPr/>
                    <a:lstStyle/>
                    <a:p>
                      <a:r>
                        <a:rPr lang="en-US" altLang="en-US" sz="2400" dirty="0"/>
                        <a:t>hair, hair follicle</a:t>
                      </a:r>
                      <a:endParaRPr lang="en-US" sz="2400" dirty="0"/>
                    </a:p>
                  </a:txBody>
                  <a:tcPr/>
                </a:tc>
                <a:extLst>
                  <a:ext uri="{0D108BD9-81ED-4DB2-BD59-A6C34878D82A}">
                    <a16:rowId xmlns:a16="http://schemas.microsoft.com/office/drawing/2014/main" val="10002"/>
                  </a:ext>
                </a:extLst>
              </a:tr>
              <a:tr h="370840">
                <a:tc>
                  <a:txBody>
                    <a:bodyPr/>
                    <a:lstStyle/>
                    <a:p>
                      <a:r>
                        <a:rPr lang="en-US" sz="2400" b="1" dirty="0" err="1"/>
                        <a:t>py</a:t>
                      </a:r>
                      <a:r>
                        <a:rPr lang="en-US" sz="2400" b="1" dirty="0"/>
                        <a:t>/o</a:t>
                      </a:r>
                      <a:endParaRPr lang="en-US" sz="2400" dirty="0"/>
                    </a:p>
                  </a:txBody>
                  <a:tcPr/>
                </a:tc>
                <a:tc>
                  <a:txBody>
                    <a:bodyPr/>
                    <a:lstStyle/>
                    <a:p>
                      <a:r>
                        <a:rPr lang="en-US" altLang="en-US" sz="2400" dirty="0"/>
                        <a:t>pus</a:t>
                      </a:r>
                      <a:endParaRPr lang="en-US" sz="2400" dirty="0"/>
                    </a:p>
                  </a:txBody>
                  <a:tcPr/>
                </a:tc>
                <a:extLst>
                  <a:ext uri="{0D108BD9-81ED-4DB2-BD59-A6C34878D82A}">
                    <a16:rowId xmlns:a16="http://schemas.microsoft.com/office/drawing/2014/main" val="10003"/>
                  </a:ext>
                </a:extLst>
              </a:tr>
              <a:tr h="370840">
                <a:tc>
                  <a:txBody>
                    <a:bodyPr/>
                    <a:lstStyle/>
                    <a:p>
                      <a:r>
                        <a:rPr lang="en-US" sz="2400" b="1" dirty="0" err="1"/>
                        <a:t>rhythid</a:t>
                      </a:r>
                      <a:r>
                        <a:rPr lang="en-US" sz="2400" b="1" dirty="0"/>
                        <a:t>/o</a:t>
                      </a:r>
                      <a:endParaRPr lang="en-US" sz="2400" dirty="0"/>
                    </a:p>
                  </a:txBody>
                  <a:tcPr/>
                </a:tc>
                <a:tc>
                  <a:txBody>
                    <a:bodyPr/>
                    <a:lstStyle/>
                    <a:p>
                      <a:r>
                        <a:rPr lang="en-US" altLang="en-US" sz="2400" dirty="0"/>
                        <a:t>wrinkle</a:t>
                      </a:r>
                      <a:endParaRPr lang="en-US" sz="2400" dirty="0"/>
                    </a:p>
                  </a:txBody>
                  <a:tcPr/>
                </a:tc>
                <a:extLst>
                  <a:ext uri="{0D108BD9-81ED-4DB2-BD59-A6C34878D82A}">
                    <a16:rowId xmlns:a16="http://schemas.microsoft.com/office/drawing/2014/main" val="10004"/>
                  </a:ext>
                </a:extLst>
              </a:tr>
              <a:tr h="370840">
                <a:tc>
                  <a:txBody>
                    <a:bodyPr/>
                    <a:lstStyle/>
                    <a:p>
                      <a:r>
                        <a:rPr lang="en-US" sz="2400" b="1" dirty="0" err="1"/>
                        <a:t>seb</a:t>
                      </a:r>
                      <a:r>
                        <a:rPr lang="en-US" sz="2400" b="1" dirty="0"/>
                        <a:t>/o</a:t>
                      </a:r>
                      <a:endParaRPr lang="en-US" sz="2400" dirty="0"/>
                    </a:p>
                  </a:txBody>
                  <a:tcPr/>
                </a:tc>
                <a:tc>
                  <a:txBody>
                    <a:bodyPr/>
                    <a:lstStyle/>
                    <a:p>
                      <a:r>
                        <a:rPr lang="en-US" altLang="en-US" sz="2400" dirty="0"/>
                        <a:t>sebum</a:t>
                      </a:r>
                      <a:endParaRPr lang="en-US" sz="2400" dirty="0"/>
                    </a:p>
                  </a:txBody>
                  <a:tcPr/>
                </a:tc>
                <a:extLst>
                  <a:ext uri="{0D108BD9-81ED-4DB2-BD59-A6C34878D82A}">
                    <a16:rowId xmlns:a16="http://schemas.microsoft.com/office/drawing/2014/main" val="10005"/>
                  </a:ext>
                </a:extLst>
              </a:tr>
              <a:tr h="370840">
                <a:tc>
                  <a:txBody>
                    <a:bodyPr/>
                    <a:lstStyle/>
                    <a:p>
                      <a:r>
                        <a:rPr lang="en-US" sz="2400" b="1" dirty="0" err="1"/>
                        <a:t>squam</a:t>
                      </a:r>
                      <a:r>
                        <a:rPr lang="en-US" sz="2400" b="1" dirty="0"/>
                        <a:t>/o</a:t>
                      </a:r>
                      <a:endParaRPr lang="en-US" sz="2400" dirty="0"/>
                    </a:p>
                  </a:txBody>
                  <a:tcPr/>
                </a:tc>
                <a:tc>
                  <a:txBody>
                    <a:bodyPr/>
                    <a:lstStyle/>
                    <a:p>
                      <a:r>
                        <a:rPr lang="en-US" altLang="en-US" sz="2400" dirty="0"/>
                        <a:t>scale-like</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514875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dirty="0"/>
              <a:t>(Slide 9 of 10)</a:t>
            </a:r>
          </a:p>
        </p:txBody>
      </p:sp>
      <p:graphicFrame>
        <p:nvGraphicFramePr>
          <p:cNvPr id="7" name="Content Placeholder 6" descr="Group 5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1046550402"/>
              </p:ext>
            </p:extLst>
          </p:nvPr>
        </p:nvGraphicFramePr>
        <p:xfrm>
          <a:off x="3276600" y="2286000"/>
          <a:ext cx="2590800" cy="27432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a:t>
                      </a:r>
                      <a:r>
                        <a:rPr lang="en-US" sz="2400" baseline="0" dirty="0"/>
                        <a:t> Form</a:t>
                      </a:r>
                      <a:endParaRPr lang="en-US" sz="2400" dirty="0"/>
                    </a:p>
                  </a:txBody>
                  <a:tcPr/>
                </a:tc>
                <a:extLst>
                  <a:ext uri="{0D108BD9-81ED-4DB2-BD59-A6C34878D82A}">
                    <a16:rowId xmlns:a16="http://schemas.microsoft.com/office/drawing/2014/main" val="10000"/>
                  </a:ext>
                </a:extLst>
              </a:tr>
              <a:tr h="370840">
                <a:tc>
                  <a:txBody>
                    <a:bodyPr/>
                    <a:lstStyle/>
                    <a:p>
                      <a:r>
                        <a:rPr lang="en-US" altLang="en-US" sz="2400" b="1" dirty="0" err="1"/>
                        <a:t>steat</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trich</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ungu</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xanth</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xer</a:t>
                      </a:r>
                      <a:r>
                        <a:rPr lang="en-US" altLang="en-US" sz="2400" b="1" dirty="0"/>
                        <a:t>/o</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078088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dirty="0"/>
              <a:t>(Slide 10 of 10)</a:t>
            </a:r>
          </a:p>
        </p:txBody>
      </p:sp>
      <p:graphicFrame>
        <p:nvGraphicFramePr>
          <p:cNvPr id="7" name="Content Placeholder 6" descr="Group 5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2229578230"/>
              </p:ext>
            </p:extLst>
          </p:nvPr>
        </p:nvGraphicFramePr>
        <p:xfrm>
          <a:off x="457200" y="1600200"/>
          <a:ext cx="8229600" cy="27432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steat</a:t>
                      </a:r>
                      <a:r>
                        <a:rPr lang="en-US" altLang="en-US" sz="2400" b="1" dirty="0"/>
                        <a:t>/o</a:t>
                      </a:r>
                      <a:endParaRPr lang="en-US" sz="2400" dirty="0"/>
                    </a:p>
                  </a:txBody>
                  <a:tcPr/>
                </a:tc>
                <a:tc>
                  <a:txBody>
                    <a:bodyPr/>
                    <a:lstStyle/>
                    <a:p>
                      <a:r>
                        <a:rPr lang="en-US" altLang="en-US" sz="2400" dirty="0"/>
                        <a:t>fat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trich</a:t>
                      </a:r>
                      <a:r>
                        <a:rPr lang="en-US" altLang="en-US" sz="2400" b="1" dirty="0"/>
                        <a:t>/o</a:t>
                      </a:r>
                      <a:endParaRPr lang="en-US" sz="2400" dirty="0"/>
                    </a:p>
                  </a:txBody>
                  <a:tcPr/>
                </a:tc>
                <a:tc>
                  <a:txBody>
                    <a:bodyPr/>
                    <a:lstStyle/>
                    <a:p>
                      <a:r>
                        <a:rPr lang="en-US" altLang="en-US" sz="2400" dirty="0"/>
                        <a:t>hair</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ungu</a:t>
                      </a:r>
                      <a:r>
                        <a:rPr lang="en-US" altLang="en-US" sz="2400" b="1" dirty="0"/>
                        <a:t>/o</a:t>
                      </a:r>
                      <a:endParaRPr lang="en-US" sz="2400" dirty="0"/>
                    </a:p>
                  </a:txBody>
                  <a:tcPr/>
                </a:tc>
                <a:tc>
                  <a:txBody>
                    <a:bodyPr/>
                    <a:lstStyle/>
                    <a:p>
                      <a:r>
                        <a:rPr lang="en-US" altLang="en-US" sz="2400" dirty="0"/>
                        <a:t>nail</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xanth</a:t>
                      </a:r>
                      <a:r>
                        <a:rPr lang="en-US" altLang="en-US" sz="2400" b="1" dirty="0"/>
                        <a:t>/o</a:t>
                      </a:r>
                      <a:endParaRPr lang="en-US" sz="2400" dirty="0"/>
                    </a:p>
                  </a:txBody>
                  <a:tcPr/>
                </a:tc>
                <a:tc>
                  <a:txBody>
                    <a:bodyPr/>
                    <a:lstStyle/>
                    <a:p>
                      <a:r>
                        <a:rPr lang="en-US" altLang="en-US" sz="2400" dirty="0"/>
                        <a:t>yellow</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xer</a:t>
                      </a:r>
                      <a:r>
                        <a:rPr lang="en-US" altLang="en-US" sz="2400" b="1" dirty="0"/>
                        <a:t>/o</a:t>
                      </a:r>
                      <a:endParaRPr lang="en-US" sz="2400" dirty="0"/>
                    </a:p>
                  </a:txBody>
                  <a:tcPr/>
                </a:tc>
                <a:tc>
                  <a:txBody>
                    <a:bodyPr/>
                    <a:lstStyle/>
                    <a:p>
                      <a:r>
                        <a:rPr lang="en-US" altLang="en-US" sz="2400" dirty="0"/>
                        <a:t>dry</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042091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Suffixes (Slide 1 of 4)</a:t>
            </a:r>
          </a:p>
        </p:txBody>
      </p:sp>
      <p:graphicFrame>
        <p:nvGraphicFramePr>
          <p:cNvPr id="7" name="Content Placeholder 6" descr="Group 1 of 2 Suffixe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91397431"/>
              </p:ext>
            </p:extLst>
          </p:nvPr>
        </p:nvGraphicFramePr>
        <p:xfrm>
          <a:off x="3276600" y="2362200"/>
          <a:ext cx="2590800" cy="27432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algia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-derma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esis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lysis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ose</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170182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Suffixes (Slide 2 of 4)</a:t>
            </a:r>
          </a:p>
        </p:txBody>
      </p:sp>
      <p:graphicFrame>
        <p:nvGraphicFramePr>
          <p:cNvPr id="7" name="Content Placeholder 6" descr="Group 1 of 2 Suffixes from the Review Sheet of the text with their corresponding meanings."/>
          <p:cNvGraphicFramePr>
            <a:graphicFrameLocks noGrp="1"/>
          </p:cNvGraphicFramePr>
          <p:nvPr>
            <p:ph idx="1"/>
            <p:extLst>
              <p:ext uri="{D42A27DB-BD31-4B8C-83A1-F6EECF244321}">
                <p14:modId xmlns:p14="http://schemas.microsoft.com/office/powerpoint/2010/main" val="499264470"/>
              </p:ext>
            </p:extLst>
          </p:nvPr>
        </p:nvGraphicFramePr>
        <p:xfrm>
          <a:off x="457200" y="1600200"/>
          <a:ext cx="8229600" cy="310896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algia</a:t>
                      </a:r>
                      <a:endParaRPr lang="en-US" sz="2400" dirty="0"/>
                    </a:p>
                  </a:txBody>
                  <a:tcPr/>
                </a:tc>
                <a:tc>
                  <a:txBody>
                    <a:bodyPr/>
                    <a:lstStyle/>
                    <a:p>
                      <a:r>
                        <a:rPr lang="en-US" sz="2400" dirty="0"/>
                        <a:t>pain</a:t>
                      </a:r>
                    </a:p>
                  </a:txBody>
                  <a:tcPr/>
                </a:tc>
                <a:extLst>
                  <a:ext uri="{0D108BD9-81ED-4DB2-BD59-A6C34878D82A}">
                    <a16:rowId xmlns:a16="http://schemas.microsoft.com/office/drawing/2014/main" val="10001"/>
                  </a:ext>
                </a:extLst>
              </a:tr>
              <a:tr h="370840">
                <a:tc>
                  <a:txBody>
                    <a:bodyPr/>
                    <a:lstStyle/>
                    <a:p>
                      <a:r>
                        <a:rPr lang="en-US" altLang="en-US" sz="2400" b="1" dirty="0"/>
                        <a:t>-derma</a:t>
                      </a:r>
                      <a:endParaRPr lang="en-US" sz="2400" dirty="0"/>
                    </a:p>
                  </a:txBody>
                  <a:tcPr/>
                </a:tc>
                <a:tc>
                  <a:txBody>
                    <a:bodyPr/>
                    <a:lstStyle/>
                    <a:p>
                      <a:r>
                        <a:rPr lang="en-US" sz="2400" dirty="0"/>
                        <a:t>skin</a:t>
                      </a:r>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esis</a:t>
                      </a:r>
                      <a:endParaRPr lang="en-US" sz="2400" dirty="0"/>
                    </a:p>
                  </a:txBody>
                  <a:tcPr/>
                </a:tc>
                <a:tc>
                  <a:txBody>
                    <a:bodyPr/>
                    <a:lstStyle/>
                    <a:p>
                      <a:r>
                        <a:rPr lang="en-US" sz="2400" dirty="0"/>
                        <a:t>condition</a:t>
                      </a:r>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lysis</a:t>
                      </a:r>
                      <a:endParaRPr lang="en-US" sz="2400" dirty="0"/>
                    </a:p>
                  </a:txBody>
                  <a:tcPr/>
                </a:tc>
                <a:tc>
                  <a:txBody>
                    <a:bodyPr/>
                    <a:lstStyle/>
                    <a:p>
                      <a:r>
                        <a:rPr lang="en-US" sz="2400" dirty="0"/>
                        <a:t>breakdown; separation; destruction; loosening</a:t>
                      </a:r>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ose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full of; pertaining to; sugar</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503934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Suffixes (Slide 3 of 4)</a:t>
            </a:r>
          </a:p>
        </p:txBody>
      </p:sp>
      <p:graphicFrame>
        <p:nvGraphicFramePr>
          <p:cNvPr id="7" name="Content Placeholder 6" descr="Group 2 of 2 Suffixe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074009124"/>
              </p:ext>
            </p:extLst>
          </p:nvPr>
        </p:nvGraphicFramePr>
        <p:xfrm>
          <a:off x="3276600" y="2133600"/>
          <a:ext cx="2590800" cy="27432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osis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ous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plakia</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plasty</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rrhea</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428719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Suffixes (Slide 4 of 4)</a:t>
            </a:r>
          </a:p>
        </p:txBody>
      </p:sp>
      <p:graphicFrame>
        <p:nvGraphicFramePr>
          <p:cNvPr id="7" name="Content Placeholder 6" descr="Group 2 of 2 Suffixes from the Review Sheet of the text with their corresponding meanings."/>
          <p:cNvGraphicFramePr>
            <a:graphicFrameLocks noGrp="1"/>
          </p:cNvGraphicFramePr>
          <p:nvPr>
            <p:ph idx="1"/>
            <p:extLst>
              <p:ext uri="{D42A27DB-BD31-4B8C-83A1-F6EECF244321}">
                <p14:modId xmlns:p14="http://schemas.microsoft.com/office/powerpoint/2010/main" val="235575422"/>
              </p:ext>
            </p:extLst>
          </p:nvPr>
        </p:nvGraphicFramePr>
        <p:xfrm>
          <a:off x="457200" y="1600200"/>
          <a:ext cx="8229600" cy="2743200"/>
        </p:xfrm>
        <a:graphic>
          <a:graphicData uri="http://schemas.openxmlformats.org/drawingml/2006/table">
            <a:tbl>
              <a:tblPr firstRow="1" bandRow="1">
                <a:tableStyleId>{9DCAF9ED-07DC-4A11-8D7F-57B35C25682E}</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osis</a:t>
                      </a:r>
                      <a:endParaRPr lang="en-US" sz="2400" dirty="0"/>
                    </a:p>
                  </a:txBody>
                  <a:tcPr/>
                </a:tc>
                <a:tc>
                  <a:txBody>
                    <a:bodyPr/>
                    <a:lstStyle/>
                    <a:p>
                      <a:r>
                        <a:rPr lang="en-US" altLang="en-US" sz="2400" dirty="0"/>
                        <a:t>condition, usually abnormal </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ous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pertaining to</a:t>
                      </a:r>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plakia</a:t>
                      </a:r>
                      <a:endParaRPr lang="en-US" sz="2400" dirty="0"/>
                    </a:p>
                  </a:txBody>
                  <a:tcPr/>
                </a:tc>
                <a:tc>
                  <a:txBody>
                    <a:bodyPr/>
                    <a:lstStyle/>
                    <a:p>
                      <a:r>
                        <a:rPr lang="en-US" altLang="en-US" sz="2400" dirty="0"/>
                        <a:t>plaque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plasty</a:t>
                      </a:r>
                      <a:endParaRPr lang="en-US" sz="2400" dirty="0"/>
                    </a:p>
                  </a:txBody>
                  <a:tcPr/>
                </a:tc>
                <a:tc>
                  <a:txBody>
                    <a:bodyPr/>
                    <a:lstStyle/>
                    <a:p>
                      <a:r>
                        <a:rPr lang="en-US" altLang="en-US" sz="2400" dirty="0"/>
                        <a:t>surgical repair</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rrhea</a:t>
                      </a:r>
                      <a:endParaRPr lang="en-US" sz="2400" dirty="0"/>
                    </a:p>
                  </a:txBody>
                  <a:tcPr/>
                </a:tc>
                <a:tc>
                  <a:txBody>
                    <a:bodyPr/>
                    <a:lstStyle/>
                    <a:p>
                      <a:r>
                        <a:rPr lang="en-US" altLang="en-US" sz="2400" dirty="0"/>
                        <a:t>flow; discharge</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506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4304</TotalTime>
  <Words>3285</Words>
  <Application>Microsoft Office PowerPoint</Application>
  <PresentationFormat>On-screen Show (4:3)</PresentationFormat>
  <Paragraphs>625</Paragraphs>
  <Slides>77</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77</vt:i4>
      </vt:variant>
    </vt:vector>
  </HeadingPairs>
  <TitlesOfParts>
    <vt:vector size="84" baseType="lpstr">
      <vt:lpstr>Arial</vt:lpstr>
      <vt:lpstr>Calibri</vt:lpstr>
      <vt:lpstr>Times</vt:lpstr>
      <vt:lpstr>Times New Roman</vt:lpstr>
      <vt:lpstr>Wingdings</vt:lpstr>
      <vt:lpstr>Wingdings 2</vt:lpstr>
      <vt:lpstr>Office Theme</vt:lpstr>
      <vt:lpstr>The Language of Medicine 13th edition</vt:lpstr>
      <vt:lpstr>Chapter 16 Skin</vt:lpstr>
      <vt:lpstr>Chapter Goals (Slide 1 of 2)</vt:lpstr>
      <vt:lpstr>Chapter Goals (Slide 2 of 2)</vt:lpstr>
      <vt:lpstr>Chapter 16 Lesson 16.1</vt:lpstr>
      <vt:lpstr>Introduction</vt:lpstr>
      <vt:lpstr>Functions of Skin (Slide 1 of 2)</vt:lpstr>
      <vt:lpstr>Functions of Skin (Slide 2 of 2)</vt:lpstr>
      <vt:lpstr>Structure of the Skin (Slide 1 of 3)</vt:lpstr>
      <vt:lpstr>Structure of the Skin (Slide 2 of 3)</vt:lpstr>
      <vt:lpstr>Structure of the Skin (Slide 3 of 3)</vt:lpstr>
      <vt:lpstr>Accessory Organs of the Skin: Hair (Slide 1 of 2)</vt:lpstr>
      <vt:lpstr>Accessory Organs of the Skin: Hair (Slide 2 of 2)</vt:lpstr>
      <vt:lpstr>Accessory Organs of Skin: Nails</vt:lpstr>
      <vt:lpstr>Accessory Organs of Skin: Glands (Slide 1 of 2)</vt:lpstr>
      <vt:lpstr>Accessory Organs of Skin:  Glands (Slide 2 of 2)</vt:lpstr>
      <vt:lpstr>Vocabulary (Slide 1 of 16)</vt:lpstr>
      <vt:lpstr>Vocabulary (Slide 2 of 16)</vt:lpstr>
      <vt:lpstr>Vocabulary (Slide 3 of 16)</vt:lpstr>
      <vt:lpstr>Vocabulary (Slide 4 of 16)</vt:lpstr>
      <vt:lpstr>Vocabulary (Slide 5 of 16)</vt:lpstr>
      <vt:lpstr>Vocabulary (Slide 6 of 16)</vt:lpstr>
      <vt:lpstr>Vocabulary (Slide 7 of 16)</vt:lpstr>
      <vt:lpstr>Vocabulary (Slide 8 of 16)</vt:lpstr>
      <vt:lpstr>Vocabulary (Slide 9 of 16)</vt:lpstr>
      <vt:lpstr>Vocabulary (Slide 10 of 16)</vt:lpstr>
      <vt:lpstr>Vocabulary (Slide 11 of 16)</vt:lpstr>
      <vt:lpstr>Vocabulary (Slide 12 of 16)</vt:lpstr>
      <vt:lpstr>Vocabulary (Slide 13 of 16)</vt:lpstr>
      <vt:lpstr>Vocabulary (Slide 14 of 16)</vt:lpstr>
      <vt:lpstr>Vocabulary (Slide 15 of 16)</vt:lpstr>
      <vt:lpstr>Vocabulary (Slide 16 of 16)</vt:lpstr>
      <vt:lpstr>Combining Forms (Slide 1 of 5)</vt:lpstr>
      <vt:lpstr>Combining Forms (Slide 2 of 5)</vt:lpstr>
      <vt:lpstr>Combining Forms (Slide 3 of 5)</vt:lpstr>
      <vt:lpstr>Combining Forms (Slide 4 of 5)</vt:lpstr>
      <vt:lpstr>Combining Forms (Slide 5 of 5 )</vt:lpstr>
      <vt:lpstr>      QUICK QUIZ  (Slide 1 of 2)</vt:lpstr>
      <vt:lpstr>      QUICK QUIZ (Slide 2 of 2)  </vt:lpstr>
      <vt:lpstr>Colors</vt:lpstr>
      <vt:lpstr>Chapter 16 Lesson 16.2</vt:lpstr>
      <vt:lpstr>Cutaneous Lesions </vt:lpstr>
      <vt:lpstr>Signs and Symptoms  (Slide 1 or 4)</vt:lpstr>
      <vt:lpstr>Signs and Symptoms  (Slide 2 of 4)</vt:lpstr>
      <vt:lpstr>Signs and Symptoms  (Slide 3 of 4)</vt:lpstr>
      <vt:lpstr>Signs and Symptoms (Slide 4 of 4)</vt:lpstr>
      <vt:lpstr>Abnormal Conditions  (Slide 1 of 7)</vt:lpstr>
      <vt:lpstr>Abnormal Conditions  (Slide 2 of 7)</vt:lpstr>
      <vt:lpstr>Abnormal Conditions  (Slide 3 of 7)</vt:lpstr>
      <vt:lpstr>Abnormal Conditions  (Slide 4 of 7)</vt:lpstr>
      <vt:lpstr>Abnormal Conditions  (Slide 5 of 7)</vt:lpstr>
      <vt:lpstr>Abnormal Conditions (Slide 6 of 7)</vt:lpstr>
      <vt:lpstr>Abnormal Conditions (Slide 7 of 7)</vt:lpstr>
      <vt:lpstr>Chapter 16 Lesson 16.3</vt:lpstr>
      <vt:lpstr>Skin Neoplasms — Benign  </vt:lpstr>
      <vt:lpstr>Skin Neoplasms — Cancerous (Slide 1 of 3)</vt:lpstr>
      <vt:lpstr>Skin Neoplasms — Cancerous (Slide 2 of 3)</vt:lpstr>
      <vt:lpstr>Skin Neoplasms — Cancerous (Slide 3 of 3)</vt:lpstr>
      <vt:lpstr>Laboratory Tests</vt:lpstr>
      <vt:lpstr>Clinical Procedures (Slide 1 of 2)</vt:lpstr>
      <vt:lpstr>Clinical Procedures (Slide 2 of 2)</vt:lpstr>
      <vt:lpstr>Abbreviations (Slide 1 of 2)</vt:lpstr>
      <vt:lpstr>Abbreviations (Slide 2 of 2)</vt:lpstr>
      <vt:lpstr>Review Sheet – Combining Forms (Slide 1 of 10)</vt:lpstr>
      <vt:lpstr>Review Sheet – Combining Forms (Slide 2 of 10)</vt:lpstr>
      <vt:lpstr>Review Sheet – Combining Forms (Slide 3 of 10)</vt:lpstr>
      <vt:lpstr>Review Sheet – Combining Forms (Slide 4 of 10)</vt:lpstr>
      <vt:lpstr>Review Sheet – Combining Forms (Slide 5 of 10)</vt:lpstr>
      <vt:lpstr>Review Sheet – Combining Forms (Slide 6 of 10)</vt:lpstr>
      <vt:lpstr>Review Sheet – Combining Forms (Slide 7 of 10)</vt:lpstr>
      <vt:lpstr>Review Sheet – Combining Forms (Slide 8 of 10)</vt:lpstr>
      <vt:lpstr>Review Sheet – Combining Forms (Slide 9 of 10)</vt:lpstr>
      <vt:lpstr>Review Sheet – Combining Forms (Slide 10 of 10)</vt:lpstr>
      <vt:lpstr>Review Sheet – Suffixes (Slide 1 of 4)</vt:lpstr>
      <vt:lpstr>Review Sheet – Suffixes (Slide 2 of 4)</vt:lpstr>
      <vt:lpstr>Review Sheet – Suffixes (Slide 3 of 4)</vt:lpstr>
      <vt:lpstr>Review Sheet – Suffixes (Slide 4 of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300</cp:revision>
  <cp:lastPrinted>2007-04-13T22:20:09Z</cp:lastPrinted>
  <dcterms:created xsi:type="dcterms:W3CDTF">2004-11-01T16:15:23Z</dcterms:created>
  <dcterms:modified xsi:type="dcterms:W3CDTF">2023-12-07T04:22:21Z</dcterms:modified>
</cp:coreProperties>
</file>