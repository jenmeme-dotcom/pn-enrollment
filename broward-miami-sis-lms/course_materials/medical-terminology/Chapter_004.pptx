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31"/>
  </p:notesMasterIdLst>
  <p:handoutMasterIdLst>
    <p:handoutMasterId r:id="rId32"/>
  </p:handoutMasterIdLst>
  <p:sldIdLst>
    <p:sldId id="332" r:id="rId2"/>
    <p:sldId id="333" r:id="rId3"/>
    <p:sldId id="258" r:id="rId4"/>
    <p:sldId id="318" r:id="rId5"/>
    <p:sldId id="319" r:id="rId6"/>
    <p:sldId id="320" r:id="rId7"/>
    <p:sldId id="321" r:id="rId8"/>
    <p:sldId id="322" r:id="rId9"/>
    <p:sldId id="265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10" r:id="rId20"/>
    <p:sldId id="311" r:id="rId21"/>
    <p:sldId id="304" r:id="rId22"/>
    <p:sldId id="305" r:id="rId23"/>
    <p:sldId id="334" r:id="rId24"/>
    <p:sldId id="308" r:id="rId25"/>
    <p:sldId id="306" r:id="rId26"/>
    <p:sldId id="284" r:id="rId27"/>
    <p:sldId id="312" r:id="rId28"/>
    <p:sldId id="285" r:id="rId29"/>
    <p:sldId id="335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92" autoAdjust="0"/>
    <p:restoredTop sz="80777" autoAdjust="0"/>
  </p:normalViewPr>
  <p:slideViewPr>
    <p:cSldViewPr>
      <p:cViewPr varScale="1">
        <p:scale>
          <a:sx n="51" d="100"/>
          <a:sy n="51" d="100"/>
        </p:scale>
        <p:origin x="1496" y="40"/>
      </p:cViewPr>
      <p:guideLst>
        <p:guide orient="horz" pos="1008"/>
        <p:guide pos="432"/>
      </p:guideLst>
    </p:cSldViewPr>
  </p:slideViewPr>
  <p:outlineViewPr>
    <p:cViewPr>
      <p:scale>
        <a:sx n="33" d="100"/>
        <a:sy n="33" d="100"/>
      </p:scale>
      <p:origin x="0" y="11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feifer" userId="fb68dd40a6c6cee7" providerId="LiveId" clId="{AAF66854-C96F-4245-BBF7-B50ED6ECBE28}"/>
    <pc:docChg chg="custSel modSld modMainMaster">
      <pc:chgData name="Ben Pfeifer" userId="fb68dd40a6c6cee7" providerId="LiveId" clId="{AAF66854-C96F-4245-BBF7-B50ED6ECBE28}" dt="2023-09-26T07:47:44.309" v="32" actId="12385"/>
      <pc:docMkLst>
        <pc:docMk/>
      </pc:docMkLst>
      <pc:sldChg chg="modSp mod">
        <pc:chgData name="Ben Pfeifer" userId="fb68dd40a6c6cee7" providerId="LiveId" clId="{AAF66854-C96F-4245-BBF7-B50ED6ECBE28}" dt="2023-09-26T07:47:10.852" v="19" actId="12385"/>
        <pc:sldMkLst>
          <pc:docMk/>
          <pc:sldMk cId="1123261120" sldId="318"/>
        </pc:sldMkLst>
        <pc:graphicFrameChg chg="modGraphic">
          <ac:chgData name="Ben Pfeifer" userId="fb68dd40a6c6cee7" providerId="LiveId" clId="{AAF66854-C96F-4245-BBF7-B50ED6ECBE28}" dt="2023-09-26T07:47:10.852" v="19" actId="12385"/>
          <ac:graphicFrameMkLst>
            <pc:docMk/>
            <pc:sldMk cId="1123261120" sldId="318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13.459" v="20" actId="12385"/>
        <pc:sldMkLst>
          <pc:docMk/>
          <pc:sldMk cId="3654154660" sldId="319"/>
        </pc:sldMkLst>
        <pc:graphicFrameChg chg="modGraphic">
          <ac:chgData name="Ben Pfeifer" userId="fb68dd40a6c6cee7" providerId="LiveId" clId="{AAF66854-C96F-4245-BBF7-B50ED6ECBE28}" dt="2023-09-26T07:47:13.459" v="20" actId="12385"/>
          <ac:graphicFrameMkLst>
            <pc:docMk/>
            <pc:sldMk cId="3654154660" sldId="319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15.942" v="21" actId="12385"/>
        <pc:sldMkLst>
          <pc:docMk/>
          <pc:sldMk cId="1508440198" sldId="320"/>
        </pc:sldMkLst>
        <pc:graphicFrameChg chg="modGraphic">
          <ac:chgData name="Ben Pfeifer" userId="fb68dd40a6c6cee7" providerId="LiveId" clId="{AAF66854-C96F-4245-BBF7-B50ED6ECBE28}" dt="2023-09-26T07:47:15.942" v="21" actId="12385"/>
          <ac:graphicFrameMkLst>
            <pc:docMk/>
            <pc:sldMk cId="1508440198" sldId="320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18.627" v="22" actId="12385"/>
        <pc:sldMkLst>
          <pc:docMk/>
          <pc:sldMk cId="3604524594" sldId="321"/>
        </pc:sldMkLst>
        <pc:graphicFrameChg chg="modGraphic">
          <ac:chgData name="Ben Pfeifer" userId="fb68dd40a6c6cee7" providerId="LiveId" clId="{AAF66854-C96F-4245-BBF7-B50ED6ECBE28}" dt="2023-09-26T07:47:18.627" v="22" actId="12385"/>
          <ac:graphicFrameMkLst>
            <pc:docMk/>
            <pc:sldMk cId="3604524594" sldId="321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20.838" v="23" actId="12385"/>
        <pc:sldMkLst>
          <pc:docMk/>
          <pc:sldMk cId="115828121" sldId="322"/>
        </pc:sldMkLst>
        <pc:graphicFrameChg chg="modGraphic">
          <ac:chgData name="Ben Pfeifer" userId="fb68dd40a6c6cee7" providerId="LiveId" clId="{AAF66854-C96F-4245-BBF7-B50ED6ECBE28}" dt="2023-09-26T07:47:20.838" v="23" actId="12385"/>
          <ac:graphicFrameMkLst>
            <pc:docMk/>
            <pc:sldMk cId="115828121" sldId="322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23.221" v="24" actId="12385"/>
        <pc:sldMkLst>
          <pc:docMk/>
          <pc:sldMk cId="3536481065" sldId="323"/>
        </pc:sldMkLst>
        <pc:graphicFrameChg chg="modGraphic">
          <ac:chgData name="Ben Pfeifer" userId="fb68dd40a6c6cee7" providerId="LiveId" clId="{AAF66854-C96F-4245-BBF7-B50ED6ECBE28}" dt="2023-09-26T07:47:23.221" v="24" actId="12385"/>
          <ac:graphicFrameMkLst>
            <pc:docMk/>
            <pc:sldMk cId="3536481065" sldId="323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25.876" v="25" actId="12385"/>
        <pc:sldMkLst>
          <pc:docMk/>
          <pc:sldMk cId="2429074637" sldId="324"/>
        </pc:sldMkLst>
        <pc:graphicFrameChg chg="modGraphic">
          <ac:chgData name="Ben Pfeifer" userId="fb68dd40a6c6cee7" providerId="LiveId" clId="{AAF66854-C96F-4245-BBF7-B50ED6ECBE28}" dt="2023-09-26T07:47:25.876" v="25" actId="12385"/>
          <ac:graphicFrameMkLst>
            <pc:docMk/>
            <pc:sldMk cId="2429074637" sldId="324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28.180" v="26" actId="12385"/>
        <pc:sldMkLst>
          <pc:docMk/>
          <pc:sldMk cId="1577405507" sldId="325"/>
        </pc:sldMkLst>
        <pc:graphicFrameChg chg="modGraphic">
          <ac:chgData name="Ben Pfeifer" userId="fb68dd40a6c6cee7" providerId="LiveId" clId="{AAF66854-C96F-4245-BBF7-B50ED6ECBE28}" dt="2023-09-26T07:47:28.180" v="26" actId="12385"/>
          <ac:graphicFrameMkLst>
            <pc:docMk/>
            <pc:sldMk cId="1577405507" sldId="325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30.785" v="27" actId="12385"/>
        <pc:sldMkLst>
          <pc:docMk/>
          <pc:sldMk cId="3913242079" sldId="326"/>
        </pc:sldMkLst>
        <pc:graphicFrameChg chg="modGraphic">
          <ac:chgData name="Ben Pfeifer" userId="fb68dd40a6c6cee7" providerId="LiveId" clId="{AAF66854-C96F-4245-BBF7-B50ED6ECBE28}" dt="2023-09-26T07:47:30.785" v="27" actId="12385"/>
          <ac:graphicFrameMkLst>
            <pc:docMk/>
            <pc:sldMk cId="3913242079" sldId="326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33.604" v="28" actId="12385"/>
        <pc:sldMkLst>
          <pc:docMk/>
          <pc:sldMk cId="490554002" sldId="327"/>
        </pc:sldMkLst>
        <pc:graphicFrameChg chg="modGraphic">
          <ac:chgData name="Ben Pfeifer" userId="fb68dd40a6c6cee7" providerId="LiveId" clId="{AAF66854-C96F-4245-BBF7-B50ED6ECBE28}" dt="2023-09-26T07:47:33.604" v="28" actId="12385"/>
          <ac:graphicFrameMkLst>
            <pc:docMk/>
            <pc:sldMk cId="490554002" sldId="327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36.277" v="29" actId="12385"/>
        <pc:sldMkLst>
          <pc:docMk/>
          <pc:sldMk cId="2717359591" sldId="328"/>
        </pc:sldMkLst>
        <pc:graphicFrameChg chg="modGraphic">
          <ac:chgData name="Ben Pfeifer" userId="fb68dd40a6c6cee7" providerId="LiveId" clId="{AAF66854-C96F-4245-BBF7-B50ED6ECBE28}" dt="2023-09-26T07:47:36.277" v="29" actId="12385"/>
          <ac:graphicFrameMkLst>
            <pc:docMk/>
            <pc:sldMk cId="2717359591" sldId="328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39.145" v="30" actId="12385"/>
        <pc:sldMkLst>
          <pc:docMk/>
          <pc:sldMk cId="3387999211" sldId="329"/>
        </pc:sldMkLst>
        <pc:graphicFrameChg chg="modGraphic">
          <ac:chgData name="Ben Pfeifer" userId="fb68dd40a6c6cee7" providerId="LiveId" clId="{AAF66854-C96F-4245-BBF7-B50ED6ECBE28}" dt="2023-09-26T07:47:39.145" v="30" actId="12385"/>
          <ac:graphicFrameMkLst>
            <pc:docMk/>
            <pc:sldMk cId="3387999211" sldId="329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41.658" v="31" actId="12385"/>
        <pc:sldMkLst>
          <pc:docMk/>
          <pc:sldMk cId="2617264381" sldId="330"/>
        </pc:sldMkLst>
        <pc:graphicFrameChg chg="modGraphic">
          <ac:chgData name="Ben Pfeifer" userId="fb68dd40a6c6cee7" providerId="LiveId" clId="{AAF66854-C96F-4245-BBF7-B50ED6ECBE28}" dt="2023-09-26T07:47:41.658" v="31" actId="12385"/>
          <ac:graphicFrameMkLst>
            <pc:docMk/>
            <pc:sldMk cId="2617264381" sldId="330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47:44.309" v="32" actId="12385"/>
        <pc:sldMkLst>
          <pc:docMk/>
          <pc:sldMk cId="3414671139" sldId="331"/>
        </pc:sldMkLst>
        <pc:graphicFrameChg chg="modGraphic">
          <ac:chgData name="Ben Pfeifer" userId="fb68dd40a6c6cee7" providerId="LiveId" clId="{AAF66854-C96F-4245-BBF7-B50ED6ECBE28}" dt="2023-09-26T07:47:44.309" v="32" actId="12385"/>
          <ac:graphicFrameMkLst>
            <pc:docMk/>
            <pc:sldMk cId="3414671139" sldId="331"/>
            <ac:graphicFrameMk id="7" creationId="{00000000-0000-0000-0000-000000000000}"/>
          </ac:graphicFrameMkLst>
        </pc:graphicFrameChg>
      </pc:sldChg>
      <pc:sldChg chg="modSp mod">
        <pc:chgData name="Ben Pfeifer" userId="fb68dd40a6c6cee7" providerId="LiveId" clId="{AAF66854-C96F-4245-BBF7-B50ED6ECBE28}" dt="2023-09-26T07:01:54.349" v="1" actId="20577"/>
        <pc:sldMkLst>
          <pc:docMk/>
          <pc:sldMk cId="1428288934" sldId="332"/>
        </pc:sldMkLst>
        <pc:spChg chg="mod">
          <ac:chgData name="Ben Pfeifer" userId="fb68dd40a6c6cee7" providerId="LiveId" clId="{AAF66854-C96F-4245-BBF7-B50ED6ECBE28}" dt="2023-09-26T07:01:54.349" v="1" actId="20577"/>
          <ac:spMkLst>
            <pc:docMk/>
            <pc:sldMk cId="1428288934" sldId="332"/>
            <ac:spMk id="2" creationId="{00000000-0000-0000-0000-000000000000}"/>
          </ac:spMkLst>
        </pc:spChg>
      </pc:sldChg>
      <pc:sldChg chg="delSp mod">
        <pc:chgData name="Ben Pfeifer" userId="fb68dd40a6c6cee7" providerId="LiveId" clId="{AAF66854-C96F-4245-BBF7-B50ED6ECBE28}" dt="2023-09-26T07:04:31.484" v="8" actId="478"/>
        <pc:sldMkLst>
          <pc:docMk/>
          <pc:sldMk cId="846593567" sldId="333"/>
        </pc:sldMkLst>
        <pc:spChg chg="del">
          <ac:chgData name="Ben Pfeifer" userId="fb68dd40a6c6cee7" providerId="LiveId" clId="{AAF66854-C96F-4245-BBF7-B50ED6ECBE28}" dt="2023-09-26T07:04:31.484" v="8" actId="478"/>
          <ac:spMkLst>
            <pc:docMk/>
            <pc:sldMk cId="846593567" sldId="333"/>
            <ac:spMk id="3" creationId="{00000000-0000-0000-0000-000000000000}"/>
          </ac:spMkLst>
        </pc:spChg>
      </pc:sldChg>
      <pc:sldMasterChg chg="modSp mod modSldLayout">
        <pc:chgData name="Ben Pfeifer" userId="fb68dd40a6c6cee7" providerId="LiveId" clId="{AAF66854-C96F-4245-BBF7-B50ED6ECBE28}" dt="2023-09-26T07:03:57.775" v="7" actId="20577"/>
        <pc:sldMasterMkLst>
          <pc:docMk/>
          <pc:sldMasterMk cId="0" sldId="2147483762"/>
        </pc:sldMasterMkLst>
        <pc:spChg chg="mod">
          <ac:chgData name="Ben Pfeifer" userId="fb68dd40a6c6cee7" providerId="LiveId" clId="{AAF66854-C96F-4245-BBF7-B50ED6ECBE28}" dt="2023-09-26T07:03:57.775" v="7" actId="20577"/>
          <ac:spMkLst>
            <pc:docMk/>
            <pc:sldMasterMk cId="0" sldId="2147483762"/>
            <ac:spMk id="1031" creationId="{00000000-0000-0000-0000-000000000000}"/>
          </ac:spMkLst>
        </pc:spChg>
        <pc:sldLayoutChg chg="delSp mod">
          <pc:chgData name="Ben Pfeifer" userId="fb68dd40a6c6cee7" providerId="LiveId" clId="{AAF66854-C96F-4245-BBF7-B50ED6ECBE28}" dt="2023-09-26T07:02:33.046" v="2" actId="478"/>
          <pc:sldLayoutMkLst>
            <pc:docMk/>
            <pc:sldMasterMk cId="0" sldId="2147483762"/>
            <pc:sldLayoutMk cId="1042552471" sldId="2147483939"/>
          </pc:sldLayoutMkLst>
          <pc:spChg chg="del">
            <ac:chgData name="Ben Pfeifer" userId="fb68dd40a6c6cee7" providerId="LiveId" clId="{AAF66854-C96F-4245-BBF7-B50ED6ECBE28}" dt="2023-09-26T07:02:33.046" v="2" actId="478"/>
            <ac:spMkLst>
              <pc:docMk/>
              <pc:sldMasterMk cId="0" sldId="2147483762"/>
              <pc:sldLayoutMk cId="1042552471" sldId="2147483939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FB9E71A-E6C8-4FD3-B040-DCC6247393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5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9DD8956B-8F79-4131-A174-E4232C9451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361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DC7E717-0F7D-4EA1-A8A4-121E39342326}" type="slidenum">
              <a:rPr lang="en-US" altLang="en-US" sz="1200"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91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EE98085-1775-4A71-829D-78F100A0A8E7}" type="slidenum">
              <a:rPr lang="en-US" altLang="en-US" sz="1200">
                <a:latin typeface="Arial" panose="020B0604020202020204" pitchFamily="34" charset="0"/>
              </a:rPr>
              <a:pPr/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30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D1F76F2-84EE-4DA5-B2FF-8FB6BD5DB57F}" type="slidenum">
              <a:rPr lang="en-US" altLang="en-US" sz="1200">
                <a:latin typeface="Arial" panose="020B0604020202020204" pitchFamily="34" charset="0"/>
              </a:rPr>
              <a:pPr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 correct answer is C: adductor. (Answer A is misspelled.  Answer B means a muscle that draws a limb away from the body.  Answer D is misspelled.)</a:t>
            </a:r>
          </a:p>
        </p:txBody>
      </p:sp>
    </p:spTree>
    <p:extLst>
      <p:ext uri="{BB962C8B-B14F-4D97-AF65-F5344CB8AC3E}">
        <p14:creationId xmlns:p14="http://schemas.microsoft.com/office/powerpoint/2010/main" val="2038365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D3E1168-48B5-4178-BE91-1386F9EE7CE4}" type="slidenum">
              <a:rPr lang="en-US" altLang="en-US" sz="1200">
                <a:latin typeface="Arial" panose="020B0604020202020204" pitchFamily="34" charset="0"/>
              </a:rPr>
              <a:pPr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 correct answer is A: dyspnea; dys- means painful;  -pnea means breathing. Remember, medical terms do not need to have a root or combining form. Dyspnea, for example, has a prefix and a suffix with an imbedded root.</a:t>
            </a:r>
          </a:p>
        </p:txBody>
      </p:sp>
    </p:spTree>
    <p:extLst>
      <p:ext uri="{BB962C8B-B14F-4D97-AF65-F5344CB8AC3E}">
        <p14:creationId xmlns:p14="http://schemas.microsoft.com/office/powerpoint/2010/main" val="975917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B3BEB4A-DAB2-4E91-98EC-21B1A8EBE4EE}" type="slidenum">
              <a:rPr lang="en-US" altLang="en-US" sz="1200">
                <a:latin typeface="Arial" panose="020B0604020202020204" pitchFamily="34" charset="0"/>
              </a:rPr>
              <a:pPr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 Antigen examples: poison, flu virus, bacterium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 Immune reaction: reaction between an antigen and antibody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 What is a common name for an immune reaction against normally nonthreatening antigens?</a:t>
            </a:r>
          </a:p>
        </p:txBody>
      </p:sp>
    </p:spTree>
    <p:extLst>
      <p:ext uri="{BB962C8B-B14F-4D97-AF65-F5344CB8AC3E}">
        <p14:creationId xmlns:p14="http://schemas.microsoft.com/office/powerpoint/2010/main" val="667499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FD1FA0F-2B20-42DA-B316-DBEA8D56EA4D}" type="slidenum">
              <a:rPr lang="en-US" altLang="en-US" sz="1200">
                <a:latin typeface="Arial" panose="020B0604020202020204" pitchFamily="34" charset="0"/>
              </a:rPr>
              <a:pPr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Discuss how Rh condition occurs. </a:t>
            </a:r>
          </a:p>
          <a:p>
            <a:pPr lvl="1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First pregnancy with Rh+ baby: the baby is not affected but the Rh- mother is sensitized.</a:t>
            </a:r>
          </a:p>
          <a:p>
            <a:pPr lvl="1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Second pregnancy with Rh+ baby: the baby develops hemolytic disease of the newborn (HDN).</a:t>
            </a:r>
          </a:p>
          <a:p>
            <a:pPr lvl="1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Symptom of HDN: jaundice.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can the condition be prevented? </a:t>
            </a:r>
            <a:r>
              <a:rPr lang="en-US" altLang="en-US" i="1">
                <a:latin typeface="Times New Roman" panose="02020603050405020304" pitchFamily="18" charset="0"/>
              </a:rPr>
              <a:t>(Prevent Rh condition with Rh immune globulin injection to Rh- woman within 72 hours of delivery, miscarriage, or abortion of an Rh+ fetus</a:t>
            </a:r>
            <a:r>
              <a:rPr lang="en-US" altLang="en-US">
                <a:latin typeface="Times New Roman" panose="02020603050405020304" pitchFamily="18" charset="0"/>
              </a:rPr>
              <a:t>.</a:t>
            </a:r>
            <a:r>
              <a:rPr lang="en-US" altLang="en-US" i="1"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1026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B0747CA-D639-451F-813E-D6F0C194639E}" type="slidenum">
              <a:rPr lang="en-US" altLang="en-US" sz="1200">
                <a:latin typeface="Arial" panose="020B0604020202020204" pitchFamily="34" charset="0"/>
              </a:rPr>
              <a:pPr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 correct answer is B: leukocytes or white blood cells.  </a:t>
            </a:r>
          </a:p>
        </p:txBody>
      </p:sp>
    </p:spTree>
    <p:extLst>
      <p:ext uri="{BB962C8B-B14F-4D97-AF65-F5344CB8AC3E}">
        <p14:creationId xmlns:p14="http://schemas.microsoft.com/office/powerpoint/2010/main" val="3528645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5E5C779-001E-4B72-B957-F6DBE291308E}" type="slidenum">
              <a:rPr lang="en-US" altLang="en-US" sz="1200">
                <a:latin typeface="Arial" panose="020B0604020202020204" pitchFamily="34" charset="0"/>
              </a:rPr>
              <a:pPr/>
              <a:t>25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 What are some examples of congenital anomalies?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 What are some causes of nonhereditary congenital anomalies?</a:t>
            </a:r>
          </a:p>
        </p:txBody>
      </p:sp>
    </p:spTree>
    <p:extLst>
      <p:ext uri="{BB962C8B-B14F-4D97-AF65-F5344CB8AC3E}">
        <p14:creationId xmlns:p14="http://schemas.microsoft.com/office/powerpoint/2010/main" val="3861061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937BA5C-511F-49E6-9A02-074833632196}" type="slidenum">
              <a:rPr lang="en-US" altLang="en-US" sz="1200">
                <a:latin typeface="Arial" panose="020B0604020202020204" pitchFamily="34" charset="0"/>
              </a:rPr>
              <a:pPr/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Describe the recombinant DNA technique used to manufacture insulin outside the body.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rPr>
              <a:t>CRISPER</a:t>
            </a:r>
            <a:r>
              <a:rPr lang="en-US" sz="1200" b="0" kern="120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rPr>
              <a:t> is an acronym:</a:t>
            </a:r>
            <a:r>
              <a:rPr lang="en-US" sz="1200" b="0" kern="1200" baseline="0" dirty="0">
                <a:solidFill>
                  <a:schemeClr val="tx1"/>
                </a:solidFill>
                <a:latin typeface="Arial" charset="0"/>
                <a:ea typeface="MS PGothic" pitchFamily="34" charset="-128"/>
                <a:cs typeface="ＭＳ Ｐゴシック" charset="0"/>
              </a:rPr>
              <a:t> 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lustered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 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egularly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nterspaced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hort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p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alindromic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MS PGothic" pitchFamily="34" charset="-128"/>
                <a:cs typeface="ＭＳ Ｐゴシック" charset="0"/>
              </a:rPr>
              <a:t>epeats.</a:t>
            </a:r>
            <a:endParaRPr lang="en-US" sz="1200" b="0" kern="1200" dirty="0">
              <a:solidFill>
                <a:schemeClr val="tx1"/>
              </a:solidFill>
              <a:latin typeface="Arial" charset="0"/>
              <a:ea typeface="MS PGothic" pitchFamily="34" charset="-128"/>
              <a:cs typeface="ＭＳ Ｐゴシック" charset="0"/>
            </a:endParaRPr>
          </a:p>
          <a:p>
            <a:pPr eaLnBrk="1" hangingPunct="1"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850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List a syndrome example (other than Reye syndrome and fetal alcohol syndrome), and ask students to list the symptoms.</a:t>
            </a:r>
          </a:p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8BE70ED-07FC-4D11-8759-A0D1DEB1B62F}" type="slidenum">
              <a:rPr lang="en-US" altLang="en-US" sz="1200">
                <a:latin typeface="Arial" panose="020B0604020202020204" pitchFamily="34" charset="0"/>
              </a:rPr>
              <a:pPr/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024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278CAB8-539F-4AFB-9573-DCCF8AA61CF8}" type="slidenum">
              <a:rPr lang="en-US" altLang="en-US" sz="1200">
                <a:latin typeface="Arial" panose="020B0604020202020204" pitchFamily="34" charset="0"/>
              </a:rPr>
              <a:pPr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3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F46A433-53BE-44F2-B0BE-CD4AA7F6F7B2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24200" y="5859295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8"/>
          <p:cNvSpPr txBox="1">
            <a:spLocks noGrp="1" noChangeArrowheads="1"/>
          </p:cNvSpPr>
          <p:nvPr userDrawn="1"/>
        </p:nvSpPr>
        <p:spPr bwMode="auto">
          <a:xfrm>
            <a:off x="917575" y="6444916"/>
            <a:ext cx="7769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D8646-B954-479C-A337-986E442FC1A9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3B6F8-FB65-40D1-9D78-3B0834AA2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55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6FB1C-0B93-4FFC-AFAC-202B5BB6FD8D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0EB3D-4C75-400C-847F-27CED06B60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65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1BE0B-DC10-4A86-884B-421A21A3786F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988B2-9A38-4469-A73A-3A8A3875C8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11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8196F-BB54-4DF1-9DDF-EB61181FD455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9FD97-2CE7-4101-9BDA-A6CDF9D7F1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81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13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F424A-0666-4F8A-AE0B-042263A2F523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z="1000" baseline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23256-9629-4751-9FC7-D9A617797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22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C957C-8A28-4346-A91E-3181E23B9FC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3BBEA-FBE4-4D1C-948E-35E3FD648A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12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414B3-CE71-4CAC-BF20-28E9BC6B1B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C2544-6AE1-4FFD-9204-B2754DEAA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66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9D59-B1E6-4DCF-8F4C-326D6ED2C2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8DA79-2483-40AE-83CF-C031752A9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53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F2560-A50C-4A12-98A3-C5D77FC1843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8CD66-7605-4E45-9E45-CFA0ED897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6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1F176B-337D-4B0C-9E0F-CF98E924232A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8A3EFAA-5F29-4212-A320-E00D10714E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0FF5DB33-233E-420C-BB96-6F4A112866E6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3A4DCB-1A12-98D9-EAE7-929DA1757AF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9" r:id="rId7"/>
    <p:sldLayoutId id="2147483944" r:id="rId8"/>
    <p:sldLayoutId id="2147483945" r:id="rId9"/>
    <p:sldLayoutId id="2147483946" r:id="rId10"/>
    <p:sldLayoutId id="214748394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Davi</a:t>
            </a:r>
            <a:r>
              <a:rPr lang="en-US" dirty="0">
                <a:solidFill>
                  <a:schemeClr val="tx1"/>
                </a:solidFill>
              </a:rPr>
              <a:t>-Ellen </a:t>
            </a:r>
            <a:r>
              <a:rPr lang="en-US" dirty="0" err="1">
                <a:solidFill>
                  <a:schemeClr val="tx1"/>
                </a:solidFill>
              </a:rPr>
              <a:t>Chabner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8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Prefixes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846593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Chapter Goals</a:t>
            </a:r>
          </a:p>
        </p:txBody>
      </p:sp>
      <p:sp>
        <p:nvSpPr>
          <p:cNvPr id="717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Define basic prefixes used in the medical language.</a:t>
            </a:r>
          </a:p>
          <a:p>
            <a:pPr eaLnBrk="1" hangingPunct="1"/>
            <a:r>
              <a:rPr lang="en-US" altLang="en-US" dirty="0"/>
              <a:t>Analyze medical terms that combine prefixes and other word elements.</a:t>
            </a:r>
          </a:p>
          <a:p>
            <a:pPr eaLnBrk="1" hangingPunct="1"/>
            <a:r>
              <a:rPr lang="en-US" altLang="en-US" dirty="0"/>
              <a:t>Learn about the Rh condition as an example of an antigen-antibody reaction.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Combining Forms (Slide 1 of 3)</a:t>
            </a:r>
          </a:p>
        </p:txBody>
      </p:sp>
      <p:graphicFrame>
        <p:nvGraphicFramePr>
          <p:cNvPr id="7" name="Content Placeholder 6" descr="Group 1 of 3:  List of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145689"/>
              </p:ext>
            </p:extLst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carp/o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wrist bones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cis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cost/o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rib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cutane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skin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dactyl/o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fingers, toes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duct/o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lead, carry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flex/o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gloss/o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tongue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26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Combining Forms (Slide 2 of 3)</a:t>
            </a:r>
          </a:p>
        </p:txBody>
      </p:sp>
      <p:graphicFrame>
        <p:nvGraphicFramePr>
          <p:cNvPr id="7" name="Content Placeholder 6" descr="Group 2 of 3:  List of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713185"/>
              </p:ext>
            </p:extLst>
          </p:nvPr>
        </p:nvGraphicFramePr>
        <p:xfrm>
          <a:off x="457200" y="1600200"/>
          <a:ext cx="8229600" cy="4572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glyc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sugar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immun</a:t>
                      </a:r>
                      <a:r>
                        <a:rPr lang="en-US" alt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protection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morph/o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shape, form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mort/o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death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nat</a:t>
                      </a:r>
                      <a:r>
                        <a:rPr lang="en-US" altLang="en-US" sz="2400" b="1" dirty="0"/>
                        <a:t>/</a:t>
                      </a:r>
                      <a:r>
                        <a:rPr lang="en-US" altLang="en-US" sz="2400" b="1" dirty="0" err="1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birth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norm/o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rule, order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ox/o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oxygen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pub/o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pubis; anterior portion of </a:t>
                      </a:r>
                      <a:r>
                        <a:rPr lang="en-US" altLang="en-US" sz="2400" baseline="0" dirty="0"/>
                        <a:t> </a:t>
                      </a:r>
                      <a:r>
                        <a:rPr lang="en-US" altLang="en-US" sz="2400" dirty="0"/>
                        <a:t>the pelvis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seps</a:t>
                      </a:r>
                      <a:r>
                        <a:rPr lang="en-US" sz="2400" b="1" dirty="0"/>
                        <a:t>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12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154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Combining Forms (Slide 3 of 3)</a:t>
            </a:r>
          </a:p>
        </p:txBody>
      </p:sp>
      <p:graphicFrame>
        <p:nvGraphicFramePr>
          <p:cNvPr id="7" name="Content Placeholder 6" descr="Group 3 of 3:  List of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240147"/>
              </p:ext>
            </p:extLst>
          </p:nvPr>
        </p:nvGraphicFramePr>
        <p:xfrm>
          <a:off x="457200" y="1295400"/>
          <a:ext cx="82296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somn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son/o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the/o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put, 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thel</a:t>
                      </a:r>
                      <a:r>
                        <a:rPr lang="en-US" sz="2400" b="1" dirty="0"/>
                        <a:t>/o, </a:t>
                      </a:r>
                      <a:r>
                        <a:rPr lang="en-US" sz="2400" b="1" dirty="0" err="1"/>
                        <a:t>theli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nipple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tens/o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force, strain, stretch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2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thyr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thyroid gland; shield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top/o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place, position,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tox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trache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windpipe, trachea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urethr</a:t>
                      </a:r>
                      <a:r>
                        <a:rPr lang="en-US" sz="2400" b="1" dirty="0"/>
                        <a:t>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urethra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44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Suffixes (Slide 1 of 2)</a:t>
            </a:r>
          </a:p>
        </p:txBody>
      </p:sp>
      <p:graphicFrame>
        <p:nvGraphicFramePr>
          <p:cNvPr id="7" name="Content Placeholder 6" descr="Group 1 of 2:  List of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941986"/>
              </p:ext>
            </p:extLst>
          </p:nvPr>
        </p:nvGraphicFramePr>
        <p:xfrm>
          <a:off x="457200" y="1295400"/>
          <a:ext cx="8229600" cy="502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crine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secrete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drome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-fusion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coming together; to pour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gea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substance that produces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-lapse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slide, fall, sag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</a:t>
                      </a:r>
                      <a:r>
                        <a:rPr lang="en-US" altLang="en-US" sz="2400" b="1" dirty="0" err="1"/>
                        <a:t>lysis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breakdown, destruction, separation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-meter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measure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-mission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one who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-</a:t>
                      </a:r>
                      <a:r>
                        <a:rPr lang="en-US" sz="2400" b="1" dirty="0" err="1"/>
                        <a:t>oxia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oxygen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16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52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Suffixes (Slide 2 of 2)</a:t>
            </a:r>
          </a:p>
        </p:txBody>
      </p:sp>
      <p:graphicFrame>
        <p:nvGraphicFramePr>
          <p:cNvPr id="7" name="Content Placeholder 6" descr="Group 2 of 2:  List of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945742"/>
              </p:ext>
            </p:extLst>
          </p:nvPr>
        </p:nvGraphicFramePr>
        <p:xfrm>
          <a:off x="457200" y="1219200"/>
          <a:ext cx="8229600" cy="51511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Suffix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-partum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birth,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phoria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bear, carry; feeling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physis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grow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plasia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development, formation,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plasm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structure or 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pnea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breathing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ptom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happening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215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-ptosis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falling, drooping, prolapse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</a:t>
                      </a:r>
                      <a:r>
                        <a:rPr lang="en-US" sz="2200" b="1" dirty="0" err="1"/>
                        <a:t>rrhea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flow, discharge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-stasis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stopping, controlling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/>
                        <a:t>-trophy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development, nourishment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2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Lesson 4.1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1 of 9)</a:t>
            </a:r>
          </a:p>
        </p:txBody>
      </p:sp>
      <p:graphicFrame>
        <p:nvGraphicFramePr>
          <p:cNvPr id="7" name="Content Placeholder 6" descr="Group 1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351636"/>
              </p:ext>
            </p:extLst>
          </p:nvPr>
        </p:nvGraphicFramePr>
        <p:xfrm>
          <a:off x="685800" y="20574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a-, an-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no, not, without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ab</a:t>
                      </a:r>
                      <a:r>
                        <a:rPr lang="en-US" alt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away from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ad-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toward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ana</a:t>
                      </a:r>
                      <a:r>
                        <a:rPr lang="en-US" alt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up, apart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ante-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before, forward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48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2 of 9)</a:t>
            </a:r>
          </a:p>
        </p:txBody>
      </p:sp>
      <p:graphicFrame>
        <p:nvGraphicFramePr>
          <p:cNvPr id="7" name="Content Placeholder 6" descr="Group 2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120218"/>
              </p:ext>
            </p:extLst>
          </p:nvPr>
        </p:nvGraphicFramePr>
        <p:xfrm>
          <a:off x="533400" y="22098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anti-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against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auto-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self, 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bi-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two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brady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cata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with,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074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3 of 9)</a:t>
            </a:r>
          </a:p>
        </p:txBody>
      </p:sp>
      <p:graphicFrame>
        <p:nvGraphicFramePr>
          <p:cNvPr id="7" name="Content Placeholder 6" descr="Group 3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002763"/>
              </p:ext>
            </p:extLst>
          </p:nvPr>
        </p:nvGraphicFramePr>
        <p:xfrm>
          <a:off x="457200" y="20574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contra-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against, opposite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de-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down, lack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dia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through,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dys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abnormal, bad, painful, difficult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ec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out, outside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endo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in, within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405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4 of 9)</a:t>
            </a:r>
          </a:p>
        </p:txBody>
      </p:sp>
      <p:graphicFrame>
        <p:nvGraphicFramePr>
          <p:cNvPr id="7" name="Content Placeholder 6" descr="Group 4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372322"/>
              </p:ext>
            </p:extLst>
          </p:nvPr>
        </p:nvGraphicFramePr>
        <p:xfrm>
          <a:off x="457200" y="20574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epi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upon, on,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eu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good, 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ex-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out, outside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hemi-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hyper-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excessive, above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hypo-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deficient, under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24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5 of 9)</a:t>
            </a:r>
          </a:p>
        </p:txBody>
      </p:sp>
      <p:graphicFrame>
        <p:nvGraphicFramePr>
          <p:cNvPr id="7" name="Content Placeholder 6" descr="Group 5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580013"/>
              </p:ext>
            </p:extLst>
          </p:nvPr>
        </p:nvGraphicFramePr>
        <p:xfrm>
          <a:off x="457200" y="20574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into, within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infra-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beneath, under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inter-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between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intra-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in, within, into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macro-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55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6 of 9)</a:t>
            </a:r>
          </a:p>
        </p:txBody>
      </p:sp>
      <p:graphicFrame>
        <p:nvGraphicFramePr>
          <p:cNvPr id="7" name="Content Placeholder 6" descr="Group 6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5344408"/>
              </p:ext>
            </p:extLst>
          </p:nvPr>
        </p:nvGraphicFramePr>
        <p:xfrm>
          <a:off x="457200" y="1981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mal-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meta-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beyond,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micro-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neo-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pan-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para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abnormal, beside, 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359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7 of 9)</a:t>
            </a:r>
          </a:p>
        </p:txBody>
      </p:sp>
      <p:graphicFrame>
        <p:nvGraphicFramePr>
          <p:cNvPr id="7" name="Content Placeholder 6" descr="Group 7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375115"/>
              </p:ext>
            </p:extLst>
          </p:nvPr>
        </p:nvGraphicFramePr>
        <p:xfrm>
          <a:off x="487680" y="20574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per-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peri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surrounding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poly-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many, much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post-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after, behind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pre-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before, in front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before, forward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999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8 of 9)</a:t>
            </a:r>
          </a:p>
        </p:txBody>
      </p:sp>
      <p:graphicFrame>
        <p:nvGraphicFramePr>
          <p:cNvPr id="7" name="Content Placeholder 6" descr="Group 8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7389662"/>
              </p:ext>
            </p:extLst>
          </p:nvPr>
        </p:nvGraphicFramePr>
        <p:xfrm>
          <a:off x="457200" y="2057400"/>
          <a:ext cx="8229600" cy="3276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pros-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before, forward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back, again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retro-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behind, backward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2400" b="1" dirty="0"/>
                        <a:t>sub-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supra-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above, upper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syn</a:t>
                      </a:r>
                      <a:r>
                        <a:rPr lang="en-US" sz="2400" b="1" dirty="0"/>
                        <a:t>-, </a:t>
                      </a:r>
                      <a:r>
                        <a:rPr lang="en-US" sz="2400" b="1" dirty="0" err="1"/>
                        <a:t>sym</a:t>
                      </a:r>
                      <a:r>
                        <a:rPr 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together,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264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 and Terminology</a:t>
            </a:r>
            <a:br>
              <a:rPr lang="en-US" b="1" dirty="0"/>
            </a:br>
            <a:r>
              <a:rPr lang="en-US" sz="4000" b="1" dirty="0"/>
              <a:t>(Slide 9 of 9)</a:t>
            </a:r>
          </a:p>
        </p:txBody>
      </p:sp>
      <p:graphicFrame>
        <p:nvGraphicFramePr>
          <p:cNvPr id="7" name="Content Placeholder 6" descr="Group 9 of 9:  List of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919417"/>
              </p:ext>
            </p:extLst>
          </p:nvPr>
        </p:nvGraphicFramePr>
        <p:xfrm>
          <a:off x="457200" y="2209800"/>
          <a:ext cx="8229600" cy="2286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tachy</a:t>
                      </a:r>
                      <a:r>
                        <a:rPr lang="en-US" alt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fast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trans-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across, through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ultra-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beyond, excess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 err="1"/>
                        <a:t>uni</a:t>
                      </a:r>
                      <a:r>
                        <a:rPr lang="en-US" altLang="en-US" sz="2400" b="1" dirty="0"/>
                        <a:t>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71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800" dirty="0"/>
              <a:t> 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1 of 3)	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286000"/>
            <a:ext cx="6858000" cy="3962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/>
              <a:t>1.  Which term means a muscle that draws a limb TOWARD the body? (Watch spelling!)</a:t>
            </a:r>
          </a:p>
          <a:p>
            <a:pPr marL="533400" indent="-53340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/>
              <a:t>	A.  </a:t>
            </a:r>
            <a:r>
              <a:rPr lang="en-US" altLang="en-US" dirty="0" err="1"/>
              <a:t>Adducter</a:t>
            </a:r>
            <a:endParaRPr lang="en-US" altLang="en-US" dirty="0"/>
          </a:p>
          <a:p>
            <a:pPr marL="533400" indent="-53340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/>
              <a:t>	B.  Abductor</a:t>
            </a:r>
          </a:p>
          <a:p>
            <a:pPr marL="533400" indent="-53340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/>
              <a:t>	C.  Adductor</a:t>
            </a:r>
          </a:p>
          <a:p>
            <a:pPr marL="533400" indent="-53340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/>
              <a:t>	D.  </a:t>
            </a:r>
            <a:r>
              <a:rPr lang="en-US" altLang="en-US" dirty="0" err="1"/>
              <a:t>Abducter</a:t>
            </a:r>
            <a:endParaRPr lang="en-US" altLang="en-US" dirty="0"/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72400" cy="1219200"/>
          </a:xfrm>
        </p:spPr>
        <p:txBody>
          <a:bodyPr/>
          <a:lstStyle/>
          <a:p>
            <a:pPr algn="r" eaLnBrk="1" hangingPunct="1"/>
            <a:r>
              <a:rPr lang="en-US" altLang="en-US" sz="5400" b="1" dirty="0"/>
              <a:t>QUICK QUIZ</a:t>
            </a:r>
            <a:r>
              <a:rPr lang="en-US" altLang="en-US" sz="5400" b="1" dirty="0">
                <a:sym typeface="Wingdings" panose="05000000000000000000" pitchFamily="2" charset="2"/>
              </a:rPr>
              <a:t> </a:t>
            </a:r>
            <a:r>
              <a:rPr lang="en-US" altLang="en-US" dirty="0">
                <a:sym typeface="Wingdings" panose="05000000000000000000" pitchFamily="2" charset="2"/>
              </a:rPr>
              <a:t>(Slide 2 of 3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r>
              <a:rPr lang="en-US" altLang="ja-JP" dirty="0"/>
              <a:t>	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2209800"/>
            <a:ext cx="6553200" cy="37338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2.  Which term means painful breathing?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Dyspnea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Dysplasia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Apnea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</a:t>
            </a:r>
            <a:r>
              <a:rPr lang="en-US" altLang="en-US" dirty="0" err="1"/>
              <a:t>Cephalgia</a:t>
            </a:r>
            <a:endParaRPr lang="en-US" altLang="en-US" dirty="0"/>
          </a:p>
          <a:p>
            <a:pPr marL="533400" indent="-533400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A Closer Look:  </a:t>
            </a:r>
            <a:br>
              <a:rPr lang="en-US" altLang="en-US" b="1" dirty="0"/>
            </a:br>
            <a:r>
              <a:rPr lang="en-US" altLang="en-US" sz="3600" dirty="0"/>
              <a:t>Antigens and Antibodies; the Rh Condition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22893"/>
            <a:ext cx="8229600" cy="384930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i="1" dirty="0"/>
              <a:t>Background on Rh Condition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Antigen:</a:t>
            </a:r>
            <a:r>
              <a:rPr lang="en-US" altLang="en-US" dirty="0"/>
              <a:t> A substance, usually foreign to the body, that stimulates the production of antibodies.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Antibodies:</a:t>
            </a:r>
            <a:r>
              <a:rPr lang="en-US" altLang="en-US" dirty="0"/>
              <a:t> Protein substances made by white blood cells in response to the presence of foreign antigens.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9392" y="7620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Rh Condition (Slide 1 of 2)</a:t>
            </a:r>
            <a:endParaRPr lang="en-US" altLang="en-US" sz="2400" b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590800"/>
            <a:ext cx="7620000" cy="2895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Rh Condition:</a:t>
            </a:r>
            <a:r>
              <a:rPr lang="en-US" altLang="en-US" dirty="0"/>
              <a:t> An antigen-antibody condition that develops when there is a difference in Rh blood factor between that of the pregnant mother (Rh negative) and that of the fetus (Rh positive).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Rh Condition (Slide 2 of 2)</a:t>
            </a:r>
            <a:endParaRPr lang="es-419" dirty="0"/>
          </a:p>
        </p:txBody>
      </p:sp>
      <p:pic>
        <p:nvPicPr>
          <p:cNvPr id="5" name="Content Placeholder 4" descr="Rh condition is an example of antigen-antibody reaction of an Rh-negative mother and Rh-positive baby during pregnancy. People who are Rh-negative have normal RBCs, but their red cells lack the Rh factor antigen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823561"/>
            <a:ext cx="6210300" cy="3777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5268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4800" dirty="0"/>
              <a:t>  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3 of 3)	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2133600"/>
            <a:ext cx="6553200" cy="35814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3.  Antibodies are made by what type of cell?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Platelets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Leukocytes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Thrombocytes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Erythrocytes</a:t>
            </a:r>
          </a:p>
          <a:p>
            <a:pPr marL="533400" indent="-533400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A Closer Look: </a:t>
            </a:r>
            <a:br>
              <a:rPr lang="en-US" altLang="en-US" dirty="0"/>
            </a:br>
            <a:r>
              <a:rPr lang="en-US" altLang="en-US" sz="3600" dirty="0"/>
              <a:t>Congenital Anomaly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8077200" cy="4419600"/>
          </a:xfrm>
        </p:spPr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None/>
              <a:defRPr/>
            </a:pPr>
            <a:endParaRPr lang="en-US" sz="14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/>
              <a:t>Congenital anomaly:</a:t>
            </a:r>
            <a:r>
              <a:rPr lang="en-US" dirty="0"/>
              <a:t> An irregularity in a structure or organ that an infant is born with.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Examples are webbed fingers or toes (syndactyly), heart defects, and clubbed feet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Some congenital anomalies are hereditary; others are produced by factors present during pregnancy; for example, </a:t>
            </a:r>
            <a:r>
              <a:rPr lang="en-US" b="1" dirty="0"/>
              <a:t>fetal alcohol syndrome </a:t>
            </a:r>
            <a:r>
              <a:rPr lang="en-US" dirty="0"/>
              <a:t>when a pregnant woman drinks high levels of alcohol, resulting in physical and mental defects in the infant at birth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A Closer Look: </a:t>
            </a:r>
            <a:br>
              <a:rPr lang="en-US" altLang="en-US" dirty="0"/>
            </a:br>
            <a:r>
              <a:rPr lang="en-US" altLang="en-US" sz="3600" dirty="0"/>
              <a:t>Recombinant DNA</a:t>
            </a:r>
          </a:p>
        </p:txBody>
      </p:sp>
      <p:sp>
        <p:nvSpPr>
          <p:cNvPr id="30723" name="Rectangle 5"/>
          <p:cNvSpPr>
            <a:spLocks noGrp="1" noChangeArrowheads="1"/>
          </p:cNvSpPr>
          <p:nvPr>
            <p:ph idx="1"/>
          </p:nvPr>
        </p:nvSpPr>
        <p:spPr>
          <a:xfrm>
            <a:off x="1219200" y="2209800"/>
            <a:ext cx="76200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/>
              <a:t>Recombinant DNA:</a:t>
            </a:r>
            <a:r>
              <a:rPr lang="en-US" altLang="en-US" dirty="0"/>
              <a:t> Taking a gene from one organism and inserting it into the DNA of another organism.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Recombinant techniques are used to manufacture insulin outside the body</a:t>
            </a:r>
          </a:p>
          <a:p>
            <a:r>
              <a:rPr lang="en-US" b="1" dirty="0"/>
              <a:t>CRISPER</a:t>
            </a:r>
            <a:r>
              <a:rPr lang="en-US" dirty="0"/>
              <a:t> is an acronym for a  technique to change DNA sequences and turn off genes or replace them with new versions.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87680" y="560514"/>
            <a:ext cx="8229600" cy="1417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A Closer Look: </a:t>
            </a:r>
            <a:br>
              <a:rPr lang="en-US" altLang="en-US" dirty="0"/>
            </a:br>
            <a:r>
              <a:rPr lang="en-US" altLang="en-US" sz="3600" dirty="0"/>
              <a:t>Syndromes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2133600"/>
            <a:ext cx="7757160" cy="45259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a typeface="ＭＳ Ｐゴシック" charset="0"/>
              </a:rPr>
              <a:t>Syndrome:</a:t>
            </a:r>
            <a:r>
              <a:rPr lang="en-US" dirty="0">
                <a:ea typeface="ＭＳ Ｐゴシック" charset="0"/>
              </a:rPr>
              <a:t> A group of signs or symptoms that commonly occur together and indicate a particular disease or abnormal condition</a:t>
            </a:r>
          </a:p>
          <a:p>
            <a:pPr eaLnBrk="1" fontAlgn="auto" hangingPunct="1">
              <a:spcAft>
                <a:spcPts val="0"/>
              </a:spcAft>
              <a:buFont typeface="Wingdings 2" charset="0"/>
              <a:buChar char=""/>
              <a:defRPr/>
            </a:pPr>
            <a:endParaRPr lang="en-US" sz="1500" dirty="0">
              <a:ea typeface="ＭＳ Ｐゴシック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a typeface="ＭＳ Ｐゴシック" charset="0"/>
              </a:rPr>
              <a:t>Reye syndrome</a:t>
            </a:r>
            <a:r>
              <a:rPr lang="en-US" dirty="0">
                <a:ea typeface="ＭＳ Ｐゴシック" charset="0"/>
              </a:rPr>
              <a:t> is characterized by vomiting, swelling of the brain, increased intracranial pressure, hypoglycemia, and dysfunction of the liver; may occur in children after a viral infection that has been treated with aspirin</a:t>
            </a:r>
            <a:endParaRPr lang="en-US" b="1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A Closer Look: </a:t>
            </a:r>
            <a:br>
              <a:rPr lang="en-US" altLang="en-US" b="1" dirty="0"/>
            </a:br>
            <a:r>
              <a:rPr lang="en-US" altLang="en-US" sz="3200" dirty="0"/>
              <a:t>Transurethral Resection of the Prostate Gland</a:t>
            </a:r>
          </a:p>
        </p:txBody>
      </p:sp>
      <p:sp>
        <p:nvSpPr>
          <p:cNvPr id="58373" name="Rectangle 5"/>
          <p:cNvSpPr>
            <a:spLocks noGrp="1" noChangeArrowheads="1"/>
          </p:cNvSpPr>
          <p:nvPr>
            <p:ph idx="1"/>
          </p:nvPr>
        </p:nvSpPr>
        <p:spPr>
          <a:xfrm>
            <a:off x="1066800" y="2057400"/>
            <a:ext cx="7010400" cy="45259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Char char=""/>
              <a:defRPr/>
            </a:pPr>
            <a:endParaRPr lang="en-US" sz="2400" dirty="0">
              <a:ea typeface="ＭＳ Ｐゴシック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ea typeface="ＭＳ Ｐゴシック" charset="0"/>
              </a:rPr>
              <a:t>Transurethral </a:t>
            </a:r>
            <a:r>
              <a:rPr lang="en-US" dirty="0">
                <a:ea typeface="ＭＳ Ｐゴシック" charset="0"/>
              </a:rPr>
              <a:t>resection of the prostate gland (TURP)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Char char=""/>
              <a:defRPr/>
            </a:pPr>
            <a:endParaRPr lang="en-US" sz="1700" b="1" dirty="0">
              <a:ea typeface="ＭＳ Ｐゴシック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ea typeface="ＭＳ Ｐゴシック" charset="0"/>
              </a:rPr>
              <a:t>A portion of the prostate gland is removed with an instrument passed through (</a:t>
            </a:r>
            <a:r>
              <a:rPr lang="en-US" b="1" dirty="0">
                <a:ea typeface="ＭＳ Ｐゴシック" charset="0"/>
              </a:rPr>
              <a:t>trans-</a:t>
            </a:r>
            <a:r>
              <a:rPr lang="en-US" dirty="0">
                <a:ea typeface="ＭＳ Ｐゴシック" charset="0"/>
              </a:rPr>
              <a:t>) the urethra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Char char=""/>
              <a:defRPr/>
            </a:pPr>
            <a:endParaRPr lang="en-US" sz="1700" dirty="0">
              <a:ea typeface="ＭＳ Ｐゴシック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ea typeface="ＭＳ Ｐゴシック" charset="0"/>
              </a:rPr>
              <a:t>The procedure is indicated when prostatic tissue increases (hyperplasia) and interferes with urination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Char char=""/>
              <a:defRPr/>
            </a:pPr>
            <a:endParaRPr lang="en-US" dirty="0">
              <a:ea typeface="ＭＳ Ｐゴシック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charset="0"/>
              <a:buChar char=""/>
              <a:defRPr/>
            </a:pPr>
            <a:endParaRPr lang="en-US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 Closer Look: </a:t>
            </a:r>
            <a:r>
              <a:rPr lang="en-US" altLang="en-US" sz="3600" dirty="0"/>
              <a:t>Ultrasonography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b="1" dirty="0"/>
              <a:t>Ultrasonography:</a:t>
            </a:r>
            <a:r>
              <a:rPr lang="en-US" dirty="0"/>
              <a:t>               Diagnostic technique using ultrasound waves to produce an image or photograph of an organ or tissue.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b="1" dirty="0"/>
              <a:t>Echocardiogram:</a:t>
            </a:r>
            <a:r>
              <a:rPr lang="en-US" dirty="0"/>
              <a:t>                                                   ultrasound image of the heart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b="1" dirty="0"/>
              <a:t>Sonogram:                                                                          </a:t>
            </a:r>
            <a:r>
              <a:rPr lang="en-US" dirty="0"/>
              <a:t>fetal ultrasound image</a:t>
            </a:r>
            <a:endParaRPr lang="en-US" b="1" dirty="0"/>
          </a:p>
          <a:p>
            <a:endParaRPr lang="es-419" dirty="0"/>
          </a:p>
        </p:txBody>
      </p:sp>
      <p:pic>
        <p:nvPicPr>
          <p:cNvPr id="6" name="Picture 9" descr="Ultrasonography is a diagnostic technique using ultrasound waves to produce an image or photograph of an organ or tissue.  In this sonogram the eyes and the mouth of the fetus are labeled.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12122"/>
            <a:ext cx="4038600" cy="310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447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5434</TotalTime>
  <Words>1447</Words>
  <Application>Microsoft Office PowerPoint</Application>
  <PresentationFormat>On-screen Show (4:3)</PresentationFormat>
  <Paragraphs>325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Wingdings 2</vt:lpstr>
      <vt:lpstr>Office Theme</vt:lpstr>
      <vt:lpstr>The Language of Medicine 13th edition</vt:lpstr>
      <vt:lpstr>Chapter 4 Prefixes</vt:lpstr>
      <vt:lpstr>Chapter Goals</vt:lpstr>
      <vt:lpstr>Combining Forms (Slide 1 of 3)</vt:lpstr>
      <vt:lpstr>Combining Forms (Slide 2 of 3)</vt:lpstr>
      <vt:lpstr>Combining Forms (Slide 3 of 3)</vt:lpstr>
      <vt:lpstr>Suffixes (Slide 1 of 2)</vt:lpstr>
      <vt:lpstr>Suffixes (Slide 2 of 2)</vt:lpstr>
      <vt:lpstr>Chapter 4 Lesson 4.1</vt:lpstr>
      <vt:lpstr>Prefixes and Terminology (Slide 1 of 9)</vt:lpstr>
      <vt:lpstr>Prefixes and Terminology (Slide 2 of 9)</vt:lpstr>
      <vt:lpstr>Prefixes and Terminology (Slide 3 of 9)</vt:lpstr>
      <vt:lpstr>Prefixes and Terminology (Slide 4 of 9)</vt:lpstr>
      <vt:lpstr>Prefixes and Terminology (Slide 5 of 9)</vt:lpstr>
      <vt:lpstr>Prefixes and Terminology (Slide 6 of 9)</vt:lpstr>
      <vt:lpstr>Prefixes and Terminology (Slide 7 of 9)</vt:lpstr>
      <vt:lpstr>Prefixes and Terminology (Slide 8 of 9)</vt:lpstr>
      <vt:lpstr>Prefixes and Terminology (Slide 9 of 9)</vt:lpstr>
      <vt:lpstr>      QUICK QUIZ (Slide 1 of 3) </vt:lpstr>
      <vt:lpstr>QUICK QUIZ (Slide 2 of 3) </vt:lpstr>
      <vt:lpstr>A Closer Look:   Antigens and Antibodies; the Rh Condition</vt:lpstr>
      <vt:lpstr>Rh Condition (Slide 1 of 2)</vt:lpstr>
      <vt:lpstr>Rh Condition (Slide 2 of 2)</vt:lpstr>
      <vt:lpstr>      QUICK QUIZ (Slide 3 of 3) </vt:lpstr>
      <vt:lpstr>A Closer Look:  Congenital Anomaly</vt:lpstr>
      <vt:lpstr>A Closer Look:  Recombinant DNA</vt:lpstr>
      <vt:lpstr>A Closer Look:  Syndromes</vt:lpstr>
      <vt:lpstr>A Closer Look:  Transurethral Resection of the Prostate Gland</vt:lpstr>
      <vt:lpstr>A Closer Look: Ultrasonography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7th Edition Davi-Ellen Chabner, B.A., M.A.T.</dc:title>
  <dc:creator>dell</dc:creator>
  <cp:lastModifiedBy>Jyoti Tyagi (IL-IN)</cp:lastModifiedBy>
  <cp:revision>299</cp:revision>
  <cp:lastPrinted>2007-04-13T22:20:09Z</cp:lastPrinted>
  <dcterms:created xsi:type="dcterms:W3CDTF">2004-11-01T16:15:23Z</dcterms:created>
  <dcterms:modified xsi:type="dcterms:W3CDTF">2023-12-07T04:18:27Z</dcterms:modified>
</cp:coreProperties>
</file>