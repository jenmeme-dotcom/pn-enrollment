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124"/>
  </p:notesMasterIdLst>
  <p:handoutMasterIdLst>
    <p:handoutMasterId r:id="rId125"/>
  </p:handoutMasterIdLst>
  <p:sldIdLst>
    <p:sldId id="332" r:id="rId2"/>
    <p:sldId id="338" r:id="rId3"/>
    <p:sldId id="339"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1" r:id="rId26"/>
    <p:sldId id="362" r:id="rId27"/>
    <p:sldId id="461" r:id="rId28"/>
    <p:sldId id="365" r:id="rId29"/>
    <p:sldId id="366" r:id="rId30"/>
    <p:sldId id="367" r:id="rId31"/>
    <p:sldId id="368" r:id="rId32"/>
    <p:sldId id="369" r:id="rId33"/>
    <p:sldId id="370" r:id="rId34"/>
    <p:sldId id="371" r:id="rId35"/>
    <p:sldId id="372" r:id="rId36"/>
    <p:sldId id="373" r:id="rId37"/>
    <p:sldId id="374" r:id="rId38"/>
    <p:sldId id="375" r:id="rId39"/>
    <p:sldId id="376" r:id="rId40"/>
    <p:sldId id="377" r:id="rId41"/>
    <p:sldId id="378" r:id="rId42"/>
    <p:sldId id="379" r:id="rId43"/>
    <p:sldId id="380" r:id="rId44"/>
    <p:sldId id="381" r:id="rId45"/>
    <p:sldId id="382" r:id="rId46"/>
    <p:sldId id="383" r:id="rId47"/>
    <p:sldId id="384" r:id="rId48"/>
    <p:sldId id="385" r:id="rId49"/>
    <p:sldId id="386" r:id="rId50"/>
    <p:sldId id="387" r:id="rId51"/>
    <p:sldId id="388" r:id="rId52"/>
    <p:sldId id="389" r:id="rId53"/>
    <p:sldId id="390" r:id="rId54"/>
    <p:sldId id="391" r:id="rId55"/>
    <p:sldId id="392" r:id="rId56"/>
    <p:sldId id="393" r:id="rId57"/>
    <p:sldId id="394" r:id="rId58"/>
    <p:sldId id="395" r:id="rId59"/>
    <p:sldId id="396" r:id="rId60"/>
    <p:sldId id="397" r:id="rId61"/>
    <p:sldId id="398" r:id="rId62"/>
    <p:sldId id="399" r:id="rId63"/>
    <p:sldId id="400" r:id="rId64"/>
    <p:sldId id="401" r:id="rId65"/>
    <p:sldId id="402" r:id="rId66"/>
    <p:sldId id="403" r:id="rId67"/>
    <p:sldId id="404" r:id="rId68"/>
    <p:sldId id="405" r:id="rId69"/>
    <p:sldId id="406" r:id="rId70"/>
    <p:sldId id="407" r:id="rId71"/>
    <p:sldId id="408" r:id="rId72"/>
    <p:sldId id="409" r:id="rId73"/>
    <p:sldId id="410" r:id="rId74"/>
    <p:sldId id="412" r:id="rId75"/>
    <p:sldId id="413" r:id="rId76"/>
    <p:sldId id="414" r:id="rId77"/>
    <p:sldId id="415" r:id="rId78"/>
    <p:sldId id="416" r:id="rId79"/>
    <p:sldId id="417" r:id="rId80"/>
    <p:sldId id="418" r:id="rId81"/>
    <p:sldId id="419" r:id="rId82"/>
    <p:sldId id="420" r:id="rId83"/>
    <p:sldId id="421" r:id="rId84"/>
    <p:sldId id="422" r:id="rId85"/>
    <p:sldId id="423" r:id="rId86"/>
    <p:sldId id="424" r:id="rId87"/>
    <p:sldId id="425" r:id="rId88"/>
    <p:sldId id="426" r:id="rId89"/>
    <p:sldId id="427" r:id="rId90"/>
    <p:sldId id="428" r:id="rId91"/>
    <p:sldId id="429" r:id="rId92"/>
    <p:sldId id="430" r:id="rId93"/>
    <p:sldId id="431" r:id="rId94"/>
    <p:sldId id="432" r:id="rId95"/>
    <p:sldId id="433" r:id="rId96"/>
    <p:sldId id="434" r:id="rId97"/>
    <p:sldId id="435" r:id="rId98"/>
    <p:sldId id="436" r:id="rId99"/>
    <p:sldId id="437" r:id="rId100"/>
    <p:sldId id="438" r:id="rId101"/>
    <p:sldId id="439" r:id="rId102"/>
    <p:sldId id="440" r:id="rId103"/>
    <p:sldId id="441" r:id="rId104"/>
    <p:sldId id="442" r:id="rId105"/>
    <p:sldId id="443" r:id="rId106"/>
    <p:sldId id="444" r:id="rId107"/>
    <p:sldId id="445" r:id="rId108"/>
    <p:sldId id="446" r:id="rId109"/>
    <p:sldId id="447" r:id="rId110"/>
    <p:sldId id="448" r:id="rId111"/>
    <p:sldId id="449" r:id="rId112"/>
    <p:sldId id="450" r:id="rId113"/>
    <p:sldId id="451" r:id="rId114"/>
    <p:sldId id="452" r:id="rId115"/>
    <p:sldId id="453" r:id="rId116"/>
    <p:sldId id="454" r:id="rId117"/>
    <p:sldId id="455" r:id="rId118"/>
    <p:sldId id="456" r:id="rId119"/>
    <p:sldId id="457" r:id="rId120"/>
    <p:sldId id="460" r:id="rId121"/>
    <p:sldId id="458" r:id="rId122"/>
    <p:sldId id="459" r:id="rId12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69" autoAdjust="0"/>
    <p:restoredTop sz="80777" autoAdjust="0"/>
  </p:normalViewPr>
  <p:slideViewPr>
    <p:cSldViewPr>
      <p:cViewPr varScale="1">
        <p:scale>
          <a:sx n="51" d="100"/>
          <a:sy n="51" d="100"/>
        </p:scale>
        <p:origin x="1612"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microsoft.com/office/2016/11/relationships/changesInfo" Target="changesInfos/changesInfo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A6619264-D14C-4133-9370-154F4331A3FA}"/>
    <pc:docChg chg="modSld modMainMaster">
      <pc:chgData name="Ben Pfeifer" userId="fb68dd40a6c6cee7" providerId="LiveId" clId="{A6619264-D14C-4133-9370-154F4331A3FA}" dt="2023-09-26T08:54:22.678" v="30" actId="12385"/>
      <pc:docMkLst>
        <pc:docMk/>
      </pc:docMkLst>
      <pc:sldChg chg="modSp mod">
        <pc:chgData name="Ben Pfeifer" userId="fb68dd40a6c6cee7" providerId="LiveId" clId="{A6619264-D14C-4133-9370-154F4331A3FA}" dt="2023-09-26T08:50:26.196" v="1" actId="20577"/>
        <pc:sldMkLst>
          <pc:docMk/>
          <pc:sldMk cId="1428288934" sldId="332"/>
        </pc:sldMkLst>
        <pc:spChg chg="mod">
          <ac:chgData name="Ben Pfeifer" userId="fb68dd40a6c6cee7" providerId="LiveId" clId="{A6619264-D14C-4133-9370-154F4331A3FA}" dt="2023-09-26T08:50:26.196" v="1" actId="20577"/>
          <ac:spMkLst>
            <pc:docMk/>
            <pc:sldMk cId="1428288934" sldId="332"/>
            <ac:spMk id="2" creationId="{00000000-0000-0000-0000-000000000000}"/>
          </ac:spMkLst>
        </pc:spChg>
      </pc:sldChg>
      <pc:sldChg chg="modSp mod">
        <pc:chgData name="Ben Pfeifer" userId="fb68dd40a6c6cee7" providerId="LiveId" clId="{A6619264-D14C-4133-9370-154F4331A3FA}" dt="2023-09-26T08:53:02.683" v="10" actId="12385"/>
        <pc:sldMkLst>
          <pc:docMk/>
          <pc:sldMk cId="640049650" sldId="401"/>
        </pc:sldMkLst>
        <pc:graphicFrameChg chg="modGraphic">
          <ac:chgData name="Ben Pfeifer" userId="fb68dd40a6c6cee7" providerId="LiveId" clId="{A6619264-D14C-4133-9370-154F4331A3FA}" dt="2023-09-26T08:53:02.683" v="10" actId="12385"/>
          <ac:graphicFrameMkLst>
            <pc:docMk/>
            <pc:sldMk cId="640049650" sldId="401"/>
            <ac:graphicFrameMk id="9" creationId="{00000000-0000-0000-0000-000000000000}"/>
          </ac:graphicFrameMkLst>
        </pc:graphicFrameChg>
      </pc:sldChg>
      <pc:sldChg chg="modSp mod">
        <pc:chgData name="Ben Pfeifer" userId="fb68dd40a6c6cee7" providerId="LiveId" clId="{A6619264-D14C-4133-9370-154F4331A3FA}" dt="2023-09-26T08:53:05.282" v="11" actId="12385"/>
        <pc:sldMkLst>
          <pc:docMk/>
          <pc:sldMk cId="1253382822" sldId="402"/>
        </pc:sldMkLst>
        <pc:graphicFrameChg chg="modGraphic">
          <ac:chgData name="Ben Pfeifer" userId="fb68dd40a6c6cee7" providerId="LiveId" clId="{A6619264-D14C-4133-9370-154F4331A3FA}" dt="2023-09-26T08:53:05.282" v="11" actId="12385"/>
          <ac:graphicFrameMkLst>
            <pc:docMk/>
            <pc:sldMk cId="1253382822" sldId="402"/>
            <ac:graphicFrameMk id="9" creationId="{00000000-0000-0000-0000-000000000000}"/>
          </ac:graphicFrameMkLst>
        </pc:graphicFrameChg>
      </pc:sldChg>
      <pc:sldChg chg="modSp mod">
        <pc:chgData name="Ben Pfeifer" userId="fb68dd40a6c6cee7" providerId="LiveId" clId="{A6619264-D14C-4133-9370-154F4331A3FA}" dt="2023-09-26T08:53:07.782" v="12" actId="12385"/>
        <pc:sldMkLst>
          <pc:docMk/>
          <pc:sldMk cId="3152771218" sldId="403"/>
        </pc:sldMkLst>
        <pc:graphicFrameChg chg="modGraphic">
          <ac:chgData name="Ben Pfeifer" userId="fb68dd40a6c6cee7" providerId="LiveId" clId="{A6619264-D14C-4133-9370-154F4331A3FA}" dt="2023-09-26T08:53:07.782" v="12" actId="12385"/>
          <ac:graphicFrameMkLst>
            <pc:docMk/>
            <pc:sldMk cId="3152771218" sldId="403"/>
            <ac:graphicFrameMk id="9" creationId="{00000000-0000-0000-0000-000000000000}"/>
          </ac:graphicFrameMkLst>
        </pc:graphicFrameChg>
      </pc:sldChg>
      <pc:sldChg chg="modSp mod">
        <pc:chgData name="Ben Pfeifer" userId="fb68dd40a6c6cee7" providerId="LiveId" clId="{A6619264-D14C-4133-9370-154F4331A3FA}" dt="2023-09-26T08:53:17.843" v="13" actId="12385"/>
        <pc:sldMkLst>
          <pc:docMk/>
          <pc:sldMk cId="2244218618" sldId="404"/>
        </pc:sldMkLst>
        <pc:graphicFrameChg chg="modGraphic">
          <ac:chgData name="Ben Pfeifer" userId="fb68dd40a6c6cee7" providerId="LiveId" clId="{A6619264-D14C-4133-9370-154F4331A3FA}" dt="2023-09-26T08:53:17.843" v="13" actId="12385"/>
          <ac:graphicFrameMkLst>
            <pc:docMk/>
            <pc:sldMk cId="2244218618" sldId="404"/>
            <ac:graphicFrameMk id="9" creationId="{00000000-0000-0000-0000-000000000000}"/>
          </ac:graphicFrameMkLst>
        </pc:graphicFrameChg>
      </pc:sldChg>
      <pc:sldChg chg="modSp mod">
        <pc:chgData name="Ben Pfeifer" userId="fb68dd40a6c6cee7" providerId="LiveId" clId="{A6619264-D14C-4133-9370-154F4331A3FA}" dt="2023-09-26T08:53:20.162" v="14" actId="12385"/>
        <pc:sldMkLst>
          <pc:docMk/>
          <pc:sldMk cId="2739341536" sldId="405"/>
        </pc:sldMkLst>
        <pc:graphicFrameChg chg="modGraphic">
          <ac:chgData name="Ben Pfeifer" userId="fb68dd40a6c6cee7" providerId="LiveId" clId="{A6619264-D14C-4133-9370-154F4331A3FA}" dt="2023-09-26T08:53:20.162" v="14" actId="12385"/>
          <ac:graphicFrameMkLst>
            <pc:docMk/>
            <pc:sldMk cId="2739341536" sldId="405"/>
            <ac:graphicFrameMk id="9" creationId="{00000000-0000-0000-0000-000000000000}"/>
          </ac:graphicFrameMkLst>
        </pc:graphicFrameChg>
      </pc:sldChg>
      <pc:sldChg chg="modSp mod">
        <pc:chgData name="Ben Pfeifer" userId="fb68dd40a6c6cee7" providerId="LiveId" clId="{A6619264-D14C-4133-9370-154F4331A3FA}" dt="2023-09-26T08:53:23.139" v="15" actId="12385"/>
        <pc:sldMkLst>
          <pc:docMk/>
          <pc:sldMk cId="2992863393" sldId="406"/>
        </pc:sldMkLst>
        <pc:graphicFrameChg chg="modGraphic">
          <ac:chgData name="Ben Pfeifer" userId="fb68dd40a6c6cee7" providerId="LiveId" clId="{A6619264-D14C-4133-9370-154F4331A3FA}" dt="2023-09-26T08:53:23.139" v="15" actId="12385"/>
          <ac:graphicFrameMkLst>
            <pc:docMk/>
            <pc:sldMk cId="2992863393" sldId="406"/>
            <ac:graphicFrameMk id="9" creationId="{00000000-0000-0000-0000-000000000000}"/>
          </ac:graphicFrameMkLst>
        </pc:graphicFrameChg>
      </pc:sldChg>
      <pc:sldChg chg="modSp mod">
        <pc:chgData name="Ben Pfeifer" userId="fb68dd40a6c6cee7" providerId="LiveId" clId="{A6619264-D14C-4133-9370-154F4331A3FA}" dt="2023-09-26T08:53:25.680" v="16" actId="12385"/>
        <pc:sldMkLst>
          <pc:docMk/>
          <pc:sldMk cId="3625868838" sldId="407"/>
        </pc:sldMkLst>
        <pc:graphicFrameChg chg="modGraphic">
          <ac:chgData name="Ben Pfeifer" userId="fb68dd40a6c6cee7" providerId="LiveId" clId="{A6619264-D14C-4133-9370-154F4331A3FA}" dt="2023-09-26T08:53:25.680" v="16" actId="12385"/>
          <ac:graphicFrameMkLst>
            <pc:docMk/>
            <pc:sldMk cId="3625868838" sldId="407"/>
            <ac:graphicFrameMk id="9" creationId="{00000000-0000-0000-0000-000000000000}"/>
          </ac:graphicFrameMkLst>
        </pc:graphicFrameChg>
      </pc:sldChg>
      <pc:sldChg chg="modSp mod">
        <pc:chgData name="Ben Pfeifer" userId="fb68dd40a6c6cee7" providerId="LiveId" clId="{A6619264-D14C-4133-9370-154F4331A3FA}" dt="2023-09-26T08:53:28.321" v="17" actId="12385"/>
        <pc:sldMkLst>
          <pc:docMk/>
          <pc:sldMk cId="550784888" sldId="408"/>
        </pc:sldMkLst>
        <pc:graphicFrameChg chg="modGraphic">
          <ac:chgData name="Ben Pfeifer" userId="fb68dd40a6c6cee7" providerId="LiveId" clId="{A6619264-D14C-4133-9370-154F4331A3FA}" dt="2023-09-26T08:53:28.321" v="17" actId="12385"/>
          <ac:graphicFrameMkLst>
            <pc:docMk/>
            <pc:sldMk cId="550784888" sldId="408"/>
            <ac:graphicFrameMk id="9" creationId="{00000000-0000-0000-0000-000000000000}"/>
          </ac:graphicFrameMkLst>
        </pc:graphicFrameChg>
      </pc:sldChg>
      <pc:sldChg chg="modSp mod">
        <pc:chgData name="Ben Pfeifer" userId="fb68dd40a6c6cee7" providerId="LiveId" clId="{A6619264-D14C-4133-9370-154F4331A3FA}" dt="2023-09-26T08:52:56.570" v="9" actId="13244"/>
        <pc:sldMkLst>
          <pc:docMk/>
          <pc:sldMk cId="211582744" sldId="416"/>
        </pc:sldMkLst>
        <pc:picChg chg="ord">
          <ac:chgData name="Ben Pfeifer" userId="fb68dd40a6c6cee7" providerId="LiveId" clId="{A6619264-D14C-4133-9370-154F4331A3FA}" dt="2023-09-26T08:52:53.776" v="8" actId="13244"/>
          <ac:picMkLst>
            <pc:docMk/>
            <pc:sldMk cId="211582744" sldId="416"/>
            <ac:picMk id="7" creationId="{00000000-0000-0000-0000-000000000000}"/>
          </ac:picMkLst>
        </pc:picChg>
        <pc:picChg chg="ord">
          <ac:chgData name="Ben Pfeifer" userId="fb68dd40a6c6cee7" providerId="LiveId" clId="{A6619264-D14C-4133-9370-154F4331A3FA}" dt="2023-09-26T08:52:56.570" v="9" actId="13244"/>
          <ac:picMkLst>
            <pc:docMk/>
            <pc:sldMk cId="211582744" sldId="416"/>
            <ac:picMk id="8" creationId="{00000000-0000-0000-0000-000000000000}"/>
          </ac:picMkLst>
        </pc:picChg>
      </pc:sldChg>
      <pc:sldChg chg="modSp mod">
        <pc:chgData name="Ben Pfeifer" userId="fb68dd40a6c6cee7" providerId="LiveId" clId="{A6619264-D14C-4133-9370-154F4331A3FA}" dt="2023-09-26T08:53:31.277" v="18" actId="12385"/>
        <pc:sldMkLst>
          <pc:docMk/>
          <pc:sldMk cId="569862143" sldId="424"/>
        </pc:sldMkLst>
        <pc:graphicFrameChg chg="modGraphic">
          <ac:chgData name="Ben Pfeifer" userId="fb68dd40a6c6cee7" providerId="LiveId" clId="{A6619264-D14C-4133-9370-154F4331A3FA}" dt="2023-09-26T08:53:31.277" v="18" actId="12385"/>
          <ac:graphicFrameMkLst>
            <pc:docMk/>
            <pc:sldMk cId="569862143" sldId="424"/>
            <ac:graphicFrameMk id="9" creationId="{00000000-0000-0000-0000-000000000000}"/>
          </ac:graphicFrameMkLst>
        </pc:graphicFrameChg>
      </pc:sldChg>
      <pc:sldChg chg="modSp mod">
        <pc:chgData name="Ben Pfeifer" userId="fb68dd40a6c6cee7" providerId="LiveId" clId="{A6619264-D14C-4133-9370-154F4331A3FA}" dt="2023-09-26T08:53:34.745" v="19" actId="12385"/>
        <pc:sldMkLst>
          <pc:docMk/>
          <pc:sldMk cId="2203082198" sldId="425"/>
        </pc:sldMkLst>
        <pc:graphicFrameChg chg="modGraphic">
          <ac:chgData name="Ben Pfeifer" userId="fb68dd40a6c6cee7" providerId="LiveId" clId="{A6619264-D14C-4133-9370-154F4331A3FA}" dt="2023-09-26T08:53:34.745" v="19" actId="12385"/>
          <ac:graphicFrameMkLst>
            <pc:docMk/>
            <pc:sldMk cId="2203082198" sldId="425"/>
            <ac:graphicFrameMk id="9" creationId="{00000000-0000-0000-0000-000000000000}"/>
          </ac:graphicFrameMkLst>
        </pc:graphicFrameChg>
      </pc:sldChg>
      <pc:sldChg chg="modSp mod">
        <pc:chgData name="Ben Pfeifer" userId="fb68dd40a6c6cee7" providerId="LiveId" clId="{A6619264-D14C-4133-9370-154F4331A3FA}" dt="2023-09-26T08:53:40.122" v="20" actId="12385"/>
        <pc:sldMkLst>
          <pc:docMk/>
          <pc:sldMk cId="3617424813" sldId="426"/>
        </pc:sldMkLst>
        <pc:graphicFrameChg chg="modGraphic">
          <ac:chgData name="Ben Pfeifer" userId="fb68dd40a6c6cee7" providerId="LiveId" clId="{A6619264-D14C-4133-9370-154F4331A3FA}" dt="2023-09-26T08:53:40.122" v="20" actId="12385"/>
          <ac:graphicFrameMkLst>
            <pc:docMk/>
            <pc:sldMk cId="3617424813" sldId="426"/>
            <ac:graphicFrameMk id="9" creationId="{00000000-0000-0000-0000-000000000000}"/>
          </ac:graphicFrameMkLst>
        </pc:graphicFrameChg>
      </pc:sldChg>
      <pc:sldChg chg="modSp mod">
        <pc:chgData name="Ben Pfeifer" userId="fb68dd40a6c6cee7" providerId="LiveId" clId="{A6619264-D14C-4133-9370-154F4331A3FA}" dt="2023-09-26T08:53:43.356" v="21" actId="12385"/>
        <pc:sldMkLst>
          <pc:docMk/>
          <pc:sldMk cId="3855068892" sldId="448"/>
        </pc:sldMkLst>
        <pc:graphicFrameChg chg="modGraphic">
          <ac:chgData name="Ben Pfeifer" userId="fb68dd40a6c6cee7" providerId="LiveId" clId="{A6619264-D14C-4133-9370-154F4331A3FA}" dt="2023-09-26T08:53:43.356" v="21" actId="12385"/>
          <ac:graphicFrameMkLst>
            <pc:docMk/>
            <pc:sldMk cId="3855068892" sldId="448"/>
            <ac:graphicFrameMk id="9" creationId="{00000000-0000-0000-0000-000000000000}"/>
          </ac:graphicFrameMkLst>
        </pc:graphicFrameChg>
      </pc:sldChg>
      <pc:sldChg chg="modSp mod">
        <pc:chgData name="Ben Pfeifer" userId="fb68dd40a6c6cee7" providerId="LiveId" clId="{A6619264-D14C-4133-9370-154F4331A3FA}" dt="2023-09-26T08:53:46.792" v="22" actId="12385"/>
        <pc:sldMkLst>
          <pc:docMk/>
          <pc:sldMk cId="1506844262" sldId="449"/>
        </pc:sldMkLst>
        <pc:graphicFrameChg chg="modGraphic">
          <ac:chgData name="Ben Pfeifer" userId="fb68dd40a6c6cee7" providerId="LiveId" clId="{A6619264-D14C-4133-9370-154F4331A3FA}" dt="2023-09-26T08:53:46.792" v="22" actId="12385"/>
          <ac:graphicFrameMkLst>
            <pc:docMk/>
            <pc:sldMk cId="1506844262" sldId="449"/>
            <ac:graphicFrameMk id="9" creationId="{00000000-0000-0000-0000-000000000000}"/>
          </ac:graphicFrameMkLst>
        </pc:graphicFrameChg>
      </pc:sldChg>
      <pc:sldChg chg="modSp mod">
        <pc:chgData name="Ben Pfeifer" userId="fb68dd40a6c6cee7" providerId="LiveId" clId="{A6619264-D14C-4133-9370-154F4331A3FA}" dt="2023-09-26T08:53:49.348" v="23" actId="12385"/>
        <pc:sldMkLst>
          <pc:docMk/>
          <pc:sldMk cId="1793143010" sldId="450"/>
        </pc:sldMkLst>
        <pc:graphicFrameChg chg="modGraphic">
          <ac:chgData name="Ben Pfeifer" userId="fb68dd40a6c6cee7" providerId="LiveId" clId="{A6619264-D14C-4133-9370-154F4331A3FA}" dt="2023-09-26T08:53:49.348" v="23" actId="12385"/>
          <ac:graphicFrameMkLst>
            <pc:docMk/>
            <pc:sldMk cId="1793143010" sldId="450"/>
            <ac:graphicFrameMk id="9" creationId="{00000000-0000-0000-0000-000000000000}"/>
          </ac:graphicFrameMkLst>
        </pc:graphicFrameChg>
      </pc:sldChg>
      <pc:sldChg chg="modSp mod">
        <pc:chgData name="Ben Pfeifer" userId="fb68dd40a6c6cee7" providerId="LiveId" clId="{A6619264-D14C-4133-9370-154F4331A3FA}" dt="2023-09-26T08:53:52.908" v="24" actId="12385"/>
        <pc:sldMkLst>
          <pc:docMk/>
          <pc:sldMk cId="3573649361" sldId="451"/>
        </pc:sldMkLst>
        <pc:graphicFrameChg chg="modGraphic">
          <ac:chgData name="Ben Pfeifer" userId="fb68dd40a6c6cee7" providerId="LiveId" clId="{A6619264-D14C-4133-9370-154F4331A3FA}" dt="2023-09-26T08:53:52.908" v="24" actId="12385"/>
          <ac:graphicFrameMkLst>
            <pc:docMk/>
            <pc:sldMk cId="3573649361" sldId="451"/>
            <ac:graphicFrameMk id="9" creationId="{00000000-0000-0000-0000-000000000000}"/>
          </ac:graphicFrameMkLst>
        </pc:graphicFrameChg>
      </pc:sldChg>
      <pc:sldChg chg="modSp mod">
        <pc:chgData name="Ben Pfeifer" userId="fb68dd40a6c6cee7" providerId="LiveId" clId="{A6619264-D14C-4133-9370-154F4331A3FA}" dt="2023-09-26T08:53:56.624" v="25" actId="12385"/>
        <pc:sldMkLst>
          <pc:docMk/>
          <pc:sldMk cId="3455085171" sldId="455"/>
        </pc:sldMkLst>
        <pc:graphicFrameChg chg="modGraphic">
          <ac:chgData name="Ben Pfeifer" userId="fb68dd40a6c6cee7" providerId="LiveId" clId="{A6619264-D14C-4133-9370-154F4331A3FA}" dt="2023-09-26T08:53:56.624" v="25" actId="12385"/>
          <ac:graphicFrameMkLst>
            <pc:docMk/>
            <pc:sldMk cId="3455085171" sldId="455"/>
            <ac:graphicFrameMk id="9" creationId="{00000000-0000-0000-0000-000000000000}"/>
          </ac:graphicFrameMkLst>
        </pc:graphicFrameChg>
      </pc:sldChg>
      <pc:sldChg chg="modSp mod">
        <pc:chgData name="Ben Pfeifer" userId="fb68dd40a6c6cee7" providerId="LiveId" clId="{A6619264-D14C-4133-9370-154F4331A3FA}" dt="2023-09-26T08:53:59.482" v="26" actId="12385"/>
        <pc:sldMkLst>
          <pc:docMk/>
          <pc:sldMk cId="156408806" sldId="456"/>
        </pc:sldMkLst>
        <pc:graphicFrameChg chg="modGraphic">
          <ac:chgData name="Ben Pfeifer" userId="fb68dd40a6c6cee7" providerId="LiveId" clId="{A6619264-D14C-4133-9370-154F4331A3FA}" dt="2023-09-26T08:53:59.482" v="26" actId="12385"/>
          <ac:graphicFrameMkLst>
            <pc:docMk/>
            <pc:sldMk cId="156408806" sldId="456"/>
            <ac:graphicFrameMk id="9" creationId="{00000000-0000-0000-0000-000000000000}"/>
          </ac:graphicFrameMkLst>
        </pc:graphicFrameChg>
      </pc:sldChg>
      <pc:sldChg chg="modSp mod">
        <pc:chgData name="Ben Pfeifer" userId="fb68dd40a6c6cee7" providerId="LiveId" clId="{A6619264-D14C-4133-9370-154F4331A3FA}" dt="2023-09-26T08:54:02.161" v="27" actId="12385"/>
        <pc:sldMkLst>
          <pc:docMk/>
          <pc:sldMk cId="3984421176" sldId="457"/>
        </pc:sldMkLst>
        <pc:graphicFrameChg chg="modGraphic">
          <ac:chgData name="Ben Pfeifer" userId="fb68dd40a6c6cee7" providerId="LiveId" clId="{A6619264-D14C-4133-9370-154F4331A3FA}" dt="2023-09-26T08:54:02.161" v="27" actId="12385"/>
          <ac:graphicFrameMkLst>
            <pc:docMk/>
            <pc:sldMk cId="3984421176" sldId="457"/>
            <ac:graphicFrameMk id="9" creationId="{00000000-0000-0000-0000-000000000000}"/>
          </ac:graphicFrameMkLst>
        </pc:graphicFrameChg>
      </pc:sldChg>
      <pc:sldChg chg="modSp mod">
        <pc:chgData name="Ben Pfeifer" userId="fb68dd40a6c6cee7" providerId="LiveId" clId="{A6619264-D14C-4133-9370-154F4331A3FA}" dt="2023-09-26T08:54:19.570" v="29" actId="12385"/>
        <pc:sldMkLst>
          <pc:docMk/>
          <pc:sldMk cId="3169748233" sldId="458"/>
        </pc:sldMkLst>
        <pc:graphicFrameChg chg="modGraphic">
          <ac:chgData name="Ben Pfeifer" userId="fb68dd40a6c6cee7" providerId="LiveId" clId="{A6619264-D14C-4133-9370-154F4331A3FA}" dt="2023-09-26T08:54:19.570" v="29" actId="12385"/>
          <ac:graphicFrameMkLst>
            <pc:docMk/>
            <pc:sldMk cId="3169748233" sldId="458"/>
            <ac:graphicFrameMk id="9" creationId="{00000000-0000-0000-0000-000000000000}"/>
          </ac:graphicFrameMkLst>
        </pc:graphicFrameChg>
      </pc:sldChg>
      <pc:sldChg chg="modSp mod">
        <pc:chgData name="Ben Pfeifer" userId="fb68dd40a6c6cee7" providerId="LiveId" clId="{A6619264-D14C-4133-9370-154F4331A3FA}" dt="2023-09-26T08:54:22.678" v="30" actId="12385"/>
        <pc:sldMkLst>
          <pc:docMk/>
          <pc:sldMk cId="2819214165" sldId="459"/>
        </pc:sldMkLst>
        <pc:graphicFrameChg chg="modGraphic">
          <ac:chgData name="Ben Pfeifer" userId="fb68dd40a6c6cee7" providerId="LiveId" clId="{A6619264-D14C-4133-9370-154F4331A3FA}" dt="2023-09-26T08:54:22.678" v="30" actId="12385"/>
          <ac:graphicFrameMkLst>
            <pc:docMk/>
            <pc:sldMk cId="2819214165" sldId="459"/>
            <ac:graphicFrameMk id="9" creationId="{00000000-0000-0000-0000-000000000000}"/>
          </ac:graphicFrameMkLst>
        </pc:graphicFrameChg>
      </pc:sldChg>
      <pc:sldChg chg="modSp mod">
        <pc:chgData name="Ben Pfeifer" userId="fb68dd40a6c6cee7" providerId="LiveId" clId="{A6619264-D14C-4133-9370-154F4331A3FA}" dt="2023-09-26T08:54:17.039" v="28" actId="12385"/>
        <pc:sldMkLst>
          <pc:docMk/>
          <pc:sldMk cId="822827476" sldId="460"/>
        </pc:sldMkLst>
        <pc:graphicFrameChg chg="modGraphic">
          <ac:chgData name="Ben Pfeifer" userId="fb68dd40a6c6cee7" providerId="LiveId" clId="{A6619264-D14C-4133-9370-154F4331A3FA}" dt="2023-09-26T08:54:17.039" v="28" actId="12385"/>
          <ac:graphicFrameMkLst>
            <pc:docMk/>
            <pc:sldMk cId="822827476" sldId="460"/>
            <ac:graphicFrameMk id="9" creationId="{00000000-0000-0000-0000-000000000000}"/>
          </ac:graphicFrameMkLst>
        </pc:graphicFrameChg>
      </pc:sldChg>
      <pc:sldMasterChg chg="modSp mod modSldLayout">
        <pc:chgData name="Ben Pfeifer" userId="fb68dd40a6c6cee7" providerId="LiveId" clId="{A6619264-D14C-4133-9370-154F4331A3FA}" dt="2023-09-26T08:51:05.694" v="7" actId="20577"/>
        <pc:sldMasterMkLst>
          <pc:docMk/>
          <pc:sldMasterMk cId="0" sldId="2147483762"/>
        </pc:sldMasterMkLst>
        <pc:spChg chg="mod">
          <ac:chgData name="Ben Pfeifer" userId="fb68dd40a6c6cee7" providerId="LiveId" clId="{A6619264-D14C-4133-9370-154F4331A3FA}" dt="2023-09-26T08:51:05.694" v="7" actId="20577"/>
          <ac:spMkLst>
            <pc:docMk/>
            <pc:sldMasterMk cId="0" sldId="2147483762"/>
            <ac:spMk id="1031" creationId="{00000000-0000-0000-0000-000000000000}"/>
          </ac:spMkLst>
        </pc:spChg>
        <pc:sldLayoutChg chg="modSp mod">
          <pc:chgData name="Ben Pfeifer" userId="fb68dd40a6c6cee7" providerId="LiveId" clId="{A6619264-D14C-4133-9370-154F4331A3FA}" dt="2023-09-26T08:50:47.713" v="2" actId="1076"/>
          <pc:sldLayoutMkLst>
            <pc:docMk/>
            <pc:sldMasterMk cId="0" sldId="2147483762"/>
            <pc:sldLayoutMk cId="156938385" sldId="2147483948"/>
          </pc:sldLayoutMkLst>
          <pc:spChg chg="mod">
            <ac:chgData name="Ben Pfeifer" userId="fb68dd40a6c6cee7" providerId="LiveId" clId="{A6619264-D14C-4133-9370-154F4331A3FA}" dt="2023-09-26T08:50:47.713" v="2" actId="1076"/>
            <ac:spMkLst>
              <pc:docMk/>
              <pc:sldMasterMk cId="0" sldId="2147483762"/>
              <pc:sldLayoutMk cId="156938385" sldId="2147483948"/>
              <ac:spMk id="4"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4CD3AAB2-E252-4217-8DE8-8D00730B95D9}" type="slidenum">
              <a:rPr lang="en-US" altLang="en-US" sz="1200"/>
              <a:pPr/>
              <a:t>2</a:t>
            </a:fld>
            <a:endParaRPr lang="en-US" altLang="en-US" sz="120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728804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E53BD1E-B19D-4DF8-9D74-9131A23A3557}" type="slidenum">
              <a:rPr lang="en-US" altLang="en-US" sz="1200"/>
              <a:pPr/>
              <a:t>3</a:t>
            </a:fld>
            <a:endParaRPr lang="en-US" altLang="en-US" sz="120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lgn="ctr" eaLnBrk="1" hangingPunct="1">
              <a:buFontTx/>
              <a:buNone/>
            </a:pPr>
            <a:r>
              <a:rPr lang="en-US" altLang="en-US" b="1">
                <a:solidFill>
                  <a:schemeClr val="accent2"/>
                </a:solidFill>
                <a:latin typeface="Times New Roman" panose="02020603050405020304" pitchFamily="18" charset="0"/>
              </a:rPr>
              <a:t> </a:t>
            </a:r>
            <a:endParaRPr lang="en-US" altLang="en-US" sz="1600">
              <a:solidFill>
                <a:schemeClr val="accent2"/>
              </a:solidFill>
              <a:latin typeface="Times New Roman" panose="02020603050405020304" pitchFamily="18" charset="0"/>
            </a:endParaRPr>
          </a:p>
        </p:txBody>
      </p:sp>
    </p:spTree>
    <p:extLst>
      <p:ext uri="{BB962C8B-B14F-4D97-AF65-F5344CB8AC3E}">
        <p14:creationId xmlns:p14="http://schemas.microsoft.com/office/powerpoint/2010/main" val="1290811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94E39119-B7E1-4E41-9783-FEECB750F7CD}" type="slidenum">
              <a:rPr lang="en-US" altLang="en-US" sz="1200"/>
              <a:pPr/>
              <a:t>4</a:t>
            </a:fld>
            <a:endParaRPr lang="en-US" altLang="en-US" sz="1200"/>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88720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AA07B4B6-4F77-4723-BA16-6A83DC321DDB}" type="slidenum">
              <a:rPr lang="en-US" altLang="en-US" sz="1200"/>
              <a:pPr/>
              <a:t>5</a:t>
            </a:fld>
            <a:endParaRPr lang="en-US" altLang="en-US" sz="1200"/>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686183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F37279D4-2D12-4D57-B12C-7B7A43B5C102}" type="slidenum">
              <a:rPr lang="en-US" altLang="en-US" sz="1200"/>
              <a:pPr/>
              <a:t>6</a:t>
            </a:fld>
            <a:endParaRPr lang="en-US" altLang="en-US" sz="120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164076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E305BD6E-9D56-46B6-A356-D08547E66325}" type="slidenum">
              <a:rPr lang="en-US" altLang="en-US" sz="1200"/>
              <a:pPr/>
              <a:t>7</a:t>
            </a:fld>
            <a:endParaRPr lang="en-US" altLang="en-US" sz="1200"/>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Which bones are located in the face?</a:t>
            </a:r>
          </a:p>
          <a:p>
            <a:pPr eaLnBrk="1" hangingPunct="1"/>
            <a:r>
              <a:rPr lang="en-US" altLang="en-US">
                <a:latin typeface="Times New Roman" panose="02020603050405020304" pitchFamily="18" charset="0"/>
              </a:rPr>
              <a:t> Which bones support and protect the internal organs of the body?</a:t>
            </a:r>
          </a:p>
          <a:p>
            <a:pPr eaLnBrk="1" hangingPunct="1"/>
            <a:r>
              <a:rPr lang="en-US" altLang="en-US">
                <a:latin typeface="Times New Roman" panose="02020603050405020304" pitchFamily="18" charset="0"/>
              </a:rPr>
              <a:t> Which muscles are most often used when an athlete is in training to run in a marathon?</a:t>
            </a:r>
          </a:p>
          <a:p>
            <a:pPr eaLnBrk="1" hangingPunct="1"/>
            <a:r>
              <a:rPr lang="en-US" altLang="en-US">
                <a:latin typeface="Times New Roman" panose="02020603050405020304" pitchFamily="18" charset="0"/>
              </a:rPr>
              <a:t> What are common joint injuries?</a:t>
            </a: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42399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6E1772A4-4091-4A51-8256-6FBFE5F38340}" type="slidenum">
              <a:rPr lang="en-US" altLang="en-US" sz="1200"/>
              <a:pPr/>
              <a:t>8</a:t>
            </a:fld>
            <a:endParaRPr lang="en-US" altLang="en-US" sz="1200"/>
          </a:p>
        </p:txBody>
      </p:sp>
      <p:sp>
        <p:nvSpPr>
          <p:cNvPr id="143363" name="Rectangle 2"/>
          <p:cNvSpPr>
            <a:spLocks noGrp="1" noRot="1" noChangeAspect="1" noChangeArrowheads="1" noTextEdit="1"/>
          </p:cNvSpPr>
          <p:nvPr>
            <p:ph type="sldImg"/>
          </p:nvPr>
        </p:nvSpPr>
        <p:spPr>
          <a:xfrm>
            <a:off x="1143000" y="533400"/>
            <a:ext cx="4572000" cy="3429000"/>
          </a:xfrm>
          <a:ln/>
        </p:spPr>
      </p:sp>
      <p:sp>
        <p:nvSpPr>
          <p:cNvPr id="1433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28600" indent="-228600" eaLnBrk="1" hangingPunct="1"/>
            <a:r>
              <a:rPr lang="en-US" altLang="en-US">
                <a:latin typeface="Times New Roman" panose="02020603050405020304" pitchFamily="18" charset="0"/>
              </a:rPr>
              <a:t>Ask students who have had a broken bone to report to the class about the situation. Which bone was broken? How long did it take to heal? What was the treatment? Were any tests or procedures given prior to the diagnosis?</a:t>
            </a:r>
          </a:p>
        </p:txBody>
      </p:sp>
    </p:spTree>
    <p:extLst>
      <p:ext uri="{BB962C8B-B14F-4D97-AF65-F5344CB8AC3E}">
        <p14:creationId xmlns:p14="http://schemas.microsoft.com/office/powerpoint/2010/main" val="792828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957C42E8-D45E-43A8-9AA8-AD24213B8026}" type="slidenum">
              <a:rPr lang="en-US" altLang="en-US" sz="1200"/>
              <a:pPr/>
              <a:t>9</a:t>
            </a:fld>
            <a:endParaRPr lang="en-US" altLang="en-US" sz="1200"/>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Discuss bone formation and remodeling throughout life. </a:t>
            </a:r>
          </a:p>
          <a:p>
            <a:pPr eaLnBrk="1" hangingPunct="1"/>
            <a:r>
              <a:rPr lang="en-US" altLang="en-US">
                <a:latin typeface="Times New Roman" panose="02020603050405020304" pitchFamily="18" charset="0"/>
              </a:rPr>
              <a:t> What steps can people take to help with bone formation?</a:t>
            </a:r>
          </a:p>
          <a:p>
            <a:pPr eaLnBrk="1" hangingPunct="1"/>
            <a:r>
              <a:rPr lang="en-US" altLang="en-US">
                <a:latin typeface="Times New Roman" panose="02020603050405020304" pitchFamily="18" charset="0"/>
              </a:rPr>
              <a:t> Calcium: what role does it play? How much is enough? Where can you find it?</a:t>
            </a:r>
          </a:p>
          <a:p>
            <a:pPr eaLnBrk="1" hangingPunct="1"/>
            <a:r>
              <a:rPr lang="en-US" altLang="en-US">
                <a:latin typeface="Times New Roman" panose="02020603050405020304" pitchFamily="18" charset="0"/>
              </a:rPr>
              <a:t> How does phosphorous affect bones?</a:t>
            </a:r>
          </a:p>
          <a:p>
            <a:pPr eaLnBrk="1" hangingPunct="1"/>
            <a:r>
              <a:rPr lang="en-US" altLang="en-US">
                <a:latin typeface="Times New Roman" panose="02020603050405020304" pitchFamily="18" charset="0"/>
              </a:rPr>
              <a:t> Why is Vitamin D so valuable to the bones?</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78770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D339E38-7ED3-44DF-A7B7-56B0F1C1D4DC}" type="slidenum">
              <a:rPr lang="en-US" altLang="en-US" sz="1200"/>
              <a:pPr/>
              <a:t>10</a:t>
            </a:fld>
            <a:endParaRPr lang="en-US" altLang="en-US" sz="1200"/>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Which foods provide Vitamin D? How does Vitamin D affect bones?</a:t>
            </a:r>
          </a:p>
          <a:p>
            <a:pPr eaLnBrk="1" hangingPunct="1"/>
            <a:r>
              <a:rPr lang="en-US" altLang="en-US">
                <a:latin typeface="Times New Roman" panose="02020603050405020304" pitchFamily="18" charset="0"/>
              </a:rPr>
              <a:t> How much Vitamin D do you need per day?</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552994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F40BB55B-0C72-453F-AA96-EFA45B48B680}" type="slidenum">
              <a:rPr lang="en-US" altLang="en-US" sz="1200"/>
              <a:pPr/>
              <a:t>11</a:t>
            </a:fld>
            <a:endParaRPr lang="en-US" altLang="en-US" sz="1200"/>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Where is the parathyroid gland located and how does it function? </a:t>
            </a:r>
          </a:p>
          <a:p>
            <a:pPr eaLnBrk="1" hangingPunct="1"/>
            <a:r>
              <a:rPr lang="en-US" altLang="en-US">
                <a:latin typeface="Times New Roman" panose="02020603050405020304" pitchFamily="18" charset="0"/>
              </a:rPr>
              <a:t> What happens when you have too much calcium?  </a:t>
            </a:r>
          </a:p>
          <a:p>
            <a:pPr eaLnBrk="1" hangingPunct="1"/>
            <a:r>
              <a:rPr lang="en-US" altLang="en-US">
                <a:latin typeface="Times New Roman" panose="02020603050405020304" pitchFamily="18" charset="0"/>
              </a:rPr>
              <a:t> What happens if you have too little calcium?</a:t>
            </a:r>
          </a:p>
        </p:txBody>
      </p:sp>
    </p:spTree>
    <p:extLst>
      <p:ext uri="{BB962C8B-B14F-4D97-AF65-F5344CB8AC3E}">
        <p14:creationId xmlns:p14="http://schemas.microsoft.com/office/powerpoint/2010/main" val="10971605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B5A37034-C0D3-42A9-8EA4-2CD2B769F1DC}" type="slidenum">
              <a:rPr lang="en-US" altLang="en-US" sz="1200"/>
              <a:pPr/>
              <a:t>12</a:t>
            </a:fld>
            <a:endParaRPr lang="en-US" altLang="en-US" sz="1200"/>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minerals and vitamins help with bone formation?</a:t>
            </a:r>
          </a:p>
          <a:p>
            <a:pPr eaLnBrk="1" hangingPunct="1"/>
            <a:r>
              <a:rPr lang="en-US" altLang="en-US">
                <a:latin typeface="Times New Roman" panose="02020603050405020304" pitchFamily="18" charset="0"/>
              </a:rPr>
              <a:t> What happens if a bone is incorrectly formed?  </a:t>
            </a:r>
          </a:p>
        </p:txBody>
      </p:sp>
    </p:spTree>
    <p:extLst>
      <p:ext uri="{BB962C8B-B14F-4D97-AF65-F5344CB8AC3E}">
        <p14:creationId xmlns:p14="http://schemas.microsoft.com/office/powerpoint/2010/main" val="2664181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7D46795-F341-41A6-A121-624F6625C719}" type="slidenum">
              <a:rPr lang="en-US" altLang="en-US" sz="1200"/>
              <a:pPr/>
              <a:t>13</a:t>
            </a:fld>
            <a:endParaRPr lang="en-US" altLang="en-US" sz="1200"/>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Fill in the correct names where the numbers are located using the text.</a:t>
            </a:r>
          </a:p>
        </p:txBody>
      </p:sp>
    </p:spTree>
    <p:extLst>
      <p:ext uri="{BB962C8B-B14F-4D97-AF65-F5344CB8AC3E}">
        <p14:creationId xmlns:p14="http://schemas.microsoft.com/office/powerpoint/2010/main" val="576922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2EA0B74-8C70-45AA-B7CC-A7DECC49E731}" type="slidenum">
              <a:rPr lang="en-US" altLang="en-US" sz="1200"/>
              <a:pPr/>
              <a:t>14</a:t>
            </a:fld>
            <a:endParaRPr lang="en-US" altLang="en-US" sz="120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685266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91D425B-9A95-413A-A414-17DBC212C980}" type="slidenum">
              <a:rPr lang="en-US" altLang="en-US" sz="1200"/>
              <a:pPr/>
              <a:t>15</a:t>
            </a:fld>
            <a:endParaRPr lang="en-US" altLang="en-US" sz="120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Which of these bones is porous? How does this occur?  </a:t>
            </a:r>
          </a:p>
          <a:p>
            <a:pPr eaLnBrk="1" hangingPunct="1"/>
            <a:r>
              <a:rPr lang="en-US" altLang="en-US">
                <a:latin typeface="Times New Roman" panose="02020603050405020304" pitchFamily="18" charset="0"/>
              </a:rPr>
              <a:t> As a child ages, what happens to the red bone marrow? Where is it located in young children? </a:t>
            </a:r>
          </a:p>
        </p:txBody>
      </p:sp>
    </p:spTree>
    <p:extLst>
      <p:ext uri="{BB962C8B-B14F-4D97-AF65-F5344CB8AC3E}">
        <p14:creationId xmlns:p14="http://schemas.microsoft.com/office/powerpoint/2010/main" val="6099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E782CED-0D94-43F4-A3B2-25EBA5A0AF21}" type="slidenum">
              <a:rPr lang="en-US" altLang="en-US" sz="1200"/>
              <a:pPr/>
              <a:t>16</a:t>
            </a:fld>
            <a:endParaRPr lang="en-US" altLang="en-US" sz="1200"/>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is the function of bone marrow?</a:t>
            </a:r>
          </a:p>
        </p:txBody>
      </p:sp>
    </p:spTree>
    <p:extLst>
      <p:ext uri="{BB962C8B-B14F-4D97-AF65-F5344CB8AC3E}">
        <p14:creationId xmlns:p14="http://schemas.microsoft.com/office/powerpoint/2010/main" val="3276456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42FF74B-B8FD-42E9-AAFA-AE92D1D86270}" type="slidenum">
              <a:rPr lang="en-US" altLang="en-US" sz="1200"/>
              <a:pPr/>
              <a:t>17</a:t>
            </a:fld>
            <a:endParaRPr lang="en-US" altLang="en-US" sz="120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are the major named processes and depressions? </a:t>
            </a:r>
          </a:p>
        </p:txBody>
      </p:sp>
    </p:spTree>
    <p:extLst>
      <p:ext uri="{BB962C8B-B14F-4D97-AF65-F5344CB8AC3E}">
        <p14:creationId xmlns:p14="http://schemas.microsoft.com/office/powerpoint/2010/main" val="3220775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CB74DF6-CE0D-4E2C-9BF7-A934F39CA265}" type="slidenum">
              <a:rPr lang="en-US" altLang="en-US" sz="1200"/>
              <a:pPr/>
              <a:t>18</a:t>
            </a:fld>
            <a:endParaRPr lang="en-US" altLang="en-US" sz="1200"/>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398271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19482627-6A9A-43F8-B365-4649A1BED6AE}" type="slidenum">
              <a:rPr lang="en-US" altLang="en-US" sz="1200"/>
              <a:pPr/>
              <a:t>19</a:t>
            </a:fld>
            <a:endParaRPr lang="en-US" altLang="en-US" sz="120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are the important bones of the skull? </a:t>
            </a:r>
          </a:p>
          <a:p>
            <a:pPr eaLnBrk="1" hangingPunct="1"/>
            <a:r>
              <a:rPr lang="en-US" altLang="en-US">
                <a:latin typeface="Times New Roman" panose="02020603050405020304" pitchFamily="18" charset="0"/>
              </a:rPr>
              <a:t> How do they correspond to the brain?</a:t>
            </a:r>
          </a:p>
          <a:p>
            <a:pPr eaLnBrk="1" hangingPunct="1"/>
            <a:r>
              <a:rPr lang="en-US" altLang="en-US">
                <a:latin typeface="Times New Roman" panose="02020603050405020304" pitchFamily="18" charset="0"/>
              </a:rPr>
              <a:t> Why do newborn babies need to have their heads well protected?  </a:t>
            </a:r>
          </a:p>
          <a:p>
            <a:pPr eaLnBrk="1" hangingPunct="1"/>
            <a:r>
              <a:rPr lang="en-US" altLang="en-US">
                <a:latin typeface="Times New Roman" panose="02020603050405020304" pitchFamily="18" charset="0"/>
              </a:rPr>
              <a:t> What happens when a baby is severely shaken?  </a:t>
            </a:r>
          </a:p>
        </p:txBody>
      </p:sp>
    </p:spTree>
    <p:extLst>
      <p:ext uri="{BB962C8B-B14F-4D97-AF65-F5344CB8AC3E}">
        <p14:creationId xmlns:p14="http://schemas.microsoft.com/office/powerpoint/2010/main" val="39012827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22EEF8C-7A46-4DBC-BABD-84184B81BBA6}" type="slidenum">
              <a:rPr lang="en-US" altLang="en-US" sz="1200"/>
              <a:pPr/>
              <a:t>20</a:t>
            </a:fld>
            <a:endParaRPr lang="en-US" altLang="en-US" sz="120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are the important bones of the skull? </a:t>
            </a:r>
          </a:p>
          <a:p>
            <a:pPr eaLnBrk="1" hangingPunct="1"/>
            <a:r>
              <a:rPr lang="en-US" altLang="en-US">
                <a:latin typeface="Times New Roman" panose="02020603050405020304" pitchFamily="18" charset="0"/>
              </a:rPr>
              <a:t> How do they correspond to the brain?</a:t>
            </a:r>
          </a:p>
          <a:p>
            <a:pPr eaLnBrk="1" hangingPunct="1"/>
            <a:r>
              <a:rPr lang="en-US" altLang="en-US">
                <a:latin typeface="Times New Roman" panose="02020603050405020304" pitchFamily="18" charset="0"/>
              </a:rPr>
              <a:t> Why do newborn babies need to have their heads well protected?  </a:t>
            </a:r>
          </a:p>
          <a:p>
            <a:pPr eaLnBrk="1" hangingPunct="1"/>
            <a:r>
              <a:rPr lang="en-US" altLang="en-US">
                <a:latin typeface="Times New Roman" panose="02020603050405020304" pitchFamily="18" charset="0"/>
              </a:rPr>
              <a:t> What happens when a baby is severely shaken?  </a:t>
            </a:r>
          </a:p>
        </p:txBody>
      </p:sp>
    </p:spTree>
    <p:extLst>
      <p:ext uri="{BB962C8B-B14F-4D97-AF65-F5344CB8AC3E}">
        <p14:creationId xmlns:p14="http://schemas.microsoft.com/office/powerpoint/2010/main" val="982228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AD17A0C5-3395-4253-A059-0E64DDF228DE}" type="slidenum">
              <a:rPr lang="en-US" altLang="en-US" sz="1200"/>
              <a:pPr/>
              <a:t>21</a:t>
            </a:fld>
            <a:endParaRPr lang="en-US" altLang="en-US" sz="1200"/>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Which bones aid in chewing, seeing, and breathing?</a:t>
            </a:r>
          </a:p>
        </p:txBody>
      </p:sp>
    </p:spTree>
    <p:extLst>
      <p:ext uri="{BB962C8B-B14F-4D97-AF65-F5344CB8AC3E}">
        <p14:creationId xmlns:p14="http://schemas.microsoft.com/office/powerpoint/2010/main" val="39545199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3210BD5-99C4-4330-9426-CF1CB804FE55}" type="slidenum">
              <a:rPr lang="en-US" altLang="en-US" sz="1200"/>
              <a:pPr/>
              <a:t>22</a:t>
            </a:fld>
            <a:endParaRPr lang="en-US" altLang="en-US" sz="1200"/>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Ask students to review  correct names of bones in the numbered diagram.</a:t>
            </a:r>
          </a:p>
        </p:txBody>
      </p:sp>
    </p:spTree>
    <p:extLst>
      <p:ext uri="{BB962C8B-B14F-4D97-AF65-F5344CB8AC3E}">
        <p14:creationId xmlns:p14="http://schemas.microsoft.com/office/powerpoint/2010/main" val="3688909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C9098EF-CC90-4515-9815-463CED84F57F}" type="slidenum">
              <a:rPr lang="en-US" altLang="en-US" sz="1200"/>
              <a:pPr/>
              <a:t>23</a:t>
            </a:fld>
            <a:endParaRPr lang="en-US" altLang="en-US" sz="1200"/>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Which bones contain fossae for lacrimal gland and canals for duct?</a:t>
            </a:r>
          </a:p>
          <a:p>
            <a:pPr eaLnBrk="1" hangingPunct="1"/>
            <a:r>
              <a:rPr lang="en-US" altLang="en-US">
                <a:latin typeface="Times New Roman" panose="02020603050405020304" pitchFamily="18" charset="0"/>
              </a:rPr>
              <a:t> What condition occurs if the maxillary bones do not separate at birth? (</a:t>
            </a:r>
            <a:r>
              <a:rPr lang="en-US" altLang="en-US" i="1">
                <a:latin typeface="Times New Roman" panose="02020603050405020304" pitchFamily="18" charset="0"/>
              </a:rPr>
              <a:t>cleft palate</a:t>
            </a:r>
            <a:r>
              <a:rPr lang="en-US" altLang="en-US">
                <a:latin typeface="Times New Roman" panose="02020603050405020304" pitchFamily="18" charset="0"/>
              </a:rPr>
              <a:t>)</a:t>
            </a:r>
          </a:p>
          <a:p>
            <a:pPr eaLnBrk="1" hangingPunct="1"/>
            <a:r>
              <a:rPr lang="en-US" altLang="en-US">
                <a:latin typeface="Times New Roman" panose="02020603050405020304" pitchFamily="18" charset="0"/>
              </a:rPr>
              <a:t> Which bones might be adjusted during rhinoplasty?</a:t>
            </a:r>
          </a:p>
          <a:p>
            <a:pPr eaLnBrk="1" hangingPunct="1"/>
            <a:r>
              <a:rPr lang="en-US" altLang="en-US">
                <a:latin typeface="Times New Roman" panose="02020603050405020304" pitchFamily="18" charset="0"/>
              </a:rPr>
              <a:t> What are the </a:t>
            </a:r>
            <a:r>
              <a:rPr lang="ja-JP" altLang="en-US">
                <a:latin typeface="Times New Roman" panose="02020603050405020304" pitchFamily="18" charset="0"/>
              </a:rPr>
              <a:t>“</a:t>
            </a:r>
            <a:r>
              <a:rPr lang="en-US" altLang="ja-JP">
                <a:latin typeface="Times New Roman" panose="02020603050405020304" pitchFamily="18" charset="0"/>
              </a:rPr>
              <a:t>cheek bones</a:t>
            </a:r>
            <a:r>
              <a:rPr lang="ja-JP" altLang="en-US">
                <a:latin typeface="Times New Roman" panose="02020603050405020304" pitchFamily="18" charset="0"/>
              </a:rPr>
              <a:t>”</a:t>
            </a:r>
            <a:r>
              <a:rPr lang="en-US" altLang="ja-JP">
                <a:latin typeface="Times New Roman" panose="02020603050405020304" pitchFamily="18" charset="0"/>
              </a:rPr>
              <a:t>?</a:t>
            </a:r>
            <a:endParaRPr lang="en-US" altLang="en-US" sz="1500">
              <a:latin typeface="Times New Roman" panose="02020603050405020304" pitchFamily="18" charset="0"/>
            </a:endParaRPr>
          </a:p>
        </p:txBody>
      </p:sp>
    </p:spTree>
    <p:extLst>
      <p:ext uri="{BB962C8B-B14F-4D97-AF65-F5344CB8AC3E}">
        <p14:creationId xmlns:p14="http://schemas.microsoft.com/office/powerpoint/2010/main" val="1616540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E74CB549-BFE4-45C5-829E-769DEF7A19B9}" type="slidenum">
              <a:rPr lang="en-US" altLang="en-US" sz="1200"/>
              <a:pPr/>
              <a:t>24</a:t>
            </a:fld>
            <a:endParaRPr lang="en-US" altLang="en-US" sz="1200"/>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1092228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6A3FD0A-8BA0-4402-9084-C8892F0A585F}" type="slidenum">
              <a:rPr lang="en-US" altLang="en-US" sz="1200"/>
              <a:pPr/>
              <a:t>25</a:t>
            </a:fld>
            <a:endParaRPr lang="en-US" altLang="en-US" sz="1200"/>
          </a:p>
        </p:txBody>
      </p:sp>
      <p:sp>
        <p:nvSpPr>
          <p:cNvPr id="162819" name="Rectangle 4"/>
          <p:cNvSpPr>
            <a:spLocks noGrp="1" noRot="1" noChangeAspect="1" noChangeArrowheads="1" noTextEdit="1"/>
          </p:cNvSpPr>
          <p:nvPr>
            <p:ph type="sldImg"/>
          </p:nvPr>
        </p:nvSpPr>
        <p:spPr>
          <a:ln/>
        </p:spPr>
      </p:sp>
      <p:sp>
        <p:nvSpPr>
          <p:cNvPr id="162820" name="Rectangle 5"/>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Why is the human vertebral column subject to injury? </a:t>
            </a:r>
          </a:p>
        </p:txBody>
      </p:sp>
    </p:spTree>
    <p:extLst>
      <p:ext uri="{BB962C8B-B14F-4D97-AF65-F5344CB8AC3E}">
        <p14:creationId xmlns:p14="http://schemas.microsoft.com/office/powerpoint/2010/main" val="2675071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CEDF859-03F4-4C51-93BD-87D6C3CB2898}" type="slidenum">
              <a:rPr lang="en-US" altLang="en-US" sz="1200"/>
              <a:pPr/>
              <a:t>26</a:t>
            </a:fld>
            <a:endParaRPr lang="en-US" altLang="en-US" sz="1200"/>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are the 4 vertebral regions?</a:t>
            </a:r>
          </a:p>
          <a:p>
            <a:pPr eaLnBrk="1" hangingPunct="1"/>
            <a:r>
              <a:rPr lang="en-US" altLang="en-US">
                <a:latin typeface="Times New Roman" panose="02020603050405020304" pitchFamily="18" charset="0"/>
              </a:rPr>
              <a:t> How many bones are there in each region?</a:t>
            </a:r>
          </a:p>
          <a:p>
            <a:pPr eaLnBrk="1" hangingPunct="1"/>
            <a:r>
              <a:rPr lang="en-US" altLang="en-US">
                <a:latin typeface="Times New Roman" panose="02020603050405020304" pitchFamily="18" charset="0"/>
              </a:rPr>
              <a:t> Way to help students remember the numbers: </a:t>
            </a:r>
          </a:p>
          <a:p>
            <a:pPr lvl="1" eaLnBrk="1" hangingPunct="1"/>
            <a:r>
              <a:rPr lang="en-US" altLang="en-US">
                <a:latin typeface="Times New Roman" panose="02020603050405020304" pitchFamily="18" charset="0"/>
              </a:rPr>
              <a:t> Cervical 7 am breakfast</a:t>
            </a:r>
          </a:p>
          <a:p>
            <a:pPr lvl="1" eaLnBrk="1" hangingPunct="1"/>
            <a:r>
              <a:rPr lang="en-US" altLang="en-US">
                <a:latin typeface="Times New Roman" panose="02020603050405020304" pitchFamily="18" charset="0"/>
              </a:rPr>
              <a:t> Thoracic 12 pm lunch</a:t>
            </a:r>
          </a:p>
          <a:p>
            <a:pPr lvl="1" eaLnBrk="1" hangingPunct="1"/>
            <a:r>
              <a:rPr lang="en-US" altLang="en-US">
                <a:latin typeface="Times New Roman" panose="02020603050405020304" pitchFamily="18" charset="0"/>
              </a:rPr>
              <a:t> Lumbar 5 pm dinner</a:t>
            </a:r>
          </a:p>
        </p:txBody>
      </p:sp>
    </p:spTree>
    <p:extLst>
      <p:ext uri="{BB962C8B-B14F-4D97-AF65-F5344CB8AC3E}">
        <p14:creationId xmlns:p14="http://schemas.microsoft.com/office/powerpoint/2010/main" val="37080136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419" dirty="0"/>
          </a:p>
        </p:txBody>
      </p:sp>
      <p:sp>
        <p:nvSpPr>
          <p:cNvPr id="4" name="Slide Number Placeholder 3"/>
          <p:cNvSpPr>
            <a:spLocks noGrp="1"/>
          </p:cNvSpPr>
          <p:nvPr>
            <p:ph type="sldNum" sz="quarter" idx="10"/>
          </p:nvPr>
        </p:nvSpPr>
        <p:spPr/>
        <p:txBody>
          <a:bodyPr/>
          <a:lstStyle/>
          <a:p>
            <a:fld id="{9DD8956B-8F79-4131-A174-E4232C945132}" type="slidenum">
              <a:rPr lang="en-US" altLang="en-US" smtClean="0"/>
              <a:pPr/>
              <a:t>27</a:t>
            </a:fld>
            <a:endParaRPr lang="en-US" altLang="en-US"/>
          </a:p>
        </p:txBody>
      </p:sp>
    </p:spTree>
    <p:extLst>
      <p:ext uri="{BB962C8B-B14F-4D97-AF65-F5344CB8AC3E}">
        <p14:creationId xmlns:p14="http://schemas.microsoft.com/office/powerpoint/2010/main" val="1394153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92AF0EF-659D-4ECE-BAEC-9BD6BB9CEC2E}" type="slidenum">
              <a:rPr lang="en-US" altLang="en-US" sz="1200"/>
              <a:pPr/>
              <a:t>28</a:t>
            </a:fld>
            <a:endParaRPr lang="en-US" altLang="en-US" sz="1200"/>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There are seven bones of the leg and foot.</a:t>
            </a:r>
          </a:p>
          <a:p>
            <a:pPr eaLnBrk="1" hangingPunct="1"/>
            <a:r>
              <a:rPr lang="en-US" altLang="en-US">
                <a:latin typeface="Times New Roman" panose="02020603050405020304" pitchFamily="18" charset="0"/>
              </a:rPr>
              <a:t> Have students identify bones shown in the figure.</a:t>
            </a: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941130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449C7C0-BA59-43CF-B482-A905FB330002}" type="slidenum">
              <a:rPr lang="en-US" altLang="en-US" sz="1200"/>
              <a:pPr/>
              <a:t>29</a:t>
            </a:fld>
            <a:endParaRPr lang="en-US" altLang="en-US" sz="1200"/>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Which are the bones of the foot? </a:t>
            </a:r>
          </a:p>
          <a:p>
            <a:pPr eaLnBrk="1" hangingPunct="1"/>
            <a:r>
              <a:rPr lang="en-US" altLang="en-US">
                <a:latin typeface="Times New Roman" panose="02020603050405020304" pitchFamily="18" charset="0"/>
              </a:rPr>
              <a:t> What happens if you wear shoes that are too small? </a:t>
            </a:r>
          </a:p>
          <a:p>
            <a:pPr eaLnBrk="1" hangingPunct="1"/>
            <a:r>
              <a:rPr lang="en-US" altLang="en-US">
                <a:latin typeface="Times New Roman" panose="02020603050405020304" pitchFamily="18" charset="0"/>
              </a:rPr>
              <a:t> Which is the largest bone in the body?</a:t>
            </a:r>
          </a:p>
        </p:txBody>
      </p:sp>
    </p:spTree>
    <p:extLst>
      <p:ext uri="{BB962C8B-B14F-4D97-AF65-F5344CB8AC3E}">
        <p14:creationId xmlns:p14="http://schemas.microsoft.com/office/powerpoint/2010/main" val="1914067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01BB0D1-A7FA-40F6-8159-247312EFBEC5}" type="slidenum">
              <a:rPr lang="en-US" altLang="en-US" sz="1200"/>
              <a:pPr/>
              <a:t>62</a:t>
            </a:fld>
            <a:endParaRPr lang="en-US" altLang="en-US" sz="1200"/>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Correct answer is B. condyle</a:t>
            </a:r>
          </a:p>
        </p:txBody>
      </p:sp>
    </p:spTree>
    <p:extLst>
      <p:ext uri="{BB962C8B-B14F-4D97-AF65-F5344CB8AC3E}">
        <p14:creationId xmlns:p14="http://schemas.microsoft.com/office/powerpoint/2010/main" val="7166300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6976F208-6F83-4F6D-8E1C-3161BEF6B282}" type="slidenum">
              <a:rPr lang="en-US" altLang="en-US" sz="1200"/>
              <a:pPr/>
              <a:t>63</a:t>
            </a:fld>
            <a:endParaRPr lang="en-US" altLang="en-US" sz="1200"/>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Correct answer is B. ossification</a:t>
            </a:r>
          </a:p>
        </p:txBody>
      </p:sp>
    </p:spTree>
    <p:extLst>
      <p:ext uri="{BB962C8B-B14F-4D97-AF65-F5344CB8AC3E}">
        <p14:creationId xmlns:p14="http://schemas.microsoft.com/office/powerpoint/2010/main" val="28007859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86287020-0D5C-4B54-81B4-D351F6F9EA67}" type="slidenum">
              <a:rPr lang="en-US" altLang="en-US" sz="1200"/>
              <a:pPr/>
              <a:t>72</a:t>
            </a:fld>
            <a:endParaRPr lang="en-US" altLang="en-US" sz="1200"/>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Ask students to describe a Ewing sarcoma. How old are people who suffer from this condition? What treatment can be given?</a:t>
            </a:r>
          </a:p>
          <a:p>
            <a:pPr eaLnBrk="1" hangingPunct="1"/>
            <a:r>
              <a:rPr lang="en-US" altLang="en-US">
                <a:latin typeface="Times New Roman" panose="02020603050405020304" pitchFamily="18" charset="0"/>
              </a:rPr>
              <a:t> Is there any treatment for clubfoot?  </a:t>
            </a:r>
          </a:p>
          <a:p>
            <a:pPr eaLnBrk="1" hangingPunct="1"/>
            <a:r>
              <a:rPr lang="en-US" altLang="en-US">
                <a:latin typeface="Times New Roman" panose="02020603050405020304" pitchFamily="18" charset="0"/>
              </a:rPr>
              <a:t> What is the difference between osteogenic sarcoma and bone cancer that has metastasized from the breast cancer or prostate?</a:t>
            </a:r>
          </a:p>
          <a:p>
            <a:pPr eaLnBrk="1" hangingPunct="1"/>
            <a:r>
              <a:rPr lang="en-US" altLang="en-US">
                <a:latin typeface="Times New Roman" panose="02020603050405020304" pitchFamily="18" charset="0"/>
              </a:rPr>
              <a:t> How does a broken leg with internal fixation increase the chance of osteomyelitis?</a:t>
            </a: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1701617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50915F1B-913D-439A-89E2-A874ADF94F85}" type="slidenum">
              <a:rPr lang="en-US" altLang="en-US" sz="1200"/>
              <a:pPr/>
              <a:t>73</a:t>
            </a:fld>
            <a:endParaRPr lang="en-US" altLang="en-US" sz="1200"/>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is the definition of a fracture?</a:t>
            </a:r>
          </a:p>
          <a:p>
            <a:pPr eaLnBrk="1" hangingPunct="1"/>
            <a:r>
              <a:rPr lang="en-US" altLang="en-US">
                <a:latin typeface="Times New Roman" panose="02020603050405020304" pitchFamily="18" charset="0"/>
              </a:rPr>
              <a:t> What are the common names used for specific types of fractures?</a:t>
            </a:r>
          </a:p>
          <a:p>
            <a:pPr eaLnBrk="1" hangingPunct="1"/>
            <a:r>
              <a:rPr lang="en-US" altLang="en-US">
                <a:latin typeface="Times New Roman" panose="02020603050405020304" pitchFamily="18" charset="0"/>
              </a:rPr>
              <a:t> What does reduction mean as it pertains to fractures?</a:t>
            </a:r>
          </a:p>
        </p:txBody>
      </p:sp>
    </p:spTree>
    <p:extLst>
      <p:ext uri="{BB962C8B-B14F-4D97-AF65-F5344CB8AC3E}">
        <p14:creationId xmlns:p14="http://schemas.microsoft.com/office/powerpoint/2010/main" val="10466581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4DF76C8-0878-4826-8C75-60B99EE6FE98}" type="slidenum">
              <a:rPr lang="en-US" altLang="en-US" sz="1200"/>
              <a:pPr/>
              <a:t>74</a:t>
            </a:fld>
            <a:endParaRPr lang="en-US" altLang="en-US" sz="1200"/>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9861741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F08B2832-67F3-4707-95D6-B14CCFD1E12F}" type="slidenum">
              <a:rPr lang="en-US" altLang="en-US" sz="1200"/>
              <a:pPr/>
              <a:t>75</a:t>
            </a:fld>
            <a:endParaRPr lang="en-US" altLang="en-US" sz="1200"/>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are some examples of places on the body with joints?</a:t>
            </a:r>
          </a:p>
        </p:txBody>
      </p:sp>
    </p:spTree>
    <p:extLst>
      <p:ext uri="{BB962C8B-B14F-4D97-AF65-F5344CB8AC3E}">
        <p14:creationId xmlns:p14="http://schemas.microsoft.com/office/powerpoint/2010/main" val="38702764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8324D5E1-6E9C-4E58-A92C-80056E18BE02}" type="slidenum">
              <a:rPr lang="en-US" altLang="en-US" sz="1200"/>
              <a:pPr/>
              <a:t>76</a:t>
            </a:fld>
            <a:endParaRPr lang="en-US" altLang="en-US" sz="1200"/>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821780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0E62543-FF0F-47AA-8A2D-F2B33DB23AAF}" type="slidenum">
              <a:rPr lang="en-US" altLang="en-US" sz="1200"/>
              <a:pPr/>
              <a:t>77</a:t>
            </a:fld>
            <a:endParaRPr lang="en-US" altLang="en-US" sz="1200"/>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Name examples of bursae, such as elbow, knee and shoulder joints.</a:t>
            </a:r>
          </a:p>
          <a:p>
            <a:pPr eaLnBrk="1" hangingPunct="1"/>
            <a:r>
              <a:rPr lang="en-US" altLang="en-US">
                <a:latin typeface="Times New Roman" panose="02020603050405020304" pitchFamily="18" charset="0"/>
              </a:rPr>
              <a:t> Which sports injuries are related to this topic? </a:t>
            </a:r>
          </a:p>
          <a:p>
            <a:pPr eaLnBrk="1" hangingPunct="1"/>
            <a:r>
              <a:rPr lang="en-US" altLang="en-US">
                <a:latin typeface="Times New Roman" panose="02020603050405020304" pitchFamily="18" charset="0"/>
              </a:rPr>
              <a:t> Which bursae are associated with the knee and elbow?</a:t>
            </a:r>
          </a:p>
        </p:txBody>
      </p:sp>
    </p:spTree>
    <p:extLst>
      <p:ext uri="{BB962C8B-B14F-4D97-AF65-F5344CB8AC3E}">
        <p14:creationId xmlns:p14="http://schemas.microsoft.com/office/powerpoint/2010/main" val="11927357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CAB21B9-8187-455E-9FAB-BB2324C4D43C}" type="slidenum">
              <a:rPr lang="en-US" altLang="en-US" sz="1200"/>
              <a:pPr/>
              <a:t>78</a:t>
            </a:fld>
            <a:endParaRPr lang="en-US" altLang="en-US" sz="1200"/>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Give the students examples of joints that look like the ones depicted in these figures.</a:t>
            </a:r>
          </a:p>
        </p:txBody>
      </p:sp>
    </p:spTree>
    <p:extLst>
      <p:ext uri="{BB962C8B-B14F-4D97-AF65-F5344CB8AC3E}">
        <p14:creationId xmlns:p14="http://schemas.microsoft.com/office/powerpoint/2010/main" val="34100818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8893B9A-7DD5-44F9-835E-8E045B3FAEFF}" type="slidenum">
              <a:rPr lang="en-US" altLang="en-US" sz="1200"/>
              <a:pPr/>
              <a:t>85</a:t>
            </a:fld>
            <a:endParaRPr lang="en-US" altLang="en-US" sz="1200"/>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Correct answer is D. tendon</a:t>
            </a:r>
          </a:p>
        </p:txBody>
      </p:sp>
    </p:spTree>
    <p:extLst>
      <p:ext uri="{BB962C8B-B14F-4D97-AF65-F5344CB8AC3E}">
        <p14:creationId xmlns:p14="http://schemas.microsoft.com/office/powerpoint/2010/main" val="22858705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08FD794-3C76-435A-9B9B-F041618EC76A}" type="slidenum">
              <a:rPr lang="en-US" altLang="en-US" sz="1200"/>
              <a:pPr/>
              <a:t>89</a:t>
            </a:fld>
            <a:endParaRPr lang="en-US" altLang="en-US" sz="1200"/>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Can young people suffer from arthritis?  </a:t>
            </a:r>
          </a:p>
          <a:p>
            <a:pPr eaLnBrk="1" hangingPunct="1"/>
            <a:r>
              <a:rPr lang="en-US" altLang="en-US">
                <a:latin typeface="Times New Roman" panose="02020603050405020304" pitchFamily="18" charset="0"/>
              </a:rPr>
              <a:t> What is the most common complaint of older individuals?</a:t>
            </a:r>
          </a:p>
          <a:p>
            <a:pPr eaLnBrk="1" hangingPunct="1"/>
            <a:r>
              <a:rPr lang="en-US" altLang="en-US">
                <a:latin typeface="Times New Roman" panose="02020603050405020304" pitchFamily="18" charset="0"/>
              </a:rPr>
              <a:t> What treatments are available for people who suffer from osteoarthritis? Rheumatoid arthritis?</a:t>
            </a:r>
          </a:p>
          <a:p>
            <a:pPr eaLnBrk="1" hangingPunct="1"/>
            <a:r>
              <a:rPr lang="en-US" altLang="en-US">
                <a:latin typeface="Times New Roman" panose="02020603050405020304" pitchFamily="18" charset="0"/>
              </a:rPr>
              <a:t> What is commonly known as degenerative joint disease?</a:t>
            </a:r>
          </a:p>
        </p:txBody>
      </p:sp>
    </p:spTree>
    <p:extLst>
      <p:ext uri="{BB962C8B-B14F-4D97-AF65-F5344CB8AC3E}">
        <p14:creationId xmlns:p14="http://schemas.microsoft.com/office/powerpoint/2010/main" val="26886175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4F1B946B-C799-4CDD-8849-DFCF1843BAD2}" type="slidenum">
              <a:rPr lang="en-US" altLang="en-US" sz="1200"/>
              <a:pPr/>
              <a:t>90</a:t>
            </a:fld>
            <a:endParaRPr lang="en-US" altLang="en-US" sz="1200"/>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Why do osteoarthritis and rheumatoid arthritis occur?</a:t>
            </a:r>
          </a:p>
          <a:p>
            <a:pPr eaLnBrk="1" hangingPunct="1"/>
            <a:r>
              <a:rPr lang="en-US" altLang="en-US">
                <a:latin typeface="Times New Roman" panose="02020603050405020304" pitchFamily="18" charset="0"/>
              </a:rPr>
              <a:t> What are the differences between the two types of arthritis?</a:t>
            </a:r>
          </a:p>
        </p:txBody>
      </p:sp>
    </p:spTree>
    <p:extLst>
      <p:ext uri="{BB962C8B-B14F-4D97-AF65-F5344CB8AC3E}">
        <p14:creationId xmlns:p14="http://schemas.microsoft.com/office/powerpoint/2010/main" val="339323107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0EED192D-9F18-411C-95F6-2E223DC47BEF}" type="slidenum">
              <a:rPr lang="en-US" altLang="en-US" sz="1200"/>
              <a:pPr/>
              <a:t>91</a:t>
            </a:fld>
            <a:endParaRPr lang="en-US" altLang="en-US" sz="1200"/>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Why do women get bunions more often than men?</a:t>
            </a:r>
          </a:p>
          <a:p>
            <a:pPr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5067205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50FF4F4-BB5B-4F1C-905E-8605AF2F82A5}" type="slidenum">
              <a:rPr lang="en-US" altLang="en-US" sz="1200"/>
              <a:pPr/>
              <a:t>92</a:t>
            </a:fld>
            <a:endParaRPr lang="en-US" altLang="en-US" sz="1200"/>
          </a:p>
        </p:txBody>
      </p:sp>
      <p:sp>
        <p:nvSpPr>
          <p:cNvPr id="195587" name="Rectangle 4"/>
          <p:cNvSpPr>
            <a:spLocks noGrp="1" noRot="1" noChangeAspect="1" noChangeArrowheads="1" noTextEdit="1"/>
          </p:cNvSpPr>
          <p:nvPr>
            <p:ph type="sldImg"/>
          </p:nvPr>
        </p:nvSpPr>
        <p:spPr>
          <a:ln/>
        </p:spPr>
      </p:sp>
      <p:sp>
        <p:nvSpPr>
          <p:cNvPr id="195588" name="Rectangle 5"/>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Why is carpal tunnel syndrome considered a repetitive stress injury?</a:t>
            </a:r>
          </a:p>
          <a:p>
            <a:pPr eaLnBrk="1" hangingPunct="1"/>
            <a:r>
              <a:rPr lang="en-US" altLang="en-US">
                <a:latin typeface="Times New Roman" panose="02020603050405020304" pitchFamily="18" charset="0"/>
              </a:rPr>
              <a:t> What can be done to alleviate carpal tunnel syndrome?</a:t>
            </a:r>
          </a:p>
          <a:p>
            <a:pPr eaLnBrk="1" hangingPunct="1"/>
            <a:r>
              <a:rPr lang="en-US" altLang="en-US">
                <a:latin typeface="Times New Roman" panose="02020603050405020304" pitchFamily="18" charset="0"/>
              </a:rPr>
              <a:t> Ask students if they have suffered from carpal tunnel syndrome, and if so, what treatment was applied?</a:t>
            </a:r>
          </a:p>
          <a:p>
            <a:pPr eaLnBrk="1" hangingPunct="1"/>
            <a:r>
              <a:rPr lang="en-US" altLang="en-US">
                <a:latin typeface="Times New Roman" panose="02020603050405020304" pitchFamily="18" charset="0"/>
              </a:rPr>
              <a:t> Ganglion: fluid filled cyst arising from joint capsule or tendon in the wrist</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4347853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2FAA1CA-DB53-46A0-B459-B92D3129E5F3}" type="slidenum">
              <a:rPr lang="en-US" altLang="en-US" sz="1200"/>
              <a:pPr/>
              <a:t>93</a:t>
            </a:fld>
            <a:endParaRPr lang="en-US" altLang="en-US" sz="1200"/>
          </a:p>
        </p:txBody>
      </p:sp>
      <p:sp>
        <p:nvSpPr>
          <p:cNvPr id="196611" name="Rectangle 2"/>
          <p:cNvSpPr>
            <a:spLocks noGrp="1" noRot="1" noChangeAspect="1" noChangeArrowheads="1" noTextEdit="1"/>
          </p:cNvSpPr>
          <p:nvPr>
            <p:ph type="sldImg"/>
          </p:nvPr>
        </p:nvSpPr>
        <p:spPr>
          <a:ln/>
        </p:spPr>
      </p:sp>
      <p:sp>
        <p:nvSpPr>
          <p:cNvPr id="19661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How is sciatica related to herniated nucleus pulposus (</a:t>
            </a:r>
            <a:r>
              <a:rPr lang="en-US" altLang="en-US" i="1">
                <a:latin typeface="Times New Roman" panose="02020603050405020304" pitchFamily="18" charset="0"/>
              </a:rPr>
              <a:t>HNP</a:t>
            </a:r>
            <a:r>
              <a:rPr lang="en-US" altLang="en-US">
                <a:latin typeface="Times New Roman" panose="02020603050405020304" pitchFamily="18" charset="0"/>
              </a:rPr>
              <a:t>)?</a:t>
            </a:r>
          </a:p>
          <a:p>
            <a:pPr eaLnBrk="1" hangingPunct="1"/>
            <a:r>
              <a:rPr lang="en-US" altLang="en-US">
                <a:latin typeface="Times New Roman" panose="02020603050405020304" pitchFamily="18" charset="0"/>
              </a:rPr>
              <a:t> What is the cause of Lyme disease?</a:t>
            </a:r>
          </a:p>
          <a:p>
            <a:pPr eaLnBrk="1" hangingPunct="1"/>
            <a:r>
              <a:rPr lang="en-US" altLang="en-US">
                <a:latin typeface="Times New Roman" panose="02020603050405020304" pitchFamily="18" charset="0"/>
              </a:rPr>
              <a:t> What is the main carrier of Lyme disease in the United States (</a:t>
            </a:r>
            <a:r>
              <a:rPr lang="en-US" altLang="en-US" i="1">
                <a:latin typeface="Times New Roman" panose="02020603050405020304" pitchFamily="18" charset="0"/>
              </a:rPr>
              <a:t>deer tick</a:t>
            </a:r>
            <a:r>
              <a:rPr lang="en-US" altLang="en-US">
                <a:latin typeface="Times New Roman" panose="02020603050405020304" pitchFamily="18" charset="0"/>
              </a:rPr>
              <a:t>)</a:t>
            </a:r>
          </a:p>
          <a:p>
            <a:pPr eaLnBrk="1" hangingPunct="1"/>
            <a:r>
              <a:rPr lang="en-US" altLang="en-US">
                <a:latin typeface="Times New Roman" panose="02020603050405020304" pitchFamily="18" charset="0"/>
              </a:rPr>
              <a:t> Define the term </a:t>
            </a:r>
            <a:r>
              <a:rPr lang="ja-JP" altLang="en-US">
                <a:latin typeface="Times New Roman" panose="02020603050405020304" pitchFamily="18" charset="0"/>
              </a:rPr>
              <a:t>“</a:t>
            </a:r>
            <a:r>
              <a:rPr lang="en-US" altLang="ja-JP">
                <a:latin typeface="Times New Roman" panose="02020603050405020304" pitchFamily="18" charset="0"/>
              </a:rPr>
              <a:t>vector</a:t>
            </a:r>
            <a:r>
              <a:rPr lang="ja-JP" altLang="en-US">
                <a:latin typeface="Times New Roman" panose="02020603050405020304" pitchFamily="18" charset="0"/>
              </a:rPr>
              <a:t>”</a:t>
            </a:r>
            <a:r>
              <a:rPr lang="en-US" altLang="ja-JP">
                <a:latin typeface="Times New Roman" panose="02020603050405020304" pitchFamily="18" charset="0"/>
              </a:rPr>
              <a:t>.</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97280153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67C8A276-57D3-4DC9-8DD9-0E73A4CA902E}" type="slidenum">
              <a:rPr lang="en-US" altLang="en-US" sz="1200"/>
              <a:pPr/>
              <a:t>94</a:t>
            </a:fld>
            <a:endParaRPr lang="en-US" altLang="en-US" sz="1200"/>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Ask the students if they have ever had a sprain to an ankle or knee.</a:t>
            </a:r>
          </a:p>
          <a:p>
            <a:pPr eaLnBrk="1" hangingPunct="1"/>
            <a:r>
              <a:rPr lang="en-US" altLang="en-US">
                <a:latin typeface="Times New Roman" panose="02020603050405020304" pitchFamily="18" charset="0"/>
              </a:rPr>
              <a:t> Systemic lupus erythematosus (SLE), commonly called </a:t>
            </a:r>
            <a:r>
              <a:rPr lang="ja-JP" altLang="en-US">
                <a:latin typeface="Times New Roman" panose="02020603050405020304" pitchFamily="18" charset="0"/>
              </a:rPr>
              <a:t>“</a:t>
            </a:r>
            <a:r>
              <a:rPr lang="en-US" altLang="ja-JP">
                <a:latin typeface="Times New Roman" panose="02020603050405020304" pitchFamily="18" charset="0"/>
              </a:rPr>
              <a:t>lupus,</a:t>
            </a:r>
            <a:r>
              <a:rPr lang="ja-JP" altLang="en-US">
                <a:latin typeface="Times New Roman" panose="02020603050405020304" pitchFamily="18" charset="0"/>
              </a:rPr>
              <a:t>”</a:t>
            </a:r>
            <a:r>
              <a:rPr lang="en-US" altLang="ja-JP">
                <a:latin typeface="Times New Roman" panose="02020603050405020304" pitchFamily="18" charset="0"/>
              </a:rPr>
              <a:t> is believed to be an autoimmune disease. What is the accepted treatment?</a:t>
            </a:r>
          </a:p>
          <a:p>
            <a:pPr eaLnBrk="1" hangingPunct="1"/>
            <a:r>
              <a:rPr lang="en-US" altLang="en-US">
                <a:latin typeface="Times New Roman" panose="02020603050405020304" pitchFamily="18" charset="0"/>
              </a:rPr>
              <a:t> Why does a rheumatologist treat a lupus patient? (</a:t>
            </a:r>
            <a:r>
              <a:rPr lang="en-US" altLang="en-US" i="1">
                <a:latin typeface="Times New Roman" panose="02020603050405020304" pitchFamily="18" charset="0"/>
              </a:rPr>
              <a:t>arthritis</a:t>
            </a:r>
            <a:r>
              <a:rPr lang="en-US" altLang="en-US">
                <a:latin typeface="Times New Roman" panose="02020603050405020304" pitchFamily="18" charset="0"/>
              </a:rPr>
              <a:t>)</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834237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8ED0F905-6EAB-430D-BEB7-35AA0F9BE275}" type="slidenum">
              <a:rPr lang="en-US" altLang="en-US" sz="1200"/>
              <a:pPr/>
              <a:t>95</a:t>
            </a:fld>
            <a:endParaRPr lang="en-US" altLang="en-US" sz="1200"/>
          </a:p>
        </p:txBody>
      </p:sp>
      <p:sp>
        <p:nvSpPr>
          <p:cNvPr id="198659" name="Rectangle 2"/>
          <p:cNvSpPr>
            <a:spLocks noGrp="1" noRot="1" noChangeAspect="1" noChangeArrowheads="1" noTextEdit="1"/>
          </p:cNvSpPr>
          <p:nvPr>
            <p:ph type="sldImg"/>
          </p:nvPr>
        </p:nvSpPr>
        <p:spPr>
          <a:ln/>
        </p:spPr>
      </p:sp>
      <p:sp>
        <p:nvSpPr>
          <p:cNvPr id="19866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4391733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B620ADB-FBA9-46FC-A586-A5E6088559A0}" type="slidenum">
              <a:rPr lang="en-US" altLang="en-US" sz="1200"/>
              <a:pPr/>
              <a:t>96</a:t>
            </a:fld>
            <a:endParaRPr lang="en-US" altLang="en-US" sz="1200"/>
          </a:p>
        </p:txBody>
      </p:sp>
      <p:sp>
        <p:nvSpPr>
          <p:cNvPr id="199683" name="Rectangle 2"/>
          <p:cNvSpPr>
            <a:spLocks noGrp="1" noRot="1" noChangeAspect="1" noChangeArrowheads="1" noTextEdit="1"/>
          </p:cNvSpPr>
          <p:nvPr>
            <p:ph type="sldImg"/>
          </p:nvPr>
        </p:nvSpPr>
        <p:spPr>
          <a:ln/>
        </p:spPr>
      </p:sp>
      <p:sp>
        <p:nvSpPr>
          <p:cNvPr id="19968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Which muscles are striated in appearance, smooth in character?</a:t>
            </a:r>
          </a:p>
        </p:txBody>
      </p:sp>
    </p:spTree>
    <p:extLst>
      <p:ext uri="{BB962C8B-B14F-4D97-AF65-F5344CB8AC3E}">
        <p14:creationId xmlns:p14="http://schemas.microsoft.com/office/powerpoint/2010/main" val="42737467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608042A8-56AD-409C-AAA4-990C10FA9EF9}" type="slidenum">
              <a:rPr lang="en-US" altLang="en-US" sz="1200"/>
              <a:pPr/>
              <a:t>97</a:t>
            </a:fld>
            <a:endParaRPr lang="en-US" altLang="en-US" sz="1200"/>
          </a:p>
        </p:txBody>
      </p:sp>
      <p:sp>
        <p:nvSpPr>
          <p:cNvPr id="200707" name="Rectangle 2"/>
          <p:cNvSpPr>
            <a:spLocks noGrp="1" noRot="1" noChangeAspect="1" noChangeArrowheads="1" noTextEdit="1"/>
          </p:cNvSpPr>
          <p:nvPr>
            <p:ph type="sldImg"/>
          </p:nvPr>
        </p:nvSpPr>
        <p:spPr>
          <a:ln/>
        </p:spPr>
      </p:sp>
      <p:sp>
        <p:nvSpPr>
          <p:cNvPr id="20070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Go over the figure with students, pointing to the parts of the arm where they are most likely to notice striations.</a:t>
            </a:r>
          </a:p>
          <a:p>
            <a:pPr eaLnBrk="1" hangingPunct="1"/>
            <a:r>
              <a:rPr lang="en-US" altLang="en-US">
                <a:latin typeface="Times New Roman" panose="02020603050405020304" pitchFamily="18" charset="0"/>
              </a:rPr>
              <a:t> Ask the students to describe smooth muscles.</a:t>
            </a:r>
          </a:p>
        </p:txBody>
      </p:sp>
    </p:spTree>
    <p:extLst>
      <p:ext uri="{BB962C8B-B14F-4D97-AF65-F5344CB8AC3E}">
        <p14:creationId xmlns:p14="http://schemas.microsoft.com/office/powerpoint/2010/main" val="21615224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A1C17852-3821-4BCB-B82B-B4038FADE84B}" type="slidenum">
              <a:rPr lang="en-US" altLang="en-US" sz="1200"/>
              <a:pPr/>
              <a:t>98</a:t>
            </a:fld>
            <a:endParaRPr lang="en-US" altLang="en-US" sz="1200"/>
          </a:p>
        </p:txBody>
      </p:sp>
      <p:sp>
        <p:nvSpPr>
          <p:cNvPr id="202755" name="Rectangle 2"/>
          <p:cNvSpPr>
            <a:spLocks noGrp="1" noRot="1" noChangeAspect="1" noChangeArrowheads="1" noTextEdit="1"/>
          </p:cNvSpPr>
          <p:nvPr>
            <p:ph type="sldImg"/>
          </p:nvPr>
        </p:nvSpPr>
        <p:spPr>
          <a:ln/>
        </p:spPr>
      </p:sp>
      <p:sp>
        <p:nvSpPr>
          <p:cNvPr id="20275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Go over the figure with the students. </a:t>
            </a:r>
          </a:p>
          <a:p>
            <a:pPr eaLnBrk="1" hangingPunct="1"/>
            <a:r>
              <a:rPr lang="en-US" altLang="en-US">
                <a:latin typeface="Times New Roman" panose="02020603050405020304" pitchFamily="18" charset="0"/>
              </a:rPr>
              <a:t> Students who exercise or are in weight training may be familiar with various muscle groups.</a:t>
            </a:r>
          </a:p>
          <a:p>
            <a:pPr eaLnBrk="1" hangingPunct="1"/>
            <a:r>
              <a:rPr lang="en-US" altLang="en-US">
                <a:latin typeface="Times New Roman" panose="02020603050405020304" pitchFamily="18" charset="0"/>
              </a:rPr>
              <a:t> Can students name some muscle groups that are not pictured here? (e.g., latissimus dorsii, abductors, adductors)</a:t>
            </a:r>
          </a:p>
        </p:txBody>
      </p:sp>
    </p:spTree>
    <p:extLst>
      <p:ext uri="{BB962C8B-B14F-4D97-AF65-F5344CB8AC3E}">
        <p14:creationId xmlns:p14="http://schemas.microsoft.com/office/powerpoint/2010/main" val="28335558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B3F14F85-B326-45C2-B083-25C3BA6428AB}" type="slidenum">
              <a:rPr lang="en-US" altLang="en-US" sz="1200"/>
              <a:pPr/>
              <a:t>99</a:t>
            </a:fld>
            <a:endParaRPr lang="en-US" altLang="en-US" sz="1200"/>
          </a:p>
        </p:txBody>
      </p:sp>
      <p:sp>
        <p:nvSpPr>
          <p:cNvPr id="203779" name="Rectangle 2"/>
          <p:cNvSpPr>
            <a:spLocks noGrp="1" noRot="1" noChangeAspect="1" noChangeArrowheads="1" noTextEdit="1"/>
          </p:cNvSpPr>
          <p:nvPr>
            <p:ph type="sldImg"/>
          </p:nvPr>
        </p:nvSpPr>
        <p:spPr>
          <a:ln/>
        </p:spPr>
      </p:sp>
      <p:sp>
        <p:nvSpPr>
          <p:cNvPr id="20378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Go over these definitions and demonstrate the movement on individuals.</a:t>
            </a:r>
          </a:p>
        </p:txBody>
      </p:sp>
    </p:spTree>
    <p:extLst>
      <p:ext uri="{BB962C8B-B14F-4D97-AF65-F5344CB8AC3E}">
        <p14:creationId xmlns:p14="http://schemas.microsoft.com/office/powerpoint/2010/main" val="25678472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DA16FDA1-50BA-4301-BF20-823CE234692C}" type="slidenum">
              <a:rPr lang="en-US" altLang="en-US" sz="1200"/>
              <a:pPr/>
              <a:t>100</a:t>
            </a:fld>
            <a:endParaRPr lang="en-US" altLang="en-US" sz="1200"/>
          </a:p>
        </p:txBody>
      </p:sp>
      <p:sp>
        <p:nvSpPr>
          <p:cNvPr id="204803" name="Rectangle 2"/>
          <p:cNvSpPr>
            <a:spLocks noGrp="1" noRot="1" noChangeAspect="1" noChangeArrowheads="1" noTextEdit="1"/>
          </p:cNvSpPr>
          <p:nvPr>
            <p:ph type="sldImg"/>
          </p:nvPr>
        </p:nvSpPr>
        <p:spPr>
          <a:ln/>
        </p:spPr>
      </p:sp>
      <p:sp>
        <p:nvSpPr>
          <p:cNvPr id="20480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4328763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4087650-ED30-4EF4-8D35-8C06D56D50D0}" type="slidenum">
              <a:rPr lang="en-US" altLang="en-US" sz="1200"/>
              <a:pPr/>
              <a:t>109</a:t>
            </a:fld>
            <a:endParaRPr lang="en-US" altLang="en-US" sz="1200"/>
          </a:p>
        </p:txBody>
      </p:sp>
      <p:sp>
        <p:nvSpPr>
          <p:cNvPr id="205827" name="Rectangle 2"/>
          <p:cNvSpPr>
            <a:spLocks noGrp="1" noRot="1" noChangeAspect="1" noChangeArrowheads="1" noTextEdit="1"/>
          </p:cNvSpPr>
          <p:nvPr>
            <p:ph type="sldImg"/>
          </p:nvPr>
        </p:nvSpPr>
        <p:spPr>
          <a:ln/>
        </p:spPr>
      </p:sp>
      <p:sp>
        <p:nvSpPr>
          <p:cNvPr id="20582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Correct answer is B. adbuction</a:t>
            </a:r>
          </a:p>
        </p:txBody>
      </p:sp>
    </p:spTree>
    <p:extLst>
      <p:ext uri="{BB962C8B-B14F-4D97-AF65-F5344CB8AC3E}">
        <p14:creationId xmlns:p14="http://schemas.microsoft.com/office/powerpoint/2010/main" val="22166867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378DFA5E-57F8-47D9-AE67-1DD1668FFAAF}" type="slidenum">
              <a:rPr lang="en-US" altLang="en-US" sz="1200"/>
              <a:pPr/>
              <a:t>114</a:t>
            </a:fld>
            <a:endParaRPr lang="en-US" altLang="en-US" sz="1200"/>
          </a:p>
        </p:txBody>
      </p:sp>
      <p:sp>
        <p:nvSpPr>
          <p:cNvPr id="210947" name="Rectangle 2"/>
          <p:cNvSpPr>
            <a:spLocks noGrp="1" noRot="1" noChangeAspect="1" noChangeArrowheads="1" noTextEdit="1"/>
          </p:cNvSpPr>
          <p:nvPr>
            <p:ph type="sldImg"/>
          </p:nvPr>
        </p:nvSpPr>
        <p:spPr>
          <a:ln/>
        </p:spPr>
      </p:sp>
      <p:sp>
        <p:nvSpPr>
          <p:cNvPr id="21094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Muscular dystrophy typically affects children.  </a:t>
            </a:r>
          </a:p>
        </p:txBody>
      </p:sp>
    </p:spTree>
    <p:extLst>
      <p:ext uri="{BB962C8B-B14F-4D97-AF65-F5344CB8AC3E}">
        <p14:creationId xmlns:p14="http://schemas.microsoft.com/office/powerpoint/2010/main" val="3664090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C7FF8B85-5EDD-4E7B-9BE9-9D8659578698}" type="slidenum">
              <a:rPr lang="en-US" altLang="en-US" sz="1200"/>
              <a:pPr/>
              <a:t>115</a:t>
            </a:fld>
            <a:endParaRPr lang="en-US" altLang="en-US" sz="1200"/>
          </a:p>
        </p:txBody>
      </p:sp>
      <p:sp>
        <p:nvSpPr>
          <p:cNvPr id="211971" name="Rectangle 2"/>
          <p:cNvSpPr>
            <a:spLocks noGrp="1" noRot="1" noChangeAspect="1" noChangeArrowheads="1" noTextEdit="1"/>
          </p:cNvSpPr>
          <p:nvPr>
            <p:ph type="sldImg"/>
          </p:nvPr>
        </p:nvSpPr>
        <p:spPr>
          <a:ln/>
        </p:spPr>
      </p:sp>
      <p:sp>
        <p:nvSpPr>
          <p:cNvPr id="21197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For what conditions might an ESR be requested? </a:t>
            </a:r>
          </a:p>
          <a:p>
            <a:pPr eaLnBrk="1" hangingPunct="1"/>
            <a:r>
              <a:rPr lang="en-US" altLang="en-US">
                <a:latin typeface="Times New Roman" panose="02020603050405020304" pitchFamily="18" charset="0"/>
              </a:rPr>
              <a:t> For what conditions would CK be indicated?</a:t>
            </a:r>
          </a:p>
          <a:p>
            <a:pPr eaLnBrk="1" hangingPunct="1"/>
            <a:r>
              <a:rPr lang="en-US" altLang="en-US">
                <a:latin typeface="Times New Roman" panose="02020603050405020304" pitchFamily="18" charset="0"/>
              </a:rPr>
              <a:t> What is a uric acid test used to diagnose? </a:t>
            </a:r>
            <a:r>
              <a:rPr lang="en-US" altLang="en-US" i="1">
                <a:latin typeface="Times New Roman" panose="02020603050405020304" pitchFamily="18" charset="0"/>
              </a:rPr>
              <a:t>(gout)</a:t>
            </a:r>
          </a:p>
        </p:txBody>
      </p:sp>
    </p:spTree>
    <p:extLst>
      <p:ext uri="{BB962C8B-B14F-4D97-AF65-F5344CB8AC3E}">
        <p14:creationId xmlns:p14="http://schemas.microsoft.com/office/powerpoint/2010/main" val="38103649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3600">
                <a:solidFill>
                  <a:schemeClr val="tx1"/>
                </a:solidFill>
                <a:latin typeface="Times New Roman" panose="02020603050405020304" pitchFamily="18" charset="0"/>
                <a:ea typeface="MS PGothic" panose="020B0600070205080204" pitchFamily="34" charset="-128"/>
              </a:defRPr>
            </a:lvl1pPr>
            <a:lvl2pPr marL="742950" indent="-285750">
              <a:defRPr sz="3600">
                <a:solidFill>
                  <a:schemeClr val="tx1"/>
                </a:solidFill>
                <a:latin typeface="Times New Roman" panose="02020603050405020304" pitchFamily="18" charset="0"/>
                <a:ea typeface="MS PGothic" panose="020B0600070205080204" pitchFamily="34" charset="-128"/>
              </a:defRPr>
            </a:lvl2pPr>
            <a:lvl3pPr marL="1143000" indent="-228600">
              <a:defRPr sz="3600">
                <a:solidFill>
                  <a:schemeClr val="tx1"/>
                </a:solidFill>
                <a:latin typeface="Times New Roman" panose="02020603050405020304" pitchFamily="18" charset="0"/>
                <a:ea typeface="MS PGothic" panose="020B0600070205080204" pitchFamily="34" charset="-128"/>
              </a:defRPr>
            </a:lvl3pPr>
            <a:lvl4pPr marL="1600200" indent="-228600">
              <a:defRPr sz="3600">
                <a:solidFill>
                  <a:schemeClr val="tx1"/>
                </a:solidFill>
                <a:latin typeface="Times New Roman" panose="02020603050405020304" pitchFamily="18" charset="0"/>
                <a:ea typeface="MS PGothic" panose="020B0600070205080204" pitchFamily="34" charset="-128"/>
              </a:defRPr>
            </a:lvl4pPr>
            <a:lvl5pPr marL="2057400" indent="-228600">
              <a:defRPr sz="36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3600">
                <a:solidFill>
                  <a:schemeClr val="tx1"/>
                </a:solidFill>
                <a:latin typeface="Times New Roman" panose="02020603050405020304" pitchFamily="18" charset="0"/>
                <a:ea typeface="MS PGothic" panose="020B0600070205080204" pitchFamily="34" charset="-128"/>
              </a:defRPr>
            </a:lvl9pPr>
          </a:lstStyle>
          <a:p>
            <a:fld id="{7CD1A18E-4742-4A5D-B1D7-08380E46B40B}" type="slidenum">
              <a:rPr lang="en-US" altLang="en-US" sz="1200"/>
              <a:pPr/>
              <a:t>116</a:t>
            </a:fld>
            <a:endParaRPr lang="en-US" altLang="en-US" sz="1200"/>
          </a:p>
        </p:txBody>
      </p:sp>
      <p:sp>
        <p:nvSpPr>
          <p:cNvPr id="212995" name="Rectangle 2"/>
          <p:cNvSpPr>
            <a:spLocks noGrp="1" noRot="1" noChangeAspect="1" noChangeArrowheads="1" noTextEdit="1"/>
          </p:cNvSpPr>
          <p:nvPr>
            <p:ph type="sldImg"/>
          </p:nvPr>
        </p:nvSpPr>
        <p:spPr>
          <a:ln/>
        </p:spPr>
      </p:sp>
      <p:sp>
        <p:nvSpPr>
          <p:cNvPr id="2129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If there are tests that students have seen before, discuss why they are appropriate for use in muscle-related disorders. </a:t>
            </a:r>
          </a:p>
          <a:p>
            <a:pPr eaLnBrk="1" hangingPunct="1"/>
            <a:r>
              <a:rPr lang="en-US" altLang="en-US">
                <a:latin typeface="Times New Roman" panose="02020603050405020304" pitchFamily="18" charset="0"/>
              </a:rPr>
              <a:t> If they are new, discuss how they are uniquely able to diagnose and treat conditions pertaining to muscle.</a:t>
            </a:r>
          </a:p>
        </p:txBody>
      </p:sp>
    </p:spTree>
    <p:extLst>
      <p:ext uri="{BB962C8B-B14F-4D97-AF65-F5344CB8AC3E}">
        <p14:creationId xmlns:p14="http://schemas.microsoft.com/office/powerpoint/2010/main" val="1559799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280150"/>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101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C8E838BE-659E-4AA1-6DAD-38673EF77A54}"/>
              </a:ext>
            </a:extLst>
          </p:cNvPr>
          <p:cNvPicPr>
            <a:picLocks noChangeAspect="1"/>
          </p:cNvPicPr>
          <p:nvPr userDrawn="1"/>
        </p:nvPicPr>
        <p:blipFill>
          <a:blip r:embed="rId15"/>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11.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type="title"/>
          </p:nvPr>
        </p:nvSpPr>
        <p:spPr>
          <a:xfrm>
            <a:off x="762000" y="838200"/>
            <a:ext cx="7620000" cy="1143000"/>
          </a:xfrm>
        </p:spPr>
        <p:txBody>
          <a:bodyPr rtlCol="0">
            <a:normAutofit fontScale="90000"/>
          </a:bodyPr>
          <a:lstStyle/>
          <a:p>
            <a:pPr eaLnBrk="1" fontAlgn="auto" hangingPunct="1">
              <a:spcAft>
                <a:spcPts val="0"/>
              </a:spcAft>
              <a:defRPr/>
            </a:pPr>
            <a:r>
              <a:rPr lang="en-US" dirty="0"/>
              <a:t>Chapter 15</a:t>
            </a:r>
            <a:br>
              <a:rPr lang="en-US" dirty="0"/>
            </a:br>
            <a:r>
              <a:rPr lang="en-US" dirty="0"/>
              <a:t> Musculoskeletal System</a:t>
            </a:r>
          </a:p>
        </p:txBody>
      </p:sp>
    </p:spTree>
    <p:extLst>
      <p:ext uri="{BB962C8B-B14F-4D97-AF65-F5344CB8AC3E}">
        <p14:creationId xmlns:p14="http://schemas.microsoft.com/office/powerpoint/2010/main" val="1559292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p:nvPr>
        </p:nvSpPr>
        <p:spPr/>
        <p:txBody>
          <a:bodyPr/>
          <a:lstStyle/>
          <a:p>
            <a:pPr eaLnBrk="1" hangingPunct="1"/>
            <a:r>
              <a:rPr lang="en-US" altLang="en-US" dirty="0"/>
              <a:t>Chapter Goals (Slide 1 of 3)</a:t>
            </a:r>
          </a:p>
        </p:txBody>
      </p:sp>
      <p:sp>
        <p:nvSpPr>
          <p:cNvPr id="6147" name="Rectangle 5"/>
          <p:cNvSpPr>
            <a:spLocks noGrp="1" noChangeArrowheads="1"/>
          </p:cNvSpPr>
          <p:nvPr>
            <p:ph idx="1"/>
          </p:nvPr>
        </p:nvSpPr>
        <p:spPr/>
        <p:txBody>
          <a:bodyPr/>
          <a:lstStyle/>
          <a:p>
            <a:pPr eaLnBrk="1" hangingPunct="1"/>
            <a:r>
              <a:rPr lang="en-US" altLang="en-US"/>
              <a:t>Define terms relating to the structure and function of bones, joints, and muscles.</a:t>
            </a:r>
          </a:p>
          <a:p>
            <a:pPr eaLnBrk="1" hangingPunct="1"/>
            <a:r>
              <a:rPr lang="en-US" altLang="en-US"/>
              <a:t>Describe the process of bone formation and growth.</a:t>
            </a:r>
          </a:p>
          <a:p>
            <a:pPr eaLnBrk="1" hangingPunct="1"/>
            <a:r>
              <a:rPr lang="en-US" altLang="en-US"/>
              <a:t>Locate and name the major bones of the body.</a:t>
            </a:r>
          </a:p>
        </p:txBody>
      </p:sp>
    </p:spTree>
    <p:extLst>
      <p:ext uri="{BB962C8B-B14F-4D97-AF65-F5344CB8AC3E}">
        <p14:creationId xmlns:p14="http://schemas.microsoft.com/office/powerpoint/2010/main" val="732780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pPr eaLnBrk="1" hangingPunct="1"/>
            <a:r>
              <a:rPr lang="en-US" altLang="en-US" dirty="0"/>
              <a:t>Chapter Goals (Slide 2 of 3</a:t>
            </a:r>
            <a:r>
              <a:rPr lang="en-US" altLang="ja-JP" dirty="0"/>
              <a:t>)</a:t>
            </a:r>
            <a:endParaRPr lang="en-US" altLang="en-US" dirty="0"/>
          </a:p>
        </p:txBody>
      </p:sp>
      <p:sp>
        <p:nvSpPr>
          <p:cNvPr id="7171" name="Rectangle 5"/>
          <p:cNvSpPr>
            <a:spLocks noGrp="1" noChangeArrowheads="1"/>
          </p:cNvSpPr>
          <p:nvPr>
            <p:ph idx="1"/>
          </p:nvPr>
        </p:nvSpPr>
        <p:spPr/>
        <p:txBody>
          <a:bodyPr/>
          <a:lstStyle/>
          <a:p>
            <a:pPr eaLnBrk="1" hangingPunct="1"/>
            <a:r>
              <a:rPr lang="en-US" altLang="en-US"/>
              <a:t>Analyze the combining forms, prefixes, and suffixes used to describe bones, joints, and muscles.</a:t>
            </a:r>
          </a:p>
          <a:p>
            <a:pPr eaLnBrk="1" hangingPunct="1"/>
            <a:r>
              <a:rPr lang="en-US" altLang="en-US"/>
              <a:t>Explain various musculoskeletal disease conditions and terms related to bone fractures.</a:t>
            </a:r>
          </a:p>
          <a:p>
            <a:pPr eaLnBrk="1" hangingPunct="1"/>
            <a:endParaRPr lang="en-US" altLang="en-US"/>
          </a:p>
        </p:txBody>
      </p:sp>
    </p:spTree>
    <p:extLst>
      <p:ext uri="{BB962C8B-B14F-4D97-AF65-F5344CB8AC3E}">
        <p14:creationId xmlns:p14="http://schemas.microsoft.com/office/powerpoint/2010/main" val="3538927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p:nvPr>
        </p:nvSpPr>
        <p:spPr/>
        <p:txBody>
          <a:bodyPr/>
          <a:lstStyle/>
          <a:p>
            <a:pPr eaLnBrk="1" hangingPunct="1"/>
            <a:r>
              <a:rPr lang="en-US" altLang="en-US" dirty="0"/>
              <a:t>Chapter Goals (Slide 3 of 3</a:t>
            </a:r>
            <a:r>
              <a:rPr lang="en-US" altLang="ja-JP" dirty="0"/>
              <a:t>)</a:t>
            </a:r>
            <a:endParaRPr lang="en-US" altLang="en-US" dirty="0"/>
          </a:p>
        </p:txBody>
      </p:sp>
      <p:sp>
        <p:nvSpPr>
          <p:cNvPr id="8195" name="Rectangle 5"/>
          <p:cNvSpPr>
            <a:spLocks noGrp="1" noChangeArrowheads="1"/>
          </p:cNvSpPr>
          <p:nvPr>
            <p:ph idx="1"/>
          </p:nvPr>
        </p:nvSpPr>
        <p:spPr>
          <a:xfrm>
            <a:off x="457200" y="1600200"/>
            <a:ext cx="8229600" cy="4525963"/>
          </a:xfrm>
        </p:spPr>
        <p:txBody>
          <a:bodyPr/>
          <a:lstStyle/>
          <a:p>
            <a:pPr eaLnBrk="1" hangingPunct="1"/>
            <a:r>
              <a:rPr lang="en-US" altLang="en-US"/>
              <a:t>Describe important laboratory tests and clinical procedures related to the musculoskeletal system, and recognize relevant abbreviations.</a:t>
            </a:r>
          </a:p>
          <a:p>
            <a:pPr eaLnBrk="1" hangingPunct="1"/>
            <a:r>
              <a:rPr lang="en-US" altLang="en-US"/>
              <a:t>Apply your new knowledge to understanding medical terms in their proper contexts, such as medical reports and records.</a:t>
            </a:r>
          </a:p>
        </p:txBody>
      </p:sp>
    </p:spTree>
    <p:extLst>
      <p:ext uri="{BB962C8B-B14F-4D97-AF65-F5344CB8AC3E}">
        <p14:creationId xmlns:p14="http://schemas.microsoft.com/office/powerpoint/2010/main" val="2623162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a:t>Chapter 15</a:t>
            </a:r>
            <a:br>
              <a:rPr lang="en-US"/>
            </a:br>
            <a:r>
              <a:rPr lang="en-US"/>
              <a:t>Lesson 15.1</a:t>
            </a:r>
          </a:p>
        </p:txBody>
      </p:sp>
    </p:spTree>
    <p:extLst>
      <p:ext uri="{BB962C8B-B14F-4D97-AF65-F5344CB8AC3E}">
        <p14:creationId xmlns:p14="http://schemas.microsoft.com/office/powerpoint/2010/main" val="3513947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title"/>
          </p:nvPr>
        </p:nvSpPr>
        <p:spPr/>
        <p:txBody>
          <a:bodyPr/>
          <a:lstStyle/>
          <a:p>
            <a:pPr eaLnBrk="1" hangingPunct="1"/>
            <a:r>
              <a:rPr lang="en-US" altLang="en-US"/>
              <a:t>Introduction</a:t>
            </a:r>
          </a:p>
        </p:txBody>
      </p:sp>
      <p:sp>
        <p:nvSpPr>
          <p:cNvPr id="6149" name="Rectangle 5"/>
          <p:cNvSpPr>
            <a:spLocks noGrp="1" noChangeArrowheads="1"/>
          </p:cNvSpPr>
          <p:nvPr>
            <p:ph idx="1"/>
          </p:nvPr>
        </p:nvSpPr>
        <p:spPr/>
        <p:txBody>
          <a:bodyPr rtlCol="0">
            <a:normAutofit fontScale="92500" lnSpcReduction="10000"/>
          </a:bodyPr>
          <a:lstStyle/>
          <a:p>
            <a:pPr eaLnBrk="1" fontAlgn="auto" hangingPunct="1">
              <a:spcAft>
                <a:spcPts val="0"/>
              </a:spcAft>
              <a:buFont typeface="Wingdings 2" pitchFamily="18" charset="2"/>
              <a:buNone/>
              <a:defRPr/>
            </a:pPr>
            <a:r>
              <a:rPr lang="en-US" b="1" dirty="0"/>
              <a:t>Musculoskeletal System:</a:t>
            </a:r>
            <a:r>
              <a:rPr lang="en-US" dirty="0"/>
              <a:t> bones, muscles, and joints of the body</a:t>
            </a:r>
          </a:p>
          <a:p>
            <a:pPr eaLnBrk="1" fontAlgn="auto" hangingPunct="1">
              <a:spcAft>
                <a:spcPts val="0"/>
              </a:spcAft>
              <a:buFont typeface="Wingdings 2" pitchFamily="18" charset="2"/>
              <a:buNone/>
              <a:defRPr/>
            </a:pPr>
            <a:r>
              <a:rPr lang="en-US" b="1" dirty="0"/>
              <a:t>Bones:</a:t>
            </a:r>
            <a:r>
              <a:rPr lang="en-US" dirty="0"/>
              <a:t> structural support and protection of internal organs</a:t>
            </a:r>
          </a:p>
          <a:p>
            <a:pPr eaLnBrk="1" fontAlgn="auto" hangingPunct="1">
              <a:spcAft>
                <a:spcPts val="0"/>
              </a:spcAft>
              <a:buFont typeface="Wingdings 2" pitchFamily="18" charset="2"/>
              <a:buNone/>
              <a:defRPr/>
            </a:pPr>
            <a:r>
              <a:rPr lang="en-US" b="1" dirty="0"/>
              <a:t>Muscles:</a:t>
            </a:r>
            <a:r>
              <a:rPr lang="en-US" dirty="0"/>
              <a:t> internal and external movement</a:t>
            </a:r>
          </a:p>
          <a:p>
            <a:pPr eaLnBrk="1" fontAlgn="auto" hangingPunct="1">
              <a:spcAft>
                <a:spcPts val="0"/>
              </a:spcAft>
              <a:buFont typeface="Wingdings 2" pitchFamily="18" charset="2"/>
              <a:buNone/>
              <a:defRPr/>
            </a:pPr>
            <a:r>
              <a:rPr lang="en-US" b="1" dirty="0"/>
              <a:t>Joints:</a:t>
            </a:r>
            <a:r>
              <a:rPr lang="en-US" dirty="0"/>
              <a:t> where bones come together/type determined by need for flexibility</a:t>
            </a:r>
          </a:p>
          <a:p>
            <a:pPr eaLnBrk="1" fontAlgn="auto" hangingPunct="1">
              <a:spcAft>
                <a:spcPts val="0"/>
              </a:spcAft>
              <a:buFont typeface="Wingdings 2" pitchFamily="18" charset="2"/>
              <a:buNone/>
              <a:defRPr/>
            </a:pPr>
            <a:r>
              <a:rPr lang="en-US" b="1" dirty="0"/>
              <a:t>Tendons:</a:t>
            </a:r>
            <a:r>
              <a:rPr lang="en-US" dirty="0"/>
              <a:t>  bind muscles to bones</a:t>
            </a:r>
          </a:p>
          <a:p>
            <a:pPr eaLnBrk="1" fontAlgn="auto" hangingPunct="1">
              <a:spcAft>
                <a:spcPts val="0"/>
              </a:spcAft>
              <a:buFont typeface="Wingdings 2" pitchFamily="18" charset="2"/>
              <a:buNone/>
              <a:defRPr/>
            </a:pPr>
            <a:r>
              <a:rPr lang="en-US" b="1" dirty="0"/>
              <a:t>Ligaments:</a:t>
            </a:r>
            <a:r>
              <a:rPr lang="en-US" dirty="0"/>
              <a:t>  bind bones to other bones</a:t>
            </a:r>
          </a:p>
        </p:txBody>
      </p:sp>
    </p:spTree>
    <p:extLst>
      <p:ext uri="{BB962C8B-B14F-4D97-AF65-F5344CB8AC3E}">
        <p14:creationId xmlns:p14="http://schemas.microsoft.com/office/powerpoint/2010/main" val="1351054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p:txBody>
          <a:bodyPr rtlCol="0">
            <a:normAutofit fontScale="90000"/>
          </a:bodyPr>
          <a:lstStyle/>
          <a:p>
            <a:pPr eaLnBrk="1" fontAlgn="auto" hangingPunct="1">
              <a:spcAft>
                <a:spcPts val="0"/>
              </a:spcAft>
              <a:defRPr/>
            </a:pPr>
            <a:r>
              <a:rPr lang="en-US"/>
              <a:t>Physicians Associated with Musculoskeletal System</a:t>
            </a:r>
          </a:p>
        </p:txBody>
      </p:sp>
      <p:sp>
        <p:nvSpPr>
          <p:cNvPr id="11267" name="Rectangle 5"/>
          <p:cNvSpPr>
            <a:spLocks noGrp="1" noChangeArrowheads="1"/>
          </p:cNvSpPr>
          <p:nvPr>
            <p:ph idx="1"/>
          </p:nvPr>
        </p:nvSpPr>
        <p:spPr>
          <a:xfrm>
            <a:off x="685800" y="1828800"/>
            <a:ext cx="7772400" cy="4267200"/>
          </a:xfrm>
        </p:spPr>
        <p:txBody>
          <a:bodyPr/>
          <a:lstStyle/>
          <a:p>
            <a:pPr eaLnBrk="1" hangingPunct="1"/>
            <a:r>
              <a:rPr lang="en-US" altLang="en-US" b="1"/>
              <a:t>Orthopedist:</a:t>
            </a:r>
            <a:r>
              <a:rPr lang="en-US" altLang="en-US"/>
              <a:t> MD</a:t>
            </a:r>
          </a:p>
          <a:p>
            <a:pPr eaLnBrk="1" hangingPunct="1"/>
            <a:endParaRPr lang="en-US" altLang="en-US" b="1"/>
          </a:p>
          <a:p>
            <a:pPr eaLnBrk="1" hangingPunct="1"/>
            <a:r>
              <a:rPr lang="en-US" altLang="en-US" b="1"/>
              <a:t>Rheumatologist:</a:t>
            </a:r>
            <a:r>
              <a:rPr lang="en-US" altLang="en-US"/>
              <a:t> MD</a:t>
            </a:r>
          </a:p>
          <a:p>
            <a:pPr eaLnBrk="1" hangingPunct="1"/>
            <a:endParaRPr lang="en-US" altLang="en-US"/>
          </a:p>
          <a:p>
            <a:pPr eaLnBrk="1" hangingPunct="1"/>
            <a:r>
              <a:rPr lang="en-US" altLang="en-US" b="1"/>
              <a:t>Physiatrist:  </a:t>
            </a:r>
            <a:r>
              <a:rPr lang="en-US" altLang="en-US"/>
              <a:t>MD</a:t>
            </a:r>
            <a:endParaRPr lang="en-US" altLang="en-US" b="1"/>
          </a:p>
          <a:p>
            <a:pPr eaLnBrk="1" hangingPunct="1"/>
            <a:endParaRPr lang="en-US" altLang="en-US" b="1"/>
          </a:p>
          <a:p>
            <a:pPr eaLnBrk="1" hangingPunct="1"/>
            <a:r>
              <a:rPr lang="en-US" altLang="en-US" b="1"/>
              <a:t>Osteopathic physician:</a:t>
            </a:r>
            <a:r>
              <a:rPr lang="en-US" altLang="en-US"/>
              <a:t> DO</a:t>
            </a:r>
          </a:p>
        </p:txBody>
      </p:sp>
    </p:spTree>
    <p:extLst>
      <p:ext uri="{BB962C8B-B14F-4D97-AF65-F5344CB8AC3E}">
        <p14:creationId xmlns:p14="http://schemas.microsoft.com/office/powerpoint/2010/main" val="1803167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p:nvPr>
        </p:nvSpPr>
        <p:spPr/>
        <p:txBody>
          <a:bodyPr/>
          <a:lstStyle/>
          <a:p>
            <a:pPr eaLnBrk="1" hangingPunct="1"/>
            <a:r>
              <a:rPr lang="en-US" altLang="en-US" dirty="0"/>
              <a:t>Bone Formation (Slide 1 of 3) </a:t>
            </a:r>
          </a:p>
        </p:txBody>
      </p:sp>
      <p:sp>
        <p:nvSpPr>
          <p:cNvPr id="12291" name="Rectangle 5"/>
          <p:cNvSpPr>
            <a:spLocks noGrp="1" noChangeArrowheads="1"/>
          </p:cNvSpPr>
          <p:nvPr>
            <p:ph idx="1"/>
          </p:nvPr>
        </p:nvSpPr>
        <p:spPr/>
        <p:txBody>
          <a:bodyPr/>
          <a:lstStyle/>
          <a:p>
            <a:pPr eaLnBrk="1" hangingPunct="1">
              <a:buFont typeface="Wingdings 2" panose="05020102010507070707" pitchFamily="18" charset="2"/>
              <a:buNone/>
            </a:pPr>
            <a:r>
              <a:rPr lang="en-US" altLang="en-US" b="1"/>
              <a:t>Ossification:</a:t>
            </a:r>
            <a:r>
              <a:rPr lang="en-US" altLang="en-US"/>
              <a:t> replacement of cartilage with bone</a:t>
            </a:r>
          </a:p>
          <a:p>
            <a:pPr eaLnBrk="1" hangingPunct="1"/>
            <a:r>
              <a:rPr lang="en-US" altLang="en-US" b="1"/>
              <a:t>Cells:</a:t>
            </a:r>
            <a:endParaRPr lang="en-US" altLang="en-US"/>
          </a:p>
          <a:p>
            <a:pPr lvl="1" eaLnBrk="1" hangingPunct="1">
              <a:buFont typeface="Wingdings" panose="05000000000000000000" pitchFamily="2" charset="2"/>
              <a:buChar char="Ø"/>
            </a:pPr>
            <a:r>
              <a:rPr lang="en-US" altLang="en-US" b="1"/>
              <a:t>Osteoblast:</a:t>
            </a:r>
            <a:r>
              <a:rPr lang="en-US" altLang="en-US"/>
              <a:t> produce immature bony tissue that replaces cartilage</a:t>
            </a:r>
          </a:p>
          <a:p>
            <a:pPr lvl="1" eaLnBrk="1" hangingPunct="1">
              <a:buFont typeface="Wingdings" panose="05000000000000000000" pitchFamily="2" charset="2"/>
              <a:buChar char="Ø"/>
            </a:pPr>
            <a:r>
              <a:rPr lang="en-US" altLang="en-US" b="1"/>
              <a:t>Osteocyte:</a:t>
            </a:r>
            <a:r>
              <a:rPr lang="en-US" altLang="en-US"/>
              <a:t> nourishes and maintains bone</a:t>
            </a:r>
          </a:p>
          <a:p>
            <a:pPr lvl="1" eaLnBrk="1" hangingPunct="1">
              <a:buFont typeface="Wingdings" panose="05000000000000000000" pitchFamily="2" charset="2"/>
              <a:buChar char="Ø"/>
            </a:pPr>
            <a:r>
              <a:rPr lang="en-US" altLang="en-US" b="1"/>
              <a:t>Osteoclast:</a:t>
            </a:r>
            <a:r>
              <a:rPr lang="en-US" altLang="en-US"/>
              <a:t> reabsorb or digest bone (remodels bone)</a:t>
            </a:r>
          </a:p>
        </p:txBody>
      </p:sp>
    </p:spTree>
    <p:extLst>
      <p:ext uri="{BB962C8B-B14F-4D97-AF65-F5344CB8AC3E}">
        <p14:creationId xmlns:p14="http://schemas.microsoft.com/office/powerpoint/2010/main" val="3565339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p:txBody>
          <a:bodyPr/>
          <a:lstStyle/>
          <a:p>
            <a:pPr eaLnBrk="1" hangingPunct="1"/>
            <a:r>
              <a:rPr lang="en-US" altLang="en-US" dirty="0"/>
              <a:t>Bone Formation (Slide 2 of 3</a:t>
            </a:r>
            <a:r>
              <a:rPr lang="en-US" altLang="ja-JP" dirty="0"/>
              <a:t>)</a:t>
            </a:r>
            <a:endParaRPr lang="en-US" altLang="en-US" dirty="0"/>
          </a:p>
        </p:txBody>
      </p:sp>
      <p:sp>
        <p:nvSpPr>
          <p:cNvPr id="13315" name="Rectangle 5"/>
          <p:cNvSpPr>
            <a:spLocks noGrp="1" noChangeArrowheads="1"/>
          </p:cNvSpPr>
          <p:nvPr>
            <p:ph idx="1"/>
          </p:nvPr>
        </p:nvSpPr>
        <p:spPr/>
        <p:txBody>
          <a:bodyPr/>
          <a:lstStyle/>
          <a:p>
            <a:pPr eaLnBrk="1" hangingPunct="1">
              <a:lnSpc>
                <a:spcPct val="90000"/>
              </a:lnSpc>
            </a:pPr>
            <a:r>
              <a:rPr lang="en-US" altLang="en-US"/>
              <a:t>Osteoblasts and osteoclasts work to deposit and tear down bone throughout life.</a:t>
            </a:r>
          </a:p>
          <a:p>
            <a:pPr eaLnBrk="1" hangingPunct="1">
              <a:lnSpc>
                <a:spcPct val="90000"/>
              </a:lnSpc>
            </a:pPr>
            <a:r>
              <a:rPr lang="en-US" altLang="en-US"/>
              <a:t>The skeleton is a source of calcium.</a:t>
            </a:r>
          </a:p>
          <a:p>
            <a:pPr eaLnBrk="1" hangingPunct="1">
              <a:lnSpc>
                <a:spcPct val="90000"/>
              </a:lnSpc>
            </a:pPr>
            <a:r>
              <a:rPr lang="en-US" altLang="en-US"/>
              <a:t>Proper formation of bone depends on sources of calcium, phosphorous, and </a:t>
            </a:r>
          </a:p>
          <a:p>
            <a:pPr eaLnBrk="1" hangingPunct="1">
              <a:lnSpc>
                <a:spcPct val="90000"/>
              </a:lnSpc>
              <a:buFont typeface="Wingdings 2" panose="05020102010507070707" pitchFamily="18" charset="2"/>
              <a:buNone/>
            </a:pPr>
            <a:r>
              <a:rPr lang="en-US" altLang="en-US"/>
              <a:t>    vitamin D. </a:t>
            </a:r>
          </a:p>
          <a:p>
            <a:pPr eaLnBrk="1" hangingPunct="1">
              <a:lnSpc>
                <a:spcPct val="90000"/>
              </a:lnSpc>
            </a:pPr>
            <a:r>
              <a:rPr lang="en-US" altLang="en-US"/>
              <a:t>Calcium phosphate enzyme helps create hard bone from these sources.</a:t>
            </a:r>
          </a:p>
        </p:txBody>
      </p:sp>
    </p:spTree>
    <p:extLst>
      <p:ext uri="{BB962C8B-B14F-4D97-AF65-F5344CB8AC3E}">
        <p14:creationId xmlns:p14="http://schemas.microsoft.com/office/powerpoint/2010/main" val="2330062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p:txBody>
          <a:bodyPr/>
          <a:lstStyle/>
          <a:p>
            <a:pPr eaLnBrk="1" hangingPunct="1"/>
            <a:r>
              <a:rPr lang="en-US" altLang="en-US" dirty="0"/>
              <a:t>Bone Formation (Slide 3 of 3</a:t>
            </a:r>
            <a:r>
              <a:rPr lang="en-US" altLang="ja-JP" dirty="0"/>
              <a:t>) </a:t>
            </a:r>
            <a:endParaRPr lang="en-US" altLang="en-US" dirty="0"/>
          </a:p>
        </p:txBody>
      </p:sp>
      <p:sp>
        <p:nvSpPr>
          <p:cNvPr id="14339" name="Rectangle 5"/>
          <p:cNvSpPr>
            <a:spLocks noGrp="1" noChangeArrowheads="1"/>
          </p:cNvSpPr>
          <p:nvPr>
            <p:ph idx="1"/>
          </p:nvPr>
        </p:nvSpPr>
        <p:spPr/>
        <p:txBody>
          <a:bodyPr/>
          <a:lstStyle/>
          <a:p>
            <a:pPr eaLnBrk="1" hangingPunct="1"/>
            <a:r>
              <a:rPr lang="en-US" altLang="en-US"/>
              <a:t>Reservoir for calcium storage</a:t>
            </a:r>
          </a:p>
          <a:p>
            <a:pPr eaLnBrk="1" hangingPunct="1"/>
            <a:r>
              <a:rPr lang="en-US" altLang="en-US"/>
              <a:t>Calcium necessary for nerve transmittal to muscle, including heart muscle and muscles attached to bones</a:t>
            </a:r>
          </a:p>
          <a:p>
            <a:pPr eaLnBrk="1" hangingPunct="1"/>
            <a:r>
              <a:rPr lang="en-US" altLang="en-US"/>
              <a:t>Calcium level maintained in blood by parathyroid gland, which secretes a hormone to release calcium from bone</a:t>
            </a:r>
          </a:p>
        </p:txBody>
      </p:sp>
    </p:spTree>
    <p:extLst>
      <p:ext uri="{BB962C8B-B14F-4D97-AF65-F5344CB8AC3E}">
        <p14:creationId xmlns:p14="http://schemas.microsoft.com/office/powerpoint/2010/main" val="3689105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p:txBody>
          <a:bodyPr/>
          <a:lstStyle/>
          <a:p>
            <a:pPr eaLnBrk="1" hangingPunct="1"/>
            <a:r>
              <a:rPr lang="en-US" altLang="en-US" dirty="0"/>
              <a:t>Bone Structure (Slide 1 of 4)</a:t>
            </a:r>
          </a:p>
        </p:txBody>
      </p:sp>
      <p:sp>
        <p:nvSpPr>
          <p:cNvPr id="15363" name="Rectangle 5"/>
          <p:cNvSpPr>
            <a:spLocks noGrp="1" noChangeArrowheads="1"/>
          </p:cNvSpPr>
          <p:nvPr>
            <p:ph idx="1"/>
          </p:nvPr>
        </p:nvSpPr>
        <p:spPr/>
        <p:txBody>
          <a:bodyPr/>
          <a:lstStyle/>
          <a:p>
            <a:pPr eaLnBrk="1" hangingPunct="1"/>
            <a:r>
              <a:rPr lang="en-US" altLang="en-US"/>
              <a:t>Long, short, flat, sesamoid (in shape)</a:t>
            </a:r>
          </a:p>
          <a:p>
            <a:pPr eaLnBrk="1" hangingPunct="1"/>
            <a:r>
              <a:rPr lang="en-US" altLang="en-US" b="1"/>
              <a:t>Diaphysis:</a:t>
            </a:r>
            <a:r>
              <a:rPr lang="en-US" altLang="en-US"/>
              <a:t> shaft</a:t>
            </a:r>
          </a:p>
          <a:p>
            <a:pPr eaLnBrk="1" hangingPunct="1"/>
            <a:r>
              <a:rPr lang="en-US" altLang="en-US" b="1"/>
              <a:t>Epiphysis:</a:t>
            </a:r>
            <a:r>
              <a:rPr lang="en-US" altLang="en-US"/>
              <a:t> end</a:t>
            </a:r>
          </a:p>
          <a:p>
            <a:pPr eaLnBrk="1" hangingPunct="1"/>
            <a:r>
              <a:rPr lang="en-US" altLang="en-US" b="1"/>
              <a:t>Metaphysis:</a:t>
            </a:r>
            <a:r>
              <a:rPr lang="en-US" altLang="en-US"/>
              <a:t> conelike flared portion between end and shaft</a:t>
            </a:r>
          </a:p>
          <a:p>
            <a:pPr eaLnBrk="1" hangingPunct="1"/>
            <a:r>
              <a:rPr lang="en-US" altLang="en-US" b="1"/>
              <a:t>Epiphyseal line or plate:</a:t>
            </a:r>
            <a:r>
              <a:rPr lang="en-US" altLang="en-US"/>
              <a:t> growth plate where cartilage replaced by bone for bone growth (in length)</a:t>
            </a:r>
          </a:p>
        </p:txBody>
      </p:sp>
    </p:spTree>
    <p:extLst>
      <p:ext uri="{BB962C8B-B14F-4D97-AF65-F5344CB8AC3E}">
        <p14:creationId xmlns:p14="http://schemas.microsoft.com/office/powerpoint/2010/main" val="1981662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Bone Structure (Slide 2 of 4</a:t>
            </a:r>
            <a:r>
              <a:rPr lang="en-US" altLang="ja-JP" dirty="0"/>
              <a:t>) </a:t>
            </a:r>
            <a:endParaRPr lang="en-US" altLang="en-US" dirty="0"/>
          </a:p>
        </p:txBody>
      </p:sp>
      <p:sp>
        <p:nvSpPr>
          <p:cNvPr id="16387" name="Rectangle 4"/>
          <p:cNvSpPr>
            <a:spLocks noGrp="1" noChangeArrowheads="1"/>
          </p:cNvSpPr>
          <p:nvPr>
            <p:ph type="body" sz="half" idx="1"/>
          </p:nvPr>
        </p:nvSpPr>
        <p:spPr>
          <a:xfrm>
            <a:off x="685800" y="1600200"/>
            <a:ext cx="7620000" cy="4114800"/>
          </a:xfrm>
        </p:spPr>
        <p:txBody>
          <a:bodyPr/>
          <a:lstStyle/>
          <a:p>
            <a:pPr marL="457200" indent="-457200" eaLnBrk="1" hangingPunct="1">
              <a:spcBef>
                <a:spcPct val="0"/>
              </a:spcBef>
              <a:buFont typeface="Arial" panose="020B0604020202020204" pitchFamily="34" charset="0"/>
              <a:buNone/>
            </a:pPr>
            <a:r>
              <a:rPr lang="en-US" altLang="en-US" dirty="0"/>
              <a:t>Interior bone structure includes:</a:t>
            </a:r>
          </a:p>
          <a:p>
            <a:pPr marL="457200" indent="-457200" eaLnBrk="1" hangingPunct="1">
              <a:spcBef>
                <a:spcPct val="0"/>
              </a:spcBef>
            </a:pPr>
            <a:r>
              <a:rPr lang="en-US" altLang="en-US" dirty="0" err="1"/>
              <a:t>Articular</a:t>
            </a:r>
            <a:r>
              <a:rPr lang="en-US" altLang="en-US" dirty="0"/>
              <a:t> cartilage</a:t>
            </a:r>
          </a:p>
          <a:p>
            <a:pPr marL="457200" indent="-457200" eaLnBrk="1" hangingPunct="1">
              <a:spcBef>
                <a:spcPct val="0"/>
              </a:spcBef>
            </a:pPr>
            <a:r>
              <a:rPr lang="en-US" altLang="en-US" dirty="0" err="1"/>
              <a:t>Epiphyseal</a:t>
            </a:r>
            <a:r>
              <a:rPr lang="en-US" altLang="en-US" dirty="0"/>
              <a:t> line or plate</a:t>
            </a:r>
          </a:p>
          <a:p>
            <a:pPr marL="457200" indent="-457200" eaLnBrk="1" hangingPunct="1">
              <a:spcBef>
                <a:spcPct val="0"/>
              </a:spcBef>
            </a:pPr>
            <a:r>
              <a:rPr lang="en-US" altLang="en-US" dirty="0" err="1"/>
              <a:t>Cancellous</a:t>
            </a:r>
            <a:r>
              <a:rPr lang="en-US" altLang="en-US" dirty="0"/>
              <a:t> bone</a:t>
            </a:r>
          </a:p>
          <a:p>
            <a:pPr marL="457200" indent="-457200" eaLnBrk="1" hangingPunct="1">
              <a:spcBef>
                <a:spcPct val="0"/>
              </a:spcBef>
            </a:pPr>
            <a:r>
              <a:rPr lang="en-US" altLang="en-US" dirty="0"/>
              <a:t>Compact (cortical) bone</a:t>
            </a:r>
          </a:p>
          <a:p>
            <a:pPr marL="457200" indent="-457200" eaLnBrk="1" hangingPunct="1">
              <a:spcBef>
                <a:spcPct val="0"/>
              </a:spcBef>
            </a:pPr>
            <a:r>
              <a:rPr lang="en-US" altLang="en-US" dirty="0" err="1"/>
              <a:t>Medullary</a:t>
            </a:r>
            <a:r>
              <a:rPr lang="en-US" altLang="en-US" dirty="0"/>
              <a:t> cavity</a:t>
            </a:r>
          </a:p>
          <a:p>
            <a:pPr marL="457200" indent="-457200" eaLnBrk="1" hangingPunct="1">
              <a:spcBef>
                <a:spcPct val="0"/>
              </a:spcBef>
            </a:pPr>
            <a:r>
              <a:rPr lang="en-US" altLang="en-US" dirty="0" err="1"/>
              <a:t>Periosteum</a:t>
            </a:r>
            <a:endParaRPr lang="en-US" altLang="en-US" dirty="0"/>
          </a:p>
        </p:txBody>
      </p:sp>
    </p:spTree>
    <p:extLst>
      <p:ext uri="{BB962C8B-B14F-4D97-AF65-F5344CB8AC3E}">
        <p14:creationId xmlns:p14="http://schemas.microsoft.com/office/powerpoint/2010/main" val="3370534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p:txBody>
          <a:bodyPr/>
          <a:lstStyle/>
          <a:p>
            <a:pPr eaLnBrk="1" hangingPunct="1"/>
            <a:r>
              <a:rPr lang="en-US" altLang="en-US" dirty="0"/>
              <a:t>Bone Structure (Slide 3 of 4</a:t>
            </a:r>
            <a:r>
              <a:rPr lang="en-US" altLang="ja-JP" dirty="0"/>
              <a:t>) </a:t>
            </a:r>
            <a:endParaRPr lang="en-US" altLang="en-US" dirty="0"/>
          </a:p>
        </p:txBody>
      </p:sp>
      <p:pic>
        <p:nvPicPr>
          <p:cNvPr id="5" name="Picture 1032" descr="Middle region of long bone  is the diaphysis. Each end of a long bone is called an epiphysis. Metaphysis is flared portion  that lies between the epiphysis and diaphysis, and is adjacent to the epiphyseal plate. Periosteum is a strong, fibrous, vascular membrane covering the surface of long bones. The end of long bones that meet another bone to form a joint are called articular cartilage. Compact (cortical) bone is a layer of hard, dense bone that lies under the periosteum and located around diaphysis of long bones. Medullary cavity is a central shaft of long bone and contains yellow marrow. Cancellous (spongy or trabecular) bone is porous and less dense. Interwoven fibers within the cancellous bone are called trabecula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812266" y="1600200"/>
            <a:ext cx="5519467"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1189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p:txBody>
          <a:bodyPr/>
          <a:lstStyle/>
          <a:p>
            <a:pPr eaLnBrk="1" hangingPunct="1"/>
            <a:r>
              <a:rPr lang="en-US" altLang="en-US" dirty="0"/>
              <a:t>Bone Structure (Slide 4 of 4</a:t>
            </a:r>
            <a:r>
              <a:rPr lang="en-US" altLang="ja-JP" dirty="0"/>
              <a:t>)</a:t>
            </a:r>
            <a:endParaRPr lang="en-US" altLang="en-US" dirty="0"/>
          </a:p>
        </p:txBody>
      </p:sp>
      <p:sp>
        <p:nvSpPr>
          <p:cNvPr id="16389" name="Rectangle 5"/>
          <p:cNvSpPr>
            <a:spLocks noGrp="1" noChangeArrowheads="1"/>
          </p:cNvSpPr>
          <p:nvPr>
            <p:ph idx="1"/>
          </p:nvPr>
        </p:nvSpPr>
        <p:spPr/>
        <p:txBody>
          <a:bodyPr rtlCol="0">
            <a:normAutofit lnSpcReduction="10000"/>
          </a:bodyPr>
          <a:lstStyle/>
          <a:p>
            <a:pPr eaLnBrk="1" fontAlgn="auto" hangingPunct="1">
              <a:spcAft>
                <a:spcPts val="0"/>
              </a:spcAft>
              <a:defRPr/>
            </a:pPr>
            <a:r>
              <a:rPr lang="en-US"/>
              <a:t>Ends of bones covered by articular cartilage in the joint: cushions joint and allows it to move smoothly</a:t>
            </a:r>
          </a:p>
          <a:p>
            <a:pPr eaLnBrk="1" fontAlgn="auto" hangingPunct="1">
              <a:spcAft>
                <a:spcPts val="0"/>
              </a:spcAft>
              <a:defRPr/>
            </a:pPr>
            <a:r>
              <a:rPr lang="en-US" b="1"/>
              <a:t>Compact bone:</a:t>
            </a:r>
            <a:r>
              <a:rPr lang="en-US"/>
              <a:t> contains haversian systems for blood vessels, nerves, and yellow bone marrow (mostly fat)</a:t>
            </a:r>
          </a:p>
          <a:p>
            <a:pPr eaLnBrk="1" fontAlgn="auto" hangingPunct="1">
              <a:spcAft>
                <a:spcPts val="0"/>
              </a:spcAft>
              <a:defRPr/>
            </a:pPr>
            <a:r>
              <a:rPr lang="en-US" b="1"/>
              <a:t>Cancellous</a:t>
            </a:r>
            <a:r>
              <a:rPr lang="en-US"/>
              <a:t> (spongy/trabecular bone): spaces contain red bone marrow with elements for blood formation</a:t>
            </a:r>
          </a:p>
        </p:txBody>
      </p:sp>
    </p:spTree>
    <p:extLst>
      <p:ext uri="{BB962C8B-B14F-4D97-AF65-F5344CB8AC3E}">
        <p14:creationId xmlns:p14="http://schemas.microsoft.com/office/powerpoint/2010/main" val="298339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p:txBody>
          <a:bodyPr/>
          <a:lstStyle/>
          <a:p>
            <a:pPr eaLnBrk="1" hangingPunct="1"/>
            <a:r>
              <a:rPr lang="en-US" altLang="en-US"/>
              <a:t>Bone Marrow</a:t>
            </a:r>
          </a:p>
        </p:txBody>
      </p:sp>
      <p:sp>
        <p:nvSpPr>
          <p:cNvPr id="19459" name="Rectangle 5"/>
          <p:cNvSpPr>
            <a:spLocks noGrp="1" noChangeArrowheads="1"/>
          </p:cNvSpPr>
          <p:nvPr>
            <p:ph idx="1"/>
          </p:nvPr>
        </p:nvSpPr>
        <p:spPr>
          <a:xfrm>
            <a:off x="685800" y="1371600"/>
            <a:ext cx="7772400" cy="4724400"/>
          </a:xfrm>
        </p:spPr>
        <p:txBody>
          <a:bodyPr/>
          <a:lstStyle/>
          <a:p>
            <a:pPr eaLnBrk="1" hangingPunct="1">
              <a:lnSpc>
                <a:spcPct val="90000"/>
              </a:lnSpc>
            </a:pPr>
            <a:r>
              <a:rPr lang="en-US" altLang="en-US" b="1"/>
              <a:t>Yellow marrow:</a:t>
            </a:r>
            <a:r>
              <a:rPr lang="en-US" altLang="en-US"/>
              <a:t> chiefly fat</a:t>
            </a:r>
          </a:p>
          <a:p>
            <a:pPr eaLnBrk="1" hangingPunct="1">
              <a:lnSpc>
                <a:spcPct val="90000"/>
              </a:lnSpc>
            </a:pPr>
            <a:endParaRPr lang="en-US" altLang="en-US"/>
          </a:p>
          <a:p>
            <a:pPr eaLnBrk="1" hangingPunct="1">
              <a:lnSpc>
                <a:spcPct val="90000"/>
              </a:lnSpc>
            </a:pPr>
            <a:r>
              <a:rPr lang="en-US" altLang="en-US" b="1"/>
              <a:t>Red marrow:</a:t>
            </a:r>
            <a:r>
              <a:rPr lang="en-US" altLang="en-US"/>
              <a:t> rich with blood vessels and immature and mature blood cells in various stages of development; in later life replaced with yellow marrow; </a:t>
            </a:r>
            <a:r>
              <a:rPr lang="en-US" altLang="en-US" b="1"/>
              <a:t>hematopoieses </a:t>
            </a:r>
            <a:r>
              <a:rPr lang="en-US" altLang="en-US"/>
              <a:t>is the production of all types of blood cells in the bone marrow</a:t>
            </a:r>
          </a:p>
          <a:p>
            <a:pPr eaLnBrk="1" hangingPunct="1">
              <a:lnSpc>
                <a:spcPct val="90000"/>
              </a:lnSpc>
            </a:pPr>
            <a:endParaRPr lang="en-US" altLang="en-US"/>
          </a:p>
        </p:txBody>
      </p:sp>
    </p:spTree>
    <p:extLst>
      <p:ext uri="{BB962C8B-B14F-4D97-AF65-F5344CB8AC3E}">
        <p14:creationId xmlns:p14="http://schemas.microsoft.com/office/powerpoint/2010/main" val="697969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Grp="1" noChangeArrowheads="1"/>
          </p:cNvSpPr>
          <p:nvPr>
            <p:ph type="title"/>
          </p:nvPr>
        </p:nvSpPr>
        <p:spPr>
          <a:xfrm>
            <a:off x="1143000" y="228600"/>
            <a:ext cx="6985000" cy="1143000"/>
          </a:xfrm>
        </p:spPr>
        <p:txBody>
          <a:bodyPr rtlCol="0">
            <a:normAutofit fontScale="90000"/>
          </a:bodyPr>
          <a:lstStyle/>
          <a:p>
            <a:pPr eaLnBrk="1" fontAlgn="auto" hangingPunct="1">
              <a:spcAft>
                <a:spcPts val="0"/>
              </a:spcAft>
              <a:defRPr/>
            </a:pPr>
            <a:r>
              <a:rPr lang="en-US" dirty="0"/>
              <a:t>Bone Processes and Depressions</a:t>
            </a:r>
            <a:br>
              <a:rPr lang="en-US" dirty="0"/>
            </a:br>
            <a:r>
              <a:rPr lang="en-US" dirty="0"/>
              <a:t>(Slide 1 of 2)</a:t>
            </a:r>
          </a:p>
        </p:txBody>
      </p:sp>
      <p:sp>
        <p:nvSpPr>
          <p:cNvPr id="20483" name="Rectangle 5"/>
          <p:cNvSpPr>
            <a:spLocks noGrp="1" noChangeArrowheads="1"/>
          </p:cNvSpPr>
          <p:nvPr>
            <p:ph idx="1"/>
          </p:nvPr>
        </p:nvSpPr>
        <p:spPr/>
        <p:txBody>
          <a:bodyPr/>
          <a:lstStyle/>
          <a:p>
            <a:pPr eaLnBrk="1" hangingPunct="1"/>
            <a:r>
              <a:rPr lang="en-US" altLang="en-US" b="1"/>
              <a:t>Processes:</a:t>
            </a:r>
            <a:r>
              <a:rPr lang="en-US" altLang="en-US"/>
              <a:t> serve as attachments for muscles, tendons, and ligaments</a:t>
            </a:r>
          </a:p>
          <a:p>
            <a:pPr eaLnBrk="1" hangingPunct="1"/>
            <a:endParaRPr lang="en-US" altLang="en-US"/>
          </a:p>
          <a:p>
            <a:pPr eaLnBrk="1" hangingPunct="1"/>
            <a:r>
              <a:rPr lang="en-US" altLang="en-US" b="1"/>
              <a:t>Depressions:</a:t>
            </a:r>
            <a:r>
              <a:rPr lang="en-US" altLang="en-US"/>
              <a:t> openings or hollow regions help join bones or serve as passageways for nerves and/or vessels</a:t>
            </a:r>
          </a:p>
        </p:txBody>
      </p:sp>
    </p:spTree>
    <p:extLst>
      <p:ext uri="{BB962C8B-B14F-4D97-AF65-F5344CB8AC3E}">
        <p14:creationId xmlns:p14="http://schemas.microsoft.com/office/powerpoint/2010/main" val="780890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dirty="0"/>
              <a:t>Bone Processes and Depressions (Slide 2 of 2</a:t>
            </a:r>
            <a:r>
              <a:rPr lang="en-US" altLang="ja-JP" dirty="0"/>
              <a:t>)</a:t>
            </a:r>
            <a:endParaRPr lang="en-US" dirty="0"/>
          </a:p>
        </p:txBody>
      </p:sp>
      <p:pic>
        <p:nvPicPr>
          <p:cNvPr id="5" name="Picture 5" descr="Bone processes on femur (thigh bone) are trochanters, epicondyle, and condyle. On the humerus (upper arm bone) they are tuberosity, lecranon (elbow) fossa, epicondyle, and condyle. "/>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13091" y="1600200"/>
            <a:ext cx="7517818"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2795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title"/>
          </p:nvPr>
        </p:nvSpPr>
        <p:spPr/>
        <p:txBody>
          <a:bodyPr/>
          <a:lstStyle/>
          <a:p>
            <a:pPr eaLnBrk="1" hangingPunct="1"/>
            <a:r>
              <a:rPr lang="en-US" altLang="en-US" dirty="0"/>
              <a:t>Cranial Bones (Slide 1 of 2)</a:t>
            </a:r>
          </a:p>
        </p:txBody>
      </p:sp>
      <p:pic>
        <p:nvPicPr>
          <p:cNvPr id="6" name="Picture 1033" descr="Cranial bones (viewed from above downward) include frontal bone, sphenoid bone, temporal bone occipital bone, ethmoid bone, and parietal bon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69268" y="1905000"/>
            <a:ext cx="4605464" cy="37534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7599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Grp="1" noChangeArrowheads="1"/>
          </p:cNvSpPr>
          <p:nvPr>
            <p:ph type="title"/>
          </p:nvPr>
        </p:nvSpPr>
        <p:spPr/>
        <p:txBody>
          <a:bodyPr/>
          <a:lstStyle/>
          <a:p>
            <a:pPr eaLnBrk="1" hangingPunct="1"/>
            <a:r>
              <a:rPr lang="en-US" altLang="en-US" dirty="0"/>
              <a:t>Cranial Bones (Slide 2 of 2</a:t>
            </a:r>
            <a:r>
              <a:rPr lang="en-US" altLang="ja-JP" dirty="0"/>
              <a:t>)</a:t>
            </a:r>
            <a:endParaRPr lang="en-US" altLang="en-US" dirty="0"/>
          </a:p>
        </p:txBody>
      </p:sp>
      <p:pic>
        <p:nvPicPr>
          <p:cNvPr id="5" name="Picture 1034" descr="Cranial bones (lateral view) include frontal bone, sphenoid bone, parietal bone, temporal bone, occipital bone, and ethmoid bon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39846" y="1600200"/>
            <a:ext cx="6264308"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0625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5"/>
          <p:cNvSpPr>
            <a:spLocks noGrp="1" noChangeArrowheads="1"/>
          </p:cNvSpPr>
          <p:nvPr>
            <p:ph type="title"/>
          </p:nvPr>
        </p:nvSpPr>
        <p:spPr>
          <a:xfrm>
            <a:off x="1371600" y="228600"/>
            <a:ext cx="6477000" cy="1143000"/>
          </a:xfrm>
        </p:spPr>
        <p:txBody>
          <a:bodyPr rtlCol="0">
            <a:normAutofit fontScale="90000"/>
          </a:bodyPr>
          <a:lstStyle/>
          <a:p>
            <a:pPr eaLnBrk="1" fontAlgn="auto" hangingPunct="1">
              <a:spcAft>
                <a:spcPts val="0"/>
              </a:spcAft>
              <a:defRPr/>
            </a:pPr>
            <a:r>
              <a:rPr lang="en-US"/>
              <a:t>Cranial Bones and </a:t>
            </a:r>
            <a:br>
              <a:rPr lang="en-US"/>
            </a:br>
            <a:r>
              <a:rPr lang="en-US"/>
              <a:t>Associated Structures</a:t>
            </a:r>
          </a:p>
        </p:txBody>
      </p:sp>
      <p:sp>
        <p:nvSpPr>
          <p:cNvPr id="25603" name="Rectangle 6"/>
          <p:cNvSpPr>
            <a:spLocks noGrp="1" noChangeArrowheads="1"/>
          </p:cNvSpPr>
          <p:nvPr>
            <p:ph sz="half" idx="1"/>
          </p:nvPr>
        </p:nvSpPr>
        <p:spPr>
          <a:xfrm>
            <a:off x="685800" y="1371600"/>
            <a:ext cx="6781800" cy="5181600"/>
          </a:xfrm>
        </p:spPr>
        <p:txBody>
          <a:bodyPr/>
          <a:lstStyle/>
          <a:p>
            <a:pPr eaLnBrk="1" hangingPunct="1"/>
            <a:r>
              <a:rPr lang="en-US" altLang="en-US" sz="2600" b="1" dirty="0"/>
              <a:t>Frontal bone</a:t>
            </a:r>
          </a:p>
          <a:p>
            <a:pPr eaLnBrk="1" hangingPunct="1"/>
            <a:r>
              <a:rPr lang="en-US" altLang="en-US" sz="2600" b="1" dirty="0"/>
              <a:t>Parietal bone</a:t>
            </a:r>
          </a:p>
          <a:p>
            <a:pPr eaLnBrk="1" hangingPunct="1"/>
            <a:r>
              <a:rPr lang="en-US" altLang="en-US" sz="2600" b="1" dirty="0"/>
              <a:t>Temporal bone</a:t>
            </a:r>
          </a:p>
          <a:p>
            <a:pPr lvl="1" eaLnBrk="1" hangingPunct="1">
              <a:buFont typeface="Wingdings" panose="05000000000000000000" pitchFamily="2" charset="2"/>
              <a:buChar char="Ø"/>
            </a:pPr>
            <a:r>
              <a:rPr lang="en-US" altLang="en-US" dirty="0"/>
              <a:t>temporomandibular (TMJ) joint</a:t>
            </a:r>
          </a:p>
          <a:p>
            <a:pPr lvl="1" eaLnBrk="1" hangingPunct="1">
              <a:buFont typeface="Wingdings" panose="05000000000000000000" pitchFamily="2" charset="2"/>
              <a:buChar char="Ø"/>
            </a:pPr>
            <a:r>
              <a:rPr lang="en-US" altLang="en-US" dirty="0"/>
              <a:t>mastoid process</a:t>
            </a:r>
          </a:p>
          <a:p>
            <a:pPr lvl="1" eaLnBrk="1" hangingPunct="1">
              <a:buFont typeface="Wingdings" panose="05000000000000000000" pitchFamily="2" charset="2"/>
              <a:buChar char="Ø"/>
            </a:pPr>
            <a:r>
              <a:rPr lang="en-US" altLang="en-US" dirty="0"/>
              <a:t>styloid process</a:t>
            </a:r>
          </a:p>
          <a:p>
            <a:pPr eaLnBrk="1" hangingPunct="1"/>
            <a:r>
              <a:rPr lang="en-US" altLang="en-US" sz="2600" b="1" dirty="0"/>
              <a:t>Occipital bone</a:t>
            </a:r>
          </a:p>
          <a:p>
            <a:pPr lvl="1" eaLnBrk="1" hangingPunct="1">
              <a:buFont typeface="Wingdings" panose="05000000000000000000" pitchFamily="2" charset="2"/>
              <a:buChar char="Ø"/>
            </a:pPr>
            <a:r>
              <a:rPr lang="en-US" altLang="en-US" dirty="0"/>
              <a:t>foramen magnum</a:t>
            </a:r>
          </a:p>
          <a:p>
            <a:pPr eaLnBrk="1" hangingPunct="1"/>
            <a:r>
              <a:rPr lang="en-US" altLang="en-US" sz="2600" b="1" dirty="0"/>
              <a:t>Sphenoid bone</a:t>
            </a:r>
            <a:r>
              <a:rPr lang="en-US" altLang="en-US" sz="2600" dirty="0"/>
              <a:t>	</a:t>
            </a:r>
          </a:p>
          <a:p>
            <a:pPr lvl="1" eaLnBrk="1" hangingPunct="1">
              <a:buFont typeface="Wingdings" panose="05000000000000000000" pitchFamily="2" charset="2"/>
              <a:buChar char="Ø"/>
            </a:pPr>
            <a:r>
              <a:rPr lang="en-US" altLang="en-US" dirty="0" err="1"/>
              <a:t>sella</a:t>
            </a:r>
            <a:r>
              <a:rPr lang="en-US" altLang="en-US" dirty="0"/>
              <a:t> turcica</a:t>
            </a:r>
          </a:p>
          <a:p>
            <a:pPr eaLnBrk="1" hangingPunct="1"/>
            <a:r>
              <a:rPr lang="en-US" altLang="en-US" sz="2600" b="1" dirty="0"/>
              <a:t>Ethmoid bone</a:t>
            </a:r>
          </a:p>
        </p:txBody>
      </p:sp>
    </p:spTree>
    <p:extLst>
      <p:ext uri="{BB962C8B-B14F-4D97-AF65-F5344CB8AC3E}">
        <p14:creationId xmlns:p14="http://schemas.microsoft.com/office/powerpoint/2010/main" val="30974696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6"/>
          <p:cNvSpPr>
            <a:spLocks noGrp="1" noChangeArrowheads="1"/>
          </p:cNvSpPr>
          <p:nvPr>
            <p:ph type="title"/>
          </p:nvPr>
        </p:nvSpPr>
        <p:spPr/>
        <p:txBody>
          <a:bodyPr/>
          <a:lstStyle/>
          <a:p>
            <a:pPr eaLnBrk="1" hangingPunct="1"/>
            <a:r>
              <a:rPr lang="en-US" altLang="en-US" dirty="0"/>
              <a:t>Facial Bones (Slide 1 of 2</a:t>
            </a:r>
            <a:r>
              <a:rPr lang="en-US" altLang="ja-JP" dirty="0"/>
              <a:t>)</a:t>
            </a:r>
            <a:endParaRPr lang="en-US" altLang="en-US" dirty="0"/>
          </a:p>
        </p:txBody>
      </p:sp>
      <p:pic>
        <p:nvPicPr>
          <p:cNvPr id="5" name="Picture 1031" descr="Facial bones include nasal bones, lacrimal bones, maxillary bones, mandibular bone, zygomatic bones, and vome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34406" y="1600200"/>
            <a:ext cx="5675188"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416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Grp="1" noChangeArrowheads="1"/>
          </p:cNvSpPr>
          <p:nvPr>
            <p:ph type="title"/>
          </p:nvPr>
        </p:nvSpPr>
        <p:spPr/>
        <p:txBody>
          <a:bodyPr/>
          <a:lstStyle/>
          <a:p>
            <a:pPr eaLnBrk="1" hangingPunct="1"/>
            <a:r>
              <a:rPr lang="en-US" altLang="en-US" dirty="0"/>
              <a:t>Facial Bones (Slide 2 of 2</a:t>
            </a:r>
            <a:r>
              <a:rPr lang="en-US" altLang="ja-JP" dirty="0"/>
              <a:t>)</a:t>
            </a:r>
            <a:endParaRPr lang="en-US" altLang="en-US" dirty="0"/>
          </a:p>
        </p:txBody>
      </p:sp>
      <p:sp>
        <p:nvSpPr>
          <p:cNvPr id="28675" name="Rectangle 7"/>
          <p:cNvSpPr>
            <a:spLocks noGrp="1" noChangeArrowheads="1"/>
          </p:cNvSpPr>
          <p:nvPr>
            <p:ph sz="half" idx="1"/>
          </p:nvPr>
        </p:nvSpPr>
        <p:spPr>
          <a:xfrm>
            <a:off x="685800" y="1641475"/>
            <a:ext cx="3800475" cy="4454525"/>
          </a:xfrm>
        </p:spPr>
        <p:txBody>
          <a:bodyPr/>
          <a:lstStyle/>
          <a:p>
            <a:pPr eaLnBrk="1" hangingPunct="1"/>
            <a:r>
              <a:rPr lang="en-US" altLang="en-US" sz="3200" dirty="0"/>
              <a:t>Nasal bones</a:t>
            </a:r>
          </a:p>
          <a:p>
            <a:pPr eaLnBrk="1" hangingPunct="1"/>
            <a:r>
              <a:rPr lang="en-US" altLang="en-US" sz="3200" dirty="0" err="1"/>
              <a:t>Lacrimal</a:t>
            </a:r>
            <a:r>
              <a:rPr lang="en-US" altLang="en-US" sz="3200" dirty="0"/>
              <a:t> bones</a:t>
            </a:r>
          </a:p>
          <a:p>
            <a:pPr eaLnBrk="1" hangingPunct="1"/>
            <a:r>
              <a:rPr lang="en-US" altLang="en-US" sz="3200" dirty="0"/>
              <a:t>Maxillary bones</a:t>
            </a:r>
          </a:p>
        </p:txBody>
      </p:sp>
      <p:sp>
        <p:nvSpPr>
          <p:cNvPr id="28676" name="Rectangle 8"/>
          <p:cNvSpPr>
            <a:spLocks noGrp="1" noChangeArrowheads="1"/>
          </p:cNvSpPr>
          <p:nvPr>
            <p:ph sz="half" idx="2"/>
          </p:nvPr>
        </p:nvSpPr>
        <p:spPr>
          <a:xfrm>
            <a:off x="4657725" y="1641475"/>
            <a:ext cx="3800475" cy="4454525"/>
          </a:xfrm>
        </p:spPr>
        <p:txBody>
          <a:bodyPr/>
          <a:lstStyle/>
          <a:p>
            <a:pPr eaLnBrk="1" hangingPunct="1"/>
            <a:r>
              <a:rPr lang="en-US" altLang="en-US" sz="3200" dirty="0" err="1"/>
              <a:t>Mandibular</a:t>
            </a:r>
            <a:r>
              <a:rPr lang="en-US" altLang="en-US" sz="3200" dirty="0"/>
              <a:t> bones</a:t>
            </a:r>
          </a:p>
          <a:p>
            <a:pPr eaLnBrk="1" hangingPunct="1"/>
            <a:r>
              <a:rPr lang="en-US" altLang="en-US" sz="3200" dirty="0" err="1"/>
              <a:t>Zygomatic</a:t>
            </a:r>
            <a:r>
              <a:rPr lang="en-US" altLang="en-US" sz="3200" dirty="0"/>
              <a:t> bones</a:t>
            </a:r>
          </a:p>
          <a:p>
            <a:pPr eaLnBrk="1" hangingPunct="1"/>
            <a:r>
              <a:rPr lang="en-US" altLang="en-US" sz="3200" dirty="0" err="1"/>
              <a:t>Vomer</a:t>
            </a:r>
            <a:endParaRPr lang="en-US" altLang="en-US" sz="3200" dirty="0"/>
          </a:p>
          <a:p>
            <a:pPr eaLnBrk="1" hangingPunct="1"/>
            <a:endParaRPr lang="en-US" altLang="en-US" sz="3200" dirty="0"/>
          </a:p>
        </p:txBody>
      </p:sp>
    </p:spTree>
    <p:extLst>
      <p:ext uri="{BB962C8B-B14F-4D97-AF65-F5344CB8AC3E}">
        <p14:creationId xmlns:p14="http://schemas.microsoft.com/office/powerpoint/2010/main" val="3950348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028"/>
          <p:cNvSpPr>
            <a:spLocks noGrp="1" noChangeArrowheads="1"/>
          </p:cNvSpPr>
          <p:nvPr>
            <p:ph type="title"/>
          </p:nvPr>
        </p:nvSpPr>
        <p:spPr/>
        <p:txBody>
          <a:bodyPr/>
          <a:lstStyle/>
          <a:p>
            <a:pPr eaLnBrk="1" hangingPunct="1"/>
            <a:r>
              <a:rPr lang="en-US" altLang="en-US"/>
              <a:t>Sinuses</a:t>
            </a:r>
          </a:p>
        </p:txBody>
      </p:sp>
      <p:sp>
        <p:nvSpPr>
          <p:cNvPr id="29699" name="Rectangle 1029"/>
          <p:cNvSpPr>
            <a:spLocks noGrp="1" noChangeArrowheads="1"/>
          </p:cNvSpPr>
          <p:nvPr>
            <p:ph type="body" sz="half" idx="1"/>
          </p:nvPr>
        </p:nvSpPr>
        <p:spPr>
          <a:xfrm>
            <a:off x="685800" y="1600200"/>
            <a:ext cx="6858000" cy="4114800"/>
          </a:xfrm>
        </p:spPr>
        <p:txBody>
          <a:bodyPr/>
          <a:lstStyle/>
          <a:p>
            <a:pPr eaLnBrk="1" hangingPunct="1">
              <a:lnSpc>
                <a:spcPct val="90000"/>
              </a:lnSpc>
              <a:buFont typeface="Wingdings 2" panose="05020102010507070707" pitchFamily="18" charset="2"/>
              <a:buNone/>
            </a:pPr>
            <a:r>
              <a:rPr lang="en-US" altLang="en-US" b="1" dirty="0"/>
              <a:t>Air cavities</a:t>
            </a:r>
            <a:r>
              <a:rPr lang="en-US" altLang="en-US" dirty="0"/>
              <a:t> located in facial and cranial bone lighten the skull and warm and moisten the air as it passes into the respiratory system.</a:t>
            </a:r>
          </a:p>
          <a:p>
            <a:pPr eaLnBrk="1" hangingPunct="1"/>
            <a:endParaRPr lang="en-US" altLang="en-US" dirty="0"/>
          </a:p>
        </p:txBody>
      </p:sp>
    </p:spTree>
    <p:extLst>
      <p:ext uri="{BB962C8B-B14F-4D97-AF65-F5344CB8AC3E}">
        <p14:creationId xmlns:p14="http://schemas.microsoft.com/office/powerpoint/2010/main" val="3448023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sz="4200" dirty="0"/>
              <a:t>Vertebral Column and Vertebrae</a:t>
            </a:r>
            <a:br>
              <a:rPr lang="en-US" altLang="en-US" sz="4200" dirty="0"/>
            </a:br>
            <a:r>
              <a:rPr lang="en-US" altLang="en-US" sz="4200" dirty="0"/>
              <a:t>(Slide 1 of 2)</a:t>
            </a:r>
          </a:p>
        </p:txBody>
      </p:sp>
      <p:pic>
        <p:nvPicPr>
          <p:cNvPr id="5" name="Picture 9" descr="Vertebral column has four curves. Sacral and thoracic curvatures are present at birth. Cervical curvature develops when the infant hold the head erect. Lumbar curvature develops as the infant begins to stand and walk."/>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248156" y="1600200"/>
            <a:ext cx="2647688"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3353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title"/>
          </p:nvPr>
        </p:nvSpPr>
        <p:spPr>
          <a:xfrm>
            <a:off x="990600" y="228600"/>
            <a:ext cx="7213600" cy="1143000"/>
          </a:xfrm>
        </p:spPr>
        <p:txBody>
          <a:bodyPr/>
          <a:lstStyle/>
          <a:p>
            <a:pPr eaLnBrk="1" hangingPunct="1"/>
            <a:r>
              <a:rPr lang="en-US" altLang="en-US" dirty="0"/>
              <a:t>Vertebral Column and Vertebrae (Slide 2 of 2</a:t>
            </a:r>
            <a:r>
              <a:rPr lang="en-US" altLang="ja-JP" dirty="0"/>
              <a:t>)</a:t>
            </a:r>
            <a:endParaRPr lang="en-US" altLang="en-US" dirty="0"/>
          </a:p>
        </p:txBody>
      </p:sp>
      <p:sp>
        <p:nvSpPr>
          <p:cNvPr id="31747" name="Rectangle 5"/>
          <p:cNvSpPr>
            <a:spLocks noGrp="1" noChangeArrowheads="1"/>
          </p:cNvSpPr>
          <p:nvPr>
            <p:ph idx="1"/>
          </p:nvPr>
        </p:nvSpPr>
        <p:spPr/>
        <p:txBody>
          <a:bodyPr/>
          <a:lstStyle/>
          <a:p>
            <a:pPr eaLnBrk="1" hangingPunct="1"/>
            <a:r>
              <a:rPr lang="en-US" altLang="en-US" b="1" dirty="0"/>
              <a:t>Vertebrae:</a:t>
            </a:r>
            <a:r>
              <a:rPr lang="en-US" altLang="en-US" dirty="0"/>
              <a:t> 26 bone segments from base of skull to tailbone in five divisions and separated by pads of cartilage called </a:t>
            </a:r>
            <a:r>
              <a:rPr lang="en-US" altLang="en-US" b="1" dirty="0"/>
              <a:t>intervertebral discs</a:t>
            </a:r>
            <a:endParaRPr lang="en-US" altLang="en-US" dirty="0"/>
          </a:p>
          <a:p>
            <a:pPr eaLnBrk="1" hangingPunct="1"/>
            <a:r>
              <a:rPr lang="en-US" altLang="en-US" b="1" dirty="0"/>
              <a:t>Cervical, thoracic, lumbar, sacral</a:t>
            </a:r>
          </a:p>
          <a:p>
            <a:pPr eaLnBrk="1" hangingPunct="1"/>
            <a:r>
              <a:rPr lang="en-US" altLang="en-US" b="1" dirty="0"/>
              <a:t>Coccyx:</a:t>
            </a:r>
            <a:r>
              <a:rPr lang="en-US" altLang="en-US" dirty="0"/>
              <a:t> tailbone</a:t>
            </a:r>
          </a:p>
        </p:txBody>
      </p:sp>
    </p:spTree>
    <p:extLst>
      <p:ext uri="{BB962C8B-B14F-4D97-AF65-F5344CB8AC3E}">
        <p14:creationId xmlns:p14="http://schemas.microsoft.com/office/powerpoint/2010/main" val="900343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Bones: Thorax, Pelvis and Extremities </a:t>
            </a:r>
            <a:endParaRPr lang="es-419" dirty="0"/>
          </a:p>
        </p:txBody>
      </p:sp>
      <p:sp>
        <p:nvSpPr>
          <p:cNvPr id="3" name="Content Placeholder 2"/>
          <p:cNvSpPr>
            <a:spLocks noGrp="1"/>
          </p:cNvSpPr>
          <p:nvPr>
            <p:ph sz="half" idx="1"/>
          </p:nvPr>
        </p:nvSpPr>
        <p:spPr>
          <a:xfrm>
            <a:off x="438150" y="1600199"/>
            <a:ext cx="4038600" cy="4525963"/>
          </a:xfrm>
        </p:spPr>
        <p:txBody>
          <a:bodyPr/>
          <a:lstStyle/>
          <a:p>
            <a:pPr marL="0" indent="0" eaLnBrk="1" hangingPunct="1">
              <a:spcAft>
                <a:spcPct val="50000"/>
              </a:spcAft>
              <a:buNone/>
            </a:pPr>
            <a:r>
              <a:rPr lang="en-US" altLang="en-US" b="1" dirty="0">
                <a:latin typeface="Arial" panose="020B0604020202020204" pitchFamily="34" charset="0"/>
              </a:rPr>
              <a:t>Thorax</a:t>
            </a:r>
            <a:endParaRPr lang="en-US" altLang="en-US" dirty="0">
              <a:latin typeface="Arial" panose="020B0604020202020204" pitchFamily="34" charset="0"/>
            </a:endParaRPr>
          </a:p>
          <a:p>
            <a:pPr lvl="1" eaLnBrk="1" hangingPunct="1">
              <a:spcBef>
                <a:spcPts val="600"/>
              </a:spcBef>
              <a:spcAft>
                <a:spcPts val="0"/>
              </a:spcAft>
              <a:buFont typeface="Wingdings" panose="05000000000000000000" pitchFamily="2" charset="2"/>
              <a:buChar char="Ø"/>
            </a:pPr>
            <a:r>
              <a:rPr lang="en-US" altLang="en-US" dirty="0">
                <a:latin typeface="Arial" panose="020B0604020202020204" pitchFamily="34" charset="0"/>
              </a:rPr>
              <a:t> clavicle</a:t>
            </a:r>
          </a:p>
          <a:p>
            <a:pPr lvl="1" eaLnBrk="1" hangingPunct="1">
              <a:spcBef>
                <a:spcPts val="600"/>
              </a:spcBef>
              <a:spcAft>
                <a:spcPts val="0"/>
              </a:spcAft>
              <a:buFont typeface="Wingdings" panose="05000000000000000000" pitchFamily="2" charset="2"/>
              <a:buChar char="Ø"/>
            </a:pPr>
            <a:r>
              <a:rPr lang="en-US" altLang="en-US" dirty="0">
                <a:latin typeface="Arial" panose="020B0604020202020204" pitchFamily="34" charset="0"/>
              </a:rPr>
              <a:t> scapula</a:t>
            </a:r>
          </a:p>
          <a:p>
            <a:pPr lvl="1" eaLnBrk="1" hangingPunct="1">
              <a:spcBef>
                <a:spcPts val="600"/>
              </a:spcBef>
              <a:spcAft>
                <a:spcPts val="0"/>
              </a:spcAft>
              <a:buFont typeface="Wingdings" panose="05000000000000000000" pitchFamily="2" charset="2"/>
              <a:buChar char="Ø"/>
            </a:pPr>
            <a:r>
              <a:rPr lang="en-US" altLang="en-US" dirty="0">
                <a:latin typeface="Arial" panose="020B0604020202020204" pitchFamily="34" charset="0"/>
              </a:rPr>
              <a:t> sternum</a:t>
            </a:r>
          </a:p>
          <a:p>
            <a:pPr lvl="1" eaLnBrk="1" hangingPunct="1">
              <a:spcBef>
                <a:spcPts val="600"/>
              </a:spcBef>
              <a:spcAft>
                <a:spcPts val="0"/>
              </a:spcAft>
              <a:buFont typeface="Wingdings" panose="05000000000000000000" pitchFamily="2" charset="2"/>
              <a:buChar char="Ø"/>
            </a:pPr>
            <a:r>
              <a:rPr lang="en-US" altLang="en-US" dirty="0">
                <a:latin typeface="Arial" panose="020B0604020202020204" pitchFamily="34" charset="0"/>
              </a:rPr>
              <a:t> ribs</a:t>
            </a:r>
          </a:p>
          <a:p>
            <a:pPr marL="0" indent="0" eaLnBrk="1" hangingPunct="1">
              <a:lnSpc>
                <a:spcPct val="110000"/>
              </a:lnSpc>
              <a:buNone/>
            </a:pPr>
            <a:r>
              <a:rPr lang="en-US" altLang="en-US" b="1" dirty="0">
                <a:latin typeface="Arial" panose="020B0604020202020204" pitchFamily="34" charset="0"/>
              </a:rPr>
              <a:t>Pelvis</a:t>
            </a:r>
          </a:p>
          <a:p>
            <a:pPr lvl="1" eaLnBrk="1" hangingPunct="1">
              <a:lnSpc>
                <a:spcPct val="110000"/>
              </a:lnSpc>
              <a:spcBef>
                <a:spcPts val="600"/>
              </a:spcBef>
              <a:spcAft>
                <a:spcPts val="0"/>
              </a:spcAft>
              <a:buFont typeface="Wingdings" panose="05000000000000000000" pitchFamily="2" charset="2"/>
              <a:buChar char="Ø"/>
            </a:pPr>
            <a:r>
              <a:rPr lang="en-US" altLang="en-US" dirty="0">
                <a:latin typeface="Arial" panose="020B0604020202020204" pitchFamily="34" charset="0"/>
              </a:rPr>
              <a:t> pelvic girdle</a:t>
            </a:r>
          </a:p>
          <a:p>
            <a:pPr lvl="1" eaLnBrk="1" hangingPunct="1">
              <a:spcBef>
                <a:spcPts val="600"/>
              </a:spcBef>
              <a:spcAft>
                <a:spcPts val="0"/>
              </a:spcAft>
              <a:buFont typeface="Wingdings" panose="05000000000000000000" pitchFamily="2" charset="2"/>
              <a:buChar char="Ø"/>
            </a:pPr>
            <a:r>
              <a:rPr lang="en-US" altLang="en-US" dirty="0">
                <a:latin typeface="Arial" panose="020B0604020202020204" pitchFamily="34" charset="0"/>
              </a:rPr>
              <a:t> ilium</a:t>
            </a:r>
          </a:p>
          <a:p>
            <a:pPr lvl="1" eaLnBrk="1" hangingPunct="1">
              <a:spcBef>
                <a:spcPts val="600"/>
              </a:spcBef>
              <a:spcAft>
                <a:spcPts val="0"/>
              </a:spcAft>
              <a:buFont typeface="Wingdings" panose="05000000000000000000" pitchFamily="2" charset="2"/>
              <a:buChar char="Ø"/>
            </a:pPr>
            <a:r>
              <a:rPr lang="en-US" altLang="en-US" dirty="0">
                <a:latin typeface="Arial" panose="020B0604020202020204" pitchFamily="34" charset="0"/>
              </a:rPr>
              <a:t> ischium</a:t>
            </a:r>
          </a:p>
          <a:p>
            <a:pPr lvl="1" eaLnBrk="1" hangingPunct="1">
              <a:spcBef>
                <a:spcPts val="600"/>
              </a:spcBef>
              <a:spcAft>
                <a:spcPts val="0"/>
              </a:spcAft>
              <a:buFont typeface="Wingdings" panose="05000000000000000000" pitchFamily="2" charset="2"/>
              <a:buChar char="Ø"/>
            </a:pPr>
            <a:r>
              <a:rPr lang="en-US" altLang="en-US" dirty="0">
                <a:latin typeface="Arial" panose="020B0604020202020204" pitchFamily="34" charset="0"/>
              </a:rPr>
              <a:t> pubis</a:t>
            </a:r>
          </a:p>
          <a:p>
            <a:pPr eaLnBrk="1" hangingPunct="1">
              <a:spcAft>
                <a:spcPct val="50000"/>
              </a:spcAft>
              <a:buFont typeface="Wingdings" panose="05000000000000000000" pitchFamily="2" charset="2"/>
              <a:buChar char="§"/>
            </a:pPr>
            <a:endParaRPr lang="es-419" dirty="0"/>
          </a:p>
        </p:txBody>
      </p:sp>
      <p:sp>
        <p:nvSpPr>
          <p:cNvPr id="4" name="Content Placeholder 3"/>
          <p:cNvSpPr>
            <a:spLocks noGrp="1"/>
          </p:cNvSpPr>
          <p:nvPr>
            <p:ph sz="half" idx="2"/>
          </p:nvPr>
        </p:nvSpPr>
        <p:spPr/>
        <p:txBody>
          <a:bodyPr/>
          <a:lstStyle/>
          <a:p>
            <a:pPr marL="0" indent="0" eaLnBrk="1" hangingPunct="1">
              <a:buNone/>
            </a:pPr>
            <a:r>
              <a:rPr lang="en-US" altLang="en-US" b="1" dirty="0">
                <a:latin typeface="Arial" panose="020B0604020202020204" pitchFamily="34" charset="0"/>
              </a:rPr>
              <a:t>Arm and Hand</a:t>
            </a:r>
          </a:p>
          <a:p>
            <a:pPr lvl="1" eaLnBrk="1" hangingPunct="1">
              <a:lnSpc>
                <a:spcPct val="150000"/>
              </a:lnSpc>
              <a:spcAft>
                <a:spcPct val="50000"/>
              </a:spcAft>
              <a:buFont typeface="Wingdings" panose="05000000000000000000" pitchFamily="2" charset="2"/>
              <a:buChar char="Ø"/>
            </a:pPr>
            <a:r>
              <a:rPr lang="en-US" altLang="en-US" dirty="0">
                <a:latin typeface="Arial" panose="020B0604020202020204" pitchFamily="34" charset="0"/>
              </a:rPr>
              <a:t> humerus</a:t>
            </a:r>
          </a:p>
          <a:p>
            <a:pPr lvl="1" eaLnBrk="1" hangingPunct="1">
              <a:spcAft>
                <a:spcPct val="50000"/>
              </a:spcAft>
              <a:buFont typeface="Wingdings" panose="05000000000000000000" pitchFamily="2" charset="2"/>
              <a:buChar char="Ø"/>
            </a:pPr>
            <a:r>
              <a:rPr lang="en-US" altLang="en-US" dirty="0">
                <a:latin typeface="Arial" panose="020B0604020202020204" pitchFamily="34" charset="0"/>
              </a:rPr>
              <a:t> ulna</a:t>
            </a:r>
          </a:p>
          <a:p>
            <a:pPr lvl="1" eaLnBrk="1" hangingPunct="1">
              <a:spcAft>
                <a:spcPct val="50000"/>
              </a:spcAft>
              <a:buFont typeface="Wingdings" panose="05000000000000000000" pitchFamily="2" charset="2"/>
              <a:buChar char="Ø"/>
            </a:pPr>
            <a:r>
              <a:rPr lang="en-US" altLang="en-US" dirty="0">
                <a:latin typeface="Arial" panose="020B0604020202020204" pitchFamily="34" charset="0"/>
              </a:rPr>
              <a:t> radius</a:t>
            </a:r>
          </a:p>
          <a:p>
            <a:pPr lvl="1" eaLnBrk="1" hangingPunct="1">
              <a:spcAft>
                <a:spcPct val="50000"/>
              </a:spcAft>
              <a:buFont typeface="Wingdings" panose="05000000000000000000" pitchFamily="2" charset="2"/>
              <a:buChar char="Ø"/>
            </a:pPr>
            <a:r>
              <a:rPr lang="en-US" altLang="en-US" dirty="0">
                <a:latin typeface="Arial" panose="020B0604020202020204" pitchFamily="34" charset="0"/>
              </a:rPr>
              <a:t> carpals</a:t>
            </a:r>
          </a:p>
          <a:p>
            <a:pPr lvl="1" eaLnBrk="1" hangingPunct="1">
              <a:spcAft>
                <a:spcPct val="50000"/>
              </a:spcAft>
              <a:buFont typeface="Wingdings" panose="05000000000000000000" pitchFamily="2" charset="2"/>
              <a:buChar char="Ø"/>
            </a:pPr>
            <a:r>
              <a:rPr lang="en-US" altLang="en-US" dirty="0">
                <a:latin typeface="Arial" panose="020B0604020202020204" pitchFamily="34" charset="0"/>
              </a:rPr>
              <a:t> metacarpals</a:t>
            </a:r>
          </a:p>
          <a:p>
            <a:pPr lvl="1" eaLnBrk="1" hangingPunct="1">
              <a:spcAft>
                <a:spcPct val="50000"/>
              </a:spcAft>
              <a:buFont typeface="Wingdings" panose="05000000000000000000" pitchFamily="2" charset="2"/>
              <a:buChar char="Ø"/>
            </a:pPr>
            <a:r>
              <a:rPr lang="en-US" altLang="en-US" dirty="0">
                <a:latin typeface="Arial" panose="020B0604020202020204" pitchFamily="34" charset="0"/>
              </a:rPr>
              <a:t> phalanges</a:t>
            </a:r>
          </a:p>
          <a:p>
            <a:endParaRPr lang="es-419" dirty="0"/>
          </a:p>
        </p:txBody>
      </p:sp>
    </p:spTree>
    <p:extLst>
      <p:ext uri="{BB962C8B-B14F-4D97-AF65-F5344CB8AC3E}">
        <p14:creationId xmlns:p14="http://schemas.microsoft.com/office/powerpoint/2010/main" val="3876052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a:t>Bones of Leg and Foot</a:t>
            </a:r>
          </a:p>
        </p:txBody>
      </p:sp>
      <p:pic>
        <p:nvPicPr>
          <p:cNvPr id="5" name="Picture 7" descr="Bones of the foot include tarsals, metatarsals, phalanges, calcaneus (heel bone), and talu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14500" y="1939131"/>
            <a:ext cx="5715000" cy="3848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5770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5"/>
          <p:cNvSpPr>
            <a:spLocks noGrp="1" noChangeArrowheads="1"/>
          </p:cNvSpPr>
          <p:nvPr>
            <p:ph type="title"/>
          </p:nvPr>
        </p:nvSpPr>
        <p:spPr/>
        <p:txBody>
          <a:bodyPr rtlCol="0">
            <a:normAutofit fontScale="90000"/>
          </a:bodyPr>
          <a:lstStyle/>
          <a:p>
            <a:pPr eaLnBrk="1" fontAlgn="auto" hangingPunct="1">
              <a:spcAft>
                <a:spcPts val="0"/>
              </a:spcAft>
              <a:defRPr/>
            </a:pPr>
            <a:r>
              <a:rPr lang="en-US"/>
              <a:t>Bones of Leg and Foot and Associated Structures</a:t>
            </a:r>
          </a:p>
        </p:txBody>
      </p:sp>
      <p:sp>
        <p:nvSpPr>
          <p:cNvPr id="36867" name="Rectangle 6"/>
          <p:cNvSpPr>
            <a:spLocks noGrp="1" noChangeArrowheads="1"/>
          </p:cNvSpPr>
          <p:nvPr>
            <p:ph sz="half" idx="1"/>
          </p:nvPr>
        </p:nvSpPr>
        <p:spPr>
          <a:xfrm>
            <a:off x="685800" y="1641475"/>
            <a:ext cx="3800475" cy="4454525"/>
          </a:xfrm>
        </p:spPr>
        <p:txBody>
          <a:bodyPr/>
          <a:lstStyle/>
          <a:p>
            <a:pPr eaLnBrk="1" hangingPunct="1"/>
            <a:r>
              <a:rPr lang="en-US" altLang="en-US" sz="3200" b="1"/>
              <a:t>Femur</a:t>
            </a:r>
          </a:p>
          <a:p>
            <a:pPr lvl="1" eaLnBrk="1" hangingPunct="1">
              <a:buFont typeface="Wingdings" panose="05000000000000000000" pitchFamily="2" charset="2"/>
              <a:buChar char="Ø"/>
            </a:pPr>
            <a:r>
              <a:rPr lang="en-US" altLang="en-US" sz="2800"/>
              <a:t>acetabulum</a:t>
            </a:r>
          </a:p>
          <a:p>
            <a:pPr eaLnBrk="1" hangingPunct="1"/>
            <a:r>
              <a:rPr lang="en-US" altLang="en-US" sz="3200" b="1"/>
              <a:t>Patella</a:t>
            </a:r>
          </a:p>
          <a:p>
            <a:pPr eaLnBrk="1" hangingPunct="1"/>
            <a:r>
              <a:rPr lang="en-US" altLang="en-US" sz="3200" b="1"/>
              <a:t>Tibia</a:t>
            </a:r>
          </a:p>
          <a:p>
            <a:pPr lvl="1" eaLnBrk="1" hangingPunct="1">
              <a:buFont typeface="Wingdings" panose="05000000000000000000" pitchFamily="2" charset="2"/>
              <a:buChar char="Ø"/>
            </a:pPr>
            <a:r>
              <a:rPr lang="en-US" altLang="en-US" sz="2800"/>
              <a:t>medial malleolus</a:t>
            </a:r>
          </a:p>
          <a:p>
            <a:pPr eaLnBrk="1" hangingPunct="1"/>
            <a:r>
              <a:rPr lang="en-US" altLang="en-US" sz="3200" b="1"/>
              <a:t>Fibula</a:t>
            </a:r>
          </a:p>
          <a:p>
            <a:pPr lvl="1" eaLnBrk="1" hangingPunct="1">
              <a:buFont typeface="Wingdings" panose="05000000000000000000" pitchFamily="2" charset="2"/>
              <a:buChar char="Ø"/>
            </a:pPr>
            <a:r>
              <a:rPr lang="en-US" altLang="en-US" sz="2800"/>
              <a:t>lateral malleolus</a:t>
            </a:r>
          </a:p>
          <a:p>
            <a:pPr lvl="1" eaLnBrk="1" hangingPunct="1">
              <a:buFont typeface="Wingdings" panose="05000000000000000000" pitchFamily="2" charset="2"/>
              <a:buChar char="Ø"/>
            </a:pPr>
            <a:r>
              <a:rPr lang="en-US" altLang="en-US" sz="2800"/>
              <a:t>talus</a:t>
            </a:r>
          </a:p>
        </p:txBody>
      </p:sp>
      <p:sp>
        <p:nvSpPr>
          <p:cNvPr id="36868" name="Rectangle 7"/>
          <p:cNvSpPr>
            <a:spLocks noGrp="1" noChangeArrowheads="1"/>
          </p:cNvSpPr>
          <p:nvPr>
            <p:ph sz="half" idx="2"/>
          </p:nvPr>
        </p:nvSpPr>
        <p:spPr>
          <a:xfrm>
            <a:off x="4657725" y="1641475"/>
            <a:ext cx="3800475" cy="4454525"/>
          </a:xfrm>
        </p:spPr>
        <p:txBody>
          <a:bodyPr/>
          <a:lstStyle/>
          <a:p>
            <a:pPr eaLnBrk="1" hangingPunct="1"/>
            <a:r>
              <a:rPr lang="en-US" altLang="en-US" sz="3200" b="1"/>
              <a:t>Tarsals</a:t>
            </a:r>
          </a:p>
          <a:p>
            <a:pPr lvl="1" eaLnBrk="1" hangingPunct="1">
              <a:buFont typeface="Wingdings" panose="05000000000000000000" pitchFamily="2" charset="2"/>
              <a:buChar char="Ø"/>
            </a:pPr>
            <a:r>
              <a:rPr lang="en-US" altLang="en-US" sz="2800"/>
              <a:t>calcaneus</a:t>
            </a:r>
          </a:p>
          <a:p>
            <a:pPr lvl="1" eaLnBrk="1" hangingPunct="1">
              <a:buFont typeface="Wingdings" panose="05000000000000000000" pitchFamily="2" charset="2"/>
              <a:buChar char="Ø"/>
            </a:pPr>
            <a:r>
              <a:rPr lang="en-US" altLang="en-US" sz="2800"/>
              <a:t>talus</a:t>
            </a:r>
          </a:p>
          <a:p>
            <a:pPr eaLnBrk="1" hangingPunct="1"/>
            <a:r>
              <a:rPr lang="en-US" altLang="en-US" sz="3200" b="1"/>
              <a:t>Metatarsals</a:t>
            </a:r>
          </a:p>
          <a:p>
            <a:pPr eaLnBrk="1" hangingPunct="1"/>
            <a:r>
              <a:rPr lang="en-US" altLang="en-US" sz="3200" b="1"/>
              <a:t>Phalanges</a:t>
            </a:r>
          </a:p>
        </p:txBody>
      </p:sp>
    </p:spTree>
    <p:extLst>
      <p:ext uri="{BB962C8B-B14F-4D97-AF65-F5344CB8AC3E}">
        <p14:creationId xmlns:p14="http://schemas.microsoft.com/office/powerpoint/2010/main" val="509893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 of 32)</a:t>
            </a:r>
          </a:p>
        </p:txBody>
      </p:sp>
      <p:graphicFrame>
        <p:nvGraphicFramePr>
          <p:cNvPr id="9" name="Content Placeholder 8" descr="Group 1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431873601"/>
              </p:ext>
            </p:extLst>
          </p:nvPr>
        </p:nvGraphicFramePr>
        <p:xfrm>
          <a:off x="3314700" y="1981200"/>
          <a:ext cx="2514600" cy="13716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acetabulum</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acromion</a:t>
                      </a:r>
                      <a:endParaRPr lang="en-US" sz="24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94817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 of 32)</a:t>
            </a:r>
          </a:p>
        </p:txBody>
      </p:sp>
      <p:graphicFrame>
        <p:nvGraphicFramePr>
          <p:cNvPr id="9" name="Content Placeholder 8" descr="Group 1 of 16.  List of vocabulary terms  with corresponding meanings or definitions."/>
          <p:cNvGraphicFramePr>
            <a:graphicFrameLocks noGrp="1"/>
          </p:cNvGraphicFramePr>
          <p:nvPr>
            <p:ph idx="1"/>
            <p:extLst>
              <p:ext uri="{D42A27DB-BD31-4B8C-83A1-F6EECF244321}">
                <p14:modId xmlns:p14="http://schemas.microsoft.com/office/powerpoint/2010/main" val="3946272993"/>
              </p:ext>
            </p:extLst>
          </p:nvPr>
        </p:nvGraphicFramePr>
        <p:xfrm>
          <a:off x="457200" y="1600200"/>
          <a:ext cx="8229600" cy="21031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acetabulum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Rounded depression in pelvis that joins the femur, forming the hip joint</a:t>
                      </a:r>
                    </a:p>
                  </a:txBody>
                  <a:tcPr/>
                </a:tc>
                <a:extLst>
                  <a:ext uri="{0D108BD9-81ED-4DB2-BD59-A6C34878D82A}">
                    <a16:rowId xmlns:a16="http://schemas.microsoft.com/office/drawing/2014/main" val="10001"/>
                  </a:ext>
                </a:extLst>
              </a:tr>
              <a:tr h="370840">
                <a:tc>
                  <a:txBody>
                    <a:bodyPr/>
                    <a:lstStyle/>
                    <a:p>
                      <a:r>
                        <a:rPr lang="en-US" altLang="en-US" sz="2400" dirty="0"/>
                        <a:t>acromion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Outward extension of shoulder blade forming the point of the shoulder</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599907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3 of 32)</a:t>
            </a:r>
          </a:p>
        </p:txBody>
      </p:sp>
      <p:graphicFrame>
        <p:nvGraphicFramePr>
          <p:cNvPr id="9" name="Content Placeholder 8" descr="Group 2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628554808"/>
              </p:ext>
            </p:extLst>
          </p:nvPr>
        </p:nvGraphicFramePr>
        <p:xfrm>
          <a:off x="3314700" y="22098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bone</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bone depression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bone process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355696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4 of 32)</a:t>
            </a:r>
          </a:p>
        </p:txBody>
      </p:sp>
      <p:graphicFrame>
        <p:nvGraphicFramePr>
          <p:cNvPr id="9" name="Content Placeholder 8" descr="Group 2 of 16.  List of vocabulary terms  with corresponding meanings or definitions."/>
          <p:cNvGraphicFramePr>
            <a:graphicFrameLocks noGrp="1"/>
          </p:cNvGraphicFramePr>
          <p:nvPr>
            <p:ph idx="1"/>
            <p:extLst>
              <p:ext uri="{D42A27DB-BD31-4B8C-83A1-F6EECF244321}">
                <p14:modId xmlns:p14="http://schemas.microsoft.com/office/powerpoint/2010/main" val="543039943"/>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bone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Dense, hard connective tissue composing the skeleton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bone depression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Opening or hollow region serving as a connection for bones, or passageway for blood vessels and nerves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bone process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Enlarged area that extends from bones as an attachment for muscles, tendons, and ligaments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7043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5 of 32)</a:t>
            </a:r>
          </a:p>
        </p:txBody>
      </p:sp>
      <p:graphicFrame>
        <p:nvGraphicFramePr>
          <p:cNvPr id="9" name="Content Placeholder 8" descr="Group 3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301807708"/>
              </p:ext>
            </p:extLst>
          </p:nvPr>
        </p:nvGraphicFramePr>
        <p:xfrm>
          <a:off x="3314700" y="22098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calcium</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cancellous</a:t>
                      </a:r>
                      <a:r>
                        <a:rPr lang="en-US" altLang="en-US" sz="2400" dirty="0"/>
                        <a:t> bone</a:t>
                      </a:r>
                    </a:p>
                  </a:txBody>
                  <a:tcPr/>
                </a:tc>
                <a:extLst>
                  <a:ext uri="{0D108BD9-81ED-4DB2-BD59-A6C34878D82A}">
                    <a16:rowId xmlns:a16="http://schemas.microsoft.com/office/drawing/2014/main" val="10002"/>
                  </a:ext>
                </a:extLst>
              </a:tr>
              <a:tr h="370840">
                <a:tc>
                  <a:txBody>
                    <a:bodyPr/>
                    <a:lstStyle/>
                    <a:p>
                      <a:r>
                        <a:rPr lang="en-US" altLang="en-US" sz="2400" dirty="0"/>
                        <a:t>cartilage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34954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6 of 32)</a:t>
            </a:r>
          </a:p>
        </p:txBody>
      </p:sp>
      <p:graphicFrame>
        <p:nvGraphicFramePr>
          <p:cNvPr id="9" name="Content Placeholder 8" descr="Group 3 of 16.  List of vocabulary terms  with corresponding meanings or definitions."/>
          <p:cNvGraphicFramePr>
            <a:graphicFrameLocks noGrp="1"/>
          </p:cNvGraphicFramePr>
          <p:nvPr>
            <p:ph idx="1"/>
            <p:extLst>
              <p:ext uri="{D42A27DB-BD31-4B8C-83A1-F6EECF244321}">
                <p14:modId xmlns:p14="http://schemas.microsoft.com/office/powerpoint/2010/main" val="1137028117"/>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calcium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 mineral constituent of bone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cancellous</a:t>
                      </a:r>
                      <a:r>
                        <a:rPr lang="en-US" altLang="en-US" sz="2400" dirty="0"/>
                        <a:t> bone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Spongy, porous bone tissue in inner part of bone</a:t>
                      </a:r>
                    </a:p>
                  </a:txBody>
                  <a:tcPr/>
                </a:tc>
                <a:extLst>
                  <a:ext uri="{0D108BD9-81ED-4DB2-BD59-A6C34878D82A}">
                    <a16:rowId xmlns:a16="http://schemas.microsoft.com/office/drawing/2014/main" val="10002"/>
                  </a:ext>
                </a:extLst>
              </a:tr>
              <a:tr h="370840">
                <a:tc>
                  <a:txBody>
                    <a:bodyPr/>
                    <a:lstStyle/>
                    <a:p>
                      <a:r>
                        <a:rPr lang="en-US" altLang="en-US" sz="2400" dirty="0"/>
                        <a:t>cartilage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Flexible, connective tissue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146877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7 of 32)</a:t>
            </a:r>
          </a:p>
        </p:txBody>
      </p:sp>
      <p:graphicFrame>
        <p:nvGraphicFramePr>
          <p:cNvPr id="9" name="Content Placeholder 8" descr="Group 4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774133172"/>
              </p:ext>
            </p:extLst>
          </p:nvPr>
        </p:nvGraphicFramePr>
        <p:xfrm>
          <a:off x="3314700" y="21336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collagen</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compact bone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cranial bones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646977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8 of 32)</a:t>
            </a:r>
          </a:p>
        </p:txBody>
      </p:sp>
      <p:graphicFrame>
        <p:nvGraphicFramePr>
          <p:cNvPr id="9" name="Content Placeholder 8" descr="Group 4 of 16.  List of vocabulary terms  with corresponding meanings or definitions."/>
          <p:cNvGraphicFramePr>
            <a:graphicFrameLocks noGrp="1"/>
          </p:cNvGraphicFramePr>
          <p:nvPr>
            <p:ph idx="1"/>
            <p:extLst>
              <p:ext uri="{D42A27DB-BD31-4B8C-83A1-F6EECF244321}">
                <p14:modId xmlns:p14="http://schemas.microsoft.com/office/powerpoint/2010/main" val="1244158297"/>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collagen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Dense, connective tissue protein strands found in bone and other tissues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compact bone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Hard, dense bone tissue, usually found around outer portion of bones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cranial bones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Skull bones:  </a:t>
                      </a:r>
                      <a:r>
                        <a:rPr lang="en-US" altLang="en-US" sz="2400" dirty="0" err="1"/>
                        <a:t>ethmoid</a:t>
                      </a:r>
                      <a:r>
                        <a:rPr lang="en-US" altLang="en-US" sz="2400" dirty="0"/>
                        <a:t>, frontal, occipital, parietal, sphenoid, and temporal</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850535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9 of 32)</a:t>
            </a:r>
          </a:p>
        </p:txBody>
      </p:sp>
      <p:graphicFrame>
        <p:nvGraphicFramePr>
          <p:cNvPr id="9" name="Content Placeholder 8" descr="Group 5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195149022"/>
              </p:ext>
            </p:extLst>
          </p:nvPr>
        </p:nvGraphicFramePr>
        <p:xfrm>
          <a:off x="3314700" y="22098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diaphysis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disc</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epiphyseal plate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23048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10 of 32)</a:t>
            </a:r>
          </a:p>
        </p:txBody>
      </p:sp>
      <p:graphicFrame>
        <p:nvGraphicFramePr>
          <p:cNvPr id="9" name="Content Placeholder 8" descr="Group 5 of 16.  List of vocabulary terms  with corresponding meanings or definitions."/>
          <p:cNvGraphicFramePr>
            <a:graphicFrameLocks noGrp="1"/>
          </p:cNvGraphicFramePr>
          <p:nvPr>
            <p:ph idx="1"/>
            <p:extLst>
              <p:ext uri="{D42A27DB-BD31-4B8C-83A1-F6EECF244321}">
                <p14:modId xmlns:p14="http://schemas.microsoft.com/office/powerpoint/2010/main" val="3383639969"/>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diaphysis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Shaft, or mid-portion, of a long bone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disc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Flat, round, plate-like structure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epiphyseal plate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Cartilaginous area at the ends of long bones where lengthwise growth takes in the immature skeleton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800921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11 of 32)</a:t>
            </a:r>
          </a:p>
        </p:txBody>
      </p:sp>
      <p:graphicFrame>
        <p:nvGraphicFramePr>
          <p:cNvPr id="9" name="Content Placeholder 8" descr="Group 6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950907998"/>
              </p:ext>
            </p:extLst>
          </p:nvPr>
        </p:nvGraphicFramePr>
        <p:xfrm>
          <a:off x="3314700" y="22098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epiphysis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facial bones</a:t>
                      </a:r>
                    </a:p>
                  </a:txBody>
                  <a:tcPr/>
                </a:tc>
                <a:extLst>
                  <a:ext uri="{0D108BD9-81ED-4DB2-BD59-A6C34878D82A}">
                    <a16:rowId xmlns:a16="http://schemas.microsoft.com/office/drawing/2014/main" val="10002"/>
                  </a:ext>
                </a:extLst>
              </a:tr>
              <a:tr h="370840">
                <a:tc>
                  <a:txBody>
                    <a:bodyPr/>
                    <a:lstStyle/>
                    <a:p>
                      <a:r>
                        <a:rPr lang="en-US" altLang="en-US" sz="2400" dirty="0" err="1"/>
                        <a:t>fontanelle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244039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12 of 32)</a:t>
            </a:r>
          </a:p>
        </p:txBody>
      </p:sp>
      <p:graphicFrame>
        <p:nvGraphicFramePr>
          <p:cNvPr id="9" name="Content Placeholder 8" descr="Group 6 of 16.  List of vocabulary terms  with corresponding meanings or definitions."/>
          <p:cNvGraphicFramePr>
            <a:graphicFrameLocks noGrp="1"/>
          </p:cNvGraphicFramePr>
          <p:nvPr>
            <p:ph idx="1"/>
            <p:extLst>
              <p:ext uri="{D42A27DB-BD31-4B8C-83A1-F6EECF244321}">
                <p14:modId xmlns:p14="http://schemas.microsoft.com/office/powerpoint/2010/main" val="3859288570"/>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epiphysis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Each end of a long bone; area beyond the epiphyseal plate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facial bones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Bones of the face:  lacrimal, mandibular, maxillary, nasal, </a:t>
                      </a:r>
                      <a:r>
                        <a:rPr lang="en-US" altLang="en-US" sz="2400" dirty="0" err="1"/>
                        <a:t>vomer</a:t>
                      </a:r>
                      <a:r>
                        <a:rPr lang="en-US" altLang="en-US" sz="2400" dirty="0"/>
                        <a:t>, and </a:t>
                      </a:r>
                      <a:r>
                        <a:rPr lang="en-US" altLang="en-US" sz="2400" dirty="0" err="1"/>
                        <a:t>zygomatic</a:t>
                      </a:r>
                      <a:endParaRPr lang="en-US" altLang="en-US" sz="2400" dirty="0"/>
                    </a:p>
                  </a:txBody>
                  <a:tcPr/>
                </a:tc>
                <a:extLst>
                  <a:ext uri="{0D108BD9-81ED-4DB2-BD59-A6C34878D82A}">
                    <a16:rowId xmlns:a16="http://schemas.microsoft.com/office/drawing/2014/main" val="10002"/>
                  </a:ext>
                </a:extLst>
              </a:tr>
              <a:tr h="370840">
                <a:tc>
                  <a:txBody>
                    <a:bodyPr/>
                    <a:lstStyle/>
                    <a:p>
                      <a:r>
                        <a:rPr lang="en-US" altLang="en-US" sz="2400" dirty="0" err="1"/>
                        <a:t>fontanelle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Soft spot (incomplete bone formation) between the skull bones of an infant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83233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13 of 32)</a:t>
            </a:r>
          </a:p>
        </p:txBody>
      </p:sp>
      <p:graphicFrame>
        <p:nvGraphicFramePr>
          <p:cNvPr id="9" name="Content Placeholder 8" descr="Group 7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763735517"/>
              </p:ext>
            </p:extLst>
          </p:nvPr>
        </p:nvGraphicFramePr>
        <p:xfrm>
          <a:off x="3314700" y="22860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foramen magnum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haversian</a:t>
                      </a:r>
                      <a:r>
                        <a:rPr lang="en-US" altLang="en-US" sz="2400" dirty="0"/>
                        <a:t> canals</a:t>
                      </a:r>
                    </a:p>
                  </a:txBody>
                  <a:tcPr/>
                </a:tc>
                <a:extLst>
                  <a:ext uri="{0D108BD9-81ED-4DB2-BD59-A6C34878D82A}">
                    <a16:rowId xmlns:a16="http://schemas.microsoft.com/office/drawing/2014/main" val="10002"/>
                  </a:ext>
                </a:extLst>
              </a:tr>
              <a:tr h="370840">
                <a:tc>
                  <a:txBody>
                    <a:bodyPr/>
                    <a:lstStyle/>
                    <a:p>
                      <a:r>
                        <a:rPr lang="en-US" altLang="en-US" sz="2400" dirty="0"/>
                        <a:t>ligament</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8771376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14 of 32)</a:t>
            </a:r>
          </a:p>
        </p:txBody>
      </p:sp>
      <p:graphicFrame>
        <p:nvGraphicFramePr>
          <p:cNvPr id="9" name="Content Placeholder 8" descr="Group 7 of 16.  List of vocabulary terms  with corresponding meanings or definitions."/>
          <p:cNvGraphicFramePr>
            <a:graphicFrameLocks noGrp="1"/>
          </p:cNvGraphicFramePr>
          <p:nvPr>
            <p:ph idx="1"/>
            <p:extLst>
              <p:ext uri="{D42A27DB-BD31-4B8C-83A1-F6EECF244321}">
                <p14:modId xmlns:p14="http://schemas.microsoft.com/office/powerpoint/2010/main" val="1159084208"/>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foramen magnum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Opening of the occipital bone through which the spinal cord passes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haversian</a:t>
                      </a:r>
                      <a:r>
                        <a:rPr lang="en-US" altLang="en-US" sz="2400" dirty="0"/>
                        <a:t> canals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Minute spaces filled with blood vessels; found in compact bone</a:t>
                      </a:r>
                    </a:p>
                  </a:txBody>
                  <a:tcPr/>
                </a:tc>
                <a:extLst>
                  <a:ext uri="{0D108BD9-81ED-4DB2-BD59-A6C34878D82A}">
                    <a16:rowId xmlns:a16="http://schemas.microsoft.com/office/drawing/2014/main" val="10002"/>
                  </a:ext>
                </a:extLst>
              </a:tr>
              <a:tr h="370840">
                <a:tc>
                  <a:txBody>
                    <a:bodyPr/>
                    <a:lstStyle/>
                    <a:p>
                      <a:r>
                        <a:rPr lang="en-US" altLang="en-US" sz="2400" dirty="0"/>
                        <a:t>ligament</a:t>
                      </a:r>
                      <a:endParaRPr lang="en-US" sz="2400" dirty="0"/>
                    </a:p>
                  </a:txBody>
                  <a:tcPr/>
                </a:tc>
                <a:tc>
                  <a:txBody>
                    <a:bodyPr/>
                    <a:lstStyle/>
                    <a:p>
                      <a:r>
                        <a:rPr lang="en-US" altLang="en-US" sz="2400" dirty="0"/>
                        <a:t>Fibrous connective tissue that binds bones to other </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299673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15 of 32)</a:t>
            </a:r>
          </a:p>
        </p:txBody>
      </p:sp>
      <p:graphicFrame>
        <p:nvGraphicFramePr>
          <p:cNvPr id="9" name="Content Placeholder 8" descr="Group 8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46261545"/>
              </p:ext>
            </p:extLst>
          </p:nvPr>
        </p:nvGraphicFramePr>
        <p:xfrm>
          <a:off x="3314700" y="23622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malleolus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manubrium</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mastoid process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208519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16 of 32)</a:t>
            </a:r>
          </a:p>
        </p:txBody>
      </p:sp>
      <p:graphicFrame>
        <p:nvGraphicFramePr>
          <p:cNvPr id="9" name="Content Placeholder 8" descr="Group 8 of 16.  List of vocabulary terms  with corresponding meanings or definitions."/>
          <p:cNvGraphicFramePr>
            <a:graphicFrameLocks noGrp="1"/>
          </p:cNvGraphicFramePr>
          <p:nvPr>
            <p:ph idx="1"/>
            <p:extLst>
              <p:ext uri="{D42A27DB-BD31-4B8C-83A1-F6EECF244321}">
                <p14:modId xmlns:p14="http://schemas.microsoft.com/office/powerpoint/2010/main" val="2495897713"/>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malleolus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Round process on both sides of the ankle joint</a:t>
                      </a:r>
                    </a:p>
                  </a:txBody>
                  <a:tcPr/>
                </a:tc>
                <a:extLst>
                  <a:ext uri="{0D108BD9-81ED-4DB2-BD59-A6C34878D82A}">
                    <a16:rowId xmlns:a16="http://schemas.microsoft.com/office/drawing/2014/main" val="10001"/>
                  </a:ext>
                </a:extLst>
              </a:tr>
              <a:tr h="370840">
                <a:tc>
                  <a:txBody>
                    <a:bodyPr/>
                    <a:lstStyle/>
                    <a:p>
                      <a:r>
                        <a:rPr lang="en-US" altLang="en-US" sz="2400" dirty="0"/>
                        <a:t>manubrium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Upper portion of the sternum</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mastoid process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Round projection on the temporal bone behind the ear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56982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17 of 32)</a:t>
            </a:r>
          </a:p>
        </p:txBody>
      </p:sp>
      <p:graphicFrame>
        <p:nvGraphicFramePr>
          <p:cNvPr id="9" name="Content Placeholder 8" descr="Group 9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424972385"/>
              </p:ext>
            </p:extLst>
          </p:nvPr>
        </p:nvGraphicFramePr>
        <p:xfrm>
          <a:off x="3314700" y="19812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medullary cavity</a:t>
                      </a:r>
                    </a:p>
                  </a:txBody>
                  <a:tcPr/>
                </a:tc>
                <a:extLst>
                  <a:ext uri="{0D108BD9-81ED-4DB2-BD59-A6C34878D82A}">
                    <a16:rowId xmlns:a16="http://schemas.microsoft.com/office/drawing/2014/main" val="10001"/>
                  </a:ext>
                </a:extLst>
              </a:tr>
              <a:tr h="370840">
                <a:tc>
                  <a:txBody>
                    <a:bodyPr/>
                    <a:lstStyle/>
                    <a:p>
                      <a:r>
                        <a:rPr lang="en-US" altLang="en-US" sz="2400" dirty="0"/>
                        <a:t>metaphysis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olecranon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941716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18 of 32)</a:t>
            </a:r>
          </a:p>
        </p:txBody>
      </p:sp>
      <p:graphicFrame>
        <p:nvGraphicFramePr>
          <p:cNvPr id="9" name="Content Placeholder 8" descr="Group 9 of 16.  List of vocabulary terms  with corresponding meanings or definitions."/>
          <p:cNvGraphicFramePr>
            <a:graphicFrameLocks noGrp="1"/>
          </p:cNvGraphicFramePr>
          <p:nvPr>
            <p:ph idx="1"/>
            <p:extLst>
              <p:ext uri="{D42A27DB-BD31-4B8C-83A1-F6EECF244321}">
                <p14:modId xmlns:p14="http://schemas.microsoft.com/office/powerpoint/2010/main" val="1052908706"/>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medullary cavity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Central, hollowed-out area in the shaft of a long bone</a:t>
                      </a:r>
                    </a:p>
                  </a:txBody>
                  <a:tcPr/>
                </a:tc>
                <a:extLst>
                  <a:ext uri="{0D108BD9-81ED-4DB2-BD59-A6C34878D82A}">
                    <a16:rowId xmlns:a16="http://schemas.microsoft.com/office/drawing/2014/main" val="10001"/>
                  </a:ext>
                </a:extLst>
              </a:tr>
              <a:tr h="370840">
                <a:tc>
                  <a:txBody>
                    <a:bodyPr/>
                    <a:lstStyle/>
                    <a:p>
                      <a:r>
                        <a:rPr lang="en-US" altLang="en-US" sz="2400" dirty="0"/>
                        <a:t>metaphysis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Flared portion of a long bone, between the diaphysis and the epiphyseal plate</a:t>
                      </a:r>
                    </a:p>
                  </a:txBody>
                  <a:tcPr/>
                </a:tc>
                <a:extLst>
                  <a:ext uri="{0D108BD9-81ED-4DB2-BD59-A6C34878D82A}">
                    <a16:rowId xmlns:a16="http://schemas.microsoft.com/office/drawing/2014/main" val="10002"/>
                  </a:ext>
                </a:extLst>
              </a:tr>
              <a:tr h="370840">
                <a:tc>
                  <a:txBody>
                    <a:bodyPr/>
                    <a:lstStyle/>
                    <a:p>
                      <a:r>
                        <a:rPr lang="en-US" altLang="en-US" sz="2400" dirty="0"/>
                        <a:t>olecranon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Large process on the proximal end of the ulna</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586198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19 of 32)</a:t>
            </a:r>
          </a:p>
        </p:txBody>
      </p:sp>
      <p:graphicFrame>
        <p:nvGraphicFramePr>
          <p:cNvPr id="9" name="Content Placeholder 8" descr="Group 10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594546612"/>
              </p:ext>
            </p:extLst>
          </p:nvPr>
        </p:nvGraphicFramePr>
        <p:xfrm>
          <a:off x="3314700" y="21336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orthopedist</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osseous tissue</a:t>
                      </a:r>
                    </a:p>
                  </a:txBody>
                  <a:tcPr/>
                </a:tc>
                <a:extLst>
                  <a:ext uri="{0D108BD9-81ED-4DB2-BD59-A6C34878D82A}">
                    <a16:rowId xmlns:a16="http://schemas.microsoft.com/office/drawing/2014/main" val="10002"/>
                  </a:ext>
                </a:extLst>
              </a:tr>
              <a:tr h="370840">
                <a:tc>
                  <a:txBody>
                    <a:bodyPr/>
                    <a:lstStyle/>
                    <a:p>
                      <a:r>
                        <a:rPr lang="en-US" altLang="en-US" sz="2400" dirty="0"/>
                        <a:t>ossification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93524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20 of 32)</a:t>
            </a:r>
          </a:p>
        </p:txBody>
      </p:sp>
      <p:graphicFrame>
        <p:nvGraphicFramePr>
          <p:cNvPr id="9" name="Content Placeholder 8" descr="Group 10 of 16.  List of vocabulary terms  with corresponding meanings or definitions."/>
          <p:cNvGraphicFramePr>
            <a:graphicFrameLocks noGrp="1"/>
          </p:cNvGraphicFramePr>
          <p:nvPr>
            <p:ph idx="1"/>
            <p:extLst>
              <p:ext uri="{D42A27DB-BD31-4B8C-83A1-F6EECF244321}">
                <p14:modId xmlns:p14="http://schemas.microsoft.com/office/powerpoint/2010/main" val="2782405018"/>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orthopedist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Medical doctor who specializes in bone, joint, and muscle conditions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osseous tissue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Bone tissue</a:t>
                      </a:r>
                    </a:p>
                  </a:txBody>
                  <a:tcPr/>
                </a:tc>
                <a:extLst>
                  <a:ext uri="{0D108BD9-81ED-4DB2-BD59-A6C34878D82A}">
                    <a16:rowId xmlns:a16="http://schemas.microsoft.com/office/drawing/2014/main" val="10002"/>
                  </a:ext>
                </a:extLst>
              </a:tr>
              <a:tr h="370840">
                <a:tc>
                  <a:txBody>
                    <a:bodyPr/>
                    <a:lstStyle/>
                    <a:p>
                      <a:r>
                        <a:rPr lang="en-US" altLang="en-US" sz="2400" dirty="0"/>
                        <a:t>ossification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Process of bone formation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170529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21 of 32)</a:t>
            </a:r>
          </a:p>
        </p:txBody>
      </p:sp>
      <p:graphicFrame>
        <p:nvGraphicFramePr>
          <p:cNvPr id="9" name="Content Placeholder 8" descr="Group 11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866357722"/>
              </p:ext>
            </p:extLst>
          </p:nvPr>
        </p:nvGraphicFramePr>
        <p:xfrm>
          <a:off x="3314700" y="22098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ossification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osteoblast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osteoclast</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068325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22 of 32)</a:t>
            </a:r>
          </a:p>
        </p:txBody>
      </p:sp>
      <p:graphicFrame>
        <p:nvGraphicFramePr>
          <p:cNvPr id="9" name="Content Placeholder 8" descr="Group 11 of 16.  List of vocabulary terms  with corresponding meanings or definitions."/>
          <p:cNvGraphicFramePr>
            <a:graphicFrameLocks noGrp="1"/>
          </p:cNvGraphicFramePr>
          <p:nvPr>
            <p:ph idx="1"/>
            <p:extLst>
              <p:ext uri="{D42A27DB-BD31-4B8C-83A1-F6EECF244321}">
                <p14:modId xmlns:p14="http://schemas.microsoft.com/office/powerpoint/2010/main" val="505827941"/>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ossification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Process of bone formation</a:t>
                      </a:r>
                    </a:p>
                  </a:txBody>
                  <a:tcPr/>
                </a:tc>
                <a:extLst>
                  <a:ext uri="{0D108BD9-81ED-4DB2-BD59-A6C34878D82A}">
                    <a16:rowId xmlns:a16="http://schemas.microsoft.com/office/drawing/2014/main" val="10001"/>
                  </a:ext>
                </a:extLst>
              </a:tr>
              <a:tr h="370840">
                <a:tc>
                  <a:txBody>
                    <a:bodyPr/>
                    <a:lstStyle/>
                    <a:p>
                      <a:r>
                        <a:rPr lang="en-US" altLang="en-US" sz="2400" dirty="0"/>
                        <a:t>osteoblast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Bone cell that helps form bony tissue</a:t>
                      </a:r>
                    </a:p>
                  </a:txBody>
                  <a:tcPr/>
                </a:tc>
                <a:extLst>
                  <a:ext uri="{0D108BD9-81ED-4DB2-BD59-A6C34878D82A}">
                    <a16:rowId xmlns:a16="http://schemas.microsoft.com/office/drawing/2014/main" val="10002"/>
                  </a:ext>
                </a:extLst>
              </a:tr>
              <a:tr h="370840">
                <a:tc>
                  <a:txBody>
                    <a:bodyPr/>
                    <a:lstStyle/>
                    <a:p>
                      <a:r>
                        <a:rPr lang="en-US" altLang="en-US" sz="2400" dirty="0"/>
                        <a:t>osteoclast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Bone cell that absorbs and removes unwanted bony tissue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823481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23 of 32)</a:t>
            </a:r>
          </a:p>
        </p:txBody>
      </p:sp>
      <p:graphicFrame>
        <p:nvGraphicFramePr>
          <p:cNvPr id="9" name="Content Placeholder 8" descr="Group 12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294028088"/>
              </p:ext>
            </p:extLst>
          </p:nvPr>
        </p:nvGraphicFramePr>
        <p:xfrm>
          <a:off x="3314700" y="25146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err="1"/>
                        <a:t>periosteum</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phosphorus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physiatrist</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424021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24 of 32)</a:t>
            </a:r>
          </a:p>
        </p:txBody>
      </p:sp>
      <p:graphicFrame>
        <p:nvGraphicFramePr>
          <p:cNvPr id="9" name="Content Placeholder 8" descr="Group 12 of 16.  List of vocabulary terms  with corresponding meanings or definitions."/>
          <p:cNvGraphicFramePr>
            <a:graphicFrameLocks noGrp="1"/>
          </p:cNvGraphicFramePr>
          <p:nvPr>
            <p:ph idx="1"/>
            <p:extLst>
              <p:ext uri="{D42A27DB-BD31-4B8C-83A1-F6EECF244321}">
                <p14:modId xmlns:p14="http://schemas.microsoft.com/office/powerpoint/2010/main" val="4093960462"/>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err="1"/>
                        <a:t>periosteum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Membrane surrounding bones; rich in blood vessels and nerve tissue</a:t>
                      </a:r>
                    </a:p>
                  </a:txBody>
                  <a:tcPr/>
                </a:tc>
                <a:extLst>
                  <a:ext uri="{0D108BD9-81ED-4DB2-BD59-A6C34878D82A}">
                    <a16:rowId xmlns:a16="http://schemas.microsoft.com/office/drawing/2014/main" val="10001"/>
                  </a:ext>
                </a:extLst>
              </a:tr>
              <a:tr h="370840">
                <a:tc>
                  <a:txBody>
                    <a:bodyPr/>
                    <a:lstStyle/>
                    <a:p>
                      <a:r>
                        <a:rPr lang="en-US" altLang="en-US" sz="2400" dirty="0"/>
                        <a:t>phosphorus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Mineral substance found in bones in combination with calcium</a:t>
                      </a:r>
                    </a:p>
                  </a:txBody>
                  <a:tcPr/>
                </a:tc>
                <a:extLst>
                  <a:ext uri="{0D108BD9-81ED-4DB2-BD59-A6C34878D82A}">
                    <a16:rowId xmlns:a16="http://schemas.microsoft.com/office/drawing/2014/main" val="10002"/>
                  </a:ext>
                </a:extLst>
              </a:tr>
              <a:tr h="370840">
                <a:tc>
                  <a:txBody>
                    <a:bodyPr/>
                    <a:lstStyle/>
                    <a:p>
                      <a:r>
                        <a:rPr lang="en-US" altLang="en-US" sz="2400" dirty="0"/>
                        <a:t>physiatrist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Medical doctor who specializes in rehabilitation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212946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25 of 32)</a:t>
            </a:r>
          </a:p>
        </p:txBody>
      </p:sp>
      <p:graphicFrame>
        <p:nvGraphicFramePr>
          <p:cNvPr id="9" name="Content Placeholder 8" descr="Group 13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253024202"/>
              </p:ext>
            </p:extLst>
          </p:nvPr>
        </p:nvGraphicFramePr>
        <p:xfrm>
          <a:off x="3314700" y="22860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pubic </a:t>
                      </a:r>
                      <a:r>
                        <a:rPr lang="en-US" altLang="en-US" sz="2400" dirty="0" err="1"/>
                        <a:t>symphysis</a:t>
                      </a:r>
                      <a:endParaRPr lang="en-US" alt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red bone marrow</a:t>
                      </a:r>
                    </a:p>
                  </a:txBody>
                  <a:tcPr/>
                </a:tc>
                <a:extLst>
                  <a:ext uri="{0D108BD9-81ED-4DB2-BD59-A6C34878D82A}">
                    <a16:rowId xmlns:a16="http://schemas.microsoft.com/office/drawing/2014/main" val="10002"/>
                  </a:ext>
                </a:extLst>
              </a:tr>
              <a:tr h="370840">
                <a:tc>
                  <a:txBody>
                    <a:bodyPr/>
                    <a:lstStyle/>
                    <a:p>
                      <a:r>
                        <a:rPr lang="en-US" altLang="en-US" sz="2400" dirty="0"/>
                        <a:t>ribs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493932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26 of 32)</a:t>
            </a:r>
          </a:p>
        </p:txBody>
      </p:sp>
      <p:graphicFrame>
        <p:nvGraphicFramePr>
          <p:cNvPr id="9" name="Content Placeholder 8" descr="Group 13 of 16.  List of vocabulary terms  with corresponding meanings or definitions."/>
          <p:cNvGraphicFramePr>
            <a:graphicFrameLocks noGrp="1"/>
          </p:cNvGraphicFramePr>
          <p:nvPr>
            <p:ph idx="1"/>
            <p:extLst>
              <p:ext uri="{D42A27DB-BD31-4B8C-83A1-F6EECF244321}">
                <p14:modId xmlns:p14="http://schemas.microsoft.com/office/powerpoint/2010/main" val="3510838594"/>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pubic </a:t>
                      </a:r>
                      <a:r>
                        <a:rPr lang="en-US" altLang="en-US" sz="2400" dirty="0" err="1"/>
                        <a:t>symphysis</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Area of confluence of the two pubic bones in the pelvis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red bone marrow</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Found in </a:t>
                      </a:r>
                      <a:r>
                        <a:rPr lang="en-US" altLang="en-US" sz="2400" dirty="0" err="1"/>
                        <a:t>cancellous</a:t>
                      </a:r>
                      <a:r>
                        <a:rPr lang="en-US" altLang="en-US" sz="2400" dirty="0"/>
                        <a:t> bone; site of hematopoiesis</a:t>
                      </a:r>
                    </a:p>
                  </a:txBody>
                  <a:tcPr/>
                </a:tc>
                <a:extLst>
                  <a:ext uri="{0D108BD9-81ED-4DB2-BD59-A6C34878D82A}">
                    <a16:rowId xmlns:a16="http://schemas.microsoft.com/office/drawing/2014/main" val="10002"/>
                  </a:ext>
                </a:extLst>
              </a:tr>
              <a:tr h="370840">
                <a:tc>
                  <a:txBody>
                    <a:bodyPr/>
                    <a:lstStyle/>
                    <a:p>
                      <a:r>
                        <a:rPr lang="en-US" altLang="en-US" sz="2400" dirty="0"/>
                        <a:t>ribs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Twelve pairs of curved bones that form the chest wall; true ribs are the first 7 pairs; false ribs are pairs 8-10; floating ribs are pairs 11 and 12</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045210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27 of 32)</a:t>
            </a:r>
          </a:p>
        </p:txBody>
      </p:sp>
      <p:graphicFrame>
        <p:nvGraphicFramePr>
          <p:cNvPr id="9" name="Content Placeholder 8" descr="Group 14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211625847"/>
              </p:ext>
            </p:extLst>
          </p:nvPr>
        </p:nvGraphicFramePr>
        <p:xfrm>
          <a:off x="3314700" y="22098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sella</a:t>
                      </a:r>
                      <a:r>
                        <a:rPr lang="en-US" altLang="en-US" sz="2400" dirty="0"/>
                        <a:t> </a:t>
                      </a:r>
                      <a:r>
                        <a:rPr lang="en-US" altLang="en-US" sz="2400" dirty="0" err="1"/>
                        <a:t>turcica</a:t>
                      </a:r>
                      <a:endParaRPr lang="en-US" altLang="en-US" sz="2400" dirty="0"/>
                    </a:p>
                  </a:txBody>
                  <a:tcPr/>
                </a:tc>
                <a:extLst>
                  <a:ext uri="{0D108BD9-81ED-4DB2-BD59-A6C34878D82A}">
                    <a16:rowId xmlns:a16="http://schemas.microsoft.com/office/drawing/2014/main" val="10001"/>
                  </a:ext>
                </a:extLst>
              </a:tr>
              <a:tr h="370840">
                <a:tc>
                  <a:txBody>
                    <a:bodyPr/>
                    <a:lstStyle/>
                    <a:p>
                      <a:r>
                        <a:rPr lang="en-US" altLang="en-US" sz="2400" dirty="0"/>
                        <a:t>sinus</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styloid</a:t>
                      </a:r>
                      <a:r>
                        <a:rPr lang="en-US" altLang="en-US" sz="2400" dirty="0"/>
                        <a:t> process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813074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28 of 32)</a:t>
            </a:r>
          </a:p>
        </p:txBody>
      </p:sp>
      <p:graphicFrame>
        <p:nvGraphicFramePr>
          <p:cNvPr id="9" name="Content Placeholder 8" descr="Group 14 of 16.  List of vocabulary terms  with corresponding meanings or definitions."/>
          <p:cNvGraphicFramePr>
            <a:graphicFrameLocks noGrp="1"/>
          </p:cNvGraphicFramePr>
          <p:nvPr>
            <p:ph idx="1"/>
            <p:extLst>
              <p:ext uri="{D42A27DB-BD31-4B8C-83A1-F6EECF244321}">
                <p14:modId xmlns:p14="http://schemas.microsoft.com/office/powerpoint/2010/main" val="165759890"/>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sella</a:t>
                      </a:r>
                      <a:r>
                        <a:rPr lang="en-US" altLang="en-US" sz="2400" dirty="0"/>
                        <a:t> </a:t>
                      </a:r>
                      <a:r>
                        <a:rPr lang="en-US" altLang="en-US" sz="2400" dirty="0" err="1"/>
                        <a:t>turcica</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Depression in the sphenoid bone where the pituitary gland is located</a:t>
                      </a:r>
                    </a:p>
                  </a:txBody>
                  <a:tcPr/>
                </a:tc>
                <a:extLst>
                  <a:ext uri="{0D108BD9-81ED-4DB2-BD59-A6C34878D82A}">
                    <a16:rowId xmlns:a16="http://schemas.microsoft.com/office/drawing/2014/main" val="10001"/>
                  </a:ext>
                </a:extLst>
              </a:tr>
              <a:tr h="370840">
                <a:tc>
                  <a:txBody>
                    <a:bodyPr/>
                    <a:lstStyle/>
                    <a:p>
                      <a:r>
                        <a:rPr lang="en-US" altLang="en-US" sz="2400" dirty="0"/>
                        <a:t>sinus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Hollow air cavity within a bone</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styloid</a:t>
                      </a:r>
                      <a:r>
                        <a:rPr lang="en-US" altLang="en-US" sz="2400" dirty="0"/>
                        <a:t> process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Pole-like process extending downward from the temporal bone on each side of the skull</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176307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29 of 32)</a:t>
            </a:r>
          </a:p>
        </p:txBody>
      </p:sp>
      <p:graphicFrame>
        <p:nvGraphicFramePr>
          <p:cNvPr id="9" name="Content Placeholder 8" descr="Group 15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936703519"/>
              </p:ext>
            </p:extLst>
          </p:nvPr>
        </p:nvGraphicFramePr>
        <p:xfrm>
          <a:off x="2438400" y="2209800"/>
          <a:ext cx="3962400" cy="1828800"/>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suture</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temporomandibular joint</a:t>
                      </a:r>
                    </a:p>
                  </a:txBody>
                  <a:tcPr/>
                </a:tc>
                <a:extLst>
                  <a:ext uri="{0D108BD9-81ED-4DB2-BD59-A6C34878D82A}">
                    <a16:rowId xmlns:a16="http://schemas.microsoft.com/office/drawing/2014/main" val="10002"/>
                  </a:ext>
                </a:extLst>
              </a:tr>
              <a:tr h="370840">
                <a:tc>
                  <a:txBody>
                    <a:bodyPr/>
                    <a:lstStyle/>
                    <a:p>
                      <a:r>
                        <a:rPr lang="en-US" altLang="en-US" sz="2400" dirty="0"/>
                        <a:t>tendon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908932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30 of 32)</a:t>
            </a:r>
          </a:p>
        </p:txBody>
      </p:sp>
      <p:graphicFrame>
        <p:nvGraphicFramePr>
          <p:cNvPr id="9" name="Content Placeholder 8" descr="Group 15 of 16.  List of vocabulary terms  with corresponding meanings or definitions."/>
          <p:cNvGraphicFramePr>
            <a:graphicFrameLocks noGrp="1"/>
          </p:cNvGraphicFramePr>
          <p:nvPr>
            <p:ph idx="1"/>
            <p:extLst>
              <p:ext uri="{D42A27DB-BD31-4B8C-83A1-F6EECF244321}">
                <p14:modId xmlns:p14="http://schemas.microsoft.com/office/powerpoint/2010/main" val="1510875093"/>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suture</a:t>
                      </a:r>
                      <a:endParaRPr lang="en-US" sz="2400" dirty="0"/>
                    </a:p>
                  </a:txBody>
                  <a:tcPr/>
                </a:tc>
                <a:tc>
                  <a:txBody>
                    <a:bodyPr/>
                    <a:lstStyle/>
                    <a:p>
                      <a:pPr marL="0" indent="0" eaLnBrk="1" hangingPunct="1">
                        <a:lnSpc>
                          <a:spcPct val="80000"/>
                        </a:lnSpc>
                        <a:buFont typeface="Wingdings 2" panose="05020102010507070707" pitchFamily="18" charset="2"/>
                        <a:buNone/>
                      </a:pPr>
                      <a:r>
                        <a:rPr lang="en-US" altLang="en-US" sz="2400" dirty="0"/>
                        <a:t>Immovable joint between bones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temporomandibular</a:t>
                      </a:r>
                      <a:r>
                        <a:rPr lang="en-US" altLang="en-US" sz="2400" dirty="0"/>
                        <a:t> joint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Connection on either side of the head between the temporal bone of the skull and the mandibular bone of the jaw</a:t>
                      </a:r>
                    </a:p>
                  </a:txBody>
                  <a:tcPr/>
                </a:tc>
                <a:extLst>
                  <a:ext uri="{0D108BD9-81ED-4DB2-BD59-A6C34878D82A}">
                    <a16:rowId xmlns:a16="http://schemas.microsoft.com/office/drawing/2014/main" val="10002"/>
                  </a:ext>
                </a:extLst>
              </a:tr>
              <a:tr h="370840">
                <a:tc>
                  <a:txBody>
                    <a:bodyPr/>
                    <a:lstStyle/>
                    <a:p>
                      <a:r>
                        <a:rPr lang="en-US" altLang="en-US" sz="2400" dirty="0"/>
                        <a:t>tendon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Fibrous connective tissue that binds muscles to bones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124408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 </a:t>
            </a:r>
            <a:br>
              <a:rPr lang="en-US" dirty="0"/>
            </a:br>
            <a:r>
              <a:rPr lang="en-US" dirty="0"/>
              <a:t>(Slide 31 of 32)</a:t>
            </a:r>
          </a:p>
        </p:txBody>
      </p:sp>
      <p:graphicFrame>
        <p:nvGraphicFramePr>
          <p:cNvPr id="9" name="Content Placeholder 8" descr="Group 16 of 16:  This table lists a group of vocabulary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827369247"/>
              </p:ext>
            </p:extLst>
          </p:nvPr>
        </p:nvGraphicFramePr>
        <p:xfrm>
          <a:off x="3314700" y="2133600"/>
          <a:ext cx="2514600" cy="26517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err="1"/>
                        <a:t>trabeculae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vertebra</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xiphoid process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yellow bone marrow</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145617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Bones</a:t>
            </a:r>
            <a:br>
              <a:rPr lang="en-US" dirty="0"/>
            </a:br>
            <a:r>
              <a:rPr lang="en-US" dirty="0"/>
              <a:t> (Slide 32 of 32 )</a:t>
            </a:r>
          </a:p>
        </p:txBody>
      </p:sp>
      <p:graphicFrame>
        <p:nvGraphicFramePr>
          <p:cNvPr id="9" name="Content Placeholder 8" descr="Group 16 of 16.  List of vocabulary terms  with corresponding meanings or definitions."/>
          <p:cNvGraphicFramePr>
            <a:graphicFrameLocks noGrp="1"/>
          </p:cNvGraphicFramePr>
          <p:nvPr>
            <p:ph idx="1"/>
            <p:extLst>
              <p:ext uri="{D42A27DB-BD31-4B8C-83A1-F6EECF244321}">
                <p14:modId xmlns:p14="http://schemas.microsoft.com/office/powerpoint/2010/main" val="645793159"/>
              </p:ext>
            </p:extLst>
          </p:nvPr>
        </p:nvGraphicFramePr>
        <p:xfrm>
          <a:off x="457200" y="1600200"/>
          <a:ext cx="8229600" cy="4114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err="1"/>
                        <a:t>trabeculae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Supporting bundles of bony fibers in </a:t>
                      </a:r>
                      <a:r>
                        <a:rPr lang="en-US" altLang="en-US" sz="2400" dirty="0" err="1"/>
                        <a:t>cancellous</a:t>
                      </a:r>
                      <a:r>
                        <a:rPr lang="en-US" altLang="en-US" sz="2400" dirty="0"/>
                        <a:t> bone</a:t>
                      </a:r>
                    </a:p>
                  </a:txBody>
                  <a:tcPr/>
                </a:tc>
                <a:extLst>
                  <a:ext uri="{0D108BD9-81ED-4DB2-BD59-A6C34878D82A}">
                    <a16:rowId xmlns:a16="http://schemas.microsoft.com/office/drawing/2014/main" val="10001"/>
                  </a:ext>
                </a:extLst>
              </a:tr>
              <a:tr h="370840">
                <a:tc>
                  <a:txBody>
                    <a:bodyPr/>
                    <a:lstStyle/>
                    <a:p>
                      <a:r>
                        <a:rPr lang="en-US" altLang="en-US" sz="2400" dirty="0"/>
                        <a:t>vertebra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Individual segment of the spine composed of the vertebral body, vertebral arch, </a:t>
                      </a:r>
                      <a:r>
                        <a:rPr lang="en-US" altLang="en-US" sz="2400" dirty="0" err="1"/>
                        <a:t>spinous</a:t>
                      </a:r>
                      <a:r>
                        <a:rPr lang="en-US" altLang="en-US" sz="2400" dirty="0"/>
                        <a:t> process, transverse process, and lamina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xiphoid process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Lower, narrow portion of sternum</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yellow bone marrow</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Fatty tissue found in the medullary cavity of most adult long bones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080588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en-US" dirty="0"/>
              <a:t>      QUICK QUIZ (Slide 1 of 4)</a:t>
            </a:r>
            <a:endParaRPr lang="en-US" altLang="en-US" sz="4800" dirty="0"/>
          </a:p>
        </p:txBody>
      </p:sp>
      <p:sp>
        <p:nvSpPr>
          <p:cNvPr id="70659" name="Rectangle 3"/>
          <p:cNvSpPr>
            <a:spLocks noGrp="1" noChangeArrowheads="1"/>
          </p:cNvSpPr>
          <p:nvPr>
            <p:ph idx="1"/>
          </p:nvPr>
        </p:nvSpPr>
        <p:spPr>
          <a:xfrm>
            <a:off x="685800" y="1600200"/>
            <a:ext cx="6934200" cy="4495800"/>
          </a:xfrm>
        </p:spPr>
        <p:txBody>
          <a:bodyPr/>
          <a:lstStyle/>
          <a:p>
            <a:pPr marL="533400" indent="-533400" eaLnBrk="1" hangingPunct="1">
              <a:buFont typeface="Arial" panose="020B0604020202020204" pitchFamily="34" charset="0"/>
              <a:buAutoNum type="arabicPeriod"/>
            </a:pPr>
            <a:r>
              <a:rPr lang="en-US" altLang="en-US" b="1" dirty="0"/>
              <a:t>The knuckle-like process at the end of a bone near the joint…</a:t>
            </a:r>
          </a:p>
          <a:p>
            <a:pPr marL="533400" indent="-533400" eaLnBrk="1" hangingPunct="1">
              <a:buFont typeface="Wingdings 2" panose="05020102010507070707" pitchFamily="18" charset="2"/>
              <a:buNone/>
            </a:pPr>
            <a:endParaRPr lang="en-US" altLang="en-US" sz="1800" b="1" dirty="0"/>
          </a:p>
          <a:p>
            <a:pPr marL="914400" lvl="1" indent="-457200" eaLnBrk="1" hangingPunct="1">
              <a:buFont typeface="Arial" panose="020B0604020202020204" pitchFamily="34" charset="0"/>
              <a:buAutoNum type="alphaUcPeriod"/>
            </a:pPr>
            <a:r>
              <a:rPr lang="en-US" altLang="en-US" sz="3200" dirty="0"/>
              <a:t>fossa</a:t>
            </a:r>
          </a:p>
          <a:p>
            <a:pPr marL="914400" lvl="1" indent="-457200" eaLnBrk="1" hangingPunct="1">
              <a:buFont typeface="Arial" panose="020B0604020202020204" pitchFamily="34" charset="0"/>
              <a:buAutoNum type="alphaUcPeriod"/>
            </a:pPr>
            <a:r>
              <a:rPr lang="en-US" altLang="en-US" sz="3200" dirty="0"/>
              <a:t>condyle</a:t>
            </a:r>
          </a:p>
          <a:p>
            <a:pPr marL="914400" lvl="1" indent="-457200" eaLnBrk="1" hangingPunct="1">
              <a:buFont typeface="Arial" panose="020B0604020202020204" pitchFamily="34" charset="0"/>
              <a:buAutoNum type="alphaUcPeriod"/>
            </a:pPr>
            <a:r>
              <a:rPr lang="en-US" altLang="en-US" sz="3200" dirty="0"/>
              <a:t>tubercle</a:t>
            </a:r>
          </a:p>
          <a:p>
            <a:pPr marL="914400" lvl="1" indent="-457200" eaLnBrk="1" hangingPunct="1">
              <a:buFont typeface="Arial" panose="020B0604020202020204" pitchFamily="34" charset="0"/>
              <a:buAutoNum type="alphaUcPeriod"/>
            </a:pPr>
            <a:r>
              <a:rPr lang="en-US" altLang="en-US" sz="3200" dirty="0"/>
              <a:t>diaphysis</a:t>
            </a:r>
            <a:endParaRPr lang="en-US" altLang="en-US" dirty="0"/>
          </a:p>
          <a:p>
            <a:pPr marL="533400" indent="-533400" eaLnBrk="1" hangingPunct="1">
              <a:buFont typeface="Wingdings 2" panose="05020102010507070707" pitchFamily="18" charset="2"/>
              <a:buNone/>
            </a:pPr>
            <a:endParaRPr lang="en-US" altLang="en-US" dirty="0"/>
          </a:p>
        </p:txBody>
      </p:sp>
    </p:spTree>
    <p:extLst>
      <p:ext uri="{BB962C8B-B14F-4D97-AF65-F5344CB8AC3E}">
        <p14:creationId xmlns:p14="http://schemas.microsoft.com/office/powerpoint/2010/main" val="27009439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title"/>
          </p:nvPr>
        </p:nvSpPr>
        <p:spPr/>
        <p:txBody>
          <a:bodyPr/>
          <a:lstStyle/>
          <a:p>
            <a:pPr eaLnBrk="1" hangingPunct="1"/>
            <a:r>
              <a:rPr lang="en-US" altLang="en-US" dirty="0"/>
              <a:t>      QUICK QUIZ (Slide 2 of 4) </a:t>
            </a:r>
            <a:r>
              <a:rPr lang="en-US" altLang="ja-JP" dirty="0"/>
              <a:t>	</a:t>
            </a:r>
            <a:endParaRPr lang="en-US" altLang="en-US" dirty="0"/>
          </a:p>
        </p:txBody>
      </p:sp>
      <p:sp>
        <p:nvSpPr>
          <p:cNvPr id="71683" name="Rectangle 3"/>
          <p:cNvSpPr>
            <a:spLocks noGrp="1" noChangeArrowheads="1"/>
          </p:cNvSpPr>
          <p:nvPr>
            <p:ph idx="1"/>
          </p:nvPr>
        </p:nvSpPr>
        <p:spPr>
          <a:xfrm>
            <a:off x="685800" y="1600200"/>
            <a:ext cx="6934200" cy="4495800"/>
          </a:xfrm>
        </p:spPr>
        <p:txBody>
          <a:bodyPr/>
          <a:lstStyle/>
          <a:p>
            <a:pPr marL="533400" indent="-533400" eaLnBrk="1" hangingPunct="1">
              <a:buFont typeface="Arial" panose="020B0604020202020204" pitchFamily="34" charset="0"/>
              <a:buAutoNum type="arabicPeriod" startAt="2"/>
            </a:pPr>
            <a:r>
              <a:rPr lang="en-US" altLang="en-US" b="1"/>
              <a:t>The process of bone formation is ____________.</a:t>
            </a:r>
          </a:p>
          <a:p>
            <a:pPr marL="533400" indent="-533400" eaLnBrk="1" hangingPunct="1">
              <a:buFont typeface="Wingdings 2" panose="05020102010507070707" pitchFamily="18" charset="2"/>
              <a:buNone/>
            </a:pPr>
            <a:endParaRPr lang="en-US" altLang="en-US" sz="1800" b="1"/>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olecranon</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ossification</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osteoblast</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xiphoid process</a:t>
            </a:r>
          </a:p>
          <a:p>
            <a:pPr marL="533400" indent="-533400" eaLnBrk="1" hangingPunct="1">
              <a:buFont typeface="Wingdings 2" panose="05020102010507070707" pitchFamily="18" charset="2"/>
              <a:buNone/>
            </a:pPr>
            <a:endParaRPr lang="en-US" altLang="en-US"/>
          </a:p>
        </p:txBody>
      </p:sp>
    </p:spTree>
    <p:extLst>
      <p:ext uri="{BB962C8B-B14F-4D97-AF65-F5344CB8AC3E}">
        <p14:creationId xmlns:p14="http://schemas.microsoft.com/office/powerpoint/2010/main" val="30200236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Terminology – Bones</a:t>
            </a:r>
            <a:br>
              <a:rPr lang="en-US" sz="4200" dirty="0"/>
            </a:br>
            <a:r>
              <a:rPr lang="en-US" sz="4200" dirty="0"/>
              <a:t>Combining Forms (Slide 1 of 2)</a:t>
            </a:r>
          </a:p>
        </p:txBody>
      </p:sp>
      <p:graphicFrame>
        <p:nvGraphicFramePr>
          <p:cNvPr id="9" name="Content Placeholder 8" descr="Group 1 of 2 combining forms from the Terminology:  Combining Forms--Bones section of the textbook  with corresponding meanings or definitions. "/>
          <p:cNvGraphicFramePr>
            <a:graphicFrameLocks noGrp="1"/>
          </p:cNvGraphicFramePr>
          <p:nvPr>
            <p:ph idx="1"/>
            <p:extLst>
              <p:ext uri="{D42A27DB-BD31-4B8C-83A1-F6EECF244321}">
                <p14:modId xmlns:p14="http://schemas.microsoft.com/office/powerpoint/2010/main" val="160405060"/>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calc</a:t>
                      </a:r>
                      <a:r>
                        <a:rPr lang="en-US" altLang="en-US" sz="2400" dirty="0"/>
                        <a:t>/o</a:t>
                      </a:r>
                      <a:endParaRPr lang="en-US" sz="2400" dirty="0"/>
                    </a:p>
                  </a:txBody>
                  <a:tcPr/>
                </a:tc>
                <a:tc>
                  <a:txBody>
                    <a:bodyPr/>
                    <a:lstStyle/>
                    <a:p>
                      <a:r>
                        <a:rPr lang="en-US" altLang="en-US" sz="2400" dirty="0"/>
                        <a:t>calcium</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calci</a:t>
                      </a:r>
                      <a:r>
                        <a:rPr lang="en-US" altLang="en-US" sz="2400" dirty="0"/>
                        <a:t>/o</a:t>
                      </a:r>
                      <a:endParaRPr lang="en-US" sz="2400" dirty="0"/>
                    </a:p>
                  </a:txBody>
                  <a:tcPr/>
                </a:tc>
                <a:tc>
                  <a:txBody>
                    <a:bodyPr/>
                    <a:lstStyle/>
                    <a:p>
                      <a:r>
                        <a:rPr lang="en-US" altLang="en-US" sz="2400" dirty="0"/>
                        <a:t>calcium</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kyph</a:t>
                      </a:r>
                      <a:r>
                        <a:rPr lang="en-US" altLang="en-US" sz="2400" dirty="0"/>
                        <a:t>/o</a:t>
                      </a:r>
                      <a:endParaRPr lang="en-US" sz="2400" dirty="0"/>
                    </a:p>
                  </a:txBody>
                  <a:tcPr/>
                </a:tc>
                <a:tc>
                  <a:txBody>
                    <a:bodyPr/>
                    <a:lstStyle/>
                    <a:p>
                      <a:r>
                        <a:rPr lang="en-US" altLang="en-US" sz="2400" dirty="0"/>
                        <a:t>posterior curvature in thoracic region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err="1"/>
                        <a:t>lamin</a:t>
                      </a:r>
                      <a:r>
                        <a:rPr lang="en-US" altLang="en-US" sz="2400" dirty="0"/>
                        <a:t>/o</a:t>
                      </a:r>
                      <a:endParaRPr lang="en-US" sz="2400" dirty="0"/>
                    </a:p>
                  </a:txBody>
                  <a:tcPr/>
                </a:tc>
                <a:tc>
                  <a:txBody>
                    <a:bodyPr/>
                    <a:lstStyle/>
                    <a:p>
                      <a:r>
                        <a:rPr lang="en-US" altLang="en-US" sz="2400" dirty="0"/>
                        <a:t>lamina</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lord/o</a:t>
                      </a:r>
                      <a:endParaRPr lang="en-US" sz="2400" dirty="0"/>
                    </a:p>
                  </a:txBody>
                  <a:tcPr/>
                </a:tc>
                <a:tc>
                  <a:txBody>
                    <a:bodyPr/>
                    <a:lstStyle/>
                    <a:p>
                      <a:r>
                        <a:rPr lang="en-US" altLang="en-US" sz="2400" dirty="0"/>
                        <a:t>curve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err="1"/>
                        <a:t>lumb</a:t>
                      </a:r>
                      <a:r>
                        <a:rPr lang="en-US" altLang="en-US" sz="2400" dirty="0"/>
                        <a:t>/o</a:t>
                      </a:r>
                      <a:endParaRPr lang="en-US" sz="2400" dirty="0"/>
                    </a:p>
                  </a:txBody>
                  <a:tcPr/>
                </a:tc>
                <a:tc>
                  <a:txBody>
                    <a:bodyPr/>
                    <a:lstStyle/>
                    <a:p>
                      <a:r>
                        <a:rPr lang="en-US" altLang="en-US" sz="2400" dirty="0"/>
                        <a:t>loins, lower back</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400496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Terminology – Bones</a:t>
            </a:r>
            <a:br>
              <a:rPr lang="en-US" sz="4200" dirty="0"/>
            </a:br>
            <a:r>
              <a:rPr lang="en-US" sz="4200" dirty="0"/>
              <a:t>Combining Forms (Slide 2 of 2)</a:t>
            </a:r>
          </a:p>
        </p:txBody>
      </p:sp>
      <p:graphicFrame>
        <p:nvGraphicFramePr>
          <p:cNvPr id="9" name="Content Placeholder 8" descr="Group 2 of 2 combining forms from the Terminology:  Combining Forms--Bones section of the textbook  with corresponding meanings or definitions. "/>
          <p:cNvGraphicFramePr>
            <a:graphicFrameLocks noGrp="1"/>
          </p:cNvGraphicFramePr>
          <p:nvPr>
            <p:ph idx="1"/>
            <p:extLst>
              <p:ext uri="{D42A27DB-BD31-4B8C-83A1-F6EECF244321}">
                <p14:modId xmlns:p14="http://schemas.microsoft.com/office/powerpoint/2010/main" val="3291903596"/>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myel</a:t>
                      </a:r>
                      <a:r>
                        <a:rPr lang="en-US" altLang="en-US" sz="2400" dirty="0"/>
                        <a:t>/o</a:t>
                      </a:r>
                      <a:endParaRPr lang="en-US" sz="2400" dirty="0"/>
                    </a:p>
                  </a:txBody>
                  <a:tcPr/>
                </a:tc>
                <a:tc>
                  <a:txBody>
                    <a:bodyPr/>
                    <a:lstStyle/>
                    <a:p>
                      <a:r>
                        <a:rPr lang="en-US" altLang="en-US" sz="2400" dirty="0"/>
                        <a:t>bone marrow</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orth</a:t>
                      </a:r>
                      <a:r>
                        <a:rPr lang="en-US" altLang="en-US" sz="2400" dirty="0"/>
                        <a:t>/o</a:t>
                      </a:r>
                      <a:endParaRPr lang="en-US" sz="2400" dirty="0"/>
                    </a:p>
                  </a:txBody>
                  <a:tcPr/>
                </a:tc>
                <a:tc>
                  <a:txBody>
                    <a:bodyPr/>
                    <a:lstStyle/>
                    <a:p>
                      <a:r>
                        <a:rPr lang="en-US" altLang="en-US" sz="2400" dirty="0"/>
                        <a:t>straight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oste</a:t>
                      </a:r>
                      <a:r>
                        <a:rPr lang="en-US" altLang="en-US" sz="2400" dirty="0"/>
                        <a:t>/o</a:t>
                      </a:r>
                      <a:endParaRPr lang="en-US" sz="2400" dirty="0"/>
                    </a:p>
                  </a:txBody>
                  <a:tcPr/>
                </a:tc>
                <a:tc>
                  <a:txBody>
                    <a:bodyPr/>
                    <a:lstStyle/>
                    <a:p>
                      <a:r>
                        <a:rPr lang="en-US" altLang="en-US" sz="2400" dirty="0"/>
                        <a:t>bone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err="1"/>
                        <a:t>scoli</a:t>
                      </a:r>
                      <a:r>
                        <a:rPr lang="en-US" altLang="en-US" sz="2400" dirty="0"/>
                        <a:t>/o</a:t>
                      </a:r>
                      <a:endParaRPr lang="en-US" sz="2400" dirty="0"/>
                    </a:p>
                  </a:txBody>
                  <a:tcPr/>
                </a:tc>
                <a:tc>
                  <a:txBody>
                    <a:bodyPr/>
                    <a:lstStyle/>
                    <a:p>
                      <a:r>
                        <a:rPr lang="en-US" altLang="en-US" sz="2400" dirty="0"/>
                        <a:t>crooked</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err="1"/>
                        <a:t>spondyl</a:t>
                      </a:r>
                      <a:r>
                        <a:rPr lang="en-US" altLang="en-US" sz="2400" dirty="0"/>
                        <a:t>/o</a:t>
                      </a:r>
                      <a:endParaRPr lang="en-US" sz="2400" dirty="0"/>
                    </a:p>
                  </a:txBody>
                  <a:tcPr/>
                </a:tc>
                <a:tc>
                  <a:txBody>
                    <a:bodyPr/>
                    <a:lstStyle/>
                    <a:p>
                      <a:r>
                        <a:rPr lang="en-US" altLang="en-US" sz="2400" dirty="0"/>
                        <a:t>vertebra</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err="1"/>
                        <a:t>vertebr</a:t>
                      </a:r>
                      <a:r>
                        <a:rPr lang="en-US" altLang="en-US" sz="2400" dirty="0"/>
                        <a:t>/o</a:t>
                      </a:r>
                      <a:endParaRPr lang="en-US" sz="2400" dirty="0"/>
                    </a:p>
                  </a:txBody>
                  <a:tcPr/>
                </a:tc>
                <a:tc>
                  <a:txBody>
                    <a:bodyPr/>
                    <a:lstStyle/>
                    <a:p>
                      <a:r>
                        <a:rPr lang="en-US" altLang="en-US" sz="2400" dirty="0"/>
                        <a:t>vertebra</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533828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Terminology – Bones</a:t>
            </a:r>
            <a:br>
              <a:rPr lang="en-US" sz="4200" dirty="0"/>
            </a:br>
            <a:r>
              <a:rPr lang="en-US" sz="4200" dirty="0"/>
              <a:t>Suffixes</a:t>
            </a:r>
          </a:p>
        </p:txBody>
      </p:sp>
      <p:graphicFrame>
        <p:nvGraphicFramePr>
          <p:cNvPr id="9" name="Content Placeholder 8" descr="List of Suffixes from the Terminology:  Suffixes--Bones section of the textbook  with corresponding meanings or definitions. "/>
          <p:cNvGraphicFramePr>
            <a:graphicFrameLocks noGrp="1"/>
          </p:cNvGraphicFramePr>
          <p:nvPr>
            <p:ph idx="1"/>
            <p:extLst>
              <p:ext uri="{D42A27DB-BD31-4B8C-83A1-F6EECF244321}">
                <p14:modId xmlns:p14="http://schemas.microsoft.com/office/powerpoint/2010/main" val="1927653157"/>
              </p:ext>
            </p:extLst>
          </p:nvPr>
        </p:nvGraphicFramePr>
        <p:xfrm>
          <a:off x="457200" y="1600200"/>
          <a:ext cx="8229600" cy="36576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-blast</a:t>
                      </a:r>
                      <a:endParaRPr lang="en-US" sz="2400" dirty="0"/>
                    </a:p>
                  </a:txBody>
                  <a:tcPr/>
                </a:tc>
                <a:tc>
                  <a:txBody>
                    <a:bodyPr/>
                    <a:lstStyle/>
                    <a:p>
                      <a:r>
                        <a:rPr lang="en-US" altLang="en-US" sz="2400" dirty="0"/>
                        <a:t>embryonic cell</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a:t>
                      </a:r>
                      <a:r>
                        <a:rPr lang="en-US" altLang="en-US" sz="2400" dirty="0" err="1"/>
                        <a:t>clast</a:t>
                      </a:r>
                      <a:endParaRPr lang="en-US" sz="2400" dirty="0"/>
                    </a:p>
                  </a:txBody>
                  <a:tcPr/>
                </a:tc>
                <a:tc>
                  <a:txBody>
                    <a:bodyPr/>
                    <a:lstStyle/>
                    <a:p>
                      <a:r>
                        <a:rPr lang="en-US" altLang="en-US" sz="2400" dirty="0"/>
                        <a:t>to break</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a:t>
                      </a:r>
                      <a:r>
                        <a:rPr lang="en-US" altLang="en-US" sz="2400" dirty="0" err="1"/>
                        <a:t>listhesis</a:t>
                      </a:r>
                      <a:endParaRPr lang="en-US" sz="2400" dirty="0"/>
                    </a:p>
                  </a:txBody>
                  <a:tcPr/>
                </a:tc>
                <a:tc>
                  <a:txBody>
                    <a:bodyPr/>
                    <a:lstStyle/>
                    <a:p>
                      <a:r>
                        <a:rPr lang="en-US" altLang="en-US" sz="2400" dirty="0"/>
                        <a:t>slipping</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a:t>
                      </a:r>
                      <a:r>
                        <a:rPr lang="en-US" altLang="en-US" sz="2400" dirty="0" err="1"/>
                        <a:t>malacia</a:t>
                      </a:r>
                      <a:endParaRPr lang="en-US" sz="2400" dirty="0"/>
                    </a:p>
                  </a:txBody>
                  <a:tcPr/>
                </a:tc>
                <a:tc>
                  <a:txBody>
                    <a:bodyPr/>
                    <a:lstStyle/>
                    <a:p>
                      <a:r>
                        <a:rPr lang="en-US" altLang="en-US" sz="2400" dirty="0"/>
                        <a:t>softening</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a:t>-</a:t>
                      </a:r>
                      <a:r>
                        <a:rPr lang="en-US" altLang="en-US" sz="2400" dirty="0" err="1"/>
                        <a:t>physis</a:t>
                      </a:r>
                      <a:endParaRPr lang="en-US" sz="2400" dirty="0"/>
                    </a:p>
                  </a:txBody>
                  <a:tcPr/>
                </a:tc>
                <a:tc>
                  <a:txBody>
                    <a:bodyPr/>
                    <a:lstStyle/>
                    <a:p>
                      <a:r>
                        <a:rPr lang="en-US" altLang="en-US" sz="2400" dirty="0"/>
                        <a:t>to grow</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a:t>
                      </a:r>
                      <a:r>
                        <a:rPr lang="en-US" altLang="en-US" sz="2400" dirty="0" err="1"/>
                        <a:t>porosis</a:t>
                      </a:r>
                      <a:endParaRPr lang="en-US" sz="2400" dirty="0"/>
                    </a:p>
                  </a:txBody>
                  <a:tcPr/>
                </a:tc>
                <a:tc>
                  <a:txBody>
                    <a:bodyPr/>
                    <a:lstStyle/>
                    <a:p>
                      <a:r>
                        <a:rPr lang="en-US" altLang="en-US" sz="2400" dirty="0"/>
                        <a:t>pore, passage</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dirty="0"/>
                        <a:t>-tome</a:t>
                      </a:r>
                      <a:endParaRPr lang="en-US" sz="2400" dirty="0"/>
                    </a:p>
                  </a:txBody>
                  <a:tcPr/>
                </a:tc>
                <a:tc>
                  <a:txBody>
                    <a:bodyPr/>
                    <a:lstStyle/>
                    <a:p>
                      <a:r>
                        <a:rPr lang="en-US" altLang="en-US" sz="2400" dirty="0"/>
                        <a:t>instrument to cut</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527712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Terminology Related to Specific Bones</a:t>
            </a:r>
            <a:br>
              <a:rPr lang="en-US" sz="4000" dirty="0"/>
            </a:br>
            <a:r>
              <a:rPr lang="en-US" sz="3600" dirty="0"/>
              <a:t>Combining Forms (Slide 1 of 5)</a:t>
            </a:r>
          </a:p>
        </p:txBody>
      </p:sp>
      <p:graphicFrame>
        <p:nvGraphicFramePr>
          <p:cNvPr id="9" name="Content Placeholder 8" descr="Group 1 of 5 combining forms specific bones from the Terminology:  Combining Forms--Bones section of the textbook  with corresponding meanings or definitions. "/>
          <p:cNvGraphicFramePr>
            <a:graphicFrameLocks noGrp="1"/>
          </p:cNvGraphicFramePr>
          <p:nvPr>
            <p:ph idx="1"/>
            <p:extLst>
              <p:ext uri="{D42A27DB-BD31-4B8C-83A1-F6EECF244321}">
                <p14:modId xmlns:p14="http://schemas.microsoft.com/office/powerpoint/2010/main" val="2932579223"/>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acetabul</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acetabulum (hip socket)</a:t>
                      </a:r>
                    </a:p>
                  </a:txBody>
                  <a:tcPr/>
                </a:tc>
                <a:extLst>
                  <a:ext uri="{0D108BD9-81ED-4DB2-BD59-A6C34878D82A}">
                    <a16:rowId xmlns:a16="http://schemas.microsoft.com/office/drawing/2014/main" val="10001"/>
                  </a:ext>
                </a:extLst>
              </a:tr>
              <a:tr h="370840">
                <a:tc>
                  <a:txBody>
                    <a:bodyPr/>
                    <a:lstStyle/>
                    <a:p>
                      <a:r>
                        <a:rPr lang="en-US" altLang="en-US" sz="2400" dirty="0" err="1"/>
                        <a:t>calcane</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calcaneus (heal)</a:t>
                      </a:r>
                    </a:p>
                  </a:txBody>
                  <a:tcPr/>
                </a:tc>
                <a:extLst>
                  <a:ext uri="{0D108BD9-81ED-4DB2-BD59-A6C34878D82A}">
                    <a16:rowId xmlns:a16="http://schemas.microsoft.com/office/drawing/2014/main" val="10002"/>
                  </a:ext>
                </a:extLst>
              </a:tr>
              <a:tr h="370840">
                <a:tc>
                  <a:txBody>
                    <a:bodyPr/>
                    <a:lstStyle/>
                    <a:p>
                      <a:r>
                        <a:rPr lang="en-US" altLang="en-US" sz="2400" dirty="0"/>
                        <a:t>carp/o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carpals (wrist bones)</a:t>
                      </a:r>
                    </a:p>
                  </a:txBody>
                  <a:tcPr/>
                </a:tc>
                <a:extLst>
                  <a:ext uri="{0D108BD9-81ED-4DB2-BD59-A6C34878D82A}">
                    <a16:rowId xmlns:a16="http://schemas.microsoft.com/office/drawing/2014/main" val="10003"/>
                  </a:ext>
                </a:extLst>
              </a:tr>
              <a:tr h="370840">
                <a:tc>
                  <a:txBody>
                    <a:bodyPr/>
                    <a:lstStyle/>
                    <a:p>
                      <a:r>
                        <a:rPr lang="en-US" altLang="en-US" sz="2400" dirty="0" err="1"/>
                        <a:t>clavicul</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clavicle (collar bone)</a:t>
                      </a:r>
                    </a:p>
                  </a:txBody>
                  <a:tcPr/>
                </a:tc>
                <a:extLst>
                  <a:ext uri="{0D108BD9-81ED-4DB2-BD59-A6C34878D82A}">
                    <a16:rowId xmlns:a16="http://schemas.microsoft.com/office/drawing/2014/main" val="10004"/>
                  </a:ext>
                </a:extLst>
              </a:tr>
              <a:tr h="370840">
                <a:tc>
                  <a:txBody>
                    <a:bodyPr/>
                    <a:lstStyle/>
                    <a:p>
                      <a:r>
                        <a:rPr lang="en-US" altLang="en-US" sz="2400" dirty="0"/>
                        <a:t>cost/o</a:t>
                      </a:r>
                      <a:endParaRPr lang="en-US" sz="2400" dirty="0"/>
                    </a:p>
                  </a:txBody>
                  <a:tcPr/>
                </a:tc>
                <a:tc>
                  <a:txBody>
                    <a:bodyPr/>
                    <a:lstStyle/>
                    <a:p>
                      <a:r>
                        <a:rPr lang="en-US" altLang="en-US" sz="2400" dirty="0"/>
                        <a:t>ribs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err="1"/>
                        <a:t>crani</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cranium (skull)</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442186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Terminology Related to Specific Bones</a:t>
            </a:r>
            <a:br>
              <a:rPr lang="en-US" sz="4000" dirty="0"/>
            </a:br>
            <a:r>
              <a:rPr lang="en-US" sz="3600" dirty="0"/>
              <a:t>Combining Forms (Slide 2 of 5)</a:t>
            </a:r>
          </a:p>
        </p:txBody>
      </p:sp>
      <p:graphicFrame>
        <p:nvGraphicFramePr>
          <p:cNvPr id="9" name="Content Placeholder 8" descr="Group 2 of 5 combining forms specific bones from the Terminology:  Combining Forms--Bones section of the textbook  with corresponding meanings or definitions. "/>
          <p:cNvGraphicFramePr>
            <a:graphicFrameLocks noGrp="1"/>
          </p:cNvGraphicFramePr>
          <p:nvPr>
            <p:ph idx="1"/>
            <p:extLst>
              <p:ext uri="{D42A27DB-BD31-4B8C-83A1-F6EECF244321}">
                <p14:modId xmlns:p14="http://schemas.microsoft.com/office/powerpoint/2010/main" val="2363916895"/>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femor</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femur (thigh bones)</a:t>
                      </a:r>
                    </a:p>
                  </a:txBody>
                  <a:tcPr/>
                </a:tc>
                <a:extLst>
                  <a:ext uri="{0D108BD9-81ED-4DB2-BD59-A6C34878D82A}">
                    <a16:rowId xmlns:a16="http://schemas.microsoft.com/office/drawing/2014/main" val="10001"/>
                  </a:ext>
                </a:extLst>
              </a:tr>
              <a:tr h="370840">
                <a:tc>
                  <a:txBody>
                    <a:bodyPr/>
                    <a:lstStyle/>
                    <a:p>
                      <a:r>
                        <a:rPr lang="en-US" altLang="en-US" sz="2400" dirty="0" err="1"/>
                        <a:t>fibul</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fibula (smaller lower leg bone)</a:t>
                      </a:r>
                    </a:p>
                  </a:txBody>
                  <a:tcPr/>
                </a:tc>
                <a:extLst>
                  <a:ext uri="{0D108BD9-81ED-4DB2-BD59-A6C34878D82A}">
                    <a16:rowId xmlns:a16="http://schemas.microsoft.com/office/drawing/2014/main" val="10002"/>
                  </a:ext>
                </a:extLst>
              </a:tr>
              <a:tr h="370840">
                <a:tc>
                  <a:txBody>
                    <a:bodyPr/>
                    <a:lstStyle/>
                    <a:p>
                      <a:r>
                        <a:rPr lang="en-US" altLang="en-US" sz="2400" dirty="0" err="1"/>
                        <a:t>humer</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humerus</a:t>
                      </a:r>
                      <a:r>
                        <a:rPr lang="en-US" altLang="en-US" sz="2400" dirty="0"/>
                        <a:t> (upper arm bone)</a:t>
                      </a:r>
                    </a:p>
                  </a:txBody>
                  <a:tcPr/>
                </a:tc>
                <a:extLst>
                  <a:ext uri="{0D108BD9-81ED-4DB2-BD59-A6C34878D82A}">
                    <a16:rowId xmlns:a16="http://schemas.microsoft.com/office/drawing/2014/main" val="10003"/>
                  </a:ext>
                </a:extLst>
              </a:tr>
              <a:tr h="370840">
                <a:tc>
                  <a:txBody>
                    <a:bodyPr/>
                    <a:lstStyle/>
                    <a:p>
                      <a:r>
                        <a:rPr lang="en-US" altLang="en-US" sz="2400" dirty="0" err="1"/>
                        <a:t>ili</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ilium (upper part of pelvic bone)</a:t>
                      </a:r>
                    </a:p>
                  </a:txBody>
                  <a:tcPr/>
                </a:tc>
                <a:extLst>
                  <a:ext uri="{0D108BD9-81ED-4DB2-BD59-A6C34878D82A}">
                    <a16:rowId xmlns:a16="http://schemas.microsoft.com/office/drawing/2014/main" val="10004"/>
                  </a:ext>
                </a:extLst>
              </a:tr>
              <a:tr h="370840">
                <a:tc>
                  <a:txBody>
                    <a:bodyPr/>
                    <a:lstStyle/>
                    <a:p>
                      <a:r>
                        <a:rPr lang="en-US" altLang="en-US" sz="2400" dirty="0" err="1"/>
                        <a:t>ischi</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ischium (part of pelvic bone)</a:t>
                      </a:r>
                    </a:p>
                  </a:txBody>
                  <a:tcPr/>
                </a:tc>
                <a:extLst>
                  <a:ext uri="{0D108BD9-81ED-4DB2-BD59-A6C34878D82A}">
                    <a16:rowId xmlns:a16="http://schemas.microsoft.com/office/drawing/2014/main" val="10005"/>
                  </a:ext>
                </a:extLst>
              </a:tr>
              <a:tr h="370840">
                <a:tc>
                  <a:txBody>
                    <a:bodyPr/>
                    <a:lstStyle/>
                    <a:p>
                      <a:r>
                        <a:rPr lang="en-US" altLang="en-US" sz="2400" dirty="0" err="1"/>
                        <a:t>malleol</a:t>
                      </a:r>
                      <a:r>
                        <a:rPr lang="en-US" altLang="en-US" sz="2400" dirty="0"/>
                        <a:t>/o</a:t>
                      </a:r>
                      <a:endParaRPr lang="en-US" sz="2400" dirty="0"/>
                    </a:p>
                  </a:txBody>
                  <a:tcPr/>
                </a:tc>
                <a:tc>
                  <a:txBody>
                    <a:bodyPr/>
                    <a:lstStyle/>
                    <a:p>
                      <a:r>
                        <a:rPr lang="en-US" altLang="en-US" sz="2400" dirty="0"/>
                        <a:t>malleolus </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393415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Terminology Related to Specific Bones</a:t>
            </a:r>
            <a:br>
              <a:rPr lang="en-US" sz="4000" dirty="0"/>
            </a:br>
            <a:r>
              <a:rPr lang="en-US" sz="3600" dirty="0"/>
              <a:t>Combining Forms (Slide 3 of 5)</a:t>
            </a:r>
          </a:p>
        </p:txBody>
      </p:sp>
      <p:graphicFrame>
        <p:nvGraphicFramePr>
          <p:cNvPr id="9" name="Content Placeholder 8" descr="Group 3 of 5 combining forms specific bones from the Terminology:  Combining Forms--Bones section of the textbook  with corresponding meanings or definitions. "/>
          <p:cNvGraphicFramePr>
            <a:graphicFrameLocks noGrp="1"/>
          </p:cNvGraphicFramePr>
          <p:nvPr>
            <p:ph idx="1"/>
            <p:extLst>
              <p:ext uri="{D42A27DB-BD31-4B8C-83A1-F6EECF244321}">
                <p14:modId xmlns:p14="http://schemas.microsoft.com/office/powerpoint/2010/main" val="990338360"/>
              </p:ext>
            </p:extLst>
          </p:nvPr>
        </p:nvGraphicFramePr>
        <p:xfrm>
          <a:off x="457200" y="1600200"/>
          <a:ext cx="8229600" cy="36576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mandibul</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mandible (lower jaw bone)</a:t>
                      </a:r>
                    </a:p>
                  </a:txBody>
                  <a:tcPr/>
                </a:tc>
                <a:extLst>
                  <a:ext uri="{0D108BD9-81ED-4DB2-BD59-A6C34878D82A}">
                    <a16:rowId xmlns:a16="http://schemas.microsoft.com/office/drawing/2014/main" val="10001"/>
                  </a:ext>
                </a:extLst>
              </a:tr>
              <a:tr h="370840">
                <a:tc>
                  <a:txBody>
                    <a:bodyPr/>
                    <a:lstStyle/>
                    <a:p>
                      <a:r>
                        <a:rPr lang="en-US" altLang="en-US" sz="2400" dirty="0" err="1"/>
                        <a:t>maxill</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maxilla (upper jaw bone)</a:t>
                      </a:r>
                    </a:p>
                  </a:txBody>
                  <a:tcPr/>
                </a:tc>
                <a:extLst>
                  <a:ext uri="{0D108BD9-81ED-4DB2-BD59-A6C34878D82A}">
                    <a16:rowId xmlns:a16="http://schemas.microsoft.com/office/drawing/2014/main" val="10002"/>
                  </a:ext>
                </a:extLst>
              </a:tr>
              <a:tr h="370840">
                <a:tc>
                  <a:txBody>
                    <a:bodyPr/>
                    <a:lstStyle/>
                    <a:p>
                      <a:r>
                        <a:rPr lang="en-US" altLang="en-US" sz="2400" dirty="0" err="1"/>
                        <a:t>metacarp</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metacarpals (hand bones)</a:t>
                      </a:r>
                    </a:p>
                  </a:txBody>
                  <a:tcPr/>
                </a:tc>
                <a:extLst>
                  <a:ext uri="{0D108BD9-81ED-4DB2-BD59-A6C34878D82A}">
                    <a16:rowId xmlns:a16="http://schemas.microsoft.com/office/drawing/2014/main" val="10003"/>
                  </a:ext>
                </a:extLst>
              </a:tr>
              <a:tr h="370840">
                <a:tc>
                  <a:txBody>
                    <a:bodyPr/>
                    <a:lstStyle/>
                    <a:p>
                      <a:r>
                        <a:rPr lang="en-US" altLang="en-US" sz="2400" dirty="0" err="1"/>
                        <a:t>metatars</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metatarsals (foot bones)</a:t>
                      </a:r>
                    </a:p>
                  </a:txBody>
                  <a:tcPr/>
                </a:tc>
                <a:extLst>
                  <a:ext uri="{0D108BD9-81ED-4DB2-BD59-A6C34878D82A}">
                    <a16:rowId xmlns:a16="http://schemas.microsoft.com/office/drawing/2014/main" val="10004"/>
                  </a:ext>
                </a:extLst>
              </a:tr>
              <a:tr h="370840">
                <a:tc>
                  <a:txBody>
                    <a:bodyPr/>
                    <a:lstStyle/>
                    <a:p>
                      <a:r>
                        <a:rPr lang="en-US" altLang="en-US" sz="2400" dirty="0" err="1"/>
                        <a:t>olecran</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olecranon (elbow)</a:t>
                      </a:r>
                    </a:p>
                  </a:txBody>
                  <a:tcPr/>
                </a:tc>
                <a:extLst>
                  <a:ext uri="{0D108BD9-81ED-4DB2-BD59-A6C34878D82A}">
                    <a16:rowId xmlns:a16="http://schemas.microsoft.com/office/drawing/2014/main" val="10005"/>
                  </a:ext>
                </a:extLst>
              </a:tr>
              <a:tr h="370840">
                <a:tc>
                  <a:txBody>
                    <a:bodyPr/>
                    <a:lstStyle/>
                    <a:p>
                      <a:r>
                        <a:rPr lang="en-US" altLang="en-US" sz="2400" dirty="0" err="1"/>
                        <a:t>patell</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patella (kneecap)</a:t>
                      </a:r>
                    </a:p>
                  </a:txBody>
                  <a:tcPr/>
                </a:tc>
                <a:extLst>
                  <a:ext uri="{0D108BD9-81ED-4DB2-BD59-A6C34878D82A}">
                    <a16:rowId xmlns:a16="http://schemas.microsoft.com/office/drawing/2014/main" val="10006"/>
                  </a:ext>
                </a:extLst>
              </a:tr>
              <a:tr h="370840">
                <a:tc>
                  <a:txBody>
                    <a:bodyPr/>
                    <a:lstStyle/>
                    <a:p>
                      <a:r>
                        <a:rPr lang="en-US" altLang="en-US" sz="2400" dirty="0" err="1"/>
                        <a:t>pelv</a:t>
                      </a:r>
                      <a:r>
                        <a:rPr lang="en-US" altLang="en-US" sz="2400" dirty="0"/>
                        <a:t>/</a:t>
                      </a:r>
                      <a:r>
                        <a:rPr lang="en-US" altLang="en-US" sz="2400" dirty="0" err="1"/>
                        <a:t>i</a:t>
                      </a:r>
                      <a:endParaRPr lang="en-US" sz="2400" dirty="0"/>
                    </a:p>
                  </a:txBody>
                  <a:tcPr/>
                </a:tc>
                <a:tc>
                  <a:txBody>
                    <a:bodyPr/>
                    <a:lstStyle/>
                    <a:p>
                      <a:r>
                        <a:rPr lang="en-US" altLang="en-US" sz="2400" dirty="0"/>
                        <a:t>pelvis</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928633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Terminology Related to Specific Bones</a:t>
            </a:r>
            <a:br>
              <a:rPr lang="en-US" sz="4000" dirty="0"/>
            </a:br>
            <a:r>
              <a:rPr lang="en-US" sz="3600" dirty="0"/>
              <a:t>Combining Forms (Slide 4 of 5)</a:t>
            </a:r>
          </a:p>
        </p:txBody>
      </p:sp>
      <p:graphicFrame>
        <p:nvGraphicFramePr>
          <p:cNvPr id="9" name="Content Placeholder 8" descr="Group 4 of 5 combining forms specific bones from the Terminology:  Combining Forms--Bones section of the textbook  with corresponding meanings or definitions. "/>
          <p:cNvGraphicFramePr>
            <a:graphicFrameLocks noGrp="1"/>
          </p:cNvGraphicFramePr>
          <p:nvPr>
            <p:ph idx="1"/>
            <p:extLst>
              <p:ext uri="{D42A27DB-BD31-4B8C-83A1-F6EECF244321}">
                <p14:modId xmlns:p14="http://schemas.microsoft.com/office/powerpoint/2010/main" val="3649612148"/>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perone</a:t>
                      </a:r>
                      <a:r>
                        <a:rPr lang="en-US" altLang="en-US" sz="2400" dirty="0"/>
                        <a:t>/o</a:t>
                      </a:r>
                      <a:endParaRPr lang="en-US" sz="2400" dirty="0"/>
                    </a:p>
                  </a:txBody>
                  <a:tcPr/>
                </a:tc>
                <a:tc>
                  <a:txBody>
                    <a:bodyPr/>
                    <a:lstStyle/>
                    <a:p>
                      <a:r>
                        <a:rPr lang="en-US" altLang="en-US" sz="2400" dirty="0"/>
                        <a:t>fibula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phalang</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phalanges (finger, toe bones)</a:t>
                      </a:r>
                    </a:p>
                  </a:txBody>
                  <a:tcPr/>
                </a:tc>
                <a:extLst>
                  <a:ext uri="{0D108BD9-81ED-4DB2-BD59-A6C34878D82A}">
                    <a16:rowId xmlns:a16="http://schemas.microsoft.com/office/drawing/2014/main" val="10002"/>
                  </a:ext>
                </a:extLst>
              </a:tr>
              <a:tr h="370840">
                <a:tc>
                  <a:txBody>
                    <a:bodyPr/>
                    <a:lstStyle/>
                    <a:p>
                      <a:r>
                        <a:rPr lang="en-US" altLang="en-US" sz="2400" dirty="0"/>
                        <a:t>pub/o</a:t>
                      </a:r>
                      <a:endParaRPr lang="en-US" sz="2400" dirty="0"/>
                    </a:p>
                  </a:txBody>
                  <a:tcPr/>
                </a:tc>
                <a:tc>
                  <a:txBody>
                    <a:bodyPr/>
                    <a:lstStyle/>
                    <a:p>
                      <a:r>
                        <a:rPr lang="en-US" altLang="en-US" sz="2400" dirty="0"/>
                        <a:t>pubis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err="1"/>
                        <a:t>radi</a:t>
                      </a:r>
                      <a:r>
                        <a:rPr lang="en-US" altLang="en-US" sz="2400" dirty="0"/>
                        <a:t>/o</a:t>
                      </a:r>
                      <a:endParaRPr lang="en-US" sz="2400" dirty="0"/>
                    </a:p>
                  </a:txBody>
                  <a:tcPr/>
                </a:tc>
                <a:tc>
                  <a:txBody>
                    <a:bodyPr/>
                    <a:lstStyle/>
                    <a:p>
                      <a:r>
                        <a:rPr lang="en-US" altLang="en-US" sz="2400" dirty="0"/>
                        <a:t>radius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err="1"/>
                        <a:t>scapul</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scapula (shoulder blade)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258688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000" dirty="0"/>
              <a:t>Terminology Related to Specific Bones</a:t>
            </a:r>
            <a:br>
              <a:rPr lang="en-US" sz="4000" dirty="0"/>
            </a:br>
            <a:r>
              <a:rPr lang="en-US" sz="3600" dirty="0"/>
              <a:t>Combining Forms (Slide 5 of 5)</a:t>
            </a:r>
          </a:p>
        </p:txBody>
      </p:sp>
      <p:graphicFrame>
        <p:nvGraphicFramePr>
          <p:cNvPr id="9" name="Content Placeholder 8" descr="Group 5 of 5 combining forms specific bones from the Terminology:  Combining Forms--Bones section of the textbook  with corresponding meanings or definitions. "/>
          <p:cNvGraphicFramePr>
            <a:graphicFrameLocks noGrp="1"/>
          </p:cNvGraphicFramePr>
          <p:nvPr>
            <p:ph idx="1"/>
            <p:extLst>
              <p:ext uri="{D42A27DB-BD31-4B8C-83A1-F6EECF244321}">
                <p14:modId xmlns:p14="http://schemas.microsoft.com/office/powerpoint/2010/main" val="1620189"/>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stern/o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sternum (breastbone)</a:t>
                      </a:r>
                    </a:p>
                  </a:txBody>
                  <a:tcPr/>
                </a:tc>
                <a:extLst>
                  <a:ext uri="{0D108BD9-81ED-4DB2-BD59-A6C34878D82A}">
                    <a16:rowId xmlns:a16="http://schemas.microsoft.com/office/drawing/2014/main" val="10001"/>
                  </a:ext>
                </a:extLst>
              </a:tr>
              <a:tr h="370840">
                <a:tc>
                  <a:txBody>
                    <a:bodyPr/>
                    <a:lstStyle/>
                    <a:p>
                      <a:r>
                        <a:rPr lang="en-US" altLang="en-US" sz="2400" dirty="0"/>
                        <a:t>tars/o</a:t>
                      </a:r>
                      <a:endParaRPr lang="en-US" sz="2400" dirty="0"/>
                    </a:p>
                  </a:txBody>
                  <a:tcPr/>
                </a:tc>
                <a:tc>
                  <a:txBody>
                    <a:bodyPr/>
                    <a:lstStyle/>
                    <a:p>
                      <a:r>
                        <a:rPr lang="en-US" altLang="en-US" sz="2400" dirty="0"/>
                        <a:t>tarsals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tibi</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tibia (shin bone)</a:t>
                      </a:r>
                    </a:p>
                  </a:txBody>
                  <a:tcPr/>
                </a:tc>
                <a:extLst>
                  <a:ext uri="{0D108BD9-81ED-4DB2-BD59-A6C34878D82A}">
                    <a16:rowId xmlns:a16="http://schemas.microsoft.com/office/drawing/2014/main" val="10003"/>
                  </a:ext>
                </a:extLst>
              </a:tr>
              <a:tr h="370840">
                <a:tc>
                  <a:txBody>
                    <a:bodyPr/>
                    <a:lstStyle/>
                    <a:p>
                      <a:r>
                        <a:rPr lang="en-US" altLang="en-US" sz="2400" dirty="0" err="1"/>
                        <a:t>uln</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ulna (lower arm bone)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507848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5"/>
          <p:cNvSpPr>
            <a:spLocks noGrp="1" noChangeArrowheads="1"/>
          </p:cNvSpPr>
          <p:nvPr>
            <p:ph type="title"/>
          </p:nvPr>
        </p:nvSpPr>
        <p:spPr/>
        <p:txBody>
          <a:bodyPr/>
          <a:lstStyle/>
          <a:p>
            <a:pPr eaLnBrk="1" hangingPunct="1"/>
            <a:r>
              <a:rPr lang="en-US" altLang="en-US"/>
              <a:t>Pathology — Bones</a:t>
            </a:r>
          </a:p>
        </p:txBody>
      </p:sp>
      <p:sp>
        <p:nvSpPr>
          <p:cNvPr id="80899" name="Rectangle 6"/>
          <p:cNvSpPr>
            <a:spLocks noGrp="1" noChangeArrowheads="1"/>
          </p:cNvSpPr>
          <p:nvPr>
            <p:ph idx="1"/>
          </p:nvPr>
        </p:nvSpPr>
        <p:spPr>
          <a:xfrm>
            <a:off x="457200" y="1447800"/>
            <a:ext cx="8229600" cy="4525963"/>
          </a:xfrm>
        </p:spPr>
        <p:txBody>
          <a:bodyPr/>
          <a:lstStyle/>
          <a:p>
            <a:pPr eaLnBrk="1" hangingPunct="1"/>
            <a:r>
              <a:rPr lang="en-US" altLang="en-US" b="1"/>
              <a:t>Ewing sarcoma:</a:t>
            </a:r>
            <a:r>
              <a:rPr lang="en-US" altLang="en-US"/>
              <a:t> malignant bone tumor</a:t>
            </a:r>
          </a:p>
          <a:p>
            <a:pPr eaLnBrk="1" hangingPunct="1"/>
            <a:r>
              <a:rPr lang="en-US" altLang="en-US" b="1"/>
              <a:t>exostosis:</a:t>
            </a:r>
            <a:r>
              <a:rPr lang="en-US" altLang="en-US"/>
              <a:t> bony growth on surface of bone</a:t>
            </a:r>
          </a:p>
          <a:p>
            <a:pPr eaLnBrk="1" hangingPunct="1"/>
            <a:r>
              <a:rPr lang="en-US" altLang="en-US" b="1"/>
              <a:t>osteogenic sarcoma:</a:t>
            </a:r>
            <a:r>
              <a:rPr lang="en-US" altLang="en-US"/>
              <a:t> malignant tumor arising from bone </a:t>
            </a:r>
          </a:p>
          <a:p>
            <a:pPr eaLnBrk="1" hangingPunct="1"/>
            <a:r>
              <a:rPr lang="en-US" altLang="en-US" b="1"/>
              <a:t>osteomalacia:</a:t>
            </a:r>
            <a:r>
              <a:rPr lang="en-US" altLang="en-US"/>
              <a:t> softening of bone</a:t>
            </a:r>
          </a:p>
          <a:p>
            <a:pPr eaLnBrk="1" hangingPunct="1"/>
            <a:r>
              <a:rPr lang="en-US" altLang="en-US" b="1"/>
              <a:t>osteomyelitis:</a:t>
            </a:r>
            <a:r>
              <a:rPr lang="en-US" altLang="en-US"/>
              <a:t> inflammation secondary to infection</a:t>
            </a:r>
          </a:p>
          <a:p>
            <a:pPr eaLnBrk="1" hangingPunct="1"/>
            <a:r>
              <a:rPr lang="en-US" altLang="en-US" b="1"/>
              <a:t>talipes:</a:t>
            </a:r>
            <a:r>
              <a:rPr lang="en-US" altLang="en-US"/>
              <a:t> congenital abnormality of hindfoot involving the talus (clubfoot)</a:t>
            </a:r>
          </a:p>
        </p:txBody>
      </p:sp>
    </p:spTree>
    <p:extLst>
      <p:ext uri="{BB962C8B-B14F-4D97-AF65-F5344CB8AC3E}">
        <p14:creationId xmlns:p14="http://schemas.microsoft.com/office/powerpoint/2010/main" val="41266771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6"/>
          <p:cNvSpPr>
            <a:spLocks noGrp="1" noChangeArrowheads="1"/>
          </p:cNvSpPr>
          <p:nvPr>
            <p:ph type="title"/>
          </p:nvPr>
        </p:nvSpPr>
        <p:spPr/>
        <p:txBody>
          <a:bodyPr/>
          <a:lstStyle/>
          <a:p>
            <a:pPr eaLnBrk="1" hangingPunct="1"/>
            <a:r>
              <a:rPr lang="en-US" altLang="en-US"/>
              <a:t>Pathologic Conditions </a:t>
            </a:r>
            <a:br>
              <a:rPr lang="en-US" altLang="en-US"/>
            </a:br>
            <a:r>
              <a:rPr lang="en-US" altLang="en-US"/>
              <a:t>Fractures of Bones</a:t>
            </a:r>
          </a:p>
        </p:txBody>
      </p:sp>
      <p:pic>
        <p:nvPicPr>
          <p:cNvPr id="5" name="Picture 6" descr="A bone fracture is a traumatic breaking of a bone. Types of fractures include simple (closed), compound (open), colles, compression, comminuted, and greenstick."/>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91208" y="1600200"/>
            <a:ext cx="6161583"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51239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altLang="en-US"/>
              <a:t>Chapter 15</a:t>
            </a:r>
            <a:br>
              <a:rPr lang="en-US" altLang="en-US"/>
            </a:br>
            <a:r>
              <a:rPr lang="en-US" altLang="en-US"/>
              <a:t>Lesson 15.2</a:t>
            </a:r>
          </a:p>
        </p:txBody>
      </p:sp>
    </p:spTree>
    <p:extLst>
      <p:ext uri="{BB962C8B-B14F-4D97-AF65-F5344CB8AC3E}">
        <p14:creationId xmlns:p14="http://schemas.microsoft.com/office/powerpoint/2010/main" val="40180241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p:cNvSpPr>
            <a:spLocks noGrp="1" noChangeArrowheads="1"/>
          </p:cNvSpPr>
          <p:nvPr>
            <p:ph type="title"/>
          </p:nvPr>
        </p:nvSpPr>
        <p:spPr/>
        <p:txBody>
          <a:bodyPr/>
          <a:lstStyle/>
          <a:p>
            <a:pPr eaLnBrk="1" hangingPunct="1"/>
            <a:r>
              <a:rPr lang="en-US" altLang="en-US" dirty="0"/>
              <a:t>Joints (Slide 1 of 2)</a:t>
            </a:r>
          </a:p>
        </p:txBody>
      </p:sp>
      <p:sp>
        <p:nvSpPr>
          <p:cNvPr id="84995" name="Rectangle 5"/>
          <p:cNvSpPr>
            <a:spLocks noGrp="1" noChangeArrowheads="1"/>
          </p:cNvSpPr>
          <p:nvPr>
            <p:ph idx="1"/>
          </p:nvPr>
        </p:nvSpPr>
        <p:spPr/>
        <p:txBody>
          <a:bodyPr/>
          <a:lstStyle/>
          <a:p>
            <a:pPr eaLnBrk="1" hangingPunct="1"/>
            <a:r>
              <a:rPr lang="en-US" altLang="en-US" b="1"/>
              <a:t>Joint (articulation):</a:t>
            </a:r>
            <a:r>
              <a:rPr lang="en-US" altLang="en-US"/>
              <a:t> coming together of two or more bones</a:t>
            </a:r>
          </a:p>
          <a:p>
            <a:pPr lvl="1" eaLnBrk="1" hangingPunct="1">
              <a:buFont typeface="Wingdings" panose="05000000000000000000" pitchFamily="2" charset="2"/>
              <a:buChar char="Ø"/>
            </a:pPr>
            <a:r>
              <a:rPr lang="en-US" altLang="en-US" b="1"/>
              <a:t>Suture joints:</a:t>
            </a:r>
            <a:r>
              <a:rPr lang="en-US" altLang="en-US"/>
              <a:t> immovable (skull)</a:t>
            </a:r>
          </a:p>
          <a:p>
            <a:pPr lvl="1" eaLnBrk="1" hangingPunct="1">
              <a:buFont typeface="Wingdings" panose="05000000000000000000" pitchFamily="2" charset="2"/>
              <a:buChar char="Ø"/>
            </a:pPr>
            <a:r>
              <a:rPr lang="en-US" altLang="en-US" b="1"/>
              <a:t>Synovial joints:</a:t>
            </a:r>
            <a:r>
              <a:rPr lang="en-US" altLang="en-US"/>
              <a:t> freely movable (ball and socket types, e.g., hip or shoulder), (hinge type, for example, elbow, knee, ankle)</a:t>
            </a:r>
          </a:p>
        </p:txBody>
      </p:sp>
    </p:spTree>
    <p:extLst>
      <p:ext uri="{BB962C8B-B14F-4D97-AF65-F5344CB8AC3E}">
        <p14:creationId xmlns:p14="http://schemas.microsoft.com/office/powerpoint/2010/main" val="26407421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p:cNvSpPr>
            <a:spLocks noGrp="1" noChangeArrowheads="1"/>
          </p:cNvSpPr>
          <p:nvPr>
            <p:ph type="title"/>
          </p:nvPr>
        </p:nvSpPr>
        <p:spPr/>
        <p:txBody>
          <a:bodyPr/>
          <a:lstStyle/>
          <a:p>
            <a:pPr eaLnBrk="1" hangingPunct="1"/>
            <a:r>
              <a:rPr lang="en-US" altLang="en-US"/>
              <a:t>Synovial Joints</a:t>
            </a:r>
          </a:p>
        </p:txBody>
      </p:sp>
      <p:sp>
        <p:nvSpPr>
          <p:cNvPr id="86019" name="Rectangle 5"/>
          <p:cNvSpPr>
            <a:spLocks noGrp="1" noChangeArrowheads="1"/>
          </p:cNvSpPr>
          <p:nvPr>
            <p:ph idx="1"/>
          </p:nvPr>
        </p:nvSpPr>
        <p:spPr/>
        <p:txBody>
          <a:bodyPr/>
          <a:lstStyle/>
          <a:p>
            <a:pPr eaLnBrk="1" hangingPunct="1"/>
            <a:r>
              <a:rPr lang="en-US" altLang="en-US"/>
              <a:t>Joint capsule surrounds bone.</a:t>
            </a:r>
          </a:p>
          <a:p>
            <a:pPr eaLnBrk="1" hangingPunct="1"/>
            <a:r>
              <a:rPr lang="en-US" altLang="en-US"/>
              <a:t>Ligaments band bones together.</a:t>
            </a:r>
          </a:p>
          <a:p>
            <a:pPr eaLnBrk="1" hangingPunct="1"/>
            <a:r>
              <a:rPr lang="en-US" altLang="en-US"/>
              <a:t>Bones are covered by articular cartilage.</a:t>
            </a:r>
          </a:p>
          <a:p>
            <a:pPr eaLnBrk="1" hangingPunct="1"/>
            <a:r>
              <a:rPr lang="en-US" altLang="en-US"/>
              <a:t>Synovial membrane lies under capsule and lines synovial cavity; filled with synovial fluid.</a:t>
            </a:r>
          </a:p>
          <a:p>
            <a:pPr eaLnBrk="1" hangingPunct="1"/>
            <a:r>
              <a:rPr lang="en-US" altLang="en-US"/>
              <a:t>A meniscus is a crescent-shaped fibrocartilaginous structure that partly divides a join cavity; acts as a protective cushion; present in the knee.</a:t>
            </a:r>
          </a:p>
        </p:txBody>
      </p:sp>
    </p:spTree>
    <p:extLst>
      <p:ext uri="{BB962C8B-B14F-4D97-AF65-F5344CB8AC3E}">
        <p14:creationId xmlns:p14="http://schemas.microsoft.com/office/powerpoint/2010/main" val="13435835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Grp="1" noChangeArrowheads="1"/>
          </p:cNvSpPr>
          <p:nvPr>
            <p:ph type="title"/>
          </p:nvPr>
        </p:nvSpPr>
        <p:spPr/>
        <p:txBody>
          <a:bodyPr/>
          <a:lstStyle/>
          <a:p>
            <a:pPr eaLnBrk="1" hangingPunct="1"/>
            <a:r>
              <a:rPr lang="en-US" altLang="en-US"/>
              <a:t>Bursae</a:t>
            </a:r>
          </a:p>
        </p:txBody>
      </p:sp>
      <p:sp>
        <p:nvSpPr>
          <p:cNvPr id="87043" name="Rectangle 5"/>
          <p:cNvSpPr>
            <a:spLocks noGrp="1" noChangeArrowheads="1"/>
          </p:cNvSpPr>
          <p:nvPr>
            <p:ph idx="1"/>
          </p:nvPr>
        </p:nvSpPr>
        <p:spPr>
          <a:xfrm>
            <a:off x="457200" y="1371600"/>
            <a:ext cx="8229600" cy="4525963"/>
          </a:xfrm>
        </p:spPr>
        <p:txBody>
          <a:bodyPr/>
          <a:lstStyle/>
          <a:p>
            <a:pPr eaLnBrk="1" hangingPunct="1"/>
            <a:r>
              <a:rPr lang="en-US" altLang="en-US"/>
              <a:t>Closed sacks of synovial fluid with a synovial membrane located </a:t>
            </a:r>
            <a:r>
              <a:rPr lang="en-US" altLang="en-US" u="sng"/>
              <a:t>near,</a:t>
            </a:r>
            <a:r>
              <a:rPr lang="en-US" altLang="en-US"/>
              <a:t> but not within a joint. Needed where sliding must take place. </a:t>
            </a:r>
          </a:p>
          <a:p>
            <a:pPr eaLnBrk="1" hangingPunct="1"/>
            <a:r>
              <a:rPr lang="en-US" altLang="en-US"/>
              <a:t>Common sites: </a:t>
            </a:r>
          </a:p>
          <a:p>
            <a:pPr lvl="1" eaLnBrk="1" hangingPunct="1">
              <a:buFont typeface="Wingdings" panose="05000000000000000000" pitchFamily="2" charset="2"/>
              <a:buChar char="Ø"/>
            </a:pPr>
            <a:r>
              <a:rPr lang="en-US" altLang="en-US"/>
              <a:t>between tendons (connective tissue connecting muscle to bone) and bones</a:t>
            </a:r>
          </a:p>
          <a:p>
            <a:pPr lvl="1" eaLnBrk="1" hangingPunct="1">
              <a:buFont typeface="Wingdings" panose="05000000000000000000" pitchFamily="2" charset="2"/>
              <a:buChar char="Ø"/>
            </a:pPr>
            <a:r>
              <a:rPr lang="en-US" altLang="en-US"/>
              <a:t>between ligaments (binding bone to bone) and bones</a:t>
            </a:r>
          </a:p>
          <a:p>
            <a:pPr lvl="1" eaLnBrk="1" hangingPunct="1">
              <a:buFont typeface="Wingdings" panose="05000000000000000000" pitchFamily="2" charset="2"/>
              <a:buChar char="Ø"/>
            </a:pPr>
            <a:r>
              <a:rPr lang="en-US" altLang="en-US"/>
              <a:t>between skin and bones (with prominent bony anatomy)</a:t>
            </a:r>
          </a:p>
        </p:txBody>
      </p:sp>
    </p:spTree>
    <p:extLst>
      <p:ext uri="{BB962C8B-B14F-4D97-AF65-F5344CB8AC3E}">
        <p14:creationId xmlns:p14="http://schemas.microsoft.com/office/powerpoint/2010/main" val="26337669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en-US" altLang="en-US" dirty="0"/>
              <a:t>Joints (Slide 2 of 2)</a:t>
            </a:r>
          </a:p>
        </p:txBody>
      </p:sp>
      <p:pic>
        <p:nvPicPr>
          <p:cNvPr id="8" name="Picture 8" descr="Sagittal (lateral) section of the knee showing the medial meniscus and bursae."/>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457200" y="1917922"/>
            <a:ext cx="4038600" cy="3890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9" descr="Frontal section of the knee showing the medial meniscus and anterior cruciate ligament (ACL)."/>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4648200" y="1792105"/>
            <a:ext cx="4038600" cy="41421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5827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Joints (Slide 1 of 6)</a:t>
            </a:r>
          </a:p>
        </p:txBody>
      </p:sp>
      <p:graphicFrame>
        <p:nvGraphicFramePr>
          <p:cNvPr id="9" name="Content Placeholder 8" descr="Group 1 of 3:  This table lists a group of vocabulary-joint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280285186"/>
              </p:ext>
            </p:extLst>
          </p:nvPr>
        </p:nvGraphicFramePr>
        <p:xfrm>
          <a:off x="2438400" y="2286000"/>
          <a:ext cx="4038600" cy="2286000"/>
        </p:xfrm>
        <a:graphic>
          <a:graphicData uri="http://schemas.openxmlformats.org/drawingml/2006/table">
            <a:tbl>
              <a:tblPr firstRow="1" bandRow="1">
                <a:tableStyleId>{5C22544A-7EE6-4342-B048-85BDC9FD1C3A}</a:tableStyleId>
              </a:tblPr>
              <a:tblGrid>
                <a:gridCol w="4038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articular cartilage</a:t>
                      </a:r>
                    </a:p>
                  </a:txBody>
                  <a:tcPr/>
                </a:tc>
                <a:extLst>
                  <a:ext uri="{0D108BD9-81ED-4DB2-BD59-A6C34878D82A}">
                    <a16:rowId xmlns:a16="http://schemas.microsoft.com/office/drawing/2014/main" val="10001"/>
                  </a:ext>
                </a:extLst>
              </a:tr>
              <a:tr h="370840">
                <a:tc>
                  <a:txBody>
                    <a:bodyPr/>
                    <a:lstStyle/>
                    <a:p>
                      <a:r>
                        <a:rPr lang="en-US" altLang="en-US" sz="2400" dirty="0"/>
                        <a:t>articulation</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bursa (</a:t>
                      </a:r>
                      <a:r>
                        <a:rPr lang="en-US" altLang="en-US" sz="2400" i="1" dirty="0"/>
                        <a:t>plural:  </a:t>
                      </a:r>
                      <a:r>
                        <a:rPr lang="en-US" altLang="en-US" sz="2400" dirty="0" err="1"/>
                        <a:t>bursae</a:t>
                      </a:r>
                      <a:r>
                        <a:rPr lang="en-US" altLang="en-US" sz="2400" dirty="0"/>
                        <a:t>)</a:t>
                      </a:r>
                    </a:p>
                  </a:txBody>
                  <a:tcPr/>
                </a:tc>
                <a:extLst>
                  <a:ext uri="{0D108BD9-81ED-4DB2-BD59-A6C34878D82A}">
                    <a16:rowId xmlns:a16="http://schemas.microsoft.com/office/drawing/2014/main" val="10003"/>
                  </a:ext>
                </a:extLst>
              </a:tr>
              <a:tr h="370840">
                <a:tc>
                  <a:txBody>
                    <a:bodyPr/>
                    <a:lstStyle/>
                    <a:p>
                      <a:r>
                        <a:rPr lang="en-US" altLang="en-US" sz="2400" dirty="0"/>
                        <a:t>ligament</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8326824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Joints (Slide 2 of 6)</a:t>
            </a:r>
          </a:p>
        </p:txBody>
      </p:sp>
      <p:graphicFrame>
        <p:nvGraphicFramePr>
          <p:cNvPr id="9" name="Content Placeholder 8" descr="Group 1 of 3.  List of vocabulary terms  with corresponding meanings or definitions."/>
          <p:cNvGraphicFramePr>
            <a:graphicFrameLocks noGrp="1"/>
          </p:cNvGraphicFramePr>
          <p:nvPr>
            <p:ph idx="1"/>
            <p:extLst>
              <p:ext uri="{D42A27DB-BD31-4B8C-83A1-F6EECF244321}">
                <p14:modId xmlns:p14="http://schemas.microsoft.com/office/powerpoint/2010/main" val="1663062896"/>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articular cartilage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Smooth, glistening white tissue that covers the surface of a joint</a:t>
                      </a:r>
                    </a:p>
                  </a:txBody>
                  <a:tcPr/>
                </a:tc>
                <a:extLst>
                  <a:ext uri="{0D108BD9-81ED-4DB2-BD59-A6C34878D82A}">
                    <a16:rowId xmlns:a16="http://schemas.microsoft.com/office/drawing/2014/main" val="10001"/>
                  </a:ext>
                </a:extLst>
              </a:tr>
              <a:tr h="370840">
                <a:tc>
                  <a:txBody>
                    <a:bodyPr/>
                    <a:lstStyle/>
                    <a:p>
                      <a:r>
                        <a:rPr lang="en-US" altLang="en-US" sz="2400" dirty="0"/>
                        <a:t>articulation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Any type of joint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bursa (</a:t>
                      </a:r>
                      <a:r>
                        <a:rPr lang="en-US" altLang="en-US" sz="2400" i="1" dirty="0"/>
                        <a:t>plural:  </a:t>
                      </a:r>
                      <a:r>
                        <a:rPr lang="en-US" altLang="en-US" sz="2400" dirty="0" err="1"/>
                        <a:t>bursae</a:t>
                      </a:r>
                      <a:r>
                        <a:rPr lang="en-US" altLang="en-US" sz="2400"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Sac of fluid near a joint</a:t>
                      </a:r>
                    </a:p>
                  </a:txBody>
                  <a:tcPr/>
                </a:tc>
                <a:extLst>
                  <a:ext uri="{0D108BD9-81ED-4DB2-BD59-A6C34878D82A}">
                    <a16:rowId xmlns:a16="http://schemas.microsoft.com/office/drawing/2014/main" val="10003"/>
                  </a:ext>
                </a:extLst>
              </a:tr>
              <a:tr h="370840">
                <a:tc>
                  <a:txBody>
                    <a:bodyPr/>
                    <a:lstStyle/>
                    <a:p>
                      <a:r>
                        <a:rPr lang="en-US" altLang="en-US" sz="2400" dirty="0"/>
                        <a:t>ligament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Fibrous connective bands binding bones to other bones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088349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Joints (Slide 3 of 6)</a:t>
            </a:r>
          </a:p>
        </p:txBody>
      </p:sp>
      <p:graphicFrame>
        <p:nvGraphicFramePr>
          <p:cNvPr id="9" name="Content Placeholder 8" descr="Group 2 of 3:  This table lists a group of vocabulary-joint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780441141"/>
              </p:ext>
            </p:extLst>
          </p:nvPr>
        </p:nvGraphicFramePr>
        <p:xfrm>
          <a:off x="3314700" y="2209800"/>
          <a:ext cx="2514600" cy="18288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meniscus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suture joint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synovial cavity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415243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Joints (Slide 4 of 6)</a:t>
            </a:r>
          </a:p>
        </p:txBody>
      </p:sp>
      <p:graphicFrame>
        <p:nvGraphicFramePr>
          <p:cNvPr id="9" name="Content Placeholder 8" descr="Group 2 of 3.  List of vocabulary terms  with corresponding meanings or definitions."/>
          <p:cNvGraphicFramePr>
            <a:graphicFrameLocks noGrp="1"/>
          </p:cNvGraphicFramePr>
          <p:nvPr>
            <p:ph idx="1"/>
            <p:extLst>
              <p:ext uri="{D42A27DB-BD31-4B8C-83A1-F6EECF244321}">
                <p14:modId xmlns:p14="http://schemas.microsoft.com/office/powerpoint/2010/main" val="890223327"/>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meniscus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Crescent-shaped </a:t>
                      </a:r>
                      <a:r>
                        <a:rPr lang="en-US" altLang="en-US" sz="2400" dirty="0" err="1"/>
                        <a:t>fibrocartilaginous</a:t>
                      </a:r>
                      <a:r>
                        <a:rPr lang="en-US" altLang="en-US" sz="2400" dirty="0"/>
                        <a:t> structure found in the knee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suture joint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Immovable joint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synovial cavity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Space between bones at a synovial joint</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39668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Joints (Slide 5 of 6)</a:t>
            </a:r>
          </a:p>
        </p:txBody>
      </p:sp>
      <p:graphicFrame>
        <p:nvGraphicFramePr>
          <p:cNvPr id="9" name="Content Placeholder 8" descr="Group 3 of 3:  This table lists a group of vocabulary-joint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908427095"/>
              </p:ext>
            </p:extLst>
          </p:nvPr>
        </p:nvGraphicFramePr>
        <p:xfrm>
          <a:off x="3314700" y="2057400"/>
          <a:ext cx="2514600" cy="26517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synovial fluid</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synovial joint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synovial membrane</a:t>
                      </a:r>
                    </a:p>
                  </a:txBody>
                  <a:tcPr/>
                </a:tc>
                <a:extLst>
                  <a:ext uri="{0D108BD9-81ED-4DB2-BD59-A6C34878D82A}">
                    <a16:rowId xmlns:a16="http://schemas.microsoft.com/office/drawing/2014/main" val="10003"/>
                  </a:ext>
                </a:extLst>
              </a:tr>
              <a:tr h="370840">
                <a:tc>
                  <a:txBody>
                    <a:bodyPr/>
                    <a:lstStyle/>
                    <a:p>
                      <a:r>
                        <a:rPr lang="en-US" altLang="en-US" sz="2400" dirty="0"/>
                        <a:t>tendon</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562759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Joints (Slide 6 of 6)</a:t>
            </a:r>
          </a:p>
        </p:txBody>
      </p:sp>
      <p:graphicFrame>
        <p:nvGraphicFramePr>
          <p:cNvPr id="9" name="Content Placeholder 8" descr="Group 3 of 3.  List of vocabulary terms  with corresponding meanings or definitions."/>
          <p:cNvGraphicFramePr>
            <a:graphicFrameLocks noGrp="1"/>
          </p:cNvGraphicFramePr>
          <p:nvPr>
            <p:ph idx="1"/>
            <p:extLst>
              <p:ext uri="{D42A27DB-BD31-4B8C-83A1-F6EECF244321}">
                <p14:modId xmlns:p14="http://schemas.microsoft.com/office/powerpoint/2010/main" val="786589227"/>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synovial fluid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Viscous fluid within the synovial cavity</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synovial joint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Freely movable joint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synovial membrane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Tissue lining the synovial cavity; produces synovial fluid</a:t>
                      </a:r>
                    </a:p>
                  </a:txBody>
                  <a:tcPr/>
                </a:tc>
                <a:extLst>
                  <a:ext uri="{0D108BD9-81ED-4DB2-BD59-A6C34878D82A}">
                    <a16:rowId xmlns:a16="http://schemas.microsoft.com/office/drawing/2014/main" val="10003"/>
                  </a:ext>
                </a:extLst>
              </a:tr>
              <a:tr h="370840">
                <a:tc>
                  <a:txBody>
                    <a:bodyPr/>
                    <a:lstStyle/>
                    <a:p>
                      <a:r>
                        <a:rPr lang="en-US" altLang="en-US" sz="2400" dirty="0"/>
                        <a:t>tendon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Fibrous connective bands that connect muscles to bones</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589295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altLang="en-US" dirty="0"/>
              <a:t>      QUICK QUIZ (Slide 3 of 4)</a:t>
            </a:r>
            <a:endParaRPr lang="en-US" altLang="en-US" sz="4800" dirty="0"/>
          </a:p>
        </p:txBody>
      </p:sp>
      <p:sp>
        <p:nvSpPr>
          <p:cNvPr id="95235" name="Rectangle 3"/>
          <p:cNvSpPr>
            <a:spLocks noGrp="1" noChangeArrowheads="1"/>
          </p:cNvSpPr>
          <p:nvPr>
            <p:ph idx="1"/>
          </p:nvPr>
        </p:nvSpPr>
        <p:spPr>
          <a:xfrm>
            <a:off x="685800" y="1600200"/>
            <a:ext cx="6934200" cy="4495800"/>
          </a:xfrm>
        </p:spPr>
        <p:txBody>
          <a:bodyPr/>
          <a:lstStyle/>
          <a:p>
            <a:pPr marL="533400" indent="-533400" eaLnBrk="1" hangingPunct="1">
              <a:buFont typeface="Arial" panose="020B0604020202020204" pitchFamily="34" charset="0"/>
              <a:buAutoNum type="arabicPeriod" startAt="3"/>
            </a:pPr>
            <a:r>
              <a:rPr lang="en-US" altLang="en-US" b="1"/>
              <a:t>The fibrous connective band that binds muscles to bones is ___________.</a:t>
            </a:r>
          </a:p>
          <a:p>
            <a:pPr marL="533400" indent="-533400" eaLnBrk="1" hangingPunct="1">
              <a:buFont typeface="Wingdings 2" panose="05020102010507070707" pitchFamily="18" charset="2"/>
              <a:buNone/>
            </a:pPr>
            <a:endParaRPr lang="en-US" altLang="en-US" sz="1800" b="1"/>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ligament</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articulation</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synovial membrane</a:t>
            </a:r>
          </a:p>
          <a:p>
            <a:pPr marL="914400" lvl="1" indent="-457200" eaLnBrk="1" hangingPunct="1">
              <a:buFont typeface="Arial" panose="020B0604020202020204" pitchFamily="34" charset="0"/>
              <a:buAutoNum type="alphaUcPeriod"/>
            </a:pPr>
            <a:r>
              <a:rPr lang="en-US" altLang="en-US" sz="3200">
                <a:ea typeface="MS PGothic" panose="020B0600070205080204" pitchFamily="34" charset="-128"/>
              </a:rPr>
              <a:t>tendon</a:t>
            </a:r>
            <a:endParaRPr lang="en-US" altLang="en-US">
              <a:ea typeface="MS PGothic" panose="020B0600070205080204" pitchFamily="34" charset="-128"/>
            </a:endParaRPr>
          </a:p>
          <a:p>
            <a:pPr marL="533400" indent="-533400" eaLnBrk="1" hangingPunct="1">
              <a:buFont typeface="Wingdings 2" panose="05020102010507070707" pitchFamily="18" charset="2"/>
              <a:buNone/>
            </a:pPr>
            <a:endParaRPr lang="en-US" altLang="en-US"/>
          </a:p>
        </p:txBody>
      </p:sp>
    </p:spTree>
    <p:extLst>
      <p:ext uri="{BB962C8B-B14F-4D97-AF65-F5344CB8AC3E}">
        <p14:creationId xmlns:p14="http://schemas.microsoft.com/office/powerpoint/2010/main" val="5710740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and Terminology</a:t>
            </a:r>
            <a:br>
              <a:rPr lang="en-US" dirty="0"/>
            </a:br>
            <a:r>
              <a:rPr lang="en-US" sz="4000" dirty="0"/>
              <a:t>Joints (Slide 1 of 2)</a:t>
            </a:r>
          </a:p>
        </p:txBody>
      </p:sp>
      <p:graphicFrame>
        <p:nvGraphicFramePr>
          <p:cNvPr id="9" name="Content Placeholder 8" descr="Group 1 of 2 combining forms from the Combining Form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4098318828"/>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ankyl</a:t>
                      </a:r>
                      <a:r>
                        <a:rPr lang="en-US" altLang="en-US" sz="2400" dirty="0"/>
                        <a:t>/o</a:t>
                      </a:r>
                      <a:endParaRPr lang="en-US" sz="2400" dirty="0"/>
                    </a:p>
                  </a:txBody>
                  <a:tcPr/>
                </a:tc>
                <a:tc>
                  <a:txBody>
                    <a:bodyPr/>
                    <a:lstStyle/>
                    <a:p>
                      <a:r>
                        <a:rPr lang="en-US" altLang="en-US" sz="2400" dirty="0"/>
                        <a:t>stiff</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arthr</a:t>
                      </a:r>
                      <a:r>
                        <a:rPr lang="en-US" altLang="en-US" sz="2400" dirty="0"/>
                        <a:t>/o</a:t>
                      </a:r>
                      <a:endParaRPr lang="en-US" sz="2400" dirty="0"/>
                    </a:p>
                  </a:txBody>
                  <a:tcPr/>
                </a:tc>
                <a:tc>
                  <a:txBody>
                    <a:bodyPr/>
                    <a:lstStyle/>
                    <a:p>
                      <a:r>
                        <a:rPr lang="en-US" altLang="en-US" sz="2400" dirty="0"/>
                        <a:t>joint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articul</a:t>
                      </a:r>
                      <a:r>
                        <a:rPr lang="en-US" altLang="en-US" sz="2400" dirty="0"/>
                        <a:t>/</a:t>
                      </a:r>
                      <a:endParaRPr lang="en-US" sz="2400" dirty="0"/>
                    </a:p>
                  </a:txBody>
                  <a:tcPr/>
                </a:tc>
                <a:tc>
                  <a:txBody>
                    <a:bodyPr/>
                    <a:lstStyle/>
                    <a:p>
                      <a:r>
                        <a:rPr lang="en-US" altLang="en-US" sz="2400" dirty="0"/>
                        <a:t>joint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burs/o</a:t>
                      </a:r>
                      <a:endParaRPr lang="en-US" sz="2400" dirty="0"/>
                    </a:p>
                  </a:txBody>
                  <a:tcPr/>
                </a:tc>
                <a:tc>
                  <a:txBody>
                    <a:bodyPr/>
                    <a:lstStyle/>
                    <a:p>
                      <a:r>
                        <a:rPr lang="en-US" altLang="en-US" sz="2400" dirty="0"/>
                        <a:t>bursa</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err="1"/>
                        <a:t>chondr</a:t>
                      </a:r>
                      <a:r>
                        <a:rPr lang="en-US" altLang="en-US" sz="2400" dirty="0"/>
                        <a:t>/o</a:t>
                      </a:r>
                      <a:endParaRPr lang="en-US" sz="2400" dirty="0"/>
                    </a:p>
                  </a:txBody>
                  <a:tcPr/>
                </a:tc>
                <a:tc>
                  <a:txBody>
                    <a:bodyPr/>
                    <a:lstStyle/>
                    <a:p>
                      <a:r>
                        <a:rPr lang="en-US" altLang="en-US" sz="2400" dirty="0"/>
                        <a:t>cartilage</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698621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and Terminology</a:t>
            </a:r>
            <a:br>
              <a:rPr lang="en-US" dirty="0"/>
            </a:br>
            <a:r>
              <a:rPr lang="en-US" sz="4000" dirty="0"/>
              <a:t>Joints (Slide 2 of 2)</a:t>
            </a:r>
          </a:p>
        </p:txBody>
      </p:sp>
      <p:graphicFrame>
        <p:nvGraphicFramePr>
          <p:cNvPr id="9" name="Content Placeholder 8" descr="Group 2 of 2 combining forms from the Combining Form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4116189418"/>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ligament/o</a:t>
                      </a:r>
                      <a:endParaRPr lang="en-US" sz="2400" dirty="0"/>
                    </a:p>
                  </a:txBody>
                  <a:tcPr/>
                </a:tc>
                <a:tc>
                  <a:txBody>
                    <a:bodyPr/>
                    <a:lstStyle/>
                    <a:p>
                      <a:r>
                        <a:rPr lang="en-US" altLang="en-US" sz="2400" dirty="0"/>
                        <a:t>ligament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rheumat</a:t>
                      </a:r>
                      <a:r>
                        <a:rPr lang="en-US" altLang="en-US" sz="2400"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watery flow</a:t>
                      </a:r>
                    </a:p>
                  </a:txBody>
                  <a:tcPr/>
                </a:tc>
                <a:extLst>
                  <a:ext uri="{0D108BD9-81ED-4DB2-BD59-A6C34878D82A}">
                    <a16:rowId xmlns:a16="http://schemas.microsoft.com/office/drawing/2014/main" val="10002"/>
                  </a:ext>
                </a:extLst>
              </a:tr>
              <a:tr h="370840">
                <a:tc>
                  <a:txBody>
                    <a:bodyPr/>
                    <a:lstStyle/>
                    <a:p>
                      <a:r>
                        <a:rPr lang="en-US" altLang="en-US" sz="2400" dirty="0" err="1"/>
                        <a:t>synov</a:t>
                      </a:r>
                      <a:r>
                        <a:rPr lang="en-US" altLang="en-US" sz="2400" dirty="0"/>
                        <a:t>/o</a:t>
                      </a:r>
                      <a:endParaRPr lang="en-US" sz="2400" dirty="0"/>
                    </a:p>
                  </a:txBody>
                  <a:tcPr/>
                </a:tc>
                <a:tc>
                  <a:txBody>
                    <a:bodyPr/>
                    <a:lstStyle/>
                    <a:p>
                      <a:r>
                        <a:rPr lang="en-US" altLang="en-US" sz="2400" dirty="0"/>
                        <a:t>synovial membrane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ten/o</a:t>
                      </a:r>
                      <a:endParaRPr lang="en-US" sz="2400" dirty="0"/>
                    </a:p>
                  </a:txBody>
                  <a:tcPr/>
                </a:tc>
                <a:tc>
                  <a:txBody>
                    <a:bodyPr/>
                    <a:lstStyle/>
                    <a:p>
                      <a:r>
                        <a:rPr lang="en-US" altLang="en-US" sz="2400" dirty="0"/>
                        <a:t>tendon</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err="1"/>
                        <a:t>tendin</a:t>
                      </a:r>
                      <a:r>
                        <a:rPr lang="en-US" altLang="en-US" sz="2400" dirty="0"/>
                        <a:t>/o</a:t>
                      </a:r>
                      <a:endParaRPr lang="en-US" sz="2400" dirty="0"/>
                    </a:p>
                  </a:txBody>
                  <a:tcPr/>
                </a:tc>
                <a:tc>
                  <a:txBody>
                    <a:bodyPr/>
                    <a:lstStyle/>
                    <a:p>
                      <a:r>
                        <a:rPr lang="en-US" altLang="en-US" sz="2400" dirty="0"/>
                        <a:t>tendon</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030821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Suffixes and Terminology</a:t>
            </a:r>
            <a:br>
              <a:rPr lang="en-US" dirty="0"/>
            </a:br>
            <a:r>
              <a:rPr lang="en-US" sz="4000" dirty="0"/>
              <a:t>Joints</a:t>
            </a:r>
          </a:p>
        </p:txBody>
      </p:sp>
      <p:graphicFrame>
        <p:nvGraphicFramePr>
          <p:cNvPr id="9" name="Content Placeholder 8" descr="List of suffixes from the Suffixes and Terminology:   section of the textbook  with corresponding meanings or definitions. "/>
          <p:cNvGraphicFramePr>
            <a:graphicFrameLocks noGrp="1"/>
          </p:cNvGraphicFramePr>
          <p:nvPr>
            <p:ph idx="1"/>
            <p:extLst>
              <p:ext uri="{D42A27DB-BD31-4B8C-83A1-F6EECF244321}">
                <p14:modId xmlns:p14="http://schemas.microsoft.com/office/powerpoint/2010/main" val="3385689302"/>
              </p:ext>
            </p:extLst>
          </p:nvPr>
        </p:nvGraphicFramePr>
        <p:xfrm>
          <a:off x="457200" y="1600200"/>
          <a:ext cx="8229600" cy="13716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a:t>
                      </a:r>
                      <a:r>
                        <a:rPr lang="en-US" altLang="en-US" sz="2400" dirty="0" err="1"/>
                        <a:t>desis</a:t>
                      </a:r>
                      <a:endParaRPr lang="en-US" sz="2400" dirty="0"/>
                    </a:p>
                  </a:txBody>
                  <a:tcPr/>
                </a:tc>
                <a:tc>
                  <a:txBody>
                    <a:bodyPr/>
                    <a:lstStyle/>
                    <a:p>
                      <a:r>
                        <a:rPr lang="en-US" altLang="en-US" sz="2400" dirty="0"/>
                        <a:t>to bind, tie together</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-stenosis</a:t>
                      </a:r>
                      <a:endParaRPr lang="en-US" sz="2400" dirty="0"/>
                    </a:p>
                  </a:txBody>
                  <a:tcPr/>
                </a:tc>
                <a:tc>
                  <a:txBody>
                    <a:bodyPr/>
                    <a:lstStyle/>
                    <a:p>
                      <a:r>
                        <a:rPr lang="en-US" altLang="en-US" sz="2400" dirty="0"/>
                        <a:t>narrowing</a:t>
                      </a:r>
                      <a:endParaRPr lang="en-US" sz="24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1742481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p:cNvSpPr>
            <a:spLocks noGrp="1" noChangeArrowheads="1"/>
          </p:cNvSpPr>
          <p:nvPr>
            <p:ph type="title"/>
          </p:nvPr>
        </p:nvSpPr>
        <p:spPr/>
        <p:txBody>
          <a:bodyPr/>
          <a:lstStyle/>
          <a:p>
            <a:pPr eaLnBrk="1" hangingPunct="1"/>
            <a:r>
              <a:rPr lang="en-US" altLang="en-US"/>
              <a:t>Pathology — Joints</a:t>
            </a:r>
          </a:p>
        </p:txBody>
      </p:sp>
      <p:sp>
        <p:nvSpPr>
          <p:cNvPr id="99331" name="Rectangle 5"/>
          <p:cNvSpPr>
            <a:spLocks noGrp="1" noChangeArrowheads="1"/>
          </p:cNvSpPr>
          <p:nvPr>
            <p:ph idx="1"/>
          </p:nvPr>
        </p:nvSpPr>
        <p:spPr/>
        <p:txBody>
          <a:bodyPr/>
          <a:lstStyle/>
          <a:p>
            <a:pPr eaLnBrk="1" hangingPunct="1">
              <a:lnSpc>
                <a:spcPct val="90000"/>
              </a:lnSpc>
            </a:pPr>
            <a:r>
              <a:rPr lang="en-US" altLang="en-US" b="1"/>
              <a:t>Arthritis:</a:t>
            </a:r>
            <a:r>
              <a:rPr lang="en-US" altLang="en-US"/>
              <a:t> inflammation of any joint</a:t>
            </a:r>
          </a:p>
          <a:p>
            <a:pPr lvl="1" eaLnBrk="1" hangingPunct="1">
              <a:lnSpc>
                <a:spcPct val="90000"/>
              </a:lnSpc>
              <a:buFont typeface="Wingdings" panose="05000000000000000000" pitchFamily="2" charset="2"/>
              <a:buChar char="Ø"/>
            </a:pPr>
            <a:r>
              <a:rPr lang="en-US" altLang="en-US" b="1"/>
              <a:t>Ankylosing spondylitis:</a:t>
            </a:r>
            <a:r>
              <a:rPr lang="en-US" altLang="en-US"/>
              <a:t> chronic progressive stiffening of joints, mostly spine</a:t>
            </a:r>
          </a:p>
          <a:p>
            <a:pPr lvl="1" eaLnBrk="1" hangingPunct="1">
              <a:lnSpc>
                <a:spcPct val="90000"/>
              </a:lnSpc>
              <a:buFont typeface="Wingdings" panose="05000000000000000000" pitchFamily="2" charset="2"/>
              <a:buChar char="Ø"/>
            </a:pPr>
            <a:r>
              <a:rPr lang="en-US" altLang="en-US" b="1"/>
              <a:t>Gouty arthritis:</a:t>
            </a:r>
            <a:r>
              <a:rPr lang="en-US" altLang="en-US"/>
              <a:t> inflammation due to excessive uric acid in body</a:t>
            </a:r>
          </a:p>
          <a:p>
            <a:pPr lvl="1" eaLnBrk="1" hangingPunct="1">
              <a:lnSpc>
                <a:spcPct val="90000"/>
              </a:lnSpc>
              <a:buFont typeface="Wingdings" panose="05000000000000000000" pitchFamily="2" charset="2"/>
              <a:buChar char="Ø"/>
            </a:pPr>
            <a:r>
              <a:rPr lang="en-US" altLang="en-US" b="1"/>
              <a:t>Osteoarthritis (OA):</a:t>
            </a:r>
            <a:r>
              <a:rPr lang="en-US" altLang="en-US"/>
              <a:t> loss of articular cartilage and formation of bone spurs at articular surfaces; can occur in any joint, but mainly in spine, hips, and knees of older people</a:t>
            </a:r>
          </a:p>
          <a:p>
            <a:pPr lvl="1" eaLnBrk="1" hangingPunct="1">
              <a:lnSpc>
                <a:spcPct val="90000"/>
              </a:lnSpc>
              <a:buFont typeface="Wingdings" panose="05000000000000000000" pitchFamily="2" charset="2"/>
              <a:buChar char="Ø"/>
            </a:pPr>
            <a:r>
              <a:rPr lang="en-US" altLang="en-US" b="1"/>
              <a:t>Rheumatoid arthritis (RA):</a:t>
            </a:r>
            <a:r>
              <a:rPr lang="en-US" altLang="en-US"/>
              <a:t> autoimmune reaction against joint tissues (synovial membrane)</a:t>
            </a:r>
          </a:p>
        </p:txBody>
      </p:sp>
    </p:spTree>
    <p:extLst>
      <p:ext uri="{BB962C8B-B14F-4D97-AF65-F5344CB8AC3E}">
        <p14:creationId xmlns:p14="http://schemas.microsoft.com/office/powerpoint/2010/main" val="9773195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altLang="en-US"/>
              <a:t>Osteoarthritis and </a:t>
            </a:r>
            <a:br>
              <a:rPr lang="en-US" altLang="en-US"/>
            </a:br>
            <a:r>
              <a:rPr lang="en-US" altLang="en-US"/>
              <a:t>Rheumatoid Arthritis</a:t>
            </a:r>
          </a:p>
        </p:txBody>
      </p:sp>
      <p:pic>
        <p:nvPicPr>
          <p:cNvPr id="5" name="Picture 5" descr="Osteoarthritis is a progressive, degenerative joint disease with loss of articular cartilage and hypertrophy of bone (formation of osteophytes, or bone spurs) at articular surfaces. Rheumatoid arthritis is chronic joint condition with inflammation and pain; caused by an autoimmune reaction against joint tissue, particularly the synovial membran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90987" y="1600200"/>
            <a:ext cx="4562026"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15671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ChangeArrowheads="1"/>
          </p:cNvSpPr>
          <p:nvPr>
            <p:ph type="title"/>
          </p:nvPr>
        </p:nvSpPr>
        <p:spPr/>
        <p:txBody>
          <a:bodyPr/>
          <a:lstStyle/>
          <a:p>
            <a:pPr eaLnBrk="1" hangingPunct="1"/>
            <a:r>
              <a:rPr lang="en-US" altLang="en-US" dirty="0"/>
              <a:t>Pathology — Joints  (Slide 1-4)</a:t>
            </a:r>
          </a:p>
        </p:txBody>
      </p:sp>
      <p:sp>
        <p:nvSpPr>
          <p:cNvPr id="101379" name="Rectangle 5"/>
          <p:cNvSpPr>
            <a:spLocks noGrp="1" noChangeArrowheads="1"/>
          </p:cNvSpPr>
          <p:nvPr>
            <p:ph idx="1"/>
          </p:nvPr>
        </p:nvSpPr>
        <p:spPr/>
        <p:txBody>
          <a:bodyPr/>
          <a:lstStyle/>
          <a:p>
            <a:pPr eaLnBrk="1" hangingPunct="1"/>
            <a:r>
              <a:rPr lang="en-US" altLang="en-US" b="1" dirty="0"/>
              <a:t>Bunion:</a:t>
            </a:r>
            <a:r>
              <a:rPr lang="en-US" altLang="en-US" dirty="0"/>
              <a:t> swelling of medial aspect of joint between big toe and first metatarsal bone</a:t>
            </a:r>
          </a:p>
          <a:p>
            <a:pPr eaLnBrk="1" hangingPunct="1"/>
            <a:r>
              <a:rPr lang="en-US" altLang="en-US" b="1" dirty="0"/>
              <a:t>Carpal tunnel syndrome:</a:t>
            </a:r>
            <a:r>
              <a:rPr lang="en-US" altLang="en-US" dirty="0"/>
              <a:t> compression of median nerve as it passes between transverse ligament and bones and tendons of the wrist </a:t>
            </a:r>
          </a:p>
          <a:p>
            <a:pPr eaLnBrk="1" hangingPunct="1"/>
            <a:r>
              <a:rPr lang="en-US" altLang="en-US" b="1" dirty="0"/>
              <a:t>Dislocation:</a:t>
            </a:r>
            <a:r>
              <a:rPr lang="en-US" altLang="en-US" dirty="0"/>
              <a:t> displacement of bone from a joint</a:t>
            </a:r>
          </a:p>
        </p:txBody>
      </p:sp>
    </p:spTree>
    <p:extLst>
      <p:ext uri="{BB962C8B-B14F-4D97-AF65-F5344CB8AC3E}">
        <p14:creationId xmlns:p14="http://schemas.microsoft.com/office/powerpoint/2010/main" val="32825583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en-US" altLang="en-US" dirty="0"/>
              <a:t>Pathology — Joints  (Slide 2 of 4)</a:t>
            </a:r>
            <a:br>
              <a:rPr lang="en-US" altLang="en-US" dirty="0"/>
            </a:br>
            <a:r>
              <a:rPr lang="en-US" altLang="en-US" dirty="0"/>
              <a:t>Carpal Tunnel Syndrome</a:t>
            </a:r>
          </a:p>
        </p:txBody>
      </p:sp>
      <p:pic>
        <p:nvPicPr>
          <p:cNvPr id="6" name="Content Placeholder 5" descr="In carpal tunnel syndrome, there is compression of the median nerve as it passes between the transverse ligament, and bones and tendons of the wris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85800" y="1981200"/>
            <a:ext cx="7815016"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19238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4"/>
          <p:cNvSpPr>
            <a:spLocks noGrp="1" noChangeArrowheads="1"/>
          </p:cNvSpPr>
          <p:nvPr>
            <p:ph type="title"/>
          </p:nvPr>
        </p:nvSpPr>
        <p:spPr>
          <a:xfrm>
            <a:off x="609600" y="228600"/>
            <a:ext cx="7772400" cy="1143000"/>
          </a:xfrm>
        </p:spPr>
        <p:txBody>
          <a:bodyPr/>
          <a:lstStyle/>
          <a:p>
            <a:pPr eaLnBrk="1" hangingPunct="1"/>
            <a:r>
              <a:rPr lang="en-US" altLang="en-US" dirty="0"/>
              <a:t>Pathology — Joints  (Slide 3 of 4)</a:t>
            </a:r>
          </a:p>
        </p:txBody>
      </p:sp>
      <p:sp>
        <p:nvSpPr>
          <p:cNvPr id="103427" name="Rectangle 5"/>
          <p:cNvSpPr>
            <a:spLocks noGrp="1" noChangeArrowheads="1"/>
          </p:cNvSpPr>
          <p:nvPr>
            <p:ph idx="1"/>
          </p:nvPr>
        </p:nvSpPr>
        <p:spPr/>
        <p:txBody>
          <a:bodyPr/>
          <a:lstStyle/>
          <a:p>
            <a:pPr eaLnBrk="1" hangingPunct="1"/>
            <a:r>
              <a:rPr lang="en-US" altLang="en-US" b="1" dirty="0"/>
              <a:t>Ganglion:  </a:t>
            </a:r>
            <a:r>
              <a:rPr lang="en-US" altLang="en-US" sz="2600" dirty="0"/>
              <a:t>a fluid-filled cyst arising from the joint capsule or a tendon in the wrist.</a:t>
            </a:r>
            <a:endParaRPr lang="en-US" altLang="en-US" sz="2600" b="1" dirty="0"/>
          </a:p>
          <a:p>
            <a:pPr eaLnBrk="1" hangingPunct="1"/>
            <a:r>
              <a:rPr lang="en-US" altLang="en-US" b="1" dirty="0"/>
              <a:t>Herniation of an intervertebral disc:</a:t>
            </a:r>
            <a:r>
              <a:rPr lang="en-US" altLang="en-US" dirty="0"/>
              <a:t> </a:t>
            </a:r>
            <a:r>
              <a:rPr lang="en-US" altLang="en-US" sz="2600" dirty="0"/>
              <a:t>abnormal protrusion of </a:t>
            </a:r>
            <a:r>
              <a:rPr lang="en-US" altLang="en-US" sz="2600"/>
              <a:t>the disc </a:t>
            </a:r>
            <a:r>
              <a:rPr lang="en-US" altLang="en-US" sz="2600" dirty="0"/>
              <a:t>into the neural canal or against spinal nerves; “slipped disc”.</a:t>
            </a:r>
          </a:p>
          <a:p>
            <a:pPr eaLnBrk="1" hangingPunct="1"/>
            <a:r>
              <a:rPr lang="en-US" altLang="en-US" b="1" dirty="0"/>
              <a:t>Lyme disease:</a:t>
            </a:r>
            <a:r>
              <a:rPr lang="en-US" altLang="en-US" dirty="0"/>
              <a:t> </a:t>
            </a:r>
            <a:r>
              <a:rPr lang="en-US" altLang="en-US" sz="2600" dirty="0"/>
              <a:t>recurrent arthritis, </a:t>
            </a:r>
            <a:r>
              <a:rPr lang="en-US" altLang="en-US" sz="2600" dirty="0" err="1"/>
              <a:t>myalgia</a:t>
            </a:r>
            <a:r>
              <a:rPr lang="en-US" altLang="en-US" sz="2600" dirty="0"/>
              <a:t>, malaise and neurologic and cardiac symptoms; often marked by a “bull’s eye” rash at the site of the tick bite.</a:t>
            </a:r>
          </a:p>
        </p:txBody>
      </p:sp>
    </p:spTree>
    <p:extLst>
      <p:ext uri="{BB962C8B-B14F-4D97-AF65-F5344CB8AC3E}">
        <p14:creationId xmlns:p14="http://schemas.microsoft.com/office/powerpoint/2010/main" val="27084403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4"/>
          <p:cNvSpPr>
            <a:spLocks noGrp="1" noChangeArrowheads="1"/>
          </p:cNvSpPr>
          <p:nvPr>
            <p:ph type="title"/>
          </p:nvPr>
        </p:nvSpPr>
        <p:spPr>
          <a:xfrm>
            <a:off x="609600" y="304800"/>
            <a:ext cx="7848600" cy="1143000"/>
          </a:xfrm>
        </p:spPr>
        <p:txBody>
          <a:bodyPr/>
          <a:lstStyle/>
          <a:p>
            <a:pPr eaLnBrk="1" hangingPunct="1"/>
            <a:r>
              <a:rPr lang="en-US" altLang="en-US" dirty="0"/>
              <a:t>Pathology — Joints  (Slide 4 of 4)</a:t>
            </a:r>
          </a:p>
        </p:txBody>
      </p:sp>
      <p:sp>
        <p:nvSpPr>
          <p:cNvPr id="104451" name="Rectangle 5"/>
          <p:cNvSpPr>
            <a:spLocks noGrp="1" noChangeArrowheads="1"/>
          </p:cNvSpPr>
          <p:nvPr>
            <p:ph idx="1"/>
          </p:nvPr>
        </p:nvSpPr>
        <p:spPr/>
        <p:txBody>
          <a:bodyPr/>
          <a:lstStyle/>
          <a:p>
            <a:pPr eaLnBrk="1" hangingPunct="1"/>
            <a:r>
              <a:rPr lang="en-US" altLang="en-US" b="1" dirty="0"/>
              <a:t>Sprain:</a:t>
            </a:r>
            <a:r>
              <a:rPr lang="en-US" altLang="en-US" dirty="0"/>
              <a:t> </a:t>
            </a:r>
            <a:r>
              <a:rPr lang="en-US" altLang="en-US" sz="2600" dirty="0"/>
              <a:t>trauma to joint with pain, swelling and injury to ligaments without rupture</a:t>
            </a:r>
          </a:p>
          <a:p>
            <a:pPr eaLnBrk="1" hangingPunct="1"/>
            <a:r>
              <a:rPr lang="en-US" altLang="en-US" b="1" dirty="0"/>
              <a:t>Systemic lupus </a:t>
            </a:r>
            <a:r>
              <a:rPr lang="en-US" altLang="en-US" b="1" dirty="0" err="1"/>
              <a:t>erythematosus</a:t>
            </a:r>
            <a:r>
              <a:rPr lang="en-US" altLang="en-US" b="1" dirty="0"/>
              <a:t> (SLE):</a:t>
            </a:r>
            <a:r>
              <a:rPr lang="en-US" altLang="en-US" dirty="0"/>
              <a:t> </a:t>
            </a:r>
            <a:r>
              <a:rPr lang="en-US" altLang="en-US" sz="2600" dirty="0"/>
              <a:t>chronic inflammatory disease involving joints, skin, kidneys, nervous system, heart and lungs affecting collagen in tendons, ligaments, bones, and cartilage all over the body</a:t>
            </a:r>
          </a:p>
        </p:txBody>
      </p:sp>
    </p:spTree>
    <p:extLst>
      <p:ext uri="{BB962C8B-B14F-4D97-AF65-F5344CB8AC3E}">
        <p14:creationId xmlns:p14="http://schemas.microsoft.com/office/powerpoint/2010/main" val="28803506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en-US" altLang="en-US"/>
              <a:t>Chapter 15</a:t>
            </a:r>
            <a:br>
              <a:rPr lang="en-US" altLang="en-US"/>
            </a:br>
            <a:r>
              <a:rPr lang="en-US" altLang="en-US"/>
              <a:t>Lesson 15.3</a:t>
            </a:r>
          </a:p>
        </p:txBody>
      </p:sp>
    </p:spTree>
    <p:extLst>
      <p:ext uri="{BB962C8B-B14F-4D97-AF65-F5344CB8AC3E}">
        <p14:creationId xmlns:p14="http://schemas.microsoft.com/office/powerpoint/2010/main" val="14516442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4"/>
          <p:cNvSpPr>
            <a:spLocks noGrp="1" noChangeArrowheads="1"/>
          </p:cNvSpPr>
          <p:nvPr>
            <p:ph type="title"/>
          </p:nvPr>
        </p:nvSpPr>
        <p:spPr/>
        <p:txBody>
          <a:bodyPr/>
          <a:lstStyle/>
          <a:p>
            <a:pPr eaLnBrk="1" hangingPunct="1"/>
            <a:r>
              <a:rPr lang="en-US" altLang="en-US"/>
              <a:t>Muscles</a:t>
            </a:r>
          </a:p>
        </p:txBody>
      </p:sp>
      <p:sp>
        <p:nvSpPr>
          <p:cNvPr id="106499" name="Rectangle 5"/>
          <p:cNvSpPr>
            <a:spLocks noGrp="1" noChangeArrowheads="1"/>
          </p:cNvSpPr>
          <p:nvPr>
            <p:ph idx="1"/>
          </p:nvPr>
        </p:nvSpPr>
        <p:spPr>
          <a:xfrm>
            <a:off x="533400" y="1371600"/>
            <a:ext cx="8229600" cy="4525963"/>
          </a:xfrm>
        </p:spPr>
        <p:txBody>
          <a:bodyPr/>
          <a:lstStyle/>
          <a:p>
            <a:pPr eaLnBrk="1" hangingPunct="1"/>
            <a:r>
              <a:rPr lang="en-US" altLang="en-US"/>
              <a:t>Three types of muscles: striated, smooth, cardiac</a:t>
            </a:r>
          </a:p>
          <a:p>
            <a:pPr eaLnBrk="1" hangingPunct="1"/>
            <a:r>
              <a:rPr lang="en-US" altLang="en-US" b="1"/>
              <a:t>Striated:</a:t>
            </a:r>
            <a:r>
              <a:rPr lang="en-US" altLang="en-US"/>
              <a:t> under voluntary control—they move all the bones as well as face and eyes</a:t>
            </a:r>
          </a:p>
          <a:p>
            <a:pPr eaLnBrk="1" hangingPunct="1"/>
            <a:r>
              <a:rPr lang="en-US" altLang="en-US" b="1"/>
              <a:t>Smooth:</a:t>
            </a:r>
            <a:r>
              <a:rPr lang="en-US" altLang="en-US"/>
              <a:t> control is involuntary—they move internal organs (digestive tract, blood vessels, ducts of glands)</a:t>
            </a:r>
          </a:p>
          <a:p>
            <a:pPr eaLnBrk="1" hangingPunct="1"/>
            <a:r>
              <a:rPr lang="en-US" altLang="en-US" b="1"/>
              <a:t>Cardiac:</a:t>
            </a:r>
            <a:r>
              <a:rPr lang="en-US" altLang="en-US"/>
              <a:t> not consciously controlled and found exclusively in the heart</a:t>
            </a:r>
          </a:p>
        </p:txBody>
      </p:sp>
    </p:spTree>
    <p:extLst>
      <p:ext uri="{BB962C8B-B14F-4D97-AF65-F5344CB8AC3E}">
        <p14:creationId xmlns:p14="http://schemas.microsoft.com/office/powerpoint/2010/main" val="22017461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en-US" altLang="en-US"/>
              <a:t>Types of Muscle</a:t>
            </a:r>
          </a:p>
        </p:txBody>
      </p:sp>
      <p:pic>
        <p:nvPicPr>
          <p:cNvPr id="5" name="Picture 6" descr="The three muscle types are striated (makes up the voluntary or skeletal muscles that move all bones, as well as controlling facial expression and eye movements), smooth (makes up the involuntary muscles that contract to move internal organs), and cardiac (heart)."/>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18979" b="13731"/>
          <a:stretch>
            <a:fillRect/>
          </a:stretch>
        </p:blipFill>
        <p:spPr bwMode="auto">
          <a:xfrm>
            <a:off x="1608196" y="1600200"/>
            <a:ext cx="5927607"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6620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en-US" altLang="en-US" dirty="0"/>
              <a:t>Actions of Skeletal Muscles </a:t>
            </a:r>
            <a:br>
              <a:rPr lang="en-US" altLang="en-US" dirty="0"/>
            </a:br>
            <a:r>
              <a:rPr lang="en-US" altLang="en-US" dirty="0"/>
              <a:t>(slide 1 of 3)</a:t>
            </a:r>
          </a:p>
        </p:txBody>
      </p:sp>
      <p:pic>
        <p:nvPicPr>
          <p:cNvPr id="5" name="Picture 8" descr="Skeletal (striated) muscles are the muscles that move bones. Point of attachment of the muscle to the stationary bone is called the origin. The point of junction of the muscle to bone that moves is called the insertion of the muscl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37368" y="1600200"/>
            <a:ext cx="5669264"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5112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5"/>
          <p:cNvSpPr>
            <a:spLocks noGrp="1" noChangeArrowheads="1"/>
          </p:cNvSpPr>
          <p:nvPr>
            <p:ph type="title"/>
          </p:nvPr>
        </p:nvSpPr>
        <p:spPr/>
        <p:txBody>
          <a:bodyPr/>
          <a:lstStyle/>
          <a:p>
            <a:pPr eaLnBrk="1" hangingPunct="1"/>
            <a:r>
              <a:rPr lang="en-US" altLang="en-US" dirty="0"/>
              <a:t>Actions of Skeletal Muscles</a:t>
            </a:r>
            <a:br>
              <a:rPr lang="en-US" altLang="en-US" dirty="0"/>
            </a:br>
            <a:r>
              <a:rPr lang="en-US" altLang="en-US" dirty="0"/>
              <a:t>(slide 2 of 3)</a:t>
            </a:r>
          </a:p>
        </p:txBody>
      </p:sp>
      <p:sp>
        <p:nvSpPr>
          <p:cNvPr id="110595" name="Rectangle 6"/>
          <p:cNvSpPr>
            <a:spLocks noGrp="1" noChangeArrowheads="1"/>
          </p:cNvSpPr>
          <p:nvPr>
            <p:ph sz="half" idx="1"/>
          </p:nvPr>
        </p:nvSpPr>
        <p:spPr>
          <a:xfrm>
            <a:off x="685800" y="1641475"/>
            <a:ext cx="3800475" cy="4454525"/>
          </a:xfrm>
        </p:spPr>
        <p:txBody>
          <a:bodyPr/>
          <a:lstStyle/>
          <a:p>
            <a:pPr eaLnBrk="1" hangingPunct="1"/>
            <a:r>
              <a:rPr lang="en-US" altLang="en-US" sz="3200"/>
              <a:t>flexion</a:t>
            </a:r>
          </a:p>
          <a:p>
            <a:pPr eaLnBrk="1" hangingPunct="1"/>
            <a:r>
              <a:rPr lang="en-US" altLang="en-US" sz="3200"/>
              <a:t>extension</a:t>
            </a:r>
          </a:p>
          <a:p>
            <a:pPr eaLnBrk="1" hangingPunct="1"/>
            <a:r>
              <a:rPr lang="en-US" altLang="en-US" sz="3200"/>
              <a:t>abduction</a:t>
            </a:r>
          </a:p>
          <a:p>
            <a:pPr eaLnBrk="1" hangingPunct="1"/>
            <a:r>
              <a:rPr lang="en-US" altLang="en-US" sz="3200"/>
              <a:t>adduction</a:t>
            </a:r>
          </a:p>
        </p:txBody>
      </p:sp>
      <p:sp>
        <p:nvSpPr>
          <p:cNvPr id="110596" name="Rectangle 7"/>
          <p:cNvSpPr>
            <a:spLocks noGrp="1" noChangeArrowheads="1"/>
          </p:cNvSpPr>
          <p:nvPr>
            <p:ph sz="half" idx="2"/>
          </p:nvPr>
        </p:nvSpPr>
        <p:spPr>
          <a:xfrm>
            <a:off x="4657725" y="1641475"/>
            <a:ext cx="3800475" cy="4454525"/>
          </a:xfrm>
        </p:spPr>
        <p:txBody>
          <a:bodyPr/>
          <a:lstStyle/>
          <a:p>
            <a:pPr eaLnBrk="1" hangingPunct="1"/>
            <a:r>
              <a:rPr lang="en-US" altLang="en-US" sz="3200"/>
              <a:t>rotation</a:t>
            </a:r>
          </a:p>
          <a:p>
            <a:pPr eaLnBrk="1" hangingPunct="1"/>
            <a:r>
              <a:rPr lang="en-US" altLang="en-US" sz="3200"/>
              <a:t>dorsiflexion</a:t>
            </a:r>
          </a:p>
          <a:p>
            <a:pPr eaLnBrk="1" hangingPunct="1"/>
            <a:r>
              <a:rPr lang="en-US" altLang="en-US" sz="3200"/>
              <a:t>plantar flexion</a:t>
            </a:r>
          </a:p>
          <a:p>
            <a:pPr eaLnBrk="1" hangingPunct="1"/>
            <a:r>
              <a:rPr lang="en-US" altLang="en-US" sz="3200"/>
              <a:t>supination</a:t>
            </a:r>
          </a:p>
          <a:p>
            <a:pPr eaLnBrk="1" hangingPunct="1"/>
            <a:r>
              <a:rPr lang="en-US" altLang="en-US" sz="3200"/>
              <a:t>pronation</a:t>
            </a:r>
          </a:p>
        </p:txBody>
      </p:sp>
    </p:spTree>
    <p:extLst>
      <p:ext uri="{BB962C8B-B14F-4D97-AF65-F5344CB8AC3E}">
        <p14:creationId xmlns:p14="http://schemas.microsoft.com/office/powerpoint/2010/main" val="30790300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en-US" altLang="en-US" dirty="0"/>
              <a:t>Actions of Muscles (slide 3 of 3</a:t>
            </a:r>
            <a:r>
              <a:rPr lang="en-US" altLang="ja-JP" dirty="0"/>
              <a:t>)</a:t>
            </a:r>
            <a:endParaRPr lang="en-US" altLang="en-US" dirty="0"/>
          </a:p>
        </p:txBody>
      </p:sp>
      <p:pic>
        <p:nvPicPr>
          <p:cNvPr id="5" name="Content Placeholder 4" descr="Types of muscle actions include flexion, extension, abduction, adduction, rotation, dorsiflexion, plantar flexion, supination, and pronatio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15702" y="1600200"/>
            <a:ext cx="6712595"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60702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Muscles (Slide 1 of 8)</a:t>
            </a:r>
          </a:p>
        </p:txBody>
      </p:sp>
      <p:graphicFrame>
        <p:nvGraphicFramePr>
          <p:cNvPr id="9" name="Content Placeholder 8" descr="Group 1 of 4:  This table lists a group of vocabulary-muscl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311701302"/>
              </p:ext>
            </p:extLst>
          </p:nvPr>
        </p:nvGraphicFramePr>
        <p:xfrm>
          <a:off x="2971800" y="1981200"/>
          <a:ext cx="2514600" cy="22860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abduction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adduction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dorsiflexion</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extension</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579333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Muscles (Slide 2 of 8)</a:t>
            </a:r>
          </a:p>
        </p:txBody>
      </p:sp>
      <p:graphicFrame>
        <p:nvGraphicFramePr>
          <p:cNvPr id="9" name="Content Placeholder 8" descr="Group 1 of 4.  List of vocabulary terms  with corresponding meanings or definitions."/>
          <p:cNvGraphicFramePr>
            <a:graphicFrameLocks noGrp="1"/>
          </p:cNvGraphicFramePr>
          <p:nvPr>
            <p:ph idx="1"/>
            <p:extLst>
              <p:ext uri="{D42A27DB-BD31-4B8C-83A1-F6EECF244321}">
                <p14:modId xmlns:p14="http://schemas.microsoft.com/office/powerpoint/2010/main" val="3974201663"/>
              </p:ext>
            </p:extLst>
          </p:nvPr>
        </p:nvGraphicFramePr>
        <p:xfrm>
          <a:off x="457200" y="1600200"/>
          <a:ext cx="8229600" cy="22860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abduction</a:t>
                      </a:r>
                      <a:endParaRPr lang="en-US" sz="2400" dirty="0"/>
                    </a:p>
                  </a:txBody>
                  <a:tcPr/>
                </a:tc>
                <a:tc>
                  <a:txBody>
                    <a:bodyPr/>
                    <a:lstStyle/>
                    <a:p>
                      <a:pPr marL="0" indent="0" eaLnBrk="1" hangingPunct="1">
                        <a:lnSpc>
                          <a:spcPct val="80000"/>
                        </a:lnSpc>
                        <a:buFont typeface="Wingdings 2" panose="05020102010507070707" pitchFamily="18" charset="2"/>
                        <a:buNone/>
                      </a:pPr>
                      <a:r>
                        <a:rPr lang="en-US" altLang="en-US" sz="2400" dirty="0"/>
                        <a:t>Movement away from midline of body</a:t>
                      </a:r>
                    </a:p>
                  </a:txBody>
                  <a:tcPr/>
                </a:tc>
                <a:extLst>
                  <a:ext uri="{0D108BD9-81ED-4DB2-BD59-A6C34878D82A}">
                    <a16:rowId xmlns:a16="http://schemas.microsoft.com/office/drawing/2014/main" val="10001"/>
                  </a:ext>
                </a:extLst>
              </a:tr>
              <a:tr h="370840">
                <a:tc>
                  <a:txBody>
                    <a:bodyPr/>
                    <a:lstStyle/>
                    <a:p>
                      <a:r>
                        <a:rPr lang="en-US" altLang="en-US" sz="2400" dirty="0"/>
                        <a:t>adduction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Movement toward midline of body</a:t>
                      </a:r>
                    </a:p>
                  </a:txBody>
                  <a:tcPr/>
                </a:tc>
                <a:extLst>
                  <a:ext uri="{0D108BD9-81ED-4DB2-BD59-A6C34878D82A}">
                    <a16:rowId xmlns:a16="http://schemas.microsoft.com/office/drawing/2014/main" val="10002"/>
                  </a:ext>
                </a:extLst>
              </a:tr>
              <a:tr h="370840">
                <a:tc>
                  <a:txBody>
                    <a:bodyPr/>
                    <a:lstStyle/>
                    <a:p>
                      <a:r>
                        <a:rPr lang="en-US" altLang="en-US" sz="2400" dirty="0"/>
                        <a:t>dorsiflexion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Upper movement of the foot</a:t>
                      </a:r>
                    </a:p>
                  </a:txBody>
                  <a:tcPr/>
                </a:tc>
                <a:extLst>
                  <a:ext uri="{0D108BD9-81ED-4DB2-BD59-A6C34878D82A}">
                    <a16:rowId xmlns:a16="http://schemas.microsoft.com/office/drawing/2014/main" val="10003"/>
                  </a:ext>
                </a:extLst>
              </a:tr>
              <a:tr h="370840">
                <a:tc>
                  <a:txBody>
                    <a:bodyPr/>
                    <a:lstStyle/>
                    <a:p>
                      <a:r>
                        <a:rPr lang="en-US" altLang="en-US" sz="2400" dirty="0"/>
                        <a:t>extension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Straightening of a flexed limb</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744092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Muscles (Slide 3 of 8)</a:t>
            </a:r>
          </a:p>
        </p:txBody>
      </p:sp>
      <p:graphicFrame>
        <p:nvGraphicFramePr>
          <p:cNvPr id="9" name="Content Placeholder 8" descr="Group 2 of 4:  This table lists a group of vocabulary-muscl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90888646"/>
              </p:ext>
            </p:extLst>
          </p:nvPr>
        </p:nvGraphicFramePr>
        <p:xfrm>
          <a:off x="2286000" y="2362200"/>
          <a:ext cx="3962400" cy="2286000"/>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fascia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flexion</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insertion of a muscle</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origin of a muscle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622379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Muscles (Slide 4 of 8)</a:t>
            </a:r>
          </a:p>
        </p:txBody>
      </p:sp>
      <p:graphicFrame>
        <p:nvGraphicFramePr>
          <p:cNvPr id="9" name="Content Placeholder 8" descr="Group 2 of 4.  List of vocabulary terms  with corresponding meanings or definitions."/>
          <p:cNvGraphicFramePr>
            <a:graphicFrameLocks noGrp="1"/>
          </p:cNvGraphicFramePr>
          <p:nvPr>
            <p:ph idx="1"/>
            <p:extLst>
              <p:ext uri="{D42A27DB-BD31-4B8C-83A1-F6EECF244321}">
                <p14:modId xmlns:p14="http://schemas.microsoft.com/office/powerpoint/2010/main" val="798947771"/>
              </p:ext>
            </p:extLst>
          </p:nvPr>
        </p:nvGraphicFramePr>
        <p:xfrm>
          <a:off x="457200" y="1600200"/>
          <a:ext cx="8229600" cy="338328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fascia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Fibrous membrane separating and enveloping muscles</a:t>
                      </a:r>
                    </a:p>
                  </a:txBody>
                  <a:tcPr/>
                </a:tc>
                <a:extLst>
                  <a:ext uri="{0D108BD9-81ED-4DB2-BD59-A6C34878D82A}">
                    <a16:rowId xmlns:a16="http://schemas.microsoft.com/office/drawing/2014/main" val="10001"/>
                  </a:ext>
                </a:extLst>
              </a:tr>
              <a:tr h="370840">
                <a:tc>
                  <a:txBody>
                    <a:bodyPr/>
                    <a:lstStyle/>
                    <a:p>
                      <a:r>
                        <a:rPr lang="en-US" altLang="en-US" sz="2400" dirty="0"/>
                        <a:t>flexion</a:t>
                      </a:r>
                      <a:endParaRPr lang="en-US" sz="2400" dirty="0"/>
                    </a:p>
                  </a:txBody>
                  <a:tcPr/>
                </a:tc>
                <a:tc>
                  <a:txBody>
                    <a:bodyPr/>
                    <a:lstStyle/>
                    <a:p>
                      <a:pPr marL="0" indent="0" eaLnBrk="1" hangingPunct="1">
                        <a:lnSpc>
                          <a:spcPct val="80000"/>
                        </a:lnSpc>
                        <a:buFont typeface="Wingdings 2" panose="05020102010507070707" pitchFamily="18" charset="2"/>
                        <a:buNone/>
                      </a:pPr>
                      <a:r>
                        <a:rPr lang="en-US" altLang="en-US" sz="2400" dirty="0"/>
                        <a:t>Downward movement of the foot</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insertion of a muscle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Connection of the muscle to a bone that moves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origin of a muscle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Connection of the muscle to a stationary bone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1750660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Muscles (Slide 5 of 8)</a:t>
            </a:r>
          </a:p>
        </p:txBody>
      </p:sp>
      <p:graphicFrame>
        <p:nvGraphicFramePr>
          <p:cNvPr id="9" name="Content Placeholder 8" descr="Group 3 of 4:  This table lists a group of vocabulary-muscl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04270476"/>
              </p:ext>
            </p:extLst>
          </p:nvPr>
        </p:nvGraphicFramePr>
        <p:xfrm>
          <a:off x="3314700" y="2209800"/>
          <a:ext cx="2514600" cy="22860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plantar flexion</a:t>
                      </a:r>
                    </a:p>
                  </a:txBody>
                  <a:tcPr/>
                </a:tc>
                <a:extLst>
                  <a:ext uri="{0D108BD9-81ED-4DB2-BD59-A6C34878D82A}">
                    <a16:rowId xmlns:a16="http://schemas.microsoft.com/office/drawing/2014/main" val="10001"/>
                  </a:ext>
                </a:extLst>
              </a:tr>
              <a:tr h="370840">
                <a:tc>
                  <a:txBody>
                    <a:bodyPr/>
                    <a:lstStyle/>
                    <a:p>
                      <a:r>
                        <a:rPr lang="en-US" altLang="en-US" sz="2400" dirty="0"/>
                        <a:t>pronation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rotation</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skeletal muscle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161029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Muscles (Slide 6 of 8)</a:t>
            </a:r>
          </a:p>
        </p:txBody>
      </p:sp>
      <p:graphicFrame>
        <p:nvGraphicFramePr>
          <p:cNvPr id="9" name="Content Placeholder 8" descr="Group 3 of 4.  List of vocabulary terms  with corresponding meanings or definitions."/>
          <p:cNvGraphicFramePr>
            <a:graphicFrameLocks noGrp="1"/>
          </p:cNvGraphicFramePr>
          <p:nvPr>
            <p:ph idx="1"/>
            <p:extLst>
              <p:ext uri="{D42A27DB-BD31-4B8C-83A1-F6EECF244321}">
                <p14:modId xmlns:p14="http://schemas.microsoft.com/office/powerpoint/2010/main" val="3428904942"/>
              </p:ext>
            </p:extLst>
          </p:nvPr>
        </p:nvGraphicFramePr>
        <p:xfrm>
          <a:off x="457200" y="1600200"/>
          <a:ext cx="8229600" cy="301752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plantar flexion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Bending the sole of the foot downward toward the ground</a:t>
                      </a:r>
                    </a:p>
                  </a:txBody>
                  <a:tcPr/>
                </a:tc>
                <a:extLst>
                  <a:ext uri="{0D108BD9-81ED-4DB2-BD59-A6C34878D82A}">
                    <a16:rowId xmlns:a16="http://schemas.microsoft.com/office/drawing/2014/main" val="10001"/>
                  </a:ext>
                </a:extLst>
              </a:tr>
              <a:tr h="370840">
                <a:tc>
                  <a:txBody>
                    <a:bodyPr/>
                    <a:lstStyle/>
                    <a:p>
                      <a:r>
                        <a:rPr lang="en-US" altLang="en-US" sz="2400" dirty="0"/>
                        <a:t>pronation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Turning the palm downward</a:t>
                      </a:r>
                    </a:p>
                  </a:txBody>
                  <a:tcPr/>
                </a:tc>
                <a:extLst>
                  <a:ext uri="{0D108BD9-81ED-4DB2-BD59-A6C34878D82A}">
                    <a16:rowId xmlns:a16="http://schemas.microsoft.com/office/drawing/2014/main" val="10002"/>
                  </a:ext>
                </a:extLst>
              </a:tr>
              <a:tr h="370840">
                <a:tc>
                  <a:txBody>
                    <a:bodyPr/>
                    <a:lstStyle/>
                    <a:p>
                      <a:r>
                        <a:rPr lang="en-US" altLang="en-US" sz="2400" dirty="0"/>
                        <a:t>rotation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Circular movement around a central point</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skeletal muscle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Muscle connected to bones; voluntary or striated muscle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5358680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Muscles (Slide 7 of 8)</a:t>
            </a:r>
          </a:p>
        </p:txBody>
      </p:sp>
      <p:graphicFrame>
        <p:nvGraphicFramePr>
          <p:cNvPr id="9" name="Content Placeholder 8" descr="Group 4 of 4:  This table lists a group of vocabulary-muscles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962259260"/>
              </p:ext>
            </p:extLst>
          </p:nvPr>
        </p:nvGraphicFramePr>
        <p:xfrm>
          <a:off x="3314700" y="2133600"/>
          <a:ext cx="2514600" cy="22860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smooth muscle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striated muscle</a:t>
                      </a:r>
                    </a:p>
                  </a:txBody>
                  <a:tcPr/>
                </a:tc>
                <a:extLst>
                  <a:ext uri="{0D108BD9-81ED-4DB2-BD59-A6C34878D82A}">
                    <a16:rowId xmlns:a16="http://schemas.microsoft.com/office/drawing/2014/main" val="10002"/>
                  </a:ext>
                </a:extLst>
              </a:tr>
              <a:tr h="370840">
                <a:tc>
                  <a:txBody>
                    <a:bodyPr/>
                    <a:lstStyle/>
                    <a:p>
                      <a:r>
                        <a:rPr lang="en-US" altLang="en-US" sz="2400" dirty="0"/>
                        <a:t>supination</a:t>
                      </a:r>
                      <a:endParaRPr lang="en-US" sz="24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visceral muscle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5129476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Vocabulary – Muscles (Slide 8 of 8)</a:t>
            </a:r>
          </a:p>
        </p:txBody>
      </p:sp>
      <p:graphicFrame>
        <p:nvGraphicFramePr>
          <p:cNvPr id="9" name="Content Placeholder 8" descr="Group 4 of 4.  List of vocabulary terms  with corresponding meanings or definitions."/>
          <p:cNvGraphicFramePr>
            <a:graphicFrameLocks noGrp="1"/>
          </p:cNvGraphicFramePr>
          <p:nvPr>
            <p:ph idx="1"/>
            <p:extLst>
              <p:ext uri="{D42A27DB-BD31-4B8C-83A1-F6EECF244321}">
                <p14:modId xmlns:p14="http://schemas.microsoft.com/office/powerpoint/2010/main" val="3373502056"/>
              </p:ext>
            </p:extLst>
          </p:nvPr>
        </p:nvGraphicFramePr>
        <p:xfrm>
          <a:off x="457200" y="1600200"/>
          <a:ext cx="8229600" cy="265176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smooth muscle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Visceral muscle</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striated muscle</a:t>
                      </a:r>
                    </a:p>
                  </a:txBody>
                  <a:tcPr/>
                </a:tc>
                <a:tc>
                  <a:txBody>
                    <a:bodyPr/>
                    <a:lstStyle/>
                    <a:p>
                      <a:pPr marL="0" indent="0" eaLnBrk="1" hangingPunct="1">
                        <a:buFont typeface="Wingdings 2" panose="05020102010507070707" pitchFamily="18" charset="2"/>
                        <a:buNone/>
                      </a:pPr>
                      <a:r>
                        <a:rPr lang="en-US" altLang="en-US" sz="2400" dirty="0"/>
                        <a:t>Skeletal muscle</a:t>
                      </a:r>
                    </a:p>
                  </a:txBody>
                  <a:tcPr/>
                </a:tc>
                <a:extLst>
                  <a:ext uri="{0D108BD9-81ED-4DB2-BD59-A6C34878D82A}">
                    <a16:rowId xmlns:a16="http://schemas.microsoft.com/office/drawing/2014/main" val="10002"/>
                  </a:ext>
                </a:extLst>
              </a:tr>
              <a:tr h="370840">
                <a:tc>
                  <a:txBody>
                    <a:bodyPr/>
                    <a:lstStyle/>
                    <a:p>
                      <a:r>
                        <a:rPr lang="en-US" altLang="en-US" sz="2400" dirty="0"/>
                        <a:t>supination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Turning the palm upward</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visceral muscle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Muscle connected to internal organs; involuntary or smooth muscle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515574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en-US" altLang="en-US" dirty="0"/>
              <a:t>      QUICK QUIZ  (Slide 4 of 4)</a:t>
            </a:r>
            <a:endParaRPr lang="en-US" altLang="en-US" sz="4800" dirty="0"/>
          </a:p>
        </p:txBody>
      </p:sp>
      <p:sp>
        <p:nvSpPr>
          <p:cNvPr id="120835" name="Rectangle 3"/>
          <p:cNvSpPr>
            <a:spLocks noGrp="1" noChangeArrowheads="1"/>
          </p:cNvSpPr>
          <p:nvPr>
            <p:ph idx="1"/>
          </p:nvPr>
        </p:nvSpPr>
        <p:spPr>
          <a:xfrm>
            <a:off x="685800" y="1600200"/>
            <a:ext cx="7543800" cy="4495800"/>
          </a:xfrm>
        </p:spPr>
        <p:txBody>
          <a:bodyPr/>
          <a:lstStyle/>
          <a:p>
            <a:pPr marL="533400" indent="-533400" eaLnBrk="1" hangingPunct="1">
              <a:buFont typeface="Arial" panose="020B0604020202020204" pitchFamily="34" charset="0"/>
              <a:buAutoNum type="arabicPeriod" startAt="4"/>
            </a:pPr>
            <a:r>
              <a:rPr lang="en-US" altLang="en-US" b="1" dirty="0"/>
              <a:t>Movement AWAY from the midline of the body is ____________.</a:t>
            </a:r>
          </a:p>
          <a:p>
            <a:pPr marL="533400" indent="-533400" eaLnBrk="1" hangingPunct="1">
              <a:buFont typeface="Wingdings 2" panose="05020102010507070707" pitchFamily="18" charset="2"/>
              <a:buNone/>
            </a:pPr>
            <a:endParaRPr lang="en-US" altLang="en-US" sz="1800" b="1" dirty="0"/>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adduction</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abduction</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flexion</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dorsiflexion</a:t>
            </a:r>
            <a:endParaRPr lang="en-US" altLang="en-US" dirty="0">
              <a:ea typeface="MS PGothic" panose="020B0600070205080204" pitchFamily="34" charset="-128"/>
            </a:endParaRPr>
          </a:p>
          <a:p>
            <a:pPr marL="533400" indent="-533400" eaLnBrk="1" hangingPunct="1">
              <a:buFont typeface="Wingdings 2" panose="05020102010507070707" pitchFamily="18" charset="2"/>
              <a:buNone/>
            </a:pPr>
            <a:endParaRPr lang="en-US" altLang="en-US" dirty="0"/>
          </a:p>
        </p:txBody>
      </p:sp>
    </p:spTree>
    <p:extLst>
      <p:ext uri="{BB962C8B-B14F-4D97-AF65-F5344CB8AC3E}">
        <p14:creationId xmlns:p14="http://schemas.microsoft.com/office/powerpoint/2010/main" val="7479627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and Terminology</a:t>
            </a:r>
            <a:br>
              <a:rPr lang="en-US" dirty="0"/>
            </a:br>
            <a:r>
              <a:rPr lang="en-US" dirty="0"/>
              <a:t> </a:t>
            </a:r>
            <a:r>
              <a:rPr lang="en-US" sz="4000" dirty="0"/>
              <a:t>Muscles (Slide 1 of 2)</a:t>
            </a:r>
          </a:p>
        </p:txBody>
      </p:sp>
      <p:graphicFrame>
        <p:nvGraphicFramePr>
          <p:cNvPr id="9" name="Content Placeholder 8" descr="Group 1 of 2 combining forms from the Combining Forms and Terminology--Muscles:   section of the textbook  with corresponding meanings or definitions. "/>
          <p:cNvGraphicFramePr>
            <a:graphicFrameLocks noGrp="1"/>
          </p:cNvGraphicFramePr>
          <p:nvPr>
            <p:ph idx="1"/>
            <p:extLst>
              <p:ext uri="{D42A27DB-BD31-4B8C-83A1-F6EECF244321}">
                <p14:modId xmlns:p14="http://schemas.microsoft.com/office/powerpoint/2010/main" val="3231478121"/>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fasci</a:t>
                      </a:r>
                      <a:r>
                        <a:rPr lang="en-US" altLang="en-US" sz="2400" dirty="0"/>
                        <a:t>/o</a:t>
                      </a:r>
                      <a:endParaRPr lang="en-US" sz="2400" dirty="0"/>
                    </a:p>
                  </a:txBody>
                  <a:tcPr/>
                </a:tc>
                <a:tc>
                  <a:txBody>
                    <a:bodyPr/>
                    <a:lstStyle/>
                    <a:p>
                      <a:r>
                        <a:rPr lang="en-US" altLang="en-US" sz="2400" dirty="0"/>
                        <a:t>fascia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fibr</a:t>
                      </a:r>
                      <a:r>
                        <a:rPr lang="en-US" altLang="en-US" sz="2400" dirty="0"/>
                        <a:t>/o</a:t>
                      </a:r>
                      <a:endParaRPr lang="en-US" sz="2400" dirty="0"/>
                    </a:p>
                  </a:txBody>
                  <a:tcPr/>
                </a:tc>
                <a:tc>
                  <a:txBody>
                    <a:bodyPr/>
                    <a:lstStyle/>
                    <a:p>
                      <a:r>
                        <a:rPr lang="en-US" altLang="en-US" sz="2400" dirty="0"/>
                        <a:t>fibrous </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leiomy</a:t>
                      </a:r>
                      <a:r>
                        <a:rPr lang="en-US" altLang="en-US" sz="2400" dirty="0"/>
                        <a:t>/o</a:t>
                      </a:r>
                      <a:endParaRPr lang="en-US" sz="2400" dirty="0"/>
                    </a:p>
                  </a:txBody>
                  <a:tcPr/>
                </a:tc>
                <a:tc>
                  <a:txBody>
                    <a:bodyPr/>
                    <a:lstStyle/>
                    <a:p>
                      <a:r>
                        <a:rPr lang="en-US" altLang="en-US" sz="2400" dirty="0"/>
                        <a:t>smooth muscle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my/o</a:t>
                      </a:r>
                      <a:endParaRPr lang="en-US" sz="2400" dirty="0"/>
                    </a:p>
                  </a:txBody>
                  <a:tcPr/>
                </a:tc>
                <a:tc>
                  <a:txBody>
                    <a:bodyPr/>
                    <a:lstStyle/>
                    <a:p>
                      <a:r>
                        <a:rPr lang="en-US" altLang="en-US" sz="2400" dirty="0"/>
                        <a:t>muscle</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5506889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Combining Forms and Terminology</a:t>
            </a:r>
            <a:br>
              <a:rPr lang="en-US" dirty="0"/>
            </a:br>
            <a:r>
              <a:rPr lang="en-US" dirty="0"/>
              <a:t> </a:t>
            </a:r>
            <a:r>
              <a:rPr lang="en-US" sz="4000" dirty="0"/>
              <a:t>Muscles (Slide 2 of 2)</a:t>
            </a:r>
          </a:p>
        </p:txBody>
      </p:sp>
      <p:graphicFrame>
        <p:nvGraphicFramePr>
          <p:cNvPr id="9" name="Content Placeholder 8" descr="Group 2 of 2 combining forms from the Combining Forms and Terminology--Muscles:   section of the textbook  with corresponding meanings or definitions. "/>
          <p:cNvGraphicFramePr>
            <a:graphicFrameLocks noGrp="1"/>
          </p:cNvGraphicFramePr>
          <p:nvPr>
            <p:ph idx="1"/>
            <p:extLst>
              <p:ext uri="{D42A27DB-BD31-4B8C-83A1-F6EECF244321}">
                <p14:modId xmlns:p14="http://schemas.microsoft.com/office/powerpoint/2010/main" val="248978582"/>
              </p:ext>
            </p:extLst>
          </p:nvPr>
        </p:nvGraphicFramePr>
        <p:xfrm>
          <a:off x="457200" y="1600200"/>
          <a:ext cx="8229600" cy="27432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myocardi</a:t>
                      </a:r>
                      <a:r>
                        <a:rPr lang="en-US" altLang="en-US" sz="2400" dirty="0"/>
                        <a:t>/o</a:t>
                      </a:r>
                      <a:endParaRPr lang="en-US" sz="2400" dirty="0"/>
                    </a:p>
                  </a:txBody>
                  <a:tcPr/>
                </a:tc>
                <a:tc>
                  <a:txBody>
                    <a:bodyPr/>
                    <a:lstStyle/>
                    <a:p>
                      <a:r>
                        <a:rPr lang="en-US" altLang="en-US" sz="2400" dirty="0"/>
                        <a:t>heart muscle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myos</a:t>
                      </a:r>
                      <a:r>
                        <a:rPr lang="en-US" altLang="en-US" sz="2400" dirty="0"/>
                        <a:t>/o</a:t>
                      </a:r>
                      <a:endParaRPr lang="en-US" sz="2400" dirty="0"/>
                    </a:p>
                  </a:txBody>
                  <a:tcPr/>
                </a:tc>
                <a:tc>
                  <a:txBody>
                    <a:bodyPr/>
                    <a:lstStyle/>
                    <a:p>
                      <a:r>
                        <a:rPr lang="en-US" altLang="en-US" sz="2400" dirty="0"/>
                        <a:t>muscle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plant/o</a:t>
                      </a:r>
                      <a:endParaRPr lang="en-US" sz="2400" dirty="0"/>
                    </a:p>
                  </a:txBody>
                  <a:tcPr/>
                </a:tc>
                <a:tc>
                  <a:txBody>
                    <a:bodyPr/>
                    <a:lstStyle/>
                    <a:p>
                      <a:r>
                        <a:rPr lang="en-US" altLang="en-US" sz="2400" dirty="0"/>
                        <a:t>sole of the foot</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err="1"/>
                        <a:t>rhabdomy</a:t>
                      </a:r>
                      <a:r>
                        <a:rPr lang="en-US" altLang="en-US" sz="2400" dirty="0"/>
                        <a:t>/o</a:t>
                      </a:r>
                      <a:endParaRPr lang="en-US" sz="2400" dirty="0"/>
                    </a:p>
                  </a:txBody>
                  <a:tcPr/>
                </a:tc>
                <a:tc>
                  <a:txBody>
                    <a:bodyPr/>
                    <a:lstStyle/>
                    <a:p>
                      <a:r>
                        <a:rPr lang="en-US" altLang="en-US" sz="2400" dirty="0"/>
                        <a:t>skeletal muscle connected to bones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dirty="0" err="1"/>
                        <a:t>sarco</a:t>
                      </a:r>
                      <a:endParaRPr lang="en-US" sz="2400" dirty="0"/>
                    </a:p>
                  </a:txBody>
                  <a:tcPr/>
                </a:tc>
                <a:tc>
                  <a:txBody>
                    <a:bodyPr/>
                    <a:lstStyle/>
                    <a:p>
                      <a:r>
                        <a:rPr lang="en-US" altLang="en-US" sz="2400" dirty="0"/>
                        <a:t>muscles and flesh</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0684426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Suffixes and Terminology</a:t>
            </a:r>
            <a:br>
              <a:rPr lang="en-US" dirty="0"/>
            </a:br>
            <a:r>
              <a:rPr lang="en-US" dirty="0"/>
              <a:t> </a:t>
            </a:r>
            <a:r>
              <a:rPr lang="en-US" sz="4000" dirty="0"/>
              <a:t>Muscles</a:t>
            </a:r>
          </a:p>
        </p:txBody>
      </p:sp>
      <p:graphicFrame>
        <p:nvGraphicFramePr>
          <p:cNvPr id="9" name="Content Placeholder 8" descr="List of Suffixes from the Suffixes and Terminology--Muscles  section of the textbook  with corresponding meanings or definitions. "/>
          <p:cNvGraphicFramePr>
            <a:graphicFrameLocks noGrp="1"/>
          </p:cNvGraphicFramePr>
          <p:nvPr>
            <p:ph idx="1"/>
            <p:extLst>
              <p:ext uri="{D42A27DB-BD31-4B8C-83A1-F6EECF244321}">
                <p14:modId xmlns:p14="http://schemas.microsoft.com/office/powerpoint/2010/main" val="2764413395"/>
              </p:ext>
            </p:extLst>
          </p:nvPr>
        </p:nvGraphicFramePr>
        <p:xfrm>
          <a:off x="457200" y="1600200"/>
          <a:ext cx="8229600" cy="13716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-asthenia</a:t>
                      </a:r>
                      <a:endParaRPr lang="en-US" sz="2400" dirty="0"/>
                    </a:p>
                  </a:txBody>
                  <a:tcPr/>
                </a:tc>
                <a:tc>
                  <a:txBody>
                    <a:bodyPr/>
                    <a:lstStyle/>
                    <a:p>
                      <a:r>
                        <a:rPr lang="en-US" altLang="en-US" sz="2400" dirty="0"/>
                        <a:t>lack of strength</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-trophy</a:t>
                      </a:r>
                      <a:endParaRPr lang="en-US" sz="2400" dirty="0"/>
                    </a:p>
                  </a:txBody>
                  <a:tcPr/>
                </a:tc>
                <a:tc>
                  <a:txBody>
                    <a:bodyPr/>
                    <a:lstStyle/>
                    <a:p>
                      <a:r>
                        <a:rPr lang="en-US" altLang="en-US" sz="2400" dirty="0"/>
                        <a:t>development, 	nourishment</a:t>
                      </a:r>
                      <a:endParaRPr lang="en-US" sz="2400"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9314301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Prefixes and Terminology</a:t>
            </a:r>
            <a:br>
              <a:rPr lang="en-US" dirty="0"/>
            </a:br>
            <a:r>
              <a:rPr lang="en-US" dirty="0"/>
              <a:t> </a:t>
            </a:r>
            <a:r>
              <a:rPr lang="en-US" sz="4000" dirty="0"/>
              <a:t>Muscles</a:t>
            </a:r>
          </a:p>
        </p:txBody>
      </p:sp>
      <p:graphicFrame>
        <p:nvGraphicFramePr>
          <p:cNvPr id="9" name="Content Placeholder 8" descr="List of Prefixes from the Prefixes and Terminology--Muscles  section of the textbook  with corresponding meanings or definitions. "/>
          <p:cNvGraphicFramePr>
            <a:graphicFrameLocks noGrp="1"/>
          </p:cNvGraphicFramePr>
          <p:nvPr>
            <p:ph idx="1"/>
            <p:extLst>
              <p:ext uri="{D42A27DB-BD31-4B8C-83A1-F6EECF244321}">
                <p14:modId xmlns:p14="http://schemas.microsoft.com/office/powerpoint/2010/main" val="364873269"/>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err="1"/>
                        <a:t>ab</a:t>
                      </a:r>
                      <a:r>
                        <a:rPr lang="en-US" altLang="en-US" sz="2400" dirty="0"/>
                        <a:t>-</a:t>
                      </a:r>
                      <a:endParaRPr lang="en-US" sz="2400" dirty="0"/>
                    </a:p>
                  </a:txBody>
                  <a:tcPr/>
                </a:tc>
                <a:tc>
                  <a:txBody>
                    <a:bodyPr/>
                    <a:lstStyle/>
                    <a:p>
                      <a:pPr eaLnBrk="1" hangingPunct="1"/>
                      <a:r>
                        <a:rPr lang="en-US" altLang="en-US" sz="2400" dirty="0"/>
                        <a:t>away from</a:t>
                      </a:r>
                    </a:p>
                  </a:txBody>
                  <a:tcPr/>
                </a:tc>
                <a:extLst>
                  <a:ext uri="{0D108BD9-81ED-4DB2-BD59-A6C34878D82A}">
                    <a16:rowId xmlns:a16="http://schemas.microsoft.com/office/drawing/2014/main" val="10001"/>
                  </a:ext>
                </a:extLst>
              </a:tr>
              <a:tr h="370840">
                <a:tc>
                  <a:txBody>
                    <a:bodyPr/>
                    <a:lstStyle/>
                    <a:p>
                      <a:r>
                        <a:rPr lang="en-US" altLang="en-US" sz="2400" dirty="0"/>
                        <a:t>ad-</a:t>
                      </a:r>
                      <a:endParaRPr lang="en-US" sz="2400" dirty="0"/>
                    </a:p>
                  </a:txBody>
                  <a:tcPr/>
                </a:tc>
                <a:tc>
                  <a:txBody>
                    <a:bodyPr/>
                    <a:lstStyle/>
                    <a:p>
                      <a:r>
                        <a:rPr lang="en-US" altLang="en-US" sz="2400" dirty="0"/>
                        <a:t>toward</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dorsi</a:t>
                      </a:r>
                      <a:r>
                        <a:rPr lang="en-US" altLang="en-US" sz="2400" dirty="0"/>
                        <a:t>-</a:t>
                      </a:r>
                      <a:endParaRPr lang="en-US" sz="2400" dirty="0"/>
                    </a:p>
                  </a:txBody>
                  <a:tcPr/>
                </a:tc>
                <a:tc>
                  <a:txBody>
                    <a:bodyPr/>
                    <a:lstStyle/>
                    <a:p>
                      <a:r>
                        <a:rPr lang="en-US" altLang="en-US" sz="2400" dirty="0"/>
                        <a:t>back</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dirty="0"/>
                        <a:t>poly-</a:t>
                      </a:r>
                      <a:endParaRPr lang="en-US" sz="2400" dirty="0"/>
                    </a:p>
                  </a:txBody>
                  <a:tcPr/>
                </a:tc>
                <a:tc>
                  <a:txBody>
                    <a:bodyPr/>
                    <a:lstStyle/>
                    <a:p>
                      <a:r>
                        <a:rPr lang="en-US" altLang="en-US" sz="2400" dirty="0"/>
                        <a:t>many, much</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7364936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4"/>
          <p:cNvSpPr>
            <a:spLocks noGrp="1" noChangeArrowheads="1"/>
          </p:cNvSpPr>
          <p:nvPr>
            <p:ph type="title"/>
          </p:nvPr>
        </p:nvSpPr>
        <p:spPr>
          <a:xfrm>
            <a:off x="1219200" y="152400"/>
            <a:ext cx="6735763" cy="1219200"/>
          </a:xfrm>
        </p:spPr>
        <p:txBody>
          <a:bodyPr/>
          <a:lstStyle/>
          <a:p>
            <a:pPr eaLnBrk="1" hangingPunct="1"/>
            <a:r>
              <a:rPr lang="en-US" altLang="en-US"/>
              <a:t>Pathology — Muscles</a:t>
            </a:r>
          </a:p>
        </p:txBody>
      </p:sp>
      <p:sp>
        <p:nvSpPr>
          <p:cNvPr id="125955" name="Rectangle 5"/>
          <p:cNvSpPr>
            <a:spLocks noGrp="1" noChangeArrowheads="1"/>
          </p:cNvSpPr>
          <p:nvPr>
            <p:ph idx="1"/>
          </p:nvPr>
        </p:nvSpPr>
        <p:spPr/>
        <p:txBody>
          <a:bodyPr/>
          <a:lstStyle/>
          <a:p>
            <a:pPr eaLnBrk="1" hangingPunct="1"/>
            <a:r>
              <a:rPr lang="en-US" altLang="en-US" b="1"/>
              <a:t>Muscular dystrophy:</a:t>
            </a:r>
            <a:r>
              <a:rPr lang="en-US" altLang="en-US"/>
              <a:t> group of inherited diseases with progressive muscle weakness and degeneration without nervous system involvement</a:t>
            </a:r>
          </a:p>
          <a:p>
            <a:pPr eaLnBrk="1" hangingPunct="1"/>
            <a:endParaRPr lang="en-US" altLang="en-US" sz="1800"/>
          </a:p>
          <a:p>
            <a:pPr eaLnBrk="1" hangingPunct="1"/>
            <a:r>
              <a:rPr lang="en-US" altLang="en-US" b="1"/>
              <a:t>Polymyositis:</a:t>
            </a:r>
            <a:r>
              <a:rPr lang="en-US" altLang="en-US"/>
              <a:t> chronic inflammatory myopathy; may be an autoimmune disorder</a:t>
            </a:r>
          </a:p>
        </p:txBody>
      </p:sp>
    </p:spTree>
    <p:extLst>
      <p:ext uri="{BB962C8B-B14F-4D97-AF65-F5344CB8AC3E}">
        <p14:creationId xmlns:p14="http://schemas.microsoft.com/office/powerpoint/2010/main" val="26948666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5"/>
          <p:cNvSpPr>
            <a:spLocks noGrp="1" noChangeArrowheads="1"/>
          </p:cNvSpPr>
          <p:nvPr>
            <p:ph type="title"/>
          </p:nvPr>
        </p:nvSpPr>
        <p:spPr>
          <a:xfrm>
            <a:off x="990600" y="304800"/>
            <a:ext cx="7213600" cy="1143000"/>
          </a:xfrm>
        </p:spPr>
        <p:txBody>
          <a:bodyPr/>
          <a:lstStyle/>
          <a:p>
            <a:pPr eaLnBrk="1" hangingPunct="1"/>
            <a:r>
              <a:rPr lang="en-US" altLang="en-US"/>
              <a:t>Laboratory Tests</a:t>
            </a:r>
          </a:p>
        </p:txBody>
      </p:sp>
      <p:sp>
        <p:nvSpPr>
          <p:cNvPr id="126979" name="Rectangle 6"/>
          <p:cNvSpPr>
            <a:spLocks noGrp="1" noChangeArrowheads="1"/>
          </p:cNvSpPr>
          <p:nvPr>
            <p:ph sz="half" idx="1"/>
          </p:nvPr>
        </p:nvSpPr>
        <p:spPr>
          <a:xfrm>
            <a:off x="685800" y="1600200"/>
            <a:ext cx="6934200" cy="3505200"/>
          </a:xfrm>
        </p:spPr>
        <p:txBody>
          <a:bodyPr/>
          <a:lstStyle/>
          <a:p>
            <a:pPr eaLnBrk="1" hangingPunct="1"/>
            <a:r>
              <a:rPr lang="en-US" altLang="en-US"/>
              <a:t>Antinuclear antibody test (ANA)</a:t>
            </a:r>
          </a:p>
          <a:p>
            <a:pPr eaLnBrk="1" hangingPunct="1"/>
            <a:r>
              <a:rPr lang="en-US" altLang="en-US"/>
              <a:t>Erythrocyte sedimentation rate (ESR)</a:t>
            </a:r>
          </a:p>
          <a:p>
            <a:pPr eaLnBrk="1" hangingPunct="1"/>
            <a:r>
              <a:rPr lang="en-US" altLang="en-US"/>
              <a:t>Rheumatoid factor test (RF)</a:t>
            </a:r>
          </a:p>
          <a:p>
            <a:pPr eaLnBrk="1" hangingPunct="1"/>
            <a:r>
              <a:rPr lang="en-US" altLang="en-US"/>
              <a:t>Serum calcium (Ca)</a:t>
            </a:r>
          </a:p>
          <a:p>
            <a:pPr eaLnBrk="1" hangingPunct="1"/>
            <a:r>
              <a:rPr lang="en-US" altLang="en-US"/>
              <a:t>Serum creatine kinase (CK)</a:t>
            </a:r>
          </a:p>
          <a:p>
            <a:pPr eaLnBrk="1" hangingPunct="1"/>
            <a:r>
              <a:rPr lang="en-US" altLang="en-US"/>
              <a:t>Uric acid test</a:t>
            </a:r>
          </a:p>
          <a:p>
            <a:pPr eaLnBrk="1" hangingPunct="1"/>
            <a:endParaRPr lang="en-US" altLang="en-US" sz="2400"/>
          </a:p>
          <a:p>
            <a:pPr eaLnBrk="1" hangingPunct="1"/>
            <a:endParaRPr lang="en-US" altLang="en-US" sz="2400"/>
          </a:p>
        </p:txBody>
      </p:sp>
    </p:spTree>
    <p:extLst>
      <p:ext uri="{BB962C8B-B14F-4D97-AF65-F5344CB8AC3E}">
        <p14:creationId xmlns:p14="http://schemas.microsoft.com/office/powerpoint/2010/main" val="398656055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5"/>
          <p:cNvSpPr>
            <a:spLocks noGrp="1" noChangeArrowheads="1"/>
          </p:cNvSpPr>
          <p:nvPr>
            <p:ph type="title"/>
          </p:nvPr>
        </p:nvSpPr>
        <p:spPr/>
        <p:txBody>
          <a:bodyPr/>
          <a:lstStyle/>
          <a:p>
            <a:pPr eaLnBrk="1" hangingPunct="1"/>
            <a:r>
              <a:rPr lang="en-US" altLang="en-US"/>
              <a:t>Clinical Procedures Related to Bones, Joints, and Muscle</a:t>
            </a:r>
          </a:p>
        </p:txBody>
      </p:sp>
      <p:sp>
        <p:nvSpPr>
          <p:cNvPr id="128003" name="Rectangle 6"/>
          <p:cNvSpPr>
            <a:spLocks noGrp="1" noChangeArrowheads="1"/>
          </p:cNvSpPr>
          <p:nvPr>
            <p:ph sz="half" idx="1"/>
          </p:nvPr>
        </p:nvSpPr>
        <p:spPr>
          <a:xfrm>
            <a:off x="685800" y="1641475"/>
            <a:ext cx="3800475" cy="4454525"/>
          </a:xfrm>
        </p:spPr>
        <p:txBody>
          <a:bodyPr/>
          <a:lstStyle/>
          <a:p>
            <a:pPr eaLnBrk="1" hangingPunct="1"/>
            <a:r>
              <a:rPr lang="en-US" altLang="en-US" sz="2400" dirty="0"/>
              <a:t>Arthrocentesis</a:t>
            </a:r>
          </a:p>
          <a:p>
            <a:pPr eaLnBrk="1" hangingPunct="1"/>
            <a:r>
              <a:rPr lang="en-US" altLang="en-US" sz="2400" dirty="0"/>
              <a:t>Arthrography</a:t>
            </a:r>
          </a:p>
          <a:p>
            <a:pPr eaLnBrk="1" hangingPunct="1"/>
            <a:r>
              <a:rPr lang="en-US" altLang="en-US" sz="2400" dirty="0"/>
              <a:t>Arthroplasty</a:t>
            </a:r>
          </a:p>
          <a:p>
            <a:pPr eaLnBrk="1" hangingPunct="1"/>
            <a:r>
              <a:rPr lang="en-US" altLang="en-US" sz="2400" dirty="0"/>
              <a:t>Arthroscopy</a:t>
            </a:r>
          </a:p>
          <a:p>
            <a:pPr eaLnBrk="1" hangingPunct="1"/>
            <a:r>
              <a:rPr lang="en-US" altLang="en-US" sz="2400" dirty="0"/>
              <a:t>Bone density test</a:t>
            </a:r>
          </a:p>
          <a:p>
            <a:pPr eaLnBrk="1" hangingPunct="1"/>
            <a:r>
              <a:rPr lang="en-US" altLang="en-US" sz="2400" dirty="0"/>
              <a:t>Bone scan</a:t>
            </a:r>
          </a:p>
          <a:p>
            <a:pPr eaLnBrk="1" hangingPunct="1"/>
            <a:r>
              <a:rPr lang="en-US" altLang="en-US" sz="2400" dirty="0"/>
              <a:t>Computed tomography (CT)</a:t>
            </a:r>
          </a:p>
        </p:txBody>
      </p:sp>
      <p:sp>
        <p:nvSpPr>
          <p:cNvPr id="128004" name="Rectangle 7"/>
          <p:cNvSpPr>
            <a:spLocks noGrp="1" noChangeArrowheads="1"/>
          </p:cNvSpPr>
          <p:nvPr>
            <p:ph sz="half" idx="2"/>
          </p:nvPr>
        </p:nvSpPr>
        <p:spPr>
          <a:xfrm>
            <a:off x="4657725" y="1641475"/>
            <a:ext cx="3800475" cy="4454525"/>
          </a:xfrm>
        </p:spPr>
        <p:txBody>
          <a:bodyPr/>
          <a:lstStyle/>
          <a:p>
            <a:pPr eaLnBrk="1" hangingPunct="1"/>
            <a:r>
              <a:rPr lang="en-US" altLang="en-US" sz="2400" dirty="0"/>
              <a:t>Discography</a:t>
            </a:r>
          </a:p>
          <a:p>
            <a:pPr eaLnBrk="1" hangingPunct="1"/>
            <a:r>
              <a:rPr lang="en-US" altLang="en-US" sz="2400" dirty="0"/>
              <a:t>Electromyography (EMG)</a:t>
            </a:r>
          </a:p>
          <a:p>
            <a:pPr eaLnBrk="1" hangingPunct="1"/>
            <a:r>
              <a:rPr lang="en-US" altLang="en-US" sz="2400" dirty="0"/>
              <a:t>Magnetic resonance imaging (MRI)</a:t>
            </a:r>
          </a:p>
          <a:p>
            <a:pPr eaLnBrk="1" hangingPunct="1"/>
            <a:r>
              <a:rPr lang="en-US" altLang="en-US" sz="2400" dirty="0"/>
              <a:t>Muscle biopsy</a:t>
            </a:r>
          </a:p>
          <a:p>
            <a:pPr eaLnBrk="1" hangingPunct="1"/>
            <a:endParaRPr lang="en-US" altLang="en-US" sz="2400" dirty="0"/>
          </a:p>
        </p:txBody>
      </p:sp>
    </p:spTree>
    <p:extLst>
      <p:ext uri="{BB962C8B-B14F-4D97-AF65-F5344CB8AC3E}">
        <p14:creationId xmlns:p14="http://schemas.microsoft.com/office/powerpoint/2010/main" val="239999138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a:t>
            </a:r>
            <a:r>
              <a:rPr lang="en-US" sz="4000" dirty="0"/>
              <a:t>(Slide 1 of 6)</a:t>
            </a:r>
          </a:p>
        </p:txBody>
      </p:sp>
      <p:graphicFrame>
        <p:nvGraphicFramePr>
          <p:cNvPr id="9" name="Content Placeholder 8" descr="Group 1 of 3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2280577830"/>
              </p:ext>
            </p:extLst>
          </p:nvPr>
        </p:nvGraphicFramePr>
        <p:xfrm>
          <a:off x="3581400" y="1219200"/>
          <a:ext cx="1981200" cy="518160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tblGrid>
              <a:tr h="370840">
                <a:tc>
                  <a:txBody>
                    <a:bodyPr/>
                    <a:lstStyle/>
                    <a:p>
                      <a:r>
                        <a:rPr lang="en-US" sz="2200" dirty="0"/>
                        <a:t>Prefix</a:t>
                      </a:r>
                    </a:p>
                  </a:txBody>
                  <a:tcPr/>
                </a:tc>
                <a:extLst>
                  <a:ext uri="{0D108BD9-81ED-4DB2-BD59-A6C34878D82A}">
                    <a16:rowId xmlns:a16="http://schemas.microsoft.com/office/drawing/2014/main" val="10000"/>
                  </a:ext>
                </a:extLst>
              </a:tr>
              <a:tr h="370840">
                <a:tc>
                  <a:txBody>
                    <a:bodyPr/>
                    <a:lstStyle/>
                    <a:p>
                      <a:r>
                        <a:rPr lang="en-US" sz="2000" dirty="0"/>
                        <a:t>AC</a:t>
                      </a:r>
                    </a:p>
                  </a:txBody>
                  <a:tcPr/>
                </a:tc>
                <a:extLst>
                  <a:ext uri="{0D108BD9-81ED-4DB2-BD59-A6C34878D82A}">
                    <a16:rowId xmlns:a16="http://schemas.microsoft.com/office/drawing/2014/main" val="10001"/>
                  </a:ext>
                </a:extLst>
              </a:tr>
              <a:tr h="370840">
                <a:tc>
                  <a:txBody>
                    <a:bodyPr/>
                    <a:lstStyle/>
                    <a:p>
                      <a:r>
                        <a:rPr lang="en-US" sz="2000" dirty="0"/>
                        <a:t>ACL</a:t>
                      </a:r>
                    </a:p>
                  </a:txBody>
                  <a:tcPr/>
                </a:tc>
                <a:extLst>
                  <a:ext uri="{0D108BD9-81ED-4DB2-BD59-A6C34878D82A}">
                    <a16:rowId xmlns:a16="http://schemas.microsoft.com/office/drawing/2014/main" val="10002"/>
                  </a:ext>
                </a:extLst>
              </a:tr>
              <a:tr h="370840">
                <a:tc>
                  <a:txBody>
                    <a:bodyPr/>
                    <a:lstStyle/>
                    <a:p>
                      <a:r>
                        <a:rPr lang="en-US" sz="2000" dirty="0"/>
                        <a:t>ANA</a:t>
                      </a:r>
                    </a:p>
                  </a:txBody>
                  <a:tcPr/>
                </a:tc>
                <a:extLst>
                  <a:ext uri="{0D108BD9-81ED-4DB2-BD59-A6C34878D82A}">
                    <a16:rowId xmlns:a16="http://schemas.microsoft.com/office/drawing/2014/main" val="10003"/>
                  </a:ext>
                </a:extLst>
              </a:tr>
              <a:tr h="370840">
                <a:tc>
                  <a:txBody>
                    <a:bodyPr/>
                    <a:lstStyle/>
                    <a:p>
                      <a:r>
                        <a:rPr lang="en-US" sz="2000" dirty="0"/>
                        <a:t>BKA</a:t>
                      </a:r>
                    </a:p>
                  </a:txBody>
                  <a:tcPr/>
                </a:tc>
                <a:extLst>
                  <a:ext uri="{0D108BD9-81ED-4DB2-BD59-A6C34878D82A}">
                    <a16:rowId xmlns:a16="http://schemas.microsoft.com/office/drawing/2014/main" val="10004"/>
                  </a:ext>
                </a:extLst>
              </a:tr>
              <a:tr h="370840">
                <a:tc>
                  <a:txBody>
                    <a:bodyPr/>
                    <a:lstStyle/>
                    <a:p>
                      <a:r>
                        <a:rPr lang="en-US" sz="2000" dirty="0"/>
                        <a:t>BMD</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C1 TO C7</a:t>
                      </a:r>
                      <a:endParaRPr lang="en-US" sz="2000" dirty="0">
                        <a:ea typeface="ＭＳ Ｐゴシック" charset="0"/>
                      </a:endParaRPr>
                    </a:p>
                  </a:txBody>
                  <a:tcPr/>
                </a:tc>
                <a:extLst>
                  <a:ext uri="{0D108BD9-81ED-4DB2-BD59-A6C34878D82A}">
                    <a16:rowId xmlns:a16="http://schemas.microsoft.com/office/drawing/2014/main" val="10006"/>
                  </a:ext>
                </a:extLst>
              </a:tr>
              <a:tr h="370840">
                <a:tc>
                  <a:txBody>
                    <a:bodyPr/>
                    <a:lstStyle/>
                    <a:p>
                      <a:r>
                        <a:rPr lang="en-US" sz="2000" dirty="0" err="1"/>
                        <a:t>Ca</a:t>
                      </a:r>
                      <a:endParaRPr lang="en-US" sz="2000" dirty="0"/>
                    </a:p>
                  </a:txBody>
                  <a:tcPr/>
                </a:tc>
                <a:extLst>
                  <a:ext uri="{0D108BD9-81ED-4DB2-BD59-A6C34878D82A}">
                    <a16:rowId xmlns:a16="http://schemas.microsoft.com/office/drawing/2014/main" val="10007"/>
                  </a:ext>
                </a:extLst>
              </a:tr>
              <a:tr h="370840">
                <a:tc>
                  <a:txBody>
                    <a:bodyPr/>
                    <a:lstStyle/>
                    <a:p>
                      <a:r>
                        <a:rPr lang="en-US" sz="2000" dirty="0"/>
                        <a:t>CK</a:t>
                      </a:r>
                    </a:p>
                  </a:txBody>
                  <a:tcPr/>
                </a:tc>
                <a:extLst>
                  <a:ext uri="{0D108BD9-81ED-4DB2-BD59-A6C34878D82A}">
                    <a16:rowId xmlns:a16="http://schemas.microsoft.com/office/drawing/2014/main" val="10008"/>
                  </a:ext>
                </a:extLst>
              </a:tr>
              <a:tr h="370840">
                <a:tc>
                  <a:txBody>
                    <a:bodyPr/>
                    <a:lstStyle/>
                    <a:p>
                      <a:r>
                        <a:rPr lang="en-US" sz="2000" dirty="0"/>
                        <a:t>CMC</a:t>
                      </a:r>
                    </a:p>
                  </a:txBody>
                  <a:tcPr/>
                </a:tc>
                <a:extLst>
                  <a:ext uri="{0D108BD9-81ED-4DB2-BD59-A6C34878D82A}">
                    <a16:rowId xmlns:a16="http://schemas.microsoft.com/office/drawing/2014/main" val="10009"/>
                  </a:ext>
                </a:extLst>
              </a:tr>
              <a:tr h="370840">
                <a:tc>
                  <a:txBody>
                    <a:bodyPr/>
                    <a:lstStyle/>
                    <a:p>
                      <a:r>
                        <a:rPr lang="en-US" sz="2000" dirty="0"/>
                        <a:t>CTS</a:t>
                      </a:r>
                    </a:p>
                  </a:txBody>
                  <a:tcPr/>
                </a:tc>
                <a:extLst>
                  <a:ext uri="{0D108BD9-81ED-4DB2-BD59-A6C34878D82A}">
                    <a16:rowId xmlns:a16="http://schemas.microsoft.com/office/drawing/2014/main" val="1001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DEXA or DXA</a:t>
                      </a:r>
                      <a:endParaRPr lang="en-US" sz="2000" dirty="0">
                        <a:ea typeface="ＭＳ Ｐゴシック" charset="0"/>
                      </a:endParaRPr>
                    </a:p>
                  </a:txBody>
                  <a:tcPr/>
                </a:tc>
                <a:extLst>
                  <a:ext uri="{0D108BD9-81ED-4DB2-BD59-A6C34878D82A}">
                    <a16:rowId xmlns:a16="http://schemas.microsoft.com/office/drawing/2014/main" val="1001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DMARD</a:t>
                      </a:r>
                      <a:endParaRPr lang="en-US" sz="2000" dirty="0">
                        <a:ea typeface="ＭＳ Ｐゴシック" charset="0"/>
                      </a:endParaRP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4550851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a:t>
            </a:r>
            <a:r>
              <a:rPr lang="en-US" sz="4000" dirty="0"/>
              <a:t>(Slide 2 of 6)</a:t>
            </a:r>
          </a:p>
        </p:txBody>
      </p:sp>
      <p:graphicFrame>
        <p:nvGraphicFramePr>
          <p:cNvPr id="9" name="Content Placeholder 8" descr="Group 1 of 3 Abbreviations with corresponding meanings."/>
          <p:cNvGraphicFramePr>
            <a:graphicFrameLocks noGrp="1"/>
          </p:cNvGraphicFramePr>
          <p:nvPr>
            <p:ph idx="1"/>
            <p:extLst>
              <p:ext uri="{D42A27DB-BD31-4B8C-83A1-F6EECF244321}">
                <p14:modId xmlns:p14="http://schemas.microsoft.com/office/powerpoint/2010/main" val="887055073"/>
              </p:ext>
            </p:extLst>
          </p:nvPr>
        </p:nvGraphicFramePr>
        <p:xfrm>
          <a:off x="457200" y="1219200"/>
          <a:ext cx="8229600" cy="518160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200" dirty="0"/>
                        <a:t>Prefix</a:t>
                      </a:r>
                    </a:p>
                  </a:txBody>
                  <a:tcPr/>
                </a:tc>
                <a:tc>
                  <a:txBody>
                    <a:bodyPr/>
                    <a:lstStyle/>
                    <a:p>
                      <a:r>
                        <a:rPr lang="en-US" sz="2200" dirty="0"/>
                        <a:t>Meaning</a:t>
                      </a:r>
                    </a:p>
                  </a:txBody>
                  <a:tcPr/>
                </a:tc>
                <a:extLst>
                  <a:ext uri="{0D108BD9-81ED-4DB2-BD59-A6C34878D82A}">
                    <a16:rowId xmlns:a16="http://schemas.microsoft.com/office/drawing/2014/main" val="10000"/>
                  </a:ext>
                </a:extLst>
              </a:tr>
              <a:tr h="370840">
                <a:tc>
                  <a:txBody>
                    <a:bodyPr/>
                    <a:lstStyle/>
                    <a:p>
                      <a:r>
                        <a:rPr lang="en-US" sz="2000" dirty="0"/>
                        <a:t>AC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err="1"/>
                        <a:t>Acromioclavicular</a:t>
                      </a:r>
                      <a:r>
                        <a:rPr lang="en-US" sz="2000" dirty="0"/>
                        <a:t> (joint)</a:t>
                      </a:r>
                      <a:endParaRPr lang="en-US" sz="2000" dirty="0">
                        <a:ea typeface="ＭＳ Ｐゴシック" charset="0"/>
                      </a:endParaRPr>
                    </a:p>
                  </a:txBody>
                  <a:tcPr/>
                </a:tc>
                <a:extLst>
                  <a:ext uri="{0D108BD9-81ED-4DB2-BD59-A6C34878D82A}">
                    <a16:rowId xmlns:a16="http://schemas.microsoft.com/office/drawing/2014/main" val="10001"/>
                  </a:ext>
                </a:extLst>
              </a:tr>
              <a:tr h="370840">
                <a:tc>
                  <a:txBody>
                    <a:bodyPr/>
                    <a:lstStyle/>
                    <a:p>
                      <a:r>
                        <a:rPr lang="en-US" sz="2000" dirty="0"/>
                        <a:t>ACL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Anterior cruciate ligament of the knee</a:t>
                      </a:r>
                      <a:endParaRPr lang="en-US" sz="2000" dirty="0">
                        <a:ea typeface="ＭＳ Ｐゴシック" charset="0"/>
                      </a:endParaRPr>
                    </a:p>
                  </a:txBody>
                  <a:tcPr/>
                </a:tc>
                <a:extLst>
                  <a:ext uri="{0D108BD9-81ED-4DB2-BD59-A6C34878D82A}">
                    <a16:rowId xmlns:a16="http://schemas.microsoft.com/office/drawing/2014/main" val="10002"/>
                  </a:ext>
                </a:extLst>
              </a:tr>
              <a:tr h="370840">
                <a:tc>
                  <a:txBody>
                    <a:bodyPr/>
                    <a:lstStyle/>
                    <a:p>
                      <a:r>
                        <a:rPr lang="en-US" sz="2000" dirty="0"/>
                        <a:t>ANA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Antinuclear antibody</a:t>
                      </a:r>
                      <a:endParaRPr lang="en-US" sz="2000" dirty="0">
                        <a:ea typeface="ＭＳ Ｐゴシック" charset="0"/>
                      </a:endParaRPr>
                    </a:p>
                  </a:txBody>
                  <a:tcPr/>
                </a:tc>
                <a:extLst>
                  <a:ext uri="{0D108BD9-81ED-4DB2-BD59-A6C34878D82A}">
                    <a16:rowId xmlns:a16="http://schemas.microsoft.com/office/drawing/2014/main" val="10003"/>
                  </a:ext>
                </a:extLst>
              </a:tr>
              <a:tr h="370840">
                <a:tc>
                  <a:txBody>
                    <a:bodyPr/>
                    <a:lstStyle/>
                    <a:p>
                      <a:r>
                        <a:rPr lang="en-US" sz="2000" dirty="0"/>
                        <a:t>BKA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Below-knee amputation</a:t>
                      </a:r>
                      <a:endParaRPr lang="en-US" sz="2000" dirty="0">
                        <a:ea typeface="ＭＳ Ｐゴシック" charset="0"/>
                      </a:endParaRPr>
                    </a:p>
                  </a:txBody>
                  <a:tcPr/>
                </a:tc>
                <a:extLst>
                  <a:ext uri="{0D108BD9-81ED-4DB2-BD59-A6C34878D82A}">
                    <a16:rowId xmlns:a16="http://schemas.microsoft.com/office/drawing/2014/main" val="10004"/>
                  </a:ext>
                </a:extLst>
              </a:tr>
              <a:tr h="370840">
                <a:tc>
                  <a:txBody>
                    <a:bodyPr/>
                    <a:lstStyle/>
                    <a:p>
                      <a:r>
                        <a:rPr lang="en-US" sz="2000" dirty="0"/>
                        <a:t>BMD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Bone mineral density</a:t>
                      </a:r>
                      <a:endParaRPr lang="en-US" sz="2000" dirty="0">
                        <a:ea typeface="ＭＳ Ｐゴシック" charset="0"/>
                      </a:endParaRP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C1 TO C7</a:t>
                      </a:r>
                      <a:endParaRPr lang="en-US" sz="20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Cervical vertebrae</a:t>
                      </a:r>
                      <a:endParaRPr lang="en-US" sz="2000" dirty="0">
                        <a:ea typeface="ＭＳ Ｐゴシック" charset="0"/>
                      </a:endParaRPr>
                    </a:p>
                  </a:txBody>
                  <a:tcPr/>
                </a:tc>
                <a:extLst>
                  <a:ext uri="{0D108BD9-81ED-4DB2-BD59-A6C34878D82A}">
                    <a16:rowId xmlns:a16="http://schemas.microsoft.com/office/drawing/2014/main" val="10006"/>
                  </a:ext>
                </a:extLst>
              </a:tr>
              <a:tr h="370840">
                <a:tc>
                  <a:txBody>
                    <a:bodyPr/>
                    <a:lstStyle/>
                    <a:p>
                      <a:r>
                        <a:rPr lang="en-US" sz="2000" dirty="0" err="1"/>
                        <a:t>Ca</a:t>
                      </a:r>
                      <a:endParaRPr lang="en-US" sz="2000" dirty="0"/>
                    </a:p>
                  </a:txBody>
                  <a:tcPr/>
                </a:tc>
                <a:tc>
                  <a:txBody>
                    <a:bodyPr/>
                    <a:lstStyle/>
                    <a:p>
                      <a:r>
                        <a:rPr lang="en-US" sz="2000" dirty="0"/>
                        <a:t>Calcium</a:t>
                      </a:r>
                    </a:p>
                  </a:txBody>
                  <a:tcPr/>
                </a:tc>
                <a:extLst>
                  <a:ext uri="{0D108BD9-81ED-4DB2-BD59-A6C34878D82A}">
                    <a16:rowId xmlns:a16="http://schemas.microsoft.com/office/drawing/2014/main" val="10007"/>
                  </a:ext>
                </a:extLst>
              </a:tr>
              <a:tr h="370840">
                <a:tc>
                  <a:txBody>
                    <a:bodyPr/>
                    <a:lstStyle/>
                    <a:p>
                      <a:r>
                        <a:rPr lang="en-US" sz="2000" dirty="0"/>
                        <a:t>CK</a:t>
                      </a:r>
                    </a:p>
                  </a:txBody>
                  <a:tcPr/>
                </a:tc>
                <a:tc>
                  <a:txBody>
                    <a:bodyPr/>
                    <a:lstStyle/>
                    <a:p>
                      <a:pPr marL="0" indent="0" eaLnBrk="1" fontAlgn="auto" hangingPunct="1">
                        <a:spcAft>
                          <a:spcPts val="0"/>
                        </a:spcAft>
                        <a:buFont typeface="Wingdings 2" charset="0"/>
                        <a:buNone/>
                        <a:defRPr/>
                      </a:pPr>
                      <a:r>
                        <a:rPr lang="en-US" sz="2000" dirty="0" err="1"/>
                        <a:t>Creatine</a:t>
                      </a:r>
                      <a:r>
                        <a:rPr lang="en-US" sz="2000" dirty="0"/>
                        <a:t> kinase</a:t>
                      </a:r>
                      <a:endParaRPr lang="en-US" sz="2000" dirty="0">
                        <a:ea typeface="ＭＳ Ｐゴシック" charset="0"/>
                      </a:endParaRPr>
                    </a:p>
                  </a:txBody>
                  <a:tcPr/>
                </a:tc>
                <a:extLst>
                  <a:ext uri="{0D108BD9-81ED-4DB2-BD59-A6C34878D82A}">
                    <a16:rowId xmlns:a16="http://schemas.microsoft.com/office/drawing/2014/main" val="10008"/>
                  </a:ext>
                </a:extLst>
              </a:tr>
              <a:tr h="370840">
                <a:tc>
                  <a:txBody>
                    <a:bodyPr/>
                    <a:lstStyle/>
                    <a:p>
                      <a:r>
                        <a:rPr lang="en-US" sz="2000" dirty="0"/>
                        <a:t>CMC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Carpometacarpal (joint)</a:t>
                      </a:r>
                      <a:endParaRPr lang="en-US" sz="2000" dirty="0">
                        <a:ea typeface="ＭＳ Ｐゴシック" charset="0"/>
                      </a:endParaRPr>
                    </a:p>
                  </a:txBody>
                  <a:tcPr/>
                </a:tc>
                <a:extLst>
                  <a:ext uri="{0D108BD9-81ED-4DB2-BD59-A6C34878D82A}">
                    <a16:rowId xmlns:a16="http://schemas.microsoft.com/office/drawing/2014/main" val="10009"/>
                  </a:ext>
                </a:extLst>
              </a:tr>
              <a:tr h="370840">
                <a:tc>
                  <a:txBody>
                    <a:bodyPr/>
                    <a:lstStyle/>
                    <a:p>
                      <a:r>
                        <a:rPr lang="en-US" sz="2000" dirty="0"/>
                        <a:t>CTS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Carpal tunnel syndrome</a:t>
                      </a:r>
                      <a:endParaRPr lang="en-US" sz="2000" dirty="0">
                        <a:ea typeface="ＭＳ Ｐゴシック" charset="0"/>
                      </a:endParaRPr>
                    </a:p>
                  </a:txBody>
                  <a:tcPr/>
                </a:tc>
                <a:extLst>
                  <a:ext uri="{0D108BD9-81ED-4DB2-BD59-A6C34878D82A}">
                    <a16:rowId xmlns:a16="http://schemas.microsoft.com/office/drawing/2014/main" val="1001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DEXA or DXA</a:t>
                      </a:r>
                      <a:endParaRPr lang="en-US" sz="20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Dual-energy x-ray absorptiometry</a:t>
                      </a:r>
                      <a:endParaRPr lang="en-US" sz="2000" dirty="0">
                        <a:ea typeface="ＭＳ Ｐゴシック" charset="0"/>
                      </a:endParaRPr>
                    </a:p>
                  </a:txBody>
                  <a:tcPr/>
                </a:tc>
                <a:extLst>
                  <a:ext uri="{0D108BD9-81ED-4DB2-BD59-A6C34878D82A}">
                    <a16:rowId xmlns:a16="http://schemas.microsoft.com/office/drawing/2014/main" val="1001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DMARD</a:t>
                      </a:r>
                      <a:endParaRPr lang="en-US" sz="2000" dirty="0">
                        <a:ea typeface="ＭＳ Ｐゴシック"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t>Disease-modifying </a:t>
                      </a:r>
                      <a:r>
                        <a:rPr lang="en-US" sz="2000" dirty="0" err="1"/>
                        <a:t>antirheumatic</a:t>
                      </a:r>
                      <a:r>
                        <a:rPr lang="en-US" sz="2000" dirty="0"/>
                        <a:t> drug</a:t>
                      </a:r>
                      <a:endParaRPr lang="en-US" sz="2000" dirty="0">
                        <a:ea typeface="ＭＳ Ｐゴシック" charset="0"/>
                      </a:endParaRPr>
                    </a:p>
                  </a:txBody>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5640880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a:t>
            </a:r>
            <a:r>
              <a:rPr lang="en-US" sz="4000" dirty="0"/>
              <a:t>(Slide 3 of 6)</a:t>
            </a:r>
          </a:p>
        </p:txBody>
      </p:sp>
      <p:graphicFrame>
        <p:nvGraphicFramePr>
          <p:cNvPr id="9" name="Content Placeholder 8" descr="Group 2 of 3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773230742"/>
              </p:ext>
            </p:extLst>
          </p:nvPr>
        </p:nvGraphicFramePr>
        <p:xfrm>
          <a:off x="3581400" y="1249680"/>
          <a:ext cx="1981200" cy="515112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200" dirty="0"/>
                        <a:t>DO</a:t>
                      </a:r>
                      <a:endParaRPr lang="en-US" sz="2200" dirty="0"/>
                    </a:p>
                  </a:txBody>
                  <a:tcPr/>
                </a:tc>
                <a:extLst>
                  <a:ext uri="{0D108BD9-81ED-4DB2-BD59-A6C34878D82A}">
                    <a16:rowId xmlns:a16="http://schemas.microsoft.com/office/drawing/2014/main" val="10001"/>
                  </a:ext>
                </a:extLst>
              </a:tr>
              <a:tr h="370840">
                <a:tc>
                  <a:txBody>
                    <a:bodyPr/>
                    <a:lstStyle/>
                    <a:p>
                      <a:r>
                        <a:rPr lang="en-US" altLang="en-US" sz="2200" dirty="0"/>
                        <a:t>DTRs</a:t>
                      </a:r>
                      <a:endParaRPr lang="en-US" sz="2200" dirty="0"/>
                    </a:p>
                  </a:txBody>
                  <a:tcPr/>
                </a:tc>
                <a:extLst>
                  <a:ext uri="{0D108BD9-81ED-4DB2-BD59-A6C34878D82A}">
                    <a16:rowId xmlns:a16="http://schemas.microsoft.com/office/drawing/2014/main" val="10002"/>
                  </a:ext>
                </a:extLst>
              </a:tr>
              <a:tr h="370840">
                <a:tc>
                  <a:txBody>
                    <a:bodyPr/>
                    <a:lstStyle/>
                    <a:p>
                      <a:r>
                        <a:rPr lang="en-US" altLang="en-US" sz="2200" dirty="0"/>
                        <a:t>EMG</a:t>
                      </a:r>
                      <a:endParaRPr lang="en-US" sz="22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ESR (</a:t>
                      </a:r>
                      <a:r>
                        <a:rPr lang="en-US" altLang="en-US" sz="2200" dirty="0" err="1"/>
                        <a:t>sed</a:t>
                      </a:r>
                      <a:r>
                        <a:rPr lang="en-US" altLang="en-US" sz="2200" dirty="0"/>
                        <a:t> rate)</a:t>
                      </a:r>
                    </a:p>
                  </a:txBody>
                  <a:tcPr/>
                </a:tc>
                <a:extLst>
                  <a:ext uri="{0D108BD9-81ED-4DB2-BD59-A6C34878D82A}">
                    <a16:rowId xmlns:a16="http://schemas.microsoft.com/office/drawing/2014/main" val="10004"/>
                  </a:ext>
                </a:extLst>
              </a:tr>
              <a:tr h="370840">
                <a:tc>
                  <a:txBody>
                    <a:bodyPr/>
                    <a:lstStyle/>
                    <a:p>
                      <a:r>
                        <a:rPr lang="en-US" altLang="en-US" sz="2200" dirty="0"/>
                        <a:t>HNP</a:t>
                      </a:r>
                      <a:endParaRPr lang="en-US" sz="2200" dirty="0"/>
                    </a:p>
                  </a:txBody>
                  <a:tcPr/>
                </a:tc>
                <a:extLst>
                  <a:ext uri="{0D108BD9-81ED-4DB2-BD59-A6C34878D82A}">
                    <a16:rowId xmlns:a16="http://schemas.microsoft.com/office/drawing/2014/main" val="10005"/>
                  </a:ext>
                </a:extLst>
              </a:tr>
              <a:tr h="370840">
                <a:tc>
                  <a:txBody>
                    <a:bodyPr/>
                    <a:lstStyle/>
                    <a:p>
                      <a:r>
                        <a:rPr lang="en-US" altLang="en-US" sz="2200" dirty="0"/>
                        <a:t>IM</a:t>
                      </a:r>
                      <a:endParaRPr lang="en-US" sz="2200" dirty="0"/>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L1 to L5</a:t>
                      </a:r>
                    </a:p>
                  </a:txBody>
                  <a:tcPr/>
                </a:tc>
                <a:extLst>
                  <a:ext uri="{0D108BD9-81ED-4DB2-BD59-A6C34878D82A}">
                    <a16:rowId xmlns:a16="http://schemas.microsoft.com/office/drawing/2014/main" val="10007"/>
                  </a:ext>
                </a:extLst>
              </a:tr>
              <a:tr h="370840">
                <a:tc>
                  <a:txBody>
                    <a:bodyPr/>
                    <a:lstStyle/>
                    <a:p>
                      <a:r>
                        <a:rPr lang="en-US" altLang="en-US" sz="2200" dirty="0"/>
                        <a:t>NSAID</a:t>
                      </a:r>
                      <a:endParaRPr lang="en-US" sz="2200" dirty="0"/>
                    </a:p>
                  </a:txBody>
                  <a:tcPr/>
                </a:tc>
                <a:extLst>
                  <a:ext uri="{0D108BD9-81ED-4DB2-BD59-A6C34878D82A}">
                    <a16:rowId xmlns:a16="http://schemas.microsoft.com/office/drawing/2014/main" val="10008"/>
                  </a:ext>
                </a:extLst>
              </a:tr>
              <a:tr h="370840">
                <a:tc>
                  <a:txBody>
                    <a:bodyPr/>
                    <a:lstStyle/>
                    <a:p>
                      <a:r>
                        <a:rPr lang="en-US" altLang="en-US" sz="2200" dirty="0"/>
                        <a:t>OA</a:t>
                      </a:r>
                      <a:endParaRPr lang="en-US" sz="2200" dirty="0"/>
                    </a:p>
                  </a:txBody>
                  <a:tcPr/>
                </a:tc>
                <a:extLst>
                  <a:ext uri="{0D108BD9-81ED-4DB2-BD59-A6C34878D82A}">
                    <a16:rowId xmlns:a16="http://schemas.microsoft.com/office/drawing/2014/main" val="10009"/>
                  </a:ext>
                </a:extLst>
              </a:tr>
              <a:tr h="370840">
                <a:tc>
                  <a:txBody>
                    <a:bodyPr/>
                    <a:lstStyle/>
                    <a:p>
                      <a:r>
                        <a:rPr lang="en-US" altLang="en-US" sz="2200" dirty="0"/>
                        <a:t>ORIF</a:t>
                      </a:r>
                      <a:endParaRPr lang="en-US" sz="2200" dirty="0"/>
                    </a:p>
                  </a:txBody>
                  <a:tcPr/>
                </a:tc>
                <a:extLst>
                  <a:ext uri="{0D108BD9-81ED-4DB2-BD59-A6C34878D82A}">
                    <a16:rowId xmlns:a16="http://schemas.microsoft.com/office/drawing/2014/main" val="10010"/>
                  </a:ext>
                </a:extLst>
              </a:tr>
              <a:tr h="370840">
                <a:tc>
                  <a:txBody>
                    <a:bodyPr/>
                    <a:lstStyle/>
                    <a:p>
                      <a:r>
                        <a:rPr lang="en-US" altLang="en-US" sz="2200" dirty="0" err="1"/>
                        <a:t>ortho</a:t>
                      </a:r>
                      <a:endParaRPr lang="en-US" sz="2200"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98442117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a:t>
            </a:r>
            <a:r>
              <a:rPr lang="en-US" sz="4000" dirty="0"/>
              <a:t>(Slide 4 of 6)</a:t>
            </a:r>
          </a:p>
        </p:txBody>
      </p:sp>
      <p:graphicFrame>
        <p:nvGraphicFramePr>
          <p:cNvPr id="9" name="Content Placeholder 8" descr="Group 2 of 3 Abbreviations with corresponding meanings."/>
          <p:cNvGraphicFramePr>
            <a:graphicFrameLocks noGrp="1"/>
          </p:cNvGraphicFramePr>
          <p:nvPr>
            <p:ph idx="1"/>
            <p:extLst>
              <p:ext uri="{D42A27DB-BD31-4B8C-83A1-F6EECF244321}">
                <p14:modId xmlns:p14="http://schemas.microsoft.com/office/powerpoint/2010/main" val="2497250003"/>
              </p:ext>
            </p:extLst>
          </p:nvPr>
        </p:nvGraphicFramePr>
        <p:xfrm>
          <a:off x="457200" y="1219200"/>
          <a:ext cx="8229600" cy="515112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200" dirty="0"/>
                        <a:t>DO</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Doctor of osteopathy</a:t>
                      </a:r>
                    </a:p>
                  </a:txBody>
                  <a:tcPr/>
                </a:tc>
                <a:extLst>
                  <a:ext uri="{0D108BD9-81ED-4DB2-BD59-A6C34878D82A}">
                    <a16:rowId xmlns:a16="http://schemas.microsoft.com/office/drawing/2014/main" val="10001"/>
                  </a:ext>
                </a:extLst>
              </a:tr>
              <a:tr h="370840">
                <a:tc>
                  <a:txBody>
                    <a:bodyPr/>
                    <a:lstStyle/>
                    <a:p>
                      <a:r>
                        <a:rPr lang="en-US" altLang="en-US" sz="2200" dirty="0"/>
                        <a:t>DTRs</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Deep tendon reflexes</a:t>
                      </a:r>
                    </a:p>
                  </a:txBody>
                  <a:tcPr/>
                </a:tc>
                <a:extLst>
                  <a:ext uri="{0D108BD9-81ED-4DB2-BD59-A6C34878D82A}">
                    <a16:rowId xmlns:a16="http://schemas.microsoft.com/office/drawing/2014/main" val="10002"/>
                  </a:ext>
                </a:extLst>
              </a:tr>
              <a:tr h="370840">
                <a:tc>
                  <a:txBody>
                    <a:bodyPr/>
                    <a:lstStyle/>
                    <a:p>
                      <a:r>
                        <a:rPr lang="en-US" altLang="en-US" sz="2200" dirty="0"/>
                        <a:t>EMG</a:t>
                      </a:r>
                      <a:endParaRPr lang="en-US" sz="2200" dirty="0"/>
                    </a:p>
                  </a:txBody>
                  <a:tcPr/>
                </a:tc>
                <a:tc>
                  <a:txBody>
                    <a:bodyPr/>
                    <a:lstStyle/>
                    <a:p>
                      <a:r>
                        <a:rPr lang="en-US" altLang="en-US" sz="2200" dirty="0"/>
                        <a:t>Electromyography</a:t>
                      </a:r>
                      <a:endParaRPr lang="en-US" sz="2200" dirty="0"/>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ESR (</a:t>
                      </a:r>
                      <a:r>
                        <a:rPr lang="en-US" altLang="en-US" sz="2200" dirty="0" err="1"/>
                        <a:t>sed</a:t>
                      </a:r>
                      <a:r>
                        <a:rPr lang="en-US" altLang="en-US" sz="2200" dirty="0"/>
                        <a:t> rate)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Erythrocyte sedimentation rate</a:t>
                      </a:r>
                    </a:p>
                  </a:txBody>
                  <a:tcPr/>
                </a:tc>
                <a:extLst>
                  <a:ext uri="{0D108BD9-81ED-4DB2-BD59-A6C34878D82A}">
                    <a16:rowId xmlns:a16="http://schemas.microsoft.com/office/drawing/2014/main" val="10004"/>
                  </a:ext>
                </a:extLst>
              </a:tr>
              <a:tr h="370840">
                <a:tc>
                  <a:txBody>
                    <a:bodyPr/>
                    <a:lstStyle/>
                    <a:p>
                      <a:r>
                        <a:rPr lang="en-US" altLang="en-US" sz="2200" dirty="0"/>
                        <a:t>HNP</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Herniated nucleus </a:t>
                      </a:r>
                      <a:r>
                        <a:rPr lang="en-US" altLang="en-US" sz="2200" dirty="0" err="1"/>
                        <a:t>pulposus</a:t>
                      </a:r>
                      <a:endParaRPr lang="en-US" altLang="en-US" sz="2200" dirty="0"/>
                    </a:p>
                  </a:txBody>
                  <a:tcPr/>
                </a:tc>
                <a:extLst>
                  <a:ext uri="{0D108BD9-81ED-4DB2-BD59-A6C34878D82A}">
                    <a16:rowId xmlns:a16="http://schemas.microsoft.com/office/drawing/2014/main" val="10005"/>
                  </a:ext>
                </a:extLst>
              </a:tr>
              <a:tr h="370840">
                <a:tc>
                  <a:txBody>
                    <a:bodyPr/>
                    <a:lstStyle/>
                    <a:p>
                      <a:r>
                        <a:rPr lang="en-US" altLang="en-US" sz="2200" dirty="0"/>
                        <a:t>IM</a:t>
                      </a:r>
                      <a:endParaRPr lang="en-US" sz="2200" dirty="0"/>
                    </a:p>
                  </a:txBody>
                  <a:tcPr/>
                </a:tc>
                <a:tc>
                  <a:txBody>
                    <a:bodyPr/>
                    <a:lstStyle/>
                    <a:p>
                      <a:r>
                        <a:rPr lang="en-US" altLang="en-US" sz="2200" dirty="0"/>
                        <a:t>Intramuscular</a:t>
                      </a:r>
                      <a:endParaRPr lang="en-US" sz="2200" dirty="0"/>
                    </a:p>
                  </a:txBody>
                  <a:tcPr/>
                </a:tc>
                <a:extLst>
                  <a:ext uri="{0D108BD9-81ED-4DB2-BD59-A6C34878D82A}">
                    <a16:rowId xmlns:a16="http://schemas.microsoft.com/office/drawing/2014/main" val="1000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L1 to L5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Lumbar vertebrae</a:t>
                      </a:r>
                    </a:p>
                  </a:txBody>
                  <a:tcPr/>
                </a:tc>
                <a:extLst>
                  <a:ext uri="{0D108BD9-81ED-4DB2-BD59-A6C34878D82A}">
                    <a16:rowId xmlns:a16="http://schemas.microsoft.com/office/drawing/2014/main" val="10007"/>
                  </a:ext>
                </a:extLst>
              </a:tr>
              <a:tr h="370840">
                <a:tc>
                  <a:txBody>
                    <a:bodyPr/>
                    <a:lstStyle/>
                    <a:p>
                      <a:r>
                        <a:rPr lang="en-US" altLang="en-US" sz="2200" dirty="0"/>
                        <a:t>NSAID</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err="1"/>
                        <a:t>Nonsteroidal</a:t>
                      </a:r>
                      <a:r>
                        <a:rPr lang="en-US" altLang="en-US" sz="2200" dirty="0"/>
                        <a:t> anti-inflammatory drug</a:t>
                      </a:r>
                    </a:p>
                  </a:txBody>
                  <a:tcPr/>
                </a:tc>
                <a:extLst>
                  <a:ext uri="{0D108BD9-81ED-4DB2-BD59-A6C34878D82A}">
                    <a16:rowId xmlns:a16="http://schemas.microsoft.com/office/drawing/2014/main" val="10008"/>
                  </a:ext>
                </a:extLst>
              </a:tr>
              <a:tr h="370840">
                <a:tc>
                  <a:txBody>
                    <a:bodyPr/>
                    <a:lstStyle/>
                    <a:p>
                      <a:r>
                        <a:rPr lang="en-US" altLang="en-US" sz="2200" dirty="0"/>
                        <a:t>OA</a:t>
                      </a:r>
                      <a:endParaRPr lang="en-US" sz="2200" dirty="0"/>
                    </a:p>
                  </a:txBody>
                  <a:tcPr/>
                </a:tc>
                <a:tc>
                  <a:txBody>
                    <a:bodyPr/>
                    <a:lstStyle/>
                    <a:p>
                      <a:r>
                        <a:rPr lang="en-US" altLang="en-US" sz="2200" dirty="0"/>
                        <a:t>Osteoarthritis</a:t>
                      </a:r>
                      <a:endParaRPr lang="en-US" sz="2200" dirty="0"/>
                    </a:p>
                  </a:txBody>
                  <a:tcPr/>
                </a:tc>
                <a:extLst>
                  <a:ext uri="{0D108BD9-81ED-4DB2-BD59-A6C34878D82A}">
                    <a16:rowId xmlns:a16="http://schemas.microsoft.com/office/drawing/2014/main" val="10009"/>
                  </a:ext>
                </a:extLst>
              </a:tr>
              <a:tr h="370840">
                <a:tc>
                  <a:txBody>
                    <a:bodyPr/>
                    <a:lstStyle/>
                    <a:p>
                      <a:r>
                        <a:rPr lang="en-US" altLang="en-US" sz="2200" dirty="0"/>
                        <a:t>ORIF</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Open reduction (of fracture)/ internal fixation</a:t>
                      </a:r>
                    </a:p>
                  </a:txBody>
                  <a:tcPr/>
                </a:tc>
                <a:extLst>
                  <a:ext uri="{0D108BD9-81ED-4DB2-BD59-A6C34878D82A}">
                    <a16:rowId xmlns:a16="http://schemas.microsoft.com/office/drawing/2014/main" val="10010"/>
                  </a:ext>
                </a:extLst>
              </a:tr>
              <a:tr h="370840">
                <a:tc>
                  <a:txBody>
                    <a:bodyPr/>
                    <a:lstStyle/>
                    <a:p>
                      <a:r>
                        <a:rPr lang="en-US" altLang="en-US" sz="2200" dirty="0" err="1"/>
                        <a:t>ortho</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Orthopedics (or </a:t>
                      </a:r>
                      <a:r>
                        <a:rPr lang="en-US" altLang="en-US" sz="2200" dirty="0" err="1"/>
                        <a:t>orthopaedics</a:t>
                      </a:r>
                      <a:r>
                        <a:rPr lang="en-US" altLang="en-US" sz="2200" dirty="0"/>
                        <a:t>)</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82282747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a:t>
            </a:r>
            <a:r>
              <a:rPr lang="en-US" sz="4000" dirty="0"/>
              <a:t>(Slide 5 of 6)</a:t>
            </a:r>
          </a:p>
        </p:txBody>
      </p:sp>
      <p:graphicFrame>
        <p:nvGraphicFramePr>
          <p:cNvPr id="9" name="Content Placeholder 8" descr="Group 3 of 3 Abbreviations.  The following slide lists the abbreviaitons again with their corresponding meanings."/>
          <p:cNvGraphicFramePr>
            <a:graphicFrameLocks noGrp="1"/>
          </p:cNvGraphicFramePr>
          <p:nvPr>
            <p:ph idx="1"/>
            <p:extLst>
              <p:ext uri="{D42A27DB-BD31-4B8C-83A1-F6EECF244321}">
                <p14:modId xmlns:p14="http://schemas.microsoft.com/office/powerpoint/2010/main" val="517094451"/>
              </p:ext>
            </p:extLst>
          </p:nvPr>
        </p:nvGraphicFramePr>
        <p:xfrm>
          <a:off x="3581400" y="1295400"/>
          <a:ext cx="1981200" cy="509016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tblGrid>
              <a:tr h="370840">
                <a:tc>
                  <a:txBody>
                    <a:bodyPr/>
                    <a:lstStyle/>
                    <a:p>
                      <a:r>
                        <a:rPr lang="en-US" sz="2400" dirty="0"/>
                        <a:t>Prefix</a:t>
                      </a:r>
                    </a:p>
                  </a:txBody>
                  <a:tcPr/>
                </a:tc>
                <a:extLst>
                  <a:ext uri="{0D108BD9-81ED-4DB2-BD59-A6C34878D82A}">
                    <a16:rowId xmlns:a16="http://schemas.microsoft.com/office/drawing/2014/main" val="10000"/>
                  </a:ext>
                </a:extLst>
              </a:tr>
              <a:tr h="370840">
                <a:tc>
                  <a:txBody>
                    <a:bodyPr/>
                    <a:lstStyle/>
                    <a:p>
                      <a:r>
                        <a:rPr lang="en-US" altLang="en-US" sz="2200" dirty="0"/>
                        <a:t>OT</a:t>
                      </a:r>
                      <a:endParaRPr lang="en-US" sz="2200" dirty="0"/>
                    </a:p>
                  </a:txBody>
                  <a:tcPr/>
                </a:tc>
                <a:extLst>
                  <a:ext uri="{0D108BD9-81ED-4DB2-BD59-A6C34878D82A}">
                    <a16:rowId xmlns:a16="http://schemas.microsoft.com/office/drawing/2014/main" val="10001"/>
                  </a:ext>
                </a:extLst>
              </a:tr>
              <a:tr h="370840">
                <a:tc>
                  <a:txBody>
                    <a:bodyPr/>
                    <a:lstStyle/>
                    <a:p>
                      <a:r>
                        <a:rPr lang="en-US" altLang="en-US" sz="2200" dirty="0"/>
                        <a:t>P</a:t>
                      </a:r>
                      <a:endParaRPr lang="en-US" sz="2200" dirty="0"/>
                    </a:p>
                  </a:txBody>
                  <a:tcPr/>
                </a:tc>
                <a:extLst>
                  <a:ext uri="{0D108BD9-81ED-4DB2-BD59-A6C34878D82A}">
                    <a16:rowId xmlns:a16="http://schemas.microsoft.com/office/drawing/2014/main" val="10002"/>
                  </a:ext>
                </a:extLst>
              </a:tr>
              <a:tr h="370840">
                <a:tc>
                  <a:txBody>
                    <a:bodyPr/>
                    <a:lstStyle/>
                    <a:p>
                      <a:r>
                        <a:rPr lang="en-US" altLang="en-US" sz="2200" dirty="0"/>
                        <a:t>PT</a:t>
                      </a:r>
                      <a:endParaRPr lang="en-US" sz="2200" dirty="0"/>
                    </a:p>
                  </a:txBody>
                  <a:tcPr/>
                </a:tc>
                <a:extLst>
                  <a:ext uri="{0D108BD9-81ED-4DB2-BD59-A6C34878D82A}">
                    <a16:rowId xmlns:a16="http://schemas.microsoft.com/office/drawing/2014/main" val="10003"/>
                  </a:ext>
                </a:extLst>
              </a:tr>
              <a:tr h="370840">
                <a:tc>
                  <a:txBody>
                    <a:bodyPr/>
                    <a:lstStyle/>
                    <a:p>
                      <a:r>
                        <a:rPr lang="en-US" altLang="en-US" sz="2200" dirty="0"/>
                        <a:t>RA</a:t>
                      </a:r>
                      <a:endParaRPr lang="en-US" sz="2200" dirty="0"/>
                    </a:p>
                  </a:txBody>
                  <a:tcPr/>
                </a:tc>
                <a:extLst>
                  <a:ext uri="{0D108BD9-81ED-4DB2-BD59-A6C34878D82A}">
                    <a16:rowId xmlns:a16="http://schemas.microsoft.com/office/drawing/2014/main" val="10004"/>
                  </a:ext>
                </a:extLst>
              </a:tr>
              <a:tr h="370840">
                <a:tc>
                  <a:txBody>
                    <a:bodyPr/>
                    <a:lstStyle/>
                    <a:p>
                      <a:r>
                        <a:rPr lang="en-US" altLang="en-US" sz="2200" dirty="0"/>
                        <a:t>RF</a:t>
                      </a:r>
                      <a:endParaRPr lang="en-US" sz="2200" dirty="0"/>
                    </a:p>
                  </a:txBody>
                  <a:tcPr/>
                </a:tc>
                <a:extLst>
                  <a:ext uri="{0D108BD9-81ED-4DB2-BD59-A6C34878D82A}">
                    <a16:rowId xmlns:a16="http://schemas.microsoft.com/office/drawing/2014/main" val="10005"/>
                  </a:ext>
                </a:extLst>
              </a:tr>
              <a:tr h="370840">
                <a:tc>
                  <a:txBody>
                    <a:bodyPr/>
                    <a:lstStyle/>
                    <a:p>
                      <a:r>
                        <a:rPr lang="en-US" altLang="en-US" sz="2200" dirty="0"/>
                        <a:t>ROM</a:t>
                      </a:r>
                      <a:endParaRPr lang="en-US" sz="2200" dirty="0"/>
                    </a:p>
                  </a:txBody>
                  <a:tcPr/>
                </a:tc>
                <a:extLst>
                  <a:ext uri="{0D108BD9-81ED-4DB2-BD59-A6C34878D82A}">
                    <a16:rowId xmlns:a16="http://schemas.microsoft.com/office/drawing/2014/main" val="10006"/>
                  </a:ext>
                </a:extLst>
              </a:tr>
              <a:tr h="370840">
                <a:tc>
                  <a:txBody>
                    <a:bodyPr/>
                    <a:lstStyle/>
                    <a:p>
                      <a:r>
                        <a:rPr lang="en-US" altLang="en-US" sz="2200" dirty="0"/>
                        <a:t>SLE</a:t>
                      </a:r>
                      <a:endParaRPr lang="en-US" sz="2200" dirty="0"/>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T1 to T12</a:t>
                      </a:r>
                    </a:p>
                  </a:txBody>
                  <a:tcPr/>
                </a:tc>
                <a:extLst>
                  <a:ext uri="{0D108BD9-81ED-4DB2-BD59-A6C34878D82A}">
                    <a16:rowId xmlns:a16="http://schemas.microsoft.com/office/drawing/2014/main" val="10008"/>
                  </a:ext>
                </a:extLst>
              </a:tr>
              <a:tr h="370840">
                <a:tc>
                  <a:txBody>
                    <a:bodyPr/>
                    <a:lstStyle/>
                    <a:p>
                      <a:r>
                        <a:rPr lang="en-US" altLang="en-US" sz="2200" dirty="0"/>
                        <a:t>TKR</a:t>
                      </a:r>
                      <a:endParaRPr lang="en-US" sz="2200" dirty="0"/>
                    </a:p>
                  </a:txBody>
                  <a:tcPr/>
                </a:tc>
                <a:extLst>
                  <a:ext uri="{0D108BD9-81ED-4DB2-BD59-A6C34878D82A}">
                    <a16:rowId xmlns:a16="http://schemas.microsoft.com/office/drawing/2014/main" val="10009"/>
                  </a:ext>
                </a:extLst>
              </a:tr>
              <a:tr h="370840">
                <a:tc>
                  <a:txBody>
                    <a:bodyPr/>
                    <a:lstStyle/>
                    <a:p>
                      <a:r>
                        <a:rPr lang="en-US" altLang="en-US" sz="2000" dirty="0"/>
                        <a:t>THR</a:t>
                      </a:r>
                      <a:endParaRPr lang="en-US" sz="2200" dirty="0"/>
                    </a:p>
                  </a:txBody>
                  <a:tcPr/>
                </a:tc>
                <a:extLst>
                  <a:ext uri="{0D108BD9-81ED-4DB2-BD59-A6C34878D82A}">
                    <a16:rowId xmlns:a16="http://schemas.microsoft.com/office/drawing/2014/main" val="10010"/>
                  </a:ext>
                </a:extLst>
              </a:tr>
              <a:tr h="370840">
                <a:tc>
                  <a:txBody>
                    <a:bodyPr/>
                    <a:lstStyle/>
                    <a:p>
                      <a:r>
                        <a:rPr lang="en-US" altLang="en-US" sz="2000" dirty="0"/>
                        <a:t>TMJ</a:t>
                      </a:r>
                      <a:endParaRPr lang="en-US" sz="2200" dirty="0"/>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16974823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Abbreviations </a:t>
            </a:r>
            <a:r>
              <a:rPr lang="en-US" sz="4000" dirty="0"/>
              <a:t>(Slide 6 of 6)</a:t>
            </a:r>
          </a:p>
        </p:txBody>
      </p:sp>
      <p:graphicFrame>
        <p:nvGraphicFramePr>
          <p:cNvPr id="9" name="Content Placeholder 8" descr="Group 3 of 3 Abbreviations with corresponding meanings."/>
          <p:cNvGraphicFramePr>
            <a:graphicFrameLocks noGrp="1"/>
          </p:cNvGraphicFramePr>
          <p:nvPr>
            <p:ph idx="1"/>
            <p:extLst>
              <p:ext uri="{D42A27DB-BD31-4B8C-83A1-F6EECF244321}">
                <p14:modId xmlns:p14="http://schemas.microsoft.com/office/powerpoint/2010/main" val="3375769487"/>
              </p:ext>
            </p:extLst>
          </p:nvPr>
        </p:nvGraphicFramePr>
        <p:xfrm>
          <a:off x="457200" y="1295400"/>
          <a:ext cx="8229600" cy="5090160"/>
        </p:xfrm>
        <a:graphic>
          <a:graphicData uri="http://schemas.openxmlformats.org/drawingml/2006/table">
            <a:tbl>
              <a:tblPr firstRow="1" bandRow="1">
                <a:tableStyleId>{C083E6E3-FA7D-4D7B-A595-EF9225AFEA82}</a:tableStyleId>
              </a:tblPr>
              <a:tblGrid>
                <a:gridCol w="19812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370840">
                <a:tc>
                  <a:txBody>
                    <a:bodyPr/>
                    <a:lstStyle/>
                    <a:p>
                      <a:r>
                        <a:rPr lang="en-US" sz="2400" dirty="0"/>
                        <a:t>Prefix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200" dirty="0"/>
                        <a:t>OT</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Occupational therapy</a:t>
                      </a:r>
                    </a:p>
                  </a:txBody>
                  <a:tcPr/>
                </a:tc>
                <a:extLst>
                  <a:ext uri="{0D108BD9-81ED-4DB2-BD59-A6C34878D82A}">
                    <a16:rowId xmlns:a16="http://schemas.microsoft.com/office/drawing/2014/main" val="10001"/>
                  </a:ext>
                </a:extLst>
              </a:tr>
              <a:tr h="370840">
                <a:tc>
                  <a:txBody>
                    <a:bodyPr/>
                    <a:lstStyle/>
                    <a:p>
                      <a:r>
                        <a:rPr lang="en-US" altLang="en-US" sz="2200" dirty="0"/>
                        <a:t>P</a:t>
                      </a:r>
                      <a:endParaRPr lang="en-US" sz="2200" dirty="0"/>
                    </a:p>
                  </a:txBody>
                  <a:tcPr/>
                </a:tc>
                <a:tc>
                  <a:txBody>
                    <a:bodyPr/>
                    <a:lstStyle/>
                    <a:p>
                      <a:r>
                        <a:rPr lang="en-US" altLang="en-US" sz="2000" dirty="0"/>
                        <a:t>Phosphorus</a:t>
                      </a:r>
                      <a:endParaRPr lang="en-US" sz="2200" dirty="0"/>
                    </a:p>
                  </a:txBody>
                  <a:tcPr/>
                </a:tc>
                <a:extLst>
                  <a:ext uri="{0D108BD9-81ED-4DB2-BD59-A6C34878D82A}">
                    <a16:rowId xmlns:a16="http://schemas.microsoft.com/office/drawing/2014/main" val="10002"/>
                  </a:ext>
                </a:extLst>
              </a:tr>
              <a:tr h="370840">
                <a:tc>
                  <a:txBody>
                    <a:bodyPr/>
                    <a:lstStyle/>
                    <a:p>
                      <a:r>
                        <a:rPr lang="en-US" altLang="en-US" sz="2200" dirty="0"/>
                        <a:t>PT</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Physical therapy</a:t>
                      </a:r>
                    </a:p>
                  </a:txBody>
                  <a:tcPr/>
                </a:tc>
                <a:extLst>
                  <a:ext uri="{0D108BD9-81ED-4DB2-BD59-A6C34878D82A}">
                    <a16:rowId xmlns:a16="http://schemas.microsoft.com/office/drawing/2014/main" val="10003"/>
                  </a:ext>
                </a:extLst>
              </a:tr>
              <a:tr h="370840">
                <a:tc>
                  <a:txBody>
                    <a:bodyPr/>
                    <a:lstStyle/>
                    <a:p>
                      <a:r>
                        <a:rPr lang="en-US" altLang="en-US" sz="2200" dirty="0"/>
                        <a:t>RA</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Rheumatoid arthritis</a:t>
                      </a:r>
                    </a:p>
                  </a:txBody>
                  <a:tcPr/>
                </a:tc>
                <a:extLst>
                  <a:ext uri="{0D108BD9-81ED-4DB2-BD59-A6C34878D82A}">
                    <a16:rowId xmlns:a16="http://schemas.microsoft.com/office/drawing/2014/main" val="10004"/>
                  </a:ext>
                </a:extLst>
              </a:tr>
              <a:tr h="370840">
                <a:tc>
                  <a:txBody>
                    <a:bodyPr/>
                    <a:lstStyle/>
                    <a:p>
                      <a:r>
                        <a:rPr lang="en-US" altLang="en-US" sz="2200" dirty="0"/>
                        <a:t>RF</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Rheumatoid factor</a:t>
                      </a:r>
                    </a:p>
                  </a:txBody>
                  <a:tcPr/>
                </a:tc>
                <a:extLst>
                  <a:ext uri="{0D108BD9-81ED-4DB2-BD59-A6C34878D82A}">
                    <a16:rowId xmlns:a16="http://schemas.microsoft.com/office/drawing/2014/main" val="10005"/>
                  </a:ext>
                </a:extLst>
              </a:tr>
              <a:tr h="370840">
                <a:tc>
                  <a:txBody>
                    <a:bodyPr/>
                    <a:lstStyle/>
                    <a:p>
                      <a:r>
                        <a:rPr lang="en-US" altLang="en-US" sz="2200" dirty="0"/>
                        <a:t>ROM</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Range of motion</a:t>
                      </a:r>
                    </a:p>
                  </a:txBody>
                  <a:tcPr/>
                </a:tc>
                <a:extLst>
                  <a:ext uri="{0D108BD9-81ED-4DB2-BD59-A6C34878D82A}">
                    <a16:rowId xmlns:a16="http://schemas.microsoft.com/office/drawing/2014/main" val="10006"/>
                  </a:ext>
                </a:extLst>
              </a:tr>
              <a:tr h="370840">
                <a:tc>
                  <a:txBody>
                    <a:bodyPr/>
                    <a:lstStyle/>
                    <a:p>
                      <a:r>
                        <a:rPr lang="en-US" altLang="en-US" sz="2200" dirty="0"/>
                        <a:t>SLE</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Systemic lupus </a:t>
                      </a:r>
                      <a:r>
                        <a:rPr lang="en-US" altLang="en-US" sz="2000" dirty="0" err="1"/>
                        <a:t>erythematosus</a:t>
                      </a:r>
                      <a:endParaRPr lang="en-US" altLang="en-US" sz="2000" dirty="0"/>
                    </a:p>
                  </a:txBody>
                  <a:tcPr/>
                </a:tc>
                <a:extLst>
                  <a:ext uri="{0D108BD9-81ED-4DB2-BD59-A6C34878D82A}">
                    <a16:rowId xmlns:a16="http://schemas.microsoft.com/office/drawing/2014/main" val="10007"/>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T1 to T12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Thoracic vertebrae</a:t>
                      </a:r>
                    </a:p>
                  </a:txBody>
                  <a:tcPr/>
                </a:tc>
                <a:extLst>
                  <a:ext uri="{0D108BD9-81ED-4DB2-BD59-A6C34878D82A}">
                    <a16:rowId xmlns:a16="http://schemas.microsoft.com/office/drawing/2014/main" val="10008"/>
                  </a:ext>
                </a:extLst>
              </a:tr>
              <a:tr h="370840">
                <a:tc>
                  <a:txBody>
                    <a:bodyPr/>
                    <a:lstStyle/>
                    <a:p>
                      <a:r>
                        <a:rPr lang="en-US" altLang="en-US" sz="2200" dirty="0"/>
                        <a:t>TKR</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Total knee replacement/</a:t>
                      </a:r>
                      <a:r>
                        <a:rPr lang="en-US" altLang="en-US" sz="2000" dirty="0" err="1"/>
                        <a:t>arthroplasty</a:t>
                      </a:r>
                      <a:endParaRPr lang="en-US" altLang="en-US" sz="2000" dirty="0"/>
                    </a:p>
                  </a:txBody>
                  <a:tcPr/>
                </a:tc>
                <a:extLst>
                  <a:ext uri="{0D108BD9-81ED-4DB2-BD59-A6C34878D82A}">
                    <a16:rowId xmlns:a16="http://schemas.microsoft.com/office/drawing/2014/main" val="10009"/>
                  </a:ext>
                </a:extLst>
              </a:tr>
              <a:tr h="370840">
                <a:tc>
                  <a:txBody>
                    <a:bodyPr/>
                    <a:lstStyle/>
                    <a:p>
                      <a:r>
                        <a:rPr lang="en-US" altLang="en-US" sz="2000" dirty="0"/>
                        <a:t>THR</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Total hip replacement/</a:t>
                      </a:r>
                      <a:r>
                        <a:rPr lang="en-US" altLang="en-US" sz="2000" dirty="0" err="1"/>
                        <a:t>arthroplasty</a:t>
                      </a:r>
                      <a:endParaRPr lang="en-US" altLang="en-US" sz="2000" dirty="0"/>
                    </a:p>
                  </a:txBody>
                  <a:tcPr/>
                </a:tc>
                <a:extLst>
                  <a:ext uri="{0D108BD9-81ED-4DB2-BD59-A6C34878D82A}">
                    <a16:rowId xmlns:a16="http://schemas.microsoft.com/office/drawing/2014/main" val="10010"/>
                  </a:ext>
                </a:extLst>
              </a:tr>
              <a:tr h="370840">
                <a:tc>
                  <a:txBody>
                    <a:bodyPr/>
                    <a:lstStyle/>
                    <a:p>
                      <a:r>
                        <a:rPr lang="en-US" altLang="en-US" sz="2000" dirty="0"/>
                        <a:t>TMJ</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err="1"/>
                        <a:t>Temporomandibular</a:t>
                      </a:r>
                      <a:r>
                        <a:rPr lang="en-US" altLang="en-US" sz="2000" dirty="0"/>
                        <a:t> joint</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8192141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4688</TotalTime>
  <Words>5260</Words>
  <Application>Microsoft Office PowerPoint</Application>
  <PresentationFormat>On-screen Show (4:3)</PresentationFormat>
  <Paragraphs>1055</Paragraphs>
  <Slides>122</Slides>
  <Notes>54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122</vt:i4>
      </vt:variant>
    </vt:vector>
  </HeadingPairs>
  <TitlesOfParts>
    <vt:vector size="130" baseType="lpstr">
      <vt:lpstr>MS PGothic</vt:lpstr>
      <vt:lpstr>MS PGothic</vt:lpstr>
      <vt:lpstr>Arial</vt:lpstr>
      <vt:lpstr>Calibri</vt:lpstr>
      <vt:lpstr>Times New Roman</vt:lpstr>
      <vt:lpstr>Wingdings</vt:lpstr>
      <vt:lpstr>Wingdings 2</vt:lpstr>
      <vt:lpstr>Office Theme</vt:lpstr>
      <vt:lpstr>The Language of Medicine 13th edition</vt:lpstr>
      <vt:lpstr>Chapter 15  Musculoskeletal System</vt:lpstr>
      <vt:lpstr>Chapter Goals (Slide 1 of 3)</vt:lpstr>
      <vt:lpstr>Chapter Goals (Slide 2 of 3)</vt:lpstr>
      <vt:lpstr>Chapter Goals (Slide 3 of 3)</vt:lpstr>
      <vt:lpstr>Chapter 15 Lesson 15.1</vt:lpstr>
      <vt:lpstr>Introduction</vt:lpstr>
      <vt:lpstr>Physicians Associated with Musculoskeletal System</vt:lpstr>
      <vt:lpstr>Bone Formation (Slide 1 of 3) </vt:lpstr>
      <vt:lpstr>Bone Formation (Slide 2 of 3)</vt:lpstr>
      <vt:lpstr>Bone Formation (Slide 3 of 3) </vt:lpstr>
      <vt:lpstr>Bone Structure (Slide 1 of 4)</vt:lpstr>
      <vt:lpstr>Bone Structure (Slide 2 of 4) </vt:lpstr>
      <vt:lpstr>Bone Structure (Slide 3 of 4) </vt:lpstr>
      <vt:lpstr>Bone Structure (Slide 4 of 4)</vt:lpstr>
      <vt:lpstr>Bone Marrow</vt:lpstr>
      <vt:lpstr>Bone Processes and Depressions (Slide 1 of 2)</vt:lpstr>
      <vt:lpstr>Bone Processes and Depressions (Slide 2 of 2)</vt:lpstr>
      <vt:lpstr>Cranial Bones (Slide 1 of 2)</vt:lpstr>
      <vt:lpstr>Cranial Bones (Slide 2 of 2)</vt:lpstr>
      <vt:lpstr>Cranial Bones and  Associated Structures</vt:lpstr>
      <vt:lpstr>Facial Bones (Slide 1 of 2)</vt:lpstr>
      <vt:lpstr>Facial Bones (Slide 2 of 2)</vt:lpstr>
      <vt:lpstr>Sinuses</vt:lpstr>
      <vt:lpstr>Vertebral Column and Vertebrae (Slide 1 of 2)</vt:lpstr>
      <vt:lpstr>Vertebral Column and Vertebrae (Slide 2 of 2)</vt:lpstr>
      <vt:lpstr>Bones: Thorax, Pelvis and Extremities </vt:lpstr>
      <vt:lpstr>Bones of Leg and Foot</vt:lpstr>
      <vt:lpstr>Bones of Leg and Foot and Associated Structures</vt:lpstr>
      <vt:lpstr>Vocabulary – Bones  (Slide 1 of 32)</vt:lpstr>
      <vt:lpstr>Vocabulary – Bones  (Slide 2 of 32)</vt:lpstr>
      <vt:lpstr>Vocabulary – Bones  (Slide 3 of 32)</vt:lpstr>
      <vt:lpstr>Vocabulary – Bones  (Slide 4 of 32)</vt:lpstr>
      <vt:lpstr>Vocabulary – Bones  (Slide 5 of 32)</vt:lpstr>
      <vt:lpstr>Vocabulary – Bones  (Slide 6 of 32)</vt:lpstr>
      <vt:lpstr>Vocabulary – Bones  (Slide 7 of 32)</vt:lpstr>
      <vt:lpstr>Vocabulary – Bones  (Slide 8 of 32)</vt:lpstr>
      <vt:lpstr>Vocabulary – Bones  (Slide 9 of 32)</vt:lpstr>
      <vt:lpstr>Vocabulary – Bones  (Slide 10 of 32)</vt:lpstr>
      <vt:lpstr>Vocabulary – Bones  (Slide 11 of 32)</vt:lpstr>
      <vt:lpstr>Vocabulary – Bones  (Slide 12 of 32)</vt:lpstr>
      <vt:lpstr>Vocabulary – Bones  (Slide 13 of 32)</vt:lpstr>
      <vt:lpstr>Vocabulary – Bones  (Slide 14 of 32)</vt:lpstr>
      <vt:lpstr>Vocabulary – Bones  (Slide 15 of 32)</vt:lpstr>
      <vt:lpstr>Vocabulary – Bones  (Slide 16 of 32)</vt:lpstr>
      <vt:lpstr>Vocabulary – Bones  (Slide 17 of 32)</vt:lpstr>
      <vt:lpstr>Vocabulary – Bones  (Slide 18 of 32)</vt:lpstr>
      <vt:lpstr>Vocabulary – Bones  (Slide 19 of 32)</vt:lpstr>
      <vt:lpstr>Vocabulary – Bones  (Slide 20 of 32)</vt:lpstr>
      <vt:lpstr>Vocabulary – Bones  (Slide 21 of 32)</vt:lpstr>
      <vt:lpstr>Vocabulary – Bones  (Slide 22 of 32)</vt:lpstr>
      <vt:lpstr>Vocabulary – Bones  (Slide 23 of 32)</vt:lpstr>
      <vt:lpstr>Vocabulary – Bones  (Slide 24 of 32)</vt:lpstr>
      <vt:lpstr>Vocabulary – Bones  (Slide 25 of 32)</vt:lpstr>
      <vt:lpstr>Vocabulary – Bones  (Slide 26 of 32)</vt:lpstr>
      <vt:lpstr>Vocabulary – Bones  (Slide 27 of 32)</vt:lpstr>
      <vt:lpstr>Vocabulary – Bones  (Slide 28 of 32)</vt:lpstr>
      <vt:lpstr>Vocabulary – Bones  (Slide 29 of 32)</vt:lpstr>
      <vt:lpstr>Vocabulary – Bones  (Slide 30 of 32)</vt:lpstr>
      <vt:lpstr>Vocabulary – Bones  (Slide 31 of 32)</vt:lpstr>
      <vt:lpstr>Vocabulary – Bones  (Slide 32 of 32 )</vt:lpstr>
      <vt:lpstr>      QUICK QUIZ (Slide 1 of 4)</vt:lpstr>
      <vt:lpstr>      QUICK QUIZ (Slide 2 of 4)  </vt:lpstr>
      <vt:lpstr>Terminology – Bones Combining Forms (Slide 1 of 2)</vt:lpstr>
      <vt:lpstr>Terminology – Bones Combining Forms (Slide 2 of 2)</vt:lpstr>
      <vt:lpstr>Terminology – Bones Suffixes</vt:lpstr>
      <vt:lpstr>Terminology Related to Specific Bones Combining Forms (Slide 1 of 5)</vt:lpstr>
      <vt:lpstr>Terminology Related to Specific Bones Combining Forms (Slide 2 of 5)</vt:lpstr>
      <vt:lpstr>Terminology Related to Specific Bones Combining Forms (Slide 3 of 5)</vt:lpstr>
      <vt:lpstr>Terminology Related to Specific Bones Combining Forms (Slide 4 of 5)</vt:lpstr>
      <vt:lpstr>Terminology Related to Specific Bones Combining Forms (Slide 5 of 5)</vt:lpstr>
      <vt:lpstr>Pathology — Bones</vt:lpstr>
      <vt:lpstr>Pathologic Conditions  Fractures of Bones</vt:lpstr>
      <vt:lpstr>Chapter 15 Lesson 15.2</vt:lpstr>
      <vt:lpstr>Joints (Slide 1 of 2)</vt:lpstr>
      <vt:lpstr>Synovial Joints</vt:lpstr>
      <vt:lpstr>Bursae</vt:lpstr>
      <vt:lpstr>Joints (Slide 2 of 2)</vt:lpstr>
      <vt:lpstr>Vocabulary – Joints (Slide 1 of 6)</vt:lpstr>
      <vt:lpstr>Vocabulary – Joints (Slide 2 of 6)</vt:lpstr>
      <vt:lpstr>Vocabulary – Joints (Slide 3 of 6)</vt:lpstr>
      <vt:lpstr>Vocabulary – Joints (Slide 4 of 6)</vt:lpstr>
      <vt:lpstr>Vocabulary – Joints (Slide 5 of 6)</vt:lpstr>
      <vt:lpstr>Vocabulary – Joints (Slide 6 of 6)</vt:lpstr>
      <vt:lpstr>      QUICK QUIZ (Slide 3 of 4)</vt:lpstr>
      <vt:lpstr>Combining Forms and Terminology Joints (Slide 1 of 2)</vt:lpstr>
      <vt:lpstr>Combining Forms and Terminology Joints (Slide 2 of 2)</vt:lpstr>
      <vt:lpstr>Suffixes and Terminology Joints</vt:lpstr>
      <vt:lpstr>Pathology — Joints</vt:lpstr>
      <vt:lpstr>Osteoarthritis and  Rheumatoid Arthritis</vt:lpstr>
      <vt:lpstr>Pathology — Joints  (Slide 1-4)</vt:lpstr>
      <vt:lpstr>Pathology — Joints  (Slide 2 of 4) Carpal Tunnel Syndrome</vt:lpstr>
      <vt:lpstr>Pathology — Joints  (Slide 3 of 4)</vt:lpstr>
      <vt:lpstr>Pathology — Joints  (Slide 4 of 4)</vt:lpstr>
      <vt:lpstr>Chapter 15 Lesson 15.3</vt:lpstr>
      <vt:lpstr>Muscles</vt:lpstr>
      <vt:lpstr>Types of Muscle</vt:lpstr>
      <vt:lpstr>Actions of Skeletal Muscles  (slide 1 of 3)</vt:lpstr>
      <vt:lpstr>Actions of Skeletal Muscles (slide 2 of 3)</vt:lpstr>
      <vt:lpstr>Actions of Muscles (slide 3 of 3)</vt:lpstr>
      <vt:lpstr>Vocabulary – Muscles (Slide 1 of 8)</vt:lpstr>
      <vt:lpstr>Vocabulary – Muscles (Slide 2 of 8)</vt:lpstr>
      <vt:lpstr>Vocabulary – Muscles (Slide 3 of 8)</vt:lpstr>
      <vt:lpstr>Vocabulary – Muscles (Slide 4 of 8)</vt:lpstr>
      <vt:lpstr>Vocabulary – Muscles (Slide 5 of 8)</vt:lpstr>
      <vt:lpstr>Vocabulary – Muscles (Slide 6 of 8)</vt:lpstr>
      <vt:lpstr>Vocabulary – Muscles (Slide 7 of 8)</vt:lpstr>
      <vt:lpstr>Vocabulary – Muscles (Slide 8 of 8)</vt:lpstr>
      <vt:lpstr>      QUICK QUIZ  (Slide 4 of 4)</vt:lpstr>
      <vt:lpstr>Combining Forms and Terminology  Muscles (Slide 1 of 2)</vt:lpstr>
      <vt:lpstr>Combining Forms and Terminology  Muscles (Slide 2 of 2)</vt:lpstr>
      <vt:lpstr>Suffixes and Terminology  Muscles</vt:lpstr>
      <vt:lpstr>Prefixes and Terminology  Muscles</vt:lpstr>
      <vt:lpstr>Pathology — Muscles</vt:lpstr>
      <vt:lpstr>Laboratory Tests</vt:lpstr>
      <vt:lpstr>Clinical Procedures Related to Bones, Joints, and Muscle</vt:lpstr>
      <vt:lpstr>Abbreviations (Slide 1 of 6)</vt:lpstr>
      <vt:lpstr>Abbreviations (Slide 2 of 6)</vt:lpstr>
      <vt:lpstr>Abbreviations (Slide 3 of 6)</vt:lpstr>
      <vt:lpstr>Abbreviations (Slide 4 of 6)</vt:lpstr>
      <vt:lpstr>Abbreviations (Slide 5 of 6)</vt:lpstr>
      <vt:lpstr>Abbreviations (Slide 6 of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309</cp:revision>
  <cp:lastPrinted>2007-04-13T22:20:09Z</cp:lastPrinted>
  <dcterms:created xsi:type="dcterms:W3CDTF">2004-11-01T16:15:23Z</dcterms:created>
  <dcterms:modified xsi:type="dcterms:W3CDTF">2023-12-07T04:25:28Z</dcterms:modified>
</cp:coreProperties>
</file>