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4" r:id="rId1"/>
  </p:sldMasterIdLst>
  <p:notesMasterIdLst>
    <p:notesMasterId r:id="rId40"/>
  </p:notesMasterIdLst>
  <p:handoutMasterIdLst>
    <p:handoutMasterId r:id="rId41"/>
  </p:handoutMasterIdLst>
  <p:sldIdLst>
    <p:sldId id="337" r:id="rId2"/>
    <p:sldId id="350" r:id="rId3"/>
    <p:sldId id="258" r:id="rId4"/>
    <p:sldId id="349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08" r:id="rId20"/>
    <p:sldId id="333" r:id="rId21"/>
    <p:sldId id="334" r:id="rId22"/>
    <p:sldId id="335" r:id="rId23"/>
    <p:sldId id="336" r:id="rId24"/>
    <p:sldId id="348" r:id="rId25"/>
    <p:sldId id="307" r:id="rId26"/>
    <p:sldId id="347" r:id="rId27"/>
    <p:sldId id="270" r:id="rId28"/>
    <p:sldId id="299" r:id="rId29"/>
    <p:sldId id="271" r:id="rId30"/>
    <p:sldId id="272" r:id="rId31"/>
    <p:sldId id="273" r:id="rId32"/>
    <p:sldId id="346" r:id="rId33"/>
    <p:sldId id="274" r:id="rId34"/>
    <p:sldId id="345" r:id="rId35"/>
    <p:sldId id="298" r:id="rId36"/>
    <p:sldId id="277" r:id="rId37"/>
    <p:sldId id="282" r:id="rId38"/>
    <p:sldId id="283" r:id="rId3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>
          <p15:clr>
            <a:srgbClr val="A4A3A4"/>
          </p15:clr>
        </p15:guide>
        <p15:guide id="2" pos="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4" autoAdjust="0"/>
    <p:restoredTop sz="83203" autoAdjust="0"/>
  </p:normalViewPr>
  <p:slideViewPr>
    <p:cSldViewPr>
      <p:cViewPr varScale="1">
        <p:scale>
          <a:sx n="52" d="100"/>
          <a:sy n="52" d="100"/>
        </p:scale>
        <p:origin x="1492" y="60"/>
      </p:cViewPr>
      <p:guideLst>
        <p:guide orient="horz" pos="1008"/>
        <p:guide pos="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690" y="-12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Pfeifer" userId="fb68dd40a6c6cee7" providerId="LiveId" clId="{8EF931FD-A7CC-4E7B-B9E5-22DF7779A201}"/>
    <pc:docChg chg="custSel modSld modMainMaster">
      <pc:chgData name="Ben Pfeifer" userId="fb68dd40a6c6cee7" providerId="LiveId" clId="{8EF931FD-A7CC-4E7B-B9E5-22DF7779A201}" dt="2023-09-26T07:46:29.561" v="44" actId="12385"/>
      <pc:docMkLst>
        <pc:docMk/>
      </pc:docMkLst>
      <pc:sldChg chg="modSp mod">
        <pc:chgData name="Ben Pfeifer" userId="fb68dd40a6c6cee7" providerId="LiveId" clId="{8EF931FD-A7CC-4E7B-B9E5-22DF7779A201}" dt="2023-09-26T07:46:06.953" v="34" actId="12385"/>
        <pc:sldMkLst>
          <pc:docMk/>
          <pc:sldMk cId="3439722519" sldId="326"/>
        </pc:sldMkLst>
        <pc:graphicFrameChg chg="modGraphic">
          <ac:chgData name="Ben Pfeifer" userId="fb68dd40a6c6cee7" providerId="LiveId" clId="{8EF931FD-A7CC-4E7B-B9E5-22DF7779A201}" dt="2023-09-26T07:46:06.953" v="34" actId="12385"/>
          <ac:graphicFrameMkLst>
            <pc:docMk/>
            <pc:sldMk cId="3439722519" sldId="326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6:09.093" v="35" actId="12385"/>
        <pc:sldMkLst>
          <pc:docMk/>
          <pc:sldMk cId="1501680825" sldId="327"/>
        </pc:sldMkLst>
        <pc:graphicFrameChg chg="modGraphic">
          <ac:chgData name="Ben Pfeifer" userId="fb68dd40a6c6cee7" providerId="LiveId" clId="{8EF931FD-A7CC-4E7B-B9E5-22DF7779A201}" dt="2023-09-26T07:46:09.093" v="35" actId="12385"/>
          <ac:graphicFrameMkLst>
            <pc:docMk/>
            <pc:sldMk cId="1501680825" sldId="327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6:11.629" v="36" actId="12385"/>
        <pc:sldMkLst>
          <pc:docMk/>
          <pc:sldMk cId="1900344947" sldId="328"/>
        </pc:sldMkLst>
        <pc:graphicFrameChg chg="modGraphic">
          <ac:chgData name="Ben Pfeifer" userId="fb68dd40a6c6cee7" providerId="LiveId" clId="{8EF931FD-A7CC-4E7B-B9E5-22DF7779A201}" dt="2023-09-26T07:46:11.629" v="36" actId="12385"/>
          <ac:graphicFrameMkLst>
            <pc:docMk/>
            <pc:sldMk cId="1900344947" sldId="328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6:13.789" v="37" actId="12385"/>
        <pc:sldMkLst>
          <pc:docMk/>
          <pc:sldMk cId="2537921592" sldId="329"/>
        </pc:sldMkLst>
        <pc:graphicFrameChg chg="modGraphic">
          <ac:chgData name="Ben Pfeifer" userId="fb68dd40a6c6cee7" providerId="LiveId" clId="{8EF931FD-A7CC-4E7B-B9E5-22DF7779A201}" dt="2023-09-26T07:46:13.789" v="37" actId="12385"/>
          <ac:graphicFrameMkLst>
            <pc:docMk/>
            <pc:sldMk cId="2537921592" sldId="329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6:16.044" v="38" actId="12385"/>
        <pc:sldMkLst>
          <pc:docMk/>
          <pc:sldMk cId="1769663337" sldId="330"/>
        </pc:sldMkLst>
        <pc:graphicFrameChg chg="modGraphic">
          <ac:chgData name="Ben Pfeifer" userId="fb68dd40a6c6cee7" providerId="LiveId" clId="{8EF931FD-A7CC-4E7B-B9E5-22DF7779A201}" dt="2023-09-26T07:46:16.044" v="38" actId="12385"/>
          <ac:graphicFrameMkLst>
            <pc:docMk/>
            <pc:sldMk cId="1769663337" sldId="330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6:18.200" v="39" actId="12385"/>
        <pc:sldMkLst>
          <pc:docMk/>
          <pc:sldMk cId="2294283411" sldId="331"/>
        </pc:sldMkLst>
        <pc:graphicFrameChg chg="modGraphic">
          <ac:chgData name="Ben Pfeifer" userId="fb68dd40a6c6cee7" providerId="LiveId" clId="{8EF931FD-A7CC-4E7B-B9E5-22DF7779A201}" dt="2023-09-26T07:46:18.200" v="39" actId="12385"/>
          <ac:graphicFrameMkLst>
            <pc:docMk/>
            <pc:sldMk cId="2294283411" sldId="331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6:20.254" v="40" actId="12385"/>
        <pc:sldMkLst>
          <pc:docMk/>
          <pc:sldMk cId="2923220080" sldId="332"/>
        </pc:sldMkLst>
        <pc:graphicFrameChg chg="modGraphic">
          <ac:chgData name="Ben Pfeifer" userId="fb68dd40a6c6cee7" providerId="LiveId" clId="{8EF931FD-A7CC-4E7B-B9E5-22DF7779A201}" dt="2023-09-26T07:46:20.254" v="40" actId="12385"/>
          <ac:graphicFrameMkLst>
            <pc:docMk/>
            <pc:sldMk cId="2923220080" sldId="332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6:22.715" v="41" actId="12385"/>
        <pc:sldMkLst>
          <pc:docMk/>
          <pc:sldMk cId="4148647426" sldId="333"/>
        </pc:sldMkLst>
        <pc:graphicFrameChg chg="modGraphic">
          <ac:chgData name="Ben Pfeifer" userId="fb68dd40a6c6cee7" providerId="LiveId" clId="{8EF931FD-A7CC-4E7B-B9E5-22DF7779A201}" dt="2023-09-26T07:46:22.715" v="41" actId="12385"/>
          <ac:graphicFrameMkLst>
            <pc:docMk/>
            <pc:sldMk cId="4148647426" sldId="333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6:25.290" v="42" actId="12385"/>
        <pc:sldMkLst>
          <pc:docMk/>
          <pc:sldMk cId="209182923" sldId="334"/>
        </pc:sldMkLst>
        <pc:graphicFrameChg chg="modGraphic">
          <ac:chgData name="Ben Pfeifer" userId="fb68dd40a6c6cee7" providerId="LiveId" clId="{8EF931FD-A7CC-4E7B-B9E5-22DF7779A201}" dt="2023-09-26T07:46:25.290" v="42" actId="12385"/>
          <ac:graphicFrameMkLst>
            <pc:docMk/>
            <pc:sldMk cId="209182923" sldId="334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6:27.428" v="43" actId="12385"/>
        <pc:sldMkLst>
          <pc:docMk/>
          <pc:sldMk cId="2188076850" sldId="335"/>
        </pc:sldMkLst>
        <pc:graphicFrameChg chg="modGraphic">
          <ac:chgData name="Ben Pfeifer" userId="fb68dd40a6c6cee7" providerId="LiveId" clId="{8EF931FD-A7CC-4E7B-B9E5-22DF7779A201}" dt="2023-09-26T07:46:27.428" v="43" actId="12385"/>
          <ac:graphicFrameMkLst>
            <pc:docMk/>
            <pc:sldMk cId="2188076850" sldId="335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6:29.561" v="44" actId="12385"/>
        <pc:sldMkLst>
          <pc:docMk/>
          <pc:sldMk cId="2220929726" sldId="336"/>
        </pc:sldMkLst>
        <pc:graphicFrameChg chg="modGraphic">
          <ac:chgData name="Ben Pfeifer" userId="fb68dd40a6c6cee7" providerId="LiveId" clId="{8EF931FD-A7CC-4E7B-B9E5-22DF7779A201}" dt="2023-09-26T07:46:29.561" v="44" actId="12385"/>
          <ac:graphicFrameMkLst>
            <pc:docMk/>
            <pc:sldMk cId="2220929726" sldId="336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6:57:53.611" v="1" actId="20577"/>
        <pc:sldMkLst>
          <pc:docMk/>
          <pc:sldMk cId="2709069701" sldId="337"/>
        </pc:sldMkLst>
        <pc:spChg chg="mod">
          <ac:chgData name="Ben Pfeifer" userId="fb68dd40a6c6cee7" providerId="LiveId" clId="{8EF931FD-A7CC-4E7B-B9E5-22DF7779A201}" dt="2023-09-26T06:57:53.611" v="1" actId="20577"/>
          <ac:spMkLst>
            <pc:docMk/>
            <pc:sldMk cId="2709069701" sldId="337"/>
            <ac:spMk id="2" creationId="{00000000-0000-0000-0000-000000000000}"/>
          </ac:spMkLst>
        </pc:spChg>
      </pc:sldChg>
      <pc:sldChg chg="modSp mod">
        <pc:chgData name="Ben Pfeifer" userId="fb68dd40a6c6cee7" providerId="LiveId" clId="{8EF931FD-A7CC-4E7B-B9E5-22DF7779A201}" dt="2023-09-26T07:45:49.041" v="27" actId="12385"/>
        <pc:sldMkLst>
          <pc:docMk/>
          <pc:sldMk cId="1808804529" sldId="338"/>
        </pc:sldMkLst>
        <pc:graphicFrameChg chg="modGraphic">
          <ac:chgData name="Ben Pfeifer" userId="fb68dd40a6c6cee7" providerId="LiveId" clId="{8EF931FD-A7CC-4E7B-B9E5-22DF7779A201}" dt="2023-09-26T07:45:49.041" v="27" actId="12385"/>
          <ac:graphicFrameMkLst>
            <pc:docMk/>
            <pc:sldMk cId="1808804529" sldId="338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5:51.871" v="28" actId="12385"/>
        <pc:sldMkLst>
          <pc:docMk/>
          <pc:sldMk cId="227541986" sldId="339"/>
        </pc:sldMkLst>
        <pc:graphicFrameChg chg="modGraphic">
          <ac:chgData name="Ben Pfeifer" userId="fb68dd40a6c6cee7" providerId="LiveId" clId="{8EF931FD-A7CC-4E7B-B9E5-22DF7779A201}" dt="2023-09-26T07:45:51.871" v="28" actId="12385"/>
          <ac:graphicFrameMkLst>
            <pc:docMk/>
            <pc:sldMk cId="227541986" sldId="339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5:54.494" v="29" actId="12385"/>
        <pc:sldMkLst>
          <pc:docMk/>
          <pc:sldMk cId="2498777395" sldId="340"/>
        </pc:sldMkLst>
        <pc:graphicFrameChg chg="modGraphic">
          <ac:chgData name="Ben Pfeifer" userId="fb68dd40a6c6cee7" providerId="LiveId" clId="{8EF931FD-A7CC-4E7B-B9E5-22DF7779A201}" dt="2023-09-26T07:45:54.494" v="29" actId="12385"/>
          <ac:graphicFrameMkLst>
            <pc:docMk/>
            <pc:sldMk cId="2498777395" sldId="340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5:56.771" v="30" actId="12385"/>
        <pc:sldMkLst>
          <pc:docMk/>
          <pc:sldMk cId="3549385170" sldId="341"/>
        </pc:sldMkLst>
        <pc:graphicFrameChg chg="modGraphic">
          <ac:chgData name="Ben Pfeifer" userId="fb68dd40a6c6cee7" providerId="LiveId" clId="{8EF931FD-A7CC-4E7B-B9E5-22DF7779A201}" dt="2023-09-26T07:45:56.771" v="30" actId="12385"/>
          <ac:graphicFrameMkLst>
            <pc:docMk/>
            <pc:sldMk cId="3549385170" sldId="341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6:00.166" v="31" actId="12385"/>
        <pc:sldMkLst>
          <pc:docMk/>
          <pc:sldMk cId="3418560147" sldId="342"/>
        </pc:sldMkLst>
        <pc:graphicFrameChg chg="modGraphic">
          <ac:chgData name="Ben Pfeifer" userId="fb68dd40a6c6cee7" providerId="LiveId" clId="{8EF931FD-A7CC-4E7B-B9E5-22DF7779A201}" dt="2023-09-26T07:46:00.166" v="31" actId="12385"/>
          <ac:graphicFrameMkLst>
            <pc:docMk/>
            <pc:sldMk cId="3418560147" sldId="342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6:02.586" v="32" actId="12385"/>
        <pc:sldMkLst>
          <pc:docMk/>
          <pc:sldMk cId="3083520283" sldId="343"/>
        </pc:sldMkLst>
        <pc:graphicFrameChg chg="modGraphic">
          <ac:chgData name="Ben Pfeifer" userId="fb68dd40a6c6cee7" providerId="LiveId" clId="{8EF931FD-A7CC-4E7B-B9E5-22DF7779A201}" dt="2023-09-26T07:46:02.586" v="32" actId="12385"/>
          <ac:graphicFrameMkLst>
            <pc:docMk/>
            <pc:sldMk cId="3083520283" sldId="343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8EF931FD-A7CC-4E7B-B9E5-22DF7779A201}" dt="2023-09-26T07:46:04.690" v="33" actId="12385"/>
        <pc:sldMkLst>
          <pc:docMk/>
          <pc:sldMk cId="3261574434" sldId="344"/>
        </pc:sldMkLst>
        <pc:graphicFrameChg chg="modGraphic">
          <ac:chgData name="Ben Pfeifer" userId="fb68dd40a6c6cee7" providerId="LiveId" clId="{8EF931FD-A7CC-4E7B-B9E5-22DF7779A201}" dt="2023-09-26T07:46:04.690" v="33" actId="12385"/>
          <ac:graphicFrameMkLst>
            <pc:docMk/>
            <pc:sldMk cId="3261574434" sldId="344"/>
            <ac:graphicFrameMk id="7" creationId="{00000000-0000-0000-0000-000000000000}"/>
          </ac:graphicFrameMkLst>
        </pc:graphicFrameChg>
      </pc:sldChg>
      <pc:sldChg chg="delSp mod">
        <pc:chgData name="Ben Pfeifer" userId="fb68dd40a6c6cee7" providerId="LiveId" clId="{8EF931FD-A7CC-4E7B-B9E5-22DF7779A201}" dt="2023-09-26T07:00:30.644" v="24" actId="478"/>
        <pc:sldMkLst>
          <pc:docMk/>
          <pc:sldMk cId="1281148290" sldId="345"/>
        </pc:sldMkLst>
        <pc:spChg chg="del">
          <ac:chgData name="Ben Pfeifer" userId="fb68dd40a6c6cee7" providerId="LiveId" clId="{8EF931FD-A7CC-4E7B-B9E5-22DF7779A201}" dt="2023-09-26T07:00:30.644" v="24" actId="478"/>
          <ac:spMkLst>
            <pc:docMk/>
            <pc:sldMk cId="1281148290" sldId="345"/>
            <ac:spMk id="4" creationId="{00000000-0000-0000-0000-000000000000}"/>
          </ac:spMkLst>
        </pc:spChg>
      </pc:sldChg>
      <pc:sldChg chg="delSp mod">
        <pc:chgData name="Ben Pfeifer" userId="fb68dd40a6c6cee7" providerId="LiveId" clId="{8EF931FD-A7CC-4E7B-B9E5-22DF7779A201}" dt="2023-09-26T07:00:12.191" v="23" actId="478"/>
        <pc:sldMkLst>
          <pc:docMk/>
          <pc:sldMk cId="3487861248" sldId="346"/>
        </pc:sldMkLst>
        <pc:spChg chg="del">
          <ac:chgData name="Ben Pfeifer" userId="fb68dd40a6c6cee7" providerId="LiveId" clId="{8EF931FD-A7CC-4E7B-B9E5-22DF7779A201}" dt="2023-09-26T07:00:12.191" v="23" actId="478"/>
          <ac:spMkLst>
            <pc:docMk/>
            <pc:sldMk cId="3487861248" sldId="346"/>
            <ac:spMk id="4" creationId="{00000000-0000-0000-0000-000000000000}"/>
          </ac:spMkLst>
        </pc:spChg>
      </pc:sldChg>
      <pc:sldChg chg="modSp mod">
        <pc:chgData name="Ben Pfeifer" userId="fb68dd40a6c6cee7" providerId="LiveId" clId="{8EF931FD-A7CC-4E7B-B9E5-22DF7779A201}" dt="2023-09-26T07:45:38.248" v="26" actId="13244"/>
        <pc:sldMkLst>
          <pc:docMk/>
          <pc:sldMk cId="920674189" sldId="347"/>
        </pc:sldMkLst>
        <pc:spChg chg="ord">
          <ac:chgData name="Ben Pfeifer" userId="fb68dd40a6c6cee7" providerId="LiveId" clId="{8EF931FD-A7CC-4E7B-B9E5-22DF7779A201}" dt="2023-09-26T07:45:38.248" v="26" actId="13244"/>
          <ac:spMkLst>
            <pc:docMk/>
            <pc:sldMk cId="920674189" sldId="347"/>
            <ac:spMk id="5" creationId="{00000000-0000-0000-0000-000000000000}"/>
          </ac:spMkLst>
        </pc:spChg>
      </pc:sldChg>
      <pc:sldChg chg="modSp mod">
        <pc:chgData name="Ben Pfeifer" userId="fb68dd40a6c6cee7" providerId="LiveId" clId="{8EF931FD-A7CC-4E7B-B9E5-22DF7779A201}" dt="2023-09-26T07:45:28.102" v="25" actId="13244"/>
        <pc:sldMkLst>
          <pc:docMk/>
          <pc:sldMk cId="752460406" sldId="348"/>
        </pc:sldMkLst>
        <pc:spChg chg="ord">
          <ac:chgData name="Ben Pfeifer" userId="fb68dd40a6c6cee7" providerId="LiveId" clId="{8EF931FD-A7CC-4E7B-B9E5-22DF7779A201}" dt="2023-09-26T07:45:28.102" v="25" actId="13244"/>
          <ac:spMkLst>
            <pc:docMk/>
            <pc:sldMk cId="752460406" sldId="348"/>
            <ac:spMk id="5" creationId="{00000000-0000-0000-0000-000000000000}"/>
          </ac:spMkLst>
        </pc:spChg>
      </pc:sldChg>
      <pc:sldChg chg="delSp mod">
        <pc:chgData name="Ben Pfeifer" userId="fb68dd40a6c6cee7" providerId="LiveId" clId="{8EF931FD-A7CC-4E7B-B9E5-22DF7779A201}" dt="2023-09-26T06:59:14.124" v="22" actId="478"/>
        <pc:sldMkLst>
          <pc:docMk/>
          <pc:sldMk cId="3461687466" sldId="349"/>
        </pc:sldMkLst>
        <pc:spChg chg="del">
          <ac:chgData name="Ben Pfeifer" userId="fb68dd40a6c6cee7" providerId="LiveId" clId="{8EF931FD-A7CC-4E7B-B9E5-22DF7779A201}" dt="2023-09-26T06:59:14.124" v="22" actId="478"/>
          <ac:spMkLst>
            <pc:docMk/>
            <pc:sldMk cId="3461687466" sldId="349"/>
            <ac:spMk id="3" creationId="{00000000-0000-0000-0000-000000000000}"/>
          </ac:spMkLst>
        </pc:spChg>
      </pc:sldChg>
      <pc:sldChg chg="delSp mod">
        <pc:chgData name="Ben Pfeifer" userId="fb68dd40a6c6cee7" providerId="LiveId" clId="{8EF931FD-A7CC-4E7B-B9E5-22DF7779A201}" dt="2023-09-26T06:59:04.244" v="21" actId="478"/>
        <pc:sldMkLst>
          <pc:docMk/>
          <pc:sldMk cId="3326885785" sldId="350"/>
        </pc:sldMkLst>
        <pc:spChg chg="del">
          <ac:chgData name="Ben Pfeifer" userId="fb68dd40a6c6cee7" providerId="LiveId" clId="{8EF931FD-A7CC-4E7B-B9E5-22DF7779A201}" dt="2023-09-26T06:59:04.244" v="21" actId="478"/>
          <ac:spMkLst>
            <pc:docMk/>
            <pc:sldMk cId="3326885785" sldId="350"/>
            <ac:spMk id="3" creationId="{00000000-0000-0000-0000-000000000000}"/>
          </ac:spMkLst>
        </pc:spChg>
      </pc:sldChg>
      <pc:sldMasterChg chg="modSp mod">
        <pc:chgData name="Ben Pfeifer" userId="fb68dd40a6c6cee7" providerId="LiveId" clId="{8EF931FD-A7CC-4E7B-B9E5-22DF7779A201}" dt="2023-09-26T06:58:46.811" v="20" actId="6549"/>
        <pc:sldMasterMkLst>
          <pc:docMk/>
          <pc:sldMasterMk cId="0" sldId="2147483804"/>
        </pc:sldMasterMkLst>
        <pc:spChg chg="mod">
          <ac:chgData name="Ben Pfeifer" userId="fb68dd40a6c6cee7" providerId="LiveId" clId="{8EF931FD-A7CC-4E7B-B9E5-22DF7779A201}" dt="2023-09-26T06:58:46.811" v="20" actId="6549"/>
          <ac:spMkLst>
            <pc:docMk/>
            <pc:sldMasterMk cId="0" sldId="2147483804"/>
            <ac:spMk id="7" creationId="{00000000-0000-0000-0000-00000000000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fld id="{227A39FE-1CAB-47DE-AD4C-E88C87A4A7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31844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fld id="{FBFC4938-C2B2-49C3-8A56-EA8C6F646A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651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20650" indent="-120650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0"/>
      </a:defRPr>
    </a:lvl1pPr>
    <a:lvl2pPr marL="574675" indent="-117475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1028700" indent="-114300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484313" indent="-112713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938338" indent="-1095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ED19147-3832-4386-964B-86C2F3B18F0D}" type="slidenum">
              <a:rPr lang="en-US" altLang="en-US" sz="1200" b="0">
                <a:latin typeface="Arial" panose="020B0604020202020204" pitchFamily="34" charset="0"/>
              </a:rPr>
              <a:pPr/>
              <a:t>3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76669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A01E5076-E278-4F7D-8D08-3315E47E1477}" type="slidenum">
              <a:rPr lang="en-US" altLang="en-US" sz="1200" b="0">
                <a:latin typeface="Arial" panose="020B0604020202020204" pitchFamily="34" charset="0"/>
              </a:rPr>
              <a:pPr/>
              <a:t>19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The correct answer is C: acrophobia.</a:t>
            </a:r>
          </a:p>
        </p:txBody>
      </p:sp>
    </p:spTree>
    <p:extLst>
      <p:ext uri="{BB962C8B-B14F-4D97-AF65-F5344CB8AC3E}">
        <p14:creationId xmlns:p14="http://schemas.microsoft.com/office/powerpoint/2010/main" val="1037401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5325CB7-B522-4DB0-8484-00A861E66096}" type="slidenum">
              <a:rPr lang="en-US" altLang="en-US" sz="1200" b="0">
                <a:latin typeface="Arial" panose="020B0604020202020204" pitchFamily="34" charset="0"/>
              </a:rPr>
              <a:pPr/>
              <a:t>25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The correct answer is B.  </a:t>
            </a:r>
          </a:p>
        </p:txBody>
      </p:sp>
    </p:spTree>
    <p:extLst>
      <p:ext uri="{BB962C8B-B14F-4D97-AF65-F5344CB8AC3E}">
        <p14:creationId xmlns:p14="http://schemas.microsoft.com/office/powerpoint/2010/main" val="177055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1E202FB-8D93-4B5A-947C-F4AF676216B4}" type="slidenum">
              <a:rPr lang="en-US" altLang="en-US" sz="1200" b="0">
                <a:latin typeface="Arial" panose="020B0604020202020204" pitchFamily="34" charset="0"/>
              </a:rPr>
              <a:pPr/>
              <a:t>27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5517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429E466-490E-4BFC-801E-1D9E8F8BF529}" type="slidenum">
              <a:rPr lang="en-US" altLang="en-US" sz="1200" b="0">
                <a:latin typeface="Arial" panose="020B0604020202020204" pitchFamily="34" charset="0"/>
              </a:rPr>
              <a:pPr/>
              <a:t>28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What is hemoglobin? What purpose does it serve?</a:t>
            </a:r>
          </a:p>
        </p:txBody>
      </p:sp>
    </p:spTree>
    <p:extLst>
      <p:ext uri="{BB962C8B-B14F-4D97-AF65-F5344CB8AC3E}">
        <p14:creationId xmlns:p14="http://schemas.microsoft.com/office/powerpoint/2010/main" val="3925491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285EA27F-5963-4294-B27F-F5F9DCEB0DA7}" type="slidenum">
              <a:rPr lang="en-US" altLang="en-US" sz="1200" b="0">
                <a:latin typeface="Arial" panose="020B0604020202020204" pitchFamily="34" charset="0"/>
              </a:rPr>
              <a:pPr/>
              <a:t>29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What is the distinction between granulocytes and mononuclear leukocytes?</a:t>
            </a:r>
          </a:p>
          <a:p>
            <a:pPr eaLnBrk="1" hangingPunct="1"/>
            <a:r>
              <a:rPr lang="en-US" altLang="en-US"/>
              <a:t>An easy way to remember the names of the five leukocytes is: </a:t>
            </a:r>
            <a:r>
              <a:rPr lang="en-US" altLang="en-US" b="1"/>
              <a:t>N</a:t>
            </a:r>
            <a:r>
              <a:rPr lang="en-US" altLang="en-US"/>
              <a:t>ever (neutrophil) </a:t>
            </a:r>
            <a:r>
              <a:rPr lang="en-US" altLang="en-US" b="1"/>
              <a:t>L</a:t>
            </a:r>
            <a:r>
              <a:rPr lang="en-US" altLang="en-US"/>
              <a:t>et (lymphocyte) </a:t>
            </a:r>
            <a:r>
              <a:rPr lang="en-US" altLang="en-US" b="1"/>
              <a:t>M</a:t>
            </a:r>
            <a:r>
              <a:rPr lang="en-US" altLang="en-US"/>
              <a:t>onkeys (monocyte) </a:t>
            </a:r>
            <a:r>
              <a:rPr lang="en-US" altLang="en-US" b="1"/>
              <a:t>E</a:t>
            </a:r>
            <a:r>
              <a:rPr lang="en-US" altLang="en-US"/>
              <a:t>at (eosinophil) </a:t>
            </a:r>
            <a:r>
              <a:rPr lang="en-US" altLang="en-US" b="1"/>
              <a:t>B</a:t>
            </a:r>
            <a:r>
              <a:rPr lang="en-US" altLang="en-US"/>
              <a:t>ananas (basophil).</a:t>
            </a:r>
          </a:p>
        </p:txBody>
      </p:sp>
    </p:spTree>
    <p:extLst>
      <p:ext uri="{BB962C8B-B14F-4D97-AF65-F5344CB8AC3E}">
        <p14:creationId xmlns:p14="http://schemas.microsoft.com/office/powerpoint/2010/main" val="2937273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A3245FB-2ADA-4555-8FED-81E938D257B3}" type="slidenum">
              <a:rPr lang="en-US" altLang="en-US" sz="1200" b="0">
                <a:latin typeface="Arial" panose="020B0604020202020204" pitchFamily="34" charset="0"/>
              </a:rPr>
              <a:pPr/>
              <a:t>30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Formed in the blood marrow</a:t>
            </a:r>
          </a:p>
          <a:p>
            <a:pPr lvl="1" eaLnBrk="1" hangingPunct="1"/>
            <a:r>
              <a:rPr lang="en-US" altLang="en-US"/>
              <a:t>Eosinophils – active and elevated in allergic conditions such as asthma</a:t>
            </a:r>
          </a:p>
          <a:p>
            <a:pPr lvl="1" eaLnBrk="1" hangingPunct="1"/>
            <a:r>
              <a:rPr lang="en-US" altLang="en-US"/>
              <a:t>Basophils – play a role in inflammation</a:t>
            </a:r>
          </a:p>
          <a:p>
            <a:pPr lvl="1" eaLnBrk="1" hangingPunct="1"/>
            <a:r>
              <a:rPr lang="en-US" altLang="en-US"/>
              <a:t>Neutrophils – important disease-fighting cells</a:t>
            </a:r>
          </a:p>
          <a:p>
            <a:pPr eaLnBrk="1" hangingPunct="1"/>
            <a:r>
              <a:rPr lang="en-US" altLang="en-US"/>
              <a:t>What do the prefixes for each type reflect?</a:t>
            </a:r>
          </a:p>
          <a:p>
            <a:pPr eaLnBrk="1" hangingPunct="1"/>
            <a:r>
              <a:rPr lang="en-US" altLang="en-US"/>
              <a:t>What are some other names for neutrophils?</a:t>
            </a:r>
          </a:p>
        </p:txBody>
      </p:sp>
    </p:spTree>
    <p:extLst>
      <p:ext uri="{BB962C8B-B14F-4D97-AF65-F5344CB8AC3E}">
        <p14:creationId xmlns:p14="http://schemas.microsoft.com/office/powerpoint/2010/main" val="3122224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76D78081-2F63-477A-86C3-2D62EEED62BB}" type="slidenum">
              <a:rPr lang="en-US" altLang="en-US" sz="1200" b="0">
                <a:latin typeface="Arial" panose="020B0604020202020204" pitchFamily="34" charset="0"/>
              </a:rPr>
              <a:pPr/>
              <a:t>31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Lymphocytes fight disease by producing antibodies that destroy foreign bodies.</a:t>
            </a:r>
          </a:p>
          <a:p>
            <a:pPr eaLnBrk="1" hangingPunct="1"/>
            <a:r>
              <a:rPr lang="en-US" altLang="en-US"/>
              <a:t>Monocytes engulf and destroy cellular debris after neutrophils have attacked foreign cells.</a:t>
            </a:r>
          </a:p>
          <a:p>
            <a:pPr eaLnBrk="1" hangingPunct="1"/>
            <a:r>
              <a:rPr lang="en-US" altLang="en-US"/>
              <a:t>What are two types of lymphocytes?</a:t>
            </a:r>
          </a:p>
          <a:p>
            <a:pPr eaLnBrk="1" hangingPunct="1"/>
            <a:r>
              <a:rPr lang="en-US" altLang="en-US"/>
              <a:t>What are macrophages?</a:t>
            </a:r>
          </a:p>
        </p:txBody>
      </p:sp>
    </p:spTree>
    <p:extLst>
      <p:ext uri="{BB962C8B-B14F-4D97-AF65-F5344CB8AC3E}">
        <p14:creationId xmlns:p14="http://schemas.microsoft.com/office/powerpoint/2010/main" val="277213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CA6BAD5E-6D8A-45C4-A345-2191DE381275}" type="slidenum">
              <a:rPr lang="en-US" altLang="en-US" sz="1200" b="0">
                <a:latin typeface="Arial" panose="020B0604020202020204" pitchFamily="34" charset="0"/>
              </a:rPr>
              <a:pPr/>
              <a:t>33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45066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C9E962F2-4BA1-42A0-BD07-09069069DFC5}" type="slidenum">
              <a:rPr lang="en-US" altLang="en-US" sz="1200" b="0">
                <a:latin typeface="Arial" panose="020B0604020202020204" pitchFamily="34" charset="0"/>
              </a:rPr>
              <a:pPr/>
              <a:t>35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The correct answer is D: thrombocytes. Thrombocytes are actually tiny fragments of cells formed in the bone marrow and necessary for blood clotting.</a:t>
            </a:r>
          </a:p>
        </p:txBody>
      </p:sp>
    </p:spTree>
    <p:extLst>
      <p:ext uri="{BB962C8B-B14F-4D97-AF65-F5344CB8AC3E}">
        <p14:creationId xmlns:p14="http://schemas.microsoft.com/office/powerpoint/2010/main" val="825511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0CA4FF3-4DB2-47D1-9E36-A5EAD8BC2B34}" type="slidenum">
              <a:rPr lang="en-US" altLang="en-US" sz="1200" b="0">
                <a:latin typeface="Arial" panose="020B0604020202020204" pitchFamily="34" charset="0"/>
              </a:rPr>
              <a:pPr/>
              <a:t>36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What usually causes the excessive amount of growth hormone found in acromegaly?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7834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851C0AF-DFA6-4255-BD10-112A622DD780}" type="slidenum">
              <a:rPr lang="en-US" altLang="en-US" sz="1200" b="0">
                <a:latin typeface="Arial" panose="020B0604020202020204" pitchFamily="34" charset="0"/>
              </a:rPr>
              <a:pPr/>
              <a:t>37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Laparoscope – a lighted telescopic instrument</a:t>
            </a:r>
          </a:p>
          <a:p>
            <a:pPr eaLnBrk="1" hangingPunct="1"/>
            <a:r>
              <a:rPr lang="en-US" altLang="en-US"/>
              <a:t>What are the specific uses of laparoscopy?</a:t>
            </a:r>
          </a:p>
        </p:txBody>
      </p:sp>
    </p:spTree>
    <p:extLst>
      <p:ext uri="{BB962C8B-B14F-4D97-AF65-F5344CB8AC3E}">
        <p14:creationId xmlns:p14="http://schemas.microsoft.com/office/powerpoint/2010/main" val="1125687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9524535-D459-47F4-90FC-B8115ABAC0F4}" type="slidenum">
              <a:rPr lang="en-US" altLang="en-US" sz="1200" b="0">
                <a:latin typeface="Arial" panose="020B0604020202020204" pitchFamily="34" charset="0"/>
              </a:rPr>
              <a:pPr/>
              <a:t>38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What is the literal meaning of adenoids?</a:t>
            </a:r>
          </a:p>
          <a:p>
            <a:pPr eaLnBrk="1" hangingPunct="1"/>
            <a:r>
              <a:rPr lang="en-US" altLang="en-US"/>
              <a:t>What may happen if adenoids become enlarged?</a:t>
            </a:r>
          </a:p>
        </p:txBody>
      </p:sp>
    </p:spTree>
    <p:extLst>
      <p:ext uri="{BB962C8B-B14F-4D97-AF65-F5344CB8AC3E}">
        <p14:creationId xmlns:p14="http://schemas.microsoft.com/office/powerpoint/2010/main" val="1403953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7696200" y="6461125"/>
            <a:ext cx="1143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998B37C0-7598-4D06-BB15-F6E6B1FE17C4}" type="slidenum">
              <a:rPr lang="en-US" altLang="en-US" sz="1000" b="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0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DD6EEF-52E9-47AA-936E-FDBD84349F11}" type="datetimeFigureOut">
              <a:rPr lang="en-US" smtClean="0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2895600" y="59245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EC8DE-EB63-4575-971A-ABAF953190E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59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957BC-4314-4609-9693-0979745E40F8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9BD110-FC15-46E7-87B8-8CCED87E8F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1699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044F60-74F6-4993-A42A-ADDF3E45910D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CB086C-D007-4FCD-BAC8-32BA91BB71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547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040A3-CA6D-433E-B2D4-335285D4BEFC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B41791-4340-43A1-B0CC-728EE1FBFF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859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1F98D2-D182-4BCD-83EE-F0ED49D7BEB2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2DA427-80F8-44A6-A9A7-00DCD7450F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7421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77918F-F083-45BC-8213-6408ED517670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5FB82D-CF98-4B1C-9D27-F9D2BFE110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5224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8F1FA-A985-40B7-97D4-EFFF2D37F1EB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502920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0AC76E-593A-4AFD-807A-9D41BC4FAE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5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7F9A3-7884-4BE7-AC77-56A72B0827BC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1E711-2EDC-4CFC-98FC-F917275555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A040C8-257F-4399-92B9-8C55ED1553CA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F3D91C-397E-4E76-B603-49F989FDF5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4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9F206-E08D-47EA-A53C-F47A5AE888A7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12E927-34C9-45FA-8894-05EC527211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07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B64357-7B33-47A5-9383-7119D4F33F2D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4A2539-854E-415E-88F6-D28D82C862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208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DD6EEF-52E9-47AA-936E-FDBD84349F11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DA5EC8DE-EB63-4575-971A-ABAF953190E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Text Box 5"/>
          <p:cNvSpPr txBox="1">
            <a:spLocks noChangeArrowheads="1"/>
          </p:cNvSpPr>
          <p:nvPr userDrawn="1"/>
        </p:nvSpPr>
        <p:spPr bwMode="auto">
          <a:xfrm>
            <a:off x="7696200" y="6461125"/>
            <a:ext cx="1143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9CF2C134-7793-406B-BDE0-96C63535DCC6}" type="slidenum">
              <a:rPr lang="en-US" altLang="en-US" sz="1000" b="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0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0F36D6-8B40-AE0E-A815-311689BDD41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41871" y="6478581"/>
            <a:ext cx="3118010" cy="20956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Language of Medicine</a:t>
            </a:r>
            <a:br>
              <a:rPr lang="en-US" dirty="0"/>
            </a:br>
            <a:r>
              <a:rPr lang="en-US" dirty="0"/>
              <a:t>13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Davi</a:t>
            </a:r>
            <a:r>
              <a:rPr lang="en-US" dirty="0">
                <a:solidFill>
                  <a:schemeClr val="tx1"/>
                </a:solidFill>
              </a:rPr>
              <a:t>-Ellen </a:t>
            </a:r>
            <a:r>
              <a:rPr lang="en-US" dirty="0" err="1">
                <a:solidFill>
                  <a:schemeClr val="tx1"/>
                </a:solidFill>
              </a:rPr>
              <a:t>Chabner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69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</a:t>
            </a:r>
            <a:br>
              <a:rPr lang="en-US" dirty="0"/>
            </a:br>
            <a:r>
              <a:rPr lang="en-US" dirty="0"/>
              <a:t>Suffixes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326885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Goals</a:t>
            </a:r>
          </a:p>
        </p:txBody>
      </p:sp>
      <p:sp>
        <p:nvSpPr>
          <p:cNvPr id="6147" name="Rectangle 1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Define new suffixes and review those presented in previous chapters.</a:t>
            </a:r>
          </a:p>
          <a:p>
            <a:pPr eaLnBrk="1" hangingPunct="1"/>
            <a:r>
              <a:rPr lang="en-US" altLang="en-US"/>
              <a:t>Gain practice in word analysis by using these suffixes with combining forms to build and understand terms.</a:t>
            </a:r>
          </a:p>
          <a:p>
            <a:pPr eaLnBrk="1" hangingPunct="1"/>
            <a:r>
              <a:rPr lang="en-US" altLang="en-US"/>
              <a:t>Identify the functions of the different types of blood cells in the body.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</a:t>
            </a:r>
            <a:br>
              <a:rPr lang="en-US" dirty="0"/>
            </a:br>
            <a:r>
              <a:rPr lang="en-US" dirty="0"/>
              <a:t>Lesson 3.1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461687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1 of 7)</a:t>
            </a:r>
          </a:p>
        </p:txBody>
      </p:sp>
      <p:graphicFrame>
        <p:nvGraphicFramePr>
          <p:cNvPr id="7" name="Content Placeholder 6" descr="Group 1 of 7 combining forms with corresponding meanings: abdomin/o meaning abdomen; acr/o meaning extremities, top or extreme point; acu/o meaning sharp, severe, or sudden; aden/o meaning gland; adip/o meaning fat; amni/o meaning amnion; angi/o meaning vessel; arteri/o meaning artery; arthr/o meaning joint; and axill/o meaning armpit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7053448"/>
              </p:ext>
            </p:extLst>
          </p:nvPr>
        </p:nvGraphicFramePr>
        <p:xfrm>
          <a:off x="1295400" y="1295400"/>
          <a:ext cx="6858000" cy="5029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abdomin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abdomen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acr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extremities, top, extreme point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acu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sharp, severe, sudden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aden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gland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adip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fat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amni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amnion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angi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vessel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arteri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artery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arthr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joint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axill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armpit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804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2 of 7)</a:t>
            </a:r>
          </a:p>
        </p:txBody>
      </p:sp>
      <p:graphicFrame>
        <p:nvGraphicFramePr>
          <p:cNvPr id="7" name="Content Placeholder 6" descr="Group 2 of 7 combining forms and corresponding meanings: bi/o meaning life; blephar/o meaning eyelid; bronch/o meaning bronchial tubes; carcin/o meaning cancer; cardi/o meaning heart; chem/o meaning drug or chemical; chondr/o meaning cartilage; chron/o meaning time; col/o meaning colon (large intestine); and cyst/o meaning urinary bladder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2961703"/>
              </p:ext>
            </p:extLst>
          </p:nvPr>
        </p:nvGraphicFramePr>
        <p:xfrm>
          <a:off x="1447800" y="1381779"/>
          <a:ext cx="6248400" cy="5029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bi/o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life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blephar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eyelid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bronch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bronchial tubes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carcin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cancer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cardi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heart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chem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drug, chemical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chondr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cartilage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chron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time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col/o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colon (large intestine)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cyst/o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urinary bladder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41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3 of 7)</a:t>
            </a:r>
          </a:p>
        </p:txBody>
      </p:sp>
      <p:graphicFrame>
        <p:nvGraphicFramePr>
          <p:cNvPr id="7" name="Content Placeholder 6" descr="Group 3 of 7 combining forms and corresponding meanings:  encephal/o meaning brain; erythr/o meaning red; hem/o meaning blood; hempat/o meaning liver, hydr/o meaning water or fluid; inguin/o meaning groin; isch/o meaning to hold back; lapar/o meaning abdomen or abdominal wall; laryng/o meaning larynx; and leuko meaning white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408052"/>
              </p:ext>
            </p:extLst>
          </p:nvPr>
        </p:nvGraphicFramePr>
        <p:xfrm>
          <a:off x="1524000" y="1417638"/>
          <a:ext cx="6400800" cy="5029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encephal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brain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erythr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red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hem/o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blood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hepat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liver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hydr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water, fluid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inguin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groin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isch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to hold back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lapar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abdomen, abdominal wall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laryng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larynx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leuk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white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77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4 of 7)</a:t>
            </a:r>
          </a:p>
        </p:txBody>
      </p:sp>
      <p:graphicFrame>
        <p:nvGraphicFramePr>
          <p:cNvPr id="7" name="Content Placeholder 6" descr="Group 4 of 7 combining forms and corresponding meanings:  lymph/o meaning lymph; mamm/o meaning breast; mast/o meaning breast; morph/o meaning shape or form; muc/o meaning mucus; my/o meaning muscle; myel/o meaning spinal cord or bone marrow; necr/o meaning dealth (of cells or whole body); nephr/o meaning kidney; and neur/o meaning nerve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373849"/>
              </p:ext>
            </p:extLst>
          </p:nvPr>
        </p:nvGraphicFramePr>
        <p:xfrm>
          <a:off x="1295400" y="1408673"/>
          <a:ext cx="7010400" cy="5029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lymph/o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lymph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mamm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breast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mast/o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breast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morph/o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shape, form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muc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mucus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my/o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muscle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myel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spinal cord, bone marrow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necr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death (of cells or whole body)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nephr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kidney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neur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nerve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9385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5 of 7)</a:t>
            </a:r>
          </a:p>
        </p:txBody>
      </p:sp>
      <p:graphicFrame>
        <p:nvGraphicFramePr>
          <p:cNvPr id="7" name="Content Placeholder 6" descr="Group 5 of 7 combining forms and corresponding meanings: neutr/o meaning neutrophil; nucle/o meaning nucleus; ophthalm/o meaning eye; oste/o meaning bone; ot/o meaning ear; path/o meaning disease; peritoneo/o meaning peritoneum; phag/o meaning to eat or swallow; phelb/o meaning vein; and plas/o meaning development or formation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1095855"/>
              </p:ext>
            </p:extLst>
          </p:nvPr>
        </p:nvGraphicFramePr>
        <p:xfrm>
          <a:off x="1371600" y="1295400"/>
          <a:ext cx="6781800" cy="5029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neutr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neutrophil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nucle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nucleus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ophthalm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eye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oste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bone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ot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ear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path/o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disease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peritone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peritoneum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phag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to eat, swallow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phleb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vein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plas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formation, development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8560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6 of 7)</a:t>
            </a:r>
          </a:p>
        </p:txBody>
      </p:sp>
      <p:graphicFrame>
        <p:nvGraphicFramePr>
          <p:cNvPr id="7" name="Content Placeholder 6" descr="Group 6 of 7 combining forms and corresponding meanings:  pleur/o meaning pleura; pneumon/o meaning lungs; pulomon/o meaning lungs; radi/o meaning x-rays; rect/o meaning rectum; ren/o meaning nose; splen/o meaning spleen; and staphyl/o meaning cluster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8459173"/>
              </p:ext>
            </p:extLst>
          </p:nvPr>
        </p:nvGraphicFramePr>
        <p:xfrm>
          <a:off x="1752600" y="1417638"/>
          <a:ext cx="6172200" cy="5029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pleur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pleura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pneumon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lungs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pulmon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lungs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radi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x-rays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rect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rectum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ren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kidney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rhin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nose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sarc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flesh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splen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spleen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staphyl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clusters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520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7 of 7)</a:t>
            </a:r>
          </a:p>
        </p:txBody>
      </p:sp>
      <p:graphicFrame>
        <p:nvGraphicFramePr>
          <p:cNvPr id="7" name="Content Placeholder 6" descr="Group 7 of 7 combining forms and corresponding meanings:  strept/o meaning twisted chains; thorac/o meaning chest; thromb/o meaning clot; tonsill/o meaning tonsils; trache/o meaning trachea (windpipe); and ven/o meaning vein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488352"/>
              </p:ext>
            </p:extLst>
          </p:nvPr>
        </p:nvGraphicFramePr>
        <p:xfrm>
          <a:off x="1752600" y="2057400"/>
          <a:ext cx="64008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strept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twisted chains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thorac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chest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thromb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clot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tonsill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tonsils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trache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trachea (windpipe)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ven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vein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1574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and Terminology –</a:t>
            </a:r>
            <a:br>
              <a:rPr lang="en-US" dirty="0"/>
            </a:br>
            <a:r>
              <a:rPr lang="en-US" dirty="0"/>
              <a:t>Noun Suffixes (Slide 1 of 7)</a:t>
            </a:r>
          </a:p>
        </p:txBody>
      </p:sp>
      <p:graphicFrame>
        <p:nvGraphicFramePr>
          <p:cNvPr id="7" name="Content Placeholder 6" descr="Group 1 of 7 noun suffixes and corresponding meanings:  -algia meaning pain; -cele meaning hernia;       -centesis meaning surgical puncture to remove fluid; -coccus (plural is -cocci) meaning berry-shaped bacterium; and     -cyte meaning cell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0435320"/>
              </p:ext>
            </p:extLst>
          </p:nvPr>
        </p:nvGraphicFramePr>
        <p:xfrm>
          <a:off x="1333500" y="2133600"/>
          <a:ext cx="6896100" cy="3035808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596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9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algia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pain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cele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hernia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centesis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puncture to remove fluid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Wingdings 2" panose="05020102010507070707" pitchFamily="18" charset="2"/>
                        <a:buNone/>
                      </a:pPr>
                      <a:r>
                        <a:rPr lang="en-US" altLang="en-US" sz="2400" b="1" dirty="0"/>
                        <a:t>-coccus          (plural: -cocci)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berry-shaped bacterium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cyte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cell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722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and Terminology –</a:t>
            </a:r>
            <a:br>
              <a:rPr lang="en-US" dirty="0"/>
            </a:br>
            <a:r>
              <a:rPr lang="en-US" dirty="0"/>
              <a:t>Noun Suffixes (Slide 2 of 7)</a:t>
            </a:r>
          </a:p>
        </p:txBody>
      </p:sp>
      <p:graphicFrame>
        <p:nvGraphicFramePr>
          <p:cNvPr id="7" name="Content Placeholder 6" descr="Group 2 of 7 noun suffixes and corresponding meanings:  -dynia meaning pain; -ectomy meaning exicision, removal or resection; -emia meaning blood condition; -genesis meaning condition of producing or forming; and -gram meaning record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408131"/>
              </p:ext>
            </p:extLst>
          </p:nvPr>
        </p:nvGraphicFramePr>
        <p:xfrm>
          <a:off x="1219200" y="2209800"/>
          <a:ext cx="70104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dynia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ectomy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excision, removal, resection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emia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blood condition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-genesis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condition of producing, forming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-gram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record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1680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and Terminology –</a:t>
            </a:r>
            <a:br>
              <a:rPr lang="en-US" dirty="0"/>
            </a:br>
            <a:r>
              <a:rPr lang="en-US" dirty="0"/>
              <a:t>Noun Suffixes (Slide 3 of 7)</a:t>
            </a:r>
          </a:p>
        </p:txBody>
      </p:sp>
      <p:graphicFrame>
        <p:nvGraphicFramePr>
          <p:cNvPr id="7" name="Content Placeholder 6" descr="Group 3 of 7 noun suffixes and corresponding meanings:  -graph meaning instrument for recording;           -graphy meaning process of recording;    -itis meaning inflammation; -logy meaning study of; -lysis meaning breakdown, destruction or separation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6159594"/>
              </p:ext>
            </p:extLst>
          </p:nvPr>
        </p:nvGraphicFramePr>
        <p:xfrm>
          <a:off x="694765" y="2133600"/>
          <a:ext cx="82296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-graph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instrument for recording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graphy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process of recording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itis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inflammation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-logy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study 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lysis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breakdown, destruction, separation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344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and Terminology –</a:t>
            </a:r>
            <a:br>
              <a:rPr lang="en-US" dirty="0"/>
            </a:br>
            <a:r>
              <a:rPr lang="en-US" dirty="0"/>
              <a:t>Noun Suffixes (Slide 4 of 7)</a:t>
            </a:r>
          </a:p>
        </p:txBody>
      </p:sp>
      <p:graphicFrame>
        <p:nvGraphicFramePr>
          <p:cNvPr id="7" name="Content Placeholder 6" descr="Group 4 of 7 noun suffixes and corresponding meanings:  -malacia meaning softening; -megaly meaning enlargement; -oma meaning tumor, mass or collection of fluid; -opsy meaning to view; and -osis meaning condition (usually abnormal)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485515"/>
              </p:ext>
            </p:extLst>
          </p:nvPr>
        </p:nvGraphicFramePr>
        <p:xfrm>
          <a:off x="1219200" y="2133600"/>
          <a:ext cx="69342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malacia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softening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megaly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enlargement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oma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tumor, mass, collection of fluid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opsy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 view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osis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condition, usually abnormal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7921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and Terminology –</a:t>
            </a:r>
            <a:br>
              <a:rPr lang="en-US" dirty="0"/>
            </a:br>
            <a:r>
              <a:rPr lang="en-US" dirty="0"/>
              <a:t>Noun Suffixes (Slide 5 of 7)</a:t>
            </a:r>
          </a:p>
        </p:txBody>
      </p:sp>
      <p:graphicFrame>
        <p:nvGraphicFramePr>
          <p:cNvPr id="7" name="Content Placeholder 6" descr="Group 5 of 7 noun suffixes and corresponding meanings:  -pathy meaning disease condition; -penia meaning deficiency; -phobia meaning fear; -plasia meaning development, formation or growth; and -plasty meaning surgical repair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6393646"/>
              </p:ext>
            </p:extLst>
          </p:nvPr>
        </p:nvGraphicFramePr>
        <p:xfrm>
          <a:off x="1143000" y="2286000"/>
          <a:ext cx="65532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pathy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disease condition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penia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-phobia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plasia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development, formation, 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plasty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surgical repair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663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and Terminology –</a:t>
            </a:r>
            <a:br>
              <a:rPr lang="en-US" dirty="0"/>
            </a:br>
            <a:r>
              <a:rPr lang="en-US" dirty="0"/>
              <a:t>Noun Suffixes (Slide 6 of 7)</a:t>
            </a:r>
          </a:p>
        </p:txBody>
      </p:sp>
      <p:graphicFrame>
        <p:nvGraphicFramePr>
          <p:cNvPr id="7" name="Content Placeholder 6" descr="Group 6 of 7 noun suffixes and corresponding meanings: -ptosis meaning dropping falling or prolapse; -rrhea meaning flow or discharge; -sclerosis meaning hardening; -scope meaning instrument for visual examination; -scopy process of visual examination (with an endoscope); and -stasis meaning controlling or stopping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4463392"/>
              </p:ext>
            </p:extLst>
          </p:nvPr>
        </p:nvGraphicFramePr>
        <p:xfrm>
          <a:off x="990600" y="1981200"/>
          <a:ext cx="7162800" cy="35661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-ptosis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drooping, falling, prolapse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rrhea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flow, discharge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-sclerosis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hardening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-scope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instrument for visual examination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scopy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process of visual examination (with an endoscope)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-stasis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controlling, stopping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283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and Terminology –</a:t>
            </a:r>
            <a:br>
              <a:rPr lang="en-US" dirty="0"/>
            </a:br>
            <a:r>
              <a:rPr lang="en-US" dirty="0"/>
              <a:t>Noun Suffixes (Slide 7 of 7)</a:t>
            </a:r>
          </a:p>
        </p:txBody>
      </p:sp>
      <p:graphicFrame>
        <p:nvGraphicFramePr>
          <p:cNvPr id="7" name="Content Placeholder 6" descr="Group 7 of 7 noun suffixes and corresponding meanings:  -stomy meaning opening to form a mouth (stoma); -therapy meaning treatment;       -tomy meaning incision or cutting into; and -trophy meaning development or nourishment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9105548"/>
              </p:ext>
            </p:extLst>
          </p:nvPr>
        </p:nvGraphicFramePr>
        <p:xfrm>
          <a:off x="1066800" y="2362200"/>
          <a:ext cx="7010400" cy="22860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stomy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opening to form a mouth (stoma)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-therapy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treatment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tomy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incision, cutting into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-trophy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development, nourishment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220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sz="4800" dirty="0"/>
              <a:t>      </a:t>
            </a:r>
            <a:r>
              <a:rPr lang="en-US" altLang="en-US" sz="5400" b="1" dirty="0"/>
              <a:t>QUICK QUIZ </a:t>
            </a:r>
            <a:r>
              <a:rPr lang="en-US" altLang="en-US" dirty="0"/>
              <a:t>(Slide 1 of 3)	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2057400"/>
            <a:ext cx="6553200" cy="4114800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1.  Which term means fear of heights?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A.  Acromegaly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B.  Hydrophobia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C.  Acrophobia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D.  Agoraphobia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and Terminology –</a:t>
            </a:r>
            <a:br>
              <a:rPr lang="en-US" dirty="0"/>
            </a:br>
            <a:r>
              <a:rPr lang="en-US" dirty="0"/>
              <a:t>Shorter Noun Suffixes</a:t>
            </a:r>
          </a:p>
        </p:txBody>
      </p:sp>
      <p:graphicFrame>
        <p:nvGraphicFramePr>
          <p:cNvPr id="7" name="Content Placeholder 6" descr="Group shorter noun suffixes and corresponding meanings:  -er meaning one who; -ia meaning condition; -ist meaning specialist; -ole meaning little or small; -ule meaning little or small; -um or ium meaning structure or tissue; -us meaning structure or substance; and -y meaning condition of proces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66722"/>
              </p:ext>
            </p:extLst>
          </p:nvPr>
        </p:nvGraphicFramePr>
        <p:xfrm>
          <a:off x="1714500" y="1905000"/>
          <a:ext cx="5715000" cy="4114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er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one who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condition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ist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specialist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-ole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little, small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b="1" dirty="0" err="1"/>
                        <a:t>ule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little, small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-um, -</a:t>
                      </a:r>
                      <a:r>
                        <a:rPr lang="en-US" altLang="en-US" sz="2400" b="1" dirty="0" err="1"/>
                        <a:t>ium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structure, tissue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-us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structure, substance</a:t>
                      </a:r>
                      <a:endParaRPr lang="en-US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condition, process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647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and Terminology –</a:t>
            </a:r>
            <a:br>
              <a:rPr lang="en-US" dirty="0"/>
            </a:br>
            <a:r>
              <a:rPr lang="en-US" dirty="0"/>
              <a:t>Adjective Suffixes (Slide 1 of 2)</a:t>
            </a:r>
          </a:p>
        </p:txBody>
      </p:sp>
      <p:graphicFrame>
        <p:nvGraphicFramePr>
          <p:cNvPr id="7" name="Content Placeholder 6" descr="Group 1 of 2 adjective suffixes and corresponding meanings:  -ac or -iac; -al; -ar; and -eal each meaning pertaining to; and -genic meaning pertaining to producing, produced by or in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651728"/>
              </p:ext>
            </p:extLst>
          </p:nvPr>
        </p:nvGraphicFramePr>
        <p:xfrm>
          <a:off x="1524000" y="1905000"/>
          <a:ext cx="6096000" cy="393192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96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-ac, -</a:t>
                      </a:r>
                      <a:r>
                        <a:rPr lang="en-US" altLang="en-US" sz="2400" b="1" dirty="0" err="1"/>
                        <a:t>iac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pertaining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pertaining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ar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pertaining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ar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pertaining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eal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pertaining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-genic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pertaining to producing,        produced by, or 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82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and Terminology –</a:t>
            </a:r>
            <a:br>
              <a:rPr lang="en-US" dirty="0"/>
            </a:br>
            <a:r>
              <a:rPr lang="en-US" dirty="0"/>
              <a:t>Adjective Suffixes (Slide 2 of 2)</a:t>
            </a:r>
          </a:p>
        </p:txBody>
      </p:sp>
      <p:graphicFrame>
        <p:nvGraphicFramePr>
          <p:cNvPr id="7" name="Content Placeholder 6" descr="Group 2 of 2 adjective suffixes and corresponding meanings:  -ic, -ical meaning pertaining to; -oid meaning resembling; -ose meaning pertaining to or full of; -ous meaning pertaining to and -tic meaning pertaining to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6876254"/>
              </p:ext>
            </p:extLst>
          </p:nvPr>
        </p:nvGraphicFramePr>
        <p:xfrm>
          <a:off x="1752600" y="2286000"/>
          <a:ext cx="56388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ic</a:t>
                      </a:r>
                      <a:r>
                        <a:rPr lang="en-US" sz="2400" b="1" dirty="0"/>
                        <a:t>, -</a:t>
                      </a:r>
                      <a:r>
                        <a:rPr lang="en-US" sz="2400" b="1" dirty="0" err="1"/>
                        <a:t>ical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pertaining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oid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resembling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ose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pertaining to,</a:t>
                      </a:r>
                      <a:r>
                        <a:rPr lang="en-US" sz="2400" b="1" dirty="0"/>
                        <a:t> </a:t>
                      </a:r>
                      <a:r>
                        <a:rPr lang="en-US" sz="2400" dirty="0"/>
                        <a:t>full 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ous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pertaining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-tic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pertaining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8076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Build Terms with Suffixes </a:t>
            </a:r>
            <a:br>
              <a:rPr lang="en-US" altLang="en-US" dirty="0"/>
            </a:br>
            <a:r>
              <a:rPr lang="en-US" altLang="en-US" dirty="0"/>
              <a:t>and Combining Forms </a:t>
            </a:r>
            <a:endParaRPr lang="en-US" dirty="0"/>
          </a:p>
        </p:txBody>
      </p:sp>
      <p:graphicFrame>
        <p:nvGraphicFramePr>
          <p:cNvPr id="7" name="Content Placeholder 6" descr="A group of medical terms each syllable separated into word parts by slashes with corresponding meanings:  arthr/itis meaning inflammation of joint; blepha/o/ptosis meaning drooping eyelid; isch/emia meaning loss of normal blood flow; oste/o/tgenic meaning produced by bone tissue; and staphyl/o/cocci meaning berry-shaped bacteria that grow in cluster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977612"/>
              </p:ext>
            </p:extLst>
          </p:nvPr>
        </p:nvGraphicFramePr>
        <p:xfrm>
          <a:off x="457200" y="2209800"/>
          <a:ext cx="8229600" cy="31089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 + Suffix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arthr</a:t>
                      </a:r>
                      <a:r>
                        <a:rPr lang="en-US" sz="2400" dirty="0"/>
                        <a:t>/itis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inflammation of joint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blephar</a:t>
                      </a:r>
                      <a:r>
                        <a:rPr lang="en-US" sz="2400" dirty="0"/>
                        <a:t>/o/ptosis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drooping eyelid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isch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emia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loss of normal blood 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oste</a:t>
                      </a:r>
                      <a:r>
                        <a:rPr lang="en-US" sz="2400" dirty="0"/>
                        <a:t>/o/genic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produced by bone tissue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staphyl</a:t>
                      </a:r>
                      <a:r>
                        <a:rPr lang="en-US" sz="2400" dirty="0"/>
                        <a:t>/o/</a:t>
                      </a:r>
                      <a:r>
                        <a:rPr lang="en-US" sz="2400" dirty="0" err="1"/>
                        <a:t>cocci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berry-shaped bacteria that grow in clusters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929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Closer Look: Hernia</a:t>
            </a:r>
            <a:endParaRPr lang="es-419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992502"/>
            <a:ext cx="7696200" cy="1066800"/>
          </a:xfrm>
        </p:spPr>
        <p:txBody>
          <a:bodyPr/>
          <a:lstStyle/>
          <a:p>
            <a:r>
              <a:rPr lang="en-US" altLang="en-US" dirty="0"/>
              <a:t>Protrusion of an organ or the muscular wall of an organ through the cavity that normally contains it</a:t>
            </a:r>
          </a:p>
          <a:p>
            <a:endParaRPr lang="es-419" dirty="0"/>
          </a:p>
        </p:txBody>
      </p:sp>
      <p:pic>
        <p:nvPicPr>
          <p:cNvPr id="6" name="Picture 7" descr="In a cystocele, a portion of the urinary bladder herniates posteriorly toward the vagina. In rectocele, a portion of the rectum herniates anteriorly toward the vagina.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059302"/>
            <a:ext cx="6487443" cy="3038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2460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 dirty="0"/>
              <a:t>      </a:t>
            </a:r>
            <a:r>
              <a:rPr lang="en-US" altLang="en-US" sz="5400" b="1" dirty="0"/>
              <a:t>QUICK QUIZ </a:t>
            </a:r>
            <a:r>
              <a:rPr lang="en-US" altLang="en-US" dirty="0"/>
              <a:t>(Slide 2 of 3)	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1981200"/>
            <a:ext cx="6858000" cy="3733800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2.  A rectocele is: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/>
              <a:t>a herniation of the intestines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/>
              <a:t>protrusion of a portion of the rectum toward the vaginal wall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/>
              <a:t>a hiatal hernia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/>
              <a:t>an </a:t>
            </a:r>
            <a:r>
              <a:rPr lang="en-US" altLang="en-US" sz="3200" dirty="0" err="1"/>
              <a:t>omphalocele</a:t>
            </a: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Closer Look:  Streptococcus </a:t>
            </a:r>
            <a:endParaRPr lang="es-419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8528" y="2209800"/>
            <a:ext cx="6553200" cy="1286121"/>
          </a:xfrm>
        </p:spPr>
        <p:txBody>
          <a:bodyPr/>
          <a:lstStyle/>
          <a:p>
            <a:r>
              <a:rPr lang="en-US" altLang="en-US" b="1" dirty="0"/>
              <a:t>Streptococcus and Staphylococcus:</a:t>
            </a:r>
            <a:r>
              <a:rPr lang="en-US" altLang="en-US" dirty="0"/>
              <a:t> Bacteria that grow in chains or clusters</a:t>
            </a:r>
          </a:p>
          <a:p>
            <a:endParaRPr lang="es-419" dirty="0"/>
          </a:p>
        </p:txBody>
      </p:sp>
      <p:pic>
        <p:nvPicPr>
          <p:cNvPr id="6" name="Picture 8" descr="Types of bacteria that grow in chains or clusters. Streptococci and staphylococci are gram-positive bacteria, retaining light purple color of the stain used in Gram’s method. Diplococci are gram-negative bacteria and have pink color of stain used in Gram’s method. 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90"/>
          <a:stretch>
            <a:fillRect/>
          </a:stretch>
        </p:blipFill>
        <p:spPr bwMode="auto">
          <a:xfrm>
            <a:off x="685800" y="3657600"/>
            <a:ext cx="7499979" cy="862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0674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228600"/>
            <a:ext cx="68580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A Closer Look:  Blood Cells</a:t>
            </a:r>
            <a:br>
              <a:rPr lang="en-US" altLang="en-US" dirty="0"/>
            </a:br>
            <a:r>
              <a:rPr lang="en-US" altLang="en-US" dirty="0"/>
              <a:t>(Slide 1 of 8)</a:t>
            </a:r>
            <a:endParaRPr lang="en-US" altLang="en-US" u="sng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85800" y="1641475"/>
            <a:ext cx="3400425" cy="4149725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3600" b="1" dirty="0"/>
              <a:t>1.  Erythrocytes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900" b="1" dirty="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900" b="1" dirty="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900" b="1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3200" b="1" dirty="0"/>
              <a:t>2.  Leukocytes</a:t>
            </a:r>
            <a:endParaRPr lang="en-US" altLang="en-US" sz="3200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4000" b="1" dirty="0"/>
              <a:t> </a:t>
            </a:r>
            <a:endParaRPr lang="en-US" altLang="en-US" sz="2400" b="1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3200" b="1" dirty="0"/>
              <a:t>3.  Thrombocytes or</a:t>
            </a:r>
            <a:r>
              <a:rPr lang="en-US" altLang="en-US" sz="3200" dirty="0"/>
              <a:t> </a:t>
            </a:r>
            <a:r>
              <a:rPr lang="en-US" altLang="en-US" sz="3200" b="1" dirty="0"/>
              <a:t>platelets</a:t>
            </a:r>
          </a:p>
        </p:txBody>
      </p:sp>
      <p:sp>
        <p:nvSpPr>
          <p:cNvPr id="30724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5029200" y="1752600"/>
            <a:ext cx="3048000" cy="4114800"/>
          </a:xfrm>
        </p:spPr>
        <p:txBody>
          <a:bodyPr/>
          <a:lstStyle/>
          <a:p>
            <a:pPr eaLnBrk="1" hangingPunct="1"/>
            <a:r>
              <a:rPr lang="en-US" altLang="en-US"/>
              <a:t>Red blood cells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White blood cells	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Clotting cells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1600" i="1"/>
          </a:p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6629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A Closer Look:  Blood Cells</a:t>
            </a:r>
            <a:br>
              <a:rPr lang="en-US" altLang="en-US" dirty="0"/>
            </a:br>
            <a:r>
              <a:rPr lang="en-US" altLang="en-US" dirty="0"/>
              <a:t>(Slide 2 of 8)</a:t>
            </a:r>
            <a:endParaRPr lang="en-US" altLang="en-US" u="sng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4000" b="1"/>
              <a:t>1. Erythrocytes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1000" b="1"/>
          </a:p>
          <a:p>
            <a:pPr eaLnBrk="1" hangingPunct="1"/>
            <a:r>
              <a:rPr lang="en-US" altLang="en-US"/>
              <a:t>Red blood cells</a:t>
            </a:r>
          </a:p>
          <a:p>
            <a:pPr eaLnBrk="1" hangingPunct="1"/>
            <a:r>
              <a:rPr lang="en-US" altLang="en-US"/>
              <a:t>Made in bone marrow</a:t>
            </a:r>
          </a:p>
          <a:p>
            <a:pPr eaLnBrk="1" hangingPunct="1"/>
            <a:r>
              <a:rPr lang="en-US" altLang="en-US"/>
              <a:t>Carry oxygen from the lungs to all body cells</a:t>
            </a:r>
          </a:p>
          <a:p>
            <a:pPr eaLnBrk="1" hangingPunct="1"/>
            <a:r>
              <a:rPr lang="en-US" altLang="en-US"/>
              <a:t>Hemoglobin: blood protein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1000" b="1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1000" b="1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1000" b="1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1000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6629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A Closer Look:  Blood Cells</a:t>
            </a:r>
            <a:br>
              <a:rPr lang="en-US" altLang="en-US" dirty="0"/>
            </a:br>
            <a:r>
              <a:rPr lang="en-US" altLang="en-US" dirty="0"/>
              <a:t>(Slide 3 of 8)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7772400" cy="42672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4000" b="1"/>
              <a:t>2. Leukocytes</a:t>
            </a:r>
            <a:endParaRPr lang="en-US" altLang="en-US" sz="4000"/>
          </a:p>
          <a:p>
            <a:pPr eaLnBrk="1" hangingPunct="1"/>
            <a:r>
              <a:rPr lang="en-US" altLang="en-US"/>
              <a:t>White blood cells</a:t>
            </a:r>
          </a:p>
          <a:p>
            <a:pPr eaLnBrk="1" hangingPunct="1"/>
            <a:r>
              <a:rPr lang="en-US" altLang="en-US"/>
              <a:t>Five different kinds of leukocytes, divided into two categories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Granulocytes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Mononuclear leukocytes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28600"/>
            <a:ext cx="6629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A Closer Look:  Blood Cells</a:t>
            </a:r>
            <a:br>
              <a:rPr lang="en-US" altLang="en-US" dirty="0"/>
            </a:br>
            <a:r>
              <a:rPr lang="en-US" altLang="en-US" dirty="0"/>
              <a:t>(Slide 4 of 8)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7772400" cy="4191000"/>
          </a:xfrm>
        </p:spPr>
        <p:txBody>
          <a:bodyPr/>
          <a:lstStyle/>
          <a:p>
            <a:pPr lvl="1" eaLnBrk="1" hangingPunct="1">
              <a:buFont typeface="Wingdings 2" panose="05020102010507070707" pitchFamily="18" charset="2"/>
              <a:buNone/>
            </a:pPr>
            <a:r>
              <a:rPr lang="en-US" altLang="en-US" sz="3600" b="1" dirty="0"/>
              <a:t>Granulocytes</a:t>
            </a:r>
            <a:r>
              <a:rPr lang="en-US" altLang="en-US" dirty="0"/>
              <a:t> – three types </a:t>
            </a:r>
          </a:p>
          <a:p>
            <a:pPr lvl="1" eaLnBrk="1" hangingPunct="1"/>
            <a:r>
              <a:rPr lang="en-US" altLang="en-US" dirty="0"/>
              <a:t>Eosinophils</a:t>
            </a:r>
          </a:p>
          <a:p>
            <a:pPr lvl="1" eaLnBrk="1" hangingPunct="1"/>
            <a:r>
              <a:rPr lang="en-US" altLang="en-US" dirty="0"/>
              <a:t>Basophils</a:t>
            </a:r>
          </a:p>
          <a:p>
            <a:pPr lvl="1" eaLnBrk="1" hangingPunct="1"/>
            <a:r>
              <a:rPr lang="en-US" altLang="en-US" dirty="0"/>
              <a:t>Neutrophils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228600"/>
            <a:ext cx="6629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A Closer Look:  Blood Cells</a:t>
            </a:r>
            <a:br>
              <a:rPr lang="en-US" altLang="en-US" dirty="0"/>
            </a:br>
            <a:r>
              <a:rPr lang="en-US" altLang="en-US" dirty="0"/>
              <a:t>(Slide 5 of 8)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4000" b="1" dirty="0"/>
              <a:t>	Mononuclear cells</a:t>
            </a:r>
            <a:r>
              <a:rPr lang="en-US" altLang="en-US" sz="4000" dirty="0"/>
              <a:t> </a:t>
            </a:r>
            <a:r>
              <a:rPr lang="en-US" altLang="en-US" dirty="0"/>
              <a:t>– two types </a:t>
            </a:r>
          </a:p>
          <a:p>
            <a:pPr lvl="1" eaLnBrk="1" hangingPunct="1"/>
            <a:r>
              <a:rPr lang="en-US" altLang="en-US" dirty="0"/>
              <a:t>Lymphocytes</a:t>
            </a:r>
          </a:p>
          <a:p>
            <a:pPr lvl="1" eaLnBrk="1" hangingPunct="1"/>
            <a:r>
              <a:rPr lang="en-US" altLang="en-US" dirty="0"/>
              <a:t>Monocytes</a:t>
            </a:r>
            <a:endParaRPr lang="en-US" altLang="en-US" i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Closer Look:  Blood Cells</a:t>
            </a:r>
            <a:br>
              <a:rPr lang="en-US" altLang="en-US" dirty="0"/>
            </a:br>
            <a:r>
              <a:rPr lang="en-US" altLang="en-US" dirty="0"/>
              <a:t>(Slide 6 of 8)</a:t>
            </a:r>
            <a:endParaRPr lang="es-419" dirty="0"/>
          </a:p>
        </p:txBody>
      </p:sp>
      <p:pic>
        <p:nvPicPr>
          <p:cNvPr id="5" name="Picture 2" descr="Five types of leukocytes (white blood cells): eosinophil, basophil, neutrophil, lymphocyte, monocyt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4" t="48990" r="3360" b="30302"/>
          <a:stretch>
            <a:fillRect/>
          </a:stretch>
        </p:blipFill>
        <p:spPr bwMode="auto">
          <a:xfrm>
            <a:off x="685800" y="2895600"/>
            <a:ext cx="8229600" cy="1519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7861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6629400" cy="1066800"/>
          </a:xfrm>
        </p:spPr>
        <p:txBody>
          <a:bodyPr/>
          <a:lstStyle/>
          <a:p>
            <a:pPr eaLnBrk="1" hangingPunct="1"/>
            <a:r>
              <a:rPr lang="en-US" altLang="en-US" dirty="0"/>
              <a:t>A Closer Look:  Blood Cells</a:t>
            </a:r>
            <a:br>
              <a:rPr lang="en-US" altLang="en-US" dirty="0"/>
            </a:br>
            <a:r>
              <a:rPr lang="en-US" altLang="en-US" dirty="0"/>
              <a:t>(Slide 7 of 8)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4000" b="1" dirty="0"/>
              <a:t>3. </a:t>
            </a:r>
            <a:r>
              <a:rPr lang="en-US" altLang="en-US" sz="4000" b="1" dirty="0" err="1"/>
              <a:t>Thrombocytes</a:t>
            </a:r>
            <a:r>
              <a:rPr lang="en-US" altLang="en-US" sz="4000" dirty="0"/>
              <a:t> </a:t>
            </a:r>
          </a:p>
          <a:p>
            <a:pPr eaLnBrk="1" hangingPunct="1"/>
            <a:r>
              <a:rPr lang="en-US" altLang="en-US" dirty="0"/>
              <a:t>Also known as platelets</a:t>
            </a:r>
          </a:p>
          <a:p>
            <a:pPr eaLnBrk="1" hangingPunct="1"/>
            <a:r>
              <a:rPr lang="en-US" altLang="en-US" dirty="0"/>
              <a:t>Tiny fragments of blood cells that are formed in the bone marrow</a:t>
            </a:r>
          </a:p>
          <a:p>
            <a:pPr eaLnBrk="1" hangingPunct="1"/>
            <a:r>
              <a:rPr lang="en-US" altLang="en-US" dirty="0"/>
              <a:t>Necessary for blood clotting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Closer Look:  </a:t>
            </a:r>
            <a:br>
              <a:rPr lang="en-US" altLang="en-US" dirty="0"/>
            </a:br>
            <a:r>
              <a:rPr lang="en-US" altLang="en-US" dirty="0"/>
              <a:t>Blood Cells </a:t>
            </a:r>
            <a:r>
              <a:rPr lang="en-US" altLang="en-US" sz="4000" dirty="0"/>
              <a:t>(Slide 8 of 8)	</a:t>
            </a:r>
            <a:endParaRPr lang="es-419" dirty="0"/>
          </a:p>
        </p:txBody>
      </p:sp>
      <p:pic>
        <p:nvPicPr>
          <p:cNvPr id="5" name="Picture 7" descr="Types of blood cells are erythrocytes (red blood cells), leukocytes (white blood cells that include granulocytes: eosinophil, basophil, neutrophil; and mononuclear cells: lymphocyte, monocyte), thrombocytes or platelets (clotting cells)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5" t="17448" r="19557" b="5676"/>
          <a:stretch>
            <a:fillRect/>
          </a:stretch>
        </p:blipFill>
        <p:spPr bwMode="auto">
          <a:xfrm>
            <a:off x="2435332" y="1600200"/>
            <a:ext cx="4273336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1148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5400" b="1" dirty="0"/>
              <a:t>      QUICK QUIZ </a:t>
            </a:r>
            <a:r>
              <a:rPr lang="en-US" altLang="en-US" dirty="0"/>
              <a:t>(Slide 3 of 3)	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981200"/>
            <a:ext cx="6096000" cy="3581400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3.  Which type of blood cells are necessary for clotting?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A.  Erythrocytes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B.  Granulocytes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C.  Monocytes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D.  Thrombocytes </a:t>
            </a:r>
          </a:p>
          <a:p>
            <a:pPr marL="533400" indent="-533400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6629400" cy="1219200"/>
          </a:xfrm>
        </p:spPr>
        <p:txBody>
          <a:bodyPr/>
          <a:lstStyle/>
          <a:p>
            <a:pPr eaLnBrk="1" hangingPunct="1"/>
            <a:r>
              <a:rPr lang="en-US" altLang="en-US"/>
              <a:t>A Closer Look: Acromegaly</a:t>
            </a:r>
          </a:p>
        </p:txBody>
      </p:sp>
      <p:sp>
        <p:nvSpPr>
          <p:cNvPr id="36869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641475"/>
            <a:ext cx="7529513" cy="4454525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charset="2"/>
              <a:buChar char="Ø"/>
              <a:defRPr/>
            </a:pPr>
            <a:r>
              <a:rPr lang="en-US" dirty="0"/>
              <a:t>Endocrine disorder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charset="2"/>
              <a:buChar char="Ø"/>
              <a:defRPr/>
            </a:pPr>
            <a:r>
              <a:rPr lang="en-US" dirty="0"/>
              <a:t>Occurs when the </a:t>
            </a:r>
            <a:r>
              <a:rPr lang="en-US" b="1" dirty="0"/>
              <a:t>pituitary gland </a:t>
            </a:r>
            <a:r>
              <a:rPr lang="en-US" dirty="0"/>
              <a:t>produces an excessive amount of growth hormone </a:t>
            </a:r>
            <a:r>
              <a:rPr lang="en-US" i="1" dirty="0"/>
              <a:t>after</a:t>
            </a:r>
            <a:r>
              <a:rPr lang="en-US" dirty="0"/>
              <a:t> completion of puberty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charset="2"/>
              <a:buChar char="Ø"/>
              <a:defRPr/>
            </a:pPr>
            <a:r>
              <a:rPr lang="en-US" dirty="0"/>
              <a:t>Often results from a benign tumor of the pituitary gland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charset="2"/>
              <a:buChar char="Ø"/>
              <a:defRPr/>
            </a:pPr>
            <a:r>
              <a:rPr lang="en-US" dirty="0"/>
              <a:t>Person typically is of normal height, but bones and soft tissue in the hands, feet, and face grow abnormally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charset="2"/>
              <a:buChar char="Ø"/>
              <a:defRPr/>
            </a:pPr>
            <a:r>
              <a:rPr lang="en-US" dirty="0"/>
              <a:t>Abraham Lincoln was believed to have features of acromegaly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Font typeface="Wingdings 2" charset="0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6629400" cy="1219200"/>
          </a:xfrm>
        </p:spPr>
        <p:txBody>
          <a:bodyPr/>
          <a:lstStyle/>
          <a:p>
            <a:pPr eaLnBrk="1" hangingPunct="1"/>
            <a:r>
              <a:rPr lang="en-US" altLang="en-US"/>
              <a:t>A Closer Look:  Laparoscopy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54525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 form of </a:t>
            </a:r>
            <a:r>
              <a:rPr lang="en-US" b="1" dirty="0"/>
              <a:t>minimally invasive surgery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Visual examination of the abdominal cavity using a laparoscope, a lighted telescopic instrument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Surgeon inserts the laparoscope through an incision in the abdomen near the navel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Used to examine abdominal viscera for evidence of disease or for various procedures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Grp="1" noChangeArrowheads="1"/>
          </p:cNvSpPr>
          <p:nvPr>
            <p:ph type="title"/>
          </p:nvPr>
        </p:nvSpPr>
        <p:spPr>
          <a:xfrm>
            <a:off x="1600200" y="228600"/>
            <a:ext cx="6858000" cy="1219200"/>
          </a:xfrm>
        </p:spPr>
        <p:txBody>
          <a:bodyPr/>
          <a:lstStyle/>
          <a:p>
            <a:pPr eaLnBrk="1" hangingPunct="1"/>
            <a:r>
              <a:rPr lang="en-US" altLang="en-US"/>
              <a:t>A Closer Look: Adenoids</a:t>
            </a:r>
          </a:p>
        </p:txBody>
      </p:sp>
      <p:sp>
        <p:nvSpPr>
          <p:cNvPr id="49157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8153400" cy="42672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Small masses of lymphatic tissue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Located in the part of the pharynx near the nose and nasal passages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literal meaning, </a:t>
            </a:r>
            <a:r>
              <a:rPr lang="en-US" altLang="en-US" dirty="0"/>
              <a:t>“</a:t>
            </a:r>
            <a:r>
              <a:rPr lang="en-US" dirty="0"/>
              <a:t>resembling glands,</a:t>
            </a:r>
            <a:r>
              <a:rPr lang="en-US" altLang="en-US" dirty="0"/>
              <a:t>”</a:t>
            </a:r>
            <a:r>
              <a:rPr lang="en-US" dirty="0"/>
              <a:t> is appropriate since they are neither endocrine nor exocrine glands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Adenoidectomy may be needed if they become enlarged and block the airway from the nose to the pharynx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11411</TotalTime>
  <Words>1684</Words>
  <Application>Microsoft Office PowerPoint</Application>
  <PresentationFormat>On-screen Show (4:3)</PresentationFormat>
  <Paragraphs>430</Paragraphs>
  <Slides>38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Times New Roman</vt:lpstr>
      <vt:lpstr>Wingdings</vt:lpstr>
      <vt:lpstr>Wingdings 2</vt:lpstr>
      <vt:lpstr>Office Theme</vt:lpstr>
      <vt:lpstr>The Language of Medicine 13th edition</vt:lpstr>
      <vt:lpstr>Chapter 3 Suffixes</vt:lpstr>
      <vt:lpstr>Chapter Goals</vt:lpstr>
      <vt:lpstr>Chapter 3 Lesson 3.1</vt:lpstr>
      <vt:lpstr>Combining Forms (Slide 1 of 7)</vt:lpstr>
      <vt:lpstr>Combining Forms (Slide 2 of 7)</vt:lpstr>
      <vt:lpstr>Combining Forms (Slide 3 of 7)</vt:lpstr>
      <vt:lpstr>Combining Forms (Slide 4 of 7)</vt:lpstr>
      <vt:lpstr>Combining Forms (Slide 5 of 7)</vt:lpstr>
      <vt:lpstr>Combining Forms (Slide 6 of 7)</vt:lpstr>
      <vt:lpstr>Combining Forms (Slide 7 of 7)</vt:lpstr>
      <vt:lpstr>Suffixes and Terminology – Noun Suffixes (Slide 1 of 7)</vt:lpstr>
      <vt:lpstr>Suffixes and Terminology – Noun Suffixes (Slide 2 of 7)</vt:lpstr>
      <vt:lpstr>Suffixes and Terminology – Noun Suffixes (Slide 3 of 7)</vt:lpstr>
      <vt:lpstr>Suffixes and Terminology – Noun Suffixes (Slide 4 of 7)</vt:lpstr>
      <vt:lpstr>Suffixes and Terminology – Noun Suffixes (Slide 5 of 7)</vt:lpstr>
      <vt:lpstr>Suffixes and Terminology – Noun Suffixes (Slide 6 of 7)</vt:lpstr>
      <vt:lpstr>Suffixes and Terminology – Noun Suffixes (Slide 7 of 7)</vt:lpstr>
      <vt:lpstr>      QUICK QUIZ (Slide 1 of 3) </vt:lpstr>
      <vt:lpstr>Suffixes and Terminology – Shorter Noun Suffixes</vt:lpstr>
      <vt:lpstr>Suffixes and Terminology – Adjective Suffixes (Slide 1 of 2)</vt:lpstr>
      <vt:lpstr>Suffixes and Terminology – Adjective Suffixes (Slide 2 of 2)</vt:lpstr>
      <vt:lpstr>Build Terms with Suffixes  and Combining Forms </vt:lpstr>
      <vt:lpstr>A Closer Look: Hernia</vt:lpstr>
      <vt:lpstr>      QUICK QUIZ (Slide 2 of 3) </vt:lpstr>
      <vt:lpstr>A Closer Look:  Streptococcus </vt:lpstr>
      <vt:lpstr>A Closer Look:  Blood Cells (Slide 1 of 8)</vt:lpstr>
      <vt:lpstr>A Closer Look:  Blood Cells (Slide 2 of 8)</vt:lpstr>
      <vt:lpstr>A Closer Look:  Blood Cells (Slide 3 of 8)</vt:lpstr>
      <vt:lpstr>A Closer Look:  Blood Cells (Slide 4 of 8)</vt:lpstr>
      <vt:lpstr>A Closer Look:  Blood Cells (Slide 5 of 8)</vt:lpstr>
      <vt:lpstr>A Closer Look:  Blood Cells (Slide 6 of 8)</vt:lpstr>
      <vt:lpstr>A Closer Look:  Blood Cells (Slide 7 of 8)</vt:lpstr>
      <vt:lpstr>A Closer Look:   Blood Cells (Slide 8 of 8) </vt:lpstr>
      <vt:lpstr>      QUICK QUIZ (Slide 3 of 3) </vt:lpstr>
      <vt:lpstr>A Closer Look: Acromegaly</vt:lpstr>
      <vt:lpstr>A Closer Look:  Laparoscopy</vt:lpstr>
      <vt:lpstr>A Closer Look: Adenoids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Language of Medicine A Write-in Text Explaining Medical Terms 7th Edition Davi-Ellen Chabner, B.A., M.A.T.</dc:title>
  <dc:creator>dell</dc:creator>
  <cp:lastModifiedBy>Jyoti Tyagi (IL-IN)</cp:lastModifiedBy>
  <cp:revision>318</cp:revision>
  <cp:lastPrinted>2007-04-13T21:13:01Z</cp:lastPrinted>
  <dcterms:created xsi:type="dcterms:W3CDTF">2004-11-01T16:15:23Z</dcterms:created>
  <dcterms:modified xsi:type="dcterms:W3CDTF">2023-12-07T04:15:16Z</dcterms:modified>
</cp:coreProperties>
</file>