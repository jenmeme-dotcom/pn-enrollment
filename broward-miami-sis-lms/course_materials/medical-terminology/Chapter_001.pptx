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82" r:id="rId1"/>
  </p:sldMasterIdLst>
  <p:notesMasterIdLst>
    <p:notesMasterId r:id="rId58"/>
  </p:notesMasterIdLst>
  <p:handoutMasterIdLst>
    <p:handoutMasterId r:id="rId59"/>
  </p:handoutMasterIdLst>
  <p:sldIdLst>
    <p:sldId id="357" r:id="rId2"/>
    <p:sldId id="269" r:id="rId3"/>
    <p:sldId id="258" r:id="rId4"/>
    <p:sldId id="265" r:id="rId5"/>
    <p:sldId id="272" r:id="rId6"/>
    <p:sldId id="317" r:id="rId7"/>
    <p:sldId id="318" r:id="rId8"/>
    <p:sldId id="275" r:id="rId9"/>
    <p:sldId id="277" r:id="rId10"/>
    <p:sldId id="260" r:id="rId11"/>
    <p:sldId id="273" r:id="rId12"/>
    <p:sldId id="274" r:id="rId13"/>
    <p:sldId id="358" r:id="rId14"/>
    <p:sldId id="359" r:id="rId15"/>
    <p:sldId id="279" r:id="rId16"/>
    <p:sldId id="281" r:id="rId17"/>
    <p:sldId id="263" r:id="rId18"/>
    <p:sldId id="282" r:id="rId19"/>
    <p:sldId id="283" r:id="rId20"/>
    <p:sldId id="284" r:id="rId21"/>
    <p:sldId id="285" r:id="rId22"/>
    <p:sldId id="325" r:id="rId23"/>
    <p:sldId id="341" r:id="rId24"/>
    <p:sldId id="319" r:id="rId25"/>
    <p:sldId id="326" r:id="rId26"/>
    <p:sldId id="342" r:id="rId27"/>
    <p:sldId id="327" r:id="rId28"/>
    <p:sldId id="343" r:id="rId29"/>
    <p:sldId id="320" r:id="rId30"/>
    <p:sldId id="328" r:id="rId31"/>
    <p:sldId id="344" r:id="rId32"/>
    <p:sldId id="329" r:id="rId33"/>
    <p:sldId id="345" r:id="rId34"/>
    <p:sldId id="330" r:id="rId35"/>
    <p:sldId id="346" r:id="rId36"/>
    <p:sldId id="331" r:id="rId37"/>
    <p:sldId id="347" r:id="rId38"/>
    <p:sldId id="332" r:id="rId39"/>
    <p:sldId id="348" r:id="rId40"/>
    <p:sldId id="333" r:id="rId41"/>
    <p:sldId id="349" r:id="rId42"/>
    <p:sldId id="321" r:id="rId43"/>
    <p:sldId id="334" r:id="rId44"/>
    <p:sldId id="350" r:id="rId45"/>
    <p:sldId id="335" r:id="rId46"/>
    <p:sldId id="351" r:id="rId47"/>
    <p:sldId id="336" r:id="rId48"/>
    <p:sldId id="352" r:id="rId49"/>
    <p:sldId id="337" r:id="rId50"/>
    <p:sldId id="353" r:id="rId51"/>
    <p:sldId id="338" r:id="rId52"/>
    <p:sldId id="354" r:id="rId53"/>
    <p:sldId id="340" r:id="rId54"/>
    <p:sldId id="355" r:id="rId55"/>
    <p:sldId id="339" r:id="rId56"/>
    <p:sldId id="356" r:id="rId57"/>
  </p:sldIdLst>
  <p:sldSz cx="9144000" cy="6858000" type="screen4x3"/>
  <p:notesSz cx="6950075" cy="923607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08">
          <p15:clr>
            <a:srgbClr val="A4A3A4"/>
          </p15:clr>
        </p15:guide>
        <p15:guide id="2" pos="432">
          <p15:clr>
            <a:srgbClr val="A4A3A4"/>
          </p15:clr>
        </p15:guide>
        <p15:guide id="3" pos="2921">
          <p15:clr>
            <a:srgbClr val="A4A3A4"/>
          </p15:clr>
        </p15:guide>
        <p15:guide id="4">
          <p15:clr>
            <a:srgbClr val="A4A3A4"/>
          </p15:clr>
        </p15:guide>
        <p15:guide id="5" pos="4704">
          <p15:clr>
            <a:srgbClr val="A4A3A4"/>
          </p15:clr>
        </p15:guide>
        <p15:guide id="6" pos="3809">
          <p15:clr>
            <a:srgbClr val="A4A3A4"/>
          </p15:clr>
        </p15:guide>
        <p15:guide id="7" pos="5395">
          <p15:clr>
            <a:srgbClr val="A4A3A4"/>
          </p15:clr>
        </p15:guide>
        <p15:guide id="8" pos="391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09">
          <p15:clr>
            <a:srgbClr val="A4A3A4"/>
          </p15:clr>
        </p15:guide>
        <p15:guide id="2" pos="218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352" autoAdjust="0"/>
    <p:restoredTop sz="80392" autoAdjust="0"/>
  </p:normalViewPr>
  <p:slideViewPr>
    <p:cSldViewPr>
      <p:cViewPr>
        <p:scale>
          <a:sx n="50" d="100"/>
          <a:sy n="50" d="100"/>
        </p:scale>
        <p:origin x="1288" y="52"/>
      </p:cViewPr>
      <p:guideLst>
        <p:guide orient="horz" pos="1008"/>
        <p:guide pos="432"/>
        <p:guide pos="2921"/>
        <p:guide/>
        <p:guide pos="4704"/>
        <p:guide pos="3809"/>
        <p:guide pos="5395"/>
        <p:guide pos="391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>
        <p:scale>
          <a:sx n="100" d="100"/>
          <a:sy n="100" d="100"/>
        </p:scale>
        <p:origin x="-1602" y="912"/>
      </p:cViewPr>
      <p:guideLst>
        <p:guide orient="horz" pos="2909"/>
        <p:guide pos="218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 Pfeifer" userId="fb68dd40a6c6cee7" providerId="LiveId" clId="{6580293B-E8BA-4EF5-9F3F-C372FF6725E5}"/>
    <pc:docChg chg="undo custSel modSld">
      <pc:chgData name="Ben Pfeifer" userId="fb68dd40a6c6cee7" providerId="LiveId" clId="{6580293B-E8BA-4EF5-9F3F-C372FF6725E5}" dt="2023-09-26T07:40:27.568" v="36" actId="12385"/>
      <pc:docMkLst>
        <pc:docMk/>
      </pc:docMkLst>
      <pc:sldChg chg="modSp mod">
        <pc:chgData name="Ben Pfeifer" userId="fb68dd40a6c6cee7" providerId="LiveId" clId="{6580293B-E8BA-4EF5-9F3F-C372FF6725E5}" dt="2023-09-26T07:39:07.713" v="5" actId="12385"/>
        <pc:sldMkLst>
          <pc:docMk/>
          <pc:sldMk cId="3356489426" sldId="325"/>
        </pc:sldMkLst>
        <pc:graphicFrameChg chg="modGraphic">
          <ac:chgData name="Ben Pfeifer" userId="fb68dd40a6c6cee7" providerId="LiveId" clId="{6580293B-E8BA-4EF5-9F3F-C372FF6725E5}" dt="2023-09-26T07:39:07.713" v="5" actId="12385"/>
          <ac:graphicFrameMkLst>
            <pc:docMk/>
            <pc:sldMk cId="3356489426" sldId="325"/>
            <ac:graphicFrameMk id="8" creationId="{00000000-0000-0000-0000-000000000000}"/>
          </ac:graphicFrameMkLst>
        </pc:graphicFrameChg>
      </pc:sldChg>
      <pc:sldChg chg="modSp mod">
        <pc:chgData name="Ben Pfeifer" userId="fb68dd40a6c6cee7" providerId="LiveId" clId="{6580293B-E8BA-4EF5-9F3F-C372FF6725E5}" dt="2023-09-26T07:39:17.568" v="7" actId="12385"/>
        <pc:sldMkLst>
          <pc:docMk/>
          <pc:sldMk cId="2389904450" sldId="326"/>
        </pc:sldMkLst>
        <pc:graphicFrameChg chg="modGraphic">
          <ac:chgData name="Ben Pfeifer" userId="fb68dd40a6c6cee7" providerId="LiveId" clId="{6580293B-E8BA-4EF5-9F3F-C372FF6725E5}" dt="2023-09-26T07:39:17.568" v="7" actId="12385"/>
          <ac:graphicFrameMkLst>
            <pc:docMk/>
            <pc:sldMk cId="2389904450" sldId="326"/>
            <ac:graphicFrameMk id="8" creationId="{00000000-0000-0000-0000-000000000000}"/>
          </ac:graphicFrameMkLst>
        </pc:graphicFrameChg>
      </pc:sldChg>
      <pc:sldChg chg="modSp mod">
        <pc:chgData name="Ben Pfeifer" userId="fb68dd40a6c6cee7" providerId="LiveId" clId="{6580293B-E8BA-4EF5-9F3F-C372FF6725E5}" dt="2023-09-26T07:39:23.083" v="9" actId="12385"/>
        <pc:sldMkLst>
          <pc:docMk/>
          <pc:sldMk cId="301904712" sldId="327"/>
        </pc:sldMkLst>
        <pc:graphicFrameChg chg="modGraphic">
          <ac:chgData name="Ben Pfeifer" userId="fb68dd40a6c6cee7" providerId="LiveId" clId="{6580293B-E8BA-4EF5-9F3F-C372FF6725E5}" dt="2023-09-26T07:39:23.083" v="9" actId="12385"/>
          <ac:graphicFrameMkLst>
            <pc:docMk/>
            <pc:sldMk cId="301904712" sldId="327"/>
            <ac:graphicFrameMk id="8" creationId="{00000000-0000-0000-0000-000000000000}"/>
          </ac:graphicFrameMkLst>
        </pc:graphicFrameChg>
      </pc:sldChg>
      <pc:sldChg chg="modSp mod">
        <pc:chgData name="Ben Pfeifer" userId="fb68dd40a6c6cee7" providerId="LiveId" clId="{6580293B-E8BA-4EF5-9F3F-C372FF6725E5}" dt="2023-09-26T07:39:27.633" v="11" actId="12385"/>
        <pc:sldMkLst>
          <pc:docMk/>
          <pc:sldMk cId="3002511359" sldId="328"/>
        </pc:sldMkLst>
        <pc:graphicFrameChg chg="modGraphic">
          <ac:chgData name="Ben Pfeifer" userId="fb68dd40a6c6cee7" providerId="LiveId" clId="{6580293B-E8BA-4EF5-9F3F-C372FF6725E5}" dt="2023-09-26T07:39:27.633" v="11" actId="12385"/>
          <ac:graphicFrameMkLst>
            <pc:docMk/>
            <pc:sldMk cId="3002511359" sldId="328"/>
            <ac:graphicFrameMk id="8" creationId="{00000000-0000-0000-0000-000000000000}"/>
          </ac:graphicFrameMkLst>
        </pc:graphicFrameChg>
      </pc:sldChg>
      <pc:sldChg chg="modSp mod">
        <pc:chgData name="Ben Pfeifer" userId="fb68dd40a6c6cee7" providerId="LiveId" clId="{6580293B-E8BA-4EF5-9F3F-C372FF6725E5}" dt="2023-09-26T07:39:32.018" v="13" actId="12385"/>
        <pc:sldMkLst>
          <pc:docMk/>
          <pc:sldMk cId="485536129" sldId="329"/>
        </pc:sldMkLst>
        <pc:graphicFrameChg chg="modGraphic">
          <ac:chgData name="Ben Pfeifer" userId="fb68dd40a6c6cee7" providerId="LiveId" clId="{6580293B-E8BA-4EF5-9F3F-C372FF6725E5}" dt="2023-09-26T07:39:32.018" v="13" actId="12385"/>
          <ac:graphicFrameMkLst>
            <pc:docMk/>
            <pc:sldMk cId="485536129" sldId="329"/>
            <ac:graphicFrameMk id="8" creationId="{00000000-0000-0000-0000-000000000000}"/>
          </ac:graphicFrameMkLst>
        </pc:graphicFrameChg>
      </pc:sldChg>
      <pc:sldChg chg="modSp mod">
        <pc:chgData name="Ben Pfeifer" userId="fb68dd40a6c6cee7" providerId="LiveId" clId="{6580293B-E8BA-4EF5-9F3F-C372FF6725E5}" dt="2023-09-26T07:39:37.227" v="15" actId="12385"/>
        <pc:sldMkLst>
          <pc:docMk/>
          <pc:sldMk cId="3905281205" sldId="330"/>
        </pc:sldMkLst>
        <pc:graphicFrameChg chg="modGraphic">
          <ac:chgData name="Ben Pfeifer" userId="fb68dd40a6c6cee7" providerId="LiveId" clId="{6580293B-E8BA-4EF5-9F3F-C372FF6725E5}" dt="2023-09-26T07:39:37.227" v="15" actId="12385"/>
          <ac:graphicFrameMkLst>
            <pc:docMk/>
            <pc:sldMk cId="3905281205" sldId="330"/>
            <ac:graphicFrameMk id="8" creationId="{00000000-0000-0000-0000-000000000000}"/>
          </ac:graphicFrameMkLst>
        </pc:graphicFrameChg>
      </pc:sldChg>
      <pc:sldChg chg="modSp mod">
        <pc:chgData name="Ben Pfeifer" userId="fb68dd40a6c6cee7" providerId="LiveId" clId="{6580293B-E8BA-4EF5-9F3F-C372FF6725E5}" dt="2023-09-26T07:39:42.095" v="17" actId="12385"/>
        <pc:sldMkLst>
          <pc:docMk/>
          <pc:sldMk cId="873701357" sldId="331"/>
        </pc:sldMkLst>
        <pc:graphicFrameChg chg="modGraphic">
          <ac:chgData name="Ben Pfeifer" userId="fb68dd40a6c6cee7" providerId="LiveId" clId="{6580293B-E8BA-4EF5-9F3F-C372FF6725E5}" dt="2023-09-26T07:39:42.095" v="17" actId="12385"/>
          <ac:graphicFrameMkLst>
            <pc:docMk/>
            <pc:sldMk cId="873701357" sldId="331"/>
            <ac:graphicFrameMk id="8" creationId="{00000000-0000-0000-0000-000000000000}"/>
          </ac:graphicFrameMkLst>
        </pc:graphicFrameChg>
      </pc:sldChg>
      <pc:sldChg chg="modSp mod">
        <pc:chgData name="Ben Pfeifer" userId="fb68dd40a6c6cee7" providerId="LiveId" clId="{6580293B-E8BA-4EF5-9F3F-C372FF6725E5}" dt="2023-09-26T07:39:46.981" v="19" actId="12385"/>
        <pc:sldMkLst>
          <pc:docMk/>
          <pc:sldMk cId="1303645226" sldId="332"/>
        </pc:sldMkLst>
        <pc:graphicFrameChg chg="modGraphic">
          <ac:chgData name="Ben Pfeifer" userId="fb68dd40a6c6cee7" providerId="LiveId" clId="{6580293B-E8BA-4EF5-9F3F-C372FF6725E5}" dt="2023-09-26T07:39:46.981" v="19" actId="12385"/>
          <ac:graphicFrameMkLst>
            <pc:docMk/>
            <pc:sldMk cId="1303645226" sldId="332"/>
            <ac:graphicFrameMk id="8" creationId="{00000000-0000-0000-0000-000000000000}"/>
          </ac:graphicFrameMkLst>
        </pc:graphicFrameChg>
      </pc:sldChg>
      <pc:sldChg chg="modSp mod">
        <pc:chgData name="Ben Pfeifer" userId="fb68dd40a6c6cee7" providerId="LiveId" clId="{6580293B-E8BA-4EF5-9F3F-C372FF6725E5}" dt="2023-09-26T07:39:51.667" v="21" actId="12385"/>
        <pc:sldMkLst>
          <pc:docMk/>
          <pc:sldMk cId="2235343682" sldId="333"/>
        </pc:sldMkLst>
        <pc:graphicFrameChg chg="modGraphic">
          <ac:chgData name="Ben Pfeifer" userId="fb68dd40a6c6cee7" providerId="LiveId" clId="{6580293B-E8BA-4EF5-9F3F-C372FF6725E5}" dt="2023-09-26T07:39:51.667" v="21" actId="12385"/>
          <ac:graphicFrameMkLst>
            <pc:docMk/>
            <pc:sldMk cId="2235343682" sldId="333"/>
            <ac:graphicFrameMk id="8" creationId="{00000000-0000-0000-0000-000000000000}"/>
          </ac:graphicFrameMkLst>
        </pc:graphicFrameChg>
      </pc:sldChg>
      <pc:sldChg chg="modSp mod">
        <pc:chgData name="Ben Pfeifer" userId="fb68dd40a6c6cee7" providerId="LiveId" clId="{6580293B-E8BA-4EF5-9F3F-C372FF6725E5}" dt="2023-09-26T07:39:56.369" v="23" actId="12385"/>
        <pc:sldMkLst>
          <pc:docMk/>
          <pc:sldMk cId="933482553" sldId="334"/>
        </pc:sldMkLst>
        <pc:graphicFrameChg chg="modGraphic">
          <ac:chgData name="Ben Pfeifer" userId="fb68dd40a6c6cee7" providerId="LiveId" clId="{6580293B-E8BA-4EF5-9F3F-C372FF6725E5}" dt="2023-09-26T07:39:56.369" v="23" actId="12385"/>
          <ac:graphicFrameMkLst>
            <pc:docMk/>
            <pc:sldMk cId="933482553" sldId="334"/>
            <ac:graphicFrameMk id="8" creationId="{00000000-0000-0000-0000-000000000000}"/>
          </ac:graphicFrameMkLst>
        </pc:graphicFrameChg>
      </pc:sldChg>
      <pc:sldChg chg="modSp mod">
        <pc:chgData name="Ben Pfeifer" userId="fb68dd40a6c6cee7" providerId="LiveId" clId="{6580293B-E8BA-4EF5-9F3F-C372FF6725E5}" dt="2023-09-26T07:40:01.238" v="25" actId="12385"/>
        <pc:sldMkLst>
          <pc:docMk/>
          <pc:sldMk cId="1264123340" sldId="335"/>
        </pc:sldMkLst>
        <pc:graphicFrameChg chg="modGraphic">
          <ac:chgData name="Ben Pfeifer" userId="fb68dd40a6c6cee7" providerId="LiveId" clId="{6580293B-E8BA-4EF5-9F3F-C372FF6725E5}" dt="2023-09-26T07:40:01.238" v="25" actId="12385"/>
          <ac:graphicFrameMkLst>
            <pc:docMk/>
            <pc:sldMk cId="1264123340" sldId="335"/>
            <ac:graphicFrameMk id="8" creationId="{00000000-0000-0000-0000-000000000000}"/>
          </ac:graphicFrameMkLst>
        </pc:graphicFrameChg>
      </pc:sldChg>
      <pc:sldChg chg="modSp mod">
        <pc:chgData name="Ben Pfeifer" userId="fb68dd40a6c6cee7" providerId="LiveId" clId="{6580293B-E8BA-4EF5-9F3F-C372FF6725E5}" dt="2023-09-26T07:40:06.532" v="27" actId="12385"/>
        <pc:sldMkLst>
          <pc:docMk/>
          <pc:sldMk cId="2015400379" sldId="336"/>
        </pc:sldMkLst>
        <pc:graphicFrameChg chg="modGraphic">
          <ac:chgData name="Ben Pfeifer" userId="fb68dd40a6c6cee7" providerId="LiveId" clId="{6580293B-E8BA-4EF5-9F3F-C372FF6725E5}" dt="2023-09-26T07:40:06.532" v="27" actId="12385"/>
          <ac:graphicFrameMkLst>
            <pc:docMk/>
            <pc:sldMk cId="2015400379" sldId="336"/>
            <ac:graphicFrameMk id="8" creationId="{00000000-0000-0000-0000-000000000000}"/>
          </ac:graphicFrameMkLst>
        </pc:graphicFrameChg>
      </pc:sldChg>
      <pc:sldChg chg="modSp mod">
        <pc:chgData name="Ben Pfeifer" userId="fb68dd40a6c6cee7" providerId="LiveId" clId="{6580293B-E8BA-4EF5-9F3F-C372FF6725E5}" dt="2023-09-26T07:40:10.910" v="29" actId="12385"/>
        <pc:sldMkLst>
          <pc:docMk/>
          <pc:sldMk cId="1988727535" sldId="337"/>
        </pc:sldMkLst>
        <pc:graphicFrameChg chg="modGraphic">
          <ac:chgData name="Ben Pfeifer" userId="fb68dd40a6c6cee7" providerId="LiveId" clId="{6580293B-E8BA-4EF5-9F3F-C372FF6725E5}" dt="2023-09-26T07:40:10.910" v="29" actId="12385"/>
          <ac:graphicFrameMkLst>
            <pc:docMk/>
            <pc:sldMk cId="1988727535" sldId="337"/>
            <ac:graphicFrameMk id="8" creationId="{00000000-0000-0000-0000-000000000000}"/>
          </ac:graphicFrameMkLst>
        </pc:graphicFrameChg>
      </pc:sldChg>
      <pc:sldChg chg="modSp mod">
        <pc:chgData name="Ben Pfeifer" userId="fb68dd40a6c6cee7" providerId="LiveId" clId="{6580293B-E8BA-4EF5-9F3F-C372FF6725E5}" dt="2023-09-26T07:40:15.597" v="31" actId="12385"/>
        <pc:sldMkLst>
          <pc:docMk/>
          <pc:sldMk cId="3228644480" sldId="338"/>
        </pc:sldMkLst>
        <pc:graphicFrameChg chg="modGraphic">
          <ac:chgData name="Ben Pfeifer" userId="fb68dd40a6c6cee7" providerId="LiveId" clId="{6580293B-E8BA-4EF5-9F3F-C372FF6725E5}" dt="2023-09-26T07:40:15.597" v="31" actId="12385"/>
          <ac:graphicFrameMkLst>
            <pc:docMk/>
            <pc:sldMk cId="3228644480" sldId="338"/>
            <ac:graphicFrameMk id="8" creationId="{00000000-0000-0000-0000-000000000000}"/>
          </ac:graphicFrameMkLst>
        </pc:graphicFrameChg>
      </pc:sldChg>
      <pc:sldChg chg="modSp mod">
        <pc:chgData name="Ben Pfeifer" userId="fb68dd40a6c6cee7" providerId="LiveId" clId="{6580293B-E8BA-4EF5-9F3F-C372FF6725E5}" dt="2023-09-26T07:40:25.146" v="35" actId="12385"/>
        <pc:sldMkLst>
          <pc:docMk/>
          <pc:sldMk cId="3257082583" sldId="339"/>
        </pc:sldMkLst>
        <pc:graphicFrameChg chg="modGraphic">
          <ac:chgData name="Ben Pfeifer" userId="fb68dd40a6c6cee7" providerId="LiveId" clId="{6580293B-E8BA-4EF5-9F3F-C372FF6725E5}" dt="2023-09-26T07:40:25.146" v="35" actId="12385"/>
          <ac:graphicFrameMkLst>
            <pc:docMk/>
            <pc:sldMk cId="3257082583" sldId="339"/>
            <ac:graphicFrameMk id="8" creationId="{00000000-0000-0000-0000-000000000000}"/>
          </ac:graphicFrameMkLst>
        </pc:graphicFrameChg>
      </pc:sldChg>
      <pc:sldChg chg="modSp mod">
        <pc:chgData name="Ben Pfeifer" userId="fb68dd40a6c6cee7" providerId="LiveId" clId="{6580293B-E8BA-4EF5-9F3F-C372FF6725E5}" dt="2023-09-26T07:40:20.720" v="33" actId="12385"/>
        <pc:sldMkLst>
          <pc:docMk/>
          <pc:sldMk cId="955194122" sldId="340"/>
        </pc:sldMkLst>
        <pc:graphicFrameChg chg="modGraphic">
          <ac:chgData name="Ben Pfeifer" userId="fb68dd40a6c6cee7" providerId="LiveId" clId="{6580293B-E8BA-4EF5-9F3F-C372FF6725E5}" dt="2023-09-26T07:40:20.720" v="33" actId="12385"/>
          <ac:graphicFrameMkLst>
            <pc:docMk/>
            <pc:sldMk cId="955194122" sldId="340"/>
            <ac:graphicFrameMk id="8" creationId="{00000000-0000-0000-0000-000000000000}"/>
          </ac:graphicFrameMkLst>
        </pc:graphicFrameChg>
      </pc:sldChg>
      <pc:sldChg chg="modSp mod">
        <pc:chgData name="Ben Pfeifer" userId="fb68dd40a6c6cee7" providerId="LiveId" clId="{6580293B-E8BA-4EF5-9F3F-C372FF6725E5}" dt="2023-09-26T07:39:14.474" v="6" actId="12385"/>
        <pc:sldMkLst>
          <pc:docMk/>
          <pc:sldMk cId="3671178954" sldId="341"/>
        </pc:sldMkLst>
        <pc:graphicFrameChg chg="modGraphic">
          <ac:chgData name="Ben Pfeifer" userId="fb68dd40a6c6cee7" providerId="LiveId" clId="{6580293B-E8BA-4EF5-9F3F-C372FF6725E5}" dt="2023-09-26T07:39:14.474" v="6" actId="12385"/>
          <ac:graphicFrameMkLst>
            <pc:docMk/>
            <pc:sldMk cId="3671178954" sldId="341"/>
            <ac:graphicFrameMk id="8" creationId="{00000000-0000-0000-0000-000000000000}"/>
          </ac:graphicFrameMkLst>
        </pc:graphicFrameChg>
      </pc:sldChg>
      <pc:sldChg chg="modSp mod">
        <pc:chgData name="Ben Pfeifer" userId="fb68dd40a6c6cee7" providerId="LiveId" clId="{6580293B-E8BA-4EF5-9F3F-C372FF6725E5}" dt="2023-09-26T07:39:20.583" v="8" actId="12385"/>
        <pc:sldMkLst>
          <pc:docMk/>
          <pc:sldMk cId="3954837058" sldId="342"/>
        </pc:sldMkLst>
        <pc:graphicFrameChg chg="modGraphic">
          <ac:chgData name="Ben Pfeifer" userId="fb68dd40a6c6cee7" providerId="LiveId" clId="{6580293B-E8BA-4EF5-9F3F-C372FF6725E5}" dt="2023-09-26T07:39:20.583" v="8" actId="12385"/>
          <ac:graphicFrameMkLst>
            <pc:docMk/>
            <pc:sldMk cId="3954837058" sldId="342"/>
            <ac:graphicFrameMk id="8" creationId="{00000000-0000-0000-0000-000000000000}"/>
          </ac:graphicFrameMkLst>
        </pc:graphicFrameChg>
      </pc:sldChg>
      <pc:sldChg chg="modSp mod">
        <pc:chgData name="Ben Pfeifer" userId="fb68dd40a6c6cee7" providerId="LiveId" clId="{6580293B-E8BA-4EF5-9F3F-C372FF6725E5}" dt="2023-09-26T07:39:25.482" v="10" actId="12385"/>
        <pc:sldMkLst>
          <pc:docMk/>
          <pc:sldMk cId="2862027352" sldId="343"/>
        </pc:sldMkLst>
        <pc:graphicFrameChg chg="modGraphic">
          <ac:chgData name="Ben Pfeifer" userId="fb68dd40a6c6cee7" providerId="LiveId" clId="{6580293B-E8BA-4EF5-9F3F-C372FF6725E5}" dt="2023-09-26T07:39:25.482" v="10" actId="12385"/>
          <ac:graphicFrameMkLst>
            <pc:docMk/>
            <pc:sldMk cId="2862027352" sldId="343"/>
            <ac:graphicFrameMk id="8" creationId="{00000000-0000-0000-0000-000000000000}"/>
          </ac:graphicFrameMkLst>
        </pc:graphicFrameChg>
      </pc:sldChg>
      <pc:sldChg chg="delSp modSp mod">
        <pc:chgData name="Ben Pfeifer" userId="fb68dd40a6c6cee7" providerId="LiveId" clId="{6580293B-E8BA-4EF5-9F3F-C372FF6725E5}" dt="2023-09-26T07:39:29.896" v="12" actId="12385"/>
        <pc:sldMkLst>
          <pc:docMk/>
          <pc:sldMk cId="1878698475" sldId="344"/>
        </pc:sldMkLst>
        <pc:spChg chg="del">
          <ac:chgData name="Ben Pfeifer" userId="fb68dd40a6c6cee7" providerId="LiveId" clId="{6580293B-E8BA-4EF5-9F3F-C372FF6725E5}" dt="2023-09-26T06:26:30.075" v="0" actId="478"/>
          <ac:spMkLst>
            <pc:docMk/>
            <pc:sldMk cId="1878698475" sldId="344"/>
            <ac:spMk id="4" creationId="{00000000-0000-0000-0000-000000000000}"/>
          </ac:spMkLst>
        </pc:spChg>
        <pc:graphicFrameChg chg="modGraphic">
          <ac:chgData name="Ben Pfeifer" userId="fb68dd40a6c6cee7" providerId="LiveId" clId="{6580293B-E8BA-4EF5-9F3F-C372FF6725E5}" dt="2023-09-26T07:39:29.896" v="12" actId="12385"/>
          <ac:graphicFrameMkLst>
            <pc:docMk/>
            <pc:sldMk cId="1878698475" sldId="344"/>
            <ac:graphicFrameMk id="8" creationId="{00000000-0000-0000-0000-000000000000}"/>
          </ac:graphicFrameMkLst>
        </pc:graphicFrameChg>
      </pc:sldChg>
      <pc:sldChg chg="modSp mod">
        <pc:chgData name="Ben Pfeifer" userId="fb68dd40a6c6cee7" providerId="LiveId" clId="{6580293B-E8BA-4EF5-9F3F-C372FF6725E5}" dt="2023-09-26T07:39:34.338" v="14" actId="12385"/>
        <pc:sldMkLst>
          <pc:docMk/>
          <pc:sldMk cId="3748498379" sldId="345"/>
        </pc:sldMkLst>
        <pc:graphicFrameChg chg="modGraphic">
          <ac:chgData name="Ben Pfeifer" userId="fb68dd40a6c6cee7" providerId="LiveId" clId="{6580293B-E8BA-4EF5-9F3F-C372FF6725E5}" dt="2023-09-26T07:39:34.338" v="14" actId="12385"/>
          <ac:graphicFrameMkLst>
            <pc:docMk/>
            <pc:sldMk cId="3748498379" sldId="345"/>
            <ac:graphicFrameMk id="8" creationId="{00000000-0000-0000-0000-000000000000}"/>
          </ac:graphicFrameMkLst>
        </pc:graphicFrameChg>
      </pc:sldChg>
      <pc:sldChg chg="modSp mod">
        <pc:chgData name="Ben Pfeifer" userId="fb68dd40a6c6cee7" providerId="LiveId" clId="{6580293B-E8BA-4EF5-9F3F-C372FF6725E5}" dt="2023-09-26T07:39:39.799" v="16" actId="12385"/>
        <pc:sldMkLst>
          <pc:docMk/>
          <pc:sldMk cId="1886363217" sldId="346"/>
        </pc:sldMkLst>
        <pc:graphicFrameChg chg="modGraphic">
          <ac:chgData name="Ben Pfeifer" userId="fb68dd40a6c6cee7" providerId="LiveId" clId="{6580293B-E8BA-4EF5-9F3F-C372FF6725E5}" dt="2023-09-26T07:39:39.799" v="16" actId="12385"/>
          <ac:graphicFrameMkLst>
            <pc:docMk/>
            <pc:sldMk cId="1886363217" sldId="346"/>
            <ac:graphicFrameMk id="8" creationId="{00000000-0000-0000-0000-000000000000}"/>
          </ac:graphicFrameMkLst>
        </pc:graphicFrameChg>
      </pc:sldChg>
      <pc:sldChg chg="modSp mod">
        <pc:chgData name="Ben Pfeifer" userId="fb68dd40a6c6cee7" providerId="LiveId" clId="{6580293B-E8BA-4EF5-9F3F-C372FF6725E5}" dt="2023-09-26T07:39:44.417" v="18" actId="12385"/>
        <pc:sldMkLst>
          <pc:docMk/>
          <pc:sldMk cId="1105144573" sldId="347"/>
        </pc:sldMkLst>
        <pc:graphicFrameChg chg="modGraphic">
          <ac:chgData name="Ben Pfeifer" userId="fb68dd40a6c6cee7" providerId="LiveId" clId="{6580293B-E8BA-4EF5-9F3F-C372FF6725E5}" dt="2023-09-26T07:39:44.417" v="18" actId="12385"/>
          <ac:graphicFrameMkLst>
            <pc:docMk/>
            <pc:sldMk cId="1105144573" sldId="347"/>
            <ac:graphicFrameMk id="8" creationId="{00000000-0000-0000-0000-000000000000}"/>
          </ac:graphicFrameMkLst>
        </pc:graphicFrameChg>
      </pc:sldChg>
      <pc:sldChg chg="modSp mod">
        <pc:chgData name="Ben Pfeifer" userId="fb68dd40a6c6cee7" providerId="LiveId" clId="{6580293B-E8BA-4EF5-9F3F-C372FF6725E5}" dt="2023-09-26T07:39:49.229" v="20" actId="12385"/>
        <pc:sldMkLst>
          <pc:docMk/>
          <pc:sldMk cId="2054648438" sldId="348"/>
        </pc:sldMkLst>
        <pc:graphicFrameChg chg="modGraphic">
          <ac:chgData name="Ben Pfeifer" userId="fb68dd40a6c6cee7" providerId="LiveId" clId="{6580293B-E8BA-4EF5-9F3F-C372FF6725E5}" dt="2023-09-26T07:39:49.229" v="20" actId="12385"/>
          <ac:graphicFrameMkLst>
            <pc:docMk/>
            <pc:sldMk cId="2054648438" sldId="348"/>
            <ac:graphicFrameMk id="8" creationId="{00000000-0000-0000-0000-000000000000}"/>
          </ac:graphicFrameMkLst>
        </pc:graphicFrameChg>
      </pc:sldChg>
      <pc:sldChg chg="modSp mod">
        <pc:chgData name="Ben Pfeifer" userId="fb68dd40a6c6cee7" providerId="LiveId" clId="{6580293B-E8BA-4EF5-9F3F-C372FF6725E5}" dt="2023-09-26T07:39:54.174" v="22" actId="12385"/>
        <pc:sldMkLst>
          <pc:docMk/>
          <pc:sldMk cId="2741562803" sldId="349"/>
        </pc:sldMkLst>
        <pc:graphicFrameChg chg="modGraphic">
          <ac:chgData name="Ben Pfeifer" userId="fb68dd40a6c6cee7" providerId="LiveId" clId="{6580293B-E8BA-4EF5-9F3F-C372FF6725E5}" dt="2023-09-26T07:39:54.174" v="22" actId="12385"/>
          <ac:graphicFrameMkLst>
            <pc:docMk/>
            <pc:sldMk cId="2741562803" sldId="349"/>
            <ac:graphicFrameMk id="8" creationId="{00000000-0000-0000-0000-000000000000}"/>
          </ac:graphicFrameMkLst>
        </pc:graphicFrameChg>
      </pc:sldChg>
      <pc:sldChg chg="modSp mod">
        <pc:chgData name="Ben Pfeifer" userId="fb68dd40a6c6cee7" providerId="LiveId" clId="{6580293B-E8BA-4EF5-9F3F-C372FF6725E5}" dt="2023-09-26T07:39:58.692" v="24" actId="12385"/>
        <pc:sldMkLst>
          <pc:docMk/>
          <pc:sldMk cId="573285014" sldId="350"/>
        </pc:sldMkLst>
        <pc:graphicFrameChg chg="modGraphic">
          <ac:chgData name="Ben Pfeifer" userId="fb68dd40a6c6cee7" providerId="LiveId" clId="{6580293B-E8BA-4EF5-9F3F-C372FF6725E5}" dt="2023-09-26T07:39:58.692" v="24" actId="12385"/>
          <ac:graphicFrameMkLst>
            <pc:docMk/>
            <pc:sldMk cId="573285014" sldId="350"/>
            <ac:graphicFrameMk id="8" creationId="{00000000-0000-0000-0000-000000000000}"/>
          </ac:graphicFrameMkLst>
        </pc:graphicFrameChg>
      </pc:sldChg>
      <pc:sldChg chg="modSp mod">
        <pc:chgData name="Ben Pfeifer" userId="fb68dd40a6c6cee7" providerId="LiveId" clId="{6580293B-E8BA-4EF5-9F3F-C372FF6725E5}" dt="2023-09-26T07:40:04.246" v="26" actId="12385"/>
        <pc:sldMkLst>
          <pc:docMk/>
          <pc:sldMk cId="528155383" sldId="351"/>
        </pc:sldMkLst>
        <pc:graphicFrameChg chg="modGraphic">
          <ac:chgData name="Ben Pfeifer" userId="fb68dd40a6c6cee7" providerId="LiveId" clId="{6580293B-E8BA-4EF5-9F3F-C372FF6725E5}" dt="2023-09-26T07:40:04.246" v="26" actId="12385"/>
          <ac:graphicFrameMkLst>
            <pc:docMk/>
            <pc:sldMk cId="528155383" sldId="351"/>
            <ac:graphicFrameMk id="8" creationId="{00000000-0000-0000-0000-000000000000}"/>
          </ac:graphicFrameMkLst>
        </pc:graphicFrameChg>
      </pc:sldChg>
      <pc:sldChg chg="modSp mod">
        <pc:chgData name="Ben Pfeifer" userId="fb68dd40a6c6cee7" providerId="LiveId" clId="{6580293B-E8BA-4EF5-9F3F-C372FF6725E5}" dt="2023-09-26T07:40:08.681" v="28" actId="12385"/>
        <pc:sldMkLst>
          <pc:docMk/>
          <pc:sldMk cId="1811754139" sldId="352"/>
        </pc:sldMkLst>
        <pc:graphicFrameChg chg="modGraphic">
          <ac:chgData name="Ben Pfeifer" userId="fb68dd40a6c6cee7" providerId="LiveId" clId="{6580293B-E8BA-4EF5-9F3F-C372FF6725E5}" dt="2023-09-26T07:40:08.681" v="28" actId="12385"/>
          <ac:graphicFrameMkLst>
            <pc:docMk/>
            <pc:sldMk cId="1811754139" sldId="352"/>
            <ac:graphicFrameMk id="8" creationId="{00000000-0000-0000-0000-000000000000}"/>
          </ac:graphicFrameMkLst>
        </pc:graphicFrameChg>
      </pc:sldChg>
      <pc:sldChg chg="modSp mod">
        <pc:chgData name="Ben Pfeifer" userId="fb68dd40a6c6cee7" providerId="LiveId" clId="{6580293B-E8BA-4EF5-9F3F-C372FF6725E5}" dt="2023-09-26T07:40:13.002" v="30" actId="12385"/>
        <pc:sldMkLst>
          <pc:docMk/>
          <pc:sldMk cId="3275961742" sldId="353"/>
        </pc:sldMkLst>
        <pc:graphicFrameChg chg="modGraphic">
          <ac:chgData name="Ben Pfeifer" userId="fb68dd40a6c6cee7" providerId="LiveId" clId="{6580293B-E8BA-4EF5-9F3F-C372FF6725E5}" dt="2023-09-26T07:40:13.002" v="30" actId="12385"/>
          <ac:graphicFrameMkLst>
            <pc:docMk/>
            <pc:sldMk cId="3275961742" sldId="353"/>
            <ac:graphicFrameMk id="8" creationId="{00000000-0000-0000-0000-000000000000}"/>
          </ac:graphicFrameMkLst>
        </pc:graphicFrameChg>
      </pc:sldChg>
      <pc:sldChg chg="modSp mod">
        <pc:chgData name="Ben Pfeifer" userId="fb68dd40a6c6cee7" providerId="LiveId" clId="{6580293B-E8BA-4EF5-9F3F-C372FF6725E5}" dt="2023-09-26T07:40:18.079" v="32" actId="12385"/>
        <pc:sldMkLst>
          <pc:docMk/>
          <pc:sldMk cId="627640621" sldId="354"/>
        </pc:sldMkLst>
        <pc:graphicFrameChg chg="modGraphic">
          <ac:chgData name="Ben Pfeifer" userId="fb68dd40a6c6cee7" providerId="LiveId" clId="{6580293B-E8BA-4EF5-9F3F-C372FF6725E5}" dt="2023-09-26T07:40:18.079" v="32" actId="12385"/>
          <ac:graphicFrameMkLst>
            <pc:docMk/>
            <pc:sldMk cId="627640621" sldId="354"/>
            <ac:graphicFrameMk id="8" creationId="{00000000-0000-0000-0000-000000000000}"/>
          </ac:graphicFrameMkLst>
        </pc:graphicFrameChg>
      </pc:sldChg>
      <pc:sldChg chg="modSp mod">
        <pc:chgData name="Ben Pfeifer" userId="fb68dd40a6c6cee7" providerId="LiveId" clId="{6580293B-E8BA-4EF5-9F3F-C372FF6725E5}" dt="2023-09-26T07:40:22.978" v="34" actId="12385"/>
        <pc:sldMkLst>
          <pc:docMk/>
          <pc:sldMk cId="2387640484" sldId="355"/>
        </pc:sldMkLst>
        <pc:graphicFrameChg chg="modGraphic">
          <ac:chgData name="Ben Pfeifer" userId="fb68dd40a6c6cee7" providerId="LiveId" clId="{6580293B-E8BA-4EF5-9F3F-C372FF6725E5}" dt="2023-09-26T07:40:22.978" v="34" actId="12385"/>
          <ac:graphicFrameMkLst>
            <pc:docMk/>
            <pc:sldMk cId="2387640484" sldId="355"/>
            <ac:graphicFrameMk id="8" creationId="{00000000-0000-0000-0000-000000000000}"/>
          </ac:graphicFrameMkLst>
        </pc:graphicFrameChg>
      </pc:sldChg>
      <pc:sldChg chg="modSp mod">
        <pc:chgData name="Ben Pfeifer" userId="fb68dd40a6c6cee7" providerId="LiveId" clId="{6580293B-E8BA-4EF5-9F3F-C372FF6725E5}" dt="2023-09-26T07:40:27.568" v="36" actId="12385"/>
        <pc:sldMkLst>
          <pc:docMk/>
          <pc:sldMk cId="686820449" sldId="356"/>
        </pc:sldMkLst>
        <pc:graphicFrameChg chg="modGraphic">
          <ac:chgData name="Ben Pfeifer" userId="fb68dd40a6c6cee7" providerId="LiveId" clId="{6580293B-E8BA-4EF5-9F3F-C372FF6725E5}" dt="2023-09-26T07:40:27.568" v="36" actId="12385"/>
          <ac:graphicFrameMkLst>
            <pc:docMk/>
            <pc:sldMk cId="686820449" sldId="356"/>
            <ac:graphicFrameMk id="8" creationId="{00000000-0000-0000-0000-000000000000}"/>
          </ac:graphicFrameMkLst>
        </pc:graphicFrameChg>
      </pc:sldChg>
      <pc:sldChg chg="modSp mod">
        <pc:chgData name="Ben Pfeifer" userId="fb68dd40a6c6cee7" providerId="LiveId" clId="{6580293B-E8BA-4EF5-9F3F-C372FF6725E5}" dt="2023-09-26T07:38:37.454" v="2" actId="13244"/>
        <pc:sldMkLst>
          <pc:docMk/>
          <pc:sldMk cId="339532460" sldId="359"/>
        </pc:sldMkLst>
        <pc:spChg chg="ord">
          <ac:chgData name="Ben Pfeifer" userId="fb68dd40a6c6cee7" providerId="LiveId" clId="{6580293B-E8BA-4EF5-9F3F-C372FF6725E5}" dt="2023-09-26T07:38:33.156" v="1" actId="13244"/>
          <ac:spMkLst>
            <pc:docMk/>
            <pc:sldMk cId="339532460" sldId="359"/>
            <ac:spMk id="5" creationId="{00000000-0000-0000-0000-000000000000}"/>
          </ac:spMkLst>
        </pc:spChg>
        <pc:picChg chg="ord">
          <ac:chgData name="Ben Pfeifer" userId="fb68dd40a6c6cee7" providerId="LiveId" clId="{6580293B-E8BA-4EF5-9F3F-C372FF6725E5}" dt="2023-09-26T07:38:37.454" v="2" actId="13244"/>
          <ac:picMkLst>
            <pc:docMk/>
            <pc:sldMk cId="339532460" sldId="359"/>
            <ac:picMk id="6" creationId="{00000000-0000-0000-0000-00000000000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130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30" tIns="46415" rIns="92830" bIns="46415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37000" y="0"/>
            <a:ext cx="30130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30" tIns="46415" rIns="92830" bIns="46415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35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74113"/>
            <a:ext cx="301307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30" tIns="46415" rIns="92830" bIns="46415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35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37000" y="8774113"/>
            <a:ext cx="301307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30" tIns="46415" rIns="92830" bIns="46415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fld id="{8AB67928-BBD3-4CD3-923D-1CF06213DA9E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857470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130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30" tIns="46415" rIns="92830" bIns="46415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35413" y="0"/>
            <a:ext cx="30130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30" tIns="46415" rIns="92830" bIns="46415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34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66813" y="692150"/>
            <a:ext cx="4616450" cy="34639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95325" y="4387850"/>
            <a:ext cx="5559425" cy="415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30" tIns="46415" rIns="92830" bIns="4641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72525"/>
            <a:ext cx="30130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30" tIns="46415" rIns="92830" bIns="46415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35413" y="8772525"/>
            <a:ext cx="30130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30" tIns="46415" rIns="92830" bIns="46415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fld id="{0213A8AE-46A3-4029-BD40-388B9477DF80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10560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1125" indent="-111125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80" charset="0"/>
        <a:ea typeface="MS PGothic" pitchFamily="34" charset="-128"/>
        <a:cs typeface="Arial" charset="0"/>
      </a:defRPr>
    </a:lvl1pPr>
    <a:lvl2pPr marL="571500" indent="-114300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80" charset="0"/>
        <a:ea typeface="Arial" charset="0"/>
        <a:cs typeface="Arial" charset="0"/>
      </a:defRPr>
    </a:lvl2pPr>
    <a:lvl3pPr marL="1033463" indent="-119063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80" charset="0"/>
        <a:ea typeface="Arial" charset="0"/>
        <a:cs typeface="Arial" charset="0"/>
      </a:defRPr>
    </a:lvl3pPr>
    <a:lvl4pPr marL="1479550" indent="-107950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80" charset="0"/>
        <a:ea typeface="Arial" charset="0"/>
        <a:cs typeface="Arial" charset="0"/>
      </a:defRPr>
    </a:lvl4pPr>
    <a:lvl5pPr marL="1939925" indent="-111125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80" charset="0"/>
        <a:ea typeface="Arial" charset="0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99B0DBE9-97A3-489E-8B13-537E0AAA46FE}" type="slidenum"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pPr/>
              <a:t>2</a:t>
            </a:fld>
            <a:endParaRPr lang="en-US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0741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176B5805-642A-4D4A-8316-CE7BF8F86735}" type="slidenum"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pPr/>
              <a:t>3</a:t>
            </a:fld>
            <a:endParaRPr lang="en-US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563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5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dirty="0">
                <a:latin typeface="Times New Roman" panose="02020603050405020304" pitchFamily="18" charset="0"/>
                <a:cs typeface="Arial" panose="020B0604020202020204" pitchFamily="34" charset="0"/>
              </a:rPr>
              <a:t>Analyze words by dividing them into component parts. </a:t>
            </a:r>
          </a:p>
          <a:p>
            <a:pPr eaLnBrk="1" hangingPunct="1"/>
            <a:r>
              <a:rPr lang="en-US" altLang="en-US" dirty="0">
                <a:latin typeface="Times New Roman" panose="02020603050405020304" pitchFamily="18" charset="0"/>
                <a:cs typeface="Arial" panose="020B0604020202020204" pitchFamily="34" charset="0"/>
              </a:rPr>
              <a:t>Relate the medical terms to the structure and function of the human body.</a:t>
            </a:r>
          </a:p>
          <a:p>
            <a:pPr eaLnBrk="1" hangingPunct="1"/>
            <a:r>
              <a:rPr lang="en-US" altLang="en-US" dirty="0">
                <a:latin typeface="Times New Roman" panose="02020603050405020304" pitchFamily="18" charset="0"/>
                <a:cs typeface="Arial" panose="020B0604020202020204" pitchFamily="34" charset="0"/>
              </a:rPr>
              <a:t>Be aware of spelling and pronunciation problems. </a:t>
            </a:r>
          </a:p>
        </p:txBody>
      </p:sp>
    </p:spTree>
    <p:extLst>
      <p:ext uri="{BB962C8B-B14F-4D97-AF65-F5344CB8AC3E}">
        <p14:creationId xmlns:p14="http://schemas.microsoft.com/office/powerpoint/2010/main" val="38370467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848C145E-9AD0-4648-B180-7CD805451C49}" type="slidenum"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pPr/>
              <a:t>4</a:t>
            </a:fld>
            <a:endParaRPr lang="en-US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58967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DDF5765F-8237-41C8-ACC5-AC7C12927975}" type="slidenum"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pPr/>
              <a:t>5</a:t>
            </a:fld>
            <a:endParaRPr lang="en-US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13016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6B96F488-9FF9-42A2-9350-A31DFA4E471B}" type="slidenum"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pPr/>
              <a:t>6</a:t>
            </a:fld>
            <a:endParaRPr lang="en-US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dirty="0">
                <a:latin typeface="Times New Roman" panose="02020603050405020304" pitchFamily="18" charset="0"/>
                <a:cs typeface="Arial" panose="020B0604020202020204" pitchFamily="34" charset="0"/>
              </a:rPr>
              <a:t>The correct answer is C: all medical terms have a suffix.</a:t>
            </a:r>
          </a:p>
        </p:txBody>
      </p:sp>
    </p:spTree>
    <p:extLst>
      <p:ext uri="{BB962C8B-B14F-4D97-AF65-F5344CB8AC3E}">
        <p14:creationId xmlns:p14="http://schemas.microsoft.com/office/powerpoint/2010/main" val="41026455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E7F2A1E7-9798-4C19-8D86-C2BD3A5CC128}" type="slidenum"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pPr/>
              <a:t>7</a:t>
            </a:fld>
            <a:endParaRPr lang="en-US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dirty="0">
                <a:latin typeface="Times New Roman" panose="02020603050405020304" pitchFamily="18" charset="0"/>
                <a:cs typeface="Arial" panose="020B0604020202020204" pitchFamily="34" charset="0"/>
              </a:rPr>
              <a:t>The correct answer is B: the prefix is the element that appears at the beginning of a medical term.</a:t>
            </a:r>
          </a:p>
        </p:txBody>
      </p:sp>
    </p:spTree>
    <p:extLst>
      <p:ext uri="{BB962C8B-B14F-4D97-AF65-F5344CB8AC3E}">
        <p14:creationId xmlns:p14="http://schemas.microsoft.com/office/powerpoint/2010/main" val="32276687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12FD3560-A2DF-4DDD-8CBF-1C98FFB7350F}" type="slidenum"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pPr/>
              <a:t>8</a:t>
            </a:fld>
            <a:endParaRPr lang="en-US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26907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446861FB-454E-411C-9878-7F1C12E42CD7}" type="slidenum"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pPr/>
              <a:t>9</a:t>
            </a:fld>
            <a:endParaRPr lang="en-US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1416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15FF4729-C00D-44D0-9168-2AB15DCA88E0}" type="slidenum"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pPr/>
              <a:t>10</a:t>
            </a:fld>
            <a:endParaRPr lang="en-US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dirty="0">
                <a:latin typeface="Times New Roman" panose="02020603050405020304" pitchFamily="18" charset="0"/>
                <a:cs typeface="Arial" panose="020B0604020202020204" pitchFamily="34" charset="0"/>
              </a:rPr>
              <a:t>A combining vowel has no meaning of its own.</a:t>
            </a:r>
          </a:p>
        </p:txBody>
      </p:sp>
    </p:spTree>
    <p:extLst>
      <p:ext uri="{BB962C8B-B14F-4D97-AF65-F5344CB8AC3E}">
        <p14:creationId xmlns:p14="http://schemas.microsoft.com/office/powerpoint/2010/main" val="38417008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9659533B-0DD3-4A31-931C-ABD95F2E982B}" type="slidenum"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pPr/>
              <a:t>11</a:t>
            </a:fld>
            <a:endParaRPr lang="en-US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90510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0631BEDF-D737-476C-9F39-A85C31BE091C}" type="slidenum"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pPr/>
              <a:t>12</a:t>
            </a:fld>
            <a:endParaRPr lang="en-US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08505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34A451CA-26BD-4484-9AAE-05762B6A997B}" type="slidenum"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pPr/>
              <a:t>15</a:t>
            </a:fld>
            <a:endParaRPr lang="en-US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6020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5E03A397-23E7-46EE-BA2B-F6BEA7213A1D}" type="slidenum"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pPr/>
              <a:t>16</a:t>
            </a:fld>
            <a:endParaRPr lang="en-US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7505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9FE32A20-CAA7-4C6A-96F4-DDB963FD1ED8}" type="slidenum"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pPr/>
              <a:t>17</a:t>
            </a:fld>
            <a:endParaRPr lang="en-US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dirty="0">
                <a:latin typeface="Times New Roman" panose="02020603050405020304" pitchFamily="18" charset="0"/>
                <a:cs typeface="Arial" panose="020B0604020202020204" pitchFamily="34" charset="0"/>
              </a:rPr>
              <a:t>When a term contains two or more roots related to parts of the body, what often determines which root is listed first? </a:t>
            </a:r>
            <a:r>
              <a:rPr lang="en-US" altLang="en-US" i="1" dirty="0">
                <a:latin typeface="Times New Roman" panose="02020603050405020304" pitchFamily="18" charset="0"/>
                <a:cs typeface="Arial" panose="020B0604020202020204" pitchFamily="34" charset="0"/>
              </a:rPr>
              <a:t>(Anatomical position)</a:t>
            </a:r>
          </a:p>
        </p:txBody>
      </p:sp>
    </p:spTree>
    <p:extLst>
      <p:ext uri="{BB962C8B-B14F-4D97-AF65-F5344CB8AC3E}">
        <p14:creationId xmlns:p14="http://schemas.microsoft.com/office/powerpoint/2010/main" val="32719080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35AA0110-CAF7-4A60-9084-CF8DAC21C812}" type="slidenum"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pPr/>
              <a:t>18</a:t>
            </a:fld>
            <a:endParaRPr lang="en-US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45096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208DDB1B-952A-4939-9078-B033F04579E1}" type="slidenum"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pPr/>
              <a:t>19</a:t>
            </a:fld>
            <a:endParaRPr lang="en-US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96798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939B7C03-613F-46B4-B387-15C100B8BF22}" type="slidenum"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pPr/>
              <a:t>20</a:t>
            </a:fld>
            <a:endParaRPr lang="en-US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66300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6B65BA50-9B4B-4435-8562-283F475551A1}" type="slidenum"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pPr/>
              <a:t>21</a:t>
            </a:fld>
            <a:endParaRPr lang="en-US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09822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68407817-D75E-4855-B2C6-41B090A0E87D}" type="slidenum"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pPr/>
              <a:t>24</a:t>
            </a:fld>
            <a:endParaRPr lang="en-US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GB" altLang="en-US" dirty="0">
                <a:latin typeface="Times New Roman" panose="02020603050405020304" pitchFamily="18" charset="0"/>
                <a:cs typeface="Arial" panose="020B0604020202020204" pitchFamily="34" charset="0"/>
              </a:rPr>
              <a:t>The correct answer is B: adenitis.</a:t>
            </a:r>
          </a:p>
        </p:txBody>
      </p:sp>
    </p:spTree>
    <p:extLst>
      <p:ext uri="{BB962C8B-B14F-4D97-AF65-F5344CB8AC3E}">
        <p14:creationId xmlns:p14="http://schemas.microsoft.com/office/powerpoint/2010/main" val="76561720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B48037D0-D6BE-4F16-9371-77F2338D93CE}" type="slidenum"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pPr/>
              <a:t>29</a:t>
            </a:fld>
            <a:endParaRPr lang="en-US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dirty="0">
                <a:latin typeface="Times New Roman" panose="02020603050405020304" pitchFamily="18" charset="0"/>
                <a:cs typeface="Arial" panose="020B0604020202020204" pitchFamily="34" charset="0"/>
              </a:rPr>
              <a:t>The correct answer is C: cytology.</a:t>
            </a:r>
          </a:p>
        </p:txBody>
      </p:sp>
    </p:spTree>
    <p:extLst>
      <p:ext uri="{BB962C8B-B14F-4D97-AF65-F5344CB8AC3E}">
        <p14:creationId xmlns:p14="http://schemas.microsoft.com/office/powerpoint/2010/main" val="234641144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43D5CB6D-7246-4A15-AAA2-4EE5329239FD}" type="slidenum">
              <a:rPr lang="en-US" altLang="en-US" sz="1200">
                <a:latin typeface="Arial" panose="020B0604020202020204" pitchFamily="34" charset="0"/>
                <a:cs typeface="Arial" panose="020B0604020202020204" pitchFamily="34" charset="0"/>
              </a:rPr>
              <a:pPr/>
              <a:t>42</a:t>
            </a:fld>
            <a:endParaRPr lang="en-US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dirty="0">
                <a:latin typeface="Times New Roman" panose="02020603050405020304" pitchFamily="18" charset="0"/>
                <a:cs typeface="Arial" panose="020B0604020202020204" pitchFamily="34" charset="0"/>
              </a:rPr>
              <a:t>The correct answer is A:  -ectomy, meaning excision, or removal.</a:t>
            </a:r>
          </a:p>
        </p:txBody>
      </p:sp>
    </p:spTree>
    <p:extLst>
      <p:ext uri="{BB962C8B-B14F-4D97-AF65-F5344CB8AC3E}">
        <p14:creationId xmlns:p14="http://schemas.microsoft.com/office/powerpoint/2010/main" val="190209194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13A8AE-46A3-4029-BD40-388B9477DF80}" type="slidenum">
              <a:rPr lang="en-US" altLang="en-US" smtClean="0"/>
              <a:pPr/>
              <a:t>50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3214128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13A8AE-46A3-4029-BD40-388B9477DF80}" type="slidenum">
              <a:rPr lang="en-US" altLang="en-US" smtClean="0"/>
              <a:pPr/>
              <a:t>56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160978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5"/>
          <p:cNvSpPr txBox="1">
            <a:spLocks noChangeArrowheads="1"/>
          </p:cNvSpPr>
          <p:nvPr userDrawn="1"/>
        </p:nvSpPr>
        <p:spPr bwMode="auto">
          <a:xfrm>
            <a:off x="7696200" y="6461125"/>
            <a:ext cx="1143000" cy="2444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fld id="{D964A50F-AEF0-4472-AC06-9E357B0E7417}" type="slidenum">
              <a:rPr lang="en-US" altLang="en-US" sz="1000"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50000"/>
                </a:spcBef>
              </a:pPr>
              <a:t>‹#›</a:t>
            </a:fld>
            <a:endParaRPr lang="en-US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CF616BB-0FE7-40D9-A48A-5D43243690F2}" type="datetimeFigureOut">
              <a:rPr lang="en-US" smtClean="0"/>
              <a:pPr>
                <a:defRPr/>
              </a:pPr>
              <a:t>12/7/2023</a:t>
            </a:fld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1FA19-8270-41D0-A2BA-95F4A1B5CFCE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78591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BA87B2-9A41-4CF9-A9B2-A6E4D69C1EC8}" type="datetimeFigureOut">
              <a:rPr lang="en-US"/>
              <a:pPr>
                <a:defRPr/>
              </a:pPr>
              <a:t>12/7/2023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910F34-D68C-4026-9CAB-7ADB8BCBEB25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1811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6A6DF1-402D-4DF3-8765-1D08504766B2}" type="datetimeFigureOut">
              <a:rPr lang="en-US"/>
              <a:pPr>
                <a:defRPr/>
              </a:pPr>
              <a:t>12/7/2023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26E1B8-06FD-41DC-B8E5-825E8383FC0A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40706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87DC04-1C77-4C2C-B263-AFC17EDD401A}" type="datetimeFigureOut">
              <a:rPr lang="en-US"/>
              <a:pPr>
                <a:defRPr/>
              </a:pPr>
              <a:t>12/7/2023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A441545-6DF3-43A6-B611-AFDC08EAD54D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07160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A31C2F-EDC8-4FF1-BF3F-975A320E5705}" type="datetimeFigureOut">
              <a:rPr lang="en-US"/>
              <a:pPr>
                <a:defRPr/>
              </a:pPr>
              <a:t>12/7/2023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B98CEE-F863-41D1-95F1-3A2D244434FD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26819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368D35-206A-4918-A6AD-3FEF1623AE20}" type="datetimeFigureOut">
              <a:rPr lang="en-US"/>
              <a:pPr>
                <a:defRPr/>
              </a:pPr>
              <a:t>12/7/2023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49B7BF-4DA0-4E30-A06D-7E710F95ACB5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01613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7466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DC0994-3671-4AC8-B52B-BA66E50D9AD2}" type="datetimeFigureOut">
              <a:rPr lang="en-US"/>
              <a:pPr>
                <a:defRPr/>
              </a:pPr>
              <a:t>12/7/2023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1FEEF1-39C0-4C2B-B8E0-5091396E4A93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05638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161216-9409-4C44-BA80-E03BFC8EF498}" type="datetimeFigureOut">
              <a:rPr lang="en-US"/>
              <a:pPr>
                <a:defRPr/>
              </a:pPr>
              <a:t>12/7/2023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47314E-C15D-47E2-937C-3126860CD630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935094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A97406-372E-46FF-BE9A-FDEC1010C8FB}" type="datetimeFigureOut">
              <a:rPr lang="en-US"/>
              <a:pPr>
                <a:defRPr/>
              </a:pPr>
              <a:t>12/7/2023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B3FFAE-8FAB-4EBA-9ADA-A5419CAF6997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93463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D23323-DB73-4022-B456-2238E4277FC4}" type="datetimeFigureOut">
              <a:rPr lang="en-US"/>
              <a:pPr>
                <a:defRPr/>
              </a:pPr>
              <a:t>12/7/2023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8ADBE8-1E84-4E36-B29C-86B0154B73F3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79839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F616BB-0FE7-40D9-A48A-5D43243690F2}" type="datetimeFigureOut">
              <a:rPr lang="en-US"/>
              <a:pPr>
                <a:defRPr/>
              </a:pPr>
              <a:t>12/7/2023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fld id="{CF91FA19-8270-41D0-A2BA-95F4A1B5CFCE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8" name="Text Box 5"/>
          <p:cNvSpPr txBox="1">
            <a:spLocks noChangeArrowheads="1"/>
          </p:cNvSpPr>
          <p:nvPr userDrawn="1"/>
        </p:nvSpPr>
        <p:spPr bwMode="auto">
          <a:xfrm>
            <a:off x="7696200" y="6461125"/>
            <a:ext cx="1143000" cy="2444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fld id="{69A605B6-0E2A-493E-85A2-B4AAEA8521B3}" type="slidenum">
              <a:rPr lang="en-US" altLang="en-US" sz="1000"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50000"/>
                </a:spcBef>
              </a:pPr>
              <a:t>‹#›</a:t>
            </a:fld>
            <a:endParaRPr lang="en-US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F8A7FE5-E1FD-C959-CF16-B72A3D03F77D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3041871" y="6478581"/>
            <a:ext cx="3118010" cy="20956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46" r:id="rId1"/>
    <p:sldLayoutId id="2147484037" r:id="rId2"/>
    <p:sldLayoutId id="2147484038" r:id="rId3"/>
    <p:sldLayoutId id="2147484039" r:id="rId4"/>
    <p:sldLayoutId id="2147484040" r:id="rId5"/>
    <p:sldLayoutId id="2147484041" r:id="rId6"/>
    <p:sldLayoutId id="2147484047" r:id="rId7"/>
    <p:sldLayoutId id="2147484042" r:id="rId8"/>
    <p:sldLayoutId id="2147484043" r:id="rId9"/>
    <p:sldLayoutId id="2147484044" r:id="rId10"/>
    <p:sldLayoutId id="2147484045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Language of Medicine </a:t>
            </a:r>
            <a:br>
              <a:rPr lang="en-US" dirty="0"/>
            </a:br>
            <a:r>
              <a:rPr lang="en-US" dirty="0"/>
              <a:t>13</a:t>
            </a:r>
            <a:r>
              <a:rPr lang="en-US" baseline="30000" dirty="0"/>
              <a:t>th</a:t>
            </a:r>
            <a:r>
              <a:rPr lang="en-US" dirty="0"/>
              <a:t> edition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Davi-Ellen Chabner</a:t>
            </a:r>
          </a:p>
        </p:txBody>
      </p:sp>
    </p:spTree>
    <p:extLst>
      <p:ext uri="{BB962C8B-B14F-4D97-AF65-F5344CB8AC3E}">
        <p14:creationId xmlns:p14="http://schemas.microsoft.com/office/powerpoint/2010/main" val="803814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3"/>
          <p:cNvSpPr>
            <a:spLocks noGrp="1" noChangeArrowheads="1"/>
          </p:cNvSpPr>
          <p:nvPr>
            <p:ph type="title"/>
          </p:nvPr>
        </p:nvSpPr>
        <p:spPr>
          <a:xfrm>
            <a:off x="838200" y="914400"/>
            <a:ext cx="7620000" cy="11430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Chapter 1</a:t>
            </a:r>
            <a:br>
              <a:rPr lang="en-US" dirty="0"/>
            </a:br>
            <a:r>
              <a:rPr lang="en-US" dirty="0"/>
              <a:t>Basic Word Structure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533400"/>
            <a:ext cx="73914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Chapter Goals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763588" y="1641475"/>
            <a:ext cx="7454900" cy="44545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Identify basic objectives to guide your study of the medical language.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Divide medical words into their component parts.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Learn the meanings of basic combining forms, prefixes, and suffixes of the medical language.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Use these combining forms, suffixes, and prefixes to build medical words.</a:t>
            </a:r>
            <a:endParaRPr lang="en-US" altLang="en-US" sz="2000" dirty="0"/>
          </a:p>
          <a:p>
            <a:pPr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endParaRPr lang="en-US" alt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381000"/>
            <a:ext cx="7391400" cy="11430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Chapter 1</a:t>
            </a:r>
            <a:br>
              <a:rPr lang="en-US" dirty="0"/>
            </a:br>
            <a:r>
              <a:rPr lang="en-US" dirty="0"/>
              <a:t>Lesson 1.1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Objectives in Studying </a:t>
            </a:r>
            <a:br>
              <a:rPr lang="en-US" altLang="en-US" dirty="0"/>
            </a:br>
            <a:r>
              <a:rPr lang="en-US" altLang="en-US" dirty="0"/>
              <a:t>The Medical Language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00200"/>
            <a:ext cx="7451725" cy="4454525"/>
          </a:xfrm>
        </p:spPr>
        <p:txBody>
          <a:bodyPr/>
          <a:lstStyle/>
          <a:p>
            <a:pPr eaLnBrk="1" hangingPunct="1"/>
            <a:r>
              <a:rPr lang="en-US" altLang="en-US" dirty="0"/>
              <a:t>Analyze words by dividing them into component parts.</a:t>
            </a:r>
          </a:p>
          <a:p>
            <a:pPr eaLnBrk="1" hangingPunct="1"/>
            <a:endParaRPr lang="en-US" altLang="en-US" sz="1000" dirty="0"/>
          </a:p>
          <a:p>
            <a:pPr eaLnBrk="1" hangingPunct="1"/>
            <a:r>
              <a:rPr lang="en-US" altLang="en-US" dirty="0"/>
              <a:t>Relate the medical terms to the structure and function of the human body.</a:t>
            </a:r>
          </a:p>
          <a:p>
            <a:pPr eaLnBrk="1" hangingPunct="1"/>
            <a:endParaRPr lang="en-US" altLang="en-US" sz="1000" dirty="0"/>
          </a:p>
          <a:p>
            <a:pPr eaLnBrk="1" hangingPunct="1"/>
            <a:r>
              <a:rPr lang="en-US" altLang="en-US" dirty="0"/>
              <a:t>Be aware of spelling and pronunciation problems.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032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8382000" cy="1219200"/>
          </a:xfrm>
        </p:spPr>
        <p:txBody>
          <a:bodyPr/>
          <a:lstStyle/>
          <a:p>
            <a:pPr eaLnBrk="1" hangingPunct="1"/>
            <a:r>
              <a:rPr lang="en-US" altLang="en-US" dirty="0"/>
              <a:t>    </a:t>
            </a:r>
            <a:r>
              <a:rPr lang="en-US" altLang="en-US" u="sng" dirty="0"/>
              <a:t>QUICK QUIZ</a:t>
            </a:r>
            <a:r>
              <a:rPr lang="en-US" altLang="en-US" dirty="0"/>
              <a:t> (Slide 1 of 5)		</a:t>
            </a:r>
          </a:p>
        </p:txBody>
      </p:sp>
      <p:sp>
        <p:nvSpPr>
          <p:cNvPr id="9219" name="Rectangle 1027"/>
          <p:cNvSpPr>
            <a:spLocks noGrp="1" noChangeArrowheads="1"/>
          </p:cNvSpPr>
          <p:nvPr>
            <p:ph idx="1"/>
          </p:nvPr>
        </p:nvSpPr>
        <p:spPr>
          <a:xfrm>
            <a:off x="685800" y="1600200"/>
            <a:ext cx="7772400" cy="4454525"/>
          </a:xfrm>
        </p:spPr>
        <p:txBody>
          <a:bodyPr/>
          <a:lstStyle/>
          <a:p>
            <a:pPr marL="533400" indent="-533400" eaLnBrk="1" hangingPunct="1">
              <a:buFont typeface="Arial" panose="020B0604020202020204" pitchFamily="34" charset="0"/>
              <a:buAutoNum type="arabicPeriod"/>
            </a:pPr>
            <a:r>
              <a:rPr lang="en-US" altLang="en-US" b="1" dirty="0"/>
              <a:t>All medical terms have:</a:t>
            </a:r>
          </a:p>
          <a:p>
            <a:pPr marL="533400" indent="-533400" eaLnBrk="1" hangingPunct="1">
              <a:buFont typeface="Wingdings 2" panose="05020102010507070707" pitchFamily="18" charset="2"/>
              <a:buNone/>
            </a:pPr>
            <a:r>
              <a:rPr lang="en-US" altLang="en-US" dirty="0"/>
              <a:t>	A.   a combining vowel</a:t>
            </a:r>
          </a:p>
          <a:p>
            <a:pPr marL="533400" indent="-533400" eaLnBrk="1" hangingPunct="1">
              <a:buFont typeface="Wingdings 2" panose="05020102010507070707" pitchFamily="18" charset="2"/>
              <a:buNone/>
            </a:pPr>
            <a:r>
              <a:rPr lang="en-US" altLang="en-US" dirty="0"/>
              <a:t>	B.   two roots</a:t>
            </a:r>
          </a:p>
          <a:p>
            <a:pPr marL="533400" indent="-533400" eaLnBrk="1" hangingPunct="1">
              <a:buFont typeface="Wingdings 2" panose="05020102010507070707" pitchFamily="18" charset="2"/>
              <a:buNone/>
            </a:pPr>
            <a:r>
              <a:rPr lang="en-US" altLang="en-US" dirty="0"/>
              <a:t>	C.   a suffix</a:t>
            </a:r>
          </a:p>
          <a:p>
            <a:pPr marL="533400" indent="-533400" eaLnBrk="1" hangingPunct="1">
              <a:buFont typeface="Wingdings 2" panose="05020102010507070707" pitchFamily="18" charset="2"/>
              <a:buNone/>
            </a:pPr>
            <a:r>
              <a:rPr lang="en-US" altLang="en-US" dirty="0"/>
              <a:t>	D.   a prefix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031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7772400" cy="1219200"/>
          </a:xfrm>
        </p:spPr>
        <p:txBody>
          <a:bodyPr/>
          <a:lstStyle/>
          <a:p>
            <a:pPr eaLnBrk="1" hangingPunct="1"/>
            <a:r>
              <a:rPr lang="en-US" altLang="en-US" dirty="0"/>
              <a:t>    </a:t>
            </a:r>
            <a:r>
              <a:rPr lang="en-US" altLang="en-US" u="sng" dirty="0"/>
              <a:t>QUICK QUIZ</a:t>
            </a:r>
            <a:r>
              <a:rPr lang="en-US" altLang="en-US" dirty="0">
                <a:sym typeface="Wingdings" panose="05000000000000000000" pitchFamily="2" charset="2"/>
              </a:rPr>
              <a:t> (Slide 2 of 5</a:t>
            </a:r>
            <a:r>
              <a:rPr lang="en-US" altLang="ja-JP" dirty="0">
                <a:sym typeface="Wingdings" panose="05000000000000000000" pitchFamily="2" charset="2"/>
              </a:rPr>
              <a:t>)</a:t>
            </a:r>
            <a:r>
              <a:rPr lang="en-US" altLang="ja-JP" dirty="0"/>
              <a:t>		</a:t>
            </a:r>
            <a:endParaRPr lang="en-US" altLang="en-US" dirty="0"/>
          </a:p>
        </p:txBody>
      </p:sp>
      <p:sp>
        <p:nvSpPr>
          <p:cNvPr id="10243" name="Rectangle 1027"/>
          <p:cNvSpPr>
            <a:spLocks noGrp="1" noChangeArrowheads="1"/>
          </p:cNvSpPr>
          <p:nvPr>
            <p:ph idx="1"/>
          </p:nvPr>
        </p:nvSpPr>
        <p:spPr>
          <a:xfrm>
            <a:off x="685800" y="1641475"/>
            <a:ext cx="7772400" cy="3662363"/>
          </a:xfrm>
        </p:spPr>
        <p:txBody>
          <a:bodyPr>
            <a:spAutoFit/>
          </a:bodyPr>
          <a:lstStyle/>
          <a:p>
            <a:pPr marL="533400" indent="-533400" eaLnBrk="1" hangingPunct="1">
              <a:buFont typeface="Arial" panose="020B0604020202020204" pitchFamily="34" charset="0"/>
              <a:buAutoNum type="arabicPeriod" startAt="2"/>
            </a:pPr>
            <a:r>
              <a:rPr lang="en-US" altLang="en-US" b="1" dirty="0"/>
              <a:t>Which element appears at the beginning of a medical term?</a:t>
            </a:r>
          </a:p>
          <a:p>
            <a:pPr marL="533400" indent="-533400" eaLnBrk="1" hangingPunct="1">
              <a:buFont typeface="Arial" panose="020B0604020202020204" pitchFamily="34" charset="0"/>
              <a:buAutoNum type="arabicPeriod" startAt="2"/>
            </a:pPr>
            <a:endParaRPr lang="en-US" altLang="en-US" sz="1200" b="1" dirty="0"/>
          </a:p>
          <a:p>
            <a:pPr marL="533400" indent="-533400" eaLnBrk="1" hangingPunct="1">
              <a:buFont typeface="Wingdings 2" panose="05020102010507070707" pitchFamily="18" charset="2"/>
              <a:buNone/>
            </a:pPr>
            <a:r>
              <a:rPr lang="en-US" altLang="en-US" dirty="0"/>
              <a:t>	A.  Suffix</a:t>
            </a:r>
          </a:p>
          <a:p>
            <a:pPr marL="533400" indent="-533400" eaLnBrk="1" hangingPunct="1">
              <a:buFont typeface="Wingdings 2" panose="05020102010507070707" pitchFamily="18" charset="2"/>
              <a:buNone/>
            </a:pPr>
            <a:r>
              <a:rPr lang="en-US" altLang="en-US" dirty="0"/>
              <a:t>	B.  Prefix</a:t>
            </a:r>
          </a:p>
          <a:p>
            <a:pPr marL="533400" indent="-533400" eaLnBrk="1" hangingPunct="1">
              <a:buFont typeface="Wingdings 2" panose="05020102010507070707" pitchFamily="18" charset="2"/>
              <a:buNone/>
            </a:pPr>
            <a:r>
              <a:rPr lang="en-US" altLang="en-US" dirty="0"/>
              <a:t>	C.  Combining vowel</a:t>
            </a:r>
          </a:p>
          <a:p>
            <a:pPr marL="533400" indent="-533400" eaLnBrk="1" hangingPunct="1">
              <a:buFont typeface="Wingdings 2" panose="05020102010507070707" pitchFamily="18" charset="2"/>
              <a:buNone/>
            </a:pPr>
            <a:r>
              <a:rPr lang="en-US" altLang="en-US" dirty="0"/>
              <a:t>	D.  Combining form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Word Analysis (Slide 1 of 14)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41475"/>
            <a:ext cx="6570663" cy="4454525"/>
          </a:xfrm>
        </p:spPr>
        <p:txBody>
          <a:bodyPr/>
          <a:lstStyle/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4800" b="1" dirty="0"/>
              <a:t>HEMAT/O/LOGY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dirty="0">
                <a:sym typeface="Wingdings" panose="05000000000000000000" pitchFamily="2" charset="2"/>
              </a:rPr>
              <a:t>       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Word Analysis </a:t>
            </a:r>
            <a:r>
              <a:rPr lang="en-US" altLang="en-US" dirty="0">
                <a:sym typeface="Wingdings" panose="05000000000000000000" pitchFamily="2" charset="2"/>
              </a:rPr>
              <a:t>(Slide 2 of 14</a:t>
            </a:r>
            <a:r>
              <a:rPr lang="en-US" altLang="ja-JP" dirty="0">
                <a:sym typeface="Wingdings" panose="05000000000000000000" pitchFamily="2" charset="2"/>
              </a:rPr>
              <a:t>)</a:t>
            </a:r>
            <a:endParaRPr lang="en-US" altLang="en-US" dirty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00200"/>
            <a:ext cx="6477000" cy="46482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r>
              <a:rPr lang="en-US" altLang="en-US" sz="4800" b="1" dirty="0"/>
              <a:t>HEMAT/O/LOGY</a:t>
            </a:r>
          </a:p>
          <a:p>
            <a:pPr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r>
              <a:rPr lang="en-US" altLang="en-US" dirty="0">
                <a:sym typeface="Wingdings" panose="05000000000000000000" pitchFamily="2" charset="2"/>
              </a:rPr>
              <a:t>                            </a:t>
            </a:r>
          </a:p>
          <a:p>
            <a:pPr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r>
              <a:rPr lang="en-US" altLang="en-US" dirty="0">
                <a:sym typeface="Wingdings" panose="05000000000000000000" pitchFamily="2" charset="2"/>
              </a:rPr>
              <a:t>       root              suffix</a:t>
            </a:r>
          </a:p>
          <a:p>
            <a:pPr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r>
              <a:rPr lang="en-US" altLang="en-US" dirty="0">
                <a:sym typeface="Wingdings" panose="05000000000000000000" pitchFamily="2" charset="2"/>
              </a:rPr>
              <a:t>           combining vowel</a:t>
            </a:r>
          </a:p>
          <a:p>
            <a:pPr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endParaRPr lang="en-US" altLang="en-US" dirty="0">
              <a:sym typeface="Wingdings" panose="05000000000000000000" pitchFamily="2" charset="2"/>
            </a:endParaRPr>
          </a:p>
          <a:p>
            <a:pPr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endParaRPr lang="en-US" altLang="en-US" dirty="0">
              <a:sym typeface="Wingdings" panose="05000000000000000000" pitchFamily="2" charset="2"/>
            </a:endParaRPr>
          </a:p>
          <a:p>
            <a:pPr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r>
              <a:rPr lang="en-US" altLang="en-US" b="1" dirty="0">
                <a:sym typeface="Wingdings" panose="05000000000000000000" pitchFamily="2" charset="2"/>
              </a:rPr>
              <a:t>hemat  means blood</a:t>
            </a:r>
          </a:p>
          <a:p>
            <a:pPr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r>
              <a:rPr lang="en-US" altLang="en-US" b="1" dirty="0">
                <a:sym typeface="Wingdings" panose="05000000000000000000" pitchFamily="2" charset="2"/>
              </a:rPr>
              <a:t>-logy    means process of study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1020763" y="228600"/>
            <a:ext cx="7132637" cy="1219200"/>
          </a:xfrm>
        </p:spPr>
        <p:txBody>
          <a:bodyPr/>
          <a:lstStyle/>
          <a:p>
            <a:pPr eaLnBrk="1" hangingPunct="1"/>
            <a:r>
              <a:rPr lang="en-US" altLang="en-US" dirty="0"/>
              <a:t>Word Analysis </a:t>
            </a:r>
            <a:r>
              <a:rPr lang="en-US" altLang="en-US" dirty="0">
                <a:sym typeface="Wingdings" panose="05000000000000000000" pitchFamily="2" charset="2"/>
              </a:rPr>
              <a:t>(Slide 3 of 14</a:t>
            </a:r>
            <a:r>
              <a:rPr lang="en-US" altLang="ja-JP" dirty="0">
                <a:sym typeface="Wingdings" panose="05000000000000000000" pitchFamily="2" charset="2"/>
              </a:rPr>
              <a:t>)</a:t>
            </a:r>
            <a:endParaRPr lang="en-US" altLang="en-US" sz="3600" dirty="0"/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00200"/>
            <a:ext cx="7391400" cy="4114800"/>
          </a:xfrm>
        </p:spPr>
        <p:txBody>
          <a:bodyPr/>
          <a:lstStyle/>
          <a:p>
            <a:pPr eaLnBrk="1" hangingPunct="1">
              <a:buFont typeface="Wingdings 2" panose="05020102010507070707" pitchFamily="18" charset="2"/>
              <a:buNone/>
            </a:pPr>
            <a:endParaRPr lang="en-US" altLang="en-US" sz="1200" i="1" dirty="0"/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b="1" dirty="0"/>
              <a:t>Important elements:</a:t>
            </a:r>
            <a:endParaRPr lang="en-US" altLang="en-US" sz="2400" b="1" dirty="0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en-US" b="1" dirty="0">
                <a:ea typeface="MS PGothic" panose="020B0600070205080204" pitchFamily="34" charset="-128"/>
              </a:rPr>
              <a:t>Root</a:t>
            </a:r>
            <a:r>
              <a:rPr lang="en-US" altLang="en-US" dirty="0">
                <a:ea typeface="MS PGothic" panose="020B0600070205080204" pitchFamily="34" charset="-128"/>
              </a:rPr>
              <a:t>: foundation of the word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en-US" b="1" dirty="0">
                <a:ea typeface="MS PGothic" panose="020B0600070205080204" pitchFamily="34" charset="-128"/>
              </a:rPr>
              <a:t>Suffix</a:t>
            </a:r>
            <a:r>
              <a:rPr lang="en-US" altLang="en-US" dirty="0">
                <a:ea typeface="MS PGothic" panose="020B0600070205080204" pitchFamily="34" charset="-128"/>
              </a:rPr>
              <a:t>: word ending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en-US" b="1" dirty="0">
                <a:ea typeface="MS PGothic" panose="020B0600070205080204" pitchFamily="34" charset="-128"/>
              </a:rPr>
              <a:t>Prefix</a:t>
            </a:r>
            <a:r>
              <a:rPr lang="en-US" altLang="en-US" dirty="0">
                <a:ea typeface="MS PGothic" panose="020B0600070205080204" pitchFamily="34" charset="-128"/>
              </a:rPr>
              <a:t>: small part attached to the beginning of a term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en-US" b="1" dirty="0">
                <a:ea typeface="MS PGothic" panose="020B0600070205080204" pitchFamily="34" charset="-128"/>
              </a:rPr>
              <a:t>Combining vowel</a:t>
            </a:r>
            <a:r>
              <a:rPr lang="en-US" altLang="en-US" dirty="0">
                <a:ea typeface="MS PGothic" panose="020B0600070205080204" pitchFamily="34" charset="-128"/>
              </a:rPr>
              <a:t>: vowel (usually o) that links the root to the suffix or the root to another root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en-US" b="1" dirty="0">
                <a:ea typeface="MS PGothic" panose="020B0600070205080204" pitchFamily="34" charset="-128"/>
              </a:rPr>
              <a:t>Combining form</a:t>
            </a:r>
            <a:r>
              <a:rPr lang="en-US" altLang="en-US" dirty="0">
                <a:ea typeface="MS PGothic" panose="020B0600070205080204" pitchFamily="34" charset="-128"/>
              </a:rPr>
              <a:t>: root + combining vowel</a:t>
            </a:r>
            <a:endParaRPr lang="en-US" altLang="en-US" sz="2000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28600"/>
            <a:ext cx="7772400" cy="1219200"/>
          </a:xfrm>
        </p:spPr>
        <p:txBody>
          <a:bodyPr/>
          <a:lstStyle/>
          <a:p>
            <a:pPr eaLnBrk="1" hangingPunct="1"/>
            <a:r>
              <a:rPr lang="en-US" altLang="en-US" dirty="0"/>
              <a:t>Word Analysis </a:t>
            </a:r>
            <a:r>
              <a:rPr lang="en-US" altLang="en-US" dirty="0">
                <a:sym typeface="Wingdings" panose="05000000000000000000" pitchFamily="2" charset="2"/>
              </a:rPr>
              <a:t>(Slide 4 of 14</a:t>
            </a:r>
            <a:r>
              <a:rPr lang="en-US" altLang="ja-JP" dirty="0">
                <a:sym typeface="Wingdings" panose="05000000000000000000" pitchFamily="2" charset="2"/>
              </a:rPr>
              <a:t>)</a:t>
            </a:r>
            <a:endParaRPr lang="en-US" altLang="en-US" dirty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00200"/>
            <a:ext cx="6570663" cy="4124325"/>
          </a:xfrm>
        </p:spPr>
        <p:txBody>
          <a:bodyPr/>
          <a:lstStyle/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3600" b="1" dirty="0"/>
              <a:t>ELECTR/O/CARDI/O/GRAM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dirty="0">
                <a:sym typeface="Wingdings" panose="05000000000000000000" pitchFamily="2" charset="2"/>
              </a:rPr>
              <a:t>      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Word Analysis </a:t>
            </a:r>
            <a:r>
              <a:rPr lang="en-US" altLang="en-US" dirty="0">
                <a:sym typeface="Wingdings" panose="05000000000000000000" pitchFamily="2" charset="2"/>
              </a:rPr>
              <a:t>(Slide 5 of 14</a:t>
            </a:r>
            <a:r>
              <a:rPr lang="en-US" altLang="ja-JP" dirty="0">
                <a:sym typeface="Wingdings" panose="05000000000000000000" pitchFamily="2" charset="2"/>
              </a:rPr>
              <a:t>)</a:t>
            </a:r>
            <a:endParaRPr lang="en-US" altLang="en-US" dirty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00200"/>
            <a:ext cx="6248400" cy="4343400"/>
          </a:xfrm>
        </p:spPr>
        <p:txBody>
          <a:bodyPr/>
          <a:lstStyle/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3600" b="1" dirty="0"/>
              <a:t>ELECTR/O/CARDI/O/GRAM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dirty="0">
                <a:sym typeface="Wingdings" panose="05000000000000000000" pitchFamily="2" charset="2"/>
              </a:rPr>
              <a:t>                                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dirty="0">
                <a:sym typeface="Wingdings" panose="05000000000000000000" pitchFamily="2" charset="2"/>
              </a:rPr>
              <a:t>  root              root       suffix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dirty="0">
                <a:sym typeface="Wingdings" panose="05000000000000000000" pitchFamily="2" charset="2"/>
              </a:rPr>
              <a:t>              combining vowels</a:t>
            </a:r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en-US" dirty="0">
              <a:sym typeface="Wingdings" panose="05000000000000000000" pitchFamily="2" charset="2"/>
            </a:endParaRP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b="1" dirty="0">
                <a:sym typeface="Wingdings" panose="05000000000000000000" pitchFamily="2" charset="2"/>
              </a:rPr>
              <a:t>electr  means  electricity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b="1" dirty="0">
                <a:sym typeface="Wingdings" panose="05000000000000000000" pitchFamily="2" charset="2"/>
              </a:rPr>
              <a:t>cardi   means  heart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b="1" dirty="0">
                <a:sym typeface="Wingdings" panose="05000000000000000000" pitchFamily="2" charset="2"/>
              </a:rPr>
              <a:t>-gram  means  record</a:t>
            </a:r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en-US" dirty="0">
              <a:sym typeface="Wingdings" panose="05000000000000000000" pitchFamily="2" charset="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Word Analysis </a:t>
            </a:r>
            <a:r>
              <a:rPr lang="en-US" altLang="en-US" dirty="0">
                <a:sym typeface="Wingdings" panose="05000000000000000000" pitchFamily="2" charset="2"/>
              </a:rPr>
              <a:t>(Slide 6 of 14</a:t>
            </a:r>
            <a:r>
              <a:rPr lang="en-US" altLang="ja-JP" dirty="0">
                <a:sym typeface="Wingdings" panose="05000000000000000000" pitchFamily="2" charset="2"/>
              </a:rPr>
              <a:t>)</a:t>
            </a:r>
            <a:endParaRPr lang="es-419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4900" y="2133600"/>
            <a:ext cx="4038600" cy="2666999"/>
          </a:xfrm>
        </p:spPr>
        <p:txBody>
          <a:bodyPr/>
          <a:lstStyle/>
          <a:p>
            <a:pPr marL="0" indent="0">
              <a:buNone/>
            </a:pPr>
            <a:r>
              <a:rPr lang="es-419" sz="4800" b="1" dirty="0"/>
              <a:t>GASTRITIS</a:t>
            </a:r>
          </a:p>
        </p:txBody>
      </p:sp>
    </p:spTree>
    <p:extLst>
      <p:ext uri="{BB962C8B-B14F-4D97-AF65-F5344CB8AC3E}">
        <p14:creationId xmlns:p14="http://schemas.microsoft.com/office/powerpoint/2010/main" val="21094355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Word Analysis </a:t>
            </a:r>
            <a:r>
              <a:rPr lang="en-US" altLang="en-US" dirty="0">
                <a:sym typeface="Wingdings" panose="05000000000000000000" pitchFamily="2" charset="2"/>
              </a:rPr>
              <a:t>(Slide 7 of 14</a:t>
            </a:r>
            <a:r>
              <a:rPr lang="en-US" altLang="ja-JP" dirty="0">
                <a:sym typeface="Wingdings" panose="05000000000000000000" pitchFamily="2" charset="2"/>
              </a:rPr>
              <a:t>)</a:t>
            </a:r>
            <a:endParaRPr lang="es-419" dirty="0"/>
          </a:p>
        </p:txBody>
      </p:sp>
      <p:pic>
        <p:nvPicPr>
          <p:cNvPr id="6" name="Picture 1" descr="&quot;Gastritis&quot; can be broken down into a root and a suffix. &quot;Gastr-&quot; is the root. &quot;-itis&quot; is the suffix. "/>
          <p:cNvPicPr>
            <a:picLocks noGrp="1" noChangeAspect="1"/>
          </p:cNvPicPr>
          <p:nvPr isPhoto="1"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094"/>
          <a:stretch>
            <a:fillRect/>
          </a:stretch>
        </p:blipFill>
        <p:spPr bwMode="auto">
          <a:xfrm>
            <a:off x="851170" y="1772482"/>
            <a:ext cx="6869112" cy="19647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0" y="4092068"/>
            <a:ext cx="7848600" cy="2239963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r>
              <a:rPr lang="en-US" altLang="en-US" sz="2400" b="1" dirty="0" err="1">
                <a:sym typeface="Wingdings" panose="05000000000000000000" pitchFamily="2" charset="2"/>
              </a:rPr>
              <a:t>gastr</a:t>
            </a:r>
            <a:r>
              <a:rPr lang="en-US" altLang="en-US" sz="2400" b="1" dirty="0">
                <a:sym typeface="Wingdings" panose="05000000000000000000" pitchFamily="2" charset="2"/>
              </a:rPr>
              <a:t>-  means   stomach</a:t>
            </a:r>
          </a:p>
          <a:p>
            <a:pPr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r>
              <a:rPr lang="en-US" altLang="en-US" sz="2400" b="1" dirty="0">
                <a:sym typeface="Wingdings" panose="05000000000000000000" pitchFamily="2" charset="2"/>
              </a:rPr>
              <a:t>-itis    means   inflammation</a:t>
            </a:r>
          </a:p>
          <a:p>
            <a:pPr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endParaRPr lang="en-US" altLang="en-US" b="1" dirty="0">
              <a:sym typeface="Wingdings" panose="05000000000000000000" pitchFamily="2" charset="2"/>
            </a:endParaRPr>
          </a:p>
          <a:p>
            <a:pPr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r>
              <a:rPr lang="en-US" altLang="en-US" sz="2400" b="1" i="1" dirty="0">
                <a:sym typeface="Wingdings" panose="05000000000000000000" pitchFamily="2" charset="2"/>
              </a:rPr>
              <a:t>Note:</a:t>
            </a:r>
            <a:r>
              <a:rPr lang="en-US" altLang="en-US" sz="2400" i="1" dirty="0">
                <a:sym typeface="Wingdings" panose="05000000000000000000" pitchFamily="2" charset="2"/>
              </a:rPr>
              <a:t>  Drop combining vowel when suffix starts with a vowel (as in </a:t>
            </a:r>
            <a:r>
              <a:rPr lang="ja-JP" altLang="en-US" sz="2400" dirty="0">
                <a:sym typeface="Wingdings" panose="05000000000000000000" pitchFamily="2" charset="2"/>
              </a:rPr>
              <a:t>“</a:t>
            </a:r>
            <a:r>
              <a:rPr lang="en-US" altLang="ja-JP" sz="2400" i="1" dirty="0">
                <a:sym typeface="Wingdings" panose="05000000000000000000" pitchFamily="2" charset="2"/>
              </a:rPr>
              <a:t>itis</a:t>
            </a:r>
            <a:r>
              <a:rPr lang="ja-JP" altLang="en-US" sz="2400" i="1" dirty="0">
                <a:sym typeface="Wingdings" panose="05000000000000000000" pitchFamily="2" charset="2"/>
              </a:rPr>
              <a:t>”</a:t>
            </a:r>
            <a:r>
              <a:rPr lang="en-US" altLang="ja-JP" sz="2400" i="1" dirty="0">
                <a:sym typeface="Wingdings" panose="05000000000000000000" pitchFamily="2" charset="2"/>
              </a:rPr>
              <a:t>)</a:t>
            </a:r>
            <a:endParaRPr lang="en-US" altLang="en-US" sz="2400" i="1" dirty="0">
              <a:sym typeface="Wingdings" panose="05000000000000000000" pitchFamily="2" charset="2"/>
            </a:endParaRPr>
          </a:p>
          <a:p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3395324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Word Analysis </a:t>
            </a:r>
            <a:r>
              <a:rPr lang="en-US" altLang="en-US" dirty="0">
                <a:sym typeface="Wingdings" panose="05000000000000000000" pitchFamily="2" charset="2"/>
              </a:rPr>
              <a:t>(Slide 8 of 14</a:t>
            </a:r>
            <a:r>
              <a:rPr lang="en-US" altLang="ja-JP" dirty="0">
                <a:sym typeface="Wingdings" panose="05000000000000000000" pitchFamily="2" charset="2"/>
              </a:rPr>
              <a:t>)</a:t>
            </a:r>
            <a:endParaRPr lang="en-US" altLang="en-US" dirty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524000"/>
            <a:ext cx="6248400" cy="4343400"/>
          </a:xfrm>
        </p:spPr>
        <p:txBody>
          <a:bodyPr/>
          <a:lstStyle/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3600" b="1" dirty="0"/>
              <a:t>GASTR/O/ENTER/O/LOGY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dirty="0">
                <a:sym typeface="Wingdings" panose="05000000000000000000" pitchFamily="2" charset="2"/>
              </a:rPr>
              <a:t>       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Word Analysis </a:t>
            </a:r>
            <a:r>
              <a:rPr lang="en-US" altLang="en-US" dirty="0">
                <a:sym typeface="Wingdings" panose="05000000000000000000" pitchFamily="2" charset="2"/>
              </a:rPr>
              <a:t>(Slide 9 of 14</a:t>
            </a:r>
            <a:r>
              <a:rPr lang="en-US" altLang="ja-JP" dirty="0">
                <a:sym typeface="Wingdings" panose="05000000000000000000" pitchFamily="2" charset="2"/>
              </a:rPr>
              <a:t>)</a:t>
            </a:r>
            <a:endParaRPr lang="en-US" altLang="en-US" dirty="0"/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00200"/>
            <a:ext cx="7848600" cy="4495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r>
              <a:rPr lang="en-US" altLang="en-US" sz="3600" b="1" dirty="0"/>
              <a:t>GASTR/O/ENTER/O/LOGY</a:t>
            </a:r>
          </a:p>
          <a:p>
            <a:pPr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r>
              <a:rPr lang="en-US" altLang="en-US" dirty="0">
                <a:sym typeface="Wingdings" panose="05000000000000000000" pitchFamily="2" charset="2"/>
              </a:rPr>
              <a:t>                               </a:t>
            </a:r>
          </a:p>
          <a:p>
            <a:pPr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r>
              <a:rPr lang="en-US" altLang="en-US" dirty="0">
                <a:sym typeface="Wingdings" panose="05000000000000000000" pitchFamily="2" charset="2"/>
              </a:rPr>
              <a:t> root             root       suffix</a:t>
            </a:r>
          </a:p>
          <a:p>
            <a:pPr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r>
              <a:rPr lang="en-US" altLang="en-US" dirty="0">
                <a:sym typeface="Wingdings" panose="05000000000000000000" pitchFamily="2" charset="2"/>
              </a:rPr>
              <a:t>             combining vowels</a:t>
            </a:r>
          </a:p>
          <a:p>
            <a:pPr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endParaRPr lang="en-US" altLang="en-US" dirty="0">
              <a:sym typeface="Wingdings" panose="05000000000000000000" pitchFamily="2" charset="2"/>
            </a:endParaRPr>
          </a:p>
          <a:p>
            <a:pPr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r>
              <a:rPr lang="en-US" altLang="en-US" b="1" dirty="0">
                <a:sym typeface="Wingdings" panose="05000000000000000000" pitchFamily="2" charset="2"/>
              </a:rPr>
              <a:t>gastr means  stomach</a:t>
            </a:r>
          </a:p>
          <a:p>
            <a:pPr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r>
              <a:rPr lang="en-US" altLang="en-US" b="1" dirty="0">
                <a:sym typeface="Wingdings" panose="05000000000000000000" pitchFamily="2" charset="2"/>
              </a:rPr>
              <a:t>enter means  intestines</a:t>
            </a:r>
          </a:p>
          <a:p>
            <a:pPr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r>
              <a:rPr lang="en-US" altLang="en-US" b="1" dirty="0">
                <a:sym typeface="Wingdings" panose="05000000000000000000" pitchFamily="2" charset="2"/>
              </a:rPr>
              <a:t>-logy means  process of study</a:t>
            </a:r>
          </a:p>
          <a:p>
            <a:pPr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endParaRPr lang="en-US" altLang="en-US" dirty="0">
              <a:sym typeface="Wingdings" panose="05000000000000000000" pitchFamily="2" charset="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765175" y="230188"/>
            <a:ext cx="7212013" cy="836612"/>
          </a:xfrm>
        </p:spPr>
        <p:txBody>
          <a:bodyPr anchor="t"/>
          <a:lstStyle/>
          <a:p>
            <a:pPr eaLnBrk="1" hangingPunct="1"/>
            <a:r>
              <a:rPr lang="en-US" altLang="en-US" dirty="0"/>
              <a:t>Word Analysis</a:t>
            </a:r>
            <a:r>
              <a:rPr lang="en-US" altLang="en-US" sz="3600" dirty="0"/>
              <a:t> </a:t>
            </a:r>
            <a:r>
              <a:rPr lang="en-US" altLang="en-US" dirty="0">
                <a:sym typeface="Wingdings" panose="05000000000000000000" pitchFamily="2" charset="2"/>
              </a:rPr>
              <a:t>(Slide 10 of 14</a:t>
            </a:r>
            <a:r>
              <a:rPr lang="en-US" altLang="ja-JP" dirty="0">
                <a:sym typeface="Wingdings" panose="05000000000000000000" pitchFamily="2" charset="2"/>
              </a:rPr>
              <a:t>)</a:t>
            </a:r>
            <a:br>
              <a:rPr lang="en-US" altLang="ja-JP" dirty="0"/>
            </a:br>
            <a:endParaRPr lang="en-US" altLang="en-US" dirty="0"/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00200"/>
            <a:ext cx="6858000" cy="4525963"/>
          </a:xfrm>
        </p:spPr>
        <p:txBody>
          <a:bodyPr/>
          <a:lstStyle/>
          <a:p>
            <a:pPr marL="533400" indent="-533400" eaLnBrk="1" hangingPunct="1">
              <a:buFont typeface="Wingdings 2" panose="05020102010507070707" pitchFamily="18" charset="2"/>
              <a:buNone/>
            </a:pPr>
            <a:r>
              <a:rPr lang="en-US" altLang="en-US" b="1" dirty="0"/>
              <a:t>THREE General Rules:</a:t>
            </a:r>
            <a:r>
              <a:rPr lang="en-US" altLang="en-US" sz="2400" dirty="0"/>
              <a:t> </a:t>
            </a:r>
          </a:p>
          <a:p>
            <a:pPr marL="914400" lvl="1" indent="-457200" eaLnBrk="1" hangingPunct="1">
              <a:buFont typeface="Arial" panose="020B0604020202020204" pitchFamily="34" charset="0"/>
              <a:buAutoNum type="arabicPeriod"/>
            </a:pPr>
            <a:r>
              <a:rPr lang="en-US" altLang="en-US" dirty="0"/>
              <a:t>READ the meaning of medical terms from the </a:t>
            </a:r>
            <a:r>
              <a:rPr lang="en-US" altLang="en-US" b="1" dirty="0"/>
              <a:t>suffix back to the beginning</a:t>
            </a:r>
            <a:r>
              <a:rPr lang="en-US" altLang="en-US" dirty="0"/>
              <a:t> of the term and across</a:t>
            </a:r>
          </a:p>
          <a:p>
            <a:pPr marL="914400" lvl="1" indent="-457200" eaLnBrk="1" hangingPunct="1">
              <a:buFont typeface="Arial" panose="020B0604020202020204" pitchFamily="34" charset="0"/>
              <a:buAutoNum type="arabicPeriod"/>
            </a:pPr>
            <a:r>
              <a:rPr lang="en-US" altLang="en-US" dirty="0"/>
              <a:t>DROP the combining vowel (usually o) before a suffix beginning with a vowel: </a:t>
            </a:r>
            <a:r>
              <a:rPr lang="en-US" altLang="en-US" b="1" dirty="0"/>
              <a:t>gastritis</a:t>
            </a:r>
            <a:r>
              <a:rPr lang="en-US" altLang="en-US" dirty="0"/>
              <a:t> </a:t>
            </a:r>
            <a:r>
              <a:rPr lang="en-US" altLang="en-US" i="1" dirty="0"/>
              <a:t>not</a:t>
            </a:r>
            <a:r>
              <a:rPr lang="en-US" altLang="en-US" dirty="0"/>
              <a:t> </a:t>
            </a:r>
            <a:r>
              <a:rPr lang="ja-JP" altLang="en-US" dirty="0"/>
              <a:t>“</a:t>
            </a:r>
            <a:r>
              <a:rPr lang="en-US" altLang="ja-JP" b="1" dirty="0"/>
              <a:t>gastroitis</a:t>
            </a:r>
            <a:r>
              <a:rPr lang="ja-JP" altLang="en-US" dirty="0"/>
              <a:t>”</a:t>
            </a:r>
            <a:endParaRPr lang="en-US" altLang="ja-JP" dirty="0"/>
          </a:p>
          <a:p>
            <a:pPr marL="914400" lvl="1" indent="-457200" eaLnBrk="1" hangingPunct="1">
              <a:buFont typeface="Arial" panose="020B0604020202020204" pitchFamily="34" charset="0"/>
              <a:buAutoNum type="arabicPeriod"/>
            </a:pPr>
            <a:r>
              <a:rPr lang="en-US" altLang="en-US" dirty="0"/>
              <a:t>KEEP the combining vowel between two roots: </a:t>
            </a:r>
            <a:r>
              <a:rPr lang="en-US" altLang="en-US" b="1" dirty="0"/>
              <a:t>gastroenterology </a:t>
            </a:r>
            <a:r>
              <a:rPr lang="en-US" altLang="en-US" i="1" dirty="0"/>
              <a:t>not</a:t>
            </a:r>
            <a:r>
              <a:rPr lang="en-US" altLang="en-US" dirty="0"/>
              <a:t> </a:t>
            </a:r>
            <a:r>
              <a:rPr lang="ja-JP" altLang="en-US" dirty="0"/>
              <a:t>“</a:t>
            </a:r>
            <a:r>
              <a:rPr lang="en-US" altLang="ja-JP" b="1" dirty="0"/>
              <a:t>gastrenterology</a:t>
            </a:r>
            <a:r>
              <a:rPr lang="ja-JP" altLang="en-US" dirty="0"/>
              <a:t>”</a:t>
            </a:r>
            <a:r>
              <a:rPr lang="en-US" altLang="ja-JP" sz="2000" dirty="0"/>
              <a:t> </a:t>
            </a:r>
          </a:p>
          <a:p>
            <a:pPr marL="533400" indent="-533400" eaLnBrk="1" hangingPunct="1"/>
            <a:endParaRPr lang="en-US" alt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Word Analysis </a:t>
            </a:r>
            <a:r>
              <a:rPr lang="en-US" altLang="en-US" dirty="0">
                <a:sym typeface="Wingdings" panose="05000000000000000000" pitchFamily="2" charset="2"/>
              </a:rPr>
              <a:t>(Slide 11 of 14</a:t>
            </a:r>
            <a:r>
              <a:rPr lang="en-US" altLang="ja-JP" dirty="0">
                <a:sym typeface="Wingdings" panose="05000000000000000000" pitchFamily="2" charset="2"/>
              </a:rPr>
              <a:t>)</a:t>
            </a:r>
            <a:endParaRPr lang="en-US" altLang="en-US" dirty="0"/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00200"/>
            <a:ext cx="6248400" cy="4343400"/>
          </a:xfrm>
        </p:spPr>
        <p:txBody>
          <a:bodyPr/>
          <a:lstStyle/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3600" b="1" dirty="0"/>
              <a:t>HYPO/GASTR/IC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dirty="0">
                <a:sym typeface="Wingdings" panose="05000000000000000000" pitchFamily="2" charset="2"/>
              </a:rPr>
              <a:t>  </a:t>
            </a:r>
            <a:endParaRPr lang="en-US" altLang="en-US" b="1" dirty="0">
              <a:sym typeface="Wingdings" panose="05000000000000000000" pitchFamily="2" charset="2"/>
            </a:endParaRPr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en-US" dirty="0">
              <a:sym typeface="Wingdings" panose="05000000000000000000" pitchFamily="2" charset="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Word Analysis </a:t>
            </a:r>
            <a:r>
              <a:rPr lang="en-US" altLang="en-US" dirty="0">
                <a:sym typeface="Wingdings" panose="05000000000000000000" pitchFamily="2" charset="2"/>
              </a:rPr>
              <a:t>(Slide 12 of 14</a:t>
            </a:r>
            <a:r>
              <a:rPr lang="en-US" altLang="ja-JP" dirty="0">
                <a:sym typeface="Wingdings" panose="05000000000000000000" pitchFamily="2" charset="2"/>
              </a:rPr>
              <a:t>)</a:t>
            </a:r>
            <a:endParaRPr lang="en-US" altLang="en-US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00200"/>
            <a:ext cx="7315200" cy="45720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r>
              <a:rPr lang="en-US" altLang="en-US" sz="3600" b="1" dirty="0"/>
              <a:t>HYPO/GASTR/IC</a:t>
            </a:r>
          </a:p>
          <a:p>
            <a:pPr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r>
              <a:rPr lang="en-US" altLang="en-US" dirty="0">
                <a:sym typeface="Wingdings" panose="05000000000000000000" pitchFamily="2" charset="2"/>
              </a:rPr>
              <a:t>                      </a:t>
            </a:r>
          </a:p>
          <a:p>
            <a:pPr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r>
              <a:rPr lang="en-US" altLang="en-US" dirty="0">
                <a:sym typeface="Wingdings" panose="05000000000000000000" pitchFamily="2" charset="2"/>
              </a:rPr>
              <a:t>prefix     root     suffix</a:t>
            </a:r>
          </a:p>
          <a:p>
            <a:pPr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r>
              <a:rPr lang="en-US" altLang="en-US" dirty="0">
                <a:sym typeface="Wingdings" panose="05000000000000000000" pitchFamily="2" charset="2"/>
              </a:rPr>
              <a:t>                  </a:t>
            </a:r>
          </a:p>
          <a:p>
            <a:pPr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r>
              <a:rPr lang="en-US" altLang="en-US" b="1" dirty="0">
                <a:sym typeface="Wingdings" panose="05000000000000000000" pitchFamily="2" charset="2"/>
              </a:rPr>
              <a:t>hypo-  means   below</a:t>
            </a:r>
          </a:p>
          <a:p>
            <a:pPr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r>
              <a:rPr lang="en-US" altLang="en-US" b="1" dirty="0">
                <a:sym typeface="Wingdings" panose="05000000000000000000" pitchFamily="2" charset="2"/>
              </a:rPr>
              <a:t>gastr   means   stomach</a:t>
            </a:r>
          </a:p>
          <a:p>
            <a:pPr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r>
              <a:rPr lang="en-US" altLang="en-US" b="1" dirty="0">
                <a:sym typeface="Wingdings" panose="05000000000000000000" pitchFamily="2" charset="2"/>
              </a:rPr>
              <a:t>-ic        means   pertaining to</a:t>
            </a:r>
          </a:p>
          <a:p>
            <a:pPr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endParaRPr lang="en-US" altLang="en-US" b="1" dirty="0">
              <a:sym typeface="Wingdings" panose="05000000000000000000" pitchFamily="2" charset="2"/>
            </a:endParaRPr>
          </a:p>
          <a:p>
            <a:pPr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endParaRPr lang="en-US" altLang="en-US" dirty="0">
              <a:sym typeface="Wingdings" panose="05000000000000000000" pitchFamily="2" charset="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Word Analysis </a:t>
            </a:r>
            <a:r>
              <a:rPr lang="en-US" altLang="en-US" dirty="0">
                <a:sym typeface="Wingdings" panose="05000000000000000000" pitchFamily="2" charset="2"/>
              </a:rPr>
              <a:t>(Slide 13 of 14</a:t>
            </a:r>
            <a:r>
              <a:rPr lang="en-US" altLang="ja-JP" dirty="0">
                <a:sym typeface="Wingdings" panose="05000000000000000000" pitchFamily="2" charset="2"/>
              </a:rPr>
              <a:t>)</a:t>
            </a:r>
            <a:endParaRPr lang="en-US" altLang="en-US" dirty="0"/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00200"/>
            <a:ext cx="6248400" cy="4343400"/>
          </a:xfrm>
        </p:spPr>
        <p:txBody>
          <a:bodyPr/>
          <a:lstStyle/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3600" b="1" dirty="0"/>
              <a:t>EPI/GASTR/IC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dirty="0">
                <a:sym typeface="Wingdings" panose="05000000000000000000" pitchFamily="2" charset="2"/>
              </a:rPr>
              <a:t> 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Word Analysis </a:t>
            </a:r>
            <a:r>
              <a:rPr lang="en-US" altLang="en-US" dirty="0">
                <a:sym typeface="Wingdings" panose="05000000000000000000" pitchFamily="2" charset="2"/>
              </a:rPr>
              <a:t>(Slide 14 of 14</a:t>
            </a:r>
            <a:r>
              <a:rPr lang="en-US" altLang="ja-JP" dirty="0">
                <a:sym typeface="Wingdings" panose="05000000000000000000" pitchFamily="2" charset="2"/>
              </a:rPr>
              <a:t>)</a:t>
            </a:r>
            <a:endParaRPr lang="en-US" altLang="en-US" dirty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00200"/>
            <a:ext cx="7467600" cy="4800600"/>
          </a:xfrm>
        </p:spPr>
        <p:txBody>
          <a:bodyPr/>
          <a:lstStyle/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3600" b="1" dirty="0"/>
              <a:t>EPI/GASTR/IC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dirty="0">
                <a:sym typeface="Wingdings" panose="05000000000000000000" pitchFamily="2" charset="2"/>
              </a:rPr>
              <a:t>                 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dirty="0">
                <a:sym typeface="Wingdings" panose="05000000000000000000" pitchFamily="2" charset="2"/>
              </a:rPr>
              <a:t>prefix  root    suffix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dirty="0">
                <a:sym typeface="Wingdings" panose="05000000000000000000" pitchFamily="2" charset="2"/>
              </a:rPr>
              <a:t>                  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b="1" dirty="0">
                <a:sym typeface="Wingdings" panose="05000000000000000000" pitchFamily="2" charset="2"/>
              </a:rPr>
              <a:t>epi-     means  above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b="1" dirty="0">
                <a:sym typeface="Wingdings" panose="05000000000000000000" pitchFamily="2" charset="2"/>
              </a:rPr>
              <a:t>gastr  means   stomach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b="1" dirty="0">
                <a:sym typeface="Wingdings" panose="05000000000000000000" pitchFamily="2" charset="2"/>
              </a:rPr>
              <a:t>-ic       means   pertaining to</a:t>
            </a:r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en-US" b="1" dirty="0">
              <a:sym typeface="Wingdings" panose="05000000000000000000" pitchFamily="2" charset="2"/>
            </a:endParaRPr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en-US" dirty="0">
              <a:sym typeface="Wingdings" panose="05000000000000000000" pitchFamily="2" charset="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Combining Forms (Slide 1 of 16)</a:t>
            </a:r>
          </a:p>
        </p:txBody>
      </p:sp>
      <p:graphicFrame>
        <p:nvGraphicFramePr>
          <p:cNvPr id="8" name="Content Placeholder 7" descr="Group 1 of 8:  lists combining forms.  The following slide lists the same combining forms with their corresponding meaning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9024804"/>
              </p:ext>
            </p:extLst>
          </p:nvPr>
        </p:nvGraphicFramePr>
        <p:xfrm>
          <a:off x="2895600" y="1600200"/>
          <a:ext cx="3783012" cy="41148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37830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rPr lang="en-US" sz="2400" dirty="0"/>
                        <a:t>Combining 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aden/o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arthr/o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bi/o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carcin/o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cardi/o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64894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Combining Forms (Slide 2 of 16)</a:t>
            </a:r>
          </a:p>
        </p:txBody>
      </p:sp>
      <p:graphicFrame>
        <p:nvGraphicFramePr>
          <p:cNvPr id="8" name="Content Placeholder 7" descr="The combining forms from the previous slide with their corresponding meanings are provided.    The combining forms and meanings listed are:  aden/o meaning gland, arthr/o meaning joint, bi/o meaning life, carcin/o meaning cancerous, cancer, and cardi/o meaning heart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2196828"/>
              </p:ext>
            </p:extLst>
          </p:nvPr>
        </p:nvGraphicFramePr>
        <p:xfrm>
          <a:off x="457200" y="1600200"/>
          <a:ext cx="8229600" cy="27432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289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Combining 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aden/o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gland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arthr/o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joint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bi/o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life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carcin/o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cancerous, cancer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cardi/o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heart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11789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title"/>
          </p:nvPr>
        </p:nvSpPr>
        <p:spPr>
          <a:xfrm>
            <a:off x="1371600" y="381000"/>
            <a:ext cx="7239000" cy="1066800"/>
          </a:xfrm>
        </p:spPr>
        <p:txBody>
          <a:bodyPr/>
          <a:lstStyle/>
          <a:p>
            <a:pPr eaLnBrk="1" hangingPunct="1"/>
            <a:r>
              <a:rPr lang="en-US" altLang="en-US" dirty="0"/>
              <a:t>    </a:t>
            </a:r>
            <a:r>
              <a:rPr lang="en-US" altLang="en-US" sz="5400" b="1" dirty="0"/>
              <a:t>QUICK QUIZ </a:t>
            </a:r>
            <a:r>
              <a:rPr lang="en-US" altLang="en-US" dirty="0"/>
              <a:t>(Slide 3 of 5)	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1524000" y="2133600"/>
            <a:ext cx="6553200" cy="3505200"/>
          </a:xfrm>
        </p:spPr>
        <p:txBody>
          <a:bodyPr/>
          <a:lstStyle/>
          <a:p>
            <a:pPr marL="533400" indent="-533400" eaLnBrk="1" hangingPunct="1">
              <a:buFont typeface="Wingdings 2" panose="05020102010507070707" pitchFamily="18" charset="2"/>
              <a:buNone/>
            </a:pPr>
            <a:r>
              <a:rPr lang="en-US" altLang="en-US" b="1" dirty="0"/>
              <a:t>3.  Which term means inflammation    </a:t>
            </a:r>
          </a:p>
          <a:p>
            <a:pPr marL="533400" indent="-533400" eaLnBrk="1" hangingPunct="1">
              <a:buFont typeface="Wingdings 2" panose="05020102010507070707" pitchFamily="18" charset="2"/>
              <a:buNone/>
            </a:pPr>
            <a:r>
              <a:rPr lang="en-US" altLang="en-US" b="1" dirty="0"/>
              <a:t>     of the gland?</a:t>
            </a:r>
            <a:endParaRPr lang="en-US" altLang="en-US" dirty="0"/>
          </a:p>
          <a:p>
            <a:pPr marL="914400" lvl="1" indent="-457200" eaLnBrk="1" hangingPunct="1">
              <a:buFont typeface="Arial" panose="020B0604020202020204" pitchFamily="34" charset="0"/>
              <a:buAutoNum type="alphaUcPeriod"/>
            </a:pPr>
            <a:r>
              <a:rPr lang="en-US" altLang="en-US" sz="3200" dirty="0"/>
              <a:t>Arthritis</a:t>
            </a:r>
          </a:p>
          <a:p>
            <a:pPr marL="914400" lvl="1" indent="-457200" eaLnBrk="1" hangingPunct="1">
              <a:buFont typeface="Arial" panose="020B0604020202020204" pitchFamily="34" charset="0"/>
              <a:buAutoNum type="alphaUcPeriod"/>
            </a:pPr>
            <a:r>
              <a:rPr lang="en-US" altLang="en-US" sz="3200" dirty="0"/>
              <a:t>Adenitis</a:t>
            </a:r>
          </a:p>
          <a:p>
            <a:pPr marL="914400" lvl="1" indent="-457200" eaLnBrk="1" hangingPunct="1">
              <a:buFont typeface="Arial" panose="020B0604020202020204" pitchFamily="34" charset="0"/>
              <a:buAutoNum type="alphaUcPeriod"/>
            </a:pPr>
            <a:r>
              <a:rPr lang="en-US" altLang="en-US" sz="3200" dirty="0"/>
              <a:t>Adenoma</a:t>
            </a:r>
          </a:p>
          <a:p>
            <a:pPr marL="914400" lvl="1" indent="-457200" eaLnBrk="1" hangingPunct="1">
              <a:buFont typeface="Arial" panose="020B0604020202020204" pitchFamily="34" charset="0"/>
              <a:buAutoNum type="alphaUcPeriod"/>
            </a:pPr>
            <a:r>
              <a:rPr lang="en-US" altLang="en-US" sz="3200" dirty="0"/>
              <a:t>Cephalic</a:t>
            </a:r>
            <a:r>
              <a:rPr lang="en-US" altLang="en-US" dirty="0"/>
              <a:t>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Combining Forms (Slide 3 of 16)</a:t>
            </a:r>
          </a:p>
        </p:txBody>
      </p:sp>
      <p:graphicFrame>
        <p:nvGraphicFramePr>
          <p:cNvPr id="8" name="Content Placeholder 7" descr="Group 2 of 8:  lists combining forms.  The following slide lists the same combining forms with their corresponding meaning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7792498"/>
              </p:ext>
            </p:extLst>
          </p:nvPr>
        </p:nvGraphicFramePr>
        <p:xfrm>
          <a:off x="2819400" y="1624519"/>
          <a:ext cx="3962400" cy="41148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396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rPr lang="en-US" sz="2400" dirty="0"/>
                        <a:t>Combining 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cephal/o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cerebr/o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cis/o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crin/o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cyst/o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99044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Combining Forms (Slide 4 of 16)</a:t>
            </a:r>
          </a:p>
        </p:txBody>
      </p:sp>
      <p:graphicFrame>
        <p:nvGraphicFramePr>
          <p:cNvPr id="8" name="Content Placeholder 7" descr="The combining forms from the previous slide with their corresponding meanings are provided.    The combining forms and meanings listed are:  cephal/o meaning head, cerebr/o meaning cerebrum, cis/o meaning to cut, crin/o meaning to secrete, and cyst/o meaning urinary bladder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9470617"/>
              </p:ext>
            </p:extLst>
          </p:nvPr>
        </p:nvGraphicFramePr>
        <p:xfrm>
          <a:off x="457200" y="1600200"/>
          <a:ext cx="8229600" cy="27432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289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Combining 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cephal/o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head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cerebr/o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cerebrum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cis/o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to cut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crin/o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to secrete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cyst/o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urinary bladder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48370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Combining Forms (Slide 5 of 16)</a:t>
            </a:r>
          </a:p>
        </p:txBody>
      </p:sp>
      <p:graphicFrame>
        <p:nvGraphicFramePr>
          <p:cNvPr id="8" name="Content Placeholder 7" descr="Group 3 of 8:  lists combining forms.  The following slide lists the same combining forms with their corresponding meaning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5001515"/>
              </p:ext>
            </p:extLst>
          </p:nvPr>
        </p:nvGraphicFramePr>
        <p:xfrm>
          <a:off x="2389188" y="1905000"/>
          <a:ext cx="4495800" cy="38100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449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r>
                        <a:rPr lang="en-US" sz="2400" dirty="0"/>
                        <a:t>Combining 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cyt/o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derm/o or dermat/o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electr/o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encephal/o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enter/o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9047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Combining Forms (Slide 6 of 16)</a:t>
            </a:r>
          </a:p>
        </p:txBody>
      </p:sp>
      <p:graphicFrame>
        <p:nvGraphicFramePr>
          <p:cNvPr id="8" name="Content Placeholder 7" descr="The combining forms from the previous slide with their corresponding meanings are provided.   The combining forms and meanings listed are:  cyt/o meaning cell, derm/o or dermat/o meaning skin, electr/o meaning electricity, encephal/o meaning brain, and enter/o meaning intestine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55021263"/>
              </p:ext>
            </p:extLst>
          </p:nvPr>
        </p:nvGraphicFramePr>
        <p:xfrm>
          <a:off x="457200" y="1600200"/>
          <a:ext cx="8229600" cy="27432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335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Combining 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cyt/o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cell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derm/o or dermat/o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skin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electr/o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electricity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encephal/o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brain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enter/o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intestines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20273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title"/>
          </p:nvPr>
        </p:nvSpPr>
        <p:spPr>
          <a:xfrm>
            <a:off x="990600" y="228600"/>
            <a:ext cx="7772400" cy="1219200"/>
          </a:xfrm>
        </p:spPr>
        <p:txBody>
          <a:bodyPr/>
          <a:lstStyle/>
          <a:p>
            <a:pPr eaLnBrk="1" hangingPunct="1"/>
            <a:r>
              <a:rPr lang="en-US" altLang="en-US" dirty="0"/>
              <a:t> </a:t>
            </a:r>
            <a:r>
              <a:rPr lang="en-US" altLang="en-US" sz="5400" b="1" dirty="0"/>
              <a:t>QUICK QUIZ </a:t>
            </a:r>
            <a:r>
              <a:rPr lang="en-US" altLang="en-US" dirty="0"/>
              <a:t>(Slide 4 of 5)		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1360488" y="2133600"/>
            <a:ext cx="6553200" cy="3048000"/>
          </a:xfrm>
        </p:spPr>
        <p:txBody>
          <a:bodyPr/>
          <a:lstStyle/>
          <a:p>
            <a:pPr marL="533400" indent="-533400" eaLnBrk="1" hangingPunct="1">
              <a:buFont typeface="Arial" panose="020B0604020202020204" pitchFamily="34" charset="0"/>
              <a:buAutoNum type="arabicPeriod" startAt="4"/>
            </a:pPr>
            <a:r>
              <a:rPr lang="en-US" altLang="en-US" b="1" dirty="0"/>
              <a:t>Which term means study of cells?</a:t>
            </a:r>
            <a:endParaRPr lang="en-US" altLang="en-US" sz="1200" b="1" dirty="0"/>
          </a:p>
          <a:p>
            <a:pPr marL="914400" lvl="1" indent="-457200" eaLnBrk="1" hangingPunct="1">
              <a:buFont typeface="Arial" panose="020B0604020202020204" pitchFamily="34" charset="0"/>
              <a:buAutoNum type="alphaUcPeriod"/>
            </a:pPr>
            <a:r>
              <a:rPr lang="en-US" altLang="en-US" sz="3200" dirty="0"/>
              <a:t>Cystoscopy</a:t>
            </a:r>
          </a:p>
          <a:p>
            <a:pPr marL="914400" lvl="1" indent="-457200" eaLnBrk="1" hangingPunct="1">
              <a:buFont typeface="Arial" panose="020B0604020202020204" pitchFamily="34" charset="0"/>
              <a:buAutoNum type="alphaUcPeriod"/>
            </a:pPr>
            <a:r>
              <a:rPr lang="en-US" altLang="en-US" sz="3200" dirty="0"/>
              <a:t>Cystitis</a:t>
            </a:r>
          </a:p>
          <a:p>
            <a:pPr marL="914400" lvl="1" indent="-457200" eaLnBrk="1" hangingPunct="1">
              <a:buFont typeface="Arial" panose="020B0604020202020204" pitchFamily="34" charset="0"/>
              <a:buAutoNum type="alphaUcPeriod"/>
            </a:pPr>
            <a:r>
              <a:rPr lang="en-US" altLang="en-US" sz="3200" dirty="0"/>
              <a:t>Cytology</a:t>
            </a:r>
          </a:p>
          <a:p>
            <a:pPr marL="914400" lvl="1" indent="-457200" eaLnBrk="1" hangingPunct="1">
              <a:buFont typeface="Arial" panose="020B0604020202020204" pitchFamily="34" charset="0"/>
              <a:buAutoNum type="alphaUcPeriod"/>
            </a:pPr>
            <a:r>
              <a:rPr lang="en-US" altLang="en-US" sz="3200" dirty="0"/>
              <a:t>Hematology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Combining Forms (Slide 7 of 16)</a:t>
            </a:r>
          </a:p>
        </p:txBody>
      </p:sp>
      <p:graphicFrame>
        <p:nvGraphicFramePr>
          <p:cNvPr id="8" name="Content Placeholder 7" descr="Group 4 of 8:  lists combining forms.  The following slide lists the same combining forms with their corresponding meaning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4395764"/>
              </p:ext>
            </p:extLst>
          </p:nvPr>
        </p:nvGraphicFramePr>
        <p:xfrm>
          <a:off x="2269332" y="1600200"/>
          <a:ext cx="4735512" cy="4419597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47355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31371">
                <a:tc>
                  <a:txBody>
                    <a:bodyPr/>
                    <a:lstStyle/>
                    <a:p>
                      <a:r>
                        <a:rPr lang="en-US" sz="2400" dirty="0"/>
                        <a:t>Combining 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1371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erythr/o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1371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gastr/o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1371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glyc/o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1371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gnos/o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1371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gynec/o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1371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hemat/o or hem/o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25113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Combining Forms (Slide 8 of 16)</a:t>
            </a:r>
          </a:p>
        </p:txBody>
      </p:sp>
      <p:graphicFrame>
        <p:nvGraphicFramePr>
          <p:cNvPr id="8" name="Content Placeholder 7" descr="The combining forms from the previous slide with their corresponding meanings are provided.  The combining forms and meanings listed are:  erythr/o meaning red, gastr/o meaning stomach, glyc/o meaning sugar, gnos/o meaning knowledge, gynec/o meaning woman, and hemat/o or hem/o meaning blood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696731"/>
              </p:ext>
            </p:extLst>
          </p:nvPr>
        </p:nvGraphicFramePr>
        <p:xfrm>
          <a:off x="457200" y="1600200"/>
          <a:ext cx="8229600" cy="32004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289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Combining 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erythr/o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red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gastr/o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stomach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glyc/o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sugar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gnos/o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knowledge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gynec/o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woman, female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hemat/o or hem/o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blood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86984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Combining Forms (Slide 9 of 16)</a:t>
            </a:r>
          </a:p>
        </p:txBody>
      </p:sp>
      <p:graphicFrame>
        <p:nvGraphicFramePr>
          <p:cNvPr id="8" name="Content Placeholder 7" descr="Group 5 of 8:  lists combining forms.  The following slide lists the same combining forms with their corresponding meaning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4899990"/>
              </p:ext>
            </p:extLst>
          </p:nvPr>
        </p:nvGraphicFramePr>
        <p:xfrm>
          <a:off x="2487680" y="1828800"/>
          <a:ext cx="4298815" cy="37338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42988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lang="en-US" sz="2400" dirty="0"/>
                        <a:t>Combining 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hepat/o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iatr/o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leuk/o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log/o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nephr/o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neur/o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55361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Combining Forms (Slide 10 of 16)</a:t>
            </a:r>
          </a:p>
        </p:txBody>
      </p:sp>
      <p:graphicFrame>
        <p:nvGraphicFramePr>
          <p:cNvPr id="8" name="Content Placeholder 7" descr="The combining forms from the previous slide with their corresponding meanings are provided.   The combining forms and meanings listed are:  hepat/o meaning liver, iatr/o meaning treatment, leuk/o meaning white, log/o meaning study of, nephr/o meaning kidney, and neur/o meaning nerve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5910764"/>
              </p:ext>
            </p:extLst>
          </p:nvPr>
        </p:nvGraphicFramePr>
        <p:xfrm>
          <a:off x="457200" y="1600200"/>
          <a:ext cx="8229600" cy="32004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289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Combining 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hepat/o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liver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iatr/o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treatment, physician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leuk/o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white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log/o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study of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nephr/o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kidney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neur/o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nerve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84983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Combining Forms (Slide 11 of 16)</a:t>
            </a:r>
          </a:p>
        </p:txBody>
      </p:sp>
      <p:graphicFrame>
        <p:nvGraphicFramePr>
          <p:cNvPr id="8" name="Content Placeholder 7" descr="Group 6 of 8:  lists combining forms.  The following slide lists the same combining forms with their corresponding meaning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31029121"/>
              </p:ext>
            </p:extLst>
          </p:nvPr>
        </p:nvGraphicFramePr>
        <p:xfrm>
          <a:off x="2427288" y="1981200"/>
          <a:ext cx="4419600" cy="39624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441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60400">
                <a:tc>
                  <a:txBody>
                    <a:bodyPr/>
                    <a:lstStyle/>
                    <a:p>
                      <a:r>
                        <a:rPr lang="en-US" sz="2400" dirty="0"/>
                        <a:t>Combining 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onc/o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ophthalm/o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oste/o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path/o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ped/o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52812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Combining Forms (Slide 12 of 16)</a:t>
            </a:r>
          </a:p>
        </p:txBody>
      </p:sp>
      <p:graphicFrame>
        <p:nvGraphicFramePr>
          <p:cNvPr id="8" name="Content Placeholder 7" descr="The combining forms from the previous slide with their corresponding meanings are provided.  The combining forms and meanings listed are:  onc/o meaning tumor, ophthalm/o meaning eye, oste/o meaning bone, path/o meaning disease, and ped/o meaning child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2305765"/>
              </p:ext>
            </p:extLst>
          </p:nvPr>
        </p:nvGraphicFramePr>
        <p:xfrm>
          <a:off x="457200" y="1600200"/>
          <a:ext cx="8229600" cy="27432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289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Combining 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onc/o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tumor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ophthalm/o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eye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oste/o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bone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path/o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disease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ped/o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child</a:t>
                      </a:r>
                      <a:endParaRPr lang="en-US" alt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636321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Combining Forms (Slide 13 of 16)</a:t>
            </a:r>
          </a:p>
        </p:txBody>
      </p:sp>
      <p:graphicFrame>
        <p:nvGraphicFramePr>
          <p:cNvPr id="8" name="Content Placeholder 7" descr="Group 7 of 8:  lists combining forms.  The following slide lists the same combining forms with their corresponding meaning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2487489"/>
              </p:ext>
            </p:extLst>
          </p:nvPr>
        </p:nvGraphicFramePr>
        <p:xfrm>
          <a:off x="2590800" y="1905000"/>
          <a:ext cx="4370388" cy="38100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4370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r>
                        <a:rPr lang="en-US" sz="2400" dirty="0"/>
                        <a:t>Combining 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psych/o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radi/o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ren/o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rhin/o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sarc/o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37013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Combining Forms (Slide 14 of 16)</a:t>
            </a:r>
          </a:p>
        </p:txBody>
      </p:sp>
      <p:graphicFrame>
        <p:nvGraphicFramePr>
          <p:cNvPr id="8" name="Content Placeholder 7" descr="The combining forms from the previous slide with their corresponding meanings are provided.   The combining forms and meanings listed are:  psych/o meaning mind, radi/o meaning x-rays, ren/o meaning kidney, rhin/o meaning nose, and sarc/o meaning flesh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0496451"/>
              </p:ext>
            </p:extLst>
          </p:nvPr>
        </p:nvGraphicFramePr>
        <p:xfrm>
          <a:off x="457200" y="1600200"/>
          <a:ext cx="8229600" cy="27432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289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Combining 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psych/o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mind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radi/o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x-rays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ren/o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kidney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rhin/o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nose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sarc/o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flesh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51445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Combining Forms (Slide 15 of 16)</a:t>
            </a:r>
          </a:p>
        </p:txBody>
      </p:sp>
      <p:graphicFrame>
        <p:nvGraphicFramePr>
          <p:cNvPr id="8" name="Content Placeholder 7" descr="Group 8 of 8:  lists combining forms.  The following slide lists the same combining forms with their corresponding meaning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9675466"/>
              </p:ext>
            </p:extLst>
          </p:nvPr>
        </p:nvGraphicFramePr>
        <p:xfrm>
          <a:off x="2539206" y="1905000"/>
          <a:ext cx="4065588" cy="31242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40655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81050">
                <a:tc>
                  <a:txBody>
                    <a:bodyPr/>
                    <a:lstStyle/>
                    <a:p>
                      <a:r>
                        <a:rPr lang="en-US" sz="2400" dirty="0"/>
                        <a:t>Combining 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sect/o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thromb/o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ur/o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364522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Combining Forms (Slide 16 of 16)</a:t>
            </a:r>
          </a:p>
        </p:txBody>
      </p:sp>
      <p:graphicFrame>
        <p:nvGraphicFramePr>
          <p:cNvPr id="8" name="Content Placeholder 7" descr="The combining forms from the previous slide with their corresponding meanings are provided.    The combining forms and meanings listed are:  sect/o meaning to cut, thromb/o meaning clot, ur/o meaning urinary tract or urine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4020210"/>
              </p:ext>
            </p:extLst>
          </p:nvPr>
        </p:nvGraphicFramePr>
        <p:xfrm>
          <a:off x="457200" y="1600200"/>
          <a:ext cx="8229600" cy="18288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289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Combining 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sect/o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to cut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thromb/o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clot, clotting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ur/o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urinary tract, urine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464843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Suffixes (Slide 1 of 10)</a:t>
            </a:r>
          </a:p>
        </p:txBody>
      </p:sp>
      <p:graphicFrame>
        <p:nvGraphicFramePr>
          <p:cNvPr id="8" name="Content Placeholder 7" descr="Group 1 of 5:  lists suffixes.  The following slide lists the same suffixes with their corresponding meaning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555084"/>
              </p:ext>
            </p:extLst>
          </p:nvPr>
        </p:nvGraphicFramePr>
        <p:xfrm>
          <a:off x="2653506" y="1905000"/>
          <a:ext cx="3836988" cy="37338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38369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22300">
                <a:tc>
                  <a:txBody>
                    <a:bodyPr/>
                    <a:lstStyle/>
                    <a:p>
                      <a:r>
                        <a:rPr lang="en-US" sz="2400" dirty="0"/>
                        <a:t>Suffix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-ac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-al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-algia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-cyte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-ectomy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534368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Suffixes (Slide 2 of 10)</a:t>
            </a:r>
          </a:p>
        </p:txBody>
      </p:sp>
      <p:graphicFrame>
        <p:nvGraphicFramePr>
          <p:cNvPr id="8" name="Content Placeholder 7" descr="The suffixes from the previous slide with their corresponding meanings are provided.     The suffixes and meanings listed are:  -ac meaning pertaining to, -al meaning pertaining to, -algia meaning pain, -cyte meaning cell, and -ectomy meaning excision or removal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5039091"/>
              </p:ext>
            </p:extLst>
          </p:nvPr>
        </p:nvGraphicFramePr>
        <p:xfrm>
          <a:off x="457200" y="1600200"/>
          <a:ext cx="8229600" cy="27432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220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1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Suffix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-ac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pertaining 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-al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pertaining 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-algia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pain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-cyte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cell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-ectomy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excision, removal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156280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title"/>
          </p:nvPr>
        </p:nvSpPr>
        <p:spPr>
          <a:xfrm>
            <a:off x="990600" y="304800"/>
            <a:ext cx="7010400" cy="1219200"/>
          </a:xfrm>
        </p:spPr>
        <p:txBody>
          <a:bodyPr/>
          <a:lstStyle/>
          <a:p>
            <a:pPr eaLnBrk="1" hangingPunct="1"/>
            <a:r>
              <a:rPr lang="en-US" altLang="en-US" u="sng" dirty="0"/>
              <a:t> QUICK QUIZ</a:t>
            </a:r>
            <a:r>
              <a:rPr lang="en-US" altLang="en-US" dirty="0"/>
              <a:t> (Slide 5 of 5)	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533400" indent="-533400" eaLnBrk="1" hangingPunct="1">
              <a:buFont typeface="Arial" panose="020B0604020202020204" pitchFamily="34" charset="0"/>
              <a:buAutoNum type="arabicPeriod" startAt="5"/>
            </a:pPr>
            <a:r>
              <a:rPr lang="en-US" altLang="en-US" b="1" dirty="0"/>
              <a:t>Which suffix means to </a:t>
            </a:r>
            <a:r>
              <a:rPr lang="ja-JP" altLang="en-US" b="1" dirty="0"/>
              <a:t>“</a:t>
            </a:r>
            <a:r>
              <a:rPr lang="en-US" altLang="ja-JP" b="1" dirty="0"/>
              <a:t>cut out</a:t>
            </a:r>
            <a:r>
              <a:rPr lang="ja-JP" altLang="en-US" b="1" dirty="0"/>
              <a:t>”</a:t>
            </a:r>
            <a:r>
              <a:rPr lang="en-US" altLang="ja-JP" b="1" dirty="0"/>
              <a:t> or remove?</a:t>
            </a:r>
          </a:p>
          <a:p>
            <a:pPr marL="1295400" lvl="2" indent="-381000" eaLnBrk="1" hangingPunct="1">
              <a:buFontTx/>
              <a:buAutoNum type="alphaUcPeriod"/>
            </a:pPr>
            <a:r>
              <a:rPr lang="en-US" altLang="en-US" sz="3200" dirty="0"/>
              <a:t>-ectomy</a:t>
            </a:r>
          </a:p>
          <a:p>
            <a:pPr marL="1295400" lvl="2" indent="-381000" eaLnBrk="1" hangingPunct="1">
              <a:buFontTx/>
              <a:buAutoNum type="alphaUcPeriod"/>
            </a:pPr>
            <a:r>
              <a:rPr lang="en-US" altLang="en-US" sz="3200" dirty="0"/>
              <a:t>-scopy</a:t>
            </a:r>
          </a:p>
          <a:p>
            <a:pPr marL="1295400" lvl="2" indent="-381000" eaLnBrk="1" hangingPunct="1">
              <a:buFontTx/>
              <a:buAutoNum type="alphaUcPeriod"/>
            </a:pPr>
            <a:r>
              <a:rPr lang="en-US" altLang="en-US" sz="3200" dirty="0"/>
              <a:t>-itis</a:t>
            </a:r>
          </a:p>
          <a:p>
            <a:pPr marL="1295400" lvl="2" indent="-381000" eaLnBrk="1" hangingPunct="1">
              <a:buFontTx/>
              <a:buAutoNum type="alphaUcPeriod"/>
            </a:pPr>
            <a:r>
              <a:rPr lang="en-US" altLang="en-US" sz="3200" dirty="0"/>
              <a:t>-opsy</a:t>
            </a:r>
            <a:endParaRPr lang="en-US" altLang="en-US" sz="2800" dirty="0"/>
          </a:p>
          <a:p>
            <a:pPr marL="914400" lvl="1" indent="-457200" eaLnBrk="1" hangingPunct="1">
              <a:buFont typeface="Webdings" panose="05030102010509060703" pitchFamily="18" charset="2"/>
              <a:buAutoNum type="alphaUcPeriod"/>
            </a:pPr>
            <a:endParaRPr lang="en-US" altLang="en-U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Suffixes (Slide 3 of 10)</a:t>
            </a:r>
          </a:p>
        </p:txBody>
      </p:sp>
      <p:graphicFrame>
        <p:nvGraphicFramePr>
          <p:cNvPr id="8" name="Content Placeholder 7" descr="Group 2 of 5:  lists suffixes.  The following slide lists the same suffixes with their corresponding meaning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8565878"/>
              </p:ext>
            </p:extLst>
          </p:nvPr>
        </p:nvGraphicFramePr>
        <p:xfrm>
          <a:off x="2345987" y="1600200"/>
          <a:ext cx="3521414" cy="38862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35214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r>
                        <a:rPr lang="en-US" sz="2400" dirty="0"/>
                        <a:t>Suffix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-emia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-genic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-globin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-gram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-ic, ical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348255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Suffixes (Slide 4 of 10)</a:t>
            </a:r>
          </a:p>
        </p:txBody>
      </p:sp>
      <p:graphicFrame>
        <p:nvGraphicFramePr>
          <p:cNvPr id="8" name="Content Placeholder 7" descr="The suffixes from the previous slide with their corresponding meanings are provided.   The suffixes and meanings listed are: -emia meaning blood condition, -genic meaning produced by or in, -globin meaning protein, -gram meaning record, and -ic or -ical meaning pertaining to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6884959"/>
              </p:ext>
            </p:extLst>
          </p:nvPr>
        </p:nvGraphicFramePr>
        <p:xfrm>
          <a:off x="457200" y="1600200"/>
          <a:ext cx="8229600" cy="27432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220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1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Suffix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-emia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blood condition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-genic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produced by or in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-globin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protein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-gram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record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-ic, ical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pertaining 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328501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Suffixes (Slide 5 of 10)</a:t>
            </a:r>
          </a:p>
        </p:txBody>
      </p:sp>
      <p:graphicFrame>
        <p:nvGraphicFramePr>
          <p:cNvPr id="8" name="Content Placeholder 7" descr="Group 3 of 5:  lists suffixes.  The following slide lists the same suffixes with their corresponding meaning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2305263"/>
              </p:ext>
            </p:extLst>
          </p:nvPr>
        </p:nvGraphicFramePr>
        <p:xfrm>
          <a:off x="2743200" y="1600200"/>
          <a:ext cx="3467100" cy="39624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3467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60400">
                <a:tc>
                  <a:txBody>
                    <a:bodyPr/>
                    <a:lstStyle/>
                    <a:p>
                      <a:r>
                        <a:rPr lang="en-US" sz="2400" dirty="0"/>
                        <a:t>Suffix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-ion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-ist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-itis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-logy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-oma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412334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Suffixes (Slide 6 of 10)</a:t>
            </a:r>
          </a:p>
        </p:txBody>
      </p:sp>
      <p:graphicFrame>
        <p:nvGraphicFramePr>
          <p:cNvPr id="8" name="Content Placeholder 7" descr="The suffixes from the previous slide with their corresponding meanings are provided.   The suffixes and meanings listed are: -ion meaning process, -ist meaning specialist, -itis meaning inflammation, -logy meaning process of study, and -oma meaning tumor, mass or swelling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6080775"/>
              </p:ext>
            </p:extLst>
          </p:nvPr>
        </p:nvGraphicFramePr>
        <p:xfrm>
          <a:off x="457200" y="1600200"/>
          <a:ext cx="8229600" cy="27432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220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1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Suffix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-ion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process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-ist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specialist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-itis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inflammation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-logy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process of study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-oma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tumor, mass, swelling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815538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Suffixes (Slide 7 of 10)</a:t>
            </a:r>
          </a:p>
        </p:txBody>
      </p:sp>
      <p:graphicFrame>
        <p:nvGraphicFramePr>
          <p:cNvPr id="8" name="Content Placeholder 7" descr="Group 4 of 5:  lists suffixes.  The following slide lists the same suffixes with their corresponding meaning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2821097"/>
              </p:ext>
            </p:extLst>
          </p:nvPr>
        </p:nvGraphicFramePr>
        <p:xfrm>
          <a:off x="2381654" y="1905000"/>
          <a:ext cx="3485745" cy="37338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3485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22300">
                <a:tc>
                  <a:txBody>
                    <a:bodyPr/>
                    <a:lstStyle/>
                    <a:p>
                      <a:r>
                        <a:rPr lang="en-US" sz="2400" dirty="0"/>
                        <a:t>Suffix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-opsy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-osis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-pathy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-scope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-scopy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540037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Suffixes (Slide 8 of 10)</a:t>
            </a:r>
          </a:p>
        </p:txBody>
      </p:sp>
      <p:graphicFrame>
        <p:nvGraphicFramePr>
          <p:cNvPr id="8" name="Content Placeholder 7" descr="The suffixes from the previous slide with their corresponding meanings are provided.    The suffixes and meanings listed are: -opsy meaning process of viewing, -osis meaning (abnormal) condition, -pathy meaning disease condition, -scope meaning instrument to visually examine, and -scopy process of visuallly examining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9688979"/>
              </p:ext>
            </p:extLst>
          </p:nvPr>
        </p:nvGraphicFramePr>
        <p:xfrm>
          <a:off x="457200" y="1600200"/>
          <a:ext cx="8229600" cy="27432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220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1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Suffix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-opsy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process of viewing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-osis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condition, usually abnormal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-pathy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disease condition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-scope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instrument to visually examine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-scopy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process of visually examining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175413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Suffixes (Slide 9 of 10)</a:t>
            </a:r>
          </a:p>
        </p:txBody>
      </p:sp>
      <p:graphicFrame>
        <p:nvGraphicFramePr>
          <p:cNvPr id="8" name="Content Placeholder 7" descr="Group 5 of 5:  lists suffixes.  The following slide lists the same suffixes with their corresponding meaning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0939627"/>
              </p:ext>
            </p:extLst>
          </p:nvPr>
        </p:nvGraphicFramePr>
        <p:xfrm>
          <a:off x="2933700" y="2133600"/>
          <a:ext cx="3276600" cy="25908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327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r>
                        <a:rPr lang="en-US" sz="2400" dirty="0"/>
                        <a:t>Suffix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-sis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-tomy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-y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872753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Suffixes (Slide 10 of 10)</a:t>
            </a:r>
          </a:p>
        </p:txBody>
      </p:sp>
      <p:graphicFrame>
        <p:nvGraphicFramePr>
          <p:cNvPr id="8" name="Content Placeholder 7" descr="The suffixes from the previous slide with their corresponding meanings are provided.   The suffixes and meanings listed are: -sis meaning state of or condition, -tomy meaning process of cutting or incision, and -y meaning process or condition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1892553"/>
              </p:ext>
            </p:extLst>
          </p:nvPr>
        </p:nvGraphicFramePr>
        <p:xfrm>
          <a:off x="457200" y="1600200"/>
          <a:ext cx="8229600" cy="18288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220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1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Suffix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-sis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state of; condition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-tomy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process of cutting, incision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-y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process, condition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596174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Prefixes (Slide 1 of 6)</a:t>
            </a:r>
          </a:p>
        </p:txBody>
      </p:sp>
      <p:graphicFrame>
        <p:nvGraphicFramePr>
          <p:cNvPr id="8" name="Content Placeholder 7" descr="Group 1 of 3:  lists prefixes.  The following slide lists the same prefixes with their corresponding meaning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1635466"/>
              </p:ext>
            </p:extLst>
          </p:nvPr>
        </p:nvGraphicFramePr>
        <p:xfrm>
          <a:off x="3048000" y="1567774"/>
          <a:ext cx="3162300" cy="4299624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3162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14232">
                <a:tc>
                  <a:txBody>
                    <a:bodyPr/>
                    <a:lstStyle/>
                    <a:p>
                      <a:r>
                        <a:rPr lang="en-US" sz="2400" dirty="0"/>
                        <a:t>Prefix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4232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a-, an-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4232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aut-, auto-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4232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dia-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4232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end-, endo-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4232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epi-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4232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ex-, exo-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864448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Prefixes (Slide 2 of 6)</a:t>
            </a:r>
          </a:p>
        </p:txBody>
      </p:sp>
      <p:graphicFrame>
        <p:nvGraphicFramePr>
          <p:cNvPr id="8" name="Content Placeholder 7" descr="The prefixes from the previous slide with their corresponding meanings are provided.   The prefixes and meanings listed are: an- or an- meaning no, not or without, aut- or auto- meaning self or own, dia- meaning complete or through, end- or endo- meaning within, epi- meaning above or upon, ex- or exo- meaning out, outside of or outward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2196700"/>
              </p:ext>
            </p:extLst>
          </p:nvPr>
        </p:nvGraphicFramePr>
        <p:xfrm>
          <a:off x="457200" y="1600200"/>
          <a:ext cx="8229600" cy="32004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220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1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Prefix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a-, an-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no, not, without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aut-, auto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self, own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dia-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complete, through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end-, endo-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within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epi-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above, upon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ex-, exo-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out, outside of, outward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764062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Prefixes (Slide 3 of 6)</a:t>
            </a:r>
          </a:p>
        </p:txBody>
      </p:sp>
      <p:graphicFrame>
        <p:nvGraphicFramePr>
          <p:cNvPr id="8" name="Content Placeholder 7" descr="Group 2 of 3:  lists prefixes.  The following slide lists the same prefixes with their corresponding meaning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14792375"/>
              </p:ext>
            </p:extLst>
          </p:nvPr>
        </p:nvGraphicFramePr>
        <p:xfrm>
          <a:off x="3124200" y="1600200"/>
          <a:ext cx="3505200" cy="40386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73100">
                <a:tc>
                  <a:txBody>
                    <a:bodyPr/>
                    <a:lstStyle/>
                    <a:p>
                      <a:r>
                        <a:rPr lang="en-US" sz="2400" dirty="0"/>
                        <a:t>Prefix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hyper-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hypo-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in-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peri-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pro-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519412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Prefixes (Slide 4 of 6)</a:t>
            </a:r>
          </a:p>
        </p:txBody>
      </p:sp>
      <p:graphicFrame>
        <p:nvGraphicFramePr>
          <p:cNvPr id="8" name="Content Placeholder 7" descr="The prefixes from the previous slide with their corresponding meanings are provided.   The prefixes and meanings listed are:  hyper- meaning excessive, above, more than normal; hypo- meaning deficient, below, under or less than normal; in- meaning into or in; peri- meaning surrounding or around; and pro- meaning before or forward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8588620"/>
              </p:ext>
            </p:extLst>
          </p:nvPr>
        </p:nvGraphicFramePr>
        <p:xfrm>
          <a:off x="457200" y="1600200"/>
          <a:ext cx="8229600" cy="27432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220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1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Prefix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hyper-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excessive, above, more than normal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hypo-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deficient, below, under, less than normal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in-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into, in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peri-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surrounding, around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pro-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before, forward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764048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Prefixes (Slide 5 of 6)</a:t>
            </a:r>
          </a:p>
        </p:txBody>
      </p:sp>
      <p:graphicFrame>
        <p:nvGraphicFramePr>
          <p:cNvPr id="8" name="Content Placeholder 7" descr="Group 3 of 3:  lists prefixes.  The following slide lists the same prefixes with their corresponding meaning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4072987"/>
              </p:ext>
            </p:extLst>
          </p:nvPr>
        </p:nvGraphicFramePr>
        <p:xfrm>
          <a:off x="2590800" y="1600200"/>
          <a:ext cx="3962400" cy="364787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396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29574">
                <a:tc>
                  <a:txBody>
                    <a:bodyPr/>
                    <a:lstStyle/>
                    <a:p>
                      <a:r>
                        <a:rPr lang="en-US" sz="2400" dirty="0"/>
                        <a:t>Prefix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9574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re-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9574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retro-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9574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sub-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9574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trans-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708258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Prefixes (Slide 6 of 6)</a:t>
            </a:r>
          </a:p>
        </p:txBody>
      </p:sp>
      <p:graphicFrame>
        <p:nvGraphicFramePr>
          <p:cNvPr id="8" name="Content Placeholder 7" descr="The prefixes from the previous slide with their corresponding meanings are provided.    The prefixes and meanings listed are:  re- meaning back, backward, or again; retro- meaning behind; sub meaning below or under; and trans- meaning across or through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2771564"/>
              </p:ext>
            </p:extLst>
          </p:nvPr>
        </p:nvGraphicFramePr>
        <p:xfrm>
          <a:off x="457200" y="1600200"/>
          <a:ext cx="8229600" cy="22860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220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1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Prefix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re-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back, backward, again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retro-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behind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sub-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below, under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b="1" dirty="0"/>
                        <a:t>trans-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across, through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6820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8592</TotalTime>
  <Words>1724</Words>
  <Application>Microsoft Office PowerPoint</Application>
  <PresentationFormat>On-screen Show (4:3)</PresentationFormat>
  <Paragraphs>472</Paragraphs>
  <Slides>56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3" baseType="lpstr">
      <vt:lpstr>Arial</vt:lpstr>
      <vt:lpstr>Calibri</vt:lpstr>
      <vt:lpstr>Times New Roman</vt:lpstr>
      <vt:lpstr>Webdings</vt:lpstr>
      <vt:lpstr>Wingdings</vt:lpstr>
      <vt:lpstr>Wingdings 2</vt:lpstr>
      <vt:lpstr>Office Theme</vt:lpstr>
      <vt:lpstr>The Language of Medicine  13th edition</vt:lpstr>
      <vt:lpstr>Chapter 1 Basic Word Structure</vt:lpstr>
      <vt:lpstr>Chapter Goals</vt:lpstr>
      <vt:lpstr>Chapter 1 Lesson 1.1</vt:lpstr>
      <vt:lpstr>Objectives in Studying  The Medical Language</vt:lpstr>
      <vt:lpstr>    QUICK QUIZ (Slide 1 of 5)  </vt:lpstr>
      <vt:lpstr>    QUICK QUIZ (Slide 2 of 5)  </vt:lpstr>
      <vt:lpstr>Word Analysis (Slide 1 of 14)</vt:lpstr>
      <vt:lpstr>Word Analysis (Slide 2 of 14)</vt:lpstr>
      <vt:lpstr>Word Analysis (Slide 3 of 14)</vt:lpstr>
      <vt:lpstr>Word Analysis (Slide 4 of 14)</vt:lpstr>
      <vt:lpstr>Word Analysis (Slide 5 of 14)</vt:lpstr>
      <vt:lpstr>Word Analysis (Slide 6 of 14)</vt:lpstr>
      <vt:lpstr>Word Analysis (Slide 7 of 14)</vt:lpstr>
      <vt:lpstr>Word Analysis (Slide 8 of 14)</vt:lpstr>
      <vt:lpstr>Word Analysis (Slide 9 of 14)</vt:lpstr>
      <vt:lpstr>Word Analysis (Slide 10 of 14) </vt:lpstr>
      <vt:lpstr>Word Analysis (Slide 11 of 14)</vt:lpstr>
      <vt:lpstr>Word Analysis (Slide 12 of 14)</vt:lpstr>
      <vt:lpstr>Word Analysis (Slide 13 of 14)</vt:lpstr>
      <vt:lpstr>Word Analysis (Slide 14 of 14)</vt:lpstr>
      <vt:lpstr>Combining Forms (Slide 1 of 16)</vt:lpstr>
      <vt:lpstr>Combining Forms (Slide 2 of 16)</vt:lpstr>
      <vt:lpstr>    QUICK QUIZ (Slide 3 of 5) </vt:lpstr>
      <vt:lpstr>Combining Forms (Slide 3 of 16)</vt:lpstr>
      <vt:lpstr>Combining Forms (Slide 4 of 16)</vt:lpstr>
      <vt:lpstr>Combining Forms (Slide 5 of 16)</vt:lpstr>
      <vt:lpstr>Combining Forms (Slide 6 of 16)</vt:lpstr>
      <vt:lpstr> QUICK QUIZ (Slide 4 of 5)  </vt:lpstr>
      <vt:lpstr>Combining Forms (Slide 7 of 16)</vt:lpstr>
      <vt:lpstr>Combining Forms (Slide 8 of 16)</vt:lpstr>
      <vt:lpstr>Combining Forms (Slide 9 of 16)</vt:lpstr>
      <vt:lpstr>Combining Forms (Slide 10 of 16)</vt:lpstr>
      <vt:lpstr>Combining Forms (Slide 11 of 16)</vt:lpstr>
      <vt:lpstr>Combining Forms (Slide 12 of 16)</vt:lpstr>
      <vt:lpstr>Combining Forms (Slide 13 of 16)</vt:lpstr>
      <vt:lpstr>Combining Forms (Slide 14 of 16)</vt:lpstr>
      <vt:lpstr>Combining Forms (Slide 15 of 16)</vt:lpstr>
      <vt:lpstr>Combining Forms (Slide 16 of 16)</vt:lpstr>
      <vt:lpstr>Suffixes (Slide 1 of 10)</vt:lpstr>
      <vt:lpstr>Suffixes (Slide 2 of 10)</vt:lpstr>
      <vt:lpstr> QUICK QUIZ (Slide 5 of 5) </vt:lpstr>
      <vt:lpstr>Suffixes (Slide 3 of 10)</vt:lpstr>
      <vt:lpstr>Suffixes (Slide 4 of 10)</vt:lpstr>
      <vt:lpstr>Suffixes (Slide 5 of 10)</vt:lpstr>
      <vt:lpstr>Suffixes (Slide 6 of 10)</vt:lpstr>
      <vt:lpstr>Suffixes (Slide 7 of 10)</vt:lpstr>
      <vt:lpstr>Suffixes (Slide 8 of 10)</vt:lpstr>
      <vt:lpstr>Suffixes (Slide 9 of 10)</vt:lpstr>
      <vt:lpstr>Suffixes (Slide 10 of 10)</vt:lpstr>
      <vt:lpstr>Prefixes (Slide 1 of 6)</vt:lpstr>
      <vt:lpstr>Prefixes (Slide 2 of 6)</vt:lpstr>
      <vt:lpstr>Prefixes (Slide 3 of 6)</vt:lpstr>
      <vt:lpstr>Prefixes (Slide 4 of 6)</vt:lpstr>
      <vt:lpstr>Prefixes (Slide 5 of 6)</vt:lpstr>
      <vt:lpstr>Prefixes (Slide 6 of 6)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Language of Medicine A Write-in Text Explaining Medical Terms 12th Edition Davi-Ellen Chabner, B.A., M.A.T.</dc:title>
  <dc:creator>dell</dc:creator>
  <cp:lastModifiedBy>Jyoti Tyagi (IL-IN)</cp:lastModifiedBy>
  <cp:revision>314</cp:revision>
  <cp:lastPrinted>2012-12-11T19:30:53Z</cp:lastPrinted>
  <dcterms:created xsi:type="dcterms:W3CDTF">2004-11-01T16:15:23Z</dcterms:created>
  <dcterms:modified xsi:type="dcterms:W3CDTF">2023-12-07T04:30:21Z</dcterms:modified>
</cp:coreProperties>
</file>