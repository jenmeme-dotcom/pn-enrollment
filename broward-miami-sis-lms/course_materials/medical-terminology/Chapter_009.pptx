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54"/>
  </p:notesMasterIdLst>
  <p:handoutMasterIdLst>
    <p:handoutMasterId r:id="rId55"/>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92" autoAdjust="0"/>
    <p:restoredTop sz="80777" autoAdjust="0"/>
  </p:normalViewPr>
  <p:slideViewPr>
    <p:cSldViewPr>
      <p:cViewPr varScale="1">
        <p:scale>
          <a:sx n="51" d="100"/>
          <a:sy n="51" d="100"/>
        </p:scale>
        <p:origin x="1496"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CFD61094-A181-4148-96F9-34EDFE2144A0}"/>
    <pc:docChg chg="modSld modMainMaster">
      <pc:chgData name="Ben Pfeifer" userId="fb68dd40a6c6cee7" providerId="LiveId" clId="{CFD61094-A181-4148-96F9-34EDFE2144A0}" dt="2023-09-26T08:22:01.030" v="11" actId="12385"/>
      <pc:docMkLst>
        <pc:docMk/>
      </pc:docMkLst>
      <pc:sldChg chg="modSp mod">
        <pc:chgData name="Ben Pfeifer" userId="fb68dd40a6c6cee7" providerId="LiveId" clId="{CFD61094-A181-4148-96F9-34EDFE2144A0}" dt="2023-09-26T08:17:44.350" v="1" actId="20577"/>
        <pc:sldMkLst>
          <pc:docMk/>
          <pc:sldMk cId="1428288934" sldId="332"/>
        </pc:sldMkLst>
        <pc:spChg chg="mod">
          <ac:chgData name="Ben Pfeifer" userId="fb68dd40a6c6cee7" providerId="LiveId" clId="{CFD61094-A181-4148-96F9-34EDFE2144A0}" dt="2023-09-26T08:17:44.350" v="1" actId="20577"/>
          <ac:spMkLst>
            <pc:docMk/>
            <pc:sldMk cId="1428288934" sldId="332"/>
            <ac:spMk id="2" creationId="{00000000-0000-0000-0000-000000000000}"/>
          </ac:spMkLst>
        </pc:spChg>
      </pc:sldChg>
      <pc:sldChg chg="modSp mod">
        <pc:chgData name="Ben Pfeifer" userId="fb68dd40a6c6cee7" providerId="LiveId" clId="{CFD61094-A181-4148-96F9-34EDFE2144A0}" dt="2023-09-26T08:18:53.307" v="6" actId="20577"/>
        <pc:sldMkLst>
          <pc:docMk/>
          <pc:sldMk cId="922994013" sldId="340"/>
        </pc:sldMkLst>
        <pc:spChg chg="mod">
          <ac:chgData name="Ben Pfeifer" userId="fb68dd40a6c6cee7" providerId="LiveId" clId="{CFD61094-A181-4148-96F9-34EDFE2144A0}" dt="2023-09-26T08:18:53.307" v="6" actId="20577"/>
          <ac:spMkLst>
            <pc:docMk/>
            <pc:sldMk cId="922994013" sldId="340"/>
            <ac:spMk id="233477" creationId="{00000000-0000-0000-0000-000000000000}"/>
          </ac:spMkLst>
        </pc:spChg>
      </pc:sldChg>
      <pc:sldChg chg="modSp mod">
        <pc:chgData name="Ben Pfeifer" userId="fb68dd40a6c6cee7" providerId="LiveId" clId="{CFD61094-A181-4148-96F9-34EDFE2144A0}" dt="2023-09-26T08:21:47.330" v="7" actId="12385"/>
        <pc:sldMkLst>
          <pc:docMk/>
          <pc:sldMk cId="3787734732" sldId="367"/>
        </pc:sldMkLst>
        <pc:graphicFrameChg chg="modGraphic">
          <ac:chgData name="Ben Pfeifer" userId="fb68dd40a6c6cee7" providerId="LiveId" clId="{CFD61094-A181-4148-96F9-34EDFE2144A0}" dt="2023-09-26T08:21:47.330" v="7" actId="12385"/>
          <ac:graphicFrameMkLst>
            <pc:docMk/>
            <pc:sldMk cId="3787734732" sldId="367"/>
            <ac:graphicFrameMk id="7" creationId="{00000000-0000-0000-0000-000000000000}"/>
          </ac:graphicFrameMkLst>
        </pc:graphicFrameChg>
      </pc:sldChg>
      <pc:sldChg chg="modSp mod">
        <pc:chgData name="Ben Pfeifer" userId="fb68dd40a6c6cee7" providerId="LiveId" clId="{CFD61094-A181-4148-96F9-34EDFE2144A0}" dt="2023-09-26T08:21:50.161" v="8" actId="12385"/>
        <pc:sldMkLst>
          <pc:docMk/>
          <pc:sldMk cId="3591022757" sldId="368"/>
        </pc:sldMkLst>
        <pc:graphicFrameChg chg="modGraphic">
          <ac:chgData name="Ben Pfeifer" userId="fb68dd40a6c6cee7" providerId="LiveId" clId="{CFD61094-A181-4148-96F9-34EDFE2144A0}" dt="2023-09-26T08:21:50.161" v="8" actId="12385"/>
          <ac:graphicFrameMkLst>
            <pc:docMk/>
            <pc:sldMk cId="3591022757" sldId="368"/>
            <ac:graphicFrameMk id="7" creationId="{00000000-0000-0000-0000-000000000000}"/>
          </ac:graphicFrameMkLst>
        </pc:graphicFrameChg>
      </pc:sldChg>
      <pc:sldChg chg="modSp mod">
        <pc:chgData name="Ben Pfeifer" userId="fb68dd40a6c6cee7" providerId="LiveId" clId="{CFD61094-A181-4148-96F9-34EDFE2144A0}" dt="2023-09-26T08:21:53.686" v="9" actId="12385"/>
        <pc:sldMkLst>
          <pc:docMk/>
          <pc:sldMk cId="1551828539" sldId="369"/>
        </pc:sldMkLst>
        <pc:graphicFrameChg chg="modGraphic">
          <ac:chgData name="Ben Pfeifer" userId="fb68dd40a6c6cee7" providerId="LiveId" clId="{CFD61094-A181-4148-96F9-34EDFE2144A0}" dt="2023-09-26T08:21:53.686" v="9" actId="12385"/>
          <ac:graphicFrameMkLst>
            <pc:docMk/>
            <pc:sldMk cId="1551828539" sldId="369"/>
            <ac:graphicFrameMk id="7" creationId="{00000000-0000-0000-0000-000000000000}"/>
          </ac:graphicFrameMkLst>
        </pc:graphicFrameChg>
      </pc:sldChg>
      <pc:sldChg chg="modSp mod">
        <pc:chgData name="Ben Pfeifer" userId="fb68dd40a6c6cee7" providerId="LiveId" clId="{CFD61094-A181-4148-96F9-34EDFE2144A0}" dt="2023-09-26T08:21:58.118" v="10" actId="12385"/>
        <pc:sldMkLst>
          <pc:docMk/>
          <pc:sldMk cId="1795292300" sldId="380"/>
        </pc:sldMkLst>
        <pc:graphicFrameChg chg="modGraphic">
          <ac:chgData name="Ben Pfeifer" userId="fb68dd40a6c6cee7" providerId="LiveId" clId="{CFD61094-A181-4148-96F9-34EDFE2144A0}" dt="2023-09-26T08:21:58.118" v="10" actId="12385"/>
          <ac:graphicFrameMkLst>
            <pc:docMk/>
            <pc:sldMk cId="1795292300" sldId="380"/>
            <ac:graphicFrameMk id="7" creationId="{00000000-0000-0000-0000-000000000000}"/>
          </ac:graphicFrameMkLst>
        </pc:graphicFrameChg>
      </pc:sldChg>
      <pc:sldChg chg="modSp mod">
        <pc:chgData name="Ben Pfeifer" userId="fb68dd40a6c6cee7" providerId="LiveId" clId="{CFD61094-A181-4148-96F9-34EDFE2144A0}" dt="2023-09-26T08:22:01.030" v="11" actId="12385"/>
        <pc:sldMkLst>
          <pc:docMk/>
          <pc:sldMk cId="403363689" sldId="381"/>
        </pc:sldMkLst>
        <pc:graphicFrameChg chg="modGraphic">
          <ac:chgData name="Ben Pfeifer" userId="fb68dd40a6c6cee7" providerId="LiveId" clId="{CFD61094-A181-4148-96F9-34EDFE2144A0}" dt="2023-09-26T08:22:01.030" v="11" actId="12385"/>
          <ac:graphicFrameMkLst>
            <pc:docMk/>
            <pc:sldMk cId="403363689" sldId="381"/>
            <ac:graphicFrameMk id="7" creationId="{00000000-0000-0000-0000-000000000000}"/>
          </ac:graphicFrameMkLst>
        </pc:graphicFrameChg>
      </pc:sldChg>
      <pc:sldMasterChg chg="modSp mod">
        <pc:chgData name="Ben Pfeifer" userId="fb68dd40a6c6cee7" providerId="LiveId" clId="{CFD61094-A181-4148-96F9-34EDFE2144A0}" dt="2023-09-26T08:18:07.422" v="5" actId="20577"/>
        <pc:sldMasterMkLst>
          <pc:docMk/>
          <pc:sldMasterMk cId="0" sldId="2147483762"/>
        </pc:sldMasterMkLst>
        <pc:spChg chg="mod">
          <ac:chgData name="Ben Pfeifer" userId="fb68dd40a6c6cee7" providerId="LiveId" clId="{CFD61094-A181-4148-96F9-34EDFE2144A0}" dt="2023-09-26T08:18:07.422" v="5"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DAD775C-67DF-4CA3-9046-1901975DE2AC}" type="slidenum">
              <a:rPr lang="en-US" altLang="en-US" sz="1200"/>
              <a:pPr/>
              <a:t>2</a:t>
            </a:fld>
            <a:endParaRPr lang="en-US" altLang="en-US"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955149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D27414-C66A-4521-9B93-4127412DE6B6}" type="slidenum">
              <a:rPr lang="en-US" altLang="en-US" sz="1200"/>
              <a:pPr/>
              <a:t>3</a:t>
            </a:fld>
            <a:endParaRPr lang="en-US" altLang="en-US"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  </a:t>
            </a:r>
          </a:p>
        </p:txBody>
      </p:sp>
    </p:spTree>
    <p:extLst>
      <p:ext uri="{BB962C8B-B14F-4D97-AF65-F5344CB8AC3E}">
        <p14:creationId xmlns:p14="http://schemas.microsoft.com/office/powerpoint/2010/main" val="3567261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473685C-EC94-40F2-B6C9-95B805CC7593}" type="slidenum">
              <a:rPr lang="en-US" altLang="en-US" sz="1200"/>
              <a:pPr/>
              <a:t>4</a:t>
            </a:fld>
            <a:endParaRPr lang="en-US" altLang="en-US"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509178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C01F945-76EE-4EB4-BB44-2221DBB86385}" type="slidenum">
              <a:rPr lang="en-US" altLang="en-US" sz="1200"/>
              <a:pPr/>
              <a:t>5</a:t>
            </a:fld>
            <a:endParaRPr lang="en-US" altLang="en-US" sz="12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1450684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FAE4AD1-D947-484E-B0E1-D0F330A6B909}" type="slidenum">
              <a:rPr lang="en-US" altLang="en-US" sz="1200"/>
              <a:pPr/>
              <a:t>6</a:t>
            </a:fld>
            <a:endParaRPr lang="en-US" alt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What are the parts of a sperm cell? </a:t>
            </a:r>
          </a:p>
          <a:p>
            <a:pPr>
              <a:buFont typeface="Times" panose="02020603050405020304" pitchFamily="18" charset="0"/>
              <a:buChar char="•"/>
            </a:pPr>
            <a:r>
              <a:rPr lang="en-US" altLang="en-US">
                <a:latin typeface="Times New Roman" panose="02020603050405020304" pitchFamily="18" charset="0"/>
              </a:rPr>
              <a:t>What is the sperm cell</a:t>
            </a:r>
            <a:r>
              <a:rPr lang="ja-JP" altLang="en-US">
                <a:latin typeface="Times New Roman" panose="02020603050405020304" pitchFamily="18" charset="0"/>
              </a:rPr>
              <a:t>’</a:t>
            </a:r>
            <a:r>
              <a:rPr lang="en-US" altLang="ja-JP">
                <a:latin typeface="Times New Roman" panose="02020603050405020304" pitchFamily="18" charset="0"/>
              </a:rPr>
              <a:t>s purpose?</a:t>
            </a:r>
          </a:p>
          <a:p>
            <a:pPr>
              <a:buFont typeface="Times" panose="02020603050405020304" pitchFamily="18" charset="0"/>
              <a:buChar char="•"/>
            </a:pPr>
            <a:r>
              <a:rPr lang="en-US" altLang="en-US">
                <a:latin typeface="Times New Roman" panose="02020603050405020304" pitchFamily="18" charset="0"/>
              </a:rPr>
              <a:t>How does the sperm navigate? </a:t>
            </a:r>
          </a:p>
        </p:txBody>
      </p:sp>
    </p:spTree>
    <p:extLst>
      <p:ext uri="{BB962C8B-B14F-4D97-AF65-F5344CB8AC3E}">
        <p14:creationId xmlns:p14="http://schemas.microsoft.com/office/powerpoint/2010/main" val="467351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F0D5AC5-B996-4C5B-B2FC-35504AA8E7B6}" type="slidenum">
              <a:rPr lang="en-US" altLang="en-US" sz="1200"/>
              <a:pPr/>
              <a:t>7</a:t>
            </a:fld>
            <a:endParaRPr lang="en-US" altLang="en-US" sz="120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Ask students to describe the process of fertilization.</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32679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6AE31F6-B4CE-4933-B972-F00FAB4598B3}" type="slidenum">
              <a:rPr lang="en-US" altLang="en-US" sz="1200"/>
              <a:pPr/>
              <a:t>8</a:t>
            </a:fld>
            <a:endParaRPr lang="en-US" alt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What is the difference between fraternal and identical twins?</a:t>
            </a:r>
          </a:p>
          <a:p>
            <a:pPr>
              <a:buFont typeface="Times" panose="02020603050405020304" pitchFamily="18" charset="0"/>
              <a:buChar char="•"/>
            </a:pPr>
            <a:r>
              <a:rPr lang="en-US" altLang="en-US">
                <a:latin typeface="Times New Roman" panose="02020603050405020304" pitchFamily="18" charset="0"/>
              </a:rPr>
              <a:t>Which twins are a perfect genetic match?</a:t>
            </a:r>
          </a:p>
        </p:txBody>
      </p:sp>
    </p:spTree>
    <p:extLst>
      <p:ext uri="{BB962C8B-B14F-4D97-AF65-F5344CB8AC3E}">
        <p14:creationId xmlns:p14="http://schemas.microsoft.com/office/powerpoint/2010/main" val="1856639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0F2D2FD-B250-40A9-90D0-A95780FE41A1}" type="slidenum">
              <a:rPr lang="en-US" altLang="en-US" sz="1200"/>
              <a:pPr/>
              <a:t>9</a:t>
            </a:fld>
            <a:endParaRPr lang="en-US" altLang="en-US" sz="12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Describe the role of testosterone. </a:t>
            </a:r>
          </a:p>
          <a:p>
            <a:pPr>
              <a:buFont typeface="Times" panose="02020603050405020304" pitchFamily="18" charset="0"/>
              <a:buChar char="•"/>
            </a:pPr>
            <a:r>
              <a:rPr lang="en-US" altLang="en-US">
                <a:latin typeface="Times New Roman" panose="02020603050405020304" pitchFamily="18" charset="0"/>
              </a:rPr>
              <a:t>What is the difference between the number of eggs vs. sperm cells?</a:t>
            </a:r>
          </a:p>
        </p:txBody>
      </p:sp>
    </p:spTree>
    <p:extLst>
      <p:ext uri="{BB962C8B-B14F-4D97-AF65-F5344CB8AC3E}">
        <p14:creationId xmlns:p14="http://schemas.microsoft.com/office/powerpoint/2010/main" val="1454050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B174A3C3-7F26-40AA-8702-1B7ACA280D23}" type="slidenum">
              <a:rPr lang="en-US" altLang="en-US" sz="1200"/>
              <a:pPr/>
              <a:t>10</a:t>
            </a:fld>
            <a:endParaRPr lang="en-US" altLang="en-US" sz="1200"/>
          </a:p>
        </p:txBody>
      </p:sp>
      <p:sp>
        <p:nvSpPr>
          <p:cNvPr id="69635" name="Rectangle 2"/>
          <p:cNvSpPr>
            <a:spLocks noGrp="1" noRot="1" noChangeAspect="1" noChangeArrowheads="1" noTextEdit="1"/>
          </p:cNvSpPr>
          <p:nvPr>
            <p:ph type="sldImg"/>
          </p:nvPr>
        </p:nvSpPr>
        <p:spPr>
          <a:solidFill>
            <a:srgbClr val="FFFFFF"/>
          </a:solidFill>
          <a:ln/>
        </p:spPr>
      </p:sp>
      <p:sp>
        <p:nvSpPr>
          <p:cNvPr id="69636" name="Rectangle 3"/>
          <p:cNvSpPr>
            <a:spLocks noGrp="1" noChangeArrowheads="1"/>
          </p:cNvSpPr>
          <p:nvPr>
            <p:ph type="body" idx="1"/>
          </p:nvPr>
        </p:nvSpPr>
        <p:spPr>
          <a:solidFill>
            <a:srgbClr val="FFFFFF"/>
          </a:solidFill>
          <a:ln>
            <a:solidFill>
              <a:srgbClr val="000000"/>
            </a:solidFill>
          </a:ln>
        </p:spPr>
        <p:txBody>
          <a:bodyPr/>
          <a:lstStyle/>
          <a:p>
            <a:pPr>
              <a:buFont typeface="Times" panose="02020603050405020304" pitchFamily="18" charset="0"/>
              <a:buChar char="•"/>
            </a:pPr>
            <a:r>
              <a:rPr lang="en-US" altLang="en-US">
                <a:latin typeface="Times New Roman" panose="02020603050405020304" pitchFamily="18" charset="0"/>
              </a:rPr>
              <a:t>What are the male gonads called and where are they located?</a:t>
            </a:r>
          </a:p>
          <a:p>
            <a:pPr>
              <a:buFont typeface="Times" panose="02020603050405020304" pitchFamily="18" charset="0"/>
              <a:buChar char="•"/>
            </a:pPr>
            <a:r>
              <a:rPr lang="en-US" altLang="en-US">
                <a:latin typeface="Times New Roman" panose="02020603050405020304" pitchFamily="18" charset="0"/>
              </a:rPr>
              <a:t>How does temperature affect the scrotum?</a:t>
            </a:r>
          </a:p>
          <a:p>
            <a:pPr>
              <a:buFont typeface="Times" panose="02020603050405020304" pitchFamily="18" charset="0"/>
              <a:buChar char="•"/>
            </a:pPr>
            <a:r>
              <a:rPr lang="en-US" altLang="en-US">
                <a:latin typeface="Times New Roman" panose="02020603050405020304" pitchFamily="18" charset="0"/>
              </a:rPr>
              <a:t>What is the function of the interstitial cells and where are they  located?</a:t>
            </a:r>
          </a:p>
          <a:p>
            <a:pPr>
              <a:buFont typeface="Times" panose="02020603050405020304" pitchFamily="18" charset="0"/>
              <a:buChar char="•"/>
            </a:pPr>
            <a:r>
              <a:rPr lang="en-US" altLang="en-US">
                <a:latin typeface="Times New Roman" panose="02020603050405020304" pitchFamily="18" charset="0"/>
              </a:rPr>
              <a:t>What are the supportive tissues of the testes?</a:t>
            </a:r>
          </a:p>
          <a:p>
            <a:pPr>
              <a:buFont typeface="Times" panose="02020603050405020304" pitchFamily="18" charset="0"/>
              <a:buChar char="•"/>
            </a:pPr>
            <a:r>
              <a:rPr lang="en-US" altLang="en-US">
                <a:latin typeface="Times New Roman" panose="02020603050405020304" pitchFamily="18" charset="0"/>
              </a:rPr>
              <a:t>Labeling answers are on the next slide.</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712523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04B2E6A-D16A-414C-BD77-55563DFAA06F}" type="slidenum">
              <a:rPr lang="en-US" altLang="en-US" sz="1200"/>
              <a:pPr/>
              <a:t>11</a:t>
            </a:fld>
            <a:endParaRPr lang="en-US" altLang="en-US" sz="1200"/>
          </a:p>
        </p:txBody>
      </p:sp>
      <p:sp>
        <p:nvSpPr>
          <p:cNvPr id="70659" name="Rectangle 2"/>
          <p:cNvSpPr>
            <a:spLocks noGrp="1" noRot="1" noChangeAspect="1" noChangeArrowheads="1" noTextEdit="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576762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4DDE2BB-90DA-4977-852B-89CDDF1A8E26}" type="slidenum">
              <a:rPr lang="en-US" altLang="en-US" sz="1200"/>
              <a:pPr/>
              <a:t>12</a:t>
            </a:fld>
            <a:endParaRPr lang="en-US" altLang="en-US" sz="1200"/>
          </a:p>
        </p:txBody>
      </p:sp>
      <p:sp>
        <p:nvSpPr>
          <p:cNvPr id="71683" name="Rectangle 2"/>
          <p:cNvSpPr>
            <a:spLocks noGrp="1" noRot="1" noChangeAspect="1" noChangeArrowheads="1" noTextEdit="1"/>
          </p:cNvSpPr>
          <p:nvPr>
            <p:ph type="sldImg"/>
          </p:nvPr>
        </p:nvSpPr>
        <p:spPr>
          <a:solidFill>
            <a:srgbClr val="FFFFFF"/>
          </a:solidFill>
          <a:ln/>
        </p:spPr>
      </p:sp>
      <p:sp>
        <p:nvSpPr>
          <p:cNvPr id="71684" name="Rectangle 3"/>
          <p:cNvSpPr>
            <a:spLocks noGrp="1" noChangeArrowheads="1"/>
          </p:cNvSpPr>
          <p:nvPr>
            <p:ph type="body" idx="1"/>
          </p:nvPr>
        </p:nvSpPr>
        <p:spPr>
          <a:solidFill>
            <a:srgbClr val="FFFFFF"/>
          </a:solidFill>
          <a:ln>
            <a:solidFill>
              <a:srgbClr val="000000"/>
            </a:solidFill>
          </a:ln>
        </p:spPr>
        <p:txBody>
          <a:bodyPr/>
          <a:lstStyle/>
          <a:p>
            <a:pPr>
              <a:buFont typeface="Times" panose="02020603050405020304" pitchFamily="18" charset="0"/>
              <a:buChar char="•"/>
            </a:pPr>
            <a:r>
              <a:rPr lang="en-US" altLang="en-US">
                <a:latin typeface="Times New Roman" panose="02020603050405020304" pitchFamily="18" charset="0"/>
              </a:rPr>
              <a:t> </a:t>
            </a:r>
          </a:p>
        </p:txBody>
      </p:sp>
    </p:spTree>
    <p:extLst>
      <p:ext uri="{BB962C8B-B14F-4D97-AF65-F5344CB8AC3E}">
        <p14:creationId xmlns:p14="http://schemas.microsoft.com/office/powerpoint/2010/main" val="321507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1C127C15-4E2E-4FD6-96C5-42F54B47D8B7}" type="slidenum">
              <a:rPr lang="en-US" altLang="en-US" sz="1200"/>
              <a:pPr/>
              <a:t>13</a:t>
            </a:fld>
            <a:endParaRPr lang="en-US" altLang="en-US" sz="1200"/>
          </a:p>
        </p:txBody>
      </p:sp>
      <p:sp>
        <p:nvSpPr>
          <p:cNvPr id="73731" name="Rectangle 2"/>
          <p:cNvSpPr>
            <a:spLocks noGrp="1" noRot="1" noChangeAspect="1" noChangeArrowheads="1" noTextEdit="1"/>
          </p:cNvSpPr>
          <p:nvPr>
            <p:ph type="sldImg"/>
          </p:nvPr>
        </p:nvSpPr>
        <p:spPr>
          <a:solidFill>
            <a:srgbClr val="FFFFFF"/>
          </a:solidFill>
          <a:ln/>
        </p:spPr>
      </p:sp>
      <p:sp>
        <p:nvSpPr>
          <p:cNvPr id="73732" name="Rectangle 3"/>
          <p:cNvSpPr>
            <a:spLocks noGrp="1" noChangeArrowheads="1"/>
          </p:cNvSpPr>
          <p:nvPr>
            <p:ph type="body" idx="1"/>
          </p:nvPr>
        </p:nvSpPr>
        <p:spPr>
          <a:solidFill>
            <a:srgbClr val="FFFFFF"/>
          </a:solidFill>
          <a:ln>
            <a:solidFill>
              <a:srgbClr val="000000"/>
            </a:solidFill>
          </a:ln>
        </p:spPr>
        <p:txBody>
          <a:bodyPr/>
          <a:lstStyle/>
          <a:p>
            <a:pPr>
              <a:buFont typeface="Times" panose="02020603050405020304" pitchFamily="18" charset="0"/>
              <a:buChar char="•"/>
            </a:pPr>
            <a:r>
              <a:rPr lang="en-US" altLang="en-US">
                <a:latin typeface="Times New Roman" panose="02020603050405020304" pitchFamily="18" charset="0"/>
              </a:rPr>
              <a:t> </a:t>
            </a:r>
          </a:p>
        </p:txBody>
      </p:sp>
    </p:spTree>
    <p:extLst>
      <p:ext uri="{BB962C8B-B14F-4D97-AF65-F5344CB8AC3E}">
        <p14:creationId xmlns:p14="http://schemas.microsoft.com/office/powerpoint/2010/main" val="3631625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06A818BE-0695-4F42-928E-0427791EEF26}" type="slidenum">
              <a:rPr lang="en-US" altLang="en-US" sz="1200"/>
              <a:pPr/>
              <a:t>30</a:t>
            </a:fld>
            <a:endParaRPr lang="en-US" altLang="en-US" sz="120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C: prepuce.</a:t>
            </a:r>
          </a:p>
        </p:txBody>
      </p:sp>
    </p:spTree>
    <p:extLst>
      <p:ext uri="{BB962C8B-B14F-4D97-AF65-F5344CB8AC3E}">
        <p14:creationId xmlns:p14="http://schemas.microsoft.com/office/powerpoint/2010/main" val="394814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C229A42-CC99-4E51-84B9-30670B0F2688}" type="slidenum">
              <a:rPr lang="en-US" altLang="en-US" sz="1200"/>
              <a:pPr/>
              <a:t>34</a:t>
            </a:fld>
            <a:endParaRPr lang="en-US" altLang="en-US" sz="120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endParaRPr lang="en-GB" altLang="en-US">
              <a:latin typeface="Times New Roman" panose="02020603050405020304" pitchFamily="18" charset="0"/>
            </a:endParaRPr>
          </a:p>
        </p:txBody>
      </p:sp>
    </p:spTree>
    <p:extLst>
      <p:ext uri="{BB962C8B-B14F-4D97-AF65-F5344CB8AC3E}">
        <p14:creationId xmlns:p14="http://schemas.microsoft.com/office/powerpoint/2010/main" val="3538069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68D3A7D8-E6D8-4EAA-9339-7BF66FDDBABE}" type="slidenum">
              <a:rPr lang="en-US" altLang="en-US" sz="1200"/>
              <a:pPr/>
              <a:t>35</a:t>
            </a:fld>
            <a:endParaRPr lang="en-US" altLang="en-US" sz="120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How is hydrocele treated? </a:t>
            </a:r>
          </a:p>
          <a:p>
            <a:pPr>
              <a:buFont typeface="Times" panose="02020603050405020304" pitchFamily="18" charset="0"/>
              <a:buChar char="•"/>
            </a:pPr>
            <a:r>
              <a:rPr lang="en-US" altLang="en-US">
                <a:latin typeface="Times New Roman" panose="02020603050405020304" pitchFamily="18" charset="0"/>
              </a:rPr>
              <a:t>What are the risks of an undescended testis?</a:t>
            </a:r>
          </a:p>
          <a:p>
            <a:pPr>
              <a:buFont typeface="Times" panose="02020603050405020304" pitchFamily="18" charset="0"/>
              <a:buChar char="•"/>
            </a:pPr>
            <a:r>
              <a:rPr lang="en-US" altLang="en-US">
                <a:latin typeface="Times New Roman" panose="02020603050405020304" pitchFamily="18" charset="0"/>
              </a:rPr>
              <a:t>How common is carcinoma of the testes?</a:t>
            </a:r>
          </a:p>
          <a:p>
            <a:pPr>
              <a:buFont typeface="Times" panose="02020603050405020304" pitchFamily="18" charset="0"/>
              <a:buChar char="•"/>
            </a:pPr>
            <a:r>
              <a:rPr lang="en-US" altLang="en-US">
                <a:latin typeface="Times New Roman" panose="02020603050405020304" pitchFamily="18" charset="0"/>
              </a:rPr>
              <a:t>What are varicoceles?</a:t>
            </a:r>
          </a:p>
          <a:p>
            <a:pPr>
              <a:buFont typeface="Times" panose="02020603050405020304" pitchFamily="18" charset="0"/>
              <a:buChar char="•"/>
            </a:pPr>
            <a:r>
              <a:rPr lang="en-US" altLang="en-US">
                <a:latin typeface="Times New Roman" panose="02020603050405020304" pitchFamily="18" charset="0"/>
              </a:rPr>
              <a:t>What is the treatment for testicular torsion?</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571222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CE16BA6-2C50-4196-A5B5-5DA7172BFED5}" type="slidenum">
              <a:rPr lang="en-US" altLang="en-US" sz="1200"/>
              <a:pPr/>
              <a:t>36</a:t>
            </a:fld>
            <a:endParaRPr lang="en-US" altLang="en-US" sz="120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How are carcinomas of the prostate and prostatic hyperplasia diagnosed? </a:t>
            </a:r>
          </a:p>
          <a:p>
            <a:pPr>
              <a:buFont typeface="Times" panose="02020603050405020304" pitchFamily="18" charset="0"/>
              <a:buChar char="•"/>
            </a:pPr>
            <a:r>
              <a:rPr lang="en-US" altLang="en-US">
                <a:latin typeface="Times New Roman" panose="02020603050405020304" pitchFamily="18" charset="0"/>
              </a:rPr>
              <a:t>How are they treated? </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1985910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26E364E7-C331-410A-8B77-2449C5C6D0C8}" type="slidenum">
              <a:rPr lang="en-US" altLang="en-US" sz="1200"/>
              <a:pPr/>
              <a:t>37</a:t>
            </a:fld>
            <a:endParaRPr lang="en-US" altLang="en-US" sz="120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pPr>
              <a:buFont typeface="Times" panose="02020603050405020304" pitchFamily="18" charset="0"/>
              <a:buChar char="•"/>
            </a:pPr>
            <a:r>
              <a:rPr lang="en-US" altLang="en-US">
                <a:latin typeface="Times New Roman" panose="02020603050405020304" pitchFamily="18" charset="0"/>
              </a:rPr>
              <a:t>What are the odds of a male having hypospadias? </a:t>
            </a:r>
          </a:p>
          <a:p>
            <a:pPr>
              <a:buFont typeface="Times" panose="02020603050405020304" pitchFamily="18" charset="0"/>
              <a:buChar char="•"/>
            </a:pPr>
            <a:r>
              <a:rPr lang="en-US" altLang="en-US">
                <a:latin typeface="Times New Roman" panose="02020603050405020304" pitchFamily="18" charset="0"/>
              </a:rPr>
              <a:t>How is hypospadias treated?</a:t>
            </a:r>
          </a:p>
          <a:p>
            <a:pPr>
              <a:buFont typeface="Times" panose="02020603050405020304" pitchFamily="18" charset="0"/>
              <a:buChar char="•"/>
            </a:pPr>
            <a:r>
              <a:rPr lang="en-US" altLang="en-US">
                <a:latin typeface="Times New Roman" panose="02020603050405020304" pitchFamily="18" charset="0"/>
              </a:rPr>
              <a:t>How is phimosis treated?</a:t>
            </a:r>
          </a:p>
          <a:p>
            <a:endParaRPr lang="en-US" altLang="en-US">
              <a:latin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2330249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6AB5449-4240-4E34-8F22-1D872C023148}" type="slidenum">
              <a:rPr lang="en-US" altLang="en-US" sz="1200"/>
              <a:pPr/>
              <a:t>38</a:t>
            </a:fld>
            <a:endParaRPr lang="en-US" altLang="en-US" sz="1200"/>
          </a:p>
        </p:txBody>
      </p:sp>
      <p:sp>
        <p:nvSpPr>
          <p:cNvPr id="88067" name="Rectangle 4"/>
          <p:cNvSpPr>
            <a:spLocks noGrp="1" noRot="1" noChangeAspect="1" noChangeArrowheads="1" noTextEdit="1"/>
          </p:cNvSpPr>
          <p:nvPr>
            <p:ph type="sldImg"/>
          </p:nvPr>
        </p:nvSpPr>
        <p:spPr>
          <a:ln/>
        </p:spPr>
      </p:sp>
      <p:sp>
        <p:nvSpPr>
          <p:cNvPr id="88068" name="Rectangle 5"/>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are the symptoms of a chlamydial infection? Gonorrhea? Herpes genitalis? Syphilis?</a:t>
            </a:r>
          </a:p>
          <a:p>
            <a:r>
              <a:rPr lang="en-US" altLang="en-US">
                <a:latin typeface="Times New Roman" panose="02020603050405020304" pitchFamily="18" charset="0"/>
              </a:rPr>
              <a:t>What types of drugs are given to treat these infections? </a:t>
            </a:r>
          </a:p>
          <a:p>
            <a:r>
              <a:rPr lang="en-US" altLang="en-US">
                <a:latin typeface="Times New Roman" panose="02020603050405020304" pitchFamily="18" charset="0"/>
              </a:rPr>
              <a:t>Which infections can occur without symptoms?</a:t>
            </a:r>
          </a:p>
        </p:txBody>
      </p:sp>
    </p:spTree>
    <p:extLst>
      <p:ext uri="{BB962C8B-B14F-4D97-AF65-F5344CB8AC3E}">
        <p14:creationId xmlns:p14="http://schemas.microsoft.com/office/powerpoint/2010/main" val="333240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F74D1C57-6692-45BF-8F76-69AAC3F95BBD}" type="slidenum">
              <a:rPr lang="en-US" altLang="en-US" sz="1200"/>
              <a:pPr/>
              <a:t>39</a:t>
            </a:fld>
            <a:endParaRPr lang="en-US" altLang="en-US" sz="1200"/>
          </a:p>
        </p:txBody>
      </p:sp>
      <p:sp>
        <p:nvSpPr>
          <p:cNvPr id="89091" name="Rectangle 4"/>
          <p:cNvSpPr>
            <a:spLocks noGrp="1" noRot="1" noChangeAspect="1" noChangeArrowheads="1" noTextEdit="1"/>
          </p:cNvSpPr>
          <p:nvPr>
            <p:ph type="sldImg"/>
          </p:nvPr>
        </p:nvSpPr>
        <p:spPr>
          <a:ln/>
        </p:spPr>
      </p:sp>
      <p:sp>
        <p:nvSpPr>
          <p:cNvPr id="89092" name="Rectangle 5"/>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What does the PSA test measure?</a:t>
            </a:r>
          </a:p>
          <a:p>
            <a:r>
              <a:rPr lang="en-US" altLang="en-US">
                <a:latin typeface="Times New Roman" panose="02020603050405020304" pitchFamily="18" charset="0"/>
              </a:rPr>
              <a:t>What does a semen analysis look for? When might this test be performed? </a:t>
            </a: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951627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04DBC2A-4103-4A07-88A9-585414AA27C9}" type="slidenum">
              <a:rPr lang="en-US" altLang="en-US" sz="1200"/>
              <a:pPr/>
              <a:t>40</a:t>
            </a:fld>
            <a:endParaRPr lang="en-US" altLang="en-US" sz="1200"/>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D: levels of an antigen. PSA tests for prostate-specific antigen (PSA) in the blood.  Elevated levels of PSA are associated with enlargement of the prostate gland and may be a sign of prostate cancer.</a:t>
            </a:r>
          </a:p>
        </p:txBody>
      </p:sp>
    </p:spTree>
    <p:extLst>
      <p:ext uri="{BB962C8B-B14F-4D97-AF65-F5344CB8AC3E}">
        <p14:creationId xmlns:p14="http://schemas.microsoft.com/office/powerpoint/2010/main" val="3082230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A0C33B93-68EE-427D-810C-338F9010B4B9}" type="slidenum">
              <a:rPr lang="en-US" altLang="en-US" sz="1200"/>
              <a:pPr/>
              <a:t>41</a:t>
            </a:fld>
            <a:endParaRPr lang="en-US" altLang="en-US" sz="1200"/>
          </a:p>
        </p:txBody>
      </p:sp>
      <p:sp>
        <p:nvSpPr>
          <p:cNvPr id="91139" name="Rectangle 2"/>
          <p:cNvSpPr>
            <a:spLocks noGrp="1" noRot="1" noChangeAspect="1" noChangeArrowheads="1" noTextEdit="1"/>
          </p:cNvSpPr>
          <p:nvPr>
            <p:ph type="sldImg"/>
          </p:nvPr>
        </p:nvSpPr>
        <p:spPr>
          <a:solidFill>
            <a:srgbClr val="FFFFFF"/>
          </a:solidFill>
          <a:ln/>
        </p:spPr>
      </p:sp>
      <p:sp>
        <p:nvSpPr>
          <p:cNvPr id="91140" name="Rectangle 3"/>
          <p:cNvSpPr>
            <a:spLocks noGrp="1" noChangeArrowheads="1"/>
          </p:cNvSpPr>
          <p:nvPr>
            <p:ph type="body" idx="1"/>
          </p:nvPr>
        </p:nvSpPr>
        <p:spPr>
          <a:solidFill>
            <a:srgbClr val="FFFFFF"/>
          </a:solidFill>
          <a:ln>
            <a:solidFill>
              <a:srgbClr val="000000"/>
            </a:solidFill>
          </a:ln>
        </p:spPr>
        <p:txBody>
          <a:bodyPr/>
          <a:lstStyle/>
          <a:p>
            <a:pPr>
              <a:buFont typeface="Times" panose="02020603050405020304" pitchFamily="18" charset="0"/>
              <a:buChar char="•"/>
            </a:pPr>
            <a:r>
              <a:rPr lang="en-US" altLang="en-US">
                <a:latin typeface="Times New Roman" panose="02020603050405020304" pitchFamily="18" charset="0"/>
                <a:cs typeface="Times New Roman" panose="02020603050405020304" pitchFamily="18" charset="0"/>
              </a:rPr>
              <a:t>What procedure treats prostatic hyperplasia (BPH)? How is it performed?</a:t>
            </a:r>
          </a:p>
          <a:p>
            <a:pPr>
              <a:buFont typeface="Times" panose="02020603050405020304" pitchFamily="18" charset="0"/>
              <a:buChar char="•"/>
            </a:pPr>
            <a:r>
              <a:rPr lang="en-US" altLang="en-US">
                <a:latin typeface="Times New Roman" panose="02020603050405020304" pitchFamily="18" charset="0"/>
                <a:cs typeface="Times New Roman" panose="02020603050405020304" pitchFamily="18" charset="0"/>
              </a:rPr>
              <a:t>What is the purpose of a digital rectal exam?</a:t>
            </a:r>
          </a:p>
        </p:txBody>
      </p:sp>
    </p:spTree>
    <p:extLst>
      <p:ext uri="{BB962C8B-B14F-4D97-AF65-F5344CB8AC3E}">
        <p14:creationId xmlns:p14="http://schemas.microsoft.com/office/powerpoint/2010/main" val="3559570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CC987D67-144F-4E2F-A3A3-7A76A3E3C527}" type="slidenum">
              <a:rPr lang="en-US" altLang="en-US" sz="1200"/>
              <a:pPr/>
              <a:t>42</a:t>
            </a:fld>
            <a:endParaRPr lang="en-US" altLang="en-US" sz="1200"/>
          </a:p>
        </p:txBody>
      </p:sp>
      <p:sp>
        <p:nvSpPr>
          <p:cNvPr id="92163" name="Rectangle 2"/>
          <p:cNvSpPr>
            <a:spLocks noGrp="1" noRot="1" noChangeAspect="1" noChangeArrowheads="1" noTextEdit="1"/>
          </p:cNvSpPr>
          <p:nvPr>
            <p:ph type="sldImg"/>
          </p:nvPr>
        </p:nvSpPr>
        <p:spPr>
          <a:solidFill>
            <a:srgbClr val="FFFFFF"/>
          </a:solidFill>
          <a:ln/>
        </p:spPr>
      </p:sp>
      <p:sp>
        <p:nvSpPr>
          <p:cNvPr id="92164" name="Rectangle 3"/>
          <p:cNvSpPr>
            <a:spLocks noGrp="1" noChangeArrowheads="1"/>
          </p:cNvSpPr>
          <p:nvPr>
            <p:ph type="body" idx="1"/>
          </p:nvPr>
        </p:nvSpPr>
        <p:spPr>
          <a:solidFill>
            <a:srgbClr val="FFFFFF"/>
          </a:solidFill>
          <a:ln>
            <a:solidFill>
              <a:srgbClr val="000000"/>
            </a:solidFill>
          </a:ln>
        </p:spPr>
        <p:txBody>
          <a:bodyPr/>
          <a:lstStyle/>
          <a:p>
            <a:pPr>
              <a:buFont typeface="Times" panose="02020603050405020304" pitchFamily="18" charset="0"/>
              <a:buChar char="•"/>
            </a:pPr>
            <a:r>
              <a:rPr lang="en-US" altLang="en-US">
                <a:latin typeface="Times New Roman" panose="02020603050405020304" pitchFamily="18" charset="0"/>
                <a:cs typeface="Times New Roman" panose="02020603050405020304" pitchFamily="18" charset="0"/>
              </a:rPr>
              <a:t>How does the urologist perform a vasectomy? </a:t>
            </a:r>
          </a:p>
          <a:p>
            <a:pPr>
              <a:buFont typeface="Times" panose="02020603050405020304" pitchFamily="18" charset="0"/>
              <a:buChar char="•"/>
            </a:pPr>
            <a:r>
              <a:rPr lang="en-US" altLang="en-US">
                <a:latin typeface="Times New Roman" panose="02020603050405020304" pitchFamily="18" charset="0"/>
                <a:cs typeface="Times New Roman" panose="02020603050405020304" pitchFamily="18" charset="0"/>
              </a:rPr>
              <a:t>Are there any side affects to a vasectomy?</a:t>
            </a:r>
          </a:p>
          <a:p>
            <a:pPr>
              <a:buFont typeface="Times" panose="02020603050405020304" pitchFamily="18" charset="0"/>
              <a:buChar char="•"/>
            </a:pPr>
            <a:r>
              <a:rPr lang="en-US" altLang="en-US">
                <a:latin typeface="Times New Roman" panose="02020603050405020304" pitchFamily="18" charset="0"/>
                <a:cs typeface="Times New Roman" panose="02020603050405020304" pitchFamily="18" charset="0"/>
              </a:rPr>
              <a:t>What is reversal of a vasectomy?  </a:t>
            </a:r>
            <a:r>
              <a:rPr lang="en-US" altLang="en-US" i="1">
                <a:latin typeface="Times New Roman" panose="02020603050405020304" pitchFamily="18" charset="0"/>
                <a:cs typeface="Times New Roman" panose="02020603050405020304" pitchFamily="18" charset="0"/>
              </a:rPr>
              <a:t>(Vasovasostomy)</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endParaRPr>
          </a:p>
          <a:p>
            <a:endParaRPr lang="en-US" altLang="en-US">
              <a:latin typeface="Times New Roman" panose="02020603050405020304" pitchFamily="18" charset="0"/>
            </a:endParaRPr>
          </a:p>
        </p:txBody>
      </p:sp>
    </p:spTree>
    <p:extLst>
      <p:ext uri="{BB962C8B-B14F-4D97-AF65-F5344CB8AC3E}">
        <p14:creationId xmlns:p14="http://schemas.microsoft.com/office/powerpoint/2010/main" val="40045786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4D021FEA-2718-4DD1-B958-762C6E25B9FA}" type="slidenum">
              <a:rPr lang="en-US" altLang="en-US" sz="1200"/>
              <a:pPr/>
              <a:t>43</a:t>
            </a:fld>
            <a:endParaRPr lang="en-US" altLang="en-US" sz="1200"/>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B: prostatectomy.</a:t>
            </a:r>
          </a:p>
        </p:txBody>
      </p:sp>
    </p:spTree>
    <p:extLst>
      <p:ext uri="{BB962C8B-B14F-4D97-AF65-F5344CB8AC3E}">
        <p14:creationId xmlns:p14="http://schemas.microsoft.com/office/powerpoint/2010/main" val="335999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47</a:t>
            </a:fld>
            <a:endParaRPr lang="en-US" altLang="en-US"/>
          </a:p>
        </p:txBody>
      </p:sp>
    </p:spTree>
    <p:extLst>
      <p:ext uri="{BB962C8B-B14F-4D97-AF65-F5344CB8AC3E}">
        <p14:creationId xmlns:p14="http://schemas.microsoft.com/office/powerpoint/2010/main" val="32501418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type="none" w="sm" len="sm"/>
                <a:tailEnd type="none" w="sm" len="sm"/>
              </a14:hiddenLine>
            </a:ext>
          </a:extLst>
        </p:spPr>
        <p:txBody>
          <a:bodyPr/>
          <a:lstStyle>
            <a:lvl1pPr defTabSz="931863">
              <a:defRPr sz="2400">
                <a:solidFill>
                  <a:schemeClr val="tx1"/>
                </a:solidFill>
                <a:latin typeface="Times New Roman" panose="02020603050405020304" pitchFamily="18" charset="0"/>
                <a:ea typeface="MS PGothic" panose="020B0600070205080204" pitchFamily="34" charset="-128"/>
              </a:defRPr>
            </a:lvl1pPr>
            <a:lvl2pPr marL="742950" indent="-285750" defTabSz="931863">
              <a:defRPr sz="2400">
                <a:solidFill>
                  <a:schemeClr val="tx1"/>
                </a:solidFill>
                <a:latin typeface="Times New Roman" panose="02020603050405020304" pitchFamily="18" charset="0"/>
                <a:ea typeface="MS PGothic" panose="020B0600070205080204" pitchFamily="34" charset="-128"/>
              </a:defRPr>
            </a:lvl2pPr>
            <a:lvl3pPr marL="1143000" indent="-228600" defTabSz="931863">
              <a:defRPr sz="2400">
                <a:solidFill>
                  <a:schemeClr val="tx1"/>
                </a:solidFill>
                <a:latin typeface="Times New Roman" panose="02020603050405020304" pitchFamily="18" charset="0"/>
                <a:ea typeface="MS PGothic" panose="020B0600070205080204" pitchFamily="34" charset="-128"/>
              </a:defRPr>
            </a:lvl3pPr>
            <a:lvl4pPr marL="1600200" indent="-228600" defTabSz="931863">
              <a:defRPr sz="2400">
                <a:solidFill>
                  <a:schemeClr val="tx1"/>
                </a:solidFill>
                <a:latin typeface="Times New Roman" panose="02020603050405020304" pitchFamily="18" charset="0"/>
                <a:ea typeface="MS PGothic" panose="020B0600070205080204" pitchFamily="34" charset="-128"/>
              </a:defRPr>
            </a:lvl4pPr>
            <a:lvl5pPr marL="2057400" indent="-228600" defTabSz="931863">
              <a:defRPr sz="2400">
                <a:solidFill>
                  <a:schemeClr val="tx1"/>
                </a:solidFill>
                <a:latin typeface="Times New Roman" panose="02020603050405020304" pitchFamily="18"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540104E0-0FE4-4FF0-A460-297E76035D4D}" type="slidenum">
              <a:rPr lang="en-US" altLang="en-US" sz="1200"/>
              <a:pPr/>
              <a:t>52</a:t>
            </a:fld>
            <a:endParaRPr lang="en-US" altLang="en-US" sz="1200"/>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type="none" w="sm" len="sm"/>
                <a:tailEnd type="none" w="sm" len="sm"/>
              </a14:hiddenLine>
            </a:ext>
          </a:extLst>
        </p:spPr>
        <p:txBody>
          <a:bodyPr/>
          <a:lstStyle/>
          <a:p>
            <a:r>
              <a:rPr lang="en-US" altLang="en-US">
                <a:latin typeface="Times New Roman" panose="02020603050405020304" pitchFamily="18" charset="0"/>
              </a:rPr>
              <a:t>The correct answer is A: aspermia</a:t>
            </a:r>
          </a:p>
        </p:txBody>
      </p:sp>
    </p:spTree>
    <p:extLst>
      <p:ext uri="{BB962C8B-B14F-4D97-AF65-F5344CB8AC3E}">
        <p14:creationId xmlns:p14="http://schemas.microsoft.com/office/powerpoint/2010/main" val="608867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547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6650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BE4A795B-FCB8-2263-E33B-E33BC80352F2}"/>
              </a:ext>
            </a:extLst>
          </p:cNvPr>
          <p:cNvPicPr>
            <a:picLocks noChangeAspect="1"/>
          </p:cNvPicPr>
          <p:nvPr userDrawn="1"/>
        </p:nvPicPr>
        <p:blipFill>
          <a:blip r:embed="rId16"/>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 id="2147483953" r:id="rId14"/>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7" name="Rectangle 3"/>
          <p:cNvSpPr>
            <a:spLocks noGrp="1" noChangeArrowheads="1"/>
          </p:cNvSpPr>
          <p:nvPr>
            <p:ph type="title"/>
          </p:nvPr>
        </p:nvSpPr>
        <p:spPr>
          <a:xfrm>
            <a:off x="838200" y="228600"/>
            <a:ext cx="7620000" cy="1143000"/>
          </a:xfrm>
        </p:spPr>
        <p:txBody>
          <a:bodyPr rtlCol="0">
            <a:normAutofit fontScale="90000"/>
          </a:bodyPr>
          <a:lstStyle/>
          <a:p>
            <a:pPr eaLnBrk="1" fontAlgn="auto" hangingPunct="1">
              <a:spcAft>
                <a:spcPts val="0"/>
              </a:spcAft>
              <a:defRPr/>
            </a:pPr>
            <a:r>
              <a:rPr lang="en-US" dirty="0"/>
              <a:t>Chapter 9</a:t>
            </a:r>
            <a:br>
              <a:rPr lang="en-US" dirty="0"/>
            </a:br>
            <a:r>
              <a:rPr lang="en-US" dirty="0"/>
              <a:t>Male Reproductive System</a:t>
            </a:r>
          </a:p>
        </p:txBody>
      </p:sp>
    </p:spTree>
    <p:extLst>
      <p:ext uri="{BB962C8B-B14F-4D97-AF65-F5344CB8AC3E}">
        <p14:creationId xmlns:p14="http://schemas.microsoft.com/office/powerpoint/2010/main" val="2462146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a:xfrm>
            <a:off x="1066800" y="228600"/>
            <a:ext cx="7239000" cy="1143000"/>
          </a:xfrm>
        </p:spPr>
        <p:txBody>
          <a:bodyPr/>
          <a:lstStyle/>
          <a:p>
            <a:pPr eaLnBrk="1" hangingPunct="1"/>
            <a:r>
              <a:rPr lang="en-US" altLang="en-US" dirty="0"/>
              <a:t>Chapter Goals (Slide 1 of 2)</a:t>
            </a:r>
          </a:p>
        </p:txBody>
      </p:sp>
      <p:sp>
        <p:nvSpPr>
          <p:cNvPr id="7171" name="Rectangle 5"/>
          <p:cNvSpPr>
            <a:spLocks noGrp="1" noChangeArrowheads="1"/>
          </p:cNvSpPr>
          <p:nvPr>
            <p:ph idx="1"/>
          </p:nvPr>
        </p:nvSpPr>
        <p:spPr>
          <a:xfrm>
            <a:off x="685800" y="1600200"/>
            <a:ext cx="7239000" cy="4267200"/>
          </a:xfrm>
        </p:spPr>
        <p:txBody>
          <a:bodyPr/>
          <a:lstStyle/>
          <a:p>
            <a:pPr eaLnBrk="1" hangingPunct="1"/>
            <a:r>
              <a:rPr lang="en-US" altLang="en-US"/>
              <a:t>Name, locate, and describe the functions of the organs of the male reproductive system.</a:t>
            </a:r>
          </a:p>
          <a:p>
            <a:pPr eaLnBrk="1" hangingPunct="1"/>
            <a:r>
              <a:rPr lang="en-US" altLang="en-US"/>
              <a:t>Define abnormal conditions and infections that affect the male reproductive system. </a:t>
            </a:r>
          </a:p>
          <a:p>
            <a:pPr eaLnBrk="1" hangingPunct="1"/>
            <a:r>
              <a:rPr lang="en-US" altLang="en-US"/>
              <a:t>Differentiate among several types of sexually transmitted infections.</a:t>
            </a:r>
          </a:p>
        </p:txBody>
      </p:sp>
    </p:spTree>
    <p:extLst>
      <p:ext uri="{BB962C8B-B14F-4D97-AF65-F5344CB8AC3E}">
        <p14:creationId xmlns:p14="http://schemas.microsoft.com/office/powerpoint/2010/main" val="3686969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a:xfrm>
            <a:off x="990600" y="228600"/>
            <a:ext cx="7239000" cy="1143000"/>
          </a:xfrm>
        </p:spPr>
        <p:txBody>
          <a:bodyPr/>
          <a:lstStyle/>
          <a:p>
            <a:pPr eaLnBrk="1" hangingPunct="1"/>
            <a:r>
              <a:rPr lang="en-US" altLang="en-US" dirty="0"/>
              <a:t>Chapter Goals (Slide 2 of 2)</a:t>
            </a:r>
          </a:p>
        </p:txBody>
      </p:sp>
      <p:sp>
        <p:nvSpPr>
          <p:cNvPr id="233477" name="Rectangle 5"/>
          <p:cNvSpPr>
            <a:spLocks noGrp="1" noChangeArrowheads="1"/>
          </p:cNvSpPr>
          <p:nvPr>
            <p:ph idx="1"/>
          </p:nvPr>
        </p:nvSpPr>
        <p:spPr>
          <a:xfrm>
            <a:off x="684213" y="1600200"/>
            <a:ext cx="7164387" cy="4800600"/>
          </a:xfrm>
        </p:spPr>
        <p:txBody>
          <a:bodyPr rtlCol="0">
            <a:normAutofit lnSpcReduction="10000"/>
          </a:bodyPr>
          <a:lstStyle/>
          <a:p>
            <a:pPr eaLnBrk="1" fontAlgn="auto" hangingPunct="1">
              <a:lnSpc>
                <a:spcPct val="90000"/>
              </a:lnSpc>
              <a:spcAft>
                <a:spcPts val="0"/>
              </a:spcAft>
              <a:defRPr/>
            </a:pPr>
            <a:r>
              <a:rPr lang="en-US" dirty="0"/>
              <a:t>Define combining forms used to describe the structures of this system. </a:t>
            </a:r>
          </a:p>
          <a:p>
            <a:pPr eaLnBrk="1" fontAlgn="auto" hangingPunct="1">
              <a:lnSpc>
                <a:spcPct val="90000"/>
              </a:lnSpc>
              <a:spcAft>
                <a:spcPts val="0"/>
              </a:spcAft>
              <a:defRPr/>
            </a:pPr>
            <a:r>
              <a:rPr lang="en-US" dirty="0"/>
              <a:t>Describe various laboratory tests and clinical procedures that are pertinent to the disorders of the male reproductive system and recognize related abbreviations.</a:t>
            </a:r>
          </a:p>
          <a:p>
            <a:pPr eaLnBrk="1" fontAlgn="auto" hangingPunct="1">
              <a:lnSpc>
                <a:spcPct val="90000"/>
              </a:lnSpc>
              <a:spcAft>
                <a:spcPts val="0"/>
              </a:spcAft>
              <a:defRPr/>
            </a:pPr>
            <a:r>
              <a:rPr lang="en-US" dirty="0"/>
              <a:t>Apply your new knowledge to understanding medical terms in their contexts, such as medical reports and records.</a:t>
            </a:r>
          </a:p>
        </p:txBody>
      </p:sp>
    </p:spTree>
    <p:extLst>
      <p:ext uri="{BB962C8B-B14F-4D97-AF65-F5344CB8AC3E}">
        <p14:creationId xmlns:p14="http://schemas.microsoft.com/office/powerpoint/2010/main" val="922994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1" name="Rectangle 5"/>
          <p:cNvSpPr>
            <a:spLocks noGrp="1" noChangeArrowheads="1"/>
          </p:cNvSpPr>
          <p:nvPr>
            <p:ph type="title"/>
          </p:nvPr>
        </p:nvSpPr>
        <p:spPr>
          <a:xfrm>
            <a:off x="1143000" y="228600"/>
            <a:ext cx="6935788" cy="1143000"/>
          </a:xfrm>
        </p:spPr>
        <p:txBody>
          <a:bodyPr rtlCol="0">
            <a:normAutofit fontScale="90000"/>
          </a:bodyPr>
          <a:lstStyle/>
          <a:p>
            <a:pPr eaLnBrk="1" fontAlgn="auto" hangingPunct="1">
              <a:spcAft>
                <a:spcPts val="0"/>
              </a:spcAft>
              <a:defRPr/>
            </a:pPr>
            <a:r>
              <a:rPr lang="en-US" dirty="0"/>
              <a:t>Chapter 9 </a:t>
            </a:r>
            <a:br>
              <a:rPr lang="en-US" dirty="0"/>
            </a:br>
            <a:r>
              <a:rPr lang="en-US" dirty="0"/>
              <a:t>Lesson 9.1</a:t>
            </a:r>
          </a:p>
        </p:txBody>
      </p:sp>
    </p:spTree>
    <p:extLst>
      <p:ext uri="{BB962C8B-B14F-4D97-AF65-F5344CB8AC3E}">
        <p14:creationId xmlns:p14="http://schemas.microsoft.com/office/powerpoint/2010/main" val="726802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title"/>
          </p:nvPr>
        </p:nvSpPr>
        <p:spPr>
          <a:xfrm>
            <a:off x="990600" y="228600"/>
            <a:ext cx="7239000" cy="1143000"/>
          </a:xfrm>
        </p:spPr>
        <p:txBody>
          <a:bodyPr/>
          <a:lstStyle/>
          <a:p>
            <a:pPr eaLnBrk="1" hangingPunct="1"/>
            <a:r>
              <a:rPr lang="en-US" altLang="en-US" dirty="0"/>
              <a:t>Introduction (Slide 1 of 4)</a:t>
            </a:r>
          </a:p>
        </p:txBody>
      </p:sp>
      <p:sp>
        <p:nvSpPr>
          <p:cNvPr id="10243" name="Rectangle 6"/>
          <p:cNvSpPr>
            <a:spLocks noGrp="1" noChangeArrowheads="1"/>
          </p:cNvSpPr>
          <p:nvPr>
            <p:ph idx="1"/>
          </p:nvPr>
        </p:nvSpPr>
        <p:spPr>
          <a:xfrm>
            <a:off x="685800" y="1600200"/>
            <a:ext cx="7239000" cy="4114800"/>
          </a:xfrm>
        </p:spPr>
        <p:txBody>
          <a:bodyPr/>
          <a:lstStyle/>
          <a:p>
            <a:pPr eaLnBrk="1" hangingPunct="1"/>
            <a:r>
              <a:rPr lang="en-US" altLang="en-US"/>
              <a:t>The male sex cell is called a </a:t>
            </a:r>
            <a:r>
              <a:rPr lang="en-US" altLang="en-US" b="1"/>
              <a:t>spermatozoon</a:t>
            </a:r>
            <a:r>
              <a:rPr lang="en-US" altLang="en-US"/>
              <a:t>, or sperm cell.</a:t>
            </a:r>
          </a:p>
          <a:p>
            <a:pPr eaLnBrk="1" hangingPunct="1"/>
            <a:r>
              <a:rPr lang="en-US" altLang="en-US"/>
              <a:t>The sperm cell carries its nuclear hereditary material, or chromosomes, in its head region.</a:t>
            </a:r>
          </a:p>
          <a:p>
            <a:pPr eaLnBrk="1" hangingPunct="1"/>
            <a:r>
              <a:rPr lang="en-US" altLang="en-US"/>
              <a:t>The tail consists of a </a:t>
            </a:r>
            <a:r>
              <a:rPr lang="en-US" altLang="en-US" b="1"/>
              <a:t>flagellum</a:t>
            </a:r>
            <a:r>
              <a:rPr lang="en-US" altLang="en-US"/>
              <a:t>, which makes the sperm cell mobile. </a:t>
            </a:r>
          </a:p>
        </p:txBody>
      </p:sp>
    </p:spTree>
    <p:extLst>
      <p:ext uri="{BB962C8B-B14F-4D97-AF65-F5344CB8AC3E}">
        <p14:creationId xmlns:p14="http://schemas.microsoft.com/office/powerpoint/2010/main" val="1007848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a:xfrm>
            <a:off x="990600" y="228600"/>
            <a:ext cx="7239000" cy="1143000"/>
          </a:xfrm>
        </p:spPr>
        <p:txBody>
          <a:bodyPr/>
          <a:lstStyle/>
          <a:p>
            <a:pPr eaLnBrk="1" hangingPunct="1"/>
            <a:r>
              <a:rPr lang="en-US" altLang="en-US" dirty="0"/>
              <a:t>Introduction (Slide 2 of 4)</a:t>
            </a:r>
          </a:p>
        </p:txBody>
      </p:sp>
      <p:sp>
        <p:nvSpPr>
          <p:cNvPr id="11267" name="Rectangle 5"/>
          <p:cNvSpPr>
            <a:spLocks noGrp="1" noChangeArrowheads="1"/>
          </p:cNvSpPr>
          <p:nvPr>
            <p:ph idx="1"/>
          </p:nvPr>
        </p:nvSpPr>
        <p:spPr>
          <a:xfrm>
            <a:off x="685800" y="1600200"/>
            <a:ext cx="7239000" cy="4114800"/>
          </a:xfrm>
        </p:spPr>
        <p:txBody>
          <a:bodyPr/>
          <a:lstStyle/>
          <a:p>
            <a:pPr eaLnBrk="1" hangingPunct="1"/>
            <a:r>
              <a:rPr lang="en-US" altLang="en-US"/>
              <a:t>Only one spermatozoon out of 300 million sperm cells released during ejaculation can fertilize a single female ovum.</a:t>
            </a:r>
          </a:p>
          <a:p>
            <a:pPr eaLnBrk="1" hangingPunct="1"/>
            <a:r>
              <a:rPr lang="en-US" altLang="en-US"/>
              <a:t>If more than one egg is present in the fallopian tubes during ejaculation, multiple fertilizations are possible.</a:t>
            </a:r>
          </a:p>
        </p:txBody>
      </p:sp>
    </p:spTree>
    <p:extLst>
      <p:ext uri="{BB962C8B-B14F-4D97-AF65-F5344CB8AC3E}">
        <p14:creationId xmlns:p14="http://schemas.microsoft.com/office/powerpoint/2010/main" val="371200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8"/>
          <p:cNvSpPr>
            <a:spLocks noGrp="1" noChangeArrowheads="1"/>
          </p:cNvSpPr>
          <p:nvPr>
            <p:ph type="title"/>
          </p:nvPr>
        </p:nvSpPr>
        <p:spPr>
          <a:xfrm>
            <a:off x="990600" y="228600"/>
            <a:ext cx="7239000" cy="1143000"/>
          </a:xfrm>
        </p:spPr>
        <p:txBody>
          <a:bodyPr/>
          <a:lstStyle/>
          <a:p>
            <a:pPr eaLnBrk="1" hangingPunct="1"/>
            <a:r>
              <a:rPr lang="en-US" altLang="en-US" dirty="0"/>
              <a:t>Introduction (Slide 3 of 4)</a:t>
            </a:r>
          </a:p>
        </p:txBody>
      </p:sp>
      <p:sp>
        <p:nvSpPr>
          <p:cNvPr id="12291" name="Rectangle 5"/>
          <p:cNvSpPr>
            <a:spLocks noGrp="1" noChangeArrowheads="1"/>
          </p:cNvSpPr>
          <p:nvPr>
            <p:ph type="body" sz="half" idx="2"/>
          </p:nvPr>
        </p:nvSpPr>
        <p:spPr>
          <a:xfrm>
            <a:off x="685800" y="1524000"/>
            <a:ext cx="7543800" cy="4495800"/>
          </a:xfrm>
        </p:spPr>
        <p:txBody>
          <a:bodyPr/>
          <a:lstStyle/>
          <a:p>
            <a:pPr eaLnBrk="1" hangingPunct="1"/>
            <a:r>
              <a:rPr lang="en-US" altLang="en-US" sz="2800" dirty="0"/>
              <a:t>Twins resulting from the fertilization of separate ova by separate sperm cells are called </a:t>
            </a:r>
            <a:r>
              <a:rPr lang="en-US" altLang="en-US" sz="2800" u="sng" dirty="0"/>
              <a:t>fraternal</a:t>
            </a:r>
            <a:r>
              <a:rPr lang="en-US" altLang="en-US" sz="2800" dirty="0"/>
              <a:t> twins.</a:t>
            </a:r>
          </a:p>
          <a:p>
            <a:pPr eaLnBrk="1" hangingPunct="1"/>
            <a:r>
              <a:rPr lang="en-US" altLang="en-US" sz="2800" dirty="0"/>
              <a:t>Twins resulting from the fertilization of a single egg by a single sperm are called </a:t>
            </a:r>
            <a:r>
              <a:rPr lang="en-US" altLang="en-US" sz="2800" u="sng" dirty="0"/>
              <a:t>identical</a:t>
            </a:r>
            <a:r>
              <a:rPr lang="en-US" altLang="en-US" sz="2800" dirty="0"/>
              <a:t> twins.</a:t>
            </a:r>
          </a:p>
        </p:txBody>
      </p:sp>
    </p:spTree>
    <p:extLst>
      <p:ext uri="{BB962C8B-B14F-4D97-AF65-F5344CB8AC3E}">
        <p14:creationId xmlns:p14="http://schemas.microsoft.com/office/powerpoint/2010/main" val="208442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8"/>
          <p:cNvSpPr>
            <a:spLocks noGrp="1" noChangeArrowheads="1"/>
          </p:cNvSpPr>
          <p:nvPr>
            <p:ph type="title"/>
          </p:nvPr>
        </p:nvSpPr>
        <p:spPr>
          <a:xfrm>
            <a:off x="990600" y="228600"/>
            <a:ext cx="7239000" cy="1143000"/>
          </a:xfrm>
        </p:spPr>
        <p:txBody>
          <a:bodyPr/>
          <a:lstStyle/>
          <a:p>
            <a:pPr eaLnBrk="1" hangingPunct="1"/>
            <a:r>
              <a:rPr lang="en-US" altLang="en-US" dirty="0"/>
              <a:t>Introduction (Slide 4 of 4)</a:t>
            </a:r>
          </a:p>
        </p:txBody>
      </p:sp>
      <p:sp>
        <p:nvSpPr>
          <p:cNvPr id="13315" name="Rectangle 1029"/>
          <p:cNvSpPr>
            <a:spLocks noGrp="1" noChangeArrowheads="1"/>
          </p:cNvSpPr>
          <p:nvPr>
            <p:ph idx="1"/>
          </p:nvPr>
        </p:nvSpPr>
        <p:spPr>
          <a:xfrm>
            <a:off x="685800" y="1600200"/>
            <a:ext cx="7239000" cy="4114800"/>
          </a:xfrm>
        </p:spPr>
        <p:txBody>
          <a:bodyPr/>
          <a:lstStyle/>
          <a:p>
            <a:pPr eaLnBrk="1" hangingPunct="1"/>
            <a:r>
              <a:rPr lang="en-US" altLang="en-US"/>
              <a:t>The organs of the male reproductive system are designed to produce and release billions of sperm cells throughout the man’</a:t>
            </a:r>
            <a:r>
              <a:rPr lang="en-US" altLang="ja-JP"/>
              <a:t>s lifetime.</a:t>
            </a:r>
          </a:p>
          <a:p>
            <a:pPr eaLnBrk="1" hangingPunct="1"/>
            <a:r>
              <a:rPr lang="en-US" altLang="en-US"/>
              <a:t>The hormone called </a:t>
            </a:r>
            <a:r>
              <a:rPr lang="en-US" altLang="en-US" b="1"/>
              <a:t>testosterone</a:t>
            </a:r>
            <a:r>
              <a:rPr lang="en-US" altLang="en-US"/>
              <a:t> is responsible for the bodily characteristics of the male (such as beard, pubic hair, and deeper voice).</a:t>
            </a:r>
          </a:p>
        </p:txBody>
      </p:sp>
    </p:spTree>
    <p:extLst>
      <p:ext uri="{BB962C8B-B14F-4D97-AF65-F5344CB8AC3E}">
        <p14:creationId xmlns:p14="http://schemas.microsoft.com/office/powerpoint/2010/main" val="37702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8"/>
          <p:cNvSpPr>
            <a:spLocks noGrp="1" noChangeArrowheads="1"/>
          </p:cNvSpPr>
          <p:nvPr>
            <p:ph type="title"/>
          </p:nvPr>
        </p:nvSpPr>
        <p:spPr/>
        <p:txBody>
          <a:bodyPr/>
          <a:lstStyle/>
          <a:p>
            <a:pPr eaLnBrk="1" hangingPunct="1"/>
            <a:r>
              <a:rPr lang="en-US" altLang="en-US" sz="4000" dirty="0"/>
              <a:t>Anatomy of the Male Reproductive System (slide 1 of 4)</a:t>
            </a:r>
          </a:p>
        </p:txBody>
      </p:sp>
      <p:sp>
        <p:nvSpPr>
          <p:cNvPr id="6" name="Content Placeholder 5"/>
          <p:cNvSpPr txBox="1">
            <a:spLocks noGrp="1"/>
          </p:cNvSpPr>
          <p:nvPr>
            <p:ph idx="1"/>
          </p:nvPr>
        </p:nvSpPr>
        <p:spPr>
          <a:xfrm>
            <a:off x="685800" y="1600200"/>
            <a:ext cx="8229600" cy="4525963"/>
          </a:xfrm>
          <a:prstGeom prst="rect">
            <a:avLst/>
          </a:prstGeom>
          <a:noFill/>
        </p:spPr>
        <p:txBody>
          <a:bodyPr wrap="square" numCol="2" rtlCol="0">
            <a:spAutoFit/>
          </a:bodyPr>
          <a:lstStyle/>
          <a:p>
            <a:pPr>
              <a:buFont typeface="Arial" pitchFamily="34" charset="0"/>
              <a:buChar char="•"/>
            </a:pPr>
            <a:r>
              <a:rPr lang="en-US" dirty="0">
                <a:latin typeface="+mn-lt"/>
              </a:rPr>
              <a:t> Testis</a:t>
            </a:r>
          </a:p>
          <a:p>
            <a:pPr>
              <a:buFont typeface="Arial" pitchFamily="34" charset="0"/>
              <a:buChar char="•"/>
            </a:pPr>
            <a:r>
              <a:rPr lang="en-US" dirty="0">
                <a:latin typeface="+mn-lt"/>
              </a:rPr>
              <a:t> Scrotum</a:t>
            </a:r>
          </a:p>
          <a:p>
            <a:pPr>
              <a:buFont typeface="Arial" pitchFamily="34" charset="0"/>
              <a:buChar char="•"/>
            </a:pPr>
            <a:r>
              <a:rPr lang="en-US" dirty="0">
                <a:latin typeface="+mn-lt"/>
              </a:rPr>
              <a:t> Perineum</a:t>
            </a:r>
          </a:p>
          <a:p>
            <a:pPr>
              <a:buFont typeface="Arial" pitchFamily="34" charset="0"/>
              <a:buChar char="•"/>
            </a:pPr>
            <a:r>
              <a:rPr lang="en-US" dirty="0">
                <a:latin typeface="+mn-lt"/>
              </a:rPr>
              <a:t> </a:t>
            </a:r>
            <a:r>
              <a:rPr lang="en-US" dirty="0" err="1">
                <a:latin typeface="+mn-lt"/>
              </a:rPr>
              <a:t>Seminiferous</a:t>
            </a:r>
            <a:r>
              <a:rPr lang="en-US" dirty="0">
                <a:latin typeface="+mn-lt"/>
              </a:rPr>
              <a:t> tubules</a:t>
            </a:r>
          </a:p>
          <a:p>
            <a:pPr>
              <a:buFont typeface="Arial" pitchFamily="34" charset="0"/>
              <a:buChar char="•"/>
            </a:pPr>
            <a:r>
              <a:rPr lang="en-US" dirty="0">
                <a:latin typeface="+mn-lt"/>
              </a:rPr>
              <a:t> </a:t>
            </a:r>
            <a:r>
              <a:rPr lang="en-US" dirty="0" err="1">
                <a:latin typeface="+mn-lt"/>
              </a:rPr>
              <a:t>Epididymis</a:t>
            </a:r>
            <a:endParaRPr lang="en-US" dirty="0">
              <a:latin typeface="+mn-lt"/>
            </a:endParaRPr>
          </a:p>
          <a:p>
            <a:pPr>
              <a:buFont typeface="Arial" pitchFamily="34" charset="0"/>
              <a:buChar char="•"/>
            </a:pPr>
            <a:r>
              <a:rPr lang="en-US" dirty="0">
                <a:latin typeface="+mn-lt"/>
              </a:rPr>
              <a:t> Vas deferens</a:t>
            </a:r>
          </a:p>
          <a:p>
            <a:pPr>
              <a:buFont typeface="Arial" pitchFamily="34" charset="0"/>
              <a:buChar char="•"/>
            </a:pPr>
            <a:r>
              <a:rPr lang="en-US" dirty="0">
                <a:latin typeface="+mn-lt"/>
              </a:rPr>
              <a:t> Seminal vesicles</a:t>
            </a:r>
          </a:p>
          <a:p>
            <a:pPr>
              <a:buFont typeface="Arial" pitchFamily="34" charset="0"/>
              <a:buChar char="•"/>
            </a:pPr>
            <a:r>
              <a:rPr lang="en-US" dirty="0">
                <a:latin typeface="+mn-lt"/>
              </a:rPr>
              <a:t> Ejaculatory duct</a:t>
            </a:r>
          </a:p>
          <a:p>
            <a:pPr>
              <a:buFont typeface="Arial" pitchFamily="34" charset="0"/>
              <a:buChar char="•"/>
            </a:pPr>
            <a:r>
              <a:rPr lang="en-US" dirty="0">
                <a:latin typeface="+mn-lt"/>
              </a:rPr>
              <a:t> Urethra</a:t>
            </a:r>
          </a:p>
          <a:p>
            <a:pPr>
              <a:buFont typeface="Arial" pitchFamily="34" charset="0"/>
              <a:buChar char="•"/>
            </a:pPr>
            <a:r>
              <a:rPr lang="en-US" dirty="0">
                <a:latin typeface="+mn-lt"/>
              </a:rPr>
              <a:t> Prostate gland</a:t>
            </a:r>
          </a:p>
          <a:p>
            <a:pPr>
              <a:buFont typeface="Arial" pitchFamily="34" charset="0"/>
              <a:buChar char="•"/>
            </a:pPr>
            <a:r>
              <a:rPr lang="en-US" dirty="0">
                <a:latin typeface="+mn-lt"/>
              </a:rPr>
              <a:t> </a:t>
            </a:r>
            <a:r>
              <a:rPr lang="en-US" dirty="0" err="1">
                <a:latin typeface="+mn-lt"/>
              </a:rPr>
              <a:t>Bulbourethral</a:t>
            </a:r>
            <a:r>
              <a:rPr lang="en-US" dirty="0">
                <a:latin typeface="+mn-lt"/>
              </a:rPr>
              <a:t> glands</a:t>
            </a:r>
          </a:p>
          <a:p>
            <a:pPr>
              <a:buFont typeface="Arial" pitchFamily="34" charset="0"/>
              <a:buChar char="•"/>
            </a:pPr>
            <a:r>
              <a:rPr lang="en-US" dirty="0">
                <a:latin typeface="+mn-lt"/>
              </a:rPr>
              <a:t> Penis</a:t>
            </a:r>
          </a:p>
          <a:p>
            <a:pPr>
              <a:buFont typeface="Arial" pitchFamily="34" charset="0"/>
              <a:buChar char="•"/>
            </a:pPr>
            <a:r>
              <a:rPr lang="en-US" dirty="0">
                <a:latin typeface="+mn-lt"/>
              </a:rPr>
              <a:t> </a:t>
            </a:r>
            <a:r>
              <a:rPr lang="en-US" dirty="0" err="1">
                <a:latin typeface="+mn-lt"/>
              </a:rPr>
              <a:t>Glans</a:t>
            </a:r>
            <a:r>
              <a:rPr lang="en-US" dirty="0">
                <a:latin typeface="+mn-lt"/>
              </a:rPr>
              <a:t> penis</a:t>
            </a:r>
          </a:p>
          <a:p>
            <a:pPr>
              <a:buFont typeface="Arial" pitchFamily="34" charset="0"/>
              <a:buChar char="•"/>
            </a:pPr>
            <a:r>
              <a:rPr lang="en-US" dirty="0">
                <a:latin typeface="+mn-lt"/>
              </a:rPr>
              <a:t> Prepuce (foreskin)</a:t>
            </a:r>
          </a:p>
        </p:txBody>
      </p:sp>
    </p:spTree>
    <p:extLst>
      <p:ext uri="{BB962C8B-B14F-4D97-AF65-F5344CB8AC3E}">
        <p14:creationId xmlns:p14="http://schemas.microsoft.com/office/powerpoint/2010/main" val="752963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027"/>
          <p:cNvSpPr>
            <a:spLocks noGrp="1" noChangeArrowheads="1"/>
          </p:cNvSpPr>
          <p:nvPr>
            <p:ph type="title"/>
          </p:nvPr>
        </p:nvSpPr>
        <p:spPr/>
        <p:txBody>
          <a:bodyPr/>
          <a:lstStyle/>
          <a:p>
            <a:pPr eaLnBrk="1" hangingPunct="1"/>
            <a:r>
              <a:rPr lang="en-US" altLang="en-US" sz="4000" dirty="0"/>
              <a:t>Anatomy of the Male Reproductive System (slide 2 of 4)</a:t>
            </a:r>
          </a:p>
        </p:txBody>
      </p:sp>
      <p:pic>
        <p:nvPicPr>
          <p:cNvPr id="6" name="Picture 1032" descr="Anatomical structures of the male reproductive system include testis, scrotum, perineum, seminiferous tubules, epididymis, vas deferens, seminal vesicles, ejaculatory duct, urethra, prostate gland, bulbourethral glands, penis, glans penis, and prepuce (foreski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5139"/>
          <a:stretch>
            <a:fillRect/>
          </a:stretch>
        </p:blipFill>
        <p:spPr bwMode="auto">
          <a:xfrm>
            <a:off x="1943266" y="1600200"/>
            <a:ext cx="525746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7791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1"/>
          <p:cNvSpPr>
            <a:spLocks noGrp="1" noChangeArrowheads="1"/>
          </p:cNvSpPr>
          <p:nvPr>
            <p:ph type="title"/>
          </p:nvPr>
        </p:nvSpPr>
        <p:spPr/>
        <p:txBody>
          <a:bodyPr/>
          <a:lstStyle/>
          <a:p>
            <a:pPr eaLnBrk="1" hangingPunct="1"/>
            <a:r>
              <a:rPr lang="en-US" altLang="en-US" sz="4000" dirty="0"/>
              <a:t>Anatomy of the Male Reproductive System (slide 3 of 4)</a:t>
            </a:r>
          </a:p>
        </p:txBody>
      </p:sp>
      <p:sp>
        <p:nvSpPr>
          <p:cNvPr id="16387" name="Rectangle 13"/>
          <p:cNvSpPr>
            <a:spLocks noGrp="1" noChangeArrowheads="1"/>
          </p:cNvSpPr>
          <p:nvPr>
            <p:ph sz="half" idx="1"/>
          </p:nvPr>
        </p:nvSpPr>
        <p:spPr>
          <a:xfrm>
            <a:off x="457200" y="1600201"/>
            <a:ext cx="5410200" cy="1295400"/>
          </a:xfrm>
        </p:spPr>
        <p:txBody>
          <a:bodyPr/>
          <a:lstStyle/>
          <a:p>
            <a:pPr eaLnBrk="1" hangingPunct="1"/>
            <a:r>
              <a:rPr lang="en-US" altLang="en-US" sz="2800" dirty="0"/>
              <a:t>Internal structure of the testis and the </a:t>
            </a:r>
            <a:r>
              <a:rPr lang="en-US" altLang="en-US" sz="2800" dirty="0" err="1"/>
              <a:t>epididymis</a:t>
            </a:r>
            <a:endParaRPr lang="en-US" altLang="en-US" sz="2800" dirty="0"/>
          </a:p>
        </p:txBody>
      </p:sp>
      <p:pic>
        <p:nvPicPr>
          <p:cNvPr id="6" name="Picture 19" descr="The interior of a testis is composed of a large mass of narrow, coiled tubules called the seminferous tubules. These tubules contain cells that manufacture spermatozoa. Sperm cells move through the tubules and collect in ducts that lead to a large tube, the epididymis, at the upper part of each testi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476750" y="2286477"/>
            <a:ext cx="3905250" cy="38206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9429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sz="4000" dirty="0"/>
              <a:t>Anatomy of the Male Reproductive System (slide 4 of 4)</a:t>
            </a:r>
          </a:p>
        </p:txBody>
      </p:sp>
      <p:sp>
        <p:nvSpPr>
          <p:cNvPr id="18435" name="Rectangle 3"/>
          <p:cNvSpPr>
            <a:spLocks noGrp="1" noChangeArrowheads="1"/>
          </p:cNvSpPr>
          <p:nvPr>
            <p:ph sz="half" idx="1"/>
          </p:nvPr>
        </p:nvSpPr>
        <p:spPr/>
        <p:txBody>
          <a:bodyPr/>
          <a:lstStyle/>
          <a:p>
            <a:pPr eaLnBrk="1" hangingPunct="1"/>
            <a:r>
              <a:rPr lang="en-US" altLang="en-US" sz="2800" dirty="0"/>
              <a:t>The passage of sperm from the </a:t>
            </a:r>
            <a:r>
              <a:rPr lang="en-US" altLang="en-US" sz="2800" dirty="0" err="1"/>
              <a:t>seminiferous</a:t>
            </a:r>
            <a:r>
              <a:rPr lang="en-US" altLang="en-US" sz="2800" dirty="0"/>
              <a:t> tubules to the outside of the body</a:t>
            </a:r>
          </a:p>
        </p:txBody>
      </p:sp>
      <p:pic>
        <p:nvPicPr>
          <p:cNvPr id="6" name="Picture 6" descr="The diagram traces the path of spermatozoa from their formation in the seminiferous tubules of the testes to the outside of the body."/>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963668" y="2034381"/>
            <a:ext cx="3407664" cy="3657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2309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 of 16)</a:t>
            </a:r>
          </a:p>
        </p:txBody>
      </p:sp>
      <p:graphicFrame>
        <p:nvGraphicFramePr>
          <p:cNvPr id="8" name="Content Placeholder 7" descr="Group 1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56530395"/>
              </p:ext>
            </p:extLst>
          </p:nvPr>
        </p:nvGraphicFramePr>
        <p:xfrm>
          <a:off x="3124200" y="2133600"/>
          <a:ext cx="2895600" cy="182880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bulbourethral glands</a:t>
                      </a:r>
                    </a:p>
                  </a:txBody>
                  <a:tcPr/>
                </a:tc>
                <a:extLst>
                  <a:ext uri="{0D108BD9-81ED-4DB2-BD59-A6C34878D82A}">
                    <a16:rowId xmlns:a16="http://schemas.microsoft.com/office/drawing/2014/main" val="10001"/>
                  </a:ext>
                </a:extLst>
              </a:tr>
              <a:tr h="370840">
                <a:tc>
                  <a:txBody>
                    <a:bodyPr/>
                    <a:lstStyle/>
                    <a:p>
                      <a:r>
                        <a:rPr lang="en-US" altLang="en-US" sz="2400" dirty="0"/>
                        <a:t>ejaculation</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ejaculatory duct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08155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2 of 16)</a:t>
            </a:r>
          </a:p>
        </p:txBody>
      </p:sp>
      <p:graphicFrame>
        <p:nvGraphicFramePr>
          <p:cNvPr id="8" name="Content Placeholder 7" descr="Group 1 of 8.  List of vocabulary terms  with corresponding meanings or definitions."/>
          <p:cNvGraphicFramePr>
            <a:graphicFrameLocks noGrp="1"/>
          </p:cNvGraphicFramePr>
          <p:nvPr>
            <p:ph idx="1"/>
            <p:extLst>
              <p:ext uri="{D42A27DB-BD31-4B8C-83A1-F6EECF244321}">
                <p14:modId xmlns:p14="http://schemas.microsoft.com/office/powerpoint/2010/main" val="1735501258"/>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bulbourethral glands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Pair of exocrine glands near male urethra; Cowper glands</a:t>
                      </a:r>
                    </a:p>
                  </a:txBody>
                  <a:tcPr/>
                </a:tc>
                <a:extLst>
                  <a:ext uri="{0D108BD9-81ED-4DB2-BD59-A6C34878D82A}">
                    <a16:rowId xmlns:a16="http://schemas.microsoft.com/office/drawing/2014/main" val="10001"/>
                  </a:ext>
                </a:extLst>
              </a:tr>
              <a:tr h="370840">
                <a:tc>
                  <a:txBody>
                    <a:bodyPr/>
                    <a:lstStyle/>
                    <a:p>
                      <a:r>
                        <a:rPr lang="en-US" altLang="en-US" sz="2400" dirty="0"/>
                        <a:t>ejaculation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Ejection of sperm and fluid from male urethra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ejaculatory duct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Tube through which semen enters the male urethra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3324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3 of 16)</a:t>
            </a:r>
          </a:p>
        </p:txBody>
      </p:sp>
      <p:graphicFrame>
        <p:nvGraphicFramePr>
          <p:cNvPr id="8" name="Content Placeholder 7" descr="Group 2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733746303"/>
              </p:ext>
            </p:extLst>
          </p:nvPr>
        </p:nvGraphicFramePr>
        <p:xfrm>
          <a:off x="2209800" y="2438400"/>
          <a:ext cx="4724400" cy="1828800"/>
        </p:xfrm>
        <a:graphic>
          <a:graphicData uri="http://schemas.openxmlformats.org/drawingml/2006/table">
            <a:tbl>
              <a:tblPr firstRow="1" bandRow="1">
                <a:tableStyleId>{5C22544A-7EE6-4342-B048-85BDC9FD1C3A}</a:tableStyleId>
              </a:tblPr>
              <a:tblGrid>
                <a:gridCol w="4724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epididymis (</a:t>
                      </a:r>
                      <a:r>
                        <a:rPr lang="en-US" sz="2400" i="1" dirty="0">
                          <a:ea typeface="ＭＳ Ｐゴシック" charset="0"/>
                        </a:rPr>
                        <a:t>pl.: </a:t>
                      </a:r>
                      <a:r>
                        <a:rPr lang="en-US" sz="2400" dirty="0" err="1">
                          <a:ea typeface="ＭＳ Ｐゴシック" charset="0"/>
                        </a:rPr>
                        <a:t>epididymides</a:t>
                      </a:r>
                      <a:r>
                        <a:rPr lang="en-US" sz="2400" dirty="0">
                          <a:ea typeface="ＭＳ Ｐゴシック" charset="0"/>
                        </a:rPr>
                        <a: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erectile dysfunction</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flagellum</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06678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4 of 16)</a:t>
            </a:r>
          </a:p>
        </p:txBody>
      </p:sp>
      <p:graphicFrame>
        <p:nvGraphicFramePr>
          <p:cNvPr id="8" name="Content Placeholder 7" descr="Group 2 of 8.  List of vocabulary terms  with corresponding meanings or definitions."/>
          <p:cNvGraphicFramePr>
            <a:graphicFrameLocks noGrp="1"/>
          </p:cNvGraphicFramePr>
          <p:nvPr>
            <p:ph idx="1"/>
            <p:extLst>
              <p:ext uri="{D42A27DB-BD31-4B8C-83A1-F6EECF244321}">
                <p14:modId xmlns:p14="http://schemas.microsoft.com/office/powerpoint/2010/main" val="3834266065"/>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epididymis (</a:t>
                      </a:r>
                      <a:r>
                        <a:rPr lang="en-US" sz="2400" i="1" dirty="0">
                          <a:ea typeface="ＭＳ Ｐゴシック" charset="0"/>
                        </a:rPr>
                        <a:t>pl.: </a:t>
                      </a:r>
                      <a:r>
                        <a:rPr lang="en-US" sz="2400" dirty="0" err="1">
                          <a:ea typeface="ＭＳ Ｐゴシック" charset="0"/>
                        </a:rPr>
                        <a:t>epididymides</a:t>
                      </a:r>
                      <a:r>
                        <a:rPr lang="en-US" sz="2400" dirty="0">
                          <a:ea typeface="ＭＳ Ｐゴシック"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One of a pair of long, tightly coiled tubes above each testis that stores and carries sperm to the vas deferens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erectile dysfunction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Inability of an adult male to achieve an erection; impotence</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flagellum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Hair-like projection on a sperm cell that makes it motile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273275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5 of 16)</a:t>
            </a:r>
          </a:p>
        </p:txBody>
      </p:sp>
      <p:graphicFrame>
        <p:nvGraphicFramePr>
          <p:cNvPr id="8" name="Content Placeholder 7" descr="Group 3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59129824"/>
              </p:ext>
            </p:extLst>
          </p:nvPr>
        </p:nvGraphicFramePr>
        <p:xfrm>
          <a:off x="3390900" y="2286000"/>
          <a:ext cx="2362200" cy="18288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fraternal twins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glans penis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identical twins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4657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6 of 16)</a:t>
            </a:r>
          </a:p>
        </p:txBody>
      </p:sp>
      <p:graphicFrame>
        <p:nvGraphicFramePr>
          <p:cNvPr id="8" name="Content Placeholder 7" descr="Group 3 of 8.  List of vocabulary terms  with corresponding meanings or definitions."/>
          <p:cNvGraphicFramePr>
            <a:graphicFrameLocks noGrp="1"/>
          </p:cNvGraphicFramePr>
          <p:nvPr>
            <p:ph idx="1"/>
            <p:extLst>
              <p:ext uri="{D42A27DB-BD31-4B8C-83A1-F6EECF244321}">
                <p14:modId xmlns:p14="http://schemas.microsoft.com/office/powerpoint/2010/main" val="4123261735"/>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fraternal twins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Two infants resulting from fertilization of two separate ova by two separate sperm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glans penis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Sensitive tip of the penis; comparable to the clitoris in the female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identical twins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Two infants resulting from division of one fertilized egg into two distinct embryos; conjoined (“Siamese”) twins are incompletely separated identical twins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5631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7 of 16)</a:t>
            </a:r>
          </a:p>
        </p:txBody>
      </p:sp>
      <p:graphicFrame>
        <p:nvGraphicFramePr>
          <p:cNvPr id="8" name="Content Placeholder 7" descr="Group 4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4132535"/>
              </p:ext>
            </p:extLst>
          </p:nvPr>
        </p:nvGraphicFramePr>
        <p:xfrm>
          <a:off x="2209800" y="2057400"/>
          <a:ext cx="4724400" cy="1828800"/>
        </p:xfrm>
        <a:graphic>
          <a:graphicData uri="http://schemas.openxmlformats.org/drawingml/2006/table">
            <a:tbl>
              <a:tblPr firstRow="1" bandRow="1">
                <a:tableStyleId>{5C22544A-7EE6-4342-B048-85BDC9FD1C3A}</a:tableStyleId>
              </a:tblPr>
              <a:tblGrid>
                <a:gridCol w="4724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interstitial cells  of the testes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parenchymal tissue</a:t>
                      </a:r>
                    </a:p>
                  </a:txBody>
                  <a:tcPr/>
                </a:tc>
                <a:extLst>
                  <a:ext uri="{0D108BD9-81ED-4DB2-BD59-A6C34878D82A}">
                    <a16:rowId xmlns:a16="http://schemas.microsoft.com/office/drawing/2014/main" val="10002"/>
                  </a:ext>
                </a:extLst>
              </a:tr>
              <a:tr h="370840">
                <a:tc>
                  <a:txBody>
                    <a:bodyPr/>
                    <a:lstStyle/>
                    <a:p>
                      <a:r>
                        <a:rPr lang="en-US" altLang="en-US" sz="2400" dirty="0"/>
                        <a:t>penis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89368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8 of 16)</a:t>
            </a:r>
          </a:p>
        </p:txBody>
      </p:sp>
      <p:graphicFrame>
        <p:nvGraphicFramePr>
          <p:cNvPr id="8" name="Content Placeholder 7" descr="Group 4 of 8.  List of vocabulary terms  with corresponding meanings or definitions."/>
          <p:cNvGraphicFramePr>
            <a:graphicFrameLocks noGrp="1"/>
          </p:cNvGraphicFramePr>
          <p:nvPr>
            <p:ph idx="1"/>
            <p:extLst>
              <p:ext uri="{D42A27DB-BD31-4B8C-83A1-F6EECF244321}">
                <p14:modId xmlns:p14="http://schemas.microsoft.com/office/powerpoint/2010/main" val="3377202582"/>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interstitial cells  of the testes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Specialized cells adjacent to the seminiferous tubules in the testes; produce testosterone; also called </a:t>
                      </a:r>
                      <a:r>
                        <a:rPr lang="en-US" altLang="en-US" sz="2400" dirty="0" err="1"/>
                        <a:t>Leydig</a:t>
                      </a:r>
                      <a:r>
                        <a:rPr lang="en-US" altLang="en-US" sz="2400" dirty="0"/>
                        <a:t> cells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parenchymal tissue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Essential distinctive cells of an organ</a:t>
                      </a:r>
                    </a:p>
                  </a:txBody>
                  <a:tcPr/>
                </a:tc>
                <a:extLst>
                  <a:ext uri="{0D108BD9-81ED-4DB2-BD59-A6C34878D82A}">
                    <a16:rowId xmlns:a16="http://schemas.microsoft.com/office/drawing/2014/main" val="10002"/>
                  </a:ext>
                </a:extLst>
              </a:tr>
              <a:tr h="370840">
                <a:tc>
                  <a:txBody>
                    <a:bodyPr/>
                    <a:lstStyle/>
                    <a:p>
                      <a:r>
                        <a:rPr lang="en-US" altLang="en-US" sz="2400" dirty="0"/>
                        <a:t>penis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Male external organ of reproduction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3121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9 of 16)</a:t>
            </a:r>
          </a:p>
        </p:txBody>
      </p:sp>
      <p:graphicFrame>
        <p:nvGraphicFramePr>
          <p:cNvPr id="8" name="Content Placeholder 7" descr="Group 5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728424717"/>
              </p:ext>
            </p:extLst>
          </p:nvPr>
        </p:nvGraphicFramePr>
        <p:xfrm>
          <a:off x="3390900" y="1981200"/>
          <a:ext cx="2362200" cy="22860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perineum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prepuce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prostate gland</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scrotum</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42222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10 of 16)</a:t>
            </a:r>
          </a:p>
        </p:txBody>
      </p:sp>
      <p:graphicFrame>
        <p:nvGraphicFramePr>
          <p:cNvPr id="8" name="Content Placeholder 7" descr="Group 5 of 8.  List of vocabulary terms  with corresponding meanings or definitions."/>
          <p:cNvGraphicFramePr>
            <a:graphicFrameLocks noGrp="1"/>
          </p:cNvGraphicFramePr>
          <p:nvPr>
            <p:ph idx="1"/>
            <p:extLst>
              <p:ext uri="{D42A27DB-BD31-4B8C-83A1-F6EECF244321}">
                <p14:modId xmlns:p14="http://schemas.microsoft.com/office/powerpoint/2010/main" val="1393853197"/>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perineum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External region between the anus and scrotum in the male</a:t>
                      </a:r>
                    </a:p>
                  </a:txBody>
                  <a:tcPr/>
                </a:tc>
                <a:extLst>
                  <a:ext uri="{0D108BD9-81ED-4DB2-BD59-A6C34878D82A}">
                    <a16:rowId xmlns:a16="http://schemas.microsoft.com/office/drawing/2014/main" val="10001"/>
                  </a:ext>
                </a:extLst>
              </a:tr>
              <a:tr h="370840">
                <a:tc>
                  <a:txBody>
                    <a:bodyPr/>
                    <a:lstStyle/>
                    <a:p>
                      <a:r>
                        <a:rPr lang="en-US" altLang="en-US" sz="2400" dirty="0"/>
                        <a:t>prepuce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Foreskin; fold of skin covering tip of penis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prostate gland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Exocrine gland at base of male urinary bladder; secretes fluid part of semen into urethra during ejaculation</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scrotum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ea typeface="ＭＳ Ｐゴシック" charset="0"/>
                        </a:rPr>
                        <a:t>External sac that contains the testes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18984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11 of 16)</a:t>
            </a:r>
          </a:p>
        </p:txBody>
      </p:sp>
      <p:graphicFrame>
        <p:nvGraphicFramePr>
          <p:cNvPr id="8" name="Content Placeholder 7" descr="Group 6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18527736"/>
              </p:ext>
            </p:extLst>
          </p:nvPr>
        </p:nvGraphicFramePr>
        <p:xfrm>
          <a:off x="3048000" y="2133600"/>
          <a:ext cx="2362200" cy="219456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semen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seminal vesicles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seminiferous tubules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71172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12 of 16)</a:t>
            </a:r>
          </a:p>
        </p:txBody>
      </p:sp>
      <p:graphicFrame>
        <p:nvGraphicFramePr>
          <p:cNvPr id="8" name="Content Placeholder 7" descr="Group 6 of 8.  List of vocabulary terms  with corresponding meanings or definitions."/>
          <p:cNvGraphicFramePr>
            <a:graphicFrameLocks noGrp="1"/>
          </p:cNvGraphicFramePr>
          <p:nvPr>
            <p:ph idx="1"/>
            <p:extLst>
              <p:ext uri="{D42A27DB-BD31-4B8C-83A1-F6EECF244321}">
                <p14:modId xmlns:p14="http://schemas.microsoft.com/office/powerpoint/2010/main" val="1413028096"/>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semen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Spermatozoa and seminal fluid discharged from the urethra during ejaculation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seminal vesicles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Paired sac-like exocrine glands that secrete fluid into the vas deferens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seminiferous tubules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Narrow, coiled tubules that produce sperm in the testes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33607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13 of 16)</a:t>
            </a:r>
          </a:p>
        </p:txBody>
      </p:sp>
      <p:graphicFrame>
        <p:nvGraphicFramePr>
          <p:cNvPr id="8" name="Content Placeholder 7" descr="Group 7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871637170"/>
              </p:ext>
            </p:extLst>
          </p:nvPr>
        </p:nvGraphicFramePr>
        <p:xfrm>
          <a:off x="2057400" y="2209800"/>
          <a:ext cx="5105400" cy="1828800"/>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spermatozoon (</a:t>
                      </a:r>
                      <a:r>
                        <a:rPr lang="en-US" altLang="en-US" sz="2400" i="1" dirty="0"/>
                        <a:t>pl. s</a:t>
                      </a:r>
                      <a:r>
                        <a:rPr lang="en-US" altLang="en-US" sz="2400" dirty="0"/>
                        <a:t>permatozoa)</a:t>
                      </a:r>
                    </a:p>
                  </a:txBody>
                  <a:tcPr/>
                </a:tc>
                <a:extLst>
                  <a:ext uri="{0D108BD9-81ED-4DB2-BD59-A6C34878D82A}">
                    <a16:rowId xmlns:a16="http://schemas.microsoft.com/office/drawing/2014/main" val="10001"/>
                  </a:ext>
                </a:extLst>
              </a:tr>
              <a:tr h="370840">
                <a:tc>
                  <a:txBody>
                    <a:bodyPr/>
                    <a:lstStyle/>
                    <a:p>
                      <a:r>
                        <a:rPr lang="en-US" altLang="en-US" sz="2400" dirty="0"/>
                        <a:t>sterilization</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stromal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5352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14 of 16)</a:t>
            </a:r>
          </a:p>
        </p:txBody>
      </p:sp>
      <p:graphicFrame>
        <p:nvGraphicFramePr>
          <p:cNvPr id="8" name="Content Placeholder 7" descr="Group 7 of 8.  List of vocabulary terms  with corresponding meanings or definitions."/>
          <p:cNvGraphicFramePr>
            <a:graphicFrameLocks noGrp="1"/>
          </p:cNvGraphicFramePr>
          <p:nvPr>
            <p:ph idx="1"/>
            <p:extLst>
              <p:ext uri="{D42A27DB-BD31-4B8C-83A1-F6EECF244321}">
                <p14:modId xmlns:p14="http://schemas.microsoft.com/office/powerpoint/2010/main" val="2816465816"/>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spermatozoon (</a:t>
                      </a:r>
                      <a:r>
                        <a:rPr lang="en-US" altLang="en-US" sz="2400" i="1" dirty="0"/>
                        <a:t>pl. s</a:t>
                      </a:r>
                      <a:r>
                        <a:rPr lang="en-US" altLang="en-US" sz="2400" dirty="0"/>
                        <a:t>permatozoa)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Sperm cell</a:t>
                      </a:r>
                    </a:p>
                    <a:p>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sterilization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Procedure that removes a person’s ability to produce or release reproductive cells through removal of testicles, vasectomy, or oophorectomy</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stromal tissue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Supportive, connective tissue or an organ; </a:t>
                      </a:r>
                      <a:r>
                        <a:rPr lang="en-US" altLang="en-US" sz="2400" dirty="0" err="1"/>
                        <a:t>stroma</a:t>
                      </a:r>
                      <a:endParaRPr lang="en-US" alt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21909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15 of 16)</a:t>
            </a:r>
          </a:p>
        </p:txBody>
      </p:sp>
      <p:graphicFrame>
        <p:nvGraphicFramePr>
          <p:cNvPr id="8" name="Content Placeholder 7" descr="Group 8 of 8: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507196881"/>
              </p:ext>
            </p:extLst>
          </p:nvPr>
        </p:nvGraphicFramePr>
        <p:xfrm>
          <a:off x="2628900" y="2362200"/>
          <a:ext cx="3886200" cy="18288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testis (</a:t>
                      </a:r>
                      <a:r>
                        <a:rPr lang="en-US" altLang="en-US" sz="2400" i="1" dirty="0"/>
                        <a:t>plural: </a:t>
                      </a:r>
                      <a:r>
                        <a:rPr lang="en-US" altLang="en-US" sz="2400" dirty="0"/>
                        <a:t>testes)</a:t>
                      </a:r>
                    </a:p>
                  </a:txBody>
                  <a:tcPr/>
                </a:tc>
                <a:extLst>
                  <a:ext uri="{0D108BD9-81ED-4DB2-BD59-A6C34878D82A}">
                    <a16:rowId xmlns:a16="http://schemas.microsoft.com/office/drawing/2014/main" val="10001"/>
                  </a:ext>
                </a:extLst>
              </a:tr>
              <a:tr h="370840">
                <a:tc>
                  <a:txBody>
                    <a:bodyPr/>
                    <a:lstStyle/>
                    <a:p>
                      <a:r>
                        <a:rPr lang="en-US" altLang="en-US" sz="2400" dirty="0"/>
                        <a:t>testosterone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vas deferens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3914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(Slide 16 of 16)</a:t>
            </a:r>
          </a:p>
        </p:txBody>
      </p:sp>
      <p:graphicFrame>
        <p:nvGraphicFramePr>
          <p:cNvPr id="8" name="Content Placeholder 7" descr="Group 8 of 8.  List of vocabulary terms  with corresponding meanings or definitions."/>
          <p:cNvGraphicFramePr>
            <a:graphicFrameLocks noGrp="1"/>
          </p:cNvGraphicFramePr>
          <p:nvPr>
            <p:ph idx="1"/>
            <p:extLst>
              <p:ext uri="{D42A27DB-BD31-4B8C-83A1-F6EECF244321}">
                <p14:modId xmlns:p14="http://schemas.microsoft.com/office/powerpoint/2010/main" val="588854146"/>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5867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testis (</a:t>
                      </a:r>
                      <a:r>
                        <a:rPr lang="en-US" altLang="en-US" sz="2400" i="1" dirty="0"/>
                        <a:t>plural: </a:t>
                      </a:r>
                      <a:r>
                        <a:rPr lang="en-US" altLang="en-US" sz="2400" dirty="0"/>
                        <a:t>testes)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Male gonad (testicle) that produces spermatozoa and testosterone</a:t>
                      </a:r>
                    </a:p>
                  </a:txBody>
                  <a:tcPr/>
                </a:tc>
                <a:extLst>
                  <a:ext uri="{0D108BD9-81ED-4DB2-BD59-A6C34878D82A}">
                    <a16:rowId xmlns:a16="http://schemas.microsoft.com/office/drawing/2014/main" val="10001"/>
                  </a:ext>
                </a:extLst>
              </a:tr>
              <a:tr h="370840">
                <a:tc>
                  <a:txBody>
                    <a:bodyPr/>
                    <a:lstStyle/>
                    <a:p>
                      <a:r>
                        <a:rPr lang="en-US" altLang="en-US" sz="2400" dirty="0"/>
                        <a:t>testosterone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Hormone secreted by interstitial tissue of the testes; responsible for male sex characteristics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vas deferens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Narrow tube carrying sperm from the epididymis toward the urethra; </a:t>
                      </a:r>
                      <a:r>
                        <a:rPr lang="en-US" altLang="en-US" sz="2400" dirty="0" err="1"/>
                        <a:t>ductus</a:t>
                      </a:r>
                      <a:r>
                        <a:rPr lang="en-US" altLang="en-US" sz="2400" dirty="0"/>
                        <a:t> deferens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97237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6"/>
          <p:cNvSpPr>
            <a:spLocks noGrp="1" noChangeArrowheads="1"/>
          </p:cNvSpPr>
          <p:nvPr>
            <p:ph type="title"/>
          </p:nvPr>
        </p:nvSpPr>
        <p:spPr>
          <a:xfrm>
            <a:off x="304800" y="228600"/>
            <a:ext cx="7772400" cy="1219200"/>
          </a:xfrm>
        </p:spPr>
        <p:txBody>
          <a:bodyPr/>
          <a:lstStyle/>
          <a:p>
            <a:pPr eaLnBrk="1" hangingPunct="1"/>
            <a:r>
              <a:rPr lang="en-US" altLang="en-US" dirty="0"/>
              <a:t>      QUICK QUIZ (Slide 1 of 4)</a:t>
            </a:r>
          </a:p>
        </p:txBody>
      </p:sp>
      <p:sp>
        <p:nvSpPr>
          <p:cNvPr id="35843" name="Rectangle 1027"/>
          <p:cNvSpPr>
            <a:spLocks noGrp="1" noChangeArrowheads="1"/>
          </p:cNvSpPr>
          <p:nvPr>
            <p:ph idx="1"/>
          </p:nvPr>
        </p:nvSpPr>
        <p:spPr>
          <a:xfrm>
            <a:off x="685800" y="1600200"/>
            <a:ext cx="6934200" cy="3370263"/>
          </a:xfrm>
        </p:spPr>
        <p:txBody>
          <a:bodyPr>
            <a:spAutoFit/>
          </a:bodyPr>
          <a:lstStyle/>
          <a:p>
            <a:pPr marL="533400" indent="-533400" eaLnBrk="1" hangingPunct="1">
              <a:buFont typeface="Wingdings 2" panose="05020102010507070707" pitchFamily="18" charset="2"/>
              <a:buNone/>
            </a:pPr>
            <a:r>
              <a:rPr lang="en-US" altLang="en-US" b="1"/>
              <a:t>1.  Which term refers to the skin covering the tip of the penis?</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Stroma</a:t>
            </a:r>
          </a:p>
          <a:p>
            <a:pPr marL="533400" indent="-533400" eaLnBrk="1" hangingPunct="1">
              <a:lnSpc>
                <a:spcPct val="65000"/>
              </a:lnSpc>
              <a:buFont typeface="Wingdings 2" panose="05020102010507070707" pitchFamily="18" charset="2"/>
              <a:buNone/>
            </a:pPr>
            <a:r>
              <a:rPr lang="en-US" altLang="en-US"/>
              <a:t>	B.  Vas deferens</a:t>
            </a:r>
          </a:p>
          <a:p>
            <a:pPr marL="533400" indent="-533400" eaLnBrk="1" hangingPunct="1">
              <a:lnSpc>
                <a:spcPct val="65000"/>
              </a:lnSpc>
              <a:buFont typeface="Wingdings 2" panose="05020102010507070707" pitchFamily="18" charset="2"/>
              <a:buNone/>
            </a:pPr>
            <a:r>
              <a:rPr lang="en-US" altLang="en-US"/>
              <a:t>	C.  Prepuce</a:t>
            </a:r>
          </a:p>
          <a:p>
            <a:pPr marL="533400" indent="-533400" eaLnBrk="1" hangingPunct="1">
              <a:lnSpc>
                <a:spcPct val="65000"/>
              </a:lnSpc>
              <a:buFont typeface="Wingdings 2" panose="05020102010507070707" pitchFamily="18" charset="2"/>
              <a:buNone/>
            </a:pPr>
            <a:r>
              <a:rPr lang="en-US" altLang="en-US"/>
              <a:t>	D.  Seminal vesicle</a:t>
            </a:r>
          </a:p>
        </p:txBody>
      </p:sp>
    </p:spTree>
    <p:extLst>
      <p:ext uri="{BB962C8B-B14F-4D97-AF65-F5344CB8AC3E}">
        <p14:creationId xmlns:p14="http://schemas.microsoft.com/office/powerpoint/2010/main" val="1493961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 Combining Forms</a:t>
            </a:r>
            <a:br>
              <a:rPr lang="en-US" dirty="0"/>
            </a:br>
            <a:r>
              <a:rPr lang="en-US" sz="4000" dirty="0"/>
              <a:t>(Slide 1 of 2)</a:t>
            </a:r>
          </a:p>
        </p:txBody>
      </p:sp>
      <p:graphicFrame>
        <p:nvGraphicFramePr>
          <p:cNvPr id="7" name="Content Placeholder 6" descr="Group 1 of 2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3690737446"/>
              </p:ext>
            </p:extLst>
          </p:nvPr>
        </p:nvGraphicFramePr>
        <p:xfrm>
          <a:off x="457200" y="1600200"/>
          <a:ext cx="8229600" cy="4480560"/>
        </p:xfrm>
        <a:graphic>
          <a:graphicData uri="http://schemas.openxmlformats.org/drawingml/2006/table">
            <a:tbl>
              <a:tblPr firstRow="1" bandRow="1">
                <a:tableStyleId>{68D230F3-CF80-4859-8CE7-A43EE81993B5}</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kumimoji="1" lang="en-US" altLang="en-US" sz="2400" b="1" dirty="0" err="1"/>
                        <a:t>andr</a:t>
                      </a:r>
                      <a:r>
                        <a:rPr kumimoji="1" lang="en-US" altLang="en-US" sz="2400" b="1" dirty="0"/>
                        <a:t>/o</a:t>
                      </a:r>
                      <a:endParaRPr lang="en-US" sz="2400" dirty="0"/>
                    </a:p>
                  </a:txBody>
                  <a:tcPr/>
                </a:tc>
                <a:tc>
                  <a:txBody>
                    <a:bodyPr/>
                    <a:lstStyle/>
                    <a:p>
                      <a:r>
                        <a:rPr kumimoji="1" lang="en-US" altLang="en-US" sz="2400" dirty="0"/>
                        <a:t>male</a:t>
                      </a:r>
                      <a:endParaRPr lang="en-US" sz="2400" dirty="0"/>
                    </a:p>
                  </a:txBody>
                  <a:tcPr/>
                </a:tc>
                <a:extLst>
                  <a:ext uri="{0D108BD9-81ED-4DB2-BD59-A6C34878D82A}">
                    <a16:rowId xmlns:a16="http://schemas.microsoft.com/office/drawing/2014/main" val="10001"/>
                  </a:ext>
                </a:extLst>
              </a:tr>
              <a:tr h="370840">
                <a:tc>
                  <a:txBody>
                    <a:bodyPr/>
                    <a:lstStyle/>
                    <a:p>
                      <a:r>
                        <a:rPr kumimoji="1" lang="en-US" altLang="en-US" sz="2400" b="1" dirty="0" err="1"/>
                        <a:t>balan</a:t>
                      </a:r>
                      <a:r>
                        <a:rPr kumimoji="1" lang="en-US" altLang="en-US" sz="2400" b="1" dirty="0"/>
                        <a:t>/o</a:t>
                      </a:r>
                      <a:endParaRPr lang="en-US" sz="2400" dirty="0"/>
                    </a:p>
                  </a:txBody>
                  <a:tcPr/>
                </a:tc>
                <a:tc>
                  <a:txBody>
                    <a:bodyPr/>
                    <a:lstStyle/>
                    <a:p>
                      <a:r>
                        <a:rPr kumimoji="1" lang="en-US" altLang="en-US" sz="2400" dirty="0"/>
                        <a:t>glans penis</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a:t>cry/o</a:t>
                      </a:r>
                      <a:endParaRPr lang="en-US" sz="2400" dirty="0"/>
                    </a:p>
                  </a:txBody>
                  <a:tcPr/>
                </a:tc>
                <a:tc>
                  <a:txBody>
                    <a:bodyPr/>
                    <a:lstStyle/>
                    <a:p>
                      <a:r>
                        <a:rPr kumimoji="1" lang="en-US" altLang="en-US" sz="2400" dirty="0"/>
                        <a:t>cold</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crypt/o</a:t>
                      </a:r>
                      <a:endParaRPr lang="en-US" sz="2400" dirty="0"/>
                    </a:p>
                  </a:txBody>
                  <a:tcPr/>
                </a:tc>
                <a:tc>
                  <a:txBody>
                    <a:bodyPr/>
                    <a:lstStyle/>
                    <a:p>
                      <a:r>
                        <a:rPr kumimoji="1" lang="en-US" altLang="en-US" sz="2400" dirty="0"/>
                        <a:t>hidden</a:t>
                      </a:r>
                      <a:endParaRPr lang="en-US" sz="2400" dirty="0"/>
                    </a:p>
                  </a:txBody>
                  <a:tcPr/>
                </a:tc>
                <a:extLst>
                  <a:ext uri="{0D108BD9-81ED-4DB2-BD59-A6C34878D82A}">
                    <a16:rowId xmlns:a16="http://schemas.microsoft.com/office/drawing/2014/main" val="10004"/>
                  </a:ext>
                </a:extLst>
              </a:tr>
              <a:tr h="370840">
                <a:tc>
                  <a:txBody>
                    <a:bodyPr/>
                    <a:lstStyle/>
                    <a:p>
                      <a:r>
                        <a:rPr kumimoji="1" lang="en-US" altLang="en-US" sz="2400" b="1" dirty="0" err="1"/>
                        <a:t>epididym</a:t>
                      </a:r>
                      <a:r>
                        <a:rPr kumimoji="1" lang="en-US" altLang="en-US" sz="2400" b="1" dirty="0"/>
                        <a:t>/o</a:t>
                      </a:r>
                      <a:endParaRPr lang="en-US" sz="2400" dirty="0"/>
                    </a:p>
                  </a:txBody>
                  <a:tcPr/>
                </a:tc>
                <a:tc>
                  <a:txBody>
                    <a:bodyPr/>
                    <a:lstStyle/>
                    <a:p>
                      <a:r>
                        <a:rPr kumimoji="1" lang="en-US" altLang="en-US" sz="2400" dirty="0"/>
                        <a:t>epididymis</a:t>
                      </a:r>
                      <a:endParaRPr lang="en-US" sz="2400" dirty="0"/>
                    </a:p>
                  </a:txBody>
                  <a:tcPr/>
                </a:tc>
                <a:extLst>
                  <a:ext uri="{0D108BD9-81ED-4DB2-BD59-A6C34878D82A}">
                    <a16:rowId xmlns:a16="http://schemas.microsoft.com/office/drawing/2014/main" val="10005"/>
                  </a:ext>
                </a:extLst>
              </a:tr>
              <a:tr h="370840">
                <a:tc>
                  <a:txBody>
                    <a:bodyPr/>
                    <a:lstStyle/>
                    <a:p>
                      <a:r>
                        <a:rPr kumimoji="1" lang="en-US" altLang="en-US" sz="2400" b="1" dirty="0" err="1"/>
                        <a:t>gon</a:t>
                      </a:r>
                      <a:r>
                        <a:rPr kumimoji="1" lang="en-US" altLang="en-US" sz="2400" b="1" dirty="0"/>
                        <a:t>/o</a:t>
                      </a:r>
                      <a:endParaRPr lang="en-US" sz="2400" dirty="0"/>
                    </a:p>
                  </a:txBody>
                  <a:tcPr/>
                </a:tc>
                <a:tc>
                  <a:txBody>
                    <a:bodyPr/>
                    <a:lstStyle/>
                    <a:p>
                      <a:r>
                        <a:rPr kumimoji="1" lang="en-US" altLang="en-US" sz="2400" dirty="0"/>
                        <a:t>seed</a:t>
                      </a:r>
                      <a:endParaRPr lang="en-US" sz="2400" dirty="0"/>
                    </a:p>
                  </a:txBody>
                  <a:tcPr/>
                </a:tc>
                <a:extLst>
                  <a:ext uri="{0D108BD9-81ED-4DB2-BD59-A6C34878D82A}">
                    <a16:rowId xmlns:a16="http://schemas.microsoft.com/office/drawing/2014/main" val="10006"/>
                  </a:ext>
                </a:extLst>
              </a:tr>
              <a:tr h="370840">
                <a:tc>
                  <a:txBody>
                    <a:bodyPr/>
                    <a:lstStyle/>
                    <a:p>
                      <a:r>
                        <a:rPr kumimoji="1" lang="en-US" altLang="en-US" sz="2400" b="1" dirty="0" err="1"/>
                        <a:t>hydr</a:t>
                      </a:r>
                      <a:r>
                        <a:rPr kumimoji="1" lang="en-US" altLang="en-US" sz="2400" b="1" dirty="0"/>
                        <a:t>/o</a:t>
                      </a:r>
                      <a:endParaRPr lang="en-US" sz="2400" dirty="0"/>
                    </a:p>
                  </a:txBody>
                  <a:tcPr/>
                </a:tc>
                <a:tc>
                  <a:txBody>
                    <a:bodyPr/>
                    <a:lstStyle/>
                    <a:p>
                      <a:r>
                        <a:rPr kumimoji="1" lang="en-US" altLang="en-US" sz="2400" dirty="0"/>
                        <a:t>water, fluid</a:t>
                      </a:r>
                      <a:endParaRPr lang="en-US" sz="2400" dirty="0"/>
                    </a:p>
                  </a:txBody>
                  <a:tcPr/>
                </a:tc>
                <a:extLst>
                  <a:ext uri="{0D108BD9-81ED-4DB2-BD59-A6C34878D82A}">
                    <a16:rowId xmlns:a16="http://schemas.microsoft.com/office/drawing/2014/main" val="10007"/>
                  </a:ext>
                </a:extLst>
              </a:tr>
              <a:tr h="370840">
                <a:tc>
                  <a:txBody>
                    <a:bodyPr/>
                    <a:lstStyle/>
                    <a:p>
                      <a:r>
                        <a:rPr kumimoji="1" lang="en-US" altLang="en-US" sz="2400" b="1" dirty="0" err="1"/>
                        <a:t>orch</a:t>
                      </a:r>
                      <a:r>
                        <a:rPr kumimoji="1" lang="en-US" altLang="en-US" sz="2400" b="1" dirty="0"/>
                        <a:t>/o, </a:t>
                      </a:r>
                      <a:r>
                        <a:rPr kumimoji="1" lang="en-US" altLang="en-US" sz="2400" b="1" dirty="0" err="1"/>
                        <a:t>orchi</a:t>
                      </a:r>
                      <a:r>
                        <a:rPr kumimoji="1" lang="en-US" altLang="en-US" sz="2400" b="1" dirty="0"/>
                        <a:t>/o</a:t>
                      </a:r>
                      <a:r>
                        <a:rPr kumimoji="1" lang="en-US" altLang="en-US" sz="2400" dirty="0"/>
                        <a:t>, </a:t>
                      </a:r>
                      <a:r>
                        <a:rPr kumimoji="1" lang="en-US" altLang="en-US" sz="2400" b="1" dirty="0"/>
                        <a:t>orchid/o</a:t>
                      </a:r>
                      <a:endParaRPr lang="en-US" sz="2400" dirty="0"/>
                    </a:p>
                  </a:txBody>
                  <a:tcPr/>
                </a:tc>
                <a:tc>
                  <a:txBody>
                    <a:bodyPr/>
                    <a:lstStyle/>
                    <a:p>
                      <a:r>
                        <a:rPr kumimoji="1" lang="en-US" altLang="en-US" sz="2400" dirty="0"/>
                        <a:t>testis, testicle</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877347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Terminology – Combining Forms</a:t>
            </a:r>
            <a:br>
              <a:rPr lang="en-US" dirty="0"/>
            </a:br>
            <a:r>
              <a:rPr lang="en-US" sz="4000" dirty="0"/>
              <a:t>(Slide 2 of 2)</a:t>
            </a:r>
          </a:p>
        </p:txBody>
      </p:sp>
      <p:graphicFrame>
        <p:nvGraphicFramePr>
          <p:cNvPr id="7" name="Content Placeholder 6" descr="Group 2 of 2 combining form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886925222"/>
              </p:ext>
            </p:extLst>
          </p:nvPr>
        </p:nvGraphicFramePr>
        <p:xfrm>
          <a:off x="457200" y="1600200"/>
          <a:ext cx="8229600" cy="4572000"/>
        </p:xfrm>
        <a:graphic>
          <a:graphicData uri="http://schemas.openxmlformats.org/drawingml/2006/table">
            <a:tbl>
              <a:tblPr firstRow="1" bandRow="1">
                <a:tableStyleId>{68D230F3-CF80-4859-8CE7-A43EE81993B5}</a:tableStyleId>
              </a:tblPr>
              <a:tblGrid>
                <a:gridCol w="28956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pen/o</a:t>
                      </a:r>
                      <a:endParaRPr lang="en-US" sz="2400" dirty="0"/>
                    </a:p>
                  </a:txBody>
                  <a:tcPr/>
                </a:tc>
                <a:tc>
                  <a:txBody>
                    <a:bodyPr/>
                    <a:lstStyle/>
                    <a:p>
                      <a:r>
                        <a:rPr lang="en-US" altLang="en-US" sz="2400" dirty="0"/>
                        <a:t>penis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prostat</a:t>
                      </a:r>
                      <a:r>
                        <a:rPr lang="en-US" altLang="en-US" sz="2400" b="1" dirty="0"/>
                        <a:t>/o</a:t>
                      </a:r>
                      <a:endParaRPr lang="en-US" sz="2400" dirty="0"/>
                    </a:p>
                  </a:txBody>
                  <a:tcPr/>
                </a:tc>
                <a:tc>
                  <a:txBody>
                    <a:bodyPr/>
                    <a:lstStyle/>
                    <a:p>
                      <a:r>
                        <a:rPr kumimoji="1" lang="en-US" altLang="en-US" sz="2400" dirty="0"/>
                        <a:t>prostate gland</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err="1"/>
                        <a:t>semin</a:t>
                      </a:r>
                      <a:r>
                        <a:rPr kumimoji="1" lang="en-US" altLang="en-US" sz="2400" b="1" dirty="0"/>
                        <a:t>/</a:t>
                      </a:r>
                      <a:r>
                        <a:rPr kumimoji="1" lang="en-US" altLang="en-US" sz="2400" b="1" dirty="0" err="1"/>
                        <a:t>i</a:t>
                      </a:r>
                      <a:endParaRPr lang="en-US" sz="2400" dirty="0"/>
                    </a:p>
                  </a:txBody>
                  <a:tcPr/>
                </a:tc>
                <a:tc>
                  <a:txBody>
                    <a:bodyPr/>
                    <a:lstStyle/>
                    <a:p>
                      <a:r>
                        <a:rPr kumimoji="1" lang="en-US" altLang="en-US" sz="2400" dirty="0"/>
                        <a:t>semen, seed</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sperm/o</a:t>
                      </a:r>
                      <a:endParaRPr lang="en-US" sz="2400" dirty="0"/>
                    </a:p>
                  </a:txBody>
                  <a:tcPr/>
                </a:tc>
                <a:tc>
                  <a:txBody>
                    <a:bodyPr/>
                    <a:lstStyle/>
                    <a:p>
                      <a:r>
                        <a:rPr kumimoji="1" lang="en-US" altLang="en-US" sz="2400" dirty="0"/>
                        <a:t>spermatozoa, semen</a:t>
                      </a:r>
                      <a:endParaRPr lang="en-US" sz="2400" dirty="0"/>
                    </a:p>
                  </a:txBody>
                  <a:tcPr/>
                </a:tc>
                <a:extLst>
                  <a:ext uri="{0D108BD9-81ED-4DB2-BD59-A6C34878D82A}">
                    <a16:rowId xmlns:a16="http://schemas.microsoft.com/office/drawing/2014/main" val="10004"/>
                  </a:ext>
                </a:extLst>
              </a:tr>
              <a:tr h="370840">
                <a:tc>
                  <a:txBody>
                    <a:bodyPr/>
                    <a:lstStyle/>
                    <a:p>
                      <a:r>
                        <a:rPr kumimoji="1" lang="en-US" altLang="en-US" sz="2400" b="1" dirty="0" err="1"/>
                        <a:t>terat</a:t>
                      </a:r>
                      <a:r>
                        <a:rPr kumimoji="1" lang="en-US" altLang="en-US" sz="2400" b="1" dirty="0"/>
                        <a:t>/o</a:t>
                      </a:r>
                      <a:endParaRPr lang="en-US" sz="2400" dirty="0"/>
                    </a:p>
                  </a:txBody>
                  <a:tcPr/>
                </a:tc>
                <a:tc>
                  <a:txBody>
                    <a:bodyPr/>
                    <a:lstStyle/>
                    <a:p>
                      <a:r>
                        <a:rPr kumimoji="1" lang="en-US" altLang="en-US" sz="2400" dirty="0"/>
                        <a:t>monster</a:t>
                      </a:r>
                      <a:endParaRPr lang="en-US" sz="2400" dirty="0"/>
                    </a:p>
                  </a:txBody>
                  <a:tcPr/>
                </a:tc>
                <a:extLst>
                  <a:ext uri="{0D108BD9-81ED-4DB2-BD59-A6C34878D82A}">
                    <a16:rowId xmlns:a16="http://schemas.microsoft.com/office/drawing/2014/main" val="10005"/>
                  </a:ext>
                </a:extLst>
              </a:tr>
              <a:tr h="370840">
                <a:tc>
                  <a:txBody>
                    <a:bodyPr/>
                    <a:lstStyle/>
                    <a:p>
                      <a:r>
                        <a:rPr kumimoji="1" lang="en-US" altLang="en-US" sz="2400" b="1" dirty="0"/>
                        <a:t>test/o</a:t>
                      </a:r>
                      <a:endParaRPr lang="en-US" sz="2400" dirty="0"/>
                    </a:p>
                  </a:txBody>
                  <a:tcPr/>
                </a:tc>
                <a:tc>
                  <a:txBody>
                    <a:bodyPr/>
                    <a:lstStyle/>
                    <a:p>
                      <a:r>
                        <a:rPr kumimoji="1" lang="en-US" altLang="en-US" sz="2400" dirty="0"/>
                        <a:t>testis, testicle</a:t>
                      </a:r>
                      <a:endParaRPr lang="en-US" sz="2400" dirty="0"/>
                    </a:p>
                  </a:txBody>
                  <a:tcPr/>
                </a:tc>
                <a:extLst>
                  <a:ext uri="{0D108BD9-81ED-4DB2-BD59-A6C34878D82A}">
                    <a16:rowId xmlns:a16="http://schemas.microsoft.com/office/drawing/2014/main" val="10006"/>
                  </a:ext>
                </a:extLst>
              </a:tr>
              <a:tr h="370840">
                <a:tc>
                  <a:txBody>
                    <a:bodyPr/>
                    <a:lstStyle/>
                    <a:p>
                      <a:r>
                        <a:rPr kumimoji="1" lang="en-US" altLang="en-US" sz="2400" b="1" dirty="0" err="1"/>
                        <a:t>varic</a:t>
                      </a:r>
                      <a:r>
                        <a:rPr kumimoji="1" lang="en-US" altLang="en-US" sz="2400" b="1" dirty="0"/>
                        <a:t>/o</a:t>
                      </a:r>
                      <a:endParaRPr lang="en-US" sz="2400" dirty="0"/>
                    </a:p>
                  </a:txBody>
                  <a:tcPr/>
                </a:tc>
                <a:tc>
                  <a:txBody>
                    <a:bodyPr/>
                    <a:lstStyle/>
                    <a:p>
                      <a:r>
                        <a:rPr kumimoji="1" lang="en-US" altLang="en-US" sz="2400" dirty="0"/>
                        <a:t>varicose veins</a:t>
                      </a:r>
                      <a:endParaRPr lang="en-US" sz="2400" dirty="0"/>
                    </a:p>
                  </a:txBody>
                  <a:tcPr/>
                </a:tc>
                <a:extLst>
                  <a:ext uri="{0D108BD9-81ED-4DB2-BD59-A6C34878D82A}">
                    <a16:rowId xmlns:a16="http://schemas.microsoft.com/office/drawing/2014/main" val="10007"/>
                  </a:ext>
                </a:extLst>
              </a:tr>
              <a:tr h="370840">
                <a:tc>
                  <a:txBody>
                    <a:bodyPr/>
                    <a:lstStyle/>
                    <a:p>
                      <a:r>
                        <a:rPr kumimoji="1" lang="en-US" altLang="en-US" sz="2400" b="1" dirty="0"/>
                        <a:t>vas/o</a:t>
                      </a:r>
                      <a:endParaRPr lang="en-US" sz="2400" dirty="0"/>
                    </a:p>
                  </a:txBody>
                  <a:tcPr/>
                </a:tc>
                <a:tc>
                  <a:txBody>
                    <a:bodyPr/>
                    <a:lstStyle/>
                    <a:p>
                      <a:r>
                        <a:rPr kumimoji="1" lang="en-US" altLang="en-US" sz="2400" dirty="0"/>
                        <a:t>vessel duct</a:t>
                      </a:r>
                      <a:endParaRPr lang="en-US" sz="2400" dirty="0"/>
                    </a:p>
                  </a:txBody>
                  <a:tcPr/>
                </a:tc>
                <a:extLst>
                  <a:ext uri="{0D108BD9-81ED-4DB2-BD59-A6C34878D82A}">
                    <a16:rowId xmlns:a16="http://schemas.microsoft.com/office/drawing/2014/main" val="10008"/>
                  </a:ext>
                </a:extLst>
              </a:tr>
              <a:tr h="370840">
                <a:tc>
                  <a:txBody>
                    <a:bodyPr/>
                    <a:lstStyle/>
                    <a:p>
                      <a:r>
                        <a:rPr kumimoji="1" lang="en-US" altLang="en-US" sz="2400" b="1" dirty="0" err="1"/>
                        <a:t>zo</a:t>
                      </a:r>
                      <a:r>
                        <a:rPr kumimoji="1" lang="en-US" altLang="en-US" sz="2400" b="1" dirty="0"/>
                        <a:t>/o</a:t>
                      </a:r>
                      <a:endParaRPr lang="en-US" sz="2400" dirty="0"/>
                    </a:p>
                  </a:txBody>
                  <a:tcPr/>
                </a:tc>
                <a:tc>
                  <a:txBody>
                    <a:bodyPr/>
                    <a:lstStyle/>
                    <a:p>
                      <a:r>
                        <a:rPr kumimoji="1" lang="en-US" altLang="en-US" sz="2400" dirty="0"/>
                        <a:t>animal life</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591022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200" dirty="0"/>
              <a:t>Terminology – Suffixes (Slide 1 of 1)</a:t>
            </a:r>
          </a:p>
        </p:txBody>
      </p:sp>
      <p:graphicFrame>
        <p:nvGraphicFramePr>
          <p:cNvPr id="7" name="Content Placeholder 6" descr="List of suffixes from the Terminology section of the textbook  with corresponding meanings or definitions. "/>
          <p:cNvGraphicFramePr>
            <a:graphicFrameLocks noGrp="1"/>
          </p:cNvGraphicFramePr>
          <p:nvPr>
            <p:ph idx="1"/>
            <p:extLst>
              <p:ext uri="{D42A27DB-BD31-4B8C-83A1-F6EECF244321}">
                <p14:modId xmlns:p14="http://schemas.microsoft.com/office/powerpoint/2010/main" val="1611455668"/>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kumimoji="1" lang="en-US" altLang="en-US" sz="2400" b="1" dirty="0"/>
                        <a:t>-genesis</a:t>
                      </a:r>
                      <a:endParaRPr lang="en-US" sz="2400" dirty="0"/>
                    </a:p>
                  </a:txBody>
                  <a:tcPr/>
                </a:tc>
                <a:tc>
                  <a:txBody>
                    <a:bodyPr/>
                    <a:lstStyle/>
                    <a:p>
                      <a:r>
                        <a:rPr kumimoji="1" lang="en-US" altLang="en-US" sz="2400" dirty="0"/>
                        <a:t>formation</a:t>
                      </a:r>
                      <a:endParaRPr lang="en-US" sz="2400" dirty="0"/>
                    </a:p>
                  </a:txBody>
                  <a:tcPr/>
                </a:tc>
                <a:extLst>
                  <a:ext uri="{0D108BD9-81ED-4DB2-BD59-A6C34878D82A}">
                    <a16:rowId xmlns:a16="http://schemas.microsoft.com/office/drawing/2014/main" val="10001"/>
                  </a:ext>
                </a:extLst>
              </a:tr>
              <a:tr h="370840">
                <a:tc>
                  <a:txBody>
                    <a:bodyPr/>
                    <a:lstStyle/>
                    <a:p>
                      <a:r>
                        <a:rPr kumimoji="1" lang="en-US" altLang="en-US" sz="2400" b="1" dirty="0"/>
                        <a:t>-one</a:t>
                      </a:r>
                      <a:endParaRPr lang="en-US" sz="2400" dirty="0"/>
                    </a:p>
                  </a:txBody>
                  <a:tcPr/>
                </a:tc>
                <a:tc>
                  <a:txBody>
                    <a:bodyPr/>
                    <a:lstStyle/>
                    <a:p>
                      <a:r>
                        <a:rPr kumimoji="1" lang="en-US" altLang="en-US" sz="2400" dirty="0"/>
                        <a:t>hormone</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a:t>-</a:t>
                      </a:r>
                      <a:r>
                        <a:rPr kumimoji="1" lang="en-US" altLang="en-US" sz="2400" b="1" dirty="0" err="1"/>
                        <a:t>pexy</a:t>
                      </a:r>
                      <a:endParaRPr lang="en-US" sz="2400" dirty="0"/>
                    </a:p>
                  </a:txBody>
                  <a:tcPr/>
                </a:tc>
                <a:tc>
                  <a:txBody>
                    <a:bodyPr/>
                    <a:lstStyle/>
                    <a:p>
                      <a:r>
                        <a:rPr kumimoji="1" lang="en-US" altLang="en-US" sz="2400" dirty="0"/>
                        <a:t>fixation, put in place</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a:t>
                      </a:r>
                      <a:r>
                        <a:rPr kumimoji="1" lang="en-US" altLang="en-US" sz="2400" b="1" dirty="0" err="1"/>
                        <a:t>stomy</a:t>
                      </a:r>
                      <a:endParaRPr lang="en-US" sz="2400" dirty="0"/>
                    </a:p>
                  </a:txBody>
                  <a:tcPr/>
                </a:tc>
                <a:tc>
                  <a:txBody>
                    <a:bodyPr/>
                    <a:lstStyle/>
                    <a:p>
                      <a:r>
                        <a:rPr kumimoji="1" lang="en-US" altLang="en-US" sz="2400" dirty="0"/>
                        <a:t>new opening</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518285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8" name="Rectangle 1028"/>
          <p:cNvSpPr>
            <a:spLocks noGrp="1" noChangeArrowheads="1"/>
          </p:cNvSpPr>
          <p:nvPr>
            <p:ph type="title"/>
          </p:nvPr>
        </p:nvSpPr>
        <p:spPr>
          <a:xfrm>
            <a:off x="914400" y="609600"/>
            <a:ext cx="7239000" cy="1143000"/>
          </a:xfrm>
        </p:spPr>
        <p:txBody>
          <a:bodyPr rtlCol="0">
            <a:normAutofit fontScale="90000"/>
          </a:bodyPr>
          <a:lstStyle/>
          <a:p>
            <a:pPr eaLnBrk="1" fontAlgn="auto" hangingPunct="1">
              <a:spcAft>
                <a:spcPts val="0"/>
              </a:spcAft>
              <a:defRPr/>
            </a:pPr>
            <a:r>
              <a:rPr lang="en-US" dirty="0"/>
              <a:t>Chapter 9</a:t>
            </a:r>
            <a:br>
              <a:rPr lang="en-US" dirty="0"/>
            </a:br>
            <a:r>
              <a:rPr lang="en-US" dirty="0"/>
              <a:t>Lesson 9.2</a:t>
            </a:r>
          </a:p>
        </p:txBody>
      </p:sp>
    </p:spTree>
    <p:extLst>
      <p:ext uri="{BB962C8B-B14F-4D97-AF65-F5344CB8AC3E}">
        <p14:creationId xmlns:p14="http://schemas.microsoft.com/office/powerpoint/2010/main" val="556137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title"/>
          </p:nvPr>
        </p:nvSpPr>
        <p:spPr/>
        <p:txBody>
          <a:bodyPr/>
          <a:lstStyle/>
          <a:p>
            <a:pPr eaLnBrk="1" hangingPunct="1"/>
            <a:r>
              <a:rPr lang="en-US" altLang="en-US" dirty="0"/>
              <a:t>Pathologic Conditions </a:t>
            </a:r>
            <a:r>
              <a:rPr lang="en-US" altLang="en-US" sz="4000" dirty="0"/>
              <a:t>(Slide 1 of 3)</a:t>
            </a:r>
          </a:p>
        </p:txBody>
      </p:sp>
      <p:sp>
        <p:nvSpPr>
          <p:cNvPr id="2" name="Content Placeholder 1"/>
          <p:cNvSpPr>
            <a:spLocks noGrp="1"/>
          </p:cNvSpPr>
          <p:nvPr>
            <p:ph sz="half" idx="1"/>
          </p:nvPr>
        </p:nvSpPr>
        <p:spPr>
          <a:xfrm>
            <a:off x="952499" y="1981200"/>
            <a:ext cx="7315200" cy="1219200"/>
          </a:xfrm>
        </p:spPr>
        <p:txBody>
          <a:bodyPr/>
          <a:lstStyle/>
          <a:p>
            <a:r>
              <a:rPr lang="en-US" altLang="en-US" dirty="0">
                <a:latin typeface="Calibri" panose="020F0502020204030204" pitchFamily="34" charset="0"/>
              </a:rPr>
              <a:t>Hydrocele, Testicular Torsion, and Varicocele</a:t>
            </a:r>
          </a:p>
          <a:p>
            <a:endParaRPr lang="es-419" dirty="0"/>
          </a:p>
        </p:txBody>
      </p:sp>
      <p:pic>
        <p:nvPicPr>
          <p:cNvPr id="7" name="Picture 16" descr="Hydrocele is a sac of clear fluid in the scrotum. Testicular torsion is a twisting of the spermatic cord. Varicocele are enlarged, diated veins near the testicl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914400" y="2819400"/>
            <a:ext cx="7315200" cy="29382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0641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title"/>
          </p:nvPr>
        </p:nvSpPr>
        <p:spPr/>
        <p:txBody>
          <a:bodyPr/>
          <a:lstStyle/>
          <a:p>
            <a:pPr eaLnBrk="1" hangingPunct="1"/>
            <a:r>
              <a:rPr lang="en-US" altLang="en-US" dirty="0"/>
              <a:t>Pathologic Conditions </a:t>
            </a:r>
            <a:r>
              <a:rPr lang="en-US" altLang="en-US" sz="4000" dirty="0"/>
              <a:t>(Slide 2 of 3)</a:t>
            </a:r>
          </a:p>
        </p:txBody>
      </p:sp>
      <p:sp>
        <p:nvSpPr>
          <p:cNvPr id="2" name="Content Placeholder 1"/>
          <p:cNvSpPr>
            <a:spLocks noGrp="1"/>
          </p:cNvSpPr>
          <p:nvPr>
            <p:ph sz="half" idx="1"/>
          </p:nvPr>
        </p:nvSpPr>
        <p:spPr>
          <a:xfrm>
            <a:off x="1317971" y="1699419"/>
            <a:ext cx="6705600" cy="990600"/>
          </a:xfrm>
        </p:spPr>
        <p:txBody>
          <a:bodyPr/>
          <a:lstStyle/>
          <a:p>
            <a:r>
              <a:rPr lang="en-US" altLang="en-US" dirty="0">
                <a:latin typeface="Calibri" panose="020F0502020204030204" pitchFamily="34" charset="0"/>
              </a:rPr>
              <a:t>Prostate Gland with Carcinoma and BPH</a:t>
            </a:r>
          </a:p>
          <a:p>
            <a:endParaRPr lang="es-419" dirty="0"/>
          </a:p>
        </p:txBody>
      </p:sp>
      <p:pic>
        <p:nvPicPr>
          <p:cNvPr id="7" name="Picture 14" descr="The prostate gland with carcinoma (malignant tumor) and benign prostatic hyperplasia (BPH) (benign growths of cells): Carcinoma usually arises around the sides of the gland, whereas BPH occurs in the center of the gland."/>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048000" y="2971800"/>
            <a:ext cx="4994621" cy="2971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24999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26"/>
          <p:cNvSpPr>
            <a:spLocks noGrp="1" noChangeArrowheads="1"/>
          </p:cNvSpPr>
          <p:nvPr>
            <p:ph type="title"/>
          </p:nvPr>
        </p:nvSpPr>
        <p:spPr/>
        <p:txBody>
          <a:bodyPr/>
          <a:lstStyle/>
          <a:p>
            <a:pPr eaLnBrk="1" hangingPunct="1"/>
            <a:r>
              <a:rPr lang="en-US" altLang="en-US" dirty="0"/>
              <a:t>Pathologic Conditions </a:t>
            </a:r>
            <a:r>
              <a:rPr lang="en-US" altLang="en-US" sz="4000" dirty="0"/>
              <a:t>(Slide 3 of 3)</a:t>
            </a:r>
          </a:p>
        </p:txBody>
      </p:sp>
      <p:sp>
        <p:nvSpPr>
          <p:cNvPr id="43011" name="Rectangle 1031"/>
          <p:cNvSpPr>
            <a:spLocks noGrp="1" noChangeArrowheads="1"/>
          </p:cNvSpPr>
          <p:nvPr>
            <p:ph sz="half" idx="1"/>
          </p:nvPr>
        </p:nvSpPr>
        <p:spPr/>
        <p:txBody>
          <a:bodyPr/>
          <a:lstStyle/>
          <a:p>
            <a:pPr eaLnBrk="1" hangingPunct="1">
              <a:buFont typeface="Wingdings 2" panose="05020102010507070707" pitchFamily="18" charset="2"/>
              <a:buNone/>
            </a:pPr>
            <a:r>
              <a:rPr lang="en-US" altLang="en-US" sz="2800" b="1" dirty="0" err="1"/>
              <a:t>Hypospadias</a:t>
            </a:r>
            <a:endParaRPr lang="en-US" altLang="en-US" sz="2800" b="1" dirty="0"/>
          </a:p>
          <a:p>
            <a:pPr eaLnBrk="1" hangingPunct="1"/>
            <a:r>
              <a:rPr lang="en-US" altLang="en-US" sz="2800" dirty="0"/>
              <a:t>Surgical repair involves exciding a portion of the prepuce, wrapping it around a catheter, suturing it to the distal part of the urethra, bringing it to the end of the penis</a:t>
            </a:r>
          </a:p>
        </p:txBody>
      </p:sp>
      <p:pic>
        <p:nvPicPr>
          <p:cNvPr id="6" name="Picture 1034" descr="Hypospadias are a congenital abnormality in which the male urethral opening is on the undersurface of the penis instead of at its tip."/>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889080"/>
            <a:ext cx="3810000" cy="4200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15792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a:xfrm>
            <a:off x="609600" y="228600"/>
            <a:ext cx="7923213" cy="1143000"/>
          </a:xfrm>
        </p:spPr>
        <p:txBody>
          <a:bodyPr/>
          <a:lstStyle/>
          <a:p>
            <a:pPr eaLnBrk="1" hangingPunct="1"/>
            <a:r>
              <a:rPr lang="en-US" altLang="en-US"/>
              <a:t>Sexually Transmitted Infections </a:t>
            </a:r>
          </a:p>
        </p:txBody>
      </p:sp>
      <p:sp>
        <p:nvSpPr>
          <p:cNvPr id="44035"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STIs</a:t>
            </a:r>
          </a:p>
          <a:p>
            <a:pPr lvl="1" eaLnBrk="1" hangingPunct="1">
              <a:buFont typeface="Wingdings" panose="05000000000000000000" pitchFamily="2" charset="2"/>
              <a:buChar char="Ø"/>
            </a:pPr>
            <a:r>
              <a:rPr lang="en-US" altLang="en-US"/>
              <a:t>Chlamydial infection</a:t>
            </a:r>
          </a:p>
          <a:p>
            <a:pPr lvl="1" eaLnBrk="1" hangingPunct="1">
              <a:buFont typeface="Wingdings" panose="05000000000000000000" pitchFamily="2" charset="2"/>
              <a:buChar char="Ø"/>
            </a:pPr>
            <a:r>
              <a:rPr lang="en-US" altLang="en-US"/>
              <a:t>Gonorrhea</a:t>
            </a:r>
          </a:p>
          <a:p>
            <a:pPr lvl="1" eaLnBrk="1" hangingPunct="1">
              <a:buFont typeface="Wingdings" panose="05000000000000000000" pitchFamily="2" charset="2"/>
              <a:buChar char="Ø"/>
            </a:pPr>
            <a:r>
              <a:rPr lang="en-US" altLang="en-US"/>
              <a:t>Herpes genitalis</a:t>
            </a:r>
          </a:p>
          <a:p>
            <a:pPr lvl="1" eaLnBrk="1" hangingPunct="1">
              <a:buFont typeface="Wingdings" panose="05000000000000000000" pitchFamily="2" charset="2"/>
              <a:buChar char="Ø"/>
            </a:pPr>
            <a:r>
              <a:rPr lang="en-US" altLang="en-US"/>
              <a:t>Human papilloma virus (HPV)</a:t>
            </a:r>
          </a:p>
          <a:p>
            <a:pPr lvl="1" eaLnBrk="1" hangingPunct="1">
              <a:buFont typeface="Wingdings" panose="05000000000000000000" pitchFamily="2" charset="2"/>
              <a:buChar char="Ø"/>
            </a:pPr>
            <a:r>
              <a:rPr lang="en-US" altLang="en-US"/>
              <a:t>Syphilis</a:t>
            </a:r>
          </a:p>
        </p:txBody>
      </p:sp>
    </p:spTree>
    <p:extLst>
      <p:ext uri="{BB962C8B-B14F-4D97-AF65-F5344CB8AC3E}">
        <p14:creationId xmlns:p14="http://schemas.microsoft.com/office/powerpoint/2010/main" val="835973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7" name="Rectangle 7"/>
          <p:cNvSpPr>
            <a:spLocks noGrp="1" noChangeArrowheads="1"/>
          </p:cNvSpPr>
          <p:nvPr>
            <p:ph type="title"/>
          </p:nvPr>
        </p:nvSpPr>
        <p:spPr>
          <a:xfrm>
            <a:off x="990600" y="228600"/>
            <a:ext cx="7239000" cy="1143000"/>
          </a:xfrm>
        </p:spPr>
        <p:txBody>
          <a:bodyPr rtlCol="0">
            <a:normAutofit fontScale="90000"/>
          </a:bodyPr>
          <a:lstStyle/>
          <a:p>
            <a:pPr eaLnBrk="1" fontAlgn="auto" hangingPunct="1">
              <a:spcAft>
                <a:spcPts val="0"/>
              </a:spcAft>
              <a:defRPr/>
            </a:pPr>
            <a:r>
              <a:rPr lang="en-US"/>
              <a:t>Laboratory Tests and Clinical Procedures</a:t>
            </a:r>
          </a:p>
        </p:txBody>
      </p:sp>
      <p:sp>
        <p:nvSpPr>
          <p:cNvPr id="45059" name="Rectangle 8"/>
          <p:cNvSpPr>
            <a:spLocks noGrp="1" noChangeArrowheads="1"/>
          </p:cNvSpPr>
          <p:nvPr>
            <p:ph idx="1"/>
          </p:nvPr>
        </p:nvSpPr>
        <p:spPr>
          <a:xfrm>
            <a:off x="1219200" y="1981200"/>
            <a:ext cx="7239000" cy="3200400"/>
          </a:xfrm>
        </p:spPr>
        <p:txBody>
          <a:bodyPr/>
          <a:lstStyle/>
          <a:p>
            <a:pPr eaLnBrk="1" hangingPunct="1"/>
            <a:r>
              <a:rPr lang="en-US" altLang="en-US" b="1"/>
              <a:t>Laboratory tests</a:t>
            </a:r>
          </a:p>
          <a:p>
            <a:pPr lvl="1" eaLnBrk="1" hangingPunct="1">
              <a:buFont typeface="Wingdings" panose="05000000000000000000" pitchFamily="2" charset="2"/>
              <a:buChar char="Ø"/>
            </a:pPr>
            <a:r>
              <a:rPr lang="en-US" altLang="en-US"/>
              <a:t>PSA test</a:t>
            </a:r>
          </a:p>
          <a:p>
            <a:pPr lvl="1" eaLnBrk="1" hangingPunct="1">
              <a:buFont typeface="Wingdings" panose="05000000000000000000" pitchFamily="2" charset="2"/>
              <a:buChar char="Ø"/>
            </a:pPr>
            <a:r>
              <a:rPr lang="en-US" altLang="en-US"/>
              <a:t>Semen analysis</a:t>
            </a:r>
          </a:p>
        </p:txBody>
      </p:sp>
    </p:spTree>
    <p:extLst>
      <p:ext uri="{BB962C8B-B14F-4D97-AF65-F5344CB8AC3E}">
        <p14:creationId xmlns:p14="http://schemas.microsoft.com/office/powerpoint/2010/main" val="2051416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81000" y="228600"/>
            <a:ext cx="7772400" cy="1219200"/>
          </a:xfrm>
        </p:spPr>
        <p:txBody>
          <a:bodyPr/>
          <a:lstStyle/>
          <a:p>
            <a:pPr eaLnBrk="1" hangingPunct="1"/>
            <a:r>
              <a:rPr lang="en-US" altLang="en-US" dirty="0"/>
              <a:t>      QUICK QUIZ (Slide 2 of 4)</a:t>
            </a:r>
            <a:endParaRPr lang="en-US" altLang="en-US" sz="4800" dirty="0"/>
          </a:p>
        </p:txBody>
      </p:sp>
      <p:sp>
        <p:nvSpPr>
          <p:cNvPr id="46083"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2.   What does the PSA test for?</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Levels of infection</a:t>
            </a:r>
          </a:p>
          <a:p>
            <a:pPr marL="533400" indent="-533400" eaLnBrk="1" hangingPunct="1">
              <a:lnSpc>
                <a:spcPct val="65000"/>
              </a:lnSpc>
              <a:buFont typeface="Wingdings 2" panose="05020102010507070707" pitchFamily="18" charset="2"/>
              <a:buNone/>
            </a:pPr>
            <a:r>
              <a:rPr lang="en-US" altLang="en-US"/>
              <a:t>	B.  Sperm mobility</a:t>
            </a:r>
          </a:p>
          <a:p>
            <a:pPr marL="533400" indent="-533400" eaLnBrk="1" hangingPunct="1">
              <a:lnSpc>
                <a:spcPct val="65000"/>
              </a:lnSpc>
              <a:buFont typeface="Wingdings 2" panose="05020102010507070707" pitchFamily="18" charset="2"/>
              <a:buNone/>
            </a:pPr>
            <a:r>
              <a:rPr lang="en-US" altLang="en-US"/>
              <a:t>	C.  Sperm motility</a:t>
            </a:r>
          </a:p>
          <a:p>
            <a:pPr marL="533400" indent="-533400" eaLnBrk="1" hangingPunct="1">
              <a:lnSpc>
                <a:spcPct val="65000"/>
              </a:lnSpc>
              <a:buFont typeface="Wingdings 2" panose="05020102010507070707" pitchFamily="18" charset="2"/>
              <a:buNone/>
            </a:pPr>
            <a:r>
              <a:rPr lang="en-US" altLang="en-US"/>
              <a:t>	D.  Levels of an antigen</a:t>
            </a:r>
          </a:p>
        </p:txBody>
      </p:sp>
    </p:spTree>
    <p:extLst>
      <p:ext uri="{BB962C8B-B14F-4D97-AF65-F5344CB8AC3E}">
        <p14:creationId xmlns:p14="http://schemas.microsoft.com/office/powerpoint/2010/main" val="33097713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title"/>
          </p:nvPr>
        </p:nvSpPr>
        <p:spPr/>
        <p:txBody>
          <a:bodyPr/>
          <a:lstStyle/>
          <a:p>
            <a:pPr eaLnBrk="1" hangingPunct="1"/>
            <a:r>
              <a:rPr lang="en-US" altLang="en-US" dirty="0"/>
              <a:t>Laboratory Tests and Clinical Procedures (Slide 1 of 2)</a:t>
            </a:r>
          </a:p>
        </p:txBody>
      </p:sp>
      <p:sp>
        <p:nvSpPr>
          <p:cNvPr id="47107" name="Rectangle 6"/>
          <p:cNvSpPr>
            <a:spLocks noGrp="1" noChangeArrowheads="1"/>
          </p:cNvSpPr>
          <p:nvPr>
            <p:ph sz="half" idx="1"/>
          </p:nvPr>
        </p:nvSpPr>
        <p:spPr>
          <a:xfrm>
            <a:off x="876300" y="1600200"/>
            <a:ext cx="7391400" cy="1447800"/>
          </a:xfrm>
        </p:spPr>
        <p:txBody>
          <a:bodyPr/>
          <a:lstStyle/>
          <a:p>
            <a:pPr eaLnBrk="1" hangingPunct="1">
              <a:buFont typeface="Wingdings 2" panose="05020102010507070707" pitchFamily="18" charset="2"/>
              <a:buNone/>
            </a:pPr>
            <a:r>
              <a:rPr lang="en-US" altLang="en-US" b="1" dirty="0"/>
              <a:t>Clinical procedures</a:t>
            </a:r>
            <a:endParaRPr lang="en-US" altLang="en-US" dirty="0"/>
          </a:p>
          <a:p>
            <a:pPr lvl="1" eaLnBrk="1" hangingPunct="1">
              <a:buFont typeface="Wingdings" panose="05000000000000000000" pitchFamily="2" charset="2"/>
              <a:buChar char="Ø"/>
            </a:pPr>
            <a:r>
              <a:rPr lang="en-US" altLang="en-US" dirty="0"/>
              <a:t>Transurethral resection of the prostate—TURP</a:t>
            </a:r>
          </a:p>
        </p:txBody>
      </p:sp>
      <p:pic>
        <p:nvPicPr>
          <p:cNvPr id="6" name="Picture 11" descr="Transurethral resection of the prostate (TURP) is the excision of benign hyperplasia using a resectoscope through the urethra."/>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7771"/>
          <a:stretch/>
        </p:blipFill>
        <p:spPr bwMode="auto">
          <a:xfrm>
            <a:off x="1756833" y="2743200"/>
            <a:ext cx="5630334" cy="37972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34588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p:txBody>
          <a:bodyPr/>
          <a:lstStyle/>
          <a:p>
            <a:pPr eaLnBrk="1" hangingPunct="1"/>
            <a:r>
              <a:rPr lang="en-US" altLang="en-US" dirty="0"/>
              <a:t>Laboratory Tests and Clinical Procedures (Slide 2 of 2)</a:t>
            </a:r>
          </a:p>
        </p:txBody>
      </p:sp>
      <p:sp>
        <p:nvSpPr>
          <p:cNvPr id="48131" name="Rectangle 5"/>
          <p:cNvSpPr>
            <a:spLocks noGrp="1" noChangeArrowheads="1"/>
          </p:cNvSpPr>
          <p:nvPr>
            <p:ph sz="half" idx="1"/>
          </p:nvPr>
        </p:nvSpPr>
        <p:spPr>
          <a:xfrm>
            <a:off x="1285875" y="1981200"/>
            <a:ext cx="4038600" cy="990600"/>
          </a:xfrm>
        </p:spPr>
        <p:txBody>
          <a:bodyPr/>
          <a:lstStyle/>
          <a:p>
            <a:pPr eaLnBrk="1" hangingPunct="1">
              <a:buFont typeface="Wingdings 2" panose="05020102010507070707" pitchFamily="18" charset="2"/>
              <a:buNone/>
            </a:pPr>
            <a:r>
              <a:rPr lang="en-US" altLang="en-US" b="1" dirty="0"/>
              <a:t>Clinical procedures</a:t>
            </a:r>
            <a:endParaRPr lang="en-US" altLang="en-US" dirty="0"/>
          </a:p>
          <a:p>
            <a:pPr lvl="1" eaLnBrk="1" hangingPunct="1">
              <a:buFont typeface="Wingdings" panose="05000000000000000000" pitchFamily="2" charset="2"/>
              <a:buChar char="Ø"/>
            </a:pPr>
            <a:r>
              <a:rPr lang="en-US" altLang="en-US" dirty="0"/>
              <a:t>Vasectomy</a:t>
            </a:r>
          </a:p>
        </p:txBody>
      </p:sp>
      <p:pic>
        <p:nvPicPr>
          <p:cNvPr id="6" name="Picture 10" descr="Vasectomy is the bilateral removal of a part of the vas deferen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228975" y="2971800"/>
            <a:ext cx="4191000" cy="3185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02969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381000" y="228600"/>
            <a:ext cx="7772400" cy="1219200"/>
          </a:xfrm>
        </p:spPr>
        <p:txBody>
          <a:bodyPr/>
          <a:lstStyle/>
          <a:p>
            <a:pPr eaLnBrk="1" hangingPunct="1"/>
            <a:r>
              <a:rPr lang="en-US" altLang="en-US" dirty="0"/>
              <a:t>      QUICK QUIZ (Slide 3 of 4)</a:t>
            </a:r>
            <a:endParaRPr lang="en-US" altLang="en-US" sz="4800" dirty="0"/>
          </a:p>
        </p:txBody>
      </p:sp>
      <p:sp>
        <p:nvSpPr>
          <p:cNvPr id="49155"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3.  Which term means removal of the prostate?</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Orchiectomy</a:t>
            </a:r>
          </a:p>
          <a:p>
            <a:pPr marL="533400" indent="-533400" eaLnBrk="1" hangingPunct="1">
              <a:lnSpc>
                <a:spcPct val="65000"/>
              </a:lnSpc>
              <a:buFont typeface="Wingdings 2" panose="05020102010507070707" pitchFamily="18" charset="2"/>
              <a:buNone/>
            </a:pPr>
            <a:r>
              <a:rPr lang="en-US" altLang="en-US"/>
              <a:t>	B. Prostatectomy</a:t>
            </a:r>
          </a:p>
          <a:p>
            <a:pPr marL="533400" indent="-533400" eaLnBrk="1" hangingPunct="1">
              <a:lnSpc>
                <a:spcPct val="65000"/>
              </a:lnSpc>
              <a:buFont typeface="Wingdings 2" panose="05020102010507070707" pitchFamily="18" charset="2"/>
              <a:buNone/>
            </a:pPr>
            <a:r>
              <a:rPr lang="en-US" altLang="en-US"/>
              <a:t>	C. Vasectomy</a:t>
            </a:r>
          </a:p>
          <a:p>
            <a:pPr marL="533400" indent="-533400" eaLnBrk="1" hangingPunct="1">
              <a:lnSpc>
                <a:spcPct val="65000"/>
              </a:lnSpc>
              <a:buFont typeface="Wingdings 2" panose="05020102010507070707" pitchFamily="18" charset="2"/>
              <a:buNone/>
            </a:pPr>
            <a:r>
              <a:rPr lang="en-US" altLang="en-US"/>
              <a:t>	D. Prostatitis</a:t>
            </a:r>
          </a:p>
        </p:txBody>
      </p:sp>
    </p:spTree>
    <p:extLst>
      <p:ext uri="{BB962C8B-B14F-4D97-AF65-F5344CB8AC3E}">
        <p14:creationId xmlns:p14="http://schemas.microsoft.com/office/powerpoint/2010/main" val="2992742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1 of 2)</a:t>
            </a:r>
          </a:p>
        </p:txBody>
      </p:sp>
      <p:graphicFrame>
        <p:nvGraphicFramePr>
          <p:cNvPr id="7" name="Content Placeholder 6" descr="Group 1of 2 Abbreviations with corresponding meanings."/>
          <p:cNvGraphicFramePr>
            <a:graphicFrameLocks noGrp="1"/>
          </p:cNvGraphicFramePr>
          <p:nvPr>
            <p:ph idx="1"/>
            <p:extLst>
              <p:ext uri="{D42A27DB-BD31-4B8C-83A1-F6EECF244321}">
                <p14:modId xmlns:p14="http://schemas.microsoft.com/office/powerpoint/2010/main" val="4089280219"/>
              </p:ext>
            </p:extLst>
          </p:nvPr>
        </p:nvGraphicFramePr>
        <p:xfrm>
          <a:off x="457200" y="1600200"/>
          <a:ext cx="8229600" cy="457200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BPH</a:t>
                      </a:r>
                      <a:endParaRPr lang="en-US" sz="2400" dirty="0"/>
                    </a:p>
                  </a:txBody>
                  <a:tcPr/>
                </a:tc>
                <a:tc>
                  <a:txBody>
                    <a:bodyPr/>
                    <a:lstStyle/>
                    <a:p>
                      <a:r>
                        <a:rPr lang="en-US" altLang="en-US" sz="2400" dirty="0"/>
                        <a:t>benign prostatic hyperplasia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DRE</a:t>
                      </a:r>
                      <a:endParaRPr lang="en-US" sz="2400" dirty="0"/>
                    </a:p>
                  </a:txBody>
                  <a:tcPr/>
                </a:tc>
                <a:tc>
                  <a:txBody>
                    <a:bodyPr/>
                    <a:lstStyle/>
                    <a:p>
                      <a:r>
                        <a:rPr lang="en-US" altLang="en-US" sz="2400" dirty="0"/>
                        <a:t>digital rectal examination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ED</a:t>
                      </a:r>
                      <a:endParaRPr lang="en-US" sz="2400" dirty="0"/>
                    </a:p>
                  </a:txBody>
                  <a:tcPr/>
                </a:tc>
                <a:tc>
                  <a:txBody>
                    <a:bodyPr/>
                    <a:lstStyle/>
                    <a:p>
                      <a:r>
                        <a:rPr lang="en-US" altLang="en-US" sz="2400" dirty="0"/>
                        <a:t>erectile dysfunction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GU</a:t>
                      </a:r>
                      <a:endParaRPr lang="en-US" sz="2400" dirty="0"/>
                    </a:p>
                  </a:txBody>
                  <a:tcPr/>
                </a:tc>
                <a:tc>
                  <a:txBody>
                    <a:bodyPr/>
                    <a:lstStyle/>
                    <a:p>
                      <a:r>
                        <a:rPr lang="en-US" altLang="en-US" sz="2400" dirty="0"/>
                        <a:t>genitourinary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HPV</a:t>
                      </a:r>
                      <a:endParaRPr lang="en-US" sz="2400" dirty="0"/>
                    </a:p>
                  </a:txBody>
                  <a:tcPr/>
                </a:tc>
                <a:tc>
                  <a:txBody>
                    <a:bodyPr/>
                    <a:lstStyle/>
                    <a:p>
                      <a:r>
                        <a:rPr lang="en-US" altLang="en-US" sz="2400" dirty="0"/>
                        <a:t>human papilloma virus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HSV</a:t>
                      </a:r>
                      <a:endParaRPr lang="en-US" sz="2400" dirty="0"/>
                    </a:p>
                  </a:txBody>
                  <a:tcPr/>
                </a:tc>
                <a:tc>
                  <a:txBody>
                    <a:bodyPr/>
                    <a:lstStyle/>
                    <a:p>
                      <a:r>
                        <a:rPr lang="en-US" altLang="en-US" sz="2400" dirty="0"/>
                        <a:t>herpes simplex virus</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PID</a:t>
                      </a:r>
                      <a:endParaRPr lang="en-US" sz="2400" i="0" dirty="0"/>
                    </a:p>
                  </a:txBody>
                  <a:tcPr/>
                </a:tc>
                <a:tc>
                  <a:txBody>
                    <a:bodyPr/>
                    <a:lstStyle/>
                    <a:p>
                      <a:r>
                        <a:rPr lang="en-US" altLang="en-US" sz="2400" dirty="0"/>
                        <a:t>pelvic inflammatory disease</a:t>
                      </a:r>
                      <a:endParaRPr lang="en-US" sz="2400" i="0" dirty="0"/>
                    </a:p>
                  </a:txBody>
                  <a:tcPr/>
                </a:tc>
                <a:extLst>
                  <a:ext uri="{0D108BD9-81ED-4DB2-BD59-A6C34878D82A}">
                    <a16:rowId xmlns:a16="http://schemas.microsoft.com/office/drawing/2014/main" val="10007"/>
                  </a:ext>
                </a:extLst>
              </a:tr>
              <a:tr h="370840">
                <a:tc>
                  <a:txBody>
                    <a:bodyPr/>
                    <a:lstStyle/>
                    <a:p>
                      <a:r>
                        <a:rPr lang="en-US" altLang="en-US" sz="2400" dirty="0"/>
                        <a:t>PIN</a:t>
                      </a:r>
                      <a:endParaRPr lang="en-US" sz="2400" i="0" dirty="0"/>
                    </a:p>
                  </a:txBody>
                  <a:tcPr/>
                </a:tc>
                <a:tc>
                  <a:txBody>
                    <a:bodyPr/>
                    <a:lstStyle/>
                    <a:p>
                      <a:r>
                        <a:rPr lang="en-US" altLang="en-US" sz="2400" dirty="0"/>
                        <a:t>prostatic intraepithelial </a:t>
                      </a:r>
                      <a:r>
                        <a:rPr lang="en-US" altLang="en-US" sz="2400" dirty="0" err="1"/>
                        <a:t>neoplasia</a:t>
                      </a:r>
                      <a:endParaRPr lang="en-US" sz="2400" i="0" dirty="0"/>
                    </a:p>
                  </a:txBody>
                  <a:tcPr/>
                </a:tc>
                <a:extLst>
                  <a:ext uri="{0D108BD9-81ED-4DB2-BD59-A6C34878D82A}">
                    <a16:rowId xmlns:a16="http://schemas.microsoft.com/office/drawing/2014/main" val="10008"/>
                  </a:ext>
                </a:extLst>
              </a:tr>
              <a:tr h="370840">
                <a:tc>
                  <a:txBody>
                    <a:bodyPr/>
                    <a:lstStyle/>
                    <a:p>
                      <a:r>
                        <a:rPr lang="en-US" altLang="en-US" sz="2400" dirty="0"/>
                        <a:t>PSA</a:t>
                      </a:r>
                      <a:endParaRPr lang="en-US" sz="2400" i="0" dirty="0"/>
                    </a:p>
                  </a:txBody>
                  <a:tcPr/>
                </a:tc>
                <a:tc>
                  <a:txBody>
                    <a:bodyPr/>
                    <a:lstStyle/>
                    <a:p>
                      <a:r>
                        <a:rPr lang="en-US" altLang="en-US" sz="2400" dirty="0"/>
                        <a:t>prostate-specific antigen</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795292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Abbreviations (Slide 2 of 2)</a:t>
            </a:r>
          </a:p>
        </p:txBody>
      </p:sp>
      <p:graphicFrame>
        <p:nvGraphicFramePr>
          <p:cNvPr id="7" name="Content Placeholder 6" descr="Group 2 of 2 Abbreviations with corresponding meanings."/>
          <p:cNvGraphicFramePr>
            <a:graphicFrameLocks noGrp="1"/>
          </p:cNvGraphicFramePr>
          <p:nvPr>
            <p:ph idx="1"/>
            <p:extLst>
              <p:ext uri="{D42A27DB-BD31-4B8C-83A1-F6EECF244321}">
                <p14:modId xmlns:p14="http://schemas.microsoft.com/office/powerpoint/2010/main" val="2027764241"/>
              </p:ext>
            </p:extLst>
          </p:nvPr>
        </p:nvGraphicFramePr>
        <p:xfrm>
          <a:off x="457200" y="1600200"/>
          <a:ext cx="8229600" cy="3657600"/>
        </p:xfrm>
        <a:graphic>
          <a:graphicData uri="http://schemas.openxmlformats.org/drawingml/2006/table">
            <a:tbl>
              <a:tblPr firstRow="1" bandRow="1">
                <a:tableStyleId>{C083E6E3-FA7D-4D7B-A595-EF9225AFEA82}</a:tableStyleId>
              </a:tblPr>
              <a:tblGrid>
                <a:gridCol w="22098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RPR</a:t>
                      </a:r>
                      <a:endParaRPr lang="en-US" sz="2400" dirty="0"/>
                    </a:p>
                  </a:txBody>
                  <a:tcPr/>
                </a:tc>
                <a:tc>
                  <a:txBody>
                    <a:bodyPr/>
                    <a:lstStyle/>
                    <a:p>
                      <a:r>
                        <a:rPr lang="en-US" altLang="en-US" sz="2400" dirty="0"/>
                        <a:t>rapid plasma </a:t>
                      </a:r>
                      <a:r>
                        <a:rPr lang="en-US" altLang="en-US" sz="2400" dirty="0" err="1"/>
                        <a:t>reagin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STI</a:t>
                      </a:r>
                      <a:endParaRPr lang="en-US" sz="2400" dirty="0"/>
                    </a:p>
                  </a:txBody>
                  <a:tcPr/>
                </a:tc>
                <a:tc>
                  <a:txBody>
                    <a:bodyPr/>
                    <a:lstStyle/>
                    <a:p>
                      <a:r>
                        <a:rPr lang="en-US" altLang="en-US" sz="2400" dirty="0"/>
                        <a:t>sexually transmitted infections (diseases)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TRUS</a:t>
                      </a:r>
                      <a:endParaRPr lang="en-US" sz="2400" dirty="0"/>
                    </a:p>
                  </a:txBody>
                  <a:tcPr/>
                </a:tc>
                <a:tc>
                  <a:txBody>
                    <a:bodyPr/>
                    <a:lstStyle/>
                    <a:p>
                      <a:r>
                        <a:rPr lang="en-US" altLang="en-US" sz="2400" dirty="0" err="1"/>
                        <a:t>transrectal</a:t>
                      </a:r>
                      <a:r>
                        <a:rPr lang="en-US" altLang="en-US" sz="2400" dirty="0"/>
                        <a:t> ultrasound</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TUIP</a:t>
                      </a:r>
                      <a:endParaRPr lang="en-US" sz="2400" dirty="0"/>
                    </a:p>
                  </a:txBody>
                  <a:tcPr/>
                </a:tc>
                <a:tc>
                  <a:txBody>
                    <a:bodyPr/>
                    <a:lstStyle/>
                    <a:p>
                      <a:r>
                        <a:rPr lang="en-US" altLang="en-US" sz="2400" dirty="0"/>
                        <a:t>transurethral incision of the prostate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TUMT</a:t>
                      </a:r>
                      <a:endParaRPr lang="en-US" sz="2400" dirty="0"/>
                    </a:p>
                  </a:txBody>
                  <a:tcPr/>
                </a:tc>
                <a:tc>
                  <a:txBody>
                    <a:bodyPr/>
                    <a:lstStyle/>
                    <a:p>
                      <a:r>
                        <a:rPr lang="en-US" altLang="en-US" sz="2400" dirty="0"/>
                        <a:t>transurethral microwave thermotherapy</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TUNA</a:t>
                      </a:r>
                      <a:endParaRPr lang="en-US" sz="2400" dirty="0"/>
                    </a:p>
                  </a:txBody>
                  <a:tcPr/>
                </a:tc>
                <a:tc>
                  <a:txBody>
                    <a:bodyPr/>
                    <a:lstStyle/>
                    <a:p>
                      <a:r>
                        <a:rPr lang="en-US" altLang="en-US" sz="2400" dirty="0"/>
                        <a:t>transurethral needle ablation</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TURP</a:t>
                      </a:r>
                      <a:endParaRPr lang="en-US" sz="2400" dirty="0"/>
                    </a:p>
                  </a:txBody>
                  <a:tcPr/>
                </a:tc>
                <a:tc>
                  <a:txBody>
                    <a:bodyPr/>
                    <a:lstStyle/>
                    <a:p>
                      <a:r>
                        <a:rPr lang="en-US" altLang="en-US" sz="2400" dirty="0"/>
                        <a:t>transurethral resection of the prostate</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3363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1 of 4)</a:t>
            </a:r>
          </a:p>
        </p:txBody>
      </p:sp>
      <p:graphicFrame>
        <p:nvGraphicFramePr>
          <p:cNvPr id="7" name="Content Placeholder 6" descr="Group 1 of 2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885137063"/>
              </p:ext>
            </p:extLst>
          </p:nvPr>
        </p:nvGraphicFramePr>
        <p:xfrm>
          <a:off x="3276600" y="1828800"/>
          <a:ext cx="2590800" cy="41148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kumimoji="1" lang="en-US" sz="2400" b="1" dirty="0" err="1"/>
                        <a:t>andr</a:t>
                      </a:r>
                      <a:r>
                        <a:rPr kumimoji="1" 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kumimoji="1" lang="en-US" sz="2400" b="1" dirty="0" err="1"/>
                        <a:t>balan</a:t>
                      </a:r>
                      <a:r>
                        <a:rPr kumimoji="1" 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kumimoji="1" lang="en-US" sz="2400" b="1" dirty="0"/>
                        <a:t>cry/o</a:t>
                      </a:r>
                      <a:endParaRPr lang="en-US" sz="2400" dirty="0"/>
                    </a:p>
                  </a:txBody>
                  <a:tcPr/>
                </a:tc>
                <a:extLst>
                  <a:ext uri="{0D108BD9-81ED-4DB2-BD59-A6C34878D82A}">
                    <a16:rowId xmlns:a16="http://schemas.microsoft.com/office/drawing/2014/main" val="10003"/>
                  </a:ext>
                </a:extLst>
              </a:tr>
              <a:tr h="370840">
                <a:tc>
                  <a:txBody>
                    <a:bodyPr/>
                    <a:lstStyle/>
                    <a:p>
                      <a:r>
                        <a:rPr kumimoji="1" lang="en-US" sz="2400" b="1" dirty="0"/>
                        <a:t>crypt/o</a:t>
                      </a:r>
                      <a:endParaRPr lang="en-US" sz="2400" dirty="0"/>
                    </a:p>
                  </a:txBody>
                  <a:tcPr/>
                </a:tc>
                <a:extLst>
                  <a:ext uri="{0D108BD9-81ED-4DB2-BD59-A6C34878D82A}">
                    <a16:rowId xmlns:a16="http://schemas.microsoft.com/office/drawing/2014/main" val="10004"/>
                  </a:ext>
                </a:extLst>
              </a:tr>
              <a:tr h="370840">
                <a:tc>
                  <a:txBody>
                    <a:bodyPr/>
                    <a:lstStyle/>
                    <a:p>
                      <a:r>
                        <a:rPr kumimoji="1" lang="en-US" sz="2400" b="1" dirty="0" err="1"/>
                        <a:t>epididym</a:t>
                      </a:r>
                      <a:r>
                        <a:rPr kumimoji="1" 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kumimoji="1" lang="en-US" sz="2400" b="1" dirty="0" err="1"/>
                        <a:t>gon</a:t>
                      </a:r>
                      <a:r>
                        <a:rPr kumimoji="1" 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kumimoji="1" lang="en-US" sz="2400" b="1" dirty="0" err="1"/>
                        <a:t>hydr</a:t>
                      </a:r>
                      <a:r>
                        <a:rPr kumimoji="1" lang="en-US" sz="2400" b="1" dirty="0"/>
                        <a:t>/o</a:t>
                      </a:r>
                      <a:endParaRPr lang="en-US" sz="2400" dirty="0"/>
                    </a:p>
                  </a:txBody>
                  <a:tcPr/>
                </a:tc>
                <a:extLst>
                  <a:ext uri="{0D108BD9-81ED-4DB2-BD59-A6C34878D82A}">
                    <a16:rowId xmlns:a16="http://schemas.microsoft.com/office/drawing/2014/main" val="10007"/>
                  </a:ext>
                </a:extLst>
              </a:tr>
              <a:tr h="370840">
                <a:tc>
                  <a:txBody>
                    <a:bodyPr/>
                    <a:lstStyle/>
                    <a:p>
                      <a:r>
                        <a:rPr kumimoji="1" lang="en-US" sz="2400" b="1" dirty="0" err="1"/>
                        <a:t>orch</a:t>
                      </a:r>
                      <a:r>
                        <a:rPr kumimoji="1" lang="en-US" sz="2400" b="1" dirty="0"/>
                        <a:t>/o, </a:t>
                      </a:r>
                      <a:r>
                        <a:rPr kumimoji="1" lang="en-US" sz="2400" b="1" dirty="0" err="1"/>
                        <a:t>orchi</a:t>
                      </a:r>
                      <a:r>
                        <a:rPr kumimoji="1" lang="en-US" sz="2400" b="1" dirty="0"/>
                        <a:t>/o</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621726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2 of 4)</a:t>
            </a:r>
          </a:p>
        </p:txBody>
      </p:sp>
      <p:graphicFrame>
        <p:nvGraphicFramePr>
          <p:cNvPr id="7" name="Content Placeholder 6" descr="Group 1 of 2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2553455302"/>
              </p:ext>
            </p:extLst>
          </p:nvPr>
        </p:nvGraphicFramePr>
        <p:xfrm>
          <a:off x="457200" y="1600200"/>
          <a:ext cx="8229600" cy="41148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kumimoji="1" lang="en-US" sz="2400" b="1" dirty="0" err="1"/>
                        <a:t>andr</a:t>
                      </a:r>
                      <a:r>
                        <a:rPr kumimoji="1" lang="en-US" sz="2400" b="1" dirty="0"/>
                        <a:t>/o</a:t>
                      </a:r>
                      <a:endParaRPr lang="en-US" sz="2400" dirty="0"/>
                    </a:p>
                  </a:txBody>
                  <a:tcPr/>
                </a:tc>
                <a:tc>
                  <a:txBody>
                    <a:bodyPr/>
                    <a:lstStyle/>
                    <a:p>
                      <a:r>
                        <a:rPr kumimoji="1" lang="en-US" sz="2400" dirty="0"/>
                        <a:t>male</a:t>
                      </a:r>
                      <a:endParaRPr lang="en-US" sz="2400" dirty="0"/>
                    </a:p>
                  </a:txBody>
                  <a:tcPr/>
                </a:tc>
                <a:extLst>
                  <a:ext uri="{0D108BD9-81ED-4DB2-BD59-A6C34878D82A}">
                    <a16:rowId xmlns:a16="http://schemas.microsoft.com/office/drawing/2014/main" val="10001"/>
                  </a:ext>
                </a:extLst>
              </a:tr>
              <a:tr h="370840">
                <a:tc>
                  <a:txBody>
                    <a:bodyPr/>
                    <a:lstStyle/>
                    <a:p>
                      <a:r>
                        <a:rPr kumimoji="1" lang="en-US" sz="2400" b="1" dirty="0" err="1"/>
                        <a:t>balan</a:t>
                      </a:r>
                      <a:r>
                        <a:rPr kumimoji="1" lang="en-US" sz="2400" b="1" dirty="0"/>
                        <a:t>/o</a:t>
                      </a:r>
                      <a:endParaRPr lang="en-US" sz="2400" dirty="0"/>
                    </a:p>
                  </a:txBody>
                  <a:tcPr/>
                </a:tc>
                <a:tc>
                  <a:txBody>
                    <a:bodyPr/>
                    <a:lstStyle/>
                    <a:p>
                      <a:r>
                        <a:rPr kumimoji="1" lang="en-US" sz="2400" dirty="0"/>
                        <a:t>glans penis</a:t>
                      </a:r>
                      <a:endParaRPr lang="en-US" sz="2400" dirty="0"/>
                    </a:p>
                  </a:txBody>
                  <a:tcPr/>
                </a:tc>
                <a:extLst>
                  <a:ext uri="{0D108BD9-81ED-4DB2-BD59-A6C34878D82A}">
                    <a16:rowId xmlns:a16="http://schemas.microsoft.com/office/drawing/2014/main" val="10002"/>
                  </a:ext>
                </a:extLst>
              </a:tr>
              <a:tr h="370840">
                <a:tc>
                  <a:txBody>
                    <a:bodyPr/>
                    <a:lstStyle/>
                    <a:p>
                      <a:r>
                        <a:rPr kumimoji="1" lang="en-US" sz="2400" b="1" dirty="0"/>
                        <a:t>cry/o</a:t>
                      </a:r>
                      <a:endParaRPr lang="en-US" sz="2400" dirty="0"/>
                    </a:p>
                  </a:txBody>
                  <a:tcPr/>
                </a:tc>
                <a:tc>
                  <a:txBody>
                    <a:bodyPr/>
                    <a:lstStyle/>
                    <a:p>
                      <a:r>
                        <a:rPr kumimoji="1" lang="en-US" sz="2400" dirty="0"/>
                        <a:t>cold</a:t>
                      </a:r>
                      <a:endParaRPr lang="en-US" sz="2400" dirty="0"/>
                    </a:p>
                  </a:txBody>
                  <a:tcPr/>
                </a:tc>
                <a:extLst>
                  <a:ext uri="{0D108BD9-81ED-4DB2-BD59-A6C34878D82A}">
                    <a16:rowId xmlns:a16="http://schemas.microsoft.com/office/drawing/2014/main" val="10003"/>
                  </a:ext>
                </a:extLst>
              </a:tr>
              <a:tr h="370840">
                <a:tc>
                  <a:txBody>
                    <a:bodyPr/>
                    <a:lstStyle/>
                    <a:p>
                      <a:r>
                        <a:rPr kumimoji="1" lang="en-US" sz="2400" b="1" dirty="0"/>
                        <a:t>crypt/o</a:t>
                      </a:r>
                      <a:endParaRPr lang="en-US" sz="2400" dirty="0"/>
                    </a:p>
                  </a:txBody>
                  <a:tcPr/>
                </a:tc>
                <a:tc>
                  <a:txBody>
                    <a:bodyPr/>
                    <a:lstStyle/>
                    <a:p>
                      <a:r>
                        <a:rPr kumimoji="1" lang="en-US" sz="2400" dirty="0"/>
                        <a:t>hidden</a:t>
                      </a:r>
                      <a:endParaRPr lang="en-US" sz="2400" dirty="0"/>
                    </a:p>
                  </a:txBody>
                  <a:tcPr/>
                </a:tc>
                <a:extLst>
                  <a:ext uri="{0D108BD9-81ED-4DB2-BD59-A6C34878D82A}">
                    <a16:rowId xmlns:a16="http://schemas.microsoft.com/office/drawing/2014/main" val="10004"/>
                  </a:ext>
                </a:extLst>
              </a:tr>
              <a:tr h="370840">
                <a:tc>
                  <a:txBody>
                    <a:bodyPr/>
                    <a:lstStyle/>
                    <a:p>
                      <a:r>
                        <a:rPr kumimoji="1" lang="en-US" sz="2400" b="1" dirty="0" err="1"/>
                        <a:t>epididym</a:t>
                      </a:r>
                      <a:r>
                        <a:rPr kumimoji="1" lang="en-US" sz="2400" b="1" dirty="0"/>
                        <a:t>/o</a:t>
                      </a:r>
                      <a:endParaRPr lang="en-US" sz="2400" dirty="0"/>
                    </a:p>
                  </a:txBody>
                  <a:tcPr/>
                </a:tc>
                <a:tc>
                  <a:txBody>
                    <a:bodyPr/>
                    <a:lstStyle/>
                    <a:p>
                      <a:r>
                        <a:rPr kumimoji="1" lang="en-US" sz="2400" dirty="0"/>
                        <a:t>epididymis</a:t>
                      </a:r>
                      <a:endParaRPr lang="en-US" sz="2400" dirty="0"/>
                    </a:p>
                  </a:txBody>
                  <a:tcPr/>
                </a:tc>
                <a:extLst>
                  <a:ext uri="{0D108BD9-81ED-4DB2-BD59-A6C34878D82A}">
                    <a16:rowId xmlns:a16="http://schemas.microsoft.com/office/drawing/2014/main" val="10005"/>
                  </a:ext>
                </a:extLst>
              </a:tr>
              <a:tr h="370840">
                <a:tc>
                  <a:txBody>
                    <a:bodyPr/>
                    <a:lstStyle/>
                    <a:p>
                      <a:r>
                        <a:rPr kumimoji="1" lang="en-US" sz="2400" b="1" dirty="0" err="1"/>
                        <a:t>gon</a:t>
                      </a:r>
                      <a:r>
                        <a:rPr kumimoji="1" lang="en-US" sz="2400" b="1" dirty="0"/>
                        <a:t>/o</a:t>
                      </a:r>
                      <a:endParaRPr lang="en-US" sz="2400" dirty="0"/>
                    </a:p>
                  </a:txBody>
                  <a:tcPr/>
                </a:tc>
                <a:tc>
                  <a:txBody>
                    <a:bodyPr/>
                    <a:lstStyle/>
                    <a:p>
                      <a:r>
                        <a:rPr kumimoji="1" lang="en-US" sz="2400" dirty="0"/>
                        <a:t>seed</a:t>
                      </a:r>
                      <a:endParaRPr lang="en-US" sz="2400" dirty="0"/>
                    </a:p>
                  </a:txBody>
                  <a:tcPr/>
                </a:tc>
                <a:extLst>
                  <a:ext uri="{0D108BD9-81ED-4DB2-BD59-A6C34878D82A}">
                    <a16:rowId xmlns:a16="http://schemas.microsoft.com/office/drawing/2014/main" val="10006"/>
                  </a:ext>
                </a:extLst>
              </a:tr>
              <a:tr h="370840">
                <a:tc>
                  <a:txBody>
                    <a:bodyPr/>
                    <a:lstStyle/>
                    <a:p>
                      <a:r>
                        <a:rPr kumimoji="1" lang="en-US" sz="2400" b="1" dirty="0" err="1"/>
                        <a:t>hydr</a:t>
                      </a:r>
                      <a:r>
                        <a:rPr kumimoji="1" lang="en-US" sz="2400" b="1" dirty="0"/>
                        <a:t>/o</a:t>
                      </a:r>
                      <a:endParaRPr lang="en-US" sz="2400" dirty="0"/>
                    </a:p>
                  </a:txBody>
                  <a:tcPr/>
                </a:tc>
                <a:tc>
                  <a:txBody>
                    <a:bodyPr/>
                    <a:lstStyle/>
                    <a:p>
                      <a:r>
                        <a:rPr kumimoji="1" lang="en-US" sz="2400" dirty="0"/>
                        <a:t>water, fluid</a:t>
                      </a:r>
                      <a:endParaRPr lang="en-US" sz="2400" dirty="0"/>
                    </a:p>
                  </a:txBody>
                  <a:tcPr/>
                </a:tc>
                <a:extLst>
                  <a:ext uri="{0D108BD9-81ED-4DB2-BD59-A6C34878D82A}">
                    <a16:rowId xmlns:a16="http://schemas.microsoft.com/office/drawing/2014/main" val="10007"/>
                  </a:ext>
                </a:extLst>
              </a:tr>
              <a:tr h="370840">
                <a:tc>
                  <a:txBody>
                    <a:bodyPr/>
                    <a:lstStyle/>
                    <a:p>
                      <a:r>
                        <a:rPr kumimoji="1" lang="en-US" sz="2400" b="1" dirty="0" err="1"/>
                        <a:t>orch</a:t>
                      </a:r>
                      <a:r>
                        <a:rPr kumimoji="1" lang="en-US" sz="2400" b="1" dirty="0"/>
                        <a:t>/o, </a:t>
                      </a:r>
                      <a:r>
                        <a:rPr kumimoji="1" lang="en-US" sz="2400" b="1" dirty="0" err="1"/>
                        <a:t>orchi</a:t>
                      </a:r>
                      <a:r>
                        <a:rPr kumimoji="1" lang="en-US" sz="2400" b="1" dirty="0"/>
                        <a:t>/o</a:t>
                      </a:r>
                      <a:endParaRPr lang="en-US" sz="2400" dirty="0"/>
                    </a:p>
                  </a:txBody>
                  <a:tcPr/>
                </a:tc>
                <a:tc>
                  <a:txBody>
                    <a:bodyPr/>
                    <a:lstStyle/>
                    <a:p>
                      <a:r>
                        <a:rPr kumimoji="1" lang="en-US" sz="2400" dirty="0"/>
                        <a:t>testis, testicle</a:t>
                      </a:r>
                      <a:endParaRPr lang="en-US" sz="2400"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277722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3 of 4)</a:t>
            </a:r>
          </a:p>
        </p:txBody>
      </p:sp>
      <p:graphicFrame>
        <p:nvGraphicFramePr>
          <p:cNvPr id="7" name="Content Placeholder 6" descr="Group 2 of 2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213934660"/>
              </p:ext>
            </p:extLst>
          </p:nvPr>
        </p:nvGraphicFramePr>
        <p:xfrm>
          <a:off x="3276600" y="1600200"/>
          <a:ext cx="2590800" cy="45720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pen/o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prostat</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err="1"/>
                        <a:t>semin</a:t>
                      </a:r>
                      <a:r>
                        <a:rPr kumimoji="1" lang="en-US" altLang="en-US" sz="2400" b="1" dirty="0"/>
                        <a:t>/</a:t>
                      </a:r>
                      <a:r>
                        <a:rPr kumimoji="1" lang="en-US" altLang="en-US" sz="2400" b="1" dirty="0" err="1"/>
                        <a:t>i</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sperm/o</a:t>
                      </a:r>
                      <a:endParaRPr lang="en-US" sz="2400" dirty="0"/>
                    </a:p>
                  </a:txBody>
                  <a:tcPr/>
                </a:tc>
                <a:extLst>
                  <a:ext uri="{0D108BD9-81ED-4DB2-BD59-A6C34878D82A}">
                    <a16:rowId xmlns:a16="http://schemas.microsoft.com/office/drawing/2014/main" val="10004"/>
                  </a:ext>
                </a:extLst>
              </a:tr>
              <a:tr h="370840">
                <a:tc>
                  <a:txBody>
                    <a:bodyPr/>
                    <a:lstStyle/>
                    <a:p>
                      <a:r>
                        <a:rPr kumimoji="1" lang="en-US" altLang="en-US" sz="2400" b="1" dirty="0" err="1"/>
                        <a:t>terat</a:t>
                      </a:r>
                      <a:r>
                        <a:rPr kumimoji="1"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kumimoji="1" lang="en-US" altLang="en-US" sz="2400" b="1" dirty="0"/>
                        <a:t>test/o</a:t>
                      </a:r>
                      <a:endParaRPr lang="en-US" sz="2400" dirty="0"/>
                    </a:p>
                  </a:txBody>
                  <a:tcPr/>
                </a:tc>
                <a:extLst>
                  <a:ext uri="{0D108BD9-81ED-4DB2-BD59-A6C34878D82A}">
                    <a16:rowId xmlns:a16="http://schemas.microsoft.com/office/drawing/2014/main" val="10006"/>
                  </a:ext>
                </a:extLst>
              </a:tr>
              <a:tr h="370840">
                <a:tc>
                  <a:txBody>
                    <a:bodyPr/>
                    <a:lstStyle/>
                    <a:p>
                      <a:r>
                        <a:rPr kumimoji="1" lang="en-US" altLang="en-US" sz="2400" b="1" dirty="0" err="1"/>
                        <a:t>varic</a:t>
                      </a:r>
                      <a:r>
                        <a:rPr kumimoji="1" lang="en-US" altLang="en-US" sz="2400" b="1" dirty="0"/>
                        <a:t>/o</a:t>
                      </a:r>
                      <a:endParaRPr lang="en-US" sz="2400" dirty="0"/>
                    </a:p>
                  </a:txBody>
                  <a:tcPr/>
                </a:tc>
                <a:extLst>
                  <a:ext uri="{0D108BD9-81ED-4DB2-BD59-A6C34878D82A}">
                    <a16:rowId xmlns:a16="http://schemas.microsoft.com/office/drawing/2014/main" val="10007"/>
                  </a:ext>
                </a:extLst>
              </a:tr>
              <a:tr h="370840">
                <a:tc>
                  <a:txBody>
                    <a:bodyPr/>
                    <a:lstStyle/>
                    <a:p>
                      <a:r>
                        <a:rPr kumimoji="1" lang="en-US" altLang="en-US" sz="2400" b="1" dirty="0"/>
                        <a:t>vas/o</a:t>
                      </a:r>
                      <a:endParaRPr lang="en-US" sz="2400" dirty="0"/>
                    </a:p>
                  </a:txBody>
                  <a:tcPr/>
                </a:tc>
                <a:extLst>
                  <a:ext uri="{0D108BD9-81ED-4DB2-BD59-A6C34878D82A}">
                    <a16:rowId xmlns:a16="http://schemas.microsoft.com/office/drawing/2014/main" val="10008"/>
                  </a:ext>
                </a:extLst>
              </a:tr>
              <a:tr h="370840">
                <a:tc>
                  <a:txBody>
                    <a:bodyPr/>
                    <a:lstStyle/>
                    <a:p>
                      <a:r>
                        <a:rPr kumimoji="1" lang="en-US" altLang="en-US" sz="2400" b="1" dirty="0" err="1"/>
                        <a:t>zo</a:t>
                      </a:r>
                      <a:r>
                        <a:rPr kumimoji="1" lang="en-US" altLang="en-US" sz="2400" b="1" dirty="0"/>
                        <a:t>/o</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3452421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Review Sheet – Combining Forms</a:t>
            </a:r>
            <a:br>
              <a:rPr lang="en-US" dirty="0"/>
            </a:br>
            <a:r>
              <a:rPr lang="en-US" sz="4000" dirty="0"/>
              <a:t>(Slide 4 of 4)</a:t>
            </a:r>
          </a:p>
        </p:txBody>
      </p:sp>
      <p:graphicFrame>
        <p:nvGraphicFramePr>
          <p:cNvPr id="7" name="Content Placeholder 6" descr="Group 2 of 2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134721383"/>
              </p:ext>
            </p:extLst>
          </p:nvPr>
        </p:nvGraphicFramePr>
        <p:xfrm>
          <a:off x="457200" y="1600200"/>
          <a:ext cx="8229600" cy="4572000"/>
        </p:xfrm>
        <a:graphic>
          <a:graphicData uri="http://schemas.openxmlformats.org/drawingml/2006/table">
            <a:tbl>
              <a:tblPr firstRow="1" bandRow="1">
                <a:tableStyleId>{21E4AEA4-8DFA-4A89-87EB-49C32662AFE0}</a:tableStyleId>
              </a:tblPr>
              <a:tblGrid>
                <a:gridCol w="25908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pen/o</a:t>
                      </a:r>
                      <a:endParaRPr lang="en-US" sz="2400" dirty="0"/>
                    </a:p>
                  </a:txBody>
                  <a:tcPr/>
                </a:tc>
                <a:tc>
                  <a:txBody>
                    <a:bodyPr/>
                    <a:lstStyle/>
                    <a:p>
                      <a:r>
                        <a:rPr lang="en-US" altLang="en-US" sz="2400" dirty="0"/>
                        <a:t>penis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prostat</a:t>
                      </a:r>
                      <a:r>
                        <a:rPr lang="en-US" altLang="en-US" sz="2400" b="1" dirty="0"/>
                        <a:t>/o</a:t>
                      </a:r>
                      <a:endParaRPr lang="en-US" sz="2400" dirty="0"/>
                    </a:p>
                  </a:txBody>
                  <a:tcPr/>
                </a:tc>
                <a:tc>
                  <a:txBody>
                    <a:bodyPr/>
                    <a:lstStyle/>
                    <a:p>
                      <a:r>
                        <a:rPr kumimoji="1" lang="en-US" altLang="en-US" sz="2400" dirty="0"/>
                        <a:t>prostate gland</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err="1"/>
                        <a:t>semin</a:t>
                      </a:r>
                      <a:r>
                        <a:rPr kumimoji="1" lang="en-US" altLang="en-US" sz="2400" b="1" dirty="0"/>
                        <a:t>/</a:t>
                      </a:r>
                      <a:r>
                        <a:rPr kumimoji="1" lang="en-US" altLang="en-US" sz="2400" b="1" dirty="0" err="1"/>
                        <a:t>i</a:t>
                      </a:r>
                      <a:endParaRPr lang="en-US" sz="2400" dirty="0"/>
                    </a:p>
                  </a:txBody>
                  <a:tcPr/>
                </a:tc>
                <a:tc>
                  <a:txBody>
                    <a:bodyPr/>
                    <a:lstStyle/>
                    <a:p>
                      <a:r>
                        <a:rPr kumimoji="1" lang="en-US" altLang="en-US" sz="2400" dirty="0"/>
                        <a:t>semen, seed</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sperm/o</a:t>
                      </a:r>
                      <a:endParaRPr lang="en-US" sz="2400" dirty="0"/>
                    </a:p>
                  </a:txBody>
                  <a:tcPr/>
                </a:tc>
                <a:tc>
                  <a:txBody>
                    <a:bodyPr/>
                    <a:lstStyle/>
                    <a:p>
                      <a:r>
                        <a:rPr kumimoji="1" lang="en-US" altLang="en-US" sz="2400" dirty="0"/>
                        <a:t>spermatozoa, semen</a:t>
                      </a:r>
                      <a:endParaRPr lang="en-US" sz="2400" dirty="0"/>
                    </a:p>
                  </a:txBody>
                  <a:tcPr/>
                </a:tc>
                <a:extLst>
                  <a:ext uri="{0D108BD9-81ED-4DB2-BD59-A6C34878D82A}">
                    <a16:rowId xmlns:a16="http://schemas.microsoft.com/office/drawing/2014/main" val="10004"/>
                  </a:ext>
                </a:extLst>
              </a:tr>
              <a:tr h="370840">
                <a:tc>
                  <a:txBody>
                    <a:bodyPr/>
                    <a:lstStyle/>
                    <a:p>
                      <a:r>
                        <a:rPr kumimoji="1" lang="en-US" altLang="en-US" sz="2400" b="1" dirty="0" err="1"/>
                        <a:t>terat</a:t>
                      </a:r>
                      <a:r>
                        <a:rPr kumimoji="1" lang="en-US" altLang="en-US" sz="2400" b="1" dirty="0"/>
                        <a:t>/o</a:t>
                      </a:r>
                      <a:endParaRPr lang="en-US" sz="2400" dirty="0"/>
                    </a:p>
                  </a:txBody>
                  <a:tcPr/>
                </a:tc>
                <a:tc>
                  <a:txBody>
                    <a:bodyPr/>
                    <a:lstStyle/>
                    <a:p>
                      <a:r>
                        <a:rPr kumimoji="1" lang="en-US" altLang="en-US" sz="2400" dirty="0"/>
                        <a:t>monster</a:t>
                      </a:r>
                      <a:endParaRPr lang="en-US" sz="2400" dirty="0"/>
                    </a:p>
                  </a:txBody>
                  <a:tcPr/>
                </a:tc>
                <a:extLst>
                  <a:ext uri="{0D108BD9-81ED-4DB2-BD59-A6C34878D82A}">
                    <a16:rowId xmlns:a16="http://schemas.microsoft.com/office/drawing/2014/main" val="10005"/>
                  </a:ext>
                </a:extLst>
              </a:tr>
              <a:tr h="370840">
                <a:tc>
                  <a:txBody>
                    <a:bodyPr/>
                    <a:lstStyle/>
                    <a:p>
                      <a:r>
                        <a:rPr kumimoji="1" lang="en-US" altLang="en-US" sz="2400" b="1" dirty="0"/>
                        <a:t>test/o</a:t>
                      </a:r>
                      <a:endParaRPr lang="en-US" sz="2400" dirty="0"/>
                    </a:p>
                  </a:txBody>
                  <a:tcPr/>
                </a:tc>
                <a:tc>
                  <a:txBody>
                    <a:bodyPr/>
                    <a:lstStyle/>
                    <a:p>
                      <a:r>
                        <a:rPr kumimoji="1" lang="en-US" altLang="en-US" sz="2400" dirty="0"/>
                        <a:t>testis, testicle</a:t>
                      </a:r>
                      <a:endParaRPr lang="en-US" sz="2400" dirty="0"/>
                    </a:p>
                  </a:txBody>
                  <a:tcPr/>
                </a:tc>
                <a:extLst>
                  <a:ext uri="{0D108BD9-81ED-4DB2-BD59-A6C34878D82A}">
                    <a16:rowId xmlns:a16="http://schemas.microsoft.com/office/drawing/2014/main" val="10006"/>
                  </a:ext>
                </a:extLst>
              </a:tr>
              <a:tr h="370840">
                <a:tc>
                  <a:txBody>
                    <a:bodyPr/>
                    <a:lstStyle/>
                    <a:p>
                      <a:r>
                        <a:rPr kumimoji="1" lang="en-US" altLang="en-US" sz="2400" b="1" dirty="0" err="1"/>
                        <a:t>varic</a:t>
                      </a:r>
                      <a:r>
                        <a:rPr kumimoji="1" lang="en-US" altLang="en-US" sz="2400" b="1" dirty="0"/>
                        <a:t>/o</a:t>
                      </a:r>
                      <a:endParaRPr lang="en-US" sz="2400" dirty="0"/>
                    </a:p>
                  </a:txBody>
                  <a:tcPr/>
                </a:tc>
                <a:tc>
                  <a:txBody>
                    <a:bodyPr/>
                    <a:lstStyle/>
                    <a:p>
                      <a:r>
                        <a:rPr kumimoji="1" lang="en-US" altLang="en-US" sz="2400" dirty="0"/>
                        <a:t>varicose veins</a:t>
                      </a:r>
                      <a:endParaRPr lang="en-US" sz="2400" dirty="0"/>
                    </a:p>
                  </a:txBody>
                  <a:tcPr/>
                </a:tc>
                <a:extLst>
                  <a:ext uri="{0D108BD9-81ED-4DB2-BD59-A6C34878D82A}">
                    <a16:rowId xmlns:a16="http://schemas.microsoft.com/office/drawing/2014/main" val="10007"/>
                  </a:ext>
                </a:extLst>
              </a:tr>
              <a:tr h="370840">
                <a:tc>
                  <a:txBody>
                    <a:bodyPr/>
                    <a:lstStyle/>
                    <a:p>
                      <a:r>
                        <a:rPr kumimoji="1" lang="en-US" altLang="en-US" sz="2400" b="1" dirty="0"/>
                        <a:t>vas/o</a:t>
                      </a:r>
                      <a:endParaRPr lang="en-US" sz="2400" dirty="0"/>
                    </a:p>
                  </a:txBody>
                  <a:tcPr/>
                </a:tc>
                <a:tc>
                  <a:txBody>
                    <a:bodyPr/>
                    <a:lstStyle/>
                    <a:p>
                      <a:r>
                        <a:rPr kumimoji="1" lang="en-US" altLang="en-US" sz="2400" dirty="0"/>
                        <a:t>vessel duct</a:t>
                      </a:r>
                      <a:endParaRPr lang="en-US" sz="2400" dirty="0"/>
                    </a:p>
                  </a:txBody>
                  <a:tcPr/>
                </a:tc>
                <a:extLst>
                  <a:ext uri="{0D108BD9-81ED-4DB2-BD59-A6C34878D82A}">
                    <a16:rowId xmlns:a16="http://schemas.microsoft.com/office/drawing/2014/main" val="10008"/>
                  </a:ext>
                </a:extLst>
              </a:tr>
              <a:tr h="370840">
                <a:tc>
                  <a:txBody>
                    <a:bodyPr/>
                    <a:lstStyle/>
                    <a:p>
                      <a:r>
                        <a:rPr kumimoji="1" lang="en-US" altLang="en-US" sz="2400" b="1" dirty="0" err="1"/>
                        <a:t>zo</a:t>
                      </a:r>
                      <a:r>
                        <a:rPr kumimoji="1" lang="en-US" altLang="en-US" sz="2400" b="1" dirty="0"/>
                        <a:t>/o</a:t>
                      </a:r>
                      <a:endParaRPr lang="en-US" sz="2400" dirty="0"/>
                    </a:p>
                  </a:txBody>
                  <a:tcPr/>
                </a:tc>
                <a:tc>
                  <a:txBody>
                    <a:bodyPr/>
                    <a:lstStyle/>
                    <a:p>
                      <a:r>
                        <a:rPr kumimoji="1" lang="en-US" altLang="en-US" sz="2400" dirty="0"/>
                        <a:t>animal life</a:t>
                      </a:r>
                      <a:endParaRPr lang="en-US" sz="2400"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1061552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274638"/>
            <a:ext cx="8534400" cy="1143000"/>
          </a:xfrm>
        </p:spPr>
        <p:txBody>
          <a:bodyPr/>
          <a:lstStyle/>
          <a:p>
            <a:r>
              <a:rPr lang="en-US" dirty="0"/>
              <a:t>Review Sheet – Suffixes (Slide 1 of 2)</a:t>
            </a:r>
          </a:p>
        </p:txBody>
      </p:sp>
      <p:graphicFrame>
        <p:nvGraphicFramePr>
          <p:cNvPr id="7" name="Content Placeholder 6" descr="List of Suffixes from the Review Sheet of the text.  The following slide lists these same list with corresponding meanings."/>
          <p:cNvGraphicFramePr>
            <a:graphicFrameLocks noGrp="1"/>
          </p:cNvGraphicFramePr>
          <p:nvPr>
            <p:ph idx="1"/>
            <p:extLst>
              <p:ext uri="{D42A27DB-BD31-4B8C-83A1-F6EECF244321}">
                <p14:modId xmlns:p14="http://schemas.microsoft.com/office/powerpoint/2010/main" val="3490514293"/>
              </p:ext>
            </p:extLst>
          </p:nvPr>
        </p:nvGraphicFramePr>
        <p:xfrm>
          <a:off x="3695700" y="2057400"/>
          <a:ext cx="1752600" cy="2286000"/>
        </p:xfrm>
        <a:graphic>
          <a:graphicData uri="http://schemas.openxmlformats.org/drawingml/2006/table">
            <a:tbl>
              <a:tblPr firstRow="1" bandRow="1">
                <a:tableStyleId>{21E4AEA4-8DFA-4A89-87EB-49C32662AFE0}</a:tableStyleId>
              </a:tblPr>
              <a:tblGrid>
                <a:gridCol w="17526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kumimoji="1" lang="en-US" altLang="en-US" sz="2400" b="1" dirty="0"/>
                        <a:t>-genesis</a:t>
                      </a:r>
                      <a:endParaRPr lang="en-US" sz="2400" dirty="0"/>
                    </a:p>
                  </a:txBody>
                  <a:tcPr/>
                </a:tc>
                <a:extLst>
                  <a:ext uri="{0D108BD9-81ED-4DB2-BD59-A6C34878D82A}">
                    <a16:rowId xmlns:a16="http://schemas.microsoft.com/office/drawing/2014/main" val="10001"/>
                  </a:ext>
                </a:extLst>
              </a:tr>
              <a:tr h="370840">
                <a:tc>
                  <a:txBody>
                    <a:bodyPr/>
                    <a:lstStyle/>
                    <a:p>
                      <a:r>
                        <a:rPr kumimoji="1" lang="en-US" altLang="en-US" sz="2400" b="1" dirty="0"/>
                        <a:t>-one</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a:t>-</a:t>
                      </a:r>
                      <a:r>
                        <a:rPr kumimoji="1" lang="en-US" altLang="en-US" sz="2400" b="1" dirty="0" err="1"/>
                        <a:t>pexy</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a:t>
                      </a:r>
                      <a:r>
                        <a:rPr kumimoji="1" lang="en-US" altLang="en-US" sz="2400" b="1" dirty="0" err="1"/>
                        <a:t>stomy</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31142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04800" y="274638"/>
            <a:ext cx="8458200" cy="1143000"/>
          </a:xfrm>
        </p:spPr>
        <p:txBody>
          <a:bodyPr/>
          <a:lstStyle/>
          <a:p>
            <a:r>
              <a:rPr lang="en-US" dirty="0"/>
              <a:t>Review Sheet – Suffixes </a:t>
            </a:r>
            <a:r>
              <a:rPr lang="en-US" sz="4200" dirty="0"/>
              <a:t>(Slide 2 of 2)</a:t>
            </a:r>
          </a:p>
        </p:txBody>
      </p:sp>
      <p:graphicFrame>
        <p:nvGraphicFramePr>
          <p:cNvPr id="7" name="Content Placeholder 6" descr="List of Suffixes from the Review Sheet of the text with their corresponding meanings."/>
          <p:cNvGraphicFramePr>
            <a:graphicFrameLocks noGrp="1"/>
          </p:cNvGraphicFramePr>
          <p:nvPr>
            <p:ph idx="1"/>
            <p:extLst>
              <p:ext uri="{D42A27DB-BD31-4B8C-83A1-F6EECF244321}">
                <p14:modId xmlns:p14="http://schemas.microsoft.com/office/powerpoint/2010/main" val="3990935287"/>
              </p:ext>
            </p:extLst>
          </p:nvPr>
        </p:nvGraphicFramePr>
        <p:xfrm>
          <a:off x="457200" y="1600200"/>
          <a:ext cx="8229600" cy="2286000"/>
        </p:xfrm>
        <a:graphic>
          <a:graphicData uri="http://schemas.openxmlformats.org/drawingml/2006/table">
            <a:tbl>
              <a:tblPr firstRow="1" bandRow="1">
                <a:tableStyleId>{21E4AEA4-8DFA-4A89-87EB-49C32662AFE0}</a:tableStyleId>
              </a:tblPr>
              <a:tblGrid>
                <a:gridCol w="17526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kumimoji="1" lang="en-US" altLang="en-US" sz="2400" b="1" dirty="0"/>
                        <a:t>-genesis</a:t>
                      </a:r>
                      <a:endParaRPr lang="en-US" sz="2400" dirty="0"/>
                    </a:p>
                  </a:txBody>
                  <a:tcPr/>
                </a:tc>
                <a:tc>
                  <a:txBody>
                    <a:bodyPr/>
                    <a:lstStyle/>
                    <a:p>
                      <a:r>
                        <a:rPr kumimoji="1" lang="en-US" altLang="en-US" sz="2400" dirty="0"/>
                        <a:t>formation</a:t>
                      </a:r>
                      <a:endParaRPr lang="en-US" sz="2400" dirty="0"/>
                    </a:p>
                  </a:txBody>
                  <a:tcPr/>
                </a:tc>
                <a:extLst>
                  <a:ext uri="{0D108BD9-81ED-4DB2-BD59-A6C34878D82A}">
                    <a16:rowId xmlns:a16="http://schemas.microsoft.com/office/drawing/2014/main" val="10001"/>
                  </a:ext>
                </a:extLst>
              </a:tr>
              <a:tr h="370840">
                <a:tc>
                  <a:txBody>
                    <a:bodyPr/>
                    <a:lstStyle/>
                    <a:p>
                      <a:r>
                        <a:rPr kumimoji="1" lang="en-US" altLang="en-US" sz="2400" b="1" dirty="0"/>
                        <a:t>-one</a:t>
                      </a:r>
                      <a:endParaRPr lang="en-US" sz="2400" dirty="0"/>
                    </a:p>
                  </a:txBody>
                  <a:tcPr/>
                </a:tc>
                <a:tc>
                  <a:txBody>
                    <a:bodyPr/>
                    <a:lstStyle/>
                    <a:p>
                      <a:r>
                        <a:rPr kumimoji="1" lang="en-US" altLang="en-US" sz="2400" dirty="0"/>
                        <a:t>hormone</a:t>
                      </a:r>
                      <a:endParaRPr lang="en-US" sz="2400" dirty="0"/>
                    </a:p>
                  </a:txBody>
                  <a:tcPr/>
                </a:tc>
                <a:extLst>
                  <a:ext uri="{0D108BD9-81ED-4DB2-BD59-A6C34878D82A}">
                    <a16:rowId xmlns:a16="http://schemas.microsoft.com/office/drawing/2014/main" val="10002"/>
                  </a:ext>
                </a:extLst>
              </a:tr>
              <a:tr h="370840">
                <a:tc>
                  <a:txBody>
                    <a:bodyPr/>
                    <a:lstStyle/>
                    <a:p>
                      <a:r>
                        <a:rPr kumimoji="1" lang="en-US" altLang="en-US" sz="2400" b="1" dirty="0"/>
                        <a:t>-</a:t>
                      </a:r>
                      <a:r>
                        <a:rPr kumimoji="1" lang="en-US" altLang="en-US" sz="2400" b="1" dirty="0" err="1"/>
                        <a:t>pexy</a:t>
                      </a:r>
                      <a:endParaRPr lang="en-US" sz="2400" dirty="0"/>
                    </a:p>
                  </a:txBody>
                  <a:tcPr/>
                </a:tc>
                <a:tc>
                  <a:txBody>
                    <a:bodyPr/>
                    <a:lstStyle/>
                    <a:p>
                      <a:r>
                        <a:rPr kumimoji="1" lang="en-US" altLang="en-US" sz="2400" dirty="0"/>
                        <a:t>fixation, put in place</a:t>
                      </a:r>
                      <a:endParaRPr lang="en-US" sz="2400" dirty="0"/>
                    </a:p>
                  </a:txBody>
                  <a:tcPr/>
                </a:tc>
                <a:extLst>
                  <a:ext uri="{0D108BD9-81ED-4DB2-BD59-A6C34878D82A}">
                    <a16:rowId xmlns:a16="http://schemas.microsoft.com/office/drawing/2014/main" val="10003"/>
                  </a:ext>
                </a:extLst>
              </a:tr>
              <a:tr h="370840">
                <a:tc>
                  <a:txBody>
                    <a:bodyPr/>
                    <a:lstStyle/>
                    <a:p>
                      <a:r>
                        <a:rPr kumimoji="1" lang="en-US" altLang="en-US" sz="2400" b="1" dirty="0"/>
                        <a:t>-</a:t>
                      </a:r>
                      <a:r>
                        <a:rPr kumimoji="1" lang="en-US" altLang="en-US" sz="2400" b="1" dirty="0" err="1"/>
                        <a:t>stomy</a:t>
                      </a:r>
                      <a:endParaRPr lang="en-US" sz="2400" dirty="0"/>
                    </a:p>
                  </a:txBody>
                  <a:tcPr/>
                </a:tc>
                <a:tc>
                  <a:txBody>
                    <a:bodyPr/>
                    <a:lstStyle/>
                    <a:p>
                      <a:r>
                        <a:rPr kumimoji="1" lang="en-US" altLang="en-US" sz="2400" dirty="0"/>
                        <a:t>new opening</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240882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dirty="0"/>
              <a:t>      QUICK QUIZ (Slide 4 of 4)</a:t>
            </a:r>
            <a:endParaRPr lang="en-US" altLang="en-US" sz="4800" dirty="0"/>
          </a:p>
        </p:txBody>
      </p:sp>
      <p:sp>
        <p:nvSpPr>
          <p:cNvPr id="58371" name="Rectangle 3"/>
          <p:cNvSpPr>
            <a:spLocks noGrp="1" noChangeArrowheads="1"/>
          </p:cNvSpPr>
          <p:nvPr>
            <p:ph idx="1"/>
          </p:nvPr>
        </p:nvSpPr>
        <p:spPr>
          <a:xfrm>
            <a:off x="685800" y="1600200"/>
            <a:ext cx="6934200" cy="4495800"/>
          </a:xfrm>
        </p:spPr>
        <p:txBody>
          <a:bodyPr/>
          <a:lstStyle/>
          <a:p>
            <a:pPr marL="533400" indent="-533400" eaLnBrk="1" hangingPunct="1">
              <a:buFont typeface="Wingdings 2" panose="05020102010507070707" pitchFamily="18" charset="2"/>
              <a:buNone/>
            </a:pPr>
            <a:r>
              <a:rPr lang="en-US" altLang="en-US" b="1"/>
              <a:t>4.  Which term means </a:t>
            </a:r>
            <a:r>
              <a:rPr lang="ja-JP" altLang="en-US" b="1"/>
              <a:t>“</a:t>
            </a:r>
            <a:r>
              <a:rPr lang="en-US" altLang="ja-JP" b="1"/>
              <a:t>no sperm or semen are produced</a:t>
            </a:r>
            <a:r>
              <a:rPr lang="ja-JP" altLang="en-US" b="1"/>
              <a:t>”</a:t>
            </a:r>
            <a:r>
              <a:rPr lang="en-US" altLang="ja-JP" b="1"/>
              <a:t>?</a:t>
            </a:r>
          </a:p>
          <a:p>
            <a:pPr marL="533400" indent="-533400" eaLnBrk="1" hangingPunct="1">
              <a:buFont typeface="Wingdings 2" panose="05020102010507070707" pitchFamily="18" charset="2"/>
              <a:buNone/>
            </a:pPr>
            <a:endParaRPr lang="en-US" altLang="en-US" b="1"/>
          </a:p>
          <a:p>
            <a:pPr marL="533400" indent="-533400" eaLnBrk="1" hangingPunct="1">
              <a:lnSpc>
                <a:spcPct val="65000"/>
              </a:lnSpc>
              <a:buFont typeface="Wingdings 2" panose="05020102010507070707" pitchFamily="18" charset="2"/>
              <a:buNone/>
            </a:pPr>
            <a:r>
              <a:rPr lang="en-US" altLang="en-US"/>
              <a:t>	A.  Aspermia</a:t>
            </a:r>
          </a:p>
          <a:p>
            <a:pPr marL="533400" indent="-533400" eaLnBrk="1" hangingPunct="1">
              <a:lnSpc>
                <a:spcPct val="65000"/>
              </a:lnSpc>
              <a:buFont typeface="Wingdings 2" panose="05020102010507070707" pitchFamily="18" charset="2"/>
              <a:buNone/>
            </a:pPr>
            <a:r>
              <a:rPr lang="en-US" altLang="en-US"/>
              <a:t>	B.  Oligospermia</a:t>
            </a:r>
          </a:p>
          <a:p>
            <a:pPr marL="533400" indent="-533400" eaLnBrk="1" hangingPunct="1">
              <a:lnSpc>
                <a:spcPct val="65000"/>
              </a:lnSpc>
              <a:buFont typeface="Wingdings 2" panose="05020102010507070707" pitchFamily="18" charset="2"/>
              <a:buNone/>
            </a:pPr>
            <a:r>
              <a:rPr lang="en-US" altLang="en-US"/>
              <a:t>	C.  Anorchism</a:t>
            </a:r>
          </a:p>
          <a:p>
            <a:pPr marL="533400" indent="-533400" eaLnBrk="1" hangingPunct="1">
              <a:lnSpc>
                <a:spcPct val="65000"/>
              </a:lnSpc>
              <a:buFont typeface="Wingdings 2" panose="05020102010507070707" pitchFamily="18" charset="2"/>
              <a:buNone/>
            </a:pPr>
            <a:r>
              <a:rPr lang="en-US" altLang="en-US"/>
              <a:t>	D.  Spermolytic</a:t>
            </a:r>
          </a:p>
        </p:txBody>
      </p:sp>
    </p:spTree>
    <p:extLst>
      <p:ext uri="{BB962C8B-B14F-4D97-AF65-F5344CB8AC3E}">
        <p14:creationId xmlns:p14="http://schemas.microsoft.com/office/powerpoint/2010/main" val="2785508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4286</TotalTime>
  <Words>2150</Words>
  <Application>Microsoft Office PowerPoint</Application>
  <PresentationFormat>On-screen Show (4:3)</PresentationFormat>
  <Paragraphs>449</Paragraphs>
  <Slides>52</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ＭＳ Ｐゴシック</vt:lpstr>
      <vt:lpstr>ＭＳ Ｐゴシック</vt:lpstr>
      <vt:lpstr>Arial</vt:lpstr>
      <vt:lpstr>Calibri</vt:lpstr>
      <vt:lpstr>Times</vt:lpstr>
      <vt:lpstr>Times New Roman</vt:lpstr>
      <vt:lpstr>Wingdings</vt:lpstr>
      <vt:lpstr>Wingdings 2</vt:lpstr>
      <vt:lpstr>Office Theme</vt:lpstr>
      <vt:lpstr>The Language of Medicine 13th edition</vt:lpstr>
      <vt:lpstr>Chapter 9 Male Reproductive System</vt:lpstr>
      <vt:lpstr>Chapter Goals (Slide 1 of 2)</vt:lpstr>
      <vt:lpstr>Chapter Goals (Slide 2 of 2)</vt:lpstr>
      <vt:lpstr>Chapter 9  Lesson 9.1</vt:lpstr>
      <vt:lpstr>Introduction (Slide 1 of 4)</vt:lpstr>
      <vt:lpstr>Introduction (Slide 2 of 4)</vt:lpstr>
      <vt:lpstr>Introduction (Slide 3 of 4)</vt:lpstr>
      <vt:lpstr>Introduction (Slide 4 of 4)</vt:lpstr>
      <vt:lpstr>Anatomy of the Male Reproductive System (slide 1 of 4)</vt:lpstr>
      <vt:lpstr>Anatomy of the Male Reproductive System (slide 2 of 4)</vt:lpstr>
      <vt:lpstr>Anatomy of the Male Reproductive System (slide 3 of 4)</vt:lpstr>
      <vt:lpstr>Anatomy of the Male Reproductive System (slide 4 of 4)</vt:lpstr>
      <vt:lpstr>Vocabulary (Slide 1 of 16)</vt:lpstr>
      <vt:lpstr>Vocabulary (Slide 2 of 16)</vt:lpstr>
      <vt:lpstr>Vocabulary (Slide 3 of 16)</vt:lpstr>
      <vt:lpstr>Vocabulary (Slide 4 of 16)</vt:lpstr>
      <vt:lpstr>Vocabulary (Slide 5 of 16)</vt:lpstr>
      <vt:lpstr>Vocabulary (Slide 6 of 16)</vt:lpstr>
      <vt:lpstr>Vocabulary (Slide 7 of 16)</vt:lpstr>
      <vt:lpstr>Vocabulary (Slide 8 of 16)</vt:lpstr>
      <vt:lpstr>Vocabulary (Slide 9 of 16)</vt:lpstr>
      <vt:lpstr>Vocabulary (Slide 10 of 16)</vt:lpstr>
      <vt:lpstr>Vocabulary (Slide 11 of 16)</vt:lpstr>
      <vt:lpstr>Vocabulary (Slide 12 of 16)</vt:lpstr>
      <vt:lpstr>Vocabulary (Slide 13 of 16)</vt:lpstr>
      <vt:lpstr>Vocabulary (Slide 14 of 16)</vt:lpstr>
      <vt:lpstr>Vocabulary (Slide 15 of 16)</vt:lpstr>
      <vt:lpstr>Vocabulary (Slide 16 of 16)</vt:lpstr>
      <vt:lpstr>      QUICK QUIZ (Slide 1 of 4)</vt:lpstr>
      <vt:lpstr>Terminology – Combining Forms (Slide 1 of 2)</vt:lpstr>
      <vt:lpstr>Terminology – Combining Forms (Slide 2 of 2)</vt:lpstr>
      <vt:lpstr>Terminology – Suffixes (Slide 1 of 1)</vt:lpstr>
      <vt:lpstr>Chapter 9 Lesson 9.2</vt:lpstr>
      <vt:lpstr>Pathologic Conditions (Slide 1 of 3)</vt:lpstr>
      <vt:lpstr>Pathologic Conditions (Slide 2 of 3)</vt:lpstr>
      <vt:lpstr>Pathologic Conditions (Slide 3 of 3)</vt:lpstr>
      <vt:lpstr>Sexually Transmitted Infections </vt:lpstr>
      <vt:lpstr>Laboratory Tests and Clinical Procedures</vt:lpstr>
      <vt:lpstr>      QUICK QUIZ (Slide 2 of 4)</vt:lpstr>
      <vt:lpstr>Laboratory Tests and Clinical Procedures (Slide 1 of 2)</vt:lpstr>
      <vt:lpstr>Laboratory Tests and Clinical Procedures (Slide 2 of 2)</vt:lpstr>
      <vt:lpstr>      QUICK QUIZ (Slide 3 of 4)</vt:lpstr>
      <vt:lpstr>Abbreviations (Slide 1 of 2)</vt:lpstr>
      <vt:lpstr>Abbreviations (Slide 2 of 2)</vt:lpstr>
      <vt:lpstr>Review Sheet – Combining Forms (Slide 1 of 4)</vt:lpstr>
      <vt:lpstr>Review Sheet – Combining Forms (Slide 2 of 4)</vt:lpstr>
      <vt:lpstr>Review Sheet – Combining Forms (Slide 3 of 4)</vt:lpstr>
      <vt:lpstr>Review Sheet – Combining Forms (Slide 4 of 4)</vt:lpstr>
      <vt:lpstr>Review Sheet – Suffixes (Slide 1 of 2)</vt:lpstr>
      <vt:lpstr>Review Sheet – Suffixes (Slide 2 of 2)</vt:lpstr>
      <vt:lpstr>      QUICK QUIZ (Slide 4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299</cp:revision>
  <cp:lastPrinted>2007-04-13T22:20:09Z</cp:lastPrinted>
  <dcterms:created xsi:type="dcterms:W3CDTF">2004-11-01T16:15:23Z</dcterms:created>
  <dcterms:modified xsi:type="dcterms:W3CDTF">2023-12-07T04:11:52Z</dcterms:modified>
</cp:coreProperties>
</file>