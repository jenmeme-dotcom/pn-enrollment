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1"/>
  </p:sldMasterIdLst>
  <p:notesMasterIdLst>
    <p:notesMasterId r:id="rId76"/>
  </p:notesMasterIdLst>
  <p:handoutMasterIdLst>
    <p:handoutMasterId r:id="rId77"/>
  </p:handoutMasterIdLst>
  <p:sldIdLst>
    <p:sldId id="332" r:id="rId2"/>
    <p:sldId id="338" r:id="rId3"/>
    <p:sldId id="339" r:id="rId4"/>
    <p:sldId id="340" r:id="rId5"/>
    <p:sldId id="341" r:id="rId6"/>
    <p:sldId id="342" r:id="rId7"/>
    <p:sldId id="343" r:id="rId8"/>
    <p:sldId id="344" r:id="rId9"/>
    <p:sldId id="345" r:id="rId10"/>
    <p:sldId id="346" r:id="rId11"/>
    <p:sldId id="347" r:id="rId12"/>
    <p:sldId id="348" r:id="rId13"/>
    <p:sldId id="349" r:id="rId14"/>
    <p:sldId id="350" r:id="rId15"/>
    <p:sldId id="351" r:id="rId16"/>
    <p:sldId id="352" r:id="rId17"/>
    <p:sldId id="353" r:id="rId18"/>
    <p:sldId id="354" r:id="rId19"/>
    <p:sldId id="355" r:id="rId20"/>
    <p:sldId id="356" r:id="rId21"/>
    <p:sldId id="357" r:id="rId22"/>
    <p:sldId id="358" r:id="rId23"/>
    <p:sldId id="359" r:id="rId24"/>
    <p:sldId id="360" r:id="rId25"/>
    <p:sldId id="361" r:id="rId26"/>
    <p:sldId id="362" r:id="rId27"/>
    <p:sldId id="363" r:id="rId28"/>
    <p:sldId id="364" r:id="rId29"/>
    <p:sldId id="365" r:id="rId30"/>
    <p:sldId id="366" r:id="rId31"/>
    <p:sldId id="367" r:id="rId32"/>
    <p:sldId id="368" r:id="rId33"/>
    <p:sldId id="369" r:id="rId34"/>
    <p:sldId id="370" r:id="rId35"/>
    <p:sldId id="371" r:id="rId36"/>
    <p:sldId id="372" r:id="rId37"/>
    <p:sldId id="373" r:id="rId38"/>
    <p:sldId id="374" r:id="rId39"/>
    <p:sldId id="375" r:id="rId40"/>
    <p:sldId id="376" r:id="rId41"/>
    <p:sldId id="377" r:id="rId42"/>
    <p:sldId id="378" r:id="rId43"/>
    <p:sldId id="379" r:id="rId44"/>
    <p:sldId id="380" r:id="rId45"/>
    <p:sldId id="381" r:id="rId46"/>
    <p:sldId id="382" r:id="rId47"/>
    <p:sldId id="383" r:id="rId48"/>
    <p:sldId id="384" r:id="rId49"/>
    <p:sldId id="385" r:id="rId50"/>
    <p:sldId id="386" r:id="rId51"/>
    <p:sldId id="387" r:id="rId52"/>
    <p:sldId id="388" r:id="rId53"/>
    <p:sldId id="389" r:id="rId54"/>
    <p:sldId id="390" r:id="rId55"/>
    <p:sldId id="391" r:id="rId56"/>
    <p:sldId id="392" r:id="rId57"/>
    <p:sldId id="393" r:id="rId58"/>
    <p:sldId id="395" r:id="rId59"/>
    <p:sldId id="397" r:id="rId60"/>
    <p:sldId id="399" r:id="rId61"/>
    <p:sldId id="401" r:id="rId62"/>
    <p:sldId id="403" r:id="rId63"/>
    <p:sldId id="404" r:id="rId64"/>
    <p:sldId id="405" r:id="rId65"/>
    <p:sldId id="406" r:id="rId66"/>
    <p:sldId id="407" r:id="rId67"/>
    <p:sldId id="408" r:id="rId68"/>
    <p:sldId id="409" r:id="rId69"/>
    <p:sldId id="410" r:id="rId70"/>
    <p:sldId id="411" r:id="rId71"/>
    <p:sldId id="412" r:id="rId72"/>
    <p:sldId id="413" r:id="rId73"/>
    <p:sldId id="414" r:id="rId74"/>
    <p:sldId id="415" r:id="rId7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pos="4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92" autoAdjust="0"/>
    <p:restoredTop sz="80777" autoAdjust="0"/>
  </p:normalViewPr>
  <p:slideViewPr>
    <p:cSldViewPr>
      <p:cViewPr varScale="1">
        <p:scale>
          <a:sx n="51" d="100"/>
          <a:sy n="51" d="100"/>
        </p:scale>
        <p:origin x="1496" y="40"/>
      </p:cViewPr>
      <p:guideLst>
        <p:guide orient="horz" pos="1008"/>
        <p:guide pos="432"/>
      </p:guideLst>
    </p:cSldViewPr>
  </p:slideViewPr>
  <p:outlineViewPr>
    <p:cViewPr>
      <p:scale>
        <a:sx n="33" d="100"/>
        <a:sy n="33" d="100"/>
      </p:scale>
      <p:origin x="0" y="1192"/>
    </p:cViewPr>
    <p:sldLst>
      <p:sld r:id="rId1" collapse="1"/>
    </p:sldLst>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_rels/viewProps.xml.rels><?xml version="1.0" encoding="UTF-8" standalone="yes"?>
<Relationships xmlns="http://schemas.openxmlformats.org/package/2006/relationships"><Relationship Id="rId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Pfeifer" userId="fb68dd40a6c6cee7" providerId="LiveId" clId="{3AE0E3F7-AF9C-4BB1-8BFB-FCA2D9E889E6}"/>
    <pc:docChg chg="undo custSel modSld modMainMaster">
      <pc:chgData name="Ben Pfeifer" userId="fb68dd40a6c6cee7" providerId="LiveId" clId="{3AE0E3F7-AF9C-4BB1-8BFB-FCA2D9E889E6}" dt="2023-09-26T08:41:43.554" v="23" actId="12385"/>
      <pc:docMkLst>
        <pc:docMk/>
      </pc:docMkLst>
      <pc:sldChg chg="modSp mod">
        <pc:chgData name="Ben Pfeifer" userId="fb68dd40a6c6cee7" providerId="LiveId" clId="{3AE0E3F7-AF9C-4BB1-8BFB-FCA2D9E889E6}" dt="2023-09-26T08:37:18.028" v="1" actId="20577"/>
        <pc:sldMkLst>
          <pc:docMk/>
          <pc:sldMk cId="1428288934" sldId="332"/>
        </pc:sldMkLst>
        <pc:spChg chg="mod">
          <ac:chgData name="Ben Pfeifer" userId="fb68dd40a6c6cee7" providerId="LiveId" clId="{3AE0E3F7-AF9C-4BB1-8BFB-FCA2D9E889E6}" dt="2023-09-26T08:37:18.028" v="1" actId="20577"/>
          <ac:spMkLst>
            <pc:docMk/>
            <pc:sldMk cId="1428288934" sldId="332"/>
            <ac:spMk id="2" creationId="{00000000-0000-0000-0000-000000000000}"/>
          </ac:spMkLst>
        </pc:spChg>
      </pc:sldChg>
      <pc:sldChg chg="modSp mod">
        <pc:chgData name="Ben Pfeifer" userId="fb68dd40a6c6cee7" providerId="LiveId" clId="{3AE0E3F7-AF9C-4BB1-8BFB-FCA2D9E889E6}" dt="2023-09-26T08:38:02.064" v="10" actId="20577"/>
        <pc:sldMkLst>
          <pc:docMk/>
          <pc:sldMk cId="3028741112" sldId="340"/>
        </pc:sldMkLst>
        <pc:spChg chg="mod">
          <ac:chgData name="Ben Pfeifer" userId="fb68dd40a6c6cee7" providerId="LiveId" clId="{3AE0E3F7-AF9C-4BB1-8BFB-FCA2D9E889E6}" dt="2023-09-26T08:38:02.064" v="10" actId="20577"/>
          <ac:spMkLst>
            <pc:docMk/>
            <pc:sldMk cId="3028741112" sldId="340"/>
            <ac:spMk id="7171" creationId="{00000000-0000-0000-0000-000000000000}"/>
          </ac:spMkLst>
        </pc:spChg>
      </pc:sldChg>
      <pc:sldChg chg="modSp mod">
        <pc:chgData name="Ben Pfeifer" userId="fb68dd40a6c6cee7" providerId="LiveId" clId="{3AE0E3F7-AF9C-4BB1-8BFB-FCA2D9E889E6}" dt="2023-09-26T08:41:01.330" v="11" actId="12385"/>
        <pc:sldMkLst>
          <pc:docMk/>
          <pc:sldMk cId="3416932181" sldId="369"/>
        </pc:sldMkLst>
        <pc:graphicFrameChg chg="modGraphic">
          <ac:chgData name="Ben Pfeifer" userId="fb68dd40a6c6cee7" providerId="LiveId" clId="{3AE0E3F7-AF9C-4BB1-8BFB-FCA2D9E889E6}" dt="2023-09-26T08:41:01.330" v="11" actId="12385"/>
          <ac:graphicFrameMkLst>
            <pc:docMk/>
            <pc:sldMk cId="3416932181" sldId="369"/>
            <ac:graphicFrameMk id="7" creationId="{00000000-0000-0000-0000-000000000000}"/>
          </ac:graphicFrameMkLst>
        </pc:graphicFrameChg>
      </pc:sldChg>
      <pc:sldChg chg="modSp mod">
        <pc:chgData name="Ben Pfeifer" userId="fb68dd40a6c6cee7" providerId="LiveId" clId="{3AE0E3F7-AF9C-4BB1-8BFB-FCA2D9E889E6}" dt="2023-09-26T08:41:03.751" v="12" actId="12385"/>
        <pc:sldMkLst>
          <pc:docMk/>
          <pc:sldMk cId="1329517833" sldId="370"/>
        </pc:sldMkLst>
        <pc:graphicFrameChg chg="modGraphic">
          <ac:chgData name="Ben Pfeifer" userId="fb68dd40a6c6cee7" providerId="LiveId" clId="{3AE0E3F7-AF9C-4BB1-8BFB-FCA2D9E889E6}" dt="2023-09-26T08:41:03.751" v="12" actId="12385"/>
          <ac:graphicFrameMkLst>
            <pc:docMk/>
            <pc:sldMk cId="1329517833" sldId="370"/>
            <ac:graphicFrameMk id="7" creationId="{00000000-0000-0000-0000-000000000000}"/>
          </ac:graphicFrameMkLst>
        </pc:graphicFrameChg>
      </pc:sldChg>
      <pc:sldChg chg="modSp mod">
        <pc:chgData name="Ben Pfeifer" userId="fb68dd40a6c6cee7" providerId="LiveId" clId="{3AE0E3F7-AF9C-4BB1-8BFB-FCA2D9E889E6}" dt="2023-09-26T08:41:06.053" v="13" actId="12385"/>
        <pc:sldMkLst>
          <pc:docMk/>
          <pc:sldMk cId="1785995690" sldId="371"/>
        </pc:sldMkLst>
        <pc:graphicFrameChg chg="modGraphic">
          <ac:chgData name="Ben Pfeifer" userId="fb68dd40a6c6cee7" providerId="LiveId" clId="{3AE0E3F7-AF9C-4BB1-8BFB-FCA2D9E889E6}" dt="2023-09-26T08:41:06.053" v="13" actId="12385"/>
          <ac:graphicFrameMkLst>
            <pc:docMk/>
            <pc:sldMk cId="1785995690" sldId="371"/>
            <ac:graphicFrameMk id="7" creationId="{00000000-0000-0000-0000-000000000000}"/>
          </ac:graphicFrameMkLst>
        </pc:graphicFrameChg>
      </pc:sldChg>
      <pc:sldChg chg="modSp mod">
        <pc:chgData name="Ben Pfeifer" userId="fb68dd40a6c6cee7" providerId="LiveId" clId="{3AE0E3F7-AF9C-4BB1-8BFB-FCA2D9E889E6}" dt="2023-09-26T08:41:08.354" v="14" actId="12385"/>
        <pc:sldMkLst>
          <pc:docMk/>
          <pc:sldMk cId="3717550994" sldId="372"/>
        </pc:sldMkLst>
        <pc:graphicFrameChg chg="modGraphic">
          <ac:chgData name="Ben Pfeifer" userId="fb68dd40a6c6cee7" providerId="LiveId" clId="{3AE0E3F7-AF9C-4BB1-8BFB-FCA2D9E889E6}" dt="2023-09-26T08:41:08.354" v="14" actId="12385"/>
          <ac:graphicFrameMkLst>
            <pc:docMk/>
            <pc:sldMk cId="3717550994" sldId="372"/>
            <ac:graphicFrameMk id="7" creationId="{00000000-0000-0000-0000-000000000000}"/>
          </ac:graphicFrameMkLst>
        </pc:graphicFrameChg>
      </pc:sldChg>
      <pc:sldChg chg="modSp mod">
        <pc:chgData name="Ben Pfeifer" userId="fb68dd40a6c6cee7" providerId="LiveId" clId="{3AE0E3F7-AF9C-4BB1-8BFB-FCA2D9E889E6}" dt="2023-09-26T08:41:11.145" v="15" actId="12385"/>
        <pc:sldMkLst>
          <pc:docMk/>
          <pc:sldMk cId="4255326519" sldId="373"/>
        </pc:sldMkLst>
        <pc:graphicFrameChg chg="modGraphic">
          <ac:chgData name="Ben Pfeifer" userId="fb68dd40a6c6cee7" providerId="LiveId" clId="{3AE0E3F7-AF9C-4BB1-8BFB-FCA2D9E889E6}" dt="2023-09-26T08:41:11.145" v="15" actId="12385"/>
          <ac:graphicFrameMkLst>
            <pc:docMk/>
            <pc:sldMk cId="4255326519" sldId="373"/>
            <ac:graphicFrameMk id="7" creationId="{00000000-0000-0000-0000-000000000000}"/>
          </ac:graphicFrameMkLst>
        </pc:graphicFrameChg>
      </pc:sldChg>
      <pc:sldChg chg="modSp mod">
        <pc:chgData name="Ben Pfeifer" userId="fb68dd40a6c6cee7" providerId="LiveId" clId="{3AE0E3F7-AF9C-4BB1-8BFB-FCA2D9E889E6}" dt="2023-09-26T08:41:14.109" v="16" actId="12385"/>
        <pc:sldMkLst>
          <pc:docMk/>
          <pc:sldMk cId="3946513251" sldId="374"/>
        </pc:sldMkLst>
        <pc:graphicFrameChg chg="modGraphic">
          <ac:chgData name="Ben Pfeifer" userId="fb68dd40a6c6cee7" providerId="LiveId" clId="{3AE0E3F7-AF9C-4BB1-8BFB-FCA2D9E889E6}" dt="2023-09-26T08:41:14.109" v="16" actId="12385"/>
          <ac:graphicFrameMkLst>
            <pc:docMk/>
            <pc:sldMk cId="3946513251" sldId="374"/>
            <ac:graphicFrameMk id="7" creationId="{00000000-0000-0000-0000-000000000000}"/>
          </ac:graphicFrameMkLst>
        </pc:graphicFrameChg>
      </pc:sldChg>
      <pc:sldChg chg="modSp mod">
        <pc:chgData name="Ben Pfeifer" userId="fb68dd40a6c6cee7" providerId="LiveId" clId="{3AE0E3F7-AF9C-4BB1-8BFB-FCA2D9E889E6}" dt="2023-09-26T08:41:30.365" v="19" actId="12385"/>
        <pc:sldMkLst>
          <pc:docMk/>
          <pc:sldMk cId="166682062" sldId="395"/>
        </pc:sldMkLst>
        <pc:graphicFrameChg chg="modGraphic">
          <ac:chgData name="Ben Pfeifer" userId="fb68dd40a6c6cee7" providerId="LiveId" clId="{3AE0E3F7-AF9C-4BB1-8BFB-FCA2D9E889E6}" dt="2023-09-26T08:41:30.365" v="19" actId="12385"/>
          <ac:graphicFrameMkLst>
            <pc:docMk/>
            <pc:sldMk cId="166682062" sldId="395"/>
            <ac:graphicFrameMk id="7" creationId="{00000000-0000-0000-0000-000000000000}"/>
          </ac:graphicFrameMkLst>
        </pc:graphicFrameChg>
      </pc:sldChg>
      <pc:sldChg chg="modSp mod">
        <pc:chgData name="Ben Pfeifer" userId="fb68dd40a6c6cee7" providerId="LiveId" clId="{3AE0E3F7-AF9C-4BB1-8BFB-FCA2D9E889E6}" dt="2023-09-26T08:41:33.513" v="20" actId="12385"/>
        <pc:sldMkLst>
          <pc:docMk/>
          <pc:sldMk cId="2053331835" sldId="397"/>
        </pc:sldMkLst>
        <pc:graphicFrameChg chg="modGraphic">
          <ac:chgData name="Ben Pfeifer" userId="fb68dd40a6c6cee7" providerId="LiveId" clId="{3AE0E3F7-AF9C-4BB1-8BFB-FCA2D9E889E6}" dt="2023-09-26T08:41:33.513" v="20" actId="12385"/>
          <ac:graphicFrameMkLst>
            <pc:docMk/>
            <pc:sldMk cId="2053331835" sldId="397"/>
            <ac:graphicFrameMk id="7" creationId="{00000000-0000-0000-0000-000000000000}"/>
          </ac:graphicFrameMkLst>
        </pc:graphicFrameChg>
      </pc:sldChg>
      <pc:sldChg chg="modSp mod">
        <pc:chgData name="Ben Pfeifer" userId="fb68dd40a6c6cee7" providerId="LiveId" clId="{3AE0E3F7-AF9C-4BB1-8BFB-FCA2D9E889E6}" dt="2023-09-26T08:41:36.709" v="21" actId="12385"/>
        <pc:sldMkLst>
          <pc:docMk/>
          <pc:sldMk cId="3357459294" sldId="399"/>
        </pc:sldMkLst>
        <pc:graphicFrameChg chg="modGraphic">
          <ac:chgData name="Ben Pfeifer" userId="fb68dd40a6c6cee7" providerId="LiveId" clId="{3AE0E3F7-AF9C-4BB1-8BFB-FCA2D9E889E6}" dt="2023-09-26T08:41:36.709" v="21" actId="12385"/>
          <ac:graphicFrameMkLst>
            <pc:docMk/>
            <pc:sldMk cId="3357459294" sldId="399"/>
            <ac:graphicFrameMk id="7" creationId="{00000000-0000-0000-0000-000000000000}"/>
          </ac:graphicFrameMkLst>
        </pc:graphicFrameChg>
      </pc:sldChg>
      <pc:sldChg chg="modSp mod">
        <pc:chgData name="Ben Pfeifer" userId="fb68dd40a6c6cee7" providerId="LiveId" clId="{3AE0E3F7-AF9C-4BB1-8BFB-FCA2D9E889E6}" dt="2023-09-26T08:41:40.264" v="22" actId="12385"/>
        <pc:sldMkLst>
          <pc:docMk/>
          <pc:sldMk cId="1723739352" sldId="401"/>
        </pc:sldMkLst>
        <pc:graphicFrameChg chg="modGraphic">
          <ac:chgData name="Ben Pfeifer" userId="fb68dd40a6c6cee7" providerId="LiveId" clId="{3AE0E3F7-AF9C-4BB1-8BFB-FCA2D9E889E6}" dt="2023-09-26T08:41:40.264" v="22" actId="12385"/>
          <ac:graphicFrameMkLst>
            <pc:docMk/>
            <pc:sldMk cId="1723739352" sldId="401"/>
            <ac:graphicFrameMk id="7" creationId="{00000000-0000-0000-0000-000000000000}"/>
          </ac:graphicFrameMkLst>
        </pc:graphicFrameChg>
      </pc:sldChg>
      <pc:sldChg chg="modSp mod">
        <pc:chgData name="Ben Pfeifer" userId="fb68dd40a6c6cee7" providerId="LiveId" clId="{3AE0E3F7-AF9C-4BB1-8BFB-FCA2D9E889E6}" dt="2023-09-26T08:41:43.554" v="23" actId="12385"/>
        <pc:sldMkLst>
          <pc:docMk/>
          <pc:sldMk cId="292524565" sldId="403"/>
        </pc:sldMkLst>
        <pc:graphicFrameChg chg="modGraphic">
          <ac:chgData name="Ben Pfeifer" userId="fb68dd40a6c6cee7" providerId="LiveId" clId="{3AE0E3F7-AF9C-4BB1-8BFB-FCA2D9E889E6}" dt="2023-09-26T08:41:43.554" v="23" actId="12385"/>
          <ac:graphicFrameMkLst>
            <pc:docMk/>
            <pc:sldMk cId="292524565" sldId="403"/>
            <ac:graphicFrameMk id="7" creationId="{00000000-0000-0000-0000-000000000000}"/>
          </ac:graphicFrameMkLst>
        </pc:graphicFrameChg>
      </pc:sldChg>
      <pc:sldMasterChg chg="modSp mod">
        <pc:chgData name="Ben Pfeifer" userId="fb68dd40a6c6cee7" providerId="LiveId" clId="{3AE0E3F7-AF9C-4BB1-8BFB-FCA2D9E889E6}" dt="2023-09-26T08:37:41.721" v="7" actId="20577"/>
        <pc:sldMasterMkLst>
          <pc:docMk/>
          <pc:sldMasterMk cId="0" sldId="2147483762"/>
        </pc:sldMasterMkLst>
        <pc:spChg chg="mod">
          <ac:chgData name="Ben Pfeifer" userId="fb68dd40a6c6cee7" providerId="LiveId" clId="{3AE0E3F7-AF9C-4BB1-8BFB-FCA2D9E889E6}" dt="2023-09-26T08:37:41.721" v="7" actId="20577"/>
          <ac:spMkLst>
            <pc:docMk/>
            <pc:sldMasterMk cId="0" sldId="2147483762"/>
            <ac:spMk id="103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3" name="Rectangle 3"/>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algn="r" eaLnBrk="1" hangingPunct="1">
              <a:defRPr sz="1200">
                <a:latin typeface="Times New Roman" pitchFamily="80" charset="0"/>
                <a:ea typeface="+mn-ea"/>
                <a:cs typeface="+mn-cs"/>
              </a:defRPr>
            </a:lvl1pPr>
          </a:lstStyle>
          <a:p>
            <a:pPr>
              <a:defRPr/>
            </a:pPr>
            <a:endParaRPr lang="en-US"/>
          </a:p>
        </p:txBody>
      </p:sp>
      <p:sp>
        <p:nvSpPr>
          <p:cNvPr id="128004" name="Rectangle 4"/>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5" name="Rectangle 5"/>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lgn="r" eaLnBrk="1" hangingPunct="1">
              <a:defRPr sz="1200"/>
            </a:lvl1pPr>
          </a:lstStyle>
          <a:p>
            <a:fld id="{5FB9E71A-E6C8-4FD3-B040-DCC6247393BF}" type="slidenum">
              <a:rPr lang="en-US" altLang="en-US"/>
              <a:pPr/>
              <a:t>‹#›</a:t>
            </a:fld>
            <a:endParaRPr lang="en-US" altLang="en-US"/>
          </a:p>
        </p:txBody>
      </p:sp>
    </p:spTree>
    <p:extLst>
      <p:ext uri="{BB962C8B-B14F-4D97-AF65-F5344CB8AC3E}">
        <p14:creationId xmlns:p14="http://schemas.microsoft.com/office/powerpoint/2010/main" val="1507465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9DD8956B-8F79-4131-A174-E4232C945132}" type="slidenum">
              <a:rPr lang="en-US" altLang="en-US"/>
              <a:pPr/>
              <a:t>‹#›</a:t>
            </a:fld>
            <a:endParaRPr lang="en-US" altLang="en-US"/>
          </a:p>
        </p:txBody>
      </p:sp>
    </p:spTree>
    <p:extLst>
      <p:ext uri="{BB962C8B-B14F-4D97-AF65-F5344CB8AC3E}">
        <p14:creationId xmlns:p14="http://schemas.microsoft.com/office/powerpoint/2010/main" val="33273619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36BD0845-B59B-416F-97C6-D9D4D41C3A61}" type="slidenum">
              <a:rPr lang="en-US" altLang="en-US" sz="1200"/>
              <a:pPr/>
              <a:t>2</a:t>
            </a:fld>
            <a:endParaRPr lang="en-US" altLang="en-US" sz="120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398682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BEC5F85B-67F9-42E8-B7F8-715754FBDEB2}" type="slidenum">
              <a:rPr lang="en-US" altLang="en-US" sz="1200"/>
              <a:pPr/>
              <a:t>3</a:t>
            </a:fld>
            <a:endParaRPr lang="en-US" altLang="en-US" sz="120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834010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F9915052-261D-4FBC-B901-311034EA7C49}" type="slidenum">
              <a:rPr lang="en-US" altLang="en-US" sz="1200"/>
              <a:pPr/>
              <a:t>4</a:t>
            </a:fld>
            <a:endParaRPr lang="en-US" altLang="en-US" sz="120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971888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386B9683-103F-42A1-B272-66C9642087BC}" type="slidenum">
              <a:rPr lang="en-US" altLang="en-US" sz="1200"/>
              <a:pPr/>
              <a:t>5</a:t>
            </a:fld>
            <a:endParaRPr lang="en-US" altLang="en-US" sz="120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614983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F7BAEC2E-BD55-43D2-B3FF-E95B41CB27D0}" type="slidenum">
              <a:rPr lang="en-US" altLang="en-US" sz="1200"/>
              <a:pPr/>
              <a:t>6</a:t>
            </a:fld>
            <a:endParaRPr lang="en-US" altLang="en-US" sz="1200"/>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percent of oxygen does inhaled air contain? </a:t>
            </a:r>
            <a:r>
              <a:rPr lang="en-US" altLang="en-US" i="1">
                <a:latin typeface="Times New Roman" panose="02020603050405020304" pitchFamily="18" charset="0"/>
              </a:rPr>
              <a:t>(About 21%)</a:t>
            </a:r>
          </a:p>
          <a:p>
            <a:pPr eaLnBrk="1" hangingPunct="1">
              <a:buFontTx/>
              <a:buChar char="•"/>
            </a:pPr>
            <a:r>
              <a:rPr lang="en-US" altLang="en-US">
                <a:latin typeface="Times New Roman" panose="02020603050405020304" pitchFamily="18" charset="0"/>
              </a:rPr>
              <a:t> What percent of oxygen does exhaled air contain?</a:t>
            </a:r>
            <a:r>
              <a:rPr lang="en-US" altLang="en-US" i="1">
                <a:latin typeface="Times New Roman" panose="02020603050405020304" pitchFamily="18" charset="0"/>
              </a:rPr>
              <a:t> (About 16%)</a:t>
            </a:r>
          </a:p>
          <a:p>
            <a:pPr eaLnBrk="1" hangingPunct="1">
              <a:buFontTx/>
              <a:buChar char="•"/>
            </a:pPr>
            <a:r>
              <a:rPr lang="en-US" altLang="en-US">
                <a:latin typeface="Times New Roman" panose="02020603050405020304" pitchFamily="18" charset="0"/>
              </a:rPr>
              <a:t> What is the medical term for air sacs?</a:t>
            </a:r>
          </a:p>
        </p:txBody>
      </p:sp>
    </p:spTree>
    <p:extLst>
      <p:ext uri="{BB962C8B-B14F-4D97-AF65-F5344CB8AC3E}">
        <p14:creationId xmlns:p14="http://schemas.microsoft.com/office/powerpoint/2010/main" val="256937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C1B5AD2A-9CFB-4A82-A593-49E33782DF86}" type="slidenum">
              <a:rPr lang="en-US" altLang="en-US" sz="1200"/>
              <a:pPr/>
              <a:t>7</a:t>
            </a:fld>
            <a:endParaRPr lang="en-US" altLang="en-US" sz="1200"/>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4102222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148EC4CA-710E-4C8B-8236-34F6545A30E5}" type="slidenum">
              <a:rPr lang="en-US" altLang="en-US" sz="1200"/>
              <a:pPr/>
              <a:t>8</a:t>
            </a:fld>
            <a:endParaRPr lang="en-US" altLang="en-US" sz="1200"/>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is the singular form of bronchi? </a:t>
            </a:r>
            <a:r>
              <a:rPr lang="en-US" altLang="en-US" i="1">
                <a:latin typeface="Times New Roman" panose="02020603050405020304" pitchFamily="18" charset="0"/>
              </a:rPr>
              <a:t>(Bronchus)</a:t>
            </a:r>
          </a:p>
          <a:p>
            <a:pPr eaLnBrk="1" hangingPunct="1">
              <a:buFontTx/>
              <a:buChar char="•"/>
            </a:pPr>
            <a:r>
              <a:rPr lang="en-US" altLang="en-US">
                <a:latin typeface="Times New Roman" panose="02020603050405020304" pitchFamily="18" charset="0"/>
              </a:rPr>
              <a:t> Which lung is larger? </a:t>
            </a:r>
            <a:r>
              <a:rPr lang="en-US" altLang="en-US" i="1">
                <a:latin typeface="Times New Roman" panose="02020603050405020304" pitchFamily="18" charset="0"/>
              </a:rPr>
              <a:t>(Right)</a:t>
            </a:r>
          </a:p>
          <a:p>
            <a:pPr eaLnBrk="1" hangingPunct="1">
              <a:buFontTx/>
              <a:buChar char="•"/>
            </a:pPr>
            <a:r>
              <a:rPr lang="en-US" altLang="en-US">
                <a:latin typeface="Times New Roman" panose="02020603050405020304" pitchFamily="18" charset="0"/>
              </a:rPr>
              <a:t> How many lobes does each lung have? </a:t>
            </a:r>
            <a:r>
              <a:rPr lang="en-US" altLang="en-US" i="1">
                <a:latin typeface="Times New Roman" panose="02020603050405020304" pitchFamily="18" charset="0"/>
              </a:rPr>
              <a:t>(Right: three, left: two)</a:t>
            </a:r>
          </a:p>
        </p:txBody>
      </p:sp>
    </p:spTree>
    <p:extLst>
      <p:ext uri="{BB962C8B-B14F-4D97-AF65-F5344CB8AC3E}">
        <p14:creationId xmlns:p14="http://schemas.microsoft.com/office/powerpoint/2010/main" val="3674862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7E6C0ED5-D3EB-45FC-B3DD-03CF6D11C562}" type="slidenum">
              <a:rPr lang="en-US" altLang="en-US" sz="1200"/>
              <a:pPr/>
              <a:t>9</a:t>
            </a:fld>
            <a:endParaRPr lang="en-US" altLang="en-US" sz="120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Engage the class to identify the organs of the respiratory system. </a:t>
            </a:r>
          </a:p>
          <a:p>
            <a:pPr eaLnBrk="1" hangingPunct="1">
              <a:buFontTx/>
              <a:buChar char="•"/>
            </a:pPr>
            <a:r>
              <a:rPr lang="en-US" altLang="en-US">
                <a:latin typeface="Times New Roman" panose="02020603050405020304" pitchFamily="18" charset="0"/>
              </a:rPr>
              <a:t> Trace the path of a breath of air.</a:t>
            </a:r>
          </a:p>
        </p:txBody>
      </p:sp>
    </p:spTree>
    <p:extLst>
      <p:ext uri="{BB962C8B-B14F-4D97-AF65-F5344CB8AC3E}">
        <p14:creationId xmlns:p14="http://schemas.microsoft.com/office/powerpoint/2010/main" val="3273276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DEB76C33-2D5A-45DF-8E40-8B5970AB320E}" type="slidenum">
              <a:rPr lang="en-US" altLang="en-US" sz="1200"/>
              <a:pPr/>
              <a:t>10</a:t>
            </a:fld>
            <a:endParaRPr lang="en-US" alt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spcBef>
                <a:spcPct val="50000"/>
              </a:spcBef>
            </a:pPr>
            <a:endParaRPr lang="en-US" altLang="en-US">
              <a:latin typeface="Times New Roman" panose="02020603050405020304" pitchFamily="18" charset="0"/>
            </a:endParaRP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9093683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70E00895-7B8B-4657-94D5-8D116FB5C1C4}" type="slidenum">
              <a:rPr lang="en-US" altLang="en-US" sz="1200"/>
              <a:pPr/>
              <a:t>11</a:t>
            </a:fld>
            <a:endParaRPr lang="en-US" altLang="en-US" sz="120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Trace the flow, and then conduct the class activity in the lesson plan by dividing the class into two groups and assigning each a gas.</a:t>
            </a:r>
          </a:p>
        </p:txBody>
      </p:sp>
    </p:spTree>
    <p:extLst>
      <p:ext uri="{BB962C8B-B14F-4D97-AF65-F5344CB8AC3E}">
        <p14:creationId xmlns:p14="http://schemas.microsoft.com/office/powerpoint/2010/main" val="220070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591260EB-BB6D-486E-B82D-6776F89C7C31}" type="slidenum">
              <a:rPr lang="en-US" altLang="en-US" sz="1200"/>
              <a:pPr/>
              <a:t>32</a:t>
            </a:fld>
            <a:endParaRPr lang="en-US" altLang="en-US" sz="12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C: apex.</a:t>
            </a:r>
          </a:p>
        </p:txBody>
      </p:sp>
    </p:spTree>
    <p:extLst>
      <p:ext uri="{BB962C8B-B14F-4D97-AF65-F5344CB8AC3E}">
        <p14:creationId xmlns:p14="http://schemas.microsoft.com/office/powerpoint/2010/main" val="1166709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EC17E8DF-EDFE-43C1-BD3E-425B3C03E027}" type="slidenum">
              <a:rPr lang="en-US" altLang="en-US" sz="1200"/>
              <a:pPr/>
              <a:t>39</a:t>
            </a:fld>
            <a:endParaRPr lang="en-US" altLang="en-US" sz="1200"/>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025025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23122BFA-B004-4AC7-9935-A61B2B0E1120}" type="slidenum">
              <a:rPr lang="en-US" altLang="en-US" sz="1200"/>
              <a:pPr/>
              <a:t>40</a:t>
            </a:fld>
            <a:endParaRPr lang="en-US" altLang="en-US" sz="120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Many of these terms are ways to help identify respiratory abnormalities that can be heard.</a:t>
            </a:r>
          </a:p>
          <a:p>
            <a:pPr eaLnBrk="1" hangingPunct="1">
              <a:buFontTx/>
              <a:buChar char="•"/>
            </a:pPr>
            <a:r>
              <a:rPr lang="en-US" altLang="en-US">
                <a:latin typeface="Times New Roman" panose="02020603050405020304" pitchFamily="18" charset="0"/>
              </a:rPr>
              <a:t> Discuss the fact that auscultation, though not high tech, is still a very effective way to uncover disease.</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9862475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BC1537DA-7448-4CB8-8E76-0D24FCE13335}" type="slidenum">
              <a:rPr lang="en-US" altLang="en-US" sz="1200"/>
              <a:pPr/>
              <a:t>41</a:t>
            </a:fld>
            <a:endParaRPr lang="en-US" altLang="en-US" sz="1200"/>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Distinguish between disorders arising from infectious agents, trauma, neoplasms, or genetic disorders. Which are most often caused by smoking?</a:t>
            </a:r>
          </a:p>
          <a:p>
            <a:pPr eaLnBrk="1" hangingPunct="1">
              <a:buFontTx/>
              <a:buChar char="•"/>
            </a:pPr>
            <a:r>
              <a:rPr lang="en-US" altLang="en-US">
                <a:latin typeface="Times New Roman" panose="02020603050405020304" pitchFamily="18" charset="0"/>
              </a:rPr>
              <a:t> Epistaxis is also known as rhinorrhagia, but epistaxis is the more commonly used term for nosebleed.</a:t>
            </a:r>
          </a:p>
        </p:txBody>
      </p:sp>
    </p:spTree>
    <p:extLst>
      <p:ext uri="{BB962C8B-B14F-4D97-AF65-F5344CB8AC3E}">
        <p14:creationId xmlns:p14="http://schemas.microsoft.com/office/powerpoint/2010/main" val="41708835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9D8A45F8-1D18-4A56-BD48-2A217146D12D}" type="slidenum">
              <a:rPr lang="en-US" altLang="en-US" sz="1200"/>
              <a:pPr/>
              <a:t>42</a:t>
            </a:fld>
            <a:endParaRPr lang="en-US" altLang="en-US" sz="120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Distinguish between disorders arising from infectious agents, trauma, neoplasms, or genetic disorders. Which are most often caused by smoking?</a:t>
            </a:r>
          </a:p>
          <a:p>
            <a:pPr eaLnBrk="1" hangingPunct="1">
              <a:buFontTx/>
              <a:buChar char="•"/>
            </a:pPr>
            <a:r>
              <a:rPr lang="en-US" altLang="en-US">
                <a:latin typeface="Times New Roman" panose="02020603050405020304" pitchFamily="18" charset="0"/>
              </a:rPr>
              <a:t> Epistaxis is also known as rhinorrhagia, but epistaxis is the more commonly used term for nosebleed.</a:t>
            </a:r>
          </a:p>
        </p:txBody>
      </p:sp>
    </p:spTree>
    <p:extLst>
      <p:ext uri="{BB962C8B-B14F-4D97-AF65-F5344CB8AC3E}">
        <p14:creationId xmlns:p14="http://schemas.microsoft.com/office/powerpoint/2010/main" val="5664652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693AA982-5001-40C1-8506-A23DDEAE3577}" type="slidenum">
              <a:rPr lang="en-US" altLang="en-US" sz="1200"/>
              <a:pPr/>
              <a:t>43</a:t>
            </a:fld>
            <a:endParaRPr lang="en-US" altLang="en-US" sz="120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Distinguish between disorders arising from infectious agents, trauma, neoplasms, or genetic disorders.</a:t>
            </a:r>
          </a:p>
          <a:p>
            <a:pPr eaLnBrk="1" hangingPunct="1">
              <a:buFontTx/>
              <a:buChar char="•"/>
            </a:pPr>
            <a:r>
              <a:rPr lang="en-US" altLang="en-US">
                <a:latin typeface="Times New Roman" panose="02020603050405020304" pitchFamily="18" charset="0"/>
              </a:rPr>
              <a:t> What are the types of pneumoconiosis?</a:t>
            </a:r>
          </a:p>
        </p:txBody>
      </p:sp>
    </p:spTree>
    <p:extLst>
      <p:ext uri="{BB962C8B-B14F-4D97-AF65-F5344CB8AC3E}">
        <p14:creationId xmlns:p14="http://schemas.microsoft.com/office/powerpoint/2010/main" val="1149671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5CA39DE1-156E-4082-8319-28297AA59339}" type="slidenum">
              <a:rPr lang="en-US" altLang="en-US" sz="1200"/>
              <a:pPr/>
              <a:t>44</a:t>
            </a:fld>
            <a:endParaRPr lang="en-US" altLang="en-US" sz="1200"/>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Distinguish between atelectasis and pneumothorax.</a:t>
            </a:r>
          </a:p>
        </p:txBody>
      </p:sp>
    </p:spTree>
    <p:extLst>
      <p:ext uri="{BB962C8B-B14F-4D97-AF65-F5344CB8AC3E}">
        <p14:creationId xmlns:p14="http://schemas.microsoft.com/office/powerpoint/2010/main" val="36261166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C6A7C6BC-A2CB-472C-9E1C-628FC91354B9}" type="slidenum">
              <a:rPr lang="en-US" altLang="en-US" sz="1200"/>
              <a:pPr/>
              <a:t>45</a:t>
            </a:fld>
            <a:endParaRPr lang="en-US" altLang="en-US"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Distinguish between disorders arising from infectious agents, trauma, neoplasms, or genetic disorders.</a:t>
            </a:r>
          </a:p>
          <a:p>
            <a:pPr eaLnBrk="1" hangingPunct="1">
              <a:buFontTx/>
              <a:buChar char="•"/>
            </a:pPr>
            <a:r>
              <a:rPr lang="en-US" altLang="en-US">
                <a:latin typeface="Times New Roman" panose="02020603050405020304" pitchFamily="18" charset="0"/>
              </a:rPr>
              <a:t> Use slides to discuss definitions, context, spelling, and derivations.</a:t>
            </a:r>
          </a:p>
        </p:txBody>
      </p:sp>
    </p:spTree>
    <p:extLst>
      <p:ext uri="{BB962C8B-B14F-4D97-AF65-F5344CB8AC3E}">
        <p14:creationId xmlns:p14="http://schemas.microsoft.com/office/powerpoint/2010/main" val="41636926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912D3A5C-B9FC-4743-A3C8-173BF0B86C70}" type="slidenum">
              <a:rPr lang="en-US" altLang="en-US" sz="1200"/>
              <a:pPr/>
              <a:t>46</a:t>
            </a:fld>
            <a:endParaRPr lang="en-US" altLang="en-US" sz="1200"/>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Explain collapsed lung.</a:t>
            </a:r>
          </a:p>
          <a:p>
            <a:pPr eaLnBrk="1" hangingPunct="1">
              <a:buFontTx/>
              <a:buChar char="•"/>
            </a:pPr>
            <a:r>
              <a:rPr lang="en-US" altLang="en-US">
                <a:latin typeface="Times New Roman" panose="02020603050405020304" pitchFamily="18" charset="0"/>
              </a:rPr>
              <a:t> What conditions may cause a lung to collapse?</a:t>
            </a:r>
          </a:p>
          <a:p>
            <a:pPr eaLnBrk="1" hangingPunct="1">
              <a:buFontTx/>
              <a:buChar char="•"/>
            </a:pPr>
            <a:r>
              <a:rPr lang="en-US" altLang="en-US">
                <a:latin typeface="Times New Roman" panose="02020603050405020304" pitchFamily="18" charset="0"/>
              </a:rPr>
              <a:t> What are some examples of trauma- and disease-induced collapsed lung?</a:t>
            </a:r>
          </a:p>
        </p:txBody>
      </p:sp>
    </p:spTree>
    <p:extLst>
      <p:ext uri="{BB962C8B-B14F-4D97-AF65-F5344CB8AC3E}">
        <p14:creationId xmlns:p14="http://schemas.microsoft.com/office/powerpoint/2010/main" val="38351750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8CA86799-9AE1-430D-AEAF-1BF9D2F3B78E}" type="slidenum">
              <a:rPr lang="en-US" altLang="en-US" sz="1200"/>
              <a:pPr/>
              <a:t>47</a:t>
            </a:fld>
            <a:endParaRPr lang="en-US" altLang="en-US" sz="1200"/>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Distinguish between disorders arising from infectious agents, trauma, neoplasms, or genetic disorders.</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2371468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1D8510B4-132E-4599-AD3E-9440D2A789D3}" type="slidenum">
              <a:rPr lang="en-US" altLang="en-US" sz="1200"/>
              <a:pPr/>
              <a:t>48</a:t>
            </a:fld>
            <a:endParaRPr lang="en-US" altLang="en-US" sz="1200"/>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8167110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7926EE82-A503-4EB4-AF6A-FF95473E181B}" type="slidenum">
              <a:rPr lang="en-US" altLang="en-US" sz="1200"/>
              <a:pPr/>
              <a:t>49</a:t>
            </a:fld>
            <a:endParaRPr lang="en-US" altLang="en-US"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Briefly discuss the technology of each type of x-ray.</a:t>
            </a:r>
          </a:p>
          <a:p>
            <a:pPr eaLnBrk="1" hangingPunct="1">
              <a:buFontTx/>
              <a:buChar char="•"/>
            </a:pPr>
            <a:r>
              <a:rPr lang="en-US" altLang="en-US">
                <a:latin typeface="Times New Roman" panose="02020603050405020304" pitchFamily="18" charset="0"/>
              </a:rPr>
              <a:t> For what kinds of information (hard tissues, soft tissue, etc.)  and which conditions is each type best suited?</a:t>
            </a:r>
          </a:p>
        </p:txBody>
      </p:sp>
    </p:spTree>
    <p:extLst>
      <p:ext uri="{BB962C8B-B14F-4D97-AF65-F5344CB8AC3E}">
        <p14:creationId xmlns:p14="http://schemas.microsoft.com/office/powerpoint/2010/main" val="32224716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8E0C1086-6178-4394-89CE-D6F533F8967E}" type="slidenum">
              <a:rPr lang="en-US" altLang="en-US" sz="1200"/>
              <a:pPr/>
              <a:t>50</a:t>
            </a:fld>
            <a:endParaRPr lang="en-US" altLang="en-US" sz="1200"/>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Use this slide to discuss point of view, right and left, dorsal and ventral, and landmarks.</a:t>
            </a:r>
          </a:p>
        </p:txBody>
      </p:sp>
    </p:spTree>
    <p:extLst>
      <p:ext uri="{BB962C8B-B14F-4D97-AF65-F5344CB8AC3E}">
        <p14:creationId xmlns:p14="http://schemas.microsoft.com/office/powerpoint/2010/main" val="3545577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5BFB5237-6510-476B-A41E-9311E4DD921B}" type="slidenum">
              <a:rPr lang="en-US" altLang="en-US" sz="1200"/>
              <a:pPr/>
              <a:t>51</a:t>
            </a:fld>
            <a:endParaRPr lang="en-US" altLang="en-US" sz="120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3792412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E4718CE5-6399-46B3-82E9-AD9585668056}" type="slidenum">
              <a:rPr lang="en-US" altLang="en-US" sz="1200"/>
              <a:pPr/>
              <a:t>52</a:t>
            </a:fld>
            <a:endParaRPr lang="en-US" altLang="en-US" sz="1200"/>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1830922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FEA6BEA2-E4B2-4ECC-96BE-0E975691B869}" type="slidenum">
              <a:rPr lang="en-US" altLang="en-US" sz="1200"/>
              <a:pPr/>
              <a:t>53</a:t>
            </a:fld>
            <a:endParaRPr lang="en-US" altLang="en-US"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Why would a physician recommend this invasive diagnostic procedure? </a:t>
            </a:r>
          </a:p>
          <a:p>
            <a:pPr eaLnBrk="1" hangingPunct="1">
              <a:buFontTx/>
              <a:buChar char="•"/>
            </a:pPr>
            <a:r>
              <a:rPr lang="en-US" altLang="en-US">
                <a:latin typeface="Times New Roman" panose="02020603050405020304" pitchFamily="18" charset="0"/>
              </a:rPr>
              <a:t> What are the pros and cons? </a:t>
            </a:r>
          </a:p>
          <a:p>
            <a:pPr eaLnBrk="1" hangingPunct="1">
              <a:buFontTx/>
              <a:buChar char="•"/>
            </a:pPr>
            <a:r>
              <a:rPr lang="en-US" altLang="en-US">
                <a:latin typeface="Times New Roman" panose="02020603050405020304" pitchFamily="18" charset="0"/>
              </a:rPr>
              <a:t> What can the physician expect to learn?</a:t>
            </a:r>
          </a:p>
        </p:txBody>
      </p:sp>
    </p:spTree>
    <p:extLst>
      <p:ext uri="{BB962C8B-B14F-4D97-AF65-F5344CB8AC3E}">
        <p14:creationId xmlns:p14="http://schemas.microsoft.com/office/powerpoint/2010/main" val="39213105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FD3FB915-53EF-4249-B4AF-4F65BD3DFB15}" type="slidenum">
              <a:rPr lang="en-US" altLang="en-US" sz="1200"/>
              <a:pPr/>
              <a:t>54</a:t>
            </a:fld>
            <a:endParaRPr lang="en-US" altLang="en-US" sz="1200"/>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Watch an episode of ER and count how many times they do this procedure in the ER. </a:t>
            </a:r>
          </a:p>
          <a:p>
            <a:pPr eaLnBrk="1" hangingPunct="1">
              <a:buFontTx/>
              <a:buChar char="•"/>
            </a:pPr>
            <a:r>
              <a:rPr lang="en-US" altLang="en-US">
                <a:latin typeface="Times New Roman" panose="02020603050405020304" pitchFamily="18" charset="0"/>
              </a:rPr>
              <a:t> Why do many people coming into the emergency room need this procedure?</a:t>
            </a:r>
          </a:p>
          <a:p>
            <a:pPr eaLnBrk="1" hangingPunct="1">
              <a:buFontTx/>
              <a:buChar char="•"/>
            </a:pPr>
            <a:r>
              <a:rPr lang="en-US" altLang="en-US">
                <a:latin typeface="Times New Roman" panose="02020603050405020304" pitchFamily="18" charset="0"/>
              </a:rPr>
              <a:t> Why is this done for surgical patients?</a:t>
            </a:r>
          </a:p>
        </p:txBody>
      </p:sp>
    </p:spTree>
    <p:extLst>
      <p:ext uri="{BB962C8B-B14F-4D97-AF65-F5344CB8AC3E}">
        <p14:creationId xmlns:p14="http://schemas.microsoft.com/office/powerpoint/2010/main" val="17812011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D5C80E9E-1F46-482A-8315-ED5376640F2C}" type="slidenum">
              <a:rPr lang="en-US" altLang="en-US" sz="1200"/>
              <a:pPr/>
              <a:t>55</a:t>
            </a:fld>
            <a:endParaRPr lang="en-US" altLang="en-US" sz="1200"/>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Why do many of these procedures start with </a:t>
            </a:r>
            <a:r>
              <a:rPr lang="ja-JP" altLang="en-US">
                <a:latin typeface="Times New Roman" panose="02020603050405020304" pitchFamily="18" charset="0"/>
              </a:rPr>
              <a:t>“</a:t>
            </a:r>
            <a:r>
              <a:rPr lang="en-US" altLang="ja-JP">
                <a:latin typeface="Times New Roman" panose="02020603050405020304" pitchFamily="18" charset="0"/>
              </a:rPr>
              <a:t>thor</a:t>
            </a:r>
            <a:r>
              <a:rPr lang="ja-JP" altLang="en-US">
                <a:latin typeface="Times New Roman" panose="02020603050405020304" pitchFamily="18" charset="0"/>
              </a:rPr>
              <a:t>”</a:t>
            </a:r>
            <a:r>
              <a:rPr lang="en-US" altLang="ja-JP">
                <a:latin typeface="Times New Roman" panose="02020603050405020304" pitchFamily="18" charset="0"/>
              </a:rPr>
              <a:t>?</a:t>
            </a:r>
          </a:p>
          <a:p>
            <a:pPr eaLnBrk="1" hangingPunct="1">
              <a:buFontTx/>
              <a:buChar char="•"/>
            </a:pPr>
            <a:r>
              <a:rPr lang="en-US" altLang="en-US">
                <a:latin typeface="Times New Roman" panose="02020603050405020304" pitchFamily="18" charset="0"/>
              </a:rPr>
              <a:t> What is the difference between laryngoscopy, mediastinoscopy, and thorascopy?</a:t>
            </a:r>
          </a:p>
        </p:txBody>
      </p:sp>
    </p:spTree>
    <p:extLst>
      <p:ext uri="{BB962C8B-B14F-4D97-AF65-F5344CB8AC3E}">
        <p14:creationId xmlns:p14="http://schemas.microsoft.com/office/powerpoint/2010/main" val="8884065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7A3FB815-9117-485E-8090-EC53DD381E2A}" type="slidenum">
              <a:rPr lang="en-US" altLang="en-US" sz="1200"/>
              <a:pPr/>
              <a:t>56</a:t>
            </a:fld>
            <a:endParaRPr lang="en-US" altLang="en-US" sz="1200"/>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6652481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7E28C703-FB0F-41CF-AF69-002FE8DD2006}" type="slidenum">
              <a:rPr lang="en-US" altLang="en-US" sz="1200"/>
              <a:pPr/>
              <a:t>57</a:t>
            </a:fld>
            <a:endParaRPr lang="en-US" altLang="en-US" sz="1200"/>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Under what conditions would a physician perform this invasive procedure? </a:t>
            </a:r>
          </a:p>
          <a:p>
            <a:pPr eaLnBrk="1" hangingPunct="1">
              <a:buFontTx/>
              <a:buChar char="•"/>
            </a:pPr>
            <a:r>
              <a:rPr lang="en-US" altLang="en-US">
                <a:latin typeface="Times New Roman" panose="02020603050405020304" pitchFamily="18" charset="0"/>
              </a:rPr>
              <a:t> Explain the advantages and disadvantages.</a:t>
            </a:r>
          </a:p>
        </p:txBody>
      </p:sp>
    </p:spTree>
    <p:extLst>
      <p:ext uri="{BB962C8B-B14F-4D97-AF65-F5344CB8AC3E}">
        <p14:creationId xmlns:p14="http://schemas.microsoft.com/office/powerpoint/2010/main" val="1374978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4F46A433-53BE-44F2-B0BE-CD4AA7F6F7B2}"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Date Placeholder 8"/>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10" name="Footer Placeholder 9"/>
          <p:cNvSpPr>
            <a:spLocks noGrp="1"/>
          </p:cNvSpPr>
          <p:nvPr>
            <p:ph type="ftr" sz="quarter" idx="11"/>
          </p:nvPr>
        </p:nvSpPr>
        <p:spPr>
          <a:xfrm>
            <a:off x="3124200" y="5859295"/>
            <a:ext cx="2895600" cy="365125"/>
          </a:xfrm>
          <a:prstGeom prst="rect">
            <a:avLst/>
          </a:prstGeom>
        </p:spPr>
        <p:txBody>
          <a:bodyPr/>
          <a:lstStyle/>
          <a:p>
            <a:pPr>
              <a:defRPr/>
            </a:pPr>
            <a:endParaRPr lang="en-US" dirty="0"/>
          </a:p>
        </p:txBody>
      </p:sp>
      <p:sp>
        <p:nvSpPr>
          <p:cNvPr id="11" name="Slide Number Placeholder 10"/>
          <p:cNvSpPr>
            <a:spLocks noGrp="1"/>
          </p:cNvSpPr>
          <p:nvPr>
            <p:ph type="sldNum" sz="quarter" idx="12"/>
          </p:nvPr>
        </p:nvSpPr>
        <p:spPr/>
        <p:txBody>
          <a:bodyPr/>
          <a:lstStyle/>
          <a:p>
            <a:fld id="{28A3EFAA-5F29-4212-A320-E00D10714EB8}" type="slidenum">
              <a:rPr lang="en-US" altLang="en-US" smtClean="0"/>
              <a:pPr/>
              <a:t>‹#›</a:t>
            </a:fld>
            <a:endParaRPr lang="en-US" altLang="en-US"/>
          </a:p>
        </p:txBody>
      </p:sp>
      <p:sp>
        <p:nvSpPr>
          <p:cNvPr id="4" name="Rectangle 8"/>
          <p:cNvSpPr txBox="1">
            <a:spLocks noGrp="1" noChangeArrowheads="1"/>
          </p:cNvSpPr>
          <p:nvPr userDrawn="1"/>
        </p:nvSpPr>
        <p:spPr bwMode="auto">
          <a:xfrm>
            <a:off x="917575" y="6444916"/>
            <a:ext cx="7769225" cy="381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defRPr/>
            </a:pPr>
            <a:endParaRPr lang="en-US" dirty="0"/>
          </a:p>
        </p:txBody>
      </p:sp>
    </p:spTree>
    <p:extLst>
      <p:ext uri="{BB962C8B-B14F-4D97-AF65-F5344CB8AC3E}">
        <p14:creationId xmlns:p14="http://schemas.microsoft.com/office/powerpoint/2010/main" val="15693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419"/>
          </a:p>
        </p:txBody>
      </p:sp>
      <p:sp>
        <p:nvSpPr>
          <p:cNvPr id="3" name="Date Placeholder 2"/>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5" name="Slide Number Placeholder 4"/>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34865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B2D8646-B954-479C-A337-986E442FC1A9}"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7C3B6F8-FB65-40D1-9D78-3B0834AA2902}" type="slidenum">
              <a:rPr lang="en-US" altLang="en-US"/>
              <a:pPr/>
              <a:t>‹#›</a:t>
            </a:fld>
            <a:endParaRPr lang="en-US" altLang="en-US"/>
          </a:p>
        </p:txBody>
      </p:sp>
    </p:spTree>
    <p:extLst>
      <p:ext uri="{BB962C8B-B14F-4D97-AF65-F5344CB8AC3E}">
        <p14:creationId xmlns:p14="http://schemas.microsoft.com/office/powerpoint/2010/main" val="104255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026FB1C-0B93-4FFC-AFAC-202B5BB6FD8D}"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AD0EB3D-4C75-400C-847F-27CED06B6053}" type="slidenum">
              <a:rPr lang="en-US" altLang="en-US"/>
              <a:pPr/>
              <a:t>‹#›</a:t>
            </a:fld>
            <a:endParaRPr lang="en-US" altLang="en-US"/>
          </a:p>
        </p:txBody>
      </p:sp>
    </p:spTree>
    <p:extLst>
      <p:ext uri="{BB962C8B-B14F-4D97-AF65-F5344CB8AC3E}">
        <p14:creationId xmlns:p14="http://schemas.microsoft.com/office/powerpoint/2010/main" val="298465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C71BE0B-DC10-4A86-884B-421A21A3786F}"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A7988B2-9A38-4469-A73A-3A8A3875C86B}" type="slidenum">
              <a:rPr lang="en-US" altLang="en-US"/>
              <a:pPr/>
              <a:t>‹#›</a:t>
            </a:fld>
            <a:endParaRPr lang="en-US" altLang="en-US"/>
          </a:p>
        </p:txBody>
      </p:sp>
    </p:spTree>
    <p:extLst>
      <p:ext uri="{BB962C8B-B14F-4D97-AF65-F5344CB8AC3E}">
        <p14:creationId xmlns:p14="http://schemas.microsoft.com/office/powerpoint/2010/main" val="1484110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3F8196F-BB54-4DF1-9DDF-EB61181FD455}" type="datetimeFigureOut">
              <a:rPr lang="en-US"/>
              <a:pPr>
                <a:defRPr/>
              </a:pPr>
              <a:t>12/7/2023</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1069FD97-2CE7-4101-9BDA-A6CDF9D7F198}" type="slidenum">
              <a:rPr lang="en-US" altLang="en-US"/>
              <a:pPr/>
              <a:t>‹#›</a:t>
            </a:fld>
            <a:endParaRPr lang="en-US" altLang="en-US"/>
          </a:p>
        </p:txBody>
      </p:sp>
    </p:spTree>
    <p:extLst>
      <p:ext uri="{BB962C8B-B14F-4D97-AF65-F5344CB8AC3E}">
        <p14:creationId xmlns:p14="http://schemas.microsoft.com/office/powerpoint/2010/main" val="14988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7" name="Footer Placeholder 6"/>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8" name="Slide Number Placeholder 7"/>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1501134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EF424A-0666-4F8A-AE0B-042263A2F523}" type="datetimeFigureOut">
              <a:rPr lang="en-US"/>
              <a:pPr>
                <a:defRPr/>
              </a:pPr>
              <a:t>12/7/2023</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sz="1000" baseline="0">
                <a:latin typeface="Arial" pitchFamily="34" charset="0"/>
                <a:cs typeface="Arial" pitchFamily="34" charset="0"/>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98923256-9629-4751-9FC7-D9A617797BD9}" type="slidenum">
              <a:rPr lang="en-US" altLang="en-US"/>
              <a:pPr/>
              <a:t>‹#›</a:t>
            </a:fld>
            <a:endParaRPr lang="en-US" altLang="en-US"/>
          </a:p>
        </p:txBody>
      </p:sp>
    </p:spTree>
    <p:extLst>
      <p:ext uri="{BB962C8B-B14F-4D97-AF65-F5344CB8AC3E}">
        <p14:creationId xmlns:p14="http://schemas.microsoft.com/office/powerpoint/2010/main" val="3502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BC957C-8A28-4346-A91E-3181E23B9FC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23BBEA-FBE4-4D1C-948E-35E3FD648AC7}" type="slidenum">
              <a:rPr lang="en-US" altLang="en-US"/>
              <a:pPr/>
              <a:t>‹#›</a:t>
            </a:fld>
            <a:endParaRPr lang="en-US" altLang="en-US"/>
          </a:p>
        </p:txBody>
      </p:sp>
    </p:spTree>
    <p:extLst>
      <p:ext uri="{BB962C8B-B14F-4D97-AF65-F5344CB8AC3E}">
        <p14:creationId xmlns:p14="http://schemas.microsoft.com/office/powerpoint/2010/main" val="2919125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BD414B3-CE71-4CAC-BF20-28E9BC6B1BB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B0C2544-6AE1-4FFD-9204-B2754DEAA11A}" type="slidenum">
              <a:rPr lang="en-US" altLang="en-US"/>
              <a:pPr/>
              <a:t>‹#›</a:t>
            </a:fld>
            <a:endParaRPr lang="en-US" altLang="en-US"/>
          </a:p>
        </p:txBody>
      </p:sp>
    </p:spTree>
    <p:extLst>
      <p:ext uri="{BB962C8B-B14F-4D97-AF65-F5344CB8AC3E}">
        <p14:creationId xmlns:p14="http://schemas.microsoft.com/office/powerpoint/2010/main" val="378066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89D59-B1E6-4DCF-8F4C-326D6ED2C2B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DB8DA79-2483-40AE-83CF-C031752A90C3}" type="slidenum">
              <a:rPr lang="en-US" altLang="en-US"/>
              <a:pPr/>
              <a:t>‹#›</a:t>
            </a:fld>
            <a:endParaRPr lang="en-US" altLang="en-US"/>
          </a:p>
        </p:txBody>
      </p:sp>
    </p:spTree>
    <p:extLst>
      <p:ext uri="{BB962C8B-B14F-4D97-AF65-F5344CB8AC3E}">
        <p14:creationId xmlns:p14="http://schemas.microsoft.com/office/powerpoint/2010/main" val="243053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BF2560-A50C-4A12-98A3-C5D77FC1843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E28CD66-7605-4E45-9E45-CFA0ED8972E6}" type="slidenum">
              <a:rPr lang="en-US" altLang="en-US"/>
              <a:pPr/>
              <a:t>‹#›</a:t>
            </a:fld>
            <a:endParaRPr lang="en-US" altLang="en-US"/>
          </a:p>
        </p:txBody>
      </p:sp>
    </p:spTree>
    <p:extLst>
      <p:ext uri="{BB962C8B-B14F-4D97-AF65-F5344CB8AC3E}">
        <p14:creationId xmlns:p14="http://schemas.microsoft.com/office/powerpoint/2010/main" val="1655669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7344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401F176B-337D-4B0C-9E0F-CF98E924232A}" type="datetimeFigureOut">
              <a:rPr lang="en-US"/>
              <a:pPr>
                <a:defRPr/>
              </a:pPr>
              <a:t>12/7/2023</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8A3EFAA-5F29-4212-A320-E00D10714EB8}" type="slidenum">
              <a:rPr lang="en-US" altLang="en-US"/>
              <a:pPr/>
              <a:t>‹#›</a:t>
            </a:fld>
            <a:endParaRPr lang="en-US" altLang="en-US"/>
          </a:p>
        </p:txBody>
      </p:sp>
      <p:sp>
        <p:nvSpPr>
          <p:cNvPr id="1032"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0FF5DB33-233E-420C-BB96-6F4A112866E6}"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3B6C6044-6AC9-477C-6260-48B31C43C69A}"/>
              </a:ext>
            </a:extLst>
          </p:cNvPr>
          <p:cNvPicPr>
            <a:picLocks noChangeAspect="1"/>
          </p:cNvPicPr>
          <p:nvPr userDrawn="1"/>
        </p:nvPicPr>
        <p:blipFill>
          <a:blip r:embed="rId15"/>
          <a:stretch>
            <a:fillRect/>
          </a:stretch>
        </p:blipFill>
        <p:spPr>
          <a:xfrm>
            <a:off x="3041871" y="6478581"/>
            <a:ext cx="3118010" cy="209561"/>
          </a:xfrm>
          <a:prstGeom prst="rect">
            <a:avLst/>
          </a:prstGeom>
        </p:spPr>
      </p:pic>
    </p:spTree>
  </p:cSld>
  <p:clrMap bg1="lt1" tx1="dk1" bg2="lt2" tx2="dk2" accent1="accent1" accent2="accent2" accent3="accent3" accent4="accent4" accent5="accent5" accent6="accent6" hlink="hlink" folHlink="folHlink"/>
  <p:sldLayoutIdLst>
    <p:sldLayoutId id="2147483948" r:id="rId1"/>
    <p:sldLayoutId id="2147483951" r:id="rId2"/>
    <p:sldLayoutId id="2147483939" r:id="rId3"/>
    <p:sldLayoutId id="2147483940" r:id="rId4"/>
    <p:sldLayoutId id="2147483941" r:id="rId5"/>
    <p:sldLayoutId id="2147483942" r:id="rId6"/>
    <p:sldLayoutId id="2147483943" r:id="rId7"/>
    <p:sldLayoutId id="2147483949" r:id="rId8"/>
    <p:sldLayoutId id="2147483944" r:id="rId9"/>
    <p:sldLayoutId id="2147483945" r:id="rId10"/>
    <p:sldLayoutId id="2147483946" r:id="rId11"/>
    <p:sldLayoutId id="2147483947" r:id="rId12"/>
    <p:sldLayoutId id="2147483952" r:id="rId13"/>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Language of Medicine</a:t>
            </a:r>
            <a:br>
              <a:rPr lang="en-US" dirty="0"/>
            </a:br>
            <a:r>
              <a:rPr lang="en-US" dirty="0"/>
              <a:t>13</a:t>
            </a:r>
            <a:r>
              <a:rPr lang="en-US" baseline="30000" dirty="0"/>
              <a:t>th</a:t>
            </a:r>
            <a:r>
              <a:rPr lang="en-US" dirty="0"/>
              <a:t> edition</a:t>
            </a:r>
          </a:p>
        </p:txBody>
      </p:sp>
      <p:sp>
        <p:nvSpPr>
          <p:cNvPr id="3" name="Subtitle 2"/>
          <p:cNvSpPr>
            <a:spLocks noGrp="1"/>
          </p:cNvSpPr>
          <p:nvPr>
            <p:ph type="subTitle" idx="1"/>
          </p:nvPr>
        </p:nvSpPr>
        <p:spPr/>
        <p:txBody>
          <a:bodyPr/>
          <a:lstStyle/>
          <a:p>
            <a:r>
              <a:rPr lang="en-US" dirty="0" err="1">
                <a:solidFill>
                  <a:schemeClr val="tx1"/>
                </a:solidFill>
              </a:rPr>
              <a:t>Davi</a:t>
            </a:r>
            <a:r>
              <a:rPr lang="en-US" dirty="0">
                <a:solidFill>
                  <a:schemeClr val="tx1"/>
                </a:solidFill>
              </a:rPr>
              <a:t>-Ellen </a:t>
            </a:r>
            <a:r>
              <a:rPr lang="en-US" dirty="0" err="1">
                <a:solidFill>
                  <a:schemeClr val="tx1"/>
                </a:solidFill>
              </a:rPr>
              <a:t>Chabner</a:t>
            </a:r>
            <a:endParaRPr lang="en-US" dirty="0">
              <a:solidFill>
                <a:schemeClr val="tx1"/>
              </a:solidFill>
            </a:endParaRPr>
          </a:p>
        </p:txBody>
      </p:sp>
    </p:spTree>
    <p:extLst>
      <p:ext uri="{BB962C8B-B14F-4D97-AF65-F5344CB8AC3E}">
        <p14:creationId xmlns:p14="http://schemas.microsoft.com/office/powerpoint/2010/main" val="1428288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3"/>
          <p:cNvSpPr>
            <a:spLocks noGrp="1" noChangeArrowheads="1"/>
          </p:cNvSpPr>
          <p:nvPr>
            <p:ph type="title"/>
          </p:nvPr>
        </p:nvSpPr>
        <p:spPr>
          <a:xfrm>
            <a:off x="990600" y="1295400"/>
            <a:ext cx="7620000" cy="1143000"/>
          </a:xfrm>
        </p:spPr>
        <p:txBody>
          <a:bodyPr rtlCol="0">
            <a:normAutofit fontScale="90000"/>
          </a:bodyPr>
          <a:lstStyle/>
          <a:p>
            <a:pPr eaLnBrk="1" fontAlgn="auto" hangingPunct="1">
              <a:spcAft>
                <a:spcPts val="0"/>
              </a:spcAft>
              <a:defRPr/>
            </a:pPr>
            <a:r>
              <a:rPr lang="en-US"/>
              <a:t>Chapter 12</a:t>
            </a:r>
            <a:br>
              <a:rPr lang="en-US"/>
            </a:br>
            <a:r>
              <a:rPr lang="en-US"/>
              <a:t>  Respiratory System</a:t>
            </a:r>
          </a:p>
        </p:txBody>
      </p:sp>
    </p:spTree>
    <p:extLst>
      <p:ext uri="{BB962C8B-B14F-4D97-AF65-F5344CB8AC3E}">
        <p14:creationId xmlns:p14="http://schemas.microsoft.com/office/powerpoint/2010/main" val="2893096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6"/>
          <p:cNvSpPr>
            <a:spLocks noGrp="1" noChangeArrowheads="1"/>
          </p:cNvSpPr>
          <p:nvPr>
            <p:ph type="title"/>
          </p:nvPr>
        </p:nvSpPr>
        <p:spPr/>
        <p:txBody>
          <a:bodyPr/>
          <a:lstStyle/>
          <a:p>
            <a:pPr eaLnBrk="1" hangingPunct="1"/>
            <a:r>
              <a:rPr lang="en-US" altLang="en-US" dirty="0"/>
              <a:t>Chapter Goals (Slide 1 of 2)</a:t>
            </a:r>
          </a:p>
        </p:txBody>
      </p:sp>
      <p:sp>
        <p:nvSpPr>
          <p:cNvPr id="6147" name="Rectangle 7"/>
          <p:cNvSpPr>
            <a:spLocks noGrp="1" noChangeArrowheads="1"/>
          </p:cNvSpPr>
          <p:nvPr>
            <p:ph idx="1"/>
          </p:nvPr>
        </p:nvSpPr>
        <p:spPr>
          <a:xfrm>
            <a:off x="685800" y="1600200"/>
            <a:ext cx="7772400" cy="4454525"/>
          </a:xfrm>
        </p:spPr>
        <p:txBody>
          <a:bodyPr/>
          <a:lstStyle/>
          <a:p>
            <a:pPr eaLnBrk="1" hangingPunct="1"/>
            <a:r>
              <a:rPr lang="en-US" altLang="en-US"/>
              <a:t>Name the organs of the respiratory system and describe their location and function.</a:t>
            </a:r>
          </a:p>
          <a:p>
            <a:pPr eaLnBrk="1" hangingPunct="1"/>
            <a:r>
              <a:rPr lang="en-US" altLang="en-US"/>
              <a:t>Identify various pathologic conditions that affect the system.</a:t>
            </a:r>
          </a:p>
          <a:p>
            <a:pPr eaLnBrk="1" hangingPunct="1"/>
            <a:r>
              <a:rPr lang="en-US" altLang="en-US"/>
              <a:t>Learn medical terms that pertain to respiration.</a:t>
            </a:r>
          </a:p>
        </p:txBody>
      </p:sp>
    </p:spTree>
    <p:extLst>
      <p:ext uri="{BB962C8B-B14F-4D97-AF65-F5344CB8AC3E}">
        <p14:creationId xmlns:p14="http://schemas.microsoft.com/office/powerpoint/2010/main" val="2875279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6"/>
          <p:cNvSpPr>
            <a:spLocks noGrp="1" noChangeArrowheads="1"/>
          </p:cNvSpPr>
          <p:nvPr>
            <p:ph type="title"/>
          </p:nvPr>
        </p:nvSpPr>
        <p:spPr/>
        <p:txBody>
          <a:bodyPr/>
          <a:lstStyle/>
          <a:p>
            <a:pPr eaLnBrk="1" hangingPunct="1"/>
            <a:r>
              <a:rPr lang="en-US" altLang="en-US" dirty="0"/>
              <a:t>Chapter Goals (Slide 2 of 2</a:t>
            </a:r>
            <a:r>
              <a:rPr lang="en-US" altLang="ja-JP" dirty="0"/>
              <a:t>)</a:t>
            </a:r>
            <a:endParaRPr lang="en-US" altLang="en-US" dirty="0"/>
          </a:p>
        </p:txBody>
      </p:sp>
      <p:sp>
        <p:nvSpPr>
          <p:cNvPr id="7171" name="Rectangle 7"/>
          <p:cNvSpPr>
            <a:spLocks noGrp="1" noChangeArrowheads="1"/>
          </p:cNvSpPr>
          <p:nvPr>
            <p:ph idx="1"/>
          </p:nvPr>
        </p:nvSpPr>
        <p:spPr/>
        <p:txBody>
          <a:bodyPr/>
          <a:lstStyle/>
          <a:p>
            <a:pPr eaLnBrk="1" hangingPunct="1"/>
            <a:r>
              <a:rPr lang="en-US" altLang="en-US" dirty="0"/>
              <a:t>Describe important clinical procedures related to the respiratory system and recognize relevant abbreviations.</a:t>
            </a:r>
          </a:p>
          <a:p>
            <a:pPr eaLnBrk="1" hangingPunct="1"/>
            <a:r>
              <a:rPr lang="en-US" altLang="en-US" dirty="0"/>
              <a:t>Apply your new knowledge to understanding medical terms in their proper contexts, such as medical reports and records.</a:t>
            </a:r>
          </a:p>
        </p:txBody>
      </p:sp>
    </p:spTree>
    <p:extLst>
      <p:ext uri="{BB962C8B-B14F-4D97-AF65-F5344CB8AC3E}">
        <p14:creationId xmlns:p14="http://schemas.microsoft.com/office/powerpoint/2010/main" val="3028741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ctrTitle"/>
          </p:nvPr>
        </p:nvSpPr>
        <p:spPr>
          <a:xfrm>
            <a:off x="685800" y="457200"/>
            <a:ext cx="7772400" cy="1143000"/>
          </a:xfrm>
        </p:spPr>
        <p:txBody>
          <a:bodyPr rtlCol="0">
            <a:normAutofit fontScale="90000"/>
          </a:bodyPr>
          <a:lstStyle/>
          <a:p>
            <a:pPr eaLnBrk="1" fontAlgn="auto" hangingPunct="1">
              <a:spcAft>
                <a:spcPts val="0"/>
              </a:spcAft>
              <a:defRPr/>
            </a:pPr>
            <a:r>
              <a:rPr lang="en-US"/>
              <a:t>Chapter 12</a:t>
            </a:r>
            <a:br>
              <a:rPr lang="en-US"/>
            </a:br>
            <a:r>
              <a:rPr lang="en-US"/>
              <a:t>Lesson 12.1</a:t>
            </a:r>
          </a:p>
        </p:txBody>
      </p:sp>
    </p:spTree>
    <p:extLst>
      <p:ext uri="{BB962C8B-B14F-4D97-AF65-F5344CB8AC3E}">
        <p14:creationId xmlns:p14="http://schemas.microsoft.com/office/powerpoint/2010/main" val="2171983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eaLnBrk="1" hangingPunct="1"/>
            <a:r>
              <a:rPr lang="en-US" altLang="en-US" dirty="0"/>
              <a:t>Introduction (Slide 1 of 2)</a:t>
            </a:r>
          </a:p>
        </p:txBody>
      </p:sp>
      <p:sp>
        <p:nvSpPr>
          <p:cNvPr id="9219" name="Rectangle 5"/>
          <p:cNvSpPr>
            <a:spLocks noGrp="1" noChangeArrowheads="1"/>
          </p:cNvSpPr>
          <p:nvPr>
            <p:ph idx="1"/>
          </p:nvPr>
        </p:nvSpPr>
        <p:spPr/>
        <p:txBody>
          <a:bodyPr/>
          <a:lstStyle/>
          <a:p>
            <a:pPr eaLnBrk="1" hangingPunct="1">
              <a:buFont typeface="Wingdings 2" panose="05020102010507070707" pitchFamily="18" charset="2"/>
              <a:buNone/>
            </a:pPr>
            <a:r>
              <a:rPr lang="en-US" altLang="en-US" b="1"/>
              <a:t>External respiration:</a:t>
            </a:r>
            <a:r>
              <a:rPr lang="en-US" altLang="en-US"/>
              <a:t> Exchange of air in lung capillaries</a:t>
            </a:r>
          </a:p>
          <a:p>
            <a:pPr lvl="1" eaLnBrk="1" hangingPunct="1">
              <a:buFont typeface="Wingdings" panose="05000000000000000000" pitchFamily="2" charset="2"/>
              <a:buChar char="Ø"/>
            </a:pPr>
            <a:r>
              <a:rPr lang="en-US" altLang="en-US">
                <a:ea typeface="MS PGothic" panose="020B0600070205080204" pitchFamily="34" charset="-128"/>
              </a:rPr>
              <a:t>Oxygen inhaled into the air sacs of the lungs</a:t>
            </a:r>
          </a:p>
          <a:p>
            <a:pPr lvl="1" eaLnBrk="1" hangingPunct="1">
              <a:buFont typeface="Wingdings" panose="05000000000000000000" pitchFamily="2" charset="2"/>
              <a:buChar char="Ø"/>
            </a:pPr>
            <a:r>
              <a:rPr lang="en-US" altLang="en-US">
                <a:ea typeface="MS PGothic" panose="020B0600070205080204" pitchFamily="34" charset="-128"/>
              </a:rPr>
              <a:t>Immediately passes into capillaries</a:t>
            </a:r>
          </a:p>
          <a:p>
            <a:pPr lvl="1" eaLnBrk="1" hangingPunct="1">
              <a:buFont typeface="Wingdings" panose="05000000000000000000" pitchFamily="2" charset="2"/>
              <a:buChar char="Ø"/>
            </a:pPr>
            <a:r>
              <a:rPr lang="en-US" altLang="en-US">
                <a:ea typeface="MS PGothic" panose="020B0600070205080204" pitchFamily="34" charset="-128"/>
              </a:rPr>
              <a:t>Carbon dioxide passes from capillaries into air sacs, to be exhaled</a:t>
            </a:r>
          </a:p>
          <a:p>
            <a:pPr eaLnBrk="1" hangingPunct="1"/>
            <a:endParaRPr lang="en-US" altLang="en-US"/>
          </a:p>
          <a:p>
            <a:pPr eaLnBrk="1" hangingPunct="1"/>
            <a:endParaRPr lang="en-US" altLang="en-US"/>
          </a:p>
        </p:txBody>
      </p:sp>
    </p:spTree>
    <p:extLst>
      <p:ext uri="{BB962C8B-B14F-4D97-AF65-F5344CB8AC3E}">
        <p14:creationId xmlns:p14="http://schemas.microsoft.com/office/powerpoint/2010/main" val="4013822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title"/>
          </p:nvPr>
        </p:nvSpPr>
        <p:spPr/>
        <p:txBody>
          <a:bodyPr/>
          <a:lstStyle/>
          <a:p>
            <a:pPr eaLnBrk="1" hangingPunct="1"/>
            <a:r>
              <a:rPr lang="en-US" altLang="en-US" dirty="0"/>
              <a:t>Introduction (Slide 2 of 2</a:t>
            </a:r>
            <a:r>
              <a:rPr lang="en-US" altLang="ja-JP" dirty="0"/>
              <a:t>)</a:t>
            </a:r>
            <a:endParaRPr lang="en-US" altLang="en-US" dirty="0"/>
          </a:p>
        </p:txBody>
      </p:sp>
      <p:sp>
        <p:nvSpPr>
          <p:cNvPr id="10243" name="Rectangle 5"/>
          <p:cNvSpPr>
            <a:spLocks noGrp="1" noChangeArrowheads="1"/>
          </p:cNvSpPr>
          <p:nvPr>
            <p:ph idx="1"/>
          </p:nvPr>
        </p:nvSpPr>
        <p:spPr/>
        <p:txBody>
          <a:bodyPr/>
          <a:lstStyle/>
          <a:p>
            <a:pPr marL="533400" indent="-533400" eaLnBrk="1" hangingPunct="1">
              <a:buFont typeface="Times" panose="02020603050405020304" pitchFamily="18" charset="0"/>
              <a:buNone/>
            </a:pPr>
            <a:r>
              <a:rPr lang="en-US" altLang="en-US" b="1"/>
              <a:t>Internal respiration:</a:t>
            </a:r>
            <a:r>
              <a:rPr lang="en-US" altLang="en-US"/>
              <a:t> Exchange of gases in the cells </a:t>
            </a:r>
          </a:p>
          <a:p>
            <a:pPr marL="914400" lvl="1" indent="-457200" eaLnBrk="1" hangingPunct="1">
              <a:buFont typeface="Wingdings" panose="05000000000000000000" pitchFamily="2" charset="2"/>
              <a:buChar char="Ø"/>
            </a:pPr>
            <a:r>
              <a:rPr lang="en-US" altLang="en-US"/>
              <a:t>Occurs simultaneously between cells and capillaries</a:t>
            </a:r>
          </a:p>
          <a:p>
            <a:pPr marL="914400" lvl="1" indent="-457200" eaLnBrk="1" hangingPunct="1">
              <a:buFont typeface="Wingdings" panose="05000000000000000000" pitchFamily="2" charset="2"/>
              <a:buChar char="Ø"/>
            </a:pPr>
            <a:r>
              <a:rPr lang="en-US" altLang="en-US"/>
              <a:t>Oxygen passes out of the bloodstream into the tissues</a:t>
            </a:r>
          </a:p>
          <a:p>
            <a:pPr marL="914400" lvl="1" indent="-457200" eaLnBrk="1" hangingPunct="1">
              <a:buFont typeface="Wingdings" panose="05000000000000000000" pitchFamily="2" charset="2"/>
              <a:buChar char="Ø"/>
            </a:pPr>
            <a:r>
              <a:rPr lang="en-US" altLang="en-US"/>
              <a:t>Carbon dioxide passes out of tissues back into the bloodstream to travel to the lungs</a:t>
            </a:r>
          </a:p>
        </p:txBody>
      </p:sp>
    </p:spTree>
    <p:extLst>
      <p:ext uri="{BB962C8B-B14F-4D97-AF65-F5344CB8AC3E}">
        <p14:creationId xmlns:p14="http://schemas.microsoft.com/office/powerpoint/2010/main" val="2875228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p:txBody>
          <a:bodyPr/>
          <a:lstStyle/>
          <a:p>
            <a:pPr eaLnBrk="1" hangingPunct="1"/>
            <a:r>
              <a:rPr lang="en-US" altLang="en-US"/>
              <a:t>Respiratory Anatomy</a:t>
            </a:r>
          </a:p>
        </p:txBody>
      </p:sp>
      <p:sp>
        <p:nvSpPr>
          <p:cNvPr id="11267" name="Rectangle 5"/>
          <p:cNvSpPr>
            <a:spLocks noGrp="1" noChangeArrowheads="1"/>
          </p:cNvSpPr>
          <p:nvPr>
            <p:ph idx="1"/>
          </p:nvPr>
        </p:nvSpPr>
        <p:spPr/>
        <p:txBody>
          <a:bodyPr/>
          <a:lstStyle/>
          <a:p>
            <a:pPr eaLnBrk="1" hangingPunct="1"/>
            <a:r>
              <a:rPr lang="en-US" altLang="en-US" b="1"/>
              <a:t>Mediastinum:</a:t>
            </a:r>
            <a:r>
              <a:rPr lang="en-US" altLang="en-US"/>
              <a:t> Middle of chest where trachea divides into two branches</a:t>
            </a:r>
          </a:p>
          <a:p>
            <a:pPr eaLnBrk="1" hangingPunct="1"/>
            <a:r>
              <a:rPr lang="en-US" altLang="en-US" b="1"/>
              <a:t>Bronchi:</a:t>
            </a:r>
            <a:r>
              <a:rPr lang="en-US" altLang="en-US"/>
              <a:t> Each leads to a separate lung</a:t>
            </a:r>
          </a:p>
          <a:p>
            <a:pPr eaLnBrk="1" hangingPunct="1"/>
            <a:r>
              <a:rPr lang="en-US" altLang="en-US" b="1"/>
              <a:t>Lungs:</a:t>
            </a:r>
            <a:r>
              <a:rPr lang="en-US" altLang="en-US"/>
              <a:t> Lobes are not mirror images</a:t>
            </a:r>
          </a:p>
          <a:p>
            <a:pPr eaLnBrk="1" hangingPunct="1"/>
            <a:r>
              <a:rPr lang="en-US" altLang="en-US" b="1"/>
              <a:t>Hilum:</a:t>
            </a:r>
            <a:r>
              <a:rPr lang="en-US" altLang="en-US"/>
              <a:t> Blood vessels, nerves, lymphatic tissue, and bronchial tubes enter and exit</a:t>
            </a:r>
          </a:p>
        </p:txBody>
      </p:sp>
    </p:spTree>
    <p:extLst>
      <p:ext uri="{BB962C8B-B14F-4D97-AF65-F5344CB8AC3E}">
        <p14:creationId xmlns:p14="http://schemas.microsoft.com/office/powerpoint/2010/main" val="2977514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32"/>
          <p:cNvSpPr>
            <a:spLocks noGrp="1" noChangeArrowheads="1"/>
          </p:cNvSpPr>
          <p:nvPr>
            <p:ph type="title"/>
          </p:nvPr>
        </p:nvSpPr>
        <p:spPr/>
        <p:txBody>
          <a:bodyPr/>
          <a:lstStyle/>
          <a:p>
            <a:pPr eaLnBrk="1" hangingPunct="1"/>
            <a:r>
              <a:rPr lang="en-US" altLang="en-US" dirty="0"/>
              <a:t>Anatomy of Respiration</a:t>
            </a:r>
          </a:p>
        </p:txBody>
      </p:sp>
      <p:pic>
        <p:nvPicPr>
          <p:cNvPr id="5" name="Picture 1033" descr="Organs of the respiratory system include the nose, nasal cavity, sinuses, nasopharynx, adenoids, palatine tonsils (adenoids), oropharynx, laryngopharynx, larynx (voice box), esophagus, epiglottis, trachea (windpipe), mediastinum, bronchi, terminal bronchiole, alveoli, capillary, erythrocytes, parietal pleura, visceral pleura, and diaphragm."/>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003973" y="1600200"/>
            <a:ext cx="3136054"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52054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32"/>
          <p:cNvSpPr>
            <a:spLocks noGrp="1" noChangeArrowheads="1"/>
          </p:cNvSpPr>
          <p:nvPr>
            <p:ph type="title"/>
          </p:nvPr>
        </p:nvSpPr>
        <p:spPr/>
        <p:txBody>
          <a:bodyPr/>
          <a:lstStyle/>
          <a:p>
            <a:pPr eaLnBrk="1" hangingPunct="1"/>
            <a:r>
              <a:rPr lang="en-US" altLang="en-US"/>
              <a:t>Respiratory</a:t>
            </a:r>
            <a:r>
              <a:rPr lang="en-US" altLang="en-US" sz="3600"/>
              <a:t> </a:t>
            </a:r>
            <a:r>
              <a:rPr lang="en-US" altLang="en-US"/>
              <a:t>Structures</a:t>
            </a:r>
          </a:p>
        </p:txBody>
      </p:sp>
      <p:sp>
        <p:nvSpPr>
          <p:cNvPr id="14339" name="Rectangle 1033"/>
          <p:cNvSpPr>
            <a:spLocks noGrp="1" noChangeArrowheads="1"/>
          </p:cNvSpPr>
          <p:nvPr>
            <p:ph sz="half" idx="1"/>
          </p:nvPr>
        </p:nvSpPr>
        <p:spPr>
          <a:xfrm>
            <a:off x="685800" y="1641475"/>
            <a:ext cx="3797300" cy="4454525"/>
          </a:xfrm>
        </p:spPr>
        <p:txBody>
          <a:bodyPr/>
          <a:lstStyle/>
          <a:p>
            <a:pPr eaLnBrk="1" hangingPunct="1">
              <a:lnSpc>
                <a:spcPct val="90000"/>
              </a:lnSpc>
              <a:buFont typeface="Wingdings 2" panose="05020102010507070707" pitchFamily="18" charset="2"/>
              <a:buNone/>
            </a:pPr>
            <a:r>
              <a:rPr lang="en-US" altLang="en-US"/>
              <a:t>Conduct air</a:t>
            </a:r>
          </a:p>
          <a:p>
            <a:pPr lvl="1" eaLnBrk="1" hangingPunct="1">
              <a:lnSpc>
                <a:spcPct val="90000"/>
              </a:lnSpc>
              <a:buFont typeface="Wingdings" panose="05000000000000000000" pitchFamily="2" charset="2"/>
              <a:buChar char="Ø"/>
            </a:pPr>
            <a:r>
              <a:rPr lang="en-US" altLang="en-US" sz="2800">
                <a:ea typeface="MS PGothic" panose="020B0600070205080204" pitchFamily="34" charset="-128"/>
              </a:rPr>
              <a:t>Nose</a:t>
            </a:r>
          </a:p>
          <a:p>
            <a:pPr lvl="1" eaLnBrk="1" hangingPunct="1">
              <a:lnSpc>
                <a:spcPct val="90000"/>
              </a:lnSpc>
              <a:buFont typeface="Wingdings" panose="05000000000000000000" pitchFamily="2" charset="2"/>
              <a:buChar char="Ø"/>
            </a:pPr>
            <a:r>
              <a:rPr lang="en-US" altLang="en-US" sz="2800">
                <a:ea typeface="MS PGothic" panose="020B0600070205080204" pitchFamily="34" charset="-128"/>
              </a:rPr>
              <a:t>Nasal cavities and paranasal sinuses</a:t>
            </a:r>
          </a:p>
          <a:p>
            <a:pPr lvl="1" eaLnBrk="1" hangingPunct="1">
              <a:lnSpc>
                <a:spcPct val="90000"/>
              </a:lnSpc>
              <a:buFont typeface="Wingdings" panose="05000000000000000000" pitchFamily="2" charset="2"/>
              <a:buChar char="Ø"/>
            </a:pPr>
            <a:r>
              <a:rPr lang="en-US" altLang="en-US" sz="2800">
                <a:ea typeface="MS PGothic" panose="020B0600070205080204" pitchFamily="34" charset="-128"/>
              </a:rPr>
              <a:t>Pharynx</a:t>
            </a:r>
          </a:p>
          <a:p>
            <a:pPr lvl="1" eaLnBrk="1" hangingPunct="1">
              <a:lnSpc>
                <a:spcPct val="90000"/>
              </a:lnSpc>
              <a:buFont typeface="Wingdings" panose="05000000000000000000" pitchFamily="2" charset="2"/>
              <a:buChar char="Ø"/>
            </a:pPr>
            <a:r>
              <a:rPr lang="en-US" altLang="en-US" sz="2800">
                <a:ea typeface="MS PGothic" panose="020B0600070205080204" pitchFamily="34" charset="-128"/>
              </a:rPr>
              <a:t>Larynx</a:t>
            </a:r>
          </a:p>
          <a:p>
            <a:pPr lvl="1" eaLnBrk="1" hangingPunct="1">
              <a:lnSpc>
                <a:spcPct val="90000"/>
              </a:lnSpc>
              <a:buFont typeface="Wingdings" panose="05000000000000000000" pitchFamily="2" charset="2"/>
              <a:buChar char="Ø"/>
            </a:pPr>
            <a:r>
              <a:rPr lang="en-US" altLang="en-US" sz="2800">
                <a:ea typeface="MS PGothic" panose="020B0600070205080204" pitchFamily="34" charset="-128"/>
              </a:rPr>
              <a:t>Trachea</a:t>
            </a:r>
          </a:p>
          <a:p>
            <a:pPr eaLnBrk="1" hangingPunct="1">
              <a:lnSpc>
                <a:spcPct val="90000"/>
              </a:lnSpc>
            </a:pPr>
            <a:endParaRPr lang="en-US" altLang="en-US" sz="2400"/>
          </a:p>
          <a:p>
            <a:pPr eaLnBrk="1" hangingPunct="1">
              <a:lnSpc>
                <a:spcPct val="90000"/>
              </a:lnSpc>
            </a:pPr>
            <a:endParaRPr lang="en-US" altLang="en-US" sz="2400"/>
          </a:p>
        </p:txBody>
      </p:sp>
      <p:sp>
        <p:nvSpPr>
          <p:cNvPr id="14340" name="Rectangle 1034"/>
          <p:cNvSpPr>
            <a:spLocks noGrp="1" noChangeArrowheads="1"/>
          </p:cNvSpPr>
          <p:nvPr>
            <p:ph sz="half" idx="2"/>
          </p:nvPr>
        </p:nvSpPr>
        <p:spPr>
          <a:xfrm>
            <a:off x="4660900" y="1641475"/>
            <a:ext cx="3797300" cy="4454525"/>
          </a:xfrm>
        </p:spPr>
        <p:txBody>
          <a:bodyPr/>
          <a:lstStyle/>
          <a:p>
            <a:pPr eaLnBrk="1" hangingPunct="1">
              <a:buFont typeface="Wingdings 2" panose="05020102010507070707" pitchFamily="18" charset="2"/>
              <a:buNone/>
            </a:pPr>
            <a:r>
              <a:rPr lang="en-US" altLang="en-US"/>
              <a:t>Exchange gases</a:t>
            </a:r>
          </a:p>
          <a:p>
            <a:pPr lvl="1" eaLnBrk="1" hangingPunct="1">
              <a:buFont typeface="Wingdings" panose="05000000000000000000" pitchFamily="2" charset="2"/>
              <a:buChar char="Ø"/>
            </a:pPr>
            <a:r>
              <a:rPr lang="en-US" altLang="en-US" sz="2800">
                <a:ea typeface="MS PGothic" panose="020B0600070205080204" pitchFamily="34" charset="-128"/>
              </a:rPr>
              <a:t>Bronchioles</a:t>
            </a:r>
          </a:p>
          <a:p>
            <a:pPr lvl="1" eaLnBrk="1" hangingPunct="1">
              <a:buFont typeface="Wingdings" panose="05000000000000000000" pitchFamily="2" charset="2"/>
              <a:buChar char="Ø"/>
            </a:pPr>
            <a:r>
              <a:rPr lang="en-US" altLang="en-US" sz="2800">
                <a:ea typeface="MS PGothic" panose="020B0600070205080204" pitchFamily="34" charset="-128"/>
              </a:rPr>
              <a:t>Alveoli</a:t>
            </a:r>
          </a:p>
          <a:p>
            <a:pPr lvl="1" eaLnBrk="1" hangingPunct="1">
              <a:buFont typeface="Wingdings" panose="05000000000000000000" pitchFamily="2" charset="2"/>
              <a:buChar char="Ø"/>
            </a:pPr>
            <a:r>
              <a:rPr lang="en-US" altLang="en-US" sz="2800">
                <a:ea typeface="MS PGothic" panose="020B0600070205080204" pitchFamily="34" charset="-128"/>
              </a:rPr>
              <a:t>Lung capillaries</a:t>
            </a:r>
          </a:p>
          <a:p>
            <a:pPr eaLnBrk="1" hangingPunct="1"/>
            <a:endParaRPr lang="en-US" altLang="en-US" sz="2400"/>
          </a:p>
        </p:txBody>
      </p:sp>
    </p:spTree>
    <p:extLst>
      <p:ext uri="{BB962C8B-B14F-4D97-AF65-F5344CB8AC3E}">
        <p14:creationId xmlns:p14="http://schemas.microsoft.com/office/powerpoint/2010/main" val="3348424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9"/>
          <p:cNvSpPr>
            <a:spLocks noGrp="1" noChangeArrowheads="1"/>
          </p:cNvSpPr>
          <p:nvPr>
            <p:ph type="title"/>
          </p:nvPr>
        </p:nvSpPr>
        <p:spPr/>
        <p:txBody>
          <a:bodyPr/>
          <a:lstStyle/>
          <a:p>
            <a:pPr eaLnBrk="1" hangingPunct="1"/>
            <a:r>
              <a:rPr lang="en-US" altLang="en-US" dirty="0"/>
              <a:t>Respiratory Flow Chart</a:t>
            </a:r>
          </a:p>
        </p:txBody>
      </p:sp>
      <p:pic>
        <p:nvPicPr>
          <p:cNvPr id="5" name="Picture 7" descr="Pathway of air from the nose travels through the nasal cavities and paranasal sinuses, pharynx, larynx, trachea, bronchi, bronchioles, and alveoli to the capillaries of the lung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365077" y="1600200"/>
            <a:ext cx="2413846"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5500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 of 20)</a:t>
            </a:r>
          </a:p>
        </p:txBody>
      </p:sp>
      <p:graphicFrame>
        <p:nvGraphicFramePr>
          <p:cNvPr id="8" name="Content Placeholder 7" descr="Group 1 of 10: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862771077"/>
              </p:ext>
            </p:extLst>
          </p:nvPr>
        </p:nvGraphicFramePr>
        <p:xfrm>
          <a:off x="2628900" y="2133600"/>
          <a:ext cx="3886200" cy="1828800"/>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adenoids</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alveolus (</a:t>
                      </a:r>
                      <a:r>
                        <a:rPr lang="en-US" altLang="en-US" sz="2400" i="1" dirty="0"/>
                        <a:t>plural</a:t>
                      </a:r>
                      <a:r>
                        <a:rPr lang="en-US" altLang="en-US" sz="2400" dirty="0"/>
                        <a:t>: alveoli)</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apex of the lung</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747958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 of 20)</a:t>
            </a:r>
          </a:p>
        </p:txBody>
      </p:sp>
      <p:graphicFrame>
        <p:nvGraphicFramePr>
          <p:cNvPr id="8" name="Content Placeholder 7" descr="Group 1 of 10.  List of vocabulary terms  with corresponding meanings or definitions."/>
          <p:cNvGraphicFramePr>
            <a:graphicFrameLocks noGrp="1"/>
          </p:cNvGraphicFramePr>
          <p:nvPr>
            <p:ph idx="1"/>
            <p:extLst>
              <p:ext uri="{D42A27DB-BD31-4B8C-83A1-F6EECF244321}">
                <p14:modId xmlns:p14="http://schemas.microsoft.com/office/powerpoint/2010/main" val="2675578595"/>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adenoids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Lymphatic tissue in the </a:t>
                      </a:r>
                      <a:r>
                        <a:rPr lang="en-US" altLang="en-US" sz="2400" dirty="0" err="1"/>
                        <a:t>nasopharynx</a:t>
                      </a:r>
                      <a:r>
                        <a:rPr lang="en-US" altLang="en-US" sz="2400" dirty="0"/>
                        <a:t>; pharyngeal tonsils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alveolus (</a:t>
                      </a:r>
                      <a:r>
                        <a:rPr lang="en-US" altLang="en-US" sz="2400" i="1" dirty="0"/>
                        <a:t>plural</a:t>
                      </a:r>
                      <a:r>
                        <a:rPr lang="en-US" altLang="en-US" sz="2400" dirty="0"/>
                        <a:t>: alveoli)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Air sac in the lung</a:t>
                      </a:r>
                    </a:p>
                    <a:p>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apex of the lung</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Tip or uppermost portion of the lung</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60419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 of 20)</a:t>
            </a:r>
          </a:p>
        </p:txBody>
      </p:sp>
      <p:graphicFrame>
        <p:nvGraphicFramePr>
          <p:cNvPr id="8" name="Content Placeholder 7" descr="Group 2 of 10: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978231486"/>
              </p:ext>
            </p:extLst>
          </p:nvPr>
        </p:nvGraphicFramePr>
        <p:xfrm>
          <a:off x="2743200" y="2057400"/>
          <a:ext cx="3657600" cy="18288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base of the lung</a:t>
                      </a:r>
                    </a:p>
                  </a:txBody>
                  <a:tcPr/>
                </a:tc>
                <a:extLst>
                  <a:ext uri="{0D108BD9-81ED-4DB2-BD59-A6C34878D82A}">
                    <a16:rowId xmlns:a16="http://schemas.microsoft.com/office/drawing/2014/main" val="10001"/>
                  </a:ext>
                </a:extLst>
              </a:tr>
              <a:tr h="370840">
                <a:tc>
                  <a:txBody>
                    <a:bodyPr/>
                    <a:lstStyle/>
                    <a:p>
                      <a:r>
                        <a:rPr lang="en-US" altLang="en-US" sz="2400" dirty="0"/>
                        <a:t>bronchioles</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bronchus (</a:t>
                      </a:r>
                      <a:r>
                        <a:rPr lang="en-US" altLang="en-US" sz="2400" i="1" dirty="0"/>
                        <a:t>plural</a:t>
                      </a:r>
                      <a:r>
                        <a:rPr lang="en-US" altLang="en-US" sz="2400" dirty="0"/>
                        <a:t>:  bronchi)</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84711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4 of 20)</a:t>
            </a:r>
          </a:p>
        </p:txBody>
      </p:sp>
      <p:graphicFrame>
        <p:nvGraphicFramePr>
          <p:cNvPr id="8" name="Content Placeholder 7" descr="Group 2 of 10.  List of vocabulary terms  with corresponding meanings or definitions."/>
          <p:cNvGraphicFramePr>
            <a:graphicFrameLocks noGrp="1"/>
          </p:cNvGraphicFramePr>
          <p:nvPr>
            <p:ph idx="1"/>
            <p:extLst>
              <p:ext uri="{D42A27DB-BD31-4B8C-83A1-F6EECF244321}">
                <p14:modId xmlns:p14="http://schemas.microsoft.com/office/powerpoint/2010/main" val="636143793"/>
              </p:ext>
            </p:extLst>
          </p:nvPr>
        </p:nvGraphicFramePr>
        <p:xfrm>
          <a:off x="457200" y="1600200"/>
          <a:ext cx="8229600" cy="219456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base of the lung</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lower portion of the lung</a:t>
                      </a:r>
                    </a:p>
                  </a:txBody>
                  <a:tcPr/>
                </a:tc>
                <a:extLst>
                  <a:ext uri="{0D108BD9-81ED-4DB2-BD59-A6C34878D82A}">
                    <a16:rowId xmlns:a16="http://schemas.microsoft.com/office/drawing/2014/main" val="10001"/>
                  </a:ext>
                </a:extLst>
              </a:tr>
              <a:tr h="370840">
                <a:tc>
                  <a:txBody>
                    <a:bodyPr/>
                    <a:lstStyle/>
                    <a:p>
                      <a:r>
                        <a:rPr lang="en-US" altLang="en-US" sz="2400" dirty="0"/>
                        <a:t>bronchioles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smallest branches of the bronchi</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bronchus (</a:t>
                      </a:r>
                      <a:r>
                        <a:rPr lang="en-US" altLang="en-US" sz="2400" i="1" dirty="0"/>
                        <a:t>plural</a:t>
                      </a:r>
                      <a:r>
                        <a:rPr lang="en-US" altLang="en-US" sz="2400" dirty="0"/>
                        <a:t>:  bronchi)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branch of the trachea (windpipe) that is a passageway into the lung; bronchial tube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16883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5 of 20)</a:t>
            </a:r>
          </a:p>
        </p:txBody>
      </p:sp>
      <p:graphicFrame>
        <p:nvGraphicFramePr>
          <p:cNvPr id="8" name="Content Placeholder 7" descr="Group 3 of 10: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477857295"/>
              </p:ext>
            </p:extLst>
          </p:nvPr>
        </p:nvGraphicFramePr>
        <p:xfrm>
          <a:off x="2514600" y="2514600"/>
          <a:ext cx="2819400" cy="18288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carbon dioxide (CO</a:t>
                      </a:r>
                      <a:r>
                        <a:rPr lang="en-US" altLang="en-US" sz="2400" baseline="-25000" dirty="0"/>
                        <a:t>2</a:t>
                      </a:r>
                      <a:r>
                        <a:rPr lang="en-US" altLang="en-US" sz="2400" dirty="0"/>
                        <a:t>)</a:t>
                      </a:r>
                      <a:endParaRPr lang="en-US" altLang="en-US" sz="2400" baseline="-25000" dirty="0"/>
                    </a:p>
                  </a:txBody>
                  <a:tcPr/>
                </a:tc>
                <a:extLst>
                  <a:ext uri="{0D108BD9-81ED-4DB2-BD59-A6C34878D82A}">
                    <a16:rowId xmlns:a16="http://schemas.microsoft.com/office/drawing/2014/main" val="10001"/>
                  </a:ext>
                </a:extLst>
              </a:tr>
              <a:tr h="370840">
                <a:tc>
                  <a:txBody>
                    <a:bodyPr/>
                    <a:lstStyle/>
                    <a:p>
                      <a:r>
                        <a:rPr lang="en-US" altLang="en-US" sz="2400" dirty="0"/>
                        <a:t>cilia</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diaphragm</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00938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6 of 20)</a:t>
            </a:r>
          </a:p>
        </p:txBody>
      </p:sp>
      <p:graphicFrame>
        <p:nvGraphicFramePr>
          <p:cNvPr id="8" name="Content Placeholder 7" descr="Group 3 of 10.  List of vocabulary terms  with corresponding meanings or definitions."/>
          <p:cNvGraphicFramePr>
            <a:graphicFrameLocks noGrp="1"/>
          </p:cNvGraphicFramePr>
          <p:nvPr>
            <p:ph idx="1"/>
            <p:extLst>
              <p:ext uri="{D42A27DB-BD31-4B8C-83A1-F6EECF244321}">
                <p14:modId xmlns:p14="http://schemas.microsoft.com/office/powerpoint/2010/main" val="911595955"/>
              </p:ext>
            </p:extLst>
          </p:nvPr>
        </p:nvGraphicFramePr>
        <p:xfrm>
          <a:off x="457200" y="1600200"/>
          <a:ext cx="8229600" cy="365760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carbon dioxide (CO</a:t>
                      </a:r>
                      <a:r>
                        <a:rPr lang="en-US" altLang="en-US" sz="2400" baseline="-25000" dirty="0"/>
                        <a:t>2</a:t>
                      </a:r>
                      <a:r>
                        <a:rPr lang="en-US" altLang="en-US" sz="2400" dirty="0"/>
                        <a:t>)</a:t>
                      </a:r>
                      <a:endParaRPr lang="en-US" altLang="en-US" sz="24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Gas produced by body cells when oxygen and carbon atoms from food combine; exhaled through the lungs</a:t>
                      </a:r>
                    </a:p>
                  </a:txBody>
                  <a:tcPr/>
                </a:tc>
                <a:extLst>
                  <a:ext uri="{0D108BD9-81ED-4DB2-BD59-A6C34878D82A}">
                    <a16:rowId xmlns:a16="http://schemas.microsoft.com/office/drawing/2014/main" val="10001"/>
                  </a:ext>
                </a:extLst>
              </a:tr>
              <a:tr h="370840">
                <a:tc>
                  <a:txBody>
                    <a:bodyPr/>
                    <a:lstStyle/>
                    <a:p>
                      <a:r>
                        <a:rPr lang="en-US" altLang="en-US" sz="2400" dirty="0"/>
                        <a:t>cilia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Thin hairs attached to mucous membrane epithelium lining the respiratory tract</a:t>
                      </a:r>
                    </a:p>
                  </a:txBody>
                  <a:tcPr/>
                </a:tc>
                <a:extLst>
                  <a:ext uri="{0D108BD9-81ED-4DB2-BD59-A6C34878D82A}">
                    <a16:rowId xmlns:a16="http://schemas.microsoft.com/office/drawing/2014/main" val="10002"/>
                  </a:ext>
                </a:extLst>
              </a:tr>
              <a:tr h="370840">
                <a:tc>
                  <a:txBody>
                    <a:bodyPr/>
                    <a:lstStyle/>
                    <a:p>
                      <a:r>
                        <a:rPr lang="en-US" altLang="en-US" sz="2400" dirty="0"/>
                        <a:t>diaphragm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Muscle separating the chest and abdomen; contracts to pull air into lungs; relaxes to push air out</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07460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7 of 20)</a:t>
            </a:r>
          </a:p>
        </p:txBody>
      </p:sp>
      <p:graphicFrame>
        <p:nvGraphicFramePr>
          <p:cNvPr id="8" name="Content Placeholder 7" descr="Group 4 of 10: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412312093"/>
              </p:ext>
            </p:extLst>
          </p:nvPr>
        </p:nvGraphicFramePr>
        <p:xfrm>
          <a:off x="3124200" y="2133600"/>
          <a:ext cx="2209800" cy="182880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sz="2400" dirty="0">
                          <a:ea typeface="ＭＳ Ｐゴシック" charset="0"/>
                        </a:rPr>
                        <a:t>epiglottis</a:t>
                      </a:r>
                      <a:endParaRPr lang="en-US" sz="2400" dirty="0"/>
                    </a:p>
                  </a:txBody>
                  <a:tcPr/>
                </a:tc>
                <a:extLst>
                  <a:ext uri="{0D108BD9-81ED-4DB2-BD59-A6C34878D82A}">
                    <a16:rowId xmlns:a16="http://schemas.microsoft.com/office/drawing/2014/main" val="10001"/>
                  </a:ext>
                </a:extLst>
              </a:tr>
              <a:tr h="370840">
                <a:tc>
                  <a:txBody>
                    <a:bodyPr/>
                    <a:lstStyle/>
                    <a:p>
                      <a:r>
                        <a:rPr lang="en-US" sz="2400" dirty="0">
                          <a:ea typeface="ＭＳ Ｐゴシック" charset="0"/>
                        </a:rPr>
                        <a:t>expiration</a:t>
                      </a:r>
                      <a:endParaRPr lang="en-US" sz="2400" dirty="0"/>
                    </a:p>
                  </a:txBody>
                  <a:tcPr/>
                </a:tc>
                <a:extLst>
                  <a:ext uri="{0D108BD9-81ED-4DB2-BD59-A6C34878D82A}">
                    <a16:rowId xmlns:a16="http://schemas.microsoft.com/office/drawing/2014/main" val="10002"/>
                  </a:ext>
                </a:extLst>
              </a:tr>
              <a:tr h="370840">
                <a:tc>
                  <a:txBody>
                    <a:bodyPr/>
                    <a:lstStyle/>
                    <a:p>
                      <a:r>
                        <a:rPr lang="en-US" sz="2400" dirty="0">
                          <a:ea typeface="ＭＳ Ｐゴシック" charset="0"/>
                        </a:rPr>
                        <a:t>glottis</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76274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8 of 20)</a:t>
            </a:r>
          </a:p>
        </p:txBody>
      </p:sp>
      <p:graphicFrame>
        <p:nvGraphicFramePr>
          <p:cNvPr id="8" name="Content Placeholder 7" descr="Group 4 of 10.  List of vocabulary terms  with corresponding meanings or definitions."/>
          <p:cNvGraphicFramePr>
            <a:graphicFrameLocks noGrp="1"/>
          </p:cNvGraphicFramePr>
          <p:nvPr>
            <p:ph idx="1"/>
            <p:extLst>
              <p:ext uri="{D42A27DB-BD31-4B8C-83A1-F6EECF244321}">
                <p14:modId xmlns:p14="http://schemas.microsoft.com/office/powerpoint/2010/main" val="890407777"/>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sz="2400" dirty="0">
                          <a:ea typeface="ＭＳ Ｐゴシック" charset="0"/>
                        </a:rPr>
                        <a:t>epiglottis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Lid-like piece of cartilage that covers the larynx; keeps food from entering the larynx and trachea during swallowing</a:t>
                      </a:r>
                    </a:p>
                  </a:txBody>
                  <a:tcPr/>
                </a:tc>
                <a:extLst>
                  <a:ext uri="{0D108BD9-81ED-4DB2-BD59-A6C34878D82A}">
                    <a16:rowId xmlns:a16="http://schemas.microsoft.com/office/drawing/2014/main" val="10001"/>
                  </a:ext>
                </a:extLst>
              </a:tr>
              <a:tr h="370840">
                <a:tc>
                  <a:txBody>
                    <a:bodyPr/>
                    <a:lstStyle/>
                    <a:p>
                      <a:r>
                        <a:rPr lang="en-US" sz="2400" dirty="0">
                          <a:ea typeface="ＭＳ Ｐゴシック" charset="0"/>
                        </a:rPr>
                        <a:t>expiration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Breathing out (exhalation)</a:t>
                      </a:r>
                    </a:p>
                  </a:txBody>
                  <a:tcPr/>
                </a:tc>
                <a:extLst>
                  <a:ext uri="{0D108BD9-81ED-4DB2-BD59-A6C34878D82A}">
                    <a16:rowId xmlns:a16="http://schemas.microsoft.com/office/drawing/2014/main" val="10002"/>
                  </a:ext>
                </a:extLst>
              </a:tr>
              <a:tr h="370840">
                <a:tc>
                  <a:txBody>
                    <a:bodyPr/>
                    <a:lstStyle/>
                    <a:p>
                      <a:r>
                        <a:rPr lang="en-US" sz="2400" dirty="0">
                          <a:ea typeface="ＭＳ Ｐゴシック" charset="0"/>
                        </a:rPr>
                        <a:t>glottis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Slit-like opening to the larynx</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44556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9 of 20)</a:t>
            </a:r>
          </a:p>
        </p:txBody>
      </p:sp>
      <p:graphicFrame>
        <p:nvGraphicFramePr>
          <p:cNvPr id="8" name="Content Placeholder 7" descr="Group 5 of 10: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449690421"/>
              </p:ext>
            </p:extLst>
          </p:nvPr>
        </p:nvGraphicFramePr>
        <p:xfrm>
          <a:off x="3467100" y="2209800"/>
          <a:ext cx="2209800" cy="182880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hilum (of lung)</a:t>
                      </a:r>
                    </a:p>
                  </a:txBody>
                  <a:tcPr/>
                </a:tc>
                <a:extLst>
                  <a:ext uri="{0D108BD9-81ED-4DB2-BD59-A6C34878D82A}">
                    <a16:rowId xmlns:a16="http://schemas.microsoft.com/office/drawing/2014/main" val="10001"/>
                  </a:ext>
                </a:extLst>
              </a:tr>
              <a:tr h="370840">
                <a:tc>
                  <a:txBody>
                    <a:bodyPr/>
                    <a:lstStyle/>
                    <a:p>
                      <a:r>
                        <a:rPr lang="en-US" altLang="en-US" sz="2400" dirty="0">
                          <a:ea typeface="MS PGothic" panose="020B0600070205080204" pitchFamily="34" charset="-128"/>
                        </a:rPr>
                        <a:t>inspiration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ea typeface="MS PGothic" panose="020B0600070205080204" pitchFamily="34" charset="-128"/>
                        </a:rPr>
                        <a:t>larynx</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16564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10 of 20)</a:t>
            </a:r>
          </a:p>
        </p:txBody>
      </p:sp>
      <p:graphicFrame>
        <p:nvGraphicFramePr>
          <p:cNvPr id="8" name="Content Placeholder 7" descr="Group 5 of 10.  List of vocabulary terms  with corresponding meanings or definitions."/>
          <p:cNvGraphicFramePr>
            <a:graphicFrameLocks noGrp="1"/>
          </p:cNvGraphicFramePr>
          <p:nvPr>
            <p:ph idx="1"/>
            <p:extLst>
              <p:ext uri="{D42A27DB-BD31-4B8C-83A1-F6EECF244321}">
                <p14:modId xmlns:p14="http://schemas.microsoft.com/office/powerpoint/2010/main" val="3293449267"/>
              </p:ext>
            </p:extLst>
          </p:nvPr>
        </p:nvGraphicFramePr>
        <p:xfrm>
          <a:off x="457200" y="1600200"/>
          <a:ext cx="8229600" cy="219456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hilum (of lung)</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Midline region where the bronchi, blood vessels, and nerves enter and exit the lungs</a:t>
                      </a:r>
                    </a:p>
                  </a:txBody>
                  <a:tcPr/>
                </a:tc>
                <a:extLst>
                  <a:ext uri="{0D108BD9-81ED-4DB2-BD59-A6C34878D82A}">
                    <a16:rowId xmlns:a16="http://schemas.microsoft.com/office/drawing/2014/main" val="10001"/>
                  </a:ext>
                </a:extLst>
              </a:tr>
              <a:tr h="370840">
                <a:tc>
                  <a:txBody>
                    <a:bodyPr/>
                    <a:lstStyle/>
                    <a:p>
                      <a:r>
                        <a:rPr lang="en-US" altLang="en-US" sz="2400" dirty="0">
                          <a:ea typeface="MS PGothic" panose="020B0600070205080204" pitchFamily="34" charset="-128"/>
                        </a:rPr>
                        <a:t>inspiration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Breathing in (inhalation)</a:t>
                      </a:r>
                    </a:p>
                  </a:txBody>
                  <a:tcPr/>
                </a:tc>
                <a:extLst>
                  <a:ext uri="{0D108BD9-81ED-4DB2-BD59-A6C34878D82A}">
                    <a16:rowId xmlns:a16="http://schemas.microsoft.com/office/drawing/2014/main" val="10002"/>
                  </a:ext>
                </a:extLst>
              </a:tr>
              <a:tr h="370840">
                <a:tc>
                  <a:txBody>
                    <a:bodyPr/>
                    <a:lstStyle/>
                    <a:p>
                      <a:r>
                        <a:rPr lang="en-US" altLang="en-US" sz="2400" dirty="0">
                          <a:ea typeface="MS PGothic" panose="020B0600070205080204" pitchFamily="34" charset="-128"/>
                        </a:rPr>
                        <a:t>larynx</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Voice box; contains the vocal cords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302334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11 of 20)</a:t>
            </a:r>
          </a:p>
        </p:txBody>
      </p:sp>
      <p:graphicFrame>
        <p:nvGraphicFramePr>
          <p:cNvPr id="8" name="Content Placeholder 7" descr="Group 6 of 10: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771067049"/>
              </p:ext>
            </p:extLst>
          </p:nvPr>
        </p:nvGraphicFramePr>
        <p:xfrm>
          <a:off x="3467100" y="2286000"/>
          <a:ext cx="2209800" cy="182880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lobe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mediastinum</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nares</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13337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12 of 20)</a:t>
            </a:r>
          </a:p>
        </p:txBody>
      </p:sp>
      <p:graphicFrame>
        <p:nvGraphicFramePr>
          <p:cNvPr id="8" name="Content Placeholder 7" descr="Group 6 of 10.  List of vocabulary terms  with corresponding meanings or definitions."/>
          <p:cNvGraphicFramePr>
            <a:graphicFrameLocks noGrp="1"/>
          </p:cNvGraphicFramePr>
          <p:nvPr>
            <p:ph idx="1"/>
            <p:extLst>
              <p:ext uri="{D42A27DB-BD31-4B8C-83A1-F6EECF244321}">
                <p14:modId xmlns:p14="http://schemas.microsoft.com/office/powerpoint/2010/main" val="2178897165"/>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lobe</a:t>
                      </a:r>
                      <a:endParaRPr lang="en-US" sz="2400" dirty="0"/>
                    </a:p>
                  </a:txBody>
                  <a:tcPr/>
                </a:tc>
                <a:tc>
                  <a:txBody>
                    <a:bodyPr/>
                    <a:lstStyle/>
                    <a:p>
                      <a:pPr marL="0" indent="0" eaLnBrk="1" hangingPunct="1">
                        <a:buFont typeface="Wingdings 2" panose="05020102010507070707" pitchFamily="18" charset="2"/>
                        <a:buNone/>
                      </a:pPr>
                      <a:r>
                        <a:rPr lang="en-US" altLang="en-US" sz="2400" dirty="0"/>
                        <a:t>Division of a lung</a:t>
                      </a:r>
                    </a:p>
                  </a:txBody>
                  <a:tcPr/>
                </a:tc>
                <a:extLst>
                  <a:ext uri="{0D108BD9-81ED-4DB2-BD59-A6C34878D82A}">
                    <a16:rowId xmlns:a16="http://schemas.microsoft.com/office/drawing/2014/main" val="10001"/>
                  </a:ext>
                </a:extLst>
              </a:tr>
              <a:tr h="370840">
                <a:tc>
                  <a:txBody>
                    <a:bodyPr/>
                    <a:lstStyle/>
                    <a:p>
                      <a:r>
                        <a:rPr lang="en-US" altLang="en-US" sz="2400" dirty="0"/>
                        <a:t>mediastinum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region between lungs in the chest cavity; contains the trachea, heart, lymph nodes, aorta, esophagus, and bronchial tubes</a:t>
                      </a:r>
                    </a:p>
                  </a:txBody>
                  <a:tcPr/>
                </a:tc>
                <a:extLst>
                  <a:ext uri="{0D108BD9-81ED-4DB2-BD59-A6C34878D82A}">
                    <a16:rowId xmlns:a16="http://schemas.microsoft.com/office/drawing/2014/main" val="10002"/>
                  </a:ext>
                </a:extLst>
              </a:tr>
              <a:tr h="370840">
                <a:tc>
                  <a:txBody>
                    <a:bodyPr/>
                    <a:lstStyle/>
                    <a:p>
                      <a:r>
                        <a:rPr lang="en-US" altLang="en-US" sz="2400" dirty="0"/>
                        <a:t>nares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Openings through the nose carrying air into the nasal cavities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296121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13 of 20)</a:t>
            </a:r>
          </a:p>
        </p:txBody>
      </p:sp>
      <p:graphicFrame>
        <p:nvGraphicFramePr>
          <p:cNvPr id="8" name="Content Placeholder 7" descr="Group 7 of 10: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079331760"/>
              </p:ext>
            </p:extLst>
          </p:nvPr>
        </p:nvGraphicFramePr>
        <p:xfrm>
          <a:off x="3200400" y="2438400"/>
          <a:ext cx="2209800" cy="137160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oxygen (O</a:t>
                      </a:r>
                      <a:r>
                        <a:rPr lang="en-US" altLang="en-US" sz="2400" baseline="-25000" dirty="0"/>
                        <a:t>2</a:t>
                      </a:r>
                      <a:r>
                        <a:rPr lang="en-US" altLang="en-US" sz="2400" dirty="0"/>
                        <a:t>)</a:t>
                      </a:r>
                    </a:p>
                  </a:txBody>
                  <a:tcPr/>
                </a:tc>
                <a:extLst>
                  <a:ext uri="{0D108BD9-81ED-4DB2-BD59-A6C34878D82A}">
                    <a16:rowId xmlns:a16="http://schemas.microsoft.com/office/drawing/2014/main" val="10001"/>
                  </a:ext>
                </a:extLst>
              </a:tr>
              <a:tr h="370840">
                <a:tc>
                  <a:txBody>
                    <a:bodyPr/>
                    <a:lstStyle/>
                    <a:p>
                      <a:r>
                        <a:rPr lang="en-US" altLang="en-US" sz="2400" dirty="0"/>
                        <a:t>palatine tonsil</a:t>
                      </a:r>
                      <a:endParaRPr lang="en-US" sz="24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27053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14 of 20)</a:t>
            </a:r>
          </a:p>
        </p:txBody>
      </p:sp>
      <p:graphicFrame>
        <p:nvGraphicFramePr>
          <p:cNvPr id="8" name="Content Placeholder 7" descr="Group 7 of 10.  List of vocabulary terms  with corresponding meanings or definitions."/>
          <p:cNvGraphicFramePr>
            <a:graphicFrameLocks noGrp="1"/>
          </p:cNvGraphicFramePr>
          <p:nvPr>
            <p:ph idx="1"/>
            <p:extLst>
              <p:ext uri="{D42A27DB-BD31-4B8C-83A1-F6EECF244321}">
                <p14:modId xmlns:p14="http://schemas.microsoft.com/office/powerpoint/2010/main" val="3673609964"/>
              </p:ext>
            </p:extLst>
          </p:nvPr>
        </p:nvGraphicFramePr>
        <p:xfrm>
          <a:off x="457200" y="1600200"/>
          <a:ext cx="8229600" cy="246888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oxygen (O</a:t>
                      </a:r>
                      <a:r>
                        <a:rPr lang="en-US" altLang="en-US" sz="2400" baseline="-25000" dirty="0"/>
                        <a:t>2</a:t>
                      </a:r>
                      <a:r>
                        <a:rPr lang="en-US" altLang="en-US" sz="24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Gas that makes up 21% of air; passes into the bloodstream at the lungs and travels to all body cells</a:t>
                      </a:r>
                    </a:p>
                  </a:txBody>
                  <a:tcPr/>
                </a:tc>
                <a:extLst>
                  <a:ext uri="{0D108BD9-81ED-4DB2-BD59-A6C34878D82A}">
                    <a16:rowId xmlns:a16="http://schemas.microsoft.com/office/drawing/2014/main" val="10001"/>
                  </a:ext>
                </a:extLst>
              </a:tr>
              <a:tr h="370840">
                <a:tc>
                  <a:txBody>
                    <a:bodyPr/>
                    <a:lstStyle/>
                    <a:p>
                      <a:r>
                        <a:rPr lang="en-US" altLang="en-US" sz="2400" dirty="0"/>
                        <a:t>palatine tonsil</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One of a pair of almond-shaped masses of lymphatic tissue in the oropharynx</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23024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15 of 20)</a:t>
            </a:r>
          </a:p>
        </p:txBody>
      </p:sp>
      <p:graphicFrame>
        <p:nvGraphicFramePr>
          <p:cNvPr id="8" name="Content Placeholder 7" descr="Group 8 of 10: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258678060"/>
              </p:ext>
            </p:extLst>
          </p:nvPr>
        </p:nvGraphicFramePr>
        <p:xfrm>
          <a:off x="3467100" y="2362200"/>
          <a:ext cx="2209800" cy="182880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paranasal</a:t>
                      </a:r>
                      <a:r>
                        <a:rPr lang="en-US" altLang="en-US" sz="2400" dirty="0"/>
                        <a:t> sinus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parietal pleura</a:t>
                      </a:r>
                    </a:p>
                  </a:txBody>
                  <a:tcPr/>
                </a:tc>
                <a:extLst>
                  <a:ext uri="{0D108BD9-81ED-4DB2-BD59-A6C34878D82A}">
                    <a16:rowId xmlns:a16="http://schemas.microsoft.com/office/drawing/2014/main" val="10002"/>
                  </a:ext>
                </a:extLst>
              </a:tr>
              <a:tr h="370840">
                <a:tc>
                  <a:txBody>
                    <a:bodyPr/>
                    <a:lstStyle/>
                    <a:p>
                      <a:r>
                        <a:rPr lang="en-US" altLang="en-US" sz="2400" dirty="0"/>
                        <a:t>pharynx</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29636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16 of 20)</a:t>
            </a:r>
          </a:p>
        </p:txBody>
      </p:sp>
      <p:graphicFrame>
        <p:nvGraphicFramePr>
          <p:cNvPr id="8" name="Content Placeholder 7" descr="Group 8 of 10.  List of vocabulary terms  with corresponding meanings or definitions."/>
          <p:cNvGraphicFramePr>
            <a:graphicFrameLocks noGrp="1"/>
          </p:cNvGraphicFramePr>
          <p:nvPr>
            <p:ph idx="1"/>
            <p:extLst>
              <p:ext uri="{D42A27DB-BD31-4B8C-83A1-F6EECF244321}">
                <p14:modId xmlns:p14="http://schemas.microsoft.com/office/powerpoint/2010/main" val="3325150858"/>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paranasal</a:t>
                      </a:r>
                      <a:r>
                        <a:rPr lang="en-US" altLang="en-US" sz="2400" dirty="0"/>
                        <a:t> sinus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One of the air cavities in the bones near the nose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parietal pleura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Outer fold of pleura lying closer to the ribs and chest wall</a:t>
                      </a:r>
                    </a:p>
                  </a:txBody>
                  <a:tcPr/>
                </a:tc>
                <a:extLst>
                  <a:ext uri="{0D108BD9-81ED-4DB2-BD59-A6C34878D82A}">
                    <a16:rowId xmlns:a16="http://schemas.microsoft.com/office/drawing/2014/main" val="10002"/>
                  </a:ext>
                </a:extLst>
              </a:tr>
              <a:tr h="370840">
                <a:tc>
                  <a:txBody>
                    <a:bodyPr/>
                    <a:lstStyle/>
                    <a:p>
                      <a:r>
                        <a:rPr lang="en-US" altLang="en-US" sz="2400" dirty="0"/>
                        <a:t>pharynx</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throat; including the </a:t>
                      </a:r>
                      <a:r>
                        <a:rPr lang="en-US" altLang="en-US" sz="2400" dirty="0" err="1"/>
                        <a:t>nasopharynx</a:t>
                      </a:r>
                      <a:r>
                        <a:rPr lang="en-US" altLang="en-US" sz="2400" dirty="0"/>
                        <a:t>, oropharynx, and laryngopharynx</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12295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17 of 20)</a:t>
            </a:r>
          </a:p>
        </p:txBody>
      </p:sp>
      <p:graphicFrame>
        <p:nvGraphicFramePr>
          <p:cNvPr id="8" name="Content Placeholder 7" descr="Group 9 of 10: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084500082"/>
              </p:ext>
            </p:extLst>
          </p:nvPr>
        </p:nvGraphicFramePr>
        <p:xfrm>
          <a:off x="3467100" y="2133600"/>
          <a:ext cx="2209800" cy="219456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pleura</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pleural cavity</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pulmonary parenchyma</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444681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18 of 20)</a:t>
            </a:r>
          </a:p>
        </p:txBody>
      </p:sp>
      <p:graphicFrame>
        <p:nvGraphicFramePr>
          <p:cNvPr id="8" name="Content Placeholder 7" descr="Group 9 of 10.  List of vocabulary terms  with corresponding meanings or definitions."/>
          <p:cNvGraphicFramePr>
            <a:graphicFrameLocks noGrp="1"/>
          </p:cNvGraphicFramePr>
          <p:nvPr>
            <p:ph idx="1"/>
            <p:extLst>
              <p:ext uri="{D42A27DB-BD31-4B8C-83A1-F6EECF244321}">
                <p14:modId xmlns:p14="http://schemas.microsoft.com/office/powerpoint/2010/main" val="2828784490"/>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pleura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Double-folded membrane surrounding each lung</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pleural cavity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Space between the folds of the pleura</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pulmonary parenchyma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Essential parts of the lung, responsible for respiration; bronchioles and alveoli</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917429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19 of 20)</a:t>
            </a:r>
          </a:p>
        </p:txBody>
      </p:sp>
      <p:graphicFrame>
        <p:nvGraphicFramePr>
          <p:cNvPr id="8" name="Content Placeholder 7" descr="Group 10 of 10: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738082212"/>
              </p:ext>
            </p:extLst>
          </p:nvPr>
        </p:nvGraphicFramePr>
        <p:xfrm>
          <a:off x="3276600" y="1981200"/>
          <a:ext cx="2209800" cy="182880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respiration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trachea</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visceral pleura</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442956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20 of 20)</a:t>
            </a:r>
          </a:p>
        </p:txBody>
      </p:sp>
      <p:graphicFrame>
        <p:nvGraphicFramePr>
          <p:cNvPr id="8" name="Content Placeholder 7" descr="Group 10 of 10.  List of vocabulary terms  with corresponding meanings or definitions."/>
          <p:cNvGraphicFramePr>
            <a:graphicFrameLocks noGrp="1"/>
          </p:cNvGraphicFramePr>
          <p:nvPr>
            <p:ph idx="1"/>
            <p:extLst>
              <p:ext uri="{D42A27DB-BD31-4B8C-83A1-F6EECF244321}">
                <p14:modId xmlns:p14="http://schemas.microsoft.com/office/powerpoint/2010/main" val="1529696170"/>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respiration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process of moving air into and out of the lungs; breathing</a:t>
                      </a:r>
                    </a:p>
                  </a:txBody>
                  <a:tcPr/>
                </a:tc>
                <a:extLst>
                  <a:ext uri="{0D108BD9-81ED-4DB2-BD59-A6C34878D82A}">
                    <a16:rowId xmlns:a16="http://schemas.microsoft.com/office/drawing/2014/main" val="10001"/>
                  </a:ext>
                </a:extLst>
              </a:tr>
              <a:tr h="370840">
                <a:tc>
                  <a:txBody>
                    <a:bodyPr/>
                    <a:lstStyle/>
                    <a:p>
                      <a:r>
                        <a:rPr lang="en-US" altLang="en-US" sz="2400" dirty="0"/>
                        <a:t>trachea</a:t>
                      </a:r>
                      <a:endParaRPr lang="en-US" sz="2400" dirty="0"/>
                    </a:p>
                  </a:txBody>
                  <a:tcPr/>
                </a:tc>
                <a:tc>
                  <a:txBody>
                    <a:bodyPr/>
                    <a:lstStyle/>
                    <a:p>
                      <a:r>
                        <a:rPr lang="en-US" altLang="en-US" sz="2400" dirty="0"/>
                        <a:t>Windpipe</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visceral pleura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Inner fold of pleura lying closer to the lung tissue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66836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533400" y="152400"/>
            <a:ext cx="7772400" cy="1219200"/>
          </a:xfrm>
        </p:spPr>
        <p:txBody>
          <a:bodyPr/>
          <a:lstStyle/>
          <a:p>
            <a:pPr eaLnBrk="1" hangingPunct="1"/>
            <a:r>
              <a:rPr lang="en-US" altLang="en-US" dirty="0"/>
              <a:t>      QUICK QUIZ</a:t>
            </a:r>
            <a:endParaRPr lang="en-US" altLang="en-US" sz="4800" dirty="0"/>
          </a:p>
        </p:txBody>
      </p:sp>
      <p:sp>
        <p:nvSpPr>
          <p:cNvPr id="37891" name="Rectangle 3"/>
          <p:cNvSpPr>
            <a:spLocks noGrp="1" noChangeArrowheads="1"/>
          </p:cNvSpPr>
          <p:nvPr>
            <p:ph idx="1"/>
          </p:nvPr>
        </p:nvSpPr>
        <p:spPr>
          <a:xfrm>
            <a:off x="685800" y="1600200"/>
            <a:ext cx="6934200" cy="4495800"/>
          </a:xfrm>
        </p:spPr>
        <p:txBody>
          <a:bodyPr/>
          <a:lstStyle/>
          <a:p>
            <a:pPr marL="533400" indent="-533400" eaLnBrk="1" hangingPunct="1">
              <a:buFont typeface="Wingdings 2" panose="05020102010507070707" pitchFamily="18" charset="2"/>
              <a:buNone/>
            </a:pPr>
            <a:r>
              <a:rPr lang="en-US" altLang="en-US" b="1"/>
              <a:t>1.  What is the tip or uppermost portion of the lung?</a:t>
            </a:r>
          </a:p>
          <a:p>
            <a:pPr marL="533400" indent="-533400" eaLnBrk="1" hangingPunct="1">
              <a:buFont typeface="Wingdings 2" panose="05020102010507070707" pitchFamily="18" charset="2"/>
              <a:buNone/>
            </a:pPr>
            <a:endParaRPr lang="en-US" altLang="en-US" b="1"/>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Base </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Lobe</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Apex</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Nares</a:t>
            </a:r>
            <a:endParaRPr lang="en-US" altLang="en-US">
              <a:ea typeface="MS PGothic" panose="020B0600070205080204" pitchFamily="34" charset="-128"/>
            </a:endParaRPr>
          </a:p>
        </p:txBody>
      </p:sp>
    </p:spTree>
    <p:extLst>
      <p:ext uri="{BB962C8B-B14F-4D97-AF65-F5344CB8AC3E}">
        <p14:creationId xmlns:p14="http://schemas.microsoft.com/office/powerpoint/2010/main" val="6831479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and Terminology</a:t>
            </a:r>
            <a:br>
              <a:rPr lang="en-US" dirty="0"/>
            </a:br>
            <a:r>
              <a:rPr lang="en-US" sz="4000" dirty="0"/>
              <a:t>(Slide 1 of 5)</a:t>
            </a:r>
          </a:p>
        </p:txBody>
      </p:sp>
      <p:graphicFrame>
        <p:nvGraphicFramePr>
          <p:cNvPr id="7" name="Content Placeholder 6" descr="Group 1 of 5 Combining forms from the Combining forms, Suffixes and Terminology section of the textbook  with corresponding meanings or definitions. "/>
          <p:cNvGraphicFramePr>
            <a:graphicFrameLocks noGrp="1"/>
          </p:cNvGraphicFramePr>
          <p:nvPr>
            <p:ph idx="1"/>
            <p:extLst>
              <p:ext uri="{D42A27DB-BD31-4B8C-83A1-F6EECF244321}">
                <p14:modId xmlns:p14="http://schemas.microsoft.com/office/powerpoint/2010/main" val="2609829002"/>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a:t>adenoid/o</a:t>
                      </a:r>
                      <a:endParaRPr lang="en-US" sz="2400" dirty="0"/>
                    </a:p>
                  </a:txBody>
                  <a:tcPr/>
                </a:tc>
                <a:tc>
                  <a:txBody>
                    <a:bodyPr/>
                    <a:lstStyle/>
                    <a:p>
                      <a:r>
                        <a:rPr lang="en-US" sz="2400" dirty="0"/>
                        <a:t>adenoids</a:t>
                      </a:r>
                    </a:p>
                  </a:txBody>
                  <a:tcPr/>
                </a:tc>
                <a:extLst>
                  <a:ext uri="{0D108BD9-81ED-4DB2-BD59-A6C34878D82A}">
                    <a16:rowId xmlns:a16="http://schemas.microsoft.com/office/drawing/2014/main" val="10001"/>
                  </a:ext>
                </a:extLst>
              </a:tr>
              <a:tr h="370840">
                <a:tc>
                  <a:txBody>
                    <a:bodyPr/>
                    <a:lstStyle/>
                    <a:p>
                      <a:r>
                        <a:rPr lang="en-US" sz="2400" b="1" dirty="0" err="1"/>
                        <a:t>alveol</a:t>
                      </a:r>
                      <a:r>
                        <a:rPr lang="en-US" sz="2400" b="1" dirty="0"/>
                        <a:t>/o</a:t>
                      </a:r>
                      <a:endParaRPr lang="en-US" sz="2400" dirty="0"/>
                    </a:p>
                  </a:txBody>
                  <a:tcPr/>
                </a:tc>
                <a:tc>
                  <a:txBody>
                    <a:bodyPr/>
                    <a:lstStyle/>
                    <a:p>
                      <a:r>
                        <a:rPr lang="en-US" sz="2400" dirty="0"/>
                        <a:t>alveolus, air sac</a:t>
                      </a:r>
                    </a:p>
                  </a:txBody>
                  <a:tcPr/>
                </a:tc>
                <a:extLst>
                  <a:ext uri="{0D108BD9-81ED-4DB2-BD59-A6C34878D82A}">
                    <a16:rowId xmlns:a16="http://schemas.microsoft.com/office/drawing/2014/main" val="10002"/>
                  </a:ext>
                </a:extLst>
              </a:tr>
              <a:tr h="370840">
                <a:tc>
                  <a:txBody>
                    <a:bodyPr/>
                    <a:lstStyle/>
                    <a:p>
                      <a:r>
                        <a:rPr lang="en-US" sz="2400" b="1" dirty="0" err="1"/>
                        <a:t>bronch</a:t>
                      </a:r>
                      <a:r>
                        <a:rPr lang="en-US" sz="2400" b="1" dirty="0"/>
                        <a:t>/o</a:t>
                      </a:r>
                      <a:endParaRPr lang="en-US" sz="2400" dirty="0"/>
                    </a:p>
                  </a:txBody>
                  <a:tcPr/>
                </a:tc>
                <a:tc>
                  <a:txBody>
                    <a:bodyPr/>
                    <a:lstStyle/>
                    <a:p>
                      <a:r>
                        <a:rPr lang="en-US" sz="2400" dirty="0"/>
                        <a:t>bronchial tube</a:t>
                      </a:r>
                    </a:p>
                  </a:txBody>
                  <a:tcPr/>
                </a:tc>
                <a:extLst>
                  <a:ext uri="{0D108BD9-81ED-4DB2-BD59-A6C34878D82A}">
                    <a16:rowId xmlns:a16="http://schemas.microsoft.com/office/drawing/2014/main" val="10003"/>
                  </a:ext>
                </a:extLst>
              </a:tr>
              <a:tr h="370840">
                <a:tc>
                  <a:txBody>
                    <a:bodyPr/>
                    <a:lstStyle/>
                    <a:p>
                      <a:r>
                        <a:rPr lang="en-US" sz="2400" b="1" dirty="0"/>
                        <a:t>bronchi/o</a:t>
                      </a:r>
                      <a:endParaRPr lang="en-US" sz="2400" dirty="0"/>
                    </a:p>
                  </a:txBody>
                  <a:tcPr/>
                </a:tc>
                <a:tc>
                  <a:txBody>
                    <a:bodyPr/>
                    <a:lstStyle/>
                    <a:p>
                      <a:r>
                        <a:rPr lang="en-US" sz="2400" dirty="0"/>
                        <a:t>bronchus</a:t>
                      </a:r>
                    </a:p>
                  </a:txBody>
                  <a:tcPr/>
                </a:tc>
                <a:extLst>
                  <a:ext uri="{0D108BD9-81ED-4DB2-BD59-A6C34878D82A}">
                    <a16:rowId xmlns:a16="http://schemas.microsoft.com/office/drawing/2014/main" val="10004"/>
                  </a:ext>
                </a:extLst>
              </a:tr>
              <a:tr h="370840">
                <a:tc>
                  <a:txBody>
                    <a:bodyPr/>
                    <a:lstStyle/>
                    <a:p>
                      <a:r>
                        <a:rPr lang="en-US" sz="2400" b="1" dirty="0" err="1"/>
                        <a:t>bronchiol</a:t>
                      </a:r>
                      <a:r>
                        <a:rPr lang="en-US" sz="2400" b="1" dirty="0"/>
                        <a:t>/o</a:t>
                      </a:r>
                      <a:endParaRPr lang="en-US" sz="2400" dirty="0"/>
                    </a:p>
                  </a:txBody>
                  <a:tcPr/>
                </a:tc>
                <a:tc>
                  <a:txBody>
                    <a:bodyPr/>
                    <a:lstStyle/>
                    <a:p>
                      <a:r>
                        <a:rPr lang="en-US" sz="2400" dirty="0"/>
                        <a:t>bronchiole, small bronchus</a:t>
                      </a:r>
                    </a:p>
                  </a:txBody>
                  <a:tcPr/>
                </a:tc>
                <a:extLst>
                  <a:ext uri="{0D108BD9-81ED-4DB2-BD59-A6C34878D82A}">
                    <a16:rowId xmlns:a16="http://schemas.microsoft.com/office/drawing/2014/main" val="10005"/>
                  </a:ext>
                </a:extLst>
              </a:tr>
              <a:tr h="370840">
                <a:tc>
                  <a:txBody>
                    <a:bodyPr/>
                    <a:lstStyle/>
                    <a:p>
                      <a:r>
                        <a:rPr lang="en-US" sz="2400" b="1" dirty="0" err="1"/>
                        <a:t>capn</a:t>
                      </a:r>
                      <a:r>
                        <a:rPr lang="en-US" sz="2400" b="1" dirty="0"/>
                        <a:t>/o</a:t>
                      </a:r>
                      <a:endParaRPr lang="en-US" sz="2400" dirty="0"/>
                    </a:p>
                  </a:txBody>
                  <a:tcPr/>
                </a:tc>
                <a:tc>
                  <a:txBody>
                    <a:bodyPr/>
                    <a:lstStyle/>
                    <a:p>
                      <a:r>
                        <a:rPr lang="en-US" sz="2400" dirty="0"/>
                        <a:t>carbon dioxide</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169321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and Terminology</a:t>
            </a:r>
            <a:br>
              <a:rPr lang="en-US" dirty="0"/>
            </a:br>
            <a:r>
              <a:rPr lang="en-US" sz="4000" dirty="0"/>
              <a:t>(Slide 2 of 5)</a:t>
            </a:r>
          </a:p>
        </p:txBody>
      </p:sp>
      <p:graphicFrame>
        <p:nvGraphicFramePr>
          <p:cNvPr id="7" name="Content Placeholder 6" descr="Group 2 of 5 Combining forms from the Combining forms, Suffixes and Terminology section of the textbook  with corresponding meanings or definitions. "/>
          <p:cNvGraphicFramePr>
            <a:graphicFrameLocks noGrp="1"/>
          </p:cNvGraphicFramePr>
          <p:nvPr>
            <p:ph idx="1"/>
            <p:extLst>
              <p:ext uri="{D42A27DB-BD31-4B8C-83A1-F6EECF244321}">
                <p14:modId xmlns:p14="http://schemas.microsoft.com/office/powerpoint/2010/main" val="526103435"/>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coni</a:t>
                      </a:r>
                      <a:r>
                        <a:rPr lang="en-US" sz="2400" b="1" dirty="0"/>
                        <a:t>/o</a:t>
                      </a:r>
                      <a:endParaRPr lang="en-US" sz="2400" dirty="0"/>
                    </a:p>
                  </a:txBody>
                  <a:tcPr/>
                </a:tc>
                <a:tc>
                  <a:txBody>
                    <a:bodyPr/>
                    <a:lstStyle/>
                    <a:p>
                      <a:r>
                        <a:rPr lang="en-US" sz="2400" dirty="0"/>
                        <a:t>dust</a:t>
                      </a:r>
                    </a:p>
                  </a:txBody>
                  <a:tcPr/>
                </a:tc>
                <a:extLst>
                  <a:ext uri="{0D108BD9-81ED-4DB2-BD59-A6C34878D82A}">
                    <a16:rowId xmlns:a16="http://schemas.microsoft.com/office/drawing/2014/main" val="10001"/>
                  </a:ext>
                </a:extLst>
              </a:tr>
              <a:tr h="370840">
                <a:tc>
                  <a:txBody>
                    <a:bodyPr/>
                    <a:lstStyle/>
                    <a:p>
                      <a:r>
                        <a:rPr lang="en-US" sz="2400" b="1" dirty="0"/>
                        <a:t>cyan/o</a:t>
                      </a:r>
                      <a:endParaRPr lang="en-US" sz="2400" dirty="0"/>
                    </a:p>
                  </a:txBody>
                  <a:tcPr/>
                </a:tc>
                <a:tc>
                  <a:txBody>
                    <a:bodyPr/>
                    <a:lstStyle/>
                    <a:p>
                      <a:r>
                        <a:rPr lang="en-US" sz="2400" dirty="0"/>
                        <a:t>blue</a:t>
                      </a:r>
                    </a:p>
                  </a:txBody>
                  <a:tcPr/>
                </a:tc>
                <a:extLst>
                  <a:ext uri="{0D108BD9-81ED-4DB2-BD59-A6C34878D82A}">
                    <a16:rowId xmlns:a16="http://schemas.microsoft.com/office/drawing/2014/main" val="10002"/>
                  </a:ext>
                </a:extLst>
              </a:tr>
              <a:tr h="370840">
                <a:tc>
                  <a:txBody>
                    <a:bodyPr/>
                    <a:lstStyle/>
                    <a:p>
                      <a:r>
                        <a:rPr lang="en-US" sz="2400" b="1" dirty="0" err="1"/>
                        <a:t>epiglott</a:t>
                      </a:r>
                      <a:r>
                        <a:rPr lang="en-US" sz="2400" b="1" dirty="0"/>
                        <a:t>/o</a:t>
                      </a:r>
                      <a:endParaRPr lang="en-US" sz="2400" dirty="0"/>
                    </a:p>
                  </a:txBody>
                  <a:tcPr/>
                </a:tc>
                <a:tc>
                  <a:txBody>
                    <a:bodyPr/>
                    <a:lstStyle/>
                    <a:p>
                      <a:r>
                        <a:rPr lang="en-US" sz="2400" dirty="0"/>
                        <a:t>epiglottis</a:t>
                      </a:r>
                    </a:p>
                  </a:txBody>
                  <a:tcPr/>
                </a:tc>
                <a:extLst>
                  <a:ext uri="{0D108BD9-81ED-4DB2-BD59-A6C34878D82A}">
                    <a16:rowId xmlns:a16="http://schemas.microsoft.com/office/drawing/2014/main" val="10003"/>
                  </a:ext>
                </a:extLst>
              </a:tr>
              <a:tr h="370840">
                <a:tc>
                  <a:txBody>
                    <a:bodyPr/>
                    <a:lstStyle/>
                    <a:p>
                      <a:r>
                        <a:rPr lang="en-US" sz="2400" b="1" dirty="0" err="1"/>
                        <a:t>laryng</a:t>
                      </a:r>
                      <a:r>
                        <a:rPr lang="en-US" sz="2400" b="1" dirty="0"/>
                        <a:t>/o</a:t>
                      </a:r>
                      <a:endParaRPr lang="en-US" sz="2400" dirty="0"/>
                    </a:p>
                  </a:txBody>
                  <a:tcPr/>
                </a:tc>
                <a:tc>
                  <a:txBody>
                    <a:bodyPr/>
                    <a:lstStyle/>
                    <a:p>
                      <a:r>
                        <a:rPr lang="en-US" sz="2400" dirty="0"/>
                        <a:t>larynx, voice box</a:t>
                      </a:r>
                    </a:p>
                  </a:txBody>
                  <a:tcPr/>
                </a:tc>
                <a:extLst>
                  <a:ext uri="{0D108BD9-81ED-4DB2-BD59-A6C34878D82A}">
                    <a16:rowId xmlns:a16="http://schemas.microsoft.com/office/drawing/2014/main" val="10004"/>
                  </a:ext>
                </a:extLst>
              </a:tr>
              <a:tr h="370840">
                <a:tc>
                  <a:txBody>
                    <a:bodyPr/>
                    <a:lstStyle/>
                    <a:p>
                      <a:r>
                        <a:rPr lang="en-US" sz="2400" b="1" dirty="0"/>
                        <a:t>lob/o</a:t>
                      </a:r>
                      <a:endParaRPr lang="en-US" sz="2400" dirty="0"/>
                    </a:p>
                  </a:txBody>
                  <a:tcPr/>
                </a:tc>
                <a:tc>
                  <a:txBody>
                    <a:bodyPr/>
                    <a:lstStyle/>
                    <a:p>
                      <a:r>
                        <a:rPr lang="en-US" sz="2400" dirty="0"/>
                        <a:t>lobe of the lung</a:t>
                      </a:r>
                    </a:p>
                  </a:txBody>
                  <a:tcPr/>
                </a:tc>
                <a:extLst>
                  <a:ext uri="{0D108BD9-81ED-4DB2-BD59-A6C34878D82A}">
                    <a16:rowId xmlns:a16="http://schemas.microsoft.com/office/drawing/2014/main" val="10005"/>
                  </a:ext>
                </a:extLst>
              </a:tr>
              <a:tr h="370840">
                <a:tc>
                  <a:txBody>
                    <a:bodyPr/>
                    <a:lstStyle/>
                    <a:p>
                      <a:r>
                        <a:rPr lang="en-US" sz="2400" b="1" dirty="0" err="1"/>
                        <a:t>mediastin</a:t>
                      </a:r>
                      <a:r>
                        <a:rPr lang="en-US" sz="2400" b="1" dirty="0"/>
                        <a:t>/o</a:t>
                      </a:r>
                      <a:endParaRPr lang="en-US" sz="2400" dirty="0"/>
                    </a:p>
                  </a:txBody>
                  <a:tcPr/>
                </a:tc>
                <a:tc>
                  <a:txBody>
                    <a:bodyPr/>
                    <a:lstStyle/>
                    <a:p>
                      <a:r>
                        <a:rPr lang="en-US" sz="2400" dirty="0"/>
                        <a:t>mediastinum</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295178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and Terminology</a:t>
            </a:r>
            <a:br>
              <a:rPr lang="en-US" dirty="0"/>
            </a:br>
            <a:r>
              <a:rPr lang="en-US" sz="4000" dirty="0"/>
              <a:t>(Slide 3 of 5)</a:t>
            </a:r>
          </a:p>
        </p:txBody>
      </p:sp>
      <p:graphicFrame>
        <p:nvGraphicFramePr>
          <p:cNvPr id="7" name="Content Placeholder 6" descr="Group 3 of 5 Combining forms from the Combining forms, Suffixes and Terminology section of the textbook  with corresponding meanings or definitions. "/>
          <p:cNvGraphicFramePr>
            <a:graphicFrameLocks noGrp="1"/>
          </p:cNvGraphicFramePr>
          <p:nvPr>
            <p:ph idx="1"/>
            <p:extLst>
              <p:ext uri="{D42A27DB-BD31-4B8C-83A1-F6EECF244321}">
                <p14:modId xmlns:p14="http://schemas.microsoft.com/office/powerpoint/2010/main" val="937919856"/>
              </p:ext>
            </p:extLst>
          </p:nvPr>
        </p:nvGraphicFramePr>
        <p:xfrm>
          <a:off x="457200" y="1600200"/>
          <a:ext cx="8229600" cy="3276600"/>
        </p:xfrm>
        <a:graphic>
          <a:graphicData uri="http://schemas.openxmlformats.org/drawingml/2006/table">
            <a:tbl>
              <a:tblPr firstRow="1" bandRow="1">
                <a:tableStyleId>{68D230F3-CF80-4859-8CE7-A43EE81993B5}</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nas</a:t>
                      </a:r>
                      <a:r>
                        <a:rPr lang="en-US" sz="2400" b="1" dirty="0"/>
                        <a:t>/o</a:t>
                      </a:r>
                      <a:endParaRPr lang="en-US" sz="2400" dirty="0"/>
                    </a:p>
                  </a:txBody>
                  <a:tcPr/>
                </a:tc>
                <a:tc>
                  <a:txBody>
                    <a:bodyPr/>
                    <a:lstStyle/>
                    <a:p>
                      <a:r>
                        <a:rPr lang="en-US" sz="2400" dirty="0"/>
                        <a:t>nose</a:t>
                      </a:r>
                    </a:p>
                  </a:txBody>
                  <a:tcPr/>
                </a:tc>
                <a:extLst>
                  <a:ext uri="{0D108BD9-81ED-4DB2-BD59-A6C34878D82A}">
                    <a16:rowId xmlns:a16="http://schemas.microsoft.com/office/drawing/2014/main" val="10001"/>
                  </a:ext>
                </a:extLst>
              </a:tr>
              <a:tr h="370840">
                <a:tc>
                  <a:txBody>
                    <a:bodyPr/>
                    <a:lstStyle/>
                    <a:p>
                      <a:r>
                        <a:rPr lang="en-US" sz="2400" b="1" dirty="0" err="1"/>
                        <a:t>orth</a:t>
                      </a:r>
                      <a:r>
                        <a:rPr lang="en-US" sz="2400" b="1" dirty="0"/>
                        <a:t>/o</a:t>
                      </a:r>
                      <a:endParaRPr lang="en-US" sz="2400" dirty="0"/>
                    </a:p>
                  </a:txBody>
                  <a:tcPr/>
                </a:tc>
                <a:tc>
                  <a:txBody>
                    <a:bodyPr/>
                    <a:lstStyle/>
                    <a:p>
                      <a:r>
                        <a:rPr lang="en-US" sz="2400" dirty="0"/>
                        <a:t>straight, upright</a:t>
                      </a:r>
                    </a:p>
                  </a:txBody>
                  <a:tcPr/>
                </a:tc>
                <a:extLst>
                  <a:ext uri="{0D108BD9-81ED-4DB2-BD59-A6C34878D82A}">
                    <a16:rowId xmlns:a16="http://schemas.microsoft.com/office/drawing/2014/main" val="10002"/>
                  </a:ext>
                </a:extLst>
              </a:tr>
              <a:tr h="370840">
                <a:tc>
                  <a:txBody>
                    <a:bodyPr/>
                    <a:lstStyle/>
                    <a:p>
                      <a:r>
                        <a:rPr lang="en-US" sz="2400" b="1" dirty="0"/>
                        <a:t>ox/o</a:t>
                      </a:r>
                      <a:endParaRPr lang="en-US" sz="2400" dirty="0"/>
                    </a:p>
                  </a:txBody>
                  <a:tcPr/>
                </a:tc>
                <a:tc>
                  <a:txBody>
                    <a:bodyPr/>
                    <a:lstStyle/>
                    <a:p>
                      <a:r>
                        <a:rPr lang="en-US" sz="2400" dirty="0"/>
                        <a:t>oxygen</a:t>
                      </a:r>
                    </a:p>
                  </a:txBody>
                  <a:tcPr/>
                </a:tc>
                <a:extLst>
                  <a:ext uri="{0D108BD9-81ED-4DB2-BD59-A6C34878D82A}">
                    <a16:rowId xmlns:a16="http://schemas.microsoft.com/office/drawing/2014/main" val="10003"/>
                  </a:ext>
                </a:extLst>
              </a:tr>
              <a:tr h="370840">
                <a:tc>
                  <a:txBody>
                    <a:bodyPr/>
                    <a:lstStyle/>
                    <a:p>
                      <a:r>
                        <a:rPr lang="en-US" sz="2400" b="1" dirty="0" err="1"/>
                        <a:t>pector</a:t>
                      </a:r>
                      <a:r>
                        <a:rPr lang="en-US" sz="2400" b="1" dirty="0"/>
                        <a:t>/o</a:t>
                      </a:r>
                      <a:endParaRPr lang="en-US" sz="2400" dirty="0"/>
                    </a:p>
                  </a:txBody>
                  <a:tcPr/>
                </a:tc>
                <a:tc>
                  <a:txBody>
                    <a:bodyPr/>
                    <a:lstStyle/>
                    <a:p>
                      <a:r>
                        <a:rPr lang="en-US" sz="2400" dirty="0"/>
                        <a:t>chest</a:t>
                      </a:r>
                    </a:p>
                  </a:txBody>
                  <a:tcPr/>
                </a:tc>
                <a:extLst>
                  <a:ext uri="{0D108BD9-81ED-4DB2-BD59-A6C34878D82A}">
                    <a16:rowId xmlns:a16="http://schemas.microsoft.com/office/drawing/2014/main" val="10004"/>
                  </a:ext>
                </a:extLst>
              </a:tr>
              <a:tr h="370840">
                <a:tc>
                  <a:txBody>
                    <a:bodyPr/>
                    <a:lstStyle/>
                    <a:p>
                      <a:r>
                        <a:rPr lang="en-US" sz="2400" b="1" dirty="0" err="1"/>
                        <a:t>pharyng</a:t>
                      </a:r>
                      <a:r>
                        <a:rPr lang="en-US" sz="2400" b="1" dirty="0"/>
                        <a:t>/o</a:t>
                      </a:r>
                      <a:endParaRPr lang="en-US" sz="2400" dirty="0"/>
                    </a:p>
                  </a:txBody>
                  <a:tcPr/>
                </a:tc>
                <a:tc>
                  <a:txBody>
                    <a:bodyPr/>
                    <a:lstStyle/>
                    <a:p>
                      <a:r>
                        <a:rPr lang="en-US" sz="2400" dirty="0"/>
                        <a:t>pharynx, throat</a:t>
                      </a:r>
                    </a:p>
                  </a:txBody>
                  <a:tcPr/>
                </a:tc>
                <a:extLst>
                  <a:ext uri="{0D108BD9-81ED-4DB2-BD59-A6C34878D82A}">
                    <a16:rowId xmlns:a16="http://schemas.microsoft.com/office/drawing/2014/main" val="10005"/>
                  </a:ext>
                </a:extLst>
              </a:tr>
              <a:tr h="533400">
                <a:tc>
                  <a:txBody>
                    <a:bodyPr/>
                    <a:lstStyle/>
                    <a:p>
                      <a:r>
                        <a:rPr lang="en-US" sz="2400" b="1" dirty="0" err="1"/>
                        <a:t>phon</a:t>
                      </a:r>
                      <a:r>
                        <a:rPr lang="en-US" sz="2400" b="1" dirty="0"/>
                        <a:t>/o</a:t>
                      </a:r>
                      <a:endParaRPr lang="en-US" sz="2400" dirty="0"/>
                    </a:p>
                  </a:txBody>
                  <a:tcPr/>
                </a:tc>
                <a:tc>
                  <a:txBody>
                    <a:bodyPr/>
                    <a:lstStyle/>
                    <a:p>
                      <a:r>
                        <a:rPr lang="en-US" sz="2400" dirty="0"/>
                        <a:t>voice</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859956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and Terminology</a:t>
            </a:r>
            <a:br>
              <a:rPr lang="en-US" dirty="0"/>
            </a:br>
            <a:r>
              <a:rPr lang="en-US" sz="4000" dirty="0"/>
              <a:t>(Slide 4 of 5)</a:t>
            </a:r>
          </a:p>
        </p:txBody>
      </p:sp>
      <p:graphicFrame>
        <p:nvGraphicFramePr>
          <p:cNvPr id="7" name="Content Placeholder 6" descr="Group 4 of 5 Combining forms from the Combining forms, Suffixes and Terminology section of the textbook  with corresponding meanings or definitions. "/>
          <p:cNvGraphicFramePr>
            <a:graphicFrameLocks noGrp="1"/>
          </p:cNvGraphicFramePr>
          <p:nvPr>
            <p:ph idx="1"/>
            <p:extLst>
              <p:ext uri="{D42A27DB-BD31-4B8C-83A1-F6EECF244321}">
                <p14:modId xmlns:p14="http://schemas.microsoft.com/office/powerpoint/2010/main" val="277911686"/>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phren</a:t>
                      </a:r>
                      <a:r>
                        <a:rPr lang="en-US" sz="2400" b="1" dirty="0"/>
                        <a:t>/o</a:t>
                      </a:r>
                      <a:endParaRPr lang="en-US" sz="2400" dirty="0"/>
                    </a:p>
                  </a:txBody>
                  <a:tcPr/>
                </a:tc>
                <a:tc>
                  <a:txBody>
                    <a:bodyPr/>
                    <a:lstStyle/>
                    <a:p>
                      <a:r>
                        <a:rPr lang="en-US" sz="2400" dirty="0"/>
                        <a:t>diaphragm</a:t>
                      </a:r>
                    </a:p>
                  </a:txBody>
                  <a:tcPr/>
                </a:tc>
                <a:extLst>
                  <a:ext uri="{0D108BD9-81ED-4DB2-BD59-A6C34878D82A}">
                    <a16:rowId xmlns:a16="http://schemas.microsoft.com/office/drawing/2014/main" val="10001"/>
                  </a:ext>
                </a:extLst>
              </a:tr>
              <a:tr h="370840">
                <a:tc>
                  <a:txBody>
                    <a:bodyPr/>
                    <a:lstStyle/>
                    <a:p>
                      <a:r>
                        <a:rPr lang="en-US" sz="2400" b="1" dirty="0" err="1"/>
                        <a:t>pleur</a:t>
                      </a:r>
                      <a:r>
                        <a:rPr lang="en-US" sz="2400" b="1" dirty="0"/>
                        <a:t>/o</a:t>
                      </a:r>
                      <a:endParaRPr lang="en-US" sz="2400" dirty="0"/>
                    </a:p>
                  </a:txBody>
                  <a:tcPr/>
                </a:tc>
                <a:tc>
                  <a:txBody>
                    <a:bodyPr/>
                    <a:lstStyle/>
                    <a:p>
                      <a:r>
                        <a:rPr lang="en-US" sz="2400" dirty="0"/>
                        <a:t>pleura</a:t>
                      </a:r>
                    </a:p>
                  </a:txBody>
                  <a:tcPr/>
                </a:tc>
                <a:extLst>
                  <a:ext uri="{0D108BD9-81ED-4DB2-BD59-A6C34878D82A}">
                    <a16:rowId xmlns:a16="http://schemas.microsoft.com/office/drawing/2014/main" val="10002"/>
                  </a:ext>
                </a:extLst>
              </a:tr>
              <a:tr h="370840">
                <a:tc>
                  <a:txBody>
                    <a:bodyPr/>
                    <a:lstStyle/>
                    <a:p>
                      <a:r>
                        <a:rPr lang="en-US" sz="2400" b="1" dirty="0" err="1"/>
                        <a:t>pneum</a:t>
                      </a:r>
                      <a:r>
                        <a:rPr lang="en-US" sz="2400" b="1" dirty="0"/>
                        <a:t>/o</a:t>
                      </a:r>
                      <a:endParaRPr lang="en-US" sz="2400" dirty="0"/>
                    </a:p>
                  </a:txBody>
                  <a:tcPr/>
                </a:tc>
                <a:tc>
                  <a:txBody>
                    <a:bodyPr/>
                    <a:lstStyle/>
                    <a:p>
                      <a:r>
                        <a:rPr lang="en-US" sz="2400" dirty="0"/>
                        <a:t>air, lung</a:t>
                      </a:r>
                    </a:p>
                  </a:txBody>
                  <a:tcPr/>
                </a:tc>
                <a:extLst>
                  <a:ext uri="{0D108BD9-81ED-4DB2-BD59-A6C34878D82A}">
                    <a16:rowId xmlns:a16="http://schemas.microsoft.com/office/drawing/2014/main" val="10003"/>
                  </a:ext>
                </a:extLst>
              </a:tr>
              <a:tr h="370840">
                <a:tc>
                  <a:txBody>
                    <a:bodyPr/>
                    <a:lstStyle/>
                    <a:p>
                      <a:r>
                        <a:rPr lang="en-US" sz="2400" b="1" dirty="0" err="1"/>
                        <a:t>pneumon</a:t>
                      </a:r>
                      <a:r>
                        <a:rPr lang="en-US" sz="2400" b="1" dirty="0"/>
                        <a:t>/o</a:t>
                      </a:r>
                      <a:endParaRPr lang="en-US" sz="2400" dirty="0"/>
                    </a:p>
                  </a:txBody>
                  <a:tcPr/>
                </a:tc>
                <a:tc>
                  <a:txBody>
                    <a:bodyPr/>
                    <a:lstStyle/>
                    <a:p>
                      <a:r>
                        <a:rPr lang="en-US" sz="2400" dirty="0"/>
                        <a:t>lung</a:t>
                      </a:r>
                    </a:p>
                  </a:txBody>
                  <a:tcPr/>
                </a:tc>
                <a:extLst>
                  <a:ext uri="{0D108BD9-81ED-4DB2-BD59-A6C34878D82A}">
                    <a16:rowId xmlns:a16="http://schemas.microsoft.com/office/drawing/2014/main" val="10004"/>
                  </a:ext>
                </a:extLst>
              </a:tr>
              <a:tr h="370840">
                <a:tc>
                  <a:txBody>
                    <a:bodyPr/>
                    <a:lstStyle/>
                    <a:p>
                      <a:r>
                        <a:rPr lang="en-US" sz="2400" b="1" dirty="0" err="1"/>
                        <a:t>pulmon</a:t>
                      </a:r>
                      <a:r>
                        <a:rPr lang="en-US" sz="2400" b="1" dirty="0"/>
                        <a:t>/o</a:t>
                      </a:r>
                      <a:endParaRPr lang="en-US" sz="2400" dirty="0"/>
                    </a:p>
                  </a:txBody>
                  <a:tcPr/>
                </a:tc>
                <a:tc>
                  <a:txBody>
                    <a:bodyPr/>
                    <a:lstStyle/>
                    <a:p>
                      <a:r>
                        <a:rPr lang="en-US" sz="2400" dirty="0"/>
                        <a:t>lung</a:t>
                      </a:r>
                    </a:p>
                  </a:txBody>
                  <a:tcPr/>
                </a:tc>
                <a:extLst>
                  <a:ext uri="{0D108BD9-81ED-4DB2-BD59-A6C34878D82A}">
                    <a16:rowId xmlns:a16="http://schemas.microsoft.com/office/drawing/2014/main" val="10005"/>
                  </a:ext>
                </a:extLst>
              </a:tr>
              <a:tr h="370840">
                <a:tc>
                  <a:txBody>
                    <a:bodyPr/>
                    <a:lstStyle/>
                    <a:p>
                      <a:r>
                        <a:rPr lang="en-US" sz="2400" b="1" dirty="0" err="1"/>
                        <a:t>rhin</a:t>
                      </a:r>
                      <a:r>
                        <a:rPr lang="en-US" sz="2400" b="1" dirty="0"/>
                        <a:t>/o</a:t>
                      </a:r>
                      <a:endParaRPr lang="en-US" sz="2400" dirty="0"/>
                    </a:p>
                  </a:txBody>
                  <a:tcPr/>
                </a:tc>
                <a:tc>
                  <a:txBody>
                    <a:bodyPr/>
                    <a:lstStyle/>
                    <a:p>
                      <a:r>
                        <a:rPr lang="en-US" sz="2400" dirty="0"/>
                        <a:t>nose</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175509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and Terminology</a:t>
            </a:r>
            <a:br>
              <a:rPr lang="en-US" dirty="0"/>
            </a:br>
            <a:r>
              <a:rPr lang="en-US" sz="4000" dirty="0"/>
              <a:t>(Slide 5 of 5)</a:t>
            </a:r>
          </a:p>
        </p:txBody>
      </p:sp>
      <p:graphicFrame>
        <p:nvGraphicFramePr>
          <p:cNvPr id="7" name="Content Placeholder 6" descr="Group 5 of 5 Combining forms from the Combining forms, Suffixes and Terminology section of the textbook  with corresponding meanings or definitions. "/>
          <p:cNvGraphicFramePr>
            <a:graphicFrameLocks noGrp="1"/>
          </p:cNvGraphicFramePr>
          <p:nvPr>
            <p:ph idx="1"/>
            <p:extLst>
              <p:ext uri="{D42A27DB-BD31-4B8C-83A1-F6EECF244321}">
                <p14:modId xmlns:p14="http://schemas.microsoft.com/office/powerpoint/2010/main" val="2050842979"/>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a:t>sinus/o</a:t>
                      </a:r>
                      <a:endParaRPr lang="en-US" sz="2400" dirty="0"/>
                    </a:p>
                  </a:txBody>
                  <a:tcPr/>
                </a:tc>
                <a:tc>
                  <a:txBody>
                    <a:bodyPr/>
                    <a:lstStyle/>
                    <a:p>
                      <a:r>
                        <a:rPr lang="en-US" sz="2400" dirty="0"/>
                        <a:t>sinus cavity</a:t>
                      </a:r>
                    </a:p>
                  </a:txBody>
                  <a:tcPr/>
                </a:tc>
                <a:extLst>
                  <a:ext uri="{0D108BD9-81ED-4DB2-BD59-A6C34878D82A}">
                    <a16:rowId xmlns:a16="http://schemas.microsoft.com/office/drawing/2014/main" val="10001"/>
                  </a:ext>
                </a:extLst>
              </a:tr>
              <a:tr h="370840">
                <a:tc>
                  <a:txBody>
                    <a:bodyPr/>
                    <a:lstStyle/>
                    <a:p>
                      <a:r>
                        <a:rPr lang="en-US" sz="2400" b="1" dirty="0" err="1"/>
                        <a:t>spir</a:t>
                      </a:r>
                      <a:r>
                        <a:rPr lang="en-US" sz="2400" b="1" dirty="0"/>
                        <a:t>/o</a:t>
                      </a:r>
                      <a:endParaRPr lang="en-US" sz="2400" dirty="0"/>
                    </a:p>
                  </a:txBody>
                  <a:tcPr/>
                </a:tc>
                <a:tc>
                  <a:txBody>
                    <a:bodyPr/>
                    <a:lstStyle/>
                    <a:p>
                      <a:r>
                        <a:rPr lang="en-US" sz="2400" dirty="0"/>
                        <a:t>breathing</a:t>
                      </a:r>
                    </a:p>
                  </a:txBody>
                  <a:tcPr/>
                </a:tc>
                <a:extLst>
                  <a:ext uri="{0D108BD9-81ED-4DB2-BD59-A6C34878D82A}">
                    <a16:rowId xmlns:a16="http://schemas.microsoft.com/office/drawing/2014/main" val="10002"/>
                  </a:ext>
                </a:extLst>
              </a:tr>
              <a:tr h="370840">
                <a:tc>
                  <a:txBody>
                    <a:bodyPr/>
                    <a:lstStyle/>
                    <a:p>
                      <a:r>
                        <a:rPr lang="en-US" sz="2400" b="1" dirty="0" err="1"/>
                        <a:t>tel</a:t>
                      </a:r>
                      <a:r>
                        <a:rPr lang="en-US" sz="2400" b="1" dirty="0"/>
                        <a:t>/o</a:t>
                      </a:r>
                      <a:endParaRPr lang="en-US" sz="2400" dirty="0"/>
                    </a:p>
                  </a:txBody>
                  <a:tcPr/>
                </a:tc>
                <a:tc>
                  <a:txBody>
                    <a:bodyPr/>
                    <a:lstStyle/>
                    <a:p>
                      <a:r>
                        <a:rPr lang="en-US" sz="2400" dirty="0"/>
                        <a:t>complete</a:t>
                      </a:r>
                    </a:p>
                  </a:txBody>
                  <a:tcPr/>
                </a:tc>
                <a:extLst>
                  <a:ext uri="{0D108BD9-81ED-4DB2-BD59-A6C34878D82A}">
                    <a16:rowId xmlns:a16="http://schemas.microsoft.com/office/drawing/2014/main" val="10003"/>
                  </a:ext>
                </a:extLst>
              </a:tr>
              <a:tr h="370840">
                <a:tc>
                  <a:txBody>
                    <a:bodyPr/>
                    <a:lstStyle/>
                    <a:p>
                      <a:r>
                        <a:rPr lang="en-US" sz="2400" b="1" dirty="0" err="1"/>
                        <a:t>thorac</a:t>
                      </a:r>
                      <a:r>
                        <a:rPr lang="en-US" sz="2400" b="1" dirty="0"/>
                        <a:t>/o</a:t>
                      </a:r>
                      <a:r>
                        <a:rPr lang="en-US" sz="2400" dirty="0"/>
                        <a:t>	</a:t>
                      </a:r>
                    </a:p>
                  </a:txBody>
                  <a:tcPr/>
                </a:tc>
                <a:tc>
                  <a:txBody>
                    <a:bodyPr/>
                    <a:lstStyle/>
                    <a:p>
                      <a:r>
                        <a:rPr lang="en-US" sz="2400" dirty="0"/>
                        <a:t>chest</a:t>
                      </a:r>
                    </a:p>
                  </a:txBody>
                  <a:tcPr/>
                </a:tc>
                <a:extLst>
                  <a:ext uri="{0D108BD9-81ED-4DB2-BD59-A6C34878D82A}">
                    <a16:rowId xmlns:a16="http://schemas.microsoft.com/office/drawing/2014/main" val="10004"/>
                  </a:ext>
                </a:extLst>
              </a:tr>
              <a:tr h="370840">
                <a:tc>
                  <a:txBody>
                    <a:bodyPr/>
                    <a:lstStyle/>
                    <a:p>
                      <a:r>
                        <a:rPr lang="en-US" sz="2400" b="1" dirty="0" err="1"/>
                        <a:t>tonsill</a:t>
                      </a:r>
                      <a:r>
                        <a:rPr lang="en-US" sz="2400" b="1" dirty="0"/>
                        <a:t>/o</a:t>
                      </a:r>
                      <a:endParaRPr lang="en-US" sz="2400" dirty="0"/>
                    </a:p>
                  </a:txBody>
                  <a:tcPr/>
                </a:tc>
                <a:tc>
                  <a:txBody>
                    <a:bodyPr/>
                    <a:lstStyle/>
                    <a:p>
                      <a:r>
                        <a:rPr lang="en-US" sz="2400" dirty="0"/>
                        <a:t>tonsils</a:t>
                      </a:r>
                    </a:p>
                  </a:txBody>
                  <a:tcPr/>
                </a:tc>
                <a:extLst>
                  <a:ext uri="{0D108BD9-81ED-4DB2-BD59-A6C34878D82A}">
                    <a16:rowId xmlns:a16="http://schemas.microsoft.com/office/drawing/2014/main" val="10005"/>
                  </a:ext>
                </a:extLst>
              </a:tr>
              <a:tr h="370840">
                <a:tc>
                  <a:txBody>
                    <a:bodyPr/>
                    <a:lstStyle/>
                    <a:p>
                      <a:r>
                        <a:rPr lang="en-US" sz="2400" b="1" dirty="0" err="1"/>
                        <a:t>trache</a:t>
                      </a:r>
                      <a:r>
                        <a:rPr lang="en-US" sz="2400" b="1" dirty="0"/>
                        <a:t>/o</a:t>
                      </a:r>
                      <a:endParaRPr lang="en-US" sz="2400" dirty="0"/>
                    </a:p>
                  </a:txBody>
                  <a:tcPr/>
                </a:tc>
                <a:tc>
                  <a:txBody>
                    <a:bodyPr/>
                    <a:lstStyle/>
                    <a:p>
                      <a:r>
                        <a:rPr lang="en-US" sz="2400" dirty="0"/>
                        <a:t>trachea, windpipe</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553265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Terminology </a:t>
            </a:r>
            <a:r>
              <a:rPr lang="en-US" sz="4000" dirty="0"/>
              <a:t>(Slide 1 of 1)</a:t>
            </a:r>
          </a:p>
        </p:txBody>
      </p:sp>
      <p:graphicFrame>
        <p:nvGraphicFramePr>
          <p:cNvPr id="7" name="Content Placeholder 6" descr="List of suffixes from the Combining forms, Suffixes and Terminology section of the textbook  with corresponding meanings or definitions. "/>
          <p:cNvGraphicFramePr>
            <a:graphicFrameLocks noGrp="1"/>
          </p:cNvGraphicFramePr>
          <p:nvPr>
            <p:ph idx="1"/>
            <p:extLst>
              <p:ext uri="{D42A27DB-BD31-4B8C-83A1-F6EECF244321}">
                <p14:modId xmlns:p14="http://schemas.microsoft.com/office/powerpoint/2010/main" val="1521933709"/>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a:t>-</a:t>
                      </a:r>
                      <a:r>
                        <a:rPr lang="en-US" sz="2400" b="1" dirty="0" err="1"/>
                        <a:t>ema</a:t>
                      </a:r>
                      <a:endParaRPr lang="en-US" sz="2400" dirty="0"/>
                    </a:p>
                  </a:txBody>
                  <a:tcPr/>
                </a:tc>
                <a:tc>
                  <a:txBody>
                    <a:bodyPr/>
                    <a:lstStyle/>
                    <a:p>
                      <a:r>
                        <a:rPr lang="en-US" sz="2400" dirty="0"/>
                        <a:t>condition </a:t>
                      </a:r>
                    </a:p>
                  </a:txBody>
                  <a:tcPr/>
                </a:tc>
                <a:extLst>
                  <a:ext uri="{0D108BD9-81ED-4DB2-BD59-A6C34878D82A}">
                    <a16:rowId xmlns:a16="http://schemas.microsoft.com/office/drawing/2014/main" val="10001"/>
                  </a:ext>
                </a:extLst>
              </a:tr>
              <a:tr h="370840">
                <a:tc>
                  <a:txBody>
                    <a:bodyPr/>
                    <a:lstStyle/>
                    <a:p>
                      <a:r>
                        <a:rPr lang="en-US" sz="2400" b="1" dirty="0"/>
                        <a:t>-</a:t>
                      </a:r>
                      <a:r>
                        <a:rPr lang="en-US" sz="2400" b="1" dirty="0" err="1"/>
                        <a:t>osmia</a:t>
                      </a:r>
                      <a:endParaRPr lang="en-US" sz="2400" dirty="0"/>
                    </a:p>
                  </a:txBody>
                  <a:tcPr/>
                </a:tc>
                <a:tc>
                  <a:txBody>
                    <a:bodyPr/>
                    <a:lstStyle/>
                    <a:p>
                      <a:r>
                        <a:rPr lang="en-US" sz="2400" dirty="0"/>
                        <a:t>smell</a:t>
                      </a:r>
                    </a:p>
                  </a:txBody>
                  <a:tcPr/>
                </a:tc>
                <a:extLst>
                  <a:ext uri="{0D108BD9-81ED-4DB2-BD59-A6C34878D82A}">
                    <a16:rowId xmlns:a16="http://schemas.microsoft.com/office/drawing/2014/main" val="10002"/>
                  </a:ext>
                </a:extLst>
              </a:tr>
              <a:tr h="370840">
                <a:tc>
                  <a:txBody>
                    <a:bodyPr/>
                    <a:lstStyle/>
                    <a:p>
                      <a:r>
                        <a:rPr lang="en-US" sz="2400" b="1" dirty="0"/>
                        <a:t>-</a:t>
                      </a:r>
                      <a:r>
                        <a:rPr lang="en-US" sz="2400" b="1" dirty="0" err="1"/>
                        <a:t>pnea</a:t>
                      </a:r>
                      <a:endParaRPr lang="en-US" sz="2400" dirty="0"/>
                    </a:p>
                  </a:txBody>
                  <a:tcPr/>
                </a:tc>
                <a:tc>
                  <a:txBody>
                    <a:bodyPr/>
                    <a:lstStyle/>
                    <a:p>
                      <a:r>
                        <a:rPr lang="en-US" sz="2400" dirty="0"/>
                        <a:t>breathing</a:t>
                      </a:r>
                    </a:p>
                  </a:txBody>
                  <a:tcPr/>
                </a:tc>
                <a:extLst>
                  <a:ext uri="{0D108BD9-81ED-4DB2-BD59-A6C34878D82A}">
                    <a16:rowId xmlns:a16="http://schemas.microsoft.com/office/drawing/2014/main" val="10003"/>
                  </a:ext>
                </a:extLst>
              </a:tr>
              <a:tr h="370840">
                <a:tc>
                  <a:txBody>
                    <a:bodyPr/>
                    <a:lstStyle/>
                    <a:p>
                      <a:r>
                        <a:rPr lang="en-US" sz="2400" b="1" dirty="0"/>
                        <a:t>-</a:t>
                      </a:r>
                      <a:r>
                        <a:rPr lang="en-US" sz="2400" b="1" dirty="0" err="1"/>
                        <a:t>ptysis</a:t>
                      </a:r>
                      <a:endParaRPr lang="en-US" sz="2400" dirty="0"/>
                    </a:p>
                  </a:txBody>
                  <a:tcPr/>
                </a:tc>
                <a:tc>
                  <a:txBody>
                    <a:bodyPr/>
                    <a:lstStyle/>
                    <a:p>
                      <a:r>
                        <a:rPr lang="en-US" sz="2400" dirty="0"/>
                        <a:t>spitting</a:t>
                      </a:r>
                    </a:p>
                  </a:txBody>
                  <a:tcPr/>
                </a:tc>
                <a:extLst>
                  <a:ext uri="{0D108BD9-81ED-4DB2-BD59-A6C34878D82A}">
                    <a16:rowId xmlns:a16="http://schemas.microsoft.com/office/drawing/2014/main" val="10004"/>
                  </a:ext>
                </a:extLst>
              </a:tr>
              <a:tr h="370840">
                <a:tc>
                  <a:txBody>
                    <a:bodyPr/>
                    <a:lstStyle/>
                    <a:p>
                      <a:r>
                        <a:rPr lang="en-US" sz="2400" b="1" dirty="0"/>
                        <a:t>-</a:t>
                      </a:r>
                      <a:r>
                        <a:rPr lang="en-US" sz="2400" b="1" dirty="0" err="1"/>
                        <a:t>sphyxia</a:t>
                      </a:r>
                      <a:endParaRPr lang="en-US" sz="2400" dirty="0"/>
                    </a:p>
                  </a:txBody>
                  <a:tcPr/>
                </a:tc>
                <a:tc>
                  <a:txBody>
                    <a:bodyPr/>
                    <a:lstStyle/>
                    <a:p>
                      <a:r>
                        <a:rPr lang="en-US" sz="2400" dirty="0"/>
                        <a:t>pulse</a:t>
                      </a:r>
                    </a:p>
                  </a:txBody>
                  <a:tcPr/>
                </a:tc>
                <a:extLst>
                  <a:ext uri="{0D108BD9-81ED-4DB2-BD59-A6C34878D82A}">
                    <a16:rowId xmlns:a16="http://schemas.microsoft.com/office/drawing/2014/main" val="10005"/>
                  </a:ext>
                </a:extLst>
              </a:tr>
              <a:tr h="370840">
                <a:tc>
                  <a:txBody>
                    <a:bodyPr/>
                    <a:lstStyle/>
                    <a:p>
                      <a:r>
                        <a:rPr lang="en-US" sz="2400" b="1" dirty="0"/>
                        <a:t>-thorax</a:t>
                      </a:r>
                      <a:endParaRPr lang="en-US" sz="2400" dirty="0"/>
                    </a:p>
                  </a:txBody>
                  <a:tcPr/>
                </a:tc>
                <a:tc>
                  <a:txBody>
                    <a:bodyPr/>
                    <a:lstStyle/>
                    <a:p>
                      <a:r>
                        <a:rPr lang="en-US" sz="2400" dirty="0"/>
                        <a:t>pleural cavity, chest</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465132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a:t>Chapter 12</a:t>
            </a:r>
            <a:br>
              <a:rPr lang="en-US"/>
            </a:br>
            <a:r>
              <a:rPr lang="en-US"/>
              <a:t>Lesson 12.2</a:t>
            </a:r>
          </a:p>
        </p:txBody>
      </p:sp>
    </p:spTree>
    <p:extLst>
      <p:ext uri="{BB962C8B-B14F-4D97-AF65-F5344CB8AC3E}">
        <p14:creationId xmlns:p14="http://schemas.microsoft.com/office/powerpoint/2010/main" val="28730192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p:cNvSpPr>
            <a:spLocks noGrp="1" noChangeArrowheads="1"/>
          </p:cNvSpPr>
          <p:nvPr>
            <p:ph type="title"/>
          </p:nvPr>
        </p:nvSpPr>
        <p:spPr/>
        <p:txBody>
          <a:bodyPr/>
          <a:lstStyle/>
          <a:p>
            <a:pPr eaLnBrk="1" hangingPunct="1"/>
            <a:r>
              <a:rPr lang="en-US" altLang="en-US"/>
              <a:t>Diagnostic Terms</a:t>
            </a:r>
          </a:p>
        </p:txBody>
      </p:sp>
      <p:sp>
        <p:nvSpPr>
          <p:cNvPr id="46083" name="Rectangle 6"/>
          <p:cNvSpPr>
            <a:spLocks noGrp="1" noChangeArrowheads="1"/>
          </p:cNvSpPr>
          <p:nvPr>
            <p:ph sz="half" idx="1"/>
          </p:nvPr>
        </p:nvSpPr>
        <p:spPr>
          <a:xfrm>
            <a:off x="2667000" y="1600200"/>
            <a:ext cx="3238500" cy="4114800"/>
          </a:xfrm>
        </p:spPr>
        <p:txBody>
          <a:bodyPr/>
          <a:lstStyle/>
          <a:p>
            <a:pPr eaLnBrk="1" hangingPunct="1"/>
            <a:r>
              <a:rPr lang="en-US" altLang="en-US" dirty="0"/>
              <a:t>Auscultation</a:t>
            </a:r>
          </a:p>
          <a:p>
            <a:pPr eaLnBrk="1" hangingPunct="1"/>
            <a:r>
              <a:rPr lang="en-US" altLang="en-US" dirty="0"/>
              <a:t>Percussion</a:t>
            </a:r>
          </a:p>
          <a:p>
            <a:pPr eaLnBrk="1" hangingPunct="1"/>
            <a:r>
              <a:rPr lang="en-US" altLang="en-US" dirty="0"/>
              <a:t>Pleural rub</a:t>
            </a:r>
          </a:p>
          <a:p>
            <a:pPr eaLnBrk="1" hangingPunct="1"/>
            <a:r>
              <a:rPr lang="en-US" altLang="en-US" dirty="0" err="1"/>
              <a:t>Rales</a:t>
            </a:r>
            <a:r>
              <a:rPr lang="en-US" altLang="en-US" dirty="0"/>
              <a:t> (crackles</a:t>
            </a:r>
          </a:p>
          <a:p>
            <a:pPr eaLnBrk="1" hangingPunct="1"/>
            <a:r>
              <a:rPr lang="en-US" altLang="en-US" dirty="0" err="1"/>
              <a:t>Rhonchi</a:t>
            </a:r>
            <a:r>
              <a:rPr lang="en-US" altLang="en-US" dirty="0"/>
              <a:t> (singular rhonchus)</a:t>
            </a:r>
          </a:p>
          <a:p>
            <a:pPr eaLnBrk="1" hangingPunct="1"/>
            <a:r>
              <a:rPr lang="en-US" altLang="en-US" dirty="0"/>
              <a:t>Sputum</a:t>
            </a:r>
          </a:p>
          <a:p>
            <a:pPr eaLnBrk="1" hangingPunct="1"/>
            <a:r>
              <a:rPr lang="en-US" altLang="en-US" dirty="0" err="1"/>
              <a:t>Stridor</a:t>
            </a:r>
            <a:endParaRPr lang="en-US" altLang="en-US" dirty="0"/>
          </a:p>
          <a:p>
            <a:pPr eaLnBrk="1" hangingPunct="1"/>
            <a:r>
              <a:rPr lang="en-US" altLang="en-US" dirty="0"/>
              <a:t>Wheezes</a:t>
            </a:r>
          </a:p>
          <a:p>
            <a:pPr eaLnBrk="1" hangingPunct="1"/>
            <a:endParaRPr lang="en-US" altLang="en-US" sz="2400" dirty="0"/>
          </a:p>
        </p:txBody>
      </p:sp>
    </p:spTree>
    <p:extLst>
      <p:ext uri="{BB962C8B-B14F-4D97-AF65-F5344CB8AC3E}">
        <p14:creationId xmlns:p14="http://schemas.microsoft.com/office/powerpoint/2010/main" val="23967584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4"/>
          <p:cNvSpPr>
            <a:spLocks noGrp="1" noChangeArrowheads="1"/>
          </p:cNvSpPr>
          <p:nvPr>
            <p:ph type="title"/>
          </p:nvPr>
        </p:nvSpPr>
        <p:spPr/>
        <p:txBody>
          <a:bodyPr/>
          <a:lstStyle/>
          <a:p>
            <a:pPr eaLnBrk="1" hangingPunct="1"/>
            <a:r>
              <a:rPr lang="en-US" altLang="en-US" dirty="0"/>
              <a:t>Pathology (Slide 1 of 4)</a:t>
            </a:r>
          </a:p>
        </p:txBody>
      </p:sp>
      <p:sp>
        <p:nvSpPr>
          <p:cNvPr id="47107" name="Rectangle 15"/>
          <p:cNvSpPr>
            <a:spLocks noGrp="1" noChangeArrowheads="1"/>
          </p:cNvSpPr>
          <p:nvPr>
            <p:ph sz="half" idx="1"/>
          </p:nvPr>
        </p:nvSpPr>
        <p:spPr>
          <a:xfrm>
            <a:off x="685800" y="1641475"/>
            <a:ext cx="5867400" cy="4454525"/>
          </a:xfrm>
        </p:spPr>
        <p:txBody>
          <a:bodyPr/>
          <a:lstStyle/>
          <a:p>
            <a:pPr eaLnBrk="1" hangingPunct="1">
              <a:lnSpc>
                <a:spcPct val="80000"/>
              </a:lnSpc>
              <a:buFont typeface="Wingdings 2" panose="05020102010507070707" pitchFamily="18" charset="2"/>
              <a:buNone/>
            </a:pPr>
            <a:r>
              <a:rPr lang="en-US" altLang="en-US" b="1"/>
              <a:t>Upper respiratory disorders</a:t>
            </a:r>
          </a:p>
          <a:p>
            <a:pPr lvl="1" eaLnBrk="1" hangingPunct="1">
              <a:buFont typeface="Wingdings" panose="05000000000000000000" pitchFamily="2" charset="2"/>
              <a:buChar char="Ø"/>
            </a:pPr>
            <a:r>
              <a:rPr lang="en-US" altLang="en-US" sz="2800">
                <a:ea typeface="MS PGothic" panose="020B0600070205080204" pitchFamily="34" charset="-128"/>
              </a:rPr>
              <a:t>Croup</a:t>
            </a:r>
          </a:p>
          <a:p>
            <a:pPr lvl="1" eaLnBrk="1" hangingPunct="1">
              <a:buFont typeface="Wingdings" panose="05000000000000000000" pitchFamily="2" charset="2"/>
              <a:buChar char="Ø"/>
            </a:pPr>
            <a:r>
              <a:rPr lang="en-US" altLang="en-US" sz="2800">
                <a:ea typeface="MS PGothic" panose="020B0600070205080204" pitchFamily="34" charset="-128"/>
              </a:rPr>
              <a:t>Diphtheria</a:t>
            </a:r>
          </a:p>
          <a:p>
            <a:pPr lvl="1" eaLnBrk="1" hangingPunct="1">
              <a:buFont typeface="Wingdings" panose="05000000000000000000" pitchFamily="2" charset="2"/>
              <a:buChar char="Ø"/>
            </a:pPr>
            <a:r>
              <a:rPr lang="en-US" altLang="en-US" sz="2800">
                <a:ea typeface="MS PGothic" panose="020B0600070205080204" pitchFamily="34" charset="-128"/>
              </a:rPr>
              <a:t>Epistaxis</a:t>
            </a:r>
          </a:p>
          <a:p>
            <a:pPr lvl="1" eaLnBrk="1" hangingPunct="1">
              <a:buFont typeface="Wingdings" panose="05000000000000000000" pitchFamily="2" charset="2"/>
              <a:buChar char="Ø"/>
            </a:pPr>
            <a:r>
              <a:rPr lang="en-US" altLang="en-US" sz="2800">
                <a:ea typeface="MS PGothic" panose="020B0600070205080204" pitchFamily="34" charset="-128"/>
              </a:rPr>
              <a:t>Pertussis</a:t>
            </a:r>
          </a:p>
        </p:txBody>
      </p:sp>
    </p:spTree>
    <p:extLst>
      <p:ext uri="{BB962C8B-B14F-4D97-AF65-F5344CB8AC3E}">
        <p14:creationId xmlns:p14="http://schemas.microsoft.com/office/powerpoint/2010/main" val="7394704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en-US" dirty="0"/>
              <a:t>Pathology (Slide 2 of 4)</a:t>
            </a:r>
          </a:p>
        </p:txBody>
      </p:sp>
      <p:sp>
        <p:nvSpPr>
          <p:cNvPr id="48131" name="Rectangle 3"/>
          <p:cNvSpPr>
            <a:spLocks noGrp="1" noChangeArrowheads="1"/>
          </p:cNvSpPr>
          <p:nvPr>
            <p:ph sz="half" idx="1"/>
          </p:nvPr>
        </p:nvSpPr>
        <p:spPr>
          <a:xfrm>
            <a:off x="685800" y="1600200"/>
            <a:ext cx="4953000" cy="4191000"/>
          </a:xfrm>
        </p:spPr>
        <p:txBody>
          <a:bodyPr/>
          <a:lstStyle/>
          <a:p>
            <a:pPr eaLnBrk="1" hangingPunct="1">
              <a:lnSpc>
                <a:spcPct val="70000"/>
              </a:lnSpc>
              <a:buFont typeface="Wingdings 2" panose="05020102010507070707" pitchFamily="18" charset="2"/>
              <a:buNone/>
            </a:pPr>
            <a:r>
              <a:rPr lang="en-US" altLang="en-US" b="1"/>
              <a:t>Bronchial tube disorders</a:t>
            </a:r>
          </a:p>
          <a:p>
            <a:pPr lvl="1" eaLnBrk="1" hangingPunct="1">
              <a:lnSpc>
                <a:spcPct val="90000"/>
              </a:lnSpc>
              <a:buFont typeface="Wingdings" panose="05000000000000000000" pitchFamily="2" charset="2"/>
              <a:buChar char="Ø"/>
            </a:pPr>
            <a:r>
              <a:rPr lang="en-US" altLang="en-US" sz="2800"/>
              <a:t>Asthma</a:t>
            </a:r>
          </a:p>
          <a:p>
            <a:pPr lvl="1" eaLnBrk="1" hangingPunct="1">
              <a:lnSpc>
                <a:spcPct val="90000"/>
              </a:lnSpc>
              <a:buFont typeface="Wingdings" panose="05000000000000000000" pitchFamily="2" charset="2"/>
              <a:buChar char="Ø"/>
            </a:pPr>
            <a:r>
              <a:rPr lang="en-US" altLang="en-US" sz="2800"/>
              <a:t>Bronchiectasis</a:t>
            </a:r>
          </a:p>
          <a:p>
            <a:pPr lvl="1" eaLnBrk="1" hangingPunct="1">
              <a:lnSpc>
                <a:spcPct val="90000"/>
              </a:lnSpc>
              <a:buFont typeface="Wingdings" panose="05000000000000000000" pitchFamily="2" charset="2"/>
              <a:buChar char="Ø"/>
            </a:pPr>
            <a:r>
              <a:rPr lang="en-US" altLang="en-US" sz="2800"/>
              <a:t>Chronic bronchitis</a:t>
            </a:r>
          </a:p>
          <a:p>
            <a:pPr lvl="1" eaLnBrk="1" hangingPunct="1">
              <a:lnSpc>
                <a:spcPct val="90000"/>
              </a:lnSpc>
              <a:buFont typeface="Wingdings" panose="05000000000000000000" pitchFamily="2" charset="2"/>
              <a:buChar char="Ø"/>
            </a:pPr>
            <a:r>
              <a:rPr lang="en-US" altLang="en-US" sz="2800"/>
              <a:t>Cystic fibrosis</a:t>
            </a:r>
          </a:p>
        </p:txBody>
      </p:sp>
    </p:spTree>
    <p:extLst>
      <p:ext uri="{BB962C8B-B14F-4D97-AF65-F5344CB8AC3E}">
        <p14:creationId xmlns:p14="http://schemas.microsoft.com/office/powerpoint/2010/main" val="37654570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1"/>
          <p:cNvSpPr>
            <a:spLocks noGrp="1" noChangeArrowheads="1"/>
          </p:cNvSpPr>
          <p:nvPr>
            <p:ph type="title"/>
          </p:nvPr>
        </p:nvSpPr>
        <p:spPr/>
        <p:txBody>
          <a:bodyPr/>
          <a:lstStyle/>
          <a:p>
            <a:pPr eaLnBrk="1" hangingPunct="1"/>
            <a:r>
              <a:rPr lang="en-US" altLang="en-US" dirty="0"/>
              <a:t>Pathology (Slide 3 of 4)</a:t>
            </a:r>
          </a:p>
        </p:txBody>
      </p:sp>
      <p:sp>
        <p:nvSpPr>
          <p:cNvPr id="49155" name="Rectangle 12"/>
          <p:cNvSpPr>
            <a:spLocks noGrp="1" noChangeArrowheads="1"/>
          </p:cNvSpPr>
          <p:nvPr>
            <p:ph sz="half" idx="1"/>
          </p:nvPr>
        </p:nvSpPr>
        <p:spPr>
          <a:xfrm>
            <a:off x="685800" y="1641475"/>
            <a:ext cx="3797300" cy="4454525"/>
          </a:xfrm>
        </p:spPr>
        <p:txBody>
          <a:bodyPr/>
          <a:lstStyle/>
          <a:p>
            <a:pPr eaLnBrk="1" hangingPunct="1">
              <a:buFont typeface="Wingdings 2" panose="05020102010507070707" pitchFamily="18" charset="2"/>
              <a:buNone/>
            </a:pPr>
            <a:r>
              <a:rPr lang="en-US" altLang="en-US" b="1"/>
              <a:t>Lung disorders</a:t>
            </a:r>
          </a:p>
          <a:p>
            <a:pPr lvl="1" eaLnBrk="1" hangingPunct="1">
              <a:buFont typeface="Wingdings" panose="05000000000000000000" pitchFamily="2" charset="2"/>
              <a:buChar char="Ø"/>
            </a:pPr>
            <a:r>
              <a:rPr lang="en-US" altLang="en-US" sz="2800">
                <a:ea typeface="MS PGothic" panose="020B0600070205080204" pitchFamily="34" charset="-128"/>
              </a:rPr>
              <a:t>Atelectasis</a:t>
            </a:r>
          </a:p>
          <a:p>
            <a:pPr lvl="1" eaLnBrk="1" hangingPunct="1">
              <a:buFont typeface="Wingdings" panose="05000000000000000000" pitchFamily="2" charset="2"/>
              <a:buChar char="Ø"/>
            </a:pPr>
            <a:r>
              <a:rPr lang="en-US" altLang="en-US" sz="2800">
                <a:ea typeface="MS PGothic" panose="020B0600070205080204" pitchFamily="34" charset="-128"/>
              </a:rPr>
              <a:t>Emphysema</a:t>
            </a:r>
          </a:p>
          <a:p>
            <a:pPr lvl="1" eaLnBrk="1" hangingPunct="1">
              <a:buFont typeface="Wingdings" panose="05000000000000000000" pitchFamily="2" charset="2"/>
              <a:buChar char="Ø"/>
            </a:pPr>
            <a:r>
              <a:rPr lang="en-US" altLang="en-US" sz="2800">
                <a:ea typeface="MS PGothic" panose="020B0600070205080204" pitchFamily="34" charset="-128"/>
              </a:rPr>
              <a:t>Lung cancer</a:t>
            </a:r>
          </a:p>
          <a:p>
            <a:pPr lvl="1" eaLnBrk="1" hangingPunct="1">
              <a:buFont typeface="Wingdings" panose="05000000000000000000" pitchFamily="2" charset="2"/>
              <a:buChar char="Ø"/>
            </a:pPr>
            <a:r>
              <a:rPr lang="en-US" altLang="en-US" sz="2800">
                <a:ea typeface="MS PGothic" panose="020B0600070205080204" pitchFamily="34" charset="-128"/>
              </a:rPr>
              <a:t>Pneumoconiosis</a:t>
            </a:r>
          </a:p>
          <a:p>
            <a:pPr lvl="1" eaLnBrk="1" hangingPunct="1">
              <a:buFont typeface="Wingdings" panose="05000000000000000000" pitchFamily="2" charset="2"/>
              <a:buChar char="Ø"/>
            </a:pPr>
            <a:r>
              <a:rPr lang="en-US" altLang="en-US" sz="2800">
                <a:ea typeface="MS PGothic" panose="020B0600070205080204" pitchFamily="34" charset="-128"/>
              </a:rPr>
              <a:t>Pneumonia</a:t>
            </a:r>
          </a:p>
          <a:p>
            <a:pPr lvl="1" eaLnBrk="1" hangingPunct="1">
              <a:buFont typeface="Wingdings" panose="05000000000000000000" pitchFamily="2" charset="2"/>
              <a:buChar char="Ø"/>
            </a:pPr>
            <a:r>
              <a:rPr lang="en-US" altLang="en-US" sz="2800">
                <a:ea typeface="MS PGothic" panose="020B0600070205080204" pitchFamily="34" charset="-128"/>
              </a:rPr>
              <a:t>Pulmonary abscess</a:t>
            </a:r>
          </a:p>
        </p:txBody>
      </p:sp>
      <p:sp>
        <p:nvSpPr>
          <p:cNvPr id="49156" name="Rectangle 13"/>
          <p:cNvSpPr>
            <a:spLocks noGrp="1" noChangeArrowheads="1"/>
          </p:cNvSpPr>
          <p:nvPr>
            <p:ph sz="half" idx="2"/>
          </p:nvPr>
        </p:nvSpPr>
        <p:spPr>
          <a:xfrm>
            <a:off x="5181600" y="2209800"/>
            <a:ext cx="3238500" cy="3733800"/>
          </a:xfrm>
        </p:spPr>
        <p:txBody>
          <a:bodyPr/>
          <a:lstStyle/>
          <a:p>
            <a:pPr eaLnBrk="1" hangingPunct="1">
              <a:buFont typeface="Wingdings" panose="05000000000000000000" pitchFamily="2" charset="2"/>
              <a:buChar char="Ø"/>
            </a:pPr>
            <a:r>
              <a:rPr lang="en-US" altLang="en-US"/>
              <a:t>Pulmonary edema</a:t>
            </a:r>
          </a:p>
          <a:p>
            <a:pPr eaLnBrk="1" hangingPunct="1">
              <a:buFont typeface="Wingdings" panose="05000000000000000000" pitchFamily="2" charset="2"/>
              <a:buChar char="Ø"/>
            </a:pPr>
            <a:r>
              <a:rPr lang="en-US" altLang="en-US"/>
              <a:t>Pulmonary embolism (PE)</a:t>
            </a:r>
          </a:p>
          <a:p>
            <a:pPr eaLnBrk="1" hangingPunct="1">
              <a:buFont typeface="Wingdings" panose="05000000000000000000" pitchFamily="2" charset="2"/>
              <a:buChar char="Ø"/>
            </a:pPr>
            <a:r>
              <a:rPr lang="en-US" altLang="en-US"/>
              <a:t>Pulmonary fibrosis</a:t>
            </a:r>
          </a:p>
          <a:p>
            <a:pPr eaLnBrk="1" hangingPunct="1">
              <a:buFont typeface="Wingdings" panose="05000000000000000000" pitchFamily="2" charset="2"/>
              <a:buChar char="Ø"/>
            </a:pPr>
            <a:r>
              <a:rPr lang="en-US" altLang="en-US"/>
              <a:t>Sarcoidosis</a:t>
            </a:r>
          </a:p>
          <a:p>
            <a:pPr eaLnBrk="1" hangingPunct="1">
              <a:buFont typeface="Wingdings" panose="05000000000000000000" pitchFamily="2" charset="2"/>
              <a:buChar char="Ø"/>
            </a:pPr>
            <a:r>
              <a:rPr lang="en-US" altLang="en-US"/>
              <a:t>Tuberculosis (TB)</a:t>
            </a:r>
          </a:p>
        </p:txBody>
      </p:sp>
    </p:spTree>
    <p:extLst>
      <p:ext uri="{BB962C8B-B14F-4D97-AF65-F5344CB8AC3E}">
        <p14:creationId xmlns:p14="http://schemas.microsoft.com/office/powerpoint/2010/main" val="22287261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4" name="Rectangle 12"/>
          <p:cNvSpPr>
            <a:spLocks noGrp="1" noChangeArrowheads="1"/>
          </p:cNvSpPr>
          <p:nvPr>
            <p:ph type="title"/>
          </p:nvPr>
        </p:nvSpPr>
        <p:spPr>
          <a:xfrm>
            <a:off x="457200" y="476250"/>
            <a:ext cx="8229600" cy="1143000"/>
          </a:xfrm>
        </p:spPr>
        <p:txBody>
          <a:bodyPr rtlCol="0">
            <a:normAutofit fontScale="90000"/>
          </a:bodyPr>
          <a:lstStyle/>
          <a:p>
            <a:pPr eaLnBrk="1" fontAlgn="auto" hangingPunct="1">
              <a:spcAft>
                <a:spcPts val="0"/>
              </a:spcAft>
              <a:defRPr/>
            </a:pPr>
            <a:r>
              <a:rPr lang="en-US" dirty="0"/>
              <a:t>Pathology </a:t>
            </a:r>
            <a:br>
              <a:rPr lang="en-US" dirty="0"/>
            </a:br>
            <a:r>
              <a:rPr lang="en-US" dirty="0"/>
              <a:t>Lung Disorders</a:t>
            </a:r>
            <a:br>
              <a:rPr lang="en-US" dirty="0"/>
            </a:br>
            <a:endParaRPr lang="en-US" dirty="0"/>
          </a:p>
        </p:txBody>
      </p:sp>
      <p:sp>
        <p:nvSpPr>
          <p:cNvPr id="50179" name="Rectangle 13"/>
          <p:cNvSpPr>
            <a:spLocks noGrp="1" noChangeArrowheads="1"/>
          </p:cNvSpPr>
          <p:nvPr>
            <p:ph sz="half" idx="1"/>
          </p:nvPr>
        </p:nvSpPr>
        <p:spPr>
          <a:xfrm>
            <a:off x="838200" y="1600200"/>
            <a:ext cx="3200400" cy="4525963"/>
          </a:xfrm>
        </p:spPr>
        <p:txBody>
          <a:bodyPr/>
          <a:lstStyle/>
          <a:p>
            <a:pPr marL="0" lvl="1" eaLnBrk="1" hangingPunct="1">
              <a:buFont typeface="Wingdings" panose="05000000000000000000" pitchFamily="2" charset="2"/>
              <a:buNone/>
            </a:pPr>
            <a:r>
              <a:rPr lang="en-US" altLang="en-US" b="1" dirty="0">
                <a:ea typeface="MS PGothic" panose="020B0600070205080204" pitchFamily="34" charset="-128"/>
              </a:rPr>
              <a:t>Atelectasis</a:t>
            </a:r>
            <a:r>
              <a:rPr lang="en-US" altLang="en-US" dirty="0">
                <a:ea typeface="MS PGothic" panose="020B0600070205080204" pitchFamily="34" charset="-128"/>
              </a:rPr>
              <a:t> </a:t>
            </a:r>
          </a:p>
          <a:p>
            <a:pPr marL="457200" lvl="2" eaLnBrk="1" hangingPunct="1"/>
            <a:r>
              <a:rPr lang="en-US" altLang="en-US" dirty="0">
                <a:ea typeface="MS PGothic" panose="020B0600070205080204" pitchFamily="34" charset="-128"/>
              </a:rPr>
              <a:t>Two forms</a:t>
            </a:r>
          </a:p>
          <a:p>
            <a:pPr marL="457200" lvl="2" eaLnBrk="1" hangingPunct="1"/>
            <a:r>
              <a:rPr lang="en-US" altLang="en-US" dirty="0">
                <a:ea typeface="MS PGothic" panose="020B0600070205080204" pitchFamily="34" charset="-128"/>
              </a:rPr>
              <a:t>Proximal obstruction of distal airways</a:t>
            </a:r>
          </a:p>
          <a:p>
            <a:pPr marL="457200" lvl="2" eaLnBrk="1" hangingPunct="1"/>
            <a:r>
              <a:rPr lang="en-US" altLang="en-US" dirty="0">
                <a:ea typeface="MS PGothic" panose="020B0600070205080204" pitchFamily="34" charset="-128"/>
              </a:rPr>
              <a:t>Accumulations of fluid, blood, or air in the pleural cavity</a:t>
            </a:r>
          </a:p>
          <a:p>
            <a:pPr eaLnBrk="1" hangingPunct="1"/>
            <a:endParaRPr lang="en-US" altLang="en-US" sz="2400" dirty="0"/>
          </a:p>
        </p:txBody>
      </p:sp>
      <p:pic>
        <p:nvPicPr>
          <p:cNvPr id="6" name="Content Placeholder 5" descr="The 2 forms of atelectasis are bronchial obstruction and accumulations of fluid, blood, or air within the pleural cavity that collapse the lung."/>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r="4321"/>
          <a:stretch>
            <a:fillRect/>
          </a:stretch>
        </p:blipFill>
        <p:spPr bwMode="auto">
          <a:xfrm>
            <a:off x="4028661" y="2590800"/>
            <a:ext cx="4658139" cy="22460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73096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6"/>
          <p:cNvSpPr>
            <a:spLocks noGrp="1" noChangeArrowheads="1"/>
          </p:cNvSpPr>
          <p:nvPr>
            <p:ph type="title"/>
          </p:nvPr>
        </p:nvSpPr>
        <p:spPr/>
        <p:txBody>
          <a:bodyPr/>
          <a:lstStyle/>
          <a:p>
            <a:pPr eaLnBrk="1" hangingPunct="1"/>
            <a:r>
              <a:rPr lang="en-US" altLang="en-US" dirty="0"/>
              <a:t>Pathology (Slide 4 of 4) </a:t>
            </a:r>
          </a:p>
        </p:txBody>
      </p:sp>
      <p:sp>
        <p:nvSpPr>
          <p:cNvPr id="51203" name="Rectangle 7"/>
          <p:cNvSpPr>
            <a:spLocks noGrp="1" noChangeArrowheads="1"/>
          </p:cNvSpPr>
          <p:nvPr>
            <p:ph idx="1"/>
          </p:nvPr>
        </p:nvSpPr>
        <p:spPr/>
        <p:txBody>
          <a:bodyPr/>
          <a:lstStyle/>
          <a:p>
            <a:pPr eaLnBrk="1" hangingPunct="1">
              <a:buFont typeface="Wingdings 2" panose="05020102010507070707" pitchFamily="18" charset="2"/>
              <a:buNone/>
            </a:pPr>
            <a:r>
              <a:rPr lang="en-US" altLang="en-US" b="1"/>
              <a:t>Pleural disorders</a:t>
            </a:r>
          </a:p>
          <a:p>
            <a:pPr lvl="1" eaLnBrk="1" hangingPunct="1">
              <a:buFont typeface="Wingdings" panose="05000000000000000000" pitchFamily="2" charset="2"/>
              <a:buChar char="Ø"/>
            </a:pPr>
            <a:r>
              <a:rPr lang="en-US" altLang="en-US">
                <a:ea typeface="MS PGothic" panose="020B0600070205080204" pitchFamily="34" charset="-128"/>
              </a:rPr>
              <a:t>Mesothelioma</a:t>
            </a:r>
          </a:p>
          <a:p>
            <a:pPr lvl="1" eaLnBrk="1" hangingPunct="1">
              <a:buFont typeface="Wingdings" panose="05000000000000000000" pitchFamily="2" charset="2"/>
              <a:buChar char="Ø"/>
            </a:pPr>
            <a:r>
              <a:rPr lang="en-US" altLang="en-US">
                <a:ea typeface="MS PGothic" panose="020B0600070205080204" pitchFamily="34" charset="-128"/>
              </a:rPr>
              <a:t>Pleural effusion</a:t>
            </a:r>
          </a:p>
          <a:p>
            <a:pPr lvl="1" eaLnBrk="1" hangingPunct="1">
              <a:buFont typeface="Wingdings" panose="05000000000000000000" pitchFamily="2" charset="2"/>
              <a:buChar char="Ø"/>
            </a:pPr>
            <a:r>
              <a:rPr lang="en-US" altLang="en-US">
                <a:ea typeface="MS PGothic" panose="020B0600070205080204" pitchFamily="34" charset="-128"/>
              </a:rPr>
              <a:t>Pleurisy (pleuritis)</a:t>
            </a:r>
          </a:p>
          <a:p>
            <a:pPr lvl="1" eaLnBrk="1" hangingPunct="1">
              <a:buFont typeface="Wingdings" panose="05000000000000000000" pitchFamily="2" charset="2"/>
              <a:buChar char="Ø"/>
            </a:pPr>
            <a:r>
              <a:rPr lang="en-US" altLang="en-US">
                <a:ea typeface="MS PGothic" panose="020B0600070205080204" pitchFamily="34" charset="-128"/>
              </a:rPr>
              <a:t>Pneumothorax</a:t>
            </a:r>
          </a:p>
          <a:p>
            <a:pPr lvl="1" eaLnBrk="1" hangingPunct="1">
              <a:buFont typeface="Wingdings" panose="05000000000000000000" pitchFamily="2" charset="2"/>
              <a:buNone/>
            </a:pPr>
            <a:endParaRPr lang="en-US" altLang="en-US">
              <a:ea typeface="MS PGothic" panose="020B0600070205080204" pitchFamily="34" charset="-128"/>
            </a:endParaRPr>
          </a:p>
        </p:txBody>
      </p:sp>
    </p:spTree>
    <p:extLst>
      <p:ext uri="{BB962C8B-B14F-4D97-AF65-F5344CB8AC3E}">
        <p14:creationId xmlns:p14="http://schemas.microsoft.com/office/powerpoint/2010/main" val="759612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2" name="Rectangle 8"/>
          <p:cNvSpPr>
            <a:spLocks noGrp="1" noChangeArrowheads="1"/>
          </p:cNvSpPr>
          <p:nvPr>
            <p:ph type="title"/>
          </p:nvPr>
        </p:nvSpPr>
        <p:spPr/>
        <p:txBody>
          <a:bodyPr rtlCol="0">
            <a:normAutofit fontScale="90000"/>
          </a:bodyPr>
          <a:lstStyle/>
          <a:p>
            <a:pPr eaLnBrk="1" fontAlgn="auto" hangingPunct="1">
              <a:spcAft>
                <a:spcPts val="0"/>
              </a:spcAft>
              <a:defRPr/>
            </a:pPr>
            <a:r>
              <a:rPr lang="en-US"/>
              <a:t>Pathology </a:t>
            </a:r>
            <a:br>
              <a:rPr lang="en-US"/>
            </a:br>
            <a:r>
              <a:rPr lang="en-US"/>
              <a:t>Pleural Disorders  </a:t>
            </a:r>
            <a:br>
              <a:rPr lang="en-US"/>
            </a:br>
            <a:endParaRPr lang="en-US"/>
          </a:p>
        </p:txBody>
      </p:sp>
      <p:sp>
        <p:nvSpPr>
          <p:cNvPr id="52227" name="Rectangle 9"/>
          <p:cNvSpPr>
            <a:spLocks noGrp="1" noChangeArrowheads="1"/>
          </p:cNvSpPr>
          <p:nvPr>
            <p:ph sz="half" idx="1"/>
          </p:nvPr>
        </p:nvSpPr>
        <p:spPr>
          <a:xfrm>
            <a:off x="457200" y="1600201"/>
            <a:ext cx="6400800" cy="685799"/>
          </a:xfrm>
        </p:spPr>
        <p:txBody>
          <a:bodyPr/>
          <a:lstStyle/>
          <a:p>
            <a:pPr eaLnBrk="1" hangingPunct="1">
              <a:buFont typeface="Wingdings 2" panose="05020102010507070707" pitchFamily="18" charset="2"/>
              <a:buNone/>
            </a:pPr>
            <a:r>
              <a:rPr lang="en-US" altLang="en-US" sz="2400" b="1" dirty="0"/>
              <a:t>Pneumothorax:</a:t>
            </a:r>
            <a:r>
              <a:rPr lang="en-US" altLang="en-US" sz="2400" dirty="0"/>
              <a:t>  Air gathers in the pleural cavity</a:t>
            </a:r>
          </a:p>
        </p:txBody>
      </p:sp>
      <p:pic>
        <p:nvPicPr>
          <p:cNvPr id="6" name="Picture 15" descr="A pneumothorax occurs when air gathers in the pleural cavity, causing the lung to collapse."/>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743200" y="2460340"/>
            <a:ext cx="4544409" cy="366582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79982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8"/>
          <p:cNvSpPr>
            <a:spLocks noGrp="1" noChangeArrowheads="1"/>
          </p:cNvSpPr>
          <p:nvPr>
            <p:ph type="title"/>
          </p:nvPr>
        </p:nvSpPr>
        <p:spPr>
          <a:xfrm>
            <a:off x="533400" y="228600"/>
            <a:ext cx="7772400" cy="1219200"/>
          </a:xfrm>
        </p:spPr>
        <p:txBody>
          <a:bodyPr/>
          <a:lstStyle/>
          <a:p>
            <a:pPr eaLnBrk="1" hangingPunct="1"/>
            <a:r>
              <a:rPr lang="en-US" altLang="en-US"/>
              <a:t> Study Section</a:t>
            </a:r>
          </a:p>
        </p:txBody>
      </p:sp>
      <p:sp>
        <p:nvSpPr>
          <p:cNvPr id="53251" name="Rectangle 9"/>
          <p:cNvSpPr>
            <a:spLocks noGrp="1" noChangeArrowheads="1"/>
          </p:cNvSpPr>
          <p:nvPr>
            <p:ph sz="half" idx="1"/>
          </p:nvPr>
        </p:nvSpPr>
        <p:spPr>
          <a:xfrm>
            <a:off x="685800" y="1641475"/>
            <a:ext cx="3797300" cy="4454525"/>
          </a:xfrm>
        </p:spPr>
        <p:txBody>
          <a:bodyPr/>
          <a:lstStyle/>
          <a:p>
            <a:pPr eaLnBrk="1" hangingPunct="1"/>
            <a:r>
              <a:rPr lang="en-US" altLang="en-US"/>
              <a:t>Anthracosis</a:t>
            </a:r>
          </a:p>
          <a:p>
            <a:pPr eaLnBrk="1" hangingPunct="1"/>
            <a:r>
              <a:rPr lang="en-US" altLang="en-US"/>
              <a:t>Asbestosis</a:t>
            </a:r>
          </a:p>
          <a:p>
            <a:pPr eaLnBrk="1" hangingPunct="1"/>
            <a:r>
              <a:rPr lang="en-US" altLang="en-US"/>
              <a:t>Bacilli</a:t>
            </a:r>
          </a:p>
          <a:p>
            <a:pPr eaLnBrk="1" hangingPunct="1"/>
            <a:r>
              <a:rPr lang="en-US" altLang="en-US"/>
              <a:t>Chronic obstructive pulmonary disease (COPD)</a:t>
            </a:r>
          </a:p>
          <a:p>
            <a:pPr eaLnBrk="1" hangingPunct="1"/>
            <a:r>
              <a:rPr lang="en-US" altLang="en-US"/>
              <a:t>Cor pulmonale</a:t>
            </a:r>
          </a:p>
          <a:p>
            <a:pPr eaLnBrk="1" hangingPunct="1"/>
            <a:r>
              <a:rPr lang="en-US" altLang="en-US"/>
              <a:t>Exudate</a:t>
            </a:r>
          </a:p>
        </p:txBody>
      </p:sp>
      <p:sp>
        <p:nvSpPr>
          <p:cNvPr id="53252" name="Rectangle 10"/>
          <p:cNvSpPr>
            <a:spLocks noGrp="1" noChangeArrowheads="1"/>
          </p:cNvSpPr>
          <p:nvPr>
            <p:ph sz="half" idx="2"/>
          </p:nvPr>
        </p:nvSpPr>
        <p:spPr>
          <a:xfrm>
            <a:off x="4660900" y="1641475"/>
            <a:ext cx="3797300" cy="4454525"/>
          </a:xfrm>
        </p:spPr>
        <p:txBody>
          <a:bodyPr/>
          <a:lstStyle/>
          <a:p>
            <a:pPr eaLnBrk="1" hangingPunct="1"/>
            <a:r>
              <a:rPr lang="en-US" altLang="en-US"/>
              <a:t>Hydrothorax</a:t>
            </a:r>
          </a:p>
          <a:p>
            <a:pPr eaLnBrk="1" hangingPunct="1"/>
            <a:r>
              <a:rPr lang="en-US" altLang="en-US"/>
              <a:t>Infiltrate</a:t>
            </a:r>
          </a:p>
          <a:p>
            <a:pPr eaLnBrk="1" hangingPunct="1"/>
            <a:r>
              <a:rPr lang="en-US" altLang="en-US"/>
              <a:t>Palliative</a:t>
            </a:r>
          </a:p>
          <a:p>
            <a:pPr eaLnBrk="1" hangingPunct="1"/>
            <a:r>
              <a:rPr lang="en-US" altLang="en-US"/>
              <a:t>Paroxysmal</a:t>
            </a:r>
          </a:p>
          <a:p>
            <a:pPr eaLnBrk="1" hangingPunct="1"/>
            <a:r>
              <a:rPr lang="en-US" altLang="en-US"/>
              <a:t>Pulmonary infarction</a:t>
            </a:r>
          </a:p>
          <a:p>
            <a:pPr eaLnBrk="1" hangingPunct="1"/>
            <a:r>
              <a:rPr lang="en-US" altLang="en-US"/>
              <a:t>Purulent</a:t>
            </a:r>
          </a:p>
          <a:p>
            <a:pPr eaLnBrk="1" hangingPunct="1"/>
            <a:r>
              <a:rPr lang="en-US" altLang="en-US"/>
              <a:t>Silicosis</a:t>
            </a:r>
          </a:p>
        </p:txBody>
      </p:sp>
    </p:spTree>
    <p:extLst>
      <p:ext uri="{BB962C8B-B14F-4D97-AF65-F5344CB8AC3E}">
        <p14:creationId xmlns:p14="http://schemas.microsoft.com/office/powerpoint/2010/main" val="28565896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a:t>Chapter 12</a:t>
            </a:r>
            <a:br>
              <a:rPr lang="en-US"/>
            </a:br>
            <a:r>
              <a:rPr lang="en-US"/>
              <a:t>Lesson 12.3</a:t>
            </a:r>
          </a:p>
        </p:txBody>
      </p:sp>
    </p:spTree>
    <p:extLst>
      <p:ext uri="{BB962C8B-B14F-4D97-AF65-F5344CB8AC3E}">
        <p14:creationId xmlns:p14="http://schemas.microsoft.com/office/powerpoint/2010/main" val="8996365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6"/>
          <p:cNvSpPr>
            <a:spLocks noGrp="1" noChangeArrowheads="1"/>
          </p:cNvSpPr>
          <p:nvPr>
            <p:ph type="title"/>
          </p:nvPr>
        </p:nvSpPr>
        <p:spPr/>
        <p:txBody>
          <a:bodyPr/>
          <a:lstStyle/>
          <a:p>
            <a:pPr eaLnBrk="1" hangingPunct="1"/>
            <a:r>
              <a:rPr lang="en-US" altLang="en-US" dirty="0"/>
              <a:t>Clinical Procedures (Slide 1 of 9)</a:t>
            </a:r>
          </a:p>
        </p:txBody>
      </p:sp>
      <p:sp>
        <p:nvSpPr>
          <p:cNvPr id="55299" name="Rectangle 7"/>
          <p:cNvSpPr>
            <a:spLocks noGrp="1" noChangeArrowheads="1"/>
          </p:cNvSpPr>
          <p:nvPr>
            <p:ph idx="1"/>
          </p:nvPr>
        </p:nvSpPr>
        <p:spPr/>
        <p:txBody>
          <a:bodyPr/>
          <a:lstStyle/>
          <a:p>
            <a:pPr marL="0" indent="0" eaLnBrk="1" hangingPunct="1">
              <a:buFont typeface="Arial" panose="020B0604020202020204" pitchFamily="34" charset="0"/>
              <a:buNone/>
              <a:defRPr/>
            </a:pPr>
            <a:r>
              <a:rPr lang="en-US" b="1" dirty="0"/>
              <a:t>X-rays</a:t>
            </a:r>
          </a:p>
          <a:p>
            <a:pPr lvl="1" eaLnBrk="1" hangingPunct="1">
              <a:buFont typeface="Wingdings" pitchFamily="2" charset="2"/>
              <a:buChar char="Ø"/>
              <a:defRPr/>
            </a:pPr>
            <a:r>
              <a:rPr lang="en-US" dirty="0">
                <a:ea typeface="MS PGothic" pitchFamily="34" charset="-128"/>
              </a:rPr>
              <a:t>Chest x-ray (CXR)</a:t>
            </a:r>
          </a:p>
          <a:p>
            <a:pPr lvl="1" eaLnBrk="1" hangingPunct="1">
              <a:buFont typeface="Wingdings" pitchFamily="2" charset="2"/>
              <a:buChar char="Ø"/>
              <a:defRPr/>
            </a:pPr>
            <a:r>
              <a:rPr lang="en-US" dirty="0">
                <a:ea typeface="MS PGothic" pitchFamily="34" charset="-128"/>
              </a:rPr>
              <a:t>Computed tomography (CT) scan of the chest</a:t>
            </a:r>
          </a:p>
          <a:p>
            <a:pPr lvl="2" eaLnBrk="1" hangingPunct="1">
              <a:buFont typeface="Wingdings" pitchFamily="2" charset="2"/>
              <a:buChar char="Ø"/>
              <a:defRPr/>
            </a:pPr>
            <a:r>
              <a:rPr lang="en-US" dirty="0">
                <a:ea typeface="MS PGothic" pitchFamily="34" charset="-128"/>
              </a:rPr>
              <a:t>Pulmonary angiography</a:t>
            </a:r>
          </a:p>
          <a:p>
            <a:pPr eaLnBrk="1" hangingPunct="1">
              <a:defRPr/>
            </a:pPr>
            <a:endParaRPr lang="en-US" dirty="0"/>
          </a:p>
        </p:txBody>
      </p:sp>
    </p:spTree>
    <p:extLst>
      <p:ext uri="{BB962C8B-B14F-4D97-AF65-F5344CB8AC3E}">
        <p14:creationId xmlns:p14="http://schemas.microsoft.com/office/powerpoint/2010/main" val="3416539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9"/>
          <p:cNvSpPr>
            <a:spLocks noGrp="1" noChangeArrowheads="1"/>
          </p:cNvSpPr>
          <p:nvPr>
            <p:ph type="title"/>
          </p:nvPr>
        </p:nvSpPr>
        <p:spPr/>
        <p:txBody>
          <a:bodyPr/>
          <a:lstStyle/>
          <a:p>
            <a:pPr eaLnBrk="1" hangingPunct="1"/>
            <a:r>
              <a:rPr lang="en-US" altLang="en-US" dirty="0"/>
              <a:t>Clinical Procedures (Slide 2 of 9)</a:t>
            </a:r>
          </a:p>
        </p:txBody>
      </p:sp>
      <p:sp>
        <p:nvSpPr>
          <p:cNvPr id="56323" name="Rectangle 10"/>
          <p:cNvSpPr>
            <a:spLocks noGrp="1" noChangeArrowheads="1"/>
          </p:cNvSpPr>
          <p:nvPr>
            <p:ph sz="half" idx="1"/>
          </p:nvPr>
        </p:nvSpPr>
        <p:spPr/>
        <p:txBody>
          <a:bodyPr/>
          <a:lstStyle/>
          <a:p>
            <a:pPr eaLnBrk="1" hangingPunct="1">
              <a:buFont typeface="Wingdings 2" panose="05020102010507070707" pitchFamily="18" charset="2"/>
              <a:buNone/>
            </a:pPr>
            <a:r>
              <a:rPr lang="en-US" altLang="en-US" b="1" dirty="0"/>
              <a:t>X-rays:</a:t>
            </a:r>
            <a:r>
              <a:rPr lang="en-US" altLang="en-US" dirty="0"/>
              <a:t> radiographic imaging</a:t>
            </a:r>
          </a:p>
          <a:p>
            <a:pPr eaLnBrk="1" hangingPunct="1">
              <a:buFont typeface="Wingdings 2" panose="05020102010507070707" pitchFamily="18" charset="2"/>
              <a:buNone/>
            </a:pPr>
            <a:r>
              <a:rPr lang="en-US" altLang="en-US" sz="2400" dirty="0"/>
              <a:t>This is a normal chest x-ray taken from the PA (</a:t>
            </a:r>
            <a:r>
              <a:rPr lang="en-US" altLang="en-US" sz="2400" dirty="0" err="1"/>
              <a:t>posteroanterior</a:t>
            </a:r>
            <a:r>
              <a:rPr lang="en-US" altLang="en-US" sz="2400" dirty="0"/>
              <a:t>) view—x-ray passes from back to front.</a:t>
            </a:r>
          </a:p>
          <a:p>
            <a:pPr eaLnBrk="1" hangingPunct="1"/>
            <a:endParaRPr lang="en-US" altLang="en-US" sz="2400" dirty="0"/>
          </a:p>
        </p:txBody>
      </p:sp>
      <p:pic>
        <p:nvPicPr>
          <p:cNvPr id="7" name="Picture 15" descr="This is a normal chest x-ray taken from the PA (posteroanterior) view whereby the xray passes from back to front.&#10;"/>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48200" y="1695650"/>
            <a:ext cx="4038600" cy="43350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71222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5"/>
          <p:cNvSpPr>
            <a:spLocks noGrp="1" noChangeArrowheads="1"/>
          </p:cNvSpPr>
          <p:nvPr>
            <p:ph type="title"/>
          </p:nvPr>
        </p:nvSpPr>
        <p:spPr/>
        <p:txBody>
          <a:bodyPr/>
          <a:lstStyle/>
          <a:p>
            <a:pPr eaLnBrk="1" hangingPunct="1"/>
            <a:r>
              <a:rPr lang="en-US" altLang="en-US" dirty="0"/>
              <a:t>Clinical Procedures (Slide 3 of 9)</a:t>
            </a:r>
          </a:p>
        </p:txBody>
      </p:sp>
      <p:sp>
        <p:nvSpPr>
          <p:cNvPr id="57347" name="Rectangle 6"/>
          <p:cNvSpPr>
            <a:spLocks noGrp="1" noChangeArrowheads="1"/>
          </p:cNvSpPr>
          <p:nvPr>
            <p:ph sz="half" idx="1"/>
          </p:nvPr>
        </p:nvSpPr>
        <p:spPr>
          <a:xfrm>
            <a:off x="457200" y="1600200"/>
            <a:ext cx="8001000" cy="1081691"/>
          </a:xfrm>
        </p:spPr>
        <p:txBody>
          <a:bodyPr/>
          <a:lstStyle/>
          <a:p>
            <a:pPr eaLnBrk="1" hangingPunct="1">
              <a:buFont typeface="Wingdings 2" panose="05020102010507070707" pitchFamily="18" charset="2"/>
              <a:buNone/>
            </a:pPr>
            <a:r>
              <a:rPr lang="en-US" altLang="en-US" b="1" dirty="0"/>
              <a:t>Magnetic resonance imaging (MRI):</a:t>
            </a:r>
            <a:r>
              <a:rPr lang="en-US" altLang="en-US" dirty="0"/>
              <a:t>    </a:t>
            </a:r>
          </a:p>
          <a:p>
            <a:pPr lvl="1" eaLnBrk="1" hangingPunct="1"/>
            <a:r>
              <a:rPr lang="en-US" altLang="en-US" sz="2800" dirty="0"/>
              <a:t> magnetic waves create images</a:t>
            </a:r>
          </a:p>
        </p:txBody>
      </p:sp>
      <p:pic>
        <p:nvPicPr>
          <p:cNvPr id="6" name="Picture 9" descr="Magnetic resonance imaging (MRI): magnetic waves create detailed images in frontal, lateral (sagittal), and cross-sectional (axial) plane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828800" y="2864453"/>
            <a:ext cx="5524663" cy="32319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52321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en-US" dirty="0"/>
              <a:t>Clinical Procedures (Slide 4 of 9)</a:t>
            </a:r>
          </a:p>
        </p:txBody>
      </p:sp>
      <p:sp>
        <p:nvSpPr>
          <p:cNvPr id="58371" name="Rectangle 8"/>
          <p:cNvSpPr>
            <a:spLocks noGrp="1" noChangeArrowheads="1"/>
          </p:cNvSpPr>
          <p:nvPr>
            <p:ph idx="1"/>
          </p:nvPr>
        </p:nvSpPr>
        <p:spPr/>
        <p:txBody>
          <a:bodyPr/>
          <a:lstStyle/>
          <a:p>
            <a:pPr eaLnBrk="1" hangingPunct="1"/>
            <a:r>
              <a:rPr lang="en-US" altLang="en-US" b="1"/>
              <a:t>Nuclear tests</a:t>
            </a:r>
            <a:endParaRPr lang="en-US" altLang="en-US"/>
          </a:p>
          <a:p>
            <a:pPr lvl="1" eaLnBrk="1" hangingPunct="1">
              <a:buFont typeface="Wingdings" panose="05000000000000000000" pitchFamily="2" charset="2"/>
              <a:buChar char="Ø"/>
            </a:pPr>
            <a:r>
              <a:rPr lang="en-US" altLang="en-US" b="1"/>
              <a:t>Positron emission tomography (PET) scan of the lung </a:t>
            </a:r>
          </a:p>
          <a:p>
            <a:pPr lvl="1" eaLnBrk="1" hangingPunct="1">
              <a:buFont typeface="Wingdings" panose="05000000000000000000" pitchFamily="2" charset="2"/>
              <a:buChar char="Ø"/>
            </a:pPr>
            <a:r>
              <a:rPr lang="en-US" altLang="en-US" b="1"/>
              <a:t>Ventilation-perfusion (V/Q) scan:</a:t>
            </a:r>
            <a:r>
              <a:rPr lang="en-US" altLang="en-US"/>
              <a:t> inhalation of radioactive gas for imaging, followed by injection of different radioactive material for imaging</a:t>
            </a:r>
          </a:p>
        </p:txBody>
      </p:sp>
    </p:spTree>
    <p:extLst>
      <p:ext uri="{BB962C8B-B14F-4D97-AF65-F5344CB8AC3E}">
        <p14:creationId xmlns:p14="http://schemas.microsoft.com/office/powerpoint/2010/main" val="34986358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8"/>
          <p:cNvSpPr>
            <a:spLocks noGrp="1" noChangeArrowheads="1"/>
          </p:cNvSpPr>
          <p:nvPr>
            <p:ph type="title"/>
          </p:nvPr>
        </p:nvSpPr>
        <p:spPr/>
        <p:txBody>
          <a:bodyPr/>
          <a:lstStyle/>
          <a:p>
            <a:pPr eaLnBrk="1" hangingPunct="1"/>
            <a:r>
              <a:rPr lang="en-US" altLang="en-US" dirty="0"/>
              <a:t>Clinical Procedures (Slide 5 of 9)</a:t>
            </a:r>
          </a:p>
        </p:txBody>
      </p:sp>
      <p:sp>
        <p:nvSpPr>
          <p:cNvPr id="59395" name="Rectangle 9"/>
          <p:cNvSpPr>
            <a:spLocks noGrp="1" noChangeArrowheads="1"/>
          </p:cNvSpPr>
          <p:nvPr>
            <p:ph sz="half" idx="1"/>
          </p:nvPr>
        </p:nvSpPr>
        <p:spPr>
          <a:xfrm>
            <a:off x="457200" y="1600201"/>
            <a:ext cx="7239000" cy="1447800"/>
          </a:xfrm>
        </p:spPr>
        <p:txBody>
          <a:bodyPr/>
          <a:lstStyle/>
          <a:p>
            <a:pPr eaLnBrk="1" hangingPunct="1">
              <a:lnSpc>
                <a:spcPct val="90000"/>
              </a:lnSpc>
              <a:buFont typeface="Wingdings 2" panose="05020102010507070707" pitchFamily="18" charset="2"/>
              <a:buNone/>
            </a:pPr>
            <a:r>
              <a:rPr lang="en-US" altLang="en-US" sz="2400" b="1" dirty="0" err="1"/>
              <a:t>Bronchoscopy</a:t>
            </a:r>
            <a:r>
              <a:rPr lang="en-US" altLang="en-US" sz="2400" b="1" dirty="0"/>
              <a:t>:</a:t>
            </a:r>
            <a:r>
              <a:rPr lang="en-US" altLang="en-US" sz="2400" dirty="0"/>
              <a:t> </a:t>
            </a:r>
            <a:r>
              <a:rPr lang="en-US" altLang="en-US" sz="2400" dirty="0" err="1"/>
              <a:t>fiberoptic</a:t>
            </a:r>
            <a:r>
              <a:rPr lang="en-US" altLang="en-US" sz="2400" dirty="0"/>
              <a:t> or rigid endoscope inserted into the bronchial tubes for diagnosis, biopsy, or collection of secretions</a:t>
            </a:r>
          </a:p>
        </p:txBody>
      </p:sp>
      <p:pic>
        <p:nvPicPr>
          <p:cNvPr id="6" name="Picture 14" descr="Bronchoscopy: fiberoptic or rigid endoscope inserted into the bronchial tubes for diagnosis, biopsy, or collection of secretions.&#10;"/>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828800" y="2964021"/>
            <a:ext cx="5867400" cy="28848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480987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8"/>
          <p:cNvSpPr>
            <a:spLocks noGrp="1" noChangeArrowheads="1"/>
          </p:cNvSpPr>
          <p:nvPr>
            <p:ph type="title"/>
          </p:nvPr>
        </p:nvSpPr>
        <p:spPr/>
        <p:txBody>
          <a:bodyPr/>
          <a:lstStyle/>
          <a:p>
            <a:pPr eaLnBrk="1" hangingPunct="1"/>
            <a:r>
              <a:rPr lang="en-US" altLang="en-US" dirty="0"/>
              <a:t>Clinical Procedures (Slide 6 of 9)</a:t>
            </a:r>
          </a:p>
        </p:txBody>
      </p:sp>
      <p:sp>
        <p:nvSpPr>
          <p:cNvPr id="60419" name="Rectangle 9"/>
          <p:cNvSpPr>
            <a:spLocks noGrp="1" noChangeArrowheads="1"/>
          </p:cNvSpPr>
          <p:nvPr>
            <p:ph sz="half" idx="1"/>
          </p:nvPr>
        </p:nvSpPr>
        <p:spPr/>
        <p:txBody>
          <a:bodyPr/>
          <a:lstStyle/>
          <a:p>
            <a:pPr eaLnBrk="1" hangingPunct="1">
              <a:buFont typeface="Wingdings 2" panose="05020102010507070707" pitchFamily="18" charset="2"/>
              <a:buNone/>
            </a:pPr>
            <a:r>
              <a:rPr lang="en-US" altLang="en-US" sz="2400" b="1" dirty="0" err="1"/>
              <a:t>Endotracheal</a:t>
            </a:r>
            <a:r>
              <a:rPr lang="en-US" altLang="en-US" sz="2400" b="1" dirty="0"/>
              <a:t> intubation:</a:t>
            </a:r>
            <a:r>
              <a:rPr lang="en-US" altLang="en-US" sz="2400" dirty="0"/>
              <a:t> placement of tube from mouth to trachea to establish airway</a:t>
            </a:r>
          </a:p>
        </p:txBody>
      </p:sp>
      <p:pic>
        <p:nvPicPr>
          <p:cNvPr id="6" name="Picture 14" descr="Endotracheal intubation: placement of tube from mouth to trachea to establish airway.&#10;"/>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48200" y="1860709"/>
            <a:ext cx="4038600" cy="4004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48828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8"/>
          <p:cNvSpPr>
            <a:spLocks noGrp="1" noChangeArrowheads="1"/>
          </p:cNvSpPr>
          <p:nvPr>
            <p:ph type="title"/>
          </p:nvPr>
        </p:nvSpPr>
        <p:spPr/>
        <p:txBody>
          <a:bodyPr/>
          <a:lstStyle/>
          <a:p>
            <a:pPr eaLnBrk="1" hangingPunct="1"/>
            <a:r>
              <a:rPr lang="en-US" altLang="en-US" dirty="0"/>
              <a:t>Clinical Procedures (Slide 7 of 9)</a:t>
            </a:r>
          </a:p>
        </p:txBody>
      </p:sp>
      <p:sp>
        <p:nvSpPr>
          <p:cNvPr id="46089" name="Rectangle 9"/>
          <p:cNvSpPr>
            <a:spLocks noGrp="1" noChangeArrowheads="1"/>
          </p:cNvSpPr>
          <p:nvPr>
            <p:ph sz="half" idx="1"/>
          </p:nvPr>
        </p:nvSpPr>
        <p:spPr>
          <a:xfrm>
            <a:off x="685800" y="1600200"/>
            <a:ext cx="3795713" cy="3794125"/>
          </a:xfrm>
        </p:spPr>
        <p:txBody>
          <a:bodyPr rtlCol="0">
            <a:normAutofit/>
          </a:bodyPr>
          <a:lstStyle/>
          <a:p>
            <a:pPr eaLnBrk="1" fontAlgn="auto" hangingPunct="1">
              <a:spcAft>
                <a:spcPts val="0"/>
              </a:spcAft>
              <a:defRPr/>
            </a:pPr>
            <a:r>
              <a:rPr lang="en-US" dirty="0"/>
              <a:t>Laryngoscopy</a:t>
            </a:r>
          </a:p>
          <a:p>
            <a:pPr eaLnBrk="1" fontAlgn="auto" hangingPunct="1">
              <a:spcAft>
                <a:spcPts val="0"/>
              </a:spcAft>
              <a:defRPr/>
            </a:pPr>
            <a:r>
              <a:rPr lang="en-US" dirty="0"/>
              <a:t>Lung biopsy</a:t>
            </a:r>
          </a:p>
          <a:p>
            <a:pPr eaLnBrk="1" fontAlgn="auto" hangingPunct="1">
              <a:spcAft>
                <a:spcPts val="0"/>
              </a:spcAft>
              <a:defRPr/>
            </a:pPr>
            <a:r>
              <a:rPr lang="en-US" dirty="0" err="1"/>
              <a:t>Mediastinoscopy</a:t>
            </a:r>
            <a:endParaRPr lang="en-US" dirty="0"/>
          </a:p>
          <a:p>
            <a:pPr eaLnBrk="1" fontAlgn="auto" hangingPunct="1">
              <a:spcAft>
                <a:spcPts val="0"/>
              </a:spcAft>
              <a:defRPr/>
            </a:pPr>
            <a:r>
              <a:rPr lang="en-US" dirty="0"/>
              <a:t>Pulmonary function tests (PFTs)</a:t>
            </a:r>
          </a:p>
          <a:p>
            <a:pPr eaLnBrk="1" fontAlgn="auto" hangingPunct="1">
              <a:spcAft>
                <a:spcPts val="0"/>
              </a:spcAft>
              <a:defRPr/>
            </a:pPr>
            <a:r>
              <a:rPr lang="en-US" dirty="0" err="1"/>
              <a:t>Thoracentesis</a:t>
            </a:r>
            <a:endParaRPr lang="en-US" dirty="0"/>
          </a:p>
          <a:p>
            <a:pPr marL="0" indent="0" eaLnBrk="1" fontAlgn="auto" hangingPunct="1">
              <a:spcAft>
                <a:spcPts val="0"/>
              </a:spcAft>
              <a:buFont typeface="Wingdings 2" charset="0"/>
              <a:buNone/>
              <a:defRPr/>
            </a:pPr>
            <a:endParaRPr lang="en-US" dirty="0"/>
          </a:p>
        </p:txBody>
      </p:sp>
      <p:sp>
        <p:nvSpPr>
          <p:cNvPr id="61444" name="Rectangle 10"/>
          <p:cNvSpPr>
            <a:spLocks noGrp="1" noChangeArrowheads="1"/>
          </p:cNvSpPr>
          <p:nvPr>
            <p:ph sz="half" idx="2"/>
          </p:nvPr>
        </p:nvSpPr>
        <p:spPr>
          <a:xfrm>
            <a:off x="4660900" y="1641475"/>
            <a:ext cx="3797300" cy="4454525"/>
          </a:xfrm>
        </p:spPr>
        <p:txBody>
          <a:bodyPr/>
          <a:lstStyle/>
          <a:p>
            <a:pPr eaLnBrk="1" hangingPunct="1"/>
            <a:r>
              <a:rPr lang="en-US" altLang="en-US"/>
              <a:t>Thoracotomy</a:t>
            </a:r>
          </a:p>
          <a:p>
            <a:pPr eaLnBrk="1" hangingPunct="1"/>
            <a:r>
              <a:rPr lang="en-US" altLang="en-US"/>
              <a:t>Thorascopy</a:t>
            </a:r>
          </a:p>
          <a:p>
            <a:pPr eaLnBrk="1" hangingPunct="1"/>
            <a:r>
              <a:rPr lang="en-US" altLang="en-US"/>
              <a:t>Tracheostomy</a:t>
            </a:r>
          </a:p>
          <a:p>
            <a:pPr eaLnBrk="1" hangingPunct="1"/>
            <a:r>
              <a:rPr lang="en-US" altLang="en-US"/>
              <a:t>Tuberculin test</a:t>
            </a:r>
          </a:p>
          <a:p>
            <a:pPr eaLnBrk="1" hangingPunct="1"/>
            <a:r>
              <a:rPr lang="en-US" altLang="en-US"/>
              <a:t>Tube thoracostomy</a:t>
            </a:r>
            <a:endParaRPr lang="en-US" altLang="en-US" sz="2400"/>
          </a:p>
        </p:txBody>
      </p:sp>
    </p:spTree>
    <p:extLst>
      <p:ext uri="{BB962C8B-B14F-4D97-AF65-F5344CB8AC3E}">
        <p14:creationId xmlns:p14="http://schemas.microsoft.com/office/powerpoint/2010/main" val="25640940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9"/>
          <p:cNvSpPr>
            <a:spLocks noGrp="1" noChangeArrowheads="1"/>
          </p:cNvSpPr>
          <p:nvPr>
            <p:ph type="title"/>
          </p:nvPr>
        </p:nvSpPr>
        <p:spPr/>
        <p:txBody>
          <a:bodyPr/>
          <a:lstStyle/>
          <a:p>
            <a:pPr eaLnBrk="1" hangingPunct="1"/>
            <a:r>
              <a:rPr lang="en-US" altLang="en-US" dirty="0"/>
              <a:t>Clinical Procedures (Slide 8 of 9)</a:t>
            </a:r>
          </a:p>
        </p:txBody>
      </p:sp>
      <p:sp>
        <p:nvSpPr>
          <p:cNvPr id="47114" name="Rectangle 10"/>
          <p:cNvSpPr>
            <a:spLocks noGrp="1" noChangeArrowheads="1"/>
          </p:cNvSpPr>
          <p:nvPr>
            <p:ph sz="half" idx="1"/>
          </p:nvPr>
        </p:nvSpPr>
        <p:spPr>
          <a:xfrm>
            <a:off x="1295400" y="1718469"/>
            <a:ext cx="5562600" cy="914400"/>
          </a:xfrm>
        </p:spPr>
        <p:txBody>
          <a:bodyPr rtlCol="0">
            <a:normAutofit lnSpcReduction="10000"/>
          </a:bodyPr>
          <a:lstStyle/>
          <a:p>
            <a:pPr eaLnBrk="1" fontAlgn="auto" hangingPunct="1">
              <a:lnSpc>
                <a:spcPct val="90000"/>
              </a:lnSpc>
              <a:spcAft>
                <a:spcPts val="0"/>
              </a:spcAft>
              <a:buFont typeface="Wingdings 2" pitchFamily="18" charset="2"/>
              <a:buNone/>
              <a:defRPr/>
            </a:pPr>
            <a:r>
              <a:rPr lang="en-US" b="1" dirty="0" err="1"/>
              <a:t>Thoracentesis</a:t>
            </a:r>
            <a:r>
              <a:rPr lang="en-US" b="1" dirty="0"/>
              <a:t>:</a:t>
            </a:r>
            <a:r>
              <a:rPr lang="en-US" dirty="0"/>
              <a:t> surgical puncture to</a:t>
            </a:r>
          </a:p>
          <a:p>
            <a:pPr eaLnBrk="1" fontAlgn="auto" hangingPunct="1">
              <a:lnSpc>
                <a:spcPct val="90000"/>
              </a:lnSpc>
              <a:spcAft>
                <a:spcPts val="0"/>
              </a:spcAft>
              <a:buFont typeface="Wingdings 2" pitchFamily="18" charset="2"/>
              <a:buNone/>
              <a:defRPr/>
            </a:pPr>
            <a:r>
              <a:rPr lang="en-US" dirty="0"/>
              <a:t> remove fluid from pleural space</a:t>
            </a:r>
            <a:endParaRPr lang="en-US" sz="2400" dirty="0"/>
          </a:p>
        </p:txBody>
      </p:sp>
      <p:pic>
        <p:nvPicPr>
          <p:cNvPr id="6" name="Picture 15" descr="Thoracentesis: surgical puncture to&#10; remove fluid from pleural space.&#10;"/>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524000" y="2971800"/>
            <a:ext cx="6718738" cy="32473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68459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8"/>
          <p:cNvSpPr>
            <a:spLocks noGrp="1" noChangeArrowheads="1"/>
          </p:cNvSpPr>
          <p:nvPr>
            <p:ph type="title"/>
          </p:nvPr>
        </p:nvSpPr>
        <p:spPr/>
        <p:txBody>
          <a:bodyPr/>
          <a:lstStyle/>
          <a:p>
            <a:pPr eaLnBrk="1" hangingPunct="1"/>
            <a:r>
              <a:rPr lang="en-US" altLang="en-US" dirty="0"/>
              <a:t>Clinical Procedures (Slide 9 of 9)</a:t>
            </a:r>
          </a:p>
        </p:txBody>
      </p:sp>
      <p:sp>
        <p:nvSpPr>
          <p:cNvPr id="63491" name="Rectangle 9"/>
          <p:cNvSpPr>
            <a:spLocks noGrp="1" noChangeArrowheads="1"/>
          </p:cNvSpPr>
          <p:nvPr>
            <p:ph sz="half" idx="1"/>
          </p:nvPr>
        </p:nvSpPr>
        <p:spPr>
          <a:xfrm>
            <a:off x="704850" y="2209800"/>
            <a:ext cx="3429000" cy="2286000"/>
          </a:xfrm>
        </p:spPr>
        <p:txBody>
          <a:bodyPr/>
          <a:lstStyle/>
          <a:p>
            <a:pPr eaLnBrk="1" hangingPunct="1">
              <a:buFont typeface="Wingdings 2" panose="05020102010507070707" pitchFamily="18" charset="2"/>
              <a:buNone/>
            </a:pPr>
            <a:r>
              <a:rPr lang="en-US" altLang="en-US" b="1" dirty="0"/>
              <a:t>Tracheostomy:</a:t>
            </a:r>
            <a:r>
              <a:rPr lang="en-US" altLang="en-US" dirty="0"/>
              <a:t> surgical creation of an opening into the trachea through the neck</a:t>
            </a:r>
          </a:p>
        </p:txBody>
      </p:sp>
      <p:pic>
        <p:nvPicPr>
          <p:cNvPr id="6" name="Picture 14" descr="Tracheostomy: surgical creation of an&#10;opening into the trachea through the neck.&#10;"/>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t="34921" r="30667"/>
          <a:stretch>
            <a:fillRect/>
          </a:stretch>
        </p:blipFill>
        <p:spPr bwMode="auto">
          <a:xfrm>
            <a:off x="4800600" y="1905000"/>
            <a:ext cx="3704116" cy="43808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48094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1 of 5)</a:t>
            </a:r>
          </a:p>
        </p:txBody>
      </p:sp>
      <p:graphicFrame>
        <p:nvGraphicFramePr>
          <p:cNvPr id="7" name="Content Placeholder 6" descr="Group 1 of 5 Abbreviations with corresponding meanings."/>
          <p:cNvGraphicFramePr>
            <a:graphicFrameLocks noGrp="1"/>
          </p:cNvGraphicFramePr>
          <p:nvPr>
            <p:ph idx="1"/>
            <p:extLst>
              <p:ext uri="{D42A27DB-BD31-4B8C-83A1-F6EECF244321}">
                <p14:modId xmlns:p14="http://schemas.microsoft.com/office/powerpoint/2010/main" val="63549260"/>
              </p:ext>
            </p:extLst>
          </p:nvPr>
        </p:nvGraphicFramePr>
        <p:xfrm>
          <a:off x="457200" y="1295400"/>
          <a:ext cx="8229600" cy="5029200"/>
        </p:xfrm>
        <a:graphic>
          <a:graphicData uri="http://schemas.openxmlformats.org/drawingml/2006/table">
            <a:tbl>
              <a:tblPr firstRow="1" bandRow="1">
                <a:tableStyleId>{C083E6E3-FA7D-4D7B-A595-EF9225AFEA82}</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ABGs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Arterial blood gases</a:t>
                      </a:r>
                    </a:p>
                  </a:txBody>
                  <a:tcPr/>
                </a:tc>
                <a:extLst>
                  <a:ext uri="{0D108BD9-81ED-4DB2-BD59-A6C34878D82A}">
                    <a16:rowId xmlns:a16="http://schemas.microsoft.com/office/drawing/2014/main" val="10001"/>
                  </a:ext>
                </a:extLst>
              </a:tr>
              <a:tr h="370840">
                <a:tc>
                  <a:txBody>
                    <a:bodyPr/>
                    <a:lstStyle/>
                    <a:p>
                      <a:r>
                        <a:rPr lang="en-US" altLang="en-US" sz="2400" dirty="0"/>
                        <a:t>AFB</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Acid-fast bacillus </a:t>
                      </a:r>
                    </a:p>
                  </a:txBody>
                  <a:tcPr/>
                </a:tc>
                <a:extLst>
                  <a:ext uri="{0D108BD9-81ED-4DB2-BD59-A6C34878D82A}">
                    <a16:rowId xmlns:a16="http://schemas.microsoft.com/office/drawing/2014/main" val="10002"/>
                  </a:ext>
                </a:extLst>
              </a:tr>
              <a:tr h="370840">
                <a:tc>
                  <a:txBody>
                    <a:bodyPr/>
                    <a:lstStyle/>
                    <a:p>
                      <a:r>
                        <a:rPr lang="en-US" altLang="en-US" sz="2400" dirty="0"/>
                        <a:t>ARDS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Acute respiratory distress syndrome</a:t>
                      </a:r>
                    </a:p>
                  </a:txBody>
                  <a:tcPr/>
                </a:tc>
                <a:extLst>
                  <a:ext uri="{0D108BD9-81ED-4DB2-BD59-A6C34878D82A}">
                    <a16:rowId xmlns:a16="http://schemas.microsoft.com/office/drawing/2014/main" val="10003"/>
                  </a:ext>
                </a:extLst>
              </a:tr>
              <a:tr h="370840">
                <a:tc>
                  <a:txBody>
                    <a:bodyPr/>
                    <a:lstStyle/>
                    <a:p>
                      <a:r>
                        <a:rPr lang="en-US" altLang="en-US" sz="2400" dirty="0"/>
                        <a:t>BAL</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Bronchioalveolar</a:t>
                      </a:r>
                      <a:r>
                        <a:rPr lang="en-US" altLang="en-US" sz="2400" dirty="0"/>
                        <a:t> lavage</a:t>
                      </a:r>
                    </a:p>
                  </a:txBody>
                  <a:tcPr/>
                </a:tc>
                <a:extLst>
                  <a:ext uri="{0D108BD9-81ED-4DB2-BD59-A6C34878D82A}">
                    <a16:rowId xmlns:a16="http://schemas.microsoft.com/office/drawing/2014/main" val="10004"/>
                  </a:ext>
                </a:extLst>
              </a:tr>
              <a:tr h="370840">
                <a:tc>
                  <a:txBody>
                    <a:bodyPr/>
                    <a:lstStyle/>
                    <a:p>
                      <a:r>
                        <a:rPr lang="en-US" altLang="en-US" sz="2400" dirty="0" err="1"/>
                        <a:t>Bronch</a:t>
                      </a:r>
                      <a:endParaRPr lang="en-US" sz="2400" dirty="0"/>
                    </a:p>
                  </a:txBody>
                  <a:tcPr/>
                </a:tc>
                <a:tc>
                  <a:txBody>
                    <a:bodyPr/>
                    <a:lstStyle/>
                    <a:p>
                      <a:r>
                        <a:rPr lang="en-US" altLang="en-US" sz="2400" dirty="0"/>
                        <a:t>Bronchoscopy</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dirty="0"/>
                        <a:t>CF</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Cystic fibrosis</a:t>
                      </a:r>
                    </a:p>
                  </a:txBody>
                  <a:tcPr/>
                </a:tc>
                <a:extLst>
                  <a:ext uri="{0D108BD9-81ED-4DB2-BD59-A6C34878D82A}">
                    <a16:rowId xmlns:a16="http://schemas.microsoft.com/office/drawing/2014/main" val="10006"/>
                  </a:ext>
                </a:extLst>
              </a:tr>
              <a:tr h="370840">
                <a:tc>
                  <a:txBody>
                    <a:bodyPr/>
                    <a:lstStyle/>
                    <a:p>
                      <a:r>
                        <a:rPr lang="en-US" altLang="en-US" sz="2400" dirty="0"/>
                        <a:t>CO</a:t>
                      </a:r>
                      <a:r>
                        <a:rPr lang="en-US" altLang="en-US" sz="2400" baseline="-25000" dirty="0"/>
                        <a:t>2</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Carbon dioxide</a:t>
                      </a:r>
                    </a:p>
                  </a:txBody>
                  <a:tcPr/>
                </a:tc>
                <a:extLst>
                  <a:ext uri="{0D108BD9-81ED-4DB2-BD59-A6C34878D82A}">
                    <a16:rowId xmlns:a16="http://schemas.microsoft.com/office/drawing/2014/main" val="10007"/>
                  </a:ext>
                </a:extLst>
              </a:tr>
              <a:tr h="370840">
                <a:tc>
                  <a:txBody>
                    <a:bodyPr/>
                    <a:lstStyle/>
                    <a:p>
                      <a:r>
                        <a:rPr lang="en-US" altLang="en-US" sz="2400" dirty="0"/>
                        <a:t>COPD</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Chronic obstructive pulmonary disease</a:t>
                      </a:r>
                    </a:p>
                  </a:txBody>
                  <a:tcPr/>
                </a:tc>
                <a:extLst>
                  <a:ext uri="{0D108BD9-81ED-4DB2-BD59-A6C34878D82A}">
                    <a16:rowId xmlns:a16="http://schemas.microsoft.com/office/drawing/2014/main" val="10008"/>
                  </a:ext>
                </a:extLst>
              </a:tr>
              <a:tr h="370840">
                <a:tc>
                  <a:txBody>
                    <a:bodyPr/>
                    <a:lstStyle/>
                    <a:p>
                      <a:r>
                        <a:rPr lang="en-US" altLang="en-US" sz="2400" dirty="0"/>
                        <a:t>CPAP</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Continuous positive airway pressure</a:t>
                      </a:r>
                    </a:p>
                  </a:txBody>
                  <a:tcPr/>
                </a:tc>
                <a:extLst>
                  <a:ext uri="{0D108BD9-81ED-4DB2-BD59-A6C34878D82A}">
                    <a16:rowId xmlns:a16="http://schemas.microsoft.com/office/drawing/2014/main" val="10009"/>
                  </a:ext>
                </a:extLst>
              </a:tr>
              <a:tr h="370840">
                <a:tc>
                  <a:txBody>
                    <a:bodyPr/>
                    <a:lstStyle/>
                    <a:p>
                      <a:r>
                        <a:rPr lang="en-US" altLang="en-US" sz="2400" dirty="0"/>
                        <a:t>CPR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Cardiopulmonary resuscitation</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666820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2 of 5)</a:t>
            </a:r>
          </a:p>
        </p:txBody>
      </p:sp>
      <p:graphicFrame>
        <p:nvGraphicFramePr>
          <p:cNvPr id="7" name="Content Placeholder 6" descr="Group 2 of 5 Abbreviations with corresponding meanings."/>
          <p:cNvGraphicFramePr>
            <a:graphicFrameLocks noGrp="1"/>
          </p:cNvGraphicFramePr>
          <p:nvPr>
            <p:ph idx="1"/>
            <p:extLst>
              <p:ext uri="{D42A27DB-BD31-4B8C-83A1-F6EECF244321}">
                <p14:modId xmlns:p14="http://schemas.microsoft.com/office/powerpoint/2010/main" val="399295950"/>
              </p:ext>
            </p:extLst>
          </p:nvPr>
        </p:nvGraphicFramePr>
        <p:xfrm>
          <a:off x="457200" y="1295400"/>
          <a:ext cx="8229600" cy="4572000"/>
        </p:xfrm>
        <a:graphic>
          <a:graphicData uri="http://schemas.openxmlformats.org/drawingml/2006/table">
            <a:tbl>
              <a:tblPr firstRow="1" bandRow="1">
                <a:tableStyleId>{C083E6E3-FA7D-4D7B-A595-EF9225AFEA82}</a:tableStyleId>
              </a:tblPr>
              <a:tblGrid>
                <a:gridCol w="19812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 &amp; 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Culture and sensitivity testing (of sputum)</a:t>
                      </a:r>
                    </a:p>
                  </a:txBody>
                  <a:tcPr/>
                </a:tc>
                <a:extLst>
                  <a:ext uri="{0D108BD9-81ED-4DB2-BD59-A6C34878D82A}">
                    <a16:rowId xmlns:a16="http://schemas.microsoft.com/office/drawing/2014/main" val="10001"/>
                  </a:ext>
                </a:extLst>
              </a:tr>
              <a:tr h="370840">
                <a:tc>
                  <a:txBody>
                    <a:bodyPr/>
                    <a:lstStyle/>
                    <a:p>
                      <a:r>
                        <a:rPr lang="en-US" altLang="en-US" sz="2400" dirty="0"/>
                        <a:t>CTPA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Computed tomography pulmonary angiography</a:t>
                      </a:r>
                    </a:p>
                  </a:txBody>
                  <a:tcPr/>
                </a:tc>
                <a:extLst>
                  <a:ext uri="{0D108BD9-81ED-4DB2-BD59-A6C34878D82A}">
                    <a16:rowId xmlns:a16="http://schemas.microsoft.com/office/drawing/2014/main" val="10002"/>
                  </a:ext>
                </a:extLst>
              </a:tr>
              <a:tr h="370840">
                <a:tc>
                  <a:txBody>
                    <a:bodyPr/>
                    <a:lstStyle/>
                    <a:p>
                      <a:r>
                        <a:rPr lang="en-US" altLang="en-US" sz="2400" dirty="0"/>
                        <a:t>CXR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Chest x-ray (film)</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DI</a:t>
                      </a:r>
                      <a:r>
                        <a:rPr lang="en-US" altLang="en-US" sz="2400" baseline="-25000" dirty="0"/>
                        <a:t>CO</a:t>
                      </a:r>
                      <a:endParaRPr lang="en-US" altLang="en-US" sz="1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Diffusion capacity of lung for carbon monoxide</a:t>
                      </a:r>
                    </a:p>
                  </a:txBody>
                  <a:tcPr/>
                </a:tc>
                <a:extLst>
                  <a:ext uri="{0D108BD9-81ED-4DB2-BD59-A6C34878D82A}">
                    <a16:rowId xmlns:a16="http://schemas.microsoft.com/office/drawing/2014/main" val="10004"/>
                  </a:ext>
                </a:extLst>
              </a:tr>
              <a:tr h="370840">
                <a:tc>
                  <a:txBody>
                    <a:bodyPr/>
                    <a:lstStyle/>
                    <a:p>
                      <a:r>
                        <a:rPr lang="en-US" altLang="en-US" sz="2400" dirty="0"/>
                        <a:t>DOE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Dyspnea on exertion</a:t>
                      </a:r>
                    </a:p>
                  </a:txBody>
                  <a:tcPr/>
                </a:tc>
                <a:extLst>
                  <a:ext uri="{0D108BD9-81ED-4DB2-BD59-A6C34878D82A}">
                    <a16:rowId xmlns:a16="http://schemas.microsoft.com/office/drawing/2014/main" val="10005"/>
                  </a:ext>
                </a:extLst>
              </a:tr>
              <a:tr h="370840">
                <a:tc>
                  <a:txBody>
                    <a:bodyPr/>
                    <a:lstStyle/>
                    <a:p>
                      <a:r>
                        <a:rPr lang="en-US" altLang="en-US" sz="2400" dirty="0"/>
                        <a:t>DPT</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Diphtheria, pertussis, tetanus</a:t>
                      </a:r>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FEV</a:t>
                      </a:r>
                      <a:r>
                        <a:rPr lang="en-US" altLang="en-US" sz="2400" baseline="-25000" dirty="0"/>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Forced expiratory volume in 1 second</a:t>
                      </a:r>
                    </a:p>
                  </a:txBody>
                  <a:tcPr/>
                </a:tc>
                <a:extLst>
                  <a:ext uri="{0D108BD9-81ED-4DB2-BD59-A6C34878D82A}">
                    <a16:rowId xmlns:a16="http://schemas.microsoft.com/office/drawing/2014/main" val="10007"/>
                  </a:ext>
                </a:extLst>
              </a:tr>
              <a:tr h="370840">
                <a:tc>
                  <a:txBody>
                    <a:bodyPr/>
                    <a:lstStyle/>
                    <a:p>
                      <a:r>
                        <a:rPr lang="en-US" altLang="en-US" sz="2400" dirty="0"/>
                        <a:t>FVC</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Forced vital capacity</a:t>
                      </a:r>
                    </a:p>
                  </a:txBody>
                  <a:tcPr/>
                </a:tc>
                <a:extLst>
                  <a:ext uri="{0D108BD9-81ED-4DB2-BD59-A6C34878D82A}">
                    <a16:rowId xmlns:a16="http://schemas.microsoft.com/office/drawing/2014/main" val="10008"/>
                  </a:ext>
                </a:extLst>
              </a:tr>
              <a:tr h="370840">
                <a:tc>
                  <a:txBody>
                    <a:bodyPr/>
                    <a:lstStyle/>
                    <a:p>
                      <a:r>
                        <a:rPr lang="en-US" altLang="en-US" sz="2400" dirty="0"/>
                        <a:t>ICU</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Intensive care unit</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0533318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3 of 5)</a:t>
            </a:r>
          </a:p>
        </p:txBody>
      </p:sp>
      <p:graphicFrame>
        <p:nvGraphicFramePr>
          <p:cNvPr id="7" name="Content Placeholder 6" descr="Group 3 of 5 Abbreviations with corresponding meanings."/>
          <p:cNvGraphicFramePr>
            <a:graphicFrameLocks noGrp="1"/>
          </p:cNvGraphicFramePr>
          <p:nvPr>
            <p:ph idx="1"/>
            <p:extLst>
              <p:ext uri="{D42A27DB-BD31-4B8C-83A1-F6EECF244321}">
                <p14:modId xmlns:p14="http://schemas.microsoft.com/office/powerpoint/2010/main" val="1551360651"/>
              </p:ext>
            </p:extLst>
          </p:nvPr>
        </p:nvGraphicFramePr>
        <p:xfrm>
          <a:off x="457200" y="1295400"/>
          <a:ext cx="8229600" cy="5059680"/>
        </p:xfrm>
        <a:graphic>
          <a:graphicData uri="http://schemas.openxmlformats.org/drawingml/2006/table">
            <a:tbl>
              <a:tblPr firstRow="1" bandRow="1">
                <a:tableStyleId>{C083E6E3-FA7D-4D7B-A595-EF9225AFEA82}</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200" dirty="0"/>
                        <a:t>LLL</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Left lower lobe (of lung)</a:t>
                      </a:r>
                    </a:p>
                  </a:txBody>
                  <a:tcPr/>
                </a:tc>
                <a:extLst>
                  <a:ext uri="{0D108BD9-81ED-4DB2-BD59-A6C34878D82A}">
                    <a16:rowId xmlns:a16="http://schemas.microsoft.com/office/drawing/2014/main" val="10001"/>
                  </a:ext>
                </a:extLst>
              </a:tr>
              <a:tr h="370840">
                <a:tc>
                  <a:txBody>
                    <a:bodyPr/>
                    <a:lstStyle/>
                    <a:p>
                      <a:r>
                        <a:rPr lang="en-US" altLang="en-US" sz="2200" dirty="0"/>
                        <a:t>LUL</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Left upper lobe (of lung)</a:t>
                      </a:r>
                    </a:p>
                  </a:txBody>
                  <a:tcPr/>
                </a:tc>
                <a:extLst>
                  <a:ext uri="{0D108BD9-81ED-4DB2-BD59-A6C34878D82A}">
                    <a16:rowId xmlns:a16="http://schemas.microsoft.com/office/drawing/2014/main" val="10002"/>
                  </a:ext>
                </a:extLst>
              </a:tr>
              <a:tr h="370840">
                <a:tc>
                  <a:txBody>
                    <a:bodyPr/>
                    <a:lstStyle/>
                    <a:p>
                      <a:r>
                        <a:rPr lang="en-US" altLang="en-US" sz="2200" dirty="0"/>
                        <a:t>MAC</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Mycobacterium </a:t>
                      </a:r>
                      <a:r>
                        <a:rPr lang="en-US" altLang="en-US" sz="2000" dirty="0" err="1"/>
                        <a:t>avium</a:t>
                      </a:r>
                      <a:endParaRPr lang="en-US" altLang="en-US" sz="2000" dirty="0"/>
                    </a:p>
                  </a:txBody>
                  <a:tcPr/>
                </a:tc>
                <a:extLst>
                  <a:ext uri="{0D108BD9-81ED-4DB2-BD59-A6C34878D82A}">
                    <a16:rowId xmlns:a16="http://schemas.microsoft.com/office/drawing/2014/main" val="10003"/>
                  </a:ext>
                </a:extLst>
              </a:tr>
              <a:tr h="370840">
                <a:tc>
                  <a:txBody>
                    <a:bodyPr/>
                    <a:lstStyle/>
                    <a:p>
                      <a:r>
                        <a:rPr lang="en-US" altLang="en-US" sz="2200" dirty="0"/>
                        <a:t>MDI</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Metered-dose inhaler</a:t>
                      </a:r>
                    </a:p>
                  </a:txBody>
                  <a:tcPr/>
                </a:tc>
                <a:extLst>
                  <a:ext uri="{0D108BD9-81ED-4DB2-BD59-A6C34878D82A}">
                    <a16:rowId xmlns:a16="http://schemas.microsoft.com/office/drawing/2014/main" val="10004"/>
                  </a:ext>
                </a:extLst>
              </a:tr>
              <a:tr h="370840">
                <a:tc>
                  <a:txBody>
                    <a:bodyPr/>
                    <a:lstStyle/>
                    <a:p>
                      <a:r>
                        <a:rPr lang="en-US" altLang="en-US" sz="2200" dirty="0"/>
                        <a:t>NSCLC</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Non-small cell lung cancer</a:t>
                      </a:r>
                    </a:p>
                  </a:txBody>
                  <a:tcPr/>
                </a:tc>
                <a:extLst>
                  <a:ext uri="{0D108BD9-81ED-4DB2-BD59-A6C34878D82A}">
                    <a16:rowId xmlns:a16="http://schemas.microsoft.com/office/drawing/2014/main" val="10005"/>
                  </a:ext>
                </a:extLst>
              </a:tr>
              <a:tr h="370840">
                <a:tc>
                  <a:txBody>
                    <a:bodyPr/>
                    <a:lstStyle/>
                    <a:p>
                      <a:r>
                        <a:rPr lang="en-US" altLang="en-US" sz="2200" dirty="0"/>
                        <a:t>O</a:t>
                      </a:r>
                      <a:r>
                        <a:rPr lang="en-US" altLang="en-US" sz="2200" baseline="-25000" dirty="0"/>
                        <a:t>2</a:t>
                      </a:r>
                      <a:endParaRPr lang="en-US" sz="2200" dirty="0"/>
                    </a:p>
                  </a:txBody>
                  <a:tcPr/>
                </a:tc>
                <a:tc>
                  <a:txBody>
                    <a:bodyPr/>
                    <a:lstStyle/>
                    <a:p>
                      <a:r>
                        <a:rPr lang="en-US" altLang="en-US" sz="2000" dirty="0"/>
                        <a:t>Oxygen</a:t>
                      </a:r>
                      <a:endParaRPr lang="en-US" sz="2200" dirty="0"/>
                    </a:p>
                  </a:txBody>
                  <a:tcPr/>
                </a:tc>
                <a:extLst>
                  <a:ext uri="{0D108BD9-81ED-4DB2-BD59-A6C34878D82A}">
                    <a16:rowId xmlns:a16="http://schemas.microsoft.com/office/drawing/2014/main" val="10006"/>
                  </a:ext>
                </a:extLst>
              </a:tr>
              <a:tr h="370840">
                <a:tc>
                  <a:txBody>
                    <a:bodyPr/>
                    <a:lstStyle/>
                    <a:p>
                      <a:r>
                        <a:rPr lang="en-US" altLang="en-US" sz="2200" dirty="0"/>
                        <a:t>OSA</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Obstructive sleep apnea</a:t>
                      </a:r>
                    </a:p>
                  </a:txBody>
                  <a:tcPr/>
                </a:tc>
                <a:extLst>
                  <a:ext uri="{0D108BD9-81ED-4DB2-BD59-A6C34878D82A}">
                    <a16:rowId xmlns:a16="http://schemas.microsoft.com/office/drawing/2014/main" val="10007"/>
                  </a:ext>
                </a:extLst>
              </a:tr>
              <a:tr h="370840">
                <a:tc>
                  <a:txBody>
                    <a:bodyPr/>
                    <a:lstStyle/>
                    <a:p>
                      <a:r>
                        <a:rPr lang="en-US" altLang="en-US" sz="2200" dirty="0"/>
                        <a:t>Pa</a:t>
                      </a:r>
                      <a:r>
                        <a:rPr lang="en-US" altLang="en-US" sz="2200" baseline="30000" dirty="0"/>
                        <a:t>CO2</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Carbon dioxide partial pressure</a:t>
                      </a:r>
                    </a:p>
                  </a:txBody>
                  <a:tcPr/>
                </a:tc>
                <a:extLst>
                  <a:ext uri="{0D108BD9-81ED-4DB2-BD59-A6C34878D82A}">
                    <a16:rowId xmlns:a16="http://schemas.microsoft.com/office/drawing/2014/main" val="10008"/>
                  </a:ext>
                </a:extLst>
              </a:tr>
              <a:tr h="370840">
                <a:tc>
                  <a:txBody>
                    <a:bodyPr/>
                    <a:lstStyle/>
                    <a:p>
                      <a:r>
                        <a:rPr lang="en-US" altLang="en-US" sz="2000" dirty="0"/>
                        <a:t>Pa</a:t>
                      </a:r>
                      <a:r>
                        <a:rPr lang="en-US" altLang="en-US" sz="2000" baseline="30000" dirty="0"/>
                        <a:t>O2</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Oxygen partial pressure</a:t>
                      </a:r>
                    </a:p>
                  </a:txBody>
                  <a:tcPr/>
                </a:tc>
                <a:extLst>
                  <a:ext uri="{0D108BD9-81ED-4DB2-BD59-A6C34878D82A}">
                    <a16:rowId xmlns:a16="http://schemas.microsoft.com/office/drawing/2014/main" val="10009"/>
                  </a:ext>
                </a:extLst>
              </a:tr>
              <a:tr h="370840">
                <a:tc>
                  <a:txBody>
                    <a:bodyPr/>
                    <a:lstStyle/>
                    <a:p>
                      <a:r>
                        <a:rPr lang="en-US" altLang="en-US" sz="2000" dirty="0"/>
                        <a:t>PCP</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Pneumocystis pneumonia</a:t>
                      </a:r>
                    </a:p>
                  </a:txBody>
                  <a:tcPr/>
                </a:tc>
                <a:extLst>
                  <a:ext uri="{0D108BD9-81ED-4DB2-BD59-A6C34878D82A}">
                    <a16:rowId xmlns:a16="http://schemas.microsoft.com/office/drawing/2014/main" val="10010"/>
                  </a:ext>
                </a:extLst>
              </a:tr>
              <a:tr h="370840">
                <a:tc>
                  <a:txBody>
                    <a:bodyPr/>
                    <a:lstStyle/>
                    <a:p>
                      <a:r>
                        <a:rPr lang="en-US" altLang="en-US" sz="2000" dirty="0"/>
                        <a:t>PE</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Pulmonary embolism</a:t>
                      </a: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3574592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4 of 5)</a:t>
            </a:r>
          </a:p>
        </p:txBody>
      </p:sp>
      <p:graphicFrame>
        <p:nvGraphicFramePr>
          <p:cNvPr id="7" name="Content Placeholder 6" descr="Group 4 of 5 Abbreviations with corresponding meanings."/>
          <p:cNvGraphicFramePr>
            <a:graphicFrameLocks noGrp="1"/>
          </p:cNvGraphicFramePr>
          <p:nvPr>
            <p:ph idx="1"/>
            <p:extLst>
              <p:ext uri="{D42A27DB-BD31-4B8C-83A1-F6EECF244321}">
                <p14:modId xmlns:p14="http://schemas.microsoft.com/office/powerpoint/2010/main" val="3421571077"/>
              </p:ext>
            </p:extLst>
          </p:nvPr>
        </p:nvGraphicFramePr>
        <p:xfrm>
          <a:off x="457200" y="1295400"/>
          <a:ext cx="8229600" cy="5059680"/>
        </p:xfrm>
        <a:graphic>
          <a:graphicData uri="http://schemas.openxmlformats.org/drawingml/2006/table">
            <a:tbl>
              <a:tblPr firstRow="1" bandRow="1">
                <a:tableStyleId>{C083E6E3-FA7D-4D7B-A595-EF9225AFEA82}</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200" dirty="0"/>
                        <a:t>PEP</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Positive expiratory pressure</a:t>
                      </a:r>
                      <a:endParaRPr lang="en-US" altLang="en-US" sz="2000" dirty="0">
                        <a:ea typeface="MS PGothic" panose="020B0600070205080204" pitchFamily="34" charset="-128"/>
                      </a:endParaRPr>
                    </a:p>
                  </a:txBody>
                  <a:tcPr/>
                </a:tc>
                <a:extLst>
                  <a:ext uri="{0D108BD9-81ED-4DB2-BD59-A6C34878D82A}">
                    <a16:rowId xmlns:a16="http://schemas.microsoft.com/office/drawing/2014/main" val="10001"/>
                  </a:ext>
                </a:extLst>
              </a:tr>
              <a:tr h="370840">
                <a:tc>
                  <a:txBody>
                    <a:bodyPr/>
                    <a:lstStyle/>
                    <a:p>
                      <a:r>
                        <a:rPr lang="en-US" altLang="en-US" sz="2200" dirty="0"/>
                        <a:t>PEEP</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Positive end-expiratory pressure</a:t>
                      </a:r>
                      <a:endParaRPr lang="en-US" altLang="en-US" sz="2000" dirty="0">
                        <a:ea typeface="MS PGothic" panose="020B0600070205080204" pitchFamily="34" charset="-128"/>
                      </a:endParaRPr>
                    </a:p>
                  </a:txBody>
                  <a:tcPr/>
                </a:tc>
                <a:extLst>
                  <a:ext uri="{0D108BD9-81ED-4DB2-BD59-A6C34878D82A}">
                    <a16:rowId xmlns:a16="http://schemas.microsoft.com/office/drawing/2014/main" val="10002"/>
                  </a:ext>
                </a:extLst>
              </a:tr>
              <a:tr h="370840">
                <a:tc>
                  <a:txBody>
                    <a:bodyPr/>
                    <a:lstStyle/>
                    <a:p>
                      <a:r>
                        <a:rPr lang="en-US" altLang="en-US" sz="2200" dirty="0"/>
                        <a:t>PFTs</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Pulmonary function tests</a:t>
                      </a:r>
                      <a:endParaRPr lang="en-US" altLang="en-US" sz="2000" dirty="0">
                        <a:ea typeface="MS PGothic" panose="020B0600070205080204" pitchFamily="34" charset="-128"/>
                      </a:endParaRPr>
                    </a:p>
                  </a:txBody>
                  <a:tcPr/>
                </a:tc>
                <a:extLst>
                  <a:ext uri="{0D108BD9-81ED-4DB2-BD59-A6C34878D82A}">
                    <a16:rowId xmlns:a16="http://schemas.microsoft.com/office/drawing/2014/main" val="10003"/>
                  </a:ext>
                </a:extLst>
              </a:tr>
              <a:tr h="370840">
                <a:tc>
                  <a:txBody>
                    <a:bodyPr/>
                    <a:lstStyle/>
                    <a:p>
                      <a:r>
                        <a:rPr lang="en-US" altLang="en-US" sz="2200" dirty="0"/>
                        <a:t>PND</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Paroxysmal nocturnal dyspnea</a:t>
                      </a:r>
                      <a:endParaRPr lang="en-US" altLang="en-US" sz="2000" dirty="0">
                        <a:ea typeface="MS PGothic" panose="020B0600070205080204" pitchFamily="34" charset="-128"/>
                      </a:endParaRPr>
                    </a:p>
                  </a:txBody>
                  <a:tcPr/>
                </a:tc>
                <a:extLst>
                  <a:ext uri="{0D108BD9-81ED-4DB2-BD59-A6C34878D82A}">
                    <a16:rowId xmlns:a16="http://schemas.microsoft.com/office/drawing/2014/main" val="10004"/>
                  </a:ext>
                </a:extLst>
              </a:tr>
              <a:tr h="370840">
                <a:tc>
                  <a:txBody>
                    <a:bodyPr/>
                    <a:lstStyle/>
                    <a:p>
                      <a:r>
                        <a:rPr lang="en-US" altLang="en-US" sz="2200" dirty="0"/>
                        <a:t>PPD</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Purified protein derivative</a:t>
                      </a:r>
                      <a:endParaRPr lang="en-US" altLang="en-US" sz="2000" dirty="0">
                        <a:ea typeface="MS PGothic" panose="020B0600070205080204" pitchFamily="34" charset="-128"/>
                      </a:endParaRPr>
                    </a:p>
                  </a:txBody>
                  <a:tcPr/>
                </a:tc>
                <a:extLst>
                  <a:ext uri="{0D108BD9-81ED-4DB2-BD59-A6C34878D82A}">
                    <a16:rowId xmlns:a16="http://schemas.microsoft.com/office/drawing/2014/main" val="10005"/>
                  </a:ext>
                </a:extLst>
              </a:tr>
              <a:tr h="370840">
                <a:tc>
                  <a:txBody>
                    <a:bodyPr/>
                    <a:lstStyle/>
                    <a:p>
                      <a:r>
                        <a:rPr lang="en-US" altLang="en-US" sz="2200" dirty="0"/>
                        <a:t>RDS</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Respiratory distress syndrome</a:t>
                      </a:r>
                      <a:endParaRPr lang="en-US" altLang="en-US" sz="2000" dirty="0">
                        <a:ea typeface="MS PGothic" panose="020B0600070205080204" pitchFamily="34" charset="-128"/>
                      </a:endParaRPr>
                    </a:p>
                  </a:txBody>
                  <a:tcPr/>
                </a:tc>
                <a:extLst>
                  <a:ext uri="{0D108BD9-81ED-4DB2-BD59-A6C34878D82A}">
                    <a16:rowId xmlns:a16="http://schemas.microsoft.com/office/drawing/2014/main" val="10006"/>
                  </a:ext>
                </a:extLst>
              </a:tr>
              <a:tr h="370840">
                <a:tc>
                  <a:txBody>
                    <a:bodyPr/>
                    <a:lstStyle/>
                    <a:p>
                      <a:r>
                        <a:rPr lang="en-US" altLang="en-US" sz="2200" dirty="0"/>
                        <a:t>RLL</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Right lower lobe (of lung)</a:t>
                      </a:r>
                      <a:endParaRPr lang="en-US" altLang="en-US" sz="2000" dirty="0">
                        <a:ea typeface="MS PGothic" panose="020B0600070205080204" pitchFamily="34" charset="-128"/>
                      </a:endParaRPr>
                    </a:p>
                  </a:txBody>
                  <a:tcPr/>
                </a:tc>
                <a:extLst>
                  <a:ext uri="{0D108BD9-81ED-4DB2-BD59-A6C34878D82A}">
                    <a16:rowId xmlns:a16="http://schemas.microsoft.com/office/drawing/2014/main" val="10007"/>
                  </a:ext>
                </a:extLst>
              </a:tr>
              <a:tr h="370840">
                <a:tc>
                  <a:txBody>
                    <a:bodyPr/>
                    <a:lstStyle/>
                    <a:p>
                      <a:r>
                        <a:rPr lang="en-US" altLang="en-US" sz="2200" dirty="0"/>
                        <a:t>RML</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Right middle lobe</a:t>
                      </a:r>
                      <a:endParaRPr lang="en-US" altLang="en-US" sz="2000" dirty="0">
                        <a:ea typeface="MS PGothic" panose="020B0600070205080204" pitchFamily="34" charset="-128"/>
                      </a:endParaRPr>
                    </a:p>
                  </a:txBody>
                  <a:tcPr/>
                </a:tc>
                <a:extLst>
                  <a:ext uri="{0D108BD9-81ED-4DB2-BD59-A6C34878D82A}">
                    <a16:rowId xmlns:a16="http://schemas.microsoft.com/office/drawing/2014/main" val="10008"/>
                  </a:ext>
                </a:extLst>
              </a:tr>
              <a:tr h="370840">
                <a:tc>
                  <a:txBody>
                    <a:bodyPr/>
                    <a:lstStyle/>
                    <a:p>
                      <a:r>
                        <a:rPr lang="en-US" altLang="en-US" sz="2000" dirty="0"/>
                        <a:t>RSV</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Respiratory syncytial virus</a:t>
                      </a:r>
                      <a:endParaRPr lang="en-US" altLang="en-US" sz="2000" dirty="0">
                        <a:ea typeface="MS PGothic" panose="020B0600070205080204" pitchFamily="34" charset="-128"/>
                      </a:endParaRPr>
                    </a:p>
                  </a:txBody>
                  <a:tcPr/>
                </a:tc>
                <a:extLst>
                  <a:ext uri="{0D108BD9-81ED-4DB2-BD59-A6C34878D82A}">
                    <a16:rowId xmlns:a16="http://schemas.microsoft.com/office/drawing/2014/main" val="10009"/>
                  </a:ext>
                </a:extLst>
              </a:tr>
              <a:tr h="370840">
                <a:tc>
                  <a:txBody>
                    <a:bodyPr/>
                    <a:lstStyle/>
                    <a:p>
                      <a:r>
                        <a:rPr lang="en-US" altLang="en-US" sz="2000" dirty="0"/>
                        <a:t>RUL</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Right upper lobe (of lung)</a:t>
                      </a:r>
                      <a:endParaRPr lang="en-US" altLang="en-US" sz="2000" dirty="0">
                        <a:ea typeface="MS PGothic" panose="020B0600070205080204" pitchFamily="34" charset="-128"/>
                      </a:endParaRPr>
                    </a:p>
                  </a:txBody>
                  <a:tcPr/>
                </a:tc>
                <a:extLst>
                  <a:ext uri="{0D108BD9-81ED-4DB2-BD59-A6C34878D82A}">
                    <a16:rowId xmlns:a16="http://schemas.microsoft.com/office/drawing/2014/main" val="10010"/>
                  </a:ext>
                </a:extLst>
              </a:tr>
              <a:tr h="370840">
                <a:tc>
                  <a:txBody>
                    <a:bodyPr/>
                    <a:lstStyle/>
                    <a:p>
                      <a:r>
                        <a:rPr lang="en-US" altLang="en-US" sz="2000" dirty="0"/>
                        <a:t>RV</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Residual volume</a:t>
                      </a:r>
                      <a:endParaRPr lang="en-US" altLang="en-US" sz="2000" dirty="0">
                        <a:ea typeface="MS PGothic" panose="020B0600070205080204" pitchFamily="34" charset="-128"/>
                      </a:endParaRP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7237393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5 of 5)</a:t>
            </a:r>
          </a:p>
        </p:txBody>
      </p:sp>
      <p:graphicFrame>
        <p:nvGraphicFramePr>
          <p:cNvPr id="7" name="Content Placeholder 6" descr="Group 5 of 5 Abbreviations with corresponding meanings."/>
          <p:cNvGraphicFramePr>
            <a:graphicFrameLocks noGrp="1"/>
          </p:cNvGraphicFramePr>
          <p:nvPr>
            <p:ph idx="1"/>
            <p:extLst>
              <p:ext uri="{D42A27DB-BD31-4B8C-83A1-F6EECF244321}">
                <p14:modId xmlns:p14="http://schemas.microsoft.com/office/powerpoint/2010/main" val="2381634358"/>
              </p:ext>
            </p:extLst>
          </p:nvPr>
        </p:nvGraphicFramePr>
        <p:xfrm>
          <a:off x="457200" y="1295400"/>
          <a:ext cx="8229600" cy="5029200"/>
        </p:xfrm>
        <a:graphic>
          <a:graphicData uri="http://schemas.openxmlformats.org/drawingml/2006/table">
            <a:tbl>
              <a:tblPr firstRow="1" bandRow="1">
                <a:tableStyleId>{C083E6E3-FA7D-4D7B-A595-EF9225AFEA82}</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SABA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Short-acting beta agonist</a:t>
                      </a:r>
                    </a:p>
                  </a:txBody>
                  <a:tcPr/>
                </a:tc>
                <a:extLst>
                  <a:ext uri="{0D108BD9-81ED-4DB2-BD59-A6C34878D82A}">
                    <a16:rowId xmlns:a16="http://schemas.microsoft.com/office/drawing/2014/main" val="10001"/>
                  </a:ext>
                </a:extLst>
              </a:tr>
              <a:tr h="370840">
                <a:tc>
                  <a:txBody>
                    <a:bodyPr/>
                    <a:lstStyle/>
                    <a:p>
                      <a:r>
                        <a:rPr lang="en-US" altLang="en-US" sz="2400" dirty="0"/>
                        <a:t>SCLC</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Small cell lung cancer</a:t>
                      </a:r>
                    </a:p>
                  </a:txBody>
                  <a:tcPr/>
                </a:tc>
                <a:extLst>
                  <a:ext uri="{0D108BD9-81ED-4DB2-BD59-A6C34878D82A}">
                    <a16:rowId xmlns:a16="http://schemas.microsoft.com/office/drawing/2014/main" val="10002"/>
                  </a:ext>
                </a:extLst>
              </a:tr>
              <a:tr h="370840">
                <a:tc>
                  <a:txBody>
                    <a:bodyPr/>
                    <a:lstStyle/>
                    <a:p>
                      <a:r>
                        <a:rPr lang="en-US" altLang="en-US" sz="2400" dirty="0"/>
                        <a:t>SOB</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Shortness of breath</a:t>
                      </a:r>
                    </a:p>
                  </a:txBody>
                  <a:tcPr/>
                </a:tc>
                <a:extLst>
                  <a:ext uri="{0D108BD9-81ED-4DB2-BD59-A6C34878D82A}">
                    <a16:rowId xmlns:a16="http://schemas.microsoft.com/office/drawing/2014/main" val="10003"/>
                  </a:ext>
                </a:extLst>
              </a:tr>
              <a:tr h="370840">
                <a:tc>
                  <a:txBody>
                    <a:bodyPr/>
                    <a:lstStyle/>
                    <a:p>
                      <a:r>
                        <a:rPr lang="en-US" altLang="en-US" sz="2400" dirty="0"/>
                        <a:t>TB</a:t>
                      </a:r>
                      <a:endParaRPr lang="en-US" sz="2400" dirty="0"/>
                    </a:p>
                  </a:txBody>
                  <a:tcPr/>
                </a:tc>
                <a:tc>
                  <a:txBody>
                    <a:bodyPr/>
                    <a:lstStyle/>
                    <a:p>
                      <a:r>
                        <a:rPr lang="en-US" altLang="en-US" sz="2400" dirty="0"/>
                        <a:t>Tuberculosis</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a:t>TLC</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Total lung capacity</a:t>
                      </a:r>
                    </a:p>
                  </a:txBody>
                  <a:tcPr/>
                </a:tc>
                <a:extLst>
                  <a:ext uri="{0D108BD9-81ED-4DB2-BD59-A6C34878D82A}">
                    <a16:rowId xmlns:a16="http://schemas.microsoft.com/office/drawing/2014/main" val="10005"/>
                  </a:ext>
                </a:extLst>
              </a:tr>
              <a:tr h="370840">
                <a:tc>
                  <a:txBody>
                    <a:bodyPr/>
                    <a:lstStyle/>
                    <a:p>
                      <a:r>
                        <a:rPr lang="en-US" altLang="en-US" sz="2400" dirty="0"/>
                        <a:t>URI</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Upper respiratory infection</a:t>
                      </a:r>
                    </a:p>
                  </a:txBody>
                  <a:tcPr/>
                </a:tc>
                <a:extLst>
                  <a:ext uri="{0D108BD9-81ED-4DB2-BD59-A6C34878D82A}">
                    <a16:rowId xmlns:a16="http://schemas.microsoft.com/office/drawing/2014/main" val="10006"/>
                  </a:ext>
                </a:extLst>
              </a:tr>
              <a:tr h="370840">
                <a:tc>
                  <a:txBody>
                    <a:bodyPr/>
                    <a:lstStyle/>
                    <a:p>
                      <a:r>
                        <a:rPr lang="en-US" altLang="en-US" sz="2400" dirty="0"/>
                        <a:t>V</a:t>
                      </a:r>
                      <a:r>
                        <a:rPr lang="en-US" altLang="en-US" sz="2400" baseline="-25000" dirty="0"/>
                        <a:t>T</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Tidal volume</a:t>
                      </a:r>
                    </a:p>
                  </a:txBody>
                  <a:tcPr/>
                </a:tc>
                <a:extLst>
                  <a:ext uri="{0D108BD9-81ED-4DB2-BD59-A6C34878D82A}">
                    <a16:rowId xmlns:a16="http://schemas.microsoft.com/office/drawing/2014/main" val="10007"/>
                  </a:ext>
                </a:extLst>
              </a:tr>
              <a:tr h="370840">
                <a:tc>
                  <a:txBody>
                    <a:bodyPr/>
                    <a:lstStyle/>
                    <a:p>
                      <a:r>
                        <a:rPr lang="en-US" altLang="en-US" sz="2400" dirty="0"/>
                        <a:t>VATS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Video-assisted thoracic surgery </a:t>
                      </a:r>
                    </a:p>
                  </a:txBody>
                  <a:tcPr/>
                </a:tc>
                <a:extLst>
                  <a:ext uri="{0D108BD9-81ED-4DB2-BD59-A6C34878D82A}">
                    <a16:rowId xmlns:a16="http://schemas.microsoft.com/office/drawing/2014/main" val="10008"/>
                  </a:ext>
                </a:extLst>
              </a:tr>
              <a:tr h="370840">
                <a:tc>
                  <a:txBody>
                    <a:bodyPr/>
                    <a:lstStyle/>
                    <a:p>
                      <a:r>
                        <a:rPr lang="en-US" altLang="en-US" sz="2400" dirty="0"/>
                        <a:t>VC</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Vital capacity</a:t>
                      </a:r>
                    </a:p>
                  </a:txBody>
                  <a:tcPr/>
                </a:tc>
                <a:extLst>
                  <a:ext uri="{0D108BD9-81ED-4DB2-BD59-A6C34878D82A}">
                    <a16:rowId xmlns:a16="http://schemas.microsoft.com/office/drawing/2014/main" val="1000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V/Q scan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Ventilation-perfusion scan</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925245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 </a:t>
            </a:r>
            <a:r>
              <a:rPr lang="en-US" sz="4000" dirty="0"/>
              <a:t>(Slide 1 of 10)</a:t>
            </a:r>
          </a:p>
        </p:txBody>
      </p:sp>
      <p:graphicFrame>
        <p:nvGraphicFramePr>
          <p:cNvPr id="7" name="Content Placeholder 6" descr="Group 1 of 5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4097864804"/>
              </p:ext>
            </p:extLst>
          </p:nvPr>
        </p:nvGraphicFramePr>
        <p:xfrm>
          <a:off x="3086100" y="1981200"/>
          <a:ext cx="2971800" cy="3200400"/>
        </p:xfrm>
        <a:graphic>
          <a:graphicData uri="http://schemas.openxmlformats.org/drawingml/2006/table">
            <a:tbl>
              <a:tblPr firstRow="1" bandRow="1">
                <a:tableStyleId>{21E4AEA4-8DFA-4A89-87EB-49C32662AFE0}</a:tableStyleId>
              </a:tblPr>
              <a:tblGrid>
                <a:gridCol w="29718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a:t>adenoid/o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alveol</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bronch</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bronchi/o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bronchiol</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capn</a:t>
                      </a:r>
                      <a:r>
                        <a:rPr lang="en-US" alt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408768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 </a:t>
            </a:r>
            <a:r>
              <a:rPr lang="en-US" sz="4000" dirty="0"/>
              <a:t>(Slide 2 of 10)</a:t>
            </a:r>
          </a:p>
        </p:txBody>
      </p:sp>
      <p:graphicFrame>
        <p:nvGraphicFramePr>
          <p:cNvPr id="7" name="Content Placeholder 6" descr="Group 1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3737031073"/>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971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adenoid/o</a:t>
                      </a:r>
                      <a:endParaRPr lang="en-US" sz="2400" dirty="0"/>
                    </a:p>
                  </a:txBody>
                  <a:tcPr/>
                </a:tc>
                <a:tc>
                  <a:txBody>
                    <a:bodyPr/>
                    <a:lstStyle/>
                    <a:p>
                      <a:r>
                        <a:rPr lang="en-US" altLang="en-US" sz="2400" dirty="0"/>
                        <a:t>adenoids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alveol</a:t>
                      </a:r>
                      <a:r>
                        <a:rPr lang="en-US" altLang="en-US" sz="2400" b="1" dirty="0"/>
                        <a:t>/o</a:t>
                      </a:r>
                      <a:endParaRPr lang="en-US" sz="2400" dirty="0"/>
                    </a:p>
                  </a:txBody>
                  <a:tcPr/>
                </a:tc>
                <a:tc>
                  <a:txBody>
                    <a:bodyPr/>
                    <a:lstStyle/>
                    <a:p>
                      <a:r>
                        <a:rPr lang="en-US" altLang="en-US" sz="2400" dirty="0"/>
                        <a:t>alveolus; air sac; small sac</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bronch</a:t>
                      </a:r>
                      <a:r>
                        <a:rPr lang="en-US" altLang="en-US" sz="2400" b="1" dirty="0"/>
                        <a:t>/o</a:t>
                      </a:r>
                      <a:endParaRPr lang="en-US" sz="2400" dirty="0"/>
                    </a:p>
                  </a:txBody>
                  <a:tcPr/>
                </a:tc>
                <a:tc>
                  <a:txBody>
                    <a:bodyPr/>
                    <a:lstStyle/>
                    <a:p>
                      <a:r>
                        <a:rPr lang="en-US" altLang="en-US" sz="2400" dirty="0"/>
                        <a:t>bronchial tube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bronchi/o</a:t>
                      </a:r>
                      <a:endParaRPr lang="en-US" sz="2400" dirty="0"/>
                    </a:p>
                  </a:txBody>
                  <a:tcPr/>
                </a:tc>
                <a:tc>
                  <a:txBody>
                    <a:bodyPr/>
                    <a:lstStyle/>
                    <a:p>
                      <a:r>
                        <a:rPr lang="en-US" altLang="en-US" sz="2400" dirty="0"/>
                        <a:t>bronchial tube</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bronchiol</a:t>
                      </a:r>
                      <a:r>
                        <a:rPr lang="en-US" altLang="en-US" sz="2400" b="1" dirty="0"/>
                        <a:t>/o</a:t>
                      </a:r>
                      <a:endParaRPr lang="en-US" sz="2400" dirty="0"/>
                    </a:p>
                  </a:txBody>
                  <a:tcPr/>
                </a:tc>
                <a:tc>
                  <a:txBody>
                    <a:bodyPr/>
                    <a:lstStyle/>
                    <a:p>
                      <a:r>
                        <a:rPr lang="en-US" altLang="en-US" sz="2400" dirty="0"/>
                        <a:t>bronchiole</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capn</a:t>
                      </a:r>
                      <a:r>
                        <a:rPr lang="en-US" altLang="en-US" sz="2400" b="1" dirty="0"/>
                        <a:t>/o</a:t>
                      </a:r>
                      <a:endParaRPr lang="en-US" sz="2400" dirty="0"/>
                    </a:p>
                  </a:txBody>
                  <a:tcPr/>
                </a:tc>
                <a:tc>
                  <a:txBody>
                    <a:bodyPr/>
                    <a:lstStyle/>
                    <a:p>
                      <a:r>
                        <a:rPr lang="en-US" altLang="en-US" sz="2400" dirty="0"/>
                        <a:t>carbon dioxide</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0769161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 </a:t>
            </a:r>
            <a:r>
              <a:rPr lang="en-US" sz="4000" dirty="0"/>
              <a:t>(Slide 3 of 10)</a:t>
            </a:r>
          </a:p>
        </p:txBody>
      </p:sp>
      <p:graphicFrame>
        <p:nvGraphicFramePr>
          <p:cNvPr id="7" name="Content Placeholder 6" descr="Group 2 of 5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879560347"/>
              </p:ext>
            </p:extLst>
          </p:nvPr>
        </p:nvGraphicFramePr>
        <p:xfrm>
          <a:off x="3276600" y="2057400"/>
          <a:ext cx="2971800" cy="3200400"/>
        </p:xfrm>
        <a:graphic>
          <a:graphicData uri="http://schemas.openxmlformats.org/drawingml/2006/table">
            <a:tbl>
              <a:tblPr firstRow="1" bandRow="1">
                <a:tableStyleId>{21E4AEA4-8DFA-4A89-87EB-49C32662AFE0}</a:tableStyleId>
              </a:tblPr>
              <a:tblGrid>
                <a:gridCol w="29718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coni</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cyan/o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epiglott</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laryng</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lob/o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mediastin</a:t>
                      </a:r>
                      <a:r>
                        <a:rPr lang="en-US" alt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146399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 </a:t>
            </a:r>
            <a:r>
              <a:rPr lang="en-US" sz="4000" dirty="0"/>
              <a:t>(Slide 4 of 10)</a:t>
            </a:r>
          </a:p>
        </p:txBody>
      </p:sp>
      <p:graphicFrame>
        <p:nvGraphicFramePr>
          <p:cNvPr id="7" name="Content Placeholder 6" descr="Group 2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3633325506"/>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971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coni</a:t>
                      </a:r>
                      <a:r>
                        <a:rPr lang="en-US" altLang="en-US" sz="2400" b="1" dirty="0"/>
                        <a:t>/o</a:t>
                      </a:r>
                      <a:endParaRPr lang="en-US" sz="2400" dirty="0"/>
                    </a:p>
                  </a:txBody>
                  <a:tcPr/>
                </a:tc>
                <a:tc>
                  <a:txBody>
                    <a:bodyPr/>
                    <a:lstStyle/>
                    <a:p>
                      <a:r>
                        <a:rPr lang="en-US" altLang="en-US" sz="2400" dirty="0"/>
                        <a:t>dust</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cyan/o</a:t>
                      </a:r>
                      <a:endParaRPr lang="en-US" sz="2400" dirty="0"/>
                    </a:p>
                  </a:txBody>
                  <a:tcPr/>
                </a:tc>
                <a:tc>
                  <a:txBody>
                    <a:bodyPr/>
                    <a:lstStyle/>
                    <a:p>
                      <a:r>
                        <a:rPr lang="en-US" altLang="en-US" sz="2400" dirty="0"/>
                        <a:t>blue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epiglott</a:t>
                      </a:r>
                      <a:r>
                        <a:rPr lang="en-US" altLang="en-US" sz="2400" b="1" dirty="0"/>
                        <a:t>/o</a:t>
                      </a:r>
                      <a:endParaRPr lang="en-US" sz="2400" dirty="0"/>
                    </a:p>
                  </a:txBody>
                  <a:tcPr/>
                </a:tc>
                <a:tc>
                  <a:txBody>
                    <a:bodyPr/>
                    <a:lstStyle/>
                    <a:p>
                      <a:r>
                        <a:rPr lang="en-US" altLang="en-US" sz="2400" dirty="0"/>
                        <a:t>epiglottis</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laryng</a:t>
                      </a:r>
                      <a:r>
                        <a:rPr lang="en-US" altLang="en-US" sz="2400" b="1"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larynx (voice box)</a:t>
                      </a:r>
                    </a:p>
                  </a:txBody>
                  <a:tcPr/>
                </a:tc>
                <a:extLst>
                  <a:ext uri="{0D108BD9-81ED-4DB2-BD59-A6C34878D82A}">
                    <a16:rowId xmlns:a16="http://schemas.microsoft.com/office/drawing/2014/main" val="10004"/>
                  </a:ext>
                </a:extLst>
              </a:tr>
              <a:tr h="370840">
                <a:tc>
                  <a:txBody>
                    <a:bodyPr/>
                    <a:lstStyle/>
                    <a:p>
                      <a:r>
                        <a:rPr lang="en-US" altLang="en-US" sz="2400" b="1" dirty="0"/>
                        <a:t>lob/o</a:t>
                      </a:r>
                      <a:endParaRPr lang="en-US" sz="2400" dirty="0"/>
                    </a:p>
                  </a:txBody>
                  <a:tcPr/>
                </a:tc>
                <a:tc>
                  <a:txBody>
                    <a:bodyPr/>
                    <a:lstStyle/>
                    <a:p>
                      <a:r>
                        <a:rPr lang="en-US" altLang="en-US" sz="2400" dirty="0"/>
                        <a:t>lobe</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mediastin</a:t>
                      </a:r>
                      <a:r>
                        <a:rPr lang="en-US" altLang="en-US" sz="2400" b="1" dirty="0"/>
                        <a:t>/o</a:t>
                      </a:r>
                      <a:endParaRPr lang="en-US" sz="2400" dirty="0"/>
                    </a:p>
                  </a:txBody>
                  <a:tcPr/>
                </a:tc>
                <a:tc>
                  <a:txBody>
                    <a:bodyPr/>
                    <a:lstStyle/>
                    <a:p>
                      <a:r>
                        <a:rPr lang="en-US" altLang="en-US" sz="2400" dirty="0"/>
                        <a:t>mediastinum</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366950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 </a:t>
            </a:r>
            <a:r>
              <a:rPr lang="en-US" sz="4000" dirty="0"/>
              <a:t>(Slide 5 of 10)</a:t>
            </a:r>
          </a:p>
        </p:txBody>
      </p:sp>
      <p:graphicFrame>
        <p:nvGraphicFramePr>
          <p:cNvPr id="7" name="Content Placeholder 6" descr="Group 3 of 5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2612221635"/>
              </p:ext>
            </p:extLst>
          </p:nvPr>
        </p:nvGraphicFramePr>
        <p:xfrm>
          <a:off x="3086100" y="2209800"/>
          <a:ext cx="2971800" cy="3200400"/>
        </p:xfrm>
        <a:graphic>
          <a:graphicData uri="http://schemas.openxmlformats.org/drawingml/2006/table">
            <a:tbl>
              <a:tblPr firstRow="1" bandRow="1">
                <a:tableStyleId>{21E4AEA4-8DFA-4A89-87EB-49C32662AFE0}</a:tableStyleId>
              </a:tblPr>
              <a:tblGrid>
                <a:gridCol w="29718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nas</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orth</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ox/o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pector</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pharyng</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phon</a:t>
                      </a:r>
                      <a:r>
                        <a:rPr lang="en-US" alt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596953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 </a:t>
            </a:r>
            <a:r>
              <a:rPr lang="en-US" sz="4000" dirty="0"/>
              <a:t>(Slide 6 of 10)</a:t>
            </a:r>
          </a:p>
        </p:txBody>
      </p:sp>
      <p:graphicFrame>
        <p:nvGraphicFramePr>
          <p:cNvPr id="7" name="Content Placeholder 6" descr="Group 3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2506310953"/>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971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nas</a:t>
                      </a:r>
                      <a:r>
                        <a:rPr lang="en-US" altLang="en-US" sz="2400" b="1" dirty="0"/>
                        <a:t>/o</a:t>
                      </a:r>
                      <a:endParaRPr lang="en-US" sz="2400" dirty="0"/>
                    </a:p>
                  </a:txBody>
                  <a:tcPr/>
                </a:tc>
                <a:tc>
                  <a:txBody>
                    <a:bodyPr/>
                    <a:lstStyle/>
                    <a:p>
                      <a:r>
                        <a:rPr lang="en-US" altLang="en-US" sz="2400" dirty="0"/>
                        <a:t>nose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orth</a:t>
                      </a:r>
                      <a:r>
                        <a:rPr lang="en-US" altLang="en-US" sz="2400" b="1" dirty="0"/>
                        <a:t>/o</a:t>
                      </a:r>
                      <a:endParaRPr lang="en-US" sz="2400" dirty="0"/>
                    </a:p>
                  </a:txBody>
                  <a:tcPr/>
                </a:tc>
                <a:tc>
                  <a:txBody>
                    <a:bodyPr/>
                    <a:lstStyle/>
                    <a:p>
                      <a:r>
                        <a:rPr lang="en-US" altLang="en-US" sz="2400" dirty="0"/>
                        <a:t>straight</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ox/o</a:t>
                      </a:r>
                      <a:endParaRPr lang="en-US" sz="2400" dirty="0"/>
                    </a:p>
                  </a:txBody>
                  <a:tcPr/>
                </a:tc>
                <a:tc>
                  <a:txBody>
                    <a:bodyPr/>
                    <a:lstStyle/>
                    <a:p>
                      <a:r>
                        <a:rPr lang="en-US" altLang="en-US" sz="2400" dirty="0"/>
                        <a:t>oxygen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pector</a:t>
                      </a:r>
                      <a:r>
                        <a:rPr lang="en-US" altLang="en-US" sz="2400" b="1" dirty="0"/>
                        <a:t>/o</a:t>
                      </a:r>
                      <a:endParaRPr lang="en-US" sz="2400" dirty="0"/>
                    </a:p>
                  </a:txBody>
                  <a:tcPr/>
                </a:tc>
                <a:tc>
                  <a:txBody>
                    <a:bodyPr/>
                    <a:lstStyle/>
                    <a:p>
                      <a:r>
                        <a:rPr lang="en-US" altLang="en-US" sz="2400" dirty="0"/>
                        <a:t>chest</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pharyng</a:t>
                      </a:r>
                      <a:r>
                        <a:rPr lang="en-US" altLang="en-US" sz="2400" b="1"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throat (pharynx)</a:t>
                      </a:r>
                    </a:p>
                  </a:txBody>
                  <a:tcPr/>
                </a:tc>
                <a:extLst>
                  <a:ext uri="{0D108BD9-81ED-4DB2-BD59-A6C34878D82A}">
                    <a16:rowId xmlns:a16="http://schemas.microsoft.com/office/drawing/2014/main" val="10005"/>
                  </a:ext>
                </a:extLst>
              </a:tr>
              <a:tr h="370840">
                <a:tc>
                  <a:txBody>
                    <a:bodyPr/>
                    <a:lstStyle/>
                    <a:p>
                      <a:r>
                        <a:rPr lang="en-US" altLang="en-US" sz="2400" b="1" dirty="0" err="1"/>
                        <a:t>phon</a:t>
                      </a:r>
                      <a:r>
                        <a:rPr lang="en-US" altLang="en-US" sz="2400" b="1" dirty="0"/>
                        <a:t>/o</a:t>
                      </a:r>
                      <a:endParaRPr lang="en-US" sz="2400" dirty="0"/>
                    </a:p>
                  </a:txBody>
                  <a:tcPr/>
                </a:tc>
                <a:tc>
                  <a:txBody>
                    <a:bodyPr/>
                    <a:lstStyle/>
                    <a:p>
                      <a:r>
                        <a:rPr lang="en-US" altLang="en-US" sz="2400" dirty="0"/>
                        <a:t>voice; sound</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6563970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 </a:t>
            </a:r>
            <a:r>
              <a:rPr lang="en-US" sz="4000" dirty="0"/>
              <a:t>(Slide 7 of 10)</a:t>
            </a:r>
          </a:p>
        </p:txBody>
      </p:sp>
      <p:graphicFrame>
        <p:nvGraphicFramePr>
          <p:cNvPr id="7" name="Content Placeholder 6" descr="Group 1 of 5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3160866691"/>
              </p:ext>
            </p:extLst>
          </p:nvPr>
        </p:nvGraphicFramePr>
        <p:xfrm>
          <a:off x="3086100" y="2133600"/>
          <a:ext cx="2971800" cy="3200400"/>
        </p:xfrm>
        <a:graphic>
          <a:graphicData uri="http://schemas.openxmlformats.org/drawingml/2006/table">
            <a:tbl>
              <a:tblPr firstRow="1" bandRow="1">
                <a:tableStyleId>{21E4AEA4-8DFA-4A89-87EB-49C32662AFE0}</a:tableStyleId>
              </a:tblPr>
              <a:tblGrid>
                <a:gridCol w="29718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phren</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pleur</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pneum</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pneumon</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pulmon</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rhin</a:t>
                      </a:r>
                      <a:r>
                        <a:rPr lang="en-US" alt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834047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 </a:t>
            </a:r>
            <a:r>
              <a:rPr lang="en-US" sz="4000" dirty="0"/>
              <a:t>(Slide 8 of 10)</a:t>
            </a:r>
          </a:p>
        </p:txBody>
      </p:sp>
      <p:graphicFrame>
        <p:nvGraphicFramePr>
          <p:cNvPr id="7" name="Content Placeholder 6" descr="Group 4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958889968"/>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971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phren</a:t>
                      </a:r>
                      <a:r>
                        <a:rPr lang="en-US" altLang="en-US" sz="2400" b="1" dirty="0"/>
                        <a:t>/o</a:t>
                      </a:r>
                      <a:endParaRPr lang="en-US" sz="2400" dirty="0"/>
                    </a:p>
                  </a:txBody>
                  <a:tcPr/>
                </a:tc>
                <a:tc>
                  <a:txBody>
                    <a:bodyPr/>
                    <a:lstStyle/>
                    <a:p>
                      <a:r>
                        <a:rPr lang="en-US" altLang="en-US" sz="2400" dirty="0"/>
                        <a:t>diaphragm; mind</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pleur</a:t>
                      </a:r>
                      <a:r>
                        <a:rPr lang="en-US" altLang="en-US" sz="2400" b="1" dirty="0"/>
                        <a:t>/o</a:t>
                      </a:r>
                      <a:endParaRPr lang="en-US" sz="2400" dirty="0"/>
                    </a:p>
                  </a:txBody>
                  <a:tcPr/>
                </a:tc>
                <a:tc>
                  <a:txBody>
                    <a:bodyPr/>
                    <a:lstStyle/>
                    <a:p>
                      <a:r>
                        <a:rPr lang="en-US" altLang="en-US" sz="2400" dirty="0"/>
                        <a:t>pleura</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pneum</a:t>
                      </a:r>
                      <a:r>
                        <a:rPr lang="en-US" altLang="en-US" sz="2400" b="1" dirty="0"/>
                        <a:t>/o</a:t>
                      </a:r>
                      <a:endParaRPr lang="en-US" sz="2400" dirty="0"/>
                    </a:p>
                  </a:txBody>
                  <a:tcPr/>
                </a:tc>
                <a:tc>
                  <a:txBody>
                    <a:bodyPr/>
                    <a:lstStyle/>
                    <a:p>
                      <a:r>
                        <a:rPr lang="en-US" altLang="en-US" sz="2400" dirty="0"/>
                        <a:t>lung; air; gas</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pneumon</a:t>
                      </a:r>
                      <a:r>
                        <a:rPr lang="en-US" altLang="en-US" sz="2400" b="1" dirty="0"/>
                        <a:t>/o</a:t>
                      </a:r>
                      <a:endParaRPr lang="en-US" sz="2400" dirty="0"/>
                    </a:p>
                  </a:txBody>
                  <a:tcPr/>
                </a:tc>
                <a:tc>
                  <a:txBody>
                    <a:bodyPr/>
                    <a:lstStyle/>
                    <a:p>
                      <a:r>
                        <a:rPr lang="en-US" altLang="en-US" sz="2400" dirty="0"/>
                        <a:t>lung; air; gas</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pulmon</a:t>
                      </a:r>
                      <a:r>
                        <a:rPr lang="en-US" altLang="en-US" sz="2400" b="1" dirty="0"/>
                        <a:t>/o</a:t>
                      </a:r>
                      <a:endParaRPr lang="en-US" sz="2400" dirty="0"/>
                    </a:p>
                  </a:txBody>
                  <a:tcPr/>
                </a:tc>
                <a:tc>
                  <a:txBody>
                    <a:bodyPr/>
                    <a:lstStyle/>
                    <a:p>
                      <a:r>
                        <a:rPr lang="en-US" altLang="en-US" sz="2400" dirty="0"/>
                        <a:t>lung</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rhin</a:t>
                      </a:r>
                      <a:r>
                        <a:rPr lang="en-US" altLang="en-US" sz="2400" b="1" dirty="0"/>
                        <a:t>/o</a:t>
                      </a:r>
                      <a:endParaRPr lang="en-US" sz="2400" dirty="0"/>
                    </a:p>
                  </a:txBody>
                  <a:tcPr/>
                </a:tc>
                <a:tc>
                  <a:txBody>
                    <a:bodyPr/>
                    <a:lstStyle/>
                    <a:p>
                      <a:r>
                        <a:rPr lang="en-US" altLang="en-US" sz="2400" dirty="0"/>
                        <a:t>nose</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120251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 </a:t>
            </a:r>
            <a:r>
              <a:rPr lang="en-US" sz="4000" dirty="0"/>
              <a:t>(Slide 9 of 10)</a:t>
            </a:r>
          </a:p>
        </p:txBody>
      </p:sp>
      <p:graphicFrame>
        <p:nvGraphicFramePr>
          <p:cNvPr id="7" name="Content Placeholder 6" descr="Group 5 of 5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22379295"/>
              </p:ext>
            </p:extLst>
          </p:nvPr>
        </p:nvGraphicFramePr>
        <p:xfrm>
          <a:off x="3086100" y="2133600"/>
          <a:ext cx="2971800" cy="3200400"/>
        </p:xfrm>
        <a:graphic>
          <a:graphicData uri="http://schemas.openxmlformats.org/drawingml/2006/table">
            <a:tbl>
              <a:tblPr firstRow="1" bandRow="1">
                <a:tableStyleId>{21E4AEA4-8DFA-4A89-87EB-49C32662AFE0}</a:tableStyleId>
              </a:tblPr>
              <a:tblGrid>
                <a:gridCol w="29718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a:t>sinus/o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spir</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tel</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thorac</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tonsill</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trache</a:t>
                      </a:r>
                      <a:r>
                        <a:rPr lang="en-US" alt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944208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 </a:t>
            </a:r>
            <a:r>
              <a:rPr lang="en-US" sz="4000" dirty="0"/>
              <a:t>(Slide 10 of 10)</a:t>
            </a:r>
          </a:p>
        </p:txBody>
      </p:sp>
      <p:graphicFrame>
        <p:nvGraphicFramePr>
          <p:cNvPr id="7" name="Content Placeholder 6" descr="Group 5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450592431"/>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2971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sinus/o</a:t>
                      </a:r>
                      <a:endParaRPr lang="en-US" sz="2400" dirty="0"/>
                    </a:p>
                  </a:txBody>
                  <a:tcPr/>
                </a:tc>
                <a:tc>
                  <a:txBody>
                    <a:bodyPr/>
                    <a:lstStyle/>
                    <a:p>
                      <a:r>
                        <a:rPr lang="en-US" altLang="en-US" sz="2400" dirty="0"/>
                        <a:t>sinus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spir</a:t>
                      </a:r>
                      <a:r>
                        <a:rPr lang="en-US" altLang="en-US" sz="2400" b="1" dirty="0"/>
                        <a:t>/o</a:t>
                      </a:r>
                      <a:endParaRPr lang="en-US" sz="2400" dirty="0"/>
                    </a:p>
                  </a:txBody>
                  <a:tcPr/>
                </a:tc>
                <a:tc>
                  <a:txBody>
                    <a:bodyPr/>
                    <a:lstStyle/>
                    <a:p>
                      <a:r>
                        <a:rPr lang="en-US" altLang="en-US" sz="2400" dirty="0"/>
                        <a:t>to breathe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tel</a:t>
                      </a:r>
                      <a:r>
                        <a:rPr lang="en-US" altLang="en-US" sz="2400" b="1" dirty="0"/>
                        <a:t>/o</a:t>
                      </a:r>
                      <a:endParaRPr lang="en-US" sz="2400" dirty="0"/>
                    </a:p>
                  </a:txBody>
                  <a:tcPr/>
                </a:tc>
                <a:tc>
                  <a:txBody>
                    <a:bodyPr/>
                    <a:lstStyle/>
                    <a:p>
                      <a:r>
                        <a:rPr lang="en-US" altLang="en-US" sz="2400" dirty="0"/>
                        <a:t>complete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thorac</a:t>
                      </a:r>
                      <a:r>
                        <a:rPr lang="en-US" altLang="en-US" sz="2400" b="1" dirty="0"/>
                        <a:t>/o</a:t>
                      </a:r>
                      <a:endParaRPr lang="en-US" sz="2400" dirty="0"/>
                    </a:p>
                  </a:txBody>
                  <a:tcPr/>
                </a:tc>
                <a:tc>
                  <a:txBody>
                    <a:bodyPr/>
                    <a:lstStyle/>
                    <a:p>
                      <a:r>
                        <a:rPr lang="en-US" altLang="en-US" sz="2400" dirty="0"/>
                        <a:t>chest</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tonsill</a:t>
                      </a:r>
                      <a:r>
                        <a:rPr lang="en-US" altLang="en-US" sz="2400" b="1" dirty="0"/>
                        <a:t>/o</a:t>
                      </a:r>
                      <a:endParaRPr lang="en-US" sz="2400" dirty="0"/>
                    </a:p>
                  </a:txBody>
                  <a:tcPr/>
                </a:tc>
                <a:tc>
                  <a:txBody>
                    <a:bodyPr/>
                    <a:lstStyle/>
                    <a:p>
                      <a:r>
                        <a:rPr lang="en-US" altLang="en-US" sz="2400" dirty="0"/>
                        <a:t>tonsil</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trache</a:t>
                      </a:r>
                      <a:r>
                        <a:rPr lang="en-US" altLang="en-US" sz="2400" b="1"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trachea (windpipe)</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255755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Suffixes </a:t>
            </a:r>
            <a:r>
              <a:rPr lang="en-US" sz="4000" dirty="0"/>
              <a:t>(Slide 1 of 2)</a:t>
            </a:r>
          </a:p>
        </p:txBody>
      </p:sp>
      <p:graphicFrame>
        <p:nvGraphicFramePr>
          <p:cNvPr id="7" name="Content Placeholder 6" descr="Liar of suffixes from the Review Sheet of the text.  The following slide lists these same suffixes with corresponding meanings."/>
          <p:cNvGraphicFramePr>
            <a:graphicFrameLocks noGrp="1"/>
          </p:cNvGraphicFramePr>
          <p:nvPr>
            <p:ph idx="1"/>
            <p:extLst>
              <p:ext uri="{D42A27DB-BD31-4B8C-83A1-F6EECF244321}">
                <p14:modId xmlns:p14="http://schemas.microsoft.com/office/powerpoint/2010/main" val="1097136084"/>
              </p:ext>
            </p:extLst>
          </p:nvPr>
        </p:nvGraphicFramePr>
        <p:xfrm>
          <a:off x="3657600" y="2057400"/>
          <a:ext cx="1828800" cy="3200400"/>
        </p:xfrm>
        <a:graphic>
          <a:graphicData uri="http://schemas.openxmlformats.org/drawingml/2006/table">
            <a:tbl>
              <a:tblPr firstRow="1" bandRow="1">
                <a:tableStyleId>{21E4AEA4-8DFA-4A89-87EB-49C32662AFE0}</a:tableStyleId>
              </a:tblPr>
              <a:tblGrid>
                <a:gridCol w="18288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ema</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osmia</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pnea</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ptysis</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sphyxia</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-thorax</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508062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Suffixes </a:t>
            </a:r>
            <a:r>
              <a:rPr lang="en-US" sz="4000" dirty="0"/>
              <a:t>(Slide 2 of 2)</a:t>
            </a:r>
          </a:p>
        </p:txBody>
      </p:sp>
      <p:graphicFrame>
        <p:nvGraphicFramePr>
          <p:cNvPr id="7" name="Content Placeholder 6" descr="List of Suffixes from the Review Sheet of the text with their corresponding meanings."/>
          <p:cNvGraphicFramePr>
            <a:graphicFrameLocks noGrp="1"/>
          </p:cNvGraphicFramePr>
          <p:nvPr>
            <p:ph idx="1"/>
            <p:extLst>
              <p:ext uri="{D42A27DB-BD31-4B8C-83A1-F6EECF244321}">
                <p14:modId xmlns:p14="http://schemas.microsoft.com/office/powerpoint/2010/main" val="1654418525"/>
              </p:ext>
            </p:extLst>
          </p:nvPr>
        </p:nvGraphicFramePr>
        <p:xfrm>
          <a:off x="457200" y="1600200"/>
          <a:ext cx="8229600" cy="3200400"/>
        </p:xfrm>
        <a:graphic>
          <a:graphicData uri="http://schemas.openxmlformats.org/drawingml/2006/table">
            <a:tbl>
              <a:tblPr firstRow="1" bandRow="1">
                <a:tableStyleId>{21E4AEA4-8DFA-4A89-87EB-49C32662AFE0}</a:tableStyleId>
              </a:tblPr>
              <a:tblGrid>
                <a:gridCol w="18288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ema</a:t>
                      </a:r>
                      <a:endParaRPr lang="en-US" sz="2400" dirty="0"/>
                    </a:p>
                  </a:txBody>
                  <a:tcPr/>
                </a:tc>
                <a:tc>
                  <a:txBody>
                    <a:bodyPr/>
                    <a:lstStyle/>
                    <a:p>
                      <a:r>
                        <a:rPr lang="en-US" altLang="en-US" sz="2400" dirty="0"/>
                        <a:t>condition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osmia</a:t>
                      </a:r>
                      <a:endParaRPr lang="en-US" sz="2400" dirty="0"/>
                    </a:p>
                  </a:txBody>
                  <a:tcPr/>
                </a:tc>
                <a:tc>
                  <a:txBody>
                    <a:bodyPr/>
                    <a:lstStyle/>
                    <a:p>
                      <a:r>
                        <a:rPr lang="en-US" altLang="en-US" sz="2400" dirty="0"/>
                        <a:t>smell</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pnea</a:t>
                      </a:r>
                      <a:endParaRPr lang="en-US" sz="2400" dirty="0"/>
                    </a:p>
                  </a:txBody>
                  <a:tcPr/>
                </a:tc>
                <a:tc>
                  <a:txBody>
                    <a:bodyPr/>
                    <a:lstStyle/>
                    <a:p>
                      <a:r>
                        <a:rPr lang="en-US" altLang="en-US" sz="2400" dirty="0"/>
                        <a:t>breathing</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ptysis</a:t>
                      </a:r>
                      <a:endParaRPr lang="en-US" sz="2400" dirty="0"/>
                    </a:p>
                  </a:txBody>
                  <a:tcPr/>
                </a:tc>
                <a:tc>
                  <a:txBody>
                    <a:bodyPr/>
                    <a:lstStyle/>
                    <a:p>
                      <a:r>
                        <a:rPr lang="en-US" altLang="en-US" sz="2400" dirty="0"/>
                        <a:t>spitting</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sphyxia</a:t>
                      </a:r>
                      <a:endParaRPr lang="en-US" sz="2400" dirty="0"/>
                    </a:p>
                  </a:txBody>
                  <a:tcPr/>
                </a:tc>
                <a:tc>
                  <a:txBody>
                    <a:bodyPr/>
                    <a:lstStyle/>
                    <a:p>
                      <a:r>
                        <a:rPr lang="en-US" altLang="en-US" sz="2400" dirty="0"/>
                        <a:t>pulse</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-thorax</a:t>
                      </a:r>
                      <a:endParaRPr lang="en-US" sz="2400" dirty="0"/>
                    </a:p>
                  </a:txBody>
                  <a:tcPr/>
                </a:tc>
                <a:tc>
                  <a:txBody>
                    <a:bodyPr/>
                    <a:lstStyle/>
                    <a:p>
                      <a:r>
                        <a:rPr lang="en-US" altLang="en-US" sz="2400" dirty="0"/>
                        <a:t>chest; pleural cavity</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046325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4310</TotalTime>
  <Words>2835</Words>
  <Application>Microsoft Office PowerPoint</Application>
  <PresentationFormat>On-screen Show (4:3)</PresentationFormat>
  <Paragraphs>694</Paragraphs>
  <Slides>74</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74</vt:i4>
      </vt:variant>
    </vt:vector>
  </HeadingPairs>
  <TitlesOfParts>
    <vt:vector size="83" baseType="lpstr">
      <vt:lpstr>ＭＳ Ｐゴシック</vt:lpstr>
      <vt:lpstr>ＭＳ Ｐゴシック</vt:lpstr>
      <vt:lpstr>Arial</vt:lpstr>
      <vt:lpstr>Calibri</vt:lpstr>
      <vt:lpstr>Times</vt:lpstr>
      <vt:lpstr>Times New Roman</vt:lpstr>
      <vt:lpstr>Wingdings</vt:lpstr>
      <vt:lpstr>Wingdings 2</vt:lpstr>
      <vt:lpstr>Office Theme</vt:lpstr>
      <vt:lpstr>The Language of Medicine 13th edition</vt:lpstr>
      <vt:lpstr>Chapter 12   Respiratory System</vt:lpstr>
      <vt:lpstr>Chapter Goals (Slide 1 of 2)</vt:lpstr>
      <vt:lpstr>Chapter Goals (Slide 2 of 2)</vt:lpstr>
      <vt:lpstr>Chapter 12 Lesson 12.1</vt:lpstr>
      <vt:lpstr>Introduction (Slide 1 of 2)</vt:lpstr>
      <vt:lpstr>Introduction (Slide 2 of 2)</vt:lpstr>
      <vt:lpstr>Respiratory Anatomy</vt:lpstr>
      <vt:lpstr>Anatomy of Respiration</vt:lpstr>
      <vt:lpstr>Respiratory Structures</vt:lpstr>
      <vt:lpstr>Respiratory Flow Chart</vt:lpstr>
      <vt:lpstr>Vocabulary (Slide 1 of 20)</vt:lpstr>
      <vt:lpstr>Vocabulary (Slide 2 of 20)</vt:lpstr>
      <vt:lpstr>Vocabulary (Slide 3 of 20)</vt:lpstr>
      <vt:lpstr>Vocabulary (Slide 4 of 20)</vt:lpstr>
      <vt:lpstr>Vocabulary (Slide 5 of 20)</vt:lpstr>
      <vt:lpstr>Vocabulary (Slide 6 of 20)</vt:lpstr>
      <vt:lpstr>Vocabulary (Slide 7 of 20)</vt:lpstr>
      <vt:lpstr>Vocabulary (Slide 8 of 20)</vt:lpstr>
      <vt:lpstr>Vocabulary (Slide 9 of 20)</vt:lpstr>
      <vt:lpstr>Vocabulary (Slide 10 of 20)</vt:lpstr>
      <vt:lpstr>Vocabulary (Slide 11 of 20)</vt:lpstr>
      <vt:lpstr>Vocabulary (Slide 12 of 20)</vt:lpstr>
      <vt:lpstr>Vocabulary (Slide 13 of 20)</vt:lpstr>
      <vt:lpstr>Vocabulary (Slide 14 of 20)</vt:lpstr>
      <vt:lpstr>Vocabulary (Slide 15 of 20)</vt:lpstr>
      <vt:lpstr>Vocabulary (Slide 16 of 20)</vt:lpstr>
      <vt:lpstr>Vocabulary (Slide 17 of 20)</vt:lpstr>
      <vt:lpstr>Vocabulary (Slide 18 of 20)</vt:lpstr>
      <vt:lpstr>Vocabulary (Slide 19 of 20)</vt:lpstr>
      <vt:lpstr>Vocabulary (Slide 20 of 20)</vt:lpstr>
      <vt:lpstr>      QUICK QUIZ</vt:lpstr>
      <vt:lpstr>Combining Forms and Terminology (Slide 1 of 5)</vt:lpstr>
      <vt:lpstr>Combining Forms and Terminology (Slide 2 of 5)</vt:lpstr>
      <vt:lpstr>Combining Forms and Terminology (Slide 3 of 5)</vt:lpstr>
      <vt:lpstr>Combining Forms and Terminology (Slide 4 of 5)</vt:lpstr>
      <vt:lpstr>Combining Forms and Terminology (Slide 5 of 5)</vt:lpstr>
      <vt:lpstr>Combining Forms, Suffixes, and Terminology (Slide 1 of 1)</vt:lpstr>
      <vt:lpstr>Chapter 12 Lesson 12.2</vt:lpstr>
      <vt:lpstr>Diagnostic Terms</vt:lpstr>
      <vt:lpstr>Pathology (Slide 1 of 4)</vt:lpstr>
      <vt:lpstr>Pathology (Slide 2 of 4)</vt:lpstr>
      <vt:lpstr>Pathology (Slide 3 of 4)</vt:lpstr>
      <vt:lpstr>Pathology  Lung Disorders </vt:lpstr>
      <vt:lpstr>Pathology (Slide 4 of 4) </vt:lpstr>
      <vt:lpstr>Pathology  Pleural Disorders   </vt:lpstr>
      <vt:lpstr> Study Section</vt:lpstr>
      <vt:lpstr>Chapter 12 Lesson 12.3</vt:lpstr>
      <vt:lpstr>Clinical Procedures (Slide 1 of 9)</vt:lpstr>
      <vt:lpstr>Clinical Procedures (Slide 2 of 9)</vt:lpstr>
      <vt:lpstr>Clinical Procedures (Slide 3 of 9)</vt:lpstr>
      <vt:lpstr>Clinical Procedures (Slide 4 of 9)</vt:lpstr>
      <vt:lpstr>Clinical Procedures (Slide 5 of 9)</vt:lpstr>
      <vt:lpstr>Clinical Procedures (Slide 6 of 9)</vt:lpstr>
      <vt:lpstr>Clinical Procedures (Slide 7 of 9)</vt:lpstr>
      <vt:lpstr>Clinical Procedures (Slide 8 of 9)</vt:lpstr>
      <vt:lpstr>Clinical Procedures (Slide 9 of 9)</vt:lpstr>
      <vt:lpstr>Abbreviations (Slide 1 of 5)</vt:lpstr>
      <vt:lpstr>Abbreviations (Slide 2 of 5)</vt:lpstr>
      <vt:lpstr>Abbreviations (Slide 3 of 5)</vt:lpstr>
      <vt:lpstr>Abbreviations (Slide 4 of 5)</vt:lpstr>
      <vt:lpstr>Abbreviations (Slide 5 of 5)</vt:lpstr>
      <vt:lpstr>Review Sheet – Combining Forms (Slide 1 of 10)</vt:lpstr>
      <vt:lpstr>Review Sheet – Combining Forms (Slide 2 of 10)</vt:lpstr>
      <vt:lpstr>Review Sheet – Combining Forms (Slide 3 of 10)</vt:lpstr>
      <vt:lpstr>Review Sheet – Combining Forms (Slide 4 of 10)</vt:lpstr>
      <vt:lpstr>Review Sheet – Combining Forms (Slide 5 of 10)</vt:lpstr>
      <vt:lpstr>Review Sheet – Combining Forms (Slide 6 of 10)</vt:lpstr>
      <vt:lpstr>Review Sheet – Combining Forms (Slide 7 of 10)</vt:lpstr>
      <vt:lpstr>Review Sheet – Combining Forms (Slide 8 of 10)</vt:lpstr>
      <vt:lpstr>Review Sheet – Combining Forms (Slide 9 of 10)</vt:lpstr>
      <vt:lpstr>Review Sheet – Combining Forms (Slide 10 of 10)</vt:lpstr>
      <vt:lpstr>Review Sheet – Suffixes (Slide 1 of 2)</vt:lpstr>
      <vt:lpstr>Review Sheet – Suffixes (Slide 2 of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Language of Medicine A Write-in Text Explaining Medical Terms 7th Edition Davi-Ellen Chabner, B.A., M.A.T.</dc:title>
  <dc:creator>dell</dc:creator>
  <cp:lastModifiedBy>Jyoti Tyagi (IL-IN)</cp:lastModifiedBy>
  <cp:revision>298</cp:revision>
  <cp:lastPrinted>2007-04-13T22:20:09Z</cp:lastPrinted>
  <dcterms:created xsi:type="dcterms:W3CDTF">2004-11-01T16:15:23Z</dcterms:created>
  <dcterms:modified xsi:type="dcterms:W3CDTF">2023-12-07T04:28:09Z</dcterms:modified>
</cp:coreProperties>
</file>